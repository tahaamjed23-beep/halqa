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Turn 1</c:v>
                </c:pt>
              </c:strCache>
            </c:strRef>
          </c:tx>
          <c:spPr>
            <a:ln w="28575">
              <a:solidFill>
                <a:srgbClr val="573F99"/>
              </a:solidFill>
            </a:ln>
          </c:spPr>
          <c:marker>
            <c:symbol val="circle"/>
            <c:size val="6"/>
            <c:spPr>
              <a:solidFill>
                <a:srgbClr val="573F99"/>
              </a:solidFill>
              <a:ln>
                <a:solidFill>
                  <a:srgbClr val="FFFFFF"/>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110</c:v>
                </c:pt>
                <c:pt idx="1">
                  <c:v>100</c:v>
                </c:pt>
                <c:pt idx="2">
                  <c:v>90</c:v>
                </c:pt>
                <c:pt idx="3">
                  <c:v>80</c:v>
                </c:pt>
                <c:pt idx="4">
                  <c:v>70</c:v>
                </c:pt>
                <c:pt idx="5">
                  <c:v>60</c:v>
                </c:pt>
                <c:pt idx="6">
                  <c:v>50</c:v>
                </c:pt>
                <c:pt idx="7">
                  <c:v>40</c:v>
                </c:pt>
                <c:pt idx="8">
                  <c:v>30</c:v>
                </c:pt>
                <c:pt idx="9">
                  <c:v>20</c:v>
                </c:pt>
                <c:pt idx="10">
                  <c:v>10</c:v>
                </c:pt>
                <c:pt idx="11">
                  <c:v>0</c:v>
                </c:pt>
              </c:numCache>
            </c:numRef>
          </c:val>
          <c:smooth val="0"/>
        </c:ser>
        <c:ser>
          <c:idx val="1"/>
          <c:order val="1"/>
          <c:tx>
            <c:strRef>
              <c:f>Sheet1!$C$1</c:f>
              <c:strCache>
                <c:ptCount val="1"/>
                <c:pt idx="0">
                  <c:v>Turn 12</c:v>
                </c:pt>
              </c:strCache>
            </c:strRef>
          </c:tx>
          <c:spPr>
            <a:ln w="28575">
              <a:solidFill>
                <a:srgbClr val="2A78D6"/>
              </a:solidFill>
            </a:ln>
          </c:spPr>
          <c:marker>
            <c:symbol val="circle"/>
            <c:size val="6"/>
            <c:spPr>
              <a:solidFill>
                <a:srgbClr val="2A78D6"/>
              </a:solidFill>
              <a:ln>
                <a:solidFill>
                  <a:srgbClr val="FFFFFF"/>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Sheet1!$C$2:$C$13</c:f>
              <c:numCache>
                <c:formatCode>General</c:formatCode>
                <c:ptCount val="12"/>
                <c:pt idx="0">
                  <c:v>-10</c:v>
                </c:pt>
                <c:pt idx="1">
                  <c:v>-20</c:v>
                </c:pt>
                <c:pt idx="2">
                  <c:v>-30</c:v>
                </c:pt>
                <c:pt idx="3">
                  <c:v>-40</c:v>
                </c:pt>
                <c:pt idx="4">
                  <c:v>-50</c:v>
                </c:pt>
                <c:pt idx="5">
                  <c:v>-60</c:v>
                </c:pt>
                <c:pt idx="6">
                  <c:v>-70</c:v>
                </c:pt>
                <c:pt idx="7">
                  <c:v>-80</c:v>
                </c:pt>
                <c:pt idx="8">
                  <c:v>-90</c:v>
                </c:pt>
                <c:pt idx="9">
                  <c:v>-100</c:v>
                </c:pt>
                <c:pt idx="10">
                  <c:v>-110</c:v>
                </c:pt>
                <c:pt idx="11">
                  <c:v>0</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A9B4A3"/>
            </a:solidFill>
          </a:ln>
        </c:spPr>
        <c:txPr>
          <a:bodyPr/>
          <a:lstStyle/>
          <a:p>
            <a:pPr>
              <a:defRPr sz="1050"/>
            </a:pPr>
          </a:p>
        </c:txPr>
        <c:crossAx val="2140495176"/>
        <c:crosses val="autoZero"/>
        <c:auto val="1"/>
        <c:lblAlgn val="ctr"/>
        <c:lblOffset val="100"/>
        <c:noMultiLvlLbl val="0"/>
      </c:catAx>
      <c:valAx>
        <c:axId val="2140495176"/>
        <c:scaling>
          <c:max val="120.0"/>
          <c:min val="-120.0"/>
        </c:scaling>
        <c:delete val="0"/>
        <c:axPos val="l"/>
        <c:majorGridlines>
          <c:spPr>
            <a:ln w="6350">
              <a:solidFill>
                <a:srgbClr val="E4E9DF"/>
              </a:solidFill>
            </a:ln>
          </c:spPr>
        </c:majorGridlines>
        <c:numFmt formatCode="#,##0" sourceLinked="0"/>
        <c:majorTickMark val="none"/>
        <c:minorTickMark val="none"/>
        <c:tickLblPos val="nextTo"/>
        <c:spPr>
          <a:ln>
            <a:noFill/>
          </a:ln>
        </c:spPr>
        <c:txPr>
          <a:bodyPr/>
          <a:lstStyle/>
          <a:p>
            <a:pPr>
              <a:defRPr sz="950">
                <a:solidFill>
                  <a:srgbClr val="5F6B58"/>
                </a:solidFill>
              </a:defRPr>
            </a:pPr>
          </a:p>
        </c:txPr>
        <c:crossAx val="2118791784"/>
        <c:crosses val="autoZero"/>
        <c:majorUnit val="60.0"/>
      </c:valAx>
    </c:plotArea>
    <c:legend>
      <c:legendPos val="t"/>
      <c:layout/>
      <c:overlay val="0"/>
      <c:txPr>
        <a:bodyPr/>
        <a:lstStyle/>
        <a:p>
          <a:pPr>
            <a:defRPr sz="1000"/>
          </a:pPr>
        </a:p>
      </c:txPr>
    </c:legend>
    <c:plotVisOnly val="1"/>
    <c:dispBlanksAs val="gap"/>
    <c:showDLblsOverMax val="0"/>
  </c:chart>
  <c:txPr>
    <a:bodyPr/>
    <a:lstStyle/>
    <a:p>
      <a:pPr>
        <a:defRPr sz="1050">
          <a:solidFill>
            <a:srgbClr val="0C1408"/>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Rs bn</c:v>
                </c:pt>
              </c:strCache>
            </c:strRef>
          </c:tx>
          <c:spPr>
            <a:solidFill>
              <a:srgbClr val="41801A"/>
            </a:solidFill>
            <a:ln>
              <a:noFill/>
            </a:ln>
          </c:spPr>
          <c:invertIfNegative val="0"/>
          <c:dPt>
            <c:idx val="0"/>
            <c:invertIfNegative val="0"/>
            <c:spPr>
              <a:solidFill>
                <a:srgbClr val="573F99"/>
              </a:solidFill>
            </c:spPr>
          </c:dPt>
          <c:dPt>
            <c:idx val="1"/>
            <c:invertIfNegative val="0"/>
            <c:spPr>
              <a:solidFill>
                <a:srgbClr val="6DC72A"/>
              </a:solidFill>
            </c:spPr>
          </c:dPt>
          <c:dPt>
            <c:idx val="2"/>
            <c:invertIfNegative val="0"/>
            <c:spPr>
              <a:solidFill>
                <a:srgbClr val="6DC72A"/>
              </a:solidFill>
            </c:spPr>
          </c:dPt>
          <c:cat>
            <c:strRef>
              <c:f>Sheet1!$A$2:$A$4</c:f>
              <c:strCache>
                <c:ptCount val="3"/>
                <c:pt idx="0">
                  <c:v>Raqami, 30 June 2026</c:v>
                </c:pt>
                <c:pt idx="1">
                  <c:v>Added by 100,000 members</c:v>
                </c:pt>
                <c:pt idx="2">
                  <c:v>Added by 1,000,000 members</c:v>
                </c:pt>
              </c:strCache>
            </c:strRef>
          </c:cat>
          <c:val>
            <c:numRef>
              <c:f>Sheet1!$B$2:$B$4</c:f>
              <c:numCache>
                <c:formatCode>General</c:formatCode>
                <c:ptCount val="3"/>
                <c:pt idx="0">
                  <c:v>1.58</c:v>
                </c:pt>
                <c:pt idx="1">
                  <c:v>1.38</c:v>
                </c:pt>
                <c:pt idx="2">
                  <c:v>13.8</c:v>
                </c:pt>
              </c:numCache>
            </c:numRef>
          </c:val>
        </c:ser>
        <c:dLbls>
          <c:numFmt formatCode="0.0" sourceLinked="0"/>
          <c:txPr>
            <a:bodyPr/>
            <a:lstStyle/>
            <a:p>
              <a:pPr>
                <a:defRPr sz="1000">
                  <a:solidFill>
                    <a:srgbClr val="0C1408"/>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none"/>
        <c:minorTickMark val="none"/>
        <c:tickLblPos val="nextTo"/>
        <c:spPr>
          <a:ln>
            <a:solidFill>
              <a:srgbClr val="A9B4A3"/>
            </a:solidFill>
          </a:ln>
        </c:spPr>
        <c:txPr>
          <a:bodyPr/>
          <a:lstStyle/>
          <a:p>
            <a:pPr>
              <a:defRPr sz="1050"/>
            </a:pPr>
          </a:p>
        </c:txPr>
        <c:crossAx val="-2113994440"/>
        <c:crosses val="autoZero"/>
        <c:auto val="1"/>
        <c:lblAlgn val="ctr"/>
        <c:lblOffset val="100"/>
        <c:noMultiLvlLbl val="0"/>
      </c:catAx>
      <c:valAx>
        <c:axId val="-2113994440"/>
        <c:scaling>
          <c:max val="16.284"/>
        </c:scaling>
        <c:delete/>
        <c:axPos val="b"/>
        <c:majorTickMark val="out"/>
        <c:minorTickMark val="none"/>
        <c:tickLblPos val="nextTo"/>
        <c:crossAx val="-2068027336"/>
        <c:crosses val="autoZero"/>
      </c:valAx>
    </c:plotArea>
    <c:dispBlanksAs val="gap"/>
  </c:chart>
  <c:txPr>
    <a:bodyPr/>
    <a:lstStyle/>
    <a:p>
      <a:pPr>
        <a:defRPr sz="1050">
          <a:solidFill>
            <a:srgbClr val="0C1408"/>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Rs thousand</c:v>
                </c:pt>
              </c:strCache>
            </c:strRef>
          </c:tx>
          <c:spPr>
            <a:solidFill>
              <a:srgbClr val="41801A"/>
            </a:solidFill>
            <a:ln>
              <a:noFill/>
            </a:ln>
          </c:spPr>
          <c:invertIfNegative val="0"/>
          <c:dPt>
            <c:idx val="0"/>
            <c:invertIfNegative val="0"/>
            <c:spPr>
              <a:solidFill>
                <a:srgbClr val="48348A"/>
              </a:solidFill>
            </c:spPr>
          </c:dPt>
          <c:dPt>
            <c:idx val="1"/>
            <c:invertIfNegative val="0"/>
            <c:spPr>
              <a:solidFill>
                <a:srgbClr val="48348A"/>
              </a:solidFill>
            </c:spPr>
          </c:dPt>
          <c:dPt>
            <c:idx val="2"/>
            <c:invertIfNegative val="0"/>
            <c:spPr>
              <a:solidFill>
                <a:srgbClr val="48348A"/>
              </a:solidFill>
            </c:spPr>
          </c:dPt>
          <c:dPt>
            <c:idx val="3"/>
            <c:invertIfNegative val="0"/>
            <c:spPr>
              <a:solidFill>
                <a:srgbClr val="48348A"/>
              </a:solidFill>
            </c:spPr>
          </c:dPt>
          <c:dPt>
            <c:idx val="4"/>
            <c:invertIfNegative val="0"/>
            <c:spPr>
              <a:solidFill>
                <a:srgbClr val="48348A"/>
              </a:solidFill>
            </c:spPr>
          </c:dPt>
          <c:dPt>
            <c:idx val="5"/>
            <c:invertIfNegative val="0"/>
            <c:spPr>
              <a:solidFill>
                <a:srgbClr val="48348A"/>
              </a:solidFill>
            </c:spPr>
          </c:dPt>
          <c:dPt>
            <c:idx val="6"/>
            <c:invertIfNegative val="0"/>
            <c:spPr>
              <a:solidFill>
                <a:srgbClr val="7E67C7"/>
              </a:solidFill>
            </c:spPr>
          </c:dPt>
          <c:dPt>
            <c:idx val="7"/>
            <c:invertIfNegative val="0"/>
            <c:spPr>
              <a:solidFill>
                <a:srgbClr val="7E67C7"/>
              </a:solidFill>
            </c:spPr>
          </c:dPt>
          <c:dPt>
            <c:idx val="8"/>
            <c:invertIfNegative val="0"/>
            <c:spPr>
              <a:solidFill>
                <a:srgbClr val="7E67C7"/>
              </a:solidFill>
            </c:spPr>
          </c:dPt>
          <c:dPt>
            <c:idx val="9"/>
            <c:invertIfNegative val="0"/>
            <c:spPr>
              <a:solidFill>
                <a:srgbClr val="B9ABE3"/>
              </a:solidFill>
            </c:spPr>
          </c:dPt>
          <c:dPt>
            <c:idx val="10"/>
            <c:invertIfNegative val="0"/>
            <c:spPr>
              <a:solidFill>
                <a:srgbClr val="B9ABE3"/>
              </a:solidFill>
            </c:spPr>
          </c:dPt>
          <c:dPt>
            <c:idx val="11"/>
            <c:invertIfNegative val="0"/>
            <c:spPr>
              <a:solidFill>
                <a:srgbClr val="B9ABE3"/>
              </a:solidFill>
            </c:spPr>
          </c:dPt>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110</c:v>
                </c:pt>
                <c:pt idx="1">
                  <c:v>100</c:v>
                </c:pt>
                <c:pt idx="2">
                  <c:v>90</c:v>
                </c:pt>
                <c:pt idx="3">
                  <c:v>80</c:v>
                </c:pt>
                <c:pt idx="4">
                  <c:v>70</c:v>
                </c:pt>
                <c:pt idx="5">
                  <c:v>60</c:v>
                </c:pt>
                <c:pt idx="6">
                  <c:v>50</c:v>
                </c:pt>
                <c:pt idx="7">
                  <c:v>40</c:v>
                </c:pt>
                <c:pt idx="8">
                  <c:v>30</c:v>
                </c:pt>
                <c:pt idx="9">
                  <c:v>20</c:v>
                </c:pt>
                <c:pt idx="10">
                  <c:v>10</c:v>
                </c:pt>
                <c:pt idx="11">
                  <c:v>0</c:v>
                </c:pt>
              </c:numCache>
            </c:numRef>
          </c:val>
        </c:ser>
        <c:dLbls>
          <c:numFmt formatCode="0" sourceLinked="0"/>
          <c:txPr>
            <a:bodyPr/>
            <a:lstStyle/>
            <a:p>
              <a:pPr>
                <a:defRPr sz="900">
                  <a:solidFill>
                    <a:srgbClr val="0C1408"/>
                  </a:solidFil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none"/>
        <c:minorTickMark val="none"/>
        <c:tickLblPos val="nextTo"/>
        <c:spPr>
          <a:ln>
            <a:solidFill>
              <a:srgbClr val="A9B4A3"/>
            </a:solidFill>
          </a:ln>
        </c:spPr>
        <c:txPr>
          <a:bodyPr/>
          <a:lstStyle/>
          <a:p>
            <a:pPr>
              <a:defRPr sz="950"/>
            </a:pPr>
          </a:p>
        </c:txPr>
        <c:crossAx val="-2113994440"/>
        <c:crosses val="autoZero"/>
        <c:auto val="1"/>
        <c:lblAlgn val="ctr"/>
        <c:lblOffset val="100"/>
        <c:noMultiLvlLbl val="0"/>
      </c:catAx>
      <c:valAx>
        <c:axId val="-2113994440"/>
        <c:scaling>
          <c:max val="130.0"/>
        </c:scaling>
        <c:delete/>
        <c:axPos val="l"/>
        <c:majorTickMark val="out"/>
        <c:minorTickMark val="none"/>
        <c:tickLblPos val="nextTo"/>
        <c:crossAx val="-2068027336"/>
        <c:crosses val="autoZero"/>
      </c:valAx>
    </c:plotArea>
    <c:dispBlanksAs val="gap"/>
  </c:chart>
  <c:txPr>
    <a:bodyPr/>
    <a:lstStyle/>
    <a:p>
      <a:pPr>
        <a:defRPr sz="950">
          <a:solidFill>
            <a:srgbClr val="0C1408"/>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Digital</c:v>
                </c:pt>
              </c:strCache>
            </c:strRef>
          </c:tx>
          <c:spPr>
            <a:solidFill>
              <a:srgbClr val="573F99"/>
            </a:solidFill>
            <a:ln>
              <a:noFill/>
            </a:ln>
          </c:spPr>
          <c:invertIfNegative val="0"/>
          <c:cat>
            <c:strRef>
              <c:f>Sheet1!$A$2:$A$5</c:f>
              <c:strCache>
                <c:ptCount val="4"/>
                <c:pt idx="0">
                  <c:v>FY2023</c:v>
                </c:pt>
                <c:pt idx="1">
                  <c:v>FY2024</c:v>
                </c:pt>
                <c:pt idx="2">
                  <c:v>FY2025</c:v>
                </c:pt>
                <c:pt idx="3">
                  <c:v>Jan to Mar 2026</c:v>
                </c:pt>
              </c:strCache>
            </c:strRef>
          </c:cat>
          <c:val>
            <c:numRef>
              <c:f>Sheet1!$B$2:$B$5</c:f>
              <c:numCache>
                <c:formatCode>General</c:formatCode>
                <c:ptCount val="4"/>
                <c:pt idx="0">
                  <c:v>78</c:v>
                </c:pt>
                <c:pt idx="1">
                  <c:v>85</c:v>
                </c:pt>
                <c:pt idx="2">
                  <c:v>88</c:v>
                </c:pt>
                <c:pt idx="3">
                  <c:v>92</c:v>
                </c:pt>
              </c:numCache>
            </c:numRef>
          </c:val>
        </c:ser>
        <c:dLbls>
          <c:numFmt formatCode="0&quot;%&quot;" sourceLinked="0"/>
          <c:txPr>
            <a:bodyPr/>
            <a:lstStyle/>
            <a:p>
              <a:pPr>
                <a:defRPr sz="1050">
                  <a:solidFill>
                    <a:srgbClr val="0C1408"/>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nextTo"/>
        <c:spPr>
          <a:ln>
            <a:solidFill>
              <a:srgbClr val="A9B4A3"/>
            </a:solidFill>
          </a:ln>
        </c:spPr>
        <c:txPr>
          <a:bodyPr/>
          <a:lstStyle/>
          <a:p>
            <a:pPr>
              <a:defRPr sz="1100"/>
            </a:pPr>
          </a:p>
        </c:txPr>
        <c:crossAx val="-2113994440"/>
        <c:crosses val="autoZero"/>
        <c:auto val="1"/>
        <c:lblAlgn val="ctr"/>
        <c:lblOffset val="100"/>
        <c:noMultiLvlLbl val="0"/>
      </c:catAx>
      <c:valAx>
        <c:axId val="-2113994440"/>
        <c:scaling>
          <c:max val="105.0"/>
        </c:scaling>
        <c:delete/>
        <c:axPos val="l"/>
        <c:majorTickMark val="out"/>
        <c:minorTickMark val="none"/>
        <c:tickLblPos val="nextTo"/>
        <c:crossAx val="-2068027336"/>
        <c:crosses val="autoZero"/>
      </c:valAx>
    </c:plotArea>
    <c:dispBlanksAs val="gap"/>
  </c:chart>
  <c:txPr>
    <a:bodyPr/>
    <a:lstStyle/>
    <a:p>
      <a:pPr>
        <a:defRPr sz="1100">
          <a:solidFill>
            <a:srgbClr val="0C1408"/>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Halqa runs committee savings, the kameti or BC, in a mobile application. The proposal is that every member banks with Raqami, and that Raqami holds and moves every rupee of every committee while Halqa runs the committee system. Slides 1 to 20 are the main story; the appendix, A1 to A6, holds the detail. The main story covers: what a committee is and how many people use one; the problems with informal committees; the proposed structure and the monthly cycle; what Raqami gains; the products used; the application; onboarding; the committee types; payment collection, wallets and the PSP; default prevention, turn eligibility and recovery; points; the business model; the comparison with other options; evidence from abroad; timing; regulation; and the current status.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anyone who has never been in one. The grid is a circle of twelve people at Rs 10,000 a month: every row is a member, every column a month, and the dark square is the month that member takes the whole Rs 120,000.</a:t>
            </a:r>
          </a:p>
          <a:p/>
          <a:p>
            <a:r>
              <a:t>The chart shows what that means for two members. The member in turn one receives Rs 120,000 at once and repays it over the year, in effect an interest free advance; the member in turn twelve saves Rs 10,000 every month to a deadline the group enforces, and receives the pot last. Both end the year at zero: no interest is paid or earned. The order is fixed at the start by the host, the organiser, who admits each member.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size of the habit. The grid is one hundred Pakistanis. Karandaaz, a financial inclusion body, puts committee use at 34 per cent, the dark squares; Oraan’s research puts it at 41 per cent, adding the light squares. On the higher estimate that is about 100 million people, and Oraan estimates about Rs 4 trillion a year passes through committees. These are estimates; there is no official count, which is itself part of the problem.</a:t>
            </a:r>
          </a:p>
          <a:p/>
          <a:p>
            <a:r>
              <a:t>The survey data say more about who uses them: women take part at about twice the rate of men; nine in ten committees collect monthly; more than half of adults have a committee within a kilometre of home; and the average monthly contribution in 2013 was about US$18, from a few cents to US$470.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goes wrong. Each grid is one hundred people. Twelve per cent of committee users say they have lost money to an organiser or a member. Sixty three per cent of savers keep their savings as cash at home, and only four per cent use a formal financial institution. And no on-time committee payment reaches a credit bureau, so years of paying on time build no record.</a:t>
            </a:r>
          </a:p>
          <a:p/>
          <a:p>
            <a:r>
              <a:t>The 2022 case: one organiser ran more than 100 committees through Facebook and defaulted on about Rs 420 million, with no written records.</a:t>
            </a:r>
          </a:p>
          <a:p/>
          <a:p>
            <a:r>
              <a:t>The four ways informal committees fail are the four things the proposed structure removes: an organiser holding the pot, a member stopping after collecting, disputes over order, and the absence of any record.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does what. The blue lines are money, and they touch only members, Raqami, the PSP and the takaful operator; no money line touches Halqa. Members pay instalments into Raqami and receive pots from it. Payments from wallets and cards arrive through a licensed payment service provider and settle at Raqami. Raqami pays the takaful contribution to the operator, and the operator pays claims directly to members left short.</a:t>
            </a:r>
          </a:p>
          <a:p/>
          <a:p>
            <a:r>
              <a:t>The green lines are instructions. Members join and consent in the Halqa application; Halqa instructs Raqami and the PSP to collect and to pay; the dashed lines are confirmations and records back to Halqa, and payment records to TASDEEQ, the licensed credit bureau.</a:t>
            </a:r>
          </a:p>
          <a:p/>
          <a:p>
            <a:r>
              <a:t>This matters twice: a company that holds public money is taking deposits, which only a bank may do, and a system like this needs State Bank regulation. Working inside Raqami’s licence answers both. Halqa never holds or receives member money, never lends and never insures.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month, read top to bottom; each vertical line is one party.</a:t>
            </a:r>
          </a:p>
          <a:p/>
          <a:p>
            <a:r>
              <a:t>One, the member joins in the Halqa application and consents to automatic payment, the screen on the right. Two, Halqa registers the standing instruction with Raqami. Three, a reminder the evening before payday, on WhatsApp in Roman Urdu first. Four, on the member’s payday, learned from the account, Halqa asks Raqami to collect. Five, Raqami moves Rs 10,000 from each member’s account into the committee account; if the salary is late, the debit is retried each morning, five attempts at most. Six, on the 8th, the due date, Halqa tells Raqami who collects. Seven, Raqami pays Rs 120,000 into the collector’s account the same day. Eight, Raqami confirms and the record updates. Nine, payment records go to TASDEEQ, reported by Raqami or by Halqa as a data provider, as Raqami decides.</a:t>
            </a:r>
          </a:p>
          <a:p/>
          <a:p>
            <a:r>
              <a:t>Ways to pay: the automatic debit is the default on circles between strangers; members can also approve a card, wallet or Raast request in one tap, or pay by hand. Money in a JazzCash or Easypaisa wallet or on a card comes in through a licensed payment service provider and settles at Raqami, never at Halqa. Appendix A2 and A3 have the detail. Raqami does not publish a standing instruction service today, so it is one of the new lines we ask Raqami to add, on its planned open APIs.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 member joins, in four screens. One, choose the kind of circle: five types, from known circles to circles between strangers, with Hyper marked experimental. Two, the full cost is shown before signing: the instalment, the takaful and the fee, with 24 hours to withdraw at no cost. Three, the Raqami account opens inside Halqa through Raqami’s own checks. Four, the member consents to automatic payment: one instalment at most each time, on payday, with retries until the 8th.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joining. One, the circle screen shows the turn order, who has paid and when the pot comes. Two, every instalment and payout has a receipt, and the pot arrives the same day. Three, the credit report shows the score from 300 to 850 and the on-time history that is reported to TASDEEQ. Four, points: the profit on the committee balance and on-time payments, one point for each rupee. The first three screens are from the working preview; account opening, consent, types, full cost, Hyper and points are designs for the partnership.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Growth and deposits. Committees spread through the person who organises them. One host invites six to twenty people they know; every member opens a Raqami account to take part; when the circle completes, satisfied members start their own. Acquisition cost is shared across the group and the cycle repeats. Hosts are rewarded with points for circles that complete cleanly, never for recruiting, which would be a pyramid. Raqami’s own target is one million customers in its first three years; committees bring them in groups.</a:t>
            </a:r>
          </a:p>
          <a:p/>
          <a:p>
            <a:r>
              <a:t>Deposits use Raqami’s own average rather than an assumption: Rs 1,581 million of deposits ÷ 114,452 accounts = about Rs 13,800 an account, 30 June 2026. On that basis 100,000 members add about Rs 1.38 billion and a million members about Rs 13.8 billion. Committee members also bring the monthly instalment, which sits at Raqami for about a week between payday and the 8th. Raqami’s own data on committee members should replace the average once members are live.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Raqami gains for its financing book. Every instalment, on time or late, becomes a record: amount, due date, date paid, circle type and turn, and whether the circle completed. From launch day it is reported to TASDEEQ, the licensed credit bureau, through Raqami’s own membership or by Halqa as a data provider; Raqami decides which. Halqa’s own score, 300 to 850, updates with every payment and decides which turns a member may take.</a:t>
            </a:r>
          </a:p>
          <a:p/>
          <a:p>
            <a:r>
              <a:t>The evidence that reporting matters comes from the United States: Mission Asset Fund runs lending circles and reports every payment to the credit bureaus; an independent evaluation by San Francisco State University of more than 600 participants found scores rose by 168 points on average.</a:t>
            </a:r>
          </a:p>
          <a:p/>
          <a:p>
            <a:r>
              <a:t>Raqami’s Islamic financing stood at Rs 27.6 million at 30 June 2026, with auto, fleet and supply chain financing planned. Committee members bring twelve months of repayment behaviour, beginning with ijarah for motorcycles and machines.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product team: most steps use a product Raqami already has.</a:t>
            </a:r>
          </a:p>
          <a:p/>
          <a:p>
            <a:r>
              <a:t>The Asaan Digital Account opens inside the Halqa application on a CNIC and a registered mobile number. Salary lands in the Mudarabah Savings Account, 10.5 per cent in August 2026 on the digital tiers up to Rs 1 million. For the week between payday and the 8th the instalments sit in a 7 day Mudarabah Certificate, the Flexi-Week, 10 per cent in August 2026, and that profit returns to members as points. The payout is a free Raqami transfer. Members who earn in cash deposit it free at more than 700 Askari Bank branches.</a:t>
            </a:r>
          </a:p>
          <a:p/>
          <a:p>
            <a:r>
              <a:t>Three new lines: a standing instruction for automatic debit, on the open APIs Raqami plans, since its public pages list no recurring debit today; committee takaful with EFU window takaful; and ijarah financing for motorcycles and machines.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 member gets in, lane by lane. After signing up with a phone number and PIN, Raqami opens the account with its own checks: a valid CNIC and the registered mobile number, the Asaan Digital Account opening on verification. Then Halqa’s four checks run.</a:t>
            </a:r>
          </a:p>
          <a:p/>
          <a:p>
            <a:r>
              <a:t>Identity: the names on the CNIC, the bank account and the application must match; 0.90 or more passes and 0.80 to 0.90 goes to a person; a live face match; home against the declared address; the declared job against the income seen. Income: the account the income arrives in; salary from one employer on about the same day each month, or for daily circles Rs 1,000 or more on five days a week for eight weeks; transfers from the member’s own accounts and loans do not count. It learns the payday, so the debit lands when the money is there. Affordability: all instalments within a third of verified income, and within 40 per cent with other loans, the limit the State Bank uses for consumer finance. Score: 300 to 850, which decides which turns a member may take; new members start in the last three turns.</a:t>
            </a:r>
          </a:p>
          <a:p/>
          <a:p>
            <a:r>
              <a:t>The member only ever sees the circles and turns open to them. Halqa stores results, never face images, card numbers or passwords.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kinds of circle and what each requires. Known circles, between family, colleagues or neighbours, including the weekly bazaar committee, need only check level one, because the group itself knows its members. Circles between strangers need the income check, automatic debit, takaful and a credit report read; the large ones are the committees in lakhs. Asset circles buy a motorcycle or machine with Raqami financing. Circles for families overseas can follow once Raqami opens accounts to non residents; today it onboards residents only. Hyper is a daily circle of 390 to 400 members, run as an experiment, with the strictest checks; it has its own slide.</a:t>
            </a:r>
          </a:p>
          <a:p/>
          <a:p>
            <a:r>
              <a:t>In every type the early turns must be earned: a new member starts in the last three turns until two circles have completed cleanly.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Default prevention, in the order a member meets it, and the one rule that carries most of the risk.</a:t>
            </a:r>
          </a:p>
          <a:p/>
          <a:p>
            <a:r>
              <a:t>Before joining: identity, income and affordability checks, the score decides which turns open, and the host admits each member; no member holds more than six circles and one daily circle. At joining: every rupee owed is shown before signing, with 24 hours to withdraw; the member signs a ten clause undertaking and a mutual guarantee and consents to the standing instruction; takaful applies on circles between strangers. Each instalment: a reminder the evening before payday, the debit on payday with a retry each morning, five at most, and the due date on the 8th. After a missed payment: arrears come out of the member’s own pot on their turn; late charges of 2, 5 and 10 per cent, paid to charity with score falls of 10, 20 and 40; daily circles 5, 10 and 15 per cent at 12, 36 and 60 hours.</a:t>
            </a:r>
          </a:p>
          <a:p/>
          <a:p>
            <a:r>
              <a:t>The chart is the whole default risk: the member who collects in turn one of twelve still owes Rs 110,000; the member in turn twelve owes nothing. So turns one to six need a score of 650 or more, seven to nine need 550, and the last three are open to anyone; every new member starts in the last three until two circles complete cleanly. The bands are mandatory.</a:t>
            </a:r>
          </a:p>
          <a:p/>
          <a:p>
            <a:r>
              <a:t>If a member stops after collecting: contact first, then restriction; the takaful operator pays the members left short in full while recovery continues through the mutual guarantee, a civil suit, and a summary suit only where a guarantee cheque is held. Never relatives, contact lists or published names.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money moves and how Halqa earns. Top, drawn to scale: on a circle between strangers the member pays the Rs 10,000 instalment, which goes to whoever is collecting; a fee of Rs 85; and a PSP service fee of 1.5 per cent of the instalment, Rs 150. On top of that comes the takaful fee, set by the operator Raqami chooses; it is not part of the fee. The strip below enlarges the two small parts. Raqami collects the fee as its own income and pays Halqa an agreed share; Halqa’s revenue is a share of what Raqami earns, never money held.</a:t>
            </a:r>
          </a:p>
          <a:p/>
          <a:p>
            <a:r>
              <a:t>The fee is the running cost of one payment, at most Rs 35, plus Rs 50. The fixed cost is technical only: hosting on Vercel, the Supabase database with point in time recovery and a staging copy, Sentry error monitoring, Google Workspace mail and the Apple developer account, about US$208 or Rs 61,000 a month at launch; salaries, counsel and an office are excluded. Each active member in a monthly circle contributes about Rs 50 a month, so the technical cost is covered at about 1,220 active members. Running one payment costs Rs 13 to 35, mostly WhatsApp messages and checks.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Side by side, scored full, half or empty. The last row is honest about reach: that is where Raqami and the hosts come in.</a:t>
            </a:r>
          </a:p>
          <a:p/>
          <a:p>
            <a:r>
              <a:t>Oraan, the closest competitor, holds members’ money in its own company accounts, keeps the return on it, charges the first turn up to 21 per cent of the instalment every month, about 54 per cent a year, pays out net between the 11th and the 18th, carries defaults on its own balance sheet and reports only defaulters to the bureau. It markets its committees as Shariah compliant on the certificate of a private advisory firm.</a:t>
            </a:r>
          </a:p>
          <a:p/>
          <a:p>
            <a:r>
              <a:t>JazzCash launched a committee feature in August 2026. It rotates, but the pot collects in the organiser’s wallet and the organiser pays out by hand; members are chosen from phone contacts, there is no way out before the end and no credit record; fees and default handling are not published. Its advantage is reach: 60 million registered customers.</a:t>
            </a:r>
          </a:p>
          <a:p/>
          <a:p>
            <a:r>
              <a:t>The informal committee usually has no fee, but everything rests on the organiser.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companies abroad; each line starts in the year the company started.</a:t>
            </a:r>
          </a:p>
          <a:p/>
          <a:p>
            <a:r>
              <a:t>Money Fellows in Egypt, founded 2016: more than 8 million users, US$1.5 billion of payments and profitable; it entered the Central Bank of Egypt’s sandbox and runs a prepaid card with Banque Misr.</a:t>
            </a:r>
          </a:p>
          <a:p/>
          <a:p>
            <a:r>
              <a:t>Hakbah in Saudi Arabia, founded 2018, launched in 2020 only after a permit under the Saudi central bank’s sandbox; more than 2 million registered users by February 2026.</a:t>
            </a:r>
          </a:p>
          <a:p/>
          <a:p>
            <a:r>
              <a:t>Esusu in the United States, founded 2018, reports on-time payments to the credit bureaus; valued at US$1 billion in 2022 and US$1.2 billion in December 2025.</a:t>
            </a:r>
          </a:p>
          <a:p/>
          <a:p>
            <a:r>
              <a:t>Each grew by working inside the formal system: a regulator, a bank or the bureaus. That is the sequence proposed with Raqami.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timing matters. Pakistan moved to digital payments fast: 78 per cent of retail payments were digital in FY2023 and 92 per cent by January to March 2026, when banking applications handled about 2.9 billion payments. About 69 million people held a mobile wallet at the end of 2024 and 21 million used mobile banking. Savings did not follow: the committee is still cash.</a:t>
            </a:r>
          </a:p>
          <a:p/>
          <a:p>
            <a:r>
              <a:t>The market is moving. JazzCash launched a committee feature in August 2026. The first bank to offer a committee held safely, with a credit record, sets the standard.</a:t>
            </a:r>
          </a:p>
          <a:p/>
          <a:p>
            <a:r>
              <a:t>The Constitution now requires riba to be eliminated before 1 January 2028. People who have always chosen the committee because it carries no interest are the natural customers of an Islamic digital bank. The State Bank’s strategy targets 75 per cent of adults with an account by 2028, from 64 per cent, and a smaller gender gap; committee members, more of them women than men, are that group.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things stand. Built: the member application, running in preview with sample data: sign up, circles, automatic payment settings, activity, the credit report and Hyper; the identity, income, affordability and score checks; payday collection with retries; records, receipts and statements. Written: a legal position checked against twelve laws and regulations, six risk and pricing models, the default prevention and recovery design, and the business model.</a:t>
            </a:r>
          </a:p>
          <a:p/>
          <a:p>
            <a:r>
              <a:t>To do: incorporate the company, a private limited company with its registered office in Islamabad; the agreement with Raqami; product approval through Raqami; the connection to Raqami’s account, standing instruction and payment interfaces and to the PSP; and the takaful operator and the TASDEEQ reporting route. No member money has moved: every payment in the application today is a test record.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Meeting plan: about twenty minutes for slides 1 to 20, then questions; the appendix, A1 to A6, holds the detail on Hyper, payment collection, wallets and the PSP, recovery, points and regulation.</a:t>
            </a:r>
          </a:p>
          <a:p/>
          <a:p>
            <a:r>
              <a:t>The whole proposal on one page.</a:t>
            </a:r>
          </a:p>
          <a:p/>
          <a:p>
            <a:r>
              <a:t>Background: about four in ten Pakistanis save in committees. Almost all of it is cash held by one organiser, outside any bank, and nothing is recorded.</a:t>
            </a:r>
          </a:p>
          <a:p/>
          <a:p>
            <a:r>
              <a:t>Proposal: Halqa runs the committee in its application. Every member opens a Raqami account; Raqami collects the instalment from it and pays the pot into it. Halqa never holds the money.</a:t>
            </a:r>
          </a:p>
          <a:p/>
          <a:p>
            <a:r>
              <a:t>Roles: Halqa is the system: the rules, the order of turns, the checks on each member, reminders and records. Raqami is the machine: accounts, collection, payouts and profit on balances. A licensed takaful operator pays the other members if someone stops paying after collecting.</a:t>
            </a:r>
          </a:p>
          <a:p/>
          <a:p>
            <a:r>
              <a:t>Regulation comes through Raqami’s licence, with Halqa as its service provider under the State Bank’s outsourcing framework.</a:t>
            </a:r>
          </a:p>
          <a:p/>
          <a:p>
            <a:r>
              <a:t>For Raqami: each circle brings six to twenty accounts at once; at Raqami’s own average deposit, 100,000 members mean about Rs 1.4 billion of deposits; and every instalment is a repayment record.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Hyper is a daily committee for people paid daily, such as shopkeepers and drivers, run as an experiment inside the partnership.</a:t>
            </a:r>
          </a:p>
          <a:p/>
          <a:p>
            <a:r>
              <a:t>Each daily payment splits three ways. Design one: 400 members pay Rs 450 a day for 50 days; Rs 300 goes to the pot, Rs 135 to takaful and Rs 15 is the fee; eight members collect Rs 15,000 each day. Design two: 390 members pay Rs 500 a day for 26 days, Sundays off; Rs 333.33 to the pot, Rs 151.67 to takaful and Rs 15 fee; fifteen members collect Rs 8,666.67 each day. The fee is the same flat Rs 15 on every day and every turn, never graded by turn.</a:t>
            </a:r>
          </a:p>
          <a:p/>
          <a:p>
            <a:r>
              <a:t>The controls are the strictest in the product: daily income verified over eight weeks, all checks, automatic debit, one daily circle per member, late charges of 5, 10 and 15 per cent at 12, 36 and 60 hours, and the circle stops opening new days if losses would exceed the takaful limit.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money is collected: the three methods, in the order of the collection design.</a:t>
            </a:r>
          </a:p>
          <a:p/>
          <a:p>
            <a:r>
              <a:t>Method one, one-tap approval: a payment request the member approves by card, mobile wallet or Raast. It is the method for known circles and the fallback when an automatic debit fails.</a:t>
            </a:r>
          </a:p>
          <a:p/>
          <a:p>
            <a:r>
              <a:t>Method two, automatic debit: Raqami’s standing instruction on the member’s own Raqami account is the main automatic method; a saved card or wallet charged through a licensed PSP covers members whose money sits elsewhere. Automatic debit is required on every circle between strangers and on Hyper.</a:t>
            </a:r>
          </a:p>
          <a:p/>
          <a:p>
            <a:r>
              <a:t>Method three, manual payment: always available.</a:t>
            </a:r>
          </a:p>
          <a:p/>
          <a:p>
            <a:r>
              <a:t>The day strip is one instalment. The first debit runs on the member’s payday, learned from the account the salary arrives in; if the salary is late, one retry each morning, five attempts at most. The due date is the 8th. Only after that do late charges start: 2, 5 and 10 per cent of the instalment, paid to charity. Each debit is capped at one instalment and runs only on the circle’s schedule; cancelling the mandate moves the member to method one or three without cancelling the commitment; and a missed amount is recorded against the member’s own pot, never as a balance owed to Halqa.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money reaches the committee when it is not already in the member’s Raqami account. The blue lines are money and all of them end at Raqami; none touches Halqa.</a:t>
            </a:r>
          </a:p>
          <a:p/>
          <a:p>
            <a:r>
              <a:t>If the money is in the member’s Raqami account, the standing instruction collects it directly. If it is in another bank or a wallet, the member can move it by Raast, or link the wallet or a debit card once in the Halqa application: a licensed payment service provider keeps the card or wallet token, and Halqa keeps only a reference to it, never the card number. On payday Halqa sends the collection request by API to Raqami or to the PSP; the PSP settles the payment into the committee account at Raqami, never to Halqa. Every payment is confirmed back to Halqa, which updates the record and reconciles every entry against Raqami’s statement daily. On the 8th the pot goes from the committee account to the collector’s Raqami account.</a:t>
            </a:r>
          </a:p>
          <a:p/>
          <a:p>
            <a:r>
              <a:t>Most Pakistanis who pay digitally use a mobile wallet; about 69 million people held one at the end of 2024. This route lets them join without changing how they are paid.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Recovery applies only to a member who has already collected and then stops paying; a member who misses before collecting costs the others nothing, because the arrears come out of their own pot. The worst case is turn one on a circle of twelve at Rs 10,000, with Rs 110,000 still owed.</a:t>
            </a:r>
          </a:p>
          <a:p/>
          <a:p>
            <a:r>
              <a:t>The steps rise in severity and each is used only if the one before fails. One, contact: most cases end with a hardship plan and a new date. Two, the account is restricted and the score falls by 200. Three, the takaful operator pays the members left short in full, in their own names, so they are made whole while recovery continues. Four, the mutual guarantee: the whole balance falls due. Five, an ordinary civil suit on the signed undertaking. Six, only where a guarantee cheque is held, a summary suit on it.</a:t>
            </a:r>
          </a:p>
          <a:p/>
          <a:p>
            <a:r>
              <a:t>The takaful is priced for a severe stress case, one circle in five losing a fifth of its members from the earliest turns: about 5.5 per cent of the instalment on a circle between strangers. Raqami chooses the takaful operator; EFU window takaful is already its partner. Halqa itself insures no one. What Halqa never does: call relatives, read contact lists or publish names; that is how the banned loan applications worked.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return value to members without Halqa holding money. The main source is the profit on committee balances: instalments sit at Raqami for about a week each month, and the profit on that balance is paid to members at the end of the circle as points, one point for each rupee. Members also earn points for paying on time, never more than half of Halqa’s own fee on that instalment, and hosts earn points for circles that complete cleanly. Points are spent in Halqa’s marketplace, with e-commerce partners and with Raqami’s own rewards.</a:t>
            </a:r>
          </a:p>
          <a:p/>
          <a:p>
            <a:r>
              <a:t>The worked example keeps it honest: a circle of 12 at Rs 10,000 holds Rs 120,000 for about seven days a month; at 10% a year that earns about Rs 230 a month, about Rs 2,760 over the circle, or about 230 points per member. It is a reward, not a return.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Regulation, plainly: a system that runs committees with members’ money needs State Bank regulation, and only a bank may take deposits. The nesting shows how both are met. The State Bank regulates Raqami, payments and the payment service provider. Raqami’s licence covers the accounts and the payments. The Islamic structure goes to Raqami’s Shariah Board before launch. Halqa is assessed as Raqami’s service provider under the State Bank’s outsourcing framework, with audit rights for Raqami and the State Bank.</a:t>
            </a:r>
          </a:p>
          <a:p/>
          <a:p>
            <a:r>
              <a:t>The table maps each rule to how it is met: member money only at Raqami; the outsourcing framework for Halqa’s role; the Payment Systems and Electronic Fund Transfers Act for automatic debits, where the mandate and its duties are Raqami’s; the Credit Bureaus Act for reporting; the Insurance Ordinance for takaful, written only by a licensed operator; the product itself taken to the State Bank through Raqami for approval or notice; and data kept to results only.</a:t>
            </a:r>
          </a:p>
        </p:txBody>
      </p:sp>
      <p:sp>
        <p:nvSpPr>
          <p:cNvPr id="4" name="Slide Number Placeholder 3"/>
          <p:cNvSpPr>
            <a:spLocks noGrp="1"/>
          </p:cNvSpPr>
          <p:nvPr>
            <p:ph type="sldNum" idx="5" sz="quarter"/>
          </p:nvPr>
        </p:nvSpPr>
        <p:spPr/>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7.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086600" y="0"/>
            <a:ext cx="5105095" cy="6858000"/>
          </a:xfrm>
          <a:prstGeom prst="rect">
            <a:avLst/>
          </a:prstGeom>
          <a:solidFill>
            <a:srgbClr val="573F99"/>
          </a:solidFill>
          <a:ln>
            <a:noFill/>
          </a:ln>
        </p:spPr>
        <p:txBody>
          <a:bodyPr rtlCol="0" anchor="ctr"/>
          <a:lstStyle/>
          <a:p>
            <a:pPr algn="ctr"/>
          </a:p>
        </p:txBody>
      </p:sp>
      <p:pic>
        <p:nvPicPr>
          <p:cNvPr id="3" name="Picture 2" descr="phone-home-full.png"/>
          <p:cNvPicPr>
            <a:picLocks noChangeAspect="1"/>
          </p:cNvPicPr>
          <p:nvPr/>
        </p:nvPicPr>
        <p:blipFill>
          <a:blip r:embed="rId2"/>
          <a:stretch>
            <a:fillRect/>
          </a:stretch>
        </p:blipFill>
        <p:spPr>
          <a:xfrm>
            <a:off x="8267367" y="548640"/>
            <a:ext cx="2743562" cy="5760720"/>
          </a:xfrm>
          <a:prstGeom prst="rect">
            <a:avLst/>
          </a:prstGeom>
        </p:spPr>
      </p:pic>
      <p:pic>
        <p:nvPicPr>
          <p:cNvPr id="4" name="Picture 3" descr="lockup-520.png"/>
          <p:cNvPicPr>
            <a:picLocks noChangeAspect="1"/>
          </p:cNvPicPr>
          <p:nvPr/>
        </p:nvPicPr>
        <p:blipFill>
          <a:blip r:embed="rId3"/>
          <a:stretch>
            <a:fillRect/>
          </a:stretch>
        </p:blipFill>
        <p:spPr>
          <a:xfrm>
            <a:off x="548640" y="749808"/>
            <a:ext cx="1655180" cy="502920"/>
          </a:xfrm>
          <a:prstGeom prst="rect">
            <a:avLst/>
          </a:prstGeom>
        </p:spPr>
      </p:pic>
      <p:cxnSp>
        <p:nvCxnSpPr>
          <p:cNvPr id="5" name="Connector 4"/>
          <p:cNvCxnSpPr/>
          <p:nvPr/>
        </p:nvCxnSpPr>
        <p:spPr>
          <a:xfrm>
            <a:off x="2523860" y="603504"/>
            <a:ext cx="0" cy="804672"/>
          </a:xfrm>
          <a:prstGeom prst="line">
            <a:avLst/>
          </a:prstGeom>
          <a:ln w="12700">
            <a:solidFill>
              <a:srgbClr val="D1D5DB"/>
            </a:solidFill>
          </a:ln>
        </p:spPr>
      </p:cxnSp>
      <p:pic>
        <p:nvPicPr>
          <p:cNvPr id="6" name="Picture 5" descr="raqami-logo-colour.png"/>
          <p:cNvPicPr>
            <a:picLocks noChangeAspect="1"/>
          </p:cNvPicPr>
          <p:nvPr/>
        </p:nvPicPr>
        <p:blipFill>
          <a:blip r:embed="rId4"/>
          <a:stretch>
            <a:fillRect/>
          </a:stretch>
        </p:blipFill>
        <p:spPr>
          <a:xfrm>
            <a:off x="2843900" y="603504"/>
            <a:ext cx="2397218" cy="932688"/>
          </a:xfrm>
          <a:prstGeom prst="rect">
            <a:avLst/>
          </a:prstGeom>
        </p:spPr>
      </p:pic>
      <p:sp>
        <p:nvSpPr>
          <p:cNvPr id="7" name="TextBox 6"/>
          <p:cNvSpPr txBox="1"/>
          <p:nvPr/>
        </p:nvSpPr>
        <p:spPr>
          <a:xfrm>
            <a:off x="548640" y="2286000"/>
            <a:ext cx="6309360" cy="1234440"/>
          </a:xfrm>
          <a:prstGeom prst="rect">
            <a:avLst/>
          </a:prstGeom>
          <a:noFill/>
        </p:spPr>
        <p:txBody>
          <a:bodyPr wrap="square" lIns="0" tIns="0" rIns="0" bIns="0">
            <a:spAutoFit/>
          </a:bodyPr>
          <a:lstStyle/>
          <a:p>
            <a:pPr>
              <a:lnSpc>
                <a:spcPct val="98000"/>
              </a:lnSpc>
            </a:pPr>
            <a:r>
              <a:rPr sz="3800" b="1">
                <a:solidFill>
                  <a:srgbClr val="0C1408"/>
                </a:solidFill>
                <a:latin typeface="Arial"/>
              </a:rPr>
              <a:t>Committee Savings Partnership</a:t>
            </a:r>
          </a:p>
        </p:txBody>
      </p:sp>
      <p:sp>
        <p:nvSpPr>
          <p:cNvPr id="8" name="TextBox 7"/>
          <p:cNvSpPr txBox="1"/>
          <p:nvPr/>
        </p:nvSpPr>
        <p:spPr>
          <a:xfrm>
            <a:off x="548640" y="3639312"/>
            <a:ext cx="6309360" cy="731520"/>
          </a:xfrm>
          <a:prstGeom prst="rect">
            <a:avLst/>
          </a:prstGeom>
          <a:noFill/>
        </p:spPr>
        <p:txBody>
          <a:bodyPr wrap="square" lIns="0" tIns="0" rIns="0" bIns="0">
            <a:spAutoFit/>
          </a:bodyPr>
          <a:lstStyle/>
          <a:p>
            <a:pPr>
              <a:lnSpc>
                <a:spcPct val="105000"/>
              </a:lnSpc>
            </a:pPr>
            <a:r>
              <a:rPr sz="2000">
                <a:solidFill>
                  <a:srgbClr val="0C1408"/>
                </a:solidFill>
                <a:latin typeface="Arial"/>
              </a:rPr>
              <a:t>Proposal to Raqami Islamic Digital Bank</a:t>
            </a:r>
          </a:p>
        </p:txBody>
      </p:sp>
      <p:sp>
        <p:nvSpPr>
          <p:cNvPr id="9" name="TextBox 8"/>
          <p:cNvSpPr txBox="1"/>
          <p:nvPr/>
        </p:nvSpPr>
        <p:spPr>
          <a:xfrm>
            <a:off x="548640" y="5440680"/>
            <a:ext cx="5943600" cy="320040"/>
          </a:xfrm>
          <a:prstGeom prst="rect">
            <a:avLst/>
          </a:prstGeom>
          <a:noFill/>
        </p:spPr>
        <p:txBody>
          <a:bodyPr wrap="square" lIns="0" tIns="0" rIns="0" bIns="0">
            <a:spAutoFit/>
          </a:bodyPr>
          <a:lstStyle/>
          <a:p>
            <a:pPr>
              <a:lnSpc>
                <a:spcPct val="105000"/>
              </a:lnSpc>
            </a:pPr>
            <a:r>
              <a:rPr sz="1400" b="1">
                <a:solidFill>
                  <a:srgbClr val="0C1408"/>
                </a:solidFill>
                <a:latin typeface="Arial"/>
              </a:rPr>
              <a:t>Taha Kayani, Founder, Halqa</a:t>
            </a:r>
          </a:p>
        </p:txBody>
      </p:sp>
      <p:sp>
        <p:nvSpPr>
          <p:cNvPr id="10" name="TextBox 9"/>
          <p:cNvSpPr txBox="1"/>
          <p:nvPr/>
        </p:nvSpPr>
        <p:spPr>
          <a:xfrm>
            <a:off x="548640" y="5797296"/>
            <a:ext cx="5943600" cy="274320"/>
          </a:xfrm>
          <a:prstGeom prst="rect">
            <a:avLst/>
          </a:prstGeom>
          <a:noFill/>
        </p:spPr>
        <p:txBody>
          <a:bodyPr wrap="square" lIns="0" tIns="0" rIns="0" bIns="0">
            <a:spAutoFit/>
          </a:bodyPr>
          <a:lstStyle/>
          <a:p>
            <a:pPr>
              <a:lnSpc>
                <a:spcPct val="105000"/>
              </a:lnSpc>
            </a:pPr>
            <a:r>
              <a:rPr sz="1250">
                <a:solidFill>
                  <a:srgbClr val="0C1408"/>
                </a:solidFill>
                <a:latin typeface="Arial"/>
              </a:rPr>
              <a:t>30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How a Committee Works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Also called kameti, BC or bisi. Example: 12 members each pay Rs 10,000 a month for 12 months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a:t>
            </a:r>
          </a:p>
        </p:txBody>
      </p:sp>
      <p:sp>
        <p:nvSpPr>
          <p:cNvPr id="6" name="TextBox 5"/>
          <p:cNvSpPr txBox="1"/>
          <p:nvPr/>
        </p:nvSpPr>
        <p:spPr>
          <a:xfrm>
            <a:off x="548640" y="1481328"/>
            <a:ext cx="4572000" cy="274320"/>
          </a:xfrm>
          <a:prstGeom prst="rect">
            <a:avLst/>
          </a:prstGeom>
          <a:noFill/>
        </p:spPr>
        <p:txBody>
          <a:bodyPr wrap="square" lIns="0" tIns="0" rIns="0" bIns="0">
            <a:spAutoFit/>
          </a:bodyPr>
          <a:lstStyle/>
          <a:p>
            <a:pPr>
              <a:lnSpc>
                <a:spcPct val="100000"/>
              </a:lnSpc>
            </a:pPr>
            <a:r>
              <a:rPr sz="1200" b="1">
                <a:solidFill>
                  <a:srgbClr val="0C1408"/>
                </a:solidFill>
                <a:latin typeface="Arial"/>
              </a:rPr>
              <a:t>Who pays and who collects</a:t>
            </a:r>
            <a:r>
              <a:rPr sz="1100">
                <a:solidFill>
                  <a:srgbClr val="0C1408"/>
                </a:solidFill>
                <a:latin typeface="Arial"/>
              </a:rPr>
              <a:t>   by month</a:t>
            </a:r>
          </a:p>
        </p:txBody>
      </p:sp>
      <p:sp>
        <p:nvSpPr>
          <p:cNvPr id="7" name="TextBox 6"/>
          <p:cNvSpPr txBox="1"/>
          <p:nvPr/>
        </p:nvSpPr>
        <p:spPr>
          <a:xfrm>
            <a:off x="1097280" y="1783080"/>
            <a:ext cx="3291840" cy="219456"/>
          </a:xfrm>
          <a:prstGeom prst="rect">
            <a:avLst/>
          </a:prstGeom>
          <a:noFill/>
        </p:spPr>
        <p:txBody>
          <a:bodyPr wrap="square" lIns="0" tIns="0" rIns="0" bIns="0">
            <a:spAutoFit/>
          </a:bodyPr>
          <a:lstStyle/>
          <a:p>
            <a:pPr algn="ctr">
              <a:lnSpc>
                <a:spcPct val="105000"/>
              </a:lnSpc>
            </a:pPr>
            <a:r>
              <a:rPr sz="1000" b="1">
                <a:solidFill>
                  <a:srgbClr val="0C1408"/>
                </a:solidFill>
                <a:latin typeface="Arial"/>
              </a:rPr>
              <a:t>Month</a:t>
            </a:r>
          </a:p>
        </p:txBody>
      </p:sp>
      <p:sp>
        <p:nvSpPr>
          <p:cNvPr id="8" name="TextBox 7"/>
          <p:cNvSpPr txBox="1"/>
          <p:nvPr/>
        </p:nvSpPr>
        <p:spPr>
          <a:xfrm>
            <a:off x="104241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1</a:t>
            </a:r>
          </a:p>
        </p:txBody>
      </p:sp>
      <p:sp>
        <p:nvSpPr>
          <p:cNvPr id="9" name="TextBox 8"/>
          <p:cNvSpPr txBox="1"/>
          <p:nvPr/>
        </p:nvSpPr>
        <p:spPr>
          <a:xfrm>
            <a:off x="131673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2</a:t>
            </a:r>
          </a:p>
        </p:txBody>
      </p:sp>
      <p:sp>
        <p:nvSpPr>
          <p:cNvPr id="10" name="TextBox 9"/>
          <p:cNvSpPr txBox="1"/>
          <p:nvPr/>
        </p:nvSpPr>
        <p:spPr>
          <a:xfrm>
            <a:off x="159105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3</a:t>
            </a:r>
          </a:p>
        </p:txBody>
      </p:sp>
      <p:sp>
        <p:nvSpPr>
          <p:cNvPr id="11" name="TextBox 10"/>
          <p:cNvSpPr txBox="1"/>
          <p:nvPr/>
        </p:nvSpPr>
        <p:spPr>
          <a:xfrm>
            <a:off x="186537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4</a:t>
            </a:r>
          </a:p>
        </p:txBody>
      </p:sp>
      <p:sp>
        <p:nvSpPr>
          <p:cNvPr id="12" name="TextBox 11"/>
          <p:cNvSpPr txBox="1"/>
          <p:nvPr/>
        </p:nvSpPr>
        <p:spPr>
          <a:xfrm>
            <a:off x="213969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5</a:t>
            </a:r>
          </a:p>
        </p:txBody>
      </p:sp>
      <p:sp>
        <p:nvSpPr>
          <p:cNvPr id="13" name="TextBox 12"/>
          <p:cNvSpPr txBox="1"/>
          <p:nvPr/>
        </p:nvSpPr>
        <p:spPr>
          <a:xfrm>
            <a:off x="241401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6</a:t>
            </a:r>
          </a:p>
        </p:txBody>
      </p:sp>
      <p:sp>
        <p:nvSpPr>
          <p:cNvPr id="14" name="TextBox 13"/>
          <p:cNvSpPr txBox="1"/>
          <p:nvPr/>
        </p:nvSpPr>
        <p:spPr>
          <a:xfrm>
            <a:off x="268833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7</a:t>
            </a:r>
          </a:p>
        </p:txBody>
      </p:sp>
      <p:sp>
        <p:nvSpPr>
          <p:cNvPr id="15" name="TextBox 14"/>
          <p:cNvSpPr txBox="1"/>
          <p:nvPr/>
        </p:nvSpPr>
        <p:spPr>
          <a:xfrm>
            <a:off x="296265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8</a:t>
            </a:r>
          </a:p>
        </p:txBody>
      </p:sp>
      <p:sp>
        <p:nvSpPr>
          <p:cNvPr id="16" name="TextBox 15"/>
          <p:cNvSpPr txBox="1"/>
          <p:nvPr/>
        </p:nvSpPr>
        <p:spPr>
          <a:xfrm>
            <a:off x="323697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9</a:t>
            </a:r>
          </a:p>
        </p:txBody>
      </p:sp>
      <p:sp>
        <p:nvSpPr>
          <p:cNvPr id="17" name="TextBox 16"/>
          <p:cNvSpPr txBox="1"/>
          <p:nvPr/>
        </p:nvSpPr>
        <p:spPr>
          <a:xfrm>
            <a:off x="351129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10</a:t>
            </a:r>
          </a:p>
        </p:txBody>
      </p:sp>
      <p:sp>
        <p:nvSpPr>
          <p:cNvPr id="18" name="TextBox 17"/>
          <p:cNvSpPr txBox="1"/>
          <p:nvPr/>
        </p:nvSpPr>
        <p:spPr>
          <a:xfrm>
            <a:off x="378561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11</a:t>
            </a:r>
          </a:p>
        </p:txBody>
      </p:sp>
      <p:sp>
        <p:nvSpPr>
          <p:cNvPr id="19" name="TextBox 18"/>
          <p:cNvSpPr txBox="1"/>
          <p:nvPr/>
        </p:nvSpPr>
        <p:spPr>
          <a:xfrm>
            <a:off x="405993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12</a:t>
            </a:r>
          </a:p>
        </p:txBody>
      </p:sp>
      <p:sp>
        <p:nvSpPr>
          <p:cNvPr id="20" name="TextBox 19"/>
          <p:cNvSpPr txBox="1"/>
          <p:nvPr/>
        </p:nvSpPr>
        <p:spPr>
          <a:xfrm>
            <a:off x="731520" y="210312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1</a:t>
            </a:r>
          </a:p>
        </p:txBody>
      </p:sp>
      <p:sp>
        <p:nvSpPr>
          <p:cNvPr id="21" name="Rectangle 20"/>
          <p:cNvSpPr/>
          <p:nvPr/>
        </p:nvSpPr>
        <p:spPr>
          <a:xfrm>
            <a:off x="1097280" y="2103120"/>
            <a:ext cx="228600" cy="228600"/>
          </a:xfrm>
          <a:prstGeom prst="rect">
            <a:avLst/>
          </a:prstGeom>
          <a:solidFill>
            <a:srgbClr val="573F99"/>
          </a:solidFill>
          <a:ln>
            <a:noFill/>
          </a:ln>
        </p:spPr>
        <p:txBody>
          <a:bodyPr rtlCol="0" anchor="ctr"/>
          <a:lstStyle/>
          <a:p>
            <a:pPr algn="ctr"/>
          </a:p>
        </p:txBody>
      </p:sp>
      <p:sp>
        <p:nvSpPr>
          <p:cNvPr id="22" name="Rectangle 21"/>
          <p:cNvSpPr/>
          <p:nvPr/>
        </p:nvSpPr>
        <p:spPr>
          <a:xfrm>
            <a:off x="1371600" y="2103120"/>
            <a:ext cx="228600" cy="228600"/>
          </a:xfrm>
          <a:prstGeom prst="rect">
            <a:avLst/>
          </a:prstGeom>
          <a:solidFill>
            <a:srgbClr val="E4DEF3"/>
          </a:solidFill>
          <a:ln>
            <a:noFill/>
          </a:ln>
        </p:spPr>
        <p:txBody>
          <a:bodyPr rtlCol="0" anchor="ctr"/>
          <a:lstStyle/>
          <a:p>
            <a:pPr algn="ctr"/>
          </a:p>
        </p:txBody>
      </p:sp>
      <p:sp>
        <p:nvSpPr>
          <p:cNvPr id="23" name="Rectangle 22"/>
          <p:cNvSpPr/>
          <p:nvPr/>
        </p:nvSpPr>
        <p:spPr>
          <a:xfrm>
            <a:off x="1645920" y="2103120"/>
            <a:ext cx="228600" cy="228600"/>
          </a:xfrm>
          <a:prstGeom prst="rect">
            <a:avLst/>
          </a:prstGeom>
          <a:solidFill>
            <a:srgbClr val="E4DEF3"/>
          </a:solidFill>
          <a:ln>
            <a:noFill/>
          </a:ln>
        </p:spPr>
        <p:txBody>
          <a:bodyPr rtlCol="0" anchor="ctr"/>
          <a:lstStyle/>
          <a:p>
            <a:pPr algn="ctr"/>
          </a:p>
        </p:txBody>
      </p:sp>
      <p:sp>
        <p:nvSpPr>
          <p:cNvPr id="24" name="Rectangle 23"/>
          <p:cNvSpPr/>
          <p:nvPr/>
        </p:nvSpPr>
        <p:spPr>
          <a:xfrm>
            <a:off x="1920240" y="2103120"/>
            <a:ext cx="228600" cy="228600"/>
          </a:xfrm>
          <a:prstGeom prst="rect">
            <a:avLst/>
          </a:prstGeom>
          <a:solidFill>
            <a:srgbClr val="E4DEF3"/>
          </a:solidFill>
          <a:ln>
            <a:noFill/>
          </a:ln>
        </p:spPr>
        <p:txBody>
          <a:bodyPr rtlCol="0" anchor="ctr"/>
          <a:lstStyle/>
          <a:p>
            <a:pPr algn="ctr"/>
          </a:p>
        </p:txBody>
      </p:sp>
      <p:sp>
        <p:nvSpPr>
          <p:cNvPr id="25" name="Rectangle 24"/>
          <p:cNvSpPr/>
          <p:nvPr/>
        </p:nvSpPr>
        <p:spPr>
          <a:xfrm>
            <a:off x="2194560" y="2103120"/>
            <a:ext cx="228600" cy="228600"/>
          </a:xfrm>
          <a:prstGeom prst="rect">
            <a:avLst/>
          </a:prstGeom>
          <a:solidFill>
            <a:srgbClr val="E4DEF3"/>
          </a:solidFill>
          <a:ln>
            <a:noFill/>
          </a:ln>
        </p:spPr>
        <p:txBody>
          <a:bodyPr rtlCol="0" anchor="ctr"/>
          <a:lstStyle/>
          <a:p>
            <a:pPr algn="ctr"/>
          </a:p>
        </p:txBody>
      </p:sp>
      <p:sp>
        <p:nvSpPr>
          <p:cNvPr id="26" name="Rectangle 25"/>
          <p:cNvSpPr/>
          <p:nvPr/>
        </p:nvSpPr>
        <p:spPr>
          <a:xfrm>
            <a:off x="2468880" y="2103120"/>
            <a:ext cx="228600" cy="228600"/>
          </a:xfrm>
          <a:prstGeom prst="rect">
            <a:avLst/>
          </a:prstGeom>
          <a:solidFill>
            <a:srgbClr val="E4DEF3"/>
          </a:solidFill>
          <a:ln>
            <a:noFill/>
          </a:ln>
        </p:spPr>
        <p:txBody>
          <a:bodyPr rtlCol="0" anchor="ctr"/>
          <a:lstStyle/>
          <a:p>
            <a:pPr algn="ctr"/>
          </a:p>
        </p:txBody>
      </p:sp>
      <p:sp>
        <p:nvSpPr>
          <p:cNvPr id="27" name="Rectangle 26"/>
          <p:cNvSpPr/>
          <p:nvPr/>
        </p:nvSpPr>
        <p:spPr>
          <a:xfrm>
            <a:off x="2743200" y="2103120"/>
            <a:ext cx="228600" cy="228600"/>
          </a:xfrm>
          <a:prstGeom prst="rect">
            <a:avLst/>
          </a:prstGeom>
          <a:solidFill>
            <a:srgbClr val="E4DEF3"/>
          </a:solidFill>
          <a:ln>
            <a:noFill/>
          </a:ln>
        </p:spPr>
        <p:txBody>
          <a:bodyPr rtlCol="0" anchor="ctr"/>
          <a:lstStyle/>
          <a:p>
            <a:pPr algn="ctr"/>
          </a:p>
        </p:txBody>
      </p:sp>
      <p:sp>
        <p:nvSpPr>
          <p:cNvPr id="28" name="Rectangle 27"/>
          <p:cNvSpPr/>
          <p:nvPr/>
        </p:nvSpPr>
        <p:spPr>
          <a:xfrm>
            <a:off x="3017520" y="2103120"/>
            <a:ext cx="228600" cy="228600"/>
          </a:xfrm>
          <a:prstGeom prst="rect">
            <a:avLst/>
          </a:prstGeom>
          <a:solidFill>
            <a:srgbClr val="E4DEF3"/>
          </a:solidFill>
          <a:ln>
            <a:noFill/>
          </a:ln>
        </p:spPr>
        <p:txBody>
          <a:bodyPr rtlCol="0" anchor="ctr"/>
          <a:lstStyle/>
          <a:p>
            <a:pPr algn="ctr"/>
          </a:p>
        </p:txBody>
      </p:sp>
      <p:sp>
        <p:nvSpPr>
          <p:cNvPr id="29" name="Rectangle 28"/>
          <p:cNvSpPr/>
          <p:nvPr/>
        </p:nvSpPr>
        <p:spPr>
          <a:xfrm>
            <a:off x="3291840" y="2103120"/>
            <a:ext cx="228600" cy="228600"/>
          </a:xfrm>
          <a:prstGeom prst="rect">
            <a:avLst/>
          </a:prstGeom>
          <a:solidFill>
            <a:srgbClr val="E4DEF3"/>
          </a:solidFill>
          <a:ln>
            <a:noFill/>
          </a:ln>
        </p:spPr>
        <p:txBody>
          <a:bodyPr rtlCol="0" anchor="ctr"/>
          <a:lstStyle/>
          <a:p>
            <a:pPr algn="ctr"/>
          </a:p>
        </p:txBody>
      </p:sp>
      <p:sp>
        <p:nvSpPr>
          <p:cNvPr id="30" name="Rectangle 29"/>
          <p:cNvSpPr/>
          <p:nvPr/>
        </p:nvSpPr>
        <p:spPr>
          <a:xfrm>
            <a:off x="3566160" y="2103120"/>
            <a:ext cx="228600" cy="228600"/>
          </a:xfrm>
          <a:prstGeom prst="rect">
            <a:avLst/>
          </a:prstGeom>
          <a:solidFill>
            <a:srgbClr val="E4DEF3"/>
          </a:solidFill>
          <a:ln>
            <a:noFill/>
          </a:ln>
        </p:spPr>
        <p:txBody>
          <a:bodyPr rtlCol="0" anchor="ctr"/>
          <a:lstStyle/>
          <a:p>
            <a:pPr algn="ctr"/>
          </a:p>
        </p:txBody>
      </p:sp>
      <p:sp>
        <p:nvSpPr>
          <p:cNvPr id="31" name="Rectangle 30"/>
          <p:cNvSpPr/>
          <p:nvPr/>
        </p:nvSpPr>
        <p:spPr>
          <a:xfrm>
            <a:off x="3840480" y="2103120"/>
            <a:ext cx="228600" cy="228600"/>
          </a:xfrm>
          <a:prstGeom prst="rect">
            <a:avLst/>
          </a:prstGeom>
          <a:solidFill>
            <a:srgbClr val="E4DEF3"/>
          </a:solidFill>
          <a:ln>
            <a:noFill/>
          </a:ln>
        </p:spPr>
        <p:txBody>
          <a:bodyPr rtlCol="0" anchor="ctr"/>
          <a:lstStyle/>
          <a:p>
            <a:pPr algn="ctr"/>
          </a:p>
        </p:txBody>
      </p:sp>
      <p:sp>
        <p:nvSpPr>
          <p:cNvPr id="32" name="Rectangle 31"/>
          <p:cNvSpPr/>
          <p:nvPr/>
        </p:nvSpPr>
        <p:spPr>
          <a:xfrm>
            <a:off x="4114800" y="2103120"/>
            <a:ext cx="228600" cy="228600"/>
          </a:xfrm>
          <a:prstGeom prst="rect">
            <a:avLst/>
          </a:prstGeom>
          <a:solidFill>
            <a:srgbClr val="E4DEF3"/>
          </a:solidFill>
          <a:ln>
            <a:noFill/>
          </a:ln>
        </p:spPr>
        <p:txBody>
          <a:bodyPr rtlCol="0" anchor="ctr"/>
          <a:lstStyle/>
          <a:p>
            <a:pPr algn="ctr"/>
          </a:p>
        </p:txBody>
      </p:sp>
      <p:sp>
        <p:nvSpPr>
          <p:cNvPr id="33" name="TextBox 32"/>
          <p:cNvSpPr txBox="1"/>
          <p:nvPr/>
        </p:nvSpPr>
        <p:spPr>
          <a:xfrm>
            <a:off x="731520" y="237744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2</a:t>
            </a:r>
          </a:p>
        </p:txBody>
      </p:sp>
      <p:sp>
        <p:nvSpPr>
          <p:cNvPr id="34" name="Rectangle 33"/>
          <p:cNvSpPr/>
          <p:nvPr/>
        </p:nvSpPr>
        <p:spPr>
          <a:xfrm>
            <a:off x="1097280" y="2377440"/>
            <a:ext cx="228600" cy="228600"/>
          </a:xfrm>
          <a:prstGeom prst="rect">
            <a:avLst/>
          </a:prstGeom>
          <a:solidFill>
            <a:srgbClr val="E4DEF3"/>
          </a:solidFill>
          <a:ln>
            <a:noFill/>
          </a:ln>
        </p:spPr>
        <p:txBody>
          <a:bodyPr rtlCol="0" anchor="ctr"/>
          <a:lstStyle/>
          <a:p>
            <a:pPr algn="ctr"/>
          </a:p>
        </p:txBody>
      </p:sp>
      <p:sp>
        <p:nvSpPr>
          <p:cNvPr id="35" name="Rectangle 34"/>
          <p:cNvSpPr/>
          <p:nvPr/>
        </p:nvSpPr>
        <p:spPr>
          <a:xfrm>
            <a:off x="1371600" y="2377440"/>
            <a:ext cx="228600" cy="228600"/>
          </a:xfrm>
          <a:prstGeom prst="rect">
            <a:avLst/>
          </a:prstGeom>
          <a:solidFill>
            <a:srgbClr val="573F99"/>
          </a:solidFill>
          <a:ln>
            <a:noFill/>
          </a:ln>
        </p:spPr>
        <p:txBody>
          <a:bodyPr rtlCol="0" anchor="ctr"/>
          <a:lstStyle/>
          <a:p>
            <a:pPr algn="ctr"/>
          </a:p>
        </p:txBody>
      </p:sp>
      <p:sp>
        <p:nvSpPr>
          <p:cNvPr id="36" name="Rectangle 35"/>
          <p:cNvSpPr/>
          <p:nvPr/>
        </p:nvSpPr>
        <p:spPr>
          <a:xfrm>
            <a:off x="1645920" y="2377440"/>
            <a:ext cx="228600" cy="228600"/>
          </a:xfrm>
          <a:prstGeom prst="rect">
            <a:avLst/>
          </a:prstGeom>
          <a:solidFill>
            <a:srgbClr val="E4DEF3"/>
          </a:solidFill>
          <a:ln>
            <a:noFill/>
          </a:ln>
        </p:spPr>
        <p:txBody>
          <a:bodyPr rtlCol="0" anchor="ctr"/>
          <a:lstStyle/>
          <a:p>
            <a:pPr algn="ctr"/>
          </a:p>
        </p:txBody>
      </p:sp>
      <p:sp>
        <p:nvSpPr>
          <p:cNvPr id="37" name="Rectangle 36"/>
          <p:cNvSpPr/>
          <p:nvPr/>
        </p:nvSpPr>
        <p:spPr>
          <a:xfrm>
            <a:off x="1920240" y="2377440"/>
            <a:ext cx="228600" cy="228600"/>
          </a:xfrm>
          <a:prstGeom prst="rect">
            <a:avLst/>
          </a:prstGeom>
          <a:solidFill>
            <a:srgbClr val="E4DEF3"/>
          </a:solidFill>
          <a:ln>
            <a:noFill/>
          </a:ln>
        </p:spPr>
        <p:txBody>
          <a:bodyPr rtlCol="0" anchor="ctr"/>
          <a:lstStyle/>
          <a:p>
            <a:pPr algn="ctr"/>
          </a:p>
        </p:txBody>
      </p:sp>
      <p:sp>
        <p:nvSpPr>
          <p:cNvPr id="38" name="Rectangle 37"/>
          <p:cNvSpPr/>
          <p:nvPr/>
        </p:nvSpPr>
        <p:spPr>
          <a:xfrm>
            <a:off x="2194560" y="2377440"/>
            <a:ext cx="228600" cy="228600"/>
          </a:xfrm>
          <a:prstGeom prst="rect">
            <a:avLst/>
          </a:prstGeom>
          <a:solidFill>
            <a:srgbClr val="E4DEF3"/>
          </a:solidFill>
          <a:ln>
            <a:noFill/>
          </a:ln>
        </p:spPr>
        <p:txBody>
          <a:bodyPr rtlCol="0" anchor="ctr"/>
          <a:lstStyle/>
          <a:p>
            <a:pPr algn="ctr"/>
          </a:p>
        </p:txBody>
      </p:sp>
      <p:sp>
        <p:nvSpPr>
          <p:cNvPr id="39" name="Rectangle 38"/>
          <p:cNvSpPr/>
          <p:nvPr/>
        </p:nvSpPr>
        <p:spPr>
          <a:xfrm>
            <a:off x="2468880" y="2377440"/>
            <a:ext cx="228600" cy="228600"/>
          </a:xfrm>
          <a:prstGeom prst="rect">
            <a:avLst/>
          </a:prstGeom>
          <a:solidFill>
            <a:srgbClr val="E4DEF3"/>
          </a:solidFill>
          <a:ln>
            <a:noFill/>
          </a:ln>
        </p:spPr>
        <p:txBody>
          <a:bodyPr rtlCol="0" anchor="ctr"/>
          <a:lstStyle/>
          <a:p>
            <a:pPr algn="ctr"/>
          </a:p>
        </p:txBody>
      </p:sp>
      <p:sp>
        <p:nvSpPr>
          <p:cNvPr id="40" name="Rectangle 39"/>
          <p:cNvSpPr/>
          <p:nvPr/>
        </p:nvSpPr>
        <p:spPr>
          <a:xfrm>
            <a:off x="2743200" y="2377440"/>
            <a:ext cx="228600" cy="228600"/>
          </a:xfrm>
          <a:prstGeom prst="rect">
            <a:avLst/>
          </a:prstGeom>
          <a:solidFill>
            <a:srgbClr val="E4DEF3"/>
          </a:solidFill>
          <a:ln>
            <a:noFill/>
          </a:ln>
        </p:spPr>
        <p:txBody>
          <a:bodyPr rtlCol="0" anchor="ctr"/>
          <a:lstStyle/>
          <a:p>
            <a:pPr algn="ctr"/>
          </a:p>
        </p:txBody>
      </p:sp>
      <p:sp>
        <p:nvSpPr>
          <p:cNvPr id="41" name="Rectangle 40"/>
          <p:cNvSpPr/>
          <p:nvPr/>
        </p:nvSpPr>
        <p:spPr>
          <a:xfrm>
            <a:off x="3017520" y="2377440"/>
            <a:ext cx="228600" cy="228600"/>
          </a:xfrm>
          <a:prstGeom prst="rect">
            <a:avLst/>
          </a:prstGeom>
          <a:solidFill>
            <a:srgbClr val="E4DEF3"/>
          </a:solidFill>
          <a:ln>
            <a:noFill/>
          </a:ln>
        </p:spPr>
        <p:txBody>
          <a:bodyPr rtlCol="0" anchor="ctr"/>
          <a:lstStyle/>
          <a:p>
            <a:pPr algn="ctr"/>
          </a:p>
        </p:txBody>
      </p:sp>
      <p:sp>
        <p:nvSpPr>
          <p:cNvPr id="42" name="Rectangle 41"/>
          <p:cNvSpPr/>
          <p:nvPr/>
        </p:nvSpPr>
        <p:spPr>
          <a:xfrm>
            <a:off x="3291840" y="2377440"/>
            <a:ext cx="228600" cy="228600"/>
          </a:xfrm>
          <a:prstGeom prst="rect">
            <a:avLst/>
          </a:prstGeom>
          <a:solidFill>
            <a:srgbClr val="E4DEF3"/>
          </a:solidFill>
          <a:ln>
            <a:noFill/>
          </a:ln>
        </p:spPr>
        <p:txBody>
          <a:bodyPr rtlCol="0" anchor="ctr"/>
          <a:lstStyle/>
          <a:p>
            <a:pPr algn="ctr"/>
          </a:p>
        </p:txBody>
      </p:sp>
      <p:sp>
        <p:nvSpPr>
          <p:cNvPr id="43" name="Rectangle 42"/>
          <p:cNvSpPr/>
          <p:nvPr/>
        </p:nvSpPr>
        <p:spPr>
          <a:xfrm>
            <a:off x="3566160" y="2377440"/>
            <a:ext cx="228600" cy="228600"/>
          </a:xfrm>
          <a:prstGeom prst="rect">
            <a:avLst/>
          </a:prstGeom>
          <a:solidFill>
            <a:srgbClr val="E4DEF3"/>
          </a:solidFill>
          <a:ln>
            <a:noFill/>
          </a:ln>
        </p:spPr>
        <p:txBody>
          <a:bodyPr rtlCol="0" anchor="ctr"/>
          <a:lstStyle/>
          <a:p>
            <a:pPr algn="ctr"/>
          </a:p>
        </p:txBody>
      </p:sp>
      <p:sp>
        <p:nvSpPr>
          <p:cNvPr id="44" name="Rectangle 43"/>
          <p:cNvSpPr/>
          <p:nvPr/>
        </p:nvSpPr>
        <p:spPr>
          <a:xfrm>
            <a:off x="3840480" y="2377440"/>
            <a:ext cx="228600" cy="228600"/>
          </a:xfrm>
          <a:prstGeom prst="rect">
            <a:avLst/>
          </a:prstGeom>
          <a:solidFill>
            <a:srgbClr val="E4DEF3"/>
          </a:solidFill>
          <a:ln>
            <a:noFill/>
          </a:ln>
        </p:spPr>
        <p:txBody>
          <a:bodyPr rtlCol="0" anchor="ctr"/>
          <a:lstStyle/>
          <a:p>
            <a:pPr algn="ctr"/>
          </a:p>
        </p:txBody>
      </p:sp>
      <p:sp>
        <p:nvSpPr>
          <p:cNvPr id="45" name="Rectangle 44"/>
          <p:cNvSpPr/>
          <p:nvPr/>
        </p:nvSpPr>
        <p:spPr>
          <a:xfrm>
            <a:off x="4114800" y="2377440"/>
            <a:ext cx="228600" cy="228600"/>
          </a:xfrm>
          <a:prstGeom prst="rect">
            <a:avLst/>
          </a:prstGeom>
          <a:solidFill>
            <a:srgbClr val="E4DEF3"/>
          </a:solidFill>
          <a:ln>
            <a:noFill/>
          </a:ln>
        </p:spPr>
        <p:txBody>
          <a:bodyPr rtlCol="0" anchor="ctr"/>
          <a:lstStyle/>
          <a:p>
            <a:pPr algn="ctr"/>
          </a:p>
        </p:txBody>
      </p:sp>
      <p:sp>
        <p:nvSpPr>
          <p:cNvPr id="46" name="TextBox 45"/>
          <p:cNvSpPr txBox="1"/>
          <p:nvPr/>
        </p:nvSpPr>
        <p:spPr>
          <a:xfrm>
            <a:off x="731520" y="265176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3</a:t>
            </a:r>
          </a:p>
        </p:txBody>
      </p:sp>
      <p:sp>
        <p:nvSpPr>
          <p:cNvPr id="47" name="Rectangle 46"/>
          <p:cNvSpPr/>
          <p:nvPr/>
        </p:nvSpPr>
        <p:spPr>
          <a:xfrm>
            <a:off x="1097280" y="2651760"/>
            <a:ext cx="228600" cy="228600"/>
          </a:xfrm>
          <a:prstGeom prst="rect">
            <a:avLst/>
          </a:prstGeom>
          <a:solidFill>
            <a:srgbClr val="E4DEF3"/>
          </a:solidFill>
          <a:ln>
            <a:noFill/>
          </a:ln>
        </p:spPr>
        <p:txBody>
          <a:bodyPr rtlCol="0" anchor="ctr"/>
          <a:lstStyle/>
          <a:p>
            <a:pPr algn="ctr"/>
          </a:p>
        </p:txBody>
      </p:sp>
      <p:sp>
        <p:nvSpPr>
          <p:cNvPr id="48" name="Rectangle 47"/>
          <p:cNvSpPr/>
          <p:nvPr/>
        </p:nvSpPr>
        <p:spPr>
          <a:xfrm>
            <a:off x="1371600" y="2651760"/>
            <a:ext cx="228600" cy="228600"/>
          </a:xfrm>
          <a:prstGeom prst="rect">
            <a:avLst/>
          </a:prstGeom>
          <a:solidFill>
            <a:srgbClr val="E4DEF3"/>
          </a:solidFill>
          <a:ln>
            <a:noFill/>
          </a:ln>
        </p:spPr>
        <p:txBody>
          <a:bodyPr rtlCol="0" anchor="ctr"/>
          <a:lstStyle/>
          <a:p>
            <a:pPr algn="ctr"/>
          </a:p>
        </p:txBody>
      </p:sp>
      <p:sp>
        <p:nvSpPr>
          <p:cNvPr id="49" name="Rectangle 48"/>
          <p:cNvSpPr/>
          <p:nvPr/>
        </p:nvSpPr>
        <p:spPr>
          <a:xfrm>
            <a:off x="1645920" y="2651760"/>
            <a:ext cx="228600" cy="228600"/>
          </a:xfrm>
          <a:prstGeom prst="rect">
            <a:avLst/>
          </a:prstGeom>
          <a:solidFill>
            <a:srgbClr val="573F99"/>
          </a:solidFill>
          <a:ln>
            <a:noFill/>
          </a:ln>
        </p:spPr>
        <p:txBody>
          <a:bodyPr rtlCol="0" anchor="ctr"/>
          <a:lstStyle/>
          <a:p>
            <a:pPr algn="ctr"/>
          </a:p>
        </p:txBody>
      </p:sp>
      <p:sp>
        <p:nvSpPr>
          <p:cNvPr id="50" name="Rectangle 49"/>
          <p:cNvSpPr/>
          <p:nvPr/>
        </p:nvSpPr>
        <p:spPr>
          <a:xfrm>
            <a:off x="1920240" y="2651760"/>
            <a:ext cx="228600" cy="228600"/>
          </a:xfrm>
          <a:prstGeom prst="rect">
            <a:avLst/>
          </a:prstGeom>
          <a:solidFill>
            <a:srgbClr val="E4DEF3"/>
          </a:solidFill>
          <a:ln>
            <a:noFill/>
          </a:ln>
        </p:spPr>
        <p:txBody>
          <a:bodyPr rtlCol="0" anchor="ctr"/>
          <a:lstStyle/>
          <a:p>
            <a:pPr algn="ctr"/>
          </a:p>
        </p:txBody>
      </p:sp>
      <p:sp>
        <p:nvSpPr>
          <p:cNvPr id="51" name="Rectangle 50"/>
          <p:cNvSpPr/>
          <p:nvPr/>
        </p:nvSpPr>
        <p:spPr>
          <a:xfrm>
            <a:off x="2194560" y="2651760"/>
            <a:ext cx="228600" cy="228600"/>
          </a:xfrm>
          <a:prstGeom prst="rect">
            <a:avLst/>
          </a:prstGeom>
          <a:solidFill>
            <a:srgbClr val="E4DEF3"/>
          </a:solidFill>
          <a:ln>
            <a:noFill/>
          </a:ln>
        </p:spPr>
        <p:txBody>
          <a:bodyPr rtlCol="0" anchor="ctr"/>
          <a:lstStyle/>
          <a:p>
            <a:pPr algn="ctr"/>
          </a:p>
        </p:txBody>
      </p:sp>
      <p:sp>
        <p:nvSpPr>
          <p:cNvPr id="52" name="Rectangle 51"/>
          <p:cNvSpPr/>
          <p:nvPr/>
        </p:nvSpPr>
        <p:spPr>
          <a:xfrm>
            <a:off x="2468880" y="2651760"/>
            <a:ext cx="228600" cy="228600"/>
          </a:xfrm>
          <a:prstGeom prst="rect">
            <a:avLst/>
          </a:prstGeom>
          <a:solidFill>
            <a:srgbClr val="E4DEF3"/>
          </a:solidFill>
          <a:ln>
            <a:noFill/>
          </a:ln>
        </p:spPr>
        <p:txBody>
          <a:bodyPr rtlCol="0" anchor="ctr"/>
          <a:lstStyle/>
          <a:p>
            <a:pPr algn="ctr"/>
          </a:p>
        </p:txBody>
      </p:sp>
      <p:sp>
        <p:nvSpPr>
          <p:cNvPr id="53" name="Rectangle 52"/>
          <p:cNvSpPr/>
          <p:nvPr/>
        </p:nvSpPr>
        <p:spPr>
          <a:xfrm>
            <a:off x="2743200" y="2651760"/>
            <a:ext cx="228600" cy="228600"/>
          </a:xfrm>
          <a:prstGeom prst="rect">
            <a:avLst/>
          </a:prstGeom>
          <a:solidFill>
            <a:srgbClr val="E4DEF3"/>
          </a:solidFill>
          <a:ln>
            <a:noFill/>
          </a:ln>
        </p:spPr>
        <p:txBody>
          <a:bodyPr rtlCol="0" anchor="ctr"/>
          <a:lstStyle/>
          <a:p>
            <a:pPr algn="ctr"/>
          </a:p>
        </p:txBody>
      </p:sp>
      <p:sp>
        <p:nvSpPr>
          <p:cNvPr id="54" name="Rectangle 53"/>
          <p:cNvSpPr/>
          <p:nvPr/>
        </p:nvSpPr>
        <p:spPr>
          <a:xfrm>
            <a:off x="3017520" y="2651760"/>
            <a:ext cx="228600" cy="228600"/>
          </a:xfrm>
          <a:prstGeom prst="rect">
            <a:avLst/>
          </a:prstGeom>
          <a:solidFill>
            <a:srgbClr val="E4DEF3"/>
          </a:solidFill>
          <a:ln>
            <a:noFill/>
          </a:ln>
        </p:spPr>
        <p:txBody>
          <a:bodyPr rtlCol="0" anchor="ctr"/>
          <a:lstStyle/>
          <a:p>
            <a:pPr algn="ctr"/>
          </a:p>
        </p:txBody>
      </p:sp>
      <p:sp>
        <p:nvSpPr>
          <p:cNvPr id="55" name="Rectangle 54"/>
          <p:cNvSpPr/>
          <p:nvPr/>
        </p:nvSpPr>
        <p:spPr>
          <a:xfrm>
            <a:off x="3291840" y="2651760"/>
            <a:ext cx="228600" cy="228600"/>
          </a:xfrm>
          <a:prstGeom prst="rect">
            <a:avLst/>
          </a:prstGeom>
          <a:solidFill>
            <a:srgbClr val="E4DEF3"/>
          </a:solidFill>
          <a:ln>
            <a:noFill/>
          </a:ln>
        </p:spPr>
        <p:txBody>
          <a:bodyPr rtlCol="0" anchor="ctr"/>
          <a:lstStyle/>
          <a:p>
            <a:pPr algn="ctr"/>
          </a:p>
        </p:txBody>
      </p:sp>
      <p:sp>
        <p:nvSpPr>
          <p:cNvPr id="56" name="Rectangle 55"/>
          <p:cNvSpPr/>
          <p:nvPr/>
        </p:nvSpPr>
        <p:spPr>
          <a:xfrm>
            <a:off x="3566160" y="2651760"/>
            <a:ext cx="228600" cy="228600"/>
          </a:xfrm>
          <a:prstGeom prst="rect">
            <a:avLst/>
          </a:prstGeom>
          <a:solidFill>
            <a:srgbClr val="E4DEF3"/>
          </a:solidFill>
          <a:ln>
            <a:noFill/>
          </a:ln>
        </p:spPr>
        <p:txBody>
          <a:bodyPr rtlCol="0" anchor="ctr"/>
          <a:lstStyle/>
          <a:p>
            <a:pPr algn="ctr"/>
          </a:p>
        </p:txBody>
      </p:sp>
      <p:sp>
        <p:nvSpPr>
          <p:cNvPr id="57" name="Rectangle 56"/>
          <p:cNvSpPr/>
          <p:nvPr/>
        </p:nvSpPr>
        <p:spPr>
          <a:xfrm>
            <a:off x="3840480" y="2651760"/>
            <a:ext cx="228600" cy="228600"/>
          </a:xfrm>
          <a:prstGeom prst="rect">
            <a:avLst/>
          </a:prstGeom>
          <a:solidFill>
            <a:srgbClr val="E4DEF3"/>
          </a:solidFill>
          <a:ln>
            <a:noFill/>
          </a:ln>
        </p:spPr>
        <p:txBody>
          <a:bodyPr rtlCol="0" anchor="ctr"/>
          <a:lstStyle/>
          <a:p>
            <a:pPr algn="ctr"/>
          </a:p>
        </p:txBody>
      </p:sp>
      <p:sp>
        <p:nvSpPr>
          <p:cNvPr id="58" name="Rectangle 57"/>
          <p:cNvSpPr/>
          <p:nvPr/>
        </p:nvSpPr>
        <p:spPr>
          <a:xfrm>
            <a:off x="4114800" y="2651760"/>
            <a:ext cx="228600" cy="228600"/>
          </a:xfrm>
          <a:prstGeom prst="rect">
            <a:avLst/>
          </a:prstGeom>
          <a:solidFill>
            <a:srgbClr val="E4DEF3"/>
          </a:solidFill>
          <a:ln>
            <a:noFill/>
          </a:ln>
        </p:spPr>
        <p:txBody>
          <a:bodyPr rtlCol="0" anchor="ctr"/>
          <a:lstStyle/>
          <a:p>
            <a:pPr algn="ctr"/>
          </a:p>
        </p:txBody>
      </p:sp>
      <p:sp>
        <p:nvSpPr>
          <p:cNvPr id="59" name="TextBox 58"/>
          <p:cNvSpPr txBox="1"/>
          <p:nvPr/>
        </p:nvSpPr>
        <p:spPr>
          <a:xfrm>
            <a:off x="731520" y="292608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4</a:t>
            </a:r>
          </a:p>
        </p:txBody>
      </p:sp>
      <p:sp>
        <p:nvSpPr>
          <p:cNvPr id="60" name="Rectangle 59"/>
          <p:cNvSpPr/>
          <p:nvPr/>
        </p:nvSpPr>
        <p:spPr>
          <a:xfrm>
            <a:off x="1097280" y="2926080"/>
            <a:ext cx="228600" cy="228600"/>
          </a:xfrm>
          <a:prstGeom prst="rect">
            <a:avLst/>
          </a:prstGeom>
          <a:solidFill>
            <a:srgbClr val="E4DEF3"/>
          </a:solidFill>
          <a:ln>
            <a:noFill/>
          </a:ln>
        </p:spPr>
        <p:txBody>
          <a:bodyPr rtlCol="0" anchor="ctr"/>
          <a:lstStyle/>
          <a:p>
            <a:pPr algn="ctr"/>
          </a:p>
        </p:txBody>
      </p:sp>
      <p:sp>
        <p:nvSpPr>
          <p:cNvPr id="61" name="Rectangle 60"/>
          <p:cNvSpPr/>
          <p:nvPr/>
        </p:nvSpPr>
        <p:spPr>
          <a:xfrm>
            <a:off x="1371600" y="2926080"/>
            <a:ext cx="228600" cy="228600"/>
          </a:xfrm>
          <a:prstGeom prst="rect">
            <a:avLst/>
          </a:prstGeom>
          <a:solidFill>
            <a:srgbClr val="E4DEF3"/>
          </a:solidFill>
          <a:ln>
            <a:noFill/>
          </a:ln>
        </p:spPr>
        <p:txBody>
          <a:bodyPr rtlCol="0" anchor="ctr"/>
          <a:lstStyle/>
          <a:p>
            <a:pPr algn="ctr"/>
          </a:p>
        </p:txBody>
      </p:sp>
      <p:sp>
        <p:nvSpPr>
          <p:cNvPr id="62" name="Rectangle 61"/>
          <p:cNvSpPr/>
          <p:nvPr/>
        </p:nvSpPr>
        <p:spPr>
          <a:xfrm>
            <a:off x="1645920" y="2926080"/>
            <a:ext cx="228600" cy="228600"/>
          </a:xfrm>
          <a:prstGeom prst="rect">
            <a:avLst/>
          </a:prstGeom>
          <a:solidFill>
            <a:srgbClr val="E4DEF3"/>
          </a:solidFill>
          <a:ln>
            <a:noFill/>
          </a:ln>
        </p:spPr>
        <p:txBody>
          <a:bodyPr rtlCol="0" anchor="ctr"/>
          <a:lstStyle/>
          <a:p>
            <a:pPr algn="ctr"/>
          </a:p>
        </p:txBody>
      </p:sp>
      <p:sp>
        <p:nvSpPr>
          <p:cNvPr id="63" name="Rectangle 62"/>
          <p:cNvSpPr/>
          <p:nvPr/>
        </p:nvSpPr>
        <p:spPr>
          <a:xfrm>
            <a:off x="1920240" y="2926080"/>
            <a:ext cx="228600" cy="228600"/>
          </a:xfrm>
          <a:prstGeom prst="rect">
            <a:avLst/>
          </a:prstGeom>
          <a:solidFill>
            <a:srgbClr val="573F99"/>
          </a:solidFill>
          <a:ln>
            <a:noFill/>
          </a:ln>
        </p:spPr>
        <p:txBody>
          <a:bodyPr rtlCol="0" anchor="ctr"/>
          <a:lstStyle/>
          <a:p>
            <a:pPr algn="ctr"/>
          </a:p>
        </p:txBody>
      </p:sp>
      <p:sp>
        <p:nvSpPr>
          <p:cNvPr id="64" name="Rectangle 63"/>
          <p:cNvSpPr/>
          <p:nvPr/>
        </p:nvSpPr>
        <p:spPr>
          <a:xfrm>
            <a:off x="2194560" y="2926080"/>
            <a:ext cx="228600" cy="228600"/>
          </a:xfrm>
          <a:prstGeom prst="rect">
            <a:avLst/>
          </a:prstGeom>
          <a:solidFill>
            <a:srgbClr val="E4DEF3"/>
          </a:solidFill>
          <a:ln>
            <a:noFill/>
          </a:ln>
        </p:spPr>
        <p:txBody>
          <a:bodyPr rtlCol="0" anchor="ctr"/>
          <a:lstStyle/>
          <a:p>
            <a:pPr algn="ctr"/>
          </a:p>
        </p:txBody>
      </p:sp>
      <p:sp>
        <p:nvSpPr>
          <p:cNvPr id="65" name="Rectangle 64"/>
          <p:cNvSpPr/>
          <p:nvPr/>
        </p:nvSpPr>
        <p:spPr>
          <a:xfrm>
            <a:off x="2468880" y="2926080"/>
            <a:ext cx="228600" cy="228600"/>
          </a:xfrm>
          <a:prstGeom prst="rect">
            <a:avLst/>
          </a:prstGeom>
          <a:solidFill>
            <a:srgbClr val="E4DEF3"/>
          </a:solidFill>
          <a:ln>
            <a:noFill/>
          </a:ln>
        </p:spPr>
        <p:txBody>
          <a:bodyPr rtlCol="0" anchor="ctr"/>
          <a:lstStyle/>
          <a:p>
            <a:pPr algn="ctr"/>
          </a:p>
        </p:txBody>
      </p:sp>
      <p:sp>
        <p:nvSpPr>
          <p:cNvPr id="66" name="Rectangle 65"/>
          <p:cNvSpPr/>
          <p:nvPr/>
        </p:nvSpPr>
        <p:spPr>
          <a:xfrm>
            <a:off x="2743200" y="2926080"/>
            <a:ext cx="228600" cy="228600"/>
          </a:xfrm>
          <a:prstGeom prst="rect">
            <a:avLst/>
          </a:prstGeom>
          <a:solidFill>
            <a:srgbClr val="E4DEF3"/>
          </a:solidFill>
          <a:ln>
            <a:noFill/>
          </a:ln>
        </p:spPr>
        <p:txBody>
          <a:bodyPr rtlCol="0" anchor="ctr"/>
          <a:lstStyle/>
          <a:p>
            <a:pPr algn="ctr"/>
          </a:p>
        </p:txBody>
      </p:sp>
      <p:sp>
        <p:nvSpPr>
          <p:cNvPr id="67" name="Rectangle 66"/>
          <p:cNvSpPr/>
          <p:nvPr/>
        </p:nvSpPr>
        <p:spPr>
          <a:xfrm>
            <a:off x="3017520" y="2926080"/>
            <a:ext cx="228600" cy="228600"/>
          </a:xfrm>
          <a:prstGeom prst="rect">
            <a:avLst/>
          </a:prstGeom>
          <a:solidFill>
            <a:srgbClr val="E4DEF3"/>
          </a:solidFill>
          <a:ln>
            <a:noFill/>
          </a:ln>
        </p:spPr>
        <p:txBody>
          <a:bodyPr rtlCol="0" anchor="ctr"/>
          <a:lstStyle/>
          <a:p>
            <a:pPr algn="ctr"/>
          </a:p>
        </p:txBody>
      </p:sp>
      <p:sp>
        <p:nvSpPr>
          <p:cNvPr id="68" name="Rectangle 67"/>
          <p:cNvSpPr/>
          <p:nvPr/>
        </p:nvSpPr>
        <p:spPr>
          <a:xfrm>
            <a:off x="3291840" y="2926080"/>
            <a:ext cx="228600" cy="228600"/>
          </a:xfrm>
          <a:prstGeom prst="rect">
            <a:avLst/>
          </a:prstGeom>
          <a:solidFill>
            <a:srgbClr val="E4DEF3"/>
          </a:solidFill>
          <a:ln>
            <a:noFill/>
          </a:ln>
        </p:spPr>
        <p:txBody>
          <a:bodyPr rtlCol="0" anchor="ctr"/>
          <a:lstStyle/>
          <a:p>
            <a:pPr algn="ctr"/>
          </a:p>
        </p:txBody>
      </p:sp>
      <p:sp>
        <p:nvSpPr>
          <p:cNvPr id="69" name="Rectangle 68"/>
          <p:cNvSpPr/>
          <p:nvPr/>
        </p:nvSpPr>
        <p:spPr>
          <a:xfrm>
            <a:off x="3566160" y="2926080"/>
            <a:ext cx="228600" cy="228600"/>
          </a:xfrm>
          <a:prstGeom prst="rect">
            <a:avLst/>
          </a:prstGeom>
          <a:solidFill>
            <a:srgbClr val="E4DEF3"/>
          </a:solidFill>
          <a:ln>
            <a:noFill/>
          </a:ln>
        </p:spPr>
        <p:txBody>
          <a:bodyPr rtlCol="0" anchor="ctr"/>
          <a:lstStyle/>
          <a:p>
            <a:pPr algn="ctr"/>
          </a:p>
        </p:txBody>
      </p:sp>
      <p:sp>
        <p:nvSpPr>
          <p:cNvPr id="70" name="Rectangle 69"/>
          <p:cNvSpPr/>
          <p:nvPr/>
        </p:nvSpPr>
        <p:spPr>
          <a:xfrm>
            <a:off x="3840480" y="2926080"/>
            <a:ext cx="228600" cy="228600"/>
          </a:xfrm>
          <a:prstGeom prst="rect">
            <a:avLst/>
          </a:prstGeom>
          <a:solidFill>
            <a:srgbClr val="E4DEF3"/>
          </a:solidFill>
          <a:ln>
            <a:noFill/>
          </a:ln>
        </p:spPr>
        <p:txBody>
          <a:bodyPr rtlCol="0" anchor="ctr"/>
          <a:lstStyle/>
          <a:p>
            <a:pPr algn="ctr"/>
          </a:p>
        </p:txBody>
      </p:sp>
      <p:sp>
        <p:nvSpPr>
          <p:cNvPr id="71" name="Rectangle 70"/>
          <p:cNvSpPr/>
          <p:nvPr/>
        </p:nvSpPr>
        <p:spPr>
          <a:xfrm>
            <a:off x="4114800" y="2926080"/>
            <a:ext cx="228600" cy="228600"/>
          </a:xfrm>
          <a:prstGeom prst="rect">
            <a:avLst/>
          </a:prstGeom>
          <a:solidFill>
            <a:srgbClr val="E4DEF3"/>
          </a:solidFill>
          <a:ln>
            <a:noFill/>
          </a:ln>
        </p:spPr>
        <p:txBody>
          <a:bodyPr rtlCol="0" anchor="ctr"/>
          <a:lstStyle/>
          <a:p>
            <a:pPr algn="ctr"/>
          </a:p>
        </p:txBody>
      </p:sp>
      <p:sp>
        <p:nvSpPr>
          <p:cNvPr id="72" name="TextBox 71"/>
          <p:cNvSpPr txBox="1"/>
          <p:nvPr/>
        </p:nvSpPr>
        <p:spPr>
          <a:xfrm>
            <a:off x="731520" y="320040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5</a:t>
            </a:r>
          </a:p>
        </p:txBody>
      </p:sp>
      <p:sp>
        <p:nvSpPr>
          <p:cNvPr id="73" name="Rectangle 72"/>
          <p:cNvSpPr/>
          <p:nvPr/>
        </p:nvSpPr>
        <p:spPr>
          <a:xfrm>
            <a:off x="1097280" y="3200400"/>
            <a:ext cx="228600" cy="228600"/>
          </a:xfrm>
          <a:prstGeom prst="rect">
            <a:avLst/>
          </a:prstGeom>
          <a:solidFill>
            <a:srgbClr val="E4DEF3"/>
          </a:solidFill>
          <a:ln>
            <a:noFill/>
          </a:ln>
        </p:spPr>
        <p:txBody>
          <a:bodyPr rtlCol="0" anchor="ctr"/>
          <a:lstStyle/>
          <a:p>
            <a:pPr algn="ctr"/>
          </a:p>
        </p:txBody>
      </p:sp>
      <p:sp>
        <p:nvSpPr>
          <p:cNvPr id="74" name="Rectangle 73"/>
          <p:cNvSpPr/>
          <p:nvPr/>
        </p:nvSpPr>
        <p:spPr>
          <a:xfrm>
            <a:off x="1371600" y="3200400"/>
            <a:ext cx="228600" cy="228600"/>
          </a:xfrm>
          <a:prstGeom prst="rect">
            <a:avLst/>
          </a:prstGeom>
          <a:solidFill>
            <a:srgbClr val="E4DEF3"/>
          </a:solidFill>
          <a:ln>
            <a:noFill/>
          </a:ln>
        </p:spPr>
        <p:txBody>
          <a:bodyPr rtlCol="0" anchor="ctr"/>
          <a:lstStyle/>
          <a:p>
            <a:pPr algn="ctr"/>
          </a:p>
        </p:txBody>
      </p:sp>
      <p:sp>
        <p:nvSpPr>
          <p:cNvPr id="75" name="Rectangle 74"/>
          <p:cNvSpPr/>
          <p:nvPr/>
        </p:nvSpPr>
        <p:spPr>
          <a:xfrm>
            <a:off x="1645920" y="3200400"/>
            <a:ext cx="228600" cy="228600"/>
          </a:xfrm>
          <a:prstGeom prst="rect">
            <a:avLst/>
          </a:prstGeom>
          <a:solidFill>
            <a:srgbClr val="E4DEF3"/>
          </a:solidFill>
          <a:ln>
            <a:noFill/>
          </a:ln>
        </p:spPr>
        <p:txBody>
          <a:bodyPr rtlCol="0" anchor="ctr"/>
          <a:lstStyle/>
          <a:p>
            <a:pPr algn="ctr"/>
          </a:p>
        </p:txBody>
      </p:sp>
      <p:sp>
        <p:nvSpPr>
          <p:cNvPr id="76" name="Rectangle 75"/>
          <p:cNvSpPr/>
          <p:nvPr/>
        </p:nvSpPr>
        <p:spPr>
          <a:xfrm>
            <a:off x="1920240" y="3200400"/>
            <a:ext cx="228600" cy="228600"/>
          </a:xfrm>
          <a:prstGeom prst="rect">
            <a:avLst/>
          </a:prstGeom>
          <a:solidFill>
            <a:srgbClr val="E4DEF3"/>
          </a:solidFill>
          <a:ln>
            <a:noFill/>
          </a:ln>
        </p:spPr>
        <p:txBody>
          <a:bodyPr rtlCol="0" anchor="ctr"/>
          <a:lstStyle/>
          <a:p>
            <a:pPr algn="ctr"/>
          </a:p>
        </p:txBody>
      </p:sp>
      <p:sp>
        <p:nvSpPr>
          <p:cNvPr id="77" name="Rectangle 76"/>
          <p:cNvSpPr/>
          <p:nvPr/>
        </p:nvSpPr>
        <p:spPr>
          <a:xfrm>
            <a:off x="2194560" y="3200400"/>
            <a:ext cx="228600" cy="228600"/>
          </a:xfrm>
          <a:prstGeom prst="rect">
            <a:avLst/>
          </a:prstGeom>
          <a:solidFill>
            <a:srgbClr val="573F99"/>
          </a:solidFill>
          <a:ln>
            <a:noFill/>
          </a:ln>
        </p:spPr>
        <p:txBody>
          <a:bodyPr rtlCol="0" anchor="ctr"/>
          <a:lstStyle/>
          <a:p>
            <a:pPr algn="ctr"/>
          </a:p>
        </p:txBody>
      </p:sp>
      <p:sp>
        <p:nvSpPr>
          <p:cNvPr id="78" name="Rectangle 77"/>
          <p:cNvSpPr/>
          <p:nvPr/>
        </p:nvSpPr>
        <p:spPr>
          <a:xfrm>
            <a:off x="2468880" y="3200400"/>
            <a:ext cx="228600" cy="228600"/>
          </a:xfrm>
          <a:prstGeom prst="rect">
            <a:avLst/>
          </a:prstGeom>
          <a:solidFill>
            <a:srgbClr val="E4DEF3"/>
          </a:solidFill>
          <a:ln>
            <a:noFill/>
          </a:ln>
        </p:spPr>
        <p:txBody>
          <a:bodyPr rtlCol="0" anchor="ctr"/>
          <a:lstStyle/>
          <a:p>
            <a:pPr algn="ctr"/>
          </a:p>
        </p:txBody>
      </p:sp>
      <p:sp>
        <p:nvSpPr>
          <p:cNvPr id="79" name="Rectangle 78"/>
          <p:cNvSpPr/>
          <p:nvPr/>
        </p:nvSpPr>
        <p:spPr>
          <a:xfrm>
            <a:off x="2743200" y="3200400"/>
            <a:ext cx="228600" cy="228600"/>
          </a:xfrm>
          <a:prstGeom prst="rect">
            <a:avLst/>
          </a:prstGeom>
          <a:solidFill>
            <a:srgbClr val="E4DEF3"/>
          </a:solidFill>
          <a:ln>
            <a:noFill/>
          </a:ln>
        </p:spPr>
        <p:txBody>
          <a:bodyPr rtlCol="0" anchor="ctr"/>
          <a:lstStyle/>
          <a:p>
            <a:pPr algn="ctr"/>
          </a:p>
        </p:txBody>
      </p:sp>
      <p:sp>
        <p:nvSpPr>
          <p:cNvPr id="80" name="Rectangle 79"/>
          <p:cNvSpPr/>
          <p:nvPr/>
        </p:nvSpPr>
        <p:spPr>
          <a:xfrm>
            <a:off x="3017520" y="3200400"/>
            <a:ext cx="228600" cy="228600"/>
          </a:xfrm>
          <a:prstGeom prst="rect">
            <a:avLst/>
          </a:prstGeom>
          <a:solidFill>
            <a:srgbClr val="E4DEF3"/>
          </a:solidFill>
          <a:ln>
            <a:noFill/>
          </a:ln>
        </p:spPr>
        <p:txBody>
          <a:bodyPr rtlCol="0" anchor="ctr"/>
          <a:lstStyle/>
          <a:p>
            <a:pPr algn="ctr"/>
          </a:p>
        </p:txBody>
      </p:sp>
      <p:sp>
        <p:nvSpPr>
          <p:cNvPr id="81" name="Rectangle 80"/>
          <p:cNvSpPr/>
          <p:nvPr/>
        </p:nvSpPr>
        <p:spPr>
          <a:xfrm>
            <a:off x="3291840" y="3200400"/>
            <a:ext cx="228600" cy="228600"/>
          </a:xfrm>
          <a:prstGeom prst="rect">
            <a:avLst/>
          </a:prstGeom>
          <a:solidFill>
            <a:srgbClr val="E4DEF3"/>
          </a:solidFill>
          <a:ln>
            <a:noFill/>
          </a:ln>
        </p:spPr>
        <p:txBody>
          <a:bodyPr rtlCol="0" anchor="ctr"/>
          <a:lstStyle/>
          <a:p>
            <a:pPr algn="ctr"/>
          </a:p>
        </p:txBody>
      </p:sp>
      <p:sp>
        <p:nvSpPr>
          <p:cNvPr id="82" name="Rectangle 81"/>
          <p:cNvSpPr/>
          <p:nvPr/>
        </p:nvSpPr>
        <p:spPr>
          <a:xfrm>
            <a:off x="3566160" y="3200400"/>
            <a:ext cx="228600" cy="228600"/>
          </a:xfrm>
          <a:prstGeom prst="rect">
            <a:avLst/>
          </a:prstGeom>
          <a:solidFill>
            <a:srgbClr val="E4DEF3"/>
          </a:solidFill>
          <a:ln>
            <a:noFill/>
          </a:ln>
        </p:spPr>
        <p:txBody>
          <a:bodyPr rtlCol="0" anchor="ctr"/>
          <a:lstStyle/>
          <a:p>
            <a:pPr algn="ctr"/>
          </a:p>
        </p:txBody>
      </p:sp>
      <p:sp>
        <p:nvSpPr>
          <p:cNvPr id="83" name="Rectangle 82"/>
          <p:cNvSpPr/>
          <p:nvPr/>
        </p:nvSpPr>
        <p:spPr>
          <a:xfrm>
            <a:off x="3840480" y="3200400"/>
            <a:ext cx="228600" cy="228600"/>
          </a:xfrm>
          <a:prstGeom prst="rect">
            <a:avLst/>
          </a:prstGeom>
          <a:solidFill>
            <a:srgbClr val="E4DEF3"/>
          </a:solidFill>
          <a:ln>
            <a:noFill/>
          </a:ln>
        </p:spPr>
        <p:txBody>
          <a:bodyPr rtlCol="0" anchor="ctr"/>
          <a:lstStyle/>
          <a:p>
            <a:pPr algn="ctr"/>
          </a:p>
        </p:txBody>
      </p:sp>
      <p:sp>
        <p:nvSpPr>
          <p:cNvPr id="84" name="Rectangle 83"/>
          <p:cNvSpPr/>
          <p:nvPr/>
        </p:nvSpPr>
        <p:spPr>
          <a:xfrm>
            <a:off x="4114800" y="3200400"/>
            <a:ext cx="228600" cy="228600"/>
          </a:xfrm>
          <a:prstGeom prst="rect">
            <a:avLst/>
          </a:prstGeom>
          <a:solidFill>
            <a:srgbClr val="E4DEF3"/>
          </a:solidFill>
          <a:ln>
            <a:noFill/>
          </a:ln>
        </p:spPr>
        <p:txBody>
          <a:bodyPr rtlCol="0" anchor="ctr"/>
          <a:lstStyle/>
          <a:p>
            <a:pPr algn="ctr"/>
          </a:p>
        </p:txBody>
      </p:sp>
      <p:sp>
        <p:nvSpPr>
          <p:cNvPr id="85" name="TextBox 84"/>
          <p:cNvSpPr txBox="1"/>
          <p:nvPr/>
        </p:nvSpPr>
        <p:spPr>
          <a:xfrm>
            <a:off x="731520" y="347472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6</a:t>
            </a:r>
          </a:p>
        </p:txBody>
      </p:sp>
      <p:sp>
        <p:nvSpPr>
          <p:cNvPr id="86" name="Rectangle 85"/>
          <p:cNvSpPr/>
          <p:nvPr/>
        </p:nvSpPr>
        <p:spPr>
          <a:xfrm>
            <a:off x="1097280" y="3474720"/>
            <a:ext cx="228600" cy="228600"/>
          </a:xfrm>
          <a:prstGeom prst="rect">
            <a:avLst/>
          </a:prstGeom>
          <a:solidFill>
            <a:srgbClr val="E4DEF3"/>
          </a:solidFill>
          <a:ln>
            <a:noFill/>
          </a:ln>
        </p:spPr>
        <p:txBody>
          <a:bodyPr rtlCol="0" anchor="ctr"/>
          <a:lstStyle/>
          <a:p>
            <a:pPr algn="ctr"/>
          </a:p>
        </p:txBody>
      </p:sp>
      <p:sp>
        <p:nvSpPr>
          <p:cNvPr id="87" name="Rectangle 86"/>
          <p:cNvSpPr/>
          <p:nvPr/>
        </p:nvSpPr>
        <p:spPr>
          <a:xfrm>
            <a:off x="1371600" y="3474720"/>
            <a:ext cx="228600" cy="228600"/>
          </a:xfrm>
          <a:prstGeom prst="rect">
            <a:avLst/>
          </a:prstGeom>
          <a:solidFill>
            <a:srgbClr val="E4DEF3"/>
          </a:solidFill>
          <a:ln>
            <a:noFill/>
          </a:ln>
        </p:spPr>
        <p:txBody>
          <a:bodyPr rtlCol="0" anchor="ctr"/>
          <a:lstStyle/>
          <a:p>
            <a:pPr algn="ctr"/>
          </a:p>
        </p:txBody>
      </p:sp>
      <p:sp>
        <p:nvSpPr>
          <p:cNvPr id="88" name="Rectangle 87"/>
          <p:cNvSpPr/>
          <p:nvPr/>
        </p:nvSpPr>
        <p:spPr>
          <a:xfrm>
            <a:off x="1645920" y="3474720"/>
            <a:ext cx="228600" cy="228600"/>
          </a:xfrm>
          <a:prstGeom prst="rect">
            <a:avLst/>
          </a:prstGeom>
          <a:solidFill>
            <a:srgbClr val="E4DEF3"/>
          </a:solidFill>
          <a:ln>
            <a:noFill/>
          </a:ln>
        </p:spPr>
        <p:txBody>
          <a:bodyPr rtlCol="0" anchor="ctr"/>
          <a:lstStyle/>
          <a:p>
            <a:pPr algn="ctr"/>
          </a:p>
        </p:txBody>
      </p:sp>
      <p:sp>
        <p:nvSpPr>
          <p:cNvPr id="89" name="Rectangle 88"/>
          <p:cNvSpPr/>
          <p:nvPr/>
        </p:nvSpPr>
        <p:spPr>
          <a:xfrm>
            <a:off x="1920240" y="3474720"/>
            <a:ext cx="228600" cy="228600"/>
          </a:xfrm>
          <a:prstGeom prst="rect">
            <a:avLst/>
          </a:prstGeom>
          <a:solidFill>
            <a:srgbClr val="E4DEF3"/>
          </a:solidFill>
          <a:ln>
            <a:noFill/>
          </a:ln>
        </p:spPr>
        <p:txBody>
          <a:bodyPr rtlCol="0" anchor="ctr"/>
          <a:lstStyle/>
          <a:p>
            <a:pPr algn="ctr"/>
          </a:p>
        </p:txBody>
      </p:sp>
      <p:sp>
        <p:nvSpPr>
          <p:cNvPr id="90" name="Rectangle 89"/>
          <p:cNvSpPr/>
          <p:nvPr/>
        </p:nvSpPr>
        <p:spPr>
          <a:xfrm>
            <a:off x="2194560" y="3474720"/>
            <a:ext cx="228600" cy="228600"/>
          </a:xfrm>
          <a:prstGeom prst="rect">
            <a:avLst/>
          </a:prstGeom>
          <a:solidFill>
            <a:srgbClr val="E4DEF3"/>
          </a:solidFill>
          <a:ln>
            <a:noFill/>
          </a:ln>
        </p:spPr>
        <p:txBody>
          <a:bodyPr rtlCol="0" anchor="ctr"/>
          <a:lstStyle/>
          <a:p>
            <a:pPr algn="ctr"/>
          </a:p>
        </p:txBody>
      </p:sp>
      <p:sp>
        <p:nvSpPr>
          <p:cNvPr id="91" name="Rectangle 90"/>
          <p:cNvSpPr/>
          <p:nvPr/>
        </p:nvSpPr>
        <p:spPr>
          <a:xfrm>
            <a:off x="2468880" y="3474720"/>
            <a:ext cx="228600" cy="228600"/>
          </a:xfrm>
          <a:prstGeom prst="rect">
            <a:avLst/>
          </a:prstGeom>
          <a:solidFill>
            <a:srgbClr val="573F99"/>
          </a:solidFill>
          <a:ln>
            <a:noFill/>
          </a:ln>
        </p:spPr>
        <p:txBody>
          <a:bodyPr rtlCol="0" anchor="ctr"/>
          <a:lstStyle/>
          <a:p>
            <a:pPr algn="ctr"/>
          </a:p>
        </p:txBody>
      </p:sp>
      <p:sp>
        <p:nvSpPr>
          <p:cNvPr id="92" name="Rectangle 91"/>
          <p:cNvSpPr/>
          <p:nvPr/>
        </p:nvSpPr>
        <p:spPr>
          <a:xfrm>
            <a:off x="2743200" y="3474720"/>
            <a:ext cx="228600" cy="228600"/>
          </a:xfrm>
          <a:prstGeom prst="rect">
            <a:avLst/>
          </a:prstGeom>
          <a:solidFill>
            <a:srgbClr val="E4DEF3"/>
          </a:solidFill>
          <a:ln>
            <a:noFill/>
          </a:ln>
        </p:spPr>
        <p:txBody>
          <a:bodyPr rtlCol="0" anchor="ctr"/>
          <a:lstStyle/>
          <a:p>
            <a:pPr algn="ctr"/>
          </a:p>
        </p:txBody>
      </p:sp>
      <p:sp>
        <p:nvSpPr>
          <p:cNvPr id="93" name="Rectangle 92"/>
          <p:cNvSpPr/>
          <p:nvPr/>
        </p:nvSpPr>
        <p:spPr>
          <a:xfrm>
            <a:off x="3017520" y="3474720"/>
            <a:ext cx="228600" cy="228600"/>
          </a:xfrm>
          <a:prstGeom prst="rect">
            <a:avLst/>
          </a:prstGeom>
          <a:solidFill>
            <a:srgbClr val="E4DEF3"/>
          </a:solidFill>
          <a:ln>
            <a:noFill/>
          </a:ln>
        </p:spPr>
        <p:txBody>
          <a:bodyPr rtlCol="0" anchor="ctr"/>
          <a:lstStyle/>
          <a:p>
            <a:pPr algn="ctr"/>
          </a:p>
        </p:txBody>
      </p:sp>
      <p:sp>
        <p:nvSpPr>
          <p:cNvPr id="94" name="Rectangle 93"/>
          <p:cNvSpPr/>
          <p:nvPr/>
        </p:nvSpPr>
        <p:spPr>
          <a:xfrm>
            <a:off x="3291840" y="3474720"/>
            <a:ext cx="228600" cy="228600"/>
          </a:xfrm>
          <a:prstGeom prst="rect">
            <a:avLst/>
          </a:prstGeom>
          <a:solidFill>
            <a:srgbClr val="E4DEF3"/>
          </a:solidFill>
          <a:ln>
            <a:noFill/>
          </a:ln>
        </p:spPr>
        <p:txBody>
          <a:bodyPr rtlCol="0" anchor="ctr"/>
          <a:lstStyle/>
          <a:p>
            <a:pPr algn="ctr"/>
          </a:p>
        </p:txBody>
      </p:sp>
      <p:sp>
        <p:nvSpPr>
          <p:cNvPr id="95" name="Rectangle 94"/>
          <p:cNvSpPr/>
          <p:nvPr/>
        </p:nvSpPr>
        <p:spPr>
          <a:xfrm>
            <a:off x="3566160" y="3474720"/>
            <a:ext cx="228600" cy="228600"/>
          </a:xfrm>
          <a:prstGeom prst="rect">
            <a:avLst/>
          </a:prstGeom>
          <a:solidFill>
            <a:srgbClr val="E4DEF3"/>
          </a:solidFill>
          <a:ln>
            <a:noFill/>
          </a:ln>
        </p:spPr>
        <p:txBody>
          <a:bodyPr rtlCol="0" anchor="ctr"/>
          <a:lstStyle/>
          <a:p>
            <a:pPr algn="ctr"/>
          </a:p>
        </p:txBody>
      </p:sp>
      <p:sp>
        <p:nvSpPr>
          <p:cNvPr id="96" name="Rectangle 95"/>
          <p:cNvSpPr/>
          <p:nvPr/>
        </p:nvSpPr>
        <p:spPr>
          <a:xfrm>
            <a:off x="3840480" y="3474720"/>
            <a:ext cx="228600" cy="228600"/>
          </a:xfrm>
          <a:prstGeom prst="rect">
            <a:avLst/>
          </a:prstGeom>
          <a:solidFill>
            <a:srgbClr val="E4DEF3"/>
          </a:solidFill>
          <a:ln>
            <a:noFill/>
          </a:ln>
        </p:spPr>
        <p:txBody>
          <a:bodyPr rtlCol="0" anchor="ctr"/>
          <a:lstStyle/>
          <a:p>
            <a:pPr algn="ctr"/>
          </a:p>
        </p:txBody>
      </p:sp>
      <p:sp>
        <p:nvSpPr>
          <p:cNvPr id="97" name="Rectangle 96"/>
          <p:cNvSpPr/>
          <p:nvPr/>
        </p:nvSpPr>
        <p:spPr>
          <a:xfrm>
            <a:off x="4114800" y="3474720"/>
            <a:ext cx="228600" cy="228600"/>
          </a:xfrm>
          <a:prstGeom prst="rect">
            <a:avLst/>
          </a:prstGeom>
          <a:solidFill>
            <a:srgbClr val="E4DEF3"/>
          </a:solidFill>
          <a:ln>
            <a:noFill/>
          </a:ln>
        </p:spPr>
        <p:txBody>
          <a:bodyPr rtlCol="0" anchor="ctr"/>
          <a:lstStyle/>
          <a:p>
            <a:pPr algn="ctr"/>
          </a:p>
        </p:txBody>
      </p:sp>
      <p:sp>
        <p:nvSpPr>
          <p:cNvPr id="98" name="TextBox 97"/>
          <p:cNvSpPr txBox="1"/>
          <p:nvPr/>
        </p:nvSpPr>
        <p:spPr>
          <a:xfrm>
            <a:off x="731520" y="374904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7</a:t>
            </a:r>
          </a:p>
        </p:txBody>
      </p:sp>
      <p:sp>
        <p:nvSpPr>
          <p:cNvPr id="99" name="Rectangle 98"/>
          <p:cNvSpPr/>
          <p:nvPr/>
        </p:nvSpPr>
        <p:spPr>
          <a:xfrm>
            <a:off x="1097280" y="3749040"/>
            <a:ext cx="228600" cy="228600"/>
          </a:xfrm>
          <a:prstGeom prst="rect">
            <a:avLst/>
          </a:prstGeom>
          <a:solidFill>
            <a:srgbClr val="E4DEF3"/>
          </a:solidFill>
          <a:ln>
            <a:noFill/>
          </a:ln>
        </p:spPr>
        <p:txBody>
          <a:bodyPr rtlCol="0" anchor="ctr"/>
          <a:lstStyle/>
          <a:p>
            <a:pPr algn="ctr"/>
          </a:p>
        </p:txBody>
      </p:sp>
      <p:sp>
        <p:nvSpPr>
          <p:cNvPr id="100" name="Rectangle 99"/>
          <p:cNvSpPr/>
          <p:nvPr/>
        </p:nvSpPr>
        <p:spPr>
          <a:xfrm>
            <a:off x="1371600" y="3749040"/>
            <a:ext cx="228600" cy="228600"/>
          </a:xfrm>
          <a:prstGeom prst="rect">
            <a:avLst/>
          </a:prstGeom>
          <a:solidFill>
            <a:srgbClr val="E4DEF3"/>
          </a:solidFill>
          <a:ln>
            <a:noFill/>
          </a:ln>
        </p:spPr>
        <p:txBody>
          <a:bodyPr rtlCol="0" anchor="ctr"/>
          <a:lstStyle/>
          <a:p>
            <a:pPr algn="ctr"/>
          </a:p>
        </p:txBody>
      </p:sp>
      <p:sp>
        <p:nvSpPr>
          <p:cNvPr id="101" name="Rectangle 100"/>
          <p:cNvSpPr/>
          <p:nvPr/>
        </p:nvSpPr>
        <p:spPr>
          <a:xfrm>
            <a:off x="1645920" y="3749040"/>
            <a:ext cx="228600" cy="228600"/>
          </a:xfrm>
          <a:prstGeom prst="rect">
            <a:avLst/>
          </a:prstGeom>
          <a:solidFill>
            <a:srgbClr val="E4DEF3"/>
          </a:solidFill>
          <a:ln>
            <a:noFill/>
          </a:ln>
        </p:spPr>
        <p:txBody>
          <a:bodyPr rtlCol="0" anchor="ctr"/>
          <a:lstStyle/>
          <a:p>
            <a:pPr algn="ctr"/>
          </a:p>
        </p:txBody>
      </p:sp>
      <p:sp>
        <p:nvSpPr>
          <p:cNvPr id="102" name="Rectangle 101"/>
          <p:cNvSpPr/>
          <p:nvPr/>
        </p:nvSpPr>
        <p:spPr>
          <a:xfrm>
            <a:off x="1920240" y="3749040"/>
            <a:ext cx="228600" cy="228600"/>
          </a:xfrm>
          <a:prstGeom prst="rect">
            <a:avLst/>
          </a:prstGeom>
          <a:solidFill>
            <a:srgbClr val="E4DEF3"/>
          </a:solidFill>
          <a:ln>
            <a:noFill/>
          </a:ln>
        </p:spPr>
        <p:txBody>
          <a:bodyPr rtlCol="0" anchor="ctr"/>
          <a:lstStyle/>
          <a:p>
            <a:pPr algn="ctr"/>
          </a:p>
        </p:txBody>
      </p:sp>
      <p:sp>
        <p:nvSpPr>
          <p:cNvPr id="103" name="Rectangle 102"/>
          <p:cNvSpPr/>
          <p:nvPr/>
        </p:nvSpPr>
        <p:spPr>
          <a:xfrm>
            <a:off x="2194560" y="3749040"/>
            <a:ext cx="228600" cy="228600"/>
          </a:xfrm>
          <a:prstGeom prst="rect">
            <a:avLst/>
          </a:prstGeom>
          <a:solidFill>
            <a:srgbClr val="E4DEF3"/>
          </a:solidFill>
          <a:ln>
            <a:noFill/>
          </a:ln>
        </p:spPr>
        <p:txBody>
          <a:bodyPr rtlCol="0" anchor="ctr"/>
          <a:lstStyle/>
          <a:p>
            <a:pPr algn="ctr"/>
          </a:p>
        </p:txBody>
      </p:sp>
      <p:sp>
        <p:nvSpPr>
          <p:cNvPr id="104" name="Rectangle 103"/>
          <p:cNvSpPr/>
          <p:nvPr/>
        </p:nvSpPr>
        <p:spPr>
          <a:xfrm>
            <a:off x="2468880" y="3749040"/>
            <a:ext cx="228600" cy="228600"/>
          </a:xfrm>
          <a:prstGeom prst="rect">
            <a:avLst/>
          </a:prstGeom>
          <a:solidFill>
            <a:srgbClr val="E4DEF3"/>
          </a:solidFill>
          <a:ln>
            <a:noFill/>
          </a:ln>
        </p:spPr>
        <p:txBody>
          <a:bodyPr rtlCol="0" anchor="ctr"/>
          <a:lstStyle/>
          <a:p>
            <a:pPr algn="ctr"/>
          </a:p>
        </p:txBody>
      </p:sp>
      <p:sp>
        <p:nvSpPr>
          <p:cNvPr id="105" name="Rectangle 104"/>
          <p:cNvSpPr/>
          <p:nvPr/>
        </p:nvSpPr>
        <p:spPr>
          <a:xfrm>
            <a:off x="2743200" y="3749040"/>
            <a:ext cx="228600" cy="228600"/>
          </a:xfrm>
          <a:prstGeom prst="rect">
            <a:avLst/>
          </a:prstGeom>
          <a:solidFill>
            <a:srgbClr val="573F99"/>
          </a:solidFill>
          <a:ln>
            <a:noFill/>
          </a:ln>
        </p:spPr>
        <p:txBody>
          <a:bodyPr rtlCol="0" anchor="ctr"/>
          <a:lstStyle/>
          <a:p>
            <a:pPr algn="ctr"/>
          </a:p>
        </p:txBody>
      </p:sp>
      <p:sp>
        <p:nvSpPr>
          <p:cNvPr id="106" name="Rectangle 105"/>
          <p:cNvSpPr/>
          <p:nvPr/>
        </p:nvSpPr>
        <p:spPr>
          <a:xfrm>
            <a:off x="3017520" y="3749040"/>
            <a:ext cx="228600" cy="228600"/>
          </a:xfrm>
          <a:prstGeom prst="rect">
            <a:avLst/>
          </a:prstGeom>
          <a:solidFill>
            <a:srgbClr val="E4DEF3"/>
          </a:solidFill>
          <a:ln>
            <a:noFill/>
          </a:ln>
        </p:spPr>
        <p:txBody>
          <a:bodyPr rtlCol="0" anchor="ctr"/>
          <a:lstStyle/>
          <a:p>
            <a:pPr algn="ctr"/>
          </a:p>
        </p:txBody>
      </p:sp>
      <p:sp>
        <p:nvSpPr>
          <p:cNvPr id="107" name="Rectangle 106"/>
          <p:cNvSpPr/>
          <p:nvPr/>
        </p:nvSpPr>
        <p:spPr>
          <a:xfrm>
            <a:off x="3291840" y="3749040"/>
            <a:ext cx="228600" cy="228600"/>
          </a:xfrm>
          <a:prstGeom prst="rect">
            <a:avLst/>
          </a:prstGeom>
          <a:solidFill>
            <a:srgbClr val="E4DEF3"/>
          </a:solidFill>
          <a:ln>
            <a:noFill/>
          </a:ln>
        </p:spPr>
        <p:txBody>
          <a:bodyPr rtlCol="0" anchor="ctr"/>
          <a:lstStyle/>
          <a:p>
            <a:pPr algn="ctr"/>
          </a:p>
        </p:txBody>
      </p:sp>
      <p:sp>
        <p:nvSpPr>
          <p:cNvPr id="108" name="Rectangle 107"/>
          <p:cNvSpPr/>
          <p:nvPr/>
        </p:nvSpPr>
        <p:spPr>
          <a:xfrm>
            <a:off x="3566160" y="3749040"/>
            <a:ext cx="228600" cy="228600"/>
          </a:xfrm>
          <a:prstGeom prst="rect">
            <a:avLst/>
          </a:prstGeom>
          <a:solidFill>
            <a:srgbClr val="E4DEF3"/>
          </a:solidFill>
          <a:ln>
            <a:noFill/>
          </a:ln>
        </p:spPr>
        <p:txBody>
          <a:bodyPr rtlCol="0" anchor="ctr"/>
          <a:lstStyle/>
          <a:p>
            <a:pPr algn="ctr"/>
          </a:p>
        </p:txBody>
      </p:sp>
      <p:sp>
        <p:nvSpPr>
          <p:cNvPr id="109" name="Rectangle 108"/>
          <p:cNvSpPr/>
          <p:nvPr/>
        </p:nvSpPr>
        <p:spPr>
          <a:xfrm>
            <a:off x="3840480" y="3749040"/>
            <a:ext cx="228600" cy="228600"/>
          </a:xfrm>
          <a:prstGeom prst="rect">
            <a:avLst/>
          </a:prstGeom>
          <a:solidFill>
            <a:srgbClr val="E4DEF3"/>
          </a:solidFill>
          <a:ln>
            <a:noFill/>
          </a:ln>
        </p:spPr>
        <p:txBody>
          <a:bodyPr rtlCol="0" anchor="ctr"/>
          <a:lstStyle/>
          <a:p>
            <a:pPr algn="ctr"/>
          </a:p>
        </p:txBody>
      </p:sp>
      <p:sp>
        <p:nvSpPr>
          <p:cNvPr id="110" name="Rectangle 109"/>
          <p:cNvSpPr/>
          <p:nvPr/>
        </p:nvSpPr>
        <p:spPr>
          <a:xfrm>
            <a:off x="4114800" y="3749040"/>
            <a:ext cx="228600" cy="228600"/>
          </a:xfrm>
          <a:prstGeom prst="rect">
            <a:avLst/>
          </a:prstGeom>
          <a:solidFill>
            <a:srgbClr val="E4DEF3"/>
          </a:solidFill>
          <a:ln>
            <a:noFill/>
          </a:ln>
        </p:spPr>
        <p:txBody>
          <a:bodyPr rtlCol="0" anchor="ctr"/>
          <a:lstStyle/>
          <a:p>
            <a:pPr algn="ctr"/>
          </a:p>
        </p:txBody>
      </p:sp>
      <p:sp>
        <p:nvSpPr>
          <p:cNvPr id="111" name="TextBox 110"/>
          <p:cNvSpPr txBox="1"/>
          <p:nvPr/>
        </p:nvSpPr>
        <p:spPr>
          <a:xfrm>
            <a:off x="731520" y="402336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8</a:t>
            </a:r>
          </a:p>
        </p:txBody>
      </p:sp>
      <p:sp>
        <p:nvSpPr>
          <p:cNvPr id="112" name="Rectangle 111"/>
          <p:cNvSpPr/>
          <p:nvPr/>
        </p:nvSpPr>
        <p:spPr>
          <a:xfrm>
            <a:off x="1097280" y="4023360"/>
            <a:ext cx="228600" cy="228600"/>
          </a:xfrm>
          <a:prstGeom prst="rect">
            <a:avLst/>
          </a:prstGeom>
          <a:solidFill>
            <a:srgbClr val="E4DEF3"/>
          </a:solidFill>
          <a:ln>
            <a:noFill/>
          </a:ln>
        </p:spPr>
        <p:txBody>
          <a:bodyPr rtlCol="0" anchor="ctr"/>
          <a:lstStyle/>
          <a:p>
            <a:pPr algn="ctr"/>
          </a:p>
        </p:txBody>
      </p:sp>
      <p:sp>
        <p:nvSpPr>
          <p:cNvPr id="113" name="Rectangle 112"/>
          <p:cNvSpPr/>
          <p:nvPr/>
        </p:nvSpPr>
        <p:spPr>
          <a:xfrm>
            <a:off x="1371600" y="4023360"/>
            <a:ext cx="228600" cy="228600"/>
          </a:xfrm>
          <a:prstGeom prst="rect">
            <a:avLst/>
          </a:prstGeom>
          <a:solidFill>
            <a:srgbClr val="E4DEF3"/>
          </a:solidFill>
          <a:ln>
            <a:noFill/>
          </a:ln>
        </p:spPr>
        <p:txBody>
          <a:bodyPr rtlCol="0" anchor="ctr"/>
          <a:lstStyle/>
          <a:p>
            <a:pPr algn="ctr"/>
          </a:p>
        </p:txBody>
      </p:sp>
      <p:sp>
        <p:nvSpPr>
          <p:cNvPr id="114" name="Rectangle 113"/>
          <p:cNvSpPr/>
          <p:nvPr/>
        </p:nvSpPr>
        <p:spPr>
          <a:xfrm>
            <a:off x="1645920" y="4023360"/>
            <a:ext cx="228600" cy="228600"/>
          </a:xfrm>
          <a:prstGeom prst="rect">
            <a:avLst/>
          </a:prstGeom>
          <a:solidFill>
            <a:srgbClr val="E4DEF3"/>
          </a:solidFill>
          <a:ln>
            <a:noFill/>
          </a:ln>
        </p:spPr>
        <p:txBody>
          <a:bodyPr rtlCol="0" anchor="ctr"/>
          <a:lstStyle/>
          <a:p>
            <a:pPr algn="ctr"/>
          </a:p>
        </p:txBody>
      </p:sp>
      <p:sp>
        <p:nvSpPr>
          <p:cNvPr id="115" name="Rectangle 114"/>
          <p:cNvSpPr/>
          <p:nvPr/>
        </p:nvSpPr>
        <p:spPr>
          <a:xfrm>
            <a:off x="1920240" y="4023360"/>
            <a:ext cx="228600" cy="228600"/>
          </a:xfrm>
          <a:prstGeom prst="rect">
            <a:avLst/>
          </a:prstGeom>
          <a:solidFill>
            <a:srgbClr val="E4DEF3"/>
          </a:solidFill>
          <a:ln>
            <a:noFill/>
          </a:ln>
        </p:spPr>
        <p:txBody>
          <a:bodyPr rtlCol="0" anchor="ctr"/>
          <a:lstStyle/>
          <a:p>
            <a:pPr algn="ctr"/>
          </a:p>
        </p:txBody>
      </p:sp>
      <p:sp>
        <p:nvSpPr>
          <p:cNvPr id="116" name="Rectangle 115"/>
          <p:cNvSpPr/>
          <p:nvPr/>
        </p:nvSpPr>
        <p:spPr>
          <a:xfrm>
            <a:off x="2194560" y="4023360"/>
            <a:ext cx="228600" cy="228600"/>
          </a:xfrm>
          <a:prstGeom prst="rect">
            <a:avLst/>
          </a:prstGeom>
          <a:solidFill>
            <a:srgbClr val="E4DEF3"/>
          </a:solidFill>
          <a:ln>
            <a:noFill/>
          </a:ln>
        </p:spPr>
        <p:txBody>
          <a:bodyPr rtlCol="0" anchor="ctr"/>
          <a:lstStyle/>
          <a:p>
            <a:pPr algn="ctr"/>
          </a:p>
        </p:txBody>
      </p:sp>
      <p:sp>
        <p:nvSpPr>
          <p:cNvPr id="117" name="Rectangle 116"/>
          <p:cNvSpPr/>
          <p:nvPr/>
        </p:nvSpPr>
        <p:spPr>
          <a:xfrm>
            <a:off x="2468880" y="4023360"/>
            <a:ext cx="228600" cy="228600"/>
          </a:xfrm>
          <a:prstGeom prst="rect">
            <a:avLst/>
          </a:prstGeom>
          <a:solidFill>
            <a:srgbClr val="E4DEF3"/>
          </a:solidFill>
          <a:ln>
            <a:noFill/>
          </a:ln>
        </p:spPr>
        <p:txBody>
          <a:bodyPr rtlCol="0" anchor="ctr"/>
          <a:lstStyle/>
          <a:p>
            <a:pPr algn="ctr"/>
          </a:p>
        </p:txBody>
      </p:sp>
      <p:sp>
        <p:nvSpPr>
          <p:cNvPr id="118" name="Rectangle 117"/>
          <p:cNvSpPr/>
          <p:nvPr/>
        </p:nvSpPr>
        <p:spPr>
          <a:xfrm>
            <a:off x="2743200" y="4023360"/>
            <a:ext cx="228600" cy="228600"/>
          </a:xfrm>
          <a:prstGeom prst="rect">
            <a:avLst/>
          </a:prstGeom>
          <a:solidFill>
            <a:srgbClr val="E4DEF3"/>
          </a:solidFill>
          <a:ln>
            <a:noFill/>
          </a:ln>
        </p:spPr>
        <p:txBody>
          <a:bodyPr rtlCol="0" anchor="ctr"/>
          <a:lstStyle/>
          <a:p>
            <a:pPr algn="ctr"/>
          </a:p>
        </p:txBody>
      </p:sp>
      <p:sp>
        <p:nvSpPr>
          <p:cNvPr id="119" name="Rectangle 118"/>
          <p:cNvSpPr/>
          <p:nvPr/>
        </p:nvSpPr>
        <p:spPr>
          <a:xfrm>
            <a:off x="3017520" y="4023360"/>
            <a:ext cx="228600" cy="228600"/>
          </a:xfrm>
          <a:prstGeom prst="rect">
            <a:avLst/>
          </a:prstGeom>
          <a:solidFill>
            <a:srgbClr val="573F99"/>
          </a:solidFill>
          <a:ln>
            <a:noFill/>
          </a:ln>
        </p:spPr>
        <p:txBody>
          <a:bodyPr rtlCol="0" anchor="ctr"/>
          <a:lstStyle/>
          <a:p>
            <a:pPr algn="ctr"/>
          </a:p>
        </p:txBody>
      </p:sp>
      <p:sp>
        <p:nvSpPr>
          <p:cNvPr id="120" name="Rectangle 119"/>
          <p:cNvSpPr/>
          <p:nvPr/>
        </p:nvSpPr>
        <p:spPr>
          <a:xfrm>
            <a:off x="3291840" y="4023360"/>
            <a:ext cx="228600" cy="228600"/>
          </a:xfrm>
          <a:prstGeom prst="rect">
            <a:avLst/>
          </a:prstGeom>
          <a:solidFill>
            <a:srgbClr val="E4DEF3"/>
          </a:solidFill>
          <a:ln>
            <a:noFill/>
          </a:ln>
        </p:spPr>
        <p:txBody>
          <a:bodyPr rtlCol="0" anchor="ctr"/>
          <a:lstStyle/>
          <a:p>
            <a:pPr algn="ctr"/>
          </a:p>
        </p:txBody>
      </p:sp>
      <p:sp>
        <p:nvSpPr>
          <p:cNvPr id="121" name="Rectangle 120"/>
          <p:cNvSpPr/>
          <p:nvPr/>
        </p:nvSpPr>
        <p:spPr>
          <a:xfrm>
            <a:off x="3566160" y="4023360"/>
            <a:ext cx="228600" cy="228600"/>
          </a:xfrm>
          <a:prstGeom prst="rect">
            <a:avLst/>
          </a:prstGeom>
          <a:solidFill>
            <a:srgbClr val="E4DEF3"/>
          </a:solidFill>
          <a:ln>
            <a:noFill/>
          </a:ln>
        </p:spPr>
        <p:txBody>
          <a:bodyPr rtlCol="0" anchor="ctr"/>
          <a:lstStyle/>
          <a:p>
            <a:pPr algn="ctr"/>
          </a:p>
        </p:txBody>
      </p:sp>
      <p:sp>
        <p:nvSpPr>
          <p:cNvPr id="122" name="Rectangle 121"/>
          <p:cNvSpPr/>
          <p:nvPr/>
        </p:nvSpPr>
        <p:spPr>
          <a:xfrm>
            <a:off x="3840480" y="4023360"/>
            <a:ext cx="228600" cy="228600"/>
          </a:xfrm>
          <a:prstGeom prst="rect">
            <a:avLst/>
          </a:prstGeom>
          <a:solidFill>
            <a:srgbClr val="E4DEF3"/>
          </a:solidFill>
          <a:ln>
            <a:noFill/>
          </a:ln>
        </p:spPr>
        <p:txBody>
          <a:bodyPr rtlCol="0" anchor="ctr"/>
          <a:lstStyle/>
          <a:p>
            <a:pPr algn="ctr"/>
          </a:p>
        </p:txBody>
      </p:sp>
      <p:sp>
        <p:nvSpPr>
          <p:cNvPr id="123" name="Rectangle 122"/>
          <p:cNvSpPr/>
          <p:nvPr/>
        </p:nvSpPr>
        <p:spPr>
          <a:xfrm>
            <a:off x="4114800" y="4023360"/>
            <a:ext cx="228600" cy="228600"/>
          </a:xfrm>
          <a:prstGeom prst="rect">
            <a:avLst/>
          </a:prstGeom>
          <a:solidFill>
            <a:srgbClr val="E4DEF3"/>
          </a:solidFill>
          <a:ln>
            <a:noFill/>
          </a:ln>
        </p:spPr>
        <p:txBody>
          <a:bodyPr rtlCol="0" anchor="ctr"/>
          <a:lstStyle/>
          <a:p>
            <a:pPr algn="ctr"/>
          </a:p>
        </p:txBody>
      </p:sp>
      <p:sp>
        <p:nvSpPr>
          <p:cNvPr id="124" name="TextBox 123"/>
          <p:cNvSpPr txBox="1"/>
          <p:nvPr/>
        </p:nvSpPr>
        <p:spPr>
          <a:xfrm>
            <a:off x="731520" y="429768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9</a:t>
            </a:r>
          </a:p>
        </p:txBody>
      </p:sp>
      <p:sp>
        <p:nvSpPr>
          <p:cNvPr id="125" name="Rectangle 124"/>
          <p:cNvSpPr/>
          <p:nvPr/>
        </p:nvSpPr>
        <p:spPr>
          <a:xfrm>
            <a:off x="1097280" y="4297680"/>
            <a:ext cx="228600" cy="228600"/>
          </a:xfrm>
          <a:prstGeom prst="rect">
            <a:avLst/>
          </a:prstGeom>
          <a:solidFill>
            <a:srgbClr val="E4DEF3"/>
          </a:solidFill>
          <a:ln>
            <a:noFill/>
          </a:ln>
        </p:spPr>
        <p:txBody>
          <a:bodyPr rtlCol="0" anchor="ctr"/>
          <a:lstStyle/>
          <a:p>
            <a:pPr algn="ctr"/>
          </a:p>
        </p:txBody>
      </p:sp>
      <p:sp>
        <p:nvSpPr>
          <p:cNvPr id="126" name="Rectangle 125"/>
          <p:cNvSpPr/>
          <p:nvPr/>
        </p:nvSpPr>
        <p:spPr>
          <a:xfrm>
            <a:off x="1371600" y="4297680"/>
            <a:ext cx="228600" cy="228600"/>
          </a:xfrm>
          <a:prstGeom prst="rect">
            <a:avLst/>
          </a:prstGeom>
          <a:solidFill>
            <a:srgbClr val="E4DEF3"/>
          </a:solidFill>
          <a:ln>
            <a:noFill/>
          </a:ln>
        </p:spPr>
        <p:txBody>
          <a:bodyPr rtlCol="0" anchor="ctr"/>
          <a:lstStyle/>
          <a:p>
            <a:pPr algn="ctr"/>
          </a:p>
        </p:txBody>
      </p:sp>
      <p:sp>
        <p:nvSpPr>
          <p:cNvPr id="127" name="Rectangle 126"/>
          <p:cNvSpPr/>
          <p:nvPr/>
        </p:nvSpPr>
        <p:spPr>
          <a:xfrm>
            <a:off x="1645920" y="4297680"/>
            <a:ext cx="228600" cy="228600"/>
          </a:xfrm>
          <a:prstGeom prst="rect">
            <a:avLst/>
          </a:prstGeom>
          <a:solidFill>
            <a:srgbClr val="E4DEF3"/>
          </a:solidFill>
          <a:ln>
            <a:noFill/>
          </a:ln>
        </p:spPr>
        <p:txBody>
          <a:bodyPr rtlCol="0" anchor="ctr"/>
          <a:lstStyle/>
          <a:p>
            <a:pPr algn="ctr"/>
          </a:p>
        </p:txBody>
      </p:sp>
      <p:sp>
        <p:nvSpPr>
          <p:cNvPr id="128" name="Rectangle 127"/>
          <p:cNvSpPr/>
          <p:nvPr/>
        </p:nvSpPr>
        <p:spPr>
          <a:xfrm>
            <a:off x="1920240" y="4297680"/>
            <a:ext cx="228600" cy="228600"/>
          </a:xfrm>
          <a:prstGeom prst="rect">
            <a:avLst/>
          </a:prstGeom>
          <a:solidFill>
            <a:srgbClr val="E4DEF3"/>
          </a:solidFill>
          <a:ln>
            <a:noFill/>
          </a:ln>
        </p:spPr>
        <p:txBody>
          <a:bodyPr rtlCol="0" anchor="ctr"/>
          <a:lstStyle/>
          <a:p>
            <a:pPr algn="ctr"/>
          </a:p>
        </p:txBody>
      </p:sp>
      <p:sp>
        <p:nvSpPr>
          <p:cNvPr id="129" name="Rectangle 128"/>
          <p:cNvSpPr/>
          <p:nvPr/>
        </p:nvSpPr>
        <p:spPr>
          <a:xfrm>
            <a:off x="2194560" y="4297680"/>
            <a:ext cx="228600" cy="228600"/>
          </a:xfrm>
          <a:prstGeom prst="rect">
            <a:avLst/>
          </a:prstGeom>
          <a:solidFill>
            <a:srgbClr val="E4DEF3"/>
          </a:solidFill>
          <a:ln>
            <a:noFill/>
          </a:ln>
        </p:spPr>
        <p:txBody>
          <a:bodyPr rtlCol="0" anchor="ctr"/>
          <a:lstStyle/>
          <a:p>
            <a:pPr algn="ctr"/>
          </a:p>
        </p:txBody>
      </p:sp>
      <p:sp>
        <p:nvSpPr>
          <p:cNvPr id="130" name="Rectangle 129"/>
          <p:cNvSpPr/>
          <p:nvPr/>
        </p:nvSpPr>
        <p:spPr>
          <a:xfrm>
            <a:off x="2468880" y="4297680"/>
            <a:ext cx="228600" cy="228600"/>
          </a:xfrm>
          <a:prstGeom prst="rect">
            <a:avLst/>
          </a:prstGeom>
          <a:solidFill>
            <a:srgbClr val="E4DEF3"/>
          </a:solidFill>
          <a:ln>
            <a:noFill/>
          </a:ln>
        </p:spPr>
        <p:txBody>
          <a:bodyPr rtlCol="0" anchor="ctr"/>
          <a:lstStyle/>
          <a:p>
            <a:pPr algn="ctr"/>
          </a:p>
        </p:txBody>
      </p:sp>
      <p:sp>
        <p:nvSpPr>
          <p:cNvPr id="131" name="Rectangle 130"/>
          <p:cNvSpPr/>
          <p:nvPr/>
        </p:nvSpPr>
        <p:spPr>
          <a:xfrm>
            <a:off x="2743200" y="4297680"/>
            <a:ext cx="228600" cy="228600"/>
          </a:xfrm>
          <a:prstGeom prst="rect">
            <a:avLst/>
          </a:prstGeom>
          <a:solidFill>
            <a:srgbClr val="E4DEF3"/>
          </a:solidFill>
          <a:ln>
            <a:noFill/>
          </a:ln>
        </p:spPr>
        <p:txBody>
          <a:bodyPr rtlCol="0" anchor="ctr"/>
          <a:lstStyle/>
          <a:p>
            <a:pPr algn="ctr"/>
          </a:p>
        </p:txBody>
      </p:sp>
      <p:sp>
        <p:nvSpPr>
          <p:cNvPr id="132" name="Rectangle 131"/>
          <p:cNvSpPr/>
          <p:nvPr/>
        </p:nvSpPr>
        <p:spPr>
          <a:xfrm>
            <a:off x="3017520" y="4297680"/>
            <a:ext cx="228600" cy="228600"/>
          </a:xfrm>
          <a:prstGeom prst="rect">
            <a:avLst/>
          </a:prstGeom>
          <a:solidFill>
            <a:srgbClr val="E4DEF3"/>
          </a:solidFill>
          <a:ln>
            <a:noFill/>
          </a:ln>
        </p:spPr>
        <p:txBody>
          <a:bodyPr rtlCol="0" anchor="ctr"/>
          <a:lstStyle/>
          <a:p>
            <a:pPr algn="ctr"/>
          </a:p>
        </p:txBody>
      </p:sp>
      <p:sp>
        <p:nvSpPr>
          <p:cNvPr id="133" name="Rectangle 132"/>
          <p:cNvSpPr/>
          <p:nvPr/>
        </p:nvSpPr>
        <p:spPr>
          <a:xfrm>
            <a:off x="3291840" y="4297680"/>
            <a:ext cx="228600" cy="228600"/>
          </a:xfrm>
          <a:prstGeom prst="rect">
            <a:avLst/>
          </a:prstGeom>
          <a:solidFill>
            <a:srgbClr val="573F99"/>
          </a:solidFill>
          <a:ln>
            <a:noFill/>
          </a:ln>
        </p:spPr>
        <p:txBody>
          <a:bodyPr rtlCol="0" anchor="ctr"/>
          <a:lstStyle/>
          <a:p>
            <a:pPr algn="ctr"/>
          </a:p>
        </p:txBody>
      </p:sp>
      <p:sp>
        <p:nvSpPr>
          <p:cNvPr id="134" name="Rectangle 133"/>
          <p:cNvSpPr/>
          <p:nvPr/>
        </p:nvSpPr>
        <p:spPr>
          <a:xfrm>
            <a:off x="3566160" y="4297680"/>
            <a:ext cx="228600" cy="228600"/>
          </a:xfrm>
          <a:prstGeom prst="rect">
            <a:avLst/>
          </a:prstGeom>
          <a:solidFill>
            <a:srgbClr val="E4DEF3"/>
          </a:solidFill>
          <a:ln>
            <a:noFill/>
          </a:ln>
        </p:spPr>
        <p:txBody>
          <a:bodyPr rtlCol="0" anchor="ctr"/>
          <a:lstStyle/>
          <a:p>
            <a:pPr algn="ctr"/>
          </a:p>
        </p:txBody>
      </p:sp>
      <p:sp>
        <p:nvSpPr>
          <p:cNvPr id="135" name="Rectangle 134"/>
          <p:cNvSpPr/>
          <p:nvPr/>
        </p:nvSpPr>
        <p:spPr>
          <a:xfrm>
            <a:off x="3840480" y="4297680"/>
            <a:ext cx="228600" cy="228600"/>
          </a:xfrm>
          <a:prstGeom prst="rect">
            <a:avLst/>
          </a:prstGeom>
          <a:solidFill>
            <a:srgbClr val="E4DEF3"/>
          </a:solidFill>
          <a:ln>
            <a:noFill/>
          </a:ln>
        </p:spPr>
        <p:txBody>
          <a:bodyPr rtlCol="0" anchor="ctr"/>
          <a:lstStyle/>
          <a:p>
            <a:pPr algn="ctr"/>
          </a:p>
        </p:txBody>
      </p:sp>
      <p:sp>
        <p:nvSpPr>
          <p:cNvPr id="136" name="Rectangle 135"/>
          <p:cNvSpPr/>
          <p:nvPr/>
        </p:nvSpPr>
        <p:spPr>
          <a:xfrm>
            <a:off x="4114800" y="4297680"/>
            <a:ext cx="228600" cy="228600"/>
          </a:xfrm>
          <a:prstGeom prst="rect">
            <a:avLst/>
          </a:prstGeom>
          <a:solidFill>
            <a:srgbClr val="E4DEF3"/>
          </a:solidFill>
          <a:ln>
            <a:noFill/>
          </a:ln>
        </p:spPr>
        <p:txBody>
          <a:bodyPr rtlCol="0" anchor="ctr"/>
          <a:lstStyle/>
          <a:p>
            <a:pPr algn="ctr"/>
          </a:p>
        </p:txBody>
      </p:sp>
      <p:sp>
        <p:nvSpPr>
          <p:cNvPr id="137" name="TextBox 136"/>
          <p:cNvSpPr txBox="1"/>
          <p:nvPr/>
        </p:nvSpPr>
        <p:spPr>
          <a:xfrm>
            <a:off x="731520" y="457200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10</a:t>
            </a:r>
          </a:p>
        </p:txBody>
      </p:sp>
      <p:sp>
        <p:nvSpPr>
          <p:cNvPr id="138" name="Rectangle 137"/>
          <p:cNvSpPr/>
          <p:nvPr/>
        </p:nvSpPr>
        <p:spPr>
          <a:xfrm>
            <a:off x="1097280" y="4572000"/>
            <a:ext cx="228600" cy="228600"/>
          </a:xfrm>
          <a:prstGeom prst="rect">
            <a:avLst/>
          </a:prstGeom>
          <a:solidFill>
            <a:srgbClr val="E4DEF3"/>
          </a:solidFill>
          <a:ln>
            <a:noFill/>
          </a:ln>
        </p:spPr>
        <p:txBody>
          <a:bodyPr rtlCol="0" anchor="ctr"/>
          <a:lstStyle/>
          <a:p>
            <a:pPr algn="ctr"/>
          </a:p>
        </p:txBody>
      </p:sp>
      <p:sp>
        <p:nvSpPr>
          <p:cNvPr id="139" name="Rectangle 138"/>
          <p:cNvSpPr/>
          <p:nvPr/>
        </p:nvSpPr>
        <p:spPr>
          <a:xfrm>
            <a:off x="1371600" y="4572000"/>
            <a:ext cx="228600" cy="228600"/>
          </a:xfrm>
          <a:prstGeom prst="rect">
            <a:avLst/>
          </a:prstGeom>
          <a:solidFill>
            <a:srgbClr val="E4DEF3"/>
          </a:solidFill>
          <a:ln>
            <a:noFill/>
          </a:ln>
        </p:spPr>
        <p:txBody>
          <a:bodyPr rtlCol="0" anchor="ctr"/>
          <a:lstStyle/>
          <a:p>
            <a:pPr algn="ctr"/>
          </a:p>
        </p:txBody>
      </p:sp>
      <p:sp>
        <p:nvSpPr>
          <p:cNvPr id="140" name="Rectangle 139"/>
          <p:cNvSpPr/>
          <p:nvPr/>
        </p:nvSpPr>
        <p:spPr>
          <a:xfrm>
            <a:off x="1645920" y="4572000"/>
            <a:ext cx="228600" cy="228600"/>
          </a:xfrm>
          <a:prstGeom prst="rect">
            <a:avLst/>
          </a:prstGeom>
          <a:solidFill>
            <a:srgbClr val="E4DEF3"/>
          </a:solidFill>
          <a:ln>
            <a:noFill/>
          </a:ln>
        </p:spPr>
        <p:txBody>
          <a:bodyPr rtlCol="0" anchor="ctr"/>
          <a:lstStyle/>
          <a:p>
            <a:pPr algn="ctr"/>
          </a:p>
        </p:txBody>
      </p:sp>
      <p:sp>
        <p:nvSpPr>
          <p:cNvPr id="141" name="Rectangle 140"/>
          <p:cNvSpPr/>
          <p:nvPr/>
        </p:nvSpPr>
        <p:spPr>
          <a:xfrm>
            <a:off x="1920240" y="4572000"/>
            <a:ext cx="228600" cy="228600"/>
          </a:xfrm>
          <a:prstGeom prst="rect">
            <a:avLst/>
          </a:prstGeom>
          <a:solidFill>
            <a:srgbClr val="E4DEF3"/>
          </a:solidFill>
          <a:ln>
            <a:noFill/>
          </a:ln>
        </p:spPr>
        <p:txBody>
          <a:bodyPr rtlCol="0" anchor="ctr"/>
          <a:lstStyle/>
          <a:p>
            <a:pPr algn="ctr"/>
          </a:p>
        </p:txBody>
      </p:sp>
      <p:sp>
        <p:nvSpPr>
          <p:cNvPr id="142" name="Rectangle 141"/>
          <p:cNvSpPr/>
          <p:nvPr/>
        </p:nvSpPr>
        <p:spPr>
          <a:xfrm>
            <a:off x="2194560" y="4572000"/>
            <a:ext cx="228600" cy="228600"/>
          </a:xfrm>
          <a:prstGeom prst="rect">
            <a:avLst/>
          </a:prstGeom>
          <a:solidFill>
            <a:srgbClr val="E4DEF3"/>
          </a:solidFill>
          <a:ln>
            <a:noFill/>
          </a:ln>
        </p:spPr>
        <p:txBody>
          <a:bodyPr rtlCol="0" anchor="ctr"/>
          <a:lstStyle/>
          <a:p>
            <a:pPr algn="ctr"/>
          </a:p>
        </p:txBody>
      </p:sp>
      <p:sp>
        <p:nvSpPr>
          <p:cNvPr id="143" name="Rectangle 142"/>
          <p:cNvSpPr/>
          <p:nvPr/>
        </p:nvSpPr>
        <p:spPr>
          <a:xfrm>
            <a:off x="2468880" y="4572000"/>
            <a:ext cx="228600" cy="228600"/>
          </a:xfrm>
          <a:prstGeom prst="rect">
            <a:avLst/>
          </a:prstGeom>
          <a:solidFill>
            <a:srgbClr val="E4DEF3"/>
          </a:solidFill>
          <a:ln>
            <a:noFill/>
          </a:ln>
        </p:spPr>
        <p:txBody>
          <a:bodyPr rtlCol="0" anchor="ctr"/>
          <a:lstStyle/>
          <a:p>
            <a:pPr algn="ctr"/>
          </a:p>
        </p:txBody>
      </p:sp>
      <p:sp>
        <p:nvSpPr>
          <p:cNvPr id="144" name="Rectangle 143"/>
          <p:cNvSpPr/>
          <p:nvPr/>
        </p:nvSpPr>
        <p:spPr>
          <a:xfrm>
            <a:off x="2743200" y="4572000"/>
            <a:ext cx="228600" cy="228600"/>
          </a:xfrm>
          <a:prstGeom prst="rect">
            <a:avLst/>
          </a:prstGeom>
          <a:solidFill>
            <a:srgbClr val="E4DEF3"/>
          </a:solidFill>
          <a:ln>
            <a:noFill/>
          </a:ln>
        </p:spPr>
        <p:txBody>
          <a:bodyPr rtlCol="0" anchor="ctr"/>
          <a:lstStyle/>
          <a:p>
            <a:pPr algn="ctr"/>
          </a:p>
        </p:txBody>
      </p:sp>
      <p:sp>
        <p:nvSpPr>
          <p:cNvPr id="145" name="Rectangle 144"/>
          <p:cNvSpPr/>
          <p:nvPr/>
        </p:nvSpPr>
        <p:spPr>
          <a:xfrm>
            <a:off x="3017520" y="4572000"/>
            <a:ext cx="228600" cy="228600"/>
          </a:xfrm>
          <a:prstGeom prst="rect">
            <a:avLst/>
          </a:prstGeom>
          <a:solidFill>
            <a:srgbClr val="E4DEF3"/>
          </a:solidFill>
          <a:ln>
            <a:noFill/>
          </a:ln>
        </p:spPr>
        <p:txBody>
          <a:bodyPr rtlCol="0" anchor="ctr"/>
          <a:lstStyle/>
          <a:p>
            <a:pPr algn="ctr"/>
          </a:p>
        </p:txBody>
      </p:sp>
      <p:sp>
        <p:nvSpPr>
          <p:cNvPr id="146" name="Rectangle 145"/>
          <p:cNvSpPr/>
          <p:nvPr/>
        </p:nvSpPr>
        <p:spPr>
          <a:xfrm>
            <a:off x="3291840" y="4572000"/>
            <a:ext cx="228600" cy="228600"/>
          </a:xfrm>
          <a:prstGeom prst="rect">
            <a:avLst/>
          </a:prstGeom>
          <a:solidFill>
            <a:srgbClr val="E4DEF3"/>
          </a:solidFill>
          <a:ln>
            <a:noFill/>
          </a:ln>
        </p:spPr>
        <p:txBody>
          <a:bodyPr rtlCol="0" anchor="ctr"/>
          <a:lstStyle/>
          <a:p>
            <a:pPr algn="ctr"/>
          </a:p>
        </p:txBody>
      </p:sp>
      <p:sp>
        <p:nvSpPr>
          <p:cNvPr id="147" name="Rectangle 146"/>
          <p:cNvSpPr/>
          <p:nvPr/>
        </p:nvSpPr>
        <p:spPr>
          <a:xfrm>
            <a:off x="3566160" y="4572000"/>
            <a:ext cx="228600" cy="228600"/>
          </a:xfrm>
          <a:prstGeom prst="rect">
            <a:avLst/>
          </a:prstGeom>
          <a:solidFill>
            <a:srgbClr val="573F99"/>
          </a:solidFill>
          <a:ln>
            <a:noFill/>
          </a:ln>
        </p:spPr>
        <p:txBody>
          <a:bodyPr rtlCol="0" anchor="ctr"/>
          <a:lstStyle/>
          <a:p>
            <a:pPr algn="ctr"/>
          </a:p>
        </p:txBody>
      </p:sp>
      <p:sp>
        <p:nvSpPr>
          <p:cNvPr id="148" name="Rectangle 147"/>
          <p:cNvSpPr/>
          <p:nvPr/>
        </p:nvSpPr>
        <p:spPr>
          <a:xfrm>
            <a:off x="3840480" y="4572000"/>
            <a:ext cx="228600" cy="228600"/>
          </a:xfrm>
          <a:prstGeom prst="rect">
            <a:avLst/>
          </a:prstGeom>
          <a:solidFill>
            <a:srgbClr val="E4DEF3"/>
          </a:solidFill>
          <a:ln>
            <a:noFill/>
          </a:ln>
        </p:spPr>
        <p:txBody>
          <a:bodyPr rtlCol="0" anchor="ctr"/>
          <a:lstStyle/>
          <a:p>
            <a:pPr algn="ctr"/>
          </a:p>
        </p:txBody>
      </p:sp>
      <p:sp>
        <p:nvSpPr>
          <p:cNvPr id="149" name="Rectangle 148"/>
          <p:cNvSpPr/>
          <p:nvPr/>
        </p:nvSpPr>
        <p:spPr>
          <a:xfrm>
            <a:off x="4114800" y="4572000"/>
            <a:ext cx="228600" cy="228600"/>
          </a:xfrm>
          <a:prstGeom prst="rect">
            <a:avLst/>
          </a:prstGeom>
          <a:solidFill>
            <a:srgbClr val="E4DEF3"/>
          </a:solidFill>
          <a:ln>
            <a:noFill/>
          </a:ln>
        </p:spPr>
        <p:txBody>
          <a:bodyPr rtlCol="0" anchor="ctr"/>
          <a:lstStyle/>
          <a:p>
            <a:pPr algn="ctr"/>
          </a:p>
        </p:txBody>
      </p:sp>
      <p:sp>
        <p:nvSpPr>
          <p:cNvPr id="150" name="TextBox 149"/>
          <p:cNvSpPr txBox="1"/>
          <p:nvPr/>
        </p:nvSpPr>
        <p:spPr>
          <a:xfrm>
            <a:off x="731520" y="484632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11</a:t>
            </a:r>
          </a:p>
        </p:txBody>
      </p:sp>
      <p:sp>
        <p:nvSpPr>
          <p:cNvPr id="151" name="Rectangle 150"/>
          <p:cNvSpPr/>
          <p:nvPr/>
        </p:nvSpPr>
        <p:spPr>
          <a:xfrm>
            <a:off x="1097280" y="4846320"/>
            <a:ext cx="228600" cy="228600"/>
          </a:xfrm>
          <a:prstGeom prst="rect">
            <a:avLst/>
          </a:prstGeom>
          <a:solidFill>
            <a:srgbClr val="E4DEF3"/>
          </a:solidFill>
          <a:ln>
            <a:noFill/>
          </a:ln>
        </p:spPr>
        <p:txBody>
          <a:bodyPr rtlCol="0" anchor="ctr"/>
          <a:lstStyle/>
          <a:p>
            <a:pPr algn="ctr"/>
          </a:p>
        </p:txBody>
      </p:sp>
      <p:sp>
        <p:nvSpPr>
          <p:cNvPr id="152" name="Rectangle 151"/>
          <p:cNvSpPr/>
          <p:nvPr/>
        </p:nvSpPr>
        <p:spPr>
          <a:xfrm>
            <a:off x="1371600" y="4846320"/>
            <a:ext cx="228600" cy="228600"/>
          </a:xfrm>
          <a:prstGeom prst="rect">
            <a:avLst/>
          </a:prstGeom>
          <a:solidFill>
            <a:srgbClr val="E4DEF3"/>
          </a:solidFill>
          <a:ln>
            <a:noFill/>
          </a:ln>
        </p:spPr>
        <p:txBody>
          <a:bodyPr rtlCol="0" anchor="ctr"/>
          <a:lstStyle/>
          <a:p>
            <a:pPr algn="ctr"/>
          </a:p>
        </p:txBody>
      </p:sp>
      <p:sp>
        <p:nvSpPr>
          <p:cNvPr id="153" name="Rectangle 152"/>
          <p:cNvSpPr/>
          <p:nvPr/>
        </p:nvSpPr>
        <p:spPr>
          <a:xfrm>
            <a:off x="1645920" y="4846320"/>
            <a:ext cx="228600" cy="228600"/>
          </a:xfrm>
          <a:prstGeom prst="rect">
            <a:avLst/>
          </a:prstGeom>
          <a:solidFill>
            <a:srgbClr val="E4DEF3"/>
          </a:solidFill>
          <a:ln>
            <a:noFill/>
          </a:ln>
        </p:spPr>
        <p:txBody>
          <a:bodyPr rtlCol="0" anchor="ctr"/>
          <a:lstStyle/>
          <a:p>
            <a:pPr algn="ctr"/>
          </a:p>
        </p:txBody>
      </p:sp>
      <p:sp>
        <p:nvSpPr>
          <p:cNvPr id="154" name="Rectangle 153"/>
          <p:cNvSpPr/>
          <p:nvPr/>
        </p:nvSpPr>
        <p:spPr>
          <a:xfrm>
            <a:off x="1920240" y="4846320"/>
            <a:ext cx="228600" cy="228600"/>
          </a:xfrm>
          <a:prstGeom prst="rect">
            <a:avLst/>
          </a:prstGeom>
          <a:solidFill>
            <a:srgbClr val="E4DEF3"/>
          </a:solidFill>
          <a:ln>
            <a:noFill/>
          </a:ln>
        </p:spPr>
        <p:txBody>
          <a:bodyPr rtlCol="0" anchor="ctr"/>
          <a:lstStyle/>
          <a:p>
            <a:pPr algn="ctr"/>
          </a:p>
        </p:txBody>
      </p:sp>
      <p:sp>
        <p:nvSpPr>
          <p:cNvPr id="155" name="Rectangle 154"/>
          <p:cNvSpPr/>
          <p:nvPr/>
        </p:nvSpPr>
        <p:spPr>
          <a:xfrm>
            <a:off x="2194560" y="4846320"/>
            <a:ext cx="228600" cy="228600"/>
          </a:xfrm>
          <a:prstGeom prst="rect">
            <a:avLst/>
          </a:prstGeom>
          <a:solidFill>
            <a:srgbClr val="E4DEF3"/>
          </a:solidFill>
          <a:ln>
            <a:noFill/>
          </a:ln>
        </p:spPr>
        <p:txBody>
          <a:bodyPr rtlCol="0" anchor="ctr"/>
          <a:lstStyle/>
          <a:p>
            <a:pPr algn="ctr"/>
          </a:p>
        </p:txBody>
      </p:sp>
      <p:sp>
        <p:nvSpPr>
          <p:cNvPr id="156" name="Rectangle 155"/>
          <p:cNvSpPr/>
          <p:nvPr/>
        </p:nvSpPr>
        <p:spPr>
          <a:xfrm>
            <a:off x="2468880" y="4846320"/>
            <a:ext cx="228600" cy="228600"/>
          </a:xfrm>
          <a:prstGeom prst="rect">
            <a:avLst/>
          </a:prstGeom>
          <a:solidFill>
            <a:srgbClr val="E4DEF3"/>
          </a:solidFill>
          <a:ln>
            <a:noFill/>
          </a:ln>
        </p:spPr>
        <p:txBody>
          <a:bodyPr rtlCol="0" anchor="ctr"/>
          <a:lstStyle/>
          <a:p>
            <a:pPr algn="ctr"/>
          </a:p>
        </p:txBody>
      </p:sp>
      <p:sp>
        <p:nvSpPr>
          <p:cNvPr id="157" name="Rectangle 156"/>
          <p:cNvSpPr/>
          <p:nvPr/>
        </p:nvSpPr>
        <p:spPr>
          <a:xfrm>
            <a:off x="2743200" y="4846320"/>
            <a:ext cx="228600" cy="228600"/>
          </a:xfrm>
          <a:prstGeom prst="rect">
            <a:avLst/>
          </a:prstGeom>
          <a:solidFill>
            <a:srgbClr val="E4DEF3"/>
          </a:solidFill>
          <a:ln>
            <a:noFill/>
          </a:ln>
        </p:spPr>
        <p:txBody>
          <a:bodyPr rtlCol="0" anchor="ctr"/>
          <a:lstStyle/>
          <a:p>
            <a:pPr algn="ctr"/>
          </a:p>
        </p:txBody>
      </p:sp>
      <p:sp>
        <p:nvSpPr>
          <p:cNvPr id="158" name="Rectangle 157"/>
          <p:cNvSpPr/>
          <p:nvPr/>
        </p:nvSpPr>
        <p:spPr>
          <a:xfrm>
            <a:off x="3017520" y="4846320"/>
            <a:ext cx="228600" cy="228600"/>
          </a:xfrm>
          <a:prstGeom prst="rect">
            <a:avLst/>
          </a:prstGeom>
          <a:solidFill>
            <a:srgbClr val="E4DEF3"/>
          </a:solidFill>
          <a:ln>
            <a:noFill/>
          </a:ln>
        </p:spPr>
        <p:txBody>
          <a:bodyPr rtlCol="0" anchor="ctr"/>
          <a:lstStyle/>
          <a:p>
            <a:pPr algn="ctr"/>
          </a:p>
        </p:txBody>
      </p:sp>
      <p:sp>
        <p:nvSpPr>
          <p:cNvPr id="159" name="Rectangle 158"/>
          <p:cNvSpPr/>
          <p:nvPr/>
        </p:nvSpPr>
        <p:spPr>
          <a:xfrm>
            <a:off x="3291840" y="4846320"/>
            <a:ext cx="228600" cy="228600"/>
          </a:xfrm>
          <a:prstGeom prst="rect">
            <a:avLst/>
          </a:prstGeom>
          <a:solidFill>
            <a:srgbClr val="E4DEF3"/>
          </a:solidFill>
          <a:ln>
            <a:noFill/>
          </a:ln>
        </p:spPr>
        <p:txBody>
          <a:bodyPr rtlCol="0" anchor="ctr"/>
          <a:lstStyle/>
          <a:p>
            <a:pPr algn="ctr"/>
          </a:p>
        </p:txBody>
      </p:sp>
      <p:sp>
        <p:nvSpPr>
          <p:cNvPr id="160" name="Rectangle 159"/>
          <p:cNvSpPr/>
          <p:nvPr/>
        </p:nvSpPr>
        <p:spPr>
          <a:xfrm>
            <a:off x="3566160" y="4846320"/>
            <a:ext cx="228600" cy="228600"/>
          </a:xfrm>
          <a:prstGeom prst="rect">
            <a:avLst/>
          </a:prstGeom>
          <a:solidFill>
            <a:srgbClr val="E4DEF3"/>
          </a:solidFill>
          <a:ln>
            <a:noFill/>
          </a:ln>
        </p:spPr>
        <p:txBody>
          <a:bodyPr rtlCol="0" anchor="ctr"/>
          <a:lstStyle/>
          <a:p>
            <a:pPr algn="ctr"/>
          </a:p>
        </p:txBody>
      </p:sp>
      <p:sp>
        <p:nvSpPr>
          <p:cNvPr id="161" name="Rectangle 160"/>
          <p:cNvSpPr/>
          <p:nvPr/>
        </p:nvSpPr>
        <p:spPr>
          <a:xfrm>
            <a:off x="3840480" y="4846320"/>
            <a:ext cx="228600" cy="228600"/>
          </a:xfrm>
          <a:prstGeom prst="rect">
            <a:avLst/>
          </a:prstGeom>
          <a:solidFill>
            <a:srgbClr val="573F99"/>
          </a:solidFill>
          <a:ln>
            <a:noFill/>
          </a:ln>
        </p:spPr>
        <p:txBody>
          <a:bodyPr rtlCol="0" anchor="ctr"/>
          <a:lstStyle/>
          <a:p>
            <a:pPr algn="ctr"/>
          </a:p>
        </p:txBody>
      </p:sp>
      <p:sp>
        <p:nvSpPr>
          <p:cNvPr id="162" name="Rectangle 161"/>
          <p:cNvSpPr/>
          <p:nvPr/>
        </p:nvSpPr>
        <p:spPr>
          <a:xfrm>
            <a:off x="4114800" y="4846320"/>
            <a:ext cx="228600" cy="228600"/>
          </a:xfrm>
          <a:prstGeom prst="rect">
            <a:avLst/>
          </a:prstGeom>
          <a:solidFill>
            <a:srgbClr val="E4DEF3"/>
          </a:solidFill>
          <a:ln>
            <a:noFill/>
          </a:ln>
        </p:spPr>
        <p:txBody>
          <a:bodyPr rtlCol="0" anchor="ctr"/>
          <a:lstStyle/>
          <a:p>
            <a:pPr algn="ctr"/>
          </a:p>
        </p:txBody>
      </p:sp>
      <p:sp>
        <p:nvSpPr>
          <p:cNvPr id="163" name="TextBox 162"/>
          <p:cNvSpPr txBox="1"/>
          <p:nvPr/>
        </p:nvSpPr>
        <p:spPr>
          <a:xfrm>
            <a:off x="731520" y="512064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12</a:t>
            </a:r>
          </a:p>
        </p:txBody>
      </p:sp>
      <p:sp>
        <p:nvSpPr>
          <p:cNvPr id="164" name="Rectangle 163"/>
          <p:cNvSpPr/>
          <p:nvPr/>
        </p:nvSpPr>
        <p:spPr>
          <a:xfrm>
            <a:off x="1097280" y="5120640"/>
            <a:ext cx="228600" cy="228600"/>
          </a:xfrm>
          <a:prstGeom prst="rect">
            <a:avLst/>
          </a:prstGeom>
          <a:solidFill>
            <a:srgbClr val="E4DEF3"/>
          </a:solidFill>
          <a:ln>
            <a:noFill/>
          </a:ln>
        </p:spPr>
        <p:txBody>
          <a:bodyPr rtlCol="0" anchor="ctr"/>
          <a:lstStyle/>
          <a:p>
            <a:pPr algn="ctr"/>
          </a:p>
        </p:txBody>
      </p:sp>
      <p:sp>
        <p:nvSpPr>
          <p:cNvPr id="165" name="Rectangle 164"/>
          <p:cNvSpPr/>
          <p:nvPr/>
        </p:nvSpPr>
        <p:spPr>
          <a:xfrm>
            <a:off x="1371600" y="5120640"/>
            <a:ext cx="228600" cy="228600"/>
          </a:xfrm>
          <a:prstGeom prst="rect">
            <a:avLst/>
          </a:prstGeom>
          <a:solidFill>
            <a:srgbClr val="E4DEF3"/>
          </a:solidFill>
          <a:ln>
            <a:noFill/>
          </a:ln>
        </p:spPr>
        <p:txBody>
          <a:bodyPr rtlCol="0" anchor="ctr"/>
          <a:lstStyle/>
          <a:p>
            <a:pPr algn="ctr"/>
          </a:p>
        </p:txBody>
      </p:sp>
      <p:sp>
        <p:nvSpPr>
          <p:cNvPr id="166" name="Rectangle 165"/>
          <p:cNvSpPr/>
          <p:nvPr/>
        </p:nvSpPr>
        <p:spPr>
          <a:xfrm>
            <a:off x="1645920" y="5120640"/>
            <a:ext cx="228600" cy="228600"/>
          </a:xfrm>
          <a:prstGeom prst="rect">
            <a:avLst/>
          </a:prstGeom>
          <a:solidFill>
            <a:srgbClr val="E4DEF3"/>
          </a:solidFill>
          <a:ln>
            <a:noFill/>
          </a:ln>
        </p:spPr>
        <p:txBody>
          <a:bodyPr rtlCol="0" anchor="ctr"/>
          <a:lstStyle/>
          <a:p>
            <a:pPr algn="ctr"/>
          </a:p>
        </p:txBody>
      </p:sp>
      <p:sp>
        <p:nvSpPr>
          <p:cNvPr id="167" name="Rectangle 166"/>
          <p:cNvSpPr/>
          <p:nvPr/>
        </p:nvSpPr>
        <p:spPr>
          <a:xfrm>
            <a:off x="1920240" y="5120640"/>
            <a:ext cx="228600" cy="228600"/>
          </a:xfrm>
          <a:prstGeom prst="rect">
            <a:avLst/>
          </a:prstGeom>
          <a:solidFill>
            <a:srgbClr val="E4DEF3"/>
          </a:solidFill>
          <a:ln>
            <a:noFill/>
          </a:ln>
        </p:spPr>
        <p:txBody>
          <a:bodyPr rtlCol="0" anchor="ctr"/>
          <a:lstStyle/>
          <a:p>
            <a:pPr algn="ctr"/>
          </a:p>
        </p:txBody>
      </p:sp>
      <p:sp>
        <p:nvSpPr>
          <p:cNvPr id="168" name="Rectangle 167"/>
          <p:cNvSpPr/>
          <p:nvPr/>
        </p:nvSpPr>
        <p:spPr>
          <a:xfrm>
            <a:off x="2194560" y="5120640"/>
            <a:ext cx="228600" cy="228600"/>
          </a:xfrm>
          <a:prstGeom prst="rect">
            <a:avLst/>
          </a:prstGeom>
          <a:solidFill>
            <a:srgbClr val="E4DEF3"/>
          </a:solidFill>
          <a:ln>
            <a:noFill/>
          </a:ln>
        </p:spPr>
        <p:txBody>
          <a:bodyPr rtlCol="0" anchor="ctr"/>
          <a:lstStyle/>
          <a:p>
            <a:pPr algn="ctr"/>
          </a:p>
        </p:txBody>
      </p:sp>
      <p:sp>
        <p:nvSpPr>
          <p:cNvPr id="169" name="Rectangle 168"/>
          <p:cNvSpPr/>
          <p:nvPr/>
        </p:nvSpPr>
        <p:spPr>
          <a:xfrm>
            <a:off x="2468880" y="5120640"/>
            <a:ext cx="228600" cy="228600"/>
          </a:xfrm>
          <a:prstGeom prst="rect">
            <a:avLst/>
          </a:prstGeom>
          <a:solidFill>
            <a:srgbClr val="E4DEF3"/>
          </a:solidFill>
          <a:ln>
            <a:noFill/>
          </a:ln>
        </p:spPr>
        <p:txBody>
          <a:bodyPr rtlCol="0" anchor="ctr"/>
          <a:lstStyle/>
          <a:p>
            <a:pPr algn="ctr"/>
          </a:p>
        </p:txBody>
      </p:sp>
      <p:sp>
        <p:nvSpPr>
          <p:cNvPr id="170" name="Rectangle 169"/>
          <p:cNvSpPr/>
          <p:nvPr/>
        </p:nvSpPr>
        <p:spPr>
          <a:xfrm>
            <a:off x="2743200" y="5120640"/>
            <a:ext cx="228600" cy="228600"/>
          </a:xfrm>
          <a:prstGeom prst="rect">
            <a:avLst/>
          </a:prstGeom>
          <a:solidFill>
            <a:srgbClr val="E4DEF3"/>
          </a:solidFill>
          <a:ln>
            <a:noFill/>
          </a:ln>
        </p:spPr>
        <p:txBody>
          <a:bodyPr rtlCol="0" anchor="ctr"/>
          <a:lstStyle/>
          <a:p>
            <a:pPr algn="ctr"/>
          </a:p>
        </p:txBody>
      </p:sp>
      <p:sp>
        <p:nvSpPr>
          <p:cNvPr id="171" name="Rectangle 170"/>
          <p:cNvSpPr/>
          <p:nvPr/>
        </p:nvSpPr>
        <p:spPr>
          <a:xfrm>
            <a:off x="3017520" y="5120640"/>
            <a:ext cx="228600" cy="228600"/>
          </a:xfrm>
          <a:prstGeom prst="rect">
            <a:avLst/>
          </a:prstGeom>
          <a:solidFill>
            <a:srgbClr val="E4DEF3"/>
          </a:solidFill>
          <a:ln>
            <a:noFill/>
          </a:ln>
        </p:spPr>
        <p:txBody>
          <a:bodyPr rtlCol="0" anchor="ctr"/>
          <a:lstStyle/>
          <a:p>
            <a:pPr algn="ctr"/>
          </a:p>
        </p:txBody>
      </p:sp>
      <p:sp>
        <p:nvSpPr>
          <p:cNvPr id="172" name="Rectangle 171"/>
          <p:cNvSpPr/>
          <p:nvPr/>
        </p:nvSpPr>
        <p:spPr>
          <a:xfrm>
            <a:off x="3291840" y="5120640"/>
            <a:ext cx="228600" cy="228600"/>
          </a:xfrm>
          <a:prstGeom prst="rect">
            <a:avLst/>
          </a:prstGeom>
          <a:solidFill>
            <a:srgbClr val="E4DEF3"/>
          </a:solidFill>
          <a:ln>
            <a:noFill/>
          </a:ln>
        </p:spPr>
        <p:txBody>
          <a:bodyPr rtlCol="0" anchor="ctr"/>
          <a:lstStyle/>
          <a:p>
            <a:pPr algn="ctr"/>
          </a:p>
        </p:txBody>
      </p:sp>
      <p:sp>
        <p:nvSpPr>
          <p:cNvPr id="173" name="Rectangle 172"/>
          <p:cNvSpPr/>
          <p:nvPr/>
        </p:nvSpPr>
        <p:spPr>
          <a:xfrm>
            <a:off x="3566160" y="5120640"/>
            <a:ext cx="228600" cy="228600"/>
          </a:xfrm>
          <a:prstGeom prst="rect">
            <a:avLst/>
          </a:prstGeom>
          <a:solidFill>
            <a:srgbClr val="E4DEF3"/>
          </a:solidFill>
          <a:ln>
            <a:noFill/>
          </a:ln>
        </p:spPr>
        <p:txBody>
          <a:bodyPr rtlCol="0" anchor="ctr"/>
          <a:lstStyle/>
          <a:p>
            <a:pPr algn="ctr"/>
          </a:p>
        </p:txBody>
      </p:sp>
      <p:sp>
        <p:nvSpPr>
          <p:cNvPr id="174" name="Rectangle 173"/>
          <p:cNvSpPr/>
          <p:nvPr/>
        </p:nvSpPr>
        <p:spPr>
          <a:xfrm>
            <a:off x="3840480" y="5120640"/>
            <a:ext cx="228600" cy="228600"/>
          </a:xfrm>
          <a:prstGeom prst="rect">
            <a:avLst/>
          </a:prstGeom>
          <a:solidFill>
            <a:srgbClr val="E4DEF3"/>
          </a:solidFill>
          <a:ln>
            <a:noFill/>
          </a:ln>
        </p:spPr>
        <p:txBody>
          <a:bodyPr rtlCol="0" anchor="ctr"/>
          <a:lstStyle/>
          <a:p>
            <a:pPr algn="ctr"/>
          </a:p>
        </p:txBody>
      </p:sp>
      <p:sp>
        <p:nvSpPr>
          <p:cNvPr id="175" name="Rectangle 174"/>
          <p:cNvSpPr/>
          <p:nvPr/>
        </p:nvSpPr>
        <p:spPr>
          <a:xfrm>
            <a:off x="4114800" y="5120640"/>
            <a:ext cx="228600" cy="228600"/>
          </a:xfrm>
          <a:prstGeom prst="rect">
            <a:avLst/>
          </a:prstGeom>
          <a:solidFill>
            <a:srgbClr val="573F99"/>
          </a:solidFill>
          <a:ln>
            <a:noFill/>
          </a:ln>
        </p:spPr>
        <p:txBody>
          <a:bodyPr rtlCol="0" anchor="ctr"/>
          <a:lstStyle/>
          <a:p>
            <a:pPr algn="ctr"/>
          </a:p>
        </p:txBody>
      </p:sp>
      <p:sp>
        <p:nvSpPr>
          <p:cNvPr id="176" name="TextBox 175"/>
          <p:cNvSpPr txBox="1"/>
          <p:nvPr/>
        </p:nvSpPr>
        <p:spPr>
          <a:xfrm rot="16200000">
            <a:off x="-137160" y="3630168"/>
            <a:ext cx="1645920" cy="237744"/>
          </a:xfrm>
          <a:prstGeom prst="rect">
            <a:avLst/>
          </a:prstGeom>
          <a:noFill/>
        </p:spPr>
        <p:txBody>
          <a:bodyPr wrap="square" lIns="0" tIns="0" rIns="0" bIns="0">
            <a:spAutoFit/>
          </a:bodyPr>
          <a:lstStyle/>
          <a:p>
            <a:pPr algn="ctr">
              <a:lnSpc>
                <a:spcPct val="105000"/>
              </a:lnSpc>
            </a:pPr>
            <a:r>
              <a:rPr sz="1000" b="1">
                <a:solidFill>
                  <a:srgbClr val="0C1408"/>
                </a:solidFill>
                <a:latin typeface="Arial"/>
              </a:rPr>
              <a:t>Member</a:t>
            </a:r>
          </a:p>
        </p:txBody>
      </p:sp>
      <p:sp>
        <p:nvSpPr>
          <p:cNvPr id="177" name="Rectangle 176"/>
          <p:cNvSpPr/>
          <p:nvPr/>
        </p:nvSpPr>
        <p:spPr>
          <a:xfrm>
            <a:off x="1097280" y="5541264"/>
            <a:ext cx="146304" cy="146304"/>
          </a:xfrm>
          <a:prstGeom prst="rect">
            <a:avLst/>
          </a:prstGeom>
          <a:solidFill>
            <a:srgbClr val="573F99"/>
          </a:solidFill>
          <a:ln>
            <a:noFill/>
          </a:ln>
        </p:spPr>
        <p:txBody>
          <a:bodyPr rtlCol="0" anchor="ctr"/>
          <a:lstStyle/>
          <a:p>
            <a:pPr algn="ctr"/>
          </a:p>
        </p:txBody>
      </p:sp>
      <p:sp>
        <p:nvSpPr>
          <p:cNvPr id="178" name="TextBox 177"/>
          <p:cNvSpPr txBox="1"/>
          <p:nvPr/>
        </p:nvSpPr>
        <p:spPr>
          <a:xfrm>
            <a:off x="1316736" y="5504688"/>
            <a:ext cx="1828800" cy="219456"/>
          </a:xfrm>
          <a:prstGeom prst="rect">
            <a:avLst/>
          </a:prstGeom>
          <a:noFill/>
        </p:spPr>
        <p:txBody>
          <a:bodyPr wrap="square" lIns="0" tIns="0" rIns="0" bIns="0">
            <a:spAutoFit/>
          </a:bodyPr>
          <a:lstStyle/>
          <a:p>
            <a:pPr>
              <a:lnSpc>
                <a:spcPct val="105000"/>
              </a:lnSpc>
            </a:pPr>
            <a:r>
              <a:rPr sz="1000">
                <a:solidFill>
                  <a:srgbClr val="0C1408"/>
                </a:solidFill>
                <a:latin typeface="Arial"/>
              </a:rPr>
              <a:t>collects Rs 120,000</a:t>
            </a:r>
          </a:p>
        </p:txBody>
      </p:sp>
      <p:sp>
        <p:nvSpPr>
          <p:cNvPr id="179" name="Rectangle 178"/>
          <p:cNvSpPr/>
          <p:nvPr/>
        </p:nvSpPr>
        <p:spPr>
          <a:xfrm>
            <a:off x="2971800" y="5541264"/>
            <a:ext cx="146304" cy="146304"/>
          </a:xfrm>
          <a:prstGeom prst="rect">
            <a:avLst/>
          </a:prstGeom>
          <a:solidFill>
            <a:srgbClr val="E4DEF3"/>
          </a:solidFill>
          <a:ln>
            <a:noFill/>
          </a:ln>
        </p:spPr>
        <p:txBody>
          <a:bodyPr rtlCol="0" anchor="ctr"/>
          <a:lstStyle/>
          <a:p>
            <a:pPr algn="ctr"/>
          </a:p>
        </p:txBody>
      </p:sp>
      <p:sp>
        <p:nvSpPr>
          <p:cNvPr id="180" name="TextBox 179"/>
          <p:cNvSpPr txBox="1"/>
          <p:nvPr/>
        </p:nvSpPr>
        <p:spPr>
          <a:xfrm>
            <a:off x="3191256" y="5504688"/>
            <a:ext cx="1463040" cy="219456"/>
          </a:xfrm>
          <a:prstGeom prst="rect">
            <a:avLst/>
          </a:prstGeom>
          <a:noFill/>
        </p:spPr>
        <p:txBody>
          <a:bodyPr wrap="square" lIns="0" tIns="0" rIns="0" bIns="0">
            <a:spAutoFit/>
          </a:bodyPr>
          <a:lstStyle/>
          <a:p>
            <a:pPr>
              <a:lnSpc>
                <a:spcPct val="105000"/>
              </a:lnSpc>
            </a:pPr>
            <a:r>
              <a:rPr sz="1000">
                <a:solidFill>
                  <a:srgbClr val="0C1408"/>
                </a:solidFill>
                <a:latin typeface="Arial"/>
              </a:rPr>
              <a:t>pays Rs 10,000</a:t>
            </a:r>
          </a:p>
        </p:txBody>
      </p:sp>
      <p:sp>
        <p:nvSpPr>
          <p:cNvPr id="181" name="TextBox 180"/>
          <p:cNvSpPr txBox="1"/>
          <p:nvPr/>
        </p:nvSpPr>
        <p:spPr>
          <a:xfrm>
            <a:off x="5074920" y="1481328"/>
            <a:ext cx="6568135" cy="274320"/>
          </a:xfrm>
          <a:prstGeom prst="rect">
            <a:avLst/>
          </a:prstGeom>
          <a:noFill/>
        </p:spPr>
        <p:txBody>
          <a:bodyPr wrap="square" lIns="0" tIns="0" rIns="0" bIns="0">
            <a:spAutoFit/>
          </a:bodyPr>
          <a:lstStyle/>
          <a:p>
            <a:pPr>
              <a:lnSpc>
                <a:spcPct val="100000"/>
              </a:lnSpc>
            </a:pPr>
            <a:r>
              <a:rPr sz="1200" b="1">
                <a:solidFill>
                  <a:srgbClr val="0C1408"/>
                </a:solidFill>
                <a:latin typeface="Arial"/>
              </a:rPr>
              <a:t>Net position of two members after each month</a:t>
            </a:r>
            <a:r>
              <a:rPr sz="1100">
                <a:solidFill>
                  <a:srgbClr val="0C1408"/>
                </a:solidFill>
                <a:latin typeface="Arial"/>
              </a:rPr>
              <a:t>   Rs thousand</a:t>
            </a:r>
          </a:p>
        </p:txBody>
      </p:sp>
      <p:sp>
        <p:nvSpPr>
          <p:cNvPr id="183" name="TextBox 182"/>
          <p:cNvSpPr txBox="1"/>
          <p:nvPr/>
        </p:nvSpPr>
        <p:spPr>
          <a:xfrm>
            <a:off x="5074920" y="4718304"/>
            <a:ext cx="6568135" cy="457200"/>
          </a:xfrm>
          <a:prstGeom prst="rect">
            <a:avLst/>
          </a:prstGeom>
          <a:noFill/>
        </p:spPr>
        <p:txBody>
          <a:bodyPr wrap="square" lIns="0" tIns="0" rIns="0" bIns="0">
            <a:spAutoFit/>
          </a:bodyPr>
          <a:lstStyle/>
          <a:p>
            <a:pPr>
              <a:lnSpc>
                <a:spcPct val="103000"/>
              </a:lnSpc>
            </a:pPr>
            <a:r>
              <a:rPr sz="1050">
                <a:solidFill>
                  <a:srgbClr val="0C1408"/>
                </a:solidFill>
                <a:latin typeface="Arial"/>
              </a:rPr>
              <a:t>Turn 1 takes Rs 120,000 at once and repays it over the year. Turn 12 saves every month and takes the pot last. Both end the year at zero.</a:t>
            </a:r>
          </a:p>
        </p:txBody>
      </p:sp>
      <p:sp>
        <p:nvSpPr>
          <p:cNvPr id="184" name="TextBox 183"/>
          <p:cNvSpPr txBox="1"/>
          <p:nvPr/>
        </p:nvSpPr>
        <p:spPr>
          <a:xfrm>
            <a:off x="5074920" y="5285232"/>
            <a:ext cx="2006498" cy="338328"/>
          </a:xfrm>
          <a:prstGeom prst="rect">
            <a:avLst/>
          </a:prstGeom>
          <a:noFill/>
        </p:spPr>
        <p:txBody>
          <a:bodyPr wrap="square" lIns="0" tIns="0" rIns="0" bIns="0">
            <a:spAutoFit/>
          </a:bodyPr>
          <a:lstStyle/>
          <a:p>
            <a:pPr>
              <a:lnSpc>
                <a:spcPct val="100000"/>
              </a:lnSpc>
            </a:pPr>
            <a:r>
              <a:rPr sz="1800" b="1">
                <a:solidFill>
                  <a:srgbClr val="3E2B73"/>
                </a:solidFill>
                <a:latin typeface="Arial"/>
              </a:rPr>
              <a:t>Rs 120,000</a:t>
            </a:r>
          </a:p>
        </p:txBody>
      </p:sp>
      <p:sp>
        <p:nvSpPr>
          <p:cNvPr id="185" name="TextBox 184"/>
          <p:cNvSpPr txBox="1"/>
          <p:nvPr/>
        </p:nvSpPr>
        <p:spPr>
          <a:xfrm>
            <a:off x="5074920" y="5605272"/>
            <a:ext cx="2006498" cy="640080"/>
          </a:xfrm>
          <a:prstGeom prst="rect">
            <a:avLst/>
          </a:prstGeom>
          <a:noFill/>
        </p:spPr>
        <p:txBody>
          <a:bodyPr wrap="square" lIns="0" tIns="0" rIns="0" bIns="0">
            <a:spAutoFit/>
          </a:bodyPr>
          <a:lstStyle/>
          <a:p>
            <a:pPr>
              <a:lnSpc>
                <a:spcPct val="104000"/>
              </a:lnSpc>
            </a:pPr>
            <a:r>
              <a:rPr sz="1050">
                <a:solidFill>
                  <a:srgbClr val="0C1408"/>
                </a:solidFill>
                <a:latin typeface="Arial"/>
              </a:rPr>
              <a:t>the pot, paid to one member each month</a:t>
            </a:r>
          </a:p>
        </p:txBody>
      </p:sp>
      <p:sp>
        <p:nvSpPr>
          <p:cNvPr id="186" name="TextBox 185"/>
          <p:cNvSpPr txBox="1"/>
          <p:nvPr/>
        </p:nvSpPr>
        <p:spPr>
          <a:xfrm>
            <a:off x="7264298" y="5285232"/>
            <a:ext cx="2006498" cy="338328"/>
          </a:xfrm>
          <a:prstGeom prst="rect">
            <a:avLst/>
          </a:prstGeom>
          <a:noFill/>
        </p:spPr>
        <p:txBody>
          <a:bodyPr wrap="square" lIns="0" tIns="0" rIns="0" bIns="0">
            <a:spAutoFit/>
          </a:bodyPr>
          <a:lstStyle/>
          <a:p>
            <a:pPr>
              <a:lnSpc>
                <a:spcPct val="100000"/>
              </a:lnSpc>
            </a:pPr>
            <a:r>
              <a:rPr sz="1800" b="1">
                <a:solidFill>
                  <a:srgbClr val="3E2B73"/>
                </a:solidFill>
                <a:latin typeface="Arial"/>
              </a:rPr>
              <a:t>No interest</a:t>
            </a:r>
          </a:p>
        </p:txBody>
      </p:sp>
      <p:sp>
        <p:nvSpPr>
          <p:cNvPr id="187" name="TextBox 186"/>
          <p:cNvSpPr txBox="1"/>
          <p:nvPr/>
        </p:nvSpPr>
        <p:spPr>
          <a:xfrm>
            <a:off x="7264298" y="5605272"/>
            <a:ext cx="2006498" cy="640080"/>
          </a:xfrm>
          <a:prstGeom prst="rect">
            <a:avLst/>
          </a:prstGeom>
          <a:noFill/>
        </p:spPr>
        <p:txBody>
          <a:bodyPr wrap="square" lIns="0" tIns="0" rIns="0" bIns="0">
            <a:spAutoFit/>
          </a:bodyPr>
          <a:lstStyle/>
          <a:p>
            <a:pPr>
              <a:lnSpc>
                <a:spcPct val="104000"/>
              </a:lnSpc>
            </a:pPr>
            <a:r>
              <a:rPr sz="1050">
                <a:solidFill>
                  <a:srgbClr val="0C1408"/>
                </a:solidFill>
                <a:latin typeface="Arial"/>
              </a:rPr>
              <a:t>each member pays in Rs 120,000 and receives Rs 120,000</a:t>
            </a:r>
          </a:p>
        </p:txBody>
      </p:sp>
      <p:sp>
        <p:nvSpPr>
          <p:cNvPr id="188" name="TextBox 187"/>
          <p:cNvSpPr txBox="1"/>
          <p:nvPr/>
        </p:nvSpPr>
        <p:spPr>
          <a:xfrm>
            <a:off x="9453677" y="5285232"/>
            <a:ext cx="2006498" cy="338328"/>
          </a:xfrm>
          <a:prstGeom prst="rect">
            <a:avLst/>
          </a:prstGeom>
          <a:noFill/>
        </p:spPr>
        <p:txBody>
          <a:bodyPr wrap="square" lIns="0" tIns="0" rIns="0" bIns="0">
            <a:spAutoFit/>
          </a:bodyPr>
          <a:lstStyle/>
          <a:p>
            <a:pPr>
              <a:lnSpc>
                <a:spcPct val="100000"/>
              </a:lnSpc>
            </a:pPr>
            <a:r>
              <a:rPr sz="1800" b="1">
                <a:solidFill>
                  <a:srgbClr val="3E2B73"/>
                </a:solidFill>
                <a:latin typeface="Arial"/>
              </a:rPr>
              <a:t>Fixed order/Ballot</a:t>
            </a:r>
          </a:p>
        </p:txBody>
      </p:sp>
      <p:sp>
        <p:nvSpPr>
          <p:cNvPr id="189" name="TextBox 188"/>
          <p:cNvSpPr txBox="1"/>
          <p:nvPr/>
        </p:nvSpPr>
        <p:spPr>
          <a:xfrm>
            <a:off x="9453677" y="5605272"/>
            <a:ext cx="2006498" cy="640080"/>
          </a:xfrm>
          <a:prstGeom prst="rect">
            <a:avLst/>
          </a:prstGeom>
          <a:noFill/>
        </p:spPr>
        <p:txBody>
          <a:bodyPr wrap="square" lIns="0" tIns="0" rIns="0" bIns="0">
            <a:spAutoFit/>
          </a:bodyPr>
          <a:lstStyle/>
          <a:p>
            <a:pPr>
              <a:lnSpc>
                <a:spcPct val="104000"/>
              </a:lnSpc>
            </a:pPr>
            <a:r>
              <a:rPr sz="1050">
                <a:solidFill>
                  <a:srgbClr val="0C1408"/>
                </a:solidFill>
                <a:latin typeface="Arial"/>
              </a:rPr>
              <a:t>the host sets the order of turns at the start</a:t>
            </a:r>
          </a:p>
        </p:txBody>
      </p:sp>
      <p:cxnSp>
        <p:nvCxnSpPr>
          <p:cNvPr id="190" name="Connector 189"/>
          <p:cNvCxnSpPr/>
          <p:nvPr/>
        </p:nvCxnSpPr>
        <p:spPr>
          <a:xfrm>
            <a:off x="5532120" y="1920240"/>
            <a:ext cx="329184" cy="0"/>
          </a:xfrm>
          <a:prstGeom prst="line">
            <a:avLst/>
          </a:prstGeom>
          <a:ln w="28575">
            <a:solidFill>
              <a:srgbClr val="573F99"/>
            </a:solidFill>
          </a:ln>
        </p:spPr>
      </p:cxnSp>
      <p:sp>
        <p:nvSpPr>
          <p:cNvPr id="191" name="Oval 190"/>
          <p:cNvSpPr/>
          <p:nvPr/>
        </p:nvSpPr>
        <p:spPr>
          <a:xfrm>
            <a:off x="5646420" y="1869948"/>
            <a:ext cx="100584" cy="100584"/>
          </a:xfrm>
          <a:prstGeom prst="ellipse">
            <a:avLst/>
          </a:prstGeom>
          <a:solidFill>
            <a:srgbClr val="573F99"/>
          </a:solidFill>
          <a:ln w="9525">
            <a:solidFill>
              <a:srgbClr val="FFFFFF"/>
            </a:solidFill>
          </a:ln>
        </p:spPr>
        <p:txBody>
          <a:bodyPr rtlCol="0" anchor="ctr"/>
          <a:lstStyle/>
          <a:p>
            <a:pPr algn="ctr"/>
          </a:p>
        </p:txBody>
      </p:sp>
      <p:sp>
        <p:nvSpPr>
          <p:cNvPr id="192" name="TextBox 191"/>
          <p:cNvSpPr txBox="1"/>
          <p:nvPr/>
        </p:nvSpPr>
        <p:spPr>
          <a:xfrm>
            <a:off x="5934456" y="1801368"/>
            <a:ext cx="914400" cy="237744"/>
          </a:xfrm>
          <a:prstGeom prst="rect">
            <a:avLst/>
          </a:prstGeom>
          <a:noFill/>
        </p:spPr>
        <p:txBody>
          <a:bodyPr wrap="square" lIns="0" tIns="0" rIns="0" bIns="0">
            <a:spAutoFit/>
          </a:bodyPr>
          <a:lstStyle/>
          <a:p>
            <a:pPr>
              <a:lnSpc>
                <a:spcPct val="105000"/>
              </a:lnSpc>
            </a:pPr>
            <a:r>
              <a:rPr sz="1000">
                <a:solidFill>
                  <a:srgbClr val="0C1408"/>
                </a:solidFill>
                <a:latin typeface="Arial"/>
              </a:rPr>
              <a:t>Turn 1</a:t>
            </a:r>
          </a:p>
        </p:txBody>
      </p:sp>
      <p:cxnSp>
        <p:nvCxnSpPr>
          <p:cNvPr id="193" name="Connector 192"/>
          <p:cNvCxnSpPr/>
          <p:nvPr/>
        </p:nvCxnSpPr>
        <p:spPr>
          <a:xfrm>
            <a:off x="6720840" y="1920240"/>
            <a:ext cx="329184" cy="0"/>
          </a:xfrm>
          <a:prstGeom prst="line">
            <a:avLst/>
          </a:prstGeom>
          <a:ln w="28575">
            <a:solidFill>
              <a:srgbClr val="2A78D6"/>
            </a:solidFill>
          </a:ln>
        </p:spPr>
      </p:cxnSp>
      <p:sp>
        <p:nvSpPr>
          <p:cNvPr id="194" name="Oval 193"/>
          <p:cNvSpPr/>
          <p:nvPr/>
        </p:nvSpPr>
        <p:spPr>
          <a:xfrm>
            <a:off x="6835140" y="1869948"/>
            <a:ext cx="100584" cy="100584"/>
          </a:xfrm>
          <a:prstGeom prst="ellipse">
            <a:avLst/>
          </a:prstGeom>
          <a:solidFill>
            <a:srgbClr val="2A78D6"/>
          </a:solidFill>
          <a:ln w="9525">
            <a:solidFill>
              <a:srgbClr val="FFFFFF"/>
            </a:solidFill>
          </a:ln>
        </p:spPr>
        <p:txBody>
          <a:bodyPr rtlCol="0" anchor="ctr"/>
          <a:lstStyle/>
          <a:p>
            <a:pPr algn="ctr"/>
          </a:p>
        </p:txBody>
      </p:sp>
      <p:sp>
        <p:nvSpPr>
          <p:cNvPr id="195" name="TextBox 194"/>
          <p:cNvSpPr txBox="1"/>
          <p:nvPr/>
        </p:nvSpPr>
        <p:spPr>
          <a:xfrm>
            <a:off x="7123176" y="1801368"/>
            <a:ext cx="914400" cy="237744"/>
          </a:xfrm>
          <a:prstGeom prst="rect">
            <a:avLst/>
          </a:prstGeom>
          <a:noFill/>
        </p:spPr>
        <p:txBody>
          <a:bodyPr wrap="square" lIns="0" tIns="0" rIns="0" bIns="0">
            <a:spAutoFit/>
          </a:bodyPr>
          <a:lstStyle/>
          <a:p>
            <a:pPr>
              <a:lnSpc>
                <a:spcPct val="105000"/>
              </a:lnSpc>
            </a:pPr>
            <a:r>
              <a:rPr sz="1000">
                <a:solidFill>
                  <a:srgbClr val="0C1408"/>
                </a:solidFill>
                <a:latin typeface="Arial"/>
              </a:rPr>
              <a:t>Turn 12</a:t>
            </a:r>
          </a:p>
        </p:txBody>
      </p:sp>
      <p:cxnSp>
        <p:nvCxnSpPr>
          <p:cNvPr id="196" name="Connector 195"/>
          <p:cNvCxnSpPr/>
          <p:nvPr/>
        </p:nvCxnSpPr>
        <p:spPr>
          <a:xfrm>
            <a:off x="5532120" y="4389120"/>
            <a:ext cx="6110935" cy="0"/>
          </a:xfrm>
          <a:prstGeom prst="line">
            <a:avLst/>
          </a:prstGeom>
          <a:ln w="9525">
            <a:solidFill>
              <a:srgbClr val="E5E7EB"/>
            </a:solidFill>
          </a:ln>
        </p:spPr>
      </p:cxnSp>
      <p:sp>
        <p:nvSpPr>
          <p:cNvPr id="197" name="TextBox 196"/>
          <p:cNvSpPr txBox="1"/>
          <p:nvPr/>
        </p:nvSpPr>
        <p:spPr>
          <a:xfrm>
            <a:off x="5074920" y="4279392"/>
            <a:ext cx="365760" cy="219456"/>
          </a:xfrm>
          <a:prstGeom prst="rect">
            <a:avLst/>
          </a:prstGeom>
          <a:noFill/>
        </p:spPr>
        <p:txBody>
          <a:bodyPr wrap="square" lIns="0" tIns="0" rIns="0" bIns="0">
            <a:spAutoFit/>
          </a:bodyPr>
          <a:lstStyle/>
          <a:p>
            <a:pPr algn="r">
              <a:lnSpc>
                <a:spcPct val="105000"/>
              </a:lnSpc>
            </a:pPr>
            <a:r>
              <a:rPr sz="950">
                <a:solidFill>
                  <a:srgbClr val="0C1408"/>
                </a:solidFill>
                <a:latin typeface="Arial"/>
              </a:rPr>
              <a:t>-120</a:t>
            </a:r>
          </a:p>
        </p:txBody>
      </p:sp>
      <p:cxnSp>
        <p:nvCxnSpPr>
          <p:cNvPr id="198" name="Connector 197"/>
          <p:cNvCxnSpPr/>
          <p:nvPr/>
        </p:nvCxnSpPr>
        <p:spPr>
          <a:xfrm>
            <a:off x="5532120" y="3845052"/>
            <a:ext cx="6110935" cy="0"/>
          </a:xfrm>
          <a:prstGeom prst="line">
            <a:avLst/>
          </a:prstGeom>
          <a:ln w="9525">
            <a:solidFill>
              <a:srgbClr val="E5E7EB"/>
            </a:solidFill>
          </a:ln>
        </p:spPr>
      </p:cxnSp>
      <p:sp>
        <p:nvSpPr>
          <p:cNvPr id="199" name="TextBox 198"/>
          <p:cNvSpPr txBox="1"/>
          <p:nvPr/>
        </p:nvSpPr>
        <p:spPr>
          <a:xfrm>
            <a:off x="5074920" y="3735324"/>
            <a:ext cx="365760" cy="219456"/>
          </a:xfrm>
          <a:prstGeom prst="rect">
            <a:avLst/>
          </a:prstGeom>
          <a:noFill/>
        </p:spPr>
        <p:txBody>
          <a:bodyPr wrap="square" lIns="0" tIns="0" rIns="0" bIns="0">
            <a:spAutoFit/>
          </a:bodyPr>
          <a:lstStyle/>
          <a:p>
            <a:pPr algn="r">
              <a:lnSpc>
                <a:spcPct val="105000"/>
              </a:lnSpc>
            </a:pPr>
            <a:r>
              <a:rPr sz="950">
                <a:solidFill>
                  <a:srgbClr val="0C1408"/>
                </a:solidFill>
                <a:latin typeface="Arial"/>
              </a:rPr>
              <a:t>-60</a:t>
            </a:r>
          </a:p>
        </p:txBody>
      </p:sp>
      <p:cxnSp>
        <p:nvCxnSpPr>
          <p:cNvPr id="200" name="Connector 199"/>
          <p:cNvCxnSpPr/>
          <p:nvPr/>
        </p:nvCxnSpPr>
        <p:spPr>
          <a:xfrm>
            <a:off x="5532120" y="3300984"/>
            <a:ext cx="6110935" cy="0"/>
          </a:xfrm>
          <a:prstGeom prst="line">
            <a:avLst/>
          </a:prstGeom>
          <a:ln w="12700">
            <a:solidFill>
              <a:srgbClr val="9CA3AF"/>
            </a:solidFill>
          </a:ln>
        </p:spPr>
      </p:cxnSp>
      <p:sp>
        <p:nvSpPr>
          <p:cNvPr id="201" name="TextBox 200"/>
          <p:cNvSpPr txBox="1"/>
          <p:nvPr/>
        </p:nvSpPr>
        <p:spPr>
          <a:xfrm>
            <a:off x="5074920" y="3191256"/>
            <a:ext cx="365760" cy="219456"/>
          </a:xfrm>
          <a:prstGeom prst="rect">
            <a:avLst/>
          </a:prstGeom>
          <a:noFill/>
        </p:spPr>
        <p:txBody>
          <a:bodyPr wrap="square" lIns="0" tIns="0" rIns="0" bIns="0">
            <a:spAutoFit/>
          </a:bodyPr>
          <a:lstStyle/>
          <a:p>
            <a:pPr algn="r">
              <a:lnSpc>
                <a:spcPct val="105000"/>
              </a:lnSpc>
            </a:pPr>
            <a:r>
              <a:rPr sz="950">
                <a:solidFill>
                  <a:srgbClr val="0C1408"/>
                </a:solidFill>
                <a:latin typeface="Arial"/>
              </a:rPr>
              <a:t>0</a:t>
            </a:r>
          </a:p>
        </p:txBody>
      </p:sp>
      <p:cxnSp>
        <p:nvCxnSpPr>
          <p:cNvPr id="202" name="Connector 201"/>
          <p:cNvCxnSpPr/>
          <p:nvPr/>
        </p:nvCxnSpPr>
        <p:spPr>
          <a:xfrm>
            <a:off x="5532120" y="2756916"/>
            <a:ext cx="6110935" cy="0"/>
          </a:xfrm>
          <a:prstGeom prst="line">
            <a:avLst/>
          </a:prstGeom>
          <a:ln w="9525">
            <a:solidFill>
              <a:srgbClr val="E5E7EB"/>
            </a:solidFill>
          </a:ln>
        </p:spPr>
      </p:cxnSp>
      <p:sp>
        <p:nvSpPr>
          <p:cNvPr id="203" name="TextBox 202"/>
          <p:cNvSpPr txBox="1"/>
          <p:nvPr/>
        </p:nvSpPr>
        <p:spPr>
          <a:xfrm>
            <a:off x="5074920" y="2647188"/>
            <a:ext cx="365760" cy="219456"/>
          </a:xfrm>
          <a:prstGeom prst="rect">
            <a:avLst/>
          </a:prstGeom>
          <a:noFill/>
        </p:spPr>
        <p:txBody>
          <a:bodyPr wrap="square" lIns="0" tIns="0" rIns="0" bIns="0">
            <a:spAutoFit/>
          </a:bodyPr>
          <a:lstStyle/>
          <a:p>
            <a:pPr algn="r">
              <a:lnSpc>
                <a:spcPct val="105000"/>
              </a:lnSpc>
            </a:pPr>
            <a:r>
              <a:rPr sz="950">
                <a:solidFill>
                  <a:srgbClr val="0C1408"/>
                </a:solidFill>
                <a:latin typeface="Arial"/>
              </a:rPr>
              <a:t>60</a:t>
            </a:r>
          </a:p>
        </p:txBody>
      </p:sp>
      <p:cxnSp>
        <p:nvCxnSpPr>
          <p:cNvPr id="204" name="Connector 203"/>
          <p:cNvCxnSpPr/>
          <p:nvPr/>
        </p:nvCxnSpPr>
        <p:spPr>
          <a:xfrm>
            <a:off x="5532120" y="2212848"/>
            <a:ext cx="6110935" cy="0"/>
          </a:xfrm>
          <a:prstGeom prst="line">
            <a:avLst/>
          </a:prstGeom>
          <a:ln w="9525">
            <a:solidFill>
              <a:srgbClr val="E5E7EB"/>
            </a:solidFill>
          </a:ln>
        </p:spPr>
      </p:cxnSp>
      <p:sp>
        <p:nvSpPr>
          <p:cNvPr id="205" name="TextBox 204"/>
          <p:cNvSpPr txBox="1"/>
          <p:nvPr/>
        </p:nvSpPr>
        <p:spPr>
          <a:xfrm>
            <a:off x="5074920" y="2103120"/>
            <a:ext cx="365760" cy="219456"/>
          </a:xfrm>
          <a:prstGeom prst="rect">
            <a:avLst/>
          </a:prstGeom>
          <a:noFill/>
        </p:spPr>
        <p:txBody>
          <a:bodyPr wrap="square" lIns="0" tIns="0" rIns="0" bIns="0">
            <a:spAutoFit/>
          </a:bodyPr>
          <a:lstStyle/>
          <a:p>
            <a:pPr algn="r">
              <a:lnSpc>
                <a:spcPct val="105000"/>
              </a:lnSpc>
            </a:pPr>
            <a:r>
              <a:rPr sz="950">
                <a:solidFill>
                  <a:srgbClr val="0C1408"/>
                </a:solidFill>
                <a:latin typeface="Arial"/>
              </a:rPr>
              <a:t>120</a:t>
            </a:r>
          </a:p>
        </p:txBody>
      </p:sp>
      <p:sp>
        <p:nvSpPr>
          <p:cNvPr id="206" name="TextBox 205"/>
          <p:cNvSpPr txBox="1"/>
          <p:nvPr/>
        </p:nvSpPr>
        <p:spPr>
          <a:xfrm>
            <a:off x="5558142"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1</a:t>
            </a:r>
          </a:p>
        </p:txBody>
      </p:sp>
      <p:sp>
        <p:nvSpPr>
          <p:cNvPr id="207" name="TextBox 206"/>
          <p:cNvSpPr txBox="1"/>
          <p:nvPr/>
        </p:nvSpPr>
        <p:spPr>
          <a:xfrm>
            <a:off x="6067387"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2</a:t>
            </a:r>
          </a:p>
        </p:txBody>
      </p:sp>
      <p:sp>
        <p:nvSpPr>
          <p:cNvPr id="208" name="TextBox 207"/>
          <p:cNvSpPr txBox="1"/>
          <p:nvPr/>
        </p:nvSpPr>
        <p:spPr>
          <a:xfrm>
            <a:off x="6576632"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3</a:t>
            </a:r>
          </a:p>
        </p:txBody>
      </p:sp>
      <p:sp>
        <p:nvSpPr>
          <p:cNvPr id="209" name="TextBox 208"/>
          <p:cNvSpPr txBox="1"/>
          <p:nvPr/>
        </p:nvSpPr>
        <p:spPr>
          <a:xfrm>
            <a:off x="7085876"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4</a:t>
            </a:r>
          </a:p>
        </p:txBody>
      </p:sp>
      <p:sp>
        <p:nvSpPr>
          <p:cNvPr id="210" name="TextBox 209"/>
          <p:cNvSpPr txBox="1"/>
          <p:nvPr/>
        </p:nvSpPr>
        <p:spPr>
          <a:xfrm>
            <a:off x="7595121"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5</a:t>
            </a:r>
          </a:p>
        </p:txBody>
      </p:sp>
      <p:sp>
        <p:nvSpPr>
          <p:cNvPr id="211" name="TextBox 210"/>
          <p:cNvSpPr txBox="1"/>
          <p:nvPr/>
        </p:nvSpPr>
        <p:spPr>
          <a:xfrm>
            <a:off x="8104365"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6</a:t>
            </a:r>
          </a:p>
        </p:txBody>
      </p:sp>
      <p:sp>
        <p:nvSpPr>
          <p:cNvPr id="212" name="TextBox 211"/>
          <p:cNvSpPr txBox="1"/>
          <p:nvPr/>
        </p:nvSpPr>
        <p:spPr>
          <a:xfrm>
            <a:off x="8613610"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7</a:t>
            </a:r>
          </a:p>
        </p:txBody>
      </p:sp>
      <p:sp>
        <p:nvSpPr>
          <p:cNvPr id="213" name="TextBox 212"/>
          <p:cNvSpPr txBox="1"/>
          <p:nvPr/>
        </p:nvSpPr>
        <p:spPr>
          <a:xfrm>
            <a:off x="9122854"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8</a:t>
            </a:r>
          </a:p>
        </p:txBody>
      </p:sp>
      <p:sp>
        <p:nvSpPr>
          <p:cNvPr id="214" name="TextBox 213"/>
          <p:cNvSpPr txBox="1"/>
          <p:nvPr/>
        </p:nvSpPr>
        <p:spPr>
          <a:xfrm>
            <a:off x="9632099"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9</a:t>
            </a:r>
          </a:p>
        </p:txBody>
      </p:sp>
      <p:sp>
        <p:nvSpPr>
          <p:cNvPr id="215" name="TextBox 214"/>
          <p:cNvSpPr txBox="1"/>
          <p:nvPr/>
        </p:nvSpPr>
        <p:spPr>
          <a:xfrm>
            <a:off x="10141344"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10</a:t>
            </a:r>
          </a:p>
        </p:txBody>
      </p:sp>
      <p:sp>
        <p:nvSpPr>
          <p:cNvPr id="216" name="TextBox 215"/>
          <p:cNvSpPr txBox="1"/>
          <p:nvPr/>
        </p:nvSpPr>
        <p:spPr>
          <a:xfrm>
            <a:off x="10650588"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11</a:t>
            </a:r>
          </a:p>
        </p:txBody>
      </p:sp>
      <p:sp>
        <p:nvSpPr>
          <p:cNvPr id="217" name="TextBox 216"/>
          <p:cNvSpPr txBox="1"/>
          <p:nvPr/>
        </p:nvSpPr>
        <p:spPr>
          <a:xfrm>
            <a:off x="11159833"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12</a:t>
            </a:r>
          </a:p>
        </p:txBody>
      </p:sp>
      <p:sp>
        <p:nvSpPr>
          <p:cNvPr id="182" name="Freeform 181"/>
          <p:cNvSpPr/>
          <p:nvPr/>
        </p:nvSpPr>
        <p:spPr>
          <a:xfrm>
            <a:off x="5786742" y="2303526"/>
            <a:ext cx="5601691" cy="997458"/>
          </a:xfrm>
          <a:custGeom>
            <a:avLst/>
            <a:gdLst/>
            <a:ahLst/>
            <a:cxnLst/>
            <a:rect l="l" t="t" r="r" b="b"/>
            <a:pathLst>
              <a:path w="5601691" h="997458">
                <a:moveTo>
                  <a:pt x="0" y="0"/>
                </a:moveTo>
                <a:lnTo>
                  <a:pt x="509245" y="90678"/>
                </a:lnTo>
                <a:lnTo>
                  <a:pt x="1018490" y="181356"/>
                </a:lnTo>
                <a:lnTo>
                  <a:pt x="1527734" y="272034"/>
                </a:lnTo>
                <a:lnTo>
                  <a:pt x="2036979" y="362712"/>
                </a:lnTo>
                <a:lnTo>
                  <a:pt x="2546223" y="453390"/>
                </a:lnTo>
                <a:lnTo>
                  <a:pt x="3055468" y="544068"/>
                </a:lnTo>
                <a:lnTo>
                  <a:pt x="3564712" y="634746"/>
                </a:lnTo>
                <a:lnTo>
                  <a:pt x="4073957" y="725424"/>
                </a:lnTo>
                <a:lnTo>
                  <a:pt x="4583202" y="816102"/>
                </a:lnTo>
                <a:lnTo>
                  <a:pt x="5092446" y="906780"/>
                </a:lnTo>
                <a:lnTo>
                  <a:pt x="5601691" y="997458"/>
                </a:lnTo>
              </a:path>
            </a:pathLst>
          </a:custGeom>
          <a:noFill/>
          <a:ln w="28575">
            <a:solidFill>
              <a:srgbClr val="573F99"/>
            </a:solidFill>
          </a:ln>
        </p:spPr>
        <p:txBody>
          <a:bodyPr rtlCol="0" anchor="ctr"/>
          <a:lstStyle/>
          <a:p>
            <a:pPr algn="ctr"/>
          </a:p>
        </p:txBody>
      </p:sp>
      <p:sp>
        <p:nvSpPr>
          <p:cNvPr id="218" name="Oval 217"/>
          <p:cNvSpPr/>
          <p:nvPr/>
        </p:nvSpPr>
        <p:spPr>
          <a:xfrm>
            <a:off x="5736450" y="2253234"/>
            <a:ext cx="100584" cy="100584"/>
          </a:xfrm>
          <a:prstGeom prst="ellipse">
            <a:avLst/>
          </a:prstGeom>
          <a:solidFill>
            <a:srgbClr val="573F99"/>
          </a:solidFill>
          <a:ln w="9525">
            <a:solidFill>
              <a:srgbClr val="FFFFFF"/>
            </a:solidFill>
          </a:ln>
        </p:spPr>
        <p:txBody>
          <a:bodyPr rtlCol="0" anchor="ctr"/>
          <a:lstStyle/>
          <a:p>
            <a:pPr algn="ctr"/>
          </a:p>
        </p:txBody>
      </p:sp>
      <p:sp>
        <p:nvSpPr>
          <p:cNvPr id="219" name="Oval 218"/>
          <p:cNvSpPr/>
          <p:nvPr/>
        </p:nvSpPr>
        <p:spPr>
          <a:xfrm>
            <a:off x="6245695" y="2343912"/>
            <a:ext cx="100584" cy="100584"/>
          </a:xfrm>
          <a:prstGeom prst="ellipse">
            <a:avLst/>
          </a:prstGeom>
          <a:solidFill>
            <a:srgbClr val="573F99"/>
          </a:solidFill>
          <a:ln w="9525">
            <a:solidFill>
              <a:srgbClr val="FFFFFF"/>
            </a:solidFill>
          </a:ln>
        </p:spPr>
        <p:txBody>
          <a:bodyPr rtlCol="0" anchor="ctr"/>
          <a:lstStyle/>
          <a:p>
            <a:pPr algn="ctr"/>
          </a:p>
        </p:txBody>
      </p:sp>
      <p:sp>
        <p:nvSpPr>
          <p:cNvPr id="220" name="Oval 219"/>
          <p:cNvSpPr/>
          <p:nvPr/>
        </p:nvSpPr>
        <p:spPr>
          <a:xfrm>
            <a:off x="6754940" y="2434590"/>
            <a:ext cx="100584" cy="100584"/>
          </a:xfrm>
          <a:prstGeom prst="ellipse">
            <a:avLst/>
          </a:prstGeom>
          <a:solidFill>
            <a:srgbClr val="573F99"/>
          </a:solidFill>
          <a:ln w="9525">
            <a:solidFill>
              <a:srgbClr val="FFFFFF"/>
            </a:solidFill>
          </a:ln>
        </p:spPr>
        <p:txBody>
          <a:bodyPr rtlCol="0" anchor="ctr"/>
          <a:lstStyle/>
          <a:p>
            <a:pPr algn="ctr"/>
          </a:p>
        </p:txBody>
      </p:sp>
      <p:sp>
        <p:nvSpPr>
          <p:cNvPr id="221" name="Oval 220"/>
          <p:cNvSpPr/>
          <p:nvPr/>
        </p:nvSpPr>
        <p:spPr>
          <a:xfrm>
            <a:off x="7264184" y="2525268"/>
            <a:ext cx="100584" cy="100584"/>
          </a:xfrm>
          <a:prstGeom prst="ellipse">
            <a:avLst/>
          </a:prstGeom>
          <a:solidFill>
            <a:srgbClr val="573F99"/>
          </a:solidFill>
          <a:ln w="9525">
            <a:solidFill>
              <a:srgbClr val="FFFFFF"/>
            </a:solidFill>
          </a:ln>
        </p:spPr>
        <p:txBody>
          <a:bodyPr rtlCol="0" anchor="ctr"/>
          <a:lstStyle/>
          <a:p>
            <a:pPr algn="ctr"/>
          </a:p>
        </p:txBody>
      </p:sp>
      <p:sp>
        <p:nvSpPr>
          <p:cNvPr id="222" name="Oval 221"/>
          <p:cNvSpPr/>
          <p:nvPr/>
        </p:nvSpPr>
        <p:spPr>
          <a:xfrm>
            <a:off x="7773429" y="2615946"/>
            <a:ext cx="100584" cy="100584"/>
          </a:xfrm>
          <a:prstGeom prst="ellipse">
            <a:avLst/>
          </a:prstGeom>
          <a:solidFill>
            <a:srgbClr val="573F99"/>
          </a:solidFill>
          <a:ln w="9525">
            <a:solidFill>
              <a:srgbClr val="FFFFFF"/>
            </a:solidFill>
          </a:ln>
        </p:spPr>
        <p:txBody>
          <a:bodyPr rtlCol="0" anchor="ctr"/>
          <a:lstStyle/>
          <a:p>
            <a:pPr algn="ctr"/>
          </a:p>
        </p:txBody>
      </p:sp>
      <p:sp>
        <p:nvSpPr>
          <p:cNvPr id="223" name="Oval 222"/>
          <p:cNvSpPr/>
          <p:nvPr/>
        </p:nvSpPr>
        <p:spPr>
          <a:xfrm>
            <a:off x="8282673" y="2706624"/>
            <a:ext cx="100584" cy="100584"/>
          </a:xfrm>
          <a:prstGeom prst="ellipse">
            <a:avLst/>
          </a:prstGeom>
          <a:solidFill>
            <a:srgbClr val="573F99"/>
          </a:solidFill>
          <a:ln w="9525">
            <a:solidFill>
              <a:srgbClr val="FFFFFF"/>
            </a:solidFill>
          </a:ln>
        </p:spPr>
        <p:txBody>
          <a:bodyPr rtlCol="0" anchor="ctr"/>
          <a:lstStyle/>
          <a:p>
            <a:pPr algn="ctr"/>
          </a:p>
        </p:txBody>
      </p:sp>
      <p:sp>
        <p:nvSpPr>
          <p:cNvPr id="224" name="Oval 223"/>
          <p:cNvSpPr/>
          <p:nvPr/>
        </p:nvSpPr>
        <p:spPr>
          <a:xfrm>
            <a:off x="8791918" y="2797302"/>
            <a:ext cx="100584" cy="100584"/>
          </a:xfrm>
          <a:prstGeom prst="ellipse">
            <a:avLst/>
          </a:prstGeom>
          <a:solidFill>
            <a:srgbClr val="573F99"/>
          </a:solidFill>
          <a:ln w="9525">
            <a:solidFill>
              <a:srgbClr val="FFFFFF"/>
            </a:solidFill>
          </a:ln>
        </p:spPr>
        <p:txBody>
          <a:bodyPr rtlCol="0" anchor="ctr"/>
          <a:lstStyle/>
          <a:p>
            <a:pPr algn="ctr"/>
          </a:p>
        </p:txBody>
      </p:sp>
      <p:sp>
        <p:nvSpPr>
          <p:cNvPr id="225" name="Oval 224"/>
          <p:cNvSpPr/>
          <p:nvPr/>
        </p:nvSpPr>
        <p:spPr>
          <a:xfrm>
            <a:off x="9301162" y="2887980"/>
            <a:ext cx="100584" cy="100584"/>
          </a:xfrm>
          <a:prstGeom prst="ellipse">
            <a:avLst/>
          </a:prstGeom>
          <a:solidFill>
            <a:srgbClr val="573F99"/>
          </a:solidFill>
          <a:ln w="9525">
            <a:solidFill>
              <a:srgbClr val="FFFFFF"/>
            </a:solidFill>
          </a:ln>
        </p:spPr>
        <p:txBody>
          <a:bodyPr rtlCol="0" anchor="ctr"/>
          <a:lstStyle/>
          <a:p>
            <a:pPr algn="ctr"/>
          </a:p>
        </p:txBody>
      </p:sp>
      <p:sp>
        <p:nvSpPr>
          <p:cNvPr id="226" name="Oval 225"/>
          <p:cNvSpPr/>
          <p:nvPr/>
        </p:nvSpPr>
        <p:spPr>
          <a:xfrm>
            <a:off x="9810407" y="2978658"/>
            <a:ext cx="100584" cy="100584"/>
          </a:xfrm>
          <a:prstGeom prst="ellipse">
            <a:avLst/>
          </a:prstGeom>
          <a:solidFill>
            <a:srgbClr val="573F99"/>
          </a:solidFill>
          <a:ln w="9525">
            <a:solidFill>
              <a:srgbClr val="FFFFFF"/>
            </a:solidFill>
          </a:ln>
        </p:spPr>
        <p:txBody>
          <a:bodyPr rtlCol="0" anchor="ctr"/>
          <a:lstStyle/>
          <a:p>
            <a:pPr algn="ctr"/>
          </a:p>
        </p:txBody>
      </p:sp>
      <p:sp>
        <p:nvSpPr>
          <p:cNvPr id="227" name="Oval 226"/>
          <p:cNvSpPr/>
          <p:nvPr/>
        </p:nvSpPr>
        <p:spPr>
          <a:xfrm>
            <a:off x="10319652" y="3069336"/>
            <a:ext cx="100584" cy="100584"/>
          </a:xfrm>
          <a:prstGeom prst="ellipse">
            <a:avLst/>
          </a:prstGeom>
          <a:solidFill>
            <a:srgbClr val="573F99"/>
          </a:solidFill>
          <a:ln w="9525">
            <a:solidFill>
              <a:srgbClr val="FFFFFF"/>
            </a:solidFill>
          </a:ln>
        </p:spPr>
        <p:txBody>
          <a:bodyPr rtlCol="0" anchor="ctr"/>
          <a:lstStyle/>
          <a:p>
            <a:pPr algn="ctr"/>
          </a:p>
        </p:txBody>
      </p:sp>
      <p:sp>
        <p:nvSpPr>
          <p:cNvPr id="228" name="Oval 227"/>
          <p:cNvSpPr/>
          <p:nvPr/>
        </p:nvSpPr>
        <p:spPr>
          <a:xfrm>
            <a:off x="10828896" y="3160014"/>
            <a:ext cx="100584" cy="100584"/>
          </a:xfrm>
          <a:prstGeom prst="ellipse">
            <a:avLst/>
          </a:prstGeom>
          <a:solidFill>
            <a:srgbClr val="573F99"/>
          </a:solidFill>
          <a:ln w="9525">
            <a:solidFill>
              <a:srgbClr val="FFFFFF"/>
            </a:solidFill>
          </a:ln>
        </p:spPr>
        <p:txBody>
          <a:bodyPr rtlCol="0" anchor="ctr"/>
          <a:lstStyle/>
          <a:p>
            <a:pPr algn="ctr"/>
          </a:p>
        </p:txBody>
      </p:sp>
      <p:sp>
        <p:nvSpPr>
          <p:cNvPr id="229" name="Oval 228"/>
          <p:cNvSpPr/>
          <p:nvPr/>
        </p:nvSpPr>
        <p:spPr>
          <a:xfrm>
            <a:off x="11338141" y="3250692"/>
            <a:ext cx="100584" cy="100584"/>
          </a:xfrm>
          <a:prstGeom prst="ellipse">
            <a:avLst/>
          </a:prstGeom>
          <a:solidFill>
            <a:srgbClr val="573F99"/>
          </a:solidFill>
          <a:ln w="9525">
            <a:solidFill>
              <a:srgbClr val="FFFFFF"/>
            </a:solidFill>
          </a:ln>
        </p:spPr>
        <p:txBody>
          <a:bodyPr rtlCol="0" anchor="ctr"/>
          <a:lstStyle/>
          <a:p>
            <a:pPr algn="ctr"/>
          </a:p>
        </p:txBody>
      </p:sp>
      <p:sp>
        <p:nvSpPr>
          <p:cNvPr id="230" name="Freeform 229"/>
          <p:cNvSpPr/>
          <p:nvPr/>
        </p:nvSpPr>
        <p:spPr>
          <a:xfrm>
            <a:off x="5786742" y="3300984"/>
            <a:ext cx="5601691" cy="997458"/>
          </a:xfrm>
          <a:custGeom>
            <a:avLst/>
            <a:gdLst/>
            <a:ahLst/>
            <a:cxnLst/>
            <a:rect l="l" t="t" r="r" b="b"/>
            <a:pathLst>
              <a:path w="5601691" h="997458">
                <a:moveTo>
                  <a:pt x="0" y="90678"/>
                </a:moveTo>
                <a:lnTo>
                  <a:pt x="509245" y="181356"/>
                </a:lnTo>
                <a:lnTo>
                  <a:pt x="1018490" y="272034"/>
                </a:lnTo>
                <a:lnTo>
                  <a:pt x="1527734" y="362712"/>
                </a:lnTo>
                <a:lnTo>
                  <a:pt x="2036979" y="453390"/>
                </a:lnTo>
                <a:lnTo>
                  <a:pt x="2546223" y="544068"/>
                </a:lnTo>
                <a:lnTo>
                  <a:pt x="3055468" y="634746"/>
                </a:lnTo>
                <a:lnTo>
                  <a:pt x="3564712" y="725424"/>
                </a:lnTo>
                <a:lnTo>
                  <a:pt x="4073957" y="816102"/>
                </a:lnTo>
                <a:lnTo>
                  <a:pt x="4583202" y="906780"/>
                </a:lnTo>
                <a:lnTo>
                  <a:pt x="5092446" y="997458"/>
                </a:lnTo>
                <a:lnTo>
                  <a:pt x="5601691" y="0"/>
                </a:lnTo>
              </a:path>
            </a:pathLst>
          </a:custGeom>
          <a:noFill/>
          <a:ln w="28575">
            <a:solidFill>
              <a:srgbClr val="2A78D6"/>
            </a:solidFill>
          </a:ln>
        </p:spPr>
        <p:txBody>
          <a:bodyPr rtlCol="0" anchor="ctr"/>
          <a:lstStyle/>
          <a:p>
            <a:pPr algn="ctr"/>
          </a:p>
        </p:txBody>
      </p:sp>
      <p:sp>
        <p:nvSpPr>
          <p:cNvPr id="231" name="Oval 230"/>
          <p:cNvSpPr/>
          <p:nvPr/>
        </p:nvSpPr>
        <p:spPr>
          <a:xfrm>
            <a:off x="5736450" y="3341370"/>
            <a:ext cx="100584" cy="100584"/>
          </a:xfrm>
          <a:prstGeom prst="ellipse">
            <a:avLst/>
          </a:prstGeom>
          <a:solidFill>
            <a:srgbClr val="2A78D6"/>
          </a:solidFill>
          <a:ln w="9525">
            <a:solidFill>
              <a:srgbClr val="FFFFFF"/>
            </a:solidFill>
          </a:ln>
        </p:spPr>
        <p:txBody>
          <a:bodyPr rtlCol="0" anchor="ctr"/>
          <a:lstStyle/>
          <a:p>
            <a:pPr algn="ctr"/>
          </a:p>
        </p:txBody>
      </p:sp>
      <p:sp>
        <p:nvSpPr>
          <p:cNvPr id="232" name="Oval 231"/>
          <p:cNvSpPr/>
          <p:nvPr/>
        </p:nvSpPr>
        <p:spPr>
          <a:xfrm>
            <a:off x="6245695" y="3432048"/>
            <a:ext cx="100584" cy="100584"/>
          </a:xfrm>
          <a:prstGeom prst="ellipse">
            <a:avLst/>
          </a:prstGeom>
          <a:solidFill>
            <a:srgbClr val="2A78D6"/>
          </a:solidFill>
          <a:ln w="9525">
            <a:solidFill>
              <a:srgbClr val="FFFFFF"/>
            </a:solidFill>
          </a:ln>
        </p:spPr>
        <p:txBody>
          <a:bodyPr rtlCol="0" anchor="ctr"/>
          <a:lstStyle/>
          <a:p>
            <a:pPr algn="ctr"/>
          </a:p>
        </p:txBody>
      </p:sp>
      <p:sp>
        <p:nvSpPr>
          <p:cNvPr id="233" name="Oval 232"/>
          <p:cNvSpPr/>
          <p:nvPr/>
        </p:nvSpPr>
        <p:spPr>
          <a:xfrm>
            <a:off x="6754940" y="3522726"/>
            <a:ext cx="100584" cy="100584"/>
          </a:xfrm>
          <a:prstGeom prst="ellipse">
            <a:avLst/>
          </a:prstGeom>
          <a:solidFill>
            <a:srgbClr val="2A78D6"/>
          </a:solidFill>
          <a:ln w="9525">
            <a:solidFill>
              <a:srgbClr val="FFFFFF"/>
            </a:solidFill>
          </a:ln>
        </p:spPr>
        <p:txBody>
          <a:bodyPr rtlCol="0" anchor="ctr"/>
          <a:lstStyle/>
          <a:p>
            <a:pPr algn="ctr"/>
          </a:p>
        </p:txBody>
      </p:sp>
      <p:sp>
        <p:nvSpPr>
          <p:cNvPr id="234" name="Oval 233"/>
          <p:cNvSpPr/>
          <p:nvPr/>
        </p:nvSpPr>
        <p:spPr>
          <a:xfrm>
            <a:off x="7264184" y="3613404"/>
            <a:ext cx="100584" cy="100584"/>
          </a:xfrm>
          <a:prstGeom prst="ellipse">
            <a:avLst/>
          </a:prstGeom>
          <a:solidFill>
            <a:srgbClr val="2A78D6"/>
          </a:solidFill>
          <a:ln w="9525">
            <a:solidFill>
              <a:srgbClr val="FFFFFF"/>
            </a:solidFill>
          </a:ln>
        </p:spPr>
        <p:txBody>
          <a:bodyPr rtlCol="0" anchor="ctr"/>
          <a:lstStyle/>
          <a:p>
            <a:pPr algn="ctr"/>
          </a:p>
        </p:txBody>
      </p:sp>
      <p:sp>
        <p:nvSpPr>
          <p:cNvPr id="235" name="Oval 234"/>
          <p:cNvSpPr/>
          <p:nvPr/>
        </p:nvSpPr>
        <p:spPr>
          <a:xfrm>
            <a:off x="7773429" y="3704082"/>
            <a:ext cx="100584" cy="100584"/>
          </a:xfrm>
          <a:prstGeom prst="ellipse">
            <a:avLst/>
          </a:prstGeom>
          <a:solidFill>
            <a:srgbClr val="2A78D6"/>
          </a:solidFill>
          <a:ln w="9525">
            <a:solidFill>
              <a:srgbClr val="FFFFFF"/>
            </a:solidFill>
          </a:ln>
        </p:spPr>
        <p:txBody>
          <a:bodyPr rtlCol="0" anchor="ctr"/>
          <a:lstStyle/>
          <a:p>
            <a:pPr algn="ctr"/>
          </a:p>
        </p:txBody>
      </p:sp>
      <p:sp>
        <p:nvSpPr>
          <p:cNvPr id="236" name="Oval 235"/>
          <p:cNvSpPr/>
          <p:nvPr/>
        </p:nvSpPr>
        <p:spPr>
          <a:xfrm>
            <a:off x="8282673" y="3794760"/>
            <a:ext cx="100584" cy="100584"/>
          </a:xfrm>
          <a:prstGeom prst="ellipse">
            <a:avLst/>
          </a:prstGeom>
          <a:solidFill>
            <a:srgbClr val="2A78D6"/>
          </a:solidFill>
          <a:ln w="9525">
            <a:solidFill>
              <a:srgbClr val="FFFFFF"/>
            </a:solidFill>
          </a:ln>
        </p:spPr>
        <p:txBody>
          <a:bodyPr rtlCol="0" anchor="ctr"/>
          <a:lstStyle/>
          <a:p>
            <a:pPr algn="ctr"/>
          </a:p>
        </p:txBody>
      </p:sp>
      <p:sp>
        <p:nvSpPr>
          <p:cNvPr id="237" name="Oval 236"/>
          <p:cNvSpPr/>
          <p:nvPr/>
        </p:nvSpPr>
        <p:spPr>
          <a:xfrm>
            <a:off x="8791918" y="3885438"/>
            <a:ext cx="100584" cy="100584"/>
          </a:xfrm>
          <a:prstGeom prst="ellipse">
            <a:avLst/>
          </a:prstGeom>
          <a:solidFill>
            <a:srgbClr val="2A78D6"/>
          </a:solidFill>
          <a:ln w="9525">
            <a:solidFill>
              <a:srgbClr val="FFFFFF"/>
            </a:solidFill>
          </a:ln>
        </p:spPr>
        <p:txBody>
          <a:bodyPr rtlCol="0" anchor="ctr"/>
          <a:lstStyle/>
          <a:p>
            <a:pPr algn="ctr"/>
          </a:p>
        </p:txBody>
      </p:sp>
      <p:sp>
        <p:nvSpPr>
          <p:cNvPr id="238" name="Oval 237"/>
          <p:cNvSpPr/>
          <p:nvPr/>
        </p:nvSpPr>
        <p:spPr>
          <a:xfrm>
            <a:off x="9301162" y="3976116"/>
            <a:ext cx="100584" cy="100584"/>
          </a:xfrm>
          <a:prstGeom prst="ellipse">
            <a:avLst/>
          </a:prstGeom>
          <a:solidFill>
            <a:srgbClr val="2A78D6"/>
          </a:solidFill>
          <a:ln w="9525">
            <a:solidFill>
              <a:srgbClr val="FFFFFF"/>
            </a:solidFill>
          </a:ln>
        </p:spPr>
        <p:txBody>
          <a:bodyPr rtlCol="0" anchor="ctr"/>
          <a:lstStyle/>
          <a:p>
            <a:pPr algn="ctr"/>
          </a:p>
        </p:txBody>
      </p:sp>
      <p:sp>
        <p:nvSpPr>
          <p:cNvPr id="239" name="Oval 238"/>
          <p:cNvSpPr/>
          <p:nvPr/>
        </p:nvSpPr>
        <p:spPr>
          <a:xfrm>
            <a:off x="9810407" y="4066794"/>
            <a:ext cx="100584" cy="100584"/>
          </a:xfrm>
          <a:prstGeom prst="ellipse">
            <a:avLst/>
          </a:prstGeom>
          <a:solidFill>
            <a:srgbClr val="2A78D6"/>
          </a:solidFill>
          <a:ln w="9525">
            <a:solidFill>
              <a:srgbClr val="FFFFFF"/>
            </a:solidFill>
          </a:ln>
        </p:spPr>
        <p:txBody>
          <a:bodyPr rtlCol="0" anchor="ctr"/>
          <a:lstStyle/>
          <a:p>
            <a:pPr algn="ctr"/>
          </a:p>
        </p:txBody>
      </p:sp>
      <p:sp>
        <p:nvSpPr>
          <p:cNvPr id="240" name="Oval 239"/>
          <p:cNvSpPr/>
          <p:nvPr/>
        </p:nvSpPr>
        <p:spPr>
          <a:xfrm>
            <a:off x="10319652" y="4157472"/>
            <a:ext cx="100584" cy="100584"/>
          </a:xfrm>
          <a:prstGeom prst="ellipse">
            <a:avLst/>
          </a:prstGeom>
          <a:solidFill>
            <a:srgbClr val="2A78D6"/>
          </a:solidFill>
          <a:ln w="9525">
            <a:solidFill>
              <a:srgbClr val="FFFFFF"/>
            </a:solidFill>
          </a:ln>
        </p:spPr>
        <p:txBody>
          <a:bodyPr rtlCol="0" anchor="ctr"/>
          <a:lstStyle/>
          <a:p>
            <a:pPr algn="ctr"/>
          </a:p>
        </p:txBody>
      </p:sp>
      <p:sp>
        <p:nvSpPr>
          <p:cNvPr id="241" name="Oval 240"/>
          <p:cNvSpPr/>
          <p:nvPr/>
        </p:nvSpPr>
        <p:spPr>
          <a:xfrm>
            <a:off x="10828896" y="4248150"/>
            <a:ext cx="100584" cy="100584"/>
          </a:xfrm>
          <a:prstGeom prst="ellipse">
            <a:avLst/>
          </a:prstGeom>
          <a:solidFill>
            <a:srgbClr val="2A78D6"/>
          </a:solidFill>
          <a:ln w="9525">
            <a:solidFill>
              <a:srgbClr val="FFFFFF"/>
            </a:solidFill>
          </a:ln>
        </p:spPr>
        <p:txBody>
          <a:bodyPr rtlCol="0" anchor="ctr"/>
          <a:lstStyle/>
          <a:p>
            <a:pPr algn="ctr"/>
          </a:p>
        </p:txBody>
      </p:sp>
      <p:sp>
        <p:nvSpPr>
          <p:cNvPr id="242" name="Oval 241"/>
          <p:cNvSpPr/>
          <p:nvPr/>
        </p:nvSpPr>
        <p:spPr>
          <a:xfrm>
            <a:off x="11338141" y="3250692"/>
            <a:ext cx="100584" cy="100584"/>
          </a:xfrm>
          <a:prstGeom prst="ellipse">
            <a:avLst/>
          </a:prstGeom>
          <a:solidFill>
            <a:srgbClr val="2A78D6"/>
          </a:solidFill>
          <a:ln w="9525">
            <a:solidFill>
              <a:srgbClr val="FFFFFF"/>
            </a:solidFill>
          </a:ln>
        </p:spPr>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Market</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Committee use in Pakistan, from published estimates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3</a:t>
            </a:r>
          </a:p>
        </p:txBody>
      </p:sp>
      <p:sp>
        <p:nvSpPr>
          <p:cNvPr id="6" name="TextBox 5"/>
          <p:cNvSpPr txBox="1"/>
          <p:nvPr/>
        </p:nvSpPr>
        <p:spPr>
          <a:xfrm>
            <a:off x="548640" y="1481328"/>
            <a:ext cx="3840480" cy="274320"/>
          </a:xfrm>
          <a:prstGeom prst="rect">
            <a:avLst/>
          </a:prstGeom>
          <a:noFill/>
        </p:spPr>
        <p:txBody>
          <a:bodyPr wrap="square" lIns="0" tIns="0" rIns="0" bIns="0">
            <a:spAutoFit/>
          </a:bodyPr>
          <a:lstStyle/>
          <a:p>
            <a:pPr>
              <a:lnSpc>
                <a:spcPct val="100000"/>
              </a:lnSpc>
            </a:pPr>
            <a:r>
              <a:rPr sz="1200" b="1">
                <a:solidFill>
                  <a:srgbClr val="0C1408"/>
                </a:solidFill>
                <a:latin typeface="Arial"/>
              </a:rPr>
              <a:t>Pakistanis who save in committees</a:t>
            </a:r>
            <a:r>
              <a:rPr sz="1100">
                <a:solidFill>
                  <a:srgbClr val="0C1408"/>
                </a:solidFill>
                <a:latin typeface="Arial"/>
              </a:rPr>
              <a:t>   per 100 people</a:t>
            </a:r>
          </a:p>
        </p:txBody>
      </p:sp>
      <p:sp>
        <p:nvSpPr>
          <p:cNvPr id="7" name="Rectangle 6"/>
          <p:cNvSpPr/>
          <p:nvPr/>
        </p:nvSpPr>
        <p:spPr>
          <a:xfrm>
            <a:off x="548640" y="4796028"/>
            <a:ext cx="274320" cy="274320"/>
          </a:xfrm>
          <a:prstGeom prst="rect">
            <a:avLst/>
          </a:prstGeom>
          <a:solidFill>
            <a:srgbClr val="573F99"/>
          </a:solidFill>
          <a:ln>
            <a:noFill/>
          </a:ln>
        </p:spPr>
        <p:txBody>
          <a:bodyPr rtlCol="0" anchor="ctr"/>
          <a:lstStyle/>
          <a:p>
            <a:pPr algn="ctr"/>
          </a:p>
        </p:txBody>
      </p:sp>
      <p:sp>
        <p:nvSpPr>
          <p:cNvPr id="8" name="Rectangle 7"/>
          <p:cNvSpPr/>
          <p:nvPr/>
        </p:nvSpPr>
        <p:spPr>
          <a:xfrm>
            <a:off x="548640" y="4471416"/>
            <a:ext cx="274320" cy="274320"/>
          </a:xfrm>
          <a:prstGeom prst="rect">
            <a:avLst/>
          </a:prstGeom>
          <a:solidFill>
            <a:srgbClr val="573F99"/>
          </a:solidFill>
          <a:ln>
            <a:noFill/>
          </a:ln>
        </p:spPr>
        <p:txBody>
          <a:bodyPr rtlCol="0" anchor="ctr"/>
          <a:lstStyle/>
          <a:p>
            <a:pPr algn="ctr"/>
          </a:p>
        </p:txBody>
      </p:sp>
      <p:sp>
        <p:nvSpPr>
          <p:cNvPr id="9" name="Rectangle 8"/>
          <p:cNvSpPr/>
          <p:nvPr/>
        </p:nvSpPr>
        <p:spPr>
          <a:xfrm>
            <a:off x="548640" y="4146804"/>
            <a:ext cx="274320" cy="274320"/>
          </a:xfrm>
          <a:prstGeom prst="rect">
            <a:avLst/>
          </a:prstGeom>
          <a:solidFill>
            <a:srgbClr val="573F99"/>
          </a:solidFill>
          <a:ln>
            <a:noFill/>
          </a:ln>
        </p:spPr>
        <p:txBody>
          <a:bodyPr rtlCol="0" anchor="ctr"/>
          <a:lstStyle/>
          <a:p>
            <a:pPr algn="ctr"/>
          </a:p>
        </p:txBody>
      </p:sp>
      <p:sp>
        <p:nvSpPr>
          <p:cNvPr id="10" name="Rectangle 9"/>
          <p:cNvSpPr/>
          <p:nvPr/>
        </p:nvSpPr>
        <p:spPr>
          <a:xfrm>
            <a:off x="548640" y="3822192"/>
            <a:ext cx="274320" cy="274320"/>
          </a:xfrm>
          <a:prstGeom prst="rect">
            <a:avLst/>
          </a:prstGeom>
          <a:solidFill>
            <a:srgbClr val="573F99"/>
          </a:solidFill>
          <a:ln>
            <a:noFill/>
          </a:ln>
        </p:spPr>
        <p:txBody>
          <a:bodyPr rtlCol="0" anchor="ctr"/>
          <a:lstStyle/>
          <a:p>
            <a:pPr algn="ctr"/>
          </a:p>
        </p:txBody>
      </p:sp>
      <p:sp>
        <p:nvSpPr>
          <p:cNvPr id="11" name="Rectangle 10"/>
          <p:cNvSpPr/>
          <p:nvPr/>
        </p:nvSpPr>
        <p:spPr>
          <a:xfrm>
            <a:off x="548640" y="3497580"/>
            <a:ext cx="274320" cy="274320"/>
          </a:xfrm>
          <a:prstGeom prst="rect">
            <a:avLst/>
          </a:prstGeom>
          <a:solidFill>
            <a:srgbClr val="573F99"/>
          </a:solidFill>
          <a:ln>
            <a:noFill/>
          </a:ln>
        </p:spPr>
        <p:txBody>
          <a:bodyPr rtlCol="0" anchor="ctr"/>
          <a:lstStyle/>
          <a:p>
            <a:pPr algn="ctr"/>
          </a:p>
        </p:txBody>
      </p:sp>
      <p:sp>
        <p:nvSpPr>
          <p:cNvPr id="12" name="Rectangle 11"/>
          <p:cNvSpPr/>
          <p:nvPr/>
        </p:nvSpPr>
        <p:spPr>
          <a:xfrm>
            <a:off x="548640" y="3172968"/>
            <a:ext cx="274320" cy="274320"/>
          </a:xfrm>
          <a:prstGeom prst="rect">
            <a:avLst/>
          </a:prstGeom>
          <a:solidFill>
            <a:srgbClr val="573F99"/>
          </a:solidFill>
          <a:ln>
            <a:noFill/>
          </a:ln>
        </p:spPr>
        <p:txBody>
          <a:bodyPr rtlCol="0" anchor="ctr"/>
          <a:lstStyle/>
          <a:p>
            <a:pPr algn="ctr"/>
          </a:p>
        </p:txBody>
      </p:sp>
      <p:sp>
        <p:nvSpPr>
          <p:cNvPr id="13" name="Rectangle 12"/>
          <p:cNvSpPr/>
          <p:nvPr/>
        </p:nvSpPr>
        <p:spPr>
          <a:xfrm>
            <a:off x="548640" y="2848356"/>
            <a:ext cx="274320" cy="274320"/>
          </a:xfrm>
          <a:prstGeom prst="rect">
            <a:avLst/>
          </a:prstGeom>
          <a:solidFill>
            <a:srgbClr val="573F99"/>
          </a:solidFill>
          <a:ln>
            <a:noFill/>
          </a:ln>
        </p:spPr>
        <p:txBody>
          <a:bodyPr rtlCol="0" anchor="ctr"/>
          <a:lstStyle/>
          <a:p>
            <a:pPr algn="ctr"/>
          </a:p>
        </p:txBody>
      </p:sp>
      <p:sp>
        <p:nvSpPr>
          <p:cNvPr id="14" name="Rectangle 13"/>
          <p:cNvSpPr/>
          <p:nvPr/>
        </p:nvSpPr>
        <p:spPr>
          <a:xfrm>
            <a:off x="548640" y="2523744"/>
            <a:ext cx="274320" cy="274320"/>
          </a:xfrm>
          <a:prstGeom prst="rect">
            <a:avLst/>
          </a:prstGeom>
          <a:solidFill>
            <a:srgbClr val="573F99"/>
          </a:solidFill>
          <a:ln>
            <a:noFill/>
          </a:ln>
        </p:spPr>
        <p:txBody>
          <a:bodyPr rtlCol="0" anchor="ctr"/>
          <a:lstStyle/>
          <a:p>
            <a:pPr algn="ctr"/>
          </a:p>
        </p:txBody>
      </p:sp>
      <p:sp>
        <p:nvSpPr>
          <p:cNvPr id="15" name="Rectangle 14"/>
          <p:cNvSpPr/>
          <p:nvPr/>
        </p:nvSpPr>
        <p:spPr>
          <a:xfrm>
            <a:off x="548640" y="2199132"/>
            <a:ext cx="274320" cy="274320"/>
          </a:xfrm>
          <a:prstGeom prst="rect">
            <a:avLst/>
          </a:prstGeom>
          <a:solidFill>
            <a:srgbClr val="573F99"/>
          </a:solidFill>
          <a:ln>
            <a:noFill/>
          </a:ln>
        </p:spPr>
        <p:txBody>
          <a:bodyPr rtlCol="0" anchor="ctr"/>
          <a:lstStyle/>
          <a:p>
            <a:pPr algn="ctr"/>
          </a:p>
        </p:txBody>
      </p:sp>
      <p:sp>
        <p:nvSpPr>
          <p:cNvPr id="16" name="Rectangle 15"/>
          <p:cNvSpPr/>
          <p:nvPr/>
        </p:nvSpPr>
        <p:spPr>
          <a:xfrm>
            <a:off x="548640" y="1874520"/>
            <a:ext cx="274320" cy="274320"/>
          </a:xfrm>
          <a:prstGeom prst="rect">
            <a:avLst/>
          </a:prstGeom>
          <a:solidFill>
            <a:srgbClr val="573F99"/>
          </a:solidFill>
          <a:ln>
            <a:noFill/>
          </a:ln>
        </p:spPr>
        <p:txBody>
          <a:bodyPr rtlCol="0" anchor="ctr"/>
          <a:lstStyle/>
          <a:p>
            <a:pPr algn="ctr"/>
          </a:p>
        </p:txBody>
      </p:sp>
      <p:sp>
        <p:nvSpPr>
          <p:cNvPr id="17" name="Rectangle 16"/>
          <p:cNvSpPr/>
          <p:nvPr/>
        </p:nvSpPr>
        <p:spPr>
          <a:xfrm>
            <a:off x="873252" y="4796028"/>
            <a:ext cx="274320" cy="274320"/>
          </a:xfrm>
          <a:prstGeom prst="rect">
            <a:avLst/>
          </a:prstGeom>
          <a:solidFill>
            <a:srgbClr val="573F99"/>
          </a:solidFill>
          <a:ln>
            <a:noFill/>
          </a:ln>
        </p:spPr>
        <p:txBody>
          <a:bodyPr rtlCol="0" anchor="ctr"/>
          <a:lstStyle/>
          <a:p>
            <a:pPr algn="ctr"/>
          </a:p>
        </p:txBody>
      </p:sp>
      <p:sp>
        <p:nvSpPr>
          <p:cNvPr id="18" name="Rectangle 17"/>
          <p:cNvSpPr/>
          <p:nvPr/>
        </p:nvSpPr>
        <p:spPr>
          <a:xfrm>
            <a:off x="873252" y="4471416"/>
            <a:ext cx="274320" cy="274320"/>
          </a:xfrm>
          <a:prstGeom prst="rect">
            <a:avLst/>
          </a:prstGeom>
          <a:solidFill>
            <a:srgbClr val="573F99"/>
          </a:solidFill>
          <a:ln>
            <a:noFill/>
          </a:ln>
        </p:spPr>
        <p:txBody>
          <a:bodyPr rtlCol="0" anchor="ctr"/>
          <a:lstStyle/>
          <a:p>
            <a:pPr algn="ctr"/>
          </a:p>
        </p:txBody>
      </p:sp>
      <p:sp>
        <p:nvSpPr>
          <p:cNvPr id="19" name="Rectangle 18"/>
          <p:cNvSpPr/>
          <p:nvPr/>
        </p:nvSpPr>
        <p:spPr>
          <a:xfrm>
            <a:off x="873252" y="4146804"/>
            <a:ext cx="274320" cy="274320"/>
          </a:xfrm>
          <a:prstGeom prst="rect">
            <a:avLst/>
          </a:prstGeom>
          <a:solidFill>
            <a:srgbClr val="573F99"/>
          </a:solidFill>
          <a:ln>
            <a:noFill/>
          </a:ln>
        </p:spPr>
        <p:txBody>
          <a:bodyPr rtlCol="0" anchor="ctr"/>
          <a:lstStyle/>
          <a:p>
            <a:pPr algn="ctr"/>
          </a:p>
        </p:txBody>
      </p:sp>
      <p:sp>
        <p:nvSpPr>
          <p:cNvPr id="20" name="Rectangle 19"/>
          <p:cNvSpPr/>
          <p:nvPr/>
        </p:nvSpPr>
        <p:spPr>
          <a:xfrm>
            <a:off x="873252" y="3822192"/>
            <a:ext cx="274320" cy="274320"/>
          </a:xfrm>
          <a:prstGeom prst="rect">
            <a:avLst/>
          </a:prstGeom>
          <a:solidFill>
            <a:srgbClr val="573F99"/>
          </a:solidFill>
          <a:ln>
            <a:noFill/>
          </a:ln>
        </p:spPr>
        <p:txBody>
          <a:bodyPr rtlCol="0" anchor="ctr"/>
          <a:lstStyle/>
          <a:p>
            <a:pPr algn="ctr"/>
          </a:p>
        </p:txBody>
      </p:sp>
      <p:sp>
        <p:nvSpPr>
          <p:cNvPr id="21" name="Rectangle 20"/>
          <p:cNvSpPr/>
          <p:nvPr/>
        </p:nvSpPr>
        <p:spPr>
          <a:xfrm>
            <a:off x="873252" y="3497580"/>
            <a:ext cx="274320" cy="274320"/>
          </a:xfrm>
          <a:prstGeom prst="rect">
            <a:avLst/>
          </a:prstGeom>
          <a:solidFill>
            <a:srgbClr val="573F99"/>
          </a:solidFill>
          <a:ln>
            <a:noFill/>
          </a:ln>
        </p:spPr>
        <p:txBody>
          <a:bodyPr rtlCol="0" anchor="ctr"/>
          <a:lstStyle/>
          <a:p>
            <a:pPr algn="ctr"/>
          </a:p>
        </p:txBody>
      </p:sp>
      <p:sp>
        <p:nvSpPr>
          <p:cNvPr id="22" name="Rectangle 21"/>
          <p:cNvSpPr/>
          <p:nvPr/>
        </p:nvSpPr>
        <p:spPr>
          <a:xfrm>
            <a:off x="873252" y="3172968"/>
            <a:ext cx="274320" cy="274320"/>
          </a:xfrm>
          <a:prstGeom prst="rect">
            <a:avLst/>
          </a:prstGeom>
          <a:solidFill>
            <a:srgbClr val="573F99"/>
          </a:solidFill>
          <a:ln>
            <a:noFill/>
          </a:ln>
        </p:spPr>
        <p:txBody>
          <a:bodyPr rtlCol="0" anchor="ctr"/>
          <a:lstStyle/>
          <a:p>
            <a:pPr algn="ctr"/>
          </a:p>
        </p:txBody>
      </p:sp>
      <p:sp>
        <p:nvSpPr>
          <p:cNvPr id="23" name="Rectangle 22"/>
          <p:cNvSpPr/>
          <p:nvPr/>
        </p:nvSpPr>
        <p:spPr>
          <a:xfrm>
            <a:off x="873252" y="2848356"/>
            <a:ext cx="274320" cy="274320"/>
          </a:xfrm>
          <a:prstGeom prst="rect">
            <a:avLst/>
          </a:prstGeom>
          <a:solidFill>
            <a:srgbClr val="573F99"/>
          </a:solidFill>
          <a:ln>
            <a:noFill/>
          </a:ln>
        </p:spPr>
        <p:txBody>
          <a:bodyPr rtlCol="0" anchor="ctr"/>
          <a:lstStyle/>
          <a:p>
            <a:pPr algn="ctr"/>
          </a:p>
        </p:txBody>
      </p:sp>
      <p:sp>
        <p:nvSpPr>
          <p:cNvPr id="24" name="Rectangle 23"/>
          <p:cNvSpPr/>
          <p:nvPr/>
        </p:nvSpPr>
        <p:spPr>
          <a:xfrm>
            <a:off x="873252" y="2523744"/>
            <a:ext cx="274320" cy="274320"/>
          </a:xfrm>
          <a:prstGeom prst="rect">
            <a:avLst/>
          </a:prstGeom>
          <a:solidFill>
            <a:srgbClr val="573F99"/>
          </a:solidFill>
          <a:ln>
            <a:noFill/>
          </a:ln>
        </p:spPr>
        <p:txBody>
          <a:bodyPr rtlCol="0" anchor="ctr"/>
          <a:lstStyle/>
          <a:p>
            <a:pPr algn="ctr"/>
          </a:p>
        </p:txBody>
      </p:sp>
      <p:sp>
        <p:nvSpPr>
          <p:cNvPr id="25" name="Rectangle 24"/>
          <p:cNvSpPr/>
          <p:nvPr/>
        </p:nvSpPr>
        <p:spPr>
          <a:xfrm>
            <a:off x="873252" y="2199132"/>
            <a:ext cx="274320" cy="274320"/>
          </a:xfrm>
          <a:prstGeom prst="rect">
            <a:avLst/>
          </a:prstGeom>
          <a:solidFill>
            <a:srgbClr val="573F99"/>
          </a:solidFill>
          <a:ln>
            <a:noFill/>
          </a:ln>
        </p:spPr>
        <p:txBody>
          <a:bodyPr rtlCol="0" anchor="ctr"/>
          <a:lstStyle/>
          <a:p>
            <a:pPr algn="ctr"/>
          </a:p>
        </p:txBody>
      </p:sp>
      <p:sp>
        <p:nvSpPr>
          <p:cNvPr id="26" name="Rectangle 25"/>
          <p:cNvSpPr/>
          <p:nvPr/>
        </p:nvSpPr>
        <p:spPr>
          <a:xfrm>
            <a:off x="873252" y="1874520"/>
            <a:ext cx="274320" cy="274320"/>
          </a:xfrm>
          <a:prstGeom prst="rect">
            <a:avLst/>
          </a:prstGeom>
          <a:solidFill>
            <a:srgbClr val="573F99"/>
          </a:solidFill>
          <a:ln>
            <a:noFill/>
          </a:ln>
        </p:spPr>
        <p:txBody>
          <a:bodyPr rtlCol="0" anchor="ctr"/>
          <a:lstStyle/>
          <a:p>
            <a:pPr algn="ctr"/>
          </a:p>
        </p:txBody>
      </p:sp>
      <p:sp>
        <p:nvSpPr>
          <p:cNvPr id="27" name="Rectangle 26"/>
          <p:cNvSpPr/>
          <p:nvPr/>
        </p:nvSpPr>
        <p:spPr>
          <a:xfrm>
            <a:off x="1197864" y="4796028"/>
            <a:ext cx="274320" cy="274320"/>
          </a:xfrm>
          <a:prstGeom prst="rect">
            <a:avLst/>
          </a:prstGeom>
          <a:solidFill>
            <a:srgbClr val="573F99"/>
          </a:solidFill>
          <a:ln>
            <a:noFill/>
          </a:ln>
        </p:spPr>
        <p:txBody>
          <a:bodyPr rtlCol="0" anchor="ctr"/>
          <a:lstStyle/>
          <a:p>
            <a:pPr algn="ctr"/>
          </a:p>
        </p:txBody>
      </p:sp>
      <p:sp>
        <p:nvSpPr>
          <p:cNvPr id="28" name="Rectangle 27"/>
          <p:cNvSpPr/>
          <p:nvPr/>
        </p:nvSpPr>
        <p:spPr>
          <a:xfrm>
            <a:off x="1197864" y="4471416"/>
            <a:ext cx="274320" cy="274320"/>
          </a:xfrm>
          <a:prstGeom prst="rect">
            <a:avLst/>
          </a:prstGeom>
          <a:solidFill>
            <a:srgbClr val="573F99"/>
          </a:solidFill>
          <a:ln>
            <a:noFill/>
          </a:ln>
        </p:spPr>
        <p:txBody>
          <a:bodyPr rtlCol="0" anchor="ctr"/>
          <a:lstStyle/>
          <a:p>
            <a:pPr algn="ctr"/>
          </a:p>
        </p:txBody>
      </p:sp>
      <p:sp>
        <p:nvSpPr>
          <p:cNvPr id="29" name="Rectangle 28"/>
          <p:cNvSpPr/>
          <p:nvPr/>
        </p:nvSpPr>
        <p:spPr>
          <a:xfrm>
            <a:off x="1197864" y="4146804"/>
            <a:ext cx="274320" cy="274320"/>
          </a:xfrm>
          <a:prstGeom prst="rect">
            <a:avLst/>
          </a:prstGeom>
          <a:solidFill>
            <a:srgbClr val="573F99"/>
          </a:solidFill>
          <a:ln>
            <a:noFill/>
          </a:ln>
        </p:spPr>
        <p:txBody>
          <a:bodyPr rtlCol="0" anchor="ctr"/>
          <a:lstStyle/>
          <a:p>
            <a:pPr algn="ctr"/>
          </a:p>
        </p:txBody>
      </p:sp>
      <p:sp>
        <p:nvSpPr>
          <p:cNvPr id="30" name="Rectangle 29"/>
          <p:cNvSpPr/>
          <p:nvPr/>
        </p:nvSpPr>
        <p:spPr>
          <a:xfrm>
            <a:off x="1197864" y="3822192"/>
            <a:ext cx="274320" cy="274320"/>
          </a:xfrm>
          <a:prstGeom prst="rect">
            <a:avLst/>
          </a:prstGeom>
          <a:solidFill>
            <a:srgbClr val="573F99"/>
          </a:solidFill>
          <a:ln>
            <a:noFill/>
          </a:ln>
        </p:spPr>
        <p:txBody>
          <a:bodyPr rtlCol="0" anchor="ctr"/>
          <a:lstStyle/>
          <a:p>
            <a:pPr algn="ctr"/>
          </a:p>
        </p:txBody>
      </p:sp>
      <p:sp>
        <p:nvSpPr>
          <p:cNvPr id="31" name="Rectangle 30"/>
          <p:cNvSpPr/>
          <p:nvPr/>
        </p:nvSpPr>
        <p:spPr>
          <a:xfrm>
            <a:off x="1197864" y="3497580"/>
            <a:ext cx="274320" cy="274320"/>
          </a:xfrm>
          <a:prstGeom prst="rect">
            <a:avLst/>
          </a:prstGeom>
          <a:solidFill>
            <a:srgbClr val="573F99"/>
          </a:solidFill>
          <a:ln>
            <a:noFill/>
          </a:ln>
        </p:spPr>
        <p:txBody>
          <a:bodyPr rtlCol="0" anchor="ctr"/>
          <a:lstStyle/>
          <a:p>
            <a:pPr algn="ctr"/>
          </a:p>
        </p:txBody>
      </p:sp>
      <p:sp>
        <p:nvSpPr>
          <p:cNvPr id="32" name="Rectangle 31"/>
          <p:cNvSpPr/>
          <p:nvPr/>
        </p:nvSpPr>
        <p:spPr>
          <a:xfrm>
            <a:off x="1197864" y="3172968"/>
            <a:ext cx="274320" cy="274320"/>
          </a:xfrm>
          <a:prstGeom prst="rect">
            <a:avLst/>
          </a:prstGeom>
          <a:solidFill>
            <a:srgbClr val="573F99"/>
          </a:solidFill>
          <a:ln>
            <a:noFill/>
          </a:ln>
        </p:spPr>
        <p:txBody>
          <a:bodyPr rtlCol="0" anchor="ctr"/>
          <a:lstStyle/>
          <a:p>
            <a:pPr algn="ctr"/>
          </a:p>
        </p:txBody>
      </p:sp>
      <p:sp>
        <p:nvSpPr>
          <p:cNvPr id="33" name="Rectangle 32"/>
          <p:cNvSpPr/>
          <p:nvPr/>
        </p:nvSpPr>
        <p:spPr>
          <a:xfrm>
            <a:off x="1197864" y="2848356"/>
            <a:ext cx="274320" cy="274320"/>
          </a:xfrm>
          <a:prstGeom prst="rect">
            <a:avLst/>
          </a:prstGeom>
          <a:solidFill>
            <a:srgbClr val="573F99"/>
          </a:solidFill>
          <a:ln>
            <a:noFill/>
          </a:ln>
        </p:spPr>
        <p:txBody>
          <a:bodyPr rtlCol="0" anchor="ctr"/>
          <a:lstStyle/>
          <a:p>
            <a:pPr algn="ctr"/>
          </a:p>
        </p:txBody>
      </p:sp>
      <p:sp>
        <p:nvSpPr>
          <p:cNvPr id="34" name="Rectangle 33"/>
          <p:cNvSpPr/>
          <p:nvPr/>
        </p:nvSpPr>
        <p:spPr>
          <a:xfrm>
            <a:off x="1197864" y="2523744"/>
            <a:ext cx="274320" cy="274320"/>
          </a:xfrm>
          <a:prstGeom prst="rect">
            <a:avLst/>
          </a:prstGeom>
          <a:solidFill>
            <a:srgbClr val="573F99"/>
          </a:solidFill>
          <a:ln>
            <a:noFill/>
          </a:ln>
        </p:spPr>
        <p:txBody>
          <a:bodyPr rtlCol="0" anchor="ctr"/>
          <a:lstStyle/>
          <a:p>
            <a:pPr algn="ctr"/>
          </a:p>
        </p:txBody>
      </p:sp>
      <p:sp>
        <p:nvSpPr>
          <p:cNvPr id="35" name="Rectangle 34"/>
          <p:cNvSpPr/>
          <p:nvPr/>
        </p:nvSpPr>
        <p:spPr>
          <a:xfrm>
            <a:off x="1197864" y="2199132"/>
            <a:ext cx="274320" cy="274320"/>
          </a:xfrm>
          <a:prstGeom prst="rect">
            <a:avLst/>
          </a:prstGeom>
          <a:solidFill>
            <a:srgbClr val="573F99"/>
          </a:solidFill>
          <a:ln>
            <a:noFill/>
          </a:ln>
        </p:spPr>
        <p:txBody>
          <a:bodyPr rtlCol="0" anchor="ctr"/>
          <a:lstStyle/>
          <a:p>
            <a:pPr algn="ctr"/>
          </a:p>
        </p:txBody>
      </p:sp>
      <p:sp>
        <p:nvSpPr>
          <p:cNvPr id="36" name="Rectangle 35"/>
          <p:cNvSpPr/>
          <p:nvPr/>
        </p:nvSpPr>
        <p:spPr>
          <a:xfrm>
            <a:off x="1197864" y="1874520"/>
            <a:ext cx="274320" cy="274320"/>
          </a:xfrm>
          <a:prstGeom prst="rect">
            <a:avLst/>
          </a:prstGeom>
          <a:solidFill>
            <a:srgbClr val="573F99"/>
          </a:solidFill>
          <a:ln>
            <a:noFill/>
          </a:ln>
        </p:spPr>
        <p:txBody>
          <a:bodyPr rtlCol="0" anchor="ctr"/>
          <a:lstStyle/>
          <a:p>
            <a:pPr algn="ctr"/>
          </a:p>
        </p:txBody>
      </p:sp>
      <p:sp>
        <p:nvSpPr>
          <p:cNvPr id="37" name="Rectangle 36"/>
          <p:cNvSpPr/>
          <p:nvPr/>
        </p:nvSpPr>
        <p:spPr>
          <a:xfrm>
            <a:off x="1522476" y="4796028"/>
            <a:ext cx="274320" cy="274320"/>
          </a:xfrm>
          <a:prstGeom prst="rect">
            <a:avLst/>
          </a:prstGeom>
          <a:solidFill>
            <a:srgbClr val="573F99"/>
          </a:solidFill>
          <a:ln>
            <a:noFill/>
          </a:ln>
        </p:spPr>
        <p:txBody>
          <a:bodyPr rtlCol="0" anchor="ctr"/>
          <a:lstStyle/>
          <a:p>
            <a:pPr algn="ctr"/>
          </a:p>
        </p:txBody>
      </p:sp>
      <p:sp>
        <p:nvSpPr>
          <p:cNvPr id="38" name="Rectangle 37"/>
          <p:cNvSpPr/>
          <p:nvPr/>
        </p:nvSpPr>
        <p:spPr>
          <a:xfrm>
            <a:off x="1522476" y="4471416"/>
            <a:ext cx="274320" cy="274320"/>
          </a:xfrm>
          <a:prstGeom prst="rect">
            <a:avLst/>
          </a:prstGeom>
          <a:solidFill>
            <a:srgbClr val="573F99"/>
          </a:solidFill>
          <a:ln>
            <a:noFill/>
          </a:ln>
        </p:spPr>
        <p:txBody>
          <a:bodyPr rtlCol="0" anchor="ctr"/>
          <a:lstStyle/>
          <a:p>
            <a:pPr algn="ctr"/>
          </a:p>
        </p:txBody>
      </p:sp>
      <p:sp>
        <p:nvSpPr>
          <p:cNvPr id="39" name="Rectangle 38"/>
          <p:cNvSpPr/>
          <p:nvPr/>
        </p:nvSpPr>
        <p:spPr>
          <a:xfrm>
            <a:off x="1522476" y="4146804"/>
            <a:ext cx="274320" cy="274320"/>
          </a:xfrm>
          <a:prstGeom prst="rect">
            <a:avLst/>
          </a:prstGeom>
          <a:solidFill>
            <a:srgbClr val="573F99"/>
          </a:solidFill>
          <a:ln>
            <a:noFill/>
          </a:ln>
        </p:spPr>
        <p:txBody>
          <a:bodyPr rtlCol="0" anchor="ctr"/>
          <a:lstStyle/>
          <a:p>
            <a:pPr algn="ctr"/>
          </a:p>
        </p:txBody>
      </p:sp>
      <p:sp>
        <p:nvSpPr>
          <p:cNvPr id="40" name="Rectangle 39"/>
          <p:cNvSpPr/>
          <p:nvPr/>
        </p:nvSpPr>
        <p:spPr>
          <a:xfrm>
            <a:off x="1522476" y="3822192"/>
            <a:ext cx="274320" cy="274320"/>
          </a:xfrm>
          <a:prstGeom prst="rect">
            <a:avLst/>
          </a:prstGeom>
          <a:solidFill>
            <a:srgbClr val="573F99"/>
          </a:solidFill>
          <a:ln>
            <a:noFill/>
          </a:ln>
        </p:spPr>
        <p:txBody>
          <a:bodyPr rtlCol="0" anchor="ctr"/>
          <a:lstStyle/>
          <a:p>
            <a:pPr algn="ctr"/>
          </a:p>
        </p:txBody>
      </p:sp>
      <p:sp>
        <p:nvSpPr>
          <p:cNvPr id="41" name="Rectangle 40"/>
          <p:cNvSpPr/>
          <p:nvPr/>
        </p:nvSpPr>
        <p:spPr>
          <a:xfrm>
            <a:off x="1522476" y="3497580"/>
            <a:ext cx="274320" cy="274320"/>
          </a:xfrm>
          <a:prstGeom prst="rect">
            <a:avLst/>
          </a:prstGeom>
          <a:solidFill>
            <a:srgbClr val="7E67C7"/>
          </a:solidFill>
          <a:ln>
            <a:noFill/>
          </a:ln>
        </p:spPr>
        <p:txBody>
          <a:bodyPr rtlCol="0" anchor="ctr"/>
          <a:lstStyle/>
          <a:p>
            <a:pPr algn="ctr"/>
          </a:p>
        </p:txBody>
      </p:sp>
      <p:sp>
        <p:nvSpPr>
          <p:cNvPr id="42" name="Rectangle 41"/>
          <p:cNvSpPr/>
          <p:nvPr/>
        </p:nvSpPr>
        <p:spPr>
          <a:xfrm>
            <a:off x="1522476" y="3172968"/>
            <a:ext cx="274320" cy="274320"/>
          </a:xfrm>
          <a:prstGeom prst="rect">
            <a:avLst/>
          </a:prstGeom>
          <a:solidFill>
            <a:srgbClr val="7E67C7"/>
          </a:solidFill>
          <a:ln>
            <a:noFill/>
          </a:ln>
        </p:spPr>
        <p:txBody>
          <a:bodyPr rtlCol="0" anchor="ctr"/>
          <a:lstStyle/>
          <a:p>
            <a:pPr algn="ctr"/>
          </a:p>
        </p:txBody>
      </p:sp>
      <p:sp>
        <p:nvSpPr>
          <p:cNvPr id="43" name="Rectangle 42"/>
          <p:cNvSpPr/>
          <p:nvPr/>
        </p:nvSpPr>
        <p:spPr>
          <a:xfrm>
            <a:off x="1522476" y="2848356"/>
            <a:ext cx="274320" cy="274320"/>
          </a:xfrm>
          <a:prstGeom prst="rect">
            <a:avLst/>
          </a:prstGeom>
          <a:solidFill>
            <a:srgbClr val="7E67C7"/>
          </a:solidFill>
          <a:ln>
            <a:noFill/>
          </a:ln>
        </p:spPr>
        <p:txBody>
          <a:bodyPr rtlCol="0" anchor="ctr"/>
          <a:lstStyle/>
          <a:p>
            <a:pPr algn="ctr"/>
          </a:p>
        </p:txBody>
      </p:sp>
      <p:sp>
        <p:nvSpPr>
          <p:cNvPr id="44" name="Rectangle 43"/>
          <p:cNvSpPr/>
          <p:nvPr/>
        </p:nvSpPr>
        <p:spPr>
          <a:xfrm>
            <a:off x="1522476" y="2523744"/>
            <a:ext cx="274320" cy="274320"/>
          </a:xfrm>
          <a:prstGeom prst="rect">
            <a:avLst/>
          </a:prstGeom>
          <a:solidFill>
            <a:srgbClr val="7E67C7"/>
          </a:solidFill>
          <a:ln>
            <a:noFill/>
          </a:ln>
        </p:spPr>
        <p:txBody>
          <a:bodyPr rtlCol="0" anchor="ctr"/>
          <a:lstStyle/>
          <a:p>
            <a:pPr algn="ctr"/>
          </a:p>
        </p:txBody>
      </p:sp>
      <p:sp>
        <p:nvSpPr>
          <p:cNvPr id="45" name="Rectangle 44"/>
          <p:cNvSpPr/>
          <p:nvPr/>
        </p:nvSpPr>
        <p:spPr>
          <a:xfrm>
            <a:off x="1522476" y="2199132"/>
            <a:ext cx="274320" cy="274320"/>
          </a:xfrm>
          <a:prstGeom prst="rect">
            <a:avLst/>
          </a:prstGeom>
          <a:solidFill>
            <a:srgbClr val="7E67C7"/>
          </a:solidFill>
          <a:ln>
            <a:noFill/>
          </a:ln>
        </p:spPr>
        <p:txBody>
          <a:bodyPr rtlCol="0" anchor="ctr"/>
          <a:lstStyle/>
          <a:p>
            <a:pPr algn="ctr"/>
          </a:p>
        </p:txBody>
      </p:sp>
      <p:sp>
        <p:nvSpPr>
          <p:cNvPr id="46" name="Rectangle 45"/>
          <p:cNvSpPr/>
          <p:nvPr/>
        </p:nvSpPr>
        <p:spPr>
          <a:xfrm>
            <a:off x="1522476" y="1874520"/>
            <a:ext cx="274320" cy="274320"/>
          </a:xfrm>
          <a:prstGeom prst="rect">
            <a:avLst/>
          </a:prstGeom>
          <a:solidFill>
            <a:srgbClr val="7E67C7"/>
          </a:solidFill>
          <a:ln>
            <a:noFill/>
          </a:ln>
        </p:spPr>
        <p:txBody>
          <a:bodyPr rtlCol="0" anchor="ctr"/>
          <a:lstStyle/>
          <a:p>
            <a:pPr algn="ctr"/>
          </a:p>
        </p:txBody>
      </p:sp>
      <p:sp>
        <p:nvSpPr>
          <p:cNvPr id="47" name="Rectangle 46"/>
          <p:cNvSpPr/>
          <p:nvPr/>
        </p:nvSpPr>
        <p:spPr>
          <a:xfrm>
            <a:off x="1847088" y="4796028"/>
            <a:ext cx="274320" cy="274320"/>
          </a:xfrm>
          <a:prstGeom prst="rect">
            <a:avLst/>
          </a:prstGeom>
          <a:solidFill>
            <a:srgbClr val="7E67C7"/>
          </a:solidFill>
          <a:ln>
            <a:noFill/>
          </a:ln>
        </p:spPr>
        <p:txBody>
          <a:bodyPr rtlCol="0" anchor="ctr"/>
          <a:lstStyle/>
          <a:p>
            <a:pPr algn="ctr"/>
          </a:p>
        </p:txBody>
      </p:sp>
      <p:sp>
        <p:nvSpPr>
          <p:cNvPr id="48" name="Rectangle 47"/>
          <p:cNvSpPr/>
          <p:nvPr/>
        </p:nvSpPr>
        <p:spPr>
          <a:xfrm>
            <a:off x="1847088" y="4471416"/>
            <a:ext cx="274320" cy="274320"/>
          </a:xfrm>
          <a:prstGeom prst="rect">
            <a:avLst/>
          </a:prstGeom>
          <a:solidFill>
            <a:srgbClr val="E5E7EB"/>
          </a:solidFill>
          <a:ln>
            <a:noFill/>
          </a:ln>
        </p:spPr>
        <p:txBody>
          <a:bodyPr rtlCol="0" anchor="ctr"/>
          <a:lstStyle/>
          <a:p>
            <a:pPr algn="ctr"/>
          </a:p>
        </p:txBody>
      </p:sp>
      <p:sp>
        <p:nvSpPr>
          <p:cNvPr id="49" name="Rectangle 48"/>
          <p:cNvSpPr/>
          <p:nvPr/>
        </p:nvSpPr>
        <p:spPr>
          <a:xfrm>
            <a:off x="1847088" y="4146804"/>
            <a:ext cx="274320" cy="274320"/>
          </a:xfrm>
          <a:prstGeom prst="rect">
            <a:avLst/>
          </a:prstGeom>
          <a:solidFill>
            <a:srgbClr val="E5E7EB"/>
          </a:solidFill>
          <a:ln>
            <a:noFill/>
          </a:ln>
        </p:spPr>
        <p:txBody>
          <a:bodyPr rtlCol="0" anchor="ctr"/>
          <a:lstStyle/>
          <a:p>
            <a:pPr algn="ctr"/>
          </a:p>
        </p:txBody>
      </p:sp>
      <p:sp>
        <p:nvSpPr>
          <p:cNvPr id="50" name="Rectangle 49"/>
          <p:cNvSpPr/>
          <p:nvPr/>
        </p:nvSpPr>
        <p:spPr>
          <a:xfrm>
            <a:off x="1847088" y="3822192"/>
            <a:ext cx="274320" cy="274320"/>
          </a:xfrm>
          <a:prstGeom prst="rect">
            <a:avLst/>
          </a:prstGeom>
          <a:solidFill>
            <a:srgbClr val="E5E7EB"/>
          </a:solidFill>
          <a:ln>
            <a:noFill/>
          </a:ln>
        </p:spPr>
        <p:txBody>
          <a:bodyPr rtlCol="0" anchor="ctr"/>
          <a:lstStyle/>
          <a:p>
            <a:pPr algn="ctr"/>
          </a:p>
        </p:txBody>
      </p:sp>
      <p:sp>
        <p:nvSpPr>
          <p:cNvPr id="51" name="Rectangle 50"/>
          <p:cNvSpPr/>
          <p:nvPr/>
        </p:nvSpPr>
        <p:spPr>
          <a:xfrm>
            <a:off x="1847088" y="3497580"/>
            <a:ext cx="274320" cy="274320"/>
          </a:xfrm>
          <a:prstGeom prst="rect">
            <a:avLst/>
          </a:prstGeom>
          <a:solidFill>
            <a:srgbClr val="E5E7EB"/>
          </a:solidFill>
          <a:ln>
            <a:noFill/>
          </a:ln>
        </p:spPr>
        <p:txBody>
          <a:bodyPr rtlCol="0" anchor="ctr"/>
          <a:lstStyle/>
          <a:p>
            <a:pPr algn="ctr"/>
          </a:p>
        </p:txBody>
      </p:sp>
      <p:sp>
        <p:nvSpPr>
          <p:cNvPr id="52" name="Rectangle 51"/>
          <p:cNvSpPr/>
          <p:nvPr/>
        </p:nvSpPr>
        <p:spPr>
          <a:xfrm>
            <a:off x="1847088" y="3172968"/>
            <a:ext cx="274320" cy="274320"/>
          </a:xfrm>
          <a:prstGeom prst="rect">
            <a:avLst/>
          </a:prstGeom>
          <a:solidFill>
            <a:srgbClr val="E5E7EB"/>
          </a:solidFill>
          <a:ln>
            <a:noFill/>
          </a:ln>
        </p:spPr>
        <p:txBody>
          <a:bodyPr rtlCol="0" anchor="ctr"/>
          <a:lstStyle/>
          <a:p>
            <a:pPr algn="ctr"/>
          </a:p>
        </p:txBody>
      </p:sp>
      <p:sp>
        <p:nvSpPr>
          <p:cNvPr id="53" name="Rectangle 52"/>
          <p:cNvSpPr/>
          <p:nvPr/>
        </p:nvSpPr>
        <p:spPr>
          <a:xfrm>
            <a:off x="1847088" y="2848356"/>
            <a:ext cx="274320" cy="274320"/>
          </a:xfrm>
          <a:prstGeom prst="rect">
            <a:avLst/>
          </a:prstGeom>
          <a:solidFill>
            <a:srgbClr val="E5E7EB"/>
          </a:solidFill>
          <a:ln>
            <a:noFill/>
          </a:ln>
        </p:spPr>
        <p:txBody>
          <a:bodyPr rtlCol="0" anchor="ctr"/>
          <a:lstStyle/>
          <a:p>
            <a:pPr algn="ctr"/>
          </a:p>
        </p:txBody>
      </p:sp>
      <p:sp>
        <p:nvSpPr>
          <p:cNvPr id="54" name="Rectangle 53"/>
          <p:cNvSpPr/>
          <p:nvPr/>
        </p:nvSpPr>
        <p:spPr>
          <a:xfrm>
            <a:off x="1847088" y="2523744"/>
            <a:ext cx="274320" cy="274320"/>
          </a:xfrm>
          <a:prstGeom prst="rect">
            <a:avLst/>
          </a:prstGeom>
          <a:solidFill>
            <a:srgbClr val="E5E7EB"/>
          </a:solidFill>
          <a:ln>
            <a:noFill/>
          </a:ln>
        </p:spPr>
        <p:txBody>
          <a:bodyPr rtlCol="0" anchor="ctr"/>
          <a:lstStyle/>
          <a:p>
            <a:pPr algn="ctr"/>
          </a:p>
        </p:txBody>
      </p:sp>
      <p:sp>
        <p:nvSpPr>
          <p:cNvPr id="55" name="Rectangle 54"/>
          <p:cNvSpPr/>
          <p:nvPr/>
        </p:nvSpPr>
        <p:spPr>
          <a:xfrm>
            <a:off x="1847088" y="2199132"/>
            <a:ext cx="274320" cy="274320"/>
          </a:xfrm>
          <a:prstGeom prst="rect">
            <a:avLst/>
          </a:prstGeom>
          <a:solidFill>
            <a:srgbClr val="E5E7EB"/>
          </a:solidFill>
          <a:ln>
            <a:noFill/>
          </a:ln>
        </p:spPr>
        <p:txBody>
          <a:bodyPr rtlCol="0" anchor="ctr"/>
          <a:lstStyle/>
          <a:p>
            <a:pPr algn="ctr"/>
          </a:p>
        </p:txBody>
      </p:sp>
      <p:sp>
        <p:nvSpPr>
          <p:cNvPr id="56" name="Rectangle 55"/>
          <p:cNvSpPr/>
          <p:nvPr/>
        </p:nvSpPr>
        <p:spPr>
          <a:xfrm>
            <a:off x="1847088" y="1874520"/>
            <a:ext cx="274320" cy="274320"/>
          </a:xfrm>
          <a:prstGeom prst="rect">
            <a:avLst/>
          </a:prstGeom>
          <a:solidFill>
            <a:srgbClr val="E5E7EB"/>
          </a:solidFill>
          <a:ln>
            <a:noFill/>
          </a:ln>
        </p:spPr>
        <p:txBody>
          <a:bodyPr rtlCol="0" anchor="ctr"/>
          <a:lstStyle/>
          <a:p>
            <a:pPr algn="ctr"/>
          </a:p>
        </p:txBody>
      </p:sp>
      <p:sp>
        <p:nvSpPr>
          <p:cNvPr id="57" name="Rectangle 56"/>
          <p:cNvSpPr/>
          <p:nvPr/>
        </p:nvSpPr>
        <p:spPr>
          <a:xfrm>
            <a:off x="2171700" y="4796028"/>
            <a:ext cx="274320" cy="274320"/>
          </a:xfrm>
          <a:prstGeom prst="rect">
            <a:avLst/>
          </a:prstGeom>
          <a:solidFill>
            <a:srgbClr val="E5E7EB"/>
          </a:solidFill>
          <a:ln>
            <a:noFill/>
          </a:ln>
        </p:spPr>
        <p:txBody>
          <a:bodyPr rtlCol="0" anchor="ctr"/>
          <a:lstStyle/>
          <a:p>
            <a:pPr algn="ctr"/>
          </a:p>
        </p:txBody>
      </p:sp>
      <p:sp>
        <p:nvSpPr>
          <p:cNvPr id="58" name="Rectangle 57"/>
          <p:cNvSpPr/>
          <p:nvPr/>
        </p:nvSpPr>
        <p:spPr>
          <a:xfrm>
            <a:off x="2171700" y="4471416"/>
            <a:ext cx="274320" cy="274320"/>
          </a:xfrm>
          <a:prstGeom prst="rect">
            <a:avLst/>
          </a:prstGeom>
          <a:solidFill>
            <a:srgbClr val="E5E7EB"/>
          </a:solidFill>
          <a:ln>
            <a:noFill/>
          </a:ln>
        </p:spPr>
        <p:txBody>
          <a:bodyPr rtlCol="0" anchor="ctr"/>
          <a:lstStyle/>
          <a:p>
            <a:pPr algn="ctr"/>
          </a:p>
        </p:txBody>
      </p:sp>
      <p:sp>
        <p:nvSpPr>
          <p:cNvPr id="59" name="Rectangle 58"/>
          <p:cNvSpPr/>
          <p:nvPr/>
        </p:nvSpPr>
        <p:spPr>
          <a:xfrm>
            <a:off x="2171700" y="4146804"/>
            <a:ext cx="274320" cy="274320"/>
          </a:xfrm>
          <a:prstGeom prst="rect">
            <a:avLst/>
          </a:prstGeom>
          <a:solidFill>
            <a:srgbClr val="E5E7EB"/>
          </a:solidFill>
          <a:ln>
            <a:noFill/>
          </a:ln>
        </p:spPr>
        <p:txBody>
          <a:bodyPr rtlCol="0" anchor="ctr"/>
          <a:lstStyle/>
          <a:p>
            <a:pPr algn="ctr"/>
          </a:p>
        </p:txBody>
      </p:sp>
      <p:sp>
        <p:nvSpPr>
          <p:cNvPr id="60" name="Rectangle 59"/>
          <p:cNvSpPr/>
          <p:nvPr/>
        </p:nvSpPr>
        <p:spPr>
          <a:xfrm>
            <a:off x="2171700" y="3822192"/>
            <a:ext cx="274320" cy="274320"/>
          </a:xfrm>
          <a:prstGeom prst="rect">
            <a:avLst/>
          </a:prstGeom>
          <a:solidFill>
            <a:srgbClr val="E5E7EB"/>
          </a:solidFill>
          <a:ln>
            <a:noFill/>
          </a:ln>
        </p:spPr>
        <p:txBody>
          <a:bodyPr rtlCol="0" anchor="ctr"/>
          <a:lstStyle/>
          <a:p>
            <a:pPr algn="ctr"/>
          </a:p>
        </p:txBody>
      </p:sp>
      <p:sp>
        <p:nvSpPr>
          <p:cNvPr id="61" name="Rectangle 60"/>
          <p:cNvSpPr/>
          <p:nvPr/>
        </p:nvSpPr>
        <p:spPr>
          <a:xfrm>
            <a:off x="2171700" y="3497580"/>
            <a:ext cx="274320" cy="274320"/>
          </a:xfrm>
          <a:prstGeom prst="rect">
            <a:avLst/>
          </a:prstGeom>
          <a:solidFill>
            <a:srgbClr val="E5E7EB"/>
          </a:solidFill>
          <a:ln>
            <a:noFill/>
          </a:ln>
        </p:spPr>
        <p:txBody>
          <a:bodyPr rtlCol="0" anchor="ctr"/>
          <a:lstStyle/>
          <a:p>
            <a:pPr algn="ctr"/>
          </a:p>
        </p:txBody>
      </p:sp>
      <p:sp>
        <p:nvSpPr>
          <p:cNvPr id="62" name="Rectangle 61"/>
          <p:cNvSpPr/>
          <p:nvPr/>
        </p:nvSpPr>
        <p:spPr>
          <a:xfrm>
            <a:off x="2171700" y="3172968"/>
            <a:ext cx="274320" cy="274320"/>
          </a:xfrm>
          <a:prstGeom prst="rect">
            <a:avLst/>
          </a:prstGeom>
          <a:solidFill>
            <a:srgbClr val="E5E7EB"/>
          </a:solidFill>
          <a:ln>
            <a:noFill/>
          </a:ln>
        </p:spPr>
        <p:txBody>
          <a:bodyPr rtlCol="0" anchor="ctr"/>
          <a:lstStyle/>
          <a:p>
            <a:pPr algn="ctr"/>
          </a:p>
        </p:txBody>
      </p:sp>
      <p:sp>
        <p:nvSpPr>
          <p:cNvPr id="63" name="Rectangle 62"/>
          <p:cNvSpPr/>
          <p:nvPr/>
        </p:nvSpPr>
        <p:spPr>
          <a:xfrm>
            <a:off x="2171700" y="2848356"/>
            <a:ext cx="274320" cy="274320"/>
          </a:xfrm>
          <a:prstGeom prst="rect">
            <a:avLst/>
          </a:prstGeom>
          <a:solidFill>
            <a:srgbClr val="E5E7EB"/>
          </a:solidFill>
          <a:ln>
            <a:noFill/>
          </a:ln>
        </p:spPr>
        <p:txBody>
          <a:bodyPr rtlCol="0" anchor="ctr"/>
          <a:lstStyle/>
          <a:p>
            <a:pPr algn="ctr"/>
          </a:p>
        </p:txBody>
      </p:sp>
      <p:sp>
        <p:nvSpPr>
          <p:cNvPr id="64" name="Rectangle 63"/>
          <p:cNvSpPr/>
          <p:nvPr/>
        </p:nvSpPr>
        <p:spPr>
          <a:xfrm>
            <a:off x="2171700" y="2523744"/>
            <a:ext cx="274320" cy="274320"/>
          </a:xfrm>
          <a:prstGeom prst="rect">
            <a:avLst/>
          </a:prstGeom>
          <a:solidFill>
            <a:srgbClr val="E5E7EB"/>
          </a:solidFill>
          <a:ln>
            <a:noFill/>
          </a:ln>
        </p:spPr>
        <p:txBody>
          <a:bodyPr rtlCol="0" anchor="ctr"/>
          <a:lstStyle/>
          <a:p>
            <a:pPr algn="ctr"/>
          </a:p>
        </p:txBody>
      </p:sp>
      <p:sp>
        <p:nvSpPr>
          <p:cNvPr id="65" name="Rectangle 64"/>
          <p:cNvSpPr/>
          <p:nvPr/>
        </p:nvSpPr>
        <p:spPr>
          <a:xfrm>
            <a:off x="2171700" y="2199132"/>
            <a:ext cx="274320" cy="274320"/>
          </a:xfrm>
          <a:prstGeom prst="rect">
            <a:avLst/>
          </a:prstGeom>
          <a:solidFill>
            <a:srgbClr val="E5E7EB"/>
          </a:solidFill>
          <a:ln>
            <a:noFill/>
          </a:ln>
        </p:spPr>
        <p:txBody>
          <a:bodyPr rtlCol="0" anchor="ctr"/>
          <a:lstStyle/>
          <a:p>
            <a:pPr algn="ctr"/>
          </a:p>
        </p:txBody>
      </p:sp>
      <p:sp>
        <p:nvSpPr>
          <p:cNvPr id="66" name="Rectangle 65"/>
          <p:cNvSpPr/>
          <p:nvPr/>
        </p:nvSpPr>
        <p:spPr>
          <a:xfrm>
            <a:off x="2171700" y="1874520"/>
            <a:ext cx="274320" cy="274320"/>
          </a:xfrm>
          <a:prstGeom prst="rect">
            <a:avLst/>
          </a:prstGeom>
          <a:solidFill>
            <a:srgbClr val="E5E7EB"/>
          </a:solidFill>
          <a:ln>
            <a:noFill/>
          </a:ln>
        </p:spPr>
        <p:txBody>
          <a:bodyPr rtlCol="0" anchor="ctr"/>
          <a:lstStyle/>
          <a:p>
            <a:pPr algn="ctr"/>
          </a:p>
        </p:txBody>
      </p:sp>
      <p:sp>
        <p:nvSpPr>
          <p:cNvPr id="67" name="Rectangle 66"/>
          <p:cNvSpPr/>
          <p:nvPr/>
        </p:nvSpPr>
        <p:spPr>
          <a:xfrm>
            <a:off x="2496312" y="4796028"/>
            <a:ext cx="274320" cy="274320"/>
          </a:xfrm>
          <a:prstGeom prst="rect">
            <a:avLst/>
          </a:prstGeom>
          <a:solidFill>
            <a:srgbClr val="E5E7EB"/>
          </a:solidFill>
          <a:ln>
            <a:noFill/>
          </a:ln>
        </p:spPr>
        <p:txBody>
          <a:bodyPr rtlCol="0" anchor="ctr"/>
          <a:lstStyle/>
          <a:p>
            <a:pPr algn="ctr"/>
          </a:p>
        </p:txBody>
      </p:sp>
      <p:sp>
        <p:nvSpPr>
          <p:cNvPr id="68" name="Rectangle 67"/>
          <p:cNvSpPr/>
          <p:nvPr/>
        </p:nvSpPr>
        <p:spPr>
          <a:xfrm>
            <a:off x="2496312" y="4471416"/>
            <a:ext cx="274320" cy="274320"/>
          </a:xfrm>
          <a:prstGeom prst="rect">
            <a:avLst/>
          </a:prstGeom>
          <a:solidFill>
            <a:srgbClr val="E5E7EB"/>
          </a:solidFill>
          <a:ln>
            <a:noFill/>
          </a:ln>
        </p:spPr>
        <p:txBody>
          <a:bodyPr rtlCol="0" anchor="ctr"/>
          <a:lstStyle/>
          <a:p>
            <a:pPr algn="ctr"/>
          </a:p>
        </p:txBody>
      </p:sp>
      <p:sp>
        <p:nvSpPr>
          <p:cNvPr id="69" name="Rectangle 68"/>
          <p:cNvSpPr/>
          <p:nvPr/>
        </p:nvSpPr>
        <p:spPr>
          <a:xfrm>
            <a:off x="2496312" y="4146804"/>
            <a:ext cx="274320" cy="274320"/>
          </a:xfrm>
          <a:prstGeom prst="rect">
            <a:avLst/>
          </a:prstGeom>
          <a:solidFill>
            <a:srgbClr val="E5E7EB"/>
          </a:solidFill>
          <a:ln>
            <a:noFill/>
          </a:ln>
        </p:spPr>
        <p:txBody>
          <a:bodyPr rtlCol="0" anchor="ctr"/>
          <a:lstStyle/>
          <a:p>
            <a:pPr algn="ctr"/>
          </a:p>
        </p:txBody>
      </p:sp>
      <p:sp>
        <p:nvSpPr>
          <p:cNvPr id="70" name="Rectangle 69"/>
          <p:cNvSpPr/>
          <p:nvPr/>
        </p:nvSpPr>
        <p:spPr>
          <a:xfrm>
            <a:off x="2496312" y="3822192"/>
            <a:ext cx="274320" cy="274320"/>
          </a:xfrm>
          <a:prstGeom prst="rect">
            <a:avLst/>
          </a:prstGeom>
          <a:solidFill>
            <a:srgbClr val="E5E7EB"/>
          </a:solidFill>
          <a:ln>
            <a:noFill/>
          </a:ln>
        </p:spPr>
        <p:txBody>
          <a:bodyPr rtlCol="0" anchor="ctr"/>
          <a:lstStyle/>
          <a:p>
            <a:pPr algn="ctr"/>
          </a:p>
        </p:txBody>
      </p:sp>
      <p:sp>
        <p:nvSpPr>
          <p:cNvPr id="71" name="Rectangle 70"/>
          <p:cNvSpPr/>
          <p:nvPr/>
        </p:nvSpPr>
        <p:spPr>
          <a:xfrm>
            <a:off x="2496312" y="3497580"/>
            <a:ext cx="274320" cy="274320"/>
          </a:xfrm>
          <a:prstGeom prst="rect">
            <a:avLst/>
          </a:prstGeom>
          <a:solidFill>
            <a:srgbClr val="E5E7EB"/>
          </a:solidFill>
          <a:ln>
            <a:noFill/>
          </a:ln>
        </p:spPr>
        <p:txBody>
          <a:bodyPr rtlCol="0" anchor="ctr"/>
          <a:lstStyle/>
          <a:p>
            <a:pPr algn="ctr"/>
          </a:p>
        </p:txBody>
      </p:sp>
      <p:sp>
        <p:nvSpPr>
          <p:cNvPr id="72" name="Rectangle 71"/>
          <p:cNvSpPr/>
          <p:nvPr/>
        </p:nvSpPr>
        <p:spPr>
          <a:xfrm>
            <a:off x="2496312" y="3172968"/>
            <a:ext cx="274320" cy="274320"/>
          </a:xfrm>
          <a:prstGeom prst="rect">
            <a:avLst/>
          </a:prstGeom>
          <a:solidFill>
            <a:srgbClr val="E5E7EB"/>
          </a:solidFill>
          <a:ln>
            <a:noFill/>
          </a:ln>
        </p:spPr>
        <p:txBody>
          <a:bodyPr rtlCol="0" anchor="ctr"/>
          <a:lstStyle/>
          <a:p>
            <a:pPr algn="ctr"/>
          </a:p>
        </p:txBody>
      </p:sp>
      <p:sp>
        <p:nvSpPr>
          <p:cNvPr id="73" name="Rectangle 72"/>
          <p:cNvSpPr/>
          <p:nvPr/>
        </p:nvSpPr>
        <p:spPr>
          <a:xfrm>
            <a:off x="2496312" y="2848356"/>
            <a:ext cx="274320" cy="274320"/>
          </a:xfrm>
          <a:prstGeom prst="rect">
            <a:avLst/>
          </a:prstGeom>
          <a:solidFill>
            <a:srgbClr val="E5E7EB"/>
          </a:solidFill>
          <a:ln>
            <a:noFill/>
          </a:ln>
        </p:spPr>
        <p:txBody>
          <a:bodyPr rtlCol="0" anchor="ctr"/>
          <a:lstStyle/>
          <a:p>
            <a:pPr algn="ctr"/>
          </a:p>
        </p:txBody>
      </p:sp>
      <p:sp>
        <p:nvSpPr>
          <p:cNvPr id="74" name="Rectangle 73"/>
          <p:cNvSpPr/>
          <p:nvPr/>
        </p:nvSpPr>
        <p:spPr>
          <a:xfrm>
            <a:off x="2496312" y="2523744"/>
            <a:ext cx="274320" cy="274320"/>
          </a:xfrm>
          <a:prstGeom prst="rect">
            <a:avLst/>
          </a:prstGeom>
          <a:solidFill>
            <a:srgbClr val="E5E7EB"/>
          </a:solidFill>
          <a:ln>
            <a:noFill/>
          </a:ln>
        </p:spPr>
        <p:txBody>
          <a:bodyPr rtlCol="0" anchor="ctr"/>
          <a:lstStyle/>
          <a:p>
            <a:pPr algn="ctr"/>
          </a:p>
        </p:txBody>
      </p:sp>
      <p:sp>
        <p:nvSpPr>
          <p:cNvPr id="75" name="Rectangle 74"/>
          <p:cNvSpPr/>
          <p:nvPr/>
        </p:nvSpPr>
        <p:spPr>
          <a:xfrm>
            <a:off x="2496312" y="2199132"/>
            <a:ext cx="274320" cy="274320"/>
          </a:xfrm>
          <a:prstGeom prst="rect">
            <a:avLst/>
          </a:prstGeom>
          <a:solidFill>
            <a:srgbClr val="E5E7EB"/>
          </a:solidFill>
          <a:ln>
            <a:noFill/>
          </a:ln>
        </p:spPr>
        <p:txBody>
          <a:bodyPr rtlCol="0" anchor="ctr"/>
          <a:lstStyle/>
          <a:p>
            <a:pPr algn="ctr"/>
          </a:p>
        </p:txBody>
      </p:sp>
      <p:sp>
        <p:nvSpPr>
          <p:cNvPr id="76" name="Rectangle 75"/>
          <p:cNvSpPr/>
          <p:nvPr/>
        </p:nvSpPr>
        <p:spPr>
          <a:xfrm>
            <a:off x="2496312" y="1874520"/>
            <a:ext cx="274320" cy="274320"/>
          </a:xfrm>
          <a:prstGeom prst="rect">
            <a:avLst/>
          </a:prstGeom>
          <a:solidFill>
            <a:srgbClr val="E5E7EB"/>
          </a:solidFill>
          <a:ln>
            <a:noFill/>
          </a:ln>
        </p:spPr>
        <p:txBody>
          <a:bodyPr rtlCol="0" anchor="ctr"/>
          <a:lstStyle/>
          <a:p>
            <a:pPr algn="ctr"/>
          </a:p>
        </p:txBody>
      </p:sp>
      <p:sp>
        <p:nvSpPr>
          <p:cNvPr id="77" name="Rectangle 76"/>
          <p:cNvSpPr/>
          <p:nvPr/>
        </p:nvSpPr>
        <p:spPr>
          <a:xfrm>
            <a:off x="2820924" y="4796028"/>
            <a:ext cx="274320" cy="274320"/>
          </a:xfrm>
          <a:prstGeom prst="rect">
            <a:avLst/>
          </a:prstGeom>
          <a:solidFill>
            <a:srgbClr val="E5E7EB"/>
          </a:solidFill>
          <a:ln>
            <a:noFill/>
          </a:ln>
        </p:spPr>
        <p:txBody>
          <a:bodyPr rtlCol="0" anchor="ctr"/>
          <a:lstStyle/>
          <a:p>
            <a:pPr algn="ctr"/>
          </a:p>
        </p:txBody>
      </p:sp>
      <p:sp>
        <p:nvSpPr>
          <p:cNvPr id="78" name="Rectangle 77"/>
          <p:cNvSpPr/>
          <p:nvPr/>
        </p:nvSpPr>
        <p:spPr>
          <a:xfrm>
            <a:off x="2820924" y="4471416"/>
            <a:ext cx="274320" cy="274320"/>
          </a:xfrm>
          <a:prstGeom prst="rect">
            <a:avLst/>
          </a:prstGeom>
          <a:solidFill>
            <a:srgbClr val="E5E7EB"/>
          </a:solidFill>
          <a:ln>
            <a:noFill/>
          </a:ln>
        </p:spPr>
        <p:txBody>
          <a:bodyPr rtlCol="0" anchor="ctr"/>
          <a:lstStyle/>
          <a:p>
            <a:pPr algn="ctr"/>
          </a:p>
        </p:txBody>
      </p:sp>
      <p:sp>
        <p:nvSpPr>
          <p:cNvPr id="79" name="Rectangle 78"/>
          <p:cNvSpPr/>
          <p:nvPr/>
        </p:nvSpPr>
        <p:spPr>
          <a:xfrm>
            <a:off x="2820924" y="4146804"/>
            <a:ext cx="274320" cy="274320"/>
          </a:xfrm>
          <a:prstGeom prst="rect">
            <a:avLst/>
          </a:prstGeom>
          <a:solidFill>
            <a:srgbClr val="E5E7EB"/>
          </a:solidFill>
          <a:ln>
            <a:noFill/>
          </a:ln>
        </p:spPr>
        <p:txBody>
          <a:bodyPr rtlCol="0" anchor="ctr"/>
          <a:lstStyle/>
          <a:p>
            <a:pPr algn="ctr"/>
          </a:p>
        </p:txBody>
      </p:sp>
      <p:sp>
        <p:nvSpPr>
          <p:cNvPr id="80" name="Rectangle 79"/>
          <p:cNvSpPr/>
          <p:nvPr/>
        </p:nvSpPr>
        <p:spPr>
          <a:xfrm>
            <a:off x="2820924" y="3822192"/>
            <a:ext cx="274320" cy="274320"/>
          </a:xfrm>
          <a:prstGeom prst="rect">
            <a:avLst/>
          </a:prstGeom>
          <a:solidFill>
            <a:srgbClr val="E5E7EB"/>
          </a:solidFill>
          <a:ln>
            <a:noFill/>
          </a:ln>
        </p:spPr>
        <p:txBody>
          <a:bodyPr rtlCol="0" anchor="ctr"/>
          <a:lstStyle/>
          <a:p>
            <a:pPr algn="ctr"/>
          </a:p>
        </p:txBody>
      </p:sp>
      <p:sp>
        <p:nvSpPr>
          <p:cNvPr id="81" name="Rectangle 80"/>
          <p:cNvSpPr/>
          <p:nvPr/>
        </p:nvSpPr>
        <p:spPr>
          <a:xfrm>
            <a:off x="2820924" y="3497580"/>
            <a:ext cx="274320" cy="274320"/>
          </a:xfrm>
          <a:prstGeom prst="rect">
            <a:avLst/>
          </a:prstGeom>
          <a:solidFill>
            <a:srgbClr val="E5E7EB"/>
          </a:solidFill>
          <a:ln>
            <a:noFill/>
          </a:ln>
        </p:spPr>
        <p:txBody>
          <a:bodyPr rtlCol="0" anchor="ctr"/>
          <a:lstStyle/>
          <a:p>
            <a:pPr algn="ctr"/>
          </a:p>
        </p:txBody>
      </p:sp>
      <p:sp>
        <p:nvSpPr>
          <p:cNvPr id="82" name="Rectangle 81"/>
          <p:cNvSpPr/>
          <p:nvPr/>
        </p:nvSpPr>
        <p:spPr>
          <a:xfrm>
            <a:off x="2820924" y="3172968"/>
            <a:ext cx="274320" cy="274320"/>
          </a:xfrm>
          <a:prstGeom prst="rect">
            <a:avLst/>
          </a:prstGeom>
          <a:solidFill>
            <a:srgbClr val="E5E7EB"/>
          </a:solidFill>
          <a:ln>
            <a:noFill/>
          </a:ln>
        </p:spPr>
        <p:txBody>
          <a:bodyPr rtlCol="0" anchor="ctr"/>
          <a:lstStyle/>
          <a:p>
            <a:pPr algn="ctr"/>
          </a:p>
        </p:txBody>
      </p:sp>
      <p:sp>
        <p:nvSpPr>
          <p:cNvPr id="83" name="Rectangle 82"/>
          <p:cNvSpPr/>
          <p:nvPr/>
        </p:nvSpPr>
        <p:spPr>
          <a:xfrm>
            <a:off x="2820924" y="2848356"/>
            <a:ext cx="274320" cy="274320"/>
          </a:xfrm>
          <a:prstGeom prst="rect">
            <a:avLst/>
          </a:prstGeom>
          <a:solidFill>
            <a:srgbClr val="E5E7EB"/>
          </a:solidFill>
          <a:ln>
            <a:noFill/>
          </a:ln>
        </p:spPr>
        <p:txBody>
          <a:bodyPr rtlCol="0" anchor="ctr"/>
          <a:lstStyle/>
          <a:p>
            <a:pPr algn="ctr"/>
          </a:p>
        </p:txBody>
      </p:sp>
      <p:sp>
        <p:nvSpPr>
          <p:cNvPr id="84" name="Rectangle 83"/>
          <p:cNvSpPr/>
          <p:nvPr/>
        </p:nvSpPr>
        <p:spPr>
          <a:xfrm>
            <a:off x="2820924" y="2523744"/>
            <a:ext cx="274320" cy="274320"/>
          </a:xfrm>
          <a:prstGeom prst="rect">
            <a:avLst/>
          </a:prstGeom>
          <a:solidFill>
            <a:srgbClr val="E5E7EB"/>
          </a:solidFill>
          <a:ln>
            <a:noFill/>
          </a:ln>
        </p:spPr>
        <p:txBody>
          <a:bodyPr rtlCol="0" anchor="ctr"/>
          <a:lstStyle/>
          <a:p>
            <a:pPr algn="ctr"/>
          </a:p>
        </p:txBody>
      </p:sp>
      <p:sp>
        <p:nvSpPr>
          <p:cNvPr id="85" name="Rectangle 84"/>
          <p:cNvSpPr/>
          <p:nvPr/>
        </p:nvSpPr>
        <p:spPr>
          <a:xfrm>
            <a:off x="2820924" y="2199132"/>
            <a:ext cx="274320" cy="274320"/>
          </a:xfrm>
          <a:prstGeom prst="rect">
            <a:avLst/>
          </a:prstGeom>
          <a:solidFill>
            <a:srgbClr val="E5E7EB"/>
          </a:solidFill>
          <a:ln>
            <a:noFill/>
          </a:ln>
        </p:spPr>
        <p:txBody>
          <a:bodyPr rtlCol="0" anchor="ctr"/>
          <a:lstStyle/>
          <a:p>
            <a:pPr algn="ctr"/>
          </a:p>
        </p:txBody>
      </p:sp>
      <p:sp>
        <p:nvSpPr>
          <p:cNvPr id="86" name="Rectangle 85"/>
          <p:cNvSpPr/>
          <p:nvPr/>
        </p:nvSpPr>
        <p:spPr>
          <a:xfrm>
            <a:off x="2820924" y="1874520"/>
            <a:ext cx="274320" cy="274320"/>
          </a:xfrm>
          <a:prstGeom prst="rect">
            <a:avLst/>
          </a:prstGeom>
          <a:solidFill>
            <a:srgbClr val="E5E7EB"/>
          </a:solidFill>
          <a:ln>
            <a:noFill/>
          </a:ln>
        </p:spPr>
        <p:txBody>
          <a:bodyPr rtlCol="0" anchor="ctr"/>
          <a:lstStyle/>
          <a:p>
            <a:pPr algn="ctr"/>
          </a:p>
        </p:txBody>
      </p:sp>
      <p:sp>
        <p:nvSpPr>
          <p:cNvPr id="87" name="Rectangle 86"/>
          <p:cNvSpPr/>
          <p:nvPr/>
        </p:nvSpPr>
        <p:spPr>
          <a:xfrm>
            <a:off x="3145536" y="4796028"/>
            <a:ext cx="274320" cy="274320"/>
          </a:xfrm>
          <a:prstGeom prst="rect">
            <a:avLst/>
          </a:prstGeom>
          <a:solidFill>
            <a:srgbClr val="E5E7EB"/>
          </a:solidFill>
          <a:ln>
            <a:noFill/>
          </a:ln>
        </p:spPr>
        <p:txBody>
          <a:bodyPr rtlCol="0" anchor="ctr"/>
          <a:lstStyle/>
          <a:p>
            <a:pPr algn="ctr"/>
          </a:p>
        </p:txBody>
      </p:sp>
      <p:sp>
        <p:nvSpPr>
          <p:cNvPr id="88" name="Rectangle 87"/>
          <p:cNvSpPr/>
          <p:nvPr/>
        </p:nvSpPr>
        <p:spPr>
          <a:xfrm>
            <a:off x="3145536" y="4471416"/>
            <a:ext cx="274320" cy="274320"/>
          </a:xfrm>
          <a:prstGeom prst="rect">
            <a:avLst/>
          </a:prstGeom>
          <a:solidFill>
            <a:srgbClr val="E5E7EB"/>
          </a:solidFill>
          <a:ln>
            <a:noFill/>
          </a:ln>
        </p:spPr>
        <p:txBody>
          <a:bodyPr rtlCol="0" anchor="ctr"/>
          <a:lstStyle/>
          <a:p>
            <a:pPr algn="ctr"/>
          </a:p>
        </p:txBody>
      </p:sp>
      <p:sp>
        <p:nvSpPr>
          <p:cNvPr id="89" name="Rectangle 88"/>
          <p:cNvSpPr/>
          <p:nvPr/>
        </p:nvSpPr>
        <p:spPr>
          <a:xfrm>
            <a:off x="3145536" y="4146804"/>
            <a:ext cx="274320" cy="274320"/>
          </a:xfrm>
          <a:prstGeom prst="rect">
            <a:avLst/>
          </a:prstGeom>
          <a:solidFill>
            <a:srgbClr val="E5E7EB"/>
          </a:solidFill>
          <a:ln>
            <a:noFill/>
          </a:ln>
        </p:spPr>
        <p:txBody>
          <a:bodyPr rtlCol="0" anchor="ctr"/>
          <a:lstStyle/>
          <a:p>
            <a:pPr algn="ctr"/>
          </a:p>
        </p:txBody>
      </p:sp>
      <p:sp>
        <p:nvSpPr>
          <p:cNvPr id="90" name="Rectangle 89"/>
          <p:cNvSpPr/>
          <p:nvPr/>
        </p:nvSpPr>
        <p:spPr>
          <a:xfrm>
            <a:off x="3145536" y="3822192"/>
            <a:ext cx="274320" cy="274320"/>
          </a:xfrm>
          <a:prstGeom prst="rect">
            <a:avLst/>
          </a:prstGeom>
          <a:solidFill>
            <a:srgbClr val="E5E7EB"/>
          </a:solidFill>
          <a:ln>
            <a:noFill/>
          </a:ln>
        </p:spPr>
        <p:txBody>
          <a:bodyPr rtlCol="0" anchor="ctr"/>
          <a:lstStyle/>
          <a:p>
            <a:pPr algn="ctr"/>
          </a:p>
        </p:txBody>
      </p:sp>
      <p:sp>
        <p:nvSpPr>
          <p:cNvPr id="91" name="Rectangle 90"/>
          <p:cNvSpPr/>
          <p:nvPr/>
        </p:nvSpPr>
        <p:spPr>
          <a:xfrm>
            <a:off x="3145536" y="3497580"/>
            <a:ext cx="274320" cy="274320"/>
          </a:xfrm>
          <a:prstGeom prst="rect">
            <a:avLst/>
          </a:prstGeom>
          <a:solidFill>
            <a:srgbClr val="E5E7EB"/>
          </a:solidFill>
          <a:ln>
            <a:noFill/>
          </a:ln>
        </p:spPr>
        <p:txBody>
          <a:bodyPr rtlCol="0" anchor="ctr"/>
          <a:lstStyle/>
          <a:p>
            <a:pPr algn="ctr"/>
          </a:p>
        </p:txBody>
      </p:sp>
      <p:sp>
        <p:nvSpPr>
          <p:cNvPr id="92" name="Rectangle 91"/>
          <p:cNvSpPr/>
          <p:nvPr/>
        </p:nvSpPr>
        <p:spPr>
          <a:xfrm>
            <a:off x="3145536" y="3172968"/>
            <a:ext cx="274320" cy="274320"/>
          </a:xfrm>
          <a:prstGeom prst="rect">
            <a:avLst/>
          </a:prstGeom>
          <a:solidFill>
            <a:srgbClr val="E5E7EB"/>
          </a:solidFill>
          <a:ln>
            <a:noFill/>
          </a:ln>
        </p:spPr>
        <p:txBody>
          <a:bodyPr rtlCol="0" anchor="ctr"/>
          <a:lstStyle/>
          <a:p>
            <a:pPr algn="ctr"/>
          </a:p>
        </p:txBody>
      </p:sp>
      <p:sp>
        <p:nvSpPr>
          <p:cNvPr id="93" name="Rectangle 92"/>
          <p:cNvSpPr/>
          <p:nvPr/>
        </p:nvSpPr>
        <p:spPr>
          <a:xfrm>
            <a:off x="3145536" y="2848356"/>
            <a:ext cx="274320" cy="274320"/>
          </a:xfrm>
          <a:prstGeom prst="rect">
            <a:avLst/>
          </a:prstGeom>
          <a:solidFill>
            <a:srgbClr val="E5E7EB"/>
          </a:solidFill>
          <a:ln>
            <a:noFill/>
          </a:ln>
        </p:spPr>
        <p:txBody>
          <a:bodyPr rtlCol="0" anchor="ctr"/>
          <a:lstStyle/>
          <a:p>
            <a:pPr algn="ctr"/>
          </a:p>
        </p:txBody>
      </p:sp>
      <p:sp>
        <p:nvSpPr>
          <p:cNvPr id="94" name="Rectangle 93"/>
          <p:cNvSpPr/>
          <p:nvPr/>
        </p:nvSpPr>
        <p:spPr>
          <a:xfrm>
            <a:off x="3145536" y="2523744"/>
            <a:ext cx="274320" cy="274320"/>
          </a:xfrm>
          <a:prstGeom prst="rect">
            <a:avLst/>
          </a:prstGeom>
          <a:solidFill>
            <a:srgbClr val="E5E7EB"/>
          </a:solidFill>
          <a:ln>
            <a:noFill/>
          </a:ln>
        </p:spPr>
        <p:txBody>
          <a:bodyPr rtlCol="0" anchor="ctr"/>
          <a:lstStyle/>
          <a:p>
            <a:pPr algn="ctr"/>
          </a:p>
        </p:txBody>
      </p:sp>
      <p:sp>
        <p:nvSpPr>
          <p:cNvPr id="95" name="Rectangle 94"/>
          <p:cNvSpPr/>
          <p:nvPr/>
        </p:nvSpPr>
        <p:spPr>
          <a:xfrm>
            <a:off x="3145536" y="2199132"/>
            <a:ext cx="274320" cy="274320"/>
          </a:xfrm>
          <a:prstGeom prst="rect">
            <a:avLst/>
          </a:prstGeom>
          <a:solidFill>
            <a:srgbClr val="E5E7EB"/>
          </a:solidFill>
          <a:ln>
            <a:noFill/>
          </a:ln>
        </p:spPr>
        <p:txBody>
          <a:bodyPr rtlCol="0" anchor="ctr"/>
          <a:lstStyle/>
          <a:p>
            <a:pPr algn="ctr"/>
          </a:p>
        </p:txBody>
      </p:sp>
      <p:sp>
        <p:nvSpPr>
          <p:cNvPr id="96" name="Rectangle 95"/>
          <p:cNvSpPr/>
          <p:nvPr/>
        </p:nvSpPr>
        <p:spPr>
          <a:xfrm>
            <a:off x="3145536" y="1874520"/>
            <a:ext cx="274320" cy="274320"/>
          </a:xfrm>
          <a:prstGeom prst="rect">
            <a:avLst/>
          </a:prstGeom>
          <a:solidFill>
            <a:srgbClr val="E5E7EB"/>
          </a:solidFill>
          <a:ln>
            <a:noFill/>
          </a:ln>
        </p:spPr>
        <p:txBody>
          <a:bodyPr rtlCol="0" anchor="ctr"/>
          <a:lstStyle/>
          <a:p>
            <a:pPr algn="ctr"/>
          </a:p>
        </p:txBody>
      </p:sp>
      <p:sp>
        <p:nvSpPr>
          <p:cNvPr id="97" name="Rectangle 96"/>
          <p:cNvSpPr/>
          <p:nvPr/>
        </p:nvSpPr>
        <p:spPr>
          <a:xfrm>
            <a:off x="3470148" y="4796028"/>
            <a:ext cx="274320" cy="274320"/>
          </a:xfrm>
          <a:prstGeom prst="rect">
            <a:avLst/>
          </a:prstGeom>
          <a:solidFill>
            <a:srgbClr val="E5E7EB"/>
          </a:solidFill>
          <a:ln>
            <a:noFill/>
          </a:ln>
        </p:spPr>
        <p:txBody>
          <a:bodyPr rtlCol="0" anchor="ctr"/>
          <a:lstStyle/>
          <a:p>
            <a:pPr algn="ctr"/>
          </a:p>
        </p:txBody>
      </p:sp>
      <p:sp>
        <p:nvSpPr>
          <p:cNvPr id="98" name="Rectangle 97"/>
          <p:cNvSpPr/>
          <p:nvPr/>
        </p:nvSpPr>
        <p:spPr>
          <a:xfrm>
            <a:off x="3470148" y="4471416"/>
            <a:ext cx="274320" cy="274320"/>
          </a:xfrm>
          <a:prstGeom prst="rect">
            <a:avLst/>
          </a:prstGeom>
          <a:solidFill>
            <a:srgbClr val="E5E7EB"/>
          </a:solidFill>
          <a:ln>
            <a:noFill/>
          </a:ln>
        </p:spPr>
        <p:txBody>
          <a:bodyPr rtlCol="0" anchor="ctr"/>
          <a:lstStyle/>
          <a:p>
            <a:pPr algn="ctr"/>
          </a:p>
        </p:txBody>
      </p:sp>
      <p:sp>
        <p:nvSpPr>
          <p:cNvPr id="99" name="Rectangle 98"/>
          <p:cNvSpPr/>
          <p:nvPr/>
        </p:nvSpPr>
        <p:spPr>
          <a:xfrm>
            <a:off x="3470148" y="4146804"/>
            <a:ext cx="274320" cy="274320"/>
          </a:xfrm>
          <a:prstGeom prst="rect">
            <a:avLst/>
          </a:prstGeom>
          <a:solidFill>
            <a:srgbClr val="E5E7EB"/>
          </a:solidFill>
          <a:ln>
            <a:noFill/>
          </a:ln>
        </p:spPr>
        <p:txBody>
          <a:bodyPr rtlCol="0" anchor="ctr"/>
          <a:lstStyle/>
          <a:p>
            <a:pPr algn="ctr"/>
          </a:p>
        </p:txBody>
      </p:sp>
      <p:sp>
        <p:nvSpPr>
          <p:cNvPr id="100" name="Rectangle 99"/>
          <p:cNvSpPr/>
          <p:nvPr/>
        </p:nvSpPr>
        <p:spPr>
          <a:xfrm>
            <a:off x="3470148" y="3822192"/>
            <a:ext cx="274320" cy="274320"/>
          </a:xfrm>
          <a:prstGeom prst="rect">
            <a:avLst/>
          </a:prstGeom>
          <a:solidFill>
            <a:srgbClr val="E5E7EB"/>
          </a:solidFill>
          <a:ln>
            <a:noFill/>
          </a:ln>
        </p:spPr>
        <p:txBody>
          <a:bodyPr rtlCol="0" anchor="ctr"/>
          <a:lstStyle/>
          <a:p>
            <a:pPr algn="ctr"/>
          </a:p>
        </p:txBody>
      </p:sp>
      <p:sp>
        <p:nvSpPr>
          <p:cNvPr id="101" name="Rectangle 100"/>
          <p:cNvSpPr/>
          <p:nvPr/>
        </p:nvSpPr>
        <p:spPr>
          <a:xfrm>
            <a:off x="3470148" y="3497580"/>
            <a:ext cx="274320" cy="274320"/>
          </a:xfrm>
          <a:prstGeom prst="rect">
            <a:avLst/>
          </a:prstGeom>
          <a:solidFill>
            <a:srgbClr val="E5E7EB"/>
          </a:solidFill>
          <a:ln>
            <a:noFill/>
          </a:ln>
        </p:spPr>
        <p:txBody>
          <a:bodyPr rtlCol="0" anchor="ctr"/>
          <a:lstStyle/>
          <a:p>
            <a:pPr algn="ctr"/>
          </a:p>
        </p:txBody>
      </p:sp>
      <p:sp>
        <p:nvSpPr>
          <p:cNvPr id="102" name="Rectangle 101"/>
          <p:cNvSpPr/>
          <p:nvPr/>
        </p:nvSpPr>
        <p:spPr>
          <a:xfrm>
            <a:off x="3470148" y="3172968"/>
            <a:ext cx="274320" cy="274320"/>
          </a:xfrm>
          <a:prstGeom prst="rect">
            <a:avLst/>
          </a:prstGeom>
          <a:solidFill>
            <a:srgbClr val="E5E7EB"/>
          </a:solidFill>
          <a:ln>
            <a:noFill/>
          </a:ln>
        </p:spPr>
        <p:txBody>
          <a:bodyPr rtlCol="0" anchor="ctr"/>
          <a:lstStyle/>
          <a:p>
            <a:pPr algn="ctr"/>
          </a:p>
        </p:txBody>
      </p:sp>
      <p:sp>
        <p:nvSpPr>
          <p:cNvPr id="103" name="Rectangle 102"/>
          <p:cNvSpPr/>
          <p:nvPr/>
        </p:nvSpPr>
        <p:spPr>
          <a:xfrm>
            <a:off x="3470148" y="2848356"/>
            <a:ext cx="274320" cy="274320"/>
          </a:xfrm>
          <a:prstGeom prst="rect">
            <a:avLst/>
          </a:prstGeom>
          <a:solidFill>
            <a:srgbClr val="E5E7EB"/>
          </a:solidFill>
          <a:ln>
            <a:noFill/>
          </a:ln>
        </p:spPr>
        <p:txBody>
          <a:bodyPr rtlCol="0" anchor="ctr"/>
          <a:lstStyle/>
          <a:p>
            <a:pPr algn="ctr"/>
          </a:p>
        </p:txBody>
      </p:sp>
      <p:sp>
        <p:nvSpPr>
          <p:cNvPr id="104" name="Rectangle 103"/>
          <p:cNvSpPr/>
          <p:nvPr/>
        </p:nvSpPr>
        <p:spPr>
          <a:xfrm>
            <a:off x="3470148" y="2523744"/>
            <a:ext cx="274320" cy="274320"/>
          </a:xfrm>
          <a:prstGeom prst="rect">
            <a:avLst/>
          </a:prstGeom>
          <a:solidFill>
            <a:srgbClr val="E5E7EB"/>
          </a:solidFill>
          <a:ln>
            <a:noFill/>
          </a:ln>
        </p:spPr>
        <p:txBody>
          <a:bodyPr rtlCol="0" anchor="ctr"/>
          <a:lstStyle/>
          <a:p>
            <a:pPr algn="ctr"/>
          </a:p>
        </p:txBody>
      </p:sp>
      <p:sp>
        <p:nvSpPr>
          <p:cNvPr id="105" name="Rectangle 104"/>
          <p:cNvSpPr/>
          <p:nvPr/>
        </p:nvSpPr>
        <p:spPr>
          <a:xfrm>
            <a:off x="3470148" y="2199132"/>
            <a:ext cx="274320" cy="274320"/>
          </a:xfrm>
          <a:prstGeom prst="rect">
            <a:avLst/>
          </a:prstGeom>
          <a:solidFill>
            <a:srgbClr val="E5E7EB"/>
          </a:solidFill>
          <a:ln>
            <a:noFill/>
          </a:ln>
        </p:spPr>
        <p:txBody>
          <a:bodyPr rtlCol="0" anchor="ctr"/>
          <a:lstStyle/>
          <a:p>
            <a:pPr algn="ctr"/>
          </a:p>
        </p:txBody>
      </p:sp>
      <p:sp>
        <p:nvSpPr>
          <p:cNvPr id="106" name="Rectangle 105"/>
          <p:cNvSpPr/>
          <p:nvPr/>
        </p:nvSpPr>
        <p:spPr>
          <a:xfrm>
            <a:off x="3470148" y="1874520"/>
            <a:ext cx="274320" cy="274320"/>
          </a:xfrm>
          <a:prstGeom prst="rect">
            <a:avLst/>
          </a:prstGeom>
          <a:solidFill>
            <a:srgbClr val="E5E7EB"/>
          </a:solidFill>
          <a:ln>
            <a:noFill/>
          </a:ln>
        </p:spPr>
        <p:txBody>
          <a:bodyPr rtlCol="0" anchor="ctr"/>
          <a:lstStyle/>
          <a:p>
            <a:pPr algn="ctr"/>
          </a:p>
        </p:txBody>
      </p:sp>
      <p:sp>
        <p:nvSpPr>
          <p:cNvPr id="107" name="Rectangle 106"/>
          <p:cNvSpPr/>
          <p:nvPr/>
        </p:nvSpPr>
        <p:spPr>
          <a:xfrm>
            <a:off x="548640" y="5230368"/>
            <a:ext cx="155448" cy="155448"/>
          </a:xfrm>
          <a:prstGeom prst="rect">
            <a:avLst/>
          </a:prstGeom>
          <a:solidFill>
            <a:srgbClr val="573F99"/>
          </a:solidFill>
          <a:ln>
            <a:noFill/>
          </a:ln>
        </p:spPr>
        <p:txBody>
          <a:bodyPr rtlCol="0" anchor="ctr"/>
          <a:lstStyle/>
          <a:p>
            <a:pPr algn="ctr"/>
          </a:p>
        </p:txBody>
      </p:sp>
      <p:sp>
        <p:nvSpPr>
          <p:cNvPr id="108" name="TextBox 107"/>
          <p:cNvSpPr txBox="1"/>
          <p:nvPr/>
        </p:nvSpPr>
        <p:spPr>
          <a:xfrm>
            <a:off x="786384" y="5193792"/>
            <a:ext cx="3108960" cy="237744"/>
          </a:xfrm>
          <a:prstGeom prst="rect">
            <a:avLst/>
          </a:prstGeom>
          <a:noFill/>
        </p:spPr>
        <p:txBody>
          <a:bodyPr wrap="square" lIns="0" tIns="0" rIns="0" bIns="0">
            <a:spAutoFit/>
          </a:bodyPr>
          <a:lstStyle/>
          <a:p>
            <a:pPr>
              <a:lnSpc>
                <a:spcPct val="105000"/>
              </a:lnSpc>
            </a:pPr>
            <a:r>
              <a:rPr sz="1050">
                <a:solidFill>
                  <a:srgbClr val="0C1408"/>
                </a:solidFill>
                <a:latin typeface="Arial"/>
              </a:rPr>
              <a:t>34 in 100, Karandaaz estimate [1]</a:t>
            </a:r>
          </a:p>
        </p:txBody>
      </p:sp>
      <p:sp>
        <p:nvSpPr>
          <p:cNvPr id="109" name="Rectangle 108"/>
          <p:cNvSpPr/>
          <p:nvPr/>
        </p:nvSpPr>
        <p:spPr>
          <a:xfrm>
            <a:off x="548640" y="5504688"/>
            <a:ext cx="155448" cy="155448"/>
          </a:xfrm>
          <a:prstGeom prst="rect">
            <a:avLst/>
          </a:prstGeom>
          <a:solidFill>
            <a:srgbClr val="7E67C7"/>
          </a:solidFill>
          <a:ln>
            <a:noFill/>
          </a:ln>
        </p:spPr>
        <p:txBody>
          <a:bodyPr rtlCol="0" anchor="ctr"/>
          <a:lstStyle/>
          <a:p>
            <a:pPr algn="ctr"/>
          </a:p>
        </p:txBody>
      </p:sp>
      <p:sp>
        <p:nvSpPr>
          <p:cNvPr id="110" name="TextBox 109"/>
          <p:cNvSpPr txBox="1"/>
          <p:nvPr/>
        </p:nvSpPr>
        <p:spPr>
          <a:xfrm>
            <a:off x="786384" y="5468112"/>
            <a:ext cx="3291840" cy="237744"/>
          </a:xfrm>
          <a:prstGeom prst="rect">
            <a:avLst/>
          </a:prstGeom>
          <a:noFill/>
        </p:spPr>
        <p:txBody>
          <a:bodyPr wrap="square" lIns="0" tIns="0" rIns="0" bIns="0">
            <a:spAutoFit/>
          </a:bodyPr>
          <a:lstStyle/>
          <a:p>
            <a:pPr>
              <a:lnSpc>
                <a:spcPct val="105000"/>
              </a:lnSpc>
            </a:pPr>
            <a:r>
              <a:rPr sz="1050">
                <a:solidFill>
                  <a:srgbClr val="0C1408"/>
                </a:solidFill>
                <a:latin typeface="Arial"/>
              </a:rPr>
              <a:t>41 in 100 including these, Oraan estimate [1]</a:t>
            </a:r>
          </a:p>
        </p:txBody>
      </p:sp>
      <p:sp>
        <p:nvSpPr>
          <p:cNvPr id="111" name="TextBox 110"/>
          <p:cNvSpPr txBox="1"/>
          <p:nvPr/>
        </p:nvSpPr>
        <p:spPr>
          <a:xfrm>
            <a:off x="4617720" y="1572768"/>
            <a:ext cx="3284068" cy="439928"/>
          </a:xfrm>
          <a:prstGeom prst="rect">
            <a:avLst/>
          </a:prstGeom>
          <a:noFill/>
        </p:spPr>
        <p:txBody>
          <a:bodyPr wrap="square" lIns="0" tIns="0" rIns="0" bIns="0">
            <a:spAutoFit/>
          </a:bodyPr>
          <a:lstStyle/>
          <a:p>
            <a:pPr>
              <a:lnSpc>
                <a:spcPct val="100000"/>
              </a:lnSpc>
            </a:pPr>
            <a:r>
              <a:rPr sz="2600" b="1">
                <a:solidFill>
                  <a:srgbClr val="3E2B73"/>
                </a:solidFill>
                <a:latin typeface="Arial"/>
              </a:rPr>
              <a:t>About 100 million</a:t>
            </a:r>
          </a:p>
        </p:txBody>
      </p:sp>
      <p:sp>
        <p:nvSpPr>
          <p:cNvPr id="112" name="TextBox 111"/>
          <p:cNvSpPr txBox="1"/>
          <p:nvPr/>
        </p:nvSpPr>
        <p:spPr>
          <a:xfrm>
            <a:off x="4617720" y="1994408"/>
            <a:ext cx="3284068" cy="640080"/>
          </a:xfrm>
          <a:prstGeom prst="rect">
            <a:avLst/>
          </a:prstGeom>
          <a:noFill/>
        </p:spPr>
        <p:txBody>
          <a:bodyPr wrap="square" lIns="0" tIns="0" rIns="0" bIns="0">
            <a:spAutoFit/>
          </a:bodyPr>
          <a:lstStyle/>
          <a:p>
            <a:pPr>
              <a:lnSpc>
                <a:spcPct val="104000"/>
              </a:lnSpc>
            </a:pPr>
            <a:r>
              <a:rPr sz="1200">
                <a:solidFill>
                  <a:srgbClr val="0C1408"/>
                </a:solidFill>
                <a:latin typeface="Arial"/>
              </a:rPr>
              <a:t>people use committees, on the higher estimate [2]</a:t>
            </a:r>
          </a:p>
        </p:txBody>
      </p:sp>
      <p:cxnSp>
        <p:nvCxnSpPr>
          <p:cNvPr id="113" name="Connector 112"/>
          <p:cNvCxnSpPr/>
          <p:nvPr/>
        </p:nvCxnSpPr>
        <p:spPr>
          <a:xfrm>
            <a:off x="4617720" y="2898648"/>
            <a:ext cx="3284068" cy="0"/>
          </a:xfrm>
          <a:prstGeom prst="line">
            <a:avLst/>
          </a:prstGeom>
          <a:ln w="9525">
            <a:solidFill>
              <a:srgbClr val="D1D5DB"/>
            </a:solidFill>
          </a:ln>
        </p:spPr>
      </p:cxnSp>
      <p:sp>
        <p:nvSpPr>
          <p:cNvPr id="114" name="TextBox 113"/>
          <p:cNvSpPr txBox="1"/>
          <p:nvPr/>
        </p:nvSpPr>
        <p:spPr>
          <a:xfrm>
            <a:off x="8176108" y="1572768"/>
            <a:ext cx="3284068" cy="439928"/>
          </a:xfrm>
          <a:prstGeom prst="rect">
            <a:avLst/>
          </a:prstGeom>
          <a:noFill/>
        </p:spPr>
        <p:txBody>
          <a:bodyPr wrap="square" lIns="0" tIns="0" rIns="0" bIns="0">
            <a:spAutoFit/>
          </a:bodyPr>
          <a:lstStyle/>
          <a:p>
            <a:pPr>
              <a:lnSpc>
                <a:spcPct val="100000"/>
              </a:lnSpc>
            </a:pPr>
            <a:r>
              <a:rPr sz="2600" b="1">
                <a:solidFill>
                  <a:srgbClr val="3E2B73"/>
                </a:solidFill>
                <a:latin typeface="Arial"/>
              </a:rPr>
              <a:t>Rs 4 trillion</a:t>
            </a:r>
          </a:p>
        </p:txBody>
      </p:sp>
      <p:sp>
        <p:nvSpPr>
          <p:cNvPr id="115" name="TextBox 114"/>
          <p:cNvSpPr txBox="1"/>
          <p:nvPr/>
        </p:nvSpPr>
        <p:spPr>
          <a:xfrm>
            <a:off x="8176108" y="1994408"/>
            <a:ext cx="3284068" cy="640080"/>
          </a:xfrm>
          <a:prstGeom prst="rect">
            <a:avLst/>
          </a:prstGeom>
          <a:noFill/>
        </p:spPr>
        <p:txBody>
          <a:bodyPr wrap="square" lIns="0" tIns="0" rIns="0" bIns="0">
            <a:spAutoFit/>
          </a:bodyPr>
          <a:lstStyle/>
          <a:p>
            <a:pPr>
              <a:lnSpc>
                <a:spcPct val="104000"/>
              </a:lnSpc>
            </a:pPr>
            <a:r>
              <a:rPr sz="1200">
                <a:solidFill>
                  <a:srgbClr val="0C1408"/>
                </a:solidFill>
                <a:latin typeface="Arial"/>
              </a:rPr>
              <a:t>a year passes through committees, estimated [1]</a:t>
            </a:r>
          </a:p>
        </p:txBody>
      </p:sp>
      <p:cxnSp>
        <p:nvCxnSpPr>
          <p:cNvPr id="116" name="Connector 115"/>
          <p:cNvCxnSpPr/>
          <p:nvPr/>
        </p:nvCxnSpPr>
        <p:spPr>
          <a:xfrm>
            <a:off x="8176108" y="2898648"/>
            <a:ext cx="3284067" cy="0"/>
          </a:xfrm>
          <a:prstGeom prst="line">
            <a:avLst/>
          </a:prstGeom>
          <a:ln w="9525">
            <a:solidFill>
              <a:srgbClr val="D1D5DB"/>
            </a:solidFill>
          </a:ln>
        </p:spPr>
      </p:cxnSp>
      <p:sp>
        <p:nvSpPr>
          <p:cNvPr id="117" name="TextBox 116"/>
          <p:cNvSpPr txBox="1"/>
          <p:nvPr/>
        </p:nvSpPr>
        <p:spPr>
          <a:xfrm>
            <a:off x="4617720" y="3054096"/>
            <a:ext cx="3284068" cy="439928"/>
          </a:xfrm>
          <a:prstGeom prst="rect">
            <a:avLst/>
          </a:prstGeom>
          <a:noFill/>
        </p:spPr>
        <p:txBody>
          <a:bodyPr wrap="square" lIns="0" tIns="0" rIns="0" bIns="0">
            <a:spAutoFit/>
          </a:bodyPr>
          <a:lstStyle/>
          <a:p>
            <a:pPr>
              <a:lnSpc>
                <a:spcPct val="100000"/>
              </a:lnSpc>
            </a:pPr>
            <a:r>
              <a:rPr sz="2600" b="1">
                <a:solidFill>
                  <a:srgbClr val="3E2B73"/>
                </a:solidFill>
                <a:latin typeface="Arial"/>
              </a:rPr>
              <a:t>91%</a:t>
            </a:r>
          </a:p>
        </p:txBody>
      </p:sp>
      <p:sp>
        <p:nvSpPr>
          <p:cNvPr id="118" name="TextBox 117"/>
          <p:cNvSpPr txBox="1"/>
          <p:nvPr/>
        </p:nvSpPr>
        <p:spPr>
          <a:xfrm>
            <a:off x="4617720" y="3475736"/>
            <a:ext cx="3284068" cy="640080"/>
          </a:xfrm>
          <a:prstGeom prst="rect">
            <a:avLst/>
          </a:prstGeom>
          <a:noFill/>
        </p:spPr>
        <p:txBody>
          <a:bodyPr wrap="square" lIns="0" tIns="0" rIns="0" bIns="0">
            <a:spAutoFit/>
          </a:bodyPr>
          <a:lstStyle/>
          <a:p>
            <a:pPr>
              <a:lnSpc>
                <a:spcPct val="104000"/>
              </a:lnSpc>
            </a:pPr>
            <a:r>
              <a:rPr sz="1200">
                <a:solidFill>
                  <a:srgbClr val="0C1408"/>
                </a:solidFill>
                <a:latin typeface="Arial"/>
              </a:rPr>
              <a:t>of committees collect monthly [4]</a:t>
            </a:r>
          </a:p>
        </p:txBody>
      </p:sp>
      <p:cxnSp>
        <p:nvCxnSpPr>
          <p:cNvPr id="119" name="Connector 118"/>
          <p:cNvCxnSpPr/>
          <p:nvPr/>
        </p:nvCxnSpPr>
        <p:spPr>
          <a:xfrm>
            <a:off x="4617720" y="4379976"/>
            <a:ext cx="3284068" cy="0"/>
          </a:xfrm>
          <a:prstGeom prst="line">
            <a:avLst/>
          </a:prstGeom>
          <a:ln w="9525">
            <a:solidFill>
              <a:srgbClr val="D1D5DB"/>
            </a:solidFill>
          </a:ln>
        </p:spPr>
      </p:cxnSp>
      <p:sp>
        <p:nvSpPr>
          <p:cNvPr id="120" name="TextBox 119"/>
          <p:cNvSpPr txBox="1"/>
          <p:nvPr/>
        </p:nvSpPr>
        <p:spPr>
          <a:xfrm>
            <a:off x="8176108" y="3054096"/>
            <a:ext cx="3284068" cy="439928"/>
          </a:xfrm>
          <a:prstGeom prst="rect">
            <a:avLst/>
          </a:prstGeom>
          <a:noFill/>
        </p:spPr>
        <p:txBody>
          <a:bodyPr wrap="square" lIns="0" tIns="0" rIns="0" bIns="0">
            <a:spAutoFit/>
          </a:bodyPr>
          <a:lstStyle/>
          <a:p>
            <a:pPr>
              <a:lnSpc>
                <a:spcPct val="100000"/>
              </a:lnSpc>
            </a:pPr>
            <a:r>
              <a:rPr sz="2600" b="1">
                <a:solidFill>
                  <a:srgbClr val="3E2B73"/>
                </a:solidFill>
                <a:latin typeface="Arial"/>
              </a:rPr>
              <a:t>56%</a:t>
            </a:r>
          </a:p>
        </p:txBody>
      </p:sp>
      <p:sp>
        <p:nvSpPr>
          <p:cNvPr id="121" name="TextBox 120"/>
          <p:cNvSpPr txBox="1"/>
          <p:nvPr/>
        </p:nvSpPr>
        <p:spPr>
          <a:xfrm>
            <a:off x="8176108" y="3475736"/>
            <a:ext cx="3284068" cy="640080"/>
          </a:xfrm>
          <a:prstGeom prst="rect">
            <a:avLst/>
          </a:prstGeom>
          <a:noFill/>
        </p:spPr>
        <p:txBody>
          <a:bodyPr wrap="square" lIns="0" tIns="0" rIns="0" bIns="0">
            <a:spAutoFit/>
          </a:bodyPr>
          <a:lstStyle/>
          <a:p>
            <a:pPr>
              <a:lnSpc>
                <a:spcPct val="104000"/>
              </a:lnSpc>
            </a:pPr>
            <a:r>
              <a:rPr sz="1200">
                <a:solidFill>
                  <a:srgbClr val="0C1408"/>
                </a:solidFill>
                <a:latin typeface="Arial"/>
              </a:rPr>
              <a:t>of adults have a committee within 1 km of home [5]</a:t>
            </a:r>
          </a:p>
        </p:txBody>
      </p:sp>
      <p:cxnSp>
        <p:nvCxnSpPr>
          <p:cNvPr id="122" name="Connector 121"/>
          <p:cNvCxnSpPr/>
          <p:nvPr/>
        </p:nvCxnSpPr>
        <p:spPr>
          <a:xfrm>
            <a:off x="8176108" y="4379976"/>
            <a:ext cx="3284067" cy="0"/>
          </a:xfrm>
          <a:prstGeom prst="line">
            <a:avLst/>
          </a:prstGeom>
          <a:ln w="9525">
            <a:solidFill>
              <a:srgbClr val="D1D5DB"/>
            </a:solidFill>
          </a:ln>
        </p:spPr>
      </p:cxnSp>
      <p:sp>
        <p:nvSpPr>
          <p:cNvPr id="123" name="TextBox 122"/>
          <p:cNvSpPr txBox="1"/>
          <p:nvPr/>
        </p:nvSpPr>
        <p:spPr>
          <a:xfrm>
            <a:off x="4617720" y="4535424"/>
            <a:ext cx="3284068" cy="439928"/>
          </a:xfrm>
          <a:prstGeom prst="rect">
            <a:avLst/>
          </a:prstGeom>
          <a:noFill/>
        </p:spPr>
        <p:txBody>
          <a:bodyPr wrap="square" lIns="0" tIns="0" rIns="0" bIns="0">
            <a:spAutoFit/>
          </a:bodyPr>
          <a:lstStyle/>
          <a:p>
            <a:pPr>
              <a:lnSpc>
                <a:spcPct val="100000"/>
              </a:lnSpc>
            </a:pPr>
            <a:r>
              <a:rPr sz="2600" b="1">
                <a:solidFill>
                  <a:srgbClr val="3E2B73"/>
                </a:solidFill>
                <a:latin typeface="Arial"/>
              </a:rPr>
              <a:t>Rs 5000</a:t>
            </a:r>
          </a:p>
        </p:txBody>
      </p:sp>
      <p:sp>
        <p:nvSpPr>
          <p:cNvPr id="124" name="TextBox 123"/>
          <p:cNvSpPr txBox="1"/>
          <p:nvPr/>
        </p:nvSpPr>
        <p:spPr>
          <a:xfrm>
            <a:off x="4617720" y="4957064"/>
            <a:ext cx="3284068" cy="640080"/>
          </a:xfrm>
          <a:prstGeom prst="rect">
            <a:avLst/>
          </a:prstGeom>
          <a:noFill/>
        </p:spPr>
        <p:txBody>
          <a:bodyPr wrap="square" lIns="0" tIns="0" rIns="0" bIns="0">
            <a:spAutoFit/>
          </a:bodyPr>
          <a:lstStyle/>
          <a:p>
            <a:pPr>
              <a:lnSpc>
                <a:spcPct val="104000"/>
              </a:lnSpc>
            </a:pPr>
            <a:r>
              <a:rPr sz="1200">
                <a:solidFill>
                  <a:srgbClr val="0C1408"/>
                </a:solidFill>
                <a:latin typeface="Arial"/>
              </a:rPr>
              <a:t>average monthly contribution, [4]</a:t>
            </a:r>
          </a:p>
        </p:txBody>
      </p:sp>
      <p:sp>
        <p:nvSpPr>
          <p:cNvPr id="125" name="TextBox 124"/>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Karandaaz and Oraan estimates, Dawn, 12 Dec 2022    2  PICG case study on Oraan, 2024    3  Financial Inclusion Insights (FII) data in Mehmood et al. 2018    4  FII Pakistan, 2013    5  FII wave 5, 2017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Problems with Informal Committees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Losses to fraud, cash kept outside banks and no credit record</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4</a:t>
            </a:r>
          </a:p>
        </p:txBody>
      </p:sp>
      <p:sp>
        <p:nvSpPr>
          <p:cNvPr id="6" name="Rectangle 5"/>
          <p:cNvSpPr/>
          <p:nvPr/>
        </p:nvSpPr>
        <p:spPr>
          <a:xfrm>
            <a:off x="548640" y="3342132"/>
            <a:ext cx="157277" cy="157277"/>
          </a:xfrm>
          <a:prstGeom prst="rect">
            <a:avLst/>
          </a:prstGeom>
          <a:solidFill>
            <a:srgbClr val="D64545"/>
          </a:solidFill>
          <a:ln>
            <a:noFill/>
          </a:ln>
        </p:spPr>
        <p:txBody>
          <a:bodyPr rtlCol="0" anchor="ctr"/>
          <a:lstStyle/>
          <a:p>
            <a:pPr algn="ctr"/>
          </a:p>
        </p:txBody>
      </p:sp>
      <p:sp>
        <p:nvSpPr>
          <p:cNvPr id="7" name="Rectangle 6"/>
          <p:cNvSpPr/>
          <p:nvPr/>
        </p:nvSpPr>
        <p:spPr>
          <a:xfrm>
            <a:off x="548640" y="3145536"/>
            <a:ext cx="157277" cy="157277"/>
          </a:xfrm>
          <a:prstGeom prst="rect">
            <a:avLst/>
          </a:prstGeom>
          <a:solidFill>
            <a:srgbClr val="D64545"/>
          </a:solidFill>
          <a:ln>
            <a:noFill/>
          </a:ln>
        </p:spPr>
        <p:txBody>
          <a:bodyPr rtlCol="0" anchor="ctr"/>
          <a:lstStyle/>
          <a:p>
            <a:pPr algn="ctr"/>
          </a:p>
        </p:txBody>
      </p:sp>
      <p:sp>
        <p:nvSpPr>
          <p:cNvPr id="8" name="Rectangle 7"/>
          <p:cNvSpPr/>
          <p:nvPr/>
        </p:nvSpPr>
        <p:spPr>
          <a:xfrm>
            <a:off x="548640" y="2948940"/>
            <a:ext cx="157277" cy="157277"/>
          </a:xfrm>
          <a:prstGeom prst="rect">
            <a:avLst/>
          </a:prstGeom>
          <a:solidFill>
            <a:srgbClr val="D64545"/>
          </a:solidFill>
          <a:ln>
            <a:noFill/>
          </a:ln>
        </p:spPr>
        <p:txBody>
          <a:bodyPr rtlCol="0" anchor="ctr"/>
          <a:lstStyle/>
          <a:p>
            <a:pPr algn="ctr"/>
          </a:p>
        </p:txBody>
      </p:sp>
      <p:sp>
        <p:nvSpPr>
          <p:cNvPr id="9" name="Rectangle 8"/>
          <p:cNvSpPr/>
          <p:nvPr/>
        </p:nvSpPr>
        <p:spPr>
          <a:xfrm>
            <a:off x="548640" y="2752344"/>
            <a:ext cx="157277" cy="157277"/>
          </a:xfrm>
          <a:prstGeom prst="rect">
            <a:avLst/>
          </a:prstGeom>
          <a:solidFill>
            <a:srgbClr val="D64545"/>
          </a:solidFill>
          <a:ln>
            <a:noFill/>
          </a:ln>
        </p:spPr>
        <p:txBody>
          <a:bodyPr rtlCol="0" anchor="ctr"/>
          <a:lstStyle/>
          <a:p>
            <a:pPr algn="ctr"/>
          </a:p>
        </p:txBody>
      </p:sp>
      <p:sp>
        <p:nvSpPr>
          <p:cNvPr id="10" name="Rectangle 9"/>
          <p:cNvSpPr/>
          <p:nvPr/>
        </p:nvSpPr>
        <p:spPr>
          <a:xfrm>
            <a:off x="548640" y="2555748"/>
            <a:ext cx="157277" cy="157277"/>
          </a:xfrm>
          <a:prstGeom prst="rect">
            <a:avLst/>
          </a:prstGeom>
          <a:solidFill>
            <a:srgbClr val="D64545"/>
          </a:solidFill>
          <a:ln>
            <a:noFill/>
          </a:ln>
        </p:spPr>
        <p:txBody>
          <a:bodyPr rtlCol="0" anchor="ctr"/>
          <a:lstStyle/>
          <a:p>
            <a:pPr algn="ctr"/>
          </a:p>
        </p:txBody>
      </p:sp>
      <p:sp>
        <p:nvSpPr>
          <p:cNvPr id="11" name="Rectangle 10"/>
          <p:cNvSpPr/>
          <p:nvPr/>
        </p:nvSpPr>
        <p:spPr>
          <a:xfrm>
            <a:off x="548640" y="2359152"/>
            <a:ext cx="157277" cy="157277"/>
          </a:xfrm>
          <a:prstGeom prst="rect">
            <a:avLst/>
          </a:prstGeom>
          <a:solidFill>
            <a:srgbClr val="D64545"/>
          </a:solidFill>
          <a:ln>
            <a:noFill/>
          </a:ln>
        </p:spPr>
        <p:txBody>
          <a:bodyPr rtlCol="0" anchor="ctr"/>
          <a:lstStyle/>
          <a:p>
            <a:pPr algn="ctr"/>
          </a:p>
        </p:txBody>
      </p:sp>
      <p:sp>
        <p:nvSpPr>
          <p:cNvPr id="12" name="Rectangle 11"/>
          <p:cNvSpPr/>
          <p:nvPr/>
        </p:nvSpPr>
        <p:spPr>
          <a:xfrm>
            <a:off x="548640" y="2162556"/>
            <a:ext cx="157277" cy="157277"/>
          </a:xfrm>
          <a:prstGeom prst="rect">
            <a:avLst/>
          </a:prstGeom>
          <a:solidFill>
            <a:srgbClr val="D64545"/>
          </a:solidFill>
          <a:ln>
            <a:noFill/>
          </a:ln>
        </p:spPr>
        <p:txBody>
          <a:bodyPr rtlCol="0" anchor="ctr"/>
          <a:lstStyle/>
          <a:p>
            <a:pPr algn="ctr"/>
          </a:p>
        </p:txBody>
      </p:sp>
      <p:sp>
        <p:nvSpPr>
          <p:cNvPr id="13" name="Rectangle 12"/>
          <p:cNvSpPr/>
          <p:nvPr/>
        </p:nvSpPr>
        <p:spPr>
          <a:xfrm>
            <a:off x="548640" y="1965960"/>
            <a:ext cx="157277" cy="157277"/>
          </a:xfrm>
          <a:prstGeom prst="rect">
            <a:avLst/>
          </a:prstGeom>
          <a:solidFill>
            <a:srgbClr val="D64545"/>
          </a:solidFill>
          <a:ln>
            <a:noFill/>
          </a:ln>
        </p:spPr>
        <p:txBody>
          <a:bodyPr rtlCol="0" anchor="ctr"/>
          <a:lstStyle/>
          <a:p>
            <a:pPr algn="ctr"/>
          </a:p>
        </p:txBody>
      </p:sp>
      <p:sp>
        <p:nvSpPr>
          <p:cNvPr id="14" name="Rectangle 13"/>
          <p:cNvSpPr/>
          <p:nvPr/>
        </p:nvSpPr>
        <p:spPr>
          <a:xfrm>
            <a:off x="548640" y="1769364"/>
            <a:ext cx="157277" cy="157277"/>
          </a:xfrm>
          <a:prstGeom prst="rect">
            <a:avLst/>
          </a:prstGeom>
          <a:solidFill>
            <a:srgbClr val="D64545"/>
          </a:solidFill>
          <a:ln>
            <a:noFill/>
          </a:ln>
        </p:spPr>
        <p:txBody>
          <a:bodyPr rtlCol="0" anchor="ctr"/>
          <a:lstStyle/>
          <a:p>
            <a:pPr algn="ctr"/>
          </a:p>
        </p:txBody>
      </p:sp>
      <p:sp>
        <p:nvSpPr>
          <p:cNvPr id="15" name="Rectangle 14"/>
          <p:cNvSpPr/>
          <p:nvPr/>
        </p:nvSpPr>
        <p:spPr>
          <a:xfrm>
            <a:off x="548640" y="1572768"/>
            <a:ext cx="157277" cy="157277"/>
          </a:xfrm>
          <a:prstGeom prst="rect">
            <a:avLst/>
          </a:prstGeom>
          <a:solidFill>
            <a:srgbClr val="D64545"/>
          </a:solidFill>
          <a:ln>
            <a:noFill/>
          </a:ln>
        </p:spPr>
        <p:txBody>
          <a:bodyPr rtlCol="0" anchor="ctr"/>
          <a:lstStyle/>
          <a:p>
            <a:pPr algn="ctr"/>
          </a:p>
        </p:txBody>
      </p:sp>
      <p:sp>
        <p:nvSpPr>
          <p:cNvPr id="16" name="Rectangle 15"/>
          <p:cNvSpPr/>
          <p:nvPr/>
        </p:nvSpPr>
        <p:spPr>
          <a:xfrm>
            <a:off x="745236" y="3342132"/>
            <a:ext cx="157277" cy="157277"/>
          </a:xfrm>
          <a:prstGeom prst="rect">
            <a:avLst/>
          </a:prstGeom>
          <a:solidFill>
            <a:srgbClr val="D64545"/>
          </a:solidFill>
          <a:ln>
            <a:noFill/>
          </a:ln>
        </p:spPr>
        <p:txBody>
          <a:bodyPr rtlCol="0" anchor="ctr"/>
          <a:lstStyle/>
          <a:p>
            <a:pPr algn="ctr"/>
          </a:p>
        </p:txBody>
      </p:sp>
      <p:sp>
        <p:nvSpPr>
          <p:cNvPr id="17" name="Rectangle 16"/>
          <p:cNvSpPr/>
          <p:nvPr/>
        </p:nvSpPr>
        <p:spPr>
          <a:xfrm>
            <a:off x="745236" y="3145536"/>
            <a:ext cx="157277" cy="157277"/>
          </a:xfrm>
          <a:prstGeom prst="rect">
            <a:avLst/>
          </a:prstGeom>
          <a:solidFill>
            <a:srgbClr val="D64545"/>
          </a:solidFill>
          <a:ln>
            <a:noFill/>
          </a:ln>
        </p:spPr>
        <p:txBody>
          <a:bodyPr rtlCol="0" anchor="ctr"/>
          <a:lstStyle/>
          <a:p>
            <a:pPr algn="ctr"/>
          </a:p>
        </p:txBody>
      </p:sp>
      <p:sp>
        <p:nvSpPr>
          <p:cNvPr id="18" name="Rectangle 17"/>
          <p:cNvSpPr/>
          <p:nvPr/>
        </p:nvSpPr>
        <p:spPr>
          <a:xfrm>
            <a:off x="745236" y="2948940"/>
            <a:ext cx="157277" cy="157277"/>
          </a:xfrm>
          <a:prstGeom prst="rect">
            <a:avLst/>
          </a:prstGeom>
          <a:solidFill>
            <a:srgbClr val="E5E7EB"/>
          </a:solidFill>
          <a:ln>
            <a:noFill/>
          </a:ln>
        </p:spPr>
        <p:txBody>
          <a:bodyPr rtlCol="0" anchor="ctr"/>
          <a:lstStyle/>
          <a:p>
            <a:pPr algn="ctr"/>
          </a:p>
        </p:txBody>
      </p:sp>
      <p:sp>
        <p:nvSpPr>
          <p:cNvPr id="19" name="Rectangle 18"/>
          <p:cNvSpPr/>
          <p:nvPr/>
        </p:nvSpPr>
        <p:spPr>
          <a:xfrm>
            <a:off x="745236" y="2752344"/>
            <a:ext cx="157277" cy="157277"/>
          </a:xfrm>
          <a:prstGeom prst="rect">
            <a:avLst/>
          </a:prstGeom>
          <a:solidFill>
            <a:srgbClr val="E5E7EB"/>
          </a:solidFill>
          <a:ln>
            <a:noFill/>
          </a:ln>
        </p:spPr>
        <p:txBody>
          <a:bodyPr rtlCol="0" anchor="ctr"/>
          <a:lstStyle/>
          <a:p>
            <a:pPr algn="ctr"/>
          </a:p>
        </p:txBody>
      </p:sp>
      <p:sp>
        <p:nvSpPr>
          <p:cNvPr id="20" name="Rectangle 19"/>
          <p:cNvSpPr/>
          <p:nvPr/>
        </p:nvSpPr>
        <p:spPr>
          <a:xfrm>
            <a:off x="745236" y="2555748"/>
            <a:ext cx="157277" cy="157277"/>
          </a:xfrm>
          <a:prstGeom prst="rect">
            <a:avLst/>
          </a:prstGeom>
          <a:solidFill>
            <a:srgbClr val="E5E7EB"/>
          </a:solidFill>
          <a:ln>
            <a:noFill/>
          </a:ln>
        </p:spPr>
        <p:txBody>
          <a:bodyPr rtlCol="0" anchor="ctr"/>
          <a:lstStyle/>
          <a:p>
            <a:pPr algn="ctr"/>
          </a:p>
        </p:txBody>
      </p:sp>
      <p:sp>
        <p:nvSpPr>
          <p:cNvPr id="21" name="Rectangle 20"/>
          <p:cNvSpPr/>
          <p:nvPr/>
        </p:nvSpPr>
        <p:spPr>
          <a:xfrm>
            <a:off x="745236" y="2359152"/>
            <a:ext cx="157277" cy="157277"/>
          </a:xfrm>
          <a:prstGeom prst="rect">
            <a:avLst/>
          </a:prstGeom>
          <a:solidFill>
            <a:srgbClr val="E5E7EB"/>
          </a:solidFill>
          <a:ln>
            <a:noFill/>
          </a:ln>
        </p:spPr>
        <p:txBody>
          <a:bodyPr rtlCol="0" anchor="ctr"/>
          <a:lstStyle/>
          <a:p>
            <a:pPr algn="ctr"/>
          </a:p>
        </p:txBody>
      </p:sp>
      <p:sp>
        <p:nvSpPr>
          <p:cNvPr id="22" name="Rectangle 21"/>
          <p:cNvSpPr/>
          <p:nvPr/>
        </p:nvSpPr>
        <p:spPr>
          <a:xfrm>
            <a:off x="745236" y="2162556"/>
            <a:ext cx="157277" cy="157277"/>
          </a:xfrm>
          <a:prstGeom prst="rect">
            <a:avLst/>
          </a:prstGeom>
          <a:solidFill>
            <a:srgbClr val="E5E7EB"/>
          </a:solidFill>
          <a:ln>
            <a:noFill/>
          </a:ln>
        </p:spPr>
        <p:txBody>
          <a:bodyPr rtlCol="0" anchor="ctr"/>
          <a:lstStyle/>
          <a:p>
            <a:pPr algn="ctr"/>
          </a:p>
        </p:txBody>
      </p:sp>
      <p:sp>
        <p:nvSpPr>
          <p:cNvPr id="23" name="Rectangle 22"/>
          <p:cNvSpPr/>
          <p:nvPr/>
        </p:nvSpPr>
        <p:spPr>
          <a:xfrm>
            <a:off x="745236" y="1965960"/>
            <a:ext cx="157277" cy="157277"/>
          </a:xfrm>
          <a:prstGeom prst="rect">
            <a:avLst/>
          </a:prstGeom>
          <a:solidFill>
            <a:srgbClr val="E5E7EB"/>
          </a:solidFill>
          <a:ln>
            <a:noFill/>
          </a:ln>
        </p:spPr>
        <p:txBody>
          <a:bodyPr rtlCol="0" anchor="ctr"/>
          <a:lstStyle/>
          <a:p>
            <a:pPr algn="ctr"/>
          </a:p>
        </p:txBody>
      </p:sp>
      <p:sp>
        <p:nvSpPr>
          <p:cNvPr id="24" name="Rectangle 23"/>
          <p:cNvSpPr/>
          <p:nvPr/>
        </p:nvSpPr>
        <p:spPr>
          <a:xfrm>
            <a:off x="745236" y="1769364"/>
            <a:ext cx="157277" cy="157277"/>
          </a:xfrm>
          <a:prstGeom prst="rect">
            <a:avLst/>
          </a:prstGeom>
          <a:solidFill>
            <a:srgbClr val="E5E7EB"/>
          </a:solidFill>
          <a:ln>
            <a:noFill/>
          </a:ln>
        </p:spPr>
        <p:txBody>
          <a:bodyPr rtlCol="0" anchor="ctr"/>
          <a:lstStyle/>
          <a:p>
            <a:pPr algn="ctr"/>
          </a:p>
        </p:txBody>
      </p:sp>
      <p:sp>
        <p:nvSpPr>
          <p:cNvPr id="25" name="Rectangle 24"/>
          <p:cNvSpPr/>
          <p:nvPr/>
        </p:nvSpPr>
        <p:spPr>
          <a:xfrm>
            <a:off x="745236" y="1572768"/>
            <a:ext cx="157277" cy="157277"/>
          </a:xfrm>
          <a:prstGeom prst="rect">
            <a:avLst/>
          </a:prstGeom>
          <a:solidFill>
            <a:srgbClr val="E5E7EB"/>
          </a:solidFill>
          <a:ln>
            <a:noFill/>
          </a:ln>
        </p:spPr>
        <p:txBody>
          <a:bodyPr rtlCol="0" anchor="ctr"/>
          <a:lstStyle/>
          <a:p>
            <a:pPr algn="ctr"/>
          </a:p>
        </p:txBody>
      </p:sp>
      <p:sp>
        <p:nvSpPr>
          <p:cNvPr id="26" name="Rectangle 25"/>
          <p:cNvSpPr/>
          <p:nvPr/>
        </p:nvSpPr>
        <p:spPr>
          <a:xfrm>
            <a:off x="941832" y="3342132"/>
            <a:ext cx="157277" cy="157277"/>
          </a:xfrm>
          <a:prstGeom prst="rect">
            <a:avLst/>
          </a:prstGeom>
          <a:solidFill>
            <a:srgbClr val="E5E7EB"/>
          </a:solidFill>
          <a:ln>
            <a:noFill/>
          </a:ln>
        </p:spPr>
        <p:txBody>
          <a:bodyPr rtlCol="0" anchor="ctr"/>
          <a:lstStyle/>
          <a:p>
            <a:pPr algn="ctr"/>
          </a:p>
        </p:txBody>
      </p:sp>
      <p:sp>
        <p:nvSpPr>
          <p:cNvPr id="27" name="Rectangle 26"/>
          <p:cNvSpPr/>
          <p:nvPr/>
        </p:nvSpPr>
        <p:spPr>
          <a:xfrm>
            <a:off x="941832" y="3145536"/>
            <a:ext cx="157277" cy="157277"/>
          </a:xfrm>
          <a:prstGeom prst="rect">
            <a:avLst/>
          </a:prstGeom>
          <a:solidFill>
            <a:srgbClr val="E5E7EB"/>
          </a:solidFill>
          <a:ln>
            <a:noFill/>
          </a:ln>
        </p:spPr>
        <p:txBody>
          <a:bodyPr rtlCol="0" anchor="ctr"/>
          <a:lstStyle/>
          <a:p>
            <a:pPr algn="ctr"/>
          </a:p>
        </p:txBody>
      </p:sp>
      <p:sp>
        <p:nvSpPr>
          <p:cNvPr id="28" name="Rectangle 27"/>
          <p:cNvSpPr/>
          <p:nvPr/>
        </p:nvSpPr>
        <p:spPr>
          <a:xfrm>
            <a:off x="941832" y="2948940"/>
            <a:ext cx="157277" cy="157277"/>
          </a:xfrm>
          <a:prstGeom prst="rect">
            <a:avLst/>
          </a:prstGeom>
          <a:solidFill>
            <a:srgbClr val="E5E7EB"/>
          </a:solidFill>
          <a:ln>
            <a:noFill/>
          </a:ln>
        </p:spPr>
        <p:txBody>
          <a:bodyPr rtlCol="0" anchor="ctr"/>
          <a:lstStyle/>
          <a:p>
            <a:pPr algn="ctr"/>
          </a:p>
        </p:txBody>
      </p:sp>
      <p:sp>
        <p:nvSpPr>
          <p:cNvPr id="29" name="Rectangle 28"/>
          <p:cNvSpPr/>
          <p:nvPr/>
        </p:nvSpPr>
        <p:spPr>
          <a:xfrm>
            <a:off x="941832" y="2752344"/>
            <a:ext cx="157277" cy="157277"/>
          </a:xfrm>
          <a:prstGeom prst="rect">
            <a:avLst/>
          </a:prstGeom>
          <a:solidFill>
            <a:srgbClr val="E5E7EB"/>
          </a:solidFill>
          <a:ln>
            <a:noFill/>
          </a:ln>
        </p:spPr>
        <p:txBody>
          <a:bodyPr rtlCol="0" anchor="ctr"/>
          <a:lstStyle/>
          <a:p>
            <a:pPr algn="ctr"/>
          </a:p>
        </p:txBody>
      </p:sp>
      <p:sp>
        <p:nvSpPr>
          <p:cNvPr id="30" name="Rectangle 29"/>
          <p:cNvSpPr/>
          <p:nvPr/>
        </p:nvSpPr>
        <p:spPr>
          <a:xfrm>
            <a:off x="941832" y="2555748"/>
            <a:ext cx="157277" cy="157277"/>
          </a:xfrm>
          <a:prstGeom prst="rect">
            <a:avLst/>
          </a:prstGeom>
          <a:solidFill>
            <a:srgbClr val="E5E7EB"/>
          </a:solidFill>
          <a:ln>
            <a:noFill/>
          </a:ln>
        </p:spPr>
        <p:txBody>
          <a:bodyPr rtlCol="0" anchor="ctr"/>
          <a:lstStyle/>
          <a:p>
            <a:pPr algn="ctr"/>
          </a:p>
        </p:txBody>
      </p:sp>
      <p:sp>
        <p:nvSpPr>
          <p:cNvPr id="31" name="Rectangle 30"/>
          <p:cNvSpPr/>
          <p:nvPr/>
        </p:nvSpPr>
        <p:spPr>
          <a:xfrm>
            <a:off x="941832" y="2359152"/>
            <a:ext cx="157277" cy="157277"/>
          </a:xfrm>
          <a:prstGeom prst="rect">
            <a:avLst/>
          </a:prstGeom>
          <a:solidFill>
            <a:srgbClr val="E5E7EB"/>
          </a:solidFill>
          <a:ln>
            <a:noFill/>
          </a:ln>
        </p:spPr>
        <p:txBody>
          <a:bodyPr rtlCol="0" anchor="ctr"/>
          <a:lstStyle/>
          <a:p>
            <a:pPr algn="ctr"/>
          </a:p>
        </p:txBody>
      </p:sp>
      <p:sp>
        <p:nvSpPr>
          <p:cNvPr id="32" name="Rectangle 31"/>
          <p:cNvSpPr/>
          <p:nvPr/>
        </p:nvSpPr>
        <p:spPr>
          <a:xfrm>
            <a:off x="941832" y="2162556"/>
            <a:ext cx="157277" cy="157277"/>
          </a:xfrm>
          <a:prstGeom prst="rect">
            <a:avLst/>
          </a:prstGeom>
          <a:solidFill>
            <a:srgbClr val="E5E7EB"/>
          </a:solidFill>
          <a:ln>
            <a:noFill/>
          </a:ln>
        </p:spPr>
        <p:txBody>
          <a:bodyPr rtlCol="0" anchor="ctr"/>
          <a:lstStyle/>
          <a:p>
            <a:pPr algn="ctr"/>
          </a:p>
        </p:txBody>
      </p:sp>
      <p:sp>
        <p:nvSpPr>
          <p:cNvPr id="33" name="Rectangle 32"/>
          <p:cNvSpPr/>
          <p:nvPr/>
        </p:nvSpPr>
        <p:spPr>
          <a:xfrm>
            <a:off x="941832" y="1965960"/>
            <a:ext cx="157277" cy="157277"/>
          </a:xfrm>
          <a:prstGeom prst="rect">
            <a:avLst/>
          </a:prstGeom>
          <a:solidFill>
            <a:srgbClr val="E5E7EB"/>
          </a:solidFill>
          <a:ln>
            <a:noFill/>
          </a:ln>
        </p:spPr>
        <p:txBody>
          <a:bodyPr rtlCol="0" anchor="ctr"/>
          <a:lstStyle/>
          <a:p>
            <a:pPr algn="ctr"/>
          </a:p>
        </p:txBody>
      </p:sp>
      <p:sp>
        <p:nvSpPr>
          <p:cNvPr id="34" name="Rectangle 33"/>
          <p:cNvSpPr/>
          <p:nvPr/>
        </p:nvSpPr>
        <p:spPr>
          <a:xfrm>
            <a:off x="941832" y="1769364"/>
            <a:ext cx="157277" cy="157277"/>
          </a:xfrm>
          <a:prstGeom prst="rect">
            <a:avLst/>
          </a:prstGeom>
          <a:solidFill>
            <a:srgbClr val="E5E7EB"/>
          </a:solidFill>
          <a:ln>
            <a:noFill/>
          </a:ln>
        </p:spPr>
        <p:txBody>
          <a:bodyPr rtlCol="0" anchor="ctr"/>
          <a:lstStyle/>
          <a:p>
            <a:pPr algn="ctr"/>
          </a:p>
        </p:txBody>
      </p:sp>
      <p:sp>
        <p:nvSpPr>
          <p:cNvPr id="35" name="Rectangle 34"/>
          <p:cNvSpPr/>
          <p:nvPr/>
        </p:nvSpPr>
        <p:spPr>
          <a:xfrm>
            <a:off x="941832" y="1572768"/>
            <a:ext cx="157277" cy="157277"/>
          </a:xfrm>
          <a:prstGeom prst="rect">
            <a:avLst/>
          </a:prstGeom>
          <a:solidFill>
            <a:srgbClr val="E5E7EB"/>
          </a:solidFill>
          <a:ln>
            <a:noFill/>
          </a:ln>
        </p:spPr>
        <p:txBody>
          <a:bodyPr rtlCol="0" anchor="ctr"/>
          <a:lstStyle/>
          <a:p>
            <a:pPr algn="ctr"/>
          </a:p>
        </p:txBody>
      </p:sp>
      <p:sp>
        <p:nvSpPr>
          <p:cNvPr id="36" name="Rectangle 35"/>
          <p:cNvSpPr/>
          <p:nvPr/>
        </p:nvSpPr>
        <p:spPr>
          <a:xfrm>
            <a:off x="1138428" y="3342132"/>
            <a:ext cx="157277" cy="157277"/>
          </a:xfrm>
          <a:prstGeom prst="rect">
            <a:avLst/>
          </a:prstGeom>
          <a:solidFill>
            <a:srgbClr val="E5E7EB"/>
          </a:solidFill>
          <a:ln>
            <a:noFill/>
          </a:ln>
        </p:spPr>
        <p:txBody>
          <a:bodyPr rtlCol="0" anchor="ctr"/>
          <a:lstStyle/>
          <a:p>
            <a:pPr algn="ctr"/>
          </a:p>
        </p:txBody>
      </p:sp>
      <p:sp>
        <p:nvSpPr>
          <p:cNvPr id="37" name="Rectangle 36"/>
          <p:cNvSpPr/>
          <p:nvPr/>
        </p:nvSpPr>
        <p:spPr>
          <a:xfrm>
            <a:off x="1138428" y="3145536"/>
            <a:ext cx="157277" cy="157277"/>
          </a:xfrm>
          <a:prstGeom prst="rect">
            <a:avLst/>
          </a:prstGeom>
          <a:solidFill>
            <a:srgbClr val="E5E7EB"/>
          </a:solidFill>
          <a:ln>
            <a:noFill/>
          </a:ln>
        </p:spPr>
        <p:txBody>
          <a:bodyPr rtlCol="0" anchor="ctr"/>
          <a:lstStyle/>
          <a:p>
            <a:pPr algn="ctr"/>
          </a:p>
        </p:txBody>
      </p:sp>
      <p:sp>
        <p:nvSpPr>
          <p:cNvPr id="38" name="Rectangle 37"/>
          <p:cNvSpPr/>
          <p:nvPr/>
        </p:nvSpPr>
        <p:spPr>
          <a:xfrm>
            <a:off x="1138428" y="2948940"/>
            <a:ext cx="157277" cy="157277"/>
          </a:xfrm>
          <a:prstGeom prst="rect">
            <a:avLst/>
          </a:prstGeom>
          <a:solidFill>
            <a:srgbClr val="E5E7EB"/>
          </a:solidFill>
          <a:ln>
            <a:noFill/>
          </a:ln>
        </p:spPr>
        <p:txBody>
          <a:bodyPr rtlCol="0" anchor="ctr"/>
          <a:lstStyle/>
          <a:p>
            <a:pPr algn="ctr"/>
          </a:p>
        </p:txBody>
      </p:sp>
      <p:sp>
        <p:nvSpPr>
          <p:cNvPr id="39" name="Rectangle 38"/>
          <p:cNvSpPr/>
          <p:nvPr/>
        </p:nvSpPr>
        <p:spPr>
          <a:xfrm>
            <a:off x="1138428" y="2752344"/>
            <a:ext cx="157277" cy="157277"/>
          </a:xfrm>
          <a:prstGeom prst="rect">
            <a:avLst/>
          </a:prstGeom>
          <a:solidFill>
            <a:srgbClr val="E5E7EB"/>
          </a:solidFill>
          <a:ln>
            <a:noFill/>
          </a:ln>
        </p:spPr>
        <p:txBody>
          <a:bodyPr rtlCol="0" anchor="ctr"/>
          <a:lstStyle/>
          <a:p>
            <a:pPr algn="ctr"/>
          </a:p>
        </p:txBody>
      </p:sp>
      <p:sp>
        <p:nvSpPr>
          <p:cNvPr id="40" name="Rectangle 39"/>
          <p:cNvSpPr/>
          <p:nvPr/>
        </p:nvSpPr>
        <p:spPr>
          <a:xfrm>
            <a:off x="1138428" y="2555748"/>
            <a:ext cx="157277" cy="157277"/>
          </a:xfrm>
          <a:prstGeom prst="rect">
            <a:avLst/>
          </a:prstGeom>
          <a:solidFill>
            <a:srgbClr val="E5E7EB"/>
          </a:solidFill>
          <a:ln>
            <a:noFill/>
          </a:ln>
        </p:spPr>
        <p:txBody>
          <a:bodyPr rtlCol="0" anchor="ctr"/>
          <a:lstStyle/>
          <a:p>
            <a:pPr algn="ctr"/>
          </a:p>
        </p:txBody>
      </p:sp>
      <p:sp>
        <p:nvSpPr>
          <p:cNvPr id="41" name="Rectangle 40"/>
          <p:cNvSpPr/>
          <p:nvPr/>
        </p:nvSpPr>
        <p:spPr>
          <a:xfrm>
            <a:off x="1138428" y="2359152"/>
            <a:ext cx="157277" cy="157277"/>
          </a:xfrm>
          <a:prstGeom prst="rect">
            <a:avLst/>
          </a:prstGeom>
          <a:solidFill>
            <a:srgbClr val="E5E7EB"/>
          </a:solidFill>
          <a:ln>
            <a:noFill/>
          </a:ln>
        </p:spPr>
        <p:txBody>
          <a:bodyPr rtlCol="0" anchor="ctr"/>
          <a:lstStyle/>
          <a:p>
            <a:pPr algn="ctr"/>
          </a:p>
        </p:txBody>
      </p:sp>
      <p:sp>
        <p:nvSpPr>
          <p:cNvPr id="42" name="Rectangle 41"/>
          <p:cNvSpPr/>
          <p:nvPr/>
        </p:nvSpPr>
        <p:spPr>
          <a:xfrm>
            <a:off x="1138428" y="2162556"/>
            <a:ext cx="157277" cy="157277"/>
          </a:xfrm>
          <a:prstGeom prst="rect">
            <a:avLst/>
          </a:prstGeom>
          <a:solidFill>
            <a:srgbClr val="E5E7EB"/>
          </a:solidFill>
          <a:ln>
            <a:noFill/>
          </a:ln>
        </p:spPr>
        <p:txBody>
          <a:bodyPr rtlCol="0" anchor="ctr"/>
          <a:lstStyle/>
          <a:p>
            <a:pPr algn="ctr"/>
          </a:p>
        </p:txBody>
      </p:sp>
      <p:sp>
        <p:nvSpPr>
          <p:cNvPr id="43" name="Rectangle 42"/>
          <p:cNvSpPr/>
          <p:nvPr/>
        </p:nvSpPr>
        <p:spPr>
          <a:xfrm>
            <a:off x="1138428" y="1965960"/>
            <a:ext cx="157277" cy="157277"/>
          </a:xfrm>
          <a:prstGeom prst="rect">
            <a:avLst/>
          </a:prstGeom>
          <a:solidFill>
            <a:srgbClr val="E5E7EB"/>
          </a:solidFill>
          <a:ln>
            <a:noFill/>
          </a:ln>
        </p:spPr>
        <p:txBody>
          <a:bodyPr rtlCol="0" anchor="ctr"/>
          <a:lstStyle/>
          <a:p>
            <a:pPr algn="ctr"/>
          </a:p>
        </p:txBody>
      </p:sp>
      <p:sp>
        <p:nvSpPr>
          <p:cNvPr id="44" name="Rectangle 43"/>
          <p:cNvSpPr/>
          <p:nvPr/>
        </p:nvSpPr>
        <p:spPr>
          <a:xfrm>
            <a:off x="1138428" y="1769364"/>
            <a:ext cx="157277" cy="157277"/>
          </a:xfrm>
          <a:prstGeom prst="rect">
            <a:avLst/>
          </a:prstGeom>
          <a:solidFill>
            <a:srgbClr val="E5E7EB"/>
          </a:solidFill>
          <a:ln>
            <a:noFill/>
          </a:ln>
        </p:spPr>
        <p:txBody>
          <a:bodyPr rtlCol="0" anchor="ctr"/>
          <a:lstStyle/>
          <a:p>
            <a:pPr algn="ctr"/>
          </a:p>
        </p:txBody>
      </p:sp>
      <p:sp>
        <p:nvSpPr>
          <p:cNvPr id="45" name="Rectangle 44"/>
          <p:cNvSpPr/>
          <p:nvPr/>
        </p:nvSpPr>
        <p:spPr>
          <a:xfrm>
            <a:off x="1138428" y="1572768"/>
            <a:ext cx="157277" cy="157277"/>
          </a:xfrm>
          <a:prstGeom prst="rect">
            <a:avLst/>
          </a:prstGeom>
          <a:solidFill>
            <a:srgbClr val="E5E7EB"/>
          </a:solidFill>
          <a:ln>
            <a:noFill/>
          </a:ln>
        </p:spPr>
        <p:txBody>
          <a:bodyPr rtlCol="0" anchor="ctr"/>
          <a:lstStyle/>
          <a:p>
            <a:pPr algn="ctr"/>
          </a:p>
        </p:txBody>
      </p:sp>
      <p:sp>
        <p:nvSpPr>
          <p:cNvPr id="46" name="Rectangle 45"/>
          <p:cNvSpPr/>
          <p:nvPr/>
        </p:nvSpPr>
        <p:spPr>
          <a:xfrm>
            <a:off x="1335024" y="3342132"/>
            <a:ext cx="157277" cy="157277"/>
          </a:xfrm>
          <a:prstGeom prst="rect">
            <a:avLst/>
          </a:prstGeom>
          <a:solidFill>
            <a:srgbClr val="E5E7EB"/>
          </a:solidFill>
          <a:ln>
            <a:noFill/>
          </a:ln>
        </p:spPr>
        <p:txBody>
          <a:bodyPr rtlCol="0" anchor="ctr"/>
          <a:lstStyle/>
          <a:p>
            <a:pPr algn="ctr"/>
          </a:p>
        </p:txBody>
      </p:sp>
      <p:sp>
        <p:nvSpPr>
          <p:cNvPr id="47" name="Rectangle 46"/>
          <p:cNvSpPr/>
          <p:nvPr/>
        </p:nvSpPr>
        <p:spPr>
          <a:xfrm>
            <a:off x="1335024" y="3145536"/>
            <a:ext cx="157277" cy="157277"/>
          </a:xfrm>
          <a:prstGeom prst="rect">
            <a:avLst/>
          </a:prstGeom>
          <a:solidFill>
            <a:srgbClr val="E5E7EB"/>
          </a:solidFill>
          <a:ln>
            <a:noFill/>
          </a:ln>
        </p:spPr>
        <p:txBody>
          <a:bodyPr rtlCol="0" anchor="ctr"/>
          <a:lstStyle/>
          <a:p>
            <a:pPr algn="ctr"/>
          </a:p>
        </p:txBody>
      </p:sp>
      <p:sp>
        <p:nvSpPr>
          <p:cNvPr id="48" name="Rectangle 47"/>
          <p:cNvSpPr/>
          <p:nvPr/>
        </p:nvSpPr>
        <p:spPr>
          <a:xfrm>
            <a:off x="1335024" y="2948940"/>
            <a:ext cx="157277" cy="157277"/>
          </a:xfrm>
          <a:prstGeom prst="rect">
            <a:avLst/>
          </a:prstGeom>
          <a:solidFill>
            <a:srgbClr val="E5E7EB"/>
          </a:solidFill>
          <a:ln>
            <a:noFill/>
          </a:ln>
        </p:spPr>
        <p:txBody>
          <a:bodyPr rtlCol="0" anchor="ctr"/>
          <a:lstStyle/>
          <a:p>
            <a:pPr algn="ctr"/>
          </a:p>
        </p:txBody>
      </p:sp>
      <p:sp>
        <p:nvSpPr>
          <p:cNvPr id="49" name="Rectangle 48"/>
          <p:cNvSpPr/>
          <p:nvPr/>
        </p:nvSpPr>
        <p:spPr>
          <a:xfrm>
            <a:off x="1335024" y="2752344"/>
            <a:ext cx="157277" cy="157277"/>
          </a:xfrm>
          <a:prstGeom prst="rect">
            <a:avLst/>
          </a:prstGeom>
          <a:solidFill>
            <a:srgbClr val="E5E7EB"/>
          </a:solidFill>
          <a:ln>
            <a:noFill/>
          </a:ln>
        </p:spPr>
        <p:txBody>
          <a:bodyPr rtlCol="0" anchor="ctr"/>
          <a:lstStyle/>
          <a:p>
            <a:pPr algn="ctr"/>
          </a:p>
        </p:txBody>
      </p:sp>
      <p:sp>
        <p:nvSpPr>
          <p:cNvPr id="50" name="Rectangle 49"/>
          <p:cNvSpPr/>
          <p:nvPr/>
        </p:nvSpPr>
        <p:spPr>
          <a:xfrm>
            <a:off x="1335024" y="2555748"/>
            <a:ext cx="157277" cy="157277"/>
          </a:xfrm>
          <a:prstGeom prst="rect">
            <a:avLst/>
          </a:prstGeom>
          <a:solidFill>
            <a:srgbClr val="E5E7EB"/>
          </a:solidFill>
          <a:ln>
            <a:noFill/>
          </a:ln>
        </p:spPr>
        <p:txBody>
          <a:bodyPr rtlCol="0" anchor="ctr"/>
          <a:lstStyle/>
          <a:p>
            <a:pPr algn="ctr"/>
          </a:p>
        </p:txBody>
      </p:sp>
      <p:sp>
        <p:nvSpPr>
          <p:cNvPr id="51" name="Rectangle 50"/>
          <p:cNvSpPr/>
          <p:nvPr/>
        </p:nvSpPr>
        <p:spPr>
          <a:xfrm>
            <a:off x="1335024" y="2359152"/>
            <a:ext cx="157277" cy="157277"/>
          </a:xfrm>
          <a:prstGeom prst="rect">
            <a:avLst/>
          </a:prstGeom>
          <a:solidFill>
            <a:srgbClr val="E5E7EB"/>
          </a:solidFill>
          <a:ln>
            <a:noFill/>
          </a:ln>
        </p:spPr>
        <p:txBody>
          <a:bodyPr rtlCol="0" anchor="ctr"/>
          <a:lstStyle/>
          <a:p>
            <a:pPr algn="ctr"/>
          </a:p>
        </p:txBody>
      </p:sp>
      <p:sp>
        <p:nvSpPr>
          <p:cNvPr id="52" name="Rectangle 51"/>
          <p:cNvSpPr/>
          <p:nvPr/>
        </p:nvSpPr>
        <p:spPr>
          <a:xfrm>
            <a:off x="1335024" y="2162556"/>
            <a:ext cx="157277" cy="157277"/>
          </a:xfrm>
          <a:prstGeom prst="rect">
            <a:avLst/>
          </a:prstGeom>
          <a:solidFill>
            <a:srgbClr val="E5E7EB"/>
          </a:solidFill>
          <a:ln>
            <a:noFill/>
          </a:ln>
        </p:spPr>
        <p:txBody>
          <a:bodyPr rtlCol="0" anchor="ctr"/>
          <a:lstStyle/>
          <a:p>
            <a:pPr algn="ctr"/>
          </a:p>
        </p:txBody>
      </p:sp>
      <p:sp>
        <p:nvSpPr>
          <p:cNvPr id="53" name="Rectangle 52"/>
          <p:cNvSpPr/>
          <p:nvPr/>
        </p:nvSpPr>
        <p:spPr>
          <a:xfrm>
            <a:off x="1335024" y="1965960"/>
            <a:ext cx="157277" cy="157277"/>
          </a:xfrm>
          <a:prstGeom prst="rect">
            <a:avLst/>
          </a:prstGeom>
          <a:solidFill>
            <a:srgbClr val="E5E7EB"/>
          </a:solidFill>
          <a:ln>
            <a:noFill/>
          </a:ln>
        </p:spPr>
        <p:txBody>
          <a:bodyPr rtlCol="0" anchor="ctr"/>
          <a:lstStyle/>
          <a:p>
            <a:pPr algn="ctr"/>
          </a:p>
        </p:txBody>
      </p:sp>
      <p:sp>
        <p:nvSpPr>
          <p:cNvPr id="54" name="Rectangle 53"/>
          <p:cNvSpPr/>
          <p:nvPr/>
        </p:nvSpPr>
        <p:spPr>
          <a:xfrm>
            <a:off x="1335024" y="1769364"/>
            <a:ext cx="157277" cy="157277"/>
          </a:xfrm>
          <a:prstGeom prst="rect">
            <a:avLst/>
          </a:prstGeom>
          <a:solidFill>
            <a:srgbClr val="E5E7EB"/>
          </a:solidFill>
          <a:ln>
            <a:noFill/>
          </a:ln>
        </p:spPr>
        <p:txBody>
          <a:bodyPr rtlCol="0" anchor="ctr"/>
          <a:lstStyle/>
          <a:p>
            <a:pPr algn="ctr"/>
          </a:p>
        </p:txBody>
      </p:sp>
      <p:sp>
        <p:nvSpPr>
          <p:cNvPr id="55" name="Rectangle 54"/>
          <p:cNvSpPr/>
          <p:nvPr/>
        </p:nvSpPr>
        <p:spPr>
          <a:xfrm>
            <a:off x="1335024" y="1572768"/>
            <a:ext cx="157277" cy="157277"/>
          </a:xfrm>
          <a:prstGeom prst="rect">
            <a:avLst/>
          </a:prstGeom>
          <a:solidFill>
            <a:srgbClr val="E5E7EB"/>
          </a:solidFill>
          <a:ln>
            <a:noFill/>
          </a:ln>
        </p:spPr>
        <p:txBody>
          <a:bodyPr rtlCol="0" anchor="ctr"/>
          <a:lstStyle/>
          <a:p>
            <a:pPr algn="ctr"/>
          </a:p>
        </p:txBody>
      </p:sp>
      <p:sp>
        <p:nvSpPr>
          <p:cNvPr id="56" name="Rectangle 55"/>
          <p:cNvSpPr/>
          <p:nvPr/>
        </p:nvSpPr>
        <p:spPr>
          <a:xfrm>
            <a:off x="1531620" y="3342132"/>
            <a:ext cx="157277" cy="157277"/>
          </a:xfrm>
          <a:prstGeom prst="rect">
            <a:avLst/>
          </a:prstGeom>
          <a:solidFill>
            <a:srgbClr val="E5E7EB"/>
          </a:solidFill>
          <a:ln>
            <a:noFill/>
          </a:ln>
        </p:spPr>
        <p:txBody>
          <a:bodyPr rtlCol="0" anchor="ctr"/>
          <a:lstStyle/>
          <a:p>
            <a:pPr algn="ctr"/>
          </a:p>
        </p:txBody>
      </p:sp>
      <p:sp>
        <p:nvSpPr>
          <p:cNvPr id="57" name="Rectangle 56"/>
          <p:cNvSpPr/>
          <p:nvPr/>
        </p:nvSpPr>
        <p:spPr>
          <a:xfrm>
            <a:off x="1531620" y="3145536"/>
            <a:ext cx="157277" cy="157277"/>
          </a:xfrm>
          <a:prstGeom prst="rect">
            <a:avLst/>
          </a:prstGeom>
          <a:solidFill>
            <a:srgbClr val="E5E7EB"/>
          </a:solidFill>
          <a:ln>
            <a:noFill/>
          </a:ln>
        </p:spPr>
        <p:txBody>
          <a:bodyPr rtlCol="0" anchor="ctr"/>
          <a:lstStyle/>
          <a:p>
            <a:pPr algn="ctr"/>
          </a:p>
        </p:txBody>
      </p:sp>
      <p:sp>
        <p:nvSpPr>
          <p:cNvPr id="58" name="Rectangle 57"/>
          <p:cNvSpPr/>
          <p:nvPr/>
        </p:nvSpPr>
        <p:spPr>
          <a:xfrm>
            <a:off x="1531620" y="2948940"/>
            <a:ext cx="157277" cy="157277"/>
          </a:xfrm>
          <a:prstGeom prst="rect">
            <a:avLst/>
          </a:prstGeom>
          <a:solidFill>
            <a:srgbClr val="E5E7EB"/>
          </a:solidFill>
          <a:ln>
            <a:noFill/>
          </a:ln>
        </p:spPr>
        <p:txBody>
          <a:bodyPr rtlCol="0" anchor="ctr"/>
          <a:lstStyle/>
          <a:p>
            <a:pPr algn="ctr"/>
          </a:p>
        </p:txBody>
      </p:sp>
      <p:sp>
        <p:nvSpPr>
          <p:cNvPr id="59" name="Rectangle 58"/>
          <p:cNvSpPr/>
          <p:nvPr/>
        </p:nvSpPr>
        <p:spPr>
          <a:xfrm>
            <a:off x="1531620" y="2752344"/>
            <a:ext cx="157277" cy="157277"/>
          </a:xfrm>
          <a:prstGeom prst="rect">
            <a:avLst/>
          </a:prstGeom>
          <a:solidFill>
            <a:srgbClr val="E5E7EB"/>
          </a:solidFill>
          <a:ln>
            <a:noFill/>
          </a:ln>
        </p:spPr>
        <p:txBody>
          <a:bodyPr rtlCol="0" anchor="ctr"/>
          <a:lstStyle/>
          <a:p>
            <a:pPr algn="ctr"/>
          </a:p>
        </p:txBody>
      </p:sp>
      <p:sp>
        <p:nvSpPr>
          <p:cNvPr id="60" name="Rectangle 59"/>
          <p:cNvSpPr/>
          <p:nvPr/>
        </p:nvSpPr>
        <p:spPr>
          <a:xfrm>
            <a:off x="1531620" y="2555748"/>
            <a:ext cx="157277" cy="157277"/>
          </a:xfrm>
          <a:prstGeom prst="rect">
            <a:avLst/>
          </a:prstGeom>
          <a:solidFill>
            <a:srgbClr val="E5E7EB"/>
          </a:solidFill>
          <a:ln>
            <a:noFill/>
          </a:ln>
        </p:spPr>
        <p:txBody>
          <a:bodyPr rtlCol="0" anchor="ctr"/>
          <a:lstStyle/>
          <a:p>
            <a:pPr algn="ctr"/>
          </a:p>
        </p:txBody>
      </p:sp>
      <p:sp>
        <p:nvSpPr>
          <p:cNvPr id="61" name="Rectangle 60"/>
          <p:cNvSpPr/>
          <p:nvPr/>
        </p:nvSpPr>
        <p:spPr>
          <a:xfrm>
            <a:off x="1531620" y="2359152"/>
            <a:ext cx="157277" cy="157277"/>
          </a:xfrm>
          <a:prstGeom prst="rect">
            <a:avLst/>
          </a:prstGeom>
          <a:solidFill>
            <a:srgbClr val="E5E7EB"/>
          </a:solidFill>
          <a:ln>
            <a:noFill/>
          </a:ln>
        </p:spPr>
        <p:txBody>
          <a:bodyPr rtlCol="0" anchor="ctr"/>
          <a:lstStyle/>
          <a:p>
            <a:pPr algn="ctr"/>
          </a:p>
        </p:txBody>
      </p:sp>
      <p:sp>
        <p:nvSpPr>
          <p:cNvPr id="62" name="Rectangle 61"/>
          <p:cNvSpPr/>
          <p:nvPr/>
        </p:nvSpPr>
        <p:spPr>
          <a:xfrm>
            <a:off x="1531620" y="2162556"/>
            <a:ext cx="157277" cy="157277"/>
          </a:xfrm>
          <a:prstGeom prst="rect">
            <a:avLst/>
          </a:prstGeom>
          <a:solidFill>
            <a:srgbClr val="E5E7EB"/>
          </a:solidFill>
          <a:ln>
            <a:noFill/>
          </a:ln>
        </p:spPr>
        <p:txBody>
          <a:bodyPr rtlCol="0" anchor="ctr"/>
          <a:lstStyle/>
          <a:p>
            <a:pPr algn="ctr"/>
          </a:p>
        </p:txBody>
      </p:sp>
      <p:sp>
        <p:nvSpPr>
          <p:cNvPr id="63" name="Rectangle 62"/>
          <p:cNvSpPr/>
          <p:nvPr/>
        </p:nvSpPr>
        <p:spPr>
          <a:xfrm>
            <a:off x="1531620" y="1965960"/>
            <a:ext cx="157277" cy="157277"/>
          </a:xfrm>
          <a:prstGeom prst="rect">
            <a:avLst/>
          </a:prstGeom>
          <a:solidFill>
            <a:srgbClr val="E5E7EB"/>
          </a:solidFill>
          <a:ln>
            <a:noFill/>
          </a:ln>
        </p:spPr>
        <p:txBody>
          <a:bodyPr rtlCol="0" anchor="ctr"/>
          <a:lstStyle/>
          <a:p>
            <a:pPr algn="ctr"/>
          </a:p>
        </p:txBody>
      </p:sp>
      <p:sp>
        <p:nvSpPr>
          <p:cNvPr id="64" name="Rectangle 63"/>
          <p:cNvSpPr/>
          <p:nvPr/>
        </p:nvSpPr>
        <p:spPr>
          <a:xfrm>
            <a:off x="1531620" y="1769364"/>
            <a:ext cx="157277" cy="157277"/>
          </a:xfrm>
          <a:prstGeom prst="rect">
            <a:avLst/>
          </a:prstGeom>
          <a:solidFill>
            <a:srgbClr val="E5E7EB"/>
          </a:solidFill>
          <a:ln>
            <a:noFill/>
          </a:ln>
        </p:spPr>
        <p:txBody>
          <a:bodyPr rtlCol="0" anchor="ctr"/>
          <a:lstStyle/>
          <a:p>
            <a:pPr algn="ctr"/>
          </a:p>
        </p:txBody>
      </p:sp>
      <p:sp>
        <p:nvSpPr>
          <p:cNvPr id="65" name="Rectangle 64"/>
          <p:cNvSpPr/>
          <p:nvPr/>
        </p:nvSpPr>
        <p:spPr>
          <a:xfrm>
            <a:off x="1531620" y="1572768"/>
            <a:ext cx="157277" cy="157277"/>
          </a:xfrm>
          <a:prstGeom prst="rect">
            <a:avLst/>
          </a:prstGeom>
          <a:solidFill>
            <a:srgbClr val="E5E7EB"/>
          </a:solidFill>
          <a:ln>
            <a:noFill/>
          </a:ln>
        </p:spPr>
        <p:txBody>
          <a:bodyPr rtlCol="0" anchor="ctr"/>
          <a:lstStyle/>
          <a:p>
            <a:pPr algn="ctr"/>
          </a:p>
        </p:txBody>
      </p:sp>
      <p:sp>
        <p:nvSpPr>
          <p:cNvPr id="66" name="Rectangle 65"/>
          <p:cNvSpPr/>
          <p:nvPr/>
        </p:nvSpPr>
        <p:spPr>
          <a:xfrm>
            <a:off x="1728216" y="3342132"/>
            <a:ext cx="157277" cy="157277"/>
          </a:xfrm>
          <a:prstGeom prst="rect">
            <a:avLst/>
          </a:prstGeom>
          <a:solidFill>
            <a:srgbClr val="E5E7EB"/>
          </a:solidFill>
          <a:ln>
            <a:noFill/>
          </a:ln>
        </p:spPr>
        <p:txBody>
          <a:bodyPr rtlCol="0" anchor="ctr"/>
          <a:lstStyle/>
          <a:p>
            <a:pPr algn="ctr"/>
          </a:p>
        </p:txBody>
      </p:sp>
      <p:sp>
        <p:nvSpPr>
          <p:cNvPr id="67" name="Rectangle 66"/>
          <p:cNvSpPr/>
          <p:nvPr/>
        </p:nvSpPr>
        <p:spPr>
          <a:xfrm>
            <a:off x="1728216" y="3145536"/>
            <a:ext cx="157277" cy="157277"/>
          </a:xfrm>
          <a:prstGeom prst="rect">
            <a:avLst/>
          </a:prstGeom>
          <a:solidFill>
            <a:srgbClr val="E5E7EB"/>
          </a:solidFill>
          <a:ln>
            <a:noFill/>
          </a:ln>
        </p:spPr>
        <p:txBody>
          <a:bodyPr rtlCol="0" anchor="ctr"/>
          <a:lstStyle/>
          <a:p>
            <a:pPr algn="ctr"/>
          </a:p>
        </p:txBody>
      </p:sp>
      <p:sp>
        <p:nvSpPr>
          <p:cNvPr id="68" name="Rectangle 67"/>
          <p:cNvSpPr/>
          <p:nvPr/>
        </p:nvSpPr>
        <p:spPr>
          <a:xfrm>
            <a:off x="1728216" y="2948940"/>
            <a:ext cx="157277" cy="157277"/>
          </a:xfrm>
          <a:prstGeom prst="rect">
            <a:avLst/>
          </a:prstGeom>
          <a:solidFill>
            <a:srgbClr val="E5E7EB"/>
          </a:solidFill>
          <a:ln>
            <a:noFill/>
          </a:ln>
        </p:spPr>
        <p:txBody>
          <a:bodyPr rtlCol="0" anchor="ctr"/>
          <a:lstStyle/>
          <a:p>
            <a:pPr algn="ctr"/>
          </a:p>
        </p:txBody>
      </p:sp>
      <p:sp>
        <p:nvSpPr>
          <p:cNvPr id="69" name="Rectangle 68"/>
          <p:cNvSpPr/>
          <p:nvPr/>
        </p:nvSpPr>
        <p:spPr>
          <a:xfrm>
            <a:off x="1728216" y="2752344"/>
            <a:ext cx="157277" cy="157277"/>
          </a:xfrm>
          <a:prstGeom prst="rect">
            <a:avLst/>
          </a:prstGeom>
          <a:solidFill>
            <a:srgbClr val="E5E7EB"/>
          </a:solidFill>
          <a:ln>
            <a:noFill/>
          </a:ln>
        </p:spPr>
        <p:txBody>
          <a:bodyPr rtlCol="0" anchor="ctr"/>
          <a:lstStyle/>
          <a:p>
            <a:pPr algn="ctr"/>
          </a:p>
        </p:txBody>
      </p:sp>
      <p:sp>
        <p:nvSpPr>
          <p:cNvPr id="70" name="Rectangle 69"/>
          <p:cNvSpPr/>
          <p:nvPr/>
        </p:nvSpPr>
        <p:spPr>
          <a:xfrm>
            <a:off x="1728216" y="2555748"/>
            <a:ext cx="157277" cy="157277"/>
          </a:xfrm>
          <a:prstGeom prst="rect">
            <a:avLst/>
          </a:prstGeom>
          <a:solidFill>
            <a:srgbClr val="E5E7EB"/>
          </a:solidFill>
          <a:ln>
            <a:noFill/>
          </a:ln>
        </p:spPr>
        <p:txBody>
          <a:bodyPr rtlCol="0" anchor="ctr"/>
          <a:lstStyle/>
          <a:p>
            <a:pPr algn="ctr"/>
          </a:p>
        </p:txBody>
      </p:sp>
      <p:sp>
        <p:nvSpPr>
          <p:cNvPr id="71" name="Rectangle 70"/>
          <p:cNvSpPr/>
          <p:nvPr/>
        </p:nvSpPr>
        <p:spPr>
          <a:xfrm>
            <a:off x="1728216" y="2359152"/>
            <a:ext cx="157277" cy="157277"/>
          </a:xfrm>
          <a:prstGeom prst="rect">
            <a:avLst/>
          </a:prstGeom>
          <a:solidFill>
            <a:srgbClr val="E5E7EB"/>
          </a:solidFill>
          <a:ln>
            <a:noFill/>
          </a:ln>
        </p:spPr>
        <p:txBody>
          <a:bodyPr rtlCol="0" anchor="ctr"/>
          <a:lstStyle/>
          <a:p>
            <a:pPr algn="ctr"/>
          </a:p>
        </p:txBody>
      </p:sp>
      <p:sp>
        <p:nvSpPr>
          <p:cNvPr id="72" name="Rectangle 71"/>
          <p:cNvSpPr/>
          <p:nvPr/>
        </p:nvSpPr>
        <p:spPr>
          <a:xfrm>
            <a:off x="1728216" y="2162556"/>
            <a:ext cx="157277" cy="157277"/>
          </a:xfrm>
          <a:prstGeom prst="rect">
            <a:avLst/>
          </a:prstGeom>
          <a:solidFill>
            <a:srgbClr val="E5E7EB"/>
          </a:solidFill>
          <a:ln>
            <a:noFill/>
          </a:ln>
        </p:spPr>
        <p:txBody>
          <a:bodyPr rtlCol="0" anchor="ctr"/>
          <a:lstStyle/>
          <a:p>
            <a:pPr algn="ctr"/>
          </a:p>
        </p:txBody>
      </p:sp>
      <p:sp>
        <p:nvSpPr>
          <p:cNvPr id="73" name="Rectangle 72"/>
          <p:cNvSpPr/>
          <p:nvPr/>
        </p:nvSpPr>
        <p:spPr>
          <a:xfrm>
            <a:off x="1728216" y="1965960"/>
            <a:ext cx="157277" cy="157277"/>
          </a:xfrm>
          <a:prstGeom prst="rect">
            <a:avLst/>
          </a:prstGeom>
          <a:solidFill>
            <a:srgbClr val="E5E7EB"/>
          </a:solidFill>
          <a:ln>
            <a:noFill/>
          </a:ln>
        </p:spPr>
        <p:txBody>
          <a:bodyPr rtlCol="0" anchor="ctr"/>
          <a:lstStyle/>
          <a:p>
            <a:pPr algn="ctr"/>
          </a:p>
        </p:txBody>
      </p:sp>
      <p:sp>
        <p:nvSpPr>
          <p:cNvPr id="74" name="Rectangle 73"/>
          <p:cNvSpPr/>
          <p:nvPr/>
        </p:nvSpPr>
        <p:spPr>
          <a:xfrm>
            <a:off x="1728216" y="1769364"/>
            <a:ext cx="157277" cy="157277"/>
          </a:xfrm>
          <a:prstGeom prst="rect">
            <a:avLst/>
          </a:prstGeom>
          <a:solidFill>
            <a:srgbClr val="E5E7EB"/>
          </a:solidFill>
          <a:ln>
            <a:noFill/>
          </a:ln>
        </p:spPr>
        <p:txBody>
          <a:bodyPr rtlCol="0" anchor="ctr"/>
          <a:lstStyle/>
          <a:p>
            <a:pPr algn="ctr"/>
          </a:p>
        </p:txBody>
      </p:sp>
      <p:sp>
        <p:nvSpPr>
          <p:cNvPr id="75" name="Rectangle 74"/>
          <p:cNvSpPr/>
          <p:nvPr/>
        </p:nvSpPr>
        <p:spPr>
          <a:xfrm>
            <a:off x="1728216" y="1572768"/>
            <a:ext cx="157277" cy="157277"/>
          </a:xfrm>
          <a:prstGeom prst="rect">
            <a:avLst/>
          </a:prstGeom>
          <a:solidFill>
            <a:srgbClr val="E5E7EB"/>
          </a:solidFill>
          <a:ln>
            <a:noFill/>
          </a:ln>
        </p:spPr>
        <p:txBody>
          <a:bodyPr rtlCol="0" anchor="ctr"/>
          <a:lstStyle/>
          <a:p>
            <a:pPr algn="ctr"/>
          </a:p>
        </p:txBody>
      </p:sp>
      <p:sp>
        <p:nvSpPr>
          <p:cNvPr id="76" name="Rectangle 75"/>
          <p:cNvSpPr/>
          <p:nvPr/>
        </p:nvSpPr>
        <p:spPr>
          <a:xfrm>
            <a:off x="1924812" y="3342132"/>
            <a:ext cx="157277" cy="157277"/>
          </a:xfrm>
          <a:prstGeom prst="rect">
            <a:avLst/>
          </a:prstGeom>
          <a:solidFill>
            <a:srgbClr val="E5E7EB"/>
          </a:solidFill>
          <a:ln>
            <a:noFill/>
          </a:ln>
        </p:spPr>
        <p:txBody>
          <a:bodyPr rtlCol="0" anchor="ctr"/>
          <a:lstStyle/>
          <a:p>
            <a:pPr algn="ctr"/>
          </a:p>
        </p:txBody>
      </p:sp>
      <p:sp>
        <p:nvSpPr>
          <p:cNvPr id="77" name="Rectangle 76"/>
          <p:cNvSpPr/>
          <p:nvPr/>
        </p:nvSpPr>
        <p:spPr>
          <a:xfrm>
            <a:off x="1924812" y="3145536"/>
            <a:ext cx="157277" cy="157277"/>
          </a:xfrm>
          <a:prstGeom prst="rect">
            <a:avLst/>
          </a:prstGeom>
          <a:solidFill>
            <a:srgbClr val="E5E7EB"/>
          </a:solidFill>
          <a:ln>
            <a:noFill/>
          </a:ln>
        </p:spPr>
        <p:txBody>
          <a:bodyPr rtlCol="0" anchor="ctr"/>
          <a:lstStyle/>
          <a:p>
            <a:pPr algn="ctr"/>
          </a:p>
        </p:txBody>
      </p:sp>
      <p:sp>
        <p:nvSpPr>
          <p:cNvPr id="78" name="Rectangle 77"/>
          <p:cNvSpPr/>
          <p:nvPr/>
        </p:nvSpPr>
        <p:spPr>
          <a:xfrm>
            <a:off x="1924812" y="2948940"/>
            <a:ext cx="157277" cy="157277"/>
          </a:xfrm>
          <a:prstGeom prst="rect">
            <a:avLst/>
          </a:prstGeom>
          <a:solidFill>
            <a:srgbClr val="E5E7EB"/>
          </a:solidFill>
          <a:ln>
            <a:noFill/>
          </a:ln>
        </p:spPr>
        <p:txBody>
          <a:bodyPr rtlCol="0" anchor="ctr"/>
          <a:lstStyle/>
          <a:p>
            <a:pPr algn="ctr"/>
          </a:p>
        </p:txBody>
      </p:sp>
      <p:sp>
        <p:nvSpPr>
          <p:cNvPr id="79" name="Rectangle 78"/>
          <p:cNvSpPr/>
          <p:nvPr/>
        </p:nvSpPr>
        <p:spPr>
          <a:xfrm>
            <a:off x="1924812" y="2752344"/>
            <a:ext cx="157277" cy="157277"/>
          </a:xfrm>
          <a:prstGeom prst="rect">
            <a:avLst/>
          </a:prstGeom>
          <a:solidFill>
            <a:srgbClr val="E5E7EB"/>
          </a:solidFill>
          <a:ln>
            <a:noFill/>
          </a:ln>
        </p:spPr>
        <p:txBody>
          <a:bodyPr rtlCol="0" anchor="ctr"/>
          <a:lstStyle/>
          <a:p>
            <a:pPr algn="ctr"/>
          </a:p>
        </p:txBody>
      </p:sp>
      <p:sp>
        <p:nvSpPr>
          <p:cNvPr id="80" name="Rectangle 79"/>
          <p:cNvSpPr/>
          <p:nvPr/>
        </p:nvSpPr>
        <p:spPr>
          <a:xfrm>
            <a:off x="1924812" y="2555748"/>
            <a:ext cx="157277" cy="157277"/>
          </a:xfrm>
          <a:prstGeom prst="rect">
            <a:avLst/>
          </a:prstGeom>
          <a:solidFill>
            <a:srgbClr val="E5E7EB"/>
          </a:solidFill>
          <a:ln>
            <a:noFill/>
          </a:ln>
        </p:spPr>
        <p:txBody>
          <a:bodyPr rtlCol="0" anchor="ctr"/>
          <a:lstStyle/>
          <a:p>
            <a:pPr algn="ctr"/>
          </a:p>
        </p:txBody>
      </p:sp>
      <p:sp>
        <p:nvSpPr>
          <p:cNvPr id="81" name="Rectangle 80"/>
          <p:cNvSpPr/>
          <p:nvPr/>
        </p:nvSpPr>
        <p:spPr>
          <a:xfrm>
            <a:off x="1924812" y="2359152"/>
            <a:ext cx="157277" cy="157277"/>
          </a:xfrm>
          <a:prstGeom prst="rect">
            <a:avLst/>
          </a:prstGeom>
          <a:solidFill>
            <a:srgbClr val="E5E7EB"/>
          </a:solidFill>
          <a:ln>
            <a:noFill/>
          </a:ln>
        </p:spPr>
        <p:txBody>
          <a:bodyPr rtlCol="0" anchor="ctr"/>
          <a:lstStyle/>
          <a:p>
            <a:pPr algn="ctr"/>
          </a:p>
        </p:txBody>
      </p:sp>
      <p:sp>
        <p:nvSpPr>
          <p:cNvPr id="82" name="Rectangle 81"/>
          <p:cNvSpPr/>
          <p:nvPr/>
        </p:nvSpPr>
        <p:spPr>
          <a:xfrm>
            <a:off x="1924812" y="2162556"/>
            <a:ext cx="157277" cy="157277"/>
          </a:xfrm>
          <a:prstGeom prst="rect">
            <a:avLst/>
          </a:prstGeom>
          <a:solidFill>
            <a:srgbClr val="E5E7EB"/>
          </a:solidFill>
          <a:ln>
            <a:noFill/>
          </a:ln>
        </p:spPr>
        <p:txBody>
          <a:bodyPr rtlCol="0" anchor="ctr"/>
          <a:lstStyle/>
          <a:p>
            <a:pPr algn="ctr"/>
          </a:p>
        </p:txBody>
      </p:sp>
      <p:sp>
        <p:nvSpPr>
          <p:cNvPr id="83" name="Rectangle 82"/>
          <p:cNvSpPr/>
          <p:nvPr/>
        </p:nvSpPr>
        <p:spPr>
          <a:xfrm>
            <a:off x="1924812" y="1965960"/>
            <a:ext cx="157277" cy="157277"/>
          </a:xfrm>
          <a:prstGeom prst="rect">
            <a:avLst/>
          </a:prstGeom>
          <a:solidFill>
            <a:srgbClr val="E5E7EB"/>
          </a:solidFill>
          <a:ln>
            <a:noFill/>
          </a:ln>
        </p:spPr>
        <p:txBody>
          <a:bodyPr rtlCol="0" anchor="ctr"/>
          <a:lstStyle/>
          <a:p>
            <a:pPr algn="ctr"/>
          </a:p>
        </p:txBody>
      </p:sp>
      <p:sp>
        <p:nvSpPr>
          <p:cNvPr id="84" name="Rectangle 83"/>
          <p:cNvSpPr/>
          <p:nvPr/>
        </p:nvSpPr>
        <p:spPr>
          <a:xfrm>
            <a:off x="1924812" y="1769364"/>
            <a:ext cx="157277" cy="157277"/>
          </a:xfrm>
          <a:prstGeom prst="rect">
            <a:avLst/>
          </a:prstGeom>
          <a:solidFill>
            <a:srgbClr val="E5E7EB"/>
          </a:solidFill>
          <a:ln>
            <a:noFill/>
          </a:ln>
        </p:spPr>
        <p:txBody>
          <a:bodyPr rtlCol="0" anchor="ctr"/>
          <a:lstStyle/>
          <a:p>
            <a:pPr algn="ctr"/>
          </a:p>
        </p:txBody>
      </p:sp>
      <p:sp>
        <p:nvSpPr>
          <p:cNvPr id="85" name="Rectangle 84"/>
          <p:cNvSpPr/>
          <p:nvPr/>
        </p:nvSpPr>
        <p:spPr>
          <a:xfrm>
            <a:off x="1924812" y="1572768"/>
            <a:ext cx="157277" cy="157277"/>
          </a:xfrm>
          <a:prstGeom prst="rect">
            <a:avLst/>
          </a:prstGeom>
          <a:solidFill>
            <a:srgbClr val="E5E7EB"/>
          </a:solidFill>
          <a:ln>
            <a:noFill/>
          </a:ln>
        </p:spPr>
        <p:txBody>
          <a:bodyPr rtlCol="0" anchor="ctr"/>
          <a:lstStyle/>
          <a:p>
            <a:pPr algn="ctr"/>
          </a:p>
        </p:txBody>
      </p:sp>
      <p:sp>
        <p:nvSpPr>
          <p:cNvPr id="86" name="Rectangle 85"/>
          <p:cNvSpPr/>
          <p:nvPr/>
        </p:nvSpPr>
        <p:spPr>
          <a:xfrm>
            <a:off x="2121408" y="3342132"/>
            <a:ext cx="157277" cy="157277"/>
          </a:xfrm>
          <a:prstGeom prst="rect">
            <a:avLst/>
          </a:prstGeom>
          <a:solidFill>
            <a:srgbClr val="E5E7EB"/>
          </a:solidFill>
          <a:ln>
            <a:noFill/>
          </a:ln>
        </p:spPr>
        <p:txBody>
          <a:bodyPr rtlCol="0" anchor="ctr"/>
          <a:lstStyle/>
          <a:p>
            <a:pPr algn="ctr"/>
          </a:p>
        </p:txBody>
      </p:sp>
      <p:sp>
        <p:nvSpPr>
          <p:cNvPr id="87" name="Rectangle 86"/>
          <p:cNvSpPr/>
          <p:nvPr/>
        </p:nvSpPr>
        <p:spPr>
          <a:xfrm>
            <a:off x="2121408" y="3145536"/>
            <a:ext cx="157277" cy="157277"/>
          </a:xfrm>
          <a:prstGeom prst="rect">
            <a:avLst/>
          </a:prstGeom>
          <a:solidFill>
            <a:srgbClr val="E5E7EB"/>
          </a:solidFill>
          <a:ln>
            <a:noFill/>
          </a:ln>
        </p:spPr>
        <p:txBody>
          <a:bodyPr rtlCol="0" anchor="ctr"/>
          <a:lstStyle/>
          <a:p>
            <a:pPr algn="ctr"/>
          </a:p>
        </p:txBody>
      </p:sp>
      <p:sp>
        <p:nvSpPr>
          <p:cNvPr id="88" name="Rectangle 87"/>
          <p:cNvSpPr/>
          <p:nvPr/>
        </p:nvSpPr>
        <p:spPr>
          <a:xfrm>
            <a:off x="2121408" y="2948940"/>
            <a:ext cx="157277" cy="157277"/>
          </a:xfrm>
          <a:prstGeom prst="rect">
            <a:avLst/>
          </a:prstGeom>
          <a:solidFill>
            <a:srgbClr val="E5E7EB"/>
          </a:solidFill>
          <a:ln>
            <a:noFill/>
          </a:ln>
        </p:spPr>
        <p:txBody>
          <a:bodyPr rtlCol="0" anchor="ctr"/>
          <a:lstStyle/>
          <a:p>
            <a:pPr algn="ctr"/>
          </a:p>
        </p:txBody>
      </p:sp>
      <p:sp>
        <p:nvSpPr>
          <p:cNvPr id="89" name="Rectangle 88"/>
          <p:cNvSpPr/>
          <p:nvPr/>
        </p:nvSpPr>
        <p:spPr>
          <a:xfrm>
            <a:off x="2121408" y="2752344"/>
            <a:ext cx="157277" cy="157277"/>
          </a:xfrm>
          <a:prstGeom prst="rect">
            <a:avLst/>
          </a:prstGeom>
          <a:solidFill>
            <a:srgbClr val="E5E7EB"/>
          </a:solidFill>
          <a:ln>
            <a:noFill/>
          </a:ln>
        </p:spPr>
        <p:txBody>
          <a:bodyPr rtlCol="0" anchor="ctr"/>
          <a:lstStyle/>
          <a:p>
            <a:pPr algn="ctr"/>
          </a:p>
        </p:txBody>
      </p:sp>
      <p:sp>
        <p:nvSpPr>
          <p:cNvPr id="90" name="Rectangle 89"/>
          <p:cNvSpPr/>
          <p:nvPr/>
        </p:nvSpPr>
        <p:spPr>
          <a:xfrm>
            <a:off x="2121408" y="2555748"/>
            <a:ext cx="157277" cy="157277"/>
          </a:xfrm>
          <a:prstGeom prst="rect">
            <a:avLst/>
          </a:prstGeom>
          <a:solidFill>
            <a:srgbClr val="E5E7EB"/>
          </a:solidFill>
          <a:ln>
            <a:noFill/>
          </a:ln>
        </p:spPr>
        <p:txBody>
          <a:bodyPr rtlCol="0" anchor="ctr"/>
          <a:lstStyle/>
          <a:p>
            <a:pPr algn="ctr"/>
          </a:p>
        </p:txBody>
      </p:sp>
      <p:sp>
        <p:nvSpPr>
          <p:cNvPr id="91" name="Rectangle 90"/>
          <p:cNvSpPr/>
          <p:nvPr/>
        </p:nvSpPr>
        <p:spPr>
          <a:xfrm>
            <a:off x="2121408" y="2359152"/>
            <a:ext cx="157277" cy="157277"/>
          </a:xfrm>
          <a:prstGeom prst="rect">
            <a:avLst/>
          </a:prstGeom>
          <a:solidFill>
            <a:srgbClr val="E5E7EB"/>
          </a:solidFill>
          <a:ln>
            <a:noFill/>
          </a:ln>
        </p:spPr>
        <p:txBody>
          <a:bodyPr rtlCol="0" anchor="ctr"/>
          <a:lstStyle/>
          <a:p>
            <a:pPr algn="ctr"/>
          </a:p>
        </p:txBody>
      </p:sp>
      <p:sp>
        <p:nvSpPr>
          <p:cNvPr id="92" name="Rectangle 91"/>
          <p:cNvSpPr/>
          <p:nvPr/>
        </p:nvSpPr>
        <p:spPr>
          <a:xfrm>
            <a:off x="2121408" y="2162556"/>
            <a:ext cx="157277" cy="157277"/>
          </a:xfrm>
          <a:prstGeom prst="rect">
            <a:avLst/>
          </a:prstGeom>
          <a:solidFill>
            <a:srgbClr val="E5E7EB"/>
          </a:solidFill>
          <a:ln>
            <a:noFill/>
          </a:ln>
        </p:spPr>
        <p:txBody>
          <a:bodyPr rtlCol="0" anchor="ctr"/>
          <a:lstStyle/>
          <a:p>
            <a:pPr algn="ctr"/>
          </a:p>
        </p:txBody>
      </p:sp>
      <p:sp>
        <p:nvSpPr>
          <p:cNvPr id="93" name="Rectangle 92"/>
          <p:cNvSpPr/>
          <p:nvPr/>
        </p:nvSpPr>
        <p:spPr>
          <a:xfrm>
            <a:off x="2121408" y="1965960"/>
            <a:ext cx="157277" cy="157277"/>
          </a:xfrm>
          <a:prstGeom prst="rect">
            <a:avLst/>
          </a:prstGeom>
          <a:solidFill>
            <a:srgbClr val="E5E7EB"/>
          </a:solidFill>
          <a:ln>
            <a:noFill/>
          </a:ln>
        </p:spPr>
        <p:txBody>
          <a:bodyPr rtlCol="0" anchor="ctr"/>
          <a:lstStyle/>
          <a:p>
            <a:pPr algn="ctr"/>
          </a:p>
        </p:txBody>
      </p:sp>
      <p:sp>
        <p:nvSpPr>
          <p:cNvPr id="94" name="Rectangle 93"/>
          <p:cNvSpPr/>
          <p:nvPr/>
        </p:nvSpPr>
        <p:spPr>
          <a:xfrm>
            <a:off x="2121408" y="1769364"/>
            <a:ext cx="157277" cy="157277"/>
          </a:xfrm>
          <a:prstGeom prst="rect">
            <a:avLst/>
          </a:prstGeom>
          <a:solidFill>
            <a:srgbClr val="E5E7EB"/>
          </a:solidFill>
          <a:ln>
            <a:noFill/>
          </a:ln>
        </p:spPr>
        <p:txBody>
          <a:bodyPr rtlCol="0" anchor="ctr"/>
          <a:lstStyle/>
          <a:p>
            <a:pPr algn="ctr"/>
          </a:p>
        </p:txBody>
      </p:sp>
      <p:sp>
        <p:nvSpPr>
          <p:cNvPr id="95" name="Rectangle 94"/>
          <p:cNvSpPr/>
          <p:nvPr/>
        </p:nvSpPr>
        <p:spPr>
          <a:xfrm>
            <a:off x="2121408" y="1572768"/>
            <a:ext cx="157277" cy="157277"/>
          </a:xfrm>
          <a:prstGeom prst="rect">
            <a:avLst/>
          </a:prstGeom>
          <a:solidFill>
            <a:srgbClr val="E5E7EB"/>
          </a:solidFill>
          <a:ln>
            <a:noFill/>
          </a:ln>
        </p:spPr>
        <p:txBody>
          <a:bodyPr rtlCol="0" anchor="ctr"/>
          <a:lstStyle/>
          <a:p>
            <a:pPr algn="ctr"/>
          </a:p>
        </p:txBody>
      </p:sp>
      <p:sp>
        <p:nvSpPr>
          <p:cNvPr id="96" name="Rectangle 95"/>
          <p:cNvSpPr/>
          <p:nvPr/>
        </p:nvSpPr>
        <p:spPr>
          <a:xfrm>
            <a:off x="2318004" y="3342132"/>
            <a:ext cx="157277" cy="157277"/>
          </a:xfrm>
          <a:prstGeom prst="rect">
            <a:avLst/>
          </a:prstGeom>
          <a:solidFill>
            <a:srgbClr val="E5E7EB"/>
          </a:solidFill>
          <a:ln>
            <a:noFill/>
          </a:ln>
        </p:spPr>
        <p:txBody>
          <a:bodyPr rtlCol="0" anchor="ctr"/>
          <a:lstStyle/>
          <a:p>
            <a:pPr algn="ctr"/>
          </a:p>
        </p:txBody>
      </p:sp>
      <p:sp>
        <p:nvSpPr>
          <p:cNvPr id="97" name="Rectangle 96"/>
          <p:cNvSpPr/>
          <p:nvPr/>
        </p:nvSpPr>
        <p:spPr>
          <a:xfrm>
            <a:off x="2318004" y="3145536"/>
            <a:ext cx="157277" cy="157277"/>
          </a:xfrm>
          <a:prstGeom prst="rect">
            <a:avLst/>
          </a:prstGeom>
          <a:solidFill>
            <a:srgbClr val="E5E7EB"/>
          </a:solidFill>
          <a:ln>
            <a:noFill/>
          </a:ln>
        </p:spPr>
        <p:txBody>
          <a:bodyPr rtlCol="0" anchor="ctr"/>
          <a:lstStyle/>
          <a:p>
            <a:pPr algn="ctr"/>
          </a:p>
        </p:txBody>
      </p:sp>
      <p:sp>
        <p:nvSpPr>
          <p:cNvPr id="98" name="Rectangle 97"/>
          <p:cNvSpPr/>
          <p:nvPr/>
        </p:nvSpPr>
        <p:spPr>
          <a:xfrm>
            <a:off x="2318004" y="2948940"/>
            <a:ext cx="157277" cy="157277"/>
          </a:xfrm>
          <a:prstGeom prst="rect">
            <a:avLst/>
          </a:prstGeom>
          <a:solidFill>
            <a:srgbClr val="E5E7EB"/>
          </a:solidFill>
          <a:ln>
            <a:noFill/>
          </a:ln>
        </p:spPr>
        <p:txBody>
          <a:bodyPr rtlCol="0" anchor="ctr"/>
          <a:lstStyle/>
          <a:p>
            <a:pPr algn="ctr"/>
          </a:p>
        </p:txBody>
      </p:sp>
      <p:sp>
        <p:nvSpPr>
          <p:cNvPr id="99" name="Rectangle 98"/>
          <p:cNvSpPr/>
          <p:nvPr/>
        </p:nvSpPr>
        <p:spPr>
          <a:xfrm>
            <a:off x="2318004" y="2752344"/>
            <a:ext cx="157277" cy="157277"/>
          </a:xfrm>
          <a:prstGeom prst="rect">
            <a:avLst/>
          </a:prstGeom>
          <a:solidFill>
            <a:srgbClr val="E5E7EB"/>
          </a:solidFill>
          <a:ln>
            <a:noFill/>
          </a:ln>
        </p:spPr>
        <p:txBody>
          <a:bodyPr rtlCol="0" anchor="ctr"/>
          <a:lstStyle/>
          <a:p>
            <a:pPr algn="ctr"/>
          </a:p>
        </p:txBody>
      </p:sp>
      <p:sp>
        <p:nvSpPr>
          <p:cNvPr id="100" name="Rectangle 99"/>
          <p:cNvSpPr/>
          <p:nvPr/>
        </p:nvSpPr>
        <p:spPr>
          <a:xfrm>
            <a:off x="2318004" y="2555748"/>
            <a:ext cx="157277" cy="157277"/>
          </a:xfrm>
          <a:prstGeom prst="rect">
            <a:avLst/>
          </a:prstGeom>
          <a:solidFill>
            <a:srgbClr val="E5E7EB"/>
          </a:solidFill>
          <a:ln>
            <a:noFill/>
          </a:ln>
        </p:spPr>
        <p:txBody>
          <a:bodyPr rtlCol="0" anchor="ctr"/>
          <a:lstStyle/>
          <a:p>
            <a:pPr algn="ctr"/>
          </a:p>
        </p:txBody>
      </p:sp>
      <p:sp>
        <p:nvSpPr>
          <p:cNvPr id="101" name="Rectangle 100"/>
          <p:cNvSpPr/>
          <p:nvPr/>
        </p:nvSpPr>
        <p:spPr>
          <a:xfrm>
            <a:off x="2318004" y="2359152"/>
            <a:ext cx="157277" cy="157277"/>
          </a:xfrm>
          <a:prstGeom prst="rect">
            <a:avLst/>
          </a:prstGeom>
          <a:solidFill>
            <a:srgbClr val="E5E7EB"/>
          </a:solidFill>
          <a:ln>
            <a:noFill/>
          </a:ln>
        </p:spPr>
        <p:txBody>
          <a:bodyPr rtlCol="0" anchor="ctr"/>
          <a:lstStyle/>
          <a:p>
            <a:pPr algn="ctr"/>
          </a:p>
        </p:txBody>
      </p:sp>
      <p:sp>
        <p:nvSpPr>
          <p:cNvPr id="102" name="Rectangle 101"/>
          <p:cNvSpPr/>
          <p:nvPr/>
        </p:nvSpPr>
        <p:spPr>
          <a:xfrm>
            <a:off x="2318004" y="2162556"/>
            <a:ext cx="157277" cy="157277"/>
          </a:xfrm>
          <a:prstGeom prst="rect">
            <a:avLst/>
          </a:prstGeom>
          <a:solidFill>
            <a:srgbClr val="E5E7EB"/>
          </a:solidFill>
          <a:ln>
            <a:noFill/>
          </a:ln>
        </p:spPr>
        <p:txBody>
          <a:bodyPr rtlCol="0" anchor="ctr"/>
          <a:lstStyle/>
          <a:p>
            <a:pPr algn="ctr"/>
          </a:p>
        </p:txBody>
      </p:sp>
      <p:sp>
        <p:nvSpPr>
          <p:cNvPr id="103" name="Rectangle 102"/>
          <p:cNvSpPr/>
          <p:nvPr/>
        </p:nvSpPr>
        <p:spPr>
          <a:xfrm>
            <a:off x="2318004" y="1965960"/>
            <a:ext cx="157277" cy="157277"/>
          </a:xfrm>
          <a:prstGeom prst="rect">
            <a:avLst/>
          </a:prstGeom>
          <a:solidFill>
            <a:srgbClr val="E5E7EB"/>
          </a:solidFill>
          <a:ln>
            <a:noFill/>
          </a:ln>
        </p:spPr>
        <p:txBody>
          <a:bodyPr rtlCol="0" anchor="ctr"/>
          <a:lstStyle/>
          <a:p>
            <a:pPr algn="ctr"/>
          </a:p>
        </p:txBody>
      </p:sp>
      <p:sp>
        <p:nvSpPr>
          <p:cNvPr id="104" name="Rectangle 103"/>
          <p:cNvSpPr/>
          <p:nvPr/>
        </p:nvSpPr>
        <p:spPr>
          <a:xfrm>
            <a:off x="2318004" y="1769364"/>
            <a:ext cx="157277" cy="157277"/>
          </a:xfrm>
          <a:prstGeom prst="rect">
            <a:avLst/>
          </a:prstGeom>
          <a:solidFill>
            <a:srgbClr val="E5E7EB"/>
          </a:solidFill>
          <a:ln>
            <a:noFill/>
          </a:ln>
        </p:spPr>
        <p:txBody>
          <a:bodyPr rtlCol="0" anchor="ctr"/>
          <a:lstStyle/>
          <a:p>
            <a:pPr algn="ctr"/>
          </a:p>
        </p:txBody>
      </p:sp>
      <p:sp>
        <p:nvSpPr>
          <p:cNvPr id="105" name="Rectangle 104"/>
          <p:cNvSpPr/>
          <p:nvPr/>
        </p:nvSpPr>
        <p:spPr>
          <a:xfrm>
            <a:off x="2318004" y="1572768"/>
            <a:ext cx="157277" cy="157277"/>
          </a:xfrm>
          <a:prstGeom prst="rect">
            <a:avLst/>
          </a:prstGeom>
          <a:solidFill>
            <a:srgbClr val="E5E7EB"/>
          </a:solidFill>
          <a:ln>
            <a:noFill/>
          </a:ln>
        </p:spPr>
        <p:txBody>
          <a:bodyPr rtlCol="0" anchor="ctr"/>
          <a:lstStyle/>
          <a:p>
            <a:pPr algn="ctr"/>
          </a:p>
        </p:txBody>
      </p:sp>
      <p:sp>
        <p:nvSpPr>
          <p:cNvPr id="106" name="TextBox 105"/>
          <p:cNvSpPr txBox="1"/>
          <p:nvPr/>
        </p:nvSpPr>
        <p:spPr>
          <a:xfrm>
            <a:off x="548640"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12%</a:t>
            </a:r>
          </a:p>
        </p:txBody>
      </p:sp>
      <p:sp>
        <p:nvSpPr>
          <p:cNvPr id="107" name="TextBox 106"/>
          <p:cNvSpPr txBox="1"/>
          <p:nvPr/>
        </p:nvSpPr>
        <p:spPr>
          <a:xfrm>
            <a:off x="548640" y="4069080"/>
            <a:ext cx="2373554" cy="640080"/>
          </a:xfrm>
          <a:prstGeom prst="rect">
            <a:avLst/>
          </a:prstGeom>
          <a:noFill/>
        </p:spPr>
        <p:txBody>
          <a:bodyPr wrap="square" lIns="0" tIns="0" rIns="0" bIns="0">
            <a:spAutoFit/>
          </a:bodyPr>
          <a:lstStyle/>
          <a:p>
            <a:pPr>
              <a:lnSpc>
                <a:spcPct val="104000"/>
              </a:lnSpc>
            </a:pPr>
            <a:r>
              <a:rPr sz="1150">
                <a:solidFill>
                  <a:srgbClr val="0C1408"/>
                </a:solidFill>
                <a:latin typeface="Arial"/>
              </a:rPr>
              <a:t>of committee users have lost money to fraud [1]</a:t>
            </a:r>
          </a:p>
        </p:txBody>
      </p:sp>
      <p:sp>
        <p:nvSpPr>
          <p:cNvPr id="108" name="Rectangle 107"/>
          <p:cNvSpPr/>
          <p:nvPr/>
        </p:nvSpPr>
        <p:spPr>
          <a:xfrm>
            <a:off x="3425114" y="3342132"/>
            <a:ext cx="157277" cy="157277"/>
          </a:xfrm>
          <a:prstGeom prst="rect">
            <a:avLst/>
          </a:prstGeom>
          <a:solidFill>
            <a:srgbClr val="4B5563"/>
          </a:solidFill>
          <a:ln>
            <a:noFill/>
          </a:ln>
        </p:spPr>
        <p:txBody>
          <a:bodyPr rtlCol="0" anchor="ctr"/>
          <a:lstStyle/>
          <a:p>
            <a:pPr algn="ctr"/>
          </a:p>
        </p:txBody>
      </p:sp>
      <p:sp>
        <p:nvSpPr>
          <p:cNvPr id="109" name="Rectangle 108"/>
          <p:cNvSpPr/>
          <p:nvPr/>
        </p:nvSpPr>
        <p:spPr>
          <a:xfrm>
            <a:off x="3425114" y="3145536"/>
            <a:ext cx="157277" cy="157277"/>
          </a:xfrm>
          <a:prstGeom prst="rect">
            <a:avLst/>
          </a:prstGeom>
          <a:solidFill>
            <a:srgbClr val="4B5563"/>
          </a:solidFill>
          <a:ln>
            <a:noFill/>
          </a:ln>
        </p:spPr>
        <p:txBody>
          <a:bodyPr rtlCol="0" anchor="ctr"/>
          <a:lstStyle/>
          <a:p>
            <a:pPr algn="ctr"/>
          </a:p>
        </p:txBody>
      </p:sp>
      <p:sp>
        <p:nvSpPr>
          <p:cNvPr id="110" name="Rectangle 109"/>
          <p:cNvSpPr/>
          <p:nvPr/>
        </p:nvSpPr>
        <p:spPr>
          <a:xfrm>
            <a:off x="3425114" y="2948940"/>
            <a:ext cx="157277" cy="157277"/>
          </a:xfrm>
          <a:prstGeom prst="rect">
            <a:avLst/>
          </a:prstGeom>
          <a:solidFill>
            <a:srgbClr val="4B5563"/>
          </a:solidFill>
          <a:ln>
            <a:noFill/>
          </a:ln>
        </p:spPr>
        <p:txBody>
          <a:bodyPr rtlCol="0" anchor="ctr"/>
          <a:lstStyle/>
          <a:p>
            <a:pPr algn="ctr"/>
          </a:p>
        </p:txBody>
      </p:sp>
      <p:sp>
        <p:nvSpPr>
          <p:cNvPr id="111" name="Rectangle 110"/>
          <p:cNvSpPr/>
          <p:nvPr/>
        </p:nvSpPr>
        <p:spPr>
          <a:xfrm>
            <a:off x="3425114" y="2752344"/>
            <a:ext cx="157277" cy="157277"/>
          </a:xfrm>
          <a:prstGeom prst="rect">
            <a:avLst/>
          </a:prstGeom>
          <a:solidFill>
            <a:srgbClr val="4B5563"/>
          </a:solidFill>
          <a:ln>
            <a:noFill/>
          </a:ln>
        </p:spPr>
        <p:txBody>
          <a:bodyPr rtlCol="0" anchor="ctr"/>
          <a:lstStyle/>
          <a:p>
            <a:pPr algn="ctr"/>
          </a:p>
        </p:txBody>
      </p:sp>
      <p:sp>
        <p:nvSpPr>
          <p:cNvPr id="112" name="Rectangle 111"/>
          <p:cNvSpPr/>
          <p:nvPr/>
        </p:nvSpPr>
        <p:spPr>
          <a:xfrm>
            <a:off x="3425114" y="2555748"/>
            <a:ext cx="157277" cy="157277"/>
          </a:xfrm>
          <a:prstGeom prst="rect">
            <a:avLst/>
          </a:prstGeom>
          <a:solidFill>
            <a:srgbClr val="4B5563"/>
          </a:solidFill>
          <a:ln>
            <a:noFill/>
          </a:ln>
        </p:spPr>
        <p:txBody>
          <a:bodyPr rtlCol="0" anchor="ctr"/>
          <a:lstStyle/>
          <a:p>
            <a:pPr algn="ctr"/>
          </a:p>
        </p:txBody>
      </p:sp>
      <p:sp>
        <p:nvSpPr>
          <p:cNvPr id="113" name="Rectangle 112"/>
          <p:cNvSpPr/>
          <p:nvPr/>
        </p:nvSpPr>
        <p:spPr>
          <a:xfrm>
            <a:off x="3425114" y="2359152"/>
            <a:ext cx="157277" cy="157277"/>
          </a:xfrm>
          <a:prstGeom prst="rect">
            <a:avLst/>
          </a:prstGeom>
          <a:solidFill>
            <a:srgbClr val="4B5563"/>
          </a:solidFill>
          <a:ln>
            <a:noFill/>
          </a:ln>
        </p:spPr>
        <p:txBody>
          <a:bodyPr rtlCol="0" anchor="ctr"/>
          <a:lstStyle/>
          <a:p>
            <a:pPr algn="ctr"/>
          </a:p>
        </p:txBody>
      </p:sp>
      <p:sp>
        <p:nvSpPr>
          <p:cNvPr id="114" name="Rectangle 113"/>
          <p:cNvSpPr/>
          <p:nvPr/>
        </p:nvSpPr>
        <p:spPr>
          <a:xfrm>
            <a:off x="3425114" y="2162556"/>
            <a:ext cx="157277" cy="157277"/>
          </a:xfrm>
          <a:prstGeom prst="rect">
            <a:avLst/>
          </a:prstGeom>
          <a:solidFill>
            <a:srgbClr val="4B5563"/>
          </a:solidFill>
          <a:ln>
            <a:noFill/>
          </a:ln>
        </p:spPr>
        <p:txBody>
          <a:bodyPr rtlCol="0" anchor="ctr"/>
          <a:lstStyle/>
          <a:p>
            <a:pPr algn="ctr"/>
          </a:p>
        </p:txBody>
      </p:sp>
      <p:sp>
        <p:nvSpPr>
          <p:cNvPr id="115" name="Rectangle 114"/>
          <p:cNvSpPr/>
          <p:nvPr/>
        </p:nvSpPr>
        <p:spPr>
          <a:xfrm>
            <a:off x="3425114" y="1965960"/>
            <a:ext cx="157277" cy="157277"/>
          </a:xfrm>
          <a:prstGeom prst="rect">
            <a:avLst/>
          </a:prstGeom>
          <a:solidFill>
            <a:srgbClr val="4B5563"/>
          </a:solidFill>
          <a:ln>
            <a:noFill/>
          </a:ln>
        </p:spPr>
        <p:txBody>
          <a:bodyPr rtlCol="0" anchor="ctr"/>
          <a:lstStyle/>
          <a:p>
            <a:pPr algn="ctr"/>
          </a:p>
        </p:txBody>
      </p:sp>
      <p:sp>
        <p:nvSpPr>
          <p:cNvPr id="116" name="Rectangle 115"/>
          <p:cNvSpPr/>
          <p:nvPr/>
        </p:nvSpPr>
        <p:spPr>
          <a:xfrm>
            <a:off x="3425114" y="1769364"/>
            <a:ext cx="157277" cy="157277"/>
          </a:xfrm>
          <a:prstGeom prst="rect">
            <a:avLst/>
          </a:prstGeom>
          <a:solidFill>
            <a:srgbClr val="4B5563"/>
          </a:solidFill>
          <a:ln>
            <a:noFill/>
          </a:ln>
        </p:spPr>
        <p:txBody>
          <a:bodyPr rtlCol="0" anchor="ctr"/>
          <a:lstStyle/>
          <a:p>
            <a:pPr algn="ctr"/>
          </a:p>
        </p:txBody>
      </p:sp>
      <p:sp>
        <p:nvSpPr>
          <p:cNvPr id="117" name="Rectangle 116"/>
          <p:cNvSpPr/>
          <p:nvPr/>
        </p:nvSpPr>
        <p:spPr>
          <a:xfrm>
            <a:off x="3425114" y="1572768"/>
            <a:ext cx="157277" cy="157277"/>
          </a:xfrm>
          <a:prstGeom prst="rect">
            <a:avLst/>
          </a:prstGeom>
          <a:solidFill>
            <a:srgbClr val="4B5563"/>
          </a:solidFill>
          <a:ln>
            <a:noFill/>
          </a:ln>
        </p:spPr>
        <p:txBody>
          <a:bodyPr rtlCol="0" anchor="ctr"/>
          <a:lstStyle/>
          <a:p>
            <a:pPr algn="ctr"/>
          </a:p>
        </p:txBody>
      </p:sp>
      <p:sp>
        <p:nvSpPr>
          <p:cNvPr id="118" name="Rectangle 117"/>
          <p:cNvSpPr/>
          <p:nvPr/>
        </p:nvSpPr>
        <p:spPr>
          <a:xfrm>
            <a:off x="3621710" y="3342132"/>
            <a:ext cx="157277" cy="157277"/>
          </a:xfrm>
          <a:prstGeom prst="rect">
            <a:avLst/>
          </a:prstGeom>
          <a:solidFill>
            <a:srgbClr val="4B5563"/>
          </a:solidFill>
          <a:ln>
            <a:noFill/>
          </a:ln>
        </p:spPr>
        <p:txBody>
          <a:bodyPr rtlCol="0" anchor="ctr"/>
          <a:lstStyle/>
          <a:p>
            <a:pPr algn="ctr"/>
          </a:p>
        </p:txBody>
      </p:sp>
      <p:sp>
        <p:nvSpPr>
          <p:cNvPr id="119" name="Rectangle 118"/>
          <p:cNvSpPr/>
          <p:nvPr/>
        </p:nvSpPr>
        <p:spPr>
          <a:xfrm>
            <a:off x="3621710" y="3145536"/>
            <a:ext cx="157277" cy="157277"/>
          </a:xfrm>
          <a:prstGeom prst="rect">
            <a:avLst/>
          </a:prstGeom>
          <a:solidFill>
            <a:srgbClr val="4B5563"/>
          </a:solidFill>
          <a:ln>
            <a:noFill/>
          </a:ln>
        </p:spPr>
        <p:txBody>
          <a:bodyPr rtlCol="0" anchor="ctr"/>
          <a:lstStyle/>
          <a:p>
            <a:pPr algn="ctr"/>
          </a:p>
        </p:txBody>
      </p:sp>
      <p:sp>
        <p:nvSpPr>
          <p:cNvPr id="120" name="Rectangle 119"/>
          <p:cNvSpPr/>
          <p:nvPr/>
        </p:nvSpPr>
        <p:spPr>
          <a:xfrm>
            <a:off x="3621710" y="2948940"/>
            <a:ext cx="157277" cy="157277"/>
          </a:xfrm>
          <a:prstGeom prst="rect">
            <a:avLst/>
          </a:prstGeom>
          <a:solidFill>
            <a:srgbClr val="4B5563"/>
          </a:solidFill>
          <a:ln>
            <a:noFill/>
          </a:ln>
        </p:spPr>
        <p:txBody>
          <a:bodyPr rtlCol="0" anchor="ctr"/>
          <a:lstStyle/>
          <a:p>
            <a:pPr algn="ctr"/>
          </a:p>
        </p:txBody>
      </p:sp>
      <p:sp>
        <p:nvSpPr>
          <p:cNvPr id="121" name="Rectangle 120"/>
          <p:cNvSpPr/>
          <p:nvPr/>
        </p:nvSpPr>
        <p:spPr>
          <a:xfrm>
            <a:off x="3621710" y="2752344"/>
            <a:ext cx="157277" cy="157277"/>
          </a:xfrm>
          <a:prstGeom prst="rect">
            <a:avLst/>
          </a:prstGeom>
          <a:solidFill>
            <a:srgbClr val="4B5563"/>
          </a:solidFill>
          <a:ln>
            <a:noFill/>
          </a:ln>
        </p:spPr>
        <p:txBody>
          <a:bodyPr rtlCol="0" anchor="ctr"/>
          <a:lstStyle/>
          <a:p>
            <a:pPr algn="ctr"/>
          </a:p>
        </p:txBody>
      </p:sp>
      <p:sp>
        <p:nvSpPr>
          <p:cNvPr id="122" name="Rectangle 121"/>
          <p:cNvSpPr/>
          <p:nvPr/>
        </p:nvSpPr>
        <p:spPr>
          <a:xfrm>
            <a:off x="3621710" y="2555748"/>
            <a:ext cx="157277" cy="157277"/>
          </a:xfrm>
          <a:prstGeom prst="rect">
            <a:avLst/>
          </a:prstGeom>
          <a:solidFill>
            <a:srgbClr val="4B5563"/>
          </a:solidFill>
          <a:ln>
            <a:noFill/>
          </a:ln>
        </p:spPr>
        <p:txBody>
          <a:bodyPr rtlCol="0" anchor="ctr"/>
          <a:lstStyle/>
          <a:p>
            <a:pPr algn="ctr"/>
          </a:p>
        </p:txBody>
      </p:sp>
      <p:sp>
        <p:nvSpPr>
          <p:cNvPr id="123" name="Rectangle 122"/>
          <p:cNvSpPr/>
          <p:nvPr/>
        </p:nvSpPr>
        <p:spPr>
          <a:xfrm>
            <a:off x="3621710" y="2359152"/>
            <a:ext cx="157277" cy="157277"/>
          </a:xfrm>
          <a:prstGeom prst="rect">
            <a:avLst/>
          </a:prstGeom>
          <a:solidFill>
            <a:srgbClr val="4B5563"/>
          </a:solidFill>
          <a:ln>
            <a:noFill/>
          </a:ln>
        </p:spPr>
        <p:txBody>
          <a:bodyPr rtlCol="0" anchor="ctr"/>
          <a:lstStyle/>
          <a:p>
            <a:pPr algn="ctr"/>
          </a:p>
        </p:txBody>
      </p:sp>
      <p:sp>
        <p:nvSpPr>
          <p:cNvPr id="124" name="Rectangle 123"/>
          <p:cNvSpPr/>
          <p:nvPr/>
        </p:nvSpPr>
        <p:spPr>
          <a:xfrm>
            <a:off x="3621710" y="2162556"/>
            <a:ext cx="157277" cy="157277"/>
          </a:xfrm>
          <a:prstGeom prst="rect">
            <a:avLst/>
          </a:prstGeom>
          <a:solidFill>
            <a:srgbClr val="4B5563"/>
          </a:solidFill>
          <a:ln>
            <a:noFill/>
          </a:ln>
        </p:spPr>
        <p:txBody>
          <a:bodyPr rtlCol="0" anchor="ctr"/>
          <a:lstStyle/>
          <a:p>
            <a:pPr algn="ctr"/>
          </a:p>
        </p:txBody>
      </p:sp>
      <p:sp>
        <p:nvSpPr>
          <p:cNvPr id="125" name="Rectangle 124"/>
          <p:cNvSpPr/>
          <p:nvPr/>
        </p:nvSpPr>
        <p:spPr>
          <a:xfrm>
            <a:off x="3621710" y="1965960"/>
            <a:ext cx="157277" cy="157277"/>
          </a:xfrm>
          <a:prstGeom prst="rect">
            <a:avLst/>
          </a:prstGeom>
          <a:solidFill>
            <a:srgbClr val="4B5563"/>
          </a:solidFill>
          <a:ln>
            <a:noFill/>
          </a:ln>
        </p:spPr>
        <p:txBody>
          <a:bodyPr rtlCol="0" anchor="ctr"/>
          <a:lstStyle/>
          <a:p>
            <a:pPr algn="ctr"/>
          </a:p>
        </p:txBody>
      </p:sp>
      <p:sp>
        <p:nvSpPr>
          <p:cNvPr id="126" name="Rectangle 125"/>
          <p:cNvSpPr/>
          <p:nvPr/>
        </p:nvSpPr>
        <p:spPr>
          <a:xfrm>
            <a:off x="3621710" y="1769364"/>
            <a:ext cx="157277" cy="157277"/>
          </a:xfrm>
          <a:prstGeom prst="rect">
            <a:avLst/>
          </a:prstGeom>
          <a:solidFill>
            <a:srgbClr val="4B5563"/>
          </a:solidFill>
          <a:ln>
            <a:noFill/>
          </a:ln>
        </p:spPr>
        <p:txBody>
          <a:bodyPr rtlCol="0" anchor="ctr"/>
          <a:lstStyle/>
          <a:p>
            <a:pPr algn="ctr"/>
          </a:p>
        </p:txBody>
      </p:sp>
      <p:sp>
        <p:nvSpPr>
          <p:cNvPr id="127" name="Rectangle 126"/>
          <p:cNvSpPr/>
          <p:nvPr/>
        </p:nvSpPr>
        <p:spPr>
          <a:xfrm>
            <a:off x="3621710" y="1572768"/>
            <a:ext cx="157277" cy="157277"/>
          </a:xfrm>
          <a:prstGeom prst="rect">
            <a:avLst/>
          </a:prstGeom>
          <a:solidFill>
            <a:srgbClr val="4B5563"/>
          </a:solidFill>
          <a:ln>
            <a:noFill/>
          </a:ln>
        </p:spPr>
        <p:txBody>
          <a:bodyPr rtlCol="0" anchor="ctr"/>
          <a:lstStyle/>
          <a:p>
            <a:pPr algn="ctr"/>
          </a:p>
        </p:txBody>
      </p:sp>
      <p:sp>
        <p:nvSpPr>
          <p:cNvPr id="128" name="Rectangle 127"/>
          <p:cNvSpPr/>
          <p:nvPr/>
        </p:nvSpPr>
        <p:spPr>
          <a:xfrm>
            <a:off x="3818306" y="3342132"/>
            <a:ext cx="157277" cy="157277"/>
          </a:xfrm>
          <a:prstGeom prst="rect">
            <a:avLst/>
          </a:prstGeom>
          <a:solidFill>
            <a:srgbClr val="4B5563"/>
          </a:solidFill>
          <a:ln>
            <a:noFill/>
          </a:ln>
        </p:spPr>
        <p:txBody>
          <a:bodyPr rtlCol="0" anchor="ctr"/>
          <a:lstStyle/>
          <a:p>
            <a:pPr algn="ctr"/>
          </a:p>
        </p:txBody>
      </p:sp>
      <p:sp>
        <p:nvSpPr>
          <p:cNvPr id="129" name="Rectangle 128"/>
          <p:cNvSpPr/>
          <p:nvPr/>
        </p:nvSpPr>
        <p:spPr>
          <a:xfrm>
            <a:off x="3818306" y="3145536"/>
            <a:ext cx="157277" cy="157277"/>
          </a:xfrm>
          <a:prstGeom prst="rect">
            <a:avLst/>
          </a:prstGeom>
          <a:solidFill>
            <a:srgbClr val="4B5563"/>
          </a:solidFill>
          <a:ln>
            <a:noFill/>
          </a:ln>
        </p:spPr>
        <p:txBody>
          <a:bodyPr rtlCol="0" anchor="ctr"/>
          <a:lstStyle/>
          <a:p>
            <a:pPr algn="ctr"/>
          </a:p>
        </p:txBody>
      </p:sp>
      <p:sp>
        <p:nvSpPr>
          <p:cNvPr id="130" name="Rectangle 129"/>
          <p:cNvSpPr/>
          <p:nvPr/>
        </p:nvSpPr>
        <p:spPr>
          <a:xfrm>
            <a:off x="3818306" y="2948940"/>
            <a:ext cx="157277" cy="157277"/>
          </a:xfrm>
          <a:prstGeom prst="rect">
            <a:avLst/>
          </a:prstGeom>
          <a:solidFill>
            <a:srgbClr val="4B5563"/>
          </a:solidFill>
          <a:ln>
            <a:noFill/>
          </a:ln>
        </p:spPr>
        <p:txBody>
          <a:bodyPr rtlCol="0" anchor="ctr"/>
          <a:lstStyle/>
          <a:p>
            <a:pPr algn="ctr"/>
          </a:p>
        </p:txBody>
      </p:sp>
      <p:sp>
        <p:nvSpPr>
          <p:cNvPr id="131" name="Rectangle 130"/>
          <p:cNvSpPr/>
          <p:nvPr/>
        </p:nvSpPr>
        <p:spPr>
          <a:xfrm>
            <a:off x="3818306" y="2752344"/>
            <a:ext cx="157277" cy="157277"/>
          </a:xfrm>
          <a:prstGeom prst="rect">
            <a:avLst/>
          </a:prstGeom>
          <a:solidFill>
            <a:srgbClr val="4B5563"/>
          </a:solidFill>
          <a:ln>
            <a:noFill/>
          </a:ln>
        </p:spPr>
        <p:txBody>
          <a:bodyPr rtlCol="0" anchor="ctr"/>
          <a:lstStyle/>
          <a:p>
            <a:pPr algn="ctr"/>
          </a:p>
        </p:txBody>
      </p:sp>
      <p:sp>
        <p:nvSpPr>
          <p:cNvPr id="132" name="Rectangle 131"/>
          <p:cNvSpPr/>
          <p:nvPr/>
        </p:nvSpPr>
        <p:spPr>
          <a:xfrm>
            <a:off x="3818306" y="2555748"/>
            <a:ext cx="157277" cy="157277"/>
          </a:xfrm>
          <a:prstGeom prst="rect">
            <a:avLst/>
          </a:prstGeom>
          <a:solidFill>
            <a:srgbClr val="4B5563"/>
          </a:solidFill>
          <a:ln>
            <a:noFill/>
          </a:ln>
        </p:spPr>
        <p:txBody>
          <a:bodyPr rtlCol="0" anchor="ctr"/>
          <a:lstStyle/>
          <a:p>
            <a:pPr algn="ctr"/>
          </a:p>
        </p:txBody>
      </p:sp>
      <p:sp>
        <p:nvSpPr>
          <p:cNvPr id="133" name="Rectangle 132"/>
          <p:cNvSpPr/>
          <p:nvPr/>
        </p:nvSpPr>
        <p:spPr>
          <a:xfrm>
            <a:off x="3818306" y="2359152"/>
            <a:ext cx="157277" cy="157277"/>
          </a:xfrm>
          <a:prstGeom prst="rect">
            <a:avLst/>
          </a:prstGeom>
          <a:solidFill>
            <a:srgbClr val="4B5563"/>
          </a:solidFill>
          <a:ln>
            <a:noFill/>
          </a:ln>
        </p:spPr>
        <p:txBody>
          <a:bodyPr rtlCol="0" anchor="ctr"/>
          <a:lstStyle/>
          <a:p>
            <a:pPr algn="ctr"/>
          </a:p>
        </p:txBody>
      </p:sp>
      <p:sp>
        <p:nvSpPr>
          <p:cNvPr id="134" name="Rectangle 133"/>
          <p:cNvSpPr/>
          <p:nvPr/>
        </p:nvSpPr>
        <p:spPr>
          <a:xfrm>
            <a:off x="3818306" y="2162556"/>
            <a:ext cx="157277" cy="157277"/>
          </a:xfrm>
          <a:prstGeom prst="rect">
            <a:avLst/>
          </a:prstGeom>
          <a:solidFill>
            <a:srgbClr val="4B5563"/>
          </a:solidFill>
          <a:ln>
            <a:noFill/>
          </a:ln>
        </p:spPr>
        <p:txBody>
          <a:bodyPr rtlCol="0" anchor="ctr"/>
          <a:lstStyle/>
          <a:p>
            <a:pPr algn="ctr"/>
          </a:p>
        </p:txBody>
      </p:sp>
      <p:sp>
        <p:nvSpPr>
          <p:cNvPr id="135" name="Rectangle 134"/>
          <p:cNvSpPr/>
          <p:nvPr/>
        </p:nvSpPr>
        <p:spPr>
          <a:xfrm>
            <a:off x="3818306" y="1965960"/>
            <a:ext cx="157277" cy="157277"/>
          </a:xfrm>
          <a:prstGeom prst="rect">
            <a:avLst/>
          </a:prstGeom>
          <a:solidFill>
            <a:srgbClr val="4B5563"/>
          </a:solidFill>
          <a:ln>
            <a:noFill/>
          </a:ln>
        </p:spPr>
        <p:txBody>
          <a:bodyPr rtlCol="0" anchor="ctr"/>
          <a:lstStyle/>
          <a:p>
            <a:pPr algn="ctr"/>
          </a:p>
        </p:txBody>
      </p:sp>
      <p:sp>
        <p:nvSpPr>
          <p:cNvPr id="136" name="Rectangle 135"/>
          <p:cNvSpPr/>
          <p:nvPr/>
        </p:nvSpPr>
        <p:spPr>
          <a:xfrm>
            <a:off x="3818306" y="1769364"/>
            <a:ext cx="157277" cy="157277"/>
          </a:xfrm>
          <a:prstGeom prst="rect">
            <a:avLst/>
          </a:prstGeom>
          <a:solidFill>
            <a:srgbClr val="4B5563"/>
          </a:solidFill>
          <a:ln>
            <a:noFill/>
          </a:ln>
        </p:spPr>
        <p:txBody>
          <a:bodyPr rtlCol="0" anchor="ctr"/>
          <a:lstStyle/>
          <a:p>
            <a:pPr algn="ctr"/>
          </a:p>
        </p:txBody>
      </p:sp>
      <p:sp>
        <p:nvSpPr>
          <p:cNvPr id="137" name="Rectangle 136"/>
          <p:cNvSpPr/>
          <p:nvPr/>
        </p:nvSpPr>
        <p:spPr>
          <a:xfrm>
            <a:off x="3818306" y="1572768"/>
            <a:ext cx="157277" cy="157277"/>
          </a:xfrm>
          <a:prstGeom prst="rect">
            <a:avLst/>
          </a:prstGeom>
          <a:solidFill>
            <a:srgbClr val="4B5563"/>
          </a:solidFill>
          <a:ln>
            <a:noFill/>
          </a:ln>
        </p:spPr>
        <p:txBody>
          <a:bodyPr rtlCol="0" anchor="ctr"/>
          <a:lstStyle/>
          <a:p>
            <a:pPr algn="ctr"/>
          </a:p>
        </p:txBody>
      </p:sp>
      <p:sp>
        <p:nvSpPr>
          <p:cNvPr id="138" name="Rectangle 137"/>
          <p:cNvSpPr/>
          <p:nvPr/>
        </p:nvSpPr>
        <p:spPr>
          <a:xfrm>
            <a:off x="4014902" y="3342132"/>
            <a:ext cx="157277" cy="157277"/>
          </a:xfrm>
          <a:prstGeom prst="rect">
            <a:avLst/>
          </a:prstGeom>
          <a:solidFill>
            <a:srgbClr val="4B5563"/>
          </a:solidFill>
          <a:ln>
            <a:noFill/>
          </a:ln>
        </p:spPr>
        <p:txBody>
          <a:bodyPr rtlCol="0" anchor="ctr"/>
          <a:lstStyle/>
          <a:p>
            <a:pPr algn="ctr"/>
          </a:p>
        </p:txBody>
      </p:sp>
      <p:sp>
        <p:nvSpPr>
          <p:cNvPr id="139" name="Rectangle 138"/>
          <p:cNvSpPr/>
          <p:nvPr/>
        </p:nvSpPr>
        <p:spPr>
          <a:xfrm>
            <a:off x="4014902" y="3145536"/>
            <a:ext cx="157277" cy="157277"/>
          </a:xfrm>
          <a:prstGeom prst="rect">
            <a:avLst/>
          </a:prstGeom>
          <a:solidFill>
            <a:srgbClr val="4B5563"/>
          </a:solidFill>
          <a:ln>
            <a:noFill/>
          </a:ln>
        </p:spPr>
        <p:txBody>
          <a:bodyPr rtlCol="0" anchor="ctr"/>
          <a:lstStyle/>
          <a:p>
            <a:pPr algn="ctr"/>
          </a:p>
        </p:txBody>
      </p:sp>
      <p:sp>
        <p:nvSpPr>
          <p:cNvPr id="140" name="Rectangle 139"/>
          <p:cNvSpPr/>
          <p:nvPr/>
        </p:nvSpPr>
        <p:spPr>
          <a:xfrm>
            <a:off x="4014902" y="2948940"/>
            <a:ext cx="157277" cy="157277"/>
          </a:xfrm>
          <a:prstGeom prst="rect">
            <a:avLst/>
          </a:prstGeom>
          <a:solidFill>
            <a:srgbClr val="4B5563"/>
          </a:solidFill>
          <a:ln>
            <a:noFill/>
          </a:ln>
        </p:spPr>
        <p:txBody>
          <a:bodyPr rtlCol="0" anchor="ctr"/>
          <a:lstStyle/>
          <a:p>
            <a:pPr algn="ctr"/>
          </a:p>
        </p:txBody>
      </p:sp>
      <p:sp>
        <p:nvSpPr>
          <p:cNvPr id="141" name="Rectangle 140"/>
          <p:cNvSpPr/>
          <p:nvPr/>
        </p:nvSpPr>
        <p:spPr>
          <a:xfrm>
            <a:off x="4014902" y="2752344"/>
            <a:ext cx="157277" cy="157277"/>
          </a:xfrm>
          <a:prstGeom prst="rect">
            <a:avLst/>
          </a:prstGeom>
          <a:solidFill>
            <a:srgbClr val="4B5563"/>
          </a:solidFill>
          <a:ln>
            <a:noFill/>
          </a:ln>
        </p:spPr>
        <p:txBody>
          <a:bodyPr rtlCol="0" anchor="ctr"/>
          <a:lstStyle/>
          <a:p>
            <a:pPr algn="ctr"/>
          </a:p>
        </p:txBody>
      </p:sp>
      <p:sp>
        <p:nvSpPr>
          <p:cNvPr id="142" name="Rectangle 141"/>
          <p:cNvSpPr/>
          <p:nvPr/>
        </p:nvSpPr>
        <p:spPr>
          <a:xfrm>
            <a:off x="4014902" y="2555748"/>
            <a:ext cx="157277" cy="157277"/>
          </a:xfrm>
          <a:prstGeom prst="rect">
            <a:avLst/>
          </a:prstGeom>
          <a:solidFill>
            <a:srgbClr val="4B5563"/>
          </a:solidFill>
          <a:ln>
            <a:noFill/>
          </a:ln>
        </p:spPr>
        <p:txBody>
          <a:bodyPr rtlCol="0" anchor="ctr"/>
          <a:lstStyle/>
          <a:p>
            <a:pPr algn="ctr"/>
          </a:p>
        </p:txBody>
      </p:sp>
      <p:sp>
        <p:nvSpPr>
          <p:cNvPr id="143" name="Rectangle 142"/>
          <p:cNvSpPr/>
          <p:nvPr/>
        </p:nvSpPr>
        <p:spPr>
          <a:xfrm>
            <a:off x="4014902" y="2359152"/>
            <a:ext cx="157277" cy="157277"/>
          </a:xfrm>
          <a:prstGeom prst="rect">
            <a:avLst/>
          </a:prstGeom>
          <a:solidFill>
            <a:srgbClr val="4B5563"/>
          </a:solidFill>
          <a:ln>
            <a:noFill/>
          </a:ln>
        </p:spPr>
        <p:txBody>
          <a:bodyPr rtlCol="0" anchor="ctr"/>
          <a:lstStyle/>
          <a:p>
            <a:pPr algn="ctr"/>
          </a:p>
        </p:txBody>
      </p:sp>
      <p:sp>
        <p:nvSpPr>
          <p:cNvPr id="144" name="Rectangle 143"/>
          <p:cNvSpPr/>
          <p:nvPr/>
        </p:nvSpPr>
        <p:spPr>
          <a:xfrm>
            <a:off x="4014902" y="2162556"/>
            <a:ext cx="157277" cy="157277"/>
          </a:xfrm>
          <a:prstGeom prst="rect">
            <a:avLst/>
          </a:prstGeom>
          <a:solidFill>
            <a:srgbClr val="4B5563"/>
          </a:solidFill>
          <a:ln>
            <a:noFill/>
          </a:ln>
        </p:spPr>
        <p:txBody>
          <a:bodyPr rtlCol="0" anchor="ctr"/>
          <a:lstStyle/>
          <a:p>
            <a:pPr algn="ctr"/>
          </a:p>
        </p:txBody>
      </p:sp>
      <p:sp>
        <p:nvSpPr>
          <p:cNvPr id="145" name="Rectangle 144"/>
          <p:cNvSpPr/>
          <p:nvPr/>
        </p:nvSpPr>
        <p:spPr>
          <a:xfrm>
            <a:off x="4014902" y="1965960"/>
            <a:ext cx="157277" cy="157277"/>
          </a:xfrm>
          <a:prstGeom prst="rect">
            <a:avLst/>
          </a:prstGeom>
          <a:solidFill>
            <a:srgbClr val="4B5563"/>
          </a:solidFill>
          <a:ln>
            <a:noFill/>
          </a:ln>
        </p:spPr>
        <p:txBody>
          <a:bodyPr rtlCol="0" anchor="ctr"/>
          <a:lstStyle/>
          <a:p>
            <a:pPr algn="ctr"/>
          </a:p>
        </p:txBody>
      </p:sp>
      <p:sp>
        <p:nvSpPr>
          <p:cNvPr id="146" name="Rectangle 145"/>
          <p:cNvSpPr/>
          <p:nvPr/>
        </p:nvSpPr>
        <p:spPr>
          <a:xfrm>
            <a:off x="4014902" y="1769364"/>
            <a:ext cx="157277" cy="157277"/>
          </a:xfrm>
          <a:prstGeom prst="rect">
            <a:avLst/>
          </a:prstGeom>
          <a:solidFill>
            <a:srgbClr val="4B5563"/>
          </a:solidFill>
          <a:ln>
            <a:noFill/>
          </a:ln>
        </p:spPr>
        <p:txBody>
          <a:bodyPr rtlCol="0" anchor="ctr"/>
          <a:lstStyle/>
          <a:p>
            <a:pPr algn="ctr"/>
          </a:p>
        </p:txBody>
      </p:sp>
      <p:sp>
        <p:nvSpPr>
          <p:cNvPr id="147" name="Rectangle 146"/>
          <p:cNvSpPr/>
          <p:nvPr/>
        </p:nvSpPr>
        <p:spPr>
          <a:xfrm>
            <a:off x="4014902" y="1572768"/>
            <a:ext cx="157277" cy="157277"/>
          </a:xfrm>
          <a:prstGeom prst="rect">
            <a:avLst/>
          </a:prstGeom>
          <a:solidFill>
            <a:srgbClr val="4B5563"/>
          </a:solidFill>
          <a:ln>
            <a:noFill/>
          </a:ln>
        </p:spPr>
        <p:txBody>
          <a:bodyPr rtlCol="0" anchor="ctr"/>
          <a:lstStyle/>
          <a:p>
            <a:pPr algn="ctr"/>
          </a:p>
        </p:txBody>
      </p:sp>
      <p:sp>
        <p:nvSpPr>
          <p:cNvPr id="148" name="Rectangle 147"/>
          <p:cNvSpPr/>
          <p:nvPr/>
        </p:nvSpPr>
        <p:spPr>
          <a:xfrm>
            <a:off x="4211498" y="3342132"/>
            <a:ext cx="157277" cy="157277"/>
          </a:xfrm>
          <a:prstGeom prst="rect">
            <a:avLst/>
          </a:prstGeom>
          <a:solidFill>
            <a:srgbClr val="4B5563"/>
          </a:solidFill>
          <a:ln>
            <a:noFill/>
          </a:ln>
        </p:spPr>
        <p:txBody>
          <a:bodyPr rtlCol="0" anchor="ctr"/>
          <a:lstStyle/>
          <a:p>
            <a:pPr algn="ctr"/>
          </a:p>
        </p:txBody>
      </p:sp>
      <p:sp>
        <p:nvSpPr>
          <p:cNvPr id="149" name="Rectangle 148"/>
          <p:cNvSpPr/>
          <p:nvPr/>
        </p:nvSpPr>
        <p:spPr>
          <a:xfrm>
            <a:off x="4211498" y="3145536"/>
            <a:ext cx="157277" cy="157277"/>
          </a:xfrm>
          <a:prstGeom prst="rect">
            <a:avLst/>
          </a:prstGeom>
          <a:solidFill>
            <a:srgbClr val="4B5563"/>
          </a:solidFill>
          <a:ln>
            <a:noFill/>
          </a:ln>
        </p:spPr>
        <p:txBody>
          <a:bodyPr rtlCol="0" anchor="ctr"/>
          <a:lstStyle/>
          <a:p>
            <a:pPr algn="ctr"/>
          </a:p>
        </p:txBody>
      </p:sp>
      <p:sp>
        <p:nvSpPr>
          <p:cNvPr id="150" name="Rectangle 149"/>
          <p:cNvSpPr/>
          <p:nvPr/>
        </p:nvSpPr>
        <p:spPr>
          <a:xfrm>
            <a:off x="4211498" y="2948940"/>
            <a:ext cx="157277" cy="157277"/>
          </a:xfrm>
          <a:prstGeom prst="rect">
            <a:avLst/>
          </a:prstGeom>
          <a:solidFill>
            <a:srgbClr val="4B5563"/>
          </a:solidFill>
          <a:ln>
            <a:noFill/>
          </a:ln>
        </p:spPr>
        <p:txBody>
          <a:bodyPr rtlCol="0" anchor="ctr"/>
          <a:lstStyle/>
          <a:p>
            <a:pPr algn="ctr"/>
          </a:p>
        </p:txBody>
      </p:sp>
      <p:sp>
        <p:nvSpPr>
          <p:cNvPr id="151" name="Rectangle 150"/>
          <p:cNvSpPr/>
          <p:nvPr/>
        </p:nvSpPr>
        <p:spPr>
          <a:xfrm>
            <a:off x="4211498" y="2752344"/>
            <a:ext cx="157277" cy="157277"/>
          </a:xfrm>
          <a:prstGeom prst="rect">
            <a:avLst/>
          </a:prstGeom>
          <a:solidFill>
            <a:srgbClr val="4B5563"/>
          </a:solidFill>
          <a:ln>
            <a:noFill/>
          </a:ln>
        </p:spPr>
        <p:txBody>
          <a:bodyPr rtlCol="0" anchor="ctr"/>
          <a:lstStyle/>
          <a:p>
            <a:pPr algn="ctr"/>
          </a:p>
        </p:txBody>
      </p:sp>
      <p:sp>
        <p:nvSpPr>
          <p:cNvPr id="152" name="Rectangle 151"/>
          <p:cNvSpPr/>
          <p:nvPr/>
        </p:nvSpPr>
        <p:spPr>
          <a:xfrm>
            <a:off x="4211498" y="2555748"/>
            <a:ext cx="157277" cy="157277"/>
          </a:xfrm>
          <a:prstGeom prst="rect">
            <a:avLst/>
          </a:prstGeom>
          <a:solidFill>
            <a:srgbClr val="4B5563"/>
          </a:solidFill>
          <a:ln>
            <a:noFill/>
          </a:ln>
        </p:spPr>
        <p:txBody>
          <a:bodyPr rtlCol="0" anchor="ctr"/>
          <a:lstStyle/>
          <a:p>
            <a:pPr algn="ctr"/>
          </a:p>
        </p:txBody>
      </p:sp>
      <p:sp>
        <p:nvSpPr>
          <p:cNvPr id="153" name="Rectangle 152"/>
          <p:cNvSpPr/>
          <p:nvPr/>
        </p:nvSpPr>
        <p:spPr>
          <a:xfrm>
            <a:off x="4211498" y="2359152"/>
            <a:ext cx="157277" cy="157277"/>
          </a:xfrm>
          <a:prstGeom prst="rect">
            <a:avLst/>
          </a:prstGeom>
          <a:solidFill>
            <a:srgbClr val="4B5563"/>
          </a:solidFill>
          <a:ln>
            <a:noFill/>
          </a:ln>
        </p:spPr>
        <p:txBody>
          <a:bodyPr rtlCol="0" anchor="ctr"/>
          <a:lstStyle/>
          <a:p>
            <a:pPr algn="ctr"/>
          </a:p>
        </p:txBody>
      </p:sp>
      <p:sp>
        <p:nvSpPr>
          <p:cNvPr id="154" name="Rectangle 153"/>
          <p:cNvSpPr/>
          <p:nvPr/>
        </p:nvSpPr>
        <p:spPr>
          <a:xfrm>
            <a:off x="4211498" y="2162556"/>
            <a:ext cx="157277" cy="157277"/>
          </a:xfrm>
          <a:prstGeom prst="rect">
            <a:avLst/>
          </a:prstGeom>
          <a:solidFill>
            <a:srgbClr val="4B5563"/>
          </a:solidFill>
          <a:ln>
            <a:noFill/>
          </a:ln>
        </p:spPr>
        <p:txBody>
          <a:bodyPr rtlCol="0" anchor="ctr"/>
          <a:lstStyle/>
          <a:p>
            <a:pPr algn="ctr"/>
          </a:p>
        </p:txBody>
      </p:sp>
      <p:sp>
        <p:nvSpPr>
          <p:cNvPr id="155" name="Rectangle 154"/>
          <p:cNvSpPr/>
          <p:nvPr/>
        </p:nvSpPr>
        <p:spPr>
          <a:xfrm>
            <a:off x="4211498" y="1965960"/>
            <a:ext cx="157277" cy="157277"/>
          </a:xfrm>
          <a:prstGeom prst="rect">
            <a:avLst/>
          </a:prstGeom>
          <a:solidFill>
            <a:srgbClr val="4B5563"/>
          </a:solidFill>
          <a:ln>
            <a:noFill/>
          </a:ln>
        </p:spPr>
        <p:txBody>
          <a:bodyPr rtlCol="0" anchor="ctr"/>
          <a:lstStyle/>
          <a:p>
            <a:pPr algn="ctr"/>
          </a:p>
        </p:txBody>
      </p:sp>
      <p:sp>
        <p:nvSpPr>
          <p:cNvPr id="156" name="Rectangle 155"/>
          <p:cNvSpPr/>
          <p:nvPr/>
        </p:nvSpPr>
        <p:spPr>
          <a:xfrm>
            <a:off x="4211498" y="1769364"/>
            <a:ext cx="157277" cy="157277"/>
          </a:xfrm>
          <a:prstGeom prst="rect">
            <a:avLst/>
          </a:prstGeom>
          <a:solidFill>
            <a:srgbClr val="4B5563"/>
          </a:solidFill>
          <a:ln>
            <a:noFill/>
          </a:ln>
        </p:spPr>
        <p:txBody>
          <a:bodyPr rtlCol="0" anchor="ctr"/>
          <a:lstStyle/>
          <a:p>
            <a:pPr algn="ctr"/>
          </a:p>
        </p:txBody>
      </p:sp>
      <p:sp>
        <p:nvSpPr>
          <p:cNvPr id="157" name="Rectangle 156"/>
          <p:cNvSpPr/>
          <p:nvPr/>
        </p:nvSpPr>
        <p:spPr>
          <a:xfrm>
            <a:off x="4211498" y="1572768"/>
            <a:ext cx="157277" cy="157277"/>
          </a:xfrm>
          <a:prstGeom prst="rect">
            <a:avLst/>
          </a:prstGeom>
          <a:solidFill>
            <a:srgbClr val="4B5563"/>
          </a:solidFill>
          <a:ln>
            <a:noFill/>
          </a:ln>
        </p:spPr>
        <p:txBody>
          <a:bodyPr rtlCol="0" anchor="ctr"/>
          <a:lstStyle/>
          <a:p>
            <a:pPr algn="ctr"/>
          </a:p>
        </p:txBody>
      </p:sp>
      <p:sp>
        <p:nvSpPr>
          <p:cNvPr id="158" name="Rectangle 157"/>
          <p:cNvSpPr/>
          <p:nvPr/>
        </p:nvSpPr>
        <p:spPr>
          <a:xfrm>
            <a:off x="4408094" y="3342132"/>
            <a:ext cx="157277" cy="157277"/>
          </a:xfrm>
          <a:prstGeom prst="rect">
            <a:avLst/>
          </a:prstGeom>
          <a:solidFill>
            <a:srgbClr val="4B5563"/>
          </a:solidFill>
          <a:ln>
            <a:noFill/>
          </a:ln>
        </p:spPr>
        <p:txBody>
          <a:bodyPr rtlCol="0" anchor="ctr"/>
          <a:lstStyle/>
          <a:p>
            <a:pPr algn="ctr"/>
          </a:p>
        </p:txBody>
      </p:sp>
      <p:sp>
        <p:nvSpPr>
          <p:cNvPr id="159" name="Rectangle 158"/>
          <p:cNvSpPr/>
          <p:nvPr/>
        </p:nvSpPr>
        <p:spPr>
          <a:xfrm>
            <a:off x="4408094" y="3145536"/>
            <a:ext cx="157277" cy="157277"/>
          </a:xfrm>
          <a:prstGeom prst="rect">
            <a:avLst/>
          </a:prstGeom>
          <a:solidFill>
            <a:srgbClr val="4B5563"/>
          </a:solidFill>
          <a:ln>
            <a:noFill/>
          </a:ln>
        </p:spPr>
        <p:txBody>
          <a:bodyPr rtlCol="0" anchor="ctr"/>
          <a:lstStyle/>
          <a:p>
            <a:pPr algn="ctr"/>
          </a:p>
        </p:txBody>
      </p:sp>
      <p:sp>
        <p:nvSpPr>
          <p:cNvPr id="160" name="Rectangle 159"/>
          <p:cNvSpPr/>
          <p:nvPr/>
        </p:nvSpPr>
        <p:spPr>
          <a:xfrm>
            <a:off x="4408094" y="2948940"/>
            <a:ext cx="157277" cy="157277"/>
          </a:xfrm>
          <a:prstGeom prst="rect">
            <a:avLst/>
          </a:prstGeom>
          <a:solidFill>
            <a:srgbClr val="4B5563"/>
          </a:solidFill>
          <a:ln>
            <a:noFill/>
          </a:ln>
        </p:spPr>
        <p:txBody>
          <a:bodyPr rtlCol="0" anchor="ctr"/>
          <a:lstStyle/>
          <a:p>
            <a:pPr algn="ctr"/>
          </a:p>
        </p:txBody>
      </p:sp>
      <p:sp>
        <p:nvSpPr>
          <p:cNvPr id="161" name="Rectangle 160"/>
          <p:cNvSpPr/>
          <p:nvPr/>
        </p:nvSpPr>
        <p:spPr>
          <a:xfrm>
            <a:off x="4408094" y="2752344"/>
            <a:ext cx="157277" cy="157277"/>
          </a:xfrm>
          <a:prstGeom prst="rect">
            <a:avLst/>
          </a:prstGeom>
          <a:solidFill>
            <a:srgbClr val="4B5563"/>
          </a:solidFill>
          <a:ln>
            <a:noFill/>
          </a:ln>
        </p:spPr>
        <p:txBody>
          <a:bodyPr rtlCol="0" anchor="ctr"/>
          <a:lstStyle/>
          <a:p>
            <a:pPr algn="ctr"/>
          </a:p>
        </p:txBody>
      </p:sp>
      <p:sp>
        <p:nvSpPr>
          <p:cNvPr id="162" name="Rectangle 161"/>
          <p:cNvSpPr/>
          <p:nvPr/>
        </p:nvSpPr>
        <p:spPr>
          <a:xfrm>
            <a:off x="4408094" y="2555748"/>
            <a:ext cx="157277" cy="157277"/>
          </a:xfrm>
          <a:prstGeom prst="rect">
            <a:avLst/>
          </a:prstGeom>
          <a:solidFill>
            <a:srgbClr val="4B5563"/>
          </a:solidFill>
          <a:ln>
            <a:noFill/>
          </a:ln>
        </p:spPr>
        <p:txBody>
          <a:bodyPr rtlCol="0" anchor="ctr"/>
          <a:lstStyle/>
          <a:p>
            <a:pPr algn="ctr"/>
          </a:p>
        </p:txBody>
      </p:sp>
      <p:sp>
        <p:nvSpPr>
          <p:cNvPr id="163" name="Rectangle 162"/>
          <p:cNvSpPr/>
          <p:nvPr/>
        </p:nvSpPr>
        <p:spPr>
          <a:xfrm>
            <a:off x="4408094" y="2359152"/>
            <a:ext cx="157277" cy="157277"/>
          </a:xfrm>
          <a:prstGeom prst="rect">
            <a:avLst/>
          </a:prstGeom>
          <a:solidFill>
            <a:srgbClr val="4B5563"/>
          </a:solidFill>
          <a:ln>
            <a:noFill/>
          </a:ln>
        </p:spPr>
        <p:txBody>
          <a:bodyPr rtlCol="0" anchor="ctr"/>
          <a:lstStyle/>
          <a:p>
            <a:pPr algn="ctr"/>
          </a:p>
        </p:txBody>
      </p:sp>
      <p:sp>
        <p:nvSpPr>
          <p:cNvPr id="164" name="Rectangle 163"/>
          <p:cNvSpPr/>
          <p:nvPr/>
        </p:nvSpPr>
        <p:spPr>
          <a:xfrm>
            <a:off x="4408094" y="2162556"/>
            <a:ext cx="157277" cy="157277"/>
          </a:xfrm>
          <a:prstGeom prst="rect">
            <a:avLst/>
          </a:prstGeom>
          <a:solidFill>
            <a:srgbClr val="4B5563"/>
          </a:solidFill>
          <a:ln>
            <a:noFill/>
          </a:ln>
        </p:spPr>
        <p:txBody>
          <a:bodyPr rtlCol="0" anchor="ctr"/>
          <a:lstStyle/>
          <a:p>
            <a:pPr algn="ctr"/>
          </a:p>
        </p:txBody>
      </p:sp>
      <p:sp>
        <p:nvSpPr>
          <p:cNvPr id="165" name="Rectangle 164"/>
          <p:cNvSpPr/>
          <p:nvPr/>
        </p:nvSpPr>
        <p:spPr>
          <a:xfrm>
            <a:off x="4408094" y="1965960"/>
            <a:ext cx="157277" cy="157277"/>
          </a:xfrm>
          <a:prstGeom prst="rect">
            <a:avLst/>
          </a:prstGeom>
          <a:solidFill>
            <a:srgbClr val="4B5563"/>
          </a:solidFill>
          <a:ln>
            <a:noFill/>
          </a:ln>
        </p:spPr>
        <p:txBody>
          <a:bodyPr rtlCol="0" anchor="ctr"/>
          <a:lstStyle/>
          <a:p>
            <a:pPr algn="ctr"/>
          </a:p>
        </p:txBody>
      </p:sp>
      <p:sp>
        <p:nvSpPr>
          <p:cNvPr id="166" name="Rectangle 165"/>
          <p:cNvSpPr/>
          <p:nvPr/>
        </p:nvSpPr>
        <p:spPr>
          <a:xfrm>
            <a:off x="4408094" y="1769364"/>
            <a:ext cx="157277" cy="157277"/>
          </a:xfrm>
          <a:prstGeom prst="rect">
            <a:avLst/>
          </a:prstGeom>
          <a:solidFill>
            <a:srgbClr val="4B5563"/>
          </a:solidFill>
          <a:ln>
            <a:noFill/>
          </a:ln>
        </p:spPr>
        <p:txBody>
          <a:bodyPr rtlCol="0" anchor="ctr"/>
          <a:lstStyle/>
          <a:p>
            <a:pPr algn="ctr"/>
          </a:p>
        </p:txBody>
      </p:sp>
      <p:sp>
        <p:nvSpPr>
          <p:cNvPr id="167" name="Rectangle 166"/>
          <p:cNvSpPr/>
          <p:nvPr/>
        </p:nvSpPr>
        <p:spPr>
          <a:xfrm>
            <a:off x="4408094" y="1572768"/>
            <a:ext cx="157277" cy="157277"/>
          </a:xfrm>
          <a:prstGeom prst="rect">
            <a:avLst/>
          </a:prstGeom>
          <a:solidFill>
            <a:srgbClr val="4B5563"/>
          </a:solidFill>
          <a:ln>
            <a:noFill/>
          </a:ln>
        </p:spPr>
        <p:txBody>
          <a:bodyPr rtlCol="0" anchor="ctr"/>
          <a:lstStyle/>
          <a:p>
            <a:pPr algn="ctr"/>
          </a:p>
        </p:txBody>
      </p:sp>
      <p:sp>
        <p:nvSpPr>
          <p:cNvPr id="168" name="Rectangle 167"/>
          <p:cNvSpPr/>
          <p:nvPr/>
        </p:nvSpPr>
        <p:spPr>
          <a:xfrm>
            <a:off x="4604690" y="3342132"/>
            <a:ext cx="157277" cy="157277"/>
          </a:xfrm>
          <a:prstGeom prst="rect">
            <a:avLst/>
          </a:prstGeom>
          <a:solidFill>
            <a:srgbClr val="4B5563"/>
          </a:solidFill>
          <a:ln>
            <a:noFill/>
          </a:ln>
        </p:spPr>
        <p:txBody>
          <a:bodyPr rtlCol="0" anchor="ctr"/>
          <a:lstStyle/>
          <a:p>
            <a:pPr algn="ctr"/>
          </a:p>
        </p:txBody>
      </p:sp>
      <p:sp>
        <p:nvSpPr>
          <p:cNvPr id="169" name="Rectangle 168"/>
          <p:cNvSpPr/>
          <p:nvPr/>
        </p:nvSpPr>
        <p:spPr>
          <a:xfrm>
            <a:off x="4604690" y="3145536"/>
            <a:ext cx="157277" cy="157277"/>
          </a:xfrm>
          <a:prstGeom prst="rect">
            <a:avLst/>
          </a:prstGeom>
          <a:solidFill>
            <a:srgbClr val="4B5563"/>
          </a:solidFill>
          <a:ln>
            <a:noFill/>
          </a:ln>
        </p:spPr>
        <p:txBody>
          <a:bodyPr rtlCol="0" anchor="ctr"/>
          <a:lstStyle/>
          <a:p>
            <a:pPr algn="ctr"/>
          </a:p>
        </p:txBody>
      </p:sp>
      <p:sp>
        <p:nvSpPr>
          <p:cNvPr id="170" name="Rectangle 169"/>
          <p:cNvSpPr/>
          <p:nvPr/>
        </p:nvSpPr>
        <p:spPr>
          <a:xfrm>
            <a:off x="4604690" y="2948940"/>
            <a:ext cx="157277" cy="157277"/>
          </a:xfrm>
          <a:prstGeom prst="rect">
            <a:avLst/>
          </a:prstGeom>
          <a:solidFill>
            <a:srgbClr val="4B5563"/>
          </a:solidFill>
          <a:ln>
            <a:noFill/>
          </a:ln>
        </p:spPr>
        <p:txBody>
          <a:bodyPr rtlCol="0" anchor="ctr"/>
          <a:lstStyle/>
          <a:p>
            <a:pPr algn="ctr"/>
          </a:p>
        </p:txBody>
      </p:sp>
      <p:sp>
        <p:nvSpPr>
          <p:cNvPr id="171" name="Rectangle 170"/>
          <p:cNvSpPr/>
          <p:nvPr/>
        </p:nvSpPr>
        <p:spPr>
          <a:xfrm>
            <a:off x="4604690" y="2752344"/>
            <a:ext cx="157277" cy="157277"/>
          </a:xfrm>
          <a:prstGeom prst="rect">
            <a:avLst/>
          </a:prstGeom>
          <a:solidFill>
            <a:srgbClr val="E5E7EB"/>
          </a:solidFill>
          <a:ln>
            <a:noFill/>
          </a:ln>
        </p:spPr>
        <p:txBody>
          <a:bodyPr rtlCol="0" anchor="ctr"/>
          <a:lstStyle/>
          <a:p>
            <a:pPr algn="ctr"/>
          </a:p>
        </p:txBody>
      </p:sp>
      <p:sp>
        <p:nvSpPr>
          <p:cNvPr id="172" name="Rectangle 171"/>
          <p:cNvSpPr/>
          <p:nvPr/>
        </p:nvSpPr>
        <p:spPr>
          <a:xfrm>
            <a:off x="4604690" y="2555748"/>
            <a:ext cx="157277" cy="157277"/>
          </a:xfrm>
          <a:prstGeom prst="rect">
            <a:avLst/>
          </a:prstGeom>
          <a:solidFill>
            <a:srgbClr val="E5E7EB"/>
          </a:solidFill>
          <a:ln>
            <a:noFill/>
          </a:ln>
        </p:spPr>
        <p:txBody>
          <a:bodyPr rtlCol="0" anchor="ctr"/>
          <a:lstStyle/>
          <a:p>
            <a:pPr algn="ctr"/>
          </a:p>
        </p:txBody>
      </p:sp>
      <p:sp>
        <p:nvSpPr>
          <p:cNvPr id="173" name="Rectangle 172"/>
          <p:cNvSpPr/>
          <p:nvPr/>
        </p:nvSpPr>
        <p:spPr>
          <a:xfrm>
            <a:off x="4604690" y="2359152"/>
            <a:ext cx="157277" cy="157277"/>
          </a:xfrm>
          <a:prstGeom prst="rect">
            <a:avLst/>
          </a:prstGeom>
          <a:solidFill>
            <a:srgbClr val="E5E7EB"/>
          </a:solidFill>
          <a:ln>
            <a:noFill/>
          </a:ln>
        </p:spPr>
        <p:txBody>
          <a:bodyPr rtlCol="0" anchor="ctr"/>
          <a:lstStyle/>
          <a:p>
            <a:pPr algn="ctr"/>
          </a:p>
        </p:txBody>
      </p:sp>
      <p:sp>
        <p:nvSpPr>
          <p:cNvPr id="174" name="Rectangle 173"/>
          <p:cNvSpPr/>
          <p:nvPr/>
        </p:nvSpPr>
        <p:spPr>
          <a:xfrm>
            <a:off x="4604690" y="2162556"/>
            <a:ext cx="157277" cy="157277"/>
          </a:xfrm>
          <a:prstGeom prst="rect">
            <a:avLst/>
          </a:prstGeom>
          <a:solidFill>
            <a:srgbClr val="E5E7EB"/>
          </a:solidFill>
          <a:ln>
            <a:noFill/>
          </a:ln>
        </p:spPr>
        <p:txBody>
          <a:bodyPr rtlCol="0" anchor="ctr"/>
          <a:lstStyle/>
          <a:p>
            <a:pPr algn="ctr"/>
          </a:p>
        </p:txBody>
      </p:sp>
      <p:sp>
        <p:nvSpPr>
          <p:cNvPr id="175" name="Rectangle 174"/>
          <p:cNvSpPr/>
          <p:nvPr/>
        </p:nvSpPr>
        <p:spPr>
          <a:xfrm>
            <a:off x="4604690" y="1965960"/>
            <a:ext cx="157277" cy="157277"/>
          </a:xfrm>
          <a:prstGeom prst="rect">
            <a:avLst/>
          </a:prstGeom>
          <a:solidFill>
            <a:srgbClr val="E5E7EB"/>
          </a:solidFill>
          <a:ln>
            <a:noFill/>
          </a:ln>
        </p:spPr>
        <p:txBody>
          <a:bodyPr rtlCol="0" anchor="ctr"/>
          <a:lstStyle/>
          <a:p>
            <a:pPr algn="ctr"/>
          </a:p>
        </p:txBody>
      </p:sp>
      <p:sp>
        <p:nvSpPr>
          <p:cNvPr id="176" name="Rectangle 175"/>
          <p:cNvSpPr/>
          <p:nvPr/>
        </p:nvSpPr>
        <p:spPr>
          <a:xfrm>
            <a:off x="4604690" y="1769364"/>
            <a:ext cx="157277" cy="157277"/>
          </a:xfrm>
          <a:prstGeom prst="rect">
            <a:avLst/>
          </a:prstGeom>
          <a:solidFill>
            <a:srgbClr val="E5E7EB"/>
          </a:solidFill>
          <a:ln>
            <a:noFill/>
          </a:ln>
        </p:spPr>
        <p:txBody>
          <a:bodyPr rtlCol="0" anchor="ctr"/>
          <a:lstStyle/>
          <a:p>
            <a:pPr algn="ctr"/>
          </a:p>
        </p:txBody>
      </p:sp>
      <p:sp>
        <p:nvSpPr>
          <p:cNvPr id="177" name="Rectangle 176"/>
          <p:cNvSpPr/>
          <p:nvPr/>
        </p:nvSpPr>
        <p:spPr>
          <a:xfrm>
            <a:off x="4604690" y="1572768"/>
            <a:ext cx="157277" cy="157277"/>
          </a:xfrm>
          <a:prstGeom prst="rect">
            <a:avLst/>
          </a:prstGeom>
          <a:solidFill>
            <a:srgbClr val="E5E7EB"/>
          </a:solidFill>
          <a:ln>
            <a:noFill/>
          </a:ln>
        </p:spPr>
        <p:txBody>
          <a:bodyPr rtlCol="0" anchor="ctr"/>
          <a:lstStyle/>
          <a:p>
            <a:pPr algn="ctr"/>
          </a:p>
        </p:txBody>
      </p:sp>
      <p:sp>
        <p:nvSpPr>
          <p:cNvPr id="178" name="Rectangle 177"/>
          <p:cNvSpPr/>
          <p:nvPr/>
        </p:nvSpPr>
        <p:spPr>
          <a:xfrm>
            <a:off x="4801286" y="3342132"/>
            <a:ext cx="157277" cy="157277"/>
          </a:xfrm>
          <a:prstGeom prst="rect">
            <a:avLst/>
          </a:prstGeom>
          <a:solidFill>
            <a:srgbClr val="E5E7EB"/>
          </a:solidFill>
          <a:ln>
            <a:noFill/>
          </a:ln>
        </p:spPr>
        <p:txBody>
          <a:bodyPr rtlCol="0" anchor="ctr"/>
          <a:lstStyle/>
          <a:p>
            <a:pPr algn="ctr"/>
          </a:p>
        </p:txBody>
      </p:sp>
      <p:sp>
        <p:nvSpPr>
          <p:cNvPr id="179" name="Rectangle 178"/>
          <p:cNvSpPr/>
          <p:nvPr/>
        </p:nvSpPr>
        <p:spPr>
          <a:xfrm>
            <a:off x="4801286" y="3145536"/>
            <a:ext cx="157277" cy="157277"/>
          </a:xfrm>
          <a:prstGeom prst="rect">
            <a:avLst/>
          </a:prstGeom>
          <a:solidFill>
            <a:srgbClr val="E5E7EB"/>
          </a:solidFill>
          <a:ln>
            <a:noFill/>
          </a:ln>
        </p:spPr>
        <p:txBody>
          <a:bodyPr rtlCol="0" anchor="ctr"/>
          <a:lstStyle/>
          <a:p>
            <a:pPr algn="ctr"/>
          </a:p>
        </p:txBody>
      </p:sp>
      <p:sp>
        <p:nvSpPr>
          <p:cNvPr id="180" name="Rectangle 179"/>
          <p:cNvSpPr/>
          <p:nvPr/>
        </p:nvSpPr>
        <p:spPr>
          <a:xfrm>
            <a:off x="4801286" y="2948940"/>
            <a:ext cx="157277" cy="157277"/>
          </a:xfrm>
          <a:prstGeom prst="rect">
            <a:avLst/>
          </a:prstGeom>
          <a:solidFill>
            <a:srgbClr val="E5E7EB"/>
          </a:solidFill>
          <a:ln>
            <a:noFill/>
          </a:ln>
        </p:spPr>
        <p:txBody>
          <a:bodyPr rtlCol="0" anchor="ctr"/>
          <a:lstStyle/>
          <a:p>
            <a:pPr algn="ctr"/>
          </a:p>
        </p:txBody>
      </p:sp>
      <p:sp>
        <p:nvSpPr>
          <p:cNvPr id="181" name="Rectangle 180"/>
          <p:cNvSpPr/>
          <p:nvPr/>
        </p:nvSpPr>
        <p:spPr>
          <a:xfrm>
            <a:off x="4801286" y="2752344"/>
            <a:ext cx="157277" cy="157277"/>
          </a:xfrm>
          <a:prstGeom prst="rect">
            <a:avLst/>
          </a:prstGeom>
          <a:solidFill>
            <a:srgbClr val="E5E7EB"/>
          </a:solidFill>
          <a:ln>
            <a:noFill/>
          </a:ln>
        </p:spPr>
        <p:txBody>
          <a:bodyPr rtlCol="0" anchor="ctr"/>
          <a:lstStyle/>
          <a:p>
            <a:pPr algn="ctr"/>
          </a:p>
        </p:txBody>
      </p:sp>
      <p:sp>
        <p:nvSpPr>
          <p:cNvPr id="182" name="Rectangle 181"/>
          <p:cNvSpPr/>
          <p:nvPr/>
        </p:nvSpPr>
        <p:spPr>
          <a:xfrm>
            <a:off x="4801286" y="2555748"/>
            <a:ext cx="157277" cy="157277"/>
          </a:xfrm>
          <a:prstGeom prst="rect">
            <a:avLst/>
          </a:prstGeom>
          <a:solidFill>
            <a:srgbClr val="E5E7EB"/>
          </a:solidFill>
          <a:ln>
            <a:noFill/>
          </a:ln>
        </p:spPr>
        <p:txBody>
          <a:bodyPr rtlCol="0" anchor="ctr"/>
          <a:lstStyle/>
          <a:p>
            <a:pPr algn="ctr"/>
          </a:p>
        </p:txBody>
      </p:sp>
      <p:sp>
        <p:nvSpPr>
          <p:cNvPr id="183" name="Rectangle 182"/>
          <p:cNvSpPr/>
          <p:nvPr/>
        </p:nvSpPr>
        <p:spPr>
          <a:xfrm>
            <a:off x="4801286" y="2359152"/>
            <a:ext cx="157277" cy="157277"/>
          </a:xfrm>
          <a:prstGeom prst="rect">
            <a:avLst/>
          </a:prstGeom>
          <a:solidFill>
            <a:srgbClr val="E5E7EB"/>
          </a:solidFill>
          <a:ln>
            <a:noFill/>
          </a:ln>
        </p:spPr>
        <p:txBody>
          <a:bodyPr rtlCol="0" anchor="ctr"/>
          <a:lstStyle/>
          <a:p>
            <a:pPr algn="ctr"/>
          </a:p>
        </p:txBody>
      </p:sp>
      <p:sp>
        <p:nvSpPr>
          <p:cNvPr id="184" name="Rectangle 183"/>
          <p:cNvSpPr/>
          <p:nvPr/>
        </p:nvSpPr>
        <p:spPr>
          <a:xfrm>
            <a:off x="4801286" y="2162556"/>
            <a:ext cx="157277" cy="157277"/>
          </a:xfrm>
          <a:prstGeom prst="rect">
            <a:avLst/>
          </a:prstGeom>
          <a:solidFill>
            <a:srgbClr val="E5E7EB"/>
          </a:solidFill>
          <a:ln>
            <a:noFill/>
          </a:ln>
        </p:spPr>
        <p:txBody>
          <a:bodyPr rtlCol="0" anchor="ctr"/>
          <a:lstStyle/>
          <a:p>
            <a:pPr algn="ctr"/>
          </a:p>
        </p:txBody>
      </p:sp>
      <p:sp>
        <p:nvSpPr>
          <p:cNvPr id="185" name="Rectangle 184"/>
          <p:cNvSpPr/>
          <p:nvPr/>
        </p:nvSpPr>
        <p:spPr>
          <a:xfrm>
            <a:off x="4801286" y="1965960"/>
            <a:ext cx="157277" cy="157277"/>
          </a:xfrm>
          <a:prstGeom prst="rect">
            <a:avLst/>
          </a:prstGeom>
          <a:solidFill>
            <a:srgbClr val="E5E7EB"/>
          </a:solidFill>
          <a:ln>
            <a:noFill/>
          </a:ln>
        </p:spPr>
        <p:txBody>
          <a:bodyPr rtlCol="0" anchor="ctr"/>
          <a:lstStyle/>
          <a:p>
            <a:pPr algn="ctr"/>
          </a:p>
        </p:txBody>
      </p:sp>
      <p:sp>
        <p:nvSpPr>
          <p:cNvPr id="186" name="Rectangle 185"/>
          <p:cNvSpPr/>
          <p:nvPr/>
        </p:nvSpPr>
        <p:spPr>
          <a:xfrm>
            <a:off x="4801286" y="1769364"/>
            <a:ext cx="157277" cy="157277"/>
          </a:xfrm>
          <a:prstGeom prst="rect">
            <a:avLst/>
          </a:prstGeom>
          <a:solidFill>
            <a:srgbClr val="E5E7EB"/>
          </a:solidFill>
          <a:ln>
            <a:noFill/>
          </a:ln>
        </p:spPr>
        <p:txBody>
          <a:bodyPr rtlCol="0" anchor="ctr"/>
          <a:lstStyle/>
          <a:p>
            <a:pPr algn="ctr"/>
          </a:p>
        </p:txBody>
      </p:sp>
      <p:sp>
        <p:nvSpPr>
          <p:cNvPr id="187" name="Rectangle 186"/>
          <p:cNvSpPr/>
          <p:nvPr/>
        </p:nvSpPr>
        <p:spPr>
          <a:xfrm>
            <a:off x="4801286" y="1572768"/>
            <a:ext cx="157277" cy="157277"/>
          </a:xfrm>
          <a:prstGeom prst="rect">
            <a:avLst/>
          </a:prstGeom>
          <a:solidFill>
            <a:srgbClr val="E5E7EB"/>
          </a:solidFill>
          <a:ln>
            <a:noFill/>
          </a:ln>
        </p:spPr>
        <p:txBody>
          <a:bodyPr rtlCol="0" anchor="ctr"/>
          <a:lstStyle/>
          <a:p>
            <a:pPr algn="ctr"/>
          </a:p>
        </p:txBody>
      </p:sp>
      <p:sp>
        <p:nvSpPr>
          <p:cNvPr id="188" name="Rectangle 187"/>
          <p:cNvSpPr/>
          <p:nvPr/>
        </p:nvSpPr>
        <p:spPr>
          <a:xfrm>
            <a:off x="4997882" y="3342132"/>
            <a:ext cx="157277" cy="157277"/>
          </a:xfrm>
          <a:prstGeom prst="rect">
            <a:avLst/>
          </a:prstGeom>
          <a:solidFill>
            <a:srgbClr val="E5E7EB"/>
          </a:solidFill>
          <a:ln>
            <a:noFill/>
          </a:ln>
        </p:spPr>
        <p:txBody>
          <a:bodyPr rtlCol="0" anchor="ctr"/>
          <a:lstStyle/>
          <a:p>
            <a:pPr algn="ctr"/>
          </a:p>
        </p:txBody>
      </p:sp>
      <p:sp>
        <p:nvSpPr>
          <p:cNvPr id="189" name="Rectangle 188"/>
          <p:cNvSpPr/>
          <p:nvPr/>
        </p:nvSpPr>
        <p:spPr>
          <a:xfrm>
            <a:off x="4997882" y="3145536"/>
            <a:ext cx="157277" cy="157277"/>
          </a:xfrm>
          <a:prstGeom prst="rect">
            <a:avLst/>
          </a:prstGeom>
          <a:solidFill>
            <a:srgbClr val="E5E7EB"/>
          </a:solidFill>
          <a:ln>
            <a:noFill/>
          </a:ln>
        </p:spPr>
        <p:txBody>
          <a:bodyPr rtlCol="0" anchor="ctr"/>
          <a:lstStyle/>
          <a:p>
            <a:pPr algn="ctr"/>
          </a:p>
        </p:txBody>
      </p:sp>
      <p:sp>
        <p:nvSpPr>
          <p:cNvPr id="190" name="Rectangle 189"/>
          <p:cNvSpPr/>
          <p:nvPr/>
        </p:nvSpPr>
        <p:spPr>
          <a:xfrm>
            <a:off x="4997882" y="2948940"/>
            <a:ext cx="157277" cy="157277"/>
          </a:xfrm>
          <a:prstGeom prst="rect">
            <a:avLst/>
          </a:prstGeom>
          <a:solidFill>
            <a:srgbClr val="E5E7EB"/>
          </a:solidFill>
          <a:ln>
            <a:noFill/>
          </a:ln>
        </p:spPr>
        <p:txBody>
          <a:bodyPr rtlCol="0" anchor="ctr"/>
          <a:lstStyle/>
          <a:p>
            <a:pPr algn="ctr"/>
          </a:p>
        </p:txBody>
      </p:sp>
      <p:sp>
        <p:nvSpPr>
          <p:cNvPr id="191" name="Rectangle 190"/>
          <p:cNvSpPr/>
          <p:nvPr/>
        </p:nvSpPr>
        <p:spPr>
          <a:xfrm>
            <a:off x="4997882" y="2752344"/>
            <a:ext cx="157277" cy="157277"/>
          </a:xfrm>
          <a:prstGeom prst="rect">
            <a:avLst/>
          </a:prstGeom>
          <a:solidFill>
            <a:srgbClr val="E5E7EB"/>
          </a:solidFill>
          <a:ln>
            <a:noFill/>
          </a:ln>
        </p:spPr>
        <p:txBody>
          <a:bodyPr rtlCol="0" anchor="ctr"/>
          <a:lstStyle/>
          <a:p>
            <a:pPr algn="ctr"/>
          </a:p>
        </p:txBody>
      </p:sp>
      <p:sp>
        <p:nvSpPr>
          <p:cNvPr id="192" name="Rectangle 191"/>
          <p:cNvSpPr/>
          <p:nvPr/>
        </p:nvSpPr>
        <p:spPr>
          <a:xfrm>
            <a:off x="4997882" y="2555748"/>
            <a:ext cx="157277" cy="157277"/>
          </a:xfrm>
          <a:prstGeom prst="rect">
            <a:avLst/>
          </a:prstGeom>
          <a:solidFill>
            <a:srgbClr val="E5E7EB"/>
          </a:solidFill>
          <a:ln>
            <a:noFill/>
          </a:ln>
        </p:spPr>
        <p:txBody>
          <a:bodyPr rtlCol="0" anchor="ctr"/>
          <a:lstStyle/>
          <a:p>
            <a:pPr algn="ctr"/>
          </a:p>
        </p:txBody>
      </p:sp>
      <p:sp>
        <p:nvSpPr>
          <p:cNvPr id="193" name="Rectangle 192"/>
          <p:cNvSpPr/>
          <p:nvPr/>
        </p:nvSpPr>
        <p:spPr>
          <a:xfrm>
            <a:off x="4997882" y="2359152"/>
            <a:ext cx="157277" cy="157277"/>
          </a:xfrm>
          <a:prstGeom prst="rect">
            <a:avLst/>
          </a:prstGeom>
          <a:solidFill>
            <a:srgbClr val="E5E7EB"/>
          </a:solidFill>
          <a:ln>
            <a:noFill/>
          </a:ln>
        </p:spPr>
        <p:txBody>
          <a:bodyPr rtlCol="0" anchor="ctr"/>
          <a:lstStyle/>
          <a:p>
            <a:pPr algn="ctr"/>
          </a:p>
        </p:txBody>
      </p:sp>
      <p:sp>
        <p:nvSpPr>
          <p:cNvPr id="194" name="Rectangle 193"/>
          <p:cNvSpPr/>
          <p:nvPr/>
        </p:nvSpPr>
        <p:spPr>
          <a:xfrm>
            <a:off x="4997882" y="2162556"/>
            <a:ext cx="157277" cy="157277"/>
          </a:xfrm>
          <a:prstGeom prst="rect">
            <a:avLst/>
          </a:prstGeom>
          <a:solidFill>
            <a:srgbClr val="E5E7EB"/>
          </a:solidFill>
          <a:ln>
            <a:noFill/>
          </a:ln>
        </p:spPr>
        <p:txBody>
          <a:bodyPr rtlCol="0" anchor="ctr"/>
          <a:lstStyle/>
          <a:p>
            <a:pPr algn="ctr"/>
          </a:p>
        </p:txBody>
      </p:sp>
      <p:sp>
        <p:nvSpPr>
          <p:cNvPr id="195" name="Rectangle 194"/>
          <p:cNvSpPr/>
          <p:nvPr/>
        </p:nvSpPr>
        <p:spPr>
          <a:xfrm>
            <a:off x="4997882" y="1965960"/>
            <a:ext cx="157277" cy="157277"/>
          </a:xfrm>
          <a:prstGeom prst="rect">
            <a:avLst/>
          </a:prstGeom>
          <a:solidFill>
            <a:srgbClr val="E5E7EB"/>
          </a:solidFill>
          <a:ln>
            <a:noFill/>
          </a:ln>
        </p:spPr>
        <p:txBody>
          <a:bodyPr rtlCol="0" anchor="ctr"/>
          <a:lstStyle/>
          <a:p>
            <a:pPr algn="ctr"/>
          </a:p>
        </p:txBody>
      </p:sp>
      <p:sp>
        <p:nvSpPr>
          <p:cNvPr id="196" name="Rectangle 195"/>
          <p:cNvSpPr/>
          <p:nvPr/>
        </p:nvSpPr>
        <p:spPr>
          <a:xfrm>
            <a:off x="4997882" y="1769364"/>
            <a:ext cx="157277" cy="157277"/>
          </a:xfrm>
          <a:prstGeom prst="rect">
            <a:avLst/>
          </a:prstGeom>
          <a:solidFill>
            <a:srgbClr val="E5E7EB"/>
          </a:solidFill>
          <a:ln>
            <a:noFill/>
          </a:ln>
        </p:spPr>
        <p:txBody>
          <a:bodyPr rtlCol="0" anchor="ctr"/>
          <a:lstStyle/>
          <a:p>
            <a:pPr algn="ctr"/>
          </a:p>
        </p:txBody>
      </p:sp>
      <p:sp>
        <p:nvSpPr>
          <p:cNvPr id="197" name="Rectangle 196"/>
          <p:cNvSpPr/>
          <p:nvPr/>
        </p:nvSpPr>
        <p:spPr>
          <a:xfrm>
            <a:off x="4997882" y="1572768"/>
            <a:ext cx="157277" cy="157277"/>
          </a:xfrm>
          <a:prstGeom prst="rect">
            <a:avLst/>
          </a:prstGeom>
          <a:solidFill>
            <a:srgbClr val="E5E7EB"/>
          </a:solidFill>
          <a:ln>
            <a:noFill/>
          </a:ln>
        </p:spPr>
        <p:txBody>
          <a:bodyPr rtlCol="0" anchor="ctr"/>
          <a:lstStyle/>
          <a:p>
            <a:pPr algn="ctr"/>
          </a:p>
        </p:txBody>
      </p:sp>
      <p:sp>
        <p:nvSpPr>
          <p:cNvPr id="198" name="Rectangle 197"/>
          <p:cNvSpPr/>
          <p:nvPr/>
        </p:nvSpPr>
        <p:spPr>
          <a:xfrm>
            <a:off x="5194478" y="3342132"/>
            <a:ext cx="157277" cy="157277"/>
          </a:xfrm>
          <a:prstGeom prst="rect">
            <a:avLst/>
          </a:prstGeom>
          <a:solidFill>
            <a:srgbClr val="E5E7EB"/>
          </a:solidFill>
          <a:ln>
            <a:noFill/>
          </a:ln>
        </p:spPr>
        <p:txBody>
          <a:bodyPr rtlCol="0" anchor="ctr"/>
          <a:lstStyle/>
          <a:p>
            <a:pPr algn="ctr"/>
          </a:p>
        </p:txBody>
      </p:sp>
      <p:sp>
        <p:nvSpPr>
          <p:cNvPr id="199" name="Rectangle 198"/>
          <p:cNvSpPr/>
          <p:nvPr/>
        </p:nvSpPr>
        <p:spPr>
          <a:xfrm>
            <a:off x="5194478" y="3145536"/>
            <a:ext cx="157277" cy="157277"/>
          </a:xfrm>
          <a:prstGeom prst="rect">
            <a:avLst/>
          </a:prstGeom>
          <a:solidFill>
            <a:srgbClr val="E5E7EB"/>
          </a:solidFill>
          <a:ln>
            <a:noFill/>
          </a:ln>
        </p:spPr>
        <p:txBody>
          <a:bodyPr rtlCol="0" anchor="ctr"/>
          <a:lstStyle/>
          <a:p>
            <a:pPr algn="ctr"/>
          </a:p>
        </p:txBody>
      </p:sp>
      <p:sp>
        <p:nvSpPr>
          <p:cNvPr id="200" name="Rectangle 199"/>
          <p:cNvSpPr/>
          <p:nvPr/>
        </p:nvSpPr>
        <p:spPr>
          <a:xfrm>
            <a:off x="5194478" y="2948940"/>
            <a:ext cx="157277" cy="157277"/>
          </a:xfrm>
          <a:prstGeom prst="rect">
            <a:avLst/>
          </a:prstGeom>
          <a:solidFill>
            <a:srgbClr val="E5E7EB"/>
          </a:solidFill>
          <a:ln>
            <a:noFill/>
          </a:ln>
        </p:spPr>
        <p:txBody>
          <a:bodyPr rtlCol="0" anchor="ctr"/>
          <a:lstStyle/>
          <a:p>
            <a:pPr algn="ctr"/>
          </a:p>
        </p:txBody>
      </p:sp>
      <p:sp>
        <p:nvSpPr>
          <p:cNvPr id="201" name="Rectangle 200"/>
          <p:cNvSpPr/>
          <p:nvPr/>
        </p:nvSpPr>
        <p:spPr>
          <a:xfrm>
            <a:off x="5194478" y="2752344"/>
            <a:ext cx="157277" cy="157277"/>
          </a:xfrm>
          <a:prstGeom prst="rect">
            <a:avLst/>
          </a:prstGeom>
          <a:solidFill>
            <a:srgbClr val="E5E7EB"/>
          </a:solidFill>
          <a:ln>
            <a:noFill/>
          </a:ln>
        </p:spPr>
        <p:txBody>
          <a:bodyPr rtlCol="0" anchor="ctr"/>
          <a:lstStyle/>
          <a:p>
            <a:pPr algn="ctr"/>
          </a:p>
        </p:txBody>
      </p:sp>
      <p:sp>
        <p:nvSpPr>
          <p:cNvPr id="202" name="Rectangle 201"/>
          <p:cNvSpPr/>
          <p:nvPr/>
        </p:nvSpPr>
        <p:spPr>
          <a:xfrm>
            <a:off x="5194478" y="2555748"/>
            <a:ext cx="157277" cy="157277"/>
          </a:xfrm>
          <a:prstGeom prst="rect">
            <a:avLst/>
          </a:prstGeom>
          <a:solidFill>
            <a:srgbClr val="E5E7EB"/>
          </a:solidFill>
          <a:ln>
            <a:noFill/>
          </a:ln>
        </p:spPr>
        <p:txBody>
          <a:bodyPr rtlCol="0" anchor="ctr"/>
          <a:lstStyle/>
          <a:p>
            <a:pPr algn="ctr"/>
          </a:p>
        </p:txBody>
      </p:sp>
      <p:sp>
        <p:nvSpPr>
          <p:cNvPr id="203" name="Rectangle 202"/>
          <p:cNvSpPr/>
          <p:nvPr/>
        </p:nvSpPr>
        <p:spPr>
          <a:xfrm>
            <a:off x="5194478" y="2359152"/>
            <a:ext cx="157277" cy="157277"/>
          </a:xfrm>
          <a:prstGeom prst="rect">
            <a:avLst/>
          </a:prstGeom>
          <a:solidFill>
            <a:srgbClr val="E5E7EB"/>
          </a:solidFill>
          <a:ln>
            <a:noFill/>
          </a:ln>
        </p:spPr>
        <p:txBody>
          <a:bodyPr rtlCol="0" anchor="ctr"/>
          <a:lstStyle/>
          <a:p>
            <a:pPr algn="ctr"/>
          </a:p>
        </p:txBody>
      </p:sp>
      <p:sp>
        <p:nvSpPr>
          <p:cNvPr id="204" name="Rectangle 203"/>
          <p:cNvSpPr/>
          <p:nvPr/>
        </p:nvSpPr>
        <p:spPr>
          <a:xfrm>
            <a:off x="5194478" y="2162556"/>
            <a:ext cx="157277" cy="157277"/>
          </a:xfrm>
          <a:prstGeom prst="rect">
            <a:avLst/>
          </a:prstGeom>
          <a:solidFill>
            <a:srgbClr val="E5E7EB"/>
          </a:solidFill>
          <a:ln>
            <a:noFill/>
          </a:ln>
        </p:spPr>
        <p:txBody>
          <a:bodyPr rtlCol="0" anchor="ctr"/>
          <a:lstStyle/>
          <a:p>
            <a:pPr algn="ctr"/>
          </a:p>
        </p:txBody>
      </p:sp>
      <p:sp>
        <p:nvSpPr>
          <p:cNvPr id="205" name="Rectangle 204"/>
          <p:cNvSpPr/>
          <p:nvPr/>
        </p:nvSpPr>
        <p:spPr>
          <a:xfrm>
            <a:off x="5194478" y="1965960"/>
            <a:ext cx="157277" cy="157277"/>
          </a:xfrm>
          <a:prstGeom prst="rect">
            <a:avLst/>
          </a:prstGeom>
          <a:solidFill>
            <a:srgbClr val="E5E7EB"/>
          </a:solidFill>
          <a:ln>
            <a:noFill/>
          </a:ln>
        </p:spPr>
        <p:txBody>
          <a:bodyPr rtlCol="0" anchor="ctr"/>
          <a:lstStyle/>
          <a:p>
            <a:pPr algn="ctr"/>
          </a:p>
        </p:txBody>
      </p:sp>
      <p:sp>
        <p:nvSpPr>
          <p:cNvPr id="206" name="Rectangle 205"/>
          <p:cNvSpPr/>
          <p:nvPr/>
        </p:nvSpPr>
        <p:spPr>
          <a:xfrm>
            <a:off x="5194478" y="1769364"/>
            <a:ext cx="157277" cy="157277"/>
          </a:xfrm>
          <a:prstGeom prst="rect">
            <a:avLst/>
          </a:prstGeom>
          <a:solidFill>
            <a:srgbClr val="E5E7EB"/>
          </a:solidFill>
          <a:ln>
            <a:noFill/>
          </a:ln>
        </p:spPr>
        <p:txBody>
          <a:bodyPr rtlCol="0" anchor="ctr"/>
          <a:lstStyle/>
          <a:p>
            <a:pPr algn="ctr"/>
          </a:p>
        </p:txBody>
      </p:sp>
      <p:sp>
        <p:nvSpPr>
          <p:cNvPr id="207" name="Rectangle 206"/>
          <p:cNvSpPr/>
          <p:nvPr/>
        </p:nvSpPr>
        <p:spPr>
          <a:xfrm>
            <a:off x="5194478" y="1572768"/>
            <a:ext cx="157277" cy="157277"/>
          </a:xfrm>
          <a:prstGeom prst="rect">
            <a:avLst/>
          </a:prstGeom>
          <a:solidFill>
            <a:srgbClr val="E5E7EB"/>
          </a:solidFill>
          <a:ln>
            <a:noFill/>
          </a:ln>
        </p:spPr>
        <p:txBody>
          <a:bodyPr rtlCol="0" anchor="ctr"/>
          <a:lstStyle/>
          <a:p>
            <a:pPr algn="ctr"/>
          </a:p>
        </p:txBody>
      </p:sp>
      <p:sp>
        <p:nvSpPr>
          <p:cNvPr id="208" name="TextBox 207"/>
          <p:cNvSpPr txBox="1"/>
          <p:nvPr/>
        </p:nvSpPr>
        <p:spPr>
          <a:xfrm>
            <a:off x="3425114"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63%</a:t>
            </a:r>
          </a:p>
        </p:txBody>
      </p:sp>
      <p:sp>
        <p:nvSpPr>
          <p:cNvPr id="209" name="TextBox 208"/>
          <p:cNvSpPr txBox="1"/>
          <p:nvPr/>
        </p:nvSpPr>
        <p:spPr>
          <a:xfrm>
            <a:off x="3425114" y="4069080"/>
            <a:ext cx="2373554" cy="640080"/>
          </a:xfrm>
          <a:prstGeom prst="rect">
            <a:avLst/>
          </a:prstGeom>
          <a:noFill/>
        </p:spPr>
        <p:txBody>
          <a:bodyPr wrap="square" lIns="0" tIns="0" rIns="0" bIns="0">
            <a:spAutoFit/>
          </a:bodyPr>
          <a:lstStyle/>
          <a:p>
            <a:pPr>
              <a:lnSpc>
                <a:spcPct val="104000"/>
              </a:lnSpc>
            </a:pPr>
            <a:r>
              <a:rPr sz="1150">
                <a:solidFill>
                  <a:srgbClr val="0C1408"/>
                </a:solidFill>
                <a:latin typeface="Arial"/>
              </a:rPr>
              <a:t>of savers keep their savings as cash at home [1]</a:t>
            </a:r>
          </a:p>
        </p:txBody>
      </p:sp>
      <p:sp>
        <p:nvSpPr>
          <p:cNvPr id="210" name="Rectangle 209"/>
          <p:cNvSpPr/>
          <p:nvPr/>
        </p:nvSpPr>
        <p:spPr>
          <a:xfrm>
            <a:off x="6301588" y="3342132"/>
            <a:ext cx="157277" cy="157277"/>
          </a:xfrm>
          <a:prstGeom prst="rect">
            <a:avLst/>
          </a:prstGeom>
          <a:solidFill>
            <a:srgbClr val="2A78D6"/>
          </a:solidFill>
          <a:ln>
            <a:noFill/>
          </a:ln>
        </p:spPr>
        <p:txBody>
          <a:bodyPr rtlCol="0" anchor="ctr"/>
          <a:lstStyle/>
          <a:p>
            <a:pPr algn="ctr"/>
          </a:p>
        </p:txBody>
      </p:sp>
      <p:sp>
        <p:nvSpPr>
          <p:cNvPr id="211" name="Rectangle 210"/>
          <p:cNvSpPr/>
          <p:nvPr/>
        </p:nvSpPr>
        <p:spPr>
          <a:xfrm>
            <a:off x="6301588" y="3145536"/>
            <a:ext cx="157277" cy="157277"/>
          </a:xfrm>
          <a:prstGeom prst="rect">
            <a:avLst/>
          </a:prstGeom>
          <a:solidFill>
            <a:srgbClr val="2A78D6"/>
          </a:solidFill>
          <a:ln>
            <a:noFill/>
          </a:ln>
        </p:spPr>
        <p:txBody>
          <a:bodyPr rtlCol="0" anchor="ctr"/>
          <a:lstStyle/>
          <a:p>
            <a:pPr algn="ctr"/>
          </a:p>
        </p:txBody>
      </p:sp>
      <p:sp>
        <p:nvSpPr>
          <p:cNvPr id="212" name="Rectangle 211"/>
          <p:cNvSpPr/>
          <p:nvPr/>
        </p:nvSpPr>
        <p:spPr>
          <a:xfrm>
            <a:off x="6301588" y="2948940"/>
            <a:ext cx="157277" cy="157277"/>
          </a:xfrm>
          <a:prstGeom prst="rect">
            <a:avLst/>
          </a:prstGeom>
          <a:solidFill>
            <a:srgbClr val="2A78D6"/>
          </a:solidFill>
          <a:ln>
            <a:noFill/>
          </a:ln>
        </p:spPr>
        <p:txBody>
          <a:bodyPr rtlCol="0" anchor="ctr"/>
          <a:lstStyle/>
          <a:p>
            <a:pPr algn="ctr"/>
          </a:p>
        </p:txBody>
      </p:sp>
      <p:sp>
        <p:nvSpPr>
          <p:cNvPr id="213" name="Rectangle 212"/>
          <p:cNvSpPr/>
          <p:nvPr/>
        </p:nvSpPr>
        <p:spPr>
          <a:xfrm>
            <a:off x="6301588" y="2752344"/>
            <a:ext cx="157277" cy="157277"/>
          </a:xfrm>
          <a:prstGeom prst="rect">
            <a:avLst/>
          </a:prstGeom>
          <a:solidFill>
            <a:srgbClr val="2A78D6"/>
          </a:solidFill>
          <a:ln>
            <a:noFill/>
          </a:ln>
        </p:spPr>
        <p:txBody>
          <a:bodyPr rtlCol="0" anchor="ctr"/>
          <a:lstStyle/>
          <a:p>
            <a:pPr algn="ctr"/>
          </a:p>
        </p:txBody>
      </p:sp>
      <p:sp>
        <p:nvSpPr>
          <p:cNvPr id="214" name="Rectangle 213"/>
          <p:cNvSpPr/>
          <p:nvPr/>
        </p:nvSpPr>
        <p:spPr>
          <a:xfrm>
            <a:off x="6301588" y="2555748"/>
            <a:ext cx="157277" cy="157277"/>
          </a:xfrm>
          <a:prstGeom prst="rect">
            <a:avLst/>
          </a:prstGeom>
          <a:solidFill>
            <a:srgbClr val="E5E7EB"/>
          </a:solidFill>
          <a:ln>
            <a:noFill/>
          </a:ln>
        </p:spPr>
        <p:txBody>
          <a:bodyPr rtlCol="0" anchor="ctr"/>
          <a:lstStyle/>
          <a:p>
            <a:pPr algn="ctr"/>
          </a:p>
        </p:txBody>
      </p:sp>
      <p:sp>
        <p:nvSpPr>
          <p:cNvPr id="215" name="Rectangle 214"/>
          <p:cNvSpPr/>
          <p:nvPr/>
        </p:nvSpPr>
        <p:spPr>
          <a:xfrm>
            <a:off x="6301588" y="2359152"/>
            <a:ext cx="157277" cy="157277"/>
          </a:xfrm>
          <a:prstGeom prst="rect">
            <a:avLst/>
          </a:prstGeom>
          <a:solidFill>
            <a:srgbClr val="E5E7EB"/>
          </a:solidFill>
          <a:ln>
            <a:noFill/>
          </a:ln>
        </p:spPr>
        <p:txBody>
          <a:bodyPr rtlCol="0" anchor="ctr"/>
          <a:lstStyle/>
          <a:p>
            <a:pPr algn="ctr"/>
          </a:p>
        </p:txBody>
      </p:sp>
      <p:sp>
        <p:nvSpPr>
          <p:cNvPr id="216" name="Rectangle 215"/>
          <p:cNvSpPr/>
          <p:nvPr/>
        </p:nvSpPr>
        <p:spPr>
          <a:xfrm>
            <a:off x="6301588" y="2162556"/>
            <a:ext cx="157277" cy="157277"/>
          </a:xfrm>
          <a:prstGeom prst="rect">
            <a:avLst/>
          </a:prstGeom>
          <a:solidFill>
            <a:srgbClr val="E5E7EB"/>
          </a:solidFill>
          <a:ln>
            <a:noFill/>
          </a:ln>
        </p:spPr>
        <p:txBody>
          <a:bodyPr rtlCol="0" anchor="ctr"/>
          <a:lstStyle/>
          <a:p>
            <a:pPr algn="ctr"/>
          </a:p>
        </p:txBody>
      </p:sp>
      <p:sp>
        <p:nvSpPr>
          <p:cNvPr id="217" name="Rectangle 216"/>
          <p:cNvSpPr/>
          <p:nvPr/>
        </p:nvSpPr>
        <p:spPr>
          <a:xfrm>
            <a:off x="6301588" y="1965960"/>
            <a:ext cx="157277" cy="157277"/>
          </a:xfrm>
          <a:prstGeom prst="rect">
            <a:avLst/>
          </a:prstGeom>
          <a:solidFill>
            <a:srgbClr val="E5E7EB"/>
          </a:solidFill>
          <a:ln>
            <a:noFill/>
          </a:ln>
        </p:spPr>
        <p:txBody>
          <a:bodyPr rtlCol="0" anchor="ctr"/>
          <a:lstStyle/>
          <a:p>
            <a:pPr algn="ctr"/>
          </a:p>
        </p:txBody>
      </p:sp>
      <p:sp>
        <p:nvSpPr>
          <p:cNvPr id="218" name="Rectangle 217"/>
          <p:cNvSpPr/>
          <p:nvPr/>
        </p:nvSpPr>
        <p:spPr>
          <a:xfrm>
            <a:off x="6301588" y="1769364"/>
            <a:ext cx="157277" cy="157277"/>
          </a:xfrm>
          <a:prstGeom prst="rect">
            <a:avLst/>
          </a:prstGeom>
          <a:solidFill>
            <a:srgbClr val="E5E7EB"/>
          </a:solidFill>
          <a:ln>
            <a:noFill/>
          </a:ln>
        </p:spPr>
        <p:txBody>
          <a:bodyPr rtlCol="0" anchor="ctr"/>
          <a:lstStyle/>
          <a:p>
            <a:pPr algn="ctr"/>
          </a:p>
        </p:txBody>
      </p:sp>
      <p:sp>
        <p:nvSpPr>
          <p:cNvPr id="219" name="Rectangle 218"/>
          <p:cNvSpPr/>
          <p:nvPr/>
        </p:nvSpPr>
        <p:spPr>
          <a:xfrm>
            <a:off x="6301588" y="1572768"/>
            <a:ext cx="157277" cy="157277"/>
          </a:xfrm>
          <a:prstGeom prst="rect">
            <a:avLst/>
          </a:prstGeom>
          <a:solidFill>
            <a:srgbClr val="E5E7EB"/>
          </a:solidFill>
          <a:ln>
            <a:noFill/>
          </a:ln>
        </p:spPr>
        <p:txBody>
          <a:bodyPr rtlCol="0" anchor="ctr"/>
          <a:lstStyle/>
          <a:p>
            <a:pPr algn="ctr"/>
          </a:p>
        </p:txBody>
      </p:sp>
      <p:sp>
        <p:nvSpPr>
          <p:cNvPr id="220" name="Rectangle 219"/>
          <p:cNvSpPr/>
          <p:nvPr/>
        </p:nvSpPr>
        <p:spPr>
          <a:xfrm>
            <a:off x="6498184" y="3342132"/>
            <a:ext cx="157277" cy="157277"/>
          </a:xfrm>
          <a:prstGeom prst="rect">
            <a:avLst/>
          </a:prstGeom>
          <a:solidFill>
            <a:srgbClr val="E5E7EB"/>
          </a:solidFill>
          <a:ln>
            <a:noFill/>
          </a:ln>
        </p:spPr>
        <p:txBody>
          <a:bodyPr rtlCol="0" anchor="ctr"/>
          <a:lstStyle/>
          <a:p>
            <a:pPr algn="ctr"/>
          </a:p>
        </p:txBody>
      </p:sp>
      <p:sp>
        <p:nvSpPr>
          <p:cNvPr id="221" name="Rectangle 220"/>
          <p:cNvSpPr/>
          <p:nvPr/>
        </p:nvSpPr>
        <p:spPr>
          <a:xfrm>
            <a:off x="6498184" y="3145536"/>
            <a:ext cx="157277" cy="157277"/>
          </a:xfrm>
          <a:prstGeom prst="rect">
            <a:avLst/>
          </a:prstGeom>
          <a:solidFill>
            <a:srgbClr val="E5E7EB"/>
          </a:solidFill>
          <a:ln>
            <a:noFill/>
          </a:ln>
        </p:spPr>
        <p:txBody>
          <a:bodyPr rtlCol="0" anchor="ctr"/>
          <a:lstStyle/>
          <a:p>
            <a:pPr algn="ctr"/>
          </a:p>
        </p:txBody>
      </p:sp>
      <p:sp>
        <p:nvSpPr>
          <p:cNvPr id="222" name="Rectangle 221"/>
          <p:cNvSpPr/>
          <p:nvPr/>
        </p:nvSpPr>
        <p:spPr>
          <a:xfrm>
            <a:off x="6498184" y="2948940"/>
            <a:ext cx="157277" cy="157277"/>
          </a:xfrm>
          <a:prstGeom prst="rect">
            <a:avLst/>
          </a:prstGeom>
          <a:solidFill>
            <a:srgbClr val="E5E7EB"/>
          </a:solidFill>
          <a:ln>
            <a:noFill/>
          </a:ln>
        </p:spPr>
        <p:txBody>
          <a:bodyPr rtlCol="0" anchor="ctr"/>
          <a:lstStyle/>
          <a:p>
            <a:pPr algn="ctr"/>
          </a:p>
        </p:txBody>
      </p:sp>
      <p:sp>
        <p:nvSpPr>
          <p:cNvPr id="223" name="Rectangle 222"/>
          <p:cNvSpPr/>
          <p:nvPr/>
        </p:nvSpPr>
        <p:spPr>
          <a:xfrm>
            <a:off x="6498184" y="2752344"/>
            <a:ext cx="157277" cy="157277"/>
          </a:xfrm>
          <a:prstGeom prst="rect">
            <a:avLst/>
          </a:prstGeom>
          <a:solidFill>
            <a:srgbClr val="E5E7EB"/>
          </a:solidFill>
          <a:ln>
            <a:noFill/>
          </a:ln>
        </p:spPr>
        <p:txBody>
          <a:bodyPr rtlCol="0" anchor="ctr"/>
          <a:lstStyle/>
          <a:p>
            <a:pPr algn="ctr"/>
          </a:p>
        </p:txBody>
      </p:sp>
      <p:sp>
        <p:nvSpPr>
          <p:cNvPr id="224" name="Rectangle 223"/>
          <p:cNvSpPr/>
          <p:nvPr/>
        </p:nvSpPr>
        <p:spPr>
          <a:xfrm>
            <a:off x="6498184" y="2555748"/>
            <a:ext cx="157277" cy="157277"/>
          </a:xfrm>
          <a:prstGeom prst="rect">
            <a:avLst/>
          </a:prstGeom>
          <a:solidFill>
            <a:srgbClr val="E5E7EB"/>
          </a:solidFill>
          <a:ln>
            <a:noFill/>
          </a:ln>
        </p:spPr>
        <p:txBody>
          <a:bodyPr rtlCol="0" anchor="ctr"/>
          <a:lstStyle/>
          <a:p>
            <a:pPr algn="ctr"/>
          </a:p>
        </p:txBody>
      </p:sp>
      <p:sp>
        <p:nvSpPr>
          <p:cNvPr id="225" name="Rectangle 224"/>
          <p:cNvSpPr/>
          <p:nvPr/>
        </p:nvSpPr>
        <p:spPr>
          <a:xfrm>
            <a:off x="6498184" y="2359152"/>
            <a:ext cx="157277" cy="157277"/>
          </a:xfrm>
          <a:prstGeom prst="rect">
            <a:avLst/>
          </a:prstGeom>
          <a:solidFill>
            <a:srgbClr val="E5E7EB"/>
          </a:solidFill>
          <a:ln>
            <a:noFill/>
          </a:ln>
        </p:spPr>
        <p:txBody>
          <a:bodyPr rtlCol="0" anchor="ctr"/>
          <a:lstStyle/>
          <a:p>
            <a:pPr algn="ctr"/>
          </a:p>
        </p:txBody>
      </p:sp>
      <p:sp>
        <p:nvSpPr>
          <p:cNvPr id="226" name="Rectangle 225"/>
          <p:cNvSpPr/>
          <p:nvPr/>
        </p:nvSpPr>
        <p:spPr>
          <a:xfrm>
            <a:off x="6498184" y="2162556"/>
            <a:ext cx="157277" cy="157277"/>
          </a:xfrm>
          <a:prstGeom prst="rect">
            <a:avLst/>
          </a:prstGeom>
          <a:solidFill>
            <a:srgbClr val="E5E7EB"/>
          </a:solidFill>
          <a:ln>
            <a:noFill/>
          </a:ln>
        </p:spPr>
        <p:txBody>
          <a:bodyPr rtlCol="0" anchor="ctr"/>
          <a:lstStyle/>
          <a:p>
            <a:pPr algn="ctr"/>
          </a:p>
        </p:txBody>
      </p:sp>
      <p:sp>
        <p:nvSpPr>
          <p:cNvPr id="227" name="Rectangle 226"/>
          <p:cNvSpPr/>
          <p:nvPr/>
        </p:nvSpPr>
        <p:spPr>
          <a:xfrm>
            <a:off x="6498184" y="1965960"/>
            <a:ext cx="157277" cy="157277"/>
          </a:xfrm>
          <a:prstGeom prst="rect">
            <a:avLst/>
          </a:prstGeom>
          <a:solidFill>
            <a:srgbClr val="E5E7EB"/>
          </a:solidFill>
          <a:ln>
            <a:noFill/>
          </a:ln>
        </p:spPr>
        <p:txBody>
          <a:bodyPr rtlCol="0" anchor="ctr"/>
          <a:lstStyle/>
          <a:p>
            <a:pPr algn="ctr"/>
          </a:p>
        </p:txBody>
      </p:sp>
      <p:sp>
        <p:nvSpPr>
          <p:cNvPr id="228" name="Rectangle 227"/>
          <p:cNvSpPr/>
          <p:nvPr/>
        </p:nvSpPr>
        <p:spPr>
          <a:xfrm>
            <a:off x="6498184" y="1769364"/>
            <a:ext cx="157277" cy="157277"/>
          </a:xfrm>
          <a:prstGeom prst="rect">
            <a:avLst/>
          </a:prstGeom>
          <a:solidFill>
            <a:srgbClr val="E5E7EB"/>
          </a:solidFill>
          <a:ln>
            <a:noFill/>
          </a:ln>
        </p:spPr>
        <p:txBody>
          <a:bodyPr rtlCol="0" anchor="ctr"/>
          <a:lstStyle/>
          <a:p>
            <a:pPr algn="ctr"/>
          </a:p>
        </p:txBody>
      </p:sp>
      <p:sp>
        <p:nvSpPr>
          <p:cNvPr id="229" name="Rectangle 228"/>
          <p:cNvSpPr/>
          <p:nvPr/>
        </p:nvSpPr>
        <p:spPr>
          <a:xfrm>
            <a:off x="6498184" y="1572768"/>
            <a:ext cx="157277" cy="157277"/>
          </a:xfrm>
          <a:prstGeom prst="rect">
            <a:avLst/>
          </a:prstGeom>
          <a:solidFill>
            <a:srgbClr val="E5E7EB"/>
          </a:solidFill>
          <a:ln>
            <a:noFill/>
          </a:ln>
        </p:spPr>
        <p:txBody>
          <a:bodyPr rtlCol="0" anchor="ctr"/>
          <a:lstStyle/>
          <a:p>
            <a:pPr algn="ctr"/>
          </a:p>
        </p:txBody>
      </p:sp>
      <p:sp>
        <p:nvSpPr>
          <p:cNvPr id="230" name="Rectangle 229"/>
          <p:cNvSpPr/>
          <p:nvPr/>
        </p:nvSpPr>
        <p:spPr>
          <a:xfrm>
            <a:off x="6694780" y="3342132"/>
            <a:ext cx="157277" cy="157277"/>
          </a:xfrm>
          <a:prstGeom prst="rect">
            <a:avLst/>
          </a:prstGeom>
          <a:solidFill>
            <a:srgbClr val="E5E7EB"/>
          </a:solidFill>
          <a:ln>
            <a:noFill/>
          </a:ln>
        </p:spPr>
        <p:txBody>
          <a:bodyPr rtlCol="0" anchor="ctr"/>
          <a:lstStyle/>
          <a:p>
            <a:pPr algn="ctr"/>
          </a:p>
        </p:txBody>
      </p:sp>
      <p:sp>
        <p:nvSpPr>
          <p:cNvPr id="231" name="Rectangle 230"/>
          <p:cNvSpPr/>
          <p:nvPr/>
        </p:nvSpPr>
        <p:spPr>
          <a:xfrm>
            <a:off x="6694780" y="3145536"/>
            <a:ext cx="157277" cy="157277"/>
          </a:xfrm>
          <a:prstGeom prst="rect">
            <a:avLst/>
          </a:prstGeom>
          <a:solidFill>
            <a:srgbClr val="E5E7EB"/>
          </a:solidFill>
          <a:ln>
            <a:noFill/>
          </a:ln>
        </p:spPr>
        <p:txBody>
          <a:bodyPr rtlCol="0" anchor="ctr"/>
          <a:lstStyle/>
          <a:p>
            <a:pPr algn="ctr"/>
          </a:p>
        </p:txBody>
      </p:sp>
      <p:sp>
        <p:nvSpPr>
          <p:cNvPr id="232" name="Rectangle 231"/>
          <p:cNvSpPr/>
          <p:nvPr/>
        </p:nvSpPr>
        <p:spPr>
          <a:xfrm>
            <a:off x="6694780" y="2948940"/>
            <a:ext cx="157277" cy="157277"/>
          </a:xfrm>
          <a:prstGeom prst="rect">
            <a:avLst/>
          </a:prstGeom>
          <a:solidFill>
            <a:srgbClr val="E5E7EB"/>
          </a:solidFill>
          <a:ln>
            <a:noFill/>
          </a:ln>
        </p:spPr>
        <p:txBody>
          <a:bodyPr rtlCol="0" anchor="ctr"/>
          <a:lstStyle/>
          <a:p>
            <a:pPr algn="ctr"/>
          </a:p>
        </p:txBody>
      </p:sp>
      <p:sp>
        <p:nvSpPr>
          <p:cNvPr id="233" name="Rectangle 232"/>
          <p:cNvSpPr/>
          <p:nvPr/>
        </p:nvSpPr>
        <p:spPr>
          <a:xfrm>
            <a:off x="6694780" y="2752344"/>
            <a:ext cx="157277" cy="157277"/>
          </a:xfrm>
          <a:prstGeom prst="rect">
            <a:avLst/>
          </a:prstGeom>
          <a:solidFill>
            <a:srgbClr val="E5E7EB"/>
          </a:solidFill>
          <a:ln>
            <a:noFill/>
          </a:ln>
        </p:spPr>
        <p:txBody>
          <a:bodyPr rtlCol="0" anchor="ctr"/>
          <a:lstStyle/>
          <a:p>
            <a:pPr algn="ctr"/>
          </a:p>
        </p:txBody>
      </p:sp>
      <p:sp>
        <p:nvSpPr>
          <p:cNvPr id="234" name="Rectangle 233"/>
          <p:cNvSpPr/>
          <p:nvPr/>
        </p:nvSpPr>
        <p:spPr>
          <a:xfrm>
            <a:off x="6694780" y="2555748"/>
            <a:ext cx="157277" cy="157277"/>
          </a:xfrm>
          <a:prstGeom prst="rect">
            <a:avLst/>
          </a:prstGeom>
          <a:solidFill>
            <a:srgbClr val="E5E7EB"/>
          </a:solidFill>
          <a:ln>
            <a:noFill/>
          </a:ln>
        </p:spPr>
        <p:txBody>
          <a:bodyPr rtlCol="0" anchor="ctr"/>
          <a:lstStyle/>
          <a:p>
            <a:pPr algn="ctr"/>
          </a:p>
        </p:txBody>
      </p:sp>
      <p:sp>
        <p:nvSpPr>
          <p:cNvPr id="235" name="Rectangle 234"/>
          <p:cNvSpPr/>
          <p:nvPr/>
        </p:nvSpPr>
        <p:spPr>
          <a:xfrm>
            <a:off x="6694780" y="2359152"/>
            <a:ext cx="157277" cy="157277"/>
          </a:xfrm>
          <a:prstGeom prst="rect">
            <a:avLst/>
          </a:prstGeom>
          <a:solidFill>
            <a:srgbClr val="E5E7EB"/>
          </a:solidFill>
          <a:ln>
            <a:noFill/>
          </a:ln>
        </p:spPr>
        <p:txBody>
          <a:bodyPr rtlCol="0" anchor="ctr"/>
          <a:lstStyle/>
          <a:p>
            <a:pPr algn="ctr"/>
          </a:p>
        </p:txBody>
      </p:sp>
      <p:sp>
        <p:nvSpPr>
          <p:cNvPr id="236" name="Rectangle 235"/>
          <p:cNvSpPr/>
          <p:nvPr/>
        </p:nvSpPr>
        <p:spPr>
          <a:xfrm>
            <a:off x="6694780" y="2162556"/>
            <a:ext cx="157277" cy="157277"/>
          </a:xfrm>
          <a:prstGeom prst="rect">
            <a:avLst/>
          </a:prstGeom>
          <a:solidFill>
            <a:srgbClr val="E5E7EB"/>
          </a:solidFill>
          <a:ln>
            <a:noFill/>
          </a:ln>
        </p:spPr>
        <p:txBody>
          <a:bodyPr rtlCol="0" anchor="ctr"/>
          <a:lstStyle/>
          <a:p>
            <a:pPr algn="ctr"/>
          </a:p>
        </p:txBody>
      </p:sp>
      <p:sp>
        <p:nvSpPr>
          <p:cNvPr id="237" name="Rectangle 236"/>
          <p:cNvSpPr/>
          <p:nvPr/>
        </p:nvSpPr>
        <p:spPr>
          <a:xfrm>
            <a:off x="6694780" y="1965960"/>
            <a:ext cx="157277" cy="157277"/>
          </a:xfrm>
          <a:prstGeom prst="rect">
            <a:avLst/>
          </a:prstGeom>
          <a:solidFill>
            <a:srgbClr val="E5E7EB"/>
          </a:solidFill>
          <a:ln>
            <a:noFill/>
          </a:ln>
        </p:spPr>
        <p:txBody>
          <a:bodyPr rtlCol="0" anchor="ctr"/>
          <a:lstStyle/>
          <a:p>
            <a:pPr algn="ctr"/>
          </a:p>
        </p:txBody>
      </p:sp>
      <p:sp>
        <p:nvSpPr>
          <p:cNvPr id="238" name="Rectangle 237"/>
          <p:cNvSpPr/>
          <p:nvPr/>
        </p:nvSpPr>
        <p:spPr>
          <a:xfrm>
            <a:off x="6694780" y="1769364"/>
            <a:ext cx="157277" cy="157277"/>
          </a:xfrm>
          <a:prstGeom prst="rect">
            <a:avLst/>
          </a:prstGeom>
          <a:solidFill>
            <a:srgbClr val="E5E7EB"/>
          </a:solidFill>
          <a:ln>
            <a:noFill/>
          </a:ln>
        </p:spPr>
        <p:txBody>
          <a:bodyPr rtlCol="0" anchor="ctr"/>
          <a:lstStyle/>
          <a:p>
            <a:pPr algn="ctr"/>
          </a:p>
        </p:txBody>
      </p:sp>
      <p:sp>
        <p:nvSpPr>
          <p:cNvPr id="239" name="Rectangle 238"/>
          <p:cNvSpPr/>
          <p:nvPr/>
        </p:nvSpPr>
        <p:spPr>
          <a:xfrm>
            <a:off x="6694780" y="1572768"/>
            <a:ext cx="157277" cy="157277"/>
          </a:xfrm>
          <a:prstGeom prst="rect">
            <a:avLst/>
          </a:prstGeom>
          <a:solidFill>
            <a:srgbClr val="E5E7EB"/>
          </a:solidFill>
          <a:ln>
            <a:noFill/>
          </a:ln>
        </p:spPr>
        <p:txBody>
          <a:bodyPr rtlCol="0" anchor="ctr"/>
          <a:lstStyle/>
          <a:p>
            <a:pPr algn="ctr"/>
          </a:p>
        </p:txBody>
      </p:sp>
      <p:sp>
        <p:nvSpPr>
          <p:cNvPr id="240" name="Rectangle 239"/>
          <p:cNvSpPr/>
          <p:nvPr/>
        </p:nvSpPr>
        <p:spPr>
          <a:xfrm>
            <a:off x="6891376" y="3342132"/>
            <a:ext cx="157277" cy="157277"/>
          </a:xfrm>
          <a:prstGeom prst="rect">
            <a:avLst/>
          </a:prstGeom>
          <a:solidFill>
            <a:srgbClr val="E5E7EB"/>
          </a:solidFill>
          <a:ln>
            <a:noFill/>
          </a:ln>
        </p:spPr>
        <p:txBody>
          <a:bodyPr rtlCol="0" anchor="ctr"/>
          <a:lstStyle/>
          <a:p>
            <a:pPr algn="ctr"/>
          </a:p>
        </p:txBody>
      </p:sp>
      <p:sp>
        <p:nvSpPr>
          <p:cNvPr id="241" name="Rectangle 240"/>
          <p:cNvSpPr/>
          <p:nvPr/>
        </p:nvSpPr>
        <p:spPr>
          <a:xfrm>
            <a:off x="6891376" y="3145536"/>
            <a:ext cx="157277" cy="157277"/>
          </a:xfrm>
          <a:prstGeom prst="rect">
            <a:avLst/>
          </a:prstGeom>
          <a:solidFill>
            <a:srgbClr val="E5E7EB"/>
          </a:solidFill>
          <a:ln>
            <a:noFill/>
          </a:ln>
        </p:spPr>
        <p:txBody>
          <a:bodyPr rtlCol="0" anchor="ctr"/>
          <a:lstStyle/>
          <a:p>
            <a:pPr algn="ctr"/>
          </a:p>
        </p:txBody>
      </p:sp>
      <p:sp>
        <p:nvSpPr>
          <p:cNvPr id="242" name="Rectangle 241"/>
          <p:cNvSpPr/>
          <p:nvPr/>
        </p:nvSpPr>
        <p:spPr>
          <a:xfrm>
            <a:off x="6891376" y="2948940"/>
            <a:ext cx="157277" cy="157277"/>
          </a:xfrm>
          <a:prstGeom prst="rect">
            <a:avLst/>
          </a:prstGeom>
          <a:solidFill>
            <a:srgbClr val="E5E7EB"/>
          </a:solidFill>
          <a:ln>
            <a:noFill/>
          </a:ln>
        </p:spPr>
        <p:txBody>
          <a:bodyPr rtlCol="0" anchor="ctr"/>
          <a:lstStyle/>
          <a:p>
            <a:pPr algn="ctr"/>
          </a:p>
        </p:txBody>
      </p:sp>
      <p:sp>
        <p:nvSpPr>
          <p:cNvPr id="243" name="Rectangle 242"/>
          <p:cNvSpPr/>
          <p:nvPr/>
        </p:nvSpPr>
        <p:spPr>
          <a:xfrm>
            <a:off x="6891376" y="2752344"/>
            <a:ext cx="157277" cy="157277"/>
          </a:xfrm>
          <a:prstGeom prst="rect">
            <a:avLst/>
          </a:prstGeom>
          <a:solidFill>
            <a:srgbClr val="E5E7EB"/>
          </a:solidFill>
          <a:ln>
            <a:noFill/>
          </a:ln>
        </p:spPr>
        <p:txBody>
          <a:bodyPr rtlCol="0" anchor="ctr"/>
          <a:lstStyle/>
          <a:p>
            <a:pPr algn="ctr"/>
          </a:p>
        </p:txBody>
      </p:sp>
      <p:sp>
        <p:nvSpPr>
          <p:cNvPr id="244" name="Rectangle 243"/>
          <p:cNvSpPr/>
          <p:nvPr/>
        </p:nvSpPr>
        <p:spPr>
          <a:xfrm>
            <a:off x="6891376" y="2555748"/>
            <a:ext cx="157277" cy="157277"/>
          </a:xfrm>
          <a:prstGeom prst="rect">
            <a:avLst/>
          </a:prstGeom>
          <a:solidFill>
            <a:srgbClr val="E5E7EB"/>
          </a:solidFill>
          <a:ln>
            <a:noFill/>
          </a:ln>
        </p:spPr>
        <p:txBody>
          <a:bodyPr rtlCol="0" anchor="ctr"/>
          <a:lstStyle/>
          <a:p>
            <a:pPr algn="ctr"/>
          </a:p>
        </p:txBody>
      </p:sp>
      <p:sp>
        <p:nvSpPr>
          <p:cNvPr id="245" name="Rectangle 244"/>
          <p:cNvSpPr/>
          <p:nvPr/>
        </p:nvSpPr>
        <p:spPr>
          <a:xfrm>
            <a:off x="6891376" y="2359152"/>
            <a:ext cx="157277" cy="157277"/>
          </a:xfrm>
          <a:prstGeom prst="rect">
            <a:avLst/>
          </a:prstGeom>
          <a:solidFill>
            <a:srgbClr val="E5E7EB"/>
          </a:solidFill>
          <a:ln>
            <a:noFill/>
          </a:ln>
        </p:spPr>
        <p:txBody>
          <a:bodyPr rtlCol="0" anchor="ctr"/>
          <a:lstStyle/>
          <a:p>
            <a:pPr algn="ctr"/>
          </a:p>
        </p:txBody>
      </p:sp>
      <p:sp>
        <p:nvSpPr>
          <p:cNvPr id="246" name="Rectangle 245"/>
          <p:cNvSpPr/>
          <p:nvPr/>
        </p:nvSpPr>
        <p:spPr>
          <a:xfrm>
            <a:off x="6891376" y="2162556"/>
            <a:ext cx="157277" cy="157277"/>
          </a:xfrm>
          <a:prstGeom prst="rect">
            <a:avLst/>
          </a:prstGeom>
          <a:solidFill>
            <a:srgbClr val="E5E7EB"/>
          </a:solidFill>
          <a:ln>
            <a:noFill/>
          </a:ln>
        </p:spPr>
        <p:txBody>
          <a:bodyPr rtlCol="0" anchor="ctr"/>
          <a:lstStyle/>
          <a:p>
            <a:pPr algn="ctr"/>
          </a:p>
        </p:txBody>
      </p:sp>
      <p:sp>
        <p:nvSpPr>
          <p:cNvPr id="247" name="Rectangle 246"/>
          <p:cNvSpPr/>
          <p:nvPr/>
        </p:nvSpPr>
        <p:spPr>
          <a:xfrm>
            <a:off x="6891376" y="1965960"/>
            <a:ext cx="157277" cy="157277"/>
          </a:xfrm>
          <a:prstGeom prst="rect">
            <a:avLst/>
          </a:prstGeom>
          <a:solidFill>
            <a:srgbClr val="E5E7EB"/>
          </a:solidFill>
          <a:ln>
            <a:noFill/>
          </a:ln>
        </p:spPr>
        <p:txBody>
          <a:bodyPr rtlCol="0" anchor="ctr"/>
          <a:lstStyle/>
          <a:p>
            <a:pPr algn="ctr"/>
          </a:p>
        </p:txBody>
      </p:sp>
      <p:sp>
        <p:nvSpPr>
          <p:cNvPr id="248" name="Rectangle 247"/>
          <p:cNvSpPr/>
          <p:nvPr/>
        </p:nvSpPr>
        <p:spPr>
          <a:xfrm>
            <a:off x="6891376" y="1769364"/>
            <a:ext cx="157277" cy="157277"/>
          </a:xfrm>
          <a:prstGeom prst="rect">
            <a:avLst/>
          </a:prstGeom>
          <a:solidFill>
            <a:srgbClr val="E5E7EB"/>
          </a:solidFill>
          <a:ln>
            <a:noFill/>
          </a:ln>
        </p:spPr>
        <p:txBody>
          <a:bodyPr rtlCol="0" anchor="ctr"/>
          <a:lstStyle/>
          <a:p>
            <a:pPr algn="ctr"/>
          </a:p>
        </p:txBody>
      </p:sp>
      <p:sp>
        <p:nvSpPr>
          <p:cNvPr id="249" name="Rectangle 248"/>
          <p:cNvSpPr/>
          <p:nvPr/>
        </p:nvSpPr>
        <p:spPr>
          <a:xfrm>
            <a:off x="6891376" y="1572768"/>
            <a:ext cx="157277" cy="157277"/>
          </a:xfrm>
          <a:prstGeom prst="rect">
            <a:avLst/>
          </a:prstGeom>
          <a:solidFill>
            <a:srgbClr val="E5E7EB"/>
          </a:solidFill>
          <a:ln>
            <a:noFill/>
          </a:ln>
        </p:spPr>
        <p:txBody>
          <a:bodyPr rtlCol="0" anchor="ctr"/>
          <a:lstStyle/>
          <a:p>
            <a:pPr algn="ctr"/>
          </a:p>
        </p:txBody>
      </p:sp>
      <p:sp>
        <p:nvSpPr>
          <p:cNvPr id="250" name="Rectangle 249"/>
          <p:cNvSpPr/>
          <p:nvPr/>
        </p:nvSpPr>
        <p:spPr>
          <a:xfrm>
            <a:off x="7087972" y="3342132"/>
            <a:ext cx="157277" cy="157277"/>
          </a:xfrm>
          <a:prstGeom prst="rect">
            <a:avLst/>
          </a:prstGeom>
          <a:solidFill>
            <a:srgbClr val="E5E7EB"/>
          </a:solidFill>
          <a:ln>
            <a:noFill/>
          </a:ln>
        </p:spPr>
        <p:txBody>
          <a:bodyPr rtlCol="0" anchor="ctr"/>
          <a:lstStyle/>
          <a:p>
            <a:pPr algn="ctr"/>
          </a:p>
        </p:txBody>
      </p:sp>
      <p:sp>
        <p:nvSpPr>
          <p:cNvPr id="251" name="Rectangle 250"/>
          <p:cNvSpPr/>
          <p:nvPr/>
        </p:nvSpPr>
        <p:spPr>
          <a:xfrm>
            <a:off x="7087972" y="3145536"/>
            <a:ext cx="157277" cy="157277"/>
          </a:xfrm>
          <a:prstGeom prst="rect">
            <a:avLst/>
          </a:prstGeom>
          <a:solidFill>
            <a:srgbClr val="E5E7EB"/>
          </a:solidFill>
          <a:ln>
            <a:noFill/>
          </a:ln>
        </p:spPr>
        <p:txBody>
          <a:bodyPr rtlCol="0" anchor="ctr"/>
          <a:lstStyle/>
          <a:p>
            <a:pPr algn="ctr"/>
          </a:p>
        </p:txBody>
      </p:sp>
      <p:sp>
        <p:nvSpPr>
          <p:cNvPr id="252" name="Rectangle 251"/>
          <p:cNvSpPr/>
          <p:nvPr/>
        </p:nvSpPr>
        <p:spPr>
          <a:xfrm>
            <a:off x="7087972" y="2948940"/>
            <a:ext cx="157277" cy="157277"/>
          </a:xfrm>
          <a:prstGeom prst="rect">
            <a:avLst/>
          </a:prstGeom>
          <a:solidFill>
            <a:srgbClr val="E5E7EB"/>
          </a:solidFill>
          <a:ln>
            <a:noFill/>
          </a:ln>
        </p:spPr>
        <p:txBody>
          <a:bodyPr rtlCol="0" anchor="ctr"/>
          <a:lstStyle/>
          <a:p>
            <a:pPr algn="ctr"/>
          </a:p>
        </p:txBody>
      </p:sp>
      <p:sp>
        <p:nvSpPr>
          <p:cNvPr id="253" name="Rectangle 252"/>
          <p:cNvSpPr/>
          <p:nvPr/>
        </p:nvSpPr>
        <p:spPr>
          <a:xfrm>
            <a:off x="7087972" y="2752344"/>
            <a:ext cx="157277" cy="157277"/>
          </a:xfrm>
          <a:prstGeom prst="rect">
            <a:avLst/>
          </a:prstGeom>
          <a:solidFill>
            <a:srgbClr val="E5E7EB"/>
          </a:solidFill>
          <a:ln>
            <a:noFill/>
          </a:ln>
        </p:spPr>
        <p:txBody>
          <a:bodyPr rtlCol="0" anchor="ctr"/>
          <a:lstStyle/>
          <a:p>
            <a:pPr algn="ctr"/>
          </a:p>
        </p:txBody>
      </p:sp>
      <p:sp>
        <p:nvSpPr>
          <p:cNvPr id="254" name="Rectangle 253"/>
          <p:cNvSpPr/>
          <p:nvPr/>
        </p:nvSpPr>
        <p:spPr>
          <a:xfrm>
            <a:off x="7087972" y="2555748"/>
            <a:ext cx="157277" cy="157277"/>
          </a:xfrm>
          <a:prstGeom prst="rect">
            <a:avLst/>
          </a:prstGeom>
          <a:solidFill>
            <a:srgbClr val="E5E7EB"/>
          </a:solidFill>
          <a:ln>
            <a:noFill/>
          </a:ln>
        </p:spPr>
        <p:txBody>
          <a:bodyPr rtlCol="0" anchor="ctr"/>
          <a:lstStyle/>
          <a:p>
            <a:pPr algn="ctr"/>
          </a:p>
        </p:txBody>
      </p:sp>
      <p:sp>
        <p:nvSpPr>
          <p:cNvPr id="255" name="Rectangle 254"/>
          <p:cNvSpPr/>
          <p:nvPr/>
        </p:nvSpPr>
        <p:spPr>
          <a:xfrm>
            <a:off x="7087972" y="2359152"/>
            <a:ext cx="157277" cy="157277"/>
          </a:xfrm>
          <a:prstGeom prst="rect">
            <a:avLst/>
          </a:prstGeom>
          <a:solidFill>
            <a:srgbClr val="E5E7EB"/>
          </a:solidFill>
          <a:ln>
            <a:noFill/>
          </a:ln>
        </p:spPr>
        <p:txBody>
          <a:bodyPr rtlCol="0" anchor="ctr"/>
          <a:lstStyle/>
          <a:p>
            <a:pPr algn="ctr"/>
          </a:p>
        </p:txBody>
      </p:sp>
      <p:sp>
        <p:nvSpPr>
          <p:cNvPr id="256" name="Rectangle 255"/>
          <p:cNvSpPr/>
          <p:nvPr/>
        </p:nvSpPr>
        <p:spPr>
          <a:xfrm>
            <a:off x="7087972" y="2162556"/>
            <a:ext cx="157277" cy="157277"/>
          </a:xfrm>
          <a:prstGeom prst="rect">
            <a:avLst/>
          </a:prstGeom>
          <a:solidFill>
            <a:srgbClr val="E5E7EB"/>
          </a:solidFill>
          <a:ln>
            <a:noFill/>
          </a:ln>
        </p:spPr>
        <p:txBody>
          <a:bodyPr rtlCol="0" anchor="ctr"/>
          <a:lstStyle/>
          <a:p>
            <a:pPr algn="ctr"/>
          </a:p>
        </p:txBody>
      </p:sp>
      <p:sp>
        <p:nvSpPr>
          <p:cNvPr id="257" name="Rectangle 256"/>
          <p:cNvSpPr/>
          <p:nvPr/>
        </p:nvSpPr>
        <p:spPr>
          <a:xfrm>
            <a:off x="7087972" y="1965960"/>
            <a:ext cx="157277" cy="157277"/>
          </a:xfrm>
          <a:prstGeom prst="rect">
            <a:avLst/>
          </a:prstGeom>
          <a:solidFill>
            <a:srgbClr val="E5E7EB"/>
          </a:solidFill>
          <a:ln>
            <a:noFill/>
          </a:ln>
        </p:spPr>
        <p:txBody>
          <a:bodyPr rtlCol="0" anchor="ctr"/>
          <a:lstStyle/>
          <a:p>
            <a:pPr algn="ctr"/>
          </a:p>
        </p:txBody>
      </p:sp>
      <p:sp>
        <p:nvSpPr>
          <p:cNvPr id="258" name="Rectangle 257"/>
          <p:cNvSpPr/>
          <p:nvPr/>
        </p:nvSpPr>
        <p:spPr>
          <a:xfrm>
            <a:off x="7087972" y="1769364"/>
            <a:ext cx="157277" cy="157277"/>
          </a:xfrm>
          <a:prstGeom prst="rect">
            <a:avLst/>
          </a:prstGeom>
          <a:solidFill>
            <a:srgbClr val="E5E7EB"/>
          </a:solidFill>
          <a:ln>
            <a:noFill/>
          </a:ln>
        </p:spPr>
        <p:txBody>
          <a:bodyPr rtlCol="0" anchor="ctr"/>
          <a:lstStyle/>
          <a:p>
            <a:pPr algn="ctr"/>
          </a:p>
        </p:txBody>
      </p:sp>
      <p:sp>
        <p:nvSpPr>
          <p:cNvPr id="259" name="Rectangle 258"/>
          <p:cNvSpPr/>
          <p:nvPr/>
        </p:nvSpPr>
        <p:spPr>
          <a:xfrm>
            <a:off x="7087972" y="1572768"/>
            <a:ext cx="157277" cy="157277"/>
          </a:xfrm>
          <a:prstGeom prst="rect">
            <a:avLst/>
          </a:prstGeom>
          <a:solidFill>
            <a:srgbClr val="E5E7EB"/>
          </a:solidFill>
          <a:ln>
            <a:noFill/>
          </a:ln>
        </p:spPr>
        <p:txBody>
          <a:bodyPr rtlCol="0" anchor="ctr"/>
          <a:lstStyle/>
          <a:p>
            <a:pPr algn="ctr"/>
          </a:p>
        </p:txBody>
      </p:sp>
      <p:sp>
        <p:nvSpPr>
          <p:cNvPr id="260" name="Rectangle 259"/>
          <p:cNvSpPr/>
          <p:nvPr/>
        </p:nvSpPr>
        <p:spPr>
          <a:xfrm>
            <a:off x="7284568" y="3342132"/>
            <a:ext cx="157277" cy="157277"/>
          </a:xfrm>
          <a:prstGeom prst="rect">
            <a:avLst/>
          </a:prstGeom>
          <a:solidFill>
            <a:srgbClr val="E5E7EB"/>
          </a:solidFill>
          <a:ln>
            <a:noFill/>
          </a:ln>
        </p:spPr>
        <p:txBody>
          <a:bodyPr rtlCol="0" anchor="ctr"/>
          <a:lstStyle/>
          <a:p>
            <a:pPr algn="ctr"/>
          </a:p>
        </p:txBody>
      </p:sp>
      <p:sp>
        <p:nvSpPr>
          <p:cNvPr id="261" name="Rectangle 260"/>
          <p:cNvSpPr/>
          <p:nvPr/>
        </p:nvSpPr>
        <p:spPr>
          <a:xfrm>
            <a:off x="7284568" y="3145536"/>
            <a:ext cx="157277" cy="157277"/>
          </a:xfrm>
          <a:prstGeom prst="rect">
            <a:avLst/>
          </a:prstGeom>
          <a:solidFill>
            <a:srgbClr val="E5E7EB"/>
          </a:solidFill>
          <a:ln>
            <a:noFill/>
          </a:ln>
        </p:spPr>
        <p:txBody>
          <a:bodyPr rtlCol="0" anchor="ctr"/>
          <a:lstStyle/>
          <a:p>
            <a:pPr algn="ctr"/>
          </a:p>
        </p:txBody>
      </p:sp>
      <p:sp>
        <p:nvSpPr>
          <p:cNvPr id="262" name="Rectangle 261"/>
          <p:cNvSpPr/>
          <p:nvPr/>
        </p:nvSpPr>
        <p:spPr>
          <a:xfrm>
            <a:off x="7284568" y="2948940"/>
            <a:ext cx="157277" cy="157277"/>
          </a:xfrm>
          <a:prstGeom prst="rect">
            <a:avLst/>
          </a:prstGeom>
          <a:solidFill>
            <a:srgbClr val="E5E7EB"/>
          </a:solidFill>
          <a:ln>
            <a:noFill/>
          </a:ln>
        </p:spPr>
        <p:txBody>
          <a:bodyPr rtlCol="0" anchor="ctr"/>
          <a:lstStyle/>
          <a:p>
            <a:pPr algn="ctr"/>
          </a:p>
        </p:txBody>
      </p:sp>
      <p:sp>
        <p:nvSpPr>
          <p:cNvPr id="263" name="Rectangle 262"/>
          <p:cNvSpPr/>
          <p:nvPr/>
        </p:nvSpPr>
        <p:spPr>
          <a:xfrm>
            <a:off x="7284568" y="2752344"/>
            <a:ext cx="157277" cy="157277"/>
          </a:xfrm>
          <a:prstGeom prst="rect">
            <a:avLst/>
          </a:prstGeom>
          <a:solidFill>
            <a:srgbClr val="E5E7EB"/>
          </a:solidFill>
          <a:ln>
            <a:noFill/>
          </a:ln>
        </p:spPr>
        <p:txBody>
          <a:bodyPr rtlCol="0" anchor="ctr"/>
          <a:lstStyle/>
          <a:p>
            <a:pPr algn="ctr"/>
          </a:p>
        </p:txBody>
      </p:sp>
      <p:sp>
        <p:nvSpPr>
          <p:cNvPr id="264" name="Rectangle 263"/>
          <p:cNvSpPr/>
          <p:nvPr/>
        </p:nvSpPr>
        <p:spPr>
          <a:xfrm>
            <a:off x="7284568" y="2555748"/>
            <a:ext cx="157277" cy="157277"/>
          </a:xfrm>
          <a:prstGeom prst="rect">
            <a:avLst/>
          </a:prstGeom>
          <a:solidFill>
            <a:srgbClr val="E5E7EB"/>
          </a:solidFill>
          <a:ln>
            <a:noFill/>
          </a:ln>
        </p:spPr>
        <p:txBody>
          <a:bodyPr rtlCol="0" anchor="ctr"/>
          <a:lstStyle/>
          <a:p>
            <a:pPr algn="ctr"/>
          </a:p>
        </p:txBody>
      </p:sp>
      <p:sp>
        <p:nvSpPr>
          <p:cNvPr id="265" name="Rectangle 264"/>
          <p:cNvSpPr/>
          <p:nvPr/>
        </p:nvSpPr>
        <p:spPr>
          <a:xfrm>
            <a:off x="7284568" y="2359152"/>
            <a:ext cx="157277" cy="157277"/>
          </a:xfrm>
          <a:prstGeom prst="rect">
            <a:avLst/>
          </a:prstGeom>
          <a:solidFill>
            <a:srgbClr val="E5E7EB"/>
          </a:solidFill>
          <a:ln>
            <a:noFill/>
          </a:ln>
        </p:spPr>
        <p:txBody>
          <a:bodyPr rtlCol="0" anchor="ctr"/>
          <a:lstStyle/>
          <a:p>
            <a:pPr algn="ctr"/>
          </a:p>
        </p:txBody>
      </p:sp>
      <p:sp>
        <p:nvSpPr>
          <p:cNvPr id="266" name="Rectangle 265"/>
          <p:cNvSpPr/>
          <p:nvPr/>
        </p:nvSpPr>
        <p:spPr>
          <a:xfrm>
            <a:off x="7284568" y="2162556"/>
            <a:ext cx="157277" cy="157277"/>
          </a:xfrm>
          <a:prstGeom prst="rect">
            <a:avLst/>
          </a:prstGeom>
          <a:solidFill>
            <a:srgbClr val="E5E7EB"/>
          </a:solidFill>
          <a:ln>
            <a:noFill/>
          </a:ln>
        </p:spPr>
        <p:txBody>
          <a:bodyPr rtlCol="0" anchor="ctr"/>
          <a:lstStyle/>
          <a:p>
            <a:pPr algn="ctr"/>
          </a:p>
        </p:txBody>
      </p:sp>
      <p:sp>
        <p:nvSpPr>
          <p:cNvPr id="267" name="Rectangle 266"/>
          <p:cNvSpPr/>
          <p:nvPr/>
        </p:nvSpPr>
        <p:spPr>
          <a:xfrm>
            <a:off x="7284568" y="1965960"/>
            <a:ext cx="157277" cy="157277"/>
          </a:xfrm>
          <a:prstGeom prst="rect">
            <a:avLst/>
          </a:prstGeom>
          <a:solidFill>
            <a:srgbClr val="E5E7EB"/>
          </a:solidFill>
          <a:ln>
            <a:noFill/>
          </a:ln>
        </p:spPr>
        <p:txBody>
          <a:bodyPr rtlCol="0" anchor="ctr"/>
          <a:lstStyle/>
          <a:p>
            <a:pPr algn="ctr"/>
          </a:p>
        </p:txBody>
      </p:sp>
      <p:sp>
        <p:nvSpPr>
          <p:cNvPr id="268" name="Rectangle 267"/>
          <p:cNvSpPr/>
          <p:nvPr/>
        </p:nvSpPr>
        <p:spPr>
          <a:xfrm>
            <a:off x="7284568" y="1769364"/>
            <a:ext cx="157277" cy="157277"/>
          </a:xfrm>
          <a:prstGeom prst="rect">
            <a:avLst/>
          </a:prstGeom>
          <a:solidFill>
            <a:srgbClr val="E5E7EB"/>
          </a:solidFill>
          <a:ln>
            <a:noFill/>
          </a:ln>
        </p:spPr>
        <p:txBody>
          <a:bodyPr rtlCol="0" anchor="ctr"/>
          <a:lstStyle/>
          <a:p>
            <a:pPr algn="ctr"/>
          </a:p>
        </p:txBody>
      </p:sp>
      <p:sp>
        <p:nvSpPr>
          <p:cNvPr id="269" name="Rectangle 268"/>
          <p:cNvSpPr/>
          <p:nvPr/>
        </p:nvSpPr>
        <p:spPr>
          <a:xfrm>
            <a:off x="7284568" y="1572768"/>
            <a:ext cx="157277" cy="157277"/>
          </a:xfrm>
          <a:prstGeom prst="rect">
            <a:avLst/>
          </a:prstGeom>
          <a:solidFill>
            <a:srgbClr val="E5E7EB"/>
          </a:solidFill>
          <a:ln>
            <a:noFill/>
          </a:ln>
        </p:spPr>
        <p:txBody>
          <a:bodyPr rtlCol="0" anchor="ctr"/>
          <a:lstStyle/>
          <a:p>
            <a:pPr algn="ctr"/>
          </a:p>
        </p:txBody>
      </p:sp>
      <p:sp>
        <p:nvSpPr>
          <p:cNvPr id="270" name="Rectangle 269"/>
          <p:cNvSpPr/>
          <p:nvPr/>
        </p:nvSpPr>
        <p:spPr>
          <a:xfrm>
            <a:off x="7481164" y="3342132"/>
            <a:ext cx="157277" cy="157277"/>
          </a:xfrm>
          <a:prstGeom prst="rect">
            <a:avLst/>
          </a:prstGeom>
          <a:solidFill>
            <a:srgbClr val="E5E7EB"/>
          </a:solidFill>
          <a:ln>
            <a:noFill/>
          </a:ln>
        </p:spPr>
        <p:txBody>
          <a:bodyPr rtlCol="0" anchor="ctr"/>
          <a:lstStyle/>
          <a:p>
            <a:pPr algn="ctr"/>
          </a:p>
        </p:txBody>
      </p:sp>
      <p:sp>
        <p:nvSpPr>
          <p:cNvPr id="271" name="Rectangle 270"/>
          <p:cNvSpPr/>
          <p:nvPr/>
        </p:nvSpPr>
        <p:spPr>
          <a:xfrm>
            <a:off x="7481164" y="3145536"/>
            <a:ext cx="157277" cy="157277"/>
          </a:xfrm>
          <a:prstGeom prst="rect">
            <a:avLst/>
          </a:prstGeom>
          <a:solidFill>
            <a:srgbClr val="E5E7EB"/>
          </a:solidFill>
          <a:ln>
            <a:noFill/>
          </a:ln>
        </p:spPr>
        <p:txBody>
          <a:bodyPr rtlCol="0" anchor="ctr"/>
          <a:lstStyle/>
          <a:p>
            <a:pPr algn="ctr"/>
          </a:p>
        </p:txBody>
      </p:sp>
      <p:sp>
        <p:nvSpPr>
          <p:cNvPr id="272" name="Rectangle 271"/>
          <p:cNvSpPr/>
          <p:nvPr/>
        </p:nvSpPr>
        <p:spPr>
          <a:xfrm>
            <a:off x="7481164" y="2948940"/>
            <a:ext cx="157277" cy="157277"/>
          </a:xfrm>
          <a:prstGeom prst="rect">
            <a:avLst/>
          </a:prstGeom>
          <a:solidFill>
            <a:srgbClr val="E5E7EB"/>
          </a:solidFill>
          <a:ln>
            <a:noFill/>
          </a:ln>
        </p:spPr>
        <p:txBody>
          <a:bodyPr rtlCol="0" anchor="ctr"/>
          <a:lstStyle/>
          <a:p>
            <a:pPr algn="ctr"/>
          </a:p>
        </p:txBody>
      </p:sp>
      <p:sp>
        <p:nvSpPr>
          <p:cNvPr id="273" name="Rectangle 272"/>
          <p:cNvSpPr/>
          <p:nvPr/>
        </p:nvSpPr>
        <p:spPr>
          <a:xfrm>
            <a:off x="7481164" y="2752344"/>
            <a:ext cx="157277" cy="157277"/>
          </a:xfrm>
          <a:prstGeom prst="rect">
            <a:avLst/>
          </a:prstGeom>
          <a:solidFill>
            <a:srgbClr val="E5E7EB"/>
          </a:solidFill>
          <a:ln>
            <a:noFill/>
          </a:ln>
        </p:spPr>
        <p:txBody>
          <a:bodyPr rtlCol="0" anchor="ctr"/>
          <a:lstStyle/>
          <a:p>
            <a:pPr algn="ctr"/>
          </a:p>
        </p:txBody>
      </p:sp>
      <p:sp>
        <p:nvSpPr>
          <p:cNvPr id="274" name="Rectangle 273"/>
          <p:cNvSpPr/>
          <p:nvPr/>
        </p:nvSpPr>
        <p:spPr>
          <a:xfrm>
            <a:off x="7481164" y="2555748"/>
            <a:ext cx="157277" cy="157277"/>
          </a:xfrm>
          <a:prstGeom prst="rect">
            <a:avLst/>
          </a:prstGeom>
          <a:solidFill>
            <a:srgbClr val="E5E7EB"/>
          </a:solidFill>
          <a:ln>
            <a:noFill/>
          </a:ln>
        </p:spPr>
        <p:txBody>
          <a:bodyPr rtlCol="0" anchor="ctr"/>
          <a:lstStyle/>
          <a:p>
            <a:pPr algn="ctr"/>
          </a:p>
        </p:txBody>
      </p:sp>
      <p:sp>
        <p:nvSpPr>
          <p:cNvPr id="275" name="Rectangle 274"/>
          <p:cNvSpPr/>
          <p:nvPr/>
        </p:nvSpPr>
        <p:spPr>
          <a:xfrm>
            <a:off x="7481164" y="2359152"/>
            <a:ext cx="157277" cy="157277"/>
          </a:xfrm>
          <a:prstGeom prst="rect">
            <a:avLst/>
          </a:prstGeom>
          <a:solidFill>
            <a:srgbClr val="E5E7EB"/>
          </a:solidFill>
          <a:ln>
            <a:noFill/>
          </a:ln>
        </p:spPr>
        <p:txBody>
          <a:bodyPr rtlCol="0" anchor="ctr"/>
          <a:lstStyle/>
          <a:p>
            <a:pPr algn="ctr"/>
          </a:p>
        </p:txBody>
      </p:sp>
      <p:sp>
        <p:nvSpPr>
          <p:cNvPr id="276" name="Rectangle 275"/>
          <p:cNvSpPr/>
          <p:nvPr/>
        </p:nvSpPr>
        <p:spPr>
          <a:xfrm>
            <a:off x="7481164" y="2162556"/>
            <a:ext cx="157277" cy="157277"/>
          </a:xfrm>
          <a:prstGeom prst="rect">
            <a:avLst/>
          </a:prstGeom>
          <a:solidFill>
            <a:srgbClr val="E5E7EB"/>
          </a:solidFill>
          <a:ln>
            <a:noFill/>
          </a:ln>
        </p:spPr>
        <p:txBody>
          <a:bodyPr rtlCol="0" anchor="ctr"/>
          <a:lstStyle/>
          <a:p>
            <a:pPr algn="ctr"/>
          </a:p>
        </p:txBody>
      </p:sp>
      <p:sp>
        <p:nvSpPr>
          <p:cNvPr id="277" name="Rectangle 276"/>
          <p:cNvSpPr/>
          <p:nvPr/>
        </p:nvSpPr>
        <p:spPr>
          <a:xfrm>
            <a:off x="7481164" y="1965960"/>
            <a:ext cx="157277" cy="157277"/>
          </a:xfrm>
          <a:prstGeom prst="rect">
            <a:avLst/>
          </a:prstGeom>
          <a:solidFill>
            <a:srgbClr val="E5E7EB"/>
          </a:solidFill>
          <a:ln>
            <a:noFill/>
          </a:ln>
        </p:spPr>
        <p:txBody>
          <a:bodyPr rtlCol="0" anchor="ctr"/>
          <a:lstStyle/>
          <a:p>
            <a:pPr algn="ctr"/>
          </a:p>
        </p:txBody>
      </p:sp>
      <p:sp>
        <p:nvSpPr>
          <p:cNvPr id="278" name="Rectangle 277"/>
          <p:cNvSpPr/>
          <p:nvPr/>
        </p:nvSpPr>
        <p:spPr>
          <a:xfrm>
            <a:off x="7481164" y="1769364"/>
            <a:ext cx="157277" cy="157277"/>
          </a:xfrm>
          <a:prstGeom prst="rect">
            <a:avLst/>
          </a:prstGeom>
          <a:solidFill>
            <a:srgbClr val="E5E7EB"/>
          </a:solidFill>
          <a:ln>
            <a:noFill/>
          </a:ln>
        </p:spPr>
        <p:txBody>
          <a:bodyPr rtlCol="0" anchor="ctr"/>
          <a:lstStyle/>
          <a:p>
            <a:pPr algn="ctr"/>
          </a:p>
        </p:txBody>
      </p:sp>
      <p:sp>
        <p:nvSpPr>
          <p:cNvPr id="279" name="Rectangle 278"/>
          <p:cNvSpPr/>
          <p:nvPr/>
        </p:nvSpPr>
        <p:spPr>
          <a:xfrm>
            <a:off x="7481164" y="1572768"/>
            <a:ext cx="157277" cy="157277"/>
          </a:xfrm>
          <a:prstGeom prst="rect">
            <a:avLst/>
          </a:prstGeom>
          <a:solidFill>
            <a:srgbClr val="E5E7EB"/>
          </a:solidFill>
          <a:ln>
            <a:noFill/>
          </a:ln>
        </p:spPr>
        <p:txBody>
          <a:bodyPr rtlCol="0" anchor="ctr"/>
          <a:lstStyle/>
          <a:p>
            <a:pPr algn="ctr"/>
          </a:p>
        </p:txBody>
      </p:sp>
      <p:sp>
        <p:nvSpPr>
          <p:cNvPr id="280" name="Rectangle 279"/>
          <p:cNvSpPr/>
          <p:nvPr/>
        </p:nvSpPr>
        <p:spPr>
          <a:xfrm>
            <a:off x="7677760" y="3342132"/>
            <a:ext cx="157277" cy="157277"/>
          </a:xfrm>
          <a:prstGeom prst="rect">
            <a:avLst/>
          </a:prstGeom>
          <a:solidFill>
            <a:srgbClr val="E5E7EB"/>
          </a:solidFill>
          <a:ln>
            <a:noFill/>
          </a:ln>
        </p:spPr>
        <p:txBody>
          <a:bodyPr rtlCol="0" anchor="ctr"/>
          <a:lstStyle/>
          <a:p>
            <a:pPr algn="ctr"/>
          </a:p>
        </p:txBody>
      </p:sp>
      <p:sp>
        <p:nvSpPr>
          <p:cNvPr id="281" name="Rectangle 280"/>
          <p:cNvSpPr/>
          <p:nvPr/>
        </p:nvSpPr>
        <p:spPr>
          <a:xfrm>
            <a:off x="7677760" y="3145536"/>
            <a:ext cx="157277" cy="157277"/>
          </a:xfrm>
          <a:prstGeom prst="rect">
            <a:avLst/>
          </a:prstGeom>
          <a:solidFill>
            <a:srgbClr val="E5E7EB"/>
          </a:solidFill>
          <a:ln>
            <a:noFill/>
          </a:ln>
        </p:spPr>
        <p:txBody>
          <a:bodyPr rtlCol="0" anchor="ctr"/>
          <a:lstStyle/>
          <a:p>
            <a:pPr algn="ctr"/>
          </a:p>
        </p:txBody>
      </p:sp>
      <p:sp>
        <p:nvSpPr>
          <p:cNvPr id="282" name="Rectangle 281"/>
          <p:cNvSpPr/>
          <p:nvPr/>
        </p:nvSpPr>
        <p:spPr>
          <a:xfrm>
            <a:off x="7677760" y="2948940"/>
            <a:ext cx="157277" cy="157277"/>
          </a:xfrm>
          <a:prstGeom prst="rect">
            <a:avLst/>
          </a:prstGeom>
          <a:solidFill>
            <a:srgbClr val="E5E7EB"/>
          </a:solidFill>
          <a:ln>
            <a:noFill/>
          </a:ln>
        </p:spPr>
        <p:txBody>
          <a:bodyPr rtlCol="0" anchor="ctr"/>
          <a:lstStyle/>
          <a:p>
            <a:pPr algn="ctr"/>
          </a:p>
        </p:txBody>
      </p:sp>
      <p:sp>
        <p:nvSpPr>
          <p:cNvPr id="283" name="Rectangle 282"/>
          <p:cNvSpPr/>
          <p:nvPr/>
        </p:nvSpPr>
        <p:spPr>
          <a:xfrm>
            <a:off x="7677760" y="2752344"/>
            <a:ext cx="157277" cy="157277"/>
          </a:xfrm>
          <a:prstGeom prst="rect">
            <a:avLst/>
          </a:prstGeom>
          <a:solidFill>
            <a:srgbClr val="E5E7EB"/>
          </a:solidFill>
          <a:ln>
            <a:noFill/>
          </a:ln>
        </p:spPr>
        <p:txBody>
          <a:bodyPr rtlCol="0" anchor="ctr"/>
          <a:lstStyle/>
          <a:p>
            <a:pPr algn="ctr"/>
          </a:p>
        </p:txBody>
      </p:sp>
      <p:sp>
        <p:nvSpPr>
          <p:cNvPr id="284" name="Rectangle 283"/>
          <p:cNvSpPr/>
          <p:nvPr/>
        </p:nvSpPr>
        <p:spPr>
          <a:xfrm>
            <a:off x="7677760" y="2555748"/>
            <a:ext cx="157277" cy="157277"/>
          </a:xfrm>
          <a:prstGeom prst="rect">
            <a:avLst/>
          </a:prstGeom>
          <a:solidFill>
            <a:srgbClr val="E5E7EB"/>
          </a:solidFill>
          <a:ln>
            <a:noFill/>
          </a:ln>
        </p:spPr>
        <p:txBody>
          <a:bodyPr rtlCol="0" anchor="ctr"/>
          <a:lstStyle/>
          <a:p>
            <a:pPr algn="ctr"/>
          </a:p>
        </p:txBody>
      </p:sp>
      <p:sp>
        <p:nvSpPr>
          <p:cNvPr id="285" name="Rectangle 284"/>
          <p:cNvSpPr/>
          <p:nvPr/>
        </p:nvSpPr>
        <p:spPr>
          <a:xfrm>
            <a:off x="7677760" y="2359152"/>
            <a:ext cx="157277" cy="157277"/>
          </a:xfrm>
          <a:prstGeom prst="rect">
            <a:avLst/>
          </a:prstGeom>
          <a:solidFill>
            <a:srgbClr val="E5E7EB"/>
          </a:solidFill>
          <a:ln>
            <a:noFill/>
          </a:ln>
        </p:spPr>
        <p:txBody>
          <a:bodyPr rtlCol="0" anchor="ctr"/>
          <a:lstStyle/>
          <a:p>
            <a:pPr algn="ctr"/>
          </a:p>
        </p:txBody>
      </p:sp>
      <p:sp>
        <p:nvSpPr>
          <p:cNvPr id="286" name="Rectangle 285"/>
          <p:cNvSpPr/>
          <p:nvPr/>
        </p:nvSpPr>
        <p:spPr>
          <a:xfrm>
            <a:off x="7677760" y="2162556"/>
            <a:ext cx="157277" cy="157277"/>
          </a:xfrm>
          <a:prstGeom prst="rect">
            <a:avLst/>
          </a:prstGeom>
          <a:solidFill>
            <a:srgbClr val="E5E7EB"/>
          </a:solidFill>
          <a:ln>
            <a:noFill/>
          </a:ln>
        </p:spPr>
        <p:txBody>
          <a:bodyPr rtlCol="0" anchor="ctr"/>
          <a:lstStyle/>
          <a:p>
            <a:pPr algn="ctr"/>
          </a:p>
        </p:txBody>
      </p:sp>
      <p:sp>
        <p:nvSpPr>
          <p:cNvPr id="287" name="Rectangle 286"/>
          <p:cNvSpPr/>
          <p:nvPr/>
        </p:nvSpPr>
        <p:spPr>
          <a:xfrm>
            <a:off x="7677760" y="1965960"/>
            <a:ext cx="157277" cy="157277"/>
          </a:xfrm>
          <a:prstGeom prst="rect">
            <a:avLst/>
          </a:prstGeom>
          <a:solidFill>
            <a:srgbClr val="E5E7EB"/>
          </a:solidFill>
          <a:ln>
            <a:noFill/>
          </a:ln>
        </p:spPr>
        <p:txBody>
          <a:bodyPr rtlCol="0" anchor="ctr"/>
          <a:lstStyle/>
          <a:p>
            <a:pPr algn="ctr"/>
          </a:p>
        </p:txBody>
      </p:sp>
      <p:sp>
        <p:nvSpPr>
          <p:cNvPr id="288" name="Rectangle 287"/>
          <p:cNvSpPr/>
          <p:nvPr/>
        </p:nvSpPr>
        <p:spPr>
          <a:xfrm>
            <a:off x="7677760" y="1769364"/>
            <a:ext cx="157277" cy="157277"/>
          </a:xfrm>
          <a:prstGeom prst="rect">
            <a:avLst/>
          </a:prstGeom>
          <a:solidFill>
            <a:srgbClr val="E5E7EB"/>
          </a:solidFill>
          <a:ln>
            <a:noFill/>
          </a:ln>
        </p:spPr>
        <p:txBody>
          <a:bodyPr rtlCol="0" anchor="ctr"/>
          <a:lstStyle/>
          <a:p>
            <a:pPr algn="ctr"/>
          </a:p>
        </p:txBody>
      </p:sp>
      <p:sp>
        <p:nvSpPr>
          <p:cNvPr id="289" name="Rectangle 288"/>
          <p:cNvSpPr/>
          <p:nvPr/>
        </p:nvSpPr>
        <p:spPr>
          <a:xfrm>
            <a:off x="7677760" y="1572768"/>
            <a:ext cx="157277" cy="157277"/>
          </a:xfrm>
          <a:prstGeom prst="rect">
            <a:avLst/>
          </a:prstGeom>
          <a:solidFill>
            <a:srgbClr val="E5E7EB"/>
          </a:solidFill>
          <a:ln>
            <a:noFill/>
          </a:ln>
        </p:spPr>
        <p:txBody>
          <a:bodyPr rtlCol="0" anchor="ctr"/>
          <a:lstStyle/>
          <a:p>
            <a:pPr algn="ctr"/>
          </a:p>
        </p:txBody>
      </p:sp>
      <p:sp>
        <p:nvSpPr>
          <p:cNvPr id="290" name="Rectangle 289"/>
          <p:cNvSpPr/>
          <p:nvPr/>
        </p:nvSpPr>
        <p:spPr>
          <a:xfrm>
            <a:off x="7874356" y="3342132"/>
            <a:ext cx="157277" cy="157277"/>
          </a:xfrm>
          <a:prstGeom prst="rect">
            <a:avLst/>
          </a:prstGeom>
          <a:solidFill>
            <a:srgbClr val="E5E7EB"/>
          </a:solidFill>
          <a:ln>
            <a:noFill/>
          </a:ln>
        </p:spPr>
        <p:txBody>
          <a:bodyPr rtlCol="0" anchor="ctr"/>
          <a:lstStyle/>
          <a:p>
            <a:pPr algn="ctr"/>
          </a:p>
        </p:txBody>
      </p:sp>
      <p:sp>
        <p:nvSpPr>
          <p:cNvPr id="291" name="Rectangle 290"/>
          <p:cNvSpPr/>
          <p:nvPr/>
        </p:nvSpPr>
        <p:spPr>
          <a:xfrm>
            <a:off x="7874356" y="3145536"/>
            <a:ext cx="157277" cy="157277"/>
          </a:xfrm>
          <a:prstGeom prst="rect">
            <a:avLst/>
          </a:prstGeom>
          <a:solidFill>
            <a:srgbClr val="E5E7EB"/>
          </a:solidFill>
          <a:ln>
            <a:noFill/>
          </a:ln>
        </p:spPr>
        <p:txBody>
          <a:bodyPr rtlCol="0" anchor="ctr"/>
          <a:lstStyle/>
          <a:p>
            <a:pPr algn="ctr"/>
          </a:p>
        </p:txBody>
      </p:sp>
      <p:sp>
        <p:nvSpPr>
          <p:cNvPr id="292" name="Rectangle 291"/>
          <p:cNvSpPr/>
          <p:nvPr/>
        </p:nvSpPr>
        <p:spPr>
          <a:xfrm>
            <a:off x="7874356" y="2948940"/>
            <a:ext cx="157277" cy="157277"/>
          </a:xfrm>
          <a:prstGeom prst="rect">
            <a:avLst/>
          </a:prstGeom>
          <a:solidFill>
            <a:srgbClr val="E5E7EB"/>
          </a:solidFill>
          <a:ln>
            <a:noFill/>
          </a:ln>
        </p:spPr>
        <p:txBody>
          <a:bodyPr rtlCol="0" anchor="ctr"/>
          <a:lstStyle/>
          <a:p>
            <a:pPr algn="ctr"/>
          </a:p>
        </p:txBody>
      </p:sp>
      <p:sp>
        <p:nvSpPr>
          <p:cNvPr id="293" name="Rectangle 292"/>
          <p:cNvSpPr/>
          <p:nvPr/>
        </p:nvSpPr>
        <p:spPr>
          <a:xfrm>
            <a:off x="7874356" y="2752344"/>
            <a:ext cx="157277" cy="157277"/>
          </a:xfrm>
          <a:prstGeom prst="rect">
            <a:avLst/>
          </a:prstGeom>
          <a:solidFill>
            <a:srgbClr val="E5E7EB"/>
          </a:solidFill>
          <a:ln>
            <a:noFill/>
          </a:ln>
        </p:spPr>
        <p:txBody>
          <a:bodyPr rtlCol="0" anchor="ctr"/>
          <a:lstStyle/>
          <a:p>
            <a:pPr algn="ctr"/>
          </a:p>
        </p:txBody>
      </p:sp>
      <p:sp>
        <p:nvSpPr>
          <p:cNvPr id="294" name="Rectangle 293"/>
          <p:cNvSpPr/>
          <p:nvPr/>
        </p:nvSpPr>
        <p:spPr>
          <a:xfrm>
            <a:off x="7874356" y="2555748"/>
            <a:ext cx="157277" cy="157277"/>
          </a:xfrm>
          <a:prstGeom prst="rect">
            <a:avLst/>
          </a:prstGeom>
          <a:solidFill>
            <a:srgbClr val="E5E7EB"/>
          </a:solidFill>
          <a:ln>
            <a:noFill/>
          </a:ln>
        </p:spPr>
        <p:txBody>
          <a:bodyPr rtlCol="0" anchor="ctr"/>
          <a:lstStyle/>
          <a:p>
            <a:pPr algn="ctr"/>
          </a:p>
        </p:txBody>
      </p:sp>
      <p:sp>
        <p:nvSpPr>
          <p:cNvPr id="295" name="Rectangle 294"/>
          <p:cNvSpPr/>
          <p:nvPr/>
        </p:nvSpPr>
        <p:spPr>
          <a:xfrm>
            <a:off x="7874356" y="2359152"/>
            <a:ext cx="157277" cy="157277"/>
          </a:xfrm>
          <a:prstGeom prst="rect">
            <a:avLst/>
          </a:prstGeom>
          <a:solidFill>
            <a:srgbClr val="E5E7EB"/>
          </a:solidFill>
          <a:ln>
            <a:noFill/>
          </a:ln>
        </p:spPr>
        <p:txBody>
          <a:bodyPr rtlCol="0" anchor="ctr"/>
          <a:lstStyle/>
          <a:p>
            <a:pPr algn="ctr"/>
          </a:p>
        </p:txBody>
      </p:sp>
      <p:sp>
        <p:nvSpPr>
          <p:cNvPr id="296" name="Rectangle 295"/>
          <p:cNvSpPr/>
          <p:nvPr/>
        </p:nvSpPr>
        <p:spPr>
          <a:xfrm>
            <a:off x="7874356" y="2162556"/>
            <a:ext cx="157277" cy="157277"/>
          </a:xfrm>
          <a:prstGeom prst="rect">
            <a:avLst/>
          </a:prstGeom>
          <a:solidFill>
            <a:srgbClr val="E5E7EB"/>
          </a:solidFill>
          <a:ln>
            <a:noFill/>
          </a:ln>
        </p:spPr>
        <p:txBody>
          <a:bodyPr rtlCol="0" anchor="ctr"/>
          <a:lstStyle/>
          <a:p>
            <a:pPr algn="ctr"/>
          </a:p>
        </p:txBody>
      </p:sp>
      <p:sp>
        <p:nvSpPr>
          <p:cNvPr id="297" name="Rectangle 296"/>
          <p:cNvSpPr/>
          <p:nvPr/>
        </p:nvSpPr>
        <p:spPr>
          <a:xfrm>
            <a:off x="7874356" y="1965960"/>
            <a:ext cx="157277" cy="157277"/>
          </a:xfrm>
          <a:prstGeom prst="rect">
            <a:avLst/>
          </a:prstGeom>
          <a:solidFill>
            <a:srgbClr val="E5E7EB"/>
          </a:solidFill>
          <a:ln>
            <a:noFill/>
          </a:ln>
        </p:spPr>
        <p:txBody>
          <a:bodyPr rtlCol="0" anchor="ctr"/>
          <a:lstStyle/>
          <a:p>
            <a:pPr algn="ctr"/>
          </a:p>
        </p:txBody>
      </p:sp>
      <p:sp>
        <p:nvSpPr>
          <p:cNvPr id="298" name="Rectangle 297"/>
          <p:cNvSpPr/>
          <p:nvPr/>
        </p:nvSpPr>
        <p:spPr>
          <a:xfrm>
            <a:off x="7874356" y="1769364"/>
            <a:ext cx="157277" cy="157277"/>
          </a:xfrm>
          <a:prstGeom prst="rect">
            <a:avLst/>
          </a:prstGeom>
          <a:solidFill>
            <a:srgbClr val="E5E7EB"/>
          </a:solidFill>
          <a:ln>
            <a:noFill/>
          </a:ln>
        </p:spPr>
        <p:txBody>
          <a:bodyPr rtlCol="0" anchor="ctr"/>
          <a:lstStyle/>
          <a:p>
            <a:pPr algn="ctr"/>
          </a:p>
        </p:txBody>
      </p:sp>
      <p:sp>
        <p:nvSpPr>
          <p:cNvPr id="299" name="Rectangle 298"/>
          <p:cNvSpPr/>
          <p:nvPr/>
        </p:nvSpPr>
        <p:spPr>
          <a:xfrm>
            <a:off x="7874356" y="1572768"/>
            <a:ext cx="157277" cy="157277"/>
          </a:xfrm>
          <a:prstGeom prst="rect">
            <a:avLst/>
          </a:prstGeom>
          <a:solidFill>
            <a:srgbClr val="E5E7EB"/>
          </a:solidFill>
          <a:ln>
            <a:noFill/>
          </a:ln>
        </p:spPr>
        <p:txBody>
          <a:bodyPr rtlCol="0" anchor="ctr"/>
          <a:lstStyle/>
          <a:p>
            <a:pPr algn="ctr"/>
          </a:p>
        </p:txBody>
      </p:sp>
      <p:sp>
        <p:nvSpPr>
          <p:cNvPr id="300" name="Rectangle 299"/>
          <p:cNvSpPr/>
          <p:nvPr/>
        </p:nvSpPr>
        <p:spPr>
          <a:xfrm>
            <a:off x="8070952" y="3342132"/>
            <a:ext cx="157277" cy="157277"/>
          </a:xfrm>
          <a:prstGeom prst="rect">
            <a:avLst/>
          </a:prstGeom>
          <a:solidFill>
            <a:srgbClr val="E5E7EB"/>
          </a:solidFill>
          <a:ln>
            <a:noFill/>
          </a:ln>
        </p:spPr>
        <p:txBody>
          <a:bodyPr rtlCol="0" anchor="ctr"/>
          <a:lstStyle/>
          <a:p>
            <a:pPr algn="ctr"/>
          </a:p>
        </p:txBody>
      </p:sp>
      <p:sp>
        <p:nvSpPr>
          <p:cNvPr id="301" name="Rectangle 300"/>
          <p:cNvSpPr/>
          <p:nvPr/>
        </p:nvSpPr>
        <p:spPr>
          <a:xfrm>
            <a:off x="8070952" y="3145536"/>
            <a:ext cx="157277" cy="157277"/>
          </a:xfrm>
          <a:prstGeom prst="rect">
            <a:avLst/>
          </a:prstGeom>
          <a:solidFill>
            <a:srgbClr val="E5E7EB"/>
          </a:solidFill>
          <a:ln>
            <a:noFill/>
          </a:ln>
        </p:spPr>
        <p:txBody>
          <a:bodyPr rtlCol="0" anchor="ctr"/>
          <a:lstStyle/>
          <a:p>
            <a:pPr algn="ctr"/>
          </a:p>
        </p:txBody>
      </p:sp>
      <p:sp>
        <p:nvSpPr>
          <p:cNvPr id="302" name="Rectangle 301"/>
          <p:cNvSpPr/>
          <p:nvPr/>
        </p:nvSpPr>
        <p:spPr>
          <a:xfrm>
            <a:off x="8070952" y="2948940"/>
            <a:ext cx="157277" cy="157277"/>
          </a:xfrm>
          <a:prstGeom prst="rect">
            <a:avLst/>
          </a:prstGeom>
          <a:solidFill>
            <a:srgbClr val="E5E7EB"/>
          </a:solidFill>
          <a:ln>
            <a:noFill/>
          </a:ln>
        </p:spPr>
        <p:txBody>
          <a:bodyPr rtlCol="0" anchor="ctr"/>
          <a:lstStyle/>
          <a:p>
            <a:pPr algn="ctr"/>
          </a:p>
        </p:txBody>
      </p:sp>
      <p:sp>
        <p:nvSpPr>
          <p:cNvPr id="303" name="Rectangle 302"/>
          <p:cNvSpPr/>
          <p:nvPr/>
        </p:nvSpPr>
        <p:spPr>
          <a:xfrm>
            <a:off x="8070952" y="2752344"/>
            <a:ext cx="157277" cy="157277"/>
          </a:xfrm>
          <a:prstGeom prst="rect">
            <a:avLst/>
          </a:prstGeom>
          <a:solidFill>
            <a:srgbClr val="E5E7EB"/>
          </a:solidFill>
          <a:ln>
            <a:noFill/>
          </a:ln>
        </p:spPr>
        <p:txBody>
          <a:bodyPr rtlCol="0" anchor="ctr"/>
          <a:lstStyle/>
          <a:p>
            <a:pPr algn="ctr"/>
          </a:p>
        </p:txBody>
      </p:sp>
      <p:sp>
        <p:nvSpPr>
          <p:cNvPr id="304" name="Rectangle 303"/>
          <p:cNvSpPr/>
          <p:nvPr/>
        </p:nvSpPr>
        <p:spPr>
          <a:xfrm>
            <a:off x="8070952" y="2555748"/>
            <a:ext cx="157277" cy="157277"/>
          </a:xfrm>
          <a:prstGeom prst="rect">
            <a:avLst/>
          </a:prstGeom>
          <a:solidFill>
            <a:srgbClr val="E5E7EB"/>
          </a:solidFill>
          <a:ln>
            <a:noFill/>
          </a:ln>
        </p:spPr>
        <p:txBody>
          <a:bodyPr rtlCol="0" anchor="ctr"/>
          <a:lstStyle/>
          <a:p>
            <a:pPr algn="ctr"/>
          </a:p>
        </p:txBody>
      </p:sp>
      <p:sp>
        <p:nvSpPr>
          <p:cNvPr id="305" name="Rectangle 304"/>
          <p:cNvSpPr/>
          <p:nvPr/>
        </p:nvSpPr>
        <p:spPr>
          <a:xfrm>
            <a:off x="8070952" y="2359152"/>
            <a:ext cx="157277" cy="157277"/>
          </a:xfrm>
          <a:prstGeom prst="rect">
            <a:avLst/>
          </a:prstGeom>
          <a:solidFill>
            <a:srgbClr val="E5E7EB"/>
          </a:solidFill>
          <a:ln>
            <a:noFill/>
          </a:ln>
        </p:spPr>
        <p:txBody>
          <a:bodyPr rtlCol="0" anchor="ctr"/>
          <a:lstStyle/>
          <a:p>
            <a:pPr algn="ctr"/>
          </a:p>
        </p:txBody>
      </p:sp>
      <p:sp>
        <p:nvSpPr>
          <p:cNvPr id="306" name="Rectangle 305"/>
          <p:cNvSpPr/>
          <p:nvPr/>
        </p:nvSpPr>
        <p:spPr>
          <a:xfrm>
            <a:off x="8070952" y="2162556"/>
            <a:ext cx="157277" cy="157277"/>
          </a:xfrm>
          <a:prstGeom prst="rect">
            <a:avLst/>
          </a:prstGeom>
          <a:solidFill>
            <a:srgbClr val="E5E7EB"/>
          </a:solidFill>
          <a:ln>
            <a:noFill/>
          </a:ln>
        </p:spPr>
        <p:txBody>
          <a:bodyPr rtlCol="0" anchor="ctr"/>
          <a:lstStyle/>
          <a:p>
            <a:pPr algn="ctr"/>
          </a:p>
        </p:txBody>
      </p:sp>
      <p:sp>
        <p:nvSpPr>
          <p:cNvPr id="307" name="Rectangle 306"/>
          <p:cNvSpPr/>
          <p:nvPr/>
        </p:nvSpPr>
        <p:spPr>
          <a:xfrm>
            <a:off x="8070952" y="1965960"/>
            <a:ext cx="157277" cy="157277"/>
          </a:xfrm>
          <a:prstGeom prst="rect">
            <a:avLst/>
          </a:prstGeom>
          <a:solidFill>
            <a:srgbClr val="E5E7EB"/>
          </a:solidFill>
          <a:ln>
            <a:noFill/>
          </a:ln>
        </p:spPr>
        <p:txBody>
          <a:bodyPr rtlCol="0" anchor="ctr"/>
          <a:lstStyle/>
          <a:p>
            <a:pPr algn="ctr"/>
          </a:p>
        </p:txBody>
      </p:sp>
      <p:sp>
        <p:nvSpPr>
          <p:cNvPr id="308" name="Rectangle 307"/>
          <p:cNvSpPr/>
          <p:nvPr/>
        </p:nvSpPr>
        <p:spPr>
          <a:xfrm>
            <a:off x="8070952" y="1769364"/>
            <a:ext cx="157277" cy="157277"/>
          </a:xfrm>
          <a:prstGeom prst="rect">
            <a:avLst/>
          </a:prstGeom>
          <a:solidFill>
            <a:srgbClr val="E5E7EB"/>
          </a:solidFill>
          <a:ln>
            <a:noFill/>
          </a:ln>
        </p:spPr>
        <p:txBody>
          <a:bodyPr rtlCol="0" anchor="ctr"/>
          <a:lstStyle/>
          <a:p>
            <a:pPr algn="ctr"/>
          </a:p>
        </p:txBody>
      </p:sp>
      <p:sp>
        <p:nvSpPr>
          <p:cNvPr id="309" name="Rectangle 308"/>
          <p:cNvSpPr/>
          <p:nvPr/>
        </p:nvSpPr>
        <p:spPr>
          <a:xfrm>
            <a:off x="8070952" y="1572768"/>
            <a:ext cx="157277" cy="157277"/>
          </a:xfrm>
          <a:prstGeom prst="rect">
            <a:avLst/>
          </a:prstGeom>
          <a:solidFill>
            <a:srgbClr val="E5E7EB"/>
          </a:solidFill>
          <a:ln>
            <a:noFill/>
          </a:ln>
        </p:spPr>
        <p:txBody>
          <a:bodyPr rtlCol="0" anchor="ctr"/>
          <a:lstStyle/>
          <a:p>
            <a:pPr algn="ctr"/>
          </a:p>
        </p:txBody>
      </p:sp>
      <p:sp>
        <p:nvSpPr>
          <p:cNvPr id="310" name="TextBox 309"/>
          <p:cNvSpPr txBox="1"/>
          <p:nvPr/>
        </p:nvSpPr>
        <p:spPr>
          <a:xfrm>
            <a:off x="6301588"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4%</a:t>
            </a:r>
          </a:p>
        </p:txBody>
      </p:sp>
      <p:sp>
        <p:nvSpPr>
          <p:cNvPr id="311" name="TextBox 310"/>
          <p:cNvSpPr txBox="1"/>
          <p:nvPr/>
        </p:nvSpPr>
        <p:spPr>
          <a:xfrm>
            <a:off x="6301588" y="4069080"/>
            <a:ext cx="2373554" cy="640080"/>
          </a:xfrm>
          <a:prstGeom prst="rect">
            <a:avLst/>
          </a:prstGeom>
          <a:noFill/>
        </p:spPr>
        <p:txBody>
          <a:bodyPr wrap="square" lIns="0" tIns="0" rIns="0" bIns="0">
            <a:spAutoFit/>
          </a:bodyPr>
          <a:lstStyle/>
          <a:p>
            <a:pPr>
              <a:lnSpc>
                <a:spcPct val="104000"/>
              </a:lnSpc>
            </a:pPr>
            <a:r>
              <a:rPr sz="1150">
                <a:solidFill>
                  <a:srgbClr val="0C1408"/>
                </a:solidFill>
                <a:latin typeface="Arial"/>
              </a:rPr>
              <a:t>of savers use a formal financial institution [1]</a:t>
            </a:r>
          </a:p>
        </p:txBody>
      </p:sp>
      <p:sp>
        <p:nvSpPr>
          <p:cNvPr id="312" name="Rectangle 311"/>
          <p:cNvSpPr/>
          <p:nvPr/>
        </p:nvSpPr>
        <p:spPr>
          <a:xfrm>
            <a:off x="9178061" y="3342132"/>
            <a:ext cx="157277" cy="157277"/>
          </a:xfrm>
          <a:prstGeom prst="rect">
            <a:avLst/>
          </a:prstGeom>
          <a:solidFill>
            <a:srgbClr val="E5E7EB"/>
          </a:solidFill>
          <a:ln>
            <a:noFill/>
          </a:ln>
        </p:spPr>
        <p:txBody>
          <a:bodyPr rtlCol="0" anchor="ctr"/>
          <a:lstStyle/>
          <a:p>
            <a:pPr algn="ctr"/>
          </a:p>
        </p:txBody>
      </p:sp>
      <p:sp>
        <p:nvSpPr>
          <p:cNvPr id="313" name="Rectangle 312"/>
          <p:cNvSpPr/>
          <p:nvPr/>
        </p:nvSpPr>
        <p:spPr>
          <a:xfrm>
            <a:off x="9178061" y="3145536"/>
            <a:ext cx="157277" cy="157277"/>
          </a:xfrm>
          <a:prstGeom prst="rect">
            <a:avLst/>
          </a:prstGeom>
          <a:solidFill>
            <a:srgbClr val="E5E7EB"/>
          </a:solidFill>
          <a:ln>
            <a:noFill/>
          </a:ln>
        </p:spPr>
        <p:txBody>
          <a:bodyPr rtlCol="0" anchor="ctr"/>
          <a:lstStyle/>
          <a:p>
            <a:pPr algn="ctr"/>
          </a:p>
        </p:txBody>
      </p:sp>
      <p:sp>
        <p:nvSpPr>
          <p:cNvPr id="314" name="Rectangle 313"/>
          <p:cNvSpPr/>
          <p:nvPr/>
        </p:nvSpPr>
        <p:spPr>
          <a:xfrm>
            <a:off x="9178061" y="2948940"/>
            <a:ext cx="157277" cy="157277"/>
          </a:xfrm>
          <a:prstGeom prst="rect">
            <a:avLst/>
          </a:prstGeom>
          <a:solidFill>
            <a:srgbClr val="E5E7EB"/>
          </a:solidFill>
          <a:ln>
            <a:noFill/>
          </a:ln>
        </p:spPr>
        <p:txBody>
          <a:bodyPr rtlCol="0" anchor="ctr"/>
          <a:lstStyle/>
          <a:p>
            <a:pPr algn="ctr"/>
          </a:p>
        </p:txBody>
      </p:sp>
      <p:sp>
        <p:nvSpPr>
          <p:cNvPr id="315" name="Rectangle 314"/>
          <p:cNvSpPr/>
          <p:nvPr/>
        </p:nvSpPr>
        <p:spPr>
          <a:xfrm>
            <a:off x="9178061" y="2752344"/>
            <a:ext cx="157277" cy="157277"/>
          </a:xfrm>
          <a:prstGeom prst="rect">
            <a:avLst/>
          </a:prstGeom>
          <a:solidFill>
            <a:srgbClr val="E5E7EB"/>
          </a:solidFill>
          <a:ln>
            <a:noFill/>
          </a:ln>
        </p:spPr>
        <p:txBody>
          <a:bodyPr rtlCol="0" anchor="ctr"/>
          <a:lstStyle/>
          <a:p>
            <a:pPr algn="ctr"/>
          </a:p>
        </p:txBody>
      </p:sp>
      <p:sp>
        <p:nvSpPr>
          <p:cNvPr id="316" name="Rectangle 315"/>
          <p:cNvSpPr/>
          <p:nvPr/>
        </p:nvSpPr>
        <p:spPr>
          <a:xfrm>
            <a:off x="9178061" y="2555748"/>
            <a:ext cx="157277" cy="157277"/>
          </a:xfrm>
          <a:prstGeom prst="rect">
            <a:avLst/>
          </a:prstGeom>
          <a:solidFill>
            <a:srgbClr val="E5E7EB"/>
          </a:solidFill>
          <a:ln>
            <a:noFill/>
          </a:ln>
        </p:spPr>
        <p:txBody>
          <a:bodyPr rtlCol="0" anchor="ctr"/>
          <a:lstStyle/>
          <a:p>
            <a:pPr algn="ctr"/>
          </a:p>
        </p:txBody>
      </p:sp>
      <p:sp>
        <p:nvSpPr>
          <p:cNvPr id="317" name="Rectangle 316"/>
          <p:cNvSpPr/>
          <p:nvPr/>
        </p:nvSpPr>
        <p:spPr>
          <a:xfrm>
            <a:off x="9178061" y="2359152"/>
            <a:ext cx="157277" cy="157277"/>
          </a:xfrm>
          <a:prstGeom prst="rect">
            <a:avLst/>
          </a:prstGeom>
          <a:solidFill>
            <a:srgbClr val="E5E7EB"/>
          </a:solidFill>
          <a:ln>
            <a:noFill/>
          </a:ln>
        </p:spPr>
        <p:txBody>
          <a:bodyPr rtlCol="0" anchor="ctr"/>
          <a:lstStyle/>
          <a:p>
            <a:pPr algn="ctr"/>
          </a:p>
        </p:txBody>
      </p:sp>
      <p:sp>
        <p:nvSpPr>
          <p:cNvPr id="318" name="Rectangle 317"/>
          <p:cNvSpPr/>
          <p:nvPr/>
        </p:nvSpPr>
        <p:spPr>
          <a:xfrm>
            <a:off x="9178061" y="2162556"/>
            <a:ext cx="157277" cy="157277"/>
          </a:xfrm>
          <a:prstGeom prst="rect">
            <a:avLst/>
          </a:prstGeom>
          <a:solidFill>
            <a:srgbClr val="E5E7EB"/>
          </a:solidFill>
          <a:ln>
            <a:noFill/>
          </a:ln>
        </p:spPr>
        <p:txBody>
          <a:bodyPr rtlCol="0" anchor="ctr"/>
          <a:lstStyle/>
          <a:p>
            <a:pPr algn="ctr"/>
          </a:p>
        </p:txBody>
      </p:sp>
      <p:sp>
        <p:nvSpPr>
          <p:cNvPr id="319" name="Rectangle 318"/>
          <p:cNvSpPr/>
          <p:nvPr/>
        </p:nvSpPr>
        <p:spPr>
          <a:xfrm>
            <a:off x="9178061" y="1965960"/>
            <a:ext cx="157277" cy="157277"/>
          </a:xfrm>
          <a:prstGeom prst="rect">
            <a:avLst/>
          </a:prstGeom>
          <a:solidFill>
            <a:srgbClr val="E5E7EB"/>
          </a:solidFill>
          <a:ln>
            <a:noFill/>
          </a:ln>
        </p:spPr>
        <p:txBody>
          <a:bodyPr rtlCol="0" anchor="ctr"/>
          <a:lstStyle/>
          <a:p>
            <a:pPr algn="ctr"/>
          </a:p>
        </p:txBody>
      </p:sp>
      <p:sp>
        <p:nvSpPr>
          <p:cNvPr id="320" name="Rectangle 319"/>
          <p:cNvSpPr/>
          <p:nvPr/>
        </p:nvSpPr>
        <p:spPr>
          <a:xfrm>
            <a:off x="9178061" y="1769364"/>
            <a:ext cx="157277" cy="157277"/>
          </a:xfrm>
          <a:prstGeom prst="rect">
            <a:avLst/>
          </a:prstGeom>
          <a:solidFill>
            <a:srgbClr val="E5E7EB"/>
          </a:solidFill>
          <a:ln>
            <a:noFill/>
          </a:ln>
        </p:spPr>
        <p:txBody>
          <a:bodyPr rtlCol="0" anchor="ctr"/>
          <a:lstStyle/>
          <a:p>
            <a:pPr algn="ctr"/>
          </a:p>
        </p:txBody>
      </p:sp>
      <p:sp>
        <p:nvSpPr>
          <p:cNvPr id="321" name="Rectangle 320"/>
          <p:cNvSpPr/>
          <p:nvPr/>
        </p:nvSpPr>
        <p:spPr>
          <a:xfrm>
            <a:off x="9178061" y="1572768"/>
            <a:ext cx="157277" cy="157277"/>
          </a:xfrm>
          <a:prstGeom prst="rect">
            <a:avLst/>
          </a:prstGeom>
          <a:solidFill>
            <a:srgbClr val="E5E7EB"/>
          </a:solidFill>
          <a:ln>
            <a:noFill/>
          </a:ln>
        </p:spPr>
        <p:txBody>
          <a:bodyPr rtlCol="0" anchor="ctr"/>
          <a:lstStyle/>
          <a:p>
            <a:pPr algn="ctr"/>
          </a:p>
        </p:txBody>
      </p:sp>
      <p:sp>
        <p:nvSpPr>
          <p:cNvPr id="322" name="Rectangle 321"/>
          <p:cNvSpPr/>
          <p:nvPr/>
        </p:nvSpPr>
        <p:spPr>
          <a:xfrm>
            <a:off x="9374657" y="3342132"/>
            <a:ext cx="157277" cy="157277"/>
          </a:xfrm>
          <a:prstGeom prst="rect">
            <a:avLst/>
          </a:prstGeom>
          <a:solidFill>
            <a:srgbClr val="E5E7EB"/>
          </a:solidFill>
          <a:ln>
            <a:noFill/>
          </a:ln>
        </p:spPr>
        <p:txBody>
          <a:bodyPr rtlCol="0" anchor="ctr"/>
          <a:lstStyle/>
          <a:p>
            <a:pPr algn="ctr"/>
          </a:p>
        </p:txBody>
      </p:sp>
      <p:sp>
        <p:nvSpPr>
          <p:cNvPr id="323" name="Rectangle 322"/>
          <p:cNvSpPr/>
          <p:nvPr/>
        </p:nvSpPr>
        <p:spPr>
          <a:xfrm>
            <a:off x="9374657" y="3145536"/>
            <a:ext cx="157277" cy="157277"/>
          </a:xfrm>
          <a:prstGeom prst="rect">
            <a:avLst/>
          </a:prstGeom>
          <a:solidFill>
            <a:srgbClr val="E5E7EB"/>
          </a:solidFill>
          <a:ln>
            <a:noFill/>
          </a:ln>
        </p:spPr>
        <p:txBody>
          <a:bodyPr rtlCol="0" anchor="ctr"/>
          <a:lstStyle/>
          <a:p>
            <a:pPr algn="ctr"/>
          </a:p>
        </p:txBody>
      </p:sp>
      <p:sp>
        <p:nvSpPr>
          <p:cNvPr id="324" name="Rectangle 323"/>
          <p:cNvSpPr/>
          <p:nvPr/>
        </p:nvSpPr>
        <p:spPr>
          <a:xfrm>
            <a:off x="9374657" y="2948940"/>
            <a:ext cx="157277" cy="157277"/>
          </a:xfrm>
          <a:prstGeom prst="rect">
            <a:avLst/>
          </a:prstGeom>
          <a:solidFill>
            <a:srgbClr val="E5E7EB"/>
          </a:solidFill>
          <a:ln>
            <a:noFill/>
          </a:ln>
        </p:spPr>
        <p:txBody>
          <a:bodyPr rtlCol="0" anchor="ctr"/>
          <a:lstStyle/>
          <a:p>
            <a:pPr algn="ctr"/>
          </a:p>
        </p:txBody>
      </p:sp>
      <p:sp>
        <p:nvSpPr>
          <p:cNvPr id="325" name="Rectangle 324"/>
          <p:cNvSpPr/>
          <p:nvPr/>
        </p:nvSpPr>
        <p:spPr>
          <a:xfrm>
            <a:off x="9374657" y="2752344"/>
            <a:ext cx="157277" cy="157277"/>
          </a:xfrm>
          <a:prstGeom prst="rect">
            <a:avLst/>
          </a:prstGeom>
          <a:solidFill>
            <a:srgbClr val="E5E7EB"/>
          </a:solidFill>
          <a:ln>
            <a:noFill/>
          </a:ln>
        </p:spPr>
        <p:txBody>
          <a:bodyPr rtlCol="0" anchor="ctr"/>
          <a:lstStyle/>
          <a:p>
            <a:pPr algn="ctr"/>
          </a:p>
        </p:txBody>
      </p:sp>
      <p:sp>
        <p:nvSpPr>
          <p:cNvPr id="326" name="Rectangle 325"/>
          <p:cNvSpPr/>
          <p:nvPr/>
        </p:nvSpPr>
        <p:spPr>
          <a:xfrm>
            <a:off x="9374657" y="2555748"/>
            <a:ext cx="157277" cy="157277"/>
          </a:xfrm>
          <a:prstGeom prst="rect">
            <a:avLst/>
          </a:prstGeom>
          <a:solidFill>
            <a:srgbClr val="E5E7EB"/>
          </a:solidFill>
          <a:ln>
            <a:noFill/>
          </a:ln>
        </p:spPr>
        <p:txBody>
          <a:bodyPr rtlCol="0" anchor="ctr"/>
          <a:lstStyle/>
          <a:p>
            <a:pPr algn="ctr"/>
          </a:p>
        </p:txBody>
      </p:sp>
      <p:sp>
        <p:nvSpPr>
          <p:cNvPr id="327" name="Rectangle 326"/>
          <p:cNvSpPr/>
          <p:nvPr/>
        </p:nvSpPr>
        <p:spPr>
          <a:xfrm>
            <a:off x="9374657" y="2359152"/>
            <a:ext cx="157277" cy="157277"/>
          </a:xfrm>
          <a:prstGeom prst="rect">
            <a:avLst/>
          </a:prstGeom>
          <a:solidFill>
            <a:srgbClr val="E5E7EB"/>
          </a:solidFill>
          <a:ln>
            <a:noFill/>
          </a:ln>
        </p:spPr>
        <p:txBody>
          <a:bodyPr rtlCol="0" anchor="ctr"/>
          <a:lstStyle/>
          <a:p>
            <a:pPr algn="ctr"/>
          </a:p>
        </p:txBody>
      </p:sp>
      <p:sp>
        <p:nvSpPr>
          <p:cNvPr id="328" name="Rectangle 327"/>
          <p:cNvSpPr/>
          <p:nvPr/>
        </p:nvSpPr>
        <p:spPr>
          <a:xfrm>
            <a:off x="9374657" y="2162556"/>
            <a:ext cx="157277" cy="157277"/>
          </a:xfrm>
          <a:prstGeom prst="rect">
            <a:avLst/>
          </a:prstGeom>
          <a:solidFill>
            <a:srgbClr val="E5E7EB"/>
          </a:solidFill>
          <a:ln>
            <a:noFill/>
          </a:ln>
        </p:spPr>
        <p:txBody>
          <a:bodyPr rtlCol="0" anchor="ctr"/>
          <a:lstStyle/>
          <a:p>
            <a:pPr algn="ctr"/>
          </a:p>
        </p:txBody>
      </p:sp>
      <p:sp>
        <p:nvSpPr>
          <p:cNvPr id="329" name="Rectangle 328"/>
          <p:cNvSpPr/>
          <p:nvPr/>
        </p:nvSpPr>
        <p:spPr>
          <a:xfrm>
            <a:off x="9374657" y="1965960"/>
            <a:ext cx="157277" cy="157277"/>
          </a:xfrm>
          <a:prstGeom prst="rect">
            <a:avLst/>
          </a:prstGeom>
          <a:solidFill>
            <a:srgbClr val="E5E7EB"/>
          </a:solidFill>
          <a:ln>
            <a:noFill/>
          </a:ln>
        </p:spPr>
        <p:txBody>
          <a:bodyPr rtlCol="0" anchor="ctr"/>
          <a:lstStyle/>
          <a:p>
            <a:pPr algn="ctr"/>
          </a:p>
        </p:txBody>
      </p:sp>
      <p:sp>
        <p:nvSpPr>
          <p:cNvPr id="330" name="Rectangle 329"/>
          <p:cNvSpPr/>
          <p:nvPr/>
        </p:nvSpPr>
        <p:spPr>
          <a:xfrm>
            <a:off x="9374657" y="1769364"/>
            <a:ext cx="157277" cy="157277"/>
          </a:xfrm>
          <a:prstGeom prst="rect">
            <a:avLst/>
          </a:prstGeom>
          <a:solidFill>
            <a:srgbClr val="E5E7EB"/>
          </a:solidFill>
          <a:ln>
            <a:noFill/>
          </a:ln>
        </p:spPr>
        <p:txBody>
          <a:bodyPr rtlCol="0" anchor="ctr"/>
          <a:lstStyle/>
          <a:p>
            <a:pPr algn="ctr"/>
          </a:p>
        </p:txBody>
      </p:sp>
      <p:sp>
        <p:nvSpPr>
          <p:cNvPr id="331" name="Rectangle 330"/>
          <p:cNvSpPr/>
          <p:nvPr/>
        </p:nvSpPr>
        <p:spPr>
          <a:xfrm>
            <a:off x="9374657" y="1572768"/>
            <a:ext cx="157277" cy="157277"/>
          </a:xfrm>
          <a:prstGeom prst="rect">
            <a:avLst/>
          </a:prstGeom>
          <a:solidFill>
            <a:srgbClr val="E5E7EB"/>
          </a:solidFill>
          <a:ln>
            <a:noFill/>
          </a:ln>
        </p:spPr>
        <p:txBody>
          <a:bodyPr rtlCol="0" anchor="ctr"/>
          <a:lstStyle/>
          <a:p>
            <a:pPr algn="ctr"/>
          </a:p>
        </p:txBody>
      </p:sp>
      <p:sp>
        <p:nvSpPr>
          <p:cNvPr id="332" name="Rectangle 331"/>
          <p:cNvSpPr/>
          <p:nvPr/>
        </p:nvSpPr>
        <p:spPr>
          <a:xfrm>
            <a:off x="9571253" y="3342132"/>
            <a:ext cx="157277" cy="157277"/>
          </a:xfrm>
          <a:prstGeom prst="rect">
            <a:avLst/>
          </a:prstGeom>
          <a:solidFill>
            <a:srgbClr val="E5E7EB"/>
          </a:solidFill>
          <a:ln>
            <a:noFill/>
          </a:ln>
        </p:spPr>
        <p:txBody>
          <a:bodyPr rtlCol="0" anchor="ctr"/>
          <a:lstStyle/>
          <a:p>
            <a:pPr algn="ctr"/>
          </a:p>
        </p:txBody>
      </p:sp>
      <p:sp>
        <p:nvSpPr>
          <p:cNvPr id="333" name="Rectangle 332"/>
          <p:cNvSpPr/>
          <p:nvPr/>
        </p:nvSpPr>
        <p:spPr>
          <a:xfrm>
            <a:off x="9571253" y="3145536"/>
            <a:ext cx="157277" cy="157277"/>
          </a:xfrm>
          <a:prstGeom prst="rect">
            <a:avLst/>
          </a:prstGeom>
          <a:solidFill>
            <a:srgbClr val="E5E7EB"/>
          </a:solidFill>
          <a:ln>
            <a:noFill/>
          </a:ln>
        </p:spPr>
        <p:txBody>
          <a:bodyPr rtlCol="0" anchor="ctr"/>
          <a:lstStyle/>
          <a:p>
            <a:pPr algn="ctr"/>
          </a:p>
        </p:txBody>
      </p:sp>
      <p:sp>
        <p:nvSpPr>
          <p:cNvPr id="334" name="Rectangle 333"/>
          <p:cNvSpPr/>
          <p:nvPr/>
        </p:nvSpPr>
        <p:spPr>
          <a:xfrm>
            <a:off x="9571253" y="2948940"/>
            <a:ext cx="157277" cy="157277"/>
          </a:xfrm>
          <a:prstGeom prst="rect">
            <a:avLst/>
          </a:prstGeom>
          <a:solidFill>
            <a:srgbClr val="E5E7EB"/>
          </a:solidFill>
          <a:ln>
            <a:noFill/>
          </a:ln>
        </p:spPr>
        <p:txBody>
          <a:bodyPr rtlCol="0" anchor="ctr"/>
          <a:lstStyle/>
          <a:p>
            <a:pPr algn="ctr"/>
          </a:p>
        </p:txBody>
      </p:sp>
      <p:sp>
        <p:nvSpPr>
          <p:cNvPr id="335" name="Rectangle 334"/>
          <p:cNvSpPr/>
          <p:nvPr/>
        </p:nvSpPr>
        <p:spPr>
          <a:xfrm>
            <a:off x="9571253" y="2752344"/>
            <a:ext cx="157277" cy="157277"/>
          </a:xfrm>
          <a:prstGeom prst="rect">
            <a:avLst/>
          </a:prstGeom>
          <a:solidFill>
            <a:srgbClr val="E5E7EB"/>
          </a:solidFill>
          <a:ln>
            <a:noFill/>
          </a:ln>
        </p:spPr>
        <p:txBody>
          <a:bodyPr rtlCol="0" anchor="ctr"/>
          <a:lstStyle/>
          <a:p>
            <a:pPr algn="ctr"/>
          </a:p>
        </p:txBody>
      </p:sp>
      <p:sp>
        <p:nvSpPr>
          <p:cNvPr id="336" name="Rectangle 335"/>
          <p:cNvSpPr/>
          <p:nvPr/>
        </p:nvSpPr>
        <p:spPr>
          <a:xfrm>
            <a:off x="9571253" y="2555748"/>
            <a:ext cx="157277" cy="157277"/>
          </a:xfrm>
          <a:prstGeom prst="rect">
            <a:avLst/>
          </a:prstGeom>
          <a:solidFill>
            <a:srgbClr val="E5E7EB"/>
          </a:solidFill>
          <a:ln>
            <a:noFill/>
          </a:ln>
        </p:spPr>
        <p:txBody>
          <a:bodyPr rtlCol="0" anchor="ctr"/>
          <a:lstStyle/>
          <a:p>
            <a:pPr algn="ctr"/>
          </a:p>
        </p:txBody>
      </p:sp>
      <p:sp>
        <p:nvSpPr>
          <p:cNvPr id="337" name="Rectangle 336"/>
          <p:cNvSpPr/>
          <p:nvPr/>
        </p:nvSpPr>
        <p:spPr>
          <a:xfrm>
            <a:off x="9571253" y="2359152"/>
            <a:ext cx="157277" cy="157277"/>
          </a:xfrm>
          <a:prstGeom prst="rect">
            <a:avLst/>
          </a:prstGeom>
          <a:solidFill>
            <a:srgbClr val="E5E7EB"/>
          </a:solidFill>
          <a:ln>
            <a:noFill/>
          </a:ln>
        </p:spPr>
        <p:txBody>
          <a:bodyPr rtlCol="0" anchor="ctr"/>
          <a:lstStyle/>
          <a:p>
            <a:pPr algn="ctr"/>
          </a:p>
        </p:txBody>
      </p:sp>
      <p:sp>
        <p:nvSpPr>
          <p:cNvPr id="338" name="Rectangle 337"/>
          <p:cNvSpPr/>
          <p:nvPr/>
        </p:nvSpPr>
        <p:spPr>
          <a:xfrm>
            <a:off x="9571253" y="2162556"/>
            <a:ext cx="157277" cy="157277"/>
          </a:xfrm>
          <a:prstGeom prst="rect">
            <a:avLst/>
          </a:prstGeom>
          <a:solidFill>
            <a:srgbClr val="E5E7EB"/>
          </a:solidFill>
          <a:ln>
            <a:noFill/>
          </a:ln>
        </p:spPr>
        <p:txBody>
          <a:bodyPr rtlCol="0" anchor="ctr"/>
          <a:lstStyle/>
          <a:p>
            <a:pPr algn="ctr"/>
          </a:p>
        </p:txBody>
      </p:sp>
      <p:sp>
        <p:nvSpPr>
          <p:cNvPr id="339" name="Rectangle 338"/>
          <p:cNvSpPr/>
          <p:nvPr/>
        </p:nvSpPr>
        <p:spPr>
          <a:xfrm>
            <a:off x="9571253" y="1965960"/>
            <a:ext cx="157277" cy="157277"/>
          </a:xfrm>
          <a:prstGeom prst="rect">
            <a:avLst/>
          </a:prstGeom>
          <a:solidFill>
            <a:srgbClr val="E5E7EB"/>
          </a:solidFill>
          <a:ln>
            <a:noFill/>
          </a:ln>
        </p:spPr>
        <p:txBody>
          <a:bodyPr rtlCol="0" anchor="ctr"/>
          <a:lstStyle/>
          <a:p>
            <a:pPr algn="ctr"/>
          </a:p>
        </p:txBody>
      </p:sp>
      <p:sp>
        <p:nvSpPr>
          <p:cNvPr id="340" name="Rectangle 339"/>
          <p:cNvSpPr/>
          <p:nvPr/>
        </p:nvSpPr>
        <p:spPr>
          <a:xfrm>
            <a:off x="9571253" y="1769364"/>
            <a:ext cx="157277" cy="157277"/>
          </a:xfrm>
          <a:prstGeom prst="rect">
            <a:avLst/>
          </a:prstGeom>
          <a:solidFill>
            <a:srgbClr val="E5E7EB"/>
          </a:solidFill>
          <a:ln>
            <a:noFill/>
          </a:ln>
        </p:spPr>
        <p:txBody>
          <a:bodyPr rtlCol="0" anchor="ctr"/>
          <a:lstStyle/>
          <a:p>
            <a:pPr algn="ctr"/>
          </a:p>
        </p:txBody>
      </p:sp>
      <p:sp>
        <p:nvSpPr>
          <p:cNvPr id="341" name="Rectangle 340"/>
          <p:cNvSpPr/>
          <p:nvPr/>
        </p:nvSpPr>
        <p:spPr>
          <a:xfrm>
            <a:off x="9571253" y="1572768"/>
            <a:ext cx="157277" cy="157277"/>
          </a:xfrm>
          <a:prstGeom prst="rect">
            <a:avLst/>
          </a:prstGeom>
          <a:solidFill>
            <a:srgbClr val="E5E7EB"/>
          </a:solidFill>
          <a:ln>
            <a:noFill/>
          </a:ln>
        </p:spPr>
        <p:txBody>
          <a:bodyPr rtlCol="0" anchor="ctr"/>
          <a:lstStyle/>
          <a:p>
            <a:pPr algn="ctr"/>
          </a:p>
        </p:txBody>
      </p:sp>
      <p:sp>
        <p:nvSpPr>
          <p:cNvPr id="342" name="Rectangle 341"/>
          <p:cNvSpPr/>
          <p:nvPr/>
        </p:nvSpPr>
        <p:spPr>
          <a:xfrm>
            <a:off x="9767849" y="3342132"/>
            <a:ext cx="157277" cy="157277"/>
          </a:xfrm>
          <a:prstGeom prst="rect">
            <a:avLst/>
          </a:prstGeom>
          <a:solidFill>
            <a:srgbClr val="E5E7EB"/>
          </a:solidFill>
          <a:ln>
            <a:noFill/>
          </a:ln>
        </p:spPr>
        <p:txBody>
          <a:bodyPr rtlCol="0" anchor="ctr"/>
          <a:lstStyle/>
          <a:p>
            <a:pPr algn="ctr"/>
          </a:p>
        </p:txBody>
      </p:sp>
      <p:sp>
        <p:nvSpPr>
          <p:cNvPr id="343" name="Rectangle 342"/>
          <p:cNvSpPr/>
          <p:nvPr/>
        </p:nvSpPr>
        <p:spPr>
          <a:xfrm>
            <a:off x="9767849" y="3145536"/>
            <a:ext cx="157277" cy="157277"/>
          </a:xfrm>
          <a:prstGeom prst="rect">
            <a:avLst/>
          </a:prstGeom>
          <a:solidFill>
            <a:srgbClr val="E5E7EB"/>
          </a:solidFill>
          <a:ln>
            <a:noFill/>
          </a:ln>
        </p:spPr>
        <p:txBody>
          <a:bodyPr rtlCol="0" anchor="ctr"/>
          <a:lstStyle/>
          <a:p>
            <a:pPr algn="ctr"/>
          </a:p>
        </p:txBody>
      </p:sp>
      <p:sp>
        <p:nvSpPr>
          <p:cNvPr id="344" name="Rectangle 343"/>
          <p:cNvSpPr/>
          <p:nvPr/>
        </p:nvSpPr>
        <p:spPr>
          <a:xfrm>
            <a:off x="9767849" y="2948940"/>
            <a:ext cx="157277" cy="157277"/>
          </a:xfrm>
          <a:prstGeom prst="rect">
            <a:avLst/>
          </a:prstGeom>
          <a:solidFill>
            <a:srgbClr val="E5E7EB"/>
          </a:solidFill>
          <a:ln>
            <a:noFill/>
          </a:ln>
        </p:spPr>
        <p:txBody>
          <a:bodyPr rtlCol="0" anchor="ctr"/>
          <a:lstStyle/>
          <a:p>
            <a:pPr algn="ctr"/>
          </a:p>
        </p:txBody>
      </p:sp>
      <p:sp>
        <p:nvSpPr>
          <p:cNvPr id="345" name="Rectangle 344"/>
          <p:cNvSpPr/>
          <p:nvPr/>
        </p:nvSpPr>
        <p:spPr>
          <a:xfrm>
            <a:off x="9767849" y="2752344"/>
            <a:ext cx="157277" cy="157277"/>
          </a:xfrm>
          <a:prstGeom prst="rect">
            <a:avLst/>
          </a:prstGeom>
          <a:solidFill>
            <a:srgbClr val="E5E7EB"/>
          </a:solidFill>
          <a:ln>
            <a:noFill/>
          </a:ln>
        </p:spPr>
        <p:txBody>
          <a:bodyPr rtlCol="0" anchor="ctr"/>
          <a:lstStyle/>
          <a:p>
            <a:pPr algn="ctr"/>
          </a:p>
        </p:txBody>
      </p:sp>
      <p:sp>
        <p:nvSpPr>
          <p:cNvPr id="346" name="Rectangle 345"/>
          <p:cNvSpPr/>
          <p:nvPr/>
        </p:nvSpPr>
        <p:spPr>
          <a:xfrm>
            <a:off x="9767849" y="2555748"/>
            <a:ext cx="157277" cy="157277"/>
          </a:xfrm>
          <a:prstGeom prst="rect">
            <a:avLst/>
          </a:prstGeom>
          <a:solidFill>
            <a:srgbClr val="E5E7EB"/>
          </a:solidFill>
          <a:ln>
            <a:noFill/>
          </a:ln>
        </p:spPr>
        <p:txBody>
          <a:bodyPr rtlCol="0" anchor="ctr"/>
          <a:lstStyle/>
          <a:p>
            <a:pPr algn="ctr"/>
          </a:p>
        </p:txBody>
      </p:sp>
      <p:sp>
        <p:nvSpPr>
          <p:cNvPr id="347" name="Rectangle 346"/>
          <p:cNvSpPr/>
          <p:nvPr/>
        </p:nvSpPr>
        <p:spPr>
          <a:xfrm>
            <a:off x="9767849" y="2359152"/>
            <a:ext cx="157277" cy="157277"/>
          </a:xfrm>
          <a:prstGeom prst="rect">
            <a:avLst/>
          </a:prstGeom>
          <a:solidFill>
            <a:srgbClr val="E5E7EB"/>
          </a:solidFill>
          <a:ln>
            <a:noFill/>
          </a:ln>
        </p:spPr>
        <p:txBody>
          <a:bodyPr rtlCol="0" anchor="ctr"/>
          <a:lstStyle/>
          <a:p>
            <a:pPr algn="ctr"/>
          </a:p>
        </p:txBody>
      </p:sp>
      <p:sp>
        <p:nvSpPr>
          <p:cNvPr id="348" name="Rectangle 347"/>
          <p:cNvSpPr/>
          <p:nvPr/>
        </p:nvSpPr>
        <p:spPr>
          <a:xfrm>
            <a:off x="9767849" y="2162556"/>
            <a:ext cx="157277" cy="157277"/>
          </a:xfrm>
          <a:prstGeom prst="rect">
            <a:avLst/>
          </a:prstGeom>
          <a:solidFill>
            <a:srgbClr val="E5E7EB"/>
          </a:solidFill>
          <a:ln>
            <a:noFill/>
          </a:ln>
        </p:spPr>
        <p:txBody>
          <a:bodyPr rtlCol="0" anchor="ctr"/>
          <a:lstStyle/>
          <a:p>
            <a:pPr algn="ctr"/>
          </a:p>
        </p:txBody>
      </p:sp>
      <p:sp>
        <p:nvSpPr>
          <p:cNvPr id="349" name="Rectangle 348"/>
          <p:cNvSpPr/>
          <p:nvPr/>
        </p:nvSpPr>
        <p:spPr>
          <a:xfrm>
            <a:off x="9767849" y="1965960"/>
            <a:ext cx="157277" cy="157277"/>
          </a:xfrm>
          <a:prstGeom prst="rect">
            <a:avLst/>
          </a:prstGeom>
          <a:solidFill>
            <a:srgbClr val="E5E7EB"/>
          </a:solidFill>
          <a:ln>
            <a:noFill/>
          </a:ln>
        </p:spPr>
        <p:txBody>
          <a:bodyPr rtlCol="0" anchor="ctr"/>
          <a:lstStyle/>
          <a:p>
            <a:pPr algn="ctr"/>
          </a:p>
        </p:txBody>
      </p:sp>
      <p:sp>
        <p:nvSpPr>
          <p:cNvPr id="350" name="Rectangle 349"/>
          <p:cNvSpPr/>
          <p:nvPr/>
        </p:nvSpPr>
        <p:spPr>
          <a:xfrm>
            <a:off x="9767849" y="1769364"/>
            <a:ext cx="157277" cy="157277"/>
          </a:xfrm>
          <a:prstGeom prst="rect">
            <a:avLst/>
          </a:prstGeom>
          <a:solidFill>
            <a:srgbClr val="E5E7EB"/>
          </a:solidFill>
          <a:ln>
            <a:noFill/>
          </a:ln>
        </p:spPr>
        <p:txBody>
          <a:bodyPr rtlCol="0" anchor="ctr"/>
          <a:lstStyle/>
          <a:p>
            <a:pPr algn="ctr"/>
          </a:p>
        </p:txBody>
      </p:sp>
      <p:sp>
        <p:nvSpPr>
          <p:cNvPr id="351" name="Rectangle 350"/>
          <p:cNvSpPr/>
          <p:nvPr/>
        </p:nvSpPr>
        <p:spPr>
          <a:xfrm>
            <a:off x="9767849" y="1572768"/>
            <a:ext cx="157277" cy="157277"/>
          </a:xfrm>
          <a:prstGeom prst="rect">
            <a:avLst/>
          </a:prstGeom>
          <a:solidFill>
            <a:srgbClr val="E5E7EB"/>
          </a:solidFill>
          <a:ln>
            <a:noFill/>
          </a:ln>
        </p:spPr>
        <p:txBody>
          <a:bodyPr rtlCol="0" anchor="ctr"/>
          <a:lstStyle/>
          <a:p>
            <a:pPr algn="ctr"/>
          </a:p>
        </p:txBody>
      </p:sp>
      <p:sp>
        <p:nvSpPr>
          <p:cNvPr id="352" name="Rectangle 351"/>
          <p:cNvSpPr/>
          <p:nvPr/>
        </p:nvSpPr>
        <p:spPr>
          <a:xfrm>
            <a:off x="9964445" y="3342132"/>
            <a:ext cx="157277" cy="157277"/>
          </a:xfrm>
          <a:prstGeom prst="rect">
            <a:avLst/>
          </a:prstGeom>
          <a:solidFill>
            <a:srgbClr val="E5E7EB"/>
          </a:solidFill>
          <a:ln>
            <a:noFill/>
          </a:ln>
        </p:spPr>
        <p:txBody>
          <a:bodyPr rtlCol="0" anchor="ctr"/>
          <a:lstStyle/>
          <a:p>
            <a:pPr algn="ctr"/>
          </a:p>
        </p:txBody>
      </p:sp>
      <p:sp>
        <p:nvSpPr>
          <p:cNvPr id="353" name="Rectangle 352"/>
          <p:cNvSpPr/>
          <p:nvPr/>
        </p:nvSpPr>
        <p:spPr>
          <a:xfrm>
            <a:off x="9964445" y="3145536"/>
            <a:ext cx="157277" cy="157277"/>
          </a:xfrm>
          <a:prstGeom prst="rect">
            <a:avLst/>
          </a:prstGeom>
          <a:solidFill>
            <a:srgbClr val="E5E7EB"/>
          </a:solidFill>
          <a:ln>
            <a:noFill/>
          </a:ln>
        </p:spPr>
        <p:txBody>
          <a:bodyPr rtlCol="0" anchor="ctr"/>
          <a:lstStyle/>
          <a:p>
            <a:pPr algn="ctr"/>
          </a:p>
        </p:txBody>
      </p:sp>
      <p:sp>
        <p:nvSpPr>
          <p:cNvPr id="354" name="Rectangle 353"/>
          <p:cNvSpPr/>
          <p:nvPr/>
        </p:nvSpPr>
        <p:spPr>
          <a:xfrm>
            <a:off x="9964445" y="2948940"/>
            <a:ext cx="157277" cy="157277"/>
          </a:xfrm>
          <a:prstGeom prst="rect">
            <a:avLst/>
          </a:prstGeom>
          <a:solidFill>
            <a:srgbClr val="E5E7EB"/>
          </a:solidFill>
          <a:ln>
            <a:noFill/>
          </a:ln>
        </p:spPr>
        <p:txBody>
          <a:bodyPr rtlCol="0" anchor="ctr"/>
          <a:lstStyle/>
          <a:p>
            <a:pPr algn="ctr"/>
          </a:p>
        </p:txBody>
      </p:sp>
      <p:sp>
        <p:nvSpPr>
          <p:cNvPr id="355" name="Rectangle 354"/>
          <p:cNvSpPr/>
          <p:nvPr/>
        </p:nvSpPr>
        <p:spPr>
          <a:xfrm>
            <a:off x="9964445" y="2752344"/>
            <a:ext cx="157277" cy="157277"/>
          </a:xfrm>
          <a:prstGeom prst="rect">
            <a:avLst/>
          </a:prstGeom>
          <a:solidFill>
            <a:srgbClr val="E5E7EB"/>
          </a:solidFill>
          <a:ln>
            <a:noFill/>
          </a:ln>
        </p:spPr>
        <p:txBody>
          <a:bodyPr rtlCol="0" anchor="ctr"/>
          <a:lstStyle/>
          <a:p>
            <a:pPr algn="ctr"/>
          </a:p>
        </p:txBody>
      </p:sp>
      <p:sp>
        <p:nvSpPr>
          <p:cNvPr id="356" name="Rectangle 355"/>
          <p:cNvSpPr/>
          <p:nvPr/>
        </p:nvSpPr>
        <p:spPr>
          <a:xfrm>
            <a:off x="9964445" y="2555748"/>
            <a:ext cx="157277" cy="157277"/>
          </a:xfrm>
          <a:prstGeom prst="rect">
            <a:avLst/>
          </a:prstGeom>
          <a:solidFill>
            <a:srgbClr val="E5E7EB"/>
          </a:solidFill>
          <a:ln>
            <a:noFill/>
          </a:ln>
        </p:spPr>
        <p:txBody>
          <a:bodyPr rtlCol="0" anchor="ctr"/>
          <a:lstStyle/>
          <a:p>
            <a:pPr algn="ctr"/>
          </a:p>
        </p:txBody>
      </p:sp>
      <p:sp>
        <p:nvSpPr>
          <p:cNvPr id="357" name="Rectangle 356"/>
          <p:cNvSpPr/>
          <p:nvPr/>
        </p:nvSpPr>
        <p:spPr>
          <a:xfrm>
            <a:off x="9964445" y="2359152"/>
            <a:ext cx="157277" cy="157277"/>
          </a:xfrm>
          <a:prstGeom prst="rect">
            <a:avLst/>
          </a:prstGeom>
          <a:solidFill>
            <a:srgbClr val="E5E7EB"/>
          </a:solidFill>
          <a:ln>
            <a:noFill/>
          </a:ln>
        </p:spPr>
        <p:txBody>
          <a:bodyPr rtlCol="0" anchor="ctr"/>
          <a:lstStyle/>
          <a:p>
            <a:pPr algn="ctr"/>
          </a:p>
        </p:txBody>
      </p:sp>
      <p:sp>
        <p:nvSpPr>
          <p:cNvPr id="358" name="Rectangle 357"/>
          <p:cNvSpPr/>
          <p:nvPr/>
        </p:nvSpPr>
        <p:spPr>
          <a:xfrm>
            <a:off x="9964445" y="2162556"/>
            <a:ext cx="157277" cy="157277"/>
          </a:xfrm>
          <a:prstGeom prst="rect">
            <a:avLst/>
          </a:prstGeom>
          <a:solidFill>
            <a:srgbClr val="E5E7EB"/>
          </a:solidFill>
          <a:ln>
            <a:noFill/>
          </a:ln>
        </p:spPr>
        <p:txBody>
          <a:bodyPr rtlCol="0" anchor="ctr"/>
          <a:lstStyle/>
          <a:p>
            <a:pPr algn="ctr"/>
          </a:p>
        </p:txBody>
      </p:sp>
      <p:sp>
        <p:nvSpPr>
          <p:cNvPr id="359" name="Rectangle 358"/>
          <p:cNvSpPr/>
          <p:nvPr/>
        </p:nvSpPr>
        <p:spPr>
          <a:xfrm>
            <a:off x="9964445" y="1965960"/>
            <a:ext cx="157277" cy="157277"/>
          </a:xfrm>
          <a:prstGeom prst="rect">
            <a:avLst/>
          </a:prstGeom>
          <a:solidFill>
            <a:srgbClr val="E5E7EB"/>
          </a:solidFill>
          <a:ln>
            <a:noFill/>
          </a:ln>
        </p:spPr>
        <p:txBody>
          <a:bodyPr rtlCol="0" anchor="ctr"/>
          <a:lstStyle/>
          <a:p>
            <a:pPr algn="ctr"/>
          </a:p>
        </p:txBody>
      </p:sp>
      <p:sp>
        <p:nvSpPr>
          <p:cNvPr id="360" name="Rectangle 359"/>
          <p:cNvSpPr/>
          <p:nvPr/>
        </p:nvSpPr>
        <p:spPr>
          <a:xfrm>
            <a:off x="9964445" y="1769364"/>
            <a:ext cx="157277" cy="157277"/>
          </a:xfrm>
          <a:prstGeom prst="rect">
            <a:avLst/>
          </a:prstGeom>
          <a:solidFill>
            <a:srgbClr val="E5E7EB"/>
          </a:solidFill>
          <a:ln>
            <a:noFill/>
          </a:ln>
        </p:spPr>
        <p:txBody>
          <a:bodyPr rtlCol="0" anchor="ctr"/>
          <a:lstStyle/>
          <a:p>
            <a:pPr algn="ctr"/>
          </a:p>
        </p:txBody>
      </p:sp>
      <p:sp>
        <p:nvSpPr>
          <p:cNvPr id="361" name="Rectangle 360"/>
          <p:cNvSpPr/>
          <p:nvPr/>
        </p:nvSpPr>
        <p:spPr>
          <a:xfrm>
            <a:off x="9964445" y="1572768"/>
            <a:ext cx="157277" cy="157277"/>
          </a:xfrm>
          <a:prstGeom prst="rect">
            <a:avLst/>
          </a:prstGeom>
          <a:solidFill>
            <a:srgbClr val="E5E7EB"/>
          </a:solidFill>
          <a:ln>
            <a:noFill/>
          </a:ln>
        </p:spPr>
        <p:txBody>
          <a:bodyPr rtlCol="0" anchor="ctr"/>
          <a:lstStyle/>
          <a:p>
            <a:pPr algn="ctr"/>
          </a:p>
        </p:txBody>
      </p:sp>
      <p:sp>
        <p:nvSpPr>
          <p:cNvPr id="362" name="Rectangle 361"/>
          <p:cNvSpPr/>
          <p:nvPr/>
        </p:nvSpPr>
        <p:spPr>
          <a:xfrm>
            <a:off x="10161041" y="3342132"/>
            <a:ext cx="157277" cy="157277"/>
          </a:xfrm>
          <a:prstGeom prst="rect">
            <a:avLst/>
          </a:prstGeom>
          <a:solidFill>
            <a:srgbClr val="E5E7EB"/>
          </a:solidFill>
          <a:ln>
            <a:noFill/>
          </a:ln>
        </p:spPr>
        <p:txBody>
          <a:bodyPr rtlCol="0" anchor="ctr"/>
          <a:lstStyle/>
          <a:p>
            <a:pPr algn="ctr"/>
          </a:p>
        </p:txBody>
      </p:sp>
      <p:sp>
        <p:nvSpPr>
          <p:cNvPr id="363" name="Rectangle 362"/>
          <p:cNvSpPr/>
          <p:nvPr/>
        </p:nvSpPr>
        <p:spPr>
          <a:xfrm>
            <a:off x="10161041" y="3145536"/>
            <a:ext cx="157277" cy="157277"/>
          </a:xfrm>
          <a:prstGeom prst="rect">
            <a:avLst/>
          </a:prstGeom>
          <a:solidFill>
            <a:srgbClr val="E5E7EB"/>
          </a:solidFill>
          <a:ln>
            <a:noFill/>
          </a:ln>
        </p:spPr>
        <p:txBody>
          <a:bodyPr rtlCol="0" anchor="ctr"/>
          <a:lstStyle/>
          <a:p>
            <a:pPr algn="ctr"/>
          </a:p>
        </p:txBody>
      </p:sp>
      <p:sp>
        <p:nvSpPr>
          <p:cNvPr id="364" name="Rectangle 363"/>
          <p:cNvSpPr/>
          <p:nvPr/>
        </p:nvSpPr>
        <p:spPr>
          <a:xfrm>
            <a:off x="10161041" y="2948940"/>
            <a:ext cx="157277" cy="157277"/>
          </a:xfrm>
          <a:prstGeom prst="rect">
            <a:avLst/>
          </a:prstGeom>
          <a:solidFill>
            <a:srgbClr val="E5E7EB"/>
          </a:solidFill>
          <a:ln>
            <a:noFill/>
          </a:ln>
        </p:spPr>
        <p:txBody>
          <a:bodyPr rtlCol="0" anchor="ctr"/>
          <a:lstStyle/>
          <a:p>
            <a:pPr algn="ctr"/>
          </a:p>
        </p:txBody>
      </p:sp>
      <p:sp>
        <p:nvSpPr>
          <p:cNvPr id="365" name="Rectangle 364"/>
          <p:cNvSpPr/>
          <p:nvPr/>
        </p:nvSpPr>
        <p:spPr>
          <a:xfrm>
            <a:off x="10161041" y="2752344"/>
            <a:ext cx="157277" cy="157277"/>
          </a:xfrm>
          <a:prstGeom prst="rect">
            <a:avLst/>
          </a:prstGeom>
          <a:solidFill>
            <a:srgbClr val="E5E7EB"/>
          </a:solidFill>
          <a:ln>
            <a:noFill/>
          </a:ln>
        </p:spPr>
        <p:txBody>
          <a:bodyPr rtlCol="0" anchor="ctr"/>
          <a:lstStyle/>
          <a:p>
            <a:pPr algn="ctr"/>
          </a:p>
        </p:txBody>
      </p:sp>
      <p:sp>
        <p:nvSpPr>
          <p:cNvPr id="366" name="Rectangle 365"/>
          <p:cNvSpPr/>
          <p:nvPr/>
        </p:nvSpPr>
        <p:spPr>
          <a:xfrm>
            <a:off x="10161041" y="2555748"/>
            <a:ext cx="157277" cy="157277"/>
          </a:xfrm>
          <a:prstGeom prst="rect">
            <a:avLst/>
          </a:prstGeom>
          <a:solidFill>
            <a:srgbClr val="E5E7EB"/>
          </a:solidFill>
          <a:ln>
            <a:noFill/>
          </a:ln>
        </p:spPr>
        <p:txBody>
          <a:bodyPr rtlCol="0" anchor="ctr"/>
          <a:lstStyle/>
          <a:p>
            <a:pPr algn="ctr"/>
          </a:p>
        </p:txBody>
      </p:sp>
      <p:sp>
        <p:nvSpPr>
          <p:cNvPr id="367" name="Rectangle 366"/>
          <p:cNvSpPr/>
          <p:nvPr/>
        </p:nvSpPr>
        <p:spPr>
          <a:xfrm>
            <a:off x="10161041" y="2359152"/>
            <a:ext cx="157277" cy="157277"/>
          </a:xfrm>
          <a:prstGeom prst="rect">
            <a:avLst/>
          </a:prstGeom>
          <a:solidFill>
            <a:srgbClr val="E5E7EB"/>
          </a:solidFill>
          <a:ln>
            <a:noFill/>
          </a:ln>
        </p:spPr>
        <p:txBody>
          <a:bodyPr rtlCol="0" anchor="ctr"/>
          <a:lstStyle/>
          <a:p>
            <a:pPr algn="ctr"/>
          </a:p>
        </p:txBody>
      </p:sp>
      <p:sp>
        <p:nvSpPr>
          <p:cNvPr id="368" name="Rectangle 367"/>
          <p:cNvSpPr/>
          <p:nvPr/>
        </p:nvSpPr>
        <p:spPr>
          <a:xfrm>
            <a:off x="10161041" y="2162556"/>
            <a:ext cx="157277" cy="157277"/>
          </a:xfrm>
          <a:prstGeom prst="rect">
            <a:avLst/>
          </a:prstGeom>
          <a:solidFill>
            <a:srgbClr val="E5E7EB"/>
          </a:solidFill>
          <a:ln>
            <a:noFill/>
          </a:ln>
        </p:spPr>
        <p:txBody>
          <a:bodyPr rtlCol="0" anchor="ctr"/>
          <a:lstStyle/>
          <a:p>
            <a:pPr algn="ctr"/>
          </a:p>
        </p:txBody>
      </p:sp>
      <p:sp>
        <p:nvSpPr>
          <p:cNvPr id="369" name="Rectangle 368"/>
          <p:cNvSpPr/>
          <p:nvPr/>
        </p:nvSpPr>
        <p:spPr>
          <a:xfrm>
            <a:off x="10161041" y="1965960"/>
            <a:ext cx="157277" cy="157277"/>
          </a:xfrm>
          <a:prstGeom prst="rect">
            <a:avLst/>
          </a:prstGeom>
          <a:solidFill>
            <a:srgbClr val="E5E7EB"/>
          </a:solidFill>
          <a:ln>
            <a:noFill/>
          </a:ln>
        </p:spPr>
        <p:txBody>
          <a:bodyPr rtlCol="0" anchor="ctr"/>
          <a:lstStyle/>
          <a:p>
            <a:pPr algn="ctr"/>
          </a:p>
        </p:txBody>
      </p:sp>
      <p:sp>
        <p:nvSpPr>
          <p:cNvPr id="370" name="Rectangle 369"/>
          <p:cNvSpPr/>
          <p:nvPr/>
        </p:nvSpPr>
        <p:spPr>
          <a:xfrm>
            <a:off x="10161041" y="1769364"/>
            <a:ext cx="157277" cy="157277"/>
          </a:xfrm>
          <a:prstGeom prst="rect">
            <a:avLst/>
          </a:prstGeom>
          <a:solidFill>
            <a:srgbClr val="E5E7EB"/>
          </a:solidFill>
          <a:ln>
            <a:noFill/>
          </a:ln>
        </p:spPr>
        <p:txBody>
          <a:bodyPr rtlCol="0" anchor="ctr"/>
          <a:lstStyle/>
          <a:p>
            <a:pPr algn="ctr"/>
          </a:p>
        </p:txBody>
      </p:sp>
      <p:sp>
        <p:nvSpPr>
          <p:cNvPr id="371" name="Rectangle 370"/>
          <p:cNvSpPr/>
          <p:nvPr/>
        </p:nvSpPr>
        <p:spPr>
          <a:xfrm>
            <a:off x="10161041" y="1572768"/>
            <a:ext cx="157277" cy="157277"/>
          </a:xfrm>
          <a:prstGeom prst="rect">
            <a:avLst/>
          </a:prstGeom>
          <a:solidFill>
            <a:srgbClr val="E5E7EB"/>
          </a:solidFill>
          <a:ln>
            <a:noFill/>
          </a:ln>
        </p:spPr>
        <p:txBody>
          <a:bodyPr rtlCol="0" anchor="ctr"/>
          <a:lstStyle/>
          <a:p>
            <a:pPr algn="ctr"/>
          </a:p>
        </p:txBody>
      </p:sp>
      <p:sp>
        <p:nvSpPr>
          <p:cNvPr id="372" name="Rectangle 371"/>
          <p:cNvSpPr/>
          <p:nvPr/>
        </p:nvSpPr>
        <p:spPr>
          <a:xfrm>
            <a:off x="10357637" y="3342132"/>
            <a:ext cx="157277" cy="157277"/>
          </a:xfrm>
          <a:prstGeom prst="rect">
            <a:avLst/>
          </a:prstGeom>
          <a:solidFill>
            <a:srgbClr val="E5E7EB"/>
          </a:solidFill>
          <a:ln>
            <a:noFill/>
          </a:ln>
        </p:spPr>
        <p:txBody>
          <a:bodyPr rtlCol="0" anchor="ctr"/>
          <a:lstStyle/>
          <a:p>
            <a:pPr algn="ctr"/>
          </a:p>
        </p:txBody>
      </p:sp>
      <p:sp>
        <p:nvSpPr>
          <p:cNvPr id="373" name="Rectangle 372"/>
          <p:cNvSpPr/>
          <p:nvPr/>
        </p:nvSpPr>
        <p:spPr>
          <a:xfrm>
            <a:off x="10357637" y="3145536"/>
            <a:ext cx="157277" cy="157277"/>
          </a:xfrm>
          <a:prstGeom prst="rect">
            <a:avLst/>
          </a:prstGeom>
          <a:solidFill>
            <a:srgbClr val="E5E7EB"/>
          </a:solidFill>
          <a:ln>
            <a:noFill/>
          </a:ln>
        </p:spPr>
        <p:txBody>
          <a:bodyPr rtlCol="0" anchor="ctr"/>
          <a:lstStyle/>
          <a:p>
            <a:pPr algn="ctr"/>
          </a:p>
        </p:txBody>
      </p:sp>
      <p:sp>
        <p:nvSpPr>
          <p:cNvPr id="374" name="Rectangle 373"/>
          <p:cNvSpPr/>
          <p:nvPr/>
        </p:nvSpPr>
        <p:spPr>
          <a:xfrm>
            <a:off x="10357637" y="2948940"/>
            <a:ext cx="157277" cy="157277"/>
          </a:xfrm>
          <a:prstGeom prst="rect">
            <a:avLst/>
          </a:prstGeom>
          <a:solidFill>
            <a:srgbClr val="E5E7EB"/>
          </a:solidFill>
          <a:ln>
            <a:noFill/>
          </a:ln>
        </p:spPr>
        <p:txBody>
          <a:bodyPr rtlCol="0" anchor="ctr"/>
          <a:lstStyle/>
          <a:p>
            <a:pPr algn="ctr"/>
          </a:p>
        </p:txBody>
      </p:sp>
      <p:sp>
        <p:nvSpPr>
          <p:cNvPr id="375" name="Rectangle 374"/>
          <p:cNvSpPr/>
          <p:nvPr/>
        </p:nvSpPr>
        <p:spPr>
          <a:xfrm>
            <a:off x="10357637" y="2752344"/>
            <a:ext cx="157277" cy="157277"/>
          </a:xfrm>
          <a:prstGeom prst="rect">
            <a:avLst/>
          </a:prstGeom>
          <a:solidFill>
            <a:srgbClr val="E5E7EB"/>
          </a:solidFill>
          <a:ln>
            <a:noFill/>
          </a:ln>
        </p:spPr>
        <p:txBody>
          <a:bodyPr rtlCol="0" anchor="ctr"/>
          <a:lstStyle/>
          <a:p>
            <a:pPr algn="ctr"/>
          </a:p>
        </p:txBody>
      </p:sp>
      <p:sp>
        <p:nvSpPr>
          <p:cNvPr id="376" name="Rectangle 375"/>
          <p:cNvSpPr/>
          <p:nvPr/>
        </p:nvSpPr>
        <p:spPr>
          <a:xfrm>
            <a:off x="10357637" y="2555748"/>
            <a:ext cx="157277" cy="157277"/>
          </a:xfrm>
          <a:prstGeom prst="rect">
            <a:avLst/>
          </a:prstGeom>
          <a:solidFill>
            <a:srgbClr val="E5E7EB"/>
          </a:solidFill>
          <a:ln>
            <a:noFill/>
          </a:ln>
        </p:spPr>
        <p:txBody>
          <a:bodyPr rtlCol="0" anchor="ctr"/>
          <a:lstStyle/>
          <a:p>
            <a:pPr algn="ctr"/>
          </a:p>
        </p:txBody>
      </p:sp>
      <p:sp>
        <p:nvSpPr>
          <p:cNvPr id="377" name="Rectangle 376"/>
          <p:cNvSpPr/>
          <p:nvPr/>
        </p:nvSpPr>
        <p:spPr>
          <a:xfrm>
            <a:off x="10357637" y="2359152"/>
            <a:ext cx="157277" cy="157277"/>
          </a:xfrm>
          <a:prstGeom prst="rect">
            <a:avLst/>
          </a:prstGeom>
          <a:solidFill>
            <a:srgbClr val="E5E7EB"/>
          </a:solidFill>
          <a:ln>
            <a:noFill/>
          </a:ln>
        </p:spPr>
        <p:txBody>
          <a:bodyPr rtlCol="0" anchor="ctr"/>
          <a:lstStyle/>
          <a:p>
            <a:pPr algn="ctr"/>
          </a:p>
        </p:txBody>
      </p:sp>
      <p:sp>
        <p:nvSpPr>
          <p:cNvPr id="378" name="Rectangle 377"/>
          <p:cNvSpPr/>
          <p:nvPr/>
        </p:nvSpPr>
        <p:spPr>
          <a:xfrm>
            <a:off x="10357637" y="2162556"/>
            <a:ext cx="157277" cy="157277"/>
          </a:xfrm>
          <a:prstGeom prst="rect">
            <a:avLst/>
          </a:prstGeom>
          <a:solidFill>
            <a:srgbClr val="E5E7EB"/>
          </a:solidFill>
          <a:ln>
            <a:noFill/>
          </a:ln>
        </p:spPr>
        <p:txBody>
          <a:bodyPr rtlCol="0" anchor="ctr"/>
          <a:lstStyle/>
          <a:p>
            <a:pPr algn="ctr"/>
          </a:p>
        </p:txBody>
      </p:sp>
      <p:sp>
        <p:nvSpPr>
          <p:cNvPr id="379" name="Rectangle 378"/>
          <p:cNvSpPr/>
          <p:nvPr/>
        </p:nvSpPr>
        <p:spPr>
          <a:xfrm>
            <a:off x="10357637" y="1965960"/>
            <a:ext cx="157277" cy="157277"/>
          </a:xfrm>
          <a:prstGeom prst="rect">
            <a:avLst/>
          </a:prstGeom>
          <a:solidFill>
            <a:srgbClr val="E5E7EB"/>
          </a:solidFill>
          <a:ln>
            <a:noFill/>
          </a:ln>
        </p:spPr>
        <p:txBody>
          <a:bodyPr rtlCol="0" anchor="ctr"/>
          <a:lstStyle/>
          <a:p>
            <a:pPr algn="ctr"/>
          </a:p>
        </p:txBody>
      </p:sp>
      <p:sp>
        <p:nvSpPr>
          <p:cNvPr id="380" name="Rectangle 379"/>
          <p:cNvSpPr/>
          <p:nvPr/>
        </p:nvSpPr>
        <p:spPr>
          <a:xfrm>
            <a:off x="10357637" y="1769364"/>
            <a:ext cx="157277" cy="157277"/>
          </a:xfrm>
          <a:prstGeom prst="rect">
            <a:avLst/>
          </a:prstGeom>
          <a:solidFill>
            <a:srgbClr val="E5E7EB"/>
          </a:solidFill>
          <a:ln>
            <a:noFill/>
          </a:ln>
        </p:spPr>
        <p:txBody>
          <a:bodyPr rtlCol="0" anchor="ctr"/>
          <a:lstStyle/>
          <a:p>
            <a:pPr algn="ctr"/>
          </a:p>
        </p:txBody>
      </p:sp>
      <p:sp>
        <p:nvSpPr>
          <p:cNvPr id="381" name="Rectangle 380"/>
          <p:cNvSpPr/>
          <p:nvPr/>
        </p:nvSpPr>
        <p:spPr>
          <a:xfrm>
            <a:off x="10357637" y="1572768"/>
            <a:ext cx="157277" cy="157277"/>
          </a:xfrm>
          <a:prstGeom prst="rect">
            <a:avLst/>
          </a:prstGeom>
          <a:solidFill>
            <a:srgbClr val="E5E7EB"/>
          </a:solidFill>
          <a:ln>
            <a:noFill/>
          </a:ln>
        </p:spPr>
        <p:txBody>
          <a:bodyPr rtlCol="0" anchor="ctr"/>
          <a:lstStyle/>
          <a:p>
            <a:pPr algn="ctr"/>
          </a:p>
        </p:txBody>
      </p:sp>
      <p:sp>
        <p:nvSpPr>
          <p:cNvPr id="382" name="Rectangle 381"/>
          <p:cNvSpPr/>
          <p:nvPr/>
        </p:nvSpPr>
        <p:spPr>
          <a:xfrm>
            <a:off x="10554233" y="3342132"/>
            <a:ext cx="157277" cy="157277"/>
          </a:xfrm>
          <a:prstGeom prst="rect">
            <a:avLst/>
          </a:prstGeom>
          <a:solidFill>
            <a:srgbClr val="E5E7EB"/>
          </a:solidFill>
          <a:ln>
            <a:noFill/>
          </a:ln>
        </p:spPr>
        <p:txBody>
          <a:bodyPr rtlCol="0" anchor="ctr"/>
          <a:lstStyle/>
          <a:p>
            <a:pPr algn="ctr"/>
          </a:p>
        </p:txBody>
      </p:sp>
      <p:sp>
        <p:nvSpPr>
          <p:cNvPr id="383" name="Rectangle 382"/>
          <p:cNvSpPr/>
          <p:nvPr/>
        </p:nvSpPr>
        <p:spPr>
          <a:xfrm>
            <a:off x="10554233" y="3145536"/>
            <a:ext cx="157277" cy="157277"/>
          </a:xfrm>
          <a:prstGeom prst="rect">
            <a:avLst/>
          </a:prstGeom>
          <a:solidFill>
            <a:srgbClr val="E5E7EB"/>
          </a:solidFill>
          <a:ln>
            <a:noFill/>
          </a:ln>
        </p:spPr>
        <p:txBody>
          <a:bodyPr rtlCol="0" anchor="ctr"/>
          <a:lstStyle/>
          <a:p>
            <a:pPr algn="ctr"/>
          </a:p>
        </p:txBody>
      </p:sp>
      <p:sp>
        <p:nvSpPr>
          <p:cNvPr id="384" name="Rectangle 383"/>
          <p:cNvSpPr/>
          <p:nvPr/>
        </p:nvSpPr>
        <p:spPr>
          <a:xfrm>
            <a:off x="10554233" y="2948940"/>
            <a:ext cx="157277" cy="157277"/>
          </a:xfrm>
          <a:prstGeom prst="rect">
            <a:avLst/>
          </a:prstGeom>
          <a:solidFill>
            <a:srgbClr val="E5E7EB"/>
          </a:solidFill>
          <a:ln>
            <a:noFill/>
          </a:ln>
        </p:spPr>
        <p:txBody>
          <a:bodyPr rtlCol="0" anchor="ctr"/>
          <a:lstStyle/>
          <a:p>
            <a:pPr algn="ctr"/>
          </a:p>
        </p:txBody>
      </p:sp>
      <p:sp>
        <p:nvSpPr>
          <p:cNvPr id="385" name="Rectangle 384"/>
          <p:cNvSpPr/>
          <p:nvPr/>
        </p:nvSpPr>
        <p:spPr>
          <a:xfrm>
            <a:off x="10554233" y="2752344"/>
            <a:ext cx="157277" cy="157277"/>
          </a:xfrm>
          <a:prstGeom prst="rect">
            <a:avLst/>
          </a:prstGeom>
          <a:solidFill>
            <a:srgbClr val="E5E7EB"/>
          </a:solidFill>
          <a:ln>
            <a:noFill/>
          </a:ln>
        </p:spPr>
        <p:txBody>
          <a:bodyPr rtlCol="0" anchor="ctr"/>
          <a:lstStyle/>
          <a:p>
            <a:pPr algn="ctr"/>
          </a:p>
        </p:txBody>
      </p:sp>
      <p:sp>
        <p:nvSpPr>
          <p:cNvPr id="386" name="Rectangle 385"/>
          <p:cNvSpPr/>
          <p:nvPr/>
        </p:nvSpPr>
        <p:spPr>
          <a:xfrm>
            <a:off x="10554233" y="2555748"/>
            <a:ext cx="157277" cy="157277"/>
          </a:xfrm>
          <a:prstGeom prst="rect">
            <a:avLst/>
          </a:prstGeom>
          <a:solidFill>
            <a:srgbClr val="E5E7EB"/>
          </a:solidFill>
          <a:ln>
            <a:noFill/>
          </a:ln>
        </p:spPr>
        <p:txBody>
          <a:bodyPr rtlCol="0" anchor="ctr"/>
          <a:lstStyle/>
          <a:p>
            <a:pPr algn="ctr"/>
          </a:p>
        </p:txBody>
      </p:sp>
      <p:sp>
        <p:nvSpPr>
          <p:cNvPr id="387" name="Rectangle 386"/>
          <p:cNvSpPr/>
          <p:nvPr/>
        </p:nvSpPr>
        <p:spPr>
          <a:xfrm>
            <a:off x="10554233" y="2359152"/>
            <a:ext cx="157277" cy="157277"/>
          </a:xfrm>
          <a:prstGeom prst="rect">
            <a:avLst/>
          </a:prstGeom>
          <a:solidFill>
            <a:srgbClr val="E5E7EB"/>
          </a:solidFill>
          <a:ln>
            <a:noFill/>
          </a:ln>
        </p:spPr>
        <p:txBody>
          <a:bodyPr rtlCol="0" anchor="ctr"/>
          <a:lstStyle/>
          <a:p>
            <a:pPr algn="ctr"/>
          </a:p>
        </p:txBody>
      </p:sp>
      <p:sp>
        <p:nvSpPr>
          <p:cNvPr id="388" name="Rectangle 387"/>
          <p:cNvSpPr/>
          <p:nvPr/>
        </p:nvSpPr>
        <p:spPr>
          <a:xfrm>
            <a:off x="10554233" y="2162556"/>
            <a:ext cx="157277" cy="157277"/>
          </a:xfrm>
          <a:prstGeom prst="rect">
            <a:avLst/>
          </a:prstGeom>
          <a:solidFill>
            <a:srgbClr val="E5E7EB"/>
          </a:solidFill>
          <a:ln>
            <a:noFill/>
          </a:ln>
        </p:spPr>
        <p:txBody>
          <a:bodyPr rtlCol="0" anchor="ctr"/>
          <a:lstStyle/>
          <a:p>
            <a:pPr algn="ctr"/>
          </a:p>
        </p:txBody>
      </p:sp>
      <p:sp>
        <p:nvSpPr>
          <p:cNvPr id="389" name="Rectangle 388"/>
          <p:cNvSpPr/>
          <p:nvPr/>
        </p:nvSpPr>
        <p:spPr>
          <a:xfrm>
            <a:off x="10554233" y="1965960"/>
            <a:ext cx="157277" cy="157277"/>
          </a:xfrm>
          <a:prstGeom prst="rect">
            <a:avLst/>
          </a:prstGeom>
          <a:solidFill>
            <a:srgbClr val="E5E7EB"/>
          </a:solidFill>
          <a:ln>
            <a:noFill/>
          </a:ln>
        </p:spPr>
        <p:txBody>
          <a:bodyPr rtlCol="0" anchor="ctr"/>
          <a:lstStyle/>
          <a:p>
            <a:pPr algn="ctr"/>
          </a:p>
        </p:txBody>
      </p:sp>
      <p:sp>
        <p:nvSpPr>
          <p:cNvPr id="390" name="Rectangle 389"/>
          <p:cNvSpPr/>
          <p:nvPr/>
        </p:nvSpPr>
        <p:spPr>
          <a:xfrm>
            <a:off x="10554233" y="1769364"/>
            <a:ext cx="157277" cy="157277"/>
          </a:xfrm>
          <a:prstGeom prst="rect">
            <a:avLst/>
          </a:prstGeom>
          <a:solidFill>
            <a:srgbClr val="E5E7EB"/>
          </a:solidFill>
          <a:ln>
            <a:noFill/>
          </a:ln>
        </p:spPr>
        <p:txBody>
          <a:bodyPr rtlCol="0" anchor="ctr"/>
          <a:lstStyle/>
          <a:p>
            <a:pPr algn="ctr"/>
          </a:p>
        </p:txBody>
      </p:sp>
      <p:sp>
        <p:nvSpPr>
          <p:cNvPr id="391" name="Rectangle 390"/>
          <p:cNvSpPr/>
          <p:nvPr/>
        </p:nvSpPr>
        <p:spPr>
          <a:xfrm>
            <a:off x="10554233" y="1572768"/>
            <a:ext cx="157277" cy="157277"/>
          </a:xfrm>
          <a:prstGeom prst="rect">
            <a:avLst/>
          </a:prstGeom>
          <a:solidFill>
            <a:srgbClr val="E5E7EB"/>
          </a:solidFill>
          <a:ln>
            <a:noFill/>
          </a:ln>
        </p:spPr>
        <p:txBody>
          <a:bodyPr rtlCol="0" anchor="ctr"/>
          <a:lstStyle/>
          <a:p>
            <a:pPr algn="ctr"/>
          </a:p>
        </p:txBody>
      </p:sp>
      <p:sp>
        <p:nvSpPr>
          <p:cNvPr id="392" name="Rectangle 391"/>
          <p:cNvSpPr/>
          <p:nvPr/>
        </p:nvSpPr>
        <p:spPr>
          <a:xfrm>
            <a:off x="10750829" y="3342132"/>
            <a:ext cx="157277" cy="157277"/>
          </a:xfrm>
          <a:prstGeom prst="rect">
            <a:avLst/>
          </a:prstGeom>
          <a:solidFill>
            <a:srgbClr val="E5E7EB"/>
          </a:solidFill>
          <a:ln>
            <a:noFill/>
          </a:ln>
        </p:spPr>
        <p:txBody>
          <a:bodyPr rtlCol="0" anchor="ctr"/>
          <a:lstStyle/>
          <a:p>
            <a:pPr algn="ctr"/>
          </a:p>
        </p:txBody>
      </p:sp>
      <p:sp>
        <p:nvSpPr>
          <p:cNvPr id="393" name="Rectangle 392"/>
          <p:cNvSpPr/>
          <p:nvPr/>
        </p:nvSpPr>
        <p:spPr>
          <a:xfrm>
            <a:off x="10750829" y="3145536"/>
            <a:ext cx="157277" cy="157277"/>
          </a:xfrm>
          <a:prstGeom prst="rect">
            <a:avLst/>
          </a:prstGeom>
          <a:solidFill>
            <a:srgbClr val="E5E7EB"/>
          </a:solidFill>
          <a:ln>
            <a:noFill/>
          </a:ln>
        </p:spPr>
        <p:txBody>
          <a:bodyPr rtlCol="0" anchor="ctr"/>
          <a:lstStyle/>
          <a:p>
            <a:pPr algn="ctr"/>
          </a:p>
        </p:txBody>
      </p:sp>
      <p:sp>
        <p:nvSpPr>
          <p:cNvPr id="394" name="Rectangle 393"/>
          <p:cNvSpPr/>
          <p:nvPr/>
        </p:nvSpPr>
        <p:spPr>
          <a:xfrm>
            <a:off x="10750829" y="2948940"/>
            <a:ext cx="157277" cy="157277"/>
          </a:xfrm>
          <a:prstGeom prst="rect">
            <a:avLst/>
          </a:prstGeom>
          <a:solidFill>
            <a:srgbClr val="E5E7EB"/>
          </a:solidFill>
          <a:ln>
            <a:noFill/>
          </a:ln>
        </p:spPr>
        <p:txBody>
          <a:bodyPr rtlCol="0" anchor="ctr"/>
          <a:lstStyle/>
          <a:p>
            <a:pPr algn="ctr"/>
          </a:p>
        </p:txBody>
      </p:sp>
      <p:sp>
        <p:nvSpPr>
          <p:cNvPr id="395" name="Rectangle 394"/>
          <p:cNvSpPr/>
          <p:nvPr/>
        </p:nvSpPr>
        <p:spPr>
          <a:xfrm>
            <a:off x="10750829" y="2752344"/>
            <a:ext cx="157277" cy="157277"/>
          </a:xfrm>
          <a:prstGeom prst="rect">
            <a:avLst/>
          </a:prstGeom>
          <a:solidFill>
            <a:srgbClr val="E5E7EB"/>
          </a:solidFill>
          <a:ln>
            <a:noFill/>
          </a:ln>
        </p:spPr>
        <p:txBody>
          <a:bodyPr rtlCol="0" anchor="ctr"/>
          <a:lstStyle/>
          <a:p>
            <a:pPr algn="ctr"/>
          </a:p>
        </p:txBody>
      </p:sp>
      <p:sp>
        <p:nvSpPr>
          <p:cNvPr id="396" name="Rectangle 395"/>
          <p:cNvSpPr/>
          <p:nvPr/>
        </p:nvSpPr>
        <p:spPr>
          <a:xfrm>
            <a:off x="10750829" y="2555748"/>
            <a:ext cx="157277" cy="157277"/>
          </a:xfrm>
          <a:prstGeom prst="rect">
            <a:avLst/>
          </a:prstGeom>
          <a:solidFill>
            <a:srgbClr val="E5E7EB"/>
          </a:solidFill>
          <a:ln>
            <a:noFill/>
          </a:ln>
        </p:spPr>
        <p:txBody>
          <a:bodyPr rtlCol="0" anchor="ctr"/>
          <a:lstStyle/>
          <a:p>
            <a:pPr algn="ctr"/>
          </a:p>
        </p:txBody>
      </p:sp>
      <p:sp>
        <p:nvSpPr>
          <p:cNvPr id="397" name="Rectangle 396"/>
          <p:cNvSpPr/>
          <p:nvPr/>
        </p:nvSpPr>
        <p:spPr>
          <a:xfrm>
            <a:off x="10750829" y="2359152"/>
            <a:ext cx="157277" cy="157277"/>
          </a:xfrm>
          <a:prstGeom prst="rect">
            <a:avLst/>
          </a:prstGeom>
          <a:solidFill>
            <a:srgbClr val="E5E7EB"/>
          </a:solidFill>
          <a:ln>
            <a:noFill/>
          </a:ln>
        </p:spPr>
        <p:txBody>
          <a:bodyPr rtlCol="0" anchor="ctr"/>
          <a:lstStyle/>
          <a:p>
            <a:pPr algn="ctr"/>
          </a:p>
        </p:txBody>
      </p:sp>
      <p:sp>
        <p:nvSpPr>
          <p:cNvPr id="398" name="Rectangle 397"/>
          <p:cNvSpPr/>
          <p:nvPr/>
        </p:nvSpPr>
        <p:spPr>
          <a:xfrm>
            <a:off x="10750829" y="2162556"/>
            <a:ext cx="157277" cy="157277"/>
          </a:xfrm>
          <a:prstGeom prst="rect">
            <a:avLst/>
          </a:prstGeom>
          <a:solidFill>
            <a:srgbClr val="E5E7EB"/>
          </a:solidFill>
          <a:ln>
            <a:noFill/>
          </a:ln>
        </p:spPr>
        <p:txBody>
          <a:bodyPr rtlCol="0" anchor="ctr"/>
          <a:lstStyle/>
          <a:p>
            <a:pPr algn="ctr"/>
          </a:p>
        </p:txBody>
      </p:sp>
      <p:sp>
        <p:nvSpPr>
          <p:cNvPr id="399" name="Rectangle 398"/>
          <p:cNvSpPr/>
          <p:nvPr/>
        </p:nvSpPr>
        <p:spPr>
          <a:xfrm>
            <a:off x="10750829" y="1965960"/>
            <a:ext cx="157277" cy="157277"/>
          </a:xfrm>
          <a:prstGeom prst="rect">
            <a:avLst/>
          </a:prstGeom>
          <a:solidFill>
            <a:srgbClr val="E5E7EB"/>
          </a:solidFill>
          <a:ln>
            <a:noFill/>
          </a:ln>
        </p:spPr>
        <p:txBody>
          <a:bodyPr rtlCol="0" anchor="ctr"/>
          <a:lstStyle/>
          <a:p>
            <a:pPr algn="ctr"/>
          </a:p>
        </p:txBody>
      </p:sp>
      <p:sp>
        <p:nvSpPr>
          <p:cNvPr id="400" name="Rectangle 399"/>
          <p:cNvSpPr/>
          <p:nvPr/>
        </p:nvSpPr>
        <p:spPr>
          <a:xfrm>
            <a:off x="10750829" y="1769364"/>
            <a:ext cx="157277" cy="157277"/>
          </a:xfrm>
          <a:prstGeom prst="rect">
            <a:avLst/>
          </a:prstGeom>
          <a:solidFill>
            <a:srgbClr val="E5E7EB"/>
          </a:solidFill>
          <a:ln>
            <a:noFill/>
          </a:ln>
        </p:spPr>
        <p:txBody>
          <a:bodyPr rtlCol="0" anchor="ctr"/>
          <a:lstStyle/>
          <a:p>
            <a:pPr algn="ctr"/>
          </a:p>
        </p:txBody>
      </p:sp>
      <p:sp>
        <p:nvSpPr>
          <p:cNvPr id="401" name="Rectangle 400"/>
          <p:cNvSpPr/>
          <p:nvPr/>
        </p:nvSpPr>
        <p:spPr>
          <a:xfrm>
            <a:off x="10750829" y="1572768"/>
            <a:ext cx="157277" cy="157277"/>
          </a:xfrm>
          <a:prstGeom prst="rect">
            <a:avLst/>
          </a:prstGeom>
          <a:solidFill>
            <a:srgbClr val="E5E7EB"/>
          </a:solidFill>
          <a:ln>
            <a:noFill/>
          </a:ln>
        </p:spPr>
        <p:txBody>
          <a:bodyPr rtlCol="0" anchor="ctr"/>
          <a:lstStyle/>
          <a:p>
            <a:pPr algn="ctr"/>
          </a:p>
        </p:txBody>
      </p:sp>
      <p:sp>
        <p:nvSpPr>
          <p:cNvPr id="402" name="Rectangle 401"/>
          <p:cNvSpPr/>
          <p:nvPr/>
        </p:nvSpPr>
        <p:spPr>
          <a:xfrm>
            <a:off x="10947425" y="3342132"/>
            <a:ext cx="157277" cy="157277"/>
          </a:xfrm>
          <a:prstGeom prst="rect">
            <a:avLst/>
          </a:prstGeom>
          <a:solidFill>
            <a:srgbClr val="E5E7EB"/>
          </a:solidFill>
          <a:ln>
            <a:noFill/>
          </a:ln>
        </p:spPr>
        <p:txBody>
          <a:bodyPr rtlCol="0" anchor="ctr"/>
          <a:lstStyle/>
          <a:p>
            <a:pPr algn="ctr"/>
          </a:p>
        </p:txBody>
      </p:sp>
      <p:sp>
        <p:nvSpPr>
          <p:cNvPr id="403" name="Rectangle 402"/>
          <p:cNvSpPr/>
          <p:nvPr/>
        </p:nvSpPr>
        <p:spPr>
          <a:xfrm>
            <a:off x="10947425" y="3145536"/>
            <a:ext cx="157277" cy="157277"/>
          </a:xfrm>
          <a:prstGeom prst="rect">
            <a:avLst/>
          </a:prstGeom>
          <a:solidFill>
            <a:srgbClr val="E5E7EB"/>
          </a:solidFill>
          <a:ln>
            <a:noFill/>
          </a:ln>
        </p:spPr>
        <p:txBody>
          <a:bodyPr rtlCol="0" anchor="ctr"/>
          <a:lstStyle/>
          <a:p>
            <a:pPr algn="ctr"/>
          </a:p>
        </p:txBody>
      </p:sp>
      <p:sp>
        <p:nvSpPr>
          <p:cNvPr id="404" name="Rectangle 403"/>
          <p:cNvSpPr/>
          <p:nvPr/>
        </p:nvSpPr>
        <p:spPr>
          <a:xfrm>
            <a:off x="10947425" y="2948940"/>
            <a:ext cx="157277" cy="157277"/>
          </a:xfrm>
          <a:prstGeom prst="rect">
            <a:avLst/>
          </a:prstGeom>
          <a:solidFill>
            <a:srgbClr val="E5E7EB"/>
          </a:solidFill>
          <a:ln>
            <a:noFill/>
          </a:ln>
        </p:spPr>
        <p:txBody>
          <a:bodyPr rtlCol="0" anchor="ctr"/>
          <a:lstStyle/>
          <a:p>
            <a:pPr algn="ctr"/>
          </a:p>
        </p:txBody>
      </p:sp>
      <p:sp>
        <p:nvSpPr>
          <p:cNvPr id="405" name="Rectangle 404"/>
          <p:cNvSpPr/>
          <p:nvPr/>
        </p:nvSpPr>
        <p:spPr>
          <a:xfrm>
            <a:off x="10947425" y="2752344"/>
            <a:ext cx="157277" cy="157277"/>
          </a:xfrm>
          <a:prstGeom prst="rect">
            <a:avLst/>
          </a:prstGeom>
          <a:solidFill>
            <a:srgbClr val="E5E7EB"/>
          </a:solidFill>
          <a:ln>
            <a:noFill/>
          </a:ln>
        </p:spPr>
        <p:txBody>
          <a:bodyPr rtlCol="0" anchor="ctr"/>
          <a:lstStyle/>
          <a:p>
            <a:pPr algn="ctr"/>
          </a:p>
        </p:txBody>
      </p:sp>
      <p:sp>
        <p:nvSpPr>
          <p:cNvPr id="406" name="Rectangle 405"/>
          <p:cNvSpPr/>
          <p:nvPr/>
        </p:nvSpPr>
        <p:spPr>
          <a:xfrm>
            <a:off x="10947425" y="2555748"/>
            <a:ext cx="157277" cy="157277"/>
          </a:xfrm>
          <a:prstGeom prst="rect">
            <a:avLst/>
          </a:prstGeom>
          <a:solidFill>
            <a:srgbClr val="E5E7EB"/>
          </a:solidFill>
          <a:ln>
            <a:noFill/>
          </a:ln>
        </p:spPr>
        <p:txBody>
          <a:bodyPr rtlCol="0" anchor="ctr"/>
          <a:lstStyle/>
          <a:p>
            <a:pPr algn="ctr"/>
          </a:p>
        </p:txBody>
      </p:sp>
      <p:sp>
        <p:nvSpPr>
          <p:cNvPr id="407" name="Rectangle 406"/>
          <p:cNvSpPr/>
          <p:nvPr/>
        </p:nvSpPr>
        <p:spPr>
          <a:xfrm>
            <a:off x="10947425" y="2359152"/>
            <a:ext cx="157277" cy="157277"/>
          </a:xfrm>
          <a:prstGeom prst="rect">
            <a:avLst/>
          </a:prstGeom>
          <a:solidFill>
            <a:srgbClr val="E5E7EB"/>
          </a:solidFill>
          <a:ln>
            <a:noFill/>
          </a:ln>
        </p:spPr>
        <p:txBody>
          <a:bodyPr rtlCol="0" anchor="ctr"/>
          <a:lstStyle/>
          <a:p>
            <a:pPr algn="ctr"/>
          </a:p>
        </p:txBody>
      </p:sp>
      <p:sp>
        <p:nvSpPr>
          <p:cNvPr id="408" name="Rectangle 407"/>
          <p:cNvSpPr/>
          <p:nvPr/>
        </p:nvSpPr>
        <p:spPr>
          <a:xfrm>
            <a:off x="10947425" y="2162556"/>
            <a:ext cx="157277" cy="157277"/>
          </a:xfrm>
          <a:prstGeom prst="rect">
            <a:avLst/>
          </a:prstGeom>
          <a:solidFill>
            <a:srgbClr val="E5E7EB"/>
          </a:solidFill>
          <a:ln>
            <a:noFill/>
          </a:ln>
        </p:spPr>
        <p:txBody>
          <a:bodyPr rtlCol="0" anchor="ctr"/>
          <a:lstStyle/>
          <a:p>
            <a:pPr algn="ctr"/>
          </a:p>
        </p:txBody>
      </p:sp>
      <p:sp>
        <p:nvSpPr>
          <p:cNvPr id="409" name="Rectangle 408"/>
          <p:cNvSpPr/>
          <p:nvPr/>
        </p:nvSpPr>
        <p:spPr>
          <a:xfrm>
            <a:off x="10947425" y="1965960"/>
            <a:ext cx="157277" cy="157277"/>
          </a:xfrm>
          <a:prstGeom prst="rect">
            <a:avLst/>
          </a:prstGeom>
          <a:solidFill>
            <a:srgbClr val="E5E7EB"/>
          </a:solidFill>
          <a:ln>
            <a:noFill/>
          </a:ln>
        </p:spPr>
        <p:txBody>
          <a:bodyPr rtlCol="0" anchor="ctr"/>
          <a:lstStyle/>
          <a:p>
            <a:pPr algn="ctr"/>
          </a:p>
        </p:txBody>
      </p:sp>
      <p:sp>
        <p:nvSpPr>
          <p:cNvPr id="410" name="Rectangle 409"/>
          <p:cNvSpPr/>
          <p:nvPr/>
        </p:nvSpPr>
        <p:spPr>
          <a:xfrm>
            <a:off x="10947425" y="1769364"/>
            <a:ext cx="157277" cy="157277"/>
          </a:xfrm>
          <a:prstGeom prst="rect">
            <a:avLst/>
          </a:prstGeom>
          <a:solidFill>
            <a:srgbClr val="E5E7EB"/>
          </a:solidFill>
          <a:ln>
            <a:noFill/>
          </a:ln>
        </p:spPr>
        <p:txBody>
          <a:bodyPr rtlCol="0" anchor="ctr"/>
          <a:lstStyle/>
          <a:p>
            <a:pPr algn="ctr"/>
          </a:p>
        </p:txBody>
      </p:sp>
      <p:sp>
        <p:nvSpPr>
          <p:cNvPr id="411" name="Rectangle 410"/>
          <p:cNvSpPr/>
          <p:nvPr/>
        </p:nvSpPr>
        <p:spPr>
          <a:xfrm>
            <a:off x="10947425" y="1572768"/>
            <a:ext cx="157277" cy="157277"/>
          </a:xfrm>
          <a:prstGeom prst="rect">
            <a:avLst/>
          </a:prstGeom>
          <a:solidFill>
            <a:srgbClr val="E5E7EB"/>
          </a:solidFill>
          <a:ln>
            <a:noFill/>
          </a:ln>
        </p:spPr>
        <p:txBody>
          <a:bodyPr rtlCol="0" anchor="ctr"/>
          <a:lstStyle/>
          <a:p>
            <a:pPr algn="ctr"/>
          </a:p>
        </p:txBody>
      </p:sp>
      <p:sp>
        <p:nvSpPr>
          <p:cNvPr id="412" name="TextBox 411"/>
          <p:cNvSpPr txBox="1"/>
          <p:nvPr/>
        </p:nvSpPr>
        <p:spPr>
          <a:xfrm>
            <a:off x="9178061"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0</a:t>
            </a:r>
          </a:p>
        </p:txBody>
      </p:sp>
      <p:sp>
        <p:nvSpPr>
          <p:cNvPr id="413" name="TextBox 412"/>
          <p:cNvSpPr txBox="1"/>
          <p:nvPr/>
        </p:nvSpPr>
        <p:spPr>
          <a:xfrm>
            <a:off x="9178061" y="4069080"/>
            <a:ext cx="2373554" cy="640080"/>
          </a:xfrm>
          <a:prstGeom prst="rect">
            <a:avLst/>
          </a:prstGeom>
          <a:noFill/>
        </p:spPr>
        <p:txBody>
          <a:bodyPr wrap="square" lIns="0" tIns="0" rIns="0" bIns="0">
            <a:spAutoFit/>
          </a:bodyPr>
          <a:lstStyle/>
          <a:p>
            <a:pPr>
              <a:lnSpc>
                <a:spcPct val="104000"/>
              </a:lnSpc>
            </a:pPr>
            <a:r>
              <a:rPr sz="1150">
                <a:solidFill>
                  <a:srgbClr val="0C1408"/>
                </a:solidFill>
                <a:latin typeface="Arial"/>
              </a:rPr>
              <a:t>on-time committee payments reach a credit bureau</a:t>
            </a:r>
          </a:p>
        </p:txBody>
      </p:sp>
      <p:sp>
        <p:nvSpPr>
          <p:cNvPr id="414" name="Rectangle 413"/>
          <p:cNvSpPr/>
          <p:nvPr/>
        </p:nvSpPr>
        <p:spPr>
          <a:xfrm>
            <a:off x="548640" y="4892040"/>
            <a:ext cx="5257800" cy="1298448"/>
          </a:xfrm>
          <a:prstGeom prst="rect">
            <a:avLst/>
          </a:prstGeom>
          <a:solidFill>
            <a:srgbClr val="F3F4F6"/>
          </a:solidFill>
          <a:ln>
            <a:noFill/>
          </a:ln>
        </p:spPr>
        <p:txBody>
          <a:bodyPr rtlCol="0" anchor="ctr"/>
          <a:lstStyle/>
          <a:p>
            <a:pPr algn="ctr"/>
          </a:p>
        </p:txBody>
      </p:sp>
      <p:sp>
        <p:nvSpPr>
          <p:cNvPr id="415" name="TextBox 414"/>
          <p:cNvSpPr txBox="1"/>
          <p:nvPr/>
        </p:nvSpPr>
        <p:spPr>
          <a:xfrm>
            <a:off x="749808" y="5020056"/>
            <a:ext cx="4846320" cy="274320"/>
          </a:xfrm>
          <a:prstGeom prst="rect">
            <a:avLst/>
          </a:prstGeom>
          <a:noFill/>
        </p:spPr>
        <p:txBody>
          <a:bodyPr wrap="square" lIns="0" tIns="0" rIns="0" bIns="0">
            <a:spAutoFit/>
          </a:bodyPr>
          <a:lstStyle/>
          <a:p>
            <a:pPr>
              <a:lnSpc>
                <a:spcPct val="105000"/>
              </a:lnSpc>
            </a:pPr>
            <a:r>
              <a:rPr sz="1250" b="1">
                <a:solidFill>
                  <a:srgbClr val="0C1408"/>
                </a:solidFill>
                <a:latin typeface="Arial"/>
              </a:rPr>
              <a:t>Case, 2022</a:t>
            </a:r>
          </a:p>
        </p:txBody>
      </p:sp>
      <p:sp>
        <p:nvSpPr>
          <p:cNvPr id="416" name="TextBox 415"/>
          <p:cNvSpPr txBox="1"/>
          <p:nvPr/>
        </p:nvSpPr>
        <p:spPr>
          <a:xfrm>
            <a:off x="749808" y="5321808"/>
            <a:ext cx="4892040" cy="822960"/>
          </a:xfrm>
          <a:prstGeom prst="rect">
            <a:avLst/>
          </a:prstGeom>
          <a:noFill/>
        </p:spPr>
        <p:txBody>
          <a:bodyPr wrap="square" lIns="0" tIns="0" rIns="0" bIns="0">
            <a:spAutoFit/>
          </a:bodyPr>
          <a:lstStyle/>
          <a:p>
            <a:pPr>
              <a:lnSpc>
                <a:spcPct val="106000"/>
              </a:lnSpc>
            </a:pPr>
            <a:r>
              <a:rPr sz="1150">
                <a:solidFill>
                  <a:srgbClr val="0C1408"/>
                </a:solidFill>
                <a:latin typeface="Arial"/>
              </a:rPr>
              <a:t>One organiser ran more than 100 committees through Facebook and defaulted on about Rs 420 million. No written records were kept. [2]</a:t>
            </a:r>
          </a:p>
        </p:txBody>
      </p:sp>
      <p:sp>
        <p:nvSpPr>
          <p:cNvPr id="417" name="TextBox 416"/>
          <p:cNvSpPr txBox="1"/>
          <p:nvPr/>
        </p:nvSpPr>
        <p:spPr>
          <a:xfrm>
            <a:off x="6172200" y="4910328"/>
            <a:ext cx="5470855" cy="274320"/>
          </a:xfrm>
          <a:prstGeom prst="rect">
            <a:avLst/>
          </a:prstGeom>
          <a:noFill/>
        </p:spPr>
        <p:txBody>
          <a:bodyPr wrap="square" lIns="0" tIns="0" rIns="0" bIns="0">
            <a:spAutoFit/>
          </a:bodyPr>
          <a:lstStyle/>
          <a:p>
            <a:pPr>
              <a:lnSpc>
                <a:spcPct val="105000"/>
              </a:lnSpc>
            </a:pPr>
            <a:r>
              <a:rPr sz="1250" b="1">
                <a:solidFill>
                  <a:srgbClr val="0C1408"/>
                </a:solidFill>
                <a:latin typeface="Arial"/>
              </a:rPr>
              <a:t>How informal committees fail</a:t>
            </a:r>
          </a:p>
        </p:txBody>
      </p:sp>
      <p:sp>
        <p:nvSpPr>
          <p:cNvPr id="418" name="Rectangle 417"/>
          <p:cNvSpPr/>
          <p:nvPr/>
        </p:nvSpPr>
        <p:spPr>
          <a:xfrm>
            <a:off x="6172200" y="5376672"/>
            <a:ext cx="118872" cy="118872"/>
          </a:xfrm>
          <a:prstGeom prst="rect">
            <a:avLst/>
          </a:prstGeom>
          <a:solidFill>
            <a:srgbClr val="D64545"/>
          </a:solidFill>
          <a:ln>
            <a:noFill/>
          </a:ln>
        </p:spPr>
        <p:txBody>
          <a:bodyPr rtlCol="0" anchor="ctr"/>
          <a:lstStyle/>
          <a:p>
            <a:pPr algn="ctr"/>
          </a:p>
        </p:txBody>
      </p:sp>
      <p:sp>
        <p:nvSpPr>
          <p:cNvPr id="419" name="TextBox 418"/>
          <p:cNvSpPr txBox="1"/>
          <p:nvPr/>
        </p:nvSpPr>
        <p:spPr>
          <a:xfrm>
            <a:off x="6391656" y="5303520"/>
            <a:ext cx="2461108" cy="384048"/>
          </a:xfrm>
          <a:prstGeom prst="rect">
            <a:avLst/>
          </a:prstGeom>
          <a:noFill/>
        </p:spPr>
        <p:txBody>
          <a:bodyPr wrap="square" lIns="0" tIns="0" rIns="0" bIns="0">
            <a:spAutoFit/>
          </a:bodyPr>
          <a:lstStyle/>
          <a:p>
            <a:pPr>
              <a:lnSpc>
                <a:spcPct val="105000"/>
              </a:lnSpc>
            </a:pPr>
            <a:r>
              <a:rPr sz="1150">
                <a:solidFill>
                  <a:srgbClr val="0C1408"/>
                </a:solidFill>
                <a:latin typeface="Arial"/>
              </a:rPr>
              <a:t>The organiser leaves with the pot</a:t>
            </a:r>
          </a:p>
        </p:txBody>
      </p:sp>
      <p:sp>
        <p:nvSpPr>
          <p:cNvPr id="420" name="Rectangle 419"/>
          <p:cNvSpPr/>
          <p:nvPr/>
        </p:nvSpPr>
        <p:spPr>
          <a:xfrm>
            <a:off x="8907628" y="5376672"/>
            <a:ext cx="118872" cy="118872"/>
          </a:xfrm>
          <a:prstGeom prst="rect">
            <a:avLst/>
          </a:prstGeom>
          <a:solidFill>
            <a:srgbClr val="D64545"/>
          </a:solidFill>
          <a:ln>
            <a:noFill/>
          </a:ln>
        </p:spPr>
        <p:txBody>
          <a:bodyPr rtlCol="0" anchor="ctr"/>
          <a:lstStyle/>
          <a:p>
            <a:pPr algn="ctr"/>
          </a:p>
        </p:txBody>
      </p:sp>
      <p:sp>
        <p:nvSpPr>
          <p:cNvPr id="421" name="TextBox 420"/>
          <p:cNvSpPr txBox="1"/>
          <p:nvPr/>
        </p:nvSpPr>
        <p:spPr>
          <a:xfrm>
            <a:off x="9127084" y="5303520"/>
            <a:ext cx="2461108" cy="384048"/>
          </a:xfrm>
          <a:prstGeom prst="rect">
            <a:avLst/>
          </a:prstGeom>
          <a:noFill/>
        </p:spPr>
        <p:txBody>
          <a:bodyPr wrap="square" lIns="0" tIns="0" rIns="0" bIns="0">
            <a:spAutoFit/>
          </a:bodyPr>
          <a:lstStyle/>
          <a:p>
            <a:pPr>
              <a:lnSpc>
                <a:spcPct val="105000"/>
              </a:lnSpc>
            </a:pPr>
            <a:r>
              <a:rPr sz="1150">
                <a:solidFill>
                  <a:srgbClr val="0C1408"/>
                </a:solidFill>
                <a:latin typeface="Arial"/>
              </a:rPr>
              <a:t>A member stops paying after collecting</a:t>
            </a:r>
          </a:p>
        </p:txBody>
      </p:sp>
      <p:sp>
        <p:nvSpPr>
          <p:cNvPr id="422" name="Rectangle 421"/>
          <p:cNvSpPr/>
          <p:nvPr/>
        </p:nvSpPr>
        <p:spPr>
          <a:xfrm>
            <a:off x="6172200" y="5815584"/>
            <a:ext cx="118872" cy="118872"/>
          </a:xfrm>
          <a:prstGeom prst="rect">
            <a:avLst/>
          </a:prstGeom>
          <a:solidFill>
            <a:srgbClr val="D64545"/>
          </a:solidFill>
          <a:ln>
            <a:noFill/>
          </a:ln>
        </p:spPr>
        <p:txBody>
          <a:bodyPr rtlCol="0" anchor="ctr"/>
          <a:lstStyle/>
          <a:p>
            <a:pPr algn="ctr"/>
          </a:p>
        </p:txBody>
      </p:sp>
      <p:sp>
        <p:nvSpPr>
          <p:cNvPr id="423" name="TextBox 422"/>
          <p:cNvSpPr txBox="1"/>
          <p:nvPr/>
        </p:nvSpPr>
        <p:spPr>
          <a:xfrm>
            <a:off x="6391656" y="5742432"/>
            <a:ext cx="2461108" cy="384048"/>
          </a:xfrm>
          <a:prstGeom prst="rect">
            <a:avLst/>
          </a:prstGeom>
          <a:noFill/>
        </p:spPr>
        <p:txBody>
          <a:bodyPr wrap="square" lIns="0" tIns="0" rIns="0" bIns="0">
            <a:spAutoFit/>
          </a:bodyPr>
          <a:lstStyle/>
          <a:p>
            <a:pPr>
              <a:lnSpc>
                <a:spcPct val="105000"/>
              </a:lnSpc>
            </a:pPr>
            <a:r>
              <a:rPr sz="1150">
                <a:solidFill>
                  <a:srgbClr val="0C1408"/>
                </a:solidFill>
                <a:latin typeface="Arial"/>
              </a:rPr>
              <a:t>Disputes over the order of turns</a:t>
            </a:r>
          </a:p>
        </p:txBody>
      </p:sp>
      <p:sp>
        <p:nvSpPr>
          <p:cNvPr id="424" name="Rectangle 423"/>
          <p:cNvSpPr/>
          <p:nvPr/>
        </p:nvSpPr>
        <p:spPr>
          <a:xfrm>
            <a:off x="8907628" y="5815584"/>
            <a:ext cx="118872" cy="118872"/>
          </a:xfrm>
          <a:prstGeom prst="rect">
            <a:avLst/>
          </a:prstGeom>
          <a:solidFill>
            <a:srgbClr val="D64545"/>
          </a:solidFill>
          <a:ln>
            <a:noFill/>
          </a:ln>
        </p:spPr>
        <p:txBody>
          <a:bodyPr rtlCol="0" anchor="ctr"/>
          <a:lstStyle/>
          <a:p>
            <a:pPr algn="ctr"/>
          </a:p>
        </p:txBody>
      </p:sp>
      <p:sp>
        <p:nvSpPr>
          <p:cNvPr id="425" name="TextBox 424"/>
          <p:cNvSpPr txBox="1"/>
          <p:nvPr/>
        </p:nvSpPr>
        <p:spPr>
          <a:xfrm>
            <a:off x="9127084" y="5742432"/>
            <a:ext cx="2461108" cy="384048"/>
          </a:xfrm>
          <a:prstGeom prst="rect">
            <a:avLst/>
          </a:prstGeom>
          <a:noFill/>
        </p:spPr>
        <p:txBody>
          <a:bodyPr wrap="square" lIns="0" tIns="0" rIns="0" bIns="0">
            <a:spAutoFit/>
          </a:bodyPr>
          <a:lstStyle/>
          <a:p>
            <a:pPr>
              <a:lnSpc>
                <a:spcPct val="105000"/>
              </a:lnSpc>
            </a:pPr>
            <a:r>
              <a:rPr sz="1150">
                <a:solidFill>
                  <a:srgbClr val="0C1408"/>
                </a:solidFill>
                <a:latin typeface="Arial"/>
              </a:rPr>
              <a:t>No record of who paid what</a:t>
            </a:r>
          </a:p>
        </p:txBody>
      </p:sp>
      <p:sp>
        <p:nvSpPr>
          <p:cNvPr id="426" name="TextBox 425"/>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Financial Inclusion Insights survey data, in Mehmood et al. 2018    2  Dawn, 5 and 12 Dec 2022; Arab News, 10 Dec 2022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Proposed Structure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Halqa runs the committee system; Raqami holds and moves the money under State Bank regulation</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5</a:t>
            </a:r>
          </a:p>
        </p:txBody>
      </p:sp>
      <p:sp>
        <p:nvSpPr>
          <p:cNvPr id="6" name="Rectangle 5"/>
          <p:cNvSpPr/>
          <p:nvPr/>
        </p:nvSpPr>
        <p:spPr>
          <a:xfrm>
            <a:off x="2926080" y="1600200"/>
            <a:ext cx="2514600" cy="777240"/>
          </a:xfrm>
          <a:prstGeom prst="rect">
            <a:avLst/>
          </a:prstGeom>
          <a:solidFill>
            <a:srgbClr val="F3FCE7"/>
          </a:solidFill>
          <a:ln w="15875">
            <a:solidFill>
              <a:srgbClr val="6DC72A"/>
            </a:solidFill>
          </a:ln>
        </p:spPr>
        <p:txBody>
          <a:bodyPr rtlCol="0" anchor="ctr"/>
          <a:lstStyle/>
          <a:p>
            <a:pPr algn="ctr"/>
          </a:p>
        </p:txBody>
      </p:sp>
      <p:pic>
        <p:nvPicPr>
          <p:cNvPr id="7" name="Picture 6" descr="lockup-520.png"/>
          <p:cNvPicPr>
            <a:picLocks noChangeAspect="1"/>
          </p:cNvPicPr>
          <p:nvPr/>
        </p:nvPicPr>
        <p:blipFill>
          <a:blip r:embed="rId2"/>
          <a:stretch>
            <a:fillRect/>
          </a:stretch>
        </p:blipFill>
        <p:spPr>
          <a:xfrm>
            <a:off x="3731967" y="1675257"/>
            <a:ext cx="902825" cy="274320"/>
          </a:xfrm>
          <a:prstGeom prst="rect">
            <a:avLst/>
          </a:prstGeom>
        </p:spPr>
      </p:pic>
      <p:sp>
        <p:nvSpPr>
          <p:cNvPr id="8" name="TextBox 7"/>
          <p:cNvSpPr txBox="1"/>
          <p:nvPr/>
        </p:nvSpPr>
        <p:spPr>
          <a:xfrm>
            <a:off x="2999232" y="1977009"/>
            <a:ext cx="2368296" cy="371094"/>
          </a:xfrm>
          <a:prstGeom prst="rect">
            <a:avLst/>
          </a:prstGeom>
          <a:noFill/>
        </p:spPr>
        <p:txBody>
          <a:bodyPr wrap="square" lIns="0" tIns="0" rIns="0" bIns="0">
            <a:spAutoFit/>
          </a:bodyPr>
          <a:lstStyle/>
          <a:p>
            <a:pPr algn="ctr">
              <a:lnSpc>
                <a:spcPct val="102000"/>
              </a:lnSpc>
            </a:pPr>
            <a:r>
              <a:rPr sz="1050">
                <a:solidFill>
                  <a:srgbClr val="0C1408"/>
                </a:solidFill>
                <a:latin typeface="Arial"/>
              </a:rPr>
              <a:t>committee system: rules, turns, checks, records</a:t>
            </a:r>
          </a:p>
        </p:txBody>
      </p:sp>
      <p:sp>
        <p:nvSpPr>
          <p:cNvPr id="9" name="Rectangle 8"/>
          <p:cNvSpPr/>
          <p:nvPr/>
        </p:nvSpPr>
        <p:spPr>
          <a:xfrm>
            <a:off x="2926080" y="3291840"/>
            <a:ext cx="2514600" cy="868680"/>
          </a:xfrm>
          <a:prstGeom prst="rect">
            <a:avLst/>
          </a:prstGeom>
          <a:solidFill>
            <a:srgbClr val="F4F1FB"/>
          </a:solidFill>
          <a:ln w="15875">
            <a:solidFill>
              <a:srgbClr val="573F99"/>
            </a:solidFill>
          </a:ln>
        </p:spPr>
        <p:txBody>
          <a:bodyPr rtlCol="0" anchor="ctr"/>
          <a:lstStyle/>
          <a:p>
            <a:pPr algn="ctr"/>
          </a:p>
        </p:txBody>
      </p:sp>
      <p:pic>
        <p:nvPicPr>
          <p:cNvPr id="10" name="Picture 9" descr="raqami_logo.png"/>
          <p:cNvPicPr>
            <a:picLocks noChangeAspect="1"/>
          </p:cNvPicPr>
          <p:nvPr/>
        </p:nvPicPr>
        <p:blipFill>
          <a:blip r:embed="rId3"/>
          <a:stretch>
            <a:fillRect/>
          </a:stretch>
        </p:blipFill>
        <p:spPr>
          <a:xfrm>
            <a:off x="3664681" y="3439096"/>
            <a:ext cx="1037398" cy="384048"/>
          </a:xfrm>
          <a:prstGeom prst="rect">
            <a:avLst/>
          </a:prstGeom>
        </p:spPr>
      </p:pic>
      <p:sp>
        <p:nvSpPr>
          <p:cNvPr id="11" name="TextBox 10"/>
          <p:cNvSpPr txBox="1"/>
          <p:nvPr/>
        </p:nvSpPr>
        <p:spPr>
          <a:xfrm>
            <a:off x="2999232" y="3850577"/>
            <a:ext cx="2368296" cy="208407"/>
          </a:xfrm>
          <a:prstGeom prst="rect">
            <a:avLst/>
          </a:prstGeom>
          <a:noFill/>
        </p:spPr>
        <p:txBody>
          <a:bodyPr wrap="square" lIns="0" tIns="0" rIns="0" bIns="0">
            <a:spAutoFit/>
          </a:bodyPr>
          <a:lstStyle/>
          <a:p>
            <a:pPr algn="ctr">
              <a:lnSpc>
                <a:spcPct val="102000"/>
              </a:lnSpc>
            </a:pPr>
            <a:r>
              <a:rPr sz="1050">
                <a:solidFill>
                  <a:srgbClr val="0C1408"/>
                </a:solidFill>
                <a:latin typeface="Arial"/>
              </a:rPr>
              <a:t>accounts, collection, payouts, profit</a:t>
            </a:r>
          </a:p>
        </p:txBody>
      </p:sp>
      <p:sp>
        <p:nvSpPr>
          <p:cNvPr id="12" name="Rectangle 11"/>
          <p:cNvSpPr/>
          <p:nvPr/>
        </p:nvSpPr>
        <p:spPr>
          <a:xfrm>
            <a:off x="548640" y="3291840"/>
            <a:ext cx="1600200" cy="868680"/>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250" b="1">
                <a:solidFill>
                  <a:srgbClr val="0C1408"/>
                </a:solidFill>
                <a:latin typeface="Arial"/>
              </a:rPr>
              <a:t>Members</a:t>
            </a:r>
          </a:p>
          <a:p>
            <a:pPr algn="ctr">
              <a:lnSpc>
                <a:spcPct val="102000"/>
              </a:lnSpc>
              <a:spcBef>
                <a:spcPts val="200"/>
              </a:spcBef>
            </a:pPr>
            <a:r>
              <a:rPr sz="1050">
                <a:solidFill>
                  <a:srgbClr val="0C1408"/>
                </a:solidFill>
                <a:latin typeface="Arial"/>
              </a:rPr>
              <a:t>each with a Raqami account</a:t>
            </a:r>
          </a:p>
        </p:txBody>
      </p:sp>
      <p:sp>
        <p:nvSpPr>
          <p:cNvPr id="13" name="Rectangle 12"/>
          <p:cNvSpPr/>
          <p:nvPr/>
        </p:nvSpPr>
        <p:spPr>
          <a:xfrm>
            <a:off x="6126480" y="3291840"/>
            <a:ext cx="1600200" cy="868680"/>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250" b="1">
                <a:solidFill>
                  <a:srgbClr val="0C1408"/>
                </a:solidFill>
                <a:latin typeface="Arial"/>
              </a:rPr>
              <a:t>Licensed PSP</a:t>
            </a:r>
          </a:p>
          <a:p>
            <a:pPr algn="ctr">
              <a:lnSpc>
                <a:spcPct val="102000"/>
              </a:lnSpc>
              <a:spcBef>
                <a:spcPts val="200"/>
              </a:spcBef>
            </a:pPr>
            <a:r>
              <a:rPr sz="1050">
                <a:solidFill>
                  <a:srgbClr val="0C1408"/>
                </a:solidFill>
                <a:latin typeface="Arial"/>
              </a:rPr>
              <a:t>wallet and card payments</a:t>
            </a:r>
          </a:p>
        </p:txBody>
      </p:sp>
      <p:sp>
        <p:nvSpPr>
          <p:cNvPr id="14" name="Rectangle 13"/>
          <p:cNvSpPr/>
          <p:nvPr/>
        </p:nvSpPr>
        <p:spPr>
          <a:xfrm>
            <a:off x="6126480" y="4617720"/>
            <a:ext cx="1600200" cy="868680"/>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Takaful operator</a:t>
            </a:r>
          </a:p>
          <a:p>
            <a:pPr algn="ctr">
              <a:lnSpc>
                <a:spcPct val="102000"/>
              </a:lnSpc>
              <a:spcBef>
                <a:spcPts val="200"/>
              </a:spcBef>
            </a:pPr>
            <a:r>
              <a:rPr sz="1050">
                <a:solidFill>
                  <a:srgbClr val="0C1408"/>
                </a:solidFill>
                <a:latin typeface="Arial"/>
              </a:rPr>
              <a:t>pays claims</a:t>
            </a:r>
          </a:p>
        </p:txBody>
      </p:sp>
      <p:sp>
        <p:nvSpPr>
          <p:cNvPr id="15" name="Rectangle 14"/>
          <p:cNvSpPr/>
          <p:nvPr/>
        </p:nvSpPr>
        <p:spPr>
          <a:xfrm>
            <a:off x="2926080" y="5029200"/>
            <a:ext cx="2514600" cy="640080"/>
          </a:xfrm>
          <a:prstGeom prst="rect">
            <a:avLst/>
          </a:prstGeom>
          <a:solidFill>
            <a:srgbClr val="FFFFFF"/>
          </a:solidFill>
          <a:ln w="15875">
            <a:solidFill>
              <a:srgbClr val="0C1408"/>
            </a:solidFill>
          </a:ln>
        </p:spPr>
        <p:txBody>
          <a:bodyPr rtlCol="0" anchor="ctr"/>
          <a:lstStyle/>
          <a:p>
            <a:pPr algn="ctr"/>
          </a:p>
        </p:txBody>
      </p:sp>
      <p:pic>
        <p:nvPicPr>
          <p:cNvPr id="16" name="Picture 15" descr="tasdeeq_wide.png"/>
          <p:cNvPicPr>
            <a:picLocks noChangeAspect="1"/>
          </p:cNvPicPr>
          <p:nvPr/>
        </p:nvPicPr>
        <p:blipFill>
          <a:blip r:embed="rId4"/>
          <a:stretch>
            <a:fillRect/>
          </a:stretch>
        </p:blipFill>
        <p:spPr>
          <a:xfrm>
            <a:off x="3765630" y="5135308"/>
            <a:ext cx="835500" cy="237744"/>
          </a:xfrm>
          <a:prstGeom prst="rect">
            <a:avLst/>
          </a:prstGeom>
        </p:spPr>
      </p:pic>
      <p:sp>
        <p:nvSpPr>
          <p:cNvPr id="17" name="TextBox 16"/>
          <p:cNvSpPr txBox="1"/>
          <p:nvPr/>
        </p:nvSpPr>
        <p:spPr>
          <a:xfrm>
            <a:off x="2999232" y="5400484"/>
            <a:ext cx="2368296" cy="208407"/>
          </a:xfrm>
          <a:prstGeom prst="rect">
            <a:avLst/>
          </a:prstGeom>
          <a:noFill/>
        </p:spPr>
        <p:txBody>
          <a:bodyPr wrap="square" lIns="0" tIns="0" rIns="0" bIns="0">
            <a:spAutoFit/>
          </a:bodyPr>
          <a:lstStyle/>
          <a:p>
            <a:pPr algn="ctr">
              <a:lnSpc>
                <a:spcPct val="102000"/>
              </a:lnSpc>
            </a:pPr>
            <a:r>
              <a:rPr sz="1050">
                <a:solidFill>
                  <a:srgbClr val="0C1408"/>
                </a:solidFill>
                <a:latin typeface="Arial"/>
              </a:rPr>
              <a:t>licensed credit bureau</a:t>
            </a:r>
          </a:p>
        </p:txBody>
      </p:sp>
      <p:cxnSp>
        <p:nvCxnSpPr>
          <p:cNvPr id="18" name="Connector 17"/>
          <p:cNvCxnSpPr/>
          <p:nvPr/>
        </p:nvCxnSpPr>
        <p:spPr>
          <a:xfrm>
            <a:off x="2148840" y="3502152"/>
            <a:ext cx="777240" cy="0"/>
          </a:xfrm>
          <a:prstGeom prst="line">
            <a:avLst/>
          </a:prstGeom>
          <a:ln w="38100">
            <a:solidFill>
              <a:srgbClr val="2A78D6"/>
            </a:solidFill>
            <a:tailEnd type="triangle" w="med" len="med"/>
          </a:ln>
        </p:spPr>
      </p:cxnSp>
      <p:sp>
        <p:nvSpPr>
          <p:cNvPr id="19" name="TextBox 18"/>
          <p:cNvSpPr txBox="1"/>
          <p:nvPr/>
        </p:nvSpPr>
        <p:spPr>
          <a:xfrm>
            <a:off x="2148840" y="3227832"/>
            <a:ext cx="777240" cy="246888"/>
          </a:xfrm>
          <a:prstGeom prst="rect">
            <a:avLst/>
          </a:prstGeom>
          <a:noFill/>
        </p:spPr>
        <p:txBody>
          <a:bodyPr wrap="square" lIns="0" tIns="0" rIns="0" bIns="0">
            <a:spAutoFit/>
          </a:bodyPr>
          <a:lstStyle/>
          <a:p>
            <a:pPr algn="ctr">
              <a:lnSpc>
                <a:spcPct val="100000"/>
              </a:lnSpc>
            </a:pPr>
            <a:r>
              <a:rPr sz="950">
                <a:solidFill>
                  <a:srgbClr val="0C1408"/>
                </a:solidFill>
                <a:latin typeface="Arial"/>
              </a:rPr>
              <a:t>instalments</a:t>
            </a:r>
          </a:p>
        </p:txBody>
      </p:sp>
      <p:cxnSp>
        <p:nvCxnSpPr>
          <p:cNvPr id="20" name="Connector 19"/>
          <p:cNvCxnSpPr/>
          <p:nvPr/>
        </p:nvCxnSpPr>
        <p:spPr>
          <a:xfrm flipH="1">
            <a:off x="2148840" y="3931920"/>
            <a:ext cx="777240" cy="0"/>
          </a:xfrm>
          <a:prstGeom prst="line">
            <a:avLst/>
          </a:prstGeom>
          <a:ln w="38100">
            <a:solidFill>
              <a:srgbClr val="2A78D6"/>
            </a:solidFill>
            <a:tailEnd type="triangle" w="med" len="med"/>
          </a:ln>
        </p:spPr>
      </p:cxnSp>
      <p:sp>
        <p:nvSpPr>
          <p:cNvPr id="21" name="TextBox 20"/>
          <p:cNvSpPr txBox="1"/>
          <p:nvPr/>
        </p:nvSpPr>
        <p:spPr>
          <a:xfrm>
            <a:off x="2148840" y="3968496"/>
            <a:ext cx="777240" cy="246888"/>
          </a:xfrm>
          <a:prstGeom prst="rect">
            <a:avLst/>
          </a:prstGeom>
          <a:noFill/>
        </p:spPr>
        <p:txBody>
          <a:bodyPr wrap="square" lIns="0" tIns="0" rIns="0" bIns="0">
            <a:spAutoFit/>
          </a:bodyPr>
          <a:lstStyle/>
          <a:p>
            <a:pPr algn="ctr">
              <a:lnSpc>
                <a:spcPct val="100000"/>
              </a:lnSpc>
            </a:pPr>
            <a:r>
              <a:rPr sz="950">
                <a:solidFill>
                  <a:srgbClr val="0C1408"/>
                </a:solidFill>
                <a:latin typeface="Arial"/>
              </a:rPr>
              <a:t>pots</a:t>
            </a:r>
          </a:p>
        </p:txBody>
      </p:sp>
      <p:cxnSp>
        <p:nvCxnSpPr>
          <p:cNvPr id="22" name="Connector 21"/>
          <p:cNvCxnSpPr/>
          <p:nvPr/>
        </p:nvCxnSpPr>
        <p:spPr>
          <a:xfrm flipH="1">
            <a:off x="5440680" y="3721608"/>
            <a:ext cx="685800" cy="0"/>
          </a:xfrm>
          <a:prstGeom prst="line">
            <a:avLst/>
          </a:prstGeom>
          <a:ln w="38100">
            <a:solidFill>
              <a:srgbClr val="2A78D6"/>
            </a:solidFill>
            <a:tailEnd type="triangle" w="med" len="med"/>
          </a:ln>
        </p:spPr>
      </p:cxnSp>
      <p:sp>
        <p:nvSpPr>
          <p:cNvPr id="23" name="TextBox 22"/>
          <p:cNvSpPr txBox="1"/>
          <p:nvPr/>
        </p:nvSpPr>
        <p:spPr>
          <a:xfrm>
            <a:off x="5440680" y="3438144"/>
            <a:ext cx="731520" cy="246888"/>
          </a:xfrm>
          <a:prstGeom prst="rect">
            <a:avLst/>
          </a:prstGeom>
          <a:noFill/>
        </p:spPr>
        <p:txBody>
          <a:bodyPr wrap="square" lIns="0" tIns="0" rIns="0" bIns="0">
            <a:spAutoFit/>
          </a:bodyPr>
          <a:lstStyle/>
          <a:p>
            <a:pPr algn="ctr">
              <a:lnSpc>
                <a:spcPct val="100000"/>
              </a:lnSpc>
            </a:pPr>
            <a:r>
              <a:rPr sz="950">
                <a:solidFill>
                  <a:srgbClr val="0C1408"/>
                </a:solidFill>
                <a:latin typeface="Arial"/>
              </a:rPr>
              <a:t>payments</a:t>
            </a:r>
          </a:p>
        </p:txBody>
      </p:sp>
      <p:sp>
        <p:nvSpPr>
          <p:cNvPr id="24" name="Freeform 23"/>
          <p:cNvSpPr/>
          <p:nvPr/>
        </p:nvSpPr>
        <p:spPr>
          <a:xfrm>
            <a:off x="5440680" y="4023360"/>
            <a:ext cx="685800" cy="1024128"/>
          </a:xfrm>
          <a:custGeom>
            <a:avLst/>
            <a:gdLst/>
            <a:ahLst/>
            <a:cxnLst/>
            <a:rect l="l" t="t" r="r" b="b"/>
            <a:pathLst>
              <a:path w="685800" h="1024128">
                <a:moveTo>
                  <a:pt x="0" y="0"/>
                </a:moveTo>
                <a:lnTo>
                  <a:pt x="365760" y="0"/>
                </a:lnTo>
                <a:lnTo>
                  <a:pt x="365760" y="1024128"/>
                </a:lnTo>
                <a:lnTo>
                  <a:pt x="685800" y="1024128"/>
                </a:lnTo>
              </a:path>
            </a:pathLst>
          </a:custGeom>
          <a:noFill/>
          <a:ln w="38100">
            <a:solidFill>
              <a:srgbClr val="2A78D6"/>
            </a:solidFill>
            <a:tailEnd type="triangle" w="med" len="med"/>
          </a:ln>
        </p:spPr>
        <p:txBody>
          <a:bodyPr rtlCol="0" anchor="ctr"/>
          <a:lstStyle/>
          <a:p>
            <a:pPr algn="ctr"/>
          </a:p>
        </p:txBody>
      </p:sp>
      <p:sp>
        <p:nvSpPr>
          <p:cNvPr id="25" name="TextBox 24"/>
          <p:cNvSpPr txBox="1"/>
          <p:nvPr/>
        </p:nvSpPr>
        <p:spPr>
          <a:xfrm>
            <a:off x="4846320" y="4224528"/>
            <a:ext cx="914400" cy="246888"/>
          </a:xfrm>
          <a:prstGeom prst="rect">
            <a:avLst/>
          </a:prstGeom>
          <a:noFill/>
        </p:spPr>
        <p:txBody>
          <a:bodyPr wrap="square" lIns="0" tIns="0" rIns="0" bIns="0">
            <a:spAutoFit/>
          </a:bodyPr>
          <a:lstStyle/>
          <a:p>
            <a:pPr algn="r">
              <a:lnSpc>
                <a:spcPct val="100000"/>
              </a:lnSpc>
            </a:pPr>
            <a:r>
              <a:rPr sz="950">
                <a:solidFill>
                  <a:srgbClr val="0C1408"/>
                </a:solidFill>
                <a:latin typeface="Arial"/>
              </a:rPr>
              <a:t>contributions</a:t>
            </a:r>
          </a:p>
        </p:txBody>
      </p:sp>
      <p:sp>
        <p:nvSpPr>
          <p:cNvPr id="26" name="Freeform 25"/>
          <p:cNvSpPr/>
          <p:nvPr/>
        </p:nvSpPr>
        <p:spPr>
          <a:xfrm>
            <a:off x="1348740" y="4160520"/>
            <a:ext cx="5573268" cy="1691640"/>
          </a:xfrm>
          <a:custGeom>
            <a:avLst/>
            <a:gdLst/>
            <a:ahLst/>
            <a:cxnLst/>
            <a:rect l="l" t="t" r="r" b="b"/>
            <a:pathLst>
              <a:path w="5573268" h="1691640">
                <a:moveTo>
                  <a:pt x="5573268" y="1325880"/>
                </a:moveTo>
                <a:lnTo>
                  <a:pt x="5573268" y="1691640"/>
                </a:lnTo>
                <a:lnTo>
                  <a:pt x="0" y="1691640"/>
                </a:lnTo>
                <a:lnTo>
                  <a:pt x="0" y="0"/>
                </a:lnTo>
              </a:path>
            </a:pathLst>
          </a:custGeom>
          <a:noFill/>
          <a:ln w="38100">
            <a:solidFill>
              <a:srgbClr val="2A78D6"/>
            </a:solidFill>
            <a:tailEnd type="triangle" w="med" len="med"/>
          </a:ln>
        </p:spPr>
        <p:txBody>
          <a:bodyPr rtlCol="0" anchor="ctr"/>
          <a:lstStyle/>
          <a:p>
            <a:pPr algn="ctr"/>
          </a:p>
        </p:txBody>
      </p:sp>
      <p:sp>
        <p:nvSpPr>
          <p:cNvPr id="27" name="TextBox 26"/>
          <p:cNvSpPr txBox="1"/>
          <p:nvPr/>
        </p:nvSpPr>
        <p:spPr>
          <a:xfrm>
            <a:off x="1463040" y="5321808"/>
            <a:ext cx="1371600" cy="457200"/>
          </a:xfrm>
          <a:prstGeom prst="rect">
            <a:avLst/>
          </a:prstGeom>
          <a:noFill/>
        </p:spPr>
        <p:txBody>
          <a:bodyPr wrap="square" lIns="0" tIns="0" rIns="0" bIns="0">
            <a:spAutoFit/>
          </a:bodyPr>
          <a:lstStyle/>
          <a:p>
            <a:pPr>
              <a:lnSpc>
                <a:spcPct val="100000"/>
              </a:lnSpc>
            </a:pPr>
            <a:r>
              <a:rPr sz="950">
                <a:solidFill>
                  <a:srgbClr val="0C1408"/>
                </a:solidFill>
                <a:latin typeface="Arial"/>
              </a:rPr>
              <a:t>claims paid to members left short</a:t>
            </a:r>
          </a:p>
        </p:txBody>
      </p:sp>
      <p:cxnSp>
        <p:nvCxnSpPr>
          <p:cNvPr id="28" name="Connector 27"/>
          <p:cNvCxnSpPr/>
          <p:nvPr/>
        </p:nvCxnSpPr>
        <p:spPr>
          <a:xfrm>
            <a:off x="3886200" y="2377440"/>
            <a:ext cx="0" cy="914400"/>
          </a:xfrm>
          <a:prstGeom prst="line">
            <a:avLst/>
          </a:prstGeom>
          <a:ln w="19050">
            <a:solidFill>
              <a:srgbClr val="41801A"/>
            </a:solidFill>
            <a:tailEnd type="triangle" w="med" len="med"/>
          </a:ln>
        </p:spPr>
      </p:cxnSp>
      <p:sp>
        <p:nvSpPr>
          <p:cNvPr id="29" name="TextBox 28"/>
          <p:cNvSpPr txBox="1"/>
          <p:nvPr/>
        </p:nvSpPr>
        <p:spPr>
          <a:xfrm>
            <a:off x="2194560" y="2670048"/>
            <a:ext cx="1645920" cy="246888"/>
          </a:xfrm>
          <a:prstGeom prst="rect">
            <a:avLst/>
          </a:prstGeom>
          <a:noFill/>
        </p:spPr>
        <p:txBody>
          <a:bodyPr wrap="square" lIns="0" tIns="0" rIns="0" bIns="0">
            <a:spAutoFit/>
          </a:bodyPr>
          <a:lstStyle/>
          <a:p>
            <a:pPr algn="r">
              <a:lnSpc>
                <a:spcPct val="100000"/>
              </a:lnSpc>
            </a:pPr>
            <a:r>
              <a:rPr sz="950">
                <a:solidFill>
                  <a:srgbClr val="0C1408"/>
                </a:solidFill>
                <a:latin typeface="Arial"/>
              </a:rPr>
              <a:t>instructions</a:t>
            </a:r>
          </a:p>
        </p:txBody>
      </p:sp>
      <p:cxnSp>
        <p:nvCxnSpPr>
          <p:cNvPr id="30" name="Connector 29"/>
          <p:cNvCxnSpPr/>
          <p:nvPr/>
        </p:nvCxnSpPr>
        <p:spPr>
          <a:xfrm flipV="1">
            <a:off x="4526280" y="2377440"/>
            <a:ext cx="0" cy="914400"/>
          </a:xfrm>
          <a:prstGeom prst="line">
            <a:avLst/>
          </a:prstGeom>
          <a:ln w="15875">
            <a:solidFill>
              <a:srgbClr val="4B5563"/>
            </a:solidFill>
            <a:prstDash val="dash"/>
            <a:tailEnd type="triangle" w="med" len="med"/>
          </a:ln>
        </p:spPr>
      </p:cxnSp>
      <p:sp>
        <p:nvSpPr>
          <p:cNvPr id="31" name="TextBox 30"/>
          <p:cNvSpPr txBox="1"/>
          <p:nvPr/>
        </p:nvSpPr>
        <p:spPr>
          <a:xfrm>
            <a:off x="4590288" y="2670048"/>
            <a:ext cx="1371600" cy="246888"/>
          </a:xfrm>
          <a:prstGeom prst="rect">
            <a:avLst/>
          </a:prstGeom>
          <a:noFill/>
        </p:spPr>
        <p:txBody>
          <a:bodyPr wrap="square" lIns="0" tIns="0" rIns="0" bIns="0">
            <a:spAutoFit/>
          </a:bodyPr>
          <a:lstStyle/>
          <a:p>
            <a:pPr>
              <a:lnSpc>
                <a:spcPct val="100000"/>
              </a:lnSpc>
            </a:pPr>
            <a:r>
              <a:rPr sz="950">
                <a:solidFill>
                  <a:srgbClr val="0C1408"/>
                </a:solidFill>
                <a:latin typeface="Arial"/>
              </a:rPr>
              <a:t>confirmations</a:t>
            </a:r>
          </a:p>
        </p:txBody>
      </p:sp>
      <p:sp>
        <p:nvSpPr>
          <p:cNvPr id="32" name="Freeform 31"/>
          <p:cNvSpPr/>
          <p:nvPr/>
        </p:nvSpPr>
        <p:spPr>
          <a:xfrm>
            <a:off x="5440680" y="1984248"/>
            <a:ext cx="1481328" cy="1307592"/>
          </a:xfrm>
          <a:custGeom>
            <a:avLst/>
            <a:gdLst/>
            <a:ahLst/>
            <a:cxnLst/>
            <a:rect l="l" t="t" r="r" b="b"/>
            <a:pathLst>
              <a:path w="1481328" h="1307592">
                <a:moveTo>
                  <a:pt x="0" y="0"/>
                </a:moveTo>
                <a:lnTo>
                  <a:pt x="1481328" y="0"/>
                </a:lnTo>
                <a:lnTo>
                  <a:pt x="1481328" y="1307592"/>
                </a:lnTo>
              </a:path>
            </a:pathLst>
          </a:custGeom>
          <a:noFill/>
          <a:ln w="19050">
            <a:solidFill>
              <a:srgbClr val="41801A"/>
            </a:solidFill>
            <a:tailEnd type="triangle" w="med" len="med"/>
          </a:ln>
        </p:spPr>
        <p:txBody>
          <a:bodyPr rtlCol="0" anchor="ctr"/>
          <a:lstStyle/>
          <a:p>
            <a:pPr algn="ctr"/>
          </a:p>
        </p:txBody>
      </p:sp>
      <p:sp>
        <p:nvSpPr>
          <p:cNvPr id="33" name="TextBox 32"/>
          <p:cNvSpPr txBox="1"/>
          <p:nvPr/>
        </p:nvSpPr>
        <p:spPr>
          <a:xfrm>
            <a:off x="5532120" y="1719072"/>
            <a:ext cx="1417320" cy="246888"/>
          </a:xfrm>
          <a:prstGeom prst="rect">
            <a:avLst/>
          </a:prstGeom>
          <a:noFill/>
        </p:spPr>
        <p:txBody>
          <a:bodyPr wrap="square" lIns="0" tIns="0" rIns="0" bIns="0">
            <a:spAutoFit/>
          </a:bodyPr>
          <a:lstStyle/>
          <a:p>
            <a:pPr>
              <a:lnSpc>
                <a:spcPct val="100000"/>
              </a:lnSpc>
            </a:pPr>
            <a:r>
              <a:rPr sz="950">
                <a:solidFill>
                  <a:srgbClr val="0C1408"/>
                </a:solidFill>
                <a:latin typeface="Arial"/>
              </a:rPr>
              <a:t>payment requests</a:t>
            </a:r>
          </a:p>
        </p:txBody>
      </p:sp>
      <p:sp>
        <p:nvSpPr>
          <p:cNvPr id="34" name="Freeform 33"/>
          <p:cNvSpPr/>
          <p:nvPr/>
        </p:nvSpPr>
        <p:spPr>
          <a:xfrm>
            <a:off x="1348740" y="1984248"/>
            <a:ext cx="1577340" cy="1307592"/>
          </a:xfrm>
          <a:custGeom>
            <a:avLst/>
            <a:gdLst/>
            <a:ahLst/>
            <a:cxnLst/>
            <a:rect l="l" t="t" r="r" b="b"/>
            <a:pathLst>
              <a:path w="1577340" h="1307592">
                <a:moveTo>
                  <a:pt x="0" y="1307592"/>
                </a:moveTo>
                <a:lnTo>
                  <a:pt x="0" y="0"/>
                </a:lnTo>
                <a:lnTo>
                  <a:pt x="1577340" y="0"/>
                </a:lnTo>
              </a:path>
            </a:pathLst>
          </a:custGeom>
          <a:noFill/>
          <a:ln w="19050">
            <a:solidFill>
              <a:srgbClr val="41801A"/>
            </a:solidFill>
            <a:tailEnd type="triangle" w="med" len="med"/>
          </a:ln>
        </p:spPr>
        <p:txBody>
          <a:bodyPr rtlCol="0" anchor="ctr"/>
          <a:lstStyle/>
          <a:p>
            <a:pPr algn="ctr"/>
          </a:p>
        </p:txBody>
      </p:sp>
      <p:sp>
        <p:nvSpPr>
          <p:cNvPr id="35" name="TextBox 34"/>
          <p:cNvSpPr txBox="1"/>
          <p:nvPr/>
        </p:nvSpPr>
        <p:spPr>
          <a:xfrm>
            <a:off x="548640" y="1700784"/>
            <a:ext cx="2331720" cy="246888"/>
          </a:xfrm>
          <a:prstGeom prst="rect">
            <a:avLst/>
          </a:prstGeom>
          <a:noFill/>
        </p:spPr>
        <p:txBody>
          <a:bodyPr wrap="square" lIns="0" tIns="0" rIns="0" bIns="0">
            <a:spAutoFit/>
          </a:bodyPr>
          <a:lstStyle/>
          <a:p>
            <a:pPr algn="r">
              <a:lnSpc>
                <a:spcPct val="100000"/>
              </a:lnSpc>
            </a:pPr>
            <a:r>
              <a:rPr sz="950">
                <a:solidFill>
                  <a:srgbClr val="0C1408"/>
                </a:solidFill>
                <a:latin typeface="Arial"/>
              </a:rPr>
              <a:t>join, consent, pay in the app</a:t>
            </a:r>
          </a:p>
        </p:txBody>
      </p:sp>
      <p:cxnSp>
        <p:nvCxnSpPr>
          <p:cNvPr id="36" name="Connector 35"/>
          <p:cNvCxnSpPr/>
          <p:nvPr/>
        </p:nvCxnSpPr>
        <p:spPr>
          <a:xfrm>
            <a:off x="4178808" y="4160520"/>
            <a:ext cx="0" cy="868680"/>
          </a:xfrm>
          <a:prstGeom prst="line">
            <a:avLst/>
          </a:prstGeom>
          <a:ln w="15875">
            <a:solidFill>
              <a:srgbClr val="4B5563"/>
            </a:solidFill>
            <a:prstDash val="dash"/>
            <a:tailEnd type="triangle" w="med" len="med"/>
          </a:ln>
        </p:spPr>
      </p:cxnSp>
      <p:sp>
        <p:nvSpPr>
          <p:cNvPr id="37" name="TextBox 36"/>
          <p:cNvSpPr txBox="1"/>
          <p:nvPr/>
        </p:nvSpPr>
        <p:spPr>
          <a:xfrm>
            <a:off x="4242816" y="4434840"/>
            <a:ext cx="1463040" cy="246888"/>
          </a:xfrm>
          <a:prstGeom prst="rect">
            <a:avLst/>
          </a:prstGeom>
          <a:noFill/>
        </p:spPr>
        <p:txBody>
          <a:bodyPr wrap="square" lIns="0" tIns="0" rIns="0" bIns="0">
            <a:spAutoFit/>
          </a:bodyPr>
          <a:lstStyle/>
          <a:p>
            <a:pPr>
              <a:lnSpc>
                <a:spcPct val="100000"/>
              </a:lnSpc>
            </a:pPr>
            <a:r>
              <a:rPr sz="950">
                <a:solidFill>
                  <a:srgbClr val="0C1408"/>
                </a:solidFill>
                <a:latin typeface="Arial"/>
              </a:rPr>
              <a:t>payment records</a:t>
            </a:r>
          </a:p>
        </p:txBody>
      </p:sp>
      <p:pic>
        <p:nvPicPr>
          <p:cNvPr id="38" name="Picture 37" descr="lockup-520.png"/>
          <p:cNvPicPr>
            <a:picLocks noChangeAspect="1"/>
          </p:cNvPicPr>
          <p:nvPr/>
        </p:nvPicPr>
        <p:blipFill>
          <a:blip r:embed="rId2"/>
          <a:stretch>
            <a:fillRect/>
          </a:stretch>
        </p:blipFill>
        <p:spPr>
          <a:xfrm>
            <a:off x="8229600" y="1572768"/>
            <a:ext cx="902825" cy="274320"/>
          </a:xfrm>
          <a:prstGeom prst="rect">
            <a:avLst/>
          </a:prstGeom>
        </p:spPr>
      </p:pic>
      <p:sp>
        <p:nvSpPr>
          <p:cNvPr id="39" name="TextBox 38"/>
          <p:cNvSpPr txBox="1"/>
          <p:nvPr/>
        </p:nvSpPr>
        <p:spPr>
          <a:xfrm>
            <a:off x="8247888" y="1901952"/>
            <a:ext cx="3413455" cy="1234440"/>
          </a:xfrm>
          <a:prstGeom prst="rect">
            <a:avLst/>
          </a:prstGeom>
          <a:noFill/>
        </p:spPr>
        <p:txBody>
          <a:bodyPr wrap="square" lIns="0" tIns="0" rIns="0" bIns="0">
            <a:spAutoFit/>
          </a:bodyPr>
          <a:lstStyle/>
          <a:p>
            <a:pPr marL="173736" indent="-173736">
              <a:lnSpc>
                <a:spcPct val="100000"/>
              </a:lnSpc>
              <a:spcAft>
                <a:spcPts val="150"/>
              </a:spcAft>
              <a:buClr>
                <a:srgbClr val="6DC72A"/>
              </a:buClr>
              <a:buSzPct val="70000"/>
              <a:buFont typeface="Arial"/>
              <a:buChar char="■"/>
            </a:pPr>
            <a:r>
              <a:rPr sz="1100">
                <a:solidFill>
                  <a:srgbClr val="0C1408"/>
                </a:solidFill>
                <a:latin typeface="Arial"/>
              </a:rPr>
              <a:t>Circle rules and turn order</a:t>
            </a:r>
          </a:p>
          <a:p>
            <a:pPr marL="173736" indent="-173736">
              <a:lnSpc>
                <a:spcPct val="100000"/>
              </a:lnSpc>
              <a:spcAft>
                <a:spcPts val="150"/>
              </a:spcAft>
              <a:buClr>
                <a:srgbClr val="6DC72A"/>
              </a:buClr>
              <a:buSzPct val="70000"/>
              <a:buFont typeface="Arial"/>
              <a:buChar char="■"/>
            </a:pPr>
            <a:r>
              <a:rPr sz="1100">
                <a:solidFill>
                  <a:srgbClr val="0C1408"/>
                </a:solidFill>
                <a:latin typeface="Arial"/>
              </a:rPr>
              <a:t>Member checks and credit score</a:t>
            </a:r>
          </a:p>
          <a:p>
            <a:pPr marL="173736" indent="-173736">
              <a:lnSpc>
                <a:spcPct val="100000"/>
              </a:lnSpc>
              <a:spcAft>
                <a:spcPts val="150"/>
              </a:spcAft>
              <a:buClr>
                <a:srgbClr val="6DC72A"/>
              </a:buClr>
              <a:buSzPct val="70000"/>
              <a:buFont typeface="Arial"/>
              <a:buChar char="■"/>
            </a:pPr>
            <a:r>
              <a:rPr sz="1100">
                <a:solidFill>
                  <a:srgbClr val="0C1408"/>
                </a:solidFill>
                <a:latin typeface="Arial"/>
              </a:rPr>
              <a:t>Reminders, records and receipts</a:t>
            </a:r>
          </a:p>
          <a:p>
            <a:pPr marL="173736" indent="-173736">
              <a:lnSpc>
                <a:spcPct val="100000"/>
              </a:lnSpc>
              <a:spcAft>
                <a:spcPts val="150"/>
              </a:spcAft>
              <a:buClr>
                <a:srgbClr val="6DC72A"/>
              </a:buClr>
              <a:buSzPct val="70000"/>
              <a:buFont typeface="Arial"/>
              <a:buChar char="■"/>
            </a:pPr>
            <a:r>
              <a:rPr sz="1100">
                <a:solidFill>
                  <a:srgbClr val="0C1408"/>
                </a:solidFill>
                <a:latin typeface="Arial"/>
              </a:rPr>
              <a:t>Late charges and exits</a:t>
            </a:r>
          </a:p>
          <a:p>
            <a:pPr marL="173736" indent="-173736">
              <a:lnSpc>
                <a:spcPct val="100000"/>
              </a:lnSpc>
              <a:spcAft>
                <a:spcPts val="150"/>
              </a:spcAft>
              <a:buClr>
                <a:srgbClr val="6DC72A"/>
              </a:buClr>
              <a:buSzPct val="70000"/>
              <a:buFont typeface="Arial"/>
              <a:buChar char="■"/>
            </a:pPr>
            <a:r>
              <a:rPr sz="1100">
                <a:solidFill>
                  <a:srgbClr val="0C1408"/>
                </a:solidFill>
                <a:latin typeface="Arial"/>
              </a:rPr>
              <a:t>Data for credit reporting</a:t>
            </a:r>
          </a:p>
        </p:txBody>
      </p:sp>
      <p:pic>
        <p:nvPicPr>
          <p:cNvPr id="40" name="Picture 39" descr="raqami_logo.png"/>
          <p:cNvPicPr>
            <a:picLocks noChangeAspect="1"/>
          </p:cNvPicPr>
          <p:nvPr/>
        </p:nvPicPr>
        <p:blipFill>
          <a:blip r:embed="rId3"/>
          <a:stretch>
            <a:fillRect/>
          </a:stretch>
        </p:blipFill>
        <p:spPr>
          <a:xfrm>
            <a:off x="8229600" y="3342132"/>
            <a:ext cx="1136198" cy="420624"/>
          </a:xfrm>
          <a:prstGeom prst="rect">
            <a:avLst/>
          </a:prstGeom>
        </p:spPr>
      </p:pic>
      <p:sp>
        <p:nvSpPr>
          <p:cNvPr id="41" name="TextBox 40"/>
          <p:cNvSpPr txBox="1"/>
          <p:nvPr/>
        </p:nvSpPr>
        <p:spPr>
          <a:xfrm>
            <a:off x="8247888" y="3817620"/>
            <a:ext cx="3413455" cy="1234440"/>
          </a:xfrm>
          <a:prstGeom prst="rect">
            <a:avLst/>
          </a:prstGeom>
          <a:noFill/>
        </p:spPr>
        <p:txBody>
          <a:bodyPr wrap="square" lIns="0" tIns="0" rIns="0" bIns="0">
            <a:spAutoFit/>
          </a:bodyPr>
          <a:lstStyle/>
          <a:p>
            <a:pPr marL="173736" indent="-173736">
              <a:lnSpc>
                <a:spcPct val="100000"/>
              </a:lnSpc>
              <a:spcAft>
                <a:spcPts val="150"/>
              </a:spcAft>
              <a:buClr>
                <a:srgbClr val="573F99"/>
              </a:buClr>
              <a:buSzPct val="70000"/>
              <a:buFont typeface="Arial"/>
              <a:buChar char="■"/>
            </a:pPr>
            <a:r>
              <a:rPr sz="1100">
                <a:solidFill>
                  <a:srgbClr val="0C1408"/>
                </a:solidFill>
                <a:latin typeface="Arial"/>
              </a:rPr>
              <a:t>Customer due diligence and accounts</a:t>
            </a:r>
          </a:p>
          <a:p>
            <a:pPr marL="173736" indent="-173736">
              <a:lnSpc>
                <a:spcPct val="100000"/>
              </a:lnSpc>
              <a:spcAft>
                <a:spcPts val="150"/>
              </a:spcAft>
              <a:buClr>
                <a:srgbClr val="573F99"/>
              </a:buClr>
              <a:buSzPct val="70000"/>
              <a:buFont typeface="Arial"/>
              <a:buChar char="■"/>
            </a:pPr>
            <a:r>
              <a:rPr sz="1100">
                <a:solidFill>
                  <a:srgbClr val="0C1408"/>
                </a:solidFill>
                <a:latin typeface="Arial"/>
              </a:rPr>
              <a:t>Standing instruction and collection</a:t>
            </a:r>
          </a:p>
          <a:p>
            <a:pPr marL="173736" indent="-173736">
              <a:lnSpc>
                <a:spcPct val="100000"/>
              </a:lnSpc>
              <a:spcAft>
                <a:spcPts val="150"/>
              </a:spcAft>
              <a:buClr>
                <a:srgbClr val="573F99"/>
              </a:buClr>
              <a:buSzPct val="70000"/>
              <a:buFont typeface="Arial"/>
              <a:buChar char="■"/>
            </a:pPr>
            <a:r>
              <a:rPr sz="1100">
                <a:solidFill>
                  <a:srgbClr val="0C1408"/>
                </a:solidFill>
                <a:latin typeface="Arial"/>
              </a:rPr>
              <a:t>Holding balances, paying profit</a:t>
            </a:r>
          </a:p>
          <a:p>
            <a:pPr marL="173736" indent="-173736">
              <a:lnSpc>
                <a:spcPct val="100000"/>
              </a:lnSpc>
              <a:spcAft>
                <a:spcPts val="150"/>
              </a:spcAft>
              <a:buClr>
                <a:srgbClr val="573F99"/>
              </a:buClr>
              <a:buSzPct val="70000"/>
              <a:buFont typeface="Arial"/>
              <a:buChar char="■"/>
            </a:pPr>
            <a:r>
              <a:rPr sz="1100">
                <a:solidFill>
                  <a:srgbClr val="0C1408"/>
                </a:solidFill>
                <a:latin typeface="Arial"/>
              </a:rPr>
              <a:t>Payouts to collectors</a:t>
            </a:r>
          </a:p>
          <a:p>
            <a:pPr marL="173736" indent="-173736">
              <a:lnSpc>
                <a:spcPct val="100000"/>
              </a:lnSpc>
              <a:spcAft>
                <a:spcPts val="150"/>
              </a:spcAft>
              <a:buClr>
                <a:srgbClr val="573F99"/>
              </a:buClr>
              <a:buSzPct val="70000"/>
              <a:buFont typeface="Arial"/>
              <a:buChar char="■"/>
            </a:pPr>
            <a:r>
              <a:rPr sz="1100">
                <a:solidFill>
                  <a:srgbClr val="0C1408"/>
                </a:solidFill>
                <a:latin typeface="Arial"/>
              </a:rPr>
              <a:t>Collecting the fee</a:t>
            </a:r>
          </a:p>
        </p:txBody>
      </p:sp>
      <p:cxnSp>
        <p:nvCxnSpPr>
          <p:cNvPr id="42" name="Connector 41"/>
          <p:cNvCxnSpPr/>
          <p:nvPr/>
        </p:nvCxnSpPr>
        <p:spPr>
          <a:xfrm>
            <a:off x="548640" y="6153912"/>
            <a:ext cx="384048" cy="0"/>
          </a:xfrm>
          <a:prstGeom prst="line">
            <a:avLst/>
          </a:prstGeom>
          <a:ln w="38100">
            <a:solidFill>
              <a:srgbClr val="2A78D6"/>
            </a:solidFill>
            <a:tailEnd type="triangle" w="med" len="med"/>
          </a:ln>
        </p:spPr>
      </p:cxnSp>
      <p:sp>
        <p:nvSpPr>
          <p:cNvPr id="43" name="TextBox 42"/>
          <p:cNvSpPr txBox="1"/>
          <p:nvPr/>
        </p:nvSpPr>
        <p:spPr>
          <a:xfrm>
            <a:off x="1005840" y="6035040"/>
            <a:ext cx="438912" cy="237744"/>
          </a:xfrm>
          <a:prstGeom prst="rect">
            <a:avLst/>
          </a:prstGeom>
          <a:noFill/>
        </p:spPr>
        <p:txBody>
          <a:bodyPr wrap="square" lIns="0" tIns="0" rIns="0" bIns="0">
            <a:spAutoFit/>
          </a:bodyPr>
          <a:lstStyle/>
          <a:p>
            <a:pPr>
              <a:lnSpc>
                <a:spcPct val="105000"/>
              </a:lnSpc>
            </a:pPr>
            <a:r>
              <a:rPr sz="1000">
                <a:solidFill>
                  <a:srgbClr val="0C1408"/>
                </a:solidFill>
                <a:latin typeface="Arial"/>
              </a:rPr>
              <a:t>money</a:t>
            </a:r>
          </a:p>
        </p:txBody>
      </p:sp>
      <p:cxnSp>
        <p:nvCxnSpPr>
          <p:cNvPr id="44" name="Connector 43"/>
          <p:cNvCxnSpPr/>
          <p:nvPr/>
        </p:nvCxnSpPr>
        <p:spPr>
          <a:xfrm>
            <a:off x="1737360" y="6153912"/>
            <a:ext cx="384048" cy="0"/>
          </a:xfrm>
          <a:prstGeom prst="line">
            <a:avLst/>
          </a:prstGeom>
          <a:ln w="19050">
            <a:solidFill>
              <a:srgbClr val="41801A"/>
            </a:solidFill>
            <a:tailEnd type="triangle" w="med" len="med"/>
          </a:ln>
        </p:spPr>
      </p:cxnSp>
      <p:sp>
        <p:nvSpPr>
          <p:cNvPr id="45" name="TextBox 44"/>
          <p:cNvSpPr txBox="1"/>
          <p:nvPr/>
        </p:nvSpPr>
        <p:spPr>
          <a:xfrm>
            <a:off x="2194560" y="6035040"/>
            <a:ext cx="833933" cy="237744"/>
          </a:xfrm>
          <a:prstGeom prst="rect">
            <a:avLst/>
          </a:prstGeom>
          <a:noFill/>
        </p:spPr>
        <p:txBody>
          <a:bodyPr wrap="square" lIns="0" tIns="0" rIns="0" bIns="0">
            <a:spAutoFit/>
          </a:bodyPr>
          <a:lstStyle/>
          <a:p>
            <a:pPr>
              <a:lnSpc>
                <a:spcPct val="105000"/>
              </a:lnSpc>
            </a:pPr>
            <a:r>
              <a:rPr sz="1000">
                <a:solidFill>
                  <a:srgbClr val="0C1408"/>
                </a:solidFill>
                <a:latin typeface="Arial"/>
              </a:rPr>
              <a:t>instruction</a:t>
            </a:r>
          </a:p>
        </p:txBody>
      </p:sp>
      <p:cxnSp>
        <p:nvCxnSpPr>
          <p:cNvPr id="46" name="Connector 45"/>
          <p:cNvCxnSpPr/>
          <p:nvPr/>
        </p:nvCxnSpPr>
        <p:spPr>
          <a:xfrm>
            <a:off x="3321101" y="6153912"/>
            <a:ext cx="384048" cy="0"/>
          </a:xfrm>
          <a:prstGeom prst="line">
            <a:avLst/>
          </a:prstGeom>
          <a:ln w="15875">
            <a:solidFill>
              <a:srgbClr val="4B5563"/>
            </a:solidFill>
            <a:prstDash val="dash"/>
            <a:tailEnd type="triangle" w="med" len="med"/>
          </a:ln>
        </p:spPr>
      </p:cxnSp>
      <p:sp>
        <p:nvSpPr>
          <p:cNvPr id="47" name="TextBox 46"/>
          <p:cNvSpPr txBox="1"/>
          <p:nvPr/>
        </p:nvSpPr>
        <p:spPr>
          <a:xfrm>
            <a:off x="3778301" y="6035040"/>
            <a:ext cx="1558138" cy="237744"/>
          </a:xfrm>
          <a:prstGeom prst="rect">
            <a:avLst/>
          </a:prstGeom>
          <a:noFill/>
        </p:spPr>
        <p:txBody>
          <a:bodyPr wrap="square" lIns="0" tIns="0" rIns="0" bIns="0">
            <a:spAutoFit/>
          </a:bodyPr>
          <a:lstStyle/>
          <a:p>
            <a:pPr>
              <a:lnSpc>
                <a:spcPct val="105000"/>
              </a:lnSpc>
            </a:pPr>
            <a:r>
              <a:rPr sz="1000">
                <a:solidFill>
                  <a:srgbClr val="0C1408"/>
                </a:solidFill>
                <a:latin typeface="Arial"/>
              </a:rPr>
              <a:t>confirmation or record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Monthly Cycle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One month of a circle of 12 members at Rs 10,000, step by step</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6</a:t>
            </a:r>
          </a:p>
        </p:txBody>
      </p:sp>
      <p:sp>
        <p:nvSpPr>
          <p:cNvPr id="6" name="Rectangle 5"/>
          <p:cNvSpPr/>
          <p:nvPr/>
        </p:nvSpPr>
        <p:spPr>
          <a:xfrm>
            <a:off x="539496" y="1517904"/>
            <a:ext cx="1572768" cy="548640"/>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50" b="1">
                <a:solidFill>
                  <a:srgbClr val="0C1408"/>
                </a:solidFill>
                <a:latin typeface="Arial"/>
              </a:rPr>
              <a:t>Member</a:t>
            </a:r>
          </a:p>
          <a:p>
            <a:pPr algn="ctr">
              <a:lnSpc>
                <a:spcPct val="102000"/>
              </a:lnSpc>
              <a:spcBef>
                <a:spcPts val="200"/>
              </a:spcBef>
            </a:pPr>
            <a:r>
              <a:rPr sz="900">
                <a:solidFill>
                  <a:srgbClr val="0C1408"/>
                </a:solidFill>
                <a:latin typeface="Arial"/>
              </a:rPr>
              <a:t>own Raqami account</a:t>
            </a:r>
          </a:p>
        </p:txBody>
      </p:sp>
      <p:cxnSp>
        <p:nvCxnSpPr>
          <p:cNvPr id="7" name="Connector 6"/>
          <p:cNvCxnSpPr/>
          <p:nvPr/>
        </p:nvCxnSpPr>
        <p:spPr>
          <a:xfrm>
            <a:off x="1325880" y="2066544"/>
            <a:ext cx="0" cy="3785616"/>
          </a:xfrm>
          <a:prstGeom prst="line">
            <a:avLst/>
          </a:prstGeom>
          <a:ln w="12700">
            <a:solidFill>
              <a:srgbClr val="D1D5DB"/>
            </a:solidFill>
            <a:prstDash val="dash"/>
          </a:ln>
        </p:spPr>
      </p:cxnSp>
      <p:sp>
        <p:nvSpPr>
          <p:cNvPr id="8" name="Rectangle 7"/>
          <p:cNvSpPr/>
          <p:nvPr/>
        </p:nvSpPr>
        <p:spPr>
          <a:xfrm>
            <a:off x="2551176" y="1517904"/>
            <a:ext cx="1572768" cy="548640"/>
          </a:xfrm>
          <a:prstGeom prst="rect">
            <a:avLst/>
          </a:prstGeom>
          <a:solidFill>
            <a:srgbClr val="F3FCE7"/>
          </a:solidFill>
          <a:ln w="15875">
            <a:solidFill>
              <a:srgbClr val="6DC72A"/>
            </a:solidFill>
          </a:ln>
        </p:spPr>
        <p:txBody>
          <a:bodyPr rtlCol="0" anchor="ctr"/>
          <a:lstStyle/>
          <a:p>
            <a:pPr algn="ctr"/>
          </a:p>
        </p:txBody>
      </p:sp>
      <p:pic>
        <p:nvPicPr>
          <p:cNvPr id="9" name="Picture 8" descr="lockup-520.png"/>
          <p:cNvPicPr>
            <a:picLocks noChangeAspect="1"/>
          </p:cNvPicPr>
          <p:nvPr/>
        </p:nvPicPr>
        <p:blipFill>
          <a:blip r:embed="rId2"/>
          <a:stretch>
            <a:fillRect/>
          </a:stretch>
        </p:blipFill>
        <p:spPr>
          <a:xfrm>
            <a:off x="2931289" y="1585341"/>
            <a:ext cx="812543" cy="246888"/>
          </a:xfrm>
          <a:prstGeom prst="rect">
            <a:avLst/>
          </a:prstGeom>
        </p:spPr>
      </p:pic>
      <p:sp>
        <p:nvSpPr>
          <p:cNvPr id="10" name="TextBox 9"/>
          <p:cNvSpPr txBox="1"/>
          <p:nvPr/>
        </p:nvSpPr>
        <p:spPr>
          <a:xfrm>
            <a:off x="2624328" y="1859661"/>
            <a:ext cx="1426464" cy="185166"/>
          </a:xfrm>
          <a:prstGeom prst="rect">
            <a:avLst/>
          </a:prstGeom>
          <a:noFill/>
        </p:spPr>
        <p:txBody>
          <a:bodyPr wrap="square" lIns="0" tIns="0" rIns="0" bIns="0">
            <a:spAutoFit/>
          </a:bodyPr>
          <a:lstStyle/>
          <a:p>
            <a:pPr algn="ctr">
              <a:lnSpc>
                <a:spcPct val="102000"/>
              </a:lnSpc>
            </a:pPr>
            <a:r>
              <a:rPr sz="900">
                <a:solidFill>
                  <a:srgbClr val="0C1408"/>
                </a:solidFill>
                <a:latin typeface="Arial"/>
              </a:rPr>
              <a:t>application, records</a:t>
            </a:r>
          </a:p>
        </p:txBody>
      </p:sp>
      <p:cxnSp>
        <p:nvCxnSpPr>
          <p:cNvPr id="11" name="Connector 10"/>
          <p:cNvCxnSpPr/>
          <p:nvPr/>
        </p:nvCxnSpPr>
        <p:spPr>
          <a:xfrm>
            <a:off x="3337560" y="2066544"/>
            <a:ext cx="0" cy="3785616"/>
          </a:xfrm>
          <a:prstGeom prst="line">
            <a:avLst/>
          </a:prstGeom>
          <a:ln w="12700">
            <a:solidFill>
              <a:srgbClr val="D1D5DB"/>
            </a:solidFill>
            <a:prstDash val="dash"/>
          </a:ln>
        </p:spPr>
      </p:cxnSp>
      <p:sp>
        <p:nvSpPr>
          <p:cNvPr id="12" name="Rectangle 11"/>
          <p:cNvSpPr/>
          <p:nvPr/>
        </p:nvSpPr>
        <p:spPr>
          <a:xfrm>
            <a:off x="4608576" y="1517904"/>
            <a:ext cx="1572768" cy="548640"/>
          </a:xfrm>
          <a:prstGeom prst="rect">
            <a:avLst/>
          </a:prstGeom>
          <a:solidFill>
            <a:srgbClr val="F4F1FB"/>
          </a:solidFill>
          <a:ln w="15875">
            <a:solidFill>
              <a:srgbClr val="573F99"/>
            </a:solidFill>
          </a:ln>
        </p:spPr>
        <p:txBody>
          <a:bodyPr rtlCol="0" anchor="ctr"/>
          <a:lstStyle/>
          <a:p>
            <a:pPr algn="ctr"/>
          </a:p>
        </p:txBody>
      </p:sp>
      <p:pic>
        <p:nvPicPr>
          <p:cNvPr id="13" name="Picture 12" descr="raqami_logo.png"/>
          <p:cNvPicPr>
            <a:picLocks noChangeAspect="1"/>
          </p:cNvPicPr>
          <p:nvPr/>
        </p:nvPicPr>
        <p:blipFill>
          <a:blip r:embed="rId3"/>
          <a:stretch>
            <a:fillRect/>
          </a:stretch>
        </p:blipFill>
        <p:spPr>
          <a:xfrm>
            <a:off x="5061511" y="1585341"/>
            <a:ext cx="666899" cy="246888"/>
          </a:xfrm>
          <a:prstGeom prst="rect">
            <a:avLst/>
          </a:prstGeom>
        </p:spPr>
      </p:pic>
      <p:sp>
        <p:nvSpPr>
          <p:cNvPr id="14" name="TextBox 13"/>
          <p:cNvSpPr txBox="1"/>
          <p:nvPr/>
        </p:nvSpPr>
        <p:spPr>
          <a:xfrm>
            <a:off x="4681728" y="1859661"/>
            <a:ext cx="1426464" cy="185166"/>
          </a:xfrm>
          <a:prstGeom prst="rect">
            <a:avLst/>
          </a:prstGeom>
          <a:noFill/>
        </p:spPr>
        <p:txBody>
          <a:bodyPr wrap="square" lIns="0" tIns="0" rIns="0" bIns="0">
            <a:spAutoFit/>
          </a:bodyPr>
          <a:lstStyle/>
          <a:p>
            <a:pPr algn="ctr">
              <a:lnSpc>
                <a:spcPct val="102000"/>
              </a:lnSpc>
            </a:pPr>
            <a:r>
              <a:rPr sz="900">
                <a:solidFill>
                  <a:srgbClr val="0C1408"/>
                </a:solidFill>
                <a:latin typeface="Arial"/>
              </a:rPr>
              <a:t>accounts, payments</a:t>
            </a:r>
          </a:p>
        </p:txBody>
      </p:sp>
      <p:cxnSp>
        <p:nvCxnSpPr>
          <p:cNvPr id="15" name="Connector 14"/>
          <p:cNvCxnSpPr/>
          <p:nvPr/>
        </p:nvCxnSpPr>
        <p:spPr>
          <a:xfrm>
            <a:off x="5394960" y="2066544"/>
            <a:ext cx="0" cy="3785616"/>
          </a:xfrm>
          <a:prstGeom prst="line">
            <a:avLst/>
          </a:prstGeom>
          <a:ln w="12700">
            <a:solidFill>
              <a:srgbClr val="D1D5DB"/>
            </a:solidFill>
            <a:prstDash val="dash"/>
          </a:ln>
        </p:spPr>
      </p:cxnSp>
      <p:sp>
        <p:nvSpPr>
          <p:cNvPr id="16" name="Rectangle 15"/>
          <p:cNvSpPr/>
          <p:nvPr/>
        </p:nvSpPr>
        <p:spPr>
          <a:xfrm>
            <a:off x="6574536" y="1517904"/>
            <a:ext cx="1572768" cy="548640"/>
          </a:xfrm>
          <a:prstGeom prst="rect">
            <a:avLst/>
          </a:prstGeom>
          <a:solidFill>
            <a:srgbClr val="FFFFFF"/>
          </a:solidFill>
          <a:ln w="15875">
            <a:solidFill>
              <a:srgbClr val="0C1408"/>
            </a:solidFill>
          </a:ln>
        </p:spPr>
        <p:txBody>
          <a:bodyPr rtlCol="0" anchor="ctr"/>
          <a:lstStyle/>
          <a:p>
            <a:pPr algn="ctr"/>
          </a:p>
        </p:txBody>
      </p:sp>
      <p:pic>
        <p:nvPicPr>
          <p:cNvPr id="17" name="Picture 16" descr="tasdeeq_word.png"/>
          <p:cNvPicPr>
            <a:picLocks noChangeAspect="1"/>
          </p:cNvPicPr>
          <p:nvPr/>
        </p:nvPicPr>
        <p:blipFill>
          <a:blip r:embed="rId4"/>
          <a:stretch>
            <a:fillRect/>
          </a:stretch>
        </p:blipFill>
        <p:spPr>
          <a:xfrm>
            <a:off x="6891833" y="1585341"/>
            <a:ext cx="938174" cy="246888"/>
          </a:xfrm>
          <a:prstGeom prst="rect">
            <a:avLst/>
          </a:prstGeom>
        </p:spPr>
      </p:pic>
      <p:sp>
        <p:nvSpPr>
          <p:cNvPr id="18" name="TextBox 17"/>
          <p:cNvSpPr txBox="1"/>
          <p:nvPr/>
        </p:nvSpPr>
        <p:spPr>
          <a:xfrm>
            <a:off x="6647688" y="1859661"/>
            <a:ext cx="1426464" cy="185166"/>
          </a:xfrm>
          <a:prstGeom prst="rect">
            <a:avLst/>
          </a:prstGeom>
          <a:noFill/>
        </p:spPr>
        <p:txBody>
          <a:bodyPr wrap="square" lIns="0" tIns="0" rIns="0" bIns="0">
            <a:spAutoFit/>
          </a:bodyPr>
          <a:lstStyle/>
          <a:p>
            <a:pPr algn="ctr">
              <a:lnSpc>
                <a:spcPct val="102000"/>
              </a:lnSpc>
            </a:pPr>
            <a:r>
              <a:rPr sz="900">
                <a:solidFill>
                  <a:srgbClr val="0C1408"/>
                </a:solidFill>
                <a:latin typeface="Arial"/>
              </a:rPr>
              <a:t>credit bureau</a:t>
            </a:r>
          </a:p>
        </p:txBody>
      </p:sp>
      <p:cxnSp>
        <p:nvCxnSpPr>
          <p:cNvPr id="19" name="Connector 18"/>
          <p:cNvCxnSpPr/>
          <p:nvPr/>
        </p:nvCxnSpPr>
        <p:spPr>
          <a:xfrm>
            <a:off x="7360920" y="2066544"/>
            <a:ext cx="0" cy="3785616"/>
          </a:xfrm>
          <a:prstGeom prst="line">
            <a:avLst/>
          </a:prstGeom>
          <a:ln w="12700">
            <a:solidFill>
              <a:srgbClr val="D1D5DB"/>
            </a:solidFill>
            <a:prstDash val="dash"/>
          </a:ln>
        </p:spPr>
      </p:cxnSp>
      <p:sp>
        <p:nvSpPr>
          <p:cNvPr id="20" name="TextBox 19"/>
          <p:cNvSpPr txBox="1"/>
          <p:nvPr/>
        </p:nvSpPr>
        <p:spPr>
          <a:xfrm>
            <a:off x="548640" y="2286000"/>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1</a:t>
            </a:r>
          </a:p>
        </p:txBody>
      </p:sp>
      <p:cxnSp>
        <p:nvCxnSpPr>
          <p:cNvPr id="21" name="Connector 20"/>
          <p:cNvCxnSpPr/>
          <p:nvPr/>
        </p:nvCxnSpPr>
        <p:spPr>
          <a:xfrm>
            <a:off x="1325880" y="2468880"/>
            <a:ext cx="2011680" cy="0"/>
          </a:xfrm>
          <a:prstGeom prst="line">
            <a:avLst/>
          </a:prstGeom>
          <a:ln w="19050">
            <a:solidFill>
              <a:srgbClr val="41801A"/>
            </a:solidFill>
            <a:tailEnd type="triangle" w="med" len="med"/>
          </a:ln>
        </p:spPr>
      </p:cxnSp>
      <p:sp>
        <p:nvSpPr>
          <p:cNvPr id="22" name="TextBox 21"/>
          <p:cNvSpPr txBox="1"/>
          <p:nvPr/>
        </p:nvSpPr>
        <p:spPr>
          <a:xfrm>
            <a:off x="1380744" y="2212848"/>
            <a:ext cx="190195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joins and consents</a:t>
            </a:r>
          </a:p>
        </p:txBody>
      </p:sp>
      <p:sp>
        <p:nvSpPr>
          <p:cNvPr id="23" name="TextBox 22"/>
          <p:cNvSpPr txBox="1"/>
          <p:nvPr/>
        </p:nvSpPr>
        <p:spPr>
          <a:xfrm>
            <a:off x="548640" y="2679192"/>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2</a:t>
            </a:r>
          </a:p>
        </p:txBody>
      </p:sp>
      <p:cxnSp>
        <p:nvCxnSpPr>
          <p:cNvPr id="24" name="Connector 23"/>
          <p:cNvCxnSpPr/>
          <p:nvPr/>
        </p:nvCxnSpPr>
        <p:spPr>
          <a:xfrm>
            <a:off x="3337560" y="2862072"/>
            <a:ext cx="2057400" cy="0"/>
          </a:xfrm>
          <a:prstGeom prst="line">
            <a:avLst/>
          </a:prstGeom>
          <a:ln w="19050">
            <a:solidFill>
              <a:srgbClr val="41801A"/>
            </a:solidFill>
            <a:tailEnd type="triangle" w="med" len="med"/>
          </a:ln>
        </p:spPr>
      </p:cxnSp>
      <p:sp>
        <p:nvSpPr>
          <p:cNvPr id="25" name="TextBox 24"/>
          <p:cNvSpPr txBox="1"/>
          <p:nvPr/>
        </p:nvSpPr>
        <p:spPr>
          <a:xfrm>
            <a:off x="3392424" y="2606040"/>
            <a:ext cx="194767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registers the instruction</a:t>
            </a:r>
          </a:p>
        </p:txBody>
      </p:sp>
      <p:sp>
        <p:nvSpPr>
          <p:cNvPr id="26" name="TextBox 25"/>
          <p:cNvSpPr txBox="1"/>
          <p:nvPr/>
        </p:nvSpPr>
        <p:spPr>
          <a:xfrm>
            <a:off x="548640" y="3072384"/>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3</a:t>
            </a:r>
          </a:p>
        </p:txBody>
      </p:sp>
      <p:cxnSp>
        <p:nvCxnSpPr>
          <p:cNvPr id="27" name="Connector 26"/>
          <p:cNvCxnSpPr/>
          <p:nvPr/>
        </p:nvCxnSpPr>
        <p:spPr>
          <a:xfrm flipH="1">
            <a:off x="1325880" y="3255264"/>
            <a:ext cx="2011680" cy="0"/>
          </a:xfrm>
          <a:prstGeom prst="line">
            <a:avLst/>
          </a:prstGeom>
          <a:ln w="19050">
            <a:solidFill>
              <a:srgbClr val="41801A"/>
            </a:solidFill>
            <a:tailEnd type="triangle" w="med" len="med"/>
          </a:ln>
        </p:spPr>
      </p:cxnSp>
      <p:sp>
        <p:nvSpPr>
          <p:cNvPr id="28" name="TextBox 27"/>
          <p:cNvSpPr txBox="1"/>
          <p:nvPr/>
        </p:nvSpPr>
        <p:spPr>
          <a:xfrm>
            <a:off x="1380744" y="2999232"/>
            <a:ext cx="190195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reminder before payday</a:t>
            </a:r>
          </a:p>
        </p:txBody>
      </p:sp>
      <p:sp>
        <p:nvSpPr>
          <p:cNvPr id="29" name="TextBox 28"/>
          <p:cNvSpPr txBox="1"/>
          <p:nvPr/>
        </p:nvSpPr>
        <p:spPr>
          <a:xfrm>
            <a:off x="548640" y="3465576"/>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4</a:t>
            </a:r>
          </a:p>
        </p:txBody>
      </p:sp>
      <p:cxnSp>
        <p:nvCxnSpPr>
          <p:cNvPr id="30" name="Connector 29"/>
          <p:cNvCxnSpPr/>
          <p:nvPr/>
        </p:nvCxnSpPr>
        <p:spPr>
          <a:xfrm>
            <a:off x="3337560" y="3648456"/>
            <a:ext cx="2057400" cy="0"/>
          </a:xfrm>
          <a:prstGeom prst="line">
            <a:avLst/>
          </a:prstGeom>
          <a:ln w="19050">
            <a:solidFill>
              <a:srgbClr val="41801A"/>
            </a:solidFill>
            <a:tailEnd type="triangle" w="med" len="med"/>
          </a:ln>
        </p:spPr>
      </p:cxnSp>
      <p:sp>
        <p:nvSpPr>
          <p:cNvPr id="31" name="TextBox 30"/>
          <p:cNvSpPr txBox="1"/>
          <p:nvPr/>
        </p:nvSpPr>
        <p:spPr>
          <a:xfrm>
            <a:off x="3392424" y="3392424"/>
            <a:ext cx="194767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payday: collect instalments</a:t>
            </a:r>
          </a:p>
        </p:txBody>
      </p:sp>
      <p:sp>
        <p:nvSpPr>
          <p:cNvPr id="32" name="TextBox 31"/>
          <p:cNvSpPr txBox="1"/>
          <p:nvPr/>
        </p:nvSpPr>
        <p:spPr>
          <a:xfrm>
            <a:off x="548640" y="3858768"/>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5</a:t>
            </a:r>
          </a:p>
        </p:txBody>
      </p:sp>
      <p:cxnSp>
        <p:nvCxnSpPr>
          <p:cNvPr id="33" name="Connector 32"/>
          <p:cNvCxnSpPr/>
          <p:nvPr/>
        </p:nvCxnSpPr>
        <p:spPr>
          <a:xfrm>
            <a:off x="1325880" y="4041648"/>
            <a:ext cx="4069080" cy="0"/>
          </a:xfrm>
          <a:prstGeom prst="line">
            <a:avLst/>
          </a:prstGeom>
          <a:ln w="38100">
            <a:solidFill>
              <a:srgbClr val="2A78D6"/>
            </a:solidFill>
            <a:tailEnd type="triangle" w="med" len="med"/>
          </a:ln>
        </p:spPr>
      </p:cxnSp>
      <p:sp>
        <p:nvSpPr>
          <p:cNvPr id="34" name="TextBox 33"/>
          <p:cNvSpPr txBox="1"/>
          <p:nvPr/>
        </p:nvSpPr>
        <p:spPr>
          <a:xfrm>
            <a:off x="1380744" y="3785616"/>
            <a:ext cx="395935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Rs 10,000 into the committee account</a:t>
            </a:r>
          </a:p>
        </p:txBody>
      </p:sp>
      <p:sp>
        <p:nvSpPr>
          <p:cNvPr id="35" name="TextBox 34"/>
          <p:cNvSpPr txBox="1"/>
          <p:nvPr/>
        </p:nvSpPr>
        <p:spPr>
          <a:xfrm>
            <a:off x="548640" y="4251960"/>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6</a:t>
            </a:r>
          </a:p>
        </p:txBody>
      </p:sp>
      <p:cxnSp>
        <p:nvCxnSpPr>
          <p:cNvPr id="36" name="Connector 35"/>
          <p:cNvCxnSpPr/>
          <p:nvPr/>
        </p:nvCxnSpPr>
        <p:spPr>
          <a:xfrm>
            <a:off x="3337560" y="4434840"/>
            <a:ext cx="2057400" cy="0"/>
          </a:xfrm>
          <a:prstGeom prst="line">
            <a:avLst/>
          </a:prstGeom>
          <a:ln w="19050">
            <a:solidFill>
              <a:srgbClr val="41801A"/>
            </a:solidFill>
            <a:tailEnd type="triangle" w="med" len="med"/>
          </a:ln>
        </p:spPr>
      </p:cxnSp>
      <p:sp>
        <p:nvSpPr>
          <p:cNvPr id="37" name="TextBox 36"/>
          <p:cNvSpPr txBox="1"/>
          <p:nvPr/>
        </p:nvSpPr>
        <p:spPr>
          <a:xfrm>
            <a:off x="3392424" y="4178808"/>
            <a:ext cx="194767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the 8th: pay the collector</a:t>
            </a:r>
          </a:p>
        </p:txBody>
      </p:sp>
      <p:sp>
        <p:nvSpPr>
          <p:cNvPr id="38" name="TextBox 37"/>
          <p:cNvSpPr txBox="1"/>
          <p:nvPr/>
        </p:nvSpPr>
        <p:spPr>
          <a:xfrm>
            <a:off x="548640" y="4645152"/>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7</a:t>
            </a:r>
          </a:p>
        </p:txBody>
      </p:sp>
      <p:cxnSp>
        <p:nvCxnSpPr>
          <p:cNvPr id="39" name="Connector 38"/>
          <p:cNvCxnSpPr/>
          <p:nvPr/>
        </p:nvCxnSpPr>
        <p:spPr>
          <a:xfrm flipH="1">
            <a:off x="1325880" y="4828032"/>
            <a:ext cx="4069080" cy="0"/>
          </a:xfrm>
          <a:prstGeom prst="line">
            <a:avLst/>
          </a:prstGeom>
          <a:ln w="38100">
            <a:solidFill>
              <a:srgbClr val="2A78D6"/>
            </a:solidFill>
            <a:tailEnd type="triangle" w="med" len="med"/>
          </a:ln>
        </p:spPr>
      </p:cxnSp>
      <p:sp>
        <p:nvSpPr>
          <p:cNvPr id="40" name="TextBox 39"/>
          <p:cNvSpPr txBox="1"/>
          <p:nvPr/>
        </p:nvSpPr>
        <p:spPr>
          <a:xfrm>
            <a:off x="1380744" y="4572000"/>
            <a:ext cx="395935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Rs 120,000 to the collector, same day</a:t>
            </a:r>
          </a:p>
        </p:txBody>
      </p:sp>
      <p:sp>
        <p:nvSpPr>
          <p:cNvPr id="41" name="TextBox 40"/>
          <p:cNvSpPr txBox="1"/>
          <p:nvPr/>
        </p:nvSpPr>
        <p:spPr>
          <a:xfrm>
            <a:off x="548640" y="5038344"/>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8</a:t>
            </a:r>
          </a:p>
        </p:txBody>
      </p:sp>
      <p:cxnSp>
        <p:nvCxnSpPr>
          <p:cNvPr id="42" name="Connector 41"/>
          <p:cNvCxnSpPr/>
          <p:nvPr/>
        </p:nvCxnSpPr>
        <p:spPr>
          <a:xfrm flipH="1">
            <a:off x="3337560" y="5221224"/>
            <a:ext cx="2057400" cy="0"/>
          </a:xfrm>
          <a:prstGeom prst="line">
            <a:avLst/>
          </a:prstGeom>
          <a:ln w="15875">
            <a:solidFill>
              <a:srgbClr val="4B5563"/>
            </a:solidFill>
            <a:prstDash val="dash"/>
            <a:tailEnd type="triangle" w="med" len="med"/>
          </a:ln>
        </p:spPr>
      </p:cxnSp>
      <p:sp>
        <p:nvSpPr>
          <p:cNvPr id="43" name="TextBox 42"/>
          <p:cNvSpPr txBox="1"/>
          <p:nvPr/>
        </p:nvSpPr>
        <p:spPr>
          <a:xfrm>
            <a:off x="3392424" y="4965192"/>
            <a:ext cx="194767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confirmed; record updates</a:t>
            </a:r>
          </a:p>
        </p:txBody>
      </p:sp>
      <p:sp>
        <p:nvSpPr>
          <p:cNvPr id="44" name="TextBox 43"/>
          <p:cNvSpPr txBox="1"/>
          <p:nvPr/>
        </p:nvSpPr>
        <p:spPr>
          <a:xfrm>
            <a:off x="548640" y="5431536"/>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9</a:t>
            </a:r>
          </a:p>
        </p:txBody>
      </p:sp>
      <p:cxnSp>
        <p:nvCxnSpPr>
          <p:cNvPr id="45" name="Connector 44"/>
          <p:cNvCxnSpPr/>
          <p:nvPr/>
        </p:nvCxnSpPr>
        <p:spPr>
          <a:xfrm>
            <a:off x="5394960" y="5614416"/>
            <a:ext cx="1965960" cy="0"/>
          </a:xfrm>
          <a:prstGeom prst="line">
            <a:avLst/>
          </a:prstGeom>
          <a:ln w="15875">
            <a:solidFill>
              <a:srgbClr val="4B5563"/>
            </a:solidFill>
            <a:prstDash val="dash"/>
            <a:tailEnd type="triangle" w="med" len="med"/>
          </a:ln>
        </p:spPr>
      </p:cxnSp>
      <p:sp>
        <p:nvSpPr>
          <p:cNvPr id="46" name="TextBox 45"/>
          <p:cNvSpPr txBox="1"/>
          <p:nvPr/>
        </p:nvSpPr>
        <p:spPr>
          <a:xfrm>
            <a:off x="5449824" y="5358384"/>
            <a:ext cx="185623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payment records</a:t>
            </a:r>
          </a:p>
        </p:txBody>
      </p:sp>
      <p:sp>
        <p:nvSpPr>
          <p:cNvPr id="47" name="Rectangle 46"/>
          <p:cNvSpPr/>
          <p:nvPr/>
        </p:nvSpPr>
        <p:spPr>
          <a:xfrm>
            <a:off x="5559552" y="3712464"/>
            <a:ext cx="1645920" cy="457200"/>
          </a:xfrm>
          <a:prstGeom prst="rect">
            <a:avLst/>
          </a:prstGeom>
          <a:solidFill>
            <a:srgbClr val="FCEBC2"/>
          </a:solidFill>
          <a:ln>
            <a:noFill/>
          </a:ln>
        </p:spPr>
        <p:txBody>
          <a:bodyPr rtlCol="0" anchor="ctr" lIns="36576" tIns="27432" rIns="36576" bIns="27432" wrap="square"/>
          <a:lstStyle/>
          <a:p>
            <a:pPr algn="ctr">
              <a:lnSpc>
                <a:spcPct val="105000"/>
              </a:lnSpc>
            </a:pPr>
            <a:r>
              <a:rPr sz="850">
                <a:solidFill>
                  <a:srgbClr val="0C1408"/>
                </a:solidFill>
                <a:latin typeface="Arial"/>
              </a:rPr>
              <a:t>if a debit fails: a retry each morning, five at most</a:t>
            </a:r>
          </a:p>
        </p:txBody>
      </p:sp>
      <p:cxnSp>
        <p:nvCxnSpPr>
          <p:cNvPr id="48" name="Connector 47"/>
          <p:cNvCxnSpPr/>
          <p:nvPr/>
        </p:nvCxnSpPr>
        <p:spPr>
          <a:xfrm>
            <a:off x="548640" y="6135624"/>
            <a:ext cx="384048" cy="0"/>
          </a:xfrm>
          <a:prstGeom prst="line">
            <a:avLst/>
          </a:prstGeom>
          <a:ln w="38100">
            <a:solidFill>
              <a:srgbClr val="2A78D6"/>
            </a:solidFill>
            <a:tailEnd type="triangle" w="med" len="med"/>
          </a:ln>
        </p:spPr>
      </p:cxnSp>
      <p:sp>
        <p:nvSpPr>
          <p:cNvPr id="49" name="TextBox 48"/>
          <p:cNvSpPr txBox="1"/>
          <p:nvPr/>
        </p:nvSpPr>
        <p:spPr>
          <a:xfrm>
            <a:off x="1005840" y="6016752"/>
            <a:ext cx="438912" cy="237744"/>
          </a:xfrm>
          <a:prstGeom prst="rect">
            <a:avLst/>
          </a:prstGeom>
          <a:noFill/>
        </p:spPr>
        <p:txBody>
          <a:bodyPr wrap="square" lIns="0" tIns="0" rIns="0" bIns="0">
            <a:spAutoFit/>
          </a:bodyPr>
          <a:lstStyle/>
          <a:p>
            <a:pPr>
              <a:lnSpc>
                <a:spcPct val="105000"/>
              </a:lnSpc>
            </a:pPr>
            <a:r>
              <a:rPr sz="1000">
                <a:solidFill>
                  <a:srgbClr val="0C1408"/>
                </a:solidFill>
                <a:latin typeface="Arial"/>
              </a:rPr>
              <a:t>money</a:t>
            </a:r>
          </a:p>
        </p:txBody>
      </p:sp>
      <p:cxnSp>
        <p:nvCxnSpPr>
          <p:cNvPr id="50" name="Connector 49"/>
          <p:cNvCxnSpPr/>
          <p:nvPr/>
        </p:nvCxnSpPr>
        <p:spPr>
          <a:xfrm>
            <a:off x="1737360" y="6135624"/>
            <a:ext cx="384048" cy="0"/>
          </a:xfrm>
          <a:prstGeom prst="line">
            <a:avLst/>
          </a:prstGeom>
          <a:ln w="19050">
            <a:solidFill>
              <a:srgbClr val="41801A"/>
            </a:solidFill>
            <a:tailEnd type="triangle" w="med" len="med"/>
          </a:ln>
        </p:spPr>
      </p:cxnSp>
      <p:sp>
        <p:nvSpPr>
          <p:cNvPr id="51" name="TextBox 50"/>
          <p:cNvSpPr txBox="1"/>
          <p:nvPr/>
        </p:nvSpPr>
        <p:spPr>
          <a:xfrm>
            <a:off x="2194560" y="6016752"/>
            <a:ext cx="833933" cy="237744"/>
          </a:xfrm>
          <a:prstGeom prst="rect">
            <a:avLst/>
          </a:prstGeom>
          <a:noFill/>
        </p:spPr>
        <p:txBody>
          <a:bodyPr wrap="square" lIns="0" tIns="0" rIns="0" bIns="0">
            <a:spAutoFit/>
          </a:bodyPr>
          <a:lstStyle/>
          <a:p>
            <a:pPr>
              <a:lnSpc>
                <a:spcPct val="105000"/>
              </a:lnSpc>
            </a:pPr>
            <a:r>
              <a:rPr sz="1000">
                <a:solidFill>
                  <a:srgbClr val="0C1408"/>
                </a:solidFill>
                <a:latin typeface="Arial"/>
              </a:rPr>
              <a:t>instruction</a:t>
            </a:r>
          </a:p>
        </p:txBody>
      </p:sp>
      <p:cxnSp>
        <p:nvCxnSpPr>
          <p:cNvPr id="52" name="Connector 51"/>
          <p:cNvCxnSpPr/>
          <p:nvPr/>
        </p:nvCxnSpPr>
        <p:spPr>
          <a:xfrm>
            <a:off x="3321101" y="6135624"/>
            <a:ext cx="384048" cy="0"/>
          </a:xfrm>
          <a:prstGeom prst="line">
            <a:avLst/>
          </a:prstGeom>
          <a:ln w="15875">
            <a:solidFill>
              <a:srgbClr val="4B5563"/>
            </a:solidFill>
            <a:prstDash val="dash"/>
            <a:tailEnd type="triangle" w="med" len="med"/>
          </a:ln>
        </p:spPr>
      </p:cxnSp>
      <p:sp>
        <p:nvSpPr>
          <p:cNvPr id="53" name="TextBox 52"/>
          <p:cNvSpPr txBox="1"/>
          <p:nvPr/>
        </p:nvSpPr>
        <p:spPr>
          <a:xfrm>
            <a:off x="3778301" y="6016752"/>
            <a:ext cx="1558138" cy="237744"/>
          </a:xfrm>
          <a:prstGeom prst="rect">
            <a:avLst/>
          </a:prstGeom>
          <a:noFill/>
        </p:spPr>
        <p:txBody>
          <a:bodyPr wrap="square" lIns="0" tIns="0" rIns="0" bIns="0">
            <a:spAutoFit/>
          </a:bodyPr>
          <a:lstStyle/>
          <a:p>
            <a:pPr>
              <a:lnSpc>
                <a:spcPct val="105000"/>
              </a:lnSpc>
            </a:pPr>
            <a:r>
              <a:rPr sz="1000">
                <a:solidFill>
                  <a:srgbClr val="0C1408"/>
                </a:solidFill>
                <a:latin typeface="Arial"/>
              </a:rPr>
              <a:t>confirmation or record</a:t>
            </a:r>
          </a:p>
        </p:txBody>
      </p:sp>
      <p:pic>
        <p:nvPicPr>
          <p:cNvPr id="54" name="Picture 53" descr="m_mandate-framed.png"/>
          <p:cNvPicPr>
            <a:picLocks noChangeAspect="1"/>
          </p:cNvPicPr>
          <p:nvPr/>
        </p:nvPicPr>
        <p:blipFill>
          <a:blip r:embed="rId5"/>
          <a:stretch>
            <a:fillRect/>
          </a:stretch>
        </p:blipFill>
        <p:spPr>
          <a:xfrm>
            <a:off x="9374675" y="1481328"/>
            <a:ext cx="1306458" cy="2743200"/>
          </a:xfrm>
          <a:prstGeom prst="rect">
            <a:avLst/>
          </a:prstGeom>
        </p:spPr>
      </p:pic>
      <p:sp>
        <p:nvSpPr>
          <p:cNvPr id="55" name="Rectangle 54"/>
          <p:cNvSpPr/>
          <p:nvPr/>
        </p:nvSpPr>
        <p:spPr>
          <a:xfrm>
            <a:off x="8412480" y="4370832"/>
            <a:ext cx="3230575" cy="1801368"/>
          </a:xfrm>
          <a:prstGeom prst="rect">
            <a:avLst/>
          </a:prstGeom>
          <a:solidFill>
            <a:srgbClr val="F3F4F6"/>
          </a:solidFill>
          <a:ln>
            <a:noFill/>
          </a:ln>
        </p:spPr>
        <p:txBody>
          <a:bodyPr rtlCol="0" anchor="ctr"/>
          <a:lstStyle/>
          <a:p>
            <a:pPr algn="ctr"/>
          </a:p>
        </p:txBody>
      </p:sp>
      <p:sp>
        <p:nvSpPr>
          <p:cNvPr id="56" name="TextBox 55"/>
          <p:cNvSpPr txBox="1"/>
          <p:nvPr/>
        </p:nvSpPr>
        <p:spPr>
          <a:xfrm>
            <a:off x="8577072" y="4443984"/>
            <a:ext cx="2956255" cy="274320"/>
          </a:xfrm>
          <a:prstGeom prst="rect">
            <a:avLst/>
          </a:prstGeom>
          <a:noFill/>
        </p:spPr>
        <p:txBody>
          <a:bodyPr wrap="square" lIns="0" tIns="0" rIns="0" bIns="0">
            <a:spAutoFit/>
          </a:bodyPr>
          <a:lstStyle/>
          <a:p>
            <a:pPr>
              <a:lnSpc>
                <a:spcPct val="105000"/>
              </a:lnSpc>
            </a:pPr>
            <a:r>
              <a:rPr sz="1150" b="1">
                <a:solidFill>
                  <a:srgbClr val="0C1408"/>
                </a:solidFill>
                <a:latin typeface="Arial"/>
              </a:rPr>
              <a:t>Ways to pay</a:t>
            </a:r>
          </a:p>
        </p:txBody>
      </p:sp>
      <p:sp>
        <p:nvSpPr>
          <p:cNvPr id="57" name="TextBox 56"/>
          <p:cNvSpPr txBox="1"/>
          <p:nvPr/>
        </p:nvSpPr>
        <p:spPr>
          <a:xfrm>
            <a:off x="8577072" y="4736592"/>
            <a:ext cx="2956255" cy="1188720"/>
          </a:xfrm>
          <a:prstGeom prst="rect">
            <a:avLst/>
          </a:prstGeom>
          <a:noFill/>
        </p:spPr>
        <p:txBody>
          <a:bodyPr wrap="square" lIns="0" tIns="0" rIns="0" bIns="0">
            <a:spAutoFit/>
          </a:bodyPr>
          <a:lstStyle/>
          <a:p>
            <a:pPr marL="173736" indent="-173736">
              <a:lnSpc>
                <a:spcPct val="100000"/>
              </a:lnSpc>
              <a:spcAft>
                <a:spcPts val="200"/>
              </a:spcAft>
              <a:buClr>
                <a:srgbClr val="573F99"/>
              </a:buClr>
              <a:buSzPct val="70000"/>
              <a:buFont typeface="Arial"/>
              <a:buChar char="■"/>
            </a:pPr>
            <a:r>
              <a:rPr sz="1000" b="1">
                <a:solidFill>
                  <a:srgbClr val="0C1408"/>
                </a:solidFill>
                <a:latin typeface="Arial"/>
              </a:rPr>
              <a:t>Automatic debit: </a:t>
            </a:r>
            <a:r>
              <a:rPr sz="1000">
                <a:solidFill>
                  <a:srgbClr val="0C1408"/>
                </a:solidFill>
                <a:latin typeface="Arial"/>
              </a:rPr>
              <a:t>Raqami standing instruction (new), Recurring wallet merchant</a:t>
            </a:r>
          </a:p>
          <a:p>
            <a:pPr marL="173736" indent="-173736">
              <a:lnSpc>
                <a:spcPct val="100000"/>
              </a:lnSpc>
              <a:spcAft>
                <a:spcPts val="200"/>
              </a:spcAft>
              <a:buClr>
                <a:srgbClr val="573F99"/>
              </a:buClr>
              <a:buSzPct val="70000"/>
              <a:buFont typeface="Arial"/>
              <a:buChar char="■"/>
            </a:pPr>
            <a:r>
              <a:rPr sz="1000" b="1">
                <a:solidFill>
                  <a:srgbClr val="0C1408"/>
                </a:solidFill>
                <a:latin typeface="Arial"/>
              </a:rPr>
              <a:t>One-tap approval: </a:t>
            </a:r>
            <a:r>
              <a:rPr sz="1000">
                <a:solidFill>
                  <a:srgbClr val="0C1408"/>
                </a:solidFill>
                <a:latin typeface="Arial"/>
              </a:rPr>
              <a:t>card, wallet or Raast RTP</a:t>
            </a:r>
          </a:p>
          <a:p>
            <a:pPr marL="173736" indent="-173736">
              <a:lnSpc>
                <a:spcPct val="100000"/>
              </a:lnSpc>
              <a:spcAft>
                <a:spcPts val="200"/>
              </a:spcAft>
              <a:buClr>
                <a:srgbClr val="573F99"/>
              </a:buClr>
              <a:buSzPct val="70000"/>
              <a:buFont typeface="Arial"/>
              <a:buChar char="■"/>
            </a:pPr>
            <a:r>
              <a:rPr sz="1000" b="1">
                <a:solidFill>
                  <a:srgbClr val="0C1408"/>
                </a:solidFill>
                <a:latin typeface="Arial"/>
              </a:rPr>
              <a:t>Manual: </a:t>
            </a:r>
            <a:r>
              <a:rPr sz="1000">
                <a:solidFill>
                  <a:srgbClr val="0C1408"/>
                </a:solidFill>
                <a:latin typeface="Arial"/>
              </a:rPr>
              <a:t>from any account or wallet</a:t>
            </a:r>
          </a:p>
          <a:p>
            <a:pPr marL="173736" indent="-173736">
              <a:lnSpc>
                <a:spcPct val="100000"/>
              </a:lnSpc>
              <a:spcAft>
                <a:spcPts val="200"/>
              </a:spcAft>
              <a:buClr>
                <a:srgbClr val="573F99"/>
              </a:buClr>
              <a:buSzPct val="70000"/>
              <a:buFont typeface="Arial"/>
              <a:buChar char="■"/>
            </a:pPr>
            <a:r>
              <a:rPr sz="1000" b="1">
                <a:solidFill>
                  <a:srgbClr val="0C1408"/>
                </a:solidFill>
                <a:latin typeface="Arial"/>
              </a:rPr>
              <a:t>Wallets and cards: </a:t>
            </a:r>
            <a:r>
              <a:rPr sz="1000">
                <a:solidFill>
                  <a:srgbClr val="0C1408"/>
                </a:solidFill>
                <a:latin typeface="Arial"/>
              </a:rPr>
              <a:t>through a licensed PSP</a:t>
            </a:r>
          </a:p>
        </p:txBody>
      </p:sp>
      <p:sp>
        <p:nvSpPr>
          <p:cNvPr id="58" name="TextBox 57"/>
          <p:cNvSpPr txBox="1"/>
          <p:nvPr/>
        </p:nvSpPr>
        <p:spPr>
          <a:xfrm>
            <a:off x="8577072" y="5907024"/>
            <a:ext cx="2956255" cy="228600"/>
          </a:xfrm>
          <a:prstGeom prst="rect">
            <a:avLst/>
          </a:prstGeom>
          <a:noFill/>
        </p:spPr>
        <p:txBody>
          <a:bodyPr wrap="square" lIns="0" tIns="0" rIns="0" bIns="0">
            <a:spAutoFit/>
          </a:bodyPr>
          <a:lstStyle/>
          <a:p>
            <a:pPr>
              <a:lnSpc>
                <a:spcPct val="105000"/>
              </a:lnSpc>
            </a:pPr>
            <a:r>
              <a:rPr sz="900">
                <a:solidFill>
                  <a:srgbClr val="0C1408"/>
                </a:solidFill>
                <a:latin typeface="Arial"/>
              </a:rPr>
              <a:t>Detail: Appendix A2 and A3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Member Application: Joining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Choosing a circle, seeing the full cost, opening the Raqami account and consenting to payment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7</a:t>
            </a:r>
          </a:p>
        </p:txBody>
      </p:sp>
      <p:pic>
        <p:nvPicPr>
          <p:cNvPr id="6" name="Picture 5" descr="m_types-framed.png"/>
          <p:cNvPicPr>
            <a:picLocks noChangeAspect="1"/>
          </p:cNvPicPr>
          <p:nvPr/>
        </p:nvPicPr>
        <p:blipFill>
          <a:blip r:embed="rId3"/>
          <a:stretch>
            <a:fillRect/>
          </a:stretch>
        </p:blipFill>
        <p:spPr>
          <a:xfrm>
            <a:off x="999342" y="1417320"/>
            <a:ext cx="1872590" cy="3931920"/>
          </a:xfrm>
          <a:prstGeom prst="rect">
            <a:avLst/>
          </a:prstGeom>
        </p:spPr>
      </p:pic>
      <p:sp>
        <p:nvSpPr>
          <p:cNvPr id="7" name="TextBox 6"/>
          <p:cNvSpPr txBox="1"/>
          <p:nvPr/>
        </p:nvSpPr>
        <p:spPr>
          <a:xfrm>
            <a:off x="953622" y="5440680"/>
            <a:ext cx="2590724" cy="292608"/>
          </a:xfrm>
          <a:prstGeom prst="rect">
            <a:avLst/>
          </a:prstGeom>
          <a:noFill/>
        </p:spPr>
        <p:txBody>
          <a:bodyPr wrap="square" lIns="0" tIns="0" rIns="0" bIns="0">
            <a:spAutoFit/>
          </a:bodyPr>
          <a:lstStyle/>
          <a:p>
            <a:pPr>
              <a:lnSpc>
                <a:spcPct val="105000"/>
              </a:lnSpc>
            </a:pPr>
            <a:r>
              <a:rPr sz="1300" b="1">
                <a:solidFill>
                  <a:srgbClr val="3E2B73"/>
                </a:solidFill>
                <a:latin typeface="Arial"/>
              </a:rPr>
              <a:t>1   </a:t>
            </a:r>
            <a:r>
              <a:rPr sz="1300" b="1">
                <a:solidFill>
                  <a:srgbClr val="0C1408"/>
                </a:solidFill>
                <a:latin typeface="Arial"/>
              </a:rPr>
              <a:t>Choose a circle</a:t>
            </a:r>
          </a:p>
        </p:txBody>
      </p:sp>
      <p:sp>
        <p:nvSpPr>
          <p:cNvPr id="8" name="TextBox 7"/>
          <p:cNvSpPr txBox="1"/>
          <p:nvPr/>
        </p:nvSpPr>
        <p:spPr>
          <a:xfrm>
            <a:off x="953622"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The five types; Hyper is experimental.</a:t>
            </a:r>
          </a:p>
        </p:txBody>
      </p:sp>
      <p:pic>
        <p:nvPicPr>
          <p:cNvPr id="9" name="Picture 8" descr="m_join-framed.png"/>
          <p:cNvPicPr>
            <a:picLocks noChangeAspect="1"/>
          </p:cNvPicPr>
          <p:nvPr/>
        </p:nvPicPr>
        <p:blipFill>
          <a:blip r:embed="rId4"/>
          <a:stretch>
            <a:fillRect/>
          </a:stretch>
        </p:blipFill>
        <p:spPr>
          <a:xfrm>
            <a:off x="3772946" y="1417320"/>
            <a:ext cx="1872590" cy="3931920"/>
          </a:xfrm>
          <a:prstGeom prst="rect">
            <a:avLst/>
          </a:prstGeom>
        </p:spPr>
      </p:pic>
      <p:sp>
        <p:nvSpPr>
          <p:cNvPr id="10" name="TextBox 9"/>
          <p:cNvSpPr txBox="1"/>
          <p:nvPr/>
        </p:nvSpPr>
        <p:spPr>
          <a:xfrm>
            <a:off x="3727226" y="5440680"/>
            <a:ext cx="2590724" cy="292608"/>
          </a:xfrm>
          <a:prstGeom prst="rect">
            <a:avLst/>
          </a:prstGeom>
          <a:noFill/>
        </p:spPr>
        <p:txBody>
          <a:bodyPr wrap="square" lIns="0" tIns="0" rIns="0" bIns="0">
            <a:spAutoFit/>
          </a:bodyPr>
          <a:lstStyle/>
          <a:p>
            <a:pPr>
              <a:lnSpc>
                <a:spcPct val="105000"/>
              </a:lnSpc>
            </a:pPr>
            <a:r>
              <a:rPr sz="1300" b="1">
                <a:solidFill>
                  <a:srgbClr val="3E2B73"/>
                </a:solidFill>
                <a:latin typeface="Arial"/>
              </a:rPr>
              <a:t>2   </a:t>
            </a:r>
            <a:r>
              <a:rPr sz="1300" b="1">
                <a:solidFill>
                  <a:srgbClr val="0C1408"/>
                </a:solidFill>
                <a:latin typeface="Arial"/>
              </a:rPr>
              <a:t>See the full cost</a:t>
            </a:r>
          </a:p>
        </p:txBody>
      </p:sp>
      <p:sp>
        <p:nvSpPr>
          <p:cNvPr id="11" name="TextBox 10"/>
          <p:cNvSpPr txBox="1"/>
          <p:nvPr/>
        </p:nvSpPr>
        <p:spPr>
          <a:xfrm>
            <a:off x="3727226"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Shown before signing; 24 hours to withdraw.</a:t>
            </a:r>
          </a:p>
        </p:txBody>
      </p:sp>
      <p:pic>
        <p:nvPicPr>
          <p:cNvPr id="12" name="Picture 11" descr="m_open-framed.png"/>
          <p:cNvPicPr>
            <a:picLocks noChangeAspect="1"/>
          </p:cNvPicPr>
          <p:nvPr/>
        </p:nvPicPr>
        <p:blipFill>
          <a:blip r:embed="rId5"/>
          <a:stretch>
            <a:fillRect/>
          </a:stretch>
        </p:blipFill>
        <p:spPr>
          <a:xfrm>
            <a:off x="6546550" y="1417320"/>
            <a:ext cx="1872590" cy="3931920"/>
          </a:xfrm>
          <a:prstGeom prst="rect">
            <a:avLst/>
          </a:prstGeom>
        </p:spPr>
      </p:pic>
      <p:sp>
        <p:nvSpPr>
          <p:cNvPr id="13" name="TextBox 12"/>
          <p:cNvSpPr txBox="1"/>
          <p:nvPr/>
        </p:nvSpPr>
        <p:spPr>
          <a:xfrm>
            <a:off x="6500830" y="5440680"/>
            <a:ext cx="2590724" cy="292608"/>
          </a:xfrm>
          <a:prstGeom prst="rect">
            <a:avLst/>
          </a:prstGeom>
          <a:noFill/>
        </p:spPr>
        <p:txBody>
          <a:bodyPr wrap="square" lIns="0" tIns="0" rIns="0" bIns="0">
            <a:spAutoFit/>
          </a:bodyPr>
          <a:lstStyle/>
          <a:p>
            <a:pPr>
              <a:lnSpc>
                <a:spcPct val="105000"/>
              </a:lnSpc>
            </a:pPr>
            <a:r>
              <a:rPr sz="1300" b="1">
                <a:solidFill>
                  <a:srgbClr val="3E2B73"/>
                </a:solidFill>
                <a:latin typeface="Arial"/>
              </a:rPr>
              <a:t>3   </a:t>
            </a:r>
            <a:r>
              <a:rPr sz="1300" b="1">
                <a:solidFill>
                  <a:srgbClr val="0C1408"/>
                </a:solidFill>
                <a:latin typeface="Arial"/>
              </a:rPr>
              <a:t>Open the Raqami account</a:t>
            </a:r>
          </a:p>
        </p:txBody>
      </p:sp>
      <p:sp>
        <p:nvSpPr>
          <p:cNvPr id="14" name="TextBox 13"/>
          <p:cNvSpPr txBox="1"/>
          <p:nvPr/>
        </p:nvSpPr>
        <p:spPr>
          <a:xfrm>
            <a:off x="6500830"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Raqami’s own checks, inside Halqa.</a:t>
            </a:r>
          </a:p>
        </p:txBody>
      </p:sp>
      <p:pic>
        <p:nvPicPr>
          <p:cNvPr id="15" name="Picture 14" descr="m_mandate-framed.png"/>
          <p:cNvPicPr>
            <a:picLocks noChangeAspect="1"/>
          </p:cNvPicPr>
          <p:nvPr/>
        </p:nvPicPr>
        <p:blipFill>
          <a:blip r:embed="rId6"/>
          <a:stretch>
            <a:fillRect/>
          </a:stretch>
        </p:blipFill>
        <p:spPr>
          <a:xfrm>
            <a:off x="9320154" y="1417320"/>
            <a:ext cx="1872590" cy="3931920"/>
          </a:xfrm>
          <a:prstGeom prst="rect">
            <a:avLst/>
          </a:prstGeom>
        </p:spPr>
      </p:pic>
      <p:sp>
        <p:nvSpPr>
          <p:cNvPr id="16" name="TextBox 15"/>
          <p:cNvSpPr txBox="1"/>
          <p:nvPr/>
        </p:nvSpPr>
        <p:spPr>
          <a:xfrm>
            <a:off x="9274434" y="5440680"/>
            <a:ext cx="2590724" cy="292608"/>
          </a:xfrm>
          <a:prstGeom prst="rect">
            <a:avLst/>
          </a:prstGeom>
          <a:noFill/>
        </p:spPr>
        <p:txBody>
          <a:bodyPr wrap="square" lIns="0" tIns="0" rIns="0" bIns="0">
            <a:spAutoFit/>
          </a:bodyPr>
          <a:lstStyle/>
          <a:p>
            <a:pPr>
              <a:lnSpc>
                <a:spcPct val="105000"/>
              </a:lnSpc>
            </a:pPr>
            <a:r>
              <a:rPr sz="1300" b="1">
                <a:solidFill>
                  <a:srgbClr val="3E2B73"/>
                </a:solidFill>
                <a:latin typeface="Arial"/>
              </a:rPr>
              <a:t>4   </a:t>
            </a:r>
            <a:r>
              <a:rPr sz="1300" b="1">
                <a:solidFill>
                  <a:srgbClr val="0C1408"/>
                </a:solidFill>
                <a:latin typeface="Arial"/>
              </a:rPr>
              <a:t>Consent to payment</a:t>
            </a:r>
          </a:p>
        </p:txBody>
      </p:sp>
      <p:sp>
        <p:nvSpPr>
          <p:cNvPr id="17" name="TextBox 16"/>
          <p:cNvSpPr txBox="1"/>
          <p:nvPr/>
        </p:nvSpPr>
        <p:spPr>
          <a:xfrm>
            <a:off x="9274434"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One instalment at most, on payday.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Member Application: Paying and Collecting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The circle, every payment and payout, the credit record and the points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8</a:t>
            </a:r>
          </a:p>
        </p:txBody>
      </p:sp>
      <p:pic>
        <p:nvPicPr>
          <p:cNvPr id="6" name="Picture 5" descr="committee-framed.png"/>
          <p:cNvPicPr>
            <a:picLocks noChangeAspect="1"/>
          </p:cNvPicPr>
          <p:nvPr/>
        </p:nvPicPr>
        <p:blipFill>
          <a:blip r:embed="rId3"/>
          <a:stretch>
            <a:fillRect/>
          </a:stretch>
        </p:blipFill>
        <p:spPr>
          <a:xfrm>
            <a:off x="999342" y="1417320"/>
            <a:ext cx="1872590" cy="3931920"/>
          </a:xfrm>
          <a:prstGeom prst="rect">
            <a:avLst/>
          </a:prstGeom>
        </p:spPr>
      </p:pic>
      <p:sp>
        <p:nvSpPr>
          <p:cNvPr id="7" name="TextBox 6"/>
          <p:cNvSpPr txBox="1"/>
          <p:nvPr/>
        </p:nvSpPr>
        <p:spPr>
          <a:xfrm>
            <a:off x="953622" y="5440680"/>
            <a:ext cx="2590724" cy="292608"/>
          </a:xfrm>
          <a:prstGeom prst="rect">
            <a:avLst/>
          </a:prstGeom>
          <a:noFill/>
        </p:spPr>
        <p:txBody>
          <a:bodyPr wrap="square" lIns="0" tIns="0" rIns="0" bIns="0">
            <a:spAutoFit/>
          </a:bodyPr>
          <a:lstStyle/>
          <a:p>
            <a:pPr>
              <a:lnSpc>
                <a:spcPct val="105000"/>
              </a:lnSpc>
            </a:pPr>
            <a:r>
              <a:rPr sz="1300" b="1">
                <a:solidFill>
                  <a:srgbClr val="3E2B73"/>
                </a:solidFill>
                <a:latin typeface="Arial"/>
              </a:rPr>
              <a:t>1   </a:t>
            </a:r>
            <a:r>
              <a:rPr sz="1300" b="1">
                <a:solidFill>
                  <a:srgbClr val="0C1408"/>
                </a:solidFill>
                <a:latin typeface="Arial"/>
              </a:rPr>
              <a:t>Follow the circle</a:t>
            </a:r>
          </a:p>
        </p:txBody>
      </p:sp>
      <p:sp>
        <p:nvSpPr>
          <p:cNvPr id="8" name="TextBox 7"/>
          <p:cNvSpPr txBox="1"/>
          <p:nvPr/>
        </p:nvSpPr>
        <p:spPr>
          <a:xfrm>
            <a:off x="953622"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Turn order, who has paid, when the pot comes.</a:t>
            </a:r>
          </a:p>
        </p:txBody>
      </p:sp>
      <p:pic>
        <p:nvPicPr>
          <p:cNvPr id="9" name="Picture 8" descr="activity-framed.png"/>
          <p:cNvPicPr>
            <a:picLocks noChangeAspect="1"/>
          </p:cNvPicPr>
          <p:nvPr/>
        </p:nvPicPr>
        <p:blipFill>
          <a:blip r:embed="rId4"/>
          <a:stretch>
            <a:fillRect/>
          </a:stretch>
        </p:blipFill>
        <p:spPr>
          <a:xfrm>
            <a:off x="3772946" y="1417320"/>
            <a:ext cx="1872590" cy="3931920"/>
          </a:xfrm>
          <a:prstGeom prst="rect">
            <a:avLst/>
          </a:prstGeom>
        </p:spPr>
      </p:pic>
      <p:sp>
        <p:nvSpPr>
          <p:cNvPr id="10" name="TextBox 9"/>
          <p:cNvSpPr txBox="1"/>
          <p:nvPr/>
        </p:nvSpPr>
        <p:spPr>
          <a:xfrm>
            <a:off x="3727226" y="5440680"/>
            <a:ext cx="2590724" cy="292608"/>
          </a:xfrm>
          <a:prstGeom prst="rect">
            <a:avLst/>
          </a:prstGeom>
          <a:noFill/>
        </p:spPr>
        <p:txBody>
          <a:bodyPr wrap="square" lIns="0" tIns="0" rIns="0" bIns="0">
            <a:spAutoFit/>
          </a:bodyPr>
          <a:lstStyle/>
          <a:p>
            <a:pPr>
              <a:lnSpc>
                <a:spcPct val="105000"/>
              </a:lnSpc>
            </a:pPr>
            <a:r>
              <a:rPr sz="1300" b="1">
                <a:solidFill>
                  <a:srgbClr val="3E2B73"/>
                </a:solidFill>
                <a:latin typeface="Arial"/>
              </a:rPr>
              <a:t>2   </a:t>
            </a:r>
            <a:r>
              <a:rPr sz="1300" b="1">
                <a:solidFill>
                  <a:srgbClr val="0C1408"/>
                </a:solidFill>
                <a:latin typeface="Arial"/>
              </a:rPr>
              <a:t>Payments and payouts</a:t>
            </a:r>
          </a:p>
        </p:txBody>
      </p:sp>
      <p:sp>
        <p:nvSpPr>
          <p:cNvPr id="11" name="TextBox 10"/>
          <p:cNvSpPr txBox="1"/>
          <p:nvPr/>
        </p:nvSpPr>
        <p:spPr>
          <a:xfrm>
            <a:off x="3727226"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A receipt for each; the pot arrives the same day.</a:t>
            </a:r>
          </a:p>
        </p:txBody>
      </p:sp>
      <p:pic>
        <p:nvPicPr>
          <p:cNvPr id="12" name="Picture 11" descr="credit-framed.png"/>
          <p:cNvPicPr>
            <a:picLocks noChangeAspect="1"/>
          </p:cNvPicPr>
          <p:nvPr/>
        </p:nvPicPr>
        <p:blipFill>
          <a:blip r:embed="rId5"/>
          <a:stretch>
            <a:fillRect/>
          </a:stretch>
        </p:blipFill>
        <p:spPr>
          <a:xfrm>
            <a:off x="6546550" y="1417320"/>
            <a:ext cx="1872590" cy="3931920"/>
          </a:xfrm>
          <a:prstGeom prst="rect">
            <a:avLst/>
          </a:prstGeom>
        </p:spPr>
      </p:pic>
      <p:sp>
        <p:nvSpPr>
          <p:cNvPr id="13" name="TextBox 12"/>
          <p:cNvSpPr txBox="1"/>
          <p:nvPr/>
        </p:nvSpPr>
        <p:spPr>
          <a:xfrm>
            <a:off x="6500830" y="5440680"/>
            <a:ext cx="2590724" cy="292608"/>
          </a:xfrm>
          <a:prstGeom prst="rect">
            <a:avLst/>
          </a:prstGeom>
          <a:noFill/>
        </p:spPr>
        <p:txBody>
          <a:bodyPr wrap="square" lIns="0" tIns="0" rIns="0" bIns="0">
            <a:spAutoFit/>
          </a:bodyPr>
          <a:lstStyle/>
          <a:p>
            <a:pPr>
              <a:lnSpc>
                <a:spcPct val="105000"/>
              </a:lnSpc>
            </a:pPr>
            <a:r>
              <a:rPr sz="1300" b="1">
                <a:solidFill>
                  <a:srgbClr val="3E2B73"/>
                </a:solidFill>
                <a:latin typeface="Arial"/>
              </a:rPr>
              <a:t>3   </a:t>
            </a:r>
            <a:r>
              <a:rPr sz="1300" b="1">
                <a:solidFill>
                  <a:srgbClr val="0C1408"/>
                </a:solidFill>
                <a:latin typeface="Arial"/>
              </a:rPr>
              <a:t>Credit record</a:t>
            </a:r>
          </a:p>
        </p:txBody>
      </p:sp>
      <p:sp>
        <p:nvSpPr>
          <p:cNvPr id="14" name="TextBox 13"/>
          <p:cNvSpPr txBox="1"/>
          <p:nvPr/>
        </p:nvSpPr>
        <p:spPr>
          <a:xfrm>
            <a:off x="6500830"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Score from 300 to 850 and on-time history.</a:t>
            </a:r>
          </a:p>
        </p:txBody>
      </p:sp>
      <p:pic>
        <p:nvPicPr>
          <p:cNvPr id="15" name="Picture 14" descr="m_points-framed.png"/>
          <p:cNvPicPr>
            <a:picLocks noChangeAspect="1"/>
          </p:cNvPicPr>
          <p:nvPr/>
        </p:nvPicPr>
        <p:blipFill>
          <a:blip r:embed="rId6"/>
          <a:stretch>
            <a:fillRect/>
          </a:stretch>
        </p:blipFill>
        <p:spPr>
          <a:xfrm>
            <a:off x="9320154" y="1417320"/>
            <a:ext cx="1872590" cy="3931920"/>
          </a:xfrm>
          <a:prstGeom prst="rect">
            <a:avLst/>
          </a:prstGeom>
        </p:spPr>
      </p:pic>
      <p:sp>
        <p:nvSpPr>
          <p:cNvPr id="16" name="TextBox 15"/>
          <p:cNvSpPr txBox="1"/>
          <p:nvPr/>
        </p:nvSpPr>
        <p:spPr>
          <a:xfrm>
            <a:off x="9274434" y="5440680"/>
            <a:ext cx="2590724" cy="292608"/>
          </a:xfrm>
          <a:prstGeom prst="rect">
            <a:avLst/>
          </a:prstGeom>
          <a:noFill/>
        </p:spPr>
        <p:txBody>
          <a:bodyPr wrap="square" lIns="0" tIns="0" rIns="0" bIns="0">
            <a:spAutoFit/>
          </a:bodyPr>
          <a:lstStyle/>
          <a:p>
            <a:pPr>
              <a:lnSpc>
                <a:spcPct val="105000"/>
              </a:lnSpc>
            </a:pPr>
            <a:r>
              <a:rPr sz="1300" b="1">
                <a:solidFill>
                  <a:srgbClr val="3E2B73"/>
                </a:solidFill>
                <a:latin typeface="Arial"/>
              </a:rPr>
              <a:t>4   </a:t>
            </a:r>
            <a:r>
              <a:rPr sz="1300" b="1">
                <a:solidFill>
                  <a:srgbClr val="0C1408"/>
                </a:solidFill>
                <a:latin typeface="Arial"/>
              </a:rPr>
              <a:t>Points</a:t>
            </a:r>
          </a:p>
        </p:txBody>
      </p:sp>
      <p:sp>
        <p:nvSpPr>
          <p:cNvPr id="17" name="TextBox 16"/>
          <p:cNvSpPr txBox="1"/>
          <p:nvPr/>
        </p:nvSpPr>
        <p:spPr>
          <a:xfrm>
            <a:off x="9274434"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Profit on balances and on-time payments.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Customer Growth and Deposits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Accounts arrive by the circle; deposits at Raqami’s own average balance</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9</a:t>
            </a:r>
          </a:p>
        </p:txBody>
      </p:sp>
      <p:sp>
        <p:nvSpPr>
          <p:cNvPr id="6" name="TextBox 5"/>
          <p:cNvSpPr txBox="1"/>
          <p:nvPr/>
        </p:nvSpPr>
        <p:spPr>
          <a:xfrm>
            <a:off x="548640" y="1481328"/>
            <a:ext cx="5303520" cy="274320"/>
          </a:xfrm>
          <a:prstGeom prst="rect">
            <a:avLst/>
          </a:prstGeom>
          <a:noFill/>
        </p:spPr>
        <p:txBody>
          <a:bodyPr wrap="square" lIns="0" tIns="0" rIns="0" bIns="0">
            <a:spAutoFit/>
          </a:bodyPr>
          <a:lstStyle/>
          <a:p>
            <a:pPr>
              <a:lnSpc>
                <a:spcPct val="100000"/>
              </a:lnSpc>
            </a:pPr>
            <a:r>
              <a:rPr sz="1200" b="1">
                <a:solidFill>
                  <a:srgbClr val="0C1408"/>
                </a:solidFill>
                <a:latin typeface="Arial"/>
              </a:rPr>
              <a:t>How circles bring accounts</a:t>
            </a:r>
          </a:p>
        </p:txBody>
      </p:sp>
      <p:sp>
        <p:nvSpPr>
          <p:cNvPr id="7" name="Rectangle 6"/>
          <p:cNvSpPr/>
          <p:nvPr/>
        </p:nvSpPr>
        <p:spPr>
          <a:xfrm>
            <a:off x="548640" y="1874520"/>
            <a:ext cx="2240280" cy="731520"/>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50" b="1">
                <a:solidFill>
                  <a:srgbClr val="0C1408"/>
                </a:solidFill>
                <a:latin typeface="Arial"/>
              </a:rPr>
              <a:t>A host starts a circle</a:t>
            </a:r>
          </a:p>
          <a:p>
            <a:pPr algn="ctr">
              <a:lnSpc>
                <a:spcPct val="102000"/>
              </a:lnSpc>
              <a:spcBef>
                <a:spcPts val="200"/>
              </a:spcBef>
            </a:pPr>
            <a:r>
              <a:rPr sz="1000">
                <a:solidFill>
                  <a:srgbClr val="0C1408"/>
                </a:solidFill>
                <a:latin typeface="Arial"/>
              </a:rPr>
              <a:t>invites people they know</a:t>
            </a:r>
          </a:p>
        </p:txBody>
      </p:sp>
      <p:sp>
        <p:nvSpPr>
          <p:cNvPr id="8" name="Rectangle 7"/>
          <p:cNvSpPr/>
          <p:nvPr/>
        </p:nvSpPr>
        <p:spPr>
          <a:xfrm>
            <a:off x="3611880" y="1874520"/>
            <a:ext cx="2240280" cy="731520"/>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50" b="1">
                <a:solidFill>
                  <a:srgbClr val="0C1408"/>
                </a:solidFill>
                <a:latin typeface="Arial"/>
              </a:rPr>
              <a:t>6 to 20 accounts</a:t>
            </a:r>
          </a:p>
          <a:p>
            <a:pPr algn="ctr">
              <a:lnSpc>
                <a:spcPct val="102000"/>
              </a:lnSpc>
              <a:spcBef>
                <a:spcPts val="200"/>
              </a:spcBef>
            </a:pPr>
            <a:r>
              <a:rPr sz="1000">
                <a:solidFill>
                  <a:srgbClr val="0C1408"/>
                </a:solidFill>
                <a:latin typeface="Arial"/>
              </a:rPr>
              <a:t>every member opens a Raqami account</a:t>
            </a:r>
          </a:p>
        </p:txBody>
      </p:sp>
      <p:sp>
        <p:nvSpPr>
          <p:cNvPr id="9" name="Rectangle 8"/>
          <p:cNvSpPr/>
          <p:nvPr/>
        </p:nvSpPr>
        <p:spPr>
          <a:xfrm>
            <a:off x="3611880" y="3401568"/>
            <a:ext cx="2240280" cy="731520"/>
          </a:xfrm>
          <a:prstGeom prst="rect">
            <a:avLst/>
          </a:prstGeom>
          <a:solidFill>
            <a:srgbClr val="F3FCE7"/>
          </a:solidFill>
          <a:ln w="15875">
            <a:solidFill>
              <a:srgbClr val="6DC72A"/>
            </a:solidFill>
          </a:ln>
        </p:spPr>
        <p:txBody>
          <a:bodyPr rtlCol="0" anchor="ctr" lIns="73152" tIns="54864" rIns="73152" bIns="54864" wrap="square"/>
          <a:lstStyle/>
          <a:p>
            <a:pPr algn="ctr">
              <a:lnSpc>
                <a:spcPct val="102000"/>
              </a:lnSpc>
            </a:pPr>
            <a:r>
              <a:rPr sz="1150" b="1">
                <a:solidFill>
                  <a:srgbClr val="0C1408"/>
                </a:solidFill>
                <a:latin typeface="Arial"/>
              </a:rPr>
              <a:t>The circle completes</a:t>
            </a:r>
          </a:p>
          <a:p>
            <a:pPr algn="ctr">
              <a:lnSpc>
                <a:spcPct val="102000"/>
              </a:lnSpc>
              <a:spcBef>
                <a:spcPts val="200"/>
              </a:spcBef>
            </a:pPr>
            <a:r>
              <a:rPr sz="1000">
                <a:solidFill>
                  <a:srgbClr val="0C1408"/>
                </a:solidFill>
                <a:latin typeface="Arial"/>
              </a:rPr>
              <a:t>every member collects once</a:t>
            </a:r>
          </a:p>
        </p:txBody>
      </p:sp>
      <p:sp>
        <p:nvSpPr>
          <p:cNvPr id="10" name="Rectangle 9"/>
          <p:cNvSpPr/>
          <p:nvPr/>
        </p:nvSpPr>
        <p:spPr>
          <a:xfrm>
            <a:off x="548640" y="3401568"/>
            <a:ext cx="2240280" cy="731520"/>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50" b="1">
                <a:solidFill>
                  <a:srgbClr val="0C1408"/>
                </a:solidFill>
                <a:latin typeface="Arial"/>
              </a:rPr>
              <a:t>Members host circles</a:t>
            </a:r>
          </a:p>
          <a:p>
            <a:pPr algn="ctr">
              <a:lnSpc>
                <a:spcPct val="102000"/>
              </a:lnSpc>
              <a:spcBef>
                <a:spcPts val="200"/>
              </a:spcBef>
            </a:pPr>
            <a:r>
              <a:rPr sz="1000">
                <a:solidFill>
                  <a:srgbClr val="0C1408"/>
                </a:solidFill>
                <a:latin typeface="Arial"/>
              </a:rPr>
              <a:t>the cycle repeats</a:t>
            </a:r>
          </a:p>
        </p:txBody>
      </p:sp>
      <p:cxnSp>
        <p:nvCxnSpPr>
          <p:cNvPr id="11" name="Connector 10"/>
          <p:cNvCxnSpPr/>
          <p:nvPr/>
        </p:nvCxnSpPr>
        <p:spPr>
          <a:xfrm>
            <a:off x="2788920" y="2240280"/>
            <a:ext cx="822960" cy="0"/>
          </a:xfrm>
          <a:prstGeom prst="line">
            <a:avLst/>
          </a:prstGeom>
          <a:ln w="19050">
            <a:solidFill>
              <a:srgbClr val="4B5563"/>
            </a:solidFill>
            <a:tailEnd type="triangle" w="med" len="med"/>
          </a:ln>
        </p:spPr>
      </p:cxnSp>
      <p:cxnSp>
        <p:nvCxnSpPr>
          <p:cNvPr id="12" name="Connector 11"/>
          <p:cNvCxnSpPr/>
          <p:nvPr/>
        </p:nvCxnSpPr>
        <p:spPr>
          <a:xfrm>
            <a:off x="4732020" y="2606040"/>
            <a:ext cx="0" cy="795528"/>
          </a:xfrm>
          <a:prstGeom prst="line">
            <a:avLst/>
          </a:prstGeom>
          <a:ln w="19050">
            <a:solidFill>
              <a:srgbClr val="4B5563"/>
            </a:solidFill>
            <a:tailEnd type="triangle" w="med" len="med"/>
          </a:ln>
        </p:spPr>
      </p:cxnSp>
      <p:cxnSp>
        <p:nvCxnSpPr>
          <p:cNvPr id="13" name="Connector 12"/>
          <p:cNvCxnSpPr/>
          <p:nvPr/>
        </p:nvCxnSpPr>
        <p:spPr>
          <a:xfrm flipH="1">
            <a:off x="2788920" y="3767328"/>
            <a:ext cx="822960" cy="0"/>
          </a:xfrm>
          <a:prstGeom prst="line">
            <a:avLst/>
          </a:prstGeom>
          <a:ln w="19050">
            <a:solidFill>
              <a:srgbClr val="4B5563"/>
            </a:solidFill>
            <a:tailEnd type="triangle" w="med" len="med"/>
          </a:ln>
        </p:spPr>
      </p:cxnSp>
      <p:cxnSp>
        <p:nvCxnSpPr>
          <p:cNvPr id="14" name="Connector 13"/>
          <p:cNvCxnSpPr/>
          <p:nvPr/>
        </p:nvCxnSpPr>
        <p:spPr>
          <a:xfrm flipV="1">
            <a:off x="1668780" y="2606040"/>
            <a:ext cx="0" cy="795528"/>
          </a:xfrm>
          <a:prstGeom prst="line">
            <a:avLst/>
          </a:prstGeom>
          <a:ln w="19050">
            <a:solidFill>
              <a:srgbClr val="4B5563"/>
            </a:solidFill>
            <a:tailEnd type="triangle" w="med" len="med"/>
          </a:ln>
        </p:spPr>
      </p:cxnSp>
      <p:sp>
        <p:nvSpPr>
          <p:cNvPr id="15" name="TextBox 14"/>
          <p:cNvSpPr txBox="1"/>
          <p:nvPr/>
        </p:nvSpPr>
        <p:spPr>
          <a:xfrm>
            <a:off x="548640" y="4389120"/>
            <a:ext cx="5303520" cy="274320"/>
          </a:xfrm>
          <a:prstGeom prst="rect">
            <a:avLst/>
          </a:prstGeom>
          <a:noFill/>
        </p:spPr>
        <p:txBody>
          <a:bodyPr wrap="square" lIns="0" tIns="0" rIns="0" bIns="0">
            <a:spAutoFit/>
          </a:bodyPr>
          <a:lstStyle/>
          <a:p>
            <a:pPr>
              <a:lnSpc>
                <a:spcPct val="100000"/>
              </a:lnSpc>
            </a:pPr>
            <a:r>
              <a:rPr sz="1200" b="1">
                <a:solidFill>
                  <a:srgbClr val="0C1408"/>
                </a:solidFill>
                <a:latin typeface="Arial"/>
              </a:rPr>
              <a:t>Channels</a:t>
            </a:r>
          </a:p>
        </p:txBody>
      </p:sp>
      <p:sp>
        <p:nvSpPr>
          <p:cNvPr id="16" name="TextBox 15"/>
          <p:cNvSpPr txBox="1"/>
          <p:nvPr/>
        </p:nvSpPr>
        <p:spPr>
          <a:xfrm>
            <a:off x="548640" y="4690872"/>
            <a:ext cx="1417320" cy="347472"/>
          </a:xfrm>
          <a:prstGeom prst="rect">
            <a:avLst/>
          </a:prstGeom>
          <a:noFill/>
        </p:spPr>
        <p:txBody>
          <a:bodyPr wrap="square" lIns="0" tIns="0" rIns="0" bIns="0">
            <a:spAutoFit/>
          </a:bodyPr>
          <a:lstStyle/>
          <a:p>
            <a:pPr>
              <a:lnSpc>
                <a:spcPct val="105000"/>
              </a:lnSpc>
            </a:pPr>
            <a:r>
              <a:rPr sz="1100" b="1">
                <a:solidFill>
                  <a:srgbClr val="0C1408"/>
                </a:solidFill>
                <a:latin typeface="Arial"/>
              </a:rPr>
              <a:t>Hosts</a:t>
            </a:r>
          </a:p>
        </p:txBody>
      </p:sp>
      <p:sp>
        <p:nvSpPr>
          <p:cNvPr id="17" name="TextBox 16"/>
          <p:cNvSpPr txBox="1"/>
          <p:nvPr/>
        </p:nvSpPr>
        <p:spPr>
          <a:xfrm>
            <a:off x="2011680" y="4690872"/>
            <a:ext cx="3931920" cy="347472"/>
          </a:xfrm>
          <a:prstGeom prst="rect">
            <a:avLst/>
          </a:prstGeom>
          <a:noFill/>
        </p:spPr>
        <p:txBody>
          <a:bodyPr wrap="square" lIns="0" tIns="0" rIns="0" bIns="0">
            <a:spAutoFit/>
          </a:bodyPr>
          <a:lstStyle/>
          <a:p>
            <a:pPr>
              <a:lnSpc>
                <a:spcPct val="105000"/>
              </a:lnSpc>
            </a:pPr>
            <a:r>
              <a:rPr sz="1100">
                <a:solidFill>
                  <a:srgbClr val="0C1408"/>
                </a:solidFill>
                <a:latin typeface="Arial"/>
              </a:rPr>
              <a:t>points for circles that complete cleanly, never for recruiting</a:t>
            </a:r>
          </a:p>
        </p:txBody>
      </p:sp>
      <p:sp>
        <p:nvSpPr>
          <p:cNvPr id="18" name="TextBox 17"/>
          <p:cNvSpPr txBox="1"/>
          <p:nvPr/>
        </p:nvSpPr>
        <p:spPr>
          <a:xfrm>
            <a:off x="548640" y="5056632"/>
            <a:ext cx="1417320" cy="347472"/>
          </a:xfrm>
          <a:prstGeom prst="rect">
            <a:avLst/>
          </a:prstGeom>
          <a:noFill/>
        </p:spPr>
        <p:txBody>
          <a:bodyPr wrap="square" lIns="0" tIns="0" rIns="0" bIns="0">
            <a:spAutoFit/>
          </a:bodyPr>
          <a:lstStyle/>
          <a:p>
            <a:pPr>
              <a:lnSpc>
                <a:spcPct val="105000"/>
              </a:lnSpc>
            </a:pPr>
            <a:r>
              <a:rPr sz="1100" b="1">
                <a:solidFill>
                  <a:srgbClr val="0C1408"/>
                </a:solidFill>
                <a:latin typeface="Arial"/>
              </a:rPr>
              <a:t>Employers</a:t>
            </a:r>
          </a:p>
        </p:txBody>
      </p:sp>
      <p:sp>
        <p:nvSpPr>
          <p:cNvPr id="19" name="TextBox 18"/>
          <p:cNvSpPr txBox="1"/>
          <p:nvPr/>
        </p:nvSpPr>
        <p:spPr>
          <a:xfrm>
            <a:off x="2011680" y="5056632"/>
            <a:ext cx="3931920" cy="347472"/>
          </a:xfrm>
          <a:prstGeom prst="rect">
            <a:avLst/>
          </a:prstGeom>
          <a:noFill/>
        </p:spPr>
        <p:txBody>
          <a:bodyPr wrap="square" lIns="0" tIns="0" rIns="0" bIns="0">
            <a:spAutoFit/>
          </a:bodyPr>
          <a:lstStyle/>
          <a:p>
            <a:pPr>
              <a:lnSpc>
                <a:spcPct val="105000"/>
              </a:lnSpc>
            </a:pPr>
            <a:r>
              <a:rPr sz="1100">
                <a:solidFill>
                  <a:srgbClr val="0C1408"/>
                </a:solidFill>
                <a:latin typeface="Arial"/>
              </a:rPr>
              <a:t>circles offered to staff</a:t>
            </a:r>
          </a:p>
        </p:txBody>
      </p:sp>
      <p:sp>
        <p:nvSpPr>
          <p:cNvPr id="20" name="TextBox 19"/>
          <p:cNvSpPr txBox="1"/>
          <p:nvPr/>
        </p:nvSpPr>
        <p:spPr>
          <a:xfrm>
            <a:off x="548640" y="5422392"/>
            <a:ext cx="1417320" cy="347472"/>
          </a:xfrm>
          <a:prstGeom prst="rect">
            <a:avLst/>
          </a:prstGeom>
          <a:noFill/>
        </p:spPr>
        <p:txBody>
          <a:bodyPr wrap="square" lIns="0" tIns="0" rIns="0" bIns="0">
            <a:spAutoFit/>
          </a:bodyPr>
          <a:lstStyle/>
          <a:p>
            <a:pPr>
              <a:lnSpc>
                <a:spcPct val="105000"/>
              </a:lnSpc>
            </a:pPr>
            <a:r>
              <a:rPr sz="1100" b="1">
                <a:solidFill>
                  <a:srgbClr val="0C1408"/>
                </a:solidFill>
                <a:latin typeface="Arial"/>
              </a:rPr>
              <a:t>Seasons</a:t>
            </a:r>
          </a:p>
        </p:txBody>
      </p:sp>
      <p:sp>
        <p:nvSpPr>
          <p:cNvPr id="21" name="TextBox 20"/>
          <p:cNvSpPr txBox="1"/>
          <p:nvPr/>
        </p:nvSpPr>
        <p:spPr>
          <a:xfrm>
            <a:off x="2011680" y="5422392"/>
            <a:ext cx="3931920" cy="347472"/>
          </a:xfrm>
          <a:prstGeom prst="rect">
            <a:avLst/>
          </a:prstGeom>
          <a:noFill/>
        </p:spPr>
        <p:txBody>
          <a:bodyPr wrap="square" lIns="0" tIns="0" rIns="0" bIns="0">
            <a:spAutoFit/>
          </a:bodyPr>
          <a:lstStyle/>
          <a:p>
            <a:pPr>
              <a:lnSpc>
                <a:spcPct val="105000"/>
              </a:lnSpc>
            </a:pPr>
            <a:r>
              <a:rPr sz="1100">
                <a:solidFill>
                  <a:srgbClr val="0C1408"/>
                </a:solidFill>
                <a:latin typeface="Arial"/>
              </a:rPr>
              <a:t>Ramadan, Qurbani, weddings and school fees</a:t>
            </a:r>
          </a:p>
        </p:txBody>
      </p:sp>
      <p:sp>
        <p:nvSpPr>
          <p:cNvPr id="22" name="TextBox 21"/>
          <p:cNvSpPr txBox="1"/>
          <p:nvPr/>
        </p:nvSpPr>
        <p:spPr>
          <a:xfrm>
            <a:off x="548640" y="5788152"/>
            <a:ext cx="1417320" cy="347472"/>
          </a:xfrm>
          <a:prstGeom prst="rect">
            <a:avLst/>
          </a:prstGeom>
          <a:noFill/>
        </p:spPr>
        <p:txBody>
          <a:bodyPr wrap="square" lIns="0" tIns="0" rIns="0" bIns="0">
            <a:spAutoFit/>
          </a:bodyPr>
          <a:lstStyle/>
          <a:p>
            <a:pPr>
              <a:lnSpc>
                <a:spcPct val="105000"/>
              </a:lnSpc>
            </a:pPr>
            <a:r>
              <a:rPr sz="1100" b="1">
                <a:solidFill>
                  <a:srgbClr val="0C1408"/>
                </a:solidFill>
                <a:latin typeface="Arial"/>
              </a:rPr>
              <a:t>Raqami</a:t>
            </a:r>
          </a:p>
        </p:txBody>
      </p:sp>
      <p:sp>
        <p:nvSpPr>
          <p:cNvPr id="23" name="TextBox 22"/>
          <p:cNvSpPr txBox="1"/>
          <p:nvPr/>
        </p:nvSpPr>
        <p:spPr>
          <a:xfrm>
            <a:off x="2011680" y="5788152"/>
            <a:ext cx="3931920" cy="347472"/>
          </a:xfrm>
          <a:prstGeom prst="rect">
            <a:avLst/>
          </a:prstGeom>
          <a:noFill/>
        </p:spPr>
        <p:txBody>
          <a:bodyPr wrap="square" lIns="0" tIns="0" rIns="0" bIns="0">
            <a:spAutoFit/>
          </a:bodyPr>
          <a:lstStyle/>
          <a:p>
            <a:pPr>
              <a:lnSpc>
                <a:spcPct val="105000"/>
              </a:lnSpc>
            </a:pPr>
            <a:r>
              <a:rPr sz="1100">
                <a:solidFill>
                  <a:srgbClr val="0C1408"/>
                </a:solidFill>
                <a:latin typeface="Arial"/>
              </a:rPr>
              <a:t>circles offered inside Raqami’s banking services</a:t>
            </a:r>
          </a:p>
        </p:txBody>
      </p:sp>
      <p:sp>
        <p:nvSpPr>
          <p:cNvPr id="24" name="TextBox 23"/>
          <p:cNvSpPr txBox="1"/>
          <p:nvPr/>
        </p:nvSpPr>
        <p:spPr>
          <a:xfrm>
            <a:off x="6263640" y="1481328"/>
            <a:ext cx="5379415" cy="274320"/>
          </a:xfrm>
          <a:prstGeom prst="rect">
            <a:avLst/>
          </a:prstGeom>
          <a:noFill/>
        </p:spPr>
        <p:txBody>
          <a:bodyPr wrap="square" lIns="0" tIns="0" rIns="0" bIns="0">
            <a:spAutoFit/>
          </a:bodyPr>
          <a:lstStyle/>
          <a:p>
            <a:pPr>
              <a:lnSpc>
                <a:spcPct val="100000"/>
              </a:lnSpc>
            </a:pPr>
            <a:r>
              <a:rPr sz="1200" b="1">
                <a:solidFill>
                  <a:srgbClr val="0C1408"/>
                </a:solidFill>
                <a:latin typeface="Arial"/>
              </a:rPr>
              <a:t>Deposits</a:t>
            </a:r>
            <a:r>
              <a:rPr sz="1100">
                <a:solidFill>
                  <a:srgbClr val="0C1408"/>
                </a:solidFill>
                <a:latin typeface="Arial"/>
              </a:rPr>
              <a:t>   Rs billion</a:t>
            </a:r>
          </a:p>
        </p:txBody>
      </p:sp>
      <p:sp>
        <p:nvSpPr>
          <p:cNvPr id="26" name="TextBox 25"/>
          <p:cNvSpPr txBox="1"/>
          <p:nvPr/>
        </p:nvSpPr>
        <p:spPr>
          <a:xfrm>
            <a:off x="6263640" y="4069080"/>
            <a:ext cx="5379415" cy="457200"/>
          </a:xfrm>
          <a:prstGeom prst="rect">
            <a:avLst/>
          </a:prstGeom>
          <a:noFill/>
        </p:spPr>
        <p:txBody>
          <a:bodyPr wrap="square" lIns="0" tIns="0" rIns="0" bIns="0">
            <a:spAutoFit/>
          </a:bodyPr>
          <a:lstStyle/>
          <a:p>
            <a:pPr>
              <a:lnSpc>
                <a:spcPct val="104000"/>
              </a:lnSpc>
            </a:pPr>
            <a:r>
              <a:rPr sz="1000">
                <a:solidFill>
                  <a:srgbClr val="0C1408"/>
                </a:solidFill>
                <a:latin typeface="Arial"/>
              </a:rPr>
              <a:t>Basis: Rs 1,581 million of deposits ÷ 114,452 accounts = about Rs 13,800 an account, 30 June 2026 [1]</a:t>
            </a:r>
          </a:p>
        </p:txBody>
      </p:sp>
      <p:sp>
        <p:nvSpPr>
          <p:cNvPr id="27" name="TextBox 26"/>
          <p:cNvSpPr txBox="1"/>
          <p:nvPr/>
        </p:nvSpPr>
        <p:spPr>
          <a:xfrm>
            <a:off x="6263640" y="4663440"/>
            <a:ext cx="2506828" cy="414528"/>
          </a:xfrm>
          <a:prstGeom prst="rect">
            <a:avLst/>
          </a:prstGeom>
          <a:noFill/>
        </p:spPr>
        <p:txBody>
          <a:bodyPr wrap="square" lIns="0" tIns="0" rIns="0" bIns="0">
            <a:spAutoFit/>
          </a:bodyPr>
          <a:lstStyle/>
          <a:p>
            <a:pPr>
              <a:lnSpc>
                <a:spcPct val="100000"/>
              </a:lnSpc>
            </a:pPr>
            <a:r>
              <a:rPr sz="2400" b="1">
                <a:solidFill>
                  <a:srgbClr val="3E2B73"/>
                </a:solidFill>
                <a:latin typeface="Arial"/>
              </a:rPr>
              <a:t>+87%</a:t>
            </a:r>
          </a:p>
        </p:txBody>
      </p:sp>
      <p:sp>
        <p:nvSpPr>
          <p:cNvPr id="28" name="TextBox 27"/>
          <p:cNvSpPr txBox="1"/>
          <p:nvPr/>
        </p:nvSpPr>
        <p:spPr>
          <a:xfrm>
            <a:off x="6263640" y="5059680"/>
            <a:ext cx="2506828" cy="640080"/>
          </a:xfrm>
          <a:prstGeom prst="rect">
            <a:avLst/>
          </a:prstGeom>
          <a:noFill/>
        </p:spPr>
        <p:txBody>
          <a:bodyPr wrap="square" lIns="0" tIns="0" rIns="0" bIns="0">
            <a:spAutoFit/>
          </a:bodyPr>
          <a:lstStyle/>
          <a:p>
            <a:pPr>
              <a:lnSpc>
                <a:spcPct val="104000"/>
              </a:lnSpc>
            </a:pPr>
            <a:r>
              <a:rPr sz="1100">
                <a:solidFill>
                  <a:srgbClr val="0C1408"/>
                </a:solidFill>
                <a:latin typeface="Arial"/>
              </a:rPr>
              <a:t>more accounts from 100,000 members, on 114,452 today</a:t>
            </a:r>
          </a:p>
        </p:txBody>
      </p:sp>
      <p:sp>
        <p:nvSpPr>
          <p:cNvPr id="29" name="TextBox 28"/>
          <p:cNvSpPr txBox="1"/>
          <p:nvPr/>
        </p:nvSpPr>
        <p:spPr>
          <a:xfrm>
            <a:off x="8953348" y="4663440"/>
            <a:ext cx="2506828" cy="414528"/>
          </a:xfrm>
          <a:prstGeom prst="rect">
            <a:avLst/>
          </a:prstGeom>
          <a:noFill/>
        </p:spPr>
        <p:txBody>
          <a:bodyPr wrap="square" lIns="0" tIns="0" rIns="0" bIns="0">
            <a:spAutoFit/>
          </a:bodyPr>
          <a:lstStyle/>
          <a:p>
            <a:pPr>
              <a:lnSpc>
                <a:spcPct val="100000"/>
              </a:lnSpc>
            </a:pPr>
            <a:r>
              <a:rPr sz="2400" b="1">
                <a:solidFill>
                  <a:srgbClr val="3E2B73"/>
                </a:solidFill>
                <a:latin typeface="Arial"/>
              </a:rPr>
              <a:t>5-7 days</a:t>
            </a:r>
          </a:p>
        </p:txBody>
      </p:sp>
      <p:sp>
        <p:nvSpPr>
          <p:cNvPr id="30" name="TextBox 29"/>
          <p:cNvSpPr txBox="1"/>
          <p:nvPr/>
        </p:nvSpPr>
        <p:spPr>
          <a:xfrm>
            <a:off x="8953348" y="5059680"/>
            <a:ext cx="2506828" cy="640080"/>
          </a:xfrm>
          <a:prstGeom prst="rect">
            <a:avLst/>
          </a:prstGeom>
          <a:noFill/>
        </p:spPr>
        <p:txBody>
          <a:bodyPr wrap="square" lIns="0" tIns="0" rIns="0" bIns="0">
            <a:spAutoFit/>
          </a:bodyPr>
          <a:lstStyle/>
          <a:p>
            <a:pPr>
              <a:lnSpc>
                <a:spcPct val="104000"/>
              </a:lnSpc>
            </a:pPr>
            <a:r>
              <a:rPr sz="1100">
                <a:solidFill>
                  <a:srgbClr val="0C1408"/>
                </a:solidFill>
                <a:latin typeface="Arial"/>
              </a:rPr>
              <a:t>each instalment is held at Raqami between payday and the 8th</a:t>
            </a:r>
          </a:p>
        </p:txBody>
      </p:sp>
      <p:sp>
        <p:nvSpPr>
          <p:cNvPr id="31" name="TextBox 30"/>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Raqami Islamic Digital Bank, half year report to 30 June 2026    2  Bloomberg, 22 January 2026</a:t>
            </a:r>
          </a:p>
        </p:txBody>
      </p:sp>
      <p:sp>
        <p:nvSpPr>
          <p:cNvPr id="32" name="TextBox 31"/>
          <p:cNvSpPr txBox="1"/>
          <p:nvPr/>
        </p:nvSpPr>
        <p:spPr>
          <a:xfrm>
            <a:off x="6263640" y="1810512"/>
            <a:ext cx="2048256" cy="701040"/>
          </a:xfrm>
          <a:prstGeom prst="rect">
            <a:avLst/>
          </a:prstGeom>
          <a:noFill/>
        </p:spPr>
        <p:txBody>
          <a:bodyPr wrap="square" lIns="0" tIns="0" rIns="0" bIns="0" anchor="ctr">
            <a:spAutoFit/>
          </a:bodyPr>
          <a:lstStyle/>
          <a:p>
            <a:pPr algn="r">
              <a:lnSpc>
                <a:spcPct val="100000"/>
              </a:lnSpc>
            </a:pPr>
            <a:r>
              <a:rPr sz="1050">
                <a:solidFill>
                  <a:srgbClr val="0C1408"/>
                </a:solidFill>
                <a:latin typeface="Arial"/>
              </a:rPr>
              <a:t>Raqami, 30 June 2026</a:t>
            </a:r>
          </a:p>
        </p:txBody>
      </p:sp>
      <p:sp>
        <p:nvSpPr>
          <p:cNvPr id="33" name="Rectangle 32"/>
          <p:cNvSpPr/>
          <p:nvPr/>
        </p:nvSpPr>
        <p:spPr>
          <a:xfrm>
            <a:off x="8439912" y="1950720"/>
            <a:ext cx="303921" cy="420624"/>
          </a:xfrm>
          <a:prstGeom prst="rect">
            <a:avLst/>
          </a:prstGeom>
          <a:solidFill>
            <a:srgbClr val="573F99"/>
          </a:solidFill>
          <a:ln>
            <a:noFill/>
          </a:ln>
        </p:spPr>
        <p:txBody>
          <a:bodyPr rtlCol="0" anchor="ctr"/>
          <a:lstStyle/>
          <a:p>
            <a:pPr algn="ctr"/>
          </a:p>
        </p:txBody>
      </p:sp>
      <p:sp>
        <p:nvSpPr>
          <p:cNvPr id="34" name="TextBox 33"/>
          <p:cNvSpPr txBox="1"/>
          <p:nvPr/>
        </p:nvSpPr>
        <p:spPr>
          <a:xfrm>
            <a:off x="8807841" y="1810512"/>
            <a:ext cx="548640" cy="701040"/>
          </a:xfrm>
          <a:prstGeom prst="rect">
            <a:avLst/>
          </a:prstGeom>
          <a:noFill/>
        </p:spPr>
        <p:txBody>
          <a:bodyPr wrap="square" lIns="0" tIns="0" rIns="0" bIns="0" anchor="ctr">
            <a:spAutoFit/>
          </a:bodyPr>
          <a:lstStyle/>
          <a:p>
            <a:pPr>
              <a:lnSpc>
                <a:spcPct val="105000"/>
              </a:lnSpc>
            </a:pPr>
            <a:r>
              <a:rPr sz="1050">
                <a:solidFill>
                  <a:srgbClr val="0C1408"/>
                </a:solidFill>
                <a:latin typeface="Arial"/>
              </a:rPr>
              <a:t>1.6</a:t>
            </a:r>
          </a:p>
        </p:txBody>
      </p:sp>
      <p:sp>
        <p:nvSpPr>
          <p:cNvPr id="35" name="TextBox 34"/>
          <p:cNvSpPr txBox="1"/>
          <p:nvPr/>
        </p:nvSpPr>
        <p:spPr>
          <a:xfrm>
            <a:off x="6263640" y="2511552"/>
            <a:ext cx="2048256" cy="701040"/>
          </a:xfrm>
          <a:prstGeom prst="rect">
            <a:avLst/>
          </a:prstGeom>
          <a:noFill/>
        </p:spPr>
        <p:txBody>
          <a:bodyPr wrap="square" lIns="0" tIns="0" rIns="0" bIns="0" anchor="ctr">
            <a:spAutoFit/>
          </a:bodyPr>
          <a:lstStyle/>
          <a:p>
            <a:pPr algn="r">
              <a:lnSpc>
                <a:spcPct val="100000"/>
              </a:lnSpc>
            </a:pPr>
            <a:r>
              <a:rPr sz="1050">
                <a:solidFill>
                  <a:srgbClr val="0C1408"/>
                </a:solidFill>
                <a:latin typeface="Arial"/>
              </a:rPr>
              <a:t>Added by 100,000 members</a:t>
            </a:r>
          </a:p>
        </p:txBody>
      </p:sp>
      <p:sp>
        <p:nvSpPr>
          <p:cNvPr id="36" name="Rectangle 35"/>
          <p:cNvSpPr/>
          <p:nvPr/>
        </p:nvSpPr>
        <p:spPr>
          <a:xfrm>
            <a:off x="8439912" y="2651760"/>
            <a:ext cx="265450" cy="420624"/>
          </a:xfrm>
          <a:prstGeom prst="rect">
            <a:avLst/>
          </a:prstGeom>
          <a:solidFill>
            <a:srgbClr val="6DC72A"/>
          </a:solidFill>
          <a:ln>
            <a:noFill/>
          </a:ln>
        </p:spPr>
        <p:txBody>
          <a:bodyPr rtlCol="0" anchor="ctr"/>
          <a:lstStyle/>
          <a:p>
            <a:pPr algn="ctr"/>
          </a:p>
        </p:txBody>
      </p:sp>
      <p:sp>
        <p:nvSpPr>
          <p:cNvPr id="37" name="TextBox 36"/>
          <p:cNvSpPr txBox="1"/>
          <p:nvPr/>
        </p:nvSpPr>
        <p:spPr>
          <a:xfrm>
            <a:off x="8769370" y="2511552"/>
            <a:ext cx="548640" cy="701040"/>
          </a:xfrm>
          <a:prstGeom prst="rect">
            <a:avLst/>
          </a:prstGeom>
          <a:noFill/>
        </p:spPr>
        <p:txBody>
          <a:bodyPr wrap="square" lIns="0" tIns="0" rIns="0" bIns="0" anchor="ctr">
            <a:spAutoFit/>
          </a:bodyPr>
          <a:lstStyle/>
          <a:p>
            <a:pPr>
              <a:lnSpc>
                <a:spcPct val="105000"/>
              </a:lnSpc>
            </a:pPr>
            <a:r>
              <a:rPr sz="1050">
                <a:solidFill>
                  <a:srgbClr val="0C1408"/>
                </a:solidFill>
                <a:latin typeface="Arial"/>
              </a:rPr>
              <a:t>1.4</a:t>
            </a:r>
          </a:p>
        </p:txBody>
      </p:sp>
      <p:sp>
        <p:nvSpPr>
          <p:cNvPr id="38" name="TextBox 37"/>
          <p:cNvSpPr txBox="1"/>
          <p:nvPr/>
        </p:nvSpPr>
        <p:spPr>
          <a:xfrm>
            <a:off x="6263640" y="3212592"/>
            <a:ext cx="2048256" cy="701040"/>
          </a:xfrm>
          <a:prstGeom prst="rect">
            <a:avLst/>
          </a:prstGeom>
          <a:noFill/>
        </p:spPr>
        <p:txBody>
          <a:bodyPr wrap="square" lIns="0" tIns="0" rIns="0" bIns="0" anchor="ctr">
            <a:spAutoFit/>
          </a:bodyPr>
          <a:lstStyle/>
          <a:p>
            <a:pPr algn="r">
              <a:lnSpc>
                <a:spcPct val="100000"/>
              </a:lnSpc>
            </a:pPr>
            <a:r>
              <a:rPr sz="1050">
                <a:solidFill>
                  <a:srgbClr val="0C1408"/>
                </a:solidFill>
                <a:latin typeface="Arial"/>
              </a:rPr>
              <a:t>Added by 1,000,000 members</a:t>
            </a:r>
          </a:p>
        </p:txBody>
      </p:sp>
      <p:sp>
        <p:nvSpPr>
          <p:cNvPr id="39" name="Rectangle 38"/>
          <p:cNvSpPr/>
          <p:nvPr/>
        </p:nvSpPr>
        <p:spPr>
          <a:xfrm>
            <a:off x="8439912" y="3352800"/>
            <a:ext cx="2654503" cy="420624"/>
          </a:xfrm>
          <a:prstGeom prst="rect">
            <a:avLst/>
          </a:prstGeom>
          <a:solidFill>
            <a:srgbClr val="6DC72A"/>
          </a:solidFill>
          <a:ln>
            <a:noFill/>
          </a:ln>
        </p:spPr>
        <p:txBody>
          <a:bodyPr rtlCol="0" anchor="ctr"/>
          <a:lstStyle/>
          <a:p>
            <a:pPr algn="ctr"/>
          </a:p>
        </p:txBody>
      </p:sp>
      <p:sp>
        <p:nvSpPr>
          <p:cNvPr id="40" name="TextBox 39"/>
          <p:cNvSpPr txBox="1"/>
          <p:nvPr/>
        </p:nvSpPr>
        <p:spPr>
          <a:xfrm>
            <a:off x="11158423" y="3212592"/>
            <a:ext cx="548640" cy="701040"/>
          </a:xfrm>
          <a:prstGeom prst="rect">
            <a:avLst/>
          </a:prstGeom>
          <a:noFill/>
        </p:spPr>
        <p:txBody>
          <a:bodyPr wrap="square" lIns="0" tIns="0" rIns="0" bIns="0" anchor="ctr">
            <a:spAutoFit/>
          </a:bodyPr>
          <a:lstStyle/>
          <a:p>
            <a:pPr>
              <a:lnSpc>
                <a:spcPct val="105000"/>
              </a:lnSpc>
            </a:pPr>
            <a:r>
              <a:rPr sz="1050">
                <a:solidFill>
                  <a:srgbClr val="0C1408"/>
                </a:solidFill>
                <a:latin typeface="Arial"/>
              </a:rPr>
              <a:t>13.8</a:t>
            </a:r>
          </a:p>
        </p:txBody>
      </p:sp>
      <p:cxnSp>
        <p:nvCxnSpPr>
          <p:cNvPr id="41" name="Connector 40"/>
          <p:cNvCxnSpPr/>
          <p:nvPr/>
        </p:nvCxnSpPr>
        <p:spPr>
          <a:xfrm>
            <a:off x="8439912" y="1810512"/>
            <a:ext cx="0" cy="2103120"/>
          </a:xfrm>
          <a:prstGeom prst="line">
            <a:avLst/>
          </a:prstGeom>
          <a:ln w="12700">
            <a:solidFill>
              <a:srgbClr val="9CA3AF"/>
            </a:solidFill>
          </a:ln>
        </p:spPr>
      </p:cxn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Credit Reporting and Financing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Every instalment becomes a repayment record from the first day</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10</a:t>
            </a:r>
          </a:p>
        </p:txBody>
      </p:sp>
      <p:sp>
        <p:nvSpPr>
          <p:cNvPr id="6" name="Rectangle 5"/>
          <p:cNvSpPr/>
          <p:nvPr/>
        </p:nvSpPr>
        <p:spPr>
          <a:xfrm>
            <a:off x="548640" y="1572768"/>
            <a:ext cx="2971800" cy="1097280"/>
          </a:xfrm>
          <a:prstGeom prst="rect">
            <a:avLst/>
          </a:prstGeom>
          <a:solidFill>
            <a:srgbClr val="F3F4F6"/>
          </a:solidFill>
          <a:ln w="12700">
            <a:solidFill>
              <a:srgbClr val="4B5563"/>
            </a:solidFill>
          </a:ln>
        </p:spPr>
        <p:txBody>
          <a:bodyPr rtlCol="0" anchor="ctr"/>
          <a:lstStyle/>
          <a:p>
            <a:pPr algn="ctr"/>
          </a:p>
        </p:txBody>
      </p:sp>
      <p:sp>
        <p:nvSpPr>
          <p:cNvPr id="7" name="TextBox 6"/>
          <p:cNvSpPr txBox="1"/>
          <p:nvPr/>
        </p:nvSpPr>
        <p:spPr>
          <a:xfrm>
            <a:off x="685800" y="1664208"/>
            <a:ext cx="2697480" cy="274320"/>
          </a:xfrm>
          <a:prstGeom prst="rect">
            <a:avLst/>
          </a:prstGeom>
          <a:noFill/>
        </p:spPr>
        <p:txBody>
          <a:bodyPr wrap="square" lIns="0" tIns="0" rIns="0" bIns="0">
            <a:spAutoFit/>
          </a:bodyPr>
          <a:lstStyle/>
          <a:p>
            <a:pPr algn="ctr">
              <a:lnSpc>
                <a:spcPct val="105000"/>
              </a:lnSpc>
            </a:pPr>
            <a:r>
              <a:rPr sz="1200" b="1">
                <a:solidFill>
                  <a:srgbClr val="0C1408"/>
                </a:solidFill>
                <a:latin typeface="Arial"/>
              </a:rPr>
              <a:t>Twelve instalments paid</a:t>
            </a:r>
          </a:p>
        </p:txBody>
      </p:sp>
      <p:sp>
        <p:nvSpPr>
          <p:cNvPr id="8" name="Rectangle 7"/>
          <p:cNvSpPr/>
          <p:nvPr/>
        </p:nvSpPr>
        <p:spPr>
          <a:xfrm>
            <a:off x="73152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9" name="Connector 8"/>
          <p:cNvCxnSpPr/>
          <p:nvPr/>
        </p:nvCxnSpPr>
        <p:spPr>
          <a:xfrm>
            <a:off x="748665" y="2183587"/>
            <a:ext cx="55596" cy="51207"/>
          </a:xfrm>
          <a:prstGeom prst="line">
            <a:avLst/>
          </a:prstGeom>
          <a:ln w="17780">
            <a:solidFill>
              <a:srgbClr val="41801A"/>
            </a:solidFill>
          </a:ln>
        </p:spPr>
      </p:cxnSp>
      <p:cxnSp>
        <p:nvCxnSpPr>
          <p:cNvPr id="10" name="Connector 9"/>
          <p:cNvCxnSpPr/>
          <p:nvPr/>
        </p:nvCxnSpPr>
        <p:spPr>
          <a:xfrm flipV="1">
            <a:off x="804261" y="2117750"/>
            <a:ext cx="90708" cy="117044"/>
          </a:xfrm>
          <a:prstGeom prst="line">
            <a:avLst/>
          </a:prstGeom>
          <a:ln w="17780">
            <a:solidFill>
              <a:srgbClr val="41801A"/>
            </a:solidFill>
          </a:ln>
        </p:spPr>
      </p:cxnSp>
      <p:sp>
        <p:nvSpPr>
          <p:cNvPr id="11" name="Rectangle 10"/>
          <p:cNvSpPr/>
          <p:nvPr/>
        </p:nvSpPr>
        <p:spPr>
          <a:xfrm>
            <a:off x="94869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12" name="Connector 11"/>
          <p:cNvCxnSpPr/>
          <p:nvPr/>
        </p:nvCxnSpPr>
        <p:spPr>
          <a:xfrm>
            <a:off x="965835" y="2183587"/>
            <a:ext cx="55596" cy="51207"/>
          </a:xfrm>
          <a:prstGeom prst="line">
            <a:avLst/>
          </a:prstGeom>
          <a:ln w="17780">
            <a:solidFill>
              <a:srgbClr val="41801A"/>
            </a:solidFill>
          </a:ln>
        </p:spPr>
      </p:cxnSp>
      <p:cxnSp>
        <p:nvCxnSpPr>
          <p:cNvPr id="13" name="Connector 12"/>
          <p:cNvCxnSpPr/>
          <p:nvPr/>
        </p:nvCxnSpPr>
        <p:spPr>
          <a:xfrm flipV="1">
            <a:off x="1021431" y="2117750"/>
            <a:ext cx="90708" cy="117044"/>
          </a:xfrm>
          <a:prstGeom prst="line">
            <a:avLst/>
          </a:prstGeom>
          <a:ln w="17780">
            <a:solidFill>
              <a:srgbClr val="41801A"/>
            </a:solidFill>
          </a:ln>
        </p:spPr>
      </p:cxnSp>
      <p:sp>
        <p:nvSpPr>
          <p:cNvPr id="14" name="Rectangle 13"/>
          <p:cNvSpPr/>
          <p:nvPr/>
        </p:nvSpPr>
        <p:spPr>
          <a:xfrm>
            <a:off x="116586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15" name="Connector 14"/>
          <p:cNvCxnSpPr/>
          <p:nvPr/>
        </p:nvCxnSpPr>
        <p:spPr>
          <a:xfrm>
            <a:off x="1183005" y="2183587"/>
            <a:ext cx="55596" cy="51207"/>
          </a:xfrm>
          <a:prstGeom prst="line">
            <a:avLst/>
          </a:prstGeom>
          <a:ln w="17780">
            <a:solidFill>
              <a:srgbClr val="41801A"/>
            </a:solidFill>
          </a:ln>
        </p:spPr>
      </p:cxnSp>
      <p:cxnSp>
        <p:nvCxnSpPr>
          <p:cNvPr id="16" name="Connector 15"/>
          <p:cNvCxnSpPr/>
          <p:nvPr/>
        </p:nvCxnSpPr>
        <p:spPr>
          <a:xfrm flipV="1">
            <a:off x="1238601" y="2117750"/>
            <a:ext cx="90708" cy="117044"/>
          </a:xfrm>
          <a:prstGeom prst="line">
            <a:avLst/>
          </a:prstGeom>
          <a:ln w="17780">
            <a:solidFill>
              <a:srgbClr val="41801A"/>
            </a:solidFill>
          </a:ln>
        </p:spPr>
      </p:cxnSp>
      <p:sp>
        <p:nvSpPr>
          <p:cNvPr id="17" name="Rectangle 16"/>
          <p:cNvSpPr/>
          <p:nvPr/>
        </p:nvSpPr>
        <p:spPr>
          <a:xfrm>
            <a:off x="138303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18" name="Connector 17"/>
          <p:cNvCxnSpPr/>
          <p:nvPr/>
        </p:nvCxnSpPr>
        <p:spPr>
          <a:xfrm>
            <a:off x="1400175" y="2183587"/>
            <a:ext cx="55596" cy="51207"/>
          </a:xfrm>
          <a:prstGeom prst="line">
            <a:avLst/>
          </a:prstGeom>
          <a:ln w="17780">
            <a:solidFill>
              <a:srgbClr val="41801A"/>
            </a:solidFill>
          </a:ln>
        </p:spPr>
      </p:cxnSp>
      <p:cxnSp>
        <p:nvCxnSpPr>
          <p:cNvPr id="19" name="Connector 18"/>
          <p:cNvCxnSpPr/>
          <p:nvPr/>
        </p:nvCxnSpPr>
        <p:spPr>
          <a:xfrm flipV="1">
            <a:off x="1455771" y="2117750"/>
            <a:ext cx="90708" cy="117044"/>
          </a:xfrm>
          <a:prstGeom prst="line">
            <a:avLst/>
          </a:prstGeom>
          <a:ln w="17780">
            <a:solidFill>
              <a:srgbClr val="41801A"/>
            </a:solidFill>
          </a:ln>
        </p:spPr>
      </p:cxnSp>
      <p:sp>
        <p:nvSpPr>
          <p:cNvPr id="20" name="Rectangle 19"/>
          <p:cNvSpPr/>
          <p:nvPr/>
        </p:nvSpPr>
        <p:spPr>
          <a:xfrm>
            <a:off x="160020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21" name="Connector 20"/>
          <p:cNvCxnSpPr/>
          <p:nvPr/>
        </p:nvCxnSpPr>
        <p:spPr>
          <a:xfrm>
            <a:off x="1617345" y="2183587"/>
            <a:ext cx="55596" cy="51207"/>
          </a:xfrm>
          <a:prstGeom prst="line">
            <a:avLst/>
          </a:prstGeom>
          <a:ln w="17780">
            <a:solidFill>
              <a:srgbClr val="41801A"/>
            </a:solidFill>
          </a:ln>
        </p:spPr>
      </p:cxnSp>
      <p:cxnSp>
        <p:nvCxnSpPr>
          <p:cNvPr id="22" name="Connector 21"/>
          <p:cNvCxnSpPr/>
          <p:nvPr/>
        </p:nvCxnSpPr>
        <p:spPr>
          <a:xfrm flipV="1">
            <a:off x="1672941" y="2117750"/>
            <a:ext cx="90708" cy="117044"/>
          </a:xfrm>
          <a:prstGeom prst="line">
            <a:avLst/>
          </a:prstGeom>
          <a:ln w="17780">
            <a:solidFill>
              <a:srgbClr val="41801A"/>
            </a:solidFill>
          </a:ln>
        </p:spPr>
      </p:cxnSp>
      <p:sp>
        <p:nvSpPr>
          <p:cNvPr id="23" name="Rectangle 22"/>
          <p:cNvSpPr/>
          <p:nvPr/>
        </p:nvSpPr>
        <p:spPr>
          <a:xfrm>
            <a:off x="181737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24" name="Connector 23"/>
          <p:cNvCxnSpPr/>
          <p:nvPr/>
        </p:nvCxnSpPr>
        <p:spPr>
          <a:xfrm>
            <a:off x="1834515" y="2183587"/>
            <a:ext cx="55596" cy="51207"/>
          </a:xfrm>
          <a:prstGeom prst="line">
            <a:avLst/>
          </a:prstGeom>
          <a:ln w="17780">
            <a:solidFill>
              <a:srgbClr val="41801A"/>
            </a:solidFill>
          </a:ln>
        </p:spPr>
      </p:cxnSp>
      <p:cxnSp>
        <p:nvCxnSpPr>
          <p:cNvPr id="25" name="Connector 24"/>
          <p:cNvCxnSpPr/>
          <p:nvPr/>
        </p:nvCxnSpPr>
        <p:spPr>
          <a:xfrm flipV="1">
            <a:off x="1890111" y="2117750"/>
            <a:ext cx="90708" cy="117044"/>
          </a:xfrm>
          <a:prstGeom prst="line">
            <a:avLst/>
          </a:prstGeom>
          <a:ln w="17780">
            <a:solidFill>
              <a:srgbClr val="41801A"/>
            </a:solidFill>
          </a:ln>
        </p:spPr>
      </p:cxnSp>
      <p:sp>
        <p:nvSpPr>
          <p:cNvPr id="26" name="Rectangle 25"/>
          <p:cNvSpPr/>
          <p:nvPr/>
        </p:nvSpPr>
        <p:spPr>
          <a:xfrm>
            <a:off x="203454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27" name="Connector 26"/>
          <p:cNvCxnSpPr/>
          <p:nvPr/>
        </p:nvCxnSpPr>
        <p:spPr>
          <a:xfrm>
            <a:off x="2051685" y="2183587"/>
            <a:ext cx="55596" cy="51207"/>
          </a:xfrm>
          <a:prstGeom prst="line">
            <a:avLst/>
          </a:prstGeom>
          <a:ln w="17780">
            <a:solidFill>
              <a:srgbClr val="41801A"/>
            </a:solidFill>
          </a:ln>
        </p:spPr>
      </p:cxnSp>
      <p:cxnSp>
        <p:nvCxnSpPr>
          <p:cNvPr id="28" name="Connector 27"/>
          <p:cNvCxnSpPr/>
          <p:nvPr/>
        </p:nvCxnSpPr>
        <p:spPr>
          <a:xfrm flipV="1">
            <a:off x="2107281" y="2117750"/>
            <a:ext cx="90708" cy="117044"/>
          </a:xfrm>
          <a:prstGeom prst="line">
            <a:avLst/>
          </a:prstGeom>
          <a:ln w="17780">
            <a:solidFill>
              <a:srgbClr val="41801A"/>
            </a:solidFill>
          </a:ln>
        </p:spPr>
      </p:cxnSp>
      <p:sp>
        <p:nvSpPr>
          <p:cNvPr id="29" name="Rectangle 28"/>
          <p:cNvSpPr/>
          <p:nvPr/>
        </p:nvSpPr>
        <p:spPr>
          <a:xfrm>
            <a:off x="225171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30" name="Connector 29"/>
          <p:cNvCxnSpPr/>
          <p:nvPr/>
        </p:nvCxnSpPr>
        <p:spPr>
          <a:xfrm>
            <a:off x="2268855" y="2183587"/>
            <a:ext cx="55596" cy="51207"/>
          </a:xfrm>
          <a:prstGeom prst="line">
            <a:avLst/>
          </a:prstGeom>
          <a:ln w="17780">
            <a:solidFill>
              <a:srgbClr val="41801A"/>
            </a:solidFill>
          </a:ln>
        </p:spPr>
      </p:cxnSp>
      <p:cxnSp>
        <p:nvCxnSpPr>
          <p:cNvPr id="31" name="Connector 30"/>
          <p:cNvCxnSpPr/>
          <p:nvPr/>
        </p:nvCxnSpPr>
        <p:spPr>
          <a:xfrm flipV="1">
            <a:off x="2324451" y="2117750"/>
            <a:ext cx="90708" cy="117044"/>
          </a:xfrm>
          <a:prstGeom prst="line">
            <a:avLst/>
          </a:prstGeom>
          <a:ln w="17780">
            <a:solidFill>
              <a:srgbClr val="41801A"/>
            </a:solidFill>
          </a:ln>
        </p:spPr>
      </p:cxnSp>
      <p:sp>
        <p:nvSpPr>
          <p:cNvPr id="32" name="Rectangle 31"/>
          <p:cNvSpPr/>
          <p:nvPr/>
        </p:nvSpPr>
        <p:spPr>
          <a:xfrm>
            <a:off x="246888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33" name="Connector 32"/>
          <p:cNvCxnSpPr/>
          <p:nvPr/>
        </p:nvCxnSpPr>
        <p:spPr>
          <a:xfrm>
            <a:off x="2486025" y="2183587"/>
            <a:ext cx="55596" cy="51207"/>
          </a:xfrm>
          <a:prstGeom prst="line">
            <a:avLst/>
          </a:prstGeom>
          <a:ln w="17780">
            <a:solidFill>
              <a:srgbClr val="41801A"/>
            </a:solidFill>
          </a:ln>
        </p:spPr>
      </p:cxnSp>
      <p:cxnSp>
        <p:nvCxnSpPr>
          <p:cNvPr id="34" name="Connector 33"/>
          <p:cNvCxnSpPr/>
          <p:nvPr/>
        </p:nvCxnSpPr>
        <p:spPr>
          <a:xfrm flipV="1">
            <a:off x="2541621" y="2117750"/>
            <a:ext cx="90708" cy="117044"/>
          </a:xfrm>
          <a:prstGeom prst="line">
            <a:avLst/>
          </a:prstGeom>
          <a:ln w="17780">
            <a:solidFill>
              <a:srgbClr val="41801A"/>
            </a:solidFill>
          </a:ln>
        </p:spPr>
      </p:cxnSp>
      <p:sp>
        <p:nvSpPr>
          <p:cNvPr id="35" name="Rectangle 34"/>
          <p:cNvSpPr/>
          <p:nvPr/>
        </p:nvSpPr>
        <p:spPr>
          <a:xfrm>
            <a:off x="268605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36" name="Connector 35"/>
          <p:cNvCxnSpPr/>
          <p:nvPr/>
        </p:nvCxnSpPr>
        <p:spPr>
          <a:xfrm>
            <a:off x="2703195" y="2183587"/>
            <a:ext cx="55596" cy="51207"/>
          </a:xfrm>
          <a:prstGeom prst="line">
            <a:avLst/>
          </a:prstGeom>
          <a:ln w="17780">
            <a:solidFill>
              <a:srgbClr val="41801A"/>
            </a:solidFill>
          </a:ln>
        </p:spPr>
      </p:cxnSp>
      <p:cxnSp>
        <p:nvCxnSpPr>
          <p:cNvPr id="37" name="Connector 36"/>
          <p:cNvCxnSpPr/>
          <p:nvPr/>
        </p:nvCxnSpPr>
        <p:spPr>
          <a:xfrm flipV="1">
            <a:off x="2758791" y="2117750"/>
            <a:ext cx="90708" cy="117044"/>
          </a:xfrm>
          <a:prstGeom prst="line">
            <a:avLst/>
          </a:prstGeom>
          <a:ln w="17780">
            <a:solidFill>
              <a:srgbClr val="41801A"/>
            </a:solidFill>
          </a:ln>
        </p:spPr>
      </p:cxnSp>
      <p:sp>
        <p:nvSpPr>
          <p:cNvPr id="38" name="Rectangle 37"/>
          <p:cNvSpPr/>
          <p:nvPr/>
        </p:nvSpPr>
        <p:spPr>
          <a:xfrm>
            <a:off x="290322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39" name="Connector 38"/>
          <p:cNvCxnSpPr/>
          <p:nvPr/>
        </p:nvCxnSpPr>
        <p:spPr>
          <a:xfrm>
            <a:off x="2920365" y="2183587"/>
            <a:ext cx="55596" cy="51207"/>
          </a:xfrm>
          <a:prstGeom prst="line">
            <a:avLst/>
          </a:prstGeom>
          <a:ln w="17780">
            <a:solidFill>
              <a:srgbClr val="41801A"/>
            </a:solidFill>
          </a:ln>
        </p:spPr>
      </p:cxnSp>
      <p:cxnSp>
        <p:nvCxnSpPr>
          <p:cNvPr id="40" name="Connector 39"/>
          <p:cNvCxnSpPr/>
          <p:nvPr/>
        </p:nvCxnSpPr>
        <p:spPr>
          <a:xfrm flipV="1">
            <a:off x="2975961" y="2117750"/>
            <a:ext cx="90708" cy="117044"/>
          </a:xfrm>
          <a:prstGeom prst="line">
            <a:avLst/>
          </a:prstGeom>
          <a:ln w="17780">
            <a:solidFill>
              <a:srgbClr val="41801A"/>
            </a:solidFill>
          </a:ln>
        </p:spPr>
      </p:cxnSp>
      <p:sp>
        <p:nvSpPr>
          <p:cNvPr id="41" name="Rectangle 40"/>
          <p:cNvSpPr/>
          <p:nvPr/>
        </p:nvSpPr>
        <p:spPr>
          <a:xfrm>
            <a:off x="312039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42" name="Connector 41"/>
          <p:cNvCxnSpPr/>
          <p:nvPr/>
        </p:nvCxnSpPr>
        <p:spPr>
          <a:xfrm>
            <a:off x="3137535" y="2183587"/>
            <a:ext cx="55596" cy="51207"/>
          </a:xfrm>
          <a:prstGeom prst="line">
            <a:avLst/>
          </a:prstGeom>
          <a:ln w="17780">
            <a:solidFill>
              <a:srgbClr val="41801A"/>
            </a:solidFill>
          </a:ln>
        </p:spPr>
      </p:cxnSp>
      <p:cxnSp>
        <p:nvCxnSpPr>
          <p:cNvPr id="43" name="Connector 42"/>
          <p:cNvCxnSpPr/>
          <p:nvPr/>
        </p:nvCxnSpPr>
        <p:spPr>
          <a:xfrm flipV="1">
            <a:off x="3193131" y="2117750"/>
            <a:ext cx="90708" cy="117044"/>
          </a:xfrm>
          <a:prstGeom prst="line">
            <a:avLst/>
          </a:prstGeom>
          <a:ln w="17780">
            <a:solidFill>
              <a:srgbClr val="41801A"/>
            </a:solidFill>
          </a:ln>
        </p:spPr>
      </p:cxnSp>
      <p:sp>
        <p:nvSpPr>
          <p:cNvPr id="44" name="TextBox 43"/>
          <p:cNvSpPr txBox="1"/>
          <p:nvPr/>
        </p:nvSpPr>
        <p:spPr>
          <a:xfrm>
            <a:off x="685800" y="2395728"/>
            <a:ext cx="269748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one member, one circle</a:t>
            </a:r>
          </a:p>
        </p:txBody>
      </p:sp>
      <p:cxnSp>
        <p:nvCxnSpPr>
          <p:cNvPr id="45" name="Connector 44"/>
          <p:cNvCxnSpPr/>
          <p:nvPr/>
        </p:nvCxnSpPr>
        <p:spPr>
          <a:xfrm>
            <a:off x="3566160" y="2121408"/>
            <a:ext cx="365760" cy="0"/>
          </a:xfrm>
          <a:prstGeom prst="line">
            <a:avLst/>
          </a:prstGeom>
          <a:ln w="19050">
            <a:solidFill>
              <a:srgbClr val="4B5563"/>
            </a:solidFill>
            <a:tailEnd type="triangle" w="med" len="med"/>
          </a:ln>
        </p:spPr>
      </p:cxnSp>
      <p:sp>
        <p:nvSpPr>
          <p:cNvPr id="46" name="Rectangle 45"/>
          <p:cNvSpPr/>
          <p:nvPr/>
        </p:nvSpPr>
        <p:spPr>
          <a:xfrm>
            <a:off x="3977640" y="1572768"/>
            <a:ext cx="2250338" cy="1097280"/>
          </a:xfrm>
          <a:prstGeom prst="rect">
            <a:avLst/>
          </a:prstGeom>
          <a:solidFill>
            <a:srgbClr val="FFFFFF"/>
          </a:solidFill>
          <a:ln w="15875">
            <a:solidFill>
              <a:srgbClr val="0C1408"/>
            </a:solidFill>
          </a:ln>
        </p:spPr>
        <p:txBody>
          <a:bodyPr rtlCol="0" anchor="ctr" lIns="73152" tIns="54864" rIns="73152" bIns="54864" wrap="square"/>
          <a:lstStyle/>
          <a:p>
            <a:pPr algn="ctr">
              <a:lnSpc>
                <a:spcPct val="102000"/>
              </a:lnSpc>
            </a:pPr>
            <a:r>
              <a:rPr sz="1250" b="1">
                <a:solidFill>
                  <a:srgbClr val="0C1408"/>
                </a:solidFill>
                <a:latin typeface="Arial"/>
              </a:rPr>
              <a:t>Credit record</a:t>
            </a:r>
          </a:p>
          <a:p>
            <a:pPr algn="ctr">
              <a:lnSpc>
                <a:spcPct val="102000"/>
              </a:lnSpc>
              <a:spcBef>
                <a:spcPts val="200"/>
              </a:spcBef>
            </a:pPr>
            <a:r>
              <a:rPr sz="1050">
                <a:solidFill>
                  <a:srgbClr val="0C1408"/>
                </a:solidFill>
                <a:latin typeface="Arial"/>
              </a:rPr>
              <a:t>reported to TASDEEQ</a:t>
            </a:r>
          </a:p>
        </p:txBody>
      </p:sp>
      <p:cxnSp>
        <p:nvCxnSpPr>
          <p:cNvPr id="47" name="Connector 46"/>
          <p:cNvCxnSpPr/>
          <p:nvPr/>
        </p:nvCxnSpPr>
        <p:spPr>
          <a:xfrm>
            <a:off x="6273698" y="2121408"/>
            <a:ext cx="365760" cy="0"/>
          </a:xfrm>
          <a:prstGeom prst="line">
            <a:avLst/>
          </a:prstGeom>
          <a:ln w="19050">
            <a:solidFill>
              <a:srgbClr val="4B5563"/>
            </a:solidFill>
            <a:tailEnd type="triangle" w="med" len="med"/>
          </a:ln>
        </p:spPr>
      </p:cxnSp>
      <p:sp>
        <p:nvSpPr>
          <p:cNvPr id="48" name="Rectangle 47"/>
          <p:cNvSpPr/>
          <p:nvPr/>
        </p:nvSpPr>
        <p:spPr>
          <a:xfrm>
            <a:off x="6685178" y="1572768"/>
            <a:ext cx="2250338" cy="1097280"/>
          </a:xfrm>
          <a:prstGeom prst="rect">
            <a:avLst/>
          </a:prstGeom>
          <a:solidFill>
            <a:srgbClr val="F3FCE7"/>
          </a:solidFill>
          <a:ln w="15875">
            <a:solidFill>
              <a:srgbClr val="6DC72A"/>
            </a:solidFill>
          </a:ln>
        </p:spPr>
        <p:txBody>
          <a:bodyPr rtlCol="0" anchor="ctr" lIns="73152" tIns="54864" rIns="73152" bIns="54864" wrap="square"/>
          <a:lstStyle/>
          <a:p>
            <a:pPr algn="ctr">
              <a:lnSpc>
                <a:spcPct val="102000"/>
              </a:lnSpc>
            </a:pPr>
            <a:r>
              <a:rPr sz="1250" b="1">
                <a:solidFill>
                  <a:srgbClr val="0C1408"/>
                </a:solidFill>
                <a:latin typeface="Arial"/>
              </a:rPr>
              <a:t>Credit score</a:t>
            </a:r>
          </a:p>
          <a:p>
            <a:pPr algn="ctr">
              <a:lnSpc>
                <a:spcPct val="102000"/>
              </a:lnSpc>
              <a:spcBef>
                <a:spcPts val="200"/>
              </a:spcBef>
            </a:pPr>
            <a:r>
              <a:rPr sz="1050">
                <a:solidFill>
                  <a:srgbClr val="0C1408"/>
                </a:solidFill>
                <a:latin typeface="Arial"/>
              </a:rPr>
              <a:t>Halqa score, 300 to 850, updated with every payment or Linkage with Tasdeeq directly</a:t>
            </a:r>
          </a:p>
        </p:txBody>
      </p:sp>
      <p:cxnSp>
        <p:nvCxnSpPr>
          <p:cNvPr id="49" name="Connector 48"/>
          <p:cNvCxnSpPr/>
          <p:nvPr/>
        </p:nvCxnSpPr>
        <p:spPr>
          <a:xfrm>
            <a:off x="8981237" y="2121408"/>
            <a:ext cx="365760" cy="0"/>
          </a:xfrm>
          <a:prstGeom prst="line">
            <a:avLst/>
          </a:prstGeom>
          <a:ln w="19050">
            <a:solidFill>
              <a:srgbClr val="4B5563"/>
            </a:solidFill>
            <a:tailEnd type="triangle" w="med" len="med"/>
          </a:ln>
        </p:spPr>
      </p:cxnSp>
      <p:sp>
        <p:nvSpPr>
          <p:cNvPr id="50" name="Rectangle 49"/>
          <p:cNvSpPr/>
          <p:nvPr/>
        </p:nvSpPr>
        <p:spPr>
          <a:xfrm>
            <a:off x="9392717" y="1572768"/>
            <a:ext cx="2250338" cy="1097280"/>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250" b="1">
                <a:solidFill>
                  <a:srgbClr val="0C1408"/>
                </a:solidFill>
                <a:latin typeface="Arial"/>
              </a:rPr>
              <a:t>Financing offer</a:t>
            </a:r>
          </a:p>
          <a:p>
            <a:pPr algn="ctr">
              <a:lnSpc>
                <a:spcPct val="102000"/>
              </a:lnSpc>
              <a:spcBef>
                <a:spcPts val="200"/>
              </a:spcBef>
            </a:pPr>
            <a:r>
              <a:rPr sz="1050">
                <a:solidFill>
                  <a:srgbClr val="0C1408"/>
                </a:solidFill>
                <a:latin typeface="Arial"/>
              </a:rPr>
              <a:t>after a circle completes</a:t>
            </a:r>
          </a:p>
        </p:txBody>
      </p:sp>
      <p:sp>
        <p:nvSpPr>
          <p:cNvPr id="51" name="TextBox 50"/>
          <p:cNvSpPr txBox="1"/>
          <p:nvPr/>
        </p:nvSpPr>
        <p:spPr>
          <a:xfrm>
            <a:off x="548640" y="3017520"/>
            <a:ext cx="5341468" cy="274320"/>
          </a:xfrm>
          <a:prstGeom prst="rect">
            <a:avLst/>
          </a:prstGeom>
          <a:noFill/>
        </p:spPr>
        <p:txBody>
          <a:bodyPr wrap="square" lIns="0" tIns="0" rIns="0" bIns="0">
            <a:spAutoFit/>
          </a:bodyPr>
          <a:lstStyle/>
          <a:p>
            <a:pPr>
              <a:lnSpc>
                <a:spcPct val="105000"/>
              </a:lnSpc>
            </a:pPr>
            <a:r>
              <a:rPr sz="1250" b="1">
                <a:solidFill>
                  <a:srgbClr val="0C1408"/>
                </a:solidFill>
                <a:latin typeface="Arial"/>
              </a:rPr>
              <a:t>What each record holds</a:t>
            </a:r>
          </a:p>
        </p:txBody>
      </p:sp>
      <p:sp>
        <p:nvSpPr>
          <p:cNvPr id="52" name="TextBox 51"/>
          <p:cNvSpPr txBox="1"/>
          <p:nvPr/>
        </p:nvSpPr>
        <p:spPr>
          <a:xfrm>
            <a:off x="548640" y="3346704"/>
            <a:ext cx="5341468" cy="1280160"/>
          </a:xfrm>
          <a:prstGeom prst="rect">
            <a:avLst/>
          </a:prstGeom>
          <a:noFill/>
        </p:spPr>
        <p:txBody>
          <a:bodyPr wrap="square" lIns="0" tIns="0" rIns="0" bIns="0">
            <a:spAutoFit/>
          </a:bodyPr>
          <a:lstStyle/>
          <a:p>
            <a:pPr marL="173736" indent="-173736">
              <a:lnSpc>
                <a:spcPct val="104000"/>
              </a:lnSpc>
              <a:spcAft>
                <a:spcPts val="250"/>
              </a:spcAft>
              <a:buClr>
                <a:srgbClr val="573F99"/>
              </a:buClr>
              <a:buSzPct val="70000"/>
              <a:buFont typeface="Arial"/>
              <a:buChar char="■"/>
            </a:pPr>
            <a:r>
              <a:rPr sz="1150">
                <a:solidFill>
                  <a:srgbClr val="0C1408"/>
                </a:solidFill>
                <a:latin typeface="Arial"/>
              </a:rPr>
              <a:t>Amount and due date</a:t>
            </a:r>
          </a:p>
          <a:p>
            <a:pPr marL="173736" indent="-173736">
              <a:lnSpc>
                <a:spcPct val="104000"/>
              </a:lnSpc>
              <a:spcAft>
                <a:spcPts val="250"/>
              </a:spcAft>
              <a:buClr>
                <a:srgbClr val="573F99"/>
              </a:buClr>
              <a:buSzPct val="70000"/>
              <a:buFont typeface="Arial"/>
              <a:buChar char="■"/>
            </a:pPr>
            <a:r>
              <a:rPr sz="1150">
                <a:solidFill>
                  <a:srgbClr val="0C1408"/>
                </a:solidFill>
                <a:latin typeface="Arial"/>
              </a:rPr>
              <a:t>Date paid, on time or late</a:t>
            </a:r>
          </a:p>
          <a:p>
            <a:pPr marL="173736" indent="-173736">
              <a:lnSpc>
                <a:spcPct val="104000"/>
              </a:lnSpc>
              <a:spcAft>
                <a:spcPts val="250"/>
              </a:spcAft>
              <a:buClr>
                <a:srgbClr val="573F99"/>
              </a:buClr>
              <a:buSzPct val="70000"/>
              <a:buFont typeface="Arial"/>
              <a:buChar char="■"/>
            </a:pPr>
            <a:r>
              <a:rPr sz="1150">
                <a:solidFill>
                  <a:srgbClr val="0C1408"/>
                </a:solidFill>
                <a:latin typeface="Arial"/>
              </a:rPr>
              <a:t>Circle type and turn</a:t>
            </a:r>
          </a:p>
          <a:p>
            <a:pPr marL="173736" indent="-173736">
              <a:lnSpc>
                <a:spcPct val="104000"/>
              </a:lnSpc>
              <a:spcAft>
                <a:spcPts val="250"/>
              </a:spcAft>
              <a:buClr>
                <a:srgbClr val="573F99"/>
              </a:buClr>
              <a:buSzPct val="70000"/>
              <a:buFont typeface="Arial"/>
              <a:buChar char="■"/>
            </a:pPr>
            <a:r>
              <a:rPr sz="1150">
                <a:solidFill>
                  <a:srgbClr val="0C1408"/>
                </a:solidFill>
                <a:latin typeface="Arial"/>
              </a:rPr>
              <a:t>Whether the circle completed</a:t>
            </a:r>
          </a:p>
        </p:txBody>
      </p:sp>
      <p:sp>
        <p:nvSpPr>
          <p:cNvPr id="53" name="TextBox 52"/>
          <p:cNvSpPr txBox="1"/>
          <p:nvPr/>
        </p:nvSpPr>
        <p:spPr>
          <a:xfrm>
            <a:off x="6301588" y="3017520"/>
            <a:ext cx="5341468" cy="274320"/>
          </a:xfrm>
          <a:prstGeom prst="rect">
            <a:avLst/>
          </a:prstGeom>
          <a:noFill/>
        </p:spPr>
        <p:txBody>
          <a:bodyPr wrap="square" lIns="0" tIns="0" rIns="0" bIns="0">
            <a:spAutoFit/>
          </a:bodyPr>
          <a:lstStyle/>
          <a:p>
            <a:pPr>
              <a:lnSpc>
                <a:spcPct val="105000"/>
              </a:lnSpc>
            </a:pPr>
            <a:r>
              <a:rPr sz="1250" b="1">
                <a:solidFill>
                  <a:srgbClr val="0C1408"/>
                </a:solidFill>
                <a:latin typeface="Arial"/>
              </a:rPr>
              <a:t>Reporting route</a:t>
            </a:r>
          </a:p>
        </p:txBody>
      </p:sp>
      <p:sp>
        <p:nvSpPr>
          <p:cNvPr id="54" name="TextBox 53"/>
          <p:cNvSpPr txBox="1"/>
          <p:nvPr/>
        </p:nvSpPr>
        <p:spPr>
          <a:xfrm>
            <a:off x="6301588" y="3346704"/>
            <a:ext cx="5341468" cy="1280160"/>
          </a:xfrm>
          <a:prstGeom prst="rect">
            <a:avLst/>
          </a:prstGeom>
          <a:noFill/>
        </p:spPr>
        <p:txBody>
          <a:bodyPr wrap="square" lIns="0" tIns="0" rIns="0" bIns="0">
            <a:spAutoFit/>
          </a:bodyPr>
          <a:lstStyle/>
          <a:p>
            <a:pPr marL="173736" indent="-173736">
              <a:lnSpc>
                <a:spcPct val="104000"/>
              </a:lnSpc>
              <a:spcAft>
                <a:spcPts val="250"/>
              </a:spcAft>
              <a:buClr>
                <a:srgbClr val="573F99"/>
              </a:buClr>
              <a:buSzPct val="70000"/>
              <a:buFont typeface="Arial"/>
              <a:buChar char="■"/>
            </a:pPr>
            <a:r>
              <a:rPr sz="1150">
                <a:solidFill>
                  <a:srgbClr val="0C1408"/>
                </a:solidFill>
                <a:latin typeface="Arial"/>
              </a:rPr>
              <a:t>Through Raqami’s TASDEEQ membership</a:t>
            </a:r>
          </a:p>
          <a:p>
            <a:pPr marL="173736" indent="-173736">
              <a:lnSpc>
                <a:spcPct val="104000"/>
              </a:lnSpc>
              <a:spcAft>
                <a:spcPts val="250"/>
              </a:spcAft>
              <a:buClr>
                <a:srgbClr val="573F99"/>
              </a:buClr>
              <a:buSzPct val="70000"/>
              <a:buFont typeface="Arial"/>
              <a:buChar char="■"/>
            </a:pPr>
            <a:r>
              <a:rPr sz="1150">
                <a:solidFill>
                  <a:srgbClr val="0C1408"/>
                </a:solidFill>
                <a:latin typeface="Arial"/>
              </a:rPr>
              <a:t>Or Halqa as a data provider</a:t>
            </a:r>
          </a:p>
          <a:p>
            <a:pPr marL="173736" indent="-173736">
              <a:lnSpc>
                <a:spcPct val="104000"/>
              </a:lnSpc>
              <a:spcAft>
                <a:spcPts val="250"/>
              </a:spcAft>
              <a:buClr>
                <a:srgbClr val="573F99"/>
              </a:buClr>
              <a:buSzPct val="70000"/>
              <a:buFont typeface="Arial"/>
              <a:buChar char="■"/>
            </a:pPr>
            <a:r>
              <a:rPr sz="1150">
                <a:solidFill>
                  <a:srgbClr val="0C1408"/>
                </a:solidFill>
                <a:latin typeface="Arial"/>
              </a:rPr>
              <a:t>Raqami decides the route</a:t>
            </a:r>
          </a:p>
          <a:p>
            <a:pPr marL="173736" indent="-173736">
              <a:lnSpc>
                <a:spcPct val="104000"/>
              </a:lnSpc>
              <a:spcAft>
                <a:spcPts val="250"/>
              </a:spcAft>
              <a:buClr>
                <a:srgbClr val="573F99"/>
              </a:buClr>
              <a:buSzPct val="70000"/>
              <a:buFont typeface="Arial"/>
              <a:buChar char="■"/>
            </a:pPr>
            <a:r>
              <a:rPr sz="1150">
                <a:solidFill>
                  <a:srgbClr val="0C1408"/>
                </a:solidFill>
                <a:latin typeface="Arial"/>
              </a:rPr>
              <a:t>From the first payment</a:t>
            </a:r>
          </a:p>
        </p:txBody>
      </p:sp>
      <p:sp>
        <p:nvSpPr>
          <p:cNvPr id="55" name="Rectangle 54"/>
          <p:cNvSpPr/>
          <p:nvPr/>
        </p:nvSpPr>
        <p:spPr>
          <a:xfrm>
            <a:off x="548640" y="4846320"/>
            <a:ext cx="11094415" cy="1325880"/>
          </a:xfrm>
          <a:prstGeom prst="rect">
            <a:avLst/>
          </a:prstGeom>
          <a:solidFill>
            <a:srgbClr val="F4F1FB"/>
          </a:solidFill>
          <a:ln>
            <a:noFill/>
          </a:ln>
        </p:spPr>
        <p:txBody>
          <a:bodyPr rtlCol="0" anchor="ctr"/>
          <a:lstStyle/>
          <a:p>
            <a:pPr algn="ctr"/>
          </a:p>
        </p:txBody>
      </p:sp>
      <p:sp>
        <p:nvSpPr>
          <p:cNvPr id="56" name="TextBox 55"/>
          <p:cNvSpPr txBox="1"/>
          <p:nvPr/>
        </p:nvSpPr>
        <p:spPr>
          <a:xfrm>
            <a:off x="777240" y="4983480"/>
            <a:ext cx="3017520" cy="414528"/>
          </a:xfrm>
          <a:prstGeom prst="rect">
            <a:avLst/>
          </a:prstGeom>
          <a:noFill/>
        </p:spPr>
        <p:txBody>
          <a:bodyPr wrap="square" lIns="0" tIns="0" rIns="0" bIns="0">
            <a:spAutoFit/>
          </a:bodyPr>
          <a:lstStyle/>
          <a:p>
            <a:pPr>
              <a:lnSpc>
                <a:spcPct val="100000"/>
              </a:lnSpc>
            </a:pPr>
            <a:r>
              <a:rPr sz="2400" b="1">
                <a:solidFill>
                  <a:srgbClr val="3E2B73"/>
                </a:solidFill>
                <a:latin typeface="Arial"/>
              </a:rPr>
              <a:t>Rs 27.6 million</a:t>
            </a:r>
          </a:p>
        </p:txBody>
      </p:sp>
      <p:sp>
        <p:nvSpPr>
          <p:cNvPr id="57" name="TextBox 56"/>
          <p:cNvSpPr txBox="1"/>
          <p:nvPr/>
        </p:nvSpPr>
        <p:spPr>
          <a:xfrm>
            <a:off x="777240" y="5379720"/>
            <a:ext cx="3017520" cy="457200"/>
          </a:xfrm>
          <a:prstGeom prst="rect">
            <a:avLst/>
          </a:prstGeom>
          <a:noFill/>
        </p:spPr>
        <p:txBody>
          <a:bodyPr wrap="square" lIns="0" tIns="0" rIns="0" bIns="0">
            <a:spAutoFit/>
          </a:bodyPr>
          <a:lstStyle/>
          <a:p>
            <a:pPr>
              <a:lnSpc>
                <a:spcPct val="104000"/>
              </a:lnSpc>
            </a:pPr>
            <a:r>
              <a:rPr sz="1100">
                <a:solidFill>
                  <a:srgbClr val="0C1408"/>
                </a:solidFill>
                <a:latin typeface="Arial"/>
              </a:rPr>
              <a:t>of Islamic financing at 30 June 2026 [2]</a:t>
            </a:r>
          </a:p>
        </p:txBody>
      </p:sp>
      <p:sp>
        <p:nvSpPr>
          <p:cNvPr id="58" name="TextBox 57"/>
          <p:cNvSpPr txBox="1"/>
          <p:nvPr/>
        </p:nvSpPr>
        <p:spPr>
          <a:xfrm>
            <a:off x="4206240" y="5029200"/>
            <a:ext cx="7162495" cy="1005840"/>
          </a:xfrm>
          <a:prstGeom prst="rect">
            <a:avLst/>
          </a:prstGeom>
          <a:noFill/>
        </p:spPr>
        <p:txBody>
          <a:bodyPr wrap="square" lIns="0" tIns="0" rIns="0" bIns="0">
            <a:spAutoFit/>
          </a:bodyPr>
          <a:lstStyle/>
          <a:p>
            <a:pPr>
              <a:lnSpc>
                <a:spcPct val="108000"/>
              </a:lnSpc>
            </a:pPr>
            <a:r>
              <a:rPr sz="1250">
                <a:solidFill>
                  <a:srgbClr val="0C1408"/>
                </a:solidFill>
                <a:latin typeface="Arial"/>
              </a:rPr>
              <a:t>Raqami plans auto, fleet and supply chain financing. Committee members arrive with twelve months of repayment history, the data needed to finance them safely, beginning with ijarah for motorcycles and machines bought through asset circles.</a:t>
            </a:r>
          </a:p>
        </p:txBody>
      </p:sp>
      <p:sp>
        <p:nvSpPr>
          <p:cNvPr id="59" name="TextBox 58"/>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Mission Asset Fund lending circles, evaluation by San Francisco State University, 600+ participants    2  Raqami Islamic Digital Bank, half year report to 30 June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Raqami Products Used</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Existing products at each step of a committee, and three new lines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11</a:t>
            </a:r>
          </a:p>
        </p:txBody>
      </p:sp>
      <p:cxnSp>
        <p:nvCxnSpPr>
          <p:cNvPr id="6" name="Connector 5"/>
          <p:cNvCxnSpPr/>
          <p:nvPr/>
        </p:nvCxnSpPr>
        <p:spPr>
          <a:xfrm>
            <a:off x="1658082" y="2395728"/>
            <a:ext cx="8875532" cy="0"/>
          </a:xfrm>
          <a:prstGeom prst="line">
            <a:avLst/>
          </a:prstGeom>
          <a:ln w="50800">
            <a:solidFill>
              <a:srgbClr val="573F99"/>
            </a:solidFill>
          </a:ln>
        </p:spPr>
      </p:cxnSp>
      <p:sp>
        <p:nvSpPr>
          <p:cNvPr id="7" name="TextBox 6"/>
          <p:cNvSpPr txBox="1"/>
          <p:nvPr/>
        </p:nvSpPr>
        <p:spPr>
          <a:xfrm>
            <a:off x="548640" y="162763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Open</a:t>
            </a:r>
          </a:p>
        </p:txBody>
      </p:sp>
      <p:sp>
        <p:nvSpPr>
          <p:cNvPr id="8" name="Oval 7"/>
          <p:cNvSpPr/>
          <p:nvPr/>
        </p:nvSpPr>
        <p:spPr>
          <a:xfrm>
            <a:off x="1539210" y="2276856"/>
            <a:ext cx="237744" cy="237744"/>
          </a:xfrm>
          <a:prstGeom prst="ellipse">
            <a:avLst/>
          </a:prstGeom>
          <a:solidFill>
            <a:srgbClr val="FFFFFF"/>
          </a:solidFill>
          <a:ln w="31750">
            <a:solidFill>
              <a:srgbClr val="573F99"/>
            </a:solidFill>
          </a:ln>
        </p:spPr>
        <p:txBody>
          <a:bodyPr rtlCol="0" anchor="ctr"/>
          <a:lstStyle/>
          <a:p>
            <a:pPr algn="ctr"/>
          </a:p>
        </p:txBody>
      </p:sp>
      <p:sp>
        <p:nvSpPr>
          <p:cNvPr id="9" name="Rectangle 8"/>
          <p:cNvSpPr/>
          <p:nvPr/>
        </p:nvSpPr>
        <p:spPr>
          <a:xfrm>
            <a:off x="697962" y="2697480"/>
            <a:ext cx="1920240" cy="713232"/>
          </a:xfrm>
          <a:prstGeom prst="rect">
            <a:avLst/>
          </a:prstGeom>
          <a:solidFill>
            <a:srgbClr val="F4F1FB"/>
          </a:solidFill>
          <a:ln w="15875">
            <a:solidFill>
              <a:srgbClr val="573F99"/>
            </a:solidFill>
          </a:ln>
        </p:spPr>
        <p:txBody>
          <a:bodyPr rtlCol="0" anchor="ctr"/>
          <a:lstStyle/>
          <a:p>
            <a:pPr algn="ctr"/>
          </a:p>
        </p:txBody>
      </p:sp>
      <p:pic>
        <p:nvPicPr>
          <p:cNvPr id="10" name="Picture 9" descr="raqami_tile.png"/>
          <p:cNvPicPr>
            <a:picLocks noChangeAspect="1"/>
          </p:cNvPicPr>
          <p:nvPr/>
        </p:nvPicPr>
        <p:blipFill>
          <a:blip r:embed="rId3"/>
          <a:stretch>
            <a:fillRect/>
          </a:stretch>
        </p:blipFill>
        <p:spPr>
          <a:xfrm>
            <a:off x="771114" y="2798064"/>
            <a:ext cx="512064" cy="512064"/>
          </a:xfrm>
          <a:prstGeom prst="rect">
            <a:avLst/>
          </a:prstGeom>
        </p:spPr>
      </p:pic>
      <p:sp>
        <p:nvSpPr>
          <p:cNvPr id="11" name="TextBox 10"/>
          <p:cNvSpPr txBox="1"/>
          <p:nvPr/>
        </p:nvSpPr>
        <p:spPr>
          <a:xfrm>
            <a:off x="1338042" y="2697480"/>
            <a:ext cx="1225296" cy="713232"/>
          </a:xfrm>
          <a:prstGeom prst="rect">
            <a:avLst/>
          </a:prstGeom>
          <a:noFill/>
        </p:spPr>
        <p:txBody>
          <a:bodyPr wrap="square" lIns="0" tIns="0" rIns="0" bIns="0" anchor="ctr">
            <a:spAutoFit/>
          </a:bodyPr>
          <a:lstStyle/>
          <a:p>
            <a:pPr algn="ctr">
              <a:lnSpc>
                <a:spcPct val="102000"/>
              </a:lnSpc>
            </a:pPr>
            <a:r>
              <a:rPr sz="1150" b="1">
                <a:solidFill>
                  <a:srgbClr val="0C1408"/>
                </a:solidFill>
                <a:latin typeface="Arial"/>
              </a:rPr>
              <a:t>Asaan Digital Account</a:t>
            </a:r>
          </a:p>
        </p:txBody>
      </p:sp>
      <p:sp>
        <p:nvSpPr>
          <p:cNvPr id="12" name="TextBox 11"/>
          <p:cNvSpPr txBox="1"/>
          <p:nvPr/>
        </p:nvSpPr>
        <p:spPr>
          <a:xfrm>
            <a:off x="640080" y="3493008"/>
            <a:ext cx="2036003" cy="502920"/>
          </a:xfrm>
          <a:prstGeom prst="rect">
            <a:avLst/>
          </a:prstGeom>
          <a:noFill/>
        </p:spPr>
        <p:txBody>
          <a:bodyPr wrap="square" lIns="0" tIns="0" rIns="0" bIns="0">
            <a:spAutoFit/>
          </a:bodyPr>
          <a:lstStyle/>
          <a:p>
            <a:pPr algn="ctr">
              <a:lnSpc>
                <a:spcPct val="103000"/>
              </a:lnSpc>
            </a:pPr>
            <a:r>
              <a:rPr sz="1050">
                <a:solidFill>
                  <a:srgbClr val="0C1408"/>
                </a:solidFill>
                <a:latin typeface="Arial"/>
              </a:rPr>
              <a:t>CNIC and mobile number</a:t>
            </a:r>
          </a:p>
        </p:txBody>
      </p:sp>
      <p:sp>
        <p:nvSpPr>
          <p:cNvPr id="13" name="TextBox 12"/>
          <p:cNvSpPr txBox="1"/>
          <p:nvPr/>
        </p:nvSpPr>
        <p:spPr>
          <a:xfrm>
            <a:off x="2767523" y="162763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Salary in</a:t>
            </a:r>
          </a:p>
        </p:txBody>
      </p:sp>
      <p:sp>
        <p:nvSpPr>
          <p:cNvPr id="14" name="Oval 13"/>
          <p:cNvSpPr/>
          <p:nvPr/>
        </p:nvSpPr>
        <p:spPr>
          <a:xfrm>
            <a:off x="3758093" y="2276856"/>
            <a:ext cx="237744" cy="237744"/>
          </a:xfrm>
          <a:prstGeom prst="ellipse">
            <a:avLst/>
          </a:prstGeom>
          <a:solidFill>
            <a:srgbClr val="FFFFFF"/>
          </a:solidFill>
          <a:ln w="31750">
            <a:solidFill>
              <a:srgbClr val="573F99"/>
            </a:solidFill>
          </a:ln>
        </p:spPr>
        <p:txBody>
          <a:bodyPr rtlCol="0" anchor="ctr"/>
          <a:lstStyle/>
          <a:p>
            <a:pPr algn="ctr"/>
          </a:p>
        </p:txBody>
      </p:sp>
      <p:sp>
        <p:nvSpPr>
          <p:cNvPr id="15" name="Rectangle 14"/>
          <p:cNvSpPr/>
          <p:nvPr/>
        </p:nvSpPr>
        <p:spPr>
          <a:xfrm>
            <a:off x="2916845" y="2697480"/>
            <a:ext cx="1920240" cy="713232"/>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50" b="1">
                <a:solidFill>
                  <a:srgbClr val="0C1408"/>
                </a:solidFill>
                <a:latin typeface="Arial"/>
              </a:rPr>
              <a:t>Mudarabah Savings Account</a:t>
            </a:r>
          </a:p>
        </p:txBody>
      </p:sp>
      <p:sp>
        <p:nvSpPr>
          <p:cNvPr id="16" name="TextBox 15"/>
          <p:cNvSpPr txBox="1"/>
          <p:nvPr/>
        </p:nvSpPr>
        <p:spPr>
          <a:xfrm>
            <a:off x="2858963" y="3493008"/>
            <a:ext cx="2036003" cy="502920"/>
          </a:xfrm>
          <a:prstGeom prst="rect">
            <a:avLst/>
          </a:prstGeom>
          <a:noFill/>
        </p:spPr>
        <p:txBody>
          <a:bodyPr wrap="square" lIns="0" tIns="0" rIns="0" bIns="0">
            <a:spAutoFit/>
          </a:bodyPr>
          <a:lstStyle/>
          <a:p>
            <a:pPr algn="ctr">
              <a:lnSpc>
                <a:spcPct val="103000"/>
              </a:lnSpc>
            </a:pPr>
            <a:r>
              <a:rPr sz="1050">
                <a:solidFill>
                  <a:srgbClr val="0C1408"/>
                </a:solidFill>
                <a:latin typeface="Arial"/>
              </a:rPr>
              <a:t>10.5% in August 2026</a:t>
            </a:r>
          </a:p>
        </p:txBody>
      </p:sp>
      <p:sp>
        <p:nvSpPr>
          <p:cNvPr id="17" name="TextBox 16"/>
          <p:cNvSpPr txBox="1"/>
          <p:nvPr/>
        </p:nvSpPr>
        <p:spPr>
          <a:xfrm>
            <a:off x="4986406" y="162763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Held until the 8th</a:t>
            </a:r>
          </a:p>
        </p:txBody>
      </p:sp>
      <p:sp>
        <p:nvSpPr>
          <p:cNvPr id="18" name="Oval 17"/>
          <p:cNvSpPr/>
          <p:nvPr/>
        </p:nvSpPr>
        <p:spPr>
          <a:xfrm>
            <a:off x="5976976" y="2276856"/>
            <a:ext cx="237744" cy="237744"/>
          </a:xfrm>
          <a:prstGeom prst="ellipse">
            <a:avLst/>
          </a:prstGeom>
          <a:solidFill>
            <a:srgbClr val="FFFFFF"/>
          </a:solidFill>
          <a:ln w="31750">
            <a:solidFill>
              <a:srgbClr val="573F99"/>
            </a:solidFill>
          </a:ln>
        </p:spPr>
        <p:txBody>
          <a:bodyPr rtlCol="0" anchor="ctr"/>
          <a:lstStyle/>
          <a:p>
            <a:pPr algn="ctr"/>
          </a:p>
        </p:txBody>
      </p:sp>
      <p:sp>
        <p:nvSpPr>
          <p:cNvPr id="19" name="Rectangle 18"/>
          <p:cNvSpPr/>
          <p:nvPr/>
        </p:nvSpPr>
        <p:spPr>
          <a:xfrm>
            <a:off x="5135728" y="2697480"/>
            <a:ext cx="1920240" cy="713232"/>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50" b="1">
                <a:solidFill>
                  <a:srgbClr val="0C1408"/>
                </a:solidFill>
                <a:latin typeface="Arial"/>
              </a:rPr>
              <a:t>7 day Mudarabah Certificate</a:t>
            </a:r>
          </a:p>
        </p:txBody>
      </p:sp>
      <p:sp>
        <p:nvSpPr>
          <p:cNvPr id="20" name="TextBox 19"/>
          <p:cNvSpPr txBox="1"/>
          <p:nvPr/>
        </p:nvSpPr>
        <p:spPr>
          <a:xfrm>
            <a:off x="5077846" y="3493008"/>
            <a:ext cx="2036003" cy="502920"/>
          </a:xfrm>
          <a:prstGeom prst="rect">
            <a:avLst/>
          </a:prstGeom>
          <a:noFill/>
        </p:spPr>
        <p:txBody>
          <a:bodyPr wrap="square" lIns="0" tIns="0" rIns="0" bIns="0">
            <a:spAutoFit/>
          </a:bodyPr>
          <a:lstStyle/>
          <a:p>
            <a:pPr algn="ctr">
              <a:lnSpc>
                <a:spcPct val="103000"/>
              </a:lnSpc>
            </a:pPr>
            <a:r>
              <a:rPr sz="1050">
                <a:solidFill>
                  <a:srgbClr val="0C1408"/>
                </a:solidFill>
                <a:latin typeface="Arial"/>
              </a:rPr>
              <a:t>10% in August 2026</a:t>
            </a:r>
          </a:p>
        </p:txBody>
      </p:sp>
      <p:sp>
        <p:nvSpPr>
          <p:cNvPr id="21" name="TextBox 20"/>
          <p:cNvSpPr txBox="1"/>
          <p:nvPr/>
        </p:nvSpPr>
        <p:spPr>
          <a:xfrm>
            <a:off x="7205289" y="162763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Payout</a:t>
            </a:r>
          </a:p>
        </p:txBody>
      </p:sp>
      <p:sp>
        <p:nvSpPr>
          <p:cNvPr id="22" name="Oval 21"/>
          <p:cNvSpPr/>
          <p:nvPr/>
        </p:nvSpPr>
        <p:spPr>
          <a:xfrm>
            <a:off x="8195859" y="2276856"/>
            <a:ext cx="237744" cy="237744"/>
          </a:xfrm>
          <a:prstGeom prst="ellipse">
            <a:avLst/>
          </a:prstGeom>
          <a:solidFill>
            <a:srgbClr val="FFFFFF"/>
          </a:solidFill>
          <a:ln w="31750">
            <a:solidFill>
              <a:srgbClr val="573F99"/>
            </a:solidFill>
          </a:ln>
        </p:spPr>
        <p:txBody>
          <a:bodyPr rtlCol="0" anchor="ctr"/>
          <a:lstStyle/>
          <a:p>
            <a:pPr algn="ctr"/>
          </a:p>
        </p:txBody>
      </p:sp>
      <p:sp>
        <p:nvSpPr>
          <p:cNvPr id="23" name="Rectangle 22"/>
          <p:cNvSpPr/>
          <p:nvPr/>
        </p:nvSpPr>
        <p:spPr>
          <a:xfrm>
            <a:off x="7354611" y="2697480"/>
            <a:ext cx="1920240" cy="713232"/>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50" b="1">
                <a:solidFill>
                  <a:srgbClr val="0C1408"/>
                </a:solidFill>
                <a:latin typeface="Arial"/>
              </a:rPr>
              <a:t>Free Raqami transfer</a:t>
            </a:r>
          </a:p>
        </p:txBody>
      </p:sp>
      <p:sp>
        <p:nvSpPr>
          <p:cNvPr id="24" name="TextBox 23"/>
          <p:cNvSpPr txBox="1"/>
          <p:nvPr/>
        </p:nvSpPr>
        <p:spPr>
          <a:xfrm>
            <a:off x="7296729" y="3493008"/>
            <a:ext cx="2036003" cy="502920"/>
          </a:xfrm>
          <a:prstGeom prst="rect">
            <a:avLst/>
          </a:prstGeom>
          <a:noFill/>
        </p:spPr>
        <p:txBody>
          <a:bodyPr wrap="square" lIns="0" tIns="0" rIns="0" bIns="0">
            <a:spAutoFit/>
          </a:bodyPr>
          <a:lstStyle/>
          <a:p>
            <a:pPr algn="ctr">
              <a:lnSpc>
                <a:spcPct val="103000"/>
              </a:lnSpc>
            </a:pPr>
            <a:r>
              <a:rPr sz="1050">
                <a:solidFill>
                  <a:srgbClr val="0C1408"/>
                </a:solidFill>
                <a:latin typeface="Arial"/>
              </a:rPr>
              <a:t>the pot, the same day</a:t>
            </a:r>
          </a:p>
        </p:txBody>
      </p:sp>
      <p:sp>
        <p:nvSpPr>
          <p:cNvPr id="25" name="TextBox 24"/>
          <p:cNvSpPr txBox="1"/>
          <p:nvPr/>
        </p:nvSpPr>
        <p:spPr>
          <a:xfrm>
            <a:off x="9424172" y="162763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Cash in</a:t>
            </a:r>
          </a:p>
        </p:txBody>
      </p:sp>
      <p:sp>
        <p:nvSpPr>
          <p:cNvPr id="26" name="Oval 25"/>
          <p:cNvSpPr/>
          <p:nvPr/>
        </p:nvSpPr>
        <p:spPr>
          <a:xfrm>
            <a:off x="10414742" y="2276856"/>
            <a:ext cx="237744" cy="237744"/>
          </a:xfrm>
          <a:prstGeom prst="ellipse">
            <a:avLst/>
          </a:prstGeom>
          <a:solidFill>
            <a:srgbClr val="FFFFFF"/>
          </a:solidFill>
          <a:ln w="31750">
            <a:solidFill>
              <a:srgbClr val="573F99"/>
            </a:solidFill>
          </a:ln>
        </p:spPr>
        <p:txBody>
          <a:bodyPr rtlCol="0" anchor="ctr"/>
          <a:lstStyle/>
          <a:p>
            <a:pPr algn="ctr"/>
          </a:p>
        </p:txBody>
      </p:sp>
      <p:sp>
        <p:nvSpPr>
          <p:cNvPr id="27" name="Rectangle 26"/>
          <p:cNvSpPr/>
          <p:nvPr/>
        </p:nvSpPr>
        <p:spPr>
          <a:xfrm>
            <a:off x="9573494" y="2697480"/>
            <a:ext cx="1920240" cy="713232"/>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50" b="1">
                <a:solidFill>
                  <a:srgbClr val="0C1408"/>
                </a:solidFill>
                <a:latin typeface="Arial"/>
              </a:rPr>
              <a:t>Askari Bank branches</a:t>
            </a:r>
          </a:p>
        </p:txBody>
      </p:sp>
      <p:sp>
        <p:nvSpPr>
          <p:cNvPr id="28" name="TextBox 27"/>
          <p:cNvSpPr txBox="1"/>
          <p:nvPr/>
        </p:nvSpPr>
        <p:spPr>
          <a:xfrm>
            <a:off x="9515612" y="3493008"/>
            <a:ext cx="2036003" cy="502920"/>
          </a:xfrm>
          <a:prstGeom prst="rect">
            <a:avLst/>
          </a:prstGeom>
          <a:noFill/>
        </p:spPr>
        <p:txBody>
          <a:bodyPr wrap="square" lIns="0" tIns="0" rIns="0" bIns="0">
            <a:spAutoFit/>
          </a:bodyPr>
          <a:lstStyle/>
          <a:p>
            <a:pPr algn="ctr">
              <a:lnSpc>
                <a:spcPct val="103000"/>
              </a:lnSpc>
            </a:pPr>
            <a:r>
              <a:rPr sz="1050">
                <a:solidFill>
                  <a:srgbClr val="0C1408"/>
                </a:solidFill>
                <a:latin typeface="Arial"/>
              </a:rPr>
              <a:t>free cash deposits at 700+</a:t>
            </a:r>
          </a:p>
        </p:txBody>
      </p:sp>
      <p:sp>
        <p:nvSpPr>
          <p:cNvPr id="29" name="TextBox 28"/>
          <p:cNvSpPr txBox="1"/>
          <p:nvPr/>
        </p:nvSpPr>
        <p:spPr>
          <a:xfrm>
            <a:off x="548640" y="4160520"/>
            <a:ext cx="1371600" cy="310896"/>
          </a:xfrm>
          <a:prstGeom prst="rect">
            <a:avLst/>
          </a:prstGeom>
          <a:noFill/>
        </p:spPr>
        <p:txBody>
          <a:bodyPr wrap="square" lIns="0" tIns="0" rIns="0" bIns="0">
            <a:spAutoFit/>
          </a:bodyPr>
          <a:lstStyle/>
          <a:p>
            <a:pPr>
              <a:lnSpc>
                <a:spcPct val="105000"/>
              </a:lnSpc>
            </a:pPr>
            <a:r>
              <a:rPr sz="1300" b="1">
                <a:solidFill>
                  <a:srgbClr val="0C1408"/>
                </a:solidFill>
                <a:latin typeface="Arial"/>
              </a:rPr>
              <a:t>New lines</a:t>
            </a:r>
          </a:p>
        </p:txBody>
      </p:sp>
      <p:sp>
        <p:nvSpPr>
          <p:cNvPr id="30" name="Freeform 29"/>
          <p:cNvSpPr/>
          <p:nvPr/>
        </p:nvSpPr>
        <p:spPr>
          <a:xfrm>
            <a:off x="1965960" y="4315968"/>
            <a:ext cx="9585655" cy="0"/>
          </a:xfrm>
          <a:custGeom>
            <a:avLst/>
            <a:gdLst/>
            <a:ahLst/>
            <a:cxnLst/>
            <a:rect l="l" t="t" r="r" b="b"/>
            <a:pathLst>
              <a:path w="9585655" h="0">
                <a:moveTo>
                  <a:pt x="0" y="0"/>
                </a:moveTo>
                <a:lnTo>
                  <a:pt x="9585655" y="0"/>
                </a:lnTo>
              </a:path>
            </a:pathLst>
          </a:custGeom>
          <a:noFill/>
          <a:ln w="31750">
            <a:solidFill>
              <a:srgbClr val="0E9384"/>
            </a:solidFill>
            <a:prstDash val="dash"/>
          </a:ln>
        </p:spPr>
        <p:txBody>
          <a:bodyPr rtlCol="0" anchor="ctr"/>
          <a:lstStyle/>
          <a:p>
            <a:pPr algn="ctr"/>
          </a:p>
        </p:txBody>
      </p:sp>
      <p:sp>
        <p:nvSpPr>
          <p:cNvPr id="31" name="Oval 30"/>
          <p:cNvSpPr/>
          <p:nvPr/>
        </p:nvSpPr>
        <p:spPr>
          <a:xfrm>
            <a:off x="3776381" y="4215384"/>
            <a:ext cx="201168" cy="201168"/>
          </a:xfrm>
          <a:prstGeom prst="ellipse">
            <a:avLst/>
          </a:prstGeom>
          <a:solidFill>
            <a:srgbClr val="FFFFFF"/>
          </a:solidFill>
          <a:ln w="25400">
            <a:solidFill>
              <a:srgbClr val="0E9384"/>
            </a:solidFill>
          </a:ln>
        </p:spPr>
        <p:txBody>
          <a:bodyPr rtlCol="0" anchor="ctr"/>
          <a:lstStyle/>
          <a:p>
            <a:pPr algn="ctr"/>
          </a:p>
        </p:txBody>
      </p:sp>
      <p:sp>
        <p:nvSpPr>
          <p:cNvPr id="32" name="Rectangle 31"/>
          <p:cNvSpPr/>
          <p:nvPr/>
        </p:nvSpPr>
        <p:spPr>
          <a:xfrm>
            <a:off x="2916845" y="4590288"/>
            <a:ext cx="1920240" cy="1097280"/>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Standing instruction</a:t>
            </a:r>
          </a:p>
          <a:p>
            <a:pPr algn="ctr">
              <a:lnSpc>
                <a:spcPct val="102000"/>
              </a:lnSpc>
              <a:spcBef>
                <a:spcPts val="200"/>
              </a:spcBef>
            </a:pPr>
            <a:r>
              <a:rPr sz="1000">
                <a:solidFill>
                  <a:srgbClr val="0C1408"/>
                </a:solidFill>
                <a:latin typeface="Arial"/>
              </a:rPr>
              <a:t>debit on payday, on Raqami’s planned open APIs</a:t>
            </a:r>
          </a:p>
        </p:txBody>
      </p:sp>
      <p:sp>
        <p:nvSpPr>
          <p:cNvPr id="33" name="Oval 32"/>
          <p:cNvSpPr/>
          <p:nvPr/>
        </p:nvSpPr>
        <p:spPr>
          <a:xfrm>
            <a:off x="5995264" y="4215384"/>
            <a:ext cx="201168" cy="201168"/>
          </a:xfrm>
          <a:prstGeom prst="ellipse">
            <a:avLst/>
          </a:prstGeom>
          <a:solidFill>
            <a:srgbClr val="FFFFFF"/>
          </a:solidFill>
          <a:ln w="25400">
            <a:solidFill>
              <a:srgbClr val="0E9384"/>
            </a:solidFill>
          </a:ln>
        </p:spPr>
        <p:txBody>
          <a:bodyPr rtlCol="0" anchor="ctr"/>
          <a:lstStyle/>
          <a:p>
            <a:pPr algn="ctr"/>
          </a:p>
        </p:txBody>
      </p:sp>
      <p:sp>
        <p:nvSpPr>
          <p:cNvPr id="34" name="Rectangle 33"/>
          <p:cNvSpPr/>
          <p:nvPr/>
        </p:nvSpPr>
        <p:spPr>
          <a:xfrm>
            <a:off x="5135728" y="4590288"/>
            <a:ext cx="1920240" cy="1097280"/>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Committee takaful</a:t>
            </a:r>
          </a:p>
          <a:p>
            <a:pPr algn="ctr">
              <a:lnSpc>
                <a:spcPct val="102000"/>
              </a:lnSpc>
              <a:spcBef>
                <a:spcPts val="200"/>
              </a:spcBef>
            </a:pPr>
            <a:r>
              <a:rPr sz="1000">
                <a:solidFill>
                  <a:srgbClr val="0C1408"/>
                </a:solidFill>
                <a:latin typeface="Arial"/>
              </a:rPr>
              <a:t>with EFU window takaful, Raqami’s partner</a:t>
            </a:r>
          </a:p>
        </p:txBody>
      </p:sp>
      <p:sp>
        <p:nvSpPr>
          <p:cNvPr id="35" name="Oval 34"/>
          <p:cNvSpPr/>
          <p:nvPr/>
        </p:nvSpPr>
        <p:spPr>
          <a:xfrm>
            <a:off x="8214147" y="4215384"/>
            <a:ext cx="201168" cy="201168"/>
          </a:xfrm>
          <a:prstGeom prst="ellipse">
            <a:avLst/>
          </a:prstGeom>
          <a:solidFill>
            <a:srgbClr val="FFFFFF"/>
          </a:solidFill>
          <a:ln w="25400">
            <a:solidFill>
              <a:srgbClr val="0E9384"/>
            </a:solidFill>
          </a:ln>
        </p:spPr>
        <p:txBody>
          <a:bodyPr rtlCol="0" anchor="ctr"/>
          <a:lstStyle/>
          <a:p>
            <a:pPr algn="ctr"/>
          </a:p>
        </p:txBody>
      </p:sp>
      <p:sp>
        <p:nvSpPr>
          <p:cNvPr id="36" name="Rectangle 35"/>
          <p:cNvSpPr/>
          <p:nvPr/>
        </p:nvSpPr>
        <p:spPr>
          <a:xfrm>
            <a:off x="7354611" y="4590288"/>
            <a:ext cx="1920240" cy="1097280"/>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Asset financing</a:t>
            </a:r>
          </a:p>
          <a:p>
            <a:pPr algn="ctr">
              <a:lnSpc>
                <a:spcPct val="102000"/>
              </a:lnSpc>
              <a:spcBef>
                <a:spcPts val="200"/>
              </a:spcBef>
            </a:pPr>
            <a:r>
              <a:rPr sz="1000">
                <a:solidFill>
                  <a:srgbClr val="0C1408"/>
                </a:solidFill>
                <a:latin typeface="Arial"/>
              </a:rPr>
              <a:t>ijarah for motorcycles and machines</a:t>
            </a:r>
          </a:p>
        </p:txBody>
      </p:sp>
      <p:sp>
        <p:nvSpPr>
          <p:cNvPr id="37" name="Rectangle 36"/>
          <p:cNvSpPr/>
          <p:nvPr/>
        </p:nvSpPr>
        <p:spPr>
          <a:xfrm>
            <a:off x="548640" y="5971032"/>
            <a:ext cx="201168" cy="173736"/>
          </a:xfrm>
          <a:prstGeom prst="rect">
            <a:avLst/>
          </a:prstGeom>
          <a:solidFill>
            <a:srgbClr val="F4F1FB"/>
          </a:solidFill>
          <a:ln w="12700">
            <a:solidFill>
              <a:srgbClr val="573F99"/>
            </a:solidFill>
          </a:ln>
        </p:spPr>
        <p:txBody>
          <a:bodyPr rtlCol="0" anchor="ctr"/>
          <a:lstStyle/>
          <a:p>
            <a:pPr algn="ctr"/>
          </a:p>
        </p:txBody>
      </p:sp>
      <p:sp>
        <p:nvSpPr>
          <p:cNvPr id="38" name="TextBox 37"/>
          <p:cNvSpPr txBox="1"/>
          <p:nvPr/>
        </p:nvSpPr>
        <p:spPr>
          <a:xfrm>
            <a:off x="822960" y="5943600"/>
            <a:ext cx="1623974" cy="237744"/>
          </a:xfrm>
          <a:prstGeom prst="rect">
            <a:avLst/>
          </a:prstGeom>
          <a:noFill/>
        </p:spPr>
        <p:txBody>
          <a:bodyPr wrap="square" lIns="0" tIns="0" rIns="0" bIns="0">
            <a:spAutoFit/>
          </a:bodyPr>
          <a:lstStyle/>
          <a:p>
            <a:pPr>
              <a:lnSpc>
                <a:spcPct val="105000"/>
              </a:lnSpc>
            </a:pPr>
            <a:r>
              <a:rPr sz="1000">
                <a:solidFill>
                  <a:srgbClr val="0C1408"/>
                </a:solidFill>
                <a:latin typeface="Arial"/>
              </a:rPr>
              <a:t>existing Raqami product</a:t>
            </a:r>
          </a:p>
        </p:txBody>
      </p:sp>
      <p:sp>
        <p:nvSpPr>
          <p:cNvPr id="39" name="Rectangle 38"/>
          <p:cNvSpPr/>
          <p:nvPr/>
        </p:nvSpPr>
        <p:spPr>
          <a:xfrm>
            <a:off x="2739542" y="5971032"/>
            <a:ext cx="201168" cy="173736"/>
          </a:xfrm>
          <a:prstGeom prst="rect">
            <a:avLst/>
          </a:prstGeom>
          <a:solidFill>
            <a:srgbClr val="EBF8F6"/>
          </a:solidFill>
          <a:ln w="12700">
            <a:solidFill>
              <a:srgbClr val="0E9384"/>
            </a:solidFill>
          </a:ln>
        </p:spPr>
        <p:txBody>
          <a:bodyPr rtlCol="0" anchor="ctr"/>
          <a:lstStyle/>
          <a:p>
            <a:pPr algn="ctr"/>
          </a:p>
        </p:txBody>
      </p:sp>
      <p:sp>
        <p:nvSpPr>
          <p:cNvPr id="40" name="TextBox 39"/>
          <p:cNvSpPr txBox="1"/>
          <p:nvPr/>
        </p:nvSpPr>
        <p:spPr>
          <a:xfrm>
            <a:off x="3013862" y="5943600"/>
            <a:ext cx="636422" cy="237744"/>
          </a:xfrm>
          <a:prstGeom prst="rect">
            <a:avLst/>
          </a:prstGeom>
          <a:noFill/>
        </p:spPr>
        <p:txBody>
          <a:bodyPr wrap="square" lIns="0" tIns="0" rIns="0" bIns="0">
            <a:spAutoFit/>
          </a:bodyPr>
          <a:lstStyle/>
          <a:p>
            <a:pPr>
              <a:lnSpc>
                <a:spcPct val="105000"/>
              </a:lnSpc>
            </a:pPr>
            <a:r>
              <a:rPr sz="1000">
                <a:solidFill>
                  <a:srgbClr val="0C1408"/>
                </a:solidFill>
                <a:latin typeface="Arial"/>
              </a:rPr>
              <a:t>new line</a:t>
            </a:r>
          </a:p>
        </p:txBody>
      </p:sp>
      <p:sp>
        <p:nvSpPr>
          <p:cNvPr id="41" name="TextBox 40"/>
          <p:cNvSpPr txBox="1"/>
          <p:nvPr/>
        </p:nvSpPr>
        <p:spPr>
          <a:xfrm>
            <a:off x="5120640" y="5925312"/>
            <a:ext cx="6522415" cy="274320"/>
          </a:xfrm>
          <a:prstGeom prst="rect">
            <a:avLst/>
          </a:prstGeom>
          <a:noFill/>
        </p:spPr>
        <p:txBody>
          <a:bodyPr wrap="square" lIns="0" tIns="0" rIns="0" bIns="0">
            <a:spAutoFit/>
          </a:bodyPr>
          <a:lstStyle/>
          <a:p>
            <a:pPr algn="r">
              <a:lnSpc>
                <a:spcPct val="105000"/>
              </a:lnSpc>
            </a:pPr>
            <a:r>
              <a:rPr sz="1000">
                <a:solidFill>
                  <a:srgbClr val="0C1408"/>
                </a:solidFill>
                <a:latin typeface="Arial"/>
              </a:rPr>
              <a:t>Profit on the committee balance returns to members as points (Appendix A5).</a:t>
            </a:r>
          </a:p>
        </p:txBody>
      </p:sp>
      <p:sp>
        <p:nvSpPr>
          <p:cNvPr id="42" name="TextBox 41"/>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   </a:t>
            </a:r>
            <a:r>
              <a:rPr sz="850">
                <a:solidFill>
                  <a:srgbClr val="0C1408"/>
                </a:solidFill>
                <a:latin typeface="Arial"/>
              </a:rPr>
              <a:t>Raqami products page, FAQ, home page and Historical Profit Rates (August 2026), read 30 September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Onboarding and Verification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Raqami opens the account; Halqa’s checks decide which circles and turns each member may join</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12</a:t>
            </a:r>
          </a:p>
        </p:txBody>
      </p:sp>
      <p:sp>
        <p:nvSpPr>
          <p:cNvPr id="6" name="Rectangle 5"/>
          <p:cNvSpPr/>
          <p:nvPr/>
        </p:nvSpPr>
        <p:spPr>
          <a:xfrm>
            <a:off x="548640" y="1536192"/>
            <a:ext cx="1417320" cy="795528"/>
          </a:xfrm>
          <a:prstGeom prst="rect">
            <a:avLst/>
          </a:prstGeom>
          <a:solidFill>
            <a:srgbClr val="F3F4F6"/>
          </a:solidFill>
          <a:ln>
            <a:noFill/>
          </a:ln>
        </p:spPr>
        <p:txBody>
          <a:bodyPr rtlCol="0" anchor="ctr"/>
          <a:lstStyle/>
          <a:p>
            <a:pPr algn="ctr"/>
          </a:p>
        </p:txBody>
      </p:sp>
      <p:sp>
        <p:nvSpPr>
          <p:cNvPr id="7" name="TextBox 6"/>
          <p:cNvSpPr txBox="1"/>
          <p:nvPr/>
        </p:nvSpPr>
        <p:spPr>
          <a:xfrm>
            <a:off x="658368" y="1536192"/>
            <a:ext cx="1234440" cy="795528"/>
          </a:xfrm>
          <a:prstGeom prst="rect">
            <a:avLst/>
          </a:prstGeom>
          <a:noFill/>
        </p:spPr>
        <p:txBody>
          <a:bodyPr wrap="square" lIns="0" tIns="0" rIns="0" bIns="0" anchor="ctr">
            <a:spAutoFit/>
          </a:bodyPr>
          <a:lstStyle/>
          <a:p>
            <a:pPr>
              <a:lnSpc>
                <a:spcPct val="105000"/>
              </a:lnSpc>
            </a:pPr>
            <a:r>
              <a:rPr sz="1250" b="1">
                <a:solidFill>
                  <a:srgbClr val="0C1408"/>
                </a:solidFill>
                <a:latin typeface="Arial"/>
              </a:rPr>
              <a:t>Member</a:t>
            </a:r>
          </a:p>
        </p:txBody>
      </p:sp>
      <p:cxnSp>
        <p:nvCxnSpPr>
          <p:cNvPr id="8" name="Connector 7"/>
          <p:cNvCxnSpPr/>
          <p:nvPr/>
        </p:nvCxnSpPr>
        <p:spPr>
          <a:xfrm>
            <a:off x="548640" y="1536192"/>
            <a:ext cx="11094415" cy="0"/>
          </a:xfrm>
          <a:prstGeom prst="line">
            <a:avLst/>
          </a:prstGeom>
          <a:ln w="9525">
            <a:solidFill>
              <a:srgbClr val="D1D5DB"/>
            </a:solidFill>
          </a:ln>
        </p:spPr>
      </p:cxnSp>
      <p:sp>
        <p:nvSpPr>
          <p:cNvPr id="9" name="Rectangle 8"/>
          <p:cNvSpPr/>
          <p:nvPr/>
        </p:nvSpPr>
        <p:spPr>
          <a:xfrm>
            <a:off x="548640" y="2331720"/>
            <a:ext cx="1417320" cy="822960"/>
          </a:xfrm>
          <a:prstGeom prst="rect">
            <a:avLst/>
          </a:prstGeom>
          <a:solidFill>
            <a:srgbClr val="F4F1FB"/>
          </a:solidFill>
          <a:ln>
            <a:noFill/>
          </a:ln>
        </p:spPr>
        <p:txBody>
          <a:bodyPr rtlCol="0" anchor="ctr"/>
          <a:lstStyle/>
          <a:p>
            <a:pPr algn="ctr"/>
          </a:p>
        </p:txBody>
      </p:sp>
      <p:pic>
        <p:nvPicPr>
          <p:cNvPr id="10" name="Picture 9" descr="raqami_logo.png"/>
          <p:cNvPicPr>
            <a:picLocks noChangeAspect="1"/>
          </p:cNvPicPr>
          <p:nvPr/>
        </p:nvPicPr>
        <p:blipFill>
          <a:blip r:embed="rId3"/>
          <a:stretch>
            <a:fillRect/>
          </a:stretch>
        </p:blipFill>
        <p:spPr>
          <a:xfrm>
            <a:off x="658368" y="2523166"/>
            <a:ext cx="1188720" cy="440068"/>
          </a:xfrm>
          <a:prstGeom prst="rect">
            <a:avLst/>
          </a:prstGeom>
        </p:spPr>
      </p:pic>
      <p:cxnSp>
        <p:nvCxnSpPr>
          <p:cNvPr id="11" name="Connector 10"/>
          <p:cNvCxnSpPr/>
          <p:nvPr/>
        </p:nvCxnSpPr>
        <p:spPr>
          <a:xfrm>
            <a:off x="548640" y="2331720"/>
            <a:ext cx="11094415" cy="0"/>
          </a:xfrm>
          <a:prstGeom prst="line">
            <a:avLst/>
          </a:prstGeom>
          <a:ln w="9525">
            <a:solidFill>
              <a:srgbClr val="D1D5DB"/>
            </a:solidFill>
          </a:ln>
        </p:spPr>
      </p:cxnSp>
      <p:sp>
        <p:nvSpPr>
          <p:cNvPr id="12" name="Rectangle 11"/>
          <p:cNvSpPr/>
          <p:nvPr/>
        </p:nvSpPr>
        <p:spPr>
          <a:xfrm>
            <a:off x="548640" y="3154680"/>
            <a:ext cx="1417320" cy="914400"/>
          </a:xfrm>
          <a:prstGeom prst="rect">
            <a:avLst/>
          </a:prstGeom>
          <a:solidFill>
            <a:srgbClr val="F3FCE7"/>
          </a:solidFill>
          <a:ln>
            <a:noFill/>
          </a:ln>
        </p:spPr>
        <p:txBody>
          <a:bodyPr rtlCol="0" anchor="ctr"/>
          <a:lstStyle/>
          <a:p>
            <a:pPr algn="ctr"/>
          </a:p>
        </p:txBody>
      </p:sp>
      <p:sp>
        <p:nvSpPr>
          <p:cNvPr id="13" name="TextBox 12"/>
          <p:cNvSpPr txBox="1"/>
          <p:nvPr/>
        </p:nvSpPr>
        <p:spPr>
          <a:xfrm>
            <a:off x="658368" y="3154680"/>
            <a:ext cx="1234440" cy="914400"/>
          </a:xfrm>
          <a:prstGeom prst="rect">
            <a:avLst/>
          </a:prstGeom>
          <a:noFill/>
        </p:spPr>
        <p:txBody>
          <a:bodyPr wrap="square" lIns="0" tIns="0" rIns="0" bIns="0" anchor="ctr">
            <a:spAutoFit/>
          </a:bodyPr>
          <a:lstStyle/>
          <a:p>
            <a:pPr>
              <a:lnSpc>
                <a:spcPct val="105000"/>
              </a:lnSpc>
            </a:pPr>
            <a:r>
              <a:rPr sz="1250" b="1">
                <a:solidFill>
                  <a:srgbClr val="0C1408"/>
                </a:solidFill>
                <a:latin typeface="Arial"/>
              </a:rPr>
              <a:t>Halqa checks</a:t>
            </a:r>
          </a:p>
        </p:txBody>
      </p:sp>
      <p:cxnSp>
        <p:nvCxnSpPr>
          <p:cNvPr id="14" name="Connector 13"/>
          <p:cNvCxnSpPr/>
          <p:nvPr/>
        </p:nvCxnSpPr>
        <p:spPr>
          <a:xfrm>
            <a:off x="548640" y="3154680"/>
            <a:ext cx="11094415" cy="0"/>
          </a:xfrm>
          <a:prstGeom prst="line">
            <a:avLst/>
          </a:prstGeom>
          <a:ln w="9525">
            <a:solidFill>
              <a:srgbClr val="D1D5DB"/>
            </a:solidFill>
          </a:ln>
        </p:spPr>
      </p:cxnSp>
      <p:cxnSp>
        <p:nvCxnSpPr>
          <p:cNvPr id="15" name="Connector 14"/>
          <p:cNvCxnSpPr/>
          <p:nvPr/>
        </p:nvCxnSpPr>
        <p:spPr>
          <a:xfrm>
            <a:off x="548640" y="4069080"/>
            <a:ext cx="11094415" cy="0"/>
          </a:xfrm>
          <a:prstGeom prst="line">
            <a:avLst/>
          </a:prstGeom>
          <a:ln w="9525">
            <a:solidFill>
              <a:srgbClr val="D1D5DB"/>
            </a:solidFill>
          </a:ln>
        </p:spPr>
      </p:cxnSp>
      <p:sp>
        <p:nvSpPr>
          <p:cNvPr id="16" name="Rectangle 15"/>
          <p:cNvSpPr/>
          <p:nvPr/>
        </p:nvSpPr>
        <p:spPr>
          <a:xfrm>
            <a:off x="2240280" y="1682496"/>
            <a:ext cx="1371600" cy="502920"/>
          </a:xfrm>
          <a:prstGeom prst="rect">
            <a:avLst/>
          </a:prstGeom>
          <a:solidFill>
            <a:srgbClr val="F3F4F6"/>
          </a:solidFill>
          <a:ln w="15875">
            <a:solidFill>
              <a:srgbClr val="4B5563"/>
            </a:solidFill>
          </a:ln>
        </p:spPr>
        <p:txBody>
          <a:bodyPr rtlCol="0" anchor="ctr" lIns="36576" tIns="27432" rIns="36576" bIns="27432" wrap="square"/>
          <a:lstStyle/>
          <a:p>
            <a:pPr algn="ctr">
              <a:lnSpc>
                <a:spcPct val="102000"/>
              </a:lnSpc>
            </a:pPr>
            <a:r>
              <a:rPr sz="1200" b="1">
                <a:solidFill>
                  <a:srgbClr val="0C1408"/>
                </a:solidFill>
                <a:latin typeface="Arial"/>
              </a:rPr>
              <a:t>Sign up</a:t>
            </a:r>
          </a:p>
          <a:p>
            <a:pPr algn="ctr">
              <a:lnSpc>
                <a:spcPct val="102000"/>
              </a:lnSpc>
              <a:spcBef>
                <a:spcPts val="200"/>
              </a:spcBef>
            </a:pPr>
            <a:r>
              <a:rPr sz="950">
                <a:solidFill>
                  <a:srgbClr val="0C1408"/>
                </a:solidFill>
                <a:latin typeface="Arial"/>
              </a:rPr>
              <a:t>phone and PIN</a:t>
            </a:r>
          </a:p>
        </p:txBody>
      </p:sp>
      <p:sp>
        <p:nvSpPr>
          <p:cNvPr id="17" name="Rectangle 16"/>
          <p:cNvSpPr/>
          <p:nvPr/>
        </p:nvSpPr>
        <p:spPr>
          <a:xfrm>
            <a:off x="3749040" y="2487168"/>
            <a:ext cx="1371600" cy="502920"/>
          </a:xfrm>
          <a:prstGeom prst="rect">
            <a:avLst/>
          </a:prstGeom>
          <a:solidFill>
            <a:srgbClr val="F4F1FB"/>
          </a:solidFill>
          <a:ln w="15875">
            <a:solidFill>
              <a:srgbClr val="573F99"/>
            </a:solidFill>
          </a:ln>
        </p:spPr>
        <p:txBody>
          <a:bodyPr rtlCol="0" anchor="ctr" lIns="36576" tIns="27432" rIns="36576" bIns="27432" wrap="square"/>
          <a:lstStyle/>
          <a:p>
            <a:pPr algn="ctr">
              <a:lnSpc>
                <a:spcPct val="102000"/>
              </a:lnSpc>
            </a:pPr>
            <a:r>
              <a:rPr sz="1200" b="1">
                <a:solidFill>
                  <a:srgbClr val="0C1408"/>
                </a:solidFill>
                <a:latin typeface="Arial"/>
              </a:rPr>
              <a:t>Account</a:t>
            </a:r>
          </a:p>
        </p:txBody>
      </p:sp>
      <p:sp>
        <p:nvSpPr>
          <p:cNvPr id="18" name="Rectangle 17"/>
          <p:cNvSpPr/>
          <p:nvPr/>
        </p:nvSpPr>
        <p:spPr>
          <a:xfrm>
            <a:off x="5394960" y="3355848"/>
            <a:ext cx="1371600" cy="502920"/>
          </a:xfrm>
          <a:prstGeom prst="rect">
            <a:avLst/>
          </a:prstGeom>
          <a:solidFill>
            <a:srgbClr val="F3FCE7"/>
          </a:solidFill>
          <a:ln w="15875">
            <a:solidFill>
              <a:srgbClr val="6DC72A"/>
            </a:solidFill>
          </a:ln>
        </p:spPr>
        <p:txBody>
          <a:bodyPr rtlCol="0" anchor="ctr" lIns="36576" tIns="27432" rIns="36576" bIns="27432" wrap="square"/>
          <a:lstStyle/>
          <a:p>
            <a:pPr algn="ctr">
              <a:lnSpc>
                <a:spcPct val="102000"/>
              </a:lnSpc>
            </a:pPr>
            <a:r>
              <a:rPr sz="1200" b="1">
                <a:solidFill>
                  <a:srgbClr val="0C1408"/>
                </a:solidFill>
                <a:latin typeface="Arial"/>
              </a:rPr>
              <a:t>Identity</a:t>
            </a:r>
          </a:p>
        </p:txBody>
      </p:sp>
      <p:sp>
        <p:nvSpPr>
          <p:cNvPr id="19" name="Rectangle 18"/>
          <p:cNvSpPr/>
          <p:nvPr/>
        </p:nvSpPr>
        <p:spPr>
          <a:xfrm>
            <a:off x="6903720" y="3355848"/>
            <a:ext cx="1371600" cy="502920"/>
          </a:xfrm>
          <a:prstGeom prst="rect">
            <a:avLst/>
          </a:prstGeom>
          <a:solidFill>
            <a:srgbClr val="F3FCE7"/>
          </a:solidFill>
          <a:ln w="15875">
            <a:solidFill>
              <a:srgbClr val="6DC72A"/>
            </a:solidFill>
          </a:ln>
        </p:spPr>
        <p:txBody>
          <a:bodyPr rtlCol="0" anchor="ctr" lIns="36576" tIns="27432" rIns="36576" bIns="27432" wrap="square"/>
          <a:lstStyle/>
          <a:p>
            <a:pPr algn="ctr">
              <a:lnSpc>
                <a:spcPct val="102000"/>
              </a:lnSpc>
            </a:pPr>
            <a:r>
              <a:rPr sz="1200" b="1">
                <a:solidFill>
                  <a:srgbClr val="0C1408"/>
                </a:solidFill>
                <a:latin typeface="Arial"/>
              </a:rPr>
              <a:t>Income</a:t>
            </a:r>
          </a:p>
        </p:txBody>
      </p:sp>
      <p:sp>
        <p:nvSpPr>
          <p:cNvPr id="20" name="Rectangle 19"/>
          <p:cNvSpPr/>
          <p:nvPr/>
        </p:nvSpPr>
        <p:spPr>
          <a:xfrm>
            <a:off x="8412480" y="3355848"/>
            <a:ext cx="1371600" cy="502920"/>
          </a:xfrm>
          <a:prstGeom prst="rect">
            <a:avLst/>
          </a:prstGeom>
          <a:solidFill>
            <a:srgbClr val="F3FCE7"/>
          </a:solidFill>
          <a:ln w="15875">
            <a:solidFill>
              <a:srgbClr val="6DC72A"/>
            </a:solidFill>
          </a:ln>
        </p:spPr>
        <p:txBody>
          <a:bodyPr rtlCol="0" anchor="ctr" lIns="36576" tIns="27432" rIns="36576" bIns="27432" wrap="square"/>
          <a:lstStyle/>
          <a:p>
            <a:pPr algn="ctr">
              <a:lnSpc>
                <a:spcPct val="102000"/>
              </a:lnSpc>
            </a:pPr>
            <a:r>
              <a:rPr sz="1200" b="1">
                <a:solidFill>
                  <a:srgbClr val="0C1408"/>
                </a:solidFill>
                <a:latin typeface="Arial"/>
              </a:rPr>
              <a:t>Affordability</a:t>
            </a:r>
          </a:p>
        </p:txBody>
      </p:sp>
      <p:sp>
        <p:nvSpPr>
          <p:cNvPr id="21" name="Rectangle 20"/>
          <p:cNvSpPr/>
          <p:nvPr/>
        </p:nvSpPr>
        <p:spPr>
          <a:xfrm>
            <a:off x="9921240" y="3355848"/>
            <a:ext cx="1371600" cy="502920"/>
          </a:xfrm>
          <a:prstGeom prst="rect">
            <a:avLst/>
          </a:prstGeom>
          <a:solidFill>
            <a:srgbClr val="F3FCE7"/>
          </a:solidFill>
          <a:ln w="15875">
            <a:solidFill>
              <a:srgbClr val="6DC72A"/>
            </a:solidFill>
          </a:ln>
        </p:spPr>
        <p:txBody>
          <a:bodyPr rtlCol="0" anchor="ctr" lIns="36576" tIns="27432" rIns="36576" bIns="27432" wrap="square"/>
          <a:lstStyle/>
          <a:p>
            <a:pPr algn="ctr">
              <a:lnSpc>
                <a:spcPct val="102000"/>
              </a:lnSpc>
            </a:pPr>
            <a:r>
              <a:rPr sz="1200" b="1">
                <a:solidFill>
                  <a:srgbClr val="0C1408"/>
                </a:solidFill>
                <a:latin typeface="Arial"/>
              </a:rPr>
              <a:t>Score</a:t>
            </a:r>
          </a:p>
        </p:txBody>
      </p:sp>
      <p:sp>
        <p:nvSpPr>
          <p:cNvPr id="22" name="Freeform 21"/>
          <p:cNvSpPr/>
          <p:nvPr/>
        </p:nvSpPr>
        <p:spPr>
          <a:xfrm>
            <a:off x="3611880" y="1933956"/>
            <a:ext cx="822960" cy="553212"/>
          </a:xfrm>
          <a:custGeom>
            <a:avLst/>
            <a:gdLst/>
            <a:ahLst/>
            <a:cxnLst/>
            <a:rect l="l" t="t" r="r" b="b"/>
            <a:pathLst>
              <a:path w="822960" h="553212">
                <a:moveTo>
                  <a:pt x="0" y="0"/>
                </a:moveTo>
                <a:lnTo>
                  <a:pt x="822960" y="0"/>
                </a:lnTo>
                <a:lnTo>
                  <a:pt x="822960" y="553212"/>
                </a:lnTo>
              </a:path>
            </a:pathLst>
          </a:custGeom>
          <a:noFill/>
          <a:ln w="19050">
            <a:solidFill>
              <a:srgbClr val="4B5563"/>
            </a:solidFill>
            <a:tailEnd type="triangle" w="med" len="med"/>
          </a:ln>
        </p:spPr>
        <p:txBody>
          <a:bodyPr rtlCol="0" anchor="ctr"/>
          <a:lstStyle/>
          <a:p>
            <a:pPr algn="ctr"/>
          </a:p>
        </p:txBody>
      </p:sp>
      <p:sp>
        <p:nvSpPr>
          <p:cNvPr id="23" name="Freeform 22"/>
          <p:cNvSpPr/>
          <p:nvPr/>
        </p:nvSpPr>
        <p:spPr>
          <a:xfrm>
            <a:off x="5120640" y="2738628"/>
            <a:ext cx="960120" cy="617220"/>
          </a:xfrm>
          <a:custGeom>
            <a:avLst/>
            <a:gdLst/>
            <a:ahLst/>
            <a:cxnLst/>
            <a:rect l="l" t="t" r="r" b="b"/>
            <a:pathLst>
              <a:path w="960120" h="617220">
                <a:moveTo>
                  <a:pt x="0" y="0"/>
                </a:moveTo>
                <a:lnTo>
                  <a:pt x="960120" y="0"/>
                </a:lnTo>
                <a:lnTo>
                  <a:pt x="960120" y="617220"/>
                </a:lnTo>
              </a:path>
            </a:pathLst>
          </a:custGeom>
          <a:noFill/>
          <a:ln w="19050">
            <a:solidFill>
              <a:srgbClr val="4B5563"/>
            </a:solidFill>
            <a:tailEnd type="triangle" w="med" len="med"/>
          </a:ln>
        </p:spPr>
        <p:txBody>
          <a:bodyPr rtlCol="0" anchor="ctr"/>
          <a:lstStyle/>
          <a:p>
            <a:pPr algn="ctr"/>
          </a:p>
        </p:txBody>
      </p:sp>
      <p:cxnSp>
        <p:nvCxnSpPr>
          <p:cNvPr id="24" name="Connector 23"/>
          <p:cNvCxnSpPr/>
          <p:nvPr/>
        </p:nvCxnSpPr>
        <p:spPr>
          <a:xfrm>
            <a:off x="6784848" y="3607308"/>
            <a:ext cx="100584" cy="0"/>
          </a:xfrm>
          <a:prstGeom prst="line">
            <a:avLst/>
          </a:prstGeom>
          <a:ln w="19050">
            <a:solidFill>
              <a:srgbClr val="4B5563"/>
            </a:solidFill>
            <a:tailEnd type="triangle" w="med" len="med"/>
          </a:ln>
        </p:spPr>
      </p:cxnSp>
      <p:cxnSp>
        <p:nvCxnSpPr>
          <p:cNvPr id="25" name="Connector 24"/>
          <p:cNvCxnSpPr/>
          <p:nvPr/>
        </p:nvCxnSpPr>
        <p:spPr>
          <a:xfrm>
            <a:off x="8293608" y="3607308"/>
            <a:ext cx="100584" cy="0"/>
          </a:xfrm>
          <a:prstGeom prst="line">
            <a:avLst/>
          </a:prstGeom>
          <a:ln w="19050">
            <a:solidFill>
              <a:srgbClr val="4B5563"/>
            </a:solidFill>
            <a:tailEnd type="triangle" w="med" len="med"/>
          </a:ln>
        </p:spPr>
      </p:cxnSp>
      <p:cxnSp>
        <p:nvCxnSpPr>
          <p:cNvPr id="26" name="Connector 25"/>
          <p:cNvCxnSpPr/>
          <p:nvPr/>
        </p:nvCxnSpPr>
        <p:spPr>
          <a:xfrm>
            <a:off x="9802368" y="3607308"/>
            <a:ext cx="100584" cy="0"/>
          </a:xfrm>
          <a:prstGeom prst="line">
            <a:avLst/>
          </a:prstGeom>
          <a:ln w="19050">
            <a:solidFill>
              <a:srgbClr val="4B5563"/>
            </a:solidFill>
            <a:tailEnd type="triangle" w="med" len="med"/>
          </a:ln>
        </p:spPr>
      </p:cxnSp>
      <p:sp>
        <p:nvSpPr>
          <p:cNvPr id="27" name="Rectangle 26"/>
          <p:cNvSpPr/>
          <p:nvPr/>
        </p:nvSpPr>
        <p:spPr>
          <a:xfrm>
            <a:off x="8183880" y="1645920"/>
            <a:ext cx="3456432" cy="566928"/>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00" b="1">
                <a:solidFill>
                  <a:srgbClr val="0C1408"/>
                </a:solidFill>
                <a:latin typeface="Arial"/>
              </a:rPr>
              <a:t>Sees only the circles and turns open to them</a:t>
            </a:r>
          </a:p>
        </p:txBody>
      </p:sp>
      <p:cxnSp>
        <p:nvCxnSpPr>
          <p:cNvPr id="28" name="Connector 27"/>
          <p:cNvCxnSpPr/>
          <p:nvPr/>
        </p:nvCxnSpPr>
        <p:spPr>
          <a:xfrm flipV="1">
            <a:off x="10881360" y="2212848"/>
            <a:ext cx="0" cy="1143000"/>
          </a:xfrm>
          <a:prstGeom prst="line">
            <a:avLst/>
          </a:prstGeom>
          <a:ln w="19050">
            <a:solidFill>
              <a:srgbClr val="4B5563"/>
            </a:solidFill>
            <a:tailEnd type="triangle" w="med" len="med"/>
          </a:ln>
        </p:spPr>
      </p:cxnSp>
      <p:sp>
        <p:nvSpPr>
          <p:cNvPr id="29" name="TextBox 28"/>
          <p:cNvSpPr txBox="1"/>
          <p:nvPr/>
        </p:nvSpPr>
        <p:spPr>
          <a:xfrm>
            <a:off x="5230368" y="2542032"/>
            <a:ext cx="2834640" cy="411480"/>
          </a:xfrm>
          <a:prstGeom prst="rect">
            <a:avLst/>
          </a:prstGeom>
          <a:noFill/>
        </p:spPr>
        <p:txBody>
          <a:bodyPr wrap="square" lIns="0" tIns="0" rIns="0" bIns="0">
            <a:spAutoFit/>
          </a:bodyPr>
          <a:lstStyle/>
          <a:p>
            <a:pPr>
              <a:lnSpc>
                <a:spcPct val="100000"/>
              </a:lnSpc>
            </a:pPr>
            <a:r>
              <a:rPr sz="1000">
                <a:solidFill>
                  <a:srgbClr val="0C1408"/>
                </a:solidFill>
                <a:latin typeface="Arial"/>
              </a:rPr>
              <a:t>CNIC and registered mobile number</a:t>
            </a:r>
          </a:p>
        </p:txBody>
      </p:sp>
      <p:sp>
        <p:nvSpPr>
          <p:cNvPr id="30" name="TextBox 29"/>
          <p:cNvSpPr txBox="1"/>
          <p:nvPr/>
        </p:nvSpPr>
        <p:spPr>
          <a:xfrm>
            <a:off x="548640" y="4279392"/>
            <a:ext cx="2567864" cy="274320"/>
          </a:xfrm>
          <a:prstGeom prst="rect">
            <a:avLst/>
          </a:prstGeom>
          <a:noFill/>
        </p:spPr>
        <p:txBody>
          <a:bodyPr wrap="square" lIns="0" tIns="0" rIns="0" bIns="0">
            <a:spAutoFit/>
          </a:bodyPr>
          <a:lstStyle/>
          <a:p>
            <a:pPr>
              <a:lnSpc>
                <a:spcPct val="105000"/>
              </a:lnSpc>
            </a:pPr>
            <a:r>
              <a:rPr sz="1250" b="1">
                <a:solidFill>
                  <a:srgbClr val="41801A"/>
                </a:solidFill>
                <a:latin typeface="Arial"/>
              </a:rPr>
              <a:t>Identity</a:t>
            </a:r>
          </a:p>
        </p:txBody>
      </p:sp>
      <p:sp>
        <p:nvSpPr>
          <p:cNvPr id="31" name="TextBox 30"/>
          <p:cNvSpPr txBox="1"/>
          <p:nvPr/>
        </p:nvSpPr>
        <p:spPr>
          <a:xfrm>
            <a:off x="548640" y="4590288"/>
            <a:ext cx="2567864" cy="178308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Names on CNIC, account and app match:</a:t>
            </a:r>
          </a:p>
          <a:p>
            <a:pPr marL="173736" indent="-173736">
              <a:lnSpc>
                <a:spcPct val="104000"/>
              </a:lnSpc>
              <a:spcAft>
                <a:spcPts val="250"/>
              </a:spcAft>
              <a:buClr>
                <a:srgbClr val="41801A"/>
              </a:buClr>
              <a:buSzPct val="70000"/>
              <a:buFont typeface="Arial"/>
              <a:buChar char="■"/>
            </a:pPr>
            <a:r>
              <a:rPr sz="1050">
                <a:solidFill>
                  <a:srgbClr val="0C1408"/>
                </a:solidFill>
                <a:latin typeface="Arial"/>
              </a:rPr>
              <a:t>Identity Engine:</a:t>
            </a:r>
          </a:p>
          <a:p>
            <a:pPr marL="173736" indent="-173736">
              <a:lnSpc>
                <a:spcPct val="104000"/>
              </a:lnSpc>
              <a:spcAft>
                <a:spcPts val="250"/>
              </a:spcAft>
              <a:buClr>
                <a:srgbClr val="41801A"/>
              </a:buClr>
              <a:buSzPct val="70000"/>
              <a:buFont typeface="Arial"/>
              <a:buChar char="■"/>
            </a:pPr>
            <a:r>
              <a:rPr sz="1050">
                <a:solidFill>
                  <a:srgbClr val="0C1408"/>
                </a:solidFill>
                <a:latin typeface="Arial"/>
              </a:rPr>
              <a:t>0.90 or more passes; 0.80 to 0.90 goes to a person</a:t>
            </a:r>
          </a:p>
          <a:p>
            <a:pPr marL="173736" indent="-173736">
              <a:lnSpc>
                <a:spcPct val="104000"/>
              </a:lnSpc>
              <a:spcAft>
                <a:spcPts val="250"/>
              </a:spcAft>
              <a:buClr>
                <a:srgbClr val="41801A"/>
              </a:buClr>
              <a:buSzPct val="70000"/>
              <a:buFont typeface="Arial"/>
              <a:buChar char="■"/>
            </a:pPr>
            <a:r>
              <a:rPr sz="1050">
                <a:solidFill>
                  <a:srgbClr val="0C1408"/>
                </a:solidFill>
                <a:latin typeface="Arial"/>
              </a:rPr>
              <a:t>Live face match</a:t>
            </a:r>
          </a:p>
          <a:p>
            <a:pPr marL="173736" indent="-173736">
              <a:lnSpc>
                <a:spcPct val="104000"/>
              </a:lnSpc>
              <a:spcAft>
                <a:spcPts val="250"/>
              </a:spcAft>
              <a:buClr>
                <a:srgbClr val="41801A"/>
              </a:buClr>
              <a:buSzPct val="70000"/>
              <a:buFont typeface="Arial"/>
              <a:buChar char="■"/>
            </a:pPr>
            <a:r>
              <a:rPr sz="1050">
                <a:solidFill>
                  <a:srgbClr val="0C1408"/>
                </a:solidFill>
                <a:latin typeface="Arial"/>
              </a:rPr>
              <a:t>Home and job checked</a:t>
            </a:r>
          </a:p>
        </p:txBody>
      </p:sp>
      <p:sp>
        <p:nvSpPr>
          <p:cNvPr id="32" name="TextBox 31"/>
          <p:cNvSpPr txBox="1"/>
          <p:nvPr/>
        </p:nvSpPr>
        <p:spPr>
          <a:xfrm>
            <a:off x="3390824" y="4279392"/>
            <a:ext cx="2567864" cy="274320"/>
          </a:xfrm>
          <a:prstGeom prst="rect">
            <a:avLst/>
          </a:prstGeom>
          <a:noFill/>
        </p:spPr>
        <p:txBody>
          <a:bodyPr wrap="square" lIns="0" tIns="0" rIns="0" bIns="0">
            <a:spAutoFit/>
          </a:bodyPr>
          <a:lstStyle/>
          <a:p>
            <a:pPr>
              <a:lnSpc>
                <a:spcPct val="105000"/>
              </a:lnSpc>
            </a:pPr>
            <a:r>
              <a:rPr sz="1250" b="1">
                <a:solidFill>
                  <a:srgbClr val="41801A"/>
                </a:solidFill>
                <a:latin typeface="Arial"/>
              </a:rPr>
              <a:t>Income</a:t>
            </a:r>
          </a:p>
        </p:txBody>
      </p:sp>
      <p:sp>
        <p:nvSpPr>
          <p:cNvPr id="33" name="TextBox 32"/>
          <p:cNvSpPr txBox="1"/>
          <p:nvPr/>
        </p:nvSpPr>
        <p:spPr>
          <a:xfrm>
            <a:off x="3390824" y="4590288"/>
            <a:ext cx="2567864" cy="178308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Salary from one employer on about the same day each month</a:t>
            </a:r>
          </a:p>
          <a:p>
            <a:pPr marL="173736" indent="-173736">
              <a:lnSpc>
                <a:spcPct val="104000"/>
              </a:lnSpc>
              <a:spcAft>
                <a:spcPts val="250"/>
              </a:spcAft>
              <a:buClr>
                <a:srgbClr val="41801A"/>
              </a:buClr>
              <a:buSzPct val="70000"/>
              <a:buFont typeface="Arial"/>
              <a:buChar char="■"/>
            </a:pPr>
            <a:r>
              <a:rPr sz="1050">
                <a:solidFill>
                  <a:srgbClr val="0C1408"/>
                </a:solidFill>
                <a:latin typeface="Arial"/>
              </a:rPr>
              <a:t>Daily circles: Rs 1,000 or more on 5 days a week for 8 weeks</a:t>
            </a:r>
          </a:p>
          <a:p>
            <a:pPr marL="173736" indent="-173736">
              <a:lnSpc>
                <a:spcPct val="104000"/>
              </a:lnSpc>
              <a:spcAft>
                <a:spcPts val="250"/>
              </a:spcAft>
              <a:buClr>
                <a:srgbClr val="41801A"/>
              </a:buClr>
              <a:buSzPct val="70000"/>
              <a:buFont typeface="Arial"/>
              <a:buChar char="■"/>
            </a:pPr>
            <a:r>
              <a:rPr sz="1050">
                <a:solidFill>
                  <a:srgbClr val="0C1408"/>
                </a:solidFill>
                <a:latin typeface="Arial"/>
              </a:rPr>
              <a:t>Own transfers and loans excluded</a:t>
            </a:r>
          </a:p>
          <a:p>
            <a:pPr marL="173736" indent="-173736">
              <a:lnSpc>
                <a:spcPct val="104000"/>
              </a:lnSpc>
              <a:spcAft>
                <a:spcPts val="250"/>
              </a:spcAft>
              <a:buClr>
                <a:srgbClr val="41801A"/>
              </a:buClr>
              <a:buSzPct val="70000"/>
              <a:buFont typeface="Arial"/>
              <a:buChar char="■"/>
            </a:pPr>
            <a:r>
              <a:rPr sz="1050">
                <a:solidFill>
                  <a:srgbClr val="0C1408"/>
                </a:solidFill>
                <a:latin typeface="Arial"/>
              </a:rPr>
              <a:t>Verified using income verification engine</a:t>
            </a:r>
          </a:p>
        </p:txBody>
      </p:sp>
      <p:sp>
        <p:nvSpPr>
          <p:cNvPr id="34" name="TextBox 33"/>
          <p:cNvSpPr txBox="1"/>
          <p:nvPr/>
        </p:nvSpPr>
        <p:spPr>
          <a:xfrm>
            <a:off x="6233008" y="4279392"/>
            <a:ext cx="2567864" cy="274320"/>
          </a:xfrm>
          <a:prstGeom prst="rect">
            <a:avLst/>
          </a:prstGeom>
          <a:noFill/>
        </p:spPr>
        <p:txBody>
          <a:bodyPr wrap="square" lIns="0" tIns="0" rIns="0" bIns="0">
            <a:spAutoFit/>
          </a:bodyPr>
          <a:lstStyle/>
          <a:p>
            <a:pPr>
              <a:lnSpc>
                <a:spcPct val="105000"/>
              </a:lnSpc>
            </a:pPr>
            <a:r>
              <a:rPr sz="1250" b="1">
                <a:solidFill>
                  <a:srgbClr val="41801A"/>
                </a:solidFill>
                <a:latin typeface="Arial"/>
              </a:rPr>
              <a:t>Affordability</a:t>
            </a:r>
          </a:p>
        </p:txBody>
      </p:sp>
      <p:sp>
        <p:nvSpPr>
          <p:cNvPr id="35" name="TextBox 34"/>
          <p:cNvSpPr txBox="1"/>
          <p:nvPr/>
        </p:nvSpPr>
        <p:spPr>
          <a:xfrm>
            <a:off x="6233008" y="4590288"/>
            <a:ext cx="2567864" cy="178308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All instalments within a third of verified income</a:t>
            </a:r>
          </a:p>
          <a:p>
            <a:pPr marL="173736" indent="-173736">
              <a:lnSpc>
                <a:spcPct val="104000"/>
              </a:lnSpc>
              <a:spcAft>
                <a:spcPts val="250"/>
              </a:spcAft>
              <a:buClr>
                <a:srgbClr val="41801A"/>
              </a:buClr>
              <a:buSzPct val="70000"/>
              <a:buFont typeface="Arial"/>
              <a:buChar char="■"/>
            </a:pPr>
            <a:r>
              <a:rPr sz="1050">
                <a:solidFill>
                  <a:srgbClr val="0C1408"/>
                </a:solidFill>
                <a:latin typeface="Arial"/>
              </a:rPr>
              <a:t>Within 40% including other loans, the State Bank limit</a:t>
            </a:r>
          </a:p>
        </p:txBody>
      </p:sp>
      <p:sp>
        <p:nvSpPr>
          <p:cNvPr id="36" name="TextBox 35"/>
          <p:cNvSpPr txBox="1"/>
          <p:nvPr/>
        </p:nvSpPr>
        <p:spPr>
          <a:xfrm>
            <a:off x="9075191" y="4279392"/>
            <a:ext cx="2567864" cy="274320"/>
          </a:xfrm>
          <a:prstGeom prst="rect">
            <a:avLst/>
          </a:prstGeom>
          <a:noFill/>
        </p:spPr>
        <p:txBody>
          <a:bodyPr wrap="square" lIns="0" tIns="0" rIns="0" bIns="0">
            <a:spAutoFit/>
          </a:bodyPr>
          <a:lstStyle/>
          <a:p>
            <a:pPr>
              <a:lnSpc>
                <a:spcPct val="105000"/>
              </a:lnSpc>
            </a:pPr>
            <a:r>
              <a:rPr sz="1250" b="1">
                <a:solidFill>
                  <a:srgbClr val="41801A"/>
                </a:solidFill>
                <a:latin typeface="Arial"/>
              </a:rPr>
              <a:t>Score</a:t>
            </a:r>
          </a:p>
        </p:txBody>
      </p:sp>
      <p:sp>
        <p:nvSpPr>
          <p:cNvPr id="37" name="TextBox 36"/>
          <p:cNvSpPr txBox="1"/>
          <p:nvPr/>
        </p:nvSpPr>
        <p:spPr>
          <a:xfrm>
            <a:off x="9075191" y="4590288"/>
            <a:ext cx="2567864" cy="178308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From 300 to 850</a:t>
            </a:r>
          </a:p>
          <a:p>
            <a:pPr marL="173736" indent="-173736">
              <a:lnSpc>
                <a:spcPct val="104000"/>
              </a:lnSpc>
              <a:spcAft>
                <a:spcPts val="250"/>
              </a:spcAft>
              <a:buClr>
                <a:srgbClr val="41801A"/>
              </a:buClr>
              <a:buSzPct val="70000"/>
              <a:buFont typeface="Arial"/>
              <a:buChar char="■"/>
            </a:pPr>
            <a:r>
              <a:rPr sz="1050">
                <a:solidFill>
                  <a:srgbClr val="0C1408"/>
                </a:solidFill>
                <a:latin typeface="Arial"/>
              </a:rPr>
              <a:t>Decides which turns open</a:t>
            </a:r>
          </a:p>
          <a:p>
            <a:pPr marL="173736" indent="-173736">
              <a:lnSpc>
                <a:spcPct val="104000"/>
              </a:lnSpc>
              <a:spcAft>
                <a:spcPts val="250"/>
              </a:spcAft>
              <a:buClr>
                <a:srgbClr val="41801A"/>
              </a:buClr>
              <a:buSzPct val="70000"/>
              <a:buFont typeface="Arial"/>
              <a:buChar char="■"/>
            </a:pPr>
            <a:r>
              <a:rPr sz="1050">
                <a:solidFill>
                  <a:srgbClr val="0C1408"/>
                </a:solidFill>
                <a:latin typeface="Arial"/>
              </a:rPr>
              <a:t>New members start in the last three turns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Committee Types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Five types; the less the members know each other, the more checks apply</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13</a:t>
            </a:r>
          </a:p>
        </p:txBody>
      </p:sp>
      <p:sp>
        <p:nvSpPr>
          <p:cNvPr id="6" name="Rectangle 5"/>
          <p:cNvSpPr/>
          <p:nvPr/>
        </p:nvSpPr>
        <p:spPr>
          <a:xfrm>
            <a:off x="2633472" y="1536192"/>
            <a:ext cx="1752539" cy="603504"/>
          </a:xfrm>
          <a:prstGeom prst="rect">
            <a:avLst/>
          </a:prstGeom>
          <a:solidFill>
            <a:srgbClr val="B9ABE3"/>
          </a:solidFill>
          <a:ln>
            <a:noFill/>
          </a:ln>
        </p:spPr>
        <p:txBody>
          <a:bodyPr rtlCol="0" anchor="ctr" lIns="36576" tIns="27432" rIns="36576" bIns="27432" wrap="square"/>
          <a:lstStyle/>
          <a:p>
            <a:pPr algn="ctr">
              <a:lnSpc>
                <a:spcPct val="100000"/>
              </a:lnSpc>
            </a:pPr>
            <a:r>
              <a:rPr sz="1200" b="1">
                <a:solidFill>
                  <a:srgbClr val="0C1408"/>
                </a:solidFill>
                <a:latin typeface="Arial"/>
              </a:rPr>
              <a:t>Known</a:t>
            </a:r>
          </a:p>
          <a:p>
            <a:pPr algn="ctr">
              <a:lnSpc>
                <a:spcPct val="100000"/>
              </a:lnSpc>
            </a:pPr>
            <a:r>
              <a:rPr sz="900">
                <a:solidFill>
                  <a:srgbClr val="0C1408"/>
                </a:solidFill>
                <a:latin typeface="Arial"/>
              </a:rPr>
              <a:t>check level 1</a:t>
            </a:r>
          </a:p>
        </p:txBody>
      </p:sp>
      <p:sp>
        <p:nvSpPr>
          <p:cNvPr id="7" name="Rectangle 6"/>
          <p:cNvSpPr/>
          <p:nvPr/>
        </p:nvSpPr>
        <p:spPr>
          <a:xfrm>
            <a:off x="4440875" y="1536192"/>
            <a:ext cx="1752539" cy="603504"/>
          </a:xfrm>
          <a:prstGeom prst="rect">
            <a:avLst/>
          </a:prstGeom>
          <a:solidFill>
            <a:srgbClr val="7E67C7"/>
          </a:solidFill>
          <a:ln>
            <a:noFill/>
          </a:ln>
        </p:spPr>
        <p:txBody>
          <a:bodyPr rtlCol="0" anchor="ctr" lIns="36576" tIns="27432" rIns="36576" bIns="27432" wrap="square"/>
          <a:lstStyle/>
          <a:p>
            <a:pPr algn="ctr">
              <a:lnSpc>
                <a:spcPct val="100000"/>
              </a:lnSpc>
            </a:pPr>
            <a:r>
              <a:rPr sz="1200" b="1">
                <a:solidFill>
                  <a:srgbClr val="FFFFFF"/>
                </a:solidFill>
                <a:latin typeface="Arial"/>
              </a:rPr>
              <a:t>Unknown</a:t>
            </a:r>
          </a:p>
          <a:p>
            <a:pPr algn="ctr">
              <a:lnSpc>
                <a:spcPct val="100000"/>
              </a:lnSpc>
            </a:pPr>
            <a:r>
              <a:rPr sz="900">
                <a:solidFill>
                  <a:srgbClr val="FFFFFF"/>
                </a:solidFill>
                <a:latin typeface="Arial"/>
              </a:rPr>
              <a:t>check level 2</a:t>
            </a:r>
          </a:p>
        </p:txBody>
      </p:sp>
      <p:sp>
        <p:nvSpPr>
          <p:cNvPr id="8" name="Rectangle 7"/>
          <p:cNvSpPr/>
          <p:nvPr/>
        </p:nvSpPr>
        <p:spPr>
          <a:xfrm>
            <a:off x="6248278" y="1536192"/>
            <a:ext cx="1752539" cy="603504"/>
          </a:xfrm>
          <a:prstGeom prst="rect">
            <a:avLst/>
          </a:prstGeom>
          <a:solidFill>
            <a:srgbClr val="7E67C7"/>
          </a:solidFill>
          <a:ln>
            <a:noFill/>
          </a:ln>
        </p:spPr>
        <p:txBody>
          <a:bodyPr rtlCol="0" anchor="ctr" lIns="36576" tIns="27432" rIns="36576" bIns="27432" wrap="square"/>
          <a:lstStyle/>
          <a:p>
            <a:pPr algn="ctr">
              <a:lnSpc>
                <a:spcPct val="100000"/>
              </a:lnSpc>
            </a:pPr>
            <a:r>
              <a:rPr sz="1200" b="1">
                <a:solidFill>
                  <a:srgbClr val="FFFFFF"/>
                </a:solidFill>
                <a:latin typeface="Arial"/>
              </a:rPr>
              <a:t>Large unknown</a:t>
            </a:r>
          </a:p>
          <a:p>
            <a:pPr algn="ctr">
              <a:lnSpc>
                <a:spcPct val="100000"/>
              </a:lnSpc>
            </a:pPr>
            <a:r>
              <a:rPr sz="900">
                <a:solidFill>
                  <a:srgbClr val="FFFFFF"/>
                </a:solidFill>
                <a:latin typeface="Arial"/>
              </a:rPr>
              <a:t>check level 2</a:t>
            </a:r>
          </a:p>
        </p:txBody>
      </p:sp>
      <p:sp>
        <p:nvSpPr>
          <p:cNvPr id="9" name="Rectangle 8"/>
          <p:cNvSpPr/>
          <p:nvPr/>
        </p:nvSpPr>
        <p:spPr>
          <a:xfrm>
            <a:off x="8055681" y="1536192"/>
            <a:ext cx="1752539" cy="603504"/>
          </a:xfrm>
          <a:prstGeom prst="rect">
            <a:avLst/>
          </a:prstGeom>
          <a:solidFill>
            <a:srgbClr val="7E67C7"/>
          </a:solidFill>
          <a:ln>
            <a:noFill/>
          </a:ln>
        </p:spPr>
        <p:txBody>
          <a:bodyPr rtlCol="0" anchor="ctr" lIns="36576" tIns="27432" rIns="36576" bIns="27432" wrap="square"/>
          <a:lstStyle/>
          <a:p>
            <a:pPr algn="ctr">
              <a:lnSpc>
                <a:spcPct val="100000"/>
              </a:lnSpc>
            </a:pPr>
            <a:r>
              <a:rPr sz="1200" b="1">
                <a:solidFill>
                  <a:srgbClr val="FFFFFF"/>
                </a:solidFill>
                <a:latin typeface="Arial"/>
              </a:rPr>
              <a:t>Asset</a:t>
            </a:r>
          </a:p>
          <a:p>
            <a:pPr algn="ctr">
              <a:lnSpc>
                <a:spcPct val="100000"/>
              </a:lnSpc>
            </a:pPr>
            <a:r>
              <a:rPr sz="900">
                <a:solidFill>
                  <a:srgbClr val="FFFFFF"/>
                </a:solidFill>
                <a:latin typeface="Arial"/>
              </a:rPr>
              <a:t>check level 2</a:t>
            </a:r>
          </a:p>
        </p:txBody>
      </p:sp>
      <p:sp>
        <p:nvSpPr>
          <p:cNvPr id="10" name="Rectangle 9"/>
          <p:cNvSpPr/>
          <p:nvPr/>
        </p:nvSpPr>
        <p:spPr>
          <a:xfrm>
            <a:off x="9863084" y="1536192"/>
            <a:ext cx="1752539" cy="603504"/>
          </a:xfrm>
          <a:prstGeom prst="rect">
            <a:avLst/>
          </a:prstGeom>
          <a:solidFill>
            <a:srgbClr val="48348A"/>
          </a:solidFill>
          <a:ln>
            <a:noFill/>
          </a:ln>
        </p:spPr>
        <p:txBody>
          <a:bodyPr rtlCol="0" anchor="ctr" lIns="36576" tIns="27432" rIns="36576" bIns="27432" wrap="square"/>
          <a:lstStyle/>
          <a:p>
            <a:pPr algn="ctr">
              <a:lnSpc>
                <a:spcPct val="100000"/>
              </a:lnSpc>
            </a:pPr>
            <a:r>
              <a:rPr sz="1200" b="1">
                <a:solidFill>
                  <a:srgbClr val="FFFFFF"/>
                </a:solidFill>
                <a:latin typeface="Arial"/>
              </a:rPr>
              <a:t>Hyper</a:t>
            </a:r>
          </a:p>
          <a:p>
            <a:pPr algn="ctr">
              <a:lnSpc>
                <a:spcPct val="100000"/>
              </a:lnSpc>
            </a:pPr>
            <a:r>
              <a:rPr sz="900">
                <a:solidFill>
                  <a:srgbClr val="FFFFFF"/>
                </a:solidFill>
                <a:latin typeface="Arial"/>
              </a:rPr>
              <a:t>check level 3, experimental</a:t>
            </a:r>
          </a:p>
        </p:txBody>
      </p:sp>
      <p:sp>
        <p:nvSpPr>
          <p:cNvPr id="11" name="TextBox 10"/>
          <p:cNvSpPr txBox="1"/>
          <p:nvPr/>
        </p:nvSpPr>
        <p:spPr>
          <a:xfrm>
            <a:off x="548640" y="2185416"/>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Members</a:t>
            </a:r>
          </a:p>
        </p:txBody>
      </p:sp>
      <p:sp>
        <p:nvSpPr>
          <p:cNvPr id="12" name="TextBox 11"/>
          <p:cNvSpPr txBox="1"/>
          <p:nvPr/>
        </p:nvSpPr>
        <p:spPr>
          <a:xfrm>
            <a:off x="2651760" y="2185416"/>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6 to 12</a:t>
            </a:r>
          </a:p>
        </p:txBody>
      </p:sp>
      <p:sp>
        <p:nvSpPr>
          <p:cNvPr id="13" name="TextBox 12"/>
          <p:cNvSpPr txBox="1"/>
          <p:nvPr/>
        </p:nvSpPr>
        <p:spPr>
          <a:xfrm>
            <a:off x="4459163" y="2185416"/>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12</a:t>
            </a:r>
          </a:p>
        </p:txBody>
      </p:sp>
      <p:sp>
        <p:nvSpPr>
          <p:cNvPr id="14" name="TextBox 13"/>
          <p:cNvSpPr txBox="1"/>
          <p:nvPr/>
        </p:nvSpPr>
        <p:spPr>
          <a:xfrm>
            <a:off x="6266566" y="2185416"/>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20</a:t>
            </a:r>
          </a:p>
        </p:txBody>
      </p:sp>
      <p:sp>
        <p:nvSpPr>
          <p:cNvPr id="15" name="TextBox 14"/>
          <p:cNvSpPr txBox="1"/>
          <p:nvPr/>
        </p:nvSpPr>
        <p:spPr>
          <a:xfrm>
            <a:off x="8073969" y="2185416"/>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12</a:t>
            </a:r>
          </a:p>
        </p:txBody>
      </p:sp>
      <p:sp>
        <p:nvSpPr>
          <p:cNvPr id="16" name="TextBox 15"/>
          <p:cNvSpPr txBox="1"/>
          <p:nvPr/>
        </p:nvSpPr>
        <p:spPr>
          <a:xfrm>
            <a:off x="9881372" y="2185416"/>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390 to 400</a:t>
            </a:r>
          </a:p>
        </p:txBody>
      </p:sp>
      <p:cxnSp>
        <p:nvCxnSpPr>
          <p:cNvPr id="17" name="Connector 16"/>
          <p:cNvCxnSpPr/>
          <p:nvPr/>
        </p:nvCxnSpPr>
        <p:spPr>
          <a:xfrm>
            <a:off x="548640" y="2569464"/>
            <a:ext cx="11094415" cy="0"/>
          </a:xfrm>
          <a:prstGeom prst="line">
            <a:avLst/>
          </a:prstGeom>
          <a:ln w="9525">
            <a:solidFill>
              <a:srgbClr val="D1D5DB"/>
            </a:solidFill>
          </a:ln>
        </p:spPr>
      </p:cxnSp>
      <p:sp>
        <p:nvSpPr>
          <p:cNvPr id="18" name="TextBox 17"/>
          <p:cNvSpPr txBox="1"/>
          <p:nvPr/>
        </p:nvSpPr>
        <p:spPr>
          <a:xfrm>
            <a:off x="548640" y="2569464"/>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Instalment</a:t>
            </a:r>
          </a:p>
        </p:txBody>
      </p:sp>
      <p:sp>
        <p:nvSpPr>
          <p:cNvPr id="19" name="TextBox 18"/>
          <p:cNvSpPr txBox="1"/>
          <p:nvPr/>
        </p:nvSpPr>
        <p:spPr>
          <a:xfrm>
            <a:off x="2651760" y="2569464"/>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2,000 to 10,000</a:t>
            </a:r>
          </a:p>
        </p:txBody>
      </p:sp>
      <p:sp>
        <p:nvSpPr>
          <p:cNvPr id="20" name="TextBox 19"/>
          <p:cNvSpPr txBox="1"/>
          <p:nvPr/>
        </p:nvSpPr>
        <p:spPr>
          <a:xfrm>
            <a:off x="4459163" y="2569464"/>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2000 to 10,000</a:t>
            </a:r>
          </a:p>
        </p:txBody>
      </p:sp>
      <p:sp>
        <p:nvSpPr>
          <p:cNvPr id="21" name="TextBox 20"/>
          <p:cNvSpPr txBox="1"/>
          <p:nvPr/>
        </p:nvSpPr>
        <p:spPr>
          <a:xfrm>
            <a:off x="6266566" y="2569464"/>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10,000 to 25,000</a:t>
            </a:r>
          </a:p>
        </p:txBody>
      </p:sp>
      <p:sp>
        <p:nvSpPr>
          <p:cNvPr id="22" name="TextBox 21"/>
          <p:cNvSpPr txBox="1"/>
          <p:nvPr/>
        </p:nvSpPr>
        <p:spPr>
          <a:xfrm>
            <a:off x="8073969" y="2569464"/>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10,000</a:t>
            </a:r>
          </a:p>
        </p:txBody>
      </p:sp>
      <p:sp>
        <p:nvSpPr>
          <p:cNvPr id="23" name="TextBox 22"/>
          <p:cNvSpPr txBox="1"/>
          <p:nvPr/>
        </p:nvSpPr>
        <p:spPr>
          <a:xfrm>
            <a:off x="9881372" y="2569464"/>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450 to 500 a day</a:t>
            </a:r>
          </a:p>
        </p:txBody>
      </p:sp>
      <p:cxnSp>
        <p:nvCxnSpPr>
          <p:cNvPr id="24" name="Connector 23"/>
          <p:cNvCxnSpPr/>
          <p:nvPr/>
        </p:nvCxnSpPr>
        <p:spPr>
          <a:xfrm>
            <a:off x="548640" y="2953512"/>
            <a:ext cx="11094415" cy="0"/>
          </a:xfrm>
          <a:prstGeom prst="line">
            <a:avLst/>
          </a:prstGeom>
          <a:ln w="9525">
            <a:solidFill>
              <a:srgbClr val="D1D5DB"/>
            </a:solidFill>
          </a:ln>
        </p:spPr>
      </p:cxnSp>
      <p:sp>
        <p:nvSpPr>
          <p:cNvPr id="25" name="TextBox 24"/>
          <p:cNvSpPr txBox="1"/>
          <p:nvPr/>
        </p:nvSpPr>
        <p:spPr>
          <a:xfrm>
            <a:off x="548640" y="2953512"/>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Frequency</a:t>
            </a:r>
          </a:p>
        </p:txBody>
      </p:sp>
      <p:sp>
        <p:nvSpPr>
          <p:cNvPr id="26" name="TextBox 25"/>
          <p:cNvSpPr txBox="1"/>
          <p:nvPr/>
        </p:nvSpPr>
        <p:spPr>
          <a:xfrm>
            <a:off x="2651760" y="2953512"/>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 or weekly</a:t>
            </a:r>
          </a:p>
        </p:txBody>
      </p:sp>
      <p:sp>
        <p:nvSpPr>
          <p:cNvPr id="27" name="TextBox 26"/>
          <p:cNvSpPr txBox="1"/>
          <p:nvPr/>
        </p:nvSpPr>
        <p:spPr>
          <a:xfrm>
            <a:off x="4459163" y="2953512"/>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28" name="TextBox 27"/>
          <p:cNvSpPr txBox="1"/>
          <p:nvPr/>
        </p:nvSpPr>
        <p:spPr>
          <a:xfrm>
            <a:off x="6266566" y="2953512"/>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29" name="TextBox 28"/>
          <p:cNvSpPr txBox="1"/>
          <p:nvPr/>
        </p:nvSpPr>
        <p:spPr>
          <a:xfrm>
            <a:off x="8073969" y="2953512"/>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30" name="TextBox 29"/>
          <p:cNvSpPr txBox="1"/>
          <p:nvPr/>
        </p:nvSpPr>
        <p:spPr>
          <a:xfrm>
            <a:off x="9881372" y="2953512"/>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daily</a:t>
            </a:r>
          </a:p>
        </p:txBody>
      </p:sp>
      <p:cxnSp>
        <p:nvCxnSpPr>
          <p:cNvPr id="31" name="Connector 30"/>
          <p:cNvCxnSpPr/>
          <p:nvPr/>
        </p:nvCxnSpPr>
        <p:spPr>
          <a:xfrm>
            <a:off x="548640" y="3337560"/>
            <a:ext cx="11094415" cy="0"/>
          </a:xfrm>
          <a:prstGeom prst="line">
            <a:avLst/>
          </a:prstGeom>
          <a:ln w="9525">
            <a:solidFill>
              <a:srgbClr val="D1D5DB"/>
            </a:solidFill>
          </a:ln>
        </p:spPr>
      </p:cxnSp>
      <p:sp>
        <p:nvSpPr>
          <p:cNvPr id="32" name="TextBox 31"/>
          <p:cNvSpPr txBox="1"/>
          <p:nvPr/>
        </p:nvSpPr>
        <p:spPr>
          <a:xfrm>
            <a:off x="548640" y="3337560"/>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Income checked</a:t>
            </a:r>
          </a:p>
        </p:txBody>
      </p:sp>
      <p:sp>
        <p:nvSpPr>
          <p:cNvPr id="33" name="Oval 32"/>
          <p:cNvSpPr/>
          <p:nvPr/>
        </p:nvSpPr>
        <p:spPr>
          <a:xfrm>
            <a:off x="3413730" y="3433572"/>
            <a:ext cx="192024" cy="192024"/>
          </a:xfrm>
          <a:prstGeom prst="ellipse">
            <a:avLst/>
          </a:prstGeom>
          <a:solidFill>
            <a:srgbClr val="FFFFFF"/>
          </a:solidFill>
          <a:ln w="15875">
            <a:solidFill>
              <a:srgbClr val="573F99"/>
            </a:solidFill>
          </a:ln>
        </p:spPr>
        <p:txBody>
          <a:bodyPr rtlCol="0" anchor="ctr"/>
          <a:lstStyle/>
          <a:p>
            <a:pPr algn="ctr"/>
          </a:p>
        </p:txBody>
      </p:sp>
      <p:sp>
        <p:nvSpPr>
          <p:cNvPr id="34" name="Oval 33"/>
          <p:cNvSpPr/>
          <p:nvPr/>
        </p:nvSpPr>
        <p:spPr>
          <a:xfrm>
            <a:off x="5221133" y="3433572"/>
            <a:ext cx="192024" cy="192024"/>
          </a:xfrm>
          <a:prstGeom prst="ellipse">
            <a:avLst/>
          </a:prstGeom>
          <a:solidFill>
            <a:srgbClr val="573F99"/>
          </a:solidFill>
          <a:ln w="15875">
            <a:solidFill>
              <a:srgbClr val="573F99"/>
            </a:solidFill>
          </a:ln>
        </p:spPr>
        <p:txBody>
          <a:bodyPr rtlCol="0" anchor="ctr"/>
          <a:lstStyle/>
          <a:p>
            <a:pPr algn="ctr"/>
          </a:p>
        </p:txBody>
      </p:sp>
      <p:sp>
        <p:nvSpPr>
          <p:cNvPr id="35" name="Oval 34"/>
          <p:cNvSpPr/>
          <p:nvPr/>
        </p:nvSpPr>
        <p:spPr>
          <a:xfrm>
            <a:off x="7028536" y="3433572"/>
            <a:ext cx="192024" cy="192024"/>
          </a:xfrm>
          <a:prstGeom prst="ellipse">
            <a:avLst/>
          </a:prstGeom>
          <a:solidFill>
            <a:srgbClr val="573F99"/>
          </a:solidFill>
          <a:ln w="15875">
            <a:solidFill>
              <a:srgbClr val="573F99"/>
            </a:solidFill>
          </a:ln>
        </p:spPr>
        <p:txBody>
          <a:bodyPr rtlCol="0" anchor="ctr"/>
          <a:lstStyle/>
          <a:p>
            <a:pPr algn="ctr"/>
          </a:p>
        </p:txBody>
      </p:sp>
      <p:sp>
        <p:nvSpPr>
          <p:cNvPr id="36" name="Oval 35"/>
          <p:cNvSpPr/>
          <p:nvPr/>
        </p:nvSpPr>
        <p:spPr>
          <a:xfrm>
            <a:off x="8835939" y="3433572"/>
            <a:ext cx="192024" cy="192024"/>
          </a:xfrm>
          <a:prstGeom prst="ellipse">
            <a:avLst/>
          </a:prstGeom>
          <a:solidFill>
            <a:srgbClr val="573F99"/>
          </a:solidFill>
          <a:ln w="15875">
            <a:solidFill>
              <a:srgbClr val="573F99"/>
            </a:solidFill>
          </a:ln>
        </p:spPr>
        <p:txBody>
          <a:bodyPr rtlCol="0" anchor="ctr"/>
          <a:lstStyle/>
          <a:p>
            <a:pPr algn="ctr"/>
          </a:p>
        </p:txBody>
      </p:sp>
      <p:sp>
        <p:nvSpPr>
          <p:cNvPr id="37" name="Oval 36"/>
          <p:cNvSpPr/>
          <p:nvPr/>
        </p:nvSpPr>
        <p:spPr>
          <a:xfrm>
            <a:off x="10643342" y="3433572"/>
            <a:ext cx="192024" cy="192024"/>
          </a:xfrm>
          <a:prstGeom prst="ellipse">
            <a:avLst/>
          </a:prstGeom>
          <a:solidFill>
            <a:srgbClr val="573F99"/>
          </a:solidFill>
          <a:ln w="15875">
            <a:solidFill>
              <a:srgbClr val="573F99"/>
            </a:solidFill>
          </a:ln>
        </p:spPr>
        <p:txBody>
          <a:bodyPr rtlCol="0" anchor="ctr"/>
          <a:lstStyle/>
          <a:p>
            <a:pPr algn="ctr"/>
          </a:p>
        </p:txBody>
      </p:sp>
      <p:cxnSp>
        <p:nvCxnSpPr>
          <p:cNvPr id="38" name="Connector 37"/>
          <p:cNvCxnSpPr/>
          <p:nvPr/>
        </p:nvCxnSpPr>
        <p:spPr>
          <a:xfrm>
            <a:off x="548640" y="3721608"/>
            <a:ext cx="11094415" cy="0"/>
          </a:xfrm>
          <a:prstGeom prst="line">
            <a:avLst/>
          </a:prstGeom>
          <a:ln w="9525">
            <a:solidFill>
              <a:srgbClr val="D1D5DB"/>
            </a:solidFill>
          </a:ln>
        </p:spPr>
      </p:cxnSp>
      <p:sp>
        <p:nvSpPr>
          <p:cNvPr id="39" name="TextBox 38"/>
          <p:cNvSpPr txBox="1"/>
          <p:nvPr/>
        </p:nvSpPr>
        <p:spPr>
          <a:xfrm>
            <a:off x="548640" y="3721608"/>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Automatic debit</a:t>
            </a:r>
          </a:p>
        </p:txBody>
      </p:sp>
      <p:sp>
        <p:nvSpPr>
          <p:cNvPr id="40" name="Oval 39"/>
          <p:cNvSpPr/>
          <p:nvPr/>
        </p:nvSpPr>
        <p:spPr>
          <a:xfrm>
            <a:off x="3413730" y="3817620"/>
            <a:ext cx="192024" cy="192024"/>
          </a:xfrm>
          <a:prstGeom prst="ellipse">
            <a:avLst/>
          </a:prstGeom>
          <a:solidFill>
            <a:srgbClr val="FFFFFF"/>
          </a:solidFill>
          <a:ln w="15875">
            <a:solidFill>
              <a:srgbClr val="573F99"/>
            </a:solidFill>
          </a:ln>
        </p:spPr>
        <p:txBody>
          <a:bodyPr rtlCol="0" anchor="ctr"/>
          <a:lstStyle/>
          <a:p>
            <a:pPr algn="ctr"/>
          </a:p>
        </p:txBody>
      </p:sp>
      <p:sp>
        <p:nvSpPr>
          <p:cNvPr id="41" name="Oval 40"/>
          <p:cNvSpPr/>
          <p:nvPr/>
        </p:nvSpPr>
        <p:spPr>
          <a:xfrm>
            <a:off x="5221133" y="3817620"/>
            <a:ext cx="192024" cy="192024"/>
          </a:xfrm>
          <a:prstGeom prst="ellipse">
            <a:avLst/>
          </a:prstGeom>
          <a:solidFill>
            <a:srgbClr val="573F99"/>
          </a:solidFill>
          <a:ln w="15875">
            <a:solidFill>
              <a:srgbClr val="573F99"/>
            </a:solidFill>
          </a:ln>
        </p:spPr>
        <p:txBody>
          <a:bodyPr rtlCol="0" anchor="ctr"/>
          <a:lstStyle/>
          <a:p>
            <a:pPr algn="ctr"/>
          </a:p>
        </p:txBody>
      </p:sp>
      <p:sp>
        <p:nvSpPr>
          <p:cNvPr id="42" name="Oval 41"/>
          <p:cNvSpPr/>
          <p:nvPr/>
        </p:nvSpPr>
        <p:spPr>
          <a:xfrm>
            <a:off x="7028536" y="3817620"/>
            <a:ext cx="192024" cy="192024"/>
          </a:xfrm>
          <a:prstGeom prst="ellipse">
            <a:avLst/>
          </a:prstGeom>
          <a:solidFill>
            <a:srgbClr val="573F99"/>
          </a:solidFill>
          <a:ln w="15875">
            <a:solidFill>
              <a:srgbClr val="573F99"/>
            </a:solidFill>
          </a:ln>
        </p:spPr>
        <p:txBody>
          <a:bodyPr rtlCol="0" anchor="ctr"/>
          <a:lstStyle/>
          <a:p>
            <a:pPr algn="ctr"/>
          </a:p>
        </p:txBody>
      </p:sp>
      <p:sp>
        <p:nvSpPr>
          <p:cNvPr id="43" name="Oval 42"/>
          <p:cNvSpPr/>
          <p:nvPr/>
        </p:nvSpPr>
        <p:spPr>
          <a:xfrm>
            <a:off x="8835939" y="3817620"/>
            <a:ext cx="192024" cy="192024"/>
          </a:xfrm>
          <a:prstGeom prst="ellipse">
            <a:avLst/>
          </a:prstGeom>
          <a:solidFill>
            <a:srgbClr val="573F99"/>
          </a:solidFill>
          <a:ln w="15875">
            <a:solidFill>
              <a:srgbClr val="573F99"/>
            </a:solidFill>
          </a:ln>
        </p:spPr>
        <p:txBody>
          <a:bodyPr rtlCol="0" anchor="ctr"/>
          <a:lstStyle/>
          <a:p>
            <a:pPr algn="ctr"/>
          </a:p>
        </p:txBody>
      </p:sp>
      <p:sp>
        <p:nvSpPr>
          <p:cNvPr id="44" name="Oval 43"/>
          <p:cNvSpPr/>
          <p:nvPr/>
        </p:nvSpPr>
        <p:spPr>
          <a:xfrm>
            <a:off x="10643342" y="3817620"/>
            <a:ext cx="192024" cy="192024"/>
          </a:xfrm>
          <a:prstGeom prst="ellipse">
            <a:avLst/>
          </a:prstGeom>
          <a:solidFill>
            <a:srgbClr val="573F99"/>
          </a:solidFill>
          <a:ln w="15875">
            <a:solidFill>
              <a:srgbClr val="573F99"/>
            </a:solidFill>
          </a:ln>
        </p:spPr>
        <p:txBody>
          <a:bodyPr rtlCol="0" anchor="ctr"/>
          <a:lstStyle/>
          <a:p>
            <a:pPr algn="ctr"/>
          </a:p>
        </p:txBody>
      </p:sp>
      <p:cxnSp>
        <p:nvCxnSpPr>
          <p:cNvPr id="45" name="Connector 44"/>
          <p:cNvCxnSpPr/>
          <p:nvPr/>
        </p:nvCxnSpPr>
        <p:spPr>
          <a:xfrm>
            <a:off x="548640" y="4105656"/>
            <a:ext cx="11094415" cy="0"/>
          </a:xfrm>
          <a:prstGeom prst="line">
            <a:avLst/>
          </a:prstGeom>
          <a:ln w="9525">
            <a:solidFill>
              <a:srgbClr val="D1D5DB"/>
            </a:solidFill>
          </a:ln>
        </p:spPr>
      </p:cxnSp>
      <p:sp>
        <p:nvSpPr>
          <p:cNvPr id="46" name="TextBox 45"/>
          <p:cNvSpPr txBox="1"/>
          <p:nvPr/>
        </p:nvSpPr>
        <p:spPr>
          <a:xfrm>
            <a:off x="548640" y="4105656"/>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Takaful</a:t>
            </a:r>
          </a:p>
        </p:txBody>
      </p:sp>
      <p:sp>
        <p:nvSpPr>
          <p:cNvPr id="47" name="Oval 46"/>
          <p:cNvSpPr/>
          <p:nvPr/>
        </p:nvSpPr>
        <p:spPr>
          <a:xfrm>
            <a:off x="3413730" y="4201668"/>
            <a:ext cx="192024" cy="192024"/>
          </a:xfrm>
          <a:prstGeom prst="ellipse">
            <a:avLst/>
          </a:prstGeom>
          <a:solidFill>
            <a:srgbClr val="FFFFFF"/>
          </a:solidFill>
          <a:ln w="15875">
            <a:solidFill>
              <a:srgbClr val="573F99"/>
            </a:solidFill>
          </a:ln>
        </p:spPr>
        <p:txBody>
          <a:bodyPr rtlCol="0" anchor="ctr"/>
          <a:lstStyle/>
          <a:p>
            <a:pPr algn="ctr"/>
          </a:p>
        </p:txBody>
      </p:sp>
      <p:sp>
        <p:nvSpPr>
          <p:cNvPr id="48" name="Oval 47"/>
          <p:cNvSpPr/>
          <p:nvPr/>
        </p:nvSpPr>
        <p:spPr>
          <a:xfrm>
            <a:off x="5221133" y="4201668"/>
            <a:ext cx="192024" cy="192024"/>
          </a:xfrm>
          <a:prstGeom prst="ellipse">
            <a:avLst/>
          </a:prstGeom>
          <a:solidFill>
            <a:srgbClr val="573F99"/>
          </a:solidFill>
          <a:ln w="15875">
            <a:solidFill>
              <a:srgbClr val="573F99"/>
            </a:solidFill>
          </a:ln>
        </p:spPr>
        <p:txBody>
          <a:bodyPr rtlCol="0" anchor="ctr"/>
          <a:lstStyle/>
          <a:p>
            <a:pPr algn="ctr"/>
          </a:p>
        </p:txBody>
      </p:sp>
      <p:sp>
        <p:nvSpPr>
          <p:cNvPr id="49" name="Oval 48"/>
          <p:cNvSpPr/>
          <p:nvPr/>
        </p:nvSpPr>
        <p:spPr>
          <a:xfrm>
            <a:off x="7028536" y="4201668"/>
            <a:ext cx="192024" cy="192024"/>
          </a:xfrm>
          <a:prstGeom prst="ellipse">
            <a:avLst/>
          </a:prstGeom>
          <a:solidFill>
            <a:srgbClr val="573F99"/>
          </a:solidFill>
          <a:ln w="15875">
            <a:solidFill>
              <a:srgbClr val="573F99"/>
            </a:solidFill>
          </a:ln>
        </p:spPr>
        <p:txBody>
          <a:bodyPr rtlCol="0" anchor="ctr"/>
          <a:lstStyle/>
          <a:p>
            <a:pPr algn="ctr"/>
          </a:p>
        </p:txBody>
      </p:sp>
      <p:sp>
        <p:nvSpPr>
          <p:cNvPr id="50" name="Oval 49"/>
          <p:cNvSpPr/>
          <p:nvPr/>
        </p:nvSpPr>
        <p:spPr>
          <a:xfrm>
            <a:off x="8835939" y="4201668"/>
            <a:ext cx="192024" cy="192024"/>
          </a:xfrm>
          <a:prstGeom prst="ellipse">
            <a:avLst/>
          </a:prstGeom>
          <a:solidFill>
            <a:srgbClr val="573F99"/>
          </a:solidFill>
          <a:ln w="15875">
            <a:solidFill>
              <a:srgbClr val="573F99"/>
            </a:solidFill>
          </a:ln>
        </p:spPr>
        <p:txBody>
          <a:bodyPr rtlCol="0" anchor="ctr"/>
          <a:lstStyle/>
          <a:p>
            <a:pPr algn="ctr"/>
          </a:p>
        </p:txBody>
      </p:sp>
      <p:sp>
        <p:nvSpPr>
          <p:cNvPr id="51" name="Oval 50"/>
          <p:cNvSpPr/>
          <p:nvPr/>
        </p:nvSpPr>
        <p:spPr>
          <a:xfrm>
            <a:off x="10643342" y="4201668"/>
            <a:ext cx="192024" cy="192024"/>
          </a:xfrm>
          <a:prstGeom prst="ellipse">
            <a:avLst/>
          </a:prstGeom>
          <a:solidFill>
            <a:srgbClr val="573F99"/>
          </a:solidFill>
          <a:ln w="15875">
            <a:solidFill>
              <a:srgbClr val="573F99"/>
            </a:solidFill>
          </a:ln>
        </p:spPr>
        <p:txBody>
          <a:bodyPr rtlCol="0" anchor="ctr"/>
          <a:lstStyle/>
          <a:p>
            <a:pPr algn="ctr"/>
          </a:p>
        </p:txBody>
      </p:sp>
      <p:cxnSp>
        <p:nvCxnSpPr>
          <p:cNvPr id="52" name="Connector 51"/>
          <p:cNvCxnSpPr/>
          <p:nvPr/>
        </p:nvCxnSpPr>
        <p:spPr>
          <a:xfrm>
            <a:off x="548640" y="4489704"/>
            <a:ext cx="11094415" cy="0"/>
          </a:xfrm>
          <a:prstGeom prst="line">
            <a:avLst/>
          </a:prstGeom>
          <a:ln w="9525">
            <a:solidFill>
              <a:srgbClr val="D1D5DB"/>
            </a:solidFill>
          </a:ln>
        </p:spPr>
      </p:cxnSp>
      <p:sp>
        <p:nvSpPr>
          <p:cNvPr id="53" name="TextBox 52"/>
          <p:cNvSpPr txBox="1"/>
          <p:nvPr/>
        </p:nvSpPr>
        <p:spPr>
          <a:xfrm>
            <a:off x="548640" y="4489704"/>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Credit report read</a:t>
            </a:r>
          </a:p>
        </p:txBody>
      </p:sp>
      <p:sp>
        <p:nvSpPr>
          <p:cNvPr id="54" name="Oval 53"/>
          <p:cNvSpPr/>
          <p:nvPr/>
        </p:nvSpPr>
        <p:spPr>
          <a:xfrm>
            <a:off x="3413730" y="4585716"/>
            <a:ext cx="192024" cy="192024"/>
          </a:xfrm>
          <a:prstGeom prst="ellipse">
            <a:avLst/>
          </a:prstGeom>
          <a:solidFill>
            <a:srgbClr val="FFFFFF"/>
          </a:solidFill>
          <a:ln w="15875">
            <a:solidFill>
              <a:srgbClr val="573F99"/>
            </a:solidFill>
          </a:ln>
        </p:spPr>
        <p:txBody>
          <a:bodyPr rtlCol="0" anchor="ctr"/>
          <a:lstStyle/>
          <a:p>
            <a:pPr algn="ctr"/>
          </a:p>
        </p:txBody>
      </p:sp>
      <p:sp>
        <p:nvSpPr>
          <p:cNvPr id="55" name="Oval 54"/>
          <p:cNvSpPr/>
          <p:nvPr/>
        </p:nvSpPr>
        <p:spPr>
          <a:xfrm>
            <a:off x="5221133" y="4585716"/>
            <a:ext cx="192024" cy="192024"/>
          </a:xfrm>
          <a:prstGeom prst="ellipse">
            <a:avLst/>
          </a:prstGeom>
          <a:solidFill>
            <a:srgbClr val="573F99"/>
          </a:solidFill>
          <a:ln w="15875">
            <a:solidFill>
              <a:srgbClr val="573F99"/>
            </a:solidFill>
          </a:ln>
        </p:spPr>
        <p:txBody>
          <a:bodyPr rtlCol="0" anchor="ctr"/>
          <a:lstStyle/>
          <a:p>
            <a:pPr algn="ctr"/>
          </a:p>
        </p:txBody>
      </p:sp>
      <p:sp>
        <p:nvSpPr>
          <p:cNvPr id="56" name="Oval 55"/>
          <p:cNvSpPr/>
          <p:nvPr/>
        </p:nvSpPr>
        <p:spPr>
          <a:xfrm>
            <a:off x="7028536" y="4585716"/>
            <a:ext cx="192024" cy="192024"/>
          </a:xfrm>
          <a:prstGeom prst="ellipse">
            <a:avLst/>
          </a:prstGeom>
          <a:solidFill>
            <a:srgbClr val="573F99"/>
          </a:solidFill>
          <a:ln w="15875">
            <a:solidFill>
              <a:srgbClr val="573F99"/>
            </a:solidFill>
          </a:ln>
        </p:spPr>
        <p:txBody>
          <a:bodyPr rtlCol="0" anchor="ctr"/>
          <a:lstStyle/>
          <a:p>
            <a:pPr algn="ctr"/>
          </a:p>
        </p:txBody>
      </p:sp>
      <p:sp>
        <p:nvSpPr>
          <p:cNvPr id="57" name="Oval 56"/>
          <p:cNvSpPr/>
          <p:nvPr/>
        </p:nvSpPr>
        <p:spPr>
          <a:xfrm>
            <a:off x="8835939" y="4585716"/>
            <a:ext cx="192024" cy="192024"/>
          </a:xfrm>
          <a:prstGeom prst="ellipse">
            <a:avLst/>
          </a:prstGeom>
          <a:solidFill>
            <a:srgbClr val="573F99"/>
          </a:solidFill>
          <a:ln w="15875">
            <a:solidFill>
              <a:srgbClr val="573F99"/>
            </a:solidFill>
          </a:ln>
        </p:spPr>
        <p:txBody>
          <a:bodyPr rtlCol="0" anchor="ctr"/>
          <a:lstStyle/>
          <a:p>
            <a:pPr algn="ctr"/>
          </a:p>
        </p:txBody>
      </p:sp>
      <p:sp>
        <p:nvSpPr>
          <p:cNvPr id="58" name="Oval 57"/>
          <p:cNvSpPr/>
          <p:nvPr/>
        </p:nvSpPr>
        <p:spPr>
          <a:xfrm>
            <a:off x="10643342" y="4585716"/>
            <a:ext cx="192024" cy="192024"/>
          </a:xfrm>
          <a:prstGeom prst="ellipse">
            <a:avLst/>
          </a:prstGeom>
          <a:solidFill>
            <a:srgbClr val="573F99"/>
          </a:solidFill>
          <a:ln w="15875">
            <a:solidFill>
              <a:srgbClr val="573F99"/>
            </a:solidFill>
          </a:ln>
        </p:spPr>
        <p:txBody>
          <a:bodyPr rtlCol="0" anchor="ctr"/>
          <a:lstStyle/>
          <a:p>
            <a:pPr algn="ctr"/>
          </a:p>
        </p:txBody>
      </p:sp>
      <p:cxnSp>
        <p:nvCxnSpPr>
          <p:cNvPr id="59" name="Connector 58"/>
          <p:cNvCxnSpPr/>
          <p:nvPr/>
        </p:nvCxnSpPr>
        <p:spPr>
          <a:xfrm>
            <a:off x="548640" y="4873752"/>
            <a:ext cx="11094415" cy="0"/>
          </a:xfrm>
          <a:prstGeom prst="line">
            <a:avLst/>
          </a:prstGeom>
          <a:ln w="9525">
            <a:solidFill>
              <a:srgbClr val="D1D5DB"/>
            </a:solidFill>
          </a:ln>
        </p:spPr>
      </p:cxnSp>
      <p:sp>
        <p:nvSpPr>
          <p:cNvPr id="60" name="TextBox 59"/>
          <p:cNvSpPr txBox="1"/>
          <p:nvPr/>
        </p:nvSpPr>
        <p:spPr>
          <a:xfrm>
            <a:off x="548640" y="4873752"/>
            <a:ext cx="1965960" cy="56692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Typical members</a:t>
            </a:r>
          </a:p>
        </p:txBody>
      </p:sp>
      <p:sp>
        <p:nvSpPr>
          <p:cNvPr id="61" name="TextBox 60"/>
          <p:cNvSpPr txBox="1"/>
          <p:nvPr/>
        </p:nvSpPr>
        <p:spPr>
          <a:xfrm>
            <a:off x="2651760" y="4873752"/>
            <a:ext cx="1715963"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family, colleagues, neighbours, bazaar traders</a:t>
            </a:r>
          </a:p>
        </p:txBody>
      </p:sp>
      <p:sp>
        <p:nvSpPr>
          <p:cNvPr id="62" name="TextBox 61"/>
          <p:cNvSpPr txBox="1"/>
          <p:nvPr/>
        </p:nvSpPr>
        <p:spPr>
          <a:xfrm>
            <a:off x="4459163" y="4873752"/>
            <a:ext cx="1715963"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people who do not know each other</a:t>
            </a:r>
          </a:p>
        </p:txBody>
      </p:sp>
      <p:sp>
        <p:nvSpPr>
          <p:cNvPr id="63" name="TextBox 62"/>
          <p:cNvSpPr txBox="1"/>
          <p:nvPr/>
        </p:nvSpPr>
        <p:spPr>
          <a:xfrm>
            <a:off x="6266566" y="4873752"/>
            <a:ext cx="1715963"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larger amounts</a:t>
            </a:r>
          </a:p>
        </p:txBody>
      </p:sp>
      <p:sp>
        <p:nvSpPr>
          <p:cNvPr id="64" name="TextBox 63"/>
          <p:cNvSpPr txBox="1"/>
          <p:nvPr/>
        </p:nvSpPr>
        <p:spPr>
          <a:xfrm>
            <a:off x="8073969" y="4873752"/>
            <a:ext cx="1715963"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buying a motorcycle or machine</a:t>
            </a:r>
          </a:p>
        </p:txBody>
      </p:sp>
      <p:sp>
        <p:nvSpPr>
          <p:cNvPr id="65" name="TextBox 64"/>
          <p:cNvSpPr txBox="1"/>
          <p:nvPr/>
        </p:nvSpPr>
        <p:spPr>
          <a:xfrm>
            <a:off x="9881372" y="4873752"/>
            <a:ext cx="1715963"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daily earners</a:t>
            </a:r>
          </a:p>
        </p:txBody>
      </p:sp>
      <p:cxnSp>
        <p:nvCxnSpPr>
          <p:cNvPr id="66" name="Connector 65"/>
          <p:cNvCxnSpPr/>
          <p:nvPr/>
        </p:nvCxnSpPr>
        <p:spPr>
          <a:xfrm>
            <a:off x="548640" y="5440680"/>
            <a:ext cx="11094415" cy="0"/>
          </a:xfrm>
          <a:prstGeom prst="line">
            <a:avLst/>
          </a:prstGeom>
          <a:ln w="9525">
            <a:solidFill>
              <a:srgbClr val="D1D5DB"/>
            </a:solidFill>
          </a:ln>
        </p:spPr>
      </p:cxnSp>
      <p:sp>
        <p:nvSpPr>
          <p:cNvPr id="67" name="Oval 66"/>
          <p:cNvSpPr/>
          <p:nvPr/>
        </p:nvSpPr>
        <p:spPr>
          <a:xfrm>
            <a:off x="562356" y="5591556"/>
            <a:ext cx="155448" cy="155448"/>
          </a:xfrm>
          <a:prstGeom prst="ellipse">
            <a:avLst/>
          </a:prstGeom>
          <a:solidFill>
            <a:srgbClr val="573F99"/>
          </a:solidFill>
          <a:ln w="15875">
            <a:solidFill>
              <a:srgbClr val="573F99"/>
            </a:solidFill>
          </a:ln>
        </p:spPr>
        <p:txBody>
          <a:bodyPr rtlCol="0" anchor="ctr"/>
          <a:lstStyle/>
          <a:p>
            <a:pPr algn="ctr"/>
          </a:p>
        </p:txBody>
      </p:sp>
      <p:sp>
        <p:nvSpPr>
          <p:cNvPr id="68" name="TextBox 67"/>
          <p:cNvSpPr txBox="1"/>
          <p:nvPr/>
        </p:nvSpPr>
        <p:spPr>
          <a:xfrm>
            <a:off x="795528" y="5550408"/>
            <a:ext cx="1005840" cy="237744"/>
          </a:xfrm>
          <a:prstGeom prst="rect">
            <a:avLst/>
          </a:prstGeom>
          <a:noFill/>
        </p:spPr>
        <p:txBody>
          <a:bodyPr wrap="square" lIns="0" tIns="0" rIns="0" bIns="0">
            <a:spAutoFit/>
          </a:bodyPr>
          <a:lstStyle/>
          <a:p>
            <a:pPr>
              <a:lnSpc>
                <a:spcPct val="105000"/>
              </a:lnSpc>
            </a:pPr>
            <a:r>
              <a:rPr sz="1000">
                <a:solidFill>
                  <a:srgbClr val="0C1408"/>
                </a:solidFill>
                <a:latin typeface="Arial"/>
              </a:rPr>
              <a:t>required</a:t>
            </a:r>
          </a:p>
        </p:txBody>
      </p:sp>
      <p:sp>
        <p:nvSpPr>
          <p:cNvPr id="69" name="Oval 68"/>
          <p:cNvSpPr/>
          <p:nvPr/>
        </p:nvSpPr>
        <p:spPr>
          <a:xfrm>
            <a:off x="1659636" y="5591556"/>
            <a:ext cx="155448" cy="155448"/>
          </a:xfrm>
          <a:prstGeom prst="ellipse">
            <a:avLst/>
          </a:prstGeom>
          <a:solidFill>
            <a:srgbClr val="FFFFFF"/>
          </a:solidFill>
          <a:ln w="15875">
            <a:solidFill>
              <a:srgbClr val="573F99"/>
            </a:solidFill>
          </a:ln>
        </p:spPr>
        <p:txBody>
          <a:bodyPr rtlCol="0" anchor="ctr"/>
          <a:lstStyle/>
          <a:p>
            <a:pPr algn="ctr"/>
          </a:p>
        </p:txBody>
      </p:sp>
      <p:sp>
        <p:nvSpPr>
          <p:cNvPr id="70" name="TextBox 69"/>
          <p:cNvSpPr txBox="1"/>
          <p:nvPr/>
        </p:nvSpPr>
        <p:spPr>
          <a:xfrm>
            <a:off x="1892808" y="5550408"/>
            <a:ext cx="1188720" cy="237744"/>
          </a:xfrm>
          <a:prstGeom prst="rect">
            <a:avLst/>
          </a:prstGeom>
          <a:noFill/>
        </p:spPr>
        <p:txBody>
          <a:bodyPr wrap="square" lIns="0" tIns="0" rIns="0" bIns="0">
            <a:spAutoFit/>
          </a:bodyPr>
          <a:lstStyle/>
          <a:p>
            <a:pPr>
              <a:lnSpc>
                <a:spcPct val="105000"/>
              </a:lnSpc>
            </a:pPr>
            <a:r>
              <a:rPr sz="1000">
                <a:solidFill>
                  <a:srgbClr val="0C1408"/>
                </a:solidFill>
                <a:latin typeface="Arial"/>
              </a:rPr>
              <a:t>not required</a:t>
            </a:r>
          </a:p>
        </p:txBody>
      </p:sp>
      <p:sp>
        <p:nvSpPr>
          <p:cNvPr id="71" name="Rectangle 70"/>
          <p:cNvSpPr/>
          <p:nvPr/>
        </p:nvSpPr>
        <p:spPr>
          <a:xfrm>
            <a:off x="3200400" y="5586984"/>
            <a:ext cx="155448" cy="155448"/>
          </a:xfrm>
          <a:prstGeom prst="rect">
            <a:avLst/>
          </a:prstGeom>
          <a:solidFill>
            <a:srgbClr val="B9ABE3"/>
          </a:solidFill>
          <a:ln>
            <a:noFill/>
          </a:ln>
        </p:spPr>
        <p:txBody>
          <a:bodyPr rtlCol="0" anchor="ctr"/>
          <a:lstStyle/>
          <a:p>
            <a:pPr algn="ctr"/>
          </a:p>
        </p:txBody>
      </p:sp>
      <p:sp>
        <p:nvSpPr>
          <p:cNvPr id="72" name="TextBox 71"/>
          <p:cNvSpPr txBox="1"/>
          <p:nvPr/>
        </p:nvSpPr>
        <p:spPr>
          <a:xfrm>
            <a:off x="3419856" y="5550408"/>
            <a:ext cx="1188720" cy="237744"/>
          </a:xfrm>
          <a:prstGeom prst="rect">
            <a:avLst/>
          </a:prstGeom>
          <a:noFill/>
        </p:spPr>
        <p:txBody>
          <a:bodyPr wrap="square" lIns="0" tIns="0" rIns="0" bIns="0">
            <a:spAutoFit/>
          </a:bodyPr>
          <a:lstStyle/>
          <a:p>
            <a:pPr>
              <a:lnSpc>
                <a:spcPct val="105000"/>
              </a:lnSpc>
            </a:pPr>
            <a:r>
              <a:rPr sz="1000">
                <a:solidFill>
                  <a:srgbClr val="0C1408"/>
                </a:solidFill>
                <a:latin typeface="Arial"/>
              </a:rPr>
              <a:t>check level 1</a:t>
            </a:r>
          </a:p>
        </p:txBody>
      </p:sp>
      <p:sp>
        <p:nvSpPr>
          <p:cNvPr id="73" name="Rectangle 72"/>
          <p:cNvSpPr/>
          <p:nvPr/>
        </p:nvSpPr>
        <p:spPr>
          <a:xfrm>
            <a:off x="4526280" y="5586984"/>
            <a:ext cx="155448" cy="155448"/>
          </a:xfrm>
          <a:prstGeom prst="rect">
            <a:avLst/>
          </a:prstGeom>
          <a:solidFill>
            <a:srgbClr val="7E67C7"/>
          </a:solidFill>
          <a:ln>
            <a:noFill/>
          </a:ln>
        </p:spPr>
        <p:txBody>
          <a:bodyPr rtlCol="0" anchor="ctr"/>
          <a:lstStyle/>
          <a:p>
            <a:pPr algn="ctr"/>
          </a:p>
        </p:txBody>
      </p:sp>
      <p:sp>
        <p:nvSpPr>
          <p:cNvPr id="74" name="TextBox 73"/>
          <p:cNvSpPr txBox="1"/>
          <p:nvPr/>
        </p:nvSpPr>
        <p:spPr>
          <a:xfrm>
            <a:off x="4745736" y="5550408"/>
            <a:ext cx="1188720" cy="237744"/>
          </a:xfrm>
          <a:prstGeom prst="rect">
            <a:avLst/>
          </a:prstGeom>
          <a:noFill/>
        </p:spPr>
        <p:txBody>
          <a:bodyPr wrap="square" lIns="0" tIns="0" rIns="0" bIns="0">
            <a:spAutoFit/>
          </a:bodyPr>
          <a:lstStyle/>
          <a:p>
            <a:pPr>
              <a:lnSpc>
                <a:spcPct val="105000"/>
              </a:lnSpc>
            </a:pPr>
            <a:r>
              <a:rPr sz="1000">
                <a:solidFill>
                  <a:srgbClr val="0C1408"/>
                </a:solidFill>
                <a:latin typeface="Arial"/>
              </a:rPr>
              <a:t>check level 2</a:t>
            </a:r>
          </a:p>
        </p:txBody>
      </p:sp>
      <p:sp>
        <p:nvSpPr>
          <p:cNvPr id="75" name="Rectangle 74"/>
          <p:cNvSpPr/>
          <p:nvPr/>
        </p:nvSpPr>
        <p:spPr>
          <a:xfrm>
            <a:off x="5852160" y="5586984"/>
            <a:ext cx="155448" cy="155448"/>
          </a:xfrm>
          <a:prstGeom prst="rect">
            <a:avLst/>
          </a:prstGeom>
          <a:solidFill>
            <a:srgbClr val="48348A"/>
          </a:solidFill>
          <a:ln>
            <a:noFill/>
          </a:ln>
        </p:spPr>
        <p:txBody>
          <a:bodyPr rtlCol="0" anchor="ctr"/>
          <a:lstStyle/>
          <a:p>
            <a:pPr algn="ctr"/>
          </a:p>
        </p:txBody>
      </p:sp>
      <p:sp>
        <p:nvSpPr>
          <p:cNvPr id="76" name="TextBox 75"/>
          <p:cNvSpPr txBox="1"/>
          <p:nvPr/>
        </p:nvSpPr>
        <p:spPr>
          <a:xfrm>
            <a:off x="6071616" y="5550408"/>
            <a:ext cx="1188720" cy="237744"/>
          </a:xfrm>
          <a:prstGeom prst="rect">
            <a:avLst/>
          </a:prstGeom>
          <a:noFill/>
        </p:spPr>
        <p:txBody>
          <a:bodyPr wrap="square" lIns="0" tIns="0" rIns="0" bIns="0">
            <a:spAutoFit/>
          </a:bodyPr>
          <a:lstStyle/>
          <a:p>
            <a:pPr>
              <a:lnSpc>
                <a:spcPct val="105000"/>
              </a:lnSpc>
            </a:pPr>
            <a:r>
              <a:rPr sz="1000">
                <a:solidFill>
                  <a:srgbClr val="0C1408"/>
                </a:solidFill>
                <a:latin typeface="Arial"/>
              </a:rPr>
              <a:t>check level 3</a:t>
            </a:r>
          </a:p>
        </p:txBody>
      </p:sp>
      <p:sp>
        <p:nvSpPr>
          <p:cNvPr id="77" name="TextBox 76"/>
          <p:cNvSpPr txBox="1"/>
          <p:nvPr/>
        </p:nvSpPr>
        <p:spPr>
          <a:xfrm>
            <a:off x="7269480" y="5550408"/>
            <a:ext cx="4373575" cy="237744"/>
          </a:xfrm>
          <a:prstGeom prst="rect">
            <a:avLst/>
          </a:prstGeom>
          <a:noFill/>
        </p:spPr>
        <p:txBody>
          <a:bodyPr wrap="square" lIns="0" tIns="0" rIns="0" bIns="0">
            <a:spAutoFit/>
          </a:bodyPr>
          <a:lstStyle/>
          <a:p>
            <a:pPr>
              <a:lnSpc>
                <a:spcPct val="105000"/>
              </a:lnSpc>
            </a:pPr>
            <a:r>
              <a:rPr sz="1000">
                <a:solidFill>
                  <a:srgbClr val="0C1408"/>
                </a:solidFill>
                <a:latin typeface="Arial"/>
              </a:rPr>
              <a:t>In every type, early turns must be earned.</a:t>
            </a:r>
          </a:p>
        </p:txBody>
      </p:sp>
      <p:sp>
        <p:nvSpPr>
          <p:cNvPr id="78" name="Rectangle 77"/>
          <p:cNvSpPr/>
          <p:nvPr/>
        </p:nvSpPr>
        <p:spPr>
          <a:xfrm>
            <a:off x="9863084" y="1243584"/>
            <a:ext cx="1752539" cy="256032"/>
          </a:xfrm>
          <a:prstGeom prst="rect">
            <a:avLst/>
          </a:prstGeom>
          <a:solidFill>
            <a:srgbClr val="EDA100"/>
          </a:solidFill>
          <a:ln>
            <a:noFill/>
          </a:ln>
        </p:spPr>
        <p:txBody>
          <a:bodyPr rtlCol="0" anchor="ctr" lIns="18288" tIns="13716" rIns="18288" bIns="13716" wrap="square"/>
          <a:lstStyle/>
          <a:p>
            <a:pPr algn="ctr">
              <a:lnSpc>
                <a:spcPct val="105000"/>
              </a:lnSpc>
            </a:pPr>
            <a:r>
              <a:rPr sz="1050" b="1">
                <a:solidFill>
                  <a:srgbClr val="0C1408"/>
                </a:solidFill>
                <a:latin typeface="Arial"/>
              </a:rPr>
              <a:t>Experimental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Default Prevention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Controls at every stage, and early turns only for proven members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14</a:t>
            </a:r>
          </a:p>
        </p:txBody>
      </p:sp>
      <p:sp>
        <p:nvSpPr>
          <p:cNvPr id="6" name="Pentagon 5"/>
          <p:cNvSpPr/>
          <p:nvPr/>
        </p:nvSpPr>
        <p:spPr>
          <a:xfrm>
            <a:off x="548640" y="1536192"/>
            <a:ext cx="2897048" cy="475488"/>
          </a:xfrm>
          <a:prstGeom prst="homePlate">
            <a:avLst>
              <a:gd name="adj" fmla="val 28000"/>
            </a:avLst>
          </a:prstGeom>
          <a:solidFill>
            <a:srgbClr val="2A78D6"/>
          </a:solidFill>
          <a:ln>
            <a:noFill/>
          </a:ln>
        </p:spPr>
        <p:txBody>
          <a:bodyPr rtlCol="0" anchor="ctr" lIns="45720" tIns="34290" rIns="45720" bIns="34290" wrap="square"/>
          <a:lstStyle/>
          <a:p>
            <a:pPr algn="ctr">
              <a:lnSpc>
                <a:spcPct val="105000"/>
              </a:lnSpc>
            </a:pPr>
            <a:r>
              <a:rPr sz="1200" b="1">
                <a:solidFill>
                  <a:srgbClr val="FFFFFF"/>
                </a:solidFill>
                <a:latin typeface="Arial"/>
              </a:rPr>
              <a:t>Before joining</a:t>
            </a:r>
          </a:p>
        </p:txBody>
      </p:sp>
      <p:sp>
        <p:nvSpPr>
          <p:cNvPr id="7" name="TextBox 6"/>
          <p:cNvSpPr txBox="1"/>
          <p:nvPr/>
        </p:nvSpPr>
        <p:spPr>
          <a:xfrm>
            <a:off x="594360" y="2139696"/>
            <a:ext cx="2458136" cy="1737360"/>
          </a:xfrm>
          <a:prstGeom prst="rect">
            <a:avLst/>
          </a:prstGeom>
          <a:noFill/>
        </p:spPr>
        <p:txBody>
          <a:bodyPr wrap="square" lIns="0" tIns="0" rIns="0" bIns="0">
            <a:spAutoFit/>
          </a:bodyPr>
          <a:lstStyle/>
          <a:p>
            <a:pPr marL="173736" indent="-173736">
              <a:lnSpc>
                <a:spcPct val="103000"/>
              </a:lnSpc>
              <a:spcAft>
                <a:spcPts val="400"/>
              </a:spcAft>
              <a:buClr>
                <a:srgbClr val="2A78D6"/>
              </a:buClr>
              <a:buSzPct val="70000"/>
              <a:buFont typeface="Arial"/>
              <a:buChar char="■"/>
            </a:pPr>
            <a:r>
              <a:rPr sz="1100">
                <a:solidFill>
                  <a:srgbClr val="0C1408"/>
                </a:solidFill>
                <a:latin typeface="Arial"/>
              </a:rPr>
              <a:t>Identity, income and affordability checks</a:t>
            </a:r>
          </a:p>
          <a:p>
            <a:pPr marL="173736" indent="-173736">
              <a:lnSpc>
                <a:spcPct val="103000"/>
              </a:lnSpc>
              <a:spcAft>
                <a:spcPts val="400"/>
              </a:spcAft>
              <a:buClr>
                <a:srgbClr val="2A78D6"/>
              </a:buClr>
              <a:buSzPct val="70000"/>
              <a:buFont typeface="Arial"/>
              <a:buChar char="■"/>
            </a:pPr>
            <a:r>
              <a:rPr sz="1100">
                <a:solidFill>
                  <a:srgbClr val="0C1408"/>
                </a:solidFill>
                <a:latin typeface="Arial"/>
              </a:rPr>
              <a:t>The score decides which turns open</a:t>
            </a:r>
          </a:p>
          <a:p>
            <a:pPr marL="173736" indent="-173736">
              <a:lnSpc>
                <a:spcPct val="103000"/>
              </a:lnSpc>
              <a:spcAft>
                <a:spcPts val="400"/>
              </a:spcAft>
              <a:buClr>
                <a:srgbClr val="2A78D6"/>
              </a:buClr>
              <a:buSzPct val="70000"/>
              <a:buFont typeface="Arial"/>
              <a:buChar char="■"/>
            </a:pPr>
            <a:r>
              <a:rPr sz="1100">
                <a:solidFill>
                  <a:srgbClr val="0C1408"/>
                </a:solidFill>
                <a:latin typeface="Arial"/>
              </a:rPr>
              <a:t>The host admits each member</a:t>
            </a:r>
          </a:p>
        </p:txBody>
      </p:sp>
      <p:sp>
        <p:nvSpPr>
          <p:cNvPr id="8" name="Chevron 7"/>
          <p:cNvSpPr/>
          <p:nvPr/>
        </p:nvSpPr>
        <p:spPr>
          <a:xfrm>
            <a:off x="3281096" y="1536192"/>
            <a:ext cx="2897048" cy="475488"/>
          </a:xfrm>
          <a:prstGeom prst="chevron">
            <a:avLst>
              <a:gd name="adj" fmla="val 28000"/>
            </a:avLst>
          </a:prstGeom>
          <a:solidFill>
            <a:srgbClr val="0E9384"/>
          </a:solidFill>
          <a:ln>
            <a:noFill/>
          </a:ln>
        </p:spPr>
        <p:txBody>
          <a:bodyPr rtlCol="0" anchor="ctr" lIns="45720" tIns="34290" rIns="45720" bIns="34290" wrap="square"/>
          <a:lstStyle/>
          <a:p>
            <a:pPr algn="ctr">
              <a:lnSpc>
                <a:spcPct val="105000"/>
              </a:lnSpc>
            </a:pPr>
            <a:r>
              <a:rPr sz="1200" b="1">
                <a:solidFill>
                  <a:srgbClr val="FFFFFF"/>
                </a:solidFill>
                <a:latin typeface="Arial"/>
              </a:rPr>
              <a:t>At joining</a:t>
            </a:r>
          </a:p>
        </p:txBody>
      </p:sp>
      <p:sp>
        <p:nvSpPr>
          <p:cNvPr id="9" name="TextBox 8"/>
          <p:cNvSpPr txBox="1"/>
          <p:nvPr/>
        </p:nvSpPr>
        <p:spPr>
          <a:xfrm>
            <a:off x="3509696" y="2139696"/>
            <a:ext cx="2458136" cy="1737360"/>
          </a:xfrm>
          <a:prstGeom prst="rect">
            <a:avLst/>
          </a:prstGeom>
          <a:noFill/>
        </p:spPr>
        <p:txBody>
          <a:bodyPr wrap="square" lIns="0" tIns="0" rIns="0" bIns="0">
            <a:spAutoFit/>
          </a:bodyPr>
          <a:lstStyle/>
          <a:p>
            <a:pPr marL="173736" indent="-173736">
              <a:lnSpc>
                <a:spcPct val="103000"/>
              </a:lnSpc>
              <a:spcAft>
                <a:spcPts val="400"/>
              </a:spcAft>
              <a:buClr>
                <a:srgbClr val="0E9384"/>
              </a:buClr>
              <a:buSzPct val="70000"/>
              <a:buFont typeface="Arial"/>
              <a:buChar char="■"/>
            </a:pPr>
            <a:r>
              <a:rPr sz="1100">
                <a:solidFill>
                  <a:srgbClr val="0C1408"/>
                </a:solidFill>
                <a:latin typeface="Arial"/>
              </a:rPr>
              <a:t>Full cost shown; 24 hours to withdraw</a:t>
            </a:r>
          </a:p>
          <a:p>
            <a:pPr marL="173736" indent="-173736">
              <a:lnSpc>
                <a:spcPct val="103000"/>
              </a:lnSpc>
              <a:spcAft>
                <a:spcPts val="400"/>
              </a:spcAft>
              <a:buClr>
                <a:srgbClr val="0E9384"/>
              </a:buClr>
              <a:buSzPct val="70000"/>
              <a:buFont typeface="Arial"/>
              <a:buChar char="■"/>
            </a:pPr>
            <a:r>
              <a:rPr sz="1100">
                <a:solidFill>
                  <a:srgbClr val="0C1408"/>
                </a:solidFill>
                <a:latin typeface="Arial"/>
              </a:rPr>
              <a:t>Undertaking and mutual guarantee</a:t>
            </a:r>
          </a:p>
          <a:p>
            <a:pPr marL="173736" indent="-173736">
              <a:lnSpc>
                <a:spcPct val="103000"/>
              </a:lnSpc>
              <a:spcAft>
                <a:spcPts val="400"/>
              </a:spcAft>
              <a:buClr>
                <a:srgbClr val="0E9384"/>
              </a:buClr>
              <a:buSzPct val="70000"/>
              <a:buFont typeface="Arial"/>
              <a:buChar char="■"/>
            </a:pPr>
            <a:r>
              <a:rPr sz="1100">
                <a:solidFill>
                  <a:srgbClr val="0C1408"/>
                </a:solidFill>
                <a:latin typeface="Arial"/>
              </a:rPr>
              <a:t>Standing instruction and autopay; takaful on circles between strangers</a:t>
            </a:r>
          </a:p>
        </p:txBody>
      </p:sp>
      <p:sp>
        <p:nvSpPr>
          <p:cNvPr id="10" name="Chevron 9"/>
          <p:cNvSpPr/>
          <p:nvPr/>
        </p:nvSpPr>
        <p:spPr>
          <a:xfrm>
            <a:off x="6013552" y="1536192"/>
            <a:ext cx="2897048" cy="475488"/>
          </a:xfrm>
          <a:prstGeom prst="chevron">
            <a:avLst>
              <a:gd name="adj" fmla="val 28000"/>
            </a:avLst>
          </a:prstGeom>
          <a:solidFill>
            <a:srgbClr val="573F99"/>
          </a:solidFill>
          <a:ln>
            <a:noFill/>
          </a:ln>
        </p:spPr>
        <p:txBody>
          <a:bodyPr rtlCol="0" anchor="ctr" lIns="45720" tIns="34290" rIns="45720" bIns="34290" wrap="square"/>
          <a:lstStyle/>
          <a:p>
            <a:pPr algn="ctr">
              <a:lnSpc>
                <a:spcPct val="105000"/>
              </a:lnSpc>
            </a:pPr>
            <a:r>
              <a:rPr sz="1200" b="1">
                <a:solidFill>
                  <a:srgbClr val="FFFFFF"/>
                </a:solidFill>
                <a:latin typeface="Arial"/>
              </a:rPr>
              <a:t>Each instalment</a:t>
            </a:r>
          </a:p>
        </p:txBody>
      </p:sp>
      <p:sp>
        <p:nvSpPr>
          <p:cNvPr id="11" name="TextBox 10"/>
          <p:cNvSpPr txBox="1"/>
          <p:nvPr/>
        </p:nvSpPr>
        <p:spPr>
          <a:xfrm>
            <a:off x="6242152" y="2139696"/>
            <a:ext cx="2458136" cy="1737360"/>
          </a:xfrm>
          <a:prstGeom prst="rect">
            <a:avLst/>
          </a:prstGeom>
          <a:noFill/>
        </p:spPr>
        <p:txBody>
          <a:bodyPr wrap="square" lIns="0" tIns="0" rIns="0" bIns="0">
            <a:spAutoFit/>
          </a:bodyPr>
          <a:lstStyle/>
          <a:p>
            <a:pPr marL="173736" indent="-173736">
              <a:lnSpc>
                <a:spcPct val="103000"/>
              </a:lnSpc>
              <a:spcAft>
                <a:spcPts val="400"/>
              </a:spcAft>
              <a:buClr>
                <a:srgbClr val="573F99"/>
              </a:buClr>
              <a:buSzPct val="70000"/>
              <a:buFont typeface="Arial"/>
              <a:buChar char="■"/>
            </a:pPr>
            <a:r>
              <a:rPr sz="1100">
                <a:solidFill>
                  <a:srgbClr val="0C1408"/>
                </a:solidFill>
                <a:latin typeface="Arial"/>
              </a:rPr>
              <a:t>Reminder the evening before payday</a:t>
            </a:r>
          </a:p>
          <a:p>
            <a:pPr marL="173736" indent="-173736">
              <a:lnSpc>
                <a:spcPct val="103000"/>
              </a:lnSpc>
              <a:spcAft>
                <a:spcPts val="400"/>
              </a:spcAft>
              <a:buClr>
                <a:srgbClr val="573F99"/>
              </a:buClr>
              <a:buSzPct val="70000"/>
              <a:buFont typeface="Arial"/>
              <a:buChar char="■"/>
            </a:pPr>
            <a:r>
              <a:rPr sz="1100">
                <a:solidFill>
                  <a:srgbClr val="0C1408"/>
                </a:solidFill>
                <a:latin typeface="Arial"/>
              </a:rPr>
              <a:t>Debit on payday; five retries at most</a:t>
            </a:r>
          </a:p>
          <a:p>
            <a:pPr marL="173736" indent="-173736">
              <a:lnSpc>
                <a:spcPct val="103000"/>
              </a:lnSpc>
              <a:spcAft>
                <a:spcPts val="400"/>
              </a:spcAft>
              <a:buClr>
                <a:srgbClr val="573F99"/>
              </a:buClr>
              <a:buSzPct val="70000"/>
              <a:buFont typeface="Arial"/>
              <a:buChar char="■"/>
            </a:pPr>
            <a:r>
              <a:rPr sz="1100">
                <a:solidFill>
                  <a:srgbClr val="0C1408"/>
                </a:solidFill>
                <a:latin typeface="Arial"/>
              </a:rPr>
              <a:t>Due on the 8th</a:t>
            </a:r>
          </a:p>
        </p:txBody>
      </p:sp>
      <p:sp>
        <p:nvSpPr>
          <p:cNvPr id="12" name="Chevron 11"/>
          <p:cNvSpPr/>
          <p:nvPr/>
        </p:nvSpPr>
        <p:spPr>
          <a:xfrm>
            <a:off x="8746007" y="1536192"/>
            <a:ext cx="2897048" cy="475488"/>
          </a:xfrm>
          <a:prstGeom prst="chevron">
            <a:avLst>
              <a:gd name="adj" fmla="val 28000"/>
            </a:avLst>
          </a:prstGeom>
          <a:solidFill>
            <a:srgbClr val="EDA100"/>
          </a:solidFill>
          <a:ln>
            <a:noFill/>
          </a:ln>
        </p:spPr>
        <p:txBody>
          <a:bodyPr rtlCol="0" anchor="ctr" lIns="45720" tIns="34290" rIns="45720" bIns="34290" wrap="square"/>
          <a:lstStyle/>
          <a:p>
            <a:pPr algn="ctr">
              <a:lnSpc>
                <a:spcPct val="105000"/>
              </a:lnSpc>
            </a:pPr>
            <a:r>
              <a:rPr sz="1200" b="1">
                <a:solidFill>
                  <a:srgbClr val="0C1408"/>
                </a:solidFill>
                <a:latin typeface="Arial"/>
              </a:rPr>
              <a:t>After a missed payment</a:t>
            </a:r>
          </a:p>
        </p:txBody>
      </p:sp>
      <p:sp>
        <p:nvSpPr>
          <p:cNvPr id="13" name="TextBox 12"/>
          <p:cNvSpPr txBox="1"/>
          <p:nvPr/>
        </p:nvSpPr>
        <p:spPr>
          <a:xfrm>
            <a:off x="8974607" y="2139696"/>
            <a:ext cx="2458136" cy="1737360"/>
          </a:xfrm>
          <a:prstGeom prst="rect">
            <a:avLst/>
          </a:prstGeom>
          <a:noFill/>
        </p:spPr>
        <p:txBody>
          <a:bodyPr wrap="square" lIns="0" tIns="0" rIns="0" bIns="0">
            <a:spAutoFit/>
          </a:bodyPr>
          <a:lstStyle/>
          <a:p>
            <a:pPr marL="173736" indent="-173736">
              <a:lnSpc>
                <a:spcPct val="103000"/>
              </a:lnSpc>
              <a:spcAft>
                <a:spcPts val="400"/>
              </a:spcAft>
              <a:buClr>
                <a:srgbClr val="EDA100"/>
              </a:buClr>
              <a:buSzPct val="70000"/>
              <a:buFont typeface="Arial"/>
              <a:buChar char="■"/>
            </a:pPr>
            <a:r>
              <a:rPr sz="1100">
                <a:solidFill>
                  <a:srgbClr val="0C1408"/>
                </a:solidFill>
                <a:latin typeface="Arial"/>
              </a:rPr>
              <a:t>Arrears taken from the member’s own pot</a:t>
            </a:r>
          </a:p>
          <a:p>
            <a:pPr marL="173736" indent="-173736">
              <a:lnSpc>
                <a:spcPct val="103000"/>
              </a:lnSpc>
              <a:spcAft>
                <a:spcPts val="400"/>
              </a:spcAft>
              <a:buClr>
                <a:srgbClr val="EDA100"/>
              </a:buClr>
              <a:buSzPct val="70000"/>
              <a:buFont typeface="Arial"/>
              <a:buChar char="■"/>
            </a:pPr>
            <a:r>
              <a:rPr sz="1100">
                <a:solidFill>
                  <a:srgbClr val="0C1408"/>
                </a:solidFill>
                <a:latin typeface="Arial"/>
              </a:rPr>
              <a:t>Late charges 2%, 5%, 10%; score down 10, 20, 40</a:t>
            </a:r>
          </a:p>
          <a:p>
            <a:pPr marL="173736" indent="-173736">
              <a:lnSpc>
                <a:spcPct val="103000"/>
              </a:lnSpc>
              <a:spcAft>
                <a:spcPts val="400"/>
              </a:spcAft>
              <a:buClr>
                <a:srgbClr val="EDA100"/>
              </a:buClr>
              <a:buSzPct val="70000"/>
              <a:buFont typeface="Arial"/>
              <a:buChar char="■"/>
            </a:pPr>
            <a:r>
              <a:rPr sz="1100">
                <a:solidFill>
                  <a:srgbClr val="0C1408"/>
                </a:solidFill>
                <a:latin typeface="Arial"/>
              </a:rPr>
              <a:t>Daily circles: 5%, 10%, 15% at 12, 36, 60 hours</a:t>
            </a:r>
          </a:p>
        </p:txBody>
      </p:sp>
      <p:cxnSp>
        <p:nvCxnSpPr>
          <p:cNvPr id="14" name="Connector 13"/>
          <p:cNvCxnSpPr/>
          <p:nvPr/>
        </p:nvCxnSpPr>
        <p:spPr>
          <a:xfrm>
            <a:off x="548640" y="3730752"/>
            <a:ext cx="11094415" cy="0"/>
          </a:xfrm>
          <a:prstGeom prst="line">
            <a:avLst/>
          </a:prstGeom>
          <a:ln w="9525">
            <a:solidFill>
              <a:srgbClr val="D1D5DB"/>
            </a:solidFill>
          </a:ln>
        </p:spPr>
      </p:cxnSp>
      <p:sp>
        <p:nvSpPr>
          <p:cNvPr id="15" name="TextBox 14"/>
          <p:cNvSpPr txBox="1"/>
          <p:nvPr/>
        </p:nvSpPr>
        <p:spPr>
          <a:xfrm>
            <a:off x="548640" y="3822192"/>
            <a:ext cx="6035040" cy="274320"/>
          </a:xfrm>
          <a:prstGeom prst="rect">
            <a:avLst/>
          </a:prstGeom>
          <a:noFill/>
        </p:spPr>
        <p:txBody>
          <a:bodyPr wrap="square" lIns="0" tIns="0" rIns="0" bIns="0">
            <a:spAutoFit/>
          </a:bodyPr>
          <a:lstStyle/>
          <a:p>
            <a:pPr>
              <a:lnSpc>
                <a:spcPct val="100000"/>
              </a:lnSpc>
            </a:pPr>
            <a:r>
              <a:rPr sz="1200" b="1">
                <a:solidFill>
                  <a:srgbClr val="0C1408"/>
                </a:solidFill>
                <a:latin typeface="Arial"/>
              </a:rPr>
              <a:t>Still owed after collecting</a:t>
            </a:r>
            <a:r>
              <a:rPr sz="1100">
                <a:solidFill>
                  <a:srgbClr val="0C1408"/>
                </a:solidFill>
                <a:latin typeface="Arial"/>
              </a:rPr>
              <a:t>   Rs thousand, by turn, circle of 12 at Rs 10,000</a:t>
            </a:r>
          </a:p>
        </p:txBody>
      </p:sp>
      <p:cxnSp>
        <p:nvCxnSpPr>
          <p:cNvPr id="17" name="Connector 16"/>
          <p:cNvCxnSpPr/>
          <p:nvPr/>
        </p:nvCxnSpPr>
        <p:spPr>
          <a:xfrm>
            <a:off x="658368" y="5669280"/>
            <a:ext cx="2875788" cy="0"/>
          </a:xfrm>
          <a:prstGeom prst="line">
            <a:avLst/>
          </a:prstGeom>
          <a:ln w="9525">
            <a:solidFill>
              <a:srgbClr val="4B5563"/>
            </a:solidFill>
          </a:ln>
        </p:spPr>
      </p:cxnSp>
      <p:cxnSp>
        <p:nvCxnSpPr>
          <p:cNvPr id="18" name="Connector 17"/>
          <p:cNvCxnSpPr/>
          <p:nvPr/>
        </p:nvCxnSpPr>
        <p:spPr>
          <a:xfrm>
            <a:off x="658368" y="5605272"/>
            <a:ext cx="0" cy="64008"/>
          </a:xfrm>
          <a:prstGeom prst="line">
            <a:avLst/>
          </a:prstGeom>
          <a:ln w="9525">
            <a:solidFill>
              <a:srgbClr val="4B5563"/>
            </a:solidFill>
          </a:ln>
        </p:spPr>
      </p:cxnSp>
      <p:cxnSp>
        <p:nvCxnSpPr>
          <p:cNvPr id="19" name="Connector 18"/>
          <p:cNvCxnSpPr/>
          <p:nvPr/>
        </p:nvCxnSpPr>
        <p:spPr>
          <a:xfrm>
            <a:off x="3534156" y="5605272"/>
            <a:ext cx="0" cy="64008"/>
          </a:xfrm>
          <a:prstGeom prst="line">
            <a:avLst/>
          </a:prstGeom>
          <a:ln w="9525">
            <a:solidFill>
              <a:srgbClr val="4B5563"/>
            </a:solidFill>
          </a:ln>
        </p:spPr>
      </p:cxnSp>
      <p:sp>
        <p:nvSpPr>
          <p:cNvPr id="20" name="TextBox 19"/>
          <p:cNvSpPr txBox="1"/>
          <p:nvPr/>
        </p:nvSpPr>
        <p:spPr>
          <a:xfrm>
            <a:off x="658368" y="5696712"/>
            <a:ext cx="2875788" cy="274320"/>
          </a:xfrm>
          <a:prstGeom prst="rect">
            <a:avLst/>
          </a:prstGeom>
          <a:noFill/>
        </p:spPr>
        <p:txBody>
          <a:bodyPr wrap="square" lIns="0" tIns="0" rIns="0" bIns="0">
            <a:spAutoFit/>
          </a:bodyPr>
          <a:lstStyle/>
          <a:p>
            <a:pPr algn="ctr">
              <a:lnSpc>
                <a:spcPct val="100000"/>
              </a:lnSpc>
            </a:pPr>
            <a:r>
              <a:rPr sz="950">
                <a:solidFill>
                  <a:srgbClr val="0C1408"/>
                </a:solidFill>
                <a:latin typeface="Arial"/>
              </a:rPr>
              <a:t>Turns 1 to 6: score 650 or more</a:t>
            </a:r>
          </a:p>
        </p:txBody>
      </p:sp>
      <p:cxnSp>
        <p:nvCxnSpPr>
          <p:cNvPr id="21" name="Connector 20"/>
          <p:cNvCxnSpPr/>
          <p:nvPr/>
        </p:nvCxnSpPr>
        <p:spPr>
          <a:xfrm>
            <a:off x="3607308" y="5669280"/>
            <a:ext cx="1401318" cy="0"/>
          </a:xfrm>
          <a:prstGeom prst="line">
            <a:avLst/>
          </a:prstGeom>
          <a:ln w="9525">
            <a:solidFill>
              <a:srgbClr val="4B5563"/>
            </a:solidFill>
          </a:ln>
        </p:spPr>
      </p:cxnSp>
      <p:cxnSp>
        <p:nvCxnSpPr>
          <p:cNvPr id="22" name="Connector 21"/>
          <p:cNvCxnSpPr/>
          <p:nvPr/>
        </p:nvCxnSpPr>
        <p:spPr>
          <a:xfrm>
            <a:off x="3607308" y="5605272"/>
            <a:ext cx="0" cy="64008"/>
          </a:xfrm>
          <a:prstGeom prst="line">
            <a:avLst/>
          </a:prstGeom>
          <a:ln w="9525">
            <a:solidFill>
              <a:srgbClr val="4B5563"/>
            </a:solidFill>
          </a:ln>
        </p:spPr>
      </p:cxnSp>
      <p:cxnSp>
        <p:nvCxnSpPr>
          <p:cNvPr id="23" name="Connector 22"/>
          <p:cNvCxnSpPr/>
          <p:nvPr/>
        </p:nvCxnSpPr>
        <p:spPr>
          <a:xfrm>
            <a:off x="5008626" y="5605272"/>
            <a:ext cx="0" cy="64008"/>
          </a:xfrm>
          <a:prstGeom prst="line">
            <a:avLst/>
          </a:prstGeom>
          <a:ln w="9525">
            <a:solidFill>
              <a:srgbClr val="4B5563"/>
            </a:solidFill>
          </a:ln>
        </p:spPr>
      </p:cxnSp>
      <p:sp>
        <p:nvSpPr>
          <p:cNvPr id="24" name="TextBox 23"/>
          <p:cNvSpPr txBox="1"/>
          <p:nvPr/>
        </p:nvSpPr>
        <p:spPr>
          <a:xfrm>
            <a:off x="3607308" y="5696712"/>
            <a:ext cx="1401318" cy="274320"/>
          </a:xfrm>
          <a:prstGeom prst="rect">
            <a:avLst/>
          </a:prstGeom>
          <a:noFill/>
        </p:spPr>
        <p:txBody>
          <a:bodyPr wrap="square" lIns="0" tIns="0" rIns="0" bIns="0">
            <a:spAutoFit/>
          </a:bodyPr>
          <a:lstStyle/>
          <a:p>
            <a:pPr algn="ctr">
              <a:lnSpc>
                <a:spcPct val="100000"/>
              </a:lnSpc>
            </a:pPr>
            <a:r>
              <a:rPr sz="950">
                <a:solidFill>
                  <a:srgbClr val="0C1408"/>
                </a:solidFill>
                <a:latin typeface="Arial"/>
              </a:rPr>
              <a:t>7 to 9: 550 or more</a:t>
            </a:r>
          </a:p>
        </p:txBody>
      </p:sp>
      <p:cxnSp>
        <p:nvCxnSpPr>
          <p:cNvPr id="25" name="Connector 24"/>
          <p:cNvCxnSpPr/>
          <p:nvPr/>
        </p:nvCxnSpPr>
        <p:spPr>
          <a:xfrm>
            <a:off x="5081778" y="5669280"/>
            <a:ext cx="1401318" cy="0"/>
          </a:xfrm>
          <a:prstGeom prst="line">
            <a:avLst/>
          </a:prstGeom>
          <a:ln w="9525">
            <a:solidFill>
              <a:srgbClr val="4B5563"/>
            </a:solidFill>
          </a:ln>
        </p:spPr>
      </p:cxnSp>
      <p:cxnSp>
        <p:nvCxnSpPr>
          <p:cNvPr id="26" name="Connector 25"/>
          <p:cNvCxnSpPr/>
          <p:nvPr/>
        </p:nvCxnSpPr>
        <p:spPr>
          <a:xfrm>
            <a:off x="5081778" y="5605272"/>
            <a:ext cx="0" cy="64008"/>
          </a:xfrm>
          <a:prstGeom prst="line">
            <a:avLst/>
          </a:prstGeom>
          <a:ln w="9525">
            <a:solidFill>
              <a:srgbClr val="4B5563"/>
            </a:solidFill>
          </a:ln>
        </p:spPr>
      </p:cxnSp>
      <p:cxnSp>
        <p:nvCxnSpPr>
          <p:cNvPr id="27" name="Connector 26"/>
          <p:cNvCxnSpPr/>
          <p:nvPr/>
        </p:nvCxnSpPr>
        <p:spPr>
          <a:xfrm>
            <a:off x="6483096" y="5605272"/>
            <a:ext cx="0" cy="64008"/>
          </a:xfrm>
          <a:prstGeom prst="line">
            <a:avLst/>
          </a:prstGeom>
          <a:ln w="9525">
            <a:solidFill>
              <a:srgbClr val="4B5563"/>
            </a:solidFill>
          </a:ln>
        </p:spPr>
      </p:cxnSp>
      <p:sp>
        <p:nvSpPr>
          <p:cNvPr id="28" name="TextBox 27"/>
          <p:cNvSpPr txBox="1"/>
          <p:nvPr/>
        </p:nvSpPr>
        <p:spPr>
          <a:xfrm>
            <a:off x="5081778" y="5696712"/>
            <a:ext cx="1401318" cy="274320"/>
          </a:xfrm>
          <a:prstGeom prst="rect">
            <a:avLst/>
          </a:prstGeom>
          <a:noFill/>
        </p:spPr>
        <p:txBody>
          <a:bodyPr wrap="square" lIns="0" tIns="0" rIns="0" bIns="0">
            <a:spAutoFit/>
          </a:bodyPr>
          <a:lstStyle/>
          <a:p>
            <a:pPr algn="ctr">
              <a:lnSpc>
                <a:spcPct val="100000"/>
              </a:lnSpc>
            </a:pPr>
            <a:r>
              <a:rPr sz="950">
                <a:solidFill>
                  <a:srgbClr val="0C1408"/>
                </a:solidFill>
                <a:latin typeface="Arial"/>
              </a:rPr>
              <a:t>10 to 12: any score</a:t>
            </a:r>
          </a:p>
        </p:txBody>
      </p:sp>
      <p:sp>
        <p:nvSpPr>
          <p:cNvPr id="29" name="TextBox 28"/>
          <p:cNvSpPr txBox="1"/>
          <p:nvPr/>
        </p:nvSpPr>
        <p:spPr>
          <a:xfrm>
            <a:off x="548640" y="5961888"/>
            <a:ext cx="6126480" cy="237744"/>
          </a:xfrm>
          <a:prstGeom prst="rect">
            <a:avLst/>
          </a:prstGeom>
          <a:noFill/>
        </p:spPr>
        <p:txBody>
          <a:bodyPr wrap="square" lIns="0" tIns="0" rIns="0" bIns="0">
            <a:spAutoFit/>
          </a:bodyPr>
          <a:lstStyle/>
          <a:p>
            <a:pPr>
              <a:lnSpc>
                <a:spcPct val="105000"/>
              </a:lnSpc>
            </a:pPr>
            <a:r>
              <a:rPr sz="1000">
                <a:solidFill>
                  <a:srgbClr val="0C1408"/>
                </a:solidFill>
                <a:latin typeface="Arial"/>
              </a:rPr>
              <a:t>New members start in the last three turns until two circles complete cleanly.</a:t>
            </a:r>
          </a:p>
        </p:txBody>
      </p:sp>
      <p:sp>
        <p:nvSpPr>
          <p:cNvPr id="30" name="TextBox 29"/>
          <p:cNvSpPr txBox="1"/>
          <p:nvPr/>
        </p:nvSpPr>
        <p:spPr>
          <a:xfrm>
            <a:off x="7086600" y="3822192"/>
            <a:ext cx="4556455" cy="274320"/>
          </a:xfrm>
          <a:prstGeom prst="rect">
            <a:avLst/>
          </a:prstGeom>
          <a:noFill/>
        </p:spPr>
        <p:txBody>
          <a:bodyPr wrap="square" lIns="0" tIns="0" rIns="0" bIns="0">
            <a:spAutoFit/>
          </a:bodyPr>
          <a:lstStyle/>
          <a:p>
            <a:pPr>
              <a:lnSpc>
                <a:spcPct val="105000"/>
              </a:lnSpc>
            </a:pPr>
            <a:r>
              <a:rPr sz="1200" b="1">
                <a:solidFill>
                  <a:srgbClr val="0C1408"/>
                </a:solidFill>
                <a:latin typeface="Arial"/>
              </a:rPr>
              <a:t>If a member stops after collecting</a:t>
            </a:r>
          </a:p>
        </p:txBody>
      </p:sp>
      <p:sp>
        <p:nvSpPr>
          <p:cNvPr id="31" name="Rectangle 30"/>
          <p:cNvSpPr/>
          <p:nvPr/>
        </p:nvSpPr>
        <p:spPr>
          <a:xfrm>
            <a:off x="7086600" y="4206240"/>
            <a:ext cx="201168" cy="201168"/>
          </a:xfrm>
          <a:prstGeom prst="rect">
            <a:avLst/>
          </a:prstGeom>
          <a:solidFill>
            <a:srgbClr val="EDA100"/>
          </a:solidFill>
          <a:ln>
            <a:noFill/>
          </a:ln>
        </p:spPr>
        <p:txBody>
          <a:bodyPr rtlCol="0" anchor="ctr" lIns="0" tIns="0" rIns="0" bIns="0" wrap="square"/>
          <a:lstStyle/>
          <a:p>
            <a:pPr algn="ctr">
              <a:lnSpc>
                <a:spcPct val="105000"/>
              </a:lnSpc>
            </a:pPr>
            <a:r>
              <a:rPr sz="900" b="1">
                <a:solidFill>
                  <a:srgbClr val="0C1408"/>
                </a:solidFill>
                <a:latin typeface="Arial"/>
              </a:rPr>
              <a:t>1</a:t>
            </a:r>
          </a:p>
        </p:txBody>
      </p:sp>
      <p:sp>
        <p:nvSpPr>
          <p:cNvPr id="32" name="TextBox 31"/>
          <p:cNvSpPr txBox="1"/>
          <p:nvPr/>
        </p:nvSpPr>
        <p:spPr>
          <a:xfrm>
            <a:off x="7379208" y="4160520"/>
            <a:ext cx="4236415"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Contact and a hardship plan</a:t>
            </a:r>
          </a:p>
        </p:txBody>
      </p:sp>
      <p:sp>
        <p:nvSpPr>
          <p:cNvPr id="33" name="Rectangle 32"/>
          <p:cNvSpPr/>
          <p:nvPr/>
        </p:nvSpPr>
        <p:spPr>
          <a:xfrm>
            <a:off x="7086600" y="4507992"/>
            <a:ext cx="201168" cy="201168"/>
          </a:xfrm>
          <a:prstGeom prst="rect">
            <a:avLst/>
          </a:prstGeom>
          <a:solidFill>
            <a:srgbClr val="EDA100"/>
          </a:solidFill>
          <a:ln>
            <a:noFill/>
          </a:ln>
        </p:spPr>
        <p:txBody>
          <a:bodyPr rtlCol="0" anchor="ctr" lIns="0" tIns="0" rIns="0" bIns="0" wrap="square"/>
          <a:lstStyle/>
          <a:p>
            <a:pPr algn="ctr">
              <a:lnSpc>
                <a:spcPct val="105000"/>
              </a:lnSpc>
            </a:pPr>
            <a:r>
              <a:rPr sz="900" b="1">
                <a:solidFill>
                  <a:srgbClr val="0C1408"/>
                </a:solidFill>
                <a:latin typeface="Arial"/>
              </a:rPr>
              <a:t>2</a:t>
            </a:r>
          </a:p>
        </p:txBody>
      </p:sp>
      <p:sp>
        <p:nvSpPr>
          <p:cNvPr id="34" name="TextBox 33"/>
          <p:cNvSpPr txBox="1"/>
          <p:nvPr/>
        </p:nvSpPr>
        <p:spPr>
          <a:xfrm>
            <a:off x="7379208" y="4462272"/>
            <a:ext cx="4236415"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Account restricted; score down 200</a:t>
            </a:r>
          </a:p>
        </p:txBody>
      </p:sp>
      <p:sp>
        <p:nvSpPr>
          <p:cNvPr id="35" name="Rectangle 34"/>
          <p:cNvSpPr/>
          <p:nvPr/>
        </p:nvSpPr>
        <p:spPr>
          <a:xfrm>
            <a:off x="7086600" y="4809744"/>
            <a:ext cx="201168" cy="201168"/>
          </a:xfrm>
          <a:prstGeom prst="rect">
            <a:avLst/>
          </a:prstGeom>
          <a:solidFill>
            <a:srgbClr val="0E9384"/>
          </a:solidFill>
          <a:ln>
            <a:noFill/>
          </a:ln>
        </p:spPr>
        <p:txBody>
          <a:bodyPr rtlCol="0" anchor="ctr" lIns="0" tIns="0" rIns="0" bIns="0" wrap="square"/>
          <a:lstStyle/>
          <a:p>
            <a:pPr algn="ctr">
              <a:lnSpc>
                <a:spcPct val="105000"/>
              </a:lnSpc>
            </a:pPr>
            <a:r>
              <a:rPr sz="900" b="1">
                <a:solidFill>
                  <a:srgbClr val="FFFFFF"/>
                </a:solidFill>
                <a:latin typeface="Arial"/>
              </a:rPr>
              <a:t>3</a:t>
            </a:r>
          </a:p>
        </p:txBody>
      </p:sp>
      <p:sp>
        <p:nvSpPr>
          <p:cNvPr id="36" name="TextBox 35"/>
          <p:cNvSpPr txBox="1"/>
          <p:nvPr/>
        </p:nvSpPr>
        <p:spPr>
          <a:xfrm>
            <a:off x="7379208" y="4764024"/>
            <a:ext cx="4236415"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Takaful pays the members left short</a:t>
            </a:r>
          </a:p>
        </p:txBody>
      </p:sp>
      <p:sp>
        <p:nvSpPr>
          <p:cNvPr id="37" name="Rectangle 36"/>
          <p:cNvSpPr/>
          <p:nvPr/>
        </p:nvSpPr>
        <p:spPr>
          <a:xfrm>
            <a:off x="7086600" y="5111496"/>
            <a:ext cx="201168" cy="201168"/>
          </a:xfrm>
          <a:prstGeom prst="rect">
            <a:avLst/>
          </a:prstGeom>
          <a:solidFill>
            <a:srgbClr val="D64545"/>
          </a:solidFill>
          <a:ln>
            <a:noFill/>
          </a:ln>
        </p:spPr>
        <p:txBody>
          <a:bodyPr rtlCol="0" anchor="ctr" lIns="0" tIns="0" rIns="0" bIns="0" wrap="square"/>
          <a:lstStyle/>
          <a:p>
            <a:pPr algn="ctr">
              <a:lnSpc>
                <a:spcPct val="105000"/>
              </a:lnSpc>
            </a:pPr>
            <a:r>
              <a:rPr sz="900" b="1">
                <a:solidFill>
                  <a:srgbClr val="FFFFFF"/>
                </a:solidFill>
                <a:latin typeface="Arial"/>
              </a:rPr>
              <a:t>4</a:t>
            </a:r>
          </a:p>
        </p:txBody>
      </p:sp>
      <p:sp>
        <p:nvSpPr>
          <p:cNvPr id="38" name="TextBox 37"/>
          <p:cNvSpPr txBox="1"/>
          <p:nvPr/>
        </p:nvSpPr>
        <p:spPr>
          <a:xfrm>
            <a:off x="7379208" y="5065776"/>
            <a:ext cx="4236415"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Mutual guarantee: the balance falls due</a:t>
            </a:r>
          </a:p>
        </p:txBody>
      </p:sp>
      <p:sp>
        <p:nvSpPr>
          <p:cNvPr id="39" name="Rectangle 38"/>
          <p:cNvSpPr/>
          <p:nvPr/>
        </p:nvSpPr>
        <p:spPr>
          <a:xfrm>
            <a:off x="7086600" y="5413248"/>
            <a:ext cx="201168" cy="201168"/>
          </a:xfrm>
          <a:prstGeom prst="rect">
            <a:avLst/>
          </a:prstGeom>
          <a:solidFill>
            <a:srgbClr val="D64545"/>
          </a:solidFill>
          <a:ln>
            <a:noFill/>
          </a:ln>
        </p:spPr>
        <p:txBody>
          <a:bodyPr rtlCol="0" anchor="ctr" lIns="0" tIns="0" rIns="0" bIns="0" wrap="square"/>
          <a:lstStyle/>
          <a:p>
            <a:pPr algn="ctr">
              <a:lnSpc>
                <a:spcPct val="105000"/>
              </a:lnSpc>
            </a:pPr>
            <a:r>
              <a:rPr sz="900" b="1">
                <a:solidFill>
                  <a:srgbClr val="FFFFFF"/>
                </a:solidFill>
                <a:latin typeface="Arial"/>
              </a:rPr>
              <a:t>5</a:t>
            </a:r>
          </a:p>
        </p:txBody>
      </p:sp>
      <p:sp>
        <p:nvSpPr>
          <p:cNvPr id="40" name="TextBox 39"/>
          <p:cNvSpPr txBox="1"/>
          <p:nvPr/>
        </p:nvSpPr>
        <p:spPr>
          <a:xfrm>
            <a:off x="7379208" y="5367528"/>
            <a:ext cx="4236415"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Civil suit on the undertaking</a:t>
            </a:r>
          </a:p>
        </p:txBody>
      </p:sp>
      <p:sp>
        <p:nvSpPr>
          <p:cNvPr id="41" name="Rectangle 40"/>
          <p:cNvSpPr/>
          <p:nvPr/>
        </p:nvSpPr>
        <p:spPr>
          <a:xfrm>
            <a:off x="7086600" y="5715000"/>
            <a:ext cx="201168" cy="201168"/>
          </a:xfrm>
          <a:prstGeom prst="rect">
            <a:avLst/>
          </a:prstGeom>
          <a:solidFill>
            <a:srgbClr val="D64545"/>
          </a:solidFill>
          <a:ln>
            <a:noFill/>
          </a:ln>
        </p:spPr>
        <p:txBody>
          <a:bodyPr rtlCol="0" anchor="ctr" lIns="0" tIns="0" rIns="0" bIns="0" wrap="square"/>
          <a:lstStyle/>
          <a:p>
            <a:pPr algn="ctr">
              <a:lnSpc>
                <a:spcPct val="105000"/>
              </a:lnSpc>
            </a:pPr>
            <a:r>
              <a:rPr sz="900" b="1">
                <a:solidFill>
                  <a:srgbClr val="FFFFFF"/>
                </a:solidFill>
                <a:latin typeface="Arial"/>
              </a:rPr>
              <a:t>6</a:t>
            </a:r>
          </a:p>
        </p:txBody>
      </p:sp>
      <p:sp>
        <p:nvSpPr>
          <p:cNvPr id="42" name="TextBox 41"/>
          <p:cNvSpPr txBox="1"/>
          <p:nvPr/>
        </p:nvSpPr>
        <p:spPr>
          <a:xfrm>
            <a:off x="7379208" y="5669280"/>
            <a:ext cx="4236415"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Summary suit, only on a guarantee cheque</a:t>
            </a:r>
          </a:p>
        </p:txBody>
      </p:sp>
      <p:sp>
        <p:nvSpPr>
          <p:cNvPr id="43" name="TextBox 42"/>
          <p:cNvSpPr txBox="1"/>
          <p:nvPr/>
        </p:nvSpPr>
        <p:spPr>
          <a:xfrm>
            <a:off x="7086600" y="5961888"/>
            <a:ext cx="4556455" cy="237744"/>
          </a:xfrm>
          <a:prstGeom prst="rect">
            <a:avLst/>
          </a:prstGeom>
          <a:noFill/>
        </p:spPr>
        <p:txBody>
          <a:bodyPr wrap="square" lIns="0" tIns="0" rIns="0" bIns="0">
            <a:spAutoFit/>
          </a:bodyPr>
          <a:lstStyle/>
          <a:p>
            <a:pPr>
              <a:lnSpc>
                <a:spcPct val="105000"/>
              </a:lnSpc>
            </a:pPr>
            <a:r>
              <a:rPr sz="1000">
                <a:solidFill>
                  <a:srgbClr val="0C1408"/>
                </a:solidFill>
                <a:latin typeface="Arial"/>
              </a:rPr>
              <a:t>Recovery detail: Appendix A4</a:t>
            </a:r>
          </a:p>
        </p:txBody>
      </p:sp>
      <p:sp>
        <p:nvSpPr>
          <p:cNvPr id="44" name="TextBox 43"/>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   </a:t>
            </a:r>
            <a:r>
              <a:rPr sz="850">
                <a:solidFill>
                  <a:srgbClr val="0C1408"/>
                </a:solidFill>
                <a:latin typeface="Arial"/>
              </a:rPr>
              <a:t>Default Prevention (HQ-CP-05); seat bands confirmed mandatory 28 September 2026; State Bank 40 per cent limit, BPRD Circular Letter 29 of 2021</a:t>
            </a:r>
          </a:p>
        </p:txBody>
      </p:sp>
      <p:sp>
        <p:nvSpPr>
          <p:cNvPr id="45" name="Rectangle 44"/>
          <p:cNvSpPr/>
          <p:nvPr/>
        </p:nvSpPr>
        <p:spPr>
          <a:xfrm>
            <a:off x="695515" y="4389120"/>
            <a:ext cx="344043" cy="932688"/>
          </a:xfrm>
          <a:prstGeom prst="rect">
            <a:avLst/>
          </a:prstGeom>
          <a:solidFill>
            <a:srgbClr val="48348A"/>
          </a:solidFill>
          <a:ln>
            <a:noFill/>
          </a:ln>
        </p:spPr>
        <p:txBody>
          <a:bodyPr rtlCol="0" anchor="ctr"/>
          <a:lstStyle/>
          <a:p>
            <a:pPr algn="ctr"/>
          </a:p>
        </p:txBody>
      </p:sp>
      <p:sp>
        <p:nvSpPr>
          <p:cNvPr id="46" name="TextBox 45"/>
          <p:cNvSpPr txBox="1"/>
          <p:nvPr/>
        </p:nvSpPr>
        <p:spPr>
          <a:xfrm>
            <a:off x="466915" y="4142232"/>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110</a:t>
            </a:r>
          </a:p>
        </p:txBody>
      </p:sp>
      <p:sp>
        <p:nvSpPr>
          <p:cNvPr id="47" name="TextBox 46"/>
          <p:cNvSpPr txBox="1"/>
          <p:nvPr/>
        </p:nvSpPr>
        <p:spPr>
          <a:xfrm>
            <a:off x="53035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1</a:t>
            </a:r>
          </a:p>
        </p:txBody>
      </p:sp>
      <p:sp>
        <p:nvSpPr>
          <p:cNvPr id="48" name="Rectangle 47"/>
          <p:cNvSpPr/>
          <p:nvPr/>
        </p:nvSpPr>
        <p:spPr>
          <a:xfrm>
            <a:off x="1187005" y="4473910"/>
            <a:ext cx="344043" cy="847898"/>
          </a:xfrm>
          <a:prstGeom prst="rect">
            <a:avLst/>
          </a:prstGeom>
          <a:solidFill>
            <a:srgbClr val="48348A"/>
          </a:solidFill>
          <a:ln>
            <a:noFill/>
          </a:ln>
        </p:spPr>
        <p:txBody>
          <a:bodyPr rtlCol="0" anchor="ctr"/>
          <a:lstStyle/>
          <a:p>
            <a:pPr algn="ctr"/>
          </a:p>
        </p:txBody>
      </p:sp>
      <p:sp>
        <p:nvSpPr>
          <p:cNvPr id="49" name="TextBox 48"/>
          <p:cNvSpPr txBox="1"/>
          <p:nvPr/>
        </p:nvSpPr>
        <p:spPr>
          <a:xfrm>
            <a:off x="958405" y="4227022"/>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100</a:t>
            </a:r>
          </a:p>
        </p:txBody>
      </p:sp>
      <p:sp>
        <p:nvSpPr>
          <p:cNvPr id="50" name="TextBox 49"/>
          <p:cNvSpPr txBox="1"/>
          <p:nvPr/>
        </p:nvSpPr>
        <p:spPr>
          <a:xfrm>
            <a:off x="102184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2</a:t>
            </a:r>
          </a:p>
        </p:txBody>
      </p:sp>
      <p:sp>
        <p:nvSpPr>
          <p:cNvPr id="51" name="Rectangle 50"/>
          <p:cNvSpPr/>
          <p:nvPr/>
        </p:nvSpPr>
        <p:spPr>
          <a:xfrm>
            <a:off x="1678495" y="4558700"/>
            <a:ext cx="344043" cy="763108"/>
          </a:xfrm>
          <a:prstGeom prst="rect">
            <a:avLst/>
          </a:prstGeom>
          <a:solidFill>
            <a:srgbClr val="48348A"/>
          </a:solidFill>
          <a:ln>
            <a:noFill/>
          </a:ln>
        </p:spPr>
        <p:txBody>
          <a:bodyPr rtlCol="0" anchor="ctr"/>
          <a:lstStyle/>
          <a:p>
            <a:pPr algn="ctr"/>
          </a:p>
        </p:txBody>
      </p:sp>
      <p:sp>
        <p:nvSpPr>
          <p:cNvPr id="52" name="TextBox 51"/>
          <p:cNvSpPr txBox="1"/>
          <p:nvPr/>
        </p:nvSpPr>
        <p:spPr>
          <a:xfrm>
            <a:off x="1449895" y="4311812"/>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90</a:t>
            </a:r>
          </a:p>
        </p:txBody>
      </p:sp>
      <p:sp>
        <p:nvSpPr>
          <p:cNvPr id="53" name="TextBox 52"/>
          <p:cNvSpPr txBox="1"/>
          <p:nvPr/>
        </p:nvSpPr>
        <p:spPr>
          <a:xfrm>
            <a:off x="151333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3</a:t>
            </a:r>
          </a:p>
        </p:txBody>
      </p:sp>
      <p:sp>
        <p:nvSpPr>
          <p:cNvPr id="54" name="Rectangle 53"/>
          <p:cNvSpPr/>
          <p:nvPr/>
        </p:nvSpPr>
        <p:spPr>
          <a:xfrm>
            <a:off x="2169985" y="4643489"/>
            <a:ext cx="344043" cy="678319"/>
          </a:xfrm>
          <a:prstGeom prst="rect">
            <a:avLst/>
          </a:prstGeom>
          <a:solidFill>
            <a:srgbClr val="48348A"/>
          </a:solidFill>
          <a:ln>
            <a:noFill/>
          </a:ln>
        </p:spPr>
        <p:txBody>
          <a:bodyPr rtlCol="0" anchor="ctr"/>
          <a:lstStyle/>
          <a:p>
            <a:pPr algn="ctr"/>
          </a:p>
        </p:txBody>
      </p:sp>
      <p:sp>
        <p:nvSpPr>
          <p:cNvPr id="55" name="TextBox 54"/>
          <p:cNvSpPr txBox="1"/>
          <p:nvPr/>
        </p:nvSpPr>
        <p:spPr>
          <a:xfrm>
            <a:off x="1941385" y="4396601"/>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80</a:t>
            </a:r>
          </a:p>
        </p:txBody>
      </p:sp>
      <p:sp>
        <p:nvSpPr>
          <p:cNvPr id="56" name="TextBox 55"/>
          <p:cNvSpPr txBox="1"/>
          <p:nvPr/>
        </p:nvSpPr>
        <p:spPr>
          <a:xfrm>
            <a:off x="200482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4</a:t>
            </a:r>
          </a:p>
        </p:txBody>
      </p:sp>
      <p:sp>
        <p:nvSpPr>
          <p:cNvPr id="57" name="Rectangle 56"/>
          <p:cNvSpPr/>
          <p:nvPr/>
        </p:nvSpPr>
        <p:spPr>
          <a:xfrm>
            <a:off x="2661476" y="4728279"/>
            <a:ext cx="344043" cy="593529"/>
          </a:xfrm>
          <a:prstGeom prst="rect">
            <a:avLst/>
          </a:prstGeom>
          <a:solidFill>
            <a:srgbClr val="48348A"/>
          </a:solidFill>
          <a:ln>
            <a:noFill/>
          </a:ln>
        </p:spPr>
        <p:txBody>
          <a:bodyPr rtlCol="0" anchor="ctr"/>
          <a:lstStyle/>
          <a:p>
            <a:pPr algn="ctr"/>
          </a:p>
        </p:txBody>
      </p:sp>
      <p:sp>
        <p:nvSpPr>
          <p:cNvPr id="58" name="TextBox 57"/>
          <p:cNvSpPr txBox="1"/>
          <p:nvPr/>
        </p:nvSpPr>
        <p:spPr>
          <a:xfrm>
            <a:off x="2432876" y="4481391"/>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70</a:t>
            </a:r>
          </a:p>
        </p:txBody>
      </p:sp>
      <p:sp>
        <p:nvSpPr>
          <p:cNvPr id="59" name="TextBox 58"/>
          <p:cNvSpPr txBox="1"/>
          <p:nvPr/>
        </p:nvSpPr>
        <p:spPr>
          <a:xfrm>
            <a:off x="249631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5</a:t>
            </a:r>
          </a:p>
        </p:txBody>
      </p:sp>
      <p:sp>
        <p:nvSpPr>
          <p:cNvPr id="60" name="Rectangle 59"/>
          <p:cNvSpPr/>
          <p:nvPr/>
        </p:nvSpPr>
        <p:spPr>
          <a:xfrm>
            <a:off x="3152965" y="4813069"/>
            <a:ext cx="344043" cy="508739"/>
          </a:xfrm>
          <a:prstGeom prst="rect">
            <a:avLst/>
          </a:prstGeom>
          <a:solidFill>
            <a:srgbClr val="48348A"/>
          </a:solidFill>
          <a:ln>
            <a:noFill/>
          </a:ln>
        </p:spPr>
        <p:txBody>
          <a:bodyPr rtlCol="0" anchor="ctr"/>
          <a:lstStyle/>
          <a:p>
            <a:pPr algn="ctr"/>
          </a:p>
        </p:txBody>
      </p:sp>
      <p:sp>
        <p:nvSpPr>
          <p:cNvPr id="61" name="TextBox 60"/>
          <p:cNvSpPr txBox="1"/>
          <p:nvPr/>
        </p:nvSpPr>
        <p:spPr>
          <a:xfrm>
            <a:off x="2924365" y="4566181"/>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60</a:t>
            </a:r>
          </a:p>
        </p:txBody>
      </p:sp>
      <p:sp>
        <p:nvSpPr>
          <p:cNvPr id="62" name="TextBox 61"/>
          <p:cNvSpPr txBox="1"/>
          <p:nvPr/>
        </p:nvSpPr>
        <p:spPr>
          <a:xfrm>
            <a:off x="298780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6</a:t>
            </a:r>
          </a:p>
        </p:txBody>
      </p:sp>
      <p:sp>
        <p:nvSpPr>
          <p:cNvPr id="63" name="Rectangle 62"/>
          <p:cNvSpPr/>
          <p:nvPr/>
        </p:nvSpPr>
        <p:spPr>
          <a:xfrm>
            <a:off x="3644455" y="4897859"/>
            <a:ext cx="344043" cy="423949"/>
          </a:xfrm>
          <a:prstGeom prst="rect">
            <a:avLst/>
          </a:prstGeom>
          <a:solidFill>
            <a:srgbClr val="7E67C7"/>
          </a:solidFill>
          <a:ln>
            <a:noFill/>
          </a:ln>
        </p:spPr>
        <p:txBody>
          <a:bodyPr rtlCol="0" anchor="ctr"/>
          <a:lstStyle/>
          <a:p>
            <a:pPr algn="ctr"/>
          </a:p>
        </p:txBody>
      </p:sp>
      <p:sp>
        <p:nvSpPr>
          <p:cNvPr id="64" name="TextBox 63"/>
          <p:cNvSpPr txBox="1"/>
          <p:nvPr/>
        </p:nvSpPr>
        <p:spPr>
          <a:xfrm>
            <a:off x="3415855" y="4650971"/>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50</a:t>
            </a:r>
          </a:p>
        </p:txBody>
      </p:sp>
      <p:sp>
        <p:nvSpPr>
          <p:cNvPr id="65" name="TextBox 64"/>
          <p:cNvSpPr txBox="1"/>
          <p:nvPr/>
        </p:nvSpPr>
        <p:spPr>
          <a:xfrm>
            <a:off x="347929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7</a:t>
            </a:r>
          </a:p>
        </p:txBody>
      </p:sp>
      <p:sp>
        <p:nvSpPr>
          <p:cNvPr id="66" name="Rectangle 65"/>
          <p:cNvSpPr/>
          <p:nvPr/>
        </p:nvSpPr>
        <p:spPr>
          <a:xfrm>
            <a:off x="4135946" y="4982649"/>
            <a:ext cx="344043" cy="339159"/>
          </a:xfrm>
          <a:prstGeom prst="rect">
            <a:avLst/>
          </a:prstGeom>
          <a:solidFill>
            <a:srgbClr val="7E67C7"/>
          </a:solidFill>
          <a:ln>
            <a:noFill/>
          </a:ln>
        </p:spPr>
        <p:txBody>
          <a:bodyPr rtlCol="0" anchor="ctr"/>
          <a:lstStyle/>
          <a:p>
            <a:pPr algn="ctr"/>
          </a:p>
        </p:txBody>
      </p:sp>
      <p:sp>
        <p:nvSpPr>
          <p:cNvPr id="67" name="TextBox 66"/>
          <p:cNvSpPr txBox="1"/>
          <p:nvPr/>
        </p:nvSpPr>
        <p:spPr>
          <a:xfrm>
            <a:off x="3907346" y="4735761"/>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40</a:t>
            </a:r>
          </a:p>
        </p:txBody>
      </p:sp>
      <p:sp>
        <p:nvSpPr>
          <p:cNvPr id="68" name="TextBox 67"/>
          <p:cNvSpPr txBox="1"/>
          <p:nvPr/>
        </p:nvSpPr>
        <p:spPr>
          <a:xfrm>
            <a:off x="397078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8</a:t>
            </a:r>
          </a:p>
        </p:txBody>
      </p:sp>
      <p:sp>
        <p:nvSpPr>
          <p:cNvPr id="69" name="Rectangle 68"/>
          <p:cNvSpPr/>
          <p:nvPr/>
        </p:nvSpPr>
        <p:spPr>
          <a:xfrm>
            <a:off x="4627436" y="5067439"/>
            <a:ext cx="344043" cy="254369"/>
          </a:xfrm>
          <a:prstGeom prst="rect">
            <a:avLst/>
          </a:prstGeom>
          <a:solidFill>
            <a:srgbClr val="7E67C7"/>
          </a:solidFill>
          <a:ln>
            <a:noFill/>
          </a:ln>
        </p:spPr>
        <p:txBody>
          <a:bodyPr rtlCol="0" anchor="ctr"/>
          <a:lstStyle/>
          <a:p>
            <a:pPr algn="ctr"/>
          </a:p>
        </p:txBody>
      </p:sp>
      <p:sp>
        <p:nvSpPr>
          <p:cNvPr id="70" name="TextBox 69"/>
          <p:cNvSpPr txBox="1"/>
          <p:nvPr/>
        </p:nvSpPr>
        <p:spPr>
          <a:xfrm>
            <a:off x="4398836" y="4820551"/>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30</a:t>
            </a:r>
          </a:p>
        </p:txBody>
      </p:sp>
      <p:sp>
        <p:nvSpPr>
          <p:cNvPr id="71" name="TextBox 70"/>
          <p:cNvSpPr txBox="1"/>
          <p:nvPr/>
        </p:nvSpPr>
        <p:spPr>
          <a:xfrm>
            <a:off x="446227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9</a:t>
            </a:r>
          </a:p>
        </p:txBody>
      </p:sp>
      <p:sp>
        <p:nvSpPr>
          <p:cNvPr id="72" name="Rectangle 71"/>
          <p:cNvSpPr/>
          <p:nvPr/>
        </p:nvSpPr>
        <p:spPr>
          <a:xfrm>
            <a:off x="5118926" y="5152228"/>
            <a:ext cx="344043" cy="169580"/>
          </a:xfrm>
          <a:prstGeom prst="rect">
            <a:avLst/>
          </a:prstGeom>
          <a:solidFill>
            <a:srgbClr val="B9ABE3"/>
          </a:solidFill>
          <a:ln>
            <a:noFill/>
          </a:ln>
        </p:spPr>
        <p:txBody>
          <a:bodyPr rtlCol="0" anchor="ctr"/>
          <a:lstStyle/>
          <a:p>
            <a:pPr algn="ctr"/>
          </a:p>
        </p:txBody>
      </p:sp>
      <p:sp>
        <p:nvSpPr>
          <p:cNvPr id="73" name="TextBox 72"/>
          <p:cNvSpPr txBox="1"/>
          <p:nvPr/>
        </p:nvSpPr>
        <p:spPr>
          <a:xfrm>
            <a:off x="4890326" y="4905340"/>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20</a:t>
            </a:r>
          </a:p>
        </p:txBody>
      </p:sp>
      <p:sp>
        <p:nvSpPr>
          <p:cNvPr id="74" name="TextBox 73"/>
          <p:cNvSpPr txBox="1"/>
          <p:nvPr/>
        </p:nvSpPr>
        <p:spPr>
          <a:xfrm>
            <a:off x="495376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10</a:t>
            </a:r>
          </a:p>
        </p:txBody>
      </p:sp>
      <p:sp>
        <p:nvSpPr>
          <p:cNvPr id="75" name="Rectangle 74"/>
          <p:cNvSpPr/>
          <p:nvPr/>
        </p:nvSpPr>
        <p:spPr>
          <a:xfrm>
            <a:off x="5610416" y="5237018"/>
            <a:ext cx="344043" cy="84790"/>
          </a:xfrm>
          <a:prstGeom prst="rect">
            <a:avLst/>
          </a:prstGeom>
          <a:solidFill>
            <a:srgbClr val="B9ABE3"/>
          </a:solidFill>
          <a:ln>
            <a:noFill/>
          </a:ln>
        </p:spPr>
        <p:txBody>
          <a:bodyPr rtlCol="0" anchor="ctr"/>
          <a:lstStyle/>
          <a:p>
            <a:pPr algn="ctr"/>
          </a:p>
        </p:txBody>
      </p:sp>
      <p:sp>
        <p:nvSpPr>
          <p:cNvPr id="76" name="TextBox 75"/>
          <p:cNvSpPr txBox="1"/>
          <p:nvPr/>
        </p:nvSpPr>
        <p:spPr>
          <a:xfrm>
            <a:off x="5381816" y="4990130"/>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10</a:t>
            </a:r>
          </a:p>
        </p:txBody>
      </p:sp>
      <p:sp>
        <p:nvSpPr>
          <p:cNvPr id="77" name="TextBox 76"/>
          <p:cNvSpPr txBox="1"/>
          <p:nvPr/>
        </p:nvSpPr>
        <p:spPr>
          <a:xfrm>
            <a:off x="544525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11</a:t>
            </a:r>
          </a:p>
        </p:txBody>
      </p:sp>
      <p:sp>
        <p:nvSpPr>
          <p:cNvPr id="78" name="TextBox 77"/>
          <p:cNvSpPr txBox="1"/>
          <p:nvPr/>
        </p:nvSpPr>
        <p:spPr>
          <a:xfrm>
            <a:off x="5873306" y="5074920"/>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0</a:t>
            </a:r>
          </a:p>
        </p:txBody>
      </p:sp>
      <p:sp>
        <p:nvSpPr>
          <p:cNvPr id="79" name="TextBox 78"/>
          <p:cNvSpPr txBox="1"/>
          <p:nvPr/>
        </p:nvSpPr>
        <p:spPr>
          <a:xfrm>
            <a:off x="593674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12</a:t>
            </a:r>
          </a:p>
        </p:txBody>
      </p:sp>
      <p:cxnSp>
        <p:nvCxnSpPr>
          <p:cNvPr id="80" name="Connector 79"/>
          <p:cNvCxnSpPr/>
          <p:nvPr/>
        </p:nvCxnSpPr>
        <p:spPr>
          <a:xfrm>
            <a:off x="621792" y="5321808"/>
            <a:ext cx="5897880" cy="0"/>
          </a:xfrm>
          <a:prstGeom prst="line">
            <a:avLst/>
          </a:prstGeom>
          <a:ln w="12700">
            <a:solidFill>
              <a:srgbClr val="9CA3AF"/>
            </a:solidFill>
          </a:ln>
        </p:spPr>
      </p:cxn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Revenue and Business Model</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How one instalment is split, where Halqa’s income comes from and its technical running cost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15</a:t>
            </a:r>
          </a:p>
        </p:txBody>
      </p:sp>
      <p:sp>
        <p:nvSpPr>
          <p:cNvPr id="6" name="TextBox 5"/>
          <p:cNvSpPr txBox="1"/>
          <p:nvPr/>
        </p:nvSpPr>
        <p:spPr>
          <a:xfrm>
            <a:off x="548640" y="1481328"/>
            <a:ext cx="7315200" cy="274320"/>
          </a:xfrm>
          <a:prstGeom prst="rect">
            <a:avLst/>
          </a:prstGeom>
          <a:noFill/>
        </p:spPr>
        <p:txBody>
          <a:bodyPr wrap="square" lIns="0" tIns="0" rIns="0" bIns="0">
            <a:spAutoFit/>
          </a:bodyPr>
          <a:lstStyle/>
          <a:p>
            <a:pPr>
              <a:lnSpc>
                <a:spcPct val="100000"/>
              </a:lnSpc>
            </a:pPr>
            <a:r>
              <a:rPr sz="1200" b="1">
                <a:solidFill>
                  <a:srgbClr val="0C1408"/>
                </a:solidFill>
                <a:latin typeface="Arial"/>
              </a:rPr>
              <a:t>One instalment on a circle between strangers</a:t>
            </a:r>
            <a:r>
              <a:rPr sz="1100">
                <a:solidFill>
                  <a:srgbClr val="0C1408"/>
                </a:solidFill>
                <a:latin typeface="Arial"/>
              </a:rPr>
              <a:t>   Rs</a:t>
            </a:r>
          </a:p>
        </p:txBody>
      </p:sp>
      <p:sp>
        <p:nvSpPr>
          <p:cNvPr id="7" name="TextBox 6"/>
          <p:cNvSpPr txBox="1"/>
          <p:nvPr/>
        </p:nvSpPr>
        <p:spPr>
          <a:xfrm>
            <a:off x="548640" y="1755648"/>
            <a:ext cx="8229600" cy="237744"/>
          </a:xfrm>
          <a:prstGeom prst="rect">
            <a:avLst/>
          </a:prstGeom>
          <a:noFill/>
        </p:spPr>
        <p:txBody>
          <a:bodyPr wrap="square" lIns="0" tIns="0" rIns="0" bIns="0">
            <a:spAutoFit/>
          </a:bodyPr>
          <a:lstStyle/>
          <a:p>
            <a:pPr>
              <a:lnSpc>
                <a:spcPct val="105000"/>
              </a:lnSpc>
            </a:pPr>
            <a:r>
              <a:rPr sz="1050">
                <a:solidFill>
                  <a:srgbClr val="0C1408"/>
                </a:solidFill>
                <a:latin typeface="Arial"/>
              </a:rPr>
              <a:t>The member pays Rs 10,235 plus the takaful fee</a:t>
            </a:r>
          </a:p>
        </p:txBody>
      </p:sp>
      <p:sp>
        <p:nvSpPr>
          <p:cNvPr id="8" name="Rectangle 7"/>
          <p:cNvSpPr/>
          <p:nvPr/>
        </p:nvSpPr>
        <p:spPr>
          <a:xfrm>
            <a:off x="548640" y="2176272"/>
            <a:ext cx="8721893" cy="658368"/>
          </a:xfrm>
          <a:prstGeom prst="rect">
            <a:avLst/>
          </a:prstGeom>
          <a:solidFill>
            <a:srgbClr val="2A78D6"/>
          </a:solidFill>
          <a:ln>
            <a:noFill/>
          </a:ln>
        </p:spPr>
        <p:txBody>
          <a:bodyPr rtlCol="0" anchor="ctr"/>
          <a:lstStyle/>
          <a:p>
            <a:pPr algn="ctr"/>
          </a:p>
        </p:txBody>
      </p:sp>
      <p:sp>
        <p:nvSpPr>
          <p:cNvPr id="9" name="Rectangle 8"/>
          <p:cNvSpPr/>
          <p:nvPr/>
        </p:nvSpPr>
        <p:spPr>
          <a:xfrm>
            <a:off x="9288821" y="2176272"/>
            <a:ext cx="117387" cy="658368"/>
          </a:xfrm>
          <a:prstGeom prst="rect">
            <a:avLst/>
          </a:prstGeom>
          <a:solidFill>
            <a:srgbClr val="1C5CAB"/>
          </a:solidFill>
          <a:ln>
            <a:noFill/>
          </a:ln>
        </p:spPr>
        <p:txBody>
          <a:bodyPr rtlCol="0" anchor="ctr"/>
          <a:lstStyle/>
          <a:p>
            <a:pPr algn="ctr"/>
          </a:p>
        </p:txBody>
      </p:sp>
      <p:sp>
        <p:nvSpPr>
          <p:cNvPr id="10" name="Rectangle 9"/>
          <p:cNvSpPr/>
          <p:nvPr/>
        </p:nvSpPr>
        <p:spPr>
          <a:xfrm>
            <a:off x="9419924" y="2176272"/>
            <a:ext cx="74292" cy="658368"/>
          </a:xfrm>
          <a:prstGeom prst="rect">
            <a:avLst/>
          </a:prstGeom>
          <a:solidFill>
            <a:srgbClr val="573F99"/>
          </a:solidFill>
          <a:ln>
            <a:noFill/>
          </a:ln>
        </p:spPr>
        <p:txBody>
          <a:bodyPr rtlCol="0" anchor="ctr"/>
          <a:lstStyle/>
          <a:p>
            <a:pPr algn="ctr"/>
          </a:p>
        </p:txBody>
      </p:sp>
      <p:sp>
        <p:nvSpPr>
          <p:cNvPr id="11" name="TextBox 10"/>
          <p:cNvSpPr txBox="1"/>
          <p:nvPr/>
        </p:nvSpPr>
        <p:spPr>
          <a:xfrm>
            <a:off x="749808" y="2176272"/>
            <a:ext cx="7772400" cy="658368"/>
          </a:xfrm>
          <a:prstGeom prst="rect">
            <a:avLst/>
          </a:prstGeom>
          <a:noFill/>
        </p:spPr>
        <p:txBody>
          <a:bodyPr wrap="square" lIns="0" tIns="0" rIns="0" bIns="0" anchor="ctr">
            <a:spAutoFit/>
          </a:bodyPr>
          <a:lstStyle/>
          <a:p>
            <a:pPr>
              <a:lnSpc>
                <a:spcPct val="105000"/>
              </a:lnSpc>
            </a:pPr>
            <a:r>
              <a:rPr sz="1800" b="1">
                <a:solidFill>
                  <a:srgbClr val="FFFFFF"/>
                </a:solidFill>
                <a:latin typeface="Arial"/>
              </a:rPr>
              <a:t>Rs 10,000</a:t>
            </a:r>
            <a:r>
              <a:rPr sz="1250">
                <a:solidFill>
                  <a:srgbClr val="FFFFFF"/>
                </a:solidFill>
                <a:latin typeface="Arial"/>
              </a:rPr>
              <a:t>    to the member collecting</a:t>
            </a:r>
          </a:p>
        </p:txBody>
      </p:sp>
      <p:sp>
        <p:nvSpPr>
          <p:cNvPr id="12" name="Rectangle 11"/>
          <p:cNvSpPr/>
          <p:nvPr/>
        </p:nvSpPr>
        <p:spPr>
          <a:xfrm>
            <a:off x="9631375" y="2176272"/>
            <a:ext cx="2011680" cy="658368"/>
          </a:xfrm>
          <a:prstGeom prst="rect">
            <a:avLst/>
          </a:prstGeom>
          <a:solidFill>
            <a:srgbClr val="FFFFFF"/>
          </a:solidFill>
          <a:ln w="19050">
            <a:solidFill>
              <a:srgbClr val="0E9384"/>
            </a:solidFill>
            <a:prstDash val="dash"/>
          </a:ln>
        </p:spPr>
        <p:txBody>
          <a:bodyPr rtlCol="0" anchor="ctr" lIns="54864" tIns="41148" rIns="54864" bIns="41148" wrap="square"/>
          <a:lstStyle/>
          <a:p>
            <a:pPr algn="ctr">
              <a:lnSpc>
                <a:spcPct val="105000"/>
              </a:lnSpc>
            </a:pPr>
            <a:r>
              <a:rPr sz="1200" b="1">
                <a:solidFill>
                  <a:srgbClr val="0C1408"/>
                </a:solidFill>
                <a:latin typeface="Arial"/>
              </a:rPr>
              <a:t>Takaful fee</a:t>
            </a:r>
          </a:p>
        </p:txBody>
      </p:sp>
      <p:sp>
        <p:nvSpPr>
          <p:cNvPr id="13" name="Freeform 12"/>
          <p:cNvSpPr/>
          <p:nvPr/>
        </p:nvSpPr>
        <p:spPr>
          <a:xfrm>
            <a:off x="548640" y="2834640"/>
            <a:ext cx="11094415" cy="566928"/>
          </a:xfrm>
          <a:custGeom>
            <a:avLst/>
            <a:gdLst/>
            <a:ahLst/>
            <a:cxnLst/>
            <a:rect l="l" t="t" r="r" b="b"/>
            <a:pathLst>
              <a:path w="11094415" h="566928">
                <a:moveTo>
                  <a:pt x="8740181" y="0"/>
                </a:moveTo>
                <a:lnTo>
                  <a:pt x="8945575" y="0"/>
                </a:lnTo>
                <a:lnTo>
                  <a:pt x="11094415" y="566928"/>
                </a:lnTo>
                <a:lnTo>
                  <a:pt x="0" y="566928"/>
                </a:lnTo>
                <a:close/>
              </a:path>
            </a:pathLst>
          </a:custGeom>
          <a:solidFill>
            <a:srgbClr val="EDEFF2"/>
          </a:solidFill>
          <a:ln>
            <a:noFill/>
          </a:ln>
        </p:spPr>
        <p:txBody>
          <a:bodyPr rtlCol="0" anchor="ctr"/>
          <a:lstStyle/>
          <a:p>
            <a:pPr algn="ctr"/>
          </a:p>
        </p:txBody>
      </p:sp>
      <p:cxnSp>
        <p:nvCxnSpPr>
          <p:cNvPr id="14" name="Connector 13"/>
          <p:cNvCxnSpPr/>
          <p:nvPr/>
        </p:nvCxnSpPr>
        <p:spPr>
          <a:xfrm flipH="1">
            <a:off x="548640" y="2834640"/>
            <a:ext cx="8740181" cy="566928"/>
          </a:xfrm>
          <a:prstGeom prst="line">
            <a:avLst/>
          </a:prstGeom>
          <a:ln w="9525">
            <a:solidFill>
              <a:srgbClr val="9CA3AF"/>
            </a:solidFill>
            <a:prstDash val="dash"/>
          </a:ln>
        </p:spPr>
      </p:cxnSp>
      <p:cxnSp>
        <p:nvCxnSpPr>
          <p:cNvPr id="15" name="Connector 14"/>
          <p:cNvCxnSpPr/>
          <p:nvPr/>
        </p:nvCxnSpPr>
        <p:spPr>
          <a:xfrm>
            <a:off x="9494215" y="2834640"/>
            <a:ext cx="2148840" cy="566928"/>
          </a:xfrm>
          <a:prstGeom prst="line">
            <a:avLst/>
          </a:prstGeom>
          <a:ln w="9525">
            <a:solidFill>
              <a:srgbClr val="9CA3AF"/>
            </a:solidFill>
            <a:prstDash val="dash"/>
          </a:ln>
        </p:spPr>
      </p:cxnSp>
      <p:sp>
        <p:nvSpPr>
          <p:cNvPr id="16" name="Rectangle 15"/>
          <p:cNvSpPr/>
          <p:nvPr/>
        </p:nvSpPr>
        <p:spPr>
          <a:xfrm>
            <a:off x="548640" y="3401568"/>
            <a:ext cx="7063254" cy="658368"/>
          </a:xfrm>
          <a:prstGeom prst="rect">
            <a:avLst/>
          </a:prstGeom>
          <a:solidFill>
            <a:srgbClr val="1C5CAB"/>
          </a:solidFill>
          <a:ln>
            <a:noFill/>
          </a:ln>
        </p:spPr>
        <p:txBody>
          <a:bodyPr rtlCol="0" anchor="ctr"/>
          <a:lstStyle/>
          <a:p>
            <a:pPr algn="ctr"/>
          </a:p>
        </p:txBody>
      </p:sp>
      <p:sp>
        <p:nvSpPr>
          <p:cNvPr id="17" name="Rectangle 16"/>
          <p:cNvSpPr/>
          <p:nvPr/>
        </p:nvSpPr>
        <p:spPr>
          <a:xfrm>
            <a:off x="7630182" y="3401568"/>
            <a:ext cx="4012874" cy="658368"/>
          </a:xfrm>
          <a:prstGeom prst="rect">
            <a:avLst/>
          </a:prstGeom>
          <a:solidFill>
            <a:srgbClr val="573F99"/>
          </a:solidFill>
          <a:ln>
            <a:noFill/>
          </a:ln>
        </p:spPr>
        <p:txBody>
          <a:bodyPr rtlCol="0" anchor="ctr"/>
          <a:lstStyle/>
          <a:p>
            <a:pPr algn="ctr"/>
          </a:p>
        </p:txBody>
      </p:sp>
      <p:sp>
        <p:nvSpPr>
          <p:cNvPr id="18" name="TextBox 17"/>
          <p:cNvSpPr txBox="1"/>
          <p:nvPr/>
        </p:nvSpPr>
        <p:spPr>
          <a:xfrm>
            <a:off x="749808" y="3401568"/>
            <a:ext cx="6807222" cy="658368"/>
          </a:xfrm>
          <a:prstGeom prst="rect">
            <a:avLst/>
          </a:prstGeom>
          <a:noFill/>
        </p:spPr>
        <p:txBody>
          <a:bodyPr wrap="square" lIns="0" tIns="0" rIns="0" bIns="0" anchor="ctr">
            <a:spAutoFit/>
          </a:bodyPr>
          <a:lstStyle/>
          <a:p>
            <a:pPr>
              <a:lnSpc>
                <a:spcPct val="105000"/>
              </a:lnSpc>
            </a:pPr>
            <a:r>
              <a:rPr sz="1500" b="1">
                <a:solidFill>
                  <a:srgbClr val="FFFFFF"/>
                </a:solidFill>
                <a:latin typeface="Arial"/>
              </a:rPr>
              <a:t>Rs 150</a:t>
            </a:r>
            <a:r>
              <a:rPr sz="1200">
                <a:solidFill>
                  <a:srgbClr val="FFFFFF"/>
                </a:solidFill>
                <a:latin typeface="Arial"/>
              </a:rPr>
              <a:t>    PSP service fee, 1.5% of the instalment</a:t>
            </a:r>
          </a:p>
        </p:txBody>
      </p:sp>
      <p:sp>
        <p:nvSpPr>
          <p:cNvPr id="19" name="TextBox 18"/>
          <p:cNvSpPr txBox="1"/>
          <p:nvPr/>
        </p:nvSpPr>
        <p:spPr>
          <a:xfrm>
            <a:off x="7831350" y="3401568"/>
            <a:ext cx="3738554" cy="658368"/>
          </a:xfrm>
          <a:prstGeom prst="rect">
            <a:avLst/>
          </a:prstGeom>
          <a:noFill/>
        </p:spPr>
        <p:txBody>
          <a:bodyPr wrap="square" lIns="0" tIns="0" rIns="0" bIns="0" anchor="ctr">
            <a:spAutoFit/>
          </a:bodyPr>
          <a:lstStyle/>
          <a:p>
            <a:pPr>
              <a:lnSpc>
                <a:spcPct val="105000"/>
              </a:lnSpc>
            </a:pPr>
            <a:r>
              <a:rPr sz="1500" b="1">
                <a:solidFill>
                  <a:srgbClr val="FFFFFF"/>
                </a:solidFill>
                <a:latin typeface="Arial"/>
              </a:rPr>
              <a:t>Rs 85</a:t>
            </a:r>
            <a:r>
              <a:rPr sz="1200">
                <a:solidFill>
                  <a:srgbClr val="FFFFFF"/>
                </a:solidFill>
                <a:latin typeface="Arial"/>
              </a:rPr>
              <a:t>    fee to Raqami, shared with Halqa</a:t>
            </a:r>
          </a:p>
        </p:txBody>
      </p:sp>
      <p:sp>
        <p:nvSpPr>
          <p:cNvPr id="20" name="TextBox 19"/>
          <p:cNvSpPr txBox="1"/>
          <p:nvPr/>
        </p:nvSpPr>
        <p:spPr>
          <a:xfrm>
            <a:off x="548640" y="4553712"/>
            <a:ext cx="5341468" cy="274320"/>
          </a:xfrm>
          <a:prstGeom prst="rect">
            <a:avLst/>
          </a:prstGeom>
          <a:noFill/>
        </p:spPr>
        <p:txBody>
          <a:bodyPr wrap="square" lIns="0" tIns="0" rIns="0" bIns="0">
            <a:spAutoFit/>
          </a:bodyPr>
          <a:lstStyle/>
          <a:p>
            <a:pPr>
              <a:lnSpc>
                <a:spcPct val="105000"/>
              </a:lnSpc>
            </a:pPr>
            <a:r>
              <a:rPr sz="1200" b="1">
                <a:solidFill>
                  <a:srgbClr val="0C1408"/>
                </a:solidFill>
                <a:latin typeface="Arial"/>
              </a:rPr>
              <a:t>Income lines</a:t>
            </a:r>
          </a:p>
        </p:txBody>
      </p:sp>
      <p:sp>
        <p:nvSpPr>
          <p:cNvPr id="21" name="TextBox 20"/>
          <p:cNvSpPr txBox="1"/>
          <p:nvPr/>
        </p:nvSpPr>
        <p:spPr>
          <a:xfrm>
            <a:off x="548640" y="4864608"/>
            <a:ext cx="5341468" cy="1005840"/>
          </a:xfrm>
          <a:prstGeom prst="rect">
            <a:avLst/>
          </a:prstGeom>
          <a:noFill/>
        </p:spPr>
        <p:txBody>
          <a:bodyPr wrap="square" lIns="0" tIns="0" rIns="0" bIns="0">
            <a:spAutoFit/>
          </a:bodyPr>
          <a:lstStyle/>
          <a:p>
            <a:pPr>
              <a:lnSpc>
                <a:spcPct val="104000"/>
              </a:lnSpc>
            </a:pPr>
            <a:r>
              <a:rPr sz="1100" b="1">
                <a:solidFill>
                  <a:srgbClr val="0C1408"/>
                </a:solidFill>
                <a:latin typeface="Arial"/>
              </a:rPr>
              <a:t>Now:  </a:t>
            </a:r>
            <a:r>
              <a:rPr sz="1100">
                <a:solidFill>
                  <a:srgbClr val="0C1408"/>
                </a:solidFill>
                <a:latin typeface="Arial"/>
              </a:rPr>
              <a:t>a share of the fee Raqami collects; a share of Raqami’s income on committee balances</a:t>
            </a:r>
          </a:p>
          <a:p>
            <a:pPr>
              <a:lnSpc>
                <a:spcPct val="104000"/>
              </a:lnSpc>
              <a:spcBef>
                <a:spcPts val="400"/>
              </a:spcBef>
            </a:pPr>
            <a:r>
              <a:rPr sz="1100" b="1">
                <a:solidFill>
                  <a:srgbClr val="0C1408"/>
                </a:solidFill>
                <a:latin typeface="Arial"/>
              </a:rPr>
              <a:t>Later:  </a:t>
            </a:r>
            <a:r>
              <a:rPr sz="1100">
                <a:solidFill>
                  <a:srgbClr val="0C1408"/>
                </a:solidFill>
                <a:latin typeface="Arial"/>
              </a:rPr>
              <a:t>asset financing referrals (2 to 4% from the financier, 1 to 3% from the dealer); marketplace commission on points; employer programmes</a:t>
            </a:r>
          </a:p>
        </p:txBody>
      </p:sp>
      <p:sp>
        <p:nvSpPr>
          <p:cNvPr id="22" name="TextBox 21"/>
          <p:cNvSpPr txBox="1"/>
          <p:nvPr/>
        </p:nvSpPr>
        <p:spPr>
          <a:xfrm>
            <a:off x="6301588" y="4553712"/>
            <a:ext cx="5341468" cy="274320"/>
          </a:xfrm>
          <a:prstGeom prst="rect">
            <a:avLst/>
          </a:prstGeom>
          <a:noFill/>
        </p:spPr>
        <p:txBody>
          <a:bodyPr wrap="square" lIns="0" tIns="0" rIns="0" bIns="0">
            <a:spAutoFit/>
          </a:bodyPr>
          <a:lstStyle/>
          <a:p>
            <a:pPr>
              <a:lnSpc>
                <a:spcPct val="105000"/>
              </a:lnSpc>
            </a:pPr>
            <a:r>
              <a:rPr sz="1200" b="1">
                <a:solidFill>
                  <a:srgbClr val="0C1408"/>
                </a:solidFill>
                <a:latin typeface="Arial"/>
              </a:rPr>
              <a:t>Unit costs</a:t>
            </a:r>
          </a:p>
        </p:txBody>
      </p:sp>
      <p:sp>
        <p:nvSpPr>
          <p:cNvPr id="23" name="TextBox 22"/>
          <p:cNvSpPr txBox="1"/>
          <p:nvPr/>
        </p:nvSpPr>
        <p:spPr>
          <a:xfrm>
            <a:off x="6301588" y="4864608"/>
            <a:ext cx="1643329" cy="300228"/>
          </a:xfrm>
          <a:prstGeom prst="rect">
            <a:avLst/>
          </a:prstGeom>
          <a:noFill/>
        </p:spPr>
        <p:txBody>
          <a:bodyPr wrap="square" lIns="0" tIns="0" rIns="0" bIns="0">
            <a:spAutoFit/>
          </a:bodyPr>
          <a:lstStyle/>
          <a:p>
            <a:pPr>
              <a:lnSpc>
                <a:spcPct val="100000"/>
              </a:lnSpc>
            </a:pPr>
            <a:r>
              <a:rPr sz="1500" b="1">
                <a:solidFill>
                  <a:srgbClr val="3E2B73"/>
                </a:solidFill>
                <a:latin typeface="Arial"/>
              </a:rPr>
              <a:t>Rs 13 to 35</a:t>
            </a:r>
          </a:p>
        </p:txBody>
      </p:sp>
      <p:sp>
        <p:nvSpPr>
          <p:cNvPr id="24" name="TextBox 23"/>
          <p:cNvSpPr txBox="1"/>
          <p:nvPr/>
        </p:nvSpPr>
        <p:spPr>
          <a:xfrm>
            <a:off x="6301588" y="5146548"/>
            <a:ext cx="1643329" cy="457200"/>
          </a:xfrm>
          <a:prstGeom prst="rect">
            <a:avLst/>
          </a:prstGeom>
          <a:noFill/>
        </p:spPr>
        <p:txBody>
          <a:bodyPr wrap="square" lIns="0" tIns="0" rIns="0" bIns="0">
            <a:spAutoFit/>
          </a:bodyPr>
          <a:lstStyle/>
          <a:p>
            <a:pPr>
              <a:lnSpc>
                <a:spcPct val="104000"/>
              </a:lnSpc>
            </a:pPr>
            <a:r>
              <a:rPr sz="1000">
                <a:solidFill>
                  <a:srgbClr val="0C1408"/>
                </a:solidFill>
                <a:latin typeface="Arial"/>
              </a:rPr>
              <a:t>to run one payment</a:t>
            </a:r>
          </a:p>
        </p:txBody>
      </p:sp>
      <p:sp>
        <p:nvSpPr>
          <p:cNvPr id="25" name="TextBox 24"/>
          <p:cNvSpPr txBox="1"/>
          <p:nvPr/>
        </p:nvSpPr>
        <p:spPr>
          <a:xfrm>
            <a:off x="8082077" y="4864608"/>
            <a:ext cx="1643329" cy="300228"/>
          </a:xfrm>
          <a:prstGeom prst="rect">
            <a:avLst/>
          </a:prstGeom>
          <a:noFill/>
        </p:spPr>
        <p:txBody>
          <a:bodyPr wrap="square" lIns="0" tIns="0" rIns="0" bIns="0">
            <a:spAutoFit/>
          </a:bodyPr>
          <a:lstStyle/>
          <a:p>
            <a:pPr>
              <a:lnSpc>
                <a:spcPct val="100000"/>
              </a:lnSpc>
            </a:pPr>
            <a:r>
              <a:rPr sz="1500" b="1">
                <a:solidFill>
                  <a:srgbClr val="3E2B73"/>
                </a:solidFill>
                <a:latin typeface="Arial"/>
              </a:rPr>
              <a:t>Rs 61,000</a:t>
            </a:r>
          </a:p>
        </p:txBody>
      </p:sp>
      <p:sp>
        <p:nvSpPr>
          <p:cNvPr id="26" name="TextBox 25"/>
          <p:cNvSpPr txBox="1"/>
          <p:nvPr/>
        </p:nvSpPr>
        <p:spPr>
          <a:xfrm>
            <a:off x="8082077" y="5146548"/>
            <a:ext cx="1643329" cy="457200"/>
          </a:xfrm>
          <a:prstGeom prst="rect">
            <a:avLst/>
          </a:prstGeom>
          <a:noFill/>
        </p:spPr>
        <p:txBody>
          <a:bodyPr wrap="square" lIns="0" tIns="0" rIns="0" bIns="0">
            <a:spAutoFit/>
          </a:bodyPr>
          <a:lstStyle/>
          <a:p>
            <a:pPr>
              <a:lnSpc>
                <a:spcPct val="104000"/>
              </a:lnSpc>
            </a:pPr>
            <a:r>
              <a:rPr sz="1000">
                <a:solidFill>
                  <a:srgbClr val="0C1408"/>
                </a:solidFill>
                <a:latin typeface="Arial"/>
              </a:rPr>
              <a:t>fixed technical cost a month</a:t>
            </a:r>
          </a:p>
        </p:txBody>
      </p:sp>
      <p:sp>
        <p:nvSpPr>
          <p:cNvPr id="27" name="TextBox 26"/>
          <p:cNvSpPr txBox="1"/>
          <p:nvPr/>
        </p:nvSpPr>
        <p:spPr>
          <a:xfrm>
            <a:off x="9862566" y="4864608"/>
            <a:ext cx="1643329" cy="300228"/>
          </a:xfrm>
          <a:prstGeom prst="rect">
            <a:avLst/>
          </a:prstGeom>
          <a:noFill/>
        </p:spPr>
        <p:txBody>
          <a:bodyPr wrap="square" lIns="0" tIns="0" rIns="0" bIns="0">
            <a:spAutoFit/>
          </a:bodyPr>
          <a:lstStyle/>
          <a:p>
            <a:pPr>
              <a:lnSpc>
                <a:spcPct val="100000"/>
              </a:lnSpc>
            </a:pPr>
            <a:r>
              <a:rPr sz="1500" b="1">
                <a:solidFill>
                  <a:srgbClr val="3E2B73"/>
                </a:solidFill>
                <a:latin typeface="Arial"/>
              </a:rPr>
              <a:t>About Rs 50</a:t>
            </a:r>
          </a:p>
        </p:txBody>
      </p:sp>
      <p:sp>
        <p:nvSpPr>
          <p:cNvPr id="28" name="TextBox 27"/>
          <p:cNvSpPr txBox="1"/>
          <p:nvPr/>
        </p:nvSpPr>
        <p:spPr>
          <a:xfrm>
            <a:off x="9862566" y="5146548"/>
            <a:ext cx="1643329" cy="457200"/>
          </a:xfrm>
          <a:prstGeom prst="rect">
            <a:avLst/>
          </a:prstGeom>
          <a:noFill/>
        </p:spPr>
        <p:txBody>
          <a:bodyPr wrap="square" lIns="0" tIns="0" rIns="0" bIns="0">
            <a:spAutoFit/>
          </a:bodyPr>
          <a:lstStyle/>
          <a:p>
            <a:pPr>
              <a:lnSpc>
                <a:spcPct val="104000"/>
              </a:lnSpc>
            </a:pPr>
            <a:r>
              <a:rPr sz="1000">
                <a:solidFill>
                  <a:srgbClr val="0C1408"/>
                </a:solidFill>
                <a:latin typeface="Arial"/>
              </a:rPr>
              <a:t>contribution a member a month</a:t>
            </a:r>
          </a:p>
        </p:txBody>
      </p:sp>
      <p:sp>
        <p:nvSpPr>
          <p:cNvPr id="29" name="TextBox 28"/>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Technical prices read 30 September 2026: Vercel, Supabase, Sentry, Google Workspace, Apple; US$1 = Rs 290 on a card (interbank Rs 277.3 on 29 September)    2  Business Model and Unit Costs (HQ-CP-03); fee set at the running cost of one payment plus Rs 50, 30 September 2026; before the bank’s terms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Competition</a:t>
            </a:r>
          </a:p>
        </p:txBody>
      </p:sp>
      <p:pic>
        <p:nvPicPr>
          <p:cNvPr id="3" name="Picture 2" descr="lockup-520.png"/>
          <p:cNvPicPr>
            <a:picLocks noChangeAspect="1"/>
          </p:cNvPicPr>
          <p:nvPr/>
        </p:nvPicPr>
        <p:blipFill>
          <a:blip r:embed="rId2"/>
          <a:stretch>
            <a:fillRect/>
          </a:stretch>
        </p:blipFill>
        <p:spPr>
          <a:xfrm>
            <a:off x="10740230" y="429768"/>
            <a:ext cx="902825" cy="274320"/>
          </a:xfrm>
          <a:prstGeom prst="rect">
            <a:avLst/>
          </a:prstGeom>
        </p:spPr>
      </p:pic>
      <p:sp>
        <p:nvSpPr>
          <p:cNvPr id="4" name="TextBox 3"/>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16</a:t>
            </a:r>
          </a:p>
        </p:txBody>
      </p:sp>
      <p:sp>
        <p:nvSpPr>
          <p:cNvPr id="5" name="Rectangle 4"/>
          <p:cNvSpPr/>
          <p:nvPr/>
        </p:nvSpPr>
        <p:spPr>
          <a:xfrm>
            <a:off x="3063240" y="1536192"/>
            <a:ext cx="2144954" cy="4087368"/>
          </a:xfrm>
          <a:prstGeom prst="rect">
            <a:avLst/>
          </a:prstGeom>
          <a:solidFill>
            <a:srgbClr val="F4F1FB"/>
          </a:solidFill>
          <a:ln>
            <a:noFill/>
          </a:ln>
        </p:spPr>
        <p:txBody>
          <a:bodyPr rtlCol="0" anchor="ctr"/>
          <a:lstStyle/>
          <a:p>
            <a:pPr algn="ctr"/>
          </a:p>
        </p:txBody>
      </p:sp>
      <p:pic>
        <p:nvPicPr>
          <p:cNvPr id="6" name="Picture 5" descr="duo_raqami.png"/>
          <p:cNvPicPr>
            <a:picLocks noChangeAspect="1"/>
          </p:cNvPicPr>
          <p:nvPr/>
        </p:nvPicPr>
        <p:blipFill>
          <a:blip r:embed="rId3"/>
          <a:stretch>
            <a:fillRect/>
          </a:stretch>
        </p:blipFill>
        <p:spPr>
          <a:xfrm>
            <a:off x="3354591" y="1581912"/>
            <a:ext cx="1562252" cy="411480"/>
          </a:xfrm>
          <a:prstGeom prst="rect">
            <a:avLst/>
          </a:prstGeom>
        </p:spPr>
      </p:pic>
      <p:pic>
        <p:nvPicPr>
          <p:cNvPr id="7" name="Picture 6" descr="oraan.png"/>
          <p:cNvPicPr>
            <a:picLocks noChangeAspect="1"/>
          </p:cNvPicPr>
          <p:nvPr/>
        </p:nvPicPr>
        <p:blipFill>
          <a:blip r:embed="rId4"/>
          <a:stretch>
            <a:fillRect/>
          </a:stretch>
        </p:blipFill>
        <p:spPr>
          <a:xfrm>
            <a:off x="5345354" y="1609344"/>
            <a:ext cx="1005840" cy="365760"/>
          </a:xfrm>
          <a:prstGeom prst="rect">
            <a:avLst/>
          </a:prstGeom>
        </p:spPr>
      </p:pic>
      <p:pic>
        <p:nvPicPr>
          <p:cNvPr id="8" name="Picture 7" descr="jc_icon.png"/>
          <p:cNvPicPr>
            <a:picLocks noChangeAspect="1"/>
          </p:cNvPicPr>
          <p:nvPr/>
        </p:nvPicPr>
        <p:blipFill>
          <a:blip r:embed="rId5"/>
          <a:stretch>
            <a:fillRect/>
          </a:stretch>
        </p:blipFill>
        <p:spPr>
          <a:xfrm>
            <a:off x="7490308" y="1610236"/>
            <a:ext cx="438912" cy="363976"/>
          </a:xfrm>
          <a:prstGeom prst="rect">
            <a:avLst/>
          </a:prstGeom>
        </p:spPr>
      </p:pic>
      <p:pic>
        <p:nvPicPr>
          <p:cNvPr id="9" name="Picture 8" descr="jc_committee.png"/>
          <p:cNvPicPr>
            <a:picLocks noChangeAspect="1"/>
          </p:cNvPicPr>
          <p:nvPr/>
        </p:nvPicPr>
        <p:blipFill>
          <a:blip r:embed="rId6"/>
          <a:stretch>
            <a:fillRect/>
          </a:stretch>
        </p:blipFill>
        <p:spPr>
          <a:xfrm>
            <a:off x="7984084" y="1645920"/>
            <a:ext cx="1296655" cy="292608"/>
          </a:xfrm>
          <a:prstGeom prst="rect">
            <a:avLst/>
          </a:prstGeom>
        </p:spPr>
      </p:pic>
      <p:sp>
        <p:nvSpPr>
          <p:cNvPr id="10" name="TextBox 9"/>
          <p:cNvSpPr txBox="1"/>
          <p:nvPr/>
        </p:nvSpPr>
        <p:spPr>
          <a:xfrm>
            <a:off x="9635261" y="1536192"/>
            <a:ext cx="1962074" cy="475488"/>
          </a:xfrm>
          <a:prstGeom prst="rect">
            <a:avLst/>
          </a:prstGeom>
          <a:noFill/>
        </p:spPr>
        <p:txBody>
          <a:bodyPr wrap="square" lIns="0" tIns="0" rIns="0" bIns="0" anchor="ctr">
            <a:spAutoFit/>
          </a:bodyPr>
          <a:lstStyle/>
          <a:p>
            <a:pPr>
              <a:lnSpc>
                <a:spcPct val="105000"/>
              </a:lnSpc>
            </a:pPr>
            <a:r>
              <a:rPr sz="1200" b="1">
                <a:solidFill>
                  <a:srgbClr val="0C1408"/>
                </a:solidFill>
                <a:latin typeface="Arial"/>
              </a:rPr>
              <a:t>Informal committee</a:t>
            </a:r>
          </a:p>
        </p:txBody>
      </p:sp>
      <p:cxnSp>
        <p:nvCxnSpPr>
          <p:cNvPr id="11" name="Connector 10"/>
          <p:cNvCxnSpPr/>
          <p:nvPr/>
        </p:nvCxnSpPr>
        <p:spPr>
          <a:xfrm>
            <a:off x="548640" y="2039112"/>
            <a:ext cx="11094415" cy="0"/>
          </a:xfrm>
          <a:prstGeom prst="line">
            <a:avLst/>
          </a:prstGeom>
          <a:ln w="9525">
            <a:solidFill>
              <a:srgbClr val="0C1408"/>
            </a:solidFill>
          </a:ln>
        </p:spPr>
      </p:cxnSp>
      <p:sp>
        <p:nvSpPr>
          <p:cNvPr id="12" name="TextBox 11"/>
          <p:cNvSpPr txBox="1"/>
          <p:nvPr/>
        </p:nvSpPr>
        <p:spPr>
          <a:xfrm>
            <a:off x="548640" y="2039112"/>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Money held by a licensed bank</a:t>
            </a:r>
          </a:p>
        </p:txBody>
      </p:sp>
      <p:sp>
        <p:nvSpPr>
          <p:cNvPr id="13" name="Oval 12"/>
          <p:cNvSpPr/>
          <p:nvPr/>
        </p:nvSpPr>
        <p:spPr>
          <a:xfrm>
            <a:off x="3204972" y="2167128"/>
            <a:ext cx="192024" cy="192024"/>
          </a:xfrm>
          <a:prstGeom prst="ellipse">
            <a:avLst/>
          </a:prstGeom>
          <a:solidFill>
            <a:srgbClr val="573F99"/>
          </a:solidFill>
          <a:ln w="15875">
            <a:solidFill>
              <a:srgbClr val="573F99"/>
            </a:solidFill>
          </a:ln>
        </p:spPr>
        <p:txBody>
          <a:bodyPr rtlCol="0" anchor="ctr"/>
          <a:lstStyle/>
          <a:p>
            <a:pPr algn="ctr"/>
          </a:p>
        </p:txBody>
      </p:sp>
      <p:sp>
        <p:nvSpPr>
          <p:cNvPr id="14" name="TextBox 13"/>
          <p:cNvSpPr txBox="1"/>
          <p:nvPr/>
        </p:nvSpPr>
        <p:spPr>
          <a:xfrm>
            <a:off x="3493008" y="203911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Raqami</a:t>
            </a:r>
          </a:p>
        </p:txBody>
      </p:sp>
      <p:sp>
        <p:nvSpPr>
          <p:cNvPr id="15" name="Oval 14"/>
          <p:cNvSpPr/>
          <p:nvPr/>
        </p:nvSpPr>
        <p:spPr>
          <a:xfrm>
            <a:off x="5349926" y="2167128"/>
            <a:ext cx="192024" cy="192024"/>
          </a:xfrm>
          <a:prstGeom prst="ellipse">
            <a:avLst/>
          </a:prstGeom>
          <a:solidFill>
            <a:srgbClr val="FFFFFF"/>
          </a:solidFill>
          <a:ln w="15875">
            <a:solidFill>
              <a:srgbClr val="573F99"/>
            </a:solidFill>
          </a:ln>
        </p:spPr>
        <p:txBody>
          <a:bodyPr rtlCol="0" anchor="ctr"/>
          <a:lstStyle/>
          <a:p>
            <a:pPr algn="ctr"/>
          </a:p>
        </p:txBody>
      </p:sp>
      <p:sp>
        <p:nvSpPr>
          <p:cNvPr id="16" name="TextBox 15"/>
          <p:cNvSpPr txBox="1"/>
          <p:nvPr/>
        </p:nvSpPr>
        <p:spPr>
          <a:xfrm>
            <a:off x="5637962" y="203911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own company accounts</a:t>
            </a:r>
          </a:p>
        </p:txBody>
      </p:sp>
      <p:sp>
        <p:nvSpPr>
          <p:cNvPr id="17" name="Oval 16"/>
          <p:cNvSpPr/>
          <p:nvPr/>
        </p:nvSpPr>
        <p:spPr>
          <a:xfrm>
            <a:off x="7494880" y="2167128"/>
            <a:ext cx="192024" cy="192024"/>
          </a:xfrm>
          <a:prstGeom prst="ellipse">
            <a:avLst/>
          </a:prstGeom>
          <a:solidFill>
            <a:srgbClr val="FFFFFF"/>
          </a:solidFill>
          <a:ln w="15875">
            <a:solidFill>
              <a:srgbClr val="573F99"/>
            </a:solidFill>
          </a:ln>
        </p:spPr>
        <p:txBody>
          <a:bodyPr rtlCol="0" anchor="ctr"/>
          <a:lstStyle/>
          <a:p>
            <a:pPr algn="ctr"/>
          </a:p>
        </p:txBody>
      </p:sp>
      <p:sp>
        <p:nvSpPr>
          <p:cNvPr id="18" name="Freeform 17"/>
          <p:cNvSpPr/>
          <p:nvPr/>
        </p:nvSpPr>
        <p:spPr>
          <a:xfrm>
            <a:off x="7590892" y="2167128"/>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0" y="31767"/>
                </a:lnTo>
                <a:lnTo>
                  <a:pt x="77675" y="39578"/>
                </a:lnTo>
                <a:lnTo>
                  <a:pt x="83148" y="48006"/>
                </a:lnTo>
                <a:lnTo>
                  <a:pt x="87711" y="56960"/>
                </a:lnTo>
                <a:lnTo>
                  <a:pt x="91312" y="66343"/>
                </a:lnTo>
                <a:lnTo>
                  <a:pt x="93914" y="76050"/>
                </a:lnTo>
                <a:lnTo>
                  <a:pt x="95486" y="85976"/>
                </a:lnTo>
                <a:lnTo>
                  <a:pt x="96012" y="96012"/>
                </a:lnTo>
                <a:lnTo>
                  <a:pt x="95486" y="106048"/>
                </a:lnTo>
                <a:lnTo>
                  <a:pt x="93914" y="115974"/>
                </a:lnTo>
                <a:lnTo>
                  <a:pt x="91312" y="125681"/>
                </a:lnTo>
                <a:lnTo>
                  <a:pt x="87711" y="135064"/>
                </a:lnTo>
                <a:lnTo>
                  <a:pt x="83148" y="144018"/>
                </a:lnTo>
                <a:lnTo>
                  <a:pt x="77675" y="152446"/>
                </a:lnTo>
                <a:lnTo>
                  <a:pt x="71350"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19" name="TextBox 18"/>
          <p:cNvSpPr txBox="1"/>
          <p:nvPr/>
        </p:nvSpPr>
        <p:spPr>
          <a:xfrm>
            <a:off x="7782916" y="203911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organiser’s wallet</a:t>
            </a:r>
          </a:p>
        </p:txBody>
      </p:sp>
      <p:sp>
        <p:nvSpPr>
          <p:cNvPr id="20" name="Oval 19"/>
          <p:cNvSpPr/>
          <p:nvPr/>
        </p:nvSpPr>
        <p:spPr>
          <a:xfrm>
            <a:off x="9639833" y="2167128"/>
            <a:ext cx="192024" cy="192024"/>
          </a:xfrm>
          <a:prstGeom prst="ellipse">
            <a:avLst/>
          </a:prstGeom>
          <a:solidFill>
            <a:srgbClr val="FFFFFF"/>
          </a:solidFill>
          <a:ln w="15875">
            <a:solidFill>
              <a:srgbClr val="573F99"/>
            </a:solidFill>
          </a:ln>
        </p:spPr>
        <p:txBody>
          <a:bodyPr rtlCol="0" anchor="ctr"/>
          <a:lstStyle/>
          <a:p>
            <a:pPr algn="ctr"/>
          </a:p>
        </p:txBody>
      </p:sp>
      <p:sp>
        <p:nvSpPr>
          <p:cNvPr id="21" name="TextBox 20"/>
          <p:cNvSpPr txBox="1"/>
          <p:nvPr/>
        </p:nvSpPr>
        <p:spPr>
          <a:xfrm>
            <a:off x="9927869" y="203911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the organiser</a:t>
            </a:r>
          </a:p>
        </p:txBody>
      </p:sp>
      <p:cxnSp>
        <p:nvCxnSpPr>
          <p:cNvPr id="22" name="Connector 21"/>
          <p:cNvCxnSpPr/>
          <p:nvPr/>
        </p:nvCxnSpPr>
        <p:spPr>
          <a:xfrm>
            <a:off x="548640" y="2487168"/>
            <a:ext cx="11094415" cy="0"/>
          </a:xfrm>
          <a:prstGeom prst="line">
            <a:avLst/>
          </a:prstGeom>
          <a:ln w="6350">
            <a:solidFill>
              <a:srgbClr val="D1D5DB"/>
            </a:solidFill>
          </a:ln>
        </p:spPr>
      </p:cxnSp>
      <p:sp>
        <p:nvSpPr>
          <p:cNvPr id="23" name="TextBox 22"/>
          <p:cNvSpPr txBox="1"/>
          <p:nvPr/>
        </p:nvSpPr>
        <p:spPr>
          <a:xfrm>
            <a:off x="548640" y="2487168"/>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Shariah board oversight</a:t>
            </a:r>
          </a:p>
        </p:txBody>
      </p:sp>
      <p:sp>
        <p:nvSpPr>
          <p:cNvPr id="24" name="Oval 23"/>
          <p:cNvSpPr/>
          <p:nvPr/>
        </p:nvSpPr>
        <p:spPr>
          <a:xfrm>
            <a:off x="3204972" y="2615184"/>
            <a:ext cx="192024" cy="192024"/>
          </a:xfrm>
          <a:prstGeom prst="ellipse">
            <a:avLst/>
          </a:prstGeom>
          <a:solidFill>
            <a:srgbClr val="573F99"/>
          </a:solidFill>
          <a:ln w="15875">
            <a:solidFill>
              <a:srgbClr val="573F99"/>
            </a:solidFill>
          </a:ln>
        </p:spPr>
        <p:txBody>
          <a:bodyPr rtlCol="0" anchor="ctr"/>
          <a:lstStyle/>
          <a:p>
            <a:pPr algn="ctr"/>
          </a:p>
        </p:txBody>
      </p:sp>
      <p:sp>
        <p:nvSpPr>
          <p:cNvPr id="25" name="TextBox 24"/>
          <p:cNvSpPr txBox="1"/>
          <p:nvPr/>
        </p:nvSpPr>
        <p:spPr>
          <a:xfrm>
            <a:off x="3493008" y="248716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Raqami’s Shariah Board</a:t>
            </a:r>
          </a:p>
        </p:txBody>
      </p:sp>
      <p:sp>
        <p:nvSpPr>
          <p:cNvPr id="26" name="Oval 25"/>
          <p:cNvSpPr/>
          <p:nvPr/>
        </p:nvSpPr>
        <p:spPr>
          <a:xfrm>
            <a:off x="5349926" y="2615184"/>
            <a:ext cx="192024" cy="192024"/>
          </a:xfrm>
          <a:prstGeom prst="ellipse">
            <a:avLst/>
          </a:prstGeom>
          <a:solidFill>
            <a:srgbClr val="FFFFFF"/>
          </a:solidFill>
          <a:ln w="15875">
            <a:solidFill>
              <a:srgbClr val="573F99"/>
            </a:solidFill>
          </a:ln>
        </p:spPr>
        <p:txBody>
          <a:bodyPr rtlCol="0" anchor="ctr"/>
          <a:lstStyle/>
          <a:p>
            <a:pPr algn="ctr"/>
          </a:p>
        </p:txBody>
      </p:sp>
      <p:sp>
        <p:nvSpPr>
          <p:cNvPr id="27" name="Freeform 26"/>
          <p:cNvSpPr/>
          <p:nvPr/>
        </p:nvSpPr>
        <p:spPr>
          <a:xfrm>
            <a:off x="5445938" y="2615184"/>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28" name="TextBox 27"/>
          <p:cNvSpPr txBox="1"/>
          <p:nvPr/>
        </p:nvSpPr>
        <p:spPr>
          <a:xfrm>
            <a:off x="5637962" y="248716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private adviser</a:t>
            </a:r>
          </a:p>
        </p:txBody>
      </p:sp>
      <p:sp>
        <p:nvSpPr>
          <p:cNvPr id="29" name="TextBox 28"/>
          <p:cNvSpPr txBox="1"/>
          <p:nvPr/>
        </p:nvSpPr>
        <p:spPr>
          <a:xfrm>
            <a:off x="7782916" y="2487168"/>
            <a:ext cx="1733474" cy="448056"/>
          </a:xfrm>
          <a:prstGeom prst="rect">
            <a:avLst/>
          </a:prstGeom>
          <a:noFill/>
        </p:spPr>
        <p:txBody>
          <a:bodyPr wrap="square" lIns="0" tIns="0" rIns="0" bIns="0" anchor="ctr">
            <a:spAutoFit/>
          </a:bodyPr>
          <a:lstStyle/>
          <a:p>
            <a:pPr>
              <a:lnSpc>
                <a:spcPct val="100000"/>
              </a:lnSpc>
            </a:pPr>
            <a:r>
              <a:rPr sz="1050" i="1">
                <a:solidFill>
                  <a:srgbClr val="0C1408"/>
                </a:solidFill>
                <a:latin typeface="Arial"/>
              </a:rPr>
              <a:t>not stated</a:t>
            </a:r>
          </a:p>
        </p:txBody>
      </p:sp>
      <p:sp>
        <p:nvSpPr>
          <p:cNvPr id="30" name="Oval 29"/>
          <p:cNvSpPr/>
          <p:nvPr/>
        </p:nvSpPr>
        <p:spPr>
          <a:xfrm>
            <a:off x="9639833" y="2615184"/>
            <a:ext cx="192024" cy="192024"/>
          </a:xfrm>
          <a:prstGeom prst="ellipse">
            <a:avLst/>
          </a:prstGeom>
          <a:solidFill>
            <a:srgbClr val="FFFFFF"/>
          </a:solidFill>
          <a:ln w="15875">
            <a:solidFill>
              <a:srgbClr val="573F99"/>
            </a:solidFill>
          </a:ln>
        </p:spPr>
        <p:txBody>
          <a:bodyPr rtlCol="0" anchor="ctr"/>
          <a:lstStyle/>
          <a:p>
            <a:pPr algn="ctr"/>
          </a:p>
        </p:txBody>
      </p:sp>
      <p:sp>
        <p:nvSpPr>
          <p:cNvPr id="31" name="TextBox 30"/>
          <p:cNvSpPr txBox="1"/>
          <p:nvPr/>
        </p:nvSpPr>
        <p:spPr>
          <a:xfrm>
            <a:off x="9927869" y="248716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none</a:t>
            </a:r>
          </a:p>
        </p:txBody>
      </p:sp>
      <p:cxnSp>
        <p:nvCxnSpPr>
          <p:cNvPr id="32" name="Connector 31"/>
          <p:cNvCxnSpPr/>
          <p:nvPr/>
        </p:nvCxnSpPr>
        <p:spPr>
          <a:xfrm>
            <a:off x="548640" y="2935224"/>
            <a:ext cx="11094415" cy="0"/>
          </a:xfrm>
          <a:prstGeom prst="line">
            <a:avLst/>
          </a:prstGeom>
          <a:ln w="6350">
            <a:solidFill>
              <a:srgbClr val="D1D5DB"/>
            </a:solidFill>
          </a:ln>
        </p:spPr>
      </p:cxnSp>
      <p:sp>
        <p:nvSpPr>
          <p:cNvPr id="33" name="TextBox 32"/>
          <p:cNvSpPr txBox="1"/>
          <p:nvPr/>
        </p:nvSpPr>
        <p:spPr>
          <a:xfrm>
            <a:off x="548640" y="2935224"/>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Same fee for every turn</a:t>
            </a:r>
          </a:p>
        </p:txBody>
      </p:sp>
      <p:sp>
        <p:nvSpPr>
          <p:cNvPr id="34" name="Oval 33"/>
          <p:cNvSpPr/>
          <p:nvPr/>
        </p:nvSpPr>
        <p:spPr>
          <a:xfrm>
            <a:off x="3204972" y="3063240"/>
            <a:ext cx="192024" cy="192024"/>
          </a:xfrm>
          <a:prstGeom prst="ellipse">
            <a:avLst/>
          </a:prstGeom>
          <a:solidFill>
            <a:srgbClr val="573F99"/>
          </a:solidFill>
          <a:ln w="15875">
            <a:solidFill>
              <a:srgbClr val="573F99"/>
            </a:solidFill>
          </a:ln>
        </p:spPr>
        <p:txBody>
          <a:bodyPr rtlCol="0" anchor="ctr"/>
          <a:lstStyle/>
          <a:p>
            <a:pPr algn="ctr"/>
          </a:p>
        </p:txBody>
      </p:sp>
      <p:sp>
        <p:nvSpPr>
          <p:cNvPr id="35" name="TextBox 34"/>
          <p:cNvSpPr txBox="1"/>
          <p:nvPr/>
        </p:nvSpPr>
        <p:spPr>
          <a:xfrm>
            <a:off x="3493008" y="293522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one flat fee</a:t>
            </a:r>
          </a:p>
        </p:txBody>
      </p:sp>
      <p:sp>
        <p:nvSpPr>
          <p:cNvPr id="36" name="Oval 35"/>
          <p:cNvSpPr/>
          <p:nvPr/>
        </p:nvSpPr>
        <p:spPr>
          <a:xfrm>
            <a:off x="5349926" y="3063240"/>
            <a:ext cx="192024" cy="192024"/>
          </a:xfrm>
          <a:prstGeom prst="ellipse">
            <a:avLst/>
          </a:prstGeom>
          <a:solidFill>
            <a:srgbClr val="FFFFFF"/>
          </a:solidFill>
          <a:ln w="15875">
            <a:solidFill>
              <a:srgbClr val="573F99"/>
            </a:solidFill>
          </a:ln>
        </p:spPr>
        <p:txBody>
          <a:bodyPr rtlCol="0" anchor="ctr"/>
          <a:lstStyle/>
          <a:p>
            <a:pPr algn="ctr"/>
          </a:p>
        </p:txBody>
      </p:sp>
      <p:sp>
        <p:nvSpPr>
          <p:cNvPr id="37" name="TextBox 36"/>
          <p:cNvSpPr txBox="1"/>
          <p:nvPr/>
        </p:nvSpPr>
        <p:spPr>
          <a:xfrm>
            <a:off x="5637962" y="293522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up to 21% a month</a:t>
            </a:r>
          </a:p>
        </p:txBody>
      </p:sp>
      <p:sp>
        <p:nvSpPr>
          <p:cNvPr id="38" name="TextBox 37"/>
          <p:cNvSpPr txBox="1"/>
          <p:nvPr/>
        </p:nvSpPr>
        <p:spPr>
          <a:xfrm>
            <a:off x="7782916" y="2935224"/>
            <a:ext cx="1733474" cy="448056"/>
          </a:xfrm>
          <a:prstGeom prst="rect">
            <a:avLst/>
          </a:prstGeom>
          <a:noFill/>
        </p:spPr>
        <p:txBody>
          <a:bodyPr wrap="square" lIns="0" tIns="0" rIns="0" bIns="0" anchor="ctr">
            <a:spAutoFit/>
          </a:bodyPr>
          <a:lstStyle/>
          <a:p>
            <a:pPr>
              <a:lnSpc>
                <a:spcPct val="100000"/>
              </a:lnSpc>
            </a:pPr>
            <a:r>
              <a:rPr sz="1050" i="1">
                <a:solidFill>
                  <a:srgbClr val="0C1408"/>
                </a:solidFill>
                <a:latin typeface="Arial"/>
              </a:rPr>
              <a:t>not published</a:t>
            </a:r>
          </a:p>
        </p:txBody>
      </p:sp>
      <p:sp>
        <p:nvSpPr>
          <p:cNvPr id="39" name="Oval 38"/>
          <p:cNvSpPr/>
          <p:nvPr/>
        </p:nvSpPr>
        <p:spPr>
          <a:xfrm>
            <a:off x="9639833" y="3063240"/>
            <a:ext cx="192024" cy="192024"/>
          </a:xfrm>
          <a:prstGeom prst="ellipse">
            <a:avLst/>
          </a:prstGeom>
          <a:solidFill>
            <a:srgbClr val="573F99"/>
          </a:solidFill>
          <a:ln w="15875">
            <a:solidFill>
              <a:srgbClr val="573F99"/>
            </a:solidFill>
          </a:ln>
        </p:spPr>
        <p:txBody>
          <a:bodyPr rtlCol="0" anchor="ctr"/>
          <a:lstStyle/>
          <a:p>
            <a:pPr algn="ctr"/>
          </a:p>
        </p:txBody>
      </p:sp>
      <p:sp>
        <p:nvSpPr>
          <p:cNvPr id="40" name="TextBox 39"/>
          <p:cNvSpPr txBox="1"/>
          <p:nvPr/>
        </p:nvSpPr>
        <p:spPr>
          <a:xfrm>
            <a:off x="9927869" y="293522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usually limited</a:t>
            </a:r>
          </a:p>
        </p:txBody>
      </p:sp>
      <p:cxnSp>
        <p:nvCxnSpPr>
          <p:cNvPr id="41" name="Connector 40"/>
          <p:cNvCxnSpPr/>
          <p:nvPr/>
        </p:nvCxnSpPr>
        <p:spPr>
          <a:xfrm>
            <a:off x="548640" y="3383280"/>
            <a:ext cx="11094415" cy="0"/>
          </a:xfrm>
          <a:prstGeom prst="line">
            <a:avLst/>
          </a:prstGeom>
          <a:ln w="6350">
            <a:solidFill>
              <a:srgbClr val="D1D5DB"/>
            </a:solidFill>
          </a:ln>
        </p:spPr>
      </p:cxnSp>
      <p:sp>
        <p:nvSpPr>
          <p:cNvPr id="42" name="TextBox 41"/>
          <p:cNvSpPr txBox="1"/>
          <p:nvPr/>
        </p:nvSpPr>
        <p:spPr>
          <a:xfrm>
            <a:off x="548640" y="3383280"/>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Paid out automatically</a:t>
            </a:r>
          </a:p>
        </p:txBody>
      </p:sp>
      <p:sp>
        <p:nvSpPr>
          <p:cNvPr id="43" name="Oval 42"/>
          <p:cNvSpPr/>
          <p:nvPr/>
        </p:nvSpPr>
        <p:spPr>
          <a:xfrm>
            <a:off x="3204972" y="3511296"/>
            <a:ext cx="192024" cy="192024"/>
          </a:xfrm>
          <a:prstGeom prst="ellipse">
            <a:avLst/>
          </a:prstGeom>
          <a:solidFill>
            <a:srgbClr val="573F99"/>
          </a:solidFill>
          <a:ln w="15875">
            <a:solidFill>
              <a:srgbClr val="573F99"/>
            </a:solidFill>
          </a:ln>
        </p:spPr>
        <p:txBody>
          <a:bodyPr rtlCol="0" anchor="ctr"/>
          <a:lstStyle/>
          <a:p>
            <a:pPr algn="ctr"/>
          </a:p>
        </p:txBody>
      </p:sp>
      <p:sp>
        <p:nvSpPr>
          <p:cNvPr id="44" name="TextBox 43"/>
          <p:cNvSpPr txBox="1"/>
          <p:nvPr/>
        </p:nvSpPr>
        <p:spPr>
          <a:xfrm>
            <a:off x="3493008" y="3383280"/>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the same day</a:t>
            </a:r>
          </a:p>
        </p:txBody>
      </p:sp>
      <p:sp>
        <p:nvSpPr>
          <p:cNvPr id="45" name="Oval 44"/>
          <p:cNvSpPr/>
          <p:nvPr/>
        </p:nvSpPr>
        <p:spPr>
          <a:xfrm>
            <a:off x="5349926" y="3511296"/>
            <a:ext cx="192024" cy="192024"/>
          </a:xfrm>
          <a:prstGeom prst="ellipse">
            <a:avLst/>
          </a:prstGeom>
          <a:solidFill>
            <a:srgbClr val="FFFFFF"/>
          </a:solidFill>
          <a:ln w="15875">
            <a:solidFill>
              <a:srgbClr val="573F99"/>
            </a:solidFill>
          </a:ln>
        </p:spPr>
        <p:txBody>
          <a:bodyPr rtlCol="0" anchor="ctr"/>
          <a:lstStyle/>
          <a:p>
            <a:pPr algn="ctr"/>
          </a:p>
        </p:txBody>
      </p:sp>
      <p:sp>
        <p:nvSpPr>
          <p:cNvPr id="46" name="Freeform 45"/>
          <p:cNvSpPr/>
          <p:nvPr/>
        </p:nvSpPr>
        <p:spPr>
          <a:xfrm>
            <a:off x="5445938" y="3511296"/>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47" name="TextBox 46"/>
          <p:cNvSpPr txBox="1"/>
          <p:nvPr/>
        </p:nvSpPr>
        <p:spPr>
          <a:xfrm>
            <a:off x="5637962" y="3383280"/>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11th to 18th</a:t>
            </a:r>
          </a:p>
        </p:txBody>
      </p:sp>
      <p:sp>
        <p:nvSpPr>
          <p:cNvPr id="48" name="Oval 47"/>
          <p:cNvSpPr/>
          <p:nvPr/>
        </p:nvSpPr>
        <p:spPr>
          <a:xfrm>
            <a:off x="7494880" y="3511296"/>
            <a:ext cx="192024" cy="192024"/>
          </a:xfrm>
          <a:prstGeom prst="ellipse">
            <a:avLst/>
          </a:prstGeom>
          <a:solidFill>
            <a:srgbClr val="FFFFFF"/>
          </a:solidFill>
          <a:ln w="15875">
            <a:solidFill>
              <a:srgbClr val="573F99"/>
            </a:solidFill>
          </a:ln>
        </p:spPr>
        <p:txBody>
          <a:bodyPr rtlCol="0" anchor="ctr"/>
          <a:lstStyle/>
          <a:p>
            <a:pPr algn="ctr"/>
          </a:p>
        </p:txBody>
      </p:sp>
      <p:sp>
        <p:nvSpPr>
          <p:cNvPr id="49" name="TextBox 48"/>
          <p:cNvSpPr txBox="1"/>
          <p:nvPr/>
        </p:nvSpPr>
        <p:spPr>
          <a:xfrm>
            <a:off x="7782916" y="3383280"/>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by hand</a:t>
            </a:r>
          </a:p>
        </p:txBody>
      </p:sp>
      <p:sp>
        <p:nvSpPr>
          <p:cNvPr id="50" name="Oval 49"/>
          <p:cNvSpPr/>
          <p:nvPr/>
        </p:nvSpPr>
        <p:spPr>
          <a:xfrm>
            <a:off x="9639833" y="3511296"/>
            <a:ext cx="192024" cy="192024"/>
          </a:xfrm>
          <a:prstGeom prst="ellipse">
            <a:avLst/>
          </a:prstGeom>
          <a:solidFill>
            <a:srgbClr val="FFFFFF"/>
          </a:solidFill>
          <a:ln w="15875">
            <a:solidFill>
              <a:srgbClr val="573F99"/>
            </a:solidFill>
          </a:ln>
        </p:spPr>
        <p:txBody>
          <a:bodyPr rtlCol="0" anchor="ctr"/>
          <a:lstStyle/>
          <a:p>
            <a:pPr algn="ctr"/>
          </a:p>
        </p:txBody>
      </p:sp>
      <p:sp>
        <p:nvSpPr>
          <p:cNvPr id="51" name="TextBox 50"/>
          <p:cNvSpPr txBox="1"/>
          <p:nvPr/>
        </p:nvSpPr>
        <p:spPr>
          <a:xfrm>
            <a:off x="9927869" y="3383280"/>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by hand</a:t>
            </a:r>
          </a:p>
        </p:txBody>
      </p:sp>
      <p:cxnSp>
        <p:nvCxnSpPr>
          <p:cNvPr id="52" name="Connector 51"/>
          <p:cNvCxnSpPr/>
          <p:nvPr/>
        </p:nvCxnSpPr>
        <p:spPr>
          <a:xfrm>
            <a:off x="548640" y="3831336"/>
            <a:ext cx="11094415" cy="0"/>
          </a:xfrm>
          <a:prstGeom prst="line">
            <a:avLst/>
          </a:prstGeom>
          <a:ln w="6350">
            <a:solidFill>
              <a:srgbClr val="D1D5DB"/>
            </a:solidFill>
          </a:ln>
        </p:spPr>
      </p:cxnSp>
      <p:sp>
        <p:nvSpPr>
          <p:cNvPr id="53" name="TextBox 52"/>
          <p:cNvSpPr txBox="1"/>
          <p:nvPr/>
        </p:nvSpPr>
        <p:spPr>
          <a:xfrm>
            <a:off x="548640" y="3831336"/>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Members checked</a:t>
            </a:r>
          </a:p>
        </p:txBody>
      </p:sp>
      <p:sp>
        <p:nvSpPr>
          <p:cNvPr id="54" name="Oval 53"/>
          <p:cNvSpPr/>
          <p:nvPr/>
        </p:nvSpPr>
        <p:spPr>
          <a:xfrm>
            <a:off x="3204972" y="3959352"/>
            <a:ext cx="192024" cy="192024"/>
          </a:xfrm>
          <a:prstGeom prst="ellipse">
            <a:avLst/>
          </a:prstGeom>
          <a:solidFill>
            <a:srgbClr val="573F99"/>
          </a:solidFill>
          <a:ln w="15875">
            <a:solidFill>
              <a:srgbClr val="573F99"/>
            </a:solidFill>
          </a:ln>
        </p:spPr>
        <p:txBody>
          <a:bodyPr rtlCol="0" anchor="ctr"/>
          <a:lstStyle/>
          <a:p>
            <a:pPr algn="ctr"/>
          </a:p>
        </p:txBody>
      </p:sp>
      <p:sp>
        <p:nvSpPr>
          <p:cNvPr id="55" name="TextBox 54"/>
          <p:cNvSpPr txBox="1"/>
          <p:nvPr/>
        </p:nvSpPr>
        <p:spPr>
          <a:xfrm>
            <a:off x="3493008" y="3831336"/>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identity, income, score</a:t>
            </a:r>
          </a:p>
        </p:txBody>
      </p:sp>
      <p:sp>
        <p:nvSpPr>
          <p:cNvPr id="56" name="Oval 55"/>
          <p:cNvSpPr/>
          <p:nvPr/>
        </p:nvSpPr>
        <p:spPr>
          <a:xfrm>
            <a:off x="5349926" y="3959352"/>
            <a:ext cx="192024" cy="192024"/>
          </a:xfrm>
          <a:prstGeom prst="ellipse">
            <a:avLst/>
          </a:prstGeom>
          <a:solidFill>
            <a:srgbClr val="FFFFFF"/>
          </a:solidFill>
          <a:ln w="15875">
            <a:solidFill>
              <a:srgbClr val="573F99"/>
            </a:solidFill>
          </a:ln>
        </p:spPr>
        <p:txBody>
          <a:bodyPr rtlCol="0" anchor="ctr"/>
          <a:lstStyle/>
          <a:p>
            <a:pPr algn="ctr"/>
          </a:p>
        </p:txBody>
      </p:sp>
      <p:sp>
        <p:nvSpPr>
          <p:cNvPr id="57" name="Freeform 56"/>
          <p:cNvSpPr/>
          <p:nvPr/>
        </p:nvSpPr>
        <p:spPr>
          <a:xfrm>
            <a:off x="5445938" y="3959352"/>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58" name="TextBox 57"/>
          <p:cNvSpPr txBox="1"/>
          <p:nvPr/>
        </p:nvSpPr>
        <p:spPr>
          <a:xfrm>
            <a:off x="5637962" y="3831336"/>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device, bureau</a:t>
            </a:r>
          </a:p>
        </p:txBody>
      </p:sp>
      <p:sp>
        <p:nvSpPr>
          <p:cNvPr id="59" name="Oval 58"/>
          <p:cNvSpPr/>
          <p:nvPr/>
        </p:nvSpPr>
        <p:spPr>
          <a:xfrm>
            <a:off x="7494880" y="3959352"/>
            <a:ext cx="192024" cy="192024"/>
          </a:xfrm>
          <a:prstGeom prst="ellipse">
            <a:avLst/>
          </a:prstGeom>
          <a:solidFill>
            <a:srgbClr val="FFFFFF"/>
          </a:solidFill>
          <a:ln w="15875">
            <a:solidFill>
              <a:srgbClr val="573F99"/>
            </a:solidFill>
          </a:ln>
        </p:spPr>
        <p:txBody>
          <a:bodyPr rtlCol="0" anchor="ctr"/>
          <a:lstStyle/>
          <a:p>
            <a:pPr algn="ctr"/>
          </a:p>
        </p:txBody>
      </p:sp>
      <p:sp>
        <p:nvSpPr>
          <p:cNvPr id="60" name="TextBox 59"/>
          <p:cNvSpPr txBox="1"/>
          <p:nvPr/>
        </p:nvSpPr>
        <p:spPr>
          <a:xfrm>
            <a:off x="7782916" y="3831336"/>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phone contacts</a:t>
            </a:r>
          </a:p>
        </p:txBody>
      </p:sp>
      <p:sp>
        <p:nvSpPr>
          <p:cNvPr id="61" name="Oval 60"/>
          <p:cNvSpPr/>
          <p:nvPr/>
        </p:nvSpPr>
        <p:spPr>
          <a:xfrm>
            <a:off x="9639833" y="3959352"/>
            <a:ext cx="192024" cy="192024"/>
          </a:xfrm>
          <a:prstGeom prst="ellipse">
            <a:avLst/>
          </a:prstGeom>
          <a:solidFill>
            <a:srgbClr val="FFFFFF"/>
          </a:solidFill>
          <a:ln w="15875">
            <a:solidFill>
              <a:srgbClr val="573F99"/>
            </a:solidFill>
          </a:ln>
        </p:spPr>
        <p:txBody>
          <a:bodyPr rtlCol="0" anchor="ctr"/>
          <a:lstStyle/>
          <a:p>
            <a:pPr algn="ctr"/>
          </a:p>
        </p:txBody>
      </p:sp>
      <p:sp>
        <p:nvSpPr>
          <p:cNvPr id="62" name="Freeform 61"/>
          <p:cNvSpPr/>
          <p:nvPr/>
        </p:nvSpPr>
        <p:spPr>
          <a:xfrm>
            <a:off x="9735845" y="3959352"/>
            <a:ext cx="96012" cy="192024"/>
          </a:xfrm>
          <a:custGeom>
            <a:avLst/>
            <a:gdLst/>
            <a:ahLst/>
            <a:cxnLst/>
            <a:rect l="l" t="t" r="r" b="b"/>
            <a:pathLst>
              <a:path w="96012" h="192024">
                <a:moveTo>
                  <a:pt x="0" y="0"/>
                </a:moveTo>
                <a:lnTo>
                  <a:pt x="10036" y="526"/>
                </a:lnTo>
                <a:lnTo>
                  <a:pt x="19962" y="2098"/>
                </a:lnTo>
                <a:lnTo>
                  <a:pt x="29670" y="4699"/>
                </a:lnTo>
                <a:lnTo>
                  <a:pt x="39052" y="8301"/>
                </a:lnTo>
                <a:lnTo>
                  <a:pt x="48006" y="12863"/>
                </a:lnTo>
                <a:lnTo>
                  <a:pt x="56435" y="18337"/>
                </a:lnTo>
                <a:lnTo>
                  <a:pt x="64245" y="24661"/>
                </a:lnTo>
                <a:lnTo>
                  <a:pt x="71351" y="31767"/>
                </a:lnTo>
                <a:lnTo>
                  <a:pt x="77676" y="39578"/>
                </a:lnTo>
                <a:lnTo>
                  <a:pt x="83149" y="48006"/>
                </a:lnTo>
                <a:lnTo>
                  <a:pt x="87712" y="56960"/>
                </a:lnTo>
                <a:lnTo>
                  <a:pt x="91313" y="66343"/>
                </a:lnTo>
                <a:lnTo>
                  <a:pt x="93914" y="76050"/>
                </a:lnTo>
                <a:lnTo>
                  <a:pt x="95486" y="85976"/>
                </a:lnTo>
                <a:lnTo>
                  <a:pt x="96012" y="96012"/>
                </a:lnTo>
                <a:lnTo>
                  <a:pt x="95486" y="106048"/>
                </a:lnTo>
                <a:lnTo>
                  <a:pt x="93914" y="115974"/>
                </a:lnTo>
                <a:lnTo>
                  <a:pt x="91313" y="125681"/>
                </a:lnTo>
                <a:lnTo>
                  <a:pt x="87712" y="135064"/>
                </a:lnTo>
                <a:lnTo>
                  <a:pt x="83149" y="144018"/>
                </a:lnTo>
                <a:lnTo>
                  <a:pt x="77676" y="152446"/>
                </a:lnTo>
                <a:lnTo>
                  <a:pt x="71351" y="160257"/>
                </a:lnTo>
                <a:lnTo>
                  <a:pt x="64245" y="167363"/>
                </a:lnTo>
                <a:lnTo>
                  <a:pt x="56435" y="173687"/>
                </a:lnTo>
                <a:lnTo>
                  <a:pt x="48006" y="179161"/>
                </a:lnTo>
                <a:lnTo>
                  <a:pt x="39052" y="183723"/>
                </a:lnTo>
                <a:lnTo>
                  <a:pt x="29670"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63" name="TextBox 62"/>
          <p:cNvSpPr txBox="1"/>
          <p:nvPr/>
        </p:nvSpPr>
        <p:spPr>
          <a:xfrm>
            <a:off x="9927869" y="3831336"/>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people known</a:t>
            </a:r>
          </a:p>
        </p:txBody>
      </p:sp>
      <p:cxnSp>
        <p:nvCxnSpPr>
          <p:cNvPr id="64" name="Connector 63"/>
          <p:cNvCxnSpPr/>
          <p:nvPr/>
        </p:nvCxnSpPr>
        <p:spPr>
          <a:xfrm>
            <a:off x="548640" y="4279392"/>
            <a:ext cx="11094415" cy="0"/>
          </a:xfrm>
          <a:prstGeom prst="line">
            <a:avLst/>
          </a:prstGeom>
          <a:ln w="6350">
            <a:solidFill>
              <a:srgbClr val="D1D5DB"/>
            </a:solidFill>
          </a:ln>
        </p:spPr>
      </p:cxnSp>
      <p:sp>
        <p:nvSpPr>
          <p:cNvPr id="65" name="TextBox 64"/>
          <p:cNvSpPr txBox="1"/>
          <p:nvPr/>
        </p:nvSpPr>
        <p:spPr>
          <a:xfrm>
            <a:off x="548640" y="4279392"/>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Defaults protected</a:t>
            </a:r>
          </a:p>
        </p:txBody>
      </p:sp>
      <p:sp>
        <p:nvSpPr>
          <p:cNvPr id="66" name="Oval 65"/>
          <p:cNvSpPr/>
          <p:nvPr/>
        </p:nvSpPr>
        <p:spPr>
          <a:xfrm>
            <a:off x="3204972" y="4407408"/>
            <a:ext cx="192024" cy="192024"/>
          </a:xfrm>
          <a:prstGeom prst="ellipse">
            <a:avLst/>
          </a:prstGeom>
          <a:solidFill>
            <a:srgbClr val="573F99"/>
          </a:solidFill>
          <a:ln w="15875">
            <a:solidFill>
              <a:srgbClr val="573F99"/>
            </a:solidFill>
          </a:ln>
        </p:spPr>
        <p:txBody>
          <a:bodyPr rtlCol="0" anchor="ctr"/>
          <a:lstStyle/>
          <a:p>
            <a:pPr algn="ctr"/>
          </a:p>
        </p:txBody>
      </p:sp>
      <p:sp>
        <p:nvSpPr>
          <p:cNvPr id="67" name="TextBox 66"/>
          <p:cNvSpPr txBox="1"/>
          <p:nvPr/>
        </p:nvSpPr>
        <p:spPr>
          <a:xfrm>
            <a:off x="3493008" y="427939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takaful</a:t>
            </a:r>
          </a:p>
        </p:txBody>
      </p:sp>
      <p:sp>
        <p:nvSpPr>
          <p:cNvPr id="68" name="Oval 67"/>
          <p:cNvSpPr/>
          <p:nvPr/>
        </p:nvSpPr>
        <p:spPr>
          <a:xfrm>
            <a:off x="5349926" y="4407408"/>
            <a:ext cx="192024" cy="192024"/>
          </a:xfrm>
          <a:prstGeom prst="ellipse">
            <a:avLst/>
          </a:prstGeom>
          <a:solidFill>
            <a:srgbClr val="FFFFFF"/>
          </a:solidFill>
          <a:ln w="15875">
            <a:solidFill>
              <a:srgbClr val="573F99"/>
            </a:solidFill>
          </a:ln>
        </p:spPr>
        <p:txBody>
          <a:bodyPr rtlCol="0" anchor="ctr"/>
          <a:lstStyle/>
          <a:p>
            <a:pPr algn="ctr"/>
          </a:p>
        </p:txBody>
      </p:sp>
      <p:sp>
        <p:nvSpPr>
          <p:cNvPr id="69" name="Freeform 68"/>
          <p:cNvSpPr/>
          <p:nvPr/>
        </p:nvSpPr>
        <p:spPr>
          <a:xfrm>
            <a:off x="5445938" y="4407408"/>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70" name="TextBox 69"/>
          <p:cNvSpPr txBox="1"/>
          <p:nvPr/>
        </p:nvSpPr>
        <p:spPr>
          <a:xfrm>
            <a:off x="5637962" y="427939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own balance sheet</a:t>
            </a:r>
          </a:p>
        </p:txBody>
      </p:sp>
      <p:sp>
        <p:nvSpPr>
          <p:cNvPr id="71" name="Oval 70"/>
          <p:cNvSpPr/>
          <p:nvPr/>
        </p:nvSpPr>
        <p:spPr>
          <a:xfrm>
            <a:off x="7494880" y="4407408"/>
            <a:ext cx="192024" cy="192024"/>
          </a:xfrm>
          <a:prstGeom prst="ellipse">
            <a:avLst/>
          </a:prstGeom>
          <a:solidFill>
            <a:srgbClr val="FFFFFF"/>
          </a:solidFill>
          <a:ln w="15875">
            <a:solidFill>
              <a:srgbClr val="573F99"/>
            </a:solidFill>
          </a:ln>
        </p:spPr>
        <p:txBody>
          <a:bodyPr rtlCol="0" anchor="ctr"/>
          <a:lstStyle/>
          <a:p>
            <a:pPr algn="ctr"/>
          </a:p>
        </p:txBody>
      </p:sp>
      <p:sp>
        <p:nvSpPr>
          <p:cNvPr id="72" name="TextBox 71"/>
          <p:cNvSpPr txBox="1"/>
          <p:nvPr/>
        </p:nvSpPr>
        <p:spPr>
          <a:xfrm>
            <a:off x="7782916" y="427939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none</a:t>
            </a:r>
          </a:p>
        </p:txBody>
      </p:sp>
      <p:sp>
        <p:nvSpPr>
          <p:cNvPr id="73" name="Oval 72"/>
          <p:cNvSpPr/>
          <p:nvPr/>
        </p:nvSpPr>
        <p:spPr>
          <a:xfrm>
            <a:off x="9639833" y="4407408"/>
            <a:ext cx="192024" cy="192024"/>
          </a:xfrm>
          <a:prstGeom prst="ellipse">
            <a:avLst/>
          </a:prstGeom>
          <a:solidFill>
            <a:srgbClr val="FFFFFF"/>
          </a:solidFill>
          <a:ln w="15875">
            <a:solidFill>
              <a:srgbClr val="573F99"/>
            </a:solidFill>
          </a:ln>
        </p:spPr>
        <p:txBody>
          <a:bodyPr rtlCol="0" anchor="ctr"/>
          <a:lstStyle/>
          <a:p>
            <a:pPr algn="ctr"/>
          </a:p>
        </p:txBody>
      </p:sp>
      <p:sp>
        <p:nvSpPr>
          <p:cNvPr id="74" name="TextBox 73"/>
          <p:cNvSpPr txBox="1"/>
          <p:nvPr/>
        </p:nvSpPr>
        <p:spPr>
          <a:xfrm>
            <a:off x="9927869" y="427939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organiser’s pocket</a:t>
            </a:r>
          </a:p>
        </p:txBody>
      </p:sp>
      <p:cxnSp>
        <p:nvCxnSpPr>
          <p:cNvPr id="75" name="Connector 74"/>
          <p:cNvCxnSpPr/>
          <p:nvPr/>
        </p:nvCxnSpPr>
        <p:spPr>
          <a:xfrm>
            <a:off x="548640" y="4727448"/>
            <a:ext cx="11094415" cy="0"/>
          </a:xfrm>
          <a:prstGeom prst="line">
            <a:avLst/>
          </a:prstGeom>
          <a:ln w="6350">
            <a:solidFill>
              <a:srgbClr val="D1D5DB"/>
            </a:solidFill>
          </a:ln>
        </p:spPr>
      </p:cxnSp>
      <p:sp>
        <p:nvSpPr>
          <p:cNvPr id="76" name="TextBox 75"/>
          <p:cNvSpPr txBox="1"/>
          <p:nvPr/>
        </p:nvSpPr>
        <p:spPr>
          <a:xfrm>
            <a:off x="548640" y="4727448"/>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Credit record</a:t>
            </a:r>
          </a:p>
        </p:txBody>
      </p:sp>
      <p:sp>
        <p:nvSpPr>
          <p:cNvPr id="77" name="Oval 76"/>
          <p:cNvSpPr/>
          <p:nvPr/>
        </p:nvSpPr>
        <p:spPr>
          <a:xfrm>
            <a:off x="3204972" y="4855464"/>
            <a:ext cx="192024" cy="192024"/>
          </a:xfrm>
          <a:prstGeom prst="ellipse">
            <a:avLst/>
          </a:prstGeom>
          <a:solidFill>
            <a:srgbClr val="573F99"/>
          </a:solidFill>
          <a:ln w="15875">
            <a:solidFill>
              <a:srgbClr val="573F99"/>
            </a:solidFill>
          </a:ln>
        </p:spPr>
        <p:txBody>
          <a:bodyPr rtlCol="0" anchor="ctr"/>
          <a:lstStyle/>
          <a:p>
            <a:pPr algn="ctr"/>
          </a:p>
        </p:txBody>
      </p:sp>
      <p:sp>
        <p:nvSpPr>
          <p:cNvPr id="78" name="TextBox 77"/>
          <p:cNvSpPr txBox="1"/>
          <p:nvPr/>
        </p:nvSpPr>
        <p:spPr>
          <a:xfrm>
            <a:off x="3493008" y="472744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every payment</a:t>
            </a:r>
          </a:p>
        </p:txBody>
      </p:sp>
      <p:sp>
        <p:nvSpPr>
          <p:cNvPr id="79" name="Oval 78"/>
          <p:cNvSpPr/>
          <p:nvPr/>
        </p:nvSpPr>
        <p:spPr>
          <a:xfrm>
            <a:off x="5349926" y="4855464"/>
            <a:ext cx="192024" cy="192024"/>
          </a:xfrm>
          <a:prstGeom prst="ellipse">
            <a:avLst/>
          </a:prstGeom>
          <a:solidFill>
            <a:srgbClr val="FFFFFF"/>
          </a:solidFill>
          <a:ln w="15875">
            <a:solidFill>
              <a:srgbClr val="573F99"/>
            </a:solidFill>
          </a:ln>
        </p:spPr>
        <p:txBody>
          <a:bodyPr rtlCol="0" anchor="ctr"/>
          <a:lstStyle/>
          <a:p>
            <a:pPr algn="ctr"/>
          </a:p>
        </p:txBody>
      </p:sp>
      <p:sp>
        <p:nvSpPr>
          <p:cNvPr id="80" name="Freeform 79"/>
          <p:cNvSpPr/>
          <p:nvPr/>
        </p:nvSpPr>
        <p:spPr>
          <a:xfrm>
            <a:off x="5445938" y="4855464"/>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81" name="TextBox 80"/>
          <p:cNvSpPr txBox="1"/>
          <p:nvPr/>
        </p:nvSpPr>
        <p:spPr>
          <a:xfrm>
            <a:off x="5637962" y="472744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defaulters only</a:t>
            </a:r>
          </a:p>
        </p:txBody>
      </p:sp>
      <p:sp>
        <p:nvSpPr>
          <p:cNvPr id="82" name="Oval 81"/>
          <p:cNvSpPr/>
          <p:nvPr/>
        </p:nvSpPr>
        <p:spPr>
          <a:xfrm>
            <a:off x="7494880" y="4855464"/>
            <a:ext cx="192024" cy="192024"/>
          </a:xfrm>
          <a:prstGeom prst="ellipse">
            <a:avLst/>
          </a:prstGeom>
          <a:solidFill>
            <a:srgbClr val="FFFFFF"/>
          </a:solidFill>
          <a:ln w="15875">
            <a:solidFill>
              <a:srgbClr val="573F99"/>
            </a:solidFill>
          </a:ln>
        </p:spPr>
        <p:txBody>
          <a:bodyPr rtlCol="0" anchor="ctr"/>
          <a:lstStyle/>
          <a:p>
            <a:pPr algn="ctr"/>
          </a:p>
        </p:txBody>
      </p:sp>
      <p:sp>
        <p:nvSpPr>
          <p:cNvPr id="83" name="TextBox 82"/>
          <p:cNvSpPr txBox="1"/>
          <p:nvPr/>
        </p:nvSpPr>
        <p:spPr>
          <a:xfrm>
            <a:off x="7782916" y="472744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none</a:t>
            </a:r>
          </a:p>
        </p:txBody>
      </p:sp>
      <p:sp>
        <p:nvSpPr>
          <p:cNvPr id="84" name="Oval 83"/>
          <p:cNvSpPr/>
          <p:nvPr/>
        </p:nvSpPr>
        <p:spPr>
          <a:xfrm>
            <a:off x="9639833" y="4855464"/>
            <a:ext cx="192024" cy="192024"/>
          </a:xfrm>
          <a:prstGeom prst="ellipse">
            <a:avLst/>
          </a:prstGeom>
          <a:solidFill>
            <a:srgbClr val="FFFFFF"/>
          </a:solidFill>
          <a:ln w="15875">
            <a:solidFill>
              <a:srgbClr val="573F99"/>
            </a:solidFill>
          </a:ln>
        </p:spPr>
        <p:txBody>
          <a:bodyPr rtlCol="0" anchor="ctr"/>
          <a:lstStyle/>
          <a:p>
            <a:pPr algn="ctr"/>
          </a:p>
        </p:txBody>
      </p:sp>
      <p:sp>
        <p:nvSpPr>
          <p:cNvPr id="85" name="TextBox 84"/>
          <p:cNvSpPr txBox="1"/>
          <p:nvPr/>
        </p:nvSpPr>
        <p:spPr>
          <a:xfrm>
            <a:off x="9927869" y="472744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none</a:t>
            </a:r>
          </a:p>
        </p:txBody>
      </p:sp>
      <p:cxnSp>
        <p:nvCxnSpPr>
          <p:cNvPr id="86" name="Connector 85"/>
          <p:cNvCxnSpPr/>
          <p:nvPr/>
        </p:nvCxnSpPr>
        <p:spPr>
          <a:xfrm>
            <a:off x="548640" y="5175504"/>
            <a:ext cx="11094415" cy="0"/>
          </a:xfrm>
          <a:prstGeom prst="line">
            <a:avLst/>
          </a:prstGeom>
          <a:ln w="6350">
            <a:solidFill>
              <a:srgbClr val="D1D5DB"/>
            </a:solidFill>
          </a:ln>
        </p:spPr>
      </p:cxnSp>
      <p:sp>
        <p:nvSpPr>
          <p:cNvPr id="87" name="TextBox 86"/>
          <p:cNvSpPr txBox="1"/>
          <p:nvPr/>
        </p:nvSpPr>
        <p:spPr>
          <a:xfrm>
            <a:off x="548640" y="5175504"/>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Reach today</a:t>
            </a:r>
          </a:p>
        </p:txBody>
      </p:sp>
      <p:sp>
        <p:nvSpPr>
          <p:cNvPr id="88" name="Oval 87"/>
          <p:cNvSpPr/>
          <p:nvPr/>
        </p:nvSpPr>
        <p:spPr>
          <a:xfrm>
            <a:off x="3204972" y="5303520"/>
            <a:ext cx="192024" cy="192024"/>
          </a:xfrm>
          <a:prstGeom prst="ellipse">
            <a:avLst/>
          </a:prstGeom>
          <a:solidFill>
            <a:srgbClr val="FFFFFF"/>
          </a:solidFill>
          <a:ln w="15875">
            <a:solidFill>
              <a:srgbClr val="573F99"/>
            </a:solidFill>
          </a:ln>
        </p:spPr>
        <p:txBody>
          <a:bodyPr rtlCol="0" anchor="ctr"/>
          <a:lstStyle/>
          <a:p>
            <a:pPr algn="ctr"/>
          </a:p>
        </p:txBody>
      </p:sp>
      <p:sp>
        <p:nvSpPr>
          <p:cNvPr id="89" name="TextBox 88"/>
          <p:cNvSpPr txBox="1"/>
          <p:nvPr/>
        </p:nvSpPr>
        <p:spPr>
          <a:xfrm>
            <a:off x="3493008" y="517550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new</a:t>
            </a:r>
          </a:p>
        </p:txBody>
      </p:sp>
      <p:sp>
        <p:nvSpPr>
          <p:cNvPr id="90" name="Oval 89"/>
          <p:cNvSpPr/>
          <p:nvPr/>
        </p:nvSpPr>
        <p:spPr>
          <a:xfrm>
            <a:off x="5349926" y="5303520"/>
            <a:ext cx="192024" cy="192024"/>
          </a:xfrm>
          <a:prstGeom prst="ellipse">
            <a:avLst/>
          </a:prstGeom>
          <a:solidFill>
            <a:srgbClr val="FFFFFF"/>
          </a:solidFill>
          <a:ln w="15875">
            <a:solidFill>
              <a:srgbClr val="573F99"/>
            </a:solidFill>
          </a:ln>
        </p:spPr>
        <p:txBody>
          <a:bodyPr rtlCol="0" anchor="ctr"/>
          <a:lstStyle/>
          <a:p>
            <a:pPr algn="ctr"/>
          </a:p>
        </p:txBody>
      </p:sp>
      <p:sp>
        <p:nvSpPr>
          <p:cNvPr id="91" name="Freeform 90"/>
          <p:cNvSpPr/>
          <p:nvPr/>
        </p:nvSpPr>
        <p:spPr>
          <a:xfrm>
            <a:off x="5445938" y="5303520"/>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92" name="TextBox 91"/>
          <p:cNvSpPr txBox="1"/>
          <p:nvPr/>
        </p:nvSpPr>
        <p:spPr>
          <a:xfrm>
            <a:off x="5637962" y="517550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600,000+ sign ups</a:t>
            </a:r>
          </a:p>
        </p:txBody>
      </p:sp>
      <p:sp>
        <p:nvSpPr>
          <p:cNvPr id="93" name="Oval 92"/>
          <p:cNvSpPr/>
          <p:nvPr/>
        </p:nvSpPr>
        <p:spPr>
          <a:xfrm>
            <a:off x="7494880" y="5303520"/>
            <a:ext cx="192024" cy="192024"/>
          </a:xfrm>
          <a:prstGeom prst="ellipse">
            <a:avLst/>
          </a:prstGeom>
          <a:solidFill>
            <a:srgbClr val="573F99"/>
          </a:solidFill>
          <a:ln w="15875">
            <a:solidFill>
              <a:srgbClr val="573F99"/>
            </a:solidFill>
          </a:ln>
        </p:spPr>
        <p:txBody>
          <a:bodyPr rtlCol="0" anchor="ctr"/>
          <a:lstStyle/>
          <a:p>
            <a:pPr algn="ctr"/>
          </a:p>
        </p:txBody>
      </p:sp>
      <p:sp>
        <p:nvSpPr>
          <p:cNvPr id="94" name="TextBox 93"/>
          <p:cNvSpPr txBox="1"/>
          <p:nvPr/>
        </p:nvSpPr>
        <p:spPr>
          <a:xfrm>
            <a:off x="7782916" y="517550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60 million registered accesible</a:t>
            </a:r>
          </a:p>
        </p:txBody>
      </p:sp>
      <p:sp>
        <p:nvSpPr>
          <p:cNvPr id="95" name="Oval 94"/>
          <p:cNvSpPr/>
          <p:nvPr/>
        </p:nvSpPr>
        <p:spPr>
          <a:xfrm>
            <a:off x="9639833" y="5303520"/>
            <a:ext cx="192024" cy="192024"/>
          </a:xfrm>
          <a:prstGeom prst="ellipse">
            <a:avLst/>
          </a:prstGeom>
          <a:solidFill>
            <a:srgbClr val="573F99"/>
          </a:solidFill>
          <a:ln w="15875">
            <a:solidFill>
              <a:srgbClr val="573F99"/>
            </a:solidFill>
          </a:ln>
        </p:spPr>
        <p:txBody>
          <a:bodyPr rtlCol="0" anchor="ctr"/>
          <a:lstStyle/>
          <a:p>
            <a:pPr algn="ctr"/>
          </a:p>
        </p:txBody>
      </p:sp>
      <p:sp>
        <p:nvSpPr>
          <p:cNvPr id="96" name="TextBox 95"/>
          <p:cNvSpPr txBox="1"/>
          <p:nvPr/>
        </p:nvSpPr>
        <p:spPr>
          <a:xfrm>
            <a:off x="9927869" y="517550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4 in 10 Pakistanis</a:t>
            </a:r>
          </a:p>
        </p:txBody>
      </p:sp>
      <p:cxnSp>
        <p:nvCxnSpPr>
          <p:cNvPr id="97" name="Connector 96"/>
          <p:cNvCxnSpPr/>
          <p:nvPr/>
        </p:nvCxnSpPr>
        <p:spPr>
          <a:xfrm>
            <a:off x="548640" y="5623560"/>
            <a:ext cx="11094415" cy="0"/>
          </a:xfrm>
          <a:prstGeom prst="line">
            <a:avLst/>
          </a:prstGeom>
          <a:ln w="6350">
            <a:solidFill>
              <a:srgbClr val="D1D5DB"/>
            </a:solidFill>
          </a:ln>
        </p:spPr>
      </p:cxnSp>
      <p:sp>
        <p:nvSpPr>
          <p:cNvPr id="98" name="Oval 97"/>
          <p:cNvSpPr/>
          <p:nvPr/>
        </p:nvSpPr>
        <p:spPr>
          <a:xfrm>
            <a:off x="562356" y="5774436"/>
            <a:ext cx="155448" cy="155448"/>
          </a:xfrm>
          <a:prstGeom prst="ellipse">
            <a:avLst/>
          </a:prstGeom>
          <a:solidFill>
            <a:srgbClr val="573F99"/>
          </a:solidFill>
          <a:ln w="15875">
            <a:solidFill>
              <a:srgbClr val="573F99"/>
            </a:solidFill>
          </a:ln>
        </p:spPr>
        <p:txBody>
          <a:bodyPr rtlCol="0" anchor="ctr"/>
          <a:lstStyle/>
          <a:p>
            <a:pPr algn="ctr"/>
          </a:p>
        </p:txBody>
      </p:sp>
      <p:sp>
        <p:nvSpPr>
          <p:cNvPr id="99" name="TextBox 98"/>
          <p:cNvSpPr txBox="1"/>
          <p:nvPr/>
        </p:nvSpPr>
        <p:spPr>
          <a:xfrm>
            <a:off x="795528" y="5733288"/>
            <a:ext cx="731520" cy="237744"/>
          </a:xfrm>
          <a:prstGeom prst="rect">
            <a:avLst/>
          </a:prstGeom>
          <a:noFill/>
        </p:spPr>
        <p:txBody>
          <a:bodyPr wrap="square" lIns="0" tIns="0" rIns="0" bIns="0">
            <a:spAutoFit/>
          </a:bodyPr>
          <a:lstStyle/>
          <a:p>
            <a:pPr>
              <a:lnSpc>
                <a:spcPct val="105000"/>
              </a:lnSpc>
            </a:pPr>
            <a:r>
              <a:rPr sz="1000">
                <a:solidFill>
                  <a:srgbClr val="0C1408"/>
                </a:solidFill>
                <a:latin typeface="Arial"/>
              </a:rPr>
              <a:t>yes</a:t>
            </a:r>
          </a:p>
        </p:txBody>
      </p:sp>
      <p:sp>
        <p:nvSpPr>
          <p:cNvPr id="100" name="Oval 99"/>
          <p:cNvSpPr/>
          <p:nvPr/>
        </p:nvSpPr>
        <p:spPr>
          <a:xfrm>
            <a:off x="1568196" y="5774436"/>
            <a:ext cx="155448" cy="155448"/>
          </a:xfrm>
          <a:prstGeom prst="ellipse">
            <a:avLst/>
          </a:prstGeom>
          <a:solidFill>
            <a:srgbClr val="FFFFFF"/>
          </a:solidFill>
          <a:ln w="15875">
            <a:solidFill>
              <a:srgbClr val="573F99"/>
            </a:solidFill>
          </a:ln>
        </p:spPr>
        <p:txBody>
          <a:bodyPr rtlCol="0" anchor="ctr"/>
          <a:lstStyle/>
          <a:p>
            <a:pPr algn="ctr"/>
          </a:p>
        </p:txBody>
      </p:sp>
      <p:sp>
        <p:nvSpPr>
          <p:cNvPr id="101" name="Freeform 100"/>
          <p:cNvSpPr/>
          <p:nvPr/>
        </p:nvSpPr>
        <p:spPr>
          <a:xfrm>
            <a:off x="1645920" y="5774436"/>
            <a:ext cx="77724" cy="155448"/>
          </a:xfrm>
          <a:custGeom>
            <a:avLst/>
            <a:gdLst/>
            <a:ahLst/>
            <a:cxnLst/>
            <a:rect l="l" t="t" r="r" b="b"/>
            <a:pathLst>
              <a:path w="77724" h="155448">
                <a:moveTo>
                  <a:pt x="0" y="0"/>
                </a:moveTo>
                <a:lnTo>
                  <a:pt x="8124" y="426"/>
                </a:lnTo>
                <a:lnTo>
                  <a:pt x="16160" y="1698"/>
                </a:lnTo>
                <a:lnTo>
                  <a:pt x="24018" y="3804"/>
                </a:lnTo>
                <a:lnTo>
                  <a:pt x="31613" y="6720"/>
                </a:lnTo>
                <a:lnTo>
                  <a:pt x="38862" y="10413"/>
                </a:lnTo>
                <a:lnTo>
                  <a:pt x="45685" y="14844"/>
                </a:lnTo>
                <a:lnTo>
                  <a:pt x="52008" y="19964"/>
                </a:lnTo>
                <a:lnTo>
                  <a:pt x="57760" y="25716"/>
                </a:lnTo>
                <a:lnTo>
                  <a:pt x="62880" y="32039"/>
                </a:lnTo>
                <a:lnTo>
                  <a:pt x="67311" y="38862"/>
                </a:lnTo>
                <a:lnTo>
                  <a:pt x="71004" y="46111"/>
                </a:lnTo>
                <a:lnTo>
                  <a:pt x="73920" y="53706"/>
                </a:lnTo>
                <a:lnTo>
                  <a:pt x="76026" y="61564"/>
                </a:lnTo>
                <a:lnTo>
                  <a:pt x="77298" y="69600"/>
                </a:lnTo>
                <a:lnTo>
                  <a:pt x="77724" y="77724"/>
                </a:lnTo>
                <a:lnTo>
                  <a:pt x="77298" y="85848"/>
                </a:lnTo>
                <a:lnTo>
                  <a:pt x="76026" y="93884"/>
                </a:lnTo>
                <a:lnTo>
                  <a:pt x="73920" y="101742"/>
                </a:lnTo>
                <a:lnTo>
                  <a:pt x="71004" y="109337"/>
                </a:lnTo>
                <a:lnTo>
                  <a:pt x="67311" y="116586"/>
                </a:lnTo>
                <a:lnTo>
                  <a:pt x="62880" y="123409"/>
                </a:lnTo>
                <a:lnTo>
                  <a:pt x="57760" y="129732"/>
                </a:lnTo>
                <a:lnTo>
                  <a:pt x="52008" y="135484"/>
                </a:lnTo>
                <a:lnTo>
                  <a:pt x="45685" y="140604"/>
                </a:lnTo>
                <a:lnTo>
                  <a:pt x="38862" y="145035"/>
                </a:lnTo>
                <a:lnTo>
                  <a:pt x="31613" y="148728"/>
                </a:lnTo>
                <a:lnTo>
                  <a:pt x="24018" y="151644"/>
                </a:lnTo>
                <a:lnTo>
                  <a:pt x="16160" y="153750"/>
                </a:lnTo>
                <a:lnTo>
                  <a:pt x="8124" y="155022"/>
                </a:lnTo>
                <a:lnTo>
                  <a:pt x="0" y="155448"/>
                </a:lnTo>
                <a:close/>
              </a:path>
            </a:pathLst>
          </a:custGeom>
          <a:solidFill>
            <a:srgbClr val="573F99"/>
          </a:solidFill>
          <a:ln>
            <a:noFill/>
          </a:ln>
        </p:spPr>
        <p:txBody>
          <a:bodyPr rtlCol="0" anchor="ctr"/>
          <a:lstStyle/>
          <a:p>
            <a:pPr algn="ctr"/>
          </a:p>
        </p:txBody>
      </p:sp>
      <p:sp>
        <p:nvSpPr>
          <p:cNvPr id="102" name="TextBox 101"/>
          <p:cNvSpPr txBox="1"/>
          <p:nvPr/>
        </p:nvSpPr>
        <p:spPr>
          <a:xfrm>
            <a:off x="1801368" y="5733288"/>
            <a:ext cx="731520" cy="237744"/>
          </a:xfrm>
          <a:prstGeom prst="rect">
            <a:avLst/>
          </a:prstGeom>
          <a:noFill/>
        </p:spPr>
        <p:txBody>
          <a:bodyPr wrap="square" lIns="0" tIns="0" rIns="0" bIns="0">
            <a:spAutoFit/>
          </a:bodyPr>
          <a:lstStyle/>
          <a:p>
            <a:pPr>
              <a:lnSpc>
                <a:spcPct val="105000"/>
              </a:lnSpc>
            </a:pPr>
            <a:r>
              <a:rPr sz="1000">
                <a:solidFill>
                  <a:srgbClr val="0C1408"/>
                </a:solidFill>
                <a:latin typeface="Arial"/>
              </a:rPr>
              <a:t>partly</a:t>
            </a:r>
          </a:p>
        </p:txBody>
      </p:sp>
      <p:sp>
        <p:nvSpPr>
          <p:cNvPr id="103" name="Oval 102"/>
          <p:cNvSpPr/>
          <p:nvPr/>
        </p:nvSpPr>
        <p:spPr>
          <a:xfrm>
            <a:off x="2574036" y="5774436"/>
            <a:ext cx="155448" cy="155448"/>
          </a:xfrm>
          <a:prstGeom prst="ellipse">
            <a:avLst/>
          </a:prstGeom>
          <a:solidFill>
            <a:srgbClr val="FFFFFF"/>
          </a:solidFill>
          <a:ln w="15875">
            <a:solidFill>
              <a:srgbClr val="573F99"/>
            </a:solidFill>
          </a:ln>
        </p:spPr>
        <p:txBody>
          <a:bodyPr rtlCol="0" anchor="ctr"/>
          <a:lstStyle/>
          <a:p>
            <a:pPr algn="ctr"/>
          </a:p>
        </p:txBody>
      </p:sp>
      <p:sp>
        <p:nvSpPr>
          <p:cNvPr id="104" name="TextBox 103"/>
          <p:cNvSpPr txBox="1"/>
          <p:nvPr/>
        </p:nvSpPr>
        <p:spPr>
          <a:xfrm>
            <a:off x="2807208" y="5733288"/>
            <a:ext cx="731520" cy="237744"/>
          </a:xfrm>
          <a:prstGeom prst="rect">
            <a:avLst/>
          </a:prstGeom>
          <a:noFill/>
        </p:spPr>
        <p:txBody>
          <a:bodyPr wrap="square" lIns="0" tIns="0" rIns="0" bIns="0">
            <a:spAutoFit/>
          </a:bodyPr>
          <a:lstStyle/>
          <a:p>
            <a:pPr>
              <a:lnSpc>
                <a:spcPct val="105000"/>
              </a:lnSpc>
            </a:pPr>
            <a:r>
              <a:rPr sz="1000">
                <a:solidFill>
                  <a:srgbClr val="0C1408"/>
                </a:solidFill>
                <a:latin typeface="Arial"/>
              </a:rPr>
              <a:t>no</a:t>
            </a:r>
          </a:p>
        </p:txBody>
      </p:sp>
      <p:sp>
        <p:nvSpPr>
          <p:cNvPr id="105" name="TextBox 104"/>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Oraan terms, fee calculator and website, 28 Sep 2026    2  JazzCash release note, Aug 2026, and results to 31 March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International Success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Committee platforms abroad and the institutions behind them</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17</a:t>
            </a:r>
          </a:p>
        </p:txBody>
      </p:sp>
      <p:sp>
        <p:nvSpPr>
          <p:cNvPr id="6" name="TextBox 5"/>
          <p:cNvSpPr txBox="1"/>
          <p:nvPr/>
        </p:nvSpPr>
        <p:spPr>
          <a:xfrm>
            <a:off x="2606040"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2016</a:t>
            </a:r>
          </a:p>
        </p:txBody>
      </p:sp>
      <p:cxnSp>
        <p:nvCxnSpPr>
          <p:cNvPr id="7" name="Connector 6"/>
          <p:cNvCxnSpPr/>
          <p:nvPr/>
        </p:nvCxnSpPr>
        <p:spPr>
          <a:xfrm>
            <a:off x="2880360" y="1783080"/>
            <a:ext cx="0" cy="3154680"/>
          </a:xfrm>
          <a:prstGeom prst="line">
            <a:avLst/>
          </a:prstGeom>
          <a:ln w="9525">
            <a:solidFill>
              <a:srgbClr val="EEF0F2"/>
            </a:solidFill>
          </a:ln>
        </p:spPr>
      </p:cxnSp>
      <p:sp>
        <p:nvSpPr>
          <p:cNvPr id="8" name="TextBox 7"/>
          <p:cNvSpPr txBox="1"/>
          <p:nvPr/>
        </p:nvSpPr>
        <p:spPr>
          <a:xfrm>
            <a:off x="3081528"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2017</a:t>
            </a:r>
          </a:p>
        </p:txBody>
      </p:sp>
      <p:cxnSp>
        <p:nvCxnSpPr>
          <p:cNvPr id="9" name="Connector 8"/>
          <p:cNvCxnSpPr/>
          <p:nvPr/>
        </p:nvCxnSpPr>
        <p:spPr>
          <a:xfrm>
            <a:off x="3355848" y="1783080"/>
            <a:ext cx="0" cy="3154680"/>
          </a:xfrm>
          <a:prstGeom prst="line">
            <a:avLst/>
          </a:prstGeom>
          <a:ln w="9525">
            <a:solidFill>
              <a:srgbClr val="EEF0F2"/>
            </a:solidFill>
          </a:ln>
        </p:spPr>
      </p:cxnSp>
      <p:sp>
        <p:nvSpPr>
          <p:cNvPr id="10" name="TextBox 9"/>
          <p:cNvSpPr txBox="1"/>
          <p:nvPr/>
        </p:nvSpPr>
        <p:spPr>
          <a:xfrm>
            <a:off x="3557016"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2018</a:t>
            </a:r>
          </a:p>
        </p:txBody>
      </p:sp>
      <p:cxnSp>
        <p:nvCxnSpPr>
          <p:cNvPr id="11" name="Connector 10"/>
          <p:cNvCxnSpPr/>
          <p:nvPr/>
        </p:nvCxnSpPr>
        <p:spPr>
          <a:xfrm>
            <a:off x="3831336" y="1783080"/>
            <a:ext cx="0" cy="3154680"/>
          </a:xfrm>
          <a:prstGeom prst="line">
            <a:avLst/>
          </a:prstGeom>
          <a:ln w="9525">
            <a:solidFill>
              <a:srgbClr val="EEF0F2"/>
            </a:solidFill>
          </a:ln>
        </p:spPr>
      </p:cxnSp>
      <p:sp>
        <p:nvSpPr>
          <p:cNvPr id="12" name="TextBox 11"/>
          <p:cNvSpPr txBox="1"/>
          <p:nvPr/>
        </p:nvSpPr>
        <p:spPr>
          <a:xfrm>
            <a:off x="4032504"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2019</a:t>
            </a:r>
          </a:p>
        </p:txBody>
      </p:sp>
      <p:cxnSp>
        <p:nvCxnSpPr>
          <p:cNvPr id="13" name="Connector 12"/>
          <p:cNvCxnSpPr/>
          <p:nvPr/>
        </p:nvCxnSpPr>
        <p:spPr>
          <a:xfrm>
            <a:off x="4306824" y="1783080"/>
            <a:ext cx="0" cy="3154680"/>
          </a:xfrm>
          <a:prstGeom prst="line">
            <a:avLst/>
          </a:prstGeom>
          <a:ln w="9525">
            <a:solidFill>
              <a:srgbClr val="EEF0F2"/>
            </a:solidFill>
          </a:ln>
        </p:spPr>
      </p:cxnSp>
      <p:sp>
        <p:nvSpPr>
          <p:cNvPr id="14" name="TextBox 13"/>
          <p:cNvSpPr txBox="1"/>
          <p:nvPr/>
        </p:nvSpPr>
        <p:spPr>
          <a:xfrm>
            <a:off x="4507992"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2020</a:t>
            </a:r>
          </a:p>
        </p:txBody>
      </p:sp>
      <p:cxnSp>
        <p:nvCxnSpPr>
          <p:cNvPr id="15" name="Connector 14"/>
          <p:cNvCxnSpPr/>
          <p:nvPr/>
        </p:nvCxnSpPr>
        <p:spPr>
          <a:xfrm>
            <a:off x="4782312" y="1783080"/>
            <a:ext cx="0" cy="3154680"/>
          </a:xfrm>
          <a:prstGeom prst="line">
            <a:avLst/>
          </a:prstGeom>
          <a:ln w="9525">
            <a:solidFill>
              <a:srgbClr val="EEF0F2"/>
            </a:solidFill>
          </a:ln>
        </p:spPr>
      </p:cxnSp>
      <p:sp>
        <p:nvSpPr>
          <p:cNvPr id="16" name="TextBox 15"/>
          <p:cNvSpPr txBox="1"/>
          <p:nvPr/>
        </p:nvSpPr>
        <p:spPr>
          <a:xfrm>
            <a:off x="4983480"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2021</a:t>
            </a:r>
          </a:p>
        </p:txBody>
      </p:sp>
      <p:cxnSp>
        <p:nvCxnSpPr>
          <p:cNvPr id="17" name="Connector 16"/>
          <p:cNvCxnSpPr/>
          <p:nvPr/>
        </p:nvCxnSpPr>
        <p:spPr>
          <a:xfrm>
            <a:off x="5257800" y="1783080"/>
            <a:ext cx="0" cy="3154680"/>
          </a:xfrm>
          <a:prstGeom prst="line">
            <a:avLst/>
          </a:prstGeom>
          <a:ln w="9525">
            <a:solidFill>
              <a:srgbClr val="EEF0F2"/>
            </a:solidFill>
          </a:ln>
        </p:spPr>
      </p:cxnSp>
      <p:sp>
        <p:nvSpPr>
          <p:cNvPr id="18" name="TextBox 17"/>
          <p:cNvSpPr txBox="1"/>
          <p:nvPr/>
        </p:nvSpPr>
        <p:spPr>
          <a:xfrm>
            <a:off x="5458968"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2022</a:t>
            </a:r>
          </a:p>
        </p:txBody>
      </p:sp>
      <p:cxnSp>
        <p:nvCxnSpPr>
          <p:cNvPr id="19" name="Connector 18"/>
          <p:cNvCxnSpPr/>
          <p:nvPr/>
        </p:nvCxnSpPr>
        <p:spPr>
          <a:xfrm>
            <a:off x="5733288" y="1783080"/>
            <a:ext cx="0" cy="3154680"/>
          </a:xfrm>
          <a:prstGeom prst="line">
            <a:avLst/>
          </a:prstGeom>
          <a:ln w="9525">
            <a:solidFill>
              <a:srgbClr val="EEF0F2"/>
            </a:solidFill>
          </a:ln>
        </p:spPr>
      </p:cxnSp>
      <p:sp>
        <p:nvSpPr>
          <p:cNvPr id="20" name="TextBox 19"/>
          <p:cNvSpPr txBox="1"/>
          <p:nvPr/>
        </p:nvSpPr>
        <p:spPr>
          <a:xfrm>
            <a:off x="5934456"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2023</a:t>
            </a:r>
          </a:p>
        </p:txBody>
      </p:sp>
      <p:cxnSp>
        <p:nvCxnSpPr>
          <p:cNvPr id="21" name="Connector 20"/>
          <p:cNvCxnSpPr/>
          <p:nvPr/>
        </p:nvCxnSpPr>
        <p:spPr>
          <a:xfrm>
            <a:off x="6208776" y="1783080"/>
            <a:ext cx="0" cy="3154680"/>
          </a:xfrm>
          <a:prstGeom prst="line">
            <a:avLst/>
          </a:prstGeom>
          <a:ln w="9525">
            <a:solidFill>
              <a:srgbClr val="EEF0F2"/>
            </a:solidFill>
          </a:ln>
        </p:spPr>
      </p:cxnSp>
      <p:sp>
        <p:nvSpPr>
          <p:cNvPr id="22" name="TextBox 21"/>
          <p:cNvSpPr txBox="1"/>
          <p:nvPr/>
        </p:nvSpPr>
        <p:spPr>
          <a:xfrm>
            <a:off x="6409944"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2024</a:t>
            </a:r>
          </a:p>
        </p:txBody>
      </p:sp>
      <p:cxnSp>
        <p:nvCxnSpPr>
          <p:cNvPr id="23" name="Connector 22"/>
          <p:cNvCxnSpPr/>
          <p:nvPr/>
        </p:nvCxnSpPr>
        <p:spPr>
          <a:xfrm>
            <a:off x="6684264" y="1783080"/>
            <a:ext cx="0" cy="3154680"/>
          </a:xfrm>
          <a:prstGeom prst="line">
            <a:avLst/>
          </a:prstGeom>
          <a:ln w="9525">
            <a:solidFill>
              <a:srgbClr val="EEF0F2"/>
            </a:solidFill>
          </a:ln>
        </p:spPr>
      </p:cxnSp>
      <p:sp>
        <p:nvSpPr>
          <p:cNvPr id="24" name="TextBox 23"/>
          <p:cNvSpPr txBox="1"/>
          <p:nvPr/>
        </p:nvSpPr>
        <p:spPr>
          <a:xfrm>
            <a:off x="6885432"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2025</a:t>
            </a:r>
          </a:p>
        </p:txBody>
      </p:sp>
      <p:cxnSp>
        <p:nvCxnSpPr>
          <p:cNvPr id="25" name="Connector 24"/>
          <p:cNvCxnSpPr/>
          <p:nvPr/>
        </p:nvCxnSpPr>
        <p:spPr>
          <a:xfrm>
            <a:off x="7159752" y="1783080"/>
            <a:ext cx="0" cy="3154680"/>
          </a:xfrm>
          <a:prstGeom prst="line">
            <a:avLst/>
          </a:prstGeom>
          <a:ln w="9525">
            <a:solidFill>
              <a:srgbClr val="EEF0F2"/>
            </a:solidFill>
          </a:ln>
        </p:spPr>
      </p:cxnSp>
      <p:sp>
        <p:nvSpPr>
          <p:cNvPr id="26" name="TextBox 25"/>
          <p:cNvSpPr txBox="1"/>
          <p:nvPr/>
        </p:nvSpPr>
        <p:spPr>
          <a:xfrm>
            <a:off x="7360920"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2026</a:t>
            </a:r>
          </a:p>
        </p:txBody>
      </p:sp>
      <p:cxnSp>
        <p:nvCxnSpPr>
          <p:cNvPr id="27" name="Connector 26"/>
          <p:cNvCxnSpPr/>
          <p:nvPr/>
        </p:nvCxnSpPr>
        <p:spPr>
          <a:xfrm>
            <a:off x="7635240" y="1783080"/>
            <a:ext cx="0" cy="3154680"/>
          </a:xfrm>
          <a:prstGeom prst="line">
            <a:avLst/>
          </a:prstGeom>
          <a:ln w="9525">
            <a:solidFill>
              <a:srgbClr val="EEF0F2"/>
            </a:solidFill>
          </a:ln>
        </p:spPr>
      </p:cxnSp>
      <p:pic>
        <p:nvPicPr>
          <p:cNvPr id="28" name="Picture 27" descr="hakbah.png"/>
          <p:cNvPicPr>
            <a:picLocks noChangeAspect="1"/>
          </p:cNvPicPr>
          <p:nvPr/>
        </p:nvPicPr>
        <p:blipFill>
          <a:blip r:embed="rId3"/>
          <a:stretch>
            <a:fillRect/>
          </a:stretch>
        </p:blipFill>
        <p:spPr>
          <a:xfrm>
            <a:off x="548640" y="1673352"/>
            <a:ext cx="1143000" cy="548640"/>
          </a:xfrm>
          <a:prstGeom prst="rect">
            <a:avLst/>
          </a:prstGeom>
        </p:spPr>
      </p:pic>
      <p:sp>
        <p:nvSpPr>
          <p:cNvPr id="29" name="TextBox 28"/>
          <p:cNvSpPr txBox="1"/>
          <p:nvPr/>
        </p:nvSpPr>
        <p:spPr>
          <a:xfrm>
            <a:off x="548640" y="2313432"/>
            <a:ext cx="2240280" cy="256032"/>
          </a:xfrm>
          <a:prstGeom prst="rect">
            <a:avLst/>
          </a:prstGeom>
          <a:noFill/>
        </p:spPr>
        <p:txBody>
          <a:bodyPr wrap="square" lIns="0" tIns="0" rIns="0" bIns="0">
            <a:spAutoFit/>
          </a:bodyPr>
          <a:lstStyle/>
          <a:p>
            <a:pPr>
              <a:lnSpc>
                <a:spcPct val="105000"/>
              </a:lnSpc>
            </a:pPr>
            <a:r>
              <a:rPr sz="1050">
                <a:solidFill>
                  <a:srgbClr val="0C1408"/>
                </a:solidFill>
                <a:latin typeface="Arial"/>
              </a:rPr>
              <a:t>Saudi Arabia</a:t>
            </a:r>
          </a:p>
        </p:txBody>
      </p:sp>
      <p:cxnSp>
        <p:nvCxnSpPr>
          <p:cNvPr id="30" name="Connector 29"/>
          <p:cNvCxnSpPr/>
          <p:nvPr/>
        </p:nvCxnSpPr>
        <p:spPr>
          <a:xfrm>
            <a:off x="3831336" y="2240280"/>
            <a:ext cx="3803904" cy="0"/>
          </a:xfrm>
          <a:prstGeom prst="line">
            <a:avLst/>
          </a:prstGeom>
          <a:ln w="44450">
            <a:solidFill>
              <a:srgbClr val="0E9384"/>
            </a:solidFill>
          </a:ln>
        </p:spPr>
      </p:cxnSp>
      <p:sp>
        <p:nvSpPr>
          <p:cNvPr id="31" name="Oval 30"/>
          <p:cNvSpPr/>
          <p:nvPr/>
        </p:nvSpPr>
        <p:spPr>
          <a:xfrm>
            <a:off x="3749040" y="2157984"/>
            <a:ext cx="164592" cy="164592"/>
          </a:xfrm>
          <a:prstGeom prst="ellipse">
            <a:avLst/>
          </a:prstGeom>
          <a:solidFill>
            <a:srgbClr val="0E9384"/>
          </a:solidFill>
          <a:ln>
            <a:noFill/>
          </a:ln>
        </p:spPr>
        <p:txBody>
          <a:bodyPr rtlCol="0" anchor="ctr"/>
          <a:lstStyle/>
          <a:p>
            <a:pPr algn="ctr"/>
          </a:p>
        </p:txBody>
      </p:sp>
      <p:sp>
        <p:nvSpPr>
          <p:cNvPr id="32" name="Oval 31"/>
          <p:cNvSpPr/>
          <p:nvPr/>
        </p:nvSpPr>
        <p:spPr>
          <a:xfrm>
            <a:off x="4690872" y="2148840"/>
            <a:ext cx="182880" cy="182880"/>
          </a:xfrm>
          <a:prstGeom prst="ellipse">
            <a:avLst/>
          </a:prstGeom>
          <a:solidFill>
            <a:srgbClr val="FFFFFF"/>
          </a:solidFill>
          <a:ln w="25400">
            <a:solidFill>
              <a:srgbClr val="0E9384"/>
            </a:solidFill>
          </a:ln>
        </p:spPr>
        <p:txBody>
          <a:bodyPr rtlCol="0" anchor="ctr"/>
          <a:lstStyle/>
          <a:p>
            <a:pPr algn="ctr"/>
          </a:p>
        </p:txBody>
      </p:sp>
      <p:sp>
        <p:nvSpPr>
          <p:cNvPr id="33" name="TextBox 32"/>
          <p:cNvSpPr txBox="1"/>
          <p:nvPr/>
        </p:nvSpPr>
        <p:spPr>
          <a:xfrm>
            <a:off x="4690872" y="2350008"/>
            <a:ext cx="3291840" cy="256032"/>
          </a:xfrm>
          <a:prstGeom prst="rect">
            <a:avLst/>
          </a:prstGeom>
          <a:noFill/>
        </p:spPr>
        <p:txBody>
          <a:bodyPr wrap="square" lIns="0" tIns="0" rIns="0" bIns="0">
            <a:spAutoFit/>
          </a:bodyPr>
          <a:lstStyle/>
          <a:p>
            <a:pPr>
              <a:lnSpc>
                <a:spcPct val="105000"/>
              </a:lnSpc>
            </a:pPr>
            <a:r>
              <a:rPr sz="1000">
                <a:solidFill>
                  <a:srgbClr val="0C1408"/>
                </a:solidFill>
                <a:latin typeface="Arial"/>
              </a:rPr>
              <a:t>launched under a central bank permit</a:t>
            </a:r>
          </a:p>
        </p:txBody>
      </p:sp>
      <p:sp>
        <p:nvSpPr>
          <p:cNvPr id="34" name="TextBox 33"/>
          <p:cNvSpPr txBox="1"/>
          <p:nvPr/>
        </p:nvSpPr>
        <p:spPr>
          <a:xfrm>
            <a:off x="7955280" y="1965960"/>
            <a:ext cx="3687775" cy="274320"/>
          </a:xfrm>
          <a:prstGeom prst="rect">
            <a:avLst/>
          </a:prstGeom>
          <a:noFill/>
        </p:spPr>
        <p:txBody>
          <a:bodyPr wrap="square" lIns="0" tIns="0" rIns="0" bIns="0">
            <a:spAutoFit/>
          </a:bodyPr>
          <a:lstStyle/>
          <a:p>
            <a:pPr>
              <a:lnSpc>
                <a:spcPct val="105000"/>
              </a:lnSpc>
            </a:pPr>
            <a:r>
              <a:rPr sz="1250" b="1">
                <a:solidFill>
                  <a:srgbClr val="0C1408"/>
                </a:solidFill>
                <a:latin typeface="Arial"/>
              </a:rPr>
              <a:t>2 million registered users</a:t>
            </a:r>
          </a:p>
        </p:txBody>
      </p:sp>
      <p:sp>
        <p:nvSpPr>
          <p:cNvPr id="35" name="TextBox 34"/>
          <p:cNvSpPr txBox="1"/>
          <p:nvPr/>
        </p:nvSpPr>
        <p:spPr>
          <a:xfrm>
            <a:off x="7955280" y="2267712"/>
            <a:ext cx="3687775" cy="457200"/>
          </a:xfrm>
          <a:prstGeom prst="rect">
            <a:avLst/>
          </a:prstGeom>
          <a:noFill/>
        </p:spPr>
        <p:txBody>
          <a:bodyPr wrap="square" lIns="0" tIns="0" rIns="0" bIns="0">
            <a:spAutoFit/>
          </a:bodyPr>
          <a:lstStyle/>
          <a:p>
            <a:pPr>
              <a:lnSpc>
                <a:spcPct val="102000"/>
              </a:lnSpc>
            </a:pPr>
            <a:r>
              <a:rPr sz="1050">
                <a:solidFill>
                  <a:srgbClr val="0C1408"/>
                </a:solidFill>
                <a:latin typeface="Arial"/>
              </a:rPr>
              <a:t>Saudi central bank sandbox</a:t>
            </a:r>
          </a:p>
        </p:txBody>
      </p:sp>
      <p:pic>
        <p:nvPicPr>
          <p:cNvPr id="36" name="Picture 35" descr="moneyfellows.png"/>
          <p:cNvPicPr>
            <a:picLocks noChangeAspect="1"/>
          </p:cNvPicPr>
          <p:nvPr/>
        </p:nvPicPr>
        <p:blipFill>
          <a:blip r:embed="rId4"/>
          <a:stretch>
            <a:fillRect/>
          </a:stretch>
        </p:blipFill>
        <p:spPr>
          <a:xfrm>
            <a:off x="548640" y="2889002"/>
            <a:ext cx="1920240" cy="357118"/>
          </a:xfrm>
          <a:prstGeom prst="rect">
            <a:avLst/>
          </a:prstGeom>
        </p:spPr>
      </p:pic>
      <p:sp>
        <p:nvSpPr>
          <p:cNvPr id="37" name="TextBox 36"/>
          <p:cNvSpPr txBox="1"/>
          <p:nvPr/>
        </p:nvSpPr>
        <p:spPr>
          <a:xfrm>
            <a:off x="548640" y="3337560"/>
            <a:ext cx="2240280" cy="256032"/>
          </a:xfrm>
          <a:prstGeom prst="rect">
            <a:avLst/>
          </a:prstGeom>
          <a:noFill/>
        </p:spPr>
        <p:txBody>
          <a:bodyPr wrap="square" lIns="0" tIns="0" rIns="0" bIns="0">
            <a:spAutoFit/>
          </a:bodyPr>
          <a:lstStyle/>
          <a:p>
            <a:pPr>
              <a:lnSpc>
                <a:spcPct val="105000"/>
              </a:lnSpc>
            </a:pPr>
            <a:r>
              <a:rPr sz="1050">
                <a:solidFill>
                  <a:srgbClr val="0C1408"/>
                </a:solidFill>
                <a:latin typeface="Arial"/>
              </a:rPr>
              <a:t>Egypt</a:t>
            </a:r>
          </a:p>
        </p:txBody>
      </p:sp>
      <p:cxnSp>
        <p:nvCxnSpPr>
          <p:cNvPr id="38" name="Connector 37"/>
          <p:cNvCxnSpPr/>
          <p:nvPr/>
        </p:nvCxnSpPr>
        <p:spPr>
          <a:xfrm>
            <a:off x="2880360" y="3264408"/>
            <a:ext cx="4754880" cy="0"/>
          </a:xfrm>
          <a:prstGeom prst="line">
            <a:avLst/>
          </a:prstGeom>
          <a:ln w="44450">
            <a:solidFill>
              <a:srgbClr val="2A78D6"/>
            </a:solidFill>
          </a:ln>
        </p:spPr>
      </p:cxnSp>
      <p:sp>
        <p:nvSpPr>
          <p:cNvPr id="39" name="Oval 38"/>
          <p:cNvSpPr/>
          <p:nvPr/>
        </p:nvSpPr>
        <p:spPr>
          <a:xfrm>
            <a:off x="2798064" y="3182112"/>
            <a:ext cx="164592" cy="164592"/>
          </a:xfrm>
          <a:prstGeom prst="ellipse">
            <a:avLst/>
          </a:prstGeom>
          <a:solidFill>
            <a:srgbClr val="2A78D6"/>
          </a:solidFill>
          <a:ln>
            <a:noFill/>
          </a:ln>
        </p:spPr>
        <p:txBody>
          <a:bodyPr rtlCol="0" anchor="ctr"/>
          <a:lstStyle/>
          <a:p>
            <a:pPr algn="ctr"/>
          </a:p>
        </p:txBody>
      </p:sp>
      <p:sp>
        <p:nvSpPr>
          <p:cNvPr id="40" name="Oval 39"/>
          <p:cNvSpPr/>
          <p:nvPr/>
        </p:nvSpPr>
        <p:spPr>
          <a:xfrm>
            <a:off x="7068312" y="3172968"/>
            <a:ext cx="182880" cy="182880"/>
          </a:xfrm>
          <a:prstGeom prst="ellipse">
            <a:avLst/>
          </a:prstGeom>
          <a:solidFill>
            <a:srgbClr val="FFFFFF"/>
          </a:solidFill>
          <a:ln w="25400">
            <a:solidFill>
              <a:srgbClr val="2A78D6"/>
            </a:solidFill>
          </a:ln>
        </p:spPr>
        <p:txBody>
          <a:bodyPr rtlCol="0" anchor="ctr"/>
          <a:lstStyle/>
          <a:p>
            <a:pPr algn="ctr"/>
          </a:p>
        </p:txBody>
      </p:sp>
      <p:sp>
        <p:nvSpPr>
          <p:cNvPr id="41" name="TextBox 40"/>
          <p:cNvSpPr txBox="1"/>
          <p:nvPr/>
        </p:nvSpPr>
        <p:spPr>
          <a:xfrm>
            <a:off x="5148072" y="3374136"/>
            <a:ext cx="2103120" cy="256032"/>
          </a:xfrm>
          <a:prstGeom prst="rect">
            <a:avLst/>
          </a:prstGeom>
          <a:noFill/>
        </p:spPr>
        <p:txBody>
          <a:bodyPr wrap="square" lIns="0" tIns="0" rIns="0" bIns="0">
            <a:spAutoFit/>
          </a:bodyPr>
          <a:lstStyle/>
          <a:p>
            <a:pPr algn="r">
              <a:lnSpc>
                <a:spcPct val="105000"/>
              </a:lnSpc>
            </a:pPr>
            <a:r>
              <a:rPr sz="1000">
                <a:solidFill>
                  <a:srgbClr val="0C1408"/>
                </a:solidFill>
                <a:latin typeface="Arial"/>
              </a:rPr>
              <a:t>profitable</a:t>
            </a:r>
          </a:p>
        </p:txBody>
      </p:sp>
      <p:sp>
        <p:nvSpPr>
          <p:cNvPr id="42" name="TextBox 41"/>
          <p:cNvSpPr txBox="1"/>
          <p:nvPr/>
        </p:nvSpPr>
        <p:spPr>
          <a:xfrm>
            <a:off x="7955280" y="2990088"/>
            <a:ext cx="3687775" cy="274320"/>
          </a:xfrm>
          <a:prstGeom prst="rect">
            <a:avLst/>
          </a:prstGeom>
          <a:noFill/>
        </p:spPr>
        <p:txBody>
          <a:bodyPr wrap="square" lIns="0" tIns="0" rIns="0" bIns="0">
            <a:spAutoFit/>
          </a:bodyPr>
          <a:lstStyle/>
          <a:p>
            <a:pPr>
              <a:lnSpc>
                <a:spcPct val="105000"/>
              </a:lnSpc>
            </a:pPr>
            <a:r>
              <a:rPr sz="1250" b="1">
                <a:solidFill>
                  <a:srgbClr val="0C1408"/>
                </a:solidFill>
                <a:latin typeface="Arial"/>
              </a:rPr>
              <a:t>8 million+ users</a:t>
            </a:r>
          </a:p>
        </p:txBody>
      </p:sp>
      <p:sp>
        <p:nvSpPr>
          <p:cNvPr id="43" name="TextBox 42"/>
          <p:cNvSpPr txBox="1"/>
          <p:nvPr/>
        </p:nvSpPr>
        <p:spPr>
          <a:xfrm>
            <a:off x="7955280" y="3291840"/>
            <a:ext cx="3687775" cy="457200"/>
          </a:xfrm>
          <a:prstGeom prst="rect">
            <a:avLst/>
          </a:prstGeom>
          <a:noFill/>
        </p:spPr>
        <p:txBody>
          <a:bodyPr wrap="square" lIns="0" tIns="0" rIns="0" bIns="0">
            <a:spAutoFit/>
          </a:bodyPr>
          <a:lstStyle/>
          <a:p>
            <a:pPr>
              <a:lnSpc>
                <a:spcPct val="102000"/>
              </a:lnSpc>
            </a:pPr>
            <a:r>
              <a:rPr sz="1050">
                <a:solidFill>
                  <a:srgbClr val="0C1408"/>
                </a:solidFill>
                <a:latin typeface="Arial"/>
              </a:rPr>
              <a:t>central bank sandbox; prepaid card with Banque Misr</a:t>
            </a:r>
          </a:p>
        </p:txBody>
      </p:sp>
      <p:pic>
        <p:nvPicPr>
          <p:cNvPr id="44" name="Picture 43" descr="esusu.png"/>
          <p:cNvPicPr>
            <a:picLocks noChangeAspect="1"/>
          </p:cNvPicPr>
          <p:nvPr/>
        </p:nvPicPr>
        <p:blipFill>
          <a:blip r:embed="rId5"/>
          <a:stretch>
            <a:fillRect/>
          </a:stretch>
        </p:blipFill>
        <p:spPr>
          <a:xfrm>
            <a:off x="548640" y="3823642"/>
            <a:ext cx="1234440" cy="446606"/>
          </a:xfrm>
          <a:prstGeom prst="rect">
            <a:avLst/>
          </a:prstGeom>
        </p:spPr>
      </p:pic>
      <p:sp>
        <p:nvSpPr>
          <p:cNvPr id="45" name="TextBox 44"/>
          <p:cNvSpPr txBox="1"/>
          <p:nvPr/>
        </p:nvSpPr>
        <p:spPr>
          <a:xfrm>
            <a:off x="548640" y="4361688"/>
            <a:ext cx="2240280" cy="256032"/>
          </a:xfrm>
          <a:prstGeom prst="rect">
            <a:avLst/>
          </a:prstGeom>
          <a:noFill/>
        </p:spPr>
        <p:txBody>
          <a:bodyPr wrap="square" lIns="0" tIns="0" rIns="0" bIns="0">
            <a:spAutoFit/>
          </a:bodyPr>
          <a:lstStyle/>
          <a:p>
            <a:pPr>
              <a:lnSpc>
                <a:spcPct val="105000"/>
              </a:lnSpc>
            </a:pPr>
            <a:r>
              <a:rPr sz="1050">
                <a:solidFill>
                  <a:srgbClr val="0C1408"/>
                </a:solidFill>
                <a:latin typeface="Arial"/>
              </a:rPr>
              <a:t>United States</a:t>
            </a:r>
          </a:p>
        </p:txBody>
      </p:sp>
      <p:cxnSp>
        <p:nvCxnSpPr>
          <p:cNvPr id="46" name="Connector 45"/>
          <p:cNvCxnSpPr/>
          <p:nvPr/>
        </p:nvCxnSpPr>
        <p:spPr>
          <a:xfrm>
            <a:off x="3831336" y="4288536"/>
            <a:ext cx="3803904" cy="0"/>
          </a:xfrm>
          <a:prstGeom prst="line">
            <a:avLst/>
          </a:prstGeom>
          <a:ln w="44450">
            <a:solidFill>
              <a:srgbClr val="573F99"/>
            </a:solidFill>
          </a:ln>
        </p:spPr>
      </p:cxnSp>
      <p:sp>
        <p:nvSpPr>
          <p:cNvPr id="47" name="Oval 46"/>
          <p:cNvSpPr/>
          <p:nvPr/>
        </p:nvSpPr>
        <p:spPr>
          <a:xfrm>
            <a:off x="3749040" y="4206240"/>
            <a:ext cx="164592" cy="164592"/>
          </a:xfrm>
          <a:prstGeom prst="ellipse">
            <a:avLst/>
          </a:prstGeom>
          <a:solidFill>
            <a:srgbClr val="573F99"/>
          </a:solidFill>
          <a:ln>
            <a:noFill/>
          </a:ln>
        </p:spPr>
        <p:txBody>
          <a:bodyPr rtlCol="0" anchor="ctr"/>
          <a:lstStyle/>
          <a:p>
            <a:pPr algn="ctr"/>
          </a:p>
        </p:txBody>
      </p:sp>
      <p:sp>
        <p:nvSpPr>
          <p:cNvPr id="48" name="Oval 47"/>
          <p:cNvSpPr/>
          <p:nvPr/>
        </p:nvSpPr>
        <p:spPr>
          <a:xfrm>
            <a:off x="5641848" y="4197096"/>
            <a:ext cx="182880" cy="182880"/>
          </a:xfrm>
          <a:prstGeom prst="ellipse">
            <a:avLst/>
          </a:prstGeom>
          <a:solidFill>
            <a:srgbClr val="FFFFFF"/>
          </a:solidFill>
          <a:ln w="25400">
            <a:solidFill>
              <a:srgbClr val="573F99"/>
            </a:solidFill>
          </a:ln>
        </p:spPr>
        <p:txBody>
          <a:bodyPr rtlCol="0" anchor="ctr"/>
          <a:lstStyle/>
          <a:p>
            <a:pPr algn="ctr"/>
          </a:p>
        </p:txBody>
      </p:sp>
      <p:sp>
        <p:nvSpPr>
          <p:cNvPr id="49" name="TextBox 48"/>
          <p:cNvSpPr txBox="1"/>
          <p:nvPr/>
        </p:nvSpPr>
        <p:spPr>
          <a:xfrm>
            <a:off x="5641848" y="4398264"/>
            <a:ext cx="3291840" cy="256032"/>
          </a:xfrm>
          <a:prstGeom prst="rect">
            <a:avLst/>
          </a:prstGeom>
          <a:noFill/>
        </p:spPr>
        <p:txBody>
          <a:bodyPr wrap="square" lIns="0" tIns="0" rIns="0" bIns="0">
            <a:spAutoFit/>
          </a:bodyPr>
          <a:lstStyle/>
          <a:p>
            <a:pPr>
              <a:lnSpc>
                <a:spcPct val="105000"/>
              </a:lnSpc>
            </a:pPr>
            <a:r>
              <a:rPr sz="1000">
                <a:solidFill>
                  <a:srgbClr val="0C1408"/>
                </a:solidFill>
                <a:latin typeface="Arial"/>
              </a:rPr>
              <a:t>valued US$1 billion</a:t>
            </a:r>
          </a:p>
        </p:txBody>
      </p:sp>
      <p:sp>
        <p:nvSpPr>
          <p:cNvPr id="50" name="TextBox 49"/>
          <p:cNvSpPr txBox="1"/>
          <p:nvPr/>
        </p:nvSpPr>
        <p:spPr>
          <a:xfrm>
            <a:off x="7955280" y="4014216"/>
            <a:ext cx="3687775" cy="274320"/>
          </a:xfrm>
          <a:prstGeom prst="rect">
            <a:avLst/>
          </a:prstGeom>
          <a:noFill/>
        </p:spPr>
        <p:txBody>
          <a:bodyPr wrap="square" lIns="0" tIns="0" rIns="0" bIns="0">
            <a:spAutoFit/>
          </a:bodyPr>
          <a:lstStyle/>
          <a:p>
            <a:pPr>
              <a:lnSpc>
                <a:spcPct val="105000"/>
              </a:lnSpc>
            </a:pPr>
            <a:r>
              <a:rPr sz="1250" b="1">
                <a:solidFill>
                  <a:srgbClr val="0C1408"/>
                </a:solidFill>
                <a:latin typeface="Arial"/>
              </a:rPr>
              <a:t>US$1.2 billion valuation</a:t>
            </a:r>
          </a:p>
        </p:txBody>
      </p:sp>
      <p:sp>
        <p:nvSpPr>
          <p:cNvPr id="51" name="TextBox 50"/>
          <p:cNvSpPr txBox="1"/>
          <p:nvPr/>
        </p:nvSpPr>
        <p:spPr>
          <a:xfrm>
            <a:off x="7955280" y="4315968"/>
            <a:ext cx="3687775" cy="457200"/>
          </a:xfrm>
          <a:prstGeom prst="rect">
            <a:avLst/>
          </a:prstGeom>
          <a:noFill/>
        </p:spPr>
        <p:txBody>
          <a:bodyPr wrap="square" lIns="0" tIns="0" rIns="0" bIns="0">
            <a:spAutoFit/>
          </a:bodyPr>
          <a:lstStyle/>
          <a:p>
            <a:pPr>
              <a:lnSpc>
                <a:spcPct val="102000"/>
              </a:lnSpc>
            </a:pPr>
            <a:r>
              <a:rPr sz="1050">
                <a:solidFill>
                  <a:srgbClr val="0C1408"/>
                </a:solidFill>
                <a:latin typeface="Arial"/>
              </a:rPr>
              <a:t>reports payments to the credit bureaus</a:t>
            </a:r>
          </a:p>
        </p:txBody>
      </p:sp>
      <p:sp>
        <p:nvSpPr>
          <p:cNvPr id="52" name="Rectangle 51"/>
          <p:cNvSpPr/>
          <p:nvPr/>
        </p:nvSpPr>
        <p:spPr>
          <a:xfrm>
            <a:off x="548640" y="5029200"/>
            <a:ext cx="11094415" cy="1097280"/>
          </a:xfrm>
          <a:prstGeom prst="rect">
            <a:avLst/>
          </a:prstGeom>
          <a:solidFill>
            <a:srgbClr val="F3F4F6"/>
          </a:solidFill>
          <a:ln>
            <a:noFill/>
          </a:ln>
        </p:spPr>
        <p:txBody>
          <a:bodyPr rtlCol="0" anchor="ctr"/>
          <a:lstStyle/>
          <a:p>
            <a:pPr algn="ctr"/>
          </a:p>
        </p:txBody>
      </p:sp>
      <p:sp>
        <p:nvSpPr>
          <p:cNvPr id="53" name="TextBox 52"/>
          <p:cNvSpPr txBox="1"/>
          <p:nvPr/>
        </p:nvSpPr>
        <p:spPr>
          <a:xfrm>
            <a:off x="749808" y="5138928"/>
            <a:ext cx="10728655" cy="274320"/>
          </a:xfrm>
          <a:prstGeom prst="rect">
            <a:avLst/>
          </a:prstGeom>
          <a:noFill/>
        </p:spPr>
        <p:txBody>
          <a:bodyPr wrap="square" lIns="0" tIns="0" rIns="0" bIns="0">
            <a:spAutoFit/>
          </a:bodyPr>
          <a:lstStyle/>
          <a:p>
            <a:pPr>
              <a:lnSpc>
                <a:spcPct val="105000"/>
              </a:lnSpc>
            </a:pPr>
            <a:r>
              <a:rPr sz="1200" b="1">
                <a:solidFill>
                  <a:srgbClr val="0C1408"/>
                </a:solidFill>
                <a:latin typeface="Arial"/>
              </a:rPr>
              <a:t>Common pattern</a:t>
            </a:r>
          </a:p>
        </p:txBody>
      </p:sp>
      <p:sp>
        <p:nvSpPr>
          <p:cNvPr id="54" name="TextBox 53"/>
          <p:cNvSpPr txBox="1"/>
          <p:nvPr/>
        </p:nvSpPr>
        <p:spPr>
          <a:xfrm>
            <a:off x="749808" y="5440680"/>
            <a:ext cx="10728655" cy="640080"/>
          </a:xfrm>
          <a:prstGeom prst="rect">
            <a:avLst/>
          </a:prstGeom>
          <a:noFill/>
        </p:spPr>
        <p:txBody>
          <a:bodyPr wrap="square" lIns="0" tIns="0" rIns="0" bIns="0">
            <a:spAutoFit/>
          </a:bodyPr>
          <a:lstStyle/>
          <a:p>
            <a:pPr>
              <a:lnSpc>
                <a:spcPct val="105000"/>
              </a:lnSpc>
            </a:pPr>
            <a:r>
              <a:rPr sz="1150">
                <a:solidFill>
                  <a:srgbClr val="0C1408"/>
                </a:solidFill>
                <a:latin typeface="Arial"/>
              </a:rPr>
              <a:t>Each grew inside the formal system: a central bank sandbox or permit, a partner bank, or reporting to the credit bureaus. The same sequence is proposed with Raqami.</a:t>
            </a:r>
          </a:p>
        </p:txBody>
      </p:sp>
      <p:sp>
        <p:nvSpPr>
          <p:cNvPr id="55" name="TextBox 54"/>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Daily News Egypt, 20 Oct 2025    2  MENAbytes, 3 Sep 2020; Semafor, 3 Feb 2026    3  CNBC, 11 Dec 2025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Market Timing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Payments in Pakistan have moved to digital channels; committee savings have not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18</a:t>
            </a:r>
          </a:p>
        </p:txBody>
      </p:sp>
      <p:sp>
        <p:nvSpPr>
          <p:cNvPr id="6" name="TextBox 5"/>
          <p:cNvSpPr txBox="1"/>
          <p:nvPr/>
        </p:nvSpPr>
        <p:spPr>
          <a:xfrm>
            <a:off x="548640" y="1481328"/>
            <a:ext cx="5486400" cy="274320"/>
          </a:xfrm>
          <a:prstGeom prst="rect">
            <a:avLst/>
          </a:prstGeom>
          <a:noFill/>
        </p:spPr>
        <p:txBody>
          <a:bodyPr wrap="square" lIns="0" tIns="0" rIns="0" bIns="0">
            <a:spAutoFit/>
          </a:bodyPr>
          <a:lstStyle/>
          <a:p>
            <a:pPr>
              <a:lnSpc>
                <a:spcPct val="100000"/>
              </a:lnSpc>
            </a:pPr>
            <a:r>
              <a:rPr sz="1200" b="1">
                <a:solidFill>
                  <a:srgbClr val="0C1408"/>
                </a:solidFill>
                <a:latin typeface="Arial"/>
              </a:rPr>
              <a:t>Share of retail payments made digitally</a:t>
            </a:r>
            <a:r>
              <a:rPr sz="1100">
                <a:solidFill>
                  <a:srgbClr val="0C1408"/>
                </a:solidFill>
                <a:latin typeface="Arial"/>
              </a:rPr>
              <a:t>   per cent</a:t>
            </a:r>
          </a:p>
        </p:txBody>
      </p:sp>
      <p:sp>
        <p:nvSpPr>
          <p:cNvPr id="8" name="TextBox 7"/>
          <p:cNvSpPr txBox="1"/>
          <p:nvPr/>
        </p:nvSpPr>
        <p:spPr>
          <a:xfrm>
            <a:off x="6492240" y="1572768"/>
            <a:ext cx="2346808" cy="389128"/>
          </a:xfrm>
          <a:prstGeom prst="rect">
            <a:avLst/>
          </a:prstGeom>
          <a:noFill/>
        </p:spPr>
        <p:txBody>
          <a:bodyPr wrap="square" lIns="0" tIns="0" rIns="0" bIns="0">
            <a:spAutoFit/>
          </a:bodyPr>
          <a:lstStyle/>
          <a:p>
            <a:pPr>
              <a:lnSpc>
                <a:spcPct val="100000"/>
              </a:lnSpc>
            </a:pPr>
            <a:r>
              <a:rPr sz="2200" b="1">
                <a:solidFill>
                  <a:srgbClr val="3E2B73"/>
                </a:solidFill>
                <a:latin typeface="Arial"/>
              </a:rPr>
              <a:t>69 million</a:t>
            </a:r>
          </a:p>
        </p:txBody>
      </p:sp>
      <p:sp>
        <p:nvSpPr>
          <p:cNvPr id="9" name="TextBox 8"/>
          <p:cNvSpPr txBox="1"/>
          <p:nvPr/>
        </p:nvSpPr>
        <p:spPr>
          <a:xfrm>
            <a:off x="6492240" y="1943608"/>
            <a:ext cx="2346808" cy="731520"/>
          </a:xfrm>
          <a:prstGeom prst="rect">
            <a:avLst/>
          </a:prstGeom>
          <a:noFill/>
        </p:spPr>
        <p:txBody>
          <a:bodyPr wrap="square" lIns="0" tIns="0" rIns="0" bIns="0">
            <a:spAutoFit/>
          </a:bodyPr>
          <a:lstStyle/>
          <a:p>
            <a:pPr>
              <a:lnSpc>
                <a:spcPct val="104000"/>
              </a:lnSpc>
            </a:pPr>
            <a:r>
              <a:rPr sz="1100">
                <a:solidFill>
                  <a:srgbClr val="0C1408"/>
                </a:solidFill>
                <a:latin typeface="Arial"/>
              </a:rPr>
              <a:t>mobile wallet users at the end of 2024 [1]</a:t>
            </a:r>
          </a:p>
        </p:txBody>
      </p:sp>
      <p:sp>
        <p:nvSpPr>
          <p:cNvPr id="10" name="TextBox 9"/>
          <p:cNvSpPr txBox="1"/>
          <p:nvPr/>
        </p:nvSpPr>
        <p:spPr>
          <a:xfrm>
            <a:off x="9067648" y="1572768"/>
            <a:ext cx="2346808" cy="389128"/>
          </a:xfrm>
          <a:prstGeom prst="rect">
            <a:avLst/>
          </a:prstGeom>
          <a:noFill/>
        </p:spPr>
        <p:txBody>
          <a:bodyPr wrap="square" lIns="0" tIns="0" rIns="0" bIns="0">
            <a:spAutoFit/>
          </a:bodyPr>
          <a:lstStyle/>
          <a:p>
            <a:pPr>
              <a:lnSpc>
                <a:spcPct val="100000"/>
              </a:lnSpc>
            </a:pPr>
            <a:r>
              <a:rPr sz="2200" b="1">
                <a:solidFill>
                  <a:srgbClr val="3E2B73"/>
                </a:solidFill>
                <a:latin typeface="Arial"/>
              </a:rPr>
              <a:t>21 million</a:t>
            </a:r>
          </a:p>
        </p:txBody>
      </p:sp>
      <p:sp>
        <p:nvSpPr>
          <p:cNvPr id="11" name="TextBox 10"/>
          <p:cNvSpPr txBox="1"/>
          <p:nvPr/>
        </p:nvSpPr>
        <p:spPr>
          <a:xfrm>
            <a:off x="9067648" y="1943608"/>
            <a:ext cx="2346808" cy="731520"/>
          </a:xfrm>
          <a:prstGeom prst="rect">
            <a:avLst/>
          </a:prstGeom>
          <a:noFill/>
        </p:spPr>
        <p:txBody>
          <a:bodyPr wrap="square" lIns="0" tIns="0" rIns="0" bIns="0">
            <a:spAutoFit/>
          </a:bodyPr>
          <a:lstStyle/>
          <a:p>
            <a:pPr>
              <a:lnSpc>
                <a:spcPct val="104000"/>
              </a:lnSpc>
            </a:pPr>
            <a:r>
              <a:rPr sz="1100">
                <a:solidFill>
                  <a:srgbClr val="0C1408"/>
                </a:solidFill>
                <a:latin typeface="Arial"/>
              </a:rPr>
              <a:t>mobile banking app users [1]</a:t>
            </a:r>
          </a:p>
        </p:txBody>
      </p:sp>
      <p:sp>
        <p:nvSpPr>
          <p:cNvPr id="12" name="TextBox 11"/>
          <p:cNvSpPr txBox="1"/>
          <p:nvPr/>
        </p:nvSpPr>
        <p:spPr>
          <a:xfrm>
            <a:off x="6492240" y="3035808"/>
            <a:ext cx="2346808" cy="389128"/>
          </a:xfrm>
          <a:prstGeom prst="rect">
            <a:avLst/>
          </a:prstGeom>
          <a:noFill/>
        </p:spPr>
        <p:txBody>
          <a:bodyPr wrap="square" lIns="0" tIns="0" rIns="0" bIns="0">
            <a:spAutoFit/>
          </a:bodyPr>
          <a:lstStyle/>
          <a:p>
            <a:pPr>
              <a:lnSpc>
                <a:spcPct val="100000"/>
              </a:lnSpc>
            </a:pPr>
            <a:r>
              <a:rPr sz="2200" b="1">
                <a:solidFill>
                  <a:srgbClr val="3E2B73"/>
                </a:solidFill>
                <a:latin typeface="Arial"/>
              </a:rPr>
              <a:t>Aug 2026</a:t>
            </a:r>
          </a:p>
        </p:txBody>
      </p:sp>
      <p:sp>
        <p:nvSpPr>
          <p:cNvPr id="13" name="TextBox 12"/>
          <p:cNvSpPr txBox="1"/>
          <p:nvPr/>
        </p:nvSpPr>
        <p:spPr>
          <a:xfrm>
            <a:off x="6492240" y="3406648"/>
            <a:ext cx="2346808" cy="731520"/>
          </a:xfrm>
          <a:prstGeom prst="rect">
            <a:avLst/>
          </a:prstGeom>
          <a:noFill/>
        </p:spPr>
        <p:txBody>
          <a:bodyPr wrap="square" lIns="0" tIns="0" rIns="0" bIns="0">
            <a:spAutoFit/>
          </a:bodyPr>
          <a:lstStyle/>
          <a:p>
            <a:pPr>
              <a:lnSpc>
                <a:spcPct val="104000"/>
              </a:lnSpc>
            </a:pPr>
            <a:r>
              <a:rPr sz="1100">
                <a:solidFill>
                  <a:srgbClr val="0C1408"/>
                </a:solidFill>
                <a:latin typeface="Arial"/>
              </a:rPr>
              <a:t>JazzCash launched a committee feature [2]</a:t>
            </a:r>
          </a:p>
        </p:txBody>
      </p:sp>
      <p:sp>
        <p:nvSpPr>
          <p:cNvPr id="14" name="TextBox 13"/>
          <p:cNvSpPr txBox="1"/>
          <p:nvPr/>
        </p:nvSpPr>
        <p:spPr>
          <a:xfrm>
            <a:off x="9067648" y="3035808"/>
            <a:ext cx="2346808" cy="389128"/>
          </a:xfrm>
          <a:prstGeom prst="rect">
            <a:avLst/>
          </a:prstGeom>
          <a:noFill/>
        </p:spPr>
        <p:txBody>
          <a:bodyPr wrap="square" lIns="0" tIns="0" rIns="0" bIns="0">
            <a:spAutoFit/>
          </a:bodyPr>
          <a:lstStyle/>
          <a:p>
            <a:pPr>
              <a:lnSpc>
                <a:spcPct val="100000"/>
              </a:lnSpc>
            </a:pPr>
            <a:r>
              <a:rPr sz="2200" b="1">
                <a:solidFill>
                  <a:srgbClr val="3E2B73"/>
                </a:solidFill>
                <a:latin typeface="Arial"/>
              </a:rPr>
              <a:t>75% by 2028</a:t>
            </a:r>
          </a:p>
        </p:txBody>
      </p:sp>
      <p:sp>
        <p:nvSpPr>
          <p:cNvPr id="15" name="TextBox 14"/>
          <p:cNvSpPr txBox="1"/>
          <p:nvPr/>
        </p:nvSpPr>
        <p:spPr>
          <a:xfrm>
            <a:off x="9067648" y="3406648"/>
            <a:ext cx="2346808" cy="731520"/>
          </a:xfrm>
          <a:prstGeom prst="rect">
            <a:avLst/>
          </a:prstGeom>
          <a:noFill/>
        </p:spPr>
        <p:txBody>
          <a:bodyPr wrap="square" lIns="0" tIns="0" rIns="0" bIns="0">
            <a:spAutoFit/>
          </a:bodyPr>
          <a:lstStyle/>
          <a:p>
            <a:pPr>
              <a:lnSpc>
                <a:spcPct val="104000"/>
              </a:lnSpc>
            </a:pPr>
            <a:r>
              <a:rPr sz="1100">
                <a:solidFill>
                  <a:srgbClr val="0C1408"/>
                </a:solidFill>
                <a:latin typeface="Arial"/>
              </a:rPr>
              <a:t>State Bank target for adults with an account, from 64% [3]</a:t>
            </a:r>
          </a:p>
        </p:txBody>
      </p:sp>
      <p:sp>
        <p:nvSpPr>
          <p:cNvPr id="16" name="TextBox 15"/>
          <p:cNvSpPr txBox="1"/>
          <p:nvPr/>
        </p:nvSpPr>
        <p:spPr>
          <a:xfrm>
            <a:off x="6492240" y="4498848"/>
            <a:ext cx="2346808" cy="389128"/>
          </a:xfrm>
          <a:prstGeom prst="rect">
            <a:avLst/>
          </a:prstGeom>
          <a:noFill/>
        </p:spPr>
        <p:txBody>
          <a:bodyPr wrap="square" lIns="0" tIns="0" rIns="0" bIns="0">
            <a:spAutoFit/>
          </a:bodyPr>
          <a:lstStyle/>
          <a:p>
            <a:pPr>
              <a:lnSpc>
                <a:spcPct val="100000"/>
              </a:lnSpc>
            </a:pPr>
            <a:r>
              <a:rPr sz="2200" b="1">
                <a:solidFill>
                  <a:srgbClr val="3E2B73"/>
                </a:solidFill>
                <a:latin typeface="Arial"/>
              </a:rPr>
              <a:t>1 Jan 2028</a:t>
            </a:r>
          </a:p>
        </p:txBody>
      </p:sp>
      <p:sp>
        <p:nvSpPr>
          <p:cNvPr id="17" name="TextBox 16"/>
          <p:cNvSpPr txBox="1"/>
          <p:nvPr/>
        </p:nvSpPr>
        <p:spPr>
          <a:xfrm>
            <a:off x="6492240" y="4869688"/>
            <a:ext cx="2346808" cy="731520"/>
          </a:xfrm>
          <a:prstGeom prst="rect">
            <a:avLst/>
          </a:prstGeom>
          <a:noFill/>
        </p:spPr>
        <p:txBody>
          <a:bodyPr wrap="square" lIns="0" tIns="0" rIns="0" bIns="0">
            <a:spAutoFit/>
          </a:bodyPr>
          <a:lstStyle/>
          <a:p>
            <a:pPr>
              <a:lnSpc>
                <a:spcPct val="104000"/>
              </a:lnSpc>
            </a:pPr>
            <a:r>
              <a:rPr sz="1100">
                <a:solidFill>
                  <a:srgbClr val="0C1408"/>
                </a:solidFill>
                <a:latin typeface="Arial"/>
              </a:rPr>
              <a:t>the Constitution’s deadline to end riba [4]</a:t>
            </a:r>
          </a:p>
        </p:txBody>
      </p:sp>
      <p:sp>
        <p:nvSpPr>
          <p:cNvPr id="18" name="TextBox 17"/>
          <p:cNvSpPr txBox="1"/>
          <p:nvPr/>
        </p:nvSpPr>
        <p:spPr>
          <a:xfrm>
            <a:off x="9067648" y="4498848"/>
            <a:ext cx="2346808" cy="389128"/>
          </a:xfrm>
          <a:prstGeom prst="rect">
            <a:avLst/>
          </a:prstGeom>
          <a:noFill/>
        </p:spPr>
        <p:txBody>
          <a:bodyPr wrap="square" lIns="0" tIns="0" rIns="0" bIns="0">
            <a:spAutoFit/>
          </a:bodyPr>
          <a:lstStyle/>
          <a:p>
            <a:pPr>
              <a:lnSpc>
                <a:spcPct val="100000"/>
              </a:lnSpc>
            </a:pPr>
            <a:r>
              <a:rPr sz="2200" b="1">
                <a:solidFill>
                  <a:srgbClr val="3E2B73"/>
                </a:solidFill>
                <a:latin typeface="Arial"/>
              </a:rPr>
              <a:t>2.9 billion</a:t>
            </a:r>
          </a:p>
        </p:txBody>
      </p:sp>
      <p:sp>
        <p:nvSpPr>
          <p:cNvPr id="19" name="TextBox 18"/>
          <p:cNvSpPr txBox="1"/>
          <p:nvPr/>
        </p:nvSpPr>
        <p:spPr>
          <a:xfrm>
            <a:off x="9067648" y="4869688"/>
            <a:ext cx="2346808" cy="731520"/>
          </a:xfrm>
          <a:prstGeom prst="rect">
            <a:avLst/>
          </a:prstGeom>
          <a:noFill/>
        </p:spPr>
        <p:txBody>
          <a:bodyPr wrap="square" lIns="0" tIns="0" rIns="0" bIns="0">
            <a:spAutoFit/>
          </a:bodyPr>
          <a:lstStyle/>
          <a:p>
            <a:pPr>
              <a:lnSpc>
                <a:spcPct val="104000"/>
              </a:lnSpc>
            </a:pPr>
            <a:r>
              <a:rPr sz="1100">
                <a:solidFill>
                  <a:srgbClr val="0C1408"/>
                </a:solidFill>
                <a:latin typeface="Arial"/>
              </a:rPr>
              <a:t>banking app payments in January to March 2026 [1]</a:t>
            </a:r>
          </a:p>
        </p:txBody>
      </p:sp>
      <p:sp>
        <p:nvSpPr>
          <p:cNvPr id="20" name="TextBox 19"/>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SBP payment systems reviews, Q2 FY25, FY25 and Q3 FY26    2  JazzCash release notes    3  SBP National Financial Inclusion Strategy 2024 to 2028    4  Constitution, Article 38(f), 26th Amendment</a:t>
            </a:r>
          </a:p>
        </p:txBody>
      </p:sp>
      <p:sp>
        <p:nvSpPr>
          <p:cNvPr id="21" name="Rectangle 20"/>
          <p:cNvSpPr/>
          <p:nvPr/>
        </p:nvSpPr>
        <p:spPr>
          <a:xfrm>
            <a:off x="989266" y="2822753"/>
            <a:ext cx="741807" cy="2389327"/>
          </a:xfrm>
          <a:prstGeom prst="rect">
            <a:avLst/>
          </a:prstGeom>
          <a:solidFill>
            <a:srgbClr val="573F99"/>
          </a:solidFill>
          <a:ln>
            <a:noFill/>
          </a:ln>
        </p:spPr>
        <p:txBody>
          <a:bodyPr rtlCol="0" anchor="ctr"/>
          <a:lstStyle/>
          <a:p>
            <a:pPr algn="ctr"/>
          </a:p>
        </p:txBody>
      </p:sp>
      <p:sp>
        <p:nvSpPr>
          <p:cNvPr id="22" name="TextBox 21"/>
          <p:cNvSpPr txBox="1"/>
          <p:nvPr/>
        </p:nvSpPr>
        <p:spPr>
          <a:xfrm>
            <a:off x="760666" y="2575865"/>
            <a:ext cx="1199007" cy="228600"/>
          </a:xfrm>
          <a:prstGeom prst="rect">
            <a:avLst/>
          </a:prstGeom>
          <a:noFill/>
        </p:spPr>
        <p:txBody>
          <a:bodyPr wrap="square" lIns="0" tIns="0" rIns="0" bIns="0">
            <a:spAutoFit/>
          </a:bodyPr>
          <a:lstStyle/>
          <a:p>
            <a:pPr algn="ctr">
              <a:lnSpc>
                <a:spcPct val="105000"/>
              </a:lnSpc>
            </a:pPr>
            <a:r>
              <a:rPr sz="1100">
                <a:solidFill>
                  <a:srgbClr val="0C1408"/>
                </a:solidFill>
                <a:latin typeface="Arial"/>
              </a:rPr>
              <a:t>78%</a:t>
            </a:r>
          </a:p>
        </p:txBody>
      </p:sp>
      <p:sp>
        <p:nvSpPr>
          <p:cNvPr id="23" name="TextBox 22"/>
          <p:cNvSpPr txBox="1"/>
          <p:nvPr/>
        </p:nvSpPr>
        <p:spPr>
          <a:xfrm>
            <a:off x="594360" y="5266944"/>
            <a:ext cx="1531620" cy="237744"/>
          </a:xfrm>
          <a:prstGeom prst="rect">
            <a:avLst/>
          </a:prstGeom>
          <a:noFill/>
        </p:spPr>
        <p:txBody>
          <a:bodyPr wrap="square" lIns="0" tIns="0" rIns="0" bIns="0">
            <a:spAutoFit/>
          </a:bodyPr>
          <a:lstStyle/>
          <a:p>
            <a:pPr algn="ctr">
              <a:lnSpc>
                <a:spcPct val="105000"/>
              </a:lnSpc>
            </a:pPr>
            <a:r>
              <a:rPr sz="1100">
                <a:solidFill>
                  <a:srgbClr val="0C1408"/>
                </a:solidFill>
                <a:latin typeface="Arial"/>
              </a:rPr>
              <a:t>FY2023</a:t>
            </a:r>
          </a:p>
        </p:txBody>
      </p:sp>
      <p:sp>
        <p:nvSpPr>
          <p:cNvPr id="24" name="Rectangle 23"/>
          <p:cNvSpPr/>
          <p:nvPr/>
        </p:nvSpPr>
        <p:spPr>
          <a:xfrm>
            <a:off x="2338006" y="2608326"/>
            <a:ext cx="741807" cy="2603754"/>
          </a:xfrm>
          <a:prstGeom prst="rect">
            <a:avLst/>
          </a:prstGeom>
          <a:solidFill>
            <a:srgbClr val="573F99"/>
          </a:solidFill>
          <a:ln>
            <a:noFill/>
          </a:ln>
        </p:spPr>
        <p:txBody>
          <a:bodyPr rtlCol="0" anchor="ctr"/>
          <a:lstStyle/>
          <a:p>
            <a:pPr algn="ctr"/>
          </a:p>
        </p:txBody>
      </p:sp>
      <p:sp>
        <p:nvSpPr>
          <p:cNvPr id="25" name="TextBox 24"/>
          <p:cNvSpPr txBox="1"/>
          <p:nvPr/>
        </p:nvSpPr>
        <p:spPr>
          <a:xfrm>
            <a:off x="2109406" y="2361438"/>
            <a:ext cx="1199007" cy="228600"/>
          </a:xfrm>
          <a:prstGeom prst="rect">
            <a:avLst/>
          </a:prstGeom>
          <a:noFill/>
        </p:spPr>
        <p:txBody>
          <a:bodyPr wrap="square" lIns="0" tIns="0" rIns="0" bIns="0">
            <a:spAutoFit/>
          </a:bodyPr>
          <a:lstStyle/>
          <a:p>
            <a:pPr algn="ctr">
              <a:lnSpc>
                <a:spcPct val="105000"/>
              </a:lnSpc>
            </a:pPr>
            <a:r>
              <a:rPr sz="1100">
                <a:solidFill>
                  <a:srgbClr val="0C1408"/>
                </a:solidFill>
                <a:latin typeface="Arial"/>
              </a:rPr>
              <a:t>85%</a:t>
            </a:r>
          </a:p>
        </p:txBody>
      </p:sp>
      <p:sp>
        <p:nvSpPr>
          <p:cNvPr id="26" name="TextBox 25"/>
          <p:cNvSpPr txBox="1"/>
          <p:nvPr/>
        </p:nvSpPr>
        <p:spPr>
          <a:xfrm>
            <a:off x="1943100" y="5266944"/>
            <a:ext cx="1531620" cy="237744"/>
          </a:xfrm>
          <a:prstGeom prst="rect">
            <a:avLst/>
          </a:prstGeom>
          <a:noFill/>
        </p:spPr>
        <p:txBody>
          <a:bodyPr wrap="square" lIns="0" tIns="0" rIns="0" bIns="0">
            <a:spAutoFit/>
          </a:bodyPr>
          <a:lstStyle/>
          <a:p>
            <a:pPr algn="ctr">
              <a:lnSpc>
                <a:spcPct val="105000"/>
              </a:lnSpc>
            </a:pPr>
            <a:r>
              <a:rPr sz="1100">
                <a:solidFill>
                  <a:srgbClr val="0C1408"/>
                </a:solidFill>
                <a:latin typeface="Arial"/>
              </a:rPr>
              <a:t>FY2024</a:t>
            </a:r>
          </a:p>
        </p:txBody>
      </p:sp>
      <p:sp>
        <p:nvSpPr>
          <p:cNvPr id="27" name="Rectangle 26"/>
          <p:cNvSpPr/>
          <p:nvPr/>
        </p:nvSpPr>
        <p:spPr>
          <a:xfrm>
            <a:off x="3686747" y="2516429"/>
            <a:ext cx="741807" cy="2695651"/>
          </a:xfrm>
          <a:prstGeom prst="rect">
            <a:avLst/>
          </a:prstGeom>
          <a:solidFill>
            <a:srgbClr val="573F99"/>
          </a:solidFill>
          <a:ln>
            <a:noFill/>
          </a:ln>
        </p:spPr>
        <p:txBody>
          <a:bodyPr rtlCol="0" anchor="ctr"/>
          <a:lstStyle/>
          <a:p>
            <a:pPr algn="ctr"/>
          </a:p>
        </p:txBody>
      </p:sp>
      <p:sp>
        <p:nvSpPr>
          <p:cNvPr id="28" name="TextBox 27"/>
          <p:cNvSpPr txBox="1"/>
          <p:nvPr/>
        </p:nvSpPr>
        <p:spPr>
          <a:xfrm>
            <a:off x="3458147" y="2269541"/>
            <a:ext cx="1199007" cy="228600"/>
          </a:xfrm>
          <a:prstGeom prst="rect">
            <a:avLst/>
          </a:prstGeom>
          <a:noFill/>
        </p:spPr>
        <p:txBody>
          <a:bodyPr wrap="square" lIns="0" tIns="0" rIns="0" bIns="0">
            <a:spAutoFit/>
          </a:bodyPr>
          <a:lstStyle/>
          <a:p>
            <a:pPr algn="ctr">
              <a:lnSpc>
                <a:spcPct val="105000"/>
              </a:lnSpc>
            </a:pPr>
            <a:r>
              <a:rPr sz="1100">
                <a:solidFill>
                  <a:srgbClr val="0C1408"/>
                </a:solidFill>
                <a:latin typeface="Arial"/>
              </a:rPr>
              <a:t>88%</a:t>
            </a:r>
          </a:p>
        </p:txBody>
      </p:sp>
      <p:sp>
        <p:nvSpPr>
          <p:cNvPr id="29" name="TextBox 28"/>
          <p:cNvSpPr txBox="1"/>
          <p:nvPr/>
        </p:nvSpPr>
        <p:spPr>
          <a:xfrm>
            <a:off x="3291840" y="5266944"/>
            <a:ext cx="1531620" cy="237744"/>
          </a:xfrm>
          <a:prstGeom prst="rect">
            <a:avLst/>
          </a:prstGeom>
          <a:noFill/>
        </p:spPr>
        <p:txBody>
          <a:bodyPr wrap="square" lIns="0" tIns="0" rIns="0" bIns="0">
            <a:spAutoFit/>
          </a:bodyPr>
          <a:lstStyle/>
          <a:p>
            <a:pPr algn="ctr">
              <a:lnSpc>
                <a:spcPct val="105000"/>
              </a:lnSpc>
            </a:pPr>
            <a:r>
              <a:rPr sz="1100">
                <a:solidFill>
                  <a:srgbClr val="0C1408"/>
                </a:solidFill>
                <a:latin typeface="Arial"/>
              </a:rPr>
              <a:t>FY2025</a:t>
            </a:r>
          </a:p>
        </p:txBody>
      </p:sp>
      <p:sp>
        <p:nvSpPr>
          <p:cNvPr id="30" name="Rectangle 29"/>
          <p:cNvSpPr/>
          <p:nvPr/>
        </p:nvSpPr>
        <p:spPr>
          <a:xfrm>
            <a:off x="5035487" y="2393899"/>
            <a:ext cx="741807" cy="2818181"/>
          </a:xfrm>
          <a:prstGeom prst="rect">
            <a:avLst/>
          </a:prstGeom>
          <a:solidFill>
            <a:srgbClr val="573F99"/>
          </a:solidFill>
          <a:ln>
            <a:noFill/>
          </a:ln>
        </p:spPr>
        <p:txBody>
          <a:bodyPr rtlCol="0" anchor="ctr"/>
          <a:lstStyle/>
          <a:p>
            <a:pPr algn="ctr"/>
          </a:p>
        </p:txBody>
      </p:sp>
      <p:sp>
        <p:nvSpPr>
          <p:cNvPr id="31" name="TextBox 30"/>
          <p:cNvSpPr txBox="1"/>
          <p:nvPr/>
        </p:nvSpPr>
        <p:spPr>
          <a:xfrm>
            <a:off x="4806887" y="2147011"/>
            <a:ext cx="1199007" cy="228600"/>
          </a:xfrm>
          <a:prstGeom prst="rect">
            <a:avLst/>
          </a:prstGeom>
          <a:noFill/>
        </p:spPr>
        <p:txBody>
          <a:bodyPr wrap="square" lIns="0" tIns="0" rIns="0" bIns="0">
            <a:spAutoFit/>
          </a:bodyPr>
          <a:lstStyle/>
          <a:p>
            <a:pPr algn="ctr">
              <a:lnSpc>
                <a:spcPct val="105000"/>
              </a:lnSpc>
            </a:pPr>
            <a:r>
              <a:rPr sz="1100">
                <a:solidFill>
                  <a:srgbClr val="0C1408"/>
                </a:solidFill>
                <a:latin typeface="Arial"/>
              </a:rPr>
              <a:t>92%</a:t>
            </a:r>
          </a:p>
        </p:txBody>
      </p:sp>
      <p:sp>
        <p:nvSpPr>
          <p:cNvPr id="32" name="TextBox 31"/>
          <p:cNvSpPr txBox="1"/>
          <p:nvPr/>
        </p:nvSpPr>
        <p:spPr>
          <a:xfrm>
            <a:off x="4640580" y="5266944"/>
            <a:ext cx="1531620" cy="237744"/>
          </a:xfrm>
          <a:prstGeom prst="rect">
            <a:avLst/>
          </a:prstGeom>
          <a:noFill/>
        </p:spPr>
        <p:txBody>
          <a:bodyPr wrap="square" lIns="0" tIns="0" rIns="0" bIns="0">
            <a:spAutoFit/>
          </a:bodyPr>
          <a:lstStyle/>
          <a:p>
            <a:pPr algn="ctr">
              <a:lnSpc>
                <a:spcPct val="105000"/>
              </a:lnSpc>
            </a:pPr>
            <a:r>
              <a:rPr sz="1100">
                <a:solidFill>
                  <a:srgbClr val="0C1408"/>
                </a:solidFill>
                <a:latin typeface="Arial"/>
              </a:rPr>
              <a:t>Jan to Mar 2026</a:t>
            </a:r>
          </a:p>
        </p:txBody>
      </p:sp>
      <p:cxnSp>
        <p:nvCxnSpPr>
          <p:cNvPr id="33" name="Connector 32"/>
          <p:cNvCxnSpPr/>
          <p:nvPr/>
        </p:nvCxnSpPr>
        <p:spPr>
          <a:xfrm>
            <a:off x="685800" y="5212080"/>
            <a:ext cx="5394960" cy="0"/>
          </a:xfrm>
          <a:prstGeom prst="line">
            <a:avLst/>
          </a:prstGeom>
          <a:ln w="12700">
            <a:solidFill>
              <a:srgbClr val="9CA3AF"/>
            </a:solidFill>
          </a:ln>
        </p:spPr>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Current Status</a:t>
            </a:r>
          </a:p>
        </p:txBody>
      </p:sp>
      <p:pic>
        <p:nvPicPr>
          <p:cNvPr id="3" name="Picture 2" descr="lockup-520.png"/>
          <p:cNvPicPr>
            <a:picLocks noChangeAspect="1"/>
          </p:cNvPicPr>
          <p:nvPr/>
        </p:nvPicPr>
        <p:blipFill>
          <a:blip r:embed="rId2"/>
          <a:stretch>
            <a:fillRect/>
          </a:stretch>
        </p:blipFill>
        <p:spPr>
          <a:xfrm>
            <a:off x="10740230" y="429768"/>
            <a:ext cx="902825" cy="274320"/>
          </a:xfrm>
          <a:prstGeom prst="rect">
            <a:avLst/>
          </a:prstGeom>
        </p:spPr>
      </p:pic>
      <p:sp>
        <p:nvSpPr>
          <p:cNvPr id="4" name="TextBox 3"/>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19</a:t>
            </a:r>
          </a:p>
        </p:txBody>
      </p:sp>
      <p:sp>
        <p:nvSpPr>
          <p:cNvPr id="5" name="Rectangle 4"/>
          <p:cNvSpPr/>
          <p:nvPr/>
        </p:nvSpPr>
        <p:spPr>
          <a:xfrm>
            <a:off x="548640" y="1572768"/>
            <a:ext cx="3484778" cy="548640"/>
          </a:xfrm>
          <a:prstGeom prst="rect">
            <a:avLst/>
          </a:prstGeom>
          <a:solidFill>
            <a:srgbClr val="F3FCE7"/>
          </a:solidFill>
          <a:ln>
            <a:noFill/>
          </a:ln>
        </p:spPr>
        <p:txBody>
          <a:bodyPr rtlCol="0" anchor="ctr" lIns="182880" tIns="137160" rIns="182880" bIns="137160" wrap="square"/>
          <a:lstStyle/>
          <a:p>
            <a:pPr>
              <a:lnSpc>
                <a:spcPct val="105000"/>
              </a:lnSpc>
            </a:pPr>
            <a:r>
              <a:rPr sz="1500" b="1">
                <a:solidFill>
                  <a:srgbClr val="0C1408"/>
                </a:solidFill>
                <a:latin typeface="Arial"/>
              </a:rPr>
              <a:t>Built</a:t>
            </a:r>
          </a:p>
        </p:txBody>
      </p:sp>
      <p:sp>
        <p:nvSpPr>
          <p:cNvPr id="6" name="TextBox 5"/>
          <p:cNvSpPr txBox="1"/>
          <p:nvPr/>
        </p:nvSpPr>
        <p:spPr>
          <a:xfrm>
            <a:off x="594360" y="2331720"/>
            <a:ext cx="3393338" cy="3566160"/>
          </a:xfrm>
          <a:prstGeom prst="rect">
            <a:avLst/>
          </a:prstGeom>
          <a:noFill/>
        </p:spPr>
        <p:txBody>
          <a:bodyPr wrap="square" lIns="0" tIns="0" rIns="0" bIns="0">
            <a:spAutoFit/>
          </a:bodyPr>
          <a:lstStyle/>
          <a:p>
            <a:pPr marL="173736" indent="-173736">
              <a:lnSpc>
                <a:spcPct val="106000"/>
              </a:lnSpc>
              <a:spcAft>
                <a:spcPts val="1100"/>
              </a:spcAft>
              <a:buClr>
                <a:srgbClr val="41801A"/>
              </a:buClr>
              <a:buSzPct val="70000"/>
              <a:buFont typeface="Arial"/>
              <a:buChar char="■"/>
            </a:pPr>
            <a:r>
              <a:rPr sz="1300">
                <a:solidFill>
                  <a:srgbClr val="0C1408"/>
                </a:solidFill>
                <a:latin typeface="Arial"/>
              </a:rPr>
              <a:t>Member application in preview: sign up, circles, automatic payment settings, activity, credit report, Hyper (experimental)</a:t>
            </a:r>
          </a:p>
          <a:p>
            <a:pPr marL="173736" indent="-173736">
              <a:lnSpc>
                <a:spcPct val="106000"/>
              </a:lnSpc>
              <a:spcAft>
                <a:spcPts val="1100"/>
              </a:spcAft>
              <a:buClr>
                <a:srgbClr val="41801A"/>
              </a:buClr>
              <a:buSzPct val="70000"/>
              <a:buFont typeface="Arial"/>
              <a:buChar char="■"/>
            </a:pPr>
            <a:r>
              <a:rPr sz="1300">
                <a:solidFill>
                  <a:srgbClr val="0C1408"/>
                </a:solidFill>
                <a:latin typeface="Arial"/>
              </a:rPr>
              <a:t>Checks: identity, income, affordability and score</a:t>
            </a:r>
          </a:p>
          <a:p>
            <a:pPr marL="173736" indent="-173736">
              <a:lnSpc>
                <a:spcPct val="106000"/>
              </a:lnSpc>
              <a:spcAft>
                <a:spcPts val="1100"/>
              </a:spcAft>
              <a:buClr>
                <a:srgbClr val="41801A"/>
              </a:buClr>
              <a:buSzPct val="70000"/>
              <a:buFont typeface="Arial"/>
              <a:buChar char="■"/>
            </a:pPr>
            <a:r>
              <a:rPr sz="1300">
                <a:solidFill>
                  <a:srgbClr val="0C1408"/>
                </a:solidFill>
                <a:latin typeface="Arial"/>
              </a:rPr>
              <a:t>Payday collection with retries</a:t>
            </a:r>
          </a:p>
          <a:p>
            <a:pPr marL="173736" indent="-173736">
              <a:lnSpc>
                <a:spcPct val="106000"/>
              </a:lnSpc>
              <a:spcAft>
                <a:spcPts val="1100"/>
              </a:spcAft>
              <a:buClr>
                <a:srgbClr val="41801A"/>
              </a:buClr>
              <a:buSzPct val="70000"/>
              <a:buFont typeface="Arial"/>
              <a:buChar char="■"/>
            </a:pPr>
            <a:r>
              <a:rPr sz="1300">
                <a:solidFill>
                  <a:srgbClr val="0C1408"/>
                </a:solidFill>
                <a:latin typeface="Arial"/>
              </a:rPr>
              <a:t>Records, receipts and statements</a:t>
            </a:r>
          </a:p>
        </p:txBody>
      </p:sp>
      <p:sp>
        <p:nvSpPr>
          <p:cNvPr id="7" name="Rectangle 6"/>
          <p:cNvSpPr/>
          <p:nvPr/>
        </p:nvSpPr>
        <p:spPr>
          <a:xfrm>
            <a:off x="4353458" y="1572768"/>
            <a:ext cx="3484778" cy="548640"/>
          </a:xfrm>
          <a:prstGeom prst="rect">
            <a:avLst/>
          </a:prstGeom>
          <a:solidFill>
            <a:srgbClr val="EEF4FD"/>
          </a:solidFill>
          <a:ln>
            <a:noFill/>
          </a:ln>
        </p:spPr>
        <p:txBody>
          <a:bodyPr rtlCol="0" anchor="ctr" lIns="182880" tIns="137160" rIns="182880" bIns="137160" wrap="square"/>
          <a:lstStyle/>
          <a:p>
            <a:pPr>
              <a:lnSpc>
                <a:spcPct val="105000"/>
              </a:lnSpc>
            </a:pPr>
            <a:r>
              <a:rPr sz="1500" b="1">
                <a:solidFill>
                  <a:srgbClr val="0C1408"/>
                </a:solidFill>
                <a:latin typeface="Arial"/>
              </a:rPr>
              <a:t>Written</a:t>
            </a:r>
          </a:p>
        </p:txBody>
      </p:sp>
      <p:sp>
        <p:nvSpPr>
          <p:cNvPr id="8" name="TextBox 7"/>
          <p:cNvSpPr txBox="1"/>
          <p:nvPr/>
        </p:nvSpPr>
        <p:spPr>
          <a:xfrm>
            <a:off x="4399178" y="2331720"/>
            <a:ext cx="3393338" cy="3566160"/>
          </a:xfrm>
          <a:prstGeom prst="rect">
            <a:avLst/>
          </a:prstGeom>
          <a:noFill/>
        </p:spPr>
        <p:txBody>
          <a:bodyPr wrap="square" lIns="0" tIns="0" rIns="0" bIns="0">
            <a:spAutoFit/>
          </a:bodyPr>
          <a:lstStyle/>
          <a:p>
            <a:pPr marL="173736" indent="-173736">
              <a:lnSpc>
                <a:spcPct val="106000"/>
              </a:lnSpc>
              <a:spcAft>
                <a:spcPts val="1100"/>
              </a:spcAft>
              <a:buClr>
                <a:srgbClr val="2A78D6"/>
              </a:buClr>
              <a:buSzPct val="70000"/>
              <a:buFont typeface="Arial"/>
              <a:buChar char="■"/>
            </a:pPr>
            <a:r>
              <a:rPr sz="1300">
                <a:solidFill>
                  <a:srgbClr val="0C1408"/>
                </a:solidFill>
                <a:latin typeface="Arial"/>
              </a:rPr>
              <a:t>Legal position checked against twelve laws and regulations</a:t>
            </a:r>
          </a:p>
          <a:p>
            <a:pPr marL="173736" indent="-173736">
              <a:lnSpc>
                <a:spcPct val="106000"/>
              </a:lnSpc>
              <a:spcAft>
                <a:spcPts val="1100"/>
              </a:spcAft>
              <a:buClr>
                <a:srgbClr val="2A78D6"/>
              </a:buClr>
              <a:buSzPct val="70000"/>
              <a:buFont typeface="Arial"/>
              <a:buChar char="■"/>
            </a:pPr>
            <a:r>
              <a:rPr sz="1300">
                <a:solidFill>
                  <a:srgbClr val="0C1408"/>
                </a:solidFill>
                <a:latin typeface="Arial"/>
              </a:rPr>
              <a:t>Six risk and pricing models</a:t>
            </a:r>
          </a:p>
          <a:p>
            <a:pPr marL="173736" indent="-173736">
              <a:lnSpc>
                <a:spcPct val="106000"/>
              </a:lnSpc>
              <a:spcAft>
                <a:spcPts val="1100"/>
              </a:spcAft>
              <a:buClr>
                <a:srgbClr val="2A78D6"/>
              </a:buClr>
              <a:buSzPct val="70000"/>
              <a:buFont typeface="Arial"/>
              <a:buChar char="■"/>
            </a:pPr>
            <a:r>
              <a:rPr sz="1300">
                <a:solidFill>
                  <a:srgbClr val="0C1408"/>
                </a:solidFill>
                <a:latin typeface="Arial"/>
              </a:rPr>
              <a:t>Default prevention and recovery design</a:t>
            </a:r>
          </a:p>
          <a:p>
            <a:pPr marL="173736" indent="-173736">
              <a:lnSpc>
                <a:spcPct val="106000"/>
              </a:lnSpc>
              <a:spcAft>
                <a:spcPts val="1100"/>
              </a:spcAft>
              <a:buClr>
                <a:srgbClr val="2A78D6"/>
              </a:buClr>
              <a:buSzPct val="70000"/>
              <a:buFont typeface="Arial"/>
              <a:buChar char="■"/>
            </a:pPr>
            <a:r>
              <a:rPr sz="1300">
                <a:solidFill>
                  <a:srgbClr val="0C1408"/>
                </a:solidFill>
                <a:latin typeface="Arial"/>
              </a:rPr>
              <a:t>Business model and unit costs</a:t>
            </a:r>
          </a:p>
        </p:txBody>
      </p:sp>
      <p:sp>
        <p:nvSpPr>
          <p:cNvPr id="9" name="Rectangle 8"/>
          <p:cNvSpPr/>
          <p:nvPr/>
        </p:nvSpPr>
        <p:spPr>
          <a:xfrm>
            <a:off x="8158277" y="1572768"/>
            <a:ext cx="3484778" cy="548640"/>
          </a:xfrm>
          <a:prstGeom prst="rect">
            <a:avLst/>
          </a:prstGeom>
          <a:solidFill>
            <a:srgbClr val="F4F1FB"/>
          </a:solidFill>
          <a:ln>
            <a:noFill/>
          </a:ln>
        </p:spPr>
        <p:txBody>
          <a:bodyPr rtlCol="0" anchor="ctr" lIns="182880" tIns="137160" rIns="182880" bIns="137160" wrap="square"/>
          <a:lstStyle/>
          <a:p>
            <a:pPr>
              <a:lnSpc>
                <a:spcPct val="105000"/>
              </a:lnSpc>
            </a:pPr>
            <a:r>
              <a:rPr sz="1500" b="1">
                <a:solidFill>
                  <a:srgbClr val="0C1408"/>
                </a:solidFill>
                <a:latin typeface="Arial"/>
              </a:rPr>
              <a:t>To do</a:t>
            </a:r>
          </a:p>
        </p:txBody>
      </p:sp>
      <p:sp>
        <p:nvSpPr>
          <p:cNvPr id="10" name="TextBox 9"/>
          <p:cNvSpPr txBox="1"/>
          <p:nvPr/>
        </p:nvSpPr>
        <p:spPr>
          <a:xfrm>
            <a:off x="8203997" y="2331720"/>
            <a:ext cx="3393338" cy="3566160"/>
          </a:xfrm>
          <a:prstGeom prst="rect">
            <a:avLst/>
          </a:prstGeom>
          <a:noFill/>
        </p:spPr>
        <p:txBody>
          <a:bodyPr wrap="square" lIns="0" tIns="0" rIns="0" bIns="0">
            <a:spAutoFit/>
          </a:bodyPr>
          <a:lstStyle/>
          <a:p>
            <a:pPr marL="173736" indent="-173736">
              <a:lnSpc>
                <a:spcPct val="106000"/>
              </a:lnSpc>
              <a:spcAft>
                <a:spcPts val="1100"/>
              </a:spcAft>
              <a:buClr>
                <a:srgbClr val="573F99"/>
              </a:buClr>
              <a:buSzPct val="70000"/>
              <a:buFont typeface="Arial"/>
              <a:buChar char="■"/>
            </a:pPr>
            <a:r>
              <a:rPr sz="1300">
                <a:solidFill>
                  <a:srgbClr val="0C1408"/>
                </a:solidFill>
                <a:latin typeface="Arial"/>
              </a:rPr>
              <a:t>Incorporation: private limited company, registered office in Islamabad</a:t>
            </a:r>
          </a:p>
          <a:p>
            <a:pPr marL="173736" indent="-173736">
              <a:lnSpc>
                <a:spcPct val="106000"/>
              </a:lnSpc>
              <a:spcAft>
                <a:spcPts val="1100"/>
              </a:spcAft>
              <a:buClr>
                <a:srgbClr val="573F99"/>
              </a:buClr>
              <a:buSzPct val="70000"/>
              <a:buFont typeface="Arial"/>
              <a:buChar char="■"/>
            </a:pPr>
            <a:r>
              <a:rPr sz="1300">
                <a:solidFill>
                  <a:srgbClr val="0C1408"/>
                </a:solidFill>
                <a:latin typeface="Arial"/>
              </a:rPr>
              <a:t>Agreement with Raqami</a:t>
            </a:r>
          </a:p>
          <a:p>
            <a:pPr marL="173736" indent="-173736">
              <a:lnSpc>
                <a:spcPct val="106000"/>
              </a:lnSpc>
              <a:spcAft>
                <a:spcPts val="1100"/>
              </a:spcAft>
              <a:buClr>
                <a:srgbClr val="573F99"/>
              </a:buClr>
              <a:buSzPct val="70000"/>
              <a:buFont typeface="Arial"/>
              <a:buChar char="■"/>
            </a:pPr>
            <a:r>
              <a:rPr sz="1300">
                <a:solidFill>
                  <a:srgbClr val="0C1408"/>
                </a:solidFill>
                <a:latin typeface="Arial"/>
              </a:rPr>
              <a:t>Product approval through Raqami</a:t>
            </a:r>
          </a:p>
          <a:p>
            <a:pPr marL="173736" indent="-173736">
              <a:lnSpc>
                <a:spcPct val="106000"/>
              </a:lnSpc>
              <a:spcAft>
                <a:spcPts val="1100"/>
              </a:spcAft>
              <a:buClr>
                <a:srgbClr val="573F99"/>
              </a:buClr>
              <a:buSzPct val="70000"/>
              <a:buFont typeface="Arial"/>
              <a:buChar char="■"/>
            </a:pPr>
            <a:r>
              <a:rPr sz="1300">
                <a:solidFill>
                  <a:srgbClr val="0C1408"/>
                </a:solidFill>
                <a:latin typeface="Arial"/>
              </a:rPr>
              <a:t>Connection to Raqami’s account, standing instruction and payment interfaces, and the PSP</a:t>
            </a:r>
          </a:p>
          <a:p>
            <a:pPr marL="173736" indent="-173736">
              <a:lnSpc>
                <a:spcPct val="106000"/>
              </a:lnSpc>
              <a:spcAft>
                <a:spcPts val="1100"/>
              </a:spcAft>
              <a:buClr>
                <a:srgbClr val="573F99"/>
              </a:buClr>
              <a:buSzPct val="70000"/>
              <a:buFont typeface="Arial"/>
              <a:buChar char="■"/>
            </a:pPr>
            <a:r>
              <a:rPr sz="1300">
                <a:solidFill>
                  <a:srgbClr val="0C1408"/>
                </a:solidFill>
                <a:latin typeface="Arial"/>
              </a:rPr>
              <a:t>Takaful operator and TASDEEQ reporting route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Summary</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The proposal, the roles of each party and the benefits to each</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20</a:t>
            </a:r>
          </a:p>
        </p:txBody>
      </p:sp>
      <p:sp>
        <p:nvSpPr>
          <p:cNvPr id="6" name="TextBox 5"/>
          <p:cNvSpPr txBox="1"/>
          <p:nvPr/>
        </p:nvSpPr>
        <p:spPr>
          <a:xfrm>
            <a:off x="548640" y="1627632"/>
            <a:ext cx="1554480" cy="365760"/>
          </a:xfrm>
          <a:prstGeom prst="rect">
            <a:avLst/>
          </a:prstGeom>
          <a:noFill/>
        </p:spPr>
        <p:txBody>
          <a:bodyPr wrap="square" lIns="0" tIns="0" rIns="0" bIns="0">
            <a:spAutoFit/>
          </a:bodyPr>
          <a:lstStyle/>
          <a:p>
            <a:pPr>
              <a:lnSpc>
                <a:spcPct val="105000"/>
              </a:lnSpc>
            </a:pPr>
            <a:r>
              <a:rPr sz="1300" b="1">
                <a:solidFill>
                  <a:srgbClr val="3E2B73"/>
                </a:solidFill>
                <a:latin typeface="Arial"/>
              </a:rPr>
              <a:t>Background</a:t>
            </a:r>
          </a:p>
        </p:txBody>
      </p:sp>
      <p:sp>
        <p:nvSpPr>
          <p:cNvPr id="7" name="TextBox 6"/>
          <p:cNvSpPr txBox="1"/>
          <p:nvPr/>
        </p:nvSpPr>
        <p:spPr>
          <a:xfrm>
            <a:off x="2103120" y="16276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About 4 in 10 Pakistanis save in committees. Almost all of it is cash, held by one organiser, outside any bank, with no record of who paid.</a:t>
            </a:r>
          </a:p>
        </p:txBody>
      </p:sp>
      <p:cxnSp>
        <p:nvCxnSpPr>
          <p:cNvPr id="8" name="Connector 7"/>
          <p:cNvCxnSpPr/>
          <p:nvPr/>
        </p:nvCxnSpPr>
        <p:spPr>
          <a:xfrm>
            <a:off x="548640" y="2450592"/>
            <a:ext cx="6629400" cy="0"/>
          </a:xfrm>
          <a:prstGeom prst="line">
            <a:avLst/>
          </a:prstGeom>
          <a:ln w="9525">
            <a:solidFill>
              <a:srgbClr val="D1D5DB"/>
            </a:solidFill>
          </a:ln>
        </p:spPr>
      </p:cxnSp>
      <p:sp>
        <p:nvSpPr>
          <p:cNvPr id="9" name="TextBox 8"/>
          <p:cNvSpPr txBox="1"/>
          <p:nvPr/>
        </p:nvSpPr>
        <p:spPr>
          <a:xfrm>
            <a:off x="548640" y="2542032"/>
            <a:ext cx="1554480" cy="365760"/>
          </a:xfrm>
          <a:prstGeom prst="rect">
            <a:avLst/>
          </a:prstGeom>
          <a:noFill/>
        </p:spPr>
        <p:txBody>
          <a:bodyPr wrap="square" lIns="0" tIns="0" rIns="0" bIns="0">
            <a:spAutoFit/>
          </a:bodyPr>
          <a:lstStyle/>
          <a:p>
            <a:pPr>
              <a:lnSpc>
                <a:spcPct val="105000"/>
              </a:lnSpc>
            </a:pPr>
            <a:r>
              <a:rPr sz="1300" b="1">
                <a:solidFill>
                  <a:srgbClr val="3E2B73"/>
                </a:solidFill>
                <a:latin typeface="Arial"/>
              </a:rPr>
              <a:t>Proposal</a:t>
            </a:r>
          </a:p>
        </p:txBody>
      </p:sp>
      <p:sp>
        <p:nvSpPr>
          <p:cNvPr id="10" name="TextBox 9"/>
          <p:cNvSpPr txBox="1"/>
          <p:nvPr/>
        </p:nvSpPr>
        <p:spPr>
          <a:xfrm>
            <a:off x="2103120" y="25420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Halqa runs committees in its application. Every member holds a Raqami account; Raqami collects each instalment and pays each pot. Wallets and cards connect through a licensed PSP.</a:t>
            </a:r>
          </a:p>
        </p:txBody>
      </p:sp>
      <p:cxnSp>
        <p:nvCxnSpPr>
          <p:cNvPr id="11" name="Connector 10"/>
          <p:cNvCxnSpPr/>
          <p:nvPr/>
        </p:nvCxnSpPr>
        <p:spPr>
          <a:xfrm>
            <a:off x="548640" y="3364992"/>
            <a:ext cx="6629400" cy="0"/>
          </a:xfrm>
          <a:prstGeom prst="line">
            <a:avLst/>
          </a:prstGeom>
          <a:ln w="9525">
            <a:solidFill>
              <a:srgbClr val="D1D5DB"/>
            </a:solidFill>
          </a:ln>
        </p:spPr>
      </p:cxnSp>
      <p:sp>
        <p:nvSpPr>
          <p:cNvPr id="12" name="TextBox 11"/>
          <p:cNvSpPr txBox="1"/>
          <p:nvPr/>
        </p:nvSpPr>
        <p:spPr>
          <a:xfrm>
            <a:off x="548640" y="3456432"/>
            <a:ext cx="1554480" cy="365760"/>
          </a:xfrm>
          <a:prstGeom prst="rect">
            <a:avLst/>
          </a:prstGeom>
          <a:noFill/>
        </p:spPr>
        <p:txBody>
          <a:bodyPr wrap="square" lIns="0" tIns="0" rIns="0" bIns="0">
            <a:spAutoFit/>
          </a:bodyPr>
          <a:lstStyle/>
          <a:p>
            <a:pPr>
              <a:lnSpc>
                <a:spcPct val="105000"/>
              </a:lnSpc>
            </a:pPr>
            <a:r>
              <a:rPr sz="1300" b="1">
                <a:solidFill>
                  <a:srgbClr val="3E2B73"/>
                </a:solidFill>
                <a:latin typeface="Arial"/>
              </a:rPr>
              <a:t>Roles</a:t>
            </a:r>
          </a:p>
        </p:txBody>
      </p:sp>
      <p:sp>
        <p:nvSpPr>
          <p:cNvPr id="13" name="TextBox 12"/>
          <p:cNvSpPr txBox="1"/>
          <p:nvPr/>
        </p:nvSpPr>
        <p:spPr>
          <a:xfrm>
            <a:off x="2103120" y="34564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Halqa: rules, turn order, member checks, reminders and records. Raqami: accounts, collection, payouts and profit. A licensed takaful operator protects members.</a:t>
            </a:r>
          </a:p>
        </p:txBody>
      </p:sp>
      <p:cxnSp>
        <p:nvCxnSpPr>
          <p:cNvPr id="14" name="Connector 13"/>
          <p:cNvCxnSpPr/>
          <p:nvPr/>
        </p:nvCxnSpPr>
        <p:spPr>
          <a:xfrm>
            <a:off x="548640" y="4279392"/>
            <a:ext cx="6629400" cy="0"/>
          </a:xfrm>
          <a:prstGeom prst="line">
            <a:avLst/>
          </a:prstGeom>
          <a:ln w="9525">
            <a:solidFill>
              <a:srgbClr val="D1D5DB"/>
            </a:solidFill>
          </a:ln>
        </p:spPr>
      </p:cxnSp>
      <p:sp>
        <p:nvSpPr>
          <p:cNvPr id="15" name="TextBox 14"/>
          <p:cNvSpPr txBox="1"/>
          <p:nvPr/>
        </p:nvSpPr>
        <p:spPr>
          <a:xfrm>
            <a:off x="548640" y="4370832"/>
            <a:ext cx="1554480" cy="365760"/>
          </a:xfrm>
          <a:prstGeom prst="rect">
            <a:avLst/>
          </a:prstGeom>
          <a:noFill/>
        </p:spPr>
        <p:txBody>
          <a:bodyPr wrap="square" lIns="0" tIns="0" rIns="0" bIns="0">
            <a:spAutoFit/>
          </a:bodyPr>
          <a:lstStyle/>
          <a:p>
            <a:pPr>
              <a:lnSpc>
                <a:spcPct val="105000"/>
              </a:lnSpc>
            </a:pPr>
            <a:r>
              <a:rPr sz="1300" b="1">
                <a:solidFill>
                  <a:srgbClr val="3E2B73"/>
                </a:solidFill>
                <a:latin typeface="Arial"/>
              </a:rPr>
              <a:t>Regulation</a:t>
            </a:r>
          </a:p>
        </p:txBody>
      </p:sp>
      <p:sp>
        <p:nvSpPr>
          <p:cNvPr id="16" name="TextBox 15"/>
          <p:cNvSpPr txBox="1"/>
          <p:nvPr/>
        </p:nvSpPr>
        <p:spPr>
          <a:xfrm>
            <a:off x="2103120" y="43708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Through Raqami’s licence, with Halqa acting as its service provider under the State Bank’s outsourcing framework.</a:t>
            </a:r>
          </a:p>
        </p:txBody>
      </p:sp>
      <p:cxnSp>
        <p:nvCxnSpPr>
          <p:cNvPr id="17" name="Connector 16"/>
          <p:cNvCxnSpPr/>
          <p:nvPr/>
        </p:nvCxnSpPr>
        <p:spPr>
          <a:xfrm>
            <a:off x="548640" y="5193792"/>
            <a:ext cx="6629400" cy="0"/>
          </a:xfrm>
          <a:prstGeom prst="line">
            <a:avLst/>
          </a:prstGeom>
          <a:ln w="9525">
            <a:solidFill>
              <a:srgbClr val="D1D5DB"/>
            </a:solidFill>
          </a:ln>
        </p:spPr>
      </p:cxnSp>
      <p:sp>
        <p:nvSpPr>
          <p:cNvPr id="18" name="TextBox 17"/>
          <p:cNvSpPr txBox="1"/>
          <p:nvPr/>
        </p:nvSpPr>
        <p:spPr>
          <a:xfrm>
            <a:off x="548640" y="5285232"/>
            <a:ext cx="1554480" cy="365760"/>
          </a:xfrm>
          <a:prstGeom prst="rect">
            <a:avLst/>
          </a:prstGeom>
          <a:noFill/>
        </p:spPr>
        <p:txBody>
          <a:bodyPr wrap="square" lIns="0" tIns="0" rIns="0" bIns="0">
            <a:spAutoFit/>
          </a:bodyPr>
          <a:lstStyle/>
          <a:p>
            <a:pPr>
              <a:lnSpc>
                <a:spcPct val="105000"/>
              </a:lnSpc>
            </a:pPr>
            <a:r>
              <a:rPr sz="1300" b="1">
                <a:solidFill>
                  <a:srgbClr val="3E2B73"/>
                </a:solidFill>
                <a:latin typeface="Arial"/>
              </a:rPr>
              <a:t>Status</a:t>
            </a:r>
          </a:p>
        </p:txBody>
      </p:sp>
      <p:sp>
        <p:nvSpPr>
          <p:cNvPr id="19" name="TextBox 18"/>
          <p:cNvSpPr txBox="1"/>
          <p:nvPr/>
        </p:nvSpPr>
        <p:spPr>
          <a:xfrm>
            <a:off x="2103120" y="52852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The application is built and runs in preview. No member money has moved.</a:t>
            </a:r>
          </a:p>
        </p:txBody>
      </p:sp>
      <p:sp>
        <p:nvSpPr>
          <p:cNvPr id="20" name="Rectangle 19"/>
          <p:cNvSpPr/>
          <p:nvPr/>
        </p:nvSpPr>
        <p:spPr>
          <a:xfrm>
            <a:off x="7635240" y="1554480"/>
            <a:ext cx="4007815" cy="2395728"/>
          </a:xfrm>
          <a:prstGeom prst="rect">
            <a:avLst/>
          </a:prstGeom>
          <a:solidFill>
            <a:srgbClr val="F3FCE7"/>
          </a:solidFill>
          <a:ln>
            <a:noFill/>
          </a:ln>
        </p:spPr>
        <p:txBody>
          <a:bodyPr rtlCol="0" anchor="ctr"/>
          <a:lstStyle/>
          <a:p>
            <a:pPr algn="ctr"/>
          </a:p>
        </p:txBody>
      </p:sp>
      <p:sp>
        <p:nvSpPr>
          <p:cNvPr id="21" name="TextBox 20"/>
          <p:cNvSpPr txBox="1"/>
          <p:nvPr/>
        </p:nvSpPr>
        <p:spPr>
          <a:xfrm>
            <a:off x="7836408" y="1682496"/>
            <a:ext cx="3642055" cy="292608"/>
          </a:xfrm>
          <a:prstGeom prst="rect">
            <a:avLst/>
          </a:prstGeom>
          <a:noFill/>
        </p:spPr>
        <p:txBody>
          <a:bodyPr wrap="square" lIns="0" tIns="0" rIns="0" bIns="0">
            <a:spAutoFit/>
          </a:bodyPr>
          <a:lstStyle/>
          <a:p>
            <a:pPr>
              <a:lnSpc>
                <a:spcPct val="105000"/>
              </a:lnSpc>
            </a:pPr>
            <a:r>
              <a:rPr sz="1350" b="1">
                <a:solidFill>
                  <a:srgbClr val="0C1408"/>
                </a:solidFill>
                <a:latin typeface="Arial"/>
              </a:rPr>
              <a:t>For members</a:t>
            </a:r>
          </a:p>
        </p:txBody>
      </p:sp>
      <p:sp>
        <p:nvSpPr>
          <p:cNvPr id="22" name="TextBox 21"/>
          <p:cNvSpPr txBox="1"/>
          <p:nvPr/>
        </p:nvSpPr>
        <p:spPr>
          <a:xfrm>
            <a:off x="7836408" y="2029968"/>
            <a:ext cx="3642055" cy="1847088"/>
          </a:xfrm>
          <a:prstGeom prst="rect">
            <a:avLst/>
          </a:prstGeom>
          <a:noFill/>
        </p:spPr>
        <p:txBody>
          <a:bodyPr wrap="square" lIns="0" tIns="0" rIns="0" bIns="0">
            <a:spAutoFit/>
          </a:bodyPr>
          <a:lstStyle/>
          <a:p>
            <a:pPr marL="173736" indent="-173736">
              <a:lnSpc>
                <a:spcPct val="104000"/>
              </a:lnSpc>
              <a:spcAft>
                <a:spcPts val="350"/>
              </a:spcAft>
              <a:buClr>
                <a:srgbClr val="41801A"/>
              </a:buClr>
              <a:buSzPct val="70000"/>
              <a:buFont typeface="Arial"/>
              <a:buChar char="■"/>
            </a:pPr>
            <a:r>
              <a:rPr sz="1150">
                <a:solidFill>
                  <a:srgbClr val="0C1408"/>
                </a:solidFill>
                <a:latin typeface="Arial"/>
              </a:rPr>
              <a:t>Money held by a bank, not by an organiser</a:t>
            </a:r>
          </a:p>
          <a:p>
            <a:pPr marL="173736" indent="-173736">
              <a:lnSpc>
                <a:spcPct val="104000"/>
              </a:lnSpc>
              <a:spcAft>
                <a:spcPts val="350"/>
              </a:spcAft>
              <a:buClr>
                <a:srgbClr val="41801A"/>
              </a:buClr>
              <a:buSzPct val="70000"/>
              <a:buFont typeface="Arial"/>
              <a:buChar char="■"/>
            </a:pPr>
            <a:r>
              <a:rPr sz="1150">
                <a:solidFill>
                  <a:srgbClr val="0C1408"/>
                </a:solidFill>
                <a:latin typeface="Arial"/>
              </a:rPr>
              <a:t>One flat fee for every turn</a:t>
            </a:r>
          </a:p>
          <a:p>
            <a:pPr marL="173736" indent="-173736">
              <a:lnSpc>
                <a:spcPct val="104000"/>
              </a:lnSpc>
              <a:spcAft>
                <a:spcPts val="350"/>
              </a:spcAft>
              <a:buClr>
                <a:srgbClr val="41801A"/>
              </a:buClr>
              <a:buSzPct val="70000"/>
              <a:buFont typeface="Arial"/>
              <a:buChar char="■"/>
            </a:pPr>
            <a:r>
              <a:rPr sz="1150">
                <a:solidFill>
                  <a:srgbClr val="0C1408"/>
                </a:solidFill>
                <a:latin typeface="Arial"/>
              </a:rPr>
              <a:t>Automatic payment on payday</a:t>
            </a:r>
          </a:p>
          <a:p>
            <a:pPr marL="173736" indent="-173736">
              <a:lnSpc>
                <a:spcPct val="104000"/>
              </a:lnSpc>
              <a:spcAft>
                <a:spcPts val="350"/>
              </a:spcAft>
              <a:buClr>
                <a:srgbClr val="41801A"/>
              </a:buClr>
              <a:buSzPct val="70000"/>
              <a:buFont typeface="Arial"/>
              <a:buChar char="■"/>
            </a:pPr>
            <a:r>
              <a:rPr sz="1150">
                <a:solidFill>
                  <a:srgbClr val="0C1408"/>
                </a:solidFill>
                <a:latin typeface="Arial"/>
              </a:rPr>
              <a:t>The pot paid the same day</a:t>
            </a:r>
          </a:p>
          <a:p>
            <a:pPr marL="173736" indent="-173736">
              <a:lnSpc>
                <a:spcPct val="104000"/>
              </a:lnSpc>
              <a:spcAft>
                <a:spcPts val="350"/>
              </a:spcAft>
              <a:buClr>
                <a:srgbClr val="41801A"/>
              </a:buClr>
              <a:buSzPct val="70000"/>
              <a:buFont typeface="Arial"/>
              <a:buChar char="■"/>
            </a:pPr>
            <a:r>
              <a:rPr sz="1150">
                <a:solidFill>
                  <a:srgbClr val="0C1408"/>
                </a:solidFill>
                <a:latin typeface="Arial"/>
              </a:rPr>
              <a:t>Takaful if a member defaults</a:t>
            </a:r>
          </a:p>
          <a:p>
            <a:pPr marL="173736" indent="-173736">
              <a:lnSpc>
                <a:spcPct val="104000"/>
              </a:lnSpc>
              <a:spcAft>
                <a:spcPts val="350"/>
              </a:spcAft>
              <a:buClr>
                <a:srgbClr val="41801A"/>
              </a:buClr>
              <a:buSzPct val="70000"/>
              <a:buFont typeface="Arial"/>
              <a:buChar char="■"/>
            </a:pPr>
            <a:r>
              <a:rPr sz="1150">
                <a:solidFill>
                  <a:srgbClr val="0C1408"/>
                </a:solidFill>
                <a:latin typeface="Arial"/>
              </a:rPr>
              <a:t>A credit record from every payment</a:t>
            </a:r>
          </a:p>
          <a:p>
            <a:pPr marL="173736" indent="-173736">
              <a:lnSpc>
                <a:spcPct val="104000"/>
              </a:lnSpc>
              <a:spcAft>
                <a:spcPts val="350"/>
              </a:spcAft>
              <a:buClr>
                <a:srgbClr val="41801A"/>
              </a:buClr>
              <a:buSzPct val="70000"/>
              <a:buFont typeface="Arial"/>
              <a:buChar char="■"/>
            </a:pPr>
            <a:r>
              <a:rPr sz="1150">
                <a:solidFill>
                  <a:srgbClr val="0C1408"/>
                </a:solidFill>
                <a:latin typeface="Arial"/>
              </a:rPr>
              <a:t>Profit on balances returned as points</a:t>
            </a:r>
          </a:p>
        </p:txBody>
      </p:sp>
      <p:sp>
        <p:nvSpPr>
          <p:cNvPr id="23" name="Rectangle 22"/>
          <p:cNvSpPr/>
          <p:nvPr/>
        </p:nvSpPr>
        <p:spPr>
          <a:xfrm>
            <a:off x="7635240" y="4087368"/>
            <a:ext cx="4007815" cy="2103120"/>
          </a:xfrm>
          <a:prstGeom prst="rect">
            <a:avLst/>
          </a:prstGeom>
          <a:solidFill>
            <a:srgbClr val="F4F1FB"/>
          </a:solidFill>
          <a:ln>
            <a:noFill/>
          </a:ln>
        </p:spPr>
        <p:txBody>
          <a:bodyPr rtlCol="0" anchor="ctr"/>
          <a:lstStyle/>
          <a:p>
            <a:pPr algn="ctr"/>
          </a:p>
        </p:txBody>
      </p:sp>
      <p:sp>
        <p:nvSpPr>
          <p:cNvPr id="24" name="TextBox 23"/>
          <p:cNvSpPr txBox="1"/>
          <p:nvPr/>
        </p:nvSpPr>
        <p:spPr>
          <a:xfrm>
            <a:off x="7836408" y="4215384"/>
            <a:ext cx="3642055" cy="292608"/>
          </a:xfrm>
          <a:prstGeom prst="rect">
            <a:avLst/>
          </a:prstGeom>
          <a:noFill/>
        </p:spPr>
        <p:txBody>
          <a:bodyPr wrap="square" lIns="0" tIns="0" rIns="0" bIns="0">
            <a:spAutoFit/>
          </a:bodyPr>
          <a:lstStyle/>
          <a:p>
            <a:pPr>
              <a:lnSpc>
                <a:spcPct val="105000"/>
              </a:lnSpc>
            </a:pPr>
            <a:r>
              <a:rPr sz="1350" b="1">
                <a:solidFill>
                  <a:srgbClr val="0C1408"/>
                </a:solidFill>
                <a:latin typeface="Arial"/>
              </a:rPr>
              <a:t>For Raqami</a:t>
            </a:r>
          </a:p>
        </p:txBody>
      </p:sp>
      <p:sp>
        <p:nvSpPr>
          <p:cNvPr id="25" name="TextBox 24"/>
          <p:cNvSpPr txBox="1"/>
          <p:nvPr/>
        </p:nvSpPr>
        <p:spPr>
          <a:xfrm>
            <a:off x="7836408" y="4562856"/>
            <a:ext cx="3642055" cy="1554480"/>
          </a:xfrm>
          <a:prstGeom prst="rect">
            <a:avLst/>
          </a:prstGeom>
          <a:noFill/>
        </p:spPr>
        <p:txBody>
          <a:bodyPr wrap="square" lIns="0" tIns="0" rIns="0" bIns="0">
            <a:spAutoFit/>
          </a:bodyPr>
          <a:lstStyle/>
          <a:p>
            <a:pPr marL="173736" indent="-173736">
              <a:lnSpc>
                <a:spcPct val="104000"/>
              </a:lnSpc>
              <a:spcAft>
                <a:spcPts val="350"/>
              </a:spcAft>
              <a:buClr>
                <a:srgbClr val="573F99"/>
              </a:buClr>
              <a:buSzPct val="70000"/>
              <a:buFont typeface="Arial"/>
              <a:buChar char="■"/>
            </a:pPr>
            <a:r>
              <a:rPr sz="1150">
                <a:solidFill>
                  <a:srgbClr val="0C1408"/>
                </a:solidFill>
                <a:latin typeface="Arial"/>
              </a:rPr>
              <a:t>6 to 20 new accounts from each circle</a:t>
            </a:r>
          </a:p>
          <a:p>
            <a:pPr marL="173736" indent="-173736">
              <a:lnSpc>
                <a:spcPct val="104000"/>
              </a:lnSpc>
              <a:spcAft>
                <a:spcPts val="350"/>
              </a:spcAft>
              <a:buClr>
                <a:srgbClr val="573F99"/>
              </a:buClr>
              <a:buSzPct val="70000"/>
              <a:buFont typeface="Arial"/>
              <a:buChar char="■"/>
            </a:pPr>
            <a:r>
              <a:rPr sz="1150">
                <a:solidFill>
                  <a:srgbClr val="0C1408"/>
                </a:solidFill>
                <a:latin typeface="Arial"/>
              </a:rPr>
              <a:t>About Rs 1.4 billion of deposits per 100,000 members</a:t>
            </a:r>
          </a:p>
          <a:p>
            <a:pPr marL="173736" indent="-173736">
              <a:lnSpc>
                <a:spcPct val="104000"/>
              </a:lnSpc>
              <a:spcAft>
                <a:spcPts val="350"/>
              </a:spcAft>
              <a:buClr>
                <a:srgbClr val="573F99"/>
              </a:buClr>
              <a:buSzPct val="70000"/>
              <a:buFont typeface="Arial"/>
              <a:buChar char="■"/>
            </a:pPr>
            <a:r>
              <a:rPr sz="1150">
                <a:solidFill>
                  <a:srgbClr val="0C1408"/>
                </a:solidFill>
                <a:latin typeface="Arial"/>
              </a:rPr>
              <a:t>Instalments held about 7 days before payout</a:t>
            </a:r>
          </a:p>
          <a:p>
            <a:pPr marL="173736" indent="-173736">
              <a:lnSpc>
                <a:spcPct val="104000"/>
              </a:lnSpc>
              <a:spcAft>
                <a:spcPts val="350"/>
              </a:spcAft>
              <a:buClr>
                <a:srgbClr val="573F99"/>
              </a:buClr>
              <a:buSzPct val="70000"/>
              <a:buFont typeface="Arial"/>
              <a:buChar char="■"/>
            </a:pPr>
            <a:r>
              <a:rPr sz="1150">
                <a:solidFill>
                  <a:srgbClr val="0C1408"/>
                </a:solidFill>
                <a:latin typeface="Arial"/>
              </a:rPr>
              <a:t>A repayment record on every member</a:t>
            </a:r>
          </a:p>
          <a:p>
            <a:pPr marL="173736" indent="-173736">
              <a:lnSpc>
                <a:spcPct val="104000"/>
              </a:lnSpc>
              <a:spcAft>
                <a:spcPts val="350"/>
              </a:spcAft>
              <a:buClr>
                <a:srgbClr val="573F99"/>
              </a:buClr>
              <a:buSzPct val="70000"/>
              <a:buFont typeface="Arial"/>
              <a:buChar char="■"/>
            </a:pPr>
            <a:r>
              <a:rPr sz="1150">
                <a:solidFill>
                  <a:srgbClr val="0C1408"/>
                </a:solidFill>
                <a:latin typeface="Arial"/>
              </a:rPr>
              <a:t>Fee income, shared with Halqa</a:t>
            </a:r>
          </a:p>
          <a:p>
            <a:pPr marL="173736" indent="-173736">
              <a:lnSpc>
                <a:spcPct val="104000"/>
              </a:lnSpc>
              <a:spcAft>
                <a:spcPts val="350"/>
              </a:spcAft>
              <a:buClr>
                <a:srgbClr val="573F99"/>
              </a:buClr>
              <a:buSzPct val="70000"/>
              <a:buFont typeface="Arial"/>
              <a:buChar char="■"/>
            </a:pPr>
            <a:r>
              <a:rPr sz="1150">
                <a:solidFill>
                  <a:srgbClr val="0C1408"/>
                </a:solidFill>
                <a:latin typeface="Arial"/>
              </a:rPr>
              <a:t>Asset financing after clean circles</a:t>
            </a:r>
          </a:p>
        </p:txBody>
      </p:sp>
      <p:sp>
        <p:nvSpPr>
          <p:cNvPr id="26" name="TextBox 25"/>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Karandaaz and Oraan estimates, Dawn, 12 December 2022    2  Raqami Islamic Digital Bank half year report to 30 June 2026, at the bank’s own average deposit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Hyper Daily Committee (Experimental)</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Appendix A1 · a daily circle for daily earners, in two designs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21</a:t>
            </a:r>
          </a:p>
        </p:txBody>
      </p:sp>
      <p:sp>
        <p:nvSpPr>
          <p:cNvPr id="6" name="TextBox 5"/>
          <p:cNvSpPr txBox="1"/>
          <p:nvPr/>
        </p:nvSpPr>
        <p:spPr>
          <a:xfrm>
            <a:off x="548640" y="1481328"/>
            <a:ext cx="6583680" cy="274320"/>
          </a:xfrm>
          <a:prstGeom prst="rect">
            <a:avLst/>
          </a:prstGeom>
          <a:noFill/>
        </p:spPr>
        <p:txBody>
          <a:bodyPr wrap="square" lIns="0" tIns="0" rIns="0" bIns="0">
            <a:spAutoFit/>
          </a:bodyPr>
          <a:lstStyle/>
          <a:p>
            <a:pPr>
              <a:lnSpc>
                <a:spcPct val="100000"/>
              </a:lnSpc>
            </a:pPr>
            <a:r>
              <a:rPr sz="1200" b="1">
                <a:solidFill>
                  <a:srgbClr val="0C1408"/>
                </a:solidFill>
                <a:latin typeface="Arial"/>
              </a:rPr>
              <a:t>Daily payment by design</a:t>
            </a:r>
            <a:r>
              <a:rPr sz="1100">
                <a:solidFill>
                  <a:srgbClr val="0C1408"/>
                </a:solidFill>
                <a:latin typeface="Arial"/>
              </a:rPr>
              <a:t>   Rs a day</a:t>
            </a:r>
          </a:p>
        </p:txBody>
      </p:sp>
      <p:sp>
        <p:nvSpPr>
          <p:cNvPr id="7" name="TextBox 6"/>
          <p:cNvSpPr txBox="1"/>
          <p:nvPr/>
        </p:nvSpPr>
        <p:spPr>
          <a:xfrm>
            <a:off x="548640" y="1874520"/>
            <a:ext cx="1005840" cy="457200"/>
          </a:xfrm>
          <a:prstGeom prst="rect">
            <a:avLst/>
          </a:prstGeom>
          <a:noFill/>
        </p:spPr>
        <p:txBody>
          <a:bodyPr wrap="square" lIns="0" tIns="0" rIns="0" bIns="0" anchor="ctr">
            <a:spAutoFit/>
          </a:bodyPr>
          <a:lstStyle/>
          <a:p>
            <a:pPr>
              <a:lnSpc>
                <a:spcPct val="105000"/>
              </a:lnSpc>
            </a:pPr>
            <a:r>
              <a:rPr sz="1200" b="1">
                <a:solidFill>
                  <a:srgbClr val="0C1408"/>
                </a:solidFill>
                <a:latin typeface="Arial"/>
              </a:rPr>
              <a:t>Design 1</a:t>
            </a:r>
          </a:p>
        </p:txBody>
      </p:sp>
      <p:sp>
        <p:nvSpPr>
          <p:cNvPr id="8" name="Rectangle 7"/>
          <p:cNvSpPr/>
          <p:nvPr/>
        </p:nvSpPr>
        <p:spPr>
          <a:xfrm>
            <a:off x="1645920" y="1874520"/>
            <a:ext cx="2331720" cy="457200"/>
          </a:xfrm>
          <a:prstGeom prst="rect">
            <a:avLst/>
          </a:prstGeom>
          <a:solidFill>
            <a:srgbClr val="2A78D6"/>
          </a:solidFill>
          <a:ln>
            <a:noFill/>
          </a:ln>
        </p:spPr>
        <p:txBody>
          <a:bodyPr rtlCol="0" anchor="ctr"/>
          <a:lstStyle/>
          <a:p>
            <a:pPr algn="ctr"/>
          </a:p>
        </p:txBody>
      </p:sp>
      <p:sp>
        <p:nvSpPr>
          <p:cNvPr id="9" name="TextBox 8"/>
          <p:cNvSpPr txBox="1"/>
          <p:nvPr/>
        </p:nvSpPr>
        <p:spPr>
          <a:xfrm>
            <a:off x="1719072" y="1874520"/>
            <a:ext cx="2212848"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300 contribution</a:t>
            </a:r>
          </a:p>
        </p:txBody>
      </p:sp>
      <p:sp>
        <p:nvSpPr>
          <p:cNvPr id="10" name="Rectangle 9"/>
          <p:cNvSpPr/>
          <p:nvPr/>
        </p:nvSpPr>
        <p:spPr>
          <a:xfrm>
            <a:off x="4005072" y="1874520"/>
            <a:ext cx="1034186" cy="457200"/>
          </a:xfrm>
          <a:prstGeom prst="rect">
            <a:avLst/>
          </a:prstGeom>
          <a:solidFill>
            <a:srgbClr val="0E9384"/>
          </a:solidFill>
          <a:ln>
            <a:noFill/>
          </a:ln>
        </p:spPr>
        <p:txBody>
          <a:bodyPr rtlCol="0" anchor="ctr"/>
          <a:lstStyle/>
          <a:p>
            <a:pPr algn="ctr"/>
          </a:p>
        </p:txBody>
      </p:sp>
      <p:sp>
        <p:nvSpPr>
          <p:cNvPr id="11" name="TextBox 10"/>
          <p:cNvSpPr txBox="1"/>
          <p:nvPr/>
        </p:nvSpPr>
        <p:spPr>
          <a:xfrm>
            <a:off x="4078224" y="1874520"/>
            <a:ext cx="915314"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135</a:t>
            </a:r>
          </a:p>
        </p:txBody>
      </p:sp>
      <p:sp>
        <p:nvSpPr>
          <p:cNvPr id="12" name="Rectangle 11"/>
          <p:cNvSpPr/>
          <p:nvPr/>
        </p:nvSpPr>
        <p:spPr>
          <a:xfrm>
            <a:off x="5066690" y="1874520"/>
            <a:ext cx="90526" cy="457200"/>
          </a:xfrm>
          <a:prstGeom prst="rect">
            <a:avLst/>
          </a:prstGeom>
          <a:solidFill>
            <a:srgbClr val="573F99"/>
          </a:solidFill>
          <a:ln>
            <a:noFill/>
          </a:ln>
        </p:spPr>
        <p:txBody>
          <a:bodyPr rtlCol="0" anchor="ctr"/>
          <a:lstStyle/>
          <a:p>
            <a:pPr algn="ctr"/>
          </a:p>
        </p:txBody>
      </p:sp>
      <p:sp>
        <p:nvSpPr>
          <p:cNvPr id="13" name="TextBox 12"/>
          <p:cNvSpPr txBox="1"/>
          <p:nvPr/>
        </p:nvSpPr>
        <p:spPr>
          <a:xfrm>
            <a:off x="5276088" y="1874520"/>
            <a:ext cx="1188720" cy="457200"/>
          </a:xfrm>
          <a:prstGeom prst="rect">
            <a:avLst/>
          </a:prstGeom>
          <a:noFill/>
        </p:spPr>
        <p:txBody>
          <a:bodyPr wrap="square" lIns="0" tIns="0" rIns="0" bIns="0" anchor="ctr">
            <a:spAutoFit/>
          </a:bodyPr>
          <a:lstStyle/>
          <a:p>
            <a:pPr>
              <a:lnSpc>
                <a:spcPct val="105000"/>
              </a:lnSpc>
            </a:pPr>
            <a:r>
              <a:rPr sz="1150" b="1">
                <a:solidFill>
                  <a:srgbClr val="0C1408"/>
                </a:solidFill>
                <a:latin typeface="Arial"/>
              </a:rPr>
              <a:t>Rs 450 a day</a:t>
            </a:r>
          </a:p>
        </p:txBody>
      </p:sp>
      <p:sp>
        <p:nvSpPr>
          <p:cNvPr id="14" name="TextBox 13"/>
          <p:cNvSpPr txBox="1"/>
          <p:nvPr/>
        </p:nvSpPr>
        <p:spPr>
          <a:xfrm>
            <a:off x="548640" y="2587752"/>
            <a:ext cx="1005840" cy="457200"/>
          </a:xfrm>
          <a:prstGeom prst="rect">
            <a:avLst/>
          </a:prstGeom>
          <a:noFill/>
        </p:spPr>
        <p:txBody>
          <a:bodyPr wrap="square" lIns="0" tIns="0" rIns="0" bIns="0" anchor="ctr">
            <a:spAutoFit/>
          </a:bodyPr>
          <a:lstStyle/>
          <a:p>
            <a:pPr>
              <a:lnSpc>
                <a:spcPct val="105000"/>
              </a:lnSpc>
            </a:pPr>
            <a:r>
              <a:rPr sz="1200" b="1">
                <a:solidFill>
                  <a:srgbClr val="0C1408"/>
                </a:solidFill>
                <a:latin typeface="Arial"/>
              </a:rPr>
              <a:t>Design 2</a:t>
            </a:r>
          </a:p>
        </p:txBody>
      </p:sp>
      <p:sp>
        <p:nvSpPr>
          <p:cNvPr id="15" name="Rectangle 14"/>
          <p:cNvSpPr/>
          <p:nvPr/>
        </p:nvSpPr>
        <p:spPr>
          <a:xfrm>
            <a:off x="1645920" y="2587752"/>
            <a:ext cx="2593822" cy="457200"/>
          </a:xfrm>
          <a:prstGeom prst="rect">
            <a:avLst/>
          </a:prstGeom>
          <a:solidFill>
            <a:srgbClr val="2A78D6"/>
          </a:solidFill>
          <a:ln>
            <a:noFill/>
          </a:ln>
        </p:spPr>
        <p:txBody>
          <a:bodyPr rtlCol="0" anchor="ctr"/>
          <a:lstStyle/>
          <a:p>
            <a:pPr algn="ctr"/>
          </a:p>
        </p:txBody>
      </p:sp>
      <p:sp>
        <p:nvSpPr>
          <p:cNvPr id="16" name="TextBox 15"/>
          <p:cNvSpPr txBox="1"/>
          <p:nvPr/>
        </p:nvSpPr>
        <p:spPr>
          <a:xfrm>
            <a:off x="1719072" y="2587752"/>
            <a:ext cx="2474950"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333.33 contribution</a:t>
            </a:r>
          </a:p>
        </p:txBody>
      </p:sp>
      <p:sp>
        <p:nvSpPr>
          <p:cNvPr id="17" name="Rectangle 16"/>
          <p:cNvSpPr/>
          <p:nvPr/>
        </p:nvSpPr>
        <p:spPr>
          <a:xfrm>
            <a:off x="4267174" y="2587752"/>
            <a:ext cx="1165277" cy="457200"/>
          </a:xfrm>
          <a:prstGeom prst="rect">
            <a:avLst/>
          </a:prstGeom>
          <a:solidFill>
            <a:srgbClr val="0E9384"/>
          </a:solidFill>
          <a:ln>
            <a:noFill/>
          </a:ln>
        </p:spPr>
        <p:txBody>
          <a:bodyPr rtlCol="0" anchor="ctr"/>
          <a:lstStyle/>
          <a:p>
            <a:pPr algn="ctr"/>
          </a:p>
        </p:txBody>
      </p:sp>
      <p:sp>
        <p:nvSpPr>
          <p:cNvPr id="18" name="TextBox 17"/>
          <p:cNvSpPr txBox="1"/>
          <p:nvPr/>
        </p:nvSpPr>
        <p:spPr>
          <a:xfrm>
            <a:off x="4340326" y="2587752"/>
            <a:ext cx="1046405"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151.67</a:t>
            </a:r>
          </a:p>
        </p:txBody>
      </p:sp>
      <p:sp>
        <p:nvSpPr>
          <p:cNvPr id="19" name="Rectangle 18"/>
          <p:cNvSpPr/>
          <p:nvPr/>
        </p:nvSpPr>
        <p:spPr>
          <a:xfrm>
            <a:off x="5459882" y="2587752"/>
            <a:ext cx="90526" cy="457200"/>
          </a:xfrm>
          <a:prstGeom prst="rect">
            <a:avLst/>
          </a:prstGeom>
          <a:solidFill>
            <a:srgbClr val="573F99"/>
          </a:solidFill>
          <a:ln>
            <a:noFill/>
          </a:ln>
        </p:spPr>
        <p:txBody>
          <a:bodyPr rtlCol="0" anchor="ctr"/>
          <a:lstStyle/>
          <a:p>
            <a:pPr algn="ctr"/>
          </a:p>
        </p:txBody>
      </p:sp>
      <p:sp>
        <p:nvSpPr>
          <p:cNvPr id="20" name="TextBox 19"/>
          <p:cNvSpPr txBox="1"/>
          <p:nvPr/>
        </p:nvSpPr>
        <p:spPr>
          <a:xfrm>
            <a:off x="5669280" y="2587752"/>
            <a:ext cx="1188720" cy="457200"/>
          </a:xfrm>
          <a:prstGeom prst="rect">
            <a:avLst/>
          </a:prstGeom>
          <a:noFill/>
        </p:spPr>
        <p:txBody>
          <a:bodyPr wrap="square" lIns="0" tIns="0" rIns="0" bIns="0" anchor="ctr">
            <a:spAutoFit/>
          </a:bodyPr>
          <a:lstStyle/>
          <a:p>
            <a:pPr>
              <a:lnSpc>
                <a:spcPct val="105000"/>
              </a:lnSpc>
            </a:pPr>
            <a:r>
              <a:rPr sz="1150" b="1">
                <a:solidFill>
                  <a:srgbClr val="0C1408"/>
                </a:solidFill>
                <a:latin typeface="Arial"/>
              </a:rPr>
              <a:t>Rs 500 a day</a:t>
            </a:r>
          </a:p>
        </p:txBody>
      </p:sp>
      <p:sp>
        <p:nvSpPr>
          <p:cNvPr id="21" name="Rectangle 20"/>
          <p:cNvSpPr/>
          <p:nvPr/>
        </p:nvSpPr>
        <p:spPr>
          <a:xfrm>
            <a:off x="548640" y="3346704"/>
            <a:ext cx="155448" cy="155448"/>
          </a:xfrm>
          <a:prstGeom prst="rect">
            <a:avLst/>
          </a:prstGeom>
          <a:solidFill>
            <a:srgbClr val="2A78D6"/>
          </a:solidFill>
          <a:ln>
            <a:noFill/>
          </a:ln>
        </p:spPr>
        <p:txBody>
          <a:bodyPr rtlCol="0" anchor="ctr"/>
          <a:lstStyle/>
          <a:p>
            <a:pPr algn="ctr"/>
          </a:p>
        </p:txBody>
      </p:sp>
      <p:sp>
        <p:nvSpPr>
          <p:cNvPr id="22" name="TextBox 21"/>
          <p:cNvSpPr txBox="1"/>
          <p:nvPr/>
        </p:nvSpPr>
        <p:spPr>
          <a:xfrm>
            <a:off x="777240" y="3310128"/>
            <a:ext cx="1689811" cy="237744"/>
          </a:xfrm>
          <a:prstGeom prst="rect">
            <a:avLst/>
          </a:prstGeom>
          <a:noFill/>
        </p:spPr>
        <p:txBody>
          <a:bodyPr wrap="square" lIns="0" tIns="0" rIns="0" bIns="0">
            <a:spAutoFit/>
          </a:bodyPr>
          <a:lstStyle/>
          <a:p>
            <a:pPr>
              <a:lnSpc>
                <a:spcPct val="105000"/>
              </a:lnSpc>
            </a:pPr>
            <a:r>
              <a:rPr sz="1000">
                <a:solidFill>
                  <a:srgbClr val="0C1408"/>
                </a:solidFill>
                <a:latin typeface="Arial"/>
              </a:rPr>
              <a:t>contribution, to the pot</a:t>
            </a:r>
          </a:p>
        </p:txBody>
      </p:sp>
      <p:sp>
        <p:nvSpPr>
          <p:cNvPr id="23" name="Rectangle 22"/>
          <p:cNvSpPr/>
          <p:nvPr/>
        </p:nvSpPr>
        <p:spPr>
          <a:xfrm>
            <a:off x="2759659" y="3346704"/>
            <a:ext cx="155448" cy="155448"/>
          </a:xfrm>
          <a:prstGeom prst="rect">
            <a:avLst/>
          </a:prstGeom>
          <a:solidFill>
            <a:srgbClr val="0E9384"/>
          </a:solidFill>
          <a:ln>
            <a:noFill/>
          </a:ln>
        </p:spPr>
        <p:txBody>
          <a:bodyPr rtlCol="0" anchor="ctr"/>
          <a:lstStyle/>
          <a:p>
            <a:pPr algn="ctr"/>
          </a:p>
        </p:txBody>
      </p:sp>
      <p:sp>
        <p:nvSpPr>
          <p:cNvPr id="24" name="TextBox 23"/>
          <p:cNvSpPr txBox="1"/>
          <p:nvPr/>
        </p:nvSpPr>
        <p:spPr>
          <a:xfrm>
            <a:off x="2988259" y="3310128"/>
            <a:ext cx="570586" cy="237744"/>
          </a:xfrm>
          <a:prstGeom prst="rect">
            <a:avLst/>
          </a:prstGeom>
          <a:noFill/>
        </p:spPr>
        <p:txBody>
          <a:bodyPr wrap="square" lIns="0" tIns="0" rIns="0" bIns="0">
            <a:spAutoFit/>
          </a:bodyPr>
          <a:lstStyle/>
          <a:p>
            <a:pPr>
              <a:lnSpc>
                <a:spcPct val="105000"/>
              </a:lnSpc>
            </a:pPr>
            <a:r>
              <a:rPr sz="1000">
                <a:solidFill>
                  <a:srgbClr val="0C1408"/>
                </a:solidFill>
                <a:latin typeface="Arial"/>
              </a:rPr>
              <a:t>takaful</a:t>
            </a:r>
          </a:p>
        </p:txBody>
      </p:sp>
      <p:sp>
        <p:nvSpPr>
          <p:cNvPr id="25" name="Rectangle 24"/>
          <p:cNvSpPr/>
          <p:nvPr/>
        </p:nvSpPr>
        <p:spPr>
          <a:xfrm>
            <a:off x="3851453" y="3346704"/>
            <a:ext cx="155448" cy="155448"/>
          </a:xfrm>
          <a:prstGeom prst="rect">
            <a:avLst/>
          </a:prstGeom>
          <a:solidFill>
            <a:srgbClr val="573F99"/>
          </a:solidFill>
          <a:ln>
            <a:noFill/>
          </a:ln>
        </p:spPr>
        <p:txBody>
          <a:bodyPr rtlCol="0" anchor="ctr"/>
          <a:lstStyle/>
          <a:p>
            <a:pPr algn="ctr"/>
          </a:p>
        </p:txBody>
      </p:sp>
      <p:sp>
        <p:nvSpPr>
          <p:cNvPr id="26" name="TextBox 25"/>
          <p:cNvSpPr txBox="1"/>
          <p:nvPr/>
        </p:nvSpPr>
        <p:spPr>
          <a:xfrm>
            <a:off x="4080053" y="3310128"/>
            <a:ext cx="1163117" cy="237744"/>
          </a:xfrm>
          <a:prstGeom prst="rect">
            <a:avLst/>
          </a:prstGeom>
          <a:noFill/>
        </p:spPr>
        <p:txBody>
          <a:bodyPr wrap="square" lIns="0" tIns="0" rIns="0" bIns="0">
            <a:spAutoFit/>
          </a:bodyPr>
          <a:lstStyle/>
          <a:p>
            <a:pPr>
              <a:lnSpc>
                <a:spcPct val="105000"/>
              </a:lnSpc>
            </a:pPr>
            <a:r>
              <a:rPr sz="1000">
                <a:solidFill>
                  <a:srgbClr val="0C1408"/>
                </a:solidFill>
                <a:latin typeface="Arial"/>
              </a:rPr>
              <a:t>fee, Rs 15 a day</a:t>
            </a:r>
          </a:p>
        </p:txBody>
      </p:sp>
      <p:sp>
        <p:nvSpPr>
          <p:cNvPr id="27" name="TextBox 26"/>
          <p:cNvSpPr txBox="1"/>
          <p:nvPr/>
        </p:nvSpPr>
        <p:spPr>
          <a:xfrm>
            <a:off x="548640" y="3794760"/>
            <a:ext cx="2651760" cy="274320"/>
          </a:xfrm>
          <a:prstGeom prst="rect">
            <a:avLst/>
          </a:prstGeom>
          <a:noFill/>
        </p:spPr>
        <p:txBody>
          <a:bodyPr wrap="square" lIns="0" tIns="0" rIns="0" bIns="0">
            <a:spAutoFit/>
          </a:bodyPr>
          <a:lstStyle/>
          <a:p>
            <a:pPr>
              <a:lnSpc>
                <a:spcPct val="105000"/>
              </a:lnSpc>
            </a:pPr>
          </a:p>
        </p:txBody>
      </p:sp>
      <p:sp>
        <p:nvSpPr>
          <p:cNvPr id="28" name="TextBox 27"/>
          <p:cNvSpPr txBox="1"/>
          <p:nvPr/>
        </p:nvSpPr>
        <p:spPr>
          <a:xfrm>
            <a:off x="3200400" y="3794760"/>
            <a:ext cx="1508760" cy="274320"/>
          </a:xfrm>
          <a:prstGeom prst="rect">
            <a:avLst/>
          </a:prstGeom>
          <a:noFill/>
        </p:spPr>
        <p:txBody>
          <a:bodyPr wrap="square" lIns="0" tIns="0" rIns="0" bIns="0">
            <a:spAutoFit/>
          </a:bodyPr>
          <a:lstStyle/>
          <a:p>
            <a:pPr algn="r">
              <a:lnSpc>
                <a:spcPct val="105000"/>
              </a:lnSpc>
            </a:pPr>
            <a:r>
              <a:rPr sz="1100" b="1">
                <a:solidFill>
                  <a:srgbClr val="0C1408"/>
                </a:solidFill>
                <a:latin typeface="Arial"/>
              </a:rPr>
              <a:t>Design 1</a:t>
            </a:r>
          </a:p>
        </p:txBody>
      </p:sp>
      <p:sp>
        <p:nvSpPr>
          <p:cNvPr id="29" name="TextBox 28"/>
          <p:cNvSpPr txBox="1"/>
          <p:nvPr/>
        </p:nvSpPr>
        <p:spPr>
          <a:xfrm>
            <a:off x="4709160" y="3794760"/>
            <a:ext cx="1508760" cy="274320"/>
          </a:xfrm>
          <a:prstGeom prst="rect">
            <a:avLst/>
          </a:prstGeom>
          <a:noFill/>
        </p:spPr>
        <p:txBody>
          <a:bodyPr wrap="square" lIns="0" tIns="0" rIns="0" bIns="0">
            <a:spAutoFit/>
          </a:bodyPr>
          <a:lstStyle/>
          <a:p>
            <a:pPr algn="r">
              <a:lnSpc>
                <a:spcPct val="105000"/>
              </a:lnSpc>
            </a:pPr>
            <a:r>
              <a:rPr sz="1100" b="1">
                <a:solidFill>
                  <a:srgbClr val="0C1408"/>
                </a:solidFill>
                <a:latin typeface="Arial"/>
              </a:rPr>
              <a:t>Design 2</a:t>
            </a:r>
          </a:p>
        </p:txBody>
      </p:sp>
      <p:cxnSp>
        <p:nvCxnSpPr>
          <p:cNvPr id="30" name="Connector 29"/>
          <p:cNvCxnSpPr/>
          <p:nvPr/>
        </p:nvCxnSpPr>
        <p:spPr>
          <a:xfrm>
            <a:off x="548640" y="4087368"/>
            <a:ext cx="5669280" cy="0"/>
          </a:xfrm>
          <a:prstGeom prst="line">
            <a:avLst/>
          </a:prstGeom>
          <a:ln w="9525">
            <a:solidFill>
              <a:srgbClr val="0C1408"/>
            </a:solidFill>
          </a:ln>
        </p:spPr>
      </p:cxnSp>
      <p:sp>
        <p:nvSpPr>
          <p:cNvPr id="31" name="TextBox 30"/>
          <p:cNvSpPr txBox="1"/>
          <p:nvPr/>
        </p:nvSpPr>
        <p:spPr>
          <a:xfrm>
            <a:off x="548640" y="4123944"/>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Members</a:t>
            </a:r>
          </a:p>
        </p:txBody>
      </p:sp>
      <p:sp>
        <p:nvSpPr>
          <p:cNvPr id="32" name="TextBox 31"/>
          <p:cNvSpPr txBox="1"/>
          <p:nvPr/>
        </p:nvSpPr>
        <p:spPr>
          <a:xfrm>
            <a:off x="3200400" y="412394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400</a:t>
            </a:r>
          </a:p>
        </p:txBody>
      </p:sp>
      <p:sp>
        <p:nvSpPr>
          <p:cNvPr id="33" name="TextBox 32"/>
          <p:cNvSpPr txBox="1"/>
          <p:nvPr/>
        </p:nvSpPr>
        <p:spPr>
          <a:xfrm>
            <a:off x="4709160" y="412394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390</a:t>
            </a:r>
          </a:p>
        </p:txBody>
      </p:sp>
      <p:cxnSp>
        <p:nvCxnSpPr>
          <p:cNvPr id="34" name="Connector 33"/>
          <p:cNvCxnSpPr/>
          <p:nvPr/>
        </p:nvCxnSpPr>
        <p:spPr>
          <a:xfrm>
            <a:off x="548640" y="4398264"/>
            <a:ext cx="5669280" cy="0"/>
          </a:xfrm>
          <a:prstGeom prst="line">
            <a:avLst/>
          </a:prstGeom>
          <a:ln w="6350">
            <a:solidFill>
              <a:srgbClr val="D1D5DB"/>
            </a:solidFill>
          </a:ln>
        </p:spPr>
      </p:cxnSp>
      <p:sp>
        <p:nvSpPr>
          <p:cNvPr id="35" name="TextBox 34"/>
          <p:cNvSpPr txBox="1"/>
          <p:nvPr/>
        </p:nvSpPr>
        <p:spPr>
          <a:xfrm>
            <a:off x="548640" y="4407408"/>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Collecting days</a:t>
            </a:r>
          </a:p>
        </p:txBody>
      </p:sp>
      <p:sp>
        <p:nvSpPr>
          <p:cNvPr id="36" name="TextBox 35"/>
          <p:cNvSpPr txBox="1"/>
          <p:nvPr/>
        </p:nvSpPr>
        <p:spPr>
          <a:xfrm>
            <a:off x="3200400" y="440740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50</a:t>
            </a:r>
          </a:p>
        </p:txBody>
      </p:sp>
      <p:sp>
        <p:nvSpPr>
          <p:cNvPr id="37" name="TextBox 36"/>
          <p:cNvSpPr txBox="1"/>
          <p:nvPr/>
        </p:nvSpPr>
        <p:spPr>
          <a:xfrm>
            <a:off x="4709160" y="440740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26, Sundays off</a:t>
            </a:r>
          </a:p>
        </p:txBody>
      </p:sp>
      <p:cxnSp>
        <p:nvCxnSpPr>
          <p:cNvPr id="38" name="Connector 37"/>
          <p:cNvCxnSpPr/>
          <p:nvPr/>
        </p:nvCxnSpPr>
        <p:spPr>
          <a:xfrm>
            <a:off x="548640" y="4681728"/>
            <a:ext cx="5669280" cy="0"/>
          </a:xfrm>
          <a:prstGeom prst="line">
            <a:avLst/>
          </a:prstGeom>
          <a:ln w="6350">
            <a:solidFill>
              <a:srgbClr val="D1D5DB"/>
            </a:solidFill>
          </a:ln>
        </p:spPr>
      </p:cxnSp>
      <p:sp>
        <p:nvSpPr>
          <p:cNvPr id="39" name="TextBox 38"/>
          <p:cNvSpPr txBox="1"/>
          <p:nvPr/>
        </p:nvSpPr>
        <p:spPr>
          <a:xfrm>
            <a:off x="548640" y="4690872"/>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Collecting each day</a:t>
            </a:r>
          </a:p>
        </p:txBody>
      </p:sp>
      <p:sp>
        <p:nvSpPr>
          <p:cNvPr id="40" name="TextBox 39"/>
          <p:cNvSpPr txBox="1"/>
          <p:nvPr/>
        </p:nvSpPr>
        <p:spPr>
          <a:xfrm>
            <a:off x="3200400" y="4690872"/>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8</a:t>
            </a:r>
          </a:p>
        </p:txBody>
      </p:sp>
      <p:sp>
        <p:nvSpPr>
          <p:cNvPr id="41" name="TextBox 40"/>
          <p:cNvSpPr txBox="1"/>
          <p:nvPr/>
        </p:nvSpPr>
        <p:spPr>
          <a:xfrm>
            <a:off x="4709160" y="4690872"/>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15</a:t>
            </a:r>
          </a:p>
        </p:txBody>
      </p:sp>
      <p:cxnSp>
        <p:nvCxnSpPr>
          <p:cNvPr id="42" name="Connector 41"/>
          <p:cNvCxnSpPr/>
          <p:nvPr/>
        </p:nvCxnSpPr>
        <p:spPr>
          <a:xfrm>
            <a:off x="548640" y="4965192"/>
            <a:ext cx="5669280" cy="0"/>
          </a:xfrm>
          <a:prstGeom prst="line">
            <a:avLst/>
          </a:prstGeom>
          <a:ln w="6350">
            <a:solidFill>
              <a:srgbClr val="D1D5DB"/>
            </a:solidFill>
          </a:ln>
        </p:spPr>
      </p:cxnSp>
      <p:sp>
        <p:nvSpPr>
          <p:cNvPr id="43" name="TextBox 42"/>
          <p:cNvSpPr txBox="1"/>
          <p:nvPr/>
        </p:nvSpPr>
        <p:spPr>
          <a:xfrm>
            <a:off x="548640" y="4974336"/>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Pot</a:t>
            </a:r>
          </a:p>
        </p:txBody>
      </p:sp>
      <p:sp>
        <p:nvSpPr>
          <p:cNvPr id="44" name="TextBox 43"/>
          <p:cNvSpPr txBox="1"/>
          <p:nvPr/>
        </p:nvSpPr>
        <p:spPr>
          <a:xfrm>
            <a:off x="3200400" y="4974336"/>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15,000</a:t>
            </a:r>
          </a:p>
        </p:txBody>
      </p:sp>
      <p:sp>
        <p:nvSpPr>
          <p:cNvPr id="45" name="TextBox 44"/>
          <p:cNvSpPr txBox="1"/>
          <p:nvPr/>
        </p:nvSpPr>
        <p:spPr>
          <a:xfrm>
            <a:off x="4709160" y="4974336"/>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8,666.67</a:t>
            </a:r>
          </a:p>
        </p:txBody>
      </p:sp>
      <p:cxnSp>
        <p:nvCxnSpPr>
          <p:cNvPr id="46" name="Connector 45"/>
          <p:cNvCxnSpPr/>
          <p:nvPr/>
        </p:nvCxnSpPr>
        <p:spPr>
          <a:xfrm>
            <a:off x="548640" y="5248656"/>
            <a:ext cx="5669280" cy="0"/>
          </a:xfrm>
          <a:prstGeom prst="line">
            <a:avLst/>
          </a:prstGeom>
          <a:ln w="6350">
            <a:solidFill>
              <a:srgbClr val="D1D5DB"/>
            </a:solidFill>
          </a:ln>
        </p:spPr>
      </p:cxnSp>
      <p:sp>
        <p:nvSpPr>
          <p:cNvPr id="47" name="TextBox 46"/>
          <p:cNvSpPr txBox="1"/>
          <p:nvPr/>
        </p:nvSpPr>
        <p:spPr>
          <a:xfrm>
            <a:off x="548640" y="5257800"/>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Fee a member, whole circle</a:t>
            </a:r>
          </a:p>
        </p:txBody>
      </p:sp>
      <p:sp>
        <p:nvSpPr>
          <p:cNvPr id="48" name="TextBox 47"/>
          <p:cNvSpPr txBox="1"/>
          <p:nvPr/>
        </p:nvSpPr>
        <p:spPr>
          <a:xfrm>
            <a:off x="3200400" y="5257800"/>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750</a:t>
            </a:r>
          </a:p>
        </p:txBody>
      </p:sp>
      <p:sp>
        <p:nvSpPr>
          <p:cNvPr id="49" name="TextBox 48"/>
          <p:cNvSpPr txBox="1"/>
          <p:nvPr/>
        </p:nvSpPr>
        <p:spPr>
          <a:xfrm>
            <a:off x="4709160" y="5257800"/>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390</a:t>
            </a:r>
          </a:p>
        </p:txBody>
      </p:sp>
      <p:cxnSp>
        <p:nvCxnSpPr>
          <p:cNvPr id="50" name="Connector 49"/>
          <p:cNvCxnSpPr/>
          <p:nvPr/>
        </p:nvCxnSpPr>
        <p:spPr>
          <a:xfrm>
            <a:off x="548640" y="5532120"/>
            <a:ext cx="5669280" cy="0"/>
          </a:xfrm>
          <a:prstGeom prst="line">
            <a:avLst/>
          </a:prstGeom>
          <a:ln w="6350">
            <a:solidFill>
              <a:srgbClr val="D1D5DB"/>
            </a:solidFill>
          </a:ln>
        </p:spPr>
      </p:cxnSp>
      <p:sp>
        <p:nvSpPr>
          <p:cNvPr id="51" name="TextBox 50"/>
          <p:cNvSpPr txBox="1"/>
          <p:nvPr/>
        </p:nvSpPr>
        <p:spPr>
          <a:xfrm>
            <a:off x="548640" y="5541264"/>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Fee, whole circle</a:t>
            </a:r>
          </a:p>
        </p:txBody>
      </p:sp>
      <p:sp>
        <p:nvSpPr>
          <p:cNvPr id="52" name="TextBox 51"/>
          <p:cNvSpPr txBox="1"/>
          <p:nvPr/>
        </p:nvSpPr>
        <p:spPr>
          <a:xfrm>
            <a:off x="3200400" y="554126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300,000</a:t>
            </a:r>
          </a:p>
        </p:txBody>
      </p:sp>
      <p:sp>
        <p:nvSpPr>
          <p:cNvPr id="53" name="TextBox 52"/>
          <p:cNvSpPr txBox="1"/>
          <p:nvPr/>
        </p:nvSpPr>
        <p:spPr>
          <a:xfrm>
            <a:off x="4709160" y="554126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152,100</a:t>
            </a:r>
          </a:p>
        </p:txBody>
      </p:sp>
      <p:cxnSp>
        <p:nvCxnSpPr>
          <p:cNvPr id="54" name="Connector 53"/>
          <p:cNvCxnSpPr/>
          <p:nvPr/>
        </p:nvCxnSpPr>
        <p:spPr>
          <a:xfrm>
            <a:off x="548640" y="5815584"/>
            <a:ext cx="5669280" cy="0"/>
          </a:xfrm>
          <a:prstGeom prst="line">
            <a:avLst/>
          </a:prstGeom>
          <a:ln w="6350">
            <a:solidFill>
              <a:srgbClr val="D1D5DB"/>
            </a:solidFill>
          </a:ln>
        </p:spPr>
      </p:cxnSp>
      <p:sp>
        <p:nvSpPr>
          <p:cNvPr id="55" name="TextBox 54"/>
          <p:cNvSpPr txBox="1"/>
          <p:nvPr/>
        </p:nvSpPr>
        <p:spPr>
          <a:xfrm>
            <a:off x="548640" y="5824728"/>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Takaful a member</a:t>
            </a:r>
          </a:p>
        </p:txBody>
      </p:sp>
      <p:sp>
        <p:nvSpPr>
          <p:cNvPr id="56" name="TextBox 55"/>
          <p:cNvSpPr txBox="1"/>
          <p:nvPr/>
        </p:nvSpPr>
        <p:spPr>
          <a:xfrm>
            <a:off x="3200400" y="582472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6,750</a:t>
            </a:r>
          </a:p>
        </p:txBody>
      </p:sp>
      <p:sp>
        <p:nvSpPr>
          <p:cNvPr id="57" name="TextBox 56"/>
          <p:cNvSpPr txBox="1"/>
          <p:nvPr/>
        </p:nvSpPr>
        <p:spPr>
          <a:xfrm>
            <a:off x="4709160" y="582472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3,943.33</a:t>
            </a:r>
          </a:p>
        </p:txBody>
      </p:sp>
      <p:cxnSp>
        <p:nvCxnSpPr>
          <p:cNvPr id="58" name="Connector 57"/>
          <p:cNvCxnSpPr/>
          <p:nvPr/>
        </p:nvCxnSpPr>
        <p:spPr>
          <a:xfrm>
            <a:off x="548640" y="6099048"/>
            <a:ext cx="5669280" cy="0"/>
          </a:xfrm>
          <a:prstGeom prst="line">
            <a:avLst/>
          </a:prstGeom>
          <a:ln w="6350">
            <a:solidFill>
              <a:srgbClr val="D1D5DB"/>
            </a:solidFill>
          </a:ln>
        </p:spPr>
      </p:cxnSp>
      <p:sp>
        <p:nvSpPr>
          <p:cNvPr id="62" name="TextBox 61"/>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   </a:t>
            </a:r>
            <a:r>
              <a:rPr sz="850">
                <a:solidFill>
                  <a:srgbClr val="0C1408"/>
                </a:solidFill>
                <a:latin typeface="Arial"/>
              </a:rPr>
              <a:t>Hyper design of 23 September 2026 with the fee set on 29 September 2026; Hyper Default Threshold Model (HQ-MF-01)</a:t>
            </a:r>
          </a:p>
        </p:txBody>
      </p:sp>
      <p:pic>
        <p:nvPicPr>
          <p:cNvPr id="63" name="Picture 62" descr="m_hyper-framed.png"/>
          <p:cNvPicPr>
            <a:picLocks noChangeAspect="1"/>
          </p:cNvPicPr>
          <p:nvPr/>
        </p:nvPicPr>
        <p:blipFill>
          <a:blip r:embed="rId4"/>
          <a:stretch>
            <a:fillRect/>
          </a:stretch>
        </p:blipFill>
        <p:spPr>
          <a:xfrm>
            <a:off x="9662008" y="1481328"/>
            <a:ext cx="1981461" cy="4160520"/>
          </a:xfrm>
          <a:prstGeom prst="rect">
            <a:avLst/>
          </a:prstGeom>
        </p:spPr>
      </p:pic>
      <p:sp>
        <p:nvSpPr>
          <p:cNvPr id="64" name="TextBox 63"/>
          <p:cNvSpPr txBox="1"/>
          <p:nvPr/>
        </p:nvSpPr>
        <p:spPr>
          <a:xfrm>
            <a:off x="6675120" y="1517904"/>
            <a:ext cx="2758288" cy="274320"/>
          </a:xfrm>
          <a:prstGeom prst="rect">
            <a:avLst/>
          </a:prstGeom>
          <a:noFill/>
        </p:spPr>
        <p:txBody>
          <a:bodyPr wrap="square" lIns="0" tIns="0" rIns="0" bIns="0">
            <a:spAutoFit/>
          </a:bodyPr>
          <a:lstStyle/>
          <a:p>
            <a:pPr>
              <a:lnSpc>
                <a:spcPct val="105000"/>
              </a:lnSpc>
            </a:pPr>
            <a:r>
              <a:rPr sz="1250" b="1">
                <a:solidFill>
                  <a:srgbClr val="0C1408"/>
                </a:solidFill>
                <a:latin typeface="Arial"/>
              </a:rPr>
              <a:t>Controls</a:t>
            </a:r>
          </a:p>
        </p:txBody>
      </p:sp>
      <p:sp>
        <p:nvSpPr>
          <p:cNvPr id="65" name="TextBox 64"/>
          <p:cNvSpPr txBox="1"/>
          <p:nvPr/>
        </p:nvSpPr>
        <p:spPr>
          <a:xfrm>
            <a:off x="6675120" y="1847088"/>
            <a:ext cx="2758288" cy="4206240"/>
          </a:xfrm>
          <a:prstGeom prst="rect">
            <a:avLst/>
          </a:prstGeom>
          <a:noFill/>
        </p:spPr>
        <p:txBody>
          <a:bodyPr wrap="square" lIns="0" tIns="0" rIns="0" bIns="0">
            <a:spAutoFit/>
          </a:bodyPr>
          <a:lstStyle/>
          <a:p>
            <a:pPr marL="173736" indent="-173736">
              <a:lnSpc>
                <a:spcPct val="104000"/>
              </a:lnSpc>
              <a:spcAft>
                <a:spcPts val="400"/>
              </a:spcAft>
              <a:buClr>
                <a:srgbClr val="EDA100"/>
              </a:buClr>
              <a:buSzPct val="70000"/>
              <a:buFont typeface="Arial"/>
              <a:buChar char="■"/>
            </a:pPr>
            <a:r>
              <a:rPr sz="1050">
                <a:solidFill>
                  <a:srgbClr val="0C1408"/>
                </a:solidFill>
                <a:latin typeface="Arial"/>
              </a:rPr>
              <a:t>Label: experimental</a:t>
            </a:r>
          </a:p>
          <a:p>
            <a:pPr marL="173736" indent="-173736">
              <a:lnSpc>
                <a:spcPct val="104000"/>
              </a:lnSpc>
              <a:spcAft>
                <a:spcPts val="400"/>
              </a:spcAft>
              <a:buClr>
                <a:srgbClr val="EDA100"/>
              </a:buClr>
              <a:buSzPct val="70000"/>
              <a:buFont typeface="Arial"/>
              <a:buChar char="■"/>
            </a:pPr>
            <a:r>
              <a:rPr sz="1050">
                <a:solidFill>
                  <a:srgbClr val="0C1408"/>
                </a:solidFill>
                <a:latin typeface="Arial"/>
              </a:rPr>
              <a:t>Income: Rs 1,000 or more on 5 days a week for 8 weeks</a:t>
            </a:r>
          </a:p>
          <a:p>
            <a:pPr marL="173736" indent="-173736">
              <a:lnSpc>
                <a:spcPct val="104000"/>
              </a:lnSpc>
              <a:spcAft>
                <a:spcPts val="400"/>
              </a:spcAft>
              <a:buClr>
                <a:srgbClr val="EDA100"/>
              </a:buClr>
              <a:buSzPct val="70000"/>
              <a:buFont typeface="Arial"/>
              <a:buChar char="■"/>
            </a:pPr>
            <a:r>
              <a:rPr sz="1050">
                <a:solidFill>
                  <a:srgbClr val="0C1408"/>
                </a:solidFill>
                <a:latin typeface="Arial"/>
              </a:rPr>
              <a:t>Check level 3</a:t>
            </a:r>
          </a:p>
          <a:p>
            <a:pPr marL="173736" indent="-173736">
              <a:lnSpc>
                <a:spcPct val="104000"/>
              </a:lnSpc>
              <a:spcAft>
                <a:spcPts val="400"/>
              </a:spcAft>
              <a:buClr>
                <a:srgbClr val="EDA100"/>
              </a:buClr>
              <a:buSzPct val="70000"/>
              <a:buFont typeface="Arial"/>
              <a:buChar char="■"/>
            </a:pPr>
            <a:r>
              <a:rPr sz="1050">
                <a:solidFill>
                  <a:srgbClr val="0C1408"/>
                </a:solidFill>
                <a:latin typeface="Arial"/>
              </a:rPr>
              <a:t>Automatic debit required</a:t>
            </a:r>
          </a:p>
          <a:p>
            <a:pPr marL="173736" indent="-173736">
              <a:lnSpc>
                <a:spcPct val="104000"/>
              </a:lnSpc>
              <a:spcAft>
                <a:spcPts val="400"/>
              </a:spcAft>
              <a:buClr>
                <a:srgbClr val="EDA100"/>
              </a:buClr>
              <a:buSzPct val="70000"/>
              <a:buFont typeface="Arial"/>
              <a:buChar char="■"/>
            </a:pPr>
            <a:r>
              <a:rPr sz="1050">
                <a:solidFill>
                  <a:srgbClr val="0C1408"/>
                </a:solidFill>
                <a:latin typeface="Arial"/>
              </a:rPr>
              <a:t>One daily circle per member</a:t>
            </a:r>
          </a:p>
          <a:p>
            <a:pPr marL="173736" indent="-173736">
              <a:lnSpc>
                <a:spcPct val="104000"/>
              </a:lnSpc>
              <a:spcAft>
                <a:spcPts val="400"/>
              </a:spcAft>
              <a:buClr>
                <a:srgbClr val="EDA100"/>
              </a:buClr>
              <a:buSzPct val="70000"/>
              <a:buFont typeface="Arial"/>
              <a:buChar char="■"/>
            </a:pPr>
            <a:r>
              <a:rPr sz="1050">
                <a:solidFill>
                  <a:srgbClr val="0C1408"/>
                </a:solidFill>
                <a:latin typeface="Arial"/>
              </a:rPr>
              <a:t>Late: 5%, 10%, 15% at 12, 36, 60 hours, to charity</a:t>
            </a:r>
          </a:p>
          <a:p>
            <a:pPr marL="173736" indent="-173736">
              <a:lnSpc>
                <a:spcPct val="104000"/>
              </a:lnSpc>
              <a:spcAft>
                <a:spcPts val="400"/>
              </a:spcAft>
              <a:buClr>
                <a:srgbClr val="EDA100"/>
              </a:buClr>
              <a:buSzPct val="70000"/>
              <a:buFont typeface="Arial"/>
              <a:buChar char="■"/>
            </a:pPr>
            <a:r>
              <a:rPr sz="1050">
                <a:solidFill>
                  <a:srgbClr val="0C1408"/>
                </a:solidFill>
                <a:latin typeface="Arial"/>
              </a:rPr>
              <a:t>New days stop when losses would exceed the takaful limit</a:t>
            </a:r>
          </a:p>
          <a:p>
            <a:pPr marL="173736" indent="-173736">
              <a:lnSpc>
                <a:spcPct val="104000"/>
              </a:lnSpc>
              <a:spcAft>
                <a:spcPts val="400"/>
              </a:spcAft>
              <a:buClr>
                <a:srgbClr val="EDA100"/>
              </a:buClr>
              <a:buSzPct val="70000"/>
              <a:buFont typeface="Arial"/>
              <a:buChar char="■"/>
            </a:pPr>
            <a:r>
              <a:rPr sz="1050">
                <a:solidFill>
                  <a:srgbClr val="0C1408"/>
                </a:solidFill>
                <a:latin typeface="Arial"/>
              </a:rPr>
              <a:t>Limits agreed with Raqami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Payment Collection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Appendix A2 · three collection methods; the automatic method is a new standing instruction from Raqami</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22</a:t>
            </a:r>
          </a:p>
        </p:txBody>
      </p:sp>
      <p:sp>
        <p:nvSpPr>
          <p:cNvPr id="6" name="Rectangle 5"/>
          <p:cNvSpPr/>
          <p:nvPr/>
        </p:nvSpPr>
        <p:spPr>
          <a:xfrm>
            <a:off x="548640" y="1554480"/>
            <a:ext cx="3515258" cy="566928"/>
          </a:xfrm>
          <a:prstGeom prst="rect">
            <a:avLst/>
          </a:prstGeom>
          <a:solidFill>
            <a:srgbClr val="D6E6FA"/>
          </a:solidFill>
          <a:ln>
            <a:noFill/>
          </a:ln>
        </p:spPr>
        <p:txBody>
          <a:bodyPr rtlCol="0" anchor="ctr" lIns="128016" tIns="96012" rIns="128016" bIns="96012" wrap="square"/>
          <a:lstStyle/>
          <a:p>
            <a:pPr>
              <a:lnSpc>
                <a:spcPct val="100000"/>
              </a:lnSpc>
            </a:pPr>
            <a:r>
              <a:rPr sz="950">
                <a:solidFill>
                  <a:srgbClr val="0C1408"/>
                </a:solidFill>
                <a:latin typeface="Arial"/>
              </a:rPr>
              <a:t>Method 1</a:t>
            </a:r>
          </a:p>
          <a:p>
            <a:pPr>
              <a:lnSpc>
                <a:spcPct val="100000"/>
              </a:lnSpc>
            </a:pPr>
            <a:r>
              <a:rPr sz="1400" b="1">
                <a:solidFill>
                  <a:srgbClr val="0C1408"/>
                </a:solidFill>
                <a:latin typeface="Arial"/>
              </a:rPr>
              <a:t>One-tap approval</a:t>
            </a:r>
          </a:p>
        </p:txBody>
      </p:sp>
      <p:sp>
        <p:nvSpPr>
          <p:cNvPr id="7" name="Rectangle 6"/>
          <p:cNvSpPr/>
          <p:nvPr/>
        </p:nvSpPr>
        <p:spPr>
          <a:xfrm>
            <a:off x="548640" y="2121408"/>
            <a:ext cx="3515258" cy="1572768"/>
          </a:xfrm>
          <a:prstGeom prst="rect">
            <a:avLst/>
          </a:prstGeom>
          <a:noFill/>
          <a:ln w="9525">
            <a:solidFill>
              <a:srgbClr val="D1D5DB"/>
            </a:solidFill>
          </a:ln>
        </p:spPr>
        <p:txBody>
          <a:bodyPr rtlCol="0" anchor="ctr"/>
          <a:lstStyle/>
          <a:p>
            <a:pPr algn="ctr"/>
          </a:p>
        </p:txBody>
      </p:sp>
      <p:sp>
        <p:nvSpPr>
          <p:cNvPr id="8" name="TextBox 7"/>
          <p:cNvSpPr txBox="1"/>
          <p:nvPr/>
        </p:nvSpPr>
        <p:spPr>
          <a:xfrm>
            <a:off x="694944" y="2231136"/>
            <a:ext cx="3240938" cy="777240"/>
          </a:xfrm>
          <a:prstGeom prst="rect">
            <a:avLst/>
          </a:prstGeom>
          <a:noFill/>
        </p:spPr>
        <p:txBody>
          <a:bodyPr wrap="square" lIns="0" tIns="0" rIns="0" bIns="0">
            <a:spAutoFit/>
          </a:bodyPr>
          <a:lstStyle/>
          <a:p>
            <a:pPr>
              <a:lnSpc>
                <a:spcPct val="105000"/>
              </a:lnSpc>
            </a:pPr>
            <a:r>
              <a:rPr sz="1150">
                <a:solidFill>
                  <a:srgbClr val="0C1408"/>
                </a:solidFill>
                <a:latin typeface="Arial"/>
              </a:rPr>
              <a:t>The member approves a payment request by card, mobile wallet or Raast.</a:t>
            </a:r>
          </a:p>
        </p:txBody>
      </p:sp>
      <p:sp>
        <p:nvSpPr>
          <p:cNvPr id="9" name="TextBox 8"/>
          <p:cNvSpPr txBox="1"/>
          <p:nvPr/>
        </p:nvSpPr>
        <p:spPr>
          <a:xfrm>
            <a:off x="694944" y="3035808"/>
            <a:ext cx="3240938" cy="594360"/>
          </a:xfrm>
          <a:prstGeom prst="rect">
            <a:avLst/>
          </a:prstGeom>
          <a:noFill/>
        </p:spPr>
        <p:txBody>
          <a:bodyPr wrap="square" lIns="0" tIns="0" rIns="0" bIns="0">
            <a:spAutoFit/>
          </a:bodyPr>
          <a:lstStyle/>
          <a:p>
            <a:pPr>
              <a:lnSpc>
                <a:spcPct val="103000"/>
              </a:lnSpc>
            </a:pPr>
            <a:r>
              <a:rPr sz="1050" b="1">
                <a:solidFill>
                  <a:srgbClr val="0C1408"/>
                </a:solidFill>
                <a:latin typeface="Arial"/>
              </a:rPr>
              <a:t>Used for: </a:t>
            </a:r>
            <a:r>
              <a:rPr sz="1050">
                <a:solidFill>
                  <a:srgbClr val="0C1408"/>
                </a:solidFill>
                <a:latin typeface="Arial"/>
              </a:rPr>
              <a:t>Known circles, and when an automatic debit fails</a:t>
            </a:r>
          </a:p>
        </p:txBody>
      </p:sp>
      <p:sp>
        <p:nvSpPr>
          <p:cNvPr id="10" name="Rectangle 9"/>
          <p:cNvSpPr/>
          <p:nvPr/>
        </p:nvSpPr>
        <p:spPr>
          <a:xfrm>
            <a:off x="4338218" y="1554480"/>
            <a:ext cx="3515258" cy="566928"/>
          </a:xfrm>
          <a:prstGeom prst="rect">
            <a:avLst/>
          </a:prstGeom>
          <a:solidFill>
            <a:srgbClr val="E4DEF3"/>
          </a:solidFill>
          <a:ln>
            <a:noFill/>
          </a:ln>
        </p:spPr>
        <p:txBody>
          <a:bodyPr rtlCol="0" anchor="ctr" lIns="128016" tIns="96012" rIns="128016" bIns="96012" wrap="square"/>
          <a:lstStyle/>
          <a:p>
            <a:pPr>
              <a:lnSpc>
                <a:spcPct val="100000"/>
              </a:lnSpc>
            </a:pPr>
            <a:r>
              <a:rPr sz="950">
                <a:solidFill>
                  <a:srgbClr val="0C1408"/>
                </a:solidFill>
                <a:latin typeface="Arial"/>
              </a:rPr>
              <a:t>Method 2</a:t>
            </a:r>
          </a:p>
          <a:p>
            <a:pPr>
              <a:lnSpc>
                <a:spcPct val="100000"/>
              </a:lnSpc>
            </a:pPr>
            <a:r>
              <a:rPr sz="1400" b="1">
                <a:solidFill>
                  <a:srgbClr val="0C1408"/>
                </a:solidFill>
                <a:latin typeface="Arial"/>
              </a:rPr>
              <a:t>Automatic debit</a:t>
            </a:r>
          </a:p>
        </p:txBody>
      </p:sp>
      <p:sp>
        <p:nvSpPr>
          <p:cNvPr id="11" name="Rectangle 10"/>
          <p:cNvSpPr/>
          <p:nvPr/>
        </p:nvSpPr>
        <p:spPr>
          <a:xfrm>
            <a:off x="4338218" y="2121408"/>
            <a:ext cx="3515258" cy="1572768"/>
          </a:xfrm>
          <a:prstGeom prst="rect">
            <a:avLst/>
          </a:prstGeom>
          <a:noFill/>
          <a:ln w="9525">
            <a:solidFill>
              <a:srgbClr val="D1D5DB"/>
            </a:solidFill>
          </a:ln>
        </p:spPr>
        <p:txBody>
          <a:bodyPr rtlCol="0" anchor="ctr"/>
          <a:lstStyle/>
          <a:p>
            <a:pPr algn="ctr"/>
          </a:p>
        </p:txBody>
      </p:sp>
      <p:sp>
        <p:nvSpPr>
          <p:cNvPr id="12" name="TextBox 11"/>
          <p:cNvSpPr txBox="1"/>
          <p:nvPr/>
        </p:nvSpPr>
        <p:spPr>
          <a:xfrm>
            <a:off x="4484522" y="2231136"/>
            <a:ext cx="3240938" cy="777240"/>
          </a:xfrm>
          <a:prstGeom prst="rect">
            <a:avLst/>
          </a:prstGeom>
          <a:noFill/>
        </p:spPr>
        <p:txBody>
          <a:bodyPr wrap="square" lIns="0" tIns="0" rIns="0" bIns="0">
            <a:spAutoFit/>
          </a:bodyPr>
          <a:lstStyle/>
          <a:p>
            <a:pPr>
              <a:lnSpc>
                <a:spcPct val="105000"/>
              </a:lnSpc>
            </a:pPr>
            <a:r>
              <a:rPr sz="1150">
                <a:solidFill>
                  <a:srgbClr val="0C1408"/>
                </a:solidFill>
                <a:latin typeface="Arial"/>
              </a:rPr>
              <a:t>A standing instruction on the member’s Raqami account, a new line for Raqami; or a saved card or wallet charged through the PSP.</a:t>
            </a:r>
          </a:p>
        </p:txBody>
      </p:sp>
      <p:sp>
        <p:nvSpPr>
          <p:cNvPr id="13" name="TextBox 12"/>
          <p:cNvSpPr txBox="1"/>
          <p:nvPr/>
        </p:nvSpPr>
        <p:spPr>
          <a:xfrm>
            <a:off x="4484522" y="3035808"/>
            <a:ext cx="3240938" cy="594360"/>
          </a:xfrm>
          <a:prstGeom prst="rect">
            <a:avLst/>
          </a:prstGeom>
          <a:noFill/>
        </p:spPr>
        <p:txBody>
          <a:bodyPr wrap="square" lIns="0" tIns="0" rIns="0" bIns="0">
            <a:spAutoFit/>
          </a:bodyPr>
          <a:lstStyle/>
          <a:p>
            <a:pPr>
              <a:lnSpc>
                <a:spcPct val="103000"/>
              </a:lnSpc>
            </a:pPr>
            <a:r>
              <a:rPr sz="1050" b="1">
                <a:solidFill>
                  <a:srgbClr val="0C1408"/>
                </a:solidFill>
                <a:latin typeface="Arial"/>
              </a:rPr>
              <a:t>Used for: </a:t>
            </a:r>
            <a:r>
              <a:rPr sz="1050">
                <a:solidFill>
                  <a:srgbClr val="0C1408"/>
                </a:solidFill>
                <a:latin typeface="Arial"/>
              </a:rPr>
              <a:t>Required on circles between strangers, asset and Hyper circles</a:t>
            </a:r>
          </a:p>
        </p:txBody>
      </p:sp>
      <p:sp>
        <p:nvSpPr>
          <p:cNvPr id="14" name="Rectangle 13"/>
          <p:cNvSpPr/>
          <p:nvPr/>
        </p:nvSpPr>
        <p:spPr>
          <a:xfrm>
            <a:off x="8127797" y="1554480"/>
            <a:ext cx="3515258" cy="566928"/>
          </a:xfrm>
          <a:prstGeom prst="rect">
            <a:avLst/>
          </a:prstGeom>
          <a:solidFill>
            <a:srgbClr val="F3F4F6"/>
          </a:solidFill>
          <a:ln>
            <a:noFill/>
          </a:ln>
        </p:spPr>
        <p:txBody>
          <a:bodyPr rtlCol="0" anchor="ctr" lIns="128016" tIns="96012" rIns="128016" bIns="96012" wrap="square"/>
          <a:lstStyle/>
          <a:p>
            <a:pPr>
              <a:lnSpc>
                <a:spcPct val="100000"/>
              </a:lnSpc>
            </a:pPr>
            <a:r>
              <a:rPr sz="950">
                <a:solidFill>
                  <a:srgbClr val="0C1408"/>
                </a:solidFill>
                <a:latin typeface="Arial"/>
              </a:rPr>
              <a:t>Method 3</a:t>
            </a:r>
          </a:p>
          <a:p>
            <a:pPr>
              <a:lnSpc>
                <a:spcPct val="100000"/>
              </a:lnSpc>
            </a:pPr>
            <a:r>
              <a:rPr sz="1400" b="1">
                <a:solidFill>
                  <a:srgbClr val="0C1408"/>
                </a:solidFill>
                <a:latin typeface="Arial"/>
              </a:rPr>
              <a:t>Manual payment</a:t>
            </a:r>
          </a:p>
        </p:txBody>
      </p:sp>
      <p:sp>
        <p:nvSpPr>
          <p:cNvPr id="15" name="Rectangle 14"/>
          <p:cNvSpPr/>
          <p:nvPr/>
        </p:nvSpPr>
        <p:spPr>
          <a:xfrm>
            <a:off x="8127797" y="2121408"/>
            <a:ext cx="3515258" cy="1572768"/>
          </a:xfrm>
          <a:prstGeom prst="rect">
            <a:avLst/>
          </a:prstGeom>
          <a:noFill/>
          <a:ln w="9525">
            <a:solidFill>
              <a:srgbClr val="D1D5DB"/>
            </a:solidFill>
          </a:ln>
        </p:spPr>
        <p:txBody>
          <a:bodyPr rtlCol="0" anchor="ctr"/>
          <a:lstStyle/>
          <a:p>
            <a:pPr algn="ctr"/>
          </a:p>
        </p:txBody>
      </p:sp>
      <p:sp>
        <p:nvSpPr>
          <p:cNvPr id="16" name="TextBox 15"/>
          <p:cNvSpPr txBox="1"/>
          <p:nvPr/>
        </p:nvSpPr>
        <p:spPr>
          <a:xfrm>
            <a:off x="8274101" y="2231136"/>
            <a:ext cx="3240938" cy="777240"/>
          </a:xfrm>
          <a:prstGeom prst="rect">
            <a:avLst/>
          </a:prstGeom>
          <a:noFill/>
        </p:spPr>
        <p:txBody>
          <a:bodyPr wrap="square" lIns="0" tIns="0" rIns="0" bIns="0">
            <a:spAutoFit/>
          </a:bodyPr>
          <a:lstStyle/>
          <a:p>
            <a:pPr>
              <a:lnSpc>
                <a:spcPct val="105000"/>
              </a:lnSpc>
            </a:pPr>
            <a:r>
              <a:rPr sz="1150">
                <a:solidFill>
                  <a:srgbClr val="0C1408"/>
                </a:solidFill>
                <a:latin typeface="Arial"/>
              </a:rPr>
              <a:t>The member sends the instalment from any bank account or wallet.</a:t>
            </a:r>
          </a:p>
        </p:txBody>
      </p:sp>
      <p:sp>
        <p:nvSpPr>
          <p:cNvPr id="17" name="TextBox 16"/>
          <p:cNvSpPr txBox="1"/>
          <p:nvPr/>
        </p:nvSpPr>
        <p:spPr>
          <a:xfrm>
            <a:off x="8274101" y="3035808"/>
            <a:ext cx="3240938" cy="594360"/>
          </a:xfrm>
          <a:prstGeom prst="rect">
            <a:avLst/>
          </a:prstGeom>
          <a:noFill/>
        </p:spPr>
        <p:txBody>
          <a:bodyPr wrap="square" lIns="0" tIns="0" rIns="0" bIns="0">
            <a:spAutoFit/>
          </a:bodyPr>
          <a:lstStyle/>
          <a:p>
            <a:pPr>
              <a:lnSpc>
                <a:spcPct val="103000"/>
              </a:lnSpc>
            </a:pPr>
            <a:r>
              <a:rPr sz="1050" b="1">
                <a:solidFill>
                  <a:srgbClr val="0C1408"/>
                </a:solidFill>
                <a:latin typeface="Arial"/>
              </a:rPr>
              <a:t>Used for: </a:t>
            </a:r>
            <a:r>
              <a:rPr sz="1050">
                <a:solidFill>
                  <a:srgbClr val="0C1408"/>
                </a:solidFill>
                <a:latin typeface="Arial"/>
              </a:rPr>
              <a:t>Always available</a:t>
            </a:r>
          </a:p>
        </p:txBody>
      </p:sp>
      <p:sp>
        <p:nvSpPr>
          <p:cNvPr id="18" name="TextBox 17"/>
          <p:cNvSpPr txBox="1"/>
          <p:nvPr/>
        </p:nvSpPr>
        <p:spPr>
          <a:xfrm>
            <a:off x="548640" y="3931920"/>
            <a:ext cx="7132320" cy="274320"/>
          </a:xfrm>
          <a:prstGeom prst="rect">
            <a:avLst/>
          </a:prstGeom>
          <a:noFill/>
        </p:spPr>
        <p:txBody>
          <a:bodyPr wrap="square" lIns="0" tIns="0" rIns="0" bIns="0">
            <a:spAutoFit/>
          </a:bodyPr>
          <a:lstStyle/>
          <a:p>
            <a:pPr>
              <a:lnSpc>
                <a:spcPct val="100000"/>
              </a:lnSpc>
            </a:pPr>
            <a:r>
              <a:rPr sz="1200" b="1">
                <a:solidFill>
                  <a:srgbClr val="0C1408"/>
                </a:solidFill>
                <a:latin typeface="Arial"/>
              </a:rPr>
              <a:t>One instalment, day by day</a:t>
            </a:r>
            <a:r>
              <a:rPr sz="1100">
                <a:solidFill>
                  <a:srgbClr val="0C1408"/>
                </a:solidFill>
                <a:latin typeface="Arial"/>
              </a:rPr>
              <a:t>   days of the month</a:t>
            </a:r>
          </a:p>
        </p:txBody>
      </p:sp>
      <p:sp>
        <p:nvSpPr>
          <p:cNvPr id="19" name="Rectangle 18"/>
          <p:cNvSpPr/>
          <p:nvPr/>
        </p:nvSpPr>
        <p:spPr>
          <a:xfrm>
            <a:off x="566928" y="4261104"/>
            <a:ext cx="557784" cy="502920"/>
          </a:xfrm>
          <a:prstGeom prst="rect">
            <a:avLst/>
          </a:prstGeom>
          <a:solidFill>
            <a:srgbClr val="573F99"/>
          </a:solidFill>
          <a:ln>
            <a:noFill/>
          </a:ln>
        </p:spPr>
        <p:txBody>
          <a:bodyPr rtlCol="0" anchor="ctr"/>
          <a:lstStyle/>
          <a:p>
            <a:pPr algn="ctr"/>
          </a:p>
        </p:txBody>
      </p:sp>
      <p:sp>
        <p:nvSpPr>
          <p:cNvPr id="20" name="TextBox 19"/>
          <p:cNvSpPr txBox="1"/>
          <p:nvPr/>
        </p:nvSpPr>
        <p:spPr>
          <a:xfrm>
            <a:off x="548640" y="4370832"/>
            <a:ext cx="594360" cy="292608"/>
          </a:xfrm>
          <a:prstGeom prst="rect">
            <a:avLst/>
          </a:prstGeom>
          <a:noFill/>
        </p:spPr>
        <p:txBody>
          <a:bodyPr wrap="square" lIns="0" tIns="0" rIns="0" bIns="0">
            <a:spAutoFit/>
          </a:bodyPr>
          <a:lstStyle/>
          <a:p>
            <a:pPr algn="ctr">
              <a:lnSpc>
                <a:spcPct val="105000"/>
              </a:lnSpc>
            </a:pPr>
            <a:r>
              <a:rPr sz="1250" b="1">
                <a:solidFill>
                  <a:srgbClr val="FFFFFF"/>
                </a:solidFill>
                <a:latin typeface="Arial"/>
              </a:rPr>
              <a:t>1</a:t>
            </a:r>
          </a:p>
        </p:txBody>
      </p:sp>
      <p:sp>
        <p:nvSpPr>
          <p:cNvPr id="21" name="Rectangle 20"/>
          <p:cNvSpPr/>
          <p:nvPr/>
        </p:nvSpPr>
        <p:spPr>
          <a:xfrm>
            <a:off x="1161288" y="4261104"/>
            <a:ext cx="557784" cy="502920"/>
          </a:xfrm>
          <a:prstGeom prst="rect">
            <a:avLst/>
          </a:prstGeom>
          <a:solidFill>
            <a:srgbClr val="7E67C7"/>
          </a:solidFill>
          <a:ln>
            <a:noFill/>
          </a:ln>
        </p:spPr>
        <p:txBody>
          <a:bodyPr rtlCol="0" anchor="ctr"/>
          <a:lstStyle/>
          <a:p>
            <a:pPr algn="ctr"/>
          </a:p>
        </p:txBody>
      </p:sp>
      <p:sp>
        <p:nvSpPr>
          <p:cNvPr id="22" name="TextBox 21"/>
          <p:cNvSpPr txBox="1"/>
          <p:nvPr/>
        </p:nvSpPr>
        <p:spPr>
          <a:xfrm>
            <a:off x="1143000" y="4370832"/>
            <a:ext cx="594360" cy="292608"/>
          </a:xfrm>
          <a:prstGeom prst="rect">
            <a:avLst/>
          </a:prstGeom>
          <a:noFill/>
        </p:spPr>
        <p:txBody>
          <a:bodyPr wrap="square" lIns="0" tIns="0" rIns="0" bIns="0">
            <a:spAutoFit/>
          </a:bodyPr>
          <a:lstStyle/>
          <a:p>
            <a:pPr algn="ctr">
              <a:lnSpc>
                <a:spcPct val="105000"/>
              </a:lnSpc>
            </a:pPr>
            <a:r>
              <a:rPr sz="1250" b="1">
                <a:solidFill>
                  <a:srgbClr val="FFFFFF"/>
                </a:solidFill>
                <a:latin typeface="Arial"/>
              </a:rPr>
              <a:t>2</a:t>
            </a:r>
          </a:p>
        </p:txBody>
      </p:sp>
      <p:sp>
        <p:nvSpPr>
          <p:cNvPr id="23" name="Rectangle 22"/>
          <p:cNvSpPr/>
          <p:nvPr/>
        </p:nvSpPr>
        <p:spPr>
          <a:xfrm>
            <a:off x="1755648" y="4261104"/>
            <a:ext cx="557784" cy="502920"/>
          </a:xfrm>
          <a:prstGeom prst="rect">
            <a:avLst/>
          </a:prstGeom>
          <a:solidFill>
            <a:srgbClr val="7E67C7"/>
          </a:solidFill>
          <a:ln>
            <a:noFill/>
          </a:ln>
        </p:spPr>
        <p:txBody>
          <a:bodyPr rtlCol="0" anchor="ctr"/>
          <a:lstStyle/>
          <a:p>
            <a:pPr algn="ctr"/>
          </a:p>
        </p:txBody>
      </p:sp>
      <p:sp>
        <p:nvSpPr>
          <p:cNvPr id="24" name="TextBox 23"/>
          <p:cNvSpPr txBox="1"/>
          <p:nvPr/>
        </p:nvSpPr>
        <p:spPr>
          <a:xfrm>
            <a:off x="1737360" y="4370832"/>
            <a:ext cx="594360" cy="292608"/>
          </a:xfrm>
          <a:prstGeom prst="rect">
            <a:avLst/>
          </a:prstGeom>
          <a:noFill/>
        </p:spPr>
        <p:txBody>
          <a:bodyPr wrap="square" lIns="0" tIns="0" rIns="0" bIns="0">
            <a:spAutoFit/>
          </a:bodyPr>
          <a:lstStyle/>
          <a:p>
            <a:pPr algn="ctr">
              <a:lnSpc>
                <a:spcPct val="105000"/>
              </a:lnSpc>
            </a:pPr>
            <a:r>
              <a:rPr sz="1250" b="1">
                <a:solidFill>
                  <a:srgbClr val="FFFFFF"/>
                </a:solidFill>
                <a:latin typeface="Arial"/>
              </a:rPr>
              <a:t>3</a:t>
            </a:r>
          </a:p>
        </p:txBody>
      </p:sp>
      <p:sp>
        <p:nvSpPr>
          <p:cNvPr id="25" name="Rectangle 24"/>
          <p:cNvSpPr/>
          <p:nvPr/>
        </p:nvSpPr>
        <p:spPr>
          <a:xfrm>
            <a:off x="2350008" y="4261104"/>
            <a:ext cx="557784" cy="502920"/>
          </a:xfrm>
          <a:prstGeom prst="rect">
            <a:avLst/>
          </a:prstGeom>
          <a:solidFill>
            <a:srgbClr val="7E67C7"/>
          </a:solidFill>
          <a:ln>
            <a:noFill/>
          </a:ln>
        </p:spPr>
        <p:txBody>
          <a:bodyPr rtlCol="0" anchor="ctr"/>
          <a:lstStyle/>
          <a:p>
            <a:pPr algn="ctr"/>
          </a:p>
        </p:txBody>
      </p:sp>
      <p:sp>
        <p:nvSpPr>
          <p:cNvPr id="26" name="TextBox 25"/>
          <p:cNvSpPr txBox="1"/>
          <p:nvPr/>
        </p:nvSpPr>
        <p:spPr>
          <a:xfrm>
            <a:off x="2331720" y="4370832"/>
            <a:ext cx="594360" cy="292608"/>
          </a:xfrm>
          <a:prstGeom prst="rect">
            <a:avLst/>
          </a:prstGeom>
          <a:noFill/>
        </p:spPr>
        <p:txBody>
          <a:bodyPr wrap="square" lIns="0" tIns="0" rIns="0" bIns="0">
            <a:spAutoFit/>
          </a:bodyPr>
          <a:lstStyle/>
          <a:p>
            <a:pPr algn="ctr">
              <a:lnSpc>
                <a:spcPct val="105000"/>
              </a:lnSpc>
            </a:pPr>
            <a:r>
              <a:rPr sz="1250" b="1">
                <a:solidFill>
                  <a:srgbClr val="FFFFFF"/>
                </a:solidFill>
                <a:latin typeface="Arial"/>
              </a:rPr>
              <a:t>4</a:t>
            </a:r>
          </a:p>
        </p:txBody>
      </p:sp>
      <p:sp>
        <p:nvSpPr>
          <p:cNvPr id="27" name="Rectangle 26"/>
          <p:cNvSpPr/>
          <p:nvPr/>
        </p:nvSpPr>
        <p:spPr>
          <a:xfrm>
            <a:off x="2944368" y="4261104"/>
            <a:ext cx="557784" cy="502920"/>
          </a:xfrm>
          <a:prstGeom prst="rect">
            <a:avLst/>
          </a:prstGeom>
          <a:solidFill>
            <a:srgbClr val="7E67C7"/>
          </a:solidFill>
          <a:ln>
            <a:noFill/>
          </a:ln>
        </p:spPr>
        <p:txBody>
          <a:bodyPr rtlCol="0" anchor="ctr"/>
          <a:lstStyle/>
          <a:p>
            <a:pPr algn="ctr"/>
          </a:p>
        </p:txBody>
      </p:sp>
      <p:sp>
        <p:nvSpPr>
          <p:cNvPr id="28" name="TextBox 27"/>
          <p:cNvSpPr txBox="1"/>
          <p:nvPr/>
        </p:nvSpPr>
        <p:spPr>
          <a:xfrm>
            <a:off x="2926080" y="4370832"/>
            <a:ext cx="594360" cy="292608"/>
          </a:xfrm>
          <a:prstGeom prst="rect">
            <a:avLst/>
          </a:prstGeom>
          <a:noFill/>
        </p:spPr>
        <p:txBody>
          <a:bodyPr wrap="square" lIns="0" tIns="0" rIns="0" bIns="0">
            <a:spAutoFit/>
          </a:bodyPr>
          <a:lstStyle/>
          <a:p>
            <a:pPr algn="ctr">
              <a:lnSpc>
                <a:spcPct val="105000"/>
              </a:lnSpc>
            </a:pPr>
            <a:r>
              <a:rPr sz="1250" b="1">
                <a:solidFill>
                  <a:srgbClr val="FFFFFF"/>
                </a:solidFill>
                <a:latin typeface="Arial"/>
              </a:rPr>
              <a:t>5</a:t>
            </a:r>
          </a:p>
        </p:txBody>
      </p:sp>
      <p:sp>
        <p:nvSpPr>
          <p:cNvPr id="29" name="Rectangle 28"/>
          <p:cNvSpPr/>
          <p:nvPr/>
        </p:nvSpPr>
        <p:spPr>
          <a:xfrm>
            <a:off x="3538728" y="4261104"/>
            <a:ext cx="557784" cy="502920"/>
          </a:xfrm>
          <a:prstGeom prst="rect">
            <a:avLst/>
          </a:prstGeom>
          <a:solidFill>
            <a:srgbClr val="E5E7EB"/>
          </a:solidFill>
          <a:ln>
            <a:noFill/>
          </a:ln>
        </p:spPr>
        <p:txBody>
          <a:bodyPr rtlCol="0" anchor="ctr"/>
          <a:lstStyle/>
          <a:p>
            <a:pPr algn="ctr"/>
          </a:p>
        </p:txBody>
      </p:sp>
      <p:sp>
        <p:nvSpPr>
          <p:cNvPr id="30" name="TextBox 29"/>
          <p:cNvSpPr txBox="1"/>
          <p:nvPr/>
        </p:nvSpPr>
        <p:spPr>
          <a:xfrm>
            <a:off x="352044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6</a:t>
            </a:r>
          </a:p>
        </p:txBody>
      </p:sp>
      <p:sp>
        <p:nvSpPr>
          <p:cNvPr id="31" name="Rectangle 30"/>
          <p:cNvSpPr/>
          <p:nvPr/>
        </p:nvSpPr>
        <p:spPr>
          <a:xfrm>
            <a:off x="4133088" y="4261104"/>
            <a:ext cx="557784" cy="502920"/>
          </a:xfrm>
          <a:prstGeom prst="rect">
            <a:avLst/>
          </a:prstGeom>
          <a:solidFill>
            <a:srgbClr val="E5E7EB"/>
          </a:solidFill>
          <a:ln>
            <a:noFill/>
          </a:ln>
        </p:spPr>
        <p:txBody>
          <a:bodyPr rtlCol="0" anchor="ctr"/>
          <a:lstStyle/>
          <a:p>
            <a:pPr algn="ctr"/>
          </a:p>
        </p:txBody>
      </p:sp>
      <p:sp>
        <p:nvSpPr>
          <p:cNvPr id="32" name="TextBox 31"/>
          <p:cNvSpPr txBox="1"/>
          <p:nvPr/>
        </p:nvSpPr>
        <p:spPr>
          <a:xfrm>
            <a:off x="411480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7</a:t>
            </a:r>
          </a:p>
        </p:txBody>
      </p:sp>
      <p:sp>
        <p:nvSpPr>
          <p:cNvPr id="33" name="Rectangle 32"/>
          <p:cNvSpPr/>
          <p:nvPr/>
        </p:nvSpPr>
        <p:spPr>
          <a:xfrm>
            <a:off x="4727448" y="4261104"/>
            <a:ext cx="557784" cy="502920"/>
          </a:xfrm>
          <a:prstGeom prst="rect">
            <a:avLst/>
          </a:prstGeom>
          <a:solidFill>
            <a:srgbClr val="0C1408"/>
          </a:solidFill>
          <a:ln>
            <a:noFill/>
          </a:ln>
        </p:spPr>
        <p:txBody>
          <a:bodyPr rtlCol="0" anchor="ctr"/>
          <a:lstStyle/>
          <a:p>
            <a:pPr algn="ctr"/>
          </a:p>
        </p:txBody>
      </p:sp>
      <p:sp>
        <p:nvSpPr>
          <p:cNvPr id="34" name="TextBox 33"/>
          <p:cNvSpPr txBox="1"/>
          <p:nvPr/>
        </p:nvSpPr>
        <p:spPr>
          <a:xfrm>
            <a:off x="4709160" y="4370832"/>
            <a:ext cx="594360" cy="292608"/>
          </a:xfrm>
          <a:prstGeom prst="rect">
            <a:avLst/>
          </a:prstGeom>
          <a:noFill/>
        </p:spPr>
        <p:txBody>
          <a:bodyPr wrap="square" lIns="0" tIns="0" rIns="0" bIns="0">
            <a:spAutoFit/>
          </a:bodyPr>
          <a:lstStyle/>
          <a:p>
            <a:pPr algn="ctr">
              <a:lnSpc>
                <a:spcPct val="105000"/>
              </a:lnSpc>
            </a:pPr>
            <a:r>
              <a:rPr sz="1250" b="1">
                <a:solidFill>
                  <a:srgbClr val="FFFFFF"/>
                </a:solidFill>
                <a:latin typeface="Arial"/>
              </a:rPr>
              <a:t>8</a:t>
            </a:r>
          </a:p>
        </p:txBody>
      </p:sp>
      <p:sp>
        <p:nvSpPr>
          <p:cNvPr id="35" name="Rectangle 34"/>
          <p:cNvSpPr/>
          <p:nvPr/>
        </p:nvSpPr>
        <p:spPr>
          <a:xfrm>
            <a:off x="5321808" y="4261104"/>
            <a:ext cx="557784" cy="502920"/>
          </a:xfrm>
          <a:prstGeom prst="rect">
            <a:avLst/>
          </a:prstGeom>
          <a:solidFill>
            <a:srgbClr val="EDA100"/>
          </a:solidFill>
          <a:ln>
            <a:noFill/>
          </a:ln>
        </p:spPr>
        <p:txBody>
          <a:bodyPr rtlCol="0" anchor="ctr"/>
          <a:lstStyle/>
          <a:p>
            <a:pPr algn="ctr"/>
          </a:p>
        </p:txBody>
      </p:sp>
      <p:sp>
        <p:nvSpPr>
          <p:cNvPr id="36" name="TextBox 35"/>
          <p:cNvSpPr txBox="1"/>
          <p:nvPr/>
        </p:nvSpPr>
        <p:spPr>
          <a:xfrm>
            <a:off x="530352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9</a:t>
            </a:r>
          </a:p>
        </p:txBody>
      </p:sp>
      <p:sp>
        <p:nvSpPr>
          <p:cNvPr id="37" name="Rectangle 36"/>
          <p:cNvSpPr/>
          <p:nvPr/>
        </p:nvSpPr>
        <p:spPr>
          <a:xfrm>
            <a:off x="5916168" y="4261104"/>
            <a:ext cx="557784" cy="502920"/>
          </a:xfrm>
          <a:prstGeom prst="rect">
            <a:avLst/>
          </a:prstGeom>
          <a:solidFill>
            <a:srgbClr val="EDA100"/>
          </a:solidFill>
          <a:ln>
            <a:noFill/>
          </a:ln>
        </p:spPr>
        <p:txBody>
          <a:bodyPr rtlCol="0" anchor="ctr"/>
          <a:lstStyle/>
          <a:p>
            <a:pPr algn="ctr"/>
          </a:p>
        </p:txBody>
      </p:sp>
      <p:sp>
        <p:nvSpPr>
          <p:cNvPr id="38" name="TextBox 37"/>
          <p:cNvSpPr txBox="1"/>
          <p:nvPr/>
        </p:nvSpPr>
        <p:spPr>
          <a:xfrm>
            <a:off x="589788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10</a:t>
            </a:r>
          </a:p>
        </p:txBody>
      </p:sp>
      <p:sp>
        <p:nvSpPr>
          <p:cNvPr id="39" name="Rectangle 38"/>
          <p:cNvSpPr/>
          <p:nvPr/>
        </p:nvSpPr>
        <p:spPr>
          <a:xfrm>
            <a:off x="6510528" y="4261104"/>
            <a:ext cx="557784" cy="502920"/>
          </a:xfrm>
          <a:prstGeom prst="rect">
            <a:avLst/>
          </a:prstGeom>
          <a:solidFill>
            <a:srgbClr val="EDA100"/>
          </a:solidFill>
          <a:ln>
            <a:noFill/>
          </a:ln>
        </p:spPr>
        <p:txBody>
          <a:bodyPr rtlCol="0" anchor="ctr"/>
          <a:lstStyle/>
          <a:p>
            <a:pPr algn="ctr"/>
          </a:p>
        </p:txBody>
      </p:sp>
      <p:sp>
        <p:nvSpPr>
          <p:cNvPr id="40" name="TextBox 39"/>
          <p:cNvSpPr txBox="1"/>
          <p:nvPr/>
        </p:nvSpPr>
        <p:spPr>
          <a:xfrm>
            <a:off x="649224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11</a:t>
            </a:r>
          </a:p>
        </p:txBody>
      </p:sp>
      <p:sp>
        <p:nvSpPr>
          <p:cNvPr id="41" name="Rectangle 40"/>
          <p:cNvSpPr/>
          <p:nvPr/>
        </p:nvSpPr>
        <p:spPr>
          <a:xfrm>
            <a:off x="7104888" y="4261104"/>
            <a:ext cx="557784" cy="502920"/>
          </a:xfrm>
          <a:prstGeom prst="rect">
            <a:avLst/>
          </a:prstGeom>
          <a:solidFill>
            <a:srgbClr val="EDA100"/>
          </a:solidFill>
          <a:ln>
            <a:noFill/>
          </a:ln>
        </p:spPr>
        <p:txBody>
          <a:bodyPr rtlCol="0" anchor="ctr"/>
          <a:lstStyle/>
          <a:p>
            <a:pPr algn="ctr"/>
          </a:p>
        </p:txBody>
      </p:sp>
      <p:sp>
        <p:nvSpPr>
          <p:cNvPr id="42" name="TextBox 41"/>
          <p:cNvSpPr txBox="1"/>
          <p:nvPr/>
        </p:nvSpPr>
        <p:spPr>
          <a:xfrm>
            <a:off x="708660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12</a:t>
            </a:r>
          </a:p>
        </p:txBody>
      </p:sp>
      <p:sp>
        <p:nvSpPr>
          <p:cNvPr id="43" name="TextBox 42"/>
          <p:cNvSpPr txBox="1"/>
          <p:nvPr/>
        </p:nvSpPr>
        <p:spPr>
          <a:xfrm>
            <a:off x="576072" y="4828032"/>
            <a:ext cx="539496" cy="457200"/>
          </a:xfrm>
          <a:prstGeom prst="rect">
            <a:avLst/>
          </a:prstGeom>
          <a:noFill/>
        </p:spPr>
        <p:txBody>
          <a:bodyPr wrap="square" lIns="0" tIns="0" rIns="0" bIns="0">
            <a:spAutoFit/>
          </a:bodyPr>
          <a:lstStyle/>
          <a:p>
            <a:pPr>
              <a:lnSpc>
                <a:spcPct val="100000"/>
              </a:lnSpc>
            </a:pPr>
            <a:r>
              <a:rPr sz="1000">
                <a:solidFill>
                  <a:srgbClr val="0C1408"/>
                </a:solidFill>
                <a:latin typeface="Arial"/>
              </a:rPr>
              <a:t>payday: first debit</a:t>
            </a:r>
          </a:p>
        </p:txBody>
      </p:sp>
      <p:sp>
        <p:nvSpPr>
          <p:cNvPr id="44" name="TextBox 43"/>
          <p:cNvSpPr txBox="1"/>
          <p:nvPr/>
        </p:nvSpPr>
        <p:spPr>
          <a:xfrm>
            <a:off x="1170432" y="4828032"/>
            <a:ext cx="2322576" cy="457200"/>
          </a:xfrm>
          <a:prstGeom prst="rect">
            <a:avLst/>
          </a:prstGeom>
          <a:noFill/>
        </p:spPr>
        <p:txBody>
          <a:bodyPr wrap="square" lIns="0" tIns="0" rIns="0" bIns="0">
            <a:spAutoFit/>
          </a:bodyPr>
          <a:lstStyle/>
          <a:p>
            <a:pPr>
              <a:lnSpc>
                <a:spcPct val="100000"/>
              </a:lnSpc>
            </a:pPr>
            <a:r>
              <a:rPr sz="1000">
                <a:solidFill>
                  <a:srgbClr val="0C1408"/>
                </a:solidFill>
                <a:latin typeface="Arial"/>
              </a:rPr>
              <a:t>a retry each morning, 5 attempts at most</a:t>
            </a:r>
          </a:p>
        </p:txBody>
      </p:sp>
      <p:sp>
        <p:nvSpPr>
          <p:cNvPr id="45" name="TextBox 44"/>
          <p:cNvSpPr txBox="1"/>
          <p:nvPr/>
        </p:nvSpPr>
        <p:spPr>
          <a:xfrm>
            <a:off x="4736592" y="4828032"/>
            <a:ext cx="539496" cy="457200"/>
          </a:xfrm>
          <a:prstGeom prst="rect">
            <a:avLst/>
          </a:prstGeom>
          <a:noFill/>
        </p:spPr>
        <p:txBody>
          <a:bodyPr wrap="square" lIns="0" tIns="0" rIns="0" bIns="0">
            <a:spAutoFit/>
          </a:bodyPr>
          <a:lstStyle/>
          <a:p>
            <a:pPr>
              <a:lnSpc>
                <a:spcPct val="100000"/>
              </a:lnSpc>
            </a:pPr>
            <a:r>
              <a:rPr sz="1000">
                <a:solidFill>
                  <a:srgbClr val="0C1408"/>
                </a:solidFill>
                <a:latin typeface="Arial"/>
              </a:rPr>
              <a:t>due date</a:t>
            </a:r>
          </a:p>
        </p:txBody>
      </p:sp>
      <p:sp>
        <p:nvSpPr>
          <p:cNvPr id="46" name="TextBox 45"/>
          <p:cNvSpPr txBox="1"/>
          <p:nvPr/>
        </p:nvSpPr>
        <p:spPr>
          <a:xfrm>
            <a:off x="5330952" y="4828032"/>
            <a:ext cx="2322576" cy="457200"/>
          </a:xfrm>
          <a:prstGeom prst="rect">
            <a:avLst/>
          </a:prstGeom>
          <a:noFill/>
        </p:spPr>
        <p:txBody>
          <a:bodyPr wrap="square" lIns="0" tIns="0" rIns="0" bIns="0">
            <a:spAutoFit/>
          </a:bodyPr>
          <a:lstStyle/>
          <a:p>
            <a:pPr>
              <a:lnSpc>
                <a:spcPct val="100000"/>
              </a:lnSpc>
            </a:pPr>
            <a:r>
              <a:rPr sz="1000">
                <a:solidFill>
                  <a:srgbClr val="0C1408"/>
                </a:solidFill>
                <a:latin typeface="Arial"/>
              </a:rPr>
              <a:t>late charges: 2%, then 5%, then 10%</a:t>
            </a:r>
          </a:p>
        </p:txBody>
      </p:sp>
      <p:sp>
        <p:nvSpPr>
          <p:cNvPr id="47" name="TextBox 46"/>
          <p:cNvSpPr txBox="1"/>
          <p:nvPr/>
        </p:nvSpPr>
        <p:spPr>
          <a:xfrm>
            <a:off x="548640" y="5440680"/>
            <a:ext cx="7132320" cy="548640"/>
          </a:xfrm>
          <a:prstGeom prst="rect">
            <a:avLst/>
          </a:prstGeom>
          <a:noFill/>
        </p:spPr>
        <p:txBody>
          <a:bodyPr wrap="square" lIns="0" tIns="0" rIns="0" bIns="0">
            <a:spAutoFit/>
          </a:bodyPr>
          <a:lstStyle/>
          <a:p>
            <a:pPr>
              <a:lnSpc>
                <a:spcPct val="104000"/>
              </a:lnSpc>
            </a:pPr>
            <a:r>
              <a:rPr sz="1050">
                <a:solidFill>
                  <a:srgbClr val="0C1408"/>
                </a:solidFill>
                <a:latin typeface="Arial"/>
              </a:rPr>
              <a:t>The evening before payday the member gets a reminder on WhatsApp. The payday is learned from the account the salary arrives in.</a:t>
            </a:r>
          </a:p>
        </p:txBody>
      </p:sp>
      <p:sp>
        <p:nvSpPr>
          <p:cNvPr id="48" name="Rectangle 47"/>
          <p:cNvSpPr/>
          <p:nvPr/>
        </p:nvSpPr>
        <p:spPr>
          <a:xfrm>
            <a:off x="8092440" y="3931920"/>
            <a:ext cx="3550615" cy="2240280"/>
          </a:xfrm>
          <a:prstGeom prst="rect">
            <a:avLst/>
          </a:prstGeom>
          <a:solidFill>
            <a:srgbClr val="F3F4F6"/>
          </a:solidFill>
          <a:ln>
            <a:noFill/>
          </a:ln>
        </p:spPr>
        <p:txBody>
          <a:bodyPr rtlCol="0" anchor="ctr"/>
          <a:lstStyle/>
          <a:p>
            <a:pPr algn="ctr"/>
          </a:p>
        </p:txBody>
      </p:sp>
      <p:sp>
        <p:nvSpPr>
          <p:cNvPr id="49" name="TextBox 48"/>
          <p:cNvSpPr txBox="1"/>
          <p:nvPr/>
        </p:nvSpPr>
        <p:spPr>
          <a:xfrm>
            <a:off x="8275320" y="4023360"/>
            <a:ext cx="3184855" cy="274320"/>
          </a:xfrm>
          <a:prstGeom prst="rect">
            <a:avLst/>
          </a:prstGeom>
          <a:noFill/>
        </p:spPr>
        <p:txBody>
          <a:bodyPr wrap="square" lIns="0" tIns="0" rIns="0" bIns="0">
            <a:spAutoFit/>
          </a:bodyPr>
          <a:lstStyle/>
          <a:p>
            <a:pPr>
              <a:lnSpc>
                <a:spcPct val="105000"/>
              </a:lnSpc>
            </a:pPr>
            <a:r>
              <a:rPr sz="1200" b="1">
                <a:solidFill>
                  <a:srgbClr val="0C1408"/>
                </a:solidFill>
                <a:latin typeface="Arial"/>
              </a:rPr>
              <a:t>Rules on every automatic debit</a:t>
            </a:r>
          </a:p>
        </p:txBody>
      </p:sp>
      <p:sp>
        <p:nvSpPr>
          <p:cNvPr id="50" name="TextBox 49"/>
          <p:cNvSpPr txBox="1"/>
          <p:nvPr/>
        </p:nvSpPr>
        <p:spPr>
          <a:xfrm>
            <a:off x="8275320" y="4352544"/>
            <a:ext cx="3230575" cy="1783080"/>
          </a:xfrm>
          <a:prstGeom prst="rect">
            <a:avLst/>
          </a:prstGeom>
          <a:noFill/>
        </p:spPr>
        <p:txBody>
          <a:bodyPr wrap="square" lIns="0" tIns="0" rIns="0" bIns="0">
            <a:spAutoFit/>
          </a:bodyPr>
          <a:lstStyle/>
          <a:p>
            <a:pPr marL="173736" indent="-173736">
              <a:lnSpc>
                <a:spcPct val="104000"/>
              </a:lnSpc>
              <a:spcAft>
                <a:spcPts val="300"/>
              </a:spcAft>
              <a:buClr>
                <a:srgbClr val="573F99"/>
              </a:buClr>
              <a:buSzPct val="70000"/>
              <a:buFont typeface="Arial"/>
              <a:buChar char="■"/>
            </a:pPr>
            <a:r>
              <a:rPr sz="1050">
                <a:solidFill>
                  <a:srgbClr val="0C1408"/>
                </a:solidFill>
                <a:latin typeface="Arial"/>
              </a:rPr>
              <a:t>At most one instalment each time</a:t>
            </a:r>
          </a:p>
          <a:p>
            <a:pPr marL="173736" indent="-173736">
              <a:lnSpc>
                <a:spcPct val="104000"/>
              </a:lnSpc>
              <a:spcAft>
                <a:spcPts val="300"/>
              </a:spcAft>
              <a:buClr>
                <a:srgbClr val="573F99"/>
              </a:buClr>
              <a:buSzPct val="70000"/>
              <a:buFont typeface="Arial"/>
              <a:buChar char="■"/>
            </a:pPr>
            <a:r>
              <a:rPr sz="1050">
                <a:solidFill>
                  <a:srgbClr val="0C1408"/>
                </a:solidFill>
                <a:latin typeface="Arial"/>
              </a:rPr>
              <a:t>Only on the circle’s schedule</a:t>
            </a:r>
          </a:p>
          <a:p>
            <a:pPr marL="173736" indent="-173736">
              <a:lnSpc>
                <a:spcPct val="104000"/>
              </a:lnSpc>
              <a:spcAft>
                <a:spcPts val="300"/>
              </a:spcAft>
              <a:buClr>
                <a:srgbClr val="573F99"/>
              </a:buClr>
              <a:buSzPct val="70000"/>
              <a:buFont typeface="Arial"/>
              <a:buChar char="■"/>
            </a:pPr>
            <a:r>
              <a:rPr sz="1050">
                <a:solidFill>
                  <a:srgbClr val="0C1408"/>
                </a:solidFill>
                <a:latin typeface="Arial"/>
              </a:rPr>
              <a:t>Cancelling moves the member to method 1 or 3; the commitment to the circle stays</a:t>
            </a:r>
          </a:p>
          <a:p>
            <a:pPr marL="173736" indent="-173736">
              <a:lnSpc>
                <a:spcPct val="104000"/>
              </a:lnSpc>
              <a:spcAft>
                <a:spcPts val="300"/>
              </a:spcAft>
              <a:buClr>
                <a:srgbClr val="573F99"/>
              </a:buClr>
              <a:buSzPct val="70000"/>
              <a:buFont typeface="Arial"/>
              <a:buChar char="■"/>
            </a:pPr>
            <a:r>
              <a:rPr sz="1050">
                <a:solidFill>
                  <a:srgbClr val="0C1408"/>
                </a:solidFill>
                <a:latin typeface="Arial"/>
              </a:rPr>
              <a:t>A missed amount is held against the member’s own pot, never owed to Halqa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Wallets and PSP Integration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Appendix A3 · how money in a wallet, a card or another bank reaches the committee account at Raqami</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23</a:t>
            </a:r>
          </a:p>
        </p:txBody>
      </p:sp>
      <p:sp>
        <p:nvSpPr>
          <p:cNvPr id="6" name="TextBox 5"/>
          <p:cNvSpPr txBox="1"/>
          <p:nvPr/>
        </p:nvSpPr>
        <p:spPr>
          <a:xfrm>
            <a:off x="548640" y="1481328"/>
            <a:ext cx="2057400" cy="256032"/>
          </a:xfrm>
          <a:prstGeom prst="rect">
            <a:avLst/>
          </a:prstGeom>
          <a:noFill/>
        </p:spPr>
        <p:txBody>
          <a:bodyPr wrap="square" lIns="0" tIns="0" rIns="0" bIns="0">
            <a:spAutoFit/>
          </a:bodyPr>
          <a:lstStyle/>
          <a:p>
            <a:pPr>
              <a:lnSpc>
                <a:spcPct val="105000"/>
              </a:lnSpc>
            </a:pPr>
            <a:r>
              <a:rPr sz="1050" b="1">
                <a:solidFill>
                  <a:srgbClr val="0C1408"/>
                </a:solidFill>
                <a:latin typeface="Arial"/>
              </a:rPr>
              <a:t>Where the money is</a:t>
            </a:r>
          </a:p>
        </p:txBody>
      </p:sp>
      <p:sp>
        <p:nvSpPr>
          <p:cNvPr id="7" name="TextBox 6"/>
          <p:cNvSpPr txBox="1"/>
          <p:nvPr/>
        </p:nvSpPr>
        <p:spPr>
          <a:xfrm>
            <a:off x="3063240" y="1481328"/>
            <a:ext cx="2057400" cy="256032"/>
          </a:xfrm>
          <a:prstGeom prst="rect">
            <a:avLst/>
          </a:prstGeom>
          <a:noFill/>
        </p:spPr>
        <p:txBody>
          <a:bodyPr wrap="square" lIns="0" tIns="0" rIns="0" bIns="0">
            <a:spAutoFit/>
          </a:bodyPr>
          <a:lstStyle/>
          <a:p>
            <a:pPr>
              <a:lnSpc>
                <a:spcPct val="105000"/>
              </a:lnSpc>
            </a:pPr>
            <a:r>
              <a:rPr sz="1050" b="1">
                <a:solidFill>
                  <a:srgbClr val="0C1408"/>
                </a:solidFill>
                <a:latin typeface="Arial"/>
              </a:rPr>
              <a:t>Route</a:t>
            </a:r>
          </a:p>
        </p:txBody>
      </p:sp>
      <p:sp>
        <p:nvSpPr>
          <p:cNvPr id="8" name="TextBox 7"/>
          <p:cNvSpPr txBox="1"/>
          <p:nvPr/>
        </p:nvSpPr>
        <p:spPr>
          <a:xfrm>
            <a:off x="5577840" y="1481328"/>
            <a:ext cx="2103120" cy="256032"/>
          </a:xfrm>
          <a:prstGeom prst="rect">
            <a:avLst/>
          </a:prstGeom>
          <a:noFill/>
        </p:spPr>
        <p:txBody>
          <a:bodyPr wrap="square" lIns="0" tIns="0" rIns="0" bIns="0">
            <a:spAutoFit/>
          </a:bodyPr>
          <a:lstStyle/>
          <a:p>
            <a:pPr>
              <a:lnSpc>
                <a:spcPct val="105000"/>
              </a:lnSpc>
            </a:pPr>
            <a:r>
              <a:rPr sz="1050" b="1">
                <a:solidFill>
                  <a:srgbClr val="0C1408"/>
                </a:solidFill>
                <a:latin typeface="Arial"/>
              </a:rPr>
              <a:t>At Raqami</a:t>
            </a:r>
          </a:p>
        </p:txBody>
      </p:sp>
      <p:sp>
        <p:nvSpPr>
          <p:cNvPr id="9" name="TextBox 8"/>
          <p:cNvSpPr txBox="1"/>
          <p:nvPr/>
        </p:nvSpPr>
        <p:spPr>
          <a:xfrm>
            <a:off x="8229600" y="1481328"/>
            <a:ext cx="3413455" cy="256032"/>
          </a:xfrm>
          <a:prstGeom prst="rect">
            <a:avLst/>
          </a:prstGeom>
          <a:noFill/>
        </p:spPr>
        <p:txBody>
          <a:bodyPr wrap="square" lIns="0" tIns="0" rIns="0" bIns="0">
            <a:spAutoFit/>
          </a:bodyPr>
          <a:lstStyle/>
          <a:p>
            <a:pPr>
              <a:lnSpc>
                <a:spcPct val="105000"/>
              </a:lnSpc>
            </a:pPr>
            <a:r>
              <a:rPr sz="1050" b="1">
                <a:solidFill>
                  <a:srgbClr val="0C1408"/>
                </a:solidFill>
                <a:latin typeface="Arial"/>
              </a:rPr>
              <a:t>Payout</a:t>
            </a:r>
          </a:p>
        </p:txBody>
      </p:sp>
      <p:sp>
        <p:nvSpPr>
          <p:cNvPr id="10" name="Rectangle 9"/>
          <p:cNvSpPr/>
          <p:nvPr/>
        </p:nvSpPr>
        <p:spPr>
          <a:xfrm>
            <a:off x="3063240" y="1783080"/>
            <a:ext cx="4617720" cy="457200"/>
          </a:xfrm>
          <a:prstGeom prst="rect">
            <a:avLst/>
          </a:prstGeom>
          <a:solidFill>
            <a:srgbClr val="F3FCE7"/>
          </a:solidFill>
          <a:ln w="15875">
            <a:solidFill>
              <a:srgbClr val="6DC72A"/>
            </a:solidFill>
          </a:ln>
        </p:spPr>
        <p:txBody>
          <a:bodyPr rtlCol="0" anchor="ctr" lIns="73152" tIns="54864" rIns="73152" bIns="54864" wrap="square"/>
          <a:lstStyle/>
          <a:p>
            <a:pPr algn="ctr">
              <a:lnSpc>
                <a:spcPct val="102000"/>
              </a:lnSpc>
            </a:pPr>
            <a:r>
              <a:rPr sz="1150" b="1">
                <a:solidFill>
                  <a:srgbClr val="0C1408"/>
                </a:solidFill>
                <a:latin typeface="Arial"/>
              </a:rPr>
              <a:t>Halqa platform</a:t>
            </a:r>
          </a:p>
          <a:p>
            <a:pPr algn="ctr">
              <a:lnSpc>
                <a:spcPct val="102000"/>
              </a:lnSpc>
              <a:spcBef>
                <a:spcPts val="200"/>
              </a:spcBef>
            </a:pPr>
            <a:r>
              <a:rPr sz="1000">
                <a:solidFill>
                  <a:srgbClr val="0C1408"/>
                </a:solidFill>
                <a:latin typeface="Arial"/>
              </a:rPr>
              <a:t>sends requests by API; receives confirmations</a:t>
            </a:r>
          </a:p>
        </p:txBody>
      </p:sp>
      <p:sp>
        <p:nvSpPr>
          <p:cNvPr id="11" name="Rectangle 10"/>
          <p:cNvSpPr/>
          <p:nvPr/>
        </p:nvSpPr>
        <p:spPr>
          <a:xfrm>
            <a:off x="548640" y="2606040"/>
            <a:ext cx="2057400" cy="566928"/>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00" b="1">
                <a:solidFill>
                  <a:srgbClr val="0C1408"/>
                </a:solidFill>
                <a:latin typeface="Arial"/>
              </a:rPr>
              <a:t>Raqami account</a:t>
            </a:r>
          </a:p>
        </p:txBody>
      </p:sp>
      <p:sp>
        <p:nvSpPr>
          <p:cNvPr id="12" name="Rectangle 11"/>
          <p:cNvSpPr/>
          <p:nvPr/>
        </p:nvSpPr>
        <p:spPr>
          <a:xfrm>
            <a:off x="548640" y="3337560"/>
            <a:ext cx="2057400" cy="566928"/>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00" b="1">
                <a:solidFill>
                  <a:srgbClr val="0C1408"/>
                </a:solidFill>
                <a:latin typeface="Arial"/>
              </a:rPr>
              <a:t>Another bank account</a:t>
            </a:r>
          </a:p>
        </p:txBody>
      </p:sp>
      <p:sp>
        <p:nvSpPr>
          <p:cNvPr id="13" name="Rectangle 12"/>
          <p:cNvSpPr/>
          <p:nvPr/>
        </p:nvSpPr>
        <p:spPr>
          <a:xfrm>
            <a:off x="548640" y="4069080"/>
            <a:ext cx="2057400" cy="566928"/>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100" b="1">
                <a:solidFill>
                  <a:srgbClr val="0C1408"/>
                </a:solidFill>
                <a:latin typeface="Arial"/>
              </a:rPr>
              <a:t>Mobile wallet</a:t>
            </a:r>
          </a:p>
          <a:p>
            <a:pPr algn="ctr">
              <a:lnSpc>
                <a:spcPct val="102000"/>
              </a:lnSpc>
              <a:spcBef>
                <a:spcPts val="200"/>
              </a:spcBef>
            </a:pPr>
            <a:r>
              <a:rPr sz="900">
                <a:solidFill>
                  <a:srgbClr val="0C1408"/>
                </a:solidFill>
                <a:latin typeface="Arial"/>
              </a:rPr>
              <a:t>JazzCash, Easypaisa and others</a:t>
            </a:r>
          </a:p>
        </p:txBody>
      </p:sp>
      <p:sp>
        <p:nvSpPr>
          <p:cNvPr id="14" name="Rectangle 13"/>
          <p:cNvSpPr/>
          <p:nvPr/>
        </p:nvSpPr>
        <p:spPr>
          <a:xfrm>
            <a:off x="548640" y="4800600"/>
            <a:ext cx="2057400" cy="566928"/>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100" b="1">
                <a:solidFill>
                  <a:srgbClr val="0C1408"/>
                </a:solidFill>
                <a:latin typeface="Arial"/>
              </a:rPr>
              <a:t>Debit card</a:t>
            </a:r>
          </a:p>
        </p:txBody>
      </p:sp>
      <p:sp>
        <p:nvSpPr>
          <p:cNvPr id="15" name="Rectangle 14"/>
          <p:cNvSpPr/>
          <p:nvPr/>
        </p:nvSpPr>
        <p:spPr>
          <a:xfrm>
            <a:off x="3063240" y="2606040"/>
            <a:ext cx="2057400" cy="566928"/>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00" b="1">
                <a:solidFill>
                  <a:srgbClr val="0C1408"/>
                </a:solidFill>
                <a:latin typeface="Arial"/>
              </a:rPr>
              <a:t>Standing instruction</a:t>
            </a:r>
          </a:p>
        </p:txBody>
      </p:sp>
      <p:sp>
        <p:nvSpPr>
          <p:cNvPr id="16" name="Rectangle 15"/>
          <p:cNvSpPr/>
          <p:nvPr/>
        </p:nvSpPr>
        <p:spPr>
          <a:xfrm>
            <a:off x="3063240" y="3337560"/>
            <a:ext cx="2057400" cy="566928"/>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100" b="1">
                <a:solidFill>
                  <a:srgbClr val="0C1408"/>
                </a:solidFill>
                <a:latin typeface="Arial"/>
              </a:rPr>
              <a:t>Raast transfer</a:t>
            </a:r>
          </a:p>
        </p:txBody>
      </p:sp>
      <p:sp>
        <p:nvSpPr>
          <p:cNvPr id="17" name="Rectangle 16"/>
          <p:cNvSpPr/>
          <p:nvPr/>
        </p:nvSpPr>
        <p:spPr>
          <a:xfrm>
            <a:off x="3063240" y="4069080"/>
            <a:ext cx="2057400" cy="1298448"/>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150" b="1">
                <a:solidFill>
                  <a:srgbClr val="0C1408"/>
                </a:solidFill>
                <a:latin typeface="Arial"/>
              </a:rPr>
              <a:t>Licensed PSP</a:t>
            </a:r>
          </a:p>
          <a:p>
            <a:pPr algn="ctr">
              <a:lnSpc>
                <a:spcPct val="102000"/>
              </a:lnSpc>
              <a:spcBef>
                <a:spcPts val="200"/>
              </a:spcBef>
            </a:pPr>
            <a:r>
              <a:rPr sz="1000">
                <a:solidFill>
                  <a:srgbClr val="0C1408"/>
                </a:solidFill>
                <a:latin typeface="Arial"/>
              </a:rPr>
              <a:t>tokenised wallet and card payments</a:t>
            </a:r>
          </a:p>
        </p:txBody>
      </p:sp>
      <p:sp>
        <p:nvSpPr>
          <p:cNvPr id="18" name="Rectangle 17"/>
          <p:cNvSpPr/>
          <p:nvPr/>
        </p:nvSpPr>
        <p:spPr>
          <a:xfrm>
            <a:off x="5577840" y="2606040"/>
            <a:ext cx="2103120" cy="2761488"/>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200" b="1">
                <a:solidFill>
                  <a:srgbClr val="0C1408"/>
                </a:solidFill>
                <a:latin typeface="Arial"/>
              </a:rPr>
              <a:t>Committee account</a:t>
            </a:r>
          </a:p>
          <a:p>
            <a:pPr algn="ctr">
              <a:lnSpc>
                <a:spcPct val="102000"/>
              </a:lnSpc>
              <a:spcBef>
                <a:spcPts val="200"/>
              </a:spcBef>
            </a:pPr>
            <a:r>
              <a:rPr sz="1000">
                <a:solidFill>
                  <a:srgbClr val="0C1408"/>
                </a:solidFill>
                <a:latin typeface="Arial"/>
              </a:rPr>
              <a:t>held about 7 days; profit on the balance</a:t>
            </a:r>
          </a:p>
        </p:txBody>
      </p:sp>
      <p:sp>
        <p:nvSpPr>
          <p:cNvPr id="19" name="Rectangle 18"/>
          <p:cNvSpPr/>
          <p:nvPr/>
        </p:nvSpPr>
        <p:spPr>
          <a:xfrm>
            <a:off x="8229600" y="2606040"/>
            <a:ext cx="3413455" cy="566928"/>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00" b="1">
                <a:solidFill>
                  <a:srgbClr val="0C1408"/>
                </a:solidFill>
                <a:latin typeface="Arial"/>
              </a:rPr>
              <a:t>Collector’s Raqami account</a:t>
            </a:r>
          </a:p>
          <a:p>
            <a:pPr algn="ctr">
              <a:lnSpc>
                <a:spcPct val="102000"/>
              </a:lnSpc>
              <a:spcBef>
                <a:spcPts val="200"/>
              </a:spcBef>
            </a:pPr>
            <a:r>
              <a:rPr sz="950">
                <a:solidFill>
                  <a:srgbClr val="0C1408"/>
                </a:solidFill>
                <a:latin typeface="Arial"/>
              </a:rPr>
              <a:t>the pot on the 8th</a:t>
            </a:r>
          </a:p>
        </p:txBody>
      </p:sp>
      <p:cxnSp>
        <p:nvCxnSpPr>
          <p:cNvPr id="20" name="Connector 19"/>
          <p:cNvCxnSpPr/>
          <p:nvPr/>
        </p:nvCxnSpPr>
        <p:spPr>
          <a:xfrm>
            <a:off x="2606040" y="2889504"/>
            <a:ext cx="457200" cy="0"/>
          </a:xfrm>
          <a:prstGeom prst="line">
            <a:avLst/>
          </a:prstGeom>
          <a:ln w="38100">
            <a:solidFill>
              <a:srgbClr val="2A78D6"/>
            </a:solidFill>
            <a:tailEnd type="triangle" w="med" len="med"/>
          </a:ln>
        </p:spPr>
      </p:cxnSp>
      <p:cxnSp>
        <p:nvCxnSpPr>
          <p:cNvPr id="21" name="Connector 20"/>
          <p:cNvCxnSpPr/>
          <p:nvPr/>
        </p:nvCxnSpPr>
        <p:spPr>
          <a:xfrm>
            <a:off x="5120640" y="2889504"/>
            <a:ext cx="457200" cy="0"/>
          </a:xfrm>
          <a:prstGeom prst="line">
            <a:avLst/>
          </a:prstGeom>
          <a:ln w="38100">
            <a:solidFill>
              <a:srgbClr val="2A78D6"/>
            </a:solidFill>
            <a:tailEnd type="triangle" w="med" len="med"/>
          </a:ln>
        </p:spPr>
      </p:cxnSp>
      <p:cxnSp>
        <p:nvCxnSpPr>
          <p:cNvPr id="22" name="Connector 21"/>
          <p:cNvCxnSpPr/>
          <p:nvPr/>
        </p:nvCxnSpPr>
        <p:spPr>
          <a:xfrm>
            <a:off x="2606040" y="3621024"/>
            <a:ext cx="457200" cy="0"/>
          </a:xfrm>
          <a:prstGeom prst="line">
            <a:avLst/>
          </a:prstGeom>
          <a:ln w="38100">
            <a:solidFill>
              <a:srgbClr val="2A78D6"/>
            </a:solidFill>
            <a:tailEnd type="triangle" w="med" len="med"/>
          </a:ln>
        </p:spPr>
      </p:cxnSp>
      <p:cxnSp>
        <p:nvCxnSpPr>
          <p:cNvPr id="23" name="Connector 22"/>
          <p:cNvCxnSpPr/>
          <p:nvPr/>
        </p:nvCxnSpPr>
        <p:spPr>
          <a:xfrm>
            <a:off x="5120640" y="3621024"/>
            <a:ext cx="457200" cy="0"/>
          </a:xfrm>
          <a:prstGeom prst="line">
            <a:avLst/>
          </a:prstGeom>
          <a:ln w="38100">
            <a:solidFill>
              <a:srgbClr val="2A78D6"/>
            </a:solidFill>
            <a:tailEnd type="triangle" w="med" len="med"/>
          </a:ln>
        </p:spPr>
      </p:cxnSp>
      <p:cxnSp>
        <p:nvCxnSpPr>
          <p:cNvPr id="24" name="Connector 23"/>
          <p:cNvCxnSpPr/>
          <p:nvPr/>
        </p:nvCxnSpPr>
        <p:spPr>
          <a:xfrm>
            <a:off x="2606040" y="4352544"/>
            <a:ext cx="457200" cy="0"/>
          </a:xfrm>
          <a:prstGeom prst="line">
            <a:avLst/>
          </a:prstGeom>
          <a:ln w="38100">
            <a:solidFill>
              <a:srgbClr val="2A78D6"/>
            </a:solidFill>
            <a:tailEnd type="triangle" w="med" len="med"/>
          </a:ln>
        </p:spPr>
      </p:cxnSp>
      <p:cxnSp>
        <p:nvCxnSpPr>
          <p:cNvPr id="25" name="Connector 24"/>
          <p:cNvCxnSpPr/>
          <p:nvPr/>
        </p:nvCxnSpPr>
        <p:spPr>
          <a:xfrm>
            <a:off x="2606040" y="5084064"/>
            <a:ext cx="457200" cy="0"/>
          </a:xfrm>
          <a:prstGeom prst="line">
            <a:avLst/>
          </a:prstGeom>
          <a:ln w="38100">
            <a:solidFill>
              <a:srgbClr val="2A78D6"/>
            </a:solidFill>
            <a:tailEnd type="triangle" w="med" len="med"/>
          </a:ln>
        </p:spPr>
      </p:cxnSp>
      <p:cxnSp>
        <p:nvCxnSpPr>
          <p:cNvPr id="26" name="Connector 25"/>
          <p:cNvCxnSpPr/>
          <p:nvPr/>
        </p:nvCxnSpPr>
        <p:spPr>
          <a:xfrm>
            <a:off x="5120640" y="4718304"/>
            <a:ext cx="457200" cy="0"/>
          </a:xfrm>
          <a:prstGeom prst="line">
            <a:avLst/>
          </a:prstGeom>
          <a:ln w="38100">
            <a:solidFill>
              <a:srgbClr val="2A78D6"/>
            </a:solidFill>
            <a:tailEnd type="triangle" w="med" len="med"/>
          </a:ln>
        </p:spPr>
      </p:cxnSp>
      <p:cxnSp>
        <p:nvCxnSpPr>
          <p:cNvPr id="27" name="Connector 26"/>
          <p:cNvCxnSpPr/>
          <p:nvPr/>
        </p:nvCxnSpPr>
        <p:spPr>
          <a:xfrm>
            <a:off x="7680960" y="2889504"/>
            <a:ext cx="548640" cy="0"/>
          </a:xfrm>
          <a:prstGeom prst="line">
            <a:avLst/>
          </a:prstGeom>
          <a:ln w="38100">
            <a:solidFill>
              <a:srgbClr val="2A78D6"/>
            </a:solidFill>
            <a:tailEnd type="triangle" w="med" len="med"/>
          </a:ln>
        </p:spPr>
      </p:cxnSp>
      <p:cxnSp>
        <p:nvCxnSpPr>
          <p:cNvPr id="28" name="Connector 27"/>
          <p:cNvCxnSpPr/>
          <p:nvPr/>
        </p:nvCxnSpPr>
        <p:spPr>
          <a:xfrm>
            <a:off x="3520440" y="2240280"/>
            <a:ext cx="0" cy="365760"/>
          </a:xfrm>
          <a:prstGeom prst="line">
            <a:avLst/>
          </a:prstGeom>
          <a:ln w="19050">
            <a:solidFill>
              <a:srgbClr val="41801A"/>
            </a:solidFill>
            <a:tailEnd type="triangle" w="med" len="med"/>
          </a:ln>
        </p:spPr>
      </p:cxnSp>
      <p:cxnSp>
        <p:nvCxnSpPr>
          <p:cNvPr id="29" name="Connector 28"/>
          <p:cNvCxnSpPr/>
          <p:nvPr/>
        </p:nvCxnSpPr>
        <p:spPr>
          <a:xfrm>
            <a:off x="6629400" y="2240280"/>
            <a:ext cx="0" cy="365760"/>
          </a:xfrm>
          <a:prstGeom prst="line">
            <a:avLst/>
          </a:prstGeom>
          <a:ln w="19050">
            <a:solidFill>
              <a:srgbClr val="41801A"/>
            </a:solidFill>
            <a:tailEnd type="triangle" w="med" len="med"/>
          </a:ln>
        </p:spPr>
      </p:cxnSp>
      <p:cxnSp>
        <p:nvCxnSpPr>
          <p:cNvPr id="30" name="Connector 29"/>
          <p:cNvCxnSpPr/>
          <p:nvPr/>
        </p:nvCxnSpPr>
        <p:spPr>
          <a:xfrm flipV="1">
            <a:off x="7360920" y="2240280"/>
            <a:ext cx="0" cy="365760"/>
          </a:xfrm>
          <a:prstGeom prst="line">
            <a:avLst/>
          </a:prstGeom>
          <a:ln w="15875">
            <a:solidFill>
              <a:srgbClr val="4B5563"/>
            </a:solidFill>
            <a:prstDash val="dash"/>
            <a:tailEnd type="triangle" w="med" len="med"/>
          </a:ln>
        </p:spPr>
      </p:cxnSp>
      <p:cxnSp>
        <p:nvCxnSpPr>
          <p:cNvPr id="36" name="Connector 35"/>
          <p:cNvCxnSpPr/>
          <p:nvPr/>
        </p:nvCxnSpPr>
        <p:spPr>
          <a:xfrm>
            <a:off x="548640" y="5696712"/>
            <a:ext cx="384048" cy="0"/>
          </a:xfrm>
          <a:prstGeom prst="line">
            <a:avLst/>
          </a:prstGeom>
          <a:ln w="38100">
            <a:solidFill>
              <a:srgbClr val="2A78D6"/>
            </a:solidFill>
            <a:tailEnd type="triangle" w="med" len="med"/>
          </a:ln>
        </p:spPr>
      </p:cxnSp>
      <p:sp>
        <p:nvSpPr>
          <p:cNvPr id="37" name="TextBox 36"/>
          <p:cNvSpPr txBox="1"/>
          <p:nvPr/>
        </p:nvSpPr>
        <p:spPr>
          <a:xfrm>
            <a:off x="1005840" y="5577840"/>
            <a:ext cx="438912" cy="237744"/>
          </a:xfrm>
          <a:prstGeom prst="rect">
            <a:avLst/>
          </a:prstGeom>
          <a:noFill/>
        </p:spPr>
        <p:txBody>
          <a:bodyPr wrap="square" lIns="0" tIns="0" rIns="0" bIns="0">
            <a:spAutoFit/>
          </a:bodyPr>
          <a:lstStyle/>
          <a:p>
            <a:pPr>
              <a:lnSpc>
                <a:spcPct val="105000"/>
              </a:lnSpc>
            </a:pPr>
            <a:r>
              <a:rPr sz="1000">
                <a:solidFill>
                  <a:srgbClr val="0C1408"/>
                </a:solidFill>
                <a:latin typeface="Arial"/>
              </a:rPr>
              <a:t>money</a:t>
            </a:r>
          </a:p>
        </p:txBody>
      </p:sp>
      <p:cxnSp>
        <p:nvCxnSpPr>
          <p:cNvPr id="38" name="Connector 37"/>
          <p:cNvCxnSpPr/>
          <p:nvPr/>
        </p:nvCxnSpPr>
        <p:spPr>
          <a:xfrm>
            <a:off x="1737360" y="5696712"/>
            <a:ext cx="384048" cy="0"/>
          </a:xfrm>
          <a:prstGeom prst="line">
            <a:avLst/>
          </a:prstGeom>
          <a:ln w="19050">
            <a:solidFill>
              <a:srgbClr val="41801A"/>
            </a:solidFill>
            <a:tailEnd type="triangle" w="med" len="med"/>
          </a:ln>
        </p:spPr>
      </p:cxnSp>
      <p:sp>
        <p:nvSpPr>
          <p:cNvPr id="39" name="TextBox 38"/>
          <p:cNvSpPr txBox="1"/>
          <p:nvPr/>
        </p:nvSpPr>
        <p:spPr>
          <a:xfrm>
            <a:off x="2194560" y="5577840"/>
            <a:ext cx="570586" cy="237744"/>
          </a:xfrm>
          <a:prstGeom prst="rect">
            <a:avLst/>
          </a:prstGeom>
          <a:noFill/>
        </p:spPr>
        <p:txBody>
          <a:bodyPr wrap="square" lIns="0" tIns="0" rIns="0" bIns="0">
            <a:spAutoFit/>
          </a:bodyPr>
          <a:lstStyle/>
          <a:p>
            <a:pPr>
              <a:lnSpc>
                <a:spcPct val="105000"/>
              </a:lnSpc>
            </a:pPr>
            <a:r>
              <a:rPr sz="1000">
                <a:solidFill>
                  <a:srgbClr val="0C1408"/>
                </a:solidFill>
                <a:latin typeface="Arial"/>
              </a:rPr>
              <a:t>request</a:t>
            </a:r>
          </a:p>
        </p:txBody>
      </p:sp>
      <p:cxnSp>
        <p:nvCxnSpPr>
          <p:cNvPr id="40" name="Connector 39"/>
          <p:cNvCxnSpPr/>
          <p:nvPr/>
        </p:nvCxnSpPr>
        <p:spPr>
          <a:xfrm>
            <a:off x="3057754" y="5696712"/>
            <a:ext cx="384048" cy="0"/>
          </a:xfrm>
          <a:prstGeom prst="line">
            <a:avLst/>
          </a:prstGeom>
          <a:ln w="15875">
            <a:solidFill>
              <a:srgbClr val="4B5563"/>
            </a:solidFill>
            <a:prstDash val="dash"/>
            <a:tailEnd type="triangle" w="med" len="med"/>
          </a:ln>
        </p:spPr>
      </p:cxnSp>
      <p:sp>
        <p:nvSpPr>
          <p:cNvPr id="41" name="TextBox 40"/>
          <p:cNvSpPr txBox="1"/>
          <p:nvPr/>
        </p:nvSpPr>
        <p:spPr>
          <a:xfrm>
            <a:off x="3514954" y="5577840"/>
            <a:ext cx="899770" cy="237744"/>
          </a:xfrm>
          <a:prstGeom prst="rect">
            <a:avLst/>
          </a:prstGeom>
          <a:noFill/>
        </p:spPr>
        <p:txBody>
          <a:bodyPr wrap="square" lIns="0" tIns="0" rIns="0" bIns="0">
            <a:spAutoFit/>
          </a:bodyPr>
          <a:lstStyle/>
          <a:p>
            <a:pPr>
              <a:lnSpc>
                <a:spcPct val="105000"/>
              </a:lnSpc>
            </a:pPr>
            <a:r>
              <a:rPr sz="1000">
                <a:solidFill>
                  <a:srgbClr val="0C1408"/>
                </a:solidFill>
                <a:latin typeface="Arial"/>
              </a:rPr>
              <a:t>confirmation</a:t>
            </a:r>
          </a:p>
        </p:txBody>
      </p:sp>
      <p:sp>
        <p:nvSpPr>
          <p:cNvPr id="42" name="Rectangle 41"/>
          <p:cNvSpPr/>
          <p:nvPr/>
        </p:nvSpPr>
        <p:spPr>
          <a:xfrm>
            <a:off x="548640" y="5897880"/>
            <a:ext cx="201168" cy="173736"/>
          </a:xfrm>
          <a:prstGeom prst="rect">
            <a:avLst/>
          </a:prstGeom>
          <a:solidFill>
            <a:srgbClr val="F4F1FB"/>
          </a:solidFill>
          <a:ln w="12700">
            <a:solidFill>
              <a:srgbClr val="573F99"/>
            </a:solidFill>
          </a:ln>
        </p:spPr>
        <p:txBody>
          <a:bodyPr rtlCol="0" anchor="ctr"/>
          <a:lstStyle/>
          <a:p>
            <a:pPr algn="ctr"/>
          </a:p>
        </p:txBody>
      </p:sp>
      <p:sp>
        <p:nvSpPr>
          <p:cNvPr id="43" name="TextBox 42"/>
          <p:cNvSpPr txBox="1"/>
          <p:nvPr/>
        </p:nvSpPr>
        <p:spPr>
          <a:xfrm>
            <a:off x="822960" y="5870448"/>
            <a:ext cx="504749" cy="237744"/>
          </a:xfrm>
          <a:prstGeom prst="rect">
            <a:avLst/>
          </a:prstGeom>
          <a:noFill/>
        </p:spPr>
        <p:txBody>
          <a:bodyPr wrap="square" lIns="0" tIns="0" rIns="0" bIns="0">
            <a:spAutoFit/>
          </a:bodyPr>
          <a:lstStyle/>
          <a:p>
            <a:pPr>
              <a:lnSpc>
                <a:spcPct val="105000"/>
              </a:lnSpc>
            </a:pPr>
            <a:r>
              <a:rPr sz="1000">
                <a:solidFill>
                  <a:srgbClr val="0C1408"/>
                </a:solidFill>
                <a:latin typeface="Arial"/>
              </a:rPr>
              <a:t>Raqami</a:t>
            </a:r>
          </a:p>
        </p:txBody>
      </p:sp>
      <p:sp>
        <p:nvSpPr>
          <p:cNvPr id="44" name="Rectangle 43"/>
          <p:cNvSpPr/>
          <p:nvPr/>
        </p:nvSpPr>
        <p:spPr>
          <a:xfrm>
            <a:off x="1620317" y="5897880"/>
            <a:ext cx="201168" cy="173736"/>
          </a:xfrm>
          <a:prstGeom prst="rect">
            <a:avLst/>
          </a:prstGeom>
          <a:solidFill>
            <a:srgbClr val="EEF4FD"/>
          </a:solidFill>
          <a:ln w="12700">
            <a:solidFill>
              <a:srgbClr val="2A78D6"/>
            </a:solidFill>
          </a:ln>
        </p:spPr>
        <p:txBody>
          <a:bodyPr rtlCol="0" anchor="ctr"/>
          <a:lstStyle/>
          <a:p>
            <a:pPr algn="ctr"/>
          </a:p>
        </p:txBody>
      </p:sp>
      <p:sp>
        <p:nvSpPr>
          <p:cNvPr id="45" name="TextBox 44"/>
          <p:cNvSpPr txBox="1"/>
          <p:nvPr/>
        </p:nvSpPr>
        <p:spPr>
          <a:xfrm>
            <a:off x="1894637" y="5870448"/>
            <a:ext cx="2414016" cy="237744"/>
          </a:xfrm>
          <a:prstGeom prst="rect">
            <a:avLst/>
          </a:prstGeom>
          <a:noFill/>
        </p:spPr>
        <p:txBody>
          <a:bodyPr wrap="square" lIns="0" tIns="0" rIns="0" bIns="0">
            <a:spAutoFit/>
          </a:bodyPr>
          <a:lstStyle/>
          <a:p>
            <a:pPr>
              <a:lnSpc>
                <a:spcPct val="105000"/>
              </a:lnSpc>
            </a:pPr>
            <a:r>
              <a:rPr sz="1000">
                <a:solidFill>
                  <a:srgbClr val="0C1408"/>
                </a:solidFill>
                <a:latin typeface="Arial"/>
              </a:rPr>
              <a:t>wallets, cards and payment networks</a:t>
            </a:r>
          </a:p>
        </p:txBody>
      </p:sp>
      <p:sp>
        <p:nvSpPr>
          <p:cNvPr id="46" name="Rectangle 45"/>
          <p:cNvSpPr/>
          <p:nvPr/>
        </p:nvSpPr>
        <p:spPr>
          <a:xfrm>
            <a:off x="4601261" y="5897880"/>
            <a:ext cx="201168" cy="173736"/>
          </a:xfrm>
          <a:prstGeom prst="rect">
            <a:avLst/>
          </a:prstGeom>
          <a:solidFill>
            <a:srgbClr val="F3FCE7"/>
          </a:solidFill>
          <a:ln w="12700">
            <a:solidFill>
              <a:srgbClr val="6DC72A"/>
            </a:solidFill>
          </a:ln>
        </p:spPr>
        <p:txBody>
          <a:bodyPr rtlCol="0" anchor="ctr"/>
          <a:lstStyle/>
          <a:p>
            <a:pPr algn="ctr"/>
          </a:p>
        </p:txBody>
      </p:sp>
      <p:sp>
        <p:nvSpPr>
          <p:cNvPr id="47" name="TextBox 46"/>
          <p:cNvSpPr txBox="1"/>
          <p:nvPr/>
        </p:nvSpPr>
        <p:spPr>
          <a:xfrm>
            <a:off x="4875581" y="5870448"/>
            <a:ext cx="438912" cy="237744"/>
          </a:xfrm>
          <a:prstGeom prst="rect">
            <a:avLst/>
          </a:prstGeom>
          <a:noFill/>
        </p:spPr>
        <p:txBody>
          <a:bodyPr wrap="square" lIns="0" tIns="0" rIns="0" bIns="0">
            <a:spAutoFit/>
          </a:bodyPr>
          <a:lstStyle/>
          <a:p>
            <a:pPr>
              <a:lnSpc>
                <a:spcPct val="105000"/>
              </a:lnSpc>
            </a:pPr>
            <a:r>
              <a:rPr sz="1000">
                <a:solidFill>
                  <a:srgbClr val="0C1408"/>
                </a:solidFill>
                <a:latin typeface="Arial"/>
              </a:rPr>
              <a:t>Halqa</a:t>
            </a:r>
          </a:p>
        </p:txBody>
      </p:sp>
      <p:pic>
        <p:nvPicPr>
          <p:cNvPr id="48" name="Picture 47" descr="m_methods-framed.png"/>
          <p:cNvPicPr>
            <a:picLocks noChangeAspect="1"/>
          </p:cNvPicPr>
          <p:nvPr/>
        </p:nvPicPr>
        <p:blipFill>
          <a:blip r:embed="rId4"/>
          <a:stretch>
            <a:fillRect/>
          </a:stretch>
        </p:blipFill>
        <p:spPr>
          <a:xfrm>
            <a:off x="8229600" y="3310128"/>
            <a:ext cx="1328232" cy="2788920"/>
          </a:xfrm>
          <a:prstGeom prst="rect">
            <a:avLst/>
          </a:prstGeom>
        </p:spPr>
      </p:pic>
      <p:sp>
        <p:nvSpPr>
          <p:cNvPr id="49" name="TextBox 48"/>
          <p:cNvSpPr txBox="1"/>
          <p:nvPr/>
        </p:nvSpPr>
        <p:spPr>
          <a:xfrm>
            <a:off x="9740435" y="3346704"/>
            <a:ext cx="1902620" cy="658368"/>
          </a:xfrm>
          <a:prstGeom prst="rect">
            <a:avLst/>
          </a:prstGeom>
          <a:noFill/>
        </p:spPr>
        <p:txBody>
          <a:bodyPr wrap="square" lIns="0" tIns="0" rIns="0" bIns="0">
            <a:spAutoFit/>
          </a:bodyPr>
          <a:lstStyle/>
          <a:p>
            <a:pPr>
              <a:lnSpc>
                <a:spcPct val="102000"/>
              </a:lnSpc>
            </a:pPr>
            <a:r>
              <a:rPr sz="1000" b="1">
                <a:solidFill>
                  <a:srgbClr val="3E2B73"/>
                </a:solidFill>
                <a:latin typeface="Arial"/>
              </a:rPr>
              <a:t>1  Link  </a:t>
            </a:r>
            <a:r>
              <a:rPr sz="1000">
                <a:solidFill>
                  <a:srgbClr val="0C1408"/>
                </a:solidFill>
                <a:latin typeface="Arial"/>
              </a:rPr>
              <a:t>wallet or card linked once; the PSP keeps the token</a:t>
            </a:r>
          </a:p>
        </p:txBody>
      </p:sp>
      <p:sp>
        <p:nvSpPr>
          <p:cNvPr id="50" name="TextBox 49"/>
          <p:cNvSpPr txBox="1"/>
          <p:nvPr/>
        </p:nvSpPr>
        <p:spPr>
          <a:xfrm>
            <a:off x="9740435" y="4023360"/>
            <a:ext cx="1902620" cy="658368"/>
          </a:xfrm>
          <a:prstGeom prst="rect">
            <a:avLst/>
          </a:prstGeom>
          <a:noFill/>
        </p:spPr>
        <p:txBody>
          <a:bodyPr wrap="square" lIns="0" tIns="0" rIns="0" bIns="0">
            <a:spAutoFit/>
          </a:bodyPr>
          <a:lstStyle/>
          <a:p>
            <a:pPr>
              <a:lnSpc>
                <a:spcPct val="102000"/>
              </a:lnSpc>
            </a:pPr>
            <a:r>
              <a:rPr sz="1000" b="1">
                <a:solidFill>
                  <a:srgbClr val="3E2B73"/>
                </a:solidFill>
                <a:latin typeface="Arial"/>
              </a:rPr>
              <a:t>2  Collect  </a:t>
            </a:r>
            <a:r>
              <a:rPr sz="1000">
                <a:solidFill>
                  <a:srgbClr val="0C1408"/>
                </a:solidFill>
                <a:latin typeface="Arial"/>
              </a:rPr>
              <a:t>on payday, under the member’s consent</a:t>
            </a:r>
          </a:p>
        </p:txBody>
      </p:sp>
      <p:sp>
        <p:nvSpPr>
          <p:cNvPr id="51" name="TextBox 50"/>
          <p:cNvSpPr txBox="1"/>
          <p:nvPr/>
        </p:nvSpPr>
        <p:spPr>
          <a:xfrm>
            <a:off x="9740435" y="4700016"/>
            <a:ext cx="1902620" cy="658368"/>
          </a:xfrm>
          <a:prstGeom prst="rect">
            <a:avLst/>
          </a:prstGeom>
          <a:noFill/>
        </p:spPr>
        <p:txBody>
          <a:bodyPr wrap="square" lIns="0" tIns="0" rIns="0" bIns="0">
            <a:spAutoFit/>
          </a:bodyPr>
          <a:lstStyle/>
          <a:p>
            <a:pPr>
              <a:lnSpc>
                <a:spcPct val="102000"/>
              </a:lnSpc>
            </a:pPr>
            <a:r>
              <a:rPr sz="1000" b="1">
                <a:solidFill>
                  <a:srgbClr val="3E2B73"/>
                </a:solidFill>
                <a:latin typeface="Arial"/>
              </a:rPr>
              <a:t>3  Settle  </a:t>
            </a:r>
            <a:r>
              <a:rPr sz="1000">
                <a:solidFill>
                  <a:srgbClr val="0C1408"/>
                </a:solidFill>
                <a:latin typeface="Arial"/>
              </a:rPr>
              <a:t>into the committee account at Raqami</a:t>
            </a:r>
          </a:p>
        </p:txBody>
      </p:sp>
      <p:sp>
        <p:nvSpPr>
          <p:cNvPr id="52" name="TextBox 51"/>
          <p:cNvSpPr txBox="1"/>
          <p:nvPr/>
        </p:nvSpPr>
        <p:spPr>
          <a:xfrm>
            <a:off x="9740435" y="5376672"/>
            <a:ext cx="1902620" cy="658368"/>
          </a:xfrm>
          <a:prstGeom prst="rect">
            <a:avLst/>
          </a:prstGeom>
          <a:noFill/>
        </p:spPr>
        <p:txBody>
          <a:bodyPr wrap="square" lIns="0" tIns="0" rIns="0" bIns="0">
            <a:spAutoFit/>
          </a:bodyPr>
          <a:lstStyle/>
          <a:p>
            <a:pPr>
              <a:lnSpc>
                <a:spcPct val="102000"/>
              </a:lnSpc>
            </a:pPr>
            <a:r>
              <a:rPr sz="1000" b="1">
                <a:solidFill>
                  <a:srgbClr val="3E2B73"/>
                </a:solidFill>
                <a:latin typeface="Arial"/>
              </a:rPr>
              <a:t>4  Confirm  </a:t>
            </a:r>
            <a:r>
              <a:rPr sz="1000">
                <a:solidFill>
                  <a:srgbClr val="0C1408"/>
                </a:solidFill>
                <a:latin typeface="Arial"/>
              </a:rPr>
              <a:t>Halqa records and reconciles daily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Recovery</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Appendix A4 · steps after a member stops paying having already collected the pot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24</a:t>
            </a:r>
          </a:p>
        </p:txBody>
      </p:sp>
      <p:sp>
        <p:nvSpPr>
          <p:cNvPr id="6" name="Rectangle 5"/>
          <p:cNvSpPr/>
          <p:nvPr/>
        </p:nvSpPr>
        <p:spPr>
          <a:xfrm>
            <a:off x="548640" y="3749040"/>
            <a:ext cx="1737360" cy="868680"/>
          </a:xfrm>
          <a:prstGeom prst="rect">
            <a:avLst/>
          </a:prstGeom>
          <a:solidFill>
            <a:srgbClr val="FCEBC2"/>
          </a:solidFill>
          <a:ln>
            <a:noFill/>
          </a:ln>
        </p:spPr>
        <p:txBody>
          <a:bodyPr rtlCol="0" anchor="ctr"/>
          <a:lstStyle/>
          <a:p>
            <a:pPr algn="ctr"/>
          </a:p>
        </p:txBody>
      </p:sp>
      <p:sp>
        <p:nvSpPr>
          <p:cNvPr id="7" name="TextBox 6"/>
          <p:cNvSpPr txBox="1"/>
          <p:nvPr/>
        </p:nvSpPr>
        <p:spPr>
          <a:xfrm>
            <a:off x="658368" y="3840480"/>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1  </a:t>
            </a:r>
            <a:r>
              <a:rPr sz="1250" b="1">
                <a:solidFill>
                  <a:srgbClr val="0C1408"/>
                </a:solidFill>
                <a:latin typeface="Arial"/>
              </a:rPr>
              <a:t>Contact</a:t>
            </a:r>
          </a:p>
        </p:txBody>
      </p:sp>
      <p:sp>
        <p:nvSpPr>
          <p:cNvPr id="8" name="TextBox 7"/>
          <p:cNvSpPr txBox="1"/>
          <p:nvPr/>
        </p:nvSpPr>
        <p:spPr>
          <a:xfrm>
            <a:off x="658368" y="4133088"/>
            <a:ext cx="1536192" cy="457200"/>
          </a:xfrm>
          <a:prstGeom prst="rect">
            <a:avLst/>
          </a:prstGeom>
          <a:noFill/>
        </p:spPr>
        <p:txBody>
          <a:bodyPr wrap="square" lIns="0" tIns="0" rIns="0" bIns="0">
            <a:spAutoFit/>
          </a:bodyPr>
          <a:lstStyle/>
          <a:p>
            <a:pPr>
              <a:lnSpc>
                <a:spcPct val="103000"/>
              </a:lnSpc>
            </a:pPr>
            <a:r>
              <a:rPr sz="1050">
                <a:solidFill>
                  <a:srgbClr val="0C1408"/>
                </a:solidFill>
                <a:latin typeface="Arial"/>
              </a:rPr>
              <a:t>a hardship plan and a new date</a:t>
            </a:r>
          </a:p>
        </p:txBody>
      </p:sp>
      <p:sp>
        <p:nvSpPr>
          <p:cNvPr id="9" name="Rectangle 8"/>
          <p:cNvSpPr/>
          <p:nvPr/>
        </p:nvSpPr>
        <p:spPr>
          <a:xfrm>
            <a:off x="2419502" y="3419856"/>
            <a:ext cx="1737360" cy="1197864"/>
          </a:xfrm>
          <a:prstGeom prst="rect">
            <a:avLst/>
          </a:prstGeom>
          <a:solidFill>
            <a:srgbClr val="FCEBC2"/>
          </a:solidFill>
          <a:ln>
            <a:noFill/>
          </a:ln>
        </p:spPr>
        <p:txBody>
          <a:bodyPr rtlCol="0" anchor="ctr"/>
          <a:lstStyle/>
          <a:p>
            <a:pPr algn="ctr"/>
          </a:p>
        </p:txBody>
      </p:sp>
      <p:sp>
        <p:nvSpPr>
          <p:cNvPr id="10" name="TextBox 9"/>
          <p:cNvSpPr txBox="1"/>
          <p:nvPr/>
        </p:nvSpPr>
        <p:spPr>
          <a:xfrm>
            <a:off x="2529230" y="3511296"/>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2  </a:t>
            </a:r>
            <a:r>
              <a:rPr sz="1250" b="1">
                <a:solidFill>
                  <a:srgbClr val="0C1408"/>
                </a:solidFill>
                <a:latin typeface="Arial"/>
              </a:rPr>
              <a:t>Restrict</a:t>
            </a:r>
          </a:p>
        </p:txBody>
      </p:sp>
      <p:sp>
        <p:nvSpPr>
          <p:cNvPr id="11" name="TextBox 10"/>
          <p:cNvSpPr txBox="1"/>
          <p:nvPr/>
        </p:nvSpPr>
        <p:spPr>
          <a:xfrm>
            <a:off x="2529230" y="3803904"/>
            <a:ext cx="1536192" cy="786384"/>
          </a:xfrm>
          <a:prstGeom prst="rect">
            <a:avLst/>
          </a:prstGeom>
          <a:noFill/>
        </p:spPr>
        <p:txBody>
          <a:bodyPr wrap="square" lIns="0" tIns="0" rIns="0" bIns="0">
            <a:spAutoFit/>
          </a:bodyPr>
          <a:lstStyle/>
          <a:p>
            <a:pPr>
              <a:lnSpc>
                <a:spcPct val="103000"/>
              </a:lnSpc>
            </a:pPr>
            <a:r>
              <a:rPr sz="1050">
                <a:solidFill>
                  <a:srgbClr val="0C1408"/>
                </a:solidFill>
                <a:latin typeface="Arial"/>
              </a:rPr>
              <a:t>account restricted; score down 200</a:t>
            </a:r>
          </a:p>
        </p:txBody>
      </p:sp>
      <p:sp>
        <p:nvSpPr>
          <p:cNvPr id="12" name="Rectangle 11"/>
          <p:cNvSpPr/>
          <p:nvPr/>
        </p:nvSpPr>
        <p:spPr>
          <a:xfrm>
            <a:off x="4290365" y="3090672"/>
            <a:ext cx="1737360" cy="1527048"/>
          </a:xfrm>
          <a:prstGeom prst="rect">
            <a:avLst/>
          </a:prstGeom>
          <a:solidFill>
            <a:srgbClr val="CFEFEA"/>
          </a:solidFill>
          <a:ln>
            <a:noFill/>
          </a:ln>
        </p:spPr>
        <p:txBody>
          <a:bodyPr rtlCol="0" anchor="ctr"/>
          <a:lstStyle/>
          <a:p>
            <a:pPr algn="ctr"/>
          </a:p>
        </p:txBody>
      </p:sp>
      <p:sp>
        <p:nvSpPr>
          <p:cNvPr id="13" name="TextBox 12"/>
          <p:cNvSpPr txBox="1"/>
          <p:nvPr/>
        </p:nvSpPr>
        <p:spPr>
          <a:xfrm>
            <a:off x="4400093" y="3182112"/>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3  </a:t>
            </a:r>
            <a:r>
              <a:rPr sz="1250" b="1">
                <a:solidFill>
                  <a:srgbClr val="0C1408"/>
                </a:solidFill>
                <a:latin typeface="Arial"/>
              </a:rPr>
              <a:t>Claim</a:t>
            </a:r>
          </a:p>
        </p:txBody>
      </p:sp>
      <p:sp>
        <p:nvSpPr>
          <p:cNvPr id="14" name="TextBox 13"/>
          <p:cNvSpPr txBox="1"/>
          <p:nvPr/>
        </p:nvSpPr>
        <p:spPr>
          <a:xfrm>
            <a:off x="4400093" y="3474720"/>
            <a:ext cx="1536192" cy="1115568"/>
          </a:xfrm>
          <a:prstGeom prst="rect">
            <a:avLst/>
          </a:prstGeom>
          <a:noFill/>
        </p:spPr>
        <p:txBody>
          <a:bodyPr wrap="square" lIns="0" tIns="0" rIns="0" bIns="0">
            <a:spAutoFit/>
          </a:bodyPr>
          <a:lstStyle/>
          <a:p>
            <a:pPr>
              <a:lnSpc>
                <a:spcPct val="103000"/>
              </a:lnSpc>
            </a:pPr>
            <a:r>
              <a:rPr sz="1050">
                <a:solidFill>
                  <a:srgbClr val="0C1408"/>
                </a:solidFill>
                <a:latin typeface="Arial"/>
              </a:rPr>
              <a:t>the takaful operator pays the members left short</a:t>
            </a:r>
          </a:p>
        </p:txBody>
      </p:sp>
      <p:sp>
        <p:nvSpPr>
          <p:cNvPr id="15" name="Rectangle 14"/>
          <p:cNvSpPr/>
          <p:nvPr/>
        </p:nvSpPr>
        <p:spPr>
          <a:xfrm>
            <a:off x="6161227" y="2761488"/>
            <a:ext cx="1737360" cy="1856232"/>
          </a:xfrm>
          <a:prstGeom prst="rect">
            <a:avLst/>
          </a:prstGeom>
          <a:solidFill>
            <a:srgbClr val="F8DADA"/>
          </a:solidFill>
          <a:ln>
            <a:noFill/>
          </a:ln>
        </p:spPr>
        <p:txBody>
          <a:bodyPr rtlCol="0" anchor="ctr"/>
          <a:lstStyle/>
          <a:p>
            <a:pPr algn="ctr"/>
          </a:p>
        </p:txBody>
      </p:sp>
      <p:sp>
        <p:nvSpPr>
          <p:cNvPr id="16" name="TextBox 15"/>
          <p:cNvSpPr txBox="1"/>
          <p:nvPr/>
        </p:nvSpPr>
        <p:spPr>
          <a:xfrm>
            <a:off x="6270955" y="2852928"/>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4  </a:t>
            </a:r>
            <a:r>
              <a:rPr sz="1250" b="1">
                <a:solidFill>
                  <a:srgbClr val="0C1408"/>
                </a:solidFill>
                <a:latin typeface="Arial"/>
              </a:rPr>
              <a:t>Guarantee</a:t>
            </a:r>
          </a:p>
        </p:txBody>
      </p:sp>
      <p:sp>
        <p:nvSpPr>
          <p:cNvPr id="17" name="TextBox 16"/>
          <p:cNvSpPr txBox="1"/>
          <p:nvPr/>
        </p:nvSpPr>
        <p:spPr>
          <a:xfrm>
            <a:off x="6270955" y="3145536"/>
            <a:ext cx="1536192" cy="1444752"/>
          </a:xfrm>
          <a:prstGeom prst="rect">
            <a:avLst/>
          </a:prstGeom>
          <a:noFill/>
        </p:spPr>
        <p:txBody>
          <a:bodyPr wrap="square" lIns="0" tIns="0" rIns="0" bIns="0">
            <a:spAutoFit/>
          </a:bodyPr>
          <a:lstStyle/>
          <a:p>
            <a:pPr>
              <a:lnSpc>
                <a:spcPct val="103000"/>
              </a:lnSpc>
            </a:pPr>
            <a:r>
              <a:rPr sz="1050">
                <a:solidFill>
                  <a:srgbClr val="0C1408"/>
                </a:solidFill>
                <a:latin typeface="Arial"/>
              </a:rPr>
              <a:t>the mutual guarantee: the balance falls due</a:t>
            </a:r>
          </a:p>
        </p:txBody>
      </p:sp>
      <p:sp>
        <p:nvSpPr>
          <p:cNvPr id="18" name="Rectangle 17"/>
          <p:cNvSpPr/>
          <p:nvPr/>
        </p:nvSpPr>
        <p:spPr>
          <a:xfrm>
            <a:off x="8032090" y="2432304"/>
            <a:ext cx="1737360" cy="2185416"/>
          </a:xfrm>
          <a:prstGeom prst="rect">
            <a:avLst/>
          </a:prstGeom>
          <a:solidFill>
            <a:srgbClr val="F8DADA"/>
          </a:solidFill>
          <a:ln>
            <a:noFill/>
          </a:ln>
        </p:spPr>
        <p:txBody>
          <a:bodyPr rtlCol="0" anchor="ctr"/>
          <a:lstStyle/>
          <a:p>
            <a:pPr algn="ctr"/>
          </a:p>
        </p:txBody>
      </p:sp>
      <p:sp>
        <p:nvSpPr>
          <p:cNvPr id="19" name="TextBox 18"/>
          <p:cNvSpPr txBox="1"/>
          <p:nvPr/>
        </p:nvSpPr>
        <p:spPr>
          <a:xfrm>
            <a:off x="8141818" y="2523744"/>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5  </a:t>
            </a:r>
            <a:r>
              <a:rPr sz="1250" b="1">
                <a:solidFill>
                  <a:srgbClr val="0C1408"/>
                </a:solidFill>
                <a:latin typeface="Arial"/>
              </a:rPr>
              <a:t>Civil suit</a:t>
            </a:r>
          </a:p>
        </p:txBody>
      </p:sp>
      <p:sp>
        <p:nvSpPr>
          <p:cNvPr id="20" name="TextBox 19"/>
          <p:cNvSpPr txBox="1"/>
          <p:nvPr/>
        </p:nvSpPr>
        <p:spPr>
          <a:xfrm>
            <a:off x="8141818" y="2816352"/>
            <a:ext cx="1536192" cy="1773936"/>
          </a:xfrm>
          <a:prstGeom prst="rect">
            <a:avLst/>
          </a:prstGeom>
          <a:noFill/>
        </p:spPr>
        <p:txBody>
          <a:bodyPr wrap="square" lIns="0" tIns="0" rIns="0" bIns="0">
            <a:spAutoFit/>
          </a:bodyPr>
          <a:lstStyle/>
          <a:p>
            <a:pPr>
              <a:lnSpc>
                <a:spcPct val="103000"/>
              </a:lnSpc>
            </a:pPr>
            <a:r>
              <a:rPr sz="1050">
                <a:solidFill>
                  <a:srgbClr val="0C1408"/>
                </a:solidFill>
                <a:latin typeface="Arial"/>
              </a:rPr>
              <a:t>on the signed undertaking</a:t>
            </a:r>
          </a:p>
        </p:txBody>
      </p:sp>
      <p:sp>
        <p:nvSpPr>
          <p:cNvPr id="21" name="Rectangle 20"/>
          <p:cNvSpPr/>
          <p:nvPr/>
        </p:nvSpPr>
        <p:spPr>
          <a:xfrm>
            <a:off x="9902952" y="2103120"/>
            <a:ext cx="1737360" cy="2514600"/>
          </a:xfrm>
          <a:prstGeom prst="rect">
            <a:avLst/>
          </a:prstGeom>
          <a:solidFill>
            <a:srgbClr val="F8DADA"/>
          </a:solidFill>
          <a:ln>
            <a:noFill/>
          </a:ln>
        </p:spPr>
        <p:txBody>
          <a:bodyPr rtlCol="0" anchor="ctr"/>
          <a:lstStyle/>
          <a:p>
            <a:pPr algn="ctr"/>
          </a:p>
        </p:txBody>
      </p:sp>
      <p:sp>
        <p:nvSpPr>
          <p:cNvPr id="22" name="TextBox 21"/>
          <p:cNvSpPr txBox="1"/>
          <p:nvPr/>
        </p:nvSpPr>
        <p:spPr>
          <a:xfrm>
            <a:off x="10012680" y="2194560"/>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6  </a:t>
            </a:r>
            <a:r>
              <a:rPr sz="1250" b="1">
                <a:solidFill>
                  <a:srgbClr val="0C1408"/>
                </a:solidFill>
                <a:latin typeface="Arial"/>
              </a:rPr>
              <a:t>Cheque</a:t>
            </a:r>
          </a:p>
        </p:txBody>
      </p:sp>
      <p:sp>
        <p:nvSpPr>
          <p:cNvPr id="23" name="TextBox 22"/>
          <p:cNvSpPr txBox="1"/>
          <p:nvPr/>
        </p:nvSpPr>
        <p:spPr>
          <a:xfrm>
            <a:off x="10012680" y="2487168"/>
            <a:ext cx="1536192" cy="2103120"/>
          </a:xfrm>
          <a:prstGeom prst="rect">
            <a:avLst/>
          </a:prstGeom>
          <a:noFill/>
        </p:spPr>
        <p:txBody>
          <a:bodyPr wrap="square" lIns="0" tIns="0" rIns="0" bIns="0">
            <a:spAutoFit/>
          </a:bodyPr>
          <a:lstStyle/>
          <a:p>
            <a:pPr>
              <a:lnSpc>
                <a:spcPct val="103000"/>
              </a:lnSpc>
            </a:pPr>
            <a:r>
              <a:rPr sz="1050">
                <a:solidFill>
                  <a:srgbClr val="0C1408"/>
                </a:solidFill>
                <a:latin typeface="Arial"/>
              </a:rPr>
              <a:t>a summary suit, only where a guarantee cheque is held</a:t>
            </a:r>
          </a:p>
        </p:txBody>
      </p:sp>
      <p:cxnSp>
        <p:nvCxnSpPr>
          <p:cNvPr id="24" name="Connector 23"/>
          <p:cNvCxnSpPr/>
          <p:nvPr/>
        </p:nvCxnSpPr>
        <p:spPr>
          <a:xfrm>
            <a:off x="548640" y="4617720"/>
            <a:ext cx="11094415" cy="0"/>
          </a:xfrm>
          <a:prstGeom prst="line">
            <a:avLst/>
          </a:prstGeom>
          <a:ln w="9525">
            <a:solidFill>
              <a:srgbClr val="4B5563"/>
            </a:solidFill>
          </a:ln>
        </p:spPr>
      </p:cxnSp>
      <p:sp>
        <p:nvSpPr>
          <p:cNvPr id="25" name="TextBox 24"/>
          <p:cNvSpPr txBox="1"/>
          <p:nvPr/>
        </p:nvSpPr>
        <p:spPr>
          <a:xfrm>
            <a:off x="548640" y="4672584"/>
            <a:ext cx="5943600" cy="256032"/>
          </a:xfrm>
          <a:prstGeom prst="rect">
            <a:avLst/>
          </a:prstGeom>
          <a:noFill/>
        </p:spPr>
        <p:txBody>
          <a:bodyPr wrap="square" lIns="0" tIns="0" rIns="0" bIns="0">
            <a:spAutoFit/>
          </a:bodyPr>
          <a:lstStyle/>
          <a:p>
            <a:pPr>
              <a:lnSpc>
                <a:spcPct val="105000"/>
              </a:lnSpc>
            </a:pPr>
            <a:r>
              <a:rPr sz="1050">
                <a:solidFill>
                  <a:srgbClr val="0C1408"/>
                </a:solidFill>
                <a:latin typeface="Arial"/>
              </a:rPr>
              <a:t>Each step is used only if the one before it fails.</a:t>
            </a:r>
          </a:p>
        </p:txBody>
      </p:sp>
      <p:sp>
        <p:nvSpPr>
          <p:cNvPr id="26" name="Rectangle 25"/>
          <p:cNvSpPr/>
          <p:nvPr/>
        </p:nvSpPr>
        <p:spPr>
          <a:xfrm>
            <a:off x="6347765" y="1572768"/>
            <a:ext cx="3566160" cy="566928"/>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Members left short are paid in full</a:t>
            </a:r>
          </a:p>
          <a:p>
            <a:pPr algn="ctr">
              <a:lnSpc>
                <a:spcPct val="102000"/>
              </a:lnSpc>
              <a:spcBef>
                <a:spcPts val="200"/>
              </a:spcBef>
            </a:pPr>
            <a:r>
              <a:rPr sz="1000">
                <a:solidFill>
                  <a:srgbClr val="0C1408"/>
                </a:solidFill>
                <a:latin typeface="Arial"/>
              </a:rPr>
              <a:t>by the takaful operator, in their own names</a:t>
            </a:r>
          </a:p>
        </p:txBody>
      </p:sp>
      <p:sp>
        <p:nvSpPr>
          <p:cNvPr id="27" name="Freeform 26"/>
          <p:cNvSpPr/>
          <p:nvPr/>
        </p:nvSpPr>
        <p:spPr>
          <a:xfrm>
            <a:off x="5159045" y="1856232"/>
            <a:ext cx="1188720" cy="1216152"/>
          </a:xfrm>
          <a:custGeom>
            <a:avLst/>
            <a:gdLst/>
            <a:ahLst/>
            <a:cxnLst/>
            <a:rect l="l" t="t" r="r" b="b"/>
            <a:pathLst>
              <a:path w="1188720" h="1216152">
                <a:moveTo>
                  <a:pt x="1188720" y="0"/>
                </a:moveTo>
                <a:lnTo>
                  <a:pt x="0" y="0"/>
                </a:lnTo>
                <a:lnTo>
                  <a:pt x="0" y="1216152"/>
                </a:lnTo>
              </a:path>
            </a:pathLst>
          </a:custGeom>
          <a:noFill/>
          <a:ln w="38100">
            <a:solidFill>
              <a:srgbClr val="2A78D6"/>
            </a:solidFill>
            <a:tailEnd type="triangle" w="med" len="med"/>
          </a:ln>
        </p:spPr>
        <p:txBody>
          <a:bodyPr rtlCol="0" anchor="ctr"/>
          <a:lstStyle/>
          <a:p>
            <a:pPr algn="ctr"/>
          </a:p>
        </p:txBody>
      </p:sp>
      <p:sp>
        <p:nvSpPr>
          <p:cNvPr id="28" name="TextBox 27"/>
          <p:cNvSpPr txBox="1"/>
          <p:nvPr/>
        </p:nvSpPr>
        <p:spPr>
          <a:xfrm>
            <a:off x="548640" y="5074920"/>
            <a:ext cx="3423818" cy="389128"/>
          </a:xfrm>
          <a:prstGeom prst="rect">
            <a:avLst/>
          </a:prstGeom>
          <a:noFill/>
        </p:spPr>
        <p:txBody>
          <a:bodyPr wrap="square" lIns="0" tIns="0" rIns="0" bIns="0">
            <a:spAutoFit/>
          </a:bodyPr>
          <a:lstStyle/>
          <a:p>
            <a:pPr>
              <a:lnSpc>
                <a:spcPct val="100000"/>
              </a:lnSpc>
            </a:pPr>
            <a:r>
              <a:rPr sz="2200" b="1">
                <a:solidFill>
                  <a:srgbClr val="0B6F64"/>
                </a:solidFill>
                <a:latin typeface="Arial"/>
              </a:rPr>
              <a:t>About 5.5%</a:t>
            </a:r>
          </a:p>
        </p:txBody>
      </p:sp>
      <p:sp>
        <p:nvSpPr>
          <p:cNvPr id="29" name="TextBox 28"/>
          <p:cNvSpPr txBox="1"/>
          <p:nvPr/>
        </p:nvSpPr>
        <p:spPr>
          <a:xfrm>
            <a:off x="548640" y="5445760"/>
            <a:ext cx="3423818" cy="548640"/>
          </a:xfrm>
          <a:prstGeom prst="rect">
            <a:avLst/>
          </a:prstGeom>
          <a:noFill/>
        </p:spPr>
        <p:txBody>
          <a:bodyPr wrap="square" lIns="0" tIns="0" rIns="0" bIns="0">
            <a:spAutoFit/>
          </a:bodyPr>
          <a:lstStyle/>
          <a:p>
            <a:pPr>
              <a:lnSpc>
                <a:spcPct val="104000"/>
              </a:lnSpc>
            </a:pPr>
            <a:r>
              <a:rPr sz="1100">
                <a:solidFill>
                  <a:srgbClr val="0C1408"/>
                </a:solidFill>
                <a:latin typeface="Arial"/>
              </a:rPr>
              <a:t>of the instalment: the takaful price for the stress case [1]</a:t>
            </a:r>
          </a:p>
        </p:txBody>
      </p:sp>
      <p:sp>
        <p:nvSpPr>
          <p:cNvPr id="30" name="TextBox 29"/>
          <p:cNvSpPr txBox="1"/>
          <p:nvPr/>
        </p:nvSpPr>
        <p:spPr>
          <a:xfrm>
            <a:off x="4383938" y="5074920"/>
            <a:ext cx="3423818" cy="389128"/>
          </a:xfrm>
          <a:prstGeom prst="rect">
            <a:avLst/>
          </a:prstGeom>
          <a:noFill/>
        </p:spPr>
        <p:txBody>
          <a:bodyPr wrap="square" lIns="0" tIns="0" rIns="0" bIns="0">
            <a:spAutoFit/>
          </a:bodyPr>
          <a:lstStyle/>
          <a:p>
            <a:pPr>
              <a:lnSpc>
                <a:spcPct val="100000"/>
              </a:lnSpc>
            </a:pPr>
            <a:r>
              <a:rPr sz="2200" b="1">
                <a:solidFill>
                  <a:srgbClr val="3E2B73"/>
                </a:solidFill>
                <a:latin typeface="Arial"/>
              </a:rPr>
              <a:t>Raqami chooses</a:t>
            </a:r>
          </a:p>
        </p:txBody>
      </p:sp>
      <p:sp>
        <p:nvSpPr>
          <p:cNvPr id="31" name="TextBox 30"/>
          <p:cNvSpPr txBox="1"/>
          <p:nvPr/>
        </p:nvSpPr>
        <p:spPr>
          <a:xfrm>
            <a:off x="4383938" y="5445760"/>
            <a:ext cx="3423818" cy="548640"/>
          </a:xfrm>
          <a:prstGeom prst="rect">
            <a:avLst/>
          </a:prstGeom>
          <a:noFill/>
        </p:spPr>
        <p:txBody>
          <a:bodyPr wrap="square" lIns="0" tIns="0" rIns="0" bIns="0">
            <a:spAutoFit/>
          </a:bodyPr>
          <a:lstStyle/>
          <a:p>
            <a:pPr>
              <a:lnSpc>
                <a:spcPct val="104000"/>
              </a:lnSpc>
            </a:pPr>
            <a:r>
              <a:rPr sz="1100">
                <a:solidFill>
                  <a:srgbClr val="0C1408"/>
                </a:solidFill>
                <a:latin typeface="Arial"/>
              </a:rPr>
              <a:t>the takaful operator; EFU window takaful is already its partner</a:t>
            </a:r>
          </a:p>
        </p:txBody>
      </p:sp>
      <p:sp>
        <p:nvSpPr>
          <p:cNvPr id="32" name="TextBox 31"/>
          <p:cNvSpPr txBox="1"/>
          <p:nvPr/>
        </p:nvSpPr>
        <p:spPr>
          <a:xfrm>
            <a:off x="8219237" y="5074920"/>
            <a:ext cx="3423818" cy="389128"/>
          </a:xfrm>
          <a:prstGeom prst="rect">
            <a:avLst/>
          </a:prstGeom>
          <a:noFill/>
        </p:spPr>
        <p:txBody>
          <a:bodyPr wrap="square" lIns="0" tIns="0" rIns="0" bIns="0">
            <a:spAutoFit/>
          </a:bodyPr>
          <a:lstStyle/>
          <a:p>
            <a:pPr>
              <a:lnSpc>
                <a:spcPct val="100000"/>
              </a:lnSpc>
            </a:pPr>
            <a:r>
              <a:rPr sz="2200" b="1">
                <a:solidFill>
                  <a:srgbClr val="A12F2F"/>
                </a:solidFill>
                <a:latin typeface="Arial"/>
              </a:rPr>
              <a:t>Never</a:t>
            </a:r>
          </a:p>
        </p:txBody>
      </p:sp>
      <p:sp>
        <p:nvSpPr>
          <p:cNvPr id="33" name="TextBox 32"/>
          <p:cNvSpPr txBox="1"/>
          <p:nvPr/>
        </p:nvSpPr>
        <p:spPr>
          <a:xfrm>
            <a:off x="8219237" y="5445760"/>
            <a:ext cx="3423818" cy="548640"/>
          </a:xfrm>
          <a:prstGeom prst="rect">
            <a:avLst/>
          </a:prstGeom>
          <a:noFill/>
        </p:spPr>
        <p:txBody>
          <a:bodyPr wrap="square" lIns="0" tIns="0" rIns="0" bIns="0">
            <a:spAutoFit/>
          </a:bodyPr>
          <a:lstStyle/>
          <a:p>
            <a:pPr>
              <a:lnSpc>
                <a:spcPct val="104000"/>
              </a:lnSpc>
            </a:pPr>
            <a:r>
              <a:rPr sz="1100">
                <a:solidFill>
                  <a:srgbClr val="0C1408"/>
                </a:solidFill>
                <a:latin typeface="Arial"/>
              </a:rPr>
              <a:t>calls to relatives, contact lists or published names</a:t>
            </a:r>
          </a:p>
        </p:txBody>
      </p:sp>
      <p:sp>
        <p:nvSpPr>
          <p:cNvPr id="34" name="TextBox 33"/>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   </a:t>
            </a:r>
            <a:r>
              <a:rPr sz="850">
                <a:solidFill>
                  <a:srgbClr val="0C1408"/>
                </a:solidFill>
                <a:latin typeface="Arial"/>
              </a:rPr>
              <a:t>Takaful pricing model (HQ-MF-05): one circle in five losing a fifth of its members from the earliest turns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Points and Rewards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Appendix A5 · profit on committee balances and on-time payments, returned to members as points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25</a:t>
            </a:r>
          </a:p>
        </p:txBody>
      </p:sp>
      <p:sp>
        <p:nvSpPr>
          <p:cNvPr id="6" name="TextBox 5"/>
          <p:cNvSpPr txBox="1"/>
          <p:nvPr/>
        </p:nvSpPr>
        <p:spPr>
          <a:xfrm>
            <a:off x="548640" y="1527048"/>
            <a:ext cx="3017520" cy="256032"/>
          </a:xfrm>
          <a:prstGeom prst="rect">
            <a:avLst/>
          </a:prstGeom>
          <a:noFill/>
        </p:spPr>
        <p:txBody>
          <a:bodyPr wrap="square" lIns="0" tIns="0" rIns="0" bIns="0">
            <a:spAutoFit/>
          </a:bodyPr>
          <a:lstStyle/>
          <a:p>
            <a:pPr>
              <a:lnSpc>
                <a:spcPct val="105000"/>
              </a:lnSpc>
            </a:pPr>
            <a:r>
              <a:rPr sz="1100" b="1">
                <a:solidFill>
                  <a:srgbClr val="0C1408"/>
                </a:solidFill>
                <a:latin typeface="Arial"/>
              </a:rPr>
              <a:t>Earn</a:t>
            </a:r>
          </a:p>
        </p:txBody>
      </p:sp>
      <p:sp>
        <p:nvSpPr>
          <p:cNvPr id="7" name="Rectangle 6"/>
          <p:cNvSpPr/>
          <p:nvPr/>
        </p:nvSpPr>
        <p:spPr>
          <a:xfrm>
            <a:off x="548640" y="1828800"/>
            <a:ext cx="3017520" cy="566928"/>
          </a:xfrm>
          <a:prstGeom prst="rect">
            <a:avLst/>
          </a:prstGeom>
          <a:solidFill>
            <a:srgbClr val="F3FCE7"/>
          </a:solidFill>
          <a:ln w="15875">
            <a:solidFill>
              <a:srgbClr val="6DC72A"/>
            </a:solidFill>
          </a:ln>
        </p:spPr>
        <p:txBody>
          <a:bodyPr rtlCol="0" anchor="ctr" lIns="109728" tIns="82296" rIns="109728" bIns="82296" wrap="square"/>
          <a:lstStyle/>
          <a:p>
            <a:pPr>
              <a:lnSpc>
                <a:spcPct val="102000"/>
              </a:lnSpc>
            </a:pPr>
            <a:r>
              <a:rPr sz="1150" b="1">
                <a:solidFill>
                  <a:srgbClr val="0C1408"/>
                </a:solidFill>
                <a:latin typeface="Arial"/>
              </a:rPr>
              <a:t>Profit on committee balances</a:t>
            </a:r>
          </a:p>
          <a:p>
            <a:pPr>
              <a:lnSpc>
                <a:spcPct val="102000"/>
              </a:lnSpc>
              <a:spcBef>
                <a:spcPts val="200"/>
              </a:spcBef>
            </a:pPr>
            <a:r>
              <a:rPr sz="1000">
                <a:solidFill>
                  <a:srgbClr val="0C1408"/>
                </a:solidFill>
                <a:latin typeface="Arial"/>
              </a:rPr>
              <a:t>paid at the end of each circle</a:t>
            </a:r>
          </a:p>
        </p:txBody>
      </p:sp>
      <p:sp>
        <p:nvSpPr>
          <p:cNvPr id="8" name="Rectangle 7"/>
          <p:cNvSpPr/>
          <p:nvPr/>
        </p:nvSpPr>
        <p:spPr>
          <a:xfrm>
            <a:off x="548640" y="2523744"/>
            <a:ext cx="3017520" cy="566928"/>
          </a:xfrm>
          <a:prstGeom prst="rect">
            <a:avLst/>
          </a:prstGeom>
          <a:solidFill>
            <a:srgbClr val="F3FCE7"/>
          </a:solidFill>
          <a:ln w="15875">
            <a:solidFill>
              <a:srgbClr val="6DC72A"/>
            </a:solidFill>
          </a:ln>
        </p:spPr>
        <p:txBody>
          <a:bodyPr rtlCol="0" anchor="ctr" lIns="109728" tIns="82296" rIns="109728" bIns="82296" wrap="square"/>
          <a:lstStyle/>
          <a:p>
            <a:pPr>
              <a:lnSpc>
                <a:spcPct val="102000"/>
              </a:lnSpc>
            </a:pPr>
            <a:r>
              <a:rPr sz="1150" b="1">
                <a:solidFill>
                  <a:srgbClr val="0C1408"/>
                </a:solidFill>
                <a:latin typeface="Arial"/>
              </a:rPr>
              <a:t>On-time payments</a:t>
            </a:r>
          </a:p>
          <a:p>
            <a:pPr>
              <a:lnSpc>
                <a:spcPct val="102000"/>
              </a:lnSpc>
              <a:spcBef>
                <a:spcPts val="200"/>
              </a:spcBef>
            </a:pPr>
            <a:r>
              <a:rPr sz="1000">
                <a:solidFill>
                  <a:srgbClr val="0C1408"/>
                </a:solidFill>
                <a:latin typeface="Arial"/>
              </a:rPr>
              <a:t>at most half of Halqa’s fee on that instalment</a:t>
            </a:r>
          </a:p>
        </p:txBody>
      </p:sp>
      <p:sp>
        <p:nvSpPr>
          <p:cNvPr id="9" name="Rectangle 8"/>
          <p:cNvSpPr/>
          <p:nvPr/>
        </p:nvSpPr>
        <p:spPr>
          <a:xfrm>
            <a:off x="548640" y="3218688"/>
            <a:ext cx="3017520" cy="566928"/>
          </a:xfrm>
          <a:prstGeom prst="rect">
            <a:avLst/>
          </a:prstGeom>
          <a:solidFill>
            <a:srgbClr val="F3FCE7"/>
          </a:solidFill>
          <a:ln w="15875">
            <a:solidFill>
              <a:srgbClr val="6DC72A"/>
            </a:solidFill>
          </a:ln>
        </p:spPr>
        <p:txBody>
          <a:bodyPr rtlCol="0" anchor="ctr" lIns="109728" tIns="82296" rIns="109728" bIns="82296" wrap="square"/>
          <a:lstStyle/>
          <a:p>
            <a:pPr>
              <a:lnSpc>
                <a:spcPct val="102000"/>
              </a:lnSpc>
            </a:pPr>
            <a:r>
              <a:rPr sz="1150" b="1">
                <a:solidFill>
                  <a:srgbClr val="0C1408"/>
                </a:solidFill>
                <a:latin typeface="Arial"/>
              </a:rPr>
              <a:t>Hosting</a:t>
            </a:r>
          </a:p>
          <a:p>
            <a:pPr>
              <a:lnSpc>
                <a:spcPct val="102000"/>
              </a:lnSpc>
              <a:spcBef>
                <a:spcPts val="200"/>
              </a:spcBef>
            </a:pPr>
            <a:r>
              <a:rPr sz="1000">
                <a:solidFill>
                  <a:srgbClr val="0C1408"/>
                </a:solidFill>
                <a:latin typeface="Arial"/>
              </a:rPr>
              <a:t>circles that complete cleanly</a:t>
            </a:r>
          </a:p>
        </p:txBody>
      </p:sp>
      <p:sp>
        <p:nvSpPr>
          <p:cNvPr id="10" name="Rectangle 9"/>
          <p:cNvSpPr/>
          <p:nvPr/>
        </p:nvSpPr>
        <p:spPr>
          <a:xfrm>
            <a:off x="4434840" y="1828800"/>
            <a:ext cx="2651760" cy="1956816"/>
          </a:xfrm>
          <a:prstGeom prst="rect">
            <a:avLst/>
          </a:prstGeom>
          <a:solidFill>
            <a:srgbClr val="F4F1FB"/>
          </a:solidFill>
          <a:ln w="19050">
            <a:solidFill>
              <a:srgbClr val="573F99"/>
            </a:solidFill>
          </a:ln>
        </p:spPr>
        <p:txBody>
          <a:bodyPr rtlCol="0" anchor="ctr" tIns="68580" bIns="68580" wrap="square"/>
          <a:lstStyle/>
          <a:p>
            <a:pPr algn="ctr">
              <a:lnSpc>
                <a:spcPct val="105000"/>
              </a:lnSpc>
            </a:pPr>
            <a:r>
              <a:rPr sz="2000" b="1">
                <a:solidFill>
                  <a:srgbClr val="0C1408"/>
                </a:solidFill>
                <a:latin typeface="Arial"/>
              </a:rPr>
              <a:t>Points</a:t>
            </a:r>
          </a:p>
          <a:p>
            <a:pPr algn="ctr">
              <a:lnSpc>
                <a:spcPct val="105000"/>
              </a:lnSpc>
              <a:spcBef>
                <a:spcPts val="400"/>
              </a:spcBef>
            </a:pPr>
            <a:r>
              <a:rPr sz="1400">
                <a:solidFill>
                  <a:srgbClr val="3E2B73"/>
                </a:solidFill>
                <a:latin typeface="Arial"/>
              </a:rPr>
              <a:t>1 point = Rs 1</a:t>
            </a:r>
          </a:p>
          <a:p>
            <a:pPr algn="ctr">
              <a:lnSpc>
                <a:spcPct val="105000"/>
              </a:lnSpc>
              <a:spcBef>
                <a:spcPts val="400"/>
              </a:spcBef>
            </a:pPr>
            <a:r>
              <a:rPr sz="1050">
                <a:solidFill>
                  <a:srgbClr val="0C1408"/>
                </a:solidFill>
                <a:latin typeface="Arial"/>
              </a:rPr>
              <a:t>held in the member’s account</a:t>
            </a:r>
          </a:p>
        </p:txBody>
      </p:sp>
      <p:cxnSp>
        <p:nvCxnSpPr>
          <p:cNvPr id="11" name="Connector 10"/>
          <p:cNvCxnSpPr/>
          <p:nvPr/>
        </p:nvCxnSpPr>
        <p:spPr>
          <a:xfrm>
            <a:off x="3611880" y="2112264"/>
            <a:ext cx="777240" cy="0"/>
          </a:xfrm>
          <a:prstGeom prst="line">
            <a:avLst/>
          </a:prstGeom>
          <a:ln w="19050">
            <a:solidFill>
              <a:srgbClr val="4B5563"/>
            </a:solidFill>
            <a:tailEnd type="triangle" w="med" len="med"/>
          </a:ln>
        </p:spPr>
      </p:cxnSp>
      <p:cxnSp>
        <p:nvCxnSpPr>
          <p:cNvPr id="12" name="Connector 11"/>
          <p:cNvCxnSpPr/>
          <p:nvPr/>
        </p:nvCxnSpPr>
        <p:spPr>
          <a:xfrm>
            <a:off x="3611880" y="2807208"/>
            <a:ext cx="777240" cy="0"/>
          </a:xfrm>
          <a:prstGeom prst="line">
            <a:avLst/>
          </a:prstGeom>
          <a:ln w="19050">
            <a:solidFill>
              <a:srgbClr val="4B5563"/>
            </a:solidFill>
            <a:tailEnd type="triangle" w="med" len="med"/>
          </a:ln>
        </p:spPr>
      </p:cxnSp>
      <p:cxnSp>
        <p:nvCxnSpPr>
          <p:cNvPr id="13" name="Connector 12"/>
          <p:cNvCxnSpPr/>
          <p:nvPr/>
        </p:nvCxnSpPr>
        <p:spPr>
          <a:xfrm>
            <a:off x="3611880" y="3502152"/>
            <a:ext cx="777240" cy="0"/>
          </a:xfrm>
          <a:prstGeom prst="line">
            <a:avLst/>
          </a:prstGeom>
          <a:ln w="19050">
            <a:solidFill>
              <a:srgbClr val="4B5563"/>
            </a:solidFill>
            <a:tailEnd type="triangle" w="med" len="med"/>
          </a:ln>
        </p:spPr>
      </p:cxnSp>
      <p:sp>
        <p:nvSpPr>
          <p:cNvPr id="14" name="TextBox 13"/>
          <p:cNvSpPr txBox="1"/>
          <p:nvPr/>
        </p:nvSpPr>
        <p:spPr>
          <a:xfrm>
            <a:off x="8183880" y="1527048"/>
            <a:ext cx="3459175" cy="256032"/>
          </a:xfrm>
          <a:prstGeom prst="rect">
            <a:avLst/>
          </a:prstGeom>
          <a:noFill/>
        </p:spPr>
        <p:txBody>
          <a:bodyPr wrap="square" lIns="0" tIns="0" rIns="0" bIns="0">
            <a:spAutoFit/>
          </a:bodyPr>
          <a:lstStyle/>
          <a:p>
            <a:pPr>
              <a:lnSpc>
                <a:spcPct val="105000"/>
              </a:lnSpc>
            </a:pPr>
            <a:r>
              <a:rPr sz="1100" b="1">
                <a:solidFill>
                  <a:srgbClr val="0C1408"/>
                </a:solidFill>
                <a:latin typeface="Arial"/>
              </a:rPr>
              <a:t>Spend</a:t>
            </a:r>
          </a:p>
        </p:txBody>
      </p:sp>
      <p:sp>
        <p:nvSpPr>
          <p:cNvPr id="15" name="Rectangle 14"/>
          <p:cNvSpPr/>
          <p:nvPr/>
        </p:nvSpPr>
        <p:spPr>
          <a:xfrm>
            <a:off x="8183880" y="1828800"/>
            <a:ext cx="3459175" cy="566928"/>
          </a:xfrm>
          <a:prstGeom prst="rect">
            <a:avLst/>
          </a:prstGeom>
          <a:solidFill>
            <a:srgbClr val="EEF4FD"/>
          </a:solidFill>
          <a:ln w="15875">
            <a:solidFill>
              <a:srgbClr val="2A78D6"/>
            </a:solidFill>
          </a:ln>
        </p:spPr>
        <p:txBody>
          <a:bodyPr rtlCol="0" anchor="ctr" lIns="128016" tIns="96012" rIns="128016" bIns="96012" wrap="square"/>
          <a:lstStyle/>
          <a:p>
            <a:pPr>
              <a:lnSpc>
                <a:spcPct val="102000"/>
              </a:lnSpc>
            </a:pPr>
            <a:r>
              <a:rPr sz="1150" b="1">
                <a:solidFill>
                  <a:srgbClr val="0C1408"/>
                </a:solidFill>
                <a:latin typeface="Arial"/>
              </a:rPr>
              <a:t>Halqa marketplace</a:t>
            </a:r>
          </a:p>
          <a:p>
            <a:pPr>
              <a:lnSpc>
                <a:spcPct val="102000"/>
              </a:lnSpc>
              <a:spcBef>
                <a:spcPts val="200"/>
              </a:spcBef>
            </a:pPr>
            <a:r>
              <a:rPr sz="1000">
                <a:solidFill>
                  <a:srgbClr val="0C1408"/>
                </a:solidFill>
                <a:latin typeface="Arial"/>
              </a:rPr>
              <a:t>goods from partner sellers</a:t>
            </a:r>
          </a:p>
        </p:txBody>
      </p:sp>
      <p:cxnSp>
        <p:nvCxnSpPr>
          <p:cNvPr id="16" name="Connector 15"/>
          <p:cNvCxnSpPr/>
          <p:nvPr/>
        </p:nvCxnSpPr>
        <p:spPr>
          <a:xfrm>
            <a:off x="7132320" y="2112264"/>
            <a:ext cx="1005840" cy="0"/>
          </a:xfrm>
          <a:prstGeom prst="line">
            <a:avLst/>
          </a:prstGeom>
          <a:ln w="19050">
            <a:solidFill>
              <a:srgbClr val="4B5563"/>
            </a:solidFill>
            <a:tailEnd type="triangle" w="med" len="med"/>
          </a:ln>
        </p:spPr>
      </p:cxnSp>
      <p:sp>
        <p:nvSpPr>
          <p:cNvPr id="17" name="Rectangle 16"/>
          <p:cNvSpPr/>
          <p:nvPr/>
        </p:nvSpPr>
        <p:spPr>
          <a:xfrm>
            <a:off x="8183880" y="2523744"/>
            <a:ext cx="3459175" cy="566928"/>
          </a:xfrm>
          <a:prstGeom prst="rect">
            <a:avLst/>
          </a:prstGeom>
          <a:solidFill>
            <a:srgbClr val="EEF4FD"/>
          </a:solidFill>
          <a:ln w="15875">
            <a:solidFill>
              <a:srgbClr val="2A78D6"/>
            </a:solidFill>
          </a:ln>
        </p:spPr>
        <p:txBody>
          <a:bodyPr rtlCol="0" anchor="ctr" lIns="128016" tIns="96012" rIns="128016" bIns="96012" wrap="square"/>
          <a:lstStyle/>
          <a:p>
            <a:pPr>
              <a:lnSpc>
                <a:spcPct val="102000"/>
              </a:lnSpc>
            </a:pPr>
            <a:r>
              <a:rPr sz="1150" b="1">
                <a:solidFill>
                  <a:srgbClr val="0C1408"/>
                </a:solidFill>
                <a:latin typeface="Arial"/>
              </a:rPr>
              <a:t>E-commerce partners</a:t>
            </a:r>
          </a:p>
          <a:p>
            <a:pPr>
              <a:lnSpc>
                <a:spcPct val="102000"/>
              </a:lnSpc>
              <a:spcBef>
                <a:spcPts val="200"/>
              </a:spcBef>
            </a:pPr>
            <a:r>
              <a:rPr sz="1000">
                <a:solidFill>
                  <a:srgbClr val="0C1408"/>
                </a:solidFill>
                <a:latin typeface="Arial"/>
              </a:rPr>
              <a:t>online purchases</a:t>
            </a:r>
          </a:p>
        </p:txBody>
      </p:sp>
      <p:cxnSp>
        <p:nvCxnSpPr>
          <p:cNvPr id="18" name="Connector 17"/>
          <p:cNvCxnSpPr/>
          <p:nvPr/>
        </p:nvCxnSpPr>
        <p:spPr>
          <a:xfrm>
            <a:off x="7132320" y="2807208"/>
            <a:ext cx="1005840" cy="0"/>
          </a:xfrm>
          <a:prstGeom prst="line">
            <a:avLst/>
          </a:prstGeom>
          <a:ln w="19050">
            <a:solidFill>
              <a:srgbClr val="4B5563"/>
            </a:solidFill>
            <a:tailEnd type="triangle" w="med" len="med"/>
          </a:ln>
        </p:spPr>
      </p:cxnSp>
      <p:sp>
        <p:nvSpPr>
          <p:cNvPr id="19" name="Rectangle 18"/>
          <p:cNvSpPr/>
          <p:nvPr/>
        </p:nvSpPr>
        <p:spPr>
          <a:xfrm>
            <a:off x="8183880" y="3218688"/>
            <a:ext cx="3459175" cy="566928"/>
          </a:xfrm>
          <a:prstGeom prst="rect">
            <a:avLst/>
          </a:prstGeom>
          <a:solidFill>
            <a:srgbClr val="F4F1FB"/>
          </a:solidFill>
          <a:ln w="15875">
            <a:solidFill>
              <a:srgbClr val="573F99"/>
            </a:solidFill>
          </a:ln>
        </p:spPr>
        <p:txBody>
          <a:bodyPr rtlCol="0" anchor="ctr" lIns="128016" tIns="96012" rIns="128016" bIns="96012" wrap="square"/>
          <a:lstStyle/>
          <a:p>
            <a:pPr>
              <a:lnSpc>
                <a:spcPct val="102000"/>
              </a:lnSpc>
            </a:pPr>
            <a:r>
              <a:rPr sz="1150" b="1">
                <a:solidFill>
                  <a:srgbClr val="0C1408"/>
                </a:solidFill>
                <a:latin typeface="Arial"/>
              </a:rPr>
              <a:t>Raqami rewards</a:t>
            </a:r>
          </a:p>
          <a:p>
            <a:pPr>
              <a:lnSpc>
                <a:spcPct val="102000"/>
              </a:lnSpc>
              <a:spcBef>
                <a:spcPts val="200"/>
              </a:spcBef>
            </a:pPr>
            <a:r>
              <a:rPr sz="1000">
                <a:solidFill>
                  <a:srgbClr val="0C1408"/>
                </a:solidFill>
                <a:latin typeface="Arial"/>
              </a:rPr>
              <a:t>with the bank’s own rewards</a:t>
            </a:r>
          </a:p>
        </p:txBody>
      </p:sp>
      <p:cxnSp>
        <p:nvCxnSpPr>
          <p:cNvPr id="20" name="Connector 19"/>
          <p:cNvCxnSpPr/>
          <p:nvPr/>
        </p:nvCxnSpPr>
        <p:spPr>
          <a:xfrm>
            <a:off x="7132320" y="3502152"/>
            <a:ext cx="1005840" cy="0"/>
          </a:xfrm>
          <a:prstGeom prst="line">
            <a:avLst/>
          </a:prstGeom>
          <a:ln w="19050">
            <a:solidFill>
              <a:srgbClr val="4B5563"/>
            </a:solidFill>
            <a:tailEnd type="triangle" w="med" len="med"/>
          </a:ln>
        </p:spPr>
      </p:cxnSp>
      <p:sp>
        <p:nvSpPr>
          <p:cNvPr id="21" name="TextBox 20"/>
          <p:cNvSpPr txBox="1"/>
          <p:nvPr/>
        </p:nvSpPr>
        <p:spPr>
          <a:xfrm>
            <a:off x="548640" y="4434840"/>
            <a:ext cx="11094415" cy="274320"/>
          </a:xfrm>
          <a:prstGeom prst="rect">
            <a:avLst/>
          </a:prstGeom>
          <a:noFill/>
        </p:spPr>
        <p:txBody>
          <a:bodyPr wrap="square" lIns="0" tIns="0" rIns="0" bIns="0">
            <a:spAutoFit/>
          </a:bodyPr>
          <a:lstStyle/>
          <a:p>
            <a:pPr>
              <a:lnSpc>
                <a:spcPct val="100000"/>
              </a:lnSpc>
            </a:pPr>
            <a:r>
              <a:rPr sz="1200" b="1">
                <a:solidFill>
                  <a:srgbClr val="0C1408"/>
                </a:solidFill>
                <a:latin typeface="Arial"/>
              </a:rPr>
              <a:t>Worked example: profit on one circle of 12 at Rs 10,000</a:t>
            </a:r>
            <a:r>
              <a:rPr sz="1100">
                <a:solidFill>
                  <a:srgbClr val="0C1408"/>
                </a:solidFill>
                <a:latin typeface="Arial"/>
              </a:rPr>
              <a:t>   per month and per circle</a:t>
            </a:r>
          </a:p>
        </p:txBody>
      </p:sp>
      <p:sp>
        <p:nvSpPr>
          <p:cNvPr id="22" name="Rectangle 21"/>
          <p:cNvSpPr/>
          <p:nvPr/>
        </p:nvSpPr>
        <p:spPr>
          <a:xfrm>
            <a:off x="548640"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Rs 120,000</a:t>
            </a:r>
          </a:p>
          <a:p>
            <a:pPr algn="ctr">
              <a:lnSpc>
                <a:spcPct val="100000"/>
              </a:lnSpc>
              <a:spcBef>
                <a:spcPts val="200"/>
              </a:spcBef>
            </a:pPr>
            <a:r>
              <a:rPr sz="1000">
                <a:solidFill>
                  <a:srgbClr val="0C1408"/>
                </a:solidFill>
                <a:latin typeface="Arial"/>
              </a:rPr>
              <a:t>held each month</a:t>
            </a:r>
          </a:p>
        </p:txBody>
      </p:sp>
      <p:sp>
        <p:nvSpPr>
          <p:cNvPr id="23" name="TextBox 22"/>
          <p:cNvSpPr txBox="1"/>
          <p:nvPr/>
        </p:nvSpPr>
        <p:spPr>
          <a:xfrm>
            <a:off x="2077669" y="4901184"/>
            <a:ext cx="384048" cy="402336"/>
          </a:xfrm>
          <a:prstGeom prst="rect">
            <a:avLst/>
          </a:prstGeom>
          <a:noFill/>
        </p:spPr>
        <p:txBody>
          <a:bodyPr wrap="square" lIns="0" tIns="0" rIns="0" bIns="0" anchor="ctr">
            <a:spAutoFit/>
          </a:bodyPr>
          <a:lstStyle/>
          <a:p>
            <a:pPr algn="ctr">
              <a:lnSpc>
                <a:spcPct val="105000"/>
              </a:lnSpc>
            </a:pPr>
            <a:r>
              <a:rPr sz="1800" b="1">
                <a:solidFill>
                  <a:srgbClr val="0C1408"/>
                </a:solidFill>
                <a:latin typeface="Arial"/>
              </a:rPr>
              <a:t>×</a:t>
            </a:r>
          </a:p>
        </p:txBody>
      </p:sp>
      <p:sp>
        <p:nvSpPr>
          <p:cNvPr id="24" name="Rectangle 23"/>
          <p:cNvSpPr/>
          <p:nvPr/>
        </p:nvSpPr>
        <p:spPr>
          <a:xfrm>
            <a:off x="2461717"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7 of 365 days</a:t>
            </a:r>
          </a:p>
          <a:p>
            <a:pPr algn="ctr">
              <a:lnSpc>
                <a:spcPct val="100000"/>
              </a:lnSpc>
              <a:spcBef>
                <a:spcPts val="200"/>
              </a:spcBef>
            </a:pPr>
            <a:r>
              <a:rPr sz="1000">
                <a:solidFill>
                  <a:srgbClr val="0C1408"/>
                </a:solidFill>
                <a:latin typeface="Arial"/>
              </a:rPr>
              <a:t>payday to the 8th</a:t>
            </a:r>
          </a:p>
        </p:txBody>
      </p:sp>
      <p:sp>
        <p:nvSpPr>
          <p:cNvPr id="25" name="TextBox 24"/>
          <p:cNvSpPr txBox="1"/>
          <p:nvPr/>
        </p:nvSpPr>
        <p:spPr>
          <a:xfrm>
            <a:off x="3990746" y="4901184"/>
            <a:ext cx="384048" cy="402336"/>
          </a:xfrm>
          <a:prstGeom prst="rect">
            <a:avLst/>
          </a:prstGeom>
          <a:noFill/>
        </p:spPr>
        <p:txBody>
          <a:bodyPr wrap="square" lIns="0" tIns="0" rIns="0" bIns="0" anchor="ctr">
            <a:spAutoFit/>
          </a:bodyPr>
          <a:lstStyle/>
          <a:p>
            <a:pPr algn="ctr">
              <a:lnSpc>
                <a:spcPct val="105000"/>
              </a:lnSpc>
            </a:pPr>
            <a:r>
              <a:rPr sz="1800" b="1">
                <a:solidFill>
                  <a:srgbClr val="0C1408"/>
                </a:solidFill>
                <a:latin typeface="Arial"/>
              </a:rPr>
              <a:t>×</a:t>
            </a:r>
          </a:p>
        </p:txBody>
      </p:sp>
      <p:sp>
        <p:nvSpPr>
          <p:cNvPr id="26" name="Rectangle 25"/>
          <p:cNvSpPr/>
          <p:nvPr/>
        </p:nvSpPr>
        <p:spPr>
          <a:xfrm>
            <a:off x="4374794"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10% a year</a:t>
            </a:r>
          </a:p>
          <a:p>
            <a:pPr algn="ctr">
              <a:lnSpc>
                <a:spcPct val="100000"/>
              </a:lnSpc>
              <a:spcBef>
                <a:spcPts val="200"/>
              </a:spcBef>
            </a:pPr>
            <a:r>
              <a:rPr sz="1000">
                <a:solidFill>
                  <a:srgbClr val="0C1408"/>
                </a:solidFill>
                <a:latin typeface="Arial"/>
              </a:rPr>
              <a:t>7 day Mudarabah Certificate</a:t>
            </a:r>
          </a:p>
        </p:txBody>
      </p:sp>
      <p:sp>
        <p:nvSpPr>
          <p:cNvPr id="27" name="TextBox 26"/>
          <p:cNvSpPr txBox="1"/>
          <p:nvPr/>
        </p:nvSpPr>
        <p:spPr>
          <a:xfrm>
            <a:off x="5903824" y="4901184"/>
            <a:ext cx="384048" cy="402336"/>
          </a:xfrm>
          <a:prstGeom prst="rect">
            <a:avLst/>
          </a:prstGeom>
          <a:noFill/>
        </p:spPr>
        <p:txBody>
          <a:bodyPr wrap="square" lIns="0" tIns="0" rIns="0" bIns="0" anchor="ctr">
            <a:spAutoFit/>
          </a:bodyPr>
          <a:lstStyle/>
          <a:p>
            <a:pPr algn="ctr">
              <a:lnSpc>
                <a:spcPct val="105000"/>
              </a:lnSpc>
            </a:pPr>
            <a:r>
              <a:rPr sz="1800" b="1">
                <a:solidFill>
                  <a:srgbClr val="0C1408"/>
                </a:solidFill>
                <a:latin typeface="Arial"/>
              </a:rPr>
              <a:t>=</a:t>
            </a:r>
          </a:p>
        </p:txBody>
      </p:sp>
      <p:sp>
        <p:nvSpPr>
          <p:cNvPr id="28" name="Rectangle 27"/>
          <p:cNvSpPr/>
          <p:nvPr/>
        </p:nvSpPr>
        <p:spPr>
          <a:xfrm>
            <a:off x="6287872"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Rs 230</a:t>
            </a:r>
          </a:p>
          <a:p>
            <a:pPr algn="ctr">
              <a:lnSpc>
                <a:spcPct val="100000"/>
              </a:lnSpc>
              <a:spcBef>
                <a:spcPts val="200"/>
              </a:spcBef>
            </a:pPr>
            <a:r>
              <a:rPr sz="1000">
                <a:solidFill>
                  <a:srgbClr val="0C1408"/>
                </a:solidFill>
                <a:latin typeface="Arial"/>
              </a:rPr>
              <a:t>profit a month</a:t>
            </a:r>
          </a:p>
        </p:txBody>
      </p:sp>
      <p:cxnSp>
        <p:nvCxnSpPr>
          <p:cNvPr id="29" name="Connector 28"/>
          <p:cNvCxnSpPr/>
          <p:nvPr/>
        </p:nvCxnSpPr>
        <p:spPr>
          <a:xfrm>
            <a:off x="7880909" y="5102352"/>
            <a:ext cx="256032" cy="0"/>
          </a:xfrm>
          <a:prstGeom prst="line">
            <a:avLst/>
          </a:prstGeom>
          <a:ln w="19050">
            <a:solidFill>
              <a:srgbClr val="4B5563"/>
            </a:solidFill>
            <a:tailEnd type="triangle" w="med" len="med"/>
          </a:ln>
        </p:spPr>
      </p:cxnSp>
      <p:sp>
        <p:nvSpPr>
          <p:cNvPr id="30" name="Rectangle 29"/>
          <p:cNvSpPr/>
          <p:nvPr/>
        </p:nvSpPr>
        <p:spPr>
          <a:xfrm>
            <a:off x="8200949"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Rs 2,760</a:t>
            </a:r>
          </a:p>
          <a:p>
            <a:pPr algn="ctr">
              <a:lnSpc>
                <a:spcPct val="100000"/>
              </a:lnSpc>
              <a:spcBef>
                <a:spcPts val="200"/>
              </a:spcBef>
            </a:pPr>
            <a:r>
              <a:rPr sz="1000">
                <a:solidFill>
                  <a:srgbClr val="0C1408"/>
                </a:solidFill>
                <a:latin typeface="Arial"/>
              </a:rPr>
              <a:t>over 12 months</a:t>
            </a:r>
          </a:p>
        </p:txBody>
      </p:sp>
      <p:cxnSp>
        <p:nvCxnSpPr>
          <p:cNvPr id="31" name="Connector 30"/>
          <p:cNvCxnSpPr/>
          <p:nvPr/>
        </p:nvCxnSpPr>
        <p:spPr>
          <a:xfrm>
            <a:off x="9793986" y="5102352"/>
            <a:ext cx="256032" cy="0"/>
          </a:xfrm>
          <a:prstGeom prst="line">
            <a:avLst/>
          </a:prstGeom>
          <a:ln w="19050">
            <a:solidFill>
              <a:srgbClr val="4B5563"/>
            </a:solidFill>
            <a:tailEnd type="triangle" w="med" len="med"/>
          </a:ln>
        </p:spPr>
      </p:cxnSp>
      <p:sp>
        <p:nvSpPr>
          <p:cNvPr id="32" name="Rectangle 31"/>
          <p:cNvSpPr/>
          <p:nvPr/>
        </p:nvSpPr>
        <p:spPr>
          <a:xfrm>
            <a:off x="10114026" y="4764024"/>
            <a:ext cx="1529029" cy="658368"/>
          </a:xfrm>
          <a:prstGeom prst="rect">
            <a:avLst/>
          </a:prstGeom>
          <a:solidFill>
            <a:srgbClr val="F4F1FB"/>
          </a:solidFill>
          <a:ln w="12700">
            <a:solidFill>
              <a:srgbClr val="573F99"/>
            </a:solidFill>
          </a:ln>
        </p:spPr>
        <p:txBody>
          <a:bodyPr rtlCol="0" anchor="ctr" lIns="45720" tIns="34290" rIns="45720" bIns="34290" wrap="square"/>
          <a:lstStyle/>
          <a:p>
            <a:pPr algn="ctr">
              <a:lnSpc>
                <a:spcPct val="100000"/>
              </a:lnSpc>
            </a:pPr>
            <a:r>
              <a:rPr sz="1450" b="1">
                <a:solidFill>
                  <a:srgbClr val="0C1408"/>
                </a:solidFill>
                <a:latin typeface="Arial"/>
              </a:rPr>
              <a:t>230 points</a:t>
            </a:r>
          </a:p>
          <a:p>
            <a:pPr algn="ctr">
              <a:lnSpc>
                <a:spcPct val="100000"/>
              </a:lnSpc>
              <a:spcBef>
                <a:spcPts val="200"/>
              </a:spcBef>
            </a:pPr>
            <a:r>
              <a:rPr sz="1000">
                <a:solidFill>
                  <a:srgbClr val="0C1408"/>
                </a:solidFill>
                <a:latin typeface="Arial"/>
              </a:rPr>
              <a:t>to each member</a:t>
            </a:r>
          </a:p>
        </p:txBody>
      </p:sp>
      <p:sp>
        <p:nvSpPr>
          <p:cNvPr id="33" name="Rectangle 32"/>
          <p:cNvSpPr/>
          <p:nvPr/>
        </p:nvSpPr>
        <p:spPr>
          <a:xfrm>
            <a:off x="548640" y="5605272"/>
            <a:ext cx="11094415" cy="566928"/>
          </a:xfrm>
          <a:prstGeom prst="rect">
            <a:avLst/>
          </a:prstGeom>
          <a:solidFill>
            <a:srgbClr val="F3F4F6"/>
          </a:solidFill>
          <a:ln>
            <a:noFill/>
          </a:ln>
        </p:spPr>
        <p:txBody>
          <a:bodyPr rtlCol="0" anchor="ctr" lIns="164592" tIns="123444" rIns="164592" bIns="123444" wrap="square"/>
          <a:lstStyle/>
          <a:p>
            <a:pPr>
              <a:lnSpc>
                <a:spcPct val="104000"/>
              </a:lnSpc>
            </a:pPr>
            <a:r>
              <a:rPr sz="1100" b="1">
                <a:solidFill>
                  <a:srgbClr val="0C1408"/>
                </a:solidFill>
                <a:latin typeface="Arial"/>
              </a:rPr>
              <a:t>Profit rates:  </a:t>
            </a:r>
            <a:r>
              <a:rPr sz="1100">
                <a:solidFill>
                  <a:srgbClr val="0C1408"/>
                </a:solidFill>
                <a:latin typeface="Arial"/>
              </a:rPr>
              <a:t>Raqami published 10% for its 7 day Mudarabah Certificate in August 2026; members receive the profit actually earned.</a:t>
            </a:r>
          </a:p>
        </p:txBody>
      </p:sp>
      <p:sp>
        <p:nvSpPr>
          <p:cNvPr id="34" name="TextBox 33"/>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   </a:t>
            </a:r>
            <a:r>
              <a:rPr sz="850">
                <a:solidFill>
                  <a:srgbClr val="0C1408"/>
                </a:solidFill>
                <a:latin typeface="Arial"/>
              </a:rPr>
              <a:t>Raqami product rates (Historical Profit Rates, August 2026); bank decisions of 28 September 2026 (D4, D9)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Regulation and Compliance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Appendix A6 · regulation through Raqami’s licence, with Halqa as its service provider</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26</a:t>
            </a:r>
          </a:p>
        </p:txBody>
      </p:sp>
      <p:sp>
        <p:nvSpPr>
          <p:cNvPr id="6" name="Rectangle 5"/>
          <p:cNvSpPr/>
          <p:nvPr/>
        </p:nvSpPr>
        <p:spPr>
          <a:xfrm>
            <a:off x="548640" y="1572768"/>
            <a:ext cx="3886200" cy="4526280"/>
          </a:xfrm>
          <a:prstGeom prst="rect">
            <a:avLst/>
          </a:prstGeom>
          <a:noFill/>
          <a:ln w="12700">
            <a:solidFill>
              <a:srgbClr val="0C1408"/>
            </a:solidFill>
          </a:ln>
        </p:spPr>
        <p:txBody>
          <a:bodyPr rtlCol="0" anchor="ctr"/>
          <a:lstStyle/>
          <a:p>
            <a:pPr algn="ctr"/>
          </a:p>
        </p:txBody>
      </p:sp>
      <p:sp>
        <p:nvSpPr>
          <p:cNvPr id="7" name="TextBox 6"/>
          <p:cNvSpPr txBox="1"/>
          <p:nvPr/>
        </p:nvSpPr>
        <p:spPr>
          <a:xfrm>
            <a:off x="713232" y="1664208"/>
            <a:ext cx="36118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State Bank of Pakistan</a:t>
            </a:r>
          </a:p>
        </p:txBody>
      </p:sp>
      <p:sp>
        <p:nvSpPr>
          <p:cNvPr id="8" name="TextBox 7"/>
          <p:cNvSpPr txBox="1"/>
          <p:nvPr/>
        </p:nvSpPr>
        <p:spPr>
          <a:xfrm>
            <a:off x="713232" y="1938528"/>
            <a:ext cx="3611880" cy="274320"/>
          </a:xfrm>
          <a:prstGeom prst="rect">
            <a:avLst/>
          </a:prstGeom>
          <a:noFill/>
        </p:spPr>
        <p:txBody>
          <a:bodyPr wrap="square" lIns="0" tIns="0" rIns="0" bIns="0">
            <a:spAutoFit/>
          </a:bodyPr>
          <a:lstStyle/>
          <a:p>
            <a:pPr>
              <a:lnSpc>
                <a:spcPct val="105000"/>
              </a:lnSpc>
            </a:pPr>
            <a:r>
              <a:rPr sz="1000">
                <a:solidFill>
                  <a:srgbClr val="0C1408"/>
                </a:solidFill>
                <a:latin typeface="Arial"/>
              </a:rPr>
              <a:t>regulates Raqami, payments and the PSP</a:t>
            </a:r>
          </a:p>
        </p:txBody>
      </p:sp>
      <p:sp>
        <p:nvSpPr>
          <p:cNvPr id="9" name="Rectangle 8"/>
          <p:cNvSpPr/>
          <p:nvPr/>
        </p:nvSpPr>
        <p:spPr>
          <a:xfrm>
            <a:off x="822960" y="2350008"/>
            <a:ext cx="3337560" cy="3566160"/>
          </a:xfrm>
          <a:prstGeom prst="rect">
            <a:avLst/>
          </a:prstGeom>
          <a:solidFill>
            <a:srgbClr val="F4F1FB"/>
          </a:solidFill>
          <a:ln w="15875">
            <a:solidFill>
              <a:srgbClr val="573F99"/>
            </a:solidFill>
          </a:ln>
        </p:spPr>
        <p:txBody>
          <a:bodyPr rtlCol="0" anchor="ctr"/>
          <a:lstStyle/>
          <a:p>
            <a:pPr algn="ctr"/>
          </a:p>
        </p:txBody>
      </p:sp>
      <p:pic>
        <p:nvPicPr>
          <p:cNvPr id="10" name="Picture 9" descr="raqami_logo.png"/>
          <p:cNvPicPr>
            <a:picLocks noChangeAspect="1"/>
          </p:cNvPicPr>
          <p:nvPr/>
        </p:nvPicPr>
        <p:blipFill>
          <a:blip r:embed="rId3"/>
          <a:stretch>
            <a:fillRect/>
          </a:stretch>
        </p:blipFill>
        <p:spPr>
          <a:xfrm>
            <a:off x="987552" y="2441448"/>
            <a:ext cx="1234998" cy="457200"/>
          </a:xfrm>
          <a:prstGeom prst="rect">
            <a:avLst/>
          </a:prstGeom>
        </p:spPr>
      </p:pic>
      <p:sp>
        <p:nvSpPr>
          <p:cNvPr id="11" name="TextBox 10"/>
          <p:cNvSpPr txBox="1"/>
          <p:nvPr/>
        </p:nvSpPr>
        <p:spPr>
          <a:xfrm>
            <a:off x="987552" y="2944368"/>
            <a:ext cx="3063240" cy="274320"/>
          </a:xfrm>
          <a:prstGeom prst="rect">
            <a:avLst/>
          </a:prstGeom>
          <a:noFill/>
        </p:spPr>
        <p:txBody>
          <a:bodyPr wrap="square" lIns="0" tIns="0" rIns="0" bIns="0">
            <a:spAutoFit/>
          </a:bodyPr>
          <a:lstStyle/>
          <a:p>
            <a:pPr>
              <a:lnSpc>
                <a:spcPct val="105000"/>
              </a:lnSpc>
            </a:pPr>
            <a:r>
              <a:rPr sz="1000">
                <a:solidFill>
                  <a:srgbClr val="0C1408"/>
                </a:solidFill>
                <a:latin typeface="Arial"/>
              </a:rPr>
              <a:t>licence, accounts, payments</a:t>
            </a:r>
          </a:p>
        </p:txBody>
      </p:sp>
      <p:sp>
        <p:nvSpPr>
          <p:cNvPr id="12" name="Rectangle 11"/>
          <p:cNvSpPr/>
          <p:nvPr/>
        </p:nvSpPr>
        <p:spPr>
          <a:xfrm>
            <a:off x="1097280" y="3328416"/>
            <a:ext cx="2788920" cy="658368"/>
          </a:xfrm>
          <a:prstGeom prst="rect">
            <a:avLst/>
          </a:prstGeom>
          <a:solidFill>
            <a:srgbClr val="FFFFFF"/>
          </a:solidFill>
          <a:ln w="12700">
            <a:solidFill>
              <a:srgbClr val="573F99"/>
            </a:solidFill>
          </a:ln>
        </p:spPr>
        <p:txBody>
          <a:bodyPr rtlCol="0" anchor="ctr" lIns="109728" tIns="82296" rIns="109728" bIns="82296" wrap="square"/>
          <a:lstStyle/>
          <a:p>
            <a:pPr>
              <a:lnSpc>
                <a:spcPct val="105000"/>
              </a:lnSpc>
            </a:pPr>
            <a:r>
              <a:rPr sz="1100" b="1">
                <a:solidFill>
                  <a:srgbClr val="0C1408"/>
                </a:solidFill>
                <a:latin typeface="Arial"/>
              </a:rPr>
              <a:t>Raqami’s Shariah Board</a:t>
            </a:r>
          </a:p>
          <a:p>
            <a:pPr>
              <a:lnSpc>
                <a:spcPct val="105000"/>
              </a:lnSpc>
            </a:pPr>
            <a:r>
              <a:rPr sz="950">
                <a:solidFill>
                  <a:srgbClr val="0C1408"/>
                </a:solidFill>
                <a:latin typeface="Arial"/>
              </a:rPr>
              <a:t>certifies each Islamic product</a:t>
            </a:r>
          </a:p>
        </p:txBody>
      </p:sp>
      <p:sp>
        <p:nvSpPr>
          <p:cNvPr id="13" name="Rectangle 12"/>
          <p:cNvSpPr/>
          <p:nvPr/>
        </p:nvSpPr>
        <p:spPr>
          <a:xfrm>
            <a:off x="1097280" y="4151376"/>
            <a:ext cx="2788920" cy="1627632"/>
          </a:xfrm>
          <a:prstGeom prst="rect">
            <a:avLst/>
          </a:prstGeom>
          <a:solidFill>
            <a:srgbClr val="F3FCE7"/>
          </a:solidFill>
          <a:ln w="15875">
            <a:solidFill>
              <a:srgbClr val="6DC72A"/>
            </a:solidFill>
          </a:ln>
        </p:spPr>
        <p:txBody>
          <a:bodyPr rtlCol="0" anchor="ctr"/>
          <a:lstStyle/>
          <a:p>
            <a:pPr algn="ctr"/>
          </a:p>
        </p:txBody>
      </p:sp>
      <p:sp>
        <p:nvSpPr>
          <p:cNvPr id="14" name="TextBox 13"/>
          <p:cNvSpPr txBox="1"/>
          <p:nvPr/>
        </p:nvSpPr>
        <p:spPr>
          <a:xfrm>
            <a:off x="1234440" y="4242816"/>
            <a:ext cx="2514600" cy="274320"/>
          </a:xfrm>
          <a:prstGeom prst="rect">
            <a:avLst/>
          </a:prstGeom>
          <a:noFill/>
        </p:spPr>
        <p:txBody>
          <a:bodyPr wrap="square" lIns="0" tIns="0" rIns="0" bIns="0">
            <a:spAutoFit/>
          </a:bodyPr>
          <a:lstStyle/>
          <a:p>
            <a:pPr>
              <a:lnSpc>
                <a:spcPct val="105000"/>
              </a:lnSpc>
            </a:pPr>
            <a:r>
              <a:rPr sz="1150" b="1">
                <a:solidFill>
                  <a:srgbClr val="0C1408"/>
                </a:solidFill>
                <a:latin typeface="Arial"/>
              </a:rPr>
              <a:t>Halqa: service provider</a:t>
            </a:r>
          </a:p>
        </p:txBody>
      </p:sp>
      <p:sp>
        <p:nvSpPr>
          <p:cNvPr id="15" name="TextBox 14"/>
          <p:cNvSpPr txBox="1"/>
          <p:nvPr/>
        </p:nvSpPr>
        <p:spPr>
          <a:xfrm>
            <a:off x="1234440" y="4535424"/>
            <a:ext cx="2514600" cy="1234440"/>
          </a:xfrm>
          <a:prstGeom prst="rect">
            <a:avLst/>
          </a:prstGeom>
          <a:noFill/>
        </p:spPr>
        <p:txBody>
          <a:bodyPr wrap="square" lIns="0" tIns="0" rIns="0" bIns="0">
            <a:spAutoFit/>
          </a:bodyPr>
          <a:lstStyle/>
          <a:p>
            <a:pPr>
              <a:lnSpc>
                <a:spcPct val="105000"/>
              </a:lnSpc>
            </a:pPr>
            <a:r>
              <a:rPr sz="1050">
                <a:solidFill>
                  <a:srgbClr val="0C1408"/>
                </a:solidFill>
                <a:latin typeface="Arial"/>
              </a:rPr>
              <a:t>Rules, checks, application and records. Holds no member money. Works under the outsourcing framework, with audit rights for Raqami and the State Bank.</a:t>
            </a:r>
          </a:p>
        </p:txBody>
      </p:sp>
      <p:sp>
        <p:nvSpPr>
          <p:cNvPr id="16" name="TextBox 15"/>
          <p:cNvSpPr txBox="1"/>
          <p:nvPr/>
        </p:nvSpPr>
        <p:spPr>
          <a:xfrm>
            <a:off x="4754880" y="1554480"/>
            <a:ext cx="1463040" cy="274320"/>
          </a:xfrm>
          <a:prstGeom prst="rect">
            <a:avLst/>
          </a:prstGeom>
          <a:noFill/>
        </p:spPr>
        <p:txBody>
          <a:bodyPr wrap="square" lIns="0" tIns="0" rIns="0" bIns="0">
            <a:spAutoFit/>
          </a:bodyPr>
          <a:lstStyle/>
          <a:p>
            <a:pPr>
              <a:lnSpc>
                <a:spcPct val="105000"/>
              </a:lnSpc>
            </a:pPr>
            <a:r>
              <a:rPr sz="1100" b="1">
                <a:solidFill>
                  <a:srgbClr val="0C1408"/>
                </a:solidFill>
                <a:latin typeface="Arial"/>
              </a:rPr>
              <a:t>Area</a:t>
            </a:r>
          </a:p>
        </p:txBody>
      </p:sp>
      <p:sp>
        <p:nvSpPr>
          <p:cNvPr id="17" name="TextBox 16"/>
          <p:cNvSpPr txBox="1"/>
          <p:nvPr/>
        </p:nvSpPr>
        <p:spPr>
          <a:xfrm>
            <a:off x="6309360" y="1554480"/>
            <a:ext cx="2148840" cy="274320"/>
          </a:xfrm>
          <a:prstGeom prst="rect">
            <a:avLst/>
          </a:prstGeom>
          <a:noFill/>
        </p:spPr>
        <p:txBody>
          <a:bodyPr wrap="square" lIns="0" tIns="0" rIns="0" bIns="0">
            <a:spAutoFit/>
          </a:bodyPr>
          <a:lstStyle/>
          <a:p>
            <a:pPr>
              <a:lnSpc>
                <a:spcPct val="105000"/>
              </a:lnSpc>
            </a:pPr>
            <a:r>
              <a:rPr sz="1100" b="1">
                <a:solidFill>
                  <a:srgbClr val="0C1408"/>
                </a:solidFill>
                <a:latin typeface="Arial"/>
              </a:rPr>
              <a:t>Rule</a:t>
            </a:r>
          </a:p>
        </p:txBody>
      </p:sp>
      <p:sp>
        <p:nvSpPr>
          <p:cNvPr id="18" name="TextBox 17"/>
          <p:cNvSpPr txBox="1"/>
          <p:nvPr/>
        </p:nvSpPr>
        <p:spPr>
          <a:xfrm>
            <a:off x="8549640" y="1554480"/>
            <a:ext cx="3001975" cy="274320"/>
          </a:xfrm>
          <a:prstGeom prst="rect">
            <a:avLst/>
          </a:prstGeom>
          <a:noFill/>
        </p:spPr>
        <p:txBody>
          <a:bodyPr wrap="square" lIns="0" tIns="0" rIns="0" bIns="0">
            <a:spAutoFit/>
          </a:bodyPr>
          <a:lstStyle/>
          <a:p>
            <a:pPr>
              <a:lnSpc>
                <a:spcPct val="105000"/>
              </a:lnSpc>
            </a:pPr>
            <a:r>
              <a:rPr sz="1100" b="1">
                <a:solidFill>
                  <a:srgbClr val="0C1408"/>
                </a:solidFill>
                <a:latin typeface="Arial"/>
              </a:rPr>
              <a:t>How it is met</a:t>
            </a:r>
          </a:p>
        </p:txBody>
      </p:sp>
      <p:cxnSp>
        <p:nvCxnSpPr>
          <p:cNvPr id="19" name="Connector 18"/>
          <p:cNvCxnSpPr/>
          <p:nvPr/>
        </p:nvCxnSpPr>
        <p:spPr>
          <a:xfrm>
            <a:off x="4754880" y="1847088"/>
            <a:ext cx="6888175" cy="0"/>
          </a:xfrm>
          <a:prstGeom prst="line">
            <a:avLst/>
          </a:prstGeom>
          <a:ln w="9525">
            <a:solidFill>
              <a:srgbClr val="0C1408"/>
            </a:solidFill>
          </a:ln>
        </p:spPr>
      </p:cxnSp>
      <p:sp>
        <p:nvSpPr>
          <p:cNvPr id="20" name="TextBox 19"/>
          <p:cNvSpPr txBox="1"/>
          <p:nvPr/>
        </p:nvSpPr>
        <p:spPr>
          <a:xfrm>
            <a:off x="4754880" y="1883664"/>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Member money</a:t>
            </a:r>
          </a:p>
        </p:txBody>
      </p:sp>
      <p:sp>
        <p:nvSpPr>
          <p:cNvPr id="21" name="TextBox 20"/>
          <p:cNvSpPr txBox="1"/>
          <p:nvPr/>
        </p:nvSpPr>
        <p:spPr>
          <a:xfrm>
            <a:off x="6309360" y="1883664"/>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Only a bank may take deposits (Companies Act 2017, s.84)</a:t>
            </a:r>
          </a:p>
        </p:txBody>
      </p:sp>
      <p:sp>
        <p:nvSpPr>
          <p:cNvPr id="22" name="TextBox 21"/>
          <p:cNvSpPr txBox="1"/>
          <p:nvPr/>
        </p:nvSpPr>
        <p:spPr>
          <a:xfrm>
            <a:off x="8549640" y="1883664"/>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Held only by Raqami; Halqa never receives it</a:t>
            </a:r>
          </a:p>
        </p:txBody>
      </p:sp>
      <p:cxnSp>
        <p:nvCxnSpPr>
          <p:cNvPr id="23" name="Connector 22"/>
          <p:cNvCxnSpPr/>
          <p:nvPr/>
        </p:nvCxnSpPr>
        <p:spPr>
          <a:xfrm>
            <a:off x="4754880" y="2308860"/>
            <a:ext cx="6888175" cy="0"/>
          </a:xfrm>
          <a:prstGeom prst="line">
            <a:avLst/>
          </a:prstGeom>
          <a:ln w="6350">
            <a:solidFill>
              <a:srgbClr val="D1D5DB"/>
            </a:solidFill>
          </a:ln>
        </p:spPr>
      </p:cxnSp>
      <p:sp>
        <p:nvSpPr>
          <p:cNvPr id="24" name="TextBox 23"/>
          <p:cNvSpPr txBox="1"/>
          <p:nvPr/>
        </p:nvSpPr>
        <p:spPr>
          <a:xfrm>
            <a:off x="4754880" y="2308860"/>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Service provider</a:t>
            </a:r>
          </a:p>
        </p:txBody>
      </p:sp>
      <p:sp>
        <p:nvSpPr>
          <p:cNvPr id="25" name="TextBox 24"/>
          <p:cNvSpPr txBox="1"/>
          <p:nvPr/>
        </p:nvSpPr>
        <p:spPr>
          <a:xfrm>
            <a:off x="6309360" y="2308860"/>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SBP outsourcing framework, 2017, revised 2019</a:t>
            </a:r>
          </a:p>
        </p:txBody>
      </p:sp>
      <p:sp>
        <p:nvSpPr>
          <p:cNvPr id="26" name="TextBox 25"/>
          <p:cNvSpPr txBox="1"/>
          <p:nvPr/>
        </p:nvSpPr>
        <p:spPr>
          <a:xfrm>
            <a:off x="8549640" y="2308860"/>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Audit rights, data security and continuity for Raqami and the State Bank</a:t>
            </a:r>
          </a:p>
        </p:txBody>
      </p:sp>
      <p:cxnSp>
        <p:nvCxnSpPr>
          <p:cNvPr id="27" name="Connector 26"/>
          <p:cNvCxnSpPr/>
          <p:nvPr/>
        </p:nvCxnSpPr>
        <p:spPr>
          <a:xfrm>
            <a:off x="4754880" y="2734056"/>
            <a:ext cx="6888175" cy="0"/>
          </a:xfrm>
          <a:prstGeom prst="line">
            <a:avLst/>
          </a:prstGeom>
          <a:ln w="6350">
            <a:solidFill>
              <a:srgbClr val="D1D5DB"/>
            </a:solidFill>
          </a:ln>
        </p:spPr>
      </p:cxnSp>
      <p:sp>
        <p:nvSpPr>
          <p:cNvPr id="28" name="TextBox 27"/>
          <p:cNvSpPr txBox="1"/>
          <p:nvPr/>
        </p:nvSpPr>
        <p:spPr>
          <a:xfrm>
            <a:off x="4754880" y="2734056"/>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Automatic debit</a:t>
            </a:r>
          </a:p>
        </p:txBody>
      </p:sp>
      <p:sp>
        <p:nvSpPr>
          <p:cNvPr id="29" name="TextBox 28"/>
          <p:cNvSpPr txBox="1"/>
          <p:nvPr/>
        </p:nvSpPr>
        <p:spPr>
          <a:xfrm>
            <a:off x="6309360" y="2734056"/>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Payment Systems and Electronic Fund Transfers Act 2007, s.35</a:t>
            </a:r>
          </a:p>
        </p:txBody>
      </p:sp>
      <p:sp>
        <p:nvSpPr>
          <p:cNvPr id="30" name="TextBox 29"/>
          <p:cNvSpPr txBox="1"/>
          <p:nvPr/>
        </p:nvSpPr>
        <p:spPr>
          <a:xfrm>
            <a:off x="8549640" y="2734056"/>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Member consent in the app; the standing instruction is Raqami’s</a:t>
            </a:r>
          </a:p>
        </p:txBody>
      </p:sp>
      <p:cxnSp>
        <p:nvCxnSpPr>
          <p:cNvPr id="31" name="Connector 30"/>
          <p:cNvCxnSpPr/>
          <p:nvPr/>
        </p:nvCxnSpPr>
        <p:spPr>
          <a:xfrm>
            <a:off x="4754880" y="3159252"/>
            <a:ext cx="6888175" cy="0"/>
          </a:xfrm>
          <a:prstGeom prst="line">
            <a:avLst/>
          </a:prstGeom>
          <a:ln w="6350">
            <a:solidFill>
              <a:srgbClr val="D1D5DB"/>
            </a:solidFill>
          </a:ln>
        </p:spPr>
      </p:cxnSp>
      <p:sp>
        <p:nvSpPr>
          <p:cNvPr id="32" name="TextBox 31"/>
          <p:cNvSpPr txBox="1"/>
          <p:nvPr/>
        </p:nvSpPr>
        <p:spPr>
          <a:xfrm>
            <a:off x="4754880" y="3159252"/>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Credit reporting</a:t>
            </a:r>
          </a:p>
        </p:txBody>
      </p:sp>
      <p:sp>
        <p:nvSpPr>
          <p:cNvPr id="33" name="TextBox 32"/>
          <p:cNvSpPr txBox="1"/>
          <p:nvPr/>
        </p:nvSpPr>
        <p:spPr>
          <a:xfrm>
            <a:off x="6309360" y="3159252"/>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Credit Bureaus Act 2015</a:t>
            </a:r>
          </a:p>
        </p:txBody>
      </p:sp>
      <p:sp>
        <p:nvSpPr>
          <p:cNvPr id="34" name="TextBox 33"/>
          <p:cNvSpPr txBox="1"/>
          <p:nvPr/>
        </p:nvSpPr>
        <p:spPr>
          <a:xfrm>
            <a:off x="8549640" y="3159252"/>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Through Raqami’s TASDEEQ membership or Halqa as a data provider</a:t>
            </a:r>
          </a:p>
        </p:txBody>
      </p:sp>
      <p:cxnSp>
        <p:nvCxnSpPr>
          <p:cNvPr id="35" name="Connector 34"/>
          <p:cNvCxnSpPr/>
          <p:nvPr/>
        </p:nvCxnSpPr>
        <p:spPr>
          <a:xfrm>
            <a:off x="4754880" y="3584448"/>
            <a:ext cx="6888175" cy="0"/>
          </a:xfrm>
          <a:prstGeom prst="line">
            <a:avLst/>
          </a:prstGeom>
          <a:ln w="6350">
            <a:solidFill>
              <a:srgbClr val="D1D5DB"/>
            </a:solidFill>
          </a:ln>
        </p:spPr>
      </p:cxnSp>
      <p:sp>
        <p:nvSpPr>
          <p:cNvPr id="36" name="TextBox 35"/>
          <p:cNvSpPr txBox="1"/>
          <p:nvPr/>
        </p:nvSpPr>
        <p:spPr>
          <a:xfrm>
            <a:off x="4754880" y="3584448"/>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Takaful</a:t>
            </a:r>
          </a:p>
        </p:txBody>
      </p:sp>
      <p:sp>
        <p:nvSpPr>
          <p:cNvPr id="37" name="TextBox 36"/>
          <p:cNvSpPr txBox="1"/>
          <p:nvPr/>
        </p:nvSpPr>
        <p:spPr>
          <a:xfrm>
            <a:off x="6309360" y="3584448"/>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Insurance Ordinance 2000: only a licensed operator may insure</a:t>
            </a:r>
          </a:p>
        </p:txBody>
      </p:sp>
      <p:sp>
        <p:nvSpPr>
          <p:cNvPr id="38" name="TextBox 37"/>
          <p:cNvSpPr txBox="1"/>
          <p:nvPr/>
        </p:nvSpPr>
        <p:spPr>
          <a:xfrm>
            <a:off x="8549640" y="3584448"/>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Written by an operator Raqami chooses</a:t>
            </a:r>
          </a:p>
        </p:txBody>
      </p:sp>
      <p:cxnSp>
        <p:nvCxnSpPr>
          <p:cNvPr id="39" name="Connector 38"/>
          <p:cNvCxnSpPr/>
          <p:nvPr/>
        </p:nvCxnSpPr>
        <p:spPr>
          <a:xfrm>
            <a:off x="4754880" y="4009644"/>
            <a:ext cx="6888175" cy="0"/>
          </a:xfrm>
          <a:prstGeom prst="line">
            <a:avLst/>
          </a:prstGeom>
          <a:ln w="6350">
            <a:solidFill>
              <a:srgbClr val="D1D5DB"/>
            </a:solidFill>
          </a:ln>
        </p:spPr>
      </p:cxnSp>
      <p:sp>
        <p:nvSpPr>
          <p:cNvPr id="40" name="TextBox 39"/>
          <p:cNvSpPr txBox="1"/>
          <p:nvPr/>
        </p:nvSpPr>
        <p:spPr>
          <a:xfrm>
            <a:off x="4754880" y="4009644"/>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Product approval</a:t>
            </a:r>
          </a:p>
        </p:txBody>
      </p:sp>
      <p:sp>
        <p:nvSpPr>
          <p:cNvPr id="41" name="TextBox 40"/>
          <p:cNvSpPr txBox="1"/>
          <p:nvPr/>
        </p:nvSpPr>
        <p:spPr>
          <a:xfrm>
            <a:off x="6309360" y="4009644"/>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State Bank approval or notice</a:t>
            </a:r>
          </a:p>
        </p:txBody>
      </p:sp>
      <p:sp>
        <p:nvSpPr>
          <p:cNvPr id="42" name="TextBox 41"/>
          <p:cNvSpPr txBox="1"/>
          <p:nvPr/>
        </p:nvSpPr>
        <p:spPr>
          <a:xfrm>
            <a:off x="8549640" y="4009644"/>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Taken to the State Bank by Raqami</a:t>
            </a:r>
          </a:p>
        </p:txBody>
      </p:sp>
      <p:cxnSp>
        <p:nvCxnSpPr>
          <p:cNvPr id="43" name="Connector 42"/>
          <p:cNvCxnSpPr/>
          <p:nvPr/>
        </p:nvCxnSpPr>
        <p:spPr>
          <a:xfrm>
            <a:off x="4754880" y="4434840"/>
            <a:ext cx="6888175" cy="0"/>
          </a:xfrm>
          <a:prstGeom prst="line">
            <a:avLst/>
          </a:prstGeom>
          <a:ln w="6350">
            <a:solidFill>
              <a:srgbClr val="D1D5DB"/>
            </a:solidFill>
          </a:ln>
        </p:spPr>
      </p:cxnSp>
      <p:sp>
        <p:nvSpPr>
          <p:cNvPr id="44" name="TextBox 43"/>
          <p:cNvSpPr txBox="1"/>
          <p:nvPr/>
        </p:nvSpPr>
        <p:spPr>
          <a:xfrm>
            <a:off x="4754880" y="4434840"/>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Data</a:t>
            </a:r>
          </a:p>
        </p:txBody>
      </p:sp>
      <p:sp>
        <p:nvSpPr>
          <p:cNvPr id="45" name="TextBox 44"/>
          <p:cNvSpPr txBox="1"/>
          <p:nvPr/>
        </p:nvSpPr>
        <p:spPr>
          <a:xfrm>
            <a:off x="6309360" y="4434840"/>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Customer data protection; outsourcing data controls</a:t>
            </a:r>
          </a:p>
        </p:txBody>
      </p:sp>
      <p:sp>
        <p:nvSpPr>
          <p:cNvPr id="46" name="TextBox 45"/>
          <p:cNvSpPr txBox="1"/>
          <p:nvPr/>
        </p:nvSpPr>
        <p:spPr>
          <a:xfrm>
            <a:off x="8549640" y="4434840"/>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Results only; hosted in Singapore today, moved where Raqami and the State Bank require</a:t>
            </a:r>
          </a:p>
        </p:txBody>
      </p:sp>
      <p:cxnSp>
        <p:nvCxnSpPr>
          <p:cNvPr id="47" name="Connector 46"/>
          <p:cNvCxnSpPr/>
          <p:nvPr/>
        </p:nvCxnSpPr>
        <p:spPr>
          <a:xfrm>
            <a:off x="4754880" y="4860036"/>
            <a:ext cx="6888175" cy="0"/>
          </a:xfrm>
          <a:prstGeom prst="line">
            <a:avLst/>
          </a:prstGeom>
          <a:ln w="6350">
            <a:solidFill>
              <a:srgbClr val="D1D5DB"/>
            </a:solidFill>
          </a:ln>
        </p:spPr>
      </p:cxnSp>
      <p:sp>
        <p:nvSpPr>
          <p:cNvPr id="48" name="TextBox 47"/>
          <p:cNvSpPr txBox="1"/>
          <p:nvPr/>
        </p:nvSpPr>
        <p:spPr>
          <a:xfrm>
            <a:off x="4754880" y="4860036"/>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AML and KYC</a:t>
            </a:r>
          </a:p>
        </p:txBody>
      </p:sp>
      <p:sp>
        <p:nvSpPr>
          <p:cNvPr id="49" name="TextBox 48"/>
          <p:cNvSpPr txBox="1"/>
          <p:nvPr/>
        </p:nvSpPr>
        <p:spPr>
          <a:xfrm>
            <a:off x="6309360" y="4860036"/>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Anti-Money Laundering Act 2010; State Bank AML regulations</a:t>
            </a:r>
          </a:p>
        </p:txBody>
      </p:sp>
      <p:sp>
        <p:nvSpPr>
          <p:cNvPr id="50" name="TextBox 49"/>
          <p:cNvSpPr txBox="1"/>
          <p:nvPr/>
        </p:nvSpPr>
        <p:spPr>
          <a:xfrm>
            <a:off x="8549640" y="4860036"/>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Customer due diligence and screening by Raqami when the account opens</a:t>
            </a:r>
          </a:p>
        </p:txBody>
      </p:sp>
      <p:cxnSp>
        <p:nvCxnSpPr>
          <p:cNvPr id="51" name="Connector 50"/>
          <p:cNvCxnSpPr/>
          <p:nvPr/>
        </p:nvCxnSpPr>
        <p:spPr>
          <a:xfrm>
            <a:off x="4754880" y="5285232"/>
            <a:ext cx="6888175" cy="0"/>
          </a:xfrm>
          <a:prstGeom prst="line">
            <a:avLst/>
          </a:prstGeom>
          <a:ln w="6350">
            <a:solidFill>
              <a:srgbClr val="D1D5DB"/>
            </a:solidFill>
          </a:ln>
        </p:spPr>
      </p:cxnSp>
      <p:sp>
        <p:nvSpPr>
          <p:cNvPr id="52" name="TextBox 51"/>
          <p:cNvSpPr txBox="1"/>
          <p:nvPr/>
        </p:nvSpPr>
        <p:spPr>
          <a:xfrm>
            <a:off x="4754880" y="5285232"/>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Consumer protection</a:t>
            </a:r>
          </a:p>
        </p:txBody>
      </p:sp>
      <p:sp>
        <p:nvSpPr>
          <p:cNvPr id="53" name="TextBox 52"/>
          <p:cNvSpPr txBox="1"/>
          <p:nvPr/>
        </p:nvSpPr>
        <p:spPr>
          <a:xfrm>
            <a:off x="6309360" y="5285232"/>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State Bank fair treatment of consumers rules</a:t>
            </a:r>
          </a:p>
        </p:txBody>
      </p:sp>
      <p:sp>
        <p:nvSpPr>
          <p:cNvPr id="54" name="TextBox 53"/>
          <p:cNvSpPr txBox="1"/>
          <p:nvPr/>
        </p:nvSpPr>
        <p:spPr>
          <a:xfrm>
            <a:off x="8549640" y="5285232"/>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Full cost shown before signing; 24 hours to withdraw; complaints in the app</a:t>
            </a:r>
          </a:p>
        </p:txBody>
      </p:sp>
      <p:cxnSp>
        <p:nvCxnSpPr>
          <p:cNvPr id="55" name="Connector 54"/>
          <p:cNvCxnSpPr/>
          <p:nvPr/>
        </p:nvCxnSpPr>
        <p:spPr>
          <a:xfrm>
            <a:off x="4754880" y="5710428"/>
            <a:ext cx="6888175" cy="0"/>
          </a:xfrm>
          <a:prstGeom prst="line">
            <a:avLst/>
          </a:prstGeom>
          <a:ln w="6350">
            <a:solidFill>
              <a:srgbClr val="D1D5DB"/>
            </a:solidFill>
          </a:ln>
        </p:spPr>
      </p:cxnSp>
      <p:sp>
        <p:nvSpPr>
          <p:cNvPr id="56" name="TextBox 55"/>
          <p:cNvSpPr txBox="1"/>
          <p:nvPr/>
        </p:nvSpPr>
        <p:spPr>
          <a:xfrm>
            <a:off x="4754880" y="5710428"/>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Continuity</a:t>
            </a:r>
          </a:p>
        </p:txBody>
      </p:sp>
      <p:sp>
        <p:nvSpPr>
          <p:cNvPr id="57" name="TextBox 56"/>
          <p:cNvSpPr txBox="1"/>
          <p:nvPr/>
        </p:nvSpPr>
        <p:spPr>
          <a:xfrm>
            <a:off x="6309360" y="5710428"/>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Outsourcing framework: contingency and exit plans</a:t>
            </a:r>
          </a:p>
        </p:txBody>
      </p:sp>
      <p:sp>
        <p:nvSpPr>
          <p:cNvPr id="58" name="TextBox 57"/>
          <p:cNvSpPr txBox="1"/>
          <p:nvPr/>
        </p:nvSpPr>
        <p:spPr>
          <a:xfrm>
            <a:off x="8549640" y="5710428"/>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Money stays at Raqami; daily backups; records exportable to Raqami</a:t>
            </a:r>
          </a:p>
        </p:txBody>
      </p:sp>
      <p:cxnSp>
        <p:nvCxnSpPr>
          <p:cNvPr id="59" name="Connector 58"/>
          <p:cNvCxnSpPr/>
          <p:nvPr/>
        </p:nvCxnSpPr>
        <p:spPr>
          <a:xfrm>
            <a:off x="4754880" y="6135624"/>
            <a:ext cx="6888175" cy="0"/>
          </a:xfrm>
          <a:prstGeom prst="line">
            <a:avLst/>
          </a:prstGeom>
          <a:ln w="6350">
            <a:solidFill>
              <a:srgbClr val="D1D5DB"/>
            </a:solidFill>
          </a:ln>
        </p:spPr>
      </p:cxnSp>
      <p:sp>
        <p:nvSpPr>
          <p:cNvPr id="60" name="TextBox 59"/>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   </a:t>
            </a:r>
            <a:r>
              <a:rPr sz="850">
                <a:solidFill>
                  <a:srgbClr val="0C1408"/>
                </a:solidFill>
                <a:latin typeface="Arial"/>
              </a:rPr>
              <a:t>SBP BPRD Circular No. 06 of 2017 (outsourcing), revised 2019; Companies Act 2017; PS&amp;EFT Act 2007; Credit Bureaus Act 2015; Insurance Ordinance 2000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Halqa: committee savings partnership with Raqami Islamic Digital Bank</dc:title>
  <dc:subject/>
  <dc:creator>Halqa</dc:creator>
  <cp:keywords/>
  <dc:description>generated using python-pptx</dc:description>
  <cp:lastModifiedBy>Halqa</cp:lastModifiedBy>
  <cp:revision>1</cp:revision>
  <dcterms:created xsi:type="dcterms:W3CDTF">2013-01-27T09:14:16Z</dcterms:created>
  <dcterms:modified xsi:type="dcterms:W3CDTF">2013-01-27T09:15:58Z</dcterms:modified>
  <cp:category/>
</cp:coreProperties>
</file>