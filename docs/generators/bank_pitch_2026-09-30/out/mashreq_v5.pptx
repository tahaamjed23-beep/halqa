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D8602A"/>
              </a:solidFill>
            </a:ln>
          </c:spPr>
          <c:marker>
            <c:symbol val="circle"/>
            <c:size val="6"/>
            <c:spPr>
              <a:solidFill>
                <a:srgbClr val="D8602A"/>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D8602A"/>
              </a:solidFill>
            </c:spPr>
          </c:dPt>
          <c:dPt>
            <c:idx val="1"/>
            <c:invertIfNegative val="0"/>
            <c:spPr>
              <a:solidFill>
                <a:srgbClr val="6DC72A"/>
              </a:solidFill>
            </c:spPr>
          </c:dPt>
          <c:dPt>
            <c:idx val="2"/>
            <c:invertIfNegative val="0"/>
            <c:spPr>
              <a:solidFill>
                <a:srgbClr val="6DC72A"/>
              </a:solidFill>
            </c:spPr>
          </c:dPt>
          <c:cat>
            <c:strRef>
              <c:f>Sheet1!$A$2:$A$4</c:f>
              <c:strCache>
                <c:ptCount val="3"/>
                <c:pt idx="0">
                  <c:v>Mashreq, 30 June 2026</c:v>
                </c:pt>
                <c:pt idx="1">
                  <c:v>Added by 100,000 members</c:v>
                </c:pt>
                <c:pt idx="2">
                  <c:v>Added by 1,000,000 members</c:v>
                </c:pt>
              </c:strCache>
            </c:strRef>
          </c:cat>
          <c:val>
            <c:numRef>
              <c:f>Sheet1!$B$2:$B$4</c:f>
              <c:numCache>
                <c:formatCode>General</c:formatCode>
                <c:ptCount val="3"/>
                <c:pt idx="0">
                  <c:v>8.5</c:v>
                </c:pt>
                <c:pt idx="1">
                  <c:v>2.4</c:v>
                </c:pt>
                <c:pt idx="2">
                  <c:v>24.3</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28.67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9E3F17"/>
              </a:solidFill>
            </c:spPr>
          </c:dPt>
          <c:dPt>
            <c:idx val="1"/>
            <c:invertIfNegative val="0"/>
            <c:spPr>
              <a:solidFill>
                <a:srgbClr val="9E3F17"/>
              </a:solidFill>
            </c:spPr>
          </c:dPt>
          <c:dPt>
            <c:idx val="2"/>
            <c:invertIfNegative val="0"/>
            <c:spPr>
              <a:solidFill>
                <a:srgbClr val="9E3F17"/>
              </a:solidFill>
            </c:spPr>
          </c:dPt>
          <c:dPt>
            <c:idx val="3"/>
            <c:invertIfNegative val="0"/>
            <c:spPr>
              <a:solidFill>
                <a:srgbClr val="9E3F17"/>
              </a:solidFill>
            </c:spPr>
          </c:dPt>
          <c:dPt>
            <c:idx val="4"/>
            <c:invertIfNegative val="0"/>
            <c:spPr>
              <a:solidFill>
                <a:srgbClr val="9E3F17"/>
              </a:solidFill>
            </c:spPr>
          </c:dPt>
          <c:dPt>
            <c:idx val="5"/>
            <c:invertIfNegative val="0"/>
            <c:spPr>
              <a:solidFill>
                <a:srgbClr val="9E3F17"/>
              </a:solidFill>
            </c:spPr>
          </c:dPt>
          <c:dPt>
            <c:idx val="6"/>
            <c:invertIfNegative val="0"/>
            <c:spPr>
              <a:solidFill>
                <a:srgbClr val="D8602A"/>
              </a:solidFill>
            </c:spPr>
          </c:dPt>
          <c:dPt>
            <c:idx val="7"/>
            <c:invertIfNegative val="0"/>
            <c:spPr>
              <a:solidFill>
                <a:srgbClr val="D8602A"/>
              </a:solidFill>
            </c:spPr>
          </c:dPt>
          <c:dPt>
            <c:idx val="8"/>
            <c:invertIfNegative val="0"/>
            <c:spPr>
              <a:solidFill>
                <a:srgbClr val="D8602A"/>
              </a:solidFill>
            </c:spPr>
          </c:dPt>
          <c:dPt>
            <c:idx val="9"/>
            <c:invertIfNegative val="0"/>
            <c:spPr>
              <a:solidFill>
                <a:srgbClr val="EFA27A"/>
              </a:solidFill>
            </c:spPr>
          </c:dPt>
          <c:dPt>
            <c:idx val="10"/>
            <c:invertIfNegative val="0"/>
            <c:spPr>
              <a:solidFill>
                <a:srgbClr val="EFA27A"/>
              </a:solidFill>
            </c:spPr>
          </c:dPt>
          <c:dPt>
            <c:idx val="11"/>
            <c:invertIfNegative val="0"/>
            <c:spPr>
              <a:solidFill>
                <a:srgbClr val="EFA27A"/>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900">
                  <a:solidFill>
                    <a:srgbClr val="0C1408"/>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950"/>
            </a:pPr>
          </a:p>
        </c:txPr>
        <c:crossAx val="-2113994440"/>
        <c:crosses val="autoZero"/>
        <c:auto val="1"/>
        <c:lblAlgn val="ctr"/>
        <c:lblOffset val="100"/>
        <c:noMultiLvlLbl val="0"/>
      </c:catAx>
      <c:valAx>
        <c:axId val="-2113994440"/>
        <c:scaling>
          <c:max val="130.0"/>
        </c:scaling>
        <c:delete/>
        <c:axPos val="l"/>
        <c:majorTickMark val="out"/>
        <c:minorTickMark val="none"/>
        <c:tickLblPos val="nextTo"/>
        <c:crossAx val="-2068027336"/>
        <c:crosses val="autoZero"/>
      </c:valAx>
    </c:plotArea>
    <c:dispBlanksAs val="gap"/>
  </c:chart>
  <c:txPr>
    <a:bodyPr/>
    <a:lstStyle/>
    <a:p>
      <a:pPr>
        <a:defRPr sz="9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Contribution after running costs</c:v>
                </c:pt>
              </c:strCache>
            </c:strRef>
          </c:tx>
          <c:spPr>
            <a:ln w="28575">
              <a:solidFill>
                <a:srgbClr val="41801A"/>
              </a:solidFill>
            </a:ln>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Sheet1!$B$2:$B$14</c:f>
              <c:numCache>
                <c:formatCode>General</c:formatCode>
                <c:ptCount val="13"/>
                <c:pt idx="0">
                  <c:v>0.0</c:v>
                </c:pt>
                <c:pt idx="1">
                  <c:v>17.6</c:v>
                </c:pt>
                <c:pt idx="2">
                  <c:v>35.2</c:v>
                </c:pt>
                <c:pt idx="3">
                  <c:v>52.8</c:v>
                </c:pt>
                <c:pt idx="4">
                  <c:v>70.4</c:v>
                </c:pt>
                <c:pt idx="5">
                  <c:v>88.0</c:v>
                </c:pt>
                <c:pt idx="6">
                  <c:v>105.6</c:v>
                </c:pt>
                <c:pt idx="7">
                  <c:v>123.2</c:v>
                </c:pt>
                <c:pt idx="8">
                  <c:v>140.8</c:v>
                </c:pt>
                <c:pt idx="9">
                  <c:v>158.4</c:v>
                </c:pt>
                <c:pt idx="10">
                  <c:v>176.0</c:v>
                </c:pt>
                <c:pt idx="11">
                  <c:v>193.6</c:v>
                </c:pt>
                <c:pt idx="12">
                  <c:v>211.2</c:v>
                </c:pt>
              </c:numCache>
            </c:numRef>
          </c:val>
          <c:smooth val="0"/>
        </c:ser>
        <c:ser>
          <c:idx val="1"/>
          <c:order val="1"/>
          <c:tx>
            <c:strRef>
              <c:f>Sheet1!$C$1</c:f>
              <c:strCache>
                <c:ptCount val="1"/>
                <c:pt idx="0">
                  <c:v>Fixed technical cost</c:v>
                </c:pt>
              </c:strCache>
            </c:strRef>
          </c:tx>
          <c:spPr>
            <a:ln w="28575">
              <a:solidFill>
                <a:srgbClr val="4B5563"/>
              </a:solidFill>
            </a:ln>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Sheet1!$C$2:$C$14</c:f>
              <c:numCache>
                <c:formatCode>General</c:formatCode>
                <c:ptCount val="13"/>
                <c:pt idx="0">
                  <c:v>61.0</c:v>
                </c:pt>
                <c:pt idx="1">
                  <c:v>61.0</c:v>
                </c:pt>
                <c:pt idx="2">
                  <c:v>61.0</c:v>
                </c:pt>
                <c:pt idx="3">
                  <c:v>61.0</c:v>
                </c:pt>
                <c:pt idx="4">
                  <c:v>61.0</c:v>
                </c:pt>
                <c:pt idx="5">
                  <c:v>61.0</c:v>
                </c:pt>
                <c:pt idx="6">
                  <c:v>61.0</c:v>
                </c:pt>
                <c:pt idx="7">
                  <c:v>61.0</c:v>
                </c:pt>
                <c:pt idx="8">
                  <c:v>61.0</c:v>
                </c:pt>
                <c:pt idx="9">
                  <c:v>61.0</c:v>
                </c:pt>
                <c:pt idx="10">
                  <c:v>61.0</c:v>
                </c:pt>
                <c:pt idx="11">
                  <c:v>61.0</c:v>
                </c:pt>
                <c:pt idx="12">
                  <c:v>61.0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900"/>
            </a:pPr>
          </a:p>
        </c:txPr>
        <c:crossAx val="2140495176"/>
        <c:crosses val="autoZero"/>
        <c:auto val="1"/>
        <c:lblAlgn val="ctr"/>
        <c:lblOffset val="100"/>
        <c:noMultiLvlLbl val="0"/>
      </c:catAx>
      <c:valAx>
        <c:axId val="2140495176"/>
        <c:scaling>
          <c:max val="225.0"/>
          <c:min val="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00">
                <a:solidFill>
                  <a:srgbClr val="5F6B58"/>
                </a:solidFill>
              </a:defRPr>
            </a:pPr>
          </a:p>
        </c:txPr>
        <c:crossAx val="2118791784"/>
        <c:crosses val="autoZero"/>
        <c:majorUnit val="50.0"/>
      </c:valAx>
    </c:plotArea>
    <c:legend>
      <c:legendPos val="t"/>
      <c:layout/>
      <c:overlay val="0"/>
      <c:txPr>
        <a:bodyPr/>
        <a:lstStyle/>
        <a:p>
          <a:pPr>
            <a:defRPr sz="950"/>
          </a:pPr>
        </a:p>
      </c:txPr>
    </c:legend>
    <c:plotVisOnly val="1"/>
    <c:dispBlanksAs val="gap"/>
    <c:showDLblsOverMax val="0"/>
  </c:chart>
  <c:txPr>
    <a:bodyPr/>
    <a:lstStyle/>
    <a:p>
      <a:pPr>
        <a:defRPr sz="1000">
          <a:solidFill>
            <a:srgbClr val="0C1408"/>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D8602A"/>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Mashreq, and that Mashreq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Mashreq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Mashreq account; Mashreq collects the instalment from it and pays the pot into it. Halqa never holds the money.</a:t>
            </a:r>
          </a:p>
          <a:p/>
          <a:p>
            <a:r>
              <a:t>Roles: Halqa is the system: the rules, the order of turns, the checks on each member, reminders and records. Mashreq is the machine: accounts, collection, payouts and profit on balances. A licensed takaful or insurance operator pays the other members if someone stops paying after collecting.</a:t>
            </a:r>
          </a:p>
          <a:p/>
          <a:p>
            <a:r>
              <a:t>Regulation comes through Mashreq’s licence, with Halqa as its service provider under the State Bank’s outsourcing framework.</a:t>
            </a:r>
          </a:p>
          <a:p/>
          <a:p>
            <a:r>
              <a:t>For Mashreq: each circle brings six to twenty accounts at once; at Mashreq’s own average deposit, 100,000 members mean about Rs 2.4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Mashreq, the PSP and the takaful or insurance operator; no money line touches Halqa. Members pay instalments into Mashreq and receive pots from it. Payments from wallets and cards arrive through a licensed payment service provider and settle at Mashreq. Mashreq pays the takaful or insurance contribution to the operator, and the operator pays claims directly to members left short.</a:t>
            </a:r>
          </a:p>
          <a:p/>
          <a:p>
            <a:r>
              <a:t>The green lines are instructions. Members join and consent in the Halqa application; Halqa instructs Mashreq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Mashreq’s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direct debit mandate with Mashreq. Three, a reminder the evening before payday, on WhatsApp in Roman Urdu first. Four, on the member’s payday, learned from the account, Halqa asks Mashreq to collect. Five, Mashreq moves Rs 10,000 from each member’s account into the committee account; if the salary is late, the debit is retried each morning, five attempts at most. Six, on the 8th, the due date, Halqa tells Mashreq who collects. Seven, Mashreq pays Rs 120,000 into the collector’s account the same day. Eight, Mashreq confirms and the record updates. Nine, payment records go to TASDEEQ, reported by Mashreq or by Halqa as a data provider, as Mashreq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Mashreq, never at Halqa. Appendix A2 and A3 have the detail. Mashreq does not publish a direct debit service today, so the mandate is one of the new lines we ask Mashreq to add.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six types, from known circles to circles between strangers, with Hyper marked experimental. Two, the full cost is shown before signing: the instalment, the takaful or insurance and the fee, with 24 hours to withdraw at no cost. Three, the Mashreq account opens inside Halqa through Mashreq’s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Mashreq account to take part; when the circle completes, satisfied members start their own. Acquisition cost is shared across the group and the cycle repeats. Hosts are rewarded with points for circles that complete cleanly, never for recruiting, which would be a pyramid. Families in the UAE can join through the Mashreq Pakistan Account, opened from Mashreq’s UAE application.</a:t>
            </a:r>
          </a:p>
          <a:p/>
          <a:p>
            <a:r>
              <a:t>Deposits use Mashreq’s own average rather than an assumption: Rs 8,515 million of deposits ÷ 350,000 customers = about Rs 24,000 a customer, 30 June 2026. On that basis 100,000 members add about Rs 2.4 billion and a million members about Rs 24.3 billion. Committee members also bring the monthly instalment, which sits at Mashreq for about a week between payday and the 8th. Mashreq’s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for its lending book. Every instalment, on time or late, becomes a record: amount, due date, date paid, circle type and turn, and whether the circle completed. From launch day it is reported to TASDEEQ, the licensed credit bureau, through Mashreq’s own membership or by Halqa as a data provider; Mashreq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Mashreq reported no advances at 30 June 2026. Committee members bring twelve months of repayment behaviour, which is exactly the data needed to start lending, beginning with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Mashreq already has.</a:t>
            </a:r>
          </a:p>
          <a:p/>
          <a:p>
            <a:r>
              <a:t>The account opens inside the Halqa application through Mashreq’s own onboarding, with a PayPak or Mastercard debit card, in about five minutes. Salary lands in the member’s own account; the Islamic Current Profit Account pays profit on the daily closing balance, up to 2 per cent today. Between payday and the 8th, about a week, the instalments are held as the committee balance in an Islamic Savings Account, 10 per cent indicative on balances below Rs 1.5 million, and that profit returns to members as points at the end of the circle. The payout is a free instant transfer. Families in the UAE join through the Mashreq Pakistan Account.</a:t>
            </a:r>
          </a:p>
          <a:p/>
          <a:p>
            <a:r>
              <a:t>Three new lines: a direct debit mandate, which Mashreq does not publish today for Pakistan; takaful or insurance for circles between strangers, with an operator Mashreq chooses; and ijarah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Mashreq opens the account with its own checks: CNIC, NADRA biometric verification and customer due diligence.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kinds of circle and what each requires. Known circles, between family, colleagues or neighbours, including the weekly bazaar committee, need only check level one, because the group itself knows its members. Circles between strangers need the income check, automatic debit, takaful or insurance and a credit report read; the large ones are the committees in lakhs. Asset circles buy a motorcycle or machine with Mashreq financing. UAE family circles join relatives across two countries through Mashreq’s non resident accounts.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direct debit mandate; takaful or insurance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or insurance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the member pays Rs 11,047 on a circle between strangers: Rs 10,000 to whoever is collecting, Rs 547 of takaful or insurance, and up to Rs 500 of fee. Mashreq collects the fee as its own income and pays Halqa an agreed share. Halqa’s revenue is a share of what Mashreq earns, never money held.</a:t>
            </a:r>
          </a:p>
          <a:p/>
          <a:p>
            <a:r>
              <a:t>Right: the fixed cost is technical only, as decided: hosting on Vercel, the Supabase database with point in time recovery and a staging copy, Sentry error monitoring, Google Workspace mail and the Apple developer account, about US$208 or Rs 61,000 a month at launch. Salaries, counsel and an office are excluded; the earlier Rs 1.32 million included two engineers, an operations lead, counsel, an accountant, an audit and six office desks. Each active member contributes about Rs 350 a month after running costs in the 25 September model updated for the Rs 15 Hyper fee, so the technical cost is covered at about 170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Mashreq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Mashreq.</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Only about a quarter of adults are financially literate, which is why committees survive: people understand them without understanding finance.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Mashreq; product approval through Mashreq; the connection to Mashreq’s account, direct debit mandate and payment interfaces and to the PSP; and the takaful or insurance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or insurance and Rs 15 is the fee; eight members collect Rs 15,000 each day. Design two: 390 members pay Rs 500 a day for 26 days, Sundays off; Rs 333.33 to the pot, Rs 151.67 to takaful or insurance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or insurance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Mashreq’s direct debit mandate on the member’s own Mashreq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Mashreq account. The blue lines are money and all of them end at Mashreq; none touches Halqa.</a:t>
            </a:r>
          </a:p>
          <a:p/>
          <a:p>
            <a:r>
              <a:t>If the money is in the member’s Mashreq account, the direct debit mandate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Mashreq or to the PSP; the PSP settles the payment into the committee account at Mashreq, never to Halqa. Every payment is confirmed back to Halqa, which updates the record and reconciles every entry against Mashreq’s statement daily. On the 8th the pot goes from the committee account to the collector’s Mashreq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or insurance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or insurance is priced for a severe stress case, one circle in five losing a fifth of its members from the earliest turns: about 5.5 per cent of the instalment on a circle between strangers. Mashreq chooses the operator: its insurance partner or a takaful operator.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Mashreq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can also be bought, as a Mashreq product under its licence. Points are spent in Halqa’s marketplace, with e-commerce partners and with Mashreq’s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a:p/>
          <a:p>
            <a:r>
              <a:t>Turn exchange: members may exchange turns with each other, with the price capped at the value of the pot, the buyer’s score checked against the earlier turn and the host approving; a fee is charged on each exchange.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Mashreq, payments and the payment service provider. Mashreq’s licence covers the accounts and the payments. The Islamic window product goes to its Shariah board. Halqa is assessed as Mashreq’s service provider under the State Bank’s outsourcing framework, with audit rights for Mashreq and the State Bank.</a:t>
            </a:r>
          </a:p>
          <a:p/>
          <a:p>
            <a:r>
              <a:t>The table maps each rule to how it is met: member money only at Mashreq; the outsourcing framework for Halqa’s role; the Payment Systems and Electronic Fund Transfers Act for automatic debits, where the mandate and its duties are Mashreq’s; the Credit Bureaus Act for reporting; the Insurance Ordinance for takaful or insurance, written only by a licensed operator; the product itself taken to the State Bank through Mashreq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D860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mashreq-logo-colour.png"/>
          <p:cNvPicPr>
            <a:picLocks noChangeAspect="1"/>
          </p:cNvPicPr>
          <p:nvPr/>
        </p:nvPicPr>
        <p:blipFill>
          <a:blip r:embed="rId4"/>
          <a:stretch>
            <a:fillRect/>
          </a:stretch>
        </p:blipFill>
        <p:spPr>
          <a:xfrm>
            <a:off x="2843900" y="457200"/>
            <a:ext cx="984835" cy="1051560"/>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4B5563"/>
                </a:solidFill>
                <a:latin typeface="Arial"/>
              </a:rPr>
              <a:t>Proposal to Mashreq Bank Pakistan</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6B7280"/>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Mashreq account; Mashreq collects each instalment and pays each pot. Wallets and cards connect through a licensed PSP.</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Mashreq: accounts, collection, payouts and profit. A licensed takaful or insurance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Mashreq’s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or insurance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DF1EA"/>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Mashreq</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D8602A"/>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About Rs 2.4 billion of deposits per 100,000 members</a:t>
            </a:r>
          </a:p>
          <a:p>
            <a:pPr marL="173736" indent="-173736">
              <a:lnSpc>
                <a:spcPct val="104000"/>
              </a:lnSpc>
              <a:spcAft>
                <a:spcPts val="350"/>
              </a:spcAft>
              <a:buClr>
                <a:srgbClr val="D8602A"/>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D8602A"/>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December 2022    2  Mashreq Bank Pakistan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3</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6B7280"/>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4B5563"/>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a:t>
            </a:r>
          </a:p>
        </p:txBody>
      </p:sp>
      <p:sp>
        <p:nvSpPr>
          <p:cNvPr id="21" name="Rectangle 20"/>
          <p:cNvSpPr/>
          <p:nvPr/>
        </p:nvSpPr>
        <p:spPr>
          <a:xfrm>
            <a:off x="1097280" y="2103120"/>
            <a:ext cx="228600" cy="228600"/>
          </a:xfrm>
          <a:prstGeom prst="rect">
            <a:avLst/>
          </a:prstGeom>
          <a:solidFill>
            <a:srgbClr val="D8602A"/>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F9DCCB"/>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F9DCCB"/>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F9DCCB"/>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F9DCCB"/>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F9DCCB"/>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F9DCCB"/>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F9DCCB"/>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F9DCCB"/>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F9DCCB"/>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F9DCCB"/>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F9DCCB"/>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2</a:t>
            </a:r>
          </a:p>
        </p:txBody>
      </p:sp>
      <p:sp>
        <p:nvSpPr>
          <p:cNvPr id="34" name="Rectangle 33"/>
          <p:cNvSpPr/>
          <p:nvPr/>
        </p:nvSpPr>
        <p:spPr>
          <a:xfrm>
            <a:off x="1097280" y="2377440"/>
            <a:ext cx="228600" cy="228600"/>
          </a:xfrm>
          <a:prstGeom prst="rect">
            <a:avLst/>
          </a:prstGeom>
          <a:solidFill>
            <a:srgbClr val="F9DCCB"/>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D8602A"/>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F9DCCB"/>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F9DCCB"/>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F9DCCB"/>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F9DCCB"/>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F9DCCB"/>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F9DCCB"/>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F9DCCB"/>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F9DCCB"/>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F9DCCB"/>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F9DCCB"/>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3</a:t>
            </a:r>
          </a:p>
        </p:txBody>
      </p:sp>
      <p:sp>
        <p:nvSpPr>
          <p:cNvPr id="47" name="Rectangle 46"/>
          <p:cNvSpPr/>
          <p:nvPr/>
        </p:nvSpPr>
        <p:spPr>
          <a:xfrm>
            <a:off x="1097280" y="2651760"/>
            <a:ext cx="228600" cy="228600"/>
          </a:xfrm>
          <a:prstGeom prst="rect">
            <a:avLst/>
          </a:prstGeom>
          <a:solidFill>
            <a:srgbClr val="F9DCCB"/>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F9DCCB"/>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D8602A"/>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F9DCCB"/>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F9DCCB"/>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F9DCCB"/>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F9DCCB"/>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F9DCCB"/>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F9DCCB"/>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F9DCCB"/>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F9DCCB"/>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F9DCCB"/>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4</a:t>
            </a:r>
          </a:p>
        </p:txBody>
      </p:sp>
      <p:sp>
        <p:nvSpPr>
          <p:cNvPr id="60" name="Rectangle 59"/>
          <p:cNvSpPr/>
          <p:nvPr/>
        </p:nvSpPr>
        <p:spPr>
          <a:xfrm>
            <a:off x="1097280" y="2926080"/>
            <a:ext cx="228600" cy="228600"/>
          </a:xfrm>
          <a:prstGeom prst="rect">
            <a:avLst/>
          </a:prstGeom>
          <a:solidFill>
            <a:srgbClr val="F9DCCB"/>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F9DCCB"/>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F9DCCB"/>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D8602A"/>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F9DCCB"/>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F9DCCB"/>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F9DCCB"/>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F9DCCB"/>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F9DCCB"/>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F9DCCB"/>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F9DCCB"/>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F9DCCB"/>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5</a:t>
            </a:r>
          </a:p>
        </p:txBody>
      </p:sp>
      <p:sp>
        <p:nvSpPr>
          <p:cNvPr id="73" name="Rectangle 72"/>
          <p:cNvSpPr/>
          <p:nvPr/>
        </p:nvSpPr>
        <p:spPr>
          <a:xfrm>
            <a:off x="1097280" y="3200400"/>
            <a:ext cx="228600" cy="228600"/>
          </a:xfrm>
          <a:prstGeom prst="rect">
            <a:avLst/>
          </a:prstGeom>
          <a:solidFill>
            <a:srgbClr val="F9DCCB"/>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F9DCCB"/>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F9DCCB"/>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F9DCCB"/>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D8602A"/>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F9DCCB"/>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F9DCCB"/>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F9DCCB"/>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F9DCCB"/>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F9DCCB"/>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F9DCCB"/>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F9DCCB"/>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6</a:t>
            </a:r>
          </a:p>
        </p:txBody>
      </p:sp>
      <p:sp>
        <p:nvSpPr>
          <p:cNvPr id="86" name="Rectangle 85"/>
          <p:cNvSpPr/>
          <p:nvPr/>
        </p:nvSpPr>
        <p:spPr>
          <a:xfrm>
            <a:off x="1097280" y="3474720"/>
            <a:ext cx="228600" cy="228600"/>
          </a:xfrm>
          <a:prstGeom prst="rect">
            <a:avLst/>
          </a:prstGeom>
          <a:solidFill>
            <a:srgbClr val="F9DCCB"/>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F9DCCB"/>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F9DCCB"/>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F9DCCB"/>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F9DCCB"/>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D8602A"/>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F9DCCB"/>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F9DCCB"/>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F9DCCB"/>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F9DCCB"/>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F9DCCB"/>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F9DCCB"/>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7</a:t>
            </a:r>
          </a:p>
        </p:txBody>
      </p:sp>
      <p:sp>
        <p:nvSpPr>
          <p:cNvPr id="99" name="Rectangle 98"/>
          <p:cNvSpPr/>
          <p:nvPr/>
        </p:nvSpPr>
        <p:spPr>
          <a:xfrm>
            <a:off x="1097280" y="3749040"/>
            <a:ext cx="228600" cy="228600"/>
          </a:xfrm>
          <a:prstGeom prst="rect">
            <a:avLst/>
          </a:prstGeom>
          <a:solidFill>
            <a:srgbClr val="F9DCCB"/>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F9DCCB"/>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F9DCCB"/>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F9DCCB"/>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F9DCCB"/>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F9DCCB"/>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D8602A"/>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F9DCCB"/>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F9DCCB"/>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F9DCCB"/>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F9DCCB"/>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F9DCCB"/>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8</a:t>
            </a:r>
          </a:p>
        </p:txBody>
      </p:sp>
      <p:sp>
        <p:nvSpPr>
          <p:cNvPr id="112" name="Rectangle 111"/>
          <p:cNvSpPr/>
          <p:nvPr/>
        </p:nvSpPr>
        <p:spPr>
          <a:xfrm>
            <a:off x="1097280" y="4023360"/>
            <a:ext cx="228600" cy="228600"/>
          </a:xfrm>
          <a:prstGeom prst="rect">
            <a:avLst/>
          </a:prstGeom>
          <a:solidFill>
            <a:srgbClr val="F9DCCB"/>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F9DCCB"/>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F9DCCB"/>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F9DCCB"/>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F9DCCB"/>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F9DCCB"/>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F9DCCB"/>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D8602A"/>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F9DCCB"/>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F9DCCB"/>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F9DCCB"/>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F9DCCB"/>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9</a:t>
            </a:r>
          </a:p>
        </p:txBody>
      </p:sp>
      <p:sp>
        <p:nvSpPr>
          <p:cNvPr id="125" name="Rectangle 124"/>
          <p:cNvSpPr/>
          <p:nvPr/>
        </p:nvSpPr>
        <p:spPr>
          <a:xfrm>
            <a:off x="1097280" y="4297680"/>
            <a:ext cx="228600" cy="228600"/>
          </a:xfrm>
          <a:prstGeom prst="rect">
            <a:avLst/>
          </a:prstGeom>
          <a:solidFill>
            <a:srgbClr val="F9DCCB"/>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F9DCCB"/>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F9DCCB"/>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F9DCCB"/>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F9DCCB"/>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F9DCCB"/>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F9DCCB"/>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F9DCCB"/>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D8602A"/>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F9DCCB"/>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F9DCCB"/>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F9DCCB"/>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10</a:t>
            </a:r>
          </a:p>
        </p:txBody>
      </p:sp>
      <p:sp>
        <p:nvSpPr>
          <p:cNvPr id="138" name="Rectangle 137"/>
          <p:cNvSpPr/>
          <p:nvPr/>
        </p:nvSpPr>
        <p:spPr>
          <a:xfrm>
            <a:off x="1097280" y="4572000"/>
            <a:ext cx="228600" cy="228600"/>
          </a:xfrm>
          <a:prstGeom prst="rect">
            <a:avLst/>
          </a:prstGeom>
          <a:solidFill>
            <a:srgbClr val="F9DCCB"/>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F9DCCB"/>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F9DCCB"/>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F9DCCB"/>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F9DCCB"/>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F9DCCB"/>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F9DCCB"/>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F9DCCB"/>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F9DCCB"/>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D8602A"/>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F9DCCB"/>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F9DCCB"/>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11</a:t>
            </a:r>
          </a:p>
        </p:txBody>
      </p:sp>
      <p:sp>
        <p:nvSpPr>
          <p:cNvPr id="151" name="Rectangle 150"/>
          <p:cNvSpPr/>
          <p:nvPr/>
        </p:nvSpPr>
        <p:spPr>
          <a:xfrm>
            <a:off x="1097280" y="4846320"/>
            <a:ext cx="228600" cy="228600"/>
          </a:xfrm>
          <a:prstGeom prst="rect">
            <a:avLst/>
          </a:prstGeom>
          <a:solidFill>
            <a:srgbClr val="F9DCCB"/>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F9DCCB"/>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F9DCCB"/>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F9DCCB"/>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F9DCCB"/>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F9DCCB"/>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F9DCCB"/>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F9DCCB"/>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F9DCCB"/>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F9DCCB"/>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D8602A"/>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F9DCCB"/>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12</a:t>
            </a:r>
          </a:p>
        </p:txBody>
      </p:sp>
      <p:sp>
        <p:nvSpPr>
          <p:cNvPr id="164" name="Rectangle 163"/>
          <p:cNvSpPr/>
          <p:nvPr/>
        </p:nvSpPr>
        <p:spPr>
          <a:xfrm>
            <a:off x="1097280" y="5120640"/>
            <a:ext cx="228600" cy="228600"/>
          </a:xfrm>
          <a:prstGeom prst="rect">
            <a:avLst/>
          </a:prstGeom>
          <a:solidFill>
            <a:srgbClr val="F9DCCB"/>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F9DCCB"/>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F9DCCB"/>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F9DCCB"/>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F9DCCB"/>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F9DCCB"/>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F9DCCB"/>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F9DCCB"/>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F9DCCB"/>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F9DCCB"/>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F9DCCB"/>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D8602A"/>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4B5563"/>
                </a:solidFill>
                <a:latin typeface="Arial"/>
              </a:rPr>
              <a:t>Member</a:t>
            </a:r>
          </a:p>
        </p:txBody>
      </p:sp>
      <p:sp>
        <p:nvSpPr>
          <p:cNvPr id="177" name="Rectangle 176"/>
          <p:cNvSpPr/>
          <p:nvPr/>
        </p:nvSpPr>
        <p:spPr>
          <a:xfrm>
            <a:off x="1097280" y="5541264"/>
            <a:ext cx="146304" cy="146304"/>
          </a:xfrm>
          <a:prstGeom prst="rect">
            <a:avLst/>
          </a:prstGeom>
          <a:solidFill>
            <a:srgbClr val="D8602A"/>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4B5563"/>
                </a:solidFill>
                <a:latin typeface="Arial"/>
              </a:rPr>
              <a:t>collects Rs 120,000</a:t>
            </a:r>
          </a:p>
        </p:txBody>
      </p:sp>
      <p:sp>
        <p:nvSpPr>
          <p:cNvPr id="179" name="Rectangle 178"/>
          <p:cNvSpPr/>
          <p:nvPr/>
        </p:nvSpPr>
        <p:spPr>
          <a:xfrm>
            <a:off x="2971800" y="5541264"/>
            <a:ext cx="146304" cy="146304"/>
          </a:xfrm>
          <a:prstGeom prst="rect">
            <a:avLst/>
          </a:prstGeom>
          <a:solidFill>
            <a:srgbClr val="F9DCCB"/>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4B5563"/>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6B7280"/>
                </a:solidFill>
                <a:latin typeface="Arial"/>
              </a:rPr>
              <a:t>   Rs thousand</a:t>
            </a:r>
          </a:p>
        </p:txBody>
      </p:sp>
      <p:graphicFrame>
        <p:nvGraphicFramePr>
          <p:cNvPr id="182" name="Chart 181"/>
          <p:cNvGraphicFramePr>
            <a:graphicFrameLocks noGrp="1"/>
          </p:cNvGraphicFramePr>
          <p:nvPr/>
        </p:nvGraphicFramePr>
        <p:xfrm>
          <a:off x="4983480" y="1783080"/>
          <a:ext cx="6705295" cy="2926080"/>
        </p:xfrm>
        <a:graphic>
          <a:graphicData uri="http://schemas.openxmlformats.org/drawingml/2006/chart">
            <c:chart xmlns:c="http://schemas.openxmlformats.org/drawingml/2006/chart" r:id="rId3"/>
          </a:graphicData>
        </a:graphic>
      </p:graphicFrame>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4B5563"/>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Fixed order</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host sets the order of turns at the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4</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6B7280"/>
                </a:solidFill>
                <a:latin typeface="Arial"/>
              </a:rPr>
              <a:t>   per 100 people</a:t>
            </a:r>
          </a:p>
        </p:txBody>
      </p:sp>
      <p:sp>
        <p:nvSpPr>
          <p:cNvPr id="7" name="Rectangle 6"/>
          <p:cNvSpPr/>
          <p:nvPr/>
        </p:nvSpPr>
        <p:spPr>
          <a:xfrm>
            <a:off x="548640" y="4796028"/>
            <a:ext cx="274320" cy="274320"/>
          </a:xfrm>
          <a:prstGeom prst="rect">
            <a:avLst/>
          </a:prstGeom>
          <a:solidFill>
            <a:srgbClr val="D8602A"/>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D8602A"/>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D8602A"/>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D8602A"/>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D8602A"/>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D8602A"/>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D8602A"/>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D8602A"/>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D8602A"/>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D8602A"/>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D8602A"/>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D8602A"/>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D8602A"/>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D8602A"/>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D8602A"/>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D8602A"/>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D8602A"/>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D8602A"/>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D8602A"/>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D8602A"/>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D8602A"/>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D8602A"/>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D8602A"/>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D8602A"/>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D8602A"/>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D8602A"/>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D8602A"/>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D8602A"/>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D8602A"/>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D8602A"/>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D8602A"/>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D8602A"/>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D8602A"/>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D8602A"/>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EFA27A"/>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EFA27A"/>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EFA27A"/>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EFA27A"/>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EFA27A"/>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EFA27A"/>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EFA27A"/>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D8602A"/>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4B5563"/>
                </a:solidFill>
                <a:latin typeface="Arial"/>
              </a:rPr>
              <a:t>34 in 100, Karandaaz estimate [1]</a:t>
            </a:r>
          </a:p>
        </p:txBody>
      </p:sp>
      <p:sp>
        <p:nvSpPr>
          <p:cNvPr id="109" name="Rectangle 108"/>
          <p:cNvSpPr/>
          <p:nvPr/>
        </p:nvSpPr>
        <p:spPr>
          <a:xfrm>
            <a:off x="548640" y="5504688"/>
            <a:ext cx="155448" cy="155448"/>
          </a:xfrm>
          <a:prstGeom prst="rect">
            <a:avLst/>
          </a:prstGeom>
          <a:solidFill>
            <a:srgbClr val="EFA27A"/>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4B5563"/>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2 times</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as many women as men take part [3]</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91%</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committees collect monthly [4]</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56%</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adults have a committee within 1 km of home [5]</a:t>
            </a:r>
          </a:p>
        </p:txBody>
      </p:sp>
      <p:sp>
        <p:nvSpPr>
          <p:cNvPr id="125" name="TextBox 124"/>
          <p:cNvSpPr txBox="1"/>
          <p:nvPr/>
        </p:nvSpPr>
        <p:spPr>
          <a:xfrm>
            <a:off x="8176108" y="4535424"/>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US$18</a:t>
            </a:r>
          </a:p>
        </p:txBody>
      </p:sp>
      <p:sp>
        <p:nvSpPr>
          <p:cNvPr id="126" name="TextBox 125"/>
          <p:cNvSpPr txBox="1"/>
          <p:nvPr/>
        </p:nvSpPr>
        <p:spPr>
          <a:xfrm>
            <a:off x="8176108"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average monthly contribution, range US$0.09 to 470 [4]</a:t>
            </a:r>
          </a:p>
        </p:txBody>
      </p:sp>
      <p:sp>
        <p:nvSpPr>
          <p:cNvPr id="127" name="TextBox 12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5</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runs the committee system; Mashreq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6</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Halqa</a:t>
            </a:r>
          </a:p>
          <a:p>
            <a:pPr algn="ctr">
              <a:lnSpc>
                <a:spcPct val="102000"/>
              </a:lnSpc>
              <a:spcBef>
                <a:spcPts val="200"/>
              </a:spcBef>
            </a:pPr>
            <a:r>
              <a:rPr sz="1050">
                <a:solidFill>
                  <a:srgbClr val="4B5563"/>
                </a:solidFill>
                <a:latin typeface="Arial"/>
              </a:rPr>
              <a:t>committee system: rules, turns, checks, records</a:t>
            </a:r>
          </a:p>
        </p:txBody>
      </p:sp>
      <p:sp>
        <p:nvSpPr>
          <p:cNvPr id="7" name="Rectangle 6"/>
          <p:cNvSpPr/>
          <p:nvPr/>
        </p:nvSpPr>
        <p:spPr>
          <a:xfrm>
            <a:off x="2926080" y="3291840"/>
            <a:ext cx="2514600" cy="86868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50" b="1">
                <a:solidFill>
                  <a:srgbClr val="0C1408"/>
                </a:solidFill>
                <a:latin typeface="Arial"/>
              </a:rPr>
              <a:t>Mashreq Bank Pakistan</a:t>
            </a:r>
          </a:p>
          <a:p>
            <a:pPr algn="ctr">
              <a:lnSpc>
                <a:spcPct val="102000"/>
              </a:lnSpc>
              <a:spcBef>
                <a:spcPts val="200"/>
              </a:spcBef>
            </a:pPr>
            <a:r>
              <a:rPr sz="1050">
                <a:solidFill>
                  <a:srgbClr val="4B5563"/>
                </a:solidFill>
                <a:latin typeface="Arial"/>
              </a:rPr>
              <a:t>accounts, collection, payouts, profit</a:t>
            </a:r>
          </a:p>
        </p:txBody>
      </p:sp>
      <p:sp>
        <p:nvSpPr>
          <p:cNvPr id="8" name="Rectangle 7"/>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4B5563"/>
                </a:solidFill>
                <a:latin typeface="Arial"/>
              </a:rPr>
              <a:t>each with a Mashreq account</a:t>
            </a:r>
          </a:p>
        </p:txBody>
      </p:sp>
      <p:sp>
        <p:nvSpPr>
          <p:cNvPr id="9" name="Rectangle 8"/>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4B5563"/>
                </a:solidFill>
                <a:latin typeface="Arial"/>
              </a:rPr>
              <a:t>wallet and card payments</a:t>
            </a:r>
          </a:p>
        </p:txBody>
      </p:sp>
      <p:sp>
        <p:nvSpPr>
          <p:cNvPr id="10" name="Rectangle 9"/>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 operator</a:t>
            </a:r>
          </a:p>
          <a:p>
            <a:pPr algn="ctr">
              <a:lnSpc>
                <a:spcPct val="102000"/>
              </a:lnSpc>
              <a:spcBef>
                <a:spcPts val="200"/>
              </a:spcBef>
            </a:pPr>
            <a:r>
              <a:rPr sz="1050">
                <a:solidFill>
                  <a:srgbClr val="4B5563"/>
                </a:solidFill>
                <a:latin typeface="Arial"/>
              </a:rPr>
              <a:t>pays claims</a:t>
            </a:r>
          </a:p>
        </p:txBody>
      </p:sp>
      <p:sp>
        <p:nvSpPr>
          <p:cNvPr id="11" name="Rectangle 10"/>
          <p:cNvSpPr/>
          <p:nvPr/>
        </p:nvSpPr>
        <p:spPr>
          <a:xfrm>
            <a:off x="2926080" y="5029200"/>
            <a:ext cx="2514600" cy="6400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TASDEEQ</a:t>
            </a:r>
          </a:p>
          <a:p>
            <a:pPr algn="ctr">
              <a:lnSpc>
                <a:spcPct val="102000"/>
              </a:lnSpc>
              <a:spcBef>
                <a:spcPts val="200"/>
              </a:spcBef>
            </a:pPr>
            <a:r>
              <a:rPr sz="1050">
                <a:solidFill>
                  <a:srgbClr val="4B5563"/>
                </a:solidFill>
                <a:latin typeface="Arial"/>
              </a:rPr>
              <a:t>licensed credit bureau</a:t>
            </a:r>
          </a:p>
        </p:txBody>
      </p:sp>
      <p:cxnSp>
        <p:nvCxnSpPr>
          <p:cNvPr id="12" name="Connector 11"/>
          <p:cNvCxnSpPr/>
          <p:nvPr/>
        </p:nvCxnSpPr>
        <p:spPr>
          <a:xfrm>
            <a:off x="2148840" y="3502152"/>
            <a:ext cx="777240" cy="0"/>
          </a:xfrm>
          <a:prstGeom prst="line">
            <a:avLst/>
          </a:prstGeom>
          <a:ln w="38100">
            <a:solidFill>
              <a:srgbClr val="2A78D6"/>
            </a:solidFill>
            <a:tailEnd type="triangle" w="med" len="med"/>
          </a:ln>
        </p:spPr>
      </p:cxnSp>
      <p:sp>
        <p:nvSpPr>
          <p:cNvPr id="13" name="TextBox 12"/>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instalments</a:t>
            </a:r>
          </a:p>
        </p:txBody>
      </p:sp>
      <p:cxnSp>
        <p:nvCxnSpPr>
          <p:cNvPr id="14" name="Connector 13"/>
          <p:cNvCxnSpPr/>
          <p:nvPr/>
        </p:nvCxnSpPr>
        <p:spPr>
          <a:xfrm flipH="1">
            <a:off x="2148840" y="3931920"/>
            <a:ext cx="777240" cy="0"/>
          </a:xfrm>
          <a:prstGeom prst="line">
            <a:avLst/>
          </a:prstGeom>
          <a:ln w="38100">
            <a:solidFill>
              <a:srgbClr val="2A78D6"/>
            </a:solidFill>
            <a:tailEnd type="triangle" w="med" len="med"/>
          </a:ln>
        </p:spPr>
      </p:cxnSp>
      <p:sp>
        <p:nvSpPr>
          <p:cNvPr id="15" name="TextBox 14"/>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pots</a:t>
            </a:r>
          </a:p>
        </p:txBody>
      </p:sp>
      <p:cxnSp>
        <p:nvCxnSpPr>
          <p:cNvPr id="16" name="Connector 15"/>
          <p:cNvCxnSpPr/>
          <p:nvPr/>
        </p:nvCxnSpPr>
        <p:spPr>
          <a:xfrm flipH="1">
            <a:off x="5440680" y="3721608"/>
            <a:ext cx="685800" cy="0"/>
          </a:xfrm>
          <a:prstGeom prst="line">
            <a:avLst/>
          </a:prstGeom>
          <a:ln w="38100">
            <a:solidFill>
              <a:srgbClr val="2A78D6"/>
            </a:solidFill>
            <a:tailEnd type="triangle" w="med" len="med"/>
          </a:ln>
        </p:spPr>
      </p:cxnSp>
      <p:sp>
        <p:nvSpPr>
          <p:cNvPr id="17" name="TextBox 16"/>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payments</a:t>
            </a:r>
          </a:p>
        </p:txBody>
      </p:sp>
      <p:sp>
        <p:nvSpPr>
          <p:cNvPr id="18" name="Freeform 17"/>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19" name="TextBox 18"/>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contributions</a:t>
            </a:r>
          </a:p>
        </p:txBody>
      </p:sp>
      <p:sp>
        <p:nvSpPr>
          <p:cNvPr id="20" name="Freeform 19"/>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1" name="TextBox 20"/>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4B5563"/>
                </a:solidFill>
                <a:latin typeface="Arial"/>
              </a:rPr>
              <a:t>claims paid to members left short</a:t>
            </a:r>
          </a:p>
        </p:txBody>
      </p:sp>
      <p:cxnSp>
        <p:nvCxnSpPr>
          <p:cNvPr id="22" name="Connector 21"/>
          <p:cNvCxnSpPr/>
          <p:nvPr/>
        </p:nvCxnSpPr>
        <p:spPr>
          <a:xfrm>
            <a:off x="3886200" y="2377440"/>
            <a:ext cx="0" cy="914400"/>
          </a:xfrm>
          <a:prstGeom prst="line">
            <a:avLst/>
          </a:prstGeom>
          <a:ln w="19050">
            <a:solidFill>
              <a:srgbClr val="41801A"/>
            </a:solidFill>
            <a:tailEnd type="triangle" w="med" len="med"/>
          </a:ln>
        </p:spPr>
      </p:cxnSp>
      <p:sp>
        <p:nvSpPr>
          <p:cNvPr id="23" name="TextBox 22"/>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instructions</a:t>
            </a:r>
          </a:p>
        </p:txBody>
      </p:sp>
      <p:cxnSp>
        <p:nvCxnSpPr>
          <p:cNvPr id="24" name="Connector 23"/>
          <p:cNvCxnSpPr/>
          <p:nvPr/>
        </p:nvCxnSpPr>
        <p:spPr>
          <a:xfrm flipV="1">
            <a:off x="4526280" y="2377440"/>
            <a:ext cx="0" cy="914400"/>
          </a:xfrm>
          <a:prstGeom prst="line">
            <a:avLst/>
          </a:prstGeom>
          <a:ln w="15875">
            <a:solidFill>
              <a:srgbClr val="4B5563"/>
            </a:solidFill>
            <a:prstDash val="dash"/>
            <a:tailEnd type="triangle" w="med" len="med"/>
          </a:ln>
        </p:spPr>
      </p:cxnSp>
      <p:sp>
        <p:nvSpPr>
          <p:cNvPr id="25" name="TextBox 24"/>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4B5563"/>
                </a:solidFill>
                <a:latin typeface="Arial"/>
              </a:rPr>
              <a:t>confirmations</a:t>
            </a:r>
          </a:p>
        </p:txBody>
      </p:sp>
      <p:sp>
        <p:nvSpPr>
          <p:cNvPr id="26" name="Freeform 25"/>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27" name="TextBox 26"/>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requests</a:t>
            </a:r>
          </a:p>
        </p:txBody>
      </p:sp>
      <p:sp>
        <p:nvSpPr>
          <p:cNvPr id="28" name="Freeform 27"/>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29" name="TextBox 28"/>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join, consent, pay in the app</a:t>
            </a:r>
          </a:p>
        </p:txBody>
      </p:sp>
      <p:cxnSp>
        <p:nvCxnSpPr>
          <p:cNvPr id="30" name="Connector 29"/>
          <p:cNvCxnSpPr/>
          <p:nvPr/>
        </p:nvCxnSpPr>
        <p:spPr>
          <a:xfrm>
            <a:off x="4178808" y="4160520"/>
            <a:ext cx="0" cy="868680"/>
          </a:xfrm>
          <a:prstGeom prst="line">
            <a:avLst/>
          </a:prstGeom>
          <a:ln w="15875">
            <a:solidFill>
              <a:srgbClr val="4B5563"/>
            </a:solidFill>
            <a:prstDash val="dash"/>
            <a:tailEnd type="triangle" w="med" len="med"/>
          </a:ln>
        </p:spPr>
      </p:cxnSp>
      <p:sp>
        <p:nvSpPr>
          <p:cNvPr id="31" name="TextBox 30"/>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records</a:t>
            </a:r>
          </a:p>
        </p:txBody>
      </p:sp>
      <p:sp>
        <p:nvSpPr>
          <p:cNvPr id="32" name="Rectangle 31"/>
          <p:cNvSpPr/>
          <p:nvPr/>
        </p:nvSpPr>
        <p:spPr>
          <a:xfrm>
            <a:off x="8229600" y="1636776"/>
            <a:ext cx="155448" cy="155448"/>
          </a:xfrm>
          <a:prstGeom prst="rect">
            <a:avLst/>
          </a:prstGeom>
          <a:solidFill>
            <a:srgbClr val="6DC72A"/>
          </a:solidFill>
          <a:ln>
            <a:noFill/>
          </a:ln>
        </p:spPr>
        <p:txBody>
          <a:bodyPr rtlCol="0" anchor="ctr"/>
          <a:lstStyle/>
          <a:p>
            <a:pPr algn="ctr"/>
          </a:p>
        </p:txBody>
      </p:sp>
      <p:sp>
        <p:nvSpPr>
          <p:cNvPr id="33" name="TextBox 32"/>
          <p:cNvSpPr txBox="1"/>
          <p:nvPr/>
        </p:nvSpPr>
        <p:spPr>
          <a:xfrm>
            <a:off x="8476488" y="1572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a:t>
            </a:r>
          </a:p>
        </p:txBody>
      </p:sp>
      <p:sp>
        <p:nvSpPr>
          <p:cNvPr id="34" name="TextBox 33"/>
          <p:cNvSpPr txBox="1"/>
          <p:nvPr/>
        </p:nvSpPr>
        <p:spPr>
          <a:xfrm>
            <a:off x="8247888" y="1883664"/>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sp>
        <p:nvSpPr>
          <p:cNvPr id="35" name="Rectangle 34"/>
          <p:cNvSpPr/>
          <p:nvPr/>
        </p:nvSpPr>
        <p:spPr>
          <a:xfrm>
            <a:off x="8229600" y="3351276"/>
            <a:ext cx="155448" cy="155448"/>
          </a:xfrm>
          <a:prstGeom prst="rect">
            <a:avLst/>
          </a:prstGeom>
          <a:solidFill>
            <a:srgbClr val="D8602A"/>
          </a:solidFill>
          <a:ln>
            <a:noFill/>
          </a:ln>
        </p:spPr>
        <p:txBody>
          <a:bodyPr rtlCol="0" anchor="ctr"/>
          <a:lstStyle/>
          <a:p>
            <a:pPr algn="ctr"/>
          </a:p>
        </p:txBody>
      </p:sp>
      <p:sp>
        <p:nvSpPr>
          <p:cNvPr id="36" name="TextBox 35"/>
          <p:cNvSpPr txBox="1"/>
          <p:nvPr/>
        </p:nvSpPr>
        <p:spPr>
          <a:xfrm>
            <a:off x="8476488" y="32872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Mashreq</a:t>
            </a:r>
          </a:p>
        </p:txBody>
      </p:sp>
      <p:sp>
        <p:nvSpPr>
          <p:cNvPr id="37" name="TextBox 36"/>
          <p:cNvSpPr txBox="1"/>
          <p:nvPr/>
        </p:nvSpPr>
        <p:spPr>
          <a:xfrm>
            <a:off x="8247888" y="3598164"/>
            <a:ext cx="3413455" cy="1234440"/>
          </a:xfrm>
          <a:prstGeom prst="rect">
            <a:avLst/>
          </a:prstGeom>
          <a:noFill/>
        </p:spPr>
        <p:txBody>
          <a:bodyPr wrap="square" lIns="0" tIns="0" rIns="0" bIns="0">
            <a:spAutoFit/>
          </a:bodyPr>
          <a:lstStyle/>
          <a:p>
            <a:pPr marL="173736" indent="-173736">
              <a:lnSpc>
                <a:spcPct val="100000"/>
              </a:lnSpc>
              <a:spcAft>
                <a:spcPts val="150"/>
              </a:spcAft>
              <a:buClr>
                <a:srgbClr val="D8602A"/>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Direct debit mandate and collection</a:t>
            </a:r>
          </a:p>
          <a:p>
            <a:pPr marL="173736" indent="-173736">
              <a:lnSpc>
                <a:spcPct val="100000"/>
              </a:lnSpc>
              <a:spcAft>
                <a:spcPts val="150"/>
              </a:spcAft>
              <a:buClr>
                <a:srgbClr val="D8602A"/>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D8602A"/>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Collecting the fee</a:t>
            </a:r>
          </a:p>
        </p:txBody>
      </p:sp>
      <p:sp>
        <p:nvSpPr>
          <p:cNvPr id="38" name="Rectangle 37"/>
          <p:cNvSpPr/>
          <p:nvPr/>
        </p:nvSpPr>
        <p:spPr>
          <a:xfrm>
            <a:off x="8229600" y="5065776"/>
            <a:ext cx="155448" cy="155448"/>
          </a:xfrm>
          <a:prstGeom prst="rect">
            <a:avLst/>
          </a:prstGeom>
          <a:solidFill>
            <a:srgbClr val="D64545"/>
          </a:solidFill>
          <a:ln>
            <a:noFill/>
          </a:ln>
        </p:spPr>
        <p:txBody>
          <a:bodyPr rtlCol="0" anchor="ctr"/>
          <a:lstStyle/>
          <a:p>
            <a:pPr algn="ctr"/>
          </a:p>
        </p:txBody>
      </p:sp>
      <p:sp>
        <p:nvSpPr>
          <p:cNvPr id="39" name="TextBox 38"/>
          <p:cNvSpPr txBox="1"/>
          <p:nvPr/>
        </p:nvSpPr>
        <p:spPr>
          <a:xfrm>
            <a:off x="8476488" y="5001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never</a:t>
            </a:r>
          </a:p>
        </p:txBody>
      </p:sp>
      <p:sp>
        <p:nvSpPr>
          <p:cNvPr id="40" name="TextBox 39"/>
          <p:cNvSpPr txBox="1"/>
          <p:nvPr/>
        </p:nvSpPr>
        <p:spPr>
          <a:xfrm>
            <a:off x="8247888" y="5312664"/>
            <a:ext cx="3413455" cy="777240"/>
          </a:xfrm>
          <a:prstGeom prst="rect">
            <a:avLst/>
          </a:prstGeom>
          <a:noFill/>
        </p:spPr>
        <p:txBody>
          <a:bodyPr wrap="square" lIns="0" tIns="0" rIns="0" bIns="0">
            <a:spAutoFit/>
          </a:bodyPr>
          <a:lstStyle/>
          <a:p>
            <a:pPr marL="173736" indent="-173736">
              <a:lnSpc>
                <a:spcPct val="100000"/>
              </a:lnSpc>
              <a:spcAft>
                <a:spcPts val="150"/>
              </a:spcAft>
              <a:buClr>
                <a:srgbClr val="D64545"/>
              </a:buClr>
              <a:buSzPct val="70000"/>
              <a:buFont typeface="Arial"/>
              <a:buChar char="■"/>
            </a:pPr>
            <a:r>
              <a:rPr sz="1100">
                <a:solidFill>
                  <a:srgbClr val="0C1408"/>
                </a:solidFill>
                <a:latin typeface="Arial"/>
              </a:rPr>
              <a:t>Holds or receives member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Lends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Insures members</a:t>
            </a:r>
          </a:p>
        </p:txBody>
      </p:sp>
      <p:cxnSp>
        <p:nvCxnSpPr>
          <p:cNvPr id="41" name="Connector 40"/>
          <p:cNvCxnSpPr/>
          <p:nvPr/>
        </p:nvCxnSpPr>
        <p:spPr>
          <a:xfrm>
            <a:off x="548640" y="6153912"/>
            <a:ext cx="384048" cy="0"/>
          </a:xfrm>
          <a:prstGeom prst="line">
            <a:avLst/>
          </a:prstGeom>
          <a:ln w="38100">
            <a:solidFill>
              <a:srgbClr val="2A78D6"/>
            </a:solidFill>
            <a:tailEnd type="triangle" w="med" len="med"/>
          </a:ln>
        </p:spPr>
      </p:cxnSp>
      <p:sp>
        <p:nvSpPr>
          <p:cNvPr id="42" name="TextBox 41"/>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3" name="Connector 42"/>
          <p:cNvCxnSpPr/>
          <p:nvPr/>
        </p:nvCxnSpPr>
        <p:spPr>
          <a:xfrm>
            <a:off x="1737360" y="6153912"/>
            <a:ext cx="384048" cy="0"/>
          </a:xfrm>
          <a:prstGeom prst="line">
            <a:avLst/>
          </a:prstGeom>
          <a:ln w="19050">
            <a:solidFill>
              <a:srgbClr val="41801A"/>
            </a:solidFill>
            <a:tailEnd type="triangle" w="med" len="med"/>
          </a:ln>
        </p:spPr>
      </p:cxnSp>
      <p:sp>
        <p:nvSpPr>
          <p:cNvPr id="44" name="TextBox 43"/>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5" name="Connector 44"/>
          <p:cNvCxnSpPr/>
          <p:nvPr/>
        </p:nvCxnSpPr>
        <p:spPr>
          <a:xfrm>
            <a:off x="3321101" y="6153912"/>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7</a:t>
            </a:r>
          </a:p>
        </p:txBody>
      </p:sp>
      <p:sp>
        <p:nvSpPr>
          <p:cNvPr id="6" name="Rectangle 5"/>
          <p:cNvSpPr/>
          <p:nvPr/>
        </p:nvSpPr>
        <p:spPr>
          <a:xfrm>
            <a:off x="539496" y="1517904"/>
            <a:ext cx="1572768" cy="54864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a:t>
            </a:r>
          </a:p>
          <a:p>
            <a:pPr algn="ctr">
              <a:lnSpc>
                <a:spcPct val="102000"/>
              </a:lnSpc>
              <a:spcBef>
                <a:spcPts val="200"/>
              </a:spcBef>
            </a:pPr>
            <a:r>
              <a:rPr sz="900">
                <a:solidFill>
                  <a:srgbClr val="4B5563"/>
                </a:solidFill>
                <a:latin typeface="Arial"/>
              </a:rPr>
              <a:t>own Mashreq account</a:t>
            </a:r>
          </a:p>
        </p:txBody>
      </p:sp>
      <p:cxnSp>
        <p:nvCxnSpPr>
          <p:cNvPr id="7" name="Connector 6"/>
          <p:cNvCxnSpPr/>
          <p:nvPr/>
        </p:nvCxnSpPr>
        <p:spPr>
          <a:xfrm>
            <a:off x="1325880" y="2066544"/>
            <a:ext cx="0" cy="3785616"/>
          </a:xfrm>
          <a:prstGeom prst="line">
            <a:avLst/>
          </a:prstGeom>
          <a:ln w="12700">
            <a:solidFill>
              <a:srgbClr val="D1D5DB"/>
            </a:solidFill>
            <a:prstDash val="dash"/>
          </a:ln>
        </p:spPr>
      </p:cxnSp>
      <p:sp>
        <p:nvSpPr>
          <p:cNvPr id="8" name="Rectangle 7"/>
          <p:cNvSpPr/>
          <p:nvPr/>
        </p:nvSpPr>
        <p:spPr>
          <a:xfrm>
            <a:off x="2551176" y="1517904"/>
            <a:ext cx="1572768" cy="5486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a:t>
            </a:r>
          </a:p>
          <a:p>
            <a:pPr algn="ctr">
              <a:lnSpc>
                <a:spcPct val="102000"/>
              </a:lnSpc>
              <a:spcBef>
                <a:spcPts val="200"/>
              </a:spcBef>
            </a:pPr>
            <a:r>
              <a:rPr sz="900">
                <a:solidFill>
                  <a:srgbClr val="4B5563"/>
                </a:solidFill>
                <a:latin typeface="Arial"/>
              </a:rPr>
              <a:t>application, records</a:t>
            </a:r>
          </a:p>
        </p:txBody>
      </p:sp>
      <p:cxnSp>
        <p:nvCxnSpPr>
          <p:cNvPr id="9" name="Connector 8"/>
          <p:cNvCxnSpPr/>
          <p:nvPr/>
        </p:nvCxnSpPr>
        <p:spPr>
          <a:xfrm>
            <a:off x="3337560" y="2066544"/>
            <a:ext cx="0" cy="3785616"/>
          </a:xfrm>
          <a:prstGeom prst="line">
            <a:avLst/>
          </a:prstGeom>
          <a:ln w="12700">
            <a:solidFill>
              <a:srgbClr val="D1D5DB"/>
            </a:solidFill>
            <a:prstDash val="dash"/>
          </a:ln>
        </p:spPr>
      </p:cxnSp>
      <p:sp>
        <p:nvSpPr>
          <p:cNvPr id="10" name="Rectangle 9"/>
          <p:cNvSpPr/>
          <p:nvPr/>
        </p:nvSpPr>
        <p:spPr>
          <a:xfrm>
            <a:off x="4608576" y="1517904"/>
            <a:ext cx="1572768" cy="54864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Mashreq</a:t>
            </a:r>
          </a:p>
          <a:p>
            <a:pPr algn="ctr">
              <a:lnSpc>
                <a:spcPct val="102000"/>
              </a:lnSpc>
              <a:spcBef>
                <a:spcPts val="200"/>
              </a:spcBef>
            </a:pPr>
            <a:r>
              <a:rPr sz="900">
                <a:solidFill>
                  <a:srgbClr val="4B5563"/>
                </a:solidFill>
                <a:latin typeface="Arial"/>
              </a:rPr>
              <a:t>accounts, payments</a:t>
            </a:r>
          </a:p>
        </p:txBody>
      </p:sp>
      <p:cxnSp>
        <p:nvCxnSpPr>
          <p:cNvPr id="11" name="Connector 10"/>
          <p:cNvCxnSpPr/>
          <p:nvPr/>
        </p:nvCxnSpPr>
        <p:spPr>
          <a:xfrm>
            <a:off x="5394960" y="2066544"/>
            <a:ext cx="0" cy="3785616"/>
          </a:xfrm>
          <a:prstGeom prst="line">
            <a:avLst/>
          </a:prstGeom>
          <a:ln w="12700">
            <a:solidFill>
              <a:srgbClr val="D1D5DB"/>
            </a:solidFill>
            <a:prstDash val="dash"/>
          </a:ln>
        </p:spPr>
      </p:cxnSp>
      <p:sp>
        <p:nvSpPr>
          <p:cNvPr id="12" name="Rectangle 11"/>
          <p:cNvSpPr/>
          <p:nvPr/>
        </p:nvSpPr>
        <p:spPr>
          <a:xfrm>
            <a:off x="6574536" y="1517904"/>
            <a:ext cx="1572768" cy="54864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150" b="1">
                <a:solidFill>
                  <a:srgbClr val="0C1408"/>
                </a:solidFill>
                <a:latin typeface="Arial"/>
              </a:rPr>
              <a:t>TASDEEQ</a:t>
            </a:r>
          </a:p>
          <a:p>
            <a:pPr algn="ctr">
              <a:lnSpc>
                <a:spcPct val="102000"/>
              </a:lnSpc>
              <a:spcBef>
                <a:spcPts val="200"/>
              </a:spcBef>
            </a:pPr>
            <a:r>
              <a:rPr sz="900">
                <a:solidFill>
                  <a:srgbClr val="4B5563"/>
                </a:solidFill>
                <a:latin typeface="Arial"/>
              </a:rPr>
              <a:t>credit bureau</a:t>
            </a:r>
          </a:p>
        </p:txBody>
      </p:sp>
      <p:cxnSp>
        <p:nvCxnSpPr>
          <p:cNvPr id="13" name="Connector 12"/>
          <p:cNvCxnSpPr/>
          <p:nvPr/>
        </p:nvCxnSpPr>
        <p:spPr>
          <a:xfrm>
            <a:off x="7360920" y="2066544"/>
            <a:ext cx="0" cy="3785616"/>
          </a:xfrm>
          <a:prstGeom prst="line">
            <a:avLst/>
          </a:prstGeom>
          <a:ln w="12700">
            <a:solidFill>
              <a:srgbClr val="D1D5DB"/>
            </a:solidFill>
            <a:prstDash val="dash"/>
          </a:ln>
        </p:spPr>
      </p:cxnSp>
      <p:sp>
        <p:nvSpPr>
          <p:cNvPr id="14" name="TextBox 13"/>
          <p:cNvSpPr txBox="1"/>
          <p:nvPr/>
        </p:nvSpPr>
        <p:spPr>
          <a:xfrm>
            <a:off x="548640" y="2286000"/>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1</a:t>
            </a:r>
          </a:p>
        </p:txBody>
      </p:sp>
      <p:cxnSp>
        <p:nvCxnSpPr>
          <p:cNvPr id="15" name="Connector 14"/>
          <p:cNvCxnSpPr/>
          <p:nvPr/>
        </p:nvCxnSpPr>
        <p:spPr>
          <a:xfrm>
            <a:off x="1325880" y="2468880"/>
            <a:ext cx="2011680" cy="0"/>
          </a:xfrm>
          <a:prstGeom prst="line">
            <a:avLst/>
          </a:prstGeom>
          <a:ln w="19050">
            <a:solidFill>
              <a:srgbClr val="41801A"/>
            </a:solidFill>
            <a:tailEnd type="triangle" w="med" len="med"/>
          </a:ln>
        </p:spPr>
      </p:cxnSp>
      <p:sp>
        <p:nvSpPr>
          <p:cNvPr id="16" name="TextBox 15"/>
          <p:cNvSpPr txBox="1"/>
          <p:nvPr/>
        </p:nvSpPr>
        <p:spPr>
          <a:xfrm>
            <a:off x="1380744" y="2212848"/>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17" name="TextBox 16"/>
          <p:cNvSpPr txBox="1"/>
          <p:nvPr/>
        </p:nvSpPr>
        <p:spPr>
          <a:xfrm>
            <a:off x="548640" y="267919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2</a:t>
            </a:r>
          </a:p>
        </p:txBody>
      </p:sp>
      <p:cxnSp>
        <p:nvCxnSpPr>
          <p:cNvPr id="18" name="Connector 17"/>
          <p:cNvCxnSpPr/>
          <p:nvPr/>
        </p:nvCxnSpPr>
        <p:spPr>
          <a:xfrm>
            <a:off x="3337560" y="2862072"/>
            <a:ext cx="2057400" cy="0"/>
          </a:xfrm>
          <a:prstGeom prst="line">
            <a:avLst/>
          </a:prstGeom>
          <a:ln w="19050">
            <a:solidFill>
              <a:srgbClr val="41801A"/>
            </a:solidFill>
            <a:tailEnd type="triangle" w="med" len="med"/>
          </a:ln>
        </p:spPr>
      </p:cxnSp>
      <p:sp>
        <p:nvSpPr>
          <p:cNvPr id="19" name="TextBox 18"/>
          <p:cNvSpPr txBox="1"/>
          <p:nvPr/>
        </p:nvSpPr>
        <p:spPr>
          <a:xfrm>
            <a:off x="3392424" y="26060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mandate</a:t>
            </a:r>
          </a:p>
        </p:txBody>
      </p:sp>
      <p:sp>
        <p:nvSpPr>
          <p:cNvPr id="20" name="TextBox 19"/>
          <p:cNvSpPr txBox="1"/>
          <p:nvPr/>
        </p:nvSpPr>
        <p:spPr>
          <a:xfrm>
            <a:off x="548640" y="3072384"/>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3</a:t>
            </a:r>
          </a:p>
        </p:txBody>
      </p:sp>
      <p:cxnSp>
        <p:nvCxnSpPr>
          <p:cNvPr id="21" name="Connector 20"/>
          <p:cNvCxnSpPr/>
          <p:nvPr/>
        </p:nvCxnSpPr>
        <p:spPr>
          <a:xfrm flipH="1">
            <a:off x="1325880" y="3255264"/>
            <a:ext cx="2011680" cy="0"/>
          </a:xfrm>
          <a:prstGeom prst="line">
            <a:avLst/>
          </a:prstGeom>
          <a:ln w="19050">
            <a:solidFill>
              <a:srgbClr val="41801A"/>
            </a:solidFill>
            <a:tailEnd type="triangle" w="med" len="med"/>
          </a:ln>
        </p:spPr>
      </p:cxnSp>
      <p:sp>
        <p:nvSpPr>
          <p:cNvPr id="22" name="TextBox 21"/>
          <p:cNvSpPr txBox="1"/>
          <p:nvPr/>
        </p:nvSpPr>
        <p:spPr>
          <a:xfrm>
            <a:off x="1380744" y="2999232"/>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3" name="TextBox 22"/>
          <p:cNvSpPr txBox="1"/>
          <p:nvPr/>
        </p:nvSpPr>
        <p:spPr>
          <a:xfrm>
            <a:off x="548640" y="3465576"/>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4</a:t>
            </a:r>
          </a:p>
        </p:txBody>
      </p:sp>
      <p:cxnSp>
        <p:nvCxnSpPr>
          <p:cNvPr id="24" name="Connector 23"/>
          <p:cNvCxnSpPr/>
          <p:nvPr/>
        </p:nvCxnSpPr>
        <p:spPr>
          <a:xfrm>
            <a:off x="3337560" y="3648456"/>
            <a:ext cx="2057400" cy="0"/>
          </a:xfrm>
          <a:prstGeom prst="line">
            <a:avLst/>
          </a:prstGeom>
          <a:ln w="19050">
            <a:solidFill>
              <a:srgbClr val="41801A"/>
            </a:solidFill>
            <a:tailEnd type="triangle" w="med" len="med"/>
          </a:ln>
        </p:spPr>
      </p:cxnSp>
      <p:sp>
        <p:nvSpPr>
          <p:cNvPr id="25" name="TextBox 24"/>
          <p:cNvSpPr txBox="1"/>
          <p:nvPr/>
        </p:nvSpPr>
        <p:spPr>
          <a:xfrm>
            <a:off x="3392424" y="3392424"/>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26" name="TextBox 25"/>
          <p:cNvSpPr txBox="1"/>
          <p:nvPr/>
        </p:nvSpPr>
        <p:spPr>
          <a:xfrm>
            <a:off x="548640" y="3858768"/>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5</a:t>
            </a:r>
          </a:p>
        </p:txBody>
      </p:sp>
      <p:cxnSp>
        <p:nvCxnSpPr>
          <p:cNvPr id="27" name="Connector 26"/>
          <p:cNvCxnSpPr/>
          <p:nvPr/>
        </p:nvCxnSpPr>
        <p:spPr>
          <a:xfrm>
            <a:off x="1325880" y="4041648"/>
            <a:ext cx="4069080" cy="0"/>
          </a:xfrm>
          <a:prstGeom prst="line">
            <a:avLst/>
          </a:prstGeom>
          <a:ln w="38100">
            <a:solidFill>
              <a:srgbClr val="2A78D6"/>
            </a:solidFill>
            <a:tailEnd type="triangle" w="med" len="med"/>
          </a:ln>
        </p:spPr>
      </p:cxnSp>
      <p:sp>
        <p:nvSpPr>
          <p:cNvPr id="28" name="TextBox 27"/>
          <p:cNvSpPr txBox="1"/>
          <p:nvPr/>
        </p:nvSpPr>
        <p:spPr>
          <a:xfrm>
            <a:off x="1380744" y="3785616"/>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29" name="TextBox 28"/>
          <p:cNvSpPr txBox="1"/>
          <p:nvPr/>
        </p:nvSpPr>
        <p:spPr>
          <a:xfrm>
            <a:off x="548640" y="4251960"/>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6</a:t>
            </a:r>
          </a:p>
        </p:txBody>
      </p:sp>
      <p:cxnSp>
        <p:nvCxnSpPr>
          <p:cNvPr id="30" name="Connector 29"/>
          <p:cNvCxnSpPr/>
          <p:nvPr/>
        </p:nvCxnSpPr>
        <p:spPr>
          <a:xfrm>
            <a:off x="3337560" y="4434840"/>
            <a:ext cx="2057400" cy="0"/>
          </a:xfrm>
          <a:prstGeom prst="line">
            <a:avLst/>
          </a:prstGeom>
          <a:ln w="19050">
            <a:solidFill>
              <a:srgbClr val="41801A"/>
            </a:solidFill>
            <a:tailEnd type="triangle" w="med" len="med"/>
          </a:ln>
        </p:spPr>
      </p:cxnSp>
      <p:sp>
        <p:nvSpPr>
          <p:cNvPr id="31" name="TextBox 30"/>
          <p:cNvSpPr txBox="1"/>
          <p:nvPr/>
        </p:nvSpPr>
        <p:spPr>
          <a:xfrm>
            <a:off x="3392424" y="4178808"/>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2" name="TextBox 31"/>
          <p:cNvSpPr txBox="1"/>
          <p:nvPr/>
        </p:nvSpPr>
        <p:spPr>
          <a:xfrm>
            <a:off x="548640" y="464515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7</a:t>
            </a:r>
          </a:p>
        </p:txBody>
      </p:sp>
      <p:cxnSp>
        <p:nvCxnSpPr>
          <p:cNvPr id="33" name="Connector 32"/>
          <p:cNvCxnSpPr/>
          <p:nvPr/>
        </p:nvCxnSpPr>
        <p:spPr>
          <a:xfrm flipH="1">
            <a:off x="1325880" y="4828032"/>
            <a:ext cx="4069080" cy="0"/>
          </a:xfrm>
          <a:prstGeom prst="line">
            <a:avLst/>
          </a:prstGeom>
          <a:ln w="38100">
            <a:solidFill>
              <a:srgbClr val="2A78D6"/>
            </a:solidFill>
            <a:tailEnd type="triangle" w="med" len="med"/>
          </a:ln>
        </p:spPr>
      </p:cxnSp>
      <p:sp>
        <p:nvSpPr>
          <p:cNvPr id="34" name="TextBox 33"/>
          <p:cNvSpPr txBox="1"/>
          <p:nvPr/>
        </p:nvSpPr>
        <p:spPr>
          <a:xfrm>
            <a:off x="1380744" y="4572000"/>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35" name="TextBox 34"/>
          <p:cNvSpPr txBox="1"/>
          <p:nvPr/>
        </p:nvSpPr>
        <p:spPr>
          <a:xfrm>
            <a:off x="548640" y="5038344"/>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8</a:t>
            </a:r>
          </a:p>
        </p:txBody>
      </p:sp>
      <p:cxnSp>
        <p:nvCxnSpPr>
          <p:cNvPr id="36" name="Connector 35"/>
          <p:cNvCxnSpPr/>
          <p:nvPr/>
        </p:nvCxnSpPr>
        <p:spPr>
          <a:xfrm flipH="1">
            <a:off x="3337560" y="5221224"/>
            <a:ext cx="2057400" cy="0"/>
          </a:xfrm>
          <a:prstGeom prst="line">
            <a:avLst/>
          </a:prstGeom>
          <a:ln w="15875">
            <a:solidFill>
              <a:srgbClr val="4B5563"/>
            </a:solidFill>
            <a:prstDash val="dash"/>
            <a:tailEnd type="triangle" w="med" len="med"/>
          </a:ln>
        </p:spPr>
      </p:cxnSp>
      <p:sp>
        <p:nvSpPr>
          <p:cNvPr id="37" name="TextBox 36"/>
          <p:cNvSpPr txBox="1"/>
          <p:nvPr/>
        </p:nvSpPr>
        <p:spPr>
          <a:xfrm>
            <a:off x="3392424" y="4965192"/>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38" name="TextBox 37"/>
          <p:cNvSpPr txBox="1"/>
          <p:nvPr/>
        </p:nvSpPr>
        <p:spPr>
          <a:xfrm>
            <a:off x="548640" y="5431536"/>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9</a:t>
            </a:r>
          </a:p>
        </p:txBody>
      </p:sp>
      <p:cxnSp>
        <p:nvCxnSpPr>
          <p:cNvPr id="39" name="Connector 38"/>
          <p:cNvCxnSpPr/>
          <p:nvPr/>
        </p:nvCxnSpPr>
        <p:spPr>
          <a:xfrm>
            <a:off x="5394960" y="5614416"/>
            <a:ext cx="1965960" cy="0"/>
          </a:xfrm>
          <a:prstGeom prst="line">
            <a:avLst/>
          </a:prstGeom>
          <a:ln w="15875">
            <a:solidFill>
              <a:srgbClr val="4B5563"/>
            </a:solidFill>
            <a:prstDash val="dash"/>
            <a:tailEnd type="triangle" w="med" len="med"/>
          </a:ln>
        </p:spPr>
      </p:cxnSp>
      <p:sp>
        <p:nvSpPr>
          <p:cNvPr id="40" name="TextBox 39"/>
          <p:cNvSpPr txBox="1"/>
          <p:nvPr/>
        </p:nvSpPr>
        <p:spPr>
          <a:xfrm>
            <a:off x="5449824" y="5358384"/>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1" name="Rectangle 40"/>
          <p:cNvSpPr/>
          <p:nvPr/>
        </p:nvSpPr>
        <p:spPr>
          <a:xfrm>
            <a:off x="5559552" y="3712464"/>
            <a:ext cx="1645920" cy="457200"/>
          </a:xfrm>
          <a:prstGeom prst="rect">
            <a:avLst/>
          </a:prstGeom>
          <a:solidFill>
            <a:srgbClr val="FCEBC2"/>
          </a:solidFill>
          <a:ln>
            <a:noFill/>
          </a:ln>
        </p:spPr>
        <p:txBody>
          <a:bodyPr rtlCol="0" anchor="ctr" lIns="36576" tIns="27432" rIns="36576" bIns="27432" wrap="square"/>
          <a:lstStyle/>
          <a:p>
            <a:pPr algn="ctr">
              <a:lnSpc>
                <a:spcPct val="105000"/>
              </a:lnSpc>
            </a:pPr>
            <a:r>
              <a:rPr sz="850">
                <a:solidFill>
                  <a:srgbClr val="0C1408"/>
                </a:solidFill>
                <a:latin typeface="Arial"/>
              </a:rPr>
              <a:t>if a debit fails: a retry each morning, five at most</a:t>
            </a:r>
          </a:p>
        </p:txBody>
      </p:sp>
      <p:cxnSp>
        <p:nvCxnSpPr>
          <p:cNvPr id="42" name="Connector 41"/>
          <p:cNvCxnSpPr/>
          <p:nvPr/>
        </p:nvCxnSpPr>
        <p:spPr>
          <a:xfrm>
            <a:off x="548640" y="6135624"/>
            <a:ext cx="384048" cy="0"/>
          </a:xfrm>
          <a:prstGeom prst="line">
            <a:avLst/>
          </a:prstGeom>
          <a:ln w="38100">
            <a:solidFill>
              <a:srgbClr val="2A78D6"/>
            </a:solidFill>
            <a:tailEnd type="triangle" w="med" len="med"/>
          </a:ln>
        </p:spPr>
      </p:cxnSp>
      <p:sp>
        <p:nvSpPr>
          <p:cNvPr id="43" name="TextBox 42"/>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4" name="Connector 43"/>
          <p:cNvCxnSpPr/>
          <p:nvPr/>
        </p:nvCxnSpPr>
        <p:spPr>
          <a:xfrm>
            <a:off x="1737360" y="6135624"/>
            <a:ext cx="384048" cy="0"/>
          </a:xfrm>
          <a:prstGeom prst="line">
            <a:avLst/>
          </a:prstGeom>
          <a:ln w="19050">
            <a:solidFill>
              <a:srgbClr val="41801A"/>
            </a:solidFill>
            <a:tailEnd type="triangle" w="med" len="med"/>
          </a:ln>
        </p:spPr>
      </p:cxnSp>
      <p:sp>
        <p:nvSpPr>
          <p:cNvPr id="45" name="TextBox 44"/>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6" name="Connector 45"/>
          <p:cNvCxnSpPr/>
          <p:nvPr/>
        </p:nvCxnSpPr>
        <p:spPr>
          <a:xfrm>
            <a:off x="3321101" y="6135624"/>
            <a:ext cx="384048" cy="0"/>
          </a:xfrm>
          <a:prstGeom prst="line">
            <a:avLst/>
          </a:prstGeom>
          <a:ln w="15875">
            <a:solidFill>
              <a:srgbClr val="4B5563"/>
            </a:solidFill>
            <a:prstDash val="dash"/>
            <a:tailEnd type="triangle" w="med" len="med"/>
          </a:ln>
        </p:spPr>
      </p:cxnSp>
      <p:sp>
        <p:nvSpPr>
          <p:cNvPr id="47" name="TextBox 46"/>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pic>
        <p:nvPicPr>
          <p:cNvPr id="48" name="Picture 47" descr="m_mandate-framed.png"/>
          <p:cNvPicPr>
            <a:picLocks noChangeAspect="1"/>
          </p:cNvPicPr>
          <p:nvPr/>
        </p:nvPicPr>
        <p:blipFill>
          <a:blip r:embed="rId3"/>
          <a:stretch>
            <a:fillRect/>
          </a:stretch>
        </p:blipFill>
        <p:spPr>
          <a:xfrm>
            <a:off x="9374675" y="1481328"/>
            <a:ext cx="1306458" cy="2743200"/>
          </a:xfrm>
          <a:prstGeom prst="rect">
            <a:avLst/>
          </a:prstGeom>
        </p:spPr>
      </p:pic>
      <p:sp>
        <p:nvSpPr>
          <p:cNvPr id="49" name="Rectangle 48"/>
          <p:cNvSpPr/>
          <p:nvPr/>
        </p:nvSpPr>
        <p:spPr>
          <a:xfrm>
            <a:off x="8412480" y="4370832"/>
            <a:ext cx="3230575" cy="1801368"/>
          </a:xfrm>
          <a:prstGeom prst="rect">
            <a:avLst/>
          </a:prstGeom>
          <a:solidFill>
            <a:srgbClr val="F3F4F6"/>
          </a:solidFill>
          <a:ln>
            <a:noFill/>
          </a:ln>
        </p:spPr>
        <p:txBody>
          <a:bodyPr rtlCol="0" anchor="ctr"/>
          <a:lstStyle/>
          <a:p>
            <a:pPr algn="ctr"/>
          </a:p>
        </p:txBody>
      </p:sp>
      <p:sp>
        <p:nvSpPr>
          <p:cNvPr id="50" name="TextBox 49"/>
          <p:cNvSpPr txBox="1"/>
          <p:nvPr/>
        </p:nvSpPr>
        <p:spPr>
          <a:xfrm>
            <a:off x="8577072" y="4443984"/>
            <a:ext cx="295625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1" name="TextBox 50"/>
          <p:cNvSpPr txBox="1"/>
          <p:nvPr/>
        </p:nvSpPr>
        <p:spPr>
          <a:xfrm>
            <a:off x="8577072" y="4736592"/>
            <a:ext cx="2956255" cy="1188720"/>
          </a:xfrm>
          <a:prstGeom prst="rect">
            <a:avLst/>
          </a:prstGeom>
          <a:noFill/>
        </p:spPr>
        <p:txBody>
          <a:bodyPr wrap="square" lIns="0" tIns="0" rIns="0" bIns="0">
            <a:spAutoFit/>
          </a:bodyPr>
          <a:lstStyle/>
          <a:p>
            <a:pPr marL="173736" indent="-173736">
              <a:lnSpc>
                <a:spcPct val="100000"/>
              </a:lnSpc>
              <a:spcAft>
                <a:spcPts val="200"/>
              </a:spcAft>
              <a:buClr>
                <a:srgbClr val="D8602A"/>
              </a:buClr>
              <a:buSzPct val="70000"/>
              <a:buFont typeface="Arial"/>
              <a:buChar char="■"/>
            </a:pPr>
            <a:r>
              <a:rPr sz="1000" b="1">
                <a:solidFill>
                  <a:srgbClr val="0C1408"/>
                </a:solidFill>
                <a:latin typeface="Arial"/>
              </a:rPr>
              <a:t>Automatic debit: </a:t>
            </a:r>
            <a:r>
              <a:rPr sz="1000">
                <a:solidFill>
                  <a:srgbClr val="0C1408"/>
                </a:solidFill>
                <a:latin typeface="Arial"/>
              </a:rPr>
              <a:t>Mashreq direct debit mandate (new)</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One-tap approval: </a:t>
            </a:r>
            <a:r>
              <a:rPr sz="1000">
                <a:solidFill>
                  <a:srgbClr val="0C1408"/>
                </a:solidFill>
                <a:latin typeface="Arial"/>
              </a:rPr>
              <a:t>card, wallet or Raast</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Manual: </a:t>
            </a:r>
            <a:r>
              <a:rPr sz="1000">
                <a:solidFill>
                  <a:srgbClr val="0C1408"/>
                </a:solidFill>
                <a:latin typeface="Arial"/>
              </a:rPr>
              <a:t>from any account or wallet</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Wallets and cards: </a:t>
            </a:r>
            <a:r>
              <a:rPr sz="1000">
                <a:solidFill>
                  <a:srgbClr val="0C1408"/>
                </a:solidFill>
                <a:latin typeface="Arial"/>
              </a:rPr>
              <a:t>through a licensed PSP</a:t>
            </a:r>
          </a:p>
        </p:txBody>
      </p:sp>
      <p:sp>
        <p:nvSpPr>
          <p:cNvPr id="52" name="TextBox 51"/>
          <p:cNvSpPr txBox="1"/>
          <p:nvPr/>
        </p:nvSpPr>
        <p:spPr>
          <a:xfrm>
            <a:off x="8577072" y="5907024"/>
            <a:ext cx="2956255" cy="228600"/>
          </a:xfrm>
          <a:prstGeom prst="rect">
            <a:avLst/>
          </a:prstGeom>
          <a:noFill/>
        </p:spPr>
        <p:txBody>
          <a:bodyPr wrap="square" lIns="0" tIns="0" rIns="0" bIns="0">
            <a:spAutoFit/>
          </a:bodyPr>
          <a:lstStyle/>
          <a:p>
            <a:pPr>
              <a:lnSpc>
                <a:spcPct val="105000"/>
              </a:lnSpc>
            </a:pPr>
            <a:r>
              <a:rPr sz="900">
                <a:solidFill>
                  <a:srgbClr val="6B7280"/>
                </a:solidFill>
                <a:latin typeface="Arial"/>
              </a:rPr>
              <a:t>Detail: Appendix A2 and A3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Choosing a circle, seeing the full cost, opening the Mashreq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8</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The six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Open the Mashreq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Mashreq’s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One instalment at most, on payday.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9</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Profit on balances and on-time payments.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Accounts arrive by the circle; deposits at Mashreq’s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10</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4B5563"/>
                </a:solidFill>
                <a:latin typeface="Arial"/>
              </a:rPr>
              <a:t>invites people they know</a:t>
            </a:r>
          </a:p>
        </p:txBody>
      </p:sp>
      <p:sp>
        <p:nvSpPr>
          <p:cNvPr id="8" name="Rectangle 7"/>
          <p:cNvSpPr/>
          <p:nvPr/>
        </p:nvSpPr>
        <p:spPr>
          <a:xfrm>
            <a:off x="3611880" y="1874520"/>
            <a:ext cx="2240280" cy="73152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4B5563"/>
                </a:solidFill>
                <a:latin typeface="Arial"/>
              </a:rPr>
              <a:t>every member opens a Mashreq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4B5563"/>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4B5563"/>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Families abroad</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relatives in the UAE through the Mashreq Pakistan Account</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Mashreq</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inside Mashreq’s own application</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6B7280"/>
                </a:solidFill>
                <a:latin typeface="Arial"/>
              </a:rPr>
              <a:t>   Rs billion</a:t>
            </a:r>
          </a:p>
        </p:txBody>
      </p:sp>
      <p:graphicFrame>
        <p:nvGraphicFramePr>
          <p:cNvPr id="25" name="Chart 24"/>
          <p:cNvGraphicFramePr>
            <a:graphicFrameLocks noGrp="1"/>
          </p:cNvGraphicFramePr>
          <p:nvPr/>
        </p:nvGraphicFramePr>
        <p:xfrm>
          <a:off x="6217920" y="1755648"/>
          <a:ext cx="5425135" cy="2286000"/>
        </p:xfrm>
        <a:graphic>
          <a:graphicData uri="http://schemas.openxmlformats.org/drawingml/2006/chart">
            <c:chart xmlns:c="http://schemas.openxmlformats.org/drawingml/2006/chart" r:id="rId3"/>
          </a:graphicData>
        </a:graphic>
      </p:graphicFrame>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6B7280"/>
                </a:solidFill>
                <a:latin typeface="Arial"/>
              </a:rPr>
              <a:t>Basis: Rs 8,515 million of deposits ÷ 350,000 customers = about Rs 24,000 a customer,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+29%</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more customers from 100,000 members, on 350,000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each instalment is held at Mashreq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Bank Pakistan, half year report to 30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Lending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11</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6B7280"/>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4B5563"/>
                </a:solidFill>
                <a:latin typeface="Arial"/>
              </a:rPr>
              <a:t>reported to TASDEEQ from day one</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4B5563"/>
                </a:solidFill>
                <a:latin typeface="Arial"/>
              </a:rPr>
              <a:t>Halqa score, 300 to 850, updated with every payment</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50" b="1">
                <a:solidFill>
                  <a:srgbClr val="0C1408"/>
                </a:solidFill>
                <a:latin typeface="Arial"/>
              </a:rPr>
              <a:t>Lending offer</a:t>
            </a:r>
          </a:p>
          <a:p>
            <a:pPr algn="ctr">
              <a:lnSpc>
                <a:spcPct val="102000"/>
              </a:lnSpc>
              <a:spcBef>
                <a:spcPts val="200"/>
              </a:spcBef>
            </a:pPr>
            <a:r>
              <a:rPr sz="1050">
                <a:solidFill>
                  <a:srgbClr val="4B5563"/>
                </a:solidFill>
                <a:latin typeface="Arial"/>
              </a:rPr>
              <a:t>after a circle completes cleanly</a:t>
            </a:r>
          </a:p>
        </p:txBody>
      </p:sp>
      <p:sp>
        <p:nvSpPr>
          <p:cNvPr id="51" name="TextBox 50"/>
          <p:cNvSpPr txBox="1"/>
          <p:nvPr/>
        </p:nvSpPr>
        <p:spPr>
          <a:xfrm>
            <a:off x="548640"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D8602A"/>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4383938"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4383938"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Through Mashreq’s TASDEEQ membership</a:t>
            </a:r>
          </a:p>
          <a:p>
            <a:pPr marL="173736" indent="-173736">
              <a:lnSpc>
                <a:spcPct val="104000"/>
              </a:lnSpc>
              <a:spcAft>
                <a:spcPts val="250"/>
              </a:spcAft>
              <a:buClr>
                <a:srgbClr val="D8602A"/>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D8602A"/>
              </a:buClr>
              <a:buSzPct val="70000"/>
              <a:buFont typeface="Arial"/>
              <a:buChar char="■"/>
            </a:pPr>
            <a:r>
              <a:rPr sz="1150">
                <a:solidFill>
                  <a:srgbClr val="0C1408"/>
                </a:solidFill>
                <a:latin typeface="Arial"/>
              </a:rPr>
              <a:t>Mashreq decides the route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From the first payment</a:t>
            </a:r>
          </a:p>
        </p:txBody>
      </p:sp>
      <p:sp>
        <p:nvSpPr>
          <p:cNvPr id="55" name="TextBox 54"/>
          <p:cNvSpPr txBox="1"/>
          <p:nvPr/>
        </p:nvSpPr>
        <p:spPr>
          <a:xfrm>
            <a:off x="8219237"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Evidence from lending circles</a:t>
            </a:r>
          </a:p>
        </p:txBody>
      </p:sp>
      <p:sp>
        <p:nvSpPr>
          <p:cNvPr id="56" name="TextBox 55"/>
          <p:cNvSpPr txBox="1"/>
          <p:nvPr/>
        </p:nvSpPr>
        <p:spPr>
          <a:xfrm>
            <a:off x="8219237" y="3364992"/>
            <a:ext cx="3423818" cy="414528"/>
          </a:xfrm>
          <a:prstGeom prst="rect">
            <a:avLst/>
          </a:prstGeom>
          <a:noFill/>
        </p:spPr>
        <p:txBody>
          <a:bodyPr wrap="square" lIns="0" tIns="0" rIns="0" bIns="0">
            <a:spAutoFit/>
          </a:bodyPr>
          <a:lstStyle/>
          <a:p>
            <a:pPr>
              <a:lnSpc>
                <a:spcPct val="100000"/>
              </a:lnSpc>
            </a:pPr>
            <a:r>
              <a:rPr sz="2400" b="1">
                <a:solidFill>
                  <a:srgbClr val="9E3F17"/>
                </a:solidFill>
                <a:latin typeface="Arial"/>
              </a:rPr>
              <a:t>+168 points</a:t>
            </a:r>
          </a:p>
        </p:txBody>
      </p:sp>
      <p:sp>
        <p:nvSpPr>
          <p:cNvPr id="57" name="TextBox 56"/>
          <p:cNvSpPr txBox="1"/>
          <p:nvPr/>
        </p:nvSpPr>
        <p:spPr>
          <a:xfrm>
            <a:off x="8219237" y="3761232"/>
            <a:ext cx="3423818" cy="822960"/>
          </a:xfrm>
          <a:prstGeom prst="rect">
            <a:avLst/>
          </a:prstGeom>
          <a:noFill/>
        </p:spPr>
        <p:txBody>
          <a:bodyPr wrap="square" lIns="0" tIns="0" rIns="0" bIns="0">
            <a:spAutoFit/>
          </a:bodyPr>
          <a:lstStyle/>
          <a:p>
            <a:pPr>
              <a:lnSpc>
                <a:spcPct val="104000"/>
              </a:lnSpc>
            </a:pPr>
            <a:r>
              <a:rPr sz="1100">
                <a:solidFill>
                  <a:srgbClr val="4B5563"/>
                </a:solidFill>
                <a:latin typeface="Arial"/>
              </a:rPr>
              <a:t>average credit score gain when lending circle payments were reported to US credit bureaus [1]</a:t>
            </a:r>
          </a:p>
        </p:txBody>
      </p:sp>
      <p:sp>
        <p:nvSpPr>
          <p:cNvPr id="58" name="Rectangle 57"/>
          <p:cNvSpPr/>
          <p:nvPr/>
        </p:nvSpPr>
        <p:spPr>
          <a:xfrm>
            <a:off x="548640" y="4846320"/>
            <a:ext cx="11094415" cy="1325880"/>
          </a:xfrm>
          <a:prstGeom prst="rect">
            <a:avLst/>
          </a:prstGeom>
          <a:solidFill>
            <a:srgbClr val="FDF1EA"/>
          </a:solidFill>
          <a:ln>
            <a:noFill/>
          </a:ln>
        </p:spPr>
        <p:txBody>
          <a:bodyPr rtlCol="0" anchor="ctr"/>
          <a:lstStyle/>
          <a:p>
            <a:pPr algn="ctr"/>
          </a:p>
        </p:txBody>
      </p:sp>
      <p:sp>
        <p:nvSpPr>
          <p:cNvPr id="59" name="TextBox 58"/>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9E3F17"/>
                </a:solidFill>
                <a:latin typeface="Arial"/>
              </a:rPr>
              <a:t>No advances</a:t>
            </a:r>
          </a:p>
        </p:txBody>
      </p:sp>
      <p:sp>
        <p:nvSpPr>
          <p:cNvPr id="60" name="TextBox 59"/>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4B5563"/>
                </a:solidFill>
                <a:latin typeface="Arial"/>
              </a:rPr>
              <a:t>on Mashreq’s balance sheet at 30 June 2026 [2]</a:t>
            </a:r>
          </a:p>
        </p:txBody>
      </p:sp>
      <p:sp>
        <p:nvSpPr>
          <p:cNvPr id="61" name="TextBox 60"/>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Committee members arrive with twelve months of repayment history. That history is the data Mashreq needs to start lending safely, beginning with asset financing for motorcycles and machines bought through asset circles.</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Mission Asset Fund lending circles, evaluation by San Francisco State University, 600+ participants    2  Mashreq Bank Pakistan, half year report to 30 June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Mashreq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12</a:t>
            </a:r>
          </a:p>
        </p:txBody>
      </p:sp>
      <p:cxnSp>
        <p:nvCxnSpPr>
          <p:cNvPr id="6" name="Connector 5"/>
          <p:cNvCxnSpPr/>
          <p:nvPr/>
        </p:nvCxnSpPr>
        <p:spPr>
          <a:xfrm>
            <a:off x="1658082" y="2395728"/>
            <a:ext cx="8875532" cy="0"/>
          </a:xfrm>
          <a:prstGeom prst="line">
            <a:avLst/>
          </a:prstGeom>
          <a:ln w="50800">
            <a:solidFill>
              <a:srgbClr val="D8602A"/>
            </a:solidFill>
          </a:ln>
        </p:spPr>
      </p:cxnSp>
      <p:sp>
        <p:nvSpPr>
          <p:cNvPr id="7" name="TextBox 6"/>
          <p:cNvSpPr txBox="1"/>
          <p:nvPr/>
        </p:nvSpPr>
        <p:spPr>
          <a:xfrm>
            <a:off x="548640"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276856"/>
            <a:ext cx="237744" cy="237744"/>
          </a:xfrm>
          <a:prstGeom prst="ellipse">
            <a:avLst/>
          </a:prstGeom>
          <a:solidFill>
            <a:srgbClr val="FFFFFF"/>
          </a:solidFill>
          <a:ln w="31750">
            <a:solidFill>
              <a:srgbClr val="D8602A"/>
            </a:solidFill>
          </a:ln>
        </p:spPr>
        <p:txBody>
          <a:bodyPr rtlCol="0" anchor="ctr"/>
          <a:lstStyle/>
          <a:p>
            <a:pPr algn="ctr"/>
          </a:p>
        </p:txBody>
      </p:sp>
      <p:sp>
        <p:nvSpPr>
          <p:cNvPr id="9" name="Rectangle 8"/>
          <p:cNvSpPr/>
          <p:nvPr/>
        </p:nvSpPr>
        <p:spPr>
          <a:xfrm>
            <a:off x="697962"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NEO account and debit card</a:t>
            </a:r>
          </a:p>
        </p:txBody>
      </p:sp>
      <p:sp>
        <p:nvSpPr>
          <p:cNvPr id="10" name="TextBox 9"/>
          <p:cNvSpPr txBox="1"/>
          <p:nvPr/>
        </p:nvSpPr>
        <p:spPr>
          <a:xfrm>
            <a:off x="640080"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in about five minutes</a:t>
            </a:r>
          </a:p>
        </p:txBody>
      </p:sp>
      <p:sp>
        <p:nvSpPr>
          <p:cNvPr id="11" name="TextBox 10"/>
          <p:cNvSpPr txBox="1"/>
          <p:nvPr/>
        </p:nvSpPr>
        <p:spPr>
          <a:xfrm>
            <a:off x="2767523"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2" name="Oval 11"/>
          <p:cNvSpPr/>
          <p:nvPr/>
        </p:nvSpPr>
        <p:spPr>
          <a:xfrm>
            <a:off x="3758093" y="2276856"/>
            <a:ext cx="237744" cy="237744"/>
          </a:xfrm>
          <a:prstGeom prst="ellipse">
            <a:avLst/>
          </a:prstGeom>
          <a:solidFill>
            <a:srgbClr val="FFFFFF"/>
          </a:solidFill>
          <a:ln w="31750">
            <a:solidFill>
              <a:srgbClr val="D8602A"/>
            </a:solidFill>
          </a:ln>
        </p:spPr>
        <p:txBody>
          <a:bodyPr rtlCol="0" anchor="ctr"/>
          <a:lstStyle/>
          <a:p>
            <a:pPr algn="ctr"/>
          </a:p>
        </p:txBody>
      </p:sp>
      <p:sp>
        <p:nvSpPr>
          <p:cNvPr id="13" name="Rectangle 12"/>
          <p:cNvSpPr/>
          <p:nvPr/>
        </p:nvSpPr>
        <p:spPr>
          <a:xfrm>
            <a:off x="2916845"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Current Profit Account</a:t>
            </a:r>
          </a:p>
        </p:txBody>
      </p:sp>
      <p:sp>
        <p:nvSpPr>
          <p:cNvPr id="14" name="TextBox 13"/>
          <p:cNvSpPr txBox="1"/>
          <p:nvPr/>
        </p:nvSpPr>
        <p:spPr>
          <a:xfrm>
            <a:off x="2858963"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profit on the daily balance, up to 2%</a:t>
            </a:r>
          </a:p>
        </p:txBody>
      </p:sp>
      <p:sp>
        <p:nvSpPr>
          <p:cNvPr id="15" name="TextBox 14"/>
          <p:cNvSpPr txBox="1"/>
          <p:nvPr/>
        </p:nvSpPr>
        <p:spPr>
          <a:xfrm>
            <a:off x="4986406"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6" name="Oval 15"/>
          <p:cNvSpPr/>
          <p:nvPr/>
        </p:nvSpPr>
        <p:spPr>
          <a:xfrm>
            <a:off x="5976976" y="2276856"/>
            <a:ext cx="237744" cy="237744"/>
          </a:xfrm>
          <a:prstGeom prst="ellipse">
            <a:avLst/>
          </a:prstGeom>
          <a:solidFill>
            <a:srgbClr val="FFFFFF"/>
          </a:solidFill>
          <a:ln w="31750">
            <a:solidFill>
              <a:srgbClr val="D8602A"/>
            </a:solidFill>
          </a:ln>
        </p:spPr>
        <p:txBody>
          <a:bodyPr rtlCol="0" anchor="ctr"/>
          <a:lstStyle/>
          <a:p>
            <a:pPr algn="ctr"/>
          </a:p>
        </p:txBody>
      </p:sp>
      <p:sp>
        <p:nvSpPr>
          <p:cNvPr id="17" name="Rectangle 16"/>
          <p:cNvSpPr/>
          <p:nvPr/>
        </p:nvSpPr>
        <p:spPr>
          <a:xfrm>
            <a:off x="5135728"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Savings Account</a:t>
            </a:r>
          </a:p>
        </p:txBody>
      </p:sp>
      <p:sp>
        <p:nvSpPr>
          <p:cNvPr id="18" name="TextBox 17"/>
          <p:cNvSpPr txBox="1"/>
          <p:nvPr/>
        </p:nvSpPr>
        <p:spPr>
          <a:xfrm>
            <a:off x="5077846"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the committee balance; 10% below Rs 1.5 million</a:t>
            </a:r>
          </a:p>
        </p:txBody>
      </p:sp>
      <p:sp>
        <p:nvSpPr>
          <p:cNvPr id="19" name="TextBox 18"/>
          <p:cNvSpPr txBox="1"/>
          <p:nvPr/>
        </p:nvSpPr>
        <p:spPr>
          <a:xfrm>
            <a:off x="7205289"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0" name="Oval 19"/>
          <p:cNvSpPr/>
          <p:nvPr/>
        </p:nvSpPr>
        <p:spPr>
          <a:xfrm>
            <a:off x="8195859" y="2276856"/>
            <a:ext cx="237744" cy="237744"/>
          </a:xfrm>
          <a:prstGeom prst="ellipse">
            <a:avLst/>
          </a:prstGeom>
          <a:solidFill>
            <a:srgbClr val="FFFFFF"/>
          </a:solidFill>
          <a:ln w="31750">
            <a:solidFill>
              <a:srgbClr val="D8602A"/>
            </a:solidFill>
          </a:ln>
        </p:spPr>
        <p:txBody>
          <a:bodyPr rtlCol="0" anchor="ctr"/>
          <a:lstStyle/>
          <a:p>
            <a:pPr algn="ctr"/>
          </a:p>
        </p:txBody>
      </p:sp>
      <p:sp>
        <p:nvSpPr>
          <p:cNvPr id="21" name="Rectangle 20"/>
          <p:cNvSpPr/>
          <p:nvPr/>
        </p:nvSpPr>
        <p:spPr>
          <a:xfrm>
            <a:off x="7354611"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Free instant transfer</a:t>
            </a:r>
          </a:p>
        </p:txBody>
      </p:sp>
      <p:sp>
        <p:nvSpPr>
          <p:cNvPr id="22" name="TextBox 21"/>
          <p:cNvSpPr txBox="1"/>
          <p:nvPr/>
        </p:nvSpPr>
        <p:spPr>
          <a:xfrm>
            <a:off x="7296729"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the pot, the same day</a:t>
            </a:r>
          </a:p>
        </p:txBody>
      </p:sp>
      <p:sp>
        <p:nvSpPr>
          <p:cNvPr id="23" name="TextBox 22"/>
          <p:cNvSpPr txBox="1"/>
          <p:nvPr/>
        </p:nvSpPr>
        <p:spPr>
          <a:xfrm>
            <a:off x="9424172"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Abroad</a:t>
            </a:r>
          </a:p>
        </p:txBody>
      </p:sp>
      <p:sp>
        <p:nvSpPr>
          <p:cNvPr id="24" name="Oval 23"/>
          <p:cNvSpPr/>
          <p:nvPr/>
        </p:nvSpPr>
        <p:spPr>
          <a:xfrm>
            <a:off x="10414742" y="2276856"/>
            <a:ext cx="237744" cy="237744"/>
          </a:xfrm>
          <a:prstGeom prst="ellipse">
            <a:avLst/>
          </a:prstGeom>
          <a:solidFill>
            <a:srgbClr val="FFFFFF"/>
          </a:solidFill>
          <a:ln w="31750">
            <a:solidFill>
              <a:srgbClr val="D8602A"/>
            </a:solidFill>
          </a:ln>
        </p:spPr>
        <p:txBody>
          <a:bodyPr rtlCol="0" anchor="ctr"/>
          <a:lstStyle/>
          <a:p>
            <a:pPr algn="ctr"/>
          </a:p>
        </p:txBody>
      </p:sp>
      <p:sp>
        <p:nvSpPr>
          <p:cNvPr id="25" name="Rectangle 24"/>
          <p:cNvSpPr/>
          <p:nvPr/>
        </p:nvSpPr>
        <p:spPr>
          <a:xfrm>
            <a:off x="9573494"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Mashreq Pakistan Account</a:t>
            </a:r>
          </a:p>
        </p:txBody>
      </p:sp>
      <p:sp>
        <p:nvSpPr>
          <p:cNvPr id="26" name="TextBox 25"/>
          <p:cNvSpPr txBox="1"/>
          <p:nvPr/>
        </p:nvSpPr>
        <p:spPr>
          <a:xfrm>
            <a:off x="9515612"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families in the UAE</a:t>
            </a:r>
          </a:p>
        </p:txBody>
      </p:sp>
      <p:sp>
        <p:nvSpPr>
          <p:cNvPr id="27" name="TextBox 26"/>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28" name="Freeform 27"/>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29" name="Oval 28"/>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sp>
        <p:nvSpPr>
          <p:cNvPr id="30" name="Rectangle 29"/>
          <p:cNvSpPr/>
          <p:nvPr/>
        </p:nvSpPr>
        <p:spPr>
          <a:xfrm>
            <a:off x="2916845"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Direct debit mandate</a:t>
            </a:r>
          </a:p>
          <a:p>
            <a:pPr algn="ctr">
              <a:lnSpc>
                <a:spcPct val="102000"/>
              </a:lnSpc>
              <a:spcBef>
                <a:spcPts val="200"/>
              </a:spcBef>
            </a:pPr>
            <a:r>
              <a:rPr sz="1000">
                <a:solidFill>
                  <a:srgbClr val="4B5563"/>
                </a:solidFill>
                <a:latin typeface="Arial"/>
              </a:rPr>
              <a:t>collects each instalment on payday</a:t>
            </a:r>
          </a:p>
        </p:txBody>
      </p:sp>
      <p:sp>
        <p:nvSpPr>
          <p:cNvPr id="31" name="Oval 30"/>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sp>
        <p:nvSpPr>
          <p:cNvPr id="32" name="Rectangle 31"/>
          <p:cNvSpPr/>
          <p:nvPr/>
        </p:nvSpPr>
        <p:spPr>
          <a:xfrm>
            <a:off x="5135728"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a:t>
            </a:r>
          </a:p>
          <a:p>
            <a:pPr algn="ctr">
              <a:lnSpc>
                <a:spcPct val="102000"/>
              </a:lnSpc>
              <a:spcBef>
                <a:spcPts val="200"/>
              </a:spcBef>
            </a:pPr>
            <a:r>
              <a:rPr sz="1000">
                <a:solidFill>
                  <a:srgbClr val="4B5563"/>
                </a:solidFill>
                <a:latin typeface="Arial"/>
              </a:rPr>
              <a:t>circles between strangers; Mashreq chooses the operator</a:t>
            </a:r>
          </a:p>
        </p:txBody>
      </p:sp>
      <p:sp>
        <p:nvSpPr>
          <p:cNvPr id="33" name="Oval 32"/>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7354611"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4B5563"/>
                </a:solidFill>
                <a:latin typeface="Arial"/>
              </a:rPr>
              <a:t>ijarah for motorcycles and machines</a:t>
            </a:r>
          </a:p>
        </p:txBody>
      </p:sp>
      <p:sp>
        <p:nvSpPr>
          <p:cNvPr id="35" name="Rectangle 34"/>
          <p:cNvSpPr/>
          <p:nvPr/>
        </p:nvSpPr>
        <p:spPr>
          <a:xfrm>
            <a:off x="548640" y="5971032"/>
            <a:ext cx="201168" cy="173736"/>
          </a:xfrm>
          <a:prstGeom prst="rect">
            <a:avLst/>
          </a:prstGeom>
          <a:solidFill>
            <a:srgbClr val="FDF1EA"/>
          </a:solidFill>
          <a:ln w="12700">
            <a:solidFill>
              <a:srgbClr val="D8602A"/>
            </a:solidFill>
          </a:ln>
        </p:spPr>
        <p:txBody>
          <a:bodyPr rtlCol="0" anchor="ctr"/>
          <a:lstStyle/>
          <a:p>
            <a:pPr algn="ctr"/>
          </a:p>
        </p:txBody>
      </p:sp>
      <p:sp>
        <p:nvSpPr>
          <p:cNvPr id="36" name="TextBox 35"/>
          <p:cNvSpPr txBox="1"/>
          <p:nvPr/>
        </p:nvSpPr>
        <p:spPr>
          <a:xfrm>
            <a:off x="822960" y="5943600"/>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existing Mashreq product</a:t>
            </a:r>
          </a:p>
        </p:txBody>
      </p:sp>
      <p:sp>
        <p:nvSpPr>
          <p:cNvPr id="37" name="Rectangle 36"/>
          <p:cNvSpPr/>
          <p:nvPr/>
        </p:nvSpPr>
        <p:spPr>
          <a:xfrm>
            <a:off x="2805379" y="5971032"/>
            <a:ext cx="201168" cy="173736"/>
          </a:xfrm>
          <a:prstGeom prst="rect">
            <a:avLst/>
          </a:prstGeom>
          <a:solidFill>
            <a:srgbClr val="EBF8F6"/>
          </a:solidFill>
          <a:ln w="12700">
            <a:solidFill>
              <a:srgbClr val="0E9384"/>
            </a:solidFill>
          </a:ln>
        </p:spPr>
        <p:txBody>
          <a:bodyPr rtlCol="0" anchor="ctr"/>
          <a:lstStyle/>
          <a:p>
            <a:pPr algn="ctr"/>
          </a:p>
        </p:txBody>
      </p:sp>
      <p:sp>
        <p:nvSpPr>
          <p:cNvPr id="38" name="TextBox 37"/>
          <p:cNvSpPr txBox="1"/>
          <p:nvPr/>
        </p:nvSpPr>
        <p:spPr>
          <a:xfrm>
            <a:off x="3079699" y="5943600"/>
            <a:ext cx="636422" cy="237744"/>
          </a:xfrm>
          <a:prstGeom prst="rect">
            <a:avLst/>
          </a:prstGeom>
          <a:noFill/>
        </p:spPr>
        <p:txBody>
          <a:bodyPr wrap="square" lIns="0" tIns="0" rIns="0" bIns="0">
            <a:spAutoFit/>
          </a:bodyPr>
          <a:lstStyle/>
          <a:p>
            <a:pPr>
              <a:lnSpc>
                <a:spcPct val="105000"/>
              </a:lnSpc>
            </a:pPr>
            <a:r>
              <a:rPr sz="1000">
                <a:solidFill>
                  <a:srgbClr val="4B5563"/>
                </a:solidFill>
                <a:latin typeface="Arial"/>
              </a:rPr>
              <a:t>new line</a:t>
            </a:r>
          </a:p>
        </p:txBody>
      </p:sp>
      <p:sp>
        <p:nvSpPr>
          <p:cNvPr id="39" name="TextBox 38"/>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4B5563"/>
                </a:solidFill>
                <a:latin typeface="Arial"/>
              </a:rPr>
              <a:t>Profit on the committee balance returns to members as points (Appendix A5).</a:t>
            </a:r>
          </a:p>
        </p:txBody>
      </p:sp>
      <p:sp>
        <p:nvSpPr>
          <p:cNvPr id="40" name="TextBox 3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NEO Pakistan product pages, rate sheets and schedule of charges (July to December 2026), read 30 September 2026; rates are up to or indicative figures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Mashreq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13</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DF1EA"/>
          </a:solidFill>
          <a:ln>
            <a:noFill/>
          </a:ln>
        </p:spPr>
        <p:txBody>
          <a:bodyPr rtlCol="0" anchor="ctr"/>
          <a:lstStyle/>
          <a:p>
            <a:pPr algn="ctr"/>
          </a:p>
        </p:txBody>
      </p:sp>
      <p:sp>
        <p:nvSpPr>
          <p:cNvPr id="10" name="TextBox 9"/>
          <p:cNvSpPr txBox="1"/>
          <p:nvPr/>
        </p:nvSpPr>
        <p:spPr>
          <a:xfrm>
            <a:off x="658368" y="2331720"/>
            <a:ext cx="123444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Mashreq</a:t>
            </a:r>
          </a:p>
        </p:txBody>
      </p:sp>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4B5563"/>
                </a:solidFill>
                <a:latin typeface="Arial"/>
              </a:rPr>
              <a:t>phone and PIN</a:t>
            </a:r>
          </a:p>
        </p:txBody>
      </p:sp>
      <p:sp>
        <p:nvSpPr>
          <p:cNvPr id="17" name="Rectangle 16"/>
          <p:cNvSpPr/>
          <p:nvPr/>
        </p:nvSpPr>
        <p:spPr>
          <a:xfrm>
            <a:off x="3749040" y="2487168"/>
            <a:ext cx="1371600" cy="502920"/>
          </a:xfrm>
          <a:prstGeom prst="rect">
            <a:avLst/>
          </a:prstGeom>
          <a:solidFill>
            <a:srgbClr val="FDF1EA"/>
          </a:solidFill>
          <a:ln w="15875">
            <a:solidFill>
              <a:srgbClr val="D8602A"/>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4B5563"/>
                </a:solidFill>
                <a:latin typeface="Arial"/>
              </a:rPr>
              <a:t>CNIC, NADRA biometric check, due diligence</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 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
        <p:nvSpPr>
          <p:cNvPr id="38" name="TextBox 37"/>
          <p:cNvSpPr txBox="1"/>
          <p:nvPr/>
        </p:nvSpPr>
        <p:spPr>
          <a:xfrm>
            <a:off x="548640" y="6053328"/>
            <a:ext cx="11094415" cy="256032"/>
          </a:xfrm>
          <a:prstGeom prst="rect">
            <a:avLst/>
          </a:prstGeom>
          <a:noFill/>
        </p:spPr>
        <p:txBody>
          <a:bodyPr wrap="square" lIns="0" tIns="0" rIns="0" bIns="0">
            <a:spAutoFit/>
          </a:bodyPr>
          <a:lstStyle/>
          <a:p>
            <a:pPr>
              <a:lnSpc>
                <a:spcPct val="105000"/>
              </a:lnSpc>
            </a:pPr>
            <a:r>
              <a:rPr sz="1050">
                <a:solidFill>
                  <a:srgbClr val="4B5563"/>
                </a:solidFill>
                <a:latin typeface="Arial"/>
              </a:rPr>
              <a:t>Halqa stores results only: never face images, card numbers or passwords.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Six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14</a:t>
            </a:r>
          </a:p>
        </p:txBody>
      </p:sp>
      <p:sp>
        <p:nvSpPr>
          <p:cNvPr id="6" name="Rectangle 5"/>
          <p:cNvSpPr/>
          <p:nvPr/>
        </p:nvSpPr>
        <p:spPr>
          <a:xfrm>
            <a:off x="2633472"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139641"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564581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715198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8658149"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UAE family</a:t>
            </a:r>
          </a:p>
          <a:p>
            <a:pPr algn="ctr">
              <a:lnSpc>
                <a:spcPct val="100000"/>
              </a:lnSpc>
            </a:pPr>
            <a:r>
              <a:rPr sz="900">
                <a:solidFill>
                  <a:srgbClr val="0C1408"/>
                </a:solidFill>
                <a:latin typeface="Arial"/>
              </a:rPr>
              <a:t>check level 1</a:t>
            </a:r>
          </a:p>
        </p:txBody>
      </p:sp>
      <p:sp>
        <p:nvSpPr>
          <p:cNvPr id="11" name="Rectangle 10"/>
          <p:cNvSpPr/>
          <p:nvPr/>
        </p:nvSpPr>
        <p:spPr>
          <a:xfrm>
            <a:off x="10164318" y="1536192"/>
            <a:ext cx="1451305" cy="603504"/>
          </a:xfrm>
          <a:prstGeom prst="rect">
            <a:avLst/>
          </a:prstGeom>
          <a:solidFill>
            <a:srgbClr val="9E3F17"/>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2" name="TextBox 11"/>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3" name="TextBox 12"/>
          <p:cNvSpPr txBox="1"/>
          <p:nvPr/>
        </p:nvSpPr>
        <p:spPr>
          <a:xfrm>
            <a:off x="2651760"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4" name="TextBox 13"/>
          <p:cNvSpPr txBox="1"/>
          <p:nvPr/>
        </p:nvSpPr>
        <p:spPr>
          <a:xfrm>
            <a:off x="4157929"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5" name="TextBox 14"/>
          <p:cNvSpPr txBox="1"/>
          <p:nvPr/>
        </p:nvSpPr>
        <p:spPr>
          <a:xfrm>
            <a:off x="566409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6" name="TextBox 15"/>
          <p:cNvSpPr txBox="1"/>
          <p:nvPr/>
        </p:nvSpPr>
        <p:spPr>
          <a:xfrm>
            <a:off x="717026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7" name="TextBox 16"/>
          <p:cNvSpPr txBox="1"/>
          <p:nvPr/>
        </p:nvSpPr>
        <p:spPr>
          <a:xfrm>
            <a:off x="8676437"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8" name="TextBox 17"/>
          <p:cNvSpPr txBox="1"/>
          <p:nvPr/>
        </p:nvSpPr>
        <p:spPr>
          <a:xfrm>
            <a:off x="10182606"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9" name="Connector 18"/>
          <p:cNvCxnSpPr/>
          <p:nvPr/>
        </p:nvCxnSpPr>
        <p:spPr>
          <a:xfrm>
            <a:off x="548640" y="2569464"/>
            <a:ext cx="11094415" cy="0"/>
          </a:xfrm>
          <a:prstGeom prst="line">
            <a:avLst/>
          </a:prstGeom>
          <a:ln w="9525">
            <a:solidFill>
              <a:srgbClr val="D1D5DB"/>
            </a:solidFill>
          </a:ln>
        </p:spPr>
      </p:cxnSp>
      <p:sp>
        <p:nvSpPr>
          <p:cNvPr id="20" name="TextBox 19"/>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21" name="TextBox 20"/>
          <p:cNvSpPr txBox="1"/>
          <p:nvPr/>
        </p:nvSpPr>
        <p:spPr>
          <a:xfrm>
            <a:off x="2651760"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2" name="TextBox 21"/>
          <p:cNvSpPr txBox="1"/>
          <p:nvPr/>
        </p:nvSpPr>
        <p:spPr>
          <a:xfrm>
            <a:off x="4157929"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3" name="TextBox 22"/>
          <p:cNvSpPr txBox="1"/>
          <p:nvPr/>
        </p:nvSpPr>
        <p:spPr>
          <a:xfrm>
            <a:off x="566409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25,000</a:t>
            </a:r>
          </a:p>
        </p:txBody>
      </p:sp>
      <p:sp>
        <p:nvSpPr>
          <p:cNvPr id="24" name="TextBox 23"/>
          <p:cNvSpPr txBox="1"/>
          <p:nvPr/>
        </p:nvSpPr>
        <p:spPr>
          <a:xfrm>
            <a:off x="717026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5" name="TextBox 24"/>
          <p:cNvSpPr txBox="1"/>
          <p:nvPr/>
        </p:nvSpPr>
        <p:spPr>
          <a:xfrm>
            <a:off x="8676437"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any amount</a:t>
            </a:r>
          </a:p>
        </p:txBody>
      </p:sp>
      <p:sp>
        <p:nvSpPr>
          <p:cNvPr id="26" name="TextBox 25"/>
          <p:cNvSpPr txBox="1"/>
          <p:nvPr/>
        </p:nvSpPr>
        <p:spPr>
          <a:xfrm>
            <a:off x="10182606"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7" name="Connector 26"/>
          <p:cNvCxnSpPr/>
          <p:nvPr/>
        </p:nvCxnSpPr>
        <p:spPr>
          <a:xfrm>
            <a:off x="548640" y="2953512"/>
            <a:ext cx="11094415" cy="0"/>
          </a:xfrm>
          <a:prstGeom prst="line">
            <a:avLst/>
          </a:prstGeom>
          <a:ln w="9525">
            <a:solidFill>
              <a:srgbClr val="D1D5DB"/>
            </a:solidFill>
          </a:ln>
        </p:spPr>
      </p:cxnSp>
      <p:sp>
        <p:nvSpPr>
          <p:cNvPr id="28" name="TextBox 27"/>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9" name="TextBox 28"/>
          <p:cNvSpPr txBox="1"/>
          <p:nvPr/>
        </p:nvSpPr>
        <p:spPr>
          <a:xfrm>
            <a:off x="2651760"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30" name="TextBox 29"/>
          <p:cNvSpPr txBox="1"/>
          <p:nvPr/>
        </p:nvSpPr>
        <p:spPr>
          <a:xfrm>
            <a:off x="4157929"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1" name="TextBox 30"/>
          <p:cNvSpPr txBox="1"/>
          <p:nvPr/>
        </p:nvSpPr>
        <p:spPr>
          <a:xfrm>
            <a:off x="566409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2" name="TextBox 31"/>
          <p:cNvSpPr txBox="1"/>
          <p:nvPr/>
        </p:nvSpPr>
        <p:spPr>
          <a:xfrm>
            <a:off x="717026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3" name="TextBox 32"/>
          <p:cNvSpPr txBox="1"/>
          <p:nvPr/>
        </p:nvSpPr>
        <p:spPr>
          <a:xfrm>
            <a:off x="8676437"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4" name="TextBox 33"/>
          <p:cNvSpPr txBox="1"/>
          <p:nvPr/>
        </p:nvSpPr>
        <p:spPr>
          <a:xfrm>
            <a:off x="10182606"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5" name="Connector 34"/>
          <p:cNvCxnSpPr/>
          <p:nvPr/>
        </p:nvCxnSpPr>
        <p:spPr>
          <a:xfrm>
            <a:off x="548640" y="3337560"/>
            <a:ext cx="11094415" cy="0"/>
          </a:xfrm>
          <a:prstGeom prst="line">
            <a:avLst/>
          </a:prstGeom>
          <a:ln w="9525">
            <a:solidFill>
              <a:srgbClr val="D1D5DB"/>
            </a:solidFill>
          </a:ln>
        </p:spPr>
      </p:cxnSp>
      <p:sp>
        <p:nvSpPr>
          <p:cNvPr id="36" name="TextBox 35"/>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7" name="Oval 36"/>
          <p:cNvSpPr/>
          <p:nvPr/>
        </p:nvSpPr>
        <p:spPr>
          <a:xfrm>
            <a:off x="3263113" y="3433572"/>
            <a:ext cx="192024" cy="192024"/>
          </a:xfrm>
          <a:prstGeom prst="ellipse">
            <a:avLst/>
          </a:prstGeom>
          <a:solidFill>
            <a:srgbClr val="FFFFFF"/>
          </a:solidFill>
          <a:ln w="15875">
            <a:solidFill>
              <a:srgbClr val="D8602A"/>
            </a:solidFill>
          </a:ln>
        </p:spPr>
        <p:txBody>
          <a:bodyPr rtlCol="0" anchor="ctr"/>
          <a:lstStyle/>
          <a:p>
            <a:pPr algn="ctr"/>
          </a:p>
        </p:txBody>
      </p:sp>
      <p:sp>
        <p:nvSpPr>
          <p:cNvPr id="38" name="Oval 37"/>
          <p:cNvSpPr/>
          <p:nvPr/>
        </p:nvSpPr>
        <p:spPr>
          <a:xfrm>
            <a:off x="4769282" y="3433572"/>
            <a:ext cx="192024" cy="192024"/>
          </a:xfrm>
          <a:prstGeom prst="ellipse">
            <a:avLst/>
          </a:prstGeom>
          <a:solidFill>
            <a:srgbClr val="D8602A"/>
          </a:solidFill>
          <a:ln w="15875">
            <a:solidFill>
              <a:srgbClr val="D8602A"/>
            </a:solidFill>
          </a:ln>
        </p:spPr>
        <p:txBody>
          <a:bodyPr rtlCol="0" anchor="ctr"/>
          <a:lstStyle/>
          <a:p>
            <a:pPr algn="ctr"/>
          </a:p>
        </p:txBody>
      </p:sp>
      <p:sp>
        <p:nvSpPr>
          <p:cNvPr id="39" name="Oval 38"/>
          <p:cNvSpPr/>
          <p:nvPr/>
        </p:nvSpPr>
        <p:spPr>
          <a:xfrm>
            <a:off x="6275451" y="3433572"/>
            <a:ext cx="192024" cy="192024"/>
          </a:xfrm>
          <a:prstGeom prst="ellipse">
            <a:avLst/>
          </a:prstGeom>
          <a:solidFill>
            <a:srgbClr val="D8602A"/>
          </a:solidFill>
          <a:ln w="15875">
            <a:solidFill>
              <a:srgbClr val="D8602A"/>
            </a:solidFill>
          </a:ln>
        </p:spPr>
        <p:txBody>
          <a:bodyPr rtlCol="0" anchor="ctr"/>
          <a:lstStyle/>
          <a:p>
            <a:pPr algn="ctr"/>
          </a:p>
        </p:txBody>
      </p:sp>
      <p:sp>
        <p:nvSpPr>
          <p:cNvPr id="40" name="Oval 39"/>
          <p:cNvSpPr/>
          <p:nvPr/>
        </p:nvSpPr>
        <p:spPr>
          <a:xfrm>
            <a:off x="7781620" y="3433572"/>
            <a:ext cx="192024" cy="192024"/>
          </a:xfrm>
          <a:prstGeom prst="ellipse">
            <a:avLst/>
          </a:prstGeom>
          <a:solidFill>
            <a:srgbClr val="D8602A"/>
          </a:solidFill>
          <a:ln w="15875">
            <a:solidFill>
              <a:srgbClr val="D8602A"/>
            </a:solidFill>
          </a:ln>
        </p:spPr>
        <p:txBody>
          <a:bodyPr rtlCol="0" anchor="ctr"/>
          <a:lstStyle/>
          <a:p>
            <a:pPr algn="ctr"/>
          </a:p>
        </p:txBody>
      </p:sp>
      <p:sp>
        <p:nvSpPr>
          <p:cNvPr id="41" name="Oval 40"/>
          <p:cNvSpPr/>
          <p:nvPr/>
        </p:nvSpPr>
        <p:spPr>
          <a:xfrm>
            <a:off x="9287789" y="3433572"/>
            <a:ext cx="192024" cy="192024"/>
          </a:xfrm>
          <a:prstGeom prst="ellipse">
            <a:avLst/>
          </a:prstGeom>
          <a:solidFill>
            <a:srgbClr val="FFFFFF"/>
          </a:solidFill>
          <a:ln w="15875">
            <a:solidFill>
              <a:srgbClr val="D8602A"/>
            </a:solidFill>
          </a:ln>
        </p:spPr>
        <p:txBody>
          <a:bodyPr rtlCol="0" anchor="ctr"/>
          <a:lstStyle/>
          <a:p>
            <a:pPr algn="ctr"/>
          </a:p>
        </p:txBody>
      </p:sp>
      <p:sp>
        <p:nvSpPr>
          <p:cNvPr id="42" name="Oval 41"/>
          <p:cNvSpPr/>
          <p:nvPr/>
        </p:nvSpPr>
        <p:spPr>
          <a:xfrm>
            <a:off x="10793959" y="3433572"/>
            <a:ext cx="192024" cy="192024"/>
          </a:xfrm>
          <a:prstGeom prst="ellipse">
            <a:avLst/>
          </a:prstGeom>
          <a:solidFill>
            <a:srgbClr val="D8602A"/>
          </a:solidFill>
          <a:ln w="15875">
            <a:solidFill>
              <a:srgbClr val="D8602A"/>
            </a:solidFill>
          </a:ln>
        </p:spPr>
        <p:txBody>
          <a:bodyPr rtlCol="0" anchor="ctr"/>
          <a:lstStyle/>
          <a:p>
            <a:pPr algn="ctr"/>
          </a:p>
        </p:txBody>
      </p:sp>
      <p:cxnSp>
        <p:nvCxnSpPr>
          <p:cNvPr id="43" name="Connector 42"/>
          <p:cNvCxnSpPr/>
          <p:nvPr/>
        </p:nvCxnSpPr>
        <p:spPr>
          <a:xfrm>
            <a:off x="548640" y="3721608"/>
            <a:ext cx="11094415" cy="0"/>
          </a:xfrm>
          <a:prstGeom prst="line">
            <a:avLst/>
          </a:prstGeom>
          <a:ln w="9525">
            <a:solidFill>
              <a:srgbClr val="D1D5DB"/>
            </a:solidFill>
          </a:ln>
        </p:spPr>
      </p:cxnSp>
      <p:sp>
        <p:nvSpPr>
          <p:cNvPr id="44" name="TextBox 43"/>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5" name="Oval 44"/>
          <p:cNvSpPr/>
          <p:nvPr/>
        </p:nvSpPr>
        <p:spPr>
          <a:xfrm>
            <a:off x="3263113" y="3817620"/>
            <a:ext cx="192024" cy="192024"/>
          </a:xfrm>
          <a:prstGeom prst="ellipse">
            <a:avLst/>
          </a:prstGeom>
          <a:solidFill>
            <a:srgbClr val="FFFFFF"/>
          </a:solidFill>
          <a:ln w="15875">
            <a:solidFill>
              <a:srgbClr val="D8602A"/>
            </a:solidFill>
          </a:ln>
        </p:spPr>
        <p:txBody>
          <a:bodyPr rtlCol="0" anchor="ctr"/>
          <a:lstStyle/>
          <a:p>
            <a:pPr algn="ctr"/>
          </a:p>
        </p:txBody>
      </p:sp>
      <p:sp>
        <p:nvSpPr>
          <p:cNvPr id="46" name="Oval 45"/>
          <p:cNvSpPr/>
          <p:nvPr/>
        </p:nvSpPr>
        <p:spPr>
          <a:xfrm>
            <a:off x="4769282" y="3817620"/>
            <a:ext cx="192024" cy="192024"/>
          </a:xfrm>
          <a:prstGeom prst="ellipse">
            <a:avLst/>
          </a:prstGeom>
          <a:solidFill>
            <a:srgbClr val="D8602A"/>
          </a:solidFill>
          <a:ln w="15875">
            <a:solidFill>
              <a:srgbClr val="D8602A"/>
            </a:solidFill>
          </a:ln>
        </p:spPr>
        <p:txBody>
          <a:bodyPr rtlCol="0" anchor="ctr"/>
          <a:lstStyle/>
          <a:p>
            <a:pPr algn="ctr"/>
          </a:p>
        </p:txBody>
      </p:sp>
      <p:sp>
        <p:nvSpPr>
          <p:cNvPr id="47" name="Oval 46"/>
          <p:cNvSpPr/>
          <p:nvPr/>
        </p:nvSpPr>
        <p:spPr>
          <a:xfrm>
            <a:off x="6275451" y="3817620"/>
            <a:ext cx="192024" cy="192024"/>
          </a:xfrm>
          <a:prstGeom prst="ellipse">
            <a:avLst/>
          </a:prstGeom>
          <a:solidFill>
            <a:srgbClr val="D8602A"/>
          </a:solidFill>
          <a:ln w="15875">
            <a:solidFill>
              <a:srgbClr val="D8602A"/>
            </a:solidFill>
          </a:ln>
        </p:spPr>
        <p:txBody>
          <a:bodyPr rtlCol="0" anchor="ctr"/>
          <a:lstStyle/>
          <a:p>
            <a:pPr algn="ctr"/>
          </a:p>
        </p:txBody>
      </p:sp>
      <p:sp>
        <p:nvSpPr>
          <p:cNvPr id="48" name="Oval 47"/>
          <p:cNvSpPr/>
          <p:nvPr/>
        </p:nvSpPr>
        <p:spPr>
          <a:xfrm>
            <a:off x="7781620" y="3817620"/>
            <a:ext cx="192024" cy="192024"/>
          </a:xfrm>
          <a:prstGeom prst="ellipse">
            <a:avLst/>
          </a:prstGeom>
          <a:solidFill>
            <a:srgbClr val="D8602A"/>
          </a:solidFill>
          <a:ln w="15875">
            <a:solidFill>
              <a:srgbClr val="D8602A"/>
            </a:solidFill>
          </a:ln>
        </p:spPr>
        <p:txBody>
          <a:bodyPr rtlCol="0" anchor="ctr"/>
          <a:lstStyle/>
          <a:p>
            <a:pPr algn="ctr"/>
          </a:p>
        </p:txBody>
      </p:sp>
      <p:sp>
        <p:nvSpPr>
          <p:cNvPr id="49" name="Oval 48"/>
          <p:cNvSpPr/>
          <p:nvPr/>
        </p:nvSpPr>
        <p:spPr>
          <a:xfrm>
            <a:off x="9287789" y="3817620"/>
            <a:ext cx="192024" cy="192024"/>
          </a:xfrm>
          <a:prstGeom prst="ellipse">
            <a:avLst/>
          </a:prstGeom>
          <a:solidFill>
            <a:srgbClr val="D8602A"/>
          </a:solidFill>
          <a:ln w="15875">
            <a:solidFill>
              <a:srgbClr val="D8602A"/>
            </a:solidFill>
          </a:ln>
        </p:spPr>
        <p:txBody>
          <a:bodyPr rtlCol="0" anchor="ctr"/>
          <a:lstStyle/>
          <a:p>
            <a:pPr algn="ctr"/>
          </a:p>
        </p:txBody>
      </p:sp>
      <p:sp>
        <p:nvSpPr>
          <p:cNvPr id="50" name="Oval 49"/>
          <p:cNvSpPr/>
          <p:nvPr/>
        </p:nvSpPr>
        <p:spPr>
          <a:xfrm>
            <a:off x="10793959" y="3817620"/>
            <a:ext cx="192024" cy="192024"/>
          </a:xfrm>
          <a:prstGeom prst="ellipse">
            <a:avLst/>
          </a:prstGeom>
          <a:solidFill>
            <a:srgbClr val="D8602A"/>
          </a:solidFill>
          <a:ln w="15875">
            <a:solidFill>
              <a:srgbClr val="D8602A"/>
            </a:solidFill>
          </a:ln>
        </p:spPr>
        <p:txBody>
          <a:bodyPr rtlCol="0" anchor="ctr"/>
          <a:lstStyle/>
          <a:p>
            <a:pPr algn="ctr"/>
          </a:p>
        </p:txBody>
      </p:sp>
      <p:cxnSp>
        <p:nvCxnSpPr>
          <p:cNvPr id="51" name="Connector 50"/>
          <p:cNvCxnSpPr/>
          <p:nvPr/>
        </p:nvCxnSpPr>
        <p:spPr>
          <a:xfrm>
            <a:off x="548640" y="4105656"/>
            <a:ext cx="11094415" cy="0"/>
          </a:xfrm>
          <a:prstGeom prst="line">
            <a:avLst/>
          </a:prstGeom>
          <a:ln w="9525">
            <a:solidFill>
              <a:srgbClr val="D1D5DB"/>
            </a:solidFill>
          </a:ln>
        </p:spPr>
      </p:cxnSp>
      <p:sp>
        <p:nvSpPr>
          <p:cNvPr id="52" name="TextBox 51"/>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 or insurance</a:t>
            </a:r>
          </a:p>
        </p:txBody>
      </p:sp>
      <p:sp>
        <p:nvSpPr>
          <p:cNvPr id="53" name="Oval 52"/>
          <p:cNvSpPr/>
          <p:nvPr/>
        </p:nvSpPr>
        <p:spPr>
          <a:xfrm>
            <a:off x="3263113" y="4201668"/>
            <a:ext cx="192024" cy="192024"/>
          </a:xfrm>
          <a:prstGeom prst="ellipse">
            <a:avLst/>
          </a:prstGeom>
          <a:solidFill>
            <a:srgbClr val="FFFFFF"/>
          </a:solidFill>
          <a:ln w="15875">
            <a:solidFill>
              <a:srgbClr val="D8602A"/>
            </a:solidFill>
          </a:ln>
        </p:spPr>
        <p:txBody>
          <a:bodyPr rtlCol="0" anchor="ctr"/>
          <a:lstStyle/>
          <a:p>
            <a:pPr algn="ctr"/>
          </a:p>
        </p:txBody>
      </p:sp>
      <p:sp>
        <p:nvSpPr>
          <p:cNvPr id="54" name="Oval 53"/>
          <p:cNvSpPr/>
          <p:nvPr/>
        </p:nvSpPr>
        <p:spPr>
          <a:xfrm>
            <a:off x="4769282" y="4201668"/>
            <a:ext cx="192024" cy="192024"/>
          </a:xfrm>
          <a:prstGeom prst="ellipse">
            <a:avLst/>
          </a:prstGeom>
          <a:solidFill>
            <a:srgbClr val="D8602A"/>
          </a:solidFill>
          <a:ln w="15875">
            <a:solidFill>
              <a:srgbClr val="D8602A"/>
            </a:solidFill>
          </a:ln>
        </p:spPr>
        <p:txBody>
          <a:bodyPr rtlCol="0" anchor="ctr"/>
          <a:lstStyle/>
          <a:p>
            <a:pPr algn="ctr"/>
          </a:p>
        </p:txBody>
      </p:sp>
      <p:sp>
        <p:nvSpPr>
          <p:cNvPr id="55" name="Oval 54"/>
          <p:cNvSpPr/>
          <p:nvPr/>
        </p:nvSpPr>
        <p:spPr>
          <a:xfrm>
            <a:off x="6275451" y="4201668"/>
            <a:ext cx="192024" cy="192024"/>
          </a:xfrm>
          <a:prstGeom prst="ellipse">
            <a:avLst/>
          </a:prstGeom>
          <a:solidFill>
            <a:srgbClr val="D8602A"/>
          </a:solidFill>
          <a:ln w="15875">
            <a:solidFill>
              <a:srgbClr val="D8602A"/>
            </a:solidFill>
          </a:ln>
        </p:spPr>
        <p:txBody>
          <a:bodyPr rtlCol="0" anchor="ctr"/>
          <a:lstStyle/>
          <a:p>
            <a:pPr algn="ctr"/>
          </a:p>
        </p:txBody>
      </p:sp>
      <p:sp>
        <p:nvSpPr>
          <p:cNvPr id="56" name="Oval 55"/>
          <p:cNvSpPr/>
          <p:nvPr/>
        </p:nvSpPr>
        <p:spPr>
          <a:xfrm>
            <a:off x="7781620" y="4201668"/>
            <a:ext cx="192024" cy="192024"/>
          </a:xfrm>
          <a:prstGeom prst="ellipse">
            <a:avLst/>
          </a:prstGeom>
          <a:solidFill>
            <a:srgbClr val="D8602A"/>
          </a:solidFill>
          <a:ln w="15875">
            <a:solidFill>
              <a:srgbClr val="D8602A"/>
            </a:solidFill>
          </a:ln>
        </p:spPr>
        <p:txBody>
          <a:bodyPr rtlCol="0" anchor="ctr"/>
          <a:lstStyle/>
          <a:p>
            <a:pPr algn="ctr"/>
          </a:p>
        </p:txBody>
      </p:sp>
      <p:sp>
        <p:nvSpPr>
          <p:cNvPr id="57" name="Oval 56"/>
          <p:cNvSpPr/>
          <p:nvPr/>
        </p:nvSpPr>
        <p:spPr>
          <a:xfrm>
            <a:off x="9287789" y="4201668"/>
            <a:ext cx="192024" cy="192024"/>
          </a:xfrm>
          <a:prstGeom prst="ellipse">
            <a:avLst/>
          </a:prstGeom>
          <a:solidFill>
            <a:srgbClr val="FFFFFF"/>
          </a:solidFill>
          <a:ln w="15875">
            <a:solidFill>
              <a:srgbClr val="D8602A"/>
            </a:solidFill>
          </a:ln>
        </p:spPr>
        <p:txBody>
          <a:bodyPr rtlCol="0" anchor="ctr"/>
          <a:lstStyle/>
          <a:p>
            <a:pPr algn="ctr"/>
          </a:p>
        </p:txBody>
      </p:sp>
      <p:sp>
        <p:nvSpPr>
          <p:cNvPr id="58" name="Oval 57"/>
          <p:cNvSpPr/>
          <p:nvPr/>
        </p:nvSpPr>
        <p:spPr>
          <a:xfrm>
            <a:off x="10793959" y="4201668"/>
            <a:ext cx="192024" cy="192024"/>
          </a:xfrm>
          <a:prstGeom prst="ellipse">
            <a:avLst/>
          </a:prstGeom>
          <a:solidFill>
            <a:srgbClr val="D8602A"/>
          </a:solidFill>
          <a:ln w="15875">
            <a:solidFill>
              <a:srgbClr val="D8602A"/>
            </a:solidFill>
          </a:ln>
        </p:spPr>
        <p:txBody>
          <a:bodyPr rtlCol="0" anchor="ctr"/>
          <a:lstStyle/>
          <a:p>
            <a:pPr algn="ctr"/>
          </a:p>
        </p:txBody>
      </p:sp>
      <p:cxnSp>
        <p:nvCxnSpPr>
          <p:cNvPr id="59" name="Connector 58"/>
          <p:cNvCxnSpPr/>
          <p:nvPr/>
        </p:nvCxnSpPr>
        <p:spPr>
          <a:xfrm>
            <a:off x="548640" y="4489704"/>
            <a:ext cx="11094415" cy="0"/>
          </a:xfrm>
          <a:prstGeom prst="line">
            <a:avLst/>
          </a:prstGeom>
          <a:ln w="9525">
            <a:solidFill>
              <a:srgbClr val="D1D5DB"/>
            </a:solidFill>
          </a:ln>
        </p:spPr>
      </p:cxnSp>
      <p:sp>
        <p:nvSpPr>
          <p:cNvPr id="60" name="TextBox 59"/>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61" name="Oval 60"/>
          <p:cNvSpPr/>
          <p:nvPr/>
        </p:nvSpPr>
        <p:spPr>
          <a:xfrm>
            <a:off x="3263113" y="4585716"/>
            <a:ext cx="192024" cy="192024"/>
          </a:xfrm>
          <a:prstGeom prst="ellipse">
            <a:avLst/>
          </a:prstGeom>
          <a:solidFill>
            <a:srgbClr val="FFFFFF"/>
          </a:solidFill>
          <a:ln w="15875">
            <a:solidFill>
              <a:srgbClr val="D8602A"/>
            </a:solidFill>
          </a:ln>
        </p:spPr>
        <p:txBody>
          <a:bodyPr rtlCol="0" anchor="ctr"/>
          <a:lstStyle/>
          <a:p>
            <a:pPr algn="ctr"/>
          </a:p>
        </p:txBody>
      </p:sp>
      <p:sp>
        <p:nvSpPr>
          <p:cNvPr id="62" name="Oval 61"/>
          <p:cNvSpPr/>
          <p:nvPr/>
        </p:nvSpPr>
        <p:spPr>
          <a:xfrm>
            <a:off x="4769282" y="4585716"/>
            <a:ext cx="192024" cy="192024"/>
          </a:xfrm>
          <a:prstGeom prst="ellipse">
            <a:avLst/>
          </a:prstGeom>
          <a:solidFill>
            <a:srgbClr val="D8602A"/>
          </a:solidFill>
          <a:ln w="15875">
            <a:solidFill>
              <a:srgbClr val="D8602A"/>
            </a:solidFill>
          </a:ln>
        </p:spPr>
        <p:txBody>
          <a:bodyPr rtlCol="0" anchor="ctr"/>
          <a:lstStyle/>
          <a:p>
            <a:pPr algn="ctr"/>
          </a:p>
        </p:txBody>
      </p:sp>
      <p:sp>
        <p:nvSpPr>
          <p:cNvPr id="63" name="Oval 62"/>
          <p:cNvSpPr/>
          <p:nvPr/>
        </p:nvSpPr>
        <p:spPr>
          <a:xfrm>
            <a:off x="6275451" y="4585716"/>
            <a:ext cx="192024" cy="192024"/>
          </a:xfrm>
          <a:prstGeom prst="ellipse">
            <a:avLst/>
          </a:prstGeom>
          <a:solidFill>
            <a:srgbClr val="D8602A"/>
          </a:solidFill>
          <a:ln w="15875">
            <a:solidFill>
              <a:srgbClr val="D8602A"/>
            </a:solidFill>
          </a:ln>
        </p:spPr>
        <p:txBody>
          <a:bodyPr rtlCol="0" anchor="ctr"/>
          <a:lstStyle/>
          <a:p>
            <a:pPr algn="ctr"/>
          </a:p>
        </p:txBody>
      </p:sp>
      <p:sp>
        <p:nvSpPr>
          <p:cNvPr id="64" name="Oval 63"/>
          <p:cNvSpPr/>
          <p:nvPr/>
        </p:nvSpPr>
        <p:spPr>
          <a:xfrm>
            <a:off x="7781620" y="4585716"/>
            <a:ext cx="192024" cy="192024"/>
          </a:xfrm>
          <a:prstGeom prst="ellipse">
            <a:avLst/>
          </a:prstGeom>
          <a:solidFill>
            <a:srgbClr val="D8602A"/>
          </a:solidFill>
          <a:ln w="15875">
            <a:solidFill>
              <a:srgbClr val="D8602A"/>
            </a:solidFill>
          </a:ln>
        </p:spPr>
        <p:txBody>
          <a:bodyPr rtlCol="0" anchor="ctr"/>
          <a:lstStyle/>
          <a:p>
            <a:pPr algn="ctr"/>
          </a:p>
        </p:txBody>
      </p:sp>
      <p:sp>
        <p:nvSpPr>
          <p:cNvPr id="65" name="Oval 64"/>
          <p:cNvSpPr/>
          <p:nvPr/>
        </p:nvSpPr>
        <p:spPr>
          <a:xfrm>
            <a:off x="9287789" y="4585716"/>
            <a:ext cx="192024" cy="192024"/>
          </a:xfrm>
          <a:prstGeom prst="ellipse">
            <a:avLst/>
          </a:prstGeom>
          <a:solidFill>
            <a:srgbClr val="FFFFFF"/>
          </a:solidFill>
          <a:ln w="15875">
            <a:solidFill>
              <a:srgbClr val="D8602A"/>
            </a:solidFill>
          </a:ln>
        </p:spPr>
        <p:txBody>
          <a:bodyPr rtlCol="0" anchor="ctr"/>
          <a:lstStyle/>
          <a:p>
            <a:pPr algn="ctr"/>
          </a:p>
        </p:txBody>
      </p:sp>
      <p:sp>
        <p:nvSpPr>
          <p:cNvPr id="66" name="Oval 65"/>
          <p:cNvSpPr/>
          <p:nvPr/>
        </p:nvSpPr>
        <p:spPr>
          <a:xfrm>
            <a:off x="10793959" y="4585716"/>
            <a:ext cx="192024" cy="192024"/>
          </a:xfrm>
          <a:prstGeom prst="ellipse">
            <a:avLst/>
          </a:prstGeom>
          <a:solidFill>
            <a:srgbClr val="D8602A"/>
          </a:solidFill>
          <a:ln w="15875">
            <a:solidFill>
              <a:srgbClr val="D8602A"/>
            </a:solidFill>
          </a:ln>
        </p:spPr>
        <p:txBody>
          <a:bodyPr rtlCol="0" anchor="ctr"/>
          <a:lstStyle/>
          <a:p>
            <a:pPr algn="ctr"/>
          </a:p>
        </p:txBody>
      </p:sp>
      <p:cxnSp>
        <p:nvCxnSpPr>
          <p:cNvPr id="67" name="Connector 66"/>
          <p:cNvCxnSpPr/>
          <p:nvPr/>
        </p:nvCxnSpPr>
        <p:spPr>
          <a:xfrm>
            <a:off x="548640" y="4873752"/>
            <a:ext cx="11094415" cy="0"/>
          </a:xfrm>
          <a:prstGeom prst="line">
            <a:avLst/>
          </a:prstGeom>
          <a:ln w="9525">
            <a:solidFill>
              <a:srgbClr val="D1D5DB"/>
            </a:solidFill>
          </a:ln>
        </p:spPr>
      </p:cxnSp>
      <p:sp>
        <p:nvSpPr>
          <p:cNvPr id="68" name="TextBox 67"/>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9" name="TextBox 68"/>
          <p:cNvSpPr txBox="1"/>
          <p:nvPr/>
        </p:nvSpPr>
        <p:spPr>
          <a:xfrm>
            <a:off x="2651760"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70" name="TextBox 69"/>
          <p:cNvSpPr txBox="1"/>
          <p:nvPr/>
        </p:nvSpPr>
        <p:spPr>
          <a:xfrm>
            <a:off x="4157929"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71" name="TextBox 70"/>
          <p:cNvSpPr txBox="1"/>
          <p:nvPr/>
        </p:nvSpPr>
        <p:spPr>
          <a:xfrm>
            <a:off x="566409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72" name="TextBox 71"/>
          <p:cNvSpPr txBox="1"/>
          <p:nvPr/>
        </p:nvSpPr>
        <p:spPr>
          <a:xfrm>
            <a:off x="717026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73" name="TextBox 72"/>
          <p:cNvSpPr txBox="1"/>
          <p:nvPr/>
        </p:nvSpPr>
        <p:spPr>
          <a:xfrm>
            <a:off x="8676437"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relatives in Pakistan and the UAE</a:t>
            </a:r>
          </a:p>
        </p:txBody>
      </p:sp>
      <p:sp>
        <p:nvSpPr>
          <p:cNvPr id="74" name="TextBox 73"/>
          <p:cNvSpPr txBox="1"/>
          <p:nvPr/>
        </p:nvSpPr>
        <p:spPr>
          <a:xfrm>
            <a:off x="10182606"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75" name="Connector 74"/>
          <p:cNvCxnSpPr/>
          <p:nvPr/>
        </p:nvCxnSpPr>
        <p:spPr>
          <a:xfrm>
            <a:off x="548640" y="5440680"/>
            <a:ext cx="11094415" cy="0"/>
          </a:xfrm>
          <a:prstGeom prst="line">
            <a:avLst/>
          </a:prstGeom>
          <a:ln w="9525">
            <a:solidFill>
              <a:srgbClr val="D1D5DB"/>
            </a:solidFill>
          </a:ln>
        </p:spPr>
      </p:cxnSp>
      <p:sp>
        <p:nvSpPr>
          <p:cNvPr id="76" name="Oval 75"/>
          <p:cNvSpPr/>
          <p:nvPr/>
        </p:nvSpPr>
        <p:spPr>
          <a:xfrm>
            <a:off x="562356" y="5591556"/>
            <a:ext cx="155448" cy="155448"/>
          </a:xfrm>
          <a:prstGeom prst="ellipse">
            <a:avLst/>
          </a:prstGeom>
          <a:solidFill>
            <a:srgbClr val="D8602A"/>
          </a:solidFill>
          <a:ln w="15875">
            <a:solidFill>
              <a:srgbClr val="D8602A"/>
            </a:solidFill>
          </a:ln>
        </p:spPr>
        <p:txBody>
          <a:bodyPr rtlCol="0" anchor="ctr"/>
          <a:lstStyle/>
          <a:p>
            <a:pPr algn="ctr"/>
          </a:p>
        </p:txBody>
      </p:sp>
      <p:sp>
        <p:nvSpPr>
          <p:cNvPr id="77" name="TextBox 76"/>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4B5563"/>
                </a:solidFill>
                <a:latin typeface="Arial"/>
              </a:rPr>
              <a:t>required</a:t>
            </a:r>
          </a:p>
        </p:txBody>
      </p:sp>
      <p:sp>
        <p:nvSpPr>
          <p:cNvPr id="78" name="Oval 77"/>
          <p:cNvSpPr/>
          <p:nvPr/>
        </p:nvSpPr>
        <p:spPr>
          <a:xfrm>
            <a:off x="1659636" y="5591556"/>
            <a:ext cx="155448" cy="155448"/>
          </a:xfrm>
          <a:prstGeom prst="ellipse">
            <a:avLst/>
          </a:prstGeom>
          <a:solidFill>
            <a:srgbClr val="FFFFFF"/>
          </a:solidFill>
          <a:ln w="15875">
            <a:solidFill>
              <a:srgbClr val="D8602A"/>
            </a:solidFill>
          </a:ln>
        </p:spPr>
        <p:txBody>
          <a:bodyPr rtlCol="0" anchor="ctr"/>
          <a:lstStyle/>
          <a:p>
            <a:pPr algn="ctr"/>
          </a:p>
        </p:txBody>
      </p:sp>
      <p:sp>
        <p:nvSpPr>
          <p:cNvPr id="79" name="TextBox 78"/>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not required</a:t>
            </a:r>
          </a:p>
        </p:txBody>
      </p:sp>
      <p:sp>
        <p:nvSpPr>
          <p:cNvPr id="80" name="Rectangle 79"/>
          <p:cNvSpPr/>
          <p:nvPr/>
        </p:nvSpPr>
        <p:spPr>
          <a:xfrm>
            <a:off x="3200400" y="5586984"/>
            <a:ext cx="155448" cy="155448"/>
          </a:xfrm>
          <a:prstGeom prst="rect">
            <a:avLst/>
          </a:prstGeom>
          <a:solidFill>
            <a:srgbClr val="EFA27A"/>
          </a:solidFill>
          <a:ln>
            <a:noFill/>
          </a:ln>
        </p:spPr>
        <p:txBody>
          <a:bodyPr rtlCol="0" anchor="ctr"/>
          <a:lstStyle/>
          <a:p>
            <a:pPr algn="ctr"/>
          </a:p>
        </p:txBody>
      </p:sp>
      <p:sp>
        <p:nvSpPr>
          <p:cNvPr id="81" name="TextBox 80"/>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1</a:t>
            </a:r>
          </a:p>
        </p:txBody>
      </p:sp>
      <p:sp>
        <p:nvSpPr>
          <p:cNvPr id="82" name="Rectangle 81"/>
          <p:cNvSpPr/>
          <p:nvPr/>
        </p:nvSpPr>
        <p:spPr>
          <a:xfrm>
            <a:off x="4526280" y="5586984"/>
            <a:ext cx="155448" cy="155448"/>
          </a:xfrm>
          <a:prstGeom prst="rect">
            <a:avLst/>
          </a:prstGeom>
          <a:solidFill>
            <a:srgbClr val="D8602A"/>
          </a:solidFill>
          <a:ln>
            <a:noFill/>
          </a:ln>
        </p:spPr>
        <p:txBody>
          <a:bodyPr rtlCol="0" anchor="ctr"/>
          <a:lstStyle/>
          <a:p>
            <a:pPr algn="ctr"/>
          </a:p>
        </p:txBody>
      </p:sp>
      <p:sp>
        <p:nvSpPr>
          <p:cNvPr id="83" name="TextBox 82"/>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2</a:t>
            </a:r>
          </a:p>
        </p:txBody>
      </p:sp>
      <p:sp>
        <p:nvSpPr>
          <p:cNvPr id="84" name="Rectangle 83"/>
          <p:cNvSpPr/>
          <p:nvPr/>
        </p:nvSpPr>
        <p:spPr>
          <a:xfrm>
            <a:off x="5852160" y="5586984"/>
            <a:ext cx="155448" cy="155448"/>
          </a:xfrm>
          <a:prstGeom prst="rect">
            <a:avLst/>
          </a:prstGeom>
          <a:solidFill>
            <a:srgbClr val="9E3F17"/>
          </a:solidFill>
          <a:ln>
            <a:noFill/>
          </a:ln>
        </p:spPr>
        <p:txBody>
          <a:bodyPr rtlCol="0" anchor="ctr"/>
          <a:lstStyle/>
          <a:p>
            <a:pPr algn="ctr"/>
          </a:p>
        </p:txBody>
      </p:sp>
      <p:sp>
        <p:nvSpPr>
          <p:cNvPr id="85" name="TextBox 84"/>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3</a:t>
            </a:r>
          </a:p>
        </p:txBody>
      </p:sp>
      <p:sp>
        <p:nvSpPr>
          <p:cNvPr id="86" name="TextBox 85"/>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4B5563"/>
                </a:solidFill>
                <a:latin typeface="Arial"/>
              </a:rPr>
              <a:t>In every type, early turns must be earned.</a:t>
            </a:r>
          </a:p>
        </p:txBody>
      </p:sp>
      <p:sp>
        <p:nvSpPr>
          <p:cNvPr id="87" name="Rectangle 86"/>
          <p:cNvSpPr/>
          <p:nvPr/>
        </p:nvSpPr>
        <p:spPr>
          <a:xfrm>
            <a:off x="10164318" y="1243584"/>
            <a:ext cx="1451305" cy="256032"/>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15</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Direct debit mandate; takaful or insurance on circles between strangers</a:t>
            </a:r>
          </a:p>
        </p:txBody>
      </p:sp>
      <p:sp>
        <p:nvSpPr>
          <p:cNvPr id="10" name="Chevron 9"/>
          <p:cNvSpPr/>
          <p:nvPr/>
        </p:nvSpPr>
        <p:spPr>
          <a:xfrm>
            <a:off x="6013552" y="1536192"/>
            <a:ext cx="2897048" cy="475488"/>
          </a:xfrm>
          <a:prstGeom prst="chevron">
            <a:avLst>
              <a:gd name="adj" fmla="val 28000"/>
            </a:avLst>
          </a:prstGeom>
          <a:solidFill>
            <a:srgbClr val="D8602A"/>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D8602A"/>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6B7280"/>
                </a:solidFill>
                <a:latin typeface="Arial"/>
              </a:rPr>
              <a:t>   Rs thousand, by turn, circle of 12 at Rs 10,000</a:t>
            </a:r>
          </a:p>
        </p:txBody>
      </p:sp>
      <p:graphicFrame>
        <p:nvGraphicFramePr>
          <p:cNvPr id="16" name="Chart 15"/>
          <p:cNvGraphicFramePr>
            <a:graphicFrameLocks noGrp="1"/>
          </p:cNvGraphicFramePr>
          <p:nvPr/>
        </p:nvGraphicFramePr>
        <p:xfrm>
          <a:off x="457200" y="4041648"/>
          <a:ext cx="6172200" cy="1572768"/>
        </p:xfrm>
        <a:graphic>
          <a:graphicData uri="http://schemas.openxmlformats.org/drawingml/2006/chart">
            <c:chart xmlns:c="http://schemas.openxmlformats.org/drawingml/2006/chart" r:id="rId3"/>
          </a:graphicData>
        </a:graphic>
      </p:graphicFrame>
      <p:cxnSp>
        <p:nvCxnSpPr>
          <p:cNvPr id="17" name="Connector 16"/>
          <p:cNvCxnSpPr/>
          <p:nvPr/>
        </p:nvCxnSpPr>
        <p:spPr>
          <a:xfrm>
            <a:off x="658368" y="5669280"/>
            <a:ext cx="2875788" cy="0"/>
          </a:xfrm>
          <a:prstGeom prst="line">
            <a:avLst/>
          </a:prstGeom>
          <a:ln w="9525">
            <a:solidFill>
              <a:srgbClr val="4B5563"/>
            </a:solidFill>
          </a:ln>
        </p:spPr>
      </p:cxnSp>
      <p:cxnSp>
        <p:nvCxnSpPr>
          <p:cNvPr id="18" name="Connector 17"/>
          <p:cNvCxnSpPr/>
          <p:nvPr/>
        </p:nvCxnSpPr>
        <p:spPr>
          <a:xfrm>
            <a:off x="658368" y="5605272"/>
            <a:ext cx="0" cy="64008"/>
          </a:xfrm>
          <a:prstGeom prst="line">
            <a:avLst/>
          </a:prstGeom>
          <a:ln w="9525">
            <a:solidFill>
              <a:srgbClr val="4B5563"/>
            </a:solidFill>
          </a:ln>
        </p:spPr>
      </p:cxnSp>
      <p:cxnSp>
        <p:nvCxnSpPr>
          <p:cNvPr id="19" name="Connector 18"/>
          <p:cNvCxnSpPr/>
          <p:nvPr/>
        </p:nvCxnSpPr>
        <p:spPr>
          <a:xfrm>
            <a:off x="3534156" y="5605272"/>
            <a:ext cx="0" cy="64008"/>
          </a:xfrm>
          <a:prstGeom prst="line">
            <a:avLst/>
          </a:prstGeom>
          <a:ln w="9525">
            <a:solidFill>
              <a:srgbClr val="4B5563"/>
            </a:solidFill>
          </a:ln>
        </p:spPr>
      </p:cxnSp>
      <p:sp>
        <p:nvSpPr>
          <p:cNvPr id="20" name="TextBox 19"/>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21" name="Connector 20"/>
          <p:cNvCxnSpPr/>
          <p:nvPr/>
        </p:nvCxnSpPr>
        <p:spPr>
          <a:xfrm>
            <a:off x="3607308" y="5669280"/>
            <a:ext cx="1401318" cy="0"/>
          </a:xfrm>
          <a:prstGeom prst="line">
            <a:avLst/>
          </a:prstGeom>
          <a:ln w="9525">
            <a:solidFill>
              <a:srgbClr val="4B5563"/>
            </a:solidFill>
          </a:ln>
        </p:spPr>
      </p:cxnSp>
      <p:cxnSp>
        <p:nvCxnSpPr>
          <p:cNvPr id="22" name="Connector 21"/>
          <p:cNvCxnSpPr/>
          <p:nvPr/>
        </p:nvCxnSpPr>
        <p:spPr>
          <a:xfrm>
            <a:off x="3607308" y="5605272"/>
            <a:ext cx="0" cy="64008"/>
          </a:xfrm>
          <a:prstGeom prst="line">
            <a:avLst/>
          </a:prstGeom>
          <a:ln w="9525">
            <a:solidFill>
              <a:srgbClr val="4B5563"/>
            </a:solidFill>
          </a:ln>
        </p:spPr>
      </p:cxnSp>
      <p:cxnSp>
        <p:nvCxnSpPr>
          <p:cNvPr id="23" name="Connector 22"/>
          <p:cNvCxnSpPr/>
          <p:nvPr/>
        </p:nvCxnSpPr>
        <p:spPr>
          <a:xfrm>
            <a:off x="5008626" y="5605272"/>
            <a:ext cx="0" cy="64008"/>
          </a:xfrm>
          <a:prstGeom prst="line">
            <a:avLst/>
          </a:prstGeom>
          <a:ln w="9525">
            <a:solidFill>
              <a:srgbClr val="4B5563"/>
            </a:solidFill>
          </a:ln>
        </p:spPr>
      </p:cxnSp>
      <p:sp>
        <p:nvSpPr>
          <p:cNvPr id="24" name="TextBox 23"/>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25" name="Connector 24"/>
          <p:cNvCxnSpPr/>
          <p:nvPr/>
        </p:nvCxnSpPr>
        <p:spPr>
          <a:xfrm>
            <a:off x="5081778" y="5669280"/>
            <a:ext cx="1401318" cy="0"/>
          </a:xfrm>
          <a:prstGeom prst="line">
            <a:avLst/>
          </a:prstGeom>
          <a:ln w="9525">
            <a:solidFill>
              <a:srgbClr val="4B5563"/>
            </a:solidFill>
          </a:ln>
        </p:spPr>
      </p:cxnSp>
      <p:cxnSp>
        <p:nvCxnSpPr>
          <p:cNvPr id="26" name="Connector 25"/>
          <p:cNvCxnSpPr/>
          <p:nvPr/>
        </p:nvCxnSpPr>
        <p:spPr>
          <a:xfrm>
            <a:off x="5081778" y="5605272"/>
            <a:ext cx="0" cy="64008"/>
          </a:xfrm>
          <a:prstGeom prst="line">
            <a:avLst/>
          </a:prstGeom>
          <a:ln w="9525">
            <a:solidFill>
              <a:srgbClr val="4B5563"/>
            </a:solidFill>
          </a:ln>
        </p:spPr>
      </p:cxnSp>
      <p:cxnSp>
        <p:nvCxnSpPr>
          <p:cNvPr id="27" name="Connector 26"/>
          <p:cNvCxnSpPr/>
          <p:nvPr/>
        </p:nvCxnSpPr>
        <p:spPr>
          <a:xfrm>
            <a:off x="6483096" y="5605272"/>
            <a:ext cx="0" cy="64008"/>
          </a:xfrm>
          <a:prstGeom prst="line">
            <a:avLst/>
          </a:prstGeom>
          <a:ln w="9525">
            <a:solidFill>
              <a:srgbClr val="4B5563"/>
            </a:solidFill>
          </a:ln>
        </p:spPr>
      </p:cxnSp>
      <p:sp>
        <p:nvSpPr>
          <p:cNvPr id="28" name="TextBox 27"/>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29" name="TextBox 28"/>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4B5563"/>
                </a:solidFill>
                <a:latin typeface="Arial"/>
              </a:rPr>
              <a:t>New members start in the last three turns until two circles complete cleanly.</a:t>
            </a:r>
          </a:p>
        </p:txBody>
      </p:sp>
      <p:sp>
        <p:nvSpPr>
          <p:cNvPr id="30" name="TextBox 29"/>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31" name="Rectangle 30"/>
          <p:cNvSpPr/>
          <p:nvPr/>
        </p:nvSpPr>
        <p:spPr>
          <a:xfrm>
            <a:off x="7086600" y="4206240"/>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32" name="TextBox 31"/>
          <p:cNvSpPr txBox="1"/>
          <p:nvPr/>
        </p:nvSpPr>
        <p:spPr>
          <a:xfrm>
            <a:off x="7379208" y="416052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33" name="Rectangle 32"/>
          <p:cNvSpPr/>
          <p:nvPr/>
        </p:nvSpPr>
        <p:spPr>
          <a:xfrm>
            <a:off x="7086600" y="4507992"/>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34" name="TextBox 33"/>
          <p:cNvSpPr txBox="1"/>
          <p:nvPr/>
        </p:nvSpPr>
        <p:spPr>
          <a:xfrm>
            <a:off x="7379208" y="4462272"/>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35" name="Rectangle 34"/>
          <p:cNvSpPr/>
          <p:nvPr/>
        </p:nvSpPr>
        <p:spPr>
          <a:xfrm>
            <a:off x="7086600" y="4809744"/>
            <a:ext cx="201168" cy="201168"/>
          </a:xfrm>
          <a:prstGeom prst="rect">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36" name="TextBox 35"/>
          <p:cNvSpPr txBox="1"/>
          <p:nvPr/>
        </p:nvSpPr>
        <p:spPr>
          <a:xfrm>
            <a:off x="7379208" y="4764024"/>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or insurance pays the members left short</a:t>
            </a:r>
          </a:p>
        </p:txBody>
      </p:sp>
      <p:sp>
        <p:nvSpPr>
          <p:cNvPr id="37" name="Rectangle 36"/>
          <p:cNvSpPr/>
          <p:nvPr/>
        </p:nvSpPr>
        <p:spPr>
          <a:xfrm>
            <a:off x="7086600" y="5111496"/>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38" name="TextBox 37"/>
          <p:cNvSpPr txBox="1"/>
          <p:nvPr/>
        </p:nvSpPr>
        <p:spPr>
          <a:xfrm>
            <a:off x="7379208" y="5065776"/>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39" name="Rectangle 38"/>
          <p:cNvSpPr/>
          <p:nvPr/>
        </p:nvSpPr>
        <p:spPr>
          <a:xfrm>
            <a:off x="7086600" y="5413248"/>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40" name="TextBox 39"/>
          <p:cNvSpPr txBox="1"/>
          <p:nvPr/>
        </p:nvSpPr>
        <p:spPr>
          <a:xfrm>
            <a:off x="7379208" y="5367528"/>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41" name="Rectangle 40"/>
          <p:cNvSpPr/>
          <p:nvPr/>
        </p:nvSpPr>
        <p:spPr>
          <a:xfrm>
            <a:off x="7086600" y="5715000"/>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42" name="TextBox 41"/>
          <p:cNvSpPr txBox="1"/>
          <p:nvPr/>
        </p:nvSpPr>
        <p:spPr>
          <a:xfrm>
            <a:off x="7379208" y="566928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43" name="TextBox 42"/>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6B7280"/>
                </a:solidFill>
                <a:latin typeface="Arial"/>
              </a:rPr>
              <a:t>Recovery detail: Appendix A4</a:t>
            </a:r>
          </a:p>
        </p:txBody>
      </p:sp>
      <p:sp>
        <p:nvSpPr>
          <p:cNvPr id="44" name="TextBox 4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Default Prevention (HQ-CP-05); seat bands confirmed mandatory 28 September 2026; State Bank 40 per cent limit, BPRD Circular Letter 29 of 2021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16</a:t>
            </a:r>
          </a:p>
        </p:txBody>
      </p:sp>
      <p:sp>
        <p:nvSpPr>
          <p:cNvPr id="6" name="TextBox 5"/>
          <p:cNvSpPr txBox="1"/>
          <p:nvPr/>
        </p:nvSpPr>
        <p:spPr>
          <a:xfrm>
            <a:off x="548640" y="1481328"/>
            <a:ext cx="51206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6B7280"/>
                </a:solidFill>
                <a:latin typeface="Arial"/>
              </a:rPr>
              <a:t>   Rs</a:t>
            </a:r>
          </a:p>
        </p:txBody>
      </p:sp>
      <p:sp>
        <p:nvSpPr>
          <p:cNvPr id="7" name="TextBox 6"/>
          <p:cNvSpPr txBox="1"/>
          <p:nvPr/>
        </p:nvSpPr>
        <p:spPr>
          <a:xfrm>
            <a:off x="548640" y="1755648"/>
            <a:ext cx="5120640" cy="237744"/>
          </a:xfrm>
          <a:prstGeom prst="rect">
            <a:avLst/>
          </a:prstGeom>
          <a:noFill/>
        </p:spPr>
        <p:txBody>
          <a:bodyPr wrap="square" lIns="0" tIns="0" rIns="0" bIns="0">
            <a:spAutoFit/>
          </a:bodyPr>
          <a:lstStyle/>
          <a:p>
            <a:pPr>
              <a:lnSpc>
                <a:spcPct val="105000"/>
              </a:lnSpc>
            </a:pPr>
            <a:r>
              <a:rPr sz="1050">
                <a:solidFill>
                  <a:srgbClr val="4B5563"/>
                </a:solidFill>
                <a:latin typeface="Arial"/>
              </a:rPr>
              <a:t>The member pays Rs 11,047</a:t>
            </a:r>
          </a:p>
        </p:txBody>
      </p:sp>
      <p:sp>
        <p:nvSpPr>
          <p:cNvPr id="8" name="Rectangle 7"/>
          <p:cNvSpPr/>
          <p:nvPr/>
        </p:nvSpPr>
        <p:spPr>
          <a:xfrm>
            <a:off x="566928" y="2103120"/>
            <a:ext cx="146304" cy="2194560"/>
          </a:xfrm>
          <a:prstGeom prst="rect">
            <a:avLst/>
          </a:prstGeom>
          <a:solidFill>
            <a:srgbClr val="0C1408"/>
          </a:solidFill>
          <a:ln>
            <a:noFill/>
          </a:ln>
        </p:spPr>
        <p:txBody>
          <a:bodyPr rtlCol="0" anchor="ctr"/>
          <a:lstStyle/>
          <a:p>
            <a:pPr algn="ctr"/>
          </a:p>
        </p:txBody>
      </p:sp>
      <p:sp>
        <p:nvSpPr>
          <p:cNvPr id="9" name="Freeform 8"/>
          <p:cNvSpPr/>
          <p:nvPr/>
        </p:nvSpPr>
        <p:spPr>
          <a:xfrm>
            <a:off x="713232" y="2011680"/>
            <a:ext cx="1801368" cy="2078006"/>
          </a:xfrm>
          <a:custGeom>
            <a:avLst/>
            <a:gdLst/>
            <a:ahLst/>
            <a:cxnLst/>
            <a:rect l="l" t="t" r="r" b="b"/>
            <a:pathLst>
              <a:path w="1801368" h="2078006">
                <a:moveTo>
                  <a:pt x="0" y="91440"/>
                </a:moveTo>
                <a:lnTo>
                  <a:pt x="60046" y="91142"/>
                </a:lnTo>
                <a:lnTo>
                  <a:pt x="120091" y="90275"/>
                </a:lnTo>
                <a:lnTo>
                  <a:pt x="180137" y="88880"/>
                </a:lnTo>
                <a:lnTo>
                  <a:pt x="240182" y="86997"/>
                </a:lnTo>
                <a:lnTo>
                  <a:pt x="300228" y="84667"/>
                </a:lnTo>
                <a:lnTo>
                  <a:pt x="360274" y="81930"/>
                </a:lnTo>
                <a:lnTo>
                  <a:pt x="420319" y="78828"/>
                </a:lnTo>
                <a:lnTo>
                  <a:pt x="480365" y="75401"/>
                </a:lnTo>
                <a:lnTo>
                  <a:pt x="540410" y="71689"/>
                </a:lnTo>
                <a:lnTo>
                  <a:pt x="600456" y="67733"/>
                </a:lnTo>
                <a:lnTo>
                  <a:pt x="660502" y="63575"/>
                </a:lnTo>
                <a:lnTo>
                  <a:pt x="720547" y="59253"/>
                </a:lnTo>
                <a:lnTo>
                  <a:pt x="780593" y="54810"/>
                </a:lnTo>
                <a:lnTo>
                  <a:pt x="840638" y="50285"/>
                </a:lnTo>
                <a:lnTo>
                  <a:pt x="900684" y="45720"/>
                </a:lnTo>
                <a:lnTo>
                  <a:pt x="960730" y="41155"/>
                </a:lnTo>
                <a:lnTo>
                  <a:pt x="1020775" y="36630"/>
                </a:lnTo>
                <a:lnTo>
                  <a:pt x="1080821" y="32187"/>
                </a:lnTo>
                <a:lnTo>
                  <a:pt x="1140866" y="27865"/>
                </a:lnTo>
                <a:lnTo>
                  <a:pt x="1200912" y="23707"/>
                </a:lnTo>
                <a:lnTo>
                  <a:pt x="1260958" y="19751"/>
                </a:lnTo>
                <a:lnTo>
                  <a:pt x="1321003" y="16039"/>
                </a:lnTo>
                <a:lnTo>
                  <a:pt x="1381049" y="12612"/>
                </a:lnTo>
                <a:lnTo>
                  <a:pt x="1441094" y="9510"/>
                </a:lnTo>
                <a:lnTo>
                  <a:pt x="1501140" y="6773"/>
                </a:lnTo>
                <a:lnTo>
                  <a:pt x="1561186" y="4443"/>
                </a:lnTo>
                <a:lnTo>
                  <a:pt x="1621231" y="2560"/>
                </a:lnTo>
                <a:lnTo>
                  <a:pt x="1681277" y="1165"/>
                </a:lnTo>
                <a:lnTo>
                  <a:pt x="1741322" y="298"/>
                </a:lnTo>
                <a:lnTo>
                  <a:pt x="1801368" y="0"/>
                </a:lnTo>
                <a:lnTo>
                  <a:pt x="1801368" y="1986566"/>
                </a:lnTo>
                <a:lnTo>
                  <a:pt x="1741322" y="1986865"/>
                </a:lnTo>
                <a:lnTo>
                  <a:pt x="1681277" y="1987732"/>
                </a:lnTo>
                <a:lnTo>
                  <a:pt x="1621231" y="1989127"/>
                </a:lnTo>
                <a:lnTo>
                  <a:pt x="1561186" y="1991010"/>
                </a:lnTo>
                <a:lnTo>
                  <a:pt x="1501140" y="1993340"/>
                </a:lnTo>
                <a:lnTo>
                  <a:pt x="1441094" y="1996076"/>
                </a:lnTo>
                <a:lnTo>
                  <a:pt x="1381049" y="1999178"/>
                </a:lnTo>
                <a:lnTo>
                  <a:pt x="1321003" y="2002606"/>
                </a:lnTo>
                <a:lnTo>
                  <a:pt x="1260958" y="2006318"/>
                </a:lnTo>
                <a:lnTo>
                  <a:pt x="1200912" y="2010273"/>
                </a:lnTo>
                <a:lnTo>
                  <a:pt x="1140866" y="2014432"/>
                </a:lnTo>
                <a:lnTo>
                  <a:pt x="1080821" y="2018753"/>
                </a:lnTo>
                <a:lnTo>
                  <a:pt x="1020775" y="2023197"/>
                </a:lnTo>
                <a:lnTo>
                  <a:pt x="960730" y="2027721"/>
                </a:lnTo>
                <a:lnTo>
                  <a:pt x="900684" y="2032286"/>
                </a:lnTo>
                <a:lnTo>
                  <a:pt x="840638" y="2036852"/>
                </a:lnTo>
                <a:lnTo>
                  <a:pt x="780593" y="2041376"/>
                </a:lnTo>
                <a:lnTo>
                  <a:pt x="720547" y="2045820"/>
                </a:lnTo>
                <a:lnTo>
                  <a:pt x="660502" y="2050141"/>
                </a:lnTo>
                <a:lnTo>
                  <a:pt x="600456" y="2054300"/>
                </a:lnTo>
                <a:lnTo>
                  <a:pt x="540410" y="2058255"/>
                </a:lnTo>
                <a:lnTo>
                  <a:pt x="480365" y="2061967"/>
                </a:lnTo>
                <a:lnTo>
                  <a:pt x="420319" y="2065395"/>
                </a:lnTo>
                <a:lnTo>
                  <a:pt x="360274" y="2068497"/>
                </a:lnTo>
                <a:lnTo>
                  <a:pt x="300228" y="2071233"/>
                </a:lnTo>
                <a:lnTo>
                  <a:pt x="240182" y="2073563"/>
                </a:lnTo>
                <a:lnTo>
                  <a:pt x="180137" y="2075446"/>
                </a:lnTo>
                <a:lnTo>
                  <a:pt x="120091" y="2076841"/>
                </a:lnTo>
                <a:lnTo>
                  <a:pt x="60046" y="2077708"/>
                </a:lnTo>
                <a:lnTo>
                  <a:pt x="0" y="2078006"/>
                </a:lnTo>
                <a:close/>
              </a:path>
            </a:pathLst>
          </a:custGeom>
          <a:solidFill>
            <a:srgbClr val="D6E6FA"/>
          </a:solidFill>
          <a:ln>
            <a:noFill/>
          </a:ln>
        </p:spPr>
        <p:txBody>
          <a:bodyPr rtlCol="0" anchor="ctr"/>
          <a:lstStyle/>
          <a:p>
            <a:pPr algn="ctr"/>
          </a:p>
        </p:txBody>
      </p:sp>
      <p:sp>
        <p:nvSpPr>
          <p:cNvPr id="10" name="Rectangle 9"/>
          <p:cNvSpPr/>
          <p:nvPr/>
        </p:nvSpPr>
        <p:spPr>
          <a:xfrm>
            <a:off x="2514600" y="2011680"/>
            <a:ext cx="146304" cy="1986566"/>
          </a:xfrm>
          <a:prstGeom prst="rect">
            <a:avLst/>
          </a:prstGeom>
          <a:solidFill>
            <a:srgbClr val="2A78D6"/>
          </a:solidFill>
          <a:ln>
            <a:noFill/>
          </a:ln>
        </p:spPr>
        <p:txBody>
          <a:bodyPr rtlCol="0" anchor="ctr"/>
          <a:lstStyle/>
          <a:p>
            <a:pPr algn="ctr"/>
          </a:p>
        </p:txBody>
      </p:sp>
      <p:sp>
        <p:nvSpPr>
          <p:cNvPr id="11" name="Freeform 10"/>
          <p:cNvSpPr/>
          <p:nvPr/>
        </p:nvSpPr>
        <p:spPr>
          <a:xfrm>
            <a:off x="713232" y="4089686"/>
            <a:ext cx="1801368" cy="243507"/>
          </a:xfrm>
          <a:custGeom>
            <a:avLst/>
            <a:gdLst/>
            <a:ahLst/>
            <a:cxnLst/>
            <a:rect l="l" t="t" r="r" b="b"/>
            <a:pathLst>
              <a:path w="1801368" h="243507">
                <a:moveTo>
                  <a:pt x="0" y="0"/>
                </a:moveTo>
                <a:lnTo>
                  <a:pt x="60046" y="440"/>
                </a:lnTo>
                <a:lnTo>
                  <a:pt x="120091" y="1718"/>
                </a:lnTo>
                <a:lnTo>
                  <a:pt x="180137" y="3776"/>
                </a:lnTo>
                <a:lnTo>
                  <a:pt x="240182" y="6553"/>
                </a:lnTo>
                <a:lnTo>
                  <a:pt x="300228" y="9989"/>
                </a:lnTo>
                <a:lnTo>
                  <a:pt x="360274" y="14024"/>
                </a:lnTo>
                <a:lnTo>
                  <a:pt x="420319" y="18599"/>
                </a:lnTo>
                <a:lnTo>
                  <a:pt x="480365" y="23653"/>
                </a:lnTo>
                <a:lnTo>
                  <a:pt x="540410" y="29126"/>
                </a:lnTo>
                <a:lnTo>
                  <a:pt x="600456" y="34959"/>
                </a:lnTo>
                <a:lnTo>
                  <a:pt x="660502" y="41092"/>
                </a:lnTo>
                <a:lnTo>
                  <a:pt x="720547" y="47465"/>
                </a:lnTo>
                <a:lnTo>
                  <a:pt x="780593" y="54017"/>
                </a:lnTo>
                <a:lnTo>
                  <a:pt x="840638" y="60689"/>
                </a:lnTo>
                <a:lnTo>
                  <a:pt x="900684" y="67421"/>
                </a:lnTo>
                <a:lnTo>
                  <a:pt x="960730" y="74153"/>
                </a:lnTo>
                <a:lnTo>
                  <a:pt x="1020775" y="80825"/>
                </a:lnTo>
                <a:lnTo>
                  <a:pt x="1080821" y="87378"/>
                </a:lnTo>
                <a:lnTo>
                  <a:pt x="1140866" y="93750"/>
                </a:lnTo>
                <a:lnTo>
                  <a:pt x="1200912" y="99883"/>
                </a:lnTo>
                <a:lnTo>
                  <a:pt x="1260958" y="105716"/>
                </a:lnTo>
                <a:lnTo>
                  <a:pt x="1321003" y="111190"/>
                </a:lnTo>
                <a:lnTo>
                  <a:pt x="1381049" y="116244"/>
                </a:lnTo>
                <a:lnTo>
                  <a:pt x="1441094" y="120818"/>
                </a:lnTo>
                <a:lnTo>
                  <a:pt x="1501140" y="124854"/>
                </a:lnTo>
                <a:lnTo>
                  <a:pt x="1561186" y="128290"/>
                </a:lnTo>
                <a:lnTo>
                  <a:pt x="1621231" y="131066"/>
                </a:lnTo>
                <a:lnTo>
                  <a:pt x="1681277" y="133124"/>
                </a:lnTo>
                <a:lnTo>
                  <a:pt x="1741322" y="134403"/>
                </a:lnTo>
                <a:lnTo>
                  <a:pt x="1801368" y="134842"/>
                </a:lnTo>
                <a:lnTo>
                  <a:pt x="1801368" y="243507"/>
                </a:lnTo>
                <a:lnTo>
                  <a:pt x="1741322" y="243068"/>
                </a:lnTo>
                <a:lnTo>
                  <a:pt x="1681277" y="241789"/>
                </a:lnTo>
                <a:lnTo>
                  <a:pt x="1621231" y="239732"/>
                </a:lnTo>
                <a:lnTo>
                  <a:pt x="1561186" y="236955"/>
                </a:lnTo>
                <a:lnTo>
                  <a:pt x="1501140" y="233519"/>
                </a:lnTo>
                <a:lnTo>
                  <a:pt x="1441094" y="229484"/>
                </a:lnTo>
                <a:lnTo>
                  <a:pt x="1381049" y="224909"/>
                </a:lnTo>
                <a:lnTo>
                  <a:pt x="1321003" y="219855"/>
                </a:lnTo>
                <a:lnTo>
                  <a:pt x="1260958" y="214381"/>
                </a:lnTo>
                <a:lnTo>
                  <a:pt x="1200912" y="208548"/>
                </a:lnTo>
                <a:lnTo>
                  <a:pt x="1140866" y="202415"/>
                </a:lnTo>
                <a:lnTo>
                  <a:pt x="1080821" y="196043"/>
                </a:lnTo>
                <a:lnTo>
                  <a:pt x="1020775" y="189491"/>
                </a:lnTo>
                <a:lnTo>
                  <a:pt x="960730" y="182819"/>
                </a:lnTo>
                <a:lnTo>
                  <a:pt x="900684" y="176086"/>
                </a:lnTo>
                <a:lnTo>
                  <a:pt x="840638" y="169354"/>
                </a:lnTo>
                <a:lnTo>
                  <a:pt x="780593" y="162682"/>
                </a:lnTo>
                <a:lnTo>
                  <a:pt x="720547" y="156130"/>
                </a:lnTo>
                <a:lnTo>
                  <a:pt x="660502" y="149757"/>
                </a:lnTo>
                <a:lnTo>
                  <a:pt x="600456" y="143625"/>
                </a:lnTo>
                <a:lnTo>
                  <a:pt x="540410" y="137791"/>
                </a:lnTo>
                <a:lnTo>
                  <a:pt x="480365" y="132318"/>
                </a:lnTo>
                <a:lnTo>
                  <a:pt x="420319" y="127264"/>
                </a:lnTo>
                <a:lnTo>
                  <a:pt x="360274" y="122689"/>
                </a:lnTo>
                <a:lnTo>
                  <a:pt x="300228" y="118654"/>
                </a:lnTo>
                <a:lnTo>
                  <a:pt x="240182" y="115218"/>
                </a:lnTo>
                <a:lnTo>
                  <a:pt x="180137" y="112441"/>
                </a:lnTo>
                <a:lnTo>
                  <a:pt x="120091" y="110384"/>
                </a:lnTo>
                <a:lnTo>
                  <a:pt x="60046" y="109105"/>
                </a:lnTo>
                <a:lnTo>
                  <a:pt x="0" y="108666"/>
                </a:lnTo>
                <a:close/>
              </a:path>
            </a:pathLst>
          </a:custGeom>
          <a:solidFill>
            <a:srgbClr val="CFEFEA"/>
          </a:solidFill>
          <a:ln>
            <a:noFill/>
          </a:ln>
        </p:spPr>
        <p:txBody>
          <a:bodyPr rtlCol="0" anchor="ctr"/>
          <a:lstStyle/>
          <a:p>
            <a:pPr algn="ctr"/>
          </a:p>
        </p:txBody>
      </p:sp>
      <p:sp>
        <p:nvSpPr>
          <p:cNvPr id="12" name="Rectangle 11"/>
          <p:cNvSpPr/>
          <p:nvPr/>
        </p:nvSpPr>
        <p:spPr>
          <a:xfrm>
            <a:off x="2514600" y="4224528"/>
            <a:ext cx="146304" cy="108665"/>
          </a:xfrm>
          <a:prstGeom prst="rect">
            <a:avLst/>
          </a:prstGeom>
          <a:solidFill>
            <a:srgbClr val="0E9384"/>
          </a:solidFill>
          <a:ln>
            <a:noFill/>
          </a:ln>
        </p:spPr>
        <p:txBody>
          <a:bodyPr rtlCol="0" anchor="ctr"/>
          <a:lstStyle/>
          <a:p>
            <a:pPr algn="ctr"/>
          </a:p>
        </p:txBody>
      </p:sp>
      <p:sp>
        <p:nvSpPr>
          <p:cNvPr id="13" name="Freeform 12"/>
          <p:cNvSpPr/>
          <p:nvPr/>
        </p:nvSpPr>
        <p:spPr>
          <a:xfrm>
            <a:off x="713232" y="4198352"/>
            <a:ext cx="1801368" cy="399824"/>
          </a:xfrm>
          <a:custGeom>
            <a:avLst/>
            <a:gdLst/>
            <a:ahLst/>
            <a:cxnLst/>
            <a:rect l="l" t="t" r="r" b="b"/>
            <a:pathLst>
              <a:path w="1801368" h="399824">
                <a:moveTo>
                  <a:pt x="0" y="0"/>
                </a:moveTo>
                <a:lnTo>
                  <a:pt x="60046" y="979"/>
                </a:lnTo>
                <a:lnTo>
                  <a:pt x="120091" y="3828"/>
                </a:lnTo>
                <a:lnTo>
                  <a:pt x="180137" y="8414"/>
                </a:lnTo>
                <a:lnTo>
                  <a:pt x="240182" y="14602"/>
                </a:lnTo>
                <a:lnTo>
                  <a:pt x="300228" y="22259"/>
                </a:lnTo>
                <a:lnTo>
                  <a:pt x="360274" y="31251"/>
                </a:lnTo>
                <a:lnTo>
                  <a:pt x="420319" y="41446"/>
                </a:lnTo>
                <a:lnTo>
                  <a:pt x="480365" y="52709"/>
                </a:lnTo>
                <a:lnTo>
                  <a:pt x="540410" y="64907"/>
                </a:lnTo>
                <a:lnTo>
                  <a:pt x="600456" y="77906"/>
                </a:lnTo>
                <a:lnTo>
                  <a:pt x="660502" y="91573"/>
                </a:lnTo>
                <a:lnTo>
                  <a:pt x="720547" y="105774"/>
                </a:lnTo>
                <a:lnTo>
                  <a:pt x="780593" y="120376"/>
                </a:lnTo>
                <a:lnTo>
                  <a:pt x="840638" y="135245"/>
                </a:lnTo>
                <a:lnTo>
                  <a:pt x="900684" y="150248"/>
                </a:lnTo>
                <a:lnTo>
                  <a:pt x="960730" y="165250"/>
                </a:lnTo>
                <a:lnTo>
                  <a:pt x="1020775" y="180119"/>
                </a:lnTo>
                <a:lnTo>
                  <a:pt x="1080821" y="194721"/>
                </a:lnTo>
                <a:lnTo>
                  <a:pt x="1140866" y="208923"/>
                </a:lnTo>
                <a:lnTo>
                  <a:pt x="1200912" y="222590"/>
                </a:lnTo>
                <a:lnTo>
                  <a:pt x="1260958" y="235589"/>
                </a:lnTo>
                <a:lnTo>
                  <a:pt x="1321003" y="247787"/>
                </a:lnTo>
                <a:lnTo>
                  <a:pt x="1381049" y="259050"/>
                </a:lnTo>
                <a:lnTo>
                  <a:pt x="1441094" y="269244"/>
                </a:lnTo>
                <a:lnTo>
                  <a:pt x="1501140" y="278237"/>
                </a:lnTo>
                <a:lnTo>
                  <a:pt x="1561186" y="285894"/>
                </a:lnTo>
                <a:lnTo>
                  <a:pt x="1621231" y="292082"/>
                </a:lnTo>
                <a:lnTo>
                  <a:pt x="1681277" y="296667"/>
                </a:lnTo>
                <a:lnTo>
                  <a:pt x="1741322" y="299517"/>
                </a:lnTo>
                <a:lnTo>
                  <a:pt x="1801368" y="300496"/>
                </a:lnTo>
                <a:lnTo>
                  <a:pt x="1801368" y="399824"/>
                </a:lnTo>
                <a:lnTo>
                  <a:pt x="1741322" y="398845"/>
                </a:lnTo>
                <a:lnTo>
                  <a:pt x="1681277" y="395996"/>
                </a:lnTo>
                <a:lnTo>
                  <a:pt x="1621231" y="391410"/>
                </a:lnTo>
                <a:lnTo>
                  <a:pt x="1561186" y="385222"/>
                </a:lnTo>
                <a:lnTo>
                  <a:pt x="1501140" y="377565"/>
                </a:lnTo>
                <a:lnTo>
                  <a:pt x="1441094" y="368573"/>
                </a:lnTo>
                <a:lnTo>
                  <a:pt x="1381049" y="358378"/>
                </a:lnTo>
                <a:lnTo>
                  <a:pt x="1321003" y="347115"/>
                </a:lnTo>
                <a:lnTo>
                  <a:pt x="1260958" y="334917"/>
                </a:lnTo>
                <a:lnTo>
                  <a:pt x="1200912" y="321918"/>
                </a:lnTo>
                <a:lnTo>
                  <a:pt x="1140866" y="308251"/>
                </a:lnTo>
                <a:lnTo>
                  <a:pt x="1080821" y="294050"/>
                </a:lnTo>
                <a:lnTo>
                  <a:pt x="1020775" y="279448"/>
                </a:lnTo>
                <a:lnTo>
                  <a:pt x="960730" y="264579"/>
                </a:lnTo>
                <a:lnTo>
                  <a:pt x="900684" y="249576"/>
                </a:lnTo>
                <a:lnTo>
                  <a:pt x="840638" y="234574"/>
                </a:lnTo>
                <a:lnTo>
                  <a:pt x="780593" y="219705"/>
                </a:lnTo>
                <a:lnTo>
                  <a:pt x="720547" y="205103"/>
                </a:lnTo>
                <a:lnTo>
                  <a:pt x="660502" y="190901"/>
                </a:lnTo>
                <a:lnTo>
                  <a:pt x="600456" y="177234"/>
                </a:lnTo>
                <a:lnTo>
                  <a:pt x="540410" y="164235"/>
                </a:lnTo>
                <a:lnTo>
                  <a:pt x="480365" y="152037"/>
                </a:lnTo>
                <a:lnTo>
                  <a:pt x="420319" y="140774"/>
                </a:lnTo>
                <a:lnTo>
                  <a:pt x="360274" y="130580"/>
                </a:lnTo>
                <a:lnTo>
                  <a:pt x="300228" y="121587"/>
                </a:lnTo>
                <a:lnTo>
                  <a:pt x="240182" y="113930"/>
                </a:lnTo>
                <a:lnTo>
                  <a:pt x="180137" y="107742"/>
                </a:lnTo>
                <a:lnTo>
                  <a:pt x="120091" y="103157"/>
                </a:lnTo>
                <a:lnTo>
                  <a:pt x="60046" y="100307"/>
                </a:lnTo>
                <a:lnTo>
                  <a:pt x="0" y="99328"/>
                </a:lnTo>
                <a:close/>
              </a:path>
            </a:pathLst>
          </a:custGeom>
          <a:solidFill>
            <a:srgbClr val="F9DCCB"/>
          </a:solidFill>
          <a:ln>
            <a:noFill/>
          </a:ln>
        </p:spPr>
        <p:txBody>
          <a:bodyPr rtlCol="0" anchor="ctr"/>
          <a:lstStyle/>
          <a:p>
            <a:pPr algn="ctr"/>
          </a:p>
        </p:txBody>
      </p:sp>
      <p:sp>
        <p:nvSpPr>
          <p:cNvPr id="14" name="Rectangle 13"/>
          <p:cNvSpPr/>
          <p:nvPr/>
        </p:nvSpPr>
        <p:spPr>
          <a:xfrm>
            <a:off x="2514600" y="4498848"/>
            <a:ext cx="146304" cy="99328"/>
          </a:xfrm>
          <a:prstGeom prst="rect">
            <a:avLst/>
          </a:prstGeom>
          <a:solidFill>
            <a:srgbClr val="D8602A"/>
          </a:solidFill>
          <a:ln>
            <a:noFill/>
          </a:ln>
        </p:spPr>
        <p:txBody>
          <a:bodyPr rtlCol="0" anchor="ctr"/>
          <a:lstStyle/>
          <a:p>
            <a:pPr algn="ctr"/>
          </a:p>
        </p:txBody>
      </p:sp>
      <p:sp>
        <p:nvSpPr>
          <p:cNvPr id="15" name="TextBox 14"/>
          <p:cNvSpPr txBox="1"/>
          <p:nvPr/>
        </p:nvSpPr>
        <p:spPr>
          <a:xfrm>
            <a:off x="2788920" y="2620915"/>
            <a:ext cx="3017520" cy="365760"/>
          </a:xfrm>
          <a:prstGeom prst="rect">
            <a:avLst/>
          </a:prstGeom>
          <a:noFill/>
        </p:spPr>
        <p:txBody>
          <a:bodyPr wrap="square" lIns="0" tIns="0" rIns="0" bIns="0">
            <a:spAutoFit/>
          </a:bodyPr>
          <a:lstStyle/>
          <a:p>
            <a:pPr>
              <a:lnSpc>
                <a:spcPct val="105000"/>
              </a:lnSpc>
            </a:pPr>
            <a:r>
              <a:rPr sz="1800" b="1">
                <a:solidFill>
                  <a:srgbClr val="0C1408"/>
                </a:solidFill>
                <a:latin typeface="Arial"/>
              </a:rPr>
              <a:t>Rs 10,000</a:t>
            </a:r>
          </a:p>
        </p:txBody>
      </p:sp>
      <p:sp>
        <p:nvSpPr>
          <p:cNvPr id="16" name="TextBox 15"/>
          <p:cNvSpPr txBox="1"/>
          <p:nvPr/>
        </p:nvSpPr>
        <p:spPr>
          <a:xfrm>
            <a:off x="2788920" y="3004963"/>
            <a:ext cx="2926080" cy="274320"/>
          </a:xfrm>
          <a:prstGeom prst="rect">
            <a:avLst/>
          </a:prstGeom>
          <a:noFill/>
        </p:spPr>
        <p:txBody>
          <a:bodyPr wrap="square" lIns="0" tIns="0" rIns="0" bIns="0">
            <a:spAutoFit/>
          </a:bodyPr>
          <a:lstStyle/>
          <a:p>
            <a:pPr>
              <a:lnSpc>
                <a:spcPct val="105000"/>
              </a:lnSpc>
            </a:pPr>
            <a:r>
              <a:rPr sz="1100">
                <a:solidFill>
                  <a:srgbClr val="4B5563"/>
                </a:solidFill>
                <a:latin typeface="Arial"/>
              </a:rPr>
              <a:t>to the member collecting</a:t>
            </a:r>
          </a:p>
        </p:txBody>
      </p:sp>
      <p:sp>
        <p:nvSpPr>
          <p:cNvPr id="17" name="TextBox 16"/>
          <p:cNvSpPr txBox="1"/>
          <p:nvPr/>
        </p:nvSpPr>
        <p:spPr>
          <a:xfrm>
            <a:off x="2788920" y="4142232"/>
            <a:ext cx="320040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Rs 547  </a:t>
            </a:r>
            <a:r>
              <a:rPr sz="1100">
                <a:solidFill>
                  <a:srgbClr val="4B5563"/>
                </a:solidFill>
                <a:latin typeface="Arial"/>
              </a:rPr>
              <a:t>takaful or insurance</a:t>
            </a:r>
          </a:p>
        </p:txBody>
      </p:sp>
      <p:sp>
        <p:nvSpPr>
          <p:cNvPr id="18" name="TextBox 17"/>
          <p:cNvSpPr txBox="1"/>
          <p:nvPr/>
        </p:nvSpPr>
        <p:spPr>
          <a:xfrm>
            <a:off x="2788920" y="4416552"/>
            <a:ext cx="3291840" cy="457200"/>
          </a:xfrm>
          <a:prstGeom prst="rect">
            <a:avLst/>
          </a:prstGeom>
          <a:noFill/>
        </p:spPr>
        <p:txBody>
          <a:bodyPr wrap="square" lIns="0" tIns="0" rIns="0" bIns="0">
            <a:spAutoFit/>
          </a:bodyPr>
          <a:lstStyle/>
          <a:p>
            <a:pPr>
              <a:lnSpc>
                <a:spcPct val="102000"/>
              </a:lnSpc>
            </a:pPr>
            <a:r>
              <a:rPr sz="1100" b="1">
                <a:solidFill>
                  <a:srgbClr val="0C1408"/>
                </a:solidFill>
                <a:latin typeface="Arial"/>
              </a:rPr>
              <a:t>up to Rs 500  </a:t>
            </a:r>
            <a:r>
              <a:rPr sz="1100">
                <a:solidFill>
                  <a:srgbClr val="4B5563"/>
                </a:solidFill>
                <a:latin typeface="Arial"/>
              </a:rPr>
              <a:t>fee to Mashreq, shared with Halqa</a:t>
            </a:r>
          </a:p>
        </p:txBody>
      </p:sp>
      <p:sp>
        <p:nvSpPr>
          <p:cNvPr id="19" name="TextBox 18"/>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Technical cost and contribution by members</a:t>
            </a:r>
            <a:r>
              <a:rPr sz="1100">
                <a:solidFill>
                  <a:srgbClr val="6B7280"/>
                </a:solidFill>
                <a:latin typeface="Arial"/>
              </a:rPr>
              <a:t>   Rs thousand a month</a:t>
            </a:r>
          </a:p>
        </p:txBody>
      </p:sp>
      <p:graphicFrame>
        <p:nvGraphicFramePr>
          <p:cNvPr id="20" name="Chart 19"/>
          <p:cNvGraphicFramePr>
            <a:graphicFrameLocks noGrp="1"/>
          </p:cNvGraphicFramePr>
          <p:nvPr/>
        </p:nvGraphicFramePr>
        <p:xfrm>
          <a:off x="6172200" y="1755648"/>
          <a:ext cx="5516575" cy="2743200"/>
        </p:xfrm>
        <a:graphic>
          <a:graphicData uri="http://schemas.openxmlformats.org/drawingml/2006/chart">
            <c:chart xmlns:c="http://schemas.openxmlformats.org/drawingml/2006/chart" r:id="rId3"/>
          </a:graphicData>
        </a:graphic>
      </p:graphicFrame>
      <p:sp>
        <p:nvSpPr>
          <p:cNvPr id="21" name="TextBox 20"/>
          <p:cNvSpPr txBox="1"/>
          <p:nvPr/>
        </p:nvSpPr>
        <p:spPr>
          <a:xfrm>
            <a:off x="6766560" y="2395728"/>
            <a:ext cx="2560320" cy="274320"/>
          </a:xfrm>
          <a:prstGeom prst="rect">
            <a:avLst/>
          </a:prstGeom>
          <a:noFill/>
        </p:spPr>
        <p:txBody>
          <a:bodyPr wrap="square" lIns="0" tIns="0" rIns="0" bIns="0">
            <a:spAutoFit/>
          </a:bodyPr>
          <a:lstStyle/>
          <a:p>
            <a:pPr>
              <a:lnSpc>
                <a:spcPct val="105000"/>
              </a:lnSpc>
            </a:pPr>
            <a:r>
              <a:rPr sz="1050" b="1">
                <a:solidFill>
                  <a:srgbClr val="0C1408"/>
                </a:solidFill>
                <a:latin typeface="Arial"/>
              </a:rPr>
              <a:t>Break-even: about 170 members</a:t>
            </a:r>
          </a:p>
        </p:txBody>
      </p:sp>
      <p:sp>
        <p:nvSpPr>
          <p:cNvPr id="22" name="TextBox 21"/>
          <p:cNvSpPr txBox="1"/>
          <p:nvPr/>
        </p:nvSpPr>
        <p:spPr>
          <a:xfrm>
            <a:off x="6263640" y="4526280"/>
            <a:ext cx="5379415" cy="256032"/>
          </a:xfrm>
          <a:prstGeom prst="rect">
            <a:avLst/>
          </a:prstGeom>
          <a:noFill/>
        </p:spPr>
        <p:txBody>
          <a:bodyPr wrap="square" lIns="0" tIns="0" rIns="0" bIns="0">
            <a:spAutoFit/>
          </a:bodyPr>
          <a:lstStyle/>
          <a:p>
            <a:pPr algn="ctr">
              <a:lnSpc>
                <a:spcPct val="105000"/>
              </a:lnSpc>
            </a:pPr>
            <a:r>
              <a:rPr sz="950">
                <a:solidFill>
                  <a:srgbClr val="6B7280"/>
                </a:solidFill>
                <a:latin typeface="Arial"/>
              </a:rPr>
              <a:t>Active members</a:t>
            </a:r>
          </a:p>
        </p:txBody>
      </p:sp>
      <p:sp>
        <p:nvSpPr>
          <p:cNvPr id="23" name="TextBox 22"/>
          <p:cNvSpPr txBox="1"/>
          <p:nvPr/>
        </p:nvSpPr>
        <p:spPr>
          <a:xfrm>
            <a:off x="548640"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4" name="TextBox 23"/>
          <p:cNvSpPr txBox="1"/>
          <p:nvPr/>
        </p:nvSpPr>
        <p:spPr>
          <a:xfrm>
            <a:off x="548640" y="5294376"/>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Mashreq collects; a share of Mashreq’s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on points; employer programmes</a:t>
            </a:r>
          </a:p>
        </p:txBody>
      </p:sp>
      <p:sp>
        <p:nvSpPr>
          <p:cNvPr id="25" name="TextBox 24"/>
          <p:cNvSpPr txBox="1"/>
          <p:nvPr/>
        </p:nvSpPr>
        <p:spPr>
          <a:xfrm>
            <a:off x="6301588"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a:t>
            </a:r>
          </a:p>
        </p:txBody>
      </p:sp>
      <p:sp>
        <p:nvSpPr>
          <p:cNvPr id="26" name="TextBox 25"/>
          <p:cNvSpPr txBox="1"/>
          <p:nvPr/>
        </p:nvSpPr>
        <p:spPr>
          <a:xfrm>
            <a:off x="6301588"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13 to 35</a:t>
            </a:r>
          </a:p>
        </p:txBody>
      </p:sp>
      <p:sp>
        <p:nvSpPr>
          <p:cNvPr id="27" name="TextBox 26"/>
          <p:cNvSpPr txBox="1"/>
          <p:nvPr/>
        </p:nvSpPr>
        <p:spPr>
          <a:xfrm>
            <a:off x="6301588"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to run one payment</a:t>
            </a:r>
          </a:p>
        </p:txBody>
      </p:sp>
      <p:sp>
        <p:nvSpPr>
          <p:cNvPr id="28" name="TextBox 27"/>
          <p:cNvSpPr txBox="1"/>
          <p:nvPr/>
        </p:nvSpPr>
        <p:spPr>
          <a:xfrm>
            <a:off x="8082077"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61,000</a:t>
            </a:r>
          </a:p>
        </p:txBody>
      </p:sp>
      <p:sp>
        <p:nvSpPr>
          <p:cNvPr id="29" name="TextBox 28"/>
          <p:cNvSpPr txBox="1"/>
          <p:nvPr/>
        </p:nvSpPr>
        <p:spPr>
          <a:xfrm>
            <a:off x="8082077"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fixed technical cost a month</a:t>
            </a:r>
          </a:p>
        </p:txBody>
      </p:sp>
      <p:sp>
        <p:nvSpPr>
          <p:cNvPr id="30" name="TextBox 29"/>
          <p:cNvSpPr txBox="1"/>
          <p:nvPr/>
        </p:nvSpPr>
        <p:spPr>
          <a:xfrm>
            <a:off x="9862566"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About Rs 350</a:t>
            </a:r>
          </a:p>
        </p:txBody>
      </p:sp>
      <p:sp>
        <p:nvSpPr>
          <p:cNvPr id="31" name="TextBox 30"/>
          <p:cNvSpPr txBox="1"/>
          <p:nvPr/>
        </p:nvSpPr>
        <p:spPr>
          <a:xfrm>
            <a:off x="9862566"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contribution a member a month</a:t>
            </a:r>
          </a:p>
        </p:txBody>
      </p:sp>
      <p:sp>
        <p:nvSpPr>
          <p:cNvPr id="32" name="TextBox 3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Technical prices read 30 September 2026: Vercel, Supabase, Sentry, Google Workspace, Apple; US$1 = Rs 290 on a card (interbank Rs 277.3 on 29 September)    2  Business Model and Unit Costs (HQ-CP-03), updated for the Rs 15 Hyper fee; before the bank’s terms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Comparison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with Mashreq against Oraan, JazzCash Committee and informal committees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17</a:t>
            </a:r>
          </a:p>
        </p:txBody>
      </p:sp>
      <p:sp>
        <p:nvSpPr>
          <p:cNvPr id="6" name="Rectangle 5"/>
          <p:cNvSpPr/>
          <p:nvPr/>
        </p:nvSpPr>
        <p:spPr>
          <a:xfrm>
            <a:off x="3063240" y="1536192"/>
            <a:ext cx="2144954" cy="3831336"/>
          </a:xfrm>
          <a:prstGeom prst="rect">
            <a:avLst/>
          </a:prstGeom>
          <a:solidFill>
            <a:srgbClr val="FDF1EA"/>
          </a:solidFill>
          <a:ln>
            <a:noFill/>
          </a:ln>
        </p:spPr>
        <p:txBody>
          <a:bodyPr rtlCol="0" anchor="ctr"/>
          <a:lstStyle/>
          <a:p>
            <a:pPr algn="ctr"/>
          </a:p>
        </p:txBody>
      </p:sp>
      <p:sp>
        <p:nvSpPr>
          <p:cNvPr id="7" name="TextBox 6"/>
          <p:cNvSpPr txBox="1"/>
          <p:nvPr/>
        </p:nvSpPr>
        <p:spPr>
          <a:xfrm>
            <a:off x="3200400"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Halqa with Mashreq</a:t>
            </a:r>
          </a:p>
        </p:txBody>
      </p:sp>
      <p:sp>
        <p:nvSpPr>
          <p:cNvPr id="8" name="TextBox 7"/>
          <p:cNvSpPr txBox="1"/>
          <p:nvPr/>
        </p:nvSpPr>
        <p:spPr>
          <a:xfrm>
            <a:off x="5345354"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Oraan</a:t>
            </a:r>
          </a:p>
        </p:txBody>
      </p:sp>
      <p:sp>
        <p:nvSpPr>
          <p:cNvPr id="9" name="TextBox 8"/>
          <p:cNvSpPr txBox="1"/>
          <p:nvPr/>
        </p:nvSpPr>
        <p:spPr>
          <a:xfrm>
            <a:off x="7490308"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JazzCash Committee</a:t>
            </a:r>
          </a:p>
        </p:txBody>
      </p:sp>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80844"/>
            <a:ext cx="192024" cy="192024"/>
          </a:xfrm>
          <a:prstGeom prst="ellipse">
            <a:avLst/>
          </a:prstGeom>
          <a:solidFill>
            <a:srgbClr val="D8602A"/>
          </a:solidFill>
          <a:ln w="15875">
            <a:solidFill>
              <a:srgbClr val="D8602A"/>
            </a:solidFill>
          </a:ln>
        </p:spPr>
        <p:txBody>
          <a:bodyPr rtlCol="0" anchor="ctr"/>
          <a:lstStyle/>
          <a:p>
            <a:pPr algn="ctr"/>
          </a:p>
        </p:txBody>
      </p:sp>
      <p:sp>
        <p:nvSpPr>
          <p:cNvPr id="14" name="TextBox 13"/>
          <p:cNvSpPr txBox="1"/>
          <p:nvPr/>
        </p:nvSpPr>
        <p:spPr>
          <a:xfrm>
            <a:off x="3493008"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Mashreq</a:t>
            </a:r>
          </a:p>
        </p:txBody>
      </p:sp>
      <p:sp>
        <p:nvSpPr>
          <p:cNvPr id="15" name="Oval 14"/>
          <p:cNvSpPr/>
          <p:nvPr/>
        </p:nvSpPr>
        <p:spPr>
          <a:xfrm>
            <a:off x="5349926" y="2180844"/>
            <a:ext cx="192024" cy="192024"/>
          </a:xfrm>
          <a:prstGeom prst="ellipse">
            <a:avLst/>
          </a:prstGeom>
          <a:solidFill>
            <a:srgbClr val="FFFFFF"/>
          </a:solidFill>
          <a:ln w="15875">
            <a:solidFill>
              <a:srgbClr val="D8602A"/>
            </a:solidFill>
          </a:ln>
        </p:spPr>
        <p:txBody>
          <a:bodyPr rtlCol="0" anchor="ctr"/>
          <a:lstStyle/>
          <a:p>
            <a:pPr algn="ctr"/>
          </a:p>
        </p:txBody>
      </p:sp>
      <p:sp>
        <p:nvSpPr>
          <p:cNvPr id="16" name="TextBox 15"/>
          <p:cNvSpPr txBox="1"/>
          <p:nvPr/>
        </p:nvSpPr>
        <p:spPr>
          <a:xfrm>
            <a:off x="5637962"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80844"/>
            <a:ext cx="192024" cy="192024"/>
          </a:xfrm>
          <a:prstGeom prst="ellipse">
            <a:avLst/>
          </a:prstGeom>
          <a:solidFill>
            <a:srgbClr val="FFFFFF"/>
          </a:solidFill>
          <a:ln w="15875">
            <a:solidFill>
              <a:srgbClr val="D8602A"/>
            </a:solidFill>
          </a:ln>
        </p:spPr>
        <p:txBody>
          <a:bodyPr rtlCol="0" anchor="ctr"/>
          <a:lstStyle/>
          <a:p>
            <a:pPr algn="ctr"/>
          </a:p>
        </p:txBody>
      </p:sp>
      <p:sp>
        <p:nvSpPr>
          <p:cNvPr id="18" name="Freeform 17"/>
          <p:cNvSpPr/>
          <p:nvPr/>
        </p:nvSpPr>
        <p:spPr>
          <a:xfrm>
            <a:off x="7590892" y="218084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19" name="TextBox 18"/>
          <p:cNvSpPr txBox="1"/>
          <p:nvPr/>
        </p:nvSpPr>
        <p:spPr>
          <a:xfrm>
            <a:off x="7782916"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80844"/>
            <a:ext cx="192024" cy="192024"/>
          </a:xfrm>
          <a:prstGeom prst="ellipse">
            <a:avLst/>
          </a:prstGeom>
          <a:solidFill>
            <a:srgbClr val="FFFFFF"/>
          </a:solidFill>
          <a:ln w="15875">
            <a:solidFill>
              <a:srgbClr val="D8602A"/>
            </a:solidFill>
          </a:ln>
        </p:spPr>
        <p:txBody>
          <a:bodyPr rtlCol="0" anchor="ctr"/>
          <a:lstStyle/>
          <a:p>
            <a:pPr algn="ctr"/>
          </a:p>
        </p:txBody>
      </p:sp>
      <p:sp>
        <p:nvSpPr>
          <p:cNvPr id="21" name="TextBox 20"/>
          <p:cNvSpPr txBox="1"/>
          <p:nvPr/>
        </p:nvSpPr>
        <p:spPr>
          <a:xfrm>
            <a:off x="9927869"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514600"/>
            <a:ext cx="11094415" cy="0"/>
          </a:xfrm>
          <a:prstGeom prst="line">
            <a:avLst/>
          </a:prstGeom>
          <a:ln w="6350">
            <a:solidFill>
              <a:srgbClr val="D1D5DB"/>
            </a:solidFill>
          </a:ln>
        </p:spPr>
      </p:cxnSp>
      <p:sp>
        <p:nvSpPr>
          <p:cNvPr id="23" name="TextBox 22"/>
          <p:cNvSpPr txBox="1"/>
          <p:nvPr/>
        </p:nvSpPr>
        <p:spPr>
          <a:xfrm>
            <a:off x="548640" y="251460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24" name="Oval 23"/>
          <p:cNvSpPr/>
          <p:nvPr/>
        </p:nvSpPr>
        <p:spPr>
          <a:xfrm>
            <a:off x="3204972" y="2656332"/>
            <a:ext cx="192024" cy="192024"/>
          </a:xfrm>
          <a:prstGeom prst="ellipse">
            <a:avLst/>
          </a:prstGeom>
          <a:solidFill>
            <a:srgbClr val="D8602A"/>
          </a:solidFill>
          <a:ln w="15875">
            <a:solidFill>
              <a:srgbClr val="D8602A"/>
            </a:solidFill>
          </a:ln>
        </p:spPr>
        <p:txBody>
          <a:bodyPr rtlCol="0" anchor="ctr"/>
          <a:lstStyle/>
          <a:p>
            <a:pPr algn="ctr"/>
          </a:p>
        </p:txBody>
      </p:sp>
      <p:sp>
        <p:nvSpPr>
          <p:cNvPr id="25" name="TextBox 24"/>
          <p:cNvSpPr txBox="1"/>
          <p:nvPr/>
        </p:nvSpPr>
        <p:spPr>
          <a:xfrm>
            <a:off x="3493008"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26" name="Oval 25"/>
          <p:cNvSpPr/>
          <p:nvPr/>
        </p:nvSpPr>
        <p:spPr>
          <a:xfrm>
            <a:off x="5349926" y="2656332"/>
            <a:ext cx="192024" cy="192024"/>
          </a:xfrm>
          <a:prstGeom prst="ellipse">
            <a:avLst/>
          </a:prstGeom>
          <a:solidFill>
            <a:srgbClr val="FFFFFF"/>
          </a:solidFill>
          <a:ln w="15875">
            <a:solidFill>
              <a:srgbClr val="D8602A"/>
            </a:solidFill>
          </a:ln>
        </p:spPr>
        <p:txBody>
          <a:bodyPr rtlCol="0" anchor="ctr"/>
          <a:lstStyle/>
          <a:p>
            <a:pPr algn="ctr"/>
          </a:p>
        </p:txBody>
      </p:sp>
      <p:sp>
        <p:nvSpPr>
          <p:cNvPr id="27" name="TextBox 26"/>
          <p:cNvSpPr txBox="1"/>
          <p:nvPr/>
        </p:nvSpPr>
        <p:spPr>
          <a:xfrm>
            <a:off x="5637962"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28" name="TextBox 27"/>
          <p:cNvSpPr txBox="1"/>
          <p:nvPr/>
        </p:nvSpPr>
        <p:spPr>
          <a:xfrm>
            <a:off x="7782916" y="2514600"/>
            <a:ext cx="1733474" cy="475488"/>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published</a:t>
            </a:r>
          </a:p>
        </p:txBody>
      </p:sp>
      <p:sp>
        <p:nvSpPr>
          <p:cNvPr id="29" name="Oval 28"/>
          <p:cNvSpPr/>
          <p:nvPr/>
        </p:nvSpPr>
        <p:spPr>
          <a:xfrm>
            <a:off x="9639833" y="2656332"/>
            <a:ext cx="192024" cy="192024"/>
          </a:xfrm>
          <a:prstGeom prst="ellipse">
            <a:avLst/>
          </a:prstGeom>
          <a:solidFill>
            <a:srgbClr val="D8602A"/>
          </a:solidFill>
          <a:ln w="15875">
            <a:solidFill>
              <a:srgbClr val="D8602A"/>
            </a:solidFill>
          </a:ln>
        </p:spPr>
        <p:txBody>
          <a:bodyPr rtlCol="0" anchor="ctr"/>
          <a:lstStyle/>
          <a:p>
            <a:pPr algn="ctr"/>
          </a:p>
        </p:txBody>
      </p:sp>
      <p:sp>
        <p:nvSpPr>
          <p:cNvPr id="30" name="TextBox 29"/>
          <p:cNvSpPr txBox="1"/>
          <p:nvPr/>
        </p:nvSpPr>
        <p:spPr>
          <a:xfrm>
            <a:off x="9927869"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none</a:t>
            </a:r>
          </a:p>
        </p:txBody>
      </p:sp>
      <p:cxnSp>
        <p:nvCxnSpPr>
          <p:cNvPr id="31" name="Connector 30"/>
          <p:cNvCxnSpPr/>
          <p:nvPr/>
        </p:nvCxnSpPr>
        <p:spPr>
          <a:xfrm>
            <a:off x="548640" y="2990088"/>
            <a:ext cx="11094415" cy="0"/>
          </a:xfrm>
          <a:prstGeom prst="line">
            <a:avLst/>
          </a:prstGeom>
          <a:ln w="6350">
            <a:solidFill>
              <a:srgbClr val="D1D5DB"/>
            </a:solidFill>
          </a:ln>
        </p:spPr>
      </p:cxnSp>
      <p:sp>
        <p:nvSpPr>
          <p:cNvPr id="32" name="TextBox 31"/>
          <p:cNvSpPr txBox="1"/>
          <p:nvPr/>
        </p:nvSpPr>
        <p:spPr>
          <a:xfrm>
            <a:off x="548640" y="2990088"/>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33" name="Oval 32"/>
          <p:cNvSpPr/>
          <p:nvPr/>
        </p:nvSpPr>
        <p:spPr>
          <a:xfrm>
            <a:off x="3204972" y="3131820"/>
            <a:ext cx="192024" cy="192024"/>
          </a:xfrm>
          <a:prstGeom prst="ellipse">
            <a:avLst/>
          </a:prstGeom>
          <a:solidFill>
            <a:srgbClr val="D8602A"/>
          </a:solidFill>
          <a:ln w="15875">
            <a:solidFill>
              <a:srgbClr val="D8602A"/>
            </a:solidFill>
          </a:ln>
        </p:spPr>
        <p:txBody>
          <a:bodyPr rtlCol="0" anchor="ctr"/>
          <a:lstStyle/>
          <a:p>
            <a:pPr algn="ctr"/>
          </a:p>
        </p:txBody>
      </p:sp>
      <p:sp>
        <p:nvSpPr>
          <p:cNvPr id="34" name="TextBox 33"/>
          <p:cNvSpPr txBox="1"/>
          <p:nvPr/>
        </p:nvSpPr>
        <p:spPr>
          <a:xfrm>
            <a:off x="3493008"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35" name="Oval 34"/>
          <p:cNvSpPr/>
          <p:nvPr/>
        </p:nvSpPr>
        <p:spPr>
          <a:xfrm>
            <a:off x="5349926" y="3131820"/>
            <a:ext cx="192024" cy="192024"/>
          </a:xfrm>
          <a:prstGeom prst="ellipse">
            <a:avLst/>
          </a:prstGeom>
          <a:solidFill>
            <a:srgbClr val="FFFFFF"/>
          </a:solidFill>
          <a:ln w="15875">
            <a:solidFill>
              <a:srgbClr val="D8602A"/>
            </a:solidFill>
          </a:ln>
        </p:spPr>
        <p:txBody>
          <a:bodyPr rtlCol="0" anchor="ctr"/>
          <a:lstStyle/>
          <a:p>
            <a:pPr algn="ctr"/>
          </a:p>
        </p:txBody>
      </p:sp>
      <p:sp>
        <p:nvSpPr>
          <p:cNvPr id="36" name="Freeform 35"/>
          <p:cNvSpPr/>
          <p:nvPr/>
        </p:nvSpPr>
        <p:spPr>
          <a:xfrm>
            <a:off x="5445938" y="31318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37" name="TextBox 36"/>
          <p:cNvSpPr txBox="1"/>
          <p:nvPr/>
        </p:nvSpPr>
        <p:spPr>
          <a:xfrm>
            <a:off x="5637962"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38" name="Oval 37"/>
          <p:cNvSpPr/>
          <p:nvPr/>
        </p:nvSpPr>
        <p:spPr>
          <a:xfrm>
            <a:off x="7494880" y="3131820"/>
            <a:ext cx="192024" cy="192024"/>
          </a:xfrm>
          <a:prstGeom prst="ellipse">
            <a:avLst/>
          </a:prstGeom>
          <a:solidFill>
            <a:srgbClr val="FFFFFF"/>
          </a:solidFill>
          <a:ln w="15875">
            <a:solidFill>
              <a:srgbClr val="D8602A"/>
            </a:solidFill>
          </a:ln>
        </p:spPr>
        <p:txBody>
          <a:bodyPr rtlCol="0" anchor="ctr"/>
          <a:lstStyle/>
          <a:p>
            <a:pPr algn="ctr"/>
          </a:p>
        </p:txBody>
      </p:sp>
      <p:sp>
        <p:nvSpPr>
          <p:cNvPr id="39" name="TextBox 38"/>
          <p:cNvSpPr txBox="1"/>
          <p:nvPr/>
        </p:nvSpPr>
        <p:spPr>
          <a:xfrm>
            <a:off x="7782916"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40" name="Oval 39"/>
          <p:cNvSpPr/>
          <p:nvPr/>
        </p:nvSpPr>
        <p:spPr>
          <a:xfrm>
            <a:off x="9639833" y="3131820"/>
            <a:ext cx="192024" cy="192024"/>
          </a:xfrm>
          <a:prstGeom prst="ellipse">
            <a:avLst/>
          </a:prstGeom>
          <a:solidFill>
            <a:srgbClr val="FFFFFF"/>
          </a:solidFill>
          <a:ln w="15875">
            <a:solidFill>
              <a:srgbClr val="D8602A"/>
            </a:solidFill>
          </a:ln>
        </p:spPr>
        <p:txBody>
          <a:bodyPr rtlCol="0" anchor="ctr"/>
          <a:lstStyle/>
          <a:p>
            <a:pPr algn="ctr"/>
          </a:p>
        </p:txBody>
      </p:sp>
      <p:sp>
        <p:nvSpPr>
          <p:cNvPr id="41" name="TextBox 40"/>
          <p:cNvSpPr txBox="1"/>
          <p:nvPr/>
        </p:nvSpPr>
        <p:spPr>
          <a:xfrm>
            <a:off x="9927869"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42" name="Connector 41"/>
          <p:cNvCxnSpPr/>
          <p:nvPr/>
        </p:nvCxnSpPr>
        <p:spPr>
          <a:xfrm>
            <a:off x="548640" y="3465576"/>
            <a:ext cx="11094415" cy="0"/>
          </a:xfrm>
          <a:prstGeom prst="line">
            <a:avLst/>
          </a:prstGeom>
          <a:ln w="6350">
            <a:solidFill>
              <a:srgbClr val="D1D5DB"/>
            </a:solidFill>
          </a:ln>
        </p:spPr>
      </p:cxnSp>
      <p:sp>
        <p:nvSpPr>
          <p:cNvPr id="43" name="TextBox 42"/>
          <p:cNvSpPr txBox="1"/>
          <p:nvPr/>
        </p:nvSpPr>
        <p:spPr>
          <a:xfrm>
            <a:off x="548640" y="3465576"/>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44" name="Oval 43"/>
          <p:cNvSpPr/>
          <p:nvPr/>
        </p:nvSpPr>
        <p:spPr>
          <a:xfrm>
            <a:off x="3204972" y="3607308"/>
            <a:ext cx="192024" cy="192024"/>
          </a:xfrm>
          <a:prstGeom prst="ellipse">
            <a:avLst/>
          </a:prstGeom>
          <a:solidFill>
            <a:srgbClr val="D8602A"/>
          </a:solidFill>
          <a:ln w="15875">
            <a:solidFill>
              <a:srgbClr val="D8602A"/>
            </a:solidFill>
          </a:ln>
        </p:spPr>
        <p:txBody>
          <a:bodyPr rtlCol="0" anchor="ctr"/>
          <a:lstStyle/>
          <a:p>
            <a:pPr algn="ctr"/>
          </a:p>
        </p:txBody>
      </p:sp>
      <p:sp>
        <p:nvSpPr>
          <p:cNvPr id="45" name="TextBox 44"/>
          <p:cNvSpPr txBox="1"/>
          <p:nvPr/>
        </p:nvSpPr>
        <p:spPr>
          <a:xfrm>
            <a:off x="3493008"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46" name="Oval 45"/>
          <p:cNvSpPr/>
          <p:nvPr/>
        </p:nvSpPr>
        <p:spPr>
          <a:xfrm>
            <a:off x="5349926" y="3607308"/>
            <a:ext cx="192024" cy="192024"/>
          </a:xfrm>
          <a:prstGeom prst="ellipse">
            <a:avLst/>
          </a:prstGeom>
          <a:solidFill>
            <a:srgbClr val="FFFFFF"/>
          </a:solidFill>
          <a:ln w="15875">
            <a:solidFill>
              <a:srgbClr val="D8602A"/>
            </a:solidFill>
          </a:ln>
        </p:spPr>
        <p:txBody>
          <a:bodyPr rtlCol="0" anchor="ctr"/>
          <a:lstStyle/>
          <a:p>
            <a:pPr algn="ctr"/>
          </a:p>
        </p:txBody>
      </p:sp>
      <p:sp>
        <p:nvSpPr>
          <p:cNvPr id="47" name="Freeform 46"/>
          <p:cNvSpPr/>
          <p:nvPr/>
        </p:nvSpPr>
        <p:spPr>
          <a:xfrm>
            <a:off x="5445938" y="36073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48" name="TextBox 47"/>
          <p:cNvSpPr txBox="1"/>
          <p:nvPr/>
        </p:nvSpPr>
        <p:spPr>
          <a:xfrm>
            <a:off x="5637962"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49" name="Oval 48"/>
          <p:cNvSpPr/>
          <p:nvPr/>
        </p:nvSpPr>
        <p:spPr>
          <a:xfrm>
            <a:off x="7494880" y="3607308"/>
            <a:ext cx="192024" cy="192024"/>
          </a:xfrm>
          <a:prstGeom prst="ellipse">
            <a:avLst/>
          </a:prstGeom>
          <a:solidFill>
            <a:srgbClr val="FFFFFF"/>
          </a:solidFill>
          <a:ln w="15875">
            <a:solidFill>
              <a:srgbClr val="D8602A"/>
            </a:solidFill>
          </a:ln>
        </p:spPr>
        <p:txBody>
          <a:bodyPr rtlCol="0" anchor="ctr"/>
          <a:lstStyle/>
          <a:p>
            <a:pPr algn="ctr"/>
          </a:p>
        </p:txBody>
      </p:sp>
      <p:sp>
        <p:nvSpPr>
          <p:cNvPr id="50" name="TextBox 49"/>
          <p:cNvSpPr txBox="1"/>
          <p:nvPr/>
        </p:nvSpPr>
        <p:spPr>
          <a:xfrm>
            <a:off x="7782916"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51" name="Oval 50"/>
          <p:cNvSpPr/>
          <p:nvPr/>
        </p:nvSpPr>
        <p:spPr>
          <a:xfrm>
            <a:off x="9639833" y="3607308"/>
            <a:ext cx="192024" cy="192024"/>
          </a:xfrm>
          <a:prstGeom prst="ellipse">
            <a:avLst/>
          </a:prstGeom>
          <a:solidFill>
            <a:srgbClr val="FFFFFF"/>
          </a:solidFill>
          <a:ln w="15875">
            <a:solidFill>
              <a:srgbClr val="D8602A"/>
            </a:solidFill>
          </a:ln>
        </p:spPr>
        <p:txBody>
          <a:bodyPr rtlCol="0" anchor="ctr"/>
          <a:lstStyle/>
          <a:p>
            <a:pPr algn="ctr"/>
          </a:p>
        </p:txBody>
      </p:sp>
      <p:sp>
        <p:nvSpPr>
          <p:cNvPr id="52" name="Freeform 51"/>
          <p:cNvSpPr/>
          <p:nvPr/>
        </p:nvSpPr>
        <p:spPr>
          <a:xfrm>
            <a:off x="9735845" y="3607308"/>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53" name="TextBox 52"/>
          <p:cNvSpPr txBox="1"/>
          <p:nvPr/>
        </p:nvSpPr>
        <p:spPr>
          <a:xfrm>
            <a:off x="9927869"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54" name="Connector 53"/>
          <p:cNvCxnSpPr/>
          <p:nvPr/>
        </p:nvCxnSpPr>
        <p:spPr>
          <a:xfrm>
            <a:off x="548640" y="3941064"/>
            <a:ext cx="11094415" cy="0"/>
          </a:xfrm>
          <a:prstGeom prst="line">
            <a:avLst/>
          </a:prstGeom>
          <a:ln w="6350">
            <a:solidFill>
              <a:srgbClr val="D1D5DB"/>
            </a:solidFill>
          </a:ln>
        </p:spPr>
      </p:cxnSp>
      <p:sp>
        <p:nvSpPr>
          <p:cNvPr id="55" name="TextBox 54"/>
          <p:cNvSpPr txBox="1"/>
          <p:nvPr/>
        </p:nvSpPr>
        <p:spPr>
          <a:xfrm>
            <a:off x="548640" y="3941064"/>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56" name="Oval 55"/>
          <p:cNvSpPr/>
          <p:nvPr/>
        </p:nvSpPr>
        <p:spPr>
          <a:xfrm>
            <a:off x="3204972" y="4082796"/>
            <a:ext cx="192024" cy="192024"/>
          </a:xfrm>
          <a:prstGeom prst="ellipse">
            <a:avLst/>
          </a:prstGeom>
          <a:solidFill>
            <a:srgbClr val="D8602A"/>
          </a:solidFill>
          <a:ln w="15875">
            <a:solidFill>
              <a:srgbClr val="D8602A"/>
            </a:solidFill>
          </a:ln>
        </p:spPr>
        <p:txBody>
          <a:bodyPr rtlCol="0" anchor="ctr"/>
          <a:lstStyle/>
          <a:p>
            <a:pPr algn="ctr"/>
          </a:p>
        </p:txBody>
      </p:sp>
      <p:sp>
        <p:nvSpPr>
          <p:cNvPr id="57" name="TextBox 56"/>
          <p:cNvSpPr txBox="1"/>
          <p:nvPr/>
        </p:nvSpPr>
        <p:spPr>
          <a:xfrm>
            <a:off x="3493008"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 or insurance</a:t>
            </a:r>
          </a:p>
        </p:txBody>
      </p:sp>
      <p:sp>
        <p:nvSpPr>
          <p:cNvPr id="58" name="Oval 57"/>
          <p:cNvSpPr/>
          <p:nvPr/>
        </p:nvSpPr>
        <p:spPr>
          <a:xfrm>
            <a:off x="5349926" y="4082796"/>
            <a:ext cx="192024" cy="192024"/>
          </a:xfrm>
          <a:prstGeom prst="ellipse">
            <a:avLst/>
          </a:prstGeom>
          <a:solidFill>
            <a:srgbClr val="FFFFFF"/>
          </a:solidFill>
          <a:ln w="15875">
            <a:solidFill>
              <a:srgbClr val="D8602A"/>
            </a:solidFill>
          </a:ln>
        </p:spPr>
        <p:txBody>
          <a:bodyPr rtlCol="0" anchor="ctr"/>
          <a:lstStyle/>
          <a:p>
            <a:pPr algn="ctr"/>
          </a:p>
        </p:txBody>
      </p:sp>
      <p:sp>
        <p:nvSpPr>
          <p:cNvPr id="59" name="Freeform 58"/>
          <p:cNvSpPr/>
          <p:nvPr/>
        </p:nvSpPr>
        <p:spPr>
          <a:xfrm>
            <a:off x="5445938" y="40827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60" name="TextBox 59"/>
          <p:cNvSpPr txBox="1"/>
          <p:nvPr/>
        </p:nvSpPr>
        <p:spPr>
          <a:xfrm>
            <a:off x="5637962"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61" name="TextBox 60"/>
          <p:cNvSpPr txBox="1"/>
          <p:nvPr/>
        </p:nvSpPr>
        <p:spPr>
          <a:xfrm>
            <a:off x="7782916" y="3941064"/>
            <a:ext cx="1733474" cy="475488"/>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62" name="Oval 61"/>
          <p:cNvSpPr/>
          <p:nvPr/>
        </p:nvSpPr>
        <p:spPr>
          <a:xfrm>
            <a:off x="9639833" y="4082796"/>
            <a:ext cx="192024" cy="192024"/>
          </a:xfrm>
          <a:prstGeom prst="ellipse">
            <a:avLst/>
          </a:prstGeom>
          <a:solidFill>
            <a:srgbClr val="FFFFFF"/>
          </a:solidFill>
          <a:ln w="15875">
            <a:solidFill>
              <a:srgbClr val="D8602A"/>
            </a:solidFill>
          </a:ln>
        </p:spPr>
        <p:txBody>
          <a:bodyPr rtlCol="0" anchor="ctr"/>
          <a:lstStyle/>
          <a:p>
            <a:pPr algn="ctr"/>
          </a:p>
        </p:txBody>
      </p:sp>
      <p:sp>
        <p:nvSpPr>
          <p:cNvPr id="63" name="TextBox 62"/>
          <p:cNvSpPr txBox="1"/>
          <p:nvPr/>
        </p:nvSpPr>
        <p:spPr>
          <a:xfrm>
            <a:off x="9927869"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64" name="Connector 63"/>
          <p:cNvCxnSpPr/>
          <p:nvPr/>
        </p:nvCxnSpPr>
        <p:spPr>
          <a:xfrm>
            <a:off x="548640" y="4416552"/>
            <a:ext cx="11094415" cy="0"/>
          </a:xfrm>
          <a:prstGeom prst="line">
            <a:avLst/>
          </a:prstGeom>
          <a:ln w="6350">
            <a:solidFill>
              <a:srgbClr val="D1D5DB"/>
            </a:solidFill>
          </a:ln>
        </p:spPr>
      </p:cxnSp>
      <p:sp>
        <p:nvSpPr>
          <p:cNvPr id="65" name="TextBox 64"/>
          <p:cNvSpPr txBox="1"/>
          <p:nvPr/>
        </p:nvSpPr>
        <p:spPr>
          <a:xfrm>
            <a:off x="548640" y="441655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66" name="Oval 65"/>
          <p:cNvSpPr/>
          <p:nvPr/>
        </p:nvSpPr>
        <p:spPr>
          <a:xfrm>
            <a:off x="3204972" y="4558284"/>
            <a:ext cx="192024" cy="192024"/>
          </a:xfrm>
          <a:prstGeom prst="ellipse">
            <a:avLst/>
          </a:prstGeom>
          <a:solidFill>
            <a:srgbClr val="D8602A"/>
          </a:solidFill>
          <a:ln w="15875">
            <a:solidFill>
              <a:srgbClr val="D8602A"/>
            </a:solidFill>
          </a:ln>
        </p:spPr>
        <p:txBody>
          <a:bodyPr rtlCol="0" anchor="ctr"/>
          <a:lstStyle/>
          <a:p>
            <a:pPr algn="ctr"/>
          </a:p>
        </p:txBody>
      </p:sp>
      <p:sp>
        <p:nvSpPr>
          <p:cNvPr id="67" name="TextBox 66"/>
          <p:cNvSpPr txBox="1"/>
          <p:nvPr/>
        </p:nvSpPr>
        <p:spPr>
          <a:xfrm>
            <a:off x="3493008"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68" name="Oval 67"/>
          <p:cNvSpPr/>
          <p:nvPr/>
        </p:nvSpPr>
        <p:spPr>
          <a:xfrm>
            <a:off x="5349926" y="4558284"/>
            <a:ext cx="192024" cy="192024"/>
          </a:xfrm>
          <a:prstGeom prst="ellipse">
            <a:avLst/>
          </a:prstGeom>
          <a:solidFill>
            <a:srgbClr val="FFFFFF"/>
          </a:solidFill>
          <a:ln w="15875">
            <a:solidFill>
              <a:srgbClr val="D8602A"/>
            </a:solidFill>
          </a:ln>
        </p:spPr>
        <p:txBody>
          <a:bodyPr rtlCol="0" anchor="ctr"/>
          <a:lstStyle/>
          <a:p>
            <a:pPr algn="ctr"/>
          </a:p>
        </p:txBody>
      </p:sp>
      <p:sp>
        <p:nvSpPr>
          <p:cNvPr id="69" name="Freeform 68"/>
          <p:cNvSpPr/>
          <p:nvPr/>
        </p:nvSpPr>
        <p:spPr>
          <a:xfrm>
            <a:off x="5445938" y="45582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70" name="TextBox 69"/>
          <p:cNvSpPr txBox="1"/>
          <p:nvPr/>
        </p:nvSpPr>
        <p:spPr>
          <a:xfrm>
            <a:off x="5637962"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71" name="Oval 70"/>
          <p:cNvSpPr/>
          <p:nvPr/>
        </p:nvSpPr>
        <p:spPr>
          <a:xfrm>
            <a:off x="7494880" y="4558284"/>
            <a:ext cx="192024" cy="192024"/>
          </a:xfrm>
          <a:prstGeom prst="ellipse">
            <a:avLst/>
          </a:prstGeom>
          <a:solidFill>
            <a:srgbClr val="FFFFFF"/>
          </a:solidFill>
          <a:ln w="15875">
            <a:solidFill>
              <a:srgbClr val="D8602A"/>
            </a:solidFill>
          </a:ln>
        </p:spPr>
        <p:txBody>
          <a:bodyPr rtlCol="0" anchor="ctr"/>
          <a:lstStyle/>
          <a:p>
            <a:pPr algn="ctr"/>
          </a:p>
        </p:txBody>
      </p:sp>
      <p:sp>
        <p:nvSpPr>
          <p:cNvPr id="72" name="TextBox 71"/>
          <p:cNvSpPr txBox="1"/>
          <p:nvPr/>
        </p:nvSpPr>
        <p:spPr>
          <a:xfrm>
            <a:off x="7782916"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3" name="Oval 72"/>
          <p:cNvSpPr/>
          <p:nvPr/>
        </p:nvSpPr>
        <p:spPr>
          <a:xfrm>
            <a:off x="9639833" y="4558284"/>
            <a:ext cx="192024" cy="192024"/>
          </a:xfrm>
          <a:prstGeom prst="ellipse">
            <a:avLst/>
          </a:prstGeom>
          <a:solidFill>
            <a:srgbClr val="FFFFFF"/>
          </a:solidFill>
          <a:ln w="15875">
            <a:solidFill>
              <a:srgbClr val="D8602A"/>
            </a:solidFill>
          </a:ln>
        </p:spPr>
        <p:txBody>
          <a:bodyPr rtlCol="0" anchor="ctr"/>
          <a:lstStyle/>
          <a:p>
            <a:pPr algn="ctr"/>
          </a:p>
        </p:txBody>
      </p:sp>
      <p:sp>
        <p:nvSpPr>
          <p:cNvPr id="74" name="TextBox 73"/>
          <p:cNvSpPr txBox="1"/>
          <p:nvPr/>
        </p:nvSpPr>
        <p:spPr>
          <a:xfrm>
            <a:off x="9927869"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75" name="Connector 74"/>
          <p:cNvCxnSpPr/>
          <p:nvPr/>
        </p:nvCxnSpPr>
        <p:spPr>
          <a:xfrm>
            <a:off x="548640" y="4892040"/>
            <a:ext cx="11094415" cy="0"/>
          </a:xfrm>
          <a:prstGeom prst="line">
            <a:avLst/>
          </a:prstGeom>
          <a:ln w="6350">
            <a:solidFill>
              <a:srgbClr val="D1D5DB"/>
            </a:solidFill>
          </a:ln>
        </p:spPr>
      </p:cxnSp>
      <p:sp>
        <p:nvSpPr>
          <p:cNvPr id="76" name="TextBox 75"/>
          <p:cNvSpPr txBox="1"/>
          <p:nvPr/>
        </p:nvSpPr>
        <p:spPr>
          <a:xfrm>
            <a:off x="548640" y="489204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77" name="Oval 76"/>
          <p:cNvSpPr/>
          <p:nvPr/>
        </p:nvSpPr>
        <p:spPr>
          <a:xfrm>
            <a:off x="3204972" y="5033772"/>
            <a:ext cx="192024" cy="192024"/>
          </a:xfrm>
          <a:prstGeom prst="ellipse">
            <a:avLst/>
          </a:prstGeom>
          <a:solidFill>
            <a:srgbClr val="FFFFFF"/>
          </a:solidFill>
          <a:ln w="15875">
            <a:solidFill>
              <a:srgbClr val="D8602A"/>
            </a:solidFill>
          </a:ln>
        </p:spPr>
        <p:txBody>
          <a:bodyPr rtlCol="0" anchor="ctr"/>
          <a:lstStyle/>
          <a:p>
            <a:pPr algn="ctr"/>
          </a:p>
        </p:txBody>
      </p:sp>
      <p:sp>
        <p:nvSpPr>
          <p:cNvPr id="78" name="TextBox 77"/>
          <p:cNvSpPr txBox="1"/>
          <p:nvPr/>
        </p:nvSpPr>
        <p:spPr>
          <a:xfrm>
            <a:off x="3493008"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79" name="Oval 78"/>
          <p:cNvSpPr/>
          <p:nvPr/>
        </p:nvSpPr>
        <p:spPr>
          <a:xfrm>
            <a:off x="5349926" y="5033772"/>
            <a:ext cx="192024" cy="192024"/>
          </a:xfrm>
          <a:prstGeom prst="ellipse">
            <a:avLst/>
          </a:prstGeom>
          <a:solidFill>
            <a:srgbClr val="FFFFFF"/>
          </a:solidFill>
          <a:ln w="15875">
            <a:solidFill>
              <a:srgbClr val="D8602A"/>
            </a:solidFill>
          </a:ln>
        </p:spPr>
        <p:txBody>
          <a:bodyPr rtlCol="0" anchor="ctr"/>
          <a:lstStyle/>
          <a:p>
            <a:pPr algn="ctr"/>
          </a:p>
        </p:txBody>
      </p:sp>
      <p:sp>
        <p:nvSpPr>
          <p:cNvPr id="80" name="Freeform 79"/>
          <p:cNvSpPr/>
          <p:nvPr/>
        </p:nvSpPr>
        <p:spPr>
          <a:xfrm>
            <a:off x="5445938" y="503377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81" name="TextBox 80"/>
          <p:cNvSpPr txBox="1"/>
          <p:nvPr/>
        </p:nvSpPr>
        <p:spPr>
          <a:xfrm>
            <a:off x="5637962"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82" name="Oval 81"/>
          <p:cNvSpPr/>
          <p:nvPr/>
        </p:nvSpPr>
        <p:spPr>
          <a:xfrm>
            <a:off x="7494880" y="5033772"/>
            <a:ext cx="192024" cy="192024"/>
          </a:xfrm>
          <a:prstGeom prst="ellipse">
            <a:avLst/>
          </a:prstGeom>
          <a:solidFill>
            <a:srgbClr val="D8602A"/>
          </a:solidFill>
          <a:ln w="15875">
            <a:solidFill>
              <a:srgbClr val="D8602A"/>
            </a:solidFill>
          </a:ln>
        </p:spPr>
        <p:txBody>
          <a:bodyPr rtlCol="0" anchor="ctr"/>
          <a:lstStyle/>
          <a:p>
            <a:pPr algn="ctr"/>
          </a:p>
        </p:txBody>
      </p:sp>
      <p:sp>
        <p:nvSpPr>
          <p:cNvPr id="83" name="TextBox 82"/>
          <p:cNvSpPr txBox="1"/>
          <p:nvPr/>
        </p:nvSpPr>
        <p:spPr>
          <a:xfrm>
            <a:off x="7782916"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a:t>
            </a:r>
          </a:p>
        </p:txBody>
      </p:sp>
      <p:sp>
        <p:nvSpPr>
          <p:cNvPr id="84" name="Oval 83"/>
          <p:cNvSpPr/>
          <p:nvPr/>
        </p:nvSpPr>
        <p:spPr>
          <a:xfrm>
            <a:off x="9639833" y="5033772"/>
            <a:ext cx="192024" cy="192024"/>
          </a:xfrm>
          <a:prstGeom prst="ellipse">
            <a:avLst/>
          </a:prstGeom>
          <a:solidFill>
            <a:srgbClr val="D8602A"/>
          </a:solidFill>
          <a:ln w="15875">
            <a:solidFill>
              <a:srgbClr val="D8602A"/>
            </a:solidFill>
          </a:ln>
        </p:spPr>
        <p:txBody>
          <a:bodyPr rtlCol="0" anchor="ctr"/>
          <a:lstStyle/>
          <a:p>
            <a:pPr algn="ctr"/>
          </a:p>
        </p:txBody>
      </p:sp>
      <p:sp>
        <p:nvSpPr>
          <p:cNvPr id="85" name="TextBox 84"/>
          <p:cNvSpPr txBox="1"/>
          <p:nvPr/>
        </p:nvSpPr>
        <p:spPr>
          <a:xfrm>
            <a:off x="9927869"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86" name="Connector 85"/>
          <p:cNvCxnSpPr/>
          <p:nvPr/>
        </p:nvCxnSpPr>
        <p:spPr>
          <a:xfrm>
            <a:off x="548640" y="5367528"/>
            <a:ext cx="11094415" cy="0"/>
          </a:xfrm>
          <a:prstGeom prst="line">
            <a:avLst/>
          </a:prstGeom>
          <a:ln w="6350">
            <a:solidFill>
              <a:srgbClr val="D1D5DB"/>
            </a:solidFill>
          </a:ln>
        </p:spPr>
      </p:cxnSp>
      <p:sp>
        <p:nvSpPr>
          <p:cNvPr id="87" name="Oval 86"/>
          <p:cNvSpPr/>
          <p:nvPr/>
        </p:nvSpPr>
        <p:spPr>
          <a:xfrm>
            <a:off x="562356" y="5518404"/>
            <a:ext cx="155448" cy="155448"/>
          </a:xfrm>
          <a:prstGeom prst="ellipse">
            <a:avLst/>
          </a:prstGeom>
          <a:solidFill>
            <a:srgbClr val="D8602A"/>
          </a:solidFill>
          <a:ln w="15875">
            <a:solidFill>
              <a:srgbClr val="D8602A"/>
            </a:solidFill>
          </a:ln>
        </p:spPr>
        <p:txBody>
          <a:bodyPr rtlCol="0" anchor="ctr"/>
          <a:lstStyle/>
          <a:p>
            <a:pPr algn="ctr"/>
          </a:p>
        </p:txBody>
      </p:sp>
      <p:sp>
        <p:nvSpPr>
          <p:cNvPr id="88" name="TextBox 87"/>
          <p:cNvSpPr txBox="1"/>
          <p:nvPr/>
        </p:nvSpPr>
        <p:spPr>
          <a:xfrm>
            <a:off x="79552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yes</a:t>
            </a:r>
          </a:p>
        </p:txBody>
      </p:sp>
      <p:sp>
        <p:nvSpPr>
          <p:cNvPr id="89" name="Oval 88"/>
          <p:cNvSpPr/>
          <p:nvPr/>
        </p:nvSpPr>
        <p:spPr>
          <a:xfrm>
            <a:off x="1568196" y="5518404"/>
            <a:ext cx="155448" cy="155448"/>
          </a:xfrm>
          <a:prstGeom prst="ellipse">
            <a:avLst/>
          </a:prstGeom>
          <a:solidFill>
            <a:srgbClr val="FFFFFF"/>
          </a:solidFill>
          <a:ln w="15875">
            <a:solidFill>
              <a:srgbClr val="D8602A"/>
            </a:solidFill>
          </a:ln>
        </p:spPr>
        <p:txBody>
          <a:bodyPr rtlCol="0" anchor="ctr"/>
          <a:lstStyle/>
          <a:p>
            <a:pPr algn="ctr"/>
          </a:p>
        </p:txBody>
      </p:sp>
      <p:sp>
        <p:nvSpPr>
          <p:cNvPr id="90" name="Freeform 89"/>
          <p:cNvSpPr/>
          <p:nvPr/>
        </p:nvSpPr>
        <p:spPr>
          <a:xfrm>
            <a:off x="1645920" y="5518404"/>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D8602A"/>
          </a:solidFill>
          <a:ln>
            <a:noFill/>
          </a:ln>
        </p:spPr>
        <p:txBody>
          <a:bodyPr rtlCol="0" anchor="ctr"/>
          <a:lstStyle/>
          <a:p>
            <a:pPr algn="ctr"/>
          </a:p>
        </p:txBody>
      </p:sp>
      <p:sp>
        <p:nvSpPr>
          <p:cNvPr id="91" name="TextBox 90"/>
          <p:cNvSpPr txBox="1"/>
          <p:nvPr/>
        </p:nvSpPr>
        <p:spPr>
          <a:xfrm>
            <a:off x="180136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partly</a:t>
            </a:r>
          </a:p>
        </p:txBody>
      </p:sp>
      <p:sp>
        <p:nvSpPr>
          <p:cNvPr id="92" name="Oval 91"/>
          <p:cNvSpPr/>
          <p:nvPr/>
        </p:nvSpPr>
        <p:spPr>
          <a:xfrm>
            <a:off x="2574036" y="5518404"/>
            <a:ext cx="155448" cy="155448"/>
          </a:xfrm>
          <a:prstGeom prst="ellipse">
            <a:avLst/>
          </a:prstGeom>
          <a:solidFill>
            <a:srgbClr val="FFFFFF"/>
          </a:solidFill>
          <a:ln w="15875">
            <a:solidFill>
              <a:srgbClr val="D8602A"/>
            </a:solidFill>
          </a:ln>
        </p:spPr>
        <p:txBody>
          <a:bodyPr rtlCol="0" anchor="ctr"/>
          <a:lstStyle/>
          <a:p>
            <a:pPr algn="ctr"/>
          </a:p>
        </p:txBody>
      </p:sp>
      <p:sp>
        <p:nvSpPr>
          <p:cNvPr id="93" name="TextBox 92"/>
          <p:cNvSpPr txBox="1"/>
          <p:nvPr/>
        </p:nvSpPr>
        <p:spPr>
          <a:xfrm>
            <a:off x="280720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no</a:t>
            </a:r>
          </a:p>
        </p:txBody>
      </p:sp>
      <p:sp>
        <p:nvSpPr>
          <p:cNvPr id="94" name="TextBox 9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Oraan terms, fee calculator and website, 28 Sep 2026    2  JazzCash release note, Aug 2026, and results to 31 March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Evidence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18</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sp>
        <p:nvSpPr>
          <p:cNvPr id="28" name="TextBox 27"/>
          <p:cNvSpPr txBox="1"/>
          <p:nvPr/>
        </p:nvSpPr>
        <p:spPr>
          <a:xfrm>
            <a:off x="548640" y="2002536"/>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Money Fellows</a:t>
            </a:r>
          </a:p>
        </p:txBody>
      </p:sp>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Egypt</a:t>
            </a:r>
          </a:p>
        </p:txBody>
      </p:sp>
      <p:cxnSp>
        <p:nvCxnSpPr>
          <p:cNvPr id="30" name="Connector 29"/>
          <p:cNvCxnSpPr/>
          <p:nvPr/>
        </p:nvCxnSpPr>
        <p:spPr>
          <a:xfrm>
            <a:off x="2880360" y="2240280"/>
            <a:ext cx="4754880" cy="0"/>
          </a:xfrm>
          <a:prstGeom prst="line">
            <a:avLst/>
          </a:prstGeom>
          <a:ln w="44450">
            <a:solidFill>
              <a:srgbClr val="2A78D6"/>
            </a:solidFill>
          </a:ln>
        </p:spPr>
      </p:cxnSp>
      <p:sp>
        <p:nvSpPr>
          <p:cNvPr id="31" name="Oval 30"/>
          <p:cNvSpPr/>
          <p:nvPr/>
        </p:nvSpPr>
        <p:spPr>
          <a:xfrm>
            <a:off x="2798064" y="2157984"/>
            <a:ext cx="164592" cy="164592"/>
          </a:xfrm>
          <a:prstGeom prst="ellipse">
            <a:avLst/>
          </a:prstGeom>
          <a:solidFill>
            <a:srgbClr val="2A78D6"/>
          </a:solidFill>
          <a:ln>
            <a:noFill/>
          </a:ln>
        </p:spPr>
        <p:txBody>
          <a:bodyPr rtlCol="0" anchor="ctr"/>
          <a:lstStyle/>
          <a:p>
            <a:pPr algn="ctr"/>
          </a:p>
        </p:txBody>
      </p:sp>
      <p:sp>
        <p:nvSpPr>
          <p:cNvPr id="32" name="Oval 31"/>
          <p:cNvSpPr/>
          <p:nvPr/>
        </p:nvSpPr>
        <p:spPr>
          <a:xfrm>
            <a:off x="7068312" y="2148840"/>
            <a:ext cx="182880" cy="182880"/>
          </a:xfrm>
          <a:prstGeom prst="ellipse">
            <a:avLst/>
          </a:prstGeom>
          <a:solidFill>
            <a:srgbClr val="FFFFFF"/>
          </a:solidFill>
          <a:ln w="25400">
            <a:solidFill>
              <a:srgbClr val="2A78D6"/>
            </a:solidFill>
          </a:ln>
        </p:spPr>
        <p:txBody>
          <a:bodyPr rtlCol="0" anchor="ctr"/>
          <a:lstStyle/>
          <a:p>
            <a:pPr algn="ctr"/>
          </a:p>
        </p:txBody>
      </p:sp>
      <p:sp>
        <p:nvSpPr>
          <p:cNvPr id="33" name="TextBox 32"/>
          <p:cNvSpPr txBox="1"/>
          <p:nvPr/>
        </p:nvSpPr>
        <p:spPr>
          <a:xfrm>
            <a:off x="5148072" y="2350008"/>
            <a:ext cx="2103120" cy="256032"/>
          </a:xfrm>
          <a:prstGeom prst="rect">
            <a:avLst/>
          </a:prstGeom>
          <a:noFill/>
        </p:spPr>
        <p:txBody>
          <a:bodyPr wrap="square" lIns="0" tIns="0" rIns="0" bIns="0">
            <a:spAutoFit/>
          </a:bodyPr>
          <a:lstStyle/>
          <a:p>
            <a:pPr algn="r">
              <a:lnSpc>
                <a:spcPct val="105000"/>
              </a:lnSpc>
            </a:pPr>
            <a:r>
              <a:rPr sz="1000">
                <a:solidFill>
                  <a:srgbClr val="4B5563"/>
                </a:solidFill>
                <a:latin typeface="Arial"/>
              </a:rPr>
              <a:t>profitable</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central bank sandbox; prepaid card with Banque Misr</a:t>
            </a:r>
          </a:p>
        </p:txBody>
      </p:sp>
      <p:sp>
        <p:nvSpPr>
          <p:cNvPr id="36" name="TextBox 35"/>
          <p:cNvSpPr txBox="1"/>
          <p:nvPr/>
        </p:nvSpPr>
        <p:spPr>
          <a:xfrm>
            <a:off x="548640" y="3026664"/>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Hakbah</a:t>
            </a:r>
          </a:p>
        </p:txBody>
      </p:sp>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Saudi Arabia</a:t>
            </a:r>
          </a:p>
        </p:txBody>
      </p:sp>
      <p:cxnSp>
        <p:nvCxnSpPr>
          <p:cNvPr id="38" name="Connector 37"/>
          <p:cNvCxnSpPr/>
          <p:nvPr/>
        </p:nvCxnSpPr>
        <p:spPr>
          <a:xfrm>
            <a:off x="3831336" y="3264408"/>
            <a:ext cx="3803904" cy="0"/>
          </a:xfrm>
          <a:prstGeom prst="line">
            <a:avLst/>
          </a:prstGeom>
          <a:ln w="44450">
            <a:solidFill>
              <a:srgbClr val="0E9384"/>
            </a:solidFill>
          </a:ln>
        </p:spPr>
      </p:cxnSp>
      <p:sp>
        <p:nvSpPr>
          <p:cNvPr id="39" name="Oval 38"/>
          <p:cNvSpPr/>
          <p:nvPr/>
        </p:nvSpPr>
        <p:spPr>
          <a:xfrm>
            <a:off x="3749040" y="3182112"/>
            <a:ext cx="164592" cy="164592"/>
          </a:xfrm>
          <a:prstGeom prst="ellipse">
            <a:avLst/>
          </a:prstGeom>
          <a:solidFill>
            <a:srgbClr val="0E9384"/>
          </a:solidFill>
          <a:ln>
            <a:noFill/>
          </a:ln>
        </p:spPr>
        <p:txBody>
          <a:bodyPr rtlCol="0" anchor="ctr"/>
          <a:lstStyle/>
          <a:p>
            <a:pPr algn="ctr"/>
          </a:p>
        </p:txBody>
      </p:sp>
      <p:sp>
        <p:nvSpPr>
          <p:cNvPr id="40" name="Oval 39"/>
          <p:cNvSpPr/>
          <p:nvPr/>
        </p:nvSpPr>
        <p:spPr>
          <a:xfrm>
            <a:off x="4690872" y="3172968"/>
            <a:ext cx="182880" cy="182880"/>
          </a:xfrm>
          <a:prstGeom prst="ellipse">
            <a:avLst/>
          </a:prstGeom>
          <a:solidFill>
            <a:srgbClr val="FFFFFF"/>
          </a:solidFill>
          <a:ln w="25400">
            <a:solidFill>
              <a:srgbClr val="0E9384"/>
            </a:solidFill>
          </a:ln>
        </p:spPr>
        <p:txBody>
          <a:bodyPr rtlCol="0" anchor="ctr"/>
          <a:lstStyle/>
          <a:p>
            <a:pPr algn="ctr"/>
          </a:p>
        </p:txBody>
      </p:sp>
      <p:sp>
        <p:nvSpPr>
          <p:cNvPr id="41" name="TextBox 40"/>
          <p:cNvSpPr txBox="1"/>
          <p:nvPr/>
        </p:nvSpPr>
        <p:spPr>
          <a:xfrm>
            <a:off x="4690872" y="3374136"/>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launched under a central bank permit</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Saudi central bank sandbox</a:t>
            </a:r>
          </a:p>
        </p:txBody>
      </p:sp>
      <p:sp>
        <p:nvSpPr>
          <p:cNvPr id="44" name="TextBox 43"/>
          <p:cNvSpPr txBox="1"/>
          <p:nvPr/>
        </p:nvSpPr>
        <p:spPr>
          <a:xfrm>
            <a:off x="548640" y="4050792"/>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Esusu</a:t>
            </a:r>
          </a:p>
        </p:txBody>
      </p:sp>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D8602A"/>
            </a:solidFill>
          </a:ln>
        </p:spPr>
      </p:cxnSp>
      <p:sp>
        <p:nvSpPr>
          <p:cNvPr id="47" name="Oval 46"/>
          <p:cNvSpPr/>
          <p:nvPr/>
        </p:nvSpPr>
        <p:spPr>
          <a:xfrm>
            <a:off x="3749040" y="4206240"/>
            <a:ext cx="164592" cy="164592"/>
          </a:xfrm>
          <a:prstGeom prst="ellipse">
            <a:avLst/>
          </a:prstGeom>
          <a:solidFill>
            <a:srgbClr val="D8602A"/>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D8602A"/>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Mashreq.</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Daily News Egypt, 20 Oct 2025    2  MENAbytes, 3 Sep 2020; Semafor, 3 Feb 2026    3  CNBC, 11 Dec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19</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6B7280"/>
                </a:solidFill>
                <a:latin typeface="Arial"/>
              </a:rPr>
              <a:t>   per cent</a:t>
            </a:r>
          </a:p>
        </p:txBody>
      </p:sp>
      <p:graphicFrame>
        <p:nvGraphicFramePr>
          <p:cNvPr id="7" name="Chart 6"/>
          <p:cNvGraphicFramePr>
            <a:graphicFrameLocks noGrp="1"/>
          </p:cNvGraphicFramePr>
          <p:nvPr/>
        </p:nvGraphicFramePr>
        <p:xfrm>
          <a:off x="457200" y="1783080"/>
          <a:ext cx="5760720" cy="3749040"/>
        </p:xfrm>
        <a:graphic>
          <a:graphicData uri="http://schemas.openxmlformats.org/drawingml/2006/chart">
            <c:chart xmlns:c="http://schemas.openxmlformats.org/drawingml/2006/chart" r:id="rId3"/>
          </a:graphicData>
        </a:graphic>
      </p:graphicFrame>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26%</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of adults are financially literate; a committee needs no financial knowledge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SBP payment systems reviews, Q2 FY25, FY25 and Q3 FY26    2  JazzCash release notes    3  SBP National Financial Inclusion Strategy 2024 to 2028    4  S&amp;P Global FinLit Survey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What is built, what is written and what remains before launch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20</a:t>
            </a:r>
          </a:p>
        </p:txBody>
      </p:sp>
      <p:sp>
        <p:nvSpPr>
          <p:cNvPr id="6" name="Rectangle 5"/>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7" name="TextBox 6"/>
          <p:cNvSpPr txBox="1"/>
          <p:nvPr/>
        </p:nvSpPr>
        <p:spPr>
          <a:xfrm>
            <a:off x="594360"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8" name="Rectangle 7"/>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9" name="TextBox 8"/>
          <p:cNvSpPr txBox="1"/>
          <p:nvPr/>
        </p:nvSpPr>
        <p:spPr>
          <a:xfrm>
            <a:off x="4399178"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0" name="Rectangle 9"/>
          <p:cNvSpPr/>
          <p:nvPr/>
        </p:nvSpPr>
        <p:spPr>
          <a:xfrm>
            <a:off x="8158277" y="1572768"/>
            <a:ext cx="3484778" cy="548640"/>
          </a:xfrm>
          <a:prstGeom prst="rect">
            <a:avLst/>
          </a:prstGeom>
          <a:solidFill>
            <a:srgbClr val="FDF1EA"/>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1" name="TextBox 10"/>
          <p:cNvSpPr txBox="1"/>
          <p:nvPr/>
        </p:nvSpPr>
        <p:spPr>
          <a:xfrm>
            <a:off x="8203997"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D8602A"/>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Agreement with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Product approval through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Connection to Mashreq’s account, direct debit mandate and payment interfaces, and the PSP</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Takaful or insurance operator and TASDEEQ reporting route</a:t>
            </a:r>
          </a:p>
        </p:txBody>
      </p:sp>
      <p:sp>
        <p:nvSpPr>
          <p:cNvPr id="12" name="Rectangle 11"/>
          <p:cNvSpPr/>
          <p:nvPr/>
        </p:nvSpPr>
        <p:spPr>
          <a:xfrm>
            <a:off x="548640" y="5577840"/>
            <a:ext cx="11094415" cy="566928"/>
          </a:xfrm>
          <a:prstGeom prst="rect">
            <a:avLst/>
          </a:prstGeom>
          <a:solidFill>
            <a:srgbClr val="F3F4F6"/>
          </a:solidFill>
          <a:ln>
            <a:noFill/>
          </a:ln>
        </p:spPr>
        <p:txBody>
          <a:bodyPr rtlCol="0" anchor="ctr" lIns="182880" tIns="137160" rIns="182880" bIns="137160" wrap="square"/>
          <a:lstStyle/>
          <a:p>
            <a:pPr>
              <a:lnSpc>
                <a:spcPct val="105000"/>
              </a:lnSpc>
            </a:pPr>
            <a:r>
              <a:rPr sz="1200" b="1">
                <a:solidFill>
                  <a:srgbClr val="0C1408"/>
                </a:solidFill>
                <a:latin typeface="Arial"/>
              </a:rPr>
              <a:t>No member money has moved:  </a:t>
            </a:r>
            <a:r>
              <a:rPr sz="1200">
                <a:solidFill>
                  <a:srgbClr val="0C1408"/>
                </a:solidFill>
                <a:latin typeface="Arial"/>
              </a:rPr>
              <a:t>every payment in the application today is a test record.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6B7280"/>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D8602A"/>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D8602A"/>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1426464" cy="237744"/>
          </a:xfrm>
          <a:prstGeom prst="rect">
            <a:avLst/>
          </a:prstGeom>
          <a:noFill/>
        </p:spPr>
        <p:txBody>
          <a:bodyPr wrap="square" lIns="0" tIns="0" rIns="0" bIns="0">
            <a:spAutoFit/>
          </a:bodyPr>
          <a:lstStyle/>
          <a:p>
            <a:pPr>
              <a:lnSpc>
                <a:spcPct val="105000"/>
              </a:lnSpc>
            </a:pPr>
            <a:r>
              <a:rPr sz="1000">
                <a:solidFill>
                  <a:srgbClr val="4B5563"/>
                </a:solidFill>
                <a:latin typeface="Arial"/>
              </a:rPr>
              <a:t>takaful or insurance</a:t>
            </a:r>
          </a:p>
        </p:txBody>
      </p:sp>
      <p:sp>
        <p:nvSpPr>
          <p:cNvPr id="25" name="Rectangle 24"/>
          <p:cNvSpPr/>
          <p:nvPr/>
        </p:nvSpPr>
        <p:spPr>
          <a:xfrm>
            <a:off x="4707331" y="3346704"/>
            <a:ext cx="155448" cy="155448"/>
          </a:xfrm>
          <a:prstGeom prst="rect">
            <a:avLst/>
          </a:prstGeom>
          <a:solidFill>
            <a:srgbClr val="D8602A"/>
          </a:solidFill>
          <a:ln>
            <a:noFill/>
          </a:ln>
        </p:spPr>
        <p:txBody>
          <a:bodyPr rtlCol="0" anchor="ctr"/>
          <a:lstStyle/>
          <a:p>
            <a:pPr algn="ctr"/>
          </a:p>
        </p:txBody>
      </p:sp>
      <p:sp>
        <p:nvSpPr>
          <p:cNvPr id="26" name="TextBox 25"/>
          <p:cNvSpPr txBox="1"/>
          <p:nvPr/>
        </p:nvSpPr>
        <p:spPr>
          <a:xfrm>
            <a:off x="4935931" y="3310128"/>
            <a:ext cx="1163117" cy="237744"/>
          </a:xfrm>
          <a:prstGeom prst="rect">
            <a:avLst/>
          </a:prstGeom>
          <a:noFill/>
        </p:spPr>
        <p:txBody>
          <a:bodyPr wrap="square" lIns="0" tIns="0" rIns="0" bIns="0">
            <a:spAutoFit/>
          </a:bodyPr>
          <a:lstStyle/>
          <a:p>
            <a:pPr>
              <a:lnSpc>
                <a:spcPct val="105000"/>
              </a:lnSpc>
            </a:pPr>
            <a:r>
              <a:rPr sz="1000">
                <a:solidFill>
                  <a:srgbClr val="4B5563"/>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or insurance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or insurance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Mashreq</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A2 · three collection methods; the automatic method is a new direct debit mandate from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22</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4B5563"/>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F9DCCB"/>
          </a:solidFill>
          <a:ln>
            <a:noFill/>
          </a:ln>
        </p:spPr>
        <p:txBody>
          <a:bodyPr rtlCol="0" anchor="ctr" lIns="128016" tIns="96012" rIns="128016" bIns="96012" wrap="square"/>
          <a:lstStyle/>
          <a:p>
            <a:pPr>
              <a:lnSpc>
                <a:spcPct val="100000"/>
              </a:lnSpc>
            </a:pPr>
            <a:r>
              <a:rPr sz="950">
                <a:solidFill>
                  <a:srgbClr val="4B5563"/>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A direct debit mandate on the member’s Mashreq account, a new line for Mashreq;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Required on circles between strangers, asset, UAE family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4B5563"/>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6B7280"/>
                </a:solidFill>
                <a:latin typeface="Arial"/>
              </a:rPr>
              <a:t>   days of the month</a:t>
            </a:r>
          </a:p>
        </p:txBody>
      </p:sp>
      <p:sp>
        <p:nvSpPr>
          <p:cNvPr id="19" name="Rectangle 18"/>
          <p:cNvSpPr/>
          <p:nvPr/>
        </p:nvSpPr>
        <p:spPr>
          <a:xfrm>
            <a:off x="566928" y="4261104"/>
            <a:ext cx="557784" cy="502920"/>
          </a:xfrm>
          <a:prstGeom prst="rect">
            <a:avLst/>
          </a:prstGeom>
          <a:solidFill>
            <a:srgbClr val="D8602A"/>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EFA27A"/>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2</a:t>
            </a:r>
          </a:p>
        </p:txBody>
      </p:sp>
      <p:sp>
        <p:nvSpPr>
          <p:cNvPr id="23" name="Rectangle 22"/>
          <p:cNvSpPr/>
          <p:nvPr/>
        </p:nvSpPr>
        <p:spPr>
          <a:xfrm>
            <a:off x="1755648" y="4261104"/>
            <a:ext cx="557784" cy="502920"/>
          </a:xfrm>
          <a:prstGeom prst="rect">
            <a:avLst/>
          </a:prstGeom>
          <a:solidFill>
            <a:srgbClr val="EFA27A"/>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3</a:t>
            </a:r>
          </a:p>
        </p:txBody>
      </p:sp>
      <p:sp>
        <p:nvSpPr>
          <p:cNvPr id="25" name="Rectangle 24"/>
          <p:cNvSpPr/>
          <p:nvPr/>
        </p:nvSpPr>
        <p:spPr>
          <a:xfrm>
            <a:off x="2350008" y="4261104"/>
            <a:ext cx="557784" cy="502920"/>
          </a:xfrm>
          <a:prstGeom prst="rect">
            <a:avLst/>
          </a:prstGeom>
          <a:solidFill>
            <a:srgbClr val="EFA27A"/>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4</a:t>
            </a:r>
          </a:p>
        </p:txBody>
      </p:sp>
      <p:sp>
        <p:nvSpPr>
          <p:cNvPr id="27" name="Rectangle 26"/>
          <p:cNvSpPr/>
          <p:nvPr/>
        </p:nvSpPr>
        <p:spPr>
          <a:xfrm>
            <a:off x="2944368" y="4261104"/>
            <a:ext cx="557784" cy="502920"/>
          </a:xfrm>
          <a:prstGeom prst="rect">
            <a:avLst/>
          </a:prstGeom>
          <a:solidFill>
            <a:srgbClr val="EFA27A"/>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4B5563"/>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D8602A"/>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D8602A"/>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A3 · how money in a wallet, a card or another bank reaches the committee account at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23</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6B7280"/>
                </a:solidFill>
                <a:latin typeface="Arial"/>
              </a:rPr>
              <a:t>At Mashreq</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6B7280"/>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4B5563"/>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Mashreq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4B5563"/>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Direct debit mandate</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4B5563"/>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4B5563"/>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Collector’s Mashreq account</a:t>
            </a:r>
          </a:p>
          <a:p>
            <a:pPr algn="ctr">
              <a:lnSpc>
                <a:spcPct val="102000"/>
              </a:lnSpc>
              <a:spcBef>
                <a:spcPts val="200"/>
              </a:spcBef>
            </a:pPr>
            <a:r>
              <a:rPr sz="950">
                <a:solidFill>
                  <a:srgbClr val="4B5563"/>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a:t>
            </a:r>
          </a:p>
        </p:txBody>
      </p:sp>
      <p:sp>
        <p:nvSpPr>
          <p:cNvPr id="42" name="Rectangle 41"/>
          <p:cNvSpPr/>
          <p:nvPr/>
        </p:nvSpPr>
        <p:spPr>
          <a:xfrm>
            <a:off x="548640" y="5897880"/>
            <a:ext cx="201168" cy="173736"/>
          </a:xfrm>
          <a:prstGeom prst="rect">
            <a:avLst/>
          </a:prstGeom>
          <a:solidFill>
            <a:srgbClr val="FDF1EA"/>
          </a:solidFill>
          <a:ln w="12700">
            <a:solidFill>
              <a:srgbClr val="D8602A"/>
            </a:solidFill>
          </a:ln>
        </p:spPr>
        <p:txBody>
          <a:bodyPr rtlCol="0" anchor="ctr"/>
          <a:lstStyle/>
          <a:p>
            <a:pPr algn="ctr"/>
          </a:p>
        </p:txBody>
      </p:sp>
      <p:sp>
        <p:nvSpPr>
          <p:cNvPr id="43" name="TextBox 42"/>
          <p:cNvSpPr txBox="1"/>
          <p:nvPr/>
        </p:nvSpPr>
        <p:spPr>
          <a:xfrm>
            <a:off x="822960" y="5870448"/>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Mashreq</a:t>
            </a:r>
          </a:p>
        </p:txBody>
      </p:sp>
      <p:sp>
        <p:nvSpPr>
          <p:cNvPr id="44" name="Rectangle 43"/>
          <p:cNvSpPr/>
          <p:nvPr/>
        </p:nvSpPr>
        <p:spPr>
          <a:xfrm>
            <a:off x="1686154"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960474" y="5870448"/>
            <a:ext cx="2414016" cy="237744"/>
          </a:xfrm>
          <a:prstGeom prst="rect">
            <a:avLst/>
          </a:prstGeom>
          <a:noFill/>
        </p:spPr>
        <p:txBody>
          <a:bodyPr wrap="square" lIns="0" tIns="0" rIns="0" bIns="0">
            <a:spAutoFit/>
          </a:bodyPr>
          <a:lstStyle/>
          <a:p>
            <a:pPr>
              <a:lnSpc>
                <a:spcPct val="105000"/>
              </a:lnSpc>
            </a:pPr>
            <a:r>
              <a:rPr sz="1000">
                <a:solidFill>
                  <a:srgbClr val="4B5563"/>
                </a:solidFill>
                <a:latin typeface="Arial"/>
              </a:rPr>
              <a:t>wallets, cards and payment networks</a:t>
            </a:r>
          </a:p>
        </p:txBody>
      </p:sp>
      <p:sp>
        <p:nvSpPr>
          <p:cNvPr id="46" name="Rectangle 45"/>
          <p:cNvSpPr/>
          <p:nvPr/>
        </p:nvSpPr>
        <p:spPr>
          <a:xfrm>
            <a:off x="4667098"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941418" y="5870448"/>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Halqa</a:t>
            </a:r>
          </a:p>
        </p:txBody>
      </p:sp>
      <p:pic>
        <p:nvPicPr>
          <p:cNvPr id="48" name="Picture 47" descr="m_methods-framed.png"/>
          <p:cNvPicPr>
            <a:picLocks noChangeAspect="1"/>
          </p:cNvPicPr>
          <p:nvPr/>
        </p:nvPicPr>
        <p:blipFill>
          <a:blip r:embed="rId4"/>
          <a:stretch>
            <a:fillRect/>
          </a:stretch>
        </p:blipFill>
        <p:spPr>
          <a:xfrm>
            <a:off x="8229600" y="3310128"/>
            <a:ext cx="1328232" cy="2788920"/>
          </a:xfrm>
          <a:prstGeom prst="rect">
            <a:avLst/>
          </a:prstGeom>
        </p:spPr>
      </p:pic>
      <p:sp>
        <p:nvSpPr>
          <p:cNvPr id="49" name="TextBox 48"/>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1  Link  </a:t>
            </a:r>
            <a:r>
              <a:rPr sz="1000">
                <a:solidFill>
                  <a:srgbClr val="0C1408"/>
                </a:solidFill>
                <a:latin typeface="Arial"/>
              </a:rPr>
              <a:t>wallet or card linked once; the PSP keeps the token</a:t>
            </a:r>
          </a:p>
        </p:txBody>
      </p:sp>
      <p:sp>
        <p:nvSpPr>
          <p:cNvPr id="50" name="TextBox 49"/>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2  Collect  </a:t>
            </a:r>
            <a:r>
              <a:rPr sz="1000">
                <a:solidFill>
                  <a:srgbClr val="0C1408"/>
                </a:solidFill>
                <a:latin typeface="Arial"/>
              </a:rPr>
              <a:t>on payday, under the member’s consent</a:t>
            </a:r>
          </a:p>
        </p:txBody>
      </p:sp>
      <p:sp>
        <p:nvSpPr>
          <p:cNvPr id="51" name="TextBox 50"/>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3  Settle  </a:t>
            </a:r>
            <a:r>
              <a:rPr sz="1000">
                <a:solidFill>
                  <a:srgbClr val="0C1408"/>
                </a:solidFill>
                <a:latin typeface="Arial"/>
              </a:rPr>
              <a:t>into the committee account at Mashreq</a:t>
            </a:r>
          </a:p>
        </p:txBody>
      </p:sp>
      <p:sp>
        <p:nvSpPr>
          <p:cNvPr id="52" name="TextBox 51"/>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4  Confirm  </a:t>
            </a:r>
            <a:r>
              <a:rPr sz="1000">
                <a:solidFill>
                  <a:srgbClr val="0C1408"/>
                </a:solidFill>
                <a:latin typeface="Arial"/>
              </a:rPr>
              <a:t>Halqa records and reconciles daily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24</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or insurance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4B5563"/>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4B5563"/>
                </a:solidFill>
                <a:latin typeface="Arial"/>
              </a:rPr>
              <a:t>by the takaful or insurance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of the instalment: the takaful or insurance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9E3F17"/>
                </a:solidFill>
                <a:latin typeface="Arial"/>
              </a:rPr>
              <a:t>Mashreq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its insurance partner or a takaful operator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25</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6B7280"/>
                </a:solidFill>
                <a:latin typeface="Arial"/>
              </a:rPr>
              <a:t>Earn</a:t>
            </a:r>
          </a:p>
        </p:txBody>
      </p:sp>
      <p:sp>
        <p:nvSpPr>
          <p:cNvPr id="7" name="Rectangle 6"/>
          <p:cNvSpPr/>
          <p:nvPr/>
        </p:nvSpPr>
        <p:spPr>
          <a:xfrm>
            <a:off x="548640" y="1828800"/>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950">
                <a:solidFill>
                  <a:srgbClr val="4B5563"/>
                </a:solidFill>
                <a:latin typeface="Arial"/>
              </a:rPr>
              <a:t>paid at the end of each circle</a:t>
            </a:r>
          </a:p>
        </p:txBody>
      </p:sp>
      <p:sp>
        <p:nvSpPr>
          <p:cNvPr id="8" name="Rectangle 7"/>
          <p:cNvSpPr/>
          <p:nvPr/>
        </p:nvSpPr>
        <p:spPr>
          <a:xfrm>
            <a:off x="548640" y="2432304"/>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950">
                <a:solidFill>
                  <a:srgbClr val="4B5563"/>
                </a:solidFill>
                <a:latin typeface="Arial"/>
              </a:rPr>
              <a:t>at most half of Halqa’s fee on that instalment</a:t>
            </a:r>
          </a:p>
        </p:txBody>
      </p:sp>
      <p:sp>
        <p:nvSpPr>
          <p:cNvPr id="9" name="Rectangle 8"/>
          <p:cNvSpPr/>
          <p:nvPr/>
        </p:nvSpPr>
        <p:spPr>
          <a:xfrm>
            <a:off x="548640" y="3035808"/>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950">
                <a:solidFill>
                  <a:srgbClr val="4B5563"/>
                </a:solidFill>
                <a:latin typeface="Arial"/>
              </a:rPr>
              <a:t>circles that complete cleanly</a:t>
            </a:r>
          </a:p>
        </p:txBody>
      </p:sp>
      <p:sp>
        <p:nvSpPr>
          <p:cNvPr id="10" name="Rectangle 9"/>
          <p:cNvSpPr/>
          <p:nvPr/>
        </p:nvSpPr>
        <p:spPr>
          <a:xfrm>
            <a:off x="548640" y="3639312"/>
            <a:ext cx="3017520" cy="512064"/>
          </a:xfrm>
          <a:prstGeom prst="rect">
            <a:avLst/>
          </a:prstGeom>
          <a:solidFill>
            <a:srgbClr val="FDF1EA"/>
          </a:solidFill>
          <a:ln w="15875">
            <a:solidFill>
              <a:srgbClr val="D8602A"/>
            </a:solidFill>
          </a:ln>
        </p:spPr>
        <p:txBody>
          <a:bodyPr rtlCol="0" anchor="ctr" lIns="109728" tIns="82296" rIns="109728" bIns="82296" wrap="square"/>
          <a:lstStyle/>
          <a:p>
            <a:pPr>
              <a:lnSpc>
                <a:spcPct val="102000"/>
              </a:lnSpc>
            </a:pPr>
            <a:r>
              <a:rPr sz="1150" b="1">
                <a:solidFill>
                  <a:srgbClr val="0C1408"/>
                </a:solidFill>
                <a:latin typeface="Arial"/>
              </a:rPr>
              <a:t>Bought with money</a:t>
            </a:r>
          </a:p>
          <a:p>
            <a:pPr>
              <a:lnSpc>
                <a:spcPct val="102000"/>
              </a:lnSpc>
              <a:spcBef>
                <a:spcPts val="200"/>
              </a:spcBef>
            </a:pPr>
            <a:r>
              <a:rPr sz="950">
                <a:solidFill>
                  <a:srgbClr val="4B5563"/>
                </a:solidFill>
                <a:latin typeface="Arial"/>
              </a:rPr>
              <a:t>as a Mashreq product, under its licence</a:t>
            </a:r>
          </a:p>
        </p:txBody>
      </p:sp>
      <p:sp>
        <p:nvSpPr>
          <p:cNvPr id="11" name="Rectangle 10"/>
          <p:cNvSpPr/>
          <p:nvPr/>
        </p:nvSpPr>
        <p:spPr>
          <a:xfrm>
            <a:off x="4434840" y="1828800"/>
            <a:ext cx="2651760" cy="2322576"/>
          </a:xfrm>
          <a:prstGeom prst="rect">
            <a:avLst/>
          </a:prstGeom>
          <a:solidFill>
            <a:srgbClr val="FDF1EA"/>
          </a:solidFill>
          <a:ln w="19050">
            <a:solidFill>
              <a:srgbClr val="D8602A"/>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9E3F17"/>
                </a:solidFill>
                <a:latin typeface="Arial"/>
              </a:rPr>
              <a:t>1 point = Rs 1</a:t>
            </a:r>
          </a:p>
          <a:p>
            <a:pPr algn="ctr">
              <a:lnSpc>
                <a:spcPct val="105000"/>
              </a:lnSpc>
              <a:spcBef>
                <a:spcPts val="400"/>
              </a:spcBef>
            </a:pPr>
            <a:r>
              <a:rPr sz="1050">
                <a:solidFill>
                  <a:srgbClr val="4B5563"/>
                </a:solidFill>
                <a:latin typeface="Arial"/>
              </a:rPr>
              <a:t>held in the member’s account</a:t>
            </a:r>
          </a:p>
        </p:txBody>
      </p:sp>
      <p:cxnSp>
        <p:nvCxnSpPr>
          <p:cNvPr id="12" name="Connector 11"/>
          <p:cNvCxnSpPr/>
          <p:nvPr/>
        </p:nvCxnSpPr>
        <p:spPr>
          <a:xfrm>
            <a:off x="3611880" y="2084832"/>
            <a:ext cx="777240" cy="0"/>
          </a:xfrm>
          <a:prstGeom prst="line">
            <a:avLst/>
          </a:prstGeom>
          <a:ln w="19050">
            <a:solidFill>
              <a:srgbClr val="4B5563"/>
            </a:solidFill>
            <a:tailEnd type="triangle" w="med" len="med"/>
          </a:ln>
        </p:spPr>
      </p:cxnSp>
      <p:cxnSp>
        <p:nvCxnSpPr>
          <p:cNvPr id="13" name="Connector 12"/>
          <p:cNvCxnSpPr/>
          <p:nvPr/>
        </p:nvCxnSpPr>
        <p:spPr>
          <a:xfrm>
            <a:off x="3611880" y="2688336"/>
            <a:ext cx="777240" cy="0"/>
          </a:xfrm>
          <a:prstGeom prst="line">
            <a:avLst/>
          </a:prstGeom>
          <a:ln w="19050">
            <a:solidFill>
              <a:srgbClr val="4B5563"/>
            </a:solidFill>
            <a:tailEnd type="triangle" w="med" len="med"/>
          </a:ln>
        </p:spPr>
      </p:cxnSp>
      <p:cxnSp>
        <p:nvCxnSpPr>
          <p:cNvPr id="14" name="Connector 13"/>
          <p:cNvCxnSpPr/>
          <p:nvPr/>
        </p:nvCxnSpPr>
        <p:spPr>
          <a:xfrm>
            <a:off x="3611880" y="3291840"/>
            <a:ext cx="777240" cy="0"/>
          </a:xfrm>
          <a:prstGeom prst="line">
            <a:avLst/>
          </a:prstGeom>
          <a:ln w="19050">
            <a:solidFill>
              <a:srgbClr val="4B5563"/>
            </a:solidFill>
            <a:tailEnd type="triangle" w="med" len="med"/>
          </a:ln>
        </p:spPr>
      </p:cxnSp>
      <p:cxnSp>
        <p:nvCxnSpPr>
          <p:cNvPr id="15" name="Connector 14"/>
          <p:cNvCxnSpPr/>
          <p:nvPr/>
        </p:nvCxnSpPr>
        <p:spPr>
          <a:xfrm>
            <a:off x="3611880" y="3895344"/>
            <a:ext cx="777240" cy="0"/>
          </a:xfrm>
          <a:prstGeom prst="line">
            <a:avLst/>
          </a:prstGeom>
          <a:ln w="19050">
            <a:solidFill>
              <a:srgbClr val="4B5563"/>
            </a:solidFill>
            <a:tailEnd type="triangle" w="med" len="med"/>
          </a:ln>
        </p:spPr>
      </p:cxnSp>
      <p:sp>
        <p:nvSpPr>
          <p:cNvPr id="16" name="TextBox 15"/>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6B7280"/>
                </a:solidFill>
                <a:latin typeface="Arial"/>
              </a:rPr>
              <a:t>Spend</a:t>
            </a:r>
          </a:p>
        </p:txBody>
      </p:sp>
      <p:sp>
        <p:nvSpPr>
          <p:cNvPr id="17" name="Rectangle 16"/>
          <p:cNvSpPr/>
          <p:nvPr/>
        </p:nvSpPr>
        <p:spPr>
          <a:xfrm>
            <a:off x="8183880" y="1828800"/>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4B5563"/>
                </a:solidFill>
                <a:latin typeface="Arial"/>
              </a:rPr>
              <a:t>goods from partner sellers</a:t>
            </a:r>
          </a:p>
        </p:txBody>
      </p:sp>
      <p:cxnSp>
        <p:nvCxnSpPr>
          <p:cNvPr id="18" name="Connector 17"/>
          <p:cNvCxnSpPr/>
          <p:nvPr/>
        </p:nvCxnSpPr>
        <p:spPr>
          <a:xfrm>
            <a:off x="7132320" y="2084832"/>
            <a:ext cx="1005840" cy="0"/>
          </a:xfrm>
          <a:prstGeom prst="line">
            <a:avLst/>
          </a:prstGeom>
          <a:ln w="19050">
            <a:solidFill>
              <a:srgbClr val="4B5563"/>
            </a:solidFill>
            <a:tailEnd type="triangle" w="med" len="med"/>
          </a:ln>
        </p:spPr>
      </p:cxnSp>
      <p:sp>
        <p:nvSpPr>
          <p:cNvPr id="19" name="Rectangle 18"/>
          <p:cNvSpPr/>
          <p:nvPr/>
        </p:nvSpPr>
        <p:spPr>
          <a:xfrm>
            <a:off x="8183880" y="2432304"/>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4B5563"/>
                </a:solidFill>
                <a:latin typeface="Arial"/>
              </a:rPr>
              <a:t>online purchases</a:t>
            </a:r>
          </a:p>
        </p:txBody>
      </p:sp>
      <p:cxnSp>
        <p:nvCxnSpPr>
          <p:cNvPr id="20" name="Connector 19"/>
          <p:cNvCxnSpPr/>
          <p:nvPr/>
        </p:nvCxnSpPr>
        <p:spPr>
          <a:xfrm>
            <a:off x="7132320" y="2688336"/>
            <a:ext cx="1005840" cy="0"/>
          </a:xfrm>
          <a:prstGeom prst="line">
            <a:avLst/>
          </a:prstGeom>
          <a:ln w="19050">
            <a:solidFill>
              <a:srgbClr val="4B5563"/>
            </a:solidFill>
            <a:tailEnd type="triangle" w="med" len="med"/>
          </a:ln>
        </p:spPr>
      </p:cxnSp>
      <p:sp>
        <p:nvSpPr>
          <p:cNvPr id="21" name="Rectangle 20"/>
          <p:cNvSpPr/>
          <p:nvPr/>
        </p:nvSpPr>
        <p:spPr>
          <a:xfrm>
            <a:off x="8183880" y="3035808"/>
            <a:ext cx="3459175" cy="512064"/>
          </a:xfrm>
          <a:prstGeom prst="rect">
            <a:avLst/>
          </a:prstGeom>
          <a:solidFill>
            <a:srgbClr val="FDF1EA"/>
          </a:solidFill>
          <a:ln w="15875">
            <a:solidFill>
              <a:srgbClr val="D8602A"/>
            </a:solidFill>
          </a:ln>
        </p:spPr>
        <p:txBody>
          <a:bodyPr rtlCol="0" anchor="ctr" lIns="128016" tIns="96012" rIns="128016" bIns="96012" wrap="square"/>
          <a:lstStyle/>
          <a:p>
            <a:pPr>
              <a:lnSpc>
                <a:spcPct val="102000"/>
              </a:lnSpc>
            </a:pPr>
            <a:r>
              <a:rPr sz="1150" b="1">
                <a:solidFill>
                  <a:srgbClr val="0C1408"/>
                </a:solidFill>
                <a:latin typeface="Arial"/>
              </a:rPr>
              <a:t>Mashreq rewards</a:t>
            </a:r>
          </a:p>
          <a:p>
            <a:pPr>
              <a:lnSpc>
                <a:spcPct val="102000"/>
              </a:lnSpc>
              <a:spcBef>
                <a:spcPts val="200"/>
              </a:spcBef>
            </a:pPr>
            <a:r>
              <a:rPr sz="1000">
                <a:solidFill>
                  <a:srgbClr val="4B5563"/>
                </a:solidFill>
                <a:latin typeface="Arial"/>
              </a:rPr>
              <a:t>with the bank’s own rewards</a:t>
            </a:r>
          </a:p>
        </p:txBody>
      </p:sp>
      <p:cxnSp>
        <p:nvCxnSpPr>
          <p:cNvPr id="22" name="Connector 21"/>
          <p:cNvCxnSpPr/>
          <p:nvPr/>
        </p:nvCxnSpPr>
        <p:spPr>
          <a:xfrm>
            <a:off x="7132320" y="3291840"/>
            <a:ext cx="1005840" cy="0"/>
          </a:xfrm>
          <a:prstGeom prst="line">
            <a:avLst/>
          </a:prstGeom>
          <a:ln w="19050">
            <a:solidFill>
              <a:srgbClr val="4B5563"/>
            </a:solidFill>
            <a:tailEnd type="triangle" w="med" len="med"/>
          </a:ln>
        </p:spPr>
      </p:cxnSp>
      <p:sp>
        <p:nvSpPr>
          <p:cNvPr id="23" name="TextBox 22"/>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6B7280"/>
                </a:solidFill>
                <a:latin typeface="Arial"/>
              </a:rPr>
              <a:t>   per month and per circle</a:t>
            </a:r>
          </a:p>
        </p:txBody>
      </p:sp>
      <p:sp>
        <p:nvSpPr>
          <p:cNvPr id="24" name="Rectangle 23"/>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4B5563"/>
                </a:solidFill>
                <a:latin typeface="Arial"/>
              </a:rPr>
              <a:t>held each month</a:t>
            </a:r>
          </a:p>
        </p:txBody>
      </p:sp>
      <p:sp>
        <p:nvSpPr>
          <p:cNvPr id="25" name="TextBox 24"/>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6" name="Rectangle 25"/>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4B5563"/>
                </a:solidFill>
                <a:latin typeface="Arial"/>
              </a:rPr>
              <a:t>payday to the 8th</a:t>
            </a:r>
          </a:p>
        </p:txBody>
      </p:sp>
      <p:sp>
        <p:nvSpPr>
          <p:cNvPr id="27" name="TextBox 26"/>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8" name="Rectangle 27"/>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10% a year</a:t>
            </a:r>
          </a:p>
          <a:p>
            <a:pPr algn="ctr">
              <a:lnSpc>
                <a:spcPct val="100000"/>
              </a:lnSpc>
              <a:spcBef>
                <a:spcPts val="200"/>
              </a:spcBef>
            </a:pPr>
            <a:r>
              <a:rPr sz="1000">
                <a:solidFill>
                  <a:srgbClr val="4B5563"/>
                </a:solidFill>
                <a:latin typeface="Arial"/>
              </a:rPr>
              <a:t>Islamic Savings Account</a:t>
            </a:r>
          </a:p>
        </p:txBody>
      </p:sp>
      <p:sp>
        <p:nvSpPr>
          <p:cNvPr id="29" name="TextBox 28"/>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30" name="Rectangle 29"/>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230</a:t>
            </a:r>
          </a:p>
          <a:p>
            <a:pPr algn="ctr">
              <a:lnSpc>
                <a:spcPct val="100000"/>
              </a:lnSpc>
              <a:spcBef>
                <a:spcPts val="200"/>
              </a:spcBef>
            </a:pPr>
            <a:r>
              <a:rPr sz="1000">
                <a:solidFill>
                  <a:srgbClr val="4B5563"/>
                </a:solidFill>
                <a:latin typeface="Arial"/>
              </a:rPr>
              <a:t>profit a month</a:t>
            </a:r>
          </a:p>
        </p:txBody>
      </p:sp>
      <p:cxnSp>
        <p:nvCxnSpPr>
          <p:cNvPr id="31" name="Connector 30"/>
          <p:cNvCxnSpPr/>
          <p:nvPr/>
        </p:nvCxnSpPr>
        <p:spPr>
          <a:xfrm>
            <a:off x="7880909" y="5102352"/>
            <a:ext cx="256032" cy="0"/>
          </a:xfrm>
          <a:prstGeom prst="line">
            <a:avLst/>
          </a:prstGeom>
          <a:ln w="19050">
            <a:solidFill>
              <a:srgbClr val="4B5563"/>
            </a:solidFill>
            <a:tailEnd type="triangle" w="med" len="med"/>
          </a:ln>
        </p:spPr>
      </p:cxnSp>
      <p:sp>
        <p:nvSpPr>
          <p:cNvPr id="32" name="Rectangle 31"/>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2,760</a:t>
            </a:r>
          </a:p>
          <a:p>
            <a:pPr algn="ctr">
              <a:lnSpc>
                <a:spcPct val="100000"/>
              </a:lnSpc>
              <a:spcBef>
                <a:spcPts val="200"/>
              </a:spcBef>
            </a:pPr>
            <a:r>
              <a:rPr sz="1000">
                <a:solidFill>
                  <a:srgbClr val="4B5563"/>
                </a:solidFill>
                <a:latin typeface="Arial"/>
              </a:rPr>
              <a:t>over 12 months</a:t>
            </a:r>
          </a:p>
        </p:txBody>
      </p:sp>
      <p:cxnSp>
        <p:nvCxnSpPr>
          <p:cNvPr id="33" name="Connector 32"/>
          <p:cNvCxnSpPr/>
          <p:nvPr/>
        </p:nvCxnSpPr>
        <p:spPr>
          <a:xfrm>
            <a:off x="9793986" y="5102352"/>
            <a:ext cx="256032" cy="0"/>
          </a:xfrm>
          <a:prstGeom prst="line">
            <a:avLst/>
          </a:prstGeom>
          <a:ln w="19050">
            <a:solidFill>
              <a:srgbClr val="4B5563"/>
            </a:solidFill>
            <a:tailEnd type="triangle" w="med" len="med"/>
          </a:ln>
        </p:spPr>
      </p:cxnSp>
      <p:sp>
        <p:nvSpPr>
          <p:cNvPr id="34" name="Rectangle 33"/>
          <p:cNvSpPr/>
          <p:nvPr/>
        </p:nvSpPr>
        <p:spPr>
          <a:xfrm>
            <a:off x="10114026" y="4764024"/>
            <a:ext cx="1529029" cy="658368"/>
          </a:xfrm>
          <a:prstGeom prst="rect">
            <a:avLst/>
          </a:prstGeom>
          <a:solidFill>
            <a:srgbClr val="FDF1EA"/>
          </a:solidFill>
          <a:ln w="12700">
            <a:solidFill>
              <a:srgbClr val="D8602A"/>
            </a:solidFill>
          </a:ln>
        </p:spPr>
        <p:txBody>
          <a:bodyPr rtlCol="0" anchor="ctr" lIns="45720" tIns="34290" rIns="45720" bIns="34290" wrap="square"/>
          <a:lstStyle/>
          <a:p>
            <a:pPr algn="ctr">
              <a:lnSpc>
                <a:spcPct val="100000"/>
              </a:lnSpc>
            </a:pPr>
            <a:r>
              <a:rPr sz="1450" b="1">
                <a:solidFill>
                  <a:srgbClr val="0C1408"/>
                </a:solidFill>
                <a:latin typeface="Arial"/>
              </a:rPr>
              <a:t>230 points</a:t>
            </a:r>
          </a:p>
          <a:p>
            <a:pPr algn="ctr">
              <a:lnSpc>
                <a:spcPct val="100000"/>
              </a:lnSpc>
              <a:spcBef>
                <a:spcPts val="200"/>
              </a:spcBef>
            </a:pPr>
            <a:r>
              <a:rPr sz="1000">
                <a:solidFill>
                  <a:srgbClr val="4B5563"/>
                </a:solidFill>
                <a:latin typeface="Arial"/>
              </a:rPr>
              <a:t>to each member</a:t>
            </a:r>
          </a:p>
        </p:txBody>
      </p:sp>
      <p:sp>
        <p:nvSpPr>
          <p:cNvPr id="35" name="Rectangle 34"/>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Turn exchange:  </a:t>
            </a:r>
            <a:r>
              <a:rPr sz="1100">
                <a:solidFill>
                  <a:srgbClr val="0C1408"/>
                </a:solidFill>
                <a:latin typeface="Arial"/>
              </a:rPr>
              <a:t>members may exchange turns; the price is capped at the value of the pot, the buyer’s score must qualify for the earlier turn, the host approves, and a fee is charged on each exchange.</a:t>
            </a:r>
          </a:p>
        </p:txBody>
      </p:sp>
      <p:sp>
        <p:nvSpPr>
          <p:cNvPr id="36" name="TextBox 3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product rates (Islamic Savings Account, 10% indicative below Rs 1.5 million);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A6 · regulation through Mashreq’s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26</a:t>
            </a:r>
          </a:p>
        </p:txBody>
      </p:sp>
      <p:sp>
        <p:nvSpPr>
          <p:cNvPr id="6" name="Rectangle 5"/>
          <p:cNvSpPr/>
          <p:nvPr/>
        </p:nvSpPr>
        <p:spPr>
          <a:xfrm>
            <a:off x="548640" y="1572768"/>
            <a:ext cx="388620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36118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3611880" cy="274320"/>
          </a:xfrm>
          <a:prstGeom prst="rect">
            <a:avLst/>
          </a:prstGeom>
          <a:noFill/>
        </p:spPr>
        <p:txBody>
          <a:bodyPr wrap="square" lIns="0" tIns="0" rIns="0" bIns="0">
            <a:spAutoFit/>
          </a:bodyPr>
          <a:lstStyle/>
          <a:p>
            <a:pPr>
              <a:lnSpc>
                <a:spcPct val="105000"/>
              </a:lnSpc>
            </a:pPr>
            <a:r>
              <a:rPr sz="1000">
                <a:solidFill>
                  <a:srgbClr val="4B5563"/>
                </a:solidFill>
                <a:latin typeface="Arial"/>
              </a:rPr>
              <a:t>regulates Mashreq, payments and the PSP</a:t>
            </a:r>
          </a:p>
        </p:txBody>
      </p:sp>
      <p:sp>
        <p:nvSpPr>
          <p:cNvPr id="9" name="Rectangle 8"/>
          <p:cNvSpPr/>
          <p:nvPr/>
        </p:nvSpPr>
        <p:spPr>
          <a:xfrm>
            <a:off x="822960" y="2350008"/>
            <a:ext cx="3337560" cy="3566160"/>
          </a:xfrm>
          <a:prstGeom prst="rect">
            <a:avLst/>
          </a:prstGeom>
          <a:solidFill>
            <a:srgbClr val="FDF1EA"/>
          </a:solidFill>
          <a:ln w="15875">
            <a:solidFill>
              <a:srgbClr val="D8602A"/>
            </a:solidFill>
          </a:ln>
        </p:spPr>
        <p:txBody>
          <a:bodyPr rtlCol="0" anchor="ctr"/>
          <a:lstStyle/>
          <a:p>
            <a:pPr algn="ctr"/>
          </a:p>
        </p:txBody>
      </p:sp>
      <p:sp>
        <p:nvSpPr>
          <p:cNvPr id="10" name="TextBox 9"/>
          <p:cNvSpPr txBox="1"/>
          <p:nvPr/>
        </p:nvSpPr>
        <p:spPr>
          <a:xfrm>
            <a:off x="987552" y="2441448"/>
            <a:ext cx="3063240" cy="274320"/>
          </a:xfrm>
          <a:prstGeom prst="rect">
            <a:avLst/>
          </a:prstGeom>
          <a:noFill/>
        </p:spPr>
        <p:txBody>
          <a:bodyPr wrap="square" lIns="0" tIns="0" rIns="0" bIns="0">
            <a:spAutoFit/>
          </a:bodyPr>
          <a:lstStyle/>
          <a:p>
            <a:pPr>
              <a:lnSpc>
                <a:spcPct val="105000"/>
              </a:lnSpc>
            </a:pPr>
            <a:r>
              <a:rPr sz="1200" b="1">
                <a:solidFill>
                  <a:srgbClr val="0C1408"/>
                </a:solidFill>
                <a:latin typeface="Arial"/>
              </a:rPr>
              <a:t>Mashreq Bank Pakistan</a:t>
            </a:r>
          </a:p>
        </p:txBody>
      </p:sp>
      <p:sp>
        <p:nvSpPr>
          <p:cNvPr id="11" name="TextBox 10"/>
          <p:cNvSpPr txBox="1"/>
          <p:nvPr/>
        </p:nvSpPr>
        <p:spPr>
          <a:xfrm>
            <a:off x="987552" y="2715768"/>
            <a:ext cx="3063240" cy="274320"/>
          </a:xfrm>
          <a:prstGeom prst="rect">
            <a:avLst/>
          </a:prstGeom>
          <a:noFill/>
        </p:spPr>
        <p:txBody>
          <a:bodyPr wrap="square" lIns="0" tIns="0" rIns="0" bIns="0">
            <a:spAutoFit/>
          </a:bodyPr>
          <a:lstStyle/>
          <a:p>
            <a:pPr>
              <a:lnSpc>
                <a:spcPct val="105000"/>
              </a:lnSpc>
            </a:pPr>
            <a:r>
              <a:rPr sz="1000">
                <a:solidFill>
                  <a:srgbClr val="4B5563"/>
                </a:solidFill>
                <a:latin typeface="Arial"/>
              </a:rPr>
              <a:t>licence, accounts, payments</a:t>
            </a:r>
          </a:p>
        </p:txBody>
      </p:sp>
      <p:sp>
        <p:nvSpPr>
          <p:cNvPr id="12" name="Rectangle 11"/>
          <p:cNvSpPr/>
          <p:nvPr/>
        </p:nvSpPr>
        <p:spPr>
          <a:xfrm>
            <a:off x="1097280" y="3145536"/>
            <a:ext cx="2788920" cy="658368"/>
          </a:xfrm>
          <a:prstGeom prst="rect">
            <a:avLst/>
          </a:prstGeom>
          <a:solidFill>
            <a:srgbClr val="FFFFFF"/>
          </a:solidFill>
          <a:ln w="12700">
            <a:solidFill>
              <a:srgbClr val="D8602A"/>
            </a:solidFill>
          </a:ln>
        </p:spPr>
        <p:txBody>
          <a:bodyPr rtlCol="0" anchor="ctr" lIns="109728" tIns="82296" rIns="109728" bIns="82296" wrap="square"/>
          <a:lstStyle/>
          <a:p>
            <a:pPr>
              <a:lnSpc>
                <a:spcPct val="105000"/>
              </a:lnSpc>
            </a:pPr>
            <a:r>
              <a:rPr sz="1100" b="1">
                <a:solidFill>
                  <a:srgbClr val="0C1408"/>
                </a:solidFill>
                <a:latin typeface="Arial"/>
              </a:rPr>
              <a:t>Mashreq’s Shariah Board</a:t>
            </a:r>
          </a:p>
          <a:p>
            <a:pPr>
              <a:lnSpc>
                <a:spcPct val="105000"/>
              </a:lnSpc>
            </a:pPr>
            <a:r>
              <a:rPr sz="950">
                <a:solidFill>
                  <a:srgbClr val="4B5563"/>
                </a:solidFill>
                <a:latin typeface="Arial"/>
              </a:rPr>
              <a:t>certifies each Islamic product</a:t>
            </a:r>
          </a:p>
        </p:txBody>
      </p:sp>
      <p:sp>
        <p:nvSpPr>
          <p:cNvPr id="13" name="Rectangle 12"/>
          <p:cNvSpPr/>
          <p:nvPr/>
        </p:nvSpPr>
        <p:spPr>
          <a:xfrm>
            <a:off x="1097280" y="3986784"/>
            <a:ext cx="2788920" cy="1691640"/>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078224"/>
            <a:ext cx="251460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370832"/>
            <a:ext cx="2514600" cy="1280160"/>
          </a:xfrm>
          <a:prstGeom prst="rect">
            <a:avLst/>
          </a:prstGeom>
          <a:noFill/>
        </p:spPr>
        <p:txBody>
          <a:bodyPr wrap="square" lIns="0" tIns="0" rIns="0" bIns="0">
            <a:spAutoFit/>
          </a:bodyPr>
          <a:lstStyle/>
          <a:p>
            <a:pPr>
              <a:lnSpc>
                <a:spcPct val="105000"/>
              </a:lnSpc>
            </a:pPr>
            <a:r>
              <a:rPr sz="1050">
                <a:solidFill>
                  <a:srgbClr val="4B5563"/>
                </a:solidFill>
                <a:latin typeface="Arial"/>
              </a:rPr>
              <a:t>Rules, checks, application and records. Holds no member money. Works under the outsourcing framework, with audit rights for Mashreq and the State Bank.</a:t>
            </a:r>
          </a:p>
        </p:txBody>
      </p:sp>
      <p:sp>
        <p:nvSpPr>
          <p:cNvPr id="16" name="TextBox 15"/>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4754880" y="1847088"/>
            <a:ext cx="6888175" cy="0"/>
          </a:xfrm>
          <a:prstGeom prst="line">
            <a:avLst/>
          </a:prstGeom>
          <a:ln w="9525">
            <a:solidFill>
              <a:srgbClr val="0C1408"/>
            </a:solidFill>
          </a:ln>
        </p:spPr>
      </p:cxnSp>
      <p:sp>
        <p:nvSpPr>
          <p:cNvPr id="20" name="TextBox 19"/>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Mashreq; Halqa never receives it</a:t>
            </a:r>
          </a:p>
        </p:txBody>
      </p:sp>
      <p:cxnSp>
        <p:nvCxnSpPr>
          <p:cNvPr id="23" name="Connector 22"/>
          <p:cNvCxnSpPr/>
          <p:nvPr/>
        </p:nvCxnSpPr>
        <p:spPr>
          <a:xfrm>
            <a:off x="4754880" y="2308860"/>
            <a:ext cx="6888175" cy="0"/>
          </a:xfrm>
          <a:prstGeom prst="line">
            <a:avLst/>
          </a:prstGeom>
          <a:ln w="6350">
            <a:solidFill>
              <a:srgbClr val="D1D5DB"/>
            </a:solidFill>
          </a:ln>
        </p:spPr>
      </p:cxnSp>
      <p:sp>
        <p:nvSpPr>
          <p:cNvPr id="24" name="TextBox 23"/>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Mashreq and the State Bank</a:t>
            </a:r>
          </a:p>
        </p:txBody>
      </p:sp>
      <p:cxnSp>
        <p:nvCxnSpPr>
          <p:cNvPr id="27" name="Connector 26"/>
          <p:cNvCxnSpPr/>
          <p:nvPr/>
        </p:nvCxnSpPr>
        <p:spPr>
          <a:xfrm>
            <a:off x="4754880" y="2734056"/>
            <a:ext cx="6888175" cy="0"/>
          </a:xfrm>
          <a:prstGeom prst="line">
            <a:avLst/>
          </a:prstGeom>
          <a:ln w="6350">
            <a:solidFill>
              <a:srgbClr val="D1D5DB"/>
            </a:solidFill>
          </a:ln>
        </p:spPr>
      </p:cxnSp>
      <p:sp>
        <p:nvSpPr>
          <p:cNvPr id="28" name="TextBox 27"/>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direct debit mandate is Mashreq’s</a:t>
            </a:r>
          </a:p>
        </p:txBody>
      </p:sp>
      <p:cxnSp>
        <p:nvCxnSpPr>
          <p:cNvPr id="31" name="Connector 30"/>
          <p:cNvCxnSpPr/>
          <p:nvPr/>
        </p:nvCxnSpPr>
        <p:spPr>
          <a:xfrm>
            <a:off x="4754880" y="3159252"/>
            <a:ext cx="6888175" cy="0"/>
          </a:xfrm>
          <a:prstGeom prst="line">
            <a:avLst/>
          </a:prstGeom>
          <a:ln w="6350">
            <a:solidFill>
              <a:srgbClr val="D1D5DB"/>
            </a:solidFill>
          </a:ln>
        </p:spPr>
      </p:cxnSp>
      <p:sp>
        <p:nvSpPr>
          <p:cNvPr id="32" name="TextBox 31"/>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Mashreq’s TASDEEQ membership or Halqa as a data provider</a:t>
            </a:r>
          </a:p>
        </p:txBody>
      </p:sp>
      <p:cxnSp>
        <p:nvCxnSpPr>
          <p:cNvPr id="35" name="Connector 34"/>
          <p:cNvCxnSpPr/>
          <p:nvPr/>
        </p:nvCxnSpPr>
        <p:spPr>
          <a:xfrm>
            <a:off x="4754880" y="3584448"/>
            <a:ext cx="6888175" cy="0"/>
          </a:xfrm>
          <a:prstGeom prst="line">
            <a:avLst/>
          </a:prstGeom>
          <a:ln w="6350">
            <a:solidFill>
              <a:srgbClr val="D1D5DB"/>
            </a:solidFill>
          </a:ln>
        </p:spPr>
      </p:cxnSp>
      <p:sp>
        <p:nvSpPr>
          <p:cNvPr id="36" name="TextBox 35"/>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 or insurance</a:t>
            </a:r>
          </a:p>
        </p:txBody>
      </p:sp>
      <p:sp>
        <p:nvSpPr>
          <p:cNvPr id="37" name="TextBox 36"/>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Mashreq chooses</a:t>
            </a:r>
          </a:p>
        </p:txBody>
      </p:sp>
      <p:cxnSp>
        <p:nvCxnSpPr>
          <p:cNvPr id="39" name="Connector 38"/>
          <p:cNvCxnSpPr/>
          <p:nvPr/>
        </p:nvCxnSpPr>
        <p:spPr>
          <a:xfrm>
            <a:off x="4754880" y="4009644"/>
            <a:ext cx="6888175" cy="0"/>
          </a:xfrm>
          <a:prstGeom prst="line">
            <a:avLst/>
          </a:prstGeom>
          <a:ln w="6350">
            <a:solidFill>
              <a:srgbClr val="D1D5DB"/>
            </a:solidFill>
          </a:ln>
        </p:spPr>
      </p:cxnSp>
      <p:sp>
        <p:nvSpPr>
          <p:cNvPr id="40" name="TextBox 39"/>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Mashreq</a:t>
            </a:r>
          </a:p>
        </p:txBody>
      </p:sp>
      <p:cxnSp>
        <p:nvCxnSpPr>
          <p:cNvPr id="43" name="Connector 42"/>
          <p:cNvCxnSpPr/>
          <p:nvPr/>
        </p:nvCxnSpPr>
        <p:spPr>
          <a:xfrm>
            <a:off x="4754880" y="4434840"/>
            <a:ext cx="6888175" cy="0"/>
          </a:xfrm>
          <a:prstGeom prst="line">
            <a:avLst/>
          </a:prstGeom>
          <a:ln w="6350">
            <a:solidFill>
              <a:srgbClr val="D1D5DB"/>
            </a:solidFill>
          </a:ln>
        </p:spPr>
      </p:cxnSp>
      <p:sp>
        <p:nvSpPr>
          <p:cNvPr id="44" name="TextBox 43"/>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46" name="TextBox 45"/>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Mashreq and the State Bank require</a:t>
            </a:r>
          </a:p>
        </p:txBody>
      </p:sp>
      <p:cxnSp>
        <p:nvCxnSpPr>
          <p:cNvPr id="47" name="Connector 46"/>
          <p:cNvCxnSpPr/>
          <p:nvPr/>
        </p:nvCxnSpPr>
        <p:spPr>
          <a:xfrm>
            <a:off x="4754880" y="4860036"/>
            <a:ext cx="6888175" cy="0"/>
          </a:xfrm>
          <a:prstGeom prst="line">
            <a:avLst/>
          </a:prstGeom>
          <a:ln w="6350">
            <a:solidFill>
              <a:srgbClr val="D1D5DB"/>
            </a:solidFill>
          </a:ln>
        </p:spPr>
      </p:cxnSp>
      <p:sp>
        <p:nvSpPr>
          <p:cNvPr id="48" name="TextBox 47"/>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49" name="TextBox 48"/>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0" name="TextBox 49"/>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Mashreq when the account opens</a:t>
            </a:r>
          </a:p>
        </p:txBody>
      </p:sp>
      <p:cxnSp>
        <p:nvCxnSpPr>
          <p:cNvPr id="51" name="Connector 50"/>
          <p:cNvCxnSpPr/>
          <p:nvPr/>
        </p:nvCxnSpPr>
        <p:spPr>
          <a:xfrm>
            <a:off x="4754880" y="5285232"/>
            <a:ext cx="6888175" cy="0"/>
          </a:xfrm>
          <a:prstGeom prst="line">
            <a:avLst/>
          </a:prstGeom>
          <a:ln w="6350">
            <a:solidFill>
              <a:srgbClr val="D1D5DB"/>
            </a:solidFill>
          </a:ln>
        </p:spPr>
      </p:cxnSp>
      <p:sp>
        <p:nvSpPr>
          <p:cNvPr id="52" name="TextBox 51"/>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3" name="TextBox 52"/>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4" name="TextBox 53"/>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55" name="Connector 54"/>
          <p:cNvCxnSpPr/>
          <p:nvPr/>
        </p:nvCxnSpPr>
        <p:spPr>
          <a:xfrm>
            <a:off x="4754880" y="5710428"/>
            <a:ext cx="6888175" cy="0"/>
          </a:xfrm>
          <a:prstGeom prst="line">
            <a:avLst/>
          </a:prstGeom>
          <a:ln w="6350">
            <a:solidFill>
              <a:srgbClr val="D1D5DB"/>
            </a:solidFill>
          </a:ln>
        </p:spPr>
      </p:cxnSp>
      <p:sp>
        <p:nvSpPr>
          <p:cNvPr id="56" name="TextBox 55"/>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57" name="TextBox 56"/>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58" name="TextBox 57"/>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Mashreq; daily backups; records exportable to Mashreq</a:t>
            </a:r>
          </a:p>
        </p:txBody>
      </p:sp>
      <p:cxnSp>
        <p:nvCxnSpPr>
          <p:cNvPr id="59" name="Connector 58"/>
          <p:cNvCxnSpPr/>
          <p:nvPr/>
        </p:nvCxnSpPr>
        <p:spPr>
          <a:xfrm>
            <a:off x="4754880" y="6135624"/>
            <a:ext cx="6888175" cy="0"/>
          </a:xfrm>
          <a:prstGeom prst="line">
            <a:avLst/>
          </a:prstGeom>
          <a:ln w="6350">
            <a:solidFill>
              <a:srgbClr val="D1D5DB"/>
            </a:solidFill>
          </a:ln>
        </p:spPr>
      </p:cxnSp>
      <p:sp>
        <p:nvSpPr>
          <p:cNvPr id="60" name="TextBox 59"/>
          <p:cNvSpPr txBox="1"/>
          <p:nvPr/>
        </p:nvSpPr>
        <p:spPr>
          <a:xfrm>
            <a:off x="548640" y="6144768"/>
            <a:ext cx="11094415" cy="228600"/>
          </a:xfrm>
          <a:prstGeom prst="rect">
            <a:avLst/>
          </a:prstGeom>
          <a:noFill/>
        </p:spPr>
        <p:txBody>
          <a:bodyPr wrap="square" lIns="0" tIns="0" rIns="0" bIns="0">
            <a:spAutoFit/>
          </a:bodyPr>
          <a:lstStyle/>
          <a:p>
            <a:pPr>
              <a:lnSpc>
                <a:spcPct val="105000"/>
              </a:lnSpc>
            </a:pPr>
          </a:p>
        </p:txBody>
      </p:sp>
      <p:sp>
        <p:nvSpPr>
          <p:cNvPr id="61" name="TextBox 6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Mashreq Bank Pakistan</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