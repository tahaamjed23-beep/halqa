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Turn 1</c:v>
                </c:pt>
              </c:strCache>
            </c:strRef>
          </c:tx>
          <c:spPr>
            <a:ln w="28575">
              <a:solidFill>
                <a:srgbClr val="D8602A"/>
              </a:solidFill>
            </a:ln>
          </c:spPr>
          <c:marker>
            <c:symbol val="circle"/>
            <c:size val="6"/>
            <c:spPr>
              <a:solidFill>
                <a:srgbClr val="D8602A"/>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mooth val="0"/>
        </c:ser>
        <c:ser>
          <c:idx val="1"/>
          <c:order val="1"/>
          <c:tx>
            <c:strRef>
              <c:f>Sheet1!$C$1</c:f>
              <c:strCache>
                <c:ptCount val="1"/>
                <c:pt idx="0">
                  <c:v>Turn 12</c:v>
                </c:pt>
              </c:strCache>
            </c:strRef>
          </c:tx>
          <c:spPr>
            <a:ln w="28575">
              <a:solidFill>
                <a:srgbClr val="2A78D6"/>
              </a:solidFill>
            </a:ln>
          </c:spPr>
          <c:marker>
            <c:symbol val="circle"/>
            <c:size val="6"/>
            <c:spPr>
              <a:solidFill>
                <a:srgbClr val="2A78D6"/>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-10</c:v>
                </c:pt>
                <c:pt idx="1">
                  <c:v>-20</c:v>
                </c:pt>
                <c:pt idx="2">
                  <c:v>-30</c:v>
                </c:pt>
                <c:pt idx="3">
                  <c:v>-40</c:v>
                </c:pt>
                <c:pt idx="4">
                  <c:v>-50</c:v>
                </c:pt>
                <c:pt idx="5">
                  <c:v>-60</c:v>
                </c:pt>
                <c:pt idx="6">
                  <c:v>-70</c:v>
                </c:pt>
                <c:pt idx="7">
                  <c:v>-80</c:v>
                </c:pt>
                <c:pt idx="8">
                  <c:v>-90</c:v>
                </c:pt>
                <c:pt idx="9">
                  <c:v>-100</c:v>
                </c:pt>
                <c:pt idx="10">
                  <c:v>-110</c:v>
                </c:pt>
                <c:pt idx="11">
                  <c:v>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1050"/>
            </a:pPr>
          </a:p>
        </c:txPr>
        <c:crossAx val="2140495176"/>
        <c:crosses val="autoZero"/>
        <c:auto val="1"/>
        <c:lblAlgn val="ctr"/>
        <c:lblOffset val="100"/>
        <c:noMultiLvlLbl val="0"/>
      </c:catAx>
      <c:valAx>
        <c:axId val="2140495176"/>
        <c:scaling>
          <c:max val="120.0"/>
          <c:min val="-12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50">
                <a:solidFill>
                  <a:srgbClr val="5F6B58"/>
                </a:solidFill>
              </a:defRPr>
            </a:pPr>
          </a:p>
        </c:txPr>
        <c:crossAx val="2118791784"/>
        <c:crosses val="autoZero"/>
        <c:majorUnit val="60.0"/>
      </c:valAx>
    </c:plotArea>
    <c:legend>
      <c:legendPos val="t"/>
      <c:layout/>
      <c:overlay val="0"/>
      <c:txPr>
        <a:bodyPr/>
        <a:lstStyle/>
        <a:p>
          <a:pPr>
            <a:defRPr sz="1000"/>
          </a:pPr>
        </a:p>
      </c:txPr>
    </c:legend>
    <c:plotVisOnly val="1"/>
    <c:dispBlanksAs val="gap"/>
    <c:showDLblsOverMax val="0"/>
  </c:chart>
  <c:txPr>
    <a:bodyPr/>
    <a:lstStyle/>
    <a:p>
      <a:pPr>
        <a:defRPr sz="1050">
          <a:solidFill>
            <a:srgbClr val="0C140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Rs bn</c:v>
                </c:pt>
              </c:strCache>
            </c:strRef>
          </c:tx>
          <c:spPr>
            <a:solidFill>
              <a:srgbClr val="41801A"/>
            </a:solidFill>
            <a:ln>
              <a:noFill/>
            </a:ln>
          </c:spPr>
          <c:invertIfNegative val="0"/>
          <c:dPt>
            <c:idx val="0"/>
            <c:invertIfNegative val="0"/>
            <c:spPr>
              <a:solidFill>
                <a:srgbClr val="D8602A"/>
              </a:solidFill>
            </c:spPr>
          </c:dPt>
          <c:dPt>
            <c:idx val="1"/>
            <c:invertIfNegative val="0"/>
            <c:spPr>
              <a:solidFill>
                <a:srgbClr val="6DC72A"/>
              </a:solidFill>
            </c:spPr>
          </c:dPt>
          <c:dPt>
            <c:idx val="2"/>
            <c:invertIfNegative val="0"/>
            <c:spPr>
              <a:solidFill>
                <a:srgbClr val="6DC72A"/>
              </a:solidFill>
            </c:spPr>
          </c:dPt>
          <c:cat>
            <c:strRef>
              <c:f>Sheet1!$A$2:$A$4</c:f>
              <c:strCache>
                <c:ptCount val="3"/>
                <c:pt idx="0">
                  <c:v>Mashreq, 30 June 2026</c:v>
                </c:pt>
                <c:pt idx="1">
                  <c:v>Added by 100,000 members</c:v>
                </c:pt>
                <c:pt idx="2">
                  <c:v>Added by 1,000,000 members</c:v>
                </c:pt>
              </c:strCache>
            </c:strRef>
          </c:cat>
          <c:val>
            <c:numRef>
              <c:f>Sheet1!$B$2:$B$4</c:f>
              <c:numCache>
                <c:formatCode>General</c:formatCode>
                <c:ptCount val="3"/>
                <c:pt idx="0">
                  <c:v>8.5</c:v>
                </c:pt>
                <c:pt idx="1">
                  <c:v>2.4</c:v>
                </c:pt>
                <c:pt idx="2">
                  <c:v>24.3</c:v>
                </c:pt>
              </c:numCache>
            </c:numRef>
          </c:val>
        </c:ser>
        <c:dLbls>
          <c:numFmt formatCode="0.0" sourceLinked="0"/>
          <c:txPr>
            <a:bodyPr/>
            <a:lstStyle/>
            <a:p>
              <a:pPr>
                <a:defRPr sz="1000">
                  <a:solidFill>
                    <a:srgbClr val="0C1408"/>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none"/>
        <c:minorTickMark val="none"/>
        <c:tickLblPos val="nextTo"/>
        <c:spPr>
          <a:ln>
            <a:solidFill>
              <a:srgbClr val="A9B4A3"/>
            </a:solidFill>
          </a:ln>
        </c:spPr>
        <c:txPr>
          <a:bodyPr/>
          <a:lstStyle/>
          <a:p>
            <a:pPr>
              <a:defRPr sz="1050"/>
            </a:pPr>
          </a:p>
        </c:txPr>
        <c:crossAx val="-2113994440"/>
        <c:crosses val="autoZero"/>
        <c:auto val="1"/>
        <c:lblAlgn val="ctr"/>
        <c:lblOffset val="100"/>
        <c:noMultiLvlLbl val="0"/>
      </c:catAx>
      <c:valAx>
        <c:axId val="-2113994440"/>
        <c:scaling>
          <c:max val="28.674"/>
        </c:scaling>
        <c:delete/>
        <c:axPos val="b"/>
        <c:majorTickMark val="out"/>
        <c:minorTickMark val="none"/>
        <c:tickLblPos val="nextTo"/>
        <c:crossAx val="-2068027336"/>
        <c:crosses val="autoZero"/>
      </c:valAx>
    </c:plotArea>
    <c:dispBlanksAs val="gap"/>
  </c:chart>
  <c:txPr>
    <a:bodyPr/>
    <a:lstStyle/>
    <a:p>
      <a:pPr>
        <a:defRPr sz="1050">
          <a:solidFill>
            <a:srgbClr val="0C1408"/>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Rs thousand</c:v>
                </c:pt>
              </c:strCache>
            </c:strRef>
          </c:tx>
          <c:spPr>
            <a:solidFill>
              <a:srgbClr val="41801A"/>
            </a:solidFill>
            <a:ln>
              <a:noFill/>
            </a:ln>
          </c:spPr>
          <c:invertIfNegative val="0"/>
          <c:dPt>
            <c:idx val="0"/>
            <c:invertIfNegative val="0"/>
            <c:spPr>
              <a:solidFill>
                <a:srgbClr val="9E3F17"/>
              </a:solidFill>
            </c:spPr>
          </c:dPt>
          <c:dPt>
            <c:idx val="1"/>
            <c:invertIfNegative val="0"/>
            <c:spPr>
              <a:solidFill>
                <a:srgbClr val="9E3F17"/>
              </a:solidFill>
            </c:spPr>
          </c:dPt>
          <c:dPt>
            <c:idx val="2"/>
            <c:invertIfNegative val="0"/>
            <c:spPr>
              <a:solidFill>
                <a:srgbClr val="9E3F17"/>
              </a:solidFill>
            </c:spPr>
          </c:dPt>
          <c:dPt>
            <c:idx val="3"/>
            <c:invertIfNegative val="0"/>
            <c:spPr>
              <a:solidFill>
                <a:srgbClr val="9E3F17"/>
              </a:solidFill>
            </c:spPr>
          </c:dPt>
          <c:dPt>
            <c:idx val="4"/>
            <c:invertIfNegative val="0"/>
            <c:spPr>
              <a:solidFill>
                <a:srgbClr val="9E3F17"/>
              </a:solidFill>
            </c:spPr>
          </c:dPt>
          <c:dPt>
            <c:idx val="5"/>
            <c:invertIfNegative val="0"/>
            <c:spPr>
              <a:solidFill>
                <a:srgbClr val="9E3F17"/>
              </a:solidFill>
            </c:spPr>
          </c:dPt>
          <c:dPt>
            <c:idx val="6"/>
            <c:invertIfNegative val="0"/>
            <c:spPr>
              <a:solidFill>
                <a:srgbClr val="D8602A"/>
              </a:solidFill>
            </c:spPr>
          </c:dPt>
          <c:dPt>
            <c:idx val="7"/>
            <c:invertIfNegative val="0"/>
            <c:spPr>
              <a:solidFill>
                <a:srgbClr val="D8602A"/>
              </a:solidFill>
            </c:spPr>
          </c:dPt>
          <c:dPt>
            <c:idx val="8"/>
            <c:invertIfNegative val="0"/>
            <c:spPr>
              <a:solidFill>
                <a:srgbClr val="D8602A"/>
              </a:solidFill>
            </c:spPr>
          </c:dPt>
          <c:dPt>
            <c:idx val="9"/>
            <c:invertIfNegative val="0"/>
            <c:spPr>
              <a:solidFill>
                <a:srgbClr val="EFA27A"/>
              </a:solidFill>
            </c:spPr>
          </c:dPt>
          <c:dPt>
            <c:idx val="10"/>
            <c:invertIfNegative val="0"/>
            <c:spPr>
              <a:solidFill>
                <a:srgbClr val="EFA27A"/>
              </a:solidFill>
            </c:spPr>
          </c:dPt>
          <c:dPt>
            <c:idx val="11"/>
            <c:invertIfNegative val="0"/>
            <c:spPr>
              <a:solidFill>
                <a:srgbClr val="EFA27A"/>
              </a:solidFill>
            </c:spPr>
          </c:dPt>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er>
        <c:dLbls>
          <c:numFmt formatCode="0" sourceLinked="0"/>
          <c:txPr>
            <a:bodyPr/>
            <a:lstStyle/>
            <a:p>
              <a:pPr>
                <a:defRPr sz="1000">
                  <a:solidFill>
                    <a:srgbClr val="0C1408"/>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050"/>
            </a:pPr>
          </a:p>
        </c:txPr>
        <c:crossAx val="-2113994440"/>
        <c:crosses val="autoZero"/>
        <c:auto val="1"/>
        <c:lblAlgn val="ctr"/>
        <c:lblOffset val="100"/>
        <c:noMultiLvlLbl val="0"/>
      </c:catAx>
      <c:valAx>
        <c:axId val="-2113994440"/>
        <c:scaling>
          <c:max val="125.0"/>
        </c:scaling>
        <c:delete/>
        <c:axPos val="l"/>
        <c:majorTickMark val="out"/>
        <c:minorTickMark val="none"/>
        <c:tickLblPos val="nextTo"/>
        <c:crossAx val="-2068027336"/>
        <c:crosses val="autoZero"/>
      </c:valAx>
    </c:plotArea>
    <c:dispBlanksAs val="gap"/>
  </c:chart>
  <c:txPr>
    <a:bodyPr/>
    <a:lstStyle/>
    <a:p>
      <a:pPr>
        <a:defRPr sz="1050">
          <a:solidFill>
            <a:srgbClr val="0C1408"/>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Contribution after running costs</c:v>
                </c:pt>
              </c:strCache>
            </c:strRef>
          </c:tx>
          <c:spPr>
            <a:ln w="28575">
              <a:solidFill>
                <a:srgbClr val="41801A"/>
              </a:solidFill>
            </a:ln>
          </c:spPr>
          <c:marker>
            <c:symbol val="none"/>
          </c:marker>
          <c:cat>
            <c:strRef>
              <c:f>Sheet1!$A$2:$A$14</c:f>
              <c:strCache>
                <c:ptCount val="13"/>
                <c:pt idx="0">
                  <c:v>0</c:v>
                </c:pt>
                <c:pt idx="1">
                  <c:v>500</c:v>
                </c:pt>
                <c:pt idx="2">
                  <c:v>1,000</c:v>
                </c:pt>
                <c:pt idx="3">
                  <c:v>1,500</c:v>
                </c:pt>
                <c:pt idx="4">
                  <c:v>2,000</c:v>
                </c:pt>
                <c:pt idx="5">
                  <c:v>2,500</c:v>
                </c:pt>
                <c:pt idx="6">
                  <c:v>3,000</c:v>
                </c:pt>
                <c:pt idx="7">
                  <c:v>3,500</c:v>
                </c:pt>
                <c:pt idx="8">
                  <c:v>4,000</c:v>
                </c:pt>
                <c:pt idx="9">
                  <c:v>4,500</c:v>
                </c:pt>
                <c:pt idx="10">
                  <c:v>5,000</c:v>
                </c:pt>
                <c:pt idx="11">
                  <c:v>5,500</c:v>
                </c:pt>
                <c:pt idx="12">
                  <c:v>6,000</c:v>
                </c:pt>
              </c:strCache>
            </c:strRef>
          </c:cat>
          <c:val>
            <c:numRef>
              <c:f>Sheet1!$B$2:$B$14</c:f>
              <c:numCache>
                <c:formatCode>General</c:formatCode>
                <c:ptCount val="13"/>
                <c:pt idx="0">
                  <c:v>0.0</c:v>
                </c:pt>
                <c:pt idx="1">
                  <c:v>0.257</c:v>
                </c:pt>
                <c:pt idx="2">
                  <c:v>0.513</c:v>
                </c:pt>
                <c:pt idx="3">
                  <c:v>0.769</c:v>
                </c:pt>
                <c:pt idx="4">
                  <c:v>1.026</c:v>
                </c:pt>
                <c:pt idx="5">
                  <c:v>1.282</c:v>
                </c:pt>
                <c:pt idx="6">
                  <c:v>1.539</c:v>
                </c:pt>
                <c:pt idx="7">
                  <c:v>1.796</c:v>
                </c:pt>
                <c:pt idx="8">
                  <c:v>2.052</c:v>
                </c:pt>
                <c:pt idx="9">
                  <c:v>2.308</c:v>
                </c:pt>
                <c:pt idx="10">
                  <c:v>2.565</c:v>
                </c:pt>
                <c:pt idx="11">
                  <c:v>2.821</c:v>
                </c:pt>
                <c:pt idx="12">
                  <c:v>3.078</c:v>
                </c:pt>
              </c:numCache>
            </c:numRef>
          </c:val>
          <c:smooth val="0"/>
        </c:ser>
        <c:ser>
          <c:idx val="1"/>
          <c:order val="1"/>
          <c:tx>
            <c:strRef>
              <c:f>Sheet1!$C$1</c:f>
              <c:strCache>
                <c:ptCount val="1"/>
                <c:pt idx="0">
                  <c:v>Fixed cost</c:v>
                </c:pt>
              </c:strCache>
            </c:strRef>
          </c:tx>
          <c:spPr>
            <a:ln w="28575">
              <a:solidFill>
                <a:srgbClr val="4B5563"/>
              </a:solidFill>
            </a:ln>
          </c:spPr>
          <c:marker>
            <c:symbol val="none"/>
          </c:marker>
          <c:cat>
            <c:strRef>
              <c:f>Sheet1!$A$2:$A$14</c:f>
              <c:strCache>
                <c:ptCount val="13"/>
                <c:pt idx="0">
                  <c:v>0</c:v>
                </c:pt>
                <c:pt idx="1">
                  <c:v>500</c:v>
                </c:pt>
                <c:pt idx="2">
                  <c:v>1,000</c:v>
                </c:pt>
                <c:pt idx="3">
                  <c:v>1,500</c:v>
                </c:pt>
                <c:pt idx="4">
                  <c:v>2,000</c:v>
                </c:pt>
                <c:pt idx="5">
                  <c:v>2,500</c:v>
                </c:pt>
                <c:pt idx="6">
                  <c:v>3,000</c:v>
                </c:pt>
                <c:pt idx="7">
                  <c:v>3,500</c:v>
                </c:pt>
                <c:pt idx="8">
                  <c:v>4,000</c:v>
                </c:pt>
                <c:pt idx="9">
                  <c:v>4,500</c:v>
                </c:pt>
                <c:pt idx="10">
                  <c:v>5,000</c:v>
                </c:pt>
                <c:pt idx="11">
                  <c:v>5,500</c:v>
                </c:pt>
                <c:pt idx="12">
                  <c:v>6,000</c:v>
                </c:pt>
              </c:strCache>
            </c:strRef>
          </c:cat>
          <c:val>
            <c:numRef>
              <c:f>Sheet1!$C$2:$C$14</c:f>
              <c:numCache>
                <c:formatCode>General</c:formatCode>
                <c:ptCount val="13"/>
                <c:pt idx="0">
                  <c:v>1.32</c:v>
                </c:pt>
                <c:pt idx="1">
                  <c:v>1.32</c:v>
                </c:pt>
                <c:pt idx="2">
                  <c:v>1.32</c:v>
                </c:pt>
                <c:pt idx="3">
                  <c:v>1.32</c:v>
                </c:pt>
                <c:pt idx="4">
                  <c:v>1.32</c:v>
                </c:pt>
                <c:pt idx="5">
                  <c:v>1.32</c:v>
                </c:pt>
                <c:pt idx="6">
                  <c:v>1.32</c:v>
                </c:pt>
                <c:pt idx="7">
                  <c:v>1.32</c:v>
                </c:pt>
                <c:pt idx="8">
                  <c:v>1.32</c:v>
                </c:pt>
                <c:pt idx="9">
                  <c:v>1.32</c:v>
                </c:pt>
                <c:pt idx="10">
                  <c:v>1.32</c:v>
                </c:pt>
                <c:pt idx="11">
                  <c:v>1.32</c:v>
                </c:pt>
                <c:pt idx="12">
                  <c:v>1.32</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900"/>
            </a:pPr>
          </a:p>
        </c:txPr>
        <c:crossAx val="2140495176"/>
        <c:crosses val="autoZero"/>
        <c:auto val="1"/>
        <c:lblAlgn val="ctr"/>
        <c:lblOffset val="100"/>
        <c:noMultiLvlLbl val="0"/>
      </c:catAx>
      <c:valAx>
        <c:axId val="2140495176"/>
        <c:scaling>
          <c:max val="3.5"/>
          <c:min val="0.0"/>
        </c:scaling>
        <c:delete val="0"/>
        <c:axPos val="l"/>
        <c:majorGridlines>
          <c:spPr>
            <a:ln w="6350">
              <a:solidFill>
                <a:srgbClr val="E4E9DF"/>
              </a:solidFill>
            </a:ln>
          </c:spPr>
        </c:majorGridlines>
        <c:numFmt formatCode="0.0" sourceLinked="0"/>
        <c:majorTickMark val="none"/>
        <c:minorTickMark val="none"/>
        <c:tickLblPos val="nextTo"/>
        <c:spPr>
          <a:ln>
            <a:noFill/>
          </a:ln>
        </c:spPr>
        <c:txPr>
          <a:bodyPr/>
          <a:lstStyle/>
          <a:p>
            <a:pPr>
              <a:defRPr sz="900">
                <a:solidFill>
                  <a:srgbClr val="5F6B58"/>
                </a:solidFill>
              </a:defRPr>
            </a:pPr>
          </a:p>
        </c:txPr>
        <c:crossAx val="2118791784"/>
        <c:crosses val="autoZero"/>
      </c:valAx>
    </c:plotArea>
    <c:legend>
      <c:legendPos val="t"/>
      <c:layout/>
      <c:overlay val="0"/>
      <c:txPr>
        <a:bodyPr/>
        <a:lstStyle/>
        <a:p>
          <a:pPr>
            <a:defRPr sz="950"/>
          </a:pPr>
        </a:p>
      </c:txPr>
    </c:legend>
    <c:plotVisOnly val="1"/>
    <c:dispBlanksAs val="gap"/>
    <c:showDLblsOverMax val="0"/>
  </c:chart>
  <c:txPr>
    <a:bodyPr/>
    <a:lstStyle/>
    <a:p>
      <a:pPr>
        <a:defRPr sz="1000">
          <a:solidFill>
            <a:srgbClr val="0C1408"/>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D8602A"/>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050">
                  <a:solidFill>
                    <a:srgbClr val="0C140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1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1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 savings, the kameti or BC, in a mobile application. The proposal is that every member banks with Mashreq, and that Mashreq holds and moves every rupee of every committee while Halqa runs the committee system. The deck covers: what a committee is and how many people use one; the problems with informal committees; the proposed structure and the monthly cycle; what Mashreq gains; the products used; the application; onboarding; the committee types; payment collection, wallets and the PSP; default prevention, turn eligibility and recovery; points; the business model; the comparison with other options; evidence from abroad; timing; regulation; and the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proposal on one page.</a:t>
            </a:r>
          </a:p>
          <a:p/>
          <a:p>
            <a:r>
              <a:t>Background: about four in ten Pakistanis save in committees. Almost all of it is cash held by one organiser, outside any bank, and nothing is recorded.</a:t>
            </a:r>
          </a:p>
          <a:p/>
          <a:p>
            <a:r>
              <a:t>Proposal: Halqa runs the committee in its application. Every member opens a Mashreq account; Mashreq collects the instalment from it and pays the pot into it. Halqa never holds the money.</a:t>
            </a:r>
          </a:p>
          <a:p/>
          <a:p>
            <a:r>
              <a:t>Roles: Halqa is the system: the rules, the order of turns, the checks on each member, reminders and records. Mashreq is the machine: accounts, collection, payouts and profit on balances. A licensed takaful or insurance operator pays the other members if someone stops paying after collecting.</a:t>
            </a:r>
          </a:p>
          <a:p/>
          <a:p>
            <a:r>
              <a:t>Regulation comes through Mashreq’s licence, with Halqa as its service provider under the State Bank’s outsourcing framework.</a:t>
            </a:r>
          </a:p>
          <a:p/>
          <a:p>
            <a:r>
              <a:t>For Mashreq: each circle brings six to twenty accounts at once; at Mashreq’s own average deposit, 100,000 members mean about Rs 2.4 billion of deposits; and every instalment is a repayment record.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and the dark square is the month that member takes the whole Rs 120,000.</a:t>
            </a:r>
          </a:p>
          <a:p/>
          <a:p>
            <a:r>
              <a:t>The chart shows what that means for two members. The member in turn one receives Rs 120,000 at once and repays it over the year, in effect an interest free advance; the member in turn twelve saves Rs 10,000 every month to a deadline the group enforces, and receives the pot last. Both end the year at zero: no interest is paid or earned. The order is fixed at the start by the host, the organiser, who admits each member.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about 100 million people, and Oraan estimates about Rs 4 trillion a year passes through committees. These are estimates; there is no official count, which is itself part of the problem.</a:t>
            </a:r>
          </a:p>
          <a:p/>
          <a:p>
            <a:r>
              <a:t>The survey data say more about who uses them: women take part at about twice the rate of men; nine in ten committees collect monthly; more than half of adults have a committee within a kilometre of home; and the average monthly contribution in 2013 was about US$18, from a few cents to US$470.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Each grid is one hundred people. Twelve per cent of committee users say they have lost money to an organiser or a member. Sixty three per cent of savers keep their savings as cash at home, and only four per cent use a formal financial institution. And no on-time committee payment reaches a credit bureau, so years of paying on time build no record.</a:t>
            </a:r>
          </a:p>
          <a:p/>
          <a:p>
            <a:r>
              <a:t>The 2022 case: one organiser ran more than 100 committees through Facebook and defaulted on about Rs 420 million, with no written records.</a:t>
            </a:r>
          </a:p>
          <a:p/>
          <a:p>
            <a:r>
              <a:t>The four ways informal committees fail are the four things the proposed structure removes: an organiser holding the pot, a member stopping after collecting, disputes over order, and the absence of any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what. The blue lines are money, and they touch only members, Mashreq, the PSP and the takaful or insurance operator; no money line touches Halqa. Members pay instalments into Mashreq and receive pots from it. Payments from wallets and cards arrive through a licensed payment service provider and settle at Mashreq. Mashreq pays the takaful or insurance contribution to the operator, and the operator pays claims directly to members left short.</a:t>
            </a:r>
          </a:p>
          <a:p/>
          <a:p>
            <a:r>
              <a:t>The green lines are instructions. Members join and consent in the Halqa application; Halqa instructs Mashreq and the PSP to collect and to pay; the dashed lines are confirmations and records back to Halqa, and payment records to TASDEEQ, the licensed credit bureau.</a:t>
            </a:r>
          </a:p>
          <a:p/>
          <a:p>
            <a:r>
              <a:t>This matters twice: a company that holds public money is taking deposits, which only a bank may do, and a system like this needs State Bank regulation. Working inside Mashreq’s licence answers both. Halqa never holds or receives member money, never lends and never insures.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month, read top to bottom; each vertical line is one party.</a:t>
            </a:r>
          </a:p>
          <a:p/>
          <a:p>
            <a:r>
              <a:t>One, the member joins in the Halqa application and consents to the direct debit mandate. Two, Halqa registers it with Mashreq. Three, the evening before payday, a reminder on WhatsApp, in Roman Urdu first. Four, on the member’s payday, which Halqa learns from the account, Halqa asks Mashreq to collect. Five, Mashreq moves Rs 10,000 from each member’s account into the committee account at Mashreq; if the salary is late, the debit is retried each morning, five attempts at most. Six, on the 8th, the due date, Halqa tells Mashreq who collects this month. Seven, Mashreq pays Rs 120,000 into the collector’s account the same day. Eight, Mashreq confirms and the record updates. Nine, payment records go to TASDEEQ, reported by Mashreq as a member of the bureau or by Halqa as a data provider, as Mashreq decides.</a:t>
            </a:r>
          </a:p>
          <a:p/>
          <a:p>
            <a:r>
              <a:t>The money lines run only between members and Mashreq. Between payday and the 8th, about a week, the instalments sit in the Islamic Current Profit Account at Mashreq and earn profit, which returns to members as points at the end of the circle.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and deposits. Committees spread through the person who organises them. One host invites six to twenty people they know; every member opens a Mashreq account to take part; when the circle completes, satisfied members start their own. Acquisition cost is shared across the group and the cycle repeats. Hosts are rewarded with points for circles that complete cleanly, never for recruiting, which would be a pyramid. Families in the UAE can join through the Mashreq Pakistan Account, opened from Mashreq’s UAE application.</a:t>
            </a:r>
          </a:p>
          <a:p/>
          <a:p>
            <a:r>
              <a:t>Deposits use Mashreq’s own average rather than an assumption: Rs 8,515 million of deposits ÷ 350,000 customers = about Rs 24,000 a customer, 30 June 2026. On that basis 100,000 members add about Rs 2.4 billion and a million members about Rs 24.3 billion. Committee members also bring the monthly instalment, which sits at Mashreq for about a week between payday and the 8th. Mashreq’s own data on committee members should replace the average once members are 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Mashreq gains for its lending book. Every instalment, on time or late, becomes a record: amount, due date, date paid, circle type and turn, and whether the circle completed. From launch day it is reported to TASDEEQ, the licensed credit bureau, through Mashreq’s own membership or by Halqa as a data provider; Mashreq decides which. Halqa’s own score, 300 to 850, updates with every payment and decides which turns a member may take.</a:t>
            </a:r>
          </a:p>
          <a:p/>
          <a:p>
            <a:r>
              <a:t>The evidence that reporting matters comes from the United States: Mission Asset Fund runs lending circles and reports every payment to the credit bureaus; an independent evaluation by San Francisco State University of more than 600 participants found scores rose by 168 points on average.</a:t>
            </a:r>
          </a:p>
          <a:p/>
          <a:p>
            <a:r>
              <a:t>Mashreq reported no advances at 30 June 2026. Committee members bring twelve months of repayment behaviour, which is exactly the data needed to start lending, beginning with financing for motorcycles and machines bought through asset circles.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product team: almost every step of a committee uses a product Mashreq already has, drawn as one line through the life of a committee.</a:t>
            </a:r>
          </a:p>
          <a:p/>
          <a:p>
            <a:r>
              <a:t>The account opens inside the Halqa application through Mashreq’s own onboarding, with a PayPak or Mastercard debit card, in about five minutes. Between payday and the due date, about a week, the instalments sit in the Islamic Current Profit Account, a mudaraba account paying profit on the daily closing balance, monthly, up to 5 per cent; that profit returns to members at the end of the circle as points, one point for each rupee. The direct debit mandate collects on the 8th and the payout is a free instant transfer. After the circle, savings can stay in the Islamic Savings Account, up to 11.5 per cent. Families in the UAE join through the Mashreq Pakistan Account, opened from the UAE application.</a:t>
            </a:r>
          </a:p>
          <a:p/>
          <a:p>
            <a:r>
              <a:t>The dashed branch is new: takaful or insurance for circles between strangers, through an operator Mashreq chooses; and ijarah financing for motorcycles and machines bought through asset circles, the first step to a lending book.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as it runs today, in preview with sample data. One: a member joins through an invitation code, QR or link, and sees only the turns open to their score. Two: the member consents once to automatic payment; the instalment is collected on payday and retried each morning if the salary is late, five attempts at most, before the 8th. Three: every payment and payout has a receipt, and on their turn the whole pot arrives the same day. Four: the credit report shows the score from 300 to 850, the on-time history and the turns it opens. Messages come on WhatsApp, in Roman Urdu first; the application opens with a PIN.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After signing up with a phone number and PIN, Mashreq opens the account with its own checks: CNIC, NADRA biometric verification and customer due diligence. Then Halqa’s four checks run.</a:t>
            </a:r>
          </a:p>
          <a:p/>
          <a:p>
            <a:r>
              <a:t>Identity: the names on the CNIC, the bank account and the application must match; 0.90 or more passes and 0.80 to 0.90 goes to a person; a live face match; home against the declared address; the declared job against the income seen. 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 Affordability: all instalments within a third of verified income, and within 40 per cent with other loans, the limit the State Bank uses for consumer finance. Score: 300 to 850, which decides which turns a member may take; new members start in the last three turns.</a:t>
            </a:r>
          </a:p>
          <a:p/>
          <a:p>
            <a:r>
              <a:t>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kinds of circle and what each requires. Known circles, between family, colleagues or neighbours, including the weekly bazaar committee, need only check level one, because the group itself knows its members. Circles between strangers need the income check, automatic debit, takaful or insurance and a credit report read; the large ones are the committees in lakhs. Asset circles buy a motorcycle or machine with Mashreq financing. UAE family circles join relatives across two countries through Mashreq’s non resident accounts. Hyper is a daily circle of 390 to 400 members, run as an experiment, with the strictest checks; it has its own slide.</a:t>
            </a:r>
          </a:p>
          <a:p/>
          <a:p>
            <a:r>
              <a:t>In every type the early turns must be earned: a new member starts in the last three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committee for people paid daily, such as shopkeepers and drivers, run as an experiment inside the partnership.</a:t>
            </a:r>
          </a:p>
          <a:p/>
          <a:p>
            <a:r>
              <a:t>Each daily payment splits three ways. Design one: 400 members pay Rs 450 a day for 50 days; Rs 300 goes to the pot, Rs 135 to takaful or insurance and Rs 15 is the fee; eight members collect Rs 15,000 each day. Design two: 390 members pay Rs 500 a day for 26 days, Sundays off; Rs 333.33 to the pot, Rs 151.67 to takaful or insurance and Rs 15 fee; fifteen members collect Rs 8,666.67 each day. The fee is the same flat Rs 15 on every day and every turn, never graded by turn.</a:t>
            </a:r>
          </a:p>
          <a:p/>
          <a:p>
            <a:r>
              <a:t>The controls are the strictest in the product: daily income verified over eight weeks, all checks, automatic debit, one daily circle per member, late charges of 5, 10 and 15 per cent at 12, 36 and 60 hours, and the circle stops opening new days if losses would exceed the takaful or insurance limit.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is collected: the three methods, in the order of the collection design.</a:t>
            </a:r>
          </a:p>
          <a:p/>
          <a:p>
            <a:r>
              <a:t>Method one, one-tap approval: a payment request the member approves by card, mobile wallet or Raast. It is the method for known circles and the fallback when an automatic debit fails.</a:t>
            </a:r>
          </a:p>
          <a:p/>
          <a:p>
            <a:r>
              <a:t>Method two, automatic debit: Mashreq’s direct debit mandate on the member’s own Mashreq account is the main automatic method; a saved card or wallet charged through a licensed PSP covers members whose money sits elsewhere. Automatic debit is required on every circle between strangers and on Hyper.</a:t>
            </a:r>
          </a:p>
          <a:p/>
          <a:p>
            <a:r>
              <a:t>Method three, manual payment: always available.</a:t>
            </a:r>
          </a:p>
          <a:p/>
          <a:p>
            <a:r>
              <a:t>The day strip is one instalment. The first debit runs on the member’s payday, learned from the account the salary arrives in; if the salary is late, one retry each morning, five attempts at most. The due date is the 8th. Only after that do late charges start: 2, 5 and 10 per cent of the instalment. Each debit is capped at one instalment and runs only on the circle’s schedule; cancelling the mandate moves the member to method one or three without cancelling the commitment; and a missed amount is recorded against the member’s own pot, never as a balance owed to Halqa.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money reaches the committee when it is not already in the member’s Mashreq account. The blue lines are money and all of them end at Mashreq; none touches Halqa.</a:t>
            </a:r>
          </a:p>
          <a:p/>
          <a:p>
            <a:r>
              <a:t>If the money is in the member’s Mashreq account, the direct debit mandate collects it directly. If it is in another bank or a wallet, the member can move it by Raast, or link the wallet or a debit card once in the Halqa application: a licensed payment service provider keeps the card or wallet token, and Halqa keeps only a reference to it, never the card number. On payday Halqa sends the collection request by API to Mashreq or to the PSP; the PSP settles the payment into the committee account at Mashreq, never to Halqa. Every payment is confirmed back to Halqa, which updates the record and reconciles every entry against Mashreq’s statement daily. On the 8th the pot goes from the committee account to the collector’s Mashreq account.</a:t>
            </a:r>
          </a:p>
          <a:p/>
          <a:p>
            <a:r>
              <a:t>Most Pakistanis who pay digitally use a mobile wallet; about 69 million people held one at the end of 2024. This route lets them join without changing how they are paid.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controls, in the order a member meets them.</a:t>
            </a:r>
          </a:p>
          <a:p/>
          <a:p>
            <a:r>
              <a:t>Before joining: the identity, income and affordability checks; the credit score decides which turns open; the host admits each member; and no member may hold more than six circles and one daily circle at once.</a:t>
            </a:r>
          </a:p>
          <a:p/>
          <a:p>
            <a:r>
              <a:t>At joining: every rupee the member will owe is shown before signing; there are 24 hours to withdraw at no cost; the member signs a ten clause undertaking and a mutual guarantee with the other members, and consents to the direct debit mandate; takaful or insurance applies on circles between strangers.</a:t>
            </a:r>
          </a:p>
          <a:p/>
          <a:p>
            <a:r>
              <a:t>Each instalment: a reminder the evening before payday, the debit on the member’s payday, one retry each morning, five attempts at most, and the due date on the 8th.</a:t>
            </a:r>
          </a:p>
          <a:p/>
          <a:p>
            <a:r>
              <a:t>After a missed payment: a member who has not yet collected leaves no one short, because the arrears are taken out of their own pot on their turn. Late charges are 2, 5 and 10 per cent of the instalment as the delay grows, with score falls of 10, 20 and 40; daily circles charge 5, 10 and 15 per cent at 12, 36 and 60 hours. Only a member who has already collected can leave others short, and for that member the recovery steps apply.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every banker asks first. The chart is the whole default risk in one picture: on a circle of twelve at Rs 10,000, the member who collects in turn one still owes Rs 110,000; the member in turn twelve owes nothing, because they have already paid everything in. Risk exists only where someone collects before they have paid.</a:t>
            </a:r>
          </a:p>
          <a:p/>
          <a:p>
            <a:r>
              <a:t>So the early turns are closed to weak scores. Turns one to six need 650 or more on Halqa’s 300 to 850 scale; turns seven to nine need 550; the last three are open to anyone. Every new member starts in the last three turns until two circles have completed cleanly, so a stranger can never take the first pot. The bands are mandatory, with no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applies only to a member who has already collected and then stops paying; a member who misses before collecting costs the others nothing, because the arrears come out of their own pot. The worst case is turn one on a circle of twelve at Rs 10,000, with Rs 110,000 still owed.</a:t>
            </a:r>
          </a:p>
          <a:p/>
          <a:p>
            <a:r>
              <a:t>The steps rise in severity and each is used only if the one before fails. One, contact: most cases end with a hardship plan and a new date. Two, the account is restricted and the score falls by 200. Three, the takaful or insurance operator pays the members left short in full, in their own names, so they are made whole while recovery continues. Four, the mutual guarantee: the whole balance falls due. Five, an ordinary civil suit on the signed undertaking. Six, only where a guarantee cheque is held, a summary suit on it.</a:t>
            </a:r>
          </a:p>
          <a:p/>
          <a:p>
            <a:r>
              <a:t>The takaful or insurance is priced for a severe stress case, one circle in five losing a fifth of its members from the earliest turns: about 5.5 per cent of the instalment on a circle between strangers. Mashreq chooses the operator: its insurance partner or a takaful operator. Halqa itself insures no one.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return value to members without Halqa holding money. The main source is the profit on committee balances: instalments sit at Mashreq for about a week each month, and the profit on that balance is paid to members at the end of the circle as points, one point for each rupee. Members also earn points for paying on time, never more than half of Halqa’s own fee on that instalment, and hosts earn points for circles that complete cleanly. Points can also be bought, as a Mashreq product under its licence. Points are spent in Halqa’s marketplace, with e-commerce partners and with Mashreq’s own rewards.</a:t>
            </a:r>
          </a:p>
          <a:p/>
          <a:p>
            <a:r>
              <a:t>The worked example keeps it honest: a circle of 12 at Rs 10,000 holds Rs 120,000 for about seven days a month; at up to 5% a year that earns about Rs 115 a month, about Rs 1,380 over the circle, or about 115 points per member. It is a reward, not a return.</a:t>
            </a:r>
          </a:p>
          <a:p/>
          <a:p>
            <a:r>
              <a:t>Turn exchange: members may exchange turns with each other, with the price capped at the value of the pot, the buyer’s score checked against the earlier turn and the host approving; a fee is charged on each exchange.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Left, drawn to scale: one instalment on a circle between strangers. The member pays Rs 11,047: Rs 10,000 goes to whoever is collecting, Rs 547 is the takaful or insurance contribution, and up to Rs 500 is the fee. Mashreq collects the fee as its own income and pays Halqa an agreed share, and the income on both sides is used to keep the member’s cost as low as possible. Halqa’s revenue is a share of what Mashreq earns, never money held.</a:t>
            </a:r>
          </a:p>
          <a:p/>
          <a:p>
            <a:r>
              <a:t>Right: Halqa’s own economics from its 25 September model, before Mashreq’s terms. Fixed costs are about Rs 1.32 million a month; each active member contributes about Rs 510 a month after running costs; so Halqa covers its costs at 2,572 members, about 2,600. Running one payment costs Rs 13 to 35, mostly messages and checks.</a:t>
            </a:r>
          </a:p>
          <a:p/>
          <a:p>
            <a:r>
              <a:t>Income lines now: the fee share and a share of Mashreq’s income on committee balances. Later: referral fees on asset financing, 2 to 4 per cent from the financier and 1 to 3 from the dealer; a merchant commission when members spend points; employer programmes.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Mashreq and the hosts come in.</a:t>
            </a:r>
          </a:p>
          <a:p/>
          <a:p>
            <a:r>
              <a:t>Oraan, the closest competitor, holds members’ money in its own company accounts, keeps the return on it, charges the first turn up to 21 per cent of the instalment every month, about 54 per cent a year, pays out net between the 11th and the 18th, carries defaults on its own balance sheet and reports only defaulters to the bureau.</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a:t>
            </a:r>
          </a:p>
          <a:p/>
          <a:p>
            <a:r>
              <a:t>The informal committee usually has no fee, but everything rests on the organiser.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companies abroad; each line starts in the year the company started.</a:t>
            </a:r>
          </a:p>
          <a:p/>
          <a:p>
            <a:r>
              <a:t>Money Fellows in Egypt, founded 2016: more than 8 million users, US$1.5 billion of payments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a:t>
            </a:r>
          </a:p>
          <a:p/>
          <a:p>
            <a:r>
              <a:t>Esusu in the United States, founded 2018, reports on-time payments to the credit bureaus; valued at US$1 billion in 2022 and US$1.2 billion in December 2025.</a:t>
            </a:r>
          </a:p>
          <a:p/>
          <a:p>
            <a:r>
              <a:t>Each grew by working inside the formal system: a regulator, a bank or the bureaus. That is the sequence proposed with Mashreq.</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timing matters. Pakistan moved to digital payments fast: 78 per cent of retail payments were digital in FY2023 and 92 per cent by January to March 2026, when banking applications handled about 2.9 billion payments. About 69 million people held a mobile wallet at the end of 2024 and 21 million used mobile banking. Savings did not follow: the committee is still cash.</a:t>
            </a:r>
          </a:p>
          <a:p/>
          <a:p>
            <a:r>
              <a:t>The market is moving. JazzCash launched a committee feature in August 2026. The first bank to offer a committee held safely, with a credit record, sets the standard.</a:t>
            </a:r>
          </a:p>
          <a:p/>
          <a:p>
            <a:r>
              <a:t>Only about a quarter of adults are financially literate, which is why committees survive: people understand them without understanding finance. The State Bank’s strategy targets 75 per cent of adults with an account by 2028, from 64 per cent, and a smaller gender gap; committee members, more of them women than men,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and only a bank may take deposits. The nesting shows how both are met. The State Bank regulates Mashreq, payments and the payment service provider. Mashreq’s licence covers the accounts and the payments. The Islamic window product goes to its Shariah board. Halqa is assessed as Mashreq’s service provider under the State Bank’s outsourcing framework, with audit rights for Mashreq and the State Bank.</a:t>
            </a:r>
          </a:p>
          <a:p/>
          <a:p>
            <a:r>
              <a:t>The table maps each rule to how it is met: member money only at Mashreq; the outsourcing framework for Halqa’s role; the Payment Systems and Electronic Fund Transfers Act for automatic debits, where the mandate and its duties are Mashreq’s; the Credit Bureaus Act for reporting; the Insurance Ordinance for takaful or insurance, written only by a licensed operator; the product itself taken to the State Bank through Mashreq for approval or notice; and data kept to results 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Built: the member application, running in preview with sample data: sign up, circles, automatic payment settings, activity, the credit report and Hyper; the identity, income, affordability and score checks; payday collection with retries; records, receipts and statements. Written: a legal position checked against twelve laws and regulations, six risk and pricing models, the default prevention and recovery design, and the business model.</a:t>
            </a:r>
          </a:p>
          <a:p/>
          <a:p>
            <a:r>
              <a:t>To do: incorporate the company, a private limited company with its registered office in Islamabad; the agreement with Mashreq; product approval through Mashreq; the connection to Mashreq’s account, direct debit mandate and payment interfaces and to the PSP; and the takaful or insurance operator and the TASDEEQ reporting route.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086600" y="0"/>
            <a:ext cx="5105095" cy="6858000"/>
          </a:xfrm>
          <a:prstGeom prst="rect">
            <a:avLst/>
          </a:prstGeom>
          <a:solidFill>
            <a:srgbClr val="D8602A"/>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267367" y="548640"/>
            <a:ext cx="2743562" cy="5760720"/>
          </a:xfrm>
          <a:prstGeom prst="rect">
            <a:avLst/>
          </a:prstGeom>
        </p:spPr>
      </p:pic>
      <p:pic>
        <p:nvPicPr>
          <p:cNvPr id="4" name="Picture 3" descr="lockup-520.png"/>
          <p:cNvPicPr>
            <a:picLocks noChangeAspect="1"/>
          </p:cNvPicPr>
          <p:nvPr/>
        </p:nvPicPr>
        <p:blipFill>
          <a:blip r:embed="rId3"/>
          <a:stretch>
            <a:fillRect/>
          </a:stretch>
        </p:blipFill>
        <p:spPr>
          <a:xfrm>
            <a:off x="548640" y="749808"/>
            <a:ext cx="1655180" cy="502920"/>
          </a:xfrm>
          <a:prstGeom prst="rect">
            <a:avLst/>
          </a:prstGeom>
        </p:spPr>
      </p:pic>
      <p:cxnSp>
        <p:nvCxnSpPr>
          <p:cNvPr id="5" name="Connector 4"/>
          <p:cNvCxnSpPr/>
          <p:nvPr/>
        </p:nvCxnSpPr>
        <p:spPr>
          <a:xfrm>
            <a:off x="2523860" y="603504"/>
            <a:ext cx="0" cy="804672"/>
          </a:xfrm>
          <a:prstGeom prst="line">
            <a:avLst/>
          </a:prstGeom>
          <a:ln w="12700">
            <a:solidFill>
              <a:srgbClr val="D1D5DB"/>
            </a:solidFill>
          </a:ln>
        </p:spPr>
      </p:cxnSp>
      <p:pic>
        <p:nvPicPr>
          <p:cNvPr id="6" name="Picture 5" descr="mashreq-logo-colour.png"/>
          <p:cNvPicPr>
            <a:picLocks noChangeAspect="1"/>
          </p:cNvPicPr>
          <p:nvPr/>
        </p:nvPicPr>
        <p:blipFill>
          <a:blip r:embed="rId4"/>
          <a:stretch>
            <a:fillRect/>
          </a:stretch>
        </p:blipFill>
        <p:spPr>
          <a:xfrm>
            <a:off x="2843900" y="457200"/>
            <a:ext cx="984835" cy="1051560"/>
          </a:xfrm>
          <a:prstGeom prst="rect">
            <a:avLst/>
          </a:prstGeom>
        </p:spPr>
      </p:pic>
      <p:sp>
        <p:nvSpPr>
          <p:cNvPr id="7" name="TextBox 6"/>
          <p:cNvSpPr txBox="1"/>
          <p:nvPr/>
        </p:nvSpPr>
        <p:spPr>
          <a:xfrm>
            <a:off x="548640" y="2286000"/>
            <a:ext cx="6309360" cy="1234440"/>
          </a:xfrm>
          <a:prstGeom prst="rect">
            <a:avLst/>
          </a:prstGeom>
          <a:noFill/>
        </p:spPr>
        <p:txBody>
          <a:bodyPr wrap="square" lIns="0" tIns="0" rIns="0" bIns="0">
            <a:spAutoFit/>
          </a:bodyPr>
          <a:lstStyle/>
          <a:p>
            <a:pPr>
              <a:lnSpc>
                <a:spcPct val="98000"/>
              </a:lnSpc>
            </a:pPr>
            <a:r>
              <a:rPr sz="3800" b="1">
                <a:solidFill>
                  <a:srgbClr val="0C1408"/>
                </a:solidFill>
                <a:latin typeface="Arial"/>
              </a:rPr>
              <a:t>Committee Savings Partnership</a:t>
            </a:r>
          </a:p>
        </p:txBody>
      </p:sp>
      <p:sp>
        <p:nvSpPr>
          <p:cNvPr id="8" name="TextBox 7"/>
          <p:cNvSpPr txBox="1"/>
          <p:nvPr/>
        </p:nvSpPr>
        <p:spPr>
          <a:xfrm>
            <a:off x="548640" y="3639312"/>
            <a:ext cx="6309360" cy="731520"/>
          </a:xfrm>
          <a:prstGeom prst="rect">
            <a:avLst/>
          </a:prstGeom>
          <a:noFill/>
        </p:spPr>
        <p:txBody>
          <a:bodyPr wrap="square" lIns="0" tIns="0" rIns="0" bIns="0">
            <a:spAutoFit/>
          </a:bodyPr>
          <a:lstStyle/>
          <a:p>
            <a:pPr>
              <a:lnSpc>
                <a:spcPct val="105000"/>
              </a:lnSpc>
            </a:pPr>
            <a:r>
              <a:rPr sz="2000">
                <a:solidFill>
                  <a:srgbClr val="4B5563"/>
                </a:solidFill>
                <a:latin typeface="Arial"/>
              </a:rPr>
              <a:t>Proposal to Mashreq Bank Pakistan</a:t>
            </a:r>
          </a:p>
        </p:txBody>
      </p:sp>
      <p:sp>
        <p:nvSpPr>
          <p:cNvPr id="9" name="TextBox 8"/>
          <p:cNvSpPr txBox="1"/>
          <p:nvPr/>
        </p:nvSpPr>
        <p:spPr>
          <a:xfrm>
            <a:off x="548640" y="5440680"/>
            <a:ext cx="59436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Chairman, Halqa</a:t>
            </a:r>
          </a:p>
        </p:txBody>
      </p:sp>
      <p:sp>
        <p:nvSpPr>
          <p:cNvPr id="10" name="TextBox 9"/>
          <p:cNvSpPr txBox="1"/>
          <p:nvPr/>
        </p:nvSpPr>
        <p:spPr>
          <a:xfrm>
            <a:off x="548640" y="5797296"/>
            <a:ext cx="5943600" cy="274320"/>
          </a:xfrm>
          <a:prstGeom prst="rect">
            <a:avLst/>
          </a:prstGeom>
          <a:noFill/>
        </p:spPr>
        <p:txBody>
          <a:bodyPr wrap="square" lIns="0" tIns="0" rIns="0" bIns="0">
            <a:spAutoFit/>
          </a:bodyPr>
          <a:lstStyle/>
          <a:p>
            <a:pPr>
              <a:lnSpc>
                <a:spcPct val="105000"/>
              </a:lnSpc>
            </a:pPr>
            <a:r>
              <a:rPr sz="1250">
                <a:solidFill>
                  <a:srgbClr val="6B7280"/>
                </a:solidFill>
                <a:latin typeface="Arial"/>
              </a:rPr>
              <a:t>30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Summary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The proposal, the roles of each party and the benefits to each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a:t>
            </a:r>
          </a:p>
        </p:txBody>
      </p:sp>
      <p:sp>
        <p:nvSpPr>
          <p:cNvPr id="6" name="TextBox 5"/>
          <p:cNvSpPr txBox="1"/>
          <p:nvPr/>
        </p:nvSpPr>
        <p:spPr>
          <a:xfrm>
            <a:off x="548640" y="16276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Background</a:t>
            </a:r>
          </a:p>
        </p:txBody>
      </p:sp>
      <p:sp>
        <p:nvSpPr>
          <p:cNvPr id="7" name="TextBox 6"/>
          <p:cNvSpPr txBox="1"/>
          <p:nvPr/>
        </p:nvSpPr>
        <p:spPr>
          <a:xfrm>
            <a:off x="2103120" y="16276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About 4 in 10 Pakistanis save in committees. Almost all of it is cash, held by one organiser, outside any bank, with no record of who paid.</a:t>
            </a:r>
          </a:p>
        </p:txBody>
      </p:sp>
      <p:cxnSp>
        <p:nvCxnSpPr>
          <p:cNvPr id="8" name="Connector 7"/>
          <p:cNvCxnSpPr/>
          <p:nvPr/>
        </p:nvCxnSpPr>
        <p:spPr>
          <a:xfrm>
            <a:off x="548640" y="2450592"/>
            <a:ext cx="6629400" cy="0"/>
          </a:xfrm>
          <a:prstGeom prst="line">
            <a:avLst/>
          </a:prstGeom>
          <a:ln w="9525">
            <a:solidFill>
              <a:srgbClr val="D1D5DB"/>
            </a:solidFill>
          </a:ln>
        </p:spPr>
      </p:cxnSp>
      <p:sp>
        <p:nvSpPr>
          <p:cNvPr id="9" name="TextBox 8"/>
          <p:cNvSpPr txBox="1"/>
          <p:nvPr/>
        </p:nvSpPr>
        <p:spPr>
          <a:xfrm>
            <a:off x="548640" y="25420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Proposal</a:t>
            </a:r>
          </a:p>
        </p:txBody>
      </p:sp>
      <p:sp>
        <p:nvSpPr>
          <p:cNvPr id="10" name="TextBox 9"/>
          <p:cNvSpPr txBox="1"/>
          <p:nvPr/>
        </p:nvSpPr>
        <p:spPr>
          <a:xfrm>
            <a:off x="2103120" y="25420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runs committees in its application. Every member holds a Mashreq account; Mashreq collects each instalment and pays each pot.</a:t>
            </a:r>
          </a:p>
        </p:txBody>
      </p:sp>
      <p:cxnSp>
        <p:nvCxnSpPr>
          <p:cNvPr id="11" name="Connector 10"/>
          <p:cNvCxnSpPr/>
          <p:nvPr/>
        </p:nvCxnSpPr>
        <p:spPr>
          <a:xfrm>
            <a:off x="548640" y="3364992"/>
            <a:ext cx="6629400" cy="0"/>
          </a:xfrm>
          <a:prstGeom prst="line">
            <a:avLst/>
          </a:prstGeom>
          <a:ln w="9525">
            <a:solidFill>
              <a:srgbClr val="D1D5DB"/>
            </a:solidFill>
          </a:ln>
        </p:spPr>
      </p:cxnSp>
      <p:sp>
        <p:nvSpPr>
          <p:cNvPr id="12" name="TextBox 11"/>
          <p:cNvSpPr txBox="1"/>
          <p:nvPr/>
        </p:nvSpPr>
        <p:spPr>
          <a:xfrm>
            <a:off x="548640" y="34564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Roles</a:t>
            </a:r>
          </a:p>
        </p:txBody>
      </p:sp>
      <p:sp>
        <p:nvSpPr>
          <p:cNvPr id="13" name="TextBox 12"/>
          <p:cNvSpPr txBox="1"/>
          <p:nvPr/>
        </p:nvSpPr>
        <p:spPr>
          <a:xfrm>
            <a:off x="2103120" y="34564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rules, turn order, member checks, reminders and records. Mashreq: accounts, collection, payouts and profit. A licensed takaful or insurance operator protects members.</a:t>
            </a:r>
          </a:p>
        </p:txBody>
      </p:sp>
      <p:cxnSp>
        <p:nvCxnSpPr>
          <p:cNvPr id="14" name="Connector 13"/>
          <p:cNvCxnSpPr/>
          <p:nvPr/>
        </p:nvCxnSpPr>
        <p:spPr>
          <a:xfrm>
            <a:off x="548640" y="4279392"/>
            <a:ext cx="6629400" cy="0"/>
          </a:xfrm>
          <a:prstGeom prst="line">
            <a:avLst/>
          </a:prstGeom>
          <a:ln w="9525">
            <a:solidFill>
              <a:srgbClr val="D1D5DB"/>
            </a:solidFill>
          </a:ln>
        </p:spPr>
      </p:cxnSp>
      <p:sp>
        <p:nvSpPr>
          <p:cNvPr id="15" name="TextBox 14"/>
          <p:cNvSpPr txBox="1"/>
          <p:nvPr/>
        </p:nvSpPr>
        <p:spPr>
          <a:xfrm>
            <a:off x="548640" y="43708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Regulation</a:t>
            </a:r>
          </a:p>
        </p:txBody>
      </p:sp>
      <p:sp>
        <p:nvSpPr>
          <p:cNvPr id="16" name="TextBox 15"/>
          <p:cNvSpPr txBox="1"/>
          <p:nvPr/>
        </p:nvSpPr>
        <p:spPr>
          <a:xfrm>
            <a:off x="2103120" y="43708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Through Mashreq’s licence, with Halqa acting as its service provider under the State Bank’s outsourcing framework.</a:t>
            </a:r>
          </a:p>
        </p:txBody>
      </p:sp>
      <p:cxnSp>
        <p:nvCxnSpPr>
          <p:cNvPr id="17" name="Connector 16"/>
          <p:cNvCxnSpPr/>
          <p:nvPr/>
        </p:nvCxnSpPr>
        <p:spPr>
          <a:xfrm>
            <a:off x="548640" y="5193792"/>
            <a:ext cx="6629400" cy="0"/>
          </a:xfrm>
          <a:prstGeom prst="line">
            <a:avLst/>
          </a:prstGeom>
          <a:ln w="9525">
            <a:solidFill>
              <a:srgbClr val="D1D5DB"/>
            </a:solidFill>
          </a:ln>
        </p:spPr>
      </p:cxnSp>
      <p:sp>
        <p:nvSpPr>
          <p:cNvPr id="18" name="TextBox 17"/>
          <p:cNvSpPr txBox="1"/>
          <p:nvPr/>
        </p:nvSpPr>
        <p:spPr>
          <a:xfrm>
            <a:off x="548640" y="5285232"/>
            <a:ext cx="1554480" cy="365760"/>
          </a:xfrm>
          <a:prstGeom prst="rect">
            <a:avLst/>
          </a:prstGeom>
          <a:noFill/>
        </p:spPr>
        <p:txBody>
          <a:bodyPr wrap="square" lIns="0" tIns="0" rIns="0" bIns="0">
            <a:spAutoFit/>
          </a:bodyPr>
          <a:lstStyle/>
          <a:p>
            <a:pPr>
              <a:lnSpc>
                <a:spcPct val="105000"/>
              </a:lnSpc>
            </a:pPr>
            <a:r>
              <a:rPr sz="1300" b="1">
                <a:solidFill>
                  <a:srgbClr val="9E3F17"/>
                </a:solidFill>
                <a:latin typeface="Arial"/>
              </a:rPr>
              <a:t>Status</a:t>
            </a:r>
          </a:p>
        </p:txBody>
      </p:sp>
      <p:sp>
        <p:nvSpPr>
          <p:cNvPr id="19" name="TextBox 18"/>
          <p:cNvSpPr txBox="1"/>
          <p:nvPr/>
        </p:nvSpPr>
        <p:spPr>
          <a:xfrm>
            <a:off x="2103120" y="52852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The application is built and runs in preview. No member money has moved.</a:t>
            </a:r>
          </a:p>
        </p:txBody>
      </p:sp>
      <p:sp>
        <p:nvSpPr>
          <p:cNvPr id="20" name="Rectangle 19"/>
          <p:cNvSpPr/>
          <p:nvPr/>
        </p:nvSpPr>
        <p:spPr>
          <a:xfrm>
            <a:off x="7635240" y="1554480"/>
            <a:ext cx="4007815" cy="2395728"/>
          </a:xfrm>
          <a:prstGeom prst="rect">
            <a:avLst/>
          </a:prstGeom>
          <a:solidFill>
            <a:srgbClr val="F3FCE7"/>
          </a:solidFill>
          <a:ln>
            <a:noFill/>
          </a:ln>
        </p:spPr>
        <p:txBody>
          <a:bodyPr rtlCol="0" anchor="ctr"/>
          <a:lstStyle/>
          <a:p>
            <a:pPr algn="ctr"/>
          </a:p>
        </p:txBody>
      </p:sp>
      <p:sp>
        <p:nvSpPr>
          <p:cNvPr id="21" name="TextBox 20"/>
          <p:cNvSpPr txBox="1"/>
          <p:nvPr/>
        </p:nvSpPr>
        <p:spPr>
          <a:xfrm>
            <a:off x="7836408" y="1682496"/>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members</a:t>
            </a:r>
          </a:p>
        </p:txBody>
      </p:sp>
      <p:sp>
        <p:nvSpPr>
          <p:cNvPr id="22" name="TextBox 21"/>
          <p:cNvSpPr txBox="1"/>
          <p:nvPr/>
        </p:nvSpPr>
        <p:spPr>
          <a:xfrm>
            <a:off x="7836408" y="2029968"/>
            <a:ext cx="3642055" cy="1847088"/>
          </a:xfrm>
          <a:prstGeom prst="rect">
            <a:avLst/>
          </a:prstGeom>
          <a:noFill/>
        </p:spPr>
        <p:txBody>
          <a:bodyPr wrap="square" lIns="0" tIns="0" rIns="0" bIns="0">
            <a:spAutoFit/>
          </a:bodyPr>
          <a:lstStyle/>
          <a:p>
            <a:pPr marL="173736" indent="-173736">
              <a:lnSpc>
                <a:spcPct val="104000"/>
              </a:lnSpc>
              <a:spcAft>
                <a:spcPts val="350"/>
              </a:spcAft>
              <a:buClr>
                <a:srgbClr val="41801A"/>
              </a:buClr>
              <a:buSzPct val="70000"/>
              <a:buFont typeface="Arial"/>
              <a:buChar char="■"/>
            </a:pPr>
            <a:r>
              <a:rPr sz="1150">
                <a:solidFill>
                  <a:srgbClr val="0C1408"/>
                </a:solidFill>
                <a:latin typeface="Arial"/>
              </a:rPr>
              <a:t>Money held by a bank, not by an organiser</a:t>
            </a:r>
          </a:p>
          <a:p>
            <a:pPr marL="173736" indent="-173736">
              <a:lnSpc>
                <a:spcPct val="104000"/>
              </a:lnSpc>
              <a:spcAft>
                <a:spcPts val="350"/>
              </a:spcAft>
              <a:buClr>
                <a:srgbClr val="41801A"/>
              </a:buClr>
              <a:buSzPct val="70000"/>
              <a:buFont typeface="Arial"/>
              <a:buChar char="■"/>
            </a:pPr>
            <a:r>
              <a:rPr sz="1150">
                <a:solidFill>
                  <a:srgbClr val="0C1408"/>
                </a:solidFill>
                <a:latin typeface="Arial"/>
              </a:rPr>
              <a:t>One flat fee for every turn</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Automatic payment on payday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The pot paid the same 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Takaful or insurance if a member defaults</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 credit record from every payment</a:t>
            </a:r>
          </a:p>
          <a:p>
            <a:pPr marL="173736" indent="-173736">
              <a:lnSpc>
                <a:spcPct val="104000"/>
              </a:lnSpc>
              <a:spcAft>
                <a:spcPts val="350"/>
              </a:spcAft>
              <a:buClr>
                <a:srgbClr val="41801A"/>
              </a:buClr>
              <a:buSzPct val="70000"/>
              <a:buFont typeface="Arial"/>
              <a:buChar char="■"/>
            </a:pPr>
            <a:r>
              <a:rPr sz="1150">
                <a:solidFill>
                  <a:srgbClr val="0C1408"/>
                </a:solidFill>
                <a:latin typeface="Arial"/>
              </a:rPr>
              <a:t>Profit on balances returned as points</a:t>
            </a:r>
          </a:p>
        </p:txBody>
      </p:sp>
      <p:sp>
        <p:nvSpPr>
          <p:cNvPr id="23" name="Rectangle 22"/>
          <p:cNvSpPr/>
          <p:nvPr/>
        </p:nvSpPr>
        <p:spPr>
          <a:xfrm>
            <a:off x="7635240" y="4087368"/>
            <a:ext cx="4007815" cy="2103120"/>
          </a:xfrm>
          <a:prstGeom prst="rect">
            <a:avLst/>
          </a:prstGeom>
          <a:solidFill>
            <a:srgbClr val="FDF1EA"/>
          </a:solidFill>
          <a:ln>
            <a:noFill/>
          </a:ln>
        </p:spPr>
        <p:txBody>
          <a:bodyPr rtlCol="0" anchor="ctr"/>
          <a:lstStyle/>
          <a:p>
            <a:pPr algn="ctr"/>
          </a:p>
        </p:txBody>
      </p:sp>
      <p:sp>
        <p:nvSpPr>
          <p:cNvPr id="24" name="TextBox 23"/>
          <p:cNvSpPr txBox="1"/>
          <p:nvPr/>
        </p:nvSpPr>
        <p:spPr>
          <a:xfrm>
            <a:off x="7836408" y="4215384"/>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Mashreq</a:t>
            </a:r>
          </a:p>
        </p:txBody>
      </p:sp>
      <p:sp>
        <p:nvSpPr>
          <p:cNvPr id="25" name="TextBox 24"/>
          <p:cNvSpPr txBox="1"/>
          <p:nvPr/>
        </p:nvSpPr>
        <p:spPr>
          <a:xfrm>
            <a:off x="7836408" y="4562856"/>
            <a:ext cx="3642055" cy="1554480"/>
          </a:xfrm>
          <a:prstGeom prst="rect">
            <a:avLst/>
          </a:prstGeom>
          <a:noFill/>
        </p:spPr>
        <p:txBody>
          <a:bodyPr wrap="square" lIns="0" tIns="0" rIns="0" bIns="0">
            <a:spAutoFit/>
          </a:bodyPr>
          <a:lstStyle/>
          <a:p>
            <a:pPr marL="173736" indent="-173736">
              <a:lnSpc>
                <a:spcPct val="104000"/>
              </a:lnSpc>
              <a:spcAft>
                <a:spcPts val="350"/>
              </a:spcAft>
              <a:buClr>
                <a:srgbClr val="D8602A"/>
              </a:buClr>
              <a:buSzPct val="70000"/>
              <a:buFont typeface="Arial"/>
              <a:buChar char="■"/>
            </a:pPr>
            <a:r>
              <a:rPr sz="1150">
                <a:solidFill>
                  <a:srgbClr val="0C1408"/>
                </a:solidFill>
                <a:latin typeface="Arial"/>
              </a:rPr>
              <a:t>6 to 20 new accounts from each circle</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About Rs 2.4 billion of deposits per 100,000 members</a:t>
            </a:r>
          </a:p>
          <a:p>
            <a:pPr marL="173736" indent="-173736">
              <a:lnSpc>
                <a:spcPct val="104000"/>
              </a:lnSpc>
              <a:spcAft>
                <a:spcPts val="350"/>
              </a:spcAft>
              <a:buClr>
                <a:srgbClr val="D8602A"/>
              </a:buClr>
              <a:buSzPct val="70000"/>
              <a:buFont typeface="Arial"/>
              <a:buChar char="■"/>
            </a:pPr>
            <a:r>
              <a:rPr sz="1150">
                <a:solidFill>
                  <a:srgbClr val="0C1408"/>
                </a:solidFill>
                <a:latin typeface="Arial"/>
              </a:rPr>
              <a:t>Instalments held about 7 days before payout</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 repayment record on every member</a:t>
            </a:r>
          </a:p>
          <a:p>
            <a:pPr marL="173736" indent="-173736">
              <a:lnSpc>
                <a:spcPct val="104000"/>
              </a:lnSpc>
              <a:spcAft>
                <a:spcPts val="350"/>
              </a:spcAft>
              <a:buClr>
                <a:srgbClr val="D8602A"/>
              </a:buClr>
              <a:buSzPct val="70000"/>
              <a:buFont typeface="Arial"/>
              <a:buChar char="■"/>
            </a:pPr>
            <a:r>
              <a:rPr sz="1150">
                <a:solidFill>
                  <a:srgbClr val="0C1408"/>
                </a:solidFill>
                <a:latin typeface="Arial"/>
              </a:rPr>
              <a:t>Fee income, shared with Halqa</a:t>
            </a:r>
          </a:p>
          <a:p>
            <a:pPr marL="173736" indent="-173736">
              <a:lnSpc>
                <a:spcPct val="104000"/>
              </a:lnSpc>
              <a:spcAft>
                <a:spcPts val="350"/>
              </a:spcAft>
              <a:buClr>
                <a:srgbClr val="D8602A"/>
              </a:buClr>
              <a:buSzPct val="70000"/>
              <a:buFont typeface="Arial"/>
              <a:buChar char="■"/>
            </a:pPr>
            <a:r>
              <a:rPr sz="1150">
                <a:solidFill>
                  <a:srgbClr val="0C1408"/>
                </a:solidFill>
                <a:latin typeface="Arial"/>
              </a:rPr>
              <a:t>Asset financing after clean circles</a:t>
            </a:r>
          </a:p>
        </p:txBody>
      </p:sp>
      <p:sp>
        <p:nvSpPr>
          <p:cNvPr id="26" name="TextBox 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Karandaaz and Oraan estimates, Dawn, 12 December 2022    2  Mashreq Bank Pakistan half year report to 30 June 2026, at the bank’s own average deposit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How a Committee Works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Also called kameti, BC or bisi. Example: 12 members each pay Rs 10,000 a month for 12 months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3</a:t>
            </a:r>
          </a:p>
        </p:txBody>
      </p:sp>
      <p:sp>
        <p:nvSpPr>
          <p:cNvPr id="6" name="TextBox 5"/>
          <p:cNvSpPr txBox="1"/>
          <p:nvPr/>
        </p:nvSpPr>
        <p:spPr>
          <a:xfrm>
            <a:off x="548640" y="1481328"/>
            <a:ext cx="45720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Who pays and who collects</a:t>
            </a:r>
            <a:r>
              <a:rPr sz="1100">
                <a:solidFill>
                  <a:srgbClr val="6B7280"/>
                </a:solidFill>
                <a:latin typeface="Arial"/>
              </a:rPr>
              <a:t>   by month</a:t>
            </a:r>
          </a:p>
        </p:txBody>
      </p:sp>
      <p:sp>
        <p:nvSpPr>
          <p:cNvPr id="7" name="TextBox 6"/>
          <p:cNvSpPr txBox="1"/>
          <p:nvPr/>
        </p:nvSpPr>
        <p:spPr>
          <a:xfrm>
            <a:off x="1097280" y="1783080"/>
            <a:ext cx="3291840" cy="219456"/>
          </a:xfrm>
          <a:prstGeom prst="rect">
            <a:avLst/>
          </a:prstGeom>
          <a:noFill/>
        </p:spPr>
        <p:txBody>
          <a:bodyPr wrap="square" lIns="0" tIns="0" rIns="0" bIns="0">
            <a:spAutoFit/>
          </a:bodyPr>
          <a:lstStyle/>
          <a:p>
            <a:pPr algn="ctr">
              <a:lnSpc>
                <a:spcPct val="105000"/>
              </a:lnSpc>
            </a:pPr>
            <a:r>
              <a:rPr sz="1000" b="1">
                <a:solidFill>
                  <a:srgbClr val="4B5563"/>
                </a:solidFill>
                <a:latin typeface="Arial"/>
              </a:rPr>
              <a:t>Month</a:t>
            </a:r>
          </a:p>
        </p:txBody>
      </p:sp>
      <p:sp>
        <p:nvSpPr>
          <p:cNvPr id="8" name="TextBox 7"/>
          <p:cNvSpPr txBox="1"/>
          <p:nvPr/>
        </p:nvSpPr>
        <p:spPr>
          <a:xfrm>
            <a:off x="10424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a:t>
            </a:r>
          </a:p>
        </p:txBody>
      </p:sp>
      <p:sp>
        <p:nvSpPr>
          <p:cNvPr id="9" name="TextBox 8"/>
          <p:cNvSpPr txBox="1"/>
          <p:nvPr/>
        </p:nvSpPr>
        <p:spPr>
          <a:xfrm>
            <a:off x="13167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2</a:t>
            </a:r>
          </a:p>
        </p:txBody>
      </p:sp>
      <p:sp>
        <p:nvSpPr>
          <p:cNvPr id="10" name="TextBox 9"/>
          <p:cNvSpPr txBox="1"/>
          <p:nvPr/>
        </p:nvSpPr>
        <p:spPr>
          <a:xfrm>
            <a:off x="159105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3</a:t>
            </a:r>
          </a:p>
        </p:txBody>
      </p:sp>
      <p:sp>
        <p:nvSpPr>
          <p:cNvPr id="11" name="TextBox 10"/>
          <p:cNvSpPr txBox="1"/>
          <p:nvPr/>
        </p:nvSpPr>
        <p:spPr>
          <a:xfrm>
            <a:off x="186537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4</a:t>
            </a:r>
          </a:p>
        </p:txBody>
      </p:sp>
      <p:sp>
        <p:nvSpPr>
          <p:cNvPr id="12" name="TextBox 11"/>
          <p:cNvSpPr txBox="1"/>
          <p:nvPr/>
        </p:nvSpPr>
        <p:spPr>
          <a:xfrm>
            <a:off x="213969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5</a:t>
            </a:r>
          </a:p>
        </p:txBody>
      </p:sp>
      <p:sp>
        <p:nvSpPr>
          <p:cNvPr id="13" name="TextBox 12"/>
          <p:cNvSpPr txBox="1"/>
          <p:nvPr/>
        </p:nvSpPr>
        <p:spPr>
          <a:xfrm>
            <a:off x="24140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6</a:t>
            </a:r>
          </a:p>
        </p:txBody>
      </p:sp>
      <p:sp>
        <p:nvSpPr>
          <p:cNvPr id="14" name="TextBox 13"/>
          <p:cNvSpPr txBox="1"/>
          <p:nvPr/>
        </p:nvSpPr>
        <p:spPr>
          <a:xfrm>
            <a:off x="26883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7</a:t>
            </a:r>
          </a:p>
        </p:txBody>
      </p:sp>
      <p:sp>
        <p:nvSpPr>
          <p:cNvPr id="15" name="TextBox 14"/>
          <p:cNvSpPr txBox="1"/>
          <p:nvPr/>
        </p:nvSpPr>
        <p:spPr>
          <a:xfrm>
            <a:off x="296265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8</a:t>
            </a:r>
          </a:p>
        </p:txBody>
      </p:sp>
      <p:sp>
        <p:nvSpPr>
          <p:cNvPr id="16" name="TextBox 15"/>
          <p:cNvSpPr txBox="1"/>
          <p:nvPr/>
        </p:nvSpPr>
        <p:spPr>
          <a:xfrm>
            <a:off x="323697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9</a:t>
            </a:r>
          </a:p>
        </p:txBody>
      </p:sp>
      <p:sp>
        <p:nvSpPr>
          <p:cNvPr id="17" name="TextBox 16"/>
          <p:cNvSpPr txBox="1"/>
          <p:nvPr/>
        </p:nvSpPr>
        <p:spPr>
          <a:xfrm>
            <a:off x="351129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10</a:t>
            </a:r>
          </a:p>
        </p:txBody>
      </p:sp>
      <p:sp>
        <p:nvSpPr>
          <p:cNvPr id="18" name="TextBox 17"/>
          <p:cNvSpPr txBox="1"/>
          <p:nvPr/>
        </p:nvSpPr>
        <p:spPr>
          <a:xfrm>
            <a:off x="37856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11</a:t>
            </a:r>
          </a:p>
        </p:txBody>
      </p:sp>
      <p:sp>
        <p:nvSpPr>
          <p:cNvPr id="19" name="TextBox 18"/>
          <p:cNvSpPr txBox="1"/>
          <p:nvPr/>
        </p:nvSpPr>
        <p:spPr>
          <a:xfrm>
            <a:off x="40599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12</a:t>
            </a:r>
          </a:p>
        </p:txBody>
      </p:sp>
      <p:sp>
        <p:nvSpPr>
          <p:cNvPr id="20" name="TextBox 19"/>
          <p:cNvSpPr txBox="1"/>
          <p:nvPr/>
        </p:nvSpPr>
        <p:spPr>
          <a:xfrm>
            <a:off x="731520" y="21031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a:t>
            </a:r>
          </a:p>
        </p:txBody>
      </p:sp>
      <p:sp>
        <p:nvSpPr>
          <p:cNvPr id="21" name="Rectangle 20"/>
          <p:cNvSpPr/>
          <p:nvPr/>
        </p:nvSpPr>
        <p:spPr>
          <a:xfrm>
            <a:off x="1097280" y="2103120"/>
            <a:ext cx="228600" cy="228600"/>
          </a:xfrm>
          <a:prstGeom prst="rect">
            <a:avLst/>
          </a:prstGeom>
          <a:solidFill>
            <a:srgbClr val="D8602A"/>
          </a:solidFill>
          <a:ln>
            <a:noFill/>
          </a:ln>
        </p:spPr>
        <p:txBody>
          <a:bodyPr rtlCol="0" anchor="ctr"/>
          <a:lstStyle/>
          <a:p>
            <a:pPr algn="ctr"/>
          </a:p>
        </p:txBody>
      </p:sp>
      <p:sp>
        <p:nvSpPr>
          <p:cNvPr id="22" name="Rectangle 21"/>
          <p:cNvSpPr/>
          <p:nvPr/>
        </p:nvSpPr>
        <p:spPr>
          <a:xfrm>
            <a:off x="1371600" y="2103120"/>
            <a:ext cx="228600" cy="228600"/>
          </a:xfrm>
          <a:prstGeom prst="rect">
            <a:avLst/>
          </a:prstGeom>
          <a:solidFill>
            <a:srgbClr val="F9DCCB"/>
          </a:solidFill>
          <a:ln>
            <a:noFill/>
          </a:ln>
        </p:spPr>
        <p:txBody>
          <a:bodyPr rtlCol="0" anchor="ctr"/>
          <a:lstStyle/>
          <a:p>
            <a:pPr algn="ctr"/>
          </a:p>
        </p:txBody>
      </p:sp>
      <p:sp>
        <p:nvSpPr>
          <p:cNvPr id="23" name="Rectangle 22"/>
          <p:cNvSpPr/>
          <p:nvPr/>
        </p:nvSpPr>
        <p:spPr>
          <a:xfrm>
            <a:off x="1645920" y="2103120"/>
            <a:ext cx="228600" cy="228600"/>
          </a:xfrm>
          <a:prstGeom prst="rect">
            <a:avLst/>
          </a:prstGeom>
          <a:solidFill>
            <a:srgbClr val="F9DCCB"/>
          </a:solidFill>
          <a:ln>
            <a:noFill/>
          </a:ln>
        </p:spPr>
        <p:txBody>
          <a:bodyPr rtlCol="0" anchor="ctr"/>
          <a:lstStyle/>
          <a:p>
            <a:pPr algn="ctr"/>
          </a:p>
        </p:txBody>
      </p:sp>
      <p:sp>
        <p:nvSpPr>
          <p:cNvPr id="24" name="Rectangle 23"/>
          <p:cNvSpPr/>
          <p:nvPr/>
        </p:nvSpPr>
        <p:spPr>
          <a:xfrm>
            <a:off x="1920240" y="2103120"/>
            <a:ext cx="228600" cy="228600"/>
          </a:xfrm>
          <a:prstGeom prst="rect">
            <a:avLst/>
          </a:prstGeom>
          <a:solidFill>
            <a:srgbClr val="F9DCCB"/>
          </a:solidFill>
          <a:ln>
            <a:noFill/>
          </a:ln>
        </p:spPr>
        <p:txBody>
          <a:bodyPr rtlCol="0" anchor="ctr"/>
          <a:lstStyle/>
          <a:p>
            <a:pPr algn="ctr"/>
          </a:p>
        </p:txBody>
      </p:sp>
      <p:sp>
        <p:nvSpPr>
          <p:cNvPr id="25" name="Rectangle 24"/>
          <p:cNvSpPr/>
          <p:nvPr/>
        </p:nvSpPr>
        <p:spPr>
          <a:xfrm>
            <a:off x="2194560" y="2103120"/>
            <a:ext cx="228600" cy="228600"/>
          </a:xfrm>
          <a:prstGeom prst="rect">
            <a:avLst/>
          </a:prstGeom>
          <a:solidFill>
            <a:srgbClr val="F9DCCB"/>
          </a:solidFill>
          <a:ln>
            <a:noFill/>
          </a:ln>
        </p:spPr>
        <p:txBody>
          <a:bodyPr rtlCol="0" anchor="ctr"/>
          <a:lstStyle/>
          <a:p>
            <a:pPr algn="ctr"/>
          </a:p>
        </p:txBody>
      </p:sp>
      <p:sp>
        <p:nvSpPr>
          <p:cNvPr id="26" name="Rectangle 25"/>
          <p:cNvSpPr/>
          <p:nvPr/>
        </p:nvSpPr>
        <p:spPr>
          <a:xfrm>
            <a:off x="2468880" y="2103120"/>
            <a:ext cx="228600" cy="228600"/>
          </a:xfrm>
          <a:prstGeom prst="rect">
            <a:avLst/>
          </a:prstGeom>
          <a:solidFill>
            <a:srgbClr val="F9DCCB"/>
          </a:solidFill>
          <a:ln>
            <a:noFill/>
          </a:ln>
        </p:spPr>
        <p:txBody>
          <a:bodyPr rtlCol="0" anchor="ctr"/>
          <a:lstStyle/>
          <a:p>
            <a:pPr algn="ctr"/>
          </a:p>
        </p:txBody>
      </p:sp>
      <p:sp>
        <p:nvSpPr>
          <p:cNvPr id="27" name="Rectangle 26"/>
          <p:cNvSpPr/>
          <p:nvPr/>
        </p:nvSpPr>
        <p:spPr>
          <a:xfrm>
            <a:off x="2743200" y="2103120"/>
            <a:ext cx="228600" cy="228600"/>
          </a:xfrm>
          <a:prstGeom prst="rect">
            <a:avLst/>
          </a:prstGeom>
          <a:solidFill>
            <a:srgbClr val="F9DCCB"/>
          </a:solidFill>
          <a:ln>
            <a:noFill/>
          </a:ln>
        </p:spPr>
        <p:txBody>
          <a:bodyPr rtlCol="0" anchor="ctr"/>
          <a:lstStyle/>
          <a:p>
            <a:pPr algn="ctr"/>
          </a:p>
        </p:txBody>
      </p:sp>
      <p:sp>
        <p:nvSpPr>
          <p:cNvPr id="28" name="Rectangle 27"/>
          <p:cNvSpPr/>
          <p:nvPr/>
        </p:nvSpPr>
        <p:spPr>
          <a:xfrm>
            <a:off x="3017520" y="2103120"/>
            <a:ext cx="228600" cy="228600"/>
          </a:xfrm>
          <a:prstGeom prst="rect">
            <a:avLst/>
          </a:prstGeom>
          <a:solidFill>
            <a:srgbClr val="F9DCCB"/>
          </a:solidFill>
          <a:ln>
            <a:noFill/>
          </a:ln>
        </p:spPr>
        <p:txBody>
          <a:bodyPr rtlCol="0" anchor="ctr"/>
          <a:lstStyle/>
          <a:p>
            <a:pPr algn="ctr"/>
          </a:p>
        </p:txBody>
      </p:sp>
      <p:sp>
        <p:nvSpPr>
          <p:cNvPr id="29" name="Rectangle 28"/>
          <p:cNvSpPr/>
          <p:nvPr/>
        </p:nvSpPr>
        <p:spPr>
          <a:xfrm>
            <a:off x="3291840" y="2103120"/>
            <a:ext cx="228600" cy="228600"/>
          </a:xfrm>
          <a:prstGeom prst="rect">
            <a:avLst/>
          </a:prstGeom>
          <a:solidFill>
            <a:srgbClr val="F9DCCB"/>
          </a:solidFill>
          <a:ln>
            <a:noFill/>
          </a:ln>
        </p:spPr>
        <p:txBody>
          <a:bodyPr rtlCol="0" anchor="ctr"/>
          <a:lstStyle/>
          <a:p>
            <a:pPr algn="ctr"/>
          </a:p>
        </p:txBody>
      </p:sp>
      <p:sp>
        <p:nvSpPr>
          <p:cNvPr id="30" name="Rectangle 29"/>
          <p:cNvSpPr/>
          <p:nvPr/>
        </p:nvSpPr>
        <p:spPr>
          <a:xfrm>
            <a:off x="3566160" y="2103120"/>
            <a:ext cx="228600" cy="228600"/>
          </a:xfrm>
          <a:prstGeom prst="rect">
            <a:avLst/>
          </a:prstGeom>
          <a:solidFill>
            <a:srgbClr val="F9DCCB"/>
          </a:solidFill>
          <a:ln>
            <a:noFill/>
          </a:ln>
        </p:spPr>
        <p:txBody>
          <a:bodyPr rtlCol="0" anchor="ctr"/>
          <a:lstStyle/>
          <a:p>
            <a:pPr algn="ctr"/>
          </a:p>
        </p:txBody>
      </p:sp>
      <p:sp>
        <p:nvSpPr>
          <p:cNvPr id="31" name="Rectangle 30"/>
          <p:cNvSpPr/>
          <p:nvPr/>
        </p:nvSpPr>
        <p:spPr>
          <a:xfrm>
            <a:off x="3840480" y="2103120"/>
            <a:ext cx="228600" cy="228600"/>
          </a:xfrm>
          <a:prstGeom prst="rect">
            <a:avLst/>
          </a:prstGeom>
          <a:solidFill>
            <a:srgbClr val="F9DCCB"/>
          </a:solidFill>
          <a:ln>
            <a:noFill/>
          </a:ln>
        </p:spPr>
        <p:txBody>
          <a:bodyPr rtlCol="0" anchor="ctr"/>
          <a:lstStyle/>
          <a:p>
            <a:pPr algn="ctr"/>
          </a:p>
        </p:txBody>
      </p:sp>
      <p:sp>
        <p:nvSpPr>
          <p:cNvPr id="32" name="Rectangle 31"/>
          <p:cNvSpPr/>
          <p:nvPr/>
        </p:nvSpPr>
        <p:spPr>
          <a:xfrm>
            <a:off x="4114800" y="2103120"/>
            <a:ext cx="228600" cy="228600"/>
          </a:xfrm>
          <a:prstGeom prst="rect">
            <a:avLst/>
          </a:prstGeom>
          <a:solidFill>
            <a:srgbClr val="F9DCCB"/>
          </a:solidFill>
          <a:ln>
            <a:noFill/>
          </a:ln>
        </p:spPr>
        <p:txBody>
          <a:bodyPr rtlCol="0" anchor="ctr"/>
          <a:lstStyle/>
          <a:p>
            <a:pPr algn="ctr"/>
          </a:p>
        </p:txBody>
      </p:sp>
      <p:sp>
        <p:nvSpPr>
          <p:cNvPr id="33" name="TextBox 32"/>
          <p:cNvSpPr txBox="1"/>
          <p:nvPr/>
        </p:nvSpPr>
        <p:spPr>
          <a:xfrm>
            <a:off x="731520" y="23774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2</a:t>
            </a:r>
          </a:p>
        </p:txBody>
      </p:sp>
      <p:sp>
        <p:nvSpPr>
          <p:cNvPr id="34" name="Rectangle 33"/>
          <p:cNvSpPr/>
          <p:nvPr/>
        </p:nvSpPr>
        <p:spPr>
          <a:xfrm>
            <a:off x="1097280" y="2377440"/>
            <a:ext cx="228600" cy="228600"/>
          </a:xfrm>
          <a:prstGeom prst="rect">
            <a:avLst/>
          </a:prstGeom>
          <a:solidFill>
            <a:srgbClr val="F9DCCB"/>
          </a:solidFill>
          <a:ln>
            <a:noFill/>
          </a:ln>
        </p:spPr>
        <p:txBody>
          <a:bodyPr rtlCol="0" anchor="ctr"/>
          <a:lstStyle/>
          <a:p>
            <a:pPr algn="ctr"/>
          </a:p>
        </p:txBody>
      </p:sp>
      <p:sp>
        <p:nvSpPr>
          <p:cNvPr id="35" name="Rectangle 34"/>
          <p:cNvSpPr/>
          <p:nvPr/>
        </p:nvSpPr>
        <p:spPr>
          <a:xfrm>
            <a:off x="1371600" y="2377440"/>
            <a:ext cx="228600" cy="228600"/>
          </a:xfrm>
          <a:prstGeom prst="rect">
            <a:avLst/>
          </a:prstGeom>
          <a:solidFill>
            <a:srgbClr val="D8602A"/>
          </a:solidFill>
          <a:ln>
            <a:noFill/>
          </a:ln>
        </p:spPr>
        <p:txBody>
          <a:bodyPr rtlCol="0" anchor="ctr"/>
          <a:lstStyle/>
          <a:p>
            <a:pPr algn="ctr"/>
          </a:p>
        </p:txBody>
      </p:sp>
      <p:sp>
        <p:nvSpPr>
          <p:cNvPr id="36" name="Rectangle 35"/>
          <p:cNvSpPr/>
          <p:nvPr/>
        </p:nvSpPr>
        <p:spPr>
          <a:xfrm>
            <a:off x="1645920" y="2377440"/>
            <a:ext cx="228600" cy="228600"/>
          </a:xfrm>
          <a:prstGeom prst="rect">
            <a:avLst/>
          </a:prstGeom>
          <a:solidFill>
            <a:srgbClr val="F9DCCB"/>
          </a:solidFill>
          <a:ln>
            <a:noFill/>
          </a:ln>
        </p:spPr>
        <p:txBody>
          <a:bodyPr rtlCol="0" anchor="ctr"/>
          <a:lstStyle/>
          <a:p>
            <a:pPr algn="ctr"/>
          </a:p>
        </p:txBody>
      </p:sp>
      <p:sp>
        <p:nvSpPr>
          <p:cNvPr id="37" name="Rectangle 36"/>
          <p:cNvSpPr/>
          <p:nvPr/>
        </p:nvSpPr>
        <p:spPr>
          <a:xfrm>
            <a:off x="1920240" y="2377440"/>
            <a:ext cx="228600" cy="228600"/>
          </a:xfrm>
          <a:prstGeom prst="rect">
            <a:avLst/>
          </a:prstGeom>
          <a:solidFill>
            <a:srgbClr val="F9DCCB"/>
          </a:solidFill>
          <a:ln>
            <a:noFill/>
          </a:ln>
        </p:spPr>
        <p:txBody>
          <a:bodyPr rtlCol="0" anchor="ctr"/>
          <a:lstStyle/>
          <a:p>
            <a:pPr algn="ctr"/>
          </a:p>
        </p:txBody>
      </p:sp>
      <p:sp>
        <p:nvSpPr>
          <p:cNvPr id="38" name="Rectangle 37"/>
          <p:cNvSpPr/>
          <p:nvPr/>
        </p:nvSpPr>
        <p:spPr>
          <a:xfrm>
            <a:off x="2194560" y="2377440"/>
            <a:ext cx="228600" cy="228600"/>
          </a:xfrm>
          <a:prstGeom prst="rect">
            <a:avLst/>
          </a:prstGeom>
          <a:solidFill>
            <a:srgbClr val="F9DCCB"/>
          </a:solidFill>
          <a:ln>
            <a:noFill/>
          </a:ln>
        </p:spPr>
        <p:txBody>
          <a:bodyPr rtlCol="0" anchor="ctr"/>
          <a:lstStyle/>
          <a:p>
            <a:pPr algn="ctr"/>
          </a:p>
        </p:txBody>
      </p:sp>
      <p:sp>
        <p:nvSpPr>
          <p:cNvPr id="39" name="Rectangle 38"/>
          <p:cNvSpPr/>
          <p:nvPr/>
        </p:nvSpPr>
        <p:spPr>
          <a:xfrm>
            <a:off x="2468880" y="2377440"/>
            <a:ext cx="228600" cy="228600"/>
          </a:xfrm>
          <a:prstGeom prst="rect">
            <a:avLst/>
          </a:prstGeom>
          <a:solidFill>
            <a:srgbClr val="F9DCCB"/>
          </a:solidFill>
          <a:ln>
            <a:noFill/>
          </a:ln>
        </p:spPr>
        <p:txBody>
          <a:bodyPr rtlCol="0" anchor="ctr"/>
          <a:lstStyle/>
          <a:p>
            <a:pPr algn="ctr"/>
          </a:p>
        </p:txBody>
      </p:sp>
      <p:sp>
        <p:nvSpPr>
          <p:cNvPr id="40" name="Rectangle 39"/>
          <p:cNvSpPr/>
          <p:nvPr/>
        </p:nvSpPr>
        <p:spPr>
          <a:xfrm>
            <a:off x="2743200" y="2377440"/>
            <a:ext cx="228600" cy="228600"/>
          </a:xfrm>
          <a:prstGeom prst="rect">
            <a:avLst/>
          </a:prstGeom>
          <a:solidFill>
            <a:srgbClr val="F9DCCB"/>
          </a:solidFill>
          <a:ln>
            <a:noFill/>
          </a:ln>
        </p:spPr>
        <p:txBody>
          <a:bodyPr rtlCol="0" anchor="ctr"/>
          <a:lstStyle/>
          <a:p>
            <a:pPr algn="ctr"/>
          </a:p>
        </p:txBody>
      </p:sp>
      <p:sp>
        <p:nvSpPr>
          <p:cNvPr id="41" name="Rectangle 40"/>
          <p:cNvSpPr/>
          <p:nvPr/>
        </p:nvSpPr>
        <p:spPr>
          <a:xfrm>
            <a:off x="3017520" y="2377440"/>
            <a:ext cx="228600" cy="228600"/>
          </a:xfrm>
          <a:prstGeom prst="rect">
            <a:avLst/>
          </a:prstGeom>
          <a:solidFill>
            <a:srgbClr val="F9DCCB"/>
          </a:solidFill>
          <a:ln>
            <a:noFill/>
          </a:ln>
        </p:spPr>
        <p:txBody>
          <a:bodyPr rtlCol="0" anchor="ctr"/>
          <a:lstStyle/>
          <a:p>
            <a:pPr algn="ctr"/>
          </a:p>
        </p:txBody>
      </p:sp>
      <p:sp>
        <p:nvSpPr>
          <p:cNvPr id="42" name="Rectangle 41"/>
          <p:cNvSpPr/>
          <p:nvPr/>
        </p:nvSpPr>
        <p:spPr>
          <a:xfrm>
            <a:off x="3291840" y="2377440"/>
            <a:ext cx="228600" cy="228600"/>
          </a:xfrm>
          <a:prstGeom prst="rect">
            <a:avLst/>
          </a:prstGeom>
          <a:solidFill>
            <a:srgbClr val="F9DCCB"/>
          </a:solidFill>
          <a:ln>
            <a:noFill/>
          </a:ln>
        </p:spPr>
        <p:txBody>
          <a:bodyPr rtlCol="0" anchor="ctr"/>
          <a:lstStyle/>
          <a:p>
            <a:pPr algn="ctr"/>
          </a:p>
        </p:txBody>
      </p:sp>
      <p:sp>
        <p:nvSpPr>
          <p:cNvPr id="43" name="Rectangle 42"/>
          <p:cNvSpPr/>
          <p:nvPr/>
        </p:nvSpPr>
        <p:spPr>
          <a:xfrm>
            <a:off x="3566160" y="2377440"/>
            <a:ext cx="228600" cy="228600"/>
          </a:xfrm>
          <a:prstGeom prst="rect">
            <a:avLst/>
          </a:prstGeom>
          <a:solidFill>
            <a:srgbClr val="F9DCCB"/>
          </a:solidFill>
          <a:ln>
            <a:noFill/>
          </a:ln>
        </p:spPr>
        <p:txBody>
          <a:bodyPr rtlCol="0" anchor="ctr"/>
          <a:lstStyle/>
          <a:p>
            <a:pPr algn="ctr"/>
          </a:p>
        </p:txBody>
      </p:sp>
      <p:sp>
        <p:nvSpPr>
          <p:cNvPr id="44" name="Rectangle 43"/>
          <p:cNvSpPr/>
          <p:nvPr/>
        </p:nvSpPr>
        <p:spPr>
          <a:xfrm>
            <a:off x="3840480" y="2377440"/>
            <a:ext cx="228600" cy="228600"/>
          </a:xfrm>
          <a:prstGeom prst="rect">
            <a:avLst/>
          </a:prstGeom>
          <a:solidFill>
            <a:srgbClr val="F9DCCB"/>
          </a:solidFill>
          <a:ln>
            <a:noFill/>
          </a:ln>
        </p:spPr>
        <p:txBody>
          <a:bodyPr rtlCol="0" anchor="ctr"/>
          <a:lstStyle/>
          <a:p>
            <a:pPr algn="ctr"/>
          </a:p>
        </p:txBody>
      </p:sp>
      <p:sp>
        <p:nvSpPr>
          <p:cNvPr id="45" name="Rectangle 44"/>
          <p:cNvSpPr/>
          <p:nvPr/>
        </p:nvSpPr>
        <p:spPr>
          <a:xfrm>
            <a:off x="4114800" y="2377440"/>
            <a:ext cx="228600" cy="228600"/>
          </a:xfrm>
          <a:prstGeom prst="rect">
            <a:avLst/>
          </a:prstGeom>
          <a:solidFill>
            <a:srgbClr val="F9DCCB"/>
          </a:solidFill>
          <a:ln>
            <a:noFill/>
          </a:ln>
        </p:spPr>
        <p:txBody>
          <a:bodyPr rtlCol="0" anchor="ctr"/>
          <a:lstStyle/>
          <a:p>
            <a:pPr algn="ctr"/>
          </a:p>
        </p:txBody>
      </p:sp>
      <p:sp>
        <p:nvSpPr>
          <p:cNvPr id="46" name="TextBox 45"/>
          <p:cNvSpPr txBox="1"/>
          <p:nvPr/>
        </p:nvSpPr>
        <p:spPr>
          <a:xfrm>
            <a:off x="731520" y="265176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3</a:t>
            </a:r>
          </a:p>
        </p:txBody>
      </p:sp>
      <p:sp>
        <p:nvSpPr>
          <p:cNvPr id="47" name="Rectangle 46"/>
          <p:cNvSpPr/>
          <p:nvPr/>
        </p:nvSpPr>
        <p:spPr>
          <a:xfrm>
            <a:off x="1097280" y="2651760"/>
            <a:ext cx="228600" cy="228600"/>
          </a:xfrm>
          <a:prstGeom prst="rect">
            <a:avLst/>
          </a:prstGeom>
          <a:solidFill>
            <a:srgbClr val="F9DCCB"/>
          </a:solidFill>
          <a:ln>
            <a:noFill/>
          </a:ln>
        </p:spPr>
        <p:txBody>
          <a:bodyPr rtlCol="0" anchor="ctr"/>
          <a:lstStyle/>
          <a:p>
            <a:pPr algn="ctr"/>
          </a:p>
        </p:txBody>
      </p:sp>
      <p:sp>
        <p:nvSpPr>
          <p:cNvPr id="48" name="Rectangle 47"/>
          <p:cNvSpPr/>
          <p:nvPr/>
        </p:nvSpPr>
        <p:spPr>
          <a:xfrm>
            <a:off x="1371600" y="2651760"/>
            <a:ext cx="228600" cy="228600"/>
          </a:xfrm>
          <a:prstGeom prst="rect">
            <a:avLst/>
          </a:prstGeom>
          <a:solidFill>
            <a:srgbClr val="F9DCCB"/>
          </a:solidFill>
          <a:ln>
            <a:noFill/>
          </a:ln>
        </p:spPr>
        <p:txBody>
          <a:bodyPr rtlCol="0" anchor="ctr"/>
          <a:lstStyle/>
          <a:p>
            <a:pPr algn="ctr"/>
          </a:p>
        </p:txBody>
      </p:sp>
      <p:sp>
        <p:nvSpPr>
          <p:cNvPr id="49" name="Rectangle 48"/>
          <p:cNvSpPr/>
          <p:nvPr/>
        </p:nvSpPr>
        <p:spPr>
          <a:xfrm>
            <a:off x="1645920" y="2651760"/>
            <a:ext cx="228600" cy="228600"/>
          </a:xfrm>
          <a:prstGeom prst="rect">
            <a:avLst/>
          </a:prstGeom>
          <a:solidFill>
            <a:srgbClr val="D8602A"/>
          </a:solidFill>
          <a:ln>
            <a:noFill/>
          </a:ln>
        </p:spPr>
        <p:txBody>
          <a:bodyPr rtlCol="0" anchor="ctr"/>
          <a:lstStyle/>
          <a:p>
            <a:pPr algn="ctr"/>
          </a:p>
        </p:txBody>
      </p:sp>
      <p:sp>
        <p:nvSpPr>
          <p:cNvPr id="50" name="Rectangle 49"/>
          <p:cNvSpPr/>
          <p:nvPr/>
        </p:nvSpPr>
        <p:spPr>
          <a:xfrm>
            <a:off x="1920240" y="2651760"/>
            <a:ext cx="228600" cy="228600"/>
          </a:xfrm>
          <a:prstGeom prst="rect">
            <a:avLst/>
          </a:prstGeom>
          <a:solidFill>
            <a:srgbClr val="F9DCCB"/>
          </a:solidFill>
          <a:ln>
            <a:noFill/>
          </a:ln>
        </p:spPr>
        <p:txBody>
          <a:bodyPr rtlCol="0" anchor="ctr"/>
          <a:lstStyle/>
          <a:p>
            <a:pPr algn="ctr"/>
          </a:p>
        </p:txBody>
      </p:sp>
      <p:sp>
        <p:nvSpPr>
          <p:cNvPr id="51" name="Rectangle 50"/>
          <p:cNvSpPr/>
          <p:nvPr/>
        </p:nvSpPr>
        <p:spPr>
          <a:xfrm>
            <a:off x="2194560" y="2651760"/>
            <a:ext cx="228600" cy="228600"/>
          </a:xfrm>
          <a:prstGeom prst="rect">
            <a:avLst/>
          </a:prstGeom>
          <a:solidFill>
            <a:srgbClr val="F9DCCB"/>
          </a:solidFill>
          <a:ln>
            <a:noFill/>
          </a:ln>
        </p:spPr>
        <p:txBody>
          <a:bodyPr rtlCol="0" anchor="ctr"/>
          <a:lstStyle/>
          <a:p>
            <a:pPr algn="ctr"/>
          </a:p>
        </p:txBody>
      </p:sp>
      <p:sp>
        <p:nvSpPr>
          <p:cNvPr id="52" name="Rectangle 51"/>
          <p:cNvSpPr/>
          <p:nvPr/>
        </p:nvSpPr>
        <p:spPr>
          <a:xfrm>
            <a:off x="2468880" y="2651760"/>
            <a:ext cx="228600" cy="228600"/>
          </a:xfrm>
          <a:prstGeom prst="rect">
            <a:avLst/>
          </a:prstGeom>
          <a:solidFill>
            <a:srgbClr val="F9DCCB"/>
          </a:solidFill>
          <a:ln>
            <a:noFill/>
          </a:ln>
        </p:spPr>
        <p:txBody>
          <a:bodyPr rtlCol="0" anchor="ctr"/>
          <a:lstStyle/>
          <a:p>
            <a:pPr algn="ctr"/>
          </a:p>
        </p:txBody>
      </p:sp>
      <p:sp>
        <p:nvSpPr>
          <p:cNvPr id="53" name="Rectangle 52"/>
          <p:cNvSpPr/>
          <p:nvPr/>
        </p:nvSpPr>
        <p:spPr>
          <a:xfrm>
            <a:off x="2743200" y="2651760"/>
            <a:ext cx="228600" cy="228600"/>
          </a:xfrm>
          <a:prstGeom prst="rect">
            <a:avLst/>
          </a:prstGeom>
          <a:solidFill>
            <a:srgbClr val="F9DCCB"/>
          </a:solidFill>
          <a:ln>
            <a:noFill/>
          </a:ln>
        </p:spPr>
        <p:txBody>
          <a:bodyPr rtlCol="0" anchor="ctr"/>
          <a:lstStyle/>
          <a:p>
            <a:pPr algn="ctr"/>
          </a:p>
        </p:txBody>
      </p:sp>
      <p:sp>
        <p:nvSpPr>
          <p:cNvPr id="54" name="Rectangle 53"/>
          <p:cNvSpPr/>
          <p:nvPr/>
        </p:nvSpPr>
        <p:spPr>
          <a:xfrm>
            <a:off x="3017520" y="2651760"/>
            <a:ext cx="228600" cy="228600"/>
          </a:xfrm>
          <a:prstGeom prst="rect">
            <a:avLst/>
          </a:prstGeom>
          <a:solidFill>
            <a:srgbClr val="F9DCCB"/>
          </a:solidFill>
          <a:ln>
            <a:noFill/>
          </a:ln>
        </p:spPr>
        <p:txBody>
          <a:bodyPr rtlCol="0" anchor="ctr"/>
          <a:lstStyle/>
          <a:p>
            <a:pPr algn="ctr"/>
          </a:p>
        </p:txBody>
      </p:sp>
      <p:sp>
        <p:nvSpPr>
          <p:cNvPr id="55" name="Rectangle 54"/>
          <p:cNvSpPr/>
          <p:nvPr/>
        </p:nvSpPr>
        <p:spPr>
          <a:xfrm>
            <a:off x="3291840" y="2651760"/>
            <a:ext cx="228600" cy="228600"/>
          </a:xfrm>
          <a:prstGeom prst="rect">
            <a:avLst/>
          </a:prstGeom>
          <a:solidFill>
            <a:srgbClr val="F9DCCB"/>
          </a:solidFill>
          <a:ln>
            <a:noFill/>
          </a:ln>
        </p:spPr>
        <p:txBody>
          <a:bodyPr rtlCol="0" anchor="ctr"/>
          <a:lstStyle/>
          <a:p>
            <a:pPr algn="ctr"/>
          </a:p>
        </p:txBody>
      </p:sp>
      <p:sp>
        <p:nvSpPr>
          <p:cNvPr id="56" name="Rectangle 55"/>
          <p:cNvSpPr/>
          <p:nvPr/>
        </p:nvSpPr>
        <p:spPr>
          <a:xfrm>
            <a:off x="3566160" y="2651760"/>
            <a:ext cx="228600" cy="228600"/>
          </a:xfrm>
          <a:prstGeom prst="rect">
            <a:avLst/>
          </a:prstGeom>
          <a:solidFill>
            <a:srgbClr val="F9DCCB"/>
          </a:solidFill>
          <a:ln>
            <a:noFill/>
          </a:ln>
        </p:spPr>
        <p:txBody>
          <a:bodyPr rtlCol="0" anchor="ctr"/>
          <a:lstStyle/>
          <a:p>
            <a:pPr algn="ctr"/>
          </a:p>
        </p:txBody>
      </p:sp>
      <p:sp>
        <p:nvSpPr>
          <p:cNvPr id="57" name="Rectangle 56"/>
          <p:cNvSpPr/>
          <p:nvPr/>
        </p:nvSpPr>
        <p:spPr>
          <a:xfrm>
            <a:off x="3840480" y="2651760"/>
            <a:ext cx="228600" cy="228600"/>
          </a:xfrm>
          <a:prstGeom prst="rect">
            <a:avLst/>
          </a:prstGeom>
          <a:solidFill>
            <a:srgbClr val="F9DCCB"/>
          </a:solidFill>
          <a:ln>
            <a:noFill/>
          </a:ln>
        </p:spPr>
        <p:txBody>
          <a:bodyPr rtlCol="0" anchor="ctr"/>
          <a:lstStyle/>
          <a:p>
            <a:pPr algn="ctr"/>
          </a:p>
        </p:txBody>
      </p:sp>
      <p:sp>
        <p:nvSpPr>
          <p:cNvPr id="58" name="Rectangle 57"/>
          <p:cNvSpPr/>
          <p:nvPr/>
        </p:nvSpPr>
        <p:spPr>
          <a:xfrm>
            <a:off x="4114800" y="2651760"/>
            <a:ext cx="228600" cy="228600"/>
          </a:xfrm>
          <a:prstGeom prst="rect">
            <a:avLst/>
          </a:prstGeom>
          <a:solidFill>
            <a:srgbClr val="F9DCCB"/>
          </a:solidFill>
          <a:ln>
            <a:noFill/>
          </a:ln>
        </p:spPr>
        <p:txBody>
          <a:bodyPr rtlCol="0" anchor="ctr"/>
          <a:lstStyle/>
          <a:p>
            <a:pPr algn="ctr"/>
          </a:p>
        </p:txBody>
      </p:sp>
      <p:sp>
        <p:nvSpPr>
          <p:cNvPr id="59" name="TextBox 58"/>
          <p:cNvSpPr txBox="1"/>
          <p:nvPr/>
        </p:nvSpPr>
        <p:spPr>
          <a:xfrm>
            <a:off x="731520" y="292608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4</a:t>
            </a:r>
          </a:p>
        </p:txBody>
      </p:sp>
      <p:sp>
        <p:nvSpPr>
          <p:cNvPr id="60" name="Rectangle 59"/>
          <p:cNvSpPr/>
          <p:nvPr/>
        </p:nvSpPr>
        <p:spPr>
          <a:xfrm>
            <a:off x="1097280" y="2926080"/>
            <a:ext cx="228600" cy="228600"/>
          </a:xfrm>
          <a:prstGeom prst="rect">
            <a:avLst/>
          </a:prstGeom>
          <a:solidFill>
            <a:srgbClr val="F9DCCB"/>
          </a:solidFill>
          <a:ln>
            <a:noFill/>
          </a:ln>
        </p:spPr>
        <p:txBody>
          <a:bodyPr rtlCol="0" anchor="ctr"/>
          <a:lstStyle/>
          <a:p>
            <a:pPr algn="ctr"/>
          </a:p>
        </p:txBody>
      </p:sp>
      <p:sp>
        <p:nvSpPr>
          <p:cNvPr id="61" name="Rectangle 60"/>
          <p:cNvSpPr/>
          <p:nvPr/>
        </p:nvSpPr>
        <p:spPr>
          <a:xfrm>
            <a:off x="1371600" y="2926080"/>
            <a:ext cx="228600" cy="228600"/>
          </a:xfrm>
          <a:prstGeom prst="rect">
            <a:avLst/>
          </a:prstGeom>
          <a:solidFill>
            <a:srgbClr val="F9DCCB"/>
          </a:solidFill>
          <a:ln>
            <a:noFill/>
          </a:ln>
        </p:spPr>
        <p:txBody>
          <a:bodyPr rtlCol="0" anchor="ctr"/>
          <a:lstStyle/>
          <a:p>
            <a:pPr algn="ctr"/>
          </a:p>
        </p:txBody>
      </p:sp>
      <p:sp>
        <p:nvSpPr>
          <p:cNvPr id="62" name="Rectangle 61"/>
          <p:cNvSpPr/>
          <p:nvPr/>
        </p:nvSpPr>
        <p:spPr>
          <a:xfrm>
            <a:off x="1645920" y="2926080"/>
            <a:ext cx="228600" cy="228600"/>
          </a:xfrm>
          <a:prstGeom prst="rect">
            <a:avLst/>
          </a:prstGeom>
          <a:solidFill>
            <a:srgbClr val="F9DCCB"/>
          </a:solidFill>
          <a:ln>
            <a:noFill/>
          </a:ln>
        </p:spPr>
        <p:txBody>
          <a:bodyPr rtlCol="0" anchor="ctr"/>
          <a:lstStyle/>
          <a:p>
            <a:pPr algn="ctr"/>
          </a:p>
        </p:txBody>
      </p:sp>
      <p:sp>
        <p:nvSpPr>
          <p:cNvPr id="63" name="Rectangle 62"/>
          <p:cNvSpPr/>
          <p:nvPr/>
        </p:nvSpPr>
        <p:spPr>
          <a:xfrm>
            <a:off x="1920240" y="2926080"/>
            <a:ext cx="228600" cy="228600"/>
          </a:xfrm>
          <a:prstGeom prst="rect">
            <a:avLst/>
          </a:prstGeom>
          <a:solidFill>
            <a:srgbClr val="D8602A"/>
          </a:solidFill>
          <a:ln>
            <a:noFill/>
          </a:ln>
        </p:spPr>
        <p:txBody>
          <a:bodyPr rtlCol="0" anchor="ctr"/>
          <a:lstStyle/>
          <a:p>
            <a:pPr algn="ctr"/>
          </a:p>
        </p:txBody>
      </p:sp>
      <p:sp>
        <p:nvSpPr>
          <p:cNvPr id="64" name="Rectangle 63"/>
          <p:cNvSpPr/>
          <p:nvPr/>
        </p:nvSpPr>
        <p:spPr>
          <a:xfrm>
            <a:off x="2194560" y="2926080"/>
            <a:ext cx="228600" cy="228600"/>
          </a:xfrm>
          <a:prstGeom prst="rect">
            <a:avLst/>
          </a:prstGeom>
          <a:solidFill>
            <a:srgbClr val="F9DCCB"/>
          </a:solidFill>
          <a:ln>
            <a:noFill/>
          </a:ln>
        </p:spPr>
        <p:txBody>
          <a:bodyPr rtlCol="0" anchor="ctr"/>
          <a:lstStyle/>
          <a:p>
            <a:pPr algn="ctr"/>
          </a:p>
        </p:txBody>
      </p:sp>
      <p:sp>
        <p:nvSpPr>
          <p:cNvPr id="65" name="Rectangle 64"/>
          <p:cNvSpPr/>
          <p:nvPr/>
        </p:nvSpPr>
        <p:spPr>
          <a:xfrm>
            <a:off x="2468880" y="2926080"/>
            <a:ext cx="228600" cy="228600"/>
          </a:xfrm>
          <a:prstGeom prst="rect">
            <a:avLst/>
          </a:prstGeom>
          <a:solidFill>
            <a:srgbClr val="F9DCCB"/>
          </a:solidFill>
          <a:ln>
            <a:noFill/>
          </a:ln>
        </p:spPr>
        <p:txBody>
          <a:bodyPr rtlCol="0" anchor="ctr"/>
          <a:lstStyle/>
          <a:p>
            <a:pPr algn="ctr"/>
          </a:p>
        </p:txBody>
      </p:sp>
      <p:sp>
        <p:nvSpPr>
          <p:cNvPr id="66" name="Rectangle 65"/>
          <p:cNvSpPr/>
          <p:nvPr/>
        </p:nvSpPr>
        <p:spPr>
          <a:xfrm>
            <a:off x="2743200" y="2926080"/>
            <a:ext cx="228600" cy="228600"/>
          </a:xfrm>
          <a:prstGeom prst="rect">
            <a:avLst/>
          </a:prstGeom>
          <a:solidFill>
            <a:srgbClr val="F9DCCB"/>
          </a:solidFill>
          <a:ln>
            <a:noFill/>
          </a:ln>
        </p:spPr>
        <p:txBody>
          <a:bodyPr rtlCol="0" anchor="ctr"/>
          <a:lstStyle/>
          <a:p>
            <a:pPr algn="ctr"/>
          </a:p>
        </p:txBody>
      </p:sp>
      <p:sp>
        <p:nvSpPr>
          <p:cNvPr id="67" name="Rectangle 66"/>
          <p:cNvSpPr/>
          <p:nvPr/>
        </p:nvSpPr>
        <p:spPr>
          <a:xfrm>
            <a:off x="3017520" y="2926080"/>
            <a:ext cx="228600" cy="228600"/>
          </a:xfrm>
          <a:prstGeom prst="rect">
            <a:avLst/>
          </a:prstGeom>
          <a:solidFill>
            <a:srgbClr val="F9DCCB"/>
          </a:solidFill>
          <a:ln>
            <a:noFill/>
          </a:ln>
        </p:spPr>
        <p:txBody>
          <a:bodyPr rtlCol="0" anchor="ctr"/>
          <a:lstStyle/>
          <a:p>
            <a:pPr algn="ctr"/>
          </a:p>
        </p:txBody>
      </p:sp>
      <p:sp>
        <p:nvSpPr>
          <p:cNvPr id="68" name="Rectangle 67"/>
          <p:cNvSpPr/>
          <p:nvPr/>
        </p:nvSpPr>
        <p:spPr>
          <a:xfrm>
            <a:off x="3291840" y="2926080"/>
            <a:ext cx="228600" cy="228600"/>
          </a:xfrm>
          <a:prstGeom prst="rect">
            <a:avLst/>
          </a:prstGeom>
          <a:solidFill>
            <a:srgbClr val="F9DCCB"/>
          </a:solidFill>
          <a:ln>
            <a:noFill/>
          </a:ln>
        </p:spPr>
        <p:txBody>
          <a:bodyPr rtlCol="0" anchor="ctr"/>
          <a:lstStyle/>
          <a:p>
            <a:pPr algn="ctr"/>
          </a:p>
        </p:txBody>
      </p:sp>
      <p:sp>
        <p:nvSpPr>
          <p:cNvPr id="69" name="Rectangle 68"/>
          <p:cNvSpPr/>
          <p:nvPr/>
        </p:nvSpPr>
        <p:spPr>
          <a:xfrm>
            <a:off x="3566160" y="2926080"/>
            <a:ext cx="228600" cy="228600"/>
          </a:xfrm>
          <a:prstGeom prst="rect">
            <a:avLst/>
          </a:prstGeom>
          <a:solidFill>
            <a:srgbClr val="F9DCCB"/>
          </a:solidFill>
          <a:ln>
            <a:noFill/>
          </a:ln>
        </p:spPr>
        <p:txBody>
          <a:bodyPr rtlCol="0" anchor="ctr"/>
          <a:lstStyle/>
          <a:p>
            <a:pPr algn="ctr"/>
          </a:p>
        </p:txBody>
      </p:sp>
      <p:sp>
        <p:nvSpPr>
          <p:cNvPr id="70" name="Rectangle 69"/>
          <p:cNvSpPr/>
          <p:nvPr/>
        </p:nvSpPr>
        <p:spPr>
          <a:xfrm>
            <a:off x="3840480" y="2926080"/>
            <a:ext cx="228600" cy="228600"/>
          </a:xfrm>
          <a:prstGeom prst="rect">
            <a:avLst/>
          </a:prstGeom>
          <a:solidFill>
            <a:srgbClr val="F9DCCB"/>
          </a:solidFill>
          <a:ln>
            <a:noFill/>
          </a:ln>
        </p:spPr>
        <p:txBody>
          <a:bodyPr rtlCol="0" anchor="ctr"/>
          <a:lstStyle/>
          <a:p>
            <a:pPr algn="ctr"/>
          </a:p>
        </p:txBody>
      </p:sp>
      <p:sp>
        <p:nvSpPr>
          <p:cNvPr id="71" name="Rectangle 70"/>
          <p:cNvSpPr/>
          <p:nvPr/>
        </p:nvSpPr>
        <p:spPr>
          <a:xfrm>
            <a:off x="4114800" y="2926080"/>
            <a:ext cx="228600" cy="228600"/>
          </a:xfrm>
          <a:prstGeom prst="rect">
            <a:avLst/>
          </a:prstGeom>
          <a:solidFill>
            <a:srgbClr val="F9DCCB"/>
          </a:solidFill>
          <a:ln>
            <a:noFill/>
          </a:ln>
        </p:spPr>
        <p:txBody>
          <a:bodyPr rtlCol="0" anchor="ctr"/>
          <a:lstStyle/>
          <a:p>
            <a:pPr algn="ctr"/>
          </a:p>
        </p:txBody>
      </p:sp>
      <p:sp>
        <p:nvSpPr>
          <p:cNvPr id="72" name="TextBox 71"/>
          <p:cNvSpPr txBox="1"/>
          <p:nvPr/>
        </p:nvSpPr>
        <p:spPr>
          <a:xfrm>
            <a:off x="731520" y="320040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5</a:t>
            </a:r>
          </a:p>
        </p:txBody>
      </p:sp>
      <p:sp>
        <p:nvSpPr>
          <p:cNvPr id="73" name="Rectangle 72"/>
          <p:cNvSpPr/>
          <p:nvPr/>
        </p:nvSpPr>
        <p:spPr>
          <a:xfrm>
            <a:off x="1097280" y="3200400"/>
            <a:ext cx="228600" cy="228600"/>
          </a:xfrm>
          <a:prstGeom prst="rect">
            <a:avLst/>
          </a:prstGeom>
          <a:solidFill>
            <a:srgbClr val="F9DCCB"/>
          </a:solidFill>
          <a:ln>
            <a:noFill/>
          </a:ln>
        </p:spPr>
        <p:txBody>
          <a:bodyPr rtlCol="0" anchor="ctr"/>
          <a:lstStyle/>
          <a:p>
            <a:pPr algn="ctr"/>
          </a:p>
        </p:txBody>
      </p:sp>
      <p:sp>
        <p:nvSpPr>
          <p:cNvPr id="74" name="Rectangle 73"/>
          <p:cNvSpPr/>
          <p:nvPr/>
        </p:nvSpPr>
        <p:spPr>
          <a:xfrm>
            <a:off x="1371600" y="3200400"/>
            <a:ext cx="228600" cy="228600"/>
          </a:xfrm>
          <a:prstGeom prst="rect">
            <a:avLst/>
          </a:prstGeom>
          <a:solidFill>
            <a:srgbClr val="F9DCCB"/>
          </a:solidFill>
          <a:ln>
            <a:noFill/>
          </a:ln>
        </p:spPr>
        <p:txBody>
          <a:bodyPr rtlCol="0" anchor="ctr"/>
          <a:lstStyle/>
          <a:p>
            <a:pPr algn="ctr"/>
          </a:p>
        </p:txBody>
      </p:sp>
      <p:sp>
        <p:nvSpPr>
          <p:cNvPr id="75" name="Rectangle 74"/>
          <p:cNvSpPr/>
          <p:nvPr/>
        </p:nvSpPr>
        <p:spPr>
          <a:xfrm>
            <a:off x="1645920" y="3200400"/>
            <a:ext cx="228600" cy="228600"/>
          </a:xfrm>
          <a:prstGeom prst="rect">
            <a:avLst/>
          </a:prstGeom>
          <a:solidFill>
            <a:srgbClr val="F9DCCB"/>
          </a:solidFill>
          <a:ln>
            <a:noFill/>
          </a:ln>
        </p:spPr>
        <p:txBody>
          <a:bodyPr rtlCol="0" anchor="ctr"/>
          <a:lstStyle/>
          <a:p>
            <a:pPr algn="ctr"/>
          </a:p>
        </p:txBody>
      </p:sp>
      <p:sp>
        <p:nvSpPr>
          <p:cNvPr id="76" name="Rectangle 75"/>
          <p:cNvSpPr/>
          <p:nvPr/>
        </p:nvSpPr>
        <p:spPr>
          <a:xfrm>
            <a:off x="1920240" y="3200400"/>
            <a:ext cx="228600" cy="228600"/>
          </a:xfrm>
          <a:prstGeom prst="rect">
            <a:avLst/>
          </a:prstGeom>
          <a:solidFill>
            <a:srgbClr val="F9DCCB"/>
          </a:solidFill>
          <a:ln>
            <a:noFill/>
          </a:ln>
        </p:spPr>
        <p:txBody>
          <a:bodyPr rtlCol="0" anchor="ctr"/>
          <a:lstStyle/>
          <a:p>
            <a:pPr algn="ctr"/>
          </a:p>
        </p:txBody>
      </p:sp>
      <p:sp>
        <p:nvSpPr>
          <p:cNvPr id="77" name="Rectangle 76"/>
          <p:cNvSpPr/>
          <p:nvPr/>
        </p:nvSpPr>
        <p:spPr>
          <a:xfrm>
            <a:off x="2194560" y="3200400"/>
            <a:ext cx="228600" cy="228600"/>
          </a:xfrm>
          <a:prstGeom prst="rect">
            <a:avLst/>
          </a:prstGeom>
          <a:solidFill>
            <a:srgbClr val="D8602A"/>
          </a:solidFill>
          <a:ln>
            <a:noFill/>
          </a:ln>
        </p:spPr>
        <p:txBody>
          <a:bodyPr rtlCol="0" anchor="ctr"/>
          <a:lstStyle/>
          <a:p>
            <a:pPr algn="ctr"/>
          </a:p>
        </p:txBody>
      </p:sp>
      <p:sp>
        <p:nvSpPr>
          <p:cNvPr id="78" name="Rectangle 77"/>
          <p:cNvSpPr/>
          <p:nvPr/>
        </p:nvSpPr>
        <p:spPr>
          <a:xfrm>
            <a:off x="2468880" y="3200400"/>
            <a:ext cx="228600" cy="228600"/>
          </a:xfrm>
          <a:prstGeom prst="rect">
            <a:avLst/>
          </a:prstGeom>
          <a:solidFill>
            <a:srgbClr val="F9DCCB"/>
          </a:solidFill>
          <a:ln>
            <a:noFill/>
          </a:ln>
        </p:spPr>
        <p:txBody>
          <a:bodyPr rtlCol="0" anchor="ctr"/>
          <a:lstStyle/>
          <a:p>
            <a:pPr algn="ctr"/>
          </a:p>
        </p:txBody>
      </p:sp>
      <p:sp>
        <p:nvSpPr>
          <p:cNvPr id="79" name="Rectangle 78"/>
          <p:cNvSpPr/>
          <p:nvPr/>
        </p:nvSpPr>
        <p:spPr>
          <a:xfrm>
            <a:off x="2743200" y="3200400"/>
            <a:ext cx="228600" cy="228600"/>
          </a:xfrm>
          <a:prstGeom prst="rect">
            <a:avLst/>
          </a:prstGeom>
          <a:solidFill>
            <a:srgbClr val="F9DCCB"/>
          </a:solidFill>
          <a:ln>
            <a:noFill/>
          </a:ln>
        </p:spPr>
        <p:txBody>
          <a:bodyPr rtlCol="0" anchor="ctr"/>
          <a:lstStyle/>
          <a:p>
            <a:pPr algn="ctr"/>
          </a:p>
        </p:txBody>
      </p:sp>
      <p:sp>
        <p:nvSpPr>
          <p:cNvPr id="80" name="Rectangle 79"/>
          <p:cNvSpPr/>
          <p:nvPr/>
        </p:nvSpPr>
        <p:spPr>
          <a:xfrm>
            <a:off x="3017520" y="3200400"/>
            <a:ext cx="228600" cy="228600"/>
          </a:xfrm>
          <a:prstGeom prst="rect">
            <a:avLst/>
          </a:prstGeom>
          <a:solidFill>
            <a:srgbClr val="F9DCCB"/>
          </a:solidFill>
          <a:ln>
            <a:noFill/>
          </a:ln>
        </p:spPr>
        <p:txBody>
          <a:bodyPr rtlCol="0" anchor="ctr"/>
          <a:lstStyle/>
          <a:p>
            <a:pPr algn="ctr"/>
          </a:p>
        </p:txBody>
      </p:sp>
      <p:sp>
        <p:nvSpPr>
          <p:cNvPr id="81" name="Rectangle 80"/>
          <p:cNvSpPr/>
          <p:nvPr/>
        </p:nvSpPr>
        <p:spPr>
          <a:xfrm>
            <a:off x="3291840" y="3200400"/>
            <a:ext cx="228600" cy="228600"/>
          </a:xfrm>
          <a:prstGeom prst="rect">
            <a:avLst/>
          </a:prstGeom>
          <a:solidFill>
            <a:srgbClr val="F9DCCB"/>
          </a:solidFill>
          <a:ln>
            <a:noFill/>
          </a:ln>
        </p:spPr>
        <p:txBody>
          <a:bodyPr rtlCol="0" anchor="ctr"/>
          <a:lstStyle/>
          <a:p>
            <a:pPr algn="ctr"/>
          </a:p>
        </p:txBody>
      </p:sp>
      <p:sp>
        <p:nvSpPr>
          <p:cNvPr id="82" name="Rectangle 81"/>
          <p:cNvSpPr/>
          <p:nvPr/>
        </p:nvSpPr>
        <p:spPr>
          <a:xfrm>
            <a:off x="3566160" y="3200400"/>
            <a:ext cx="228600" cy="228600"/>
          </a:xfrm>
          <a:prstGeom prst="rect">
            <a:avLst/>
          </a:prstGeom>
          <a:solidFill>
            <a:srgbClr val="F9DCCB"/>
          </a:solidFill>
          <a:ln>
            <a:noFill/>
          </a:ln>
        </p:spPr>
        <p:txBody>
          <a:bodyPr rtlCol="0" anchor="ctr"/>
          <a:lstStyle/>
          <a:p>
            <a:pPr algn="ctr"/>
          </a:p>
        </p:txBody>
      </p:sp>
      <p:sp>
        <p:nvSpPr>
          <p:cNvPr id="83" name="Rectangle 82"/>
          <p:cNvSpPr/>
          <p:nvPr/>
        </p:nvSpPr>
        <p:spPr>
          <a:xfrm>
            <a:off x="3840480" y="3200400"/>
            <a:ext cx="228600" cy="228600"/>
          </a:xfrm>
          <a:prstGeom prst="rect">
            <a:avLst/>
          </a:prstGeom>
          <a:solidFill>
            <a:srgbClr val="F9DCCB"/>
          </a:solidFill>
          <a:ln>
            <a:noFill/>
          </a:ln>
        </p:spPr>
        <p:txBody>
          <a:bodyPr rtlCol="0" anchor="ctr"/>
          <a:lstStyle/>
          <a:p>
            <a:pPr algn="ctr"/>
          </a:p>
        </p:txBody>
      </p:sp>
      <p:sp>
        <p:nvSpPr>
          <p:cNvPr id="84" name="Rectangle 83"/>
          <p:cNvSpPr/>
          <p:nvPr/>
        </p:nvSpPr>
        <p:spPr>
          <a:xfrm>
            <a:off x="4114800" y="3200400"/>
            <a:ext cx="228600" cy="228600"/>
          </a:xfrm>
          <a:prstGeom prst="rect">
            <a:avLst/>
          </a:prstGeom>
          <a:solidFill>
            <a:srgbClr val="F9DCCB"/>
          </a:solidFill>
          <a:ln>
            <a:noFill/>
          </a:ln>
        </p:spPr>
        <p:txBody>
          <a:bodyPr rtlCol="0" anchor="ctr"/>
          <a:lstStyle/>
          <a:p>
            <a:pPr algn="ctr"/>
          </a:p>
        </p:txBody>
      </p:sp>
      <p:sp>
        <p:nvSpPr>
          <p:cNvPr id="85" name="TextBox 84"/>
          <p:cNvSpPr txBox="1"/>
          <p:nvPr/>
        </p:nvSpPr>
        <p:spPr>
          <a:xfrm>
            <a:off x="731520" y="34747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6</a:t>
            </a:r>
          </a:p>
        </p:txBody>
      </p:sp>
      <p:sp>
        <p:nvSpPr>
          <p:cNvPr id="86" name="Rectangle 85"/>
          <p:cNvSpPr/>
          <p:nvPr/>
        </p:nvSpPr>
        <p:spPr>
          <a:xfrm>
            <a:off x="1097280" y="3474720"/>
            <a:ext cx="228600" cy="228600"/>
          </a:xfrm>
          <a:prstGeom prst="rect">
            <a:avLst/>
          </a:prstGeom>
          <a:solidFill>
            <a:srgbClr val="F9DCCB"/>
          </a:solidFill>
          <a:ln>
            <a:noFill/>
          </a:ln>
        </p:spPr>
        <p:txBody>
          <a:bodyPr rtlCol="0" anchor="ctr"/>
          <a:lstStyle/>
          <a:p>
            <a:pPr algn="ctr"/>
          </a:p>
        </p:txBody>
      </p:sp>
      <p:sp>
        <p:nvSpPr>
          <p:cNvPr id="87" name="Rectangle 86"/>
          <p:cNvSpPr/>
          <p:nvPr/>
        </p:nvSpPr>
        <p:spPr>
          <a:xfrm>
            <a:off x="1371600" y="3474720"/>
            <a:ext cx="228600" cy="228600"/>
          </a:xfrm>
          <a:prstGeom prst="rect">
            <a:avLst/>
          </a:prstGeom>
          <a:solidFill>
            <a:srgbClr val="F9DCCB"/>
          </a:solidFill>
          <a:ln>
            <a:noFill/>
          </a:ln>
        </p:spPr>
        <p:txBody>
          <a:bodyPr rtlCol="0" anchor="ctr"/>
          <a:lstStyle/>
          <a:p>
            <a:pPr algn="ctr"/>
          </a:p>
        </p:txBody>
      </p:sp>
      <p:sp>
        <p:nvSpPr>
          <p:cNvPr id="88" name="Rectangle 87"/>
          <p:cNvSpPr/>
          <p:nvPr/>
        </p:nvSpPr>
        <p:spPr>
          <a:xfrm>
            <a:off x="1645920" y="3474720"/>
            <a:ext cx="228600" cy="228600"/>
          </a:xfrm>
          <a:prstGeom prst="rect">
            <a:avLst/>
          </a:prstGeom>
          <a:solidFill>
            <a:srgbClr val="F9DCCB"/>
          </a:solidFill>
          <a:ln>
            <a:noFill/>
          </a:ln>
        </p:spPr>
        <p:txBody>
          <a:bodyPr rtlCol="0" anchor="ctr"/>
          <a:lstStyle/>
          <a:p>
            <a:pPr algn="ctr"/>
          </a:p>
        </p:txBody>
      </p:sp>
      <p:sp>
        <p:nvSpPr>
          <p:cNvPr id="89" name="Rectangle 88"/>
          <p:cNvSpPr/>
          <p:nvPr/>
        </p:nvSpPr>
        <p:spPr>
          <a:xfrm>
            <a:off x="1920240" y="3474720"/>
            <a:ext cx="228600" cy="228600"/>
          </a:xfrm>
          <a:prstGeom prst="rect">
            <a:avLst/>
          </a:prstGeom>
          <a:solidFill>
            <a:srgbClr val="F9DCCB"/>
          </a:solidFill>
          <a:ln>
            <a:noFill/>
          </a:ln>
        </p:spPr>
        <p:txBody>
          <a:bodyPr rtlCol="0" anchor="ctr"/>
          <a:lstStyle/>
          <a:p>
            <a:pPr algn="ctr"/>
          </a:p>
        </p:txBody>
      </p:sp>
      <p:sp>
        <p:nvSpPr>
          <p:cNvPr id="90" name="Rectangle 89"/>
          <p:cNvSpPr/>
          <p:nvPr/>
        </p:nvSpPr>
        <p:spPr>
          <a:xfrm>
            <a:off x="2194560" y="3474720"/>
            <a:ext cx="228600" cy="228600"/>
          </a:xfrm>
          <a:prstGeom prst="rect">
            <a:avLst/>
          </a:prstGeom>
          <a:solidFill>
            <a:srgbClr val="F9DCCB"/>
          </a:solidFill>
          <a:ln>
            <a:noFill/>
          </a:ln>
        </p:spPr>
        <p:txBody>
          <a:bodyPr rtlCol="0" anchor="ctr"/>
          <a:lstStyle/>
          <a:p>
            <a:pPr algn="ctr"/>
          </a:p>
        </p:txBody>
      </p:sp>
      <p:sp>
        <p:nvSpPr>
          <p:cNvPr id="91" name="Rectangle 90"/>
          <p:cNvSpPr/>
          <p:nvPr/>
        </p:nvSpPr>
        <p:spPr>
          <a:xfrm>
            <a:off x="2468880" y="3474720"/>
            <a:ext cx="228600" cy="228600"/>
          </a:xfrm>
          <a:prstGeom prst="rect">
            <a:avLst/>
          </a:prstGeom>
          <a:solidFill>
            <a:srgbClr val="D8602A"/>
          </a:solidFill>
          <a:ln>
            <a:noFill/>
          </a:ln>
        </p:spPr>
        <p:txBody>
          <a:bodyPr rtlCol="0" anchor="ctr"/>
          <a:lstStyle/>
          <a:p>
            <a:pPr algn="ctr"/>
          </a:p>
        </p:txBody>
      </p:sp>
      <p:sp>
        <p:nvSpPr>
          <p:cNvPr id="92" name="Rectangle 91"/>
          <p:cNvSpPr/>
          <p:nvPr/>
        </p:nvSpPr>
        <p:spPr>
          <a:xfrm>
            <a:off x="2743200" y="3474720"/>
            <a:ext cx="228600" cy="228600"/>
          </a:xfrm>
          <a:prstGeom prst="rect">
            <a:avLst/>
          </a:prstGeom>
          <a:solidFill>
            <a:srgbClr val="F9DCCB"/>
          </a:solidFill>
          <a:ln>
            <a:noFill/>
          </a:ln>
        </p:spPr>
        <p:txBody>
          <a:bodyPr rtlCol="0" anchor="ctr"/>
          <a:lstStyle/>
          <a:p>
            <a:pPr algn="ctr"/>
          </a:p>
        </p:txBody>
      </p:sp>
      <p:sp>
        <p:nvSpPr>
          <p:cNvPr id="93" name="Rectangle 92"/>
          <p:cNvSpPr/>
          <p:nvPr/>
        </p:nvSpPr>
        <p:spPr>
          <a:xfrm>
            <a:off x="3017520" y="3474720"/>
            <a:ext cx="228600" cy="228600"/>
          </a:xfrm>
          <a:prstGeom prst="rect">
            <a:avLst/>
          </a:prstGeom>
          <a:solidFill>
            <a:srgbClr val="F9DCCB"/>
          </a:solidFill>
          <a:ln>
            <a:noFill/>
          </a:ln>
        </p:spPr>
        <p:txBody>
          <a:bodyPr rtlCol="0" anchor="ctr"/>
          <a:lstStyle/>
          <a:p>
            <a:pPr algn="ctr"/>
          </a:p>
        </p:txBody>
      </p:sp>
      <p:sp>
        <p:nvSpPr>
          <p:cNvPr id="94" name="Rectangle 93"/>
          <p:cNvSpPr/>
          <p:nvPr/>
        </p:nvSpPr>
        <p:spPr>
          <a:xfrm>
            <a:off x="3291840" y="3474720"/>
            <a:ext cx="228600" cy="228600"/>
          </a:xfrm>
          <a:prstGeom prst="rect">
            <a:avLst/>
          </a:prstGeom>
          <a:solidFill>
            <a:srgbClr val="F9DCCB"/>
          </a:solidFill>
          <a:ln>
            <a:noFill/>
          </a:ln>
        </p:spPr>
        <p:txBody>
          <a:bodyPr rtlCol="0" anchor="ctr"/>
          <a:lstStyle/>
          <a:p>
            <a:pPr algn="ctr"/>
          </a:p>
        </p:txBody>
      </p:sp>
      <p:sp>
        <p:nvSpPr>
          <p:cNvPr id="95" name="Rectangle 94"/>
          <p:cNvSpPr/>
          <p:nvPr/>
        </p:nvSpPr>
        <p:spPr>
          <a:xfrm>
            <a:off x="3566160" y="3474720"/>
            <a:ext cx="228600" cy="228600"/>
          </a:xfrm>
          <a:prstGeom prst="rect">
            <a:avLst/>
          </a:prstGeom>
          <a:solidFill>
            <a:srgbClr val="F9DCCB"/>
          </a:solidFill>
          <a:ln>
            <a:noFill/>
          </a:ln>
        </p:spPr>
        <p:txBody>
          <a:bodyPr rtlCol="0" anchor="ctr"/>
          <a:lstStyle/>
          <a:p>
            <a:pPr algn="ctr"/>
          </a:p>
        </p:txBody>
      </p:sp>
      <p:sp>
        <p:nvSpPr>
          <p:cNvPr id="96" name="Rectangle 95"/>
          <p:cNvSpPr/>
          <p:nvPr/>
        </p:nvSpPr>
        <p:spPr>
          <a:xfrm>
            <a:off x="3840480" y="3474720"/>
            <a:ext cx="228600" cy="228600"/>
          </a:xfrm>
          <a:prstGeom prst="rect">
            <a:avLst/>
          </a:prstGeom>
          <a:solidFill>
            <a:srgbClr val="F9DCCB"/>
          </a:solidFill>
          <a:ln>
            <a:noFill/>
          </a:ln>
        </p:spPr>
        <p:txBody>
          <a:bodyPr rtlCol="0" anchor="ctr"/>
          <a:lstStyle/>
          <a:p>
            <a:pPr algn="ctr"/>
          </a:p>
        </p:txBody>
      </p:sp>
      <p:sp>
        <p:nvSpPr>
          <p:cNvPr id="97" name="Rectangle 96"/>
          <p:cNvSpPr/>
          <p:nvPr/>
        </p:nvSpPr>
        <p:spPr>
          <a:xfrm>
            <a:off x="4114800" y="3474720"/>
            <a:ext cx="228600" cy="228600"/>
          </a:xfrm>
          <a:prstGeom prst="rect">
            <a:avLst/>
          </a:prstGeom>
          <a:solidFill>
            <a:srgbClr val="F9DCCB"/>
          </a:solidFill>
          <a:ln>
            <a:noFill/>
          </a:ln>
        </p:spPr>
        <p:txBody>
          <a:bodyPr rtlCol="0" anchor="ctr"/>
          <a:lstStyle/>
          <a:p>
            <a:pPr algn="ctr"/>
          </a:p>
        </p:txBody>
      </p:sp>
      <p:sp>
        <p:nvSpPr>
          <p:cNvPr id="98" name="TextBox 97"/>
          <p:cNvSpPr txBox="1"/>
          <p:nvPr/>
        </p:nvSpPr>
        <p:spPr>
          <a:xfrm>
            <a:off x="731520" y="37490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7</a:t>
            </a:r>
          </a:p>
        </p:txBody>
      </p:sp>
      <p:sp>
        <p:nvSpPr>
          <p:cNvPr id="99" name="Rectangle 98"/>
          <p:cNvSpPr/>
          <p:nvPr/>
        </p:nvSpPr>
        <p:spPr>
          <a:xfrm>
            <a:off x="1097280" y="3749040"/>
            <a:ext cx="228600" cy="228600"/>
          </a:xfrm>
          <a:prstGeom prst="rect">
            <a:avLst/>
          </a:prstGeom>
          <a:solidFill>
            <a:srgbClr val="F9DCCB"/>
          </a:solidFill>
          <a:ln>
            <a:noFill/>
          </a:ln>
        </p:spPr>
        <p:txBody>
          <a:bodyPr rtlCol="0" anchor="ctr"/>
          <a:lstStyle/>
          <a:p>
            <a:pPr algn="ctr"/>
          </a:p>
        </p:txBody>
      </p:sp>
      <p:sp>
        <p:nvSpPr>
          <p:cNvPr id="100" name="Rectangle 99"/>
          <p:cNvSpPr/>
          <p:nvPr/>
        </p:nvSpPr>
        <p:spPr>
          <a:xfrm>
            <a:off x="1371600" y="3749040"/>
            <a:ext cx="228600" cy="228600"/>
          </a:xfrm>
          <a:prstGeom prst="rect">
            <a:avLst/>
          </a:prstGeom>
          <a:solidFill>
            <a:srgbClr val="F9DCCB"/>
          </a:solidFill>
          <a:ln>
            <a:noFill/>
          </a:ln>
        </p:spPr>
        <p:txBody>
          <a:bodyPr rtlCol="0" anchor="ctr"/>
          <a:lstStyle/>
          <a:p>
            <a:pPr algn="ctr"/>
          </a:p>
        </p:txBody>
      </p:sp>
      <p:sp>
        <p:nvSpPr>
          <p:cNvPr id="101" name="Rectangle 100"/>
          <p:cNvSpPr/>
          <p:nvPr/>
        </p:nvSpPr>
        <p:spPr>
          <a:xfrm>
            <a:off x="1645920" y="3749040"/>
            <a:ext cx="228600" cy="228600"/>
          </a:xfrm>
          <a:prstGeom prst="rect">
            <a:avLst/>
          </a:prstGeom>
          <a:solidFill>
            <a:srgbClr val="F9DCCB"/>
          </a:solidFill>
          <a:ln>
            <a:noFill/>
          </a:ln>
        </p:spPr>
        <p:txBody>
          <a:bodyPr rtlCol="0" anchor="ctr"/>
          <a:lstStyle/>
          <a:p>
            <a:pPr algn="ctr"/>
          </a:p>
        </p:txBody>
      </p:sp>
      <p:sp>
        <p:nvSpPr>
          <p:cNvPr id="102" name="Rectangle 101"/>
          <p:cNvSpPr/>
          <p:nvPr/>
        </p:nvSpPr>
        <p:spPr>
          <a:xfrm>
            <a:off x="1920240" y="3749040"/>
            <a:ext cx="228600" cy="228600"/>
          </a:xfrm>
          <a:prstGeom prst="rect">
            <a:avLst/>
          </a:prstGeom>
          <a:solidFill>
            <a:srgbClr val="F9DCCB"/>
          </a:solidFill>
          <a:ln>
            <a:noFill/>
          </a:ln>
        </p:spPr>
        <p:txBody>
          <a:bodyPr rtlCol="0" anchor="ctr"/>
          <a:lstStyle/>
          <a:p>
            <a:pPr algn="ctr"/>
          </a:p>
        </p:txBody>
      </p:sp>
      <p:sp>
        <p:nvSpPr>
          <p:cNvPr id="103" name="Rectangle 102"/>
          <p:cNvSpPr/>
          <p:nvPr/>
        </p:nvSpPr>
        <p:spPr>
          <a:xfrm>
            <a:off x="2194560" y="3749040"/>
            <a:ext cx="228600" cy="228600"/>
          </a:xfrm>
          <a:prstGeom prst="rect">
            <a:avLst/>
          </a:prstGeom>
          <a:solidFill>
            <a:srgbClr val="F9DCCB"/>
          </a:solidFill>
          <a:ln>
            <a:noFill/>
          </a:ln>
        </p:spPr>
        <p:txBody>
          <a:bodyPr rtlCol="0" anchor="ctr"/>
          <a:lstStyle/>
          <a:p>
            <a:pPr algn="ctr"/>
          </a:p>
        </p:txBody>
      </p:sp>
      <p:sp>
        <p:nvSpPr>
          <p:cNvPr id="104" name="Rectangle 103"/>
          <p:cNvSpPr/>
          <p:nvPr/>
        </p:nvSpPr>
        <p:spPr>
          <a:xfrm>
            <a:off x="2468880" y="3749040"/>
            <a:ext cx="228600" cy="228600"/>
          </a:xfrm>
          <a:prstGeom prst="rect">
            <a:avLst/>
          </a:prstGeom>
          <a:solidFill>
            <a:srgbClr val="F9DCCB"/>
          </a:solidFill>
          <a:ln>
            <a:noFill/>
          </a:ln>
        </p:spPr>
        <p:txBody>
          <a:bodyPr rtlCol="0" anchor="ctr"/>
          <a:lstStyle/>
          <a:p>
            <a:pPr algn="ctr"/>
          </a:p>
        </p:txBody>
      </p:sp>
      <p:sp>
        <p:nvSpPr>
          <p:cNvPr id="105" name="Rectangle 104"/>
          <p:cNvSpPr/>
          <p:nvPr/>
        </p:nvSpPr>
        <p:spPr>
          <a:xfrm>
            <a:off x="2743200" y="3749040"/>
            <a:ext cx="228600" cy="228600"/>
          </a:xfrm>
          <a:prstGeom prst="rect">
            <a:avLst/>
          </a:prstGeom>
          <a:solidFill>
            <a:srgbClr val="D8602A"/>
          </a:solidFill>
          <a:ln>
            <a:noFill/>
          </a:ln>
        </p:spPr>
        <p:txBody>
          <a:bodyPr rtlCol="0" anchor="ctr"/>
          <a:lstStyle/>
          <a:p>
            <a:pPr algn="ctr"/>
          </a:p>
        </p:txBody>
      </p:sp>
      <p:sp>
        <p:nvSpPr>
          <p:cNvPr id="106" name="Rectangle 105"/>
          <p:cNvSpPr/>
          <p:nvPr/>
        </p:nvSpPr>
        <p:spPr>
          <a:xfrm>
            <a:off x="3017520" y="3749040"/>
            <a:ext cx="228600" cy="228600"/>
          </a:xfrm>
          <a:prstGeom prst="rect">
            <a:avLst/>
          </a:prstGeom>
          <a:solidFill>
            <a:srgbClr val="F9DCCB"/>
          </a:solidFill>
          <a:ln>
            <a:noFill/>
          </a:ln>
        </p:spPr>
        <p:txBody>
          <a:bodyPr rtlCol="0" anchor="ctr"/>
          <a:lstStyle/>
          <a:p>
            <a:pPr algn="ctr"/>
          </a:p>
        </p:txBody>
      </p:sp>
      <p:sp>
        <p:nvSpPr>
          <p:cNvPr id="107" name="Rectangle 106"/>
          <p:cNvSpPr/>
          <p:nvPr/>
        </p:nvSpPr>
        <p:spPr>
          <a:xfrm>
            <a:off x="3291840" y="3749040"/>
            <a:ext cx="228600" cy="228600"/>
          </a:xfrm>
          <a:prstGeom prst="rect">
            <a:avLst/>
          </a:prstGeom>
          <a:solidFill>
            <a:srgbClr val="F9DCCB"/>
          </a:solidFill>
          <a:ln>
            <a:noFill/>
          </a:ln>
        </p:spPr>
        <p:txBody>
          <a:bodyPr rtlCol="0" anchor="ctr"/>
          <a:lstStyle/>
          <a:p>
            <a:pPr algn="ctr"/>
          </a:p>
        </p:txBody>
      </p:sp>
      <p:sp>
        <p:nvSpPr>
          <p:cNvPr id="108" name="Rectangle 107"/>
          <p:cNvSpPr/>
          <p:nvPr/>
        </p:nvSpPr>
        <p:spPr>
          <a:xfrm>
            <a:off x="3566160" y="3749040"/>
            <a:ext cx="228600" cy="228600"/>
          </a:xfrm>
          <a:prstGeom prst="rect">
            <a:avLst/>
          </a:prstGeom>
          <a:solidFill>
            <a:srgbClr val="F9DCCB"/>
          </a:solidFill>
          <a:ln>
            <a:noFill/>
          </a:ln>
        </p:spPr>
        <p:txBody>
          <a:bodyPr rtlCol="0" anchor="ctr"/>
          <a:lstStyle/>
          <a:p>
            <a:pPr algn="ctr"/>
          </a:p>
        </p:txBody>
      </p:sp>
      <p:sp>
        <p:nvSpPr>
          <p:cNvPr id="109" name="Rectangle 108"/>
          <p:cNvSpPr/>
          <p:nvPr/>
        </p:nvSpPr>
        <p:spPr>
          <a:xfrm>
            <a:off x="3840480" y="3749040"/>
            <a:ext cx="228600" cy="228600"/>
          </a:xfrm>
          <a:prstGeom prst="rect">
            <a:avLst/>
          </a:prstGeom>
          <a:solidFill>
            <a:srgbClr val="F9DCCB"/>
          </a:solidFill>
          <a:ln>
            <a:noFill/>
          </a:ln>
        </p:spPr>
        <p:txBody>
          <a:bodyPr rtlCol="0" anchor="ctr"/>
          <a:lstStyle/>
          <a:p>
            <a:pPr algn="ctr"/>
          </a:p>
        </p:txBody>
      </p:sp>
      <p:sp>
        <p:nvSpPr>
          <p:cNvPr id="110" name="Rectangle 109"/>
          <p:cNvSpPr/>
          <p:nvPr/>
        </p:nvSpPr>
        <p:spPr>
          <a:xfrm>
            <a:off x="4114800" y="3749040"/>
            <a:ext cx="228600" cy="228600"/>
          </a:xfrm>
          <a:prstGeom prst="rect">
            <a:avLst/>
          </a:prstGeom>
          <a:solidFill>
            <a:srgbClr val="F9DCCB"/>
          </a:solidFill>
          <a:ln>
            <a:noFill/>
          </a:ln>
        </p:spPr>
        <p:txBody>
          <a:bodyPr rtlCol="0" anchor="ctr"/>
          <a:lstStyle/>
          <a:p>
            <a:pPr algn="ctr"/>
          </a:p>
        </p:txBody>
      </p:sp>
      <p:sp>
        <p:nvSpPr>
          <p:cNvPr id="111" name="TextBox 110"/>
          <p:cNvSpPr txBox="1"/>
          <p:nvPr/>
        </p:nvSpPr>
        <p:spPr>
          <a:xfrm>
            <a:off x="731520" y="402336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8</a:t>
            </a:r>
          </a:p>
        </p:txBody>
      </p:sp>
      <p:sp>
        <p:nvSpPr>
          <p:cNvPr id="112" name="Rectangle 111"/>
          <p:cNvSpPr/>
          <p:nvPr/>
        </p:nvSpPr>
        <p:spPr>
          <a:xfrm>
            <a:off x="1097280" y="4023360"/>
            <a:ext cx="228600" cy="228600"/>
          </a:xfrm>
          <a:prstGeom prst="rect">
            <a:avLst/>
          </a:prstGeom>
          <a:solidFill>
            <a:srgbClr val="F9DCCB"/>
          </a:solidFill>
          <a:ln>
            <a:noFill/>
          </a:ln>
        </p:spPr>
        <p:txBody>
          <a:bodyPr rtlCol="0" anchor="ctr"/>
          <a:lstStyle/>
          <a:p>
            <a:pPr algn="ctr"/>
          </a:p>
        </p:txBody>
      </p:sp>
      <p:sp>
        <p:nvSpPr>
          <p:cNvPr id="113" name="Rectangle 112"/>
          <p:cNvSpPr/>
          <p:nvPr/>
        </p:nvSpPr>
        <p:spPr>
          <a:xfrm>
            <a:off x="1371600" y="4023360"/>
            <a:ext cx="228600" cy="228600"/>
          </a:xfrm>
          <a:prstGeom prst="rect">
            <a:avLst/>
          </a:prstGeom>
          <a:solidFill>
            <a:srgbClr val="F9DCCB"/>
          </a:solidFill>
          <a:ln>
            <a:noFill/>
          </a:ln>
        </p:spPr>
        <p:txBody>
          <a:bodyPr rtlCol="0" anchor="ctr"/>
          <a:lstStyle/>
          <a:p>
            <a:pPr algn="ctr"/>
          </a:p>
        </p:txBody>
      </p:sp>
      <p:sp>
        <p:nvSpPr>
          <p:cNvPr id="114" name="Rectangle 113"/>
          <p:cNvSpPr/>
          <p:nvPr/>
        </p:nvSpPr>
        <p:spPr>
          <a:xfrm>
            <a:off x="1645920" y="4023360"/>
            <a:ext cx="228600" cy="228600"/>
          </a:xfrm>
          <a:prstGeom prst="rect">
            <a:avLst/>
          </a:prstGeom>
          <a:solidFill>
            <a:srgbClr val="F9DCCB"/>
          </a:solidFill>
          <a:ln>
            <a:noFill/>
          </a:ln>
        </p:spPr>
        <p:txBody>
          <a:bodyPr rtlCol="0" anchor="ctr"/>
          <a:lstStyle/>
          <a:p>
            <a:pPr algn="ctr"/>
          </a:p>
        </p:txBody>
      </p:sp>
      <p:sp>
        <p:nvSpPr>
          <p:cNvPr id="115" name="Rectangle 114"/>
          <p:cNvSpPr/>
          <p:nvPr/>
        </p:nvSpPr>
        <p:spPr>
          <a:xfrm>
            <a:off x="1920240" y="4023360"/>
            <a:ext cx="228600" cy="228600"/>
          </a:xfrm>
          <a:prstGeom prst="rect">
            <a:avLst/>
          </a:prstGeom>
          <a:solidFill>
            <a:srgbClr val="F9DCCB"/>
          </a:solidFill>
          <a:ln>
            <a:noFill/>
          </a:ln>
        </p:spPr>
        <p:txBody>
          <a:bodyPr rtlCol="0" anchor="ctr"/>
          <a:lstStyle/>
          <a:p>
            <a:pPr algn="ctr"/>
          </a:p>
        </p:txBody>
      </p:sp>
      <p:sp>
        <p:nvSpPr>
          <p:cNvPr id="116" name="Rectangle 115"/>
          <p:cNvSpPr/>
          <p:nvPr/>
        </p:nvSpPr>
        <p:spPr>
          <a:xfrm>
            <a:off x="2194560" y="4023360"/>
            <a:ext cx="228600" cy="228600"/>
          </a:xfrm>
          <a:prstGeom prst="rect">
            <a:avLst/>
          </a:prstGeom>
          <a:solidFill>
            <a:srgbClr val="F9DCCB"/>
          </a:solidFill>
          <a:ln>
            <a:noFill/>
          </a:ln>
        </p:spPr>
        <p:txBody>
          <a:bodyPr rtlCol="0" anchor="ctr"/>
          <a:lstStyle/>
          <a:p>
            <a:pPr algn="ctr"/>
          </a:p>
        </p:txBody>
      </p:sp>
      <p:sp>
        <p:nvSpPr>
          <p:cNvPr id="117" name="Rectangle 116"/>
          <p:cNvSpPr/>
          <p:nvPr/>
        </p:nvSpPr>
        <p:spPr>
          <a:xfrm>
            <a:off x="2468880" y="4023360"/>
            <a:ext cx="228600" cy="228600"/>
          </a:xfrm>
          <a:prstGeom prst="rect">
            <a:avLst/>
          </a:prstGeom>
          <a:solidFill>
            <a:srgbClr val="F9DCCB"/>
          </a:solidFill>
          <a:ln>
            <a:noFill/>
          </a:ln>
        </p:spPr>
        <p:txBody>
          <a:bodyPr rtlCol="0" anchor="ctr"/>
          <a:lstStyle/>
          <a:p>
            <a:pPr algn="ctr"/>
          </a:p>
        </p:txBody>
      </p:sp>
      <p:sp>
        <p:nvSpPr>
          <p:cNvPr id="118" name="Rectangle 117"/>
          <p:cNvSpPr/>
          <p:nvPr/>
        </p:nvSpPr>
        <p:spPr>
          <a:xfrm>
            <a:off x="2743200" y="4023360"/>
            <a:ext cx="228600" cy="228600"/>
          </a:xfrm>
          <a:prstGeom prst="rect">
            <a:avLst/>
          </a:prstGeom>
          <a:solidFill>
            <a:srgbClr val="F9DCCB"/>
          </a:solidFill>
          <a:ln>
            <a:noFill/>
          </a:ln>
        </p:spPr>
        <p:txBody>
          <a:bodyPr rtlCol="0" anchor="ctr"/>
          <a:lstStyle/>
          <a:p>
            <a:pPr algn="ctr"/>
          </a:p>
        </p:txBody>
      </p:sp>
      <p:sp>
        <p:nvSpPr>
          <p:cNvPr id="119" name="Rectangle 118"/>
          <p:cNvSpPr/>
          <p:nvPr/>
        </p:nvSpPr>
        <p:spPr>
          <a:xfrm>
            <a:off x="3017520" y="4023360"/>
            <a:ext cx="228600" cy="228600"/>
          </a:xfrm>
          <a:prstGeom prst="rect">
            <a:avLst/>
          </a:prstGeom>
          <a:solidFill>
            <a:srgbClr val="D8602A"/>
          </a:solidFill>
          <a:ln>
            <a:noFill/>
          </a:ln>
        </p:spPr>
        <p:txBody>
          <a:bodyPr rtlCol="0" anchor="ctr"/>
          <a:lstStyle/>
          <a:p>
            <a:pPr algn="ctr"/>
          </a:p>
        </p:txBody>
      </p:sp>
      <p:sp>
        <p:nvSpPr>
          <p:cNvPr id="120" name="Rectangle 119"/>
          <p:cNvSpPr/>
          <p:nvPr/>
        </p:nvSpPr>
        <p:spPr>
          <a:xfrm>
            <a:off x="3291840" y="4023360"/>
            <a:ext cx="228600" cy="228600"/>
          </a:xfrm>
          <a:prstGeom prst="rect">
            <a:avLst/>
          </a:prstGeom>
          <a:solidFill>
            <a:srgbClr val="F9DCCB"/>
          </a:solidFill>
          <a:ln>
            <a:noFill/>
          </a:ln>
        </p:spPr>
        <p:txBody>
          <a:bodyPr rtlCol="0" anchor="ctr"/>
          <a:lstStyle/>
          <a:p>
            <a:pPr algn="ctr"/>
          </a:p>
        </p:txBody>
      </p:sp>
      <p:sp>
        <p:nvSpPr>
          <p:cNvPr id="121" name="Rectangle 120"/>
          <p:cNvSpPr/>
          <p:nvPr/>
        </p:nvSpPr>
        <p:spPr>
          <a:xfrm>
            <a:off x="3566160" y="4023360"/>
            <a:ext cx="228600" cy="228600"/>
          </a:xfrm>
          <a:prstGeom prst="rect">
            <a:avLst/>
          </a:prstGeom>
          <a:solidFill>
            <a:srgbClr val="F9DCCB"/>
          </a:solidFill>
          <a:ln>
            <a:noFill/>
          </a:ln>
        </p:spPr>
        <p:txBody>
          <a:bodyPr rtlCol="0" anchor="ctr"/>
          <a:lstStyle/>
          <a:p>
            <a:pPr algn="ctr"/>
          </a:p>
        </p:txBody>
      </p:sp>
      <p:sp>
        <p:nvSpPr>
          <p:cNvPr id="122" name="Rectangle 121"/>
          <p:cNvSpPr/>
          <p:nvPr/>
        </p:nvSpPr>
        <p:spPr>
          <a:xfrm>
            <a:off x="3840480" y="4023360"/>
            <a:ext cx="228600" cy="228600"/>
          </a:xfrm>
          <a:prstGeom prst="rect">
            <a:avLst/>
          </a:prstGeom>
          <a:solidFill>
            <a:srgbClr val="F9DCCB"/>
          </a:solidFill>
          <a:ln>
            <a:noFill/>
          </a:ln>
        </p:spPr>
        <p:txBody>
          <a:bodyPr rtlCol="0" anchor="ctr"/>
          <a:lstStyle/>
          <a:p>
            <a:pPr algn="ctr"/>
          </a:p>
        </p:txBody>
      </p:sp>
      <p:sp>
        <p:nvSpPr>
          <p:cNvPr id="123" name="Rectangle 122"/>
          <p:cNvSpPr/>
          <p:nvPr/>
        </p:nvSpPr>
        <p:spPr>
          <a:xfrm>
            <a:off x="4114800" y="4023360"/>
            <a:ext cx="228600" cy="228600"/>
          </a:xfrm>
          <a:prstGeom prst="rect">
            <a:avLst/>
          </a:prstGeom>
          <a:solidFill>
            <a:srgbClr val="F9DCCB"/>
          </a:solidFill>
          <a:ln>
            <a:noFill/>
          </a:ln>
        </p:spPr>
        <p:txBody>
          <a:bodyPr rtlCol="0" anchor="ctr"/>
          <a:lstStyle/>
          <a:p>
            <a:pPr algn="ctr"/>
          </a:p>
        </p:txBody>
      </p:sp>
      <p:sp>
        <p:nvSpPr>
          <p:cNvPr id="124" name="TextBox 123"/>
          <p:cNvSpPr txBox="1"/>
          <p:nvPr/>
        </p:nvSpPr>
        <p:spPr>
          <a:xfrm>
            <a:off x="731520" y="429768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9</a:t>
            </a:r>
          </a:p>
        </p:txBody>
      </p:sp>
      <p:sp>
        <p:nvSpPr>
          <p:cNvPr id="125" name="Rectangle 124"/>
          <p:cNvSpPr/>
          <p:nvPr/>
        </p:nvSpPr>
        <p:spPr>
          <a:xfrm>
            <a:off x="1097280" y="4297680"/>
            <a:ext cx="228600" cy="228600"/>
          </a:xfrm>
          <a:prstGeom prst="rect">
            <a:avLst/>
          </a:prstGeom>
          <a:solidFill>
            <a:srgbClr val="F9DCCB"/>
          </a:solidFill>
          <a:ln>
            <a:noFill/>
          </a:ln>
        </p:spPr>
        <p:txBody>
          <a:bodyPr rtlCol="0" anchor="ctr"/>
          <a:lstStyle/>
          <a:p>
            <a:pPr algn="ctr"/>
          </a:p>
        </p:txBody>
      </p:sp>
      <p:sp>
        <p:nvSpPr>
          <p:cNvPr id="126" name="Rectangle 125"/>
          <p:cNvSpPr/>
          <p:nvPr/>
        </p:nvSpPr>
        <p:spPr>
          <a:xfrm>
            <a:off x="1371600" y="4297680"/>
            <a:ext cx="228600" cy="228600"/>
          </a:xfrm>
          <a:prstGeom prst="rect">
            <a:avLst/>
          </a:prstGeom>
          <a:solidFill>
            <a:srgbClr val="F9DCCB"/>
          </a:solidFill>
          <a:ln>
            <a:noFill/>
          </a:ln>
        </p:spPr>
        <p:txBody>
          <a:bodyPr rtlCol="0" anchor="ctr"/>
          <a:lstStyle/>
          <a:p>
            <a:pPr algn="ctr"/>
          </a:p>
        </p:txBody>
      </p:sp>
      <p:sp>
        <p:nvSpPr>
          <p:cNvPr id="127" name="Rectangle 126"/>
          <p:cNvSpPr/>
          <p:nvPr/>
        </p:nvSpPr>
        <p:spPr>
          <a:xfrm>
            <a:off x="1645920" y="4297680"/>
            <a:ext cx="228600" cy="228600"/>
          </a:xfrm>
          <a:prstGeom prst="rect">
            <a:avLst/>
          </a:prstGeom>
          <a:solidFill>
            <a:srgbClr val="F9DCCB"/>
          </a:solidFill>
          <a:ln>
            <a:noFill/>
          </a:ln>
        </p:spPr>
        <p:txBody>
          <a:bodyPr rtlCol="0" anchor="ctr"/>
          <a:lstStyle/>
          <a:p>
            <a:pPr algn="ctr"/>
          </a:p>
        </p:txBody>
      </p:sp>
      <p:sp>
        <p:nvSpPr>
          <p:cNvPr id="128" name="Rectangle 127"/>
          <p:cNvSpPr/>
          <p:nvPr/>
        </p:nvSpPr>
        <p:spPr>
          <a:xfrm>
            <a:off x="1920240" y="4297680"/>
            <a:ext cx="228600" cy="228600"/>
          </a:xfrm>
          <a:prstGeom prst="rect">
            <a:avLst/>
          </a:prstGeom>
          <a:solidFill>
            <a:srgbClr val="F9DCCB"/>
          </a:solidFill>
          <a:ln>
            <a:noFill/>
          </a:ln>
        </p:spPr>
        <p:txBody>
          <a:bodyPr rtlCol="0" anchor="ctr"/>
          <a:lstStyle/>
          <a:p>
            <a:pPr algn="ctr"/>
          </a:p>
        </p:txBody>
      </p:sp>
      <p:sp>
        <p:nvSpPr>
          <p:cNvPr id="129" name="Rectangle 128"/>
          <p:cNvSpPr/>
          <p:nvPr/>
        </p:nvSpPr>
        <p:spPr>
          <a:xfrm>
            <a:off x="2194560" y="4297680"/>
            <a:ext cx="228600" cy="228600"/>
          </a:xfrm>
          <a:prstGeom prst="rect">
            <a:avLst/>
          </a:prstGeom>
          <a:solidFill>
            <a:srgbClr val="F9DCCB"/>
          </a:solidFill>
          <a:ln>
            <a:noFill/>
          </a:ln>
        </p:spPr>
        <p:txBody>
          <a:bodyPr rtlCol="0" anchor="ctr"/>
          <a:lstStyle/>
          <a:p>
            <a:pPr algn="ctr"/>
          </a:p>
        </p:txBody>
      </p:sp>
      <p:sp>
        <p:nvSpPr>
          <p:cNvPr id="130" name="Rectangle 129"/>
          <p:cNvSpPr/>
          <p:nvPr/>
        </p:nvSpPr>
        <p:spPr>
          <a:xfrm>
            <a:off x="2468880" y="4297680"/>
            <a:ext cx="228600" cy="228600"/>
          </a:xfrm>
          <a:prstGeom prst="rect">
            <a:avLst/>
          </a:prstGeom>
          <a:solidFill>
            <a:srgbClr val="F9DCCB"/>
          </a:solidFill>
          <a:ln>
            <a:noFill/>
          </a:ln>
        </p:spPr>
        <p:txBody>
          <a:bodyPr rtlCol="0" anchor="ctr"/>
          <a:lstStyle/>
          <a:p>
            <a:pPr algn="ctr"/>
          </a:p>
        </p:txBody>
      </p:sp>
      <p:sp>
        <p:nvSpPr>
          <p:cNvPr id="131" name="Rectangle 130"/>
          <p:cNvSpPr/>
          <p:nvPr/>
        </p:nvSpPr>
        <p:spPr>
          <a:xfrm>
            <a:off x="2743200" y="4297680"/>
            <a:ext cx="228600" cy="228600"/>
          </a:xfrm>
          <a:prstGeom prst="rect">
            <a:avLst/>
          </a:prstGeom>
          <a:solidFill>
            <a:srgbClr val="F9DCCB"/>
          </a:solidFill>
          <a:ln>
            <a:noFill/>
          </a:ln>
        </p:spPr>
        <p:txBody>
          <a:bodyPr rtlCol="0" anchor="ctr"/>
          <a:lstStyle/>
          <a:p>
            <a:pPr algn="ctr"/>
          </a:p>
        </p:txBody>
      </p:sp>
      <p:sp>
        <p:nvSpPr>
          <p:cNvPr id="132" name="Rectangle 131"/>
          <p:cNvSpPr/>
          <p:nvPr/>
        </p:nvSpPr>
        <p:spPr>
          <a:xfrm>
            <a:off x="3017520" y="4297680"/>
            <a:ext cx="228600" cy="228600"/>
          </a:xfrm>
          <a:prstGeom prst="rect">
            <a:avLst/>
          </a:prstGeom>
          <a:solidFill>
            <a:srgbClr val="F9DCCB"/>
          </a:solidFill>
          <a:ln>
            <a:noFill/>
          </a:ln>
        </p:spPr>
        <p:txBody>
          <a:bodyPr rtlCol="0" anchor="ctr"/>
          <a:lstStyle/>
          <a:p>
            <a:pPr algn="ctr"/>
          </a:p>
        </p:txBody>
      </p:sp>
      <p:sp>
        <p:nvSpPr>
          <p:cNvPr id="133" name="Rectangle 132"/>
          <p:cNvSpPr/>
          <p:nvPr/>
        </p:nvSpPr>
        <p:spPr>
          <a:xfrm>
            <a:off x="3291840" y="4297680"/>
            <a:ext cx="228600" cy="228600"/>
          </a:xfrm>
          <a:prstGeom prst="rect">
            <a:avLst/>
          </a:prstGeom>
          <a:solidFill>
            <a:srgbClr val="D8602A"/>
          </a:solidFill>
          <a:ln>
            <a:noFill/>
          </a:ln>
        </p:spPr>
        <p:txBody>
          <a:bodyPr rtlCol="0" anchor="ctr"/>
          <a:lstStyle/>
          <a:p>
            <a:pPr algn="ctr"/>
          </a:p>
        </p:txBody>
      </p:sp>
      <p:sp>
        <p:nvSpPr>
          <p:cNvPr id="134" name="Rectangle 133"/>
          <p:cNvSpPr/>
          <p:nvPr/>
        </p:nvSpPr>
        <p:spPr>
          <a:xfrm>
            <a:off x="3566160" y="4297680"/>
            <a:ext cx="228600" cy="228600"/>
          </a:xfrm>
          <a:prstGeom prst="rect">
            <a:avLst/>
          </a:prstGeom>
          <a:solidFill>
            <a:srgbClr val="F9DCCB"/>
          </a:solidFill>
          <a:ln>
            <a:noFill/>
          </a:ln>
        </p:spPr>
        <p:txBody>
          <a:bodyPr rtlCol="0" anchor="ctr"/>
          <a:lstStyle/>
          <a:p>
            <a:pPr algn="ctr"/>
          </a:p>
        </p:txBody>
      </p:sp>
      <p:sp>
        <p:nvSpPr>
          <p:cNvPr id="135" name="Rectangle 134"/>
          <p:cNvSpPr/>
          <p:nvPr/>
        </p:nvSpPr>
        <p:spPr>
          <a:xfrm>
            <a:off x="3840480" y="4297680"/>
            <a:ext cx="228600" cy="228600"/>
          </a:xfrm>
          <a:prstGeom prst="rect">
            <a:avLst/>
          </a:prstGeom>
          <a:solidFill>
            <a:srgbClr val="F9DCCB"/>
          </a:solidFill>
          <a:ln>
            <a:noFill/>
          </a:ln>
        </p:spPr>
        <p:txBody>
          <a:bodyPr rtlCol="0" anchor="ctr"/>
          <a:lstStyle/>
          <a:p>
            <a:pPr algn="ctr"/>
          </a:p>
        </p:txBody>
      </p:sp>
      <p:sp>
        <p:nvSpPr>
          <p:cNvPr id="136" name="Rectangle 135"/>
          <p:cNvSpPr/>
          <p:nvPr/>
        </p:nvSpPr>
        <p:spPr>
          <a:xfrm>
            <a:off x="4114800" y="4297680"/>
            <a:ext cx="228600" cy="228600"/>
          </a:xfrm>
          <a:prstGeom prst="rect">
            <a:avLst/>
          </a:prstGeom>
          <a:solidFill>
            <a:srgbClr val="F9DCCB"/>
          </a:solidFill>
          <a:ln>
            <a:noFill/>
          </a:ln>
        </p:spPr>
        <p:txBody>
          <a:bodyPr rtlCol="0" anchor="ctr"/>
          <a:lstStyle/>
          <a:p>
            <a:pPr algn="ctr"/>
          </a:p>
        </p:txBody>
      </p:sp>
      <p:sp>
        <p:nvSpPr>
          <p:cNvPr id="137" name="TextBox 136"/>
          <p:cNvSpPr txBox="1"/>
          <p:nvPr/>
        </p:nvSpPr>
        <p:spPr>
          <a:xfrm>
            <a:off x="731520" y="457200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10</a:t>
            </a:r>
          </a:p>
        </p:txBody>
      </p:sp>
      <p:sp>
        <p:nvSpPr>
          <p:cNvPr id="138" name="Rectangle 137"/>
          <p:cNvSpPr/>
          <p:nvPr/>
        </p:nvSpPr>
        <p:spPr>
          <a:xfrm>
            <a:off x="1097280" y="4572000"/>
            <a:ext cx="228600" cy="228600"/>
          </a:xfrm>
          <a:prstGeom prst="rect">
            <a:avLst/>
          </a:prstGeom>
          <a:solidFill>
            <a:srgbClr val="F9DCCB"/>
          </a:solidFill>
          <a:ln>
            <a:noFill/>
          </a:ln>
        </p:spPr>
        <p:txBody>
          <a:bodyPr rtlCol="0" anchor="ctr"/>
          <a:lstStyle/>
          <a:p>
            <a:pPr algn="ctr"/>
          </a:p>
        </p:txBody>
      </p:sp>
      <p:sp>
        <p:nvSpPr>
          <p:cNvPr id="139" name="Rectangle 138"/>
          <p:cNvSpPr/>
          <p:nvPr/>
        </p:nvSpPr>
        <p:spPr>
          <a:xfrm>
            <a:off x="1371600" y="4572000"/>
            <a:ext cx="228600" cy="228600"/>
          </a:xfrm>
          <a:prstGeom prst="rect">
            <a:avLst/>
          </a:prstGeom>
          <a:solidFill>
            <a:srgbClr val="F9DCCB"/>
          </a:solidFill>
          <a:ln>
            <a:noFill/>
          </a:ln>
        </p:spPr>
        <p:txBody>
          <a:bodyPr rtlCol="0" anchor="ctr"/>
          <a:lstStyle/>
          <a:p>
            <a:pPr algn="ctr"/>
          </a:p>
        </p:txBody>
      </p:sp>
      <p:sp>
        <p:nvSpPr>
          <p:cNvPr id="140" name="Rectangle 139"/>
          <p:cNvSpPr/>
          <p:nvPr/>
        </p:nvSpPr>
        <p:spPr>
          <a:xfrm>
            <a:off x="1645920" y="4572000"/>
            <a:ext cx="228600" cy="228600"/>
          </a:xfrm>
          <a:prstGeom prst="rect">
            <a:avLst/>
          </a:prstGeom>
          <a:solidFill>
            <a:srgbClr val="F9DCCB"/>
          </a:solidFill>
          <a:ln>
            <a:noFill/>
          </a:ln>
        </p:spPr>
        <p:txBody>
          <a:bodyPr rtlCol="0" anchor="ctr"/>
          <a:lstStyle/>
          <a:p>
            <a:pPr algn="ctr"/>
          </a:p>
        </p:txBody>
      </p:sp>
      <p:sp>
        <p:nvSpPr>
          <p:cNvPr id="141" name="Rectangle 140"/>
          <p:cNvSpPr/>
          <p:nvPr/>
        </p:nvSpPr>
        <p:spPr>
          <a:xfrm>
            <a:off x="1920240" y="4572000"/>
            <a:ext cx="228600" cy="228600"/>
          </a:xfrm>
          <a:prstGeom prst="rect">
            <a:avLst/>
          </a:prstGeom>
          <a:solidFill>
            <a:srgbClr val="F9DCCB"/>
          </a:solidFill>
          <a:ln>
            <a:noFill/>
          </a:ln>
        </p:spPr>
        <p:txBody>
          <a:bodyPr rtlCol="0" anchor="ctr"/>
          <a:lstStyle/>
          <a:p>
            <a:pPr algn="ctr"/>
          </a:p>
        </p:txBody>
      </p:sp>
      <p:sp>
        <p:nvSpPr>
          <p:cNvPr id="142" name="Rectangle 141"/>
          <p:cNvSpPr/>
          <p:nvPr/>
        </p:nvSpPr>
        <p:spPr>
          <a:xfrm>
            <a:off x="2194560" y="4572000"/>
            <a:ext cx="228600" cy="228600"/>
          </a:xfrm>
          <a:prstGeom prst="rect">
            <a:avLst/>
          </a:prstGeom>
          <a:solidFill>
            <a:srgbClr val="F9DCCB"/>
          </a:solidFill>
          <a:ln>
            <a:noFill/>
          </a:ln>
        </p:spPr>
        <p:txBody>
          <a:bodyPr rtlCol="0" anchor="ctr"/>
          <a:lstStyle/>
          <a:p>
            <a:pPr algn="ctr"/>
          </a:p>
        </p:txBody>
      </p:sp>
      <p:sp>
        <p:nvSpPr>
          <p:cNvPr id="143" name="Rectangle 142"/>
          <p:cNvSpPr/>
          <p:nvPr/>
        </p:nvSpPr>
        <p:spPr>
          <a:xfrm>
            <a:off x="2468880" y="4572000"/>
            <a:ext cx="228600" cy="228600"/>
          </a:xfrm>
          <a:prstGeom prst="rect">
            <a:avLst/>
          </a:prstGeom>
          <a:solidFill>
            <a:srgbClr val="F9DCCB"/>
          </a:solidFill>
          <a:ln>
            <a:noFill/>
          </a:ln>
        </p:spPr>
        <p:txBody>
          <a:bodyPr rtlCol="0" anchor="ctr"/>
          <a:lstStyle/>
          <a:p>
            <a:pPr algn="ctr"/>
          </a:p>
        </p:txBody>
      </p:sp>
      <p:sp>
        <p:nvSpPr>
          <p:cNvPr id="144" name="Rectangle 143"/>
          <p:cNvSpPr/>
          <p:nvPr/>
        </p:nvSpPr>
        <p:spPr>
          <a:xfrm>
            <a:off x="2743200" y="4572000"/>
            <a:ext cx="228600" cy="228600"/>
          </a:xfrm>
          <a:prstGeom prst="rect">
            <a:avLst/>
          </a:prstGeom>
          <a:solidFill>
            <a:srgbClr val="F9DCCB"/>
          </a:solidFill>
          <a:ln>
            <a:noFill/>
          </a:ln>
        </p:spPr>
        <p:txBody>
          <a:bodyPr rtlCol="0" anchor="ctr"/>
          <a:lstStyle/>
          <a:p>
            <a:pPr algn="ctr"/>
          </a:p>
        </p:txBody>
      </p:sp>
      <p:sp>
        <p:nvSpPr>
          <p:cNvPr id="145" name="Rectangle 144"/>
          <p:cNvSpPr/>
          <p:nvPr/>
        </p:nvSpPr>
        <p:spPr>
          <a:xfrm>
            <a:off x="3017520" y="4572000"/>
            <a:ext cx="228600" cy="228600"/>
          </a:xfrm>
          <a:prstGeom prst="rect">
            <a:avLst/>
          </a:prstGeom>
          <a:solidFill>
            <a:srgbClr val="F9DCCB"/>
          </a:solidFill>
          <a:ln>
            <a:noFill/>
          </a:ln>
        </p:spPr>
        <p:txBody>
          <a:bodyPr rtlCol="0" anchor="ctr"/>
          <a:lstStyle/>
          <a:p>
            <a:pPr algn="ctr"/>
          </a:p>
        </p:txBody>
      </p:sp>
      <p:sp>
        <p:nvSpPr>
          <p:cNvPr id="146" name="Rectangle 145"/>
          <p:cNvSpPr/>
          <p:nvPr/>
        </p:nvSpPr>
        <p:spPr>
          <a:xfrm>
            <a:off x="3291840" y="4572000"/>
            <a:ext cx="228600" cy="228600"/>
          </a:xfrm>
          <a:prstGeom prst="rect">
            <a:avLst/>
          </a:prstGeom>
          <a:solidFill>
            <a:srgbClr val="F9DCCB"/>
          </a:solidFill>
          <a:ln>
            <a:noFill/>
          </a:ln>
        </p:spPr>
        <p:txBody>
          <a:bodyPr rtlCol="0" anchor="ctr"/>
          <a:lstStyle/>
          <a:p>
            <a:pPr algn="ctr"/>
          </a:p>
        </p:txBody>
      </p:sp>
      <p:sp>
        <p:nvSpPr>
          <p:cNvPr id="147" name="Rectangle 146"/>
          <p:cNvSpPr/>
          <p:nvPr/>
        </p:nvSpPr>
        <p:spPr>
          <a:xfrm>
            <a:off x="3566160" y="4572000"/>
            <a:ext cx="228600" cy="228600"/>
          </a:xfrm>
          <a:prstGeom prst="rect">
            <a:avLst/>
          </a:prstGeom>
          <a:solidFill>
            <a:srgbClr val="D8602A"/>
          </a:solidFill>
          <a:ln>
            <a:noFill/>
          </a:ln>
        </p:spPr>
        <p:txBody>
          <a:bodyPr rtlCol="0" anchor="ctr"/>
          <a:lstStyle/>
          <a:p>
            <a:pPr algn="ctr"/>
          </a:p>
        </p:txBody>
      </p:sp>
      <p:sp>
        <p:nvSpPr>
          <p:cNvPr id="148" name="Rectangle 147"/>
          <p:cNvSpPr/>
          <p:nvPr/>
        </p:nvSpPr>
        <p:spPr>
          <a:xfrm>
            <a:off x="3840480" y="4572000"/>
            <a:ext cx="228600" cy="228600"/>
          </a:xfrm>
          <a:prstGeom prst="rect">
            <a:avLst/>
          </a:prstGeom>
          <a:solidFill>
            <a:srgbClr val="F9DCCB"/>
          </a:solidFill>
          <a:ln>
            <a:noFill/>
          </a:ln>
        </p:spPr>
        <p:txBody>
          <a:bodyPr rtlCol="0" anchor="ctr"/>
          <a:lstStyle/>
          <a:p>
            <a:pPr algn="ctr"/>
          </a:p>
        </p:txBody>
      </p:sp>
      <p:sp>
        <p:nvSpPr>
          <p:cNvPr id="149" name="Rectangle 148"/>
          <p:cNvSpPr/>
          <p:nvPr/>
        </p:nvSpPr>
        <p:spPr>
          <a:xfrm>
            <a:off x="4114800" y="4572000"/>
            <a:ext cx="228600" cy="228600"/>
          </a:xfrm>
          <a:prstGeom prst="rect">
            <a:avLst/>
          </a:prstGeom>
          <a:solidFill>
            <a:srgbClr val="F9DCCB"/>
          </a:solidFill>
          <a:ln>
            <a:noFill/>
          </a:ln>
        </p:spPr>
        <p:txBody>
          <a:bodyPr rtlCol="0" anchor="ctr"/>
          <a:lstStyle/>
          <a:p>
            <a:pPr algn="ctr"/>
          </a:p>
        </p:txBody>
      </p:sp>
      <p:sp>
        <p:nvSpPr>
          <p:cNvPr id="150" name="TextBox 149"/>
          <p:cNvSpPr txBox="1"/>
          <p:nvPr/>
        </p:nvSpPr>
        <p:spPr>
          <a:xfrm>
            <a:off x="731520" y="48463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11</a:t>
            </a:r>
          </a:p>
        </p:txBody>
      </p:sp>
      <p:sp>
        <p:nvSpPr>
          <p:cNvPr id="151" name="Rectangle 150"/>
          <p:cNvSpPr/>
          <p:nvPr/>
        </p:nvSpPr>
        <p:spPr>
          <a:xfrm>
            <a:off x="1097280" y="4846320"/>
            <a:ext cx="228600" cy="228600"/>
          </a:xfrm>
          <a:prstGeom prst="rect">
            <a:avLst/>
          </a:prstGeom>
          <a:solidFill>
            <a:srgbClr val="F9DCCB"/>
          </a:solidFill>
          <a:ln>
            <a:noFill/>
          </a:ln>
        </p:spPr>
        <p:txBody>
          <a:bodyPr rtlCol="0" anchor="ctr"/>
          <a:lstStyle/>
          <a:p>
            <a:pPr algn="ctr"/>
          </a:p>
        </p:txBody>
      </p:sp>
      <p:sp>
        <p:nvSpPr>
          <p:cNvPr id="152" name="Rectangle 151"/>
          <p:cNvSpPr/>
          <p:nvPr/>
        </p:nvSpPr>
        <p:spPr>
          <a:xfrm>
            <a:off x="1371600" y="4846320"/>
            <a:ext cx="228600" cy="228600"/>
          </a:xfrm>
          <a:prstGeom prst="rect">
            <a:avLst/>
          </a:prstGeom>
          <a:solidFill>
            <a:srgbClr val="F9DCCB"/>
          </a:solidFill>
          <a:ln>
            <a:noFill/>
          </a:ln>
        </p:spPr>
        <p:txBody>
          <a:bodyPr rtlCol="0" anchor="ctr"/>
          <a:lstStyle/>
          <a:p>
            <a:pPr algn="ctr"/>
          </a:p>
        </p:txBody>
      </p:sp>
      <p:sp>
        <p:nvSpPr>
          <p:cNvPr id="153" name="Rectangle 152"/>
          <p:cNvSpPr/>
          <p:nvPr/>
        </p:nvSpPr>
        <p:spPr>
          <a:xfrm>
            <a:off x="1645920" y="4846320"/>
            <a:ext cx="228600" cy="228600"/>
          </a:xfrm>
          <a:prstGeom prst="rect">
            <a:avLst/>
          </a:prstGeom>
          <a:solidFill>
            <a:srgbClr val="F9DCCB"/>
          </a:solidFill>
          <a:ln>
            <a:noFill/>
          </a:ln>
        </p:spPr>
        <p:txBody>
          <a:bodyPr rtlCol="0" anchor="ctr"/>
          <a:lstStyle/>
          <a:p>
            <a:pPr algn="ctr"/>
          </a:p>
        </p:txBody>
      </p:sp>
      <p:sp>
        <p:nvSpPr>
          <p:cNvPr id="154" name="Rectangle 153"/>
          <p:cNvSpPr/>
          <p:nvPr/>
        </p:nvSpPr>
        <p:spPr>
          <a:xfrm>
            <a:off x="1920240" y="4846320"/>
            <a:ext cx="228600" cy="228600"/>
          </a:xfrm>
          <a:prstGeom prst="rect">
            <a:avLst/>
          </a:prstGeom>
          <a:solidFill>
            <a:srgbClr val="F9DCCB"/>
          </a:solidFill>
          <a:ln>
            <a:noFill/>
          </a:ln>
        </p:spPr>
        <p:txBody>
          <a:bodyPr rtlCol="0" anchor="ctr"/>
          <a:lstStyle/>
          <a:p>
            <a:pPr algn="ctr"/>
          </a:p>
        </p:txBody>
      </p:sp>
      <p:sp>
        <p:nvSpPr>
          <p:cNvPr id="155" name="Rectangle 154"/>
          <p:cNvSpPr/>
          <p:nvPr/>
        </p:nvSpPr>
        <p:spPr>
          <a:xfrm>
            <a:off x="2194560" y="4846320"/>
            <a:ext cx="228600" cy="228600"/>
          </a:xfrm>
          <a:prstGeom prst="rect">
            <a:avLst/>
          </a:prstGeom>
          <a:solidFill>
            <a:srgbClr val="F9DCCB"/>
          </a:solidFill>
          <a:ln>
            <a:noFill/>
          </a:ln>
        </p:spPr>
        <p:txBody>
          <a:bodyPr rtlCol="0" anchor="ctr"/>
          <a:lstStyle/>
          <a:p>
            <a:pPr algn="ctr"/>
          </a:p>
        </p:txBody>
      </p:sp>
      <p:sp>
        <p:nvSpPr>
          <p:cNvPr id="156" name="Rectangle 155"/>
          <p:cNvSpPr/>
          <p:nvPr/>
        </p:nvSpPr>
        <p:spPr>
          <a:xfrm>
            <a:off x="2468880" y="4846320"/>
            <a:ext cx="228600" cy="228600"/>
          </a:xfrm>
          <a:prstGeom prst="rect">
            <a:avLst/>
          </a:prstGeom>
          <a:solidFill>
            <a:srgbClr val="F9DCCB"/>
          </a:solidFill>
          <a:ln>
            <a:noFill/>
          </a:ln>
        </p:spPr>
        <p:txBody>
          <a:bodyPr rtlCol="0" anchor="ctr"/>
          <a:lstStyle/>
          <a:p>
            <a:pPr algn="ctr"/>
          </a:p>
        </p:txBody>
      </p:sp>
      <p:sp>
        <p:nvSpPr>
          <p:cNvPr id="157" name="Rectangle 156"/>
          <p:cNvSpPr/>
          <p:nvPr/>
        </p:nvSpPr>
        <p:spPr>
          <a:xfrm>
            <a:off x="2743200" y="4846320"/>
            <a:ext cx="228600" cy="228600"/>
          </a:xfrm>
          <a:prstGeom prst="rect">
            <a:avLst/>
          </a:prstGeom>
          <a:solidFill>
            <a:srgbClr val="F9DCCB"/>
          </a:solidFill>
          <a:ln>
            <a:noFill/>
          </a:ln>
        </p:spPr>
        <p:txBody>
          <a:bodyPr rtlCol="0" anchor="ctr"/>
          <a:lstStyle/>
          <a:p>
            <a:pPr algn="ctr"/>
          </a:p>
        </p:txBody>
      </p:sp>
      <p:sp>
        <p:nvSpPr>
          <p:cNvPr id="158" name="Rectangle 157"/>
          <p:cNvSpPr/>
          <p:nvPr/>
        </p:nvSpPr>
        <p:spPr>
          <a:xfrm>
            <a:off x="3017520" y="4846320"/>
            <a:ext cx="228600" cy="228600"/>
          </a:xfrm>
          <a:prstGeom prst="rect">
            <a:avLst/>
          </a:prstGeom>
          <a:solidFill>
            <a:srgbClr val="F9DCCB"/>
          </a:solidFill>
          <a:ln>
            <a:noFill/>
          </a:ln>
        </p:spPr>
        <p:txBody>
          <a:bodyPr rtlCol="0" anchor="ctr"/>
          <a:lstStyle/>
          <a:p>
            <a:pPr algn="ctr"/>
          </a:p>
        </p:txBody>
      </p:sp>
      <p:sp>
        <p:nvSpPr>
          <p:cNvPr id="159" name="Rectangle 158"/>
          <p:cNvSpPr/>
          <p:nvPr/>
        </p:nvSpPr>
        <p:spPr>
          <a:xfrm>
            <a:off x="3291840" y="4846320"/>
            <a:ext cx="228600" cy="228600"/>
          </a:xfrm>
          <a:prstGeom prst="rect">
            <a:avLst/>
          </a:prstGeom>
          <a:solidFill>
            <a:srgbClr val="F9DCCB"/>
          </a:solidFill>
          <a:ln>
            <a:noFill/>
          </a:ln>
        </p:spPr>
        <p:txBody>
          <a:bodyPr rtlCol="0" anchor="ctr"/>
          <a:lstStyle/>
          <a:p>
            <a:pPr algn="ctr"/>
          </a:p>
        </p:txBody>
      </p:sp>
      <p:sp>
        <p:nvSpPr>
          <p:cNvPr id="160" name="Rectangle 159"/>
          <p:cNvSpPr/>
          <p:nvPr/>
        </p:nvSpPr>
        <p:spPr>
          <a:xfrm>
            <a:off x="3566160" y="4846320"/>
            <a:ext cx="228600" cy="228600"/>
          </a:xfrm>
          <a:prstGeom prst="rect">
            <a:avLst/>
          </a:prstGeom>
          <a:solidFill>
            <a:srgbClr val="F9DCCB"/>
          </a:solidFill>
          <a:ln>
            <a:noFill/>
          </a:ln>
        </p:spPr>
        <p:txBody>
          <a:bodyPr rtlCol="0" anchor="ctr"/>
          <a:lstStyle/>
          <a:p>
            <a:pPr algn="ctr"/>
          </a:p>
        </p:txBody>
      </p:sp>
      <p:sp>
        <p:nvSpPr>
          <p:cNvPr id="161" name="Rectangle 160"/>
          <p:cNvSpPr/>
          <p:nvPr/>
        </p:nvSpPr>
        <p:spPr>
          <a:xfrm>
            <a:off x="3840480" y="4846320"/>
            <a:ext cx="228600" cy="228600"/>
          </a:xfrm>
          <a:prstGeom prst="rect">
            <a:avLst/>
          </a:prstGeom>
          <a:solidFill>
            <a:srgbClr val="D8602A"/>
          </a:solidFill>
          <a:ln>
            <a:noFill/>
          </a:ln>
        </p:spPr>
        <p:txBody>
          <a:bodyPr rtlCol="0" anchor="ctr"/>
          <a:lstStyle/>
          <a:p>
            <a:pPr algn="ctr"/>
          </a:p>
        </p:txBody>
      </p:sp>
      <p:sp>
        <p:nvSpPr>
          <p:cNvPr id="162" name="Rectangle 161"/>
          <p:cNvSpPr/>
          <p:nvPr/>
        </p:nvSpPr>
        <p:spPr>
          <a:xfrm>
            <a:off x="4114800" y="4846320"/>
            <a:ext cx="228600" cy="228600"/>
          </a:xfrm>
          <a:prstGeom prst="rect">
            <a:avLst/>
          </a:prstGeom>
          <a:solidFill>
            <a:srgbClr val="F9DCCB"/>
          </a:solidFill>
          <a:ln>
            <a:noFill/>
          </a:ln>
        </p:spPr>
        <p:txBody>
          <a:bodyPr rtlCol="0" anchor="ctr"/>
          <a:lstStyle/>
          <a:p>
            <a:pPr algn="ctr"/>
          </a:p>
        </p:txBody>
      </p:sp>
      <p:sp>
        <p:nvSpPr>
          <p:cNvPr id="163" name="TextBox 162"/>
          <p:cNvSpPr txBox="1"/>
          <p:nvPr/>
        </p:nvSpPr>
        <p:spPr>
          <a:xfrm>
            <a:off x="731520" y="51206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12</a:t>
            </a:r>
          </a:p>
        </p:txBody>
      </p:sp>
      <p:sp>
        <p:nvSpPr>
          <p:cNvPr id="164" name="Rectangle 163"/>
          <p:cNvSpPr/>
          <p:nvPr/>
        </p:nvSpPr>
        <p:spPr>
          <a:xfrm>
            <a:off x="1097280" y="5120640"/>
            <a:ext cx="228600" cy="228600"/>
          </a:xfrm>
          <a:prstGeom prst="rect">
            <a:avLst/>
          </a:prstGeom>
          <a:solidFill>
            <a:srgbClr val="F9DCCB"/>
          </a:solidFill>
          <a:ln>
            <a:noFill/>
          </a:ln>
        </p:spPr>
        <p:txBody>
          <a:bodyPr rtlCol="0" anchor="ctr"/>
          <a:lstStyle/>
          <a:p>
            <a:pPr algn="ctr"/>
          </a:p>
        </p:txBody>
      </p:sp>
      <p:sp>
        <p:nvSpPr>
          <p:cNvPr id="165" name="Rectangle 164"/>
          <p:cNvSpPr/>
          <p:nvPr/>
        </p:nvSpPr>
        <p:spPr>
          <a:xfrm>
            <a:off x="1371600" y="5120640"/>
            <a:ext cx="228600" cy="228600"/>
          </a:xfrm>
          <a:prstGeom prst="rect">
            <a:avLst/>
          </a:prstGeom>
          <a:solidFill>
            <a:srgbClr val="F9DCCB"/>
          </a:solidFill>
          <a:ln>
            <a:noFill/>
          </a:ln>
        </p:spPr>
        <p:txBody>
          <a:bodyPr rtlCol="0" anchor="ctr"/>
          <a:lstStyle/>
          <a:p>
            <a:pPr algn="ctr"/>
          </a:p>
        </p:txBody>
      </p:sp>
      <p:sp>
        <p:nvSpPr>
          <p:cNvPr id="166" name="Rectangle 165"/>
          <p:cNvSpPr/>
          <p:nvPr/>
        </p:nvSpPr>
        <p:spPr>
          <a:xfrm>
            <a:off x="1645920" y="5120640"/>
            <a:ext cx="228600" cy="228600"/>
          </a:xfrm>
          <a:prstGeom prst="rect">
            <a:avLst/>
          </a:prstGeom>
          <a:solidFill>
            <a:srgbClr val="F9DCCB"/>
          </a:solidFill>
          <a:ln>
            <a:noFill/>
          </a:ln>
        </p:spPr>
        <p:txBody>
          <a:bodyPr rtlCol="0" anchor="ctr"/>
          <a:lstStyle/>
          <a:p>
            <a:pPr algn="ctr"/>
          </a:p>
        </p:txBody>
      </p:sp>
      <p:sp>
        <p:nvSpPr>
          <p:cNvPr id="167" name="Rectangle 166"/>
          <p:cNvSpPr/>
          <p:nvPr/>
        </p:nvSpPr>
        <p:spPr>
          <a:xfrm>
            <a:off x="1920240" y="5120640"/>
            <a:ext cx="228600" cy="228600"/>
          </a:xfrm>
          <a:prstGeom prst="rect">
            <a:avLst/>
          </a:prstGeom>
          <a:solidFill>
            <a:srgbClr val="F9DCCB"/>
          </a:solidFill>
          <a:ln>
            <a:noFill/>
          </a:ln>
        </p:spPr>
        <p:txBody>
          <a:bodyPr rtlCol="0" anchor="ctr"/>
          <a:lstStyle/>
          <a:p>
            <a:pPr algn="ctr"/>
          </a:p>
        </p:txBody>
      </p:sp>
      <p:sp>
        <p:nvSpPr>
          <p:cNvPr id="168" name="Rectangle 167"/>
          <p:cNvSpPr/>
          <p:nvPr/>
        </p:nvSpPr>
        <p:spPr>
          <a:xfrm>
            <a:off x="2194560" y="5120640"/>
            <a:ext cx="228600" cy="228600"/>
          </a:xfrm>
          <a:prstGeom prst="rect">
            <a:avLst/>
          </a:prstGeom>
          <a:solidFill>
            <a:srgbClr val="F9DCCB"/>
          </a:solidFill>
          <a:ln>
            <a:noFill/>
          </a:ln>
        </p:spPr>
        <p:txBody>
          <a:bodyPr rtlCol="0" anchor="ctr"/>
          <a:lstStyle/>
          <a:p>
            <a:pPr algn="ctr"/>
          </a:p>
        </p:txBody>
      </p:sp>
      <p:sp>
        <p:nvSpPr>
          <p:cNvPr id="169" name="Rectangle 168"/>
          <p:cNvSpPr/>
          <p:nvPr/>
        </p:nvSpPr>
        <p:spPr>
          <a:xfrm>
            <a:off x="2468880" y="5120640"/>
            <a:ext cx="228600" cy="228600"/>
          </a:xfrm>
          <a:prstGeom prst="rect">
            <a:avLst/>
          </a:prstGeom>
          <a:solidFill>
            <a:srgbClr val="F9DCCB"/>
          </a:solidFill>
          <a:ln>
            <a:noFill/>
          </a:ln>
        </p:spPr>
        <p:txBody>
          <a:bodyPr rtlCol="0" anchor="ctr"/>
          <a:lstStyle/>
          <a:p>
            <a:pPr algn="ctr"/>
          </a:p>
        </p:txBody>
      </p:sp>
      <p:sp>
        <p:nvSpPr>
          <p:cNvPr id="170" name="Rectangle 169"/>
          <p:cNvSpPr/>
          <p:nvPr/>
        </p:nvSpPr>
        <p:spPr>
          <a:xfrm>
            <a:off x="2743200" y="5120640"/>
            <a:ext cx="228600" cy="228600"/>
          </a:xfrm>
          <a:prstGeom prst="rect">
            <a:avLst/>
          </a:prstGeom>
          <a:solidFill>
            <a:srgbClr val="F9DCCB"/>
          </a:solidFill>
          <a:ln>
            <a:noFill/>
          </a:ln>
        </p:spPr>
        <p:txBody>
          <a:bodyPr rtlCol="0" anchor="ctr"/>
          <a:lstStyle/>
          <a:p>
            <a:pPr algn="ctr"/>
          </a:p>
        </p:txBody>
      </p:sp>
      <p:sp>
        <p:nvSpPr>
          <p:cNvPr id="171" name="Rectangle 170"/>
          <p:cNvSpPr/>
          <p:nvPr/>
        </p:nvSpPr>
        <p:spPr>
          <a:xfrm>
            <a:off x="3017520" y="5120640"/>
            <a:ext cx="228600" cy="228600"/>
          </a:xfrm>
          <a:prstGeom prst="rect">
            <a:avLst/>
          </a:prstGeom>
          <a:solidFill>
            <a:srgbClr val="F9DCCB"/>
          </a:solidFill>
          <a:ln>
            <a:noFill/>
          </a:ln>
        </p:spPr>
        <p:txBody>
          <a:bodyPr rtlCol="0" anchor="ctr"/>
          <a:lstStyle/>
          <a:p>
            <a:pPr algn="ctr"/>
          </a:p>
        </p:txBody>
      </p:sp>
      <p:sp>
        <p:nvSpPr>
          <p:cNvPr id="172" name="Rectangle 171"/>
          <p:cNvSpPr/>
          <p:nvPr/>
        </p:nvSpPr>
        <p:spPr>
          <a:xfrm>
            <a:off x="3291840" y="5120640"/>
            <a:ext cx="228600" cy="228600"/>
          </a:xfrm>
          <a:prstGeom prst="rect">
            <a:avLst/>
          </a:prstGeom>
          <a:solidFill>
            <a:srgbClr val="F9DCCB"/>
          </a:solidFill>
          <a:ln>
            <a:noFill/>
          </a:ln>
        </p:spPr>
        <p:txBody>
          <a:bodyPr rtlCol="0" anchor="ctr"/>
          <a:lstStyle/>
          <a:p>
            <a:pPr algn="ctr"/>
          </a:p>
        </p:txBody>
      </p:sp>
      <p:sp>
        <p:nvSpPr>
          <p:cNvPr id="173" name="Rectangle 172"/>
          <p:cNvSpPr/>
          <p:nvPr/>
        </p:nvSpPr>
        <p:spPr>
          <a:xfrm>
            <a:off x="3566160" y="5120640"/>
            <a:ext cx="228600" cy="228600"/>
          </a:xfrm>
          <a:prstGeom prst="rect">
            <a:avLst/>
          </a:prstGeom>
          <a:solidFill>
            <a:srgbClr val="F9DCCB"/>
          </a:solidFill>
          <a:ln>
            <a:noFill/>
          </a:ln>
        </p:spPr>
        <p:txBody>
          <a:bodyPr rtlCol="0" anchor="ctr"/>
          <a:lstStyle/>
          <a:p>
            <a:pPr algn="ctr"/>
          </a:p>
        </p:txBody>
      </p:sp>
      <p:sp>
        <p:nvSpPr>
          <p:cNvPr id="174" name="Rectangle 173"/>
          <p:cNvSpPr/>
          <p:nvPr/>
        </p:nvSpPr>
        <p:spPr>
          <a:xfrm>
            <a:off x="3840480" y="5120640"/>
            <a:ext cx="228600" cy="228600"/>
          </a:xfrm>
          <a:prstGeom prst="rect">
            <a:avLst/>
          </a:prstGeom>
          <a:solidFill>
            <a:srgbClr val="F9DCCB"/>
          </a:solidFill>
          <a:ln>
            <a:noFill/>
          </a:ln>
        </p:spPr>
        <p:txBody>
          <a:bodyPr rtlCol="0" anchor="ctr"/>
          <a:lstStyle/>
          <a:p>
            <a:pPr algn="ctr"/>
          </a:p>
        </p:txBody>
      </p:sp>
      <p:sp>
        <p:nvSpPr>
          <p:cNvPr id="175" name="Rectangle 174"/>
          <p:cNvSpPr/>
          <p:nvPr/>
        </p:nvSpPr>
        <p:spPr>
          <a:xfrm>
            <a:off x="4114800" y="5120640"/>
            <a:ext cx="228600" cy="228600"/>
          </a:xfrm>
          <a:prstGeom prst="rect">
            <a:avLst/>
          </a:prstGeom>
          <a:solidFill>
            <a:srgbClr val="D8602A"/>
          </a:solidFill>
          <a:ln>
            <a:noFill/>
          </a:ln>
        </p:spPr>
        <p:txBody>
          <a:bodyPr rtlCol="0" anchor="ctr"/>
          <a:lstStyle/>
          <a:p>
            <a:pPr algn="ctr"/>
          </a:p>
        </p:txBody>
      </p:sp>
      <p:sp>
        <p:nvSpPr>
          <p:cNvPr id="176" name="TextBox 175"/>
          <p:cNvSpPr txBox="1"/>
          <p:nvPr/>
        </p:nvSpPr>
        <p:spPr>
          <a:xfrm rot="16200000">
            <a:off x="-137160" y="3630168"/>
            <a:ext cx="1645920" cy="237744"/>
          </a:xfrm>
          <a:prstGeom prst="rect">
            <a:avLst/>
          </a:prstGeom>
          <a:noFill/>
        </p:spPr>
        <p:txBody>
          <a:bodyPr wrap="square" lIns="0" tIns="0" rIns="0" bIns="0">
            <a:spAutoFit/>
          </a:bodyPr>
          <a:lstStyle/>
          <a:p>
            <a:pPr algn="ctr">
              <a:lnSpc>
                <a:spcPct val="105000"/>
              </a:lnSpc>
            </a:pPr>
            <a:r>
              <a:rPr sz="1000" b="1">
                <a:solidFill>
                  <a:srgbClr val="4B5563"/>
                </a:solidFill>
                <a:latin typeface="Arial"/>
              </a:rPr>
              <a:t>Member</a:t>
            </a:r>
          </a:p>
        </p:txBody>
      </p:sp>
      <p:sp>
        <p:nvSpPr>
          <p:cNvPr id="177" name="Rectangle 176"/>
          <p:cNvSpPr/>
          <p:nvPr/>
        </p:nvSpPr>
        <p:spPr>
          <a:xfrm>
            <a:off x="1097280" y="5541264"/>
            <a:ext cx="146304" cy="146304"/>
          </a:xfrm>
          <a:prstGeom prst="rect">
            <a:avLst/>
          </a:prstGeom>
          <a:solidFill>
            <a:srgbClr val="D8602A"/>
          </a:solidFill>
          <a:ln>
            <a:noFill/>
          </a:ln>
        </p:spPr>
        <p:txBody>
          <a:bodyPr rtlCol="0" anchor="ctr"/>
          <a:lstStyle/>
          <a:p>
            <a:pPr algn="ctr"/>
          </a:p>
        </p:txBody>
      </p:sp>
      <p:sp>
        <p:nvSpPr>
          <p:cNvPr id="178" name="TextBox 177"/>
          <p:cNvSpPr txBox="1"/>
          <p:nvPr/>
        </p:nvSpPr>
        <p:spPr>
          <a:xfrm>
            <a:off x="1316736" y="5504688"/>
            <a:ext cx="1828800" cy="219456"/>
          </a:xfrm>
          <a:prstGeom prst="rect">
            <a:avLst/>
          </a:prstGeom>
          <a:noFill/>
        </p:spPr>
        <p:txBody>
          <a:bodyPr wrap="square" lIns="0" tIns="0" rIns="0" bIns="0">
            <a:spAutoFit/>
          </a:bodyPr>
          <a:lstStyle/>
          <a:p>
            <a:pPr>
              <a:lnSpc>
                <a:spcPct val="105000"/>
              </a:lnSpc>
            </a:pPr>
            <a:r>
              <a:rPr sz="1000">
                <a:solidFill>
                  <a:srgbClr val="4B5563"/>
                </a:solidFill>
                <a:latin typeface="Arial"/>
              </a:rPr>
              <a:t>collects Rs 120,000</a:t>
            </a:r>
          </a:p>
        </p:txBody>
      </p:sp>
      <p:sp>
        <p:nvSpPr>
          <p:cNvPr id="179" name="Rectangle 178"/>
          <p:cNvSpPr/>
          <p:nvPr/>
        </p:nvSpPr>
        <p:spPr>
          <a:xfrm>
            <a:off x="2971800" y="5541264"/>
            <a:ext cx="146304" cy="146304"/>
          </a:xfrm>
          <a:prstGeom prst="rect">
            <a:avLst/>
          </a:prstGeom>
          <a:solidFill>
            <a:srgbClr val="F9DCCB"/>
          </a:solidFill>
          <a:ln>
            <a:noFill/>
          </a:ln>
        </p:spPr>
        <p:txBody>
          <a:bodyPr rtlCol="0" anchor="ctr"/>
          <a:lstStyle/>
          <a:p>
            <a:pPr algn="ctr"/>
          </a:p>
        </p:txBody>
      </p:sp>
      <p:sp>
        <p:nvSpPr>
          <p:cNvPr id="180" name="TextBox 179"/>
          <p:cNvSpPr txBox="1"/>
          <p:nvPr/>
        </p:nvSpPr>
        <p:spPr>
          <a:xfrm>
            <a:off x="3191256" y="5504688"/>
            <a:ext cx="1463040" cy="219456"/>
          </a:xfrm>
          <a:prstGeom prst="rect">
            <a:avLst/>
          </a:prstGeom>
          <a:noFill/>
        </p:spPr>
        <p:txBody>
          <a:bodyPr wrap="square" lIns="0" tIns="0" rIns="0" bIns="0">
            <a:spAutoFit/>
          </a:bodyPr>
          <a:lstStyle/>
          <a:p>
            <a:pPr>
              <a:lnSpc>
                <a:spcPct val="105000"/>
              </a:lnSpc>
            </a:pPr>
            <a:r>
              <a:rPr sz="1000">
                <a:solidFill>
                  <a:srgbClr val="4B5563"/>
                </a:solidFill>
                <a:latin typeface="Arial"/>
              </a:rPr>
              <a:t>pays Rs 10,000</a:t>
            </a:r>
          </a:p>
        </p:txBody>
      </p:sp>
      <p:sp>
        <p:nvSpPr>
          <p:cNvPr id="181" name="TextBox 180"/>
          <p:cNvSpPr txBox="1"/>
          <p:nvPr/>
        </p:nvSpPr>
        <p:spPr>
          <a:xfrm>
            <a:off x="5074920" y="1481328"/>
            <a:ext cx="6568135" cy="274320"/>
          </a:xfrm>
          <a:prstGeom prst="rect">
            <a:avLst/>
          </a:prstGeom>
          <a:noFill/>
        </p:spPr>
        <p:txBody>
          <a:bodyPr wrap="square" lIns="0" tIns="0" rIns="0" bIns="0">
            <a:spAutoFit/>
          </a:bodyPr>
          <a:lstStyle/>
          <a:p>
            <a:pPr>
              <a:lnSpc>
                <a:spcPct val="100000"/>
              </a:lnSpc>
            </a:pPr>
            <a:r>
              <a:rPr sz="1200" b="1">
                <a:solidFill>
                  <a:srgbClr val="0C1408"/>
                </a:solidFill>
                <a:latin typeface="Arial"/>
              </a:rPr>
              <a:t>Net position of two members after each month</a:t>
            </a:r>
            <a:r>
              <a:rPr sz="1100">
                <a:solidFill>
                  <a:srgbClr val="6B7280"/>
                </a:solidFill>
                <a:latin typeface="Arial"/>
              </a:rPr>
              <a:t>   Rs thousand</a:t>
            </a:r>
          </a:p>
        </p:txBody>
      </p:sp>
      <p:graphicFrame>
        <p:nvGraphicFramePr>
          <p:cNvPr id="182" name="Chart 181"/>
          <p:cNvGraphicFramePr>
            <a:graphicFrameLocks noGrp="1"/>
          </p:cNvGraphicFramePr>
          <p:nvPr/>
        </p:nvGraphicFramePr>
        <p:xfrm>
          <a:off x="4983480" y="1783080"/>
          <a:ext cx="6705295" cy="2926080"/>
        </p:xfrm>
        <a:graphic>
          <a:graphicData uri="http://schemas.openxmlformats.org/drawingml/2006/chart">
            <c:chart xmlns:c="http://schemas.openxmlformats.org/drawingml/2006/chart" r:id="rId3"/>
          </a:graphicData>
        </a:graphic>
      </p:graphicFrame>
      <p:sp>
        <p:nvSpPr>
          <p:cNvPr id="183" name="TextBox 182"/>
          <p:cNvSpPr txBox="1"/>
          <p:nvPr/>
        </p:nvSpPr>
        <p:spPr>
          <a:xfrm>
            <a:off x="5074920" y="4718304"/>
            <a:ext cx="6568135" cy="457200"/>
          </a:xfrm>
          <a:prstGeom prst="rect">
            <a:avLst/>
          </a:prstGeom>
          <a:noFill/>
        </p:spPr>
        <p:txBody>
          <a:bodyPr wrap="square" lIns="0" tIns="0" rIns="0" bIns="0">
            <a:spAutoFit/>
          </a:bodyPr>
          <a:lstStyle/>
          <a:p>
            <a:pPr>
              <a:lnSpc>
                <a:spcPct val="103000"/>
              </a:lnSpc>
            </a:pPr>
            <a:r>
              <a:rPr sz="1050">
                <a:solidFill>
                  <a:srgbClr val="4B5563"/>
                </a:solidFill>
                <a:latin typeface="Arial"/>
              </a:rPr>
              <a:t>Turn 1 takes Rs 120,000 at once and repays it over the year. Turn 12 saves every month and takes the pot last. Both end the year at zero.</a:t>
            </a:r>
          </a:p>
        </p:txBody>
      </p:sp>
      <p:sp>
        <p:nvSpPr>
          <p:cNvPr id="184" name="TextBox 183"/>
          <p:cNvSpPr txBox="1"/>
          <p:nvPr/>
        </p:nvSpPr>
        <p:spPr>
          <a:xfrm>
            <a:off x="5074920"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Rs 120,000</a:t>
            </a:r>
          </a:p>
        </p:txBody>
      </p:sp>
      <p:sp>
        <p:nvSpPr>
          <p:cNvPr id="185" name="TextBox 184"/>
          <p:cNvSpPr txBox="1"/>
          <p:nvPr/>
        </p:nvSpPr>
        <p:spPr>
          <a:xfrm>
            <a:off x="5074920"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the pot, paid to one member each month</a:t>
            </a:r>
          </a:p>
        </p:txBody>
      </p:sp>
      <p:sp>
        <p:nvSpPr>
          <p:cNvPr id="186" name="TextBox 185"/>
          <p:cNvSpPr txBox="1"/>
          <p:nvPr/>
        </p:nvSpPr>
        <p:spPr>
          <a:xfrm>
            <a:off x="7264298"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No interest</a:t>
            </a:r>
          </a:p>
        </p:txBody>
      </p:sp>
      <p:sp>
        <p:nvSpPr>
          <p:cNvPr id="187" name="TextBox 186"/>
          <p:cNvSpPr txBox="1"/>
          <p:nvPr/>
        </p:nvSpPr>
        <p:spPr>
          <a:xfrm>
            <a:off x="7264298"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each member pays in Rs 120,000 and receives Rs 120,000</a:t>
            </a:r>
          </a:p>
        </p:txBody>
      </p:sp>
      <p:sp>
        <p:nvSpPr>
          <p:cNvPr id="188" name="TextBox 187"/>
          <p:cNvSpPr txBox="1"/>
          <p:nvPr/>
        </p:nvSpPr>
        <p:spPr>
          <a:xfrm>
            <a:off x="9453677" y="5285232"/>
            <a:ext cx="2006498" cy="338328"/>
          </a:xfrm>
          <a:prstGeom prst="rect">
            <a:avLst/>
          </a:prstGeom>
          <a:noFill/>
        </p:spPr>
        <p:txBody>
          <a:bodyPr wrap="square" lIns="0" tIns="0" rIns="0" bIns="0">
            <a:spAutoFit/>
          </a:bodyPr>
          <a:lstStyle/>
          <a:p>
            <a:pPr>
              <a:lnSpc>
                <a:spcPct val="100000"/>
              </a:lnSpc>
            </a:pPr>
            <a:r>
              <a:rPr sz="1800" b="1">
                <a:solidFill>
                  <a:srgbClr val="9E3F17"/>
                </a:solidFill>
                <a:latin typeface="Arial"/>
              </a:rPr>
              <a:t>Fixed order</a:t>
            </a:r>
          </a:p>
        </p:txBody>
      </p:sp>
      <p:sp>
        <p:nvSpPr>
          <p:cNvPr id="189" name="TextBox 188"/>
          <p:cNvSpPr txBox="1"/>
          <p:nvPr/>
        </p:nvSpPr>
        <p:spPr>
          <a:xfrm>
            <a:off x="9453677"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the host sets the order of turns at the start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Committee use in Pakistan, from published estimates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4</a:t>
            </a:r>
          </a:p>
        </p:txBody>
      </p:sp>
      <p:sp>
        <p:nvSpPr>
          <p:cNvPr id="6" name="TextBox 5"/>
          <p:cNvSpPr txBox="1"/>
          <p:nvPr/>
        </p:nvSpPr>
        <p:spPr>
          <a:xfrm>
            <a:off x="548640" y="1481328"/>
            <a:ext cx="38404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Pakistanis who save in committees</a:t>
            </a:r>
            <a:r>
              <a:rPr sz="1100">
                <a:solidFill>
                  <a:srgbClr val="6B7280"/>
                </a:solidFill>
                <a:latin typeface="Arial"/>
              </a:rPr>
              <a:t>   per 100 people</a:t>
            </a:r>
          </a:p>
        </p:txBody>
      </p:sp>
      <p:sp>
        <p:nvSpPr>
          <p:cNvPr id="7" name="Rectangle 6"/>
          <p:cNvSpPr/>
          <p:nvPr/>
        </p:nvSpPr>
        <p:spPr>
          <a:xfrm>
            <a:off x="548640" y="4796028"/>
            <a:ext cx="274320" cy="274320"/>
          </a:xfrm>
          <a:prstGeom prst="rect">
            <a:avLst/>
          </a:prstGeom>
          <a:solidFill>
            <a:srgbClr val="D8602A"/>
          </a:solidFill>
          <a:ln>
            <a:noFill/>
          </a:ln>
        </p:spPr>
        <p:txBody>
          <a:bodyPr rtlCol="0" anchor="ctr"/>
          <a:lstStyle/>
          <a:p>
            <a:pPr algn="ctr"/>
          </a:p>
        </p:txBody>
      </p:sp>
      <p:sp>
        <p:nvSpPr>
          <p:cNvPr id="8" name="Rectangle 7"/>
          <p:cNvSpPr/>
          <p:nvPr/>
        </p:nvSpPr>
        <p:spPr>
          <a:xfrm>
            <a:off x="548640" y="4471416"/>
            <a:ext cx="274320" cy="274320"/>
          </a:xfrm>
          <a:prstGeom prst="rect">
            <a:avLst/>
          </a:prstGeom>
          <a:solidFill>
            <a:srgbClr val="D8602A"/>
          </a:solidFill>
          <a:ln>
            <a:noFill/>
          </a:ln>
        </p:spPr>
        <p:txBody>
          <a:bodyPr rtlCol="0" anchor="ctr"/>
          <a:lstStyle/>
          <a:p>
            <a:pPr algn="ctr"/>
          </a:p>
        </p:txBody>
      </p:sp>
      <p:sp>
        <p:nvSpPr>
          <p:cNvPr id="9" name="Rectangle 8"/>
          <p:cNvSpPr/>
          <p:nvPr/>
        </p:nvSpPr>
        <p:spPr>
          <a:xfrm>
            <a:off x="548640" y="4146804"/>
            <a:ext cx="274320" cy="274320"/>
          </a:xfrm>
          <a:prstGeom prst="rect">
            <a:avLst/>
          </a:prstGeom>
          <a:solidFill>
            <a:srgbClr val="D8602A"/>
          </a:solidFill>
          <a:ln>
            <a:noFill/>
          </a:ln>
        </p:spPr>
        <p:txBody>
          <a:bodyPr rtlCol="0" anchor="ctr"/>
          <a:lstStyle/>
          <a:p>
            <a:pPr algn="ctr"/>
          </a:p>
        </p:txBody>
      </p:sp>
      <p:sp>
        <p:nvSpPr>
          <p:cNvPr id="10" name="Rectangle 9"/>
          <p:cNvSpPr/>
          <p:nvPr/>
        </p:nvSpPr>
        <p:spPr>
          <a:xfrm>
            <a:off x="548640" y="3822192"/>
            <a:ext cx="274320" cy="274320"/>
          </a:xfrm>
          <a:prstGeom prst="rect">
            <a:avLst/>
          </a:prstGeom>
          <a:solidFill>
            <a:srgbClr val="D8602A"/>
          </a:solidFill>
          <a:ln>
            <a:noFill/>
          </a:ln>
        </p:spPr>
        <p:txBody>
          <a:bodyPr rtlCol="0" anchor="ctr"/>
          <a:lstStyle/>
          <a:p>
            <a:pPr algn="ctr"/>
          </a:p>
        </p:txBody>
      </p:sp>
      <p:sp>
        <p:nvSpPr>
          <p:cNvPr id="11" name="Rectangle 10"/>
          <p:cNvSpPr/>
          <p:nvPr/>
        </p:nvSpPr>
        <p:spPr>
          <a:xfrm>
            <a:off x="548640" y="3497580"/>
            <a:ext cx="274320" cy="274320"/>
          </a:xfrm>
          <a:prstGeom prst="rect">
            <a:avLst/>
          </a:prstGeom>
          <a:solidFill>
            <a:srgbClr val="D8602A"/>
          </a:solidFill>
          <a:ln>
            <a:noFill/>
          </a:ln>
        </p:spPr>
        <p:txBody>
          <a:bodyPr rtlCol="0" anchor="ctr"/>
          <a:lstStyle/>
          <a:p>
            <a:pPr algn="ctr"/>
          </a:p>
        </p:txBody>
      </p:sp>
      <p:sp>
        <p:nvSpPr>
          <p:cNvPr id="12" name="Rectangle 11"/>
          <p:cNvSpPr/>
          <p:nvPr/>
        </p:nvSpPr>
        <p:spPr>
          <a:xfrm>
            <a:off x="548640" y="3172968"/>
            <a:ext cx="274320" cy="274320"/>
          </a:xfrm>
          <a:prstGeom prst="rect">
            <a:avLst/>
          </a:prstGeom>
          <a:solidFill>
            <a:srgbClr val="D8602A"/>
          </a:solidFill>
          <a:ln>
            <a:noFill/>
          </a:ln>
        </p:spPr>
        <p:txBody>
          <a:bodyPr rtlCol="0" anchor="ctr"/>
          <a:lstStyle/>
          <a:p>
            <a:pPr algn="ctr"/>
          </a:p>
        </p:txBody>
      </p:sp>
      <p:sp>
        <p:nvSpPr>
          <p:cNvPr id="13" name="Rectangle 12"/>
          <p:cNvSpPr/>
          <p:nvPr/>
        </p:nvSpPr>
        <p:spPr>
          <a:xfrm>
            <a:off x="548640" y="2848356"/>
            <a:ext cx="274320" cy="274320"/>
          </a:xfrm>
          <a:prstGeom prst="rect">
            <a:avLst/>
          </a:prstGeom>
          <a:solidFill>
            <a:srgbClr val="D8602A"/>
          </a:solidFill>
          <a:ln>
            <a:noFill/>
          </a:ln>
        </p:spPr>
        <p:txBody>
          <a:bodyPr rtlCol="0" anchor="ctr"/>
          <a:lstStyle/>
          <a:p>
            <a:pPr algn="ctr"/>
          </a:p>
        </p:txBody>
      </p:sp>
      <p:sp>
        <p:nvSpPr>
          <p:cNvPr id="14" name="Rectangle 13"/>
          <p:cNvSpPr/>
          <p:nvPr/>
        </p:nvSpPr>
        <p:spPr>
          <a:xfrm>
            <a:off x="548640" y="2523744"/>
            <a:ext cx="274320" cy="274320"/>
          </a:xfrm>
          <a:prstGeom prst="rect">
            <a:avLst/>
          </a:prstGeom>
          <a:solidFill>
            <a:srgbClr val="D8602A"/>
          </a:solidFill>
          <a:ln>
            <a:noFill/>
          </a:ln>
        </p:spPr>
        <p:txBody>
          <a:bodyPr rtlCol="0" anchor="ctr"/>
          <a:lstStyle/>
          <a:p>
            <a:pPr algn="ctr"/>
          </a:p>
        </p:txBody>
      </p:sp>
      <p:sp>
        <p:nvSpPr>
          <p:cNvPr id="15" name="Rectangle 14"/>
          <p:cNvSpPr/>
          <p:nvPr/>
        </p:nvSpPr>
        <p:spPr>
          <a:xfrm>
            <a:off x="548640" y="2199132"/>
            <a:ext cx="274320" cy="274320"/>
          </a:xfrm>
          <a:prstGeom prst="rect">
            <a:avLst/>
          </a:prstGeom>
          <a:solidFill>
            <a:srgbClr val="D8602A"/>
          </a:solidFill>
          <a:ln>
            <a:noFill/>
          </a:ln>
        </p:spPr>
        <p:txBody>
          <a:bodyPr rtlCol="0" anchor="ctr"/>
          <a:lstStyle/>
          <a:p>
            <a:pPr algn="ctr"/>
          </a:p>
        </p:txBody>
      </p:sp>
      <p:sp>
        <p:nvSpPr>
          <p:cNvPr id="16" name="Rectangle 15"/>
          <p:cNvSpPr/>
          <p:nvPr/>
        </p:nvSpPr>
        <p:spPr>
          <a:xfrm>
            <a:off x="548640" y="1874520"/>
            <a:ext cx="274320" cy="274320"/>
          </a:xfrm>
          <a:prstGeom prst="rect">
            <a:avLst/>
          </a:prstGeom>
          <a:solidFill>
            <a:srgbClr val="D8602A"/>
          </a:solidFill>
          <a:ln>
            <a:noFill/>
          </a:ln>
        </p:spPr>
        <p:txBody>
          <a:bodyPr rtlCol="0" anchor="ctr"/>
          <a:lstStyle/>
          <a:p>
            <a:pPr algn="ctr"/>
          </a:p>
        </p:txBody>
      </p:sp>
      <p:sp>
        <p:nvSpPr>
          <p:cNvPr id="17" name="Rectangle 16"/>
          <p:cNvSpPr/>
          <p:nvPr/>
        </p:nvSpPr>
        <p:spPr>
          <a:xfrm>
            <a:off x="873252" y="4796028"/>
            <a:ext cx="274320" cy="274320"/>
          </a:xfrm>
          <a:prstGeom prst="rect">
            <a:avLst/>
          </a:prstGeom>
          <a:solidFill>
            <a:srgbClr val="D8602A"/>
          </a:solidFill>
          <a:ln>
            <a:noFill/>
          </a:ln>
        </p:spPr>
        <p:txBody>
          <a:bodyPr rtlCol="0" anchor="ctr"/>
          <a:lstStyle/>
          <a:p>
            <a:pPr algn="ctr"/>
          </a:p>
        </p:txBody>
      </p:sp>
      <p:sp>
        <p:nvSpPr>
          <p:cNvPr id="18" name="Rectangle 17"/>
          <p:cNvSpPr/>
          <p:nvPr/>
        </p:nvSpPr>
        <p:spPr>
          <a:xfrm>
            <a:off x="873252" y="4471416"/>
            <a:ext cx="274320" cy="274320"/>
          </a:xfrm>
          <a:prstGeom prst="rect">
            <a:avLst/>
          </a:prstGeom>
          <a:solidFill>
            <a:srgbClr val="D8602A"/>
          </a:solidFill>
          <a:ln>
            <a:noFill/>
          </a:ln>
        </p:spPr>
        <p:txBody>
          <a:bodyPr rtlCol="0" anchor="ctr"/>
          <a:lstStyle/>
          <a:p>
            <a:pPr algn="ctr"/>
          </a:p>
        </p:txBody>
      </p:sp>
      <p:sp>
        <p:nvSpPr>
          <p:cNvPr id="19" name="Rectangle 18"/>
          <p:cNvSpPr/>
          <p:nvPr/>
        </p:nvSpPr>
        <p:spPr>
          <a:xfrm>
            <a:off x="873252" y="4146804"/>
            <a:ext cx="274320" cy="274320"/>
          </a:xfrm>
          <a:prstGeom prst="rect">
            <a:avLst/>
          </a:prstGeom>
          <a:solidFill>
            <a:srgbClr val="D8602A"/>
          </a:solidFill>
          <a:ln>
            <a:noFill/>
          </a:ln>
        </p:spPr>
        <p:txBody>
          <a:bodyPr rtlCol="0" anchor="ctr"/>
          <a:lstStyle/>
          <a:p>
            <a:pPr algn="ctr"/>
          </a:p>
        </p:txBody>
      </p:sp>
      <p:sp>
        <p:nvSpPr>
          <p:cNvPr id="20" name="Rectangle 19"/>
          <p:cNvSpPr/>
          <p:nvPr/>
        </p:nvSpPr>
        <p:spPr>
          <a:xfrm>
            <a:off x="873252" y="3822192"/>
            <a:ext cx="274320" cy="274320"/>
          </a:xfrm>
          <a:prstGeom prst="rect">
            <a:avLst/>
          </a:prstGeom>
          <a:solidFill>
            <a:srgbClr val="D8602A"/>
          </a:solidFill>
          <a:ln>
            <a:noFill/>
          </a:ln>
        </p:spPr>
        <p:txBody>
          <a:bodyPr rtlCol="0" anchor="ctr"/>
          <a:lstStyle/>
          <a:p>
            <a:pPr algn="ctr"/>
          </a:p>
        </p:txBody>
      </p:sp>
      <p:sp>
        <p:nvSpPr>
          <p:cNvPr id="21" name="Rectangle 20"/>
          <p:cNvSpPr/>
          <p:nvPr/>
        </p:nvSpPr>
        <p:spPr>
          <a:xfrm>
            <a:off x="873252" y="3497580"/>
            <a:ext cx="274320" cy="274320"/>
          </a:xfrm>
          <a:prstGeom prst="rect">
            <a:avLst/>
          </a:prstGeom>
          <a:solidFill>
            <a:srgbClr val="D8602A"/>
          </a:solidFill>
          <a:ln>
            <a:noFill/>
          </a:ln>
        </p:spPr>
        <p:txBody>
          <a:bodyPr rtlCol="0" anchor="ctr"/>
          <a:lstStyle/>
          <a:p>
            <a:pPr algn="ctr"/>
          </a:p>
        </p:txBody>
      </p:sp>
      <p:sp>
        <p:nvSpPr>
          <p:cNvPr id="22" name="Rectangle 21"/>
          <p:cNvSpPr/>
          <p:nvPr/>
        </p:nvSpPr>
        <p:spPr>
          <a:xfrm>
            <a:off x="873252" y="3172968"/>
            <a:ext cx="274320" cy="274320"/>
          </a:xfrm>
          <a:prstGeom prst="rect">
            <a:avLst/>
          </a:prstGeom>
          <a:solidFill>
            <a:srgbClr val="D8602A"/>
          </a:solidFill>
          <a:ln>
            <a:noFill/>
          </a:ln>
        </p:spPr>
        <p:txBody>
          <a:bodyPr rtlCol="0" anchor="ctr"/>
          <a:lstStyle/>
          <a:p>
            <a:pPr algn="ctr"/>
          </a:p>
        </p:txBody>
      </p:sp>
      <p:sp>
        <p:nvSpPr>
          <p:cNvPr id="23" name="Rectangle 22"/>
          <p:cNvSpPr/>
          <p:nvPr/>
        </p:nvSpPr>
        <p:spPr>
          <a:xfrm>
            <a:off x="873252" y="2848356"/>
            <a:ext cx="274320" cy="274320"/>
          </a:xfrm>
          <a:prstGeom prst="rect">
            <a:avLst/>
          </a:prstGeom>
          <a:solidFill>
            <a:srgbClr val="D8602A"/>
          </a:solidFill>
          <a:ln>
            <a:noFill/>
          </a:ln>
        </p:spPr>
        <p:txBody>
          <a:bodyPr rtlCol="0" anchor="ctr"/>
          <a:lstStyle/>
          <a:p>
            <a:pPr algn="ctr"/>
          </a:p>
        </p:txBody>
      </p:sp>
      <p:sp>
        <p:nvSpPr>
          <p:cNvPr id="24" name="Rectangle 23"/>
          <p:cNvSpPr/>
          <p:nvPr/>
        </p:nvSpPr>
        <p:spPr>
          <a:xfrm>
            <a:off x="873252" y="2523744"/>
            <a:ext cx="274320" cy="274320"/>
          </a:xfrm>
          <a:prstGeom prst="rect">
            <a:avLst/>
          </a:prstGeom>
          <a:solidFill>
            <a:srgbClr val="D8602A"/>
          </a:solidFill>
          <a:ln>
            <a:noFill/>
          </a:ln>
        </p:spPr>
        <p:txBody>
          <a:bodyPr rtlCol="0" anchor="ctr"/>
          <a:lstStyle/>
          <a:p>
            <a:pPr algn="ctr"/>
          </a:p>
        </p:txBody>
      </p:sp>
      <p:sp>
        <p:nvSpPr>
          <p:cNvPr id="25" name="Rectangle 24"/>
          <p:cNvSpPr/>
          <p:nvPr/>
        </p:nvSpPr>
        <p:spPr>
          <a:xfrm>
            <a:off x="873252" y="2199132"/>
            <a:ext cx="274320" cy="274320"/>
          </a:xfrm>
          <a:prstGeom prst="rect">
            <a:avLst/>
          </a:prstGeom>
          <a:solidFill>
            <a:srgbClr val="D8602A"/>
          </a:solidFill>
          <a:ln>
            <a:noFill/>
          </a:ln>
        </p:spPr>
        <p:txBody>
          <a:bodyPr rtlCol="0" anchor="ctr"/>
          <a:lstStyle/>
          <a:p>
            <a:pPr algn="ctr"/>
          </a:p>
        </p:txBody>
      </p:sp>
      <p:sp>
        <p:nvSpPr>
          <p:cNvPr id="26" name="Rectangle 25"/>
          <p:cNvSpPr/>
          <p:nvPr/>
        </p:nvSpPr>
        <p:spPr>
          <a:xfrm>
            <a:off x="873252" y="1874520"/>
            <a:ext cx="274320" cy="274320"/>
          </a:xfrm>
          <a:prstGeom prst="rect">
            <a:avLst/>
          </a:prstGeom>
          <a:solidFill>
            <a:srgbClr val="D8602A"/>
          </a:solidFill>
          <a:ln>
            <a:noFill/>
          </a:ln>
        </p:spPr>
        <p:txBody>
          <a:bodyPr rtlCol="0" anchor="ctr"/>
          <a:lstStyle/>
          <a:p>
            <a:pPr algn="ctr"/>
          </a:p>
        </p:txBody>
      </p:sp>
      <p:sp>
        <p:nvSpPr>
          <p:cNvPr id="27" name="Rectangle 26"/>
          <p:cNvSpPr/>
          <p:nvPr/>
        </p:nvSpPr>
        <p:spPr>
          <a:xfrm>
            <a:off x="1197864" y="4796028"/>
            <a:ext cx="274320" cy="274320"/>
          </a:xfrm>
          <a:prstGeom prst="rect">
            <a:avLst/>
          </a:prstGeom>
          <a:solidFill>
            <a:srgbClr val="D8602A"/>
          </a:solidFill>
          <a:ln>
            <a:noFill/>
          </a:ln>
        </p:spPr>
        <p:txBody>
          <a:bodyPr rtlCol="0" anchor="ctr"/>
          <a:lstStyle/>
          <a:p>
            <a:pPr algn="ctr"/>
          </a:p>
        </p:txBody>
      </p:sp>
      <p:sp>
        <p:nvSpPr>
          <p:cNvPr id="28" name="Rectangle 27"/>
          <p:cNvSpPr/>
          <p:nvPr/>
        </p:nvSpPr>
        <p:spPr>
          <a:xfrm>
            <a:off x="1197864" y="4471416"/>
            <a:ext cx="274320" cy="274320"/>
          </a:xfrm>
          <a:prstGeom prst="rect">
            <a:avLst/>
          </a:prstGeom>
          <a:solidFill>
            <a:srgbClr val="D8602A"/>
          </a:solidFill>
          <a:ln>
            <a:noFill/>
          </a:ln>
        </p:spPr>
        <p:txBody>
          <a:bodyPr rtlCol="0" anchor="ctr"/>
          <a:lstStyle/>
          <a:p>
            <a:pPr algn="ctr"/>
          </a:p>
        </p:txBody>
      </p:sp>
      <p:sp>
        <p:nvSpPr>
          <p:cNvPr id="29" name="Rectangle 28"/>
          <p:cNvSpPr/>
          <p:nvPr/>
        </p:nvSpPr>
        <p:spPr>
          <a:xfrm>
            <a:off x="1197864" y="4146804"/>
            <a:ext cx="274320" cy="274320"/>
          </a:xfrm>
          <a:prstGeom prst="rect">
            <a:avLst/>
          </a:prstGeom>
          <a:solidFill>
            <a:srgbClr val="D8602A"/>
          </a:solidFill>
          <a:ln>
            <a:noFill/>
          </a:ln>
        </p:spPr>
        <p:txBody>
          <a:bodyPr rtlCol="0" anchor="ctr"/>
          <a:lstStyle/>
          <a:p>
            <a:pPr algn="ctr"/>
          </a:p>
        </p:txBody>
      </p:sp>
      <p:sp>
        <p:nvSpPr>
          <p:cNvPr id="30" name="Rectangle 29"/>
          <p:cNvSpPr/>
          <p:nvPr/>
        </p:nvSpPr>
        <p:spPr>
          <a:xfrm>
            <a:off x="1197864" y="3822192"/>
            <a:ext cx="274320" cy="274320"/>
          </a:xfrm>
          <a:prstGeom prst="rect">
            <a:avLst/>
          </a:prstGeom>
          <a:solidFill>
            <a:srgbClr val="D8602A"/>
          </a:solidFill>
          <a:ln>
            <a:noFill/>
          </a:ln>
        </p:spPr>
        <p:txBody>
          <a:bodyPr rtlCol="0" anchor="ctr"/>
          <a:lstStyle/>
          <a:p>
            <a:pPr algn="ctr"/>
          </a:p>
        </p:txBody>
      </p:sp>
      <p:sp>
        <p:nvSpPr>
          <p:cNvPr id="31" name="Rectangle 30"/>
          <p:cNvSpPr/>
          <p:nvPr/>
        </p:nvSpPr>
        <p:spPr>
          <a:xfrm>
            <a:off x="1197864" y="3497580"/>
            <a:ext cx="274320" cy="274320"/>
          </a:xfrm>
          <a:prstGeom prst="rect">
            <a:avLst/>
          </a:prstGeom>
          <a:solidFill>
            <a:srgbClr val="D8602A"/>
          </a:solidFill>
          <a:ln>
            <a:noFill/>
          </a:ln>
        </p:spPr>
        <p:txBody>
          <a:bodyPr rtlCol="0" anchor="ctr"/>
          <a:lstStyle/>
          <a:p>
            <a:pPr algn="ctr"/>
          </a:p>
        </p:txBody>
      </p:sp>
      <p:sp>
        <p:nvSpPr>
          <p:cNvPr id="32" name="Rectangle 31"/>
          <p:cNvSpPr/>
          <p:nvPr/>
        </p:nvSpPr>
        <p:spPr>
          <a:xfrm>
            <a:off x="1197864" y="3172968"/>
            <a:ext cx="274320" cy="274320"/>
          </a:xfrm>
          <a:prstGeom prst="rect">
            <a:avLst/>
          </a:prstGeom>
          <a:solidFill>
            <a:srgbClr val="D8602A"/>
          </a:solidFill>
          <a:ln>
            <a:noFill/>
          </a:ln>
        </p:spPr>
        <p:txBody>
          <a:bodyPr rtlCol="0" anchor="ctr"/>
          <a:lstStyle/>
          <a:p>
            <a:pPr algn="ctr"/>
          </a:p>
        </p:txBody>
      </p:sp>
      <p:sp>
        <p:nvSpPr>
          <p:cNvPr id="33" name="Rectangle 32"/>
          <p:cNvSpPr/>
          <p:nvPr/>
        </p:nvSpPr>
        <p:spPr>
          <a:xfrm>
            <a:off x="1197864" y="2848356"/>
            <a:ext cx="274320" cy="274320"/>
          </a:xfrm>
          <a:prstGeom prst="rect">
            <a:avLst/>
          </a:prstGeom>
          <a:solidFill>
            <a:srgbClr val="D8602A"/>
          </a:solidFill>
          <a:ln>
            <a:noFill/>
          </a:ln>
        </p:spPr>
        <p:txBody>
          <a:bodyPr rtlCol="0" anchor="ctr"/>
          <a:lstStyle/>
          <a:p>
            <a:pPr algn="ctr"/>
          </a:p>
        </p:txBody>
      </p:sp>
      <p:sp>
        <p:nvSpPr>
          <p:cNvPr id="34" name="Rectangle 33"/>
          <p:cNvSpPr/>
          <p:nvPr/>
        </p:nvSpPr>
        <p:spPr>
          <a:xfrm>
            <a:off x="1197864" y="2523744"/>
            <a:ext cx="274320" cy="274320"/>
          </a:xfrm>
          <a:prstGeom prst="rect">
            <a:avLst/>
          </a:prstGeom>
          <a:solidFill>
            <a:srgbClr val="D8602A"/>
          </a:solidFill>
          <a:ln>
            <a:noFill/>
          </a:ln>
        </p:spPr>
        <p:txBody>
          <a:bodyPr rtlCol="0" anchor="ctr"/>
          <a:lstStyle/>
          <a:p>
            <a:pPr algn="ctr"/>
          </a:p>
        </p:txBody>
      </p:sp>
      <p:sp>
        <p:nvSpPr>
          <p:cNvPr id="35" name="Rectangle 34"/>
          <p:cNvSpPr/>
          <p:nvPr/>
        </p:nvSpPr>
        <p:spPr>
          <a:xfrm>
            <a:off x="1197864" y="2199132"/>
            <a:ext cx="274320" cy="274320"/>
          </a:xfrm>
          <a:prstGeom prst="rect">
            <a:avLst/>
          </a:prstGeom>
          <a:solidFill>
            <a:srgbClr val="D8602A"/>
          </a:solidFill>
          <a:ln>
            <a:noFill/>
          </a:ln>
        </p:spPr>
        <p:txBody>
          <a:bodyPr rtlCol="0" anchor="ctr"/>
          <a:lstStyle/>
          <a:p>
            <a:pPr algn="ctr"/>
          </a:p>
        </p:txBody>
      </p:sp>
      <p:sp>
        <p:nvSpPr>
          <p:cNvPr id="36" name="Rectangle 35"/>
          <p:cNvSpPr/>
          <p:nvPr/>
        </p:nvSpPr>
        <p:spPr>
          <a:xfrm>
            <a:off x="1197864" y="1874520"/>
            <a:ext cx="274320" cy="274320"/>
          </a:xfrm>
          <a:prstGeom prst="rect">
            <a:avLst/>
          </a:prstGeom>
          <a:solidFill>
            <a:srgbClr val="D8602A"/>
          </a:solidFill>
          <a:ln>
            <a:noFill/>
          </a:ln>
        </p:spPr>
        <p:txBody>
          <a:bodyPr rtlCol="0" anchor="ctr"/>
          <a:lstStyle/>
          <a:p>
            <a:pPr algn="ctr"/>
          </a:p>
        </p:txBody>
      </p:sp>
      <p:sp>
        <p:nvSpPr>
          <p:cNvPr id="37" name="Rectangle 36"/>
          <p:cNvSpPr/>
          <p:nvPr/>
        </p:nvSpPr>
        <p:spPr>
          <a:xfrm>
            <a:off x="1522476" y="4796028"/>
            <a:ext cx="274320" cy="274320"/>
          </a:xfrm>
          <a:prstGeom prst="rect">
            <a:avLst/>
          </a:prstGeom>
          <a:solidFill>
            <a:srgbClr val="D8602A"/>
          </a:solidFill>
          <a:ln>
            <a:noFill/>
          </a:ln>
        </p:spPr>
        <p:txBody>
          <a:bodyPr rtlCol="0" anchor="ctr"/>
          <a:lstStyle/>
          <a:p>
            <a:pPr algn="ctr"/>
          </a:p>
        </p:txBody>
      </p:sp>
      <p:sp>
        <p:nvSpPr>
          <p:cNvPr id="38" name="Rectangle 37"/>
          <p:cNvSpPr/>
          <p:nvPr/>
        </p:nvSpPr>
        <p:spPr>
          <a:xfrm>
            <a:off x="1522476" y="4471416"/>
            <a:ext cx="274320" cy="274320"/>
          </a:xfrm>
          <a:prstGeom prst="rect">
            <a:avLst/>
          </a:prstGeom>
          <a:solidFill>
            <a:srgbClr val="D8602A"/>
          </a:solidFill>
          <a:ln>
            <a:noFill/>
          </a:ln>
        </p:spPr>
        <p:txBody>
          <a:bodyPr rtlCol="0" anchor="ctr"/>
          <a:lstStyle/>
          <a:p>
            <a:pPr algn="ctr"/>
          </a:p>
        </p:txBody>
      </p:sp>
      <p:sp>
        <p:nvSpPr>
          <p:cNvPr id="39" name="Rectangle 38"/>
          <p:cNvSpPr/>
          <p:nvPr/>
        </p:nvSpPr>
        <p:spPr>
          <a:xfrm>
            <a:off x="1522476" y="4146804"/>
            <a:ext cx="274320" cy="274320"/>
          </a:xfrm>
          <a:prstGeom prst="rect">
            <a:avLst/>
          </a:prstGeom>
          <a:solidFill>
            <a:srgbClr val="D8602A"/>
          </a:solidFill>
          <a:ln>
            <a:noFill/>
          </a:ln>
        </p:spPr>
        <p:txBody>
          <a:bodyPr rtlCol="0" anchor="ctr"/>
          <a:lstStyle/>
          <a:p>
            <a:pPr algn="ctr"/>
          </a:p>
        </p:txBody>
      </p:sp>
      <p:sp>
        <p:nvSpPr>
          <p:cNvPr id="40" name="Rectangle 39"/>
          <p:cNvSpPr/>
          <p:nvPr/>
        </p:nvSpPr>
        <p:spPr>
          <a:xfrm>
            <a:off x="1522476" y="3822192"/>
            <a:ext cx="274320" cy="274320"/>
          </a:xfrm>
          <a:prstGeom prst="rect">
            <a:avLst/>
          </a:prstGeom>
          <a:solidFill>
            <a:srgbClr val="D8602A"/>
          </a:solidFill>
          <a:ln>
            <a:noFill/>
          </a:ln>
        </p:spPr>
        <p:txBody>
          <a:bodyPr rtlCol="0" anchor="ctr"/>
          <a:lstStyle/>
          <a:p>
            <a:pPr algn="ctr"/>
          </a:p>
        </p:txBody>
      </p:sp>
      <p:sp>
        <p:nvSpPr>
          <p:cNvPr id="41" name="Rectangle 40"/>
          <p:cNvSpPr/>
          <p:nvPr/>
        </p:nvSpPr>
        <p:spPr>
          <a:xfrm>
            <a:off x="1522476" y="3497580"/>
            <a:ext cx="274320" cy="274320"/>
          </a:xfrm>
          <a:prstGeom prst="rect">
            <a:avLst/>
          </a:prstGeom>
          <a:solidFill>
            <a:srgbClr val="EFA27A"/>
          </a:solidFill>
          <a:ln>
            <a:noFill/>
          </a:ln>
        </p:spPr>
        <p:txBody>
          <a:bodyPr rtlCol="0" anchor="ctr"/>
          <a:lstStyle/>
          <a:p>
            <a:pPr algn="ctr"/>
          </a:p>
        </p:txBody>
      </p:sp>
      <p:sp>
        <p:nvSpPr>
          <p:cNvPr id="42" name="Rectangle 41"/>
          <p:cNvSpPr/>
          <p:nvPr/>
        </p:nvSpPr>
        <p:spPr>
          <a:xfrm>
            <a:off x="1522476" y="3172968"/>
            <a:ext cx="274320" cy="274320"/>
          </a:xfrm>
          <a:prstGeom prst="rect">
            <a:avLst/>
          </a:prstGeom>
          <a:solidFill>
            <a:srgbClr val="EFA27A"/>
          </a:solidFill>
          <a:ln>
            <a:noFill/>
          </a:ln>
        </p:spPr>
        <p:txBody>
          <a:bodyPr rtlCol="0" anchor="ctr"/>
          <a:lstStyle/>
          <a:p>
            <a:pPr algn="ctr"/>
          </a:p>
        </p:txBody>
      </p:sp>
      <p:sp>
        <p:nvSpPr>
          <p:cNvPr id="43" name="Rectangle 42"/>
          <p:cNvSpPr/>
          <p:nvPr/>
        </p:nvSpPr>
        <p:spPr>
          <a:xfrm>
            <a:off x="1522476" y="2848356"/>
            <a:ext cx="274320" cy="274320"/>
          </a:xfrm>
          <a:prstGeom prst="rect">
            <a:avLst/>
          </a:prstGeom>
          <a:solidFill>
            <a:srgbClr val="EFA27A"/>
          </a:solidFill>
          <a:ln>
            <a:noFill/>
          </a:ln>
        </p:spPr>
        <p:txBody>
          <a:bodyPr rtlCol="0" anchor="ctr"/>
          <a:lstStyle/>
          <a:p>
            <a:pPr algn="ctr"/>
          </a:p>
        </p:txBody>
      </p:sp>
      <p:sp>
        <p:nvSpPr>
          <p:cNvPr id="44" name="Rectangle 43"/>
          <p:cNvSpPr/>
          <p:nvPr/>
        </p:nvSpPr>
        <p:spPr>
          <a:xfrm>
            <a:off x="1522476" y="2523744"/>
            <a:ext cx="274320" cy="274320"/>
          </a:xfrm>
          <a:prstGeom prst="rect">
            <a:avLst/>
          </a:prstGeom>
          <a:solidFill>
            <a:srgbClr val="EFA27A"/>
          </a:solidFill>
          <a:ln>
            <a:noFill/>
          </a:ln>
        </p:spPr>
        <p:txBody>
          <a:bodyPr rtlCol="0" anchor="ctr"/>
          <a:lstStyle/>
          <a:p>
            <a:pPr algn="ctr"/>
          </a:p>
        </p:txBody>
      </p:sp>
      <p:sp>
        <p:nvSpPr>
          <p:cNvPr id="45" name="Rectangle 44"/>
          <p:cNvSpPr/>
          <p:nvPr/>
        </p:nvSpPr>
        <p:spPr>
          <a:xfrm>
            <a:off x="1522476" y="2199132"/>
            <a:ext cx="274320" cy="274320"/>
          </a:xfrm>
          <a:prstGeom prst="rect">
            <a:avLst/>
          </a:prstGeom>
          <a:solidFill>
            <a:srgbClr val="EFA27A"/>
          </a:solidFill>
          <a:ln>
            <a:noFill/>
          </a:ln>
        </p:spPr>
        <p:txBody>
          <a:bodyPr rtlCol="0" anchor="ctr"/>
          <a:lstStyle/>
          <a:p>
            <a:pPr algn="ctr"/>
          </a:p>
        </p:txBody>
      </p:sp>
      <p:sp>
        <p:nvSpPr>
          <p:cNvPr id="46" name="Rectangle 45"/>
          <p:cNvSpPr/>
          <p:nvPr/>
        </p:nvSpPr>
        <p:spPr>
          <a:xfrm>
            <a:off x="1522476" y="1874520"/>
            <a:ext cx="274320" cy="274320"/>
          </a:xfrm>
          <a:prstGeom prst="rect">
            <a:avLst/>
          </a:prstGeom>
          <a:solidFill>
            <a:srgbClr val="EFA27A"/>
          </a:solidFill>
          <a:ln>
            <a:noFill/>
          </a:ln>
        </p:spPr>
        <p:txBody>
          <a:bodyPr rtlCol="0" anchor="ctr"/>
          <a:lstStyle/>
          <a:p>
            <a:pPr algn="ctr"/>
          </a:p>
        </p:txBody>
      </p:sp>
      <p:sp>
        <p:nvSpPr>
          <p:cNvPr id="47" name="Rectangle 46"/>
          <p:cNvSpPr/>
          <p:nvPr/>
        </p:nvSpPr>
        <p:spPr>
          <a:xfrm>
            <a:off x="1847088" y="4796028"/>
            <a:ext cx="274320" cy="274320"/>
          </a:xfrm>
          <a:prstGeom prst="rect">
            <a:avLst/>
          </a:prstGeom>
          <a:solidFill>
            <a:srgbClr val="EFA27A"/>
          </a:solidFill>
          <a:ln>
            <a:noFill/>
          </a:ln>
        </p:spPr>
        <p:txBody>
          <a:bodyPr rtlCol="0" anchor="ctr"/>
          <a:lstStyle/>
          <a:p>
            <a:pPr algn="ctr"/>
          </a:p>
        </p:txBody>
      </p:sp>
      <p:sp>
        <p:nvSpPr>
          <p:cNvPr id="48" name="Rectangle 47"/>
          <p:cNvSpPr/>
          <p:nvPr/>
        </p:nvSpPr>
        <p:spPr>
          <a:xfrm>
            <a:off x="1847088" y="4471416"/>
            <a:ext cx="274320" cy="274320"/>
          </a:xfrm>
          <a:prstGeom prst="rect">
            <a:avLst/>
          </a:prstGeom>
          <a:solidFill>
            <a:srgbClr val="E5E7EB"/>
          </a:solidFill>
          <a:ln>
            <a:noFill/>
          </a:ln>
        </p:spPr>
        <p:txBody>
          <a:bodyPr rtlCol="0" anchor="ctr"/>
          <a:lstStyle/>
          <a:p>
            <a:pPr algn="ctr"/>
          </a:p>
        </p:txBody>
      </p:sp>
      <p:sp>
        <p:nvSpPr>
          <p:cNvPr id="49" name="Rectangle 48"/>
          <p:cNvSpPr/>
          <p:nvPr/>
        </p:nvSpPr>
        <p:spPr>
          <a:xfrm>
            <a:off x="1847088" y="4146804"/>
            <a:ext cx="274320" cy="274320"/>
          </a:xfrm>
          <a:prstGeom prst="rect">
            <a:avLst/>
          </a:prstGeom>
          <a:solidFill>
            <a:srgbClr val="E5E7EB"/>
          </a:solidFill>
          <a:ln>
            <a:noFill/>
          </a:ln>
        </p:spPr>
        <p:txBody>
          <a:bodyPr rtlCol="0" anchor="ctr"/>
          <a:lstStyle/>
          <a:p>
            <a:pPr algn="ctr"/>
          </a:p>
        </p:txBody>
      </p:sp>
      <p:sp>
        <p:nvSpPr>
          <p:cNvPr id="50" name="Rectangle 49"/>
          <p:cNvSpPr/>
          <p:nvPr/>
        </p:nvSpPr>
        <p:spPr>
          <a:xfrm>
            <a:off x="1847088" y="3822192"/>
            <a:ext cx="274320" cy="274320"/>
          </a:xfrm>
          <a:prstGeom prst="rect">
            <a:avLst/>
          </a:prstGeom>
          <a:solidFill>
            <a:srgbClr val="E5E7EB"/>
          </a:solidFill>
          <a:ln>
            <a:noFill/>
          </a:ln>
        </p:spPr>
        <p:txBody>
          <a:bodyPr rtlCol="0" anchor="ctr"/>
          <a:lstStyle/>
          <a:p>
            <a:pPr algn="ctr"/>
          </a:p>
        </p:txBody>
      </p:sp>
      <p:sp>
        <p:nvSpPr>
          <p:cNvPr id="51" name="Rectangle 50"/>
          <p:cNvSpPr/>
          <p:nvPr/>
        </p:nvSpPr>
        <p:spPr>
          <a:xfrm>
            <a:off x="1847088" y="3497580"/>
            <a:ext cx="274320" cy="274320"/>
          </a:xfrm>
          <a:prstGeom prst="rect">
            <a:avLst/>
          </a:prstGeom>
          <a:solidFill>
            <a:srgbClr val="E5E7EB"/>
          </a:solidFill>
          <a:ln>
            <a:noFill/>
          </a:ln>
        </p:spPr>
        <p:txBody>
          <a:bodyPr rtlCol="0" anchor="ctr"/>
          <a:lstStyle/>
          <a:p>
            <a:pPr algn="ctr"/>
          </a:p>
        </p:txBody>
      </p:sp>
      <p:sp>
        <p:nvSpPr>
          <p:cNvPr id="52" name="Rectangle 51"/>
          <p:cNvSpPr/>
          <p:nvPr/>
        </p:nvSpPr>
        <p:spPr>
          <a:xfrm>
            <a:off x="1847088" y="3172968"/>
            <a:ext cx="274320" cy="274320"/>
          </a:xfrm>
          <a:prstGeom prst="rect">
            <a:avLst/>
          </a:prstGeom>
          <a:solidFill>
            <a:srgbClr val="E5E7EB"/>
          </a:solidFill>
          <a:ln>
            <a:noFill/>
          </a:ln>
        </p:spPr>
        <p:txBody>
          <a:bodyPr rtlCol="0" anchor="ctr"/>
          <a:lstStyle/>
          <a:p>
            <a:pPr algn="ctr"/>
          </a:p>
        </p:txBody>
      </p:sp>
      <p:sp>
        <p:nvSpPr>
          <p:cNvPr id="53" name="Rectangle 52"/>
          <p:cNvSpPr/>
          <p:nvPr/>
        </p:nvSpPr>
        <p:spPr>
          <a:xfrm>
            <a:off x="1847088" y="2848356"/>
            <a:ext cx="274320" cy="274320"/>
          </a:xfrm>
          <a:prstGeom prst="rect">
            <a:avLst/>
          </a:prstGeom>
          <a:solidFill>
            <a:srgbClr val="E5E7EB"/>
          </a:solidFill>
          <a:ln>
            <a:noFill/>
          </a:ln>
        </p:spPr>
        <p:txBody>
          <a:bodyPr rtlCol="0" anchor="ctr"/>
          <a:lstStyle/>
          <a:p>
            <a:pPr algn="ctr"/>
          </a:p>
        </p:txBody>
      </p:sp>
      <p:sp>
        <p:nvSpPr>
          <p:cNvPr id="54" name="Rectangle 53"/>
          <p:cNvSpPr/>
          <p:nvPr/>
        </p:nvSpPr>
        <p:spPr>
          <a:xfrm>
            <a:off x="1847088" y="2523744"/>
            <a:ext cx="274320" cy="274320"/>
          </a:xfrm>
          <a:prstGeom prst="rect">
            <a:avLst/>
          </a:prstGeom>
          <a:solidFill>
            <a:srgbClr val="E5E7EB"/>
          </a:solidFill>
          <a:ln>
            <a:noFill/>
          </a:ln>
        </p:spPr>
        <p:txBody>
          <a:bodyPr rtlCol="0" anchor="ctr"/>
          <a:lstStyle/>
          <a:p>
            <a:pPr algn="ctr"/>
          </a:p>
        </p:txBody>
      </p:sp>
      <p:sp>
        <p:nvSpPr>
          <p:cNvPr id="55" name="Rectangle 54"/>
          <p:cNvSpPr/>
          <p:nvPr/>
        </p:nvSpPr>
        <p:spPr>
          <a:xfrm>
            <a:off x="1847088" y="2199132"/>
            <a:ext cx="274320" cy="274320"/>
          </a:xfrm>
          <a:prstGeom prst="rect">
            <a:avLst/>
          </a:prstGeom>
          <a:solidFill>
            <a:srgbClr val="E5E7EB"/>
          </a:solidFill>
          <a:ln>
            <a:noFill/>
          </a:ln>
        </p:spPr>
        <p:txBody>
          <a:bodyPr rtlCol="0" anchor="ctr"/>
          <a:lstStyle/>
          <a:p>
            <a:pPr algn="ctr"/>
          </a:p>
        </p:txBody>
      </p:sp>
      <p:sp>
        <p:nvSpPr>
          <p:cNvPr id="56" name="Rectangle 55"/>
          <p:cNvSpPr/>
          <p:nvPr/>
        </p:nvSpPr>
        <p:spPr>
          <a:xfrm>
            <a:off x="1847088" y="1874520"/>
            <a:ext cx="274320" cy="274320"/>
          </a:xfrm>
          <a:prstGeom prst="rect">
            <a:avLst/>
          </a:prstGeom>
          <a:solidFill>
            <a:srgbClr val="E5E7EB"/>
          </a:solidFill>
          <a:ln>
            <a:noFill/>
          </a:ln>
        </p:spPr>
        <p:txBody>
          <a:bodyPr rtlCol="0" anchor="ctr"/>
          <a:lstStyle/>
          <a:p>
            <a:pPr algn="ctr"/>
          </a:p>
        </p:txBody>
      </p:sp>
      <p:sp>
        <p:nvSpPr>
          <p:cNvPr id="57" name="Rectangle 56"/>
          <p:cNvSpPr/>
          <p:nvPr/>
        </p:nvSpPr>
        <p:spPr>
          <a:xfrm>
            <a:off x="2171700" y="4796028"/>
            <a:ext cx="274320" cy="274320"/>
          </a:xfrm>
          <a:prstGeom prst="rect">
            <a:avLst/>
          </a:prstGeom>
          <a:solidFill>
            <a:srgbClr val="E5E7EB"/>
          </a:solidFill>
          <a:ln>
            <a:noFill/>
          </a:ln>
        </p:spPr>
        <p:txBody>
          <a:bodyPr rtlCol="0" anchor="ctr"/>
          <a:lstStyle/>
          <a:p>
            <a:pPr algn="ctr"/>
          </a:p>
        </p:txBody>
      </p:sp>
      <p:sp>
        <p:nvSpPr>
          <p:cNvPr id="58" name="Rectangle 57"/>
          <p:cNvSpPr/>
          <p:nvPr/>
        </p:nvSpPr>
        <p:spPr>
          <a:xfrm>
            <a:off x="2171700" y="4471416"/>
            <a:ext cx="274320" cy="274320"/>
          </a:xfrm>
          <a:prstGeom prst="rect">
            <a:avLst/>
          </a:prstGeom>
          <a:solidFill>
            <a:srgbClr val="E5E7EB"/>
          </a:solidFill>
          <a:ln>
            <a:noFill/>
          </a:ln>
        </p:spPr>
        <p:txBody>
          <a:bodyPr rtlCol="0" anchor="ctr"/>
          <a:lstStyle/>
          <a:p>
            <a:pPr algn="ctr"/>
          </a:p>
        </p:txBody>
      </p:sp>
      <p:sp>
        <p:nvSpPr>
          <p:cNvPr id="59" name="Rectangle 58"/>
          <p:cNvSpPr/>
          <p:nvPr/>
        </p:nvSpPr>
        <p:spPr>
          <a:xfrm>
            <a:off x="2171700" y="4146804"/>
            <a:ext cx="274320" cy="274320"/>
          </a:xfrm>
          <a:prstGeom prst="rect">
            <a:avLst/>
          </a:prstGeom>
          <a:solidFill>
            <a:srgbClr val="E5E7EB"/>
          </a:solidFill>
          <a:ln>
            <a:noFill/>
          </a:ln>
        </p:spPr>
        <p:txBody>
          <a:bodyPr rtlCol="0" anchor="ctr"/>
          <a:lstStyle/>
          <a:p>
            <a:pPr algn="ctr"/>
          </a:p>
        </p:txBody>
      </p:sp>
      <p:sp>
        <p:nvSpPr>
          <p:cNvPr id="60" name="Rectangle 59"/>
          <p:cNvSpPr/>
          <p:nvPr/>
        </p:nvSpPr>
        <p:spPr>
          <a:xfrm>
            <a:off x="2171700" y="3822192"/>
            <a:ext cx="274320" cy="274320"/>
          </a:xfrm>
          <a:prstGeom prst="rect">
            <a:avLst/>
          </a:prstGeom>
          <a:solidFill>
            <a:srgbClr val="E5E7EB"/>
          </a:solidFill>
          <a:ln>
            <a:noFill/>
          </a:ln>
        </p:spPr>
        <p:txBody>
          <a:bodyPr rtlCol="0" anchor="ctr"/>
          <a:lstStyle/>
          <a:p>
            <a:pPr algn="ctr"/>
          </a:p>
        </p:txBody>
      </p:sp>
      <p:sp>
        <p:nvSpPr>
          <p:cNvPr id="61" name="Rectangle 60"/>
          <p:cNvSpPr/>
          <p:nvPr/>
        </p:nvSpPr>
        <p:spPr>
          <a:xfrm>
            <a:off x="2171700" y="3497580"/>
            <a:ext cx="274320" cy="274320"/>
          </a:xfrm>
          <a:prstGeom prst="rect">
            <a:avLst/>
          </a:prstGeom>
          <a:solidFill>
            <a:srgbClr val="E5E7EB"/>
          </a:solidFill>
          <a:ln>
            <a:noFill/>
          </a:ln>
        </p:spPr>
        <p:txBody>
          <a:bodyPr rtlCol="0" anchor="ctr"/>
          <a:lstStyle/>
          <a:p>
            <a:pPr algn="ctr"/>
          </a:p>
        </p:txBody>
      </p:sp>
      <p:sp>
        <p:nvSpPr>
          <p:cNvPr id="62" name="Rectangle 61"/>
          <p:cNvSpPr/>
          <p:nvPr/>
        </p:nvSpPr>
        <p:spPr>
          <a:xfrm>
            <a:off x="2171700" y="3172968"/>
            <a:ext cx="274320" cy="274320"/>
          </a:xfrm>
          <a:prstGeom prst="rect">
            <a:avLst/>
          </a:prstGeom>
          <a:solidFill>
            <a:srgbClr val="E5E7EB"/>
          </a:solidFill>
          <a:ln>
            <a:noFill/>
          </a:ln>
        </p:spPr>
        <p:txBody>
          <a:bodyPr rtlCol="0" anchor="ctr"/>
          <a:lstStyle/>
          <a:p>
            <a:pPr algn="ctr"/>
          </a:p>
        </p:txBody>
      </p:sp>
      <p:sp>
        <p:nvSpPr>
          <p:cNvPr id="63" name="Rectangle 62"/>
          <p:cNvSpPr/>
          <p:nvPr/>
        </p:nvSpPr>
        <p:spPr>
          <a:xfrm>
            <a:off x="2171700" y="2848356"/>
            <a:ext cx="274320" cy="274320"/>
          </a:xfrm>
          <a:prstGeom prst="rect">
            <a:avLst/>
          </a:prstGeom>
          <a:solidFill>
            <a:srgbClr val="E5E7EB"/>
          </a:solidFill>
          <a:ln>
            <a:noFill/>
          </a:ln>
        </p:spPr>
        <p:txBody>
          <a:bodyPr rtlCol="0" anchor="ctr"/>
          <a:lstStyle/>
          <a:p>
            <a:pPr algn="ctr"/>
          </a:p>
        </p:txBody>
      </p:sp>
      <p:sp>
        <p:nvSpPr>
          <p:cNvPr id="64" name="Rectangle 63"/>
          <p:cNvSpPr/>
          <p:nvPr/>
        </p:nvSpPr>
        <p:spPr>
          <a:xfrm>
            <a:off x="2171700" y="2523744"/>
            <a:ext cx="274320" cy="274320"/>
          </a:xfrm>
          <a:prstGeom prst="rect">
            <a:avLst/>
          </a:prstGeom>
          <a:solidFill>
            <a:srgbClr val="E5E7EB"/>
          </a:solidFill>
          <a:ln>
            <a:noFill/>
          </a:ln>
        </p:spPr>
        <p:txBody>
          <a:bodyPr rtlCol="0" anchor="ctr"/>
          <a:lstStyle/>
          <a:p>
            <a:pPr algn="ctr"/>
          </a:p>
        </p:txBody>
      </p:sp>
      <p:sp>
        <p:nvSpPr>
          <p:cNvPr id="65" name="Rectangle 64"/>
          <p:cNvSpPr/>
          <p:nvPr/>
        </p:nvSpPr>
        <p:spPr>
          <a:xfrm>
            <a:off x="2171700" y="2199132"/>
            <a:ext cx="274320" cy="274320"/>
          </a:xfrm>
          <a:prstGeom prst="rect">
            <a:avLst/>
          </a:prstGeom>
          <a:solidFill>
            <a:srgbClr val="E5E7EB"/>
          </a:solidFill>
          <a:ln>
            <a:noFill/>
          </a:ln>
        </p:spPr>
        <p:txBody>
          <a:bodyPr rtlCol="0" anchor="ctr"/>
          <a:lstStyle/>
          <a:p>
            <a:pPr algn="ctr"/>
          </a:p>
        </p:txBody>
      </p:sp>
      <p:sp>
        <p:nvSpPr>
          <p:cNvPr id="66" name="Rectangle 65"/>
          <p:cNvSpPr/>
          <p:nvPr/>
        </p:nvSpPr>
        <p:spPr>
          <a:xfrm>
            <a:off x="2171700" y="1874520"/>
            <a:ext cx="274320" cy="274320"/>
          </a:xfrm>
          <a:prstGeom prst="rect">
            <a:avLst/>
          </a:prstGeom>
          <a:solidFill>
            <a:srgbClr val="E5E7EB"/>
          </a:solidFill>
          <a:ln>
            <a:noFill/>
          </a:ln>
        </p:spPr>
        <p:txBody>
          <a:bodyPr rtlCol="0" anchor="ctr"/>
          <a:lstStyle/>
          <a:p>
            <a:pPr algn="ctr"/>
          </a:p>
        </p:txBody>
      </p:sp>
      <p:sp>
        <p:nvSpPr>
          <p:cNvPr id="67" name="Rectangle 66"/>
          <p:cNvSpPr/>
          <p:nvPr/>
        </p:nvSpPr>
        <p:spPr>
          <a:xfrm>
            <a:off x="2496312" y="4796028"/>
            <a:ext cx="274320" cy="274320"/>
          </a:xfrm>
          <a:prstGeom prst="rect">
            <a:avLst/>
          </a:prstGeom>
          <a:solidFill>
            <a:srgbClr val="E5E7EB"/>
          </a:solidFill>
          <a:ln>
            <a:noFill/>
          </a:ln>
        </p:spPr>
        <p:txBody>
          <a:bodyPr rtlCol="0" anchor="ctr"/>
          <a:lstStyle/>
          <a:p>
            <a:pPr algn="ctr"/>
          </a:p>
        </p:txBody>
      </p:sp>
      <p:sp>
        <p:nvSpPr>
          <p:cNvPr id="68" name="Rectangle 67"/>
          <p:cNvSpPr/>
          <p:nvPr/>
        </p:nvSpPr>
        <p:spPr>
          <a:xfrm>
            <a:off x="2496312" y="4471416"/>
            <a:ext cx="274320" cy="274320"/>
          </a:xfrm>
          <a:prstGeom prst="rect">
            <a:avLst/>
          </a:prstGeom>
          <a:solidFill>
            <a:srgbClr val="E5E7EB"/>
          </a:solidFill>
          <a:ln>
            <a:noFill/>
          </a:ln>
        </p:spPr>
        <p:txBody>
          <a:bodyPr rtlCol="0" anchor="ctr"/>
          <a:lstStyle/>
          <a:p>
            <a:pPr algn="ctr"/>
          </a:p>
        </p:txBody>
      </p:sp>
      <p:sp>
        <p:nvSpPr>
          <p:cNvPr id="69" name="Rectangle 68"/>
          <p:cNvSpPr/>
          <p:nvPr/>
        </p:nvSpPr>
        <p:spPr>
          <a:xfrm>
            <a:off x="2496312" y="4146804"/>
            <a:ext cx="274320" cy="274320"/>
          </a:xfrm>
          <a:prstGeom prst="rect">
            <a:avLst/>
          </a:prstGeom>
          <a:solidFill>
            <a:srgbClr val="E5E7EB"/>
          </a:solidFill>
          <a:ln>
            <a:noFill/>
          </a:ln>
        </p:spPr>
        <p:txBody>
          <a:bodyPr rtlCol="0" anchor="ctr"/>
          <a:lstStyle/>
          <a:p>
            <a:pPr algn="ctr"/>
          </a:p>
        </p:txBody>
      </p:sp>
      <p:sp>
        <p:nvSpPr>
          <p:cNvPr id="70" name="Rectangle 69"/>
          <p:cNvSpPr/>
          <p:nvPr/>
        </p:nvSpPr>
        <p:spPr>
          <a:xfrm>
            <a:off x="2496312" y="3822192"/>
            <a:ext cx="274320" cy="274320"/>
          </a:xfrm>
          <a:prstGeom prst="rect">
            <a:avLst/>
          </a:prstGeom>
          <a:solidFill>
            <a:srgbClr val="E5E7EB"/>
          </a:solidFill>
          <a:ln>
            <a:noFill/>
          </a:ln>
        </p:spPr>
        <p:txBody>
          <a:bodyPr rtlCol="0" anchor="ctr"/>
          <a:lstStyle/>
          <a:p>
            <a:pPr algn="ctr"/>
          </a:p>
        </p:txBody>
      </p:sp>
      <p:sp>
        <p:nvSpPr>
          <p:cNvPr id="71" name="Rectangle 70"/>
          <p:cNvSpPr/>
          <p:nvPr/>
        </p:nvSpPr>
        <p:spPr>
          <a:xfrm>
            <a:off x="2496312" y="3497580"/>
            <a:ext cx="274320" cy="274320"/>
          </a:xfrm>
          <a:prstGeom prst="rect">
            <a:avLst/>
          </a:prstGeom>
          <a:solidFill>
            <a:srgbClr val="E5E7EB"/>
          </a:solidFill>
          <a:ln>
            <a:noFill/>
          </a:ln>
        </p:spPr>
        <p:txBody>
          <a:bodyPr rtlCol="0" anchor="ctr"/>
          <a:lstStyle/>
          <a:p>
            <a:pPr algn="ctr"/>
          </a:p>
        </p:txBody>
      </p:sp>
      <p:sp>
        <p:nvSpPr>
          <p:cNvPr id="72" name="Rectangle 71"/>
          <p:cNvSpPr/>
          <p:nvPr/>
        </p:nvSpPr>
        <p:spPr>
          <a:xfrm>
            <a:off x="2496312" y="3172968"/>
            <a:ext cx="274320" cy="274320"/>
          </a:xfrm>
          <a:prstGeom prst="rect">
            <a:avLst/>
          </a:prstGeom>
          <a:solidFill>
            <a:srgbClr val="E5E7EB"/>
          </a:solidFill>
          <a:ln>
            <a:noFill/>
          </a:ln>
        </p:spPr>
        <p:txBody>
          <a:bodyPr rtlCol="0" anchor="ctr"/>
          <a:lstStyle/>
          <a:p>
            <a:pPr algn="ctr"/>
          </a:p>
        </p:txBody>
      </p:sp>
      <p:sp>
        <p:nvSpPr>
          <p:cNvPr id="73" name="Rectangle 72"/>
          <p:cNvSpPr/>
          <p:nvPr/>
        </p:nvSpPr>
        <p:spPr>
          <a:xfrm>
            <a:off x="2496312" y="2848356"/>
            <a:ext cx="274320" cy="274320"/>
          </a:xfrm>
          <a:prstGeom prst="rect">
            <a:avLst/>
          </a:prstGeom>
          <a:solidFill>
            <a:srgbClr val="E5E7EB"/>
          </a:solidFill>
          <a:ln>
            <a:noFill/>
          </a:ln>
        </p:spPr>
        <p:txBody>
          <a:bodyPr rtlCol="0" anchor="ctr"/>
          <a:lstStyle/>
          <a:p>
            <a:pPr algn="ctr"/>
          </a:p>
        </p:txBody>
      </p:sp>
      <p:sp>
        <p:nvSpPr>
          <p:cNvPr id="74" name="Rectangle 73"/>
          <p:cNvSpPr/>
          <p:nvPr/>
        </p:nvSpPr>
        <p:spPr>
          <a:xfrm>
            <a:off x="2496312" y="2523744"/>
            <a:ext cx="274320" cy="274320"/>
          </a:xfrm>
          <a:prstGeom prst="rect">
            <a:avLst/>
          </a:prstGeom>
          <a:solidFill>
            <a:srgbClr val="E5E7EB"/>
          </a:solidFill>
          <a:ln>
            <a:noFill/>
          </a:ln>
        </p:spPr>
        <p:txBody>
          <a:bodyPr rtlCol="0" anchor="ctr"/>
          <a:lstStyle/>
          <a:p>
            <a:pPr algn="ctr"/>
          </a:p>
        </p:txBody>
      </p:sp>
      <p:sp>
        <p:nvSpPr>
          <p:cNvPr id="75" name="Rectangle 74"/>
          <p:cNvSpPr/>
          <p:nvPr/>
        </p:nvSpPr>
        <p:spPr>
          <a:xfrm>
            <a:off x="2496312" y="2199132"/>
            <a:ext cx="274320" cy="274320"/>
          </a:xfrm>
          <a:prstGeom prst="rect">
            <a:avLst/>
          </a:prstGeom>
          <a:solidFill>
            <a:srgbClr val="E5E7EB"/>
          </a:solidFill>
          <a:ln>
            <a:noFill/>
          </a:ln>
        </p:spPr>
        <p:txBody>
          <a:bodyPr rtlCol="0" anchor="ctr"/>
          <a:lstStyle/>
          <a:p>
            <a:pPr algn="ctr"/>
          </a:p>
        </p:txBody>
      </p:sp>
      <p:sp>
        <p:nvSpPr>
          <p:cNvPr id="76" name="Rectangle 75"/>
          <p:cNvSpPr/>
          <p:nvPr/>
        </p:nvSpPr>
        <p:spPr>
          <a:xfrm>
            <a:off x="2496312" y="1874520"/>
            <a:ext cx="274320" cy="274320"/>
          </a:xfrm>
          <a:prstGeom prst="rect">
            <a:avLst/>
          </a:prstGeom>
          <a:solidFill>
            <a:srgbClr val="E5E7EB"/>
          </a:solidFill>
          <a:ln>
            <a:noFill/>
          </a:ln>
        </p:spPr>
        <p:txBody>
          <a:bodyPr rtlCol="0" anchor="ctr"/>
          <a:lstStyle/>
          <a:p>
            <a:pPr algn="ctr"/>
          </a:p>
        </p:txBody>
      </p:sp>
      <p:sp>
        <p:nvSpPr>
          <p:cNvPr id="77" name="Rectangle 76"/>
          <p:cNvSpPr/>
          <p:nvPr/>
        </p:nvSpPr>
        <p:spPr>
          <a:xfrm>
            <a:off x="2820924" y="4796028"/>
            <a:ext cx="274320" cy="274320"/>
          </a:xfrm>
          <a:prstGeom prst="rect">
            <a:avLst/>
          </a:prstGeom>
          <a:solidFill>
            <a:srgbClr val="E5E7EB"/>
          </a:solidFill>
          <a:ln>
            <a:noFill/>
          </a:ln>
        </p:spPr>
        <p:txBody>
          <a:bodyPr rtlCol="0" anchor="ctr"/>
          <a:lstStyle/>
          <a:p>
            <a:pPr algn="ctr"/>
          </a:p>
        </p:txBody>
      </p:sp>
      <p:sp>
        <p:nvSpPr>
          <p:cNvPr id="78" name="Rectangle 77"/>
          <p:cNvSpPr/>
          <p:nvPr/>
        </p:nvSpPr>
        <p:spPr>
          <a:xfrm>
            <a:off x="2820924" y="4471416"/>
            <a:ext cx="274320" cy="274320"/>
          </a:xfrm>
          <a:prstGeom prst="rect">
            <a:avLst/>
          </a:prstGeom>
          <a:solidFill>
            <a:srgbClr val="E5E7EB"/>
          </a:solidFill>
          <a:ln>
            <a:noFill/>
          </a:ln>
        </p:spPr>
        <p:txBody>
          <a:bodyPr rtlCol="0" anchor="ctr"/>
          <a:lstStyle/>
          <a:p>
            <a:pPr algn="ctr"/>
          </a:p>
        </p:txBody>
      </p:sp>
      <p:sp>
        <p:nvSpPr>
          <p:cNvPr id="79" name="Rectangle 78"/>
          <p:cNvSpPr/>
          <p:nvPr/>
        </p:nvSpPr>
        <p:spPr>
          <a:xfrm>
            <a:off x="2820924" y="4146804"/>
            <a:ext cx="274320" cy="274320"/>
          </a:xfrm>
          <a:prstGeom prst="rect">
            <a:avLst/>
          </a:prstGeom>
          <a:solidFill>
            <a:srgbClr val="E5E7EB"/>
          </a:solidFill>
          <a:ln>
            <a:noFill/>
          </a:ln>
        </p:spPr>
        <p:txBody>
          <a:bodyPr rtlCol="0" anchor="ctr"/>
          <a:lstStyle/>
          <a:p>
            <a:pPr algn="ctr"/>
          </a:p>
        </p:txBody>
      </p:sp>
      <p:sp>
        <p:nvSpPr>
          <p:cNvPr id="80" name="Rectangle 79"/>
          <p:cNvSpPr/>
          <p:nvPr/>
        </p:nvSpPr>
        <p:spPr>
          <a:xfrm>
            <a:off x="2820924" y="3822192"/>
            <a:ext cx="274320" cy="274320"/>
          </a:xfrm>
          <a:prstGeom prst="rect">
            <a:avLst/>
          </a:prstGeom>
          <a:solidFill>
            <a:srgbClr val="E5E7EB"/>
          </a:solidFill>
          <a:ln>
            <a:noFill/>
          </a:ln>
        </p:spPr>
        <p:txBody>
          <a:bodyPr rtlCol="0" anchor="ctr"/>
          <a:lstStyle/>
          <a:p>
            <a:pPr algn="ctr"/>
          </a:p>
        </p:txBody>
      </p:sp>
      <p:sp>
        <p:nvSpPr>
          <p:cNvPr id="81" name="Rectangle 80"/>
          <p:cNvSpPr/>
          <p:nvPr/>
        </p:nvSpPr>
        <p:spPr>
          <a:xfrm>
            <a:off x="2820924" y="3497580"/>
            <a:ext cx="274320" cy="274320"/>
          </a:xfrm>
          <a:prstGeom prst="rect">
            <a:avLst/>
          </a:prstGeom>
          <a:solidFill>
            <a:srgbClr val="E5E7EB"/>
          </a:solidFill>
          <a:ln>
            <a:noFill/>
          </a:ln>
        </p:spPr>
        <p:txBody>
          <a:bodyPr rtlCol="0" anchor="ctr"/>
          <a:lstStyle/>
          <a:p>
            <a:pPr algn="ctr"/>
          </a:p>
        </p:txBody>
      </p:sp>
      <p:sp>
        <p:nvSpPr>
          <p:cNvPr id="82" name="Rectangle 81"/>
          <p:cNvSpPr/>
          <p:nvPr/>
        </p:nvSpPr>
        <p:spPr>
          <a:xfrm>
            <a:off x="2820924" y="3172968"/>
            <a:ext cx="274320" cy="274320"/>
          </a:xfrm>
          <a:prstGeom prst="rect">
            <a:avLst/>
          </a:prstGeom>
          <a:solidFill>
            <a:srgbClr val="E5E7EB"/>
          </a:solidFill>
          <a:ln>
            <a:noFill/>
          </a:ln>
        </p:spPr>
        <p:txBody>
          <a:bodyPr rtlCol="0" anchor="ctr"/>
          <a:lstStyle/>
          <a:p>
            <a:pPr algn="ctr"/>
          </a:p>
        </p:txBody>
      </p:sp>
      <p:sp>
        <p:nvSpPr>
          <p:cNvPr id="83" name="Rectangle 82"/>
          <p:cNvSpPr/>
          <p:nvPr/>
        </p:nvSpPr>
        <p:spPr>
          <a:xfrm>
            <a:off x="2820924" y="2848356"/>
            <a:ext cx="274320" cy="274320"/>
          </a:xfrm>
          <a:prstGeom prst="rect">
            <a:avLst/>
          </a:prstGeom>
          <a:solidFill>
            <a:srgbClr val="E5E7EB"/>
          </a:solidFill>
          <a:ln>
            <a:noFill/>
          </a:ln>
        </p:spPr>
        <p:txBody>
          <a:bodyPr rtlCol="0" anchor="ctr"/>
          <a:lstStyle/>
          <a:p>
            <a:pPr algn="ctr"/>
          </a:p>
        </p:txBody>
      </p:sp>
      <p:sp>
        <p:nvSpPr>
          <p:cNvPr id="84" name="Rectangle 83"/>
          <p:cNvSpPr/>
          <p:nvPr/>
        </p:nvSpPr>
        <p:spPr>
          <a:xfrm>
            <a:off x="2820924" y="2523744"/>
            <a:ext cx="274320" cy="274320"/>
          </a:xfrm>
          <a:prstGeom prst="rect">
            <a:avLst/>
          </a:prstGeom>
          <a:solidFill>
            <a:srgbClr val="E5E7EB"/>
          </a:solidFill>
          <a:ln>
            <a:noFill/>
          </a:ln>
        </p:spPr>
        <p:txBody>
          <a:bodyPr rtlCol="0" anchor="ctr"/>
          <a:lstStyle/>
          <a:p>
            <a:pPr algn="ctr"/>
          </a:p>
        </p:txBody>
      </p:sp>
      <p:sp>
        <p:nvSpPr>
          <p:cNvPr id="85" name="Rectangle 84"/>
          <p:cNvSpPr/>
          <p:nvPr/>
        </p:nvSpPr>
        <p:spPr>
          <a:xfrm>
            <a:off x="2820924" y="2199132"/>
            <a:ext cx="274320" cy="274320"/>
          </a:xfrm>
          <a:prstGeom prst="rect">
            <a:avLst/>
          </a:prstGeom>
          <a:solidFill>
            <a:srgbClr val="E5E7EB"/>
          </a:solidFill>
          <a:ln>
            <a:noFill/>
          </a:ln>
        </p:spPr>
        <p:txBody>
          <a:bodyPr rtlCol="0" anchor="ctr"/>
          <a:lstStyle/>
          <a:p>
            <a:pPr algn="ctr"/>
          </a:p>
        </p:txBody>
      </p:sp>
      <p:sp>
        <p:nvSpPr>
          <p:cNvPr id="86" name="Rectangle 85"/>
          <p:cNvSpPr/>
          <p:nvPr/>
        </p:nvSpPr>
        <p:spPr>
          <a:xfrm>
            <a:off x="2820924" y="1874520"/>
            <a:ext cx="274320" cy="274320"/>
          </a:xfrm>
          <a:prstGeom prst="rect">
            <a:avLst/>
          </a:prstGeom>
          <a:solidFill>
            <a:srgbClr val="E5E7EB"/>
          </a:solidFill>
          <a:ln>
            <a:noFill/>
          </a:ln>
        </p:spPr>
        <p:txBody>
          <a:bodyPr rtlCol="0" anchor="ctr"/>
          <a:lstStyle/>
          <a:p>
            <a:pPr algn="ctr"/>
          </a:p>
        </p:txBody>
      </p:sp>
      <p:sp>
        <p:nvSpPr>
          <p:cNvPr id="87" name="Rectangle 86"/>
          <p:cNvSpPr/>
          <p:nvPr/>
        </p:nvSpPr>
        <p:spPr>
          <a:xfrm>
            <a:off x="3145536" y="4796028"/>
            <a:ext cx="274320" cy="274320"/>
          </a:xfrm>
          <a:prstGeom prst="rect">
            <a:avLst/>
          </a:prstGeom>
          <a:solidFill>
            <a:srgbClr val="E5E7EB"/>
          </a:solidFill>
          <a:ln>
            <a:noFill/>
          </a:ln>
        </p:spPr>
        <p:txBody>
          <a:bodyPr rtlCol="0" anchor="ctr"/>
          <a:lstStyle/>
          <a:p>
            <a:pPr algn="ctr"/>
          </a:p>
        </p:txBody>
      </p:sp>
      <p:sp>
        <p:nvSpPr>
          <p:cNvPr id="88" name="Rectangle 87"/>
          <p:cNvSpPr/>
          <p:nvPr/>
        </p:nvSpPr>
        <p:spPr>
          <a:xfrm>
            <a:off x="3145536" y="4471416"/>
            <a:ext cx="274320" cy="274320"/>
          </a:xfrm>
          <a:prstGeom prst="rect">
            <a:avLst/>
          </a:prstGeom>
          <a:solidFill>
            <a:srgbClr val="E5E7EB"/>
          </a:solidFill>
          <a:ln>
            <a:noFill/>
          </a:ln>
        </p:spPr>
        <p:txBody>
          <a:bodyPr rtlCol="0" anchor="ctr"/>
          <a:lstStyle/>
          <a:p>
            <a:pPr algn="ctr"/>
          </a:p>
        </p:txBody>
      </p:sp>
      <p:sp>
        <p:nvSpPr>
          <p:cNvPr id="89" name="Rectangle 88"/>
          <p:cNvSpPr/>
          <p:nvPr/>
        </p:nvSpPr>
        <p:spPr>
          <a:xfrm>
            <a:off x="3145536" y="4146804"/>
            <a:ext cx="274320" cy="274320"/>
          </a:xfrm>
          <a:prstGeom prst="rect">
            <a:avLst/>
          </a:prstGeom>
          <a:solidFill>
            <a:srgbClr val="E5E7EB"/>
          </a:solidFill>
          <a:ln>
            <a:noFill/>
          </a:ln>
        </p:spPr>
        <p:txBody>
          <a:bodyPr rtlCol="0" anchor="ctr"/>
          <a:lstStyle/>
          <a:p>
            <a:pPr algn="ctr"/>
          </a:p>
        </p:txBody>
      </p:sp>
      <p:sp>
        <p:nvSpPr>
          <p:cNvPr id="90" name="Rectangle 89"/>
          <p:cNvSpPr/>
          <p:nvPr/>
        </p:nvSpPr>
        <p:spPr>
          <a:xfrm>
            <a:off x="3145536" y="3822192"/>
            <a:ext cx="274320" cy="274320"/>
          </a:xfrm>
          <a:prstGeom prst="rect">
            <a:avLst/>
          </a:prstGeom>
          <a:solidFill>
            <a:srgbClr val="E5E7EB"/>
          </a:solidFill>
          <a:ln>
            <a:noFill/>
          </a:ln>
        </p:spPr>
        <p:txBody>
          <a:bodyPr rtlCol="0" anchor="ctr"/>
          <a:lstStyle/>
          <a:p>
            <a:pPr algn="ctr"/>
          </a:p>
        </p:txBody>
      </p:sp>
      <p:sp>
        <p:nvSpPr>
          <p:cNvPr id="91" name="Rectangle 90"/>
          <p:cNvSpPr/>
          <p:nvPr/>
        </p:nvSpPr>
        <p:spPr>
          <a:xfrm>
            <a:off x="3145536" y="3497580"/>
            <a:ext cx="274320" cy="274320"/>
          </a:xfrm>
          <a:prstGeom prst="rect">
            <a:avLst/>
          </a:prstGeom>
          <a:solidFill>
            <a:srgbClr val="E5E7EB"/>
          </a:solidFill>
          <a:ln>
            <a:noFill/>
          </a:ln>
        </p:spPr>
        <p:txBody>
          <a:bodyPr rtlCol="0" anchor="ctr"/>
          <a:lstStyle/>
          <a:p>
            <a:pPr algn="ctr"/>
          </a:p>
        </p:txBody>
      </p:sp>
      <p:sp>
        <p:nvSpPr>
          <p:cNvPr id="92" name="Rectangle 91"/>
          <p:cNvSpPr/>
          <p:nvPr/>
        </p:nvSpPr>
        <p:spPr>
          <a:xfrm>
            <a:off x="3145536" y="3172968"/>
            <a:ext cx="274320" cy="274320"/>
          </a:xfrm>
          <a:prstGeom prst="rect">
            <a:avLst/>
          </a:prstGeom>
          <a:solidFill>
            <a:srgbClr val="E5E7EB"/>
          </a:solidFill>
          <a:ln>
            <a:noFill/>
          </a:ln>
        </p:spPr>
        <p:txBody>
          <a:bodyPr rtlCol="0" anchor="ctr"/>
          <a:lstStyle/>
          <a:p>
            <a:pPr algn="ctr"/>
          </a:p>
        </p:txBody>
      </p:sp>
      <p:sp>
        <p:nvSpPr>
          <p:cNvPr id="93" name="Rectangle 92"/>
          <p:cNvSpPr/>
          <p:nvPr/>
        </p:nvSpPr>
        <p:spPr>
          <a:xfrm>
            <a:off x="3145536" y="2848356"/>
            <a:ext cx="274320" cy="274320"/>
          </a:xfrm>
          <a:prstGeom prst="rect">
            <a:avLst/>
          </a:prstGeom>
          <a:solidFill>
            <a:srgbClr val="E5E7EB"/>
          </a:solidFill>
          <a:ln>
            <a:noFill/>
          </a:ln>
        </p:spPr>
        <p:txBody>
          <a:bodyPr rtlCol="0" anchor="ctr"/>
          <a:lstStyle/>
          <a:p>
            <a:pPr algn="ctr"/>
          </a:p>
        </p:txBody>
      </p:sp>
      <p:sp>
        <p:nvSpPr>
          <p:cNvPr id="94" name="Rectangle 93"/>
          <p:cNvSpPr/>
          <p:nvPr/>
        </p:nvSpPr>
        <p:spPr>
          <a:xfrm>
            <a:off x="3145536" y="2523744"/>
            <a:ext cx="274320" cy="274320"/>
          </a:xfrm>
          <a:prstGeom prst="rect">
            <a:avLst/>
          </a:prstGeom>
          <a:solidFill>
            <a:srgbClr val="E5E7EB"/>
          </a:solidFill>
          <a:ln>
            <a:noFill/>
          </a:ln>
        </p:spPr>
        <p:txBody>
          <a:bodyPr rtlCol="0" anchor="ctr"/>
          <a:lstStyle/>
          <a:p>
            <a:pPr algn="ctr"/>
          </a:p>
        </p:txBody>
      </p:sp>
      <p:sp>
        <p:nvSpPr>
          <p:cNvPr id="95" name="Rectangle 94"/>
          <p:cNvSpPr/>
          <p:nvPr/>
        </p:nvSpPr>
        <p:spPr>
          <a:xfrm>
            <a:off x="3145536" y="2199132"/>
            <a:ext cx="274320" cy="274320"/>
          </a:xfrm>
          <a:prstGeom prst="rect">
            <a:avLst/>
          </a:prstGeom>
          <a:solidFill>
            <a:srgbClr val="E5E7EB"/>
          </a:solidFill>
          <a:ln>
            <a:noFill/>
          </a:ln>
        </p:spPr>
        <p:txBody>
          <a:bodyPr rtlCol="0" anchor="ctr"/>
          <a:lstStyle/>
          <a:p>
            <a:pPr algn="ctr"/>
          </a:p>
        </p:txBody>
      </p:sp>
      <p:sp>
        <p:nvSpPr>
          <p:cNvPr id="96" name="Rectangle 95"/>
          <p:cNvSpPr/>
          <p:nvPr/>
        </p:nvSpPr>
        <p:spPr>
          <a:xfrm>
            <a:off x="3145536" y="1874520"/>
            <a:ext cx="274320" cy="274320"/>
          </a:xfrm>
          <a:prstGeom prst="rect">
            <a:avLst/>
          </a:prstGeom>
          <a:solidFill>
            <a:srgbClr val="E5E7EB"/>
          </a:solidFill>
          <a:ln>
            <a:noFill/>
          </a:ln>
        </p:spPr>
        <p:txBody>
          <a:bodyPr rtlCol="0" anchor="ctr"/>
          <a:lstStyle/>
          <a:p>
            <a:pPr algn="ctr"/>
          </a:p>
        </p:txBody>
      </p:sp>
      <p:sp>
        <p:nvSpPr>
          <p:cNvPr id="97" name="Rectangle 96"/>
          <p:cNvSpPr/>
          <p:nvPr/>
        </p:nvSpPr>
        <p:spPr>
          <a:xfrm>
            <a:off x="3470148" y="4796028"/>
            <a:ext cx="274320" cy="274320"/>
          </a:xfrm>
          <a:prstGeom prst="rect">
            <a:avLst/>
          </a:prstGeom>
          <a:solidFill>
            <a:srgbClr val="E5E7EB"/>
          </a:solidFill>
          <a:ln>
            <a:noFill/>
          </a:ln>
        </p:spPr>
        <p:txBody>
          <a:bodyPr rtlCol="0" anchor="ctr"/>
          <a:lstStyle/>
          <a:p>
            <a:pPr algn="ctr"/>
          </a:p>
        </p:txBody>
      </p:sp>
      <p:sp>
        <p:nvSpPr>
          <p:cNvPr id="98" name="Rectangle 97"/>
          <p:cNvSpPr/>
          <p:nvPr/>
        </p:nvSpPr>
        <p:spPr>
          <a:xfrm>
            <a:off x="3470148" y="4471416"/>
            <a:ext cx="274320" cy="274320"/>
          </a:xfrm>
          <a:prstGeom prst="rect">
            <a:avLst/>
          </a:prstGeom>
          <a:solidFill>
            <a:srgbClr val="E5E7EB"/>
          </a:solidFill>
          <a:ln>
            <a:noFill/>
          </a:ln>
        </p:spPr>
        <p:txBody>
          <a:bodyPr rtlCol="0" anchor="ctr"/>
          <a:lstStyle/>
          <a:p>
            <a:pPr algn="ctr"/>
          </a:p>
        </p:txBody>
      </p:sp>
      <p:sp>
        <p:nvSpPr>
          <p:cNvPr id="99" name="Rectangle 98"/>
          <p:cNvSpPr/>
          <p:nvPr/>
        </p:nvSpPr>
        <p:spPr>
          <a:xfrm>
            <a:off x="3470148" y="4146804"/>
            <a:ext cx="274320" cy="274320"/>
          </a:xfrm>
          <a:prstGeom prst="rect">
            <a:avLst/>
          </a:prstGeom>
          <a:solidFill>
            <a:srgbClr val="E5E7EB"/>
          </a:solidFill>
          <a:ln>
            <a:noFill/>
          </a:ln>
        </p:spPr>
        <p:txBody>
          <a:bodyPr rtlCol="0" anchor="ctr"/>
          <a:lstStyle/>
          <a:p>
            <a:pPr algn="ctr"/>
          </a:p>
        </p:txBody>
      </p:sp>
      <p:sp>
        <p:nvSpPr>
          <p:cNvPr id="100" name="Rectangle 99"/>
          <p:cNvSpPr/>
          <p:nvPr/>
        </p:nvSpPr>
        <p:spPr>
          <a:xfrm>
            <a:off x="3470148" y="3822192"/>
            <a:ext cx="274320" cy="274320"/>
          </a:xfrm>
          <a:prstGeom prst="rect">
            <a:avLst/>
          </a:prstGeom>
          <a:solidFill>
            <a:srgbClr val="E5E7EB"/>
          </a:solidFill>
          <a:ln>
            <a:noFill/>
          </a:ln>
        </p:spPr>
        <p:txBody>
          <a:bodyPr rtlCol="0" anchor="ctr"/>
          <a:lstStyle/>
          <a:p>
            <a:pPr algn="ctr"/>
          </a:p>
        </p:txBody>
      </p:sp>
      <p:sp>
        <p:nvSpPr>
          <p:cNvPr id="101" name="Rectangle 100"/>
          <p:cNvSpPr/>
          <p:nvPr/>
        </p:nvSpPr>
        <p:spPr>
          <a:xfrm>
            <a:off x="3470148" y="3497580"/>
            <a:ext cx="274320" cy="274320"/>
          </a:xfrm>
          <a:prstGeom prst="rect">
            <a:avLst/>
          </a:prstGeom>
          <a:solidFill>
            <a:srgbClr val="E5E7EB"/>
          </a:solidFill>
          <a:ln>
            <a:noFill/>
          </a:ln>
        </p:spPr>
        <p:txBody>
          <a:bodyPr rtlCol="0" anchor="ctr"/>
          <a:lstStyle/>
          <a:p>
            <a:pPr algn="ctr"/>
          </a:p>
        </p:txBody>
      </p:sp>
      <p:sp>
        <p:nvSpPr>
          <p:cNvPr id="102" name="Rectangle 101"/>
          <p:cNvSpPr/>
          <p:nvPr/>
        </p:nvSpPr>
        <p:spPr>
          <a:xfrm>
            <a:off x="3470148" y="3172968"/>
            <a:ext cx="274320" cy="274320"/>
          </a:xfrm>
          <a:prstGeom prst="rect">
            <a:avLst/>
          </a:prstGeom>
          <a:solidFill>
            <a:srgbClr val="E5E7EB"/>
          </a:solidFill>
          <a:ln>
            <a:noFill/>
          </a:ln>
        </p:spPr>
        <p:txBody>
          <a:bodyPr rtlCol="0" anchor="ctr"/>
          <a:lstStyle/>
          <a:p>
            <a:pPr algn="ctr"/>
          </a:p>
        </p:txBody>
      </p:sp>
      <p:sp>
        <p:nvSpPr>
          <p:cNvPr id="103" name="Rectangle 102"/>
          <p:cNvSpPr/>
          <p:nvPr/>
        </p:nvSpPr>
        <p:spPr>
          <a:xfrm>
            <a:off x="3470148" y="2848356"/>
            <a:ext cx="274320" cy="274320"/>
          </a:xfrm>
          <a:prstGeom prst="rect">
            <a:avLst/>
          </a:prstGeom>
          <a:solidFill>
            <a:srgbClr val="E5E7EB"/>
          </a:solidFill>
          <a:ln>
            <a:noFill/>
          </a:ln>
        </p:spPr>
        <p:txBody>
          <a:bodyPr rtlCol="0" anchor="ctr"/>
          <a:lstStyle/>
          <a:p>
            <a:pPr algn="ctr"/>
          </a:p>
        </p:txBody>
      </p:sp>
      <p:sp>
        <p:nvSpPr>
          <p:cNvPr id="104" name="Rectangle 103"/>
          <p:cNvSpPr/>
          <p:nvPr/>
        </p:nvSpPr>
        <p:spPr>
          <a:xfrm>
            <a:off x="3470148" y="2523744"/>
            <a:ext cx="274320" cy="274320"/>
          </a:xfrm>
          <a:prstGeom prst="rect">
            <a:avLst/>
          </a:prstGeom>
          <a:solidFill>
            <a:srgbClr val="E5E7EB"/>
          </a:solidFill>
          <a:ln>
            <a:noFill/>
          </a:ln>
        </p:spPr>
        <p:txBody>
          <a:bodyPr rtlCol="0" anchor="ctr"/>
          <a:lstStyle/>
          <a:p>
            <a:pPr algn="ctr"/>
          </a:p>
        </p:txBody>
      </p:sp>
      <p:sp>
        <p:nvSpPr>
          <p:cNvPr id="105" name="Rectangle 104"/>
          <p:cNvSpPr/>
          <p:nvPr/>
        </p:nvSpPr>
        <p:spPr>
          <a:xfrm>
            <a:off x="3470148" y="2199132"/>
            <a:ext cx="274320" cy="274320"/>
          </a:xfrm>
          <a:prstGeom prst="rect">
            <a:avLst/>
          </a:prstGeom>
          <a:solidFill>
            <a:srgbClr val="E5E7EB"/>
          </a:solidFill>
          <a:ln>
            <a:noFill/>
          </a:ln>
        </p:spPr>
        <p:txBody>
          <a:bodyPr rtlCol="0" anchor="ctr"/>
          <a:lstStyle/>
          <a:p>
            <a:pPr algn="ctr"/>
          </a:p>
        </p:txBody>
      </p:sp>
      <p:sp>
        <p:nvSpPr>
          <p:cNvPr id="106" name="Rectangle 105"/>
          <p:cNvSpPr/>
          <p:nvPr/>
        </p:nvSpPr>
        <p:spPr>
          <a:xfrm>
            <a:off x="3470148" y="1874520"/>
            <a:ext cx="274320" cy="274320"/>
          </a:xfrm>
          <a:prstGeom prst="rect">
            <a:avLst/>
          </a:prstGeom>
          <a:solidFill>
            <a:srgbClr val="E5E7EB"/>
          </a:solidFill>
          <a:ln>
            <a:noFill/>
          </a:ln>
        </p:spPr>
        <p:txBody>
          <a:bodyPr rtlCol="0" anchor="ctr"/>
          <a:lstStyle/>
          <a:p>
            <a:pPr algn="ctr"/>
          </a:p>
        </p:txBody>
      </p:sp>
      <p:sp>
        <p:nvSpPr>
          <p:cNvPr id="107" name="Rectangle 106"/>
          <p:cNvSpPr/>
          <p:nvPr/>
        </p:nvSpPr>
        <p:spPr>
          <a:xfrm>
            <a:off x="548640" y="5230368"/>
            <a:ext cx="155448" cy="155448"/>
          </a:xfrm>
          <a:prstGeom prst="rect">
            <a:avLst/>
          </a:prstGeom>
          <a:solidFill>
            <a:srgbClr val="D8602A"/>
          </a:solidFill>
          <a:ln>
            <a:noFill/>
          </a:ln>
        </p:spPr>
        <p:txBody>
          <a:bodyPr rtlCol="0" anchor="ctr"/>
          <a:lstStyle/>
          <a:p>
            <a:pPr algn="ctr"/>
          </a:p>
        </p:txBody>
      </p:sp>
      <p:sp>
        <p:nvSpPr>
          <p:cNvPr id="108" name="TextBox 107"/>
          <p:cNvSpPr txBox="1"/>
          <p:nvPr/>
        </p:nvSpPr>
        <p:spPr>
          <a:xfrm>
            <a:off x="786384" y="5193792"/>
            <a:ext cx="3108960" cy="237744"/>
          </a:xfrm>
          <a:prstGeom prst="rect">
            <a:avLst/>
          </a:prstGeom>
          <a:noFill/>
        </p:spPr>
        <p:txBody>
          <a:bodyPr wrap="square" lIns="0" tIns="0" rIns="0" bIns="0">
            <a:spAutoFit/>
          </a:bodyPr>
          <a:lstStyle/>
          <a:p>
            <a:pPr>
              <a:lnSpc>
                <a:spcPct val="105000"/>
              </a:lnSpc>
            </a:pPr>
            <a:r>
              <a:rPr sz="1050">
                <a:solidFill>
                  <a:srgbClr val="4B5563"/>
                </a:solidFill>
                <a:latin typeface="Arial"/>
              </a:rPr>
              <a:t>34 in 100, Karandaaz estimate [1]</a:t>
            </a:r>
          </a:p>
        </p:txBody>
      </p:sp>
      <p:sp>
        <p:nvSpPr>
          <p:cNvPr id="109" name="Rectangle 108"/>
          <p:cNvSpPr/>
          <p:nvPr/>
        </p:nvSpPr>
        <p:spPr>
          <a:xfrm>
            <a:off x="548640" y="5504688"/>
            <a:ext cx="155448" cy="155448"/>
          </a:xfrm>
          <a:prstGeom prst="rect">
            <a:avLst/>
          </a:prstGeom>
          <a:solidFill>
            <a:srgbClr val="EFA27A"/>
          </a:solidFill>
          <a:ln>
            <a:noFill/>
          </a:ln>
        </p:spPr>
        <p:txBody>
          <a:bodyPr rtlCol="0" anchor="ctr"/>
          <a:lstStyle/>
          <a:p>
            <a:pPr algn="ctr"/>
          </a:p>
        </p:txBody>
      </p:sp>
      <p:sp>
        <p:nvSpPr>
          <p:cNvPr id="110" name="TextBox 109"/>
          <p:cNvSpPr txBox="1"/>
          <p:nvPr/>
        </p:nvSpPr>
        <p:spPr>
          <a:xfrm>
            <a:off x="786384" y="5468112"/>
            <a:ext cx="3291840" cy="237744"/>
          </a:xfrm>
          <a:prstGeom prst="rect">
            <a:avLst/>
          </a:prstGeom>
          <a:noFill/>
        </p:spPr>
        <p:txBody>
          <a:bodyPr wrap="square" lIns="0" tIns="0" rIns="0" bIns="0">
            <a:spAutoFit/>
          </a:bodyPr>
          <a:lstStyle/>
          <a:p>
            <a:pPr>
              <a:lnSpc>
                <a:spcPct val="105000"/>
              </a:lnSpc>
            </a:pPr>
            <a:r>
              <a:rPr sz="1050">
                <a:solidFill>
                  <a:srgbClr val="4B5563"/>
                </a:solidFill>
                <a:latin typeface="Arial"/>
              </a:rPr>
              <a:t>41 in 100 including these, Oraan estimate [1]</a:t>
            </a:r>
          </a:p>
        </p:txBody>
      </p:sp>
      <p:sp>
        <p:nvSpPr>
          <p:cNvPr id="111" name="TextBox 110"/>
          <p:cNvSpPr txBox="1"/>
          <p:nvPr/>
        </p:nvSpPr>
        <p:spPr>
          <a:xfrm>
            <a:off x="4617720" y="1572768"/>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About 100 million</a:t>
            </a:r>
          </a:p>
        </p:txBody>
      </p:sp>
      <p:sp>
        <p:nvSpPr>
          <p:cNvPr id="112" name="TextBox 111"/>
          <p:cNvSpPr txBox="1"/>
          <p:nvPr/>
        </p:nvSpPr>
        <p:spPr>
          <a:xfrm>
            <a:off x="4617720" y="1994408"/>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people use committees, on the higher estimate [2]</a:t>
            </a:r>
          </a:p>
        </p:txBody>
      </p:sp>
      <p:cxnSp>
        <p:nvCxnSpPr>
          <p:cNvPr id="113" name="Connector 112"/>
          <p:cNvCxnSpPr/>
          <p:nvPr/>
        </p:nvCxnSpPr>
        <p:spPr>
          <a:xfrm>
            <a:off x="4617720" y="2898648"/>
            <a:ext cx="3284068" cy="0"/>
          </a:xfrm>
          <a:prstGeom prst="line">
            <a:avLst/>
          </a:prstGeom>
          <a:ln w="9525">
            <a:solidFill>
              <a:srgbClr val="D1D5DB"/>
            </a:solidFill>
          </a:ln>
        </p:spPr>
      </p:cxnSp>
      <p:sp>
        <p:nvSpPr>
          <p:cNvPr id="114" name="TextBox 113"/>
          <p:cNvSpPr txBox="1"/>
          <p:nvPr/>
        </p:nvSpPr>
        <p:spPr>
          <a:xfrm>
            <a:off x="8176108" y="1572768"/>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Rs 4 trillion</a:t>
            </a:r>
          </a:p>
        </p:txBody>
      </p:sp>
      <p:sp>
        <p:nvSpPr>
          <p:cNvPr id="115" name="TextBox 114"/>
          <p:cNvSpPr txBox="1"/>
          <p:nvPr/>
        </p:nvSpPr>
        <p:spPr>
          <a:xfrm>
            <a:off x="8176108" y="1994408"/>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 year passes through committees, estimated [1]</a:t>
            </a:r>
          </a:p>
        </p:txBody>
      </p:sp>
      <p:cxnSp>
        <p:nvCxnSpPr>
          <p:cNvPr id="116" name="Connector 115"/>
          <p:cNvCxnSpPr/>
          <p:nvPr/>
        </p:nvCxnSpPr>
        <p:spPr>
          <a:xfrm>
            <a:off x="8176108" y="2898648"/>
            <a:ext cx="3284067" cy="0"/>
          </a:xfrm>
          <a:prstGeom prst="line">
            <a:avLst/>
          </a:prstGeom>
          <a:ln w="9525">
            <a:solidFill>
              <a:srgbClr val="D1D5DB"/>
            </a:solidFill>
          </a:ln>
        </p:spPr>
      </p:cxnSp>
      <p:sp>
        <p:nvSpPr>
          <p:cNvPr id="117" name="TextBox 116"/>
          <p:cNvSpPr txBox="1"/>
          <p:nvPr/>
        </p:nvSpPr>
        <p:spPr>
          <a:xfrm>
            <a:off x="4617720" y="3054096"/>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2 times</a:t>
            </a:r>
          </a:p>
        </p:txBody>
      </p:sp>
      <p:sp>
        <p:nvSpPr>
          <p:cNvPr id="118" name="TextBox 117"/>
          <p:cNvSpPr txBox="1"/>
          <p:nvPr/>
        </p:nvSpPr>
        <p:spPr>
          <a:xfrm>
            <a:off x="4617720" y="3475736"/>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as many women as men take part [3]</a:t>
            </a:r>
          </a:p>
        </p:txBody>
      </p:sp>
      <p:cxnSp>
        <p:nvCxnSpPr>
          <p:cNvPr id="119" name="Connector 118"/>
          <p:cNvCxnSpPr/>
          <p:nvPr/>
        </p:nvCxnSpPr>
        <p:spPr>
          <a:xfrm>
            <a:off x="4617720" y="4379976"/>
            <a:ext cx="3284068" cy="0"/>
          </a:xfrm>
          <a:prstGeom prst="line">
            <a:avLst/>
          </a:prstGeom>
          <a:ln w="9525">
            <a:solidFill>
              <a:srgbClr val="D1D5DB"/>
            </a:solidFill>
          </a:ln>
        </p:spPr>
      </p:cxnSp>
      <p:sp>
        <p:nvSpPr>
          <p:cNvPr id="120" name="TextBox 119"/>
          <p:cNvSpPr txBox="1"/>
          <p:nvPr/>
        </p:nvSpPr>
        <p:spPr>
          <a:xfrm>
            <a:off x="8176108" y="3054096"/>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91%</a:t>
            </a:r>
          </a:p>
        </p:txBody>
      </p:sp>
      <p:sp>
        <p:nvSpPr>
          <p:cNvPr id="121" name="TextBox 120"/>
          <p:cNvSpPr txBox="1"/>
          <p:nvPr/>
        </p:nvSpPr>
        <p:spPr>
          <a:xfrm>
            <a:off x="8176108" y="3475736"/>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of committees collect monthly [4]</a:t>
            </a:r>
          </a:p>
        </p:txBody>
      </p:sp>
      <p:cxnSp>
        <p:nvCxnSpPr>
          <p:cNvPr id="122" name="Connector 121"/>
          <p:cNvCxnSpPr/>
          <p:nvPr/>
        </p:nvCxnSpPr>
        <p:spPr>
          <a:xfrm>
            <a:off x="8176108" y="4379976"/>
            <a:ext cx="3284067" cy="0"/>
          </a:xfrm>
          <a:prstGeom prst="line">
            <a:avLst/>
          </a:prstGeom>
          <a:ln w="9525">
            <a:solidFill>
              <a:srgbClr val="D1D5DB"/>
            </a:solidFill>
          </a:ln>
        </p:spPr>
      </p:cxnSp>
      <p:sp>
        <p:nvSpPr>
          <p:cNvPr id="123" name="TextBox 122"/>
          <p:cNvSpPr txBox="1"/>
          <p:nvPr/>
        </p:nvSpPr>
        <p:spPr>
          <a:xfrm>
            <a:off x="4617720" y="4535424"/>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56%</a:t>
            </a:r>
          </a:p>
        </p:txBody>
      </p:sp>
      <p:sp>
        <p:nvSpPr>
          <p:cNvPr id="124" name="TextBox 123"/>
          <p:cNvSpPr txBox="1"/>
          <p:nvPr/>
        </p:nvSpPr>
        <p:spPr>
          <a:xfrm>
            <a:off x="4617720" y="4957064"/>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of adults have a committee within 1 km of home [5]</a:t>
            </a:r>
          </a:p>
        </p:txBody>
      </p:sp>
      <p:sp>
        <p:nvSpPr>
          <p:cNvPr id="125" name="TextBox 124"/>
          <p:cNvSpPr txBox="1"/>
          <p:nvPr/>
        </p:nvSpPr>
        <p:spPr>
          <a:xfrm>
            <a:off x="8176108" y="4535424"/>
            <a:ext cx="3284068" cy="439928"/>
          </a:xfrm>
          <a:prstGeom prst="rect">
            <a:avLst/>
          </a:prstGeom>
          <a:noFill/>
        </p:spPr>
        <p:txBody>
          <a:bodyPr wrap="square" lIns="0" tIns="0" rIns="0" bIns="0">
            <a:spAutoFit/>
          </a:bodyPr>
          <a:lstStyle/>
          <a:p>
            <a:pPr>
              <a:lnSpc>
                <a:spcPct val="100000"/>
              </a:lnSpc>
            </a:pPr>
            <a:r>
              <a:rPr sz="2600" b="1">
                <a:solidFill>
                  <a:srgbClr val="9E3F17"/>
                </a:solidFill>
                <a:latin typeface="Arial"/>
              </a:rPr>
              <a:t>US$18</a:t>
            </a:r>
          </a:p>
        </p:txBody>
      </p:sp>
      <p:sp>
        <p:nvSpPr>
          <p:cNvPr id="126" name="TextBox 125"/>
          <p:cNvSpPr txBox="1"/>
          <p:nvPr/>
        </p:nvSpPr>
        <p:spPr>
          <a:xfrm>
            <a:off x="8176108" y="4957064"/>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average monthly contribution, range US$0.09 to 470 [4]</a:t>
            </a:r>
          </a:p>
        </p:txBody>
      </p:sp>
      <p:sp>
        <p:nvSpPr>
          <p:cNvPr id="127" name="TextBox 126"/>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Karandaaz and Oraan estimates, Dawn, 12 Dec 2022    2  PICG case study on Oraan, 2024    3  Financial Inclusion Insights (FII) data in Mehmood et al. 2018    4  FII Pakistan, 2013    5  FII wave 5, 2017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Problems with Informal Committees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Losses to fraud, cash kept outside banks and no credit record</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5</a:t>
            </a:r>
          </a:p>
        </p:txBody>
      </p:sp>
      <p:sp>
        <p:nvSpPr>
          <p:cNvPr id="6" name="Rectangle 5"/>
          <p:cNvSpPr/>
          <p:nvPr/>
        </p:nvSpPr>
        <p:spPr>
          <a:xfrm>
            <a:off x="548640" y="3342132"/>
            <a:ext cx="157277" cy="157277"/>
          </a:xfrm>
          <a:prstGeom prst="rect">
            <a:avLst/>
          </a:prstGeom>
          <a:solidFill>
            <a:srgbClr val="D64545"/>
          </a:solidFill>
          <a:ln>
            <a:noFill/>
          </a:ln>
        </p:spPr>
        <p:txBody>
          <a:bodyPr rtlCol="0" anchor="ctr"/>
          <a:lstStyle/>
          <a:p>
            <a:pPr algn="ctr"/>
          </a:p>
        </p:txBody>
      </p:sp>
      <p:sp>
        <p:nvSpPr>
          <p:cNvPr id="7" name="Rectangle 6"/>
          <p:cNvSpPr/>
          <p:nvPr/>
        </p:nvSpPr>
        <p:spPr>
          <a:xfrm>
            <a:off x="548640" y="3145536"/>
            <a:ext cx="157277" cy="157277"/>
          </a:xfrm>
          <a:prstGeom prst="rect">
            <a:avLst/>
          </a:prstGeom>
          <a:solidFill>
            <a:srgbClr val="D64545"/>
          </a:solidFill>
          <a:ln>
            <a:noFill/>
          </a:ln>
        </p:spPr>
        <p:txBody>
          <a:bodyPr rtlCol="0" anchor="ctr"/>
          <a:lstStyle/>
          <a:p>
            <a:pPr algn="ctr"/>
          </a:p>
        </p:txBody>
      </p:sp>
      <p:sp>
        <p:nvSpPr>
          <p:cNvPr id="8" name="Rectangle 7"/>
          <p:cNvSpPr/>
          <p:nvPr/>
        </p:nvSpPr>
        <p:spPr>
          <a:xfrm>
            <a:off x="548640" y="2948940"/>
            <a:ext cx="157277" cy="157277"/>
          </a:xfrm>
          <a:prstGeom prst="rect">
            <a:avLst/>
          </a:prstGeom>
          <a:solidFill>
            <a:srgbClr val="D64545"/>
          </a:solidFill>
          <a:ln>
            <a:noFill/>
          </a:ln>
        </p:spPr>
        <p:txBody>
          <a:bodyPr rtlCol="0" anchor="ctr"/>
          <a:lstStyle/>
          <a:p>
            <a:pPr algn="ctr"/>
          </a:p>
        </p:txBody>
      </p:sp>
      <p:sp>
        <p:nvSpPr>
          <p:cNvPr id="9" name="Rectangle 8"/>
          <p:cNvSpPr/>
          <p:nvPr/>
        </p:nvSpPr>
        <p:spPr>
          <a:xfrm>
            <a:off x="548640" y="2752344"/>
            <a:ext cx="157277" cy="157277"/>
          </a:xfrm>
          <a:prstGeom prst="rect">
            <a:avLst/>
          </a:prstGeom>
          <a:solidFill>
            <a:srgbClr val="D64545"/>
          </a:solidFill>
          <a:ln>
            <a:noFill/>
          </a:ln>
        </p:spPr>
        <p:txBody>
          <a:bodyPr rtlCol="0" anchor="ctr"/>
          <a:lstStyle/>
          <a:p>
            <a:pPr algn="ctr"/>
          </a:p>
        </p:txBody>
      </p:sp>
      <p:sp>
        <p:nvSpPr>
          <p:cNvPr id="10" name="Rectangle 9"/>
          <p:cNvSpPr/>
          <p:nvPr/>
        </p:nvSpPr>
        <p:spPr>
          <a:xfrm>
            <a:off x="548640" y="2555748"/>
            <a:ext cx="157277" cy="157277"/>
          </a:xfrm>
          <a:prstGeom prst="rect">
            <a:avLst/>
          </a:prstGeom>
          <a:solidFill>
            <a:srgbClr val="D64545"/>
          </a:solidFill>
          <a:ln>
            <a:noFill/>
          </a:ln>
        </p:spPr>
        <p:txBody>
          <a:bodyPr rtlCol="0" anchor="ctr"/>
          <a:lstStyle/>
          <a:p>
            <a:pPr algn="ctr"/>
          </a:p>
        </p:txBody>
      </p:sp>
      <p:sp>
        <p:nvSpPr>
          <p:cNvPr id="11" name="Rectangle 10"/>
          <p:cNvSpPr/>
          <p:nvPr/>
        </p:nvSpPr>
        <p:spPr>
          <a:xfrm>
            <a:off x="548640" y="2359152"/>
            <a:ext cx="157277" cy="157277"/>
          </a:xfrm>
          <a:prstGeom prst="rect">
            <a:avLst/>
          </a:prstGeom>
          <a:solidFill>
            <a:srgbClr val="D64545"/>
          </a:solidFill>
          <a:ln>
            <a:noFill/>
          </a:ln>
        </p:spPr>
        <p:txBody>
          <a:bodyPr rtlCol="0" anchor="ctr"/>
          <a:lstStyle/>
          <a:p>
            <a:pPr algn="ctr"/>
          </a:p>
        </p:txBody>
      </p:sp>
      <p:sp>
        <p:nvSpPr>
          <p:cNvPr id="12" name="Rectangle 11"/>
          <p:cNvSpPr/>
          <p:nvPr/>
        </p:nvSpPr>
        <p:spPr>
          <a:xfrm>
            <a:off x="548640" y="2162556"/>
            <a:ext cx="157277" cy="157277"/>
          </a:xfrm>
          <a:prstGeom prst="rect">
            <a:avLst/>
          </a:prstGeom>
          <a:solidFill>
            <a:srgbClr val="D64545"/>
          </a:solidFill>
          <a:ln>
            <a:noFill/>
          </a:ln>
        </p:spPr>
        <p:txBody>
          <a:bodyPr rtlCol="0" anchor="ctr"/>
          <a:lstStyle/>
          <a:p>
            <a:pPr algn="ctr"/>
          </a:p>
        </p:txBody>
      </p:sp>
      <p:sp>
        <p:nvSpPr>
          <p:cNvPr id="13" name="Rectangle 12"/>
          <p:cNvSpPr/>
          <p:nvPr/>
        </p:nvSpPr>
        <p:spPr>
          <a:xfrm>
            <a:off x="548640" y="1965960"/>
            <a:ext cx="157277" cy="157277"/>
          </a:xfrm>
          <a:prstGeom prst="rect">
            <a:avLst/>
          </a:prstGeom>
          <a:solidFill>
            <a:srgbClr val="D64545"/>
          </a:solidFill>
          <a:ln>
            <a:noFill/>
          </a:ln>
        </p:spPr>
        <p:txBody>
          <a:bodyPr rtlCol="0" anchor="ctr"/>
          <a:lstStyle/>
          <a:p>
            <a:pPr algn="ctr"/>
          </a:p>
        </p:txBody>
      </p:sp>
      <p:sp>
        <p:nvSpPr>
          <p:cNvPr id="14" name="Rectangle 13"/>
          <p:cNvSpPr/>
          <p:nvPr/>
        </p:nvSpPr>
        <p:spPr>
          <a:xfrm>
            <a:off x="548640" y="1769364"/>
            <a:ext cx="157277" cy="157277"/>
          </a:xfrm>
          <a:prstGeom prst="rect">
            <a:avLst/>
          </a:prstGeom>
          <a:solidFill>
            <a:srgbClr val="D64545"/>
          </a:solidFill>
          <a:ln>
            <a:noFill/>
          </a:ln>
        </p:spPr>
        <p:txBody>
          <a:bodyPr rtlCol="0" anchor="ctr"/>
          <a:lstStyle/>
          <a:p>
            <a:pPr algn="ctr"/>
          </a:p>
        </p:txBody>
      </p:sp>
      <p:sp>
        <p:nvSpPr>
          <p:cNvPr id="15" name="Rectangle 14"/>
          <p:cNvSpPr/>
          <p:nvPr/>
        </p:nvSpPr>
        <p:spPr>
          <a:xfrm>
            <a:off x="548640" y="1572768"/>
            <a:ext cx="157277" cy="157277"/>
          </a:xfrm>
          <a:prstGeom prst="rect">
            <a:avLst/>
          </a:prstGeom>
          <a:solidFill>
            <a:srgbClr val="D64545"/>
          </a:solidFill>
          <a:ln>
            <a:noFill/>
          </a:ln>
        </p:spPr>
        <p:txBody>
          <a:bodyPr rtlCol="0" anchor="ctr"/>
          <a:lstStyle/>
          <a:p>
            <a:pPr algn="ctr"/>
          </a:p>
        </p:txBody>
      </p:sp>
      <p:sp>
        <p:nvSpPr>
          <p:cNvPr id="16" name="Rectangle 15"/>
          <p:cNvSpPr/>
          <p:nvPr/>
        </p:nvSpPr>
        <p:spPr>
          <a:xfrm>
            <a:off x="745236" y="3342132"/>
            <a:ext cx="157277" cy="157277"/>
          </a:xfrm>
          <a:prstGeom prst="rect">
            <a:avLst/>
          </a:prstGeom>
          <a:solidFill>
            <a:srgbClr val="D64545"/>
          </a:solidFill>
          <a:ln>
            <a:noFill/>
          </a:ln>
        </p:spPr>
        <p:txBody>
          <a:bodyPr rtlCol="0" anchor="ctr"/>
          <a:lstStyle/>
          <a:p>
            <a:pPr algn="ctr"/>
          </a:p>
        </p:txBody>
      </p:sp>
      <p:sp>
        <p:nvSpPr>
          <p:cNvPr id="17" name="Rectangle 16"/>
          <p:cNvSpPr/>
          <p:nvPr/>
        </p:nvSpPr>
        <p:spPr>
          <a:xfrm>
            <a:off x="745236" y="3145536"/>
            <a:ext cx="157277" cy="157277"/>
          </a:xfrm>
          <a:prstGeom prst="rect">
            <a:avLst/>
          </a:prstGeom>
          <a:solidFill>
            <a:srgbClr val="D64545"/>
          </a:solidFill>
          <a:ln>
            <a:noFill/>
          </a:ln>
        </p:spPr>
        <p:txBody>
          <a:bodyPr rtlCol="0" anchor="ctr"/>
          <a:lstStyle/>
          <a:p>
            <a:pPr algn="ctr"/>
          </a:p>
        </p:txBody>
      </p:sp>
      <p:sp>
        <p:nvSpPr>
          <p:cNvPr id="18" name="Rectangle 17"/>
          <p:cNvSpPr/>
          <p:nvPr/>
        </p:nvSpPr>
        <p:spPr>
          <a:xfrm>
            <a:off x="745236" y="2948940"/>
            <a:ext cx="157277" cy="157277"/>
          </a:xfrm>
          <a:prstGeom prst="rect">
            <a:avLst/>
          </a:prstGeom>
          <a:solidFill>
            <a:srgbClr val="E5E7EB"/>
          </a:solidFill>
          <a:ln>
            <a:noFill/>
          </a:ln>
        </p:spPr>
        <p:txBody>
          <a:bodyPr rtlCol="0" anchor="ctr"/>
          <a:lstStyle/>
          <a:p>
            <a:pPr algn="ctr"/>
          </a:p>
        </p:txBody>
      </p:sp>
      <p:sp>
        <p:nvSpPr>
          <p:cNvPr id="19" name="Rectangle 18"/>
          <p:cNvSpPr/>
          <p:nvPr/>
        </p:nvSpPr>
        <p:spPr>
          <a:xfrm>
            <a:off x="745236" y="2752344"/>
            <a:ext cx="157277" cy="157277"/>
          </a:xfrm>
          <a:prstGeom prst="rect">
            <a:avLst/>
          </a:prstGeom>
          <a:solidFill>
            <a:srgbClr val="E5E7EB"/>
          </a:solidFill>
          <a:ln>
            <a:noFill/>
          </a:ln>
        </p:spPr>
        <p:txBody>
          <a:bodyPr rtlCol="0" anchor="ctr"/>
          <a:lstStyle/>
          <a:p>
            <a:pPr algn="ctr"/>
          </a:p>
        </p:txBody>
      </p:sp>
      <p:sp>
        <p:nvSpPr>
          <p:cNvPr id="20" name="Rectangle 19"/>
          <p:cNvSpPr/>
          <p:nvPr/>
        </p:nvSpPr>
        <p:spPr>
          <a:xfrm>
            <a:off x="745236" y="2555748"/>
            <a:ext cx="157277" cy="157277"/>
          </a:xfrm>
          <a:prstGeom prst="rect">
            <a:avLst/>
          </a:prstGeom>
          <a:solidFill>
            <a:srgbClr val="E5E7EB"/>
          </a:solidFill>
          <a:ln>
            <a:noFill/>
          </a:ln>
        </p:spPr>
        <p:txBody>
          <a:bodyPr rtlCol="0" anchor="ctr"/>
          <a:lstStyle/>
          <a:p>
            <a:pPr algn="ctr"/>
          </a:p>
        </p:txBody>
      </p:sp>
      <p:sp>
        <p:nvSpPr>
          <p:cNvPr id="21" name="Rectangle 20"/>
          <p:cNvSpPr/>
          <p:nvPr/>
        </p:nvSpPr>
        <p:spPr>
          <a:xfrm>
            <a:off x="745236" y="2359152"/>
            <a:ext cx="157277" cy="157277"/>
          </a:xfrm>
          <a:prstGeom prst="rect">
            <a:avLst/>
          </a:prstGeom>
          <a:solidFill>
            <a:srgbClr val="E5E7EB"/>
          </a:solidFill>
          <a:ln>
            <a:noFill/>
          </a:ln>
        </p:spPr>
        <p:txBody>
          <a:bodyPr rtlCol="0" anchor="ctr"/>
          <a:lstStyle/>
          <a:p>
            <a:pPr algn="ctr"/>
          </a:p>
        </p:txBody>
      </p:sp>
      <p:sp>
        <p:nvSpPr>
          <p:cNvPr id="22" name="Rectangle 21"/>
          <p:cNvSpPr/>
          <p:nvPr/>
        </p:nvSpPr>
        <p:spPr>
          <a:xfrm>
            <a:off x="745236" y="2162556"/>
            <a:ext cx="157277" cy="157277"/>
          </a:xfrm>
          <a:prstGeom prst="rect">
            <a:avLst/>
          </a:prstGeom>
          <a:solidFill>
            <a:srgbClr val="E5E7EB"/>
          </a:solidFill>
          <a:ln>
            <a:noFill/>
          </a:ln>
        </p:spPr>
        <p:txBody>
          <a:bodyPr rtlCol="0" anchor="ctr"/>
          <a:lstStyle/>
          <a:p>
            <a:pPr algn="ctr"/>
          </a:p>
        </p:txBody>
      </p:sp>
      <p:sp>
        <p:nvSpPr>
          <p:cNvPr id="23" name="Rectangle 22"/>
          <p:cNvSpPr/>
          <p:nvPr/>
        </p:nvSpPr>
        <p:spPr>
          <a:xfrm>
            <a:off x="745236" y="1965960"/>
            <a:ext cx="157277" cy="157277"/>
          </a:xfrm>
          <a:prstGeom prst="rect">
            <a:avLst/>
          </a:prstGeom>
          <a:solidFill>
            <a:srgbClr val="E5E7EB"/>
          </a:solidFill>
          <a:ln>
            <a:noFill/>
          </a:ln>
        </p:spPr>
        <p:txBody>
          <a:bodyPr rtlCol="0" anchor="ctr"/>
          <a:lstStyle/>
          <a:p>
            <a:pPr algn="ctr"/>
          </a:p>
        </p:txBody>
      </p:sp>
      <p:sp>
        <p:nvSpPr>
          <p:cNvPr id="24" name="Rectangle 23"/>
          <p:cNvSpPr/>
          <p:nvPr/>
        </p:nvSpPr>
        <p:spPr>
          <a:xfrm>
            <a:off x="745236" y="1769364"/>
            <a:ext cx="157277" cy="157277"/>
          </a:xfrm>
          <a:prstGeom prst="rect">
            <a:avLst/>
          </a:prstGeom>
          <a:solidFill>
            <a:srgbClr val="E5E7EB"/>
          </a:solidFill>
          <a:ln>
            <a:noFill/>
          </a:ln>
        </p:spPr>
        <p:txBody>
          <a:bodyPr rtlCol="0" anchor="ctr"/>
          <a:lstStyle/>
          <a:p>
            <a:pPr algn="ctr"/>
          </a:p>
        </p:txBody>
      </p:sp>
      <p:sp>
        <p:nvSpPr>
          <p:cNvPr id="25" name="Rectangle 24"/>
          <p:cNvSpPr/>
          <p:nvPr/>
        </p:nvSpPr>
        <p:spPr>
          <a:xfrm>
            <a:off x="745236" y="1572768"/>
            <a:ext cx="157277" cy="157277"/>
          </a:xfrm>
          <a:prstGeom prst="rect">
            <a:avLst/>
          </a:prstGeom>
          <a:solidFill>
            <a:srgbClr val="E5E7EB"/>
          </a:solidFill>
          <a:ln>
            <a:noFill/>
          </a:ln>
        </p:spPr>
        <p:txBody>
          <a:bodyPr rtlCol="0" anchor="ctr"/>
          <a:lstStyle/>
          <a:p>
            <a:pPr algn="ctr"/>
          </a:p>
        </p:txBody>
      </p:sp>
      <p:sp>
        <p:nvSpPr>
          <p:cNvPr id="26" name="Rectangle 25"/>
          <p:cNvSpPr/>
          <p:nvPr/>
        </p:nvSpPr>
        <p:spPr>
          <a:xfrm>
            <a:off x="941832" y="3342132"/>
            <a:ext cx="157277" cy="157277"/>
          </a:xfrm>
          <a:prstGeom prst="rect">
            <a:avLst/>
          </a:prstGeom>
          <a:solidFill>
            <a:srgbClr val="E5E7EB"/>
          </a:solidFill>
          <a:ln>
            <a:noFill/>
          </a:ln>
        </p:spPr>
        <p:txBody>
          <a:bodyPr rtlCol="0" anchor="ctr"/>
          <a:lstStyle/>
          <a:p>
            <a:pPr algn="ctr"/>
          </a:p>
        </p:txBody>
      </p:sp>
      <p:sp>
        <p:nvSpPr>
          <p:cNvPr id="27" name="Rectangle 26"/>
          <p:cNvSpPr/>
          <p:nvPr/>
        </p:nvSpPr>
        <p:spPr>
          <a:xfrm>
            <a:off x="941832" y="3145536"/>
            <a:ext cx="157277" cy="157277"/>
          </a:xfrm>
          <a:prstGeom prst="rect">
            <a:avLst/>
          </a:prstGeom>
          <a:solidFill>
            <a:srgbClr val="E5E7EB"/>
          </a:solidFill>
          <a:ln>
            <a:noFill/>
          </a:ln>
        </p:spPr>
        <p:txBody>
          <a:bodyPr rtlCol="0" anchor="ctr"/>
          <a:lstStyle/>
          <a:p>
            <a:pPr algn="ctr"/>
          </a:p>
        </p:txBody>
      </p:sp>
      <p:sp>
        <p:nvSpPr>
          <p:cNvPr id="28" name="Rectangle 27"/>
          <p:cNvSpPr/>
          <p:nvPr/>
        </p:nvSpPr>
        <p:spPr>
          <a:xfrm>
            <a:off x="941832" y="2948940"/>
            <a:ext cx="157277" cy="157277"/>
          </a:xfrm>
          <a:prstGeom prst="rect">
            <a:avLst/>
          </a:prstGeom>
          <a:solidFill>
            <a:srgbClr val="E5E7EB"/>
          </a:solidFill>
          <a:ln>
            <a:noFill/>
          </a:ln>
        </p:spPr>
        <p:txBody>
          <a:bodyPr rtlCol="0" anchor="ctr"/>
          <a:lstStyle/>
          <a:p>
            <a:pPr algn="ctr"/>
          </a:p>
        </p:txBody>
      </p:sp>
      <p:sp>
        <p:nvSpPr>
          <p:cNvPr id="29" name="Rectangle 28"/>
          <p:cNvSpPr/>
          <p:nvPr/>
        </p:nvSpPr>
        <p:spPr>
          <a:xfrm>
            <a:off x="941832" y="2752344"/>
            <a:ext cx="157277" cy="157277"/>
          </a:xfrm>
          <a:prstGeom prst="rect">
            <a:avLst/>
          </a:prstGeom>
          <a:solidFill>
            <a:srgbClr val="E5E7EB"/>
          </a:solidFill>
          <a:ln>
            <a:noFill/>
          </a:ln>
        </p:spPr>
        <p:txBody>
          <a:bodyPr rtlCol="0" anchor="ctr"/>
          <a:lstStyle/>
          <a:p>
            <a:pPr algn="ctr"/>
          </a:p>
        </p:txBody>
      </p:sp>
      <p:sp>
        <p:nvSpPr>
          <p:cNvPr id="30" name="Rectangle 29"/>
          <p:cNvSpPr/>
          <p:nvPr/>
        </p:nvSpPr>
        <p:spPr>
          <a:xfrm>
            <a:off x="941832" y="2555748"/>
            <a:ext cx="157277" cy="157277"/>
          </a:xfrm>
          <a:prstGeom prst="rect">
            <a:avLst/>
          </a:prstGeom>
          <a:solidFill>
            <a:srgbClr val="E5E7EB"/>
          </a:solidFill>
          <a:ln>
            <a:noFill/>
          </a:ln>
        </p:spPr>
        <p:txBody>
          <a:bodyPr rtlCol="0" anchor="ctr"/>
          <a:lstStyle/>
          <a:p>
            <a:pPr algn="ctr"/>
          </a:p>
        </p:txBody>
      </p:sp>
      <p:sp>
        <p:nvSpPr>
          <p:cNvPr id="31" name="Rectangle 30"/>
          <p:cNvSpPr/>
          <p:nvPr/>
        </p:nvSpPr>
        <p:spPr>
          <a:xfrm>
            <a:off x="941832" y="2359152"/>
            <a:ext cx="157277" cy="157277"/>
          </a:xfrm>
          <a:prstGeom prst="rect">
            <a:avLst/>
          </a:prstGeom>
          <a:solidFill>
            <a:srgbClr val="E5E7EB"/>
          </a:solidFill>
          <a:ln>
            <a:noFill/>
          </a:ln>
        </p:spPr>
        <p:txBody>
          <a:bodyPr rtlCol="0" anchor="ctr"/>
          <a:lstStyle/>
          <a:p>
            <a:pPr algn="ctr"/>
          </a:p>
        </p:txBody>
      </p:sp>
      <p:sp>
        <p:nvSpPr>
          <p:cNvPr id="32" name="Rectangle 31"/>
          <p:cNvSpPr/>
          <p:nvPr/>
        </p:nvSpPr>
        <p:spPr>
          <a:xfrm>
            <a:off x="941832" y="2162556"/>
            <a:ext cx="157277" cy="157277"/>
          </a:xfrm>
          <a:prstGeom prst="rect">
            <a:avLst/>
          </a:prstGeom>
          <a:solidFill>
            <a:srgbClr val="E5E7EB"/>
          </a:solidFill>
          <a:ln>
            <a:noFill/>
          </a:ln>
        </p:spPr>
        <p:txBody>
          <a:bodyPr rtlCol="0" anchor="ctr"/>
          <a:lstStyle/>
          <a:p>
            <a:pPr algn="ctr"/>
          </a:p>
        </p:txBody>
      </p:sp>
      <p:sp>
        <p:nvSpPr>
          <p:cNvPr id="33" name="Rectangle 32"/>
          <p:cNvSpPr/>
          <p:nvPr/>
        </p:nvSpPr>
        <p:spPr>
          <a:xfrm>
            <a:off x="941832" y="1965960"/>
            <a:ext cx="157277" cy="157277"/>
          </a:xfrm>
          <a:prstGeom prst="rect">
            <a:avLst/>
          </a:prstGeom>
          <a:solidFill>
            <a:srgbClr val="E5E7EB"/>
          </a:solidFill>
          <a:ln>
            <a:noFill/>
          </a:ln>
        </p:spPr>
        <p:txBody>
          <a:bodyPr rtlCol="0" anchor="ctr"/>
          <a:lstStyle/>
          <a:p>
            <a:pPr algn="ctr"/>
          </a:p>
        </p:txBody>
      </p:sp>
      <p:sp>
        <p:nvSpPr>
          <p:cNvPr id="34" name="Rectangle 33"/>
          <p:cNvSpPr/>
          <p:nvPr/>
        </p:nvSpPr>
        <p:spPr>
          <a:xfrm>
            <a:off x="941832" y="1769364"/>
            <a:ext cx="157277" cy="157277"/>
          </a:xfrm>
          <a:prstGeom prst="rect">
            <a:avLst/>
          </a:prstGeom>
          <a:solidFill>
            <a:srgbClr val="E5E7EB"/>
          </a:solidFill>
          <a:ln>
            <a:noFill/>
          </a:ln>
        </p:spPr>
        <p:txBody>
          <a:bodyPr rtlCol="0" anchor="ctr"/>
          <a:lstStyle/>
          <a:p>
            <a:pPr algn="ctr"/>
          </a:p>
        </p:txBody>
      </p:sp>
      <p:sp>
        <p:nvSpPr>
          <p:cNvPr id="35" name="Rectangle 34"/>
          <p:cNvSpPr/>
          <p:nvPr/>
        </p:nvSpPr>
        <p:spPr>
          <a:xfrm>
            <a:off x="941832" y="1572768"/>
            <a:ext cx="157277" cy="157277"/>
          </a:xfrm>
          <a:prstGeom prst="rect">
            <a:avLst/>
          </a:prstGeom>
          <a:solidFill>
            <a:srgbClr val="E5E7EB"/>
          </a:solidFill>
          <a:ln>
            <a:noFill/>
          </a:ln>
        </p:spPr>
        <p:txBody>
          <a:bodyPr rtlCol="0" anchor="ctr"/>
          <a:lstStyle/>
          <a:p>
            <a:pPr algn="ctr"/>
          </a:p>
        </p:txBody>
      </p:sp>
      <p:sp>
        <p:nvSpPr>
          <p:cNvPr id="36" name="Rectangle 35"/>
          <p:cNvSpPr/>
          <p:nvPr/>
        </p:nvSpPr>
        <p:spPr>
          <a:xfrm>
            <a:off x="1138428" y="3342132"/>
            <a:ext cx="157277" cy="157277"/>
          </a:xfrm>
          <a:prstGeom prst="rect">
            <a:avLst/>
          </a:prstGeom>
          <a:solidFill>
            <a:srgbClr val="E5E7EB"/>
          </a:solidFill>
          <a:ln>
            <a:noFill/>
          </a:ln>
        </p:spPr>
        <p:txBody>
          <a:bodyPr rtlCol="0" anchor="ctr"/>
          <a:lstStyle/>
          <a:p>
            <a:pPr algn="ctr"/>
          </a:p>
        </p:txBody>
      </p:sp>
      <p:sp>
        <p:nvSpPr>
          <p:cNvPr id="37" name="Rectangle 36"/>
          <p:cNvSpPr/>
          <p:nvPr/>
        </p:nvSpPr>
        <p:spPr>
          <a:xfrm>
            <a:off x="1138428" y="3145536"/>
            <a:ext cx="157277" cy="157277"/>
          </a:xfrm>
          <a:prstGeom prst="rect">
            <a:avLst/>
          </a:prstGeom>
          <a:solidFill>
            <a:srgbClr val="E5E7EB"/>
          </a:solidFill>
          <a:ln>
            <a:noFill/>
          </a:ln>
        </p:spPr>
        <p:txBody>
          <a:bodyPr rtlCol="0" anchor="ctr"/>
          <a:lstStyle/>
          <a:p>
            <a:pPr algn="ctr"/>
          </a:p>
        </p:txBody>
      </p:sp>
      <p:sp>
        <p:nvSpPr>
          <p:cNvPr id="38" name="Rectangle 37"/>
          <p:cNvSpPr/>
          <p:nvPr/>
        </p:nvSpPr>
        <p:spPr>
          <a:xfrm>
            <a:off x="1138428" y="2948940"/>
            <a:ext cx="157277" cy="157277"/>
          </a:xfrm>
          <a:prstGeom prst="rect">
            <a:avLst/>
          </a:prstGeom>
          <a:solidFill>
            <a:srgbClr val="E5E7EB"/>
          </a:solidFill>
          <a:ln>
            <a:noFill/>
          </a:ln>
        </p:spPr>
        <p:txBody>
          <a:bodyPr rtlCol="0" anchor="ctr"/>
          <a:lstStyle/>
          <a:p>
            <a:pPr algn="ctr"/>
          </a:p>
        </p:txBody>
      </p:sp>
      <p:sp>
        <p:nvSpPr>
          <p:cNvPr id="39" name="Rectangle 38"/>
          <p:cNvSpPr/>
          <p:nvPr/>
        </p:nvSpPr>
        <p:spPr>
          <a:xfrm>
            <a:off x="1138428" y="2752344"/>
            <a:ext cx="157277" cy="157277"/>
          </a:xfrm>
          <a:prstGeom prst="rect">
            <a:avLst/>
          </a:prstGeom>
          <a:solidFill>
            <a:srgbClr val="E5E7EB"/>
          </a:solidFill>
          <a:ln>
            <a:noFill/>
          </a:ln>
        </p:spPr>
        <p:txBody>
          <a:bodyPr rtlCol="0" anchor="ctr"/>
          <a:lstStyle/>
          <a:p>
            <a:pPr algn="ctr"/>
          </a:p>
        </p:txBody>
      </p:sp>
      <p:sp>
        <p:nvSpPr>
          <p:cNvPr id="40" name="Rectangle 39"/>
          <p:cNvSpPr/>
          <p:nvPr/>
        </p:nvSpPr>
        <p:spPr>
          <a:xfrm>
            <a:off x="1138428" y="2555748"/>
            <a:ext cx="157277" cy="157277"/>
          </a:xfrm>
          <a:prstGeom prst="rect">
            <a:avLst/>
          </a:prstGeom>
          <a:solidFill>
            <a:srgbClr val="E5E7EB"/>
          </a:solidFill>
          <a:ln>
            <a:noFill/>
          </a:ln>
        </p:spPr>
        <p:txBody>
          <a:bodyPr rtlCol="0" anchor="ctr"/>
          <a:lstStyle/>
          <a:p>
            <a:pPr algn="ctr"/>
          </a:p>
        </p:txBody>
      </p:sp>
      <p:sp>
        <p:nvSpPr>
          <p:cNvPr id="41" name="Rectangle 40"/>
          <p:cNvSpPr/>
          <p:nvPr/>
        </p:nvSpPr>
        <p:spPr>
          <a:xfrm>
            <a:off x="1138428" y="2359152"/>
            <a:ext cx="157277" cy="157277"/>
          </a:xfrm>
          <a:prstGeom prst="rect">
            <a:avLst/>
          </a:prstGeom>
          <a:solidFill>
            <a:srgbClr val="E5E7EB"/>
          </a:solidFill>
          <a:ln>
            <a:noFill/>
          </a:ln>
        </p:spPr>
        <p:txBody>
          <a:bodyPr rtlCol="0" anchor="ctr"/>
          <a:lstStyle/>
          <a:p>
            <a:pPr algn="ctr"/>
          </a:p>
        </p:txBody>
      </p:sp>
      <p:sp>
        <p:nvSpPr>
          <p:cNvPr id="42" name="Rectangle 41"/>
          <p:cNvSpPr/>
          <p:nvPr/>
        </p:nvSpPr>
        <p:spPr>
          <a:xfrm>
            <a:off x="1138428" y="2162556"/>
            <a:ext cx="157277" cy="157277"/>
          </a:xfrm>
          <a:prstGeom prst="rect">
            <a:avLst/>
          </a:prstGeom>
          <a:solidFill>
            <a:srgbClr val="E5E7EB"/>
          </a:solidFill>
          <a:ln>
            <a:noFill/>
          </a:ln>
        </p:spPr>
        <p:txBody>
          <a:bodyPr rtlCol="0" anchor="ctr"/>
          <a:lstStyle/>
          <a:p>
            <a:pPr algn="ctr"/>
          </a:p>
        </p:txBody>
      </p:sp>
      <p:sp>
        <p:nvSpPr>
          <p:cNvPr id="43" name="Rectangle 42"/>
          <p:cNvSpPr/>
          <p:nvPr/>
        </p:nvSpPr>
        <p:spPr>
          <a:xfrm>
            <a:off x="1138428" y="1965960"/>
            <a:ext cx="157277" cy="157277"/>
          </a:xfrm>
          <a:prstGeom prst="rect">
            <a:avLst/>
          </a:prstGeom>
          <a:solidFill>
            <a:srgbClr val="E5E7EB"/>
          </a:solidFill>
          <a:ln>
            <a:noFill/>
          </a:ln>
        </p:spPr>
        <p:txBody>
          <a:bodyPr rtlCol="0" anchor="ctr"/>
          <a:lstStyle/>
          <a:p>
            <a:pPr algn="ctr"/>
          </a:p>
        </p:txBody>
      </p:sp>
      <p:sp>
        <p:nvSpPr>
          <p:cNvPr id="44" name="Rectangle 43"/>
          <p:cNvSpPr/>
          <p:nvPr/>
        </p:nvSpPr>
        <p:spPr>
          <a:xfrm>
            <a:off x="1138428" y="1769364"/>
            <a:ext cx="157277" cy="157277"/>
          </a:xfrm>
          <a:prstGeom prst="rect">
            <a:avLst/>
          </a:prstGeom>
          <a:solidFill>
            <a:srgbClr val="E5E7EB"/>
          </a:solidFill>
          <a:ln>
            <a:noFill/>
          </a:ln>
        </p:spPr>
        <p:txBody>
          <a:bodyPr rtlCol="0" anchor="ctr"/>
          <a:lstStyle/>
          <a:p>
            <a:pPr algn="ctr"/>
          </a:p>
        </p:txBody>
      </p:sp>
      <p:sp>
        <p:nvSpPr>
          <p:cNvPr id="45" name="Rectangle 44"/>
          <p:cNvSpPr/>
          <p:nvPr/>
        </p:nvSpPr>
        <p:spPr>
          <a:xfrm>
            <a:off x="1138428" y="1572768"/>
            <a:ext cx="157277" cy="157277"/>
          </a:xfrm>
          <a:prstGeom prst="rect">
            <a:avLst/>
          </a:prstGeom>
          <a:solidFill>
            <a:srgbClr val="E5E7EB"/>
          </a:solidFill>
          <a:ln>
            <a:noFill/>
          </a:ln>
        </p:spPr>
        <p:txBody>
          <a:bodyPr rtlCol="0" anchor="ctr"/>
          <a:lstStyle/>
          <a:p>
            <a:pPr algn="ctr"/>
          </a:p>
        </p:txBody>
      </p:sp>
      <p:sp>
        <p:nvSpPr>
          <p:cNvPr id="46" name="Rectangle 45"/>
          <p:cNvSpPr/>
          <p:nvPr/>
        </p:nvSpPr>
        <p:spPr>
          <a:xfrm>
            <a:off x="1335024" y="3342132"/>
            <a:ext cx="157277" cy="157277"/>
          </a:xfrm>
          <a:prstGeom prst="rect">
            <a:avLst/>
          </a:prstGeom>
          <a:solidFill>
            <a:srgbClr val="E5E7EB"/>
          </a:solidFill>
          <a:ln>
            <a:noFill/>
          </a:ln>
        </p:spPr>
        <p:txBody>
          <a:bodyPr rtlCol="0" anchor="ctr"/>
          <a:lstStyle/>
          <a:p>
            <a:pPr algn="ctr"/>
          </a:p>
        </p:txBody>
      </p:sp>
      <p:sp>
        <p:nvSpPr>
          <p:cNvPr id="47" name="Rectangle 46"/>
          <p:cNvSpPr/>
          <p:nvPr/>
        </p:nvSpPr>
        <p:spPr>
          <a:xfrm>
            <a:off x="1335024" y="3145536"/>
            <a:ext cx="157277" cy="157277"/>
          </a:xfrm>
          <a:prstGeom prst="rect">
            <a:avLst/>
          </a:prstGeom>
          <a:solidFill>
            <a:srgbClr val="E5E7EB"/>
          </a:solidFill>
          <a:ln>
            <a:noFill/>
          </a:ln>
        </p:spPr>
        <p:txBody>
          <a:bodyPr rtlCol="0" anchor="ctr"/>
          <a:lstStyle/>
          <a:p>
            <a:pPr algn="ctr"/>
          </a:p>
        </p:txBody>
      </p:sp>
      <p:sp>
        <p:nvSpPr>
          <p:cNvPr id="48" name="Rectangle 47"/>
          <p:cNvSpPr/>
          <p:nvPr/>
        </p:nvSpPr>
        <p:spPr>
          <a:xfrm>
            <a:off x="1335024" y="2948940"/>
            <a:ext cx="157277" cy="157277"/>
          </a:xfrm>
          <a:prstGeom prst="rect">
            <a:avLst/>
          </a:prstGeom>
          <a:solidFill>
            <a:srgbClr val="E5E7EB"/>
          </a:solidFill>
          <a:ln>
            <a:noFill/>
          </a:ln>
        </p:spPr>
        <p:txBody>
          <a:bodyPr rtlCol="0" anchor="ctr"/>
          <a:lstStyle/>
          <a:p>
            <a:pPr algn="ctr"/>
          </a:p>
        </p:txBody>
      </p:sp>
      <p:sp>
        <p:nvSpPr>
          <p:cNvPr id="49" name="Rectangle 48"/>
          <p:cNvSpPr/>
          <p:nvPr/>
        </p:nvSpPr>
        <p:spPr>
          <a:xfrm>
            <a:off x="1335024" y="2752344"/>
            <a:ext cx="157277" cy="157277"/>
          </a:xfrm>
          <a:prstGeom prst="rect">
            <a:avLst/>
          </a:prstGeom>
          <a:solidFill>
            <a:srgbClr val="E5E7EB"/>
          </a:solidFill>
          <a:ln>
            <a:noFill/>
          </a:ln>
        </p:spPr>
        <p:txBody>
          <a:bodyPr rtlCol="0" anchor="ctr"/>
          <a:lstStyle/>
          <a:p>
            <a:pPr algn="ctr"/>
          </a:p>
        </p:txBody>
      </p:sp>
      <p:sp>
        <p:nvSpPr>
          <p:cNvPr id="50" name="Rectangle 49"/>
          <p:cNvSpPr/>
          <p:nvPr/>
        </p:nvSpPr>
        <p:spPr>
          <a:xfrm>
            <a:off x="1335024" y="2555748"/>
            <a:ext cx="157277" cy="157277"/>
          </a:xfrm>
          <a:prstGeom prst="rect">
            <a:avLst/>
          </a:prstGeom>
          <a:solidFill>
            <a:srgbClr val="E5E7EB"/>
          </a:solidFill>
          <a:ln>
            <a:noFill/>
          </a:ln>
        </p:spPr>
        <p:txBody>
          <a:bodyPr rtlCol="0" anchor="ctr"/>
          <a:lstStyle/>
          <a:p>
            <a:pPr algn="ctr"/>
          </a:p>
        </p:txBody>
      </p:sp>
      <p:sp>
        <p:nvSpPr>
          <p:cNvPr id="51" name="Rectangle 50"/>
          <p:cNvSpPr/>
          <p:nvPr/>
        </p:nvSpPr>
        <p:spPr>
          <a:xfrm>
            <a:off x="1335024" y="2359152"/>
            <a:ext cx="157277" cy="157277"/>
          </a:xfrm>
          <a:prstGeom prst="rect">
            <a:avLst/>
          </a:prstGeom>
          <a:solidFill>
            <a:srgbClr val="E5E7EB"/>
          </a:solidFill>
          <a:ln>
            <a:noFill/>
          </a:ln>
        </p:spPr>
        <p:txBody>
          <a:bodyPr rtlCol="0" anchor="ctr"/>
          <a:lstStyle/>
          <a:p>
            <a:pPr algn="ctr"/>
          </a:p>
        </p:txBody>
      </p:sp>
      <p:sp>
        <p:nvSpPr>
          <p:cNvPr id="52" name="Rectangle 51"/>
          <p:cNvSpPr/>
          <p:nvPr/>
        </p:nvSpPr>
        <p:spPr>
          <a:xfrm>
            <a:off x="1335024" y="2162556"/>
            <a:ext cx="157277" cy="157277"/>
          </a:xfrm>
          <a:prstGeom prst="rect">
            <a:avLst/>
          </a:prstGeom>
          <a:solidFill>
            <a:srgbClr val="E5E7EB"/>
          </a:solidFill>
          <a:ln>
            <a:noFill/>
          </a:ln>
        </p:spPr>
        <p:txBody>
          <a:bodyPr rtlCol="0" anchor="ctr"/>
          <a:lstStyle/>
          <a:p>
            <a:pPr algn="ctr"/>
          </a:p>
        </p:txBody>
      </p:sp>
      <p:sp>
        <p:nvSpPr>
          <p:cNvPr id="53" name="Rectangle 52"/>
          <p:cNvSpPr/>
          <p:nvPr/>
        </p:nvSpPr>
        <p:spPr>
          <a:xfrm>
            <a:off x="1335024" y="1965960"/>
            <a:ext cx="157277" cy="157277"/>
          </a:xfrm>
          <a:prstGeom prst="rect">
            <a:avLst/>
          </a:prstGeom>
          <a:solidFill>
            <a:srgbClr val="E5E7EB"/>
          </a:solidFill>
          <a:ln>
            <a:noFill/>
          </a:ln>
        </p:spPr>
        <p:txBody>
          <a:bodyPr rtlCol="0" anchor="ctr"/>
          <a:lstStyle/>
          <a:p>
            <a:pPr algn="ctr"/>
          </a:p>
        </p:txBody>
      </p:sp>
      <p:sp>
        <p:nvSpPr>
          <p:cNvPr id="54" name="Rectangle 53"/>
          <p:cNvSpPr/>
          <p:nvPr/>
        </p:nvSpPr>
        <p:spPr>
          <a:xfrm>
            <a:off x="1335024" y="1769364"/>
            <a:ext cx="157277" cy="157277"/>
          </a:xfrm>
          <a:prstGeom prst="rect">
            <a:avLst/>
          </a:prstGeom>
          <a:solidFill>
            <a:srgbClr val="E5E7EB"/>
          </a:solidFill>
          <a:ln>
            <a:noFill/>
          </a:ln>
        </p:spPr>
        <p:txBody>
          <a:bodyPr rtlCol="0" anchor="ctr"/>
          <a:lstStyle/>
          <a:p>
            <a:pPr algn="ctr"/>
          </a:p>
        </p:txBody>
      </p:sp>
      <p:sp>
        <p:nvSpPr>
          <p:cNvPr id="55" name="Rectangle 54"/>
          <p:cNvSpPr/>
          <p:nvPr/>
        </p:nvSpPr>
        <p:spPr>
          <a:xfrm>
            <a:off x="1335024" y="1572768"/>
            <a:ext cx="157277" cy="157277"/>
          </a:xfrm>
          <a:prstGeom prst="rect">
            <a:avLst/>
          </a:prstGeom>
          <a:solidFill>
            <a:srgbClr val="E5E7EB"/>
          </a:solidFill>
          <a:ln>
            <a:noFill/>
          </a:ln>
        </p:spPr>
        <p:txBody>
          <a:bodyPr rtlCol="0" anchor="ctr"/>
          <a:lstStyle/>
          <a:p>
            <a:pPr algn="ctr"/>
          </a:p>
        </p:txBody>
      </p:sp>
      <p:sp>
        <p:nvSpPr>
          <p:cNvPr id="56" name="Rectangle 55"/>
          <p:cNvSpPr/>
          <p:nvPr/>
        </p:nvSpPr>
        <p:spPr>
          <a:xfrm>
            <a:off x="1531620" y="3342132"/>
            <a:ext cx="157277" cy="157277"/>
          </a:xfrm>
          <a:prstGeom prst="rect">
            <a:avLst/>
          </a:prstGeom>
          <a:solidFill>
            <a:srgbClr val="E5E7EB"/>
          </a:solidFill>
          <a:ln>
            <a:noFill/>
          </a:ln>
        </p:spPr>
        <p:txBody>
          <a:bodyPr rtlCol="0" anchor="ctr"/>
          <a:lstStyle/>
          <a:p>
            <a:pPr algn="ctr"/>
          </a:p>
        </p:txBody>
      </p:sp>
      <p:sp>
        <p:nvSpPr>
          <p:cNvPr id="57" name="Rectangle 56"/>
          <p:cNvSpPr/>
          <p:nvPr/>
        </p:nvSpPr>
        <p:spPr>
          <a:xfrm>
            <a:off x="1531620" y="3145536"/>
            <a:ext cx="157277" cy="157277"/>
          </a:xfrm>
          <a:prstGeom prst="rect">
            <a:avLst/>
          </a:prstGeom>
          <a:solidFill>
            <a:srgbClr val="E5E7EB"/>
          </a:solidFill>
          <a:ln>
            <a:noFill/>
          </a:ln>
        </p:spPr>
        <p:txBody>
          <a:bodyPr rtlCol="0" anchor="ctr"/>
          <a:lstStyle/>
          <a:p>
            <a:pPr algn="ctr"/>
          </a:p>
        </p:txBody>
      </p:sp>
      <p:sp>
        <p:nvSpPr>
          <p:cNvPr id="58" name="Rectangle 57"/>
          <p:cNvSpPr/>
          <p:nvPr/>
        </p:nvSpPr>
        <p:spPr>
          <a:xfrm>
            <a:off x="1531620" y="2948940"/>
            <a:ext cx="157277" cy="157277"/>
          </a:xfrm>
          <a:prstGeom prst="rect">
            <a:avLst/>
          </a:prstGeom>
          <a:solidFill>
            <a:srgbClr val="E5E7EB"/>
          </a:solidFill>
          <a:ln>
            <a:noFill/>
          </a:ln>
        </p:spPr>
        <p:txBody>
          <a:bodyPr rtlCol="0" anchor="ctr"/>
          <a:lstStyle/>
          <a:p>
            <a:pPr algn="ctr"/>
          </a:p>
        </p:txBody>
      </p:sp>
      <p:sp>
        <p:nvSpPr>
          <p:cNvPr id="59" name="Rectangle 58"/>
          <p:cNvSpPr/>
          <p:nvPr/>
        </p:nvSpPr>
        <p:spPr>
          <a:xfrm>
            <a:off x="1531620" y="2752344"/>
            <a:ext cx="157277" cy="157277"/>
          </a:xfrm>
          <a:prstGeom prst="rect">
            <a:avLst/>
          </a:prstGeom>
          <a:solidFill>
            <a:srgbClr val="E5E7EB"/>
          </a:solidFill>
          <a:ln>
            <a:noFill/>
          </a:ln>
        </p:spPr>
        <p:txBody>
          <a:bodyPr rtlCol="0" anchor="ctr"/>
          <a:lstStyle/>
          <a:p>
            <a:pPr algn="ctr"/>
          </a:p>
        </p:txBody>
      </p:sp>
      <p:sp>
        <p:nvSpPr>
          <p:cNvPr id="60" name="Rectangle 59"/>
          <p:cNvSpPr/>
          <p:nvPr/>
        </p:nvSpPr>
        <p:spPr>
          <a:xfrm>
            <a:off x="1531620" y="2555748"/>
            <a:ext cx="157277" cy="157277"/>
          </a:xfrm>
          <a:prstGeom prst="rect">
            <a:avLst/>
          </a:prstGeom>
          <a:solidFill>
            <a:srgbClr val="E5E7EB"/>
          </a:solidFill>
          <a:ln>
            <a:noFill/>
          </a:ln>
        </p:spPr>
        <p:txBody>
          <a:bodyPr rtlCol="0" anchor="ctr"/>
          <a:lstStyle/>
          <a:p>
            <a:pPr algn="ctr"/>
          </a:p>
        </p:txBody>
      </p:sp>
      <p:sp>
        <p:nvSpPr>
          <p:cNvPr id="61" name="Rectangle 60"/>
          <p:cNvSpPr/>
          <p:nvPr/>
        </p:nvSpPr>
        <p:spPr>
          <a:xfrm>
            <a:off x="1531620" y="2359152"/>
            <a:ext cx="157277" cy="157277"/>
          </a:xfrm>
          <a:prstGeom prst="rect">
            <a:avLst/>
          </a:prstGeom>
          <a:solidFill>
            <a:srgbClr val="E5E7EB"/>
          </a:solidFill>
          <a:ln>
            <a:noFill/>
          </a:ln>
        </p:spPr>
        <p:txBody>
          <a:bodyPr rtlCol="0" anchor="ctr"/>
          <a:lstStyle/>
          <a:p>
            <a:pPr algn="ctr"/>
          </a:p>
        </p:txBody>
      </p:sp>
      <p:sp>
        <p:nvSpPr>
          <p:cNvPr id="62" name="Rectangle 61"/>
          <p:cNvSpPr/>
          <p:nvPr/>
        </p:nvSpPr>
        <p:spPr>
          <a:xfrm>
            <a:off x="1531620" y="2162556"/>
            <a:ext cx="157277" cy="157277"/>
          </a:xfrm>
          <a:prstGeom prst="rect">
            <a:avLst/>
          </a:prstGeom>
          <a:solidFill>
            <a:srgbClr val="E5E7EB"/>
          </a:solidFill>
          <a:ln>
            <a:noFill/>
          </a:ln>
        </p:spPr>
        <p:txBody>
          <a:bodyPr rtlCol="0" anchor="ctr"/>
          <a:lstStyle/>
          <a:p>
            <a:pPr algn="ctr"/>
          </a:p>
        </p:txBody>
      </p:sp>
      <p:sp>
        <p:nvSpPr>
          <p:cNvPr id="63" name="Rectangle 62"/>
          <p:cNvSpPr/>
          <p:nvPr/>
        </p:nvSpPr>
        <p:spPr>
          <a:xfrm>
            <a:off x="1531620" y="1965960"/>
            <a:ext cx="157277" cy="157277"/>
          </a:xfrm>
          <a:prstGeom prst="rect">
            <a:avLst/>
          </a:prstGeom>
          <a:solidFill>
            <a:srgbClr val="E5E7EB"/>
          </a:solidFill>
          <a:ln>
            <a:noFill/>
          </a:ln>
        </p:spPr>
        <p:txBody>
          <a:bodyPr rtlCol="0" anchor="ctr"/>
          <a:lstStyle/>
          <a:p>
            <a:pPr algn="ctr"/>
          </a:p>
        </p:txBody>
      </p:sp>
      <p:sp>
        <p:nvSpPr>
          <p:cNvPr id="64" name="Rectangle 63"/>
          <p:cNvSpPr/>
          <p:nvPr/>
        </p:nvSpPr>
        <p:spPr>
          <a:xfrm>
            <a:off x="1531620" y="1769364"/>
            <a:ext cx="157277" cy="157277"/>
          </a:xfrm>
          <a:prstGeom prst="rect">
            <a:avLst/>
          </a:prstGeom>
          <a:solidFill>
            <a:srgbClr val="E5E7EB"/>
          </a:solidFill>
          <a:ln>
            <a:noFill/>
          </a:ln>
        </p:spPr>
        <p:txBody>
          <a:bodyPr rtlCol="0" anchor="ctr"/>
          <a:lstStyle/>
          <a:p>
            <a:pPr algn="ctr"/>
          </a:p>
        </p:txBody>
      </p:sp>
      <p:sp>
        <p:nvSpPr>
          <p:cNvPr id="65" name="Rectangle 64"/>
          <p:cNvSpPr/>
          <p:nvPr/>
        </p:nvSpPr>
        <p:spPr>
          <a:xfrm>
            <a:off x="1531620" y="1572768"/>
            <a:ext cx="157277" cy="157277"/>
          </a:xfrm>
          <a:prstGeom prst="rect">
            <a:avLst/>
          </a:prstGeom>
          <a:solidFill>
            <a:srgbClr val="E5E7EB"/>
          </a:solidFill>
          <a:ln>
            <a:noFill/>
          </a:ln>
        </p:spPr>
        <p:txBody>
          <a:bodyPr rtlCol="0" anchor="ctr"/>
          <a:lstStyle/>
          <a:p>
            <a:pPr algn="ctr"/>
          </a:p>
        </p:txBody>
      </p:sp>
      <p:sp>
        <p:nvSpPr>
          <p:cNvPr id="66" name="Rectangle 65"/>
          <p:cNvSpPr/>
          <p:nvPr/>
        </p:nvSpPr>
        <p:spPr>
          <a:xfrm>
            <a:off x="1728216" y="3342132"/>
            <a:ext cx="157277" cy="157277"/>
          </a:xfrm>
          <a:prstGeom prst="rect">
            <a:avLst/>
          </a:prstGeom>
          <a:solidFill>
            <a:srgbClr val="E5E7EB"/>
          </a:solidFill>
          <a:ln>
            <a:noFill/>
          </a:ln>
        </p:spPr>
        <p:txBody>
          <a:bodyPr rtlCol="0" anchor="ctr"/>
          <a:lstStyle/>
          <a:p>
            <a:pPr algn="ctr"/>
          </a:p>
        </p:txBody>
      </p:sp>
      <p:sp>
        <p:nvSpPr>
          <p:cNvPr id="67" name="Rectangle 66"/>
          <p:cNvSpPr/>
          <p:nvPr/>
        </p:nvSpPr>
        <p:spPr>
          <a:xfrm>
            <a:off x="1728216" y="3145536"/>
            <a:ext cx="157277" cy="157277"/>
          </a:xfrm>
          <a:prstGeom prst="rect">
            <a:avLst/>
          </a:prstGeom>
          <a:solidFill>
            <a:srgbClr val="E5E7EB"/>
          </a:solidFill>
          <a:ln>
            <a:noFill/>
          </a:ln>
        </p:spPr>
        <p:txBody>
          <a:bodyPr rtlCol="0" anchor="ctr"/>
          <a:lstStyle/>
          <a:p>
            <a:pPr algn="ctr"/>
          </a:p>
        </p:txBody>
      </p:sp>
      <p:sp>
        <p:nvSpPr>
          <p:cNvPr id="68" name="Rectangle 67"/>
          <p:cNvSpPr/>
          <p:nvPr/>
        </p:nvSpPr>
        <p:spPr>
          <a:xfrm>
            <a:off x="1728216" y="2948940"/>
            <a:ext cx="157277" cy="157277"/>
          </a:xfrm>
          <a:prstGeom prst="rect">
            <a:avLst/>
          </a:prstGeom>
          <a:solidFill>
            <a:srgbClr val="E5E7EB"/>
          </a:solidFill>
          <a:ln>
            <a:noFill/>
          </a:ln>
        </p:spPr>
        <p:txBody>
          <a:bodyPr rtlCol="0" anchor="ctr"/>
          <a:lstStyle/>
          <a:p>
            <a:pPr algn="ctr"/>
          </a:p>
        </p:txBody>
      </p:sp>
      <p:sp>
        <p:nvSpPr>
          <p:cNvPr id="69" name="Rectangle 68"/>
          <p:cNvSpPr/>
          <p:nvPr/>
        </p:nvSpPr>
        <p:spPr>
          <a:xfrm>
            <a:off x="1728216" y="2752344"/>
            <a:ext cx="157277" cy="157277"/>
          </a:xfrm>
          <a:prstGeom prst="rect">
            <a:avLst/>
          </a:prstGeom>
          <a:solidFill>
            <a:srgbClr val="E5E7EB"/>
          </a:solidFill>
          <a:ln>
            <a:noFill/>
          </a:ln>
        </p:spPr>
        <p:txBody>
          <a:bodyPr rtlCol="0" anchor="ctr"/>
          <a:lstStyle/>
          <a:p>
            <a:pPr algn="ctr"/>
          </a:p>
        </p:txBody>
      </p:sp>
      <p:sp>
        <p:nvSpPr>
          <p:cNvPr id="70" name="Rectangle 69"/>
          <p:cNvSpPr/>
          <p:nvPr/>
        </p:nvSpPr>
        <p:spPr>
          <a:xfrm>
            <a:off x="1728216" y="2555748"/>
            <a:ext cx="157277" cy="157277"/>
          </a:xfrm>
          <a:prstGeom prst="rect">
            <a:avLst/>
          </a:prstGeom>
          <a:solidFill>
            <a:srgbClr val="E5E7EB"/>
          </a:solidFill>
          <a:ln>
            <a:noFill/>
          </a:ln>
        </p:spPr>
        <p:txBody>
          <a:bodyPr rtlCol="0" anchor="ctr"/>
          <a:lstStyle/>
          <a:p>
            <a:pPr algn="ctr"/>
          </a:p>
        </p:txBody>
      </p:sp>
      <p:sp>
        <p:nvSpPr>
          <p:cNvPr id="71" name="Rectangle 70"/>
          <p:cNvSpPr/>
          <p:nvPr/>
        </p:nvSpPr>
        <p:spPr>
          <a:xfrm>
            <a:off x="1728216" y="2359152"/>
            <a:ext cx="157277" cy="157277"/>
          </a:xfrm>
          <a:prstGeom prst="rect">
            <a:avLst/>
          </a:prstGeom>
          <a:solidFill>
            <a:srgbClr val="E5E7EB"/>
          </a:solidFill>
          <a:ln>
            <a:noFill/>
          </a:ln>
        </p:spPr>
        <p:txBody>
          <a:bodyPr rtlCol="0" anchor="ctr"/>
          <a:lstStyle/>
          <a:p>
            <a:pPr algn="ctr"/>
          </a:p>
        </p:txBody>
      </p:sp>
      <p:sp>
        <p:nvSpPr>
          <p:cNvPr id="72" name="Rectangle 71"/>
          <p:cNvSpPr/>
          <p:nvPr/>
        </p:nvSpPr>
        <p:spPr>
          <a:xfrm>
            <a:off x="1728216" y="2162556"/>
            <a:ext cx="157277" cy="157277"/>
          </a:xfrm>
          <a:prstGeom prst="rect">
            <a:avLst/>
          </a:prstGeom>
          <a:solidFill>
            <a:srgbClr val="E5E7EB"/>
          </a:solidFill>
          <a:ln>
            <a:noFill/>
          </a:ln>
        </p:spPr>
        <p:txBody>
          <a:bodyPr rtlCol="0" anchor="ctr"/>
          <a:lstStyle/>
          <a:p>
            <a:pPr algn="ctr"/>
          </a:p>
        </p:txBody>
      </p:sp>
      <p:sp>
        <p:nvSpPr>
          <p:cNvPr id="73" name="Rectangle 72"/>
          <p:cNvSpPr/>
          <p:nvPr/>
        </p:nvSpPr>
        <p:spPr>
          <a:xfrm>
            <a:off x="1728216" y="1965960"/>
            <a:ext cx="157277" cy="157277"/>
          </a:xfrm>
          <a:prstGeom prst="rect">
            <a:avLst/>
          </a:prstGeom>
          <a:solidFill>
            <a:srgbClr val="E5E7EB"/>
          </a:solidFill>
          <a:ln>
            <a:noFill/>
          </a:ln>
        </p:spPr>
        <p:txBody>
          <a:bodyPr rtlCol="0" anchor="ctr"/>
          <a:lstStyle/>
          <a:p>
            <a:pPr algn="ctr"/>
          </a:p>
        </p:txBody>
      </p:sp>
      <p:sp>
        <p:nvSpPr>
          <p:cNvPr id="74" name="Rectangle 73"/>
          <p:cNvSpPr/>
          <p:nvPr/>
        </p:nvSpPr>
        <p:spPr>
          <a:xfrm>
            <a:off x="1728216" y="1769364"/>
            <a:ext cx="157277" cy="157277"/>
          </a:xfrm>
          <a:prstGeom prst="rect">
            <a:avLst/>
          </a:prstGeom>
          <a:solidFill>
            <a:srgbClr val="E5E7EB"/>
          </a:solidFill>
          <a:ln>
            <a:noFill/>
          </a:ln>
        </p:spPr>
        <p:txBody>
          <a:bodyPr rtlCol="0" anchor="ctr"/>
          <a:lstStyle/>
          <a:p>
            <a:pPr algn="ctr"/>
          </a:p>
        </p:txBody>
      </p:sp>
      <p:sp>
        <p:nvSpPr>
          <p:cNvPr id="75" name="Rectangle 74"/>
          <p:cNvSpPr/>
          <p:nvPr/>
        </p:nvSpPr>
        <p:spPr>
          <a:xfrm>
            <a:off x="1728216" y="1572768"/>
            <a:ext cx="157277" cy="157277"/>
          </a:xfrm>
          <a:prstGeom prst="rect">
            <a:avLst/>
          </a:prstGeom>
          <a:solidFill>
            <a:srgbClr val="E5E7EB"/>
          </a:solidFill>
          <a:ln>
            <a:noFill/>
          </a:ln>
        </p:spPr>
        <p:txBody>
          <a:bodyPr rtlCol="0" anchor="ctr"/>
          <a:lstStyle/>
          <a:p>
            <a:pPr algn="ctr"/>
          </a:p>
        </p:txBody>
      </p:sp>
      <p:sp>
        <p:nvSpPr>
          <p:cNvPr id="76" name="Rectangle 75"/>
          <p:cNvSpPr/>
          <p:nvPr/>
        </p:nvSpPr>
        <p:spPr>
          <a:xfrm>
            <a:off x="1924812" y="3342132"/>
            <a:ext cx="157277" cy="157277"/>
          </a:xfrm>
          <a:prstGeom prst="rect">
            <a:avLst/>
          </a:prstGeom>
          <a:solidFill>
            <a:srgbClr val="E5E7EB"/>
          </a:solidFill>
          <a:ln>
            <a:noFill/>
          </a:ln>
        </p:spPr>
        <p:txBody>
          <a:bodyPr rtlCol="0" anchor="ctr"/>
          <a:lstStyle/>
          <a:p>
            <a:pPr algn="ctr"/>
          </a:p>
        </p:txBody>
      </p:sp>
      <p:sp>
        <p:nvSpPr>
          <p:cNvPr id="77" name="Rectangle 76"/>
          <p:cNvSpPr/>
          <p:nvPr/>
        </p:nvSpPr>
        <p:spPr>
          <a:xfrm>
            <a:off x="1924812" y="3145536"/>
            <a:ext cx="157277" cy="157277"/>
          </a:xfrm>
          <a:prstGeom prst="rect">
            <a:avLst/>
          </a:prstGeom>
          <a:solidFill>
            <a:srgbClr val="E5E7EB"/>
          </a:solidFill>
          <a:ln>
            <a:noFill/>
          </a:ln>
        </p:spPr>
        <p:txBody>
          <a:bodyPr rtlCol="0" anchor="ctr"/>
          <a:lstStyle/>
          <a:p>
            <a:pPr algn="ctr"/>
          </a:p>
        </p:txBody>
      </p:sp>
      <p:sp>
        <p:nvSpPr>
          <p:cNvPr id="78" name="Rectangle 77"/>
          <p:cNvSpPr/>
          <p:nvPr/>
        </p:nvSpPr>
        <p:spPr>
          <a:xfrm>
            <a:off x="1924812" y="2948940"/>
            <a:ext cx="157277" cy="157277"/>
          </a:xfrm>
          <a:prstGeom prst="rect">
            <a:avLst/>
          </a:prstGeom>
          <a:solidFill>
            <a:srgbClr val="E5E7EB"/>
          </a:solidFill>
          <a:ln>
            <a:noFill/>
          </a:ln>
        </p:spPr>
        <p:txBody>
          <a:bodyPr rtlCol="0" anchor="ctr"/>
          <a:lstStyle/>
          <a:p>
            <a:pPr algn="ctr"/>
          </a:p>
        </p:txBody>
      </p:sp>
      <p:sp>
        <p:nvSpPr>
          <p:cNvPr id="79" name="Rectangle 78"/>
          <p:cNvSpPr/>
          <p:nvPr/>
        </p:nvSpPr>
        <p:spPr>
          <a:xfrm>
            <a:off x="1924812" y="2752344"/>
            <a:ext cx="157277" cy="157277"/>
          </a:xfrm>
          <a:prstGeom prst="rect">
            <a:avLst/>
          </a:prstGeom>
          <a:solidFill>
            <a:srgbClr val="E5E7EB"/>
          </a:solidFill>
          <a:ln>
            <a:noFill/>
          </a:ln>
        </p:spPr>
        <p:txBody>
          <a:bodyPr rtlCol="0" anchor="ctr"/>
          <a:lstStyle/>
          <a:p>
            <a:pPr algn="ctr"/>
          </a:p>
        </p:txBody>
      </p:sp>
      <p:sp>
        <p:nvSpPr>
          <p:cNvPr id="80" name="Rectangle 79"/>
          <p:cNvSpPr/>
          <p:nvPr/>
        </p:nvSpPr>
        <p:spPr>
          <a:xfrm>
            <a:off x="1924812" y="2555748"/>
            <a:ext cx="157277" cy="157277"/>
          </a:xfrm>
          <a:prstGeom prst="rect">
            <a:avLst/>
          </a:prstGeom>
          <a:solidFill>
            <a:srgbClr val="E5E7EB"/>
          </a:solidFill>
          <a:ln>
            <a:noFill/>
          </a:ln>
        </p:spPr>
        <p:txBody>
          <a:bodyPr rtlCol="0" anchor="ctr"/>
          <a:lstStyle/>
          <a:p>
            <a:pPr algn="ctr"/>
          </a:p>
        </p:txBody>
      </p:sp>
      <p:sp>
        <p:nvSpPr>
          <p:cNvPr id="81" name="Rectangle 80"/>
          <p:cNvSpPr/>
          <p:nvPr/>
        </p:nvSpPr>
        <p:spPr>
          <a:xfrm>
            <a:off x="1924812" y="2359152"/>
            <a:ext cx="157277" cy="157277"/>
          </a:xfrm>
          <a:prstGeom prst="rect">
            <a:avLst/>
          </a:prstGeom>
          <a:solidFill>
            <a:srgbClr val="E5E7EB"/>
          </a:solidFill>
          <a:ln>
            <a:noFill/>
          </a:ln>
        </p:spPr>
        <p:txBody>
          <a:bodyPr rtlCol="0" anchor="ctr"/>
          <a:lstStyle/>
          <a:p>
            <a:pPr algn="ctr"/>
          </a:p>
        </p:txBody>
      </p:sp>
      <p:sp>
        <p:nvSpPr>
          <p:cNvPr id="82" name="Rectangle 81"/>
          <p:cNvSpPr/>
          <p:nvPr/>
        </p:nvSpPr>
        <p:spPr>
          <a:xfrm>
            <a:off x="1924812" y="2162556"/>
            <a:ext cx="157277" cy="157277"/>
          </a:xfrm>
          <a:prstGeom prst="rect">
            <a:avLst/>
          </a:prstGeom>
          <a:solidFill>
            <a:srgbClr val="E5E7EB"/>
          </a:solidFill>
          <a:ln>
            <a:noFill/>
          </a:ln>
        </p:spPr>
        <p:txBody>
          <a:bodyPr rtlCol="0" anchor="ctr"/>
          <a:lstStyle/>
          <a:p>
            <a:pPr algn="ctr"/>
          </a:p>
        </p:txBody>
      </p:sp>
      <p:sp>
        <p:nvSpPr>
          <p:cNvPr id="83" name="Rectangle 82"/>
          <p:cNvSpPr/>
          <p:nvPr/>
        </p:nvSpPr>
        <p:spPr>
          <a:xfrm>
            <a:off x="1924812" y="1965960"/>
            <a:ext cx="157277" cy="157277"/>
          </a:xfrm>
          <a:prstGeom prst="rect">
            <a:avLst/>
          </a:prstGeom>
          <a:solidFill>
            <a:srgbClr val="E5E7EB"/>
          </a:solidFill>
          <a:ln>
            <a:noFill/>
          </a:ln>
        </p:spPr>
        <p:txBody>
          <a:bodyPr rtlCol="0" anchor="ctr"/>
          <a:lstStyle/>
          <a:p>
            <a:pPr algn="ctr"/>
          </a:p>
        </p:txBody>
      </p:sp>
      <p:sp>
        <p:nvSpPr>
          <p:cNvPr id="84" name="Rectangle 83"/>
          <p:cNvSpPr/>
          <p:nvPr/>
        </p:nvSpPr>
        <p:spPr>
          <a:xfrm>
            <a:off x="1924812" y="1769364"/>
            <a:ext cx="157277" cy="157277"/>
          </a:xfrm>
          <a:prstGeom prst="rect">
            <a:avLst/>
          </a:prstGeom>
          <a:solidFill>
            <a:srgbClr val="E5E7EB"/>
          </a:solidFill>
          <a:ln>
            <a:noFill/>
          </a:ln>
        </p:spPr>
        <p:txBody>
          <a:bodyPr rtlCol="0" anchor="ctr"/>
          <a:lstStyle/>
          <a:p>
            <a:pPr algn="ctr"/>
          </a:p>
        </p:txBody>
      </p:sp>
      <p:sp>
        <p:nvSpPr>
          <p:cNvPr id="85" name="Rectangle 84"/>
          <p:cNvSpPr/>
          <p:nvPr/>
        </p:nvSpPr>
        <p:spPr>
          <a:xfrm>
            <a:off x="1924812" y="1572768"/>
            <a:ext cx="157277" cy="157277"/>
          </a:xfrm>
          <a:prstGeom prst="rect">
            <a:avLst/>
          </a:prstGeom>
          <a:solidFill>
            <a:srgbClr val="E5E7EB"/>
          </a:solidFill>
          <a:ln>
            <a:noFill/>
          </a:ln>
        </p:spPr>
        <p:txBody>
          <a:bodyPr rtlCol="0" anchor="ctr"/>
          <a:lstStyle/>
          <a:p>
            <a:pPr algn="ctr"/>
          </a:p>
        </p:txBody>
      </p:sp>
      <p:sp>
        <p:nvSpPr>
          <p:cNvPr id="86" name="Rectangle 85"/>
          <p:cNvSpPr/>
          <p:nvPr/>
        </p:nvSpPr>
        <p:spPr>
          <a:xfrm>
            <a:off x="2121408" y="3342132"/>
            <a:ext cx="157277" cy="157277"/>
          </a:xfrm>
          <a:prstGeom prst="rect">
            <a:avLst/>
          </a:prstGeom>
          <a:solidFill>
            <a:srgbClr val="E5E7EB"/>
          </a:solidFill>
          <a:ln>
            <a:noFill/>
          </a:ln>
        </p:spPr>
        <p:txBody>
          <a:bodyPr rtlCol="0" anchor="ctr"/>
          <a:lstStyle/>
          <a:p>
            <a:pPr algn="ctr"/>
          </a:p>
        </p:txBody>
      </p:sp>
      <p:sp>
        <p:nvSpPr>
          <p:cNvPr id="87" name="Rectangle 86"/>
          <p:cNvSpPr/>
          <p:nvPr/>
        </p:nvSpPr>
        <p:spPr>
          <a:xfrm>
            <a:off x="2121408" y="3145536"/>
            <a:ext cx="157277" cy="157277"/>
          </a:xfrm>
          <a:prstGeom prst="rect">
            <a:avLst/>
          </a:prstGeom>
          <a:solidFill>
            <a:srgbClr val="E5E7EB"/>
          </a:solidFill>
          <a:ln>
            <a:noFill/>
          </a:ln>
        </p:spPr>
        <p:txBody>
          <a:bodyPr rtlCol="0" anchor="ctr"/>
          <a:lstStyle/>
          <a:p>
            <a:pPr algn="ctr"/>
          </a:p>
        </p:txBody>
      </p:sp>
      <p:sp>
        <p:nvSpPr>
          <p:cNvPr id="88" name="Rectangle 87"/>
          <p:cNvSpPr/>
          <p:nvPr/>
        </p:nvSpPr>
        <p:spPr>
          <a:xfrm>
            <a:off x="2121408" y="2948940"/>
            <a:ext cx="157277" cy="157277"/>
          </a:xfrm>
          <a:prstGeom prst="rect">
            <a:avLst/>
          </a:prstGeom>
          <a:solidFill>
            <a:srgbClr val="E5E7EB"/>
          </a:solidFill>
          <a:ln>
            <a:noFill/>
          </a:ln>
        </p:spPr>
        <p:txBody>
          <a:bodyPr rtlCol="0" anchor="ctr"/>
          <a:lstStyle/>
          <a:p>
            <a:pPr algn="ctr"/>
          </a:p>
        </p:txBody>
      </p:sp>
      <p:sp>
        <p:nvSpPr>
          <p:cNvPr id="89" name="Rectangle 88"/>
          <p:cNvSpPr/>
          <p:nvPr/>
        </p:nvSpPr>
        <p:spPr>
          <a:xfrm>
            <a:off x="2121408" y="2752344"/>
            <a:ext cx="157277" cy="157277"/>
          </a:xfrm>
          <a:prstGeom prst="rect">
            <a:avLst/>
          </a:prstGeom>
          <a:solidFill>
            <a:srgbClr val="E5E7EB"/>
          </a:solidFill>
          <a:ln>
            <a:noFill/>
          </a:ln>
        </p:spPr>
        <p:txBody>
          <a:bodyPr rtlCol="0" anchor="ctr"/>
          <a:lstStyle/>
          <a:p>
            <a:pPr algn="ctr"/>
          </a:p>
        </p:txBody>
      </p:sp>
      <p:sp>
        <p:nvSpPr>
          <p:cNvPr id="90" name="Rectangle 89"/>
          <p:cNvSpPr/>
          <p:nvPr/>
        </p:nvSpPr>
        <p:spPr>
          <a:xfrm>
            <a:off x="2121408" y="2555748"/>
            <a:ext cx="157277" cy="157277"/>
          </a:xfrm>
          <a:prstGeom prst="rect">
            <a:avLst/>
          </a:prstGeom>
          <a:solidFill>
            <a:srgbClr val="E5E7EB"/>
          </a:solidFill>
          <a:ln>
            <a:noFill/>
          </a:ln>
        </p:spPr>
        <p:txBody>
          <a:bodyPr rtlCol="0" anchor="ctr"/>
          <a:lstStyle/>
          <a:p>
            <a:pPr algn="ctr"/>
          </a:p>
        </p:txBody>
      </p:sp>
      <p:sp>
        <p:nvSpPr>
          <p:cNvPr id="91" name="Rectangle 90"/>
          <p:cNvSpPr/>
          <p:nvPr/>
        </p:nvSpPr>
        <p:spPr>
          <a:xfrm>
            <a:off x="2121408" y="2359152"/>
            <a:ext cx="157277" cy="157277"/>
          </a:xfrm>
          <a:prstGeom prst="rect">
            <a:avLst/>
          </a:prstGeom>
          <a:solidFill>
            <a:srgbClr val="E5E7EB"/>
          </a:solidFill>
          <a:ln>
            <a:noFill/>
          </a:ln>
        </p:spPr>
        <p:txBody>
          <a:bodyPr rtlCol="0" anchor="ctr"/>
          <a:lstStyle/>
          <a:p>
            <a:pPr algn="ctr"/>
          </a:p>
        </p:txBody>
      </p:sp>
      <p:sp>
        <p:nvSpPr>
          <p:cNvPr id="92" name="Rectangle 91"/>
          <p:cNvSpPr/>
          <p:nvPr/>
        </p:nvSpPr>
        <p:spPr>
          <a:xfrm>
            <a:off x="2121408" y="2162556"/>
            <a:ext cx="157277" cy="157277"/>
          </a:xfrm>
          <a:prstGeom prst="rect">
            <a:avLst/>
          </a:prstGeom>
          <a:solidFill>
            <a:srgbClr val="E5E7EB"/>
          </a:solidFill>
          <a:ln>
            <a:noFill/>
          </a:ln>
        </p:spPr>
        <p:txBody>
          <a:bodyPr rtlCol="0" anchor="ctr"/>
          <a:lstStyle/>
          <a:p>
            <a:pPr algn="ctr"/>
          </a:p>
        </p:txBody>
      </p:sp>
      <p:sp>
        <p:nvSpPr>
          <p:cNvPr id="93" name="Rectangle 92"/>
          <p:cNvSpPr/>
          <p:nvPr/>
        </p:nvSpPr>
        <p:spPr>
          <a:xfrm>
            <a:off x="2121408" y="1965960"/>
            <a:ext cx="157277" cy="157277"/>
          </a:xfrm>
          <a:prstGeom prst="rect">
            <a:avLst/>
          </a:prstGeom>
          <a:solidFill>
            <a:srgbClr val="E5E7EB"/>
          </a:solidFill>
          <a:ln>
            <a:noFill/>
          </a:ln>
        </p:spPr>
        <p:txBody>
          <a:bodyPr rtlCol="0" anchor="ctr"/>
          <a:lstStyle/>
          <a:p>
            <a:pPr algn="ctr"/>
          </a:p>
        </p:txBody>
      </p:sp>
      <p:sp>
        <p:nvSpPr>
          <p:cNvPr id="94" name="Rectangle 93"/>
          <p:cNvSpPr/>
          <p:nvPr/>
        </p:nvSpPr>
        <p:spPr>
          <a:xfrm>
            <a:off x="2121408" y="1769364"/>
            <a:ext cx="157277" cy="157277"/>
          </a:xfrm>
          <a:prstGeom prst="rect">
            <a:avLst/>
          </a:prstGeom>
          <a:solidFill>
            <a:srgbClr val="E5E7EB"/>
          </a:solidFill>
          <a:ln>
            <a:noFill/>
          </a:ln>
        </p:spPr>
        <p:txBody>
          <a:bodyPr rtlCol="0" anchor="ctr"/>
          <a:lstStyle/>
          <a:p>
            <a:pPr algn="ctr"/>
          </a:p>
        </p:txBody>
      </p:sp>
      <p:sp>
        <p:nvSpPr>
          <p:cNvPr id="95" name="Rectangle 94"/>
          <p:cNvSpPr/>
          <p:nvPr/>
        </p:nvSpPr>
        <p:spPr>
          <a:xfrm>
            <a:off x="2121408" y="1572768"/>
            <a:ext cx="157277" cy="157277"/>
          </a:xfrm>
          <a:prstGeom prst="rect">
            <a:avLst/>
          </a:prstGeom>
          <a:solidFill>
            <a:srgbClr val="E5E7EB"/>
          </a:solidFill>
          <a:ln>
            <a:noFill/>
          </a:ln>
        </p:spPr>
        <p:txBody>
          <a:bodyPr rtlCol="0" anchor="ctr"/>
          <a:lstStyle/>
          <a:p>
            <a:pPr algn="ctr"/>
          </a:p>
        </p:txBody>
      </p:sp>
      <p:sp>
        <p:nvSpPr>
          <p:cNvPr id="96" name="Rectangle 95"/>
          <p:cNvSpPr/>
          <p:nvPr/>
        </p:nvSpPr>
        <p:spPr>
          <a:xfrm>
            <a:off x="2318004" y="3342132"/>
            <a:ext cx="157277" cy="157277"/>
          </a:xfrm>
          <a:prstGeom prst="rect">
            <a:avLst/>
          </a:prstGeom>
          <a:solidFill>
            <a:srgbClr val="E5E7EB"/>
          </a:solidFill>
          <a:ln>
            <a:noFill/>
          </a:ln>
        </p:spPr>
        <p:txBody>
          <a:bodyPr rtlCol="0" anchor="ctr"/>
          <a:lstStyle/>
          <a:p>
            <a:pPr algn="ctr"/>
          </a:p>
        </p:txBody>
      </p:sp>
      <p:sp>
        <p:nvSpPr>
          <p:cNvPr id="97" name="Rectangle 96"/>
          <p:cNvSpPr/>
          <p:nvPr/>
        </p:nvSpPr>
        <p:spPr>
          <a:xfrm>
            <a:off x="2318004" y="3145536"/>
            <a:ext cx="157277" cy="157277"/>
          </a:xfrm>
          <a:prstGeom prst="rect">
            <a:avLst/>
          </a:prstGeom>
          <a:solidFill>
            <a:srgbClr val="E5E7EB"/>
          </a:solidFill>
          <a:ln>
            <a:noFill/>
          </a:ln>
        </p:spPr>
        <p:txBody>
          <a:bodyPr rtlCol="0" anchor="ctr"/>
          <a:lstStyle/>
          <a:p>
            <a:pPr algn="ctr"/>
          </a:p>
        </p:txBody>
      </p:sp>
      <p:sp>
        <p:nvSpPr>
          <p:cNvPr id="98" name="Rectangle 97"/>
          <p:cNvSpPr/>
          <p:nvPr/>
        </p:nvSpPr>
        <p:spPr>
          <a:xfrm>
            <a:off x="2318004" y="2948940"/>
            <a:ext cx="157277" cy="157277"/>
          </a:xfrm>
          <a:prstGeom prst="rect">
            <a:avLst/>
          </a:prstGeom>
          <a:solidFill>
            <a:srgbClr val="E5E7EB"/>
          </a:solidFill>
          <a:ln>
            <a:noFill/>
          </a:ln>
        </p:spPr>
        <p:txBody>
          <a:bodyPr rtlCol="0" anchor="ctr"/>
          <a:lstStyle/>
          <a:p>
            <a:pPr algn="ctr"/>
          </a:p>
        </p:txBody>
      </p:sp>
      <p:sp>
        <p:nvSpPr>
          <p:cNvPr id="99" name="Rectangle 98"/>
          <p:cNvSpPr/>
          <p:nvPr/>
        </p:nvSpPr>
        <p:spPr>
          <a:xfrm>
            <a:off x="2318004" y="2752344"/>
            <a:ext cx="157277" cy="157277"/>
          </a:xfrm>
          <a:prstGeom prst="rect">
            <a:avLst/>
          </a:prstGeom>
          <a:solidFill>
            <a:srgbClr val="E5E7EB"/>
          </a:solidFill>
          <a:ln>
            <a:noFill/>
          </a:ln>
        </p:spPr>
        <p:txBody>
          <a:bodyPr rtlCol="0" anchor="ctr"/>
          <a:lstStyle/>
          <a:p>
            <a:pPr algn="ctr"/>
          </a:p>
        </p:txBody>
      </p:sp>
      <p:sp>
        <p:nvSpPr>
          <p:cNvPr id="100" name="Rectangle 99"/>
          <p:cNvSpPr/>
          <p:nvPr/>
        </p:nvSpPr>
        <p:spPr>
          <a:xfrm>
            <a:off x="2318004" y="2555748"/>
            <a:ext cx="157277" cy="157277"/>
          </a:xfrm>
          <a:prstGeom prst="rect">
            <a:avLst/>
          </a:prstGeom>
          <a:solidFill>
            <a:srgbClr val="E5E7EB"/>
          </a:solidFill>
          <a:ln>
            <a:noFill/>
          </a:ln>
        </p:spPr>
        <p:txBody>
          <a:bodyPr rtlCol="0" anchor="ctr"/>
          <a:lstStyle/>
          <a:p>
            <a:pPr algn="ctr"/>
          </a:p>
        </p:txBody>
      </p:sp>
      <p:sp>
        <p:nvSpPr>
          <p:cNvPr id="101" name="Rectangle 100"/>
          <p:cNvSpPr/>
          <p:nvPr/>
        </p:nvSpPr>
        <p:spPr>
          <a:xfrm>
            <a:off x="2318004" y="2359152"/>
            <a:ext cx="157277" cy="157277"/>
          </a:xfrm>
          <a:prstGeom prst="rect">
            <a:avLst/>
          </a:prstGeom>
          <a:solidFill>
            <a:srgbClr val="E5E7EB"/>
          </a:solidFill>
          <a:ln>
            <a:noFill/>
          </a:ln>
        </p:spPr>
        <p:txBody>
          <a:bodyPr rtlCol="0" anchor="ctr"/>
          <a:lstStyle/>
          <a:p>
            <a:pPr algn="ctr"/>
          </a:p>
        </p:txBody>
      </p:sp>
      <p:sp>
        <p:nvSpPr>
          <p:cNvPr id="102" name="Rectangle 101"/>
          <p:cNvSpPr/>
          <p:nvPr/>
        </p:nvSpPr>
        <p:spPr>
          <a:xfrm>
            <a:off x="2318004" y="2162556"/>
            <a:ext cx="157277" cy="157277"/>
          </a:xfrm>
          <a:prstGeom prst="rect">
            <a:avLst/>
          </a:prstGeom>
          <a:solidFill>
            <a:srgbClr val="E5E7EB"/>
          </a:solidFill>
          <a:ln>
            <a:noFill/>
          </a:ln>
        </p:spPr>
        <p:txBody>
          <a:bodyPr rtlCol="0" anchor="ctr"/>
          <a:lstStyle/>
          <a:p>
            <a:pPr algn="ctr"/>
          </a:p>
        </p:txBody>
      </p:sp>
      <p:sp>
        <p:nvSpPr>
          <p:cNvPr id="103" name="Rectangle 102"/>
          <p:cNvSpPr/>
          <p:nvPr/>
        </p:nvSpPr>
        <p:spPr>
          <a:xfrm>
            <a:off x="2318004" y="1965960"/>
            <a:ext cx="157277" cy="157277"/>
          </a:xfrm>
          <a:prstGeom prst="rect">
            <a:avLst/>
          </a:prstGeom>
          <a:solidFill>
            <a:srgbClr val="E5E7EB"/>
          </a:solidFill>
          <a:ln>
            <a:noFill/>
          </a:ln>
        </p:spPr>
        <p:txBody>
          <a:bodyPr rtlCol="0" anchor="ctr"/>
          <a:lstStyle/>
          <a:p>
            <a:pPr algn="ctr"/>
          </a:p>
        </p:txBody>
      </p:sp>
      <p:sp>
        <p:nvSpPr>
          <p:cNvPr id="104" name="Rectangle 103"/>
          <p:cNvSpPr/>
          <p:nvPr/>
        </p:nvSpPr>
        <p:spPr>
          <a:xfrm>
            <a:off x="2318004" y="1769364"/>
            <a:ext cx="157277" cy="157277"/>
          </a:xfrm>
          <a:prstGeom prst="rect">
            <a:avLst/>
          </a:prstGeom>
          <a:solidFill>
            <a:srgbClr val="E5E7EB"/>
          </a:solidFill>
          <a:ln>
            <a:noFill/>
          </a:ln>
        </p:spPr>
        <p:txBody>
          <a:bodyPr rtlCol="0" anchor="ctr"/>
          <a:lstStyle/>
          <a:p>
            <a:pPr algn="ctr"/>
          </a:p>
        </p:txBody>
      </p:sp>
      <p:sp>
        <p:nvSpPr>
          <p:cNvPr id="105" name="Rectangle 104"/>
          <p:cNvSpPr/>
          <p:nvPr/>
        </p:nvSpPr>
        <p:spPr>
          <a:xfrm>
            <a:off x="2318004" y="1572768"/>
            <a:ext cx="157277" cy="157277"/>
          </a:xfrm>
          <a:prstGeom prst="rect">
            <a:avLst/>
          </a:prstGeom>
          <a:solidFill>
            <a:srgbClr val="E5E7EB"/>
          </a:solidFill>
          <a:ln>
            <a:noFill/>
          </a:ln>
        </p:spPr>
        <p:txBody>
          <a:bodyPr rtlCol="0" anchor="ctr"/>
          <a:lstStyle/>
          <a:p>
            <a:pPr algn="ctr"/>
          </a:p>
        </p:txBody>
      </p:sp>
      <p:sp>
        <p:nvSpPr>
          <p:cNvPr id="106" name="TextBox 105"/>
          <p:cNvSpPr txBox="1"/>
          <p:nvPr/>
        </p:nvSpPr>
        <p:spPr>
          <a:xfrm>
            <a:off x="548640"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12%</a:t>
            </a:r>
          </a:p>
        </p:txBody>
      </p:sp>
      <p:sp>
        <p:nvSpPr>
          <p:cNvPr id="107" name="TextBox 106"/>
          <p:cNvSpPr txBox="1"/>
          <p:nvPr/>
        </p:nvSpPr>
        <p:spPr>
          <a:xfrm>
            <a:off x="548640"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committee users have lost money to fraud [1]</a:t>
            </a:r>
          </a:p>
        </p:txBody>
      </p:sp>
      <p:sp>
        <p:nvSpPr>
          <p:cNvPr id="108" name="Rectangle 107"/>
          <p:cNvSpPr/>
          <p:nvPr/>
        </p:nvSpPr>
        <p:spPr>
          <a:xfrm>
            <a:off x="3425114" y="3342132"/>
            <a:ext cx="157277" cy="157277"/>
          </a:xfrm>
          <a:prstGeom prst="rect">
            <a:avLst/>
          </a:prstGeom>
          <a:solidFill>
            <a:srgbClr val="4B5563"/>
          </a:solidFill>
          <a:ln>
            <a:noFill/>
          </a:ln>
        </p:spPr>
        <p:txBody>
          <a:bodyPr rtlCol="0" anchor="ctr"/>
          <a:lstStyle/>
          <a:p>
            <a:pPr algn="ctr"/>
          </a:p>
        </p:txBody>
      </p:sp>
      <p:sp>
        <p:nvSpPr>
          <p:cNvPr id="109" name="Rectangle 108"/>
          <p:cNvSpPr/>
          <p:nvPr/>
        </p:nvSpPr>
        <p:spPr>
          <a:xfrm>
            <a:off x="3425114" y="3145536"/>
            <a:ext cx="157277" cy="157277"/>
          </a:xfrm>
          <a:prstGeom prst="rect">
            <a:avLst/>
          </a:prstGeom>
          <a:solidFill>
            <a:srgbClr val="4B5563"/>
          </a:solidFill>
          <a:ln>
            <a:noFill/>
          </a:ln>
        </p:spPr>
        <p:txBody>
          <a:bodyPr rtlCol="0" anchor="ctr"/>
          <a:lstStyle/>
          <a:p>
            <a:pPr algn="ctr"/>
          </a:p>
        </p:txBody>
      </p:sp>
      <p:sp>
        <p:nvSpPr>
          <p:cNvPr id="110" name="Rectangle 109"/>
          <p:cNvSpPr/>
          <p:nvPr/>
        </p:nvSpPr>
        <p:spPr>
          <a:xfrm>
            <a:off x="3425114" y="2948940"/>
            <a:ext cx="157277" cy="157277"/>
          </a:xfrm>
          <a:prstGeom prst="rect">
            <a:avLst/>
          </a:prstGeom>
          <a:solidFill>
            <a:srgbClr val="4B5563"/>
          </a:solidFill>
          <a:ln>
            <a:noFill/>
          </a:ln>
        </p:spPr>
        <p:txBody>
          <a:bodyPr rtlCol="0" anchor="ctr"/>
          <a:lstStyle/>
          <a:p>
            <a:pPr algn="ctr"/>
          </a:p>
        </p:txBody>
      </p:sp>
      <p:sp>
        <p:nvSpPr>
          <p:cNvPr id="111" name="Rectangle 110"/>
          <p:cNvSpPr/>
          <p:nvPr/>
        </p:nvSpPr>
        <p:spPr>
          <a:xfrm>
            <a:off x="3425114" y="2752344"/>
            <a:ext cx="157277" cy="157277"/>
          </a:xfrm>
          <a:prstGeom prst="rect">
            <a:avLst/>
          </a:prstGeom>
          <a:solidFill>
            <a:srgbClr val="4B5563"/>
          </a:solidFill>
          <a:ln>
            <a:noFill/>
          </a:ln>
        </p:spPr>
        <p:txBody>
          <a:bodyPr rtlCol="0" anchor="ctr"/>
          <a:lstStyle/>
          <a:p>
            <a:pPr algn="ctr"/>
          </a:p>
        </p:txBody>
      </p:sp>
      <p:sp>
        <p:nvSpPr>
          <p:cNvPr id="112" name="Rectangle 111"/>
          <p:cNvSpPr/>
          <p:nvPr/>
        </p:nvSpPr>
        <p:spPr>
          <a:xfrm>
            <a:off x="3425114" y="2555748"/>
            <a:ext cx="157277" cy="157277"/>
          </a:xfrm>
          <a:prstGeom prst="rect">
            <a:avLst/>
          </a:prstGeom>
          <a:solidFill>
            <a:srgbClr val="4B5563"/>
          </a:solidFill>
          <a:ln>
            <a:noFill/>
          </a:ln>
        </p:spPr>
        <p:txBody>
          <a:bodyPr rtlCol="0" anchor="ctr"/>
          <a:lstStyle/>
          <a:p>
            <a:pPr algn="ctr"/>
          </a:p>
        </p:txBody>
      </p:sp>
      <p:sp>
        <p:nvSpPr>
          <p:cNvPr id="113" name="Rectangle 112"/>
          <p:cNvSpPr/>
          <p:nvPr/>
        </p:nvSpPr>
        <p:spPr>
          <a:xfrm>
            <a:off x="3425114" y="2359152"/>
            <a:ext cx="157277" cy="157277"/>
          </a:xfrm>
          <a:prstGeom prst="rect">
            <a:avLst/>
          </a:prstGeom>
          <a:solidFill>
            <a:srgbClr val="4B5563"/>
          </a:solidFill>
          <a:ln>
            <a:noFill/>
          </a:ln>
        </p:spPr>
        <p:txBody>
          <a:bodyPr rtlCol="0" anchor="ctr"/>
          <a:lstStyle/>
          <a:p>
            <a:pPr algn="ctr"/>
          </a:p>
        </p:txBody>
      </p:sp>
      <p:sp>
        <p:nvSpPr>
          <p:cNvPr id="114" name="Rectangle 113"/>
          <p:cNvSpPr/>
          <p:nvPr/>
        </p:nvSpPr>
        <p:spPr>
          <a:xfrm>
            <a:off x="3425114" y="2162556"/>
            <a:ext cx="157277" cy="157277"/>
          </a:xfrm>
          <a:prstGeom prst="rect">
            <a:avLst/>
          </a:prstGeom>
          <a:solidFill>
            <a:srgbClr val="4B5563"/>
          </a:solidFill>
          <a:ln>
            <a:noFill/>
          </a:ln>
        </p:spPr>
        <p:txBody>
          <a:bodyPr rtlCol="0" anchor="ctr"/>
          <a:lstStyle/>
          <a:p>
            <a:pPr algn="ctr"/>
          </a:p>
        </p:txBody>
      </p:sp>
      <p:sp>
        <p:nvSpPr>
          <p:cNvPr id="115" name="Rectangle 114"/>
          <p:cNvSpPr/>
          <p:nvPr/>
        </p:nvSpPr>
        <p:spPr>
          <a:xfrm>
            <a:off x="3425114" y="1965960"/>
            <a:ext cx="157277" cy="157277"/>
          </a:xfrm>
          <a:prstGeom prst="rect">
            <a:avLst/>
          </a:prstGeom>
          <a:solidFill>
            <a:srgbClr val="4B5563"/>
          </a:solidFill>
          <a:ln>
            <a:noFill/>
          </a:ln>
        </p:spPr>
        <p:txBody>
          <a:bodyPr rtlCol="0" anchor="ctr"/>
          <a:lstStyle/>
          <a:p>
            <a:pPr algn="ctr"/>
          </a:p>
        </p:txBody>
      </p:sp>
      <p:sp>
        <p:nvSpPr>
          <p:cNvPr id="116" name="Rectangle 115"/>
          <p:cNvSpPr/>
          <p:nvPr/>
        </p:nvSpPr>
        <p:spPr>
          <a:xfrm>
            <a:off x="3425114" y="1769364"/>
            <a:ext cx="157277" cy="157277"/>
          </a:xfrm>
          <a:prstGeom prst="rect">
            <a:avLst/>
          </a:prstGeom>
          <a:solidFill>
            <a:srgbClr val="4B5563"/>
          </a:solidFill>
          <a:ln>
            <a:noFill/>
          </a:ln>
        </p:spPr>
        <p:txBody>
          <a:bodyPr rtlCol="0" anchor="ctr"/>
          <a:lstStyle/>
          <a:p>
            <a:pPr algn="ctr"/>
          </a:p>
        </p:txBody>
      </p:sp>
      <p:sp>
        <p:nvSpPr>
          <p:cNvPr id="117" name="Rectangle 116"/>
          <p:cNvSpPr/>
          <p:nvPr/>
        </p:nvSpPr>
        <p:spPr>
          <a:xfrm>
            <a:off x="3425114" y="1572768"/>
            <a:ext cx="157277" cy="157277"/>
          </a:xfrm>
          <a:prstGeom prst="rect">
            <a:avLst/>
          </a:prstGeom>
          <a:solidFill>
            <a:srgbClr val="4B5563"/>
          </a:solidFill>
          <a:ln>
            <a:noFill/>
          </a:ln>
        </p:spPr>
        <p:txBody>
          <a:bodyPr rtlCol="0" anchor="ctr"/>
          <a:lstStyle/>
          <a:p>
            <a:pPr algn="ctr"/>
          </a:p>
        </p:txBody>
      </p:sp>
      <p:sp>
        <p:nvSpPr>
          <p:cNvPr id="118" name="Rectangle 117"/>
          <p:cNvSpPr/>
          <p:nvPr/>
        </p:nvSpPr>
        <p:spPr>
          <a:xfrm>
            <a:off x="3621710" y="3342132"/>
            <a:ext cx="157277" cy="157277"/>
          </a:xfrm>
          <a:prstGeom prst="rect">
            <a:avLst/>
          </a:prstGeom>
          <a:solidFill>
            <a:srgbClr val="4B5563"/>
          </a:solidFill>
          <a:ln>
            <a:noFill/>
          </a:ln>
        </p:spPr>
        <p:txBody>
          <a:bodyPr rtlCol="0" anchor="ctr"/>
          <a:lstStyle/>
          <a:p>
            <a:pPr algn="ctr"/>
          </a:p>
        </p:txBody>
      </p:sp>
      <p:sp>
        <p:nvSpPr>
          <p:cNvPr id="119" name="Rectangle 118"/>
          <p:cNvSpPr/>
          <p:nvPr/>
        </p:nvSpPr>
        <p:spPr>
          <a:xfrm>
            <a:off x="3621710" y="3145536"/>
            <a:ext cx="157277" cy="157277"/>
          </a:xfrm>
          <a:prstGeom prst="rect">
            <a:avLst/>
          </a:prstGeom>
          <a:solidFill>
            <a:srgbClr val="4B5563"/>
          </a:solidFill>
          <a:ln>
            <a:noFill/>
          </a:ln>
        </p:spPr>
        <p:txBody>
          <a:bodyPr rtlCol="0" anchor="ctr"/>
          <a:lstStyle/>
          <a:p>
            <a:pPr algn="ctr"/>
          </a:p>
        </p:txBody>
      </p:sp>
      <p:sp>
        <p:nvSpPr>
          <p:cNvPr id="120" name="Rectangle 119"/>
          <p:cNvSpPr/>
          <p:nvPr/>
        </p:nvSpPr>
        <p:spPr>
          <a:xfrm>
            <a:off x="3621710" y="2948940"/>
            <a:ext cx="157277" cy="157277"/>
          </a:xfrm>
          <a:prstGeom prst="rect">
            <a:avLst/>
          </a:prstGeom>
          <a:solidFill>
            <a:srgbClr val="4B5563"/>
          </a:solidFill>
          <a:ln>
            <a:noFill/>
          </a:ln>
        </p:spPr>
        <p:txBody>
          <a:bodyPr rtlCol="0" anchor="ctr"/>
          <a:lstStyle/>
          <a:p>
            <a:pPr algn="ctr"/>
          </a:p>
        </p:txBody>
      </p:sp>
      <p:sp>
        <p:nvSpPr>
          <p:cNvPr id="121" name="Rectangle 120"/>
          <p:cNvSpPr/>
          <p:nvPr/>
        </p:nvSpPr>
        <p:spPr>
          <a:xfrm>
            <a:off x="3621710" y="2752344"/>
            <a:ext cx="157277" cy="157277"/>
          </a:xfrm>
          <a:prstGeom prst="rect">
            <a:avLst/>
          </a:prstGeom>
          <a:solidFill>
            <a:srgbClr val="4B5563"/>
          </a:solidFill>
          <a:ln>
            <a:noFill/>
          </a:ln>
        </p:spPr>
        <p:txBody>
          <a:bodyPr rtlCol="0" anchor="ctr"/>
          <a:lstStyle/>
          <a:p>
            <a:pPr algn="ctr"/>
          </a:p>
        </p:txBody>
      </p:sp>
      <p:sp>
        <p:nvSpPr>
          <p:cNvPr id="122" name="Rectangle 121"/>
          <p:cNvSpPr/>
          <p:nvPr/>
        </p:nvSpPr>
        <p:spPr>
          <a:xfrm>
            <a:off x="3621710" y="2555748"/>
            <a:ext cx="157277" cy="157277"/>
          </a:xfrm>
          <a:prstGeom prst="rect">
            <a:avLst/>
          </a:prstGeom>
          <a:solidFill>
            <a:srgbClr val="4B5563"/>
          </a:solidFill>
          <a:ln>
            <a:noFill/>
          </a:ln>
        </p:spPr>
        <p:txBody>
          <a:bodyPr rtlCol="0" anchor="ctr"/>
          <a:lstStyle/>
          <a:p>
            <a:pPr algn="ctr"/>
          </a:p>
        </p:txBody>
      </p:sp>
      <p:sp>
        <p:nvSpPr>
          <p:cNvPr id="123" name="Rectangle 122"/>
          <p:cNvSpPr/>
          <p:nvPr/>
        </p:nvSpPr>
        <p:spPr>
          <a:xfrm>
            <a:off x="3621710" y="2359152"/>
            <a:ext cx="157277" cy="157277"/>
          </a:xfrm>
          <a:prstGeom prst="rect">
            <a:avLst/>
          </a:prstGeom>
          <a:solidFill>
            <a:srgbClr val="4B5563"/>
          </a:solidFill>
          <a:ln>
            <a:noFill/>
          </a:ln>
        </p:spPr>
        <p:txBody>
          <a:bodyPr rtlCol="0" anchor="ctr"/>
          <a:lstStyle/>
          <a:p>
            <a:pPr algn="ctr"/>
          </a:p>
        </p:txBody>
      </p:sp>
      <p:sp>
        <p:nvSpPr>
          <p:cNvPr id="124" name="Rectangle 123"/>
          <p:cNvSpPr/>
          <p:nvPr/>
        </p:nvSpPr>
        <p:spPr>
          <a:xfrm>
            <a:off x="3621710" y="2162556"/>
            <a:ext cx="157277" cy="157277"/>
          </a:xfrm>
          <a:prstGeom prst="rect">
            <a:avLst/>
          </a:prstGeom>
          <a:solidFill>
            <a:srgbClr val="4B5563"/>
          </a:solidFill>
          <a:ln>
            <a:noFill/>
          </a:ln>
        </p:spPr>
        <p:txBody>
          <a:bodyPr rtlCol="0" anchor="ctr"/>
          <a:lstStyle/>
          <a:p>
            <a:pPr algn="ctr"/>
          </a:p>
        </p:txBody>
      </p:sp>
      <p:sp>
        <p:nvSpPr>
          <p:cNvPr id="125" name="Rectangle 124"/>
          <p:cNvSpPr/>
          <p:nvPr/>
        </p:nvSpPr>
        <p:spPr>
          <a:xfrm>
            <a:off x="3621710" y="1965960"/>
            <a:ext cx="157277" cy="157277"/>
          </a:xfrm>
          <a:prstGeom prst="rect">
            <a:avLst/>
          </a:prstGeom>
          <a:solidFill>
            <a:srgbClr val="4B5563"/>
          </a:solidFill>
          <a:ln>
            <a:noFill/>
          </a:ln>
        </p:spPr>
        <p:txBody>
          <a:bodyPr rtlCol="0" anchor="ctr"/>
          <a:lstStyle/>
          <a:p>
            <a:pPr algn="ctr"/>
          </a:p>
        </p:txBody>
      </p:sp>
      <p:sp>
        <p:nvSpPr>
          <p:cNvPr id="126" name="Rectangle 125"/>
          <p:cNvSpPr/>
          <p:nvPr/>
        </p:nvSpPr>
        <p:spPr>
          <a:xfrm>
            <a:off x="3621710" y="1769364"/>
            <a:ext cx="157277" cy="157277"/>
          </a:xfrm>
          <a:prstGeom prst="rect">
            <a:avLst/>
          </a:prstGeom>
          <a:solidFill>
            <a:srgbClr val="4B5563"/>
          </a:solidFill>
          <a:ln>
            <a:noFill/>
          </a:ln>
        </p:spPr>
        <p:txBody>
          <a:bodyPr rtlCol="0" anchor="ctr"/>
          <a:lstStyle/>
          <a:p>
            <a:pPr algn="ctr"/>
          </a:p>
        </p:txBody>
      </p:sp>
      <p:sp>
        <p:nvSpPr>
          <p:cNvPr id="127" name="Rectangle 126"/>
          <p:cNvSpPr/>
          <p:nvPr/>
        </p:nvSpPr>
        <p:spPr>
          <a:xfrm>
            <a:off x="3621710" y="1572768"/>
            <a:ext cx="157277" cy="157277"/>
          </a:xfrm>
          <a:prstGeom prst="rect">
            <a:avLst/>
          </a:prstGeom>
          <a:solidFill>
            <a:srgbClr val="4B5563"/>
          </a:solidFill>
          <a:ln>
            <a:noFill/>
          </a:ln>
        </p:spPr>
        <p:txBody>
          <a:bodyPr rtlCol="0" anchor="ctr"/>
          <a:lstStyle/>
          <a:p>
            <a:pPr algn="ctr"/>
          </a:p>
        </p:txBody>
      </p:sp>
      <p:sp>
        <p:nvSpPr>
          <p:cNvPr id="128" name="Rectangle 127"/>
          <p:cNvSpPr/>
          <p:nvPr/>
        </p:nvSpPr>
        <p:spPr>
          <a:xfrm>
            <a:off x="3818306" y="3342132"/>
            <a:ext cx="157277" cy="157277"/>
          </a:xfrm>
          <a:prstGeom prst="rect">
            <a:avLst/>
          </a:prstGeom>
          <a:solidFill>
            <a:srgbClr val="4B5563"/>
          </a:solidFill>
          <a:ln>
            <a:noFill/>
          </a:ln>
        </p:spPr>
        <p:txBody>
          <a:bodyPr rtlCol="0" anchor="ctr"/>
          <a:lstStyle/>
          <a:p>
            <a:pPr algn="ctr"/>
          </a:p>
        </p:txBody>
      </p:sp>
      <p:sp>
        <p:nvSpPr>
          <p:cNvPr id="129" name="Rectangle 128"/>
          <p:cNvSpPr/>
          <p:nvPr/>
        </p:nvSpPr>
        <p:spPr>
          <a:xfrm>
            <a:off x="3818306" y="3145536"/>
            <a:ext cx="157277" cy="157277"/>
          </a:xfrm>
          <a:prstGeom prst="rect">
            <a:avLst/>
          </a:prstGeom>
          <a:solidFill>
            <a:srgbClr val="4B5563"/>
          </a:solidFill>
          <a:ln>
            <a:noFill/>
          </a:ln>
        </p:spPr>
        <p:txBody>
          <a:bodyPr rtlCol="0" anchor="ctr"/>
          <a:lstStyle/>
          <a:p>
            <a:pPr algn="ctr"/>
          </a:p>
        </p:txBody>
      </p:sp>
      <p:sp>
        <p:nvSpPr>
          <p:cNvPr id="130" name="Rectangle 129"/>
          <p:cNvSpPr/>
          <p:nvPr/>
        </p:nvSpPr>
        <p:spPr>
          <a:xfrm>
            <a:off x="3818306" y="2948940"/>
            <a:ext cx="157277" cy="157277"/>
          </a:xfrm>
          <a:prstGeom prst="rect">
            <a:avLst/>
          </a:prstGeom>
          <a:solidFill>
            <a:srgbClr val="4B5563"/>
          </a:solidFill>
          <a:ln>
            <a:noFill/>
          </a:ln>
        </p:spPr>
        <p:txBody>
          <a:bodyPr rtlCol="0" anchor="ctr"/>
          <a:lstStyle/>
          <a:p>
            <a:pPr algn="ctr"/>
          </a:p>
        </p:txBody>
      </p:sp>
      <p:sp>
        <p:nvSpPr>
          <p:cNvPr id="131" name="Rectangle 130"/>
          <p:cNvSpPr/>
          <p:nvPr/>
        </p:nvSpPr>
        <p:spPr>
          <a:xfrm>
            <a:off x="3818306" y="2752344"/>
            <a:ext cx="157277" cy="157277"/>
          </a:xfrm>
          <a:prstGeom prst="rect">
            <a:avLst/>
          </a:prstGeom>
          <a:solidFill>
            <a:srgbClr val="4B5563"/>
          </a:solidFill>
          <a:ln>
            <a:noFill/>
          </a:ln>
        </p:spPr>
        <p:txBody>
          <a:bodyPr rtlCol="0" anchor="ctr"/>
          <a:lstStyle/>
          <a:p>
            <a:pPr algn="ctr"/>
          </a:p>
        </p:txBody>
      </p:sp>
      <p:sp>
        <p:nvSpPr>
          <p:cNvPr id="132" name="Rectangle 131"/>
          <p:cNvSpPr/>
          <p:nvPr/>
        </p:nvSpPr>
        <p:spPr>
          <a:xfrm>
            <a:off x="3818306" y="2555748"/>
            <a:ext cx="157277" cy="157277"/>
          </a:xfrm>
          <a:prstGeom prst="rect">
            <a:avLst/>
          </a:prstGeom>
          <a:solidFill>
            <a:srgbClr val="4B5563"/>
          </a:solidFill>
          <a:ln>
            <a:noFill/>
          </a:ln>
        </p:spPr>
        <p:txBody>
          <a:bodyPr rtlCol="0" anchor="ctr"/>
          <a:lstStyle/>
          <a:p>
            <a:pPr algn="ctr"/>
          </a:p>
        </p:txBody>
      </p:sp>
      <p:sp>
        <p:nvSpPr>
          <p:cNvPr id="133" name="Rectangle 132"/>
          <p:cNvSpPr/>
          <p:nvPr/>
        </p:nvSpPr>
        <p:spPr>
          <a:xfrm>
            <a:off x="3818306" y="2359152"/>
            <a:ext cx="157277" cy="157277"/>
          </a:xfrm>
          <a:prstGeom prst="rect">
            <a:avLst/>
          </a:prstGeom>
          <a:solidFill>
            <a:srgbClr val="4B5563"/>
          </a:solidFill>
          <a:ln>
            <a:noFill/>
          </a:ln>
        </p:spPr>
        <p:txBody>
          <a:bodyPr rtlCol="0" anchor="ctr"/>
          <a:lstStyle/>
          <a:p>
            <a:pPr algn="ctr"/>
          </a:p>
        </p:txBody>
      </p:sp>
      <p:sp>
        <p:nvSpPr>
          <p:cNvPr id="134" name="Rectangle 133"/>
          <p:cNvSpPr/>
          <p:nvPr/>
        </p:nvSpPr>
        <p:spPr>
          <a:xfrm>
            <a:off x="3818306" y="2162556"/>
            <a:ext cx="157277" cy="157277"/>
          </a:xfrm>
          <a:prstGeom prst="rect">
            <a:avLst/>
          </a:prstGeom>
          <a:solidFill>
            <a:srgbClr val="4B5563"/>
          </a:solidFill>
          <a:ln>
            <a:noFill/>
          </a:ln>
        </p:spPr>
        <p:txBody>
          <a:bodyPr rtlCol="0" anchor="ctr"/>
          <a:lstStyle/>
          <a:p>
            <a:pPr algn="ctr"/>
          </a:p>
        </p:txBody>
      </p:sp>
      <p:sp>
        <p:nvSpPr>
          <p:cNvPr id="135" name="Rectangle 134"/>
          <p:cNvSpPr/>
          <p:nvPr/>
        </p:nvSpPr>
        <p:spPr>
          <a:xfrm>
            <a:off x="3818306" y="1965960"/>
            <a:ext cx="157277" cy="157277"/>
          </a:xfrm>
          <a:prstGeom prst="rect">
            <a:avLst/>
          </a:prstGeom>
          <a:solidFill>
            <a:srgbClr val="4B5563"/>
          </a:solidFill>
          <a:ln>
            <a:noFill/>
          </a:ln>
        </p:spPr>
        <p:txBody>
          <a:bodyPr rtlCol="0" anchor="ctr"/>
          <a:lstStyle/>
          <a:p>
            <a:pPr algn="ctr"/>
          </a:p>
        </p:txBody>
      </p:sp>
      <p:sp>
        <p:nvSpPr>
          <p:cNvPr id="136" name="Rectangle 135"/>
          <p:cNvSpPr/>
          <p:nvPr/>
        </p:nvSpPr>
        <p:spPr>
          <a:xfrm>
            <a:off x="3818306" y="1769364"/>
            <a:ext cx="157277" cy="157277"/>
          </a:xfrm>
          <a:prstGeom prst="rect">
            <a:avLst/>
          </a:prstGeom>
          <a:solidFill>
            <a:srgbClr val="4B5563"/>
          </a:solidFill>
          <a:ln>
            <a:noFill/>
          </a:ln>
        </p:spPr>
        <p:txBody>
          <a:bodyPr rtlCol="0" anchor="ctr"/>
          <a:lstStyle/>
          <a:p>
            <a:pPr algn="ctr"/>
          </a:p>
        </p:txBody>
      </p:sp>
      <p:sp>
        <p:nvSpPr>
          <p:cNvPr id="137" name="Rectangle 136"/>
          <p:cNvSpPr/>
          <p:nvPr/>
        </p:nvSpPr>
        <p:spPr>
          <a:xfrm>
            <a:off x="3818306" y="1572768"/>
            <a:ext cx="157277" cy="157277"/>
          </a:xfrm>
          <a:prstGeom prst="rect">
            <a:avLst/>
          </a:prstGeom>
          <a:solidFill>
            <a:srgbClr val="4B5563"/>
          </a:solidFill>
          <a:ln>
            <a:noFill/>
          </a:ln>
        </p:spPr>
        <p:txBody>
          <a:bodyPr rtlCol="0" anchor="ctr"/>
          <a:lstStyle/>
          <a:p>
            <a:pPr algn="ctr"/>
          </a:p>
        </p:txBody>
      </p:sp>
      <p:sp>
        <p:nvSpPr>
          <p:cNvPr id="138" name="Rectangle 137"/>
          <p:cNvSpPr/>
          <p:nvPr/>
        </p:nvSpPr>
        <p:spPr>
          <a:xfrm>
            <a:off x="4014902" y="3342132"/>
            <a:ext cx="157277" cy="157277"/>
          </a:xfrm>
          <a:prstGeom prst="rect">
            <a:avLst/>
          </a:prstGeom>
          <a:solidFill>
            <a:srgbClr val="4B5563"/>
          </a:solidFill>
          <a:ln>
            <a:noFill/>
          </a:ln>
        </p:spPr>
        <p:txBody>
          <a:bodyPr rtlCol="0" anchor="ctr"/>
          <a:lstStyle/>
          <a:p>
            <a:pPr algn="ctr"/>
          </a:p>
        </p:txBody>
      </p:sp>
      <p:sp>
        <p:nvSpPr>
          <p:cNvPr id="139" name="Rectangle 138"/>
          <p:cNvSpPr/>
          <p:nvPr/>
        </p:nvSpPr>
        <p:spPr>
          <a:xfrm>
            <a:off x="4014902" y="3145536"/>
            <a:ext cx="157277" cy="157277"/>
          </a:xfrm>
          <a:prstGeom prst="rect">
            <a:avLst/>
          </a:prstGeom>
          <a:solidFill>
            <a:srgbClr val="4B5563"/>
          </a:solidFill>
          <a:ln>
            <a:noFill/>
          </a:ln>
        </p:spPr>
        <p:txBody>
          <a:bodyPr rtlCol="0" anchor="ctr"/>
          <a:lstStyle/>
          <a:p>
            <a:pPr algn="ctr"/>
          </a:p>
        </p:txBody>
      </p:sp>
      <p:sp>
        <p:nvSpPr>
          <p:cNvPr id="140" name="Rectangle 139"/>
          <p:cNvSpPr/>
          <p:nvPr/>
        </p:nvSpPr>
        <p:spPr>
          <a:xfrm>
            <a:off x="4014902" y="2948940"/>
            <a:ext cx="157277" cy="157277"/>
          </a:xfrm>
          <a:prstGeom prst="rect">
            <a:avLst/>
          </a:prstGeom>
          <a:solidFill>
            <a:srgbClr val="4B5563"/>
          </a:solidFill>
          <a:ln>
            <a:noFill/>
          </a:ln>
        </p:spPr>
        <p:txBody>
          <a:bodyPr rtlCol="0" anchor="ctr"/>
          <a:lstStyle/>
          <a:p>
            <a:pPr algn="ctr"/>
          </a:p>
        </p:txBody>
      </p:sp>
      <p:sp>
        <p:nvSpPr>
          <p:cNvPr id="141" name="Rectangle 140"/>
          <p:cNvSpPr/>
          <p:nvPr/>
        </p:nvSpPr>
        <p:spPr>
          <a:xfrm>
            <a:off x="4014902" y="2752344"/>
            <a:ext cx="157277" cy="157277"/>
          </a:xfrm>
          <a:prstGeom prst="rect">
            <a:avLst/>
          </a:prstGeom>
          <a:solidFill>
            <a:srgbClr val="4B5563"/>
          </a:solidFill>
          <a:ln>
            <a:noFill/>
          </a:ln>
        </p:spPr>
        <p:txBody>
          <a:bodyPr rtlCol="0" anchor="ctr"/>
          <a:lstStyle/>
          <a:p>
            <a:pPr algn="ctr"/>
          </a:p>
        </p:txBody>
      </p:sp>
      <p:sp>
        <p:nvSpPr>
          <p:cNvPr id="142" name="Rectangle 141"/>
          <p:cNvSpPr/>
          <p:nvPr/>
        </p:nvSpPr>
        <p:spPr>
          <a:xfrm>
            <a:off x="4014902" y="2555748"/>
            <a:ext cx="157277" cy="157277"/>
          </a:xfrm>
          <a:prstGeom prst="rect">
            <a:avLst/>
          </a:prstGeom>
          <a:solidFill>
            <a:srgbClr val="4B5563"/>
          </a:solidFill>
          <a:ln>
            <a:noFill/>
          </a:ln>
        </p:spPr>
        <p:txBody>
          <a:bodyPr rtlCol="0" anchor="ctr"/>
          <a:lstStyle/>
          <a:p>
            <a:pPr algn="ctr"/>
          </a:p>
        </p:txBody>
      </p:sp>
      <p:sp>
        <p:nvSpPr>
          <p:cNvPr id="143" name="Rectangle 142"/>
          <p:cNvSpPr/>
          <p:nvPr/>
        </p:nvSpPr>
        <p:spPr>
          <a:xfrm>
            <a:off x="4014902" y="2359152"/>
            <a:ext cx="157277" cy="157277"/>
          </a:xfrm>
          <a:prstGeom prst="rect">
            <a:avLst/>
          </a:prstGeom>
          <a:solidFill>
            <a:srgbClr val="4B5563"/>
          </a:solidFill>
          <a:ln>
            <a:noFill/>
          </a:ln>
        </p:spPr>
        <p:txBody>
          <a:bodyPr rtlCol="0" anchor="ctr"/>
          <a:lstStyle/>
          <a:p>
            <a:pPr algn="ctr"/>
          </a:p>
        </p:txBody>
      </p:sp>
      <p:sp>
        <p:nvSpPr>
          <p:cNvPr id="144" name="Rectangle 143"/>
          <p:cNvSpPr/>
          <p:nvPr/>
        </p:nvSpPr>
        <p:spPr>
          <a:xfrm>
            <a:off x="4014902" y="2162556"/>
            <a:ext cx="157277" cy="157277"/>
          </a:xfrm>
          <a:prstGeom prst="rect">
            <a:avLst/>
          </a:prstGeom>
          <a:solidFill>
            <a:srgbClr val="4B5563"/>
          </a:solidFill>
          <a:ln>
            <a:noFill/>
          </a:ln>
        </p:spPr>
        <p:txBody>
          <a:bodyPr rtlCol="0" anchor="ctr"/>
          <a:lstStyle/>
          <a:p>
            <a:pPr algn="ctr"/>
          </a:p>
        </p:txBody>
      </p:sp>
      <p:sp>
        <p:nvSpPr>
          <p:cNvPr id="145" name="Rectangle 144"/>
          <p:cNvSpPr/>
          <p:nvPr/>
        </p:nvSpPr>
        <p:spPr>
          <a:xfrm>
            <a:off x="4014902" y="1965960"/>
            <a:ext cx="157277" cy="157277"/>
          </a:xfrm>
          <a:prstGeom prst="rect">
            <a:avLst/>
          </a:prstGeom>
          <a:solidFill>
            <a:srgbClr val="4B5563"/>
          </a:solidFill>
          <a:ln>
            <a:noFill/>
          </a:ln>
        </p:spPr>
        <p:txBody>
          <a:bodyPr rtlCol="0" anchor="ctr"/>
          <a:lstStyle/>
          <a:p>
            <a:pPr algn="ctr"/>
          </a:p>
        </p:txBody>
      </p:sp>
      <p:sp>
        <p:nvSpPr>
          <p:cNvPr id="146" name="Rectangle 145"/>
          <p:cNvSpPr/>
          <p:nvPr/>
        </p:nvSpPr>
        <p:spPr>
          <a:xfrm>
            <a:off x="4014902" y="1769364"/>
            <a:ext cx="157277" cy="157277"/>
          </a:xfrm>
          <a:prstGeom prst="rect">
            <a:avLst/>
          </a:prstGeom>
          <a:solidFill>
            <a:srgbClr val="4B5563"/>
          </a:solidFill>
          <a:ln>
            <a:noFill/>
          </a:ln>
        </p:spPr>
        <p:txBody>
          <a:bodyPr rtlCol="0" anchor="ctr"/>
          <a:lstStyle/>
          <a:p>
            <a:pPr algn="ctr"/>
          </a:p>
        </p:txBody>
      </p:sp>
      <p:sp>
        <p:nvSpPr>
          <p:cNvPr id="147" name="Rectangle 146"/>
          <p:cNvSpPr/>
          <p:nvPr/>
        </p:nvSpPr>
        <p:spPr>
          <a:xfrm>
            <a:off x="4014902" y="1572768"/>
            <a:ext cx="157277" cy="157277"/>
          </a:xfrm>
          <a:prstGeom prst="rect">
            <a:avLst/>
          </a:prstGeom>
          <a:solidFill>
            <a:srgbClr val="4B5563"/>
          </a:solidFill>
          <a:ln>
            <a:noFill/>
          </a:ln>
        </p:spPr>
        <p:txBody>
          <a:bodyPr rtlCol="0" anchor="ctr"/>
          <a:lstStyle/>
          <a:p>
            <a:pPr algn="ctr"/>
          </a:p>
        </p:txBody>
      </p:sp>
      <p:sp>
        <p:nvSpPr>
          <p:cNvPr id="148" name="Rectangle 147"/>
          <p:cNvSpPr/>
          <p:nvPr/>
        </p:nvSpPr>
        <p:spPr>
          <a:xfrm>
            <a:off x="4211498" y="3342132"/>
            <a:ext cx="157277" cy="157277"/>
          </a:xfrm>
          <a:prstGeom prst="rect">
            <a:avLst/>
          </a:prstGeom>
          <a:solidFill>
            <a:srgbClr val="4B5563"/>
          </a:solidFill>
          <a:ln>
            <a:noFill/>
          </a:ln>
        </p:spPr>
        <p:txBody>
          <a:bodyPr rtlCol="0" anchor="ctr"/>
          <a:lstStyle/>
          <a:p>
            <a:pPr algn="ctr"/>
          </a:p>
        </p:txBody>
      </p:sp>
      <p:sp>
        <p:nvSpPr>
          <p:cNvPr id="149" name="Rectangle 148"/>
          <p:cNvSpPr/>
          <p:nvPr/>
        </p:nvSpPr>
        <p:spPr>
          <a:xfrm>
            <a:off x="4211498" y="3145536"/>
            <a:ext cx="157277" cy="157277"/>
          </a:xfrm>
          <a:prstGeom prst="rect">
            <a:avLst/>
          </a:prstGeom>
          <a:solidFill>
            <a:srgbClr val="4B5563"/>
          </a:solidFill>
          <a:ln>
            <a:noFill/>
          </a:ln>
        </p:spPr>
        <p:txBody>
          <a:bodyPr rtlCol="0" anchor="ctr"/>
          <a:lstStyle/>
          <a:p>
            <a:pPr algn="ctr"/>
          </a:p>
        </p:txBody>
      </p:sp>
      <p:sp>
        <p:nvSpPr>
          <p:cNvPr id="150" name="Rectangle 149"/>
          <p:cNvSpPr/>
          <p:nvPr/>
        </p:nvSpPr>
        <p:spPr>
          <a:xfrm>
            <a:off x="4211498" y="2948940"/>
            <a:ext cx="157277" cy="157277"/>
          </a:xfrm>
          <a:prstGeom prst="rect">
            <a:avLst/>
          </a:prstGeom>
          <a:solidFill>
            <a:srgbClr val="4B5563"/>
          </a:solidFill>
          <a:ln>
            <a:noFill/>
          </a:ln>
        </p:spPr>
        <p:txBody>
          <a:bodyPr rtlCol="0" anchor="ctr"/>
          <a:lstStyle/>
          <a:p>
            <a:pPr algn="ctr"/>
          </a:p>
        </p:txBody>
      </p:sp>
      <p:sp>
        <p:nvSpPr>
          <p:cNvPr id="151" name="Rectangle 150"/>
          <p:cNvSpPr/>
          <p:nvPr/>
        </p:nvSpPr>
        <p:spPr>
          <a:xfrm>
            <a:off x="4211498" y="2752344"/>
            <a:ext cx="157277" cy="157277"/>
          </a:xfrm>
          <a:prstGeom prst="rect">
            <a:avLst/>
          </a:prstGeom>
          <a:solidFill>
            <a:srgbClr val="4B5563"/>
          </a:solidFill>
          <a:ln>
            <a:noFill/>
          </a:ln>
        </p:spPr>
        <p:txBody>
          <a:bodyPr rtlCol="0" anchor="ctr"/>
          <a:lstStyle/>
          <a:p>
            <a:pPr algn="ctr"/>
          </a:p>
        </p:txBody>
      </p:sp>
      <p:sp>
        <p:nvSpPr>
          <p:cNvPr id="152" name="Rectangle 151"/>
          <p:cNvSpPr/>
          <p:nvPr/>
        </p:nvSpPr>
        <p:spPr>
          <a:xfrm>
            <a:off x="4211498" y="2555748"/>
            <a:ext cx="157277" cy="157277"/>
          </a:xfrm>
          <a:prstGeom prst="rect">
            <a:avLst/>
          </a:prstGeom>
          <a:solidFill>
            <a:srgbClr val="4B5563"/>
          </a:solidFill>
          <a:ln>
            <a:noFill/>
          </a:ln>
        </p:spPr>
        <p:txBody>
          <a:bodyPr rtlCol="0" anchor="ctr"/>
          <a:lstStyle/>
          <a:p>
            <a:pPr algn="ctr"/>
          </a:p>
        </p:txBody>
      </p:sp>
      <p:sp>
        <p:nvSpPr>
          <p:cNvPr id="153" name="Rectangle 152"/>
          <p:cNvSpPr/>
          <p:nvPr/>
        </p:nvSpPr>
        <p:spPr>
          <a:xfrm>
            <a:off x="4211498" y="2359152"/>
            <a:ext cx="157277" cy="157277"/>
          </a:xfrm>
          <a:prstGeom prst="rect">
            <a:avLst/>
          </a:prstGeom>
          <a:solidFill>
            <a:srgbClr val="4B5563"/>
          </a:solidFill>
          <a:ln>
            <a:noFill/>
          </a:ln>
        </p:spPr>
        <p:txBody>
          <a:bodyPr rtlCol="0" anchor="ctr"/>
          <a:lstStyle/>
          <a:p>
            <a:pPr algn="ctr"/>
          </a:p>
        </p:txBody>
      </p:sp>
      <p:sp>
        <p:nvSpPr>
          <p:cNvPr id="154" name="Rectangle 153"/>
          <p:cNvSpPr/>
          <p:nvPr/>
        </p:nvSpPr>
        <p:spPr>
          <a:xfrm>
            <a:off x="4211498" y="2162556"/>
            <a:ext cx="157277" cy="157277"/>
          </a:xfrm>
          <a:prstGeom prst="rect">
            <a:avLst/>
          </a:prstGeom>
          <a:solidFill>
            <a:srgbClr val="4B5563"/>
          </a:solidFill>
          <a:ln>
            <a:noFill/>
          </a:ln>
        </p:spPr>
        <p:txBody>
          <a:bodyPr rtlCol="0" anchor="ctr"/>
          <a:lstStyle/>
          <a:p>
            <a:pPr algn="ctr"/>
          </a:p>
        </p:txBody>
      </p:sp>
      <p:sp>
        <p:nvSpPr>
          <p:cNvPr id="155" name="Rectangle 154"/>
          <p:cNvSpPr/>
          <p:nvPr/>
        </p:nvSpPr>
        <p:spPr>
          <a:xfrm>
            <a:off x="4211498" y="1965960"/>
            <a:ext cx="157277" cy="157277"/>
          </a:xfrm>
          <a:prstGeom prst="rect">
            <a:avLst/>
          </a:prstGeom>
          <a:solidFill>
            <a:srgbClr val="4B5563"/>
          </a:solidFill>
          <a:ln>
            <a:noFill/>
          </a:ln>
        </p:spPr>
        <p:txBody>
          <a:bodyPr rtlCol="0" anchor="ctr"/>
          <a:lstStyle/>
          <a:p>
            <a:pPr algn="ctr"/>
          </a:p>
        </p:txBody>
      </p:sp>
      <p:sp>
        <p:nvSpPr>
          <p:cNvPr id="156" name="Rectangle 155"/>
          <p:cNvSpPr/>
          <p:nvPr/>
        </p:nvSpPr>
        <p:spPr>
          <a:xfrm>
            <a:off x="4211498" y="1769364"/>
            <a:ext cx="157277" cy="157277"/>
          </a:xfrm>
          <a:prstGeom prst="rect">
            <a:avLst/>
          </a:prstGeom>
          <a:solidFill>
            <a:srgbClr val="4B5563"/>
          </a:solidFill>
          <a:ln>
            <a:noFill/>
          </a:ln>
        </p:spPr>
        <p:txBody>
          <a:bodyPr rtlCol="0" anchor="ctr"/>
          <a:lstStyle/>
          <a:p>
            <a:pPr algn="ctr"/>
          </a:p>
        </p:txBody>
      </p:sp>
      <p:sp>
        <p:nvSpPr>
          <p:cNvPr id="157" name="Rectangle 156"/>
          <p:cNvSpPr/>
          <p:nvPr/>
        </p:nvSpPr>
        <p:spPr>
          <a:xfrm>
            <a:off x="4211498" y="1572768"/>
            <a:ext cx="157277" cy="157277"/>
          </a:xfrm>
          <a:prstGeom prst="rect">
            <a:avLst/>
          </a:prstGeom>
          <a:solidFill>
            <a:srgbClr val="4B5563"/>
          </a:solidFill>
          <a:ln>
            <a:noFill/>
          </a:ln>
        </p:spPr>
        <p:txBody>
          <a:bodyPr rtlCol="0" anchor="ctr"/>
          <a:lstStyle/>
          <a:p>
            <a:pPr algn="ctr"/>
          </a:p>
        </p:txBody>
      </p:sp>
      <p:sp>
        <p:nvSpPr>
          <p:cNvPr id="158" name="Rectangle 157"/>
          <p:cNvSpPr/>
          <p:nvPr/>
        </p:nvSpPr>
        <p:spPr>
          <a:xfrm>
            <a:off x="4408094" y="3342132"/>
            <a:ext cx="157277" cy="157277"/>
          </a:xfrm>
          <a:prstGeom prst="rect">
            <a:avLst/>
          </a:prstGeom>
          <a:solidFill>
            <a:srgbClr val="4B5563"/>
          </a:solidFill>
          <a:ln>
            <a:noFill/>
          </a:ln>
        </p:spPr>
        <p:txBody>
          <a:bodyPr rtlCol="0" anchor="ctr"/>
          <a:lstStyle/>
          <a:p>
            <a:pPr algn="ctr"/>
          </a:p>
        </p:txBody>
      </p:sp>
      <p:sp>
        <p:nvSpPr>
          <p:cNvPr id="159" name="Rectangle 158"/>
          <p:cNvSpPr/>
          <p:nvPr/>
        </p:nvSpPr>
        <p:spPr>
          <a:xfrm>
            <a:off x="4408094" y="3145536"/>
            <a:ext cx="157277" cy="157277"/>
          </a:xfrm>
          <a:prstGeom prst="rect">
            <a:avLst/>
          </a:prstGeom>
          <a:solidFill>
            <a:srgbClr val="4B5563"/>
          </a:solidFill>
          <a:ln>
            <a:noFill/>
          </a:ln>
        </p:spPr>
        <p:txBody>
          <a:bodyPr rtlCol="0" anchor="ctr"/>
          <a:lstStyle/>
          <a:p>
            <a:pPr algn="ctr"/>
          </a:p>
        </p:txBody>
      </p:sp>
      <p:sp>
        <p:nvSpPr>
          <p:cNvPr id="160" name="Rectangle 159"/>
          <p:cNvSpPr/>
          <p:nvPr/>
        </p:nvSpPr>
        <p:spPr>
          <a:xfrm>
            <a:off x="4408094" y="2948940"/>
            <a:ext cx="157277" cy="157277"/>
          </a:xfrm>
          <a:prstGeom prst="rect">
            <a:avLst/>
          </a:prstGeom>
          <a:solidFill>
            <a:srgbClr val="4B5563"/>
          </a:solidFill>
          <a:ln>
            <a:noFill/>
          </a:ln>
        </p:spPr>
        <p:txBody>
          <a:bodyPr rtlCol="0" anchor="ctr"/>
          <a:lstStyle/>
          <a:p>
            <a:pPr algn="ctr"/>
          </a:p>
        </p:txBody>
      </p:sp>
      <p:sp>
        <p:nvSpPr>
          <p:cNvPr id="161" name="Rectangle 160"/>
          <p:cNvSpPr/>
          <p:nvPr/>
        </p:nvSpPr>
        <p:spPr>
          <a:xfrm>
            <a:off x="4408094" y="2752344"/>
            <a:ext cx="157277" cy="157277"/>
          </a:xfrm>
          <a:prstGeom prst="rect">
            <a:avLst/>
          </a:prstGeom>
          <a:solidFill>
            <a:srgbClr val="4B5563"/>
          </a:solidFill>
          <a:ln>
            <a:noFill/>
          </a:ln>
        </p:spPr>
        <p:txBody>
          <a:bodyPr rtlCol="0" anchor="ctr"/>
          <a:lstStyle/>
          <a:p>
            <a:pPr algn="ctr"/>
          </a:p>
        </p:txBody>
      </p:sp>
      <p:sp>
        <p:nvSpPr>
          <p:cNvPr id="162" name="Rectangle 161"/>
          <p:cNvSpPr/>
          <p:nvPr/>
        </p:nvSpPr>
        <p:spPr>
          <a:xfrm>
            <a:off x="4408094" y="2555748"/>
            <a:ext cx="157277" cy="157277"/>
          </a:xfrm>
          <a:prstGeom prst="rect">
            <a:avLst/>
          </a:prstGeom>
          <a:solidFill>
            <a:srgbClr val="4B5563"/>
          </a:solidFill>
          <a:ln>
            <a:noFill/>
          </a:ln>
        </p:spPr>
        <p:txBody>
          <a:bodyPr rtlCol="0" anchor="ctr"/>
          <a:lstStyle/>
          <a:p>
            <a:pPr algn="ctr"/>
          </a:p>
        </p:txBody>
      </p:sp>
      <p:sp>
        <p:nvSpPr>
          <p:cNvPr id="163" name="Rectangle 162"/>
          <p:cNvSpPr/>
          <p:nvPr/>
        </p:nvSpPr>
        <p:spPr>
          <a:xfrm>
            <a:off x="4408094" y="2359152"/>
            <a:ext cx="157277" cy="157277"/>
          </a:xfrm>
          <a:prstGeom prst="rect">
            <a:avLst/>
          </a:prstGeom>
          <a:solidFill>
            <a:srgbClr val="4B5563"/>
          </a:solidFill>
          <a:ln>
            <a:noFill/>
          </a:ln>
        </p:spPr>
        <p:txBody>
          <a:bodyPr rtlCol="0" anchor="ctr"/>
          <a:lstStyle/>
          <a:p>
            <a:pPr algn="ctr"/>
          </a:p>
        </p:txBody>
      </p:sp>
      <p:sp>
        <p:nvSpPr>
          <p:cNvPr id="164" name="Rectangle 163"/>
          <p:cNvSpPr/>
          <p:nvPr/>
        </p:nvSpPr>
        <p:spPr>
          <a:xfrm>
            <a:off x="4408094" y="2162556"/>
            <a:ext cx="157277" cy="157277"/>
          </a:xfrm>
          <a:prstGeom prst="rect">
            <a:avLst/>
          </a:prstGeom>
          <a:solidFill>
            <a:srgbClr val="4B5563"/>
          </a:solidFill>
          <a:ln>
            <a:noFill/>
          </a:ln>
        </p:spPr>
        <p:txBody>
          <a:bodyPr rtlCol="0" anchor="ctr"/>
          <a:lstStyle/>
          <a:p>
            <a:pPr algn="ctr"/>
          </a:p>
        </p:txBody>
      </p:sp>
      <p:sp>
        <p:nvSpPr>
          <p:cNvPr id="165" name="Rectangle 164"/>
          <p:cNvSpPr/>
          <p:nvPr/>
        </p:nvSpPr>
        <p:spPr>
          <a:xfrm>
            <a:off x="4408094" y="1965960"/>
            <a:ext cx="157277" cy="157277"/>
          </a:xfrm>
          <a:prstGeom prst="rect">
            <a:avLst/>
          </a:prstGeom>
          <a:solidFill>
            <a:srgbClr val="4B5563"/>
          </a:solidFill>
          <a:ln>
            <a:noFill/>
          </a:ln>
        </p:spPr>
        <p:txBody>
          <a:bodyPr rtlCol="0" anchor="ctr"/>
          <a:lstStyle/>
          <a:p>
            <a:pPr algn="ctr"/>
          </a:p>
        </p:txBody>
      </p:sp>
      <p:sp>
        <p:nvSpPr>
          <p:cNvPr id="166" name="Rectangle 165"/>
          <p:cNvSpPr/>
          <p:nvPr/>
        </p:nvSpPr>
        <p:spPr>
          <a:xfrm>
            <a:off x="4408094" y="1769364"/>
            <a:ext cx="157277" cy="157277"/>
          </a:xfrm>
          <a:prstGeom prst="rect">
            <a:avLst/>
          </a:prstGeom>
          <a:solidFill>
            <a:srgbClr val="4B5563"/>
          </a:solidFill>
          <a:ln>
            <a:noFill/>
          </a:ln>
        </p:spPr>
        <p:txBody>
          <a:bodyPr rtlCol="0" anchor="ctr"/>
          <a:lstStyle/>
          <a:p>
            <a:pPr algn="ctr"/>
          </a:p>
        </p:txBody>
      </p:sp>
      <p:sp>
        <p:nvSpPr>
          <p:cNvPr id="167" name="Rectangle 166"/>
          <p:cNvSpPr/>
          <p:nvPr/>
        </p:nvSpPr>
        <p:spPr>
          <a:xfrm>
            <a:off x="4408094" y="1572768"/>
            <a:ext cx="157277" cy="157277"/>
          </a:xfrm>
          <a:prstGeom prst="rect">
            <a:avLst/>
          </a:prstGeom>
          <a:solidFill>
            <a:srgbClr val="4B5563"/>
          </a:solidFill>
          <a:ln>
            <a:noFill/>
          </a:ln>
        </p:spPr>
        <p:txBody>
          <a:bodyPr rtlCol="0" anchor="ctr"/>
          <a:lstStyle/>
          <a:p>
            <a:pPr algn="ctr"/>
          </a:p>
        </p:txBody>
      </p:sp>
      <p:sp>
        <p:nvSpPr>
          <p:cNvPr id="168" name="Rectangle 167"/>
          <p:cNvSpPr/>
          <p:nvPr/>
        </p:nvSpPr>
        <p:spPr>
          <a:xfrm>
            <a:off x="4604690" y="3342132"/>
            <a:ext cx="157277" cy="157277"/>
          </a:xfrm>
          <a:prstGeom prst="rect">
            <a:avLst/>
          </a:prstGeom>
          <a:solidFill>
            <a:srgbClr val="4B5563"/>
          </a:solidFill>
          <a:ln>
            <a:noFill/>
          </a:ln>
        </p:spPr>
        <p:txBody>
          <a:bodyPr rtlCol="0" anchor="ctr"/>
          <a:lstStyle/>
          <a:p>
            <a:pPr algn="ctr"/>
          </a:p>
        </p:txBody>
      </p:sp>
      <p:sp>
        <p:nvSpPr>
          <p:cNvPr id="169" name="Rectangle 168"/>
          <p:cNvSpPr/>
          <p:nvPr/>
        </p:nvSpPr>
        <p:spPr>
          <a:xfrm>
            <a:off x="4604690" y="3145536"/>
            <a:ext cx="157277" cy="157277"/>
          </a:xfrm>
          <a:prstGeom prst="rect">
            <a:avLst/>
          </a:prstGeom>
          <a:solidFill>
            <a:srgbClr val="4B5563"/>
          </a:solidFill>
          <a:ln>
            <a:noFill/>
          </a:ln>
        </p:spPr>
        <p:txBody>
          <a:bodyPr rtlCol="0" anchor="ctr"/>
          <a:lstStyle/>
          <a:p>
            <a:pPr algn="ctr"/>
          </a:p>
        </p:txBody>
      </p:sp>
      <p:sp>
        <p:nvSpPr>
          <p:cNvPr id="170" name="Rectangle 169"/>
          <p:cNvSpPr/>
          <p:nvPr/>
        </p:nvSpPr>
        <p:spPr>
          <a:xfrm>
            <a:off x="4604690" y="2948940"/>
            <a:ext cx="157277" cy="157277"/>
          </a:xfrm>
          <a:prstGeom prst="rect">
            <a:avLst/>
          </a:prstGeom>
          <a:solidFill>
            <a:srgbClr val="4B5563"/>
          </a:solidFill>
          <a:ln>
            <a:noFill/>
          </a:ln>
        </p:spPr>
        <p:txBody>
          <a:bodyPr rtlCol="0" anchor="ctr"/>
          <a:lstStyle/>
          <a:p>
            <a:pPr algn="ctr"/>
          </a:p>
        </p:txBody>
      </p:sp>
      <p:sp>
        <p:nvSpPr>
          <p:cNvPr id="171" name="Rectangle 170"/>
          <p:cNvSpPr/>
          <p:nvPr/>
        </p:nvSpPr>
        <p:spPr>
          <a:xfrm>
            <a:off x="4604690" y="2752344"/>
            <a:ext cx="157277" cy="157277"/>
          </a:xfrm>
          <a:prstGeom prst="rect">
            <a:avLst/>
          </a:prstGeom>
          <a:solidFill>
            <a:srgbClr val="E5E7EB"/>
          </a:solidFill>
          <a:ln>
            <a:noFill/>
          </a:ln>
        </p:spPr>
        <p:txBody>
          <a:bodyPr rtlCol="0" anchor="ctr"/>
          <a:lstStyle/>
          <a:p>
            <a:pPr algn="ctr"/>
          </a:p>
        </p:txBody>
      </p:sp>
      <p:sp>
        <p:nvSpPr>
          <p:cNvPr id="172" name="Rectangle 171"/>
          <p:cNvSpPr/>
          <p:nvPr/>
        </p:nvSpPr>
        <p:spPr>
          <a:xfrm>
            <a:off x="4604690" y="2555748"/>
            <a:ext cx="157277" cy="157277"/>
          </a:xfrm>
          <a:prstGeom prst="rect">
            <a:avLst/>
          </a:prstGeom>
          <a:solidFill>
            <a:srgbClr val="E5E7EB"/>
          </a:solidFill>
          <a:ln>
            <a:noFill/>
          </a:ln>
        </p:spPr>
        <p:txBody>
          <a:bodyPr rtlCol="0" anchor="ctr"/>
          <a:lstStyle/>
          <a:p>
            <a:pPr algn="ctr"/>
          </a:p>
        </p:txBody>
      </p:sp>
      <p:sp>
        <p:nvSpPr>
          <p:cNvPr id="173" name="Rectangle 172"/>
          <p:cNvSpPr/>
          <p:nvPr/>
        </p:nvSpPr>
        <p:spPr>
          <a:xfrm>
            <a:off x="4604690" y="2359152"/>
            <a:ext cx="157277" cy="157277"/>
          </a:xfrm>
          <a:prstGeom prst="rect">
            <a:avLst/>
          </a:prstGeom>
          <a:solidFill>
            <a:srgbClr val="E5E7EB"/>
          </a:solidFill>
          <a:ln>
            <a:noFill/>
          </a:ln>
        </p:spPr>
        <p:txBody>
          <a:bodyPr rtlCol="0" anchor="ctr"/>
          <a:lstStyle/>
          <a:p>
            <a:pPr algn="ctr"/>
          </a:p>
        </p:txBody>
      </p:sp>
      <p:sp>
        <p:nvSpPr>
          <p:cNvPr id="174" name="Rectangle 173"/>
          <p:cNvSpPr/>
          <p:nvPr/>
        </p:nvSpPr>
        <p:spPr>
          <a:xfrm>
            <a:off x="4604690" y="2162556"/>
            <a:ext cx="157277" cy="157277"/>
          </a:xfrm>
          <a:prstGeom prst="rect">
            <a:avLst/>
          </a:prstGeom>
          <a:solidFill>
            <a:srgbClr val="E5E7EB"/>
          </a:solidFill>
          <a:ln>
            <a:noFill/>
          </a:ln>
        </p:spPr>
        <p:txBody>
          <a:bodyPr rtlCol="0" anchor="ctr"/>
          <a:lstStyle/>
          <a:p>
            <a:pPr algn="ctr"/>
          </a:p>
        </p:txBody>
      </p:sp>
      <p:sp>
        <p:nvSpPr>
          <p:cNvPr id="175" name="Rectangle 174"/>
          <p:cNvSpPr/>
          <p:nvPr/>
        </p:nvSpPr>
        <p:spPr>
          <a:xfrm>
            <a:off x="4604690" y="1965960"/>
            <a:ext cx="157277" cy="157277"/>
          </a:xfrm>
          <a:prstGeom prst="rect">
            <a:avLst/>
          </a:prstGeom>
          <a:solidFill>
            <a:srgbClr val="E5E7EB"/>
          </a:solidFill>
          <a:ln>
            <a:noFill/>
          </a:ln>
        </p:spPr>
        <p:txBody>
          <a:bodyPr rtlCol="0" anchor="ctr"/>
          <a:lstStyle/>
          <a:p>
            <a:pPr algn="ctr"/>
          </a:p>
        </p:txBody>
      </p:sp>
      <p:sp>
        <p:nvSpPr>
          <p:cNvPr id="176" name="Rectangle 175"/>
          <p:cNvSpPr/>
          <p:nvPr/>
        </p:nvSpPr>
        <p:spPr>
          <a:xfrm>
            <a:off x="4604690" y="1769364"/>
            <a:ext cx="157277" cy="157277"/>
          </a:xfrm>
          <a:prstGeom prst="rect">
            <a:avLst/>
          </a:prstGeom>
          <a:solidFill>
            <a:srgbClr val="E5E7EB"/>
          </a:solidFill>
          <a:ln>
            <a:noFill/>
          </a:ln>
        </p:spPr>
        <p:txBody>
          <a:bodyPr rtlCol="0" anchor="ctr"/>
          <a:lstStyle/>
          <a:p>
            <a:pPr algn="ctr"/>
          </a:p>
        </p:txBody>
      </p:sp>
      <p:sp>
        <p:nvSpPr>
          <p:cNvPr id="177" name="Rectangle 176"/>
          <p:cNvSpPr/>
          <p:nvPr/>
        </p:nvSpPr>
        <p:spPr>
          <a:xfrm>
            <a:off x="4604690" y="1572768"/>
            <a:ext cx="157277" cy="157277"/>
          </a:xfrm>
          <a:prstGeom prst="rect">
            <a:avLst/>
          </a:prstGeom>
          <a:solidFill>
            <a:srgbClr val="E5E7EB"/>
          </a:solidFill>
          <a:ln>
            <a:noFill/>
          </a:ln>
        </p:spPr>
        <p:txBody>
          <a:bodyPr rtlCol="0" anchor="ctr"/>
          <a:lstStyle/>
          <a:p>
            <a:pPr algn="ctr"/>
          </a:p>
        </p:txBody>
      </p:sp>
      <p:sp>
        <p:nvSpPr>
          <p:cNvPr id="178" name="Rectangle 177"/>
          <p:cNvSpPr/>
          <p:nvPr/>
        </p:nvSpPr>
        <p:spPr>
          <a:xfrm>
            <a:off x="4801286" y="3342132"/>
            <a:ext cx="157277" cy="157277"/>
          </a:xfrm>
          <a:prstGeom prst="rect">
            <a:avLst/>
          </a:prstGeom>
          <a:solidFill>
            <a:srgbClr val="E5E7EB"/>
          </a:solidFill>
          <a:ln>
            <a:noFill/>
          </a:ln>
        </p:spPr>
        <p:txBody>
          <a:bodyPr rtlCol="0" anchor="ctr"/>
          <a:lstStyle/>
          <a:p>
            <a:pPr algn="ctr"/>
          </a:p>
        </p:txBody>
      </p:sp>
      <p:sp>
        <p:nvSpPr>
          <p:cNvPr id="179" name="Rectangle 178"/>
          <p:cNvSpPr/>
          <p:nvPr/>
        </p:nvSpPr>
        <p:spPr>
          <a:xfrm>
            <a:off x="4801286" y="3145536"/>
            <a:ext cx="157277" cy="157277"/>
          </a:xfrm>
          <a:prstGeom prst="rect">
            <a:avLst/>
          </a:prstGeom>
          <a:solidFill>
            <a:srgbClr val="E5E7EB"/>
          </a:solidFill>
          <a:ln>
            <a:noFill/>
          </a:ln>
        </p:spPr>
        <p:txBody>
          <a:bodyPr rtlCol="0" anchor="ctr"/>
          <a:lstStyle/>
          <a:p>
            <a:pPr algn="ctr"/>
          </a:p>
        </p:txBody>
      </p:sp>
      <p:sp>
        <p:nvSpPr>
          <p:cNvPr id="180" name="Rectangle 179"/>
          <p:cNvSpPr/>
          <p:nvPr/>
        </p:nvSpPr>
        <p:spPr>
          <a:xfrm>
            <a:off x="4801286" y="2948940"/>
            <a:ext cx="157277" cy="157277"/>
          </a:xfrm>
          <a:prstGeom prst="rect">
            <a:avLst/>
          </a:prstGeom>
          <a:solidFill>
            <a:srgbClr val="E5E7EB"/>
          </a:solidFill>
          <a:ln>
            <a:noFill/>
          </a:ln>
        </p:spPr>
        <p:txBody>
          <a:bodyPr rtlCol="0" anchor="ctr"/>
          <a:lstStyle/>
          <a:p>
            <a:pPr algn="ctr"/>
          </a:p>
        </p:txBody>
      </p:sp>
      <p:sp>
        <p:nvSpPr>
          <p:cNvPr id="181" name="Rectangle 180"/>
          <p:cNvSpPr/>
          <p:nvPr/>
        </p:nvSpPr>
        <p:spPr>
          <a:xfrm>
            <a:off x="4801286" y="2752344"/>
            <a:ext cx="157277" cy="157277"/>
          </a:xfrm>
          <a:prstGeom prst="rect">
            <a:avLst/>
          </a:prstGeom>
          <a:solidFill>
            <a:srgbClr val="E5E7EB"/>
          </a:solidFill>
          <a:ln>
            <a:noFill/>
          </a:ln>
        </p:spPr>
        <p:txBody>
          <a:bodyPr rtlCol="0" anchor="ctr"/>
          <a:lstStyle/>
          <a:p>
            <a:pPr algn="ctr"/>
          </a:p>
        </p:txBody>
      </p:sp>
      <p:sp>
        <p:nvSpPr>
          <p:cNvPr id="182" name="Rectangle 181"/>
          <p:cNvSpPr/>
          <p:nvPr/>
        </p:nvSpPr>
        <p:spPr>
          <a:xfrm>
            <a:off x="4801286" y="2555748"/>
            <a:ext cx="157277" cy="157277"/>
          </a:xfrm>
          <a:prstGeom prst="rect">
            <a:avLst/>
          </a:prstGeom>
          <a:solidFill>
            <a:srgbClr val="E5E7EB"/>
          </a:solidFill>
          <a:ln>
            <a:noFill/>
          </a:ln>
        </p:spPr>
        <p:txBody>
          <a:bodyPr rtlCol="0" anchor="ctr"/>
          <a:lstStyle/>
          <a:p>
            <a:pPr algn="ctr"/>
          </a:p>
        </p:txBody>
      </p:sp>
      <p:sp>
        <p:nvSpPr>
          <p:cNvPr id="183" name="Rectangle 182"/>
          <p:cNvSpPr/>
          <p:nvPr/>
        </p:nvSpPr>
        <p:spPr>
          <a:xfrm>
            <a:off x="4801286" y="2359152"/>
            <a:ext cx="157277" cy="157277"/>
          </a:xfrm>
          <a:prstGeom prst="rect">
            <a:avLst/>
          </a:prstGeom>
          <a:solidFill>
            <a:srgbClr val="E5E7EB"/>
          </a:solidFill>
          <a:ln>
            <a:noFill/>
          </a:ln>
        </p:spPr>
        <p:txBody>
          <a:bodyPr rtlCol="0" anchor="ctr"/>
          <a:lstStyle/>
          <a:p>
            <a:pPr algn="ctr"/>
          </a:p>
        </p:txBody>
      </p:sp>
      <p:sp>
        <p:nvSpPr>
          <p:cNvPr id="184" name="Rectangle 183"/>
          <p:cNvSpPr/>
          <p:nvPr/>
        </p:nvSpPr>
        <p:spPr>
          <a:xfrm>
            <a:off x="4801286" y="2162556"/>
            <a:ext cx="157277" cy="157277"/>
          </a:xfrm>
          <a:prstGeom prst="rect">
            <a:avLst/>
          </a:prstGeom>
          <a:solidFill>
            <a:srgbClr val="E5E7EB"/>
          </a:solidFill>
          <a:ln>
            <a:noFill/>
          </a:ln>
        </p:spPr>
        <p:txBody>
          <a:bodyPr rtlCol="0" anchor="ctr"/>
          <a:lstStyle/>
          <a:p>
            <a:pPr algn="ctr"/>
          </a:p>
        </p:txBody>
      </p:sp>
      <p:sp>
        <p:nvSpPr>
          <p:cNvPr id="185" name="Rectangle 184"/>
          <p:cNvSpPr/>
          <p:nvPr/>
        </p:nvSpPr>
        <p:spPr>
          <a:xfrm>
            <a:off x="4801286" y="1965960"/>
            <a:ext cx="157277" cy="157277"/>
          </a:xfrm>
          <a:prstGeom prst="rect">
            <a:avLst/>
          </a:prstGeom>
          <a:solidFill>
            <a:srgbClr val="E5E7EB"/>
          </a:solidFill>
          <a:ln>
            <a:noFill/>
          </a:ln>
        </p:spPr>
        <p:txBody>
          <a:bodyPr rtlCol="0" anchor="ctr"/>
          <a:lstStyle/>
          <a:p>
            <a:pPr algn="ctr"/>
          </a:p>
        </p:txBody>
      </p:sp>
      <p:sp>
        <p:nvSpPr>
          <p:cNvPr id="186" name="Rectangle 185"/>
          <p:cNvSpPr/>
          <p:nvPr/>
        </p:nvSpPr>
        <p:spPr>
          <a:xfrm>
            <a:off x="4801286" y="1769364"/>
            <a:ext cx="157277" cy="157277"/>
          </a:xfrm>
          <a:prstGeom prst="rect">
            <a:avLst/>
          </a:prstGeom>
          <a:solidFill>
            <a:srgbClr val="E5E7EB"/>
          </a:solidFill>
          <a:ln>
            <a:noFill/>
          </a:ln>
        </p:spPr>
        <p:txBody>
          <a:bodyPr rtlCol="0" anchor="ctr"/>
          <a:lstStyle/>
          <a:p>
            <a:pPr algn="ctr"/>
          </a:p>
        </p:txBody>
      </p:sp>
      <p:sp>
        <p:nvSpPr>
          <p:cNvPr id="187" name="Rectangle 186"/>
          <p:cNvSpPr/>
          <p:nvPr/>
        </p:nvSpPr>
        <p:spPr>
          <a:xfrm>
            <a:off x="4801286" y="1572768"/>
            <a:ext cx="157277" cy="157277"/>
          </a:xfrm>
          <a:prstGeom prst="rect">
            <a:avLst/>
          </a:prstGeom>
          <a:solidFill>
            <a:srgbClr val="E5E7EB"/>
          </a:solidFill>
          <a:ln>
            <a:noFill/>
          </a:ln>
        </p:spPr>
        <p:txBody>
          <a:bodyPr rtlCol="0" anchor="ctr"/>
          <a:lstStyle/>
          <a:p>
            <a:pPr algn="ctr"/>
          </a:p>
        </p:txBody>
      </p:sp>
      <p:sp>
        <p:nvSpPr>
          <p:cNvPr id="188" name="Rectangle 187"/>
          <p:cNvSpPr/>
          <p:nvPr/>
        </p:nvSpPr>
        <p:spPr>
          <a:xfrm>
            <a:off x="4997882" y="3342132"/>
            <a:ext cx="157277" cy="157277"/>
          </a:xfrm>
          <a:prstGeom prst="rect">
            <a:avLst/>
          </a:prstGeom>
          <a:solidFill>
            <a:srgbClr val="E5E7EB"/>
          </a:solidFill>
          <a:ln>
            <a:noFill/>
          </a:ln>
        </p:spPr>
        <p:txBody>
          <a:bodyPr rtlCol="0" anchor="ctr"/>
          <a:lstStyle/>
          <a:p>
            <a:pPr algn="ctr"/>
          </a:p>
        </p:txBody>
      </p:sp>
      <p:sp>
        <p:nvSpPr>
          <p:cNvPr id="189" name="Rectangle 188"/>
          <p:cNvSpPr/>
          <p:nvPr/>
        </p:nvSpPr>
        <p:spPr>
          <a:xfrm>
            <a:off x="4997882" y="3145536"/>
            <a:ext cx="157277" cy="157277"/>
          </a:xfrm>
          <a:prstGeom prst="rect">
            <a:avLst/>
          </a:prstGeom>
          <a:solidFill>
            <a:srgbClr val="E5E7EB"/>
          </a:solidFill>
          <a:ln>
            <a:noFill/>
          </a:ln>
        </p:spPr>
        <p:txBody>
          <a:bodyPr rtlCol="0" anchor="ctr"/>
          <a:lstStyle/>
          <a:p>
            <a:pPr algn="ctr"/>
          </a:p>
        </p:txBody>
      </p:sp>
      <p:sp>
        <p:nvSpPr>
          <p:cNvPr id="190" name="Rectangle 189"/>
          <p:cNvSpPr/>
          <p:nvPr/>
        </p:nvSpPr>
        <p:spPr>
          <a:xfrm>
            <a:off x="4997882" y="2948940"/>
            <a:ext cx="157277" cy="157277"/>
          </a:xfrm>
          <a:prstGeom prst="rect">
            <a:avLst/>
          </a:prstGeom>
          <a:solidFill>
            <a:srgbClr val="E5E7EB"/>
          </a:solidFill>
          <a:ln>
            <a:noFill/>
          </a:ln>
        </p:spPr>
        <p:txBody>
          <a:bodyPr rtlCol="0" anchor="ctr"/>
          <a:lstStyle/>
          <a:p>
            <a:pPr algn="ctr"/>
          </a:p>
        </p:txBody>
      </p:sp>
      <p:sp>
        <p:nvSpPr>
          <p:cNvPr id="191" name="Rectangle 190"/>
          <p:cNvSpPr/>
          <p:nvPr/>
        </p:nvSpPr>
        <p:spPr>
          <a:xfrm>
            <a:off x="4997882" y="2752344"/>
            <a:ext cx="157277" cy="157277"/>
          </a:xfrm>
          <a:prstGeom prst="rect">
            <a:avLst/>
          </a:prstGeom>
          <a:solidFill>
            <a:srgbClr val="E5E7EB"/>
          </a:solidFill>
          <a:ln>
            <a:noFill/>
          </a:ln>
        </p:spPr>
        <p:txBody>
          <a:bodyPr rtlCol="0" anchor="ctr"/>
          <a:lstStyle/>
          <a:p>
            <a:pPr algn="ctr"/>
          </a:p>
        </p:txBody>
      </p:sp>
      <p:sp>
        <p:nvSpPr>
          <p:cNvPr id="192" name="Rectangle 191"/>
          <p:cNvSpPr/>
          <p:nvPr/>
        </p:nvSpPr>
        <p:spPr>
          <a:xfrm>
            <a:off x="4997882" y="2555748"/>
            <a:ext cx="157277" cy="157277"/>
          </a:xfrm>
          <a:prstGeom prst="rect">
            <a:avLst/>
          </a:prstGeom>
          <a:solidFill>
            <a:srgbClr val="E5E7EB"/>
          </a:solidFill>
          <a:ln>
            <a:noFill/>
          </a:ln>
        </p:spPr>
        <p:txBody>
          <a:bodyPr rtlCol="0" anchor="ctr"/>
          <a:lstStyle/>
          <a:p>
            <a:pPr algn="ctr"/>
          </a:p>
        </p:txBody>
      </p:sp>
      <p:sp>
        <p:nvSpPr>
          <p:cNvPr id="193" name="Rectangle 192"/>
          <p:cNvSpPr/>
          <p:nvPr/>
        </p:nvSpPr>
        <p:spPr>
          <a:xfrm>
            <a:off x="4997882" y="2359152"/>
            <a:ext cx="157277" cy="157277"/>
          </a:xfrm>
          <a:prstGeom prst="rect">
            <a:avLst/>
          </a:prstGeom>
          <a:solidFill>
            <a:srgbClr val="E5E7EB"/>
          </a:solidFill>
          <a:ln>
            <a:noFill/>
          </a:ln>
        </p:spPr>
        <p:txBody>
          <a:bodyPr rtlCol="0" anchor="ctr"/>
          <a:lstStyle/>
          <a:p>
            <a:pPr algn="ctr"/>
          </a:p>
        </p:txBody>
      </p:sp>
      <p:sp>
        <p:nvSpPr>
          <p:cNvPr id="194" name="Rectangle 193"/>
          <p:cNvSpPr/>
          <p:nvPr/>
        </p:nvSpPr>
        <p:spPr>
          <a:xfrm>
            <a:off x="4997882" y="2162556"/>
            <a:ext cx="157277" cy="157277"/>
          </a:xfrm>
          <a:prstGeom prst="rect">
            <a:avLst/>
          </a:prstGeom>
          <a:solidFill>
            <a:srgbClr val="E5E7EB"/>
          </a:solidFill>
          <a:ln>
            <a:noFill/>
          </a:ln>
        </p:spPr>
        <p:txBody>
          <a:bodyPr rtlCol="0" anchor="ctr"/>
          <a:lstStyle/>
          <a:p>
            <a:pPr algn="ctr"/>
          </a:p>
        </p:txBody>
      </p:sp>
      <p:sp>
        <p:nvSpPr>
          <p:cNvPr id="195" name="Rectangle 194"/>
          <p:cNvSpPr/>
          <p:nvPr/>
        </p:nvSpPr>
        <p:spPr>
          <a:xfrm>
            <a:off x="4997882" y="1965960"/>
            <a:ext cx="157277" cy="157277"/>
          </a:xfrm>
          <a:prstGeom prst="rect">
            <a:avLst/>
          </a:prstGeom>
          <a:solidFill>
            <a:srgbClr val="E5E7EB"/>
          </a:solidFill>
          <a:ln>
            <a:noFill/>
          </a:ln>
        </p:spPr>
        <p:txBody>
          <a:bodyPr rtlCol="0" anchor="ctr"/>
          <a:lstStyle/>
          <a:p>
            <a:pPr algn="ctr"/>
          </a:p>
        </p:txBody>
      </p:sp>
      <p:sp>
        <p:nvSpPr>
          <p:cNvPr id="196" name="Rectangle 195"/>
          <p:cNvSpPr/>
          <p:nvPr/>
        </p:nvSpPr>
        <p:spPr>
          <a:xfrm>
            <a:off x="4997882" y="1769364"/>
            <a:ext cx="157277" cy="157277"/>
          </a:xfrm>
          <a:prstGeom prst="rect">
            <a:avLst/>
          </a:prstGeom>
          <a:solidFill>
            <a:srgbClr val="E5E7EB"/>
          </a:solidFill>
          <a:ln>
            <a:noFill/>
          </a:ln>
        </p:spPr>
        <p:txBody>
          <a:bodyPr rtlCol="0" anchor="ctr"/>
          <a:lstStyle/>
          <a:p>
            <a:pPr algn="ctr"/>
          </a:p>
        </p:txBody>
      </p:sp>
      <p:sp>
        <p:nvSpPr>
          <p:cNvPr id="197" name="Rectangle 196"/>
          <p:cNvSpPr/>
          <p:nvPr/>
        </p:nvSpPr>
        <p:spPr>
          <a:xfrm>
            <a:off x="4997882" y="1572768"/>
            <a:ext cx="157277" cy="157277"/>
          </a:xfrm>
          <a:prstGeom prst="rect">
            <a:avLst/>
          </a:prstGeom>
          <a:solidFill>
            <a:srgbClr val="E5E7EB"/>
          </a:solidFill>
          <a:ln>
            <a:noFill/>
          </a:ln>
        </p:spPr>
        <p:txBody>
          <a:bodyPr rtlCol="0" anchor="ctr"/>
          <a:lstStyle/>
          <a:p>
            <a:pPr algn="ctr"/>
          </a:p>
        </p:txBody>
      </p:sp>
      <p:sp>
        <p:nvSpPr>
          <p:cNvPr id="198" name="Rectangle 197"/>
          <p:cNvSpPr/>
          <p:nvPr/>
        </p:nvSpPr>
        <p:spPr>
          <a:xfrm>
            <a:off x="5194478" y="3342132"/>
            <a:ext cx="157277" cy="157277"/>
          </a:xfrm>
          <a:prstGeom prst="rect">
            <a:avLst/>
          </a:prstGeom>
          <a:solidFill>
            <a:srgbClr val="E5E7EB"/>
          </a:solidFill>
          <a:ln>
            <a:noFill/>
          </a:ln>
        </p:spPr>
        <p:txBody>
          <a:bodyPr rtlCol="0" anchor="ctr"/>
          <a:lstStyle/>
          <a:p>
            <a:pPr algn="ctr"/>
          </a:p>
        </p:txBody>
      </p:sp>
      <p:sp>
        <p:nvSpPr>
          <p:cNvPr id="199" name="Rectangle 198"/>
          <p:cNvSpPr/>
          <p:nvPr/>
        </p:nvSpPr>
        <p:spPr>
          <a:xfrm>
            <a:off x="5194478" y="3145536"/>
            <a:ext cx="157277" cy="157277"/>
          </a:xfrm>
          <a:prstGeom prst="rect">
            <a:avLst/>
          </a:prstGeom>
          <a:solidFill>
            <a:srgbClr val="E5E7EB"/>
          </a:solidFill>
          <a:ln>
            <a:noFill/>
          </a:ln>
        </p:spPr>
        <p:txBody>
          <a:bodyPr rtlCol="0" anchor="ctr"/>
          <a:lstStyle/>
          <a:p>
            <a:pPr algn="ctr"/>
          </a:p>
        </p:txBody>
      </p:sp>
      <p:sp>
        <p:nvSpPr>
          <p:cNvPr id="200" name="Rectangle 199"/>
          <p:cNvSpPr/>
          <p:nvPr/>
        </p:nvSpPr>
        <p:spPr>
          <a:xfrm>
            <a:off x="5194478" y="2948940"/>
            <a:ext cx="157277" cy="157277"/>
          </a:xfrm>
          <a:prstGeom prst="rect">
            <a:avLst/>
          </a:prstGeom>
          <a:solidFill>
            <a:srgbClr val="E5E7EB"/>
          </a:solidFill>
          <a:ln>
            <a:noFill/>
          </a:ln>
        </p:spPr>
        <p:txBody>
          <a:bodyPr rtlCol="0" anchor="ctr"/>
          <a:lstStyle/>
          <a:p>
            <a:pPr algn="ctr"/>
          </a:p>
        </p:txBody>
      </p:sp>
      <p:sp>
        <p:nvSpPr>
          <p:cNvPr id="201" name="Rectangle 200"/>
          <p:cNvSpPr/>
          <p:nvPr/>
        </p:nvSpPr>
        <p:spPr>
          <a:xfrm>
            <a:off x="5194478" y="2752344"/>
            <a:ext cx="157277" cy="157277"/>
          </a:xfrm>
          <a:prstGeom prst="rect">
            <a:avLst/>
          </a:prstGeom>
          <a:solidFill>
            <a:srgbClr val="E5E7EB"/>
          </a:solidFill>
          <a:ln>
            <a:noFill/>
          </a:ln>
        </p:spPr>
        <p:txBody>
          <a:bodyPr rtlCol="0" anchor="ctr"/>
          <a:lstStyle/>
          <a:p>
            <a:pPr algn="ctr"/>
          </a:p>
        </p:txBody>
      </p:sp>
      <p:sp>
        <p:nvSpPr>
          <p:cNvPr id="202" name="Rectangle 201"/>
          <p:cNvSpPr/>
          <p:nvPr/>
        </p:nvSpPr>
        <p:spPr>
          <a:xfrm>
            <a:off x="5194478" y="2555748"/>
            <a:ext cx="157277" cy="157277"/>
          </a:xfrm>
          <a:prstGeom prst="rect">
            <a:avLst/>
          </a:prstGeom>
          <a:solidFill>
            <a:srgbClr val="E5E7EB"/>
          </a:solidFill>
          <a:ln>
            <a:noFill/>
          </a:ln>
        </p:spPr>
        <p:txBody>
          <a:bodyPr rtlCol="0" anchor="ctr"/>
          <a:lstStyle/>
          <a:p>
            <a:pPr algn="ctr"/>
          </a:p>
        </p:txBody>
      </p:sp>
      <p:sp>
        <p:nvSpPr>
          <p:cNvPr id="203" name="Rectangle 202"/>
          <p:cNvSpPr/>
          <p:nvPr/>
        </p:nvSpPr>
        <p:spPr>
          <a:xfrm>
            <a:off x="5194478" y="2359152"/>
            <a:ext cx="157277" cy="157277"/>
          </a:xfrm>
          <a:prstGeom prst="rect">
            <a:avLst/>
          </a:prstGeom>
          <a:solidFill>
            <a:srgbClr val="E5E7EB"/>
          </a:solidFill>
          <a:ln>
            <a:noFill/>
          </a:ln>
        </p:spPr>
        <p:txBody>
          <a:bodyPr rtlCol="0" anchor="ctr"/>
          <a:lstStyle/>
          <a:p>
            <a:pPr algn="ctr"/>
          </a:p>
        </p:txBody>
      </p:sp>
      <p:sp>
        <p:nvSpPr>
          <p:cNvPr id="204" name="Rectangle 203"/>
          <p:cNvSpPr/>
          <p:nvPr/>
        </p:nvSpPr>
        <p:spPr>
          <a:xfrm>
            <a:off x="5194478" y="2162556"/>
            <a:ext cx="157277" cy="157277"/>
          </a:xfrm>
          <a:prstGeom prst="rect">
            <a:avLst/>
          </a:prstGeom>
          <a:solidFill>
            <a:srgbClr val="E5E7EB"/>
          </a:solidFill>
          <a:ln>
            <a:noFill/>
          </a:ln>
        </p:spPr>
        <p:txBody>
          <a:bodyPr rtlCol="0" anchor="ctr"/>
          <a:lstStyle/>
          <a:p>
            <a:pPr algn="ctr"/>
          </a:p>
        </p:txBody>
      </p:sp>
      <p:sp>
        <p:nvSpPr>
          <p:cNvPr id="205" name="Rectangle 204"/>
          <p:cNvSpPr/>
          <p:nvPr/>
        </p:nvSpPr>
        <p:spPr>
          <a:xfrm>
            <a:off x="5194478" y="1965960"/>
            <a:ext cx="157277" cy="157277"/>
          </a:xfrm>
          <a:prstGeom prst="rect">
            <a:avLst/>
          </a:prstGeom>
          <a:solidFill>
            <a:srgbClr val="E5E7EB"/>
          </a:solidFill>
          <a:ln>
            <a:noFill/>
          </a:ln>
        </p:spPr>
        <p:txBody>
          <a:bodyPr rtlCol="0" anchor="ctr"/>
          <a:lstStyle/>
          <a:p>
            <a:pPr algn="ctr"/>
          </a:p>
        </p:txBody>
      </p:sp>
      <p:sp>
        <p:nvSpPr>
          <p:cNvPr id="206" name="Rectangle 205"/>
          <p:cNvSpPr/>
          <p:nvPr/>
        </p:nvSpPr>
        <p:spPr>
          <a:xfrm>
            <a:off x="5194478" y="1769364"/>
            <a:ext cx="157277" cy="157277"/>
          </a:xfrm>
          <a:prstGeom prst="rect">
            <a:avLst/>
          </a:prstGeom>
          <a:solidFill>
            <a:srgbClr val="E5E7EB"/>
          </a:solidFill>
          <a:ln>
            <a:noFill/>
          </a:ln>
        </p:spPr>
        <p:txBody>
          <a:bodyPr rtlCol="0" anchor="ctr"/>
          <a:lstStyle/>
          <a:p>
            <a:pPr algn="ctr"/>
          </a:p>
        </p:txBody>
      </p:sp>
      <p:sp>
        <p:nvSpPr>
          <p:cNvPr id="207" name="Rectangle 206"/>
          <p:cNvSpPr/>
          <p:nvPr/>
        </p:nvSpPr>
        <p:spPr>
          <a:xfrm>
            <a:off x="5194478" y="1572768"/>
            <a:ext cx="157277" cy="157277"/>
          </a:xfrm>
          <a:prstGeom prst="rect">
            <a:avLst/>
          </a:prstGeom>
          <a:solidFill>
            <a:srgbClr val="E5E7EB"/>
          </a:solidFill>
          <a:ln>
            <a:noFill/>
          </a:ln>
        </p:spPr>
        <p:txBody>
          <a:bodyPr rtlCol="0" anchor="ctr"/>
          <a:lstStyle/>
          <a:p>
            <a:pPr algn="ctr"/>
          </a:p>
        </p:txBody>
      </p:sp>
      <p:sp>
        <p:nvSpPr>
          <p:cNvPr id="208" name="TextBox 207"/>
          <p:cNvSpPr txBox="1"/>
          <p:nvPr/>
        </p:nvSpPr>
        <p:spPr>
          <a:xfrm>
            <a:off x="3425114"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63%</a:t>
            </a:r>
          </a:p>
        </p:txBody>
      </p:sp>
      <p:sp>
        <p:nvSpPr>
          <p:cNvPr id="209" name="TextBox 208"/>
          <p:cNvSpPr txBox="1"/>
          <p:nvPr/>
        </p:nvSpPr>
        <p:spPr>
          <a:xfrm>
            <a:off x="3425114"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savers keep their savings as cash at home [1]</a:t>
            </a:r>
          </a:p>
        </p:txBody>
      </p:sp>
      <p:sp>
        <p:nvSpPr>
          <p:cNvPr id="210" name="Rectangle 209"/>
          <p:cNvSpPr/>
          <p:nvPr/>
        </p:nvSpPr>
        <p:spPr>
          <a:xfrm>
            <a:off x="6301588" y="3342132"/>
            <a:ext cx="157277" cy="157277"/>
          </a:xfrm>
          <a:prstGeom prst="rect">
            <a:avLst/>
          </a:prstGeom>
          <a:solidFill>
            <a:srgbClr val="2A78D6"/>
          </a:solidFill>
          <a:ln>
            <a:noFill/>
          </a:ln>
        </p:spPr>
        <p:txBody>
          <a:bodyPr rtlCol="0" anchor="ctr"/>
          <a:lstStyle/>
          <a:p>
            <a:pPr algn="ctr"/>
          </a:p>
        </p:txBody>
      </p:sp>
      <p:sp>
        <p:nvSpPr>
          <p:cNvPr id="211" name="Rectangle 210"/>
          <p:cNvSpPr/>
          <p:nvPr/>
        </p:nvSpPr>
        <p:spPr>
          <a:xfrm>
            <a:off x="6301588" y="3145536"/>
            <a:ext cx="157277" cy="157277"/>
          </a:xfrm>
          <a:prstGeom prst="rect">
            <a:avLst/>
          </a:prstGeom>
          <a:solidFill>
            <a:srgbClr val="2A78D6"/>
          </a:solidFill>
          <a:ln>
            <a:noFill/>
          </a:ln>
        </p:spPr>
        <p:txBody>
          <a:bodyPr rtlCol="0" anchor="ctr"/>
          <a:lstStyle/>
          <a:p>
            <a:pPr algn="ctr"/>
          </a:p>
        </p:txBody>
      </p:sp>
      <p:sp>
        <p:nvSpPr>
          <p:cNvPr id="212" name="Rectangle 211"/>
          <p:cNvSpPr/>
          <p:nvPr/>
        </p:nvSpPr>
        <p:spPr>
          <a:xfrm>
            <a:off x="6301588" y="2948940"/>
            <a:ext cx="157277" cy="157277"/>
          </a:xfrm>
          <a:prstGeom prst="rect">
            <a:avLst/>
          </a:prstGeom>
          <a:solidFill>
            <a:srgbClr val="2A78D6"/>
          </a:solidFill>
          <a:ln>
            <a:noFill/>
          </a:ln>
        </p:spPr>
        <p:txBody>
          <a:bodyPr rtlCol="0" anchor="ctr"/>
          <a:lstStyle/>
          <a:p>
            <a:pPr algn="ctr"/>
          </a:p>
        </p:txBody>
      </p:sp>
      <p:sp>
        <p:nvSpPr>
          <p:cNvPr id="213" name="Rectangle 212"/>
          <p:cNvSpPr/>
          <p:nvPr/>
        </p:nvSpPr>
        <p:spPr>
          <a:xfrm>
            <a:off x="6301588" y="2752344"/>
            <a:ext cx="157277" cy="157277"/>
          </a:xfrm>
          <a:prstGeom prst="rect">
            <a:avLst/>
          </a:prstGeom>
          <a:solidFill>
            <a:srgbClr val="2A78D6"/>
          </a:solidFill>
          <a:ln>
            <a:noFill/>
          </a:ln>
        </p:spPr>
        <p:txBody>
          <a:bodyPr rtlCol="0" anchor="ctr"/>
          <a:lstStyle/>
          <a:p>
            <a:pPr algn="ctr"/>
          </a:p>
        </p:txBody>
      </p:sp>
      <p:sp>
        <p:nvSpPr>
          <p:cNvPr id="214" name="Rectangle 213"/>
          <p:cNvSpPr/>
          <p:nvPr/>
        </p:nvSpPr>
        <p:spPr>
          <a:xfrm>
            <a:off x="6301588" y="2555748"/>
            <a:ext cx="157277" cy="157277"/>
          </a:xfrm>
          <a:prstGeom prst="rect">
            <a:avLst/>
          </a:prstGeom>
          <a:solidFill>
            <a:srgbClr val="E5E7EB"/>
          </a:solidFill>
          <a:ln>
            <a:noFill/>
          </a:ln>
        </p:spPr>
        <p:txBody>
          <a:bodyPr rtlCol="0" anchor="ctr"/>
          <a:lstStyle/>
          <a:p>
            <a:pPr algn="ctr"/>
          </a:p>
        </p:txBody>
      </p:sp>
      <p:sp>
        <p:nvSpPr>
          <p:cNvPr id="215" name="Rectangle 214"/>
          <p:cNvSpPr/>
          <p:nvPr/>
        </p:nvSpPr>
        <p:spPr>
          <a:xfrm>
            <a:off x="6301588" y="2359152"/>
            <a:ext cx="157277" cy="157277"/>
          </a:xfrm>
          <a:prstGeom prst="rect">
            <a:avLst/>
          </a:prstGeom>
          <a:solidFill>
            <a:srgbClr val="E5E7EB"/>
          </a:solidFill>
          <a:ln>
            <a:noFill/>
          </a:ln>
        </p:spPr>
        <p:txBody>
          <a:bodyPr rtlCol="0" anchor="ctr"/>
          <a:lstStyle/>
          <a:p>
            <a:pPr algn="ctr"/>
          </a:p>
        </p:txBody>
      </p:sp>
      <p:sp>
        <p:nvSpPr>
          <p:cNvPr id="216" name="Rectangle 215"/>
          <p:cNvSpPr/>
          <p:nvPr/>
        </p:nvSpPr>
        <p:spPr>
          <a:xfrm>
            <a:off x="6301588" y="2162556"/>
            <a:ext cx="157277" cy="157277"/>
          </a:xfrm>
          <a:prstGeom prst="rect">
            <a:avLst/>
          </a:prstGeom>
          <a:solidFill>
            <a:srgbClr val="E5E7EB"/>
          </a:solidFill>
          <a:ln>
            <a:noFill/>
          </a:ln>
        </p:spPr>
        <p:txBody>
          <a:bodyPr rtlCol="0" anchor="ctr"/>
          <a:lstStyle/>
          <a:p>
            <a:pPr algn="ctr"/>
          </a:p>
        </p:txBody>
      </p:sp>
      <p:sp>
        <p:nvSpPr>
          <p:cNvPr id="217" name="Rectangle 216"/>
          <p:cNvSpPr/>
          <p:nvPr/>
        </p:nvSpPr>
        <p:spPr>
          <a:xfrm>
            <a:off x="6301588" y="1965960"/>
            <a:ext cx="157277" cy="157277"/>
          </a:xfrm>
          <a:prstGeom prst="rect">
            <a:avLst/>
          </a:prstGeom>
          <a:solidFill>
            <a:srgbClr val="E5E7EB"/>
          </a:solidFill>
          <a:ln>
            <a:noFill/>
          </a:ln>
        </p:spPr>
        <p:txBody>
          <a:bodyPr rtlCol="0" anchor="ctr"/>
          <a:lstStyle/>
          <a:p>
            <a:pPr algn="ctr"/>
          </a:p>
        </p:txBody>
      </p:sp>
      <p:sp>
        <p:nvSpPr>
          <p:cNvPr id="218" name="Rectangle 217"/>
          <p:cNvSpPr/>
          <p:nvPr/>
        </p:nvSpPr>
        <p:spPr>
          <a:xfrm>
            <a:off x="6301588" y="1769364"/>
            <a:ext cx="157277" cy="157277"/>
          </a:xfrm>
          <a:prstGeom prst="rect">
            <a:avLst/>
          </a:prstGeom>
          <a:solidFill>
            <a:srgbClr val="E5E7EB"/>
          </a:solidFill>
          <a:ln>
            <a:noFill/>
          </a:ln>
        </p:spPr>
        <p:txBody>
          <a:bodyPr rtlCol="0" anchor="ctr"/>
          <a:lstStyle/>
          <a:p>
            <a:pPr algn="ctr"/>
          </a:p>
        </p:txBody>
      </p:sp>
      <p:sp>
        <p:nvSpPr>
          <p:cNvPr id="219" name="Rectangle 218"/>
          <p:cNvSpPr/>
          <p:nvPr/>
        </p:nvSpPr>
        <p:spPr>
          <a:xfrm>
            <a:off x="6301588" y="1572768"/>
            <a:ext cx="157277" cy="157277"/>
          </a:xfrm>
          <a:prstGeom prst="rect">
            <a:avLst/>
          </a:prstGeom>
          <a:solidFill>
            <a:srgbClr val="E5E7EB"/>
          </a:solidFill>
          <a:ln>
            <a:noFill/>
          </a:ln>
        </p:spPr>
        <p:txBody>
          <a:bodyPr rtlCol="0" anchor="ctr"/>
          <a:lstStyle/>
          <a:p>
            <a:pPr algn="ctr"/>
          </a:p>
        </p:txBody>
      </p:sp>
      <p:sp>
        <p:nvSpPr>
          <p:cNvPr id="220" name="Rectangle 219"/>
          <p:cNvSpPr/>
          <p:nvPr/>
        </p:nvSpPr>
        <p:spPr>
          <a:xfrm>
            <a:off x="6498184" y="3342132"/>
            <a:ext cx="157277" cy="157277"/>
          </a:xfrm>
          <a:prstGeom prst="rect">
            <a:avLst/>
          </a:prstGeom>
          <a:solidFill>
            <a:srgbClr val="E5E7EB"/>
          </a:solidFill>
          <a:ln>
            <a:noFill/>
          </a:ln>
        </p:spPr>
        <p:txBody>
          <a:bodyPr rtlCol="0" anchor="ctr"/>
          <a:lstStyle/>
          <a:p>
            <a:pPr algn="ctr"/>
          </a:p>
        </p:txBody>
      </p:sp>
      <p:sp>
        <p:nvSpPr>
          <p:cNvPr id="221" name="Rectangle 220"/>
          <p:cNvSpPr/>
          <p:nvPr/>
        </p:nvSpPr>
        <p:spPr>
          <a:xfrm>
            <a:off x="6498184" y="3145536"/>
            <a:ext cx="157277" cy="157277"/>
          </a:xfrm>
          <a:prstGeom prst="rect">
            <a:avLst/>
          </a:prstGeom>
          <a:solidFill>
            <a:srgbClr val="E5E7EB"/>
          </a:solidFill>
          <a:ln>
            <a:noFill/>
          </a:ln>
        </p:spPr>
        <p:txBody>
          <a:bodyPr rtlCol="0" anchor="ctr"/>
          <a:lstStyle/>
          <a:p>
            <a:pPr algn="ctr"/>
          </a:p>
        </p:txBody>
      </p:sp>
      <p:sp>
        <p:nvSpPr>
          <p:cNvPr id="222" name="Rectangle 221"/>
          <p:cNvSpPr/>
          <p:nvPr/>
        </p:nvSpPr>
        <p:spPr>
          <a:xfrm>
            <a:off x="6498184" y="2948940"/>
            <a:ext cx="157277" cy="157277"/>
          </a:xfrm>
          <a:prstGeom prst="rect">
            <a:avLst/>
          </a:prstGeom>
          <a:solidFill>
            <a:srgbClr val="E5E7EB"/>
          </a:solidFill>
          <a:ln>
            <a:noFill/>
          </a:ln>
        </p:spPr>
        <p:txBody>
          <a:bodyPr rtlCol="0" anchor="ctr"/>
          <a:lstStyle/>
          <a:p>
            <a:pPr algn="ctr"/>
          </a:p>
        </p:txBody>
      </p:sp>
      <p:sp>
        <p:nvSpPr>
          <p:cNvPr id="223" name="Rectangle 222"/>
          <p:cNvSpPr/>
          <p:nvPr/>
        </p:nvSpPr>
        <p:spPr>
          <a:xfrm>
            <a:off x="6498184" y="2752344"/>
            <a:ext cx="157277" cy="157277"/>
          </a:xfrm>
          <a:prstGeom prst="rect">
            <a:avLst/>
          </a:prstGeom>
          <a:solidFill>
            <a:srgbClr val="E5E7EB"/>
          </a:solidFill>
          <a:ln>
            <a:noFill/>
          </a:ln>
        </p:spPr>
        <p:txBody>
          <a:bodyPr rtlCol="0" anchor="ctr"/>
          <a:lstStyle/>
          <a:p>
            <a:pPr algn="ctr"/>
          </a:p>
        </p:txBody>
      </p:sp>
      <p:sp>
        <p:nvSpPr>
          <p:cNvPr id="224" name="Rectangle 223"/>
          <p:cNvSpPr/>
          <p:nvPr/>
        </p:nvSpPr>
        <p:spPr>
          <a:xfrm>
            <a:off x="6498184" y="2555748"/>
            <a:ext cx="157277" cy="157277"/>
          </a:xfrm>
          <a:prstGeom prst="rect">
            <a:avLst/>
          </a:prstGeom>
          <a:solidFill>
            <a:srgbClr val="E5E7EB"/>
          </a:solidFill>
          <a:ln>
            <a:noFill/>
          </a:ln>
        </p:spPr>
        <p:txBody>
          <a:bodyPr rtlCol="0" anchor="ctr"/>
          <a:lstStyle/>
          <a:p>
            <a:pPr algn="ctr"/>
          </a:p>
        </p:txBody>
      </p:sp>
      <p:sp>
        <p:nvSpPr>
          <p:cNvPr id="225" name="Rectangle 224"/>
          <p:cNvSpPr/>
          <p:nvPr/>
        </p:nvSpPr>
        <p:spPr>
          <a:xfrm>
            <a:off x="6498184" y="2359152"/>
            <a:ext cx="157277" cy="157277"/>
          </a:xfrm>
          <a:prstGeom prst="rect">
            <a:avLst/>
          </a:prstGeom>
          <a:solidFill>
            <a:srgbClr val="E5E7EB"/>
          </a:solidFill>
          <a:ln>
            <a:noFill/>
          </a:ln>
        </p:spPr>
        <p:txBody>
          <a:bodyPr rtlCol="0" anchor="ctr"/>
          <a:lstStyle/>
          <a:p>
            <a:pPr algn="ctr"/>
          </a:p>
        </p:txBody>
      </p:sp>
      <p:sp>
        <p:nvSpPr>
          <p:cNvPr id="226" name="Rectangle 225"/>
          <p:cNvSpPr/>
          <p:nvPr/>
        </p:nvSpPr>
        <p:spPr>
          <a:xfrm>
            <a:off x="6498184" y="2162556"/>
            <a:ext cx="157277" cy="157277"/>
          </a:xfrm>
          <a:prstGeom prst="rect">
            <a:avLst/>
          </a:prstGeom>
          <a:solidFill>
            <a:srgbClr val="E5E7EB"/>
          </a:solidFill>
          <a:ln>
            <a:noFill/>
          </a:ln>
        </p:spPr>
        <p:txBody>
          <a:bodyPr rtlCol="0" anchor="ctr"/>
          <a:lstStyle/>
          <a:p>
            <a:pPr algn="ctr"/>
          </a:p>
        </p:txBody>
      </p:sp>
      <p:sp>
        <p:nvSpPr>
          <p:cNvPr id="227" name="Rectangle 226"/>
          <p:cNvSpPr/>
          <p:nvPr/>
        </p:nvSpPr>
        <p:spPr>
          <a:xfrm>
            <a:off x="6498184" y="1965960"/>
            <a:ext cx="157277" cy="157277"/>
          </a:xfrm>
          <a:prstGeom prst="rect">
            <a:avLst/>
          </a:prstGeom>
          <a:solidFill>
            <a:srgbClr val="E5E7EB"/>
          </a:solidFill>
          <a:ln>
            <a:noFill/>
          </a:ln>
        </p:spPr>
        <p:txBody>
          <a:bodyPr rtlCol="0" anchor="ctr"/>
          <a:lstStyle/>
          <a:p>
            <a:pPr algn="ctr"/>
          </a:p>
        </p:txBody>
      </p:sp>
      <p:sp>
        <p:nvSpPr>
          <p:cNvPr id="228" name="Rectangle 227"/>
          <p:cNvSpPr/>
          <p:nvPr/>
        </p:nvSpPr>
        <p:spPr>
          <a:xfrm>
            <a:off x="6498184" y="1769364"/>
            <a:ext cx="157277" cy="157277"/>
          </a:xfrm>
          <a:prstGeom prst="rect">
            <a:avLst/>
          </a:prstGeom>
          <a:solidFill>
            <a:srgbClr val="E5E7EB"/>
          </a:solidFill>
          <a:ln>
            <a:noFill/>
          </a:ln>
        </p:spPr>
        <p:txBody>
          <a:bodyPr rtlCol="0" anchor="ctr"/>
          <a:lstStyle/>
          <a:p>
            <a:pPr algn="ctr"/>
          </a:p>
        </p:txBody>
      </p:sp>
      <p:sp>
        <p:nvSpPr>
          <p:cNvPr id="229" name="Rectangle 228"/>
          <p:cNvSpPr/>
          <p:nvPr/>
        </p:nvSpPr>
        <p:spPr>
          <a:xfrm>
            <a:off x="6498184" y="1572768"/>
            <a:ext cx="157277" cy="157277"/>
          </a:xfrm>
          <a:prstGeom prst="rect">
            <a:avLst/>
          </a:prstGeom>
          <a:solidFill>
            <a:srgbClr val="E5E7EB"/>
          </a:solidFill>
          <a:ln>
            <a:noFill/>
          </a:ln>
        </p:spPr>
        <p:txBody>
          <a:bodyPr rtlCol="0" anchor="ctr"/>
          <a:lstStyle/>
          <a:p>
            <a:pPr algn="ctr"/>
          </a:p>
        </p:txBody>
      </p:sp>
      <p:sp>
        <p:nvSpPr>
          <p:cNvPr id="230" name="Rectangle 229"/>
          <p:cNvSpPr/>
          <p:nvPr/>
        </p:nvSpPr>
        <p:spPr>
          <a:xfrm>
            <a:off x="6694780" y="3342132"/>
            <a:ext cx="157277" cy="157277"/>
          </a:xfrm>
          <a:prstGeom prst="rect">
            <a:avLst/>
          </a:prstGeom>
          <a:solidFill>
            <a:srgbClr val="E5E7EB"/>
          </a:solidFill>
          <a:ln>
            <a:noFill/>
          </a:ln>
        </p:spPr>
        <p:txBody>
          <a:bodyPr rtlCol="0" anchor="ctr"/>
          <a:lstStyle/>
          <a:p>
            <a:pPr algn="ctr"/>
          </a:p>
        </p:txBody>
      </p:sp>
      <p:sp>
        <p:nvSpPr>
          <p:cNvPr id="231" name="Rectangle 230"/>
          <p:cNvSpPr/>
          <p:nvPr/>
        </p:nvSpPr>
        <p:spPr>
          <a:xfrm>
            <a:off x="6694780" y="3145536"/>
            <a:ext cx="157277" cy="157277"/>
          </a:xfrm>
          <a:prstGeom prst="rect">
            <a:avLst/>
          </a:prstGeom>
          <a:solidFill>
            <a:srgbClr val="E5E7EB"/>
          </a:solidFill>
          <a:ln>
            <a:noFill/>
          </a:ln>
        </p:spPr>
        <p:txBody>
          <a:bodyPr rtlCol="0" anchor="ctr"/>
          <a:lstStyle/>
          <a:p>
            <a:pPr algn="ctr"/>
          </a:p>
        </p:txBody>
      </p:sp>
      <p:sp>
        <p:nvSpPr>
          <p:cNvPr id="232" name="Rectangle 231"/>
          <p:cNvSpPr/>
          <p:nvPr/>
        </p:nvSpPr>
        <p:spPr>
          <a:xfrm>
            <a:off x="6694780" y="2948940"/>
            <a:ext cx="157277" cy="157277"/>
          </a:xfrm>
          <a:prstGeom prst="rect">
            <a:avLst/>
          </a:prstGeom>
          <a:solidFill>
            <a:srgbClr val="E5E7EB"/>
          </a:solidFill>
          <a:ln>
            <a:noFill/>
          </a:ln>
        </p:spPr>
        <p:txBody>
          <a:bodyPr rtlCol="0" anchor="ctr"/>
          <a:lstStyle/>
          <a:p>
            <a:pPr algn="ctr"/>
          </a:p>
        </p:txBody>
      </p:sp>
      <p:sp>
        <p:nvSpPr>
          <p:cNvPr id="233" name="Rectangle 232"/>
          <p:cNvSpPr/>
          <p:nvPr/>
        </p:nvSpPr>
        <p:spPr>
          <a:xfrm>
            <a:off x="6694780" y="2752344"/>
            <a:ext cx="157277" cy="157277"/>
          </a:xfrm>
          <a:prstGeom prst="rect">
            <a:avLst/>
          </a:prstGeom>
          <a:solidFill>
            <a:srgbClr val="E5E7EB"/>
          </a:solidFill>
          <a:ln>
            <a:noFill/>
          </a:ln>
        </p:spPr>
        <p:txBody>
          <a:bodyPr rtlCol="0" anchor="ctr"/>
          <a:lstStyle/>
          <a:p>
            <a:pPr algn="ctr"/>
          </a:p>
        </p:txBody>
      </p:sp>
      <p:sp>
        <p:nvSpPr>
          <p:cNvPr id="234" name="Rectangle 233"/>
          <p:cNvSpPr/>
          <p:nvPr/>
        </p:nvSpPr>
        <p:spPr>
          <a:xfrm>
            <a:off x="6694780" y="2555748"/>
            <a:ext cx="157277" cy="157277"/>
          </a:xfrm>
          <a:prstGeom prst="rect">
            <a:avLst/>
          </a:prstGeom>
          <a:solidFill>
            <a:srgbClr val="E5E7EB"/>
          </a:solidFill>
          <a:ln>
            <a:noFill/>
          </a:ln>
        </p:spPr>
        <p:txBody>
          <a:bodyPr rtlCol="0" anchor="ctr"/>
          <a:lstStyle/>
          <a:p>
            <a:pPr algn="ctr"/>
          </a:p>
        </p:txBody>
      </p:sp>
      <p:sp>
        <p:nvSpPr>
          <p:cNvPr id="235" name="Rectangle 234"/>
          <p:cNvSpPr/>
          <p:nvPr/>
        </p:nvSpPr>
        <p:spPr>
          <a:xfrm>
            <a:off x="6694780" y="2359152"/>
            <a:ext cx="157277" cy="157277"/>
          </a:xfrm>
          <a:prstGeom prst="rect">
            <a:avLst/>
          </a:prstGeom>
          <a:solidFill>
            <a:srgbClr val="E5E7EB"/>
          </a:solidFill>
          <a:ln>
            <a:noFill/>
          </a:ln>
        </p:spPr>
        <p:txBody>
          <a:bodyPr rtlCol="0" anchor="ctr"/>
          <a:lstStyle/>
          <a:p>
            <a:pPr algn="ctr"/>
          </a:p>
        </p:txBody>
      </p:sp>
      <p:sp>
        <p:nvSpPr>
          <p:cNvPr id="236" name="Rectangle 235"/>
          <p:cNvSpPr/>
          <p:nvPr/>
        </p:nvSpPr>
        <p:spPr>
          <a:xfrm>
            <a:off x="6694780" y="2162556"/>
            <a:ext cx="157277" cy="157277"/>
          </a:xfrm>
          <a:prstGeom prst="rect">
            <a:avLst/>
          </a:prstGeom>
          <a:solidFill>
            <a:srgbClr val="E5E7EB"/>
          </a:solidFill>
          <a:ln>
            <a:noFill/>
          </a:ln>
        </p:spPr>
        <p:txBody>
          <a:bodyPr rtlCol="0" anchor="ctr"/>
          <a:lstStyle/>
          <a:p>
            <a:pPr algn="ctr"/>
          </a:p>
        </p:txBody>
      </p:sp>
      <p:sp>
        <p:nvSpPr>
          <p:cNvPr id="237" name="Rectangle 236"/>
          <p:cNvSpPr/>
          <p:nvPr/>
        </p:nvSpPr>
        <p:spPr>
          <a:xfrm>
            <a:off x="6694780" y="1965960"/>
            <a:ext cx="157277" cy="157277"/>
          </a:xfrm>
          <a:prstGeom prst="rect">
            <a:avLst/>
          </a:prstGeom>
          <a:solidFill>
            <a:srgbClr val="E5E7EB"/>
          </a:solidFill>
          <a:ln>
            <a:noFill/>
          </a:ln>
        </p:spPr>
        <p:txBody>
          <a:bodyPr rtlCol="0" anchor="ctr"/>
          <a:lstStyle/>
          <a:p>
            <a:pPr algn="ctr"/>
          </a:p>
        </p:txBody>
      </p:sp>
      <p:sp>
        <p:nvSpPr>
          <p:cNvPr id="238" name="Rectangle 237"/>
          <p:cNvSpPr/>
          <p:nvPr/>
        </p:nvSpPr>
        <p:spPr>
          <a:xfrm>
            <a:off x="6694780" y="1769364"/>
            <a:ext cx="157277" cy="157277"/>
          </a:xfrm>
          <a:prstGeom prst="rect">
            <a:avLst/>
          </a:prstGeom>
          <a:solidFill>
            <a:srgbClr val="E5E7EB"/>
          </a:solidFill>
          <a:ln>
            <a:noFill/>
          </a:ln>
        </p:spPr>
        <p:txBody>
          <a:bodyPr rtlCol="0" anchor="ctr"/>
          <a:lstStyle/>
          <a:p>
            <a:pPr algn="ctr"/>
          </a:p>
        </p:txBody>
      </p:sp>
      <p:sp>
        <p:nvSpPr>
          <p:cNvPr id="239" name="Rectangle 238"/>
          <p:cNvSpPr/>
          <p:nvPr/>
        </p:nvSpPr>
        <p:spPr>
          <a:xfrm>
            <a:off x="6694780" y="1572768"/>
            <a:ext cx="157277" cy="157277"/>
          </a:xfrm>
          <a:prstGeom prst="rect">
            <a:avLst/>
          </a:prstGeom>
          <a:solidFill>
            <a:srgbClr val="E5E7EB"/>
          </a:solidFill>
          <a:ln>
            <a:noFill/>
          </a:ln>
        </p:spPr>
        <p:txBody>
          <a:bodyPr rtlCol="0" anchor="ctr"/>
          <a:lstStyle/>
          <a:p>
            <a:pPr algn="ctr"/>
          </a:p>
        </p:txBody>
      </p:sp>
      <p:sp>
        <p:nvSpPr>
          <p:cNvPr id="240" name="Rectangle 239"/>
          <p:cNvSpPr/>
          <p:nvPr/>
        </p:nvSpPr>
        <p:spPr>
          <a:xfrm>
            <a:off x="6891376" y="3342132"/>
            <a:ext cx="157277" cy="157277"/>
          </a:xfrm>
          <a:prstGeom prst="rect">
            <a:avLst/>
          </a:prstGeom>
          <a:solidFill>
            <a:srgbClr val="E5E7EB"/>
          </a:solidFill>
          <a:ln>
            <a:noFill/>
          </a:ln>
        </p:spPr>
        <p:txBody>
          <a:bodyPr rtlCol="0" anchor="ctr"/>
          <a:lstStyle/>
          <a:p>
            <a:pPr algn="ctr"/>
          </a:p>
        </p:txBody>
      </p:sp>
      <p:sp>
        <p:nvSpPr>
          <p:cNvPr id="241" name="Rectangle 240"/>
          <p:cNvSpPr/>
          <p:nvPr/>
        </p:nvSpPr>
        <p:spPr>
          <a:xfrm>
            <a:off x="6891376" y="3145536"/>
            <a:ext cx="157277" cy="157277"/>
          </a:xfrm>
          <a:prstGeom prst="rect">
            <a:avLst/>
          </a:prstGeom>
          <a:solidFill>
            <a:srgbClr val="E5E7EB"/>
          </a:solidFill>
          <a:ln>
            <a:noFill/>
          </a:ln>
        </p:spPr>
        <p:txBody>
          <a:bodyPr rtlCol="0" anchor="ctr"/>
          <a:lstStyle/>
          <a:p>
            <a:pPr algn="ctr"/>
          </a:p>
        </p:txBody>
      </p:sp>
      <p:sp>
        <p:nvSpPr>
          <p:cNvPr id="242" name="Rectangle 241"/>
          <p:cNvSpPr/>
          <p:nvPr/>
        </p:nvSpPr>
        <p:spPr>
          <a:xfrm>
            <a:off x="6891376" y="2948940"/>
            <a:ext cx="157277" cy="157277"/>
          </a:xfrm>
          <a:prstGeom prst="rect">
            <a:avLst/>
          </a:prstGeom>
          <a:solidFill>
            <a:srgbClr val="E5E7EB"/>
          </a:solidFill>
          <a:ln>
            <a:noFill/>
          </a:ln>
        </p:spPr>
        <p:txBody>
          <a:bodyPr rtlCol="0" anchor="ctr"/>
          <a:lstStyle/>
          <a:p>
            <a:pPr algn="ctr"/>
          </a:p>
        </p:txBody>
      </p:sp>
      <p:sp>
        <p:nvSpPr>
          <p:cNvPr id="243" name="Rectangle 242"/>
          <p:cNvSpPr/>
          <p:nvPr/>
        </p:nvSpPr>
        <p:spPr>
          <a:xfrm>
            <a:off x="6891376" y="2752344"/>
            <a:ext cx="157277" cy="157277"/>
          </a:xfrm>
          <a:prstGeom prst="rect">
            <a:avLst/>
          </a:prstGeom>
          <a:solidFill>
            <a:srgbClr val="E5E7EB"/>
          </a:solidFill>
          <a:ln>
            <a:noFill/>
          </a:ln>
        </p:spPr>
        <p:txBody>
          <a:bodyPr rtlCol="0" anchor="ctr"/>
          <a:lstStyle/>
          <a:p>
            <a:pPr algn="ctr"/>
          </a:p>
        </p:txBody>
      </p:sp>
      <p:sp>
        <p:nvSpPr>
          <p:cNvPr id="244" name="Rectangle 243"/>
          <p:cNvSpPr/>
          <p:nvPr/>
        </p:nvSpPr>
        <p:spPr>
          <a:xfrm>
            <a:off x="6891376" y="2555748"/>
            <a:ext cx="157277" cy="157277"/>
          </a:xfrm>
          <a:prstGeom prst="rect">
            <a:avLst/>
          </a:prstGeom>
          <a:solidFill>
            <a:srgbClr val="E5E7EB"/>
          </a:solidFill>
          <a:ln>
            <a:noFill/>
          </a:ln>
        </p:spPr>
        <p:txBody>
          <a:bodyPr rtlCol="0" anchor="ctr"/>
          <a:lstStyle/>
          <a:p>
            <a:pPr algn="ctr"/>
          </a:p>
        </p:txBody>
      </p:sp>
      <p:sp>
        <p:nvSpPr>
          <p:cNvPr id="245" name="Rectangle 244"/>
          <p:cNvSpPr/>
          <p:nvPr/>
        </p:nvSpPr>
        <p:spPr>
          <a:xfrm>
            <a:off x="6891376" y="2359152"/>
            <a:ext cx="157277" cy="157277"/>
          </a:xfrm>
          <a:prstGeom prst="rect">
            <a:avLst/>
          </a:prstGeom>
          <a:solidFill>
            <a:srgbClr val="E5E7EB"/>
          </a:solidFill>
          <a:ln>
            <a:noFill/>
          </a:ln>
        </p:spPr>
        <p:txBody>
          <a:bodyPr rtlCol="0" anchor="ctr"/>
          <a:lstStyle/>
          <a:p>
            <a:pPr algn="ctr"/>
          </a:p>
        </p:txBody>
      </p:sp>
      <p:sp>
        <p:nvSpPr>
          <p:cNvPr id="246" name="Rectangle 245"/>
          <p:cNvSpPr/>
          <p:nvPr/>
        </p:nvSpPr>
        <p:spPr>
          <a:xfrm>
            <a:off x="6891376" y="2162556"/>
            <a:ext cx="157277" cy="157277"/>
          </a:xfrm>
          <a:prstGeom prst="rect">
            <a:avLst/>
          </a:prstGeom>
          <a:solidFill>
            <a:srgbClr val="E5E7EB"/>
          </a:solidFill>
          <a:ln>
            <a:noFill/>
          </a:ln>
        </p:spPr>
        <p:txBody>
          <a:bodyPr rtlCol="0" anchor="ctr"/>
          <a:lstStyle/>
          <a:p>
            <a:pPr algn="ctr"/>
          </a:p>
        </p:txBody>
      </p:sp>
      <p:sp>
        <p:nvSpPr>
          <p:cNvPr id="247" name="Rectangle 246"/>
          <p:cNvSpPr/>
          <p:nvPr/>
        </p:nvSpPr>
        <p:spPr>
          <a:xfrm>
            <a:off x="6891376" y="1965960"/>
            <a:ext cx="157277" cy="157277"/>
          </a:xfrm>
          <a:prstGeom prst="rect">
            <a:avLst/>
          </a:prstGeom>
          <a:solidFill>
            <a:srgbClr val="E5E7EB"/>
          </a:solidFill>
          <a:ln>
            <a:noFill/>
          </a:ln>
        </p:spPr>
        <p:txBody>
          <a:bodyPr rtlCol="0" anchor="ctr"/>
          <a:lstStyle/>
          <a:p>
            <a:pPr algn="ctr"/>
          </a:p>
        </p:txBody>
      </p:sp>
      <p:sp>
        <p:nvSpPr>
          <p:cNvPr id="248" name="Rectangle 247"/>
          <p:cNvSpPr/>
          <p:nvPr/>
        </p:nvSpPr>
        <p:spPr>
          <a:xfrm>
            <a:off x="6891376" y="1769364"/>
            <a:ext cx="157277" cy="157277"/>
          </a:xfrm>
          <a:prstGeom prst="rect">
            <a:avLst/>
          </a:prstGeom>
          <a:solidFill>
            <a:srgbClr val="E5E7EB"/>
          </a:solidFill>
          <a:ln>
            <a:noFill/>
          </a:ln>
        </p:spPr>
        <p:txBody>
          <a:bodyPr rtlCol="0" anchor="ctr"/>
          <a:lstStyle/>
          <a:p>
            <a:pPr algn="ctr"/>
          </a:p>
        </p:txBody>
      </p:sp>
      <p:sp>
        <p:nvSpPr>
          <p:cNvPr id="249" name="Rectangle 248"/>
          <p:cNvSpPr/>
          <p:nvPr/>
        </p:nvSpPr>
        <p:spPr>
          <a:xfrm>
            <a:off x="6891376" y="1572768"/>
            <a:ext cx="157277" cy="157277"/>
          </a:xfrm>
          <a:prstGeom prst="rect">
            <a:avLst/>
          </a:prstGeom>
          <a:solidFill>
            <a:srgbClr val="E5E7EB"/>
          </a:solidFill>
          <a:ln>
            <a:noFill/>
          </a:ln>
        </p:spPr>
        <p:txBody>
          <a:bodyPr rtlCol="0" anchor="ctr"/>
          <a:lstStyle/>
          <a:p>
            <a:pPr algn="ctr"/>
          </a:p>
        </p:txBody>
      </p:sp>
      <p:sp>
        <p:nvSpPr>
          <p:cNvPr id="250" name="Rectangle 249"/>
          <p:cNvSpPr/>
          <p:nvPr/>
        </p:nvSpPr>
        <p:spPr>
          <a:xfrm>
            <a:off x="7087972" y="3342132"/>
            <a:ext cx="157277" cy="157277"/>
          </a:xfrm>
          <a:prstGeom prst="rect">
            <a:avLst/>
          </a:prstGeom>
          <a:solidFill>
            <a:srgbClr val="E5E7EB"/>
          </a:solidFill>
          <a:ln>
            <a:noFill/>
          </a:ln>
        </p:spPr>
        <p:txBody>
          <a:bodyPr rtlCol="0" anchor="ctr"/>
          <a:lstStyle/>
          <a:p>
            <a:pPr algn="ctr"/>
          </a:p>
        </p:txBody>
      </p:sp>
      <p:sp>
        <p:nvSpPr>
          <p:cNvPr id="251" name="Rectangle 250"/>
          <p:cNvSpPr/>
          <p:nvPr/>
        </p:nvSpPr>
        <p:spPr>
          <a:xfrm>
            <a:off x="7087972" y="3145536"/>
            <a:ext cx="157277" cy="157277"/>
          </a:xfrm>
          <a:prstGeom prst="rect">
            <a:avLst/>
          </a:prstGeom>
          <a:solidFill>
            <a:srgbClr val="E5E7EB"/>
          </a:solidFill>
          <a:ln>
            <a:noFill/>
          </a:ln>
        </p:spPr>
        <p:txBody>
          <a:bodyPr rtlCol="0" anchor="ctr"/>
          <a:lstStyle/>
          <a:p>
            <a:pPr algn="ctr"/>
          </a:p>
        </p:txBody>
      </p:sp>
      <p:sp>
        <p:nvSpPr>
          <p:cNvPr id="252" name="Rectangle 251"/>
          <p:cNvSpPr/>
          <p:nvPr/>
        </p:nvSpPr>
        <p:spPr>
          <a:xfrm>
            <a:off x="7087972" y="2948940"/>
            <a:ext cx="157277" cy="157277"/>
          </a:xfrm>
          <a:prstGeom prst="rect">
            <a:avLst/>
          </a:prstGeom>
          <a:solidFill>
            <a:srgbClr val="E5E7EB"/>
          </a:solidFill>
          <a:ln>
            <a:noFill/>
          </a:ln>
        </p:spPr>
        <p:txBody>
          <a:bodyPr rtlCol="0" anchor="ctr"/>
          <a:lstStyle/>
          <a:p>
            <a:pPr algn="ctr"/>
          </a:p>
        </p:txBody>
      </p:sp>
      <p:sp>
        <p:nvSpPr>
          <p:cNvPr id="253" name="Rectangle 252"/>
          <p:cNvSpPr/>
          <p:nvPr/>
        </p:nvSpPr>
        <p:spPr>
          <a:xfrm>
            <a:off x="7087972" y="2752344"/>
            <a:ext cx="157277" cy="157277"/>
          </a:xfrm>
          <a:prstGeom prst="rect">
            <a:avLst/>
          </a:prstGeom>
          <a:solidFill>
            <a:srgbClr val="E5E7EB"/>
          </a:solidFill>
          <a:ln>
            <a:noFill/>
          </a:ln>
        </p:spPr>
        <p:txBody>
          <a:bodyPr rtlCol="0" anchor="ctr"/>
          <a:lstStyle/>
          <a:p>
            <a:pPr algn="ctr"/>
          </a:p>
        </p:txBody>
      </p:sp>
      <p:sp>
        <p:nvSpPr>
          <p:cNvPr id="254" name="Rectangle 253"/>
          <p:cNvSpPr/>
          <p:nvPr/>
        </p:nvSpPr>
        <p:spPr>
          <a:xfrm>
            <a:off x="7087972" y="2555748"/>
            <a:ext cx="157277" cy="157277"/>
          </a:xfrm>
          <a:prstGeom prst="rect">
            <a:avLst/>
          </a:prstGeom>
          <a:solidFill>
            <a:srgbClr val="E5E7EB"/>
          </a:solidFill>
          <a:ln>
            <a:noFill/>
          </a:ln>
        </p:spPr>
        <p:txBody>
          <a:bodyPr rtlCol="0" anchor="ctr"/>
          <a:lstStyle/>
          <a:p>
            <a:pPr algn="ctr"/>
          </a:p>
        </p:txBody>
      </p:sp>
      <p:sp>
        <p:nvSpPr>
          <p:cNvPr id="255" name="Rectangle 254"/>
          <p:cNvSpPr/>
          <p:nvPr/>
        </p:nvSpPr>
        <p:spPr>
          <a:xfrm>
            <a:off x="7087972" y="2359152"/>
            <a:ext cx="157277" cy="157277"/>
          </a:xfrm>
          <a:prstGeom prst="rect">
            <a:avLst/>
          </a:prstGeom>
          <a:solidFill>
            <a:srgbClr val="E5E7EB"/>
          </a:solidFill>
          <a:ln>
            <a:noFill/>
          </a:ln>
        </p:spPr>
        <p:txBody>
          <a:bodyPr rtlCol="0" anchor="ctr"/>
          <a:lstStyle/>
          <a:p>
            <a:pPr algn="ctr"/>
          </a:p>
        </p:txBody>
      </p:sp>
      <p:sp>
        <p:nvSpPr>
          <p:cNvPr id="256" name="Rectangle 255"/>
          <p:cNvSpPr/>
          <p:nvPr/>
        </p:nvSpPr>
        <p:spPr>
          <a:xfrm>
            <a:off x="7087972" y="2162556"/>
            <a:ext cx="157277" cy="157277"/>
          </a:xfrm>
          <a:prstGeom prst="rect">
            <a:avLst/>
          </a:prstGeom>
          <a:solidFill>
            <a:srgbClr val="E5E7EB"/>
          </a:solidFill>
          <a:ln>
            <a:noFill/>
          </a:ln>
        </p:spPr>
        <p:txBody>
          <a:bodyPr rtlCol="0" anchor="ctr"/>
          <a:lstStyle/>
          <a:p>
            <a:pPr algn="ctr"/>
          </a:p>
        </p:txBody>
      </p:sp>
      <p:sp>
        <p:nvSpPr>
          <p:cNvPr id="257" name="Rectangle 256"/>
          <p:cNvSpPr/>
          <p:nvPr/>
        </p:nvSpPr>
        <p:spPr>
          <a:xfrm>
            <a:off x="7087972" y="1965960"/>
            <a:ext cx="157277" cy="157277"/>
          </a:xfrm>
          <a:prstGeom prst="rect">
            <a:avLst/>
          </a:prstGeom>
          <a:solidFill>
            <a:srgbClr val="E5E7EB"/>
          </a:solidFill>
          <a:ln>
            <a:noFill/>
          </a:ln>
        </p:spPr>
        <p:txBody>
          <a:bodyPr rtlCol="0" anchor="ctr"/>
          <a:lstStyle/>
          <a:p>
            <a:pPr algn="ctr"/>
          </a:p>
        </p:txBody>
      </p:sp>
      <p:sp>
        <p:nvSpPr>
          <p:cNvPr id="258" name="Rectangle 257"/>
          <p:cNvSpPr/>
          <p:nvPr/>
        </p:nvSpPr>
        <p:spPr>
          <a:xfrm>
            <a:off x="7087972" y="1769364"/>
            <a:ext cx="157277" cy="157277"/>
          </a:xfrm>
          <a:prstGeom prst="rect">
            <a:avLst/>
          </a:prstGeom>
          <a:solidFill>
            <a:srgbClr val="E5E7EB"/>
          </a:solidFill>
          <a:ln>
            <a:noFill/>
          </a:ln>
        </p:spPr>
        <p:txBody>
          <a:bodyPr rtlCol="0" anchor="ctr"/>
          <a:lstStyle/>
          <a:p>
            <a:pPr algn="ctr"/>
          </a:p>
        </p:txBody>
      </p:sp>
      <p:sp>
        <p:nvSpPr>
          <p:cNvPr id="259" name="Rectangle 258"/>
          <p:cNvSpPr/>
          <p:nvPr/>
        </p:nvSpPr>
        <p:spPr>
          <a:xfrm>
            <a:off x="7087972" y="1572768"/>
            <a:ext cx="157277" cy="157277"/>
          </a:xfrm>
          <a:prstGeom prst="rect">
            <a:avLst/>
          </a:prstGeom>
          <a:solidFill>
            <a:srgbClr val="E5E7EB"/>
          </a:solidFill>
          <a:ln>
            <a:noFill/>
          </a:ln>
        </p:spPr>
        <p:txBody>
          <a:bodyPr rtlCol="0" anchor="ctr"/>
          <a:lstStyle/>
          <a:p>
            <a:pPr algn="ctr"/>
          </a:p>
        </p:txBody>
      </p:sp>
      <p:sp>
        <p:nvSpPr>
          <p:cNvPr id="260" name="Rectangle 259"/>
          <p:cNvSpPr/>
          <p:nvPr/>
        </p:nvSpPr>
        <p:spPr>
          <a:xfrm>
            <a:off x="7284568" y="3342132"/>
            <a:ext cx="157277" cy="157277"/>
          </a:xfrm>
          <a:prstGeom prst="rect">
            <a:avLst/>
          </a:prstGeom>
          <a:solidFill>
            <a:srgbClr val="E5E7EB"/>
          </a:solidFill>
          <a:ln>
            <a:noFill/>
          </a:ln>
        </p:spPr>
        <p:txBody>
          <a:bodyPr rtlCol="0" anchor="ctr"/>
          <a:lstStyle/>
          <a:p>
            <a:pPr algn="ctr"/>
          </a:p>
        </p:txBody>
      </p:sp>
      <p:sp>
        <p:nvSpPr>
          <p:cNvPr id="261" name="Rectangle 260"/>
          <p:cNvSpPr/>
          <p:nvPr/>
        </p:nvSpPr>
        <p:spPr>
          <a:xfrm>
            <a:off x="7284568" y="3145536"/>
            <a:ext cx="157277" cy="157277"/>
          </a:xfrm>
          <a:prstGeom prst="rect">
            <a:avLst/>
          </a:prstGeom>
          <a:solidFill>
            <a:srgbClr val="E5E7EB"/>
          </a:solidFill>
          <a:ln>
            <a:noFill/>
          </a:ln>
        </p:spPr>
        <p:txBody>
          <a:bodyPr rtlCol="0" anchor="ctr"/>
          <a:lstStyle/>
          <a:p>
            <a:pPr algn="ctr"/>
          </a:p>
        </p:txBody>
      </p:sp>
      <p:sp>
        <p:nvSpPr>
          <p:cNvPr id="262" name="Rectangle 261"/>
          <p:cNvSpPr/>
          <p:nvPr/>
        </p:nvSpPr>
        <p:spPr>
          <a:xfrm>
            <a:off x="7284568" y="2948940"/>
            <a:ext cx="157277" cy="157277"/>
          </a:xfrm>
          <a:prstGeom prst="rect">
            <a:avLst/>
          </a:prstGeom>
          <a:solidFill>
            <a:srgbClr val="E5E7EB"/>
          </a:solidFill>
          <a:ln>
            <a:noFill/>
          </a:ln>
        </p:spPr>
        <p:txBody>
          <a:bodyPr rtlCol="0" anchor="ctr"/>
          <a:lstStyle/>
          <a:p>
            <a:pPr algn="ctr"/>
          </a:p>
        </p:txBody>
      </p:sp>
      <p:sp>
        <p:nvSpPr>
          <p:cNvPr id="263" name="Rectangle 262"/>
          <p:cNvSpPr/>
          <p:nvPr/>
        </p:nvSpPr>
        <p:spPr>
          <a:xfrm>
            <a:off x="7284568" y="2752344"/>
            <a:ext cx="157277" cy="157277"/>
          </a:xfrm>
          <a:prstGeom prst="rect">
            <a:avLst/>
          </a:prstGeom>
          <a:solidFill>
            <a:srgbClr val="E5E7EB"/>
          </a:solidFill>
          <a:ln>
            <a:noFill/>
          </a:ln>
        </p:spPr>
        <p:txBody>
          <a:bodyPr rtlCol="0" anchor="ctr"/>
          <a:lstStyle/>
          <a:p>
            <a:pPr algn="ctr"/>
          </a:p>
        </p:txBody>
      </p:sp>
      <p:sp>
        <p:nvSpPr>
          <p:cNvPr id="264" name="Rectangle 263"/>
          <p:cNvSpPr/>
          <p:nvPr/>
        </p:nvSpPr>
        <p:spPr>
          <a:xfrm>
            <a:off x="7284568" y="2555748"/>
            <a:ext cx="157277" cy="157277"/>
          </a:xfrm>
          <a:prstGeom prst="rect">
            <a:avLst/>
          </a:prstGeom>
          <a:solidFill>
            <a:srgbClr val="E5E7EB"/>
          </a:solidFill>
          <a:ln>
            <a:noFill/>
          </a:ln>
        </p:spPr>
        <p:txBody>
          <a:bodyPr rtlCol="0" anchor="ctr"/>
          <a:lstStyle/>
          <a:p>
            <a:pPr algn="ctr"/>
          </a:p>
        </p:txBody>
      </p:sp>
      <p:sp>
        <p:nvSpPr>
          <p:cNvPr id="265" name="Rectangle 264"/>
          <p:cNvSpPr/>
          <p:nvPr/>
        </p:nvSpPr>
        <p:spPr>
          <a:xfrm>
            <a:off x="7284568" y="2359152"/>
            <a:ext cx="157277" cy="157277"/>
          </a:xfrm>
          <a:prstGeom prst="rect">
            <a:avLst/>
          </a:prstGeom>
          <a:solidFill>
            <a:srgbClr val="E5E7EB"/>
          </a:solidFill>
          <a:ln>
            <a:noFill/>
          </a:ln>
        </p:spPr>
        <p:txBody>
          <a:bodyPr rtlCol="0" anchor="ctr"/>
          <a:lstStyle/>
          <a:p>
            <a:pPr algn="ctr"/>
          </a:p>
        </p:txBody>
      </p:sp>
      <p:sp>
        <p:nvSpPr>
          <p:cNvPr id="266" name="Rectangle 265"/>
          <p:cNvSpPr/>
          <p:nvPr/>
        </p:nvSpPr>
        <p:spPr>
          <a:xfrm>
            <a:off x="7284568" y="2162556"/>
            <a:ext cx="157277" cy="157277"/>
          </a:xfrm>
          <a:prstGeom prst="rect">
            <a:avLst/>
          </a:prstGeom>
          <a:solidFill>
            <a:srgbClr val="E5E7EB"/>
          </a:solidFill>
          <a:ln>
            <a:noFill/>
          </a:ln>
        </p:spPr>
        <p:txBody>
          <a:bodyPr rtlCol="0" anchor="ctr"/>
          <a:lstStyle/>
          <a:p>
            <a:pPr algn="ctr"/>
          </a:p>
        </p:txBody>
      </p:sp>
      <p:sp>
        <p:nvSpPr>
          <p:cNvPr id="267" name="Rectangle 266"/>
          <p:cNvSpPr/>
          <p:nvPr/>
        </p:nvSpPr>
        <p:spPr>
          <a:xfrm>
            <a:off x="7284568" y="1965960"/>
            <a:ext cx="157277" cy="157277"/>
          </a:xfrm>
          <a:prstGeom prst="rect">
            <a:avLst/>
          </a:prstGeom>
          <a:solidFill>
            <a:srgbClr val="E5E7EB"/>
          </a:solidFill>
          <a:ln>
            <a:noFill/>
          </a:ln>
        </p:spPr>
        <p:txBody>
          <a:bodyPr rtlCol="0" anchor="ctr"/>
          <a:lstStyle/>
          <a:p>
            <a:pPr algn="ctr"/>
          </a:p>
        </p:txBody>
      </p:sp>
      <p:sp>
        <p:nvSpPr>
          <p:cNvPr id="268" name="Rectangle 267"/>
          <p:cNvSpPr/>
          <p:nvPr/>
        </p:nvSpPr>
        <p:spPr>
          <a:xfrm>
            <a:off x="7284568" y="1769364"/>
            <a:ext cx="157277" cy="157277"/>
          </a:xfrm>
          <a:prstGeom prst="rect">
            <a:avLst/>
          </a:prstGeom>
          <a:solidFill>
            <a:srgbClr val="E5E7EB"/>
          </a:solidFill>
          <a:ln>
            <a:noFill/>
          </a:ln>
        </p:spPr>
        <p:txBody>
          <a:bodyPr rtlCol="0" anchor="ctr"/>
          <a:lstStyle/>
          <a:p>
            <a:pPr algn="ctr"/>
          </a:p>
        </p:txBody>
      </p:sp>
      <p:sp>
        <p:nvSpPr>
          <p:cNvPr id="269" name="Rectangle 268"/>
          <p:cNvSpPr/>
          <p:nvPr/>
        </p:nvSpPr>
        <p:spPr>
          <a:xfrm>
            <a:off x="7284568" y="1572768"/>
            <a:ext cx="157277" cy="157277"/>
          </a:xfrm>
          <a:prstGeom prst="rect">
            <a:avLst/>
          </a:prstGeom>
          <a:solidFill>
            <a:srgbClr val="E5E7EB"/>
          </a:solidFill>
          <a:ln>
            <a:noFill/>
          </a:ln>
        </p:spPr>
        <p:txBody>
          <a:bodyPr rtlCol="0" anchor="ctr"/>
          <a:lstStyle/>
          <a:p>
            <a:pPr algn="ctr"/>
          </a:p>
        </p:txBody>
      </p:sp>
      <p:sp>
        <p:nvSpPr>
          <p:cNvPr id="270" name="Rectangle 269"/>
          <p:cNvSpPr/>
          <p:nvPr/>
        </p:nvSpPr>
        <p:spPr>
          <a:xfrm>
            <a:off x="7481164" y="3342132"/>
            <a:ext cx="157277" cy="157277"/>
          </a:xfrm>
          <a:prstGeom prst="rect">
            <a:avLst/>
          </a:prstGeom>
          <a:solidFill>
            <a:srgbClr val="E5E7EB"/>
          </a:solidFill>
          <a:ln>
            <a:noFill/>
          </a:ln>
        </p:spPr>
        <p:txBody>
          <a:bodyPr rtlCol="0" anchor="ctr"/>
          <a:lstStyle/>
          <a:p>
            <a:pPr algn="ctr"/>
          </a:p>
        </p:txBody>
      </p:sp>
      <p:sp>
        <p:nvSpPr>
          <p:cNvPr id="271" name="Rectangle 270"/>
          <p:cNvSpPr/>
          <p:nvPr/>
        </p:nvSpPr>
        <p:spPr>
          <a:xfrm>
            <a:off x="7481164" y="3145536"/>
            <a:ext cx="157277" cy="157277"/>
          </a:xfrm>
          <a:prstGeom prst="rect">
            <a:avLst/>
          </a:prstGeom>
          <a:solidFill>
            <a:srgbClr val="E5E7EB"/>
          </a:solidFill>
          <a:ln>
            <a:noFill/>
          </a:ln>
        </p:spPr>
        <p:txBody>
          <a:bodyPr rtlCol="0" anchor="ctr"/>
          <a:lstStyle/>
          <a:p>
            <a:pPr algn="ctr"/>
          </a:p>
        </p:txBody>
      </p:sp>
      <p:sp>
        <p:nvSpPr>
          <p:cNvPr id="272" name="Rectangle 271"/>
          <p:cNvSpPr/>
          <p:nvPr/>
        </p:nvSpPr>
        <p:spPr>
          <a:xfrm>
            <a:off x="7481164" y="2948940"/>
            <a:ext cx="157277" cy="157277"/>
          </a:xfrm>
          <a:prstGeom prst="rect">
            <a:avLst/>
          </a:prstGeom>
          <a:solidFill>
            <a:srgbClr val="E5E7EB"/>
          </a:solidFill>
          <a:ln>
            <a:noFill/>
          </a:ln>
        </p:spPr>
        <p:txBody>
          <a:bodyPr rtlCol="0" anchor="ctr"/>
          <a:lstStyle/>
          <a:p>
            <a:pPr algn="ctr"/>
          </a:p>
        </p:txBody>
      </p:sp>
      <p:sp>
        <p:nvSpPr>
          <p:cNvPr id="273" name="Rectangle 272"/>
          <p:cNvSpPr/>
          <p:nvPr/>
        </p:nvSpPr>
        <p:spPr>
          <a:xfrm>
            <a:off x="7481164" y="2752344"/>
            <a:ext cx="157277" cy="157277"/>
          </a:xfrm>
          <a:prstGeom prst="rect">
            <a:avLst/>
          </a:prstGeom>
          <a:solidFill>
            <a:srgbClr val="E5E7EB"/>
          </a:solidFill>
          <a:ln>
            <a:noFill/>
          </a:ln>
        </p:spPr>
        <p:txBody>
          <a:bodyPr rtlCol="0" anchor="ctr"/>
          <a:lstStyle/>
          <a:p>
            <a:pPr algn="ctr"/>
          </a:p>
        </p:txBody>
      </p:sp>
      <p:sp>
        <p:nvSpPr>
          <p:cNvPr id="274" name="Rectangle 273"/>
          <p:cNvSpPr/>
          <p:nvPr/>
        </p:nvSpPr>
        <p:spPr>
          <a:xfrm>
            <a:off x="7481164" y="2555748"/>
            <a:ext cx="157277" cy="157277"/>
          </a:xfrm>
          <a:prstGeom prst="rect">
            <a:avLst/>
          </a:prstGeom>
          <a:solidFill>
            <a:srgbClr val="E5E7EB"/>
          </a:solidFill>
          <a:ln>
            <a:noFill/>
          </a:ln>
        </p:spPr>
        <p:txBody>
          <a:bodyPr rtlCol="0" anchor="ctr"/>
          <a:lstStyle/>
          <a:p>
            <a:pPr algn="ctr"/>
          </a:p>
        </p:txBody>
      </p:sp>
      <p:sp>
        <p:nvSpPr>
          <p:cNvPr id="275" name="Rectangle 274"/>
          <p:cNvSpPr/>
          <p:nvPr/>
        </p:nvSpPr>
        <p:spPr>
          <a:xfrm>
            <a:off x="7481164" y="2359152"/>
            <a:ext cx="157277" cy="157277"/>
          </a:xfrm>
          <a:prstGeom prst="rect">
            <a:avLst/>
          </a:prstGeom>
          <a:solidFill>
            <a:srgbClr val="E5E7EB"/>
          </a:solidFill>
          <a:ln>
            <a:noFill/>
          </a:ln>
        </p:spPr>
        <p:txBody>
          <a:bodyPr rtlCol="0" anchor="ctr"/>
          <a:lstStyle/>
          <a:p>
            <a:pPr algn="ctr"/>
          </a:p>
        </p:txBody>
      </p:sp>
      <p:sp>
        <p:nvSpPr>
          <p:cNvPr id="276" name="Rectangle 275"/>
          <p:cNvSpPr/>
          <p:nvPr/>
        </p:nvSpPr>
        <p:spPr>
          <a:xfrm>
            <a:off x="7481164" y="2162556"/>
            <a:ext cx="157277" cy="157277"/>
          </a:xfrm>
          <a:prstGeom prst="rect">
            <a:avLst/>
          </a:prstGeom>
          <a:solidFill>
            <a:srgbClr val="E5E7EB"/>
          </a:solidFill>
          <a:ln>
            <a:noFill/>
          </a:ln>
        </p:spPr>
        <p:txBody>
          <a:bodyPr rtlCol="0" anchor="ctr"/>
          <a:lstStyle/>
          <a:p>
            <a:pPr algn="ctr"/>
          </a:p>
        </p:txBody>
      </p:sp>
      <p:sp>
        <p:nvSpPr>
          <p:cNvPr id="277" name="Rectangle 276"/>
          <p:cNvSpPr/>
          <p:nvPr/>
        </p:nvSpPr>
        <p:spPr>
          <a:xfrm>
            <a:off x="7481164" y="1965960"/>
            <a:ext cx="157277" cy="157277"/>
          </a:xfrm>
          <a:prstGeom prst="rect">
            <a:avLst/>
          </a:prstGeom>
          <a:solidFill>
            <a:srgbClr val="E5E7EB"/>
          </a:solidFill>
          <a:ln>
            <a:noFill/>
          </a:ln>
        </p:spPr>
        <p:txBody>
          <a:bodyPr rtlCol="0" anchor="ctr"/>
          <a:lstStyle/>
          <a:p>
            <a:pPr algn="ctr"/>
          </a:p>
        </p:txBody>
      </p:sp>
      <p:sp>
        <p:nvSpPr>
          <p:cNvPr id="278" name="Rectangle 277"/>
          <p:cNvSpPr/>
          <p:nvPr/>
        </p:nvSpPr>
        <p:spPr>
          <a:xfrm>
            <a:off x="7481164" y="1769364"/>
            <a:ext cx="157277" cy="157277"/>
          </a:xfrm>
          <a:prstGeom prst="rect">
            <a:avLst/>
          </a:prstGeom>
          <a:solidFill>
            <a:srgbClr val="E5E7EB"/>
          </a:solidFill>
          <a:ln>
            <a:noFill/>
          </a:ln>
        </p:spPr>
        <p:txBody>
          <a:bodyPr rtlCol="0" anchor="ctr"/>
          <a:lstStyle/>
          <a:p>
            <a:pPr algn="ctr"/>
          </a:p>
        </p:txBody>
      </p:sp>
      <p:sp>
        <p:nvSpPr>
          <p:cNvPr id="279" name="Rectangle 278"/>
          <p:cNvSpPr/>
          <p:nvPr/>
        </p:nvSpPr>
        <p:spPr>
          <a:xfrm>
            <a:off x="7481164" y="1572768"/>
            <a:ext cx="157277" cy="157277"/>
          </a:xfrm>
          <a:prstGeom prst="rect">
            <a:avLst/>
          </a:prstGeom>
          <a:solidFill>
            <a:srgbClr val="E5E7EB"/>
          </a:solidFill>
          <a:ln>
            <a:noFill/>
          </a:ln>
        </p:spPr>
        <p:txBody>
          <a:bodyPr rtlCol="0" anchor="ctr"/>
          <a:lstStyle/>
          <a:p>
            <a:pPr algn="ctr"/>
          </a:p>
        </p:txBody>
      </p:sp>
      <p:sp>
        <p:nvSpPr>
          <p:cNvPr id="280" name="Rectangle 279"/>
          <p:cNvSpPr/>
          <p:nvPr/>
        </p:nvSpPr>
        <p:spPr>
          <a:xfrm>
            <a:off x="7677760" y="3342132"/>
            <a:ext cx="157277" cy="157277"/>
          </a:xfrm>
          <a:prstGeom prst="rect">
            <a:avLst/>
          </a:prstGeom>
          <a:solidFill>
            <a:srgbClr val="E5E7EB"/>
          </a:solidFill>
          <a:ln>
            <a:noFill/>
          </a:ln>
        </p:spPr>
        <p:txBody>
          <a:bodyPr rtlCol="0" anchor="ctr"/>
          <a:lstStyle/>
          <a:p>
            <a:pPr algn="ctr"/>
          </a:p>
        </p:txBody>
      </p:sp>
      <p:sp>
        <p:nvSpPr>
          <p:cNvPr id="281" name="Rectangle 280"/>
          <p:cNvSpPr/>
          <p:nvPr/>
        </p:nvSpPr>
        <p:spPr>
          <a:xfrm>
            <a:off x="7677760" y="3145536"/>
            <a:ext cx="157277" cy="157277"/>
          </a:xfrm>
          <a:prstGeom prst="rect">
            <a:avLst/>
          </a:prstGeom>
          <a:solidFill>
            <a:srgbClr val="E5E7EB"/>
          </a:solidFill>
          <a:ln>
            <a:noFill/>
          </a:ln>
        </p:spPr>
        <p:txBody>
          <a:bodyPr rtlCol="0" anchor="ctr"/>
          <a:lstStyle/>
          <a:p>
            <a:pPr algn="ctr"/>
          </a:p>
        </p:txBody>
      </p:sp>
      <p:sp>
        <p:nvSpPr>
          <p:cNvPr id="282" name="Rectangle 281"/>
          <p:cNvSpPr/>
          <p:nvPr/>
        </p:nvSpPr>
        <p:spPr>
          <a:xfrm>
            <a:off x="7677760" y="2948940"/>
            <a:ext cx="157277" cy="157277"/>
          </a:xfrm>
          <a:prstGeom prst="rect">
            <a:avLst/>
          </a:prstGeom>
          <a:solidFill>
            <a:srgbClr val="E5E7EB"/>
          </a:solidFill>
          <a:ln>
            <a:noFill/>
          </a:ln>
        </p:spPr>
        <p:txBody>
          <a:bodyPr rtlCol="0" anchor="ctr"/>
          <a:lstStyle/>
          <a:p>
            <a:pPr algn="ctr"/>
          </a:p>
        </p:txBody>
      </p:sp>
      <p:sp>
        <p:nvSpPr>
          <p:cNvPr id="283" name="Rectangle 282"/>
          <p:cNvSpPr/>
          <p:nvPr/>
        </p:nvSpPr>
        <p:spPr>
          <a:xfrm>
            <a:off x="7677760" y="2752344"/>
            <a:ext cx="157277" cy="157277"/>
          </a:xfrm>
          <a:prstGeom prst="rect">
            <a:avLst/>
          </a:prstGeom>
          <a:solidFill>
            <a:srgbClr val="E5E7EB"/>
          </a:solidFill>
          <a:ln>
            <a:noFill/>
          </a:ln>
        </p:spPr>
        <p:txBody>
          <a:bodyPr rtlCol="0" anchor="ctr"/>
          <a:lstStyle/>
          <a:p>
            <a:pPr algn="ctr"/>
          </a:p>
        </p:txBody>
      </p:sp>
      <p:sp>
        <p:nvSpPr>
          <p:cNvPr id="284" name="Rectangle 283"/>
          <p:cNvSpPr/>
          <p:nvPr/>
        </p:nvSpPr>
        <p:spPr>
          <a:xfrm>
            <a:off x="7677760" y="2555748"/>
            <a:ext cx="157277" cy="157277"/>
          </a:xfrm>
          <a:prstGeom prst="rect">
            <a:avLst/>
          </a:prstGeom>
          <a:solidFill>
            <a:srgbClr val="E5E7EB"/>
          </a:solidFill>
          <a:ln>
            <a:noFill/>
          </a:ln>
        </p:spPr>
        <p:txBody>
          <a:bodyPr rtlCol="0" anchor="ctr"/>
          <a:lstStyle/>
          <a:p>
            <a:pPr algn="ctr"/>
          </a:p>
        </p:txBody>
      </p:sp>
      <p:sp>
        <p:nvSpPr>
          <p:cNvPr id="285" name="Rectangle 284"/>
          <p:cNvSpPr/>
          <p:nvPr/>
        </p:nvSpPr>
        <p:spPr>
          <a:xfrm>
            <a:off x="7677760" y="2359152"/>
            <a:ext cx="157277" cy="157277"/>
          </a:xfrm>
          <a:prstGeom prst="rect">
            <a:avLst/>
          </a:prstGeom>
          <a:solidFill>
            <a:srgbClr val="E5E7EB"/>
          </a:solidFill>
          <a:ln>
            <a:noFill/>
          </a:ln>
        </p:spPr>
        <p:txBody>
          <a:bodyPr rtlCol="0" anchor="ctr"/>
          <a:lstStyle/>
          <a:p>
            <a:pPr algn="ctr"/>
          </a:p>
        </p:txBody>
      </p:sp>
      <p:sp>
        <p:nvSpPr>
          <p:cNvPr id="286" name="Rectangle 285"/>
          <p:cNvSpPr/>
          <p:nvPr/>
        </p:nvSpPr>
        <p:spPr>
          <a:xfrm>
            <a:off x="7677760" y="2162556"/>
            <a:ext cx="157277" cy="157277"/>
          </a:xfrm>
          <a:prstGeom prst="rect">
            <a:avLst/>
          </a:prstGeom>
          <a:solidFill>
            <a:srgbClr val="E5E7EB"/>
          </a:solidFill>
          <a:ln>
            <a:noFill/>
          </a:ln>
        </p:spPr>
        <p:txBody>
          <a:bodyPr rtlCol="0" anchor="ctr"/>
          <a:lstStyle/>
          <a:p>
            <a:pPr algn="ctr"/>
          </a:p>
        </p:txBody>
      </p:sp>
      <p:sp>
        <p:nvSpPr>
          <p:cNvPr id="287" name="Rectangle 286"/>
          <p:cNvSpPr/>
          <p:nvPr/>
        </p:nvSpPr>
        <p:spPr>
          <a:xfrm>
            <a:off x="7677760" y="1965960"/>
            <a:ext cx="157277" cy="157277"/>
          </a:xfrm>
          <a:prstGeom prst="rect">
            <a:avLst/>
          </a:prstGeom>
          <a:solidFill>
            <a:srgbClr val="E5E7EB"/>
          </a:solidFill>
          <a:ln>
            <a:noFill/>
          </a:ln>
        </p:spPr>
        <p:txBody>
          <a:bodyPr rtlCol="0" anchor="ctr"/>
          <a:lstStyle/>
          <a:p>
            <a:pPr algn="ctr"/>
          </a:p>
        </p:txBody>
      </p:sp>
      <p:sp>
        <p:nvSpPr>
          <p:cNvPr id="288" name="Rectangle 287"/>
          <p:cNvSpPr/>
          <p:nvPr/>
        </p:nvSpPr>
        <p:spPr>
          <a:xfrm>
            <a:off x="7677760" y="1769364"/>
            <a:ext cx="157277" cy="157277"/>
          </a:xfrm>
          <a:prstGeom prst="rect">
            <a:avLst/>
          </a:prstGeom>
          <a:solidFill>
            <a:srgbClr val="E5E7EB"/>
          </a:solidFill>
          <a:ln>
            <a:noFill/>
          </a:ln>
        </p:spPr>
        <p:txBody>
          <a:bodyPr rtlCol="0" anchor="ctr"/>
          <a:lstStyle/>
          <a:p>
            <a:pPr algn="ctr"/>
          </a:p>
        </p:txBody>
      </p:sp>
      <p:sp>
        <p:nvSpPr>
          <p:cNvPr id="289" name="Rectangle 288"/>
          <p:cNvSpPr/>
          <p:nvPr/>
        </p:nvSpPr>
        <p:spPr>
          <a:xfrm>
            <a:off x="7677760" y="1572768"/>
            <a:ext cx="157277" cy="157277"/>
          </a:xfrm>
          <a:prstGeom prst="rect">
            <a:avLst/>
          </a:prstGeom>
          <a:solidFill>
            <a:srgbClr val="E5E7EB"/>
          </a:solidFill>
          <a:ln>
            <a:noFill/>
          </a:ln>
        </p:spPr>
        <p:txBody>
          <a:bodyPr rtlCol="0" anchor="ctr"/>
          <a:lstStyle/>
          <a:p>
            <a:pPr algn="ctr"/>
          </a:p>
        </p:txBody>
      </p:sp>
      <p:sp>
        <p:nvSpPr>
          <p:cNvPr id="290" name="Rectangle 289"/>
          <p:cNvSpPr/>
          <p:nvPr/>
        </p:nvSpPr>
        <p:spPr>
          <a:xfrm>
            <a:off x="7874356" y="3342132"/>
            <a:ext cx="157277" cy="157277"/>
          </a:xfrm>
          <a:prstGeom prst="rect">
            <a:avLst/>
          </a:prstGeom>
          <a:solidFill>
            <a:srgbClr val="E5E7EB"/>
          </a:solidFill>
          <a:ln>
            <a:noFill/>
          </a:ln>
        </p:spPr>
        <p:txBody>
          <a:bodyPr rtlCol="0" anchor="ctr"/>
          <a:lstStyle/>
          <a:p>
            <a:pPr algn="ctr"/>
          </a:p>
        </p:txBody>
      </p:sp>
      <p:sp>
        <p:nvSpPr>
          <p:cNvPr id="291" name="Rectangle 290"/>
          <p:cNvSpPr/>
          <p:nvPr/>
        </p:nvSpPr>
        <p:spPr>
          <a:xfrm>
            <a:off x="7874356" y="3145536"/>
            <a:ext cx="157277" cy="157277"/>
          </a:xfrm>
          <a:prstGeom prst="rect">
            <a:avLst/>
          </a:prstGeom>
          <a:solidFill>
            <a:srgbClr val="E5E7EB"/>
          </a:solidFill>
          <a:ln>
            <a:noFill/>
          </a:ln>
        </p:spPr>
        <p:txBody>
          <a:bodyPr rtlCol="0" anchor="ctr"/>
          <a:lstStyle/>
          <a:p>
            <a:pPr algn="ctr"/>
          </a:p>
        </p:txBody>
      </p:sp>
      <p:sp>
        <p:nvSpPr>
          <p:cNvPr id="292" name="Rectangle 291"/>
          <p:cNvSpPr/>
          <p:nvPr/>
        </p:nvSpPr>
        <p:spPr>
          <a:xfrm>
            <a:off x="7874356" y="2948940"/>
            <a:ext cx="157277" cy="157277"/>
          </a:xfrm>
          <a:prstGeom prst="rect">
            <a:avLst/>
          </a:prstGeom>
          <a:solidFill>
            <a:srgbClr val="E5E7EB"/>
          </a:solidFill>
          <a:ln>
            <a:noFill/>
          </a:ln>
        </p:spPr>
        <p:txBody>
          <a:bodyPr rtlCol="0" anchor="ctr"/>
          <a:lstStyle/>
          <a:p>
            <a:pPr algn="ctr"/>
          </a:p>
        </p:txBody>
      </p:sp>
      <p:sp>
        <p:nvSpPr>
          <p:cNvPr id="293" name="Rectangle 292"/>
          <p:cNvSpPr/>
          <p:nvPr/>
        </p:nvSpPr>
        <p:spPr>
          <a:xfrm>
            <a:off x="7874356" y="2752344"/>
            <a:ext cx="157277" cy="157277"/>
          </a:xfrm>
          <a:prstGeom prst="rect">
            <a:avLst/>
          </a:prstGeom>
          <a:solidFill>
            <a:srgbClr val="E5E7EB"/>
          </a:solidFill>
          <a:ln>
            <a:noFill/>
          </a:ln>
        </p:spPr>
        <p:txBody>
          <a:bodyPr rtlCol="0" anchor="ctr"/>
          <a:lstStyle/>
          <a:p>
            <a:pPr algn="ctr"/>
          </a:p>
        </p:txBody>
      </p:sp>
      <p:sp>
        <p:nvSpPr>
          <p:cNvPr id="294" name="Rectangle 293"/>
          <p:cNvSpPr/>
          <p:nvPr/>
        </p:nvSpPr>
        <p:spPr>
          <a:xfrm>
            <a:off x="7874356" y="2555748"/>
            <a:ext cx="157277" cy="157277"/>
          </a:xfrm>
          <a:prstGeom prst="rect">
            <a:avLst/>
          </a:prstGeom>
          <a:solidFill>
            <a:srgbClr val="E5E7EB"/>
          </a:solidFill>
          <a:ln>
            <a:noFill/>
          </a:ln>
        </p:spPr>
        <p:txBody>
          <a:bodyPr rtlCol="0" anchor="ctr"/>
          <a:lstStyle/>
          <a:p>
            <a:pPr algn="ctr"/>
          </a:p>
        </p:txBody>
      </p:sp>
      <p:sp>
        <p:nvSpPr>
          <p:cNvPr id="295" name="Rectangle 294"/>
          <p:cNvSpPr/>
          <p:nvPr/>
        </p:nvSpPr>
        <p:spPr>
          <a:xfrm>
            <a:off x="7874356" y="2359152"/>
            <a:ext cx="157277" cy="157277"/>
          </a:xfrm>
          <a:prstGeom prst="rect">
            <a:avLst/>
          </a:prstGeom>
          <a:solidFill>
            <a:srgbClr val="E5E7EB"/>
          </a:solidFill>
          <a:ln>
            <a:noFill/>
          </a:ln>
        </p:spPr>
        <p:txBody>
          <a:bodyPr rtlCol="0" anchor="ctr"/>
          <a:lstStyle/>
          <a:p>
            <a:pPr algn="ctr"/>
          </a:p>
        </p:txBody>
      </p:sp>
      <p:sp>
        <p:nvSpPr>
          <p:cNvPr id="296" name="Rectangle 295"/>
          <p:cNvSpPr/>
          <p:nvPr/>
        </p:nvSpPr>
        <p:spPr>
          <a:xfrm>
            <a:off x="7874356" y="2162556"/>
            <a:ext cx="157277" cy="157277"/>
          </a:xfrm>
          <a:prstGeom prst="rect">
            <a:avLst/>
          </a:prstGeom>
          <a:solidFill>
            <a:srgbClr val="E5E7EB"/>
          </a:solidFill>
          <a:ln>
            <a:noFill/>
          </a:ln>
        </p:spPr>
        <p:txBody>
          <a:bodyPr rtlCol="0" anchor="ctr"/>
          <a:lstStyle/>
          <a:p>
            <a:pPr algn="ctr"/>
          </a:p>
        </p:txBody>
      </p:sp>
      <p:sp>
        <p:nvSpPr>
          <p:cNvPr id="297" name="Rectangle 296"/>
          <p:cNvSpPr/>
          <p:nvPr/>
        </p:nvSpPr>
        <p:spPr>
          <a:xfrm>
            <a:off x="7874356" y="1965960"/>
            <a:ext cx="157277" cy="157277"/>
          </a:xfrm>
          <a:prstGeom prst="rect">
            <a:avLst/>
          </a:prstGeom>
          <a:solidFill>
            <a:srgbClr val="E5E7EB"/>
          </a:solidFill>
          <a:ln>
            <a:noFill/>
          </a:ln>
        </p:spPr>
        <p:txBody>
          <a:bodyPr rtlCol="0" anchor="ctr"/>
          <a:lstStyle/>
          <a:p>
            <a:pPr algn="ctr"/>
          </a:p>
        </p:txBody>
      </p:sp>
      <p:sp>
        <p:nvSpPr>
          <p:cNvPr id="298" name="Rectangle 297"/>
          <p:cNvSpPr/>
          <p:nvPr/>
        </p:nvSpPr>
        <p:spPr>
          <a:xfrm>
            <a:off x="7874356" y="1769364"/>
            <a:ext cx="157277" cy="157277"/>
          </a:xfrm>
          <a:prstGeom prst="rect">
            <a:avLst/>
          </a:prstGeom>
          <a:solidFill>
            <a:srgbClr val="E5E7EB"/>
          </a:solidFill>
          <a:ln>
            <a:noFill/>
          </a:ln>
        </p:spPr>
        <p:txBody>
          <a:bodyPr rtlCol="0" anchor="ctr"/>
          <a:lstStyle/>
          <a:p>
            <a:pPr algn="ctr"/>
          </a:p>
        </p:txBody>
      </p:sp>
      <p:sp>
        <p:nvSpPr>
          <p:cNvPr id="299" name="Rectangle 298"/>
          <p:cNvSpPr/>
          <p:nvPr/>
        </p:nvSpPr>
        <p:spPr>
          <a:xfrm>
            <a:off x="7874356" y="1572768"/>
            <a:ext cx="157277" cy="157277"/>
          </a:xfrm>
          <a:prstGeom prst="rect">
            <a:avLst/>
          </a:prstGeom>
          <a:solidFill>
            <a:srgbClr val="E5E7EB"/>
          </a:solidFill>
          <a:ln>
            <a:noFill/>
          </a:ln>
        </p:spPr>
        <p:txBody>
          <a:bodyPr rtlCol="0" anchor="ctr"/>
          <a:lstStyle/>
          <a:p>
            <a:pPr algn="ctr"/>
          </a:p>
        </p:txBody>
      </p:sp>
      <p:sp>
        <p:nvSpPr>
          <p:cNvPr id="300" name="Rectangle 299"/>
          <p:cNvSpPr/>
          <p:nvPr/>
        </p:nvSpPr>
        <p:spPr>
          <a:xfrm>
            <a:off x="8070952" y="3342132"/>
            <a:ext cx="157277" cy="157277"/>
          </a:xfrm>
          <a:prstGeom prst="rect">
            <a:avLst/>
          </a:prstGeom>
          <a:solidFill>
            <a:srgbClr val="E5E7EB"/>
          </a:solidFill>
          <a:ln>
            <a:noFill/>
          </a:ln>
        </p:spPr>
        <p:txBody>
          <a:bodyPr rtlCol="0" anchor="ctr"/>
          <a:lstStyle/>
          <a:p>
            <a:pPr algn="ctr"/>
          </a:p>
        </p:txBody>
      </p:sp>
      <p:sp>
        <p:nvSpPr>
          <p:cNvPr id="301" name="Rectangle 300"/>
          <p:cNvSpPr/>
          <p:nvPr/>
        </p:nvSpPr>
        <p:spPr>
          <a:xfrm>
            <a:off x="8070952" y="3145536"/>
            <a:ext cx="157277" cy="157277"/>
          </a:xfrm>
          <a:prstGeom prst="rect">
            <a:avLst/>
          </a:prstGeom>
          <a:solidFill>
            <a:srgbClr val="E5E7EB"/>
          </a:solidFill>
          <a:ln>
            <a:noFill/>
          </a:ln>
        </p:spPr>
        <p:txBody>
          <a:bodyPr rtlCol="0" anchor="ctr"/>
          <a:lstStyle/>
          <a:p>
            <a:pPr algn="ctr"/>
          </a:p>
        </p:txBody>
      </p:sp>
      <p:sp>
        <p:nvSpPr>
          <p:cNvPr id="302" name="Rectangle 301"/>
          <p:cNvSpPr/>
          <p:nvPr/>
        </p:nvSpPr>
        <p:spPr>
          <a:xfrm>
            <a:off x="8070952" y="2948940"/>
            <a:ext cx="157277" cy="157277"/>
          </a:xfrm>
          <a:prstGeom prst="rect">
            <a:avLst/>
          </a:prstGeom>
          <a:solidFill>
            <a:srgbClr val="E5E7EB"/>
          </a:solidFill>
          <a:ln>
            <a:noFill/>
          </a:ln>
        </p:spPr>
        <p:txBody>
          <a:bodyPr rtlCol="0" anchor="ctr"/>
          <a:lstStyle/>
          <a:p>
            <a:pPr algn="ctr"/>
          </a:p>
        </p:txBody>
      </p:sp>
      <p:sp>
        <p:nvSpPr>
          <p:cNvPr id="303" name="Rectangle 302"/>
          <p:cNvSpPr/>
          <p:nvPr/>
        </p:nvSpPr>
        <p:spPr>
          <a:xfrm>
            <a:off x="8070952" y="2752344"/>
            <a:ext cx="157277" cy="157277"/>
          </a:xfrm>
          <a:prstGeom prst="rect">
            <a:avLst/>
          </a:prstGeom>
          <a:solidFill>
            <a:srgbClr val="E5E7EB"/>
          </a:solidFill>
          <a:ln>
            <a:noFill/>
          </a:ln>
        </p:spPr>
        <p:txBody>
          <a:bodyPr rtlCol="0" anchor="ctr"/>
          <a:lstStyle/>
          <a:p>
            <a:pPr algn="ctr"/>
          </a:p>
        </p:txBody>
      </p:sp>
      <p:sp>
        <p:nvSpPr>
          <p:cNvPr id="304" name="Rectangle 303"/>
          <p:cNvSpPr/>
          <p:nvPr/>
        </p:nvSpPr>
        <p:spPr>
          <a:xfrm>
            <a:off x="8070952" y="2555748"/>
            <a:ext cx="157277" cy="157277"/>
          </a:xfrm>
          <a:prstGeom prst="rect">
            <a:avLst/>
          </a:prstGeom>
          <a:solidFill>
            <a:srgbClr val="E5E7EB"/>
          </a:solidFill>
          <a:ln>
            <a:noFill/>
          </a:ln>
        </p:spPr>
        <p:txBody>
          <a:bodyPr rtlCol="0" anchor="ctr"/>
          <a:lstStyle/>
          <a:p>
            <a:pPr algn="ctr"/>
          </a:p>
        </p:txBody>
      </p:sp>
      <p:sp>
        <p:nvSpPr>
          <p:cNvPr id="305" name="Rectangle 304"/>
          <p:cNvSpPr/>
          <p:nvPr/>
        </p:nvSpPr>
        <p:spPr>
          <a:xfrm>
            <a:off x="8070952" y="2359152"/>
            <a:ext cx="157277" cy="157277"/>
          </a:xfrm>
          <a:prstGeom prst="rect">
            <a:avLst/>
          </a:prstGeom>
          <a:solidFill>
            <a:srgbClr val="E5E7EB"/>
          </a:solidFill>
          <a:ln>
            <a:noFill/>
          </a:ln>
        </p:spPr>
        <p:txBody>
          <a:bodyPr rtlCol="0" anchor="ctr"/>
          <a:lstStyle/>
          <a:p>
            <a:pPr algn="ctr"/>
          </a:p>
        </p:txBody>
      </p:sp>
      <p:sp>
        <p:nvSpPr>
          <p:cNvPr id="306" name="Rectangle 305"/>
          <p:cNvSpPr/>
          <p:nvPr/>
        </p:nvSpPr>
        <p:spPr>
          <a:xfrm>
            <a:off x="8070952" y="2162556"/>
            <a:ext cx="157277" cy="157277"/>
          </a:xfrm>
          <a:prstGeom prst="rect">
            <a:avLst/>
          </a:prstGeom>
          <a:solidFill>
            <a:srgbClr val="E5E7EB"/>
          </a:solidFill>
          <a:ln>
            <a:noFill/>
          </a:ln>
        </p:spPr>
        <p:txBody>
          <a:bodyPr rtlCol="0" anchor="ctr"/>
          <a:lstStyle/>
          <a:p>
            <a:pPr algn="ctr"/>
          </a:p>
        </p:txBody>
      </p:sp>
      <p:sp>
        <p:nvSpPr>
          <p:cNvPr id="307" name="Rectangle 306"/>
          <p:cNvSpPr/>
          <p:nvPr/>
        </p:nvSpPr>
        <p:spPr>
          <a:xfrm>
            <a:off x="8070952" y="1965960"/>
            <a:ext cx="157277" cy="157277"/>
          </a:xfrm>
          <a:prstGeom prst="rect">
            <a:avLst/>
          </a:prstGeom>
          <a:solidFill>
            <a:srgbClr val="E5E7EB"/>
          </a:solidFill>
          <a:ln>
            <a:noFill/>
          </a:ln>
        </p:spPr>
        <p:txBody>
          <a:bodyPr rtlCol="0" anchor="ctr"/>
          <a:lstStyle/>
          <a:p>
            <a:pPr algn="ctr"/>
          </a:p>
        </p:txBody>
      </p:sp>
      <p:sp>
        <p:nvSpPr>
          <p:cNvPr id="308" name="Rectangle 307"/>
          <p:cNvSpPr/>
          <p:nvPr/>
        </p:nvSpPr>
        <p:spPr>
          <a:xfrm>
            <a:off x="8070952" y="1769364"/>
            <a:ext cx="157277" cy="157277"/>
          </a:xfrm>
          <a:prstGeom prst="rect">
            <a:avLst/>
          </a:prstGeom>
          <a:solidFill>
            <a:srgbClr val="E5E7EB"/>
          </a:solidFill>
          <a:ln>
            <a:noFill/>
          </a:ln>
        </p:spPr>
        <p:txBody>
          <a:bodyPr rtlCol="0" anchor="ctr"/>
          <a:lstStyle/>
          <a:p>
            <a:pPr algn="ctr"/>
          </a:p>
        </p:txBody>
      </p:sp>
      <p:sp>
        <p:nvSpPr>
          <p:cNvPr id="309" name="Rectangle 308"/>
          <p:cNvSpPr/>
          <p:nvPr/>
        </p:nvSpPr>
        <p:spPr>
          <a:xfrm>
            <a:off x="8070952" y="1572768"/>
            <a:ext cx="157277" cy="157277"/>
          </a:xfrm>
          <a:prstGeom prst="rect">
            <a:avLst/>
          </a:prstGeom>
          <a:solidFill>
            <a:srgbClr val="E5E7EB"/>
          </a:solidFill>
          <a:ln>
            <a:noFill/>
          </a:ln>
        </p:spPr>
        <p:txBody>
          <a:bodyPr rtlCol="0" anchor="ctr"/>
          <a:lstStyle/>
          <a:p>
            <a:pPr algn="ctr"/>
          </a:p>
        </p:txBody>
      </p:sp>
      <p:sp>
        <p:nvSpPr>
          <p:cNvPr id="310" name="TextBox 309"/>
          <p:cNvSpPr txBox="1"/>
          <p:nvPr/>
        </p:nvSpPr>
        <p:spPr>
          <a:xfrm>
            <a:off x="6301588"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4%</a:t>
            </a:r>
          </a:p>
        </p:txBody>
      </p:sp>
      <p:sp>
        <p:nvSpPr>
          <p:cNvPr id="311" name="TextBox 310"/>
          <p:cNvSpPr txBox="1"/>
          <p:nvPr/>
        </p:nvSpPr>
        <p:spPr>
          <a:xfrm>
            <a:off x="6301588"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savers use a formal financial institution [1]</a:t>
            </a:r>
          </a:p>
        </p:txBody>
      </p:sp>
      <p:sp>
        <p:nvSpPr>
          <p:cNvPr id="312" name="Rectangle 311"/>
          <p:cNvSpPr/>
          <p:nvPr/>
        </p:nvSpPr>
        <p:spPr>
          <a:xfrm>
            <a:off x="9178061" y="3342132"/>
            <a:ext cx="157277" cy="157277"/>
          </a:xfrm>
          <a:prstGeom prst="rect">
            <a:avLst/>
          </a:prstGeom>
          <a:solidFill>
            <a:srgbClr val="E5E7EB"/>
          </a:solidFill>
          <a:ln>
            <a:noFill/>
          </a:ln>
        </p:spPr>
        <p:txBody>
          <a:bodyPr rtlCol="0" anchor="ctr"/>
          <a:lstStyle/>
          <a:p>
            <a:pPr algn="ctr"/>
          </a:p>
        </p:txBody>
      </p:sp>
      <p:sp>
        <p:nvSpPr>
          <p:cNvPr id="313" name="Rectangle 312"/>
          <p:cNvSpPr/>
          <p:nvPr/>
        </p:nvSpPr>
        <p:spPr>
          <a:xfrm>
            <a:off x="9178061" y="3145536"/>
            <a:ext cx="157277" cy="157277"/>
          </a:xfrm>
          <a:prstGeom prst="rect">
            <a:avLst/>
          </a:prstGeom>
          <a:solidFill>
            <a:srgbClr val="E5E7EB"/>
          </a:solidFill>
          <a:ln>
            <a:noFill/>
          </a:ln>
        </p:spPr>
        <p:txBody>
          <a:bodyPr rtlCol="0" anchor="ctr"/>
          <a:lstStyle/>
          <a:p>
            <a:pPr algn="ctr"/>
          </a:p>
        </p:txBody>
      </p:sp>
      <p:sp>
        <p:nvSpPr>
          <p:cNvPr id="314" name="Rectangle 313"/>
          <p:cNvSpPr/>
          <p:nvPr/>
        </p:nvSpPr>
        <p:spPr>
          <a:xfrm>
            <a:off x="9178061" y="2948940"/>
            <a:ext cx="157277" cy="157277"/>
          </a:xfrm>
          <a:prstGeom prst="rect">
            <a:avLst/>
          </a:prstGeom>
          <a:solidFill>
            <a:srgbClr val="E5E7EB"/>
          </a:solidFill>
          <a:ln>
            <a:noFill/>
          </a:ln>
        </p:spPr>
        <p:txBody>
          <a:bodyPr rtlCol="0" anchor="ctr"/>
          <a:lstStyle/>
          <a:p>
            <a:pPr algn="ctr"/>
          </a:p>
        </p:txBody>
      </p:sp>
      <p:sp>
        <p:nvSpPr>
          <p:cNvPr id="315" name="Rectangle 314"/>
          <p:cNvSpPr/>
          <p:nvPr/>
        </p:nvSpPr>
        <p:spPr>
          <a:xfrm>
            <a:off x="9178061" y="2752344"/>
            <a:ext cx="157277" cy="157277"/>
          </a:xfrm>
          <a:prstGeom prst="rect">
            <a:avLst/>
          </a:prstGeom>
          <a:solidFill>
            <a:srgbClr val="E5E7EB"/>
          </a:solidFill>
          <a:ln>
            <a:noFill/>
          </a:ln>
        </p:spPr>
        <p:txBody>
          <a:bodyPr rtlCol="0" anchor="ctr"/>
          <a:lstStyle/>
          <a:p>
            <a:pPr algn="ctr"/>
          </a:p>
        </p:txBody>
      </p:sp>
      <p:sp>
        <p:nvSpPr>
          <p:cNvPr id="316" name="Rectangle 315"/>
          <p:cNvSpPr/>
          <p:nvPr/>
        </p:nvSpPr>
        <p:spPr>
          <a:xfrm>
            <a:off x="9178061" y="2555748"/>
            <a:ext cx="157277" cy="157277"/>
          </a:xfrm>
          <a:prstGeom prst="rect">
            <a:avLst/>
          </a:prstGeom>
          <a:solidFill>
            <a:srgbClr val="E5E7EB"/>
          </a:solidFill>
          <a:ln>
            <a:noFill/>
          </a:ln>
        </p:spPr>
        <p:txBody>
          <a:bodyPr rtlCol="0" anchor="ctr"/>
          <a:lstStyle/>
          <a:p>
            <a:pPr algn="ctr"/>
          </a:p>
        </p:txBody>
      </p:sp>
      <p:sp>
        <p:nvSpPr>
          <p:cNvPr id="317" name="Rectangle 316"/>
          <p:cNvSpPr/>
          <p:nvPr/>
        </p:nvSpPr>
        <p:spPr>
          <a:xfrm>
            <a:off x="9178061" y="2359152"/>
            <a:ext cx="157277" cy="157277"/>
          </a:xfrm>
          <a:prstGeom prst="rect">
            <a:avLst/>
          </a:prstGeom>
          <a:solidFill>
            <a:srgbClr val="E5E7EB"/>
          </a:solidFill>
          <a:ln>
            <a:noFill/>
          </a:ln>
        </p:spPr>
        <p:txBody>
          <a:bodyPr rtlCol="0" anchor="ctr"/>
          <a:lstStyle/>
          <a:p>
            <a:pPr algn="ctr"/>
          </a:p>
        </p:txBody>
      </p:sp>
      <p:sp>
        <p:nvSpPr>
          <p:cNvPr id="318" name="Rectangle 317"/>
          <p:cNvSpPr/>
          <p:nvPr/>
        </p:nvSpPr>
        <p:spPr>
          <a:xfrm>
            <a:off x="9178061" y="2162556"/>
            <a:ext cx="157277" cy="157277"/>
          </a:xfrm>
          <a:prstGeom prst="rect">
            <a:avLst/>
          </a:prstGeom>
          <a:solidFill>
            <a:srgbClr val="E5E7EB"/>
          </a:solidFill>
          <a:ln>
            <a:noFill/>
          </a:ln>
        </p:spPr>
        <p:txBody>
          <a:bodyPr rtlCol="0" anchor="ctr"/>
          <a:lstStyle/>
          <a:p>
            <a:pPr algn="ctr"/>
          </a:p>
        </p:txBody>
      </p:sp>
      <p:sp>
        <p:nvSpPr>
          <p:cNvPr id="319" name="Rectangle 318"/>
          <p:cNvSpPr/>
          <p:nvPr/>
        </p:nvSpPr>
        <p:spPr>
          <a:xfrm>
            <a:off x="9178061" y="1965960"/>
            <a:ext cx="157277" cy="157277"/>
          </a:xfrm>
          <a:prstGeom prst="rect">
            <a:avLst/>
          </a:prstGeom>
          <a:solidFill>
            <a:srgbClr val="E5E7EB"/>
          </a:solidFill>
          <a:ln>
            <a:noFill/>
          </a:ln>
        </p:spPr>
        <p:txBody>
          <a:bodyPr rtlCol="0" anchor="ctr"/>
          <a:lstStyle/>
          <a:p>
            <a:pPr algn="ctr"/>
          </a:p>
        </p:txBody>
      </p:sp>
      <p:sp>
        <p:nvSpPr>
          <p:cNvPr id="320" name="Rectangle 319"/>
          <p:cNvSpPr/>
          <p:nvPr/>
        </p:nvSpPr>
        <p:spPr>
          <a:xfrm>
            <a:off x="9178061" y="1769364"/>
            <a:ext cx="157277" cy="157277"/>
          </a:xfrm>
          <a:prstGeom prst="rect">
            <a:avLst/>
          </a:prstGeom>
          <a:solidFill>
            <a:srgbClr val="E5E7EB"/>
          </a:solidFill>
          <a:ln>
            <a:noFill/>
          </a:ln>
        </p:spPr>
        <p:txBody>
          <a:bodyPr rtlCol="0" anchor="ctr"/>
          <a:lstStyle/>
          <a:p>
            <a:pPr algn="ctr"/>
          </a:p>
        </p:txBody>
      </p:sp>
      <p:sp>
        <p:nvSpPr>
          <p:cNvPr id="321" name="Rectangle 320"/>
          <p:cNvSpPr/>
          <p:nvPr/>
        </p:nvSpPr>
        <p:spPr>
          <a:xfrm>
            <a:off x="9178061" y="1572768"/>
            <a:ext cx="157277" cy="157277"/>
          </a:xfrm>
          <a:prstGeom prst="rect">
            <a:avLst/>
          </a:prstGeom>
          <a:solidFill>
            <a:srgbClr val="E5E7EB"/>
          </a:solidFill>
          <a:ln>
            <a:noFill/>
          </a:ln>
        </p:spPr>
        <p:txBody>
          <a:bodyPr rtlCol="0" anchor="ctr"/>
          <a:lstStyle/>
          <a:p>
            <a:pPr algn="ctr"/>
          </a:p>
        </p:txBody>
      </p:sp>
      <p:sp>
        <p:nvSpPr>
          <p:cNvPr id="322" name="Rectangle 321"/>
          <p:cNvSpPr/>
          <p:nvPr/>
        </p:nvSpPr>
        <p:spPr>
          <a:xfrm>
            <a:off x="9374657" y="3342132"/>
            <a:ext cx="157277" cy="157277"/>
          </a:xfrm>
          <a:prstGeom prst="rect">
            <a:avLst/>
          </a:prstGeom>
          <a:solidFill>
            <a:srgbClr val="E5E7EB"/>
          </a:solidFill>
          <a:ln>
            <a:noFill/>
          </a:ln>
        </p:spPr>
        <p:txBody>
          <a:bodyPr rtlCol="0" anchor="ctr"/>
          <a:lstStyle/>
          <a:p>
            <a:pPr algn="ctr"/>
          </a:p>
        </p:txBody>
      </p:sp>
      <p:sp>
        <p:nvSpPr>
          <p:cNvPr id="323" name="Rectangle 322"/>
          <p:cNvSpPr/>
          <p:nvPr/>
        </p:nvSpPr>
        <p:spPr>
          <a:xfrm>
            <a:off x="9374657" y="3145536"/>
            <a:ext cx="157277" cy="157277"/>
          </a:xfrm>
          <a:prstGeom prst="rect">
            <a:avLst/>
          </a:prstGeom>
          <a:solidFill>
            <a:srgbClr val="E5E7EB"/>
          </a:solidFill>
          <a:ln>
            <a:noFill/>
          </a:ln>
        </p:spPr>
        <p:txBody>
          <a:bodyPr rtlCol="0" anchor="ctr"/>
          <a:lstStyle/>
          <a:p>
            <a:pPr algn="ctr"/>
          </a:p>
        </p:txBody>
      </p:sp>
      <p:sp>
        <p:nvSpPr>
          <p:cNvPr id="324" name="Rectangle 323"/>
          <p:cNvSpPr/>
          <p:nvPr/>
        </p:nvSpPr>
        <p:spPr>
          <a:xfrm>
            <a:off x="9374657" y="2948940"/>
            <a:ext cx="157277" cy="157277"/>
          </a:xfrm>
          <a:prstGeom prst="rect">
            <a:avLst/>
          </a:prstGeom>
          <a:solidFill>
            <a:srgbClr val="E5E7EB"/>
          </a:solidFill>
          <a:ln>
            <a:noFill/>
          </a:ln>
        </p:spPr>
        <p:txBody>
          <a:bodyPr rtlCol="0" anchor="ctr"/>
          <a:lstStyle/>
          <a:p>
            <a:pPr algn="ctr"/>
          </a:p>
        </p:txBody>
      </p:sp>
      <p:sp>
        <p:nvSpPr>
          <p:cNvPr id="325" name="Rectangle 324"/>
          <p:cNvSpPr/>
          <p:nvPr/>
        </p:nvSpPr>
        <p:spPr>
          <a:xfrm>
            <a:off x="9374657" y="2752344"/>
            <a:ext cx="157277" cy="157277"/>
          </a:xfrm>
          <a:prstGeom prst="rect">
            <a:avLst/>
          </a:prstGeom>
          <a:solidFill>
            <a:srgbClr val="E5E7EB"/>
          </a:solidFill>
          <a:ln>
            <a:noFill/>
          </a:ln>
        </p:spPr>
        <p:txBody>
          <a:bodyPr rtlCol="0" anchor="ctr"/>
          <a:lstStyle/>
          <a:p>
            <a:pPr algn="ctr"/>
          </a:p>
        </p:txBody>
      </p:sp>
      <p:sp>
        <p:nvSpPr>
          <p:cNvPr id="326" name="Rectangle 325"/>
          <p:cNvSpPr/>
          <p:nvPr/>
        </p:nvSpPr>
        <p:spPr>
          <a:xfrm>
            <a:off x="9374657" y="2555748"/>
            <a:ext cx="157277" cy="157277"/>
          </a:xfrm>
          <a:prstGeom prst="rect">
            <a:avLst/>
          </a:prstGeom>
          <a:solidFill>
            <a:srgbClr val="E5E7EB"/>
          </a:solidFill>
          <a:ln>
            <a:noFill/>
          </a:ln>
        </p:spPr>
        <p:txBody>
          <a:bodyPr rtlCol="0" anchor="ctr"/>
          <a:lstStyle/>
          <a:p>
            <a:pPr algn="ctr"/>
          </a:p>
        </p:txBody>
      </p:sp>
      <p:sp>
        <p:nvSpPr>
          <p:cNvPr id="327" name="Rectangle 326"/>
          <p:cNvSpPr/>
          <p:nvPr/>
        </p:nvSpPr>
        <p:spPr>
          <a:xfrm>
            <a:off x="9374657" y="2359152"/>
            <a:ext cx="157277" cy="157277"/>
          </a:xfrm>
          <a:prstGeom prst="rect">
            <a:avLst/>
          </a:prstGeom>
          <a:solidFill>
            <a:srgbClr val="E5E7EB"/>
          </a:solidFill>
          <a:ln>
            <a:noFill/>
          </a:ln>
        </p:spPr>
        <p:txBody>
          <a:bodyPr rtlCol="0" anchor="ctr"/>
          <a:lstStyle/>
          <a:p>
            <a:pPr algn="ctr"/>
          </a:p>
        </p:txBody>
      </p:sp>
      <p:sp>
        <p:nvSpPr>
          <p:cNvPr id="328" name="Rectangle 327"/>
          <p:cNvSpPr/>
          <p:nvPr/>
        </p:nvSpPr>
        <p:spPr>
          <a:xfrm>
            <a:off x="9374657" y="2162556"/>
            <a:ext cx="157277" cy="157277"/>
          </a:xfrm>
          <a:prstGeom prst="rect">
            <a:avLst/>
          </a:prstGeom>
          <a:solidFill>
            <a:srgbClr val="E5E7EB"/>
          </a:solidFill>
          <a:ln>
            <a:noFill/>
          </a:ln>
        </p:spPr>
        <p:txBody>
          <a:bodyPr rtlCol="0" anchor="ctr"/>
          <a:lstStyle/>
          <a:p>
            <a:pPr algn="ctr"/>
          </a:p>
        </p:txBody>
      </p:sp>
      <p:sp>
        <p:nvSpPr>
          <p:cNvPr id="329" name="Rectangle 328"/>
          <p:cNvSpPr/>
          <p:nvPr/>
        </p:nvSpPr>
        <p:spPr>
          <a:xfrm>
            <a:off x="9374657" y="1965960"/>
            <a:ext cx="157277" cy="157277"/>
          </a:xfrm>
          <a:prstGeom prst="rect">
            <a:avLst/>
          </a:prstGeom>
          <a:solidFill>
            <a:srgbClr val="E5E7EB"/>
          </a:solidFill>
          <a:ln>
            <a:noFill/>
          </a:ln>
        </p:spPr>
        <p:txBody>
          <a:bodyPr rtlCol="0" anchor="ctr"/>
          <a:lstStyle/>
          <a:p>
            <a:pPr algn="ctr"/>
          </a:p>
        </p:txBody>
      </p:sp>
      <p:sp>
        <p:nvSpPr>
          <p:cNvPr id="330" name="Rectangle 329"/>
          <p:cNvSpPr/>
          <p:nvPr/>
        </p:nvSpPr>
        <p:spPr>
          <a:xfrm>
            <a:off x="9374657" y="1769364"/>
            <a:ext cx="157277" cy="157277"/>
          </a:xfrm>
          <a:prstGeom prst="rect">
            <a:avLst/>
          </a:prstGeom>
          <a:solidFill>
            <a:srgbClr val="E5E7EB"/>
          </a:solidFill>
          <a:ln>
            <a:noFill/>
          </a:ln>
        </p:spPr>
        <p:txBody>
          <a:bodyPr rtlCol="0" anchor="ctr"/>
          <a:lstStyle/>
          <a:p>
            <a:pPr algn="ctr"/>
          </a:p>
        </p:txBody>
      </p:sp>
      <p:sp>
        <p:nvSpPr>
          <p:cNvPr id="331" name="Rectangle 330"/>
          <p:cNvSpPr/>
          <p:nvPr/>
        </p:nvSpPr>
        <p:spPr>
          <a:xfrm>
            <a:off x="9374657" y="1572768"/>
            <a:ext cx="157277" cy="157277"/>
          </a:xfrm>
          <a:prstGeom prst="rect">
            <a:avLst/>
          </a:prstGeom>
          <a:solidFill>
            <a:srgbClr val="E5E7EB"/>
          </a:solidFill>
          <a:ln>
            <a:noFill/>
          </a:ln>
        </p:spPr>
        <p:txBody>
          <a:bodyPr rtlCol="0" anchor="ctr"/>
          <a:lstStyle/>
          <a:p>
            <a:pPr algn="ctr"/>
          </a:p>
        </p:txBody>
      </p:sp>
      <p:sp>
        <p:nvSpPr>
          <p:cNvPr id="332" name="Rectangle 331"/>
          <p:cNvSpPr/>
          <p:nvPr/>
        </p:nvSpPr>
        <p:spPr>
          <a:xfrm>
            <a:off x="9571253" y="3342132"/>
            <a:ext cx="157277" cy="157277"/>
          </a:xfrm>
          <a:prstGeom prst="rect">
            <a:avLst/>
          </a:prstGeom>
          <a:solidFill>
            <a:srgbClr val="E5E7EB"/>
          </a:solidFill>
          <a:ln>
            <a:noFill/>
          </a:ln>
        </p:spPr>
        <p:txBody>
          <a:bodyPr rtlCol="0" anchor="ctr"/>
          <a:lstStyle/>
          <a:p>
            <a:pPr algn="ctr"/>
          </a:p>
        </p:txBody>
      </p:sp>
      <p:sp>
        <p:nvSpPr>
          <p:cNvPr id="333" name="Rectangle 332"/>
          <p:cNvSpPr/>
          <p:nvPr/>
        </p:nvSpPr>
        <p:spPr>
          <a:xfrm>
            <a:off x="9571253" y="3145536"/>
            <a:ext cx="157277" cy="157277"/>
          </a:xfrm>
          <a:prstGeom prst="rect">
            <a:avLst/>
          </a:prstGeom>
          <a:solidFill>
            <a:srgbClr val="E5E7EB"/>
          </a:solidFill>
          <a:ln>
            <a:noFill/>
          </a:ln>
        </p:spPr>
        <p:txBody>
          <a:bodyPr rtlCol="0" anchor="ctr"/>
          <a:lstStyle/>
          <a:p>
            <a:pPr algn="ctr"/>
          </a:p>
        </p:txBody>
      </p:sp>
      <p:sp>
        <p:nvSpPr>
          <p:cNvPr id="334" name="Rectangle 333"/>
          <p:cNvSpPr/>
          <p:nvPr/>
        </p:nvSpPr>
        <p:spPr>
          <a:xfrm>
            <a:off x="9571253" y="2948940"/>
            <a:ext cx="157277" cy="157277"/>
          </a:xfrm>
          <a:prstGeom prst="rect">
            <a:avLst/>
          </a:prstGeom>
          <a:solidFill>
            <a:srgbClr val="E5E7EB"/>
          </a:solidFill>
          <a:ln>
            <a:noFill/>
          </a:ln>
        </p:spPr>
        <p:txBody>
          <a:bodyPr rtlCol="0" anchor="ctr"/>
          <a:lstStyle/>
          <a:p>
            <a:pPr algn="ctr"/>
          </a:p>
        </p:txBody>
      </p:sp>
      <p:sp>
        <p:nvSpPr>
          <p:cNvPr id="335" name="Rectangle 334"/>
          <p:cNvSpPr/>
          <p:nvPr/>
        </p:nvSpPr>
        <p:spPr>
          <a:xfrm>
            <a:off x="9571253" y="2752344"/>
            <a:ext cx="157277" cy="157277"/>
          </a:xfrm>
          <a:prstGeom prst="rect">
            <a:avLst/>
          </a:prstGeom>
          <a:solidFill>
            <a:srgbClr val="E5E7EB"/>
          </a:solidFill>
          <a:ln>
            <a:noFill/>
          </a:ln>
        </p:spPr>
        <p:txBody>
          <a:bodyPr rtlCol="0" anchor="ctr"/>
          <a:lstStyle/>
          <a:p>
            <a:pPr algn="ctr"/>
          </a:p>
        </p:txBody>
      </p:sp>
      <p:sp>
        <p:nvSpPr>
          <p:cNvPr id="336" name="Rectangle 335"/>
          <p:cNvSpPr/>
          <p:nvPr/>
        </p:nvSpPr>
        <p:spPr>
          <a:xfrm>
            <a:off x="9571253" y="2555748"/>
            <a:ext cx="157277" cy="157277"/>
          </a:xfrm>
          <a:prstGeom prst="rect">
            <a:avLst/>
          </a:prstGeom>
          <a:solidFill>
            <a:srgbClr val="E5E7EB"/>
          </a:solidFill>
          <a:ln>
            <a:noFill/>
          </a:ln>
        </p:spPr>
        <p:txBody>
          <a:bodyPr rtlCol="0" anchor="ctr"/>
          <a:lstStyle/>
          <a:p>
            <a:pPr algn="ctr"/>
          </a:p>
        </p:txBody>
      </p:sp>
      <p:sp>
        <p:nvSpPr>
          <p:cNvPr id="337" name="Rectangle 336"/>
          <p:cNvSpPr/>
          <p:nvPr/>
        </p:nvSpPr>
        <p:spPr>
          <a:xfrm>
            <a:off x="9571253" y="2359152"/>
            <a:ext cx="157277" cy="157277"/>
          </a:xfrm>
          <a:prstGeom prst="rect">
            <a:avLst/>
          </a:prstGeom>
          <a:solidFill>
            <a:srgbClr val="E5E7EB"/>
          </a:solidFill>
          <a:ln>
            <a:noFill/>
          </a:ln>
        </p:spPr>
        <p:txBody>
          <a:bodyPr rtlCol="0" anchor="ctr"/>
          <a:lstStyle/>
          <a:p>
            <a:pPr algn="ctr"/>
          </a:p>
        </p:txBody>
      </p:sp>
      <p:sp>
        <p:nvSpPr>
          <p:cNvPr id="338" name="Rectangle 337"/>
          <p:cNvSpPr/>
          <p:nvPr/>
        </p:nvSpPr>
        <p:spPr>
          <a:xfrm>
            <a:off x="9571253" y="2162556"/>
            <a:ext cx="157277" cy="157277"/>
          </a:xfrm>
          <a:prstGeom prst="rect">
            <a:avLst/>
          </a:prstGeom>
          <a:solidFill>
            <a:srgbClr val="E5E7EB"/>
          </a:solidFill>
          <a:ln>
            <a:noFill/>
          </a:ln>
        </p:spPr>
        <p:txBody>
          <a:bodyPr rtlCol="0" anchor="ctr"/>
          <a:lstStyle/>
          <a:p>
            <a:pPr algn="ctr"/>
          </a:p>
        </p:txBody>
      </p:sp>
      <p:sp>
        <p:nvSpPr>
          <p:cNvPr id="339" name="Rectangle 338"/>
          <p:cNvSpPr/>
          <p:nvPr/>
        </p:nvSpPr>
        <p:spPr>
          <a:xfrm>
            <a:off x="9571253" y="1965960"/>
            <a:ext cx="157277" cy="157277"/>
          </a:xfrm>
          <a:prstGeom prst="rect">
            <a:avLst/>
          </a:prstGeom>
          <a:solidFill>
            <a:srgbClr val="E5E7EB"/>
          </a:solidFill>
          <a:ln>
            <a:noFill/>
          </a:ln>
        </p:spPr>
        <p:txBody>
          <a:bodyPr rtlCol="0" anchor="ctr"/>
          <a:lstStyle/>
          <a:p>
            <a:pPr algn="ctr"/>
          </a:p>
        </p:txBody>
      </p:sp>
      <p:sp>
        <p:nvSpPr>
          <p:cNvPr id="340" name="Rectangle 339"/>
          <p:cNvSpPr/>
          <p:nvPr/>
        </p:nvSpPr>
        <p:spPr>
          <a:xfrm>
            <a:off x="9571253" y="1769364"/>
            <a:ext cx="157277" cy="157277"/>
          </a:xfrm>
          <a:prstGeom prst="rect">
            <a:avLst/>
          </a:prstGeom>
          <a:solidFill>
            <a:srgbClr val="E5E7EB"/>
          </a:solidFill>
          <a:ln>
            <a:noFill/>
          </a:ln>
        </p:spPr>
        <p:txBody>
          <a:bodyPr rtlCol="0" anchor="ctr"/>
          <a:lstStyle/>
          <a:p>
            <a:pPr algn="ctr"/>
          </a:p>
        </p:txBody>
      </p:sp>
      <p:sp>
        <p:nvSpPr>
          <p:cNvPr id="341" name="Rectangle 340"/>
          <p:cNvSpPr/>
          <p:nvPr/>
        </p:nvSpPr>
        <p:spPr>
          <a:xfrm>
            <a:off x="9571253" y="1572768"/>
            <a:ext cx="157277" cy="157277"/>
          </a:xfrm>
          <a:prstGeom prst="rect">
            <a:avLst/>
          </a:prstGeom>
          <a:solidFill>
            <a:srgbClr val="E5E7EB"/>
          </a:solidFill>
          <a:ln>
            <a:noFill/>
          </a:ln>
        </p:spPr>
        <p:txBody>
          <a:bodyPr rtlCol="0" anchor="ctr"/>
          <a:lstStyle/>
          <a:p>
            <a:pPr algn="ctr"/>
          </a:p>
        </p:txBody>
      </p:sp>
      <p:sp>
        <p:nvSpPr>
          <p:cNvPr id="342" name="Rectangle 341"/>
          <p:cNvSpPr/>
          <p:nvPr/>
        </p:nvSpPr>
        <p:spPr>
          <a:xfrm>
            <a:off x="9767849" y="3342132"/>
            <a:ext cx="157277" cy="157277"/>
          </a:xfrm>
          <a:prstGeom prst="rect">
            <a:avLst/>
          </a:prstGeom>
          <a:solidFill>
            <a:srgbClr val="E5E7EB"/>
          </a:solidFill>
          <a:ln>
            <a:noFill/>
          </a:ln>
        </p:spPr>
        <p:txBody>
          <a:bodyPr rtlCol="0" anchor="ctr"/>
          <a:lstStyle/>
          <a:p>
            <a:pPr algn="ctr"/>
          </a:p>
        </p:txBody>
      </p:sp>
      <p:sp>
        <p:nvSpPr>
          <p:cNvPr id="343" name="Rectangle 342"/>
          <p:cNvSpPr/>
          <p:nvPr/>
        </p:nvSpPr>
        <p:spPr>
          <a:xfrm>
            <a:off x="9767849" y="3145536"/>
            <a:ext cx="157277" cy="157277"/>
          </a:xfrm>
          <a:prstGeom prst="rect">
            <a:avLst/>
          </a:prstGeom>
          <a:solidFill>
            <a:srgbClr val="E5E7EB"/>
          </a:solidFill>
          <a:ln>
            <a:noFill/>
          </a:ln>
        </p:spPr>
        <p:txBody>
          <a:bodyPr rtlCol="0" anchor="ctr"/>
          <a:lstStyle/>
          <a:p>
            <a:pPr algn="ctr"/>
          </a:p>
        </p:txBody>
      </p:sp>
      <p:sp>
        <p:nvSpPr>
          <p:cNvPr id="344" name="Rectangle 343"/>
          <p:cNvSpPr/>
          <p:nvPr/>
        </p:nvSpPr>
        <p:spPr>
          <a:xfrm>
            <a:off x="9767849" y="2948940"/>
            <a:ext cx="157277" cy="157277"/>
          </a:xfrm>
          <a:prstGeom prst="rect">
            <a:avLst/>
          </a:prstGeom>
          <a:solidFill>
            <a:srgbClr val="E5E7EB"/>
          </a:solidFill>
          <a:ln>
            <a:noFill/>
          </a:ln>
        </p:spPr>
        <p:txBody>
          <a:bodyPr rtlCol="0" anchor="ctr"/>
          <a:lstStyle/>
          <a:p>
            <a:pPr algn="ctr"/>
          </a:p>
        </p:txBody>
      </p:sp>
      <p:sp>
        <p:nvSpPr>
          <p:cNvPr id="345" name="Rectangle 344"/>
          <p:cNvSpPr/>
          <p:nvPr/>
        </p:nvSpPr>
        <p:spPr>
          <a:xfrm>
            <a:off x="9767849" y="2752344"/>
            <a:ext cx="157277" cy="157277"/>
          </a:xfrm>
          <a:prstGeom prst="rect">
            <a:avLst/>
          </a:prstGeom>
          <a:solidFill>
            <a:srgbClr val="E5E7EB"/>
          </a:solidFill>
          <a:ln>
            <a:noFill/>
          </a:ln>
        </p:spPr>
        <p:txBody>
          <a:bodyPr rtlCol="0" anchor="ctr"/>
          <a:lstStyle/>
          <a:p>
            <a:pPr algn="ctr"/>
          </a:p>
        </p:txBody>
      </p:sp>
      <p:sp>
        <p:nvSpPr>
          <p:cNvPr id="346" name="Rectangle 345"/>
          <p:cNvSpPr/>
          <p:nvPr/>
        </p:nvSpPr>
        <p:spPr>
          <a:xfrm>
            <a:off x="9767849" y="2555748"/>
            <a:ext cx="157277" cy="157277"/>
          </a:xfrm>
          <a:prstGeom prst="rect">
            <a:avLst/>
          </a:prstGeom>
          <a:solidFill>
            <a:srgbClr val="E5E7EB"/>
          </a:solidFill>
          <a:ln>
            <a:noFill/>
          </a:ln>
        </p:spPr>
        <p:txBody>
          <a:bodyPr rtlCol="0" anchor="ctr"/>
          <a:lstStyle/>
          <a:p>
            <a:pPr algn="ctr"/>
          </a:p>
        </p:txBody>
      </p:sp>
      <p:sp>
        <p:nvSpPr>
          <p:cNvPr id="347" name="Rectangle 346"/>
          <p:cNvSpPr/>
          <p:nvPr/>
        </p:nvSpPr>
        <p:spPr>
          <a:xfrm>
            <a:off x="9767849" y="2359152"/>
            <a:ext cx="157277" cy="157277"/>
          </a:xfrm>
          <a:prstGeom prst="rect">
            <a:avLst/>
          </a:prstGeom>
          <a:solidFill>
            <a:srgbClr val="E5E7EB"/>
          </a:solidFill>
          <a:ln>
            <a:noFill/>
          </a:ln>
        </p:spPr>
        <p:txBody>
          <a:bodyPr rtlCol="0" anchor="ctr"/>
          <a:lstStyle/>
          <a:p>
            <a:pPr algn="ctr"/>
          </a:p>
        </p:txBody>
      </p:sp>
      <p:sp>
        <p:nvSpPr>
          <p:cNvPr id="348" name="Rectangle 347"/>
          <p:cNvSpPr/>
          <p:nvPr/>
        </p:nvSpPr>
        <p:spPr>
          <a:xfrm>
            <a:off x="9767849" y="2162556"/>
            <a:ext cx="157277" cy="157277"/>
          </a:xfrm>
          <a:prstGeom prst="rect">
            <a:avLst/>
          </a:prstGeom>
          <a:solidFill>
            <a:srgbClr val="E5E7EB"/>
          </a:solidFill>
          <a:ln>
            <a:noFill/>
          </a:ln>
        </p:spPr>
        <p:txBody>
          <a:bodyPr rtlCol="0" anchor="ctr"/>
          <a:lstStyle/>
          <a:p>
            <a:pPr algn="ctr"/>
          </a:p>
        </p:txBody>
      </p:sp>
      <p:sp>
        <p:nvSpPr>
          <p:cNvPr id="349" name="Rectangle 348"/>
          <p:cNvSpPr/>
          <p:nvPr/>
        </p:nvSpPr>
        <p:spPr>
          <a:xfrm>
            <a:off x="9767849" y="1965960"/>
            <a:ext cx="157277" cy="157277"/>
          </a:xfrm>
          <a:prstGeom prst="rect">
            <a:avLst/>
          </a:prstGeom>
          <a:solidFill>
            <a:srgbClr val="E5E7EB"/>
          </a:solidFill>
          <a:ln>
            <a:noFill/>
          </a:ln>
        </p:spPr>
        <p:txBody>
          <a:bodyPr rtlCol="0" anchor="ctr"/>
          <a:lstStyle/>
          <a:p>
            <a:pPr algn="ctr"/>
          </a:p>
        </p:txBody>
      </p:sp>
      <p:sp>
        <p:nvSpPr>
          <p:cNvPr id="350" name="Rectangle 349"/>
          <p:cNvSpPr/>
          <p:nvPr/>
        </p:nvSpPr>
        <p:spPr>
          <a:xfrm>
            <a:off x="9767849" y="1769364"/>
            <a:ext cx="157277" cy="157277"/>
          </a:xfrm>
          <a:prstGeom prst="rect">
            <a:avLst/>
          </a:prstGeom>
          <a:solidFill>
            <a:srgbClr val="E5E7EB"/>
          </a:solidFill>
          <a:ln>
            <a:noFill/>
          </a:ln>
        </p:spPr>
        <p:txBody>
          <a:bodyPr rtlCol="0" anchor="ctr"/>
          <a:lstStyle/>
          <a:p>
            <a:pPr algn="ctr"/>
          </a:p>
        </p:txBody>
      </p:sp>
      <p:sp>
        <p:nvSpPr>
          <p:cNvPr id="351" name="Rectangle 350"/>
          <p:cNvSpPr/>
          <p:nvPr/>
        </p:nvSpPr>
        <p:spPr>
          <a:xfrm>
            <a:off x="9767849" y="1572768"/>
            <a:ext cx="157277" cy="157277"/>
          </a:xfrm>
          <a:prstGeom prst="rect">
            <a:avLst/>
          </a:prstGeom>
          <a:solidFill>
            <a:srgbClr val="E5E7EB"/>
          </a:solidFill>
          <a:ln>
            <a:noFill/>
          </a:ln>
        </p:spPr>
        <p:txBody>
          <a:bodyPr rtlCol="0" anchor="ctr"/>
          <a:lstStyle/>
          <a:p>
            <a:pPr algn="ctr"/>
          </a:p>
        </p:txBody>
      </p:sp>
      <p:sp>
        <p:nvSpPr>
          <p:cNvPr id="352" name="Rectangle 351"/>
          <p:cNvSpPr/>
          <p:nvPr/>
        </p:nvSpPr>
        <p:spPr>
          <a:xfrm>
            <a:off x="9964445" y="3342132"/>
            <a:ext cx="157277" cy="157277"/>
          </a:xfrm>
          <a:prstGeom prst="rect">
            <a:avLst/>
          </a:prstGeom>
          <a:solidFill>
            <a:srgbClr val="E5E7EB"/>
          </a:solidFill>
          <a:ln>
            <a:noFill/>
          </a:ln>
        </p:spPr>
        <p:txBody>
          <a:bodyPr rtlCol="0" anchor="ctr"/>
          <a:lstStyle/>
          <a:p>
            <a:pPr algn="ctr"/>
          </a:p>
        </p:txBody>
      </p:sp>
      <p:sp>
        <p:nvSpPr>
          <p:cNvPr id="353" name="Rectangle 352"/>
          <p:cNvSpPr/>
          <p:nvPr/>
        </p:nvSpPr>
        <p:spPr>
          <a:xfrm>
            <a:off x="9964445" y="3145536"/>
            <a:ext cx="157277" cy="157277"/>
          </a:xfrm>
          <a:prstGeom prst="rect">
            <a:avLst/>
          </a:prstGeom>
          <a:solidFill>
            <a:srgbClr val="E5E7EB"/>
          </a:solidFill>
          <a:ln>
            <a:noFill/>
          </a:ln>
        </p:spPr>
        <p:txBody>
          <a:bodyPr rtlCol="0" anchor="ctr"/>
          <a:lstStyle/>
          <a:p>
            <a:pPr algn="ctr"/>
          </a:p>
        </p:txBody>
      </p:sp>
      <p:sp>
        <p:nvSpPr>
          <p:cNvPr id="354" name="Rectangle 353"/>
          <p:cNvSpPr/>
          <p:nvPr/>
        </p:nvSpPr>
        <p:spPr>
          <a:xfrm>
            <a:off x="9964445" y="2948940"/>
            <a:ext cx="157277" cy="157277"/>
          </a:xfrm>
          <a:prstGeom prst="rect">
            <a:avLst/>
          </a:prstGeom>
          <a:solidFill>
            <a:srgbClr val="E5E7EB"/>
          </a:solidFill>
          <a:ln>
            <a:noFill/>
          </a:ln>
        </p:spPr>
        <p:txBody>
          <a:bodyPr rtlCol="0" anchor="ctr"/>
          <a:lstStyle/>
          <a:p>
            <a:pPr algn="ctr"/>
          </a:p>
        </p:txBody>
      </p:sp>
      <p:sp>
        <p:nvSpPr>
          <p:cNvPr id="355" name="Rectangle 354"/>
          <p:cNvSpPr/>
          <p:nvPr/>
        </p:nvSpPr>
        <p:spPr>
          <a:xfrm>
            <a:off x="9964445" y="2752344"/>
            <a:ext cx="157277" cy="157277"/>
          </a:xfrm>
          <a:prstGeom prst="rect">
            <a:avLst/>
          </a:prstGeom>
          <a:solidFill>
            <a:srgbClr val="E5E7EB"/>
          </a:solidFill>
          <a:ln>
            <a:noFill/>
          </a:ln>
        </p:spPr>
        <p:txBody>
          <a:bodyPr rtlCol="0" anchor="ctr"/>
          <a:lstStyle/>
          <a:p>
            <a:pPr algn="ctr"/>
          </a:p>
        </p:txBody>
      </p:sp>
      <p:sp>
        <p:nvSpPr>
          <p:cNvPr id="356" name="Rectangle 355"/>
          <p:cNvSpPr/>
          <p:nvPr/>
        </p:nvSpPr>
        <p:spPr>
          <a:xfrm>
            <a:off x="9964445" y="2555748"/>
            <a:ext cx="157277" cy="157277"/>
          </a:xfrm>
          <a:prstGeom prst="rect">
            <a:avLst/>
          </a:prstGeom>
          <a:solidFill>
            <a:srgbClr val="E5E7EB"/>
          </a:solidFill>
          <a:ln>
            <a:noFill/>
          </a:ln>
        </p:spPr>
        <p:txBody>
          <a:bodyPr rtlCol="0" anchor="ctr"/>
          <a:lstStyle/>
          <a:p>
            <a:pPr algn="ctr"/>
          </a:p>
        </p:txBody>
      </p:sp>
      <p:sp>
        <p:nvSpPr>
          <p:cNvPr id="357" name="Rectangle 356"/>
          <p:cNvSpPr/>
          <p:nvPr/>
        </p:nvSpPr>
        <p:spPr>
          <a:xfrm>
            <a:off x="9964445" y="2359152"/>
            <a:ext cx="157277" cy="157277"/>
          </a:xfrm>
          <a:prstGeom prst="rect">
            <a:avLst/>
          </a:prstGeom>
          <a:solidFill>
            <a:srgbClr val="E5E7EB"/>
          </a:solidFill>
          <a:ln>
            <a:noFill/>
          </a:ln>
        </p:spPr>
        <p:txBody>
          <a:bodyPr rtlCol="0" anchor="ctr"/>
          <a:lstStyle/>
          <a:p>
            <a:pPr algn="ctr"/>
          </a:p>
        </p:txBody>
      </p:sp>
      <p:sp>
        <p:nvSpPr>
          <p:cNvPr id="358" name="Rectangle 357"/>
          <p:cNvSpPr/>
          <p:nvPr/>
        </p:nvSpPr>
        <p:spPr>
          <a:xfrm>
            <a:off x="9964445" y="2162556"/>
            <a:ext cx="157277" cy="157277"/>
          </a:xfrm>
          <a:prstGeom prst="rect">
            <a:avLst/>
          </a:prstGeom>
          <a:solidFill>
            <a:srgbClr val="E5E7EB"/>
          </a:solidFill>
          <a:ln>
            <a:noFill/>
          </a:ln>
        </p:spPr>
        <p:txBody>
          <a:bodyPr rtlCol="0" anchor="ctr"/>
          <a:lstStyle/>
          <a:p>
            <a:pPr algn="ctr"/>
          </a:p>
        </p:txBody>
      </p:sp>
      <p:sp>
        <p:nvSpPr>
          <p:cNvPr id="359" name="Rectangle 358"/>
          <p:cNvSpPr/>
          <p:nvPr/>
        </p:nvSpPr>
        <p:spPr>
          <a:xfrm>
            <a:off x="9964445" y="1965960"/>
            <a:ext cx="157277" cy="157277"/>
          </a:xfrm>
          <a:prstGeom prst="rect">
            <a:avLst/>
          </a:prstGeom>
          <a:solidFill>
            <a:srgbClr val="E5E7EB"/>
          </a:solidFill>
          <a:ln>
            <a:noFill/>
          </a:ln>
        </p:spPr>
        <p:txBody>
          <a:bodyPr rtlCol="0" anchor="ctr"/>
          <a:lstStyle/>
          <a:p>
            <a:pPr algn="ctr"/>
          </a:p>
        </p:txBody>
      </p:sp>
      <p:sp>
        <p:nvSpPr>
          <p:cNvPr id="360" name="Rectangle 359"/>
          <p:cNvSpPr/>
          <p:nvPr/>
        </p:nvSpPr>
        <p:spPr>
          <a:xfrm>
            <a:off x="9964445" y="1769364"/>
            <a:ext cx="157277" cy="157277"/>
          </a:xfrm>
          <a:prstGeom prst="rect">
            <a:avLst/>
          </a:prstGeom>
          <a:solidFill>
            <a:srgbClr val="E5E7EB"/>
          </a:solidFill>
          <a:ln>
            <a:noFill/>
          </a:ln>
        </p:spPr>
        <p:txBody>
          <a:bodyPr rtlCol="0" anchor="ctr"/>
          <a:lstStyle/>
          <a:p>
            <a:pPr algn="ctr"/>
          </a:p>
        </p:txBody>
      </p:sp>
      <p:sp>
        <p:nvSpPr>
          <p:cNvPr id="361" name="Rectangle 360"/>
          <p:cNvSpPr/>
          <p:nvPr/>
        </p:nvSpPr>
        <p:spPr>
          <a:xfrm>
            <a:off x="9964445" y="1572768"/>
            <a:ext cx="157277" cy="157277"/>
          </a:xfrm>
          <a:prstGeom prst="rect">
            <a:avLst/>
          </a:prstGeom>
          <a:solidFill>
            <a:srgbClr val="E5E7EB"/>
          </a:solidFill>
          <a:ln>
            <a:noFill/>
          </a:ln>
        </p:spPr>
        <p:txBody>
          <a:bodyPr rtlCol="0" anchor="ctr"/>
          <a:lstStyle/>
          <a:p>
            <a:pPr algn="ctr"/>
          </a:p>
        </p:txBody>
      </p:sp>
      <p:sp>
        <p:nvSpPr>
          <p:cNvPr id="362" name="Rectangle 361"/>
          <p:cNvSpPr/>
          <p:nvPr/>
        </p:nvSpPr>
        <p:spPr>
          <a:xfrm>
            <a:off x="10161041" y="3342132"/>
            <a:ext cx="157277" cy="157277"/>
          </a:xfrm>
          <a:prstGeom prst="rect">
            <a:avLst/>
          </a:prstGeom>
          <a:solidFill>
            <a:srgbClr val="E5E7EB"/>
          </a:solidFill>
          <a:ln>
            <a:noFill/>
          </a:ln>
        </p:spPr>
        <p:txBody>
          <a:bodyPr rtlCol="0" anchor="ctr"/>
          <a:lstStyle/>
          <a:p>
            <a:pPr algn="ctr"/>
          </a:p>
        </p:txBody>
      </p:sp>
      <p:sp>
        <p:nvSpPr>
          <p:cNvPr id="363" name="Rectangle 362"/>
          <p:cNvSpPr/>
          <p:nvPr/>
        </p:nvSpPr>
        <p:spPr>
          <a:xfrm>
            <a:off x="10161041" y="3145536"/>
            <a:ext cx="157277" cy="157277"/>
          </a:xfrm>
          <a:prstGeom prst="rect">
            <a:avLst/>
          </a:prstGeom>
          <a:solidFill>
            <a:srgbClr val="E5E7EB"/>
          </a:solidFill>
          <a:ln>
            <a:noFill/>
          </a:ln>
        </p:spPr>
        <p:txBody>
          <a:bodyPr rtlCol="0" anchor="ctr"/>
          <a:lstStyle/>
          <a:p>
            <a:pPr algn="ctr"/>
          </a:p>
        </p:txBody>
      </p:sp>
      <p:sp>
        <p:nvSpPr>
          <p:cNvPr id="364" name="Rectangle 363"/>
          <p:cNvSpPr/>
          <p:nvPr/>
        </p:nvSpPr>
        <p:spPr>
          <a:xfrm>
            <a:off x="10161041" y="2948940"/>
            <a:ext cx="157277" cy="157277"/>
          </a:xfrm>
          <a:prstGeom prst="rect">
            <a:avLst/>
          </a:prstGeom>
          <a:solidFill>
            <a:srgbClr val="E5E7EB"/>
          </a:solidFill>
          <a:ln>
            <a:noFill/>
          </a:ln>
        </p:spPr>
        <p:txBody>
          <a:bodyPr rtlCol="0" anchor="ctr"/>
          <a:lstStyle/>
          <a:p>
            <a:pPr algn="ctr"/>
          </a:p>
        </p:txBody>
      </p:sp>
      <p:sp>
        <p:nvSpPr>
          <p:cNvPr id="365" name="Rectangle 364"/>
          <p:cNvSpPr/>
          <p:nvPr/>
        </p:nvSpPr>
        <p:spPr>
          <a:xfrm>
            <a:off x="10161041" y="2752344"/>
            <a:ext cx="157277" cy="157277"/>
          </a:xfrm>
          <a:prstGeom prst="rect">
            <a:avLst/>
          </a:prstGeom>
          <a:solidFill>
            <a:srgbClr val="E5E7EB"/>
          </a:solidFill>
          <a:ln>
            <a:noFill/>
          </a:ln>
        </p:spPr>
        <p:txBody>
          <a:bodyPr rtlCol="0" anchor="ctr"/>
          <a:lstStyle/>
          <a:p>
            <a:pPr algn="ctr"/>
          </a:p>
        </p:txBody>
      </p:sp>
      <p:sp>
        <p:nvSpPr>
          <p:cNvPr id="366" name="Rectangle 365"/>
          <p:cNvSpPr/>
          <p:nvPr/>
        </p:nvSpPr>
        <p:spPr>
          <a:xfrm>
            <a:off x="10161041" y="2555748"/>
            <a:ext cx="157277" cy="157277"/>
          </a:xfrm>
          <a:prstGeom prst="rect">
            <a:avLst/>
          </a:prstGeom>
          <a:solidFill>
            <a:srgbClr val="E5E7EB"/>
          </a:solidFill>
          <a:ln>
            <a:noFill/>
          </a:ln>
        </p:spPr>
        <p:txBody>
          <a:bodyPr rtlCol="0" anchor="ctr"/>
          <a:lstStyle/>
          <a:p>
            <a:pPr algn="ctr"/>
          </a:p>
        </p:txBody>
      </p:sp>
      <p:sp>
        <p:nvSpPr>
          <p:cNvPr id="367" name="Rectangle 366"/>
          <p:cNvSpPr/>
          <p:nvPr/>
        </p:nvSpPr>
        <p:spPr>
          <a:xfrm>
            <a:off x="10161041" y="2359152"/>
            <a:ext cx="157277" cy="157277"/>
          </a:xfrm>
          <a:prstGeom prst="rect">
            <a:avLst/>
          </a:prstGeom>
          <a:solidFill>
            <a:srgbClr val="E5E7EB"/>
          </a:solidFill>
          <a:ln>
            <a:noFill/>
          </a:ln>
        </p:spPr>
        <p:txBody>
          <a:bodyPr rtlCol="0" anchor="ctr"/>
          <a:lstStyle/>
          <a:p>
            <a:pPr algn="ctr"/>
          </a:p>
        </p:txBody>
      </p:sp>
      <p:sp>
        <p:nvSpPr>
          <p:cNvPr id="368" name="Rectangle 367"/>
          <p:cNvSpPr/>
          <p:nvPr/>
        </p:nvSpPr>
        <p:spPr>
          <a:xfrm>
            <a:off x="10161041" y="2162556"/>
            <a:ext cx="157277" cy="157277"/>
          </a:xfrm>
          <a:prstGeom prst="rect">
            <a:avLst/>
          </a:prstGeom>
          <a:solidFill>
            <a:srgbClr val="E5E7EB"/>
          </a:solidFill>
          <a:ln>
            <a:noFill/>
          </a:ln>
        </p:spPr>
        <p:txBody>
          <a:bodyPr rtlCol="0" anchor="ctr"/>
          <a:lstStyle/>
          <a:p>
            <a:pPr algn="ctr"/>
          </a:p>
        </p:txBody>
      </p:sp>
      <p:sp>
        <p:nvSpPr>
          <p:cNvPr id="369" name="Rectangle 368"/>
          <p:cNvSpPr/>
          <p:nvPr/>
        </p:nvSpPr>
        <p:spPr>
          <a:xfrm>
            <a:off x="10161041" y="1965960"/>
            <a:ext cx="157277" cy="157277"/>
          </a:xfrm>
          <a:prstGeom prst="rect">
            <a:avLst/>
          </a:prstGeom>
          <a:solidFill>
            <a:srgbClr val="E5E7EB"/>
          </a:solidFill>
          <a:ln>
            <a:noFill/>
          </a:ln>
        </p:spPr>
        <p:txBody>
          <a:bodyPr rtlCol="0" anchor="ctr"/>
          <a:lstStyle/>
          <a:p>
            <a:pPr algn="ctr"/>
          </a:p>
        </p:txBody>
      </p:sp>
      <p:sp>
        <p:nvSpPr>
          <p:cNvPr id="370" name="Rectangle 369"/>
          <p:cNvSpPr/>
          <p:nvPr/>
        </p:nvSpPr>
        <p:spPr>
          <a:xfrm>
            <a:off x="10161041" y="1769364"/>
            <a:ext cx="157277" cy="157277"/>
          </a:xfrm>
          <a:prstGeom prst="rect">
            <a:avLst/>
          </a:prstGeom>
          <a:solidFill>
            <a:srgbClr val="E5E7EB"/>
          </a:solidFill>
          <a:ln>
            <a:noFill/>
          </a:ln>
        </p:spPr>
        <p:txBody>
          <a:bodyPr rtlCol="0" anchor="ctr"/>
          <a:lstStyle/>
          <a:p>
            <a:pPr algn="ctr"/>
          </a:p>
        </p:txBody>
      </p:sp>
      <p:sp>
        <p:nvSpPr>
          <p:cNvPr id="371" name="Rectangle 370"/>
          <p:cNvSpPr/>
          <p:nvPr/>
        </p:nvSpPr>
        <p:spPr>
          <a:xfrm>
            <a:off x="10161041" y="1572768"/>
            <a:ext cx="157277" cy="157277"/>
          </a:xfrm>
          <a:prstGeom prst="rect">
            <a:avLst/>
          </a:prstGeom>
          <a:solidFill>
            <a:srgbClr val="E5E7EB"/>
          </a:solidFill>
          <a:ln>
            <a:noFill/>
          </a:ln>
        </p:spPr>
        <p:txBody>
          <a:bodyPr rtlCol="0" anchor="ctr"/>
          <a:lstStyle/>
          <a:p>
            <a:pPr algn="ctr"/>
          </a:p>
        </p:txBody>
      </p:sp>
      <p:sp>
        <p:nvSpPr>
          <p:cNvPr id="372" name="Rectangle 371"/>
          <p:cNvSpPr/>
          <p:nvPr/>
        </p:nvSpPr>
        <p:spPr>
          <a:xfrm>
            <a:off x="10357637" y="3342132"/>
            <a:ext cx="157277" cy="157277"/>
          </a:xfrm>
          <a:prstGeom prst="rect">
            <a:avLst/>
          </a:prstGeom>
          <a:solidFill>
            <a:srgbClr val="E5E7EB"/>
          </a:solidFill>
          <a:ln>
            <a:noFill/>
          </a:ln>
        </p:spPr>
        <p:txBody>
          <a:bodyPr rtlCol="0" anchor="ctr"/>
          <a:lstStyle/>
          <a:p>
            <a:pPr algn="ctr"/>
          </a:p>
        </p:txBody>
      </p:sp>
      <p:sp>
        <p:nvSpPr>
          <p:cNvPr id="373" name="Rectangle 372"/>
          <p:cNvSpPr/>
          <p:nvPr/>
        </p:nvSpPr>
        <p:spPr>
          <a:xfrm>
            <a:off x="10357637" y="3145536"/>
            <a:ext cx="157277" cy="157277"/>
          </a:xfrm>
          <a:prstGeom prst="rect">
            <a:avLst/>
          </a:prstGeom>
          <a:solidFill>
            <a:srgbClr val="E5E7EB"/>
          </a:solidFill>
          <a:ln>
            <a:noFill/>
          </a:ln>
        </p:spPr>
        <p:txBody>
          <a:bodyPr rtlCol="0" anchor="ctr"/>
          <a:lstStyle/>
          <a:p>
            <a:pPr algn="ctr"/>
          </a:p>
        </p:txBody>
      </p:sp>
      <p:sp>
        <p:nvSpPr>
          <p:cNvPr id="374" name="Rectangle 373"/>
          <p:cNvSpPr/>
          <p:nvPr/>
        </p:nvSpPr>
        <p:spPr>
          <a:xfrm>
            <a:off x="10357637" y="2948940"/>
            <a:ext cx="157277" cy="157277"/>
          </a:xfrm>
          <a:prstGeom prst="rect">
            <a:avLst/>
          </a:prstGeom>
          <a:solidFill>
            <a:srgbClr val="E5E7EB"/>
          </a:solidFill>
          <a:ln>
            <a:noFill/>
          </a:ln>
        </p:spPr>
        <p:txBody>
          <a:bodyPr rtlCol="0" anchor="ctr"/>
          <a:lstStyle/>
          <a:p>
            <a:pPr algn="ctr"/>
          </a:p>
        </p:txBody>
      </p:sp>
      <p:sp>
        <p:nvSpPr>
          <p:cNvPr id="375" name="Rectangle 374"/>
          <p:cNvSpPr/>
          <p:nvPr/>
        </p:nvSpPr>
        <p:spPr>
          <a:xfrm>
            <a:off x="10357637" y="2752344"/>
            <a:ext cx="157277" cy="157277"/>
          </a:xfrm>
          <a:prstGeom prst="rect">
            <a:avLst/>
          </a:prstGeom>
          <a:solidFill>
            <a:srgbClr val="E5E7EB"/>
          </a:solidFill>
          <a:ln>
            <a:noFill/>
          </a:ln>
        </p:spPr>
        <p:txBody>
          <a:bodyPr rtlCol="0" anchor="ctr"/>
          <a:lstStyle/>
          <a:p>
            <a:pPr algn="ctr"/>
          </a:p>
        </p:txBody>
      </p:sp>
      <p:sp>
        <p:nvSpPr>
          <p:cNvPr id="376" name="Rectangle 375"/>
          <p:cNvSpPr/>
          <p:nvPr/>
        </p:nvSpPr>
        <p:spPr>
          <a:xfrm>
            <a:off x="10357637" y="2555748"/>
            <a:ext cx="157277" cy="157277"/>
          </a:xfrm>
          <a:prstGeom prst="rect">
            <a:avLst/>
          </a:prstGeom>
          <a:solidFill>
            <a:srgbClr val="E5E7EB"/>
          </a:solidFill>
          <a:ln>
            <a:noFill/>
          </a:ln>
        </p:spPr>
        <p:txBody>
          <a:bodyPr rtlCol="0" anchor="ctr"/>
          <a:lstStyle/>
          <a:p>
            <a:pPr algn="ctr"/>
          </a:p>
        </p:txBody>
      </p:sp>
      <p:sp>
        <p:nvSpPr>
          <p:cNvPr id="377" name="Rectangle 376"/>
          <p:cNvSpPr/>
          <p:nvPr/>
        </p:nvSpPr>
        <p:spPr>
          <a:xfrm>
            <a:off x="10357637" y="2359152"/>
            <a:ext cx="157277" cy="157277"/>
          </a:xfrm>
          <a:prstGeom prst="rect">
            <a:avLst/>
          </a:prstGeom>
          <a:solidFill>
            <a:srgbClr val="E5E7EB"/>
          </a:solidFill>
          <a:ln>
            <a:noFill/>
          </a:ln>
        </p:spPr>
        <p:txBody>
          <a:bodyPr rtlCol="0" anchor="ctr"/>
          <a:lstStyle/>
          <a:p>
            <a:pPr algn="ctr"/>
          </a:p>
        </p:txBody>
      </p:sp>
      <p:sp>
        <p:nvSpPr>
          <p:cNvPr id="378" name="Rectangle 377"/>
          <p:cNvSpPr/>
          <p:nvPr/>
        </p:nvSpPr>
        <p:spPr>
          <a:xfrm>
            <a:off x="10357637" y="2162556"/>
            <a:ext cx="157277" cy="157277"/>
          </a:xfrm>
          <a:prstGeom prst="rect">
            <a:avLst/>
          </a:prstGeom>
          <a:solidFill>
            <a:srgbClr val="E5E7EB"/>
          </a:solidFill>
          <a:ln>
            <a:noFill/>
          </a:ln>
        </p:spPr>
        <p:txBody>
          <a:bodyPr rtlCol="0" anchor="ctr"/>
          <a:lstStyle/>
          <a:p>
            <a:pPr algn="ctr"/>
          </a:p>
        </p:txBody>
      </p:sp>
      <p:sp>
        <p:nvSpPr>
          <p:cNvPr id="379" name="Rectangle 378"/>
          <p:cNvSpPr/>
          <p:nvPr/>
        </p:nvSpPr>
        <p:spPr>
          <a:xfrm>
            <a:off x="10357637" y="1965960"/>
            <a:ext cx="157277" cy="157277"/>
          </a:xfrm>
          <a:prstGeom prst="rect">
            <a:avLst/>
          </a:prstGeom>
          <a:solidFill>
            <a:srgbClr val="E5E7EB"/>
          </a:solidFill>
          <a:ln>
            <a:noFill/>
          </a:ln>
        </p:spPr>
        <p:txBody>
          <a:bodyPr rtlCol="0" anchor="ctr"/>
          <a:lstStyle/>
          <a:p>
            <a:pPr algn="ctr"/>
          </a:p>
        </p:txBody>
      </p:sp>
      <p:sp>
        <p:nvSpPr>
          <p:cNvPr id="380" name="Rectangle 379"/>
          <p:cNvSpPr/>
          <p:nvPr/>
        </p:nvSpPr>
        <p:spPr>
          <a:xfrm>
            <a:off x="10357637" y="1769364"/>
            <a:ext cx="157277" cy="157277"/>
          </a:xfrm>
          <a:prstGeom prst="rect">
            <a:avLst/>
          </a:prstGeom>
          <a:solidFill>
            <a:srgbClr val="E5E7EB"/>
          </a:solidFill>
          <a:ln>
            <a:noFill/>
          </a:ln>
        </p:spPr>
        <p:txBody>
          <a:bodyPr rtlCol="0" anchor="ctr"/>
          <a:lstStyle/>
          <a:p>
            <a:pPr algn="ctr"/>
          </a:p>
        </p:txBody>
      </p:sp>
      <p:sp>
        <p:nvSpPr>
          <p:cNvPr id="381" name="Rectangle 380"/>
          <p:cNvSpPr/>
          <p:nvPr/>
        </p:nvSpPr>
        <p:spPr>
          <a:xfrm>
            <a:off x="10357637" y="1572768"/>
            <a:ext cx="157277" cy="157277"/>
          </a:xfrm>
          <a:prstGeom prst="rect">
            <a:avLst/>
          </a:prstGeom>
          <a:solidFill>
            <a:srgbClr val="E5E7EB"/>
          </a:solidFill>
          <a:ln>
            <a:noFill/>
          </a:ln>
        </p:spPr>
        <p:txBody>
          <a:bodyPr rtlCol="0" anchor="ctr"/>
          <a:lstStyle/>
          <a:p>
            <a:pPr algn="ctr"/>
          </a:p>
        </p:txBody>
      </p:sp>
      <p:sp>
        <p:nvSpPr>
          <p:cNvPr id="382" name="Rectangle 381"/>
          <p:cNvSpPr/>
          <p:nvPr/>
        </p:nvSpPr>
        <p:spPr>
          <a:xfrm>
            <a:off x="10554233" y="3342132"/>
            <a:ext cx="157277" cy="157277"/>
          </a:xfrm>
          <a:prstGeom prst="rect">
            <a:avLst/>
          </a:prstGeom>
          <a:solidFill>
            <a:srgbClr val="E5E7EB"/>
          </a:solidFill>
          <a:ln>
            <a:noFill/>
          </a:ln>
        </p:spPr>
        <p:txBody>
          <a:bodyPr rtlCol="0" anchor="ctr"/>
          <a:lstStyle/>
          <a:p>
            <a:pPr algn="ctr"/>
          </a:p>
        </p:txBody>
      </p:sp>
      <p:sp>
        <p:nvSpPr>
          <p:cNvPr id="383" name="Rectangle 382"/>
          <p:cNvSpPr/>
          <p:nvPr/>
        </p:nvSpPr>
        <p:spPr>
          <a:xfrm>
            <a:off x="10554233" y="3145536"/>
            <a:ext cx="157277" cy="157277"/>
          </a:xfrm>
          <a:prstGeom prst="rect">
            <a:avLst/>
          </a:prstGeom>
          <a:solidFill>
            <a:srgbClr val="E5E7EB"/>
          </a:solidFill>
          <a:ln>
            <a:noFill/>
          </a:ln>
        </p:spPr>
        <p:txBody>
          <a:bodyPr rtlCol="0" anchor="ctr"/>
          <a:lstStyle/>
          <a:p>
            <a:pPr algn="ctr"/>
          </a:p>
        </p:txBody>
      </p:sp>
      <p:sp>
        <p:nvSpPr>
          <p:cNvPr id="384" name="Rectangle 383"/>
          <p:cNvSpPr/>
          <p:nvPr/>
        </p:nvSpPr>
        <p:spPr>
          <a:xfrm>
            <a:off x="10554233" y="2948940"/>
            <a:ext cx="157277" cy="157277"/>
          </a:xfrm>
          <a:prstGeom prst="rect">
            <a:avLst/>
          </a:prstGeom>
          <a:solidFill>
            <a:srgbClr val="E5E7EB"/>
          </a:solidFill>
          <a:ln>
            <a:noFill/>
          </a:ln>
        </p:spPr>
        <p:txBody>
          <a:bodyPr rtlCol="0" anchor="ctr"/>
          <a:lstStyle/>
          <a:p>
            <a:pPr algn="ctr"/>
          </a:p>
        </p:txBody>
      </p:sp>
      <p:sp>
        <p:nvSpPr>
          <p:cNvPr id="385" name="Rectangle 384"/>
          <p:cNvSpPr/>
          <p:nvPr/>
        </p:nvSpPr>
        <p:spPr>
          <a:xfrm>
            <a:off x="10554233" y="2752344"/>
            <a:ext cx="157277" cy="157277"/>
          </a:xfrm>
          <a:prstGeom prst="rect">
            <a:avLst/>
          </a:prstGeom>
          <a:solidFill>
            <a:srgbClr val="E5E7EB"/>
          </a:solidFill>
          <a:ln>
            <a:noFill/>
          </a:ln>
        </p:spPr>
        <p:txBody>
          <a:bodyPr rtlCol="0" anchor="ctr"/>
          <a:lstStyle/>
          <a:p>
            <a:pPr algn="ctr"/>
          </a:p>
        </p:txBody>
      </p:sp>
      <p:sp>
        <p:nvSpPr>
          <p:cNvPr id="386" name="Rectangle 385"/>
          <p:cNvSpPr/>
          <p:nvPr/>
        </p:nvSpPr>
        <p:spPr>
          <a:xfrm>
            <a:off x="10554233" y="2555748"/>
            <a:ext cx="157277" cy="157277"/>
          </a:xfrm>
          <a:prstGeom prst="rect">
            <a:avLst/>
          </a:prstGeom>
          <a:solidFill>
            <a:srgbClr val="E5E7EB"/>
          </a:solidFill>
          <a:ln>
            <a:noFill/>
          </a:ln>
        </p:spPr>
        <p:txBody>
          <a:bodyPr rtlCol="0" anchor="ctr"/>
          <a:lstStyle/>
          <a:p>
            <a:pPr algn="ctr"/>
          </a:p>
        </p:txBody>
      </p:sp>
      <p:sp>
        <p:nvSpPr>
          <p:cNvPr id="387" name="Rectangle 386"/>
          <p:cNvSpPr/>
          <p:nvPr/>
        </p:nvSpPr>
        <p:spPr>
          <a:xfrm>
            <a:off x="10554233" y="2359152"/>
            <a:ext cx="157277" cy="157277"/>
          </a:xfrm>
          <a:prstGeom prst="rect">
            <a:avLst/>
          </a:prstGeom>
          <a:solidFill>
            <a:srgbClr val="E5E7EB"/>
          </a:solidFill>
          <a:ln>
            <a:noFill/>
          </a:ln>
        </p:spPr>
        <p:txBody>
          <a:bodyPr rtlCol="0" anchor="ctr"/>
          <a:lstStyle/>
          <a:p>
            <a:pPr algn="ctr"/>
          </a:p>
        </p:txBody>
      </p:sp>
      <p:sp>
        <p:nvSpPr>
          <p:cNvPr id="388" name="Rectangle 387"/>
          <p:cNvSpPr/>
          <p:nvPr/>
        </p:nvSpPr>
        <p:spPr>
          <a:xfrm>
            <a:off x="10554233" y="2162556"/>
            <a:ext cx="157277" cy="157277"/>
          </a:xfrm>
          <a:prstGeom prst="rect">
            <a:avLst/>
          </a:prstGeom>
          <a:solidFill>
            <a:srgbClr val="E5E7EB"/>
          </a:solidFill>
          <a:ln>
            <a:noFill/>
          </a:ln>
        </p:spPr>
        <p:txBody>
          <a:bodyPr rtlCol="0" anchor="ctr"/>
          <a:lstStyle/>
          <a:p>
            <a:pPr algn="ctr"/>
          </a:p>
        </p:txBody>
      </p:sp>
      <p:sp>
        <p:nvSpPr>
          <p:cNvPr id="389" name="Rectangle 388"/>
          <p:cNvSpPr/>
          <p:nvPr/>
        </p:nvSpPr>
        <p:spPr>
          <a:xfrm>
            <a:off x="10554233" y="1965960"/>
            <a:ext cx="157277" cy="157277"/>
          </a:xfrm>
          <a:prstGeom prst="rect">
            <a:avLst/>
          </a:prstGeom>
          <a:solidFill>
            <a:srgbClr val="E5E7EB"/>
          </a:solidFill>
          <a:ln>
            <a:noFill/>
          </a:ln>
        </p:spPr>
        <p:txBody>
          <a:bodyPr rtlCol="0" anchor="ctr"/>
          <a:lstStyle/>
          <a:p>
            <a:pPr algn="ctr"/>
          </a:p>
        </p:txBody>
      </p:sp>
      <p:sp>
        <p:nvSpPr>
          <p:cNvPr id="390" name="Rectangle 389"/>
          <p:cNvSpPr/>
          <p:nvPr/>
        </p:nvSpPr>
        <p:spPr>
          <a:xfrm>
            <a:off x="10554233" y="1769364"/>
            <a:ext cx="157277" cy="157277"/>
          </a:xfrm>
          <a:prstGeom prst="rect">
            <a:avLst/>
          </a:prstGeom>
          <a:solidFill>
            <a:srgbClr val="E5E7EB"/>
          </a:solidFill>
          <a:ln>
            <a:noFill/>
          </a:ln>
        </p:spPr>
        <p:txBody>
          <a:bodyPr rtlCol="0" anchor="ctr"/>
          <a:lstStyle/>
          <a:p>
            <a:pPr algn="ctr"/>
          </a:p>
        </p:txBody>
      </p:sp>
      <p:sp>
        <p:nvSpPr>
          <p:cNvPr id="391" name="Rectangle 390"/>
          <p:cNvSpPr/>
          <p:nvPr/>
        </p:nvSpPr>
        <p:spPr>
          <a:xfrm>
            <a:off x="10554233" y="1572768"/>
            <a:ext cx="157277" cy="157277"/>
          </a:xfrm>
          <a:prstGeom prst="rect">
            <a:avLst/>
          </a:prstGeom>
          <a:solidFill>
            <a:srgbClr val="E5E7EB"/>
          </a:solidFill>
          <a:ln>
            <a:noFill/>
          </a:ln>
        </p:spPr>
        <p:txBody>
          <a:bodyPr rtlCol="0" anchor="ctr"/>
          <a:lstStyle/>
          <a:p>
            <a:pPr algn="ctr"/>
          </a:p>
        </p:txBody>
      </p:sp>
      <p:sp>
        <p:nvSpPr>
          <p:cNvPr id="392" name="Rectangle 391"/>
          <p:cNvSpPr/>
          <p:nvPr/>
        </p:nvSpPr>
        <p:spPr>
          <a:xfrm>
            <a:off x="10750829" y="3342132"/>
            <a:ext cx="157277" cy="157277"/>
          </a:xfrm>
          <a:prstGeom prst="rect">
            <a:avLst/>
          </a:prstGeom>
          <a:solidFill>
            <a:srgbClr val="E5E7EB"/>
          </a:solidFill>
          <a:ln>
            <a:noFill/>
          </a:ln>
        </p:spPr>
        <p:txBody>
          <a:bodyPr rtlCol="0" anchor="ctr"/>
          <a:lstStyle/>
          <a:p>
            <a:pPr algn="ctr"/>
          </a:p>
        </p:txBody>
      </p:sp>
      <p:sp>
        <p:nvSpPr>
          <p:cNvPr id="393" name="Rectangle 392"/>
          <p:cNvSpPr/>
          <p:nvPr/>
        </p:nvSpPr>
        <p:spPr>
          <a:xfrm>
            <a:off x="10750829" y="3145536"/>
            <a:ext cx="157277" cy="157277"/>
          </a:xfrm>
          <a:prstGeom prst="rect">
            <a:avLst/>
          </a:prstGeom>
          <a:solidFill>
            <a:srgbClr val="E5E7EB"/>
          </a:solidFill>
          <a:ln>
            <a:noFill/>
          </a:ln>
        </p:spPr>
        <p:txBody>
          <a:bodyPr rtlCol="0" anchor="ctr"/>
          <a:lstStyle/>
          <a:p>
            <a:pPr algn="ctr"/>
          </a:p>
        </p:txBody>
      </p:sp>
      <p:sp>
        <p:nvSpPr>
          <p:cNvPr id="394" name="Rectangle 393"/>
          <p:cNvSpPr/>
          <p:nvPr/>
        </p:nvSpPr>
        <p:spPr>
          <a:xfrm>
            <a:off x="10750829" y="2948940"/>
            <a:ext cx="157277" cy="157277"/>
          </a:xfrm>
          <a:prstGeom prst="rect">
            <a:avLst/>
          </a:prstGeom>
          <a:solidFill>
            <a:srgbClr val="E5E7EB"/>
          </a:solidFill>
          <a:ln>
            <a:noFill/>
          </a:ln>
        </p:spPr>
        <p:txBody>
          <a:bodyPr rtlCol="0" anchor="ctr"/>
          <a:lstStyle/>
          <a:p>
            <a:pPr algn="ctr"/>
          </a:p>
        </p:txBody>
      </p:sp>
      <p:sp>
        <p:nvSpPr>
          <p:cNvPr id="395" name="Rectangle 394"/>
          <p:cNvSpPr/>
          <p:nvPr/>
        </p:nvSpPr>
        <p:spPr>
          <a:xfrm>
            <a:off x="10750829" y="2752344"/>
            <a:ext cx="157277" cy="157277"/>
          </a:xfrm>
          <a:prstGeom prst="rect">
            <a:avLst/>
          </a:prstGeom>
          <a:solidFill>
            <a:srgbClr val="E5E7EB"/>
          </a:solidFill>
          <a:ln>
            <a:noFill/>
          </a:ln>
        </p:spPr>
        <p:txBody>
          <a:bodyPr rtlCol="0" anchor="ctr"/>
          <a:lstStyle/>
          <a:p>
            <a:pPr algn="ctr"/>
          </a:p>
        </p:txBody>
      </p:sp>
      <p:sp>
        <p:nvSpPr>
          <p:cNvPr id="396" name="Rectangle 395"/>
          <p:cNvSpPr/>
          <p:nvPr/>
        </p:nvSpPr>
        <p:spPr>
          <a:xfrm>
            <a:off x="10750829" y="2555748"/>
            <a:ext cx="157277" cy="157277"/>
          </a:xfrm>
          <a:prstGeom prst="rect">
            <a:avLst/>
          </a:prstGeom>
          <a:solidFill>
            <a:srgbClr val="E5E7EB"/>
          </a:solidFill>
          <a:ln>
            <a:noFill/>
          </a:ln>
        </p:spPr>
        <p:txBody>
          <a:bodyPr rtlCol="0" anchor="ctr"/>
          <a:lstStyle/>
          <a:p>
            <a:pPr algn="ctr"/>
          </a:p>
        </p:txBody>
      </p:sp>
      <p:sp>
        <p:nvSpPr>
          <p:cNvPr id="397" name="Rectangle 396"/>
          <p:cNvSpPr/>
          <p:nvPr/>
        </p:nvSpPr>
        <p:spPr>
          <a:xfrm>
            <a:off x="10750829" y="2359152"/>
            <a:ext cx="157277" cy="157277"/>
          </a:xfrm>
          <a:prstGeom prst="rect">
            <a:avLst/>
          </a:prstGeom>
          <a:solidFill>
            <a:srgbClr val="E5E7EB"/>
          </a:solidFill>
          <a:ln>
            <a:noFill/>
          </a:ln>
        </p:spPr>
        <p:txBody>
          <a:bodyPr rtlCol="0" anchor="ctr"/>
          <a:lstStyle/>
          <a:p>
            <a:pPr algn="ctr"/>
          </a:p>
        </p:txBody>
      </p:sp>
      <p:sp>
        <p:nvSpPr>
          <p:cNvPr id="398" name="Rectangle 397"/>
          <p:cNvSpPr/>
          <p:nvPr/>
        </p:nvSpPr>
        <p:spPr>
          <a:xfrm>
            <a:off x="10750829" y="2162556"/>
            <a:ext cx="157277" cy="157277"/>
          </a:xfrm>
          <a:prstGeom prst="rect">
            <a:avLst/>
          </a:prstGeom>
          <a:solidFill>
            <a:srgbClr val="E5E7EB"/>
          </a:solidFill>
          <a:ln>
            <a:noFill/>
          </a:ln>
        </p:spPr>
        <p:txBody>
          <a:bodyPr rtlCol="0" anchor="ctr"/>
          <a:lstStyle/>
          <a:p>
            <a:pPr algn="ctr"/>
          </a:p>
        </p:txBody>
      </p:sp>
      <p:sp>
        <p:nvSpPr>
          <p:cNvPr id="399" name="Rectangle 398"/>
          <p:cNvSpPr/>
          <p:nvPr/>
        </p:nvSpPr>
        <p:spPr>
          <a:xfrm>
            <a:off x="10750829" y="1965960"/>
            <a:ext cx="157277" cy="157277"/>
          </a:xfrm>
          <a:prstGeom prst="rect">
            <a:avLst/>
          </a:prstGeom>
          <a:solidFill>
            <a:srgbClr val="E5E7EB"/>
          </a:solidFill>
          <a:ln>
            <a:noFill/>
          </a:ln>
        </p:spPr>
        <p:txBody>
          <a:bodyPr rtlCol="0" anchor="ctr"/>
          <a:lstStyle/>
          <a:p>
            <a:pPr algn="ctr"/>
          </a:p>
        </p:txBody>
      </p:sp>
      <p:sp>
        <p:nvSpPr>
          <p:cNvPr id="400" name="Rectangle 399"/>
          <p:cNvSpPr/>
          <p:nvPr/>
        </p:nvSpPr>
        <p:spPr>
          <a:xfrm>
            <a:off x="10750829" y="1769364"/>
            <a:ext cx="157277" cy="157277"/>
          </a:xfrm>
          <a:prstGeom prst="rect">
            <a:avLst/>
          </a:prstGeom>
          <a:solidFill>
            <a:srgbClr val="E5E7EB"/>
          </a:solidFill>
          <a:ln>
            <a:noFill/>
          </a:ln>
        </p:spPr>
        <p:txBody>
          <a:bodyPr rtlCol="0" anchor="ctr"/>
          <a:lstStyle/>
          <a:p>
            <a:pPr algn="ctr"/>
          </a:p>
        </p:txBody>
      </p:sp>
      <p:sp>
        <p:nvSpPr>
          <p:cNvPr id="401" name="Rectangle 400"/>
          <p:cNvSpPr/>
          <p:nvPr/>
        </p:nvSpPr>
        <p:spPr>
          <a:xfrm>
            <a:off x="10750829" y="1572768"/>
            <a:ext cx="157277" cy="157277"/>
          </a:xfrm>
          <a:prstGeom prst="rect">
            <a:avLst/>
          </a:prstGeom>
          <a:solidFill>
            <a:srgbClr val="E5E7EB"/>
          </a:solidFill>
          <a:ln>
            <a:noFill/>
          </a:ln>
        </p:spPr>
        <p:txBody>
          <a:bodyPr rtlCol="0" anchor="ctr"/>
          <a:lstStyle/>
          <a:p>
            <a:pPr algn="ctr"/>
          </a:p>
        </p:txBody>
      </p:sp>
      <p:sp>
        <p:nvSpPr>
          <p:cNvPr id="402" name="Rectangle 401"/>
          <p:cNvSpPr/>
          <p:nvPr/>
        </p:nvSpPr>
        <p:spPr>
          <a:xfrm>
            <a:off x="10947425" y="3342132"/>
            <a:ext cx="157277" cy="157277"/>
          </a:xfrm>
          <a:prstGeom prst="rect">
            <a:avLst/>
          </a:prstGeom>
          <a:solidFill>
            <a:srgbClr val="E5E7EB"/>
          </a:solidFill>
          <a:ln>
            <a:noFill/>
          </a:ln>
        </p:spPr>
        <p:txBody>
          <a:bodyPr rtlCol="0" anchor="ctr"/>
          <a:lstStyle/>
          <a:p>
            <a:pPr algn="ctr"/>
          </a:p>
        </p:txBody>
      </p:sp>
      <p:sp>
        <p:nvSpPr>
          <p:cNvPr id="403" name="Rectangle 402"/>
          <p:cNvSpPr/>
          <p:nvPr/>
        </p:nvSpPr>
        <p:spPr>
          <a:xfrm>
            <a:off x="10947425" y="3145536"/>
            <a:ext cx="157277" cy="157277"/>
          </a:xfrm>
          <a:prstGeom prst="rect">
            <a:avLst/>
          </a:prstGeom>
          <a:solidFill>
            <a:srgbClr val="E5E7EB"/>
          </a:solidFill>
          <a:ln>
            <a:noFill/>
          </a:ln>
        </p:spPr>
        <p:txBody>
          <a:bodyPr rtlCol="0" anchor="ctr"/>
          <a:lstStyle/>
          <a:p>
            <a:pPr algn="ctr"/>
          </a:p>
        </p:txBody>
      </p:sp>
      <p:sp>
        <p:nvSpPr>
          <p:cNvPr id="404" name="Rectangle 403"/>
          <p:cNvSpPr/>
          <p:nvPr/>
        </p:nvSpPr>
        <p:spPr>
          <a:xfrm>
            <a:off x="10947425" y="2948940"/>
            <a:ext cx="157277" cy="157277"/>
          </a:xfrm>
          <a:prstGeom prst="rect">
            <a:avLst/>
          </a:prstGeom>
          <a:solidFill>
            <a:srgbClr val="E5E7EB"/>
          </a:solidFill>
          <a:ln>
            <a:noFill/>
          </a:ln>
        </p:spPr>
        <p:txBody>
          <a:bodyPr rtlCol="0" anchor="ctr"/>
          <a:lstStyle/>
          <a:p>
            <a:pPr algn="ctr"/>
          </a:p>
        </p:txBody>
      </p:sp>
      <p:sp>
        <p:nvSpPr>
          <p:cNvPr id="405" name="Rectangle 404"/>
          <p:cNvSpPr/>
          <p:nvPr/>
        </p:nvSpPr>
        <p:spPr>
          <a:xfrm>
            <a:off x="10947425" y="2752344"/>
            <a:ext cx="157277" cy="157277"/>
          </a:xfrm>
          <a:prstGeom prst="rect">
            <a:avLst/>
          </a:prstGeom>
          <a:solidFill>
            <a:srgbClr val="E5E7EB"/>
          </a:solidFill>
          <a:ln>
            <a:noFill/>
          </a:ln>
        </p:spPr>
        <p:txBody>
          <a:bodyPr rtlCol="0" anchor="ctr"/>
          <a:lstStyle/>
          <a:p>
            <a:pPr algn="ctr"/>
          </a:p>
        </p:txBody>
      </p:sp>
      <p:sp>
        <p:nvSpPr>
          <p:cNvPr id="406" name="Rectangle 405"/>
          <p:cNvSpPr/>
          <p:nvPr/>
        </p:nvSpPr>
        <p:spPr>
          <a:xfrm>
            <a:off x="10947425" y="2555748"/>
            <a:ext cx="157277" cy="157277"/>
          </a:xfrm>
          <a:prstGeom prst="rect">
            <a:avLst/>
          </a:prstGeom>
          <a:solidFill>
            <a:srgbClr val="E5E7EB"/>
          </a:solidFill>
          <a:ln>
            <a:noFill/>
          </a:ln>
        </p:spPr>
        <p:txBody>
          <a:bodyPr rtlCol="0" anchor="ctr"/>
          <a:lstStyle/>
          <a:p>
            <a:pPr algn="ctr"/>
          </a:p>
        </p:txBody>
      </p:sp>
      <p:sp>
        <p:nvSpPr>
          <p:cNvPr id="407" name="Rectangle 406"/>
          <p:cNvSpPr/>
          <p:nvPr/>
        </p:nvSpPr>
        <p:spPr>
          <a:xfrm>
            <a:off x="10947425" y="2359152"/>
            <a:ext cx="157277" cy="157277"/>
          </a:xfrm>
          <a:prstGeom prst="rect">
            <a:avLst/>
          </a:prstGeom>
          <a:solidFill>
            <a:srgbClr val="E5E7EB"/>
          </a:solidFill>
          <a:ln>
            <a:noFill/>
          </a:ln>
        </p:spPr>
        <p:txBody>
          <a:bodyPr rtlCol="0" anchor="ctr"/>
          <a:lstStyle/>
          <a:p>
            <a:pPr algn="ctr"/>
          </a:p>
        </p:txBody>
      </p:sp>
      <p:sp>
        <p:nvSpPr>
          <p:cNvPr id="408" name="Rectangle 407"/>
          <p:cNvSpPr/>
          <p:nvPr/>
        </p:nvSpPr>
        <p:spPr>
          <a:xfrm>
            <a:off x="10947425" y="2162556"/>
            <a:ext cx="157277" cy="157277"/>
          </a:xfrm>
          <a:prstGeom prst="rect">
            <a:avLst/>
          </a:prstGeom>
          <a:solidFill>
            <a:srgbClr val="E5E7EB"/>
          </a:solidFill>
          <a:ln>
            <a:noFill/>
          </a:ln>
        </p:spPr>
        <p:txBody>
          <a:bodyPr rtlCol="0" anchor="ctr"/>
          <a:lstStyle/>
          <a:p>
            <a:pPr algn="ctr"/>
          </a:p>
        </p:txBody>
      </p:sp>
      <p:sp>
        <p:nvSpPr>
          <p:cNvPr id="409" name="Rectangle 408"/>
          <p:cNvSpPr/>
          <p:nvPr/>
        </p:nvSpPr>
        <p:spPr>
          <a:xfrm>
            <a:off x="10947425" y="1965960"/>
            <a:ext cx="157277" cy="157277"/>
          </a:xfrm>
          <a:prstGeom prst="rect">
            <a:avLst/>
          </a:prstGeom>
          <a:solidFill>
            <a:srgbClr val="E5E7EB"/>
          </a:solidFill>
          <a:ln>
            <a:noFill/>
          </a:ln>
        </p:spPr>
        <p:txBody>
          <a:bodyPr rtlCol="0" anchor="ctr"/>
          <a:lstStyle/>
          <a:p>
            <a:pPr algn="ctr"/>
          </a:p>
        </p:txBody>
      </p:sp>
      <p:sp>
        <p:nvSpPr>
          <p:cNvPr id="410" name="Rectangle 409"/>
          <p:cNvSpPr/>
          <p:nvPr/>
        </p:nvSpPr>
        <p:spPr>
          <a:xfrm>
            <a:off x="10947425" y="1769364"/>
            <a:ext cx="157277" cy="157277"/>
          </a:xfrm>
          <a:prstGeom prst="rect">
            <a:avLst/>
          </a:prstGeom>
          <a:solidFill>
            <a:srgbClr val="E5E7EB"/>
          </a:solidFill>
          <a:ln>
            <a:noFill/>
          </a:ln>
        </p:spPr>
        <p:txBody>
          <a:bodyPr rtlCol="0" anchor="ctr"/>
          <a:lstStyle/>
          <a:p>
            <a:pPr algn="ctr"/>
          </a:p>
        </p:txBody>
      </p:sp>
      <p:sp>
        <p:nvSpPr>
          <p:cNvPr id="411" name="Rectangle 410"/>
          <p:cNvSpPr/>
          <p:nvPr/>
        </p:nvSpPr>
        <p:spPr>
          <a:xfrm>
            <a:off x="10947425" y="1572768"/>
            <a:ext cx="157277" cy="157277"/>
          </a:xfrm>
          <a:prstGeom prst="rect">
            <a:avLst/>
          </a:prstGeom>
          <a:solidFill>
            <a:srgbClr val="E5E7EB"/>
          </a:solidFill>
          <a:ln>
            <a:noFill/>
          </a:ln>
        </p:spPr>
        <p:txBody>
          <a:bodyPr rtlCol="0" anchor="ctr"/>
          <a:lstStyle/>
          <a:p>
            <a:pPr algn="ctr"/>
          </a:p>
        </p:txBody>
      </p:sp>
      <p:sp>
        <p:nvSpPr>
          <p:cNvPr id="412" name="TextBox 411"/>
          <p:cNvSpPr txBox="1"/>
          <p:nvPr/>
        </p:nvSpPr>
        <p:spPr>
          <a:xfrm>
            <a:off x="9178061"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0</a:t>
            </a:r>
          </a:p>
        </p:txBody>
      </p:sp>
      <p:sp>
        <p:nvSpPr>
          <p:cNvPr id="413" name="TextBox 412"/>
          <p:cNvSpPr txBox="1"/>
          <p:nvPr/>
        </p:nvSpPr>
        <p:spPr>
          <a:xfrm>
            <a:off x="9178061"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on-time committee payments reach a credit bureau</a:t>
            </a:r>
          </a:p>
        </p:txBody>
      </p:sp>
      <p:sp>
        <p:nvSpPr>
          <p:cNvPr id="414" name="Rectangle 413"/>
          <p:cNvSpPr/>
          <p:nvPr/>
        </p:nvSpPr>
        <p:spPr>
          <a:xfrm>
            <a:off x="548640" y="4892040"/>
            <a:ext cx="5257800" cy="1298448"/>
          </a:xfrm>
          <a:prstGeom prst="rect">
            <a:avLst/>
          </a:prstGeom>
          <a:solidFill>
            <a:srgbClr val="F3F4F6"/>
          </a:solidFill>
          <a:ln>
            <a:noFill/>
          </a:ln>
        </p:spPr>
        <p:txBody>
          <a:bodyPr rtlCol="0" anchor="ctr"/>
          <a:lstStyle/>
          <a:p>
            <a:pPr algn="ctr"/>
          </a:p>
        </p:txBody>
      </p:sp>
      <p:sp>
        <p:nvSpPr>
          <p:cNvPr id="415" name="TextBox 414"/>
          <p:cNvSpPr txBox="1"/>
          <p:nvPr/>
        </p:nvSpPr>
        <p:spPr>
          <a:xfrm>
            <a:off x="749808" y="5020056"/>
            <a:ext cx="4846320" cy="274320"/>
          </a:xfrm>
          <a:prstGeom prst="rect">
            <a:avLst/>
          </a:prstGeom>
          <a:noFill/>
        </p:spPr>
        <p:txBody>
          <a:bodyPr wrap="square" lIns="0" tIns="0" rIns="0" bIns="0">
            <a:spAutoFit/>
          </a:bodyPr>
          <a:lstStyle/>
          <a:p>
            <a:pPr>
              <a:lnSpc>
                <a:spcPct val="105000"/>
              </a:lnSpc>
            </a:pPr>
            <a:r>
              <a:rPr sz="1250" b="1">
                <a:solidFill>
                  <a:srgbClr val="0C1408"/>
                </a:solidFill>
                <a:latin typeface="Arial"/>
              </a:rPr>
              <a:t>Case, 2022</a:t>
            </a:r>
          </a:p>
        </p:txBody>
      </p:sp>
      <p:sp>
        <p:nvSpPr>
          <p:cNvPr id="416" name="TextBox 415"/>
          <p:cNvSpPr txBox="1"/>
          <p:nvPr/>
        </p:nvSpPr>
        <p:spPr>
          <a:xfrm>
            <a:off x="749808" y="5321808"/>
            <a:ext cx="4892040" cy="822960"/>
          </a:xfrm>
          <a:prstGeom prst="rect">
            <a:avLst/>
          </a:prstGeom>
          <a:noFill/>
        </p:spPr>
        <p:txBody>
          <a:bodyPr wrap="square" lIns="0" tIns="0" rIns="0" bIns="0">
            <a:spAutoFit/>
          </a:bodyPr>
          <a:lstStyle/>
          <a:p>
            <a:pPr>
              <a:lnSpc>
                <a:spcPct val="106000"/>
              </a:lnSpc>
            </a:pPr>
            <a:r>
              <a:rPr sz="1150">
                <a:solidFill>
                  <a:srgbClr val="0C1408"/>
                </a:solidFill>
                <a:latin typeface="Arial"/>
              </a:rPr>
              <a:t>One organiser ran more than 100 committees through Facebook and defaulted on about Rs 420 million. No written records were kept. [2]</a:t>
            </a:r>
          </a:p>
        </p:txBody>
      </p:sp>
      <p:sp>
        <p:nvSpPr>
          <p:cNvPr id="417" name="TextBox 416"/>
          <p:cNvSpPr txBox="1"/>
          <p:nvPr/>
        </p:nvSpPr>
        <p:spPr>
          <a:xfrm>
            <a:off x="6172200" y="4910328"/>
            <a:ext cx="54708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How informal committees fail</a:t>
            </a:r>
          </a:p>
        </p:txBody>
      </p:sp>
      <p:sp>
        <p:nvSpPr>
          <p:cNvPr id="418" name="Rectangle 417"/>
          <p:cNvSpPr/>
          <p:nvPr/>
        </p:nvSpPr>
        <p:spPr>
          <a:xfrm>
            <a:off x="6172200" y="5376672"/>
            <a:ext cx="118872" cy="118872"/>
          </a:xfrm>
          <a:prstGeom prst="rect">
            <a:avLst/>
          </a:prstGeom>
          <a:solidFill>
            <a:srgbClr val="D64545"/>
          </a:solidFill>
          <a:ln>
            <a:noFill/>
          </a:ln>
        </p:spPr>
        <p:txBody>
          <a:bodyPr rtlCol="0" anchor="ctr"/>
          <a:lstStyle/>
          <a:p>
            <a:pPr algn="ctr"/>
          </a:p>
        </p:txBody>
      </p:sp>
      <p:sp>
        <p:nvSpPr>
          <p:cNvPr id="419" name="TextBox 418"/>
          <p:cNvSpPr txBox="1"/>
          <p:nvPr/>
        </p:nvSpPr>
        <p:spPr>
          <a:xfrm>
            <a:off x="6391656"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The organiser leaves with the pot</a:t>
            </a:r>
          </a:p>
        </p:txBody>
      </p:sp>
      <p:sp>
        <p:nvSpPr>
          <p:cNvPr id="420" name="Rectangle 419"/>
          <p:cNvSpPr/>
          <p:nvPr/>
        </p:nvSpPr>
        <p:spPr>
          <a:xfrm>
            <a:off x="8907628" y="5376672"/>
            <a:ext cx="118872" cy="118872"/>
          </a:xfrm>
          <a:prstGeom prst="rect">
            <a:avLst/>
          </a:prstGeom>
          <a:solidFill>
            <a:srgbClr val="D64545"/>
          </a:solidFill>
          <a:ln>
            <a:noFill/>
          </a:ln>
        </p:spPr>
        <p:txBody>
          <a:bodyPr rtlCol="0" anchor="ctr"/>
          <a:lstStyle/>
          <a:p>
            <a:pPr algn="ctr"/>
          </a:p>
        </p:txBody>
      </p:sp>
      <p:sp>
        <p:nvSpPr>
          <p:cNvPr id="421" name="TextBox 420"/>
          <p:cNvSpPr txBox="1"/>
          <p:nvPr/>
        </p:nvSpPr>
        <p:spPr>
          <a:xfrm>
            <a:off x="9127084"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A member stops paying after collecting</a:t>
            </a:r>
          </a:p>
        </p:txBody>
      </p:sp>
      <p:sp>
        <p:nvSpPr>
          <p:cNvPr id="422" name="Rectangle 421"/>
          <p:cNvSpPr/>
          <p:nvPr/>
        </p:nvSpPr>
        <p:spPr>
          <a:xfrm>
            <a:off x="6172200" y="5815584"/>
            <a:ext cx="118872" cy="118872"/>
          </a:xfrm>
          <a:prstGeom prst="rect">
            <a:avLst/>
          </a:prstGeom>
          <a:solidFill>
            <a:srgbClr val="D64545"/>
          </a:solidFill>
          <a:ln>
            <a:noFill/>
          </a:ln>
        </p:spPr>
        <p:txBody>
          <a:bodyPr rtlCol="0" anchor="ctr"/>
          <a:lstStyle/>
          <a:p>
            <a:pPr algn="ctr"/>
          </a:p>
        </p:txBody>
      </p:sp>
      <p:sp>
        <p:nvSpPr>
          <p:cNvPr id="423" name="TextBox 422"/>
          <p:cNvSpPr txBox="1"/>
          <p:nvPr/>
        </p:nvSpPr>
        <p:spPr>
          <a:xfrm>
            <a:off x="6391656"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Disputes over the order of turns</a:t>
            </a:r>
          </a:p>
        </p:txBody>
      </p:sp>
      <p:sp>
        <p:nvSpPr>
          <p:cNvPr id="424" name="Rectangle 423"/>
          <p:cNvSpPr/>
          <p:nvPr/>
        </p:nvSpPr>
        <p:spPr>
          <a:xfrm>
            <a:off x="8907628" y="5815584"/>
            <a:ext cx="118872" cy="118872"/>
          </a:xfrm>
          <a:prstGeom prst="rect">
            <a:avLst/>
          </a:prstGeom>
          <a:solidFill>
            <a:srgbClr val="D64545"/>
          </a:solidFill>
          <a:ln>
            <a:noFill/>
          </a:ln>
        </p:spPr>
        <p:txBody>
          <a:bodyPr rtlCol="0" anchor="ctr"/>
          <a:lstStyle/>
          <a:p>
            <a:pPr algn="ctr"/>
          </a:p>
        </p:txBody>
      </p:sp>
      <p:sp>
        <p:nvSpPr>
          <p:cNvPr id="425" name="TextBox 424"/>
          <p:cNvSpPr txBox="1"/>
          <p:nvPr/>
        </p:nvSpPr>
        <p:spPr>
          <a:xfrm>
            <a:off x="9127084"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No record of who paid what</a:t>
            </a:r>
          </a:p>
        </p:txBody>
      </p:sp>
      <p:sp>
        <p:nvSpPr>
          <p:cNvPr id="426" name="TextBox 4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Financial Inclusion Insights survey data, in Mehmood et al. 2018    2  Dawn, 5 and 12 Dec 2022; Arab News, 10 Dec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Proposed Structure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Halqa runs the committee system; Mashreq holds and moves the money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6</a:t>
            </a:r>
          </a:p>
        </p:txBody>
      </p:sp>
      <p:sp>
        <p:nvSpPr>
          <p:cNvPr id="6" name="Rectangle 5"/>
          <p:cNvSpPr/>
          <p:nvPr/>
        </p:nvSpPr>
        <p:spPr>
          <a:xfrm>
            <a:off x="2926080" y="1600200"/>
            <a:ext cx="2514600" cy="77724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Halqa</a:t>
            </a:r>
          </a:p>
          <a:p>
            <a:pPr algn="ctr">
              <a:lnSpc>
                <a:spcPct val="102000"/>
              </a:lnSpc>
              <a:spcBef>
                <a:spcPts val="200"/>
              </a:spcBef>
            </a:pPr>
            <a:r>
              <a:rPr sz="1050">
                <a:solidFill>
                  <a:srgbClr val="4B5563"/>
                </a:solidFill>
                <a:latin typeface="Arial"/>
              </a:rPr>
              <a:t>committee system: rules, turns, checks, records</a:t>
            </a:r>
          </a:p>
        </p:txBody>
      </p:sp>
      <p:sp>
        <p:nvSpPr>
          <p:cNvPr id="7" name="Rectangle 6"/>
          <p:cNvSpPr/>
          <p:nvPr/>
        </p:nvSpPr>
        <p:spPr>
          <a:xfrm>
            <a:off x="2926080" y="3291840"/>
            <a:ext cx="2514600" cy="868680"/>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250" b="1">
                <a:solidFill>
                  <a:srgbClr val="0C1408"/>
                </a:solidFill>
                <a:latin typeface="Arial"/>
              </a:rPr>
              <a:t>Mashreq Bank Pakistan</a:t>
            </a:r>
          </a:p>
          <a:p>
            <a:pPr algn="ctr">
              <a:lnSpc>
                <a:spcPct val="102000"/>
              </a:lnSpc>
              <a:spcBef>
                <a:spcPts val="200"/>
              </a:spcBef>
            </a:pPr>
            <a:r>
              <a:rPr sz="1050">
                <a:solidFill>
                  <a:srgbClr val="4B5563"/>
                </a:solidFill>
                <a:latin typeface="Arial"/>
              </a:rPr>
              <a:t>accounts, collection, payouts, profit</a:t>
            </a:r>
          </a:p>
        </p:txBody>
      </p:sp>
      <p:sp>
        <p:nvSpPr>
          <p:cNvPr id="8" name="Rectangle 7"/>
          <p:cNvSpPr/>
          <p:nvPr/>
        </p:nvSpPr>
        <p:spPr>
          <a:xfrm>
            <a:off x="548640" y="3291840"/>
            <a:ext cx="1600200" cy="86868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250" b="1">
                <a:solidFill>
                  <a:srgbClr val="0C1408"/>
                </a:solidFill>
                <a:latin typeface="Arial"/>
              </a:rPr>
              <a:t>Members</a:t>
            </a:r>
          </a:p>
          <a:p>
            <a:pPr algn="ctr">
              <a:lnSpc>
                <a:spcPct val="102000"/>
              </a:lnSpc>
              <a:spcBef>
                <a:spcPts val="200"/>
              </a:spcBef>
            </a:pPr>
            <a:r>
              <a:rPr sz="1050">
                <a:solidFill>
                  <a:srgbClr val="4B5563"/>
                </a:solidFill>
                <a:latin typeface="Arial"/>
              </a:rPr>
              <a:t>each with a Mashreq account</a:t>
            </a:r>
          </a:p>
        </p:txBody>
      </p:sp>
      <p:sp>
        <p:nvSpPr>
          <p:cNvPr id="9" name="Rectangle 8"/>
          <p:cNvSpPr/>
          <p:nvPr/>
        </p:nvSpPr>
        <p:spPr>
          <a:xfrm>
            <a:off x="6126480" y="3291840"/>
            <a:ext cx="1600200" cy="868680"/>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250" b="1">
                <a:solidFill>
                  <a:srgbClr val="0C1408"/>
                </a:solidFill>
                <a:latin typeface="Arial"/>
              </a:rPr>
              <a:t>Licensed PSP</a:t>
            </a:r>
          </a:p>
          <a:p>
            <a:pPr algn="ctr">
              <a:lnSpc>
                <a:spcPct val="102000"/>
              </a:lnSpc>
              <a:spcBef>
                <a:spcPts val="200"/>
              </a:spcBef>
            </a:pPr>
            <a:r>
              <a:rPr sz="1050">
                <a:solidFill>
                  <a:srgbClr val="4B5563"/>
                </a:solidFill>
                <a:latin typeface="Arial"/>
              </a:rPr>
              <a:t>wallet and card payments</a:t>
            </a:r>
          </a:p>
        </p:txBody>
      </p:sp>
      <p:sp>
        <p:nvSpPr>
          <p:cNvPr id="10" name="Rectangle 9"/>
          <p:cNvSpPr/>
          <p:nvPr/>
        </p:nvSpPr>
        <p:spPr>
          <a:xfrm>
            <a:off x="6126480" y="4617720"/>
            <a:ext cx="1600200" cy="8686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Takaful or insurance operator</a:t>
            </a:r>
          </a:p>
          <a:p>
            <a:pPr algn="ctr">
              <a:lnSpc>
                <a:spcPct val="102000"/>
              </a:lnSpc>
              <a:spcBef>
                <a:spcPts val="200"/>
              </a:spcBef>
            </a:pPr>
            <a:r>
              <a:rPr sz="1050">
                <a:solidFill>
                  <a:srgbClr val="4B5563"/>
                </a:solidFill>
                <a:latin typeface="Arial"/>
              </a:rPr>
              <a:t>pays claims</a:t>
            </a:r>
          </a:p>
        </p:txBody>
      </p:sp>
      <p:sp>
        <p:nvSpPr>
          <p:cNvPr id="11" name="Rectangle 10"/>
          <p:cNvSpPr/>
          <p:nvPr/>
        </p:nvSpPr>
        <p:spPr>
          <a:xfrm>
            <a:off x="2926080" y="5029200"/>
            <a:ext cx="2514600" cy="6400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TASDEEQ</a:t>
            </a:r>
          </a:p>
          <a:p>
            <a:pPr algn="ctr">
              <a:lnSpc>
                <a:spcPct val="102000"/>
              </a:lnSpc>
              <a:spcBef>
                <a:spcPts val="200"/>
              </a:spcBef>
            </a:pPr>
            <a:r>
              <a:rPr sz="1050">
                <a:solidFill>
                  <a:srgbClr val="4B5563"/>
                </a:solidFill>
                <a:latin typeface="Arial"/>
              </a:rPr>
              <a:t>licensed credit bureau</a:t>
            </a:r>
          </a:p>
        </p:txBody>
      </p:sp>
      <p:cxnSp>
        <p:nvCxnSpPr>
          <p:cNvPr id="12" name="Connector 11"/>
          <p:cNvCxnSpPr/>
          <p:nvPr/>
        </p:nvCxnSpPr>
        <p:spPr>
          <a:xfrm>
            <a:off x="2148840" y="3502152"/>
            <a:ext cx="777240" cy="0"/>
          </a:xfrm>
          <a:prstGeom prst="line">
            <a:avLst/>
          </a:prstGeom>
          <a:ln w="38100">
            <a:solidFill>
              <a:srgbClr val="2A78D6"/>
            </a:solidFill>
            <a:tailEnd type="triangle" w="med" len="med"/>
          </a:ln>
        </p:spPr>
      </p:cxnSp>
      <p:sp>
        <p:nvSpPr>
          <p:cNvPr id="13" name="TextBox 12"/>
          <p:cNvSpPr txBox="1"/>
          <p:nvPr/>
        </p:nvSpPr>
        <p:spPr>
          <a:xfrm>
            <a:off x="2148840" y="3227832"/>
            <a:ext cx="77724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instalments</a:t>
            </a:r>
          </a:p>
        </p:txBody>
      </p:sp>
      <p:cxnSp>
        <p:nvCxnSpPr>
          <p:cNvPr id="14" name="Connector 13"/>
          <p:cNvCxnSpPr/>
          <p:nvPr/>
        </p:nvCxnSpPr>
        <p:spPr>
          <a:xfrm flipH="1">
            <a:off x="2148840" y="3931920"/>
            <a:ext cx="777240" cy="0"/>
          </a:xfrm>
          <a:prstGeom prst="line">
            <a:avLst/>
          </a:prstGeom>
          <a:ln w="38100">
            <a:solidFill>
              <a:srgbClr val="2A78D6"/>
            </a:solidFill>
            <a:tailEnd type="triangle" w="med" len="med"/>
          </a:ln>
        </p:spPr>
      </p:cxnSp>
      <p:sp>
        <p:nvSpPr>
          <p:cNvPr id="15" name="TextBox 14"/>
          <p:cNvSpPr txBox="1"/>
          <p:nvPr/>
        </p:nvSpPr>
        <p:spPr>
          <a:xfrm>
            <a:off x="2148840" y="3968496"/>
            <a:ext cx="77724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pots</a:t>
            </a:r>
          </a:p>
        </p:txBody>
      </p:sp>
      <p:cxnSp>
        <p:nvCxnSpPr>
          <p:cNvPr id="16" name="Connector 15"/>
          <p:cNvCxnSpPr/>
          <p:nvPr/>
        </p:nvCxnSpPr>
        <p:spPr>
          <a:xfrm flipH="1">
            <a:off x="5440680" y="3721608"/>
            <a:ext cx="685800" cy="0"/>
          </a:xfrm>
          <a:prstGeom prst="line">
            <a:avLst/>
          </a:prstGeom>
          <a:ln w="38100">
            <a:solidFill>
              <a:srgbClr val="2A78D6"/>
            </a:solidFill>
            <a:tailEnd type="triangle" w="med" len="med"/>
          </a:ln>
        </p:spPr>
      </p:cxnSp>
      <p:sp>
        <p:nvSpPr>
          <p:cNvPr id="17" name="TextBox 16"/>
          <p:cNvSpPr txBox="1"/>
          <p:nvPr/>
        </p:nvSpPr>
        <p:spPr>
          <a:xfrm>
            <a:off x="5440680" y="3438144"/>
            <a:ext cx="73152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payments</a:t>
            </a:r>
          </a:p>
        </p:txBody>
      </p:sp>
      <p:sp>
        <p:nvSpPr>
          <p:cNvPr id="18" name="Freeform 17"/>
          <p:cNvSpPr/>
          <p:nvPr/>
        </p:nvSpPr>
        <p:spPr>
          <a:xfrm>
            <a:off x="5440680" y="4023360"/>
            <a:ext cx="685800" cy="1024128"/>
          </a:xfrm>
          <a:custGeom>
            <a:avLst/>
            <a:gdLst/>
            <a:ahLst/>
            <a:cxnLst/>
            <a:rect l="l" t="t" r="r" b="b"/>
            <a:pathLst>
              <a:path w="685800" h="1024128">
                <a:moveTo>
                  <a:pt x="0" y="0"/>
                </a:moveTo>
                <a:lnTo>
                  <a:pt x="365760" y="0"/>
                </a:lnTo>
                <a:lnTo>
                  <a:pt x="365760" y="1024128"/>
                </a:lnTo>
                <a:lnTo>
                  <a:pt x="685800" y="1024128"/>
                </a:lnTo>
              </a:path>
            </a:pathLst>
          </a:custGeom>
          <a:noFill/>
          <a:ln w="38100">
            <a:solidFill>
              <a:srgbClr val="2A78D6"/>
            </a:solidFill>
            <a:tailEnd type="triangle" w="med" len="med"/>
          </a:ln>
        </p:spPr>
        <p:txBody>
          <a:bodyPr rtlCol="0" anchor="ctr"/>
          <a:lstStyle/>
          <a:p>
            <a:pPr algn="ctr"/>
          </a:p>
        </p:txBody>
      </p:sp>
      <p:sp>
        <p:nvSpPr>
          <p:cNvPr id="19" name="TextBox 18"/>
          <p:cNvSpPr txBox="1"/>
          <p:nvPr/>
        </p:nvSpPr>
        <p:spPr>
          <a:xfrm>
            <a:off x="4846320" y="4224528"/>
            <a:ext cx="91440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contributions</a:t>
            </a:r>
          </a:p>
        </p:txBody>
      </p:sp>
      <p:sp>
        <p:nvSpPr>
          <p:cNvPr id="20" name="Freeform 19"/>
          <p:cNvSpPr/>
          <p:nvPr/>
        </p:nvSpPr>
        <p:spPr>
          <a:xfrm>
            <a:off x="1348740" y="4160520"/>
            <a:ext cx="5573268" cy="1691640"/>
          </a:xfrm>
          <a:custGeom>
            <a:avLst/>
            <a:gdLst/>
            <a:ahLst/>
            <a:cxnLst/>
            <a:rect l="l" t="t" r="r" b="b"/>
            <a:pathLst>
              <a:path w="5573268" h="1691640">
                <a:moveTo>
                  <a:pt x="5573268" y="1325880"/>
                </a:moveTo>
                <a:lnTo>
                  <a:pt x="5573268" y="1691640"/>
                </a:lnTo>
                <a:lnTo>
                  <a:pt x="0" y="1691640"/>
                </a:lnTo>
                <a:lnTo>
                  <a:pt x="0" y="0"/>
                </a:lnTo>
              </a:path>
            </a:pathLst>
          </a:custGeom>
          <a:noFill/>
          <a:ln w="38100">
            <a:solidFill>
              <a:srgbClr val="2A78D6"/>
            </a:solidFill>
            <a:tailEnd type="triangle" w="med" len="med"/>
          </a:ln>
        </p:spPr>
        <p:txBody>
          <a:bodyPr rtlCol="0" anchor="ctr"/>
          <a:lstStyle/>
          <a:p>
            <a:pPr algn="ctr"/>
          </a:p>
        </p:txBody>
      </p:sp>
      <p:sp>
        <p:nvSpPr>
          <p:cNvPr id="21" name="TextBox 20"/>
          <p:cNvSpPr txBox="1"/>
          <p:nvPr/>
        </p:nvSpPr>
        <p:spPr>
          <a:xfrm>
            <a:off x="1463040" y="5321808"/>
            <a:ext cx="1371600" cy="457200"/>
          </a:xfrm>
          <a:prstGeom prst="rect">
            <a:avLst/>
          </a:prstGeom>
          <a:noFill/>
        </p:spPr>
        <p:txBody>
          <a:bodyPr wrap="square" lIns="0" tIns="0" rIns="0" bIns="0">
            <a:spAutoFit/>
          </a:bodyPr>
          <a:lstStyle/>
          <a:p>
            <a:pPr>
              <a:lnSpc>
                <a:spcPct val="100000"/>
              </a:lnSpc>
            </a:pPr>
            <a:r>
              <a:rPr sz="950">
                <a:solidFill>
                  <a:srgbClr val="4B5563"/>
                </a:solidFill>
                <a:latin typeface="Arial"/>
              </a:rPr>
              <a:t>claims paid to members left short</a:t>
            </a:r>
          </a:p>
        </p:txBody>
      </p:sp>
      <p:cxnSp>
        <p:nvCxnSpPr>
          <p:cNvPr id="22" name="Connector 21"/>
          <p:cNvCxnSpPr/>
          <p:nvPr/>
        </p:nvCxnSpPr>
        <p:spPr>
          <a:xfrm>
            <a:off x="3886200" y="2377440"/>
            <a:ext cx="0" cy="914400"/>
          </a:xfrm>
          <a:prstGeom prst="line">
            <a:avLst/>
          </a:prstGeom>
          <a:ln w="19050">
            <a:solidFill>
              <a:srgbClr val="41801A"/>
            </a:solidFill>
            <a:tailEnd type="triangle" w="med" len="med"/>
          </a:ln>
        </p:spPr>
      </p:cxnSp>
      <p:sp>
        <p:nvSpPr>
          <p:cNvPr id="23" name="TextBox 22"/>
          <p:cNvSpPr txBox="1"/>
          <p:nvPr/>
        </p:nvSpPr>
        <p:spPr>
          <a:xfrm>
            <a:off x="2194560" y="2670048"/>
            <a:ext cx="164592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instructions</a:t>
            </a:r>
          </a:p>
        </p:txBody>
      </p:sp>
      <p:cxnSp>
        <p:nvCxnSpPr>
          <p:cNvPr id="24" name="Connector 23"/>
          <p:cNvCxnSpPr/>
          <p:nvPr/>
        </p:nvCxnSpPr>
        <p:spPr>
          <a:xfrm flipV="1">
            <a:off x="4526280" y="2377440"/>
            <a:ext cx="0" cy="914400"/>
          </a:xfrm>
          <a:prstGeom prst="line">
            <a:avLst/>
          </a:prstGeom>
          <a:ln w="15875">
            <a:solidFill>
              <a:srgbClr val="4B5563"/>
            </a:solidFill>
            <a:prstDash val="dash"/>
            <a:tailEnd type="triangle" w="med" len="med"/>
          </a:ln>
        </p:spPr>
      </p:cxnSp>
      <p:sp>
        <p:nvSpPr>
          <p:cNvPr id="25" name="TextBox 24"/>
          <p:cNvSpPr txBox="1"/>
          <p:nvPr/>
        </p:nvSpPr>
        <p:spPr>
          <a:xfrm>
            <a:off x="4590288" y="2670048"/>
            <a:ext cx="1371600" cy="246888"/>
          </a:xfrm>
          <a:prstGeom prst="rect">
            <a:avLst/>
          </a:prstGeom>
          <a:noFill/>
        </p:spPr>
        <p:txBody>
          <a:bodyPr wrap="square" lIns="0" tIns="0" rIns="0" bIns="0">
            <a:spAutoFit/>
          </a:bodyPr>
          <a:lstStyle/>
          <a:p>
            <a:pPr>
              <a:lnSpc>
                <a:spcPct val="100000"/>
              </a:lnSpc>
            </a:pPr>
            <a:r>
              <a:rPr sz="950">
                <a:solidFill>
                  <a:srgbClr val="4B5563"/>
                </a:solidFill>
                <a:latin typeface="Arial"/>
              </a:rPr>
              <a:t>confirmations</a:t>
            </a:r>
          </a:p>
        </p:txBody>
      </p:sp>
      <p:sp>
        <p:nvSpPr>
          <p:cNvPr id="26" name="Freeform 25"/>
          <p:cNvSpPr/>
          <p:nvPr/>
        </p:nvSpPr>
        <p:spPr>
          <a:xfrm>
            <a:off x="5440680" y="1984248"/>
            <a:ext cx="1481328" cy="1307592"/>
          </a:xfrm>
          <a:custGeom>
            <a:avLst/>
            <a:gdLst/>
            <a:ahLst/>
            <a:cxnLst/>
            <a:rect l="l" t="t" r="r" b="b"/>
            <a:pathLst>
              <a:path w="1481328" h="1307592">
                <a:moveTo>
                  <a:pt x="0" y="0"/>
                </a:moveTo>
                <a:lnTo>
                  <a:pt x="1481328" y="0"/>
                </a:lnTo>
                <a:lnTo>
                  <a:pt x="1481328" y="1307592"/>
                </a:lnTo>
              </a:path>
            </a:pathLst>
          </a:custGeom>
          <a:noFill/>
          <a:ln w="19050">
            <a:solidFill>
              <a:srgbClr val="41801A"/>
            </a:solidFill>
            <a:tailEnd type="triangle" w="med" len="med"/>
          </a:ln>
        </p:spPr>
        <p:txBody>
          <a:bodyPr rtlCol="0" anchor="ctr"/>
          <a:lstStyle/>
          <a:p>
            <a:pPr algn="ctr"/>
          </a:p>
        </p:txBody>
      </p:sp>
      <p:sp>
        <p:nvSpPr>
          <p:cNvPr id="27" name="TextBox 26"/>
          <p:cNvSpPr txBox="1"/>
          <p:nvPr/>
        </p:nvSpPr>
        <p:spPr>
          <a:xfrm>
            <a:off x="5532120" y="1719072"/>
            <a:ext cx="1417320" cy="246888"/>
          </a:xfrm>
          <a:prstGeom prst="rect">
            <a:avLst/>
          </a:prstGeom>
          <a:noFill/>
        </p:spPr>
        <p:txBody>
          <a:bodyPr wrap="square" lIns="0" tIns="0" rIns="0" bIns="0">
            <a:spAutoFit/>
          </a:bodyPr>
          <a:lstStyle/>
          <a:p>
            <a:pPr>
              <a:lnSpc>
                <a:spcPct val="100000"/>
              </a:lnSpc>
            </a:pPr>
            <a:r>
              <a:rPr sz="950">
                <a:solidFill>
                  <a:srgbClr val="4B5563"/>
                </a:solidFill>
                <a:latin typeface="Arial"/>
              </a:rPr>
              <a:t>payment requests</a:t>
            </a:r>
          </a:p>
        </p:txBody>
      </p:sp>
      <p:sp>
        <p:nvSpPr>
          <p:cNvPr id="28" name="Freeform 27"/>
          <p:cNvSpPr/>
          <p:nvPr/>
        </p:nvSpPr>
        <p:spPr>
          <a:xfrm>
            <a:off x="1348740" y="1984248"/>
            <a:ext cx="1577340" cy="1307592"/>
          </a:xfrm>
          <a:custGeom>
            <a:avLst/>
            <a:gdLst/>
            <a:ahLst/>
            <a:cxnLst/>
            <a:rect l="l" t="t" r="r" b="b"/>
            <a:pathLst>
              <a:path w="1577340" h="1307592">
                <a:moveTo>
                  <a:pt x="0" y="1307592"/>
                </a:moveTo>
                <a:lnTo>
                  <a:pt x="0" y="0"/>
                </a:lnTo>
                <a:lnTo>
                  <a:pt x="1577340" y="0"/>
                </a:lnTo>
              </a:path>
            </a:pathLst>
          </a:custGeom>
          <a:noFill/>
          <a:ln w="19050">
            <a:solidFill>
              <a:srgbClr val="41801A"/>
            </a:solidFill>
            <a:tailEnd type="triangle" w="med" len="med"/>
          </a:ln>
        </p:spPr>
        <p:txBody>
          <a:bodyPr rtlCol="0" anchor="ctr"/>
          <a:lstStyle/>
          <a:p>
            <a:pPr algn="ctr"/>
          </a:p>
        </p:txBody>
      </p:sp>
      <p:sp>
        <p:nvSpPr>
          <p:cNvPr id="29" name="TextBox 28"/>
          <p:cNvSpPr txBox="1"/>
          <p:nvPr/>
        </p:nvSpPr>
        <p:spPr>
          <a:xfrm>
            <a:off x="548640" y="1700784"/>
            <a:ext cx="233172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join, consent, pay in the app</a:t>
            </a:r>
          </a:p>
        </p:txBody>
      </p:sp>
      <p:cxnSp>
        <p:nvCxnSpPr>
          <p:cNvPr id="30" name="Connector 29"/>
          <p:cNvCxnSpPr/>
          <p:nvPr/>
        </p:nvCxnSpPr>
        <p:spPr>
          <a:xfrm>
            <a:off x="4178808" y="4160520"/>
            <a:ext cx="0" cy="868680"/>
          </a:xfrm>
          <a:prstGeom prst="line">
            <a:avLst/>
          </a:prstGeom>
          <a:ln w="15875">
            <a:solidFill>
              <a:srgbClr val="4B5563"/>
            </a:solidFill>
            <a:prstDash val="dash"/>
            <a:tailEnd type="triangle" w="med" len="med"/>
          </a:ln>
        </p:spPr>
      </p:cxnSp>
      <p:sp>
        <p:nvSpPr>
          <p:cNvPr id="31" name="TextBox 30"/>
          <p:cNvSpPr txBox="1"/>
          <p:nvPr/>
        </p:nvSpPr>
        <p:spPr>
          <a:xfrm>
            <a:off x="4242816" y="4434840"/>
            <a:ext cx="1463040" cy="246888"/>
          </a:xfrm>
          <a:prstGeom prst="rect">
            <a:avLst/>
          </a:prstGeom>
          <a:noFill/>
        </p:spPr>
        <p:txBody>
          <a:bodyPr wrap="square" lIns="0" tIns="0" rIns="0" bIns="0">
            <a:spAutoFit/>
          </a:bodyPr>
          <a:lstStyle/>
          <a:p>
            <a:pPr>
              <a:lnSpc>
                <a:spcPct val="100000"/>
              </a:lnSpc>
            </a:pPr>
            <a:r>
              <a:rPr sz="950">
                <a:solidFill>
                  <a:srgbClr val="4B5563"/>
                </a:solidFill>
                <a:latin typeface="Arial"/>
              </a:rPr>
              <a:t>payment records</a:t>
            </a:r>
          </a:p>
        </p:txBody>
      </p:sp>
      <p:sp>
        <p:nvSpPr>
          <p:cNvPr id="32" name="Rectangle 31"/>
          <p:cNvSpPr/>
          <p:nvPr/>
        </p:nvSpPr>
        <p:spPr>
          <a:xfrm>
            <a:off x="8229600" y="1636776"/>
            <a:ext cx="155448" cy="155448"/>
          </a:xfrm>
          <a:prstGeom prst="rect">
            <a:avLst/>
          </a:prstGeom>
          <a:solidFill>
            <a:srgbClr val="6DC72A"/>
          </a:solidFill>
          <a:ln>
            <a:noFill/>
          </a:ln>
        </p:spPr>
        <p:txBody>
          <a:bodyPr rtlCol="0" anchor="ctr"/>
          <a:lstStyle/>
          <a:p>
            <a:pPr algn="ctr"/>
          </a:p>
        </p:txBody>
      </p:sp>
      <p:sp>
        <p:nvSpPr>
          <p:cNvPr id="33" name="TextBox 32"/>
          <p:cNvSpPr txBox="1"/>
          <p:nvPr/>
        </p:nvSpPr>
        <p:spPr>
          <a:xfrm>
            <a:off x="8476488" y="15727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a:t>
            </a:r>
          </a:p>
        </p:txBody>
      </p:sp>
      <p:sp>
        <p:nvSpPr>
          <p:cNvPr id="34" name="TextBox 33"/>
          <p:cNvSpPr txBox="1"/>
          <p:nvPr/>
        </p:nvSpPr>
        <p:spPr>
          <a:xfrm>
            <a:off x="8247888" y="1883664"/>
            <a:ext cx="3413455" cy="1234440"/>
          </a:xfrm>
          <a:prstGeom prst="rect">
            <a:avLst/>
          </a:prstGeom>
          <a:noFill/>
        </p:spPr>
        <p:txBody>
          <a:bodyPr wrap="square" lIns="0" tIns="0" rIns="0" bIns="0">
            <a:spAutoFit/>
          </a:bodyPr>
          <a:lstStyle/>
          <a:p>
            <a:pPr marL="173736" indent="-173736">
              <a:lnSpc>
                <a:spcPct val="100000"/>
              </a:lnSpc>
              <a:spcAft>
                <a:spcPts val="150"/>
              </a:spcAft>
              <a:buClr>
                <a:srgbClr val="6DC72A"/>
              </a:buClr>
              <a:buSzPct val="70000"/>
              <a:buFont typeface="Arial"/>
              <a:buChar char="■"/>
            </a:pPr>
            <a:r>
              <a:rPr sz="1100">
                <a:solidFill>
                  <a:srgbClr val="0C1408"/>
                </a:solidFill>
                <a:latin typeface="Arial"/>
              </a:rPr>
              <a:t>Circle rules and turn order</a:t>
            </a:r>
          </a:p>
          <a:p>
            <a:pPr marL="173736" indent="-173736">
              <a:lnSpc>
                <a:spcPct val="100000"/>
              </a:lnSpc>
              <a:spcAft>
                <a:spcPts val="150"/>
              </a:spcAft>
              <a:buClr>
                <a:srgbClr val="6DC72A"/>
              </a:buClr>
              <a:buSzPct val="70000"/>
              <a:buFont typeface="Arial"/>
              <a:buChar char="■"/>
            </a:pPr>
            <a:r>
              <a:rPr sz="1100">
                <a:solidFill>
                  <a:srgbClr val="0C1408"/>
                </a:solidFill>
                <a:latin typeface="Arial"/>
              </a:rPr>
              <a:t>Member checks and credit score</a:t>
            </a:r>
          </a:p>
          <a:p>
            <a:pPr marL="173736" indent="-173736">
              <a:lnSpc>
                <a:spcPct val="100000"/>
              </a:lnSpc>
              <a:spcAft>
                <a:spcPts val="150"/>
              </a:spcAft>
              <a:buClr>
                <a:srgbClr val="6DC72A"/>
              </a:buClr>
              <a:buSzPct val="70000"/>
              <a:buFont typeface="Arial"/>
              <a:buChar char="■"/>
            </a:pPr>
            <a:r>
              <a:rPr sz="1100">
                <a:solidFill>
                  <a:srgbClr val="0C1408"/>
                </a:solidFill>
                <a:latin typeface="Arial"/>
              </a:rPr>
              <a:t>Reminders, records and receipts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Late charges and exits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Data for credit reporting</a:t>
            </a:r>
          </a:p>
        </p:txBody>
      </p:sp>
      <p:sp>
        <p:nvSpPr>
          <p:cNvPr id="35" name="Rectangle 34"/>
          <p:cNvSpPr/>
          <p:nvPr/>
        </p:nvSpPr>
        <p:spPr>
          <a:xfrm>
            <a:off x="8229600" y="3351276"/>
            <a:ext cx="155448" cy="155448"/>
          </a:xfrm>
          <a:prstGeom prst="rect">
            <a:avLst/>
          </a:prstGeom>
          <a:solidFill>
            <a:srgbClr val="D8602A"/>
          </a:solidFill>
          <a:ln>
            <a:noFill/>
          </a:ln>
        </p:spPr>
        <p:txBody>
          <a:bodyPr rtlCol="0" anchor="ctr"/>
          <a:lstStyle/>
          <a:p>
            <a:pPr algn="ctr"/>
          </a:p>
        </p:txBody>
      </p:sp>
      <p:sp>
        <p:nvSpPr>
          <p:cNvPr id="36" name="TextBox 35"/>
          <p:cNvSpPr txBox="1"/>
          <p:nvPr/>
        </p:nvSpPr>
        <p:spPr>
          <a:xfrm>
            <a:off x="8476488" y="32872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Mashreq</a:t>
            </a:r>
          </a:p>
        </p:txBody>
      </p:sp>
      <p:sp>
        <p:nvSpPr>
          <p:cNvPr id="37" name="TextBox 36"/>
          <p:cNvSpPr txBox="1"/>
          <p:nvPr/>
        </p:nvSpPr>
        <p:spPr>
          <a:xfrm>
            <a:off x="8247888" y="3598164"/>
            <a:ext cx="3413455" cy="1234440"/>
          </a:xfrm>
          <a:prstGeom prst="rect">
            <a:avLst/>
          </a:prstGeom>
          <a:noFill/>
        </p:spPr>
        <p:txBody>
          <a:bodyPr wrap="square" lIns="0" tIns="0" rIns="0" bIns="0">
            <a:spAutoFit/>
          </a:bodyPr>
          <a:lstStyle/>
          <a:p>
            <a:pPr marL="173736" indent="-173736">
              <a:lnSpc>
                <a:spcPct val="100000"/>
              </a:lnSpc>
              <a:spcAft>
                <a:spcPts val="150"/>
              </a:spcAft>
              <a:buClr>
                <a:srgbClr val="D8602A"/>
              </a:buClr>
              <a:buSzPct val="70000"/>
              <a:buFont typeface="Arial"/>
              <a:buChar char="■"/>
            </a:pPr>
            <a:r>
              <a:rPr sz="1100">
                <a:solidFill>
                  <a:srgbClr val="0C1408"/>
                </a:solidFill>
                <a:latin typeface="Arial"/>
              </a:rPr>
              <a:t>Customer due diligence and accounts</a:t>
            </a:r>
          </a:p>
          <a:p>
            <a:pPr marL="173736" indent="-173736">
              <a:lnSpc>
                <a:spcPct val="100000"/>
              </a:lnSpc>
              <a:spcAft>
                <a:spcPts val="150"/>
              </a:spcAft>
              <a:buClr>
                <a:srgbClr val="D8602A"/>
              </a:buClr>
              <a:buSzPct val="70000"/>
              <a:buFont typeface="Arial"/>
              <a:buChar char="■"/>
            </a:pPr>
            <a:r>
              <a:rPr sz="1100">
                <a:solidFill>
                  <a:srgbClr val="0C1408"/>
                </a:solidFill>
                <a:latin typeface="Arial"/>
              </a:rPr>
              <a:t>Direct debit mandate and collection</a:t>
            </a:r>
          </a:p>
          <a:p>
            <a:pPr marL="173736" indent="-173736">
              <a:lnSpc>
                <a:spcPct val="100000"/>
              </a:lnSpc>
              <a:spcAft>
                <a:spcPts val="150"/>
              </a:spcAft>
              <a:buClr>
                <a:srgbClr val="D8602A"/>
              </a:buClr>
              <a:buSzPct val="70000"/>
              <a:buFont typeface="Arial"/>
              <a:buChar char="■"/>
            </a:pPr>
            <a:r>
              <a:rPr sz="1100">
                <a:solidFill>
                  <a:srgbClr val="0C1408"/>
                </a:solidFill>
                <a:latin typeface="Arial"/>
              </a:rPr>
              <a:t>Holding balances, paying profit</a:t>
            </a:r>
          </a:p>
          <a:p>
            <a:pPr marL="173736" indent="-173736">
              <a:lnSpc>
                <a:spcPct val="100000"/>
              </a:lnSpc>
              <a:spcAft>
                <a:spcPts val="150"/>
              </a:spcAft>
              <a:buClr>
                <a:srgbClr val="D8602A"/>
              </a:buClr>
              <a:buSzPct val="70000"/>
              <a:buFont typeface="Arial"/>
              <a:buChar char="■"/>
            </a:pPr>
            <a:r>
              <a:rPr sz="1100">
                <a:solidFill>
                  <a:srgbClr val="0C1408"/>
                </a:solidFill>
                <a:latin typeface="Arial"/>
              </a:rPr>
              <a:t>Payouts to collectors</a:t>
            </a:r>
          </a:p>
          <a:p>
            <a:pPr marL="173736" indent="-173736">
              <a:lnSpc>
                <a:spcPct val="100000"/>
              </a:lnSpc>
              <a:spcAft>
                <a:spcPts val="150"/>
              </a:spcAft>
              <a:buClr>
                <a:srgbClr val="D8602A"/>
              </a:buClr>
              <a:buSzPct val="70000"/>
              <a:buFont typeface="Arial"/>
              <a:buChar char="■"/>
            </a:pPr>
            <a:r>
              <a:rPr sz="1100">
                <a:solidFill>
                  <a:srgbClr val="0C1408"/>
                </a:solidFill>
                <a:latin typeface="Arial"/>
              </a:rPr>
              <a:t>Collecting the fee</a:t>
            </a:r>
          </a:p>
        </p:txBody>
      </p:sp>
      <p:sp>
        <p:nvSpPr>
          <p:cNvPr id="38" name="Rectangle 37"/>
          <p:cNvSpPr/>
          <p:nvPr/>
        </p:nvSpPr>
        <p:spPr>
          <a:xfrm>
            <a:off x="8229600" y="5065776"/>
            <a:ext cx="155448" cy="155448"/>
          </a:xfrm>
          <a:prstGeom prst="rect">
            <a:avLst/>
          </a:prstGeom>
          <a:solidFill>
            <a:srgbClr val="D64545"/>
          </a:solidFill>
          <a:ln>
            <a:noFill/>
          </a:ln>
        </p:spPr>
        <p:txBody>
          <a:bodyPr rtlCol="0" anchor="ctr"/>
          <a:lstStyle/>
          <a:p>
            <a:pPr algn="ctr"/>
          </a:p>
        </p:txBody>
      </p:sp>
      <p:sp>
        <p:nvSpPr>
          <p:cNvPr id="39" name="TextBox 38"/>
          <p:cNvSpPr txBox="1"/>
          <p:nvPr/>
        </p:nvSpPr>
        <p:spPr>
          <a:xfrm>
            <a:off x="8476488" y="50017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 never</a:t>
            </a:r>
          </a:p>
        </p:txBody>
      </p:sp>
      <p:sp>
        <p:nvSpPr>
          <p:cNvPr id="40" name="TextBox 39"/>
          <p:cNvSpPr txBox="1"/>
          <p:nvPr/>
        </p:nvSpPr>
        <p:spPr>
          <a:xfrm>
            <a:off x="8247888" y="5312664"/>
            <a:ext cx="3413455" cy="777240"/>
          </a:xfrm>
          <a:prstGeom prst="rect">
            <a:avLst/>
          </a:prstGeom>
          <a:noFill/>
        </p:spPr>
        <p:txBody>
          <a:bodyPr wrap="square" lIns="0" tIns="0" rIns="0" bIns="0">
            <a:spAutoFit/>
          </a:bodyPr>
          <a:lstStyle/>
          <a:p>
            <a:pPr marL="173736" indent="-173736">
              <a:lnSpc>
                <a:spcPct val="100000"/>
              </a:lnSpc>
              <a:spcAft>
                <a:spcPts val="150"/>
              </a:spcAft>
              <a:buClr>
                <a:srgbClr val="D64545"/>
              </a:buClr>
              <a:buSzPct val="70000"/>
              <a:buFont typeface="Arial"/>
              <a:buChar char="■"/>
            </a:pPr>
            <a:r>
              <a:rPr sz="1100">
                <a:solidFill>
                  <a:srgbClr val="0C1408"/>
                </a:solidFill>
                <a:latin typeface="Arial"/>
              </a:rPr>
              <a:t>Holds or receives member money</a:t>
            </a:r>
          </a:p>
          <a:p>
            <a:pPr marL="173736" indent="-173736">
              <a:lnSpc>
                <a:spcPct val="100000"/>
              </a:lnSpc>
              <a:spcAft>
                <a:spcPts val="150"/>
              </a:spcAft>
              <a:buClr>
                <a:srgbClr val="D64545"/>
              </a:buClr>
              <a:buSzPct val="70000"/>
              <a:buFont typeface="Arial"/>
              <a:buChar char="■"/>
            </a:pPr>
            <a:r>
              <a:rPr sz="1100">
                <a:solidFill>
                  <a:srgbClr val="0C1408"/>
                </a:solidFill>
                <a:latin typeface="Arial"/>
              </a:rPr>
              <a:t>Lends money</a:t>
            </a:r>
          </a:p>
          <a:p>
            <a:pPr marL="173736" indent="-173736">
              <a:lnSpc>
                <a:spcPct val="100000"/>
              </a:lnSpc>
              <a:spcAft>
                <a:spcPts val="150"/>
              </a:spcAft>
              <a:buClr>
                <a:srgbClr val="D64545"/>
              </a:buClr>
              <a:buSzPct val="70000"/>
              <a:buFont typeface="Arial"/>
              <a:buChar char="■"/>
            </a:pPr>
            <a:r>
              <a:rPr sz="1100">
                <a:solidFill>
                  <a:srgbClr val="0C1408"/>
                </a:solidFill>
                <a:latin typeface="Arial"/>
              </a:rPr>
              <a:t>Insures members</a:t>
            </a:r>
          </a:p>
        </p:txBody>
      </p:sp>
      <p:cxnSp>
        <p:nvCxnSpPr>
          <p:cNvPr id="41" name="Connector 40"/>
          <p:cNvCxnSpPr/>
          <p:nvPr/>
        </p:nvCxnSpPr>
        <p:spPr>
          <a:xfrm>
            <a:off x="548640" y="6153912"/>
            <a:ext cx="384048" cy="0"/>
          </a:xfrm>
          <a:prstGeom prst="line">
            <a:avLst/>
          </a:prstGeom>
          <a:ln w="38100">
            <a:solidFill>
              <a:srgbClr val="2A78D6"/>
            </a:solidFill>
            <a:tailEnd type="triangle" w="med" len="med"/>
          </a:ln>
        </p:spPr>
      </p:cxnSp>
      <p:sp>
        <p:nvSpPr>
          <p:cNvPr id="42" name="TextBox 41"/>
          <p:cNvSpPr txBox="1"/>
          <p:nvPr/>
        </p:nvSpPr>
        <p:spPr>
          <a:xfrm>
            <a:off x="1005840" y="603504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43" name="Connector 42"/>
          <p:cNvCxnSpPr/>
          <p:nvPr/>
        </p:nvCxnSpPr>
        <p:spPr>
          <a:xfrm>
            <a:off x="1737360" y="6153912"/>
            <a:ext cx="384048" cy="0"/>
          </a:xfrm>
          <a:prstGeom prst="line">
            <a:avLst/>
          </a:prstGeom>
          <a:ln w="19050">
            <a:solidFill>
              <a:srgbClr val="41801A"/>
            </a:solidFill>
            <a:tailEnd type="triangle" w="med" len="med"/>
          </a:ln>
        </p:spPr>
      </p:cxnSp>
      <p:sp>
        <p:nvSpPr>
          <p:cNvPr id="44" name="TextBox 43"/>
          <p:cNvSpPr txBox="1"/>
          <p:nvPr/>
        </p:nvSpPr>
        <p:spPr>
          <a:xfrm>
            <a:off x="2194560" y="6035040"/>
            <a:ext cx="833933" cy="237744"/>
          </a:xfrm>
          <a:prstGeom prst="rect">
            <a:avLst/>
          </a:prstGeom>
          <a:noFill/>
        </p:spPr>
        <p:txBody>
          <a:bodyPr wrap="square" lIns="0" tIns="0" rIns="0" bIns="0">
            <a:spAutoFit/>
          </a:bodyPr>
          <a:lstStyle/>
          <a:p>
            <a:pPr>
              <a:lnSpc>
                <a:spcPct val="105000"/>
              </a:lnSpc>
            </a:pPr>
            <a:r>
              <a:rPr sz="1000">
                <a:solidFill>
                  <a:srgbClr val="4B5563"/>
                </a:solidFill>
                <a:latin typeface="Arial"/>
              </a:rPr>
              <a:t>instruction</a:t>
            </a:r>
          </a:p>
        </p:txBody>
      </p:sp>
      <p:cxnSp>
        <p:nvCxnSpPr>
          <p:cNvPr id="45" name="Connector 44"/>
          <p:cNvCxnSpPr/>
          <p:nvPr/>
        </p:nvCxnSpPr>
        <p:spPr>
          <a:xfrm>
            <a:off x="3321101" y="6153912"/>
            <a:ext cx="384048" cy="0"/>
          </a:xfrm>
          <a:prstGeom prst="line">
            <a:avLst/>
          </a:prstGeom>
          <a:ln w="15875">
            <a:solidFill>
              <a:srgbClr val="4B5563"/>
            </a:solidFill>
            <a:prstDash val="dash"/>
            <a:tailEnd type="triangle" w="med" len="med"/>
          </a:ln>
        </p:spPr>
      </p:cxnSp>
      <p:sp>
        <p:nvSpPr>
          <p:cNvPr id="46" name="TextBox 45"/>
          <p:cNvSpPr txBox="1"/>
          <p:nvPr/>
        </p:nvSpPr>
        <p:spPr>
          <a:xfrm>
            <a:off x="3778301" y="6035040"/>
            <a:ext cx="1558138"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 or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Monthly Cycle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One month of a circle of 12 members at Rs 10,000, step by step</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7</a:t>
            </a:r>
          </a:p>
        </p:txBody>
      </p:sp>
      <p:sp>
        <p:nvSpPr>
          <p:cNvPr id="6" name="Rectangle 5"/>
          <p:cNvSpPr/>
          <p:nvPr/>
        </p:nvSpPr>
        <p:spPr>
          <a:xfrm>
            <a:off x="868680" y="1517904"/>
            <a:ext cx="2011680"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200" b="1">
                <a:solidFill>
                  <a:srgbClr val="0C1408"/>
                </a:solidFill>
                <a:latin typeface="Arial"/>
              </a:rPr>
              <a:t>Member</a:t>
            </a:r>
          </a:p>
          <a:p>
            <a:pPr algn="ctr">
              <a:lnSpc>
                <a:spcPct val="102000"/>
              </a:lnSpc>
              <a:spcBef>
                <a:spcPts val="200"/>
              </a:spcBef>
            </a:pPr>
            <a:r>
              <a:rPr sz="950">
                <a:solidFill>
                  <a:srgbClr val="4B5563"/>
                </a:solidFill>
                <a:latin typeface="Arial"/>
              </a:rPr>
              <a:t>own Mashreq account</a:t>
            </a:r>
          </a:p>
        </p:txBody>
      </p:sp>
      <p:cxnSp>
        <p:nvCxnSpPr>
          <p:cNvPr id="7" name="Connector 6"/>
          <p:cNvCxnSpPr/>
          <p:nvPr/>
        </p:nvCxnSpPr>
        <p:spPr>
          <a:xfrm>
            <a:off x="1874520" y="2084832"/>
            <a:ext cx="0" cy="3785616"/>
          </a:xfrm>
          <a:prstGeom prst="line">
            <a:avLst/>
          </a:prstGeom>
          <a:ln w="12700">
            <a:solidFill>
              <a:srgbClr val="D1D5DB"/>
            </a:solidFill>
            <a:prstDash val="dash"/>
          </a:ln>
        </p:spPr>
      </p:cxnSp>
      <p:sp>
        <p:nvSpPr>
          <p:cNvPr id="8" name="Rectangle 7"/>
          <p:cNvSpPr/>
          <p:nvPr/>
        </p:nvSpPr>
        <p:spPr>
          <a:xfrm>
            <a:off x="3611880" y="1517904"/>
            <a:ext cx="2011680" cy="566928"/>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00" b="1">
                <a:solidFill>
                  <a:srgbClr val="0C1408"/>
                </a:solidFill>
                <a:latin typeface="Arial"/>
              </a:rPr>
              <a:t>Halqa</a:t>
            </a:r>
          </a:p>
          <a:p>
            <a:pPr algn="ctr">
              <a:lnSpc>
                <a:spcPct val="102000"/>
              </a:lnSpc>
              <a:spcBef>
                <a:spcPts val="200"/>
              </a:spcBef>
            </a:pPr>
            <a:r>
              <a:rPr sz="950">
                <a:solidFill>
                  <a:srgbClr val="4B5563"/>
                </a:solidFill>
                <a:latin typeface="Arial"/>
              </a:rPr>
              <a:t>application and records</a:t>
            </a:r>
          </a:p>
        </p:txBody>
      </p:sp>
      <p:cxnSp>
        <p:nvCxnSpPr>
          <p:cNvPr id="9" name="Connector 8"/>
          <p:cNvCxnSpPr/>
          <p:nvPr/>
        </p:nvCxnSpPr>
        <p:spPr>
          <a:xfrm>
            <a:off x="4617720" y="2084832"/>
            <a:ext cx="0" cy="3785616"/>
          </a:xfrm>
          <a:prstGeom prst="line">
            <a:avLst/>
          </a:prstGeom>
          <a:ln w="12700">
            <a:solidFill>
              <a:srgbClr val="D1D5DB"/>
            </a:solidFill>
            <a:prstDash val="dash"/>
          </a:ln>
        </p:spPr>
      </p:cxnSp>
      <p:sp>
        <p:nvSpPr>
          <p:cNvPr id="10" name="Rectangle 9"/>
          <p:cNvSpPr/>
          <p:nvPr/>
        </p:nvSpPr>
        <p:spPr>
          <a:xfrm>
            <a:off x="6492240" y="1517904"/>
            <a:ext cx="2011680"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200" b="1">
                <a:solidFill>
                  <a:srgbClr val="0C1408"/>
                </a:solidFill>
                <a:latin typeface="Arial"/>
              </a:rPr>
              <a:t>Mashreq</a:t>
            </a:r>
          </a:p>
          <a:p>
            <a:pPr algn="ctr">
              <a:lnSpc>
                <a:spcPct val="102000"/>
              </a:lnSpc>
              <a:spcBef>
                <a:spcPts val="200"/>
              </a:spcBef>
            </a:pPr>
            <a:r>
              <a:rPr sz="950">
                <a:solidFill>
                  <a:srgbClr val="4B5563"/>
                </a:solidFill>
                <a:latin typeface="Arial"/>
              </a:rPr>
              <a:t>accounts and payments</a:t>
            </a:r>
          </a:p>
        </p:txBody>
      </p:sp>
      <p:cxnSp>
        <p:nvCxnSpPr>
          <p:cNvPr id="11" name="Connector 10"/>
          <p:cNvCxnSpPr/>
          <p:nvPr/>
        </p:nvCxnSpPr>
        <p:spPr>
          <a:xfrm>
            <a:off x="7498080" y="2084832"/>
            <a:ext cx="0" cy="3785616"/>
          </a:xfrm>
          <a:prstGeom prst="line">
            <a:avLst/>
          </a:prstGeom>
          <a:ln w="12700">
            <a:solidFill>
              <a:srgbClr val="D1D5DB"/>
            </a:solidFill>
            <a:prstDash val="dash"/>
          </a:ln>
        </p:spPr>
      </p:cxnSp>
      <p:sp>
        <p:nvSpPr>
          <p:cNvPr id="12" name="Rectangle 11"/>
          <p:cNvSpPr/>
          <p:nvPr/>
        </p:nvSpPr>
        <p:spPr>
          <a:xfrm>
            <a:off x="9372600" y="1517904"/>
            <a:ext cx="2011680" cy="566928"/>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00" b="1">
                <a:solidFill>
                  <a:srgbClr val="0C1408"/>
                </a:solidFill>
                <a:latin typeface="Arial"/>
              </a:rPr>
              <a:t>TASDEEQ</a:t>
            </a:r>
          </a:p>
          <a:p>
            <a:pPr algn="ctr">
              <a:lnSpc>
                <a:spcPct val="102000"/>
              </a:lnSpc>
              <a:spcBef>
                <a:spcPts val="200"/>
              </a:spcBef>
            </a:pPr>
            <a:r>
              <a:rPr sz="950">
                <a:solidFill>
                  <a:srgbClr val="4B5563"/>
                </a:solidFill>
                <a:latin typeface="Arial"/>
              </a:rPr>
              <a:t>credit bureau</a:t>
            </a:r>
          </a:p>
        </p:txBody>
      </p:sp>
      <p:cxnSp>
        <p:nvCxnSpPr>
          <p:cNvPr id="13" name="Connector 12"/>
          <p:cNvCxnSpPr/>
          <p:nvPr/>
        </p:nvCxnSpPr>
        <p:spPr>
          <a:xfrm>
            <a:off x="10378440" y="2084832"/>
            <a:ext cx="0" cy="3785616"/>
          </a:xfrm>
          <a:prstGeom prst="line">
            <a:avLst/>
          </a:prstGeom>
          <a:ln w="12700">
            <a:solidFill>
              <a:srgbClr val="D1D5DB"/>
            </a:solidFill>
            <a:prstDash val="dash"/>
          </a:ln>
        </p:spPr>
      </p:cxnSp>
      <p:sp>
        <p:nvSpPr>
          <p:cNvPr id="14" name="TextBox 13"/>
          <p:cNvSpPr txBox="1"/>
          <p:nvPr/>
        </p:nvSpPr>
        <p:spPr>
          <a:xfrm>
            <a:off x="548640" y="2304288"/>
            <a:ext cx="365760" cy="274320"/>
          </a:xfrm>
          <a:prstGeom prst="rect">
            <a:avLst/>
          </a:prstGeom>
          <a:noFill/>
        </p:spPr>
        <p:txBody>
          <a:bodyPr wrap="square" lIns="0" tIns="0" rIns="0" bIns="0">
            <a:spAutoFit/>
          </a:bodyPr>
          <a:lstStyle/>
          <a:p>
            <a:pPr>
              <a:lnSpc>
                <a:spcPct val="105000"/>
              </a:lnSpc>
            </a:pPr>
            <a:r>
              <a:rPr sz="1200" b="1">
                <a:solidFill>
                  <a:srgbClr val="9E3F17"/>
                </a:solidFill>
                <a:latin typeface="Arial"/>
              </a:rPr>
              <a:t>1</a:t>
            </a:r>
          </a:p>
        </p:txBody>
      </p:sp>
      <p:cxnSp>
        <p:nvCxnSpPr>
          <p:cNvPr id="15" name="Connector 14"/>
          <p:cNvCxnSpPr/>
          <p:nvPr/>
        </p:nvCxnSpPr>
        <p:spPr>
          <a:xfrm>
            <a:off x="1874520" y="2487168"/>
            <a:ext cx="2743200" cy="0"/>
          </a:xfrm>
          <a:prstGeom prst="line">
            <a:avLst/>
          </a:prstGeom>
          <a:ln w="19050">
            <a:solidFill>
              <a:srgbClr val="41801A"/>
            </a:solidFill>
            <a:tailEnd type="triangle" w="med" len="med"/>
          </a:ln>
        </p:spPr>
      </p:cxnSp>
      <p:sp>
        <p:nvSpPr>
          <p:cNvPr id="16" name="TextBox 15"/>
          <p:cNvSpPr txBox="1"/>
          <p:nvPr/>
        </p:nvSpPr>
        <p:spPr>
          <a:xfrm>
            <a:off x="1965960" y="2221992"/>
            <a:ext cx="256032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joins; consents to the mandate</a:t>
            </a:r>
          </a:p>
        </p:txBody>
      </p:sp>
      <p:sp>
        <p:nvSpPr>
          <p:cNvPr id="17" name="TextBox 16"/>
          <p:cNvSpPr txBox="1"/>
          <p:nvPr/>
        </p:nvSpPr>
        <p:spPr>
          <a:xfrm>
            <a:off x="548640" y="2697480"/>
            <a:ext cx="365760" cy="274320"/>
          </a:xfrm>
          <a:prstGeom prst="rect">
            <a:avLst/>
          </a:prstGeom>
          <a:noFill/>
        </p:spPr>
        <p:txBody>
          <a:bodyPr wrap="square" lIns="0" tIns="0" rIns="0" bIns="0">
            <a:spAutoFit/>
          </a:bodyPr>
          <a:lstStyle/>
          <a:p>
            <a:pPr>
              <a:lnSpc>
                <a:spcPct val="105000"/>
              </a:lnSpc>
            </a:pPr>
            <a:r>
              <a:rPr sz="1200" b="1">
                <a:solidFill>
                  <a:srgbClr val="9E3F17"/>
                </a:solidFill>
                <a:latin typeface="Arial"/>
              </a:rPr>
              <a:t>2</a:t>
            </a:r>
          </a:p>
        </p:txBody>
      </p:sp>
      <p:cxnSp>
        <p:nvCxnSpPr>
          <p:cNvPr id="18" name="Connector 17"/>
          <p:cNvCxnSpPr/>
          <p:nvPr/>
        </p:nvCxnSpPr>
        <p:spPr>
          <a:xfrm>
            <a:off x="4617720" y="2880360"/>
            <a:ext cx="2880360" cy="0"/>
          </a:xfrm>
          <a:prstGeom prst="line">
            <a:avLst/>
          </a:prstGeom>
          <a:ln w="19050">
            <a:solidFill>
              <a:srgbClr val="41801A"/>
            </a:solidFill>
            <a:tailEnd type="triangle" w="med" len="med"/>
          </a:ln>
        </p:spPr>
      </p:cxnSp>
      <p:sp>
        <p:nvSpPr>
          <p:cNvPr id="19" name="TextBox 18"/>
          <p:cNvSpPr txBox="1"/>
          <p:nvPr/>
        </p:nvSpPr>
        <p:spPr>
          <a:xfrm>
            <a:off x="4709160" y="2615184"/>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registers the mandate</a:t>
            </a:r>
          </a:p>
        </p:txBody>
      </p:sp>
      <p:sp>
        <p:nvSpPr>
          <p:cNvPr id="20" name="TextBox 19"/>
          <p:cNvSpPr txBox="1"/>
          <p:nvPr/>
        </p:nvSpPr>
        <p:spPr>
          <a:xfrm>
            <a:off x="548640" y="3090672"/>
            <a:ext cx="365760" cy="274320"/>
          </a:xfrm>
          <a:prstGeom prst="rect">
            <a:avLst/>
          </a:prstGeom>
          <a:noFill/>
        </p:spPr>
        <p:txBody>
          <a:bodyPr wrap="square" lIns="0" tIns="0" rIns="0" bIns="0">
            <a:spAutoFit/>
          </a:bodyPr>
          <a:lstStyle/>
          <a:p>
            <a:pPr>
              <a:lnSpc>
                <a:spcPct val="105000"/>
              </a:lnSpc>
            </a:pPr>
            <a:r>
              <a:rPr sz="1200" b="1">
                <a:solidFill>
                  <a:srgbClr val="9E3F17"/>
                </a:solidFill>
                <a:latin typeface="Arial"/>
              </a:rPr>
              <a:t>3</a:t>
            </a:r>
          </a:p>
        </p:txBody>
      </p:sp>
      <p:cxnSp>
        <p:nvCxnSpPr>
          <p:cNvPr id="21" name="Connector 20"/>
          <p:cNvCxnSpPr/>
          <p:nvPr/>
        </p:nvCxnSpPr>
        <p:spPr>
          <a:xfrm flipH="1">
            <a:off x="1874520" y="3273552"/>
            <a:ext cx="2743200" cy="0"/>
          </a:xfrm>
          <a:prstGeom prst="line">
            <a:avLst/>
          </a:prstGeom>
          <a:ln w="19050">
            <a:solidFill>
              <a:srgbClr val="41801A"/>
            </a:solidFill>
            <a:tailEnd type="triangle" w="med" len="med"/>
          </a:ln>
        </p:spPr>
      </p:cxnSp>
      <p:sp>
        <p:nvSpPr>
          <p:cNvPr id="22" name="TextBox 21"/>
          <p:cNvSpPr txBox="1"/>
          <p:nvPr/>
        </p:nvSpPr>
        <p:spPr>
          <a:xfrm>
            <a:off x="1965960" y="3008376"/>
            <a:ext cx="256032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reminder, the evening before payday</a:t>
            </a:r>
          </a:p>
        </p:txBody>
      </p:sp>
      <p:sp>
        <p:nvSpPr>
          <p:cNvPr id="23" name="TextBox 22"/>
          <p:cNvSpPr txBox="1"/>
          <p:nvPr/>
        </p:nvSpPr>
        <p:spPr>
          <a:xfrm>
            <a:off x="548640" y="3483864"/>
            <a:ext cx="365760" cy="274320"/>
          </a:xfrm>
          <a:prstGeom prst="rect">
            <a:avLst/>
          </a:prstGeom>
          <a:noFill/>
        </p:spPr>
        <p:txBody>
          <a:bodyPr wrap="square" lIns="0" tIns="0" rIns="0" bIns="0">
            <a:spAutoFit/>
          </a:bodyPr>
          <a:lstStyle/>
          <a:p>
            <a:pPr>
              <a:lnSpc>
                <a:spcPct val="105000"/>
              </a:lnSpc>
            </a:pPr>
            <a:r>
              <a:rPr sz="1200" b="1">
                <a:solidFill>
                  <a:srgbClr val="9E3F17"/>
                </a:solidFill>
                <a:latin typeface="Arial"/>
              </a:rPr>
              <a:t>4</a:t>
            </a:r>
          </a:p>
        </p:txBody>
      </p:sp>
      <p:cxnSp>
        <p:nvCxnSpPr>
          <p:cNvPr id="24" name="Connector 23"/>
          <p:cNvCxnSpPr/>
          <p:nvPr/>
        </p:nvCxnSpPr>
        <p:spPr>
          <a:xfrm>
            <a:off x="4617720" y="3666744"/>
            <a:ext cx="2880360" cy="0"/>
          </a:xfrm>
          <a:prstGeom prst="line">
            <a:avLst/>
          </a:prstGeom>
          <a:ln w="19050">
            <a:solidFill>
              <a:srgbClr val="41801A"/>
            </a:solidFill>
            <a:tailEnd type="triangle" w="med" len="med"/>
          </a:ln>
        </p:spPr>
      </p:cxnSp>
      <p:sp>
        <p:nvSpPr>
          <p:cNvPr id="25" name="TextBox 24"/>
          <p:cNvSpPr txBox="1"/>
          <p:nvPr/>
        </p:nvSpPr>
        <p:spPr>
          <a:xfrm>
            <a:off x="4709160" y="3401568"/>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payday: collect the instalments</a:t>
            </a:r>
          </a:p>
        </p:txBody>
      </p:sp>
      <p:sp>
        <p:nvSpPr>
          <p:cNvPr id="26" name="TextBox 25"/>
          <p:cNvSpPr txBox="1"/>
          <p:nvPr/>
        </p:nvSpPr>
        <p:spPr>
          <a:xfrm>
            <a:off x="548640" y="3877056"/>
            <a:ext cx="365760" cy="274320"/>
          </a:xfrm>
          <a:prstGeom prst="rect">
            <a:avLst/>
          </a:prstGeom>
          <a:noFill/>
        </p:spPr>
        <p:txBody>
          <a:bodyPr wrap="square" lIns="0" tIns="0" rIns="0" bIns="0">
            <a:spAutoFit/>
          </a:bodyPr>
          <a:lstStyle/>
          <a:p>
            <a:pPr>
              <a:lnSpc>
                <a:spcPct val="105000"/>
              </a:lnSpc>
            </a:pPr>
            <a:r>
              <a:rPr sz="1200" b="1">
                <a:solidFill>
                  <a:srgbClr val="9E3F17"/>
                </a:solidFill>
                <a:latin typeface="Arial"/>
              </a:rPr>
              <a:t>5</a:t>
            </a:r>
          </a:p>
        </p:txBody>
      </p:sp>
      <p:cxnSp>
        <p:nvCxnSpPr>
          <p:cNvPr id="27" name="Connector 26"/>
          <p:cNvCxnSpPr/>
          <p:nvPr/>
        </p:nvCxnSpPr>
        <p:spPr>
          <a:xfrm>
            <a:off x="1874520" y="4059936"/>
            <a:ext cx="5623560" cy="0"/>
          </a:xfrm>
          <a:prstGeom prst="line">
            <a:avLst/>
          </a:prstGeom>
          <a:ln w="38100">
            <a:solidFill>
              <a:srgbClr val="2A78D6"/>
            </a:solidFill>
            <a:tailEnd type="triangle" w="med" len="med"/>
          </a:ln>
        </p:spPr>
      </p:cxnSp>
      <p:sp>
        <p:nvSpPr>
          <p:cNvPr id="28" name="TextBox 27"/>
          <p:cNvSpPr txBox="1"/>
          <p:nvPr/>
        </p:nvSpPr>
        <p:spPr>
          <a:xfrm>
            <a:off x="1965960" y="3794760"/>
            <a:ext cx="54406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10,000 into the committee account</a:t>
            </a:r>
          </a:p>
        </p:txBody>
      </p:sp>
      <p:sp>
        <p:nvSpPr>
          <p:cNvPr id="29" name="TextBox 28"/>
          <p:cNvSpPr txBox="1"/>
          <p:nvPr/>
        </p:nvSpPr>
        <p:spPr>
          <a:xfrm>
            <a:off x="548640" y="4270248"/>
            <a:ext cx="365760" cy="274320"/>
          </a:xfrm>
          <a:prstGeom prst="rect">
            <a:avLst/>
          </a:prstGeom>
          <a:noFill/>
        </p:spPr>
        <p:txBody>
          <a:bodyPr wrap="square" lIns="0" tIns="0" rIns="0" bIns="0">
            <a:spAutoFit/>
          </a:bodyPr>
          <a:lstStyle/>
          <a:p>
            <a:pPr>
              <a:lnSpc>
                <a:spcPct val="105000"/>
              </a:lnSpc>
            </a:pPr>
            <a:r>
              <a:rPr sz="1200" b="1">
                <a:solidFill>
                  <a:srgbClr val="9E3F17"/>
                </a:solidFill>
                <a:latin typeface="Arial"/>
              </a:rPr>
              <a:t>6</a:t>
            </a:r>
          </a:p>
        </p:txBody>
      </p:sp>
      <p:cxnSp>
        <p:nvCxnSpPr>
          <p:cNvPr id="30" name="Connector 29"/>
          <p:cNvCxnSpPr/>
          <p:nvPr/>
        </p:nvCxnSpPr>
        <p:spPr>
          <a:xfrm>
            <a:off x="4617720" y="4453128"/>
            <a:ext cx="2880360" cy="0"/>
          </a:xfrm>
          <a:prstGeom prst="line">
            <a:avLst/>
          </a:prstGeom>
          <a:ln w="19050">
            <a:solidFill>
              <a:srgbClr val="41801A"/>
            </a:solidFill>
            <a:tailEnd type="triangle" w="med" len="med"/>
          </a:ln>
        </p:spPr>
      </p:cxnSp>
      <p:sp>
        <p:nvSpPr>
          <p:cNvPr id="31" name="TextBox 30"/>
          <p:cNvSpPr txBox="1"/>
          <p:nvPr/>
        </p:nvSpPr>
        <p:spPr>
          <a:xfrm>
            <a:off x="4709160" y="4187952"/>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the 8th: pay this month’s collector</a:t>
            </a:r>
          </a:p>
        </p:txBody>
      </p:sp>
      <p:sp>
        <p:nvSpPr>
          <p:cNvPr id="32" name="TextBox 31"/>
          <p:cNvSpPr txBox="1"/>
          <p:nvPr/>
        </p:nvSpPr>
        <p:spPr>
          <a:xfrm>
            <a:off x="548640" y="4663440"/>
            <a:ext cx="365760" cy="274320"/>
          </a:xfrm>
          <a:prstGeom prst="rect">
            <a:avLst/>
          </a:prstGeom>
          <a:noFill/>
        </p:spPr>
        <p:txBody>
          <a:bodyPr wrap="square" lIns="0" tIns="0" rIns="0" bIns="0">
            <a:spAutoFit/>
          </a:bodyPr>
          <a:lstStyle/>
          <a:p>
            <a:pPr>
              <a:lnSpc>
                <a:spcPct val="105000"/>
              </a:lnSpc>
            </a:pPr>
            <a:r>
              <a:rPr sz="1200" b="1">
                <a:solidFill>
                  <a:srgbClr val="9E3F17"/>
                </a:solidFill>
                <a:latin typeface="Arial"/>
              </a:rPr>
              <a:t>7</a:t>
            </a:r>
          </a:p>
        </p:txBody>
      </p:sp>
      <p:cxnSp>
        <p:nvCxnSpPr>
          <p:cNvPr id="33" name="Connector 32"/>
          <p:cNvCxnSpPr/>
          <p:nvPr/>
        </p:nvCxnSpPr>
        <p:spPr>
          <a:xfrm flipH="1">
            <a:off x="1874520" y="4846320"/>
            <a:ext cx="5623560" cy="0"/>
          </a:xfrm>
          <a:prstGeom prst="line">
            <a:avLst/>
          </a:prstGeom>
          <a:ln w="38100">
            <a:solidFill>
              <a:srgbClr val="2A78D6"/>
            </a:solidFill>
            <a:tailEnd type="triangle" w="med" len="med"/>
          </a:ln>
        </p:spPr>
      </p:cxnSp>
      <p:sp>
        <p:nvSpPr>
          <p:cNvPr id="34" name="TextBox 33"/>
          <p:cNvSpPr txBox="1"/>
          <p:nvPr/>
        </p:nvSpPr>
        <p:spPr>
          <a:xfrm>
            <a:off x="1965960" y="4581144"/>
            <a:ext cx="54406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120,000 to the collector, the same day</a:t>
            </a:r>
          </a:p>
        </p:txBody>
      </p:sp>
      <p:sp>
        <p:nvSpPr>
          <p:cNvPr id="35" name="TextBox 34"/>
          <p:cNvSpPr txBox="1"/>
          <p:nvPr/>
        </p:nvSpPr>
        <p:spPr>
          <a:xfrm>
            <a:off x="548640" y="5056632"/>
            <a:ext cx="365760" cy="274320"/>
          </a:xfrm>
          <a:prstGeom prst="rect">
            <a:avLst/>
          </a:prstGeom>
          <a:noFill/>
        </p:spPr>
        <p:txBody>
          <a:bodyPr wrap="square" lIns="0" tIns="0" rIns="0" bIns="0">
            <a:spAutoFit/>
          </a:bodyPr>
          <a:lstStyle/>
          <a:p>
            <a:pPr>
              <a:lnSpc>
                <a:spcPct val="105000"/>
              </a:lnSpc>
            </a:pPr>
            <a:r>
              <a:rPr sz="1200" b="1">
                <a:solidFill>
                  <a:srgbClr val="9E3F17"/>
                </a:solidFill>
                <a:latin typeface="Arial"/>
              </a:rPr>
              <a:t>8</a:t>
            </a:r>
          </a:p>
        </p:txBody>
      </p:sp>
      <p:cxnSp>
        <p:nvCxnSpPr>
          <p:cNvPr id="36" name="Connector 35"/>
          <p:cNvCxnSpPr/>
          <p:nvPr/>
        </p:nvCxnSpPr>
        <p:spPr>
          <a:xfrm flipH="1">
            <a:off x="4617720" y="5239512"/>
            <a:ext cx="2880360" cy="0"/>
          </a:xfrm>
          <a:prstGeom prst="line">
            <a:avLst/>
          </a:prstGeom>
          <a:ln w="15875">
            <a:solidFill>
              <a:srgbClr val="4B5563"/>
            </a:solidFill>
            <a:prstDash val="dash"/>
            <a:tailEnd type="triangle" w="med" len="med"/>
          </a:ln>
        </p:spPr>
      </p:cxnSp>
      <p:sp>
        <p:nvSpPr>
          <p:cNvPr id="37" name="TextBox 36"/>
          <p:cNvSpPr txBox="1"/>
          <p:nvPr/>
        </p:nvSpPr>
        <p:spPr>
          <a:xfrm>
            <a:off x="4709160" y="4974336"/>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confirmation; the record updates</a:t>
            </a:r>
          </a:p>
        </p:txBody>
      </p:sp>
      <p:sp>
        <p:nvSpPr>
          <p:cNvPr id="38" name="TextBox 37"/>
          <p:cNvSpPr txBox="1"/>
          <p:nvPr/>
        </p:nvSpPr>
        <p:spPr>
          <a:xfrm>
            <a:off x="548640" y="5449824"/>
            <a:ext cx="365760" cy="274320"/>
          </a:xfrm>
          <a:prstGeom prst="rect">
            <a:avLst/>
          </a:prstGeom>
          <a:noFill/>
        </p:spPr>
        <p:txBody>
          <a:bodyPr wrap="square" lIns="0" tIns="0" rIns="0" bIns="0">
            <a:spAutoFit/>
          </a:bodyPr>
          <a:lstStyle/>
          <a:p>
            <a:pPr>
              <a:lnSpc>
                <a:spcPct val="105000"/>
              </a:lnSpc>
            </a:pPr>
            <a:r>
              <a:rPr sz="1200" b="1">
                <a:solidFill>
                  <a:srgbClr val="9E3F17"/>
                </a:solidFill>
                <a:latin typeface="Arial"/>
              </a:rPr>
              <a:t>9</a:t>
            </a:r>
          </a:p>
        </p:txBody>
      </p:sp>
      <p:cxnSp>
        <p:nvCxnSpPr>
          <p:cNvPr id="39" name="Connector 38"/>
          <p:cNvCxnSpPr/>
          <p:nvPr/>
        </p:nvCxnSpPr>
        <p:spPr>
          <a:xfrm>
            <a:off x="7498080" y="5632704"/>
            <a:ext cx="2880360" cy="0"/>
          </a:xfrm>
          <a:prstGeom prst="line">
            <a:avLst/>
          </a:prstGeom>
          <a:ln w="15875">
            <a:solidFill>
              <a:srgbClr val="4B5563"/>
            </a:solidFill>
            <a:prstDash val="dash"/>
            <a:tailEnd type="triangle" w="med" len="med"/>
          </a:ln>
        </p:spPr>
      </p:cxnSp>
      <p:sp>
        <p:nvSpPr>
          <p:cNvPr id="40" name="TextBox 39"/>
          <p:cNvSpPr txBox="1"/>
          <p:nvPr/>
        </p:nvSpPr>
        <p:spPr>
          <a:xfrm>
            <a:off x="7589520" y="5367528"/>
            <a:ext cx="2697480"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 records reported</a:t>
            </a:r>
          </a:p>
        </p:txBody>
      </p:sp>
      <p:sp>
        <p:nvSpPr>
          <p:cNvPr id="41" name="Rectangle 40"/>
          <p:cNvSpPr/>
          <p:nvPr/>
        </p:nvSpPr>
        <p:spPr>
          <a:xfrm>
            <a:off x="7680960" y="3749040"/>
            <a:ext cx="2331720" cy="457200"/>
          </a:xfrm>
          <a:prstGeom prst="rect">
            <a:avLst/>
          </a:prstGeom>
          <a:solidFill>
            <a:srgbClr val="FCEBC2"/>
          </a:solidFill>
          <a:ln>
            <a:noFill/>
          </a:ln>
        </p:spPr>
        <p:txBody>
          <a:bodyPr rtlCol="0" anchor="ctr" lIns="45720" tIns="34290" rIns="45720" bIns="34290" wrap="square"/>
          <a:lstStyle/>
          <a:p>
            <a:pPr algn="ctr">
              <a:lnSpc>
                <a:spcPct val="105000"/>
              </a:lnSpc>
            </a:pPr>
            <a:r>
              <a:rPr sz="900">
                <a:solidFill>
                  <a:srgbClr val="0C1408"/>
                </a:solidFill>
                <a:latin typeface="Arial"/>
              </a:rPr>
              <a:t>if a debit fails: a retry each morning, 5 attempts at most</a:t>
            </a:r>
          </a:p>
        </p:txBody>
      </p:sp>
      <p:cxnSp>
        <p:nvCxnSpPr>
          <p:cNvPr id="42" name="Connector 41"/>
          <p:cNvCxnSpPr/>
          <p:nvPr/>
        </p:nvCxnSpPr>
        <p:spPr>
          <a:xfrm>
            <a:off x="548640" y="6108192"/>
            <a:ext cx="384048" cy="0"/>
          </a:xfrm>
          <a:prstGeom prst="line">
            <a:avLst/>
          </a:prstGeom>
          <a:ln w="38100">
            <a:solidFill>
              <a:srgbClr val="2A78D6"/>
            </a:solidFill>
            <a:tailEnd type="triangle" w="med" len="med"/>
          </a:ln>
        </p:spPr>
      </p:cxnSp>
      <p:sp>
        <p:nvSpPr>
          <p:cNvPr id="43" name="TextBox 42"/>
          <p:cNvSpPr txBox="1"/>
          <p:nvPr/>
        </p:nvSpPr>
        <p:spPr>
          <a:xfrm>
            <a:off x="1005840" y="598932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44" name="Connector 43"/>
          <p:cNvCxnSpPr/>
          <p:nvPr/>
        </p:nvCxnSpPr>
        <p:spPr>
          <a:xfrm>
            <a:off x="1737360" y="6108192"/>
            <a:ext cx="384048" cy="0"/>
          </a:xfrm>
          <a:prstGeom prst="line">
            <a:avLst/>
          </a:prstGeom>
          <a:ln w="19050">
            <a:solidFill>
              <a:srgbClr val="41801A"/>
            </a:solidFill>
            <a:tailEnd type="triangle" w="med" len="med"/>
          </a:ln>
        </p:spPr>
      </p:cxnSp>
      <p:sp>
        <p:nvSpPr>
          <p:cNvPr id="45" name="TextBox 44"/>
          <p:cNvSpPr txBox="1"/>
          <p:nvPr/>
        </p:nvSpPr>
        <p:spPr>
          <a:xfrm>
            <a:off x="2194560" y="5989320"/>
            <a:ext cx="833933" cy="237744"/>
          </a:xfrm>
          <a:prstGeom prst="rect">
            <a:avLst/>
          </a:prstGeom>
          <a:noFill/>
        </p:spPr>
        <p:txBody>
          <a:bodyPr wrap="square" lIns="0" tIns="0" rIns="0" bIns="0">
            <a:spAutoFit/>
          </a:bodyPr>
          <a:lstStyle/>
          <a:p>
            <a:pPr>
              <a:lnSpc>
                <a:spcPct val="105000"/>
              </a:lnSpc>
            </a:pPr>
            <a:r>
              <a:rPr sz="1000">
                <a:solidFill>
                  <a:srgbClr val="4B5563"/>
                </a:solidFill>
                <a:latin typeface="Arial"/>
              </a:rPr>
              <a:t>instruction</a:t>
            </a:r>
          </a:p>
        </p:txBody>
      </p:sp>
      <p:cxnSp>
        <p:nvCxnSpPr>
          <p:cNvPr id="46" name="Connector 45"/>
          <p:cNvCxnSpPr/>
          <p:nvPr/>
        </p:nvCxnSpPr>
        <p:spPr>
          <a:xfrm>
            <a:off x="3321101" y="6108192"/>
            <a:ext cx="384048" cy="0"/>
          </a:xfrm>
          <a:prstGeom prst="line">
            <a:avLst/>
          </a:prstGeom>
          <a:ln w="15875">
            <a:solidFill>
              <a:srgbClr val="4B5563"/>
            </a:solidFill>
            <a:prstDash val="dash"/>
            <a:tailEnd type="triangle" w="med" len="med"/>
          </a:ln>
        </p:spPr>
      </p:cxnSp>
      <p:sp>
        <p:nvSpPr>
          <p:cNvPr id="47" name="TextBox 46"/>
          <p:cNvSpPr txBox="1"/>
          <p:nvPr/>
        </p:nvSpPr>
        <p:spPr>
          <a:xfrm>
            <a:off x="3778301" y="5989320"/>
            <a:ext cx="1558138"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 or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Customer Growth and Deposits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Accounts arrive by the circle; deposits at Mashreq’s own average balance</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8</a:t>
            </a:r>
          </a:p>
        </p:txBody>
      </p:sp>
      <p:sp>
        <p:nvSpPr>
          <p:cNvPr id="6" name="TextBox 5"/>
          <p:cNvSpPr txBox="1"/>
          <p:nvPr/>
        </p:nvSpPr>
        <p:spPr>
          <a:xfrm>
            <a:off x="548640" y="1481328"/>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How circles bring accounts</a:t>
            </a:r>
          </a:p>
        </p:txBody>
      </p:sp>
      <p:sp>
        <p:nvSpPr>
          <p:cNvPr id="7" name="Rectangle 6"/>
          <p:cNvSpPr/>
          <p:nvPr/>
        </p:nvSpPr>
        <p:spPr>
          <a:xfrm>
            <a:off x="548640" y="1874520"/>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A host starts a circle</a:t>
            </a:r>
          </a:p>
          <a:p>
            <a:pPr algn="ctr">
              <a:lnSpc>
                <a:spcPct val="102000"/>
              </a:lnSpc>
              <a:spcBef>
                <a:spcPts val="200"/>
              </a:spcBef>
            </a:pPr>
            <a:r>
              <a:rPr sz="1000">
                <a:solidFill>
                  <a:srgbClr val="4B5563"/>
                </a:solidFill>
                <a:latin typeface="Arial"/>
              </a:rPr>
              <a:t>invites people they know</a:t>
            </a:r>
          </a:p>
        </p:txBody>
      </p:sp>
      <p:sp>
        <p:nvSpPr>
          <p:cNvPr id="8" name="Rectangle 7"/>
          <p:cNvSpPr/>
          <p:nvPr/>
        </p:nvSpPr>
        <p:spPr>
          <a:xfrm>
            <a:off x="3611880" y="1874520"/>
            <a:ext cx="2240280" cy="731520"/>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6 to 20 accounts</a:t>
            </a:r>
          </a:p>
          <a:p>
            <a:pPr algn="ctr">
              <a:lnSpc>
                <a:spcPct val="102000"/>
              </a:lnSpc>
              <a:spcBef>
                <a:spcPts val="200"/>
              </a:spcBef>
            </a:pPr>
            <a:r>
              <a:rPr sz="1000">
                <a:solidFill>
                  <a:srgbClr val="4B5563"/>
                </a:solidFill>
                <a:latin typeface="Arial"/>
              </a:rPr>
              <a:t>every member opens a Mashreq account</a:t>
            </a:r>
          </a:p>
        </p:txBody>
      </p:sp>
      <p:sp>
        <p:nvSpPr>
          <p:cNvPr id="9" name="Rectangle 8"/>
          <p:cNvSpPr/>
          <p:nvPr/>
        </p:nvSpPr>
        <p:spPr>
          <a:xfrm>
            <a:off x="3611880" y="3401568"/>
            <a:ext cx="2240280" cy="73152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The circle completes</a:t>
            </a:r>
          </a:p>
          <a:p>
            <a:pPr algn="ctr">
              <a:lnSpc>
                <a:spcPct val="102000"/>
              </a:lnSpc>
              <a:spcBef>
                <a:spcPts val="200"/>
              </a:spcBef>
            </a:pPr>
            <a:r>
              <a:rPr sz="1000">
                <a:solidFill>
                  <a:srgbClr val="4B5563"/>
                </a:solidFill>
                <a:latin typeface="Arial"/>
              </a:rPr>
              <a:t>every member collects once</a:t>
            </a:r>
          </a:p>
        </p:txBody>
      </p:sp>
      <p:sp>
        <p:nvSpPr>
          <p:cNvPr id="10" name="Rectangle 9"/>
          <p:cNvSpPr/>
          <p:nvPr/>
        </p:nvSpPr>
        <p:spPr>
          <a:xfrm>
            <a:off x="548640" y="3401568"/>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Members host circles</a:t>
            </a:r>
          </a:p>
          <a:p>
            <a:pPr algn="ctr">
              <a:lnSpc>
                <a:spcPct val="102000"/>
              </a:lnSpc>
              <a:spcBef>
                <a:spcPts val="200"/>
              </a:spcBef>
            </a:pPr>
            <a:r>
              <a:rPr sz="1000">
                <a:solidFill>
                  <a:srgbClr val="4B5563"/>
                </a:solidFill>
                <a:latin typeface="Arial"/>
              </a:rPr>
              <a:t>the cycle repeats</a:t>
            </a:r>
          </a:p>
        </p:txBody>
      </p:sp>
      <p:cxnSp>
        <p:nvCxnSpPr>
          <p:cNvPr id="11" name="Connector 10"/>
          <p:cNvCxnSpPr/>
          <p:nvPr/>
        </p:nvCxnSpPr>
        <p:spPr>
          <a:xfrm>
            <a:off x="2788920" y="2240280"/>
            <a:ext cx="822960" cy="0"/>
          </a:xfrm>
          <a:prstGeom prst="line">
            <a:avLst/>
          </a:prstGeom>
          <a:ln w="19050">
            <a:solidFill>
              <a:srgbClr val="4B5563"/>
            </a:solidFill>
            <a:tailEnd type="triangle" w="med" len="med"/>
          </a:ln>
        </p:spPr>
      </p:cxnSp>
      <p:cxnSp>
        <p:nvCxnSpPr>
          <p:cNvPr id="12" name="Connector 11"/>
          <p:cNvCxnSpPr/>
          <p:nvPr/>
        </p:nvCxnSpPr>
        <p:spPr>
          <a:xfrm>
            <a:off x="4732020" y="2606040"/>
            <a:ext cx="0" cy="795528"/>
          </a:xfrm>
          <a:prstGeom prst="line">
            <a:avLst/>
          </a:prstGeom>
          <a:ln w="19050">
            <a:solidFill>
              <a:srgbClr val="4B5563"/>
            </a:solidFill>
            <a:tailEnd type="triangle" w="med" len="med"/>
          </a:ln>
        </p:spPr>
      </p:cxnSp>
      <p:cxnSp>
        <p:nvCxnSpPr>
          <p:cNvPr id="13" name="Connector 12"/>
          <p:cNvCxnSpPr/>
          <p:nvPr/>
        </p:nvCxnSpPr>
        <p:spPr>
          <a:xfrm flipH="1">
            <a:off x="2788920" y="3767328"/>
            <a:ext cx="822960" cy="0"/>
          </a:xfrm>
          <a:prstGeom prst="line">
            <a:avLst/>
          </a:prstGeom>
          <a:ln w="19050">
            <a:solidFill>
              <a:srgbClr val="4B5563"/>
            </a:solidFill>
            <a:tailEnd type="triangle" w="med" len="med"/>
          </a:ln>
        </p:spPr>
      </p:cxnSp>
      <p:cxnSp>
        <p:nvCxnSpPr>
          <p:cNvPr id="14" name="Connector 13"/>
          <p:cNvCxnSpPr/>
          <p:nvPr/>
        </p:nvCxnSpPr>
        <p:spPr>
          <a:xfrm flipV="1">
            <a:off x="1668780" y="2606040"/>
            <a:ext cx="0" cy="795528"/>
          </a:xfrm>
          <a:prstGeom prst="line">
            <a:avLst/>
          </a:prstGeom>
          <a:ln w="19050">
            <a:solidFill>
              <a:srgbClr val="4B5563"/>
            </a:solidFill>
            <a:tailEnd type="triangle" w="med" len="med"/>
          </a:ln>
        </p:spPr>
      </p:cxnSp>
      <p:sp>
        <p:nvSpPr>
          <p:cNvPr id="15" name="TextBox 14"/>
          <p:cNvSpPr txBox="1"/>
          <p:nvPr/>
        </p:nvSpPr>
        <p:spPr>
          <a:xfrm>
            <a:off x="548640" y="4389120"/>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Channels</a:t>
            </a:r>
          </a:p>
        </p:txBody>
      </p:sp>
      <p:sp>
        <p:nvSpPr>
          <p:cNvPr id="16" name="TextBox 15"/>
          <p:cNvSpPr txBox="1"/>
          <p:nvPr/>
        </p:nvSpPr>
        <p:spPr>
          <a:xfrm>
            <a:off x="548640" y="469087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Hosts</a:t>
            </a:r>
          </a:p>
        </p:txBody>
      </p:sp>
      <p:sp>
        <p:nvSpPr>
          <p:cNvPr id="17" name="TextBox 16"/>
          <p:cNvSpPr txBox="1"/>
          <p:nvPr/>
        </p:nvSpPr>
        <p:spPr>
          <a:xfrm>
            <a:off x="2011680" y="469087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points for circles that complete cleanly, never for recruiting</a:t>
            </a:r>
          </a:p>
        </p:txBody>
      </p:sp>
      <p:sp>
        <p:nvSpPr>
          <p:cNvPr id="18" name="TextBox 17"/>
          <p:cNvSpPr txBox="1"/>
          <p:nvPr/>
        </p:nvSpPr>
        <p:spPr>
          <a:xfrm>
            <a:off x="548640" y="505663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Employers</a:t>
            </a:r>
          </a:p>
        </p:txBody>
      </p:sp>
      <p:sp>
        <p:nvSpPr>
          <p:cNvPr id="19" name="TextBox 18"/>
          <p:cNvSpPr txBox="1"/>
          <p:nvPr/>
        </p:nvSpPr>
        <p:spPr>
          <a:xfrm>
            <a:off x="2011680" y="505663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circles offered to staff</a:t>
            </a:r>
          </a:p>
        </p:txBody>
      </p:sp>
      <p:sp>
        <p:nvSpPr>
          <p:cNvPr id="20" name="TextBox 19"/>
          <p:cNvSpPr txBox="1"/>
          <p:nvPr/>
        </p:nvSpPr>
        <p:spPr>
          <a:xfrm>
            <a:off x="548640" y="542239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Families abroad</a:t>
            </a:r>
          </a:p>
        </p:txBody>
      </p:sp>
      <p:sp>
        <p:nvSpPr>
          <p:cNvPr id="21" name="TextBox 20"/>
          <p:cNvSpPr txBox="1"/>
          <p:nvPr/>
        </p:nvSpPr>
        <p:spPr>
          <a:xfrm>
            <a:off x="2011680" y="542239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relatives in the UAE through the Mashreq Pakistan Account</a:t>
            </a:r>
          </a:p>
        </p:txBody>
      </p:sp>
      <p:sp>
        <p:nvSpPr>
          <p:cNvPr id="22" name="TextBox 21"/>
          <p:cNvSpPr txBox="1"/>
          <p:nvPr/>
        </p:nvSpPr>
        <p:spPr>
          <a:xfrm>
            <a:off x="548640" y="578815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Mashreq</a:t>
            </a:r>
          </a:p>
        </p:txBody>
      </p:sp>
      <p:sp>
        <p:nvSpPr>
          <p:cNvPr id="23" name="TextBox 22"/>
          <p:cNvSpPr txBox="1"/>
          <p:nvPr/>
        </p:nvSpPr>
        <p:spPr>
          <a:xfrm>
            <a:off x="2011680" y="578815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circles offered inside Mashreq’s own application</a:t>
            </a:r>
          </a:p>
        </p:txBody>
      </p:sp>
      <p:sp>
        <p:nvSpPr>
          <p:cNvPr id="24" name="TextBox 23"/>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Deposits</a:t>
            </a:r>
            <a:r>
              <a:rPr sz="1100">
                <a:solidFill>
                  <a:srgbClr val="6B7280"/>
                </a:solidFill>
                <a:latin typeface="Arial"/>
              </a:rPr>
              <a:t>   Rs billion</a:t>
            </a:r>
          </a:p>
        </p:txBody>
      </p:sp>
      <p:graphicFrame>
        <p:nvGraphicFramePr>
          <p:cNvPr id="25" name="Chart 24"/>
          <p:cNvGraphicFramePr>
            <a:graphicFrameLocks noGrp="1"/>
          </p:cNvGraphicFramePr>
          <p:nvPr/>
        </p:nvGraphicFramePr>
        <p:xfrm>
          <a:off x="6217920" y="1755648"/>
          <a:ext cx="5425135" cy="2286000"/>
        </p:xfrm>
        <a:graphic>
          <a:graphicData uri="http://schemas.openxmlformats.org/drawingml/2006/chart">
            <c:chart xmlns:c="http://schemas.openxmlformats.org/drawingml/2006/chart" r:id="rId3"/>
          </a:graphicData>
        </a:graphic>
      </p:graphicFrame>
      <p:sp>
        <p:nvSpPr>
          <p:cNvPr id="26" name="TextBox 25"/>
          <p:cNvSpPr txBox="1"/>
          <p:nvPr/>
        </p:nvSpPr>
        <p:spPr>
          <a:xfrm>
            <a:off x="6263640" y="4069080"/>
            <a:ext cx="5379415" cy="457200"/>
          </a:xfrm>
          <a:prstGeom prst="rect">
            <a:avLst/>
          </a:prstGeom>
          <a:noFill/>
        </p:spPr>
        <p:txBody>
          <a:bodyPr wrap="square" lIns="0" tIns="0" rIns="0" bIns="0">
            <a:spAutoFit/>
          </a:bodyPr>
          <a:lstStyle/>
          <a:p>
            <a:pPr>
              <a:lnSpc>
                <a:spcPct val="104000"/>
              </a:lnSpc>
            </a:pPr>
            <a:r>
              <a:rPr sz="1000">
                <a:solidFill>
                  <a:srgbClr val="6B7280"/>
                </a:solidFill>
                <a:latin typeface="Arial"/>
              </a:rPr>
              <a:t>Basis: Rs 8,515 million of deposits ÷ 350,000 customers = about Rs 24,000 a customer, 30 June 2026 [1]</a:t>
            </a:r>
          </a:p>
        </p:txBody>
      </p:sp>
      <p:sp>
        <p:nvSpPr>
          <p:cNvPr id="27" name="TextBox 26"/>
          <p:cNvSpPr txBox="1"/>
          <p:nvPr/>
        </p:nvSpPr>
        <p:spPr>
          <a:xfrm>
            <a:off x="6263640" y="4663440"/>
            <a:ext cx="2506828" cy="414528"/>
          </a:xfrm>
          <a:prstGeom prst="rect">
            <a:avLst/>
          </a:prstGeom>
          <a:noFill/>
        </p:spPr>
        <p:txBody>
          <a:bodyPr wrap="square" lIns="0" tIns="0" rIns="0" bIns="0">
            <a:spAutoFit/>
          </a:bodyPr>
          <a:lstStyle/>
          <a:p>
            <a:pPr>
              <a:lnSpc>
                <a:spcPct val="100000"/>
              </a:lnSpc>
            </a:pPr>
            <a:r>
              <a:rPr sz="2400" b="1">
                <a:solidFill>
                  <a:srgbClr val="9E3F17"/>
                </a:solidFill>
                <a:latin typeface="Arial"/>
              </a:rPr>
              <a:t>+29%</a:t>
            </a:r>
          </a:p>
        </p:txBody>
      </p:sp>
      <p:sp>
        <p:nvSpPr>
          <p:cNvPr id="28" name="TextBox 27"/>
          <p:cNvSpPr txBox="1"/>
          <p:nvPr/>
        </p:nvSpPr>
        <p:spPr>
          <a:xfrm>
            <a:off x="6263640" y="5059680"/>
            <a:ext cx="2506828" cy="640080"/>
          </a:xfrm>
          <a:prstGeom prst="rect">
            <a:avLst/>
          </a:prstGeom>
          <a:noFill/>
        </p:spPr>
        <p:txBody>
          <a:bodyPr wrap="square" lIns="0" tIns="0" rIns="0" bIns="0">
            <a:spAutoFit/>
          </a:bodyPr>
          <a:lstStyle/>
          <a:p>
            <a:pPr>
              <a:lnSpc>
                <a:spcPct val="104000"/>
              </a:lnSpc>
            </a:pPr>
            <a:r>
              <a:rPr sz="1100">
                <a:solidFill>
                  <a:srgbClr val="4B5563"/>
                </a:solidFill>
                <a:latin typeface="Arial"/>
              </a:rPr>
              <a:t>more customers from 100,000 members, on 350,000 today</a:t>
            </a:r>
          </a:p>
        </p:txBody>
      </p:sp>
      <p:sp>
        <p:nvSpPr>
          <p:cNvPr id="29" name="TextBox 28"/>
          <p:cNvSpPr txBox="1"/>
          <p:nvPr/>
        </p:nvSpPr>
        <p:spPr>
          <a:xfrm>
            <a:off x="8953348" y="4663440"/>
            <a:ext cx="2506828" cy="414528"/>
          </a:xfrm>
          <a:prstGeom prst="rect">
            <a:avLst/>
          </a:prstGeom>
          <a:noFill/>
        </p:spPr>
        <p:txBody>
          <a:bodyPr wrap="square" lIns="0" tIns="0" rIns="0" bIns="0">
            <a:spAutoFit/>
          </a:bodyPr>
          <a:lstStyle/>
          <a:p>
            <a:pPr>
              <a:lnSpc>
                <a:spcPct val="100000"/>
              </a:lnSpc>
            </a:pPr>
            <a:r>
              <a:rPr sz="2400" b="1">
                <a:solidFill>
                  <a:srgbClr val="9E3F17"/>
                </a:solidFill>
                <a:latin typeface="Arial"/>
              </a:rPr>
              <a:t>7 days</a:t>
            </a:r>
          </a:p>
        </p:txBody>
      </p:sp>
      <p:sp>
        <p:nvSpPr>
          <p:cNvPr id="30" name="TextBox 29"/>
          <p:cNvSpPr txBox="1"/>
          <p:nvPr/>
        </p:nvSpPr>
        <p:spPr>
          <a:xfrm>
            <a:off x="8953348" y="5059680"/>
            <a:ext cx="2506828" cy="640080"/>
          </a:xfrm>
          <a:prstGeom prst="rect">
            <a:avLst/>
          </a:prstGeom>
          <a:noFill/>
        </p:spPr>
        <p:txBody>
          <a:bodyPr wrap="square" lIns="0" tIns="0" rIns="0" bIns="0">
            <a:spAutoFit/>
          </a:bodyPr>
          <a:lstStyle/>
          <a:p>
            <a:pPr>
              <a:lnSpc>
                <a:spcPct val="104000"/>
              </a:lnSpc>
            </a:pPr>
            <a:r>
              <a:rPr sz="1100">
                <a:solidFill>
                  <a:srgbClr val="4B5563"/>
                </a:solidFill>
                <a:latin typeface="Arial"/>
              </a:rPr>
              <a:t>each instalment is held at Mashreq between payday and the 8th</a:t>
            </a:r>
          </a:p>
        </p:txBody>
      </p:sp>
      <p:sp>
        <p:nvSpPr>
          <p:cNvPr id="31" name="TextBox 3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Mashreq Bank Pakistan, half year report to 30 June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Credit Reporting and Lending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Every instalment becomes a repayment record from the first day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9</a:t>
            </a:r>
          </a:p>
        </p:txBody>
      </p:sp>
      <p:sp>
        <p:nvSpPr>
          <p:cNvPr id="6" name="Rectangle 5"/>
          <p:cNvSpPr/>
          <p:nvPr/>
        </p:nvSpPr>
        <p:spPr>
          <a:xfrm>
            <a:off x="548640" y="1572768"/>
            <a:ext cx="2971800" cy="1097280"/>
          </a:xfrm>
          <a:prstGeom prst="rect">
            <a:avLst/>
          </a:prstGeom>
          <a:solidFill>
            <a:srgbClr val="F3F4F6"/>
          </a:solidFill>
          <a:ln w="12700">
            <a:solidFill>
              <a:srgbClr val="4B5563"/>
            </a:solidFill>
          </a:ln>
        </p:spPr>
        <p:txBody>
          <a:bodyPr rtlCol="0" anchor="ctr"/>
          <a:lstStyle/>
          <a:p>
            <a:pPr algn="ctr"/>
          </a:p>
        </p:txBody>
      </p:sp>
      <p:sp>
        <p:nvSpPr>
          <p:cNvPr id="7" name="TextBox 6"/>
          <p:cNvSpPr txBox="1"/>
          <p:nvPr/>
        </p:nvSpPr>
        <p:spPr>
          <a:xfrm>
            <a:off x="685800" y="1664208"/>
            <a:ext cx="2697480" cy="274320"/>
          </a:xfrm>
          <a:prstGeom prst="rect">
            <a:avLst/>
          </a:prstGeom>
          <a:noFill/>
        </p:spPr>
        <p:txBody>
          <a:bodyPr wrap="square" lIns="0" tIns="0" rIns="0" bIns="0">
            <a:spAutoFit/>
          </a:bodyPr>
          <a:lstStyle/>
          <a:p>
            <a:pPr algn="ctr">
              <a:lnSpc>
                <a:spcPct val="105000"/>
              </a:lnSpc>
            </a:pPr>
            <a:r>
              <a:rPr sz="1200" b="1">
                <a:solidFill>
                  <a:srgbClr val="0C1408"/>
                </a:solidFill>
                <a:latin typeface="Arial"/>
              </a:rPr>
              <a:t>Twelve instalments paid</a:t>
            </a:r>
          </a:p>
        </p:txBody>
      </p:sp>
      <p:sp>
        <p:nvSpPr>
          <p:cNvPr id="8" name="Rectangle 7"/>
          <p:cNvSpPr/>
          <p:nvPr/>
        </p:nvSpPr>
        <p:spPr>
          <a:xfrm>
            <a:off x="7315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9" name="Connector 8"/>
          <p:cNvCxnSpPr/>
          <p:nvPr/>
        </p:nvCxnSpPr>
        <p:spPr>
          <a:xfrm>
            <a:off x="748665" y="2183587"/>
            <a:ext cx="55596" cy="51207"/>
          </a:xfrm>
          <a:prstGeom prst="line">
            <a:avLst/>
          </a:prstGeom>
          <a:ln w="17780">
            <a:solidFill>
              <a:srgbClr val="41801A"/>
            </a:solidFill>
          </a:ln>
        </p:spPr>
      </p:cxnSp>
      <p:cxnSp>
        <p:nvCxnSpPr>
          <p:cNvPr id="10" name="Connector 9"/>
          <p:cNvCxnSpPr/>
          <p:nvPr/>
        </p:nvCxnSpPr>
        <p:spPr>
          <a:xfrm flipV="1">
            <a:off x="804261" y="2117750"/>
            <a:ext cx="90708" cy="117044"/>
          </a:xfrm>
          <a:prstGeom prst="line">
            <a:avLst/>
          </a:prstGeom>
          <a:ln w="17780">
            <a:solidFill>
              <a:srgbClr val="41801A"/>
            </a:solidFill>
          </a:ln>
        </p:spPr>
      </p:cxnSp>
      <p:sp>
        <p:nvSpPr>
          <p:cNvPr id="11" name="Rectangle 10"/>
          <p:cNvSpPr/>
          <p:nvPr/>
        </p:nvSpPr>
        <p:spPr>
          <a:xfrm>
            <a:off x="9486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2" name="Connector 11"/>
          <p:cNvCxnSpPr/>
          <p:nvPr/>
        </p:nvCxnSpPr>
        <p:spPr>
          <a:xfrm>
            <a:off x="965835" y="2183587"/>
            <a:ext cx="55596" cy="51207"/>
          </a:xfrm>
          <a:prstGeom prst="line">
            <a:avLst/>
          </a:prstGeom>
          <a:ln w="17780">
            <a:solidFill>
              <a:srgbClr val="41801A"/>
            </a:solidFill>
          </a:ln>
        </p:spPr>
      </p:cxnSp>
      <p:cxnSp>
        <p:nvCxnSpPr>
          <p:cNvPr id="13" name="Connector 12"/>
          <p:cNvCxnSpPr/>
          <p:nvPr/>
        </p:nvCxnSpPr>
        <p:spPr>
          <a:xfrm flipV="1">
            <a:off x="1021431" y="2117750"/>
            <a:ext cx="90708" cy="117044"/>
          </a:xfrm>
          <a:prstGeom prst="line">
            <a:avLst/>
          </a:prstGeom>
          <a:ln w="17780">
            <a:solidFill>
              <a:srgbClr val="41801A"/>
            </a:solidFill>
          </a:ln>
        </p:spPr>
      </p:cxnSp>
      <p:sp>
        <p:nvSpPr>
          <p:cNvPr id="14" name="Rectangle 13"/>
          <p:cNvSpPr/>
          <p:nvPr/>
        </p:nvSpPr>
        <p:spPr>
          <a:xfrm>
            <a:off x="116586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5" name="Connector 14"/>
          <p:cNvCxnSpPr/>
          <p:nvPr/>
        </p:nvCxnSpPr>
        <p:spPr>
          <a:xfrm>
            <a:off x="1183005" y="2183587"/>
            <a:ext cx="55596" cy="51207"/>
          </a:xfrm>
          <a:prstGeom prst="line">
            <a:avLst/>
          </a:prstGeom>
          <a:ln w="17780">
            <a:solidFill>
              <a:srgbClr val="41801A"/>
            </a:solidFill>
          </a:ln>
        </p:spPr>
      </p:cxnSp>
      <p:cxnSp>
        <p:nvCxnSpPr>
          <p:cNvPr id="16" name="Connector 15"/>
          <p:cNvCxnSpPr/>
          <p:nvPr/>
        </p:nvCxnSpPr>
        <p:spPr>
          <a:xfrm flipV="1">
            <a:off x="1238601" y="2117750"/>
            <a:ext cx="90708" cy="117044"/>
          </a:xfrm>
          <a:prstGeom prst="line">
            <a:avLst/>
          </a:prstGeom>
          <a:ln w="17780">
            <a:solidFill>
              <a:srgbClr val="41801A"/>
            </a:solidFill>
          </a:ln>
        </p:spPr>
      </p:cxnSp>
      <p:sp>
        <p:nvSpPr>
          <p:cNvPr id="17" name="Rectangle 16"/>
          <p:cNvSpPr/>
          <p:nvPr/>
        </p:nvSpPr>
        <p:spPr>
          <a:xfrm>
            <a:off x="138303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8" name="Connector 17"/>
          <p:cNvCxnSpPr/>
          <p:nvPr/>
        </p:nvCxnSpPr>
        <p:spPr>
          <a:xfrm>
            <a:off x="1400175" y="2183587"/>
            <a:ext cx="55596" cy="51207"/>
          </a:xfrm>
          <a:prstGeom prst="line">
            <a:avLst/>
          </a:prstGeom>
          <a:ln w="17780">
            <a:solidFill>
              <a:srgbClr val="41801A"/>
            </a:solidFill>
          </a:ln>
        </p:spPr>
      </p:cxnSp>
      <p:cxnSp>
        <p:nvCxnSpPr>
          <p:cNvPr id="19" name="Connector 18"/>
          <p:cNvCxnSpPr/>
          <p:nvPr/>
        </p:nvCxnSpPr>
        <p:spPr>
          <a:xfrm flipV="1">
            <a:off x="1455771" y="2117750"/>
            <a:ext cx="90708" cy="117044"/>
          </a:xfrm>
          <a:prstGeom prst="line">
            <a:avLst/>
          </a:prstGeom>
          <a:ln w="17780">
            <a:solidFill>
              <a:srgbClr val="41801A"/>
            </a:solidFill>
          </a:ln>
        </p:spPr>
      </p:cxnSp>
      <p:sp>
        <p:nvSpPr>
          <p:cNvPr id="20" name="Rectangle 19"/>
          <p:cNvSpPr/>
          <p:nvPr/>
        </p:nvSpPr>
        <p:spPr>
          <a:xfrm>
            <a:off x="160020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1" name="Connector 20"/>
          <p:cNvCxnSpPr/>
          <p:nvPr/>
        </p:nvCxnSpPr>
        <p:spPr>
          <a:xfrm>
            <a:off x="1617345" y="2183587"/>
            <a:ext cx="55596" cy="51207"/>
          </a:xfrm>
          <a:prstGeom prst="line">
            <a:avLst/>
          </a:prstGeom>
          <a:ln w="17780">
            <a:solidFill>
              <a:srgbClr val="41801A"/>
            </a:solidFill>
          </a:ln>
        </p:spPr>
      </p:cxnSp>
      <p:cxnSp>
        <p:nvCxnSpPr>
          <p:cNvPr id="22" name="Connector 21"/>
          <p:cNvCxnSpPr/>
          <p:nvPr/>
        </p:nvCxnSpPr>
        <p:spPr>
          <a:xfrm flipV="1">
            <a:off x="1672941" y="2117750"/>
            <a:ext cx="90708" cy="117044"/>
          </a:xfrm>
          <a:prstGeom prst="line">
            <a:avLst/>
          </a:prstGeom>
          <a:ln w="17780">
            <a:solidFill>
              <a:srgbClr val="41801A"/>
            </a:solidFill>
          </a:ln>
        </p:spPr>
      </p:cxnSp>
      <p:sp>
        <p:nvSpPr>
          <p:cNvPr id="23" name="Rectangle 22"/>
          <p:cNvSpPr/>
          <p:nvPr/>
        </p:nvSpPr>
        <p:spPr>
          <a:xfrm>
            <a:off x="181737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4" name="Connector 23"/>
          <p:cNvCxnSpPr/>
          <p:nvPr/>
        </p:nvCxnSpPr>
        <p:spPr>
          <a:xfrm>
            <a:off x="1834515" y="2183587"/>
            <a:ext cx="55596" cy="51207"/>
          </a:xfrm>
          <a:prstGeom prst="line">
            <a:avLst/>
          </a:prstGeom>
          <a:ln w="17780">
            <a:solidFill>
              <a:srgbClr val="41801A"/>
            </a:solidFill>
          </a:ln>
        </p:spPr>
      </p:cxnSp>
      <p:cxnSp>
        <p:nvCxnSpPr>
          <p:cNvPr id="25" name="Connector 24"/>
          <p:cNvCxnSpPr/>
          <p:nvPr/>
        </p:nvCxnSpPr>
        <p:spPr>
          <a:xfrm flipV="1">
            <a:off x="1890111" y="2117750"/>
            <a:ext cx="90708" cy="117044"/>
          </a:xfrm>
          <a:prstGeom prst="line">
            <a:avLst/>
          </a:prstGeom>
          <a:ln w="17780">
            <a:solidFill>
              <a:srgbClr val="41801A"/>
            </a:solidFill>
          </a:ln>
        </p:spPr>
      </p:cxnSp>
      <p:sp>
        <p:nvSpPr>
          <p:cNvPr id="26" name="Rectangle 25"/>
          <p:cNvSpPr/>
          <p:nvPr/>
        </p:nvSpPr>
        <p:spPr>
          <a:xfrm>
            <a:off x="203454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7" name="Connector 26"/>
          <p:cNvCxnSpPr/>
          <p:nvPr/>
        </p:nvCxnSpPr>
        <p:spPr>
          <a:xfrm>
            <a:off x="2051685" y="2183587"/>
            <a:ext cx="55596" cy="51207"/>
          </a:xfrm>
          <a:prstGeom prst="line">
            <a:avLst/>
          </a:prstGeom>
          <a:ln w="17780">
            <a:solidFill>
              <a:srgbClr val="41801A"/>
            </a:solidFill>
          </a:ln>
        </p:spPr>
      </p:cxnSp>
      <p:cxnSp>
        <p:nvCxnSpPr>
          <p:cNvPr id="28" name="Connector 27"/>
          <p:cNvCxnSpPr/>
          <p:nvPr/>
        </p:nvCxnSpPr>
        <p:spPr>
          <a:xfrm flipV="1">
            <a:off x="2107281" y="2117750"/>
            <a:ext cx="90708" cy="117044"/>
          </a:xfrm>
          <a:prstGeom prst="line">
            <a:avLst/>
          </a:prstGeom>
          <a:ln w="17780">
            <a:solidFill>
              <a:srgbClr val="41801A"/>
            </a:solidFill>
          </a:ln>
        </p:spPr>
      </p:cxnSp>
      <p:sp>
        <p:nvSpPr>
          <p:cNvPr id="29" name="Rectangle 28"/>
          <p:cNvSpPr/>
          <p:nvPr/>
        </p:nvSpPr>
        <p:spPr>
          <a:xfrm>
            <a:off x="225171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0" name="Connector 29"/>
          <p:cNvCxnSpPr/>
          <p:nvPr/>
        </p:nvCxnSpPr>
        <p:spPr>
          <a:xfrm>
            <a:off x="2268855" y="2183587"/>
            <a:ext cx="55596" cy="51207"/>
          </a:xfrm>
          <a:prstGeom prst="line">
            <a:avLst/>
          </a:prstGeom>
          <a:ln w="17780">
            <a:solidFill>
              <a:srgbClr val="41801A"/>
            </a:solidFill>
          </a:ln>
        </p:spPr>
      </p:cxnSp>
      <p:cxnSp>
        <p:nvCxnSpPr>
          <p:cNvPr id="31" name="Connector 30"/>
          <p:cNvCxnSpPr/>
          <p:nvPr/>
        </p:nvCxnSpPr>
        <p:spPr>
          <a:xfrm flipV="1">
            <a:off x="2324451" y="2117750"/>
            <a:ext cx="90708" cy="117044"/>
          </a:xfrm>
          <a:prstGeom prst="line">
            <a:avLst/>
          </a:prstGeom>
          <a:ln w="17780">
            <a:solidFill>
              <a:srgbClr val="41801A"/>
            </a:solidFill>
          </a:ln>
        </p:spPr>
      </p:cxnSp>
      <p:sp>
        <p:nvSpPr>
          <p:cNvPr id="32" name="Rectangle 31"/>
          <p:cNvSpPr/>
          <p:nvPr/>
        </p:nvSpPr>
        <p:spPr>
          <a:xfrm>
            <a:off x="246888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3" name="Connector 32"/>
          <p:cNvCxnSpPr/>
          <p:nvPr/>
        </p:nvCxnSpPr>
        <p:spPr>
          <a:xfrm>
            <a:off x="2486025" y="2183587"/>
            <a:ext cx="55596" cy="51207"/>
          </a:xfrm>
          <a:prstGeom prst="line">
            <a:avLst/>
          </a:prstGeom>
          <a:ln w="17780">
            <a:solidFill>
              <a:srgbClr val="41801A"/>
            </a:solidFill>
          </a:ln>
        </p:spPr>
      </p:cxnSp>
      <p:cxnSp>
        <p:nvCxnSpPr>
          <p:cNvPr id="34" name="Connector 33"/>
          <p:cNvCxnSpPr/>
          <p:nvPr/>
        </p:nvCxnSpPr>
        <p:spPr>
          <a:xfrm flipV="1">
            <a:off x="2541621" y="2117750"/>
            <a:ext cx="90708" cy="117044"/>
          </a:xfrm>
          <a:prstGeom prst="line">
            <a:avLst/>
          </a:prstGeom>
          <a:ln w="17780">
            <a:solidFill>
              <a:srgbClr val="41801A"/>
            </a:solidFill>
          </a:ln>
        </p:spPr>
      </p:cxnSp>
      <p:sp>
        <p:nvSpPr>
          <p:cNvPr id="35" name="Rectangle 34"/>
          <p:cNvSpPr/>
          <p:nvPr/>
        </p:nvSpPr>
        <p:spPr>
          <a:xfrm>
            <a:off x="268605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6" name="Connector 35"/>
          <p:cNvCxnSpPr/>
          <p:nvPr/>
        </p:nvCxnSpPr>
        <p:spPr>
          <a:xfrm>
            <a:off x="2703195" y="2183587"/>
            <a:ext cx="55596" cy="51207"/>
          </a:xfrm>
          <a:prstGeom prst="line">
            <a:avLst/>
          </a:prstGeom>
          <a:ln w="17780">
            <a:solidFill>
              <a:srgbClr val="41801A"/>
            </a:solidFill>
          </a:ln>
        </p:spPr>
      </p:cxnSp>
      <p:cxnSp>
        <p:nvCxnSpPr>
          <p:cNvPr id="37" name="Connector 36"/>
          <p:cNvCxnSpPr/>
          <p:nvPr/>
        </p:nvCxnSpPr>
        <p:spPr>
          <a:xfrm flipV="1">
            <a:off x="2758791" y="2117750"/>
            <a:ext cx="90708" cy="117044"/>
          </a:xfrm>
          <a:prstGeom prst="line">
            <a:avLst/>
          </a:prstGeom>
          <a:ln w="17780">
            <a:solidFill>
              <a:srgbClr val="41801A"/>
            </a:solidFill>
          </a:ln>
        </p:spPr>
      </p:cxnSp>
      <p:sp>
        <p:nvSpPr>
          <p:cNvPr id="38" name="Rectangle 37"/>
          <p:cNvSpPr/>
          <p:nvPr/>
        </p:nvSpPr>
        <p:spPr>
          <a:xfrm>
            <a:off x="29032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9" name="Connector 38"/>
          <p:cNvCxnSpPr/>
          <p:nvPr/>
        </p:nvCxnSpPr>
        <p:spPr>
          <a:xfrm>
            <a:off x="2920365" y="2183587"/>
            <a:ext cx="55596" cy="51207"/>
          </a:xfrm>
          <a:prstGeom prst="line">
            <a:avLst/>
          </a:prstGeom>
          <a:ln w="17780">
            <a:solidFill>
              <a:srgbClr val="41801A"/>
            </a:solidFill>
          </a:ln>
        </p:spPr>
      </p:cxnSp>
      <p:cxnSp>
        <p:nvCxnSpPr>
          <p:cNvPr id="40" name="Connector 39"/>
          <p:cNvCxnSpPr/>
          <p:nvPr/>
        </p:nvCxnSpPr>
        <p:spPr>
          <a:xfrm flipV="1">
            <a:off x="2975961" y="2117750"/>
            <a:ext cx="90708" cy="117044"/>
          </a:xfrm>
          <a:prstGeom prst="line">
            <a:avLst/>
          </a:prstGeom>
          <a:ln w="17780">
            <a:solidFill>
              <a:srgbClr val="41801A"/>
            </a:solidFill>
          </a:ln>
        </p:spPr>
      </p:cxnSp>
      <p:sp>
        <p:nvSpPr>
          <p:cNvPr id="41" name="Rectangle 40"/>
          <p:cNvSpPr/>
          <p:nvPr/>
        </p:nvSpPr>
        <p:spPr>
          <a:xfrm>
            <a:off x="31203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42" name="Connector 41"/>
          <p:cNvCxnSpPr/>
          <p:nvPr/>
        </p:nvCxnSpPr>
        <p:spPr>
          <a:xfrm>
            <a:off x="3137535" y="2183587"/>
            <a:ext cx="55596" cy="51207"/>
          </a:xfrm>
          <a:prstGeom prst="line">
            <a:avLst/>
          </a:prstGeom>
          <a:ln w="17780">
            <a:solidFill>
              <a:srgbClr val="41801A"/>
            </a:solidFill>
          </a:ln>
        </p:spPr>
      </p:cxnSp>
      <p:cxnSp>
        <p:nvCxnSpPr>
          <p:cNvPr id="43" name="Connector 42"/>
          <p:cNvCxnSpPr/>
          <p:nvPr/>
        </p:nvCxnSpPr>
        <p:spPr>
          <a:xfrm flipV="1">
            <a:off x="3193131" y="2117750"/>
            <a:ext cx="90708" cy="117044"/>
          </a:xfrm>
          <a:prstGeom prst="line">
            <a:avLst/>
          </a:prstGeom>
          <a:ln w="17780">
            <a:solidFill>
              <a:srgbClr val="41801A"/>
            </a:solidFill>
          </a:ln>
        </p:spPr>
      </p:cxnSp>
      <p:sp>
        <p:nvSpPr>
          <p:cNvPr id="44" name="TextBox 43"/>
          <p:cNvSpPr txBox="1"/>
          <p:nvPr/>
        </p:nvSpPr>
        <p:spPr>
          <a:xfrm>
            <a:off x="685800" y="2395728"/>
            <a:ext cx="2697480" cy="237744"/>
          </a:xfrm>
          <a:prstGeom prst="rect">
            <a:avLst/>
          </a:prstGeom>
          <a:noFill/>
        </p:spPr>
        <p:txBody>
          <a:bodyPr wrap="square" lIns="0" tIns="0" rIns="0" bIns="0">
            <a:spAutoFit/>
          </a:bodyPr>
          <a:lstStyle/>
          <a:p>
            <a:pPr algn="ctr">
              <a:lnSpc>
                <a:spcPct val="105000"/>
              </a:lnSpc>
            </a:pPr>
            <a:r>
              <a:rPr sz="950">
                <a:solidFill>
                  <a:srgbClr val="6B7280"/>
                </a:solidFill>
                <a:latin typeface="Arial"/>
              </a:rPr>
              <a:t>one member, one circle</a:t>
            </a:r>
          </a:p>
        </p:txBody>
      </p:sp>
      <p:cxnSp>
        <p:nvCxnSpPr>
          <p:cNvPr id="45" name="Connector 44"/>
          <p:cNvCxnSpPr/>
          <p:nvPr/>
        </p:nvCxnSpPr>
        <p:spPr>
          <a:xfrm>
            <a:off x="3566160" y="2121408"/>
            <a:ext cx="365760" cy="0"/>
          </a:xfrm>
          <a:prstGeom prst="line">
            <a:avLst/>
          </a:prstGeom>
          <a:ln w="19050">
            <a:solidFill>
              <a:srgbClr val="4B5563"/>
            </a:solidFill>
            <a:tailEnd type="triangle" w="med" len="med"/>
          </a:ln>
        </p:spPr>
      </p:cxnSp>
      <p:sp>
        <p:nvSpPr>
          <p:cNvPr id="46" name="Rectangle 45"/>
          <p:cNvSpPr/>
          <p:nvPr/>
        </p:nvSpPr>
        <p:spPr>
          <a:xfrm>
            <a:off x="3977640" y="1572768"/>
            <a:ext cx="2250338" cy="10972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Credit record</a:t>
            </a:r>
          </a:p>
          <a:p>
            <a:pPr algn="ctr">
              <a:lnSpc>
                <a:spcPct val="102000"/>
              </a:lnSpc>
              <a:spcBef>
                <a:spcPts val="200"/>
              </a:spcBef>
            </a:pPr>
            <a:r>
              <a:rPr sz="1050">
                <a:solidFill>
                  <a:srgbClr val="4B5563"/>
                </a:solidFill>
                <a:latin typeface="Arial"/>
              </a:rPr>
              <a:t>reported to TASDEEQ from day one</a:t>
            </a:r>
          </a:p>
        </p:txBody>
      </p:sp>
      <p:cxnSp>
        <p:nvCxnSpPr>
          <p:cNvPr id="47" name="Connector 46"/>
          <p:cNvCxnSpPr/>
          <p:nvPr/>
        </p:nvCxnSpPr>
        <p:spPr>
          <a:xfrm>
            <a:off x="6273698" y="2121408"/>
            <a:ext cx="365760" cy="0"/>
          </a:xfrm>
          <a:prstGeom prst="line">
            <a:avLst/>
          </a:prstGeom>
          <a:ln w="19050">
            <a:solidFill>
              <a:srgbClr val="4B5563"/>
            </a:solidFill>
            <a:tailEnd type="triangle" w="med" len="med"/>
          </a:ln>
        </p:spPr>
      </p:cxnSp>
      <p:sp>
        <p:nvSpPr>
          <p:cNvPr id="48" name="Rectangle 47"/>
          <p:cNvSpPr/>
          <p:nvPr/>
        </p:nvSpPr>
        <p:spPr>
          <a:xfrm>
            <a:off x="6685178" y="1572768"/>
            <a:ext cx="2250338" cy="109728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Credit score</a:t>
            </a:r>
          </a:p>
          <a:p>
            <a:pPr algn="ctr">
              <a:lnSpc>
                <a:spcPct val="102000"/>
              </a:lnSpc>
              <a:spcBef>
                <a:spcPts val="200"/>
              </a:spcBef>
            </a:pPr>
            <a:r>
              <a:rPr sz="1050">
                <a:solidFill>
                  <a:srgbClr val="4B5563"/>
                </a:solidFill>
                <a:latin typeface="Arial"/>
              </a:rPr>
              <a:t>Halqa score, 300 to 850, updated with every payment</a:t>
            </a:r>
          </a:p>
        </p:txBody>
      </p:sp>
      <p:cxnSp>
        <p:nvCxnSpPr>
          <p:cNvPr id="49" name="Connector 48"/>
          <p:cNvCxnSpPr/>
          <p:nvPr/>
        </p:nvCxnSpPr>
        <p:spPr>
          <a:xfrm>
            <a:off x="8981237" y="2121408"/>
            <a:ext cx="365760" cy="0"/>
          </a:xfrm>
          <a:prstGeom prst="line">
            <a:avLst/>
          </a:prstGeom>
          <a:ln w="19050">
            <a:solidFill>
              <a:srgbClr val="4B5563"/>
            </a:solidFill>
            <a:tailEnd type="triangle" w="med" len="med"/>
          </a:ln>
        </p:spPr>
      </p:cxnSp>
      <p:sp>
        <p:nvSpPr>
          <p:cNvPr id="50" name="Rectangle 49"/>
          <p:cNvSpPr/>
          <p:nvPr/>
        </p:nvSpPr>
        <p:spPr>
          <a:xfrm>
            <a:off x="9392717" y="1572768"/>
            <a:ext cx="2250338" cy="1097280"/>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250" b="1">
                <a:solidFill>
                  <a:srgbClr val="0C1408"/>
                </a:solidFill>
                <a:latin typeface="Arial"/>
              </a:rPr>
              <a:t>Lending offer</a:t>
            </a:r>
          </a:p>
          <a:p>
            <a:pPr algn="ctr">
              <a:lnSpc>
                <a:spcPct val="102000"/>
              </a:lnSpc>
              <a:spcBef>
                <a:spcPts val="200"/>
              </a:spcBef>
            </a:pPr>
            <a:r>
              <a:rPr sz="1050">
                <a:solidFill>
                  <a:srgbClr val="4B5563"/>
                </a:solidFill>
                <a:latin typeface="Arial"/>
              </a:rPr>
              <a:t>after a circle completes cleanly</a:t>
            </a:r>
          </a:p>
        </p:txBody>
      </p:sp>
      <p:sp>
        <p:nvSpPr>
          <p:cNvPr id="51" name="TextBox 50"/>
          <p:cNvSpPr txBox="1"/>
          <p:nvPr/>
        </p:nvSpPr>
        <p:spPr>
          <a:xfrm>
            <a:off x="548640"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What each record holds</a:t>
            </a:r>
          </a:p>
        </p:txBody>
      </p:sp>
      <p:sp>
        <p:nvSpPr>
          <p:cNvPr id="52" name="TextBox 51"/>
          <p:cNvSpPr txBox="1"/>
          <p:nvPr/>
        </p:nvSpPr>
        <p:spPr>
          <a:xfrm>
            <a:off x="548640" y="3346704"/>
            <a:ext cx="3423818" cy="1280160"/>
          </a:xfrm>
          <a:prstGeom prst="rect">
            <a:avLst/>
          </a:prstGeom>
          <a:noFill/>
        </p:spPr>
        <p:txBody>
          <a:bodyPr wrap="square" lIns="0" tIns="0" rIns="0" bIns="0">
            <a:spAutoFit/>
          </a:bodyPr>
          <a:lstStyle/>
          <a:p>
            <a:pPr marL="173736" indent="-173736">
              <a:lnSpc>
                <a:spcPct val="104000"/>
              </a:lnSpc>
              <a:spcAft>
                <a:spcPts val="250"/>
              </a:spcAft>
              <a:buClr>
                <a:srgbClr val="D8602A"/>
              </a:buClr>
              <a:buSzPct val="70000"/>
              <a:buFont typeface="Arial"/>
              <a:buChar char="■"/>
            </a:pPr>
            <a:r>
              <a:rPr sz="1150">
                <a:solidFill>
                  <a:srgbClr val="0C1408"/>
                </a:solidFill>
                <a:latin typeface="Arial"/>
              </a:rPr>
              <a:t>Amount and due date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Date paid, on time or late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Circle type and turn</a:t>
            </a:r>
          </a:p>
          <a:p>
            <a:pPr marL="173736" indent="-173736">
              <a:lnSpc>
                <a:spcPct val="104000"/>
              </a:lnSpc>
              <a:spcAft>
                <a:spcPts val="250"/>
              </a:spcAft>
              <a:buClr>
                <a:srgbClr val="D8602A"/>
              </a:buClr>
              <a:buSzPct val="70000"/>
              <a:buFont typeface="Arial"/>
              <a:buChar char="■"/>
            </a:pPr>
            <a:r>
              <a:rPr sz="1150">
                <a:solidFill>
                  <a:srgbClr val="0C1408"/>
                </a:solidFill>
                <a:latin typeface="Arial"/>
              </a:rPr>
              <a:t>Whether the circle completed</a:t>
            </a:r>
          </a:p>
        </p:txBody>
      </p:sp>
      <p:sp>
        <p:nvSpPr>
          <p:cNvPr id="53" name="TextBox 52"/>
          <p:cNvSpPr txBox="1"/>
          <p:nvPr/>
        </p:nvSpPr>
        <p:spPr>
          <a:xfrm>
            <a:off x="4383938"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Reporting route</a:t>
            </a:r>
          </a:p>
        </p:txBody>
      </p:sp>
      <p:sp>
        <p:nvSpPr>
          <p:cNvPr id="54" name="TextBox 53"/>
          <p:cNvSpPr txBox="1"/>
          <p:nvPr/>
        </p:nvSpPr>
        <p:spPr>
          <a:xfrm>
            <a:off x="4383938" y="3346704"/>
            <a:ext cx="3423818" cy="1280160"/>
          </a:xfrm>
          <a:prstGeom prst="rect">
            <a:avLst/>
          </a:prstGeom>
          <a:noFill/>
        </p:spPr>
        <p:txBody>
          <a:bodyPr wrap="square" lIns="0" tIns="0" rIns="0" bIns="0">
            <a:spAutoFit/>
          </a:bodyPr>
          <a:lstStyle/>
          <a:p>
            <a:pPr marL="173736" indent="-173736">
              <a:lnSpc>
                <a:spcPct val="104000"/>
              </a:lnSpc>
              <a:spcAft>
                <a:spcPts val="250"/>
              </a:spcAft>
              <a:buClr>
                <a:srgbClr val="D8602A"/>
              </a:buClr>
              <a:buSzPct val="70000"/>
              <a:buFont typeface="Arial"/>
              <a:buChar char="■"/>
            </a:pPr>
            <a:r>
              <a:rPr sz="1150">
                <a:solidFill>
                  <a:srgbClr val="0C1408"/>
                </a:solidFill>
                <a:latin typeface="Arial"/>
              </a:rPr>
              <a:t>Through Mashreq’s TASDEEQ membership</a:t>
            </a:r>
          </a:p>
          <a:p>
            <a:pPr marL="173736" indent="-173736">
              <a:lnSpc>
                <a:spcPct val="104000"/>
              </a:lnSpc>
              <a:spcAft>
                <a:spcPts val="250"/>
              </a:spcAft>
              <a:buClr>
                <a:srgbClr val="D8602A"/>
              </a:buClr>
              <a:buSzPct val="70000"/>
              <a:buFont typeface="Arial"/>
              <a:buChar char="■"/>
            </a:pPr>
            <a:r>
              <a:rPr sz="1150">
                <a:solidFill>
                  <a:srgbClr val="0C1408"/>
                </a:solidFill>
                <a:latin typeface="Arial"/>
              </a:rPr>
              <a:t>Or Halqa as a data provider</a:t>
            </a:r>
          </a:p>
          <a:p>
            <a:pPr marL="173736" indent="-173736">
              <a:lnSpc>
                <a:spcPct val="104000"/>
              </a:lnSpc>
              <a:spcAft>
                <a:spcPts val="250"/>
              </a:spcAft>
              <a:buClr>
                <a:srgbClr val="D8602A"/>
              </a:buClr>
              <a:buSzPct val="70000"/>
              <a:buFont typeface="Arial"/>
              <a:buChar char="■"/>
            </a:pPr>
            <a:r>
              <a:rPr sz="1150">
                <a:solidFill>
                  <a:srgbClr val="0C1408"/>
                </a:solidFill>
                <a:latin typeface="Arial"/>
              </a:rPr>
              <a:t>Mashreq decides the route</a:t>
            </a:r>
          </a:p>
          <a:p>
            <a:pPr marL="173736" indent="-173736">
              <a:lnSpc>
                <a:spcPct val="104000"/>
              </a:lnSpc>
              <a:spcAft>
                <a:spcPts val="250"/>
              </a:spcAft>
              <a:buClr>
                <a:srgbClr val="D8602A"/>
              </a:buClr>
              <a:buSzPct val="70000"/>
              <a:buFont typeface="Arial"/>
              <a:buChar char="■"/>
            </a:pPr>
            <a:r>
              <a:rPr sz="1150">
                <a:solidFill>
                  <a:srgbClr val="0C1408"/>
                </a:solidFill>
                <a:latin typeface="Arial"/>
              </a:rPr>
              <a:t>From the first payment</a:t>
            </a:r>
          </a:p>
        </p:txBody>
      </p:sp>
      <p:sp>
        <p:nvSpPr>
          <p:cNvPr id="55" name="TextBox 54"/>
          <p:cNvSpPr txBox="1"/>
          <p:nvPr/>
        </p:nvSpPr>
        <p:spPr>
          <a:xfrm>
            <a:off x="8219237"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Evidence from lending circles</a:t>
            </a:r>
          </a:p>
        </p:txBody>
      </p:sp>
      <p:sp>
        <p:nvSpPr>
          <p:cNvPr id="56" name="TextBox 55"/>
          <p:cNvSpPr txBox="1"/>
          <p:nvPr/>
        </p:nvSpPr>
        <p:spPr>
          <a:xfrm>
            <a:off x="8219237" y="3364992"/>
            <a:ext cx="3423818" cy="414528"/>
          </a:xfrm>
          <a:prstGeom prst="rect">
            <a:avLst/>
          </a:prstGeom>
          <a:noFill/>
        </p:spPr>
        <p:txBody>
          <a:bodyPr wrap="square" lIns="0" tIns="0" rIns="0" bIns="0">
            <a:spAutoFit/>
          </a:bodyPr>
          <a:lstStyle/>
          <a:p>
            <a:pPr>
              <a:lnSpc>
                <a:spcPct val="100000"/>
              </a:lnSpc>
            </a:pPr>
            <a:r>
              <a:rPr sz="2400" b="1">
                <a:solidFill>
                  <a:srgbClr val="9E3F17"/>
                </a:solidFill>
                <a:latin typeface="Arial"/>
              </a:rPr>
              <a:t>+168 points</a:t>
            </a:r>
          </a:p>
        </p:txBody>
      </p:sp>
      <p:sp>
        <p:nvSpPr>
          <p:cNvPr id="57" name="TextBox 56"/>
          <p:cNvSpPr txBox="1"/>
          <p:nvPr/>
        </p:nvSpPr>
        <p:spPr>
          <a:xfrm>
            <a:off x="8219237" y="3761232"/>
            <a:ext cx="3423818" cy="822960"/>
          </a:xfrm>
          <a:prstGeom prst="rect">
            <a:avLst/>
          </a:prstGeom>
          <a:noFill/>
        </p:spPr>
        <p:txBody>
          <a:bodyPr wrap="square" lIns="0" tIns="0" rIns="0" bIns="0">
            <a:spAutoFit/>
          </a:bodyPr>
          <a:lstStyle/>
          <a:p>
            <a:pPr>
              <a:lnSpc>
                <a:spcPct val="104000"/>
              </a:lnSpc>
            </a:pPr>
            <a:r>
              <a:rPr sz="1100">
                <a:solidFill>
                  <a:srgbClr val="4B5563"/>
                </a:solidFill>
                <a:latin typeface="Arial"/>
              </a:rPr>
              <a:t>average credit score gain when lending circle payments were reported to US credit bureaus [1]</a:t>
            </a:r>
          </a:p>
        </p:txBody>
      </p:sp>
      <p:sp>
        <p:nvSpPr>
          <p:cNvPr id="58" name="Rectangle 57"/>
          <p:cNvSpPr/>
          <p:nvPr/>
        </p:nvSpPr>
        <p:spPr>
          <a:xfrm>
            <a:off x="548640" y="4846320"/>
            <a:ext cx="11094415" cy="1325880"/>
          </a:xfrm>
          <a:prstGeom prst="rect">
            <a:avLst/>
          </a:prstGeom>
          <a:solidFill>
            <a:srgbClr val="FDF1EA"/>
          </a:solidFill>
          <a:ln>
            <a:noFill/>
          </a:ln>
        </p:spPr>
        <p:txBody>
          <a:bodyPr rtlCol="0" anchor="ctr"/>
          <a:lstStyle/>
          <a:p>
            <a:pPr algn="ctr"/>
          </a:p>
        </p:txBody>
      </p:sp>
      <p:sp>
        <p:nvSpPr>
          <p:cNvPr id="59" name="TextBox 58"/>
          <p:cNvSpPr txBox="1"/>
          <p:nvPr/>
        </p:nvSpPr>
        <p:spPr>
          <a:xfrm>
            <a:off x="777240" y="4983480"/>
            <a:ext cx="3017520" cy="414528"/>
          </a:xfrm>
          <a:prstGeom prst="rect">
            <a:avLst/>
          </a:prstGeom>
          <a:noFill/>
        </p:spPr>
        <p:txBody>
          <a:bodyPr wrap="square" lIns="0" tIns="0" rIns="0" bIns="0">
            <a:spAutoFit/>
          </a:bodyPr>
          <a:lstStyle/>
          <a:p>
            <a:pPr>
              <a:lnSpc>
                <a:spcPct val="100000"/>
              </a:lnSpc>
            </a:pPr>
            <a:r>
              <a:rPr sz="2400" b="1">
                <a:solidFill>
                  <a:srgbClr val="9E3F17"/>
                </a:solidFill>
                <a:latin typeface="Arial"/>
              </a:rPr>
              <a:t>No advances</a:t>
            </a:r>
          </a:p>
        </p:txBody>
      </p:sp>
      <p:sp>
        <p:nvSpPr>
          <p:cNvPr id="60" name="TextBox 59"/>
          <p:cNvSpPr txBox="1"/>
          <p:nvPr/>
        </p:nvSpPr>
        <p:spPr>
          <a:xfrm>
            <a:off x="777240" y="5379720"/>
            <a:ext cx="3017520" cy="457200"/>
          </a:xfrm>
          <a:prstGeom prst="rect">
            <a:avLst/>
          </a:prstGeom>
          <a:noFill/>
        </p:spPr>
        <p:txBody>
          <a:bodyPr wrap="square" lIns="0" tIns="0" rIns="0" bIns="0">
            <a:spAutoFit/>
          </a:bodyPr>
          <a:lstStyle/>
          <a:p>
            <a:pPr>
              <a:lnSpc>
                <a:spcPct val="104000"/>
              </a:lnSpc>
            </a:pPr>
            <a:r>
              <a:rPr sz="1100">
                <a:solidFill>
                  <a:srgbClr val="4B5563"/>
                </a:solidFill>
                <a:latin typeface="Arial"/>
              </a:rPr>
              <a:t>on Mashreq’s balance sheet at 30 June 2026 [2]</a:t>
            </a:r>
          </a:p>
        </p:txBody>
      </p:sp>
      <p:sp>
        <p:nvSpPr>
          <p:cNvPr id="61" name="TextBox 60"/>
          <p:cNvSpPr txBox="1"/>
          <p:nvPr/>
        </p:nvSpPr>
        <p:spPr>
          <a:xfrm>
            <a:off x="4206240" y="5029200"/>
            <a:ext cx="7162495" cy="1005840"/>
          </a:xfrm>
          <a:prstGeom prst="rect">
            <a:avLst/>
          </a:prstGeom>
          <a:noFill/>
        </p:spPr>
        <p:txBody>
          <a:bodyPr wrap="square" lIns="0" tIns="0" rIns="0" bIns="0">
            <a:spAutoFit/>
          </a:bodyPr>
          <a:lstStyle/>
          <a:p>
            <a:pPr>
              <a:lnSpc>
                <a:spcPct val="108000"/>
              </a:lnSpc>
            </a:pPr>
            <a:r>
              <a:rPr sz="1250">
                <a:solidFill>
                  <a:srgbClr val="0C1408"/>
                </a:solidFill>
                <a:latin typeface="Arial"/>
              </a:rPr>
              <a:t>Committee members arrive with twelve months of repayment history. That history is the data Mashreq needs to start lending safely, beginning with asset financing for motorcycles and machines bought through asset circles.</a:t>
            </a:r>
          </a:p>
        </p:txBody>
      </p: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Mission Asset Fund lending circles, evaluation by San Francisco State University, 600+ participants    2  Mashreq Bank Pakistan, half year report to 30 June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Mashreq Products Used</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Existing products at each step of a committee, and two new lines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10</a:t>
            </a:r>
          </a:p>
        </p:txBody>
      </p:sp>
      <p:cxnSp>
        <p:nvCxnSpPr>
          <p:cNvPr id="6" name="Connector 5"/>
          <p:cNvCxnSpPr/>
          <p:nvPr/>
        </p:nvCxnSpPr>
        <p:spPr>
          <a:xfrm>
            <a:off x="1473175" y="2395728"/>
            <a:ext cx="9245346" cy="0"/>
          </a:xfrm>
          <a:prstGeom prst="line">
            <a:avLst/>
          </a:prstGeom>
          <a:ln w="50800">
            <a:solidFill>
              <a:srgbClr val="D8602A"/>
            </a:solidFill>
          </a:ln>
        </p:spPr>
      </p:cxnSp>
      <p:sp>
        <p:nvSpPr>
          <p:cNvPr id="7" name="TextBox 6"/>
          <p:cNvSpPr txBox="1"/>
          <p:nvPr/>
        </p:nvSpPr>
        <p:spPr>
          <a:xfrm>
            <a:off x="548640"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Open</a:t>
            </a:r>
          </a:p>
        </p:txBody>
      </p:sp>
      <p:sp>
        <p:nvSpPr>
          <p:cNvPr id="8" name="Oval 7"/>
          <p:cNvSpPr/>
          <p:nvPr/>
        </p:nvSpPr>
        <p:spPr>
          <a:xfrm>
            <a:off x="1354303" y="2276856"/>
            <a:ext cx="237744" cy="237744"/>
          </a:xfrm>
          <a:prstGeom prst="ellipse">
            <a:avLst/>
          </a:prstGeom>
          <a:solidFill>
            <a:srgbClr val="FFFFFF"/>
          </a:solidFill>
          <a:ln w="31750">
            <a:solidFill>
              <a:srgbClr val="D8602A"/>
            </a:solidFill>
          </a:ln>
        </p:spPr>
        <p:txBody>
          <a:bodyPr rtlCol="0" anchor="ctr"/>
          <a:lstStyle/>
          <a:p>
            <a:pPr algn="ctr"/>
          </a:p>
        </p:txBody>
      </p:sp>
      <p:sp>
        <p:nvSpPr>
          <p:cNvPr id="9" name="Rectangle 8"/>
          <p:cNvSpPr/>
          <p:nvPr/>
        </p:nvSpPr>
        <p:spPr>
          <a:xfrm>
            <a:off x="631927" y="2697480"/>
            <a:ext cx="1682496" cy="74980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NEO account and debit card</a:t>
            </a:r>
          </a:p>
        </p:txBody>
      </p:sp>
      <p:sp>
        <p:nvSpPr>
          <p:cNvPr id="10" name="TextBox 9"/>
          <p:cNvSpPr txBox="1"/>
          <p:nvPr/>
        </p:nvSpPr>
        <p:spPr>
          <a:xfrm>
            <a:off x="594360"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opened in about five minutes</a:t>
            </a:r>
          </a:p>
        </p:txBody>
      </p:sp>
      <p:sp>
        <p:nvSpPr>
          <p:cNvPr id="11" name="TextBox 10"/>
          <p:cNvSpPr txBox="1"/>
          <p:nvPr/>
        </p:nvSpPr>
        <p:spPr>
          <a:xfrm>
            <a:off x="2397709"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Salary in</a:t>
            </a:r>
          </a:p>
        </p:txBody>
      </p:sp>
      <p:sp>
        <p:nvSpPr>
          <p:cNvPr id="12" name="Oval 11"/>
          <p:cNvSpPr/>
          <p:nvPr/>
        </p:nvSpPr>
        <p:spPr>
          <a:xfrm>
            <a:off x="3203372" y="2276856"/>
            <a:ext cx="237744" cy="237744"/>
          </a:xfrm>
          <a:prstGeom prst="ellipse">
            <a:avLst/>
          </a:prstGeom>
          <a:solidFill>
            <a:srgbClr val="FFFFFF"/>
          </a:solidFill>
          <a:ln w="31750">
            <a:solidFill>
              <a:srgbClr val="D8602A"/>
            </a:solidFill>
          </a:ln>
        </p:spPr>
        <p:txBody>
          <a:bodyPr rtlCol="0" anchor="ctr"/>
          <a:lstStyle/>
          <a:p>
            <a:pPr algn="ctr"/>
          </a:p>
        </p:txBody>
      </p:sp>
      <p:sp>
        <p:nvSpPr>
          <p:cNvPr id="13" name="Rectangle 12"/>
          <p:cNvSpPr/>
          <p:nvPr/>
        </p:nvSpPr>
        <p:spPr>
          <a:xfrm>
            <a:off x="2480996" y="2697480"/>
            <a:ext cx="1682496" cy="74980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Islamic Current Profit Account</a:t>
            </a:r>
          </a:p>
        </p:txBody>
      </p:sp>
      <p:sp>
        <p:nvSpPr>
          <p:cNvPr id="14" name="TextBox 13"/>
          <p:cNvSpPr txBox="1"/>
          <p:nvPr/>
        </p:nvSpPr>
        <p:spPr>
          <a:xfrm>
            <a:off x="2443429"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profit on the daily balance, up to 5%</a:t>
            </a:r>
          </a:p>
        </p:txBody>
      </p:sp>
      <p:sp>
        <p:nvSpPr>
          <p:cNvPr id="15" name="TextBox 14"/>
          <p:cNvSpPr txBox="1"/>
          <p:nvPr/>
        </p:nvSpPr>
        <p:spPr>
          <a:xfrm>
            <a:off x="4246778"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Due the 8th</a:t>
            </a:r>
          </a:p>
        </p:txBody>
      </p:sp>
      <p:sp>
        <p:nvSpPr>
          <p:cNvPr id="16" name="Oval 15"/>
          <p:cNvSpPr/>
          <p:nvPr/>
        </p:nvSpPr>
        <p:spPr>
          <a:xfrm>
            <a:off x="5052441" y="2276856"/>
            <a:ext cx="237744" cy="237744"/>
          </a:xfrm>
          <a:prstGeom prst="ellipse">
            <a:avLst/>
          </a:prstGeom>
          <a:solidFill>
            <a:srgbClr val="FFFFFF"/>
          </a:solidFill>
          <a:ln w="31750">
            <a:solidFill>
              <a:srgbClr val="D8602A"/>
            </a:solidFill>
          </a:ln>
        </p:spPr>
        <p:txBody>
          <a:bodyPr rtlCol="0" anchor="ctr"/>
          <a:lstStyle/>
          <a:p>
            <a:pPr algn="ctr"/>
          </a:p>
        </p:txBody>
      </p:sp>
      <p:sp>
        <p:nvSpPr>
          <p:cNvPr id="17" name="Rectangle 16"/>
          <p:cNvSpPr/>
          <p:nvPr/>
        </p:nvSpPr>
        <p:spPr>
          <a:xfrm>
            <a:off x="4330065" y="2697480"/>
            <a:ext cx="1682496" cy="74980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Direct debit mandate</a:t>
            </a:r>
          </a:p>
        </p:txBody>
      </p:sp>
      <p:sp>
        <p:nvSpPr>
          <p:cNvPr id="18" name="TextBox 17"/>
          <p:cNvSpPr txBox="1"/>
          <p:nvPr/>
        </p:nvSpPr>
        <p:spPr>
          <a:xfrm>
            <a:off x="4292498"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collects the instalment</a:t>
            </a:r>
          </a:p>
        </p:txBody>
      </p:sp>
      <p:sp>
        <p:nvSpPr>
          <p:cNvPr id="19" name="TextBox 18"/>
          <p:cNvSpPr txBox="1"/>
          <p:nvPr/>
        </p:nvSpPr>
        <p:spPr>
          <a:xfrm>
            <a:off x="6095848"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Payout</a:t>
            </a:r>
          </a:p>
        </p:txBody>
      </p:sp>
      <p:sp>
        <p:nvSpPr>
          <p:cNvPr id="20" name="Oval 19"/>
          <p:cNvSpPr/>
          <p:nvPr/>
        </p:nvSpPr>
        <p:spPr>
          <a:xfrm>
            <a:off x="6901510" y="2276856"/>
            <a:ext cx="237744" cy="237744"/>
          </a:xfrm>
          <a:prstGeom prst="ellipse">
            <a:avLst/>
          </a:prstGeom>
          <a:solidFill>
            <a:srgbClr val="FFFFFF"/>
          </a:solidFill>
          <a:ln w="31750">
            <a:solidFill>
              <a:srgbClr val="D8602A"/>
            </a:solidFill>
          </a:ln>
        </p:spPr>
        <p:txBody>
          <a:bodyPr rtlCol="0" anchor="ctr"/>
          <a:lstStyle/>
          <a:p>
            <a:pPr algn="ctr"/>
          </a:p>
        </p:txBody>
      </p:sp>
      <p:sp>
        <p:nvSpPr>
          <p:cNvPr id="21" name="Rectangle 20"/>
          <p:cNvSpPr/>
          <p:nvPr/>
        </p:nvSpPr>
        <p:spPr>
          <a:xfrm>
            <a:off x="6179134" y="2697480"/>
            <a:ext cx="1682496" cy="74980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Free instant transfer</a:t>
            </a:r>
          </a:p>
        </p:txBody>
      </p:sp>
      <p:sp>
        <p:nvSpPr>
          <p:cNvPr id="22" name="TextBox 21"/>
          <p:cNvSpPr txBox="1"/>
          <p:nvPr/>
        </p:nvSpPr>
        <p:spPr>
          <a:xfrm>
            <a:off x="6141568"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the pot, the same day</a:t>
            </a:r>
          </a:p>
        </p:txBody>
      </p:sp>
      <p:sp>
        <p:nvSpPr>
          <p:cNvPr id="23" name="TextBox 22"/>
          <p:cNvSpPr txBox="1"/>
          <p:nvPr/>
        </p:nvSpPr>
        <p:spPr>
          <a:xfrm>
            <a:off x="7944917"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Save on</a:t>
            </a:r>
          </a:p>
        </p:txBody>
      </p:sp>
      <p:sp>
        <p:nvSpPr>
          <p:cNvPr id="24" name="Oval 23"/>
          <p:cNvSpPr/>
          <p:nvPr/>
        </p:nvSpPr>
        <p:spPr>
          <a:xfrm>
            <a:off x="8750579" y="2276856"/>
            <a:ext cx="237744" cy="237744"/>
          </a:xfrm>
          <a:prstGeom prst="ellipse">
            <a:avLst/>
          </a:prstGeom>
          <a:solidFill>
            <a:srgbClr val="FFFFFF"/>
          </a:solidFill>
          <a:ln w="31750">
            <a:solidFill>
              <a:srgbClr val="D8602A"/>
            </a:solidFill>
          </a:ln>
        </p:spPr>
        <p:txBody>
          <a:bodyPr rtlCol="0" anchor="ctr"/>
          <a:lstStyle/>
          <a:p>
            <a:pPr algn="ctr"/>
          </a:p>
        </p:txBody>
      </p:sp>
      <p:sp>
        <p:nvSpPr>
          <p:cNvPr id="25" name="Rectangle 24"/>
          <p:cNvSpPr/>
          <p:nvPr/>
        </p:nvSpPr>
        <p:spPr>
          <a:xfrm>
            <a:off x="8028203" y="2697480"/>
            <a:ext cx="1682496" cy="74980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Islamic Savings Account</a:t>
            </a:r>
          </a:p>
        </p:txBody>
      </p:sp>
      <p:sp>
        <p:nvSpPr>
          <p:cNvPr id="26" name="TextBox 25"/>
          <p:cNvSpPr txBox="1"/>
          <p:nvPr/>
        </p:nvSpPr>
        <p:spPr>
          <a:xfrm>
            <a:off x="7990637"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up to 11.5% after the circle</a:t>
            </a:r>
          </a:p>
        </p:txBody>
      </p:sp>
      <p:sp>
        <p:nvSpPr>
          <p:cNvPr id="27" name="TextBox 26"/>
          <p:cNvSpPr txBox="1"/>
          <p:nvPr/>
        </p:nvSpPr>
        <p:spPr>
          <a:xfrm>
            <a:off x="9793986" y="1627632"/>
            <a:ext cx="1849069"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Abroad</a:t>
            </a:r>
          </a:p>
        </p:txBody>
      </p:sp>
      <p:sp>
        <p:nvSpPr>
          <p:cNvPr id="28" name="Oval 27"/>
          <p:cNvSpPr/>
          <p:nvPr/>
        </p:nvSpPr>
        <p:spPr>
          <a:xfrm>
            <a:off x="10599649" y="2276856"/>
            <a:ext cx="237744" cy="237744"/>
          </a:xfrm>
          <a:prstGeom prst="ellipse">
            <a:avLst/>
          </a:prstGeom>
          <a:solidFill>
            <a:srgbClr val="FFFFFF"/>
          </a:solidFill>
          <a:ln w="31750">
            <a:solidFill>
              <a:srgbClr val="D8602A"/>
            </a:solidFill>
          </a:ln>
        </p:spPr>
        <p:txBody>
          <a:bodyPr rtlCol="0" anchor="ctr"/>
          <a:lstStyle/>
          <a:p>
            <a:pPr algn="ctr"/>
          </a:p>
        </p:txBody>
      </p:sp>
      <p:sp>
        <p:nvSpPr>
          <p:cNvPr id="29" name="Rectangle 28"/>
          <p:cNvSpPr/>
          <p:nvPr/>
        </p:nvSpPr>
        <p:spPr>
          <a:xfrm>
            <a:off x="9877273" y="2697480"/>
            <a:ext cx="1682496" cy="74980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50" b="1">
                <a:solidFill>
                  <a:srgbClr val="0C1408"/>
                </a:solidFill>
                <a:latin typeface="Arial"/>
              </a:rPr>
              <a:t>Mashreq Pakistan Account</a:t>
            </a:r>
          </a:p>
        </p:txBody>
      </p:sp>
      <p:sp>
        <p:nvSpPr>
          <p:cNvPr id="30" name="TextBox 29"/>
          <p:cNvSpPr txBox="1"/>
          <p:nvPr/>
        </p:nvSpPr>
        <p:spPr>
          <a:xfrm>
            <a:off x="9839706" y="3520440"/>
            <a:ext cx="1757629"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families in the UAE</a:t>
            </a:r>
          </a:p>
        </p:txBody>
      </p:sp>
      <p:sp>
        <p:nvSpPr>
          <p:cNvPr id="31" name="TextBox 30"/>
          <p:cNvSpPr txBox="1"/>
          <p:nvPr/>
        </p:nvSpPr>
        <p:spPr>
          <a:xfrm>
            <a:off x="548640" y="4160520"/>
            <a:ext cx="1371600" cy="310896"/>
          </a:xfrm>
          <a:prstGeom prst="rect">
            <a:avLst/>
          </a:prstGeom>
          <a:noFill/>
        </p:spPr>
        <p:txBody>
          <a:bodyPr wrap="square" lIns="0" tIns="0" rIns="0" bIns="0">
            <a:spAutoFit/>
          </a:bodyPr>
          <a:lstStyle/>
          <a:p>
            <a:pPr>
              <a:lnSpc>
                <a:spcPct val="105000"/>
              </a:lnSpc>
            </a:pPr>
            <a:r>
              <a:rPr sz="1300" b="1">
                <a:solidFill>
                  <a:srgbClr val="0C1408"/>
                </a:solidFill>
                <a:latin typeface="Arial"/>
              </a:rPr>
              <a:t>New lines</a:t>
            </a:r>
          </a:p>
        </p:txBody>
      </p:sp>
      <p:sp>
        <p:nvSpPr>
          <p:cNvPr id="32" name="Freeform 31"/>
          <p:cNvSpPr/>
          <p:nvPr/>
        </p:nvSpPr>
        <p:spPr>
          <a:xfrm>
            <a:off x="1965960" y="4315968"/>
            <a:ext cx="9585655" cy="0"/>
          </a:xfrm>
          <a:custGeom>
            <a:avLst/>
            <a:gdLst/>
            <a:ahLst/>
            <a:cxnLst/>
            <a:rect l="l" t="t" r="r" b="b"/>
            <a:pathLst>
              <a:path w="9585655" h="0">
                <a:moveTo>
                  <a:pt x="0" y="0"/>
                </a:moveTo>
                <a:lnTo>
                  <a:pt x="9585655" y="0"/>
                </a:lnTo>
              </a:path>
            </a:pathLst>
          </a:custGeom>
          <a:noFill/>
          <a:ln w="31750">
            <a:solidFill>
              <a:srgbClr val="0E9384"/>
            </a:solidFill>
            <a:prstDash val="dash"/>
          </a:ln>
        </p:spPr>
        <p:txBody>
          <a:bodyPr rtlCol="0" anchor="ctr"/>
          <a:lstStyle/>
          <a:p>
            <a:pPr algn="ctr"/>
          </a:p>
        </p:txBody>
      </p:sp>
      <p:sp>
        <p:nvSpPr>
          <p:cNvPr id="33" name="Oval 32"/>
          <p:cNvSpPr/>
          <p:nvPr/>
        </p:nvSpPr>
        <p:spPr>
          <a:xfrm>
            <a:off x="6919798" y="4215384"/>
            <a:ext cx="201168" cy="201168"/>
          </a:xfrm>
          <a:prstGeom prst="ellipse">
            <a:avLst/>
          </a:prstGeom>
          <a:solidFill>
            <a:srgbClr val="FFFFFF"/>
          </a:solidFill>
          <a:ln w="25400">
            <a:solidFill>
              <a:srgbClr val="0E9384"/>
            </a:solidFill>
          </a:ln>
        </p:spPr>
        <p:txBody>
          <a:bodyPr rtlCol="0" anchor="ctr"/>
          <a:lstStyle/>
          <a:p>
            <a:pPr algn="ctr"/>
          </a:p>
        </p:txBody>
      </p:sp>
      <p:sp>
        <p:nvSpPr>
          <p:cNvPr id="34" name="Rectangle 33"/>
          <p:cNvSpPr/>
          <p:nvPr/>
        </p:nvSpPr>
        <p:spPr>
          <a:xfrm>
            <a:off x="6151702" y="4590288"/>
            <a:ext cx="1737360" cy="123444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Takaful or insurance</a:t>
            </a:r>
          </a:p>
          <a:p>
            <a:pPr algn="ctr">
              <a:lnSpc>
                <a:spcPct val="102000"/>
              </a:lnSpc>
              <a:spcBef>
                <a:spcPts val="200"/>
              </a:spcBef>
            </a:pPr>
            <a:r>
              <a:rPr sz="1000">
                <a:solidFill>
                  <a:srgbClr val="4B5563"/>
                </a:solidFill>
                <a:latin typeface="Arial"/>
              </a:rPr>
              <a:t>circles between strangers; Mashreq chooses the operator</a:t>
            </a:r>
          </a:p>
        </p:txBody>
      </p:sp>
      <p:sp>
        <p:nvSpPr>
          <p:cNvPr id="35" name="Oval 34"/>
          <p:cNvSpPr/>
          <p:nvPr/>
        </p:nvSpPr>
        <p:spPr>
          <a:xfrm>
            <a:off x="8768867" y="4215384"/>
            <a:ext cx="201168" cy="201168"/>
          </a:xfrm>
          <a:prstGeom prst="ellipse">
            <a:avLst/>
          </a:prstGeom>
          <a:solidFill>
            <a:srgbClr val="FFFFFF"/>
          </a:solidFill>
          <a:ln w="25400">
            <a:solidFill>
              <a:srgbClr val="0E9384"/>
            </a:solidFill>
          </a:ln>
        </p:spPr>
        <p:txBody>
          <a:bodyPr rtlCol="0" anchor="ctr"/>
          <a:lstStyle/>
          <a:p>
            <a:pPr algn="ctr"/>
          </a:p>
        </p:txBody>
      </p:sp>
      <p:sp>
        <p:nvSpPr>
          <p:cNvPr id="36" name="Rectangle 35"/>
          <p:cNvSpPr/>
          <p:nvPr/>
        </p:nvSpPr>
        <p:spPr>
          <a:xfrm>
            <a:off x="8000771" y="4590288"/>
            <a:ext cx="1737360" cy="123444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Asset financing</a:t>
            </a:r>
          </a:p>
          <a:p>
            <a:pPr algn="ctr">
              <a:lnSpc>
                <a:spcPct val="102000"/>
              </a:lnSpc>
              <a:spcBef>
                <a:spcPts val="200"/>
              </a:spcBef>
            </a:pPr>
            <a:r>
              <a:rPr sz="1000">
                <a:solidFill>
                  <a:srgbClr val="4B5563"/>
                </a:solidFill>
                <a:latin typeface="Arial"/>
              </a:rPr>
              <a:t>ijarah for motorcycles and machines</a:t>
            </a:r>
          </a:p>
        </p:txBody>
      </p:sp>
      <p:sp>
        <p:nvSpPr>
          <p:cNvPr id="37" name="Rectangle 36"/>
          <p:cNvSpPr/>
          <p:nvPr/>
        </p:nvSpPr>
        <p:spPr>
          <a:xfrm>
            <a:off x="548640" y="5971032"/>
            <a:ext cx="201168" cy="173736"/>
          </a:xfrm>
          <a:prstGeom prst="rect">
            <a:avLst/>
          </a:prstGeom>
          <a:solidFill>
            <a:srgbClr val="FDF1EA"/>
          </a:solidFill>
          <a:ln w="12700">
            <a:solidFill>
              <a:srgbClr val="D8602A"/>
            </a:solidFill>
          </a:ln>
        </p:spPr>
        <p:txBody>
          <a:bodyPr rtlCol="0" anchor="ctr"/>
          <a:lstStyle/>
          <a:p>
            <a:pPr algn="ctr"/>
          </a:p>
        </p:txBody>
      </p:sp>
      <p:sp>
        <p:nvSpPr>
          <p:cNvPr id="38" name="TextBox 37"/>
          <p:cNvSpPr txBox="1"/>
          <p:nvPr/>
        </p:nvSpPr>
        <p:spPr>
          <a:xfrm>
            <a:off x="822960" y="5943600"/>
            <a:ext cx="1689811" cy="237744"/>
          </a:xfrm>
          <a:prstGeom prst="rect">
            <a:avLst/>
          </a:prstGeom>
          <a:noFill/>
        </p:spPr>
        <p:txBody>
          <a:bodyPr wrap="square" lIns="0" tIns="0" rIns="0" bIns="0">
            <a:spAutoFit/>
          </a:bodyPr>
          <a:lstStyle/>
          <a:p>
            <a:pPr>
              <a:lnSpc>
                <a:spcPct val="105000"/>
              </a:lnSpc>
            </a:pPr>
            <a:r>
              <a:rPr sz="1000">
                <a:solidFill>
                  <a:srgbClr val="4B5563"/>
                </a:solidFill>
                <a:latin typeface="Arial"/>
              </a:rPr>
              <a:t>existing Mashreq product</a:t>
            </a:r>
          </a:p>
        </p:txBody>
      </p:sp>
      <p:sp>
        <p:nvSpPr>
          <p:cNvPr id="39" name="Rectangle 38"/>
          <p:cNvSpPr/>
          <p:nvPr/>
        </p:nvSpPr>
        <p:spPr>
          <a:xfrm>
            <a:off x="2805379" y="5971032"/>
            <a:ext cx="201168" cy="173736"/>
          </a:xfrm>
          <a:prstGeom prst="rect">
            <a:avLst/>
          </a:prstGeom>
          <a:solidFill>
            <a:srgbClr val="EBF8F6"/>
          </a:solidFill>
          <a:ln w="12700">
            <a:solidFill>
              <a:srgbClr val="0E9384"/>
            </a:solidFill>
          </a:ln>
        </p:spPr>
        <p:txBody>
          <a:bodyPr rtlCol="0" anchor="ctr"/>
          <a:lstStyle/>
          <a:p>
            <a:pPr algn="ctr"/>
          </a:p>
        </p:txBody>
      </p:sp>
      <p:sp>
        <p:nvSpPr>
          <p:cNvPr id="40" name="TextBox 39"/>
          <p:cNvSpPr txBox="1"/>
          <p:nvPr/>
        </p:nvSpPr>
        <p:spPr>
          <a:xfrm>
            <a:off x="3079699" y="5943600"/>
            <a:ext cx="636422" cy="237744"/>
          </a:xfrm>
          <a:prstGeom prst="rect">
            <a:avLst/>
          </a:prstGeom>
          <a:noFill/>
        </p:spPr>
        <p:txBody>
          <a:bodyPr wrap="square" lIns="0" tIns="0" rIns="0" bIns="0">
            <a:spAutoFit/>
          </a:bodyPr>
          <a:lstStyle/>
          <a:p>
            <a:pPr>
              <a:lnSpc>
                <a:spcPct val="105000"/>
              </a:lnSpc>
            </a:pPr>
            <a:r>
              <a:rPr sz="1000">
                <a:solidFill>
                  <a:srgbClr val="4B5563"/>
                </a:solidFill>
                <a:latin typeface="Arial"/>
              </a:rPr>
              <a:t>new line</a:t>
            </a:r>
          </a:p>
        </p:txBody>
      </p:sp>
      <p:sp>
        <p:nvSpPr>
          <p:cNvPr id="41" name="TextBox 4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Mashreq NEO Pakistan product pages and rate sheets, read 29 September 2026; rates are up to figures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Screens from the working preview, with sample data</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11</a:t>
            </a:r>
          </a:p>
        </p:txBody>
      </p:sp>
      <p:pic>
        <p:nvPicPr>
          <p:cNvPr id="6" name="Picture 5" descr="phone-circles-full.png"/>
          <p:cNvPicPr>
            <a:picLocks noChangeAspect="1"/>
          </p:cNvPicPr>
          <p:nvPr/>
        </p:nvPicPr>
        <p:blipFill>
          <a:blip r:embed="rId3"/>
          <a:stretch>
            <a:fillRect/>
          </a:stretch>
        </p:blipFill>
        <p:spPr>
          <a:xfrm>
            <a:off x="1075357" y="1463040"/>
            <a:ext cx="1720170" cy="3611880"/>
          </a:xfrm>
          <a:prstGeom prst="rect">
            <a:avLst/>
          </a:prstGeom>
        </p:spPr>
      </p:pic>
      <p:sp>
        <p:nvSpPr>
          <p:cNvPr id="7" name="TextBox 6"/>
          <p:cNvSpPr txBox="1"/>
          <p:nvPr/>
        </p:nvSpPr>
        <p:spPr>
          <a:xfrm>
            <a:off x="1029637" y="5212080"/>
            <a:ext cx="2545004" cy="292608"/>
          </a:xfrm>
          <a:prstGeom prst="rect">
            <a:avLst/>
          </a:prstGeom>
          <a:noFill/>
        </p:spPr>
        <p:txBody>
          <a:bodyPr wrap="square" lIns="0" tIns="0" rIns="0" bIns="0">
            <a:spAutoFit/>
          </a:bodyPr>
          <a:lstStyle/>
          <a:p>
            <a:pPr>
              <a:lnSpc>
                <a:spcPct val="105000"/>
              </a:lnSpc>
            </a:pPr>
            <a:r>
              <a:rPr sz="1300" b="1">
                <a:solidFill>
                  <a:srgbClr val="9E3F17"/>
                </a:solidFill>
                <a:latin typeface="Arial"/>
              </a:rPr>
              <a:t>1   </a:t>
            </a:r>
            <a:r>
              <a:rPr sz="1300" b="1">
                <a:solidFill>
                  <a:srgbClr val="0C1408"/>
                </a:solidFill>
                <a:latin typeface="Arial"/>
              </a:rPr>
              <a:t>Join a circle</a:t>
            </a:r>
          </a:p>
        </p:txBody>
      </p:sp>
      <p:sp>
        <p:nvSpPr>
          <p:cNvPr id="8" name="TextBox 7"/>
          <p:cNvSpPr txBox="1"/>
          <p:nvPr/>
        </p:nvSpPr>
        <p:spPr>
          <a:xfrm>
            <a:off x="1029637" y="5532120"/>
            <a:ext cx="2331720" cy="731520"/>
          </a:xfrm>
          <a:prstGeom prst="rect">
            <a:avLst/>
          </a:prstGeom>
          <a:noFill/>
        </p:spPr>
        <p:txBody>
          <a:bodyPr wrap="square" lIns="0" tIns="0" rIns="0" bIns="0">
            <a:spAutoFit/>
          </a:bodyPr>
          <a:lstStyle/>
          <a:p>
            <a:pPr>
              <a:lnSpc>
                <a:spcPct val="104000"/>
              </a:lnSpc>
            </a:pPr>
            <a:r>
              <a:rPr sz="1050">
                <a:solidFill>
                  <a:srgbClr val="4B5563"/>
                </a:solidFill>
                <a:latin typeface="Arial"/>
              </a:rPr>
              <a:t>By invitation code, QR or link. Only the turns open to the member’s score are shown.</a:t>
            </a:r>
          </a:p>
        </p:txBody>
      </p:sp>
      <p:pic>
        <p:nvPicPr>
          <p:cNvPr id="9" name="Picture 8" descr="phone-autopay-full.png"/>
          <p:cNvPicPr>
            <a:picLocks noChangeAspect="1"/>
          </p:cNvPicPr>
          <p:nvPr/>
        </p:nvPicPr>
        <p:blipFill>
          <a:blip r:embed="rId4"/>
          <a:stretch>
            <a:fillRect/>
          </a:stretch>
        </p:blipFill>
        <p:spPr>
          <a:xfrm>
            <a:off x="3848961" y="1463040"/>
            <a:ext cx="1720170" cy="3611880"/>
          </a:xfrm>
          <a:prstGeom prst="rect">
            <a:avLst/>
          </a:prstGeom>
        </p:spPr>
      </p:pic>
      <p:sp>
        <p:nvSpPr>
          <p:cNvPr id="10" name="TextBox 9"/>
          <p:cNvSpPr txBox="1"/>
          <p:nvPr/>
        </p:nvSpPr>
        <p:spPr>
          <a:xfrm>
            <a:off x="3803241" y="5212080"/>
            <a:ext cx="2545004" cy="292608"/>
          </a:xfrm>
          <a:prstGeom prst="rect">
            <a:avLst/>
          </a:prstGeom>
          <a:noFill/>
        </p:spPr>
        <p:txBody>
          <a:bodyPr wrap="square" lIns="0" tIns="0" rIns="0" bIns="0">
            <a:spAutoFit/>
          </a:bodyPr>
          <a:lstStyle/>
          <a:p>
            <a:pPr>
              <a:lnSpc>
                <a:spcPct val="105000"/>
              </a:lnSpc>
            </a:pPr>
            <a:r>
              <a:rPr sz="1300" b="1">
                <a:solidFill>
                  <a:srgbClr val="9E3F17"/>
                </a:solidFill>
                <a:latin typeface="Arial"/>
              </a:rPr>
              <a:t>2   </a:t>
            </a:r>
            <a:r>
              <a:rPr sz="1300" b="1">
                <a:solidFill>
                  <a:srgbClr val="0C1408"/>
                </a:solidFill>
                <a:latin typeface="Arial"/>
              </a:rPr>
              <a:t>Automatic payment</a:t>
            </a:r>
          </a:p>
        </p:txBody>
      </p:sp>
      <p:sp>
        <p:nvSpPr>
          <p:cNvPr id="11" name="TextBox 10"/>
          <p:cNvSpPr txBox="1"/>
          <p:nvPr/>
        </p:nvSpPr>
        <p:spPr>
          <a:xfrm>
            <a:off x="3803241" y="5532120"/>
            <a:ext cx="2331720" cy="731520"/>
          </a:xfrm>
          <a:prstGeom prst="rect">
            <a:avLst/>
          </a:prstGeom>
          <a:noFill/>
        </p:spPr>
        <p:txBody>
          <a:bodyPr wrap="square" lIns="0" tIns="0" rIns="0" bIns="0">
            <a:spAutoFit/>
          </a:bodyPr>
          <a:lstStyle/>
          <a:p>
            <a:pPr>
              <a:lnSpc>
                <a:spcPct val="104000"/>
              </a:lnSpc>
            </a:pPr>
            <a:r>
              <a:rPr sz="1050">
                <a:solidFill>
                  <a:srgbClr val="4B5563"/>
                </a:solidFill>
                <a:latin typeface="Arial"/>
              </a:rPr>
              <a:t>The member consents once. Collection on payday; every debit is shown.</a:t>
            </a:r>
          </a:p>
        </p:txBody>
      </p:sp>
      <p:pic>
        <p:nvPicPr>
          <p:cNvPr id="12" name="Picture 11" descr="phone-activity-full.png"/>
          <p:cNvPicPr>
            <a:picLocks noChangeAspect="1"/>
          </p:cNvPicPr>
          <p:nvPr/>
        </p:nvPicPr>
        <p:blipFill>
          <a:blip r:embed="rId5"/>
          <a:stretch>
            <a:fillRect/>
          </a:stretch>
        </p:blipFill>
        <p:spPr>
          <a:xfrm>
            <a:off x="6622564" y="1463040"/>
            <a:ext cx="1720170" cy="3611880"/>
          </a:xfrm>
          <a:prstGeom prst="rect">
            <a:avLst/>
          </a:prstGeom>
        </p:spPr>
      </p:pic>
      <p:sp>
        <p:nvSpPr>
          <p:cNvPr id="13" name="TextBox 12"/>
          <p:cNvSpPr txBox="1"/>
          <p:nvPr/>
        </p:nvSpPr>
        <p:spPr>
          <a:xfrm>
            <a:off x="6576845" y="5212080"/>
            <a:ext cx="2545004" cy="292608"/>
          </a:xfrm>
          <a:prstGeom prst="rect">
            <a:avLst/>
          </a:prstGeom>
          <a:noFill/>
        </p:spPr>
        <p:txBody>
          <a:bodyPr wrap="square" lIns="0" tIns="0" rIns="0" bIns="0">
            <a:spAutoFit/>
          </a:bodyPr>
          <a:lstStyle/>
          <a:p>
            <a:pPr>
              <a:lnSpc>
                <a:spcPct val="105000"/>
              </a:lnSpc>
            </a:pPr>
            <a:r>
              <a:rPr sz="1300" b="1">
                <a:solidFill>
                  <a:srgbClr val="9E3F17"/>
                </a:solidFill>
                <a:latin typeface="Arial"/>
              </a:rPr>
              <a:t>3   </a:t>
            </a:r>
            <a:r>
              <a:rPr sz="1300" b="1">
                <a:solidFill>
                  <a:srgbClr val="0C1408"/>
                </a:solidFill>
                <a:latin typeface="Arial"/>
              </a:rPr>
              <a:t>Activity and payout</a:t>
            </a:r>
          </a:p>
        </p:txBody>
      </p:sp>
      <p:sp>
        <p:nvSpPr>
          <p:cNvPr id="14" name="TextBox 13"/>
          <p:cNvSpPr txBox="1"/>
          <p:nvPr/>
        </p:nvSpPr>
        <p:spPr>
          <a:xfrm>
            <a:off x="6576845" y="5532120"/>
            <a:ext cx="2331720" cy="731520"/>
          </a:xfrm>
          <a:prstGeom prst="rect">
            <a:avLst/>
          </a:prstGeom>
          <a:noFill/>
        </p:spPr>
        <p:txBody>
          <a:bodyPr wrap="square" lIns="0" tIns="0" rIns="0" bIns="0">
            <a:spAutoFit/>
          </a:bodyPr>
          <a:lstStyle/>
          <a:p>
            <a:pPr>
              <a:lnSpc>
                <a:spcPct val="104000"/>
              </a:lnSpc>
            </a:pPr>
            <a:r>
              <a:rPr sz="1050">
                <a:solidFill>
                  <a:srgbClr val="4B5563"/>
                </a:solidFill>
                <a:latin typeface="Arial"/>
              </a:rPr>
              <a:t>Every payment and payout with a receipt. The pot arrives the same day.</a:t>
            </a:r>
          </a:p>
        </p:txBody>
      </p:sp>
      <p:pic>
        <p:nvPicPr>
          <p:cNvPr id="15" name="Picture 14" descr="phone-credit-full.png"/>
          <p:cNvPicPr>
            <a:picLocks noChangeAspect="1"/>
          </p:cNvPicPr>
          <p:nvPr/>
        </p:nvPicPr>
        <p:blipFill>
          <a:blip r:embed="rId6"/>
          <a:stretch>
            <a:fillRect/>
          </a:stretch>
        </p:blipFill>
        <p:spPr>
          <a:xfrm>
            <a:off x="9396168" y="1463040"/>
            <a:ext cx="1720170" cy="3611880"/>
          </a:xfrm>
          <a:prstGeom prst="rect">
            <a:avLst/>
          </a:prstGeom>
        </p:spPr>
      </p:pic>
      <p:sp>
        <p:nvSpPr>
          <p:cNvPr id="16" name="TextBox 15"/>
          <p:cNvSpPr txBox="1"/>
          <p:nvPr/>
        </p:nvSpPr>
        <p:spPr>
          <a:xfrm>
            <a:off x="9350448" y="5212080"/>
            <a:ext cx="2545004" cy="292608"/>
          </a:xfrm>
          <a:prstGeom prst="rect">
            <a:avLst/>
          </a:prstGeom>
          <a:noFill/>
        </p:spPr>
        <p:txBody>
          <a:bodyPr wrap="square" lIns="0" tIns="0" rIns="0" bIns="0">
            <a:spAutoFit/>
          </a:bodyPr>
          <a:lstStyle/>
          <a:p>
            <a:pPr>
              <a:lnSpc>
                <a:spcPct val="105000"/>
              </a:lnSpc>
            </a:pPr>
            <a:r>
              <a:rPr sz="1300" b="1">
                <a:solidFill>
                  <a:srgbClr val="9E3F17"/>
                </a:solidFill>
                <a:latin typeface="Arial"/>
              </a:rPr>
              <a:t>4   </a:t>
            </a:r>
            <a:r>
              <a:rPr sz="1300" b="1">
                <a:solidFill>
                  <a:srgbClr val="0C1408"/>
                </a:solidFill>
                <a:latin typeface="Arial"/>
              </a:rPr>
              <a:t>Credit report</a:t>
            </a:r>
          </a:p>
        </p:txBody>
      </p:sp>
      <p:sp>
        <p:nvSpPr>
          <p:cNvPr id="17" name="TextBox 16"/>
          <p:cNvSpPr txBox="1"/>
          <p:nvPr/>
        </p:nvSpPr>
        <p:spPr>
          <a:xfrm>
            <a:off x="9350448" y="5532120"/>
            <a:ext cx="2331720" cy="731520"/>
          </a:xfrm>
          <a:prstGeom prst="rect">
            <a:avLst/>
          </a:prstGeom>
          <a:noFill/>
        </p:spPr>
        <p:txBody>
          <a:bodyPr wrap="square" lIns="0" tIns="0" rIns="0" bIns="0">
            <a:spAutoFit/>
          </a:bodyPr>
          <a:lstStyle/>
          <a:p>
            <a:pPr>
              <a:lnSpc>
                <a:spcPct val="104000"/>
              </a:lnSpc>
            </a:pPr>
            <a:r>
              <a:rPr sz="1050">
                <a:solidFill>
                  <a:srgbClr val="4B5563"/>
                </a:solidFill>
                <a:latin typeface="Arial"/>
              </a:rPr>
              <a:t>Score from 300 to 850, on-time history and the turns open to the member.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Onboarding and Verification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Mashreq opens the account; Halqa’s checks decide which circles and turns each member may join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12</a:t>
            </a:r>
          </a:p>
        </p:txBody>
      </p:sp>
      <p:sp>
        <p:nvSpPr>
          <p:cNvPr id="6" name="Rectangle 5"/>
          <p:cNvSpPr/>
          <p:nvPr/>
        </p:nvSpPr>
        <p:spPr>
          <a:xfrm>
            <a:off x="548640" y="1536192"/>
            <a:ext cx="1417320" cy="795528"/>
          </a:xfrm>
          <a:prstGeom prst="rect">
            <a:avLst/>
          </a:prstGeom>
          <a:solidFill>
            <a:srgbClr val="F3F4F6"/>
          </a:solidFill>
          <a:ln>
            <a:noFill/>
          </a:ln>
        </p:spPr>
        <p:txBody>
          <a:bodyPr rtlCol="0" anchor="ctr"/>
          <a:lstStyle/>
          <a:p>
            <a:pPr algn="ctr"/>
          </a:p>
        </p:txBody>
      </p:sp>
      <p:sp>
        <p:nvSpPr>
          <p:cNvPr id="7" name="TextBox 6"/>
          <p:cNvSpPr txBox="1"/>
          <p:nvPr/>
        </p:nvSpPr>
        <p:spPr>
          <a:xfrm>
            <a:off x="658368" y="1536192"/>
            <a:ext cx="1234440" cy="79552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Member</a:t>
            </a:r>
          </a:p>
        </p:txBody>
      </p:sp>
      <p:cxnSp>
        <p:nvCxnSpPr>
          <p:cNvPr id="8" name="Connector 7"/>
          <p:cNvCxnSpPr/>
          <p:nvPr/>
        </p:nvCxnSpPr>
        <p:spPr>
          <a:xfrm>
            <a:off x="548640" y="1536192"/>
            <a:ext cx="11094415" cy="0"/>
          </a:xfrm>
          <a:prstGeom prst="line">
            <a:avLst/>
          </a:prstGeom>
          <a:ln w="9525">
            <a:solidFill>
              <a:srgbClr val="D1D5DB"/>
            </a:solidFill>
          </a:ln>
        </p:spPr>
      </p:cxnSp>
      <p:sp>
        <p:nvSpPr>
          <p:cNvPr id="9" name="Rectangle 8"/>
          <p:cNvSpPr/>
          <p:nvPr/>
        </p:nvSpPr>
        <p:spPr>
          <a:xfrm>
            <a:off x="548640" y="2331720"/>
            <a:ext cx="1417320" cy="822960"/>
          </a:xfrm>
          <a:prstGeom prst="rect">
            <a:avLst/>
          </a:prstGeom>
          <a:solidFill>
            <a:srgbClr val="FDF1EA"/>
          </a:solidFill>
          <a:ln>
            <a:noFill/>
          </a:ln>
        </p:spPr>
        <p:txBody>
          <a:bodyPr rtlCol="0" anchor="ctr"/>
          <a:lstStyle/>
          <a:p>
            <a:pPr algn="ctr"/>
          </a:p>
        </p:txBody>
      </p:sp>
      <p:sp>
        <p:nvSpPr>
          <p:cNvPr id="10" name="TextBox 9"/>
          <p:cNvSpPr txBox="1"/>
          <p:nvPr/>
        </p:nvSpPr>
        <p:spPr>
          <a:xfrm>
            <a:off x="658368" y="2331720"/>
            <a:ext cx="1234440" cy="8229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Mashreq</a:t>
            </a:r>
          </a:p>
        </p:txBody>
      </p:sp>
      <p:cxnSp>
        <p:nvCxnSpPr>
          <p:cNvPr id="11" name="Connector 10"/>
          <p:cNvCxnSpPr/>
          <p:nvPr/>
        </p:nvCxnSpPr>
        <p:spPr>
          <a:xfrm>
            <a:off x="548640" y="2331720"/>
            <a:ext cx="11094415" cy="0"/>
          </a:xfrm>
          <a:prstGeom prst="line">
            <a:avLst/>
          </a:prstGeom>
          <a:ln w="9525">
            <a:solidFill>
              <a:srgbClr val="D1D5DB"/>
            </a:solidFill>
          </a:ln>
        </p:spPr>
      </p:cxnSp>
      <p:sp>
        <p:nvSpPr>
          <p:cNvPr id="12" name="Rectangle 11"/>
          <p:cNvSpPr/>
          <p:nvPr/>
        </p:nvSpPr>
        <p:spPr>
          <a:xfrm>
            <a:off x="548640" y="3154680"/>
            <a:ext cx="1417320" cy="914400"/>
          </a:xfrm>
          <a:prstGeom prst="rect">
            <a:avLst/>
          </a:prstGeom>
          <a:solidFill>
            <a:srgbClr val="F3FCE7"/>
          </a:solidFill>
          <a:ln>
            <a:noFill/>
          </a:ln>
        </p:spPr>
        <p:txBody>
          <a:bodyPr rtlCol="0" anchor="ctr"/>
          <a:lstStyle/>
          <a:p>
            <a:pPr algn="ctr"/>
          </a:p>
        </p:txBody>
      </p:sp>
      <p:sp>
        <p:nvSpPr>
          <p:cNvPr id="13" name="TextBox 12"/>
          <p:cNvSpPr txBox="1"/>
          <p:nvPr/>
        </p:nvSpPr>
        <p:spPr>
          <a:xfrm>
            <a:off x="658368" y="3154680"/>
            <a:ext cx="1234440" cy="91440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Halqa checks</a:t>
            </a:r>
          </a:p>
        </p:txBody>
      </p:sp>
      <p:cxnSp>
        <p:nvCxnSpPr>
          <p:cNvPr id="14" name="Connector 13"/>
          <p:cNvCxnSpPr/>
          <p:nvPr/>
        </p:nvCxnSpPr>
        <p:spPr>
          <a:xfrm>
            <a:off x="548640" y="3154680"/>
            <a:ext cx="11094415" cy="0"/>
          </a:xfrm>
          <a:prstGeom prst="line">
            <a:avLst/>
          </a:prstGeom>
          <a:ln w="9525">
            <a:solidFill>
              <a:srgbClr val="D1D5DB"/>
            </a:solidFill>
          </a:ln>
        </p:spPr>
      </p:cxnSp>
      <p:cxnSp>
        <p:nvCxnSpPr>
          <p:cNvPr id="15" name="Connector 14"/>
          <p:cNvCxnSpPr/>
          <p:nvPr/>
        </p:nvCxnSpPr>
        <p:spPr>
          <a:xfrm>
            <a:off x="548640" y="4069080"/>
            <a:ext cx="11094415" cy="0"/>
          </a:xfrm>
          <a:prstGeom prst="line">
            <a:avLst/>
          </a:prstGeom>
          <a:ln w="9525">
            <a:solidFill>
              <a:srgbClr val="D1D5DB"/>
            </a:solidFill>
          </a:ln>
        </p:spPr>
      </p:cxnSp>
      <p:sp>
        <p:nvSpPr>
          <p:cNvPr id="16" name="Rectangle 15"/>
          <p:cNvSpPr/>
          <p:nvPr/>
        </p:nvSpPr>
        <p:spPr>
          <a:xfrm>
            <a:off x="2240280" y="1682496"/>
            <a:ext cx="1371600" cy="502920"/>
          </a:xfrm>
          <a:prstGeom prst="rect">
            <a:avLst/>
          </a:prstGeom>
          <a:solidFill>
            <a:srgbClr val="F3F4F6"/>
          </a:solidFill>
          <a:ln w="15875">
            <a:solidFill>
              <a:srgbClr val="4B5563"/>
            </a:solidFill>
          </a:ln>
        </p:spPr>
        <p:txBody>
          <a:bodyPr rtlCol="0" anchor="ctr" lIns="36576" tIns="27432" rIns="36576" bIns="27432" wrap="square"/>
          <a:lstStyle/>
          <a:p>
            <a:pPr algn="ctr">
              <a:lnSpc>
                <a:spcPct val="102000"/>
              </a:lnSpc>
            </a:pPr>
            <a:r>
              <a:rPr sz="1200" b="1">
                <a:solidFill>
                  <a:srgbClr val="0C1408"/>
                </a:solidFill>
                <a:latin typeface="Arial"/>
              </a:rPr>
              <a:t>Sign up</a:t>
            </a:r>
          </a:p>
          <a:p>
            <a:pPr algn="ctr">
              <a:lnSpc>
                <a:spcPct val="102000"/>
              </a:lnSpc>
              <a:spcBef>
                <a:spcPts val="200"/>
              </a:spcBef>
            </a:pPr>
            <a:r>
              <a:rPr sz="950">
                <a:solidFill>
                  <a:srgbClr val="4B5563"/>
                </a:solidFill>
                <a:latin typeface="Arial"/>
              </a:rPr>
              <a:t>phone and PIN</a:t>
            </a:r>
          </a:p>
        </p:txBody>
      </p:sp>
      <p:sp>
        <p:nvSpPr>
          <p:cNvPr id="17" name="Rectangle 16"/>
          <p:cNvSpPr/>
          <p:nvPr/>
        </p:nvSpPr>
        <p:spPr>
          <a:xfrm>
            <a:off x="3749040" y="2487168"/>
            <a:ext cx="1371600" cy="502920"/>
          </a:xfrm>
          <a:prstGeom prst="rect">
            <a:avLst/>
          </a:prstGeom>
          <a:solidFill>
            <a:srgbClr val="FDF1EA"/>
          </a:solidFill>
          <a:ln w="15875">
            <a:solidFill>
              <a:srgbClr val="D8602A"/>
            </a:solidFill>
          </a:ln>
        </p:spPr>
        <p:txBody>
          <a:bodyPr rtlCol="0" anchor="ctr" lIns="36576" tIns="27432" rIns="36576" bIns="27432" wrap="square"/>
          <a:lstStyle/>
          <a:p>
            <a:pPr algn="ctr">
              <a:lnSpc>
                <a:spcPct val="102000"/>
              </a:lnSpc>
            </a:pPr>
            <a:r>
              <a:rPr sz="1200" b="1">
                <a:solidFill>
                  <a:srgbClr val="0C1408"/>
                </a:solidFill>
                <a:latin typeface="Arial"/>
              </a:rPr>
              <a:t>Account</a:t>
            </a:r>
          </a:p>
        </p:txBody>
      </p:sp>
      <p:sp>
        <p:nvSpPr>
          <p:cNvPr id="18" name="Rectangle 17"/>
          <p:cNvSpPr/>
          <p:nvPr/>
        </p:nvSpPr>
        <p:spPr>
          <a:xfrm>
            <a:off x="539496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Identity</a:t>
            </a:r>
          </a:p>
        </p:txBody>
      </p:sp>
      <p:sp>
        <p:nvSpPr>
          <p:cNvPr id="19" name="Rectangle 18"/>
          <p:cNvSpPr/>
          <p:nvPr/>
        </p:nvSpPr>
        <p:spPr>
          <a:xfrm>
            <a:off x="690372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Income</a:t>
            </a:r>
          </a:p>
        </p:txBody>
      </p:sp>
      <p:sp>
        <p:nvSpPr>
          <p:cNvPr id="20" name="Rectangle 19"/>
          <p:cNvSpPr/>
          <p:nvPr/>
        </p:nvSpPr>
        <p:spPr>
          <a:xfrm>
            <a:off x="841248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Affordability</a:t>
            </a:r>
          </a:p>
        </p:txBody>
      </p:sp>
      <p:sp>
        <p:nvSpPr>
          <p:cNvPr id="21" name="Rectangle 20"/>
          <p:cNvSpPr/>
          <p:nvPr/>
        </p:nvSpPr>
        <p:spPr>
          <a:xfrm>
            <a:off x="992124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Score</a:t>
            </a:r>
          </a:p>
        </p:txBody>
      </p:sp>
      <p:sp>
        <p:nvSpPr>
          <p:cNvPr id="22" name="Freeform 21"/>
          <p:cNvSpPr/>
          <p:nvPr/>
        </p:nvSpPr>
        <p:spPr>
          <a:xfrm>
            <a:off x="3611880" y="1933956"/>
            <a:ext cx="822960" cy="553212"/>
          </a:xfrm>
          <a:custGeom>
            <a:avLst/>
            <a:gdLst/>
            <a:ahLst/>
            <a:cxnLst/>
            <a:rect l="l" t="t" r="r" b="b"/>
            <a:pathLst>
              <a:path w="822960" h="553212">
                <a:moveTo>
                  <a:pt x="0" y="0"/>
                </a:moveTo>
                <a:lnTo>
                  <a:pt x="822960" y="0"/>
                </a:lnTo>
                <a:lnTo>
                  <a:pt x="822960" y="553212"/>
                </a:lnTo>
              </a:path>
            </a:pathLst>
          </a:custGeom>
          <a:noFill/>
          <a:ln w="19050">
            <a:solidFill>
              <a:srgbClr val="4B5563"/>
            </a:solidFill>
            <a:tailEnd type="triangle" w="med" len="med"/>
          </a:ln>
        </p:spPr>
        <p:txBody>
          <a:bodyPr rtlCol="0" anchor="ctr"/>
          <a:lstStyle/>
          <a:p>
            <a:pPr algn="ctr"/>
          </a:p>
        </p:txBody>
      </p:sp>
      <p:sp>
        <p:nvSpPr>
          <p:cNvPr id="23" name="Freeform 22"/>
          <p:cNvSpPr/>
          <p:nvPr/>
        </p:nvSpPr>
        <p:spPr>
          <a:xfrm>
            <a:off x="5120640" y="2738628"/>
            <a:ext cx="960120" cy="617220"/>
          </a:xfrm>
          <a:custGeom>
            <a:avLst/>
            <a:gdLst/>
            <a:ahLst/>
            <a:cxnLst/>
            <a:rect l="l" t="t" r="r" b="b"/>
            <a:pathLst>
              <a:path w="960120" h="617220">
                <a:moveTo>
                  <a:pt x="0" y="0"/>
                </a:moveTo>
                <a:lnTo>
                  <a:pt x="960120" y="0"/>
                </a:lnTo>
                <a:lnTo>
                  <a:pt x="960120" y="617220"/>
                </a:lnTo>
              </a:path>
            </a:pathLst>
          </a:custGeom>
          <a:noFill/>
          <a:ln w="19050">
            <a:solidFill>
              <a:srgbClr val="4B5563"/>
            </a:solidFill>
            <a:tailEnd type="triangle" w="med" len="med"/>
          </a:ln>
        </p:spPr>
        <p:txBody>
          <a:bodyPr rtlCol="0" anchor="ctr"/>
          <a:lstStyle/>
          <a:p>
            <a:pPr algn="ctr"/>
          </a:p>
        </p:txBody>
      </p:sp>
      <p:cxnSp>
        <p:nvCxnSpPr>
          <p:cNvPr id="24" name="Connector 23"/>
          <p:cNvCxnSpPr/>
          <p:nvPr/>
        </p:nvCxnSpPr>
        <p:spPr>
          <a:xfrm>
            <a:off x="6784848" y="3607308"/>
            <a:ext cx="100584" cy="0"/>
          </a:xfrm>
          <a:prstGeom prst="line">
            <a:avLst/>
          </a:prstGeom>
          <a:ln w="19050">
            <a:solidFill>
              <a:srgbClr val="4B5563"/>
            </a:solidFill>
            <a:tailEnd type="triangle" w="med" len="med"/>
          </a:ln>
        </p:spPr>
      </p:cxnSp>
      <p:cxnSp>
        <p:nvCxnSpPr>
          <p:cNvPr id="25" name="Connector 24"/>
          <p:cNvCxnSpPr/>
          <p:nvPr/>
        </p:nvCxnSpPr>
        <p:spPr>
          <a:xfrm>
            <a:off x="8293608" y="3607308"/>
            <a:ext cx="100584" cy="0"/>
          </a:xfrm>
          <a:prstGeom prst="line">
            <a:avLst/>
          </a:prstGeom>
          <a:ln w="19050">
            <a:solidFill>
              <a:srgbClr val="4B5563"/>
            </a:solidFill>
            <a:tailEnd type="triangle" w="med" len="med"/>
          </a:ln>
        </p:spPr>
      </p:cxnSp>
      <p:cxnSp>
        <p:nvCxnSpPr>
          <p:cNvPr id="26" name="Connector 25"/>
          <p:cNvCxnSpPr/>
          <p:nvPr/>
        </p:nvCxnSpPr>
        <p:spPr>
          <a:xfrm>
            <a:off x="9802368" y="3607308"/>
            <a:ext cx="100584" cy="0"/>
          </a:xfrm>
          <a:prstGeom prst="line">
            <a:avLst/>
          </a:prstGeom>
          <a:ln w="19050">
            <a:solidFill>
              <a:srgbClr val="4B5563"/>
            </a:solidFill>
            <a:tailEnd type="triangle" w="med" len="med"/>
          </a:ln>
        </p:spPr>
      </p:cxnSp>
      <p:sp>
        <p:nvSpPr>
          <p:cNvPr id="27" name="Rectangle 26"/>
          <p:cNvSpPr/>
          <p:nvPr/>
        </p:nvSpPr>
        <p:spPr>
          <a:xfrm>
            <a:off x="8183880" y="1645920"/>
            <a:ext cx="3456432"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Sees only the circles and turns open to them</a:t>
            </a:r>
          </a:p>
        </p:txBody>
      </p:sp>
      <p:cxnSp>
        <p:nvCxnSpPr>
          <p:cNvPr id="28" name="Connector 27"/>
          <p:cNvCxnSpPr/>
          <p:nvPr/>
        </p:nvCxnSpPr>
        <p:spPr>
          <a:xfrm flipV="1">
            <a:off x="10881360" y="2212848"/>
            <a:ext cx="0" cy="1143000"/>
          </a:xfrm>
          <a:prstGeom prst="line">
            <a:avLst/>
          </a:prstGeom>
          <a:ln w="19050">
            <a:solidFill>
              <a:srgbClr val="4B5563"/>
            </a:solidFill>
            <a:tailEnd type="triangle" w="med" len="med"/>
          </a:ln>
        </p:spPr>
      </p:cxnSp>
      <p:sp>
        <p:nvSpPr>
          <p:cNvPr id="29" name="TextBox 28"/>
          <p:cNvSpPr txBox="1"/>
          <p:nvPr/>
        </p:nvSpPr>
        <p:spPr>
          <a:xfrm>
            <a:off x="5230368" y="2542032"/>
            <a:ext cx="2834640" cy="411480"/>
          </a:xfrm>
          <a:prstGeom prst="rect">
            <a:avLst/>
          </a:prstGeom>
          <a:noFill/>
        </p:spPr>
        <p:txBody>
          <a:bodyPr wrap="square" lIns="0" tIns="0" rIns="0" bIns="0">
            <a:spAutoFit/>
          </a:bodyPr>
          <a:lstStyle/>
          <a:p>
            <a:pPr>
              <a:lnSpc>
                <a:spcPct val="100000"/>
              </a:lnSpc>
            </a:pPr>
            <a:r>
              <a:rPr sz="1000">
                <a:solidFill>
                  <a:srgbClr val="4B5563"/>
                </a:solidFill>
                <a:latin typeface="Arial"/>
              </a:rPr>
              <a:t>CNIC, NADRA biometric check, due diligence</a:t>
            </a:r>
          </a:p>
        </p:txBody>
      </p:sp>
      <p:sp>
        <p:nvSpPr>
          <p:cNvPr id="30" name="TextBox 29"/>
          <p:cNvSpPr txBox="1"/>
          <p:nvPr/>
        </p:nvSpPr>
        <p:spPr>
          <a:xfrm>
            <a:off x="548640"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Identity</a:t>
            </a:r>
          </a:p>
        </p:txBody>
      </p:sp>
      <p:sp>
        <p:nvSpPr>
          <p:cNvPr id="31" name="TextBox 30"/>
          <p:cNvSpPr txBox="1"/>
          <p:nvPr/>
        </p:nvSpPr>
        <p:spPr>
          <a:xfrm>
            <a:off x="548640"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Names on CNIC, account and app match: 0.90 or more passes; 0.80 to 0.90 goes to a person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Live face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Home and job checked</a:t>
            </a:r>
          </a:p>
        </p:txBody>
      </p:sp>
      <p:sp>
        <p:nvSpPr>
          <p:cNvPr id="32" name="TextBox 31"/>
          <p:cNvSpPr txBox="1"/>
          <p:nvPr/>
        </p:nvSpPr>
        <p:spPr>
          <a:xfrm>
            <a:off x="3390824"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Income</a:t>
            </a:r>
          </a:p>
        </p:txBody>
      </p:sp>
      <p:sp>
        <p:nvSpPr>
          <p:cNvPr id="33" name="TextBox 32"/>
          <p:cNvSpPr txBox="1"/>
          <p:nvPr/>
        </p:nvSpPr>
        <p:spPr>
          <a:xfrm>
            <a:off x="3390824"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Salary from one employer on about the same day each month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Daily circles: Rs 1,000 or more on 5 days a week for 8 weeks</a:t>
            </a:r>
          </a:p>
          <a:p>
            <a:pPr marL="173736" indent="-173736">
              <a:lnSpc>
                <a:spcPct val="104000"/>
              </a:lnSpc>
              <a:spcAft>
                <a:spcPts val="250"/>
              </a:spcAft>
              <a:buClr>
                <a:srgbClr val="41801A"/>
              </a:buClr>
              <a:buSzPct val="70000"/>
              <a:buFont typeface="Arial"/>
              <a:buChar char="■"/>
            </a:pPr>
            <a:r>
              <a:rPr sz="1050">
                <a:solidFill>
                  <a:srgbClr val="0C1408"/>
                </a:solidFill>
                <a:latin typeface="Arial"/>
              </a:rPr>
              <a:t>Own transfers and loans excluded</a:t>
            </a:r>
          </a:p>
        </p:txBody>
      </p:sp>
      <p:sp>
        <p:nvSpPr>
          <p:cNvPr id="34" name="TextBox 33"/>
          <p:cNvSpPr txBox="1"/>
          <p:nvPr/>
        </p:nvSpPr>
        <p:spPr>
          <a:xfrm>
            <a:off x="6233008"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Affordability</a:t>
            </a:r>
          </a:p>
        </p:txBody>
      </p:sp>
      <p:sp>
        <p:nvSpPr>
          <p:cNvPr id="35" name="TextBox 34"/>
          <p:cNvSpPr txBox="1"/>
          <p:nvPr/>
        </p:nvSpPr>
        <p:spPr>
          <a:xfrm>
            <a:off x="6233008"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All instalments within a third of verified income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Within 40% including other loans, the State Bank limit</a:t>
            </a:r>
          </a:p>
        </p:txBody>
      </p:sp>
      <p:sp>
        <p:nvSpPr>
          <p:cNvPr id="36" name="TextBox 35"/>
          <p:cNvSpPr txBox="1"/>
          <p:nvPr/>
        </p:nvSpPr>
        <p:spPr>
          <a:xfrm>
            <a:off x="9075191"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Score</a:t>
            </a:r>
          </a:p>
        </p:txBody>
      </p:sp>
      <p:sp>
        <p:nvSpPr>
          <p:cNvPr id="37" name="TextBox 36"/>
          <p:cNvSpPr txBox="1"/>
          <p:nvPr/>
        </p:nvSpPr>
        <p:spPr>
          <a:xfrm>
            <a:off x="9075191"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From 300 to 850</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Decides which turns open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New members start in the last three turns</a:t>
            </a:r>
          </a:p>
        </p:txBody>
      </p:sp>
      <p:sp>
        <p:nvSpPr>
          <p:cNvPr id="38" name="TextBox 37"/>
          <p:cNvSpPr txBox="1"/>
          <p:nvPr/>
        </p:nvSpPr>
        <p:spPr>
          <a:xfrm>
            <a:off x="548640" y="6053328"/>
            <a:ext cx="11094415" cy="256032"/>
          </a:xfrm>
          <a:prstGeom prst="rect">
            <a:avLst/>
          </a:prstGeom>
          <a:noFill/>
        </p:spPr>
        <p:txBody>
          <a:bodyPr wrap="square" lIns="0" tIns="0" rIns="0" bIns="0">
            <a:spAutoFit/>
          </a:bodyPr>
          <a:lstStyle/>
          <a:p>
            <a:pPr>
              <a:lnSpc>
                <a:spcPct val="105000"/>
              </a:lnSpc>
            </a:pPr>
            <a:r>
              <a:rPr sz="1050">
                <a:solidFill>
                  <a:srgbClr val="4B5563"/>
                </a:solidFill>
                <a:latin typeface="Arial"/>
              </a:rPr>
              <a:t>Halqa stores results only: never face images, card numbers or passwords.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Committee Types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Six types; the less the members know each other, the more checks apply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13</a:t>
            </a:r>
          </a:p>
        </p:txBody>
      </p:sp>
      <p:sp>
        <p:nvSpPr>
          <p:cNvPr id="6" name="Rectangle 5"/>
          <p:cNvSpPr/>
          <p:nvPr/>
        </p:nvSpPr>
        <p:spPr>
          <a:xfrm>
            <a:off x="2633472" y="1536192"/>
            <a:ext cx="1451305" cy="603504"/>
          </a:xfrm>
          <a:prstGeom prst="rect">
            <a:avLst/>
          </a:prstGeom>
          <a:solidFill>
            <a:srgbClr val="EFA27A"/>
          </a:solidFill>
          <a:ln>
            <a:noFill/>
          </a:ln>
        </p:spPr>
        <p:txBody>
          <a:bodyPr rtlCol="0" anchor="ctr" lIns="36576" tIns="27432" rIns="36576" bIns="27432" wrap="square"/>
          <a:lstStyle/>
          <a:p>
            <a:pPr algn="ctr">
              <a:lnSpc>
                <a:spcPct val="100000"/>
              </a:lnSpc>
            </a:pPr>
            <a:r>
              <a:rPr sz="1200" b="1">
                <a:solidFill>
                  <a:srgbClr val="0C1408"/>
                </a:solidFill>
                <a:latin typeface="Arial"/>
              </a:rPr>
              <a:t>Known</a:t>
            </a:r>
          </a:p>
          <a:p>
            <a:pPr algn="ctr">
              <a:lnSpc>
                <a:spcPct val="100000"/>
              </a:lnSpc>
            </a:pPr>
            <a:r>
              <a:rPr sz="900">
                <a:solidFill>
                  <a:srgbClr val="0C1408"/>
                </a:solidFill>
                <a:latin typeface="Arial"/>
              </a:rPr>
              <a:t>check level 1</a:t>
            </a:r>
          </a:p>
        </p:txBody>
      </p:sp>
      <p:sp>
        <p:nvSpPr>
          <p:cNvPr id="7" name="Rectangle 6"/>
          <p:cNvSpPr/>
          <p:nvPr/>
        </p:nvSpPr>
        <p:spPr>
          <a:xfrm>
            <a:off x="4139641" y="1536192"/>
            <a:ext cx="1451305" cy="603504"/>
          </a:xfrm>
          <a:prstGeom prst="rect">
            <a:avLst/>
          </a:prstGeom>
          <a:solidFill>
            <a:srgbClr val="D8602A"/>
          </a:solidFill>
          <a:ln>
            <a:noFill/>
          </a:ln>
        </p:spPr>
        <p:txBody>
          <a:bodyPr rtlCol="0" anchor="ctr" lIns="36576" tIns="27432" rIns="36576" bIns="27432" wrap="square"/>
          <a:lstStyle/>
          <a:p>
            <a:pPr algn="ctr">
              <a:lnSpc>
                <a:spcPct val="100000"/>
              </a:lnSpc>
            </a:pPr>
            <a:r>
              <a:rPr sz="1200" b="1">
                <a:solidFill>
                  <a:srgbClr val="FFFFFF"/>
                </a:solidFill>
                <a:latin typeface="Arial"/>
              </a:rPr>
              <a:t>Unknown</a:t>
            </a:r>
          </a:p>
          <a:p>
            <a:pPr algn="ctr">
              <a:lnSpc>
                <a:spcPct val="100000"/>
              </a:lnSpc>
            </a:pPr>
            <a:r>
              <a:rPr sz="900">
                <a:solidFill>
                  <a:srgbClr val="FFFFFF"/>
                </a:solidFill>
                <a:latin typeface="Arial"/>
              </a:rPr>
              <a:t>check level 2</a:t>
            </a:r>
          </a:p>
        </p:txBody>
      </p:sp>
      <p:sp>
        <p:nvSpPr>
          <p:cNvPr id="8" name="Rectangle 7"/>
          <p:cNvSpPr/>
          <p:nvPr/>
        </p:nvSpPr>
        <p:spPr>
          <a:xfrm>
            <a:off x="5645810" y="1536192"/>
            <a:ext cx="1451305" cy="603504"/>
          </a:xfrm>
          <a:prstGeom prst="rect">
            <a:avLst/>
          </a:prstGeom>
          <a:solidFill>
            <a:srgbClr val="D8602A"/>
          </a:solidFill>
          <a:ln>
            <a:noFill/>
          </a:ln>
        </p:spPr>
        <p:txBody>
          <a:bodyPr rtlCol="0" anchor="ctr" lIns="36576" tIns="27432" rIns="36576" bIns="27432" wrap="square"/>
          <a:lstStyle/>
          <a:p>
            <a:pPr algn="ctr">
              <a:lnSpc>
                <a:spcPct val="100000"/>
              </a:lnSpc>
            </a:pPr>
            <a:r>
              <a:rPr sz="1200" b="1">
                <a:solidFill>
                  <a:srgbClr val="FFFFFF"/>
                </a:solidFill>
                <a:latin typeface="Arial"/>
              </a:rPr>
              <a:t>Large unknown</a:t>
            </a:r>
          </a:p>
          <a:p>
            <a:pPr algn="ctr">
              <a:lnSpc>
                <a:spcPct val="100000"/>
              </a:lnSpc>
            </a:pPr>
            <a:r>
              <a:rPr sz="900">
                <a:solidFill>
                  <a:srgbClr val="FFFFFF"/>
                </a:solidFill>
                <a:latin typeface="Arial"/>
              </a:rPr>
              <a:t>check level 2</a:t>
            </a:r>
          </a:p>
        </p:txBody>
      </p:sp>
      <p:sp>
        <p:nvSpPr>
          <p:cNvPr id="9" name="Rectangle 8"/>
          <p:cNvSpPr/>
          <p:nvPr/>
        </p:nvSpPr>
        <p:spPr>
          <a:xfrm>
            <a:off x="7151980" y="1536192"/>
            <a:ext cx="1451305" cy="603504"/>
          </a:xfrm>
          <a:prstGeom prst="rect">
            <a:avLst/>
          </a:prstGeom>
          <a:solidFill>
            <a:srgbClr val="D8602A"/>
          </a:solidFill>
          <a:ln>
            <a:noFill/>
          </a:ln>
        </p:spPr>
        <p:txBody>
          <a:bodyPr rtlCol="0" anchor="ctr" lIns="36576" tIns="27432" rIns="36576" bIns="27432" wrap="square"/>
          <a:lstStyle/>
          <a:p>
            <a:pPr algn="ctr">
              <a:lnSpc>
                <a:spcPct val="100000"/>
              </a:lnSpc>
            </a:pPr>
            <a:r>
              <a:rPr sz="1200" b="1">
                <a:solidFill>
                  <a:srgbClr val="FFFFFF"/>
                </a:solidFill>
                <a:latin typeface="Arial"/>
              </a:rPr>
              <a:t>Asset</a:t>
            </a:r>
          </a:p>
          <a:p>
            <a:pPr algn="ctr">
              <a:lnSpc>
                <a:spcPct val="100000"/>
              </a:lnSpc>
            </a:pPr>
            <a:r>
              <a:rPr sz="900">
                <a:solidFill>
                  <a:srgbClr val="FFFFFF"/>
                </a:solidFill>
                <a:latin typeface="Arial"/>
              </a:rPr>
              <a:t>check level 2</a:t>
            </a:r>
          </a:p>
        </p:txBody>
      </p:sp>
      <p:sp>
        <p:nvSpPr>
          <p:cNvPr id="10" name="Rectangle 9"/>
          <p:cNvSpPr/>
          <p:nvPr/>
        </p:nvSpPr>
        <p:spPr>
          <a:xfrm>
            <a:off x="8658149" y="1536192"/>
            <a:ext cx="1451305" cy="603504"/>
          </a:xfrm>
          <a:prstGeom prst="rect">
            <a:avLst/>
          </a:prstGeom>
          <a:solidFill>
            <a:srgbClr val="EFA27A"/>
          </a:solidFill>
          <a:ln>
            <a:noFill/>
          </a:ln>
        </p:spPr>
        <p:txBody>
          <a:bodyPr rtlCol="0" anchor="ctr" lIns="36576" tIns="27432" rIns="36576" bIns="27432" wrap="square"/>
          <a:lstStyle/>
          <a:p>
            <a:pPr algn="ctr">
              <a:lnSpc>
                <a:spcPct val="100000"/>
              </a:lnSpc>
            </a:pPr>
            <a:r>
              <a:rPr sz="1200" b="1">
                <a:solidFill>
                  <a:srgbClr val="0C1408"/>
                </a:solidFill>
                <a:latin typeface="Arial"/>
              </a:rPr>
              <a:t>UAE family</a:t>
            </a:r>
          </a:p>
          <a:p>
            <a:pPr algn="ctr">
              <a:lnSpc>
                <a:spcPct val="100000"/>
              </a:lnSpc>
            </a:pPr>
            <a:r>
              <a:rPr sz="900">
                <a:solidFill>
                  <a:srgbClr val="0C1408"/>
                </a:solidFill>
                <a:latin typeface="Arial"/>
              </a:rPr>
              <a:t>check level 1</a:t>
            </a:r>
          </a:p>
        </p:txBody>
      </p:sp>
      <p:sp>
        <p:nvSpPr>
          <p:cNvPr id="11" name="Rectangle 10"/>
          <p:cNvSpPr/>
          <p:nvPr/>
        </p:nvSpPr>
        <p:spPr>
          <a:xfrm>
            <a:off x="10164318" y="1536192"/>
            <a:ext cx="1451305" cy="603504"/>
          </a:xfrm>
          <a:prstGeom prst="rect">
            <a:avLst/>
          </a:prstGeom>
          <a:solidFill>
            <a:srgbClr val="9E3F17"/>
          </a:solidFill>
          <a:ln>
            <a:noFill/>
          </a:ln>
        </p:spPr>
        <p:txBody>
          <a:bodyPr rtlCol="0" anchor="ctr" lIns="36576" tIns="27432" rIns="36576" bIns="27432" wrap="square"/>
          <a:lstStyle/>
          <a:p>
            <a:pPr algn="ctr">
              <a:lnSpc>
                <a:spcPct val="100000"/>
              </a:lnSpc>
            </a:pPr>
            <a:r>
              <a:rPr sz="1200" b="1">
                <a:solidFill>
                  <a:srgbClr val="FFFFFF"/>
                </a:solidFill>
                <a:latin typeface="Arial"/>
              </a:rPr>
              <a:t>Hyper</a:t>
            </a:r>
          </a:p>
          <a:p>
            <a:pPr algn="ctr">
              <a:lnSpc>
                <a:spcPct val="100000"/>
              </a:lnSpc>
            </a:pPr>
            <a:r>
              <a:rPr sz="900">
                <a:solidFill>
                  <a:srgbClr val="FFFFFF"/>
                </a:solidFill>
                <a:latin typeface="Arial"/>
              </a:rPr>
              <a:t>check level 3, experimental</a:t>
            </a:r>
          </a:p>
        </p:txBody>
      </p:sp>
      <p:sp>
        <p:nvSpPr>
          <p:cNvPr id="12" name="TextBox 11"/>
          <p:cNvSpPr txBox="1"/>
          <p:nvPr/>
        </p:nvSpPr>
        <p:spPr>
          <a:xfrm>
            <a:off x="548640" y="218541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Members</a:t>
            </a:r>
          </a:p>
        </p:txBody>
      </p:sp>
      <p:sp>
        <p:nvSpPr>
          <p:cNvPr id="13" name="TextBox 12"/>
          <p:cNvSpPr txBox="1"/>
          <p:nvPr/>
        </p:nvSpPr>
        <p:spPr>
          <a:xfrm>
            <a:off x="2651760"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14" name="TextBox 13"/>
          <p:cNvSpPr txBox="1"/>
          <p:nvPr/>
        </p:nvSpPr>
        <p:spPr>
          <a:xfrm>
            <a:off x="4157929"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5" name="TextBox 14"/>
          <p:cNvSpPr txBox="1"/>
          <p:nvPr/>
        </p:nvSpPr>
        <p:spPr>
          <a:xfrm>
            <a:off x="5664098"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20</a:t>
            </a:r>
          </a:p>
        </p:txBody>
      </p:sp>
      <p:sp>
        <p:nvSpPr>
          <p:cNvPr id="16" name="TextBox 15"/>
          <p:cNvSpPr txBox="1"/>
          <p:nvPr/>
        </p:nvSpPr>
        <p:spPr>
          <a:xfrm>
            <a:off x="7170268"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7" name="TextBox 16"/>
          <p:cNvSpPr txBox="1"/>
          <p:nvPr/>
        </p:nvSpPr>
        <p:spPr>
          <a:xfrm>
            <a:off x="8676437"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18" name="TextBox 17"/>
          <p:cNvSpPr txBox="1"/>
          <p:nvPr/>
        </p:nvSpPr>
        <p:spPr>
          <a:xfrm>
            <a:off x="10182606" y="2185416"/>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390 to 400</a:t>
            </a:r>
          </a:p>
        </p:txBody>
      </p:sp>
      <p:cxnSp>
        <p:nvCxnSpPr>
          <p:cNvPr id="19" name="Connector 18"/>
          <p:cNvCxnSpPr/>
          <p:nvPr/>
        </p:nvCxnSpPr>
        <p:spPr>
          <a:xfrm>
            <a:off x="548640" y="2569464"/>
            <a:ext cx="11094415" cy="0"/>
          </a:xfrm>
          <a:prstGeom prst="line">
            <a:avLst/>
          </a:prstGeom>
          <a:ln w="9525">
            <a:solidFill>
              <a:srgbClr val="D1D5DB"/>
            </a:solidFill>
          </a:ln>
        </p:spPr>
      </p:cxnSp>
      <p:sp>
        <p:nvSpPr>
          <p:cNvPr id="20" name="TextBox 19"/>
          <p:cNvSpPr txBox="1"/>
          <p:nvPr/>
        </p:nvSpPr>
        <p:spPr>
          <a:xfrm>
            <a:off x="548640" y="256946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Instalment</a:t>
            </a:r>
          </a:p>
        </p:txBody>
      </p:sp>
      <p:sp>
        <p:nvSpPr>
          <p:cNvPr id="21" name="TextBox 20"/>
          <p:cNvSpPr txBox="1"/>
          <p:nvPr/>
        </p:nvSpPr>
        <p:spPr>
          <a:xfrm>
            <a:off x="2651760"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22" name="TextBox 21"/>
          <p:cNvSpPr txBox="1"/>
          <p:nvPr/>
        </p:nvSpPr>
        <p:spPr>
          <a:xfrm>
            <a:off x="4157929"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3" name="TextBox 22"/>
          <p:cNvSpPr txBox="1"/>
          <p:nvPr/>
        </p:nvSpPr>
        <p:spPr>
          <a:xfrm>
            <a:off x="5664098"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25,000</a:t>
            </a:r>
          </a:p>
        </p:txBody>
      </p:sp>
      <p:sp>
        <p:nvSpPr>
          <p:cNvPr id="24" name="TextBox 23"/>
          <p:cNvSpPr txBox="1"/>
          <p:nvPr/>
        </p:nvSpPr>
        <p:spPr>
          <a:xfrm>
            <a:off x="7170268"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5" name="TextBox 24"/>
          <p:cNvSpPr txBox="1"/>
          <p:nvPr/>
        </p:nvSpPr>
        <p:spPr>
          <a:xfrm>
            <a:off x="8676437"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any amount</a:t>
            </a:r>
          </a:p>
        </p:txBody>
      </p:sp>
      <p:sp>
        <p:nvSpPr>
          <p:cNvPr id="26" name="TextBox 25"/>
          <p:cNvSpPr txBox="1"/>
          <p:nvPr/>
        </p:nvSpPr>
        <p:spPr>
          <a:xfrm>
            <a:off x="10182606" y="2569464"/>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450 to 500 a day</a:t>
            </a:r>
          </a:p>
        </p:txBody>
      </p:sp>
      <p:cxnSp>
        <p:nvCxnSpPr>
          <p:cNvPr id="27" name="Connector 26"/>
          <p:cNvCxnSpPr/>
          <p:nvPr/>
        </p:nvCxnSpPr>
        <p:spPr>
          <a:xfrm>
            <a:off x="548640" y="2953512"/>
            <a:ext cx="11094415" cy="0"/>
          </a:xfrm>
          <a:prstGeom prst="line">
            <a:avLst/>
          </a:prstGeom>
          <a:ln w="9525">
            <a:solidFill>
              <a:srgbClr val="D1D5DB"/>
            </a:solidFill>
          </a:ln>
        </p:spPr>
      </p:cxnSp>
      <p:sp>
        <p:nvSpPr>
          <p:cNvPr id="28" name="TextBox 27"/>
          <p:cNvSpPr txBox="1"/>
          <p:nvPr/>
        </p:nvSpPr>
        <p:spPr>
          <a:xfrm>
            <a:off x="548640" y="2953512"/>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Frequency</a:t>
            </a:r>
          </a:p>
        </p:txBody>
      </p:sp>
      <p:sp>
        <p:nvSpPr>
          <p:cNvPr id="29" name="TextBox 28"/>
          <p:cNvSpPr txBox="1"/>
          <p:nvPr/>
        </p:nvSpPr>
        <p:spPr>
          <a:xfrm>
            <a:off x="2651760"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 or weekly</a:t>
            </a:r>
          </a:p>
        </p:txBody>
      </p:sp>
      <p:sp>
        <p:nvSpPr>
          <p:cNvPr id="30" name="TextBox 29"/>
          <p:cNvSpPr txBox="1"/>
          <p:nvPr/>
        </p:nvSpPr>
        <p:spPr>
          <a:xfrm>
            <a:off x="4157929"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1" name="TextBox 30"/>
          <p:cNvSpPr txBox="1"/>
          <p:nvPr/>
        </p:nvSpPr>
        <p:spPr>
          <a:xfrm>
            <a:off x="5664098"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2" name="TextBox 31"/>
          <p:cNvSpPr txBox="1"/>
          <p:nvPr/>
        </p:nvSpPr>
        <p:spPr>
          <a:xfrm>
            <a:off x="7170268"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3" name="TextBox 32"/>
          <p:cNvSpPr txBox="1"/>
          <p:nvPr/>
        </p:nvSpPr>
        <p:spPr>
          <a:xfrm>
            <a:off x="8676437"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4" name="TextBox 33"/>
          <p:cNvSpPr txBox="1"/>
          <p:nvPr/>
        </p:nvSpPr>
        <p:spPr>
          <a:xfrm>
            <a:off x="10182606" y="2953512"/>
            <a:ext cx="1414729"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daily</a:t>
            </a:r>
          </a:p>
        </p:txBody>
      </p:sp>
      <p:cxnSp>
        <p:nvCxnSpPr>
          <p:cNvPr id="35" name="Connector 34"/>
          <p:cNvCxnSpPr/>
          <p:nvPr/>
        </p:nvCxnSpPr>
        <p:spPr>
          <a:xfrm>
            <a:off x="548640" y="3337560"/>
            <a:ext cx="11094415" cy="0"/>
          </a:xfrm>
          <a:prstGeom prst="line">
            <a:avLst/>
          </a:prstGeom>
          <a:ln w="9525">
            <a:solidFill>
              <a:srgbClr val="D1D5DB"/>
            </a:solidFill>
          </a:ln>
        </p:spPr>
      </p:cxnSp>
      <p:sp>
        <p:nvSpPr>
          <p:cNvPr id="36" name="TextBox 35"/>
          <p:cNvSpPr txBox="1"/>
          <p:nvPr/>
        </p:nvSpPr>
        <p:spPr>
          <a:xfrm>
            <a:off x="548640" y="3337560"/>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Income checked</a:t>
            </a:r>
          </a:p>
        </p:txBody>
      </p:sp>
      <p:sp>
        <p:nvSpPr>
          <p:cNvPr id="37" name="Oval 36"/>
          <p:cNvSpPr/>
          <p:nvPr/>
        </p:nvSpPr>
        <p:spPr>
          <a:xfrm>
            <a:off x="3263113" y="3433572"/>
            <a:ext cx="192024" cy="192024"/>
          </a:xfrm>
          <a:prstGeom prst="ellipse">
            <a:avLst/>
          </a:prstGeom>
          <a:solidFill>
            <a:srgbClr val="FFFFFF"/>
          </a:solidFill>
          <a:ln w="15875">
            <a:solidFill>
              <a:srgbClr val="D8602A"/>
            </a:solidFill>
          </a:ln>
        </p:spPr>
        <p:txBody>
          <a:bodyPr rtlCol="0" anchor="ctr"/>
          <a:lstStyle/>
          <a:p>
            <a:pPr algn="ctr"/>
          </a:p>
        </p:txBody>
      </p:sp>
      <p:sp>
        <p:nvSpPr>
          <p:cNvPr id="38" name="Oval 37"/>
          <p:cNvSpPr/>
          <p:nvPr/>
        </p:nvSpPr>
        <p:spPr>
          <a:xfrm>
            <a:off x="4769282" y="3433572"/>
            <a:ext cx="192024" cy="192024"/>
          </a:xfrm>
          <a:prstGeom prst="ellipse">
            <a:avLst/>
          </a:prstGeom>
          <a:solidFill>
            <a:srgbClr val="D8602A"/>
          </a:solidFill>
          <a:ln w="15875">
            <a:solidFill>
              <a:srgbClr val="D8602A"/>
            </a:solidFill>
          </a:ln>
        </p:spPr>
        <p:txBody>
          <a:bodyPr rtlCol="0" anchor="ctr"/>
          <a:lstStyle/>
          <a:p>
            <a:pPr algn="ctr"/>
          </a:p>
        </p:txBody>
      </p:sp>
      <p:sp>
        <p:nvSpPr>
          <p:cNvPr id="39" name="Oval 38"/>
          <p:cNvSpPr/>
          <p:nvPr/>
        </p:nvSpPr>
        <p:spPr>
          <a:xfrm>
            <a:off x="6275451" y="3433572"/>
            <a:ext cx="192024" cy="192024"/>
          </a:xfrm>
          <a:prstGeom prst="ellipse">
            <a:avLst/>
          </a:prstGeom>
          <a:solidFill>
            <a:srgbClr val="D8602A"/>
          </a:solidFill>
          <a:ln w="15875">
            <a:solidFill>
              <a:srgbClr val="D8602A"/>
            </a:solidFill>
          </a:ln>
        </p:spPr>
        <p:txBody>
          <a:bodyPr rtlCol="0" anchor="ctr"/>
          <a:lstStyle/>
          <a:p>
            <a:pPr algn="ctr"/>
          </a:p>
        </p:txBody>
      </p:sp>
      <p:sp>
        <p:nvSpPr>
          <p:cNvPr id="40" name="Oval 39"/>
          <p:cNvSpPr/>
          <p:nvPr/>
        </p:nvSpPr>
        <p:spPr>
          <a:xfrm>
            <a:off x="7781620" y="3433572"/>
            <a:ext cx="192024" cy="192024"/>
          </a:xfrm>
          <a:prstGeom prst="ellipse">
            <a:avLst/>
          </a:prstGeom>
          <a:solidFill>
            <a:srgbClr val="D8602A"/>
          </a:solidFill>
          <a:ln w="15875">
            <a:solidFill>
              <a:srgbClr val="D8602A"/>
            </a:solidFill>
          </a:ln>
        </p:spPr>
        <p:txBody>
          <a:bodyPr rtlCol="0" anchor="ctr"/>
          <a:lstStyle/>
          <a:p>
            <a:pPr algn="ctr"/>
          </a:p>
        </p:txBody>
      </p:sp>
      <p:sp>
        <p:nvSpPr>
          <p:cNvPr id="41" name="Oval 40"/>
          <p:cNvSpPr/>
          <p:nvPr/>
        </p:nvSpPr>
        <p:spPr>
          <a:xfrm>
            <a:off x="9287789" y="3433572"/>
            <a:ext cx="192024" cy="192024"/>
          </a:xfrm>
          <a:prstGeom prst="ellipse">
            <a:avLst/>
          </a:prstGeom>
          <a:solidFill>
            <a:srgbClr val="FFFFFF"/>
          </a:solidFill>
          <a:ln w="15875">
            <a:solidFill>
              <a:srgbClr val="D8602A"/>
            </a:solidFill>
          </a:ln>
        </p:spPr>
        <p:txBody>
          <a:bodyPr rtlCol="0" anchor="ctr"/>
          <a:lstStyle/>
          <a:p>
            <a:pPr algn="ctr"/>
          </a:p>
        </p:txBody>
      </p:sp>
      <p:sp>
        <p:nvSpPr>
          <p:cNvPr id="42" name="Oval 41"/>
          <p:cNvSpPr/>
          <p:nvPr/>
        </p:nvSpPr>
        <p:spPr>
          <a:xfrm>
            <a:off x="10793959" y="3433572"/>
            <a:ext cx="192024" cy="192024"/>
          </a:xfrm>
          <a:prstGeom prst="ellipse">
            <a:avLst/>
          </a:prstGeom>
          <a:solidFill>
            <a:srgbClr val="D8602A"/>
          </a:solidFill>
          <a:ln w="15875">
            <a:solidFill>
              <a:srgbClr val="D8602A"/>
            </a:solidFill>
          </a:ln>
        </p:spPr>
        <p:txBody>
          <a:bodyPr rtlCol="0" anchor="ctr"/>
          <a:lstStyle/>
          <a:p>
            <a:pPr algn="ctr"/>
          </a:p>
        </p:txBody>
      </p:sp>
      <p:cxnSp>
        <p:nvCxnSpPr>
          <p:cNvPr id="43" name="Connector 42"/>
          <p:cNvCxnSpPr/>
          <p:nvPr/>
        </p:nvCxnSpPr>
        <p:spPr>
          <a:xfrm>
            <a:off x="548640" y="3721608"/>
            <a:ext cx="11094415" cy="0"/>
          </a:xfrm>
          <a:prstGeom prst="line">
            <a:avLst/>
          </a:prstGeom>
          <a:ln w="9525">
            <a:solidFill>
              <a:srgbClr val="D1D5DB"/>
            </a:solidFill>
          </a:ln>
        </p:spPr>
      </p:cxnSp>
      <p:sp>
        <p:nvSpPr>
          <p:cNvPr id="44" name="TextBox 43"/>
          <p:cNvSpPr txBox="1"/>
          <p:nvPr/>
        </p:nvSpPr>
        <p:spPr>
          <a:xfrm>
            <a:off x="548640" y="3721608"/>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Automatic debit</a:t>
            </a:r>
          </a:p>
        </p:txBody>
      </p:sp>
      <p:sp>
        <p:nvSpPr>
          <p:cNvPr id="45" name="Oval 44"/>
          <p:cNvSpPr/>
          <p:nvPr/>
        </p:nvSpPr>
        <p:spPr>
          <a:xfrm>
            <a:off x="3263113" y="3817620"/>
            <a:ext cx="192024" cy="192024"/>
          </a:xfrm>
          <a:prstGeom prst="ellipse">
            <a:avLst/>
          </a:prstGeom>
          <a:solidFill>
            <a:srgbClr val="FFFFFF"/>
          </a:solidFill>
          <a:ln w="15875">
            <a:solidFill>
              <a:srgbClr val="D8602A"/>
            </a:solidFill>
          </a:ln>
        </p:spPr>
        <p:txBody>
          <a:bodyPr rtlCol="0" anchor="ctr"/>
          <a:lstStyle/>
          <a:p>
            <a:pPr algn="ctr"/>
          </a:p>
        </p:txBody>
      </p:sp>
      <p:sp>
        <p:nvSpPr>
          <p:cNvPr id="46" name="Oval 45"/>
          <p:cNvSpPr/>
          <p:nvPr/>
        </p:nvSpPr>
        <p:spPr>
          <a:xfrm>
            <a:off x="4769282" y="3817620"/>
            <a:ext cx="192024" cy="192024"/>
          </a:xfrm>
          <a:prstGeom prst="ellipse">
            <a:avLst/>
          </a:prstGeom>
          <a:solidFill>
            <a:srgbClr val="D8602A"/>
          </a:solidFill>
          <a:ln w="15875">
            <a:solidFill>
              <a:srgbClr val="D8602A"/>
            </a:solidFill>
          </a:ln>
        </p:spPr>
        <p:txBody>
          <a:bodyPr rtlCol="0" anchor="ctr"/>
          <a:lstStyle/>
          <a:p>
            <a:pPr algn="ctr"/>
          </a:p>
        </p:txBody>
      </p:sp>
      <p:sp>
        <p:nvSpPr>
          <p:cNvPr id="47" name="Oval 46"/>
          <p:cNvSpPr/>
          <p:nvPr/>
        </p:nvSpPr>
        <p:spPr>
          <a:xfrm>
            <a:off x="6275451" y="3817620"/>
            <a:ext cx="192024" cy="192024"/>
          </a:xfrm>
          <a:prstGeom prst="ellipse">
            <a:avLst/>
          </a:prstGeom>
          <a:solidFill>
            <a:srgbClr val="D8602A"/>
          </a:solidFill>
          <a:ln w="15875">
            <a:solidFill>
              <a:srgbClr val="D8602A"/>
            </a:solidFill>
          </a:ln>
        </p:spPr>
        <p:txBody>
          <a:bodyPr rtlCol="0" anchor="ctr"/>
          <a:lstStyle/>
          <a:p>
            <a:pPr algn="ctr"/>
          </a:p>
        </p:txBody>
      </p:sp>
      <p:sp>
        <p:nvSpPr>
          <p:cNvPr id="48" name="Oval 47"/>
          <p:cNvSpPr/>
          <p:nvPr/>
        </p:nvSpPr>
        <p:spPr>
          <a:xfrm>
            <a:off x="7781620" y="3817620"/>
            <a:ext cx="192024" cy="192024"/>
          </a:xfrm>
          <a:prstGeom prst="ellipse">
            <a:avLst/>
          </a:prstGeom>
          <a:solidFill>
            <a:srgbClr val="D8602A"/>
          </a:solidFill>
          <a:ln w="15875">
            <a:solidFill>
              <a:srgbClr val="D8602A"/>
            </a:solidFill>
          </a:ln>
        </p:spPr>
        <p:txBody>
          <a:bodyPr rtlCol="0" anchor="ctr"/>
          <a:lstStyle/>
          <a:p>
            <a:pPr algn="ctr"/>
          </a:p>
        </p:txBody>
      </p:sp>
      <p:sp>
        <p:nvSpPr>
          <p:cNvPr id="49" name="Oval 48"/>
          <p:cNvSpPr/>
          <p:nvPr/>
        </p:nvSpPr>
        <p:spPr>
          <a:xfrm>
            <a:off x="9287789" y="3817620"/>
            <a:ext cx="192024" cy="192024"/>
          </a:xfrm>
          <a:prstGeom prst="ellipse">
            <a:avLst/>
          </a:prstGeom>
          <a:solidFill>
            <a:srgbClr val="D8602A"/>
          </a:solidFill>
          <a:ln w="15875">
            <a:solidFill>
              <a:srgbClr val="D8602A"/>
            </a:solidFill>
          </a:ln>
        </p:spPr>
        <p:txBody>
          <a:bodyPr rtlCol="0" anchor="ctr"/>
          <a:lstStyle/>
          <a:p>
            <a:pPr algn="ctr"/>
          </a:p>
        </p:txBody>
      </p:sp>
      <p:sp>
        <p:nvSpPr>
          <p:cNvPr id="50" name="Oval 49"/>
          <p:cNvSpPr/>
          <p:nvPr/>
        </p:nvSpPr>
        <p:spPr>
          <a:xfrm>
            <a:off x="10793959" y="3817620"/>
            <a:ext cx="192024" cy="192024"/>
          </a:xfrm>
          <a:prstGeom prst="ellipse">
            <a:avLst/>
          </a:prstGeom>
          <a:solidFill>
            <a:srgbClr val="D8602A"/>
          </a:solidFill>
          <a:ln w="15875">
            <a:solidFill>
              <a:srgbClr val="D8602A"/>
            </a:solidFill>
          </a:ln>
        </p:spPr>
        <p:txBody>
          <a:bodyPr rtlCol="0" anchor="ctr"/>
          <a:lstStyle/>
          <a:p>
            <a:pPr algn="ctr"/>
          </a:p>
        </p:txBody>
      </p:sp>
      <p:cxnSp>
        <p:nvCxnSpPr>
          <p:cNvPr id="51" name="Connector 50"/>
          <p:cNvCxnSpPr/>
          <p:nvPr/>
        </p:nvCxnSpPr>
        <p:spPr>
          <a:xfrm>
            <a:off x="548640" y="4105656"/>
            <a:ext cx="11094415" cy="0"/>
          </a:xfrm>
          <a:prstGeom prst="line">
            <a:avLst/>
          </a:prstGeom>
          <a:ln w="9525">
            <a:solidFill>
              <a:srgbClr val="D1D5DB"/>
            </a:solidFill>
          </a:ln>
        </p:spPr>
      </p:cxnSp>
      <p:sp>
        <p:nvSpPr>
          <p:cNvPr id="52" name="TextBox 51"/>
          <p:cNvSpPr txBox="1"/>
          <p:nvPr/>
        </p:nvSpPr>
        <p:spPr>
          <a:xfrm>
            <a:off x="548640" y="410565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Takaful or insurance</a:t>
            </a:r>
          </a:p>
        </p:txBody>
      </p:sp>
      <p:sp>
        <p:nvSpPr>
          <p:cNvPr id="53" name="Oval 52"/>
          <p:cNvSpPr/>
          <p:nvPr/>
        </p:nvSpPr>
        <p:spPr>
          <a:xfrm>
            <a:off x="3263113" y="4201668"/>
            <a:ext cx="192024" cy="192024"/>
          </a:xfrm>
          <a:prstGeom prst="ellipse">
            <a:avLst/>
          </a:prstGeom>
          <a:solidFill>
            <a:srgbClr val="FFFFFF"/>
          </a:solidFill>
          <a:ln w="15875">
            <a:solidFill>
              <a:srgbClr val="D8602A"/>
            </a:solidFill>
          </a:ln>
        </p:spPr>
        <p:txBody>
          <a:bodyPr rtlCol="0" anchor="ctr"/>
          <a:lstStyle/>
          <a:p>
            <a:pPr algn="ctr"/>
          </a:p>
        </p:txBody>
      </p:sp>
      <p:sp>
        <p:nvSpPr>
          <p:cNvPr id="54" name="Oval 53"/>
          <p:cNvSpPr/>
          <p:nvPr/>
        </p:nvSpPr>
        <p:spPr>
          <a:xfrm>
            <a:off x="4769282" y="4201668"/>
            <a:ext cx="192024" cy="192024"/>
          </a:xfrm>
          <a:prstGeom prst="ellipse">
            <a:avLst/>
          </a:prstGeom>
          <a:solidFill>
            <a:srgbClr val="D8602A"/>
          </a:solidFill>
          <a:ln w="15875">
            <a:solidFill>
              <a:srgbClr val="D8602A"/>
            </a:solidFill>
          </a:ln>
        </p:spPr>
        <p:txBody>
          <a:bodyPr rtlCol="0" anchor="ctr"/>
          <a:lstStyle/>
          <a:p>
            <a:pPr algn="ctr"/>
          </a:p>
        </p:txBody>
      </p:sp>
      <p:sp>
        <p:nvSpPr>
          <p:cNvPr id="55" name="Oval 54"/>
          <p:cNvSpPr/>
          <p:nvPr/>
        </p:nvSpPr>
        <p:spPr>
          <a:xfrm>
            <a:off x="6275451" y="4201668"/>
            <a:ext cx="192024" cy="192024"/>
          </a:xfrm>
          <a:prstGeom prst="ellipse">
            <a:avLst/>
          </a:prstGeom>
          <a:solidFill>
            <a:srgbClr val="D8602A"/>
          </a:solidFill>
          <a:ln w="15875">
            <a:solidFill>
              <a:srgbClr val="D8602A"/>
            </a:solidFill>
          </a:ln>
        </p:spPr>
        <p:txBody>
          <a:bodyPr rtlCol="0" anchor="ctr"/>
          <a:lstStyle/>
          <a:p>
            <a:pPr algn="ctr"/>
          </a:p>
        </p:txBody>
      </p:sp>
      <p:sp>
        <p:nvSpPr>
          <p:cNvPr id="56" name="Oval 55"/>
          <p:cNvSpPr/>
          <p:nvPr/>
        </p:nvSpPr>
        <p:spPr>
          <a:xfrm>
            <a:off x="7781620" y="4201668"/>
            <a:ext cx="192024" cy="192024"/>
          </a:xfrm>
          <a:prstGeom prst="ellipse">
            <a:avLst/>
          </a:prstGeom>
          <a:solidFill>
            <a:srgbClr val="D8602A"/>
          </a:solidFill>
          <a:ln w="15875">
            <a:solidFill>
              <a:srgbClr val="D8602A"/>
            </a:solidFill>
          </a:ln>
        </p:spPr>
        <p:txBody>
          <a:bodyPr rtlCol="0" anchor="ctr"/>
          <a:lstStyle/>
          <a:p>
            <a:pPr algn="ctr"/>
          </a:p>
        </p:txBody>
      </p:sp>
      <p:sp>
        <p:nvSpPr>
          <p:cNvPr id="57" name="Oval 56"/>
          <p:cNvSpPr/>
          <p:nvPr/>
        </p:nvSpPr>
        <p:spPr>
          <a:xfrm>
            <a:off x="9287789" y="4201668"/>
            <a:ext cx="192024" cy="192024"/>
          </a:xfrm>
          <a:prstGeom prst="ellipse">
            <a:avLst/>
          </a:prstGeom>
          <a:solidFill>
            <a:srgbClr val="FFFFFF"/>
          </a:solidFill>
          <a:ln w="15875">
            <a:solidFill>
              <a:srgbClr val="D8602A"/>
            </a:solidFill>
          </a:ln>
        </p:spPr>
        <p:txBody>
          <a:bodyPr rtlCol="0" anchor="ctr"/>
          <a:lstStyle/>
          <a:p>
            <a:pPr algn="ctr"/>
          </a:p>
        </p:txBody>
      </p:sp>
      <p:sp>
        <p:nvSpPr>
          <p:cNvPr id="58" name="Oval 57"/>
          <p:cNvSpPr/>
          <p:nvPr/>
        </p:nvSpPr>
        <p:spPr>
          <a:xfrm>
            <a:off x="10793959" y="4201668"/>
            <a:ext cx="192024" cy="192024"/>
          </a:xfrm>
          <a:prstGeom prst="ellipse">
            <a:avLst/>
          </a:prstGeom>
          <a:solidFill>
            <a:srgbClr val="D8602A"/>
          </a:solidFill>
          <a:ln w="15875">
            <a:solidFill>
              <a:srgbClr val="D8602A"/>
            </a:solidFill>
          </a:ln>
        </p:spPr>
        <p:txBody>
          <a:bodyPr rtlCol="0" anchor="ctr"/>
          <a:lstStyle/>
          <a:p>
            <a:pPr algn="ctr"/>
          </a:p>
        </p:txBody>
      </p:sp>
      <p:cxnSp>
        <p:nvCxnSpPr>
          <p:cNvPr id="59" name="Connector 58"/>
          <p:cNvCxnSpPr/>
          <p:nvPr/>
        </p:nvCxnSpPr>
        <p:spPr>
          <a:xfrm>
            <a:off x="548640" y="4489704"/>
            <a:ext cx="11094415" cy="0"/>
          </a:xfrm>
          <a:prstGeom prst="line">
            <a:avLst/>
          </a:prstGeom>
          <a:ln w="9525">
            <a:solidFill>
              <a:srgbClr val="D1D5DB"/>
            </a:solidFill>
          </a:ln>
        </p:spPr>
      </p:cxnSp>
      <p:sp>
        <p:nvSpPr>
          <p:cNvPr id="60" name="TextBox 59"/>
          <p:cNvSpPr txBox="1"/>
          <p:nvPr/>
        </p:nvSpPr>
        <p:spPr>
          <a:xfrm>
            <a:off x="548640" y="448970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Credit report read</a:t>
            </a:r>
          </a:p>
        </p:txBody>
      </p:sp>
      <p:sp>
        <p:nvSpPr>
          <p:cNvPr id="61" name="Oval 60"/>
          <p:cNvSpPr/>
          <p:nvPr/>
        </p:nvSpPr>
        <p:spPr>
          <a:xfrm>
            <a:off x="3263113" y="4585716"/>
            <a:ext cx="192024" cy="192024"/>
          </a:xfrm>
          <a:prstGeom prst="ellipse">
            <a:avLst/>
          </a:prstGeom>
          <a:solidFill>
            <a:srgbClr val="FFFFFF"/>
          </a:solidFill>
          <a:ln w="15875">
            <a:solidFill>
              <a:srgbClr val="D8602A"/>
            </a:solidFill>
          </a:ln>
        </p:spPr>
        <p:txBody>
          <a:bodyPr rtlCol="0" anchor="ctr"/>
          <a:lstStyle/>
          <a:p>
            <a:pPr algn="ctr"/>
          </a:p>
        </p:txBody>
      </p:sp>
      <p:sp>
        <p:nvSpPr>
          <p:cNvPr id="62" name="Oval 61"/>
          <p:cNvSpPr/>
          <p:nvPr/>
        </p:nvSpPr>
        <p:spPr>
          <a:xfrm>
            <a:off x="4769282" y="4585716"/>
            <a:ext cx="192024" cy="192024"/>
          </a:xfrm>
          <a:prstGeom prst="ellipse">
            <a:avLst/>
          </a:prstGeom>
          <a:solidFill>
            <a:srgbClr val="D8602A"/>
          </a:solidFill>
          <a:ln w="15875">
            <a:solidFill>
              <a:srgbClr val="D8602A"/>
            </a:solidFill>
          </a:ln>
        </p:spPr>
        <p:txBody>
          <a:bodyPr rtlCol="0" anchor="ctr"/>
          <a:lstStyle/>
          <a:p>
            <a:pPr algn="ctr"/>
          </a:p>
        </p:txBody>
      </p:sp>
      <p:sp>
        <p:nvSpPr>
          <p:cNvPr id="63" name="Oval 62"/>
          <p:cNvSpPr/>
          <p:nvPr/>
        </p:nvSpPr>
        <p:spPr>
          <a:xfrm>
            <a:off x="6275451" y="4585716"/>
            <a:ext cx="192024" cy="192024"/>
          </a:xfrm>
          <a:prstGeom prst="ellipse">
            <a:avLst/>
          </a:prstGeom>
          <a:solidFill>
            <a:srgbClr val="D8602A"/>
          </a:solidFill>
          <a:ln w="15875">
            <a:solidFill>
              <a:srgbClr val="D8602A"/>
            </a:solidFill>
          </a:ln>
        </p:spPr>
        <p:txBody>
          <a:bodyPr rtlCol="0" anchor="ctr"/>
          <a:lstStyle/>
          <a:p>
            <a:pPr algn="ctr"/>
          </a:p>
        </p:txBody>
      </p:sp>
      <p:sp>
        <p:nvSpPr>
          <p:cNvPr id="64" name="Oval 63"/>
          <p:cNvSpPr/>
          <p:nvPr/>
        </p:nvSpPr>
        <p:spPr>
          <a:xfrm>
            <a:off x="7781620" y="4585716"/>
            <a:ext cx="192024" cy="192024"/>
          </a:xfrm>
          <a:prstGeom prst="ellipse">
            <a:avLst/>
          </a:prstGeom>
          <a:solidFill>
            <a:srgbClr val="D8602A"/>
          </a:solidFill>
          <a:ln w="15875">
            <a:solidFill>
              <a:srgbClr val="D8602A"/>
            </a:solidFill>
          </a:ln>
        </p:spPr>
        <p:txBody>
          <a:bodyPr rtlCol="0" anchor="ctr"/>
          <a:lstStyle/>
          <a:p>
            <a:pPr algn="ctr"/>
          </a:p>
        </p:txBody>
      </p:sp>
      <p:sp>
        <p:nvSpPr>
          <p:cNvPr id="65" name="Oval 64"/>
          <p:cNvSpPr/>
          <p:nvPr/>
        </p:nvSpPr>
        <p:spPr>
          <a:xfrm>
            <a:off x="9287789" y="4585716"/>
            <a:ext cx="192024" cy="192024"/>
          </a:xfrm>
          <a:prstGeom prst="ellipse">
            <a:avLst/>
          </a:prstGeom>
          <a:solidFill>
            <a:srgbClr val="FFFFFF"/>
          </a:solidFill>
          <a:ln w="15875">
            <a:solidFill>
              <a:srgbClr val="D8602A"/>
            </a:solidFill>
          </a:ln>
        </p:spPr>
        <p:txBody>
          <a:bodyPr rtlCol="0" anchor="ctr"/>
          <a:lstStyle/>
          <a:p>
            <a:pPr algn="ctr"/>
          </a:p>
        </p:txBody>
      </p:sp>
      <p:sp>
        <p:nvSpPr>
          <p:cNvPr id="66" name="Oval 65"/>
          <p:cNvSpPr/>
          <p:nvPr/>
        </p:nvSpPr>
        <p:spPr>
          <a:xfrm>
            <a:off x="10793959" y="4585716"/>
            <a:ext cx="192024" cy="192024"/>
          </a:xfrm>
          <a:prstGeom prst="ellipse">
            <a:avLst/>
          </a:prstGeom>
          <a:solidFill>
            <a:srgbClr val="D8602A"/>
          </a:solidFill>
          <a:ln w="15875">
            <a:solidFill>
              <a:srgbClr val="D8602A"/>
            </a:solidFill>
          </a:ln>
        </p:spPr>
        <p:txBody>
          <a:bodyPr rtlCol="0" anchor="ctr"/>
          <a:lstStyle/>
          <a:p>
            <a:pPr algn="ctr"/>
          </a:p>
        </p:txBody>
      </p:sp>
      <p:cxnSp>
        <p:nvCxnSpPr>
          <p:cNvPr id="67" name="Connector 66"/>
          <p:cNvCxnSpPr/>
          <p:nvPr/>
        </p:nvCxnSpPr>
        <p:spPr>
          <a:xfrm>
            <a:off x="548640" y="4873752"/>
            <a:ext cx="11094415" cy="0"/>
          </a:xfrm>
          <a:prstGeom prst="line">
            <a:avLst/>
          </a:prstGeom>
          <a:ln w="9525">
            <a:solidFill>
              <a:srgbClr val="D1D5DB"/>
            </a:solidFill>
          </a:ln>
        </p:spPr>
      </p:cxnSp>
      <p:sp>
        <p:nvSpPr>
          <p:cNvPr id="68" name="TextBox 67"/>
          <p:cNvSpPr txBox="1"/>
          <p:nvPr/>
        </p:nvSpPr>
        <p:spPr>
          <a:xfrm>
            <a:off x="548640" y="4873752"/>
            <a:ext cx="1965960" cy="56692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Typical members</a:t>
            </a:r>
          </a:p>
        </p:txBody>
      </p:sp>
      <p:sp>
        <p:nvSpPr>
          <p:cNvPr id="69" name="TextBox 68"/>
          <p:cNvSpPr txBox="1"/>
          <p:nvPr/>
        </p:nvSpPr>
        <p:spPr>
          <a:xfrm>
            <a:off x="2651760"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family, colleagues, neighbours, bazaar traders</a:t>
            </a:r>
          </a:p>
        </p:txBody>
      </p:sp>
      <p:sp>
        <p:nvSpPr>
          <p:cNvPr id="70" name="TextBox 69"/>
          <p:cNvSpPr txBox="1"/>
          <p:nvPr/>
        </p:nvSpPr>
        <p:spPr>
          <a:xfrm>
            <a:off x="4157929"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people who do not know each other</a:t>
            </a:r>
          </a:p>
        </p:txBody>
      </p:sp>
      <p:sp>
        <p:nvSpPr>
          <p:cNvPr id="71" name="TextBox 70"/>
          <p:cNvSpPr txBox="1"/>
          <p:nvPr/>
        </p:nvSpPr>
        <p:spPr>
          <a:xfrm>
            <a:off x="5664098"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larger amounts</a:t>
            </a:r>
          </a:p>
        </p:txBody>
      </p:sp>
      <p:sp>
        <p:nvSpPr>
          <p:cNvPr id="72" name="TextBox 71"/>
          <p:cNvSpPr txBox="1"/>
          <p:nvPr/>
        </p:nvSpPr>
        <p:spPr>
          <a:xfrm>
            <a:off x="7170268"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buying a motorcycle or machine</a:t>
            </a:r>
          </a:p>
        </p:txBody>
      </p:sp>
      <p:sp>
        <p:nvSpPr>
          <p:cNvPr id="73" name="TextBox 72"/>
          <p:cNvSpPr txBox="1"/>
          <p:nvPr/>
        </p:nvSpPr>
        <p:spPr>
          <a:xfrm>
            <a:off x="8676437"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relatives in Pakistan and the UAE</a:t>
            </a:r>
          </a:p>
        </p:txBody>
      </p:sp>
      <p:sp>
        <p:nvSpPr>
          <p:cNvPr id="74" name="TextBox 73"/>
          <p:cNvSpPr txBox="1"/>
          <p:nvPr/>
        </p:nvSpPr>
        <p:spPr>
          <a:xfrm>
            <a:off x="10182606" y="4873752"/>
            <a:ext cx="1414729"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daily earners</a:t>
            </a:r>
          </a:p>
        </p:txBody>
      </p:sp>
      <p:cxnSp>
        <p:nvCxnSpPr>
          <p:cNvPr id="75" name="Connector 74"/>
          <p:cNvCxnSpPr/>
          <p:nvPr/>
        </p:nvCxnSpPr>
        <p:spPr>
          <a:xfrm>
            <a:off x="548640" y="5440680"/>
            <a:ext cx="11094415" cy="0"/>
          </a:xfrm>
          <a:prstGeom prst="line">
            <a:avLst/>
          </a:prstGeom>
          <a:ln w="9525">
            <a:solidFill>
              <a:srgbClr val="D1D5DB"/>
            </a:solidFill>
          </a:ln>
        </p:spPr>
      </p:cxnSp>
      <p:sp>
        <p:nvSpPr>
          <p:cNvPr id="76" name="Oval 75"/>
          <p:cNvSpPr/>
          <p:nvPr/>
        </p:nvSpPr>
        <p:spPr>
          <a:xfrm>
            <a:off x="562356" y="5591556"/>
            <a:ext cx="155448" cy="155448"/>
          </a:xfrm>
          <a:prstGeom prst="ellipse">
            <a:avLst/>
          </a:prstGeom>
          <a:solidFill>
            <a:srgbClr val="D8602A"/>
          </a:solidFill>
          <a:ln w="15875">
            <a:solidFill>
              <a:srgbClr val="D8602A"/>
            </a:solidFill>
          </a:ln>
        </p:spPr>
        <p:txBody>
          <a:bodyPr rtlCol="0" anchor="ctr"/>
          <a:lstStyle/>
          <a:p>
            <a:pPr algn="ctr"/>
          </a:p>
        </p:txBody>
      </p:sp>
      <p:sp>
        <p:nvSpPr>
          <p:cNvPr id="77" name="TextBox 76"/>
          <p:cNvSpPr txBox="1"/>
          <p:nvPr/>
        </p:nvSpPr>
        <p:spPr>
          <a:xfrm>
            <a:off x="795528" y="5550408"/>
            <a:ext cx="1005840" cy="237744"/>
          </a:xfrm>
          <a:prstGeom prst="rect">
            <a:avLst/>
          </a:prstGeom>
          <a:noFill/>
        </p:spPr>
        <p:txBody>
          <a:bodyPr wrap="square" lIns="0" tIns="0" rIns="0" bIns="0">
            <a:spAutoFit/>
          </a:bodyPr>
          <a:lstStyle/>
          <a:p>
            <a:pPr>
              <a:lnSpc>
                <a:spcPct val="105000"/>
              </a:lnSpc>
            </a:pPr>
            <a:r>
              <a:rPr sz="1000">
                <a:solidFill>
                  <a:srgbClr val="4B5563"/>
                </a:solidFill>
                <a:latin typeface="Arial"/>
              </a:rPr>
              <a:t>required</a:t>
            </a:r>
          </a:p>
        </p:txBody>
      </p:sp>
      <p:sp>
        <p:nvSpPr>
          <p:cNvPr id="78" name="Oval 77"/>
          <p:cNvSpPr/>
          <p:nvPr/>
        </p:nvSpPr>
        <p:spPr>
          <a:xfrm>
            <a:off x="1659636" y="5591556"/>
            <a:ext cx="155448" cy="155448"/>
          </a:xfrm>
          <a:prstGeom prst="ellipse">
            <a:avLst/>
          </a:prstGeom>
          <a:solidFill>
            <a:srgbClr val="FFFFFF"/>
          </a:solidFill>
          <a:ln w="15875">
            <a:solidFill>
              <a:srgbClr val="D8602A"/>
            </a:solidFill>
          </a:ln>
        </p:spPr>
        <p:txBody>
          <a:bodyPr rtlCol="0" anchor="ctr"/>
          <a:lstStyle/>
          <a:p>
            <a:pPr algn="ctr"/>
          </a:p>
        </p:txBody>
      </p:sp>
      <p:sp>
        <p:nvSpPr>
          <p:cNvPr id="79" name="TextBox 78"/>
          <p:cNvSpPr txBox="1"/>
          <p:nvPr/>
        </p:nvSpPr>
        <p:spPr>
          <a:xfrm>
            <a:off x="1892808"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not required</a:t>
            </a:r>
          </a:p>
        </p:txBody>
      </p:sp>
      <p:sp>
        <p:nvSpPr>
          <p:cNvPr id="80" name="Rectangle 79"/>
          <p:cNvSpPr/>
          <p:nvPr/>
        </p:nvSpPr>
        <p:spPr>
          <a:xfrm>
            <a:off x="3200400" y="5586984"/>
            <a:ext cx="155448" cy="155448"/>
          </a:xfrm>
          <a:prstGeom prst="rect">
            <a:avLst/>
          </a:prstGeom>
          <a:solidFill>
            <a:srgbClr val="EFA27A"/>
          </a:solidFill>
          <a:ln>
            <a:noFill/>
          </a:ln>
        </p:spPr>
        <p:txBody>
          <a:bodyPr rtlCol="0" anchor="ctr"/>
          <a:lstStyle/>
          <a:p>
            <a:pPr algn="ctr"/>
          </a:p>
        </p:txBody>
      </p:sp>
      <p:sp>
        <p:nvSpPr>
          <p:cNvPr id="81" name="TextBox 80"/>
          <p:cNvSpPr txBox="1"/>
          <p:nvPr/>
        </p:nvSpPr>
        <p:spPr>
          <a:xfrm>
            <a:off x="341985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1</a:t>
            </a:r>
          </a:p>
        </p:txBody>
      </p:sp>
      <p:sp>
        <p:nvSpPr>
          <p:cNvPr id="82" name="Rectangle 81"/>
          <p:cNvSpPr/>
          <p:nvPr/>
        </p:nvSpPr>
        <p:spPr>
          <a:xfrm>
            <a:off x="4526280" y="5586984"/>
            <a:ext cx="155448" cy="155448"/>
          </a:xfrm>
          <a:prstGeom prst="rect">
            <a:avLst/>
          </a:prstGeom>
          <a:solidFill>
            <a:srgbClr val="D8602A"/>
          </a:solidFill>
          <a:ln>
            <a:noFill/>
          </a:ln>
        </p:spPr>
        <p:txBody>
          <a:bodyPr rtlCol="0" anchor="ctr"/>
          <a:lstStyle/>
          <a:p>
            <a:pPr algn="ctr"/>
          </a:p>
        </p:txBody>
      </p:sp>
      <p:sp>
        <p:nvSpPr>
          <p:cNvPr id="83" name="TextBox 82"/>
          <p:cNvSpPr txBox="1"/>
          <p:nvPr/>
        </p:nvSpPr>
        <p:spPr>
          <a:xfrm>
            <a:off x="474573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2</a:t>
            </a:r>
          </a:p>
        </p:txBody>
      </p:sp>
      <p:sp>
        <p:nvSpPr>
          <p:cNvPr id="84" name="Rectangle 83"/>
          <p:cNvSpPr/>
          <p:nvPr/>
        </p:nvSpPr>
        <p:spPr>
          <a:xfrm>
            <a:off x="5852160" y="5586984"/>
            <a:ext cx="155448" cy="155448"/>
          </a:xfrm>
          <a:prstGeom prst="rect">
            <a:avLst/>
          </a:prstGeom>
          <a:solidFill>
            <a:srgbClr val="9E3F17"/>
          </a:solidFill>
          <a:ln>
            <a:noFill/>
          </a:ln>
        </p:spPr>
        <p:txBody>
          <a:bodyPr rtlCol="0" anchor="ctr"/>
          <a:lstStyle/>
          <a:p>
            <a:pPr algn="ctr"/>
          </a:p>
        </p:txBody>
      </p:sp>
      <p:sp>
        <p:nvSpPr>
          <p:cNvPr id="85" name="TextBox 84"/>
          <p:cNvSpPr txBox="1"/>
          <p:nvPr/>
        </p:nvSpPr>
        <p:spPr>
          <a:xfrm>
            <a:off x="607161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3</a:t>
            </a:r>
          </a:p>
        </p:txBody>
      </p:sp>
      <p:sp>
        <p:nvSpPr>
          <p:cNvPr id="86" name="TextBox 85"/>
          <p:cNvSpPr txBox="1"/>
          <p:nvPr/>
        </p:nvSpPr>
        <p:spPr>
          <a:xfrm>
            <a:off x="7269480" y="5550408"/>
            <a:ext cx="4373575" cy="237744"/>
          </a:xfrm>
          <a:prstGeom prst="rect">
            <a:avLst/>
          </a:prstGeom>
          <a:noFill/>
        </p:spPr>
        <p:txBody>
          <a:bodyPr wrap="square" lIns="0" tIns="0" rIns="0" bIns="0">
            <a:spAutoFit/>
          </a:bodyPr>
          <a:lstStyle/>
          <a:p>
            <a:pPr>
              <a:lnSpc>
                <a:spcPct val="105000"/>
              </a:lnSpc>
            </a:pPr>
            <a:r>
              <a:rPr sz="1000">
                <a:solidFill>
                  <a:srgbClr val="4B5563"/>
                </a:solidFill>
                <a:latin typeface="Arial"/>
              </a:rPr>
              <a:t>In every type, early turns must be earned.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Hyper Daily Committee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Experimental: a daily circle for daily earners, in two designs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14</a:t>
            </a:r>
          </a:p>
        </p:txBody>
      </p:sp>
      <p:sp>
        <p:nvSpPr>
          <p:cNvPr id="6" name="TextBox 5"/>
          <p:cNvSpPr txBox="1"/>
          <p:nvPr/>
        </p:nvSpPr>
        <p:spPr>
          <a:xfrm>
            <a:off x="548640" y="1481328"/>
            <a:ext cx="65836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Daily payment by design</a:t>
            </a:r>
            <a:r>
              <a:rPr sz="1100">
                <a:solidFill>
                  <a:srgbClr val="6B7280"/>
                </a:solidFill>
                <a:latin typeface="Arial"/>
              </a:rPr>
              <a:t>   Rs a day</a:t>
            </a:r>
          </a:p>
        </p:txBody>
      </p:sp>
      <p:sp>
        <p:nvSpPr>
          <p:cNvPr id="7" name="TextBox 6"/>
          <p:cNvSpPr txBox="1"/>
          <p:nvPr/>
        </p:nvSpPr>
        <p:spPr>
          <a:xfrm>
            <a:off x="548640" y="1874520"/>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1</a:t>
            </a:r>
          </a:p>
        </p:txBody>
      </p:sp>
      <p:sp>
        <p:nvSpPr>
          <p:cNvPr id="8" name="Rectangle 7"/>
          <p:cNvSpPr/>
          <p:nvPr/>
        </p:nvSpPr>
        <p:spPr>
          <a:xfrm>
            <a:off x="1645920" y="1874520"/>
            <a:ext cx="2331720" cy="457200"/>
          </a:xfrm>
          <a:prstGeom prst="rect">
            <a:avLst/>
          </a:prstGeom>
          <a:solidFill>
            <a:srgbClr val="2A78D6"/>
          </a:solidFill>
          <a:ln>
            <a:noFill/>
          </a:ln>
        </p:spPr>
        <p:txBody>
          <a:bodyPr rtlCol="0" anchor="ctr"/>
          <a:lstStyle/>
          <a:p>
            <a:pPr algn="ctr"/>
          </a:p>
        </p:txBody>
      </p:sp>
      <p:sp>
        <p:nvSpPr>
          <p:cNvPr id="9" name="TextBox 8"/>
          <p:cNvSpPr txBox="1"/>
          <p:nvPr/>
        </p:nvSpPr>
        <p:spPr>
          <a:xfrm>
            <a:off x="1719072" y="1874520"/>
            <a:ext cx="2212848"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300 contribution</a:t>
            </a:r>
          </a:p>
        </p:txBody>
      </p:sp>
      <p:sp>
        <p:nvSpPr>
          <p:cNvPr id="10" name="Rectangle 9"/>
          <p:cNvSpPr/>
          <p:nvPr/>
        </p:nvSpPr>
        <p:spPr>
          <a:xfrm>
            <a:off x="4005072" y="1874520"/>
            <a:ext cx="1034186" cy="457200"/>
          </a:xfrm>
          <a:prstGeom prst="rect">
            <a:avLst/>
          </a:prstGeom>
          <a:solidFill>
            <a:srgbClr val="0E9384"/>
          </a:solidFill>
          <a:ln>
            <a:noFill/>
          </a:ln>
        </p:spPr>
        <p:txBody>
          <a:bodyPr rtlCol="0" anchor="ctr"/>
          <a:lstStyle/>
          <a:p>
            <a:pPr algn="ctr"/>
          </a:p>
        </p:txBody>
      </p:sp>
      <p:sp>
        <p:nvSpPr>
          <p:cNvPr id="11" name="TextBox 10"/>
          <p:cNvSpPr txBox="1"/>
          <p:nvPr/>
        </p:nvSpPr>
        <p:spPr>
          <a:xfrm>
            <a:off x="4078224" y="1874520"/>
            <a:ext cx="915314"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135</a:t>
            </a:r>
          </a:p>
        </p:txBody>
      </p:sp>
      <p:sp>
        <p:nvSpPr>
          <p:cNvPr id="12" name="Rectangle 11"/>
          <p:cNvSpPr/>
          <p:nvPr/>
        </p:nvSpPr>
        <p:spPr>
          <a:xfrm>
            <a:off x="5066690" y="1874520"/>
            <a:ext cx="90526" cy="457200"/>
          </a:xfrm>
          <a:prstGeom prst="rect">
            <a:avLst/>
          </a:prstGeom>
          <a:solidFill>
            <a:srgbClr val="D8602A"/>
          </a:solidFill>
          <a:ln>
            <a:noFill/>
          </a:ln>
        </p:spPr>
        <p:txBody>
          <a:bodyPr rtlCol="0" anchor="ctr"/>
          <a:lstStyle/>
          <a:p>
            <a:pPr algn="ctr"/>
          </a:p>
        </p:txBody>
      </p:sp>
      <p:sp>
        <p:nvSpPr>
          <p:cNvPr id="13" name="TextBox 12"/>
          <p:cNvSpPr txBox="1"/>
          <p:nvPr/>
        </p:nvSpPr>
        <p:spPr>
          <a:xfrm>
            <a:off x="5276088" y="1874520"/>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450 a day</a:t>
            </a:r>
          </a:p>
        </p:txBody>
      </p:sp>
      <p:sp>
        <p:nvSpPr>
          <p:cNvPr id="14" name="TextBox 13"/>
          <p:cNvSpPr txBox="1"/>
          <p:nvPr/>
        </p:nvSpPr>
        <p:spPr>
          <a:xfrm>
            <a:off x="548640" y="2587752"/>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2</a:t>
            </a:r>
          </a:p>
        </p:txBody>
      </p:sp>
      <p:sp>
        <p:nvSpPr>
          <p:cNvPr id="15" name="Rectangle 14"/>
          <p:cNvSpPr/>
          <p:nvPr/>
        </p:nvSpPr>
        <p:spPr>
          <a:xfrm>
            <a:off x="1645920" y="2587752"/>
            <a:ext cx="2593822" cy="457200"/>
          </a:xfrm>
          <a:prstGeom prst="rect">
            <a:avLst/>
          </a:prstGeom>
          <a:solidFill>
            <a:srgbClr val="2A78D6"/>
          </a:solidFill>
          <a:ln>
            <a:noFill/>
          </a:ln>
        </p:spPr>
        <p:txBody>
          <a:bodyPr rtlCol="0" anchor="ctr"/>
          <a:lstStyle/>
          <a:p>
            <a:pPr algn="ctr"/>
          </a:p>
        </p:txBody>
      </p:sp>
      <p:sp>
        <p:nvSpPr>
          <p:cNvPr id="16" name="TextBox 15"/>
          <p:cNvSpPr txBox="1"/>
          <p:nvPr/>
        </p:nvSpPr>
        <p:spPr>
          <a:xfrm>
            <a:off x="1719072" y="2587752"/>
            <a:ext cx="2474950"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333.33 contribution</a:t>
            </a:r>
          </a:p>
        </p:txBody>
      </p:sp>
      <p:sp>
        <p:nvSpPr>
          <p:cNvPr id="17" name="Rectangle 16"/>
          <p:cNvSpPr/>
          <p:nvPr/>
        </p:nvSpPr>
        <p:spPr>
          <a:xfrm>
            <a:off x="4267174" y="2587752"/>
            <a:ext cx="1165277" cy="457200"/>
          </a:xfrm>
          <a:prstGeom prst="rect">
            <a:avLst/>
          </a:prstGeom>
          <a:solidFill>
            <a:srgbClr val="0E9384"/>
          </a:solidFill>
          <a:ln>
            <a:noFill/>
          </a:ln>
        </p:spPr>
        <p:txBody>
          <a:bodyPr rtlCol="0" anchor="ctr"/>
          <a:lstStyle/>
          <a:p>
            <a:pPr algn="ctr"/>
          </a:p>
        </p:txBody>
      </p:sp>
      <p:sp>
        <p:nvSpPr>
          <p:cNvPr id="18" name="TextBox 17"/>
          <p:cNvSpPr txBox="1"/>
          <p:nvPr/>
        </p:nvSpPr>
        <p:spPr>
          <a:xfrm>
            <a:off x="4340326" y="2587752"/>
            <a:ext cx="1046405"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151.67</a:t>
            </a:r>
          </a:p>
        </p:txBody>
      </p:sp>
      <p:sp>
        <p:nvSpPr>
          <p:cNvPr id="19" name="Rectangle 18"/>
          <p:cNvSpPr/>
          <p:nvPr/>
        </p:nvSpPr>
        <p:spPr>
          <a:xfrm>
            <a:off x="5459882" y="2587752"/>
            <a:ext cx="90526" cy="457200"/>
          </a:xfrm>
          <a:prstGeom prst="rect">
            <a:avLst/>
          </a:prstGeom>
          <a:solidFill>
            <a:srgbClr val="D8602A"/>
          </a:solidFill>
          <a:ln>
            <a:noFill/>
          </a:ln>
        </p:spPr>
        <p:txBody>
          <a:bodyPr rtlCol="0" anchor="ctr"/>
          <a:lstStyle/>
          <a:p>
            <a:pPr algn="ctr"/>
          </a:p>
        </p:txBody>
      </p:sp>
      <p:sp>
        <p:nvSpPr>
          <p:cNvPr id="20" name="TextBox 19"/>
          <p:cNvSpPr txBox="1"/>
          <p:nvPr/>
        </p:nvSpPr>
        <p:spPr>
          <a:xfrm>
            <a:off x="5669280" y="2587752"/>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500 a day</a:t>
            </a:r>
          </a:p>
        </p:txBody>
      </p:sp>
      <p:sp>
        <p:nvSpPr>
          <p:cNvPr id="21" name="Rectangle 20"/>
          <p:cNvSpPr/>
          <p:nvPr/>
        </p:nvSpPr>
        <p:spPr>
          <a:xfrm>
            <a:off x="548640" y="3346704"/>
            <a:ext cx="155448" cy="155448"/>
          </a:xfrm>
          <a:prstGeom prst="rect">
            <a:avLst/>
          </a:prstGeom>
          <a:solidFill>
            <a:srgbClr val="2A78D6"/>
          </a:solidFill>
          <a:ln>
            <a:noFill/>
          </a:ln>
        </p:spPr>
        <p:txBody>
          <a:bodyPr rtlCol="0" anchor="ctr"/>
          <a:lstStyle/>
          <a:p>
            <a:pPr algn="ctr"/>
          </a:p>
        </p:txBody>
      </p:sp>
      <p:sp>
        <p:nvSpPr>
          <p:cNvPr id="22" name="TextBox 21"/>
          <p:cNvSpPr txBox="1"/>
          <p:nvPr/>
        </p:nvSpPr>
        <p:spPr>
          <a:xfrm>
            <a:off x="777240" y="3310128"/>
            <a:ext cx="1689811" cy="237744"/>
          </a:xfrm>
          <a:prstGeom prst="rect">
            <a:avLst/>
          </a:prstGeom>
          <a:noFill/>
        </p:spPr>
        <p:txBody>
          <a:bodyPr wrap="square" lIns="0" tIns="0" rIns="0" bIns="0">
            <a:spAutoFit/>
          </a:bodyPr>
          <a:lstStyle/>
          <a:p>
            <a:pPr>
              <a:lnSpc>
                <a:spcPct val="105000"/>
              </a:lnSpc>
            </a:pPr>
            <a:r>
              <a:rPr sz="1000">
                <a:solidFill>
                  <a:srgbClr val="4B5563"/>
                </a:solidFill>
                <a:latin typeface="Arial"/>
              </a:rPr>
              <a:t>contribution, to the pot</a:t>
            </a:r>
          </a:p>
        </p:txBody>
      </p:sp>
      <p:sp>
        <p:nvSpPr>
          <p:cNvPr id="23" name="Rectangle 22"/>
          <p:cNvSpPr/>
          <p:nvPr/>
        </p:nvSpPr>
        <p:spPr>
          <a:xfrm>
            <a:off x="2759659" y="3346704"/>
            <a:ext cx="155448" cy="155448"/>
          </a:xfrm>
          <a:prstGeom prst="rect">
            <a:avLst/>
          </a:prstGeom>
          <a:solidFill>
            <a:srgbClr val="0E9384"/>
          </a:solidFill>
          <a:ln>
            <a:noFill/>
          </a:ln>
        </p:spPr>
        <p:txBody>
          <a:bodyPr rtlCol="0" anchor="ctr"/>
          <a:lstStyle/>
          <a:p>
            <a:pPr algn="ctr"/>
          </a:p>
        </p:txBody>
      </p:sp>
      <p:sp>
        <p:nvSpPr>
          <p:cNvPr id="24" name="TextBox 23"/>
          <p:cNvSpPr txBox="1"/>
          <p:nvPr/>
        </p:nvSpPr>
        <p:spPr>
          <a:xfrm>
            <a:off x="2988259" y="3310128"/>
            <a:ext cx="1426464" cy="237744"/>
          </a:xfrm>
          <a:prstGeom prst="rect">
            <a:avLst/>
          </a:prstGeom>
          <a:noFill/>
        </p:spPr>
        <p:txBody>
          <a:bodyPr wrap="square" lIns="0" tIns="0" rIns="0" bIns="0">
            <a:spAutoFit/>
          </a:bodyPr>
          <a:lstStyle/>
          <a:p>
            <a:pPr>
              <a:lnSpc>
                <a:spcPct val="105000"/>
              </a:lnSpc>
            </a:pPr>
            <a:r>
              <a:rPr sz="1000">
                <a:solidFill>
                  <a:srgbClr val="4B5563"/>
                </a:solidFill>
                <a:latin typeface="Arial"/>
              </a:rPr>
              <a:t>takaful or insurance</a:t>
            </a:r>
          </a:p>
        </p:txBody>
      </p:sp>
      <p:sp>
        <p:nvSpPr>
          <p:cNvPr id="25" name="Rectangle 24"/>
          <p:cNvSpPr/>
          <p:nvPr/>
        </p:nvSpPr>
        <p:spPr>
          <a:xfrm>
            <a:off x="4707331" y="3346704"/>
            <a:ext cx="155448" cy="155448"/>
          </a:xfrm>
          <a:prstGeom prst="rect">
            <a:avLst/>
          </a:prstGeom>
          <a:solidFill>
            <a:srgbClr val="D8602A"/>
          </a:solidFill>
          <a:ln>
            <a:noFill/>
          </a:ln>
        </p:spPr>
        <p:txBody>
          <a:bodyPr rtlCol="0" anchor="ctr"/>
          <a:lstStyle/>
          <a:p>
            <a:pPr algn="ctr"/>
          </a:p>
        </p:txBody>
      </p:sp>
      <p:sp>
        <p:nvSpPr>
          <p:cNvPr id="26" name="TextBox 25"/>
          <p:cNvSpPr txBox="1"/>
          <p:nvPr/>
        </p:nvSpPr>
        <p:spPr>
          <a:xfrm>
            <a:off x="4935931" y="3310128"/>
            <a:ext cx="1163117" cy="237744"/>
          </a:xfrm>
          <a:prstGeom prst="rect">
            <a:avLst/>
          </a:prstGeom>
          <a:noFill/>
        </p:spPr>
        <p:txBody>
          <a:bodyPr wrap="square" lIns="0" tIns="0" rIns="0" bIns="0">
            <a:spAutoFit/>
          </a:bodyPr>
          <a:lstStyle/>
          <a:p>
            <a:pPr>
              <a:lnSpc>
                <a:spcPct val="105000"/>
              </a:lnSpc>
            </a:pPr>
            <a:r>
              <a:rPr sz="1000">
                <a:solidFill>
                  <a:srgbClr val="4B5563"/>
                </a:solidFill>
                <a:latin typeface="Arial"/>
              </a:rPr>
              <a:t>fee, Rs 15 a day</a:t>
            </a:r>
          </a:p>
        </p:txBody>
      </p:sp>
      <p:sp>
        <p:nvSpPr>
          <p:cNvPr id="27" name="TextBox 26"/>
          <p:cNvSpPr txBox="1"/>
          <p:nvPr/>
        </p:nvSpPr>
        <p:spPr>
          <a:xfrm>
            <a:off x="548640" y="3794760"/>
            <a:ext cx="2651760" cy="274320"/>
          </a:xfrm>
          <a:prstGeom prst="rect">
            <a:avLst/>
          </a:prstGeom>
          <a:noFill/>
        </p:spPr>
        <p:txBody>
          <a:bodyPr wrap="square" lIns="0" tIns="0" rIns="0" bIns="0">
            <a:spAutoFit/>
          </a:bodyPr>
          <a:lstStyle/>
          <a:p>
            <a:pPr>
              <a:lnSpc>
                <a:spcPct val="105000"/>
              </a:lnSpc>
            </a:pPr>
          </a:p>
        </p:txBody>
      </p:sp>
      <p:sp>
        <p:nvSpPr>
          <p:cNvPr id="28" name="TextBox 27"/>
          <p:cNvSpPr txBox="1"/>
          <p:nvPr/>
        </p:nvSpPr>
        <p:spPr>
          <a:xfrm>
            <a:off x="320040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1</a:t>
            </a:r>
          </a:p>
        </p:txBody>
      </p:sp>
      <p:sp>
        <p:nvSpPr>
          <p:cNvPr id="29" name="TextBox 28"/>
          <p:cNvSpPr txBox="1"/>
          <p:nvPr/>
        </p:nvSpPr>
        <p:spPr>
          <a:xfrm>
            <a:off x="470916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2</a:t>
            </a:r>
          </a:p>
        </p:txBody>
      </p:sp>
      <p:cxnSp>
        <p:nvCxnSpPr>
          <p:cNvPr id="30" name="Connector 29"/>
          <p:cNvCxnSpPr/>
          <p:nvPr/>
        </p:nvCxnSpPr>
        <p:spPr>
          <a:xfrm>
            <a:off x="548640" y="4087368"/>
            <a:ext cx="5669280" cy="0"/>
          </a:xfrm>
          <a:prstGeom prst="line">
            <a:avLst/>
          </a:prstGeom>
          <a:ln w="9525">
            <a:solidFill>
              <a:srgbClr val="0C1408"/>
            </a:solidFill>
          </a:ln>
        </p:spPr>
      </p:cxnSp>
      <p:sp>
        <p:nvSpPr>
          <p:cNvPr id="31" name="TextBox 30"/>
          <p:cNvSpPr txBox="1"/>
          <p:nvPr/>
        </p:nvSpPr>
        <p:spPr>
          <a:xfrm>
            <a:off x="548640" y="412394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Members</a:t>
            </a:r>
          </a:p>
        </p:txBody>
      </p:sp>
      <p:sp>
        <p:nvSpPr>
          <p:cNvPr id="32" name="TextBox 31"/>
          <p:cNvSpPr txBox="1"/>
          <p:nvPr/>
        </p:nvSpPr>
        <p:spPr>
          <a:xfrm>
            <a:off x="320040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400</a:t>
            </a:r>
          </a:p>
        </p:txBody>
      </p:sp>
      <p:sp>
        <p:nvSpPr>
          <p:cNvPr id="33" name="TextBox 32"/>
          <p:cNvSpPr txBox="1"/>
          <p:nvPr/>
        </p:nvSpPr>
        <p:spPr>
          <a:xfrm>
            <a:off x="470916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390</a:t>
            </a:r>
          </a:p>
        </p:txBody>
      </p:sp>
      <p:cxnSp>
        <p:nvCxnSpPr>
          <p:cNvPr id="34" name="Connector 33"/>
          <p:cNvCxnSpPr/>
          <p:nvPr/>
        </p:nvCxnSpPr>
        <p:spPr>
          <a:xfrm>
            <a:off x="548640" y="4398264"/>
            <a:ext cx="5669280" cy="0"/>
          </a:xfrm>
          <a:prstGeom prst="line">
            <a:avLst/>
          </a:prstGeom>
          <a:ln w="6350">
            <a:solidFill>
              <a:srgbClr val="D1D5DB"/>
            </a:solidFill>
          </a:ln>
        </p:spPr>
      </p:cxnSp>
      <p:sp>
        <p:nvSpPr>
          <p:cNvPr id="35" name="TextBox 34"/>
          <p:cNvSpPr txBox="1"/>
          <p:nvPr/>
        </p:nvSpPr>
        <p:spPr>
          <a:xfrm>
            <a:off x="548640" y="440740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days</a:t>
            </a:r>
          </a:p>
        </p:txBody>
      </p:sp>
      <p:sp>
        <p:nvSpPr>
          <p:cNvPr id="36" name="TextBox 35"/>
          <p:cNvSpPr txBox="1"/>
          <p:nvPr/>
        </p:nvSpPr>
        <p:spPr>
          <a:xfrm>
            <a:off x="320040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50</a:t>
            </a:r>
          </a:p>
        </p:txBody>
      </p:sp>
      <p:sp>
        <p:nvSpPr>
          <p:cNvPr id="37" name="TextBox 36"/>
          <p:cNvSpPr txBox="1"/>
          <p:nvPr/>
        </p:nvSpPr>
        <p:spPr>
          <a:xfrm>
            <a:off x="470916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26, Sundays off</a:t>
            </a:r>
          </a:p>
        </p:txBody>
      </p:sp>
      <p:cxnSp>
        <p:nvCxnSpPr>
          <p:cNvPr id="38" name="Connector 37"/>
          <p:cNvCxnSpPr/>
          <p:nvPr/>
        </p:nvCxnSpPr>
        <p:spPr>
          <a:xfrm>
            <a:off x="548640" y="4681728"/>
            <a:ext cx="5669280" cy="0"/>
          </a:xfrm>
          <a:prstGeom prst="line">
            <a:avLst/>
          </a:prstGeom>
          <a:ln w="6350">
            <a:solidFill>
              <a:srgbClr val="D1D5DB"/>
            </a:solidFill>
          </a:ln>
        </p:spPr>
      </p:cxnSp>
      <p:sp>
        <p:nvSpPr>
          <p:cNvPr id="39" name="TextBox 38"/>
          <p:cNvSpPr txBox="1"/>
          <p:nvPr/>
        </p:nvSpPr>
        <p:spPr>
          <a:xfrm>
            <a:off x="548640" y="4690872"/>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each day</a:t>
            </a:r>
          </a:p>
        </p:txBody>
      </p:sp>
      <p:sp>
        <p:nvSpPr>
          <p:cNvPr id="40" name="TextBox 39"/>
          <p:cNvSpPr txBox="1"/>
          <p:nvPr/>
        </p:nvSpPr>
        <p:spPr>
          <a:xfrm>
            <a:off x="320040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8</a:t>
            </a:r>
          </a:p>
        </p:txBody>
      </p:sp>
      <p:sp>
        <p:nvSpPr>
          <p:cNvPr id="41" name="TextBox 40"/>
          <p:cNvSpPr txBox="1"/>
          <p:nvPr/>
        </p:nvSpPr>
        <p:spPr>
          <a:xfrm>
            <a:off x="470916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15</a:t>
            </a:r>
          </a:p>
        </p:txBody>
      </p:sp>
      <p:cxnSp>
        <p:nvCxnSpPr>
          <p:cNvPr id="42" name="Connector 41"/>
          <p:cNvCxnSpPr/>
          <p:nvPr/>
        </p:nvCxnSpPr>
        <p:spPr>
          <a:xfrm>
            <a:off x="548640" y="4965192"/>
            <a:ext cx="5669280" cy="0"/>
          </a:xfrm>
          <a:prstGeom prst="line">
            <a:avLst/>
          </a:prstGeom>
          <a:ln w="6350">
            <a:solidFill>
              <a:srgbClr val="D1D5DB"/>
            </a:solidFill>
          </a:ln>
        </p:spPr>
      </p:cxnSp>
      <p:sp>
        <p:nvSpPr>
          <p:cNvPr id="43" name="TextBox 42"/>
          <p:cNvSpPr txBox="1"/>
          <p:nvPr/>
        </p:nvSpPr>
        <p:spPr>
          <a:xfrm>
            <a:off x="548640" y="4974336"/>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Pot</a:t>
            </a:r>
          </a:p>
        </p:txBody>
      </p:sp>
      <p:sp>
        <p:nvSpPr>
          <p:cNvPr id="44" name="TextBox 43"/>
          <p:cNvSpPr txBox="1"/>
          <p:nvPr/>
        </p:nvSpPr>
        <p:spPr>
          <a:xfrm>
            <a:off x="320040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15,000</a:t>
            </a:r>
          </a:p>
        </p:txBody>
      </p:sp>
      <p:sp>
        <p:nvSpPr>
          <p:cNvPr id="45" name="TextBox 44"/>
          <p:cNvSpPr txBox="1"/>
          <p:nvPr/>
        </p:nvSpPr>
        <p:spPr>
          <a:xfrm>
            <a:off x="470916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8,666.67</a:t>
            </a:r>
          </a:p>
        </p:txBody>
      </p:sp>
      <p:cxnSp>
        <p:nvCxnSpPr>
          <p:cNvPr id="46" name="Connector 45"/>
          <p:cNvCxnSpPr/>
          <p:nvPr/>
        </p:nvCxnSpPr>
        <p:spPr>
          <a:xfrm>
            <a:off x="548640" y="5248656"/>
            <a:ext cx="5669280" cy="0"/>
          </a:xfrm>
          <a:prstGeom prst="line">
            <a:avLst/>
          </a:prstGeom>
          <a:ln w="6350">
            <a:solidFill>
              <a:srgbClr val="D1D5DB"/>
            </a:solidFill>
          </a:ln>
        </p:spPr>
      </p:cxnSp>
      <p:sp>
        <p:nvSpPr>
          <p:cNvPr id="47" name="TextBox 46"/>
          <p:cNvSpPr txBox="1"/>
          <p:nvPr/>
        </p:nvSpPr>
        <p:spPr>
          <a:xfrm>
            <a:off x="548640" y="5257800"/>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a member, whole circle</a:t>
            </a:r>
          </a:p>
        </p:txBody>
      </p:sp>
      <p:sp>
        <p:nvSpPr>
          <p:cNvPr id="48" name="TextBox 47"/>
          <p:cNvSpPr txBox="1"/>
          <p:nvPr/>
        </p:nvSpPr>
        <p:spPr>
          <a:xfrm>
            <a:off x="320040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750</a:t>
            </a:r>
          </a:p>
        </p:txBody>
      </p:sp>
      <p:sp>
        <p:nvSpPr>
          <p:cNvPr id="49" name="TextBox 48"/>
          <p:cNvSpPr txBox="1"/>
          <p:nvPr/>
        </p:nvSpPr>
        <p:spPr>
          <a:xfrm>
            <a:off x="470916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390</a:t>
            </a:r>
          </a:p>
        </p:txBody>
      </p:sp>
      <p:cxnSp>
        <p:nvCxnSpPr>
          <p:cNvPr id="50" name="Connector 49"/>
          <p:cNvCxnSpPr/>
          <p:nvPr/>
        </p:nvCxnSpPr>
        <p:spPr>
          <a:xfrm>
            <a:off x="548640" y="5532120"/>
            <a:ext cx="5669280" cy="0"/>
          </a:xfrm>
          <a:prstGeom prst="line">
            <a:avLst/>
          </a:prstGeom>
          <a:ln w="6350">
            <a:solidFill>
              <a:srgbClr val="D1D5DB"/>
            </a:solidFill>
          </a:ln>
        </p:spPr>
      </p:cxnSp>
      <p:sp>
        <p:nvSpPr>
          <p:cNvPr id="51" name="TextBox 50"/>
          <p:cNvSpPr txBox="1"/>
          <p:nvPr/>
        </p:nvSpPr>
        <p:spPr>
          <a:xfrm>
            <a:off x="548640" y="554126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whole circle</a:t>
            </a:r>
          </a:p>
        </p:txBody>
      </p:sp>
      <p:sp>
        <p:nvSpPr>
          <p:cNvPr id="52" name="TextBox 51"/>
          <p:cNvSpPr txBox="1"/>
          <p:nvPr/>
        </p:nvSpPr>
        <p:spPr>
          <a:xfrm>
            <a:off x="320040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300,000</a:t>
            </a:r>
          </a:p>
        </p:txBody>
      </p:sp>
      <p:sp>
        <p:nvSpPr>
          <p:cNvPr id="53" name="TextBox 52"/>
          <p:cNvSpPr txBox="1"/>
          <p:nvPr/>
        </p:nvSpPr>
        <p:spPr>
          <a:xfrm>
            <a:off x="470916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152,100</a:t>
            </a:r>
          </a:p>
        </p:txBody>
      </p:sp>
      <p:cxnSp>
        <p:nvCxnSpPr>
          <p:cNvPr id="54" name="Connector 53"/>
          <p:cNvCxnSpPr/>
          <p:nvPr/>
        </p:nvCxnSpPr>
        <p:spPr>
          <a:xfrm>
            <a:off x="548640" y="5815584"/>
            <a:ext cx="5669280" cy="0"/>
          </a:xfrm>
          <a:prstGeom prst="line">
            <a:avLst/>
          </a:prstGeom>
          <a:ln w="6350">
            <a:solidFill>
              <a:srgbClr val="D1D5DB"/>
            </a:solidFill>
          </a:ln>
        </p:spPr>
      </p:cxnSp>
      <p:sp>
        <p:nvSpPr>
          <p:cNvPr id="55" name="TextBox 54"/>
          <p:cNvSpPr txBox="1"/>
          <p:nvPr/>
        </p:nvSpPr>
        <p:spPr>
          <a:xfrm>
            <a:off x="548640" y="582472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Takaful or insurance a member</a:t>
            </a:r>
          </a:p>
        </p:txBody>
      </p:sp>
      <p:sp>
        <p:nvSpPr>
          <p:cNvPr id="56" name="TextBox 55"/>
          <p:cNvSpPr txBox="1"/>
          <p:nvPr/>
        </p:nvSpPr>
        <p:spPr>
          <a:xfrm>
            <a:off x="320040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6,750</a:t>
            </a:r>
          </a:p>
        </p:txBody>
      </p:sp>
      <p:sp>
        <p:nvSpPr>
          <p:cNvPr id="57" name="TextBox 56"/>
          <p:cNvSpPr txBox="1"/>
          <p:nvPr/>
        </p:nvSpPr>
        <p:spPr>
          <a:xfrm>
            <a:off x="470916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3,943.33</a:t>
            </a:r>
          </a:p>
        </p:txBody>
      </p:sp>
      <p:cxnSp>
        <p:nvCxnSpPr>
          <p:cNvPr id="58" name="Connector 57"/>
          <p:cNvCxnSpPr/>
          <p:nvPr/>
        </p:nvCxnSpPr>
        <p:spPr>
          <a:xfrm>
            <a:off x="548640" y="6099048"/>
            <a:ext cx="5669280" cy="0"/>
          </a:xfrm>
          <a:prstGeom prst="line">
            <a:avLst/>
          </a:prstGeom>
          <a:ln w="6350">
            <a:solidFill>
              <a:srgbClr val="D1D5DB"/>
            </a:solidFill>
          </a:ln>
        </p:spPr>
      </p:cxnSp>
      <p:sp>
        <p:nvSpPr>
          <p:cNvPr id="59" name="Rectangle 58"/>
          <p:cNvSpPr/>
          <p:nvPr/>
        </p:nvSpPr>
        <p:spPr>
          <a:xfrm>
            <a:off x="6720840" y="1536192"/>
            <a:ext cx="4922215" cy="4617720"/>
          </a:xfrm>
          <a:prstGeom prst="rect">
            <a:avLst/>
          </a:prstGeom>
          <a:solidFill>
            <a:srgbClr val="F3F4F6"/>
          </a:solidFill>
          <a:ln>
            <a:noFill/>
          </a:ln>
        </p:spPr>
        <p:txBody>
          <a:bodyPr rtlCol="0" anchor="ctr"/>
          <a:lstStyle/>
          <a:p>
            <a:pPr algn="ctr"/>
          </a:p>
        </p:txBody>
      </p:sp>
      <p:sp>
        <p:nvSpPr>
          <p:cNvPr id="60" name="TextBox 59"/>
          <p:cNvSpPr txBox="1"/>
          <p:nvPr/>
        </p:nvSpPr>
        <p:spPr>
          <a:xfrm>
            <a:off x="6949440" y="1664208"/>
            <a:ext cx="4465015" cy="274320"/>
          </a:xfrm>
          <a:prstGeom prst="rect">
            <a:avLst/>
          </a:prstGeom>
          <a:noFill/>
        </p:spPr>
        <p:txBody>
          <a:bodyPr wrap="square" lIns="0" tIns="0" rIns="0" bIns="0">
            <a:spAutoFit/>
          </a:bodyPr>
          <a:lstStyle/>
          <a:p>
            <a:pPr>
              <a:lnSpc>
                <a:spcPct val="105000"/>
              </a:lnSpc>
            </a:pPr>
            <a:r>
              <a:rPr sz="1300" b="1">
                <a:solidFill>
                  <a:srgbClr val="0C1408"/>
                </a:solidFill>
                <a:latin typeface="Arial"/>
              </a:rPr>
              <a:t>Controls</a:t>
            </a:r>
          </a:p>
        </p:txBody>
      </p:sp>
      <p:sp>
        <p:nvSpPr>
          <p:cNvPr id="61" name="TextBox 60"/>
          <p:cNvSpPr txBox="1"/>
          <p:nvPr/>
        </p:nvSpPr>
        <p:spPr>
          <a:xfrm>
            <a:off x="6949440" y="2057400"/>
            <a:ext cx="4465015" cy="3931920"/>
          </a:xfrm>
          <a:prstGeom prst="rect">
            <a:avLst/>
          </a:prstGeom>
          <a:noFill/>
        </p:spPr>
        <p:txBody>
          <a:bodyPr wrap="square" lIns="0" tIns="0" rIns="0" bIns="0">
            <a:spAutoFit/>
          </a:bodyPr>
          <a:lstStyle/>
          <a:p>
            <a:pPr marL="173736" indent="-173736">
              <a:lnSpc>
                <a:spcPct val="104000"/>
              </a:lnSpc>
              <a:spcAft>
                <a:spcPts val="500"/>
              </a:spcAft>
              <a:buClr>
                <a:srgbClr val="EDA100"/>
              </a:buClr>
              <a:buSzPct val="70000"/>
              <a:buFont typeface="Arial"/>
              <a:buChar char="■"/>
            </a:pPr>
            <a:r>
              <a:rPr sz="1150">
                <a:solidFill>
                  <a:srgbClr val="0C1408"/>
                </a:solidFill>
                <a:latin typeface="Arial"/>
              </a:rPr>
              <a:t>Income: Rs 1,000 or more credited on 5 days a week for 8 weeks</a:t>
            </a:r>
          </a:p>
          <a:p>
            <a:pPr marL="173736" indent="-173736">
              <a:lnSpc>
                <a:spcPct val="104000"/>
              </a:lnSpc>
              <a:spcAft>
                <a:spcPts val="500"/>
              </a:spcAft>
              <a:buClr>
                <a:srgbClr val="EDA100"/>
              </a:buClr>
              <a:buSzPct val="70000"/>
              <a:buFont typeface="Arial"/>
              <a:buChar char="■"/>
            </a:pPr>
            <a:r>
              <a:rPr sz="1150">
                <a:solidFill>
                  <a:srgbClr val="0C1408"/>
                </a:solidFill>
                <a:latin typeface="Arial"/>
              </a:rPr>
              <a:t>Check level 3: every check applies</a:t>
            </a:r>
          </a:p>
          <a:p>
            <a:pPr marL="173736" indent="-173736">
              <a:lnSpc>
                <a:spcPct val="104000"/>
              </a:lnSpc>
              <a:spcAft>
                <a:spcPts val="500"/>
              </a:spcAft>
              <a:buClr>
                <a:srgbClr val="EDA100"/>
              </a:buClr>
              <a:buSzPct val="70000"/>
              <a:buFont typeface="Arial"/>
              <a:buChar char="■"/>
            </a:pPr>
            <a:r>
              <a:rPr sz="1150">
                <a:solidFill>
                  <a:srgbClr val="0C1408"/>
                </a:solidFill>
                <a:latin typeface="Arial"/>
              </a:rPr>
              <a:t>Automatic debit required</a:t>
            </a:r>
          </a:p>
          <a:p>
            <a:pPr marL="173736" indent="-173736">
              <a:lnSpc>
                <a:spcPct val="104000"/>
              </a:lnSpc>
              <a:spcAft>
                <a:spcPts val="500"/>
              </a:spcAft>
              <a:buClr>
                <a:srgbClr val="EDA100"/>
              </a:buClr>
              <a:buSzPct val="70000"/>
              <a:buFont typeface="Arial"/>
              <a:buChar char="■"/>
            </a:pPr>
            <a:r>
              <a:rPr sz="1150">
                <a:solidFill>
                  <a:srgbClr val="0C1408"/>
                </a:solidFill>
                <a:latin typeface="Arial"/>
              </a:rPr>
              <a:t>One daily circle per member</a:t>
            </a:r>
          </a:p>
          <a:p>
            <a:pPr marL="173736" indent="-173736">
              <a:lnSpc>
                <a:spcPct val="104000"/>
              </a:lnSpc>
              <a:spcAft>
                <a:spcPts val="500"/>
              </a:spcAft>
              <a:buClr>
                <a:srgbClr val="EDA100"/>
              </a:buClr>
              <a:buSzPct val="70000"/>
              <a:buFont typeface="Arial"/>
              <a:buChar char="■"/>
            </a:pPr>
            <a:r>
              <a:rPr sz="1150">
                <a:solidFill>
                  <a:srgbClr val="0C1408"/>
                </a:solidFill>
                <a:latin typeface="Arial"/>
              </a:rPr>
              <a:t>Late charges 5%, 10% and 15% at 12, 36 and 60 hours</a:t>
            </a:r>
          </a:p>
          <a:p>
            <a:pPr marL="173736" indent="-173736">
              <a:lnSpc>
                <a:spcPct val="104000"/>
              </a:lnSpc>
              <a:spcAft>
                <a:spcPts val="500"/>
              </a:spcAft>
              <a:buClr>
                <a:srgbClr val="EDA100"/>
              </a:buClr>
              <a:buSzPct val="70000"/>
              <a:buFont typeface="Arial"/>
              <a:buChar char="■"/>
            </a:pPr>
            <a:r>
              <a:rPr sz="1150">
                <a:solidFill>
                  <a:srgbClr val="0C1408"/>
                </a:solidFill>
                <a:latin typeface="Arial"/>
              </a:rPr>
              <a:t>New days stop opening when losses would exceed the takaful or insurance limit</a:t>
            </a:r>
          </a:p>
          <a:p>
            <a:pPr marL="173736" indent="-173736">
              <a:lnSpc>
                <a:spcPct val="104000"/>
              </a:lnSpc>
              <a:spcAft>
                <a:spcPts val="500"/>
              </a:spcAft>
              <a:buClr>
                <a:srgbClr val="EDA100"/>
              </a:buClr>
              <a:buSzPct val="70000"/>
              <a:buFont typeface="Arial"/>
              <a:buChar char="■"/>
            </a:pPr>
            <a:r>
              <a:rPr sz="1150">
                <a:solidFill>
                  <a:srgbClr val="0C1408"/>
                </a:solidFill>
                <a:latin typeface="Arial"/>
              </a:rPr>
              <a:t>Every payment reported to the credit record</a:t>
            </a:r>
          </a:p>
          <a:p>
            <a:pPr marL="173736" indent="-173736">
              <a:lnSpc>
                <a:spcPct val="104000"/>
              </a:lnSpc>
              <a:spcAft>
                <a:spcPts val="500"/>
              </a:spcAft>
              <a:buClr>
                <a:srgbClr val="EDA100"/>
              </a:buClr>
              <a:buSzPct val="70000"/>
              <a:buFont typeface="Arial"/>
              <a:buChar char="■"/>
            </a:pPr>
            <a:r>
              <a:rPr sz="1150">
                <a:solidFill>
                  <a:srgbClr val="0C1408"/>
                </a:solidFill>
                <a:latin typeface="Arial"/>
              </a:rPr>
              <a:t>Run as an experiment, with its own limits agreed with Mashreq</a:t>
            </a:r>
          </a:p>
        </p:txBody>
      </p: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Hyper design of 23 September 2026 with the fee set on 29 September 2026; Hyper Default Threshold Model (HQ-MF-01)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Payment Collection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Three collection methods, with Mashreq’s direct debit mandate as the automatic method</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15</a:t>
            </a:r>
          </a:p>
        </p:txBody>
      </p:sp>
      <p:sp>
        <p:nvSpPr>
          <p:cNvPr id="6" name="Rectangle 5"/>
          <p:cNvSpPr/>
          <p:nvPr/>
        </p:nvSpPr>
        <p:spPr>
          <a:xfrm>
            <a:off x="548640" y="1554480"/>
            <a:ext cx="3515258" cy="566928"/>
          </a:xfrm>
          <a:prstGeom prst="rect">
            <a:avLst/>
          </a:prstGeom>
          <a:solidFill>
            <a:srgbClr val="D6E6FA"/>
          </a:solidFill>
          <a:ln>
            <a:noFill/>
          </a:ln>
        </p:spPr>
        <p:txBody>
          <a:bodyPr rtlCol="0" anchor="ctr" lIns="128016" tIns="96012" rIns="128016" bIns="96012" wrap="square"/>
          <a:lstStyle/>
          <a:p>
            <a:pPr>
              <a:lnSpc>
                <a:spcPct val="100000"/>
              </a:lnSpc>
            </a:pPr>
            <a:r>
              <a:rPr sz="950">
                <a:solidFill>
                  <a:srgbClr val="4B5563"/>
                </a:solidFill>
                <a:latin typeface="Arial"/>
              </a:rPr>
              <a:t>Method 1</a:t>
            </a:r>
          </a:p>
          <a:p>
            <a:pPr>
              <a:lnSpc>
                <a:spcPct val="100000"/>
              </a:lnSpc>
            </a:pPr>
            <a:r>
              <a:rPr sz="1400" b="1">
                <a:solidFill>
                  <a:srgbClr val="0C1408"/>
                </a:solidFill>
                <a:latin typeface="Arial"/>
              </a:rPr>
              <a:t>One-tap approval</a:t>
            </a:r>
          </a:p>
        </p:txBody>
      </p:sp>
      <p:sp>
        <p:nvSpPr>
          <p:cNvPr id="7" name="Rectangle 6"/>
          <p:cNvSpPr/>
          <p:nvPr/>
        </p:nvSpPr>
        <p:spPr>
          <a:xfrm>
            <a:off x="548640" y="2121408"/>
            <a:ext cx="3515258" cy="1572768"/>
          </a:xfrm>
          <a:prstGeom prst="rect">
            <a:avLst/>
          </a:prstGeom>
          <a:noFill/>
          <a:ln w="9525">
            <a:solidFill>
              <a:srgbClr val="D1D5DB"/>
            </a:solidFill>
          </a:ln>
        </p:spPr>
        <p:txBody>
          <a:bodyPr rtlCol="0" anchor="ctr"/>
          <a:lstStyle/>
          <a:p>
            <a:pPr algn="ctr"/>
          </a:p>
        </p:txBody>
      </p:sp>
      <p:sp>
        <p:nvSpPr>
          <p:cNvPr id="8" name="TextBox 7"/>
          <p:cNvSpPr txBox="1"/>
          <p:nvPr/>
        </p:nvSpPr>
        <p:spPr>
          <a:xfrm>
            <a:off x="694944"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approves a payment request by card, mobile wallet or Raast.</a:t>
            </a:r>
          </a:p>
        </p:txBody>
      </p:sp>
      <p:sp>
        <p:nvSpPr>
          <p:cNvPr id="9" name="TextBox 8"/>
          <p:cNvSpPr txBox="1"/>
          <p:nvPr/>
        </p:nvSpPr>
        <p:spPr>
          <a:xfrm>
            <a:off x="694944"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Known circles, and when an automatic debit fails</a:t>
            </a:r>
          </a:p>
        </p:txBody>
      </p:sp>
      <p:sp>
        <p:nvSpPr>
          <p:cNvPr id="10" name="Rectangle 9"/>
          <p:cNvSpPr/>
          <p:nvPr/>
        </p:nvSpPr>
        <p:spPr>
          <a:xfrm>
            <a:off x="4338218" y="1554480"/>
            <a:ext cx="3515258" cy="566928"/>
          </a:xfrm>
          <a:prstGeom prst="rect">
            <a:avLst/>
          </a:prstGeom>
          <a:solidFill>
            <a:srgbClr val="F9DCCB"/>
          </a:solidFill>
          <a:ln>
            <a:noFill/>
          </a:ln>
        </p:spPr>
        <p:txBody>
          <a:bodyPr rtlCol="0" anchor="ctr" lIns="128016" tIns="96012" rIns="128016" bIns="96012" wrap="square"/>
          <a:lstStyle/>
          <a:p>
            <a:pPr>
              <a:lnSpc>
                <a:spcPct val="100000"/>
              </a:lnSpc>
            </a:pPr>
            <a:r>
              <a:rPr sz="950">
                <a:solidFill>
                  <a:srgbClr val="4B5563"/>
                </a:solidFill>
                <a:latin typeface="Arial"/>
              </a:rPr>
              <a:t>Method 2</a:t>
            </a:r>
          </a:p>
          <a:p>
            <a:pPr>
              <a:lnSpc>
                <a:spcPct val="100000"/>
              </a:lnSpc>
            </a:pPr>
            <a:r>
              <a:rPr sz="1400" b="1">
                <a:solidFill>
                  <a:srgbClr val="0C1408"/>
                </a:solidFill>
                <a:latin typeface="Arial"/>
              </a:rPr>
              <a:t>Automatic debit</a:t>
            </a:r>
          </a:p>
        </p:txBody>
      </p:sp>
      <p:sp>
        <p:nvSpPr>
          <p:cNvPr id="11" name="Rectangle 10"/>
          <p:cNvSpPr/>
          <p:nvPr/>
        </p:nvSpPr>
        <p:spPr>
          <a:xfrm>
            <a:off x="4338218" y="2121408"/>
            <a:ext cx="3515258" cy="1572768"/>
          </a:xfrm>
          <a:prstGeom prst="rect">
            <a:avLst/>
          </a:prstGeom>
          <a:noFill/>
          <a:ln w="9525">
            <a:solidFill>
              <a:srgbClr val="D1D5DB"/>
            </a:solidFill>
          </a:ln>
        </p:spPr>
        <p:txBody>
          <a:bodyPr rtlCol="0" anchor="ctr"/>
          <a:lstStyle/>
          <a:p>
            <a:pPr algn="ctr"/>
          </a:p>
        </p:txBody>
      </p:sp>
      <p:sp>
        <p:nvSpPr>
          <p:cNvPr id="12" name="TextBox 11"/>
          <p:cNvSpPr txBox="1"/>
          <p:nvPr/>
        </p:nvSpPr>
        <p:spPr>
          <a:xfrm>
            <a:off x="4484522"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Mashreq’s direct debit mandate on the member’s Mashreq account; or a saved card or wallet charged through the PSP.</a:t>
            </a:r>
          </a:p>
        </p:txBody>
      </p:sp>
      <p:sp>
        <p:nvSpPr>
          <p:cNvPr id="13" name="TextBox 12"/>
          <p:cNvSpPr txBox="1"/>
          <p:nvPr/>
        </p:nvSpPr>
        <p:spPr>
          <a:xfrm>
            <a:off x="4484522"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Required on circles between strangers, asset, UAE family and Hyper circles</a:t>
            </a:r>
          </a:p>
        </p:txBody>
      </p:sp>
      <p:sp>
        <p:nvSpPr>
          <p:cNvPr id="14" name="Rectangle 13"/>
          <p:cNvSpPr/>
          <p:nvPr/>
        </p:nvSpPr>
        <p:spPr>
          <a:xfrm>
            <a:off x="8127797" y="1554480"/>
            <a:ext cx="3515258" cy="566928"/>
          </a:xfrm>
          <a:prstGeom prst="rect">
            <a:avLst/>
          </a:prstGeom>
          <a:solidFill>
            <a:srgbClr val="F3F4F6"/>
          </a:solidFill>
          <a:ln>
            <a:noFill/>
          </a:ln>
        </p:spPr>
        <p:txBody>
          <a:bodyPr rtlCol="0" anchor="ctr" lIns="128016" tIns="96012" rIns="128016" bIns="96012" wrap="square"/>
          <a:lstStyle/>
          <a:p>
            <a:pPr>
              <a:lnSpc>
                <a:spcPct val="100000"/>
              </a:lnSpc>
            </a:pPr>
            <a:r>
              <a:rPr sz="950">
                <a:solidFill>
                  <a:srgbClr val="4B5563"/>
                </a:solidFill>
                <a:latin typeface="Arial"/>
              </a:rPr>
              <a:t>Method 3</a:t>
            </a:r>
          </a:p>
          <a:p>
            <a:pPr>
              <a:lnSpc>
                <a:spcPct val="100000"/>
              </a:lnSpc>
            </a:pPr>
            <a:r>
              <a:rPr sz="1400" b="1">
                <a:solidFill>
                  <a:srgbClr val="0C1408"/>
                </a:solidFill>
                <a:latin typeface="Arial"/>
              </a:rPr>
              <a:t>Manual payment</a:t>
            </a:r>
          </a:p>
        </p:txBody>
      </p:sp>
      <p:sp>
        <p:nvSpPr>
          <p:cNvPr id="15" name="Rectangle 14"/>
          <p:cNvSpPr/>
          <p:nvPr/>
        </p:nvSpPr>
        <p:spPr>
          <a:xfrm>
            <a:off x="8127797" y="2121408"/>
            <a:ext cx="3515258" cy="1572768"/>
          </a:xfrm>
          <a:prstGeom prst="rect">
            <a:avLst/>
          </a:prstGeom>
          <a:noFill/>
          <a:ln w="9525">
            <a:solidFill>
              <a:srgbClr val="D1D5DB"/>
            </a:solidFill>
          </a:ln>
        </p:spPr>
        <p:txBody>
          <a:bodyPr rtlCol="0" anchor="ctr"/>
          <a:lstStyle/>
          <a:p>
            <a:pPr algn="ctr"/>
          </a:p>
        </p:txBody>
      </p:sp>
      <p:sp>
        <p:nvSpPr>
          <p:cNvPr id="16" name="TextBox 15"/>
          <p:cNvSpPr txBox="1"/>
          <p:nvPr/>
        </p:nvSpPr>
        <p:spPr>
          <a:xfrm>
            <a:off x="8274101"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sends the instalment from any bank account or wallet.</a:t>
            </a:r>
          </a:p>
        </p:txBody>
      </p:sp>
      <p:sp>
        <p:nvSpPr>
          <p:cNvPr id="17" name="TextBox 16"/>
          <p:cNvSpPr txBox="1"/>
          <p:nvPr/>
        </p:nvSpPr>
        <p:spPr>
          <a:xfrm>
            <a:off x="8274101"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Always available</a:t>
            </a:r>
          </a:p>
        </p:txBody>
      </p:sp>
      <p:sp>
        <p:nvSpPr>
          <p:cNvPr id="18" name="TextBox 17"/>
          <p:cNvSpPr txBox="1"/>
          <p:nvPr/>
        </p:nvSpPr>
        <p:spPr>
          <a:xfrm>
            <a:off x="548640" y="3931920"/>
            <a:ext cx="71323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day by day</a:t>
            </a:r>
            <a:r>
              <a:rPr sz="1100">
                <a:solidFill>
                  <a:srgbClr val="6B7280"/>
                </a:solidFill>
                <a:latin typeface="Arial"/>
              </a:rPr>
              <a:t>   days of the month</a:t>
            </a:r>
          </a:p>
        </p:txBody>
      </p:sp>
      <p:sp>
        <p:nvSpPr>
          <p:cNvPr id="19" name="Rectangle 18"/>
          <p:cNvSpPr/>
          <p:nvPr/>
        </p:nvSpPr>
        <p:spPr>
          <a:xfrm>
            <a:off x="566928" y="4261104"/>
            <a:ext cx="557784" cy="502920"/>
          </a:xfrm>
          <a:prstGeom prst="rect">
            <a:avLst/>
          </a:prstGeom>
          <a:solidFill>
            <a:srgbClr val="D8602A"/>
          </a:solidFill>
          <a:ln>
            <a:noFill/>
          </a:ln>
        </p:spPr>
        <p:txBody>
          <a:bodyPr rtlCol="0" anchor="ctr"/>
          <a:lstStyle/>
          <a:p>
            <a:pPr algn="ctr"/>
          </a:p>
        </p:txBody>
      </p:sp>
      <p:sp>
        <p:nvSpPr>
          <p:cNvPr id="20" name="TextBox 19"/>
          <p:cNvSpPr txBox="1"/>
          <p:nvPr/>
        </p:nvSpPr>
        <p:spPr>
          <a:xfrm>
            <a:off x="54864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1</a:t>
            </a:r>
          </a:p>
        </p:txBody>
      </p:sp>
      <p:sp>
        <p:nvSpPr>
          <p:cNvPr id="21" name="Rectangle 20"/>
          <p:cNvSpPr/>
          <p:nvPr/>
        </p:nvSpPr>
        <p:spPr>
          <a:xfrm>
            <a:off x="1161288" y="4261104"/>
            <a:ext cx="557784" cy="502920"/>
          </a:xfrm>
          <a:prstGeom prst="rect">
            <a:avLst/>
          </a:prstGeom>
          <a:solidFill>
            <a:srgbClr val="EFA27A"/>
          </a:solidFill>
          <a:ln>
            <a:noFill/>
          </a:ln>
        </p:spPr>
        <p:txBody>
          <a:bodyPr rtlCol="0" anchor="ctr"/>
          <a:lstStyle/>
          <a:p>
            <a:pPr algn="ctr"/>
          </a:p>
        </p:txBody>
      </p:sp>
      <p:sp>
        <p:nvSpPr>
          <p:cNvPr id="22" name="TextBox 21"/>
          <p:cNvSpPr txBox="1"/>
          <p:nvPr/>
        </p:nvSpPr>
        <p:spPr>
          <a:xfrm>
            <a:off x="11430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2</a:t>
            </a:r>
          </a:p>
        </p:txBody>
      </p:sp>
      <p:sp>
        <p:nvSpPr>
          <p:cNvPr id="23" name="Rectangle 22"/>
          <p:cNvSpPr/>
          <p:nvPr/>
        </p:nvSpPr>
        <p:spPr>
          <a:xfrm>
            <a:off x="1755648" y="4261104"/>
            <a:ext cx="557784" cy="502920"/>
          </a:xfrm>
          <a:prstGeom prst="rect">
            <a:avLst/>
          </a:prstGeom>
          <a:solidFill>
            <a:srgbClr val="EFA27A"/>
          </a:solidFill>
          <a:ln>
            <a:noFill/>
          </a:ln>
        </p:spPr>
        <p:txBody>
          <a:bodyPr rtlCol="0" anchor="ctr"/>
          <a:lstStyle/>
          <a:p>
            <a:pPr algn="ctr"/>
          </a:p>
        </p:txBody>
      </p:sp>
      <p:sp>
        <p:nvSpPr>
          <p:cNvPr id="24" name="TextBox 23"/>
          <p:cNvSpPr txBox="1"/>
          <p:nvPr/>
        </p:nvSpPr>
        <p:spPr>
          <a:xfrm>
            <a:off x="173736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3</a:t>
            </a:r>
          </a:p>
        </p:txBody>
      </p:sp>
      <p:sp>
        <p:nvSpPr>
          <p:cNvPr id="25" name="Rectangle 24"/>
          <p:cNvSpPr/>
          <p:nvPr/>
        </p:nvSpPr>
        <p:spPr>
          <a:xfrm>
            <a:off x="2350008" y="4261104"/>
            <a:ext cx="557784" cy="502920"/>
          </a:xfrm>
          <a:prstGeom prst="rect">
            <a:avLst/>
          </a:prstGeom>
          <a:solidFill>
            <a:srgbClr val="EFA27A"/>
          </a:solidFill>
          <a:ln>
            <a:noFill/>
          </a:ln>
        </p:spPr>
        <p:txBody>
          <a:bodyPr rtlCol="0" anchor="ctr"/>
          <a:lstStyle/>
          <a:p>
            <a:pPr algn="ctr"/>
          </a:p>
        </p:txBody>
      </p:sp>
      <p:sp>
        <p:nvSpPr>
          <p:cNvPr id="26" name="TextBox 25"/>
          <p:cNvSpPr txBox="1"/>
          <p:nvPr/>
        </p:nvSpPr>
        <p:spPr>
          <a:xfrm>
            <a:off x="233172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4</a:t>
            </a:r>
          </a:p>
        </p:txBody>
      </p:sp>
      <p:sp>
        <p:nvSpPr>
          <p:cNvPr id="27" name="Rectangle 26"/>
          <p:cNvSpPr/>
          <p:nvPr/>
        </p:nvSpPr>
        <p:spPr>
          <a:xfrm>
            <a:off x="2944368" y="4261104"/>
            <a:ext cx="557784" cy="502920"/>
          </a:xfrm>
          <a:prstGeom prst="rect">
            <a:avLst/>
          </a:prstGeom>
          <a:solidFill>
            <a:srgbClr val="EFA27A"/>
          </a:solidFill>
          <a:ln>
            <a:noFill/>
          </a:ln>
        </p:spPr>
        <p:txBody>
          <a:bodyPr rtlCol="0" anchor="ctr"/>
          <a:lstStyle/>
          <a:p>
            <a:pPr algn="ctr"/>
          </a:p>
        </p:txBody>
      </p:sp>
      <p:sp>
        <p:nvSpPr>
          <p:cNvPr id="28" name="TextBox 27"/>
          <p:cNvSpPr txBox="1"/>
          <p:nvPr/>
        </p:nvSpPr>
        <p:spPr>
          <a:xfrm>
            <a:off x="292608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5</a:t>
            </a:r>
          </a:p>
        </p:txBody>
      </p:sp>
      <p:sp>
        <p:nvSpPr>
          <p:cNvPr id="29" name="Rectangle 28"/>
          <p:cNvSpPr/>
          <p:nvPr/>
        </p:nvSpPr>
        <p:spPr>
          <a:xfrm>
            <a:off x="3538728" y="4261104"/>
            <a:ext cx="557784" cy="502920"/>
          </a:xfrm>
          <a:prstGeom prst="rect">
            <a:avLst/>
          </a:prstGeom>
          <a:solidFill>
            <a:srgbClr val="E5E7EB"/>
          </a:solidFill>
          <a:ln>
            <a:noFill/>
          </a:ln>
        </p:spPr>
        <p:txBody>
          <a:bodyPr rtlCol="0" anchor="ctr"/>
          <a:lstStyle/>
          <a:p>
            <a:pPr algn="ctr"/>
          </a:p>
        </p:txBody>
      </p:sp>
      <p:sp>
        <p:nvSpPr>
          <p:cNvPr id="30" name="TextBox 29"/>
          <p:cNvSpPr txBox="1"/>
          <p:nvPr/>
        </p:nvSpPr>
        <p:spPr>
          <a:xfrm>
            <a:off x="35204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6</a:t>
            </a:r>
          </a:p>
        </p:txBody>
      </p:sp>
      <p:sp>
        <p:nvSpPr>
          <p:cNvPr id="31" name="Rectangle 30"/>
          <p:cNvSpPr/>
          <p:nvPr/>
        </p:nvSpPr>
        <p:spPr>
          <a:xfrm>
            <a:off x="4133088" y="4261104"/>
            <a:ext cx="557784" cy="502920"/>
          </a:xfrm>
          <a:prstGeom prst="rect">
            <a:avLst/>
          </a:prstGeom>
          <a:solidFill>
            <a:srgbClr val="E5E7EB"/>
          </a:solidFill>
          <a:ln>
            <a:noFill/>
          </a:ln>
        </p:spPr>
        <p:txBody>
          <a:bodyPr rtlCol="0" anchor="ctr"/>
          <a:lstStyle/>
          <a:p>
            <a:pPr algn="ctr"/>
          </a:p>
        </p:txBody>
      </p:sp>
      <p:sp>
        <p:nvSpPr>
          <p:cNvPr id="32" name="TextBox 31"/>
          <p:cNvSpPr txBox="1"/>
          <p:nvPr/>
        </p:nvSpPr>
        <p:spPr>
          <a:xfrm>
            <a:off x="41148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7</a:t>
            </a:r>
          </a:p>
        </p:txBody>
      </p:sp>
      <p:sp>
        <p:nvSpPr>
          <p:cNvPr id="33" name="Rectangle 32"/>
          <p:cNvSpPr/>
          <p:nvPr/>
        </p:nvSpPr>
        <p:spPr>
          <a:xfrm>
            <a:off x="4727448" y="4261104"/>
            <a:ext cx="557784" cy="502920"/>
          </a:xfrm>
          <a:prstGeom prst="rect">
            <a:avLst/>
          </a:prstGeom>
          <a:solidFill>
            <a:srgbClr val="0C1408"/>
          </a:solidFill>
          <a:ln>
            <a:noFill/>
          </a:ln>
        </p:spPr>
        <p:txBody>
          <a:bodyPr rtlCol="0" anchor="ctr"/>
          <a:lstStyle/>
          <a:p>
            <a:pPr algn="ctr"/>
          </a:p>
        </p:txBody>
      </p:sp>
      <p:sp>
        <p:nvSpPr>
          <p:cNvPr id="34" name="TextBox 33"/>
          <p:cNvSpPr txBox="1"/>
          <p:nvPr/>
        </p:nvSpPr>
        <p:spPr>
          <a:xfrm>
            <a:off x="470916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8</a:t>
            </a:r>
          </a:p>
        </p:txBody>
      </p:sp>
      <p:sp>
        <p:nvSpPr>
          <p:cNvPr id="35" name="Rectangle 34"/>
          <p:cNvSpPr/>
          <p:nvPr/>
        </p:nvSpPr>
        <p:spPr>
          <a:xfrm>
            <a:off x="5321808" y="4261104"/>
            <a:ext cx="557784" cy="502920"/>
          </a:xfrm>
          <a:prstGeom prst="rect">
            <a:avLst/>
          </a:prstGeom>
          <a:solidFill>
            <a:srgbClr val="EDA100"/>
          </a:solidFill>
          <a:ln>
            <a:noFill/>
          </a:ln>
        </p:spPr>
        <p:txBody>
          <a:bodyPr rtlCol="0" anchor="ctr"/>
          <a:lstStyle/>
          <a:p>
            <a:pPr algn="ctr"/>
          </a:p>
        </p:txBody>
      </p:sp>
      <p:sp>
        <p:nvSpPr>
          <p:cNvPr id="36" name="TextBox 35"/>
          <p:cNvSpPr txBox="1"/>
          <p:nvPr/>
        </p:nvSpPr>
        <p:spPr>
          <a:xfrm>
            <a:off x="530352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9</a:t>
            </a:r>
          </a:p>
        </p:txBody>
      </p:sp>
      <p:sp>
        <p:nvSpPr>
          <p:cNvPr id="37" name="Rectangle 36"/>
          <p:cNvSpPr/>
          <p:nvPr/>
        </p:nvSpPr>
        <p:spPr>
          <a:xfrm>
            <a:off x="5916168" y="4261104"/>
            <a:ext cx="557784" cy="502920"/>
          </a:xfrm>
          <a:prstGeom prst="rect">
            <a:avLst/>
          </a:prstGeom>
          <a:solidFill>
            <a:srgbClr val="EDA100"/>
          </a:solidFill>
          <a:ln>
            <a:noFill/>
          </a:ln>
        </p:spPr>
        <p:txBody>
          <a:bodyPr rtlCol="0" anchor="ctr"/>
          <a:lstStyle/>
          <a:p>
            <a:pPr algn="ctr"/>
          </a:p>
        </p:txBody>
      </p:sp>
      <p:sp>
        <p:nvSpPr>
          <p:cNvPr id="38" name="TextBox 37"/>
          <p:cNvSpPr txBox="1"/>
          <p:nvPr/>
        </p:nvSpPr>
        <p:spPr>
          <a:xfrm>
            <a:off x="589788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10</a:t>
            </a:r>
          </a:p>
        </p:txBody>
      </p:sp>
      <p:sp>
        <p:nvSpPr>
          <p:cNvPr id="39" name="Rectangle 38"/>
          <p:cNvSpPr/>
          <p:nvPr/>
        </p:nvSpPr>
        <p:spPr>
          <a:xfrm>
            <a:off x="6510528" y="4261104"/>
            <a:ext cx="557784" cy="502920"/>
          </a:xfrm>
          <a:prstGeom prst="rect">
            <a:avLst/>
          </a:prstGeom>
          <a:solidFill>
            <a:srgbClr val="EDA100"/>
          </a:solidFill>
          <a:ln>
            <a:noFill/>
          </a:ln>
        </p:spPr>
        <p:txBody>
          <a:bodyPr rtlCol="0" anchor="ctr"/>
          <a:lstStyle/>
          <a:p>
            <a:pPr algn="ctr"/>
          </a:p>
        </p:txBody>
      </p:sp>
      <p:sp>
        <p:nvSpPr>
          <p:cNvPr id="40" name="TextBox 39"/>
          <p:cNvSpPr txBox="1"/>
          <p:nvPr/>
        </p:nvSpPr>
        <p:spPr>
          <a:xfrm>
            <a:off x="64922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11</a:t>
            </a:r>
          </a:p>
        </p:txBody>
      </p:sp>
      <p:sp>
        <p:nvSpPr>
          <p:cNvPr id="41" name="Rectangle 40"/>
          <p:cNvSpPr/>
          <p:nvPr/>
        </p:nvSpPr>
        <p:spPr>
          <a:xfrm>
            <a:off x="7104888" y="4261104"/>
            <a:ext cx="557784" cy="502920"/>
          </a:xfrm>
          <a:prstGeom prst="rect">
            <a:avLst/>
          </a:prstGeom>
          <a:solidFill>
            <a:srgbClr val="EDA100"/>
          </a:solidFill>
          <a:ln>
            <a:noFill/>
          </a:ln>
        </p:spPr>
        <p:txBody>
          <a:bodyPr rtlCol="0" anchor="ctr"/>
          <a:lstStyle/>
          <a:p>
            <a:pPr algn="ctr"/>
          </a:p>
        </p:txBody>
      </p:sp>
      <p:sp>
        <p:nvSpPr>
          <p:cNvPr id="42" name="TextBox 41"/>
          <p:cNvSpPr txBox="1"/>
          <p:nvPr/>
        </p:nvSpPr>
        <p:spPr>
          <a:xfrm>
            <a:off x="70866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12</a:t>
            </a:r>
          </a:p>
        </p:txBody>
      </p:sp>
      <p:sp>
        <p:nvSpPr>
          <p:cNvPr id="43" name="TextBox 42"/>
          <p:cNvSpPr txBox="1"/>
          <p:nvPr/>
        </p:nvSpPr>
        <p:spPr>
          <a:xfrm>
            <a:off x="576072" y="4828032"/>
            <a:ext cx="539496" cy="457200"/>
          </a:xfrm>
          <a:prstGeom prst="rect">
            <a:avLst/>
          </a:prstGeom>
          <a:noFill/>
        </p:spPr>
        <p:txBody>
          <a:bodyPr wrap="square" lIns="0" tIns="0" rIns="0" bIns="0">
            <a:spAutoFit/>
          </a:bodyPr>
          <a:lstStyle/>
          <a:p>
            <a:pPr>
              <a:lnSpc>
                <a:spcPct val="100000"/>
              </a:lnSpc>
            </a:pPr>
            <a:r>
              <a:rPr sz="1000">
                <a:solidFill>
                  <a:srgbClr val="4B5563"/>
                </a:solidFill>
                <a:latin typeface="Arial"/>
              </a:rPr>
              <a:t>payday: first debit</a:t>
            </a:r>
          </a:p>
        </p:txBody>
      </p:sp>
      <p:sp>
        <p:nvSpPr>
          <p:cNvPr id="44" name="TextBox 43"/>
          <p:cNvSpPr txBox="1"/>
          <p:nvPr/>
        </p:nvSpPr>
        <p:spPr>
          <a:xfrm>
            <a:off x="1170432" y="4828032"/>
            <a:ext cx="2322576" cy="457200"/>
          </a:xfrm>
          <a:prstGeom prst="rect">
            <a:avLst/>
          </a:prstGeom>
          <a:noFill/>
        </p:spPr>
        <p:txBody>
          <a:bodyPr wrap="square" lIns="0" tIns="0" rIns="0" bIns="0">
            <a:spAutoFit/>
          </a:bodyPr>
          <a:lstStyle/>
          <a:p>
            <a:pPr>
              <a:lnSpc>
                <a:spcPct val="100000"/>
              </a:lnSpc>
            </a:pPr>
            <a:r>
              <a:rPr sz="1000">
                <a:solidFill>
                  <a:srgbClr val="4B5563"/>
                </a:solidFill>
                <a:latin typeface="Arial"/>
              </a:rPr>
              <a:t>a retry each morning, 5 attempts at most</a:t>
            </a:r>
          </a:p>
        </p:txBody>
      </p:sp>
      <p:sp>
        <p:nvSpPr>
          <p:cNvPr id="45" name="TextBox 44"/>
          <p:cNvSpPr txBox="1"/>
          <p:nvPr/>
        </p:nvSpPr>
        <p:spPr>
          <a:xfrm>
            <a:off x="4736592" y="4828032"/>
            <a:ext cx="539496" cy="457200"/>
          </a:xfrm>
          <a:prstGeom prst="rect">
            <a:avLst/>
          </a:prstGeom>
          <a:noFill/>
        </p:spPr>
        <p:txBody>
          <a:bodyPr wrap="square" lIns="0" tIns="0" rIns="0" bIns="0">
            <a:spAutoFit/>
          </a:bodyPr>
          <a:lstStyle/>
          <a:p>
            <a:pPr>
              <a:lnSpc>
                <a:spcPct val="100000"/>
              </a:lnSpc>
            </a:pPr>
            <a:r>
              <a:rPr sz="1000">
                <a:solidFill>
                  <a:srgbClr val="4B5563"/>
                </a:solidFill>
                <a:latin typeface="Arial"/>
              </a:rPr>
              <a:t>due date</a:t>
            </a:r>
          </a:p>
        </p:txBody>
      </p:sp>
      <p:sp>
        <p:nvSpPr>
          <p:cNvPr id="46" name="TextBox 45"/>
          <p:cNvSpPr txBox="1"/>
          <p:nvPr/>
        </p:nvSpPr>
        <p:spPr>
          <a:xfrm>
            <a:off x="5330952" y="4828032"/>
            <a:ext cx="2322576" cy="457200"/>
          </a:xfrm>
          <a:prstGeom prst="rect">
            <a:avLst/>
          </a:prstGeom>
          <a:noFill/>
        </p:spPr>
        <p:txBody>
          <a:bodyPr wrap="square" lIns="0" tIns="0" rIns="0" bIns="0">
            <a:spAutoFit/>
          </a:bodyPr>
          <a:lstStyle/>
          <a:p>
            <a:pPr>
              <a:lnSpc>
                <a:spcPct val="100000"/>
              </a:lnSpc>
            </a:pPr>
            <a:r>
              <a:rPr sz="1000">
                <a:solidFill>
                  <a:srgbClr val="4B5563"/>
                </a:solidFill>
                <a:latin typeface="Arial"/>
              </a:rPr>
              <a:t>late charges: 2%, then 5%, then 10%</a:t>
            </a:r>
          </a:p>
        </p:txBody>
      </p:sp>
      <p:sp>
        <p:nvSpPr>
          <p:cNvPr id="47" name="TextBox 46"/>
          <p:cNvSpPr txBox="1"/>
          <p:nvPr/>
        </p:nvSpPr>
        <p:spPr>
          <a:xfrm>
            <a:off x="548640" y="5440680"/>
            <a:ext cx="7132320" cy="548640"/>
          </a:xfrm>
          <a:prstGeom prst="rect">
            <a:avLst/>
          </a:prstGeom>
          <a:noFill/>
        </p:spPr>
        <p:txBody>
          <a:bodyPr wrap="square" lIns="0" tIns="0" rIns="0" bIns="0">
            <a:spAutoFit/>
          </a:bodyPr>
          <a:lstStyle/>
          <a:p>
            <a:pPr>
              <a:lnSpc>
                <a:spcPct val="104000"/>
              </a:lnSpc>
            </a:pPr>
            <a:r>
              <a:rPr sz="1050">
                <a:solidFill>
                  <a:srgbClr val="4B5563"/>
                </a:solidFill>
                <a:latin typeface="Arial"/>
              </a:rPr>
              <a:t>The evening before payday the member gets a reminder on WhatsApp. The payday is learned from the account the salary arrives in.</a:t>
            </a:r>
          </a:p>
        </p:txBody>
      </p:sp>
      <p:sp>
        <p:nvSpPr>
          <p:cNvPr id="48" name="Rectangle 47"/>
          <p:cNvSpPr/>
          <p:nvPr/>
        </p:nvSpPr>
        <p:spPr>
          <a:xfrm>
            <a:off x="8092440" y="3931920"/>
            <a:ext cx="3550615" cy="2240280"/>
          </a:xfrm>
          <a:prstGeom prst="rect">
            <a:avLst/>
          </a:prstGeom>
          <a:solidFill>
            <a:srgbClr val="F3F4F6"/>
          </a:solidFill>
          <a:ln>
            <a:noFill/>
          </a:ln>
        </p:spPr>
        <p:txBody>
          <a:bodyPr rtlCol="0" anchor="ctr"/>
          <a:lstStyle/>
          <a:p>
            <a:pPr algn="ctr"/>
          </a:p>
        </p:txBody>
      </p:sp>
      <p:sp>
        <p:nvSpPr>
          <p:cNvPr id="49" name="TextBox 48"/>
          <p:cNvSpPr txBox="1"/>
          <p:nvPr/>
        </p:nvSpPr>
        <p:spPr>
          <a:xfrm>
            <a:off x="8275320" y="4023360"/>
            <a:ext cx="31848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Rules on every automatic debit</a:t>
            </a:r>
          </a:p>
        </p:txBody>
      </p:sp>
      <p:sp>
        <p:nvSpPr>
          <p:cNvPr id="50" name="TextBox 49"/>
          <p:cNvSpPr txBox="1"/>
          <p:nvPr/>
        </p:nvSpPr>
        <p:spPr>
          <a:xfrm>
            <a:off x="8275320" y="4352544"/>
            <a:ext cx="3230575" cy="1783080"/>
          </a:xfrm>
          <a:prstGeom prst="rect">
            <a:avLst/>
          </a:prstGeom>
          <a:noFill/>
        </p:spPr>
        <p:txBody>
          <a:bodyPr wrap="square" lIns="0" tIns="0" rIns="0" bIns="0">
            <a:spAutoFit/>
          </a:bodyPr>
          <a:lstStyle/>
          <a:p>
            <a:pPr marL="173736" indent="-173736">
              <a:lnSpc>
                <a:spcPct val="104000"/>
              </a:lnSpc>
              <a:spcAft>
                <a:spcPts val="300"/>
              </a:spcAft>
              <a:buClr>
                <a:srgbClr val="D8602A"/>
              </a:buClr>
              <a:buSzPct val="70000"/>
              <a:buFont typeface="Arial"/>
              <a:buChar char="■"/>
            </a:pPr>
            <a:r>
              <a:rPr sz="1050">
                <a:solidFill>
                  <a:srgbClr val="0C1408"/>
                </a:solidFill>
                <a:latin typeface="Arial"/>
              </a:rPr>
              <a:t>At most one instalment each time</a:t>
            </a:r>
          </a:p>
          <a:p>
            <a:pPr marL="173736" indent="-173736">
              <a:lnSpc>
                <a:spcPct val="104000"/>
              </a:lnSpc>
              <a:spcAft>
                <a:spcPts val="300"/>
              </a:spcAft>
              <a:buClr>
                <a:srgbClr val="D8602A"/>
              </a:buClr>
              <a:buSzPct val="70000"/>
              <a:buFont typeface="Arial"/>
              <a:buChar char="■"/>
            </a:pPr>
            <a:r>
              <a:rPr sz="1050">
                <a:solidFill>
                  <a:srgbClr val="0C1408"/>
                </a:solidFill>
                <a:latin typeface="Arial"/>
              </a:rPr>
              <a:t>Only on the circle’s schedule</a:t>
            </a:r>
          </a:p>
          <a:p>
            <a:pPr marL="173736" indent="-173736">
              <a:lnSpc>
                <a:spcPct val="104000"/>
              </a:lnSpc>
              <a:spcAft>
                <a:spcPts val="300"/>
              </a:spcAft>
              <a:buClr>
                <a:srgbClr val="D8602A"/>
              </a:buClr>
              <a:buSzPct val="70000"/>
              <a:buFont typeface="Arial"/>
              <a:buChar char="■"/>
            </a:pPr>
            <a:r>
              <a:rPr sz="1050">
                <a:solidFill>
                  <a:srgbClr val="0C1408"/>
                </a:solidFill>
                <a:latin typeface="Arial"/>
              </a:rPr>
              <a:t>Cancelling moves the member to method 1 or 3; the commitment to the circle stays</a:t>
            </a:r>
          </a:p>
          <a:p>
            <a:pPr marL="173736" indent="-173736">
              <a:lnSpc>
                <a:spcPct val="104000"/>
              </a:lnSpc>
              <a:spcAft>
                <a:spcPts val="300"/>
              </a:spcAft>
              <a:buClr>
                <a:srgbClr val="D8602A"/>
              </a:buClr>
              <a:buSzPct val="70000"/>
              <a:buFont typeface="Arial"/>
              <a:buChar char="■"/>
            </a:pPr>
            <a:r>
              <a:rPr sz="1050">
                <a:solidFill>
                  <a:srgbClr val="0C1408"/>
                </a:solidFill>
                <a:latin typeface="Arial"/>
              </a:rPr>
              <a:t>A missed amount is held against the member’s own pot, never owed to Halqa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Wallets and PSP Integration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How money in a wallet, a card or another bank reaches the committee account at Mashreq</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16</a:t>
            </a:r>
          </a:p>
        </p:txBody>
      </p:sp>
      <p:sp>
        <p:nvSpPr>
          <p:cNvPr id="6" name="TextBox 5"/>
          <p:cNvSpPr txBox="1"/>
          <p:nvPr/>
        </p:nvSpPr>
        <p:spPr>
          <a:xfrm>
            <a:off x="548640" y="1481328"/>
            <a:ext cx="2057400" cy="256032"/>
          </a:xfrm>
          <a:prstGeom prst="rect">
            <a:avLst/>
          </a:prstGeom>
          <a:noFill/>
        </p:spPr>
        <p:txBody>
          <a:bodyPr wrap="square" lIns="0" tIns="0" rIns="0" bIns="0">
            <a:spAutoFit/>
          </a:bodyPr>
          <a:lstStyle/>
          <a:p>
            <a:pPr>
              <a:lnSpc>
                <a:spcPct val="105000"/>
              </a:lnSpc>
            </a:pPr>
            <a:r>
              <a:rPr sz="1050" b="1">
                <a:solidFill>
                  <a:srgbClr val="6B7280"/>
                </a:solidFill>
                <a:latin typeface="Arial"/>
              </a:rPr>
              <a:t>Where the money is</a:t>
            </a:r>
          </a:p>
        </p:txBody>
      </p:sp>
      <p:sp>
        <p:nvSpPr>
          <p:cNvPr id="7" name="TextBox 6"/>
          <p:cNvSpPr txBox="1"/>
          <p:nvPr/>
        </p:nvSpPr>
        <p:spPr>
          <a:xfrm>
            <a:off x="3063240" y="1481328"/>
            <a:ext cx="2057400" cy="256032"/>
          </a:xfrm>
          <a:prstGeom prst="rect">
            <a:avLst/>
          </a:prstGeom>
          <a:noFill/>
        </p:spPr>
        <p:txBody>
          <a:bodyPr wrap="square" lIns="0" tIns="0" rIns="0" bIns="0">
            <a:spAutoFit/>
          </a:bodyPr>
          <a:lstStyle/>
          <a:p>
            <a:pPr>
              <a:lnSpc>
                <a:spcPct val="105000"/>
              </a:lnSpc>
            </a:pPr>
            <a:r>
              <a:rPr sz="1050" b="1">
                <a:solidFill>
                  <a:srgbClr val="6B7280"/>
                </a:solidFill>
                <a:latin typeface="Arial"/>
              </a:rPr>
              <a:t>Route</a:t>
            </a:r>
          </a:p>
        </p:txBody>
      </p:sp>
      <p:sp>
        <p:nvSpPr>
          <p:cNvPr id="8" name="TextBox 7"/>
          <p:cNvSpPr txBox="1"/>
          <p:nvPr/>
        </p:nvSpPr>
        <p:spPr>
          <a:xfrm>
            <a:off x="5577840" y="1481328"/>
            <a:ext cx="2103120" cy="256032"/>
          </a:xfrm>
          <a:prstGeom prst="rect">
            <a:avLst/>
          </a:prstGeom>
          <a:noFill/>
        </p:spPr>
        <p:txBody>
          <a:bodyPr wrap="square" lIns="0" tIns="0" rIns="0" bIns="0">
            <a:spAutoFit/>
          </a:bodyPr>
          <a:lstStyle/>
          <a:p>
            <a:pPr>
              <a:lnSpc>
                <a:spcPct val="105000"/>
              </a:lnSpc>
            </a:pPr>
            <a:r>
              <a:rPr sz="1050" b="1">
                <a:solidFill>
                  <a:srgbClr val="6B7280"/>
                </a:solidFill>
                <a:latin typeface="Arial"/>
              </a:rPr>
              <a:t>At Mashreq</a:t>
            </a:r>
          </a:p>
        </p:txBody>
      </p:sp>
      <p:sp>
        <p:nvSpPr>
          <p:cNvPr id="9" name="TextBox 8"/>
          <p:cNvSpPr txBox="1"/>
          <p:nvPr/>
        </p:nvSpPr>
        <p:spPr>
          <a:xfrm>
            <a:off x="8229600" y="1481328"/>
            <a:ext cx="3413455" cy="256032"/>
          </a:xfrm>
          <a:prstGeom prst="rect">
            <a:avLst/>
          </a:prstGeom>
          <a:noFill/>
        </p:spPr>
        <p:txBody>
          <a:bodyPr wrap="square" lIns="0" tIns="0" rIns="0" bIns="0">
            <a:spAutoFit/>
          </a:bodyPr>
          <a:lstStyle/>
          <a:p>
            <a:pPr>
              <a:lnSpc>
                <a:spcPct val="105000"/>
              </a:lnSpc>
            </a:pPr>
            <a:r>
              <a:rPr sz="1050" b="1">
                <a:solidFill>
                  <a:srgbClr val="6B7280"/>
                </a:solidFill>
                <a:latin typeface="Arial"/>
              </a:rPr>
              <a:t>Payout</a:t>
            </a:r>
          </a:p>
        </p:txBody>
      </p:sp>
      <p:sp>
        <p:nvSpPr>
          <p:cNvPr id="10" name="Rectangle 9"/>
          <p:cNvSpPr/>
          <p:nvPr/>
        </p:nvSpPr>
        <p:spPr>
          <a:xfrm>
            <a:off x="3063240" y="1783080"/>
            <a:ext cx="4617720" cy="45720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Halqa platform</a:t>
            </a:r>
          </a:p>
          <a:p>
            <a:pPr algn="ctr">
              <a:lnSpc>
                <a:spcPct val="102000"/>
              </a:lnSpc>
              <a:spcBef>
                <a:spcPts val="200"/>
              </a:spcBef>
            </a:pPr>
            <a:r>
              <a:rPr sz="1000">
                <a:solidFill>
                  <a:srgbClr val="4B5563"/>
                </a:solidFill>
                <a:latin typeface="Arial"/>
              </a:rPr>
              <a:t>sends requests by API; receives confirmations</a:t>
            </a:r>
          </a:p>
        </p:txBody>
      </p:sp>
      <p:sp>
        <p:nvSpPr>
          <p:cNvPr id="11" name="Rectangle 10"/>
          <p:cNvSpPr/>
          <p:nvPr/>
        </p:nvSpPr>
        <p:spPr>
          <a:xfrm>
            <a:off x="548640" y="2606040"/>
            <a:ext cx="2057400"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00" b="1">
                <a:solidFill>
                  <a:srgbClr val="0C1408"/>
                </a:solidFill>
                <a:latin typeface="Arial"/>
              </a:rPr>
              <a:t>Mashreq account</a:t>
            </a:r>
          </a:p>
        </p:txBody>
      </p:sp>
      <p:sp>
        <p:nvSpPr>
          <p:cNvPr id="12" name="Rectangle 11"/>
          <p:cNvSpPr/>
          <p:nvPr/>
        </p:nvSpPr>
        <p:spPr>
          <a:xfrm>
            <a:off x="548640" y="3337560"/>
            <a:ext cx="2057400"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Another bank account</a:t>
            </a:r>
          </a:p>
        </p:txBody>
      </p:sp>
      <p:sp>
        <p:nvSpPr>
          <p:cNvPr id="13" name="Rectangle 12"/>
          <p:cNvSpPr/>
          <p:nvPr/>
        </p:nvSpPr>
        <p:spPr>
          <a:xfrm>
            <a:off x="548640" y="406908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Mobile wallet</a:t>
            </a:r>
          </a:p>
          <a:p>
            <a:pPr algn="ctr">
              <a:lnSpc>
                <a:spcPct val="102000"/>
              </a:lnSpc>
              <a:spcBef>
                <a:spcPts val="200"/>
              </a:spcBef>
            </a:pPr>
            <a:r>
              <a:rPr sz="900">
                <a:solidFill>
                  <a:srgbClr val="4B5563"/>
                </a:solidFill>
                <a:latin typeface="Arial"/>
              </a:rPr>
              <a:t>JazzCash, Easypaisa and others</a:t>
            </a:r>
          </a:p>
        </p:txBody>
      </p:sp>
      <p:sp>
        <p:nvSpPr>
          <p:cNvPr id="14" name="Rectangle 13"/>
          <p:cNvSpPr/>
          <p:nvPr/>
        </p:nvSpPr>
        <p:spPr>
          <a:xfrm>
            <a:off x="548640" y="480060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Debit card</a:t>
            </a:r>
          </a:p>
        </p:txBody>
      </p:sp>
      <p:sp>
        <p:nvSpPr>
          <p:cNvPr id="15" name="Rectangle 14"/>
          <p:cNvSpPr/>
          <p:nvPr/>
        </p:nvSpPr>
        <p:spPr>
          <a:xfrm>
            <a:off x="3063240" y="2606040"/>
            <a:ext cx="2057400"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00" b="1">
                <a:solidFill>
                  <a:srgbClr val="0C1408"/>
                </a:solidFill>
                <a:latin typeface="Arial"/>
              </a:rPr>
              <a:t>Direct debit mandate</a:t>
            </a:r>
          </a:p>
        </p:txBody>
      </p:sp>
      <p:sp>
        <p:nvSpPr>
          <p:cNvPr id="16" name="Rectangle 15"/>
          <p:cNvSpPr/>
          <p:nvPr/>
        </p:nvSpPr>
        <p:spPr>
          <a:xfrm>
            <a:off x="3063240" y="333756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Raast transfer</a:t>
            </a:r>
          </a:p>
        </p:txBody>
      </p:sp>
      <p:sp>
        <p:nvSpPr>
          <p:cNvPr id="17" name="Rectangle 16"/>
          <p:cNvSpPr/>
          <p:nvPr/>
        </p:nvSpPr>
        <p:spPr>
          <a:xfrm>
            <a:off x="3063240" y="4069080"/>
            <a:ext cx="2057400" cy="129844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50" b="1">
                <a:solidFill>
                  <a:srgbClr val="0C1408"/>
                </a:solidFill>
                <a:latin typeface="Arial"/>
              </a:rPr>
              <a:t>Licensed PSP</a:t>
            </a:r>
          </a:p>
          <a:p>
            <a:pPr algn="ctr">
              <a:lnSpc>
                <a:spcPct val="102000"/>
              </a:lnSpc>
              <a:spcBef>
                <a:spcPts val="200"/>
              </a:spcBef>
            </a:pPr>
            <a:r>
              <a:rPr sz="1000">
                <a:solidFill>
                  <a:srgbClr val="4B5563"/>
                </a:solidFill>
                <a:latin typeface="Arial"/>
              </a:rPr>
              <a:t>tokenised wallet and card payments</a:t>
            </a:r>
          </a:p>
        </p:txBody>
      </p:sp>
      <p:sp>
        <p:nvSpPr>
          <p:cNvPr id="18" name="Rectangle 17"/>
          <p:cNvSpPr/>
          <p:nvPr/>
        </p:nvSpPr>
        <p:spPr>
          <a:xfrm>
            <a:off x="5577840" y="2606040"/>
            <a:ext cx="2103120" cy="276148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200" b="1">
                <a:solidFill>
                  <a:srgbClr val="0C1408"/>
                </a:solidFill>
                <a:latin typeface="Arial"/>
              </a:rPr>
              <a:t>Committee account</a:t>
            </a:r>
          </a:p>
          <a:p>
            <a:pPr algn="ctr">
              <a:lnSpc>
                <a:spcPct val="102000"/>
              </a:lnSpc>
              <a:spcBef>
                <a:spcPts val="200"/>
              </a:spcBef>
            </a:pPr>
            <a:r>
              <a:rPr sz="1000">
                <a:solidFill>
                  <a:srgbClr val="4B5563"/>
                </a:solidFill>
                <a:latin typeface="Arial"/>
              </a:rPr>
              <a:t>held about 7 days; profit on the balance</a:t>
            </a:r>
          </a:p>
        </p:txBody>
      </p:sp>
      <p:sp>
        <p:nvSpPr>
          <p:cNvPr id="19" name="Rectangle 18"/>
          <p:cNvSpPr/>
          <p:nvPr/>
        </p:nvSpPr>
        <p:spPr>
          <a:xfrm>
            <a:off x="8229600" y="2606040"/>
            <a:ext cx="3413455" cy="566928"/>
          </a:xfrm>
          <a:prstGeom prst="rect">
            <a:avLst/>
          </a:prstGeom>
          <a:solidFill>
            <a:srgbClr val="FDF1EA"/>
          </a:solidFill>
          <a:ln w="15875">
            <a:solidFill>
              <a:srgbClr val="D8602A"/>
            </a:solidFill>
          </a:ln>
        </p:spPr>
        <p:txBody>
          <a:bodyPr rtlCol="0" anchor="ctr" lIns="73152" tIns="54864" rIns="73152" bIns="54864" wrap="square"/>
          <a:lstStyle/>
          <a:p>
            <a:pPr algn="ctr">
              <a:lnSpc>
                <a:spcPct val="102000"/>
              </a:lnSpc>
            </a:pPr>
            <a:r>
              <a:rPr sz="1100" b="1">
                <a:solidFill>
                  <a:srgbClr val="0C1408"/>
                </a:solidFill>
                <a:latin typeface="Arial"/>
              </a:rPr>
              <a:t>Collector’s Mashreq account</a:t>
            </a:r>
          </a:p>
          <a:p>
            <a:pPr algn="ctr">
              <a:lnSpc>
                <a:spcPct val="102000"/>
              </a:lnSpc>
              <a:spcBef>
                <a:spcPts val="200"/>
              </a:spcBef>
            </a:pPr>
            <a:r>
              <a:rPr sz="950">
                <a:solidFill>
                  <a:srgbClr val="4B5563"/>
                </a:solidFill>
                <a:latin typeface="Arial"/>
              </a:rPr>
              <a:t>the pot on the 8th</a:t>
            </a:r>
          </a:p>
        </p:txBody>
      </p:sp>
      <p:cxnSp>
        <p:nvCxnSpPr>
          <p:cNvPr id="20" name="Connector 19"/>
          <p:cNvCxnSpPr/>
          <p:nvPr/>
        </p:nvCxnSpPr>
        <p:spPr>
          <a:xfrm>
            <a:off x="2606040" y="2889504"/>
            <a:ext cx="457200" cy="0"/>
          </a:xfrm>
          <a:prstGeom prst="line">
            <a:avLst/>
          </a:prstGeom>
          <a:ln w="38100">
            <a:solidFill>
              <a:srgbClr val="2A78D6"/>
            </a:solidFill>
            <a:tailEnd type="triangle" w="med" len="med"/>
          </a:ln>
        </p:spPr>
      </p:cxnSp>
      <p:cxnSp>
        <p:nvCxnSpPr>
          <p:cNvPr id="21" name="Connector 20"/>
          <p:cNvCxnSpPr/>
          <p:nvPr/>
        </p:nvCxnSpPr>
        <p:spPr>
          <a:xfrm>
            <a:off x="5120640" y="2889504"/>
            <a:ext cx="457200" cy="0"/>
          </a:xfrm>
          <a:prstGeom prst="line">
            <a:avLst/>
          </a:prstGeom>
          <a:ln w="38100">
            <a:solidFill>
              <a:srgbClr val="2A78D6"/>
            </a:solidFill>
            <a:tailEnd type="triangle" w="med" len="med"/>
          </a:ln>
        </p:spPr>
      </p:cxnSp>
      <p:cxnSp>
        <p:nvCxnSpPr>
          <p:cNvPr id="22" name="Connector 21"/>
          <p:cNvCxnSpPr/>
          <p:nvPr/>
        </p:nvCxnSpPr>
        <p:spPr>
          <a:xfrm>
            <a:off x="2606040" y="3621024"/>
            <a:ext cx="457200" cy="0"/>
          </a:xfrm>
          <a:prstGeom prst="line">
            <a:avLst/>
          </a:prstGeom>
          <a:ln w="38100">
            <a:solidFill>
              <a:srgbClr val="2A78D6"/>
            </a:solidFill>
            <a:tailEnd type="triangle" w="med" len="med"/>
          </a:ln>
        </p:spPr>
      </p:cxnSp>
      <p:cxnSp>
        <p:nvCxnSpPr>
          <p:cNvPr id="23" name="Connector 22"/>
          <p:cNvCxnSpPr/>
          <p:nvPr/>
        </p:nvCxnSpPr>
        <p:spPr>
          <a:xfrm>
            <a:off x="5120640" y="3621024"/>
            <a:ext cx="457200" cy="0"/>
          </a:xfrm>
          <a:prstGeom prst="line">
            <a:avLst/>
          </a:prstGeom>
          <a:ln w="38100">
            <a:solidFill>
              <a:srgbClr val="2A78D6"/>
            </a:solidFill>
            <a:tailEnd type="triangle" w="med" len="med"/>
          </a:ln>
        </p:spPr>
      </p:cxnSp>
      <p:cxnSp>
        <p:nvCxnSpPr>
          <p:cNvPr id="24" name="Connector 23"/>
          <p:cNvCxnSpPr/>
          <p:nvPr/>
        </p:nvCxnSpPr>
        <p:spPr>
          <a:xfrm>
            <a:off x="2606040" y="4352544"/>
            <a:ext cx="457200" cy="0"/>
          </a:xfrm>
          <a:prstGeom prst="line">
            <a:avLst/>
          </a:prstGeom>
          <a:ln w="38100">
            <a:solidFill>
              <a:srgbClr val="2A78D6"/>
            </a:solidFill>
            <a:tailEnd type="triangle" w="med" len="med"/>
          </a:ln>
        </p:spPr>
      </p:cxnSp>
      <p:cxnSp>
        <p:nvCxnSpPr>
          <p:cNvPr id="25" name="Connector 24"/>
          <p:cNvCxnSpPr/>
          <p:nvPr/>
        </p:nvCxnSpPr>
        <p:spPr>
          <a:xfrm>
            <a:off x="2606040" y="5084064"/>
            <a:ext cx="457200" cy="0"/>
          </a:xfrm>
          <a:prstGeom prst="line">
            <a:avLst/>
          </a:prstGeom>
          <a:ln w="38100">
            <a:solidFill>
              <a:srgbClr val="2A78D6"/>
            </a:solidFill>
            <a:tailEnd type="triangle" w="med" len="med"/>
          </a:ln>
        </p:spPr>
      </p:cxnSp>
      <p:cxnSp>
        <p:nvCxnSpPr>
          <p:cNvPr id="26" name="Connector 25"/>
          <p:cNvCxnSpPr/>
          <p:nvPr/>
        </p:nvCxnSpPr>
        <p:spPr>
          <a:xfrm>
            <a:off x="5120640" y="4718304"/>
            <a:ext cx="457200" cy="0"/>
          </a:xfrm>
          <a:prstGeom prst="line">
            <a:avLst/>
          </a:prstGeom>
          <a:ln w="38100">
            <a:solidFill>
              <a:srgbClr val="2A78D6"/>
            </a:solidFill>
            <a:tailEnd type="triangle" w="med" len="med"/>
          </a:ln>
        </p:spPr>
      </p:cxnSp>
      <p:cxnSp>
        <p:nvCxnSpPr>
          <p:cNvPr id="27" name="Connector 26"/>
          <p:cNvCxnSpPr/>
          <p:nvPr/>
        </p:nvCxnSpPr>
        <p:spPr>
          <a:xfrm>
            <a:off x="7680960" y="2889504"/>
            <a:ext cx="548640" cy="0"/>
          </a:xfrm>
          <a:prstGeom prst="line">
            <a:avLst/>
          </a:prstGeom>
          <a:ln w="38100">
            <a:solidFill>
              <a:srgbClr val="2A78D6"/>
            </a:solidFill>
            <a:tailEnd type="triangle" w="med" len="med"/>
          </a:ln>
        </p:spPr>
      </p:cxnSp>
      <p:cxnSp>
        <p:nvCxnSpPr>
          <p:cNvPr id="28" name="Connector 27"/>
          <p:cNvCxnSpPr/>
          <p:nvPr/>
        </p:nvCxnSpPr>
        <p:spPr>
          <a:xfrm>
            <a:off x="3520440" y="2240280"/>
            <a:ext cx="0" cy="365760"/>
          </a:xfrm>
          <a:prstGeom prst="line">
            <a:avLst/>
          </a:prstGeom>
          <a:ln w="19050">
            <a:solidFill>
              <a:srgbClr val="41801A"/>
            </a:solidFill>
            <a:tailEnd type="triangle" w="med" len="med"/>
          </a:ln>
        </p:spPr>
      </p:cxnSp>
      <p:cxnSp>
        <p:nvCxnSpPr>
          <p:cNvPr id="29" name="Connector 28"/>
          <p:cNvCxnSpPr/>
          <p:nvPr/>
        </p:nvCxnSpPr>
        <p:spPr>
          <a:xfrm>
            <a:off x="6629400" y="2240280"/>
            <a:ext cx="0" cy="365760"/>
          </a:xfrm>
          <a:prstGeom prst="line">
            <a:avLst/>
          </a:prstGeom>
          <a:ln w="19050">
            <a:solidFill>
              <a:srgbClr val="41801A"/>
            </a:solidFill>
            <a:tailEnd type="triangle" w="med" len="med"/>
          </a:ln>
        </p:spPr>
      </p:cxnSp>
      <p:cxnSp>
        <p:nvCxnSpPr>
          <p:cNvPr id="30" name="Connector 29"/>
          <p:cNvCxnSpPr/>
          <p:nvPr/>
        </p:nvCxnSpPr>
        <p:spPr>
          <a:xfrm flipV="1">
            <a:off x="7360920" y="2240280"/>
            <a:ext cx="0" cy="365760"/>
          </a:xfrm>
          <a:prstGeom prst="line">
            <a:avLst/>
          </a:prstGeom>
          <a:ln w="15875">
            <a:solidFill>
              <a:srgbClr val="4B5563"/>
            </a:solidFill>
            <a:prstDash val="dash"/>
            <a:tailEnd type="triangle" w="med" len="med"/>
          </a:ln>
        </p:spPr>
      </p:cxnSp>
      <p:sp>
        <p:nvSpPr>
          <p:cNvPr id="31" name="TextBox 30"/>
          <p:cNvSpPr txBox="1"/>
          <p:nvPr/>
        </p:nvSpPr>
        <p:spPr>
          <a:xfrm>
            <a:off x="8229600" y="3401568"/>
            <a:ext cx="34134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The process</a:t>
            </a:r>
          </a:p>
        </p:txBody>
      </p:sp>
      <p:sp>
        <p:nvSpPr>
          <p:cNvPr id="32" name="TextBox 31"/>
          <p:cNvSpPr txBox="1"/>
          <p:nvPr/>
        </p:nvSpPr>
        <p:spPr>
          <a:xfrm>
            <a:off x="8229600" y="3730752"/>
            <a:ext cx="3413455" cy="640080"/>
          </a:xfrm>
          <a:prstGeom prst="rect">
            <a:avLst/>
          </a:prstGeom>
          <a:noFill/>
        </p:spPr>
        <p:txBody>
          <a:bodyPr wrap="square" lIns="0" tIns="0" rIns="0" bIns="0">
            <a:spAutoFit/>
          </a:bodyPr>
          <a:lstStyle/>
          <a:p>
            <a:pPr>
              <a:lnSpc>
                <a:spcPct val="103000"/>
              </a:lnSpc>
            </a:pPr>
            <a:r>
              <a:rPr sz="1050" b="1">
                <a:solidFill>
                  <a:srgbClr val="9E3F17"/>
                </a:solidFill>
                <a:latin typeface="Arial"/>
              </a:rPr>
              <a:t>1  Link   </a:t>
            </a:r>
            <a:r>
              <a:rPr sz="1050">
                <a:solidFill>
                  <a:srgbClr val="0C1408"/>
                </a:solidFill>
                <a:latin typeface="Arial"/>
              </a:rPr>
              <a:t>The member links a wallet or card once in the app. The PSP keeps the token; Halqa keeps only a reference.</a:t>
            </a:r>
          </a:p>
        </p:txBody>
      </p:sp>
      <p:sp>
        <p:nvSpPr>
          <p:cNvPr id="33" name="TextBox 32"/>
          <p:cNvSpPr txBox="1"/>
          <p:nvPr/>
        </p:nvSpPr>
        <p:spPr>
          <a:xfrm>
            <a:off x="8229600" y="4370832"/>
            <a:ext cx="3413455" cy="640080"/>
          </a:xfrm>
          <a:prstGeom prst="rect">
            <a:avLst/>
          </a:prstGeom>
          <a:noFill/>
        </p:spPr>
        <p:txBody>
          <a:bodyPr wrap="square" lIns="0" tIns="0" rIns="0" bIns="0">
            <a:spAutoFit/>
          </a:bodyPr>
          <a:lstStyle/>
          <a:p>
            <a:pPr>
              <a:lnSpc>
                <a:spcPct val="103000"/>
              </a:lnSpc>
            </a:pPr>
            <a:r>
              <a:rPr sz="1050" b="1">
                <a:solidFill>
                  <a:srgbClr val="9E3F17"/>
                </a:solidFill>
                <a:latin typeface="Arial"/>
              </a:rPr>
              <a:t>2  Collect   </a:t>
            </a:r>
            <a:r>
              <a:rPr sz="1050">
                <a:solidFill>
                  <a:srgbClr val="0C1408"/>
                </a:solidFill>
                <a:latin typeface="Arial"/>
              </a:rPr>
              <a:t>On payday Halqa asks Mashreq or the PSP to collect, under the member’s consent.</a:t>
            </a:r>
          </a:p>
        </p:txBody>
      </p:sp>
      <p:sp>
        <p:nvSpPr>
          <p:cNvPr id="34" name="TextBox 33"/>
          <p:cNvSpPr txBox="1"/>
          <p:nvPr/>
        </p:nvSpPr>
        <p:spPr>
          <a:xfrm>
            <a:off x="8229600" y="5010912"/>
            <a:ext cx="3413455" cy="640080"/>
          </a:xfrm>
          <a:prstGeom prst="rect">
            <a:avLst/>
          </a:prstGeom>
          <a:noFill/>
        </p:spPr>
        <p:txBody>
          <a:bodyPr wrap="square" lIns="0" tIns="0" rIns="0" bIns="0">
            <a:spAutoFit/>
          </a:bodyPr>
          <a:lstStyle/>
          <a:p>
            <a:pPr>
              <a:lnSpc>
                <a:spcPct val="103000"/>
              </a:lnSpc>
            </a:pPr>
            <a:r>
              <a:rPr sz="1050" b="1">
                <a:solidFill>
                  <a:srgbClr val="9E3F17"/>
                </a:solidFill>
                <a:latin typeface="Arial"/>
              </a:rPr>
              <a:t>3  Settle   </a:t>
            </a:r>
            <a:r>
              <a:rPr sz="1050">
                <a:solidFill>
                  <a:srgbClr val="0C1408"/>
                </a:solidFill>
                <a:latin typeface="Arial"/>
              </a:rPr>
              <a:t>The PSP settles into the committee account at Mashreq, never to Halqa.</a:t>
            </a:r>
          </a:p>
        </p:txBody>
      </p:sp>
      <p:sp>
        <p:nvSpPr>
          <p:cNvPr id="35" name="TextBox 34"/>
          <p:cNvSpPr txBox="1"/>
          <p:nvPr/>
        </p:nvSpPr>
        <p:spPr>
          <a:xfrm>
            <a:off x="8229600" y="5650992"/>
            <a:ext cx="3413455" cy="640080"/>
          </a:xfrm>
          <a:prstGeom prst="rect">
            <a:avLst/>
          </a:prstGeom>
          <a:noFill/>
        </p:spPr>
        <p:txBody>
          <a:bodyPr wrap="square" lIns="0" tIns="0" rIns="0" bIns="0">
            <a:spAutoFit/>
          </a:bodyPr>
          <a:lstStyle/>
          <a:p>
            <a:pPr>
              <a:lnSpc>
                <a:spcPct val="103000"/>
              </a:lnSpc>
            </a:pPr>
            <a:r>
              <a:rPr sz="1050" b="1">
                <a:solidFill>
                  <a:srgbClr val="9E3F17"/>
                </a:solidFill>
                <a:latin typeface="Arial"/>
              </a:rPr>
              <a:t>4  Confirm   </a:t>
            </a:r>
            <a:r>
              <a:rPr sz="1050">
                <a:solidFill>
                  <a:srgbClr val="0C1408"/>
                </a:solidFill>
                <a:latin typeface="Arial"/>
              </a:rPr>
              <a:t>Each payment is confirmed; Halqa updates the record and reconciles every entry daily.</a:t>
            </a:r>
          </a:p>
        </p:txBody>
      </p:sp>
      <p:cxnSp>
        <p:nvCxnSpPr>
          <p:cNvPr id="36" name="Connector 35"/>
          <p:cNvCxnSpPr/>
          <p:nvPr/>
        </p:nvCxnSpPr>
        <p:spPr>
          <a:xfrm>
            <a:off x="548640" y="5696712"/>
            <a:ext cx="384048" cy="0"/>
          </a:xfrm>
          <a:prstGeom prst="line">
            <a:avLst/>
          </a:prstGeom>
          <a:ln w="38100">
            <a:solidFill>
              <a:srgbClr val="2A78D6"/>
            </a:solidFill>
            <a:tailEnd type="triangle" w="med" len="med"/>
          </a:ln>
        </p:spPr>
      </p:cxnSp>
      <p:sp>
        <p:nvSpPr>
          <p:cNvPr id="37" name="TextBox 36"/>
          <p:cNvSpPr txBox="1"/>
          <p:nvPr/>
        </p:nvSpPr>
        <p:spPr>
          <a:xfrm>
            <a:off x="1005840" y="557784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38" name="Connector 37"/>
          <p:cNvCxnSpPr/>
          <p:nvPr/>
        </p:nvCxnSpPr>
        <p:spPr>
          <a:xfrm>
            <a:off x="1737360" y="5696712"/>
            <a:ext cx="384048" cy="0"/>
          </a:xfrm>
          <a:prstGeom prst="line">
            <a:avLst/>
          </a:prstGeom>
          <a:ln w="19050">
            <a:solidFill>
              <a:srgbClr val="41801A"/>
            </a:solidFill>
            <a:tailEnd type="triangle" w="med" len="med"/>
          </a:ln>
        </p:spPr>
      </p:cxnSp>
      <p:sp>
        <p:nvSpPr>
          <p:cNvPr id="39" name="TextBox 38"/>
          <p:cNvSpPr txBox="1"/>
          <p:nvPr/>
        </p:nvSpPr>
        <p:spPr>
          <a:xfrm>
            <a:off x="2194560" y="5577840"/>
            <a:ext cx="570586" cy="237744"/>
          </a:xfrm>
          <a:prstGeom prst="rect">
            <a:avLst/>
          </a:prstGeom>
          <a:noFill/>
        </p:spPr>
        <p:txBody>
          <a:bodyPr wrap="square" lIns="0" tIns="0" rIns="0" bIns="0">
            <a:spAutoFit/>
          </a:bodyPr>
          <a:lstStyle/>
          <a:p>
            <a:pPr>
              <a:lnSpc>
                <a:spcPct val="105000"/>
              </a:lnSpc>
            </a:pPr>
            <a:r>
              <a:rPr sz="1000">
                <a:solidFill>
                  <a:srgbClr val="4B5563"/>
                </a:solidFill>
                <a:latin typeface="Arial"/>
              </a:rPr>
              <a:t>request</a:t>
            </a:r>
          </a:p>
        </p:txBody>
      </p:sp>
      <p:cxnSp>
        <p:nvCxnSpPr>
          <p:cNvPr id="40" name="Connector 39"/>
          <p:cNvCxnSpPr/>
          <p:nvPr/>
        </p:nvCxnSpPr>
        <p:spPr>
          <a:xfrm>
            <a:off x="3057754" y="5696712"/>
            <a:ext cx="384048" cy="0"/>
          </a:xfrm>
          <a:prstGeom prst="line">
            <a:avLst/>
          </a:prstGeom>
          <a:ln w="15875">
            <a:solidFill>
              <a:srgbClr val="4B5563"/>
            </a:solidFill>
            <a:prstDash val="dash"/>
            <a:tailEnd type="triangle" w="med" len="med"/>
          </a:ln>
        </p:spPr>
      </p:cxnSp>
      <p:sp>
        <p:nvSpPr>
          <p:cNvPr id="41" name="TextBox 40"/>
          <p:cNvSpPr txBox="1"/>
          <p:nvPr/>
        </p:nvSpPr>
        <p:spPr>
          <a:xfrm>
            <a:off x="3514954" y="5577840"/>
            <a:ext cx="899770"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a:t>
            </a:r>
          </a:p>
        </p:txBody>
      </p:sp>
      <p:sp>
        <p:nvSpPr>
          <p:cNvPr id="42" name="Rectangle 41"/>
          <p:cNvSpPr/>
          <p:nvPr/>
        </p:nvSpPr>
        <p:spPr>
          <a:xfrm>
            <a:off x="548640" y="5897880"/>
            <a:ext cx="201168" cy="173736"/>
          </a:xfrm>
          <a:prstGeom prst="rect">
            <a:avLst/>
          </a:prstGeom>
          <a:solidFill>
            <a:srgbClr val="FDF1EA"/>
          </a:solidFill>
          <a:ln w="12700">
            <a:solidFill>
              <a:srgbClr val="D8602A"/>
            </a:solidFill>
          </a:ln>
        </p:spPr>
        <p:txBody>
          <a:bodyPr rtlCol="0" anchor="ctr"/>
          <a:lstStyle/>
          <a:p>
            <a:pPr algn="ctr"/>
          </a:p>
        </p:txBody>
      </p:sp>
      <p:sp>
        <p:nvSpPr>
          <p:cNvPr id="43" name="TextBox 42"/>
          <p:cNvSpPr txBox="1"/>
          <p:nvPr/>
        </p:nvSpPr>
        <p:spPr>
          <a:xfrm>
            <a:off x="822960" y="5870448"/>
            <a:ext cx="570586" cy="237744"/>
          </a:xfrm>
          <a:prstGeom prst="rect">
            <a:avLst/>
          </a:prstGeom>
          <a:noFill/>
        </p:spPr>
        <p:txBody>
          <a:bodyPr wrap="square" lIns="0" tIns="0" rIns="0" bIns="0">
            <a:spAutoFit/>
          </a:bodyPr>
          <a:lstStyle/>
          <a:p>
            <a:pPr>
              <a:lnSpc>
                <a:spcPct val="105000"/>
              </a:lnSpc>
            </a:pPr>
            <a:r>
              <a:rPr sz="1000">
                <a:solidFill>
                  <a:srgbClr val="4B5563"/>
                </a:solidFill>
                <a:latin typeface="Arial"/>
              </a:rPr>
              <a:t>Mashreq</a:t>
            </a:r>
          </a:p>
        </p:txBody>
      </p:sp>
      <p:sp>
        <p:nvSpPr>
          <p:cNvPr id="44" name="Rectangle 43"/>
          <p:cNvSpPr/>
          <p:nvPr/>
        </p:nvSpPr>
        <p:spPr>
          <a:xfrm>
            <a:off x="1686154" y="5897880"/>
            <a:ext cx="201168" cy="173736"/>
          </a:xfrm>
          <a:prstGeom prst="rect">
            <a:avLst/>
          </a:prstGeom>
          <a:solidFill>
            <a:srgbClr val="EEF4FD"/>
          </a:solidFill>
          <a:ln w="12700">
            <a:solidFill>
              <a:srgbClr val="2A78D6"/>
            </a:solidFill>
          </a:ln>
        </p:spPr>
        <p:txBody>
          <a:bodyPr rtlCol="0" anchor="ctr"/>
          <a:lstStyle/>
          <a:p>
            <a:pPr algn="ctr"/>
          </a:p>
        </p:txBody>
      </p:sp>
      <p:sp>
        <p:nvSpPr>
          <p:cNvPr id="45" name="TextBox 44"/>
          <p:cNvSpPr txBox="1"/>
          <p:nvPr/>
        </p:nvSpPr>
        <p:spPr>
          <a:xfrm>
            <a:off x="1960474" y="5870448"/>
            <a:ext cx="2414016" cy="237744"/>
          </a:xfrm>
          <a:prstGeom prst="rect">
            <a:avLst/>
          </a:prstGeom>
          <a:noFill/>
        </p:spPr>
        <p:txBody>
          <a:bodyPr wrap="square" lIns="0" tIns="0" rIns="0" bIns="0">
            <a:spAutoFit/>
          </a:bodyPr>
          <a:lstStyle/>
          <a:p>
            <a:pPr>
              <a:lnSpc>
                <a:spcPct val="105000"/>
              </a:lnSpc>
            </a:pPr>
            <a:r>
              <a:rPr sz="1000">
                <a:solidFill>
                  <a:srgbClr val="4B5563"/>
                </a:solidFill>
                <a:latin typeface="Arial"/>
              </a:rPr>
              <a:t>wallets, cards and payment networks</a:t>
            </a:r>
          </a:p>
        </p:txBody>
      </p:sp>
      <p:sp>
        <p:nvSpPr>
          <p:cNvPr id="46" name="Rectangle 45"/>
          <p:cNvSpPr/>
          <p:nvPr/>
        </p:nvSpPr>
        <p:spPr>
          <a:xfrm>
            <a:off x="4667098" y="5897880"/>
            <a:ext cx="201168" cy="173736"/>
          </a:xfrm>
          <a:prstGeom prst="rect">
            <a:avLst/>
          </a:prstGeom>
          <a:solidFill>
            <a:srgbClr val="F3FCE7"/>
          </a:solidFill>
          <a:ln w="12700">
            <a:solidFill>
              <a:srgbClr val="6DC72A"/>
            </a:solidFill>
          </a:ln>
        </p:spPr>
        <p:txBody>
          <a:bodyPr rtlCol="0" anchor="ctr"/>
          <a:lstStyle/>
          <a:p>
            <a:pPr algn="ctr"/>
          </a:p>
        </p:txBody>
      </p:sp>
      <p:sp>
        <p:nvSpPr>
          <p:cNvPr id="47" name="TextBox 46"/>
          <p:cNvSpPr txBox="1"/>
          <p:nvPr/>
        </p:nvSpPr>
        <p:spPr>
          <a:xfrm>
            <a:off x="4941418" y="5870448"/>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Halqa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Default Prevention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Controls before joining, at joining, at each instalment and after a missed payment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17</a:t>
            </a:r>
          </a:p>
        </p:txBody>
      </p:sp>
      <p:sp>
        <p:nvSpPr>
          <p:cNvPr id="6" name="Pentagon 5"/>
          <p:cNvSpPr/>
          <p:nvPr/>
        </p:nvSpPr>
        <p:spPr>
          <a:xfrm>
            <a:off x="548640" y="1572768"/>
            <a:ext cx="2897048" cy="566928"/>
          </a:xfrm>
          <a:prstGeom prst="homePlate">
            <a:avLst>
              <a:gd name="adj" fmla="val 28000"/>
            </a:avLst>
          </a:prstGeom>
          <a:solidFill>
            <a:srgbClr val="2A78D6"/>
          </a:solidFill>
          <a:ln>
            <a:noFill/>
          </a:ln>
        </p:spPr>
        <p:txBody>
          <a:bodyPr rtlCol="0" anchor="ctr" lIns="45720" tIns="34290" rIns="45720" bIns="34290" wrap="square"/>
          <a:lstStyle/>
          <a:p>
            <a:pPr algn="ctr">
              <a:lnSpc>
                <a:spcPct val="105000"/>
              </a:lnSpc>
            </a:pPr>
            <a:r>
              <a:rPr sz="1250" b="1">
                <a:solidFill>
                  <a:srgbClr val="FFFFFF"/>
                </a:solidFill>
                <a:latin typeface="Arial"/>
              </a:rPr>
              <a:t>Before joining</a:t>
            </a:r>
          </a:p>
        </p:txBody>
      </p:sp>
      <p:sp>
        <p:nvSpPr>
          <p:cNvPr id="7" name="TextBox 6"/>
          <p:cNvSpPr txBox="1"/>
          <p:nvPr/>
        </p:nvSpPr>
        <p:spPr>
          <a:xfrm>
            <a:off x="594360" y="2350008"/>
            <a:ext cx="2458136" cy="3017520"/>
          </a:xfrm>
          <a:prstGeom prst="rect">
            <a:avLst/>
          </a:prstGeom>
          <a:noFill/>
        </p:spPr>
        <p:txBody>
          <a:bodyPr wrap="square" lIns="0" tIns="0" rIns="0" bIns="0">
            <a:spAutoFit/>
          </a:bodyPr>
          <a:lstStyle/>
          <a:p>
            <a:pPr marL="173736" indent="-173736">
              <a:lnSpc>
                <a:spcPct val="104000"/>
              </a:lnSpc>
              <a:spcAft>
                <a:spcPts val="600"/>
              </a:spcAft>
              <a:buClr>
                <a:srgbClr val="2A78D6"/>
              </a:buClr>
              <a:buSzPct val="70000"/>
              <a:buFont typeface="Arial"/>
              <a:buChar char="■"/>
            </a:pPr>
            <a:r>
              <a:rPr sz="1200">
                <a:solidFill>
                  <a:srgbClr val="0C1408"/>
                </a:solidFill>
                <a:latin typeface="Arial"/>
              </a:rPr>
              <a:t>Identity, income and affordability checks</a:t>
            </a:r>
          </a:p>
          <a:p>
            <a:pPr marL="173736" indent="-173736">
              <a:lnSpc>
                <a:spcPct val="104000"/>
              </a:lnSpc>
              <a:spcAft>
                <a:spcPts val="600"/>
              </a:spcAft>
              <a:buClr>
                <a:srgbClr val="2A78D6"/>
              </a:buClr>
              <a:buSzPct val="70000"/>
              <a:buFont typeface="Arial"/>
              <a:buChar char="■"/>
            </a:pPr>
            <a:r>
              <a:rPr sz="1200">
                <a:solidFill>
                  <a:srgbClr val="0C1408"/>
                </a:solidFill>
                <a:latin typeface="Arial"/>
              </a:rPr>
              <a:t>The credit score decides which turns open</a:t>
            </a:r>
          </a:p>
          <a:p>
            <a:pPr marL="173736" indent="-173736">
              <a:lnSpc>
                <a:spcPct val="104000"/>
              </a:lnSpc>
              <a:spcAft>
                <a:spcPts val="600"/>
              </a:spcAft>
              <a:buClr>
                <a:srgbClr val="2A78D6"/>
              </a:buClr>
              <a:buSzPct val="70000"/>
              <a:buFont typeface="Arial"/>
              <a:buChar char="■"/>
            </a:pPr>
            <a:r>
              <a:rPr sz="1200">
                <a:solidFill>
                  <a:srgbClr val="0C1408"/>
                </a:solidFill>
                <a:latin typeface="Arial"/>
              </a:rPr>
              <a:t>The host admits each member</a:t>
            </a:r>
          </a:p>
          <a:p>
            <a:pPr marL="173736" indent="-173736">
              <a:lnSpc>
                <a:spcPct val="104000"/>
              </a:lnSpc>
              <a:spcAft>
                <a:spcPts val="600"/>
              </a:spcAft>
              <a:buClr>
                <a:srgbClr val="2A78D6"/>
              </a:buClr>
              <a:buSzPct val="70000"/>
              <a:buFont typeface="Arial"/>
              <a:buChar char="■"/>
            </a:pPr>
            <a:r>
              <a:rPr sz="1200">
                <a:solidFill>
                  <a:srgbClr val="0C1408"/>
                </a:solidFill>
                <a:latin typeface="Arial"/>
              </a:rPr>
              <a:t>At most 6 circles and 1 daily circle per member</a:t>
            </a:r>
          </a:p>
        </p:txBody>
      </p:sp>
      <p:sp>
        <p:nvSpPr>
          <p:cNvPr id="8" name="TextBox 7"/>
          <p:cNvSpPr txBox="1"/>
          <p:nvPr/>
        </p:nvSpPr>
        <p:spPr>
          <a:xfrm>
            <a:off x="594360" y="4956048"/>
            <a:ext cx="2458136" cy="548640"/>
          </a:xfrm>
          <a:prstGeom prst="rect">
            <a:avLst/>
          </a:prstGeom>
          <a:noFill/>
        </p:spPr>
        <p:txBody>
          <a:bodyPr wrap="square" lIns="0" tIns="0" rIns="0" bIns="0">
            <a:spAutoFit/>
          </a:bodyPr>
          <a:lstStyle/>
          <a:p>
            <a:pPr>
              <a:lnSpc>
                <a:spcPct val="103000"/>
              </a:lnSpc>
            </a:pPr>
            <a:r>
              <a:rPr sz="1050" b="1">
                <a:solidFill>
                  <a:srgbClr val="4B5563"/>
                </a:solidFill>
                <a:latin typeface="Arial"/>
              </a:rPr>
              <a:t>Who acts:  </a:t>
            </a:r>
            <a:r>
              <a:rPr sz="1050">
                <a:solidFill>
                  <a:srgbClr val="4B5563"/>
                </a:solidFill>
                <a:latin typeface="Arial"/>
              </a:rPr>
              <a:t>Halqa’s checks and the host</a:t>
            </a:r>
          </a:p>
        </p:txBody>
      </p:sp>
      <p:sp>
        <p:nvSpPr>
          <p:cNvPr id="9" name="Chevron 8"/>
          <p:cNvSpPr/>
          <p:nvPr/>
        </p:nvSpPr>
        <p:spPr>
          <a:xfrm>
            <a:off x="3281096" y="1572768"/>
            <a:ext cx="2897048" cy="566928"/>
          </a:xfrm>
          <a:prstGeom prst="chevron">
            <a:avLst>
              <a:gd name="adj" fmla="val 28000"/>
            </a:avLst>
          </a:prstGeom>
          <a:solidFill>
            <a:srgbClr val="0E9384"/>
          </a:solidFill>
          <a:ln>
            <a:noFill/>
          </a:ln>
        </p:spPr>
        <p:txBody>
          <a:bodyPr rtlCol="0" anchor="ctr" lIns="45720" tIns="34290" rIns="45720" bIns="34290" wrap="square"/>
          <a:lstStyle/>
          <a:p>
            <a:pPr algn="ctr">
              <a:lnSpc>
                <a:spcPct val="105000"/>
              </a:lnSpc>
            </a:pPr>
            <a:r>
              <a:rPr sz="1250" b="1">
                <a:solidFill>
                  <a:srgbClr val="FFFFFF"/>
                </a:solidFill>
                <a:latin typeface="Arial"/>
              </a:rPr>
              <a:t>At joining</a:t>
            </a:r>
          </a:p>
        </p:txBody>
      </p:sp>
      <p:sp>
        <p:nvSpPr>
          <p:cNvPr id="10" name="TextBox 9"/>
          <p:cNvSpPr txBox="1"/>
          <p:nvPr/>
        </p:nvSpPr>
        <p:spPr>
          <a:xfrm>
            <a:off x="3509696" y="2350008"/>
            <a:ext cx="2458136" cy="3017520"/>
          </a:xfrm>
          <a:prstGeom prst="rect">
            <a:avLst/>
          </a:prstGeom>
          <a:noFill/>
        </p:spPr>
        <p:txBody>
          <a:bodyPr wrap="square" lIns="0" tIns="0" rIns="0" bIns="0">
            <a:spAutoFit/>
          </a:bodyPr>
          <a:lstStyle/>
          <a:p>
            <a:pPr marL="173736" indent="-173736">
              <a:lnSpc>
                <a:spcPct val="104000"/>
              </a:lnSpc>
              <a:spcAft>
                <a:spcPts val="600"/>
              </a:spcAft>
              <a:buClr>
                <a:srgbClr val="0E9384"/>
              </a:buClr>
              <a:buSzPct val="70000"/>
              <a:buFont typeface="Arial"/>
              <a:buChar char="■"/>
            </a:pPr>
            <a:r>
              <a:rPr sz="1200">
                <a:solidFill>
                  <a:srgbClr val="0C1408"/>
                </a:solidFill>
                <a:latin typeface="Arial"/>
              </a:rPr>
              <a:t>Every rupee owed shown before signing</a:t>
            </a:r>
          </a:p>
          <a:p>
            <a:pPr marL="173736" indent="-173736">
              <a:lnSpc>
                <a:spcPct val="104000"/>
              </a:lnSpc>
              <a:spcAft>
                <a:spcPts val="600"/>
              </a:spcAft>
              <a:buClr>
                <a:srgbClr val="0E9384"/>
              </a:buClr>
              <a:buSzPct val="70000"/>
              <a:buFont typeface="Arial"/>
              <a:buChar char="■"/>
            </a:pPr>
            <a:r>
              <a:rPr sz="1200">
                <a:solidFill>
                  <a:srgbClr val="0C1408"/>
                </a:solidFill>
                <a:latin typeface="Arial"/>
              </a:rPr>
              <a:t>24 hours to withdraw at no cost</a:t>
            </a:r>
          </a:p>
          <a:p>
            <a:pPr marL="173736" indent="-173736">
              <a:lnSpc>
                <a:spcPct val="104000"/>
              </a:lnSpc>
              <a:spcAft>
                <a:spcPts val="600"/>
              </a:spcAft>
              <a:buClr>
                <a:srgbClr val="0E9384"/>
              </a:buClr>
              <a:buSzPct val="70000"/>
              <a:buFont typeface="Arial"/>
              <a:buChar char="■"/>
            </a:pPr>
            <a:r>
              <a:rPr sz="1200">
                <a:solidFill>
                  <a:srgbClr val="0C1408"/>
                </a:solidFill>
                <a:latin typeface="Arial"/>
              </a:rPr>
              <a:t>Ten clause undertaking and a mutual guarantee between members</a:t>
            </a:r>
          </a:p>
          <a:p>
            <a:pPr marL="173736" indent="-173736">
              <a:lnSpc>
                <a:spcPct val="104000"/>
              </a:lnSpc>
              <a:spcAft>
                <a:spcPts val="600"/>
              </a:spcAft>
              <a:buClr>
                <a:srgbClr val="0E9384"/>
              </a:buClr>
              <a:buSzPct val="70000"/>
              <a:buFont typeface="Arial"/>
              <a:buChar char="■"/>
            </a:pPr>
            <a:r>
              <a:rPr sz="1200">
                <a:solidFill>
                  <a:srgbClr val="0C1408"/>
                </a:solidFill>
                <a:latin typeface="Arial"/>
              </a:rPr>
              <a:t>Direct debit mandate consent</a:t>
            </a:r>
          </a:p>
          <a:p>
            <a:pPr marL="173736" indent="-173736">
              <a:lnSpc>
                <a:spcPct val="104000"/>
              </a:lnSpc>
              <a:spcAft>
                <a:spcPts val="600"/>
              </a:spcAft>
              <a:buClr>
                <a:srgbClr val="0E9384"/>
              </a:buClr>
              <a:buSzPct val="70000"/>
              <a:buFont typeface="Arial"/>
              <a:buChar char="■"/>
            </a:pPr>
            <a:r>
              <a:rPr sz="1200">
                <a:solidFill>
                  <a:srgbClr val="0C1408"/>
                </a:solidFill>
                <a:latin typeface="Arial"/>
              </a:rPr>
              <a:t>Takaful or insurance on circles between strangers</a:t>
            </a:r>
          </a:p>
        </p:txBody>
      </p:sp>
      <p:sp>
        <p:nvSpPr>
          <p:cNvPr id="11" name="TextBox 10"/>
          <p:cNvSpPr txBox="1"/>
          <p:nvPr/>
        </p:nvSpPr>
        <p:spPr>
          <a:xfrm>
            <a:off x="3509696" y="4956048"/>
            <a:ext cx="2458136" cy="548640"/>
          </a:xfrm>
          <a:prstGeom prst="rect">
            <a:avLst/>
          </a:prstGeom>
          <a:noFill/>
        </p:spPr>
        <p:txBody>
          <a:bodyPr wrap="square" lIns="0" tIns="0" rIns="0" bIns="0">
            <a:spAutoFit/>
          </a:bodyPr>
          <a:lstStyle/>
          <a:p>
            <a:pPr>
              <a:lnSpc>
                <a:spcPct val="103000"/>
              </a:lnSpc>
            </a:pPr>
            <a:r>
              <a:rPr sz="1050" b="1">
                <a:solidFill>
                  <a:srgbClr val="4B5563"/>
                </a:solidFill>
                <a:latin typeface="Arial"/>
              </a:rPr>
              <a:t>Who acts:  </a:t>
            </a:r>
            <a:r>
              <a:rPr sz="1050">
                <a:solidFill>
                  <a:srgbClr val="4B5563"/>
                </a:solidFill>
                <a:latin typeface="Arial"/>
              </a:rPr>
              <a:t>the member signs; Mashreq registers the direct debit mandate</a:t>
            </a:r>
          </a:p>
        </p:txBody>
      </p:sp>
      <p:sp>
        <p:nvSpPr>
          <p:cNvPr id="12" name="Chevron 11"/>
          <p:cNvSpPr/>
          <p:nvPr/>
        </p:nvSpPr>
        <p:spPr>
          <a:xfrm>
            <a:off x="6013552" y="1572768"/>
            <a:ext cx="2897048" cy="566928"/>
          </a:xfrm>
          <a:prstGeom prst="chevron">
            <a:avLst>
              <a:gd name="adj" fmla="val 28000"/>
            </a:avLst>
          </a:prstGeom>
          <a:solidFill>
            <a:srgbClr val="D8602A"/>
          </a:solidFill>
          <a:ln>
            <a:noFill/>
          </a:ln>
        </p:spPr>
        <p:txBody>
          <a:bodyPr rtlCol="0" anchor="ctr" lIns="45720" tIns="34290" rIns="45720" bIns="34290" wrap="square"/>
          <a:lstStyle/>
          <a:p>
            <a:pPr algn="ctr">
              <a:lnSpc>
                <a:spcPct val="105000"/>
              </a:lnSpc>
            </a:pPr>
            <a:r>
              <a:rPr sz="1250" b="1">
                <a:solidFill>
                  <a:srgbClr val="FFFFFF"/>
                </a:solidFill>
                <a:latin typeface="Arial"/>
              </a:rPr>
              <a:t>Each instalment</a:t>
            </a:r>
          </a:p>
        </p:txBody>
      </p:sp>
      <p:sp>
        <p:nvSpPr>
          <p:cNvPr id="13" name="TextBox 12"/>
          <p:cNvSpPr txBox="1"/>
          <p:nvPr/>
        </p:nvSpPr>
        <p:spPr>
          <a:xfrm>
            <a:off x="6242152" y="2350008"/>
            <a:ext cx="2458136" cy="3017520"/>
          </a:xfrm>
          <a:prstGeom prst="rect">
            <a:avLst/>
          </a:prstGeom>
          <a:noFill/>
        </p:spPr>
        <p:txBody>
          <a:bodyPr wrap="square" lIns="0" tIns="0" rIns="0" bIns="0">
            <a:spAutoFit/>
          </a:bodyPr>
          <a:lstStyle/>
          <a:p>
            <a:pPr marL="173736" indent="-173736">
              <a:lnSpc>
                <a:spcPct val="104000"/>
              </a:lnSpc>
              <a:spcAft>
                <a:spcPts val="600"/>
              </a:spcAft>
              <a:buClr>
                <a:srgbClr val="D8602A"/>
              </a:buClr>
              <a:buSzPct val="70000"/>
              <a:buFont typeface="Arial"/>
              <a:buChar char="■"/>
            </a:pPr>
            <a:r>
              <a:rPr sz="1200">
                <a:solidFill>
                  <a:srgbClr val="0C1408"/>
                </a:solidFill>
                <a:latin typeface="Arial"/>
              </a:rPr>
              <a:t>Reminder the evening before payday</a:t>
            </a:r>
          </a:p>
          <a:p>
            <a:pPr marL="173736" indent="-173736">
              <a:lnSpc>
                <a:spcPct val="104000"/>
              </a:lnSpc>
              <a:spcAft>
                <a:spcPts val="600"/>
              </a:spcAft>
              <a:buClr>
                <a:srgbClr val="D8602A"/>
              </a:buClr>
              <a:buSzPct val="70000"/>
              <a:buFont typeface="Arial"/>
              <a:buChar char="■"/>
            </a:pPr>
            <a:r>
              <a:rPr sz="1200">
                <a:solidFill>
                  <a:srgbClr val="0C1408"/>
                </a:solidFill>
                <a:latin typeface="Arial"/>
              </a:rPr>
              <a:t>Debit on the member’s payday</a:t>
            </a:r>
          </a:p>
          <a:p>
            <a:pPr marL="173736" indent="-173736">
              <a:lnSpc>
                <a:spcPct val="104000"/>
              </a:lnSpc>
              <a:spcAft>
                <a:spcPts val="600"/>
              </a:spcAft>
              <a:buClr>
                <a:srgbClr val="D8602A"/>
              </a:buClr>
              <a:buSzPct val="70000"/>
              <a:buFont typeface="Arial"/>
              <a:buChar char="■"/>
            </a:pPr>
            <a:r>
              <a:rPr sz="1200">
                <a:solidFill>
                  <a:srgbClr val="0C1408"/>
                </a:solidFill>
                <a:latin typeface="Arial"/>
              </a:rPr>
              <a:t>A retry each morning, 5 attempts at most</a:t>
            </a:r>
          </a:p>
          <a:p>
            <a:pPr marL="173736" indent="-173736">
              <a:lnSpc>
                <a:spcPct val="104000"/>
              </a:lnSpc>
              <a:spcAft>
                <a:spcPts val="600"/>
              </a:spcAft>
              <a:buClr>
                <a:srgbClr val="D8602A"/>
              </a:buClr>
              <a:buSzPct val="70000"/>
              <a:buFont typeface="Arial"/>
              <a:buChar char="■"/>
            </a:pPr>
            <a:r>
              <a:rPr sz="1200">
                <a:solidFill>
                  <a:srgbClr val="0C1408"/>
                </a:solidFill>
                <a:latin typeface="Arial"/>
              </a:rPr>
              <a:t>Due on the 8th</a:t>
            </a:r>
          </a:p>
        </p:txBody>
      </p:sp>
      <p:sp>
        <p:nvSpPr>
          <p:cNvPr id="14" name="TextBox 13"/>
          <p:cNvSpPr txBox="1"/>
          <p:nvPr/>
        </p:nvSpPr>
        <p:spPr>
          <a:xfrm>
            <a:off x="6242152" y="4956048"/>
            <a:ext cx="2458136" cy="548640"/>
          </a:xfrm>
          <a:prstGeom prst="rect">
            <a:avLst/>
          </a:prstGeom>
          <a:noFill/>
        </p:spPr>
        <p:txBody>
          <a:bodyPr wrap="square" lIns="0" tIns="0" rIns="0" bIns="0">
            <a:spAutoFit/>
          </a:bodyPr>
          <a:lstStyle/>
          <a:p>
            <a:pPr>
              <a:lnSpc>
                <a:spcPct val="103000"/>
              </a:lnSpc>
            </a:pPr>
            <a:r>
              <a:rPr sz="1050" b="1">
                <a:solidFill>
                  <a:srgbClr val="4B5563"/>
                </a:solidFill>
                <a:latin typeface="Arial"/>
              </a:rPr>
              <a:t>Who acts:  </a:t>
            </a:r>
            <a:r>
              <a:rPr sz="1050">
                <a:solidFill>
                  <a:srgbClr val="4B5563"/>
                </a:solidFill>
                <a:latin typeface="Arial"/>
              </a:rPr>
              <a:t>Halqa reminds; Mashreq collects</a:t>
            </a:r>
          </a:p>
        </p:txBody>
      </p:sp>
      <p:sp>
        <p:nvSpPr>
          <p:cNvPr id="15" name="Chevron 14"/>
          <p:cNvSpPr/>
          <p:nvPr/>
        </p:nvSpPr>
        <p:spPr>
          <a:xfrm>
            <a:off x="8746007" y="1572768"/>
            <a:ext cx="2897048" cy="566928"/>
          </a:xfrm>
          <a:prstGeom prst="chevron">
            <a:avLst>
              <a:gd name="adj" fmla="val 28000"/>
            </a:avLst>
          </a:prstGeom>
          <a:solidFill>
            <a:srgbClr val="EDA100"/>
          </a:solidFill>
          <a:ln>
            <a:noFill/>
          </a:ln>
        </p:spPr>
        <p:txBody>
          <a:bodyPr rtlCol="0" anchor="ctr" lIns="45720" tIns="34290" rIns="45720" bIns="34290" wrap="square"/>
          <a:lstStyle/>
          <a:p>
            <a:pPr algn="ctr">
              <a:lnSpc>
                <a:spcPct val="105000"/>
              </a:lnSpc>
            </a:pPr>
            <a:r>
              <a:rPr sz="1250" b="1">
                <a:solidFill>
                  <a:srgbClr val="0C1408"/>
                </a:solidFill>
                <a:latin typeface="Arial"/>
              </a:rPr>
              <a:t>After a missed payment</a:t>
            </a:r>
          </a:p>
        </p:txBody>
      </p:sp>
      <p:sp>
        <p:nvSpPr>
          <p:cNvPr id="16" name="TextBox 15"/>
          <p:cNvSpPr txBox="1"/>
          <p:nvPr/>
        </p:nvSpPr>
        <p:spPr>
          <a:xfrm>
            <a:off x="8974607" y="2350008"/>
            <a:ext cx="2458136" cy="3017520"/>
          </a:xfrm>
          <a:prstGeom prst="rect">
            <a:avLst/>
          </a:prstGeom>
          <a:noFill/>
        </p:spPr>
        <p:txBody>
          <a:bodyPr wrap="square" lIns="0" tIns="0" rIns="0" bIns="0">
            <a:spAutoFit/>
          </a:bodyPr>
          <a:lstStyle/>
          <a:p>
            <a:pPr marL="173736" indent="-173736">
              <a:lnSpc>
                <a:spcPct val="104000"/>
              </a:lnSpc>
              <a:spcAft>
                <a:spcPts val="600"/>
              </a:spcAft>
              <a:buClr>
                <a:srgbClr val="EDA100"/>
              </a:buClr>
              <a:buSzPct val="70000"/>
              <a:buFont typeface="Arial"/>
              <a:buChar char="■"/>
            </a:pPr>
            <a:r>
              <a:rPr sz="1200">
                <a:solidFill>
                  <a:srgbClr val="0C1408"/>
                </a:solidFill>
                <a:latin typeface="Arial"/>
              </a:rPr>
              <a:t>Arrears taken from the member’s own pot before they collect</a:t>
            </a:r>
          </a:p>
          <a:p>
            <a:pPr marL="173736" indent="-173736">
              <a:lnSpc>
                <a:spcPct val="104000"/>
              </a:lnSpc>
              <a:spcAft>
                <a:spcPts val="600"/>
              </a:spcAft>
              <a:buClr>
                <a:srgbClr val="EDA100"/>
              </a:buClr>
              <a:buSzPct val="70000"/>
              <a:buFont typeface="Arial"/>
              <a:buChar char="■"/>
            </a:pPr>
            <a:r>
              <a:rPr sz="1200">
                <a:solidFill>
                  <a:srgbClr val="0C1408"/>
                </a:solidFill>
                <a:latin typeface="Arial"/>
              </a:rPr>
              <a:t>Late charges of 2%, 5% and 10%</a:t>
            </a:r>
          </a:p>
          <a:p>
            <a:pPr marL="173736" indent="-173736">
              <a:lnSpc>
                <a:spcPct val="104000"/>
              </a:lnSpc>
              <a:spcAft>
                <a:spcPts val="600"/>
              </a:spcAft>
              <a:buClr>
                <a:srgbClr val="EDA100"/>
              </a:buClr>
              <a:buSzPct val="70000"/>
              <a:buFont typeface="Arial"/>
              <a:buChar char="■"/>
            </a:pPr>
            <a:r>
              <a:rPr sz="1200">
                <a:solidFill>
                  <a:srgbClr val="0C1408"/>
                </a:solidFill>
                <a:latin typeface="Arial"/>
              </a:rPr>
              <a:t>Credit score down 10, 20 and 40 points</a:t>
            </a:r>
          </a:p>
          <a:p>
            <a:pPr marL="173736" indent="-173736">
              <a:lnSpc>
                <a:spcPct val="104000"/>
              </a:lnSpc>
              <a:spcAft>
                <a:spcPts val="600"/>
              </a:spcAft>
              <a:buClr>
                <a:srgbClr val="EDA100"/>
              </a:buClr>
              <a:buSzPct val="70000"/>
              <a:buFont typeface="Arial"/>
              <a:buChar char="■"/>
            </a:pPr>
            <a:r>
              <a:rPr sz="1200">
                <a:solidFill>
                  <a:srgbClr val="0C1408"/>
                </a:solidFill>
                <a:latin typeface="Arial"/>
              </a:rPr>
              <a:t>Daily circles: 5%, 10% and 15% at 12, 36 and 60 hours</a:t>
            </a:r>
          </a:p>
          <a:p>
            <a:pPr marL="173736" indent="-173736">
              <a:lnSpc>
                <a:spcPct val="104000"/>
              </a:lnSpc>
              <a:spcAft>
                <a:spcPts val="600"/>
              </a:spcAft>
              <a:buClr>
                <a:srgbClr val="EDA100"/>
              </a:buClr>
              <a:buSzPct val="70000"/>
              <a:buFont typeface="Arial"/>
              <a:buChar char="■"/>
            </a:pPr>
            <a:r>
              <a:rPr sz="1200">
                <a:solidFill>
                  <a:srgbClr val="0C1408"/>
                </a:solidFill>
                <a:latin typeface="Arial"/>
              </a:rPr>
              <a:t>Recovery steps if the member has already collected</a:t>
            </a:r>
          </a:p>
        </p:txBody>
      </p:sp>
      <p:sp>
        <p:nvSpPr>
          <p:cNvPr id="17" name="TextBox 16"/>
          <p:cNvSpPr txBox="1"/>
          <p:nvPr/>
        </p:nvSpPr>
        <p:spPr>
          <a:xfrm>
            <a:off x="8974607" y="4956048"/>
            <a:ext cx="2458136" cy="548640"/>
          </a:xfrm>
          <a:prstGeom prst="rect">
            <a:avLst/>
          </a:prstGeom>
          <a:noFill/>
        </p:spPr>
        <p:txBody>
          <a:bodyPr wrap="square" lIns="0" tIns="0" rIns="0" bIns="0">
            <a:spAutoFit/>
          </a:bodyPr>
          <a:lstStyle/>
          <a:p>
            <a:pPr>
              <a:lnSpc>
                <a:spcPct val="103000"/>
              </a:lnSpc>
            </a:pPr>
            <a:r>
              <a:rPr sz="1050" b="1">
                <a:solidFill>
                  <a:srgbClr val="4B5563"/>
                </a:solidFill>
                <a:latin typeface="Arial"/>
              </a:rPr>
              <a:t>Who acts:  </a:t>
            </a:r>
            <a:r>
              <a:rPr sz="1050">
                <a:solidFill>
                  <a:srgbClr val="4B5563"/>
                </a:solidFill>
                <a:latin typeface="Arial"/>
              </a:rPr>
              <a:t>Halqa records; arrears settled from the member’s pot</a:t>
            </a:r>
          </a:p>
        </p:txBody>
      </p:sp>
      <p:cxnSp>
        <p:nvCxnSpPr>
          <p:cNvPr id="18" name="Connector 17"/>
          <p:cNvCxnSpPr/>
          <p:nvPr/>
        </p:nvCxnSpPr>
        <p:spPr>
          <a:xfrm>
            <a:off x="548640" y="4864608"/>
            <a:ext cx="11094415" cy="0"/>
          </a:xfrm>
          <a:prstGeom prst="line">
            <a:avLst/>
          </a:prstGeom>
          <a:ln w="9525">
            <a:solidFill>
              <a:srgbClr val="D1D5DB"/>
            </a:solidFill>
          </a:ln>
        </p:spPr>
      </p:cxnSp>
      <p:sp>
        <p:nvSpPr>
          <p:cNvPr id="19" name="Rectangle 18"/>
          <p:cNvSpPr/>
          <p:nvPr/>
        </p:nvSpPr>
        <p:spPr>
          <a:xfrm>
            <a:off x="548640" y="5532120"/>
            <a:ext cx="11094415" cy="603504"/>
          </a:xfrm>
          <a:prstGeom prst="rect">
            <a:avLst/>
          </a:prstGeom>
          <a:solidFill>
            <a:srgbClr val="F3F4F6"/>
          </a:solidFill>
          <a:ln>
            <a:noFill/>
          </a:ln>
        </p:spPr>
        <p:txBody>
          <a:bodyPr rtlCol="0" anchor="ctr" lIns="164592" tIns="123444" rIns="164592" bIns="123444" wrap="square"/>
          <a:lstStyle/>
          <a:p>
            <a:pPr>
              <a:lnSpc>
                <a:spcPct val="105000"/>
              </a:lnSpc>
            </a:pPr>
            <a:r>
              <a:rPr sz="1150" b="1">
                <a:solidFill>
                  <a:srgbClr val="0C1408"/>
                </a:solidFill>
                <a:latin typeface="Arial"/>
              </a:rPr>
              <a:t>Where the risk sits:  </a:t>
            </a:r>
            <a:r>
              <a:rPr sz="1150">
                <a:solidFill>
                  <a:srgbClr val="0C1408"/>
                </a:solidFill>
                <a:latin typeface="Arial"/>
              </a:rPr>
              <a:t>a member who has not yet collected cannot leave the others short. Only early collectors can, so early turns are restricted by score (next page).</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Default Prevention (HQ-CP-05); State Bank 40 per cent consumer finance limit, BPRD Circular Letter 29 of 2021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Turn Eligibility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Amount still owed after collecting, and the credit score needed for each turn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18</a:t>
            </a:r>
          </a:p>
        </p:txBody>
      </p:sp>
      <p:sp>
        <p:nvSpPr>
          <p:cNvPr id="6" name="TextBox 5"/>
          <p:cNvSpPr txBox="1"/>
          <p:nvPr/>
        </p:nvSpPr>
        <p:spPr>
          <a:xfrm>
            <a:off x="548640" y="1481328"/>
            <a:ext cx="69494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Still owed after collecting: circle of 12 at Rs 10,000</a:t>
            </a:r>
            <a:r>
              <a:rPr sz="1100">
                <a:solidFill>
                  <a:srgbClr val="6B7280"/>
                </a:solidFill>
                <a:latin typeface="Arial"/>
              </a:rPr>
              <a:t>   Rs thousand, by turn</a:t>
            </a:r>
          </a:p>
        </p:txBody>
      </p:sp>
      <p:graphicFrame>
        <p:nvGraphicFramePr>
          <p:cNvPr id="7" name="Chart 6"/>
          <p:cNvGraphicFramePr>
            <a:graphicFrameLocks noGrp="1"/>
          </p:cNvGraphicFramePr>
          <p:nvPr/>
        </p:nvGraphicFramePr>
        <p:xfrm>
          <a:off x="457200" y="1783080"/>
          <a:ext cx="7223760" cy="3200400"/>
        </p:xfrm>
        <a:graphic>
          <a:graphicData uri="http://schemas.openxmlformats.org/drawingml/2006/chart">
            <c:chart xmlns:c="http://schemas.openxmlformats.org/drawingml/2006/chart" r:id="rId3"/>
          </a:graphicData>
        </a:graphic>
      </p:graphicFrame>
      <p:cxnSp>
        <p:nvCxnSpPr>
          <p:cNvPr id="8" name="Connector 7"/>
          <p:cNvCxnSpPr/>
          <p:nvPr/>
        </p:nvCxnSpPr>
        <p:spPr>
          <a:xfrm>
            <a:off x="704088" y="5138928"/>
            <a:ext cx="3337560" cy="0"/>
          </a:xfrm>
          <a:prstGeom prst="line">
            <a:avLst/>
          </a:prstGeom>
          <a:ln w="9525">
            <a:solidFill>
              <a:srgbClr val="4B5563"/>
            </a:solidFill>
          </a:ln>
        </p:spPr>
      </p:cxnSp>
      <p:cxnSp>
        <p:nvCxnSpPr>
          <p:cNvPr id="9" name="Connector 8"/>
          <p:cNvCxnSpPr/>
          <p:nvPr/>
        </p:nvCxnSpPr>
        <p:spPr>
          <a:xfrm>
            <a:off x="704088" y="5065776"/>
            <a:ext cx="0" cy="73152"/>
          </a:xfrm>
          <a:prstGeom prst="line">
            <a:avLst/>
          </a:prstGeom>
          <a:ln w="9525">
            <a:solidFill>
              <a:srgbClr val="4B5563"/>
            </a:solidFill>
          </a:ln>
        </p:spPr>
      </p:cxnSp>
      <p:cxnSp>
        <p:nvCxnSpPr>
          <p:cNvPr id="10" name="Connector 9"/>
          <p:cNvCxnSpPr/>
          <p:nvPr/>
        </p:nvCxnSpPr>
        <p:spPr>
          <a:xfrm>
            <a:off x="4041648" y="5065776"/>
            <a:ext cx="0" cy="73152"/>
          </a:xfrm>
          <a:prstGeom prst="line">
            <a:avLst/>
          </a:prstGeom>
          <a:ln w="9525">
            <a:solidFill>
              <a:srgbClr val="4B5563"/>
            </a:solidFill>
          </a:ln>
        </p:spPr>
      </p:cxnSp>
      <p:sp>
        <p:nvSpPr>
          <p:cNvPr id="11" name="TextBox 10"/>
          <p:cNvSpPr txBox="1"/>
          <p:nvPr/>
        </p:nvSpPr>
        <p:spPr>
          <a:xfrm>
            <a:off x="704088" y="5184648"/>
            <a:ext cx="3337560" cy="457200"/>
          </a:xfrm>
          <a:prstGeom prst="rect">
            <a:avLst/>
          </a:prstGeom>
          <a:noFill/>
        </p:spPr>
        <p:txBody>
          <a:bodyPr wrap="square" lIns="0" tIns="0" rIns="0" bIns="0">
            <a:spAutoFit/>
          </a:bodyPr>
          <a:lstStyle/>
          <a:p>
            <a:pPr algn="ctr">
              <a:lnSpc>
                <a:spcPct val="100000"/>
              </a:lnSpc>
            </a:pPr>
            <a:r>
              <a:rPr sz="1050">
                <a:solidFill>
                  <a:srgbClr val="0C1408"/>
                </a:solidFill>
                <a:latin typeface="Arial"/>
              </a:rPr>
              <a:t>Turns 1 to 6: score 650 or more</a:t>
            </a:r>
          </a:p>
        </p:txBody>
      </p:sp>
      <p:cxnSp>
        <p:nvCxnSpPr>
          <p:cNvPr id="12" name="Connector 11"/>
          <p:cNvCxnSpPr/>
          <p:nvPr/>
        </p:nvCxnSpPr>
        <p:spPr>
          <a:xfrm>
            <a:off x="4133088" y="5138928"/>
            <a:ext cx="1623060" cy="0"/>
          </a:xfrm>
          <a:prstGeom prst="line">
            <a:avLst/>
          </a:prstGeom>
          <a:ln w="9525">
            <a:solidFill>
              <a:srgbClr val="4B5563"/>
            </a:solidFill>
          </a:ln>
        </p:spPr>
      </p:cxnSp>
      <p:cxnSp>
        <p:nvCxnSpPr>
          <p:cNvPr id="13" name="Connector 12"/>
          <p:cNvCxnSpPr/>
          <p:nvPr/>
        </p:nvCxnSpPr>
        <p:spPr>
          <a:xfrm>
            <a:off x="4133088" y="5065776"/>
            <a:ext cx="0" cy="73152"/>
          </a:xfrm>
          <a:prstGeom prst="line">
            <a:avLst/>
          </a:prstGeom>
          <a:ln w="9525">
            <a:solidFill>
              <a:srgbClr val="4B5563"/>
            </a:solidFill>
          </a:ln>
        </p:spPr>
      </p:cxnSp>
      <p:cxnSp>
        <p:nvCxnSpPr>
          <p:cNvPr id="14" name="Connector 13"/>
          <p:cNvCxnSpPr/>
          <p:nvPr/>
        </p:nvCxnSpPr>
        <p:spPr>
          <a:xfrm>
            <a:off x="5756148" y="5065776"/>
            <a:ext cx="0" cy="73152"/>
          </a:xfrm>
          <a:prstGeom prst="line">
            <a:avLst/>
          </a:prstGeom>
          <a:ln w="9525">
            <a:solidFill>
              <a:srgbClr val="4B5563"/>
            </a:solidFill>
          </a:ln>
        </p:spPr>
      </p:cxnSp>
      <p:sp>
        <p:nvSpPr>
          <p:cNvPr id="15" name="TextBox 14"/>
          <p:cNvSpPr txBox="1"/>
          <p:nvPr/>
        </p:nvSpPr>
        <p:spPr>
          <a:xfrm>
            <a:off x="4133088" y="5184648"/>
            <a:ext cx="1623060" cy="457200"/>
          </a:xfrm>
          <a:prstGeom prst="rect">
            <a:avLst/>
          </a:prstGeom>
          <a:noFill/>
        </p:spPr>
        <p:txBody>
          <a:bodyPr wrap="square" lIns="0" tIns="0" rIns="0" bIns="0">
            <a:spAutoFit/>
          </a:bodyPr>
          <a:lstStyle/>
          <a:p>
            <a:pPr algn="ctr">
              <a:lnSpc>
                <a:spcPct val="100000"/>
              </a:lnSpc>
            </a:pPr>
            <a:r>
              <a:rPr sz="1050">
                <a:solidFill>
                  <a:srgbClr val="0C1408"/>
                </a:solidFill>
                <a:latin typeface="Arial"/>
              </a:rPr>
              <a:t>Turns 7 to 9: 550 or more</a:t>
            </a:r>
          </a:p>
        </p:txBody>
      </p:sp>
      <p:cxnSp>
        <p:nvCxnSpPr>
          <p:cNvPr id="16" name="Connector 15"/>
          <p:cNvCxnSpPr/>
          <p:nvPr/>
        </p:nvCxnSpPr>
        <p:spPr>
          <a:xfrm>
            <a:off x="5847588" y="5138928"/>
            <a:ext cx="1623060" cy="0"/>
          </a:xfrm>
          <a:prstGeom prst="line">
            <a:avLst/>
          </a:prstGeom>
          <a:ln w="9525">
            <a:solidFill>
              <a:srgbClr val="4B5563"/>
            </a:solidFill>
          </a:ln>
        </p:spPr>
      </p:cxnSp>
      <p:cxnSp>
        <p:nvCxnSpPr>
          <p:cNvPr id="17" name="Connector 16"/>
          <p:cNvCxnSpPr/>
          <p:nvPr/>
        </p:nvCxnSpPr>
        <p:spPr>
          <a:xfrm>
            <a:off x="5847588" y="5065776"/>
            <a:ext cx="0" cy="73152"/>
          </a:xfrm>
          <a:prstGeom prst="line">
            <a:avLst/>
          </a:prstGeom>
          <a:ln w="9525">
            <a:solidFill>
              <a:srgbClr val="4B5563"/>
            </a:solidFill>
          </a:ln>
        </p:spPr>
      </p:cxnSp>
      <p:cxnSp>
        <p:nvCxnSpPr>
          <p:cNvPr id="18" name="Connector 17"/>
          <p:cNvCxnSpPr/>
          <p:nvPr/>
        </p:nvCxnSpPr>
        <p:spPr>
          <a:xfrm>
            <a:off x="7470648" y="5065776"/>
            <a:ext cx="0" cy="73152"/>
          </a:xfrm>
          <a:prstGeom prst="line">
            <a:avLst/>
          </a:prstGeom>
          <a:ln w="9525">
            <a:solidFill>
              <a:srgbClr val="4B5563"/>
            </a:solidFill>
          </a:ln>
        </p:spPr>
      </p:cxnSp>
      <p:sp>
        <p:nvSpPr>
          <p:cNvPr id="19" name="TextBox 18"/>
          <p:cNvSpPr txBox="1"/>
          <p:nvPr/>
        </p:nvSpPr>
        <p:spPr>
          <a:xfrm>
            <a:off x="5847588" y="5184648"/>
            <a:ext cx="1623060" cy="457200"/>
          </a:xfrm>
          <a:prstGeom prst="rect">
            <a:avLst/>
          </a:prstGeom>
          <a:noFill/>
        </p:spPr>
        <p:txBody>
          <a:bodyPr wrap="square" lIns="0" tIns="0" rIns="0" bIns="0">
            <a:spAutoFit/>
          </a:bodyPr>
          <a:lstStyle/>
          <a:p>
            <a:pPr algn="ctr">
              <a:lnSpc>
                <a:spcPct val="100000"/>
              </a:lnSpc>
            </a:pPr>
            <a:r>
              <a:rPr sz="1050">
                <a:solidFill>
                  <a:srgbClr val="0C1408"/>
                </a:solidFill>
                <a:latin typeface="Arial"/>
              </a:rPr>
              <a:t>Turns 10 to 12: any score</a:t>
            </a:r>
          </a:p>
        </p:txBody>
      </p:sp>
      <p:sp>
        <p:nvSpPr>
          <p:cNvPr id="20" name="TextBox 19"/>
          <p:cNvSpPr txBox="1"/>
          <p:nvPr/>
        </p:nvSpPr>
        <p:spPr>
          <a:xfrm>
            <a:off x="8001000" y="1572768"/>
            <a:ext cx="3642055" cy="439928"/>
          </a:xfrm>
          <a:prstGeom prst="rect">
            <a:avLst/>
          </a:prstGeom>
          <a:noFill/>
        </p:spPr>
        <p:txBody>
          <a:bodyPr wrap="square" lIns="0" tIns="0" rIns="0" bIns="0">
            <a:spAutoFit/>
          </a:bodyPr>
          <a:lstStyle/>
          <a:p>
            <a:pPr>
              <a:lnSpc>
                <a:spcPct val="100000"/>
              </a:lnSpc>
            </a:pPr>
            <a:r>
              <a:rPr sz="2600" b="1">
                <a:solidFill>
                  <a:srgbClr val="9E3F17"/>
                </a:solidFill>
                <a:latin typeface="Arial"/>
              </a:rPr>
              <a:t>Rs 110,000</a:t>
            </a:r>
          </a:p>
        </p:txBody>
      </p:sp>
      <p:sp>
        <p:nvSpPr>
          <p:cNvPr id="21" name="TextBox 20"/>
          <p:cNvSpPr txBox="1"/>
          <p:nvPr/>
        </p:nvSpPr>
        <p:spPr>
          <a:xfrm>
            <a:off x="8001000" y="1994408"/>
            <a:ext cx="3642055" cy="411480"/>
          </a:xfrm>
          <a:prstGeom prst="rect">
            <a:avLst/>
          </a:prstGeom>
          <a:noFill/>
        </p:spPr>
        <p:txBody>
          <a:bodyPr wrap="square" lIns="0" tIns="0" rIns="0" bIns="0">
            <a:spAutoFit/>
          </a:bodyPr>
          <a:lstStyle/>
          <a:p>
            <a:pPr>
              <a:lnSpc>
                <a:spcPct val="104000"/>
              </a:lnSpc>
            </a:pPr>
            <a:r>
              <a:rPr sz="1150">
                <a:solidFill>
                  <a:srgbClr val="4B5563"/>
                </a:solidFill>
                <a:latin typeface="Arial"/>
              </a:rPr>
              <a:t>the most anyone can owe: turn 1 of 12</a:t>
            </a:r>
          </a:p>
        </p:txBody>
      </p:sp>
      <p:cxnSp>
        <p:nvCxnSpPr>
          <p:cNvPr id="22" name="Connector 21"/>
          <p:cNvCxnSpPr/>
          <p:nvPr/>
        </p:nvCxnSpPr>
        <p:spPr>
          <a:xfrm>
            <a:off x="8001000" y="2697480"/>
            <a:ext cx="3642055" cy="0"/>
          </a:xfrm>
          <a:prstGeom prst="line">
            <a:avLst/>
          </a:prstGeom>
          <a:ln w="9525">
            <a:solidFill>
              <a:srgbClr val="D1D5DB"/>
            </a:solidFill>
          </a:ln>
        </p:spPr>
      </p:cxnSp>
      <p:sp>
        <p:nvSpPr>
          <p:cNvPr id="23" name="TextBox 22"/>
          <p:cNvSpPr txBox="1"/>
          <p:nvPr/>
        </p:nvSpPr>
        <p:spPr>
          <a:xfrm>
            <a:off x="8001000" y="2816352"/>
            <a:ext cx="36420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Rules</a:t>
            </a:r>
          </a:p>
        </p:txBody>
      </p:sp>
      <p:sp>
        <p:nvSpPr>
          <p:cNvPr id="24" name="TextBox 23"/>
          <p:cNvSpPr txBox="1"/>
          <p:nvPr/>
        </p:nvSpPr>
        <p:spPr>
          <a:xfrm>
            <a:off x="8001000" y="3145536"/>
            <a:ext cx="3642055" cy="2926080"/>
          </a:xfrm>
          <a:prstGeom prst="rect">
            <a:avLst/>
          </a:prstGeom>
          <a:noFill/>
        </p:spPr>
        <p:txBody>
          <a:bodyPr wrap="square" lIns="0" tIns="0" rIns="0" bIns="0">
            <a:spAutoFit/>
          </a:bodyPr>
          <a:lstStyle/>
          <a:p>
            <a:pPr marL="173736" indent="-173736">
              <a:lnSpc>
                <a:spcPct val="104000"/>
              </a:lnSpc>
              <a:spcAft>
                <a:spcPts val="600"/>
              </a:spcAft>
              <a:buClr>
                <a:srgbClr val="D8602A"/>
              </a:buClr>
              <a:buSzPct val="70000"/>
              <a:buFont typeface="Arial"/>
              <a:buChar char="■"/>
            </a:pPr>
            <a:r>
              <a:rPr sz="1150">
                <a:solidFill>
                  <a:srgbClr val="0C1408"/>
                </a:solidFill>
                <a:latin typeface="Arial"/>
              </a:rPr>
              <a:t>Bands are mandatory, with no exceptions</a:t>
            </a:r>
          </a:p>
          <a:p>
            <a:pPr marL="173736" indent="-173736">
              <a:lnSpc>
                <a:spcPct val="104000"/>
              </a:lnSpc>
              <a:spcAft>
                <a:spcPts val="600"/>
              </a:spcAft>
              <a:buClr>
                <a:srgbClr val="D8602A"/>
              </a:buClr>
              <a:buSzPct val="70000"/>
              <a:buFont typeface="Arial"/>
              <a:buChar char="■"/>
            </a:pPr>
            <a:r>
              <a:rPr sz="1150">
                <a:solidFill>
                  <a:srgbClr val="0C1408"/>
                </a:solidFill>
                <a:latin typeface="Arial"/>
              </a:rPr>
              <a:t>Every new member starts in the last three turns</a:t>
            </a:r>
          </a:p>
          <a:p>
            <a:pPr marL="173736" indent="-173736">
              <a:lnSpc>
                <a:spcPct val="104000"/>
              </a:lnSpc>
              <a:spcAft>
                <a:spcPts val="600"/>
              </a:spcAft>
              <a:buClr>
                <a:srgbClr val="D8602A"/>
              </a:buClr>
              <a:buSzPct val="70000"/>
              <a:buFont typeface="Arial"/>
              <a:buChar char="■"/>
            </a:pPr>
            <a:r>
              <a:rPr sz="1150">
                <a:solidFill>
                  <a:srgbClr val="0C1408"/>
                </a:solidFill>
                <a:latin typeface="Arial"/>
              </a:rPr>
              <a:t>Earlier turns open after two circles complete cleanly</a:t>
            </a:r>
          </a:p>
          <a:p>
            <a:pPr marL="173736" indent="-173736">
              <a:lnSpc>
                <a:spcPct val="104000"/>
              </a:lnSpc>
              <a:spcAft>
                <a:spcPts val="600"/>
              </a:spcAft>
              <a:buClr>
                <a:srgbClr val="D8602A"/>
              </a:buClr>
              <a:buSzPct val="70000"/>
              <a:buFont typeface="Arial"/>
              <a:buChar char="■"/>
            </a:pPr>
            <a:r>
              <a:rPr sz="1150">
                <a:solidFill>
                  <a:srgbClr val="0C1408"/>
                </a:solidFill>
                <a:latin typeface="Arial"/>
              </a:rPr>
              <a:t>The score is checked again before each circle</a:t>
            </a:r>
          </a:p>
        </p:txBody>
      </p:sp>
      <p:sp>
        <p:nvSpPr>
          <p:cNvPr id="25" name="Rectangle 24"/>
          <p:cNvSpPr/>
          <p:nvPr/>
        </p:nvSpPr>
        <p:spPr>
          <a:xfrm>
            <a:off x="8001000" y="4800600"/>
            <a:ext cx="3642055" cy="1325880"/>
          </a:xfrm>
          <a:prstGeom prst="rect">
            <a:avLst/>
          </a:prstGeom>
          <a:solidFill>
            <a:srgbClr val="F3F4F6"/>
          </a:solidFill>
          <a:ln>
            <a:noFill/>
          </a:ln>
        </p:spPr>
        <p:txBody>
          <a:bodyPr rtlCol="0" anchor="ctr"/>
          <a:lstStyle/>
          <a:p>
            <a:pPr algn="ctr"/>
          </a:p>
        </p:txBody>
      </p:sp>
      <p:sp>
        <p:nvSpPr>
          <p:cNvPr id="26" name="TextBox 25"/>
          <p:cNvSpPr txBox="1"/>
          <p:nvPr/>
        </p:nvSpPr>
        <p:spPr>
          <a:xfrm>
            <a:off x="8183880" y="4892040"/>
            <a:ext cx="3276295" cy="274320"/>
          </a:xfrm>
          <a:prstGeom prst="rect">
            <a:avLst/>
          </a:prstGeom>
          <a:noFill/>
        </p:spPr>
        <p:txBody>
          <a:bodyPr wrap="square" lIns="0" tIns="0" rIns="0" bIns="0">
            <a:spAutoFit/>
          </a:bodyPr>
          <a:lstStyle/>
          <a:p>
            <a:pPr>
              <a:lnSpc>
                <a:spcPct val="105000"/>
              </a:lnSpc>
            </a:pPr>
            <a:r>
              <a:rPr sz="1200" b="1">
                <a:solidFill>
                  <a:srgbClr val="0C1408"/>
                </a:solidFill>
                <a:latin typeface="Arial"/>
              </a:rPr>
              <a:t>Example</a:t>
            </a:r>
          </a:p>
        </p:txBody>
      </p:sp>
      <p:sp>
        <p:nvSpPr>
          <p:cNvPr id="27" name="TextBox 26"/>
          <p:cNvSpPr txBox="1"/>
          <p:nvPr/>
        </p:nvSpPr>
        <p:spPr>
          <a:xfrm>
            <a:off x="8183880" y="5184648"/>
            <a:ext cx="3276295" cy="914400"/>
          </a:xfrm>
          <a:prstGeom prst="rect">
            <a:avLst/>
          </a:prstGeom>
          <a:noFill/>
        </p:spPr>
        <p:txBody>
          <a:bodyPr wrap="square" lIns="0" tIns="0" rIns="0" bIns="0">
            <a:spAutoFit/>
          </a:bodyPr>
          <a:lstStyle/>
          <a:p>
            <a:pPr>
              <a:lnSpc>
                <a:spcPct val="105000"/>
              </a:lnSpc>
            </a:pPr>
            <a:r>
              <a:rPr sz="1100">
                <a:solidFill>
                  <a:srgbClr val="0C1408"/>
                </a:solidFill>
                <a:latin typeface="Arial"/>
              </a:rPr>
              <a:t>A new member joining a circle of 12 may choose turn 10, 11 or 12. After two clean circles and a score of 650 or more, any turn is open.</a:t>
            </a:r>
          </a:p>
        </p:txBody>
      </p:sp>
      <p:sp>
        <p:nvSpPr>
          <p:cNvPr id="28" name="TextBox 27"/>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Seat bands of the build plan (11 August 2026), confirmed as mandatory on 28 September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Recovery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Steps after a member stops paying having already collected the pot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19</a:t>
            </a:r>
          </a:p>
        </p:txBody>
      </p:sp>
      <p:sp>
        <p:nvSpPr>
          <p:cNvPr id="6" name="Rectangle 5"/>
          <p:cNvSpPr/>
          <p:nvPr/>
        </p:nvSpPr>
        <p:spPr>
          <a:xfrm>
            <a:off x="548640" y="3749040"/>
            <a:ext cx="1737360" cy="868680"/>
          </a:xfrm>
          <a:prstGeom prst="rect">
            <a:avLst/>
          </a:prstGeom>
          <a:solidFill>
            <a:srgbClr val="FCEBC2"/>
          </a:solidFill>
          <a:ln>
            <a:noFill/>
          </a:ln>
        </p:spPr>
        <p:txBody>
          <a:bodyPr rtlCol="0" anchor="ctr"/>
          <a:lstStyle/>
          <a:p>
            <a:pPr algn="ctr"/>
          </a:p>
        </p:txBody>
      </p:sp>
      <p:sp>
        <p:nvSpPr>
          <p:cNvPr id="7" name="TextBox 6"/>
          <p:cNvSpPr txBox="1"/>
          <p:nvPr/>
        </p:nvSpPr>
        <p:spPr>
          <a:xfrm>
            <a:off x="658368" y="384048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1  </a:t>
            </a:r>
            <a:r>
              <a:rPr sz="1250" b="1">
                <a:solidFill>
                  <a:srgbClr val="0C1408"/>
                </a:solidFill>
                <a:latin typeface="Arial"/>
              </a:rPr>
              <a:t>Contact</a:t>
            </a:r>
          </a:p>
        </p:txBody>
      </p:sp>
      <p:sp>
        <p:nvSpPr>
          <p:cNvPr id="8" name="TextBox 7"/>
          <p:cNvSpPr txBox="1"/>
          <p:nvPr/>
        </p:nvSpPr>
        <p:spPr>
          <a:xfrm>
            <a:off x="658368" y="4133088"/>
            <a:ext cx="1536192" cy="457200"/>
          </a:xfrm>
          <a:prstGeom prst="rect">
            <a:avLst/>
          </a:prstGeom>
          <a:noFill/>
        </p:spPr>
        <p:txBody>
          <a:bodyPr wrap="square" lIns="0" tIns="0" rIns="0" bIns="0">
            <a:spAutoFit/>
          </a:bodyPr>
          <a:lstStyle/>
          <a:p>
            <a:pPr>
              <a:lnSpc>
                <a:spcPct val="103000"/>
              </a:lnSpc>
            </a:pPr>
            <a:r>
              <a:rPr sz="1050">
                <a:solidFill>
                  <a:srgbClr val="0C1408"/>
                </a:solidFill>
                <a:latin typeface="Arial"/>
              </a:rPr>
              <a:t>a hardship plan and a new date</a:t>
            </a:r>
          </a:p>
        </p:txBody>
      </p:sp>
      <p:sp>
        <p:nvSpPr>
          <p:cNvPr id="9" name="Rectangle 8"/>
          <p:cNvSpPr/>
          <p:nvPr/>
        </p:nvSpPr>
        <p:spPr>
          <a:xfrm>
            <a:off x="2419502" y="3419856"/>
            <a:ext cx="1737360" cy="1197864"/>
          </a:xfrm>
          <a:prstGeom prst="rect">
            <a:avLst/>
          </a:prstGeom>
          <a:solidFill>
            <a:srgbClr val="FCEBC2"/>
          </a:solidFill>
          <a:ln>
            <a:noFill/>
          </a:ln>
        </p:spPr>
        <p:txBody>
          <a:bodyPr rtlCol="0" anchor="ctr"/>
          <a:lstStyle/>
          <a:p>
            <a:pPr algn="ctr"/>
          </a:p>
        </p:txBody>
      </p:sp>
      <p:sp>
        <p:nvSpPr>
          <p:cNvPr id="10" name="TextBox 9"/>
          <p:cNvSpPr txBox="1"/>
          <p:nvPr/>
        </p:nvSpPr>
        <p:spPr>
          <a:xfrm>
            <a:off x="2529230" y="3511296"/>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a:t>
            </a:r>
            <a:r>
              <a:rPr sz="1250" b="1">
                <a:solidFill>
                  <a:srgbClr val="0C1408"/>
                </a:solidFill>
                <a:latin typeface="Arial"/>
              </a:rPr>
              <a:t>Restrict</a:t>
            </a:r>
          </a:p>
        </p:txBody>
      </p:sp>
      <p:sp>
        <p:nvSpPr>
          <p:cNvPr id="11" name="TextBox 10"/>
          <p:cNvSpPr txBox="1"/>
          <p:nvPr/>
        </p:nvSpPr>
        <p:spPr>
          <a:xfrm>
            <a:off x="2529230" y="3803904"/>
            <a:ext cx="1536192" cy="786384"/>
          </a:xfrm>
          <a:prstGeom prst="rect">
            <a:avLst/>
          </a:prstGeom>
          <a:noFill/>
        </p:spPr>
        <p:txBody>
          <a:bodyPr wrap="square" lIns="0" tIns="0" rIns="0" bIns="0">
            <a:spAutoFit/>
          </a:bodyPr>
          <a:lstStyle/>
          <a:p>
            <a:pPr>
              <a:lnSpc>
                <a:spcPct val="103000"/>
              </a:lnSpc>
            </a:pPr>
            <a:r>
              <a:rPr sz="1050">
                <a:solidFill>
                  <a:srgbClr val="0C1408"/>
                </a:solidFill>
                <a:latin typeface="Arial"/>
              </a:rPr>
              <a:t>account restricted; score down 200</a:t>
            </a:r>
          </a:p>
        </p:txBody>
      </p:sp>
      <p:sp>
        <p:nvSpPr>
          <p:cNvPr id="12" name="Rectangle 11"/>
          <p:cNvSpPr/>
          <p:nvPr/>
        </p:nvSpPr>
        <p:spPr>
          <a:xfrm>
            <a:off x="4290365" y="3090672"/>
            <a:ext cx="1737360" cy="1527048"/>
          </a:xfrm>
          <a:prstGeom prst="rect">
            <a:avLst/>
          </a:prstGeom>
          <a:solidFill>
            <a:srgbClr val="CFEFEA"/>
          </a:solidFill>
          <a:ln>
            <a:noFill/>
          </a:ln>
        </p:spPr>
        <p:txBody>
          <a:bodyPr rtlCol="0" anchor="ctr"/>
          <a:lstStyle/>
          <a:p>
            <a:pPr algn="ctr"/>
          </a:p>
        </p:txBody>
      </p:sp>
      <p:sp>
        <p:nvSpPr>
          <p:cNvPr id="13" name="TextBox 12"/>
          <p:cNvSpPr txBox="1"/>
          <p:nvPr/>
        </p:nvSpPr>
        <p:spPr>
          <a:xfrm>
            <a:off x="4400093" y="3182112"/>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3  </a:t>
            </a:r>
            <a:r>
              <a:rPr sz="1250" b="1">
                <a:solidFill>
                  <a:srgbClr val="0C1408"/>
                </a:solidFill>
                <a:latin typeface="Arial"/>
              </a:rPr>
              <a:t>Claim</a:t>
            </a:r>
          </a:p>
        </p:txBody>
      </p:sp>
      <p:sp>
        <p:nvSpPr>
          <p:cNvPr id="14" name="TextBox 13"/>
          <p:cNvSpPr txBox="1"/>
          <p:nvPr/>
        </p:nvSpPr>
        <p:spPr>
          <a:xfrm>
            <a:off x="4400093" y="3474720"/>
            <a:ext cx="1536192" cy="1115568"/>
          </a:xfrm>
          <a:prstGeom prst="rect">
            <a:avLst/>
          </a:prstGeom>
          <a:noFill/>
        </p:spPr>
        <p:txBody>
          <a:bodyPr wrap="square" lIns="0" tIns="0" rIns="0" bIns="0">
            <a:spAutoFit/>
          </a:bodyPr>
          <a:lstStyle/>
          <a:p>
            <a:pPr>
              <a:lnSpc>
                <a:spcPct val="103000"/>
              </a:lnSpc>
            </a:pPr>
            <a:r>
              <a:rPr sz="1050">
                <a:solidFill>
                  <a:srgbClr val="0C1408"/>
                </a:solidFill>
                <a:latin typeface="Arial"/>
              </a:rPr>
              <a:t>the takaful or insurance operator pays the members left short</a:t>
            </a:r>
          </a:p>
        </p:txBody>
      </p:sp>
      <p:sp>
        <p:nvSpPr>
          <p:cNvPr id="15" name="Rectangle 14"/>
          <p:cNvSpPr/>
          <p:nvPr/>
        </p:nvSpPr>
        <p:spPr>
          <a:xfrm>
            <a:off x="6161227" y="2761488"/>
            <a:ext cx="1737360" cy="1856232"/>
          </a:xfrm>
          <a:prstGeom prst="rect">
            <a:avLst/>
          </a:prstGeom>
          <a:solidFill>
            <a:srgbClr val="F8DADA"/>
          </a:solidFill>
          <a:ln>
            <a:noFill/>
          </a:ln>
        </p:spPr>
        <p:txBody>
          <a:bodyPr rtlCol="0" anchor="ctr"/>
          <a:lstStyle/>
          <a:p>
            <a:pPr algn="ctr"/>
          </a:p>
        </p:txBody>
      </p:sp>
      <p:sp>
        <p:nvSpPr>
          <p:cNvPr id="16" name="TextBox 15"/>
          <p:cNvSpPr txBox="1"/>
          <p:nvPr/>
        </p:nvSpPr>
        <p:spPr>
          <a:xfrm>
            <a:off x="6270955" y="2852928"/>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4  </a:t>
            </a:r>
            <a:r>
              <a:rPr sz="1250" b="1">
                <a:solidFill>
                  <a:srgbClr val="0C1408"/>
                </a:solidFill>
                <a:latin typeface="Arial"/>
              </a:rPr>
              <a:t>Guarantee</a:t>
            </a:r>
          </a:p>
        </p:txBody>
      </p:sp>
      <p:sp>
        <p:nvSpPr>
          <p:cNvPr id="17" name="TextBox 16"/>
          <p:cNvSpPr txBox="1"/>
          <p:nvPr/>
        </p:nvSpPr>
        <p:spPr>
          <a:xfrm>
            <a:off x="6270955" y="3145536"/>
            <a:ext cx="1536192" cy="1444752"/>
          </a:xfrm>
          <a:prstGeom prst="rect">
            <a:avLst/>
          </a:prstGeom>
          <a:noFill/>
        </p:spPr>
        <p:txBody>
          <a:bodyPr wrap="square" lIns="0" tIns="0" rIns="0" bIns="0">
            <a:spAutoFit/>
          </a:bodyPr>
          <a:lstStyle/>
          <a:p>
            <a:pPr>
              <a:lnSpc>
                <a:spcPct val="103000"/>
              </a:lnSpc>
            </a:pPr>
            <a:r>
              <a:rPr sz="1050">
                <a:solidFill>
                  <a:srgbClr val="0C1408"/>
                </a:solidFill>
                <a:latin typeface="Arial"/>
              </a:rPr>
              <a:t>the mutual guarantee: the balance falls due</a:t>
            </a:r>
          </a:p>
        </p:txBody>
      </p:sp>
      <p:sp>
        <p:nvSpPr>
          <p:cNvPr id="18" name="Rectangle 17"/>
          <p:cNvSpPr/>
          <p:nvPr/>
        </p:nvSpPr>
        <p:spPr>
          <a:xfrm>
            <a:off x="8032090" y="2432304"/>
            <a:ext cx="1737360" cy="2185416"/>
          </a:xfrm>
          <a:prstGeom prst="rect">
            <a:avLst/>
          </a:prstGeom>
          <a:solidFill>
            <a:srgbClr val="F8DADA"/>
          </a:solidFill>
          <a:ln>
            <a:noFill/>
          </a:ln>
        </p:spPr>
        <p:txBody>
          <a:bodyPr rtlCol="0" anchor="ctr"/>
          <a:lstStyle/>
          <a:p>
            <a:pPr algn="ctr"/>
          </a:p>
        </p:txBody>
      </p:sp>
      <p:sp>
        <p:nvSpPr>
          <p:cNvPr id="19" name="TextBox 18"/>
          <p:cNvSpPr txBox="1"/>
          <p:nvPr/>
        </p:nvSpPr>
        <p:spPr>
          <a:xfrm>
            <a:off x="8141818" y="2523744"/>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5  </a:t>
            </a:r>
            <a:r>
              <a:rPr sz="1250" b="1">
                <a:solidFill>
                  <a:srgbClr val="0C1408"/>
                </a:solidFill>
                <a:latin typeface="Arial"/>
              </a:rPr>
              <a:t>Civil suit</a:t>
            </a:r>
          </a:p>
        </p:txBody>
      </p:sp>
      <p:sp>
        <p:nvSpPr>
          <p:cNvPr id="20" name="TextBox 19"/>
          <p:cNvSpPr txBox="1"/>
          <p:nvPr/>
        </p:nvSpPr>
        <p:spPr>
          <a:xfrm>
            <a:off x="8141818" y="2816352"/>
            <a:ext cx="1536192" cy="1773936"/>
          </a:xfrm>
          <a:prstGeom prst="rect">
            <a:avLst/>
          </a:prstGeom>
          <a:noFill/>
        </p:spPr>
        <p:txBody>
          <a:bodyPr wrap="square" lIns="0" tIns="0" rIns="0" bIns="0">
            <a:spAutoFit/>
          </a:bodyPr>
          <a:lstStyle/>
          <a:p>
            <a:pPr>
              <a:lnSpc>
                <a:spcPct val="103000"/>
              </a:lnSpc>
            </a:pPr>
            <a:r>
              <a:rPr sz="1050">
                <a:solidFill>
                  <a:srgbClr val="0C1408"/>
                </a:solidFill>
                <a:latin typeface="Arial"/>
              </a:rPr>
              <a:t>on the signed undertaking</a:t>
            </a:r>
          </a:p>
        </p:txBody>
      </p:sp>
      <p:sp>
        <p:nvSpPr>
          <p:cNvPr id="21" name="Rectangle 20"/>
          <p:cNvSpPr/>
          <p:nvPr/>
        </p:nvSpPr>
        <p:spPr>
          <a:xfrm>
            <a:off x="9902952" y="2103120"/>
            <a:ext cx="1737360" cy="2514600"/>
          </a:xfrm>
          <a:prstGeom prst="rect">
            <a:avLst/>
          </a:prstGeom>
          <a:solidFill>
            <a:srgbClr val="F8DADA"/>
          </a:solidFill>
          <a:ln>
            <a:noFill/>
          </a:ln>
        </p:spPr>
        <p:txBody>
          <a:bodyPr rtlCol="0" anchor="ctr"/>
          <a:lstStyle/>
          <a:p>
            <a:pPr algn="ctr"/>
          </a:p>
        </p:txBody>
      </p:sp>
      <p:sp>
        <p:nvSpPr>
          <p:cNvPr id="22" name="TextBox 21"/>
          <p:cNvSpPr txBox="1"/>
          <p:nvPr/>
        </p:nvSpPr>
        <p:spPr>
          <a:xfrm>
            <a:off x="10012680" y="219456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6  </a:t>
            </a:r>
            <a:r>
              <a:rPr sz="1250" b="1">
                <a:solidFill>
                  <a:srgbClr val="0C1408"/>
                </a:solidFill>
                <a:latin typeface="Arial"/>
              </a:rPr>
              <a:t>Cheque</a:t>
            </a:r>
          </a:p>
        </p:txBody>
      </p:sp>
      <p:sp>
        <p:nvSpPr>
          <p:cNvPr id="23" name="TextBox 22"/>
          <p:cNvSpPr txBox="1"/>
          <p:nvPr/>
        </p:nvSpPr>
        <p:spPr>
          <a:xfrm>
            <a:off x="10012680" y="2487168"/>
            <a:ext cx="1536192" cy="2103120"/>
          </a:xfrm>
          <a:prstGeom prst="rect">
            <a:avLst/>
          </a:prstGeom>
          <a:noFill/>
        </p:spPr>
        <p:txBody>
          <a:bodyPr wrap="square" lIns="0" tIns="0" rIns="0" bIns="0">
            <a:spAutoFit/>
          </a:bodyPr>
          <a:lstStyle/>
          <a:p>
            <a:pPr>
              <a:lnSpc>
                <a:spcPct val="103000"/>
              </a:lnSpc>
            </a:pPr>
            <a:r>
              <a:rPr sz="1050">
                <a:solidFill>
                  <a:srgbClr val="0C1408"/>
                </a:solidFill>
                <a:latin typeface="Arial"/>
              </a:rPr>
              <a:t>a summary suit, only where a guarantee cheque is held</a:t>
            </a:r>
          </a:p>
        </p:txBody>
      </p:sp>
      <p:cxnSp>
        <p:nvCxnSpPr>
          <p:cNvPr id="24" name="Connector 23"/>
          <p:cNvCxnSpPr/>
          <p:nvPr/>
        </p:nvCxnSpPr>
        <p:spPr>
          <a:xfrm>
            <a:off x="548640" y="4617720"/>
            <a:ext cx="11094415" cy="0"/>
          </a:xfrm>
          <a:prstGeom prst="line">
            <a:avLst/>
          </a:prstGeom>
          <a:ln w="9525">
            <a:solidFill>
              <a:srgbClr val="4B5563"/>
            </a:solidFill>
          </a:ln>
        </p:spPr>
      </p:cxnSp>
      <p:sp>
        <p:nvSpPr>
          <p:cNvPr id="25" name="TextBox 24"/>
          <p:cNvSpPr txBox="1"/>
          <p:nvPr/>
        </p:nvSpPr>
        <p:spPr>
          <a:xfrm>
            <a:off x="548640" y="4672584"/>
            <a:ext cx="5943600" cy="256032"/>
          </a:xfrm>
          <a:prstGeom prst="rect">
            <a:avLst/>
          </a:prstGeom>
          <a:noFill/>
        </p:spPr>
        <p:txBody>
          <a:bodyPr wrap="square" lIns="0" tIns="0" rIns="0" bIns="0">
            <a:spAutoFit/>
          </a:bodyPr>
          <a:lstStyle/>
          <a:p>
            <a:pPr>
              <a:lnSpc>
                <a:spcPct val="105000"/>
              </a:lnSpc>
            </a:pPr>
            <a:r>
              <a:rPr sz="1050">
                <a:solidFill>
                  <a:srgbClr val="4B5563"/>
                </a:solidFill>
                <a:latin typeface="Arial"/>
              </a:rPr>
              <a:t>Each step is used only if the one before it fails.</a:t>
            </a:r>
          </a:p>
        </p:txBody>
      </p:sp>
      <p:sp>
        <p:nvSpPr>
          <p:cNvPr id="26" name="Rectangle 25"/>
          <p:cNvSpPr/>
          <p:nvPr/>
        </p:nvSpPr>
        <p:spPr>
          <a:xfrm>
            <a:off x="6347765" y="1572768"/>
            <a:ext cx="3566160" cy="566928"/>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Members left short are paid in full</a:t>
            </a:r>
          </a:p>
          <a:p>
            <a:pPr algn="ctr">
              <a:lnSpc>
                <a:spcPct val="102000"/>
              </a:lnSpc>
              <a:spcBef>
                <a:spcPts val="200"/>
              </a:spcBef>
            </a:pPr>
            <a:r>
              <a:rPr sz="1000">
                <a:solidFill>
                  <a:srgbClr val="4B5563"/>
                </a:solidFill>
                <a:latin typeface="Arial"/>
              </a:rPr>
              <a:t>by the takaful or insurance operator, in their own names</a:t>
            </a:r>
          </a:p>
        </p:txBody>
      </p:sp>
      <p:sp>
        <p:nvSpPr>
          <p:cNvPr id="27" name="Freeform 26"/>
          <p:cNvSpPr/>
          <p:nvPr/>
        </p:nvSpPr>
        <p:spPr>
          <a:xfrm>
            <a:off x="5159045" y="1856232"/>
            <a:ext cx="1188720" cy="1216152"/>
          </a:xfrm>
          <a:custGeom>
            <a:avLst/>
            <a:gdLst/>
            <a:ahLst/>
            <a:cxnLst/>
            <a:rect l="l" t="t" r="r" b="b"/>
            <a:pathLst>
              <a:path w="1188720" h="1216152">
                <a:moveTo>
                  <a:pt x="1188720" y="0"/>
                </a:moveTo>
                <a:lnTo>
                  <a:pt x="0" y="0"/>
                </a:lnTo>
                <a:lnTo>
                  <a:pt x="0" y="1216152"/>
                </a:lnTo>
              </a:path>
            </a:pathLst>
          </a:custGeom>
          <a:noFill/>
          <a:ln w="38100">
            <a:solidFill>
              <a:srgbClr val="2A78D6"/>
            </a:solidFill>
            <a:tailEnd type="triangle" w="med" len="med"/>
          </a:ln>
        </p:spPr>
        <p:txBody>
          <a:bodyPr rtlCol="0" anchor="ctr"/>
          <a:lstStyle/>
          <a:p>
            <a:pPr algn="ctr"/>
          </a:p>
        </p:txBody>
      </p:sp>
      <p:sp>
        <p:nvSpPr>
          <p:cNvPr id="28" name="TextBox 27"/>
          <p:cNvSpPr txBox="1"/>
          <p:nvPr/>
        </p:nvSpPr>
        <p:spPr>
          <a:xfrm>
            <a:off x="548640" y="5074920"/>
            <a:ext cx="3423818" cy="389128"/>
          </a:xfrm>
          <a:prstGeom prst="rect">
            <a:avLst/>
          </a:prstGeom>
          <a:noFill/>
        </p:spPr>
        <p:txBody>
          <a:bodyPr wrap="square" lIns="0" tIns="0" rIns="0" bIns="0">
            <a:spAutoFit/>
          </a:bodyPr>
          <a:lstStyle/>
          <a:p>
            <a:pPr>
              <a:lnSpc>
                <a:spcPct val="100000"/>
              </a:lnSpc>
            </a:pPr>
            <a:r>
              <a:rPr sz="2200" b="1">
                <a:solidFill>
                  <a:srgbClr val="0B6F64"/>
                </a:solidFill>
                <a:latin typeface="Arial"/>
              </a:rPr>
              <a:t>About 5.5%</a:t>
            </a:r>
          </a:p>
        </p:txBody>
      </p:sp>
      <p:sp>
        <p:nvSpPr>
          <p:cNvPr id="29" name="TextBox 28"/>
          <p:cNvSpPr txBox="1"/>
          <p:nvPr/>
        </p:nvSpPr>
        <p:spPr>
          <a:xfrm>
            <a:off x="548640"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of the instalment: the takaful or insurance price for the stress case [1]</a:t>
            </a:r>
          </a:p>
        </p:txBody>
      </p:sp>
      <p:sp>
        <p:nvSpPr>
          <p:cNvPr id="30" name="TextBox 29"/>
          <p:cNvSpPr txBox="1"/>
          <p:nvPr/>
        </p:nvSpPr>
        <p:spPr>
          <a:xfrm>
            <a:off x="4383938" y="5074920"/>
            <a:ext cx="3423818" cy="389128"/>
          </a:xfrm>
          <a:prstGeom prst="rect">
            <a:avLst/>
          </a:prstGeom>
          <a:noFill/>
        </p:spPr>
        <p:txBody>
          <a:bodyPr wrap="square" lIns="0" tIns="0" rIns="0" bIns="0">
            <a:spAutoFit/>
          </a:bodyPr>
          <a:lstStyle/>
          <a:p>
            <a:pPr>
              <a:lnSpc>
                <a:spcPct val="100000"/>
              </a:lnSpc>
            </a:pPr>
            <a:r>
              <a:rPr sz="2200" b="1">
                <a:solidFill>
                  <a:srgbClr val="9E3F17"/>
                </a:solidFill>
                <a:latin typeface="Arial"/>
              </a:rPr>
              <a:t>Mashreq chooses</a:t>
            </a:r>
          </a:p>
        </p:txBody>
      </p:sp>
      <p:sp>
        <p:nvSpPr>
          <p:cNvPr id="31" name="TextBox 30"/>
          <p:cNvSpPr txBox="1"/>
          <p:nvPr/>
        </p:nvSpPr>
        <p:spPr>
          <a:xfrm>
            <a:off x="4383938"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its insurance partner or a takaful operator</a:t>
            </a:r>
          </a:p>
        </p:txBody>
      </p:sp>
      <p:sp>
        <p:nvSpPr>
          <p:cNvPr id="32" name="TextBox 31"/>
          <p:cNvSpPr txBox="1"/>
          <p:nvPr/>
        </p:nvSpPr>
        <p:spPr>
          <a:xfrm>
            <a:off x="8219237" y="5074920"/>
            <a:ext cx="3423818" cy="389128"/>
          </a:xfrm>
          <a:prstGeom prst="rect">
            <a:avLst/>
          </a:prstGeom>
          <a:noFill/>
        </p:spPr>
        <p:txBody>
          <a:bodyPr wrap="square" lIns="0" tIns="0" rIns="0" bIns="0">
            <a:spAutoFit/>
          </a:bodyPr>
          <a:lstStyle/>
          <a:p>
            <a:pPr>
              <a:lnSpc>
                <a:spcPct val="100000"/>
              </a:lnSpc>
            </a:pPr>
            <a:r>
              <a:rPr sz="2200" b="1">
                <a:solidFill>
                  <a:srgbClr val="A12F2F"/>
                </a:solidFill>
                <a:latin typeface="Arial"/>
              </a:rPr>
              <a:t>Never</a:t>
            </a:r>
          </a:p>
        </p:txBody>
      </p:sp>
      <p:sp>
        <p:nvSpPr>
          <p:cNvPr id="33" name="TextBox 32"/>
          <p:cNvSpPr txBox="1"/>
          <p:nvPr/>
        </p:nvSpPr>
        <p:spPr>
          <a:xfrm>
            <a:off x="8219237"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calls to relatives, contact lists or published names</a:t>
            </a:r>
          </a:p>
        </p:txBody>
      </p:sp>
      <p:sp>
        <p:nvSpPr>
          <p:cNvPr id="34" name="TextBox 3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Takaful pricing model (HQ-MF-05): one circle in five losing a fifth of its members from the earliest turns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Points and Rewards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Profit on committee balances and on-time payments, returned to members as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20</a:t>
            </a:r>
          </a:p>
        </p:txBody>
      </p:sp>
      <p:sp>
        <p:nvSpPr>
          <p:cNvPr id="6" name="TextBox 5"/>
          <p:cNvSpPr txBox="1"/>
          <p:nvPr/>
        </p:nvSpPr>
        <p:spPr>
          <a:xfrm>
            <a:off x="548640" y="1527048"/>
            <a:ext cx="3017520" cy="256032"/>
          </a:xfrm>
          <a:prstGeom prst="rect">
            <a:avLst/>
          </a:prstGeom>
          <a:noFill/>
        </p:spPr>
        <p:txBody>
          <a:bodyPr wrap="square" lIns="0" tIns="0" rIns="0" bIns="0">
            <a:spAutoFit/>
          </a:bodyPr>
          <a:lstStyle/>
          <a:p>
            <a:pPr>
              <a:lnSpc>
                <a:spcPct val="105000"/>
              </a:lnSpc>
            </a:pPr>
            <a:r>
              <a:rPr sz="1100" b="1">
                <a:solidFill>
                  <a:srgbClr val="6B7280"/>
                </a:solidFill>
                <a:latin typeface="Arial"/>
              </a:rPr>
              <a:t>Earn</a:t>
            </a:r>
          </a:p>
        </p:txBody>
      </p:sp>
      <p:sp>
        <p:nvSpPr>
          <p:cNvPr id="7" name="Rectangle 6"/>
          <p:cNvSpPr/>
          <p:nvPr/>
        </p:nvSpPr>
        <p:spPr>
          <a:xfrm>
            <a:off x="548640" y="1828800"/>
            <a:ext cx="3017520" cy="512064"/>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Profit on committee balances</a:t>
            </a:r>
          </a:p>
          <a:p>
            <a:pPr>
              <a:lnSpc>
                <a:spcPct val="102000"/>
              </a:lnSpc>
              <a:spcBef>
                <a:spcPts val="200"/>
              </a:spcBef>
            </a:pPr>
            <a:r>
              <a:rPr sz="950">
                <a:solidFill>
                  <a:srgbClr val="4B5563"/>
                </a:solidFill>
                <a:latin typeface="Arial"/>
              </a:rPr>
              <a:t>paid at the end of each circle</a:t>
            </a:r>
          </a:p>
        </p:txBody>
      </p:sp>
      <p:sp>
        <p:nvSpPr>
          <p:cNvPr id="8" name="Rectangle 7"/>
          <p:cNvSpPr/>
          <p:nvPr/>
        </p:nvSpPr>
        <p:spPr>
          <a:xfrm>
            <a:off x="548640" y="2432304"/>
            <a:ext cx="3017520" cy="512064"/>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On-time payments</a:t>
            </a:r>
          </a:p>
          <a:p>
            <a:pPr>
              <a:lnSpc>
                <a:spcPct val="102000"/>
              </a:lnSpc>
              <a:spcBef>
                <a:spcPts val="200"/>
              </a:spcBef>
            </a:pPr>
            <a:r>
              <a:rPr sz="950">
                <a:solidFill>
                  <a:srgbClr val="4B5563"/>
                </a:solidFill>
                <a:latin typeface="Arial"/>
              </a:rPr>
              <a:t>never more than half of Halqa’s own fee on that instalment</a:t>
            </a:r>
          </a:p>
        </p:txBody>
      </p:sp>
      <p:sp>
        <p:nvSpPr>
          <p:cNvPr id="9" name="Rectangle 8"/>
          <p:cNvSpPr/>
          <p:nvPr/>
        </p:nvSpPr>
        <p:spPr>
          <a:xfrm>
            <a:off x="548640" y="3035808"/>
            <a:ext cx="3017520" cy="512064"/>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Hosting</a:t>
            </a:r>
          </a:p>
          <a:p>
            <a:pPr>
              <a:lnSpc>
                <a:spcPct val="102000"/>
              </a:lnSpc>
              <a:spcBef>
                <a:spcPts val="200"/>
              </a:spcBef>
            </a:pPr>
            <a:r>
              <a:rPr sz="950">
                <a:solidFill>
                  <a:srgbClr val="4B5563"/>
                </a:solidFill>
                <a:latin typeface="Arial"/>
              </a:rPr>
              <a:t>circles that complete cleanly</a:t>
            </a:r>
          </a:p>
        </p:txBody>
      </p:sp>
      <p:sp>
        <p:nvSpPr>
          <p:cNvPr id="10" name="Rectangle 9"/>
          <p:cNvSpPr/>
          <p:nvPr/>
        </p:nvSpPr>
        <p:spPr>
          <a:xfrm>
            <a:off x="548640" y="3639312"/>
            <a:ext cx="3017520" cy="512064"/>
          </a:xfrm>
          <a:prstGeom prst="rect">
            <a:avLst/>
          </a:prstGeom>
          <a:solidFill>
            <a:srgbClr val="FDF1EA"/>
          </a:solidFill>
          <a:ln w="15875">
            <a:solidFill>
              <a:srgbClr val="D8602A"/>
            </a:solidFill>
          </a:ln>
        </p:spPr>
        <p:txBody>
          <a:bodyPr rtlCol="0" anchor="ctr" lIns="109728" tIns="82296" rIns="109728" bIns="82296" wrap="square"/>
          <a:lstStyle/>
          <a:p>
            <a:pPr>
              <a:lnSpc>
                <a:spcPct val="102000"/>
              </a:lnSpc>
            </a:pPr>
            <a:r>
              <a:rPr sz="1150" b="1">
                <a:solidFill>
                  <a:srgbClr val="0C1408"/>
                </a:solidFill>
                <a:latin typeface="Arial"/>
              </a:rPr>
              <a:t>Bought with money</a:t>
            </a:r>
          </a:p>
          <a:p>
            <a:pPr>
              <a:lnSpc>
                <a:spcPct val="102000"/>
              </a:lnSpc>
              <a:spcBef>
                <a:spcPts val="200"/>
              </a:spcBef>
            </a:pPr>
            <a:r>
              <a:rPr sz="950">
                <a:solidFill>
                  <a:srgbClr val="4B5563"/>
                </a:solidFill>
                <a:latin typeface="Arial"/>
              </a:rPr>
              <a:t>as a Mashreq product, under its licence</a:t>
            </a:r>
          </a:p>
        </p:txBody>
      </p:sp>
      <p:sp>
        <p:nvSpPr>
          <p:cNvPr id="11" name="Rectangle 10"/>
          <p:cNvSpPr/>
          <p:nvPr/>
        </p:nvSpPr>
        <p:spPr>
          <a:xfrm>
            <a:off x="4434840" y="1828800"/>
            <a:ext cx="2651760" cy="2322576"/>
          </a:xfrm>
          <a:prstGeom prst="rect">
            <a:avLst/>
          </a:prstGeom>
          <a:solidFill>
            <a:srgbClr val="FDF1EA"/>
          </a:solidFill>
          <a:ln w="19050">
            <a:solidFill>
              <a:srgbClr val="D8602A"/>
            </a:solidFill>
          </a:ln>
        </p:spPr>
        <p:txBody>
          <a:bodyPr rtlCol="0" anchor="ctr" tIns="68580" bIns="68580" wrap="square"/>
          <a:lstStyle/>
          <a:p>
            <a:pPr algn="ctr">
              <a:lnSpc>
                <a:spcPct val="105000"/>
              </a:lnSpc>
            </a:pPr>
            <a:r>
              <a:rPr sz="2000" b="1">
                <a:solidFill>
                  <a:srgbClr val="0C1408"/>
                </a:solidFill>
                <a:latin typeface="Arial"/>
              </a:rPr>
              <a:t>Points</a:t>
            </a:r>
          </a:p>
          <a:p>
            <a:pPr algn="ctr">
              <a:lnSpc>
                <a:spcPct val="105000"/>
              </a:lnSpc>
              <a:spcBef>
                <a:spcPts val="400"/>
              </a:spcBef>
            </a:pPr>
            <a:r>
              <a:rPr sz="1400">
                <a:solidFill>
                  <a:srgbClr val="9E3F17"/>
                </a:solidFill>
                <a:latin typeface="Arial"/>
              </a:rPr>
              <a:t>1 point = Rs 1</a:t>
            </a:r>
          </a:p>
          <a:p>
            <a:pPr algn="ctr">
              <a:lnSpc>
                <a:spcPct val="105000"/>
              </a:lnSpc>
              <a:spcBef>
                <a:spcPts val="400"/>
              </a:spcBef>
            </a:pPr>
            <a:r>
              <a:rPr sz="1050">
                <a:solidFill>
                  <a:srgbClr val="4B5563"/>
                </a:solidFill>
                <a:latin typeface="Arial"/>
              </a:rPr>
              <a:t>held in the member’s account</a:t>
            </a:r>
          </a:p>
        </p:txBody>
      </p:sp>
      <p:cxnSp>
        <p:nvCxnSpPr>
          <p:cNvPr id="12" name="Connector 11"/>
          <p:cNvCxnSpPr/>
          <p:nvPr/>
        </p:nvCxnSpPr>
        <p:spPr>
          <a:xfrm>
            <a:off x="3611880" y="2084832"/>
            <a:ext cx="777240" cy="0"/>
          </a:xfrm>
          <a:prstGeom prst="line">
            <a:avLst/>
          </a:prstGeom>
          <a:ln w="19050">
            <a:solidFill>
              <a:srgbClr val="4B5563"/>
            </a:solidFill>
            <a:tailEnd type="triangle" w="med" len="med"/>
          </a:ln>
        </p:spPr>
      </p:cxnSp>
      <p:cxnSp>
        <p:nvCxnSpPr>
          <p:cNvPr id="13" name="Connector 12"/>
          <p:cNvCxnSpPr/>
          <p:nvPr/>
        </p:nvCxnSpPr>
        <p:spPr>
          <a:xfrm>
            <a:off x="3611880" y="2688336"/>
            <a:ext cx="777240" cy="0"/>
          </a:xfrm>
          <a:prstGeom prst="line">
            <a:avLst/>
          </a:prstGeom>
          <a:ln w="19050">
            <a:solidFill>
              <a:srgbClr val="4B5563"/>
            </a:solidFill>
            <a:tailEnd type="triangle" w="med" len="med"/>
          </a:ln>
        </p:spPr>
      </p:cxnSp>
      <p:cxnSp>
        <p:nvCxnSpPr>
          <p:cNvPr id="14" name="Connector 13"/>
          <p:cNvCxnSpPr/>
          <p:nvPr/>
        </p:nvCxnSpPr>
        <p:spPr>
          <a:xfrm>
            <a:off x="3611880" y="3291840"/>
            <a:ext cx="777240" cy="0"/>
          </a:xfrm>
          <a:prstGeom prst="line">
            <a:avLst/>
          </a:prstGeom>
          <a:ln w="19050">
            <a:solidFill>
              <a:srgbClr val="4B5563"/>
            </a:solidFill>
            <a:tailEnd type="triangle" w="med" len="med"/>
          </a:ln>
        </p:spPr>
      </p:cxnSp>
      <p:cxnSp>
        <p:nvCxnSpPr>
          <p:cNvPr id="15" name="Connector 14"/>
          <p:cNvCxnSpPr/>
          <p:nvPr/>
        </p:nvCxnSpPr>
        <p:spPr>
          <a:xfrm>
            <a:off x="3611880" y="3895344"/>
            <a:ext cx="777240" cy="0"/>
          </a:xfrm>
          <a:prstGeom prst="line">
            <a:avLst/>
          </a:prstGeom>
          <a:ln w="19050">
            <a:solidFill>
              <a:srgbClr val="4B5563"/>
            </a:solidFill>
            <a:tailEnd type="triangle" w="med" len="med"/>
          </a:ln>
        </p:spPr>
      </p:cxnSp>
      <p:sp>
        <p:nvSpPr>
          <p:cNvPr id="16" name="TextBox 15"/>
          <p:cNvSpPr txBox="1"/>
          <p:nvPr/>
        </p:nvSpPr>
        <p:spPr>
          <a:xfrm>
            <a:off x="8183880" y="1527048"/>
            <a:ext cx="3459175" cy="256032"/>
          </a:xfrm>
          <a:prstGeom prst="rect">
            <a:avLst/>
          </a:prstGeom>
          <a:noFill/>
        </p:spPr>
        <p:txBody>
          <a:bodyPr wrap="square" lIns="0" tIns="0" rIns="0" bIns="0">
            <a:spAutoFit/>
          </a:bodyPr>
          <a:lstStyle/>
          <a:p>
            <a:pPr>
              <a:lnSpc>
                <a:spcPct val="105000"/>
              </a:lnSpc>
            </a:pPr>
            <a:r>
              <a:rPr sz="1100" b="1">
                <a:solidFill>
                  <a:srgbClr val="6B7280"/>
                </a:solidFill>
                <a:latin typeface="Arial"/>
              </a:rPr>
              <a:t>Spend</a:t>
            </a:r>
          </a:p>
        </p:txBody>
      </p:sp>
      <p:sp>
        <p:nvSpPr>
          <p:cNvPr id="17" name="Rectangle 16"/>
          <p:cNvSpPr/>
          <p:nvPr/>
        </p:nvSpPr>
        <p:spPr>
          <a:xfrm>
            <a:off x="8183880" y="1828800"/>
            <a:ext cx="3459175" cy="512064"/>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Halqa marketplace</a:t>
            </a:r>
          </a:p>
          <a:p>
            <a:pPr>
              <a:lnSpc>
                <a:spcPct val="102000"/>
              </a:lnSpc>
              <a:spcBef>
                <a:spcPts val="200"/>
              </a:spcBef>
            </a:pPr>
            <a:r>
              <a:rPr sz="1000">
                <a:solidFill>
                  <a:srgbClr val="4B5563"/>
                </a:solidFill>
                <a:latin typeface="Arial"/>
              </a:rPr>
              <a:t>goods from partner sellers</a:t>
            </a:r>
          </a:p>
        </p:txBody>
      </p:sp>
      <p:cxnSp>
        <p:nvCxnSpPr>
          <p:cNvPr id="18" name="Connector 17"/>
          <p:cNvCxnSpPr/>
          <p:nvPr/>
        </p:nvCxnSpPr>
        <p:spPr>
          <a:xfrm>
            <a:off x="7132320" y="2084832"/>
            <a:ext cx="1005840" cy="0"/>
          </a:xfrm>
          <a:prstGeom prst="line">
            <a:avLst/>
          </a:prstGeom>
          <a:ln w="19050">
            <a:solidFill>
              <a:srgbClr val="4B5563"/>
            </a:solidFill>
            <a:tailEnd type="triangle" w="med" len="med"/>
          </a:ln>
        </p:spPr>
      </p:cxnSp>
      <p:sp>
        <p:nvSpPr>
          <p:cNvPr id="19" name="Rectangle 18"/>
          <p:cNvSpPr/>
          <p:nvPr/>
        </p:nvSpPr>
        <p:spPr>
          <a:xfrm>
            <a:off x="8183880" y="2432304"/>
            <a:ext cx="3459175" cy="512064"/>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E-commerce partners</a:t>
            </a:r>
          </a:p>
          <a:p>
            <a:pPr>
              <a:lnSpc>
                <a:spcPct val="102000"/>
              </a:lnSpc>
              <a:spcBef>
                <a:spcPts val="200"/>
              </a:spcBef>
            </a:pPr>
            <a:r>
              <a:rPr sz="1000">
                <a:solidFill>
                  <a:srgbClr val="4B5563"/>
                </a:solidFill>
                <a:latin typeface="Arial"/>
              </a:rPr>
              <a:t>online purchases</a:t>
            </a:r>
          </a:p>
        </p:txBody>
      </p:sp>
      <p:cxnSp>
        <p:nvCxnSpPr>
          <p:cNvPr id="20" name="Connector 19"/>
          <p:cNvCxnSpPr/>
          <p:nvPr/>
        </p:nvCxnSpPr>
        <p:spPr>
          <a:xfrm>
            <a:off x="7132320" y="2688336"/>
            <a:ext cx="1005840" cy="0"/>
          </a:xfrm>
          <a:prstGeom prst="line">
            <a:avLst/>
          </a:prstGeom>
          <a:ln w="19050">
            <a:solidFill>
              <a:srgbClr val="4B5563"/>
            </a:solidFill>
            <a:tailEnd type="triangle" w="med" len="med"/>
          </a:ln>
        </p:spPr>
      </p:cxnSp>
      <p:sp>
        <p:nvSpPr>
          <p:cNvPr id="21" name="Rectangle 20"/>
          <p:cNvSpPr/>
          <p:nvPr/>
        </p:nvSpPr>
        <p:spPr>
          <a:xfrm>
            <a:off x="8183880" y="3035808"/>
            <a:ext cx="3459175" cy="512064"/>
          </a:xfrm>
          <a:prstGeom prst="rect">
            <a:avLst/>
          </a:prstGeom>
          <a:solidFill>
            <a:srgbClr val="FDF1EA"/>
          </a:solidFill>
          <a:ln w="15875">
            <a:solidFill>
              <a:srgbClr val="D8602A"/>
            </a:solidFill>
          </a:ln>
        </p:spPr>
        <p:txBody>
          <a:bodyPr rtlCol="0" anchor="ctr" lIns="128016" tIns="96012" rIns="128016" bIns="96012" wrap="square"/>
          <a:lstStyle/>
          <a:p>
            <a:pPr>
              <a:lnSpc>
                <a:spcPct val="102000"/>
              </a:lnSpc>
            </a:pPr>
            <a:r>
              <a:rPr sz="1150" b="1">
                <a:solidFill>
                  <a:srgbClr val="0C1408"/>
                </a:solidFill>
                <a:latin typeface="Arial"/>
              </a:rPr>
              <a:t>Mashreq rewards</a:t>
            </a:r>
          </a:p>
          <a:p>
            <a:pPr>
              <a:lnSpc>
                <a:spcPct val="102000"/>
              </a:lnSpc>
              <a:spcBef>
                <a:spcPts val="200"/>
              </a:spcBef>
            </a:pPr>
            <a:r>
              <a:rPr sz="1000">
                <a:solidFill>
                  <a:srgbClr val="4B5563"/>
                </a:solidFill>
                <a:latin typeface="Arial"/>
              </a:rPr>
              <a:t>with the bank’s own rewards</a:t>
            </a:r>
          </a:p>
        </p:txBody>
      </p:sp>
      <p:cxnSp>
        <p:nvCxnSpPr>
          <p:cNvPr id="22" name="Connector 21"/>
          <p:cNvCxnSpPr/>
          <p:nvPr/>
        </p:nvCxnSpPr>
        <p:spPr>
          <a:xfrm>
            <a:off x="7132320" y="3291840"/>
            <a:ext cx="1005840" cy="0"/>
          </a:xfrm>
          <a:prstGeom prst="line">
            <a:avLst/>
          </a:prstGeom>
          <a:ln w="19050">
            <a:solidFill>
              <a:srgbClr val="4B5563"/>
            </a:solidFill>
            <a:tailEnd type="triangle" w="med" len="med"/>
          </a:ln>
        </p:spPr>
      </p:cxnSp>
      <p:sp>
        <p:nvSpPr>
          <p:cNvPr id="23" name="TextBox 22"/>
          <p:cNvSpPr txBox="1"/>
          <p:nvPr/>
        </p:nvSpPr>
        <p:spPr>
          <a:xfrm>
            <a:off x="548640" y="4434840"/>
            <a:ext cx="11094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Worked example: profit on one circle of 12 at Rs 10,000</a:t>
            </a:r>
            <a:r>
              <a:rPr sz="1100">
                <a:solidFill>
                  <a:srgbClr val="6B7280"/>
                </a:solidFill>
                <a:latin typeface="Arial"/>
              </a:rPr>
              <a:t>   per month and per circle</a:t>
            </a:r>
          </a:p>
        </p:txBody>
      </p:sp>
      <p:sp>
        <p:nvSpPr>
          <p:cNvPr id="24" name="Rectangle 23"/>
          <p:cNvSpPr/>
          <p:nvPr/>
        </p:nvSpPr>
        <p:spPr>
          <a:xfrm>
            <a:off x="548640"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120,000</a:t>
            </a:r>
          </a:p>
          <a:p>
            <a:pPr algn="ctr">
              <a:lnSpc>
                <a:spcPct val="100000"/>
              </a:lnSpc>
              <a:spcBef>
                <a:spcPts val="200"/>
              </a:spcBef>
            </a:pPr>
            <a:r>
              <a:rPr sz="1000">
                <a:solidFill>
                  <a:srgbClr val="4B5563"/>
                </a:solidFill>
                <a:latin typeface="Arial"/>
              </a:rPr>
              <a:t>held each month</a:t>
            </a:r>
          </a:p>
        </p:txBody>
      </p:sp>
      <p:sp>
        <p:nvSpPr>
          <p:cNvPr id="25" name="TextBox 24"/>
          <p:cNvSpPr txBox="1"/>
          <p:nvPr/>
        </p:nvSpPr>
        <p:spPr>
          <a:xfrm>
            <a:off x="2077669"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6" name="Rectangle 25"/>
          <p:cNvSpPr/>
          <p:nvPr/>
        </p:nvSpPr>
        <p:spPr>
          <a:xfrm>
            <a:off x="2461717"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7 of 365 days</a:t>
            </a:r>
          </a:p>
          <a:p>
            <a:pPr algn="ctr">
              <a:lnSpc>
                <a:spcPct val="100000"/>
              </a:lnSpc>
              <a:spcBef>
                <a:spcPts val="200"/>
              </a:spcBef>
            </a:pPr>
            <a:r>
              <a:rPr sz="1000">
                <a:solidFill>
                  <a:srgbClr val="4B5563"/>
                </a:solidFill>
                <a:latin typeface="Arial"/>
              </a:rPr>
              <a:t>payday to the 8th</a:t>
            </a:r>
          </a:p>
        </p:txBody>
      </p:sp>
      <p:sp>
        <p:nvSpPr>
          <p:cNvPr id="27" name="TextBox 26"/>
          <p:cNvSpPr txBox="1"/>
          <p:nvPr/>
        </p:nvSpPr>
        <p:spPr>
          <a:xfrm>
            <a:off x="3990746"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8" name="Rectangle 27"/>
          <p:cNvSpPr/>
          <p:nvPr/>
        </p:nvSpPr>
        <p:spPr>
          <a:xfrm>
            <a:off x="4374794"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5% a year</a:t>
            </a:r>
          </a:p>
          <a:p>
            <a:pPr algn="ctr">
              <a:lnSpc>
                <a:spcPct val="100000"/>
              </a:lnSpc>
              <a:spcBef>
                <a:spcPts val="200"/>
              </a:spcBef>
            </a:pPr>
            <a:r>
              <a:rPr sz="1000">
                <a:solidFill>
                  <a:srgbClr val="4B5563"/>
                </a:solidFill>
                <a:latin typeface="Arial"/>
              </a:rPr>
              <a:t>the account’s top rate</a:t>
            </a:r>
          </a:p>
        </p:txBody>
      </p:sp>
      <p:sp>
        <p:nvSpPr>
          <p:cNvPr id="29" name="TextBox 28"/>
          <p:cNvSpPr txBox="1"/>
          <p:nvPr/>
        </p:nvSpPr>
        <p:spPr>
          <a:xfrm>
            <a:off x="5903824"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30" name="Rectangle 29"/>
          <p:cNvSpPr/>
          <p:nvPr/>
        </p:nvSpPr>
        <p:spPr>
          <a:xfrm>
            <a:off x="6287872"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115</a:t>
            </a:r>
          </a:p>
          <a:p>
            <a:pPr algn="ctr">
              <a:lnSpc>
                <a:spcPct val="100000"/>
              </a:lnSpc>
              <a:spcBef>
                <a:spcPts val="200"/>
              </a:spcBef>
            </a:pPr>
            <a:r>
              <a:rPr sz="1000">
                <a:solidFill>
                  <a:srgbClr val="4B5563"/>
                </a:solidFill>
                <a:latin typeface="Arial"/>
              </a:rPr>
              <a:t>profit a month</a:t>
            </a:r>
          </a:p>
        </p:txBody>
      </p:sp>
      <p:cxnSp>
        <p:nvCxnSpPr>
          <p:cNvPr id="31" name="Connector 30"/>
          <p:cNvCxnSpPr/>
          <p:nvPr/>
        </p:nvCxnSpPr>
        <p:spPr>
          <a:xfrm>
            <a:off x="7880909" y="5102352"/>
            <a:ext cx="256032" cy="0"/>
          </a:xfrm>
          <a:prstGeom prst="line">
            <a:avLst/>
          </a:prstGeom>
          <a:ln w="19050">
            <a:solidFill>
              <a:srgbClr val="4B5563"/>
            </a:solidFill>
            <a:tailEnd type="triangle" w="med" len="med"/>
          </a:ln>
        </p:spPr>
      </p:cxnSp>
      <p:sp>
        <p:nvSpPr>
          <p:cNvPr id="32" name="Rectangle 31"/>
          <p:cNvSpPr/>
          <p:nvPr/>
        </p:nvSpPr>
        <p:spPr>
          <a:xfrm>
            <a:off x="8200949"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1,380</a:t>
            </a:r>
          </a:p>
          <a:p>
            <a:pPr algn="ctr">
              <a:lnSpc>
                <a:spcPct val="100000"/>
              </a:lnSpc>
              <a:spcBef>
                <a:spcPts val="200"/>
              </a:spcBef>
            </a:pPr>
            <a:r>
              <a:rPr sz="1000">
                <a:solidFill>
                  <a:srgbClr val="4B5563"/>
                </a:solidFill>
                <a:latin typeface="Arial"/>
              </a:rPr>
              <a:t>over 12 months</a:t>
            </a:r>
          </a:p>
        </p:txBody>
      </p:sp>
      <p:cxnSp>
        <p:nvCxnSpPr>
          <p:cNvPr id="33" name="Connector 32"/>
          <p:cNvCxnSpPr/>
          <p:nvPr/>
        </p:nvCxnSpPr>
        <p:spPr>
          <a:xfrm>
            <a:off x="9793986" y="5102352"/>
            <a:ext cx="256032" cy="0"/>
          </a:xfrm>
          <a:prstGeom prst="line">
            <a:avLst/>
          </a:prstGeom>
          <a:ln w="19050">
            <a:solidFill>
              <a:srgbClr val="4B5563"/>
            </a:solidFill>
            <a:tailEnd type="triangle" w="med" len="med"/>
          </a:ln>
        </p:spPr>
      </p:cxnSp>
      <p:sp>
        <p:nvSpPr>
          <p:cNvPr id="34" name="Rectangle 33"/>
          <p:cNvSpPr/>
          <p:nvPr/>
        </p:nvSpPr>
        <p:spPr>
          <a:xfrm>
            <a:off x="10114026" y="4764024"/>
            <a:ext cx="1529029" cy="658368"/>
          </a:xfrm>
          <a:prstGeom prst="rect">
            <a:avLst/>
          </a:prstGeom>
          <a:solidFill>
            <a:srgbClr val="FDF1EA"/>
          </a:solidFill>
          <a:ln w="12700">
            <a:solidFill>
              <a:srgbClr val="D8602A"/>
            </a:solidFill>
          </a:ln>
        </p:spPr>
        <p:txBody>
          <a:bodyPr rtlCol="0" anchor="ctr" lIns="45720" tIns="34290" rIns="45720" bIns="34290" wrap="square"/>
          <a:lstStyle/>
          <a:p>
            <a:pPr algn="ctr">
              <a:lnSpc>
                <a:spcPct val="100000"/>
              </a:lnSpc>
            </a:pPr>
            <a:r>
              <a:rPr sz="1450" b="1">
                <a:solidFill>
                  <a:srgbClr val="0C1408"/>
                </a:solidFill>
                <a:latin typeface="Arial"/>
              </a:rPr>
              <a:t>115 points</a:t>
            </a:r>
          </a:p>
          <a:p>
            <a:pPr algn="ctr">
              <a:lnSpc>
                <a:spcPct val="100000"/>
              </a:lnSpc>
              <a:spcBef>
                <a:spcPts val="200"/>
              </a:spcBef>
            </a:pPr>
            <a:r>
              <a:rPr sz="1000">
                <a:solidFill>
                  <a:srgbClr val="4B5563"/>
                </a:solidFill>
                <a:latin typeface="Arial"/>
              </a:rPr>
              <a:t>to each member</a:t>
            </a:r>
          </a:p>
        </p:txBody>
      </p:sp>
      <p:sp>
        <p:nvSpPr>
          <p:cNvPr id="35" name="Rectangle 34"/>
          <p:cNvSpPr/>
          <p:nvPr/>
        </p:nvSpPr>
        <p:spPr>
          <a:xfrm>
            <a:off x="548640" y="5605272"/>
            <a:ext cx="11094415" cy="566928"/>
          </a:xfrm>
          <a:prstGeom prst="rect">
            <a:avLst/>
          </a:prstGeom>
          <a:solidFill>
            <a:srgbClr val="F3F4F6"/>
          </a:solidFill>
          <a:ln>
            <a:noFill/>
          </a:ln>
        </p:spPr>
        <p:txBody>
          <a:bodyPr rtlCol="0" anchor="ctr" lIns="164592" tIns="123444" rIns="164592" bIns="123444" wrap="square"/>
          <a:lstStyle/>
          <a:p>
            <a:pPr>
              <a:lnSpc>
                <a:spcPct val="104000"/>
              </a:lnSpc>
            </a:pPr>
            <a:r>
              <a:rPr sz="1100" b="1">
                <a:solidFill>
                  <a:srgbClr val="0C1408"/>
                </a:solidFill>
                <a:latin typeface="Arial"/>
              </a:rPr>
              <a:t>Turn exchange:  </a:t>
            </a:r>
            <a:r>
              <a:rPr sz="1100">
                <a:solidFill>
                  <a:srgbClr val="0C1408"/>
                </a:solidFill>
                <a:latin typeface="Arial"/>
              </a:rPr>
              <a:t>members may exchange turns; the price is capped at the value of the pot, the buyer’s score must qualify for the earlier turn, the host approves, and a fee is charged on each exchange.</a:t>
            </a:r>
          </a:p>
        </p:txBody>
      </p:sp>
      <p:sp>
        <p:nvSpPr>
          <p:cNvPr id="36" name="TextBox 3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Mashreq product rates (Islamic Current Profit Account, up to 5%); bank decisions of 28 September 2026 (D4, D9)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Revenue and Business Model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How one instalment is split, where Halqa’s income comes from and when it breaks even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21</a:t>
            </a:r>
          </a:p>
        </p:txBody>
      </p:sp>
      <p:sp>
        <p:nvSpPr>
          <p:cNvPr id="6" name="TextBox 5"/>
          <p:cNvSpPr txBox="1"/>
          <p:nvPr/>
        </p:nvSpPr>
        <p:spPr>
          <a:xfrm>
            <a:off x="548640" y="1481328"/>
            <a:ext cx="51206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on a circle between strangers</a:t>
            </a:r>
            <a:r>
              <a:rPr sz="1100">
                <a:solidFill>
                  <a:srgbClr val="6B7280"/>
                </a:solidFill>
                <a:latin typeface="Arial"/>
              </a:rPr>
              <a:t>   Rs</a:t>
            </a:r>
          </a:p>
        </p:txBody>
      </p:sp>
      <p:sp>
        <p:nvSpPr>
          <p:cNvPr id="7" name="TextBox 6"/>
          <p:cNvSpPr txBox="1"/>
          <p:nvPr/>
        </p:nvSpPr>
        <p:spPr>
          <a:xfrm>
            <a:off x="548640" y="1755648"/>
            <a:ext cx="5120640" cy="237744"/>
          </a:xfrm>
          <a:prstGeom prst="rect">
            <a:avLst/>
          </a:prstGeom>
          <a:noFill/>
        </p:spPr>
        <p:txBody>
          <a:bodyPr wrap="square" lIns="0" tIns="0" rIns="0" bIns="0">
            <a:spAutoFit/>
          </a:bodyPr>
          <a:lstStyle/>
          <a:p>
            <a:pPr>
              <a:lnSpc>
                <a:spcPct val="105000"/>
              </a:lnSpc>
            </a:pPr>
            <a:r>
              <a:rPr sz="1050">
                <a:solidFill>
                  <a:srgbClr val="4B5563"/>
                </a:solidFill>
                <a:latin typeface="Arial"/>
              </a:rPr>
              <a:t>The member pays Rs 11,047</a:t>
            </a:r>
          </a:p>
        </p:txBody>
      </p:sp>
      <p:sp>
        <p:nvSpPr>
          <p:cNvPr id="8" name="Rectangle 7"/>
          <p:cNvSpPr/>
          <p:nvPr/>
        </p:nvSpPr>
        <p:spPr>
          <a:xfrm>
            <a:off x="566928" y="2103120"/>
            <a:ext cx="146304" cy="2194560"/>
          </a:xfrm>
          <a:prstGeom prst="rect">
            <a:avLst/>
          </a:prstGeom>
          <a:solidFill>
            <a:srgbClr val="0C1408"/>
          </a:solidFill>
          <a:ln>
            <a:noFill/>
          </a:ln>
        </p:spPr>
        <p:txBody>
          <a:bodyPr rtlCol="0" anchor="ctr"/>
          <a:lstStyle/>
          <a:p>
            <a:pPr algn="ctr"/>
          </a:p>
        </p:txBody>
      </p:sp>
      <p:sp>
        <p:nvSpPr>
          <p:cNvPr id="9" name="Freeform 8"/>
          <p:cNvSpPr/>
          <p:nvPr/>
        </p:nvSpPr>
        <p:spPr>
          <a:xfrm>
            <a:off x="713232" y="2011680"/>
            <a:ext cx="1801368" cy="2078006"/>
          </a:xfrm>
          <a:custGeom>
            <a:avLst/>
            <a:gdLst/>
            <a:ahLst/>
            <a:cxnLst/>
            <a:rect l="l" t="t" r="r" b="b"/>
            <a:pathLst>
              <a:path w="1801368" h="2078006">
                <a:moveTo>
                  <a:pt x="0" y="91440"/>
                </a:moveTo>
                <a:lnTo>
                  <a:pt x="60046" y="91142"/>
                </a:lnTo>
                <a:lnTo>
                  <a:pt x="120091" y="90275"/>
                </a:lnTo>
                <a:lnTo>
                  <a:pt x="180137" y="88880"/>
                </a:lnTo>
                <a:lnTo>
                  <a:pt x="240182" y="86997"/>
                </a:lnTo>
                <a:lnTo>
                  <a:pt x="300228" y="84667"/>
                </a:lnTo>
                <a:lnTo>
                  <a:pt x="360274" y="81930"/>
                </a:lnTo>
                <a:lnTo>
                  <a:pt x="420319" y="78828"/>
                </a:lnTo>
                <a:lnTo>
                  <a:pt x="480365" y="75401"/>
                </a:lnTo>
                <a:lnTo>
                  <a:pt x="540410" y="71689"/>
                </a:lnTo>
                <a:lnTo>
                  <a:pt x="600456" y="67733"/>
                </a:lnTo>
                <a:lnTo>
                  <a:pt x="660502" y="63575"/>
                </a:lnTo>
                <a:lnTo>
                  <a:pt x="720547" y="59253"/>
                </a:lnTo>
                <a:lnTo>
                  <a:pt x="780593" y="54810"/>
                </a:lnTo>
                <a:lnTo>
                  <a:pt x="840638" y="50285"/>
                </a:lnTo>
                <a:lnTo>
                  <a:pt x="900684" y="45720"/>
                </a:lnTo>
                <a:lnTo>
                  <a:pt x="960730" y="41155"/>
                </a:lnTo>
                <a:lnTo>
                  <a:pt x="1020775" y="36630"/>
                </a:lnTo>
                <a:lnTo>
                  <a:pt x="1080821" y="32187"/>
                </a:lnTo>
                <a:lnTo>
                  <a:pt x="1140866" y="27865"/>
                </a:lnTo>
                <a:lnTo>
                  <a:pt x="1200912" y="23707"/>
                </a:lnTo>
                <a:lnTo>
                  <a:pt x="1260958" y="19751"/>
                </a:lnTo>
                <a:lnTo>
                  <a:pt x="1321003" y="16039"/>
                </a:lnTo>
                <a:lnTo>
                  <a:pt x="1381049" y="12612"/>
                </a:lnTo>
                <a:lnTo>
                  <a:pt x="1441094" y="9510"/>
                </a:lnTo>
                <a:lnTo>
                  <a:pt x="1501140" y="6773"/>
                </a:lnTo>
                <a:lnTo>
                  <a:pt x="1561186" y="4443"/>
                </a:lnTo>
                <a:lnTo>
                  <a:pt x="1621231" y="2560"/>
                </a:lnTo>
                <a:lnTo>
                  <a:pt x="1681277" y="1165"/>
                </a:lnTo>
                <a:lnTo>
                  <a:pt x="1741322" y="298"/>
                </a:lnTo>
                <a:lnTo>
                  <a:pt x="1801368" y="0"/>
                </a:lnTo>
                <a:lnTo>
                  <a:pt x="1801368" y="1986566"/>
                </a:lnTo>
                <a:lnTo>
                  <a:pt x="1741322" y="1986865"/>
                </a:lnTo>
                <a:lnTo>
                  <a:pt x="1681277" y="1987732"/>
                </a:lnTo>
                <a:lnTo>
                  <a:pt x="1621231" y="1989127"/>
                </a:lnTo>
                <a:lnTo>
                  <a:pt x="1561186" y="1991010"/>
                </a:lnTo>
                <a:lnTo>
                  <a:pt x="1501140" y="1993340"/>
                </a:lnTo>
                <a:lnTo>
                  <a:pt x="1441094" y="1996076"/>
                </a:lnTo>
                <a:lnTo>
                  <a:pt x="1381049" y="1999178"/>
                </a:lnTo>
                <a:lnTo>
                  <a:pt x="1321003" y="2002606"/>
                </a:lnTo>
                <a:lnTo>
                  <a:pt x="1260958" y="2006318"/>
                </a:lnTo>
                <a:lnTo>
                  <a:pt x="1200912" y="2010273"/>
                </a:lnTo>
                <a:lnTo>
                  <a:pt x="1140866" y="2014432"/>
                </a:lnTo>
                <a:lnTo>
                  <a:pt x="1080821" y="2018753"/>
                </a:lnTo>
                <a:lnTo>
                  <a:pt x="1020775" y="2023197"/>
                </a:lnTo>
                <a:lnTo>
                  <a:pt x="960730" y="2027721"/>
                </a:lnTo>
                <a:lnTo>
                  <a:pt x="900684" y="2032286"/>
                </a:lnTo>
                <a:lnTo>
                  <a:pt x="840638" y="2036852"/>
                </a:lnTo>
                <a:lnTo>
                  <a:pt x="780593" y="2041376"/>
                </a:lnTo>
                <a:lnTo>
                  <a:pt x="720547" y="2045820"/>
                </a:lnTo>
                <a:lnTo>
                  <a:pt x="660502" y="2050141"/>
                </a:lnTo>
                <a:lnTo>
                  <a:pt x="600456" y="2054300"/>
                </a:lnTo>
                <a:lnTo>
                  <a:pt x="540410" y="2058255"/>
                </a:lnTo>
                <a:lnTo>
                  <a:pt x="480365" y="2061967"/>
                </a:lnTo>
                <a:lnTo>
                  <a:pt x="420319" y="2065395"/>
                </a:lnTo>
                <a:lnTo>
                  <a:pt x="360274" y="2068497"/>
                </a:lnTo>
                <a:lnTo>
                  <a:pt x="300228" y="2071233"/>
                </a:lnTo>
                <a:lnTo>
                  <a:pt x="240182" y="2073563"/>
                </a:lnTo>
                <a:lnTo>
                  <a:pt x="180137" y="2075446"/>
                </a:lnTo>
                <a:lnTo>
                  <a:pt x="120091" y="2076841"/>
                </a:lnTo>
                <a:lnTo>
                  <a:pt x="60046" y="2077708"/>
                </a:lnTo>
                <a:lnTo>
                  <a:pt x="0" y="2078006"/>
                </a:lnTo>
                <a:close/>
              </a:path>
            </a:pathLst>
          </a:custGeom>
          <a:solidFill>
            <a:srgbClr val="D6E6FA"/>
          </a:solidFill>
          <a:ln>
            <a:noFill/>
          </a:ln>
        </p:spPr>
        <p:txBody>
          <a:bodyPr rtlCol="0" anchor="ctr"/>
          <a:lstStyle/>
          <a:p>
            <a:pPr algn="ctr"/>
          </a:p>
        </p:txBody>
      </p:sp>
      <p:sp>
        <p:nvSpPr>
          <p:cNvPr id="10" name="Rectangle 9"/>
          <p:cNvSpPr/>
          <p:nvPr/>
        </p:nvSpPr>
        <p:spPr>
          <a:xfrm>
            <a:off x="2514600" y="2011680"/>
            <a:ext cx="146304" cy="1986566"/>
          </a:xfrm>
          <a:prstGeom prst="rect">
            <a:avLst/>
          </a:prstGeom>
          <a:solidFill>
            <a:srgbClr val="2A78D6"/>
          </a:solidFill>
          <a:ln>
            <a:noFill/>
          </a:ln>
        </p:spPr>
        <p:txBody>
          <a:bodyPr rtlCol="0" anchor="ctr"/>
          <a:lstStyle/>
          <a:p>
            <a:pPr algn="ctr"/>
          </a:p>
        </p:txBody>
      </p:sp>
      <p:sp>
        <p:nvSpPr>
          <p:cNvPr id="11" name="Freeform 10"/>
          <p:cNvSpPr/>
          <p:nvPr/>
        </p:nvSpPr>
        <p:spPr>
          <a:xfrm>
            <a:off x="713232" y="4089686"/>
            <a:ext cx="1801368" cy="243507"/>
          </a:xfrm>
          <a:custGeom>
            <a:avLst/>
            <a:gdLst/>
            <a:ahLst/>
            <a:cxnLst/>
            <a:rect l="l" t="t" r="r" b="b"/>
            <a:pathLst>
              <a:path w="1801368" h="243507">
                <a:moveTo>
                  <a:pt x="0" y="0"/>
                </a:moveTo>
                <a:lnTo>
                  <a:pt x="60046" y="440"/>
                </a:lnTo>
                <a:lnTo>
                  <a:pt x="120091" y="1718"/>
                </a:lnTo>
                <a:lnTo>
                  <a:pt x="180137" y="3776"/>
                </a:lnTo>
                <a:lnTo>
                  <a:pt x="240182" y="6553"/>
                </a:lnTo>
                <a:lnTo>
                  <a:pt x="300228" y="9989"/>
                </a:lnTo>
                <a:lnTo>
                  <a:pt x="360274" y="14024"/>
                </a:lnTo>
                <a:lnTo>
                  <a:pt x="420319" y="18599"/>
                </a:lnTo>
                <a:lnTo>
                  <a:pt x="480365" y="23653"/>
                </a:lnTo>
                <a:lnTo>
                  <a:pt x="540410" y="29126"/>
                </a:lnTo>
                <a:lnTo>
                  <a:pt x="600456" y="34959"/>
                </a:lnTo>
                <a:lnTo>
                  <a:pt x="660502" y="41092"/>
                </a:lnTo>
                <a:lnTo>
                  <a:pt x="720547" y="47465"/>
                </a:lnTo>
                <a:lnTo>
                  <a:pt x="780593" y="54017"/>
                </a:lnTo>
                <a:lnTo>
                  <a:pt x="840638" y="60689"/>
                </a:lnTo>
                <a:lnTo>
                  <a:pt x="900684" y="67421"/>
                </a:lnTo>
                <a:lnTo>
                  <a:pt x="960730" y="74153"/>
                </a:lnTo>
                <a:lnTo>
                  <a:pt x="1020775" y="80825"/>
                </a:lnTo>
                <a:lnTo>
                  <a:pt x="1080821" y="87378"/>
                </a:lnTo>
                <a:lnTo>
                  <a:pt x="1140866" y="93750"/>
                </a:lnTo>
                <a:lnTo>
                  <a:pt x="1200912" y="99883"/>
                </a:lnTo>
                <a:lnTo>
                  <a:pt x="1260958" y="105716"/>
                </a:lnTo>
                <a:lnTo>
                  <a:pt x="1321003" y="111190"/>
                </a:lnTo>
                <a:lnTo>
                  <a:pt x="1381049" y="116244"/>
                </a:lnTo>
                <a:lnTo>
                  <a:pt x="1441094" y="120818"/>
                </a:lnTo>
                <a:lnTo>
                  <a:pt x="1501140" y="124854"/>
                </a:lnTo>
                <a:lnTo>
                  <a:pt x="1561186" y="128290"/>
                </a:lnTo>
                <a:lnTo>
                  <a:pt x="1621231" y="131066"/>
                </a:lnTo>
                <a:lnTo>
                  <a:pt x="1681277" y="133124"/>
                </a:lnTo>
                <a:lnTo>
                  <a:pt x="1741322" y="134403"/>
                </a:lnTo>
                <a:lnTo>
                  <a:pt x="1801368" y="134842"/>
                </a:lnTo>
                <a:lnTo>
                  <a:pt x="1801368" y="243507"/>
                </a:lnTo>
                <a:lnTo>
                  <a:pt x="1741322" y="243068"/>
                </a:lnTo>
                <a:lnTo>
                  <a:pt x="1681277" y="241789"/>
                </a:lnTo>
                <a:lnTo>
                  <a:pt x="1621231" y="239732"/>
                </a:lnTo>
                <a:lnTo>
                  <a:pt x="1561186" y="236955"/>
                </a:lnTo>
                <a:lnTo>
                  <a:pt x="1501140" y="233519"/>
                </a:lnTo>
                <a:lnTo>
                  <a:pt x="1441094" y="229484"/>
                </a:lnTo>
                <a:lnTo>
                  <a:pt x="1381049" y="224909"/>
                </a:lnTo>
                <a:lnTo>
                  <a:pt x="1321003" y="219855"/>
                </a:lnTo>
                <a:lnTo>
                  <a:pt x="1260958" y="214381"/>
                </a:lnTo>
                <a:lnTo>
                  <a:pt x="1200912" y="208548"/>
                </a:lnTo>
                <a:lnTo>
                  <a:pt x="1140866" y="202415"/>
                </a:lnTo>
                <a:lnTo>
                  <a:pt x="1080821" y="196043"/>
                </a:lnTo>
                <a:lnTo>
                  <a:pt x="1020775" y="189491"/>
                </a:lnTo>
                <a:lnTo>
                  <a:pt x="960730" y="182819"/>
                </a:lnTo>
                <a:lnTo>
                  <a:pt x="900684" y="176086"/>
                </a:lnTo>
                <a:lnTo>
                  <a:pt x="840638" y="169354"/>
                </a:lnTo>
                <a:lnTo>
                  <a:pt x="780593" y="162682"/>
                </a:lnTo>
                <a:lnTo>
                  <a:pt x="720547" y="156130"/>
                </a:lnTo>
                <a:lnTo>
                  <a:pt x="660502" y="149757"/>
                </a:lnTo>
                <a:lnTo>
                  <a:pt x="600456" y="143625"/>
                </a:lnTo>
                <a:lnTo>
                  <a:pt x="540410" y="137791"/>
                </a:lnTo>
                <a:lnTo>
                  <a:pt x="480365" y="132318"/>
                </a:lnTo>
                <a:lnTo>
                  <a:pt x="420319" y="127264"/>
                </a:lnTo>
                <a:lnTo>
                  <a:pt x="360274" y="122689"/>
                </a:lnTo>
                <a:lnTo>
                  <a:pt x="300228" y="118654"/>
                </a:lnTo>
                <a:lnTo>
                  <a:pt x="240182" y="115218"/>
                </a:lnTo>
                <a:lnTo>
                  <a:pt x="180137" y="112441"/>
                </a:lnTo>
                <a:lnTo>
                  <a:pt x="120091" y="110384"/>
                </a:lnTo>
                <a:lnTo>
                  <a:pt x="60046" y="109105"/>
                </a:lnTo>
                <a:lnTo>
                  <a:pt x="0" y="108666"/>
                </a:lnTo>
                <a:close/>
              </a:path>
            </a:pathLst>
          </a:custGeom>
          <a:solidFill>
            <a:srgbClr val="CFEFEA"/>
          </a:solidFill>
          <a:ln>
            <a:noFill/>
          </a:ln>
        </p:spPr>
        <p:txBody>
          <a:bodyPr rtlCol="0" anchor="ctr"/>
          <a:lstStyle/>
          <a:p>
            <a:pPr algn="ctr"/>
          </a:p>
        </p:txBody>
      </p:sp>
      <p:sp>
        <p:nvSpPr>
          <p:cNvPr id="12" name="Rectangle 11"/>
          <p:cNvSpPr/>
          <p:nvPr/>
        </p:nvSpPr>
        <p:spPr>
          <a:xfrm>
            <a:off x="2514600" y="4224528"/>
            <a:ext cx="146304" cy="108665"/>
          </a:xfrm>
          <a:prstGeom prst="rect">
            <a:avLst/>
          </a:prstGeom>
          <a:solidFill>
            <a:srgbClr val="0E9384"/>
          </a:solidFill>
          <a:ln>
            <a:noFill/>
          </a:ln>
        </p:spPr>
        <p:txBody>
          <a:bodyPr rtlCol="0" anchor="ctr"/>
          <a:lstStyle/>
          <a:p>
            <a:pPr algn="ctr"/>
          </a:p>
        </p:txBody>
      </p:sp>
      <p:sp>
        <p:nvSpPr>
          <p:cNvPr id="13" name="Freeform 12"/>
          <p:cNvSpPr/>
          <p:nvPr/>
        </p:nvSpPr>
        <p:spPr>
          <a:xfrm>
            <a:off x="713232" y="4198352"/>
            <a:ext cx="1801368" cy="399824"/>
          </a:xfrm>
          <a:custGeom>
            <a:avLst/>
            <a:gdLst/>
            <a:ahLst/>
            <a:cxnLst/>
            <a:rect l="l" t="t" r="r" b="b"/>
            <a:pathLst>
              <a:path w="1801368" h="399824">
                <a:moveTo>
                  <a:pt x="0" y="0"/>
                </a:moveTo>
                <a:lnTo>
                  <a:pt x="60046" y="979"/>
                </a:lnTo>
                <a:lnTo>
                  <a:pt x="120091" y="3828"/>
                </a:lnTo>
                <a:lnTo>
                  <a:pt x="180137" y="8414"/>
                </a:lnTo>
                <a:lnTo>
                  <a:pt x="240182" y="14602"/>
                </a:lnTo>
                <a:lnTo>
                  <a:pt x="300228" y="22259"/>
                </a:lnTo>
                <a:lnTo>
                  <a:pt x="360274" y="31251"/>
                </a:lnTo>
                <a:lnTo>
                  <a:pt x="420319" y="41446"/>
                </a:lnTo>
                <a:lnTo>
                  <a:pt x="480365" y="52709"/>
                </a:lnTo>
                <a:lnTo>
                  <a:pt x="540410" y="64907"/>
                </a:lnTo>
                <a:lnTo>
                  <a:pt x="600456" y="77906"/>
                </a:lnTo>
                <a:lnTo>
                  <a:pt x="660502" y="91573"/>
                </a:lnTo>
                <a:lnTo>
                  <a:pt x="720547" y="105774"/>
                </a:lnTo>
                <a:lnTo>
                  <a:pt x="780593" y="120376"/>
                </a:lnTo>
                <a:lnTo>
                  <a:pt x="840638" y="135245"/>
                </a:lnTo>
                <a:lnTo>
                  <a:pt x="900684" y="150248"/>
                </a:lnTo>
                <a:lnTo>
                  <a:pt x="960730" y="165250"/>
                </a:lnTo>
                <a:lnTo>
                  <a:pt x="1020775" y="180119"/>
                </a:lnTo>
                <a:lnTo>
                  <a:pt x="1080821" y="194721"/>
                </a:lnTo>
                <a:lnTo>
                  <a:pt x="1140866" y="208923"/>
                </a:lnTo>
                <a:lnTo>
                  <a:pt x="1200912" y="222590"/>
                </a:lnTo>
                <a:lnTo>
                  <a:pt x="1260958" y="235589"/>
                </a:lnTo>
                <a:lnTo>
                  <a:pt x="1321003" y="247787"/>
                </a:lnTo>
                <a:lnTo>
                  <a:pt x="1381049" y="259050"/>
                </a:lnTo>
                <a:lnTo>
                  <a:pt x="1441094" y="269244"/>
                </a:lnTo>
                <a:lnTo>
                  <a:pt x="1501140" y="278237"/>
                </a:lnTo>
                <a:lnTo>
                  <a:pt x="1561186" y="285894"/>
                </a:lnTo>
                <a:lnTo>
                  <a:pt x="1621231" y="292082"/>
                </a:lnTo>
                <a:lnTo>
                  <a:pt x="1681277" y="296667"/>
                </a:lnTo>
                <a:lnTo>
                  <a:pt x="1741322" y="299517"/>
                </a:lnTo>
                <a:lnTo>
                  <a:pt x="1801368" y="300496"/>
                </a:lnTo>
                <a:lnTo>
                  <a:pt x="1801368" y="399824"/>
                </a:lnTo>
                <a:lnTo>
                  <a:pt x="1741322" y="398845"/>
                </a:lnTo>
                <a:lnTo>
                  <a:pt x="1681277" y="395996"/>
                </a:lnTo>
                <a:lnTo>
                  <a:pt x="1621231" y="391410"/>
                </a:lnTo>
                <a:lnTo>
                  <a:pt x="1561186" y="385222"/>
                </a:lnTo>
                <a:lnTo>
                  <a:pt x="1501140" y="377565"/>
                </a:lnTo>
                <a:lnTo>
                  <a:pt x="1441094" y="368573"/>
                </a:lnTo>
                <a:lnTo>
                  <a:pt x="1381049" y="358378"/>
                </a:lnTo>
                <a:lnTo>
                  <a:pt x="1321003" y="347115"/>
                </a:lnTo>
                <a:lnTo>
                  <a:pt x="1260958" y="334917"/>
                </a:lnTo>
                <a:lnTo>
                  <a:pt x="1200912" y="321918"/>
                </a:lnTo>
                <a:lnTo>
                  <a:pt x="1140866" y="308251"/>
                </a:lnTo>
                <a:lnTo>
                  <a:pt x="1080821" y="294050"/>
                </a:lnTo>
                <a:lnTo>
                  <a:pt x="1020775" y="279448"/>
                </a:lnTo>
                <a:lnTo>
                  <a:pt x="960730" y="264579"/>
                </a:lnTo>
                <a:lnTo>
                  <a:pt x="900684" y="249576"/>
                </a:lnTo>
                <a:lnTo>
                  <a:pt x="840638" y="234574"/>
                </a:lnTo>
                <a:lnTo>
                  <a:pt x="780593" y="219705"/>
                </a:lnTo>
                <a:lnTo>
                  <a:pt x="720547" y="205103"/>
                </a:lnTo>
                <a:lnTo>
                  <a:pt x="660502" y="190901"/>
                </a:lnTo>
                <a:lnTo>
                  <a:pt x="600456" y="177234"/>
                </a:lnTo>
                <a:lnTo>
                  <a:pt x="540410" y="164235"/>
                </a:lnTo>
                <a:lnTo>
                  <a:pt x="480365" y="152037"/>
                </a:lnTo>
                <a:lnTo>
                  <a:pt x="420319" y="140774"/>
                </a:lnTo>
                <a:lnTo>
                  <a:pt x="360274" y="130580"/>
                </a:lnTo>
                <a:lnTo>
                  <a:pt x="300228" y="121587"/>
                </a:lnTo>
                <a:lnTo>
                  <a:pt x="240182" y="113930"/>
                </a:lnTo>
                <a:lnTo>
                  <a:pt x="180137" y="107742"/>
                </a:lnTo>
                <a:lnTo>
                  <a:pt x="120091" y="103157"/>
                </a:lnTo>
                <a:lnTo>
                  <a:pt x="60046" y="100307"/>
                </a:lnTo>
                <a:lnTo>
                  <a:pt x="0" y="99328"/>
                </a:lnTo>
                <a:close/>
              </a:path>
            </a:pathLst>
          </a:custGeom>
          <a:solidFill>
            <a:srgbClr val="F9DCCB"/>
          </a:solidFill>
          <a:ln>
            <a:noFill/>
          </a:ln>
        </p:spPr>
        <p:txBody>
          <a:bodyPr rtlCol="0" anchor="ctr"/>
          <a:lstStyle/>
          <a:p>
            <a:pPr algn="ctr"/>
          </a:p>
        </p:txBody>
      </p:sp>
      <p:sp>
        <p:nvSpPr>
          <p:cNvPr id="14" name="Rectangle 13"/>
          <p:cNvSpPr/>
          <p:nvPr/>
        </p:nvSpPr>
        <p:spPr>
          <a:xfrm>
            <a:off x="2514600" y="4498848"/>
            <a:ext cx="146304" cy="99328"/>
          </a:xfrm>
          <a:prstGeom prst="rect">
            <a:avLst/>
          </a:prstGeom>
          <a:solidFill>
            <a:srgbClr val="D8602A"/>
          </a:solidFill>
          <a:ln>
            <a:noFill/>
          </a:ln>
        </p:spPr>
        <p:txBody>
          <a:bodyPr rtlCol="0" anchor="ctr"/>
          <a:lstStyle/>
          <a:p>
            <a:pPr algn="ctr"/>
          </a:p>
        </p:txBody>
      </p:sp>
      <p:sp>
        <p:nvSpPr>
          <p:cNvPr id="15" name="TextBox 14"/>
          <p:cNvSpPr txBox="1"/>
          <p:nvPr/>
        </p:nvSpPr>
        <p:spPr>
          <a:xfrm>
            <a:off x="2788920" y="2620915"/>
            <a:ext cx="3017520" cy="365760"/>
          </a:xfrm>
          <a:prstGeom prst="rect">
            <a:avLst/>
          </a:prstGeom>
          <a:noFill/>
        </p:spPr>
        <p:txBody>
          <a:bodyPr wrap="square" lIns="0" tIns="0" rIns="0" bIns="0">
            <a:spAutoFit/>
          </a:bodyPr>
          <a:lstStyle/>
          <a:p>
            <a:pPr>
              <a:lnSpc>
                <a:spcPct val="105000"/>
              </a:lnSpc>
            </a:pPr>
            <a:r>
              <a:rPr sz="1800" b="1">
                <a:solidFill>
                  <a:srgbClr val="0C1408"/>
                </a:solidFill>
                <a:latin typeface="Arial"/>
              </a:rPr>
              <a:t>Rs 10,000</a:t>
            </a:r>
          </a:p>
        </p:txBody>
      </p:sp>
      <p:sp>
        <p:nvSpPr>
          <p:cNvPr id="16" name="TextBox 15"/>
          <p:cNvSpPr txBox="1"/>
          <p:nvPr/>
        </p:nvSpPr>
        <p:spPr>
          <a:xfrm>
            <a:off x="2788920" y="3004963"/>
            <a:ext cx="2926080" cy="274320"/>
          </a:xfrm>
          <a:prstGeom prst="rect">
            <a:avLst/>
          </a:prstGeom>
          <a:noFill/>
        </p:spPr>
        <p:txBody>
          <a:bodyPr wrap="square" lIns="0" tIns="0" rIns="0" bIns="0">
            <a:spAutoFit/>
          </a:bodyPr>
          <a:lstStyle/>
          <a:p>
            <a:pPr>
              <a:lnSpc>
                <a:spcPct val="105000"/>
              </a:lnSpc>
            </a:pPr>
            <a:r>
              <a:rPr sz="1100">
                <a:solidFill>
                  <a:srgbClr val="4B5563"/>
                </a:solidFill>
                <a:latin typeface="Arial"/>
              </a:rPr>
              <a:t>to the member collecting</a:t>
            </a:r>
          </a:p>
        </p:txBody>
      </p:sp>
      <p:sp>
        <p:nvSpPr>
          <p:cNvPr id="17" name="TextBox 16"/>
          <p:cNvSpPr txBox="1"/>
          <p:nvPr/>
        </p:nvSpPr>
        <p:spPr>
          <a:xfrm>
            <a:off x="2788920" y="4142232"/>
            <a:ext cx="320040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Rs 547  </a:t>
            </a:r>
            <a:r>
              <a:rPr sz="1100">
                <a:solidFill>
                  <a:srgbClr val="4B5563"/>
                </a:solidFill>
                <a:latin typeface="Arial"/>
              </a:rPr>
              <a:t>takaful or insurance</a:t>
            </a:r>
          </a:p>
        </p:txBody>
      </p:sp>
      <p:sp>
        <p:nvSpPr>
          <p:cNvPr id="18" name="TextBox 17"/>
          <p:cNvSpPr txBox="1"/>
          <p:nvPr/>
        </p:nvSpPr>
        <p:spPr>
          <a:xfrm>
            <a:off x="2788920" y="4416552"/>
            <a:ext cx="3291840" cy="457200"/>
          </a:xfrm>
          <a:prstGeom prst="rect">
            <a:avLst/>
          </a:prstGeom>
          <a:noFill/>
        </p:spPr>
        <p:txBody>
          <a:bodyPr wrap="square" lIns="0" tIns="0" rIns="0" bIns="0">
            <a:spAutoFit/>
          </a:bodyPr>
          <a:lstStyle/>
          <a:p>
            <a:pPr>
              <a:lnSpc>
                <a:spcPct val="102000"/>
              </a:lnSpc>
            </a:pPr>
            <a:r>
              <a:rPr sz="1100" b="1">
                <a:solidFill>
                  <a:srgbClr val="0C1408"/>
                </a:solidFill>
                <a:latin typeface="Arial"/>
              </a:rPr>
              <a:t>up to Rs 500  </a:t>
            </a:r>
            <a:r>
              <a:rPr sz="1100">
                <a:solidFill>
                  <a:srgbClr val="4B5563"/>
                </a:solidFill>
                <a:latin typeface="Arial"/>
              </a:rPr>
              <a:t>fee to Mashreq, shared with Halqa</a:t>
            </a:r>
          </a:p>
        </p:txBody>
      </p:sp>
      <p:sp>
        <p:nvSpPr>
          <p:cNvPr id="19" name="TextBox 18"/>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Halqa’s costs and contribution by members</a:t>
            </a:r>
            <a:r>
              <a:rPr sz="1100">
                <a:solidFill>
                  <a:srgbClr val="6B7280"/>
                </a:solidFill>
                <a:latin typeface="Arial"/>
              </a:rPr>
              <a:t>   Rs million a month</a:t>
            </a:r>
          </a:p>
        </p:txBody>
      </p:sp>
      <p:graphicFrame>
        <p:nvGraphicFramePr>
          <p:cNvPr id="20" name="Chart 19"/>
          <p:cNvGraphicFramePr>
            <a:graphicFrameLocks noGrp="1"/>
          </p:cNvGraphicFramePr>
          <p:nvPr/>
        </p:nvGraphicFramePr>
        <p:xfrm>
          <a:off x="6172200" y="1755648"/>
          <a:ext cx="5516575" cy="2743200"/>
        </p:xfrm>
        <a:graphic>
          <a:graphicData uri="http://schemas.openxmlformats.org/drawingml/2006/chart">
            <c:chart xmlns:c="http://schemas.openxmlformats.org/drawingml/2006/chart" r:id="rId3"/>
          </a:graphicData>
        </a:graphic>
      </p:graphicFrame>
      <p:sp>
        <p:nvSpPr>
          <p:cNvPr id="21" name="TextBox 20"/>
          <p:cNvSpPr txBox="1"/>
          <p:nvPr/>
        </p:nvSpPr>
        <p:spPr>
          <a:xfrm>
            <a:off x="6492240" y="3017520"/>
            <a:ext cx="2011680" cy="256032"/>
          </a:xfrm>
          <a:prstGeom prst="rect">
            <a:avLst/>
          </a:prstGeom>
          <a:noFill/>
        </p:spPr>
        <p:txBody>
          <a:bodyPr wrap="square" lIns="0" tIns="0" rIns="0" bIns="0">
            <a:spAutoFit/>
          </a:bodyPr>
          <a:lstStyle/>
          <a:p>
            <a:pPr algn="r">
              <a:lnSpc>
                <a:spcPct val="105000"/>
              </a:lnSpc>
            </a:pPr>
            <a:r>
              <a:rPr sz="1050" b="1">
                <a:solidFill>
                  <a:srgbClr val="0C1408"/>
                </a:solidFill>
                <a:latin typeface="Arial"/>
              </a:rPr>
              <a:t>Break-even: 2,572 members</a:t>
            </a:r>
          </a:p>
        </p:txBody>
      </p:sp>
      <p:sp>
        <p:nvSpPr>
          <p:cNvPr id="22" name="Oval 21"/>
          <p:cNvSpPr/>
          <p:nvPr/>
        </p:nvSpPr>
        <p:spPr>
          <a:xfrm>
            <a:off x="8577072" y="3364992"/>
            <a:ext cx="128016" cy="128016"/>
          </a:xfrm>
          <a:prstGeom prst="ellipse">
            <a:avLst/>
          </a:prstGeom>
          <a:solidFill>
            <a:srgbClr val="FFFFFF"/>
          </a:solidFill>
          <a:ln w="22225">
            <a:solidFill>
              <a:srgbClr val="41801A"/>
            </a:solidFill>
          </a:ln>
        </p:spPr>
        <p:txBody>
          <a:bodyPr rtlCol="0" anchor="ctr"/>
          <a:lstStyle/>
          <a:p>
            <a:pPr algn="ctr"/>
          </a:p>
        </p:txBody>
      </p:sp>
      <p:sp>
        <p:nvSpPr>
          <p:cNvPr id="23" name="TextBox 22"/>
          <p:cNvSpPr txBox="1"/>
          <p:nvPr/>
        </p:nvSpPr>
        <p:spPr>
          <a:xfrm>
            <a:off x="6263640" y="4526280"/>
            <a:ext cx="5379415" cy="256032"/>
          </a:xfrm>
          <a:prstGeom prst="rect">
            <a:avLst/>
          </a:prstGeom>
          <a:noFill/>
        </p:spPr>
        <p:txBody>
          <a:bodyPr wrap="square" lIns="0" tIns="0" rIns="0" bIns="0">
            <a:spAutoFit/>
          </a:bodyPr>
          <a:lstStyle/>
          <a:p>
            <a:pPr algn="ctr">
              <a:lnSpc>
                <a:spcPct val="105000"/>
              </a:lnSpc>
            </a:pPr>
            <a:r>
              <a:rPr sz="950">
                <a:solidFill>
                  <a:srgbClr val="6B7280"/>
                </a:solidFill>
                <a:latin typeface="Arial"/>
              </a:rPr>
              <a:t>Members</a:t>
            </a:r>
          </a:p>
        </p:txBody>
      </p:sp>
      <p:sp>
        <p:nvSpPr>
          <p:cNvPr id="24" name="TextBox 23"/>
          <p:cNvSpPr txBox="1"/>
          <p:nvPr/>
        </p:nvSpPr>
        <p:spPr>
          <a:xfrm>
            <a:off x="548640" y="4983480"/>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Income lines</a:t>
            </a:r>
          </a:p>
        </p:txBody>
      </p:sp>
      <p:sp>
        <p:nvSpPr>
          <p:cNvPr id="25" name="TextBox 24"/>
          <p:cNvSpPr txBox="1"/>
          <p:nvPr/>
        </p:nvSpPr>
        <p:spPr>
          <a:xfrm>
            <a:off x="548640" y="5294376"/>
            <a:ext cx="5341468" cy="1005840"/>
          </a:xfrm>
          <a:prstGeom prst="rect">
            <a:avLst/>
          </a:prstGeom>
          <a:noFill/>
        </p:spPr>
        <p:txBody>
          <a:bodyPr wrap="square" lIns="0" tIns="0" rIns="0" bIns="0">
            <a:spAutoFit/>
          </a:bodyPr>
          <a:lstStyle/>
          <a:p>
            <a:pPr>
              <a:lnSpc>
                <a:spcPct val="104000"/>
              </a:lnSpc>
            </a:pPr>
            <a:r>
              <a:rPr sz="1100" b="1">
                <a:solidFill>
                  <a:srgbClr val="0C1408"/>
                </a:solidFill>
                <a:latin typeface="Arial"/>
              </a:rPr>
              <a:t>Now:  </a:t>
            </a:r>
            <a:r>
              <a:rPr sz="1100">
                <a:solidFill>
                  <a:srgbClr val="0C1408"/>
                </a:solidFill>
                <a:latin typeface="Arial"/>
              </a:rPr>
              <a:t>a share of the fee Mashreq collects; a share of Mashreq’s income on committee balances</a:t>
            </a:r>
          </a:p>
          <a:p>
            <a:pPr>
              <a:lnSpc>
                <a:spcPct val="104000"/>
              </a:lnSpc>
              <a:spcBef>
                <a:spcPts val="400"/>
              </a:spcBef>
            </a:pPr>
            <a:r>
              <a:rPr sz="1100" b="1">
                <a:solidFill>
                  <a:srgbClr val="0C1408"/>
                </a:solidFill>
                <a:latin typeface="Arial"/>
              </a:rPr>
              <a:t>Later:  </a:t>
            </a:r>
            <a:r>
              <a:rPr sz="1100">
                <a:solidFill>
                  <a:srgbClr val="0C1408"/>
                </a:solidFill>
                <a:latin typeface="Arial"/>
              </a:rPr>
              <a:t>asset financing referrals (2 to 4% from the financier, 1 to 3% from the dealer); marketplace commission; employer programmes</a:t>
            </a:r>
          </a:p>
        </p:txBody>
      </p:sp>
      <p:sp>
        <p:nvSpPr>
          <p:cNvPr id="26" name="TextBox 25"/>
          <p:cNvSpPr txBox="1"/>
          <p:nvPr/>
        </p:nvSpPr>
        <p:spPr>
          <a:xfrm>
            <a:off x="6301588" y="4983480"/>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Unit costs, 25 September model</a:t>
            </a:r>
          </a:p>
        </p:txBody>
      </p:sp>
      <p:sp>
        <p:nvSpPr>
          <p:cNvPr id="27" name="TextBox 26"/>
          <p:cNvSpPr txBox="1"/>
          <p:nvPr/>
        </p:nvSpPr>
        <p:spPr>
          <a:xfrm>
            <a:off x="6301588" y="5294376"/>
            <a:ext cx="1643329" cy="300228"/>
          </a:xfrm>
          <a:prstGeom prst="rect">
            <a:avLst/>
          </a:prstGeom>
          <a:noFill/>
        </p:spPr>
        <p:txBody>
          <a:bodyPr wrap="square" lIns="0" tIns="0" rIns="0" bIns="0">
            <a:spAutoFit/>
          </a:bodyPr>
          <a:lstStyle/>
          <a:p>
            <a:pPr>
              <a:lnSpc>
                <a:spcPct val="100000"/>
              </a:lnSpc>
            </a:pPr>
            <a:r>
              <a:rPr sz="1500" b="1">
                <a:solidFill>
                  <a:srgbClr val="9E3F17"/>
                </a:solidFill>
                <a:latin typeface="Arial"/>
              </a:rPr>
              <a:t>Rs 13 to 35</a:t>
            </a:r>
          </a:p>
        </p:txBody>
      </p:sp>
      <p:sp>
        <p:nvSpPr>
          <p:cNvPr id="28" name="TextBox 27"/>
          <p:cNvSpPr txBox="1"/>
          <p:nvPr/>
        </p:nvSpPr>
        <p:spPr>
          <a:xfrm>
            <a:off x="6301588"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to run one payment</a:t>
            </a:r>
          </a:p>
        </p:txBody>
      </p:sp>
      <p:sp>
        <p:nvSpPr>
          <p:cNvPr id="29" name="TextBox 28"/>
          <p:cNvSpPr txBox="1"/>
          <p:nvPr/>
        </p:nvSpPr>
        <p:spPr>
          <a:xfrm>
            <a:off x="8082077" y="5294376"/>
            <a:ext cx="1643329" cy="300228"/>
          </a:xfrm>
          <a:prstGeom prst="rect">
            <a:avLst/>
          </a:prstGeom>
          <a:noFill/>
        </p:spPr>
        <p:txBody>
          <a:bodyPr wrap="square" lIns="0" tIns="0" rIns="0" bIns="0">
            <a:spAutoFit/>
          </a:bodyPr>
          <a:lstStyle/>
          <a:p>
            <a:pPr>
              <a:lnSpc>
                <a:spcPct val="100000"/>
              </a:lnSpc>
            </a:pPr>
            <a:r>
              <a:rPr sz="1500" b="1">
                <a:solidFill>
                  <a:srgbClr val="9E3F17"/>
                </a:solidFill>
                <a:latin typeface="Arial"/>
              </a:rPr>
              <a:t>Rs 1.32 million</a:t>
            </a:r>
          </a:p>
        </p:txBody>
      </p:sp>
      <p:sp>
        <p:nvSpPr>
          <p:cNvPr id="30" name="TextBox 29"/>
          <p:cNvSpPr txBox="1"/>
          <p:nvPr/>
        </p:nvSpPr>
        <p:spPr>
          <a:xfrm>
            <a:off x="8082077"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fixed cost a month</a:t>
            </a:r>
          </a:p>
        </p:txBody>
      </p:sp>
      <p:sp>
        <p:nvSpPr>
          <p:cNvPr id="31" name="TextBox 30"/>
          <p:cNvSpPr txBox="1"/>
          <p:nvPr/>
        </p:nvSpPr>
        <p:spPr>
          <a:xfrm>
            <a:off x="9862566" y="5294376"/>
            <a:ext cx="1643329" cy="300228"/>
          </a:xfrm>
          <a:prstGeom prst="rect">
            <a:avLst/>
          </a:prstGeom>
          <a:noFill/>
        </p:spPr>
        <p:txBody>
          <a:bodyPr wrap="square" lIns="0" tIns="0" rIns="0" bIns="0">
            <a:spAutoFit/>
          </a:bodyPr>
          <a:lstStyle/>
          <a:p>
            <a:pPr>
              <a:lnSpc>
                <a:spcPct val="100000"/>
              </a:lnSpc>
            </a:pPr>
            <a:r>
              <a:rPr sz="1500" b="1">
                <a:solidFill>
                  <a:srgbClr val="9E3F17"/>
                </a:solidFill>
                <a:latin typeface="Arial"/>
              </a:rPr>
              <a:t>About Rs 510</a:t>
            </a:r>
          </a:p>
        </p:txBody>
      </p:sp>
      <p:sp>
        <p:nvSpPr>
          <p:cNvPr id="32" name="TextBox 31"/>
          <p:cNvSpPr txBox="1"/>
          <p:nvPr/>
        </p:nvSpPr>
        <p:spPr>
          <a:xfrm>
            <a:off x="9862566"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contribution a member a month</a:t>
            </a:r>
          </a:p>
        </p:txBody>
      </p:sp>
      <p:sp>
        <p:nvSpPr>
          <p:cNvPr id="33" name="TextBox 32"/>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Business Model and Unit Costs (HQ-CP-03), 25 September 2026, before the bank’s terms    2  Takaful pricing model (HQ-MF-05)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Comparison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Halqa with Mashreq against Oraan, JazzCash Committee and informal committees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22</a:t>
            </a:r>
          </a:p>
        </p:txBody>
      </p:sp>
      <p:sp>
        <p:nvSpPr>
          <p:cNvPr id="6" name="Rectangle 5"/>
          <p:cNvSpPr/>
          <p:nvPr/>
        </p:nvSpPr>
        <p:spPr>
          <a:xfrm>
            <a:off x="3063240" y="1536192"/>
            <a:ext cx="2144954" cy="3831336"/>
          </a:xfrm>
          <a:prstGeom prst="rect">
            <a:avLst/>
          </a:prstGeom>
          <a:solidFill>
            <a:srgbClr val="FDF1EA"/>
          </a:solidFill>
          <a:ln>
            <a:noFill/>
          </a:ln>
        </p:spPr>
        <p:txBody>
          <a:bodyPr rtlCol="0" anchor="ctr"/>
          <a:lstStyle/>
          <a:p>
            <a:pPr algn="ctr"/>
          </a:p>
        </p:txBody>
      </p:sp>
      <p:sp>
        <p:nvSpPr>
          <p:cNvPr id="7" name="TextBox 6"/>
          <p:cNvSpPr txBox="1"/>
          <p:nvPr/>
        </p:nvSpPr>
        <p:spPr>
          <a:xfrm>
            <a:off x="3200400"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Halqa with Mashreq</a:t>
            </a:r>
          </a:p>
        </p:txBody>
      </p:sp>
      <p:sp>
        <p:nvSpPr>
          <p:cNvPr id="8" name="TextBox 7"/>
          <p:cNvSpPr txBox="1"/>
          <p:nvPr/>
        </p:nvSpPr>
        <p:spPr>
          <a:xfrm>
            <a:off x="5345354"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Oraan</a:t>
            </a:r>
          </a:p>
        </p:txBody>
      </p:sp>
      <p:sp>
        <p:nvSpPr>
          <p:cNvPr id="9" name="TextBox 8"/>
          <p:cNvSpPr txBox="1"/>
          <p:nvPr/>
        </p:nvSpPr>
        <p:spPr>
          <a:xfrm>
            <a:off x="7490308"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JazzCash Committee</a:t>
            </a:r>
          </a:p>
        </p:txBody>
      </p:sp>
      <p:sp>
        <p:nvSpPr>
          <p:cNvPr id="10" name="TextBox 9"/>
          <p:cNvSpPr txBox="1"/>
          <p:nvPr/>
        </p:nvSpPr>
        <p:spPr>
          <a:xfrm>
            <a:off x="9635261"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Informal committee</a:t>
            </a:r>
          </a:p>
        </p:txBody>
      </p:sp>
      <p:cxnSp>
        <p:nvCxnSpPr>
          <p:cNvPr id="11" name="Connector 10"/>
          <p:cNvCxnSpPr/>
          <p:nvPr/>
        </p:nvCxnSpPr>
        <p:spPr>
          <a:xfrm>
            <a:off x="548640" y="2039112"/>
            <a:ext cx="11094415" cy="0"/>
          </a:xfrm>
          <a:prstGeom prst="line">
            <a:avLst/>
          </a:prstGeom>
          <a:ln w="9525">
            <a:solidFill>
              <a:srgbClr val="0C1408"/>
            </a:solidFill>
          </a:ln>
        </p:spPr>
      </p:cxnSp>
      <p:sp>
        <p:nvSpPr>
          <p:cNvPr id="12" name="TextBox 11"/>
          <p:cNvSpPr txBox="1"/>
          <p:nvPr/>
        </p:nvSpPr>
        <p:spPr>
          <a:xfrm>
            <a:off x="548640" y="2039112"/>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Money held by a licensed bank</a:t>
            </a:r>
          </a:p>
        </p:txBody>
      </p:sp>
      <p:sp>
        <p:nvSpPr>
          <p:cNvPr id="13" name="Oval 12"/>
          <p:cNvSpPr/>
          <p:nvPr/>
        </p:nvSpPr>
        <p:spPr>
          <a:xfrm>
            <a:off x="3204972" y="2180844"/>
            <a:ext cx="192024" cy="192024"/>
          </a:xfrm>
          <a:prstGeom prst="ellipse">
            <a:avLst/>
          </a:prstGeom>
          <a:solidFill>
            <a:srgbClr val="D8602A"/>
          </a:solidFill>
          <a:ln w="15875">
            <a:solidFill>
              <a:srgbClr val="D8602A"/>
            </a:solidFill>
          </a:ln>
        </p:spPr>
        <p:txBody>
          <a:bodyPr rtlCol="0" anchor="ctr"/>
          <a:lstStyle/>
          <a:p>
            <a:pPr algn="ctr"/>
          </a:p>
        </p:txBody>
      </p:sp>
      <p:sp>
        <p:nvSpPr>
          <p:cNvPr id="14" name="TextBox 13"/>
          <p:cNvSpPr txBox="1"/>
          <p:nvPr/>
        </p:nvSpPr>
        <p:spPr>
          <a:xfrm>
            <a:off x="3493008"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Mashreq</a:t>
            </a:r>
          </a:p>
        </p:txBody>
      </p:sp>
      <p:sp>
        <p:nvSpPr>
          <p:cNvPr id="15" name="Oval 14"/>
          <p:cNvSpPr/>
          <p:nvPr/>
        </p:nvSpPr>
        <p:spPr>
          <a:xfrm>
            <a:off x="5349926" y="2180844"/>
            <a:ext cx="192024" cy="192024"/>
          </a:xfrm>
          <a:prstGeom prst="ellipse">
            <a:avLst/>
          </a:prstGeom>
          <a:solidFill>
            <a:srgbClr val="FFFFFF"/>
          </a:solidFill>
          <a:ln w="15875">
            <a:solidFill>
              <a:srgbClr val="D8602A"/>
            </a:solidFill>
          </a:ln>
        </p:spPr>
        <p:txBody>
          <a:bodyPr rtlCol="0" anchor="ctr"/>
          <a:lstStyle/>
          <a:p>
            <a:pPr algn="ctr"/>
          </a:p>
        </p:txBody>
      </p:sp>
      <p:sp>
        <p:nvSpPr>
          <p:cNvPr id="16" name="TextBox 15"/>
          <p:cNvSpPr txBox="1"/>
          <p:nvPr/>
        </p:nvSpPr>
        <p:spPr>
          <a:xfrm>
            <a:off x="5637962"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company accounts</a:t>
            </a:r>
          </a:p>
        </p:txBody>
      </p:sp>
      <p:sp>
        <p:nvSpPr>
          <p:cNvPr id="17" name="Oval 16"/>
          <p:cNvSpPr/>
          <p:nvPr/>
        </p:nvSpPr>
        <p:spPr>
          <a:xfrm>
            <a:off x="7494880" y="2180844"/>
            <a:ext cx="192024" cy="192024"/>
          </a:xfrm>
          <a:prstGeom prst="ellipse">
            <a:avLst/>
          </a:prstGeom>
          <a:solidFill>
            <a:srgbClr val="FFFFFF"/>
          </a:solidFill>
          <a:ln w="15875">
            <a:solidFill>
              <a:srgbClr val="D8602A"/>
            </a:solidFill>
          </a:ln>
        </p:spPr>
        <p:txBody>
          <a:bodyPr rtlCol="0" anchor="ctr"/>
          <a:lstStyle/>
          <a:p>
            <a:pPr algn="ctr"/>
          </a:p>
        </p:txBody>
      </p:sp>
      <p:sp>
        <p:nvSpPr>
          <p:cNvPr id="18" name="Freeform 17"/>
          <p:cNvSpPr/>
          <p:nvPr/>
        </p:nvSpPr>
        <p:spPr>
          <a:xfrm>
            <a:off x="7590892" y="218084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0" y="31767"/>
                </a:lnTo>
                <a:lnTo>
                  <a:pt x="77675" y="39578"/>
                </a:lnTo>
                <a:lnTo>
                  <a:pt x="83148" y="48006"/>
                </a:lnTo>
                <a:lnTo>
                  <a:pt x="87711" y="56960"/>
                </a:lnTo>
                <a:lnTo>
                  <a:pt x="91312" y="66343"/>
                </a:lnTo>
                <a:lnTo>
                  <a:pt x="93914" y="76050"/>
                </a:lnTo>
                <a:lnTo>
                  <a:pt x="95486" y="85976"/>
                </a:lnTo>
                <a:lnTo>
                  <a:pt x="96012" y="96012"/>
                </a:lnTo>
                <a:lnTo>
                  <a:pt x="95486" y="106048"/>
                </a:lnTo>
                <a:lnTo>
                  <a:pt x="93914" y="115974"/>
                </a:lnTo>
                <a:lnTo>
                  <a:pt x="91312" y="125681"/>
                </a:lnTo>
                <a:lnTo>
                  <a:pt x="87711" y="135064"/>
                </a:lnTo>
                <a:lnTo>
                  <a:pt x="83148" y="144018"/>
                </a:lnTo>
                <a:lnTo>
                  <a:pt x="77675" y="152446"/>
                </a:lnTo>
                <a:lnTo>
                  <a:pt x="71350"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19" name="TextBox 18"/>
          <p:cNvSpPr txBox="1"/>
          <p:nvPr/>
        </p:nvSpPr>
        <p:spPr>
          <a:xfrm>
            <a:off x="7782916"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wallet</a:t>
            </a:r>
          </a:p>
        </p:txBody>
      </p:sp>
      <p:sp>
        <p:nvSpPr>
          <p:cNvPr id="20" name="Oval 19"/>
          <p:cNvSpPr/>
          <p:nvPr/>
        </p:nvSpPr>
        <p:spPr>
          <a:xfrm>
            <a:off x="9639833" y="2180844"/>
            <a:ext cx="192024" cy="192024"/>
          </a:xfrm>
          <a:prstGeom prst="ellipse">
            <a:avLst/>
          </a:prstGeom>
          <a:solidFill>
            <a:srgbClr val="FFFFFF"/>
          </a:solidFill>
          <a:ln w="15875">
            <a:solidFill>
              <a:srgbClr val="D8602A"/>
            </a:solidFill>
          </a:ln>
        </p:spPr>
        <p:txBody>
          <a:bodyPr rtlCol="0" anchor="ctr"/>
          <a:lstStyle/>
          <a:p>
            <a:pPr algn="ctr"/>
          </a:p>
        </p:txBody>
      </p:sp>
      <p:sp>
        <p:nvSpPr>
          <p:cNvPr id="21" name="TextBox 20"/>
          <p:cNvSpPr txBox="1"/>
          <p:nvPr/>
        </p:nvSpPr>
        <p:spPr>
          <a:xfrm>
            <a:off x="9927869" y="203911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organiser</a:t>
            </a:r>
          </a:p>
        </p:txBody>
      </p:sp>
      <p:cxnSp>
        <p:nvCxnSpPr>
          <p:cNvPr id="22" name="Connector 21"/>
          <p:cNvCxnSpPr/>
          <p:nvPr/>
        </p:nvCxnSpPr>
        <p:spPr>
          <a:xfrm>
            <a:off x="548640" y="2514600"/>
            <a:ext cx="11094415" cy="0"/>
          </a:xfrm>
          <a:prstGeom prst="line">
            <a:avLst/>
          </a:prstGeom>
          <a:ln w="6350">
            <a:solidFill>
              <a:srgbClr val="D1D5DB"/>
            </a:solidFill>
          </a:ln>
        </p:spPr>
      </p:cxnSp>
      <p:sp>
        <p:nvSpPr>
          <p:cNvPr id="23" name="TextBox 22"/>
          <p:cNvSpPr txBox="1"/>
          <p:nvPr/>
        </p:nvSpPr>
        <p:spPr>
          <a:xfrm>
            <a:off x="548640" y="2514600"/>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Same fee for every turn</a:t>
            </a:r>
          </a:p>
        </p:txBody>
      </p:sp>
      <p:sp>
        <p:nvSpPr>
          <p:cNvPr id="24" name="Oval 23"/>
          <p:cNvSpPr/>
          <p:nvPr/>
        </p:nvSpPr>
        <p:spPr>
          <a:xfrm>
            <a:off x="3204972" y="2656332"/>
            <a:ext cx="192024" cy="192024"/>
          </a:xfrm>
          <a:prstGeom prst="ellipse">
            <a:avLst/>
          </a:prstGeom>
          <a:solidFill>
            <a:srgbClr val="D8602A"/>
          </a:solidFill>
          <a:ln w="15875">
            <a:solidFill>
              <a:srgbClr val="D8602A"/>
            </a:solidFill>
          </a:ln>
        </p:spPr>
        <p:txBody>
          <a:bodyPr rtlCol="0" anchor="ctr"/>
          <a:lstStyle/>
          <a:p>
            <a:pPr algn="ctr"/>
          </a:p>
        </p:txBody>
      </p:sp>
      <p:sp>
        <p:nvSpPr>
          <p:cNvPr id="25" name="TextBox 24"/>
          <p:cNvSpPr txBox="1"/>
          <p:nvPr/>
        </p:nvSpPr>
        <p:spPr>
          <a:xfrm>
            <a:off x="3493008" y="251460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one flat fee</a:t>
            </a:r>
          </a:p>
        </p:txBody>
      </p:sp>
      <p:sp>
        <p:nvSpPr>
          <p:cNvPr id="26" name="Oval 25"/>
          <p:cNvSpPr/>
          <p:nvPr/>
        </p:nvSpPr>
        <p:spPr>
          <a:xfrm>
            <a:off x="5349926" y="2656332"/>
            <a:ext cx="192024" cy="192024"/>
          </a:xfrm>
          <a:prstGeom prst="ellipse">
            <a:avLst/>
          </a:prstGeom>
          <a:solidFill>
            <a:srgbClr val="FFFFFF"/>
          </a:solidFill>
          <a:ln w="15875">
            <a:solidFill>
              <a:srgbClr val="D8602A"/>
            </a:solidFill>
          </a:ln>
        </p:spPr>
        <p:txBody>
          <a:bodyPr rtlCol="0" anchor="ctr"/>
          <a:lstStyle/>
          <a:p>
            <a:pPr algn="ctr"/>
          </a:p>
        </p:txBody>
      </p:sp>
      <p:sp>
        <p:nvSpPr>
          <p:cNvPr id="27" name="TextBox 26"/>
          <p:cNvSpPr txBox="1"/>
          <p:nvPr/>
        </p:nvSpPr>
        <p:spPr>
          <a:xfrm>
            <a:off x="5637962" y="251460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up to 21% a month</a:t>
            </a:r>
          </a:p>
        </p:txBody>
      </p:sp>
      <p:sp>
        <p:nvSpPr>
          <p:cNvPr id="28" name="TextBox 27"/>
          <p:cNvSpPr txBox="1"/>
          <p:nvPr/>
        </p:nvSpPr>
        <p:spPr>
          <a:xfrm>
            <a:off x="7782916" y="2514600"/>
            <a:ext cx="1733474" cy="475488"/>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published</a:t>
            </a:r>
          </a:p>
        </p:txBody>
      </p:sp>
      <p:sp>
        <p:nvSpPr>
          <p:cNvPr id="29" name="Oval 28"/>
          <p:cNvSpPr/>
          <p:nvPr/>
        </p:nvSpPr>
        <p:spPr>
          <a:xfrm>
            <a:off x="9639833" y="2656332"/>
            <a:ext cx="192024" cy="192024"/>
          </a:xfrm>
          <a:prstGeom prst="ellipse">
            <a:avLst/>
          </a:prstGeom>
          <a:solidFill>
            <a:srgbClr val="D8602A"/>
          </a:solidFill>
          <a:ln w="15875">
            <a:solidFill>
              <a:srgbClr val="D8602A"/>
            </a:solidFill>
          </a:ln>
        </p:spPr>
        <p:txBody>
          <a:bodyPr rtlCol="0" anchor="ctr"/>
          <a:lstStyle/>
          <a:p>
            <a:pPr algn="ctr"/>
          </a:p>
        </p:txBody>
      </p:sp>
      <p:sp>
        <p:nvSpPr>
          <p:cNvPr id="30" name="TextBox 29"/>
          <p:cNvSpPr txBox="1"/>
          <p:nvPr/>
        </p:nvSpPr>
        <p:spPr>
          <a:xfrm>
            <a:off x="9927869" y="251460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usually none</a:t>
            </a:r>
          </a:p>
        </p:txBody>
      </p:sp>
      <p:cxnSp>
        <p:nvCxnSpPr>
          <p:cNvPr id="31" name="Connector 30"/>
          <p:cNvCxnSpPr/>
          <p:nvPr/>
        </p:nvCxnSpPr>
        <p:spPr>
          <a:xfrm>
            <a:off x="548640" y="2990088"/>
            <a:ext cx="11094415" cy="0"/>
          </a:xfrm>
          <a:prstGeom prst="line">
            <a:avLst/>
          </a:prstGeom>
          <a:ln w="6350">
            <a:solidFill>
              <a:srgbClr val="D1D5DB"/>
            </a:solidFill>
          </a:ln>
        </p:spPr>
      </p:cxnSp>
      <p:sp>
        <p:nvSpPr>
          <p:cNvPr id="32" name="TextBox 31"/>
          <p:cNvSpPr txBox="1"/>
          <p:nvPr/>
        </p:nvSpPr>
        <p:spPr>
          <a:xfrm>
            <a:off x="548640" y="2990088"/>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Paid out automatically</a:t>
            </a:r>
          </a:p>
        </p:txBody>
      </p:sp>
      <p:sp>
        <p:nvSpPr>
          <p:cNvPr id="33" name="Oval 32"/>
          <p:cNvSpPr/>
          <p:nvPr/>
        </p:nvSpPr>
        <p:spPr>
          <a:xfrm>
            <a:off x="3204972" y="3131820"/>
            <a:ext cx="192024" cy="192024"/>
          </a:xfrm>
          <a:prstGeom prst="ellipse">
            <a:avLst/>
          </a:prstGeom>
          <a:solidFill>
            <a:srgbClr val="D8602A"/>
          </a:solidFill>
          <a:ln w="15875">
            <a:solidFill>
              <a:srgbClr val="D8602A"/>
            </a:solidFill>
          </a:ln>
        </p:spPr>
        <p:txBody>
          <a:bodyPr rtlCol="0" anchor="ctr"/>
          <a:lstStyle/>
          <a:p>
            <a:pPr algn="ctr"/>
          </a:p>
        </p:txBody>
      </p:sp>
      <p:sp>
        <p:nvSpPr>
          <p:cNvPr id="34" name="TextBox 33"/>
          <p:cNvSpPr txBox="1"/>
          <p:nvPr/>
        </p:nvSpPr>
        <p:spPr>
          <a:xfrm>
            <a:off x="3493008"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same day</a:t>
            </a:r>
          </a:p>
        </p:txBody>
      </p:sp>
      <p:sp>
        <p:nvSpPr>
          <p:cNvPr id="35" name="Oval 34"/>
          <p:cNvSpPr/>
          <p:nvPr/>
        </p:nvSpPr>
        <p:spPr>
          <a:xfrm>
            <a:off x="5349926" y="3131820"/>
            <a:ext cx="192024" cy="192024"/>
          </a:xfrm>
          <a:prstGeom prst="ellipse">
            <a:avLst/>
          </a:prstGeom>
          <a:solidFill>
            <a:srgbClr val="FFFFFF"/>
          </a:solidFill>
          <a:ln w="15875">
            <a:solidFill>
              <a:srgbClr val="D8602A"/>
            </a:solidFill>
          </a:ln>
        </p:spPr>
        <p:txBody>
          <a:bodyPr rtlCol="0" anchor="ctr"/>
          <a:lstStyle/>
          <a:p>
            <a:pPr algn="ctr"/>
          </a:p>
        </p:txBody>
      </p:sp>
      <p:sp>
        <p:nvSpPr>
          <p:cNvPr id="36" name="Freeform 35"/>
          <p:cNvSpPr/>
          <p:nvPr/>
        </p:nvSpPr>
        <p:spPr>
          <a:xfrm>
            <a:off x="5445938" y="3131820"/>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37" name="TextBox 36"/>
          <p:cNvSpPr txBox="1"/>
          <p:nvPr/>
        </p:nvSpPr>
        <p:spPr>
          <a:xfrm>
            <a:off x="5637962"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11th to 18th</a:t>
            </a:r>
          </a:p>
        </p:txBody>
      </p:sp>
      <p:sp>
        <p:nvSpPr>
          <p:cNvPr id="38" name="Oval 37"/>
          <p:cNvSpPr/>
          <p:nvPr/>
        </p:nvSpPr>
        <p:spPr>
          <a:xfrm>
            <a:off x="7494880" y="3131820"/>
            <a:ext cx="192024" cy="192024"/>
          </a:xfrm>
          <a:prstGeom prst="ellipse">
            <a:avLst/>
          </a:prstGeom>
          <a:solidFill>
            <a:srgbClr val="FFFFFF"/>
          </a:solidFill>
          <a:ln w="15875">
            <a:solidFill>
              <a:srgbClr val="D8602A"/>
            </a:solidFill>
          </a:ln>
        </p:spPr>
        <p:txBody>
          <a:bodyPr rtlCol="0" anchor="ctr"/>
          <a:lstStyle/>
          <a:p>
            <a:pPr algn="ctr"/>
          </a:p>
        </p:txBody>
      </p:sp>
      <p:sp>
        <p:nvSpPr>
          <p:cNvPr id="39" name="TextBox 38"/>
          <p:cNvSpPr txBox="1"/>
          <p:nvPr/>
        </p:nvSpPr>
        <p:spPr>
          <a:xfrm>
            <a:off x="7782916"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sp>
        <p:nvSpPr>
          <p:cNvPr id="40" name="Oval 39"/>
          <p:cNvSpPr/>
          <p:nvPr/>
        </p:nvSpPr>
        <p:spPr>
          <a:xfrm>
            <a:off x="9639833" y="3131820"/>
            <a:ext cx="192024" cy="192024"/>
          </a:xfrm>
          <a:prstGeom prst="ellipse">
            <a:avLst/>
          </a:prstGeom>
          <a:solidFill>
            <a:srgbClr val="FFFFFF"/>
          </a:solidFill>
          <a:ln w="15875">
            <a:solidFill>
              <a:srgbClr val="D8602A"/>
            </a:solidFill>
          </a:ln>
        </p:spPr>
        <p:txBody>
          <a:bodyPr rtlCol="0" anchor="ctr"/>
          <a:lstStyle/>
          <a:p>
            <a:pPr algn="ctr"/>
          </a:p>
        </p:txBody>
      </p:sp>
      <p:sp>
        <p:nvSpPr>
          <p:cNvPr id="41" name="TextBox 40"/>
          <p:cNvSpPr txBox="1"/>
          <p:nvPr/>
        </p:nvSpPr>
        <p:spPr>
          <a:xfrm>
            <a:off x="9927869" y="2990088"/>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cxnSp>
        <p:nvCxnSpPr>
          <p:cNvPr id="42" name="Connector 41"/>
          <p:cNvCxnSpPr/>
          <p:nvPr/>
        </p:nvCxnSpPr>
        <p:spPr>
          <a:xfrm>
            <a:off x="548640" y="3465576"/>
            <a:ext cx="11094415" cy="0"/>
          </a:xfrm>
          <a:prstGeom prst="line">
            <a:avLst/>
          </a:prstGeom>
          <a:ln w="6350">
            <a:solidFill>
              <a:srgbClr val="D1D5DB"/>
            </a:solidFill>
          </a:ln>
        </p:spPr>
      </p:cxnSp>
      <p:sp>
        <p:nvSpPr>
          <p:cNvPr id="43" name="TextBox 42"/>
          <p:cNvSpPr txBox="1"/>
          <p:nvPr/>
        </p:nvSpPr>
        <p:spPr>
          <a:xfrm>
            <a:off x="548640" y="3465576"/>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Members checked</a:t>
            </a:r>
          </a:p>
        </p:txBody>
      </p:sp>
      <p:sp>
        <p:nvSpPr>
          <p:cNvPr id="44" name="Oval 43"/>
          <p:cNvSpPr/>
          <p:nvPr/>
        </p:nvSpPr>
        <p:spPr>
          <a:xfrm>
            <a:off x="3204972" y="3607308"/>
            <a:ext cx="192024" cy="192024"/>
          </a:xfrm>
          <a:prstGeom prst="ellipse">
            <a:avLst/>
          </a:prstGeom>
          <a:solidFill>
            <a:srgbClr val="D8602A"/>
          </a:solidFill>
          <a:ln w="15875">
            <a:solidFill>
              <a:srgbClr val="D8602A"/>
            </a:solidFill>
          </a:ln>
        </p:spPr>
        <p:txBody>
          <a:bodyPr rtlCol="0" anchor="ctr"/>
          <a:lstStyle/>
          <a:p>
            <a:pPr algn="ctr"/>
          </a:p>
        </p:txBody>
      </p:sp>
      <p:sp>
        <p:nvSpPr>
          <p:cNvPr id="45" name="TextBox 44"/>
          <p:cNvSpPr txBox="1"/>
          <p:nvPr/>
        </p:nvSpPr>
        <p:spPr>
          <a:xfrm>
            <a:off x="3493008"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identity, income, score</a:t>
            </a:r>
          </a:p>
        </p:txBody>
      </p:sp>
      <p:sp>
        <p:nvSpPr>
          <p:cNvPr id="46" name="Oval 45"/>
          <p:cNvSpPr/>
          <p:nvPr/>
        </p:nvSpPr>
        <p:spPr>
          <a:xfrm>
            <a:off x="5349926" y="3607308"/>
            <a:ext cx="192024" cy="192024"/>
          </a:xfrm>
          <a:prstGeom prst="ellipse">
            <a:avLst/>
          </a:prstGeom>
          <a:solidFill>
            <a:srgbClr val="FFFFFF"/>
          </a:solidFill>
          <a:ln w="15875">
            <a:solidFill>
              <a:srgbClr val="D8602A"/>
            </a:solidFill>
          </a:ln>
        </p:spPr>
        <p:txBody>
          <a:bodyPr rtlCol="0" anchor="ctr"/>
          <a:lstStyle/>
          <a:p>
            <a:pPr algn="ctr"/>
          </a:p>
        </p:txBody>
      </p:sp>
      <p:sp>
        <p:nvSpPr>
          <p:cNvPr id="47" name="Freeform 46"/>
          <p:cNvSpPr/>
          <p:nvPr/>
        </p:nvSpPr>
        <p:spPr>
          <a:xfrm>
            <a:off x="5445938" y="360730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48" name="TextBox 47"/>
          <p:cNvSpPr txBox="1"/>
          <p:nvPr/>
        </p:nvSpPr>
        <p:spPr>
          <a:xfrm>
            <a:off x="5637962"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device, bureau</a:t>
            </a:r>
          </a:p>
        </p:txBody>
      </p:sp>
      <p:sp>
        <p:nvSpPr>
          <p:cNvPr id="49" name="Oval 48"/>
          <p:cNvSpPr/>
          <p:nvPr/>
        </p:nvSpPr>
        <p:spPr>
          <a:xfrm>
            <a:off x="7494880" y="3607308"/>
            <a:ext cx="192024" cy="192024"/>
          </a:xfrm>
          <a:prstGeom prst="ellipse">
            <a:avLst/>
          </a:prstGeom>
          <a:solidFill>
            <a:srgbClr val="FFFFFF"/>
          </a:solidFill>
          <a:ln w="15875">
            <a:solidFill>
              <a:srgbClr val="D8602A"/>
            </a:solidFill>
          </a:ln>
        </p:spPr>
        <p:txBody>
          <a:bodyPr rtlCol="0" anchor="ctr"/>
          <a:lstStyle/>
          <a:p>
            <a:pPr algn="ctr"/>
          </a:p>
        </p:txBody>
      </p:sp>
      <p:sp>
        <p:nvSpPr>
          <p:cNvPr id="50" name="TextBox 49"/>
          <p:cNvSpPr txBox="1"/>
          <p:nvPr/>
        </p:nvSpPr>
        <p:spPr>
          <a:xfrm>
            <a:off x="7782916"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phone contacts</a:t>
            </a:r>
          </a:p>
        </p:txBody>
      </p:sp>
      <p:sp>
        <p:nvSpPr>
          <p:cNvPr id="51" name="Oval 50"/>
          <p:cNvSpPr/>
          <p:nvPr/>
        </p:nvSpPr>
        <p:spPr>
          <a:xfrm>
            <a:off x="9639833" y="3607308"/>
            <a:ext cx="192024" cy="192024"/>
          </a:xfrm>
          <a:prstGeom prst="ellipse">
            <a:avLst/>
          </a:prstGeom>
          <a:solidFill>
            <a:srgbClr val="FFFFFF"/>
          </a:solidFill>
          <a:ln w="15875">
            <a:solidFill>
              <a:srgbClr val="D8602A"/>
            </a:solidFill>
          </a:ln>
        </p:spPr>
        <p:txBody>
          <a:bodyPr rtlCol="0" anchor="ctr"/>
          <a:lstStyle/>
          <a:p>
            <a:pPr algn="ctr"/>
          </a:p>
        </p:txBody>
      </p:sp>
      <p:sp>
        <p:nvSpPr>
          <p:cNvPr id="52" name="Freeform 51"/>
          <p:cNvSpPr/>
          <p:nvPr/>
        </p:nvSpPr>
        <p:spPr>
          <a:xfrm>
            <a:off x="9735845" y="3607308"/>
            <a:ext cx="96012" cy="192024"/>
          </a:xfrm>
          <a:custGeom>
            <a:avLst/>
            <a:gdLst/>
            <a:ahLst/>
            <a:cxnLst/>
            <a:rect l="l" t="t" r="r" b="b"/>
            <a:pathLst>
              <a:path w="96012" h="192024">
                <a:moveTo>
                  <a:pt x="0" y="0"/>
                </a:moveTo>
                <a:lnTo>
                  <a:pt x="10036" y="526"/>
                </a:lnTo>
                <a:lnTo>
                  <a:pt x="19962" y="2098"/>
                </a:lnTo>
                <a:lnTo>
                  <a:pt x="29670" y="4699"/>
                </a:lnTo>
                <a:lnTo>
                  <a:pt x="39052" y="8301"/>
                </a:lnTo>
                <a:lnTo>
                  <a:pt x="48006" y="12863"/>
                </a:lnTo>
                <a:lnTo>
                  <a:pt x="56435" y="18337"/>
                </a:lnTo>
                <a:lnTo>
                  <a:pt x="64245" y="24661"/>
                </a:lnTo>
                <a:lnTo>
                  <a:pt x="71351" y="31767"/>
                </a:lnTo>
                <a:lnTo>
                  <a:pt x="77676" y="39578"/>
                </a:lnTo>
                <a:lnTo>
                  <a:pt x="83149" y="48006"/>
                </a:lnTo>
                <a:lnTo>
                  <a:pt x="87712" y="56960"/>
                </a:lnTo>
                <a:lnTo>
                  <a:pt x="91313" y="66343"/>
                </a:lnTo>
                <a:lnTo>
                  <a:pt x="93914" y="76050"/>
                </a:lnTo>
                <a:lnTo>
                  <a:pt x="95486" y="85976"/>
                </a:lnTo>
                <a:lnTo>
                  <a:pt x="96012" y="96012"/>
                </a:lnTo>
                <a:lnTo>
                  <a:pt x="95486" y="106048"/>
                </a:lnTo>
                <a:lnTo>
                  <a:pt x="93914" y="115974"/>
                </a:lnTo>
                <a:lnTo>
                  <a:pt x="91313" y="125681"/>
                </a:lnTo>
                <a:lnTo>
                  <a:pt x="87712" y="135064"/>
                </a:lnTo>
                <a:lnTo>
                  <a:pt x="83149" y="144018"/>
                </a:lnTo>
                <a:lnTo>
                  <a:pt x="77676" y="152446"/>
                </a:lnTo>
                <a:lnTo>
                  <a:pt x="71351" y="160257"/>
                </a:lnTo>
                <a:lnTo>
                  <a:pt x="64245" y="167363"/>
                </a:lnTo>
                <a:lnTo>
                  <a:pt x="56435" y="173687"/>
                </a:lnTo>
                <a:lnTo>
                  <a:pt x="48006" y="179161"/>
                </a:lnTo>
                <a:lnTo>
                  <a:pt x="39052" y="183723"/>
                </a:lnTo>
                <a:lnTo>
                  <a:pt x="29670"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53" name="TextBox 52"/>
          <p:cNvSpPr txBox="1"/>
          <p:nvPr/>
        </p:nvSpPr>
        <p:spPr>
          <a:xfrm>
            <a:off x="9927869" y="3465576"/>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people known</a:t>
            </a:r>
          </a:p>
        </p:txBody>
      </p:sp>
      <p:cxnSp>
        <p:nvCxnSpPr>
          <p:cNvPr id="54" name="Connector 53"/>
          <p:cNvCxnSpPr/>
          <p:nvPr/>
        </p:nvCxnSpPr>
        <p:spPr>
          <a:xfrm>
            <a:off x="548640" y="3941064"/>
            <a:ext cx="11094415" cy="0"/>
          </a:xfrm>
          <a:prstGeom prst="line">
            <a:avLst/>
          </a:prstGeom>
          <a:ln w="6350">
            <a:solidFill>
              <a:srgbClr val="D1D5DB"/>
            </a:solidFill>
          </a:ln>
        </p:spPr>
      </p:cxnSp>
      <p:sp>
        <p:nvSpPr>
          <p:cNvPr id="55" name="TextBox 54"/>
          <p:cNvSpPr txBox="1"/>
          <p:nvPr/>
        </p:nvSpPr>
        <p:spPr>
          <a:xfrm>
            <a:off x="548640" y="3941064"/>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Defaults protected</a:t>
            </a:r>
          </a:p>
        </p:txBody>
      </p:sp>
      <p:sp>
        <p:nvSpPr>
          <p:cNvPr id="56" name="Oval 55"/>
          <p:cNvSpPr/>
          <p:nvPr/>
        </p:nvSpPr>
        <p:spPr>
          <a:xfrm>
            <a:off x="3204972" y="4082796"/>
            <a:ext cx="192024" cy="192024"/>
          </a:xfrm>
          <a:prstGeom prst="ellipse">
            <a:avLst/>
          </a:prstGeom>
          <a:solidFill>
            <a:srgbClr val="D8602A"/>
          </a:solidFill>
          <a:ln w="15875">
            <a:solidFill>
              <a:srgbClr val="D8602A"/>
            </a:solidFill>
          </a:ln>
        </p:spPr>
        <p:txBody>
          <a:bodyPr rtlCol="0" anchor="ctr"/>
          <a:lstStyle/>
          <a:p>
            <a:pPr algn="ctr"/>
          </a:p>
        </p:txBody>
      </p:sp>
      <p:sp>
        <p:nvSpPr>
          <p:cNvPr id="57" name="TextBox 56"/>
          <p:cNvSpPr txBox="1"/>
          <p:nvPr/>
        </p:nvSpPr>
        <p:spPr>
          <a:xfrm>
            <a:off x="3493008"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takaful or insurance</a:t>
            </a:r>
          </a:p>
        </p:txBody>
      </p:sp>
      <p:sp>
        <p:nvSpPr>
          <p:cNvPr id="58" name="Oval 57"/>
          <p:cNvSpPr/>
          <p:nvPr/>
        </p:nvSpPr>
        <p:spPr>
          <a:xfrm>
            <a:off x="5349926" y="4082796"/>
            <a:ext cx="192024" cy="192024"/>
          </a:xfrm>
          <a:prstGeom prst="ellipse">
            <a:avLst/>
          </a:prstGeom>
          <a:solidFill>
            <a:srgbClr val="FFFFFF"/>
          </a:solidFill>
          <a:ln w="15875">
            <a:solidFill>
              <a:srgbClr val="D8602A"/>
            </a:solidFill>
          </a:ln>
        </p:spPr>
        <p:txBody>
          <a:bodyPr rtlCol="0" anchor="ctr"/>
          <a:lstStyle/>
          <a:p>
            <a:pPr algn="ctr"/>
          </a:p>
        </p:txBody>
      </p:sp>
      <p:sp>
        <p:nvSpPr>
          <p:cNvPr id="59" name="Freeform 58"/>
          <p:cNvSpPr/>
          <p:nvPr/>
        </p:nvSpPr>
        <p:spPr>
          <a:xfrm>
            <a:off x="5445938" y="4082796"/>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60" name="TextBox 59"/>
          <p:cNvSpPr txBox="1"/>
          <p:nvPr/>
        </p:nvSpPr>
        <p:spPr>
          <a:xfrm>
            <a:off x="5637962"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balance sheet</a:t>
            </a:r>
          </a:p>
        </p:txBody>
      </p:sp>
      <p:sp>
        <p:nvSpPr>
          <p:cNvPr id="61" name="TextBox 60"/>
          <p:cNvSpPr txBox="1"/>
          <p:nvPr/>
        </p:nvSpPr>
        <p:spPr>
          <a:xfrm>
            <a:off x="7782916" y="3941064"/>
            <a:ext cx="1733474" cy="475488"/>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stated</a:t>
            </a:r>
          </a:p>
        </p:txBody>
      </p:sp>
      <p:sp>
        <p:nvSpPr>
          <p:cNvPr id="62" name="Oval 61"/>
          <p:cNvSpPr/>
          <p:nvPr/>
        </p:nvSpPr>
        <p:spPr>
          <a:xfrm>
            <a:off x="9639833" y="4082796"/>
            <a:ext cx="192024" cy="192024"/>
          </a:xfrm>
          <a:prstGeom prst="ellipse">
            <a:avLst/>
          </a:prstGeom>
          <a:solidFill>
            <a:srgbClr val="FFFFFF"/>
          </a:solidFill>
          <a:ln w="15875">
            <a:solidFill>
              <a:srgbClr val="D8602A"/>
            </a:solidFill>
          </a:ln>
        </p:spPr>
        <p:txBody>
          <a:bodyPr rtlCol="0" anchor="ctr"/>
          <a:lstStyle/>
          <a:p>
            <a:pPr algn="ctr"/>
          </a:p>
        </p:txBody>
      </p:sp>
      <p:sp>
        <p:nvSpPr>
          <p:cNvPr id="63" name="TextBox 62"/>
          <p:cNvSpPr txBox="1"/>
          <p:nvPr/>
        </p:nvSpPr>
        <p:spPr>
          <a:xfrm>
            <a:off x="9927869" y="3941064"/>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pocket</a:t>
            </a:r>
          </a:p>
        </p:txBody>
      </p:sp>
      <p:cxnSp>
        <p:nvCxnSpPr>
          <p:cNvPr id="64" name="Connector 63"/>
          <p:cNvCxnSpPr/>
          <p:nvPr/>
        </p:nvCxnSpPr>
        <p:spPr>
          <a:xfrm>
            <a:off x="548640" y="4416552"/>
            <a:ext cx="11094415" cy="0"/>
          </a:xfrm>
          <a:prstGeom prst="line">
            <a:avLst/>
          </a:prstGeom>
          <a:ln w="6350">
            <a:solidFill>
              <a:srgbClr val="D1D5DB"/>
            </a:solidFill>
          </a:ln>
        </p:spPr>
      </p:cxnSp>
      <p:sp>
        <p:nvSpPr>
          <p:cNvPr id="65" name="TextBox 64"/>
          <p:cNvSpPr txBox="1"/>
          <p:nvPr/>
        </p:nvSpPr>
        <p:spPr>
          <a:xfrm>
            <a:off x="548640" y="4416552"/>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Credit record</a:t>
            </a:r>
          </a:p>
        </p:txBody>
      </p:sp>
      <p:sp>
        <p:nvSpPr>
          <p:cNvPr id="66" name="Oval 65"/>
          <p:cNvSpPr/>
          <p:nvPr/>
        </p:nvSpPr>
        <p:spPr>
          <a:xfrm>
            <a:off x="3204972" y="4558284"/>
            <a:ext cx="192024" cy="192024"/>
          </a:xfrm>
          <a:prstGeom prst="ellipse">
            <a:avLst/>
          </a:prstGeom>
          <a:solidFill>
            <a:srgbClr val="D8602A"/>
          </a:solidFill>
          <a:ln w="15875">
            <a:solidFill>
              <a:srgbClr val="D8602A"/>
            </a:solidFill>
          </a:ln>
        </p:spPr>
        <p:txBody>
          <a:bodyPr rtlCol="0" anchor="ctr"/>
          <a:lstStyle/>
          <a:p>
            <a:pPr algn="ctr"/>
          </a:p>
        </p:txBody>
      </p:sp>
      <p:sp>
        <p:nvSpPr>
          <p:cNvPr id="67" name="TextBox 66"/>
          <p:cNvSpPr txBox="1"/>
          <p:nvPr/>
        </p:nvSpPr>
        <p:spPr>
          <a:xfrm>
            <a:off x="3493008"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every payment</a:t>
            </a:r>
          </a:p>
        </p:txBody>
      </p:sp>
      <p:sp>
        <p:nvSpPr>
          <p:cNvPr id="68" name="Oval 67"/>
          <p:cNvSpPr/>
          <p:nvPr/>
        </p:nvSpPr>
        <p:spPr>
          <a:xfrm>
            <a:off x="5349926" y="4558284"/>
            <a:ext cx="192024" cy="192024"/>
          </a:xfrm>
          <a:prstGeom prst="ellipse">
            <a:avLst/>
          </a:prstGeom>
          <a:solidFill>
            <a:srgbClr val="FFFFFF"/>
          </a:solidFill>
          <a:ln w="15875">
            <a:solidFill>
              <a:srgbClr val="D8602A"/>
            </a:solidFill>
          </a:ln>
        </p:spPr>
        <p:txBody>
          <a:bodyPr rtlCol="0" anchor="ctr"/>
          <a:lstStyle/>
          <a:p>
            <a:pPr algn="ctr"/>
          </a:p>
        </p:txBody>
      </p:sp>
      <p:sp>
        <p:nvSpPr>
          <p:cNvPr id="69" name="Freeform 68"/>
          <p:cNvSpPr/>
          <p:nvPr/>
        </p:nvSpPr>
        <p:spPr>
          <a:xfrm>
            <a:off x="5445938" y="455828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70" name="TextBox 69"/>
          <p:cNvSpPr txBox="1"/>
          <p:nvPr/>
        </p:nvSpPr>
        <p:spPr>
          <a:xfrm>
            <a:off x="5637962"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defaulters only</a:t>
            </a:r>
          </a:p>
        </p:txBody>
      </p:sp>
      <p:sp>
        <p:nvSpPr>
          <p:cNvPr id="71" name="Oval 70"/>
          <p:cNvSpPr/>
          <p:nvPr/>
        </p:nvSpPr>
        <p:spPr>
          <a:xfrm>
            <a:off x="7494880" y="4558284"/>
            <a:ext cx="192024" cy="192024"/>
          </a:xfrm>
          <a:prstGeom prst="ellipse">
            <a:avLst/>
          </a:prstGeom>
          <a:solidFill>
            <a:srgbClr val="FFFFFF"/>
          </a:solidFill>
          <a:ln w="15875">
            <a:solidFill>
              <a:srgbClr val="D8602A"/>
            </a:solidFill>
          </a:ln>
        </p:spPr>
        <p:txBody>
          <a:bodyPr rtlCol="0" anchor="ctr"/>
          <a:lstStyle/>
          <a:p>
            <a:pPr algn="ctr"/>
          </a:p>
        </p:txBody>
      </p:sp>
      <p:sp>
        <p:nvSpPr>
          <p:cNvPr id="72" name="TextBox 71"/>
          <p:cNvSpPr txBox="1"/>
          <p:nvPr/>
        </p:nvSpPr>
        <p:spPr>
          <a:xfrm>
            <a:off x="7782916"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73" name="Oval 72"/>
          <p:cNvSpPr/>
          <p:nvPr/>
        </p:nvSpPr>
        <p:spPr>
          <a:xfrm>
            <a:off x="9639833" y="4558284"/>
            <a:ext cx="192024" cy="192024"/>
          </a:xfrm>
          <a:prstGeom prst="ellipse">
            <a:avLst/>
          </a:prstGeom>
          <a:solidFill>
            <a:srgbClr val="FFFFFF"/>
          </a:solidFill>
          <a:ln w="15875">
            <a:solidFill>
              <a:srgbClr val="D8602A"/>
            </a:solidFill>
          </a:ln>
        </p:spPr>
        <p:txBody>
          <a:bodyPr rtlCol="0" anchor="ctr"/>
          <a:lstStyle/>
          <a:p>
            <a:pPr algn="ctr"/>
          </a:p>
        </p:txBody>
      </p:sp>
      <p:sp>
        <p:nvSpPr>
          <p:cNvPr id="74" name="TextBox 73"/>
          <p:cNvSpPr txBox="1"/>
          <p:nvPr/>
        </p:nvSpPr>
        <p:spPr>
          <a:xfrm>
            <a:off x="9927869" y="4416552"/>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75" name="Connector 74"/>
          <p:cNvCxnSpPr/>
          <p:nvPr/>
        </p:nvCxnSpPr>
        <p:spPr>
          <a:xfrm>
            <a:off x="548640" y="4892040"/>
            <a:ext cx="11094415" cy="0"/>
          </a:xfrm>
          <a:prstGeom prst="line">
            <a:avLst/>
          </a:prstGeom>
          <a:ln w="6350">
            <a:solidFill>
              <a:srgbClr val="D1D5DB"/>
            </a:solidFill>
          </a:ln>
        </p:spPr>
      </p:cxnSp>
      <p:sp>
        <p:nvSpPr>
          <p:cNvPr id="76" name="TextBox 75"/>
          <p:cNvSpPr txBox="1"/>
          <p:nvPr/>
        </p:nvSpPr>
        <p:spPr>
          <a:xfrm>
            <a:off x="548640" y="4892040"/>
            <a:ext cx="2423160" cy="475488"/>
          </a:xfrm>
          <a:prstGeom prst="rect">
            <a:avLst/>
          </a:prstGeom>
          <a:noFill/>
        </p:spPr>
        <p:txBody>
          <a:bodyPr wrap="square" lIns="0" tIns="0" rIns="0" bIns="0" anchor="ctr">
            <a:spAutoFit/>
          </a:bodyPr>
          <a:lstStyle/>
          <a:p>
            <a:pPr>
              <a:lnSpc>
                <a:spcPct val="100000"/>
              </a:lnSpc>
            </a:pPr>
            <a:r>
              <a:rPr sz="1150" b="1">
                <a:solidFill>
                  <a:srgbClr val="0C1408"/>
                </a:solidFill>
                <a:latin typeface="Arial"/>
              </a:rPr>
              <a:t>Reach today</a:t>
            </a:r>
          </a:p>
        </p:txBody>
      </p:sp>
      <p:sp>
        <p:nvSpPr>
          <p:cNvPr id="77" name="Oval 76"/>
          <p:cNvSpPr/>
          <p:nvPr/>
        </p:nvSpPr>
        <p:spPr>
          <a:xfrm>
            <a:off x="3204972" y="5033772"/>
            <a:ext cx="192024" cy="192024"/>
          </a:xfrm>
          <a:prstGeom prst="ellipse">
            <a:avLst/>
          </a:prstGeom>
          <a:solidFill>
            <a:srgbClr val="FFFFFF"/>
          </a:solidFill>
          <a:ln w="15875">
            <a:solidFill>
              <a:srgbClr val="D8602A"/>
            </a:solidFill>
          </a:ln>
        </p:spPr>
        <p:txBody>
          <a:bodyPr rtlCol="0" anchor="ctr"/>
          <a:lstStyle/>
          <a:p>
            <a:pPr algn="ctr"/>
          </a:p>
        </p:txBody>
      </p:sp>
      <p:sp>
        <p:nvSpPr>
          <p:cNvPr id="78" name="TextBox 77"/>
          <p:cNvSpPr txBox="1"/>
          <p:nvPr/>
        </p:nvSpPr>
        <p:spPr>
          <a:xfrm>
            <a:off x="3493008"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new</a:t>
            </a:r>
          </a:p>
        </p:txBody>
      </p:sp>
      <p:sp>
        <p:nvSpPr>
          <p:cNvPr id="79" name="Oval 78"/>
          <p:cNvSpPr/>
          <p:nvPr/>
        </p:nvSpPr>
        <p:spPr>
          <a:xfrm>
            <a:off x="5349926" y="5033772"/>
            <a:ext cx="192024" cy="192024"/>
          </a:xfrm>
          <a:prstGeom prst="ellipse">
            <a:avLst/>
          </a:prstGeom>
          <a:solidFill>
            <a:srgbClr val="FFFFFF"/>
          </a:solidFill>
          <a:ln w="15875">
            <a:solidFill>
              <a:srgbClr val="D8602A"/>
            </a:solidFill>
          </a:ln>
        </p:spPr>
        <p:txBody>
          <a:bodyPr rtlCol="0" anchor="ctr"/>
          <a:lstStyle/>
          <a:p>
            <a:pPr algn="ctr"/>
          </a:p>
        </p:txBody>
      </p:sp>
      <p:sp>
        <p:nvSpPr>
          <p:cNvPr id="80" name="Freeform 79"/>
          <p:cNvSpPr/>
          <p:nvPr/>
        </p:nvSpPr>
        <p:spPr>
          <a:xfrm>
            <a:off x="5445938" y="5033772"/>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D8602A"/>
          </a:solidFill>
          <a:ln>
            <a:noFill/>
          </a:ln>
        </p:spPr>
        <p:txBody>
          <a:bodyPr rtlCol="0" anchor="ctr"/>
          <a:lstStyle/>
          <a:p>
            <a:pPr algn="ctr"/>
          </a:p>
        </p:txBody>
      </p:sp>
      <p:sp>
        <p:nvSpPr>
          <p:cNvPr id="81" name="TextBox 80"/>
          <p:cNvSpPr txBox="1"/>
          <p:nvPr/>
        </p:nvSpPr>
        <p:spPr>
          <a:xfrm>
            <a:off x="5637962"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600,000+ sign ups</a:t>
            </a:r>
          </a:p>
        </p:txBody>
      </p:sp>
      <p:sp>
        <p:nvSpPr>
          <p:cNvPr id="82" name="Oval 81"/>
          <p:cNvSpPr/>
          <p:nvPr/>
        </p:nvSpPr>
        <p:spPr>
          <a:xfrm>
            <a:off x="7494880" y="5033772"/>
            <a:ext cx="192024" cy="192024"/>
          </a:xfrm>
          <a:prstGeom prst="ellipse">
            <a:avLst/>
          </a:prstGeom>
          <a:solidFill>
            <a:srgbClr val="D8602A"/>
          </a:solidFill>
          <a:ln w="15875">
            <a:solidFill>
              <a:srgbClr val="D8602A"/>
            </a:solidFill>
          </a:ln>
        </p:spPr>
        <p:txBody>
          <a:bodyPr rtlCol="0" anchor="ctr"/>
          <a:lstStyle/>
          <a:p>
            <a:pPr algn="ctr"/>
          </a:p>
        </p:txBody>
      </p:sp>
      <p:sp>
        <p:nvSpPr>
          <p:cNvPr id="83" name="TextBox 82"/>
          <p:cNvSpPr txBox="1"/>
          <p:nvPr/>
        </p:nvSpPr>
        <p:spPr>
          <a:xfrm>
            <a:off x="7782916"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60 million registered</a:t>
            </a:r>
          </a:p>
        </p:txBody>
      </p:sp>
      <p:sp>
        <p:nvSpPr>
          <p:cNvPr id="84" name="Oval 83"/>
          <p:cNvSpPr/>
          <p:nvPr/>
        </p:nvSpPr>
        <p:spPr>
          <a:xfrm>
            <a:off x="9639833" y="5033772"/>
            <a:ext cx="192024" cy="192024"/>
          </a:xfrm>
          <a:prstGeom prst="ellipse">
            <a:avLst/>
          </a:prstGeom>
          <a:solidFill>
            <a:srgbClr val="D8602A"/>
          </a:solidFill>
          <a:ln w="15875">
            <a:solidFill>
              <a:srgbClr val="D8602A"/>
            </a:solidFill>
          </a:ln>
        </p:spPr>
        <p:txBody>
          <a:bodyPr rtlCol="0" anchor="ctr"/>
          <a:lstStyle/>
          <a:p>
            <a:pPr algn="ctr"/>
          </a:p>
        </p:txBody>
      </p:sp>
      <p:sp>
        <p:nvSpPr>
          <p:cNvPr id="85" name="TextBox 84"/>
          <p:cNvSpPr txBox="1"/>
          <p:nvPr/>
        </p:nvSpPr>
        <p:spPr>
          <a:xfrm>
            <a:off x="9927869" y="4892040"/>
            <a:ext cx="1733474" cy="475488"/>
          </a:xfrm>
          <a:prstGeom prst="rect">
            <a:avLst/>
          </a:prstGeom>
          <a:noFill/>
        </p:spPr>
        <p:txBody>
          <a:bodyPr wrap="square" lIns="0" tIns="0" rIns="0" bIns="0" anchor="ctr">
            <a:spAutoFit/>
          </a:bodyPr>
          <a:lstStyle/>
          <a:p>
            <a:pPr>
              <a:lnSpc>
                <a:spcPct val="100000"/>
              </a:lnSpc>
            </a:pPr>
            <a:r>
              <a:rPr sz="1050">
                <a:solidFill>
                  <a:srgbClr val="0C1408"/>
                </a:solidFill>
                <a:latin typeface="Arial"/>
              </a:rPr>
              <a:t>4 in 10 Pakistanis</a:t>
            </a:r>
          </a:p>
        </p:txBody>
      </p:sp>
      <p:cxnSp>
        <p:nvCxnSpPr>
          <p:cNvPr id="86" name="Connector 85"/>
          <p:cNvCxnSpPr/>
          <p:nvPr/>
        </p:nvCxnSpPr>
        <p:spPr>
          <a:xfrm>
            <a:off x="548640" y="5367528"/>
            <a:ext cx="11094415" cy="0"/>
          </a:xfrm>
          <a:prstGeom prst="line">
            <a:avLst/>
          </a:prstGeom>
          <a:ln w="6350">
            <a:solidFill>
              <a:srgbClr val="D1D5DB"/>
            </a:solidFill>
          </a:ln>
        </p:spPr>
      </p:cxnSp>
      <p:sp>
        <p:nvSpPr>
          <p:cNvPr id="87" name="Oval 86"/>
          <p:cNvSpPr/>
          <p:nvPr/>
        </p:nvSpPr>
        <p:spPr>
          <a:xfrm>
            <a:off x="562356" y="5518404"/>
            <a:ext cx="155448" cy="155448"/>
          </a:xfrm>
          <a:prstGeom prst="ellipse">
            <a:avLst/>
          </a:prstGeom>
          <a:solidFill>
            <a:srgbClr val="D8602A"/>
          </a:solidFill>
          <a:ln w="15875">
            <a:solidFill>
              <a:srgbClr val="D8602A"/>
            </a:solidFill>
          </a:ln>
        </p:spPr>
        <p:txBody>
          <a:bodyPr rtlCol="0" anchor="ctr"/>
          <a:lstStyle/>
          <a:p>
            <a:pPr algn="ctr"/>
          </a:p>
        </p:txBody>
      </p:sp>
      <p:sp>
        <p:nvSpPr>
          <p:cNvPr id="88" name="TextBox 87"/>
          <p:cNvSpPr txBox="1"/>
          <p:nvPr/>
        </p:nvSpPr>
        <p:spPr>
          <a:xfrm>
            <a:off x="795528" y="5477256"/>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yes</a:t>
            </a:r>
          </a:p>
        </p:txBody>
      </p:sp>
      <p:sp>
        <p:nvSpPr>
          <p:cNvPr id="89" name="Oval 88"/>
          <p:cNvSpPr/>
          <p:nvPr/>
        </p:nvSpPr>
        <p:spPr>
          <a:xfrm>
            <a:off x="1568196" y="5518404"/>
            <a:ext cx="155448" cy="155448"/>
          </a:xfrm>
          <a:prstGeom prst="ellipse">
            <a:avLst/>
          </a:prstGeom>
          <a:solidFill>
            <a:srgbClr val="FFFFFF"/>
          </a:solidFill>
          <a:ln w="15875">
            <a:solidFill>
              <a:srgbClr val="D8602A"/>
            </a:solidFill>
          </a:ln>
        </p:spPr>
        <p:txBody>
          <a:bodyPr rtlCol="0" anchor="ctr"/>
          <a:lstStyle/>
          <a:p>
            <a:pPr algn="ctr"/>
          </a:p>
        </p:txBody>
      </p:sp>
      <p:sp>
        <p:nvSpPr>
          <p:cNvPr id="90" name="Freeform 89"/>
          <p:cNvSpPr/>
          <p:nvPr/>
        </p:nvSpPr>
        <p:spPr>
          <a:xfrm>
            <a:off x="1645920" y="5518404"/>
            <a:ext cx="77724" cy="155448"/>
          </a:xfrm>
          <a:custGeom>
            <a:avLst/>
            <a:gdLst/>
            <a:ahLst/>
            <a:cxnLst/>
            <a:rect l="l" t="t" r="r" b="b"/>
            <a:pathLst>
              <a:path w="77724" h="155448">
                <a:moveTo>
                  <a:pt x="0" y="0"/>
                </a:moveTo>
                <a:lnTo>
                  <a:pt x="8124" y="426"/>
                </a:lnTo>
                <a:lnTo>
                  <a:pt x="16160" y="1698"/>
                </a:lnTo>
                <a:lnTo>
                  <a:pt x="24018" y="3804"/>
                </a:lnTo>
                <a:lnTo>
                  <a:pt x="31613" y="6720"/>
                </a:lnTo>
                <a:lnTo>
                  <a:pt x="38862" y="10413"/>
                </a:lnTo>
                <a:lnTo>
                  <a:pt x="45685" y="14844"/>
                </a:lnTo>
                <a:lnTo>
                  <a:pt x="52008" y="19964"/>
                </a:lnTo>
                <a:lnTo>
                  <a:pt x="57760" y="25716"/>
                </a:lnTo>
                <a:lnTo>
                  <a:pt x="62880" y="32039"/>
                </a:lnTo>
                <a:lnTo>
                  <a:pt x="67311" y="38862"/>
                </a:lnTo>
                <a:lnTo>
                  <a:pt x="71004" y="46111"/>
                </a:lnTo>
                <a:lnTo>
                  <a:pt x="73920" y="53706"/>
                </a:lnTo>
                <a:lnTo>
                  <a:pt x="76026" y="61564"/>
                </a:lnTo>
                <a:lnTo>
                  <a:pt x="77298" y="69600"/>
                </a:lnTo>
                <a:lnTo>
                  <a:pt x="77724" y="77724"/>
                </a:lnTo>
                <a:lnTo>
                  <a:pt x="77298" y="85848"/>
                </a:lnTo>
                <a:lnTo>
                  <a:pt x="76026" y="93884"/>
                </a:lnTo>
                <a:lnTo>
                  <a:pt x="73920" y="101742"/>
                </a:lnTo>
                <a:lnTo>
                  <a:pt x="71004" y="109337"/>
                </a:lnTo>
                <a:lnTo>
                  <a:pt x="67311" y="116586"/>
                </a:lnTo>
                <a:lnTo>
                  <a:pt x="62880" y="123409"/>
                </a:lnTo>
                <a:lnTo>
                  <a:pt x="57760" y="129732"/>
                </a:lnTo>
                <a:lnTo>
                  <a:pt x="52008" y="135484"/>
                </a:lnTo>
                <a:lnTo>
                  <a:pt x="45685" y="140604"/>
                </a:lnTo>
                <a:lnTo>
                  <a:pt x="38862" y="145035"/>
                </a:lnTo>
                <a:lnTo>
                  <a:pt x="31613" y="148728"/>
                </a:lnTo>
                <a:lnTo>
                  <a:pt x="24018" y="151644"/>
                </a:lnTo>
                <a:lnTo>
                  <a:pt x="16160" y="153750"/>
                </a:lnTo>
                <a:lnTo>
                  <a:pt x="8124" y="155022"/>
                </a:lnTo>
                <a:lnTo>
                  <a:pt x="0" y="155448"/>
                </a:lnTo>
                <a:close/>
              </a:path>
            </a:pathLst>
          </a:custGeom>
          <a:solidFill>
            <a:srgbClr val="D8602A"/>
          </a:solidFill>
          <a:ln>
            <a:noFill/>
          </a:ln>
        </p:spPr>
        <p:txBody>
          <a:bodyPr rtlCol="0" anchor="ctr"/>
          <a:lstStyle/>
          <a:p>
            <a:pPr algn="ctr"/>
          </a:p>
        </p:txBody>
      </p:sp>
      <p:sp>
        <p:nvSpPr>
          <p:cNvPr id="91" name="TextBox 90"/>
          <p:cNvSpPr txBox="1"/>
          <p:nvPr/>
        </p:nvSpPr>
        <p:spPr>
          <a:xfrm>
            <a:off x="1801368" y="5477256"/>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partly</a:t>
            </a:r>
          </a:p>
        </p:txBody>
      </p:sp>
      <p:sp>
        <p:nvSpPr>
          <p:cNvPr id="92" name="Oval 91"/>
          <p:cNvSpPr/>
          <p:nvPr/>
        </p:nvSpPr>
        <p:spPr>
          <a:xfrm>
            <a:off x="2574036" y="5518404"/>
            <a:ext cx="155448" cy="155448"/>
          </a:xfrm>
          <a:prstGeom prst="ellipse">
            <a:avLst/>
          </a:prstGeom>
          <a:solidFill>
            <a:srgbClr val="FFFFFF"/>
          </a:solidFill>
          <a:ln w="15875">
            <a:solidFill>
              <a:srgbClr val="D8602A"/>
            </a:solidFill>
          </a:ln>
        </p:spPr>
        <p:txBody>
          <a:bodyPr rtlCol="0" anchor="ctr"/>
          <a:lstStyle/>
          <a:p>
            <a:pPr algn="ctr"/>
          </a:p>
        </p:txBody>
      </p:sp>
      <p:sp>
        <p:nvSpPr>
          <p:cNvPr id="93" name="TextBox 92"/>
          <p:cNvSpPr txBox="1"/>
          <p:nvPr/>
        </p:nvSpPr>
        <p:spPr>
          <a:xfrm>
            <a:off x="2807208" y="5477256"/>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no</a:t>
            </a:r>
          </a:p>
        </p:txBody>
      </p:sp>
      <p:sp>
        <p:nvSpPr>
          <p:cNvPr id="94" name="TextBox 9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Oraan terms, fee calculator and website, 28 Sep 2026    2  JazzCash release note, Aug 2026, and results to 31 March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International Evidence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Committee platforms abroad and the institutions behind them</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23</a:t>
            </a:r>
          </a:p>
        </p:txBody>
      </p:sp>
      <p:sp>
        <p:nvSpPr>
          <p:cNvPr id="6" name="TextBox 5"/>
          <p:cNvSpPr txBox="1"/>
          <p:nvPr/>
        </p:nvSpPr>
        <p:spPr>
          <a:xfrm>
            <a:off x="260604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2016</a:t>
            </a:r>
          </a:p>
        </p:txBody>
      </p:sp>
      <p:cxnSp>
        <p:nvCxnSpPr>
          <p:cNvPr id="7" name="Connector 6"/>
          <p:cNvCxnSpPr/>
          <p:nvPr/>
        </p:nvCxnSpPr>
        <p:spPr>
          <a:xfrm>
            <a:off x="2880360" y="1783080"/>
            <a:ext cx="0" cy="3154680"/>
          </a:xfrm>
          <a:prstGeom prst="line">
            <a:avLst/>
          </a:prstGeom>
          <a:ln w="9525">
            <a:solidFill>
              <a:srgbClr val="EEF0F2"/>
            </a:solidFill>
          </a:ln>
        </p:spPr>
      </p:cxnSp>
      <p:sp>
        <p:nvSpPr>
          <p:cNvPr id="8" name="TextBox 7"/>
          <p:cNvSpPr txBox="1"/>
          <p:nvPr/>
        </p:nvSpPr>
        <p:spPr>
          <a:xfrm>
            <a:off x="3081528"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2017</a:t>
            </a:r>
          </a:p>
        </p:txBody>
      </p:sp>
      <p:cxnSp>
        <p:nvCxnSpPr>
          <p:cNvPr id="9" name="Connector 8"/>
          <p:cNvCxnSpPr/>
          <p:nvPr/>
        </p:nvCxnSpPr>
        <p:spPr>
          <a:xfrm>
            <a:off x="3355848" y="1783080"/>
            <a:ext cx="0" cy="3154680"/>
          </a:xfrm>
          <a:prstGeom prst="line">
            <a:avLst/>
          </a:prstGeom>
          <a:ln w="9525">
            <a:solidFill>
              <a:srgbClr val="EEF0F2"/>
            </a:solidFill>
          </a:ln>
        </p:spPr>
      </p:cxnSp>
      <p:sp>
        <p:nvSpPr>
          <p:cNvPr id="10" name="TextBox 9"/>
          <p:cNvSpPr txBox="1"/>
          <p:nvPr/>
        </p:nvSpPr>
        <p:spPr>
          <a:xfrm>
            <a:off x="3557016"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2018</a:t>
            </a:r>
          </a:p>
        </p:txBody>
      </p:sp>
      <p:cxnSp>
        <p:nvCxnSpPr>
          <p:cNvPr id="11" name="Connector 10"/>
          <p:cNvCxnSpPr/>
          <p:nvPr/>
        </p:nvCxnSpPr>
        <p:spPr>
          <a:xfrm>
            <a:off x="3831336" y="1783080"/>
            <a:ext cx="0" cy="3154680"/>
          </a:xfrm>
          <a:prstGeom prst="line">
            <a:avLst/>
          </a:prstGeom>
          <a:ln w="9525">
            <a:solidFill>
              <a:srgbClr val="EEF0F2"/>
            </a:solidFill>
          </a:ln>
        </p:spPr>
      </p:cxnSp>
      <p:sp>
        <p:nvSpPr>
          <p:cNvPr id="12" name="TextBox 11"/>
          <p:cNvSpPr txBox="1"/>
          <p:nvPr/>
        </p:nvSpPr>
        <p:spPr>
          <a:xfrm>
            <a:off x="4032504"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2019</a:t>
            </a:r>
          </a:p>
        </p:txBody>
      </p:sp>
      <p:cxnSp>
        <p:nvCxnSpPr>
          <p:cNvPr id="13" name="Connector 12"/>
          <p:cNvCxnSpPr/>
          <p:nvPr/>
        </p:nvCxnSpPr>
        <p:spPr>
          <a:xfrm>
            <a:off x="4306824" y="1783080"/>
            <a:ext cx="0" cy="3154680"/>
          </a:xfrm>
          <a:prstGeom prst="line">
            <a:avLst/>
          </a:prstGeom>
          <a:ln w="9525">
            <a:solidFill>
              <a:srgbClr val="EEF0F2"/>
            </a:solidFill>
          </a:ln>
        </p:spPr>
      </p:cxnSp>
      <p:sp>
        <p:nvSpPr>
          <p:cNvPr id="14" name="TextBox 13"/>
          <p:cNvSpPr txBox="1"/>
          <p:nvPr/>
        </p:nvSpPr>
        <p:spPr>
          <a:xfrm>
            <a:off x="4507992"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2020</a:t>
            </a:r>
          </a:p>
        </p:txBody>
      </p:sp>
      <p:cxnSp>
        <p:nvCxnSpPr>
          <p:cNvPr id="15" name="Connector 14"/>
          <p:cNvCxnSpPr/>
          <p:nvPr/>
        </p:nvCxnSpPr>
        <p:spPr>
          <a:xfrm>
            <a:off x="4782312" y="1783080"/>
            <a:ext cx="0" cy="3154680"/>
          </a:xfrm>
          <a:prstGeom prst="line">
            <a:avLst/>
          </a:prstGeom>
          <a:ln w="9525">
            <a:solidFill>
              <a:srgbClr val="EEF0F2"/>
            </a:solidFill>
          </a:ln>
        </p:spPr>
      </p:cxnSp>
      <p:sp>
        <p:nvSpPr>
          <p:cNvPr id="16" name="TextBox 15"/>
          <p:cNvSpPr txBox="1"/>
          <p:nvPr/>
        </p:nvSpPr>
        <p:spPr>
          <a:xfrm>
            <a:off x="498348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2021</a:t>
            </a:r>
          </a:p>
        </p:txBody>
      </p:sp>
      <p:cxnSp>
        <p:nvCxnSpPr>
          <p:cNvPr id="17" name="Connector 16"/>
          <p:cNvCxnSpPr/>
          <p:nvPr/>
        </p:nvCxnSpPr>
        <p:spPr>
          <a:xfrm>
            <a:off x="5257800" y="1783080"/>
            <a:ext cx="0" cy="3154680"/>
          </a:xfrm>
          <a:prstGeom prst="line">
            <a:avLst/>
          </a:prstGeom>
          <a:ln w="9525">
            <a:solidFill>
              <a:srgbClr val="EEF0F2"/>
            </a:solidFill>
          </a:ln>
        </p:spPr>
      </p:cxnSp>
      <p:sp>
        <p:nvSpPr>
          <p:cNvPr id="18" name="TextBox 17"/>
          <p:cNvSpPr txBox="1"/>
          <p:nvPr/>
        </p:nvSpPr>
        <p:spPr>
          <a:xfrm>
            <a:off x="5458968"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2022</a:t>
            </a:r>
          </a:p>
        </p:txBody>
      </p:sp>
      <p:cxnSp>
        <p:nvCxnSpPr>
          <p:cNvPr id="19" name="Connector 18"/>
          <p:cNvCxnSpPr/>
          <p:nvPr/>
        </p:nvCxnSpPr>
        <p:spPr>
          <a:xfrm>
            <a:off x="5733288" y="1783080"/>
            <a:ext cx="0" cy="3154680"/>
          </a:xfrm>
          <a:prstGeom prst="line">
            <a:avLst/>
          </a:prstGeom>
          <a:ln w="9525">
            <a:solidFill>
              <a:srgbClr val="EEF0F2"/>
            </a:solidFill>
          </a:ln>
        </p:spPr>
      </p:cxnSp>
      <p:sp>
        <p:nvSpPr>
          <p:cNvPr id="20" name="TextBox 19"/>
          <p:cNvSpPr txBox="1"/>
          <p:nvPr/>
        </p:nvSpPr>
        <p:spPr>
          <a:xfrm>
            <a:off x="5934456"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2023</a:t>
            </a:r>
          </a:p>
        </p:txBody>
      </p:sp>
      <p:cxnSp>
        <p:nvCxnSpPr>
          <p:cNvPr id="21" name="Connector 20"/>
          <p:cNvCxnSpPr/>
          <p:nvPr/>
        </p:nvCxnSpPr>
        <p:spPr>
          <a:xfrm>
            <a:off x="6208776" y="1783080"/>
            <a:ext cx="0" cy="3154680"/>
          </a:xfrm>
          <a:prstGeom prst="line">
            <a:avLst/>
          </a:prstGeom>
          <a:ln w="9525">
            <a:solidFill>
              <a:srgbClr val="EEF0F2"/>
            </a:solidFill>
          </a:ln>
        </p:spPr>
      </p:cxnSp>
      <p:sp>
        <p:nvSpPr>
          <p:cNvPr id="22" name="TextBox 21"/>
          <p:cNvSpPr txBox="1"/>
          <p:nvPr/>
        </p:nvSpPr>
        <p:spPr>
          <a:xfrm>
            <a:off x="6409944"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2024</a:t>
            </a:r>
          </a:p>
        </p:txBody>
      </p:sp>
      <p:cxnSp>
        <p:nvCxnSpPr>
          <p:cNvPr id="23" name="Connector 22"/>
          <p:cNvCxnSpPr/>
          <p:nvPr/>
        </p:nvCxnSpPr>
        <p:spPr>
          <a:xfrm>
            <a:off x="6684264" y="1783080"/>
            <a:ext cx="0" cy="3154680"/>
          </a:xfrm>
          <a:prstGeom prst="line">
            <a:avLst/>
          </a:prstGeom>
          <a:ln w="9525">
            <a:solidFill>
              <a:srgbClr val="EEF0F2"/>
            </a:solidFill>
          </a:ln>
        </p:spPr>
      </p:cxnSp>
      <p:sp>
        <p:nvSpPr>
          <p:cNvPr id="24" name="TextBox 23"/>
          <p:cNvSpPr txBox="1"/>
          <p:nvPr/>
        </p:nvSpPr>
        <p:spPr>
          <a:xfrm>
            <a:off x="6885432"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2025</a:t>
            </a:r>
          </a:p>
        </p:txBody>
      </p:sp>
      <p:cxnSp>
        <p:nvCxnSpPr>
          <p:cNvPr id="25" name="Connector 24"/>
          <p:cNvCxnSpPr/>
          <p:nvPr/>
        </p:nvCxnSpPr>
        <p:spPr>
          <a:xfrm>
            <a:off x="7159752" y="1783080"/>
            <a:ext cx="0" cy="3154680"/>
          </a:xfrm>
          <a:prstGeom prst="line">
            <a:avLst/>
          </a:prstGeom>
          <a:ln w="9525">
            <a:solidFill>
              <a:srgbClr val="EEF0F2"/>
            </a:solidFill>
          </a:ln>
        </p:spPr>
      </p:cxnSp>
      <p:sp>
        <p:nvSpPr>
          <p:cNvPr id="26" name="TextBox 25"/>
          <p:cNvSpPr txBox="1"/>
          <p:nvPr/>
        </p:nvSpPr>
        <p:spPr>
          <a:xfrm>
            <a:off x="736092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2026</a:t>
            </a:r>
          </a:p>
        </p:txBody>
      </p:sp>
      <p:cxnSp>
        <p:nvCxnSpPr>
          <p:cNvPr id="27" name="Connector 26"/>
          <p:cNvCxnSpPr/>
          <p:nvPr/>
        </p:nvCxnSpPr>
        <p:spPr>
          <a:xfrm>
            <a:off x="7635240" y="1783080"/>
            <a:ext cx="0" cy="3154680"/>
          </a:xfrm>
          <a:prstGeom prst="line">
            <a:avLst/>
          </a:prstGeom>
          <a:ln w="9525">
            <a:solidFill>
              <a:srgbClr val="EEF0F2"/>
            </a:solidFill>
          </a:ln>
        </p:spPr>
      </p:cxnSp>
      <p:sp>
        <p:nvSpPr>
          <p:cNvPr id="28" name="TextBox 27"/>
          <p:cNvSpPr txBox="1"/>
          <p:nvPr/>
        </p:nvSpPr>
        <p:spPr>
          <a:xfrm>
            <a:off x="548640" y="2002536"/>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Money Fellows</a:t>
            </a:r>
          </a:p>
        </p:txBody>
      </p:sp>
      <p:sp>
        <p:nvSpPr>
          <p:cNvPr id="29" name="TextBox 28"/>
          <p:cNvSpPr txBox="1"/>
          <p:nvPr/>
        </p:nvSpPr>
        <p:spPr>
          <a:xfrm>
            <a:off x="548640" y="2313432"/>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Egypt</a:t>
            </a:r>
          </a:p>
        </p:txBody>
      </p:sp>
      <p:cxnSp>
        <p:nvCxnSpPr>
          <p:cNvPr id="30" name="Connector 29"/>
          <p:cNvCxnSpPr/>
          <p:nvPr/>
        </p:nvCxnSpPr>
        <p:spPr>
          <a:xfrm>
            <a:off x="2880360" y="2240280"/>
            <a:ext cx="4754880" cy="0"/>
          </a:xfrm>
          <a:prstGeom prst="line">
            <a:avLst/>
          </a:prstGeom>
          <a:ln w="44450">
            <a:solidFill>
              <a:srgbClr val="2A78D6"/>
            </a:solidFill>
          </a:ln>
        </p:spPr>
      </p:cxnSp>
      <p:sp>
        <p:nvSpPr>
          <p:cNvPr id="31" name="Oval 30"/>
          <p:cNvSpPr/>
          <p:nvPr/>
        </p:nvSpPr>
        <p:spPr>
          <a:xfrm>
            <a:off x="2798064" y="2157984"/>
            <a:ext cx="164592" cy="164592"/>
          </a:xfrm>
          <a:prstGeom prst="ellipse">
            <a:avLst/>
          </a:prstGeom>
          <a:solidFill>
            <a:srgbClr val="2A78D6"/>
          </a:solidFill>
          <a:ln>
            <a:noFill/>
          </a:ln>
        </p:spPr>
        <p:txBody>
          <a:bodyPr rtlCol="0" anchor="ctr"/>
          <a:lstStyle/>
          <a:p>
            <a:pPr algn="ctr"/>
          </a:p>
        </p:txBody>
      </p:sp>
      <p:sp>
        <p:nvSpPr>
          <p:cNvPr id="32" name="Oval 31"/>
          <p:cNvSpPr/>
          <p:nvPr/>
        </p:nvSpPr>
        <p:spPr>
          <a:xfrm>
            <a:off x="7068312" y="2148840"/>
            <a:ext cx="182880" cy="182880"/>
          </a:xfrm>
          <a:prstGeom prst="ellipse">
            <a:avLst/>
          </a:prstGeom>
          <a:solidFill>
            <a:srgbClr val="FFFFFF"/>
          </a:solidFill>
          <a:ln w="25400">
            <a:solidFill>
              <a:srgbClr val="2A78D6"/>
            </a:solidFill>
          </a:ln>
        </p:spPr>
        <p:txBody>
          <a:bodyPr rtlCol="0" anchor="ctr"/>
          <a:lstStyle/>
          <a:p>
            <a:pPr algn="ctr"/>
          </a:p>
        </p:txBody>
      </p:sp>
      <p:sp>
        <p:nvSpPr>
          <p:cNvPr id="33" name="TextBox 32"/>
          <p:cNvSpPr txBox="1"/>
          <p:nvPr/>
        </p:nvSpPr>
        <p:spPr>
          <a:xfrm>
            <a:off x="5148072" y="2350008"/>
            <a:ext cx="2103120" cy="256032"/>
          </a:xfrm>
          <a:prstGeom prst="rect">
            <a:avLst/>
          </a:prstGeom>
          <a:noFill/>
        </p:spPr>
        <p:txBody>
          <a:bodyPr wrap="square" lIns="0" tIns="0" rIns="0" bIns="0">
            <a:spAutoFit/>
          </a:bodyPr>
          <a:lstStyle/>
          <a:p>
            <a:pPr algn="r">
              <a:lnSpc>
                <a:spcPct val="105000"/>
              </a:lnSpc>
            </a:pPr>
            <a:r>
              <a:rPr sz="1000">
                <a:solidFill>
                  <a:srgbClr val="4B5563"/>
                </a:solidFill>
                <a:latin typeface="Arial"/>
              </a:rPr>
              <a:t>profitable</a:t>
            </a:r>
          </a:p>
        </p:txBody>
      </p:sp>
      <p:sp>
        <p:nvSpPr>
          <p:cNvPr id="34" name="TextBox 33"/>
          <p:cNvSpPr txBox="1"/>
          <p:nvPr/>
        </p:nvSpPr>
        <p:spPr>
          <a:xfrm>
            <a:off x="7955280" y="1965960"/>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8 million+ users</a:t>
            </a:r>
          </a:p>
        </p:txBody>
      </p:sp>
      <p:sp>
        <p:nvSpPr>
          <p:cNvPr id="35" name="TextBox 34"/>
          <p:cNvSpPr txBox="1"/>
          <p:nvPr/>
        </p:nvSpPr>
        <p:spPr>
          <a:xfrm>
            <a:off x="7955280" y="2267712"/>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central bank sandbox; prepaid card with Banque Misr</a:t>
            </a:r>
          </a:p>
        </p:txBody>
      </p:sp>
      <p:sp>
        <p:nvSpPr>
          <p:cNvPr id="36" name="TextBox 35"/>
          <p:cNvSpPr txBox="1"/>
          <p:nvPr/>
        </p:nvSpPr>
        <p:spPr>
          <a:xfrm>
            <a:off x="548640" y="3026664"/>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Hakbah</a:t>
            </a:r>
          </a:p>
        </p:txBody>
      </p:sp>
      <p:sp>
        <p:nvSpPr>
          <p:cNvPr id="37" name="TextBox 36"/>
          <p:cNvSpPr txBox="1"/>
          <p:nvPr/>
        </p:nvSpPr>
        <p:spPr>
          <a:xfrm>
            <a:off x="548640" y="3337560"/>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Saudi Arabia</a:t>
            </a:r>
          </a:p>
        </p:txBody>
      </p:sp>
      <p:cxnSp>
        <p:nvCxnSpPr>
          <p:cNvPr id="38" name="Connector 37"/>
          <p:cNvCxnSpPr/>
          <p:nvPr/>
        </p:nvCxnSpPr>
        <p:spPr>
          <a:xfrm>
            <a:off x="3831336" y="3264408"/>
            <a:ext cx="3803904" cy="0"/>
          </a:xfrm>
          <a:prstGeom prst="line">
            <a:avLst/>
          </a:prstGeom>
          <a:ln w="44450">
            <a:solidFill>
              <a:srgbClr val="0E9384"/>
            </a:solidFill>
          </a:ln>
        </p:spPr>
      </p:cxnSp>
      <p:sp>
        <p:nvSpPr>
          <p:cNvPr id="39" name="Oval 38"/>
          <p:cNvSpPr/>
          <p:nvPr/>
        </p:nvSpPr>
        <p:spPr>
          <a:xfrm>
            <a:off x="3749040" y="3182112"/>
            <a:ext cx="164592" cy="164592"/>
          </a:xfrm>
          <a:prstGeom prst="ellipse">
            <a:avLst/>
          </a:prstGeom>
          <a:solidFill>
            <a:srgbClr val="0E9384"/>
          </a:solidFill>
          <a:ln>
            <a:noFill/>
          </a:ln>
        </p:spPr>
        <p:txBody>
          <a:bodyPr rtlCol="0" anchor="ctr"/>
          <a:lstStyle/>
          <a:p>
            <a:pPr algn="ctr"/>
          </a:p>
        </p:txBody>
      </p:sp>
      <p:sp>
        <p:nvSpPr>
          <p:cNvPr id="40" name="Oval 39"/>
          <p:cNvSpPr/>
          <p:nvPr/>
        </p:nvSpPr>
        <p:spPr>
          <a:xfrm>
            <a:off x="4690872" y="3172968"/>
            <a:ext cx="182880" cy="182880"/>
          </a:xfrm>
          <a:prstGeom prst="ellipse">
            <a:avLst/>
          </a:prstGeom>
          <a:solidFill>
            <a:srgbClr val="FFFFFF"/>
          </a:solidFill>
          <a:ln w="25400">
            <a:solidFill>
              <a:srgbClr val="0E9384"/>
            </a:solidFill>
          </a:ln>
        </p:spPr>
        <p:txBody>
          <a:bodyPr rtlCol="0" anchor="ctr"/>
          <a:lstStyle/>
          <a:p>
            <a:pPr algn="ctr"/>
          </a:p>
        </p:txBody>
      </p:sp>
      <p:sp>
        <p:nvSpPr>
          <p:cNvPr id="41" name="TextBox 40"/>
          <p:cNvSpPr txBox="1"/>
          <p:nvPr/>
        </p:nvSpPr>
        <p:spPr>
          <a:xfrm>
            <a:off x="4690872" y="3374136"/>
            <a:ext cx="3291840" cy="256032"/>
          </a:xfrm>
          <a:prstGeom prst="rect">
            <a:avLst/>
          </a:prstGeom>
          <a:noFill/>
        </p:spPr>
        <p:txBody>
          <a:bodyPr wrap="square" lIns="0" tIns="0" rIns="0" bIns="0">
            <a:spAutoFit/>
          </a:bodyPr>
          <a:lstStyle/>
          <a:p>
            <a:pPr>
              <a:lnSpc>
                <a:spcPct val="105000"/>
              </a:lnSpc>
            </a:pPr>
            <a:r>
              <a:rPr sz="1000">
                <a:solidFill>
                  <a:srgbClr val="4B5563"/>
                </a:solidFill>
                <a:latin typeface="Arial"/>
              </a:rPr>
              <a:t>launched under a central bank permit</a:t>
            </a:r>
          </a:p>
        </p:txBody>
      </p:sp>
      <p:sp>
        <p:nvSpPr>
          <p:cNvPr id="42" name="TextBox 41"/>
          <p:cNvSpPr txBox="1"/>
          <p:nvPr/>
        </p:nvSpPr>
        <p:spPr>
          <a:xfrm>
            <a:off x="7955280" y="2990088"/>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million registered users</a:t>
            </a:r>
          </a:p>
        </p:txBody>
      </p:sp>
      <p:sp>
        <p:nvSpPr>
          <p:cNvPr id="43" name="TextBox 42"/>
          <p:cNvSpPr txBox="1"/>
          <p:nvPr/>
        </p:nvSpPr>
        <p:spPr>
          <a:xfrm>
            <a:off x="7955280" y="3291840"/>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Saudi central bank sandbox</a:t>
            </a:r>
          </a:p>
        </p:txBody>
      </p:sp>
      <p:sp>
        <p:nvSpPr>
          <p:cNvPr id="44" name="TextBox 43"/>
          <p:cNvSpPr txBox="1"/>
          <p:nvPr/>
        </p:nvSpPr>
        <p:spPr>
          <a:xfrm>
            <a:off x="548640" y="4050792"/>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Esusu</a:t>
            </a:r>
          </a:p>
        </p:txBody>
      </p:sp>
      <p:sp>
        <p:nvSpPr>
          <p:cNvPr id="45" name="TextBox 44"/>
          <p:cNvSpPr txBox="1"/>
          <p:nvPr/>
        </p:nvSpPr>
        <p:spPr>
          <a:xfrm>
            <a:off x="548640" y="4361688"/>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United States</a:t>
            </a:r>
          </a:p>
        </p:txBody>
      </p:sp>
      <p:cxnSp>
        <p:nvCxnSpPr>
          <p:cNvPr id="46" name="Connector 45"/>
          <p:cNvCxnSpPr/>
          <p:nvPr/>
        </p:nvCxnSpPr>
        <p:spPr>
          <a:xfrm>
            <a:off x="3831336" y="4288536"/>
            <a:ext cx="3803904" cy="0"/>
          </a:xfrm>
          <a:prstGeom prst="line">
            <a:avLst/>
          </a:prstGeom>
          <a:ln w="44450">
            <a:solidFill>
              <a:srgbClr val="D8602A"/>
            </a:solidFill>
          </a:ln>
        </p:spPr>
      </p:cxnSp>
      <p:sp>
        <p:nvSpPr>
          <p:cNvPr id="47" name="Oval 46"/>
          <p:cNvSpPr/>
          <p:nvPr/>
        </p:nvSpPr>
        <p:spPr>
          <a:xfrm>
            <a:off x="3749040" y="4206240"/>
            <a:ext cx="164592" cy="164592"/>
          </a:xfrm>
          <a:prstGeom prst="ellipse">
            <a:avLst/>
          </a:prstGeom>
          <a:solidFill>
            <a:srgbClr val="D8602A"/>
          </a:solidFill>
          <a:ln>
            <a:noFill/>
          </a:ln>
        </p:spPr>
        <p:txBody>
          <a:bodyPr rtlCol="0" anchor="ctr"/>
          <a:lstStyle/>
          <a:p>
            <a:pPr algn="ctr"/>
          </a:p>
        </p:txBody>
      </p:sp>
      <p:sp>
        <p:nvSpPr>
          <p:cNvPr id="48" name="Oval 47"/>
          <p:cNvSpPr/>
          <p:nvPr/>
        </p:nvSpPr>
        <p:spPr>
          <a:xfrm>
            <a:off x="5641848" y="4197096"/>
            <a:ext cx="182880" cy="182880"/>
          </a:xfrm>
          <a:prstGeom prst="ellipse">
            <a:avLst/>
          </a:prstGeom>
          <a:solidFill>
            <a:srgbClr val="FFFFFF"/>
          </a:solidFill>
          <a:ln w="25400">
            <a:solidFill>
              <a:srgbClr val="D8602A"/>
            </a:solidFill>
          </a:ln>
        </p:spPr>
        <p:txBody>
          <a:bodyPr rtlCol="0" anchor="ctr"/>
          <a:lstStyle/>
          <a:p>
            <a:pPr algn="ctr"/>
          </a:p>
        </p:txBody>
      </p:sp>
      <p:sp>
        <p:nvSpPr>
          <p:cNvPr id="49" name="TextBox 48"/>
          <p:cNvSpPr txBox="1"/>
          <p:nvPr/>
        </p:nvSpPr>
        <p:spPr>
          <a:xfrm>
            <a:off x="5641848" y="4398264"/>
            <a:ext cx="3291840" cy="256032"/>
          </a:xfrm>
          <a:prstGeom prst="rect">
            <a:avLst/>
          </a:prstGeom>
          <a:noFill/>
        </p:spPr>
        <p:txBody>
          <a:bodyPr wrap="square" lIns="0" tIns="0" rIns="0" bIns="0">
            <a:spAutoFit/>
          </a:bodyPr>
          <a:lstStyle/>
          <a:p>
            <a:pPr>
              <a:lnSpc>
                <a:spcPct val="105000"/>
              </a:lnSpc>
            </a:pPr>
            <a:r>
              <a:rPr sz="1000">
                <a:solidFill>
                  <a:srgbClr val="4B5563"/>
                </a:solidFill>
                <a:latin typeface="Arial"/>
              </a:rPr>
              <a:t>valued US$1 billion</a:t>
            </a:r>
          </a:p>
        </p:txBody>
      </p:sp>
      <p:sp>
        <p:nvSpPr>
          <p:cNvPr id="50" name="TextBox 49"/>
          <p:cNvSpPr txBox="1"/>
          <p:nvPr/>
        </p:nvSpPr>
        <p:spPr>
          <a:xfrm>
            <a:off x="7955280" y="4014216"/>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US$1.2 billion valuation</a:t>
            </a:r>
          </a:p>
        </p:txBody>
      </p:sp>
      <p:sp>
        <p:nvSpPr>
          <p:cNvPr id="51" name="TextBox 50"/>
          <p:cNvSpPr txBox="1"/>
          <p:nvPr/>
        </p:nvSpPr>
        <p:spPr>
          <a:xfrm>
            <a:off x="7955280" y="4315968"/>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reports payments to the credit bureaus</a:t>
            </a:r>
          </a:p>
        </p:txBody>
      </p:sp>
      <p:sp>
        <p:nvSpPr>
          <p:cNvPr id="52" name="Rectangle 51"/>
          <p:cNvSpPr/>
          <p:nvPr/>
        </p:nvSpPr>
        <p:spPr>
          <a:xfrm>
            <a:off x="548640" y="5029200"/>
            <a:ext cx="11094415" cy="1097280"/>
          </a:xfrm>
          <a:prstGeom prst="rect">
            <a:avLst/>
          </a:prstGeom>
          <a:solidFill>
            <a:srgbClr val="F3F4F6"/>
          </a:solidFill>
          <a:ln>
            <a:noFill/>
          </a:ln>
        </p:spPr>
        <p:txBody>
          <a:bodyPr rtlCol="0" anchor="ctr"/>
          <a:lstStyle/>
          <a:p>
            <a:pPr algn="ctr"/>
          </a:p>
        </p:txBody>
      </p:sp>
      <p:sp>
        <p:nvSpPr>
          <p:cNvPr id="53" name="TextBox 52"/>
          <p:cNvSpPr txBox="1"/>
          <p:nvPr/>
        </p:nvSpPr>
        <p:spPr>
          <a:xfrm>
            <a:off x="749808" y="5138928"/>
            <a:ext cx="107286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Common pattern</a:t>
            </a:r>
          </a:p>
        </p:txBody>
      </p:sp>
      <p:sp>
        <p:nvSpPr>
          <p:cNvPr id="54" name="TextBox 53"/>
          <p:cNvSpPr txBox="1"/>
          <p:nvPr/>
        </p:nvSpPr>
        <p:spPr>
          <a:xfrm>
            <a:off x="749808" y="5440680"/>
            <a:ext cx="10728655" cy="640080"/>
          </a:xfrm>
          <a:prstGeom prst="rect">
            <a:avLst/>
          </a:prstGeom>
          <a:noFill/>
        </p:spPr>
        <p:txBody>
          <a:bodyPr wrap="square" lIns="0" tIns="0" rIns="0" bIns="0">
            <a:spAutoFit/>
          </a:bodyPr>
          <a:lstStyle/>
          <a:p>
            <a:pPr>
              <a:lnSpc>
                <a:spcPct val="105000"/>
              </a:lnSpc>
            </a:pPr>
            <a:r>
              <a:rPr sz="1150">
                <a:solidFill>
                  <a:srgbClr val="0C1408"/>
                </a:solidFill>
                <a:latin typeface="Arial"/>
              </a:rPr>
              <a:t>Each grew inside the formal system: a central bank sandbox or permit, a partner bank, or reporting to the credit bureaus. The same sequence is proposed with Mashreq.</a:t>
            </a:r>
          </a:p>
        </p:txBody>
      </p:sp>
      <p:sp>
        <p:nvSpPr>
          <p:cNvPr id="55" name="TextBox 5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Daily News Egypt, 20 Oct 2025    2  MENAbytes, 3 Sep 2020; Semafor, 3 Feb 2026    3  CNBC, 11 Dec 2025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 Timing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Payments in Pakistan have moved to digital channels; committee savings have not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24</a:t>
            </a:r>
          </a:p>
        </p:txBody>
      </p:sp>
      <p:sp>
        <p:nvSpPr>
          <p:cNvPr id="6" name="TextBox 5"/>
          <p:cNvSpPr txBox="1"/>
          <p:nvPr/>
        </p:nvSpPr>
        <p:spPr>
          <a:xfrm>
            <a:off x="548640" y="1481328"/>
            <a:ext cx="54864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Share of retail payments made digitally</a:t>
            </a:r>
            <a:r>
              <a:rPr sz="1100">
                <a:solidFill>
                  <a:srgbClr val="6B7280"/>
                </a:solidFill>
                <a:latin typeface="Arial"/>
              </a:rPr>
              <a:t>   per cent</a:t>
            </a:r>
          </a:p>
        </p:txBody>
      </p:sp>
      <p:graphicFrame>
        <p:nvGraphicFramePr>
          <p:cNvPr id="7" name="Chart 6"/>
          <p:cNvGraphicFramePr>
            <a:graphicFrameLocks noGrp="1"/>
          </p:cNvGraphicFramePr>
          <p:nvPr/>
        </p:nvGraphicFramePr>
        <p:xfrm>
          <a:off x="457200" y="1783080"/>
          <a:ext cx="5760720" cy="3749040"/>
        </p:xfrm>
        <a:graphic>
          <a:graphicData uri="http://schemas.openxmlformats.org/drawingml/2006/chart">
            <c:chart xmlns:c="http://schemas.openxmlformats.org/drawingml/2006/chart" r:id="rId3"/>
          </a:graphicData>
        </a:graphic>
      </p:graphicFrame>
      <p:sp>
        <p:nvSpPr>
          <p:cNvPr id="8" name="TextBox 7"/>
          <p:cNvSpPr txBox="1"/>
          <p:nvPr/>
        </p:nvSpPr>
        <p:spPr>
          <a:xfrm>
            <a:off x="6492240" y="157276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69 million</a:t>
            </a:r>
          </a:p>
        </p:txBody>
      </p:sp>
      <p:sp>
        <p:nvSpPr>
          <p:cNvPr id="9" name="TextBox 8"/>
          <p:cNvSpPr txBox="1"/>
          <p:nvPr/>
        </p:nvSpPr>
        <p:spPr>
          <a:xfrm>
            <a:off x="6492240" y="194360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mobile wallet users at the end of 2024 [1]</a:t>
            </a:r>
          </a:p>
        </p:txBody>
      </p:sp>
      <p:sp>
        <p:nvSpPr>
          <p:cNvPr id="10" name="TextBox 9"/>
          <p:cNvSpPr txBox="1"/>
          <p:nvPr/>
        </p:nvSpPr>
        <p:spPr>
          <a:xfrm>
            <a:off x="9067648" y="157276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21 million</a:t>
            </a:r>
          </a:p>
        </p:txBody>
      </p:sp>
      <p:sp>
        <p:nvSpPr>
          <p:cNvPr id="11" name="TextBox 10"/>
          <p:cNvSpPr txBox="1"/>
          <p:nvPr/>
        </p:nvSpPr>
        <p:spPr>
          <a:xfrm>
            <a:off x="9067648" y="194360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mobile banking app users [1]</a:t>
            </a:r>
          </a:p>
        </p:txBody>
      </p:sp>
      <p:sp>
        <p:nvSpPr>
          <p:cNvPr id="12" name="TextBox 11"/>
          <p:cNvSpPr txBox="1"/>
          <p:nvPr/>
        </p:nvSpPr>
        <p:spPr>
          <a:xfrm>
            <a:off x="6492240" y="303580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Aug 2026</a:t>
            </a:r>
          </a:p>
        </p:txBody>
      </p:sp>
      <p:sp>
        <p:nvSpPr>
          <p:cNvPr id="13" name="TextBox 12"/>
          <p:cNvSpPr txBox="1"/>
          <p:nvPr/>
        </p:nvSpPr>
        <p:spPr>
          <a:xfrm>
            <a:off x="6492240" y="340664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JazzCash launched a committee feature [2]</a:t>
            </a:r>
          </a:p>
        </p:txBody>
      </p:sp>
      <p:sp>
        <p:nvSpPr>
          <p:cNvPr id="14" name="TextBox 13"/>
          <p:cNvSpPr txBox="1"/>
          <p:nvPr/>
        </p:nvSpPr>
        <p:spPr>
          <a:xfrm>
            <a:off x="9067648" y="303580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75% by 2028</a:t>
            </a:r>
          </a:p>
        </p:txBody>
      </p:sp>
      <p:sp>
        <p:nvSpPr>
          <p:cNvPr id="15" name="TextBox 14"/>
          <p:cNvSpPr txBox="1"/>
          <p:nvPr/>
        </p:nvSpPr>
        <p:spPr>
          <a:xfrm>
            <a:off x="9067648" y="340664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State Bank target for adults with an account, from 64% [3]</a:t>
            </a:r>
          </a:p>
        </p:txBody>
      </p:sp>
      <p:sp>
        <p:nvSpPr>
          <p:cNvPr id="16" name="TextBox 15"/>
          <p:cNvSpPr txBox="1"/>
          <p:nvPr/>
        </p:nvSpPr>
        <p:spPr>
          <a:xfrm>
            <a:off x="6492240" y="449884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26%</a:t>
            </a:r>
          </a:p>
        </p:txBody>
      </p:sp>
      <p:sp>
        <p:nvSpPr>
          <p:cNvPr id="17" name="TextBox 16"/>
          <p:cNvSpPr txBox="1"/>
          <p:nvPr/>
        </p:nvSpPr>
        <p:spPr>
          <a:xfrm>
            <a:off x="6492240" y="486968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of adults are financially literate; a committee needs no financial knowledge [4]</a:t>
            </a:r>
          </a:p>
        </p:txBody>
      </p:sp>
      <p:sp>
        <p:nvSpPr>
          <p:cNvPr id="18" name="TextBox 17"/>
          <p:cNvSpPr txBox="1"/>
          <p:nvPr/>
        </p:nvSpPr>
        <p:spPr>
          <a:xfrm>
            <a:off x="9067648" y="4498848"/>
            <a:ext cx="2346808" cy="389128"/>
          </a:xfrm>
          <a:prstGeom prst="rect">
            <a:avLst/>
          </a:prstGeom>
          <a:noFill/>
        </p:spPr>
        <p:txBody>
          <a:bodyPr wrap="square" lIns="0" tIns="0" rIns="0" bIns="0">
            <a:spAutoFit/>
          </a:bodyPr>
          <a:lstStyle/>
          <a:p>
            <a:pPr>
              <a:lnSpc>
                <a:spcPct val="100000"/>
              </a:lnSpc>
            </a:pPr>
            <a:r>
              <a:rPr sz="2200" b="1">
                <a:solidFill>
                  <a:srgbClr val="9E3F17"/>
                </a:solidFill>
                <a:latin typeface="Arial"/>
              </a:rPr>
              <a:t>2.9 billion</a:t>
            </a:r>
          </a:p>
        </p:txBody>
      </p:sp>
      <p:sp>
        <p:nvSpPr>
          <p:cNvPr id="19" name="TextBox 18"/>
          <p:cNvSpPr txBox="1"/>
          <p:nvPr/>
        </p:nvSpPr>
        <p:spPr>
          <a:xfrm>
            <a:off x="9067648" y="486968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banking app payments in January to March 2026 [1]</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SBP payment systems reviews, Q2 FY25, FY25 and Q3 FY26    2  JazzCash release notes    3  SBP National Financial Inclusion Strategy 2024 to 2028    4  S&amp;P Global FinLit Survey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Regulation and Compliance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Regulation through Mashreq’s licence, with Halqa as its service provider</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25</a:t>
            </a:r>
          </a:p>
        </p:txBody>
      </p:sp>
      <p:sp>
        <p:nvSpPr>
          <p:cNvPr id="6" name="Rectangle 5"/>
          <p:cNvSpPr/>
          <p:nvPr/>
        </p:nvSpPr>
        <p:spPr>
          <a:xfrm>
            <a:off x="548640" y="1572768"/>
            <a:ext cx="4297680" cy="4526280"/>
          </a:xfrm>
          <a:prstGeom prst="rect">
            <a:avLst/>
          </a:prstGeom>
          <a:noFill/>
          <a:ln w="12700">
            <a:solidFill>
              <a:srgbClr val="0C1408"/>
            </a:solidFill>
          </a:ln>
        </p:spPr>
        <p:txBody>
          <a:bodyPr rtlCol="0" anchor="ctr"/>
          <a:lstStyle/>
          <a:p>
            <a:pPr algn="ctr"/>
          </a:p>
        </p:txBody>
      </p:sp>
      <p:sp>
        <p:nvSpPr>
          <p:cNvPr id="7" name="TextBox 6"/>
          <p:cNvSpPr txBox="1"/>
          <p:nvPr/>
        </p:nvSpPr>
        <p:spPr>
          <a:xfrm>
            <a:off x="713232" y="1664208"/>
            <a:ext cx="4023360" cy="274320"/>
          </a:xfrm>
          <a:prstGeom prst="rect">
            <a:avLst/>
          </a:prstGeom>
          <a:noFill/>
        </p:spPr>
        <p:txBody>
          <a:bodyPr wrap="square" lIns="0" tIns="0" rIns="0" bIns="0">
            <a:spAutoFit/>
          </a:bodyPr>
          <a:lstStyle/>
          <a:p>
            <a:pPr>
              <a:lnSpc>
                <a:spcPct val="105000"/>
              </a:lnSpc>
            </a:pPr>
            <a:r>
              <a:rPr sz="1250" b="1">
                <a:solidFill>
                  <a:srgbClr val="0C1408"/>
                </a:solidFill>
                <a:latin typeface="Arial"/>
              </a:rPr>
              <a:t>State Bank of Pakistan</a:t>
            </a:r>
          </a:p>
        </p:txBody>
      </p:sp>
      <p:sp>
        <p:nvSpPr>
          <p:cNvPr id="8" name="TextBox 7"/>
          <p:cNvSpPr txBox="1"/>
          <p:nvPr/>
        </p:nvSpPr>
        <p:spPr>
          <a:xfrm>
            <a:off x="713232" y="1938528"/>
            <a:ext cx="4023360" cy="274320"/>
          </a:xfrm>
          <a:prstGeom prst="rect">
            <a:avLst/>
          </a:prstGeom>
          <a:noFill/>
        </p:spPr>
        <p:txBody>
          <a:bodyPr wrap="square" lIns="0" tIns="0" rIns="0" bIns="0">
            <a:spAutoFit/>
          </a:bodyPr>
          <a:lstStyle/>
          <a:p>
            <a:pPr>
              <a:lnSpc>
                <a:spcPct val="105000"/>
              </a:lnSpc>
            </a:pPr>
            <a:r>
              <a:rPr sz="1000">
                <a:solidFill>
                  <a:srgbClr val="4B5563"/>
                </a:solidFill>
                <a:latin typeface="Arial"/>
              </a:rPr>
              <a:t>regulates Mashreq, payments and the PSP</a:t>
            </a:r>
          </a:p>
        </p:txBody>
      </p:sp>
      <p:sp>
        <p:nvSpPr>
          <p:cNvPr id="9" name="Rectangle 8"/>
          <p:cNvSpPr/>
          <p:nvPr/>
        </p:nvSpPr>
        <p:spPr>
          <a:xfrm>
            <a:off x="822960" y="2350008"/>
            <a:ext cx="3749040" cy="3566160"/>
          </a:xfrm>
          <a:prstGeom prst="rect">
            <a:avLst/>
          </a:prstGeom>
          <a:solidFill>
            <a:srgbClr val="FDF1EA"/>
          </a:solidFill>
          <a:ln w="15875">
            <a:solidFill>
              <a:srgbClr val="D8602A"/>
            </a:solidFill>
          </a:ln>
        </p:spPr>
        <p:txBody>
          <a:bodyPr rtlCol="0" anchor="ctr"/>
          <a:lstStyle/>
          <a:p>
            <a:pPr algn="ctr"/>
          </a:p>
        </p:txBody>
      </p:sp>
      <p:sp>
        <p:nvSpPr>
          <p:cNvPr id="10" name="TextBox 9"/>
          <p:cNvSpPr txBox="1"/>
          <p:nvPr/>
        </p:nvSpPr>
        <p:spPr>
          <a:xfrm>
            <a:off x="987552" y="2441448"/>
            <a:ext cx="3474720" cy="274320"/>
          </a:xfrm>
          <a:prstGeom prst="rect">
            <a:avLst/>
          </a:prstGeom>
          <a:noFill/>
        </p:spPr>
        <p:txBody>
          <a:bodyPr wrap="square" lIns="0" tIns="0" rIns="0" bIns="0">
            <a:spAutoFit/>
          </a:bodyPr>
          <a:lstStyle/>
          <a:p>
            <a:pPr>
              <a:lnSpc>
                <a:spcPct val="105000"/>
              </a:lnSpc>
            </a:pPr>
            <a:r>
              <a:rPr sz="1200" b="1">
                <a:solidFill>
                  <a:srgbClr val="0C1408"/>
                </a:solidFill>
                <a:latin typeface="Arial"/>
              </a:rPr>
              <a:t>Mashreq Bank Pakistan</a:t>
            </a:r>
          </a:p>
        </p:txBody>
      </p:sp>
      <p:sp>
        <p:nvSpPr>
          <p:cNvPr id="11" name="TextBox 10"/>
          <p:cNvSpPr txBox="1"/>
          <p:nvPr/>
        </p:nvSpPr>
        <p:spPr>
          <a:xfrm>
            <a:off x="987552" y="2715768"/>
            <a:ext cx="3474720" cy="274320"/>
          </a:xfrm>
          <a:prstGeom prst="rect">
            <a:avLst/>
          </a:prstGeom>
          <a:noFill/>
        </p:spPr>
        <p:txBody>
          <a:bodyPr wrap="square" lIns="0" tIns="0" rIns="0" bIns="0">
            <a:spAutoFit/>
          </a:bodyPr>
          <a:lstStyle/>
          <a:p>
            <a:pPr>
              <a:lnSpc>
                <a:spcPct val="105000"/>
              </a:lnSpc>
            </a:pPr>
            <a:r>
              <a:rPr sz="1000">
                <a:solidFill>
                  <a:srgbClr val="4B5563"/>
                </a:solidFill>
                <a:latin typeface="Arial"/>
              </a:rPr>
              <a:t>licence, accounts, payments</a:t>
            </a:r>
          </a:p>
        </p:txBody>
      </p:sp>
      <p:sp>
        <p:nvSpPr>
          <p:cNvPr id="12" name="Rectangle 11"/>
          <p:cNvSpPr/>
          <p:nvPr/>
        </p:nvSpPr>
        <p:spPr>
          <a:xfrm>
            <a:off x="1097280" y="3145536"/>
            <a:ext cx="3200400" cy="658368"/>
          </a:xfrm>
          <a:prstGeom prst="rect">
            <a:avLst/>
          </a:prstGeom>
          <a:solidFill>
            <a:srgbClr val="FFFFFF"/>
          </a:solidFill>
          <a:ln w="12700">
            <a:solidFill>
              <a:srgbClr val="D8602A"/>
            </a:solidFill>
          </a:ln>
        </p:spPr>
        <p:txBody>
          <a:bodyPr rtlCol="0" anchor="ctr" lIns="109728" tIns="82296" rIns="109728" bIns="82296" wrap="square"/>
          <a:lstStyle/>
          <a:p>
            <a:pPr>
              <a:lnSpc>
                <a:spcPct val="105000"/>
              </a:lnSpc>
            </a:pPr>
            <a:r>
              <a:rPr sz="1100" b="1">
                <a:solidFill>
                  <a:srgbClr val="0C1408"/>
                </a:solidFill>
                <a:latin typeface="Arial"/>
              </a:rPr>
              <a:t>Shariah board of the Islamic window</a:t>
            </a:r>
          </a:p>
          <a:p>
            <a:pPr>
              <a:lnSpc>
                <a:spcPct val="105000"/>
              </a:lnSpc>
            </a:pPr>
            <a:r>
              <a:rPr sz="950">
                <a:solidFill>
                  <a:srgbClr val="4B5563"/>
                </a:solidFill>
                <a:latin typeface="Arial"/>
              </a:rPr>
              <a:t>approves the Islamic structure</a:t>
            </a:r>
          </a:p>
        </p:txBody>
      </p:sp>
      <p:sp>
        <p:nvSpPr>
          <p:cNvPr id="13" name="Rectangle 12"/>
          <p:cNvSpPr/>
          <p:nvPr/>
        </p:nvSpPr>
        <p:spPr>
          <a:xfrm>
            <a:off x="1097280" y="3986784"/>
            <a:ext cx="3200400" cy="1691640"/>
          </a:xfrm>
          <a:prstGeom prst="rect">
            <a:avLst/>
          </a:prstGeom>
          <a:solidFill>
            <a:srgbClr val="F3FCE7"/>
          </a:solidFill>
          <a:ln w="15875">
            <a:solidFill>
              <a:srgbClr val="6DC72A"/>
            </a:solidFill>
          </a:ln>
        </p:spPr>
        <p:txBody>
          <a:bodyPr rtlCol="0" anchor="ctr"/>
          <a:lstStyle/>
          <a:p>
            <a:pPr algn="ctr"/>
          </a:p>
        </p:txBody>
      </p:sp>
      <p:sp>
        <p:nvSpPr>
          <p:cNvPr id="14" name="TextBox 13"/>
          <p:cNvSpPr txBox="1"/>
          <p:nvPr/>
        </p:nvSpPr>
        <p:spPr>
          <a:xfrm>
            <a:off x="1234440" y="4078224"/>
            <a:ext cx="2926080" cy="274320"/>
          </a:xfrm>
          <a:prstGeom prst="rect">
            <a:avLst/>
          </a:prstGeom>
          <a:noFill/>
        </p:spPr>
        <p:txBody>
          <a:bodyPr wrap="square" lIns="0" tIns="0" rIns="0" bIns="0">
            <a:spAutoFit/>
          </a:bodyPr>
          <a:lstStyle/>
          <a:p>
            <a:pPr>
              <a:lnSpc>
                <a:spcPct val="105000"/>
              </a:lnSpc>
            </a:pPr>
            <a:r>
              <a:rPr sz="1150" b="1">
                <a:solidFill>
                  <a:srgbClr val="0C1408"/>
                </a:solidFill>
                <a:latin typeface="Arial"/>
              </a:rPr>
              <a:t>Halqa: service provider</a:t>
            </a:r>
          </a:p>
        </p:txBody>
      </p:sp>
      <p:sp>
        <p:nvSpPr>
          <p:cNvPr id="15" name="TextBox 14"/>
          <p:cNvSpPr txBox="1"/>
          <p:nvPr/>
        </p:nvSpPr>
        <p:spPr>
          <a:xfrm>
            <a:off x="1234440" y="4370832"/>
            <a:ext cx="2926080" cy="1280160"/>
          </a:xfrm>
          <a:prstGeom prst="rect">
            <a:avLst/>
          </a:prstGeom>
          <a:noFill/>
        </p:spPr>
        <p:txBody>
          <a:bodyPr wrap="square" lIns="0" tIns="0" rIns="0" bIns="0">
            <a:spAutoFit/>
          </a:bodyPr>
          <a:lstStyle/>
          <a:p>
            <a:pPr>
              <a:lnSpc>
                <a:spcPct val="105000"/>
              </a:lnSpc>
            </a:pPr>
            <a:r>
              <a:rPr sz="1050">
                <a:solidFill>
                  <a:srgbClr val="4B5563"/>
                </a:solidFill>
                <a:latin typeface="Arial"/>
              </a:rPr>
              <a:t>Rules, checks, application and records. Holds no member money. Works under the outsourcing framework, with audit rights for Mashreq and the State Bank.</a:t>
            </a:r>
          </a:p>
        </p:txBody>
      </p:sp>
      <p:sp>
        <p:nvSpPr>
          <p:cNvPr id="16" name="TextBox 15"/>
          <p:cNvSpPr txBox="1"/>
          <p:nvPr/>
        </p:nvSpPr>
        <p:spPr>
          <a:xfrm>
            <a:off x="5257800" y="1554480"/>
            <a:ext cx="1508760" cy="274320"/>
          </a:xfrm>
          <a:prstGeom prst="rect">
            <a:avLst/>
          </a:prstGeom>
          <a:noFill/>
        </p:spPr>
        <p:txBody>
          <a:bodyPr wrap="square" lIns="0" tIns="0" rIns="0" bIns="0">
            <a:spAutoFit/>
          </a:bodyPr>
          <a:lstStyle/>
          <a:p>
            <a:pPr>
              <a:lnSpc>
                <a:spcPct val="105000"/>
              </a:lnSpc>
            </a:pPr>
            <a:r>
              <a:rPr sz="1100" b="1">
                <a:solidFill>
                  <a:srgbClr val="0C1408"/>
                </a:solidFill>
                <a:latin typeface="Arial"/>
              </a:rPr>
              <a:t>Area</a:t>
            </a:r>
          </a:p>
        </p:txBody>
      </p:sp>
      <p:sp>
        <p:nvSpPr>
          <p:cNvPr id="17" name="TextBox 16"/>
          <p:cNvSpPr txBox="1"/>
          <p:nvPr/>
        </p:nvSpPr>
        <p:spPr>
          <a:xfrm>
            <a:off x="6858000" y="1554480"/>
            <a:ext cx="224028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Rule</a:t>
            </a:r>
          </a:p>
        </p:txBody>
      </p:sp>
      <p:sp>
        <p:nvSpPr>
          <p:cNvPr id="18" name="TextBox 17"/>
          <p:cNvSpPr txBox="1"/>
          <p:nvPr/>
        </p:nvSpPr>
        <p:spPr>
          <a:xfrm>
            <a:off x="9189720" y="1554480"/>
            <a:ext cx="2361895" cy="274320"/>
          </a:xfrm>
          <a:prstGeom prst="rect">
            <a:avLst/>
          </a:prstGeom>
          <a:noFill/>
        </p:spPr>
        <p:txBody>
          <a:bodyPr wrap="square" lIns="0" tIns="0" rIns="0" bIns="0">
            <a:spAutoFit/>
          </a:bodyPr>
          <a:lstStyle/>
          <a:p>
            <a:pPr>
              <a:lnSpc>
                <a:spcPct val="105000"/>
              </a:lnSpc>
            </a:pPr>
            <a:r>
              <a:rPr sz="1100" b="1">
                <a:solidFill>
                  <a:srgbClr val="0C1408"/>
                </a:solidFill>
                <a:latin typeface="Arial"/>
              </a:rPr>
              <a:t>How it is met</a:t>
            </a:r>
          </a:p>
        </p:txBody>
      </p:sp>
      <p:cxnSp>
        <p:nvCxnSpPr>
          <p:cNvPr id="19" name="Connector 18"/>
          <p:cNvCxnSpPr/>
          <p:nvPr/>
        </p:nvCxnSpPr>
        <p:spPr>
          <a:xfrm>
            <a:off x="5257800" y="1847088"/>
            <a:ext cx="6385255" cy="0"/>
          </a:xfrm>
          <a:prstGeom prst="line">
            <a:avLst/>
          </a:prstGeom>
          <a:ln w="9525">
            <a:solidFill>
              <a:srgbClr val="0C1408"/>
            </a:solidFill>
          </a:ln>
        </p:spPr>
      </p:cxnSp>
      <p:sp>
        <p:nvSpPr>
          <p:cNvPr id="20" name="TextBox 19"/>
          <p:cNvSpPr txBox="1"/>
          <p:nvPr/>
        </p:nvSpPr>
        <p:spPr>
          <a:xfrm>
            <a:off x="5257800" y="1883664"/>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Member money</a:t>
            </a:r>
          </a:p>
        </p:txBody>
      </p:sp>
      <p:sp>
        <p:nvSpPr>
          <p:cNvPr id="21" name="TextBox 20"/>
          <p:cNvSpPr txBox="1"/>
          <p:nvPr/>
        </p:nvSpPr>
        <p:spPr>
          <a:xfrm>
            <a:off x="6858000" y="1883664"/>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Only a bank may take deposits (Companies Act 2017, s.84)</a:t>
            </a:r>
          </a:p>
        </p:txBody>
      </p:sp>
      <p:sp>
        <p:nvSpPr>
          <p:cNvPr id="22" name="TextBox 21"/>
          <p:cNvSpPr txBox="1"/>
          <p:nvPr/>
        </p:nvSpPr>
        <p:spPr>
          <a:xfrm>
            <a:off x="9189720" y="1883664"/>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Held only by Mashreq; Halqa never receives it</a:t>
            </a:r>
          </a:p>
        </p:txBody>
      </p:sp>
      <p:cxnSp>
        <p:nvCxnSpPr>
          <p:cNvPr id="23" name="Connector 22"/>
          <p:cNvCxnSpPr/>
          <p:nvPr/>
        </p:nvCxnSpPr>
        <p:spPr>
          <a:xfrm>
            <a:off x="5257800" y="2487168"/>
            <a:ext cx="6385255" cy="0"/>
          </a:xfrm>
          <a:prstGeom prst="line">
            <a:avLst/>
          </a:prstGeom>
          <a:ln w="6350">
            <a:solidFill>
              <a:srgbClr val="D1D5DB"/>
            </a:solidFill>
          </a:ln>
        </p:spPr>
      </p:cxnSp>
      <p:sp>
        <p:nvSpPr>
          <p:cNvPr id="24" name="TextBox 23"/>
          <p:cNvSpPr txBox="1"/>
          <p:nvPr/>
        </p:nvSpPr>
        <p:spPr>
          <a:xfrm>
            <a:off x="5257800" y="2487168"/>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Service provider</a:t>
            </a:r>
          </a:p>
        </p:txBody>
      </p:sp>
      <p:sp>
        <p:nvSpPr>
          <p:cNvPr id="25" name="TextBox 24"/>
          <p:cNvSpPr txBox="1"/>
          <p:nvPr/>
        </p:nvSpPr>
        <p:spPr>
          <a:xfrm>
            <a:off x="6858000" y="2487168"/>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SBP outsourcing framework, 2017, revised 2019</a:t>
            </a:r>
          </a:p>
        </p:txBody>
      </p:sp>
      <p:sp>
        <p:nvSpPr>
          <p:cNvPr id="26" name="TextBox 25"/>
          <p:cNvSpPr txBox="1"/>
          <p:nvPr/>
        </p:nvSpPr>
        <p:spPr>
          <a:xfrm>
            <a:off x="9189720" y="2487168"/>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Audit rights, data security and continuity for Mashreq and the State Bank</a:t>
            </a:r>
          </a:p>
        </p:txBody>
      </p:sp>
      <p:cxnSp>
        <p:nvCxnSpPr>
          <p:cNvPr id="27" name="Connector 26"/>
          <p:cNvCxnSpPr/>
          <p:nvPr/>
        </p:nvCxnSpPr>
        <p:spPr>
          <a:xfrm>
            <a:off x="5257800" y="3090672"/>
            <a:ext cx="6385255" cy="0"/>
          </a:xfrm>
          <a:prstGeom prst="line">
            <a:avLst/>
          </a:prstGeom>
          <a:ln w="6350">
            <a:solidFill>
              <a:srgbClr val="D1D5DB"/>
            </a:solidFill>
          </a:ln>
        </p:spPr>
      </p:cxnSp>
      <p:sp>
        <p:nvSpPr>
          <p:cNvPr id="28" name="TextBox 27"/>
          <p:cNvSpPr txBox="1"/>
          <p:nvPr/>
        </p:nvSpPr>
        <p:spPr>
          <a:xfrm>
            <a:off x="5257800" y="3090672"/>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Automatic debit</a:t>
            </a:r>
          </a:p>
        </p:txBody>
      </p:sp>
      <p:sp>
        <p:nvSpPr>
          <p:cNvPr id="29" name="TextBox 28"/>
          <p:cNvSpPr txBox="1"/>
          <p:nvPr/>
        </p:nvSpPr>
        <p:spPr>
          <a:xfrm>
            <a:off x="6858000" y="3090672"/>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Payment Systems and Electronic Fund Transfers Act 2007, s.35</a:t>
            </a:r>
          </a:p>
        </p:txBody>
      </p:sp>
      <p:sp>
        <p:nvSpPr>
          <p:cNvPr id="30" name="TextBox 29"/>
          <p:cNvSpPr txBox="1"/>
          <p:nvPr/>
        </p:nvSpPr>
        <p:spPr>
          <a:xfrm>
            <a:off x="9189720" y="3090672"/>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Member consent in the app; the direct debit mandate is Mashreq’s</a:t>
            </a:r>
          </a:p>
        </p:txBody>
      </p:sp>
      <p:cxnSp>
        <p:nvCxnSpPr>
          <p:cNvPr id="31" name="Connector 30"/>
          <p:cNvCxnSpPr/>
          <p:nvPr/>
        </p:nvCxnSpPr>
        <p:spPr>
          <a:xfrm>
            <a:off x="5257800" y="3694176"/>
            <a:ext cx="6385255" cy="0"/>
          </a:xfrm>
          <a:prstGeom prst="line">
            <a:avLst/>
          </a:prstGeom>
          <a:ln w="6350">
            <a:solidFill>
              <a:srgbClr val="D1D5DB"/>
            </a:solidFill>
          </a:ln>
        </p:spPr>
      </p:cxnSp>
      <p:sp>
        <p:nvSpPr>
          <p:cNvPr id="32" name="TextBox 31"/>
          <p:cNvSpPr txBox="1"/>
          <p:nvPr/>
        </p:nvSpPr>
        <p:spPr>
          <a:xfrm>
            <a:off x="5257800" y="3694176"/>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Credit reporting</a:t>
            </a:r>
          </a:p>
        </p:txBody>
      </p:sp>
      <p:sp>
        <p:nvSpPr>
          <p:cNvPr id="33" name="TextBox 32"/>
          <p:cNvSpPr txBox="1"/>
          <p:nvPr/>
        </p:nvSpPr>
        <p:spPr>
          <a:xfrm>
            <a:off x="6858000" y="3694176"/>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Credit Bureaus Act 2015</a:t>
            </a:r>
          </a:p>
        </p:txBody>
      </p:sp>
      <p:sp>
        <p:nvSpPr>
          <p:cNvPr id="34" name="TextBox 33"/>
          <p:cNvSpPr txBox="1"/>
          <p:nvPr/>
        </p:nvSpPr>
        <p:spPr>
          <a:xfrm>
            <a:off x="9189720" y="3694176"/>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Through Mashreq’s TASDEEQ membership or Halqa as a data provider</a:t>
            </a:r>
          </a:p>
        </p:txBody>
      </p:sp>
      <p:cxnSp>
        <p:nvCxnSpPr>
          <p:cNvPr id="35" name="Connector 34"/>
          <p:cNvCxnSpPr/>
          <p:nvPr/>
        </p:nvCxnSpPr>
        <p:spPr>
          <a:xfrm>
            <a:off x="5257800" y="4297680"/>
            <a:ext cx="6385255" cy="0"/>
          </a:xfrm>
          <a:prstGeom prst="line">
            <a:avLst/>
          </a:prstGeom>
          <a:ln w="6350">
            <a:solidFill>
              <a:srgbClr val="D1D5DB"/>
            </a:solidFill>
          </a:ln>
        </p:spPr>
      </p:cxnSp>
      <p:sp>
        <p:nvSpPr>
          <p:cNvPr id="36" name="TextBox 35"/>
          <p:cNvSpPr txBox="1"/>
          <p:nvPr/>
        </p:nvSpPr>
        <p:spPr>
          <a:xfrm>
            <a:off x="5257800" y="4297680"/>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Takaful or insurance</a:t>
            </a:r>
          </a:p>
        </p:txBody>
      </p:sp>
      <p:sp>
        <p:nvSpPr>
          <p:cNvPr id="37" name="TextBox 36"/>
          <p:cNvSpPr txBox="1"/>
          <p:nvPr/>
        </p:nvSpPr>
        <p:spPr>
          <a:xfrm>
            <a:off x="6858000" y="4297680"/>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Insurance Ordinance 2000: only a licensed operator may insure</a:t>
            </a:r>
          </a:p>
        </p:txBody>
      </p:sp>
      <p:sp>
        <p:nvSpPr>
          <p:cNvPr id="38" name="TextBox 37"/>
          <p:cNvSpPr txBox="1"/>
          <p:nvPr/>
        </p:nvSpPr>
        <p:spPr>
          <a:xfrm>
            <a:off x="9189720" y="4297680"/>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Written by an operator Mashreq chooses</a:t>
            </a:r>
          </a:p>
        </p:txBody>
      </p:sp>
      <p:cxnSp>
        <p:nvCxnSpPr>
          <p:cNvPr id="39" name="Connector 38"/>
          <p:cNvCxnSpPr/>
          <p:nvPr/>
        </p:nvCxnSpPr>
        <p:spPr>
          <a:xfrm>
            <a:off x="5257800" y="4901184"/>
            <a:ext cx="6385255" cy="0"/>
          </a:xfrm>
          <a:prstGeom prst="line">
            <a:avLst/>
          </a:prstGeom>
          <a:ln w="6350">
            <a:solidFill>
              <a:srgbClr val="D1D5DB"/>
            </a:solidFill>
          </a:ln>
        </p:spPr>
      </p:cxnSp>
      <p:sp>
        <p:nvSpPr>
          <p:cNvPr id="40" name="TextBox 39"/>
          <p:cNvSpPr txBox="1"/>
          <p:nvPr/>
        </p:nvSpPr>
        <p:spPr>
          <a:xfrm>
            <a:off x="5257800" y="4901184"/>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Product approval</a:t>
            </a:r>
          </a:p>
        </p:txBody>
      </p:sp>
      <p:sp>
        <p:nvSpPr>
          <p:cNvPr id="41" name="TextBox 40"/>
          <p:cNvSpPr txBox="1"/>
          <p:nvPr/>
        </p:nvSpPr>
        <p:spPr>
          <a:xfrm>
            <a:off x="6858000" y="4901184"/>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approval or notice</a:t>
            </a:r>
          </a:p>
        </p:txBody>
      </p:sp>
      <p:sp>
        <p:nvSpPr>
          <p:cNvPr id="42" name="TextBox 41"/>
          <p:cNvSpPr txBox="1"/>
          <p:nvPr/>
        </p:nvSpPr>
        <p:spPr>
          <a:xfrm>
            <a:off x="9189720" y="4901184"/>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Taken to the State Bank by Mashreq</a:t>
            </a:r>
          </a:p>
        </p:txBody>
      </p:sp>
      <p:cxnSp>
        <p:nvCxnSpPr>
          <p:cNvPr id="43" name="Connector 42"/>
          <p:cNvCxnSpPr/>
          <p:nvPr/>
        </p:nvCxnSpPr>
        <p:spPr>
          <a:xfrm>
            <a:off x="5257800" y="5504688"/>
            <a:ext cx="6385255" cy="0"/>
          </a:xfrm>
          <a:prstGeom prst="line">
            <a:avLst/>
          </a:prstGeom>
          <a:ln w="6350">
            <a:solidFill>
              <a:srgbClr val="D1D5DB"/>
            </a:solidFill>
          </a:ln>
        </p:spPr>
      </p:cxnSp>
      <p:sp>
        <p:nvSpPr>
          <p:cNvPr id="44" name="TextBox 43"/>
          <p:cNvSpPr txBox="1"/>
          <p:nvPr/>
        </p:nvSpPr>
        <p:spPr>
          <a:xfrm>
            <a:off x="5257800" y="5504688"/>
            <a:ext cx="1490472" cy="603504"/>
          </a:xfrm>
          <a:prstGeom prst="rect">
            <a:avLst/>
          </a:prstGeom>
          <a:noFill/>
        </p:spPr>
        <p:txBody>
          <a:bodyPr wrap="square" lIns="0" tIns="0" rIns="0" bIns="0" anchor="ctr">
            <a:spAutoFit/>
          </a:bodyPr>
          <a:lstStyle/>
          <a:p>
            <a:pPr>
              <a:lnSpc>
                <a:spcPct val="100000"/>
              </a:lnSpc>
            </a:pPr>
            <a:r>
              <a:rPr sz="1050" b="1">
                <a:solidFill>
                  <a:srgbClr val="0C1408"/>
                </a:solidFill>
                <a:latin typeface="Arial"/>
              </a:rPr>
              <a:t>Data</a:t>
            </a:r>
          </a:p>
        </p:txBody>
      </p:sp>
      <p:sp>
        <p:nvSpPr>
          <p:cNvPr id="45" name="TextBox 44"/>
          <p:cNvSpPr txBox="1"/>
          <p:nvPr/>
        </p:nvSpPr>
        <p:spPr>
          <a:xfrm>
            <a:off x="6858000" y="5504688"/>
            <a:ext cx="2221992"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data protection</a:t>
            </a:r>
          </a:p>
        </p:txBody>
      </p:sp>
      <p:sp>
        <p:nvSpPr>
          <p:cNvPr id="46" name="TextBox 45"/>
          <p:cNvSpPr txBox="1"/>
          <p:nvPr/>
        </p:nvSpPr>
        <p:spPr>
          <a:xfrm>
            <a:off x="9189720" y="5504688"/>
            <a:ext cx="2343607" cy="603504"/>
          </a:xfrm>
          <a:prstGeom prst="rect">
            <a:avLst/>
          </a:prstGeom>
          <a:noFill/>
        </p:spPr>
        <p:txBody>
          <a:bodyPr wrap="square" lIns="0" tIns="0" rIns="0" bIns="0" anchor="ctr">
            <a:spAutoFit/>
          </a:bodyPr>
          <a:lstStyle/>
          <a:p>
            <a:pPr>
              <a:lnSpc>
                <a:spcPct val="100000"/>
              </a:lnSpc>
            </a:pPr>
            <a:r>
              <a:rPr sz="1000">
                <a:solidFill>
                  <a:srgbClr val="0C1408"/>
                </a:solidFill>
                <a:latin typeface="Arial"/>
              </a:rPr>
              <a:t>Results only; no face images, card numbers or passwords</a:t>
            </a:r>
          </a:p>
        </p:txBody>
      </p:sp>
      <p:cxnSp>
        <p:nvCxnSpPr>
          <p:cNvPr id="47" name="Connector 46"/>
          <p:cNvCxnSpPr/>
          <p:nvPr/>
        </p:nvCxnSpPr>
        <p:spPr>
          <a:xfrm>
            <a:off x="5257800" y="6108192"/>
            <a:ext cx="6385255" cy="0"/>
          </a:xfrm>
          <a:prstGeom prst="line">
            <a:avLst/>
          </a:prstGeom>
          <a:ln w="6350">
            <a:solidFill>
              <a:srgbClr val="D1D5DB"/>
            </a:solidFill>
          </a:ln>
        </p:spPr>
      </p:cxnSp>
      <p:sp>
        <p:nvSpPr>
          <p:cNvPr id="48" name="TextBox 47"/>
          <p:cNvSpPr txBox="1"/>
          <p:nvPr/>
        </p:nvSpPr>
        <p:spPr>
          <a:xfrm>
            <a:off x="548640" y="6144768"/>
            <a:ext cx="11094415" cy="228600"/>
          </a:xfrm>
          <a:prstGeom prst="rect">
            <a:avLst/>
          </a:prstGeom>
          <a:noFill/>
        </p:spPr>
        <p:txBody>
          <a:bodyPr wrap="square" lIns="0" tIns="0" rIns="0" bIns="0">
            <a:spAutoFit/>
          </a:bodyPr>
          <a:lstStyle/>
          <a:p>
            <a:pPr>
              <a:lnSpc>
                <a:spcPct val="105000"/>
              </a:lnSpc>
            </a:pPr>
          </a:p>
        </p:txBody>
      </p:sp>
      <p:sp>
        <p:nvSpPr>
          <p:cNvPr id="49" name="TextBox 48"/>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SBP BPRD Circular No. 06 of 2017 (outsourcing), revised 2019; Companies Act 2017; PS&amp;EFT Act 2007; Credit Bureaus Act 2015; Insurance Ordinance 2000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Current Status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What is built, what is written and what remains before launch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26</a:t>
            </a:r>
          </a:p>
        </p:txBody>
      </p:sp>
      <p:sp>
        <p:nvSpPr>
          <p:cNvPr id="6" name="Rectangle 5"/>
          <p:cNvSpPr/>
          <p:nvPr/>
        </p:nvSpPr>
        <p:spPr>
          <a:xfrm>
            <a:off x="548640" y="1572768"/>
            <a:ext cx="3484778" cy="548640"/>
          </a:xfrm>
          <a:prstGeom prst="rect">
            <a:avLst/>
          </a:prstGeom>
          <a:solidFill>
            <a:srgbClr val="F3FCE7"/>
          </a:solidFill>
          <a:ln>
            <a:noFill/>
          </a:ln>
        </p:spPr>
        <p:txBody>
          <a:bodyPr rtlCol="0" anchor="ctr" lIns="182880" tIns="137160" rIns="182880" bIns="137160" wrap="square"/>
          <a:lstStyle/>
          <a:p>
            <a:pPr>
              <a:lnSpc>
                <a:spcPct val="105000"/>
              </a:lnSpc>
            </a:pPr>
            <a:r>
              <a:rPr sz="1500" b="1">
                <a:solidFill>
                  <a:srgbClr val="0C1408"/>
                </a:solidFill>
                <a:latin typeface="Arial"/>
              </a:rPr>
              <a:t>Built</a:t>
            </a:r>
          </a:p>
        </p:txBody>
      </p:sp>
      <p:sp>
        <p:nvSpPr>
          <p:cNvPr id="7" name="TextBox 6"/>
          <p:cNvSpPr txBox="1"/>
          <p:nvPr/>
        </p:nvSpPr>
        <p:spPr>
          <a:xfrm>
            <a:off x="594360"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41801A"/>
              </a:buClr>
              <a:buSzPct val="70000"/>
              <a:buFont typeface="Arial"/>
              <a:buChar char="■"/>
            </a:pPr>
            <a:r>
              <a:rPr sz="1300">
                <a:solidFill>
                  <a:srgbClr val="0C1408"/>
                </a:solidFill>
                <a:latin typeface="Arial"/>
              </a:rPr>
              <a:t>Member application in preview: sign up, circles, automatic payment settings, activity, credit report, Hyper</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Checks: identity, income, affordability and score</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Payday collection with retries</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Records, receipts and statements</a:t>
            </a:r>
          </a:p>
        </p:txBody>
      </p:sp>
      <p:sp>
        <p:nvSpPr>
          <p:cNvPr id="8" name="Rectangle 7"/>
          <p:cNvSpPr/>
          <p:nvPr/>
        </p:nvSpPr>
        <p:spPr>
          <a:xfrm>
            <a:off x="4353458" y="1572768"/>
            <a:ext cx="3484778" cy="548640"/>
          </a:xfrm>
          <a:prstGeom prst="rect">
            <a:avLst/>
          </a:prstGeom>
          <a:solidFill>
            <a:srgbClr val="EEF4FD"/>
          </a:solidFill>
          <a:ln>
            <a:noFill/>
          </a:ln>
        </p:spPr>
        <p:txBody>
          <a:bodyPr rtlCol="0" anchor="ctr" lIns="182880" tIns="137160" rIns="182880" bIns="137160" wrap="square"/>
          <a:lstStyle/>
          <a:p>
            <a:pPr>
              <a:lnSpc>
                <a:spcPct val="105000"/>
              </a:lnSpc>
            </a:pPr>
            <a:r>
              <a:rPr sz="1500" b="1">
                <a:solidFill>
                  <a:srgbClr val="0C1408"/>
                </a:solidFill>
                <a:latin typeface="Arial"/>
              </a:rPr>
              <a:t>Written</a:t>
            </a:r>
          </a:p>
        </p:txBody>
      </p:sp>
      <p:sp>
        <p:nvSpPr>
          <p:cNvPr id="9" name="TextBox 8"/>
          <p:cNvSpPr txBox="1"/>
          <p:nvPr/>
        </p:nvSpPr>
        <p:spPr>
          <a:xfrm>
            <a:off x="4399178"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2A78D6"/>
              </a:buClr>
              <a:buSzPct val="70000"/>
              <a:buFont typeface="Arial"/>
              <a:buChar char="■"/>
            </a:pPr>
            <a:r>
              <a:rPr sz="1300">
                <a:solidFill>
                  <a:srgbClr val="0C1408"/>
                </a:solidFill>
                <a:latin typeface="Arial"/>
              </a:rPr>
              <a:t>Legal position checked against twelve laws and regulations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Six risk and pricing models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Default prevention and recovery design</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Business model and unit costs</a:t>
            </a:r>
          </a:p>
        </p:txBody>
      </p:sp>
      <p:sp>
        <p:nvSpPr>
          <p:cNvPr id="10" name="Rectangle 9"/>
          <p:cNvSpPr/>
          <p:nvPr/>
        </p:nvSpPr>
        <p:spPr>
          <a:xfrm>
            <a:off x="8158277" y="1572768"/>
            <a:ext cx="3484778" cy="548640"/>
          </a:xfrm>
          <a:prstGeom prst="rect">
            <a:avLst/>
          </a:prstGeom>
          <a:solidFill>
            <a:srgbClr val="FDF1EA"/>
          </a:solidFill>
          <a:ln>
            <a:noFill/>
          </a:ln>
        </p:spPr>
        <p:txBody>
          <a:bodyPr rtlCol="0" anchor="ctr" lIns="182880" tIns="137160" rIns="182880" bIns="137160" wrap="square"/>
          <a:lstStyle/>
          <a:p>
            <a:pPr>
              <a:lnSpc>
                <a:spcPct val="105000"/>
              </a:lnSpc>
            </a:pPr>
            <a:r>
              <a:rPr sz="1500" b="1">
                <a:solidFill>
                  <a:srgbClr val="0C1408"/>
                </a:solidFill>
                <a:latin typeface="Arial"/>
              </a:rPr>
              <a:t>To do</a:t>
            </a:r>
          </a:p>
        </p:txBody>
      </p:sp>
      <p:sp>
        <p:nvSpPr>
          <p:cNvPr id="11" name="TextBox 10"/>
          <p:cNvSpPr txBox="1"/>
          <p:nvPr/>
        </p:nvSpPr>
        <p:spPr>
          <a:xfrm>
            <a:off x="8203997"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D8602A"/>
              </a:buClr>
              <a:buSzPct val="70000"/>
              <a:buFont typeface="Arial"/>
              <a:buChar char="■"/>
            </a:pPr>
            <a:r>
              <a:rPr sz="1300">
                <a:solidFill>
                  <a:srgbClr val="0C1408"/>
                </a:solidFill>
                <a:latin typeface="Arial"/>
              </a:rPr>
              <a:t>Incorporation: private limited company, registered office in Islamabad</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Agreement with Mashreq</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Product approval through Mashreq</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Connection to Mashreq’s account, direct debit mandate and payment interfaces, and the PSP</a:t>
            </a:r>
          </a:p>
          <a:p>
            <a:pPr marL="173736" indent="-173736">
              <a:lnSpc>
                <a:spcPct val="106000"/>
              </a:lnSpc>
              <a:spcAft>
                <a:spcPts val="1100"/>
              </a:spcAft>
              <a:buClr>
                <a:srgbClr val="D8602A"/>
              </a:buClr>
              <a:buSzPct val="70000"/>
              <a:buFont typeface="Arial"/>
              <a:buChar char="■"/>
            </a:pPr>
            <a:r>
              <a:rPr sz="1300">
                <a:solidFill>
                  <a:srgbClr val="0C1408"/>
                </a:solidFill>
                <a:latin typeface="Arial"/>
              </a:rPr>
              <a:t>Takaful or insurance operator and TASDEEQ reporting route</a:t>
            </a:r>
          </a:p>
        </p:txBody>
      </p:sp>
      <p:sp>
        <p:nvSpPr>
          <p:cNvPr id="12" name="Rectangle 11"/>
          <p:cNvSpPr/>
          <p:nvPr/>
        </p:nvSpPr>
        <p:spPr>
          <a:xfrm>
            <a:off x="548640" y="5577840"/>
            <a:ext cx="11094415" cy="566928"/>
          </a:xfrm>
          <a:prstGeom prst="rect">
            <a:avLst/>
          </a:prstGeom>
          <a:solidFill>
            <a:srgbClr val="F3F4F6"/>
          </a:solidFill>
          <a:ln>
            <a:noFill/>
          </a:ln>
        </p:spPr>
        <p:txBody>
          <a:bodyPr rtlCol="0" anchor="ctr" lIns="182880" tIns="137160" rIns="182880" bIns="137160" wrap="square"/>
          <a:lstStyle/>
          <a:p>
            <a:pPr>
              <a:lnSpc>
                <a:spcPct val="105000"/>
              </a:lnSpc>
            </a:pPr>
            <a:r>
              <a:rPr sz="1200" b="1">
                <a:solidFill>
                  <a:srgbClr val="0C1408"/>
                </a:solidFill>
                <a:latin typeface="Arial"/>
              </a:rPr>
              <a:t>No member money has moved:  </a:t>
            </a:r>
            <a:r>
              <a:rPr sz="1200">
                <a:solidFill>
                  <a:srgbClr val="0C1408"/>
                </a:solidFill>
                <a:latin typeface="Arial"/>
              </a:rPr>
              <a:t>every payment in the application today is a test record.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committee savings partnership with Mashreq Bank Pakistan</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