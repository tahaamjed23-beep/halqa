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Digital</c:v>
                </c:pt>
              </c:strCache>
            </c:strRef>
          </c:tx>
          <c:spPr>
            <a:solidFill>
              <a:srgbClr val="0C1408"/>
            </a:solidFill>
            <a:ln>
              <a:noFill/>
            </a:ln>
          </c:spPr>
          <c:invertIfNegative val="0"/>
          <c:cat>
            <c:strRef>
              <c:f>Sheet1!$A$2:$A$5</c:f>
              <c:strCache>
                <c:ptCount val="4"/>
                <c:pt idx="0">
                  <c:v>FY2023</c:v>
                </c:pt>
                <c:pt idx="1">
                  <c:v>FY2024</c:v>
                </c:pt>
                <c:pt idx="2">
                  <c:v>FY2025</c:v>
                </c:pt>
                <c:pt idx="3">
                  <c:v>Jan to Mar 2026</c:v>
                </c:pt>
              </c:strCache>
            </c:strRef>
          </c:cat>
          <c:val>
            <c:numRef>
              <c:f>Sheet1!$B$2:$B$5</c:f>
              <c:numCache>
                <c:formatCode>General</c:formatCode>
                <c:ptCount val="4"/>
                <c:pt idx="0">
                  <c:v>78</c:v>
                </c:pt>
                <c:pt idx="1">
                  <c:v>85</c:v>
                </c:pt>
                <c:pt idx="2">
                  <c:v>88</c:v>
                </c:pt>
                <c:pt idx="3">
                  <c:v>92</c:v>
                </c:pt>
              </c:numCache>
            </c:numRef>
          </c:val>
        </c:ser>
        <c:dLbls>
          <c:numFmt formatCode="0&quot;%&quot;" sourceLinked="0"/>
          <c:txPr>
            <a:bodyPr/>
            <a:lstStyle/>
            <a:p>
              <a:pPr>
                <a:defRPr sz="1250">
                  <a:solidFill>
                    <a:srgbClr val="0C1408"/>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1300"/>
            </a:pPr>
          </a:p>
        </c:txPr>
        <c:crossAx val="-2113994440"/>
        <c:crosses val="autoZero"/>
        <c:auto val="1"/>
        <c:lblAlgn val="ctr"/>
        <c:lblOffset val="100"/>
        <c:noMultiLvlLbl val="0"/>
      </c:catAx>
      <c:valAx>
        <c:axId val="-2113994440"/>
        <c:scaling>
          <c:max val="105.0"/>
        </c:scaling>
        <c:delete/>
        <c:axPos val="l"/>
        <c:majorTickMark val="out"/>
        <c:minorTickMark val="none"/>
        <c:tickLblPos val="nextTo"/>
        <c:crossAx val="-2068027336"/>
        <c:crosses val="autoZero"/>
      </c:valAx>
    </c:plotArea>
    <c:dispBlanksAs val="gap"/>
  </c:chart>
  <c:txPr>
    <a:bodyPr/>
    <a:lstStyle/>
    <a:p>
      <a:pPr>
        <a:defRPr sz="1300">
          <a:solidFill>
            <a:srgbClr val="0C140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thirty seconds. A committee, also called a kameti or BC, is how most Pakistani families save: a group pays in every month and one member takes the whole pot each month. Halqa runs committees in an application; Raqami holds and moves every rupee. In the next minutes: the proposal on one page, what a committee is, what Raqami gains, how it works, how the risk is controlled, the money, the competition, the evidence, the regulation, and a one month pilot with six decisions to start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proposal on one page, so that everything after it is detail.</a:t>
            </a:r>
          </a:p>
          <a:p/>
          <a:p>
            <a:r>
              <a:t>The habit: about four in ten Pakistanis save in committees, and almost all of it is cash, held by one organiser, outside any bank.</a:t>
            </a:r>
          </a:p>
          <a:p/>
          <a:p>
            <a:r>
              <a:t>The proposal: Halqa runs the circle in its application: the rules, the order of turns, the checks and the records. Every member has a Raqami account; the instalment is collected from it and the pot is paid into it. Halqa never holds the money.</a:t>
            </a:r>
          </a:p>
          <a:p/>
          <a:p>
            <a:r>
              <a:t>For Raqami: every circle brings six to twenty accounts at once; at Raqami’s own average deposit, 100,000 members mean about Rs 1.4 billion of deposits; and every instalment is a repayment record the bank can finance against.</a:t>
            </a:r>
          </a:p>
          <a:p/>
          <a:p>
            <a:r>
              <a:t>To start: a one month live pilot with about 1,000 members, after eight weeks of agreement, approvals and connection.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has never been in one. The grid is a circle of twelve people at Rs 10,000 a month. Every row is a member, every column a month. Everyone pays in every month; the dark square is the month that member takes the whole Rs 120,000.</a:t>
            </a:r>
          </a:p>
          <a:p/>
          <a:p>
            <a:r>
              <a:t>By the end, everyone has paid in Rs 120,000 and received Rs 120,000, with no interest. The member who collects first has in effect been given an interest free advance and pays it back over the year; the member who collects last has saved under a deadline the group enforces. The order is fixed at the start. Committees are also called kameti, BC or bisi. They work because the members know each other and the organiser, the host, admits each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size of the habit. The grid is one hundred Pakistanis. Karandaaz, a financial inclusion body, puts committee use at 34 per cent, the dark squares; Oraan’s research puts it at 41 per cent, adding the light squares. On the higher estimate that is close to 100 million people, and Oraan estimates about Rs 4 trillion a year passes through committees. These are estimates; there is no official count, which is itself part of the problem.</a:t>
            </a:r>
          </a:p>
          <a:p/>
          <a:p>
            <a:r>
              <a:t>A typical committee is small and monthly: digital versions run 3 to 12 members, and nine in ten are monthly. Women take part at about twice the rate of men, which matters for any bank with a target for women’s accounts.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goes wrong, as four small charts. The first, third and fourth are one hundred people each; the second is the committees in a single fraud.</a:t>
            </a:r>
          </a:p>
          <a:p/>
          <a:p>
            <a:r>
              <a:t>One person holds the cash: 12 per cent of committee users say they have lost money to an organiser or a member. In 2022 one organiser who ran committees through Facebook, more than 100 of them, defaulted on about Rs 420 million and kept no written records.</a:t>
            </a:r>
          </a:p>
          <a:p/>
          <a:p>
            <a:r>
              <a:t>The money stays outside banks: 63 per cent of savers keep their savings as cash at home and only 4 per cent use a formal institution. And nothing is recorded, so years of paying on time build no credit record at 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proposal is a division of work, drawn as the order of events in one month. Read it top to bottom.</a:t>
            </a:r>
          </a:p>
          <a:p/>
          <a:p>
            <a:r>
              <a:t>The member joins a circle in the Halqa application and gives a standing instruction. Halqa tells Raqami to collect on the due date, the 8th; Raqami takes Rs 10,000 from each member’s own account. Halqa tells Raqami who collects this month; Raqami pays the Rs 120,000 the same day and confirms, and the record updates.</a:t>
            </a:r>
          </a:p>
          <a:p/>
          <a:p>
            <a:r>
              <a:t>The thick lines are money. They run only between members and Raqami, never through Halqa. That matters twice: a company that holds public money is taking deposits, which only a bank may do, and a system like this needs State Bank regulation. Working inside Raqami’s licence answers both. Halqa is the system: the rules, the order, the checks and the records. Raqami is the machine: the accounts and the money. Every rupee stays inside Raqami, under State Bank regulation, and Halqa works as its service provider under the State Bank’s outsourcing framework.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Raqami gains, first: customers, in groups. A committee is joined through its host, the organiser, who invites people who already trust them. So one invitation brings a whole circle of six to twenty people, and each opens a Raqami account to take part. Acquisition cost is shared across the group.</a:t>
            </a:r>
          </a:p>
          <a:p/>
          <a:p>
            <a:r>
              <a:t>Then the loop: when a circle completes cleanly, some members host circles of their own. The small squares are an illustration only: if two of the twelve go on to host, that is twenty four more accounts without any marketing spend.</a:t>
            </a:r>
          </a:p>
          <a:p/>
          <a:p>
            <a:r>
              <a:t>This fits how Raqami already grows. In its own words, in its half year report: "The Bank is establishing strategic partnerships with key digital platforms to broaden customer outreach."</a:t>
            </a:r>
          </a:p>
          <a:p/>
          <a:p>
            <a:r>
              <a:t>Hosts are rewarded with points for circles that complete cleanly, never for recruiting, which would be a pyramid. Other channels: employers on Raqami’s payroll and collections platform offering circles to staff; seasonal circles for Ramadan, Qurbani, weddings and school fees; paid media only after the pilot shows completion rates.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Raqami gains, second: deposits. The calculation uses Raqami’s own average rather than an assumption of ours: Rs 1,581 m of deposits ÷ 114,452 accounts = about Rs 13,800 each, 30 June 2026.</a:t>
            </a:r>
          </a:p>
          <a:p/>
          <a:p>
            <a:r>
              <a:t>Raqami held Rs 1.58 billion of deposits at 30 June 2026, so 100,000 members at its own average of about Rs 13,800 would add about Rs 1.4 billion, close to doubling the book, and would nearly double its 114,452 accounts. Raqami’s stated aim is a million customers within three years; committees bring them in groups.</a:t>
            </a:r>
          </a:p>
          <a:p/>
          <a:p>
            <a:r>
              <a:t>On this basis 100,000 members add about Rs 1.38 billion and a million members about Rs 13.8 billion. Raqami’s own data on committee members replaces the average once the pilot runs.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Raqami gains, third: lending data. Every instalment, paid on time or late, becomes a record. From launch day it is reported to TASDEEQ, the licensed credit bureau, either through Raqami’s own membership or by Halqa as a data provider; Raqami decides which.</a:t>
            </a:r>
          </a:p>
          <a:p/>
          <a:p>
            <a:r>
              <a:t>The evidence that this matters comes from the United States: Mission Asset Fund runs rotating lending circles and reports every payment to the credit bureaus. An independent evaluation by San Francisco State University, of more than 600 participants over two years, found credit scores rose by 168 points on average.</a:t>
            </a:r>
          </a:p>
          <a:p/>
          <a:p>
            <a:r>
              <a:t>Raqami’s Islamic financing stood at Rs 27.6 million at 30 June 2026, and its own outlook names supply chain, auto and fleet financing next. Committee members come with twelve months of repayment behaviour, the data needed to finance them safely, beginning with ijarah for motorcycles and machines bought through asset circles.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as it runs today, in preview with sample data. One: a member joins a circle through an invitation and picks a turn from those open to them. Two: the instalment is collected automatically; the first attempt is on the member’s payday and, if salary is late, it is retried each morning, five times at most, before the 8th. Three: on their turn the whole pot arrives the same day. Four: every payment is recorded and reported, so committee payments finally count towards a credit record. Messages come on WhatsApp, in Roman Urdu first.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the product team: almost every step uses a product Raqami already has, drawn as one line through the life of a committee.</a:t>
            </a:r>
          </a:p>
          <a:p/>
          <a:p>
            <a:r>
              <a:t>The Asaan Digital Account opens inside the Halqa application on a CNIC and a registered mobile number, at once; the Full account follows for larger circles. Salary lands in the Mudarabah Savings Account. For the week between payday and the due date the instalment can sit in a 7 day Mudarabah Certificate, so even that week earns a share of real profit, returned to members at the end of the circle as points, one point for each rupee. The payout is a free Raqami transfer the same day. After the circle, savings can stay in Saving Pots. Members who earn in cash, such as market traders, deposit it free at more than 700 Askari Bank branches.</a:t>
            </a:r>
          </a:p>
          <a:p/>
          <a:p>
            <a:r>
              <a:t>The dashed branch is new: a standing instruction for automatic debit on the 8th, built on Raqami’s open API, since the public product pages list no recurring debit today; committee takaful with EFU, which already covers Raqami’s cards; and ijarah financing for motorcycles and machines, which fits Raqami’s planned auto financing.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gets in, lane by lane, and who does each check. After signup, Raqami opens the account with its own checks: a valid CNIC and the registered mobile number; the Asaan Digital Account opens on successful verification and the Full account after document review. Raqami onboards residents aged 18 and over, which matches Halqa, since only adults can contract. Then four Halqa checks run on top.</a:t>
            </a:r>
          </a:p>
          <a:p/>
          <a:p>
            <a:r>
              <a:t>Identity: the names on the CNIC, the bank account and the application must match, 0.90 or more passes and 0.80 to 0.90 goes to a person; a live face match; home against the declared address; the declared job against the income seen.</a:t>
            </a:r>
          </a:p>
          <a:p/>
          <a:p>
            <a:r>
              <a:t>Income: the account the income arrives in; salary from one employer on about the same day each month, or for daily circles Rs 1,000 or more on five days a week for eight weeks. Transfers from the member’s own accounts and loans do not count. It learns the payday, so the debit lands when the money is there.</a:t>
            </a:r>
          </a:p>
          <a:p/>
          <a:p>
            <a:r>
              <a:t>Affordability: all instalments within a third of verified income, and within 40 per cent with other loans, the limit the State Bank uses for consumer finance.</a:t>
            </a:r>
          </a:p>
          <a:p/>
          <a:p>
            <a:r>
              <a:t>Score: Halqa’s credit score, 300 to 850, which decides which turns a member may take. The member only ever sees the circles and turns open to them. Halqa stores results, never face images, card numbers or passwords.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kinds of circle and what each asks of its members. Known circles, between family, colleagues or neighbours, including the weekly bazaar committee, need only identity checks, because the group itself knows its members. Circles between strangers need the income check, automatic debit, takaful cover and a credit report; the large ones are the committees in lakhs. Asset circles buy a motorcycle or machine with Raqami financing. Circles for families overseas follow once Raqami opens accounts to non residents; today it onboards residents only.</a:t>
            </a:r>
          </a:p>
          <a:p/>
          <a:p>
            <a:r>
              <a:t>Hyper is a daily circle of 390 to 400 members, run as an experiment. A member pays Rs 450 a day: Rs 300 goes into the pot, Rs 135 to cover and Rs 15 is the fee; the second design is Rs 500 a day with Rs 333.33 to the pot, Rs 151.67 to cover and a Rs 15 fee. Pots are Rs 15,000 and Rs 8,666.67.</a:t>
            </a:r>
          </a:p>
          <a:p/>
          <a:p>
            <a:r>
              <a:t>In every kind the early turns must be earned: a new member starts in the last turns until two circles have completed cleanly.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question every banker asks first, so risk gets three slides.</a:t>
            </a:r>
          </a:p>
          <a:p/>
          <a:p>
            <a:r>
              <a:t>The chart is the whole risk in one picture. On a circle of twelve at Rs 10,000, the member who collects in turn one still owes Rs 110,000; the member in turn twelve owes nothing, because they have already paid everything in. Risk exists only where someone collects before they have paid.</a:t>
            </a:r>
          </a:p>
          <a:p/>
          <a:p>
            <a:r>
              <a:t>So the early turns are closed to weak scores. Turns one to six need 650 or more on Halqa’s 300 to 850 scale, turns seven to nine need 550, and the last three are open to anyone. Every new member starts in the last three turns until two circles have completed cleanly, so a stranger can never take the first pot. A member may hold at most six circles at once and one daily circle. These bands are mandatory, with no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checkpoints run in time, top row.</a:t>
            </a:r>
          </a:p>
          <a:p/>
          <a:p>
            <a:r>
              <a:t>Before joining: the identity, income and affordability checks and the score, and the host admits each member.</a:t>
            </a:r>
          </a:p>
          <a:p/>
          <a:p>
            <a:r>
              <a:t>At joining: every rupee the member will owe is shown before they sign; there are 24 hours to withdraw at no cost; the member signs a ten clause undertaking and a mutual guarantee with the other members, and the standing instruction.</a:t>
            </a:r>
          </a:p>
          <a:p/>
          <a:p>
            <a:r>
              <a:t>Each instalment, bottom row: a reminder the evening before, then the first debit on the member’s payday, which Halqa learns from the account; if the salary is late, one retry each morning, five attempts at most. The due date is the 8th. Only after that do late charges start: 2, 5 and 10 per cent of the instalment as the delay grows, with score falls of 10, 20 and 40, within what the Contract Act allows; every late charge goes to charity and never becomes income, as Islamic finance requires.</a:t>
            </a:r>
          </a:p>
          <a:p/>
          <a:p>
            <a:r>
              <a:t>A missed payment before collecting costs the other members nothing: the arrears are taken out of that member’s own pot on their turn. A daily circle stops opening new days once losses would exceed its cover.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A member who misses before collecting costs the others nothing, because the arrears come out of their own pot. So recovery only matters for someone who has already collected and then stops paying; the worst case is turn one on a circle of twelve at Rs 10,000, with Rs 110,000 still owed.</a:t>
            </a:r>
          </a:p>
          <a:p/>
          <a:p>
            <a:r>
              <a:t>The bottom lane is that member; the line thickens as the steps escalate, and each step is used only if the one before fails. One, contact: most cases end with a hardship statement, a waived charge and a new date. Two, the account is restricted and the score falls by 200. Three, the takaful pays the members left short, in their own names: that is the top lane, and they are made whole while recovery continues. Four, the mutual guarantee: the whole balance falls due. Five, an ordinary civil suit on the signed undertaking. Six, only where a guarantee cheque is held, a summary suit on it; nothing more is ever claimed.</a:t>
            </a:r>
          </a:p>
          <a:p/>
          <a:p>
            <a:r>
              <a:t>The takaful is priced for a severe stress case, one circle in five losing a fifth of its members from the earliest turns: about 5.5 per cent of the instalment on a circle between strangers. Raqami chooses the takaful operator, EFU window takaful being its existing partner. What Halqa never does: call relatives, read contact lists or publish names. That is how the banned loan applications worked.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moves and how Halqa earns. Left: one instalment on a circle between strangers, drawn to scale. The member pays Rs 11,047: Rs 10,000 goes to whoever is collecting, Rs 547 is the takaful, and up to Rs 500 is the service fee. Raqami collects the service fee as its own income and pays Halqa an agreed share, and the income on both sides is used to keep the member’s cost as low as possible. Halqa’s revenue is a share of what Raqami earns, never money held.</a:t>
            </a:r>
          </a:p>
          <a:p/>
          <a:p>
            <a:r>
              <a:t>Right: Halqa’s own economics from its 25 September model, before Raqami’s terms. Fixed costs are about Rs 1.32 million a month; each active member contributes about Rs 510 a month after running costs; so Halqa covers its costs at about 2,600 members, 2,572 in the model. Running one payment costs Rs 13 to 35, mostly messages and checks. Revenue lines now: the fee share and an agreed share of Raqami’s income on committee balances. After the pilot: referral fees on asset financing, 2 to 4 per cent from the financier and 1 to 3 from the dealer, and a merchant commission when members spend points, one point per rupee. Points for paying on time never exceed half of Halqa’s own fee. Later, employer programmes.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bank decides through its teams: business, risk, compliance, technology, finance and, for an Islamic product, Shariah. This slide gives each of them the one answer they will look for, and the slides where the detail is.</a:t>
            </a:r>
          </a:p>
          <a:p/>
          <a:p>
            <a:r>
              <a:t>Business wants customers and deposits: circles of six to twenty accounts at once, about Rs 1.4 billion per 100,000 members at Raqami’s own average. Risk wants to know what happens when members stop: early turns only for proven members, arrears taken from the member’s own pot, and takaful paying the others first. Compliance wants to know who holds money and who is regulated: Raqami holds every rupee, and Halqa is assessed as its service provider under the State Bank’s outsourcing framework, with audit rights for the bank and the State Bank. Technology wants the scope: account opening, the standing instruction, payments and a daily reconciliation of every entry. Finance wants the economics: the bank keeps the fee and shares it, earns on balances and gains a financing book. And the Shariah side wants the structure: no interest, a flat fee, late charges to charity and takaful as cover.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by side, scored full, half or empty. The last row is honest about reach: that is where Raqami and the hosts come in.</a:t>
            </a:r>
          </a:p>
          <a:p/>
          <a:p>
            <a:r>
              <a:t>Oraan, the closest competitor, holds members’ money in its own company accounts, keeps the return earned on it, charges the first turn up to 21 per cent of the instalment every month, about 54 per cent a year, pays out net between the 11th and the 18th, carries defaults on its own balance sheet and reports only defaulters to the bureau. It markets its committees as Shariah compliant on the certificate of a private advisory firm.</a:t>
            </a:r>
          </a:p>
          <a:p/>
          <a:p>
            <a:r>
              <a:t>JazzCash launched a committee feature in August 2026. It rotates, but the pot collects in the organiser’s wallet and the organiser pays out by hand; members are chosen from phone contacts, there is no way out before the end and no credit record; fees and default handling are not published. Its advantage is reach: 60 million registered customers, 29 million active in a quarter.</a:t>
            </a:r>
          </a:p>
          <a:p/>
          <a:p>
            <a:r>
              <a:t>The informal committee usually has no fee, but everything rests on the organiser. Halqa with Raqami is the only version where a bank holds the money, every turn pays the same fee and every payment builds a credit record.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examples from abroad; each line starts in the year the company started.</a:t>
            </a:r>
          </a:p>
          <a:p/>
          <a:p>
            <a:r>
              <a:t>Money Fellows in Egypt, founded 2016: more than 8 million users, US$1.5 billion of payments, more than 2 million completed circles, and profitable. It entered the Central Bank of Egypt’s sandbox and runs a prepaid card with Banque Misr.</a:t>
            </a:r>
          </a:p>
          <a:p/>
          <a:p>
            <a:r>
              <a:t>Hakbah in Saudi Arabia, founded 2018, launched in 2020 only after a permit under the Saudi central bank’s sandbox; more than 2 million registered users by February 2026, as the kingdom prepares a national savings strategy.</a:t>
            </a:r>
          </a:p>
          <a:p/>
          <a:p>
            <a:r>
              <a:t>Esusu in the United States, founded 2018, took the same idea into rent: it reports on-time payments to the credit bureaus, and was valued at US$1.2 billion in December 2025, covering 12 million people.</a:t>
            </a:r>
          </a:p>
          <a:p/>
          <a:p>
            <a:r>
              <a:t>The thread: each grew by working inside the formal system, a regulator, a bank or the bureaus. That is the sequence proposed with Raqami.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now. Pakistan moved to digital payments fast: 78 per cent of retail payments were digital in FY2023, 92 per cent by January to March 2026, when banking apps handled about 2.9 billion payments and Raast 742 million. Savings did not follow: the committee is still cash.</a:t>
            </a:r>
          </a:p>
          <a:p/>
          <a:p>
            <a:r>
              <a:t>And the market is moving. JazzCash, with 60 million registered customers, launched a committee feature in August 2026. The first bank to offer a committee held safely, with a credit record, sets the standard.</a:t>
            </a:r>
          </a:p>
          <a:p/>
          <a:p>
            <a:r>
              <a:t>The Constitution now requires riba to be eliminated before 1 January 2028. People who have always chosen the committee because it carries no interest are the natural customers of an Islamic digital bank. The State Bank’s strategy targets 75 per cent of adults with an account by 2028, from 64 per cent in 2023, and a smaller gender gap; committee members, more of them women than men, are exactly that group.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Regulation, plainly: a system that runs committees with members’ money needs State Bank regulation. The nesting shows how it is met. Raqami’s licence covers the accounts and the payments. Halqa is assessed as Raqami’s service provider under the State Bank’s framework for outsourcing, with audit rights for Raqami and the State Bank. The product itself goes to the State Bank through Raqami, for approval or notice as the State Bank requires. Every structure also goes to Raqami’s Shariah Board before launch, and anything the Board cannot approve is not offered through Raqami.</a:t>
            </a:r>
          </a:p>
          <a:p/>
          <a:p>
            <a:r>
              <a:t>The quotation on the right is from the State Bank’s own statement of what digital banks were licensed for: affordable, cost effective digital financial services, especially to the unserved and underserved. Committee members, more of them women than men and many without a bank account, are that group.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stand, honestly. Built: the application, running in preview with sample data, with its checks for identity, income, affordability and score, and payday collection with retries. Written: a legal position checked against twelve laws and regulations, six risk and pricing models, and the default prevention and recovery design.</a:t>
            </a:r>
          </a:p>
          <a:p/>
          <a:p>
            <a:r>
              <a:t>Next: the company is incorporated before any agreement, with its registered office in Islamabad; the agreement with Raqami and the path to the State Bank through Raqami; then the connection to Raqami’s interfaces for accounts, standing instructions and payments, and testing. No member money has moved: every payment in the application today is a test record.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pilot. About eight weeks before it goes live: the agreement and incorporation, the State Bank and Shariah approvals through Raqami, and the technical connection with testing.</a:t>
            </a:r>
          </a:p>
          <a:p/>
          <a:p>
            <a:r>
              <a:t>Then one month live with about 1,000 members in circles between people who know each other, up to 100 circles. In that month every circle makes its first collection and its first payout, which tests the whole machine: account opening, standing instructions, the debit on payday, the payout, the messages and the complaints handling.</a:t>
            </a:r>
          </a:p>
          <a:p/>
          <a:p>
            <a:r>
              <a:t>Pass marks are proposed now so that the decision to scale is not a matter of opinion: 95 per cent of instalments collected on time, every pot paid out the same day, and fewer than one member in a hundred with a complaint still open after a week. The numbers are for Raqami to confirm. The circles themselves continue their full cycle under close watch.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decisions start it. One: the partnership itself, with Halqa assessed as Raqami’s service provider. Two: taking the product to the State Bank for approval or notice. Three: the Shariah Board’s approval of the committee structure, the flat service fee, the charity destination of late charges and the points, with takaful through EFU window takaful or another operator Raqami chooses. Four: account opening and standing instructions inside the Halqa application. Five: 7 day Mudarabah Certificates to hold instalments between payday and the 8th, with the profit returned to members as points at the end of the circle. Six: the income share and the one month pilot.</a:t>
            </a:r>
          </a:p>
          <a:p/>
          <a:p>
            <a:r>
              <a:t>Credit reporting through Raqami’s TASDEEQ membership, asset financing and circles for families overseas follow the pilot.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Committees are the savings habit Pakistan already has. Halqa runs them; Raqami holds and moves the money under the State Bank’s regulation. Members get safety, one fair fee and a credit record; Raqami gets customers in groups, deposits and a financing book. A detailed reference covers the law, the product, the economics and the evidence for any team that wants to examine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863840" y="0"/>
            <a:ext cx="4327855" cy="6858000"/>
          </a:xfrm>
          <a:prstGeom prst="rect">
            <a:avLst/>
          </a:prstGeom>
          <a:solidFill>
            <a:srgbClr val="6DC72A"/>
          </a:solidFill>
          <a:ln>
            <a:noFill/>
          </a:ln>
        </p:spPr>
        <p:txBody>
          <a:bodyPr rtlCol="0" anchor="ctr"/>
          <a:lstStyle/>
          <a:p>
            <a:pPr algn="ctr"/>
          </a:p>
        </p:txBody>
      </p:sp>
      <p:pic>
        <p:nvPicPr>
          <p:cNvPr id="3" name="Picture 2" descr="phone-home-full.png"/>
          <p:cNvPicPr>
            <a:picLocks noChangeAspect="1"/>
          </p:cNvPicPr>
          <p:nvPr/>
        </p:nvPicPr>
        <p:blipFill>
          <a:blip r:embed="rId2"/>
          <a:stretch>
            <a:fillRect/>
          </a:stretch>
        </p:blipFill>
        <p:spPr>
          <a:xfrm>
            <a:off x="8634213" y="502920"/>
            <a:ext cx="2787111" cy="5852160"/>
          </a:xfrm>
          <a:prstGeom prst="rect">
            <a:avLst/>
          </a:prstGeom>
        </p:spPr>
      </p:pic>
      <p:pic>
        <p:nvPicPr>
          <p:cNvPr id="4" name="Picture 3" descr="lockup-520.png"/>
          <p:cNvPicPr>
            <a:picLocks noChangeAspect="1"/>
          </p:cNvPicPr>
          <p:nvPr/>
        </p:nvPicPr>
        <p:blipFill>
          <a:blip r:embed="rId3"/>
          <a:stretch>
            <a:fillRect/>
          </a:stretch>
        </p:blipFill>
        <p:spPr>
          <a:xfrm>
            <a:off x="640080" y="731520"/>
            <a:ext cx="1805651" cy="548640"/>
          </a:xfrm>
          <a:prstGeom prst="rect">
            <a:avLst/>
          </a:prstGeom>
        </p:spPr>
      </p:pic>
      <p:cxnSp>
        <p:nvCxnSpPr>
          <p:cNvPr id="5" name="Connector 4"/>
          <p:cNvCxnSpPr/>
          <p:nvPr/>
        </p:nvCxnSpPr>
        <p:spPr>
          <a:xfrm>
            <a:off x="2765771" y="566928"/>
            <a:ext cx="0" cy="868680"/>
          </a:xfrm>
          <a:prstGeom prst="line">
            <a:avLst/>
          </a:prstGeom>
          <a:ln w="12700">
            <a:solidFill>
              <a:srgbClr val="A9B4A3"/>
            </a:solidFill>
          </a:ln>
        </p:spPr>
      </p:cxnSp>
      <p:pic>
        <p:nvPicPr>
          <p:cNvPr id="6" name="Picture 5" descr="raqami-logo-colour.png"/>
          <p:cNvPicPr>
            <a:picLocks noChangeAspect="1"/>
          </p:cNvPicPr>
          <p:nvPr/>
        </p:nvPicPr>
        <p:blipFill>
          <a:blip r:embed="rId4"/>
          <a:stretch>
            <a:fillRect/>
          </a:stretch>
        </p:blipFill>
        <p:spPr>
          <a:xfrm>
            <a:off x="3085811" y="603504"/>
            <a:ext cx="2397218" cy="932688"/>
          </a:xfrm>
          <a:prstGeom prst="rect">
            <a:avLst/>
          </a:prstGeom>
        </p:spPr>
      </p:pic>
      <p:sp>
        <p:nvSpPr>
          <p:cNvPr id="7" name="TextBox 6"/>
          <p:cNvSpPr txBox="1"/>
          <p:nvPr/>
        </p:nvSpPr>
        <p:spPr>
          <a:xfrm>
            <a:off x="640080" y="2194560"/>
            <a:ext cx="6949440" cy="1645920"/>
          </a:xfrm>
          <a:prstGeom prst="rect">
            <a:avLst/>
          </a:prstGeom>
          <a:noFill/>
        </p:spPr>
        <p:txBody>
          <a:bodyPr wrap="square" lIns="0" tIns="0" rIns="0" bIns="0">
            <a:spAutoFit/>
          </a:bodyPr>
          <a:lstStyle/>
          <a:p>
            <a:pPr>
              <a:lnSpc>
                <a:spcPct val="98000"/>
              </a:lnSpc>
            </a:pPr>
            <a:r>
              <a:rPr sz="4000">
                <a:solidFill>
                  <a:srgbClr val="0C1408"/>
                </a:solidFill>
                <a:latin typeface="Georgia"/>
              </a:rPr>
              <a:t>Pakistan’s committees, held and moved by Raqami</a:t>
            </a:r>
          </a:p>
        </p:txBody>
      </p:sp>
      <p:sp>
        <p:nvSpPr>
          <p:cNvPr id="8" name="TextBox 7"/>
          <p:cNvSpPr txBox="1"/>
          <p:nvPr/>
        </p:nvSpPr>
        <p:spPr>
          <a:xfrm>
            <a:off x="640080" y="3977640"/>
            <a:ext cx="6766560" cy="457200"/>
          </a:xfrm>
          <a:prstGeom prst="rect">
            <a:avLst/>
          </a:prstGeom>
          <a:noFill/>
        </p:spPr>
        <p:txBody>
          <a:bodyPr wrap="square" lIns="0" tIns="0" rIns="0" bIns="0">
            <a:spAutoFit/>
          </a:bodyPr>
          <a:lstStyle/>
          <a:p>
            <a:pPr>
              <a:lnSpc>
                <a:spcPct val="105000"/>
              </a:lnSpc>
            </a:pPr>
            <a:r>
              <a:rPr sz="2000">
                <a:solidFill>
                  <a:srgbClr val="41801A"/>
                </a:solidFill>
                <a:latin typeface="Arial"/>
              </a:rPr>
              <a:t>A partnership proposal from Halqa</a:t>
            </a:r>
          </a:p>
        </p:txBody>
      </p:sp>
      <p:sp>
        <p:nvSpPr>
          <p:cNvPr id="9" name="TextBox 8"/>
          <p:cNvSpPr txBox="1"/>
          <p:nvPr/>
        </p:nvSpPr>
        <p:spPr>
          <a:xfrm>
            <a:off x="640080" y="5486400"/>
            <a:ext cx="5486400" cy="320040"/>
          </a:xfrm>
          <a:prstGeom prst="rect">
            <a:avLst/>
          </a:prstGeom>
          <a:noFill/>
        </p:spPr>
        <p:txBody>
          <a:bodyPr wrap="square" lIns="0" tIns="0" rIns="0" bIns="0">
            <a:spAutoFit/>
          </a:bodyPr>
          <a:lstStyle/>
          <a:p>
            <a:pPr>
              <a:lnSpc>
                <a:spcPct val="105000"/>
              </a:lnSpc>
            </a:pPr>
            <a:r>
              <a:rPr sz="1400" b="1">
                <a:solidFill>
                  <a:srgbClr val="0C1408"/>
                </a:solidFill>
                <a:latin typeface="Arial"/>
              </a:rPr>
              <a:t>Taha Kayani, Chairman, Halqa</a:t>
            </a:r>
          </a:p>
        </p:txBody>
      </p:sp>
      <p:sp>
        <p:nvSpPr>
          <p:cNvPr id="10" name="TextBox 9"/>
          <p:cNvSpPr txBox="1"/>
          <p:nvPr/>
        </p:nvSpPr>
        <p:spPr>
          <a:xfrm>
            <a:off x="640080" y="5833872"/>
            <a:ext cx="5486400" cy="274320"/>
          </a:xfrm>
          <a:prstGeom prst="rect">
            <a:avLst/>
          </a:prstGeom>
          <a:noFill/>
        </p:spPr>
        <p:txBody>
          <a:bodyPr wrap="square" lIns="0" tIns="0" rIns="0" bIns="0">
            <a:spAutoFit/>
          </a:bodyPr>
          <a:lstStyle/>
          <a:p>
            <a:pPr>
              <a:lnSpc>
                <a:spcPct val="105000"/>
              </a:lnSpc>
            </a:pPr>
            <a:r>
              <a:rPr sz="1200">
                <a:solidFill>
                  <a:srgbClr val="5F6B58"/>
                </a:solidFill>
                <a:latin typeface="Arial"/>
              </a:rPr>
              <a:t>29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Halqa runs Pakistan’s committees; Raqami holds every rupee and gains the customers.</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2</a:t>
            </a:r>
          </a:p>
        </p:txBody>
      </p:sp>
      <p:cxnSp>
        <p:nvCxnSpPr>
          <p:cNvPr id="5" name="Connector 4"/>
          <p:cNvCxnSpPr/>
          <p:nvPr/>
        </p:nvCxnSpPr>
        <p:spPr>
          <a:xfrm>
            <a:off x="640080" y="1783080"/>
            <a:ext cx="10911535" cy="0"/>
          </a:xfrm>
          <a:prstGeom prst="line">
            <a:avLst/>
          </a:prstGeom>
          <a:ln w="15875">
            <a:solidFill>
              <a:srgbClr val="41801A"/>
            </a:solidFill>
          </a:ln>
        </p:spPr>
      </p:cxnSp>
      <p:sp>
        <p:nvSpPr>
          <p:cNvPr id="6" name="TextBox 5"/>
          <p:cNvSpPr txBox="1"/>
          <p:nvPr/>
        </p:nvSpPr>
        <p:spPr>
          <a:xfrm>
            <a:off x="640080" y="1783080"/>
            <a:ext cx="2377440" cy="987552"/>
          </a:xfrm>
          <a:prstGeom prst="rect">
            <a:avLst/>
          </a:prstGeom>
          <a:noFill/>
        </p:spPr>
        <p:txBody>
          <a:bodyPr wrap="square" lIns="0" tIns="0" rIns="0" bIns="0" anchor="ctr">
            <a:spAutoFit/>
          </a:bodyPr>
          <a:lstStyle/>
          <a:p>
            <a:pPr>
              <a:lnSpc>
                <a:spcPct val="105000"/>
              </a:lnSpc>
            </a:pPr>
            <a:r>
              <a:rPr sz="1700" b="1">
                <a:solidFill>
                  <a:srgbClr val="41801A"/>
                </a:solidFill>
                <a:latin typeface="Arial"/>
              </a:rPr>
              <a:t>The habit</a:t>
            </a:r>
          </a:p>
        </p:txBody>
      </p:sp>
      <p:sp>
        <p:nvSpPr>
          <p:cNvPr id="7" name="TextBox 6"/>
          <p:cNvSpPr txBox="1"/>
          <p:nvPr/>
        </p:nvSpPr>
        <p:spPr>
          <a:xfrm>
            <a:off x="3154680" y="1783080"/>
            <a:ext cx="8396935" cy="987552"/>
          </a:xfrm>
          <a:prstGeom prst="rect">
            <a:avLst/>
          </a:prstGeom>
          <a:noFill/>
        </p:spPr>
        <p:txBody>
          <a:bodyPr wrap="square" lIns="0" tIns="0" rIns="0" bIns="0" anchor="ctr">
            <a:spAutoFit/>
          </a:bodyPr>
          <a:lstStyle/>
          <a:p>
            <a:pPr>
              <a:lnSpc>
                <a:spcPct val="106000"/>
              </a:lnSpc>
            </a:pPr>
            <a:r>
              <a:rPr sz="2000">
                <a:solidFill>
                  <a:srgbClr val="0C1408"/>
                </a:solidFill>
                <a:latin typeface="Arial"/>
              </a:rPr>
              <a:t>4 in 10 Pakistanis save in committees, in cash.</a:t>
            </a:r>
          </a:p>
        </p:txBody>
      </p:sp>
      <p:cxnSp>
        <p:nvCxnSpPr>
          <p:cNvPr id="8" name="Connector 7"/>
          <p:cNvCxnSpPr/>
          <p:nvPr/>
        </p:nvCxnSpPr>
        <p:spPr>
          <a:xfrm>
            <a:off x="640080" y="2770632"/>
            <a:ext cx="10911535" cy="0"/>
          </a:xfrm>
          <a:prstGeom prst="line">
            <a:avLst/>
          </a:prstGeom>
          <a:ln w="9525">
            <a:solidFill>
              <a:srgbClr val="CFD8C6"/>
            </a:solidFill>
          </a:ln>
        </p:spPr>
      </p:cxnSp>
      <p:sp>
        <p:nvSpPr>
          <p:cNvPr id="9" name="TextBox 8"/>
          <p:cNvSpPr txBox="1"/>
          <p:nvPr/>
        </p:nvSpPr>
        <p:spPr>
          <a:xfrm>
            <a:off x="640080" y="2770632"/>
            <a:ext cx="2377440" cy="987552"/>
          </a:xfrm>
          <a:prstGeom prst="rect">
            <a:avLst/>
          </a:prstGeom>
          <a:noFill/>
        </p:spPr>
        <p:txBody>
          <a:bodyPr wrap="square" lIns="0" tIns="0" rIns="0" bIns="0" anchor="ctr">
            <a:spAutoFit/>
          </a:bodyPr>
          <a:lstStyle/>
          <a:p>
            <a:pPr>
              <a:lnSpc>
                <a:spcPct val="105000"/>
              </a:lnSpc>
            </a:pPr>
            <a:r>
              <a:rPr sz="1700" b="1">
                <a:solidFill>
                  <a:srgbClr val="41801A"/>
                </a:solidFill>
                <a:latin typeface="Arial"/>
              </a:rPr>
              <a:t>The proposal</a:t>
            </a:r>
          </a:p>
        </p:txBody>
      </p:sp>
      <p:sp>
        <p:nvSpPr>
          <p:cNvPr id="10" name="TextBox 9"/>
          <p:cNvSpPr txBox="1"/>
          <p:nvPr/>
        </p:nvSpPr>
        <p:spPr>
          <a:xfrm>
            <a:off x="3154680" y="2770632"/>
            <a:ext cx="8396935" cy="987552"/>
          </a:xfrm>
          <a:prstGeom prst="rect">
            <a:avLst/>
          </a:prstGeom>
          <a:noFill/>
        </p:spPr>
        <p:txBody>
          <a:bodyPr wrap="square" lIns="0" tIns="0" rIns="0" bIns="0" anchor="ctr">
            <a:spAutoFit/>
          </a:bodyPr>
          <a:lstStyle/>
          <a:p>
            <a:pPr>
              <a:lnSpc>
                <a:spcPct val="106000"/>
              </a:lnSpc>
            </a:pPr>
            <a:r>
              <a:rPr sz="2000">
                <a:solidFill>
                  <a:srgbClr val="0C1408"/>
                </a:solidFill>
                <a:latin typeface="Arial"/>
              </a:rPr>
              <a:t>Halqa runs each circle; members pay and collect through Raqami accounts.</a:t>
            </a:r>
          </a:p>
        </p:txBody>
      </p:sp>
      <p:cxnSp>
        <p:nvCxnSpPr>
          <p:cNvPr id="11" name="Connector 10"/>
          <p:cNvCxnSpPr/>
          <p:nvPr/>
        </p:nvCxnSpPr>
        <p:spPr>
          <a:xfrm>
            <a:off x="640080" y="3758184"/>
            <a:ext cx="10911535" cy="0"/>
          </a:xfrm>
          <a:prstGeom prst="line">
            <a:avLst/>
          </a:prstGeom>
          <a:ln w="9525">
            <a:solidFill>
              <a:srgbClr val="CFD8C6"/>
            </a:solidFill>
          </a:ln>
        </p:spPr>
      </p:cxnSp>
      <p:sp>
        <p:nvSpPr>
          <p:cNvPr id="12" name="TextBox 11"/>
          <p:cNvSpPr txBox="1"/>
          <p:nvPr/>
        </p:nvSpPr>
        <p:spPr>
          <a:xfrm>
            <a:off x="640080" y="3758184"/>
            <a:ext cx="2377440" cy="987552"/>
          </a:xfrm>
          <a:prstGeom prst="rect">
            <a:avLst/>
          </a:prstGeom>
          <a:noFill/>
        </p:spPr>
        <p:txBody>
          <a:bodyPr wrap="square" lIns="0" tIns="0" rIns="0" bIns="0" anchor="ctr">
            <a:spAutoFit/>
          </a:bodyPr>
          <a:lstStyle/>
          <a:p>
            <a:pPr>
              <a:lnSpc>
                <a:spcPct val="105000"/>
              </a:lnSpc>
            </a:pPr>
            <a:r>
              <a:rPr sz="1700" b="1">
                <a:solidFill>
                  <a:srgbClr val="573F99"/>
                </a:solidFill>
                <a:latin typeface="Arial"/>
              </a:rPr>
              <a:t>For Raqami</a:t>
            </a:r>
          </a:p>
        </p:txBody>
      </p:sp>
      <p:sp>
        <p:nvSpPr>
          <p:cNvPr id="13" name="TextBox 12"/>
          <p:cNvSpPr txBox="1"/>
          <p:nvPr/>
        </p:nvSpPr>
        <p:spPr>
          <a:xfrm>
            <a:off x="3154680" y="3758184"/>
            <a:ext cx="8396935" cy="987552"/>
          </a:xfrm>
          <a:prstGeom prst="rect">
            <a:avLst/>
          </a:prstGeom>
          <a:noFill/>
        </p:spPr>
        <p:txBody>
          <a:bodyPr wrap="square" lIns="0" tIns="0" rIns="0" bIns="0" anchor="ctr">
            <a:spAutoFit/>
          </a:bodyPr>
          <a:lstStyle/>
          <a:p>
            <a:pPr>
              <a:lnSpc>
                <a:spcPct val="106000"/>
              </a:lnSpc>
            </a:pPr>
            <a:r>
              <a:rPr sz="2000" b="1">
                <a:solidFill>
                  <a:srgbClr val="0C1408"/>
                </a:solidFill>
                <a:latin typeface="Arial"/>
              </a:rPr>
              <a:t>6 to 20 accounts</a:t>
            </a:r>
            <a:r>
              <a:rPr sz="2000">
                <a:solidFill>
                  <a:srgbClr val="0C1408"/>
                </a:solidFill>
                <a:latin typeface="Arial"/>
              </a:rPr>
              <a:t> a circle;  </a:t>
            </a:r>
            <a:r>
              <a:rPr sz="2000" b="1">
                <a:solidFill>
                  <a:srgbClr val="0C1408"/>
                </a:solidFill>
                <a:latin typeface="Arial"/>
              </a:rPr>
              <a:t>Rs 1.4 billion</a:t>
            </a:r>
            <a:r>
              <a:rPr sz="2000">
                <a:solidFill>
                  <a:srgbClr val="0C1408"/>
                </a:solidFill>
                <a:latin typeface="Arial"/>
              </a:rPr>
              <a:t> of deposits per 100,000 members;  a </a:t>
            </a:r>
            <a:r>
              <a:rPr sz="2000" b="1">
                <a:solidFill>
                  <a:srgbClr val="0C1408"/>
                </a:solidFill>
                <a:latin typeface="Arial"/>
              </a:rPr>
              <a:t>repayment record</a:t>
            </a:r>
            <a:r>
              <a:rPr sz="2000">
                <a:solidFill>
                  <a:srgbClr val="0C1408"/>
                </a:solidFill>
                <a:latin typeface="Arial"/>
              </a:rPr>
              <a:t> on each member.</a:t>
            </a:r>
          </a:p>
        </p:txBody>
      </p:sp>
      <p:cxnSp>
        <p:nvCxnSpPr>
          <p:cNvPr id="14" name="Connector 13"/>
          <p:cNvCxnSpPr/>
          <p:nvPr/>
        </p:nvCxnSpPr>
        <p:spPr>
          <a:xfrm>
            <a:off x="640080" y="4745736"/>
            <a:ext cx="10911535" cy="0"/>
          </a:xfrm>
          <a:prstGeom prst="line">
            <a:avLst/>
          </a:prstGeom>
          <a:ln w="9525">
            <a:solidFill>
              <a:srgbClr val="CFD8C6"/>
            </a:solidFill>
          </a:ln>
        </p:spPr>
      </p:cxnSp>
      <p:sp>
        <p:nvSpPr>
          <p:cNvPr id="15" name="TextBox 14"/>
          <p:cNvSpPr txBox="1"/>
          <p:nvPr/>
        </p:nvSpPr>
        <p:spPr>
          <a:xfrm>
            <a:off x="640080" y="4745736"/>
            <a:ext cx="2377440" cy="987552"/>
          </a:xfrm>
          <a:prstGeom prst="rect">
            <a:avLst/>
          </a:prstGeom>
          <a:noFill/>
        </p:spPr>
        <p:txBody>
          <a:bodyPr wrap="square" lIns="0" tIns="0" rIns="0" bIns="0" anchor="ctr">
            <a:spAutoFit/>
          </a:bodyPr>
          <a:lstStyle/>
          <a:p>
            <a:pPr>
              <a:lnSpc>
                <a:spcPct val="105000"/>
              </a:lnSpc>
            </a:pPr>
            <a:r>
              <a:rPr sz="1700" b="1">
                <a:solidFill>
                  <a:srgbClr val="41801A"/>
                </a:solidFill>
                <a:latin typeface="Arial"/>
              </a:rPr>
              <a:t>To start</a:t>
            </a:r>
          </a:p>
        </p:txBody>
      </p:sp>
      <p:sp>
        <p:nvSpPr>
          <p:cNvPr id="16" name="TextBox 15"/>
          <p:cNvSpPr txBox="1"/>
          <p:nvPr/>
        </p:nvSpPr>
        <p:spPr>
          <a:xfrm>
            <a:off x="3154680" y="4745736"/>
            <a:ext cx="8396935" cy="987552"/>
          </a:xfrm>
          <a:prstGeom prst="rect">
            <a:avLst/>
          </a:prstGeom>
          <a:noFill/>
        </p:spPr>
        <p:txBody>
          <a:bodyPr wrap="square" lIns="0" tIns="0" rIns="0" bIns="0" anchor="ctr">
            <a:spAutoFit/>
          </a:bodyPr>
          <a:lstStyle/>
          <a:p>
            <a:pPr>
              <a:lnSpc>
                <a:spcPct val="106000"/>
              </a:lnSpc>
            </a:pPr>
            <a:r>
              <a:rPr sz="2000">
                <a:solidFill>
                  <a:srgbClr val="0C1408"/>
                </a:solidFill>
                <a:latin typeface="Arial"/>
              </a:rPr>
              <a:t>A one month pilot with about 1,000 members.</a:t>
            </a:r>
          </a:p>
        </p:txBody>
      </p:sp>
      <p:cxnSp>
        <p:nvCxnSpPr>
          <p:cNvPr id="17" name="Connector 16"/>
          <p:cNvCxnSpPr/>
          <p:nvPr/>
        </p:nvCxnSpPr>
        <p:spPr>
          <a:xfrm>
            <a:off x="640080" y="5733288"/>
            <a:ext cx="10911535" cy="0"/>
          </a:xfrm>
          <a:prstGeom prst="line">
            <a:avLst/>
          </a:prstGeom>
          <a:ln w="9525">
            <a:solidFill>
              <a:srgbClr val="CFD8C6"/>
            </a:solidFill>
          </a:ln>
        </p:spPr>
      </p:cxnSp>
      <p:sp>
        <p:nvSpPr>
          <p:cNvPr id="18" name="TextBox 17"/>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Karandaaz and Oraan estimates, Dawn, 12 December 2022   2  Raqami Islamic Digital Bank half year report to 30 June 2026, at the bank’s own average deposit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A committee is a savings circle: all pay in monthly, and one member takes the pot.</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3</a:t>
            </a:r>
          </a:p>
        </p:txBody>
      </p:sp>
      <p:sp>
        <p:nvSpPr>
          <p:cNvPr id="5" name="TextBox 4"/>
          <p:cNvSpPr txBox="1"/>
          <p:nvPr/>
        </p:nvSpPr>
        <p:spPr>
          <a:xfrm>
            <a:off x="1463040" y="1572768"/>
            <a:ext cx="3533242" cy="256032"/>
          </a:xfrm>
          <a:prstGeom prst="rect">
            <a:avLst/>
          </a:prstGeom>
          <a:noFill/>
        </p:spPr>
        <p:txBody>
          <a:bodyPr wrap="square" lIns="0" tIns="0" rIns="0" bIns="0">
            <a:spAutoFit/>
          </a:bodyPr>
          <a:lstStyle/>
          <a:p>
            <a:pPr algn="ctr">
              <a:lnSpc>
                <a:spcPct val="105000"/>
              </a:lnSpc>
            </a:pPr>
            <a:r>
              <a:rPr sz="1100" b="1">
                <a:solidFill>
                  <a:srgbClr val="5F6B58"/>
                </a:solidFill>
                <a:latin typeface="Arial"/>
              </a:rPr>
              <a:t>Month</a:t>
            </a:r>
          </a:p>
        </p:txBody>
      </p:sp>
      <p:sp>
        <p:nvSpPr>
          <p:cNvPr id="6" name="TextBox 5"/>
          <p:cNvSpPr txBox="1"/>
          <p:nvPr/>
        </p:nvSpPr>
        <p:spPr>
          <a:xfrm>
            <a:off x="1417320"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1</a:t>
            </a:r>
          </a:p>
        </p:txBody>
      </p:sp>
      <p:sp>
        <p:nvSpPr>
          <p:cNvPr id="7" name="TextBox 6"/>
          <p:cNvSpPr txBox="1"/>
          <p:nvPr/>
        </p:nvSpPr>
        <p:spPr>
          <a:xfrm>
            <a:off x="1711757"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2</a:t>
            </a:r>
          </a:p>
        </p:txBody>
      </p:sp>
      <p:sp>
        <p:nvSpPr>
          <p:cNvPr id="8" name="TextBox 7"/>
          <p:cNvSpPr txBox="1"/>
          <p:nvPr/>
        </p:nvSpPr>
        <p:spPr>
          <a:xfrm>
            <a:off x="2006194"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3</a:t>
            </a:r>
          </a:p>
        </p:txBody>
      </p:sp>
      <p:sp>
        <p:nvSpPr>
          <p:cNvPr id="9" name="TextBox 8"/>
          <p:cNvSpPr txBox="1"/>
          <p:nvPr/>
        </p:nvSpPr>
        <p:spPr>
          <a:xfrm>
            <a:off x="2300630"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4</a:t>
            </a:r>
          </a:p>
        </p:txBody>
      </p:sp>
      <p:sp>
        <p:nvSpPr>
          <p:cNvPr id="10" name="TextBox 9"/>
          <p:cNvSpPr txBox="1"/>
          <p:nvPr/>
        </p:nvSpPr>
        <p:spPr>
          <a:xfrm>
            <a:off x="2595067"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5</a:t>
            </a:r>
          </a:p>
        </p:txBody>
      </p:sp>
      <p:sp>
        <p:nvSpPr>
          <p:cNvPr id="11" name="TextBox 10"/>
          <p:cNvSpPr txBox="1"/>
          <p:nvPr/>
        </p:nvSpPr>
        <p:spPr>
          <a:xfrm>
            <a:off x="2889504"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6</a:t>
            </a:r>
          </a:p>
        </p:txBody>
      </p:sp>
      <p:sp>
        <p:nvSpPr>
          <p:cNvPr id="12" name="TextBox 11"/>
          <p:cNvSpPr txBox="1"/>
          <p:nvPr/>
        </p:nvSpPr>
        <p:spPr>
          <a:xfrm>
            <a:off x="3183941"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7</a:t>
            </a:r>
          </a:p>
        </p:txBody>
      </p:sp>
      <p:sp>
        <p:nvSpPr>
          <p:cNvPr id="13" name="TextBox 12"/>
          <p:cNvSpPr txBox="1"/>
          <p:nvPr/>
        </p:nvSpPr>
        <p:spPr>
          <a:xfrm>
            <a:off x="3478378"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8</a:t>
            </a:r>
          </a:p>
        </p:txBody>
      </p:sp>
      <p:sp>
        <p:nvSpPr>
          <p:cNvPr id="14" name="TextBox 13"/>
          <p:cNvSpPr txBox="1"/>
          <p:nvPr/>
        </p:nvSpPr>
        <p:spPr>
          <a:xfrm>
            <a:off x="3772814"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9</a:t>
            </a:r>
          </a:p>
        </p:txBody>
      </p:sp>
      <p:sp>
        <p:nvSpPr>
          <p:cNvPr id="15" name="TextBox 14"/>
          <p:cNvSpPr txBox="1"/>
          <p:nvPr/>
        </p:nvSpPr>
        <p:spPr>
          <a:xfrm>
            <a:off x="4067251"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10</a:t>
            </a:r>
          </a:p>
        </p:txBody>
      </p:sp>
      <p:sp>
        <p:nvSpPr>
          <p:cNvPr id="16" name="TextBox 15"/>
          <p:cNvSpPr txBox="1"/>
          <p:nvPr/>
        </p:nvSpPr>
        <p:spPr>
          <a:xfrm>
            <a:off x="4361688"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11</a:t>
            </a:r>
          </a:p>
        </p:txBody>
      </p:sp>
      <p:sp>
        <p:nvSpPr>
          <p:cNvPr id="17" name="TextBox 16"/>
          <p:cNvSpPr txBox="1"/>
          <p:nvPr/>
        </p:nvSpPr>
        <p:spPr>
          <a:xfrm>
            <a:off x="4656125" y="1764792"/>
            <a:ext cx="336499" cy="237744"/>
          </a:xfrm>
          <a:prstGeom prst="rect">
            <a:avLst/>
          </a:prstGeom>
          <a:noFill/>
        </p:spPr>
        <p:txBody>
          <a:bodyPr wrap="square" lIns="0" tIns="0" rIns="0" bIns="0">
            <a:spAutoFit/>
          </a:bodyPr>
          <a:lstStyle/>
          <a:p>
            <a:pPr algn="ctr">
              <a:lnSpc>
                <a:spcPct val="105000"/>
              </a:lnSpc>
            </a:pPr>
            <a:r>
              <a:rPr sz="1050">
                <a:solidFill>
                  <a:srgbClr val="5F6B58"/>
                </a:solidFill>
                <a:latin typeface="Arial"/>
              </a:rPr>
              <a:t>12</a:t>
            </a:r>
          </a:p>
        </p:txBody>
      </p:sp>
      <p:sp>
        <p:nvSpPr>
          <p:cNvPr id="18" name="TextBox 17"/>
          <p:cNvSpPr txBox="1"/>
          <p:nvPr/>
        </p:nvSpPr>
        <p:spPr>
          <a:xfrm>
            <a:off x="1051560" y="2002536"/>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1</a:t>
            </a:r>
          </a:p>
        </p:txBody>
      </p:sp>
      <p:sp>
        <p:nvSpPr>
          <p:cNvPr id="19" name="Rectangle 18"/>
          <p:cNvSpPr/>
          <p:nvPr/>
        </p:nvSpPr>
        <p:spPr>
          <a:xfrm>
            <a:off x="1463040" y="2011680"/>
            <a:ext cx="245059" cy="245059"/>
          </a:xfrm>
          <a:prstGeom prst="rect">
            <a:avLst/>
          </a:prstGeom>
          <a:solidFill>
            <a:srgbClr val="41801A"/>
          </a:solidFill>
          <a:ln>
            <a:noFill/>
          </a:ln>
        </p:spPr>
        <p:txBody>
          <a:bodyPr rtlCol="0" anchor="ctr"/>
          <a:lstStyle/>
          <a:p>
            <a:pPr algn="ctr"/>
          </a:p>
        </p:txBody>
      </p:sp>
      <p:sp>
        <p:nvSpPr>
          <p:cNvPr id="20" name="Rectangle 19"/>
          <p:cNvSpPr/>
          <p:nvPr/>
        </p:nvSpPr>
        <p:spPr>
          <a:xfrm>
            <a:off x="1757477" y="2011680"/>
            <a:ext cx="245059" cy="245059"/>
          </a:xfrm>
          <a:prstGeom prst="rect">
            <a:avLst/>
          </a:prstGeom>
          <a:solidFill>
            <a:srgbClr val="E3F8CA"/>
          </a:solidFill>
          <a:ln>
            <a:noFill/>
          </a:ln>
        </p:spPr>
        <p:txBody>
          <a:bodyPr rtlCol="0" anchor="ctr"/>
          <a:lstStyle/>
          <a:p>
            <a:pPr algn="ctr"/>
          </a:p>
        </p:txBody>
      </p:sp>
      <p:sp>
        <p:nvSpPr>
          <p:cNvPr id="21" name="Rectangle 20"/>
          <p:cNvSpPr/>
          <p:nvPr/>
        </p:nvSpPr>
        <p:spPr>
          <a:xfrm>
            <a:off x="2051914" y="2011680"/>
            <a:ext cx="245059" cy="245059"/>
          </a:xfrm>
          <a:prstGeom prst="rect">
            <a:avLst/>
          </a:prstGeom>
          <a:solidFill>
            <a:srgbClr val="E3F8CA"/>
          </a:solidFill>
          <a:ln>
            <a:noFill/>
          </a:ln>
        </p:spPr>
        <p:txBody>
          <a:bodyPr rtlCol="0" anchor="ctr"/>
          <a:lstStyle/>
          <a:p>
            <a:pPr algn="ctr"/>
          </a:p>
        </p:txBody>
      </p:sp>
      <p:sp>
        <p:nvSpPr>
          <p:cNvPr id="22" name="Rectangle 21"/>
          <p:cNvSpPr/>
          <p:nvPr/>
        </p:nvSpPr>
        <p:spPr>
          <a:xfrm>
            <a:off x="2346350" y="2011680"/>
            <a:ext cx="245059" cy="245059"/>
          </a:xfrm>
          <a:prstGeom prst="rect">
            <a:avLst/>
          </a:prstGeom>
          <a:solidFill>
            <a:srgbClr val="E3F8CA"/>
          </a:solidFill>
          <a:ln>
            <a:noFill/>
          </a:ln>
        </p:spPr>
        <p:txBody>
          <a:bodyPr rtlCol="0" anchor="ctr"/>
          <a:lstStyle/>
          <a:p>
            <a:pPr algn="ctr"/>
          </a:p>
        </p:txBody>
      </p:sp>
      <p:sp>
        <p:nvSpPr>
          <p:cNvPr id="23" name="Rectangle 22"/>
          <p:cNvSpPr/>
          <p:nvPr/>
        </p:nvSpPr>
        <p:spPr>
          <a:xfrm>
            <a:off x="2640787" y="2011680"/>
            <a:ext cx="245059" cy="245059"/>
          </a:xfrm>
          <a:prstGeom prst="rect">
            <a:avLst/>
          </a:prstGeom>
          <a:solidFill>
            <a:srgbClr val="E3F8CA"/>
          </a:solidFill>
          <a:ln>
            <a:noFill/>
          </a:ln>
        </p:spPr>
        <p:txBody>
          <a:bodyPr rtlCol="0" anchor="ctr"/>
          <a:lstStyle/>
          <a:p>
            <a:pPr algn="ctr"/>
          </a:p>
        </p:txBody>
      </p:sp>
      <p:sp>
        <p:nvSpPr>
          <p:cNvPr id="24" name="Rectangle 23"/>
          <p:cNvSpPr/>
          <p:nvPr/>
        </p:nvSpPr>
        <p:spPr>
          <a:xfrm>
            <a:off x="2935224" y="2011680"/>
            <a:ext cx="245059" cy="245059"/>
          </a:xfrm>
          <a:prstGeom prst="rect">
            <a:avLst/>
          </a:prstGeom>
          <a:solidFill>
            <a:srgbClr val="E3F8CA"/>
          </a:solidFill>
          <a:ln>
            <a:noFill/>
          </a:ln>
        </p:spPr>
        <p:txBody>
          <a:bodyPr rtlCol="0" anchor="ctr"/>
          <a:lstStyle/>
          <a:p>
            <a:pPr algn="ctr"/>
          </a:p>
        </p:txBody>
      </p:sp>
      <p:sp>
        <p:nvSpPr>
          <p:cNvPr id="25" name="Rectangle 24"/>
          <p:cNvSpPr/>
          <p:nvPr/>
        </p:nvSpPr>
        <p:spPr>
          <a:xfrm>
            <a:off x="3229661" y="2011680"/>
            <a:ext cx="245059" cy="245059"/>
          </a:xfrm>
          <a:prstGeom prst="rect">
            <a:avLst/>
          </a:prstGeom>
          <a:solidFill>
            <a:srgbClr val="E3F8CA"/>
          </a:solidFill>
          <a:ln>
            <a:noFill/>
          </a:ln>
        </p:spPr>
        <p:txBody>
          <a:bodyPr rtlCol="0" anchor="ctr"/>
          <a:lstStyle/>
          <a:p>
            <a:pPr algn="ctr"/>
          </a:p>
        </p:txBody>
      </p:sp>
      <p:sp>
        <p:nvSpPr>
          <p:cNvPr id="26" name="Rectangle 25"/>
          <p:cNvSpPr/>
          <p:nvPr/>
        </p:nvSpPr>
        <p:spPr>
          <a:xfrm>
            <a:off x="3524098" y="2011680"/>
            <a:ext cx="245059" cy="245059"/>
          </a:xfrm>
          <a:prstGeom prst="rect">
            <a:avLst/>
          </a:prstGeom>
          <a:solidFill>
            <a:srgbClr val="E3F8CA"/>
          </a:solidFill>
          <a:ln>
            <a:noFill/>
          </a:ln>
        </p:spPr>
        <p:txBody>
          <a:bodyPr rtlCol="0" anchor="ctr"/>
          <a:lstStyle/>
          <a:p>
            <a:pPr algn="ctr"/>
          </a:p>
        </p:txBody>
      </p:sp>
      <p:sp>
        <p:nvSpPr>
          <p:cNvPr id="27" name="Rectangle 26"/>
          <p:cNvSpPr/>
          <p:nvPr/>
        </p:nvSpPr>
        <p:spPr>
          <a:xfrm>
            <a:off x="3818534" y="2011680"/>
            <a:ext cx="245059" cy="245059"/>
          </a:xfrm>
          <a:prstGeom prst="rect">
            <a:avLst/>
          </a:prstGeom>
          <a:solidFill>
            <a:srgbClr val="E3F8CA"/>
          </a:solidFill>
          <a:ln>
            <a:noFill/>
          </a:ln>
        </p:spPr>
        <p:txBody>
          <a:bodyPr rtlCol="0" anchor="ctr"/>
          <a:lstStyle/>
          <a:p>
            <a:pPr algn="ctr"/>
          </a:p>
        </p:txBody>
      </p:sp>
      <p:sp>
        <p:nvSpPr>
          <p:cNvPr id="28" name="Rectangle 27"/>
          <p:cNvSpPr/>
          <p:nvPr/>
        </p:nvSpPr>
        <p:spPr>
          <a:xfrm>
            <a:off x="4112971" y="2011680"/>
            <a:ext cx="245059" cy="245059"/>
          </a:xfrm>
          <a:prstGeom prst="rect">
            <a:avLst/>
          </a:prstGeom>
          <a:solidFill>
            <a:srgbClr val="E3F8CA"/>
          </a:solidFill>
          <a:ln>
            <a:noFill/>
          </a:ln>
        </p:spPr>
        <p:txBody>
          <a:bodyPr rtlCol="0" anchor="ctr"/>
          <a:lstStyle/>
          <a:p>
            <a:pPr algn="ctr"/>
          </a:p>
        </p:txBody>
      </p:sp>
      <p:sp>
        <p:nvSpPr>
          <p:cNvPr id="29" name="Rectangle 28"/>
          <p:cNvSpPr/>
          <p:nvPr/>
        </p:nvSpPr>
        <p:spPr>
          <a:xfrm>
            <a:off x="4407408" y="2011680"/>
            <a:ext cx="245059" cy="245059"/>
          </a:xfrm>
          <a:prstGeom prst="rect">
            <a:avLst/>
          </a:prstGeom>
          <a:solidFill>
            <a:srgbClr val="E3F8CA"/>
          </a:solidFill>
          <a:ln>
            <a:noFill/>
          </a:ln>
        </p:spPr>
        <p:txBody>
          <a:bodyPr rtlCol="0" anchor="ctr"/>
          <a:lstStyle/>
          <a:p>
            <a:pPr algn="ctr"/>
          </a:p>
        </p:txBody>
      </p:sp>
      <p:sp>
        <p:nvSpPr>
          <p:cNvPr id="30" name="Rectangle 29"/>
          <p:cNvSpPr/>
          <p:nvPr/>
        </p:nvSpPr>
        <p:spPr>
          <a:xfrm>
            <a:off x="4701845" y="2011680"/>
            <a:ext cx="245059" cy="245059"/>
          </a:xfrm>
          <a:prstGeom prst="rect">
            <a:avLst/>
          </a:prstGeom>
          <a:solidFill>
            <a:srgbClr val="E3F8CA"/>
          </a:solidFill>
          <a:ln>
            <a:noFill/>
          </a:ln>
        </p:spPr>
        <p:txBody>
          <a:bodyPr rtlCol="0" anchor="ctr"/>
          <a:lstStyle/>
          <a:p>
            <a:pPr algn="ctr"/>
          </a:p>
        </p:txBody>
      </p:sp>
      <p:sp>
        <p:nvSpPr>
          <p:cNvPr id="31" name="TextBox 30"/>
          <p:cNvSpPr txBox="1"/>
          <p:nvPr/>
        </p:nvSpPr>
        <p:spPr>
          <a:xfrm>
            <a:off x="1051560" y="2296973"/>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2</a:t>
            </a:r>
          </a:p>
        </p:txBody>
      </p:sp>
      <p:sp>
        <p:nvSpPr>
          <p:cNvPr id="32" name="Rectangle 31"/>
          <p:cNvSpPr/>
          <p:nvPr/>
        </p:nvSpPr>
        <p:spPr>
          <a:xfrm>
            <a:off x="1463040" y="2306117"/>
            <a:ext cx="245059" cy="245059"/>
          </a:xfrm>
          <a:prstGeom prst="rect">
            <a:avLst/>
          </a:prstGeom>
          <a:solidFill>
            <a:srgbClr val="E3F8CA"/>
          </a:solidFill>
          <a:ln>
            <a:noFill/>
          </a:ln>
        </p:spPr>
        <p:txBody>
          <a:bodyPr rtlCol="0" anchor="ctr"/>
          <a:lstStyle/>
          <a:p>
            <a:pPr algn="ctr"/>
          </a:p>
        </p:txBody>
      </p:sp>
      <p:sp>
        <p:nvSpPr>
          <p:cNvPr id="33" name="Rectangle 32"/>
          <p:cNvSpPr/>
          <p:nvPr/>
        </p:nvSpPr>
        <p:spPr>
          <a:xfrm>
            <a:off x="1757477" y="2306117"/>
            <a:ext cx="245059" cy="245059"/>
          </a:xfrm>
          <a:prstGeom prst="rect">
            <a:avLst/>
          </a:prstGeom>
          <a:solidFill>
            <a:srgbClr val="41801A"/>
          </a:solidFill>
          <a:ln>
            <a:noFill/>
          </a:ln>
        </p:spPr>
        <p:txBody>
          <a:bodyPr rtlCol="0" anchor="ctr"/>
          <a:lstStyle/>
          <a:p>
            <a:pPr algn="ctr"/>
          </a:p>
        </p:txBody>
      </p:sp>
      <p:sp>
        <p:nvSpPr>
          <p:cNvPr id="34" name="Rectangle 33"/>
          <p:cNvSpPr/>
          <p:nvPr/>
        </p:nvSpPr>
        <p:spPr>
          <a:xfrm>
            <a:off x="2051914" y="2306117"/>
            <a:ext cx="245059" cy="245059"/>
          </a:xfrm>
          <a:prstGeom prst="rect">
            <a:avLst/>
          </a:prstGeom>
          <a:solidFill>
            <a:srgbClr val="E3F8CA"/>
          </a:solidFill>
          <a:ln>
            <a:noFill/>
          </a:ln>
        </p:spPr>
        <p:txBody>
          <a:bodyPr rtlCol="0" anchor="ctr"/>
          <a:lstStyle/>
          <a:p>
            <a:pPr algn="ctr"/>
          </a:p>
        </p:txBody>
      </p:sp>
      <p:sp>
        <p:nvSpPr>
          <p:cNvPr id="35" name="Rectangle 34"/>
          <p:cNvSpPr/>
          <p:nvPr/>
        </p:nvSpPr>
        <p:spPr>
          <a:xfrm>
            <a:off x="2346350" y="2306117"/>
            <a:ext cx="245059" cy="245059"/>
          </a:xfrm>
          <a:prstGeom prst="rect">
            <a:avLst/>
          </a:prstGeom>
          <a:solidFill>
            <a:srgbClr val="E3F8CA"/>
          </a:solidFill>
          <a:ln>
            <a:noFill/>
          </a:ln>
        </p:spPr>
        <p:txBody>
          <a:bodyPr rtlCol="0" anchor="ctr"/>
          <a:lstStyle/>
          <a:p>
            <a:pPr algn="ctr"/>
          </a:p>
        </p:txBody>
      </p:sp>
      <p:sp>
        <p:nvSpPr>
          <p:cNvPr id="36" name="Rectangle 35"/>
          <p:cNvSpPr/>
          <p:nvPr/>
        </p:nvSpPr>
        <p:spPr>
          <a:xfrm>
            <a:off x="2640787" y="2306117"/>
            <a:ext cx="245059" cy="245059"/>
          </a:xfrm>
          <a:prstGeom prst="rect">
            <a:avLst/>
          </a:prstGeom>
          <a:solidFill>
            <a:srgbClr val="E3F8CA"/>
          </a:solidFill>
          <a:ln>
            <a:noFill/>
          </a:ln>
        </p:spPr>
        <p:txBody>
          <a:bodyPr rtlCol="0" anchor="ctr"/>
          <a:lstStyle/>
          <a:p>
            <a:pPr algn="ctr"/>
          </a:p>
        </p:txBody>
      </p:sp>
      <p:sp>
        <p:nvSpPr>
          <p:cNvPr id="37" name="Rectangle 36"/>
          <p:cNvSpPr/>
          <p:nvPr/>
        </p:nvSpPr>
        <p:spPr>
          <a:xfrm>
            <a:off x="2935224" y="2306117"/>
            <a:ext cx="245059" cy="245059"/>
          </a:xfrm>
          <a:prstGeom prst="rect">
            <a:avLst/>
          </a:prstGeom>
          <a:solidFill>
            <a:srgbClr val="E3F8CA"/>
          </a:solidFill>
          <a:ln>
            <a:noFill/>
          </a:ln>
        </p:spPr>
        <p:txBody>
          <a:bodyPr rtlCol="0" anchor="ctr"/>
          <a:lstStyle/>
          <a:p>
            <a:pPr algn="ctr"/>
          </a:p>
        </p:txBody>
      </p:sp>
      <p:sp>
        <p:nvSpPr>
          <p:cNvPr id="38" name="Rectangle 37"/>
          <p:cNvSpPr/>
          <p:nvPr/>
        </p:nvSpPr>
        <p:spPr>
          <a:xfrm>
            <a:off x="3229661" y="2306117"/>
            <a:ext cx="245059" cy="245059"/>
          </a:xfrm>
          <a:prstGeom prst="rect">
            <a:avLst/>
          </a:prstGeom>
          <a:solidFill>
            <a:srgbClr val="E3F8CA"/>
          </a:solidFill>
          <a:ln>
            <a:noFill/>
          </a:ln>
        </p:spPr>
        <p:txBody>
          <a:bodyPr rtlCol="0" anchor="ctr"/>
          <a:lstStyle/>
          <a:p>
            <a:pPr algn="ctr"/>
          </a:p>
        </p:txBody>
      </p:sp>
      <p:sp>
        <p:nvSpPr>
          <p:cNvPr id="39" name="Rectangle 38"/>
          <p:cNvSpPr/>
          <p:nvPr/>
        </p:nvSpPr>
        <p:spPr>
          <a:xfrm>
            <a:off x="3524098" y="2306117"/>
            <a:ext cx="245059" cy="245059"/>
          </a:xfrm>
          <a:prstGeom prst="rect">
            <a:avLst/>
          </a:prstGeom>
          <a:solidFill>
            <a:srgbClr val="E3F8CA"/>
          </a:solidFill>
          <a:ln>
            <a:noFill/>
          </a:ln>
        </p:spPr>
        <p:txBody>
          <a:bodyPr rtlCol="0" anchor="ctr"/>
          <a:lstStyle/>
          <a:p>
            <a:pPr algn="ctr"/>
          </a:p>
        </p:txBody>
      </p:sp>
      <p:sp>
        <p:nvSpPr>
          <p:cNvPr id="40" name="Rectangle 39"/>
          <p:cNvSpPr/>
          <p:nvPr/>
        </p:nvSpPr>
        <p:spPr>
          <a:xfrm>
            <a:off x="3818534" y="2306117"/>
            <a:ext cx="245059" cy="245059"/>
          </a:xfrm>
          <a:prstGeom prst="rect">
            <a:avLst/>
          </a:prstGeom>
          <a:solidFill>
            <a:srgbClr val="E3F8CA"/>
          </a:solidFill>
          <a:ln>
            <a:noFill/>
          </a:ln>
        </p:spPr>
        <p:txBody>
          <a:bodyPr rtlCol="0" anchor="ctr"/>
          <a:lstStyle/>
          <a:p>
            <a:pPr algn="ctr"/>
          </a:p>
        </p:txBody>
      </p:sp>
      <p:sp>
        <p:nvSpPr>
          <p:cNvPr id="41" name="Rectangle 40"/>
          <p:cNvSpPr/>
          <p:nvPr/>
        </p:nvSpPr>
        <p:spPr>
          <a:xfrm>
            <a:off x="4112971" y="2306117"/>
            <a:ext cx="245059" cy="245059"/>
          </a:xfrm>
          <a:prstGeom prst="rect">
            <a:avLst/>
          </a:prstGeom>
          <a:solidFill>
            <a:srgbClr val="E3F8CA"/>
          </a:solidFill>
          <a:ln>
            <a:noFill/>
          </a:ln>
        </p:spPr>
        <p:txBody>
          <a:bodyPr rtlCol="0" anchor="ctr"/>
          <a:lstStyle/>
          <a:p>
            <a:pPr algn="ctr"/>
          </a:p>
        </p:txBody>
      </p:sp>
      <p:sp>
        <p:nvSpPr>
          <p:cNvPr id="42" name="Rectangle 41"/>
          <p:cNvSpPr/>
          <p:nvPr/>
        </p:nvSpPr>
        <p:spPr>
          <a:xfrm>
            <a:off x="4407408" y="2306117"/>
            <a:ext cx="245059" cy="245059"/>
          </a:xfrm>
          <a:prstGeom prst="rect">
            <a:avLst/>
          </a:prstGeom>
          <a:solidFill>
            <a:srgbClr val="E3F8CA"/>
          </a:solidFill>
          <a:ln>
            <a:noFill/>
          </a:ln>
        </p:spPr>
        <p:txBody>
          <a:bodyPr rtlCol="0" anchor="ctr"/>
          <a:lstStyle/>
          <a:p>
            <a:pPr algn="ctr"/>
          </a:p>
        </p:txBody>
      </p:sp>
      <p:sp>
        <p:nvSpPr>
          <p:cNvPr id="43" name="Rectangle 42"/>
          <p:cNvSpPr/>
          <p:nvPr/>
        </p:nvSpPr>
        <p:spPr>
          <a:xfrm>
            <a:off x="4701845" y="2306117"/>
            <a:ext cx="245059" cy="245059"/>
          </a:xfrm>
          <a:prstGeom prst="rect">
            <a:avLst/>
          </a:prstGeom>
          <a:solidFill>
            <a:srgbClr val="E3F8CA"/>
          </a:solidFill>
          <a:ln>
            <a:noFill/>
          </a:ln>
        </p:spPr>
        <p:txBody>
          <a:bodyPr rtlCol="0" anchor="ctr"/>
          <a:lstStyle/>
          <a:p>
            <a:pPr algn="ctr"/>
          </a:p>
        </p:txBody>
      </p:sp>
      <p:sp>
        <p:nvSpPr>
          <p:cNvPr id="44" name="TextBox 43"/>
          <p:cNvSpPr txBox="1"/>
          <p:nvPr/>
        </p:nvSpPr>
        <p:spPr>
          <a:xfrm>
            <a:off x="1051560" y="2591410"/>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3</a:t>
            </a:r>
          </a:p>
        </p:txBody>
      </p:sp>
      <p:sp>
        <p:nvSpPr>
          <p:cNvPr id="45" name="Rectangle 44"/>
          <p:cNvSpPr/>
          <p:nvPr/>
        </p:nvSpPr>
        <p:spPr>
          <a:xfrm>
            <a:off x="1463040" y="2600554"/>
            <a:ext cx="245059" cy="245059"/>
          </a:xfrm>
          <a:prstGeom prst="rect">
            <a:avLst/>
          </a:prstGeom>
          <a:solidFill>
            <a:srgbClr val="E3F8CA"/>
          </a:solidFill>
          <a:ln>
            <a:noFill/>
          </a:ln>
        </p:spPr>
        <p:txBody>
          <a:bodyPr rtlCol="0" anchor="ctr"/>
          <a:lstStyle/>
          <a:p>
            <a:pPr algn="ctr"/>
          </a:p>
        </p:txBody>
      </p:sp>
      <p:sp>
        <p:nvSpPr>
          <p:cNvPr id="46" name="Rectangle 45"/>
          <p:cNvSpPr/>
          <p:nvPr/>
        </p:nvSpPr>
        <p:spPr>
          <a:xfrm>
            <a:off x="1757477" y="2600554"/>
            <a:ext cx="245059" cy="245059"/>
          </a:xfrm>
          <a:prstGeom prst="rect">
            <a:avLst/>
          </a:prstGeom>
          <a:solidFill>
            <a:srgbClr val="E3F8CA"/>
          </a:solidFill>
          <a:ln>
            <a:noFill/>
          </a:ln>
        </p:spPr>
        <p:txBody>
          <a:bodyPr rtlCol="0" anchor="ctr"/>
          <a:lstStyle/>
          <a:p>
            <a:pPr algn="ctr"/>
          </a:p>
        </p:txBody>
      </p:sp>
      <p:sp>
        <p:nvSpPr>
          <p:cNvPr id="47" name="Rectangle 46"/>
          <p:cNvSpPr/>
          <p:nvPr/>
        </p:nvSpPr>
        <p:spPr>
          <a:xfrm>
            <a:off x="2051914" y="2600554"/>
            <a:ext cx="245059" cy="245059"/>
          </a:xfrm>
          <a:prstGeom prst="rect">
            <a:avLst/>
          </a:prstGeom>
          <a:solidFill>
            <a:srgbClr val="41801A"/>
          </a:solidFill>
          <a:ln>
            <a:noFill/>
          </a:ln>
        </p:spPr>
        <p:txBody>
          <a:bodyPr rtlCol="0" anchor="ctr"/>
          <a:lstStyle/>
          <a:p>
            <a:pPr algn="ctr"/>
          </a:p>
        </p:txBody>
      </p:sp>
      <p:sp>
        <p:nvSpPr>
          <p:cNvPr id="48" name="Rectangle 47"/>
          <p:cNvSpPr/>
          <p:nvPr/>
        </p:nvSpPr>
        <p:spPr>
          <a:xfrm>
            <a:off x="2346350" y="2600554"/>
            <a:ext cx="245059" cy="245059"/>
          </a:xfrm>
          <a:prstGeom prst="rect">
            <a:avLst/>
          </a:prstGeom>
          <a:solidFill>
            <a:srgbClr val="E3F8CA"/>
          </a:solidFill>
          <a:ln>
            <a:noFill/>
          </a:ln>
        </p:spPr>
        <p:txBody>
          <a:bodyPr rtlCol="0" anchor="ctr"/>
          <a:lstStyle/>
          <a:p>
            <a:pPr algn="ctr"/>
          </a:p>
        </p:txBody>
      </p:sp>
      <p:sp>
        <p:nvSpPr>
          <p:cNvPr id="49" name="Rectangle 48"/>
          <p:cNvSpPr/>
          <p:nvPr/>
        </p:nvSpPr>
        <p:spPr>
          <a:xfrm>
            <a:off x="2640787" y="2600554"/>
            <a:ext cx="245059" cy="245059"/>
          </a:xfrm>
          <a:prstGeom prst="rect">
            <a:avLst/>
          </a:prstGeom>
          <a:solidFill>
            <a:srgbClr val="E3F8CA"/>
          </a:solidFill>
          <a:ln>
            <a:noFill/>
          </a:ln>
        </p:spPr>
        <p:txBody>
          <a:bodyPr rtlCol="0" anchor="ctr"/>
          <a:lstStyle/>
          <a:p>
            <a:pPr algn="ctr"/>
          </a:p>
        </p:txBody>
      </p:sp>
      <p:sp>
        <p:nvSpPr>
          <p:cNvPr id="50" name="Rectangle 49"/>
          <p:cNvSpPr/>
          <p:nvPr/>
        </p:nvSpPr>
        <p:spPr>
          <a:xfrm>
            <a:off x="2935224" y="2600554"/>
            <a:ext cx="245059" cy="245059"/>
          </a:xfrm>
          <a:prstGeom prst="rect">
            <a:avLst/>
          </a:prstGeom>
          <a:solidFill>
            <a:srgbClr val="E3F8CA"/>
          </a:solidFill>
          <a:ln>
            <a:noFill/>
          </a:ln>
        </p:spPr>
        <p:txBody>
          <a:bodyPr rtlCol="0" anchor="ctr"/>
          <a:lstStyle/>
          <a:p>
            <a:pPr algn="ctr"/>
          </a:p>
        </p:txBody>
      </p:sp>
      <p:sp>
        <p:nvSpPr>
          <p:cNvPr id="51" name="Rectangle 50"/>
          <p:cNvSpPr/>
          <p:nvPr/>
        </p:nvSpPr>
        <p:spPr>
          <a:xfrm>
            <a:off x="3229661" y="2600554"/>
            <a:ext cx="245059" cy="245059"/>
          </a:xfrm>
          <a:prstGeom prst="rect">
            <a:avLst/>
          </a:prstGeom>
          <a:solidFill>
            <a:srgbClr val="E3F8CA"/>
          </a:solidFill>
          <a:ln>
            <a:noFill/>
          </a:ln>
        </p:spPr>
        <p:txBody>
          <a:bodyPr rtlCol="0" anchor="ctr"/>
          <a:lstStyle/>
          <a:p>
            <a:pPr algn="ctr"/>
          </a:p>
        </p:txBody>
      </p:sp>
      <p:sp>
        <p:nvSpPr>
          <p:cNvPr id="52" name="Rectangle 51"/>
          <p:cNvSpPr/>
          <p:nvPr/>
        </p:nvSpPr>
        <p:spPr>
          <a:xfrm>
            <a:off x="3524098" y="2600554"/>
            <a:ext cx="245059" cy="245059"/>
          </a:xfrm>
          <a:prstGeom prst="rect">
            <a:avLst/>
          </a:prstGeom>
          <a:solidFill>
            <a:srgbClr val="E3F8CA"/>
          </a:solidFill>
          <a:ln>
            <a:noFill/>
          </a:ln>
        </p:spPr>
        <p:txBody>
          <a:bodyPr rtlCol="0" anchor="ctr"/>
          <a:lstStyle/>
          <a:p>
            <a:pPr algn="ctr"/>
          </a:p>
        </p:txBody>
      </p:sp>
      <p:sp>
        <p:nvSpPr>
          <p:cNvPr id="53" name="Rectangle 52"/>
          <p:cNvSpPr/>
          <p:nvPr/>
        </p:nvSpPr>
        <p:spPr>
          <a:xfrm>
            <a:off x="3818534" y="2600554"/>
            <a:ext cx="245059" cy="245059"/>
          </a:xfrm>
          <a:prstGeom prst="rect">
            <a:avLst/>
          </a:prstGeom>
          <a:solidFill>
            <a:srgbClr val="E3F8CA"/>
          </a:solidFill>
          <a:ln>
            <a:noFill/>
          </a:ln>
        </p:spPr>
        <p:txBody>
          <a:bodyPr rtlCol="0" anchor="ctr"/>
          <a:lstStyle/>
          <a:p>
            <a:pPr algn="ctr"/>
          </a:p>
        </p:txBody>
      </p:sp>
      <p:sp>
        <p:nvSpPr>
          <p:cNvPr id="54" name="Rectangle 53"/>
          <p:cNvSpPr/>
          <p:nvPr/>
        </p:nvSpPr>
        <p:spPr>
          <a:xfrm>
            <a:off x="4112971" y="2600554"/>
            <a:ext cx="245059" cy="245059"/>
          </a:xfrm>
          <a:prstGeom prst="rect">
            <a:avLst/>
          </a:prstGeom>
          <a:solidFill>
            <a:srgbClr val="E3F8CA"/>
          </a:solidFill>
          <a:ln>
            <a:noFill/>
          </a:ln>
        </p:spPr>
        <p:txBody>
          <a:bodyPr rtlCol="0" anchor="ctr"/>
          <a:lstStyle/>
          <a:p>
            <a:pPr algn="ctr"/>
          </a:p>
        </p:txBody>
      </p:sp>
      <p:sp>
        <p:nvSpPr>
          <p:cNvPr id="55" name="Rectangle 54"/>
          <p:cNvSpPr/>
          <p:nvPr/>
        </p:nvSpPr>
        <p:spPr>
          <a:xfrm>
            <a:off x="4407408" y="2600554"/>
            <a:ext cx="245059" cy="245059"/>
          </a:xfrm>
          <a:prstGeom prst="rect">
            <a:avLst/>
          </a:prstGeom>
          <a:solidFill>
            <a:srgbClr val="E3F8CA"/>
          </a:solidFill>
          <a:ln>
            <a:noFill/>
          </a:ln>
        </p:spPr>
        <p:txBody>
          <a:bodyPr rtlCol="0" anchor="ctr"/>
          <a:lstStyle/>
          <a:p>
            <a:pPr algn="ctr"/>
          </a:p>
        </p:txBody>
      </p:sp>
      <p:sp>
        <p:nvSpPr>
          <p:cNvPr id="56" name="Rectangle 55"/>
          <p:cNvSpPr/>
          <p:nvPr/>
        </p:nvSpPr>
        <p:spPr>
          <a:xfrm>
            <a:off x="4701845" y="2600554"/>
            <a:ext cx="245059" cy="245059"/>
          </a:xfrm>
          <a:prstGeom prst="rect">
            <a:avLst/>
          </a:prstGeom>
          <a:solidFill>
            <a:srgbClr val="E3F8CA"/>
          </a:solidFill>
          <a:ln>
            <a:noFill/>
          </a:ln>
        </p:spPr>
        <p:txBody>
          <a:bodyPr rtlCol="0" anchor="ctr"/>
          <a:lstStyle/>
          <a:p>
            <a:pPr algn="ctr"/>
          </a:p>
        </p:txBody>
      </p:sp>
      <p:sp>
        <p:nvSpPr>
          <p:cNvPr id="57" name="TextBox 56"/>
          <p:cNvSpPr txBox="1"/>
          <p:nvPr/>
        </p:nvSpPr>
        <p:spPr>
          <a:xfrm>
            <a:off x="1051560" y="2885846"/>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4</a:t>
            </a:r>
          </a:p>
        </p:txBody>
      </p:sp>
      <p:sp>
        <p:nvSpPr>
          <p:cNvPr id="58" name="Rectangle 57"/>
          <p:cNvSpPr/>
          <p:nvPr/>
        </p:nvSpPr>
        <p:spPr>
          <a:xfrm>
            <a:off x="1463040" y="2894990"/>
            <a:ext cx="245059" cy="245059"/>
          </a:xfrm>
          <a:prstGeom prst="rect">
            <a:avLst/>
          </a:prstGeom>
          <a:solidFill>
            <a:srgbClr val="E3F8CA"/>
          </a:solidFill>
          <a:ln>
            <a:noFill/>
          </a:ln>
        </p:spPr>
        <p:txBody>
          <a:bodyPr rtlCol="0" anchor="ctr"/>
          <a:lstStyle/>
          <a:p>
            <a:pPr algn="ctr"/>
          </a:p>
        </p:txBody>
      </p:sp>
      <p:sp>
        <p:nvSpPr>
          <p:cNvPr id="59" name="Rectangle 58"/>
          <p:cNvSpPr/>
          <p:nvPr/>
        </p:nvSpPr>
        <p:spPr>
          <a:xfrm>
            <a:off x="1757477" y="2894990"/>
            <a:ext cx="245059" cy="245059"/>
          </a:xfrm>
          <a:prstGeom prst="rect">
            <a:avLst/>
          </a:prstGeom>
          <a:solidFill>
            <a:srgbClr val="E3F8CA"/>
          </a:solidFill>
          <a:ln>
            <a:noFill/>
          </a:ln>
        </p:spPr>
        <p:txBody>
          <a:bodyPr rtlCol="0" anchor="ctr"/>
          <a:lstStyle/>
          <a:p>
            <a:pPr algn="ctr"/>
          </a:p>
        </p:txBody>
      </p:sp>
      <p:sp>
        <p:nvSpPr>
          <p:cNvPr id="60" name="Rectangle 59"/>
          <p:cNvSpPr/>
          <p:nvPr/>
        </p:nvSpPr>
        <p:spPr>
          <a:xfrm>
            <a:off x="2051914" y="2894990"/>
            <a:ext cx="245059" cy="245059"/>
          </a:xfrm>
          <a:prstGeom prst="rect">
            <a:avLst/>
          </a:prstGeom>
          <a:solidFill>
            <a:srgbClr val="E3F8CA"/>
          </a:solidFill>
          <a:ln>
            <a:noFill/>
          </a:ln>
        </p:spPr>
        <p:txBody>
          <a:bodyPr rtlCol="0" anchor="ctr"/>
          <a:lstStyle/>
          <a:p>
            <a:pPr algn="ctr"/>
          </a:p>
        </p:txBody>
      </p:sp>
      <p:sp>
        <p:nvSpPr>
          <p:cNvPr id="61" name="Rectangle 60"/>
          <p:cNvSpPr/>
          <p:nvPr/>
        </p:nvSpPr>
        <p:spPr>
          <a:xfrm>
            <a:off x="2346350" y="2894990"/>
            <a:ext cx="245059" cy="245059"/>
          </a:xfrm>
          <a:prstGeom prst="rect">
            <a:avLst/>
          </a:prstGeom>
          <a:solidFill>
            <a:srgbClr val="41801A"/>
          </a:solidFill>
          <a:ln>
            <a:noFill/>
          </a:ln>
        </p:spPr>
        <p:txBody>
          <a:bodyPr rtlCol="0" anchor="ctr"/>
          <a:lstStyle/>
          <a:p>
            <a:pPr algn="ctr"/>
          </a:p>
        </p:txBody>
      </p:sp>
      <p:sp>
        <p:nvSpPr>
          <p:cNvPr id="62" name="Rectangle 61"/>
          <p:cNvSpPr/>
          <p:nvPr/>
        </p:nvSpPr>
        <p:spPr>
          <a:xfrm>
            <a:off x="2640787" y="2894990"/>
            <a:ext cx="245059" cy="245059"/>
          </a:xfrm>
          <a:prstGeom prst="rect">
            <a:avLst/>
          </a:prstGeom>
          <a:solidFill>
            <a:srgbClr val="E3F8CA"/>
          </a:solidFill>
          <a:ln>
            <a:noFill/>
          </a:ln>
        </p:spPr>
        <p:txBody>
          <a:bodyPr rtlCol="0" anchor="ctr"/>
          <a:lstStyle/>
          <a:p>
            <a:pPr algn="ctr"/>
          </a:p>
        </p:txBody>
      </p:sp>
      <p:sp>
        <p:nvSpPr>
          <p:cNvPr id="63" name="Rectangle 62"/>
          <p:cNvSpPr/>
          <p:nvPr/>
        </p:nvSpPr>
        <p:spPr>
          <a:xfrm>
            <a:off x="2935224" y="2894990"/>
            <a:ext cx="245059" cy="245059"/>
          </a:xfrm>
          <a:prstGeom prst="rect">
            <a:avLst/>
          </a:prstGeom>
          <a:solidFill>
            <a:srgbClr val="E3F8CA"/>
          </a:solidFill>
          <a:ln>
            <a:noFill/>
          </a:ln>
        </p:spPr>
        <p:txBody>
          <a:bodyPr rtlCol="0" anchor="ctr"/>
          <a:lstStyle/>
          <a:p>
            <a:pPr algn="ctr"/>
          </a:p>
        </p:txBody>
      </p:sp>
      <p:sp>
        <p:nvSpPr>
          <p:cNvPr id="64" name="Rectangle 63"/>
          <p:cNvSpPr/>
          <p:nvPr/>
        </p:nvSpPr>
        <p:spPr>
          <a:xfrm>
            <a:off x="3229661" y="2894990"/>
            <a:ext cx="245059" cy="245059"/>
          </a:xfrm>
          <a:prstGeom prst="rect">
            <a:avLst/>
          </a:prstGeom>
          <a:solidFill>
            <a:srgbClr val="E3F8CA"/>
          </a:solidFill>
          <a:ln>
            <a:noFill/>
          </a:ln>
        </p:spPr>
        <p:txBody>
          <a:bodyPr rtlCol="0" anchor="ctr"/>
          <a:lstStyle/>
          <a:p>
            <a:pPr algn="ctr"/>
          </a:p>
        </p:txBody>
      </p:sp>
      <p:sp>
        <p:nvSpPr>
          <p:cNvPr id="65" name="Rectangle 64"/>
          <p:cNvSpPr/>
          <p:nvPr/>
        </p:nvSpPr>
        <p:spPr>
          <a:xfrm>
            <a:off x="3524098" y="2894990"/>
            <a:ext cx="245059" cy="245059"/>
          </a:xfrm>
          <a:prstGeom prst="rect">
            <a:avLst/>
          </a:prstGeom>
          <a:solidFill>
            <a:srgbClr val="E3F8CA"/>
          </a:solidFill>
          <a:ln>
            <a:noFill/>
          </a:ln>
        </p:spPr>
        <p:txBody>
          <a:bodyPr rtlCol="0" anchor="ctr"/>
          <a:lstStyle/>
          <a:p>
            <a:pPr algn="ctr"/>
          </a:p>
        </p:txBody>
      </p:sp>
      <p:sp>
        <p:nvSpPr>
          <p:cNvPr id="66" name="Rectangle 65"/>
          <p:cNvSpPr/>
          <p:nvPr/>
        </p:nvSpPr>
        <p:spPr>
          <a:xfrm>
            <a:off x="3818534" y="2894990"/>
            <a:ext cx="245059" cy="245059"/>
          </a:xfrm>
          <a:prstGeom prst="rect">
            <a:avLst/>
          </a:prstGeom>
          <a:solidFill>
            <a:srgbClr val="E3F8CA"/>
          </a:solidFill>
          <a:ln>
            <a:noFill/>
          </a:ln>
        </p:spPr>
        <p:txBody>
          <a:bodyPr rtlCol="0" anchor="ctr"/>
          <a:lstStyle/>
          <a:p>
            <a:pPr algn="ctr"/>
          </a:p>
        </p:txBody>
      </p:sp>
      <p:sp>
        <p:nvSpPr>
          <p:cNvPr id="67" name="Rectangle 66"/>
          <p:cNvSpPr/>
          <p:nvPr/>
        </p:nvSpPr>
        <p:spPr>
          <a:xfrm>
            <a:off x="4112971" y="2894990"/>
            <a:ext cx="245059" cy="245059"/>
          </a:xfrm>
          <a:prstGeom prst="rect">
            <a:avLst/>
          </a:prstGeom>
          <a:solidFill>
            <a:srgbClr val="E3F8CA"/>
          </a:solidFill>
          <a:ln>
            <a:noFill/>
          </a:ln>
        </p:spPr>
        <p:txBody>
          <a:bodyPr rtlCol="0" anchor="ctr"/>
          <a:lstStyle/>
          <a:p>
            <a:pPr algn="ctr"/>
          </a:p>
        </p:txBody>
      </p:sp>
      <p:sp>
        <p:nvSpPr>
          <p:cNvPr id="68" name="Rectangle 67"/>
          <p:cNvSpPr/>
          <p:nvPr/>
        </p:nvSpPr>
        <p:spPr>
          <a:xfrm>
            <a:off x="4407408" y="2894990"/>
            <a:ext cx="245059" cy="245059"/>
          </a:xfrm>
          <a:prstGeom prst="rect">
            <a:avLst/>
          </a:prstGeom>
          <a:solidFill>
            <a:srgbClr val="E3F8CA"/>
          </a:solidFill>
          <a:ln>
            <a:noFill/>
          </a:ln>
        </p:spPr>
        <p:txBody>
          <a:bodyPr rtlCol="0" anchor="ctr"/>
          <a:lstStyle/>
          <a:p>
            <a:pPr algn="ctr"/>
          </a:p>
        </p:txBody>
      </p:sp>
      <p:sp>
        <p:nvSpPr>
          <p:cNvPr id="69" name="Rectangle 68"/>
          <p:cNvSpPr/>
          <p:nvPr/>
        </p:nvSpPr>
        <p:spPr>
          <a:xfrm>
            <a:off x="4701845" y="2894990"/>
            <a:ext cx="245059" cy="245059"/>
          </a:xfrm>
          <a:prstGeom prst="rect">
            <a:avLst/>
          </a:prstGeom>
          <a:solidFill>
            <a:srgbClr val="E3F8CA"/>
          </a:solidFill>
          <a:ln>
            <a:noFill/>
          </a:ln>
        </p:spPr>
        <p:txBody>
          <a:bodyPr rtlCol="0" anchor="ctr"/>
          <a:lstStyle/>
          <a:p>
            <a:pPr algn="ctr"/>
          </a:p>
        </p:txBody>
      </p:sp>
      <p:sp>
        <p:nvSpPr>
          <p:cNvPr id="70" name="TextBox 69"/>
          <p:cNvSpPr txBox="1"/>
          <p:nvPr/>
        </p:nvSpPr>
        <p:spPr>
          <a:xfrm>
            <a:off x="1051560" y="3180283"/>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5</a:t>
            </a:r>
          </a:p>
        </p:txBody>
      </p:sp>
      <p:sp>
        <p:nvSpPr>
          <p:cNvPr id="71" name="Rectangle 70"/>
          <p:cNvSpPr/>
          <p:nvPr/>
        </p:nvSpPr>
        <p:spPr>
          <a:xfrm>
            <a:off x="1463040" y="3189427"/>
            <a:ext cx="245059" cy="245059"/>
          </a:xfrm>
          <a:prstGeom prst="rect">
            <a:avLst/>
          </a:prstGeom>
          <a:solidFill>
            <a:srgbClr val="E3F8CA"/>
          </a:solidFill>
          <a:ln>
            <a:noFill/>
          </a:ln>
        </p:spPr>
        <p:txBody>
          <a:bodyPr rtlCol="0" anchor="ctr"/>
          <a:lstStyle/>
          <a:p>
            <a:pPr algn="ctr"/>
          </a:p>
        </p:txBody>
      </p:sp>
      <p:sp>
        <p:nvSpPr>
          <p:cNvPr id="72" name="Rectangle 71"/>
          <p:cNvSpPr/>
          <p:nvPr/>
        </p:nvSpPr>
        <p:spPr>
          <a:xfrm>
            <a:off x="1757477" y="3189427"/>
            <a:ext cx="245059" cy="245059"/>
          </a:xfrm>
          <a:prstGeom prst="rect">
            <a:avLst/>
          </a:prstGeom>
          <a:solidFill>
            <a:srgbClr val="E3F8CA"/>
          </a:solidFill>
          <a:ln>
            <a:noFill/>
          </a:ln>
        </p:spPr>
        <p:txBody>
          <a:bodyPr rtlCol="0" anchor="ctr"/>
          <a:lstStyle/>
          <a:p>
            <a:pPr algn="ctr"/>
          </a:p>
        </p:txBody>
      </p:sp>
      <p:sp>
        <p:nvSpPr>
          <p:cNvPr id="73" name="Rectangle 72"/>
          <p:cNvSpPr/>
          <p:nvPr/>
        </p:nvSpPr>
        <p:spPr>
          <a:xfrm>
            <a:off x="2051914" y="3189427"/>
            <a:ext cx="245059" cy="245059"/>
          </a:xfrm>
          <a:prstGeom prst="rect">
            <a:avLst/>
          </a:prstGeom>
          <a:solidFill>
            <a:srgbClr val="E3F8CA"/>
          </a:solidFill>
          <a:ln>
            <a:noFill/>
          </a:ln>
        </p:spPr>
        <p:txBody>
          <a:bodyPr rtlCol="0" anchor="ctr"/>
          <a:lstStyle/>
          <a:p>
            <a:pPr algn="ctr"/>
          </a:p>
        </p:txBody>
      </p:sp>
      <p:sp>
        <p:nvSpPr>
          <p:cNvPr id="74" name="Rectangle 73"/>
          <p:cNvSpPr/>
          <p:nvPr/>
        </p:nvSpPr>
        <p:spPr>
          <a:xfrm>
            <a:off x="2346350" y="3189427"/>
            <a:ext cx="245059" cy="245059"/>
          </a:xfrm>
          <a:prstGeom prst="rect">
            <a:avLst/>
          </a:prstGeom>
          <a:solidFill>
            <a:srgbClr val="E3F8CA"/>
          </a:solidFill>
          <a:ln>
            <a:noFill/>
          </a:ln>
        </p:spPr>
        <p:txBody>
          <a:bodyPr rtlCol="0" anchor="ctr"/>
          <a:lstStyle/>
          <a:p>
            <a:pPr algn="ctr"/>
          </a:p>
        </p:txBody>
      </p:sp>
      <p:sp>
        <p:nvSpPr>
          <p:cNvPr id="75" name="Rectangle 74"/>
          <p:cNvSpPr/>
          <p:nvPr/>
        </p:nvSpPr>
        <p:spPr>
          <a:xfrm>
            <a:off x="2640787" y="3189427"/>
            <a:ext cx="245059" cy="245059"/>
          </a:xfrm>
          <a:prstGeom prst="rect">
            <a:avLst/>
          </a:prstGeom>
          <a:solidFill>
            <a:srgbClr val="41801A"/>
          </a:solidFill>
          <a:ln>
            <a:noFill/>
          </a:ln>
        </p:spPr>
        <p:txBody>
          <a:bodyPr rtlCol="0" anchor="ctr"/>
          <a:lstStyle/>
          <a:p>
            <a:pPr algn="ctr"/>
          </a:p>
        </p:txBody>
      </p:sp>
      <p:sp>
        <p:nvSpPr>
          <p:cNvPr id="76" name="Rectangle 75"/>
          <p:cNvSpPr/>
          <p:nvPr/>
        </p:nvSpPr>
        <p:spPr>
          <a:xfrm>
            <a:off x="2935224" y="3189427"/>
            <a:ext cx="245059" cy="245059"/>
          </a:xfrm>
          <a:prstGeom prst="rect">
            <a:avLst/>
          </a:prstGeom>
          <a:solidFill>
            <a:srgbClr val="E3F8CA"/>
          </a:solidFill>
          <a:ln>
            <a:noFill/>
          </a:ln>
        </p:spPr>
        <p:txBody>
          <a:bodyPr rtlCol="0" anchor="ctr"/>
          <a:lstStyle/>
          <a:p>
            <a:pPr algn="ctr"/>
          </a:p>
        </p:txBody>
      </p:sp>
      <p:sp>
        <p:nvSpPr>
          <p:cNvPr id="77" name="Rectangle 76"/>
          <p:cNvSpPr/>
          <p:nvPr/>
        </p:nvSpPr>
        <p:spPr>
          <a:xfrm>
            <a:off x="3229661" y="3189427"/>
            <a:ext cx="245059" cy="245059"/>
          </a:xfrm>
          <a:prstGeom prst="rect">
            <a:avLst/>
          </a:prstGeom>
          <a:solidFill>
            <a:srgbClr val="E3F8CA"/>
          </a:solidFill>
          <a:ln>
            <a:noFill/>
          </a:ln>
        </p:spPr>
        <p:txBody>
          <a:bodyPr rtlCol="0" anchor="ctr"/>
          <a:lstStyle/>
          <a:p>
            <a:pPr algn="ctr"/>
          </a:p>
        </p:txBody>
      </p:sp>
      <p:sp>
        <p:nvSpPr>
          <p:cNvPr id="78" name="Rectangle 77"/>
          <p:cNvSpPr/>
          <p:nvPr/>
        </p:nvSpPr>
        <p:spPr>
          <a:xfrm>
            <a:off x="3524098" y="3189427"/>
            <a:ext cx="245059" cy="245059"/>
          </a:xfrm>
          <a:prstGeom prst="rect">
            <a:avLst/>
          </a:prstGeom>
          <a:solidFill>
            <a:srgbClr val="E3F8CA"/>
          </a:solidFill>
          <a:ln>
            <a:noFill/>
          </a:ln>
        </p:spPr>
        <p:txBody>
          <a:bodyPr rtlCol="0" anchor="ctr"/>
          <a:lstStyle/>
          <a:p>
            <a:pPr algn="ctr"/>
          </a:p>
        </p:txBody>
      </p:sp>
      <p:sp>
        <p:nvSpPr>
          <p:cNvPr id="79" name="Rectangle 78"/>
          <p:cNvSpPr/>
          <p:nvPr/>
        </p:nvSpPr>
        <p:spPr>
          <a:xfrm>
            <a:off x="3818534" y="3189427"/>
            <a:ext cx="245059" cy="245059"/>
          </a:xfrm>
          <a:prstGeom prst="rect">
            <a:avLst/>
          </a:prstGeom>
          <a:solidFill>
            <a:srgbClr val="E3F8CA"/>
          </a:solidFill>
          <a:ln>
            <a:noFill/>
          </a:ln>
        </p:spPr>
        <p:txBody>
          <a:bodyPr rtlCol="0" anchor="ctr"/>
          <a:lstStyle/>
          <a:p>
            <a:pPr algn="ctr"/>
          </a:p>
        </p:txBody>
      </p:sp>
      <p:sp>
        <p:nvSpPr>
          <p:cNvPr id="80" name="Rectangle 79"/>
          <p:cNvSpPr/>
          <p:nvPr/>
        </p:nvSpPr>
        <p:spPr>
          <a:xfrm>
            <a:off x="4112971" y="3189427"/>
            <a:ext cx="245059" cy="245059"/>
          </a:xfrm>
          <a:prstGeom prst="rect">
            <a:avLst/>
          </a:prstGeom>
          <a:solidFill>
            <a:srgbClr val="E3F8CA"/>
          </a:solidFill>
          <a:ln>
            <a:noFill/>
          </a:ln>
        </p:spPr>
        <p:txBody>
          <a:bodyPr rtlCol="0" anchor="ctr"/>
          <a:lstStyle/>
          <a:p>
            <a:pPr algn="ctr"/>
          </a:p>
        </p:txBody>
      </p:sp>
      <p:sp>
        <p:nvSpPr>
          <p:cNvPr id="81" name="Rectangle 80"/>
          <p:cNvSpPr/>
          <p:nvPr/>
        </p:nvSpPr>
        <p:spPr>
          <a:xfrm>
            <a:off x="4407408" y="3189427"/>
            <a:ext cx="245059" cy="245059"/>
          </a:xfrm>
          <a:prstGeom prst="rect">
            <a:avLst/>
          </a:prstGeom>
          <a:solidFill>
            <a:srgbClr val="E3F8CA"/>
          </a:solidFill>
          <a:ln>
            <a:noFill/>
          </a:ln>
        </p:spPr>
        <p:txBody>
          <a:bodyPr rtlCol="0" anchor="ctr"/>
          <a:lstStyle/>
          <a:p>
            <a:pPr algn="ctr"/>
          </a:p>
        </p:txBody>
      </p:sp>
      <p:sp>
        <p:nvSpPr>
          <p:cNvPr id="82" name="Rectangle 81"/>
          <p:cNvSpPr/>
          <p:nvPr/>
        </p:nvSpPr>
        <p:spPr>
          <a:xfrm>
            <a:off x="4701845" y="3189427"/>
            <a:ext cx="245059" cy="245059"/>
          </a:xfrm>
          <a:prstGeom prst="rect">
            <a:avLst/>
          </a:prstGeom>
          <a:solidFill>
            <a:srgbClr val="E3F8CA"/>
          </a:solidFill>
          <a:ln>
            <a:noFill/>
          </a:ln>
        </p:spPr>
        <p:txBody>
          <a:bodyPr rtlCol="0" anchor="ctr"/>
          <a:lstStyle/>
          <a:p>
            <a:pPr algn="ctr"/>
          </a:p>
        </p:txBody>
      </p:sp>
      <p:sp>
        <p:nvSpPr>
          <p:cNvPr id="83" name="TextBox 82"/>
          <p:cNvSpPr txBox="1"/>
          <p:nvPr/>
        </p:nvSpPr>
        <p:spPr>
          <a:xfrm>
            <a:off x="1051560" y="3474720"/>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6</a:t>
            </a:r>
          </a:p>
        </p:txBody>
      </p:sp>
      <p:sp>
        <p:nvSpPr>
          <p:cNvPr id="84" name="Rectangle 83"/>
          <p:cNvSpPr/>
          <p:nvPr/>
        </p:nvSpPr>
        <p:spPr>
          <a:xfrm>
            <a:off x="1463040" y="3483864"/>
            <a:ext cx="245059" cy="245059"/>
          </a:xfrm>
          <a:prstGeom prst="rect">
            <a:avLst/>
          </a:prstGeom>
          <a:solidFill>
            <a:srgbClr val="E3F8CA"/>
          </a:solidFill>
          <a:ln>
            <a:noFill/>
          </a:ln>
        </p:spPr>
        <p:txBody>
          <a:bodyPr rtlCol="0" anchor="ctr"/>
          <a:lstStyle/>
          <a:p>
            <a:pPr algn="ctr"/>
          </a:p>
        </p:txBody>
      </p:sp>
      <p:sp>
        <p:nvSpPr>
          <p:cNvPr id="85" name="Rectangle 84"/>
          <p:cNvSpPr/>
          <p:nvPr/>
        </p:nvSpPr>
        <p:spPr>
          <a:xfrm>
            <a:off x="1757477" y="3483864"/>
            <a:ext cx="245059" cy="245059"/>
          </a:xfrm>
          <a:prstGeom prst="rect">
            <a:avLst/>
          </a:prstGeom>
          <a:solidFill>
            <a:srgbClr val="E3F8CA"/>
          </a:solidFill>
          <a:ln>
            <a:noFill/>
          </a:ln>
        </p:spPr>
        <p:txBody>
          <a:bodyPr rtlCol="0" anchor="ctr"/>
          <a:lstStyle/>
          <a:p>
            <a:pPr algn="ctr"/>
          </a:p>
        </p:txBody>
      </p:sp>
      <p:sp>
        <p:nvSpPr>
          <p:cNvPr id="86" name="Rectangle 85"/>
          <p:cNvSpPr/>
          <p:nvPr/>
        </p:nvSpPr>
        <p:spPr>
          <a:xfrm>
            <a:off x="2051914" y="3483864"/>
            <a:ext cx="245059" cy="245059"/>
          </a:xfrm>
          <a:prstGeom prst="rect">
            <a:avLst/>
          </a:prstGeom>
          <a:solidFill>
            <a:srgbClr val="E3F8CA"/>
          </a:solidFill>
          <a:ln>
            <a:noFill/>
          </a:ln>
        </p:spPr>
        <p:txBody>
          <a:bodyPr rtlCol="0" anchor="ctr"/>
          <a:lstStyle/>
          <a:p>
            <a:pPr algn="ctr"/>
          </a:p>
        </p:txBody>
      </p:sp>
      <p:sp>
        <p:nvSpPr>
          <p:cNvPr id="87" name="Rectangle 86"/>
          <p:cNvSpPr/>
          <p:nvPr/>
        </p:nvSpPr>
        <p:spPr>
          <a:xfrm>
            <a:off x="2346350" y="3483864"/>
            <a:ext cx="245059" cy="245059"/>
          </a:xfrm>
          <a:prstGeom prst="rect">
            <a:avLst/>
          </a:prstGeom>
          <a:solidFill>
            <a:srgbClr val="E3F8CA"/>
          </a:solidFill>
          <a:ln>
            <a:noFill/>
          </a:ln>
        </p:spPr>
        <p:txBody>
          <a:bodyPr rtlCol="0" anchor="ctr"/>
          <a:lstStyle/>
          <a:p>
            <a:pPr algn="ctr"/>
          </a:p>
        </p:txBody>
      </p:sp>
      <p:sp>
        <p:nvSpPr>
          <p:cNvPr id="88" name="Rectangle 87"/>
          <p:cNvSpPr/>
          <p:nvPr/>
        </p:nvSpPr>
        <p:spPr>
          <a:xfrm>
            <a:off x="2640787" y="3483864"/>
            <a:ext cx="245059" cy="245059"/>
          </a:xfrm>
          <a:prstGeom prst="rect">
            <a:avLst/>
          </a:prstGeom>
          <a:solidFill>
            <a:srgbClr val="E3F8CA"/>
          </a:solidFill>
          <a:ln>
            <a:noFill/>
          </a:ln>
        </p:spPr>
        <p:txBody>
          <a:bodyPr rtlCol="0" anchor="ctr"/>
          <a:lstStyle/>
          <a:p>
            <a:pPr algn="ctr"/>
          </a:p>
        </p:txBody>
      </p:sp>
      <p:sp>
        <p:nvSpPr>
          <p:cNvPr id="89" name="Rectangle 88"/>
          <p:cNvSpPr/>
          <p:nvPr/>
        </p:nvSpPr>
        <p:spPr>
          <a:xfrm>
            <a:off x="2935224" y="3483864"/>
            <a:ext cx="245059" cy="245059"/>
          </a:xfrm>
          <a:prstGeom prst="rect">
            <a:avLst/>
          </a:prstGeom>
          <a:solidFill>
            <a:srgbClr val="41801A"/>
          </a:solidFill>
          <a:ln>
            <a:noFill/>
          </a:ln>
        </p:spPr>
        <p:txBody>
          <a:bodyPr rtlCol="0" anchor="ctr"/>
          <a:lstStyle/>
          <a:p>
            <a:pPr algn="ctr"/>
          </a:p>
        </p:txBody>
      </p:sp>
      <p:sp>
        <p:nvSpPr>
          <p:cNvPr id="90" name="Rectangle 89"/>
          <p:cNvSpPr/>
          <p:nvPr/>
        </p:nvSpPr>
        <p:spPr>
          <a:xfrm>
            <a:off x="3229661" y="3483864"/>
            <a:ext cx="245059" cy="245059"/>
          </a:xfrm>
          <a:prstGeom prst="rect">
            <a:avLst/>
          </a:prstGeom>
          <a:solidFill>
            <a:srgbClr val="E3F8CA"/>
          </a:solidFill>
          <a:ln>
            <a:noFill/>
          </a:ln>
        </p:spPr>
        <p:txBody>
          <a:bodyPr rtlCol="0" anchor="ctr"/>
          <a:lstStyle/>
          <a:p>
            <a:pPr algn="ctr"/>
          </a:p>
        </p:txBody>
      </p:sp>
      <p:sp>
        <p:nvSpPr>
          <p:cNvPr id="91" name="Rectangle 90"/>
          <p:cNvSpPr/>
          <p:nvPr/>
        </p:nvSpPr>
        <p:spPr>
          <a:xfrm>
            <a:off x="3524098" y="3483864"/>
            <a:ext cx="245059" cy="245059"/>
          </a:xfrm>
          <a:prstGeom prst="rect">
            <a:avLst/>
          </a:prstGeom>
          <a:solidFill>
            <a:srgbClr val="E3F8CA"/>
          </a:solidFill>
          <a:ln>
            <a:noFill/>
          </a:ln>
        </p:spPr>
        <p:txBody>
          <a:bodyPr rtlCol="0" anchor="ctr"/>
          <a:lstStyle/>
          <a:p>
            <a:pPr algn="ctr"/>
          </a:p>
        </p:txBody>
      </p:sp>
      <p:sp>
        <p:nvSpPr>
          <p:cNvPr id="92" name="Rectangle 91"/>
          <p:cNvSpPr/>
          <p:nvPr/>
        </p:nvSpPr>
        <p:spPr>
          <a:xfrm>
            <a:off x="3818534" y="3483864"/>
            <a:ext cx="245059" cy="245059"/>
          </a:xfrm>
          <a:prstGeom prst="rect">
            <a:avLst/>
          </a:prstGeom>
          <a:solidFill>
            <a:srgbClr val="E3F8CA"/>
          </a:solidFill>
          <a:ln>
            <a:noFill/>
          </a:ln>
        </p:spPr>
        <p:txBody>
          <a:bodyPr rtlCol="0" anchor="ctr"/>
          <a:lstStyle/>
          <a:p>
            <a:pPr algn="ctr"/>
          </a:p>
        </p:txBody>
      </p:sp>
      <p:sp>
        <p:nvSpPr>
          <p:cNvPr id="93" name="Rectangle 92"/>
          <p:cNvSpPr/>
          <p:nvPr/>
        </p:nvSpPr>
        <p:spPr>
          <a:xfrm>
            <a:off x="4112971" y="3483864"/>
            <a:ext cx="245059" cy="245059"/>
          </a:xfrm>
          <a:prstGeom prst="rect">
            <a:avLst/>
          </a:prstGeom>
          <a:solidFill>
            <a:srgbClr val="E3F8CA"/>
          </a:solidFill>
          <a:ln>
            <a:noFill/>
          </a:ln>
        </p:spPr>
        <p:txBody>
          <a:bodyPr rtlCol="0" anchor="ctr"/>
          <a:lstStyle/>
          <a:p>
            <a:pPr algn="ctr"/>
          </a:p>
        </p:txBody>
      </p:sp>
      <p:sp>
        <p:nvSpPr>
          <p:cNvPr id="94" name="Rectangle 93"/>
          <p:cNvSpPr/>
          <p:nvPr/>
        </p:nvSpPr>
        <p:spPr>
          <a:xfrm>
            <a:off x="4407408" y="3483864"/>
            <a:ext cx="245059" cy="245059"/>
          </a:xfrm>
          <a:prstGeom prst="rect">
            <a:avLst/>
          </a:prstGeom>
          <a:solidFill>
            <a:srgbClr val="E3F8CA"/>
          </a:solidFill>
          <a:ln>
            <a:noFill/>
          </a:ln>
        </p:spPr>
        <p:txBody>
          <a:bodyPr rtlCol="0" anchor="ctr"/>
          <a:lstStyle/>
          <a:p>
            <a:pPr algn="ctr"/>
          </a:p>
        </p:txBody>
      </p:sp>
      <p:sp>
        <p:nvSpPr>
          <p:cNvPr id="95" name="Rectangle 94"/>
          <p:cNvSpPr/>
          <p:nvPr/>
        </p:nvSpPr>
        <p:spPr>
          <a:xfrm>
            <a:off x="4701845" y="3483864"/>
            <a:ext cx="245059" cy="245059"/>
          </a:xfrm>
          <a:prstGeom prst="rect">
            <a:avLst/>
          </a:prstGeom>
          <a:solidFill>
            <a:srgbClr val="E3F8CA"/>
          </a:solidFill>
          <a:ln>
            <a:noFill/>
          </a:ln>
        </p:spPr>
        <p:txBody>
          <a:bodyPr rtlCol="0" anchor="ctr"/>
          <a:lstStyle/>
          <a:p>
            <a:pPr algn="ctr"/>
          </a:p>
        </p:txBody>
      </p:sp>
      <p:sp>
        <p:nvSpPr>
          <p:cNvPr id="96" name="TextBox 95"/>
          <p:cNvSpPr txBox="1"/>
          <p:nvPr/>
        </p:nvSpPr>
        <p:spPr>
          <a:xfrm>
            <a:off x="1051560" y="3769157"/>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7</a:t>
            </a:r>
          </a:p>
        </p:txBody>
      </p:sp>
      <p:sp>
        <p:nvSpPr>
          <p:cNvPr id="97" name="Rectangle 96"/>
          <p:cNvSpPr/>
          <p:nvPr/>
        </p:nvSpPr>
        <p:spPr>
          <a:xfrm>
            <a:off x="1463040" y="3778301"/>
            <a:ext cx="245059" cy="245059"/>
          </a:xfrm>
          <a:prstGeom prst="rect">
            <a:avLst/>
          </a:prstGeom>
          <a:solidFill>
            <a:srgbClr val="E3F8CA"/>
          </a:solidFill>
          <a:ln>
            <a:noFill/>
          </a:ln>
        </p:spPr>
        <p:txBody>
          <a:bodyPr rtlCol="0" anchor="ctr"/>
          <a:lstStyle/>
          <a:p>
            <a:pPr algn="ctr"/>
          </a:p>
        </p:txBody>
      </p:sp>
      <p:sp>
        <p:nvSpPr>
          <p:cNvPr id="98" name="Rectangle 97"/>
          <p:cNvSpPr/>
          <p:nvPr/>
        </p:nvSpPr>
        <p:spPr>
          <a:xfrm>
            <a:off x="1757477" y="3778301"/>
            <a:ext cx="245059" cy="245059"/>
          </a:xfrm>
          <a:prstGeom prst="rect">
            <a:avLst/>
          </a:prstGeom>
          <a:solidFill>
            <a:srgbClr val="E3F8CA"/>
          </a:solidFill>
          <a:ln>
            <a:noFill/>
          </a:ln>
        </p:spPr>
        <p:txBody>
          <a:bodyPr rtlCol="0" anchor="ctr"/>
          <a:lstStyle/>
          <a:p>
            <a:pPr algn="ctr"/>
          </a:p>
        </p:txBody>
      </p:sp>
      <p:sp>
        <p:nvSpPr>
          <p:cNvPr id="99" name="Rectangle 98"/>
          <p:cNvSpPr/>
          <p:nvPr/>
        </p:nvSpPr>
        <p:spPr>
          <a:xfrm>
            <a:off x="2051914" y="3778301"/>
            <a:ext cx="245059" cy="245059"/>
          </a:xfrm>
          <a:prstGeom prst="rect">
            <a:avLst/>
          </a:prstGeom>
          <a:solidFill>
            <a:srgbClr val="E3F8CA"/>
          </a:solidFill>
          <a:ln>
            <a:noFill/>
          </a:ln>
        </p:spPr>
        <p:txBody>
          <a:bodyPr rtlCol="0" anchor="ctr"/>
          <a:lstStyle/>
          <a:p>
            <a:pPr algn="ctr"/>
          </a:p>
        </p:txBody>
      </p:sp>
      <p:sp>
        <p:nvSpPr>
          <p:cNvPr id="100" name="Rectangle 99"/>
          <p:cNvSpPr/>
          <p:nvPr/>
        </p:nvSpPr>
        <p:spPr>
          <a:xfrm>
            <a:off x="2346350" y="3778301"/>
            <a:ext cx="245059" cy="245059"/>
          </a:xfrm>
          <a:prstGeom prst="rect">
            <a:avLst/>
          </a:prstGeom>
          <a:solidFill>
            <a:srgbClr val="E3F8CA"/>
          </a:solidFill>
          <a:ln>
            <a:noFill/>
          </a:ln>
        </p:spPr>
        <p:txBody>
          <a:bodyPr rtlCol="0" anchor="ctr"/>
          <a:lstStyle/>
          <a:p>
            <a:pPr algn="ctr"/>
          </a:p>
        </p:txBody>
      </p:sp>
      <p:sp>
        <p:nvSpPr>
          <p:cNvPr id="101" name="Rectangle 100"/>
          <p:cNvSpPr/>
          <p:nvPr/>
        </p:nvSpPr>
        <p:spPr>
          <a:xfrm>
            <a:off x="2640787" y="3778301"/>
            <a:ext cx="245059" cy="245059"/>
          </a:xfrm>
          <a:prstGeom prst="rect">
            <a:avLst/>
          </a:prstGeom>
          <a:solidFill>
            <a:srgbClr val="E3F8CA"/>
          </a:solidFill>
          <a:ln>
            <a:noFill/>
          </a:ln>
        </p:spPr>
        <p:txBody>
          <a:bodyPr rtlCol="0" anchor="ctr"/>
          <a:lstStyle/>
          <a:p>
            <a:pPr algn="ctr"/>
          </a:p>
        </p:txBody>
      </p:sp>
      <p:sp>
        <p:nvSpPr>
          <p:cNvPr id="102" name="Rectangle 101"/>
          <p:cNvSpPr/>
          <p:nvPr/>
        </p:nvSpPr>
        <p:spPr>
          <a:xfrm>
            <a:off x="2935224" y="3778301"/>
            <a:ext cx="245059" cy="245059"/>
          </a:xfrm>
          <a:prstGeom prst="rect">
            <a:avLst/>
          </a:prstGeom>
          <a:solidFill>
            <a:srgbClr val="E3F8CA"/>
          </a:solidFill>
          <a:ln>
            <a:noFill/>
          </a:ln>
        </p:spPr>
        <p:txBody>
          <a:bodyPr rtlCol="0" anchor="ctr"/>
          <a:lstStyle/>
          <a:p>
            <a:pPr algn="ctr"/>
          </a:p>
        </p:txBody>
      </p:sp>
      <p:sp>
        <p:nvSpPr>
          <p:cNvPr id="103" name="Rectangle 102"/>
          <p:cNvSpPr/>
          <p:nvPr/>
        </p:nvSpPr>
        <p:spPr>
          <a:xfrm>
            <a:off x="3229661" y="3778301"/>
            <a:ext cx="245059" cy="245059"/>
          </a:xfrm>
          <a:prstGeom prst="rect">
            <a:avLst/>
          </a:prstGeom>
          <a:solidFill>
            <a:srgbClr val="41801A"/>
          </a:solidFill>
          <a:ln>
            <a:noFill/>
          </a:ln>
        </p:spPr>
        <p:txBody>
          <a:bodyPr rtlCol="0" anchor="ctr"/>
          <a:lstStyle/>
          <a:p>
            <a:pPr algn="ctr"/>
          </a:p>
        </p:txBody>
      </p:sp>
      <p:sp>
        <p:nvSpPr>
          <p:cNvPr id="104" name="Rectangle 103"/>
          <p:cNvSpPr/>
          <p:nvPr/>
        </p:nvSpPr>
        <p:spPr>
          <a:xfrm>
            <a:off x="3524098" y="3778301"/>
            <a:ext cx="245059" cy="245059"/>
          </a:xfrm>
          <a:prstGeom prst="rect">
            <a:avLst/>
          </a:prstGeom>
          <a:solidFill>
            <a:srgbClr val="E3F8CA"/>
          </a:solidFill>
          <a:ln>
            <a:noFill/>
          </a:ln>
        </p:spPr>
        <p:txBody>
          <a:bodyPr rtlCol="0" anchor="ctr"/>
          <a:lstStyle/>
          <a:p>
            <a:pPr algn="ctr"/>
          </a:p>
        </p:txBody>
      </p:sp>
      <p:sp>
        <p:nvSpPr>
          <p:cNvPr id="105" name="Rectangle 104"/>
          <p:cNvSpPr/>
          <p:nvPr/>
        </p:nvSpPr>
        <p:spPr>
          <a:xfrm>
            <a:off x="3818534" y="3778301"/>
            <a:ext cx="245059" cy="245059"/>
          </a:xfrm>
          <a:prstGeom prst="rect">
            <a:avLst/>
          </a:prstGeom>
          <a:solidFill>
            <a:srgbClr val="E3F8CA"/>
          </a:solidFill>
          <a:ln>
            <a:noFill/>
          </a:ln>
        </p:spPr>
        <p:txBody>
          <a:bodyPr rtlCol="0" anchor="ctr"/>
          <a:lstStyle/>
          <a:p>
            <a:pPr algn="ctr"/>
          </a:p>
        </p:txBody>
      </p:sp>
      <p:sp>
        <p:nvSpPr>
          <p:cNvPr id="106" name="Rectangle 105"/>
          <p:cNvSpPr/>
          <p:nvPr/>
        </p:nvSpPr>
        <p:spPr>
          <a:xfrm>
            <a:off x="4112971" y="3778301"/>
            <a:ext cx="245059" cy="245059"/>
          </a:xfrm>
          <a:prstGeom prst="rect">
            <a:avLst/>
          </a:prstGeom>
          <a:solidFill>
            <a:srgbClr val="E3F8CA"/>
          </a:solidFill>
          <a:ln>
            <a:noFill/>
          </a:ln>
        </p:spPr>
        <p:txBody>
          <a:bodyPr rtlCol="0" anchor="ctr"/>
          <a:lstStyle/>
          <a:p>
            <a:pPr algn="ctr"/>
          </a:p>
        </p:txBody>
      </p:sp>
      <p:sp>
        <p:nvSpPr>
          <p:cNvPr id="107" name="Rectangle 106"/>
          <p:cNvSpPr/>
          <p:nvPr/>
        </p:nvSpPr>
        <p:spPr>
          <a:xfrm>
            <a:off x="4407408" y="3778301"/>
            <a:ext cx="245059" cy="245059"/>
          </a:xfrm>
          <a:prstGeom prst="rect">
            <a:avLst/>
          </a:prstGeom>
          <a:solidFill>
            <a:srgbClr val="E3F8CA"/>
          </a:solidFill>
          <a:ln>
            <a:noFill/>
          </a:ln>
        </p:spPr>
        <p:txBody>
          <a:bodyPr rtlCol="0" anchor="ctr"/>
          <a:lstStyle/>
          <a:p>
            <a:pPr algn="ctr"/>
          </a:p>
        </p:txBody>
      </p:sp>
      <p:sp>
        <p:nvSpPr>
          <p:cNvPr id="108" name="Rectangle 107"/>
          <p:cNvSpPr/>
          <p:nvPr/>
        </p:nvSpPr>
        <p:spPr>
          <a:xfrm>
            <a:off x="4701845" y="3778301"/>
            <a:ext cx="245059" cy="245059"/>
          </a:xfrm>
          <a:prstGeom prst="rect">
            <a:avLst/>
          </a:prstGeom>
          <a:solidFill>
            <a:srgbClr val="E3F8CA"/>
          </a:solidFill>
          <a:ln>
            <a:noFill/>
          </a:ln>
        </p:spPr>
        <p:txBody>
          <a:bodyPr rtlCol="0" anchor="ctr"/>
          <a:lstStyle/>
          <a:p>
            <a:pPr algn="ctr"/>
          </a:p>
        </p:txBody>
      </p:sp>
      <p:sp>
        <p:nvSpPr>
          <p:cNvPr id="109" name="TextBox 108"/>
          <p:cNvSpPr txBox="1"/>
          <p:nvPr/>
        </p:nvSpPr>
        <p:spPr>
          <a:xfrm>
            <a:off x="1051560" y="4063594"/>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8</a:t>
            </a:r>
          </a:p>
        </p:txBody>
      </p:sp>
      <p:sp>
        <p:nvSpPr>
          <p:cNvPr id="110" name="Rectangle 109"/>
          <p:cNvSpPr/>
          <p:nvPr/>
        </p:nvSpPr>
        <p:spPr>
          <a:xfrm>
            <a:off x="1463040" y="4072738"/>
            <a:ext cx="245059" cy="245059"/>
          </a:xfrm>
          <a:prstGeom prst="rect">
            <a:avLst/>
          </a:prstGeom>
          <a:solidFill>
            <a:srgbClr val="E3F8CA"/>
          </a:solidFill>
          <a:ln>
            <a:noFill/>
          </a:ln>
        </p:spPr>
        <p:txBody>
          <a:bodyPr rtlCol="0" anchor="ctr"/>
          <a:lstStyle/>
          <a:p>
            <a:pPr algn="ctr"/>
          </a:p>
        </p:txBody>
      </p:sp>
      <p:sp>
        <p:nvSpPr>
          <p:cNvPr id="111" name="Rectangle 110"/>
          <p:cNvSpPr/>
          <p:nvPr/>
        </p:nvSpPr>
        <p:spPr>
          <a:xfrm>
            <a:off x="1757477" y="4072738"/>
            <a:ext cx="245059" cy="245059"/>
          </a:xfrm>
          <a:prstGeom prst="rect">
            <a:avLst/>
          </a:prstGeom>
          <a:solidFill>
            <a:srgbClr val="E3F8CA"/>
          </a:solidFill>
          <a:ln>
            <a:noFill/>
          </a:ln>
        </p:spPr>
        <p:txBody>
          <a:bodyPr rtlCol="0" anchor="ctr"/>
          <a:lstStyle/>
          <a:p>
            <a:pPr algn="ctr"/>
          </a:p>
        </p:txBody>
      </p:sp>
      <p:sp>
        <p:nvSpPr>
          <p:cNvPr id="112" name="Rectangle 111"/>
          <p:cNvSpPr/>
          <p:nvPr/>
        </p:nvSpPr>
        <p:spPr>
          <a:xfrm>
            <a:off x="2051914" y="4072738"/>
            <a:ext cx="245059" cy="245059"/>
          </a:xfrm>
          <a:prstGeom prst="rect">
            <a:avLst/>
          </a:prstGeom>
          <a:solidFill>
            <a:srgbClr val="E3F8CA"/>
          </a:solidFill>
          <a:ln>
            <a:noFill/>
          </a:ln>
        </p:spPr>
        <p:txBody>
          <a:bodyPr rtlCol="0" anchor="ctr"/>
          <a:lstStyle/>
          <a:p>
            <a:pPr algn="ctr"/>
          </a:p>
        </p:txBody>
      </p:sp>
      <p:sp>
        <p:nvSpPr>
          <p:cNvPr id="113" name="Rectangle 112"/>
          <p:cNvSpPr/>
          <p:nvPr/>
        </p:nvSpPr>
        <p:spPr>
          <a:xfrm>
            <a:off x="2346350" y="4072738"/>
            <a:ext cx="245059" cy="245059"/>
          </a:xfrm>
          <a:prstGeom prst="rect">
            <a:avLst/>
          </a:prstGeom>
          <a:solidFill>
            <a:srgbClr val="E3F8CA"/>
          </a:solidFill>
          <a:ln>
            <a:noFill/>
          </a:ln>
        </p:spPr>
        <p:txBody>
          <a:bodyPr rtlCol="0" anchor="ctr"/>
          <a:lstStyle/>
          <a:p>
            <a:pPr algn="ctr"/>
          </a:p>
        </p:txBody>
      </p:sp>
      <p:sp>
        <p:nvSpPr>
          <p:cNvPr id="114" name="Rectangle 113"/>
          <p:cNvSpPr/>
          <p:nvPr/>
        </p:nvSpPr>
        <p:spPr>
          <a:xfrm>
            <a:off x="2640787" y="4072738"/>
            <a:ext cx="245059" cy="245059"/>
          </a:xfrm>
          <a:prstGeom prst="rect">
            <a:avLst/>
          </a:prstGeom>
          <a:solidFill>
            <a:srgbClr val="E3F8CA"/>
          </a:solidFill>
          <a:ln>
            <a:noFill/>
          </a:ln>
        </p:spPr>
        <p:txBody>
          <a:bodyPr rtlCol="0" anchor="ctr"/>
          <a:lstStyle/>
          <a:p>
            <a:pPr algn="ctr"/>
          </a:p>
        </p:txBody>
      </p:sp>
      <p:sp>
        <p:nvSpPr>
          <p:cNvPr id="115" name="Rectangle 114"/>
          <p:cNvSpPr/>
          <p:nvPr/>
        </p:nvSpPr>
        <p:spPr>
          <a:xfrm>
            <a:off x="2935224" y="4072738"/>
            <a:ext cx="245059" cy="245059"/>
          </a:xfrm>
          <a:prstGeom prst="rect">
            <a:avLst/>
          </a:prstGeom>
          <a:solidFill>
            <a:srgbClr val="E3F8CA"/>
          </a:solidFill>
          <a:ln>
            <a:noFill/>
          </a:ln>
        </p:spPr>
        <p:txBody>
          <a:bodyPr rtlCol="0" anchor="ctr"/>
          <a:lstStyle/>
          <a:p>
            <a:pPr algn="ctr"/>
          </a:p>
        </p:txBody>
      </p:sp>
      <p:sp>
        <p:nvSpPr>
          <p:cNvPr id="116" name="Rectangle 115"/>
          <p:cNvSpPr/>
          <p:nvPr/>
        </p:nvSpPr>
        <p:spPr>
          <a:xfrm>
            <a:off x="3229661" y="4072738"/>
            <a:ext cx="245059" cy="245059"/>
          </a:xfrm>
          <a:prstGeom prst="rect">
            <a:avLst/>
          </a:prstGeom>
          <a:solidFill>
            <a:srgbClr val="E3F8CA"/>
          </a:solidFill>
          <a:ln>
            <a:noFill/>
          </a:ln>
        </p:spPr>
        <p:txBody>
          <a:bodyPr rtlCol="0" anchor="ctr"/>
          <a:lstStyle/>
          <a:p>
            <a:pPr algn="ctr"/>
          </a:p>
        </p:txBody>
      </p:sp>
      <p:sp>
        <p:nvSpPr>
          <p:cNvPr id="117" name="Rectangle 116"/>
          <p:cNvSpPr/>
          <p:nvPr/>
        </p:nvSpPr>
        <p:spPr>
          <a:xfrm>
            <a:off x="3524098" y="4072738"/>
            <a:ext cx="245059" cy="245059"/>
          </a:xfrm>
          <a:prstGeom prst="rect">
            <a:avLst/>
          </a:prstGeom>
          <a:solidFill>
            <a:srgbClr val="41801A"/>
          </a:solidFill>
          <a:ln>
            <a:noFill/>
          </a:ln>
        </p:spPr>
        <p:txBody>
          <a:bodyPr rtlCol="0" anchor="ctr"/>
          <a:lstStyle/>
          <a:p>
            <a:pPr algn="ctr"/>
          </a:p>
        </p:txBody>
      </p:sp>
      <p:sp>
        <p:nvSpPr>
          <p:cNvPr id="118" name="Rectangle 117"/>
          <p:cNvSpPr/>
          <p:nvPr/>
        </p:nvSpPr>
        <p:spPr>
          <a:xfrm>
            <a:off x="3818534" y="4072738"/>
            <a:ext cx="245059" cy="245059"/>
          </a:xfrm>
          <a:prstGeom prst="rect">
            <a:avLst/>
          </a:prstGeom>
          <a:solidFill>
            <a:srgbClr val="E3F8CA"/>
          </a:solidFill>
          <a:ln>
            <a:noFill/>
          </a:ln>
        </p:spPr>
        <p:txBody>
          <a:bodyPr rtlCol="0" anchor="ctr"/>
          <a:lstStyle/>
          <a:p>
            <a:pPr algn="ctr"/>
          </a:p>
        </p:txBody>
      </p:sp>
      <p:sp>
        <p:nvSpPr>
          <p:cNvPr id="119" name="Rectangle 118"/>
          <p:cNvSpPr/>
          <p:nvPr/>
        </p:nvSpPr>
        <p:spPr>
          <a:xfrm>
            <a:off x="4112971" y="4072738"/>
            <a:ext cx="245059" cy="245059"/>
          </a:xfrm>
          <a:prstGeom prst="rect">
            <a:avLst/>
          </a:prstGeom>
          <a:solidFill>
            <a:srgbClr val="E3F8CA"/>
          </a:solidFill>
          <a:ln>
            <a:noFill/>
          </a:ln>
        </p:spPr>
        <p:txBody>
          <a:bodyPr rtlCol="0" anchor="ctr"/>
          <a:lstStyle/>
          <a:p>
            <a:pPr algn="ctr"/>
          </a:p>
        </p:txBody>
      </p:sp>
      <p:sp>
        <p:nvSpPr>
          <p:cNvPr id="120" name="Rectangle 119"/>
          <p:cNvSpPr/>
          <p:nvPr/>
        </p:nvSpPr>
        <p:spPr>
          <a:xfrm>
            <a:off x="4407408" y="4072738"/>
            <a:ext cx="245059" cy="245059"/>
          </a:xfrm>
          <a:prstGeom prst="rect">
            <a:avLst/>
          </a:prstGeom>
          <a:solidFill>
            <a:srgbClr val="E3F8CA"/>
          </a:solidFill>
          <a:ln>
            <a:noFill/>
          </a:ln>
        </p:spPr>
        <p:txBody>
          <a:bodyPr rtlCol="0" anchor="ctr"/>
          <a:lstStyle/>
          <a:p>
            <a:pPr algn="ctr"/>
          </a:p>
        </p:txBody>
      </p:sp>
      <p:sp>
        <p:nvSpPr>
          <p:cNvPr id="121" name="Rectangle 120"/>
          <p:cNvSpPr/>
          <p:nvPr/>
        </p:nvSpPr>
        <p:spPr>
          <a:xfrm>
            <a:off x="4701845" y="4072738"/>
            <a:ext cx="245059" cy="245059"/>
          </a:xfrm>
          <a:prstGeom prst="rect">
            <a:avLst/>
          </a:prstGeom>
          <a:solidFill>
            <a:srgbClr val="E3F8CA"/>
          </a:solidFill>
          <a:ln>
            <a:noFill/>
          </a:ln>
        </p:spPr>
        <p:txBody>
          <a:bodyPr rtlCol="0" anchor="ctr"/>
          <a:lstStyle/>
          <a:p>
            <a:pPr algn="ctr"/>
          </a:p>
        </p:txBody>
      </p:sp>
      <p:sp>
        <p:nvSpPr>
          <p:cNvPr id="122" name="TextBox 121"/>
          <p:cNvSpPr txBox="1"/>
          <p:nvPr/>
        </p:nvSpPr>
        <p:spPr>
          <a:xfrm>
            <a:off x="1051560" y="4358030"/>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9</a:t>
            </a:r>
          </a:p>
        </p:txBody>
      </p:sp>
      <p:sp>
        <p:nvSpPr>
          <p:cNvPr id="123" name="Rectangle 122"/>
          <p:cNvSpPr/>
          <p:nvPr/>
        </p:nvSpPr>
        <p:spPr>
          <a:xfrm>
            <a:off x="1463040" y="4367174"/>
            <a:ext cx="245059" cy="245059"/>
          </a:xfrm>
          <a:prstGeom prst="rect">
            <a:avLst/>
          </a:prstGeom>
          <a:solidFill>
            <a:srgbClr val="E3F8CA"/>
          </a:solidFill>
          <a:ln>
            <a:noFill/>
          </a:ln>
        </p:spPr>
        <p:txBody>
          <a:bodyPr rtlCol="0" anchor="ctr"/>
          <a:lstStyle/>
          <a:p>
            <a:pPr algn="ctr"/>
          </a:p>
        </p:txBody>
      </p:sp>
      <p:sp>
        <p:nvSpPr>
          <p:cNvPr id="124" name="Rectangle 123"/>
          <p:cNvSpPr/>
          <p:nvPr/>
        </p:nvSpPr>
        <p:spPr>
          <a:xfrm>
            <a:off x="1757477" y="4367174"/>
            <a:ext cx="245059" cy="245059"/>
          </a:xfrm>
          <a:prstGeom prst="rect">
            <a:avLst/>
          </a:prstGeom>
          <a:solidFill>
            <a:srgbClr val="E3F8CA"/>
          </a:solidFill>
          <a:ln>
            <a:noFill/>
          </a:ln>
        </p:spPr>
        <p:txBody>
          <a:bodyPr rtlCol="0" anchor="ctr"/>
          <a:lstStyle/>
          <a:p>
            <a:pPr algn="ctr"/>
          </a:p>
        </p:txBody>
      </p:sp>
      <p:sp>
        <p:nvSpPr>
          <p:cNvPr id="125" name="Rectangle 124"/>
          <p:cNvSpPr/>
          <p:nvPr/>
        </p:nvSpPr>
        <p:spPr>
          <a:xfrm>
            <a:off x="2051914" y="4367174"/>
            <a:ext cx="245059" cy="245059"/>
          </a:xfrm>
          <a:prstGeom prst="rect">
            <a:avLst/>
          </a:prstGeom>
          <a:solidFill>
            <a:srgbClr val="E3F8CA"/>
          </a:solidFill>
          <a:ln>
            <a:noFill/>
          </a:ln>
        </p:spPr>
        <p:txBody>
          <a:bodyPr rtlCol="0" anchor="ctr"/>
          <a:lstStyle/>
          <a:p>
            <a:pPr algn="ctr"/>
          </a:p>
        </p:txBody>
      </p:sp>
      <p:sp>
        <p:nvSpPr>
          <p:cNvPr id="126" name="Rectangle 125"/>
          <p:cNvSpPr/>
          <p:nvPr/>
        </p:nvSpPr>
        <p:spPr>
          <a:xfrm>
            <a:off x="2346350" y="4367174"/>
            <a:ext cx="245059" cy="245059"/>
          </a:xfrm>
          <a:prstGeom prst="rect">
            <a:avLst/>
          </a:prstGeom>
          <a:solidFill>
            <a:srgbClr val="E3F8CA"/>
          </a:solidFill>
          <a:ln>
            <a:noFill/>
          </a:ln>
        </p:spPr>
        <p:txBody>
          <a:bodyPr rtlCol="0" anchor="ctr"/>
          <a:lstStyle/>
          <a:p>
            <a:pPr algn="ctr"/>
          </a:p>
        </p:txBody>
      </p:sp>
      <p:sp>
        <p:nvSpPr>
          <p:cNvPr id="127" name="Rectangle 126"/>
          <p:cNvSpPr/>
          <p:nvPr/>
        </p:nvSpPr>
        <p:spPr>
          <a:xfrm>
            <a:off x="2640787" y="4367174"/>
            <a:ext cx="245059" cy="245059"/>
          </a:xfrm>
          <a:prstGeom prst="rect">
            <a:avLst/>
          </a:prstGeom>
          <a:solidFill>
            <a:srgbClr val="E3F8CA"/>
          </a:solidFill>
          <a:ln>
            <a:noFill/>
          </a:ln>
        </p:spPr>
        <p:txBody>
          <a:bodyPr rtlCol="0" anchor="ctr"/>
          <a:lstStyle/>
          <a:p>
            <a:pPr algn="ctr"/>
          </a:p>
        </p:txBody>
      </p:sp>
      <p:sp>
        <p:nvSpPr>
          <p:cNvPr id="128" name="Rectangle 127"/>
          <p:cNvSpPr/>
          <p:nvPr/>
        </p:nvSpPr>
        <p:spPr>
          <a:xfrm>
            <a:off x="2935224" y="4367174"/>
            <a:ext cx="245059" cy="245059"/>
          </a:xfrm>
          <a:prstGeom prst="rect">
            <a:avLst/>
          </a:prstGeom>
          <a:solidFill>
            <a:srgbClr val="E3F8CA"/>
          </a:solidFill>
          <a:ln>
            <a:noFill/>
          </a:ln>
        </p:spPr>
        <p:txBody>
          <a:bodyPr rtlCol="0" anchor="ctr"/>
          <a:lstStyle/>
          <a:p>
            <a:pPr algn="ctr"/>
          </a:p>
        </p:txBody>
      </p:sp>
      <p:sp>
        <p:nvSpPr>
          <p:cNvPr id="129" name="Rectangle 128"/>
          <p:cNvSpPr/>
          <p:nvPr/>
        </p:nvSpPr>
        <p:spPr>
          <a:xfrm>
            <a:off x="3229661" y="4367174"/>
            <a:ext cx="245059" cy="245059"/>
          </a:xfrm>
          <a:prstGeom prst="rect">
            <a:avLst/>
          </a:prstGeom>
          <a:solidFill>
            <a:srgbClr val="E3F8CA"/>
          </a:solidFill>
          <a:ln>
            <a:noFill/>
          </a:ln>
        </p:spPr>
        <p:txBody>
          <a:bodyPr rtlCol="0" anchor="ctr"/>
          <a:lstStyle/>
          <a:p>
            <a:pPr algn="ctr"/>
          </a:p>
        </p:txBody>
      </p:sp>
      <p:sp>
        <p:nvSpPr>
          <p:cNvPr id="130" name="Rectangle 129"/>
          <p:cNvSpPr/>
          <p:nvPr/>
        </p:nvSpPr>
        <p:spPr>
          <a:xfrm>
            <a:off x="3524098" y="4367174"/>
            <a:ext cx="245059" cy="245059"/>
          </a:xfrm>
          <a:prstGeom prst="rect">
            <a:avLst/>
          </a:prstGeom>
          <a:solidFill>
            <a:srgbClr val="E3F8CA"/>
          </a:solidFill>
          <a:ln>
            <a:noFill/>
          </a:ln>
        </p:spPr>
        <p:txBody>
          <a:bodyPr rtlCol="0" anchor="ctr"/>
          <a:lstStyle/>
          <a:p>
            <a:pPr algn="ctr"/>
          </a:p>
        </p:txBody>
      </p:sp>
      <p:sp>
        <p:nvSpPr>
          <p:cNvPr id="131" name="Rectangle 130"/>
          <p:cNvSpPr/>
          <p:nvPr/>
        </p:nvSpPr>
        <p:spPr>
          <a:xfrm>
            <a:off x="3818534" y="4367174"/>
            <a:ext cx="245059" cy="245059"/>
          </a:xfrm>
          <a:prstGeom prst="rect">
            <a:avLst/>
          </a:prstGeom>
          <a:solidFill>
            <a:srgbClr val="41801A"/>
          </a:solidFill>
          <a:ln>
            <a:noFill/>
          </a:ln>
        </p:spPr>
        <p:txBody>
          <a:bodyPr rtlCol="0" anchor="ctr"/>
          <a:lstStyle/>
          <a:p>
            <a:pPr algn="ctr"/>
          </a:p>
        </p:txBody>
      </p:sp>
      <p:sp>
        <p:nvSpPr>
          <p:cNvPr id="132" name="Rectangle 131"/>
          <p:cNvSpPr/>
          <p:nvPr/>
        </p:nvSpPr>
        <p:spPr>
          <a:xfrm>
            <a:off x="4112971" y="4367174"/>
            <a:ext cx="245059" cy="245059"/>
          </a:xfrm>
          <a:prstGeom prst="rect">
            <a:avLst/>
          </a:prstGeom>
          <a:solidFill>
            <a:srgbClr val="E3F8CA"/>
          </a:solidFill>
          <a:ln>
            <a:noFill/>
          </a:ln>
        </p:spPr>
        <p:txBody>
          <a:bodyPr rtlCol="0" anchor="ctr"/>
          <a:lstStyle/>
          <a:p>
            <a:pPr algn="ctr"/>
          </a:p>
        </p:txBody>
      </p:sp>
      <p:sp>
        <p:nvSpPr>
          <p:cNvPr id="133" name="Rectangle 132"/>
          <p:cNvSpPr/>
          <p:nvPr/>
        </p:nvSpPr>
        <p:spPr>
          <a:xfrm>
            <a:off x="4407408" y="4367174"/>
            <a:ext cx="245059" cy="245059"/>
          </a:xfrm>
          <a:prstGeom prst="rect">
            <a:avLst/>
          </a:prstGeom>
          <a:solidFill>
            <a:srgbClr val="E3F8CA"/>
          </a:solidFill>
          <a:ln>
            <a:noFill/>
          </a:ln>
        </p:spPr>
        <p:txBody>
          <a:bodyPr rtlCol="0" anchor="ctr"/>
          <a:lstStyle/>
          <a:p>
            <a:pPr algn="ctr"/>
          </a:p>
        </p:txBody>
      </p:sp>
      <p:sp>
        <p:nvSpPr>
          <p:cNvPr id="134" name="Rectangle 133"/>
          <p:cNvSpPr/>
          <p:nvPr/>
        </p:nvSpPr>
        <p:spPr>
          <a:xfrm>
            <a:off x="4701845" y="4367174"/>
            <a:ext cx="245059" cy="245059"/>
          </a:xfrm>
          <a:prstGeom prst="rect">
            <a:avLst/>
          </a:prstGeom>
          <a:solidFill>
            <a:srgbClr val="E3F8CA"/>
          </a:solidFill>
          <a:ln>
            <a:noFill/>
          </a:ln>
        </p:spPr>
        <p:txBody>
          <a:bodyPr rtlCol="0" anchor="ctr"/>
          <a:lstStyle/>
          <a:p>
            <a:pPr algn="ctr"/>
          </a:p>
        </p:txBody>
      </p:sp>
      <p:sp>
        <p:nvSpPr>
          <p:cNvPr id="135" name="TextBox 134"/>
          <p:cNvSpPr txBox="1"/>
          <p:nvPr/>
        </p:nvSpPr>
        <p:spPr>
          <a:xfrm>
            <a:off x="1051560" y="4652467"/>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10</a:t>
            </a:r>
          </a:p>
        </p:txBody>
      </p:sp>
      <p:sp>
        <p:nvSpPr>
          <p:cNvPr id="136" name="Rectangle 135"/>
          <p:cNvSpPr/>
          <p:nvPr/>
        </p:nvSpPr>
        <p:spPr>
          <a:xfrm>
            <a:off x="1463040" y="4661611"/>
            <a:ext cx="245059" cy="245059"/>
          </a:xfrm>
          <a:prstGeom prst="rect">
            <a:avLst/>
          </a:prstGeom>
          <a:solidFill>
            <a:srgbClr val="E3F8CA"/>
          </a:solidFill>
          <a:ln>
            <a:noFill/>
          </a:ln>
        </p:spPr>
        <p:txBody>
          <a:bodyPr rtlCol="0" anchor="ctr"/>
          <a:lstStyle/>
          <a:p>
            <a:pPr algn="ctr"/>
          </a:p>
        </p:txBody>
      </p:sp>
      <p:sp>
        <p:nvSpPr>
          <p:cNvPr id="137" name="Rectangle 136"/>
          <p:cNvSpPr/>
          <p:nvPr/>
        </p:nvSpPr>
        <p:spPr>
          <a:xfrm>
            <a:off x="1757477" y="4661611"/>
            <a:ext cx="245059" cy="245059"/>
          </a:xfrm>
          <a:prstGeom prst="rect">
            <a:avLst/>
          </a:prstGeom>
          <a:solidFill>
            <a:srgbClr val="E3F8CA"/>
          </a:solidFill>
          <a:ln>
            <a:noFill/>
          </a:ln>
        </p:spPr>
        <p:txBody>
          <a:bodyPr rtlCol="0" anchor="ctr"/>
          <a:lstStyle/>
          <a:p>
            <a:pPr algn="ctr"/>
          </a:p>
        </p:txBody>
      </p:sp>
      <p:sp>
        <p:nvSpPr>
          <p:cNvPr id="138" name="Rectangle 137"/>
          <p:cNvSpPr/>
          <p:nvPr/>
        </p:nvSpPr>
        <p:spPr>
          <a:xfrm>
            <a:off x="2051914" y="4661611"/>
            <a:ext cx="245059" cy="245059"/>
          </a:xfrm>
          <a:prstGeom prst="rect">
            <a:avLst/>
          </a:prstGeom>
          <a:solidFill>
            <a:srgbClr val="E3F8CA"/>
          </a:solidFill>
          <a:ln>
            <a:noFill/>
          </a:ln>
        </p:spPr>
        <p:txBody>
          <a:bodyPr rtlCol="0" anchor="ctr"/>
          <a:lstStyle/>
          <a:p>
            <a:pPr algn="ctr"/>
          </a:p>
        </p:txBody>
      </p:sp>
      <p:sp>
        <p:nvSpPr>
          <p:cNvPr id="139" name="Rectangle 138"/>
          <p:cNvSpPr/>
          <p:nvPr/>
        </p:nvSpPr>
        <p:spPr>
          <a:xfrm>
            <a:off x="2346350" y="4661611"/>
            <a:ext cx="245059" cy="245059"/>
          </a:xfrm>
          <a:prstGeom prst="rect">
            <a:avLst/>
          </a:prstGeom>
          <a:solidFill>
            <a:srgbClr val="E3F8CA"/>
          </a:solidFill>
          <a:ln>
            <a:noFill/>
          </a:ln>
        </p:spPr>
        <p:txBody>
          <a:bodyPr rtlCol="0" anchor="ctr"/>
          <a:lstStyle/>
          <a:p>
            <a:pPr algn="ctr"/>
          </a:p>
        </p:txBody>
      </p:sp>
      <p:sp>
        <p:nvSpPr>
          <p:cNvPr id="140" name="Rectangle 139"/>
          <p:cNvSpPr/>
          <p:nvPr/>
        </p:nvSpPr>
        <p:spPr>
          <a:xfrm>
            <a:off x="2640787" y="4661611"/>
            <a:ext cx="245059" cy="245059"/>
          </a:xfrm>
          <a:prstGeom prst="rect">
            <a:avLst/>
          </a:prstGeom>
          <a:solidFill>
            <a:srgbClr val="E3F8CA"/>
          </a:solidFill>
          <a:ln>
            <a:noFill/>
          </a:ln>
        </p:spPr>
        <p:txBody>
          <a:bodyPr rtlCol="0" anchor="ctr"/>
          <a:lstStyle/>
          <a:p>
            <a:pPr algn="ctr"/>
          </a:p>
        </p:txBody>
      </p:sp>
      <p:sp>
        <p:nvSpPr>
          <p:cNvPr id="141" name="Rectangle 140"/>
          <p:cNvSpPr/>
          <p:nvPr/>
        </p:nvSpPr>
        <p:spPr>
          <a:xfrm>
            <a:off x="2935224" y="4661611"/>
            <a:ext cx="245059" cy="245059"/>
          </a:xfrm>
          <a:prstGeom prst="rect">
            <a:avLst/>
          </a:prstGeom>
          <a:solidFill>
            <a:srgbClr val="E3F8CA"/>
          </a:solidFill>
          <a:ln>
            <a:noFill/>
          </a:ln>
        </p:spPr>
        <p:txBody>
          <a:bodyPr rtlCol="0" anchor="ctr"/>
          <a:lstStyle/>
          <a:p>
            <a:pPr algn="ctr"/>
          </a:p>
        </p:txBody>
      </p:sp>
      <p:sp>
        <p:nvSpPr>
          <p:cNvPr id="142" name="Rectangle 141"/>
          <p:cNvSpPr/>
          <p:nvPr/>
        </p:nvSpPr>
        <p:spPr>
          <a:xfrm>
            <a:off x="3229661" y="4661611"/>
            <a:ext cx="245059" cy="245059"/>
          </a:xfrm>
          <a:prstGeom prst="rect">
            <a:avLst/>
          </a:prstGeom>
          <a:solidFill>
            <a:srgbClr val="E3F8CA"/>
          </a:solidFill>
          <a:ln>
            <a:noFill/>
          </a:ln>
        </p:spPr>
        <p:txBody>
          <a:bodyPr rtlCol="0" anchor="ctr"/>
          <a:lstStyle/>
          <a:p>
            <a:pPr algn="ctr"/>
          </a:p>
        </p:txBody>
      </p:sp>
      <p:sp>
        <p:nvSpPr>
          <p:cNvPr id="143" name="Rectangle 142"/>
          <p:cNvSpPr/>
          <p:nvPr/>
        </p:nvSpPr>
        <p:spPr>
          <a:xfrm>
            <a:off x="3524098" y="4661611"/>
            <a:ext cx="245059" cy="245059"/>
          </a:xfrm>
          <a:prstGeom prst="rect">
            <a:avLst/>
          </a:prstGeom>
          <a:solidFill>
            <a:srgbClr val="E3F8CA"/>
          </a:solidFill>
          <a:ln>
            <a:noFill/>
          </a:ln>
        </p:spPr>
        <p:txBody>
          <a:bodyPr rtlCol="0" anchor="ctr"/>
          <a:lstStyle/>
          <a:p>
            <a:pPr algn="ctr"/>
          </a:p>
        </p:txBody>
      </p:sp>
      <p:sp>
        <p:nvSpPr>
          <p:cNvPr id="144" name="Rectangle 143"/>
          <p:cNvSpPr/>
          <p:nvPr/>
        </p:nvSpPr>
        <p:spPr>
          <a:xfrm>
            <a:off x="3818534" y="4661611"/>
            <a:ext cx="245059" cy="245059"/>
          </a:xfrm>
          <a:prstGeom prst="rect">
            <a:avLst/>
          </a:prstGeom>
          <a:solidFill>
            <a:srgbClr val="E3F8CA"/>
          </a:solidFill>
          <a:ln>
            <a:noFill/>
          </a:ln>
        </p:spPr>
        <p:txBody>
          <a:bodyPr rtlCol="0" anchor="ctr"/>
          <a:lstStyle/>
          <a:p>
            <a:pPr algn="ctr"/>
          </a:p>
        </p:txBody>
      </p:sp>
      <p:sp>
        <p:nvSpPr>
          <p:cNvPr id="145" name="Rectangle 144"/>
          <p:cNvSpPr/>
          <p:nvPr/>
        </p:nvSpPr>
        <p:spPr>
          <a:xfrm>
            <a:off x="4112971" y="4661611"/>
            <a:ext cx="245059" cy="245059"/>
          </a:xfrm>
          <a:prstGeom prst="rect">
            <a:avLst/>
          </a:prstGeom>
          <a:solidFill>
            <a:srgbClr val="41801A"/>
          </a:solidFill>
          <a:ln>
            <a:noFill/>
          </a:ln>
        </p:spPr>
        <p:txBody>
          <a:bodyPr rtlCol="0" anchor="ctr"/>
          <a:lstStyle/>
          <a:p>
            <a:pPr algn="ctr"/>
          </a:p>
        </p:txBody>
      </p:sp>
      <p:sp>
        <p:nvSpPr>
          <p:cNvPr id="146" name="Rectangle 145"/>
          <p:cNvSpPr/>
          <p:nvPr/>
        </p:nvSpPr>
        <p:spPr>
          <a:xfrm>
            <a:off x="4407408" y="4661611"/>
            <a:ext cx="245059" cy="245059"/>
          </a:xfrm>
          <a:prstGeom prst="rect">
            <a:avLst/>
          </a:prstGeom>
          <a:solidFill>
            <a:srgbClr val="E3F8CA"/>
          </a:solidFill>
          <a:ln>
            <a:noFill/>
          </a:ln>
        </p:spPr>
        <p:txBody>
          <a:bodyPr rtlCol="0" anchor="ctr"/>
          <a:lstStyle/>
          <a:p>
            <a:pPr algn="ctr"/>
          </a:p>
        </p:txBody>
      </p:sp>
      <p:sp>
        <p:nvSpPr>
          <p:cNvPr id="147" name="Rectangle 146"/>
          <p:cNvSpPr/>
          <p:nvPr/>
        </p:nvSpPr>
        <p:spPr>
          <a:xfrm>
            <a:off x="4701845" y="4661611"/>
            <a:ext cx="245059" cy="245059"/>
          </a:xfrm>
          <a:prstGeom prst="rect">
            <a:avLst/>
          </a:prstGeom>
          <a:solidFill>
            <a:srgbClr val="E3F8CA"/>
          </a:solidFill>
          <a:ln>
            <a:noFill/>
          </a:ln>
        </p:spPr>
        <p:txBody>
          <a:bodyPr rtlCol="0" anchor="ctr"/>
          <a:lstStyle/>
          <a:p>
            <a:pPr algn="ctr"/>
          </a:p>
        </p:txBody>
      </p:sp>
      <p:sp>
        <p:nvSpPr>
          <p:cNvPr id="148" name="TextBox 147"/>
          <p:cNvSpPr txBox="1"/>
          <p:nvPr/>
        </p:nvSpPr>
        <p:spPr>
          <a:xfrm>
            <a:off x="1051560" y="4946904"/>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11</a:t>
            </a:r>
          </a:p>
        </p:txBody>
      </p:sp>
      <p:sp>
        <p:nvSpPr>
          <p:cNvPr id="149" name="Rectangle 148"/>
          <p:cNvSpPr/>
          <p:nvPr/>
        </p:nvSpPr>
        <p:spPr>
          <a:xfrm>
            <a:off x="1463040" y="4956048"/>
            <a:ext cx="245059" cy="245059"/>
          </a:xfrm>
          <a:prstGeom prst="rect">
            <a:avLst/>
          </a:prstGeom>
          <a:solidFill>
            <a:srgbClr val="E3F8CA"/>
          </a:solidFill>
          <a:ln>
            <a:noFill/>
          </a:ln>
        </p:spPr>
        <p:txBody>
          <a:bodyPr rtlCol="0" anchor="ctr"/>
          <a:lstStyle/>
          <a:p>
            <a:pPr algn="ctr"/>
          </a:p>
        </p:txBody>
      </p:sp>
      <p:sp>
        <p:nvSpPr>
          <p:cNvPr id="150" name="Rectangle 149"/>
          <p:cNvSpPr/>
          <p:nvPr/>
        </p:nvSpPr>
        <p:spPr>
          <a:xfrm>
            <a:off x="1757477" y="4956048"/>
            <a:ext cx="245059" cy="245059"/>
          </a:xfrm>
          <a:prstGeom prst="rect">
            <a:avLst/>
          </a:prstGeom>
          <a:solidFill>
            <a:srgbClr val="E3F8CA"/>
          </a:solidFill>
          <a:ln>
            <a:noFill/>
          </a:ln>
        </p:spPr>
        <p:txBody>
          <a:bodyPr rtlCol="0" anchor="ctr"/>
          <a:lstStyle/>
          <a:p>
            <a:pPr algn="ctr"/>
          </a:p>
        </p:txBody>
      </p:sp>
      <p:sp>
        <p:nvSpPr>
          <p:cNvPr id="151" name="Rectangle 150"/>
          <p:cNvSpPr/>
          <p:nvPr/>
        </p:nvSpPr>
        <p:spPr>
          <a:xfrm>
            <a:off x="2051914" y="4956048"/>
            <a:ext cx="245059" cy="245059"/>
          </a:xfrm>
          <a:prstGeom prst="rect">
            <a:avLst/>
          </a:prstGeom>
          <a:solidFill>
            <a:srgbClr val="E3F8CA"/>
          </a:solidFill>
          <a:ln>
            <a:noFill/>
          </a:ln>
        </p:spPr>
        <p:txBody>
          <a:bodyPr rtlCol="0" anchor="ctr"/>
          <a:lstStyle/>
          <a:p>
            <a:pPr algn="ctr"/>
          </a:p>
        </p:txBody>
      </p:sp>
      <p:sp>
        <p:nvSpPr>
          <p:cNvPr id="152" name="Rectangle 151"/>
          <p:cNvSpPr/>
          <p:nvPr/>
        </p:nvSpPr>
        <p:spPr>
          <a:xfrm>
            <a:off x="2346350" y="4956048"/>
            <a:ext cx="245059" cy="245059"/>
          </a:xfrm>
          <a:prstGeom prst="rect">
            <a:avLst/>
          </a:prstGeom>
          <a:solidFill>
            <a:srgbClr val="E3F8CA"/>
          </a:solidFill>
          <a:ln>
            <a:noFill/>
          </a:ln>
        </p:spPr>
        <p:txBody>
          <a:bodyPr rtlCol="0" anchor="ctr"/>
          <a:lstStyle/>
          <a:p>
            <a:pPr algn="ctr"/>
          </a:p>
        </p:txBody>
      </p:sp>
      <p:sp>
        <p:nvSpPr>
          <p:cNvPr id="153" name="Rectangle 152"/>
          <p:cNvSpPr/>
          <p:nvPr/>
        </p:nvSpPr>
        <p:spPr>
          <a:xfrm>
            <a:off x="2640787" y="4956048"/>
            <a:ext cx="245059" cy="245059"/>
          </a:xfrm>
          <a:prstGeom prst="rect">
            <a:avLst/>
          </a:prstGeom>
          <a:solidFill>
            <a:srgbClr val="E3F8CA"/>
          </a:solidFill>
          <a:ln>
            <a:noFill/>
          </a:ln>
        </p:spPr>
        <p:txBody>
          <a:bodyPr rtlCol="0" anchor="ctr"/>
          <a:lstStyle/>
          <a:p>
            <a:pPr algn="ctr"/>
          </a:p>
        </p:txBody>
      </p:sp>
      <p:sp>
        <p:nvSpPr>
          <p:cNvPr id="154" name="Rectangle 153"/>
          <p:cNvSpPr/>
          <p:nvPr/>
        </p:nvSpPr>
        <p:spPr>
          <a:xfrm>
            <a:off x="2935224" y="4956048"/>
            <a:ext cx="245059" cy="245059"/>
          </a:xfrm>
          <a:prstGeom prst="rect">
            <a:avLst/>
          </a:prstGeom>
          <a:solidFill>
            <a:srgbClr val="E3F8CA"/>
          </a:solidFill>
          <a:ln>
            <a:noFill/>
          </a:ln>
        </p:spPr>
        <p:txBody>
          <a:bodyPr rtlCol="0" anchor="ctr"/>
          <a:lstStyle/>
          <a:p>
            <a:pPr algn="ctr"/>
          </a:p>
        </p:txBody>
      </p:sp>
      <p:sp>
        <p:nvSpPr>
          <p:cNvPr id="155" name="Rectangle 154"/>
          <p:cNvSpPr/>
          <p:nvPr/>
        </p:nvSpPr>
        <p:spPr>
          <a:xfrm>
            <a:off x="3229661" y="4956048"/>
            <a:ext cx="245059" cy="245059"/>
          </a:xfrm>
          <a:prstGeom prst="rect">
            <a:avLst/>
          </a:prstGeom>
          <a:solidFill>
            <a:srgbClr val="E3F8CA"/>
          </a:solidFill>
          <a:ln>
            <a:noFill/>
          </a:ln>
        </p:spPr>
        <p:txBody>
          <a:bodyPr rtlCol="0" anchor="ctr"/>
          <a:lstStyle/>
          <a:p>
            <a:pPr algn="ctr"/>
          </a:p>
        </p:txBody>
      </p:sp>
      <p:sp>
        <p:nvSpPr>
          <p:cNvPr id="156" name="Rectangle 155"/>
          <p:cNvSpPr/>
          <p:nvPr/>
        </p:nvSpPr>
        <p:spPr>
          <a:xfrm>
            <a:off x="3524098" y="4956048"/>
            <a:ext cx="245059" cy="245059"/>
          </a:xfrm>
          <a:prstGeom prst="rect">
            <a:avLst/>
          </a:prstGeom>
          <a:solidFill>
            <a:srgbClr val="E3F8CA"/>
          </a:solidFill>
          <a:ln>
            <a:noFill/>
          </a:ln>
        </p:spPr>
        <p:txBody>
          <a:bodyPr rtlCol="0" anchor="ctr"/>
          <a:lstStyle/>
          <a:p>
            <a:pPr algn="ctr"/>
          </a:p>
        </p:txBody>
      </p:sp>
      <p:sp>
        <p:nvSpPr>
          <p:cNvPr id="157" name="Rectangle 156"/>
          <p:cNvSpPr/>
          <p:nvPr/>
        </p:nvSpPr>
        <p:spPr>
          <a:xfrm>
            <a:off x="3818534" y="4956048"/>
            <a:ext cx="245059" cy="245059"/>
          </a:xfrm>
          <a:prstGeom prst="rect">
            <a:avLst/>
          </a:prstGeom>
          <a:solidFill>
            <a:srgbClr val="E3F8CA"/>
          </a:solidFill>
          <a:ln>
            <a:noFill/>
          </a:ln>
        </p:spPr>
        <p:txBody>
          <a:bodyPr rtlCol="0" anchor="ctr"/>
          <a:lstStyle/>
          <a:p>
            <a:pPr algn="ctr"/>
          </a:p>
        </p:txBody>
      </p:sp>
      <p:sp>
        <p:nvSpPr>
          <p:cNvPr id="158" name="Rectangle 157"/>
          <p:cNvSpPr/>
          <p:nvPr/>
        </p:nvSpPr>
        <p:spPr>
          <a:xfrm>
            <a:off x="4112971" y="4956048"/>
            <a:ext cx="245059" cy="245059"/>
          </a:xfrm>
          <a:prstGeom prst="rect">
            <a:avLst/>
          </a:prstGeom>
          <a:solidFill>
            <a:srgbClr val="E3F8CA"/>
          </a:solidFill>
          <a:ln>
            <a:noFill/>
          </a:ln>
        </p:spPr>
        <p:txBody>
          <a:bodyPr rtlCol="0" anchor="ctr"/>
          <a:lstStyle/>
          <a:p>
            <a:pPr algn="ctr"/>
          </a:p>
        </p:txBody>
      </p:sp>
      <p:sp>
        <p:nvSpPr>
          <p:cNvPr id="159" name="Rectangle 158"/>
          <p:cNvSpPr/>
          <p:nvPr/>
        </p:nvSpPr>
        <p:spPr>
          <a:xfrm>
            <a:off x="4407408" y="4956048"/>
            <a:ext cx="245059" cy="245059"/>
          </a:xfrm>
          <a:prstGeom prst="rect">
            <a:avLst/>
          </a:prstGeom>
          <a:solidFill>
            <a:srgbClr val="41801A"/>
          </a:solidFill>
          <a:ln>
            <a:noFill/>
          </a:ln>
        </p:spPr>
        <p:txBody>
          <a:bodyPr rtlCol="0" anchor="ctr"/>
          <a:lstStyle/>
          <a:p>
            <a:pPr algn="ctr"/>
          </a:p>
        </p:txBody>
      </p:sp>
      <p:sp>
        <p:nvSpPr>
          <p:cNvPr id="160" name="Rectangle 159"/>
          <p:cNvSpPr/>
          <p:nvPr/>
        </p:nvSpPr>
        <p:spPr>
          <a:xfrm>
            <a:off x="4701845" y="4956048"/>
            <a:ext cx="245059" cy="245059"/>
          </a:xfrm>
          <a:prstGeom prst="rect">
            <a:avLst/>
          </a:prstGeom>
          <a:solidFill>
            <a:srgbClr val="E3F8CA"/>
          </a:solidFill>
          <a:ln>
            <a:noFill/>
          </a:ln>
        </p:spPr>
        <p:txBody>
          <a:bodyPr rtlCol="0" anchor="ctr"/>
          <a:lstStyle/>
          <a:p>
            <a:pPr algn="ctr"/>
          </a:p>
        </p:txBody>
      </p:sp>
      <p:sp>
        <p:nvSpPr>
          <p:cNvPr id="161" name="TextBox 160"/>
          <p:cNvSpPr txBox="1"/>
          <p:nvPr/>
        </p:nvSpPr>
        <p:spPr>
          <a:xfrm>
            <a:off x="1051560" y="5241341"/>
            <a:ext cx="320040" cy="245059"/>
          </a:xfrm>
          <a:prstGeom prst="rect">
            <a:avLst/>
          </a:prstGeom>
          <a:noFill/>
        </p:spPr>
        <p:txBody>
          <a:bodyPr wrap="square" lIns="0" tIns="0" rIns="0" bIns="0" anchor="ctr">
            <a:spAutoFit/>
          </a:bodyPr>
          <a:lstStyle/>
          <a:p>
            <a:pPr algn="r">
              <a:lnSpc>
                <a:spcPct val="105000"/>
              </a:lnSpc>
            </a:pPr>
            <a:r>
              <a:rPr sz="1050">
                <a:solidFill>
                  <a:srgbClr val="5F6B58"/>
                </a:solidFill>
                <a:latin typeface="Arial"/>
              </a:rPr>
              <a:t>12</a:t>
            </a:r>
          </a:p>
        </p:txBody>
      </p:sp>
      <p:sp>
        <p:nvSpPr>
          <p:cNvPr id="162" name="Rectangle 161"/>
          <p:cNvSpPr/>
          <p:nvPr/>
        </p:nvSpPr>
        <p:spPr>
          <a:xfrm>
            <a:off x="1463040" y="5250485"/>
            <a:ext cx="245059" cy="245059"/>
          </a:xfrm>
          <a:prstGeom prst="rect">
            <a:avLst/>
          </a:prstGeom>
          <a:solidFill>
            <a:srgbClr val="E3F8CA"/>
          </a:solidFill>
          <a:ln>
            <a:noFill/>
          </a:ln>
        </p:spPr>
        <p:txBody>
          <a:bodyPr rtlCol="0" anchor="ctr"/>
          <a:lstStyle/>
          <a:p>
            <a:pPr algn="ctr"/>
          </a:p>
        </p:txBody>
      </p:sp>
      <p:sp>
        <p:nvSpPr>
          <p:cNvPr id="163" name="Rectangle 162"/>
          <p:cNvSpPr/>
          <p:nvPr/>
        </p:nvSpPr>
        <p:spPr>
          <a:xfrm>
            <a:off x="1757477" y="5250485"/>
            <a:ext cx="245059" cy="245059"/>
          </a:xfrm>
          <a:prstGeom prst="rect">
            <a:avLst/>
          </a:prstGeom>
          <a:solidFill>
            <a:srgbClr val="E3F8CA"/>
          </a:solidFill>
          <a:ln>
            <a:noFill/>
          </a:ln>
        </p:spPr>
        <p:txBody>
          <a:bodyPr rtlCol="0" anchor="ctr"/>
          <a:lstStyle/>
          <a:p>
            <a:pPr algn="ctr"/>
          </a:p>
        </p:txBody>
      </p:sp>
      <p:sp>
        <p:nvSpPr>
          <p:cNvPr id="164" name="Rectangle 163"/>
          <p:cNvSpPr/>
          <p:nvPr/>
        </p:nvSpPr>
        <p:spPr>
          <a:xfrm>
            <a:off x="2051914" y="5250485"/>
            <a:ext cx="245059" cy="245059"/>
          </a:xfrm>
          <a:prstGeom prst="rect">
            <a:avLst/>
          </a:prstGeom>
          <a:solidFill>
            <a:srgbClr val="E3F8CA"/>
          </a:solidFill>
          <a:ln>
            <a:noFill/>
          </a:ln>
        </p:spPr>
        <p:txBody>
          <a:bodyPr rtlCol="0" anchor="ctr"/>
          <a:lstStyle/>
          <a:p>
            <a:pPr algn="ctr"/>
          </a:p>
        </p:txBody>
      </p:sp>
      <p:sp>
        <p:nvSpPr>
          <p:cNvPr id="165" name="Rectangle 164"/>
          <p:cNvSpPr/>
          <p:nvPr/>
        </p:nvSpPr>
        <p:spPr>
          <a:xfrm>
            <a:off x="2346350" y="5250485"/>
            <a:ext cx="245059" cy="245059"/>
          </a:xfrm>
          <a:prstGeom prst="rect">
            <a:avLst/>
          </a:prstGeom>
          <a:solidFill>
            <a:srgbClr val="E3F8CA"/>
          </a:solidFill>
          <a:ln>
            <a:noFill/>
          </a:ln>
        </p:spPr>
        <p:txBody>
          <a:bodyPr rtlCol="0" anchor="ctr"/>
          <a:lstStyle/>
          <a:p>
            <a:pPr algn="ctr"/>
          </a:p>
        </p:txBody>
      </p:sp>
      <p:sp>
        <p:nvSpPr>
          <p:cNvPr id="166" name="Rectangle 165"/>
          <p:cNvSpPr/>
          <p:nvPr/>
        </p:nvSpPr>
        <p:spPr>
          <a:xfrm>
            <a:off x="2640787" y="5250485"/>
            <a:ext cx="245059" cy="245059"/>
          </a:xfrm>
          <a:prstGeom prst="rect">
            <a:avLst/>
          </a:prstGeom>
          <a:solidFill>
            <a:srgbClr val="E3F8CA"/>
          </a:solidFill>
          <a:ln>
            <a:noFill/>
          </a:ln>
        </p:spPr>
        <p:txBody>
          <a:bodyPr rtlCol="0" anchor="ctr"/>
          <a:lstStyle/>
          <a:p>
            <a:pPr algn="ctr"/>
          </a:p>
        </p:txBody>
      </p:sp>
      <p:sp>
        <p:nvSpPr>
          <p:cNvPr id="167" name="Rectangle 166"/>
          <p:cNvSpPr/>
          <p:nvPr/>
        </p:nvSpPr>
        <p:spPr>
          <a:xfrm>
            <a:off x="2935224" y="5250485"/>
            <a:ext cx="245059" cy="245059"/>
          </a:xfrm>
          <a:prstGeom prst="rect">
            <a:avLst/>
          </a:prstGeom>
          <a:solidFill>
            <a:srgbClr val="E3F8CA"/>
          </a:solidFill>
          <a:ln>
            <a:noFill/>
          </a:ln>
        </p:spPr>
        <p:txBody>
          <a:bodyPr rtlCol="0" anchor="ctr"/>
          <a:lstStyle/>
          <a:p>
            <a:pPr algn="ctr"/>
          </a:p>
        </p:txBody>
      </p:sp>
      <p:sp>
        <p:nvSpPr>
          <p:cNvPr id="168" name="Rectangle 167"/>
          <p:cNvSpPr/>
          <p:nvPr/>
        </p:nvSpPr>
        <p:spPr>
          <a:xfrm>
            <a:off x="3229661" y="5250485"/>
            <a:ext cx="245059" cy="245059"/>
          </a:xfrm>
          <a:prstGeom prst="rect">
            <a:avLst/>
          </a:prstGeom>
          <a:solidFill>
            <a:srgbClr val="E3F8CA"/>
          </a:solidFill>
          <a:ln>
            <a:noFill/>
          </a:ln>
        </p:spPr>
        <p:txBody>
          <a:bodyPr rtlCol="0" anchor="ctr"/>
          <a:lstStyle/>
          <a:p>
            <a:pPr algn="ctr"/>
          </a:p>
        </p:txBody>
      </p:sp>
      <p:sp>
        <p:nvSpPr>
          <p:cNvPr id="169" name="Rectangle 168"/>
          <p:cNvSpPr/>
          <p:nvPr/>
        </p:nvSpPr>
        <p:spPr>
          <a:xfrm>
            <a:off x="3524098" y="5250485"/>
            <a:ext cx="245059" cy="245059"/>
          </a:xfrm>
          <a:prstGeom prst="rect">
            <a:avLst/>
          </a:prstGeom>
          <a:solidFill>
            <a:srgbClr val="E3F8CA"/>
          </a:solidFill>
          <a:ln>
            <a:noFill/>
          </a:ln>
        </p:spPr>
        <p:txBody>
          <a:bodyPr rtlCol="0" anchor="ctr"/>
          <a:lstStyle/>
          <a:p>
            <a:pPr algn="ctr"/>
          </a:p>
        </p:txBody>
      </p:sp>
      <p:sp>
        <p:nvSpPr>
          <p:cNvPr id="170" name="Rectangle 169"/>
          <p:cNvSpPr/>
          <p:nvPr/>
        </p:nvSpPr>
        <p:spPr>
          <a:xfrm>
            <a:off x="3818534" y="5250485"/>
            <a:ext cx="245059" cy="245059"/>
          </a:xfrm>
          <a:prstGeom prst="rect">
            <a:avLst/>
          </a:prstGeom>
          <a:solidFill>
            <a:srgbClr val="E3F8CA"/>
          </a:solidFill>
          <a:ln>
            <a:noFill/>
          </a:ln>
        </p:spPr>
        <p:txBody>
          <a:bodyPr rtlCol="0" anchor="ctr"/>
          <a:lstStyle/>
          <a:p>
            <a:pPr algn="ctr"/>
          </a:p>
        </p:txBody>
      </p:sp>
      <p:sp>
        <p:nvSpPr>
          <p:cNvPr id="171" name="Rectangle 170"/>
          <p:cNvSpPr/>
          <p:nvPr/>
        </p:nvSpPr>
        <p:spPr>
          <a:xfrm>
            <a:off x="4112971" y="5250485"/>
            <a:ext cx="245059" cy="245059"/>
          </a:xfrm>
          <a:prstGeom prst="rect">
            <a:avLst/>
          </a:prstGeom>
          <a:solidFill>
            <a:srgbClr val="E3F8CA"/>
          </a:solidFill>
          <a:ln>
            <a:noFill/>
          </a:ln>
        </p:spPr>
        <p:txBody>
          <a:bodyPr rtlCol="0" anchor="ctr"/>
          <a:lstStyle/>
          <a:p>
            <a:pPr algn="ctr"/>
          </a:p>
        </p:txBody>
      </p:sp>
      <p:sp>
        <p:nvSpPr>
          <p:cNvPr id="172" name="Rectangle 171"/>
          <p:cNvSpPr/>
          <p:nvPr/>
        </p:nvSpPr>
        <p:spPr>
          <a:xfrm>
            <a:off x="4407408" y="5250485"/>
            <a:ext cx="245059" cy="245059"/>
          </a:xfrm>
          <a:prstGeom prst="rect">
            <a:avLst/>
          </a:prstGeom>
          <a:solidFill>
            <a:srgbClr val="E3F8CA"/>
          </a:solidFill>
          <a:ln>
            <a:noFill/>
          </a:ln>
        </p:spPr>
        <p:txBody>
          <a:bodyPr rtlCol="0" anchor="ctr"/>
          <a:lstStyle/>
          <a:p>
            <a:pPr algn="ctr"/>
          </a:p>
        </p:txBody>
      </p:sp>
      <p:sp>
        <p:nvSpPr>
          <p:cNvPr id="173" name="Rectangle 172"/>
          <p:cNvSpPr/>
          <p:nvPr/>
        </p:nvSpPr>
        <p:spPr>
          <a:xfrm>
            <a:off x="4701845" y="5250485"/>
            <a:ext cx="245059" cy="245059"/>
          </a:xfrm>
          <a:prstGeom prst="rect">
            <a:avLst/>
          </a:prstGeom>
          <a:solidFill>
            <a:srgbClr val="41801A"/>
          </a:solidFill>
          <a:ln>
            <a:noFill/>
          </a:ln>
        </p:spPr>
        <p:txBody>
          <a:bodyPr rtlCol="0" anchor="ctr"/>
          <a:lstStyle/>
          <a:p>
            <a:pPr algn="ctr"/>
          </a:p>
        </p:txBody>
      </p:sp>
      <p:sp>
        <p:nvSpPr>
          <p:cNvPr id="174" name="TextBox 173"/>
          <p:cNvSpPr txBox="1"/>
          <p:nvPr/>
        </p:nvSpPr>
        <p:spPr>
          <a:xfrm rot="16200000">
            <a:off x="-146304" y="3641141"/>
            <a:ext cx="1828800" cy="274320"/>
          </a:xfrm>
          <a:prstGeom prst="rect">
            <a:avLst/>
          </a:prstGeom>
          <a:noFill/>
        </p:spPr>
        <p:txBody>
          <a:bodyPr wrap="square" lIns="0" tIns="0" rIns="0" bIns="0">
            <a:spAutoFit/>
          </a:bodyPr>
          <a:lstStyle/>
          <a:p>
            <a:pPr algn="ctr">
              <a:lnSpc>
                <a:spcPct val="105000"/>
              </a:lnSpc>
            </a:pPr>
            <a:r>
              <a:rPr sz="1100" b="1">
                <a:solidFill>
                  <a:srgbClr val="5F6B58"/>
                </a:solidFill>
                <a:latin typeface="Arial"/>
              </a:rPr>
              <a:t>Member</a:t>
            </a:r>
          </a:p>
        </p:txBody>
      </p:sp>
      <p:cxnSp>
        <p:nvCxnSpPr>
          <p:cNvPr id="175" name="Connector 174"/>
          <p:cNvCxnSpPr/>
          <p:nvPr/>
        </p:nvCxnSpPr>
        <p:spPr>
          <a:xfrm>
            <a:off x="5069434" y="2134210"/>
            <a:ext cx="599846" cy="0"/>
          </a:xfrm>
          <a:prstGeom prst="line">
            <a:avLst/>
          </a:prstGeom>
          <a:ln w="9525">
            <a:solidFill>
              <a:srgbClr val="A9B4A3"/>
            </a:solidFill>
          </a:ln>
        </p:spPr>
      </p:cxnSp>
      <p:cxnSp>
        <p:nvCxnSpPr>
          <p:cNvPr id="176" name="Connector 175"/>
          <p:cNvCxnSpPr/>
          <p:nvPr/>
        </p:nvCxnSpPr>
        <p:spPr>
          <a:xfrm>
            <a:off x="5069434" y="5373014"/>
            <a:ext cx="599846" cy="0"/>
          </a:xfrm>
          <a:prstGeom prst="line">
            <a:avLst/>
          </a:prstGeom>
          <a:ln w="9525">
            <a:solidFill>
              <a:srgbClr val="A9B4A3"/>
            </a:solidFill>
          </a:ln>
        </p:spPr>
      </p:cxnSp>
      <p:sp>
        <p:nvSpPr>
          <p:cNvPr id="177" name="TextBox 176"/>
          <p:cNvSpPr txBox="1"/>
          <p:nvPr/>
        </p:nvSpPr>
        <p:spPr>
          <a:xfrm>
            <a:off x="5806440" y="1859890"/>
            <a:ext cx="5745175" cy="548640"/>
          </a:xfrm>
          <a:prstGeom prst="rect">
            <a:avLst/>
          </a:prstGeom>
          <a:noFill/>
        </p:spPr>
        <p:txBody>
          <a:bodyPr wrap="square" lIns="0" tIns="0" rIns="0" bIns="0" anchor="ctr">
            <a:spAutoFit/>
          </a:bodyPr>
          <a:lstStyle/>
          <a:p>
            <a:pPr>
              <a:lnSpc>
                <a:spcPct val="104000"/>
              </a:lnSpc>
            </a:pPr>
            <a:r>
              <a:rPr sz="1600" b="1">
                <a:solidFill>
                  <a:srgbClr val="41801A"/>
                </a:solidFill>
                <a:latin typeface="Arial"/>
              </a:rPr>
              <a:t>First turn   </a:t>
            </a:r>
            <a:r>
              <a:rPr sz="1600">
                <a:solidFill>
                  <a:srgbClr val="0C1408"/>
                </a:solidFill>
                <a:latin typeface="Arial"/>
              </a:rPr>
              <a:t>gets Rs 120,000 now; repays it over the year, interest free</a:t>
            </a:r>
          </a:p>
        </p:txBody>
      </p:sp>
      <p:sp>
        <p:nvSpPr>
          <p:cNvPr id="178" name="TextBox 177"/>
          <p:cNvSpPr txBox="1"/>
          <p:nvPr/>
        </p:nvSpPr>
        <p:spPr>
          <a:xfrm>
            <a:off x="5806440" y="5098694"/>
            <a:ext cx="5745175" cy="548640"/>
          </a:xfrm>
          <a:prstGeom prst="rect">
            <a:avLst/>
          </a:prstGeom>
          <a:noFill/>
        </p:spPr>
        <p:txBody>
          <a:bodyPr wrap="square" lIns="0" tIns="0" rIns="0" bIns="0" anchor="ctr">
            <a:spAutoFit/>
          </a:bodyPr>
          <a:lstStyle/>
          <a:p>
            <a:pPr>
              <a:lnSpc>
                <a:spcPct val="104000"/>
              </a:lnSpc>
            </a:pPr>
            <a:r>
              <a:rPr sz="1600" b="1">
                <a:solidFill>
                  <a:srgbClr val="41801A"/>
                </a:solidFill>
                <a:latin typeface="Arial"/>
              </a:rPr>
              <a:t>Last turn   </a:t>
            </a:r>
            <a:r>
              <a:rPr sz="1600">
                <a:solidFill>
                  <a:srgbClr val="0C1408"/>
                </a:solidFill>
                <a:latin typeface="Arial"/>
              </a:rPr>
              <a:t>saves every month, to a deadline the group enforces</a:t>
            </a:r>
          </a:p>
        </p:txBody>
      </p:sp>
      <p:sp>
        <p:nvSpPr>
          <p:cNvPr id="179" name="TextBox 178"/>
          <p:cNvSpPr txBox="1"/>
          <p:nvPr/>
        </p:nvSpPr>
        <p:spPr>
          <a:xfrm>
            <a:off x="5806440" y="3246120"/>
            <a:ext cx="5303520" cy="523240"/>
          </a:xfrm>
          <a:prstGeom prst="rect">
            <a:avLst/>
          </a:prstGeom>
          <a:noFill/>
        </p:spPr>
        <p:txBody>
          <a:bodyPr wrap="square" lIns="0" tIns="0" rIns="0" bIns="0">
            <a:spAutoFit/>
          </a:bodyPr>
          <a:lstStyle/>
          <a:p>
            <a:pPr>
              <a:lnSpc>
                <a:spcPct val="105000"/>
              </a:lnSpc>
            </a:pPr>
            <a:r>
              <a:rPr sz="3400">
                <a:solidFill>
                  <a:srgbClr val="41801A"/>
                </a:solidFill>
                <a:latin typeface="Georgia"/>
              </a:rPr>
              <a:t>12 × Rs 10,000</a:t>
            </a:r>
          </a:p>
        </p:txBody>
      </p:sp>
      <p:sp>
        <p:nvSpPr>
          <p:cNvPr id="180" name="TextBox 179"/>
          <p:cNvSpPr txBox="1"/>
          <p:nvPr/>
        </p:nvSpPr>
        <p:spPr>
          <a:xfrm>
            <a:off x="5806440" y="3751072"/>
            <a:ext cx="5303520" cy="685800"/>
          </a:xfrm>
          <a:prstGeom prst="rect">
            <a:avLst/>
          </a:prstGeom>
          <a:noFill/>
        </p:spPr>
        <p:txBody>
          <a:bodyPr wrap="square" lIns="0" tIns="0" rIns="0" bIns="0">
            <a:spAutoFit/>
          </a:bodyPr>
          <a:lstStyle/>
          <a:p>
            <a:pPr>
              <a:lnSpc>
                <a:spcPct val="104000"/>
              </a:lnSpc>
            </a:pPr>
            <a:r>
              <a:rPr sz="1600">
                <a:solidFill>
                  <a:srgbClr val="0C1408"/>
                </a:solidFill>
                <a:latin typeface="Arial"/>
              </a:rPr>
              <a:t>paid in each month, and taken by one member</a:t>
            </a:r>
          </a:p>
        </p:txBody>
      </p:sp>
      <p:sp>
        <p:nvSpPr>
          <p:cNvPr id="181" name="Rectangle 180"/>
          <p:cNvSpPr/>
          <p:nvPr/>
        </p:nvSpPr>
        <p:spPr>
          <a:xfrm>
            <a:off x="1463040" y="5700370"/>
            <a:ext cx="137160" cy="137160"/>
          </a:xfrm>
          <a:prstGeom prst="rect">
            <a:avLst/>
          </a:prstGeom>
          <a:solidFill>
            <a:srgbClr val="41801A"/>
          </a:solidFill>
          <a:ln>
            <a:noFill/>
          </a:ln>
        </p:spPr>
        <p:txBody>
          <a:bodyPr rtlCol="0" anchor="ctr"/>
          <a:lstStyle/>
          <a:p>
            <a:pPr algn="ctr"/>
          </a:p>
        </p:txBody>
      </p:sp>
      <p:sp>
        <p:nvSpPr>
          <p:cNvPr id="182" name="TextBox 181"/>
          <p:cNvSpPr txBox="1"/>
          <p:nvPr/>
        </p:nvSpPr>
        <p:spPr>
          <a:xfrm>
            <a:off x="1664208" y="5654650"/>
            <a:ext cx="1463040" cy="228600"/>
          </a:xfrm>
          <a:prstGeom prst="rect">
            <a:avLst/>
          </a:prstGeom>
          <a:noFill/>
        </p:spPr>
        <p:txBody>
          <a:bodyPr wrap="square" lIns="0" tIns="0" rIns="0" bIns="0">
            <a:spAutoFit/>
          </a:bodyPr>
          <a:lstStyle/>
          <a:p>
            <a:pPr>
              <a:lnSpc>
                <a:spcPct val="105000"/>
              </a:lnSpc>
            </a:pPr>
            <a:r>
              <a:rPr sz="1100">
                <a:solidFill>
                  <a:srgbClr val="5F6B58"/>
                </a:solidFill>
                <a:latin typeface="Arial"/>
              </a:rPr>
              <a:t>collects the pot</a:t>
            </a:r>
          </a:p>
        </p:txBody>
      </p:sp>
      <p:sp>
        <p:nvSpPr>
          <p:cNvPr id="183" name="Rectangle 182"/>
          <p:cNvSpPr/>
          <p:nvPr/>
        </p:nvSpPr>
        <p:spPr>
          <a:xfrm>
            <a:off x="3200400" y="5700370"/>
            <a:ext cx="137160" cy="137160"/>
          </a:xfrm>
          <a:prstGeom prst="rect">
            <a:avLst/>
          </a:prstGeom>
          <a:solidFill>
            <a:srgbClr val="E3F8CA"/>
          </a:solidFill>
          <a:ln>
            <a:noFill/>
          </a:ln>
        </p:spPr>
        <p:txBody>
          <a:bodyPr rtlCol="0" anchor="ctr"/>
          <a:lstStyle/>
          <a:p>
            <a:pPr algn="ctr"/>
          </a:p>
        </p:txBody>
      </p:sp>
      <p:sp>
        <p:nvSpPr>
          <p:cNvPr id="184" name="TextBox 183"/>
          <p:cNvSpPr txBox="1"/>
          <p:nvPr/>
        </p:nvSpPr>
        <p:spPr>
          <a:xfrm>
            <a:off x="3401568" y="5654650"/>
            <a:ext cx="1645920" cy="228600"/>
          </a:xfrm>
          <a:prstGeom prst="rect">
            <a:avLst/>
          </a:prstGeom>
          <a:noFill/>
        </p:spPr>
        <p:txBody>
          <a:bodyPr wrap="square" lIns="0" tIns="0" rIns="0" bIns="0">
            <a:spAutoFit/>
          </a:bodyPr>
          <a:lstStyle/>
          <a:p>
            <a:pPr>
              <a:lnSpc>
                <a:spcPct val="105000"/>
              </a:lnSpc>
            </a:pPr>
            <a:r>
              <a:rPr sz="1100">
                <a:solidFill>
                  <a:srgbClr val="5F6B58"/>
                </a:solidFill>
                <a:latin typeface="Arial"/>
              </a:rPr>
              <a:t>pays Rs 10,000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About four in ten Pakistanis save this way: an estimated Rs 4 trillion a year.</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4</a:t>
            </a:r>
          </a:p>
        </p:txBody>
      </p:sp>
      <p:sp>
        <p:nvSpPr>
          <p:cNvPr id="5" name="Rectangle 4"/>
          <p:cNvSpPr/>
          <p:nvPr/>
        </p:nvSpPr>
        <p:spPr>
          <a:xfrm>
            <a:off x="640080" y="4791456"/>
            <a:ext cx="274320" cy="274320"/>
          </a:xfrm>
          <a:prstGeom prst="rect">
            <a:avLst/>
          </a:prstGeom>
          <a:solidFill>
            <a:srgbClr val="41801A"/>
          </a:solidFill>
          <a:ln>
            <a:noFill/>
          </a:ln>
        </p:spPr>
        <p:txBody>
          <a:bodyPr rtlCol="0" anchor="ctr"/>
          <a:lstStyle/>
          <a:p>
            <a:pPr algn="ctr"/>
          </a:p>
        </p:txBody>
      </p:sp>
      <p:sp>
        <p:nvSpPr>
          <p:cNvPr id="6" name="Rectangle 5"/>
          <p:cNvSpPr/>
          <p:nvPr/>
        </p:nvSpPr>
        <p:spPr>
          <a:xfrm>
            <a:off x="640080" y="4462272"/>
            <a:ext cx="274320" cy="274320"/>
          </a:xfrm>
          <a:prstGeom prst="rect">
            <a:avLst/>
          </a:prstGeom>
          <a:solidFill>
            <a:srgbClr val="41801A"/>
          </a:solidFill>
          <a:ln>
            <a:noFill/>
          </a:ln>
        </p:spPr>
        <p:txBody>
          <a:bodyPr rtlCol="0" anchor="ctr"/>
          <a:lstStyle/>
          <a:p>
            <a:pPr algn="ctr"/>
          </a:p>
        </p:txBody>
      </p:sp>
      <p:sp>
        <p:nvSpPr>
          <p:cNvPr id="7" name="Rectangle 6"/>
          <p:cNvSpPr/>
          <p:nvPr/>
        </p:nvSpPr>
        <p:spPr>
          <a:xfrm>
            <a:off x="640080" y="4133088"/>
            <a:ext cx="274320" cy="274320"/>
          </a:xfrm>
          <a:prstGeom prst="rect">
            <a:avLst/>
          </a:prstGeom>
          <a:solidFill>
            <a:srgbClr val="41801A"/>
          </a:solidFill>
          <a:ln>
            <a:noFill/>
          </a:ln>
        </p:spPr>
        <p:txBody>
          <a:bodyPr rtlCol="0" anchor="ctr"/>
          <a:lstStyle/>
          <a:p>
            <a:pPr algn="ctr"/>
          </a:p>
        </p:txBody>
      </p:sp>
      <p:sp>
        <p:nvSpPr>
          <p:cNvPr id="8" name="Rectangle 7"/>
          <p:cNvSpPr/>
          <p:nvPr/>
        </p:nvSpPr>
        <p:spPr>
          <a:xfrm>
            <a:off x="640080" y="3803904"/>
            <a:ext cx="274320" cy="274320"/>
          </a:xfrm>
          <a:prstGeom prst="rect">
            <a:avLst/>
          </a:prstGeom>
          <a:solidFill>
            <a:srgbClr val="41801A"/>
          </a:solidFill>
          <a:ln>
            <a:noFill/>
          </a:ln>
        </p:spPr>
        <p:txBody>
          <a:bodyPr rtlCol="0" anchor="ctr"/>
          <a:lstStyle/>
          <a:p>
            <a:pPr algn="ctr"/>
          </a:p>
        </p:txBody>
      </p:sp>
      <p:sp>
        <p:nvSpPr>
          <p:cNvPr id="9" name="Rectangle 8"/>
          <p:cNvSpPr/>
          <p:nvPr/>
        </p:nvSpPr>
        <p:spPr>
          <a:xfrm>
            <a:off x="640080" y="3474720"/>
            <a:ext cx="274320" cy="274320"/>
          </a:xfrm>
          <a:prstGeom prst="rect">
            <a:avLst/>
          </a:prstGeom>
          <a:solidFill>
            <a:srgbClr val="41801A"/>
          </a:solidFill>
          <a:ln>
            <a:noFill/>
          </a:ln>
        </p:spPr>
        <p:txBody>
          <a:bodyPr rtlCol="0" anchor="ctr"/>
          <a:lstStyle/>
          <a:p>
            <a:pPr algn="ctr"/>
          </a:p>
        </p:txBody>
      </p:sp>
      <p:sp>
        <p:nvSpPr>
          <p:cNvPr id="10" name="Rectangle 9"/>
          <p:cNvSpPr/>
          <p:nvPr/>
        </p:nvSpPr>
        <p:spPr>
          <a:xfrm>
            <a:off x="640080" y="3145536"/>
            <a:ext cx="274320" cy="274320"/>
          </a:xfrm>
          <a:prstGeom prst="rect">
            <a:avLst/>
          </a:prstGeom>
          <a:solidFill>
            <a:srgbClr val="41801A"/>
          </a:solidFill>
          <a:ln>
            <a:noFill/>
          </a:ln>
        </p:spPr>
        <p:txBody>
          <a:bodyPr rtlCol="0" anchor="ctr"/>
          <a:lstStyle/>
          <a:p>
            <a:pPr algn="ctr"/>
          </a:p>
        </p:txBody>
      </p:sp>
      <p:sp>
        <p:nvSpPr>
          <p:cNvPr id="11" name="Rectangle 10"/>
          <p:cNvSpPr/>
          <p:nvPr/>
        </p:nvSpPr>
        <p:spPr>
          <a:xfrm>
            <a:off x="640080" y="2816352"/>
            <a:ext cx="274320" cy="274320"/>
          </a:xfrm>
          <a:prstGeom prst="rect">
            <a:avLst/>
          </a:prstGeom>
          <a:solidFill>
            <a:srgbClr val="41801A"/>
          </a:solidFill>
          <a:ln>
            <a:noFill/>
          </a:ln>
        </p:spPr>
        <p:txBody>
          <a:bodyPr rtlCol="0" anchor="ctr"/>
          <a:lstStyle/>
          <a:p>
            <a:pPr algn="ctr"/>
          </a:p>
        </p:txBody>
      </p:sp>
      <p:sp>
        <p:nvSpPr>
          <p:cNvPr id="12" name="Rectangle 11"/>
          <p:cNvSpPr/>
          <p:nvPr/>
        </p:nvSpPr>
        <p:spPr>
          <a:xfrm>
            <a:off x="640080" y="2487168"/>
            <a:ext cx="274320" cy="274320"/>
          </a:xfrm>
          <a:prstGeom prst="rect">
            <a:avLst/>
          </a:prstGeom>
          <a:solidFill>
            <a:srgbClr val="41801A"/>
          </a:solidFill>
          <a:ln>
            <a:noFill/>
          </a:ln>
        </p:spPr>
        <p:txBody>
          <a:bodyPr rtlCol="0" anchor="ctr"/>
          <a:lstStyle/>
          <a:p>
            <a:pPr algn="ctr"/>
          </a:p>
        </p:txBody>
      </p:sp>
      <p:sp>
        <p:nvSpPr>
          <p:cNvPr id="13" name="Rectangle 12"/>
          <p:cNvSpPr/>
          <p:nvPr/>
        </p:nvSpPr>
        <p:spPr>
          <a:xfrm>
            <a:off x="640080" y="2157984"/>
            <a:ext cx="274320" cy="274320"/>
          </a:xfrm>
          <a:prstGeom prst="rect">
            <a:avLst/>
          </a:prstGeom>
          <a:solidFill>
            <a:srgbClr val="41801A"/>
          </a:solidFill>
          <a:ln>
            <a:noFill/>
          </a:ln>
        </p:spPr>
        <p:txBody>
          <a:bodyPr rtlCol="0" anchor="ctr"/>
          <a:lstStyle/>
          <a:p>
            <a:pPr algn="ctr"/>
          </a:p>
        </p:txBody>
      </p:sp>
      <p:sp>
        <p:nvSpPr>
          <p:cNvPr id="14" name="Rectangle 13"/>
          <p:cNvSpPr/>
          <p:nvPr/>
        </p:nvSpPr>
        <p:spPr>
          <a:xfrm>
            <a:off x="640080" y="1828800"/>
            <a:ext cx="274320" cy="274320"/>
          </a:xfrm>
          <a:prstGeom prst="rect">
            <a:avLst/>
          </a:prstGeom>
          <a:solidFill>
            <a:srgbClr val="41801A"/>
          </a:solidFill>
          <a:ln>
            <a:noFill/>
          </a:ln>
        </p:spPr>
        <p:txBody>
          <a:bodyPr rtlCol="0" anchor="ctr"/>
          <a:lstStyle/>
          <a:p>
            <a:pPr algn="ctr"/>
          </a:p>
        </p:txBody>
      </p:sp>
      <p:sp>
        <p:nvSpPr>
          <p:cNvPr id="15" name="Rectangle 14"/>
          <p:cNvSpPr/>
          <p:nvPr/>
        </p:nvSpPr>
        <p:spPr>
          <a:xfrm>
            <a:off x="969264" y="4791456"/>
            <a:ext cx="274320" cy="274320"/>
          </a:xfrm>
          <a:prstGeom prst="rect">
            <a:avLst/>
          </a:prstGeom>
          <a:solidFill>
            <a:srgbClr val="41801A"/>
          </a:solidFill>
          <a:ln>
            <a:noFill/>
          </a:ln>
        </p:spPr>
        <p:txBody>
          <a:bodyPr rtlCol="0" anchor="ctr"/>
          <a:lstStyle/>
          <a:p>
            <a:pPr algn="ctr"/>
          </a:p>
        </p:txBody>
      </p:sp>
      <p:sp>
        <p:nvSpPr>
          <p:cNvPr id="16" name="Rectangle 15"/>
          <p:cNvSpPr/>
          <p:nvPr/>
        </p:nvSpPr>
        <p:spPr>
          <a:xfrm>
            <a:off x="969264" y="4462272"/>
            <a:ext cx="274320" cy="274320"/>
          </a:xfrm>
          <a:prstGeom prst="rect">
            <a:avLst/>
          </a:prstGeom>
          <a:solidFill>
            <a:srgbClr val="41801A"/>
          </a:solidFill>
          <a:ln>
            <a:noFill/>
          </a:ln>
        </p:spPr>
        <p:txBody>
          <a:bodyPr rtlCol="0" anchor="ctr"/>
          <a:lstStyle/>
          <a:p>
            <a:pPr algn="ctr"/>
          </a:p>
        </p:txBody>
      </p:sp>
      <p:sp>
        <p:nvSpPr>
          <p:cNvPr id="17" name="Rectangle 16"/>
          <p:cNvSpPr/>
          <p:nvPr/>
        </p:nvSpPr>
        <p:spPr>
          <a:xfrm>
            <a:off x="969264" y="4133088"/>
            <a:ext cx="274320" cy="274320"/>
          </a:xfrm>
          <a:prstGeom prst="rect">
            <a:avLst/>
          </a:prstGeom>
          <a:solidFill>
            <a:srgbClr val="41801A"/>
          </a:solidFill>
          <a:ln>
            <a:noFill/>
          </a:ln>
        </p:spPr>
        <p:txBody>
          <a:bodyPr rtlCol="0" anchor="ctr"/>
          <a:lstStyle/>
          <a:p>
            <a:pPr algn="ctr"/>
          </a:p>
        </p:txBody>
      </p:sp>
      <p:sp>
        <p:nvSpPr>
          <p:cNvPr id="18" name="Rectangle 17"/>
          <p:cNvSpPr/>
          <p:nvPr/>
        </p:nvSpPr>
        <p:spPr>
          <a:xfrm>
            <a:off x="969264" y="3803904"/>
            <a:ext cx="274320" cy="274320"/>
          </a:xfrm>
          <a:prstGeom prst="rect">
            <a:avLst/>
          </a:prstGeom>
          <a:solidFill>
            <a:srgbClr val="41801A"/>
          </a:solidFill>
          <a:ln>
            <a:noFill/>
          </a:ln>
        </p:spPr>
        <p:txBody>
          <a:bodyPr rtlCol="0" anchor="ctr"/>
          <a:lstStyle/>
          <a:p>
            <a:pPr algn="ctr"/>
          </a:p>
        </p:txBody>
      </p:sp>
      <p:sp>
        <p:nvSpPr>
          <p:cNvPr id="19" name="Rectangle 18"/>
          <p:cNvSpPr/>
          <p:nvPr/>
        </p:nvSpPr>
        <p:spPr>
          <a:xfrm>
            <a:off x="969264" y="3474720"/>
            <a:ext cx="274320" cy="274320"/>
          </a:xfrm>
          <a:prstGeom prst="rect">
            <a:avLst/>
          </a:prstGeom>
          <a:solidFill>
            <a:srgbClr val="41801A"/>
          </a:solidFill>
          <a:ln>
            <a:noFill/>
          </a:ln>
        </p:spPr>
        <p:txBody>
          <a:bodyPr rtlCol="0" anchor="ctr"/>
          <a:lstStyle/>
          <a:p>
            <a:pPr algn="ctr"/>
          </a:p>
        </p:txBody>
      </p:sp>
      <p:sp>
        <p:nvSpPr>
          <p:cNvPr id="20" name="Rectangle 19"/>
          <p:cNvSpPr/>
          <p:nvPr/>
        </p:nvSpPr>
        <p:spPr>
          <a:xfrm>
            <a:off x="969264" y="3145536"/>
            <a:ext cx="274320" cy="274320"/>
          </a:xfrm>
          <a:prstGeom prst="rect">
            <a:avLst/>
          </a:prstGeom>
          <a:solidFill>
            <a:srgbClr val="41801A"/>
          </a:solidFill>
          <a:ln>
            <a:noFill/>
          </a:ln>
        </p:spPr>
        <p:txBody>
          <a:bodyPr rtlCol="0" anchor="ctr"/>
          <a:lstStyle/>
          <a:p>
            <a:pPr algn="ctr"/>
          </a:p>
        </p:txBody>
      </p:sp>
      <p:sp>
        <p:nvSpPr>
          <p:cNvPr id="21" name="Rectangle 20"/>
          <p:cNvSpPr/>
          <p:nvPr/>
        </p:nvSpPr>
        <p:spPr>
          <a:xfrm>
            <a:off x="969264" y="2816352"/>
            <a:ext cx="274320" cy="274320"/>
          </a:xfrm>
          <a:prstGeom prst="rect">
            <a:avLst/>
          </a:prstGeom>
          <a:solidFill>
            <a:srgbClr val="41801A"/>
          </a:solidFill>
          <a:ln>
            <a:noFill/>
          </a:ln>
        </p:spPr>
        <p:txBody>
          <a:bodyPr rtlCol="0" anchor="ctr"/>
          <a:lstStyle/>
          <a:p>
            <a:pPr algn="ctr"/>
          </a:p>
        </p:txBody>
      </p:sp>
      <p:sp>
        <p:nvSpPr>
          <p:cNvPr id="22" name="Rectangle 21"/>
          <p:cNvSpPr/>
          <p:nvPr/>
        </p:nvSpPr>
        <p:spPr>
          <a:xfrm>
            <a:off x="969264" y="2487168"/>
            <a:ext cx="274320" cy="274320"/>
          </a:xfrm>
          <a:prstGeom prst="rect">
            <a:avLst/>
          </a:prstGeom>
          <a:solidFill>
            <a:srgbClr val="41801A"/>
          </a:solidFill>
          <a:ln>
            <a:noFill/>
          </a:ln>
        </p:spPr>
        <p:txBody>
          <a:bodyPr rtlCol="0" anchor="ctr"/>
          <a:lstStyle/>
          <a:p>
            <a:pPr algn="ctr"/>
          </a:p>
        </p:txBody>
      </p:sp>
      <p:sp>
        <p:nvSpPr>
          <p:cNvPr id="23" name="Rectangle 22"/>
          <p:cNvSpPr/>
          <p:nvPr/>
        </p:nvSpPr>
        <p:spPr>
          <a:xfrm>
            <a:off x="969264" y="2157984"/>
            <a:ext cx="274320" cy="274320"/>
          </a:xfrm>
          <a:prstGeom prst="rect">
            <a:avLst/>
          </a:prstGeom>
          <a:solidFill>
            <a:srgbClr val="41801A"/>
          </a:solidFill>
          <a:ln>
            <a:noFill/>
          </a:ln>
        </p:spPr>
        <p:txBody>
          <a:bodyPr rtlCol="0" anchor="ctr"/>
          <a:lstStyle/>
          <a:p>
            <a:pPr algn="ctr"/>
          </a:p>
        </p:txBody>
      </p:sp>
      <p:sp>
        <p:nvSpPr>
          <p:cNvPr id="24" name="Rectangle 23"/>
          <p:cNvSpPr/>
          <p:nvPr/>
        </p:nvSpPr>
        <p:spPr>
          <a:xfrm>
            <a:off x="969264" y="1828800"/>
            <a:ext cx="274320" cy="274320"/>
          </a:xfrm>
          <a:prstGeom prst="rect">
            <a:avLst/>
          </a:prstGeom>
          <a:solidFill>
            <a:srgbClr val="41801A"/>
          </a:solidFill>
          <a:ln>
            <a:noFill/>
          </a:ln>
        </p:spPr>
        <p:txBody>
          <a:bodyPr rtlCol="0" anchor="ctr"/>
          <a:lstStyle/>
          <a:p>
            <a:pPr algn="ctr"/>
          </a:p>
        </p:txBody>
      </p:sp>
      <p:sp>
        <p:nvSpPr>
          <p:cNvPr id="25" name="Rectangle 24"/>
          <p:cNvSpPr/>
          <p:nvPr/>
        </p:nvSpPr>
        <p:spPr>
          <a:xfrm>
            <a:off x="1298448" y="4791456"/>
            <a:ext cx="274320" cy="274320"/>
          </a:xfrm>
          <a:prstGeom prst="rect">
            <a:avLst/>
          </a:prstGeom>
          <a:solidFill>
            <a:srgbClr val="41801A"/>
          </a:solidFill>
          <a:ln>
            <a:noFill/>
          </a:ln>
        </p:spPr>
        <p:txBody>
          <a:bodyPr rtlCol="0" anchor="ctr"/>
          <a:lstStyle/>
          <a:p>
            <a:pPr algn="ctr"/>
          </a:p>
        </p:txBody>
      </p:sp>
      <p:sp>
        <p:nvSpPr>
          <p:cNvPr id="26" name="Rectangle 25"/>
          <p:cNvSpPr/>
          <p:nvPr/>
        </p:nvSpPr>
        <p:spPr>
          <a:xfrm>
            <a:off x="1298448" y="4462272"/>
            <a:ext cx="274320" cy="274320"/>
          </a:xfrm>
          <a:prstGeom prst="rect">
            <a:avLst/>
          </a:prstGeom>
          <a:solidFill>
            <a:srgbClr val="41801A"/>
          </a:solidFill>
          <a:ln>
            <a:noFill/>
          </a:ln>
        </p:spPr>
        <p:txBody>
          <a:bodyPr rtlCol="0" anchor="ctr"/>
          <a:lstStyle/>
          <a:p>
            <a:pPr algn="ctr"/>
          </a:p>
        </p:txBody>
      </p:sp>
      <p:sp>
        <p:nvSpPr>
          <p:cNvPr id="27" name="Rectangle 26"/>
          <p:cNvSpPr/>
          <p:nvPr/>
        </p:nvSpPr>
        <p:spPr>
          <a:xfrm>
            <a:off x="1298448" y="4133088"/>
            <a:ext cx="274320" cy="274320"/>
          </a:xfrm>
          <a:prstGeom prst="rect">
            <a:avLst/>
          </a:prstGeom>
          <a:solidFill>
            <a:srgbClr val="41801A"/>
          </a:solidFill>
          <a:ln>
            <a:noFill/>
          </a:ln>
        </p:spPr>
        <p:txBody>
          <a:bodyPr rtlCol="0" anchor="ctr"/>
          <a:lstStyle/>
          <a:p>
            <a:pPr algn="ctr"/>
          </a:p>
        </p:txBody>
      </p:sp>
      <p:sp>
        <p:nvSpPr>
          <p:cNvPr id="28" name="Rectangle 27"/>
          <p:cNvSpPr/>
          <p:nvPr/>
        </p:nvSpPr>
        <p:spPr>
          <a:xfrm>
            <a:off x="1298448" y="3803904"/>
            <a:ext cx="274320" cy="274320"/>
          </a:xfrm>
          <a:prstGeom prst="rect">
            <a:avLst/>
          </a:prstGeom>
          <a:solidFill>
            <a:srgbClr val="41801A"/>
          </a:solidFill>
          <a:ln>
            <a:noFill/>
          </a:ln>
        </p:spPr>
        <p:txBody>
          <a:bodyPr rtlCol="0" anchor="ctr"/>
          <a:lstStyle/>
          <a:p>
            <a:pPr algn="ctr"/>
          </a:p>
        </p:txBody>
      </p:sp>
      <p:sp>
        <p:nvSpPr>
          <p:cNvPr id="29" name="Rectangle 28"/>
          <p:cNvSpPr/>
          <p:nvPr/>
        </p:nvSpPr>
        <p:spPr>
          <a:xfrm>
            <a:off x="1298448" y="3474720"/>
            <a:ext cx="274320" cy="274320"/>
          </a:xfrm>
          <a:prstGeom prst="rect">
            <a:avLst/>
          </a:prstGeom>
          <a:solidFill>
            <a:srgbClr val="41801A"/>
          </a:solidFill>
          <a:ln>
            <a:noFill/>
          </a:ln>
        </p:spPr>
        <p:txBody>
          <a:bodyPr rtlCol="0" anchor="ctr"/>
          <a:lstStyle/>
          <a:p>
            <a:pPr algn="ctr"/>
          </a:p>
        </p:txBody>
      </p:sp>
      <p:sp>
        <p:nvSpPr>
          <p:cNvPr id="30" name="Rectangle 29"/>
          <p:cNvSpPr/>
          <p:nvPr/>
        </p:nvSpPr>
        <p:spPr>
          <a:xfrm>
            <a:off x="1298448" y="3145536"/>
            <a:ext cx="274320" cy="274320"/>
          </a:xfrm>
          <a:prstGeom prst="rect">
            <a:avLst/>
          </a:prstGeom>
          <a:solidFill>
            <a:srgbClr val="41801A"/>
          </a:solidFill>
          <a:ln>
            <a:noFill/>
          </a:ln>
        </p:spPr>
        <p:txBody>
          <a:bodyPr rtlCol="0" anchor="ctr"/>
          <a:lstStyle/>
          <a:p>
            <a:pPr algn="ctr"/>
          </a:p>
        </p:txBody>
      </p:sp>
      <p:sp>
        <p:nvSpPr>
          <p:cNvPr id="31" name="Rectangle 30"/>
          <p:cNvSpPr/>
          <p:nvPr/>
        </p:nvSpPr>
        <p:spPr>
          <a:xfrm>
            <a:off x="1298448" y="2816352"/>
            <a:ext cx="274320" cy="274320"/>
          </a:xfrm>
          <a:prstGeom prst="rect">
            <a:avLst/>
          </a:prstGeom>
          <a:solidFill>
            <a:srgbClr val="41801A"/>
          </a:solidFill>
          <a:ln>
            <a:noFill/>
          </a:ln>
        </p:spPr>
        <p:txBody>
          <a:bodyPr rtlCol="0" anchor="ctr"/>
          <a:lstStyle/>
          <a:p>
            <a:pPr algn="ctr"/>
          </a:p>
        </p:txBody>
      </p:sp>
      <p:sp>
        <p:nvSpPr>
          <p:cNvPr id="32" name="Rectangle 31"/>
          <p:cNvSpPr/>
          <p:nvPr/>
        </p:nvSpPr>
        <p:spPr>
          <a:xfrm>
            <a:off x="1298448" y="2487168"/>
            <a:ext cx="274320" cy="274320"/>
          </a:xfrm>
          <a:prstGeom prst="rect">
            <a:avLst/>
          </a:prstGeom>
          <a:solidFill>
            <a:srgbClr val="41801A"/>
          </a:solidFill>
          <a:ln>
            <a:noFill/>
          </a:ln>
        </p:spPr>
        <p:txBody>
          <a:bodyPr rtlCol="0" anchor="ctr"/>
          <a:lstStyle/>
          <a:p>
            <a:pPr algn="ctr"/>
          </a:p>
        </p:txBody>
      </p:sp>
      <p:sp>
        <p:nvSpPr>
          <p:cNvPr id="33" name="Rectangle 32"/>
          <p:cNvSpPr/>
          <p:nvPr/>
        </p:nvSpPr>
        <p:spPr>
          <a:xfrm>
            <a:off x="1298448" y="2157984"/>
            <a:ext cx="274320" cy="274320"/>
          </a:xfrm>
          <a:prstGeom prst="rect">
            <a:avLst/>
          </a:prstGeom>
          <a:solidFill>
            <a:srgbClr val="41801A"/>
          </a:solidFill>
          <a:ln>
            <a:noFill/>
          </a:ln>
        </p:spPr>
        <p:txBody>
          <a:bodyPr rtlCol="0" anchor="ctr"/>
          <a:lstStyle/>
          <a:p>
            <a:pPr algn="ctr"/>
          </a:p>
        </p:txBody>
      </p:sp>
      <p:sp>
        <p:nvSpPr>
          <p:cNvPr id="34" name="Rectangle 33"/>
          <p:cNvSpPr/>
          <p:nvPr/>
        </p:nvSpPr>
        <p:spPr>
          <a:xfrm>
            <a:off x="1298448" y="1828800"/>
            <a:ext cx="274320" cy="274320"/>
          </a:xfrm>
          <a:prstGeom prst="rect">
            <a:avLst/>
          </a:prstGeom>
          <a:solidFill>
            <a:srgbClr val="41801A"/>
          </a:solidFill>
          <a:ln>
            <a:noFill/>
          </a:ln>
        </p:spPr>
        <p:txBody>
          <a:bodyPr rtlCol="0" anchor="ctr"/>
          <a:lstStyle/>
          <a:p>
            <a:pPr algn="ctr"/>
          </a:p>
        </p:txBody>
      </p:sp>
      <p:sp>
        <p:nvSpPr>
          <p:cNvPr id="35" name="Rectangle 34"/>
          <p:cNvSpPr/>
          <p:nvPr/>
        </p:nvSpPr>
        <p:spPr>
          <a:xfrm>
            <a:off x="1627632" y="4791456"/>
            <a:ext cx="274320" cy="274320"/>
          </a:xfrm>
          <a:prstGeom prst="rect">
            <a:avLst/>
          </a:prstGeom>
          <a:solidFill>
            <a:srgbClr val="41801A"/>
          </a:solidFill>
          <a:ln>
            <a:noFill/>
          </a:ln>
        </p:spPr>
        <p:txBody>
          <a:bodyPr rtlCol="0" anchor="ctr"/>
          <a:lstStyle/>
          <a:p>
            <a:pPr algn="ctr"/>
          </a:p>
        </p:txBody>
      </p:sp>
      <p:sp>
        <p:nvSpPr>
          <p:cNvPr id="36" name="Rectangle 35"/>
          <p:cNvSpPr/>
          <p:nvPr/>
        </p:nvSpPr>
        <p:spPr>
          <a:xfrm>
            <a:off x="1627632" y="4462272"/>
            <a:ext cx="274320" cy="274320"/>
          </a:xfrm>
          <a:prstGeom prst="rect">
            <a:avLst/>
          </a:prstGeom>
          <a:solidFill>
            <a:srgbClr val="41801A"/>
          </a:solidFill>
          <a:ln>
            <a:noFill/>
          </a:ln>
        </p:spPr>
        <p:txBody>
          <a:bodyPr rtlCol="0" anchor="ctr"/>
          <a:lstStyle/>
          <a:p>
            <a:pPr algn="ctr"/>
          </a:p>
        </p:txBody>
      </p:sp>
      <p:sp>
        <p:nvSpPr>
          <p:cNvPr id="37" name="Rectangle 36"/>
          <p:cNvSpPr/>
          <p:nvPr/>
        </p:nvSpPr>
        <p:spPr>
          <a:xfrm>
            <a:off x="1627632" y="4133088"/>
            <a:ext cx="274320" cy="274320"/>
          </a:xfrm>
          <a:prstGeom prst="rect">
            <a:avLst/>
          </a:prstGeom>
          <a:solidFill>
            <a:srgbClr val="41801A"/>
          </a:solidFill>
          <a:ln>
            <a:noFill/>
          </a:ln>
        </p:spPr>
        <p:txBody>
          <a:bodyPr rtlCol="0" anchor="ctr"/>
          <a:lstStyle/>
          <a:p>
            <a:pPr algn="ctr"/>
          </a:p>
        </p:txBody>
      </p:sp>
      <p:sp>
        <p:nvSpPr>
          <p:cNvPr id="38" name="Rectangle 37"/>
          <p:cNvSpPr/>
          <p:nvPr/>
        </p:nvSpPr>
        <p:spPr>
          <a:xfrm>
            <a:off x="1627632" y="3803904"/>
            <a:ext cx="274320" cy="274320"/>
          </a:xfrm>
          <a:prstGeom prst="rect">
            <a:avLst/>
          </a:prstGeom>
          <a:solidFill>
            <a:srgbClr val="41801A"/>
          </a:solidFill>
          <a:ln>
            <a:noFill/>
          </a:ln>
        </p:spPr>
        <p:txBody>
          <a:bodyPr rtlCol="0" anchor="ctr"/>
          <a:lstStyle/>
          <a:p>
            <a:pPr algn="ctr"/>
          </a:p>
        </p:txBody>
      </p:sp>
      <p:sp>
        <p:nvSpPr>
          <p:cNvPr id="39" name="Rectangle 38"/>
          <p:cNvSpPr/>
          <p:nvPr/>
        </p:nvSpPr>
        <p:spPr>
          <a:xfrm>
            <a:off x="1627632" y="3474720"/>
            <a:ext cx="274320" cy="274320"/>
          </a:xfrm>
          <a:prstGeom prst="rect">
            <a:avLst/>
          </a:prstGeom>
          <a:solidFill>
            <a:srgbClr val="A9E76A"/>
          </a:solidFill>
          <a:ln>
            <a:noFill/>
          </a:ln>
        </p:spPr>
        <p:txBody>
          <a:bodyPr rtlCol="0" anchor="ctr"/>
          <a:lstStyle/>
          <a:p>
            <a:pPr algn="ctr"/>
          </a:p>
        </p:txBody>
      </p:sp>
      <p:sp>
        <p:nvSpPr>
          <p:cNvPr id="40" name="Rectangle 39"/>
          <p:cNvSpPr/>
          <p:nvPr/>
        </p:nvSpPr>
        <p:spPr>
          <a:xfrm>
            <a:off x="1627632" y="3145536"/>
            <a:ext cx="274320" cy="274320"/>
          </a:xfrm>
          <a:prstGeom prst="rect">
            <a:avLst/>
          </a:prstGeom>
          <a:solidFill>
            <a:srgbClr val="A9E76A"/>
          </a:solidFill>
          <a:ln>
            <a:noFill/>
          </a:ln>
        </p:spPr>
        <p:txBody>
          <a:bodyPr rtlCol="0" anchor="ctr"/>
          <a:lstStyle/>
          <a:p>
            <a:pPr algn="ctr"/>
          </a:p>
        </p:txBody>
      </p:sp>
      <p:sp>
        <p:nvSpPr>
          <p:cNvPr id="41" name="Rectangle 40"/>
          <p:cNvSpPr/>
          <p:nvPr/>
        </p:nvSpPr>
        <p:spPr>
          <a:xfrm>
            <a:off x="1627632" y="2816352"/>
            <a:ext cx="274320" cy="274320"/>
          </a:xfrm>
          <a:prstGeom prst="rect">
            <a:avLst/>
          </a:prstGeom>
          <a:solidFill>
            <a:srgbClr val="A9E76A"/>
          </a:solidFill>
          <a:ln>
            <a:noFill/>
          </a:ln>
        </p:spPr>
        <p:txBody>
          <a:bodyPr rtlCol="0" anchor="ctr"/>
          <a:lstStyle/>
          <a:p>
            <a:pPr algn="ctr"/>
          </a:p>
        </p:txBody>
      </p:sp>
      <p:sp>
        <p:nvSpPr>
          <p:cNvPr id="42" name="Rectangle 41"/>
          <p:cNvSpPr/>
          <p:nvPr/>
        </p:nvSpPr>
        <p:spPr>
          <a:xfrm>
            <a:off x="1627632" y="2487168"/>
            <a:ext cx="274320" cy="274320"/>
          </a:xfrm>
          <a:prstGeom prst="rect">
            <a:avLst/>
          </a:prstGeom>
          <a:solidFill>
            <a:srgbClr val="A9E76A"/>
          </a:solidFill>
          <a:ln>
            <a:noFill/>
          </a:ln>
        </p:spPr>
        <p:txBody>
          <a:bodyPr rtlCol="0" anchor="ctr"/>
          <a:lstStyle/>
          <a:p>
            <a:pPr algn="ctr"/>
          </a:p>
        </p:txBody>
      </p:sp>
      <p:sp>
        <p:nvSpPr>
          <p:cNvPr id="43" name="Rectangle 42"/>
          <p:cNvSpPr/>
          <p:nvPr/>
        </p:nvSpPr>
        <p:spPr>
          <a:xfrm>
            <a:off x="1627632" y="2157984"/>
            <a:ext cx="274320" cy="274320"/>
          </a:xfrm>
          <a:prstGeom prst="rect">
            <a:avLst/>
          </a:prstGeom>
          <a:solidFill>
            <a:srgbClr val="A9E76A"/>
          </a:solidFill>
          <a:ln>
            <a:noFill/>
          </a:ln>
        </p:spPr>
        <p:txBody>
          <a:bodyPr rtlCol="0" anchor="ctr"/>
          <a:lstStyle/>
          <a:p>
            <a:pPr algn="ctr"/>
          </a:p>
        </p:txBody>
      </p:sp>
      <p:sp>
        <p:nvSpPr>
          <p:cNvPr id="44" name="Rectangle 43"/>
          <p:cNvSpPr/>
          <p:nvPr/>
        </p:nvSpPr>
        <p:spPr>
          <a:xfrm>
            <a:off x="1627632" y="1828800"/>
            <a:ext cx="274320" cy="274320"/>
          </a:xfrm>
          <a:prstGeom prst="rect">
            <a:avLst/>
          </a:prstGeom>
          <a:solidFill>
            <a:srgbClr val="A9E76A"/>
          </a:solidFill>
          <a:ln>
            <a:noFill/>
          </a:ln>
        </p:spPr>
        <p:txBody>
          <a:bodyPr rtlCol="0" anchor="ctr"/>
          <a:lstStyle/>
          <a:p>
            <a:pPr algn="ctr"/>
          </a:p>
        </p:txBody>
      </p:sp>
      <p:sp>
        <p:nvSpPr>
          <p:cNvPr id="45" name="Rectangle 44"/>
          <p:cNvSpPr/>
          <p:nvPr/>
        </p:nvSpPr>
        <p:spPr>
          <a:xfrm>
            <a:off x="1956816" y="4791456"/>
            <a:ext cx="274320" cy="274320"/>
          </a:xfrm>
          <a:prstGeom prst="rect">
            <a:avLst/>
          </a:prstGeom>
          <a:solidFill>
            <a:srgbClr val="A9E76A"/>
          </a:solidFill>
          <a:ln>
            <a:noFill/>
          </a:ln>
        </p:spPr>
        <p:txBody>
          <a:bodyPr rtlCol="0" anchor="ctr"/>
          <a:lstStyle/>
          <a:p>
            <a:pPr algn="ctr"/>
          </a:p>
        </p:txBody>
      </p:sp>
      <p:sp>
        <p:nvSpPr>
          <p:cNvPr id="46" name="Rectangle 45"/>
          <p:cNvSpPr/>
          <p:nvPr/>
        </p:nvSpPr>
        <p:spPr>
          <a:xfrm>
            <a:off x="1956816" y="4462272"/>
            <a:ext cx="274320" cy="274320"/>
          </a:xfrm>
          <a:prstGeom prst="rect">
            <a:avLst/>
          </a:prstGeom>
          <a:solidFill>
            <a:srgbClr val="E4EAE0"/>
          </a:solidFill>
          <a:ln>
            <a:noFill/>
          </a:ln>
        </p:spPr>
        <p:txBody>
          <a:bodyPr rtlCol="0" anchor="ctr"/>
          <a:lstStyle/>
          <a:p>
            <a:pPr algn="ctr"/>
          </a:p>
        </p:txBody>
      </p:sp>
      <p:sp>
        <p:nvSpPr>
          <p:cNvPr id="47" name="Rectangle 46"/>
          <p:cNvSpPr/>
          <p:nvPr/>
        </p:nvSpPr>
        <p:spPr>
          <a:xfrm>
            <a:off x="1956816" y="4133088"/>
            <a:ext cx="274320" cy="274320"/>
          </a:xfrm>
          <a:prstGeom prst="rect">
            <a:avLst/>
          </a:prstGeom>
          <a:solidFill>
            <a:srgbClr val="E4EAE0"/>
          </a:solidFill>
          <a:ln>
            <a:noFill/>
          </a:ln>
        </p:spPr>
        <p:txBody>
          <a:bodyPr rtlCol="0" anchor="ctr"/>
          <a:lstStyle/>
          <a:p>
            <a:pPr algn="ctr"/>
          </a:p>
        </p:txBody>
      </p:sp>
      <p:sp>
        <p:nvSpPr>
          <p:cNvPr id="48" name="Rectangle 47"/>
          <p:cNvSpPr/>
          <p:nvPr/>
        </p:nvSpPr>
        <p:spPr>
          <a:xfrm>
            <a:off x="1956816" y="3803904"/>
            <a:ext cx="274320" cy="274320"/>
          </a:xfrm>
          <a:prstGeom prst="rect">
            <a:avLst/>
          </a:prstGeom>
          <a:solidFill>
            <a:srgbClr val="E4EAE0"/>
          </a:solidFill>
          <a:ln>
            <a:noFill/>
          </a:ln>
        </p:spPr>
        <p:txBody>
          <a:bodyPr rtlCol="0" anchor="ctr"/>
          <a:lstStyle/>
          <a:p>
            <a:pPr algn="ctr"/>
          </a:p>
        </p:txBody>
      </p:sp>
      <p:sp>
        <p:nvSpPr>
          <p:cNvPr id="49" name="Rectangle 48"/>
          <p:cNvSpPr/>
          <p:nvPr/>
        </p:nvSpPr>
        <p:spPr>
          <a:xfrm>
            <a:off x="1956816" y="3474720"/>
            <a:ext cx="274320" cy="274320"/>
          </a:xfrm>
          <a:prstGeom prst="rect">
            <a:avLst/>
          </a:prstGeom>
          <a:solidFill>
            <a:srgbClr val="E4EAE0"/>
          </a:solidFill>
          <a:ln>
            <a:noFill/>
          </a:ln>
        </p:spPr>
        <p:txBody>
          <a:bodyPr rtlCol="0" anchor="ctr"/>
          <a:lstStyle/>
          <a:p>
            <a:pPr algn="ctr"/>
          </a:p>
        </p:txBody>
      </p:sp>
      <p:sp>
        <p:nvSpPr>
          <p:cNvPr id="50" name="Rectangle 49"/>
          <p:cNvSpPr/>
          <p:nvPr/>
        </p:nvSpPr>
        <p:spPr>
          <a:xfrm>
            <a:off x="1956816" y="3145536"/>
            <a:ext cx="274320" cy="274320"/>
          </a:xfrm>
          <a:prstGeom prst="rect">
            <a:avLst/>
          </a:prstGeom>
          <a:solidFill>
            <a:srgbClr val="E4EAE0"/>
          </a:solidFill>
          <a:ln>
            <a:noFill/>
          </a:ln>
        </p:spPr>
        <p:txBody>
          <a:bodyPr rtlCol="0" anchor="ctr"/>
          <a:lstStyle/>
          <a:p>
            <a:pPr algn="ctr"/>
          </a:p>
        </p:txBody>
      </p:sp>
      <p:sp>
        <p:nvSpPr>
          <p:cNvPr id="51" name="Rectangle 50"/>
          <p:cNvSpPr/>
          <p:nvPr/>
        </p:nvSpPr>
        <p:spPr>
          <a:xfrm>
            <a:off x="1956816" y="2816352"/>
            <a:ext cx="274320" cy="274320"/>
          </a:xfrm>
          <a:prstGeom prst="rect">
            <a:avLst/>
          </a:prstGeom>
          <a:solidFill>
            <a:srgbClr val="E4EAE0"/>
          </a:solidFill>
          <a:ln>
            <a:noFill/>
          </a:ln>
        </p:spPr>
        <p:txBody>
          <a:bodyPr rtlCol="0" anchor="ctr"/>
          <a:lstStyle/>
          <a:p>
            <a:pPr algn="ctr"/>
          </a:p>
        </p:txBody>
      </p:sp>
      <p:sp>
        <p:nvSpPr>
          <p:cNvPr id="52" name="Rectangle 51"/>
          <p:cNvSpPr/>
          <p:nvPr/>
        </p:nvSpPr>
        <p:spPr>
          <a:xfrm>
            <a:off x="1956816" y="2487168"/>
            <a:ext cx="274320" cy="274320"/>
          </a:xfrm>
          <a:prstGeom prst="rect">
            <a:avLst/>
          </a:prstGeom>
          <a:solidFill>
            <a:srgbClr val="E4EAE0"/>
          </a:solidFill>
          <a:ln>
            <a:noFill/>
          </a:ln>
        </p:spPr>
        <p:txBody>
          <a:bodyPr rtlCol="0" anchor="ctr"/>
          <a:lstStyle/>
          <a:p>
            <a:pPr algn="ctr"/>
          </a:p>
        </p:txBody>
      </p:sp>
      <p:sp>
        <p:nvSpPr>
          <p:cNvPr id="53" name="Rectangle 52"/>
          <p:cNvSpPr/>
          <p:nvPr/>
        </p:nvSpPr>
        <p:spPr>
          <a:xfrm>
            <a:off x="1956816" y="2157984"/>
            <a:ext cx="274320" cy="274320"/>
          </a:xfrm>
          <a:prstGeom prst="rect">
            <a:avLst/>
          </a:prstGeom>
          <a:solidFill>
            <a:srgbClr val="E4EAE0"/>
          </a:solidFill>
          <a:ln>
            <a:noFill/>
          </a:ln>
        </p:spPr>
        <p:txBody>
          <a:bodyPr rtlCol="0" anchor="ctr"/>
          <a:lstStyle/>
          <a:p>
            <a:pPr algn="ctr"/>
          </a:p>
        </p:txBody>
      </p:sp>
      <p:sp>
        <p:nvSpPr>
          <p:cNvPr id="54" name="Rectangle 53"/>
          <p:cNvSpPr/>
          <p:nvPr/>
        </p:nvSpPr>
        <p:spPr>
          <a:xfrm>
            <a:off x="1956816" y="1828800"/>
            <a:ext cx="274320" cy="274320"/>
          </a:xfrm>
          <a:prstGeom prst="rect">
            <a:avLst/>
          </a:prstGeom>
          <a:solidFill>
            <a:srgbClr val="E4EAE0"/>
          </a:solidFill>
          <a:ln>
            <a:noFill/>
          </a:ln>
        </p:spPr>
        <p:txBody>
          <a:bodyPr rtlCol="0" anchor="ctr"/>
          <a:lstStyle/>
          <a:p>
            <a:pPr algn="ctr"/>
          </a:p>
        </p:txBody>
      </p:sp>
      <p:sp>
        <p:nvSpPr>
          <p:cNvPr id="55" name="Rectangle 54"/>
          <p:cNvSpPr/>
          <p:nvPr/>
        </p:nvSpPr>
        <p:spPr>
          <a:xfrm>
            <a:off x="2286000" y="4791456"/>
            <a:ext cx="274320" cy="274320"/>
          </a:xfrm>
          <a:prstGeom prst="rect">
            <a:avLst/>
          </a:prstGeom>
          <a:solidFill>
            <a:srgbClr val="E4EAE0"/>
          </a:solidFill>
          <a:ln>
            <a:noFill/>
          </a:ln>
        </p:spPr>
        <p:txBody>
          <a:bodyPr rtlCol="0" anchor="ctr"/>
          <a:lstStyle/>
          <a:p>
            <a:pPr algn="ctr"/>
          </a:p>
        </p:txBody>
      </p:sp>
      <p:sp>
        <p:nvSpPr>
          <p:cNvPr id="56" name="Rectangle 55"/>
          <p:cNvSpPr/>
          <p:nvPr/>
        </p:nvSpPr>
        <p:spPr>
          <a:xfrm>
            <a:off x="2286000" y="4462272"/>
            <a:ext cx="274320" cy="274320"/>
          </a:xfrm>
          <a:prstGeom prst="rect">
            <a:avLst/>
          </a:prstGeom>
          <a:solidFill>
            <a:srgbClr val="E4EAE0"/>
          </a:solidFill>
          <a:ln>
            <a:noFill/>
          </a:ln>
        </p:spPr>
        <p:txBody>
          <a:bodyPr rtlCol="0" anchor="ctr"/>
          <a:lstStyle/>
          <a:p>
            <a:pPr algn="ctr"/>
          </a:p>
        </p:txBody>
      </p:sp>
      <p:sp>
        <p:nvSpPr>
          <p:cNvPr id="57" name="Rectangle 56"/>
          <p:cNvSpPr/>
          <p:nvPr/>
        </p:nvSpPr>
        <p:spPr>
          <a:xfrm>
            <a:off x="2286000" y="4133088"/>
            <a:ext cx="274320" cy="274320"/>
          </a:xfrm>
          <a:prstGeom prst="rect">
            <a:avLst/>
          </a:prstGeom>
          <a:solidFill>
            <a:srgbClr val="E4EAE0"/>
          </a:solidFill>
          <a:ln>
            <a:noFill/>
          </a:ln>
        </p:spPr>
        <p:txBody>
          <a:bodyPr rtlCol="0" anchor="ctr"/>
          <a:lstStyle/>
          <a:p>
            <a:pPr algn="ctr"/>
          </a:p>
        </p:txBody>
      </p:sp>
      <p:sp>
        <p:nvSpPr>
          <p:cNvPr id="58" name="Rectangle 57"/>
          <p:cNvSpPr/>
          <p:nvPr/>
        </p:nvSpPr>
        <p:spPr>
          <a:xfrm>
            <a:off x="2286000" y="3803904"/>
            <a:ext cx="274320" cy="274320"/>
          </a:xfrm>
          <a:prstGeom prst="rect">
            <a:avLst/>
          </a:prstGeom>
          <a:solidFill>
            <a:srgbClr val="E4EAE0"/>
          </a:solidFill>
          <a:ln>
            <a:noFill/>
          </a:ln>
        </p:spPr>
        <p:txBody>
          <a:bodyPr rtlCol="0" anchor="ctr"/>
          <a:lstStyle/>
          <a:p>
            <a:pPr algn="ctr"/>
          </a:p>
        </p:txBody>
      </p:sp>
      <p:sp>
        <p:nvSpPr>
          <p:cNvPr id="59" name="Rectangle 58"/>
          <p:cNvSpPr/>
          <p:nvPr/>
        </p:nvSpPr>
        <p:spPr>
          <a:xfrm>
            <a:off x="2286000" y="3474720"/>
            <a:ext cx="274320" cy="274320"/>
          </a:xfrm>
          <a:prstGeom prst="rect">
            <a:avLst/>
          </a:prstGeom>
          <a:solidFill>
            <a:srgbClr val="E4EAE0"/>
          </a:solidFill>
          <a:ln>
            <a:noFill/>
          </a:ln>
        </p:spPr>
        <p:txBody>
          <a:bodyPr rtlCol="0" anchor="ctr"/>
          <a:lstStyle/>
          <a:p>
            <a:pPr algn="ctr"/>
          </a:p>
        </p:txBody>
      </p:sp>
      <p:sp>
        <p:nvSpPr>
          <p:cNvPr id="60" name="Rectangle 59"/>
          <p:cNvSpPr/>
          <p:nvPr/>
        </p:nvSpPr>
        <p:spPr>
          <a:xfrm>
            <a:off x="2286000" y="3145536"/>
            <a:ext cx="274320" cy="274320"/>
          </a:xfrm>
          <a:prstGeom prst="rect">
            <a:avLst/>
          </a:prstGeom>
          <a:solidFill>
            <a:srgbClr val="E4EAE0"/>
          </a:solidFill>
          <a:ln>
            <a:noFill/>
          </a:ln>
        </p:spPr>
        <p:txBody>
          <a:bodyPr rtlCol="0" anchor="ctr"/>
          <a:lstStyle/>
          <a:p>
            <a:pPr algn="ctr"/>
          </a:p>
        </p:txBody>
      </p:sp>
      <p:sp>
        <p:nvSpPr>
          <p:cNvPr id="61" name="Rectangle 60"/>
          <p:cNvSpPr/>
          <p:nvPr/>
        </p:nvSpPr>
        <p:spPr>
          <a:xfrm>
            <a:off x="2286000" y="2816352"/>
            <a:ext cx="274320" cy="274320"/>
          </a:xfrm>
          <a:prstGeom prst="rect">
            <a:avLst/>
          </a:prstGeom>
          <a:solidFill>
            <a:srgbClr val="E4EAE0"/>
          </a:solidFill>
          <a:ln>
            <a:noFill/>
          </a:ln>
        </p:spPr>
        <p:txBody>
          <a:bodyPr rtlCol="0" anchor="ctr"/>
          <a:lstStyle/>
          <a:p>
            <a:pPr algn="ctr"/>
          </a:p>
        </p:txBody>
      </p:sp>
      <p:sp>
        <p:nvSpPr>
          <p:cNvPr id="62" name="Rectangle 61"/>
          <p:cNvSpPr/>
          <p:nvPr/>
        </p:nvSpPr>
        <p:spPr>
          <a:xfrm>
            <a:off x="2286000" y="2487168"/>
            <a:ext cx="274320" cy="274320"/>
          </a:xfrm>
          <a:prstGeom prst="rect">
            <a:avLst/>
          </a:prstGeom>
          <a:solidFill>
            <a:srgbClr val="E4EAE0"/>
          </a:solidFill>
          <a:ln>
            <a:noFill/>
          </a:ln>
        </p:spPr>
        <p:txBody>
          <a:bodyPr rtlCol="0" anchor="ctr"/>
          <a:lstStyle/>
          <a:p>
            <a:pPr algn="ctr"/>
          </a:p>
        </p:txBody>
      </p:sp>
      <p:sp>
        <p:nvSpPr>
          <p:cNvPr id="63" name="Rectangle 62"/>
          <p:cNvSpPr/>
          <p:nvPr/>
        </p:nvSpPr>
        <p:spPr>
          <a:xfrm>
            <a:off x="2286000" y="2157984"/>
            <a:ext cx="274320" cy="274320"/>
          </a:xfrm>
          <a:prstGeom prst="rect">
            <a:avLst/>
          </a:prstGeom>
          <a:solidFill>
            <a:srgbClr val="E4EAE0"/>
          </a:solidFill>
          <a:ln>
            <a:noFill/>
          </a:ln>
        </p:spPr>
        <p:txBody>
          <a:bodyPr rtlCol="0" anchor="ctr"/>
          <a:lstStyle/>
          <a:p>
            <a:pPr algn="ctr"/>
          </a:p>
        </p:txBody>
      </p:sp>
      <p:sp>
        <p:nvSpPr>
          <p:cNvPr id="64" name="Rectangle 63"/>
          <p:cNvSpPr/>
          <p:nvPr/>
        </p:nvSpPr>
        <p:spPr>
          <a:xfrm>
            <a:off x="2286000" y="1828800"/>
            <a:ext cx="274320" cy="274320"/>
          </a:xfrm>
          <a:prstGeom prst="rect">
            <a:avLst/>
          </a:prstGeom>
          <a:solidFill>
            <a:srgbClr val="E4EAE0"/>
          </a:solidFill>
          <a:ln>
            <a:noFill/>
          </a:ln>
        </p:spPr>
        <p:txBody>
          <a:bodyPr rtlCol="0" anchor="ctr"/>
          <a:lstStyle/>
          <a:p>
            <a:pPr algn="ctr"/>
          </a:p>
        </p:txBody>
      </p:sp>
      <p:sp>
        <p:nvSpPr>
          <p:cNvPr id="65" name="Rectangle 64"/>
          <p:cNvSpPr/>
          <p:nvPr/>
        </p:nvSpPr>
        <p:spPr>
          <a:xfrm>
            <a:off x="2615184" y="4791456"/>
            <a:ext cx="274320" cy="274320"/>
          </a:xfrm>
          <a:prstGeom prst="rect">
            <a:avLst/>
          </a:prstGeom>
          <a:solidFill>
            <a:srgbClr val="E4EAE0"/>
          </a:solidFill>
          <a:ln>
            <a:noFill/>
          </a:ln>
        </p:spPr>
        <p:txBody>
          <a:bodyPr rtlCol="0" anchor="ctr"/>
          <a:lstStyle/>
          <a:p>
            <a:pPr algn="ctr"/>
          </a:p>
        </p:txBody>
      </p:sp>
      <p:sp>
        <p:nvSpPr>
          <p:cNvPr id="66" name="Rectangle 65"/>
          <p:cNvSpPr/>
          <p:nvPr/>
        </p:nvSpPr>
        <p:spPr>
          <a:xfrm>
            <a:off x="2615184" y="4462272"/>
            <a:ext cx="274320" cy="274320"/>
          </a:xfrm>
          <a:prstGeom prst="rect">
            <a:avLst/>
          </a:prstGeom>
          <a:solidFill>
            <a:srgbClr val="E4EAE0"/>
          </a:solidFill>
          <a:ln>
            <a:noFill/>
          </a:ln>
        </p:spPr>
        <p:txBody>
          <a:bodyPr rtlCol="0" anchor="ctr"/>
          <a:lstStyle/>
          <a:p>
            <a:pPr algn="ctr"/>
          </a:p>
        </p:txBody>
      </p:sp>
      <p:sp>
        <p:nvSpPr>
          <p:cNvPr id="67" name="Rectangle 66"/>
          <p:cNvSpPr/>
          <p:nvPr/>
        </p:nvSpPr>
        <p:spPr>
          <a:xfrm>
            <a:off x="2615184" y="4133088"/>
            <a:ext cx="274320" cy="274320"/>
          </a:xfrm>
          <a:prstGeom prst="rect">
            <a:avLst/>
          </a:prstGeom>
          <a:solidFill>
            <a:srgbClr val="E4EAE0"/>
          </a:solidFill>
          <a:ln>
            <a:noFill/>
          </a:ln>
        </p:spPr>
        <p:txBody>
          <a:bodyPr rtlCol="0" anchor="ctr"/>
          <a:lstStyle/>
          <a:p>
            <a:pPr algn="ctr"/>
          </a:p>
        </p:txBody>
      </p:sp>
      <p:sp>
        <p:nvSpPr>
          <p:cNvPr id="68" name="Rectangle 67"/>
          <p:cNvSpPr/>
          <p:nvPr/>
        </p:nvSpPr>
        <p:spPr>
          <a:xfrm>
            <a:off x="2615184" y="3803904"/>
            <a:ext cx="274320" cy="274320"/>
          </a:xfrm>
          <a:prstGeom prst="rect">
            <a:avLst/>
          </a:prstGeom>
          <a:solidFill>
            <a:srgbClr val="E4EAE0"/>
          </a:solidFill>
          <a:ln>
            <a:noFill/>
          </a:ln>
        </p:spPr>
        <p:txBody>
          <a:bodyPr rtlCol="0" anchor="ctr"/>
          <a:lstStyle/>
          <a:p>
            <a:pPr algn="ctr"/>
          </a:p>
        </p:txBody>
      </p:sp>
      <p:sp>
        <p:nvSpPr>
          <p:cNvPr id="69" name="Rectangle 68"/>
          <p:cNvSpPr/>
          <p:nvPr/>
        </p:nvSpPr>
        <p:spPr>
          <a:xfrm>
            <a:off x="2615184" y="3474720"/>
            <a:ext cx="274320" cy="274320"/>
          </a:xfrm>
          <a:prstGeom prst="rect">
            <a:avLst/>
          </a:prstGeom>
          <a:solidFill>
            <a:srgbClr val="E4EAE0"/>
          </a:solidFill>
          <a:ln>
            <a:noFill/>
          </a:ln>
        </p:spPr>
        <p:txBody>
          <a:bodyPr rtlCol="0" anchor="ctr"/>
          <a:lstStyle/>
          <a:p>
            <a:pPr algn="ctr"/>
          </a:p>
        </p:txBody>
      </p:sp>
      <p:sp>
        <p:nvSpPr>
          <p:cNvPr id="70" name="Rectangle 69"/>
          <p:cNvSpPr/>
          <p:nvPr/>
        </p:nvSpPr>
        <p:spPr>
          <a:xfrm>
            <a:off x="2615184" y="3145536"/>
            <a:ext cx="274320" cy="274320"/>
          </a:xfrm>
          <a:prstGeom prst="rect">
            <a:avLst/>
          </a:prstGeom>
          <a:solidFill>
            <a:srgbClr val="E4EAE0"/>
          </a:solidFill>
          <a:ln>
            <a:noFill/>
          </a:ln>
        </p:spPr>
        <p:txBody>
          <a:bodyPr rtlCol="0" anchor="ctr"/>
          <a:lstStyle/>
          <a:p>
            <a:pPr algn="ctr"/>
          </a:p>
        </p:txBody>
      </p:sp>
      <p:sp>
        <p:nvSpPr>
          <p:cNvPr id="71" name="Rectangle 70"/>
          <p:cNvSpPr/>
          <p:nvPr/>
        </p:nvSpPr>
        <p:spPr>
          <a:xfrm>
            <a:off x="2615184" y="2816352"/>
            <a:ext cx="274320" cy="274320"/>
          </a:xfrm>
          <a:prstGeom prst="rect">
            <a:avLst/>
          </a:prstGeom>
          <a:solidFill>
            <a:srgbClr val="E4EAE0"/>
          </a:solidFill>
          <a:ln>
            <a:noFill/>
          </a:ln>
        </p:spPr>
        <p:txBody>
          <a:bodyPr rtlCol="0" anchor="ctr"/>
          <a:lstStyle/>
          <a:p>
            <a:pPr algn="ctr"/>
          </a:p>
        </p:txBody>
      </p:sp>
      <p:sp>
        <p:nvSpPr>
          <p:cNvPr id="72" name="Rectangle 71"/>
          <p:cNvSpPr/>
          <p:nvPr/>
        </p:nvSpPr>
        <p:spPr>
          <a:xfrm>
            <a:off x="2615184" y="2487168"/>
            <a:ext cx="274320" cy="274320"/>
          </a:xfrm>
          <a:prstGeom prst="rect">
            <a:avLst/>
          </a:prstGeom>
          <a:solidFill>
            <a:srgbClr val="E4EAE0"/>
          </a:solidFill>
          <a:ln>
            <a:noFill/>
          </a:ln>
        </p:spPr>
        <p:txBody>
          <a:bodyPr rtlCol="0" anchor="ctr"/>
          <a:lstStyle/>
          <a:p>
            <a:pPr algn="ctr"/>
          </a:p>
        </p:txBody>
      </p:sp>
      <p:sp>
        <p:nvSpPr>
          <p:cNvPr id="73" name="Rectangle 72"/>
          <p:cNvSpPr/>
          <p:nvPr/>
        </p:nvSpPr>
        <p:spPr>
          <a:xfrm>
            <a:off x="2615184" y="2157984"/>
            <a:ext cx="274320" cy="274320"/>
          </a:xfrm>
          <a:prstGeom prst="rect">
            <a:avLst/>
          </a:prstGeom>
          <a:solidFill>
            <a:srgbClr val="E4EAE0"/>
          </a:solidFill>
          <a:ln>
            <a:noFill/>
          </a:ln>
        </p:spPr>
        <p:txBody>
          <a:bodyPr rtlCol="0" anchor="ctr"/>
          <a:lstStyle/>
          <a:p>
            <a:pPr algn="ctr"/>
          </a:p>
        </p:txBody>
      </p:sp>
      <p:sp>
        <p:nvSpPr>
          <p:cNvPr id="74" name="Rectangle 73"/>
          <p:cNvSpPr/>
          <p:nvPr/>
        </p:nvSpPr>
        <p:spPr>
          <a:xfrm>
            <a:off x="2615184" y="1828800"/>
            <a:ext cx="274320" cy="274320"/>
          </a:xfrm>
          <a:prstGeom prst="rect">
            <a:avLst/>
          </a:prstGeom>
          <a:solidFill>
            <a:srgbClr val="E4EAE0"/>
          </a:solidFill>
          <a:ln>
            <a:noFill/>
          </a:ln>
        </p:spPr>
        <p:txBody>
          <a:bodyPr rtlCol="0" anchor="ctr"/>
          <a:lstStyle/>
          <a:p>
            <a:pPr algn="ctr"/>
          </a:p>
        </p:txBody>
      </p:sp>
      <p:sp>
        <p:nvSpPr>
          <p:cNvPr id="75" name="Rectangle 74"/>
          <p:cNvSpPr/>
          <p:nvPr/>
        </p:nvSpPr>
        <p:spPr>
          <a:xfrm>
            <a:off x="2944368" y="4791456"/>
            <a:ext cx="274320" cy="274320"/>
          </a:xfrm>
          <a:prstGeom prst="rect">
            <a:avLst/>
          </a:prstGeom>
          <a:solidFill>
            <a:srgbClr val="E4EAE0"/>
          </a:solidFill>
          <a:ln>
            <a:noFill/>
          </a:ln>
        </p:spPr>
        <p:txBody>
          <a:bodyPr rtlCol="0" anchor="ctr"/>
          <a:lstStyle/>
          <a:p>
            <a:pPr algn="ctr"/>
          </a:p>
        </p:txBody>
      </p:sp>
      <p:sp>
        <p:nvSpPr>
          <p:cNvPr id="76" name="Rectangle 75"/>
          <p:cNvSpPr/>
          <p:nvPr/>
        </p:nvSpPr>
        <p:spPr>
          <a:xfrm>
            <a:off x="2944368" y="4462272"/>
            <a:ext cx="274320" cy="274320"/>
          </a:xfrm>
          <a:prstGeom prst="rect">
            <a:avLst/>
          </a:prstGeom>
          <a:solidFill>
            <a:srgbClr val="E4EAE0"/>
          </a:solidFill>
          <a:ln>
            <a:noFill/>
          </a:ln>
        </p:spPr>
        <p:txBody>
          <a:bodyPr rtlCol="0" anchor="ctr"/>
          <a:lstStyle/>
          <a:p>
            <a:pPr algn="ctr"/>
          </a:p>
        </p:txBody>
      </p:sp>
      <p:sp>
        <p:nvSpPr>
          <p:cNvPr id="77" name="Rectangle 76"/>
          <p:cNvSpPr/>
          <p:nvPr/>
        </p:nvSpPr>
        <p:spPr>
          <a:xfrm>
            <a:off x="2944368" y="4133088"/>
            <a:ext cx="274320" cy="274320"/>
          </a:xfrm>
          <a:prstGeom prst="rect">
            <a:avLst/>
          </a:prstGeom>
          <a:solidFill>
            <a:srgbClr val="E4EAE0"/>
          </a:solidFill>
          <a:ln>
            <a:noFill/>
          </a:ln>
        </p:spPr>
        <p:txBody>
          <a:bodyPr rtlCol="0" anchor="ctr"/>
          <a:lstStyle/>
          <a:p>
            <a:pPr algn="ctr"/>
          </a:p>
        </p:txBody>
      </p:sp>
      <p:sp>
        <p:nvSpPr>
          <p:cNvPr id="78" name="Rectangle 77"/>
          <p:cNvSpPr/>
          <p:nvPr/>
        </p:nvSpPr>
        <p:spPr>
          <a:xfrm>
            <a:off x="2944368" y="3803904"/>
            <a:ext cx="274320" cy="274320"/>
          </a:xfrm>
          <a:prstGeom prst="rect">
            <a:avLst/>
          </a:prstGeom>
          <a:solidFill>
            <a:srgbClr val="E4EAE0"/>
          </a:solidFill>
          <a:ln>
            <a:noFill/>
          </a:ln>
        </p:spPr>
        <p:txBody>
          <a:bodyPr rtlCol="0" anchor="ctr"/>
          <a:lstStyle/>
          <a:p>
            <a:pPr algn="ctr"/>
          </a:p>
        </p:txBody>
      </p:sp>
      <p:sp>
        <p:nvSpPr>
          <p:cNvPr id="79" name="Rectangle 78"/>
          <p:cNvSpPr/>
          <p:nvPr/>
        </p:nvSpPr>
        <p:spPr>
          <a:xfrm>
            <a:off x="2944368" y="3474720"/>
            <a:ext cx="274320" cy="274320"/>
          </a:xfrm>
          <a:prstGeom prst="rect">
            <a:avLst/>
          </a:prstGeom>
          <a:solidFill>
            <a:srgbClr val="E4EAE0"/>
          </a:solidFill>
          <a:ln>
            <a:noFill/>
          </a:ln>
        </p:spPr>
        <p:txBody>
          <a:bodyPr rtlCol="0" anchor="ctr"/>
          <a:lstStyle/>
          <a:p>
            <a:pPr algn="ctr"/>
          </a:p>
        </p:txBody>
      </p:sp>
      <p:sp>
        <p:nvSpPr>
          <p:cNvPr id="80" name="Rectangle 79"/>
          <p:cNvSpPr/>
          <p:nvPr/>
        </p:nvSpPr>
        <p:spPr>
          <a:xfrm>
            <a:off x="2944368" y="3145536"/>
            <a:ext cx="274320" cy="274320"/>
          </a:xfrm>
          <a:prstGeom prst="rect">
            <a:avLst/>
          </a:prstGeom>
          <a:solidFill>
            <a:srgbClr val="E4EAE0"/>
          </a:solidFill>
          <a:ln>
            <a:noFill/>
          </a:ln>
        </p:spPr>
        <p:txBody>
          <a:bodyPr rtlCol="0" anchor="ctr"/>
          <a:lstStyle/>
          <a:p>
            <a:pPr algn="ctr"/>
          </a:p>
        </p:txBody>
      </p:sp>
      <p:sp>
        <p:nvSpPr>
          <p:cNvPr id="81" name="Rectangle 80"/>
          <p:cNvSpPr/>
          <p:nvPr/>
        </p:nvSpPr>
        <p:spPr>
          <a:xfrm>
            <a:off x="2944368" y="2816352"/>
            <a:ext cx="274320" cy="274320"/>
          </a:xfrm>
          <a:prstGeom prst="rect">
            <a:avLst/>
          </a:prstGeom>
          <a:solidFill>
            <a:srgbClr val="E4EAE0"/>
          </a:solidFill>
          <a:ln>
            <a:noFill/>
          </a:ln>
        </p:spPr>
        <p:txBody>
          <a:bodyPr rtlCol="0" anchor="ctr"/>
          <a:lstStyle/>
          <a:p>
            <a:pPr algn="ctr"/>
          </a:p>
        </p:txBody>
      </p:sp>
      <p:sp>
        <p:nvSpPr>
          <p:cNvPr id="82" name="Rectangle 81"/>
          <p:cNvSpPr/>
          <p:nvPr/>
        </p:nvSpPr>
        <p:spPr>
          <a:xfrm>
            <a:off x="2944368" y="2487168"/>
            <a:ext cx="274320" cy="274320"/>
          </a:xfrm>
          <a:prstGeom prst="rect">
            <a:avLst/>
          </a:prstGeom>
          <a:solidFill>
            <a:srgbClr val="E4EAE0"/>
          </a:solidFill>
          <a:ln>
            <a:noFill/>
          </a:ln>
        </p:spPr>
        <p:txBody>
          <a:bodyPr rtlCol="0" anchor="ctr"/>
          <a:lstStyle/>
          <a:p>
            <a:pPr algn="ctr"/>
          </a:p>
        </p:txBody>
      </p:sp>
      <p:sp>
        <p:nvSpPr>
          <p:cNvPr id="83" name="Rectangle 82"/>
          <p:cNvSpPr/>
          <p:nvPr/>
        </p:nvSpPr>
        <p:spPr>
          <a:xfrm>
            <a:off x="2944368" y="2157984"/>
            <a:ext cx="274320" cy="274320"/>
          </a:xfrm>
          <a:prstGeom prst="rect">
            <a:avLst/>
          </a:prstGeom>
          <a:solidFill>
            <a:srgbClr val="E4EAE0"/>
          </a:solidFill>
          <a:ln>
            <a:noFill/>
          </a:ln>
        </p:spPr>
        <p:txBody>
          <a:bodyPr rtlCol="0" anchor="ctr"/>
          <a:lstStyle/>
          <a:p>
            <a:pPr algn="ctr"/>
          </a:p>
        </p:txBody>
      </p:sp>
      <p:sp>
        <p:nvSpPr>
          <p:cNvPr id="84" name="Rectangle 83"/>
          <p:cNvSpPr/>
          <p:nvPr/>
        </p:nvSpPr>
        <p:spPr>
          <a:xfrm>
            <a:off x="2944368" y="1828800"/>
            <a:ext cx="274320" cy="274320"/>
          </a:xfrm>
          <a:prstGeom prst="rect">
            <a:avLst/>
          </a:prstGeom>
          <a:solidFill>
            <a:srgbClr val="E4EAE0"/>
          </a:solidFill>
          <a:ln>
            <a:noFill/>
          </a:ln>
        </p:spPr>
        <p:txBody>
          <a:bodyPr rtlCol="0" anchor="ctr"/>
          <a:lstStyle/>
          <a:p>
            <a:pPr algn="ctr"/>
          </a:p>
        </p:txBody>
      </p:sp>
      <p:sp>
        <p:nvSpPr>
          <p:cNvPr id="85" name="Rectangle 84"/>
          <p:cNvSpPr/>
          <p:nvPr/>
        </p:nvSpPr>
        <p:spPr>
          <a:xfrm>
            <a:off x="3273552" y="4791456"/>
            <a:ext cx="274320" cy="274320"/>
          </a:xfrm>
          <a:prstGeom prst="rect">
            <a:avLst/>
          </a:prstGeom>
          <a:solidFill>
            <a:srgbClr val="E4EAE0"/>
          </a:solidFill>
          <a:ln>
            <a:noFill/>
          </a:ln>
        </p:spPr>
        <p:txBody>
          <a:bodyPr rtlCol="0" anchor="ctr"/>
          <a:lstStyle/>
          <a:p>
            <a:pPr algn="ctr"/>
          </a:p>
        </p:txBody>
      </p:sp>
      <p:sp>
        <p:nvSpPr>
          <p:cNvPr id="86" name="Rectangle 85"/>
          <p:cNvSpPr/>
          <p:nvPr/>
        </p:nvSpPr>
        <p:spPr>
          <a:xfrm>
            <a:off x="3273552" y="4462272"/>
            <a:ext cx="274320" cy="274320"/>
          </a:xfrm>
          <a:prstGeom prst="rect">
            <a:avLst/>
          </a:prstGeom>
          <a:solidFill>
            <a:srgbClr val="E4EAE0"/>
          </a:solidFill>
          <a:ln>
            <a:noFill/>
          </a:ln>
        </p:spPr>
        <p:txBody>
          <a:bodyPr rtlCol="0" anchor="ctr"/>
          <a:lstStyle/>
          <a:p>
            <a:pPr algn="ctr"/>
          </a:p>
        </p:txBody>
      </p:sp>
      <p:sp>
        <p:nvSpPr>
          <p:cNvPr id="87" name="Rectangle 86"/>
          <p:cNvSpPr/>
          <p:nvPr/>
        </p:nvSpPr>
        <p:spPr>
          <a:xfrm>
            <a:off x="3273552" y="4133088"/>
            <a:ext cx="274320" cy="274320"/>
          </a:xfrm>
          <a:prstGeom prst="rect">
            <a:avLst/>
          </a:prstGeom>
          <a:solidFill>
            <a:srgbClr val="E4EAE0"/>
          </a:solidFill>
          <a:ln>
            <a:noFill/>
          </a:ln>
        </p:spPr>
        <p:txBody>
          <a:bodyPr rtlCol="0" anchor="ctr"/>
          <a:lstStyle/>
          <a:p>
            <a:pPr algn="ctr"/>
          </a:p>
        </p:txBody>
      </p:sp>
      <p:sp>
        <p:nvSpPr>
          <p:cNvPr id="88" name="Rectangle 87"/>
          <p:cNvSpPr/>
          <p:nvPr/>
        </p:nvSpPr>
        <p:spPr>
          <a:xfrm>
            <a:off x="3273552" y="3803904"/>
            <a:ext cx="274320" cy="274320"/>
          </a:xfrm>
          <a:prstGeom prst="rect">
            <a:avLst/>
          </a:prstGeom>
          <a:solidFill>
            <a:srgbClr val="E4EAE0"/>
          </a:solidFill>
          <a:ln>
            <a:noFill/>
          </a:ln>
        </p:spPr>
        <p:txBody>
          <a:bodyPr rtlCol="0" anchor="ctr"/>
          <a:lstStyle/>
          <a:p>
            <a:pPr algn="ctr"/>
          </a:p>
        </p:txBody>
      </p:sp>
      <p:sp>
        <p:nvSpPr>
          <p:cNvPr id="89" name="Rectangle 88"/>
          <p:cNvSpPr/>
          <p:nvPr/>
        </p:nvSpPr>
        <p:spPr>
          <a:xfrm>
            <a:off x="3273552" y="3474720"/>
            <a:ext cx="274320" cy="274320"/>
          </a:xfrm>
          <a:prstGeom prst="rect">
            <a:avLst/>
          </a:prstGeom>
          <a:solidFill>
            <a:srgbClr val="E4EAE0"/>
          </a:solidFill>
          <a:ln>
            <a:noFill/>
          </a:ln>
        </p:spPr>
        <p:txBody>
          <a:bodyPr rtlCol="0" anchor="ctr"/>
          <a:lstStyle/>
          <a:p>
            <a:pPr algn="ctr"/>
          </a:p>
        </p:txBody>
      </p:sp>
      <p:sp>
        <p:nvSpPr>
          <p:cNvPr id="90" name="Rectangle 89"/>
          <p:cNvSpPr/>
          <p:nvPr/>
        </p:nvSpPr>
        <p:spPr>
          <a:xfrm>
            <a:off x="3273552" y="3145536"/>
            <a:ext cx="274320" cy="274320"/>
          </a:xfrm>
          <a:prstGeom prst="rect">
            <a:avLst/>
          </a:prstGeom>
          <a:solidFill>
            <a:srgbClr val="E4EAE0"/>
          </a:solidFill>
          <a:ln>
            <a:noFill/>
          </a:ln>
        </p:spPr>
        <p:txBody>
          <a:bodyPr rtlCol="0" anchor="ctr"/>
          <a:lstStyle/>
          <a:p>
            <a:pPr algn="ctr"/>
          </a:p>
        </p:txBody>
      </p:sp>
      <p:sp>
        <p:nvSpPr>
          <p:cNvPr id="91" name="Rectangle 90"/>
          <p:cNvSpPr/>
          <p:nvPr/>
        </p:nvSpPr>
        <p:spPr>
          <a:xfrm>
            <a:off x="3273552" y="2816352"/>
            <a:ext cx="274320" cy="274320"/>
          </a:xfrm>
          <a:prstGeom prst="rect">
            <a:avLst/>
          </a:prstGeom>
          <a:solidFill>
            <a:srgbClr val="E4EAE0"/>
          </a:solidFill>
          <a:ln>
            <a:noFill/>
          </a:ln>
        </p:spPr>
        <p:txBody>
          <a:bodyPr rtlCol="0" anchor="ctr"/>
          <a:lstStyle/>
          <a:p>
            <a:pPr algn="ctr"/>
          </a:p>
        </p:txBody>
      </p:sp>
      <p:sp>
        <p:nvSpPr>
          <p:cNvPr id="92" name="Rectangle 91"/>
          <p:cNvSpPr/>
          <p:nvPr/>
        </p:nvSpPr>
        <p:spPr>
          <a:xfrm>
            <a:off x="3273552" y="2487168"/>
            <a:ext cx="274320" cy="274320"/>
          </a:xfrm>
          <a:prstGeom prst="rect">
            <a:avLst/>
          </a:prstGeom>
          <a:solidFill>
            <a:srgbClr val="E4EAE0"/>
          </a:solidFill>
          <a:ln>
            <a:noFill/>
          </a:ln>
        </p:spPr>
        <p:txBody>
          <a:bodyPr rtlCol="0" anchor="ctr"/>
          <a:lstStyle/>
          <a:p>
            <a:pPr algn="ctr"/>
          </a:p>
        </p:txBody>
      </p:sp>
      <p:sp>
        <p:nvSpPr>
          <p:cNvPr id="93" name="Rectangle 92"/>
          <p:cNvSpPr/>
          <p:nvPr/>
        </p:nvSpPr>
        <p:spPr>
          <a:xfrm>
            <a:off x="3273552" y="2157984"/>
            <a:ext cx="274320" cy="274320"/>
          </a:xfrm>
          <a:prstGeom prst="rect">
            <a:avLst/>
          </a:prstGeom>
          <a:solidFill>
            <a:srgbClr val="E4EAE0"/>
          </a:solidFill>
          <a:ln>
            <a:noFill/>
          </a:ln>
        </p:spPr>
        <p:txBody>
          <a:bodyPr rtlCol="0" anchor="ctr"/>
          <a:lstStyle/>
          <a:p>
            <a:pPr algn="ctr"/>
          </a:p>
        </p:txBody>
      </p:sp>
      <p:sp>
        <p:nvSpPr>
          <p:cNvPr id="94" name="Rectangle 93"/>
          <p:cNvSpPr/>
          <p:nvPr/>
        </p:nvSpPr>
        <p:spPr>
          <a:xfrm>
            <a:off x="3273552" y="1828800"/>
            <a:ext cx="274320" cy="274320"/>
          </a:xfrm>
          <a:prstGeom prst="rect">
            <a:avLst/>
          </a:prstGeom>
          <a:solidFill>
            <a:srgbClr val="E4EAE0"/>
          </a:solidFill>
          <a:ln>
            <a:noFill/>
          </a:ln>
        </p:spPr>
        <p:txBody>
          <a:bodyPr rtlCol="0" anchor="ctr"/>
          <a:lstStyle/>
          <a:p>
            <a:pPr algn="ctr"/>
          </a:p>
        </p:txBody>
      </p:sp>
      <p:sp>
        <p:nvSpPr>
          <p:cNvPr id="95" name="Rectangle 94"/>
          <p:cNvSpPr/>
          <p:nvPr/>
        </p:nvSpPr>
        <p:spPr>
          <a:xfrm>
            <a:off x="3602736" y="4791456"/>
            <a:ext cx="274320" cy="274320"/>
          </a:xfrm>
          <a:prstGeom prst="rect">
            <a:avLst/>
          </a:prstGeom>
          <a:solidFill>
            <a:srgbClr val="E4EAE0"/>
          </a:solidFill>
          <a:ln>
            <a:noFill/>
          </a:ln>
        </p:spPr>
        <p:txBody>
          <a:bodyPr rtlCol="0" anchor="ctr"/>
          <a:lstStyle/>
          <a:p>
            <a:pPr algn="ctr"/>
          </a:p>
        </p:txBody>
      </p:sp>
      <p:sp>
        <p:nvSpPr>
          <p:cNvPr id="96" name="Rectangle 95"/>
          <p:cNvSpPr/>
          <p:nvPr/>
        </p:nvSpPr>
        <p:spPr>
          <a:xfrm>
            <a:off x="3602736" y="4462272"/>
            <a:ext cx="274320" cy="274320"/>
          </a:xfrm>
          <a:prstGeom prst="rect">
            <a:avLst/>
          </a:prstGeom>
          <a:solidFill>
            <a:srgbClr val="E4EAE0"/>
          </a:solidFill>
          <a:ln>
            <a:noFill/>
          </a:ln>
        </p:spPr>
        <p:txBody>
          <a:bodyPr rtlCol="0" anchor="ctr"/>
          <a:lstStyle/>
          <a:p>
            <a:pPr algn="ctr"/>
          </a:p>
        </p:txBody>
      </p:sp>
      <p:sp>
        <p:nvSpPr>
          <p:cNvPr id="97" name="Rectangle 96"/>
          <p:cNvSpPr/>
          <p:nvPr/>
        </p:nvSpPr>
        <p:spPr>
          <a:xfrm>
            <a:off x="3602736" y="4133088"/>
            <a:ext cx="274320" cy="274320"/>
          </a:xfrm>
          <a:prstGeom prst="rect">
            <a:avLst/>
          </a:prstGeom>
          <a:solidFill>
            <a:srgbClr val="E4EAE0"/>
          </a:solidFill>
          <a:ln>
            <a:noFill/>
          </a:ln>
        </p:spPr>
        <p:txBody>
          <a:bodyPr rtlCol="0" anchor="ctr"/>
          <a:lstStyle/>
          <a:p>
            <a:pPr algn="ctr"/>
          </a:p>
        </p:txBody>
      </p:sp>
      <p:sp>
        <p:nvSpPr>
          <p:cNvPr id="98" name="Rectangle 97"/>
          <p:cNvSpPr/>
          <p:nvPr/>
        </p:nvSpPr>
        <p:spPr>
          <a:xfrm>
            <a:off x="3602736" y="3803904"/>
            <a:ext cx="274320" cy="274320"/>
          </a:xfrm>
          <a:prstGeom prst="rect">
            <a:avLst/>
          </a:prstGeom>
          <a:solidFill>
            <a:srgbClr val="E4EAE0"/>
          </a:solidFill>
          <a:ln>
            <a:noFill/>
          </a:ln>
        </p:spPr>
        <p:txBody>
          <a:bodyPr rtlCol="0" anchor="ctr"/>
          <a:lstStyle/>
          <a:p>
            <a:pPr algn="ctr"/>
          </a:p>
        </p:txBody>
      </p:sp>
      <p:sp>
        <p:nvSpPr>
          <p:cNvPr id="99" name="Rectangle 98"/>
          <p:cNvSpPr/>
          <p:nvPr/>
        </p:nvSpPr>
        <p:spPr>
          <a:xfrm>
            <a:off x="3602736" y="3474720"/>
            <a:ext cx="274320" cy="274320"/>
          </a:xfrm>
          <a:prstGeom prst="rect">
            <a:avLst/>
          </a:prstGeom>
          <a:solidFill>
            <a:srgbClr val="E4EAE0"/>
          </a:solidFill>
          <a:ln>
            <a:noFill/>
          </a:ln>
        </p:spPr>
        <p:txBody>
          <a:bodyPr rtlCol="0" anchor="ctr"/>
          <a:lstStyle/>
          <a:p>
            <a:pPr algn="ctr"/>
          </a:p>
        </p:txBody>
      </p:sp>
      <p:sp>
        <p:nvSpPr>
          <p:cNvPr id="100" name="Rectangle 99"/>
          <p:cNvSpPr/>
          <p:nvPr/>
        </p:nvSpPr>
        <p:spPr>
          <a:xfrm>
            <a:off x="3602736" y="3145536"/>
            <a:ext cx="274320" cy="274320"/>
          </a:xfrm>
          <a:prstGeom prst="rect">
            <a:avLst/>
          </a:prstGeom>
          <a:solidFill>
            <a:srgbClr val="E4EAE0"/>
          </a:solidFill>
          <a:ln>
            <a:noFill/>
          </a:ln>
        </p:spPr>
        <p:txBody>
          <a:bodyPr rtlCol="0" anchor="ctr"/>
          <a:lstStyle/>
          <a:p>
            <a:pPr algn="ctr"/>
          </a:p>
        </p:txBody>
      </p:sp>
      <p:sp>
        <p:nvSpPr>
          <p:cNvPr id="101" name="Rectangle 100"/>
          <p:cNvSpPr/>
          <p:nvPr/>
        </p:nvSpPr>
        <p:spPr>
          <a:xfrm>
            <a:off x="3602736" y="2816352"/>
            <a:ext cx="274320" cy="274320"/>
          </a:xfrm>
          <a:prstGeom prst="rect">
            <a:avLst/>
          </a:prstGeom>
          <a:solidFill>
            <a:srgbClr val="E4EAE0"/>
          </a:solidFill>
          <a:ln>
            <a:noFill/>
          </a:ln>
        </p:spPr>
        <p:txBody>
          <a:bodyPr rtlCol="0" anchor="ctr"/>
          <a:lstStyle/>
          <a:p>
            <a:pPr algn="ctr"/>
          </a:p>
        </p:txBody>
      </p:sp>
      <p:sp>
        <p:nvSpPr>
          <p:cNvPr id="102" name="Rectangle 101"/>
          <p:cNvSpPr/>
          <p:nvPr/>
        </p:nvSpPr>
        <p:spPr>
          <a:xfrm>
            <a:off x="3602736" y="2487168"/>
            <a:ext cx="274320" cy="274320"/>
          </a:xfrm>
          <a:prstGeom prst="rect">
            <a:avLst/>
          </a:prstGeom>
          <a:solidFill>
            <a:srgbClr val="E4EAE0"/>
          </a:solidFill>
          <a:ln>
            <a:noFill/>
          </a:ln>
        </p:spPr>
        <p:txBody>
          <a:bodyPr rtlCol="0" anchor="ctr"/>
          <a:lstStyle/>
          <a:p>
            <a:pPr algn="ctr"/>
          </a:p>
        </p:txBody>
      </p:sp>
      <p:sp>
        <p:nvSpPr>
          <p:cNvPr id="103" name="Rectangle 102"/>
          <p:cNvSpPr/>
          <p:nvPr/>
        </p:nvSpPr>
        <p:spPr>
          <a:xfrm>
            <a:off x="3602736" y="2157984"/>
            <a:ext cx="274320" cy="274320"/>
          </a:xfrm>
          <a:prstGeom prst="rect">
            <a:avLst/>
          </a:prstGeom>
          <a:solidFill>
            <a:srgbClr val="E4EAE0"/>
          </a:solidFill>
          <a:ln>
            <a:noFill/>
          </a:ln>
        </p:spPr>
        <p:txBody>
          <a:bodyPr rtlCol="0" anchor="ctr"/>
          <a:lstStyle/>
          <a:p>
            <a:pPr algn="ctr"/>
          </a:p>
        </p:txBody>
      </p:sp>
      <p:sp>
        <p:nvSpPr>
          <p:cNvPr id="104" name="Rectangle 103"/>
          <p:cNvSpPr/>
          <p:nvPr/>
        </p:nvSpPr>
        <p:spPr>
          <a:xfrm>
            <a:off x="3602736" y="1828800"/>
            <a:ext cx="274320" cy="274320"/>
          </a:xfrm>
          <a:prstGeom prst="rect">
            <a:avLst/>
          </a:prstGeom>
          <a:solidFill>
            <a:srgbClr val="E4EAE0"/>
          </a:solidFill>
          <a:ln>
            <a:noFill/>
          </a:ln>
        </p:spPr>
        <p:txBody>
          <a:bodyPr rtlCol="0" anchor="ctr"/>
          <a:lstStyle/>
          <a:p>
            <a:pPr algn="ctr"/>
          </a:p>
        </p:txBody>
      </p:sp>
      <p:sp>
        <p:nvSpPr>
          <p:cNvPr id="105" name="Rectangle 104"/>
          <p:cNvSpPr/>
          <p:nvPr/>
        </p:nvSpPr>
        <p:spPr>
          <a:xfrm>
            <a:off x="640080" y="5257800"/>
            <a:ext cx="146304" cy="146304"/>
          </a:xfrm>
          <a:prstGeom prst="rect">
            <a:avLst/>
          </a:prstGeom>
          <a:solidFill>
            <a:srgbClr val="41801A"/>
          </a:solidFill>
          <a:ln>
            <a:noFill/>
          </a:ln>
        </p:spPr>
        <p:txBody>
          <a:bodyPr rtlCol="0" anchor="ctr"/>
          <a:lstStyle/>
          <a:p>
            <a:pPr algn="ctr"/>
          </a:p>
        </p:txBody>
      </p:sp>
      <p:sp>
        <p:nvSpPr>
          <p:cNvPr id="106" name="TextBox 105"/>
          <p:cNvSpPr txBox="1"/>
          <p:nvPr/>
        </p:nvSpPr>
        <p:spPr>
          <a:xfrm>
            <a:off x="859536" y="5202936"/>
            <a:ext cx="3108960" cy="256032"/>
          </a:xfrm>
          <a:prstGeom prst="rect">
            <a:avLst/>
          </a:prstGeom>
          <a:noFill/>
        </p:spPr>
        <p:txBody>
          <a:bodyPr wrap="square" lIns="0" tIns="0" rIns="0" bIns="0">
            <a:spAutoFit/>
          </a:bodyPr>
          <a:lstStyle/>
          <a:p>
            <a:pPr>
              <a:lnSpc>
                <a:spcPct val="105000"/>
              </a:lnSpc>
            </a:pPr>
            <a:r>
              <a:rPr sz="1200">
                <a:solidFill>
                  <a:srgbClr val="26301F"/>
                </a:solidFill>
                <a:latin typeface="Arial"/>
              </a:rPr>
              <a:t>34%, Karandaaz [1]</a:t>
            </a:r>
          </a:p>
        </p:txBody>
      </p:sp>
      <p:sp>
        <p:nvSpPr>
          <p:cNvPr id="107" name="Rectangle 106"/>
          <p:cNvSpPr/>
          <p:nvPr/>
        </p:nvSpPr>
        <p:spPr>
          <a:xfrm>
            <a:off x="640080" y="5550408"/>
            <a:ext cx="146304" cy="146304"/>
          </a:xfrm>
          <a:prstGeom prst="rect">
            <a:avLst/>
          </a:prstGeom>
          <a:solidFill>
            <a:srgbClr val="A9E76A"/>
          </a:solidFill>
          <a:ln>
            <a:noFill/>
          </a:ln>
        </p:spPr>
        <p:txBody>
          <a:bodyPr rtlCol="0" anchor="ctr"/>
          <a:lstStyle/>
          <a:p>
            <a:pPr algn="ctr"/>
          </a:p>
        </p:txBody>
      </p:sp>
      <p:sp>
        <p:nvSpPr>
          <p:cNvPr id="108" name="TextBox 107"/>
          <p:cNvSpPr txBox="1"/>
          <p:nvPr/>
        </p:nvSpPr>
        <p:spPr>
          <a:xfrm>
            <a:off x="859536" y="5495544"/>
            <a:ext cx="3108960" cy="256032"/>
          </a:xfrm>
          <a:prstGeom prst="rect">
            <a:avLst/>
          </a:prstGeom>
          <a:noFill/>
        </p:spPr>
        <p:txBody>
          <a:bodyPr wrap="square" lIns="0" tIns="0" rIns="0" bIns="0">
            <a:spAutoFit/>
          </a:bodyPr>
          <a:lstStyle/>
          <a:p>
            <a:pPr>
              <a:lnSpc>
                <a:spcPct val="105000"/>
              </a:lnSpc>
            </a:pPr>
            <a:r>
              <a:rPr sz="1200">
                <a:solidFill>
                  <a:srgbClr val="26301F"/>
                </a:solidFill>
                <a:latin typeface="Arial"/>
              </a:rPr>
              <a:t>41%, Oraan [1]</a:t>
            </a:r>
          </a:p>
        </p:txBody>
      </p:sp>
      <p:sp>
        <p:nvSpPr>
          <p:cNvPr id="109" name="TextBox 108"/>
          <p:cNvSpPr txBox="1"/>
          <p:nvPr/>
        </p:nvSpPr>
        <p:spPr>
          <a:xfrm>
            <a:off x="4709160" y="1828800"/>
            <a:ext cx="6842455" cy="566928"/>
          </a:xfrm>
          <a:prstGeom prst="rect">
            <a:avLst/>
          </a:prstGeom>
          <a:noFill/>
        </p:spPr>
        <p:txBody>
          <a:bodyPr wrap="square" lIns="0" tIns="0" rIns="0" bIns="0">
            <a:spAutoFit/>
          </a:bodyPr>
          <a:lstStyle/>
          <a:p>
            <a:pPr>
              <a:lnSpc>
                <a:spcPct val="105000"/>
              </a:lnSpc>
            </a:pPr>
            <a:r>
              <a:rPr sz="3200">
                <a:solidFill>
                  <a:srgbClr val="41801A"/>
                </a:solidFill>
                <a:latin typeface="Georgia"/>
              </a:rPr>
              <a:t>About 100 million</a:t>
            </a:r>
          </a:p>
        </p:txBody>
      </p:sp>
      <p:sp>
        <p:nvSpPr>
          <p:cNvPr id="110" name="TextBox 109"/>
          <p:cNvSpPr txBox="1"/>
          <p:nvPr/>
        </p:nvSpPr>
        <p:spPr>
          <a:xfrm>
            <a:off x="4709160" y="2395728"/>
            <a:ext cx="6842455" cy="411480"/>
          </a:xfrm>
          <a:prstGeom prst="rect">
            <a:avLst/>
          </a:prstGeom>
          <a:noFill/>
        </p:spPr>
        <p:txBody>
          <a:bodyPr wrap="square" lIns="0" tIns="0" rIns="0" bIns="0">
            <a:spAutoFit/>
          </a:bodyPr>
          <a:lstStyle/>
          <a:p>
            <a:pPr>
              <a:lnSpc>
                <a:spcPct val="103000"/>
              </a:lnSpc>
            </a:pPr>
            <a:r>
              <a:rPr sz="1600">
                <a:solidFill>
                  <a:srgbClr val="0C1408"/>
                </a:solidFill>
                <a:latin typeface="Arial"/>
              </a:rPr>
              <a:t>people, on the higher estimate [2]</a:t>
            </a:r>
          </a:p>
        </p:txBody>
      </p:sp>
      <p:cxnSp>
        <p:nvCxnSpPr>
          <p:cNvPr id="111" name="Connector 110"/>
          <p:cNvCxnSpPr/>
          <p:nvPr/>
        </p:nvCxnSpPr>
        <p:spPr>
          <a:xfrm>
            <a:off x="4709160" y="2898648"/>
            <a:ext cx="6842455" cy="0"/>
          </a:xfrm>
          <a:prstGeom prst="line">
            <a:avLst/>
          </a:prstGeom>
          <a:ln w="9525">
            <a:solidFill>
              <a:srgbClr val="CFD8C6"/>
            </a:solidFill>
          </a:ln>
        </p:spPr>
      </p:cxnSp>
      <p:sp>
        <p:nvSpPr>
          <p:cNvPr id="112" name="TextBox 111"/>
          <p:cNvSpPr txBox="1"/>
          <p:nvPr/>
        </p:nvSpPr>
        <p:spPr>
          <a:xfrm>
            <a:off x="4709160" y="3017520"/>
            <a:ext cx="6842455" cy="566928"/>
          </a:xfrm>
          <a:prstGeom prst="rect">
            <a:avLst/>
          </a:prstGeom>
          <a:noFill/>
        </p:spPr>
        <p:txBody>
          <a:bodyPr wrap="square" lIns="0" tIns="0" rIns="0" bIns="0">
            <a:spAutoFit/>
          </a:bodyPr>
          <a:lstStyle/>
          <a:p>
            <a:pPr>
              <a:lnSpc>
                <a:spcPct val="105000"/>
              </a:lnSpc>
            </a:pPr>
            <a:r>
              <a:rPr sz="3200">
                <a:solidFill>
                  <a:srgbClr val="41801A"/>
                </a:solidFill>
                <a:latin typeface="Georgia"/>
              </a:rPr>
              <a:t>Rs 4 trillion</a:t>
            </a:r>
          </a:p>
        </p:txBody>
      </p:sp>
      <p:sp>
        <p:nvSpPr>
          <p:cNvPr id="113" name="TextBox 112"/>
          <p:cNvSpPr txBox="1"/>
          <p:nvPr/>
        </p:nvSpPr>
        <p:spPr>
          <a:xfrm>
            <a:off x="4709160" y="3584448"/>
            <a:ext cx="6842455" cy="411480"/>
          </a:xfrm>
          <a:prstGeom prst="rect">
            <a:avLst/>
          </a:prstGeom>
          <a:noFill/>
        </p:spPr>
        <p:txBody>
          <a:bodyPr wrap="square" lIns="0" tIns="0" rIns="0" bIns="0">
            <a:spAutoFit/>
          </a:bodyPr>
          <a:lstStyle/>
          <a:p>
            <a:pPr>
              <a:lnSpc>
                <a:spcPct val="103000"/>
              </a:lnSpc>
            </a:pPr>
            <a:r>
              <a:rPr sz="1600">
                <a:solidFill>
                  <a:srgbClr val="0C1408"/>
                </a:solidFill>
                <a:latin typeface="Arial"/>
              </a:rPr>
              <a:t>a year through committees, estimated [1]</a:t>
            </a:r>
          </a:p>
        </p:txBody>
      </p:sp>
      <p:cxnSp>
        <p:nvCxnSpPr>
          <p:cNvPr id="114" name="Connector 113"/>
          <p:cNvCxnSpPr/>
          <p:nvPr/>
        </p:nvCxnSpPr>
        <p:spPr>
          <a:xfrm>
            <a:off x="4709160" y="4087368"/>
            <a:ext cx="6842455" cy="0"/>
          </a:xfrm>
          <a:prstGeom prst="line">
            <a:avLst/>
          </a:prstGeom>
          <a:ln w="9525">
            <a:solidFill>
              <a:srgbClr val="CFD8C6"/>
            </a:solidFill>
          </a:ln>
        </p:spPr>
      </p:cxnSp>
      <p:sp>
        <p:nvSpPr>
          <p:cNvPr id="115" name="TextBox 114"/>
          <p:cNvSpPr txBox="1"/>
          <p:nvPr/>
        </p:nvSpPr>
        <p:spPr>
          <a:xfrm>
            <a:off x="4709160" y="4206240"/>
            <a:ext cx="6842455" cy="566928"/>
          </a:xfrm>
          <a:prstGeom prst="rect">
            <a:avLst/>
          </a:prstGeom>
          <a:noFill/>
        </p:spPr>
        <p:txBody>
          <a:bodyPr wrap="square" lIns="0" tIns="0" rIns="0" bIns="0">
            <a:spAutoFit/>
          </a:bodyPr>
          <a:lstStyle/>
          <a:p>
            <a:pPr>
              <a:lnSpc>
                <a:spcPct val="105000"/>
              </a:lnSpc>
            </a:pPr>
            <a:r>
              <a:rPr sz="3200">
                <a:solidFill>
                  <a:srgbClr val="41801A"/>
                </a:solidFill>
                <a:latin typeface="Georgia"/>
              </a:rPr>
              <a:t>Twice</a:t>
            </a:r>
          </a:p>
        </p:txBody>
      </p:sp>
      <p:sp>
        <p:nvSpPr>
          <p:cNvPr id="116" name="TextBox 115"/>
          <p:cNvSpPr txBox="1"/>
          <p:nvPr/>
        </p:nvSpPr>
        <p:spPr>
          <a:xfrm>
            <a:off x="4709160" y="4773168"/>
            <a:ext cx="6842455" cy="411480"/>
          </a:xfrm>
          <a:prstGeom prst="rect">
            <a:avLst/>
          </a:prstGeom>
          <a:noFill/>
        </p:spPr>
        <p:txBody>
          <a:bodyPr wrap="square" lIns="0" tIns="0" rIns="0" bIns="0">
            <a:spAutoFit/>
          </a:bodyPr>
          <a:lstStyle/>
          <a:p>
            <a:pPr>
              <a:lnSpc>
                <a:spcPct val="103000"/>
              </a:lnSpc>
            </a:pPr>
            <a:r>
              <a:rPr sz="1600">
                <a:solidFill>
                  <a:srgbClr val="0C1408"/>
                </a:solidFill>
                <a:latin typeface="Arial"/>
              </a:rPr>
              <a:t>as many women as men take part [3]</a:t>
            </a:r>
          </a:p>
        </p:txBody>
      </p:sp>
      <p:sp>
        <p:nvSpPr>
          <p:cNvPr id="117" name="TextBox 116"/>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Karandaaz and Oraan estimates, Dawn, 12 Dec 2022   2  PICG case study on Oraan, 2024   3  Financial Inclusion Insights survey data, in Mehmood et al. 2018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Committees run on cash and trust, so savers lose money and build no record.</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5</a:t>
            </a:r>
          </a:p>
        </p:txBody>
      </p:sp>
      <p:sp>
        <p:nvSpPr>
          <p:cNvPr id="5" name="Rectangle 4"/>
          <p:cNvSpPr/>
          <p:nvPr/>
        </p:nvSpPr>
        <p:spPr>
          <a:xfrm>
            <a:off x="640080" y="3758184"/>
            <a:ext cx="173736" cy="173736"/>
          </a:xfrm>
          <a:prstGeom prst="rect">
            <a:avLst/>
          </a:prstGeom>
          <a:solidFill>
            <a:srgbClr val="C0392B"/>
          </a:solidFill>
          <a:ln>
            <a:noFill/>
          </a:ln>
        </p:spPr>
        <p:txBody>
          <a:bodyPr rtlCol="0" anchor="ctr"/>
          <a:lstStyle/>
          <a:p>
            <a:pPr algn="ctr"/>
          </a:p>
        </p:txBody>
      </p:sp>
      <p:sp>
        <p:nvSpPr>
          <p:cNvPr id="6" name="Rectangle 5"/>
          <p:cNvSpPr/>
          <p:nvPr/>
        </p:nvSpPr>
        <p:spPr>
          <a:xfrm>
            <a:off x="640080" y="3538728"/>
            <a:ext cx="173736" cy="173736"/>
          </a:xfrm>
          <a:prstGeom prst="rect">
            <a:avLst/>
          </a:prstGeom>
          <a:solidFill>
            <a:srgbClr val="C0392B"/>
          </a:solidFill>
          <a:ln>
            <a:noFill/>
          </a:ln>
        </p:spPr>
        <p:txBody>
          <a:bodyPr rtlCol="0" anchor="ctr"/>
          <a:lstStyle/>
          <a:p>
            <a:pPr algn="ctr"/>
          </a:p>
        </p:txBody>
      </p:sp>
      <p:sp>
        <p:nvSpPr>
          <p:cNvPr id="7" name="Rectangle 6"/>
          <p:cNvSpPr/>
          <p:nvPr/>
        </p:nvSpPr>
        <p:spPr>
          <a:xfrm>
            <a:off x="640080" y="3319272"/>
            <a:ext cx="173736" cy="173736"/>
          </a:xfrm>
          <a:prstGeom prst="rect">
            <a:avLst/>
          </a:prstGeom>
          <a:solidFill>
            <a:srgbClr val="C0392B"/>
          </a:solidFill>
          <a:ln>
            <a:noFill/>
          </a:ln>
        </p:spPr>
        <p:txBody>
          <a:bodyPr rtlCol="0" anchor="ctr"/>
          <a:lstStyle/>
          <a:p>
            <a:pPr algn="ctr"/>
          </a:p>
        </p:txBody>
      </p:sp>
      <p:sp>
        <p:nvSpPr>
          <p:cNvPr id="8" name="Rectangle 7"/>
          <p:cNvSpPr/>
          <p:nvPr/>
        </p:nvSpPr>
        <p:spPr>
          <a:xfrm>
            <a:off x="640080" y="3099816"/>
            <a:ext cx="173736" cy="173736"/>
          </a:xfrm>
          <a:prstGeom prst="rect">
            <a:avLst/>
          </a:prstGeom>
          <a:solidFill>
            <a:srgbClr val="C0392B"/>
          </a:solidFill>
          <a:ln>
            <a:noFill/>
          </a:ln>
        </p:spPr>
        <p:txBody>
          <a:bodyPr rtlCol="0" anchor="ctr"/>
          <a:lstStyle/>
          <a:p>
            <a:pPr algn="ctr"/>
          </a:p>
        </p:txBody>
      </p:sp>
      <p:sp>
        <p:nvSpPr>
          <p:cNvPr id="9" name="Rectangle 8"/>
          <p:cNvSpPr/>
          <p:nvPr/>
        </p:nvSpPr>
        <p:spPr>
          <a:xfrm>
            <a:off x="640080" y="2880360"/>
            <a:ext cx="173736" cy="173736"/>
          </a:xfrm>
          <a:prstGeom prst="rect">
            <a:avLst/>
          </a:prstGeom>
          <a:solidFill>
            <a:srgbClr val="C0392B"/>
          </a:solidFill>
          <a:ln>
            <a:noFill/>
          </a:ln>
        </p:spPr>
        <p:txBody>
          <a:bodyPr rtlCol="0" anchor="ctr"/>
          <a:lstStyle/>
          <a:p>
            <a:pPr algn="ctr"/>
          </a:p>
        </p:txBody>
      </p:sp>
      <p:sp>
        <p:nvSpPr>
          <p:cNvPr id="10" name="Rectangle 9"/>
          <p:cNvSpPr/>
          <p:nvPr/>
        </p:nvSpPr>
        <p:spPr>
          <a:xfrm>
            <a:off x="640080" y="2660904"/>
            <a:ext cx="173736" cy="173736"/>
          </a:xfrm>
          <a:prstGeom prst="rect">
            <a:avLst/>
          </a:prstGeom>
          <a:solidFill>
            <a:srgbClr val="C0392B"/>
          </a:solidFill>
          <a:ln>
            <a:noFill/>
          </a:ln>
        </p:spPr>
        <p:txBody>
          <a:bodyPr rtlCol="0" anchor="ctr"/>
          <a:lstStyle/>
          <a:p>
            <a:pPr algn="ctr"/>
          </a:p>
        </p:txBody>
      </p:sp>
      <p:sp>
        <p:nvSpPr>
          <p:cNvPr id="11" name="Rectangle 10"/>
          <p:cNvSpPr/>
          <p:nvPr/>
        </p:nvSpPr>
        <p:spPr>
          <a:xfrm>
            <a:off x="640080" y="2441448"/>
            <a:ext cx="173736" cy="173736"/>
          </a:xfrm>
          <a:prstGeom prst="rect">
            <a:avLst/>
          </a:prstGeom>
          <a:solidFill>
            <a:srgbClr val="C0392B"/>
          </a:solidFill>
          <a:ln>
            <a:noFill/>
          </a:ln>
        </p:spPr>
        <p:txBody>
          <a:bodyPr rtlCol="0" anchor="ctr"/>
          <a:lstStyle/>
          <a:p>
            <a:pPr algn="ctr"/>
          </a:p>
        </p:txBody>
      </p:sp>
      <p:sp>
        <p:nvSpPr>
          <p:cNvPr id="12" name="Rectangle 11"/>
          <p:cNvSpPr/>
          <p:nvPr/>
        </p:nvSpPr>
        <p:spPr>
          <a:xfrm>
            <a:off x="640080" y="2221992"/>
            <a:ext cx="173736" cy="173736"/>
          </a:xfrm>
          <a:prstGeom prst="rect">
            <a:avLst/>
          </a:prstGeom>
          <a:solidFill>
            <a:srgbClr val="C0392B"/>
          </a:solidFill>
          <a:ln>
            <a:noFill/>
          </a:ln>
        </p:spPr>
        <p:txBody>
          <a:bodyPr rtlCol="0" anchor="ctr"/>
          <a:lstStyle/>
          <a:p>
            <a:pPr algn="ctr"/>
          </a:p>
        </p:txBody>
      </p:sp>
      <p:sp>
        <p:nvSpPr>
          <p:cNvPr id="13" name="Rectangle 12"/>
          <p:cNvSpPr/>
          <p:nvPr/>
        </p:nvSpPr>
        <p:spPr>
          <a:xfrm>
            <a:off x="640080" y="2002536"/>
            <a:ext cx="173736" cy="173736"/>
          </a:xfrm>
          <a:prstGeom prst="rect">
            <a:avLst/>
          </a:prstGeom>
          <a:solidFill>
            <a:srgbClr val="C0392B"/>
          </a:solidFill>
          <a:ln>
            <a:noFill/>
          </a:ln>
        </p:spPr>
        <p:txBody>
          <a:bodyPr rtlCol="0" anchor="ctr"/>
          <a:lstStyle/>
          <a:p>
            <a:pPr algn="ctr"/>
          </a:p>
        </p:txBody>
      </p:sp>
      <p:sp>
        <p:nvSpPr>
          <p:cNvPr id="14" name="Rectangle 13"/>
          <p:cNvSpPr/>
          <p:nvPr/>
        </p:nvSpPr>
        <p:spPr>
          <a:xfrm>
            <a:off x="640080" y="1783080"/>
            <a:ext cx="173736" cy="173736"/>
          </a:xfrm>
          <a:prstGeom prst="rect">
            <a:avLst/>
          </a:prstGeom>
          <a:solidFill>
            <a:srgbClr val="C0392B"/>
          </a:solidFill>
          <a:ln>
            <a:noFill/>
          </a:ln>
        </p:spPr>
        <p:txBody>
          <a:bodyPr rtlCol="0" anchor="ctr"/>
          <a:lstStyle/>
          <a:p>
            <a:pPr algn="ctr"/>
          </a:p>
        </p:txBody>
      </p:sp>
      <p:sp>
        <p:nvSpPr>
          <p:cNvPr id="15" name="Rectangle 14"/>
          <p:cNvSpPr/>
          <p:nvPr/>
        </p:nvSpPr>
        <p:spPr>
          <a:xfrm>
            <a:off x="859536" y="3758184"/>
            <a:ext cx="173736" cy="173736"/>
          </a:xfrm>
          <a:prstGeom prst="rect">
            <a:avLst/>
          </a:prstGeom>
          <a:solidFill>
            <a:srgbClr val="C0392B"/>
          </a:solidFill>
          <a:ln>
            <a:noFill/>
          </a:ln>
        </p:spPr>
        <p:txBody>
          <a:bodyPr rtlCol="0" anchor="ctr"/>
          <a:lstStyle/>
          <a:p>
            <a:pPr algn="ctr"/>
          </a:p>
        </p:txBody>
      </p:sp>
      <p:sp>
        <p:nvSpPr>
          <p:cNvPr id="16" name="Rectangle 15"/>
          <p:cNvSpPr/>
          <p:nvPr/>
        </p:nvSpPr>
        <p:spPr>
          <a:xfrm>
            <a:off x="859536" y="3538728"/>
            <a:ext cx="173736" cy="173736"/>
          </a:xfrm>
          <a:prstGeom prst="rect">
            <a:avLst/>
          </a:prstGeom>
          <a:solidFill>
            <a:srgbClr val="C0392B"/>
          </a:solidFill>
          <a:ln>
            <a:noFill/>
          </a:ln>
        </p:spPr>
        <p:txBody>
          <a:bodyPr rtlCol="0" anchor="ctr"/>
          <a:lstStyle/>
          <a:p>
            <a:pPr algn="ctr"/>
          </a:p>
        </p:txBody>
      </p:sp>
      <p:sp>
        <p:nvSpPr>
          <p:cNvPr id="17" name="Rectangle 16"/>
          <p:cNvSpPr/>
          <p:nvPr/>
        </p:nvSpPr>
        <p:spPr>
          <a:xfrm>
            <a:off x="859536" y="3319272"/>
            <a:ext cx="173736" cy="173736"/>
          </a:xfrm>
          <a:prstGeom prst="rect">
            <a:avLst/>
          </a:prstGeom>
          <a:solidFill>
            <a:srgbClr val="E4EAE0"/>
          </a:solidFill>
          <a:ln>
            <a:noFill/>
          </a:ln>
        </p:spPr>
        <p:txBody>
          <a:bodyPr rtlCol="0" anchor="ctr"/>
          <a:lstStyle/>
          <a:p>
            <a:pPr algn="ctr"/>
          </a:p>
        </p:txBody>
      </p:sp>
      <p:sp>
        <p:nvSpPr>
          <p:cNvPr id="18" name="Rectangle 17"/>
          <p:cNvSpPr/>
          <p:nvPr/>
        </p:nvSpPr>
        <p:spPr>
          <a:xfrm>
            <a:off x="859536" y="3099816"/>
            <a:ext cx="173736" cy="173736"/>
          </a:xfrm>
          <a:prstGeom prst="rect">
            <a:avLst/>
          </a:prstGeom>
          <a:solidFill>
            <a:srgbClr val="E4EAE0"/>
          </a:solidFill>
          <a:ln>
            <a:noFill/>
          </a:ln>
        </p:spPr>
        <p:txBody>
          <a:bodyPr rtlCol="0" anchor="ctr"/>
          <a:lstStyle/>
          <a:p>
            <a:pPr algn="ctr"/>
          </a:p>
        </p:txBody>
      </p:sp>
      <p:sp>
        <p:nvSpPr>
          <p:cNvPr id="19" name="Rectangle 18"/>
          <p:cNvSpPr/>
          <p:nvPr/>
        </p:nvSpPr>
        <p:spPr>
          <a:xfrm>
            <a:off x="859536" y="2880360"/>
            <a:ext cx="173736" cy="173736"/>
          </a:xfrm>
          <a:prstGeom prst="rect">
            <a:avLst/>
          </a:prstGeom>
          <a:solidFill>
            <a:srgbClr val="E4EAE0"/>
          </a:solidFill>
          <a:ln>
            <a:noFill/>
          </a:ln>
        </p:spPr>
        <p:txBody>
          <a:bodyPr rtlCol="0" anchor="ctr"/>
          <a:lstStyle/>
          <a:p>
            <a:pPr algn="ctr"/>
          </a:p>
        </p:txBody>
      </p:sp>
      <p:sp>
        <p:nvSpPr>
          <p:cNvPr id="20" name="Rectangle 19"/>
          <p:cNvSpPr/>
          <p:nvPr/>
        </p:nvSpPr>
        <p:spPr>
          <a:xfrm>
            <a:off x="859536" y="2660904"/>
            <a:ext cx="173736" cy="173736"/>
          </a:xfrm>
          <a:prstGeom prst="rect">
            <a:avLst/>
          </a:prstGeom>
          <a:solidFill>
            <a:srgbClr val="E4EAE0"/>
          </a:solidFill>
          <a:ln>
            <a:noFill/>
          </a:ln>
        </p:spPr>
        <p:txBody>
          <a:bodyPr rtlCol="0" anchor="ctr"/>
          <a:lstStyle/>
          <a:p>
            <a:pPr algn="ctr"/>
          </a:p>
        </p:txBody>
      </p:sp>
      <p:sp>
        <p:nvSpPr>
          <p:cNvPr id="21" name="Rectangle 20"/>
          <p:cNvSpPr/>
          <p:nvPr/>
        </p:nvSpPr>
        <p:spPr>
          <a:xfrm>
            <a:off x="859536" y="2441448"/>
            <a:ext cx="173736" cy="173736"/>
          </a:xfrm>
          <a:prstGeom prst="rect">
            <a:avLst/>
          </a:prstGeom>
          <a:solidFill>
            <a:srgbClr val="E4EAE0"/>
          </a:solidFill>
          <a:ln>
            <a:noFill/>
          </a:ln>
        </p:spPr>
        <p:txBody>
          <a:bodyPr rtlCol="0" anchor="ctr"/>
          <a:lstStyle/>
          <a:p>
            <a:pPr algn="ctr"/>
          </a:p>
        </p:txBody>
      </p:sp>
      <p:sp>
        <p:nvSpPr>
          <p:cNvPr id="22" name="Rectangle 21"/>
          <p:cNvSpPr/>
          <p:nvPr/>
        </p:nvSpPr>
        <p:spPr>
          <a:xfrm>
            <a:off x="859536" y="2221992"/>
            <a:ext cx="173736" cy="173736"/>
          </a:xfrm>
          <a:prstGeom prst="rect">
            <a:avLst/>
          </a:prstGeom>
          <a:solidFill>
            <a:srgbClr val="E4EAE0"/>
          </a:solidFill>
          <a:ln>
            <a:noFill/>
          </a:ln>
        </p:spPr>
        <p:txBody>
          <a:bodyPr rtlCol="0" anchor="ctr"/>
          <a:lstStyle/>
          <a:p>
            <a:pPr algn="ctr"/>
          </a:p>
        </p:txBody>
      </p:sp>
      <p:sp>
        <p:nvSpPr>
          <p:cNvPr id="23" name="Rectangle 22"/>
          <p:cNvSpPr/>
          <p:nvPr/>
        </p:nvSpPr>
        <p:spPr>
          <a:xfrm>
            <a:off x="859536" y="2002536"/>
            <a:ext cx="173736" cy="173736"/>
          </a:xfrm>
          <a:prstGeom prst="rect">
            <a:avLst/>
          </a:prstGeom>
          <a:solidFill>
            <a:srgbClr val="E4EAE0"/>
          </a:solidFill>
          <a:ln>
            <a:noFill/>
          </a:ln>
        </p:spPr>
        <p:txBody>
          <a:bodyPr rtlCol="0" anchor="ctr"/>
          <a:lstStyle/>
          <a:p>
            <a:pPr algn="ctr"/>
          </a:p>
        </p:txBody>
      </p:sp>
      <p:sp>
        <p:nvSpPr>
          <p:cNvPr id="24" name="Rectangle 23"/>
          <p:cNvSpPr/>
          <p:nvPr/>
        </p:nvSpPr>
        <p:spPr>
          <a:xfrm>
            <a:off x="859536" y="1783080"/>
            <a:ext cx="173736" cy="173736"/>
          </a:xfrm>
          <a:prstGeom prst="rect">
            <a:avLst/>
          </a:prstGeom>
          <a:solidFill>
            <a:srgbClr val="E4EAE0"/>
          </a:solidFill>
          <a:ln>
            <a:noFill/>
          </a:ln>
        </p:spPr>
        <p:txBody>
          <a:bodyPr rtlCol="0" anchor="ctr"/>
          <a:lstStyle/>
          <a:p>
            <a:pPr algn="ctr"/>
          </a:p>
        </p:txBody>
      </p:sp>
      <p:sp>
        <p:nvSpPr>
          <p:cNvPr id="25" name="Rectangle 24"/>
          <p:cNvSpPr/>
          <p:nvPr/>
        </p:nvSpPr>
        <p:spPr>
          <a:xfrm>
            <a:off x="1078992" y="3758184"/>
            <a:ext cx="173736" cy="173736"/>
          </a:xfrm>
          <a:prstGeom prst="rect">
            <a:avLst/>
          </a:prstGeom>
          <a:solidFill>
            <a:srgbClr val="E4EAE0"/>
          </a:solidFill>
          <a:ln>
            <a:noFill/>
          </a:ln>
        </p:spPr>
        <p:txBody>
          <a:bodyPr rtlCol="0" anchor="ctr"/>
          <a:lstStyle/>
          <a:p>
            <a:pPr algn="ctr"/>
          </a:p>
        </p:txBody>
      </p:sp>
      <p:sp>
        <p:nvSpPr>
          <p:cNvPr id="26" name="Rectangle 25"/>
          <p:cNvSpPr/>
          <p:nvPr/>
        </p:nvSpPr>
        <p:spPr>
          <a:xfrm>
            <a:off x="1078992" y="3538728"/>
            <a:ext cx="173736" cy="173736"/>
          </a:xfrm>
          <a:prstGeom prst="rect">
            <a:avLst/>
          </a:prstGeom>
          <a:solidFill>
            <a:srgbClr val="E4EAE0"/>
          </a:solidFill>
          <a:ln>
            <a:noFill/>
          </a:ln>
        </p:spPr>
        <p:txBody>
          <a:bodyPr rtlCol="0" anchor="ctr"/>
          <a:lstStyle/>
          <a:p>
            <a:pPr algn="ctr"/>
          </a:p>
        </p:txBody>
      </p:sp>
      <p:sp>
        <p:nvSpPr>
          <p:cNvPr id="27" name="Rectangle 26"/>
          <p:cNvSpPr/>
          <p:nvPr/>
        </p:nvSpPr>
        <p:spPr>
          <a:xfrm>
            <a:off x="1078992" y="3319272"/>
            <a:ext cx="173736" cy="173736"/>
          </a:xfrm>
          <a:prstGeom prst="rect">
            <a:avLst/>
          </a:prstGeom>
          <a:solidFill>
            <a:srgbClr val="E4EAE0"/>
          </a:solidFill>
          <a:ln>
            <a:noFill/>
          </a:ln>
        </p:spPr>
        <p:txBody>
          <a:bodyPr rtlCol="0" anchor="ctr"/>
          <a:lstStyle/>
          <a:p>
            <a:pPr algn="ctr"/>
          </a:p>
        </p:txBody>
      </p:sp>
      <p:sp>
        <p:nvSpPr>
          <p:cNvPr id="28" name="Rectangle 27"/>
          <p:cNvSpPr/>
          <p:nvPr/>
        </p:nvSpPr>
        <p:spPr>
          <a:xfrm>
            <a:off x="1078992" y="3099816"/>
            <a:ext cx="173736" cy="173736"/>
          </a:xfrm>
          <a:prstGeom prst="rect">
            <a:avLst/>
          </a:prstGeom>
          <a:solidFill>
            <a:srgbClr val="E4EAE0"/>
          </a:solidFill>
          <a:ln>
            <a:noFill/>
          </a:ln>
        </p:spPr>
        <p:txBody>
          <a:bodyPr rtlCol="0" anchor="ctr"/>
          <a:lstStyle/>
          <a:p>
            <a:pPr algn="ctr"/>
          </a:p>
        </p:txBody>
      </p:sp>
      <p:sp>
        <p:nvSpPr>
          <p:cNvPr id="29" name="Rectangle 28"/>
          <p:cNvSpPr/>
          <p:nvPr/>
        </p:nvSpPr>
        <p:spPr>
          <a:xfrm>
            <a:off x="1078992" y="2880360"/>
            <a:ext cx="173736" cy="173736"/>
          </a:xfrm>
          <a:prstGeom prst="rect">
            <a:avLst/>
          </a:prstGeom>
          <a:solidFill>
            <a:srgbClr val="E4EAE0"/>
          </a:solidFill>
          <a:ln>
            <a:noFill/>
          </a:ln>
        </p:spPr>
        <p:txBody>
          <a:bodyPr rtlCol="0" anchor="ctr"/>
          <a:lstStyle/>
          <a:p>
            <a:pPr algn="ctr"/>
          </a:p>
        </p:txBody>
      </p:sp>
      <p:sp>
        <p:nvSpPr>
          <p:cNvPr id="30" name="Rectangle 29"/>
          <p:cNvSpPr/>
          <p:nvPr/>
        </p:nvSpPr>
        <p:spPr>
          <a:xfrm>
            <a:off x="1078992" y="2660904"/>
            <a:ext cx="173736" cy="173736"/>
          </a:xfrm>
          <a:prstGeom prst="rect">
            <a:avLst/>
          </a:prstGeom>
          <a:solidFill>
            <a:srgbClr val="E4EAE0"/>
          </a:solidFill>
          <a:ln>
            <a:noFill/>
          </a:ln>
        </p:spPr>
        <p:txBody>
          <a:bodyPr rtlCol="0" anchor="ctr"/>
          <a:lstStyle/>
          <a:p>
            <a:pPr algn="ctr"/>
          </a:p>
        </p:txBody>
      </p:sp>
      <p:sp>
        <p:nvSpPr>
          <p:cNvPr id="31" name="Rectangle 30"/>
          <p:cNvSpPr/>
          <p:nvPr/>
        </p:nvSpPr>
        <p:spPr>
          <a:xfrm>
            <a:off x="1078992" y="2441448"/>
            <a:ext cx="173736" cy="173736"/>
          </a:xfrm>
          <a:prstGeom prst="rect">
            <a:avLst/>
          </a:prstGeom>
          <a:solidFill>
            <a:srgbClr val="E4EAE0"/>
          </a:solidFill>
          <a:ln>
            <a:noFill/>
          </a:ln>
        </p:spPr>
        <p:txBody>
          <a:bodyPr rtlCol="0" anchor="ctr"/>
          <a:lstStyle/>
          <a:p>
            <a:pPr algn="ctr"/>
          </a:p>
        </p:txBody>
      </p:sp>
      <p:sp>
        <p:nvSpPr>
          <p:cNvPr id="32" name="Rectangle 31"/>
          <p:cNvSpPr/>
          <p:nvPr/>
        </p:nvSpPr>
        <p:spPr>
          <a:xfrm>
            <a:off x="1078992" y="2221992"/>
            <a:ext cx="173736" cy="173736"/>
          </a:xfrm>
          <a:prstGeom prst="rect">
            <a:avLst/>
          </a:prstGeom>
          <a:solidFill>
            <a:srgbClr val="E4EAE0"/>
          </a:solidFill>
          <a:ln>
            <a:noFill/>
          </a:ln>
        </p:spPr>
        <p:txBody>
          <a:bodyPr rtlCol="0" anchor="ctr"/>
          <a:lstStyle/>
          <a:p>
            <a:pPr algn="ctr"/>
          </a:p>
        </p:txBody>
      </p:sp>
      <p:sp>
        <p:nvSpPr>
          <p:cNvPr id="33" name="Rectangle 32"/>
          <p:cNvSpPr/>
          <p:nvPr/>
        </p:nvSpPr>
        <p:spPr>
          <a:xfrm>
            <a:off x="1078992" y="2002536"/>
            <a:ext cx="173736" cy="173736"/>
          </a:xfrm>
          <a:prstGeom prst="rect">
            <a:avLst/>
          </a:prstGeom>
          <a:solidFill>
            <a:srgbClr val="E4EAE0"/>
          </a:solidFill>
          <a:ln>
            <a:noFill/>
          </a:ln>
        </p:spPr>
        <p:txBody>
          <a:bodyPr rtlCol="0" anchor="ctr"/>
          <a:lstStyle/>
          <a:p>
            <a:pPr algn="ctr"/>
          </a:p>
        </p:txBody>
      </p:sp>
      <p:sp>
        <p:nvSpPr>
          <p:cNvPr id="34" name="Rectangle 33"/>
          <p:cNvSpPr/>
          <p:nvPr/>
        </p:nvSpPr>
        <p:spPr>
          <a:xfrm>
            <a:off x="1078992" y="1783080"/>
            <a:ext cx="173736" cy="173736"/>
          </a:xfrm>
          <a:prstGeom prst="rect">
            <a:avLst/>
          </a:prstGeom>
          <a:solidFill>
            <a:srgbClr val="E4EAE0"/>
          </a:solidFill>
          <a:ln>
            <a:noFill/>
          </a:ln>
        </p:spPr>
        <p:txBody>
          <a:bodyPr rtlCol="0" anchor="ctr"/>
          <a:lstStyle/>
          <a:p>
            <a:pPr algn="ctr"/>
          </a:p>
        </p:txBody>
      </p:sp>
      <p:sp>
        <p:nvSpPr>
          <p:cNvPr id="35" name="Rectangle 34"/>
          <p:cNvSpPr/>
          <p:nvPr/>
        </p:nvSpPr>
        <p:spPr>
          <a:xfrm>
            <a:off x="1298448" y="3758184"/>
            <a:ext cx="173736" cy="173736"/>
          </a:xfrm>
          <a:prstGeom prst="rect">
            <a:avLst/>
          </a:prstGeom>
          <a:solidFill>
            <a:srgbClr val="E4EAE0"/>
          </a:solidFill>
          <a:ln>
            <a:noFill/>
          </a:ln>
        </p:spPr>
        <p:txBody>
          <a:bodyPr rtlCol="0" anchor="ctr"/>
          <a:lstStyle/>
          <a:p>
            <a:pPr algn="ctr"/>
          </a:p>
        </p:txBody>
      </p:sp>
      <p:sp>
        <p:nvSpPr>
          <p:cNvPr id="36" name="Rectangle 35"/>
          <p:cNvSpPr/>
          <p:nvPr/>
        </p:nvSpPr>
        <p:spPr>
          <a:xfrm>
            <a:off x="1298448" y="3538728"/>
            <a:ext cx="173736" cy="173736"/>
          </a:xfrm>
          <a:prstGeom prst="rect">
            <a:avLst/>
          </a:prstGeom>
          <a:solidFill>
            <a:srgbClr val="E4EAE0"/>
          </a:solidFill>
          <a:ln>
            <a:noFill/>
          </a:ln>
        </p:spPr>
        <p:txBody>
          <a:bodyPr rtlCol="0" anchor="ctr"/>
          <a:lstStyle/>
          <a:p>
            <a:pPr algn="ctr"/>
          </a:p>
        </p:txBody>
      </p:sp>
      <p:sp>
        <p:nvSpPr>
          <p:cNvPr id="37" name="Rectangle 36"/>
          <p:cNvSpPr/>
          <p:nvPr/>
        </p:nvSpPr>
        <p:spPr>
          <a:xfrm>
            <a:off x="1298448" y="3319272"/>
            <a:ext cx="173736" cy="173736"/>
          </a:xfrm>
          <a:prstGeom prst="rect">
            <a:avLst/>
          </a:prstGeom>
          <a:solidFill>
            <a:srgbClr val="E4EAE0"/>
          </a:solidFill>
          <a:ln>
            <a:noFill/>
          </a:ln>
        </p:spPr>
        <p:txBody>
          <a:bodyPr rtlCol="0" anchor="ctr"/>
          <a:lstStyle/>
          <a:p>
            <a:pPr algn="ctr"/>
          </a:p>
        </p:txBody>
      </p:sp>
      <p:sp>
        <p:nvSpPr>
          <p:cNvPr id="38" name="Rectangle 37"/>
          <p:cNvSpPr/>
          <p:nvPr/>
        </p:nvSpPr>
        <p:spPr>
          <a:xfrm>
            <a:off x="1298448" y="3099816"/>
            <a:ext cx="173736" cy="173736"/>
          </a:xfrm>
          <a:prstGeom prst="rect">
            <a:avLst/>
          </a:prstGeom>
          <a:solidFill>
            <a:srgbClr val="E4EAE0"/>
          </a:solidFill>
          <a:ln>
            <a:noFill/>
          </a:ln>
        </p:spPr>
        <p:txBody>
          <a:bodyPr rtlCol="0" anchor="ctr"/>
          <a:lstStyle/>
          <a:p>
            <a:pPr algn="ctr"/>
          </a:p>
        </p:txBody>
      </p:sp>
      <p:sp>
        <p:nvSpPr>
          <p:cNvPr id="39" name="Rectangle 38"/>
          <p:cNvSpPr/>
          <p:nvPr/>
        </p:nvSpPr>
        <p:spPr>
          <a:xfrm>
            <a:off x="1298448" y="2880360"/>
            <a:ext cx="173736" cy="173736"/>
          </a:xfrm>
          <a:prstGeom prst="rect">
            <a:avLst/>
          </a:prstGeom>
          <a:solidFill>
            <a:srgbClr val="E4EAE0"/>
          </a:solidFill>
          <a:ln>
            <a:noFill/>
          </a:ln>
        </p:spPr>
        <p:txBody>
          <a:bodyPr rtlCol="0" anchor="ctr"/>
          <a:lstStyle/>
          <a:p>
            <a:pPr algn="ctr"/>
          </a:p>
        </p:txBody>
      </p:sp>
      <p:sp>
        <p:nvSpPr>
          <p:cNvPr id="40" name="Rectangle 39"/>
          <p:cNvSpPr/>
          <p:nvPr/>
        </p:nvSpPr>
        <p:spPr>
          <a:xfrm>
            <a:off x="1298448" y="2660904"/>
            <a:ext cx="173736" cy="173736"/>
          </a:xfrm>
          <a:prstGeom prst="rect">
            <a:avLst/>
          </a:prstGeom>
          <a:solidFill>
            <a:srgbClr val="E4EAE0"/>
          </a:solidFill>
          <a:ln>
            <a:noFill/>
          </a:ln>
        </p:spPr>
        <p:txBody>
          <a:bodyPr rtlCol="0" anchor="ctr"/>
          <a:lstStyle/>
          <a:p>
            <a:pPr algn="ctr"/>
          </a:p>
        </p:txBody>
      </p:sp>
      <p:sp>
        <p:nvSpPr>
          <p:cNvPr id="41" name="Rectangle 40"/>
          <p:cNvSpPr/>
          <p:nvPr/>
        </p:nvSpPr>
        <p:spPr>
          <a:xfrm>
            <a:off x="1298448" y="2441448"/>
            <a:ext cx="173736" cy="173736"/>
          </a:xfrm>
          <a:prstGeom prst="rect">
            <a:avLst/>
          </a:prstGeom>
          <a:solidFill>
            <a:srgbClr val="E4EAE0"/>
          </a:solidFill>
          <a:ln>
            <a:noFill/>
          </a:ln>
        </p:spPr>
        <p:txBody>
          <a:bodyPr rtlCol="0" anchor="ctr"/>
          <a:lstStyle/>
          <a:p>
            <a:pPr algn="ctr"/>
          </a:p>
        </p:txBody>
      </p:sp>
      <p:sp>
        <p:nvSpPr>
          <p:cNvPr id="42" name="Rectangle 41"/>
          <p:cNvSpPr/>
          <p:nvPr/>
        </p:nvSpPr>
        <p:spPr>
          <a:xfrm>
            <a:off x="1298448" y="2221992"/>
            <a:ext cx="173736" cy="173736"/>
          </a:xfrm>
          <a:prstGeom prst="rect">
            <a:avLst/>
          </a:prstGeom>
          <a:solidFill>
            <a:srgbClr val="E4EAE0"/>
          </a:solidFill>
          <a:ln>
            <a:noFill/>
          </a:ln>
        </p:spPr>
        <p:txBody>
          <a:bodyPr rtlCol="0" anchor="ctr"/>
          <a:lstStyle/>
          <a:p>
            <a:pPr algn="ctr"/>
          </a:p>
        </p:txBody>
      </p:sp>
      <p:sp>
        <p:nvSpPr>
          <p:cNvPr id="43" name="Rectangle 42"/>
          <p:cNvSpPr/>
          <p:nvPr/>
        </p:nvSpPr>
        <p:spPr>
          <a:xfrm>
            <a:off x="1298448" y="2002536"/>
            <a:ext cx="173736" cy="173736"/>
          </a:xfrm>
          <a:prstGeom prst="rect">
            <a:avLst/>
          </a:prstGeom>
          <a:solidFill>
            <a:srgbClr val="E4EAE0"/>
          </a:solidFill>
          <a:ln>
            <a:noFill/>
          </a:ln>
        </p:spPr>
        <p:txBody>
          <a:bodyPr rtlCol="0" anchor="ctr"/>
          <a:lstStyle/>
          <a:p>
            <a:pPr algn="ctr"/>
          </a:p>
        </p:txBody>
      </p:sp>
      <p:sp>
        <p:nvSpPr>
          <p:cNvPr id="44" name="Rectangle 43"/>
          <p:cNvSpPr/>
          <p:nvPr/>
        </p:nvSpPr>
        <p:spPr>
          <a:xfrm>
            <a:off x="1298448" y="1783080"/>
            <a:ext cx="173736" cy="173736"/>
          </a:xfrm>
          <a:prstGeom prst="rect">
            <a:avLst/>
          </a:prstGeom>
          <a:solidFill>
            <a:srgbClr val="E4EAE0"/>
          </a:solidFill>
          <a:ln>
            <a:noFill/>
          </a:ln>
        </p:spPr>
        <p:txBody>
          <a:bodyPr rtlCol="0" anchor="ctr"/>
          <a:lstStyle/>
          <a:p>
            <a:pPr algn="ctr"/>
          </a:p>
        </p:txBody>
      </p:sp>
      <p:sp>
        <p:nvSpPr>
          <p:cNvPr id="45" name="Rectangle 44"/>
          <p:cNvSpPr/>
          <p:nvPr/>
        </p:nvSpPr>
        <p:spPr>
          <a:xfrm>
            <a:off x="1517904" y="3758184"/>
            <a:ext cx="173736" cy="173736"/>
          </a:xfrm>
          <a:prstGeom prst="rect">
            <a:avLst/>
          </a:prstGeom>
          <a:solidFill>
            <a:srgbClr val="E4EAE0"/>
          </a:solidFill>
          <a:ln>
            <a:noFill/>
          </a:ln>
        </p:spPr>
        <p:txBody>
          <a:bodyPr rtlCol="0" anchor="ctr"/>
          <a:lstStyle/>
          <a:p>
            <a:pPr algn="ctr"/>
          </a:p>
        </p:txBody>
      </p:sp>
      <p:sp>
        <p:nvSpPr>
          <p:cNvPr id="46" name="Rectangle 45"/>
          <p:cNvSpPr/>
          <p:nvPr/>
        </p:nvSpPr>
        <p:spPr>
          <a:xfrm>
            <a:off x="1517904" y="3538728"/>
            <a:ext cx="173736" cy="173736"/>
          </a:xfrm>
          <a:prstGeom prst="rect">
            <a:avLst/>
          </a:prstGeom>
          <a:solidFill>
            <a:srgbClr val="E4EAE0"/>
          </a:solidFill>
          <a:ln>
            <a:noFill/>
          </a:ln>
        </p:spPr>
        <p:txBody>
          <a:bodyPr rtlCol="0" anchor="ctr"/>
          <a:lstStyle/>
          <a:p>
            <a:pPr algn="ctr"/>
          </a:p>
        </p:txBody>
      </p:sp>
      <p:sp>
        <p:nvSpPr>
          <p:cNvPr id="47" name="Rectangle 46"/>
          <p:cNvSpPr/>
          <p:nvPr/>
        </p:nvSpPr>
        <p:spPr>
          <a:xfrm>
            <a:off x="1517904" y="3319272"/>
            <a:ext cx="173736" cy="173736"/>
          </a:xfrm>
          <a:prstGeom prst="rect">
            <a:avLst/>
          </a:prstGeom>
          <a:solidFill>
            <a:srgbClr val="E4EAE0"/>
          </a:solidFill>
          <a:ln>
            <a:noFill/>
          </a:ln>
        </p:spPr>
        <p:txBody>
          <a:bodyPr rtlCol="0" anchor="ctr"/>
          <a:lstStyle/>
          <a:p>
            <a:pPr algn="ctr"/>
          </a:p>
        </p:txBody>
      </p:sp>
      <p:sp>
        <p:nvSpPr>
          <p:cNvPr id="48" name="Rectangle 47"/>
          <p:cNvSpPr/>
          <p:nvPr/>
        </p:nvSpPr>
        <p:spPr>
          <a:xfrm>
            <a:off x="1517904" y="3099816"/>
            <a:ext cx="173736" cy="173736"/>
          </a:xfrm>
          <a:prstGeom prst="rect">
            <a:avLst/>
          </a:prstGeom>
          <a:solidFill>
            <a:srgbClr val="E4EAE0"/>
          </a:solidFill>
          <a:ln>
            <a:noFill/>
          </a:ln>
        </p:spPr>
        <p:txBody>
          <a:bodyPr rtlCol="0" anchor="ctr"/>
          <a:lstStyle/>
          <a:p>
            <a:pPr algn="ctr"/>
          </a:p>
        </p:txBody>
      </p:sp>
      <p:sp>
        <p:nvSpPr>
          <p:cNvPr id="49" name="Rectangle 48"/>
          <p:cNvSpPr/>
          <p:nvPr/>
        </p:nvSpPr>
        <p:spPr>
          <a:xfrm>
            <a:off x="1517904" y="2880360"/>
            <a:ext cx="173736" cy="173736"/>
          </a:xfrm>
          <a:prstGeom prst="rect">
            <a:avLst/>
          </a:prstGeom>
          <a:solidFill>
            <a:srgbClr val="E4EAE0"/>
          </a:solidFill>
          <a:ln>
            <a:noFill/>
          </a:ln>
        </p:spPr>
        <p:txBody>
          <a:bodyPr rtlCol="0" anchor="ctr"/>
          <a:lstStyle/>
          <a:p>
            <a:pPr algn="ctr"/>
          </a:p>
        </p:txBody>
      </p:sp>
      <p:sp>
        <p:nvSpPr>
          <p:cNvPr id="50" name="Rectangle 49"/>
          <p:cNvSpPr/>
          <p:nvPr/>
        </p:nvSpPr>
        <p:spPr>
          <a:xfrm>
            <a:off x="1517904" y="2660904"/>
            <a:ext cx="173736" cy="173736"/>
          </a:xfrm>
          <a:prstGeom prst="rect">
            <a:avLst/>
          </a:prstGeom>
          <a:solidFill>
            <a:srgbClr val="E4EAE0"/>
          </a:solidFill>
          <a:ln>
            <a:noFill/>
          </a:ln>
        </p:spPr>
        <p:txBody>
          <a:bodyPr rtlCol="0" anchor="ctr"/>
          <a:lstStyle/>
          <a:p>
            <a:pPr algn="ctr"/>
          </a:p>
        </p:txBody>
      </p:sp>
      <p:sp>
        <p:nvSpPr>
          <p:cNvPr id="51" name="Rectangle 50"/>
          <p:cNvSpPr/>
          <p:nvPr/>
        </p:nvSpPr>
        <p:spPr>
          <a:xfrm>
            <a:off x="1517904" y="2441448"/>
            <a:ext cx="173736" cy="173736"/>
          </a:xfrm>
          <a:prstGeom prst="rect">
            <a:avLst/>
          </a:prstGeom>
          <a:solidFill>
            <a:srgbClr val="E4EAE0"/>
          </a:solidFill>
          <a:ln>
            <a:noFill/>
          </a:ln>
        </p:spPr>
        <p:txBody>
          <a:bodyPr rtlCol="0" anchor="ctr"/>
          <a:lstStyle/>
          <a:p>
            <a:pPr algn="ctr"/>
          </a:p>
        </p:txBody>
      </p:sp>
      <p:sp>
        <p:nvSpPr>
          <p:cNvPr id="52" name="Rectangle 51"/>
          <p:cNvSpPr/>
          <p:nvPr/>
        </p:nvSpPr>
        <p:spPr>
          <a:xfrm>
            <a:off x="1517904" y="2221992"/>
            <a:ext cx="173736" cy="173736"/>
          </a:xfrm>
          <a:prstGeom prst="rect">
            <a:avLst/>
          </a:prstGeom>
          <a:solidFill>
            <a:srgbClr val="E4EAE0"/>
          </a:solidFill>
          <a:ln>
            <a:noFill/>
          </a:ln>
        </p:spPr>
        <p:txBody>
          <a:bodyPr rtlCol="0" anchor="ctr"/>
          <a:lstStyle/>
          <a:p>
            <a:pPr algn="ctr"/>
          </a:p>
        </p:txBody>
      </p:sp>
      <p:sp>
        <p:nvSpPr>
          <p:cNvPr id="53" name="Rectangle 52"/>
          <p:cNvSpPr/>
          <p:nvPr/>
        </p:nvSpPr>
        <p:spPr>
          <a:xfrm>
            <a:off x="1517904" y="2002536"/>
            <a:ext cx="173736" cy="173736"/>
          </a:xfrm>
          <a:prstGeom prst="rect">
            <a:avLst/>
          </a:prstGeom>
          <a:solidFill>
            <a:srgbClr val="E4EAE0"/>
          </a:solidFill>
          <a:ln>
            <a:noFill/>
          </a:ln>
        </p:spPr>
        <p:txBody>
          <a:bodyPr rtlCol="0" anchor="ctr"/>
          <a:lstStyle/>
          <a:p>
            <a:pPr algn="ctr"/>
          </a:p>
        </p:txBody>
      </p:sp>
      <p:sp>
        <p:nvSpPr>
          <p:cNvPr id="54" name="Rectangle 53"/>
          <p:cNvSpPr/>
          <p:nvPr/>
        </p:nvSpPr>
        <p:spPr>
          <a:xfrm>
            <a:off x="1517904" y="1783080"/>
            <a:ext cx="173736" cy="173736"/>
          </a:xfrm>
          <a:prstGeom prst="rect">
            <a:avLst/>
          </a:prstGeom>
          <a:solidFill>
            <a:srgbClr val="E4EAE0"/>
          </a:solidFill>
          <a:ln>
            <a:noFill/>
          </a:ln>
        </p:spPr>
        <p:txBody>
          <a:bodyPr rtlCol="0" anchor="ctr"/>
          <a:lstStyle/>
          <a:p>
            <a:pPr algn="ctr"/>
          </a:p>
        </p:txBody>
      </p:sp>
      <p:sp>
        <p:nvSpPr>
          <p:cNvPr id="55" name="Rectangle 54"/>
          <p:cNvSpPr/>
          <p:nvPr/>
        </p:nvSpPr>
        <p:spPr>
          <a:xfrm>
            <a:off x="1737360" y="3758184"/>
            <a:ext cx="173736" cy="173736"/>
          </a:xfrm>
          <a:prstGeom prst="rect">
            <a:avLst/>
          </a:prstGeom>
          <a:solidFill>
            <a:srgbClr val="E4EAE0"/>
          </a:solidFill>
          <a:ln>
            <a:noFill/>
          </a:ln>
        </p:spPr>
        <p:txBody>
          <a:bodyPr rtlCol="0" anchor="ctr"/>
          <a:lstStyle/>
          <a:p>
            <a:pPr algn="ctr"/>
          </a:p>
        </p:txBody>
      </p:sp>
      <p:sp>
        <p:nvSpPr>
          <p:cNvPr id="56" name="Rectangle 55"/>
          <p:cNvSpPr/>
          <p:nvPr/>
        </p:nvSpPr>
        <p:spPr>
          <a:xfrm>
            <a:off x="1737360" y="3538728"/>
            <a:ext cx="173736" cy="173736"/>
          </a:xfrm>
          <a:prstGeom prst="rect">
            <a:avLst/>
          </a:prstGeom>
          <a:solidFill>
            <a:srgbClr val="E4EAE0"/>
          </a:solidFill>
          <a:ln>
            <a:noFill/>
          </a:ln>
        </p:spPr>
        <p:txBody>
          <a:bodyPr rtlCol="0" anchor="ctr"/>
          <a:lstStyle/>
          <a:p>
            <a:pPr algn="ctr"/>
          </a:p>
        </p:txBody>
      </p:sp>
      <p:sp>
        <p:nvSpPr>
          <p:cNvPr id="57" name="Rectangle 56"/>
          <p:cNvSpPr/>
          <p:nvPr/>
        </p:nvSpPr>
        <p:spPr>
          <a:xfrm>
            <a:off x="1737360" y="3319272"/>
            <a:ext cx="173736" cy="173736"/>
          </a:xfrm>
          <a:prstGeom prst="rect">
            <a:avLst/>
          </a:prstGeom>
          <a:solidFill>
            <a:srgbClr val="E4EAE0"/>
          </a:solidFill>
          <a:ln>
            <a:noFill/>
          </a:ln>
        </p:spPr>
        <p:txBody>
          <a:bodyPr rtlCol="0" anchor="ctr"/>
          <a:lstStyle/>
          <a:p>
            <a:pPr algn="ctr"/>
          </a:p>
        </p:txBody>
      </p:sp>
      <p:sp>
        <p:nvSpPr>
          <p:cNvPr id="58" name="Rectangle 57"/>
          <p:cNvSpPr/>
          <p:nvPr/>
        </p:nvSpPr>
        <p:spPr>
          <a:xfrm>
            <a:off x="1737360" y="3099816"/>
            <a:ext cx="173736" cy="173736"/>
          </a:xfrm>
          <a:prstGeom prst="rect">
            <a:avLst/>
          </a:prstGeom>
          <a:solidFill>
            <a:srgbClr val="E4EAE0"/>
          </a:solidFill>
          <a:ln>
            <a:noFill/>
          </a:ln>
        </p:spPr>
        <p:txBody>
          <a:bodyPr rtlCol="0" anchor="ctr"/>
          <a:lstStyle/>
          <a:p>
            <a:pPr algn="ctr"/>
          </a:p>
        </p:txBody>
      </p:sp>
      <p:sp>
        <p:nvSpPr>
          <p:cNvPr id="59" name="Rectangle 58"/>
          <p:cNvSpPr/>
          <p:nvPr/>
        </p:nvSpPr>
        <p:spPr>
          <a:xfrm>
            <a:off x="1737360" y="2880360"/>
            <a:ext cx="173736" cy="173736"/>
          </a:xfrm>
          <a:prstGeom prst="rect">
            <a:avLst/>
          </a:prstGeom>
          <a:solidFill>
            <a:srgbClr val="E4EAE0"/>
          </a:solidFill>
          <a:ln>
            <a:noFill/>
          </a:ln>
        </p:spPr>
        <p:txBody>
          <a:bodyPr rtlCol="0" anchor="ctr"/>
          <a:lstStyle/>
          <a:p>
            <a:pPr algn="ctr"/>
          </a:p>
        </p:txBody>
      </p:sp>
      <p:sp>
        <p:nvSpPr>
          <p:cNvPr id="60" name="Rectangle 59"/>
          <p:cNvSpPr/>
          <p:nvPr/>
        </p:nvSpPr>
        <p:spPr>
          <a:xfrm>
            <a:off x="1737360" y="2660904"/>
            <a:ext cx="173736" cy="173736"/>
          </a:xfrm>
          <a:prstGeom prst="rect">
            <a:avLst/>
          </a:prstGeom>
          <a:solidFill>
            <a:srgbClr val="E4EAE0"/>
          </a:solidFill>
          <a:ln>
            <a:noFill/>
          </a:ln>
        </p:spPr>
        <p:txBody>
          <a:bodyPr rtlCol="0" anchor="ctr"/>
          <a:lstStyle/>
          <a:p>
            <a:pPr algn="ctr"/>
          </a:p>
        </p:txBody>
      </p:sp>
      <p:sp>
        <p:nvSpPr>
          <p:cNvPr id="61" name="Rectangle 60"/>
          <p:cNvSpPr/>
          <p:nvPr/>
        </p:nvSpPr>
        <p:spPr>
          <a:xfrm>
            <a:off x="1737360" y="2441448"/>
            <a:ext cx="173736" cy="173736"/>
          </a:xfrm>
          <a:prstGeom prst="rect">
            <a:avLst/>
          </a:prstGeom>
          <a:solidFill>
            <a:srgbClr val="E4EAE0"/>
          </a:solidFill>
          <a:ln>
            <a:noFill/>
          </a:ln>
        </p:spPr>
        <p:txBody>
          <a:bodyPr rtlCol="0" anchor="ctr"/>
          <a:lstStyle/>
          <a:p>
            <a:pPr algn="ctr"/>
          </a:p>
        </p:txBody>
      </p:sp>
      <p:sp>
        <p:nvSpPr>
          <p:cNvPr id="62" name="Rectangle 61"/>
          <p:cNvSpPr/>
          <p:nvPr/>
        </p:nvSpPr>
        <p:spPr>
          <a:xfrm>
            <a:off x="1737360" y="2221992"/>
            <a:ext cx="173736" cy="173736"/>
          </a:xfrm>
          <a:prstGeom prst="rect">
            <a:avLst/>
          </a:prstGeom>
          <a:solidFill>
            <a:srgbClr val="E4EAE0"/>
          </a:solidFill>
          <a:ln>
            <a:noFill/>
          </a:ln>
        </p:spPr>
        <p:txBody>
          <a:bodyPr rtlCol="0" anchor="ctr"/>
          <a:lstStyle/>
          <a:p>
            <a:pPr algn="ctr"/>
          </a:p>
        </p:txBody>
      </p:sp>
      <p:sp>
        <p:nvSpPr>
          <p:cNvPr id="63" name="Rectangle 62"/>
          <p:cNvSpPr/>
          <p:nvPr/>
        </p:nvSpPr>
        <p:spPr>
          <a:xfrm>
            <a:off x="1737360" y="2002536"/>
            <a:ext cx="173736" cy="173736"/>
          </a:xfrm>
          <a:prstGeom prst="rect">
            <a:avLst/>
          </a:prstGeom>
          <a:solidFill>
            <a:srgbClr val="E4EAE0"/>
          </a:solidFill>
          <a:ln>
            <a:noFill/>
          </a:ln>
        </p:spPr>
        <p:txBody>
          <a:bodyPr rtlCol="0" anchor="ctr"/>
          <a:lstStyle/>
          <a:p>
            <a:pPr algn="ctr"/>
          </a:p>
        </p:txBody>
      </p:sp>
      <p:sp>
        <p:nvSpPr>
          <p:cNvPr id="64" name="Rectangle 63"/>
          <p:cNvSpPr/>
          <p:nvPr/>
        </p:nvSpPr>
        <p:spPr>
          <a:xfrm>
            <a:off x="1737360" y="1783080"/>
            <a:ext cx="173736" cy="173736"/>
          </a:xfrm>
          <a:prstGeom prst="rect">
            <a:avLst/>
          </a:prstGeom>
          <a:solidFill>
            <a:srgbClr val="E4EAE0"/>
          </a:solidFill>
          <a:ln>
            <a:noFill/>
          </a:ln>
        </p:spPr>
        <p:txBody>
          <a:bodyPr rtlCol="0" anchor="ctr"/>
          <a:lstStyle/>
          <a:p>
            <a:pPr algn="ctr"/>
          </a:p>
        </p:txBody>
      </p:sp>
      <p:sp>
        <p:nvSpPr>
          <p:cNvPr id="65" name="Rectangle 64"/>
          <p:cNvSpPr/>
          <p:nvPr/>
        </p:nvSpPr>
        <p:spPr>
          <a:xfrm>
            <a:off x="1956816" y="3758184"/>
            <a:ext cx="173736" cy="173736"/>
          </a:xfrm>
          <a:prstGeom prst="rect">
            <a:avLst/>
          </a:prstGeom>
          <a:solidFill>
            <a:srgbClr val="E4EAE0"/>
          </a:solidFill>
          <a:ln>
            <a:noFill/>
          </a:ln>
        </p:spPr>
        <p:txBody>
          <a:bodyPr rtlCol="0" anchor="ctr"/>
          <a:lstStyle/>
          <a:p>
            <a:pPr algn="ctr"/>
          </a:p>
        </p:txBody>
      </p:sp>
      <p:sp>
        <p:nvSpPr>
          <p:cNvPr id="66" name="Rectangle 65"/>
          <p:cNvSpPr/>
          <p:nvPr/>
        </p:nvSpPr>
        <p:spPr>
          <a:xfrm>
            <a:off x="1956816" y="3538728"/>
            <a:ext cx="173736" cy="173736"/>
          </a:xfrm>
          <a:prstGeom prst="rect">
            <a:avLst/>
          </a:prstGeom>
          <a:solidFill>
            <a:srgbClr val="E4EAE0"/>
          </a:solidFill>
          <a:ln>
            <a:noFill/>
          </a:ln>
        </p:spPr>
        <p:txBody>
          <a:bodyPr rtlCol="0" anchor="ctr"/>
          <a:lstStyle/>
          <a:p>
            <a:pPr algn="ctr"/>
          </a:p>
        </p:txBody>
      </p:sp>
      <p:sp>
        <p:nvSpPr>
          <p:cNvPr id="67" name="Rectangle 66"/>
          <p:cNvSpPr/>
          <p:nvPr/>
        </p:nvSpPr>
        <p:spPr>
          <a:xfrm>
            <a:off x="1956816" y="3319272"/>
            <a:ext cx="173736" cy="173736"/>
          </a:xfrm>
          <a:prstGeom prst="rect">
            <a:avLst/>
          </a:prstGeom>
          <a:solidFill>
            <a:srgbClr val="E4EAE0"/>
          </a:solidFill>
          <a:ln>
            <a:noFill/>
          </a:ln>
        </p:spPr>
        <p:txBody>
          <a:bodyPr rtlCol="0" anchor="ctr"/>
          <a:lstStyle/>
          <a:p>
            <a:pPr algn="ctr"/>
          </a:p>
        </p:txBody>
      </p:sp>
      <p:sp>
        <p:nvSpPr>
          <p:cNvPr id="68" name="Rectangle 67"/>
          <p:cNvSpPr/>
          <p:nvPr/>
        </p:nvSpPr>
        <p:spPr>
          <a:xfrm>
            <a:off x="1956816" y="3099816"/>
            <a:ext cx="173736" cy="173736"/>
          </a:xfrm>
          <a:prstGeom prst="rect">
            <a:avLst/>
          </a:prstGeom>
          <a:solidFill>
            <a:srgbClr val="E4EAE0"/>
          </a:solidFill>
          <a:ln>
            <a:noFill/>
          </a:ln>
        </p:spPr>
        <p:txBody>
          <a:bodyPr rtlCol="0" anchor="ctr"/>
          <a:lstStyle/>
          <a:p>
            <a:pPr algn="ctr"/>
          </a:p>
        </p:txBody>
      </p:sp>
      <p:sp>
        <p:nvSpPr>
          <p:cNvPr id="69" name="Rectangle 68"/>
          <p:cNvSpPr/>
          <p:nvPr/>
        </p:nvSpPr>
        <p:spPr>
          <a:xfrm>
            <a:off x="1956816" y="2880360"/>
            <a:ext cx="173736" cy="173736"/>
          </a:xfrm>
          <a:prstGeom prst="rect">
            <a:avLst/>
          </a:prstGeom>
          <a:solidFill>
            <a:srgbClr val="E4EAE0"/>
          </a:solidFill>
          <a:ln>
            <a:noFill/>
          </a:ln>
        </p:spPr>
        <p:txBody>
          <a:bodyPr rtlCol="0" anchor="ctr"/>
          <a:lstStyle/>
          <a:p>
            <a:pPr algn="ctr"/>
          </a:p>
        </p:txBody>
      </p:sp>
      <p:sp>
        <p:nvSpPr>
          <p:cNvPr id="70" name="Rectangle 69"/>
          <p:cNvSpPr/>
          <p:nvPr/>
        </p:nvSpPr>
        <p:spPr>
          <a:xfrm>
            <a:off x="1956816" y="2660904"/>
            <a:ext cx="173736" cy="173736"/>
          </a:xfrm>
          <a:prstGeom prst="rect">
            <a:avLst/>
          </a:prstGeom>
          <a:solidFill>
            <a:srgbClr val="E4EAE0"/>
          </a:solidFill>
          <a:ln>
            <a:noFill/>
          </a:ln>
        </p:spPr>
        <p:txBody>
          <a:bodyPr rtlCol="0" anchor="ctr"/>
          <a:lstStyle/>
          <a:p>
            <a:pPr algn="ctr"/>
          </a:p>
        </p:txBody>
      </p:sp>
      <p:sp>
        <p:nvSpPr>
          <p:cNvPr id="71" name="Rectangle 70"/>
          <p:cNvSpPr/>
          <p:nvPr/>
        </p:nvSpPr>
        <p:spPr>
          <a:xfrm>
            <a:off x="1956816" y="2441448"/>
            <a:ext cx="173736" cy="173736"/>
          </a:xfrm>
          <a:prstGeom prst="rect">
            <a:avLst/>
          </a:prstGeom>
          <a:solidFill>
            <a:srgbClr val="E4EAE0"/>
          </a:solidFill>
          <a:ln>
            <a:noFill/>
          </a:ln>
        </p:spPr>
        <p:txBody>
          <a:bodyPr rtlCol="0" anchor="ctr"/>
          <a:lstStyle/>
          <a:p>
            <a:pPr algn="ctr"/>
          </a:p>
        </p:txBody>
      </p:sp>
      <p:sp>
        <p:nvSpPr>
          <p:cNvPr id="72" name="Rectangle 71"/>
          <p:cNvSpPr/>
          <p:nvPr/>
        </p:nvSpPr>
        <p:spPr>
          <a:xfrm>
            <a:off x="1956816" y="2221992"/>
            <a:ext cx="173736" cy="173736"/>
          </a:xfrm>
          <a:prstGeom prst="rect">
            <a:avLst/>
          </a:prstGeom>
          <a:solidFill>
            <a:srgbClr val="E4EAE0"/>
          </a:solidFill>
          <a:ln>
            <a:noFill/>
          </a:ln>
        </p:spPr>
        <p:txBody>
          <a:bodyPr rtlCol="0" anchor="ctr"/>
          <a:lstStyle/>
          <a:p>
            <a:pPr algn="ctr"/>
          </a:p>
        </p:txBody>
      </p:sp>
      <p:sp>
        <p:nvSpPr>
          <p:cNvPr id="73" name="Rectangle 72"/>
          <p:cNvSpPr/>
          <p:nvPr/>
        </p:nvSpPr>
        <p:spPr>
          <a:xfrm>
            <a:off x="1956816" y="2002536"/>
            <a:ext cx="173736" cy="173736"/>
          </a:xfrm>
          <a:prstGeom prst="rect">
            <a:avLst/>
          </a:prstGeom>
          <a:solidFill>
            <a:srgbClr val="E4EAE0"/>
          </a:solidFill>
          <a:ln>
            <a:noFill/>
          </a:ln>
        </p:spPr>
        <p:txBody>
          <a:bodyPr rtlCol="0" anchor="ctr"/>
          <a:lstStyle/>
          <a:p>
            <a:pPr algn="ctr"/>
          </a:p>
        </p:txBody>
      </p:sp>
      <p:sp>
        <p:nvSpPr>
          <p:cNvPr id="74" name="Rectangle 73"/>
          <p:cNvSpPr/>
          <p:nvPr/>
        </p:nvSpPr>
        <p:spPr>
          <a:xfrm>
            <a:off x="1956816" y="1783080"/>
            <a:ext cx="173736" cy="173736"/>
          </a:xfrm>
          <a:prstGeom prst="rect">
            <a:avLst/>
          </a:prstGeom>
          <a:solidFill>
            <a:srgbClr val="E4EAE0"/>
          </a:solidFill>
          <a:ln>
            <a:noFill/>
          </a:ln>
        </p:spPr>
        <p:txBody>
          <a:bodyPr rtlCol="0" anchor="ctr"/>
          <a:lstStyle/>
          <a:p>
            <a:pPr algn="ctr"/>
          </a:p>
        </p:txBody>
      </p:sp>
      <p:sp>
        <p:nvSpPr>
          <p:cNvPr id="75" name="Rectangle 74"/>
          <p:cNvSpPr/>
          <p:nvPr/>
        </p:nvSpPr>
        <p:spPr>
          <a:xfrm>
            <a:off x="2176272" y="3758184"/>
            <a:ext cx="173736" cy="173736"/>
          </a:xfrm>
          <a:prstGeom prst="rect">
            <a:avLst/>
          </a:prstGeom>
          <a:solidFill>
            <a:srgbClr val="E4EAE0"/>
          </a:solidFill>
          <a:ln>
            <a:noFill/>
          </a:ln>
        </p:spPr>
        <p:txBody>
          <a:bodyPr rtlCol="0" anchor="ctr"/>
          <a:lstStyle/>
          <a:p>
            <a:pPr algn="ctr"/>
          </a:p>
        </p:txBody>
      </p:sp>
      <p:sp>
        <p:nvSpPr>
          <p:cNvPr id="76" name="Rectangle 75"/>
          <p:cNvSpPr/>
          <p:nvPr/>
        </p:nvSpPr>
        <p:spPr>
          <a:xfrm>
            <a:off x="2176272" y="3538728"/>
            <a:ext cx="173736" cy="173736"/>
          </a:xfrm>
          <a:prstGeom prst="rect">
            <a:avLst/>
          </a:prstGeom>
          <a:solidFill>
            <a:srgbClr val="E4EAE0"/>
          </a:solidFill>
          <a:ln>
            <a:noFill/>
          </a:ln>
        </p:spPr>
        <p:txBody>
          <a:bodyPr rtlCol="0" anchor="ctr"/>
          <a:lstStyle/>
          <a:p>
            <a:pPr algn="ctr"/>
          </a:p>
        </p:txBody>
      </p:sp>
      <p:sp>
        <p:nvSpPr>
          <p:cNvPr id="77" name="Rectangle 76"/>
          <p:cNvSpPr/>
          <p:nvPr/>
        </p:nvSpPr>
        <p:spPr>
          <a:xfrm>
            <a:off x="2176272" y="3319272"/>
            <a:ext cx="173736" cy="173736"/>
          </a:xfrm>
          <a:prstGeom prst="rect">
            <a:avLst/>
          </a:prstGeom>
          <a:solidFill>
            <a:srgbClr val="E4EAE0"/>
          </a:solidFill>
          <a:ln>
            <a:noFill/>
          </a:ln>
        </p:spPr>
        <p:txBody>
          <a:bodyPr rtlCol="0" anchor="ctr"/>
          <a:lstStyle/>
          <a:p>
            <a:pPr algn="ctr"/>
          </a:p>
        </p:txBody>
      </p:sp>
      <p:sp>
        <p:nvSpPr>
          <p:cNvPr id="78" name="Rectangle 77"/>
          <p:cNvSpPr/>
          <p:nvPr/>
        </p:nvSpPr>
        <p:spPr>
          <a:xfrm>
            <a:off x="2176272" y="3099816"/>
            <a:ext cx="173736" cy="173736"/>
          </a:xfrm>
          <a:prstGeom prst="rect">
            <a:avLst/>
          </a:prstGeom>
          <a:solidFill>
            <a:srgbClr val="E4EAE0"/>
          </a:solidFill>
          <a:ln>
            <a:noFill/>
          </a:ln>
        </p:spPr>
        <p:txBody>
          <a:bodyPr rtlCol="0" anchor="ctr"/>
          <a:lstStyle/>
          <a:p>
            <a:pPr algn="ctr"/>
          </a:p>
        </p:txBody>
      </p:sp>
      <p:sp>
        <p:nvSpPr>
          <p:cNvPr id="79" name="Rectangle 78"/>
          <p:cNvSpPr/>
          <p:nvPr/>
        </p:nvSpPr>
        <p:spPr>
          <a:xfrm>
            <a:off x="2176272" y="2880360"/>
            <a:ext cx="173736" cy="173736"/>
          </a:xfrm>
          <a:prstGeom prst="rect">
            <a:avLst/>
          </a:prstGeom>
          <a:solidFill>
            <a:srgbClr val="E4EAE0"/>
          </a:solidFill>
          <a:ln>
            <a:noFill/>
          </a:ln>
        </p:spPr>
        <p:txBody>
          <a:bodyPr rtlCol="0" anchor="ctr"/>
          <a:lstStyle/>
          <a:p>
            <a:pPr algn="ctr"/>
          </a:p>
        </p:txBody>
      </p:sp>
      <p:sp>
        <p:nvSpPr>
          <p:cNvPr id="80" name="Rectangle 79"/>
          <p:cNvSpPr/>
          <p:nvPr/>
        </p:nvSpPr>
        <p:spPr>
          <a:xfrm>
            <a:off x="2176272" y="2660904"/>
            <a:ext cx="173736" cy="173736"/>
          </a:xfrm>
          <a:prstGeom prst="rect">
            <a:avLst/>
          </a:prstGeom>
          <a:solidFill>
            <a:srgbClr val="E4EAE0"/>
          </a:solidFill>
          <a:ln>
            <a:noFill/>
          </a:ln>
        </p:spPr>
        <p:txBody>
          <a:bodyPr rtlCol="0" anchor="ctr"/>
          <a:lstStyle/>
          <a:p>
            <a:pPr algn="ctr"/>
          </a:p>
        </p:txBody>
      </p:sp>
      <p:sp>
        <p:nvSpPr>
          <p:cNvPr id="81" name="Rectangle 80"/>
          <p:cNvSpPr/>
          <p:nvPr/>
        </p:nvSpPr>
        <p:spPr>
          <a:xfrm>
            <a:off x="2176272" y="2441448"/>
            <a:ext cx="173736" cy="173736"/>
          </a:xfrm>
          <a:prstGeom prst="rect">
            <a:avLst/>
          </a:prstGeom>
          <a:solidFill>
            <a:srgbClr val="E4EAE0"/>
          </a:solidFill>
          <a:ln>
            <a:noFill/>
          </a:ln>
        </p:spPr>
        <p:txBody>
          <a:bodyPr rtlCol="0" anchor="ctr"/>
          <a:lstStyle/>
          <a:p>
            <a:pPr algn="ctr"/>
          </a:p>
        </p:txBody>
      </p:sp>
      <p:sp>
        <p:nvSpPr>
          <p:cNvPr id="82" name="Rectangle 81"/>
          <p:cNvSpPr/>
          <p:nvPr/>
        </p:nvSpPr>
        <p:spPr>
          <a:xfrm>
            <a:off x="2176272" y="2221992"/>
            <a:ext cx="173736" cy="173736"/>
          </a:xfrm>
          <a:prstGeom prst="rect">
            <a:avLst/>
          </a:prstGeom>
          <a:solidFill>
            <a:srgbClr val="E4EAE0"/>
          </a:solidFill>
          <a:ln>
            <a:noFill/>
          </a:ln>
        </p:spPr>
        <p:txBody>
          <a:bodyPr rtlCol="0" anchor="ctr"/>
          <a:lstStyle/>
          <a:p>
            <a:pPr algn="ctr"/>
          </a:p>
        </p:txBody>
      </p:sp>
      <p:sp>
        <p:nvSpPr>
          <p:cNvPr id="83" name="Rectangle 82"/>
          <p:cNvSpPr/>
          <p:nvPr/>
        </p:nvSpPr>
        <p:spPr>
          <a:xfrm>
            <a:off x="2176272" y="2002536"/>
            <a:ext cx="173736" cy="173736"/>
          </a:xfrm>
          <a:prstGeom prst="rect">
            <a:avLst/>
          </a:prstGeom>
          <a:solidFill>
            <a:srgbClr val="E4EAE0"/>
          </a:solidFill>
          <a:ln>
            <a:noFill/>
          </a:ln>
        </p:spPr>
        <p:txBody>
          <a:bodyPr rtlCol="0" anchor="ctr"/>
          <a:lstStyle/>
          <a:p>
            <a:pPr algn="ctr"/>
          </a:p>
        </p:txBody>
      </p:sp>
      <p:sp>
        <p:nvSpPr>
          <p:cNvPr id="84" name="Rectangle 83"/>
          <p:cNvSpPr/>
          <p:nvPr/>
        </p:nvSpPr>
        <p:spPr>
          <a:xfrm>
            <a:off x="2176272" y="1783080"/>
            <a:ext cx="173736" cy="173736"/>
          </a:xfrm>
          <a:prstGeom prst="rect">
            <a:avLst/>
          </a:prstGeom>
          <a:solidFill>
            <a:srgbClr val="E4EAE0"/>
          </a:solidFill>
          <a:ln>
            <a:noFill/>
          </a:ln>
        </p:spPr>
        <p:txBody>
          <a:bodyPr rtlCol="0" anchor="ctr"/>
          <a:lstStyle/>
          <a:p>
            <a:pPr algn="ctr"/>
          </a:p>
        </p:txBody>
      </p:sp>
      <p:sp>
        <p:nvSpPr>
          <p:cNvPr id="85" name="Rectangle 84"/>
          <p:cNvSpPr/>
          <p:nvPr/>
        </p:nvSpPr>
        <p:spPr>
          <a:xfrm>
            <a:off x="2395728" y="3758184"/>
            <a:ext cx="173736" cy="173736"/>
          </a:xfrm>
          <a:prstGeom prst="rect">
            <a:avLst/>
          </a:prstGeom>
          <a:solidFill>
            <a:srgbClr val="E4EAE0"/>
          </a:solidFill>
          <a:ln>
            <a:noFill/>
          </a:ln>
        </p:spPr>
        <p:txBody>
          <a:bodyPr rtlCol="0" anchor="ctr"/>
          <a:lstStyle/>
          <a:p>
            <a:pPr algn="ctr"/>
          </a:p>
        </p:txBody>
      </p:sp>
      <p:sp>
        <p:nvSpPr>
          <p:cNvPr id="86" name="Rectangle 85"/>
          <p:cNvSpPr/>
          <p:nvPr/>
        </p:nvSpPr>
        <p:spPr>
          <a:xfrm>
            <a:off x="2395728" y="3538728"/>
            <a:ext cx="173736" cy="173736"/>
          </a:xfrm>
          <a:prstGeom prst="rect">
            <a:avLst/>
          </a:prstGeom>
          <a:solidFill>
            <a:srgbClr val="E4EAE0"/>
          </a:solidFill>
          <a:ln>
            <a:noFill/>
          </a:ln>
        </p:spPr>
        <p:txBody>
          <a:bodyPr rtlCol="0" anchor="ctr"/>
          <a:lstStyle/>
          <a:p>
            <a:pPr algn="ctr"/>
          </a:p>
        </p:txBody>
      </p:sp>
      <p:sp>
        <p:nvSpPr>
          <p:cNvPr id="87" name="Rectangle 86"/>
          <p:cNvSpPr/>
          <p:nvPr/>
        </p:nvSpPr>
        <p:spPr>
          <a:xfrm>
            <a:off x="2395728" y="3319272"/>
            <a:ext cx="173736" cy="173736"/>
          </a:xfrm>
          <a:prstGeom prst="rect">
            <a:avLst/>
          </a:prstGeom>
          <a:solidFill>
            <a:srgbClr val="E4EAE0"/>
          </a:solidFill>
          <a:ln>
            <a:noFill/>
          </a:ln>
        </p:spPr>
        <p:txBody>
          <a:bodyPr rtlCol="0" anchor="ctr"/>
          <a:lstStyle/>
          <a:p>
            <a:pPr algn="ctr"/>
          </a:p>
        </p:txBody>
      </p:sp>
      <p:sp>
        <p:nvSpPr>
          <p:cNvPr id="88" name="Rectangle 87"/>
          <p:cNvSpPr/>
          <p:nvPr/>
        </p:nvSpPr>
        <p:spPr>
          <a:xfrm>
            <a:off x="2395728" y="3099816"/>
            <a:ext cx="173736" cy="173736"/>
          </a:xfrm>
          <a:prstGeom prst="rect">
            <a:avLst/>
          </a:prstGeom>
          <a:solidFill>
            <a:srgbClr val="E4EAE0"/>
          </a:solidFill>
          <a:ln>
            <a:noFill/>
          </a:ln>
        </p:spPr>
        <p:txBody>
          <a:bodyPr rtlCol="0" anchor="ctr"/>
          <a:lstStyle/>
          <a:p>
            <a:pPr algn="ctr"/>
          </a:p>
        </p:txBody>
      </p:sp>
      <p:sp>
        <p:nvSpPr>
          <p:cNvPr id="89" name="Rectangle 88"/>
          <p:cNvSpPr/>
          <p:nvPr/>
        </p:nvSpPr>
        <p:spPr>
          <a:xfrm>
            <a:off x="2395728" y="2880360"/>
            <a:ext cx="173736" cy="173736"/>
          </a:xfrm>
          <a:prstGeom prst="rect">
            <a:avLst/>
          </a:prstGeom>
          <a:solidFill>
            <a:srgbClr val="E4EAE0"/>
          </a:solidFill>
          <a:ln>
            <a:noFill/>
          </a:ln>
        </p:spPr>
        <p:txBody>
          <a:bodyPr rtlCol="0" anchor="ctr"/>
          <a:lstStyle/>
          <a:p>
            <a:pPr algn="ctr"/>
          </a:p>
        </p:txBody>
      </p:sp>
      <p:sp>
        <p:nvSpPr>
          <p:cNvPr id="90" name="Rectangle 89"/>
          <p:cNvSpPr/>
          <p:nvPr/>
        </p:nvSpPr>
        <p:spPr>
          <a:xfrm>
            <a:off x="2395728" y="2660904"/>
            <a:ext cx="173736" cy="173736"/>
          </a:xfrm>
          <a:prstGeom prst="rect">
            <a:avLst/>
          </a:prstGeom>
          <a:solidFill>
            <a:srgbClr val="E4EAE0"/>
          </a:solidFill>
          <a:ln>
            <a:noFill/>
          </a:ln>
        </p:spPr>
        <p:txBody>
          <a:bodyPr rtlCol="0" anchor="ctr"/>
          <a:lstStyle/>
          <a:p>
            <a:pPr algn="ctr"/>
          </a:p>
        </p:txBody>
      </p:sp>
      <p:sp>
        <p:nvSpPr>
          <p:cNvPr id="91" name="Rectangle 90"/>
          <p:cNvSpPr/>
          <p:nvPr/>
        </p:nvSpPr>
        <p:spPr>
          <a:xfrm>
            <a:off x="2395728" y="2441448"/>
            <a:ext cx="173736" cy="173736"/>
          </a:xfrm>
          <a:prstGeom prst="rect">
            <a:avLst/>
          </a:prstGeom>
          <a:solidFill>
            <a:srgbClr val="E4EAE0"/>
          </a:solidFill>
          <a:ln>
            <a:noFill/>
          </a:ln>
        </p:spPr>
        <p:txBody>
          <a:bodyPr rtlCol="0" anchor="ctr"/>
          <a:lstStyle/>
          <a:p>
            <a:pPr algn="ctr"/>
          </a:p>
        </p:txBody>
      </p:sp>
      <p:sp>
        <p:nvSpPr>
          <p:cNvPr id="92" name="Rectangle 91"/>
          <p:cNvSpPr/>
          <p:nvPr/>
        </p:nvSpPr>
        <p:spPr>
          <a:xfrm>
            <a:off x="2395728" y="2221992"/>
            <a:ext cx="173736" cy="173736"/>
          </a:xfrm>
          <a:prstGeom prst="rect">
            <a:avLst/>
          </a:prstGeom>
          <a:solidFill>
            <a:srgbClr val="E4EAE0"/>
          </a:solidFill>
          <a:ln>
            <a:noFill/>
          </a:ln>
        </p:spPr>
        <p:txBody>
          <a:bodyPr rtlCol="0" anchor="ctr"/>
          <a:lstStyle/>
          <a:p>
            <a:pPr algn="ctr"/>
          </a:p>
        </p:txBody>
      </p:sp>
      <p:sp>
        <p:nvSpPr>
          <p:cNvPr id="93" name="Rectangle 92"/>
          <p:cNvSpPr/>
          <p:nvPr/>
        </p:nvSpPr>
        <p:spPr>
          <a:xfrm>
            <a:off x="2395728" y="2002536"/>
            <a:ext cx="173736" cy="173736"/>
          </a:xfrm>
          <a:prstGeom prst="rect">
            <a:avLst/>
          </a:prstGeom>
          <a:solidFill>
            <a:srgbClr val="E4EAE0"/>
          </a:solidFill>
          <a:ln>
            <a:noFill/>
          </a:ln>
        </p:spPr>
        <p:txBody>
          <a:bodyPr rtlCol="0" anchor="ctr"/>
          <a:lstStyle/>
          <a:p>
            <a:pPr algn="ctr"/>
          </a:p>
        </p:txBody>
      </p:sp>
      <p:sp>
        <p:nvSpPr>
          <p:cNvPr id="94" name="Rectangle 93"/>
          <p:cNvSpPr/>
          <p:nvPr/>
        </p:nvSpPr>
        <p:spPr>
          <a:xfrm>
            <a:off x="2395728" y="1783080"/>
            <a:ext cx="173736" cy="173736"/>
          </a:xfrm>
          <a:prstGeom prst="rect">
            <a:avLst/>
          </a:prstGeom>
          <a:solidFill>
            <a:srgbClr val="E4EAE0"/>
          </a:solidFill>
          <a:ln>
            <a:noFill/>
          </a:ln>
        </p:spPr>
        <p:txBody>
          <a:bodyPr rtlCol="0" anchor="ctr"/>
          <a:lstStyle/>
          <a:p>
            <a:pPr algn="ctr"/>
          </a:p>
        </p:txBody>
      </p:sp>
      <p:sp>
        <p:nvSpPr>
          <p:cNvPr id="95" name="Rectangle 94"/>
          <p:cNvSpPr/>
          <p:nvPr/>
        </p:nvSpPr>
        <p:spPr>
          <a:xfrm>
            <a:off x="2615184" y="3758184"/>
            <a:ext cx="173736" cy="173736"/>
          </a:xfrm>
          <a:prstGeom prst="rect">
            <a:avLst/>
          </a:prstGeom>
          <a:solidFill>
            <a:srgbClr val="E4EAE0"/>
          </a:solidFill>
          <a:ln>
            <a:noFill/>
          </a:ln>
        </p:spPr>
        <p:txBody>
          <a:bodyPr rtlCol="0" anchor="ctr"/>
          <a:lstStyle/>
          <a:p>
            <a:pPr algn="ctr"/>
          </a:p>
        </p:txBody>
      </p:sp>
      <p:sp>
        <p:nvSpPr>
          <p:cNvPr id="96" name="Rectangle 95"/>
          <p:cNvSpPr/>
          <p:nvPr/>
        </p:nvSpPr>
        <p:spPr>
          <a:xfrm>
            <a:off x="2615184" y="3538728"/>
            <a:ext cx="173736" cy="173736"/>
          </a:xfrm>
          <a:prstGeom prst="rect">
            <a:avLst/>
          </a:prstGeom>
          <a:solidFill>
            <a:srgbClr val="E4EAE0"/>
          </a:solidFill>
          <a:ln>
            <a:noFill/>
          </a:ln>
        </p:spPr>
        <p:txBody>
          <a:bodyPr rtlCol="0" anchor="ctr"/>
          <a:lstStyle/>
          <a:p>
            <a:pPr algn="ctr"/>
          </a:p>
        </p:txBody>
      </p:sp>
      <p:sp>
        <p:nvSpPr>
          <p:cNvPr id="97" name="Rectangle 96"/>
          <p:cNvSpPr/>
          <p:nvPr/>
        </p:nvSpPr>
        <p:spPr>
          <a:xfrm>
            <a:off x="2615184" y="3319272"/>
            <a:ext cx="173736" cy="173736"/>
          </a:xfrm>
          <a:prstGeom prst="rect">
            <a:avLst/>
          </a:prstGeom>
          <a:solidFill>
            <a:srgbClr val="E4EAE0"/>
          </a:solidFill>
          <a:ln>
            <a:noFill/>
          </a:ln>
        </p:spPr>
        <p:txBody>
          <a:bodyPr rtlCol="0" anchor="ctr"/>
          <a:lstStyle/>
          <a:p>
            <a:pPr algn="ctr"/>
          </a:p>
        </p:txBody>
      </p:sp>
      <p:sp>
        <p:nvSpPr>
          <p:cNvPr id="98" name="Rectangle 97"/>
          <p:cNvSpPr/>
          <p:nvPr/>
        </p:nvSpPr>
        <p:spPr>
          <a:xfrm>
            <a:off x="2615184" y="3099816"/>
            <a:ext cx="173736" cy="173736"/>
          </a:xfrm>
          <a:prstGeom prst="rect">
            <a:avLst/>
          </a:prstGeom>
          <a:solidFill>
            <a:srgbClr val="E4EAE0"/>
          </a:solidFill>
          <a:ln>
            <a:noFill/>
          </a:ln>
        </p:spPr>
        <p:txBody>
          <a:bodyPr rtlCol="0" anchor="ctr"/>
          <a:lstStyle/>
          <a:p>
            <a:pPr algn="ctr"/>
          </a:p>
        </p:txBody>
      </p:sp>
      <p:sp>
        <p:nvSpPr>
          <p:cNvPr id="99" name="Rectangle 98"/>
          <p:cNvSpPr/>
          <p:nvPr/>
        </p:nvSpPr>
        <p:spPr>
          <a:xfrm>
            <a:off x="2615184" y="2880360"/>
            <a:ext cx="173736" cy="173736"/>
          </a:xfrm>
          <a:prstGeom prst="rect">
            <a:avLst/>
          </a:prstGeom>
          <a:solidFill>
            <a:srgbClr val="E4EAE0"/>
          </a:solidFill>
          <a:ln>
            <a:noFill/>
          </a:ln>
        </p:spPr>
        <p:txBody>
          <a:bodyPr rtlCol="0" anchor="ctr"/>
          <a:lstStyle/>
          <a:p>
            <a:pPr algn="ctr"/>
          </a:p>
        </p:txBody>
      </p:sp>
      <p:sp>
        <p:nvSpPr>
          <p:cNvPr id="100" name="Rectangle 99"/>
          <p:cNvSpPr/>
          <p:nvPr/>
        </p:nvSpPr>
        <p:spPr>
          <a:xfrm>
            <a:off x="2615184" y="2660904"/>
            <a:ext cx="173736" cy="173736"/>
          </a:xfrm>
          <a:prstGeom prst="rect">
            <a:avLst/>
          </a:prstGeom>
          <a:solidFill>
            <a:srgbClr val="E4EAE0"/>
          </a:solidFill>
          <a:ln>
            <a:noFill/>
          </a:ln>
        </p:spPr>
        <p:txBody>
          <a:bodyPr rtlCol="0" anchor="ctr"/>
          <a:lstStyle/>
          <a:p>
            <a:pPr algn="ctr"/>
          </a:p>
        </p:txBody>
      </p:sp>
      <p:sp>
        <p:nvSpPr>
          <p:cNvPr id="101" name="Rectangle 100"/>
          <p:cNvSpPr/>
          <p:nvPr/>
        </p:nvSpPr>
        <p:spPr>
          <a:xfrm>
            <a:off x="2615184" y="2441448"/>
            <a:ext cx="173736" cy="173736"/>
          </a:xfrm>
          <a:prstGeom prst="rect">
            <a:avLst/>
          </a:prstGeom>
          <a:solidFill>
            <a:srgbClr val="E4EAE0"/>
          </a:solidFill>
          <a:ln>
            <a:noFill/>
          </a:ln>
        </p:spPr>
        <p:txBody>
          <a:bodyPr rtlCol="0" anchor="ctr"/>
          <a:lstStyle/>
          <a:p>
            <a:pPr algn="ctr"/>
          </a:p>
        </p:txBody>
      </p:sp>
      <p:sp>
        <p:nvSpPr>
          <p:cNvPr id="102" name="Rectangle 101"/>
          <p:cNvSpPr/>
          <p:nvPr/>
        </p:nvSpPr>
        <p:spPr>
          <a:xfrm>
            <a:off x="2615184" y="2221992"/>
            <a:ext cx="173736" cy="173736"/>
          </a:xfrm>
          <a:prstGeom prst="rect">
            <a:avLst/>
          </a:prstGeom>
          <a:solidFill>
            <a:srgbClr val="E4EAE0"/>
          </a:solidFill>
          <a:ln>
            <a:noFill/>
          </a:ln>
        </p:spPr>
        <p:txBody>
          <a:bodyPr rtlCol="0" anchor="ctr"/>
          <a:lstStyle/>
          <a:p>
            <a:pPr algn="ctr"/>
          </a:p>
        </p:txBody>
      </p:sp>
      <p:sp>
        <p:nvSpPr>
          <p:cNvPr id="103" name="Rectangle 102"/>
          <p:cNvSpPr/>
          <p:nvPr/>
        </p:nvSpPr>
        <p:spPr>
          <a:xfrm>
            <a:off x="2615184" y="2002536"/>
            <a:ext cx="173736" cy="173736"/>
          </a:xfrm>
          <a:prstGeom prst="rect">
            <a:avLst/>
          </a:prstGeom>
          <a:solidFill>
            <a:srgbClr val="E4EAE0"/>
          </a:solidFill>
          <a:ln>
            <a:noFill/>
          </a:ln>
        </p:spPr>
        <p:txBody>
          <a:bodyPr rtlCol="0" anchor="ctr"/>
          <a:lstStyle/>
          <a:p>
            <a:pPr algn="ctr"/>
          </a:p>
        </p:txBody>
      </p:sp>
      <p:sp>
        <p:nvSpPr>
          <p:cNvPr id="104" name="Rectangle 103"/>
          <p:cNvSpPr/>
          <p:nvPr/>
        </p:nvSpPr>
        <p:spPr>
          <a:xfrm>
            <a:off x="2615184" y="1783080"/>
            <a:ext cx="173736" cy="173736"/>
          </a:xfrm>
          <a:prstGeom prst="rect">
            <a:avLst/>
          </a:prstGeom>
          <a:solidFill>
            <a:srgbClr val="E4EAE0"/>
          </a:solidFill>
          <a:ln>
            <a:noFill/>
          </a:ln>
        </p:spPr>
        <p:txBody>
          <a:bodyPr rtlCol="0" anchor="ctr"/>
          <a:lstStyle/>
          <a:p>
            <a:pPr algn="ctr"/>
          </a:p>
        </p:txBody>
      </p:sp>
      <p:sp>
        <p:nvSpPr>
          <p:cNvPr id="105" name="TextBox 104"/>
          <p:cNvSpPr txBox="1"/>
          <p:nvPr/>
        </p:nvSpPr>
        <p:spPr>
          <a:xfrm>
            <a:off x="640080" y="4114800"/>
            <a:ext cx="2384984" cy="640080"/>
          </a:xfrm>
          <a:prstGeom prst="rect">
            <a:avLst/>
          </a:prstGeom>
          <a:noFill/>
        </p:spPr>
        <p:txBody>
          <a:bodyPr wrap="square" lIns="0" tIns="0" rIns="0" bIns="0">
            <a:spAutoFit/>
          </a:bodyPr>
          <a:lstStyle/>
          <a:p>
            <a:pPr>
              <a:lnSpc>
                <a:spcPct val="105000"/>
              </a:lnSpc>
            </a:pPr>
            <a:r>
              <a:rPr sz="3600">
                <a:solidFill>
                  <a:srgbClr val="C0392B"/>
                </a:solidFill>
                <a:latin typeface="Georgia"/>
              </a:rPr>
              <a:t>12%</a:t>
            </a:r>
          </a:p>
        </p:txBody>
      </p:sp>
      <p:sp>
        <p:nvSpPr>
          <p:cNvPr id="106" name="TextBox 105"/>
          <p:cNvSpPr txBox="1"/>
          <p:nvPr/>
        </p:nvSpPr>
        <p:spPr>
          <a:xfrm>
            <a:off x="640080" y="4754880"/>
            <a:ext cx="2339264" cy="822960"/>
          </a:xfrm>
          <a:prstGeom prst="rect">
            <a:avLst/>
          </a:prstGeom>
          <a:noFill/>
        </p:spPr>
        <p:txBody>
          <a:bodyPr wrap="square" lIns="0" tIns="0" rIns="0" bIns="0">
            <a:spAutoFit/>
          </a:bodyPr>
          <a:lstStyle/>
          <a:p>
            <a:pPr>
              <a:lnSpc>
                <a:spcPct val="105000"/>
              </a:lnSpc>
            </a:pPr>
            <a:r>
              <a:rPr sz="1500">
                <a:solidFill>
                  <a:srgbClr val="0C1408"/>
                </a:solidFill>
                <a:latin typeface="Arial"/>
              </a:rPr>
              <a:t>of users have lost money to fraud [1]</a:t>
            </a:r>
          </a:p>
        </p:txBody>
      </p:sp>
      <p:sp>
        <p:nvSpPr>
          <p:cNvPr id="107" name="Rectangle 106"/>
          <p:cNvSpPr/>
          <p:nvPr/>
        </p:nvSpPr>
        <p:spPr>
          <a:xfrm>
            <a:off x="3482264" y="3758184"/>
            <a:ext cx="173736" cy="173736"/>
          </a:xfrm>
          <a:prstGeom prst="rect">
            <a:avLst/>
          </a:prstGeom>
          <a:solidFill>
            <a:srgbClr val="C0392B"/>
          </a:solidFill>
          <a:ln>
            <a:noFill/>
          </a:ln>
        </p:spPr>
        <p:txBody>
          <a:bodyPr rtlCol="0" anchor="ctr"/>
          <a:lstStyle/>
          <a:p>
            <a:pPr algn="ctr"/>
          </a:p>
        </p:txBody>
      </p:sp>
      <p:sp>
        <p:nvSpPr>
          <p:cNvPr id="108" name="Rectangle 107"/>
          <p:cNvSpPr/>
          <p:nvPr/>
        </p:nvSpPr>
        <p:spPr>
          <a:xfrm>
            <a:off x="3482264" y="3538728"/>
            <a:ext cx="173736" cy="173736"/>
          </a:xfrm>
          <a:prstGeom prst="rect">
            <a:avLst/>
          </a:prstGeom>
          <a:solidFill>
            <a:srgbClr val="C0392B"/>
          </a:solidFill>
          <a:ln>
            <a:noFill/>
          </a:ln>
        </p:spPr>
        <p:txBody>
          <a:bodyPr rtlCol="0" anchor="ctr"/>
          <a:lstStyle/>
          <a:p>
            <a:pPr algn="ctr"/>
          </a:p>
        </p:txBody>
      </p:sp>
      <p:sp>
        <p:nvSpPr>
          <p:cNvPr id="109" name="Rectangle 108"/>
          <p:cNvSpPr/>
          <p:nvPr/>
        </p:nvSpPr>
        <p:spPr>
          <a:xfrm>
            <a:off x="3482264" y="3319272"/>
            <a:ext cx="173736" cy="173736"/>
          </a:xfrm>
          <a:prstGeom prst="rect">
            <a:avLst/>
          </a:prstGeom>
          <a:solidFill>
            <a:srgbClr val="C0392B"/>
          </a:solidFill>
          <a:ln>
            <a:noFill/>
          </a:ln>
        </p:spPr>
        <p:txBody>
          <a:bodyPr rtlCol="0" anchor="ctr"/>
          <a:lstStyle/>
          <a:p>
            <a:pPr algn="ctr"/>
          </a:p>
        </p:txBody>
      </p:sp>
      <p:sp>
        <p:nvSpPr>
          <p:cNvPr id="110" name="Rectangle 109"/>
          <p:cNvSpPr/>
          <p:nvPr/>
        </p:nvSpPr>
        <p:spPr>
          <a:xfrm>
            <a:off x="3482264" y="3099816"/>
            <a:ext cx="173736" cy="173736"/>
          </a:xfrm>
          <a:prstGeom prst="rect">
            <a:avLst/>
          </a:prstGeom>
          <a:solidFill>
            <a:srgbClr val="C0392B"/>
          </a:solidFill>
          <a:ln>
            <a:noFill/>
          </a:ln>
        </p:spPr>
        <p:txBody>
          <a:bodyPr rtlCol="0" anchor="ctr"/>
          <a:lstStyle/>
          <a:p>
            <a:pPr algn="ctr"/>
          </a:p>
        </p:txBody>
      </p:sp>
      <p:sp>
        <p:nvSpPr>
          <p:cNvPr id="111" name="Rectangle 110"/>
          <p:cNvSpPr/>
          <p:nvPr/>
        </p:nvSpPr>
        <p:spPr>
          <a:xfrm>
            <a:off x="3482264" y="2880360"/>
            <a:ext cx="173736" cy="173736"/>
          </a:xfrm>
          <a:prstGeom prst="rect">
            <a:avLst/>
          </a:prstGeom>
          <a:solidFill>
            <a:srgbClr val="C0392B"/>
          </a:solidFill>
          <a:ln>
            <a:noFill/>
          </a:ln>
        </p:spPr>
        <p:txBody>
          <a:bodyPr rtlCol="0" anchor="ctr"/>
          <a:lstStyle/>
          <a:p>
            <a:pPr algn="ctr"/>
          </a:p>
        </p:txBody>
      </p:sp>
      <p:sp>
        <p:nvSpPr>
          <p:cNvPr id="112" name="Rectangle 111"/>
          <p:cNvSpPr/>
          <p:nvPr/>
        </p:nvSpPr>
        <p:spPr>
          <a:xfrm>
            <a:off x="3482264" y="2660904"/>
            <a:ext cx="173736" cy="173736"/>
          </a:xfrm>
          <a:prstGeom prst="rect">
            <a:avLst/>
          </a:prstGeom>
          <a:solidFill>
            <a:srgbClr val="C0392B"/>
          </a:solidFill>
          <a:ln>
            <a:noFill/>
          </a:ln>
        </p:spPr>
        <p:txBody>
          <a:bodyPr rtlCol="0" anchor="ctr"/>
          <a:lstStyle/>
          <a:p>
            <a:pPr algn="ctr"/>
          </a:p>
        </p:txBody>
      </p:sp>
      <p:sp>
        <p:nvSpPr>
          <p:cNvPr id="113" name="Rectangle 112"/>
          <p:cNvSpPr/>
          <p:nvPr/>
        </p:nvSpPr>
        <p:spPr>
          <a:xfrm>
            <a:off x="3482264" y="2441448"/>
            <a:ext cx="173736" cy="173736"/>
          </a:xfrm>
          <a:prstGeom prst="rect">
            <a:avLst/>
          </a:prstGeom>
          <a:solidFill>
            <a:srgbClr val="C0392B"/>
          </a:solidFill>
          <a:ln>
            <a:noFill/>
          </a:ln>
        </p:spPr>
        <p:txBody>
          <a:bodyPr rtlCol="0" anchor="ctr"/>
          <a:lstStyle/>
          <a:p>
            <a:pPr algn="ctr"/>
          </a:p>
        </p:txBody>
      </p:sp>
      <p:sp>
        <p:nvSpPr>
          <p:cNvPr id="114" name="Rectangle 113"/>
          <p:cNvSpPr/>
          <p:nvPr/>
        </p:nvSpPr>
        <p:spPr>
          <a:xfrm>
            <a:off x="3482264" y="2221992"/>
            <a:ext cx="173736" cy="173736"/>
          </a:xfrm>
          <a:prstGeom prst="rect">
            <a:avLst/>
          </a:prstGeom>
          <a:solidFill>
            <a:srgbClr val="C0392B"/>
          </a:solidFill>
          <a:ln>
            <a:noFill/>
          </a:ln>
        </p:spPr>
        <p:txBody>
          <a:bodyPr rtlCol="0" anchor="ctr"/>
          <a:lstStyle/>
          <a:p>
            <a:pPr algn="ctr"/>
          </a:p>
        </p:txBody>
      </p:sp>
      <p:sp>
        <p:nvSpPr>
          <p:cNvPr id="115" name="Rectangle 114"/>
          <p:cNvSpPr/>
          <p:nvPr/>
        </p:nvSpPr>
        <p:spPr>
          <a:xfrm>
            <a:off x="3482264" y="2002536"/>
            <a:ext cx="173736" cy="173736"/>
          </a:xfrm>
          <a:prstGeom prst="rect">
            <a:avLst/>
          </a:prstGeom>
          <a:solidFill>
            <a:srgbClr val="C0392B"/>
          </a:solidFill>
          <a:ln>
            <a:noFill/>
          </a:ln>
        </p:spPr>
        <p:txBody>
          <a:bodyPr rtlCol="0" anchor="ctr"/>
          <a:lstStyle/>
          <a:p>
            <a:pPr algn="ctr"/>
          </a:p>
        </p:txBody>
      </p:sp>
      <p:sp>
        <p:nvSpPr>
          <p:cNvPr id="116" name="Rectangle 115"/>
          <p:cNvSpPr/>
          <p:nvPr/>
        </p:nvSpPr>
        <p:spPr>
          <a:xfrm>
            <a:off x="3482264" y="1783080"/>
            <a:ext cx="173736" cy="173736"/>
          </a:xfrm>
          <a:prstGeom prst="rect">
            <a:avLst/>
          </a:prstGeom>
          <a:solidFill>
            <a:srgbClr val="C0392B"/>
          </a:solidFill>
          <a:ln>
            <a:noFill/>
          </a:ln>
        </p:spPr>
        <p:txBody>
          <a:bodyPr rtlCol="0" anchor="ctr"/>
          <a:lstStyle/>
          <a:p>
            <a:pPr algn="ctr"/>
          </a:p>
        </p:txBody>
      </p:sp>
      <p:sp>
        <p:nvSpPr>
          <p:cNvPr id="117" name="Rectangle 116"/>
          <p:cNvSpPr/>
          <p:nvPr/>
        </p:nvSpPr>
        <p:spPr>
          <a:xfrm>
            <a:off x="3701720" y="3758184"/>
            <a:ext cx="173736" cy="173736"/>
          </a:xfrm>
          <a:prstGeom prst="rect">
            <a:avLst/>
          </a:prstGeom>
          <a:solidFill>
            <a:srgbClr val="C0392B"/>
          </a:solidFill>
          <a:ln>
            <a:noFill/>
          </a:ln>
        </p:spPr>
        <p:txBody>
          <a:bodyPr rtlCol="0" anchor="ctr"/>
          <a:lstStyle/>
          <a:p>
            <a:pPr algn="ctr"/>
          </a:p>
        </p:txBody>
      </p:sp>
      <p:sp>
        <p:nvSpPr>
          <p:cNvPr id="118" name="Rectangle 117"/>
          <p:cNvSpPr/>
          <p:nvPr/>
        </p:nvSpPr>
        <p:spPr>
          <a:xfrm>
            <a:off x="3701720" y="3538728"/>
            <a:ext cx="173736" cy="173736"/>
          </a:xfrm>
          <a:prstGeom prst="rect">
            <a:avLst/>
          </a:prstGeom>
          <a:solidFill>
            <a:srgbClr val="C0392B"/>
          </a:solidFill>
          <a:ln>
            <a:noFill/>
          </a:ln>
        </p:spPr>
        <p:txBody>
          <a:bodyPr rtlCol="0" anchor="ctr"/>
          <a:lstStyle/>
          <a:p>
            <a:pPr algn="ctr"/>
          </a:p>
        </p:txBody>
      </p:sp>
      <p:sp>
        <p:nvSpPr>
          <p:cNvPr id="119" name="Rectangle 118"/>
          <p:cNvSpPr/>
          <p:nvPr/>
        </p:nvSpPr>
        <p:spPr>
          <a:xfrm>
            <a:off x="3701720" y="3319272"/>
            <a:ext cx="173736" cy="173736"/>
          </a:xfrm>
          <a:prstGeom prst="rect">
            <a:avLst/>
          </a:prstGeom>
          <a:solidFill>
            <a:srgbClr val="C0392B"/>
          </a:solidFill>
          <a:ln>
            <a:noFill/>
          </a:ln>
        </p:spPr>
        <p:txBody>
          <a:bodyPr rtlCol="0" anchor="ctr"/>
          <a:lstStyle/>
          <a:p>
            <a:pPr algn="ctr"/>
          </a:p>
        </p:txBody>
      </p:sp>
      <p:sp>
        <p:nvSpPr>
          <p:cNvPr id="120" name="Rectangle 119"/>
          <p:cNvSpPr/>
          <p:nvPr/>
        </p:nvSpPr>
        <p:spPr>
          <a:xfrm>
            <a:off x="3701720" y="3099816"/>
            <a:ext cx="173736" cy="173736"/>
          </a:xfrm>
          <a:prstGeom prst="rect">
            <a:avLst/>
          </a:prstGeom>
          <a:solidFill>
            <a:srgbClr val="C0392B"/>
          </a:solidFill>
          <a:ln>
            <a:noFill/>
          </a:ln>
        </p:spPr>
        <p:txBody>
          <a:bodyPr rtlCol="0" anchor="ctr"/>
          <a:lstStyle/>
          <a:p>
            <a:pPr algn="ctr"/>
          </a:p>
        </p:txBody>
      </p:sp>
      <p:sp>
        <p:nvSpPr>
          <p:cNvPr id="121" name="Rectangle 120"/>
          <p:cNvSpPr/>
          <p:nvPr/>
        </p:nvSpPr>
        <p:spPr>
          <a:xfrm>
            <a:off x="3701720" y="2880360"/>
            <a:ext cx="173736" cy="173736"/>
          </a:xfrm>
          <a:prstGeom prst="rect">
            <a:avLst/>
          </a:prstGeom>
          <a:solidFill>
            <a:srgbClr val="C0392B"/>
          </a:solidFill>
          <a:ln>
            <a:noFill/>
          </a:ln>
        </p:spPr>
        <p:txBody>
          <a:bodyPr rtlCol="0" anchor="ctr"/>
          <a:lstStyle/>
          <a:p>
            <a:pPr algn="ctr"/>
          </a:p>
        </p:txBody>
      </p:sp>
      <p:sp>
        <p:nvSpPr>
          <p:cNvPr id="122" name="Rectangle 121"/>
          <p:cNvSpPr/>
          <p:nvPr/>
        </p:nvSpPr>
        <p:spPr>
          <a:xfrm>
            <a:off x="3701720" y="2660904"/>
            <a:ext cx="173736" cy="173736"/>
          </a:xfrm>
          <a:prstGeom prst="rect">
            <a:avLst/>
          </a:prstGeom>
          <a:solidFill>
            <a:srgbClr val="C0392B"/>
          </a:solidFill>
          <a:ln>
            <a:noFill/>
          </a:ln>
        </p:spPr>
        <p:txBody>
          <a:bodyPr rtlCol="0" anchor="ctr"/>
          <a:lstStyle/>
          <a:p>
            <a:pPr algn="ctr"/>
          </a:p>
        </p:txBody>
      </p:sp>
      <p:sp>
        <p:nvSpPr>
          <p:cNvPr id="123" name="Rectangle 122"/>
          <p:cNvSpPr/>
          <p:nvPr/>
        </p:nvSpPr>
        <p:spPr>
          <a:xfrm>
            <a:off x="3701720" y="2441448"/>
            <a:ext cx="173736" cy="173736"/>
          </a:xfrm>
          <a:prstGeom prst="rect">
            <a:avLst/>
          </a:prstGeom>
          <a:solidFill>
            <a:srgbClr val="C0392B"/>
          </a:solidFill>
          <a:ln>
            <a:noFill/>
          </a:ln>
        </p:spPr>
        <p:txBody>
          <a:bodyPr rtlCol="0" anchor="ctr"/>
          <a:lstStyle/>
          <a:p>
            <a:pPr algn="ctr"/>
          </a:p>
        </p:txBody>
      </p:sp>
      <p:sp>
        <p:nvSpPr>
          <p:cNvPr id="124" name="Rectangle 123"/>
          <p:cNvSpPr/>
          <p:nvPr/>
        </p:nvSpPr>
        <p:spPr>
          <a:xfrm>
            <a:off x="3701720" y="2221992"/>
            <a:ext cx="173736" cy="173736"/>
          </a:xfrm>
          <a:prstGeom prst="rect">
            <a:avLst/>
          </a:prstGeom>
          <a:solidFill>
            <a:srgbClr val="C0392B"/>
          </a:solidFill>
          <a:ln>
            <a:noFill/>
          </a:ln>
        </p:spPr>
        <p:txBody>
          <a:bodyPr rtlCol="0" anchor="ctr"/>
          <a:lstStyle/>
          <a:p>
            <a:pPr algn="ctr"/>
          </a:p>
        </p:txBody>
      </p:sp>
      <p:sp>
        <p:nvSpPr>
          <p:cNvPr id="125" name="Rectangle 124"/>
          <p:cNvSpPr/>
          <p:nvPr/>
        </p:nvSpPr>
        <p:spPr>
          <a:xfrm>
            <a:off x="3701720" y="2002536"/>
            <a:ext cx="173736" cy="173736"/>
          </a:xfrm>
          <a:prstGeom prst="rect">
            <a:avLst/>
          </a:prstGeom>
          <a:solidFill>
            <a:srgbClr val="C0392B"/>
          </a:solidFill>
          <a:ln>
            <a:noFill/>
          </a:ln>
        </p:spPr>
        <p:txBody>
          <a:bodyPr rtlCol="0" anchor="ctr"/>
          <a:lstStyle/>
          <a:p>
            <a:pPr algn="ctr"/>
          </a:p>
        </p:txBody>
      </p:sp>
      <p:sp>
        <p:nvSpPr>
          <p:cNvPr id="126" name="Rectangle 125"/>
          <p:cNvSpPr/>
          <p:nvPr/>
        </p:nvSpPr>
        <p:spPr>
          <a:xfrm>
            <a:off x="3701720" y="1783080"/>
            <a:ext cx="173736" cy="173736"/>
          </a:xfrm>
          <a:prstGeom prst="rect">
            <a:avLst/>
          </a:prstGeom>
          <a:solidFill>
            <a:srgbClr val="C0392B"/>
          </a:solidFill>
          <a:ln>
            <a:noFill/>
          </a:ln>
        </p:spPr>
        <p:txBody>
          <a:bodyPr rtlCol="0" anchor="ctr"/>
          <a:lstStyle/>
          <a:p>
            <a:pPr algn="ctr"/>
          </a:p>
        </p:txBody>
      </p:sp>
      <p:sp>
        <p:nvSpPr>
          <p:cNvPr id="127" name="Rectangle 126"/>
          <p:cNvSpPr/>
          <p:nvPr/>
        </p:nvSpPr>
        <p:spPr>
          <a:xfrm>
            <a:off x="3921176" y="3758184"/>
            <a:ext cx="173736" cy="173736"/>
          </a:xfrm>
          <a:prstGeom prst="rect">
            <a:avLst/>
          </a:prstGeom>
          <a:solidFill>
            <a:srgbClr val="C0392B"/>
          </a:solidFill>
          <a:ln>
            <a:noFill/>
          </a:ln>
        </p:spPr>
        <p:txBody>
          <a:bodyPr rtlCol="0" anchor="ctr"/>
          <a:lstStyle/>
          <a:p>
            <a:pPr algn="ctr"/>
          </a:p>
        </p:txBody>
      </p:sp>
      <p:sp>
        <p:nvSpPr>
          <p:cNvPr id="128" name="Rectangle 127"/>
          <p:cNvSpPr/>
          <p:nvPr/>
        </p:nvSpPr>
        <p:spPr>
          <a:xfrm>
            <a:off x="3921176" y="3538728"/>
            <a:ext cx="173736" cy="173736"/>
          </a:xfrm>
          <a:prstGeom prst="rect">
            <a:avLst/>
          </a:prstGeom>
          <a:solidFill>
            <a:srgbClr val="C0392B"/>
          </a:solidFill>
          <a:ln>
            <a:noFill/>
          </a:ln>
        </p:spPr>
        <p:txBody>
          <a:bodyPr rtlCol="0" anchor="ctr"/>
          <a:lstStyle/>
          <a:p>
            <a:pPr algn="ctr"/>
          </a:p>
        </p:txBody>
      </p:sp>
      <p:sp>
        <p:nvSpPr>
          <p:cNvPr id="129" name="Rectangle 128"/>
          <p:cNvSpPr/>
          <p:nvPr/>
        </p:nvSpPr>
        <p:spPr>
          <a:xfrm>
            <a:off x="3921176" y="3319272"/>
            <a:ext cx="173736" cy="173736"/>
          </a:xfrm>
          <a:prstGeom prst="rect">
            <a:avLst/>
          </a:prstGeom>
          <a:solidFill>
            <a:srgbClr val="C0392B"/>
          </a:solidFill>
          <a:ln>
            <a:noFill/>
          </a:ln>
        </p:spPr>
        <p:txBody>
          <a:bodyPr rtlCol="0" anchor="ctr"/>
          <a:lstStyle/>
          <a:p>
            <a:pPr algn="ctr"/>
          </a:p>
        </p:txBody>
      </p:sp>
      <p:sp>
        <p:nvSpPr>
          <p:cNvPr id="130" name="Rectangle 129"/>
          <p:cNvSpPr/>
          <p:nvPr/>
        </p:nvSpPr>
        <p:spPr>
          <a:xfrm>
            <a:off x="3921176" y="3099816"/>
            <a:ext cx="173736" cy="173736"/>
          </a:xfrm>
          <a:prstGeom prst="rect">
            <a:avLst/>
          </a:prstGeom>
          <a:solidFill>
            <a:srgbClr val="C0392B"/>
          </a:solidFill>
          <a:ln>
            <a:noFill/>
          </a:ln>
        </p:spPr>
        <p:txBody>
          <a:bodyPr rtlCol="0" anchor="ctr"/>
          <a:lstStyle/>
          <a:p>
            <a:pPr algn="ctr"/>
          </a:p>
        </p:txBody>
      </p:sp>
      <p:sp>
        <p:nvSpPr>
          <p:cNvPr id="131" name="Rectangle 130"/>
          <p:cNvSpPr/>
          <p:nvPr/>
        </p:nvSpPr>
        <p:spPr>
          <a:xfrm>
            <a:off x="3921176" y="2880360"/>
            <a:ext cx="173736" cy="173736"/>
          </a:xfrm>
          <a:prstGeom prst="rect">
            <a:avLst/>
          </a:prstGeom>
          <a:solidFill>
            <a:srgbClr val="C0392B"/>
          </a:solidFill>
          <a:ln>
            <a:noFill/>
          </a:ln>
        </p:spPr>
        <p:txBody>
          <a:bodyPr rtlCol="0" anchor="ctr"/>
          <a:lstStyle/>
          <a:p>
            <a:pPr algn="ctr"/>
          </a:p>
        </p:txBody>
      </p:sp>
      <p:sp>
        <p:nvSpPr>
          <p:cNvPr id="132" name="Rectangle 131"/>
          <p:cNvSpPr/>
          <p:nvPr/>
        </p:nvSpPr>
        <p:spPr>
          <a:xfrm>
            <a:off x="3921176" y="2660904"/>
            <a:ext cx="173736" cy="173736"/>
          </a:xfrm>
          <a:prstGeom prst="rect">
            <a:avLst/>
          </a:prstGeom>
          <a:solidFill>
            <a:srgbClr val="C0392B"/>
          </a:solidFill>
          <a:ln>
            <a:noFill/>
          </a:ln>
        </p:spPr>
        <p:txBody>
          <a:bodyPr rtlCol="0" anchor="ctr"/>
          <a:lstStyle/>
          <a:p>
            <a:pPr algn="ctr"/>
          </a:p>
        </p:txBody>
      </p:sp>
      <p:sp>
        <p:nvSpPr>
          <p:cNvPr id="133" name="Rectangle 132"/>
          <p:cNvSpPr/>
          <p:nvPr/>
        </p:nvSpPr>
        <p:spPr>
          <a:xfrm>
            <a:off x="3921176" y="2441448"/>
            <a:ext cx="173736" cy="173736"/>
          </a:xfrm>
          <a:prstGeom prst="rect">
            <a:avLst/>
          </a:prstGeom>
          <a:solidFill>
            <a:srgbClr val="C0392B"/>
          </a:solidFill>
          <a:ln>
            <a:noFill/>
          </a:ln>
        </p:spPr>
        <p:txBody>
          <a:bodyPr rtlCol="0" anchor="ctr"/>
          <a:lstStyle/>
          <a:p>
            <a:pPr algn="ctr"/>
          </a:p>
        </p:txBody>
      </p:sp>
      <p:sp>
        <p:nvSpPr>
          <p:cNvPr id="134" name="Rectangle 133"/>
          <p:cNvSpPr/>
          <p:nvPr/>
        </p:nvSpPr>
        <p:spPr>
          <a:xfrm>
            <a:off x="3921176" y="2221992"/>
            <a:ext cx="173736" cy="173736"/>
          </a:xfrm>
          <a:prstGeom prst="rect">
            <a:avLst/>
          </a:prstGeom>
          <a:solidFill>
            <a:srgbClr val="C0392B"/>
          </a:solidFill>
          <a:ln>
            <a:noFill/>
          </a:ln>
        </p:spPr>
        <p:txBody>
          <a:bodyPr rtlCol="0" anchor="ctr"/>
          <a:lstStyle/>
          <a:p>
            <a:pPr algn="ctr"/>
          </a:p>
        </p:txBody>
      </p:sp>
      <p:sp>
        <p:nvSpPr>
          <p:cNvPr id="135" name="Rectangle 134"/>
          <p:cNvSpPr/>
          <p:nvPr/>
        </p:nvSpPr>
        <p:spPr>
          <a:xfrm>
            <a:off x="3921176" y="2002536"/>
            <a:ext cx="173736" cy="173736"/>
          </a:xfrm>
          <a:prstGeom prst="rect">
            <a:avLst/>
          </a:prstGeom>
          <a:solidFill>
            <a:srgbClr val="C0392B"/>
          </a:solidFill>
          <a:ln>
            <a:noFill/>
          </a:ln>
        </p:spPr>
        <p:txBody>
          <a:bodyPr rtlCol="0" anchor="ctr"/>
          <a:lstStyle/>
          <a:p>
            <a:pPr algn="ctr"/>
          </a:p>
        </p:txBody>
      </p:sp>
      <p:sp>
        <p:nvSpPr>
          <p:cNvPr id="136" name="Rectangle 135"/>
          <p:cNvSpPr/>
          <p:nvPr/>
        </p:nvSpPr>
        <p:spPr>
          <a:xfrm>
            <a:off x="3921176" y="1783080"/>
            <a:ext cx="173736" cy="173736"/>
          </a:xfrm>
          <a:prstGeom prst="rect">
            <a:avLst/>
          </a:prstGeom>
          <a:solidFill>
            <a:srgbClr val="C0392B"/>
          </a:solidFill>
          <a:ln>
            <a:noFill/>
          </a:ln>
        </p:spPr>
        <p:txBody>
          <a:bodyPr rtlCol="0" anchor="ctr"/>
          <a:lstStyle/>
          <a:p>
            <a:pPr algn="ctr"/>
          </a:p>
        </p:txBody>
      </p:sp>
      <p:sp>
        <p:nvSpPr>
          <p:cNvPr id="137" name="Rectangle 136"/>
          <p:cNvSpPr/>
          <p:nvPr/>
        </p:nvSpPr>
        <p:spPr>
          <a:xfrm>
            <a:off x="4140632" y="3758184"/>
            <a:ext cx="173736" cy="173736"/>
          </a:xfrm>
          <a:prstGeom prst="rect">
            <a:avLst/>
          </a:prstGeom>
          <a:solidFill>
            <a:srgbClr val="C0392B"/>
          </a:solidFill>
          <a:ln>
            <a:noFill/>
          </a:ln>
        </p:spPr>
        <p:txBody>
          <a:bodyPr rtlCol="0" anchor="ctr"/>
          <a:lstStyle/>
          <a:p>
            <a:pPr algn="ctr"/>
          </a:p>
        </p:txBody>
      </p:sp>
      <p:sp>
        <p:nvSpPr>
          <p:cNvPr id="138" name="Rectangle 137"/>
          <p:cNvSpPr/>
          <p:nvPr/>
        </p:nvSpPr>
        <p:spPr>
          <a:xfrm>
            <a:off x="4140632" y="3538728"/>
            <a:ext cx="173736" cy="173736"/>
          </a:xfrm>
          <a:prstGeom prst="rect">
            <a:avLst/>
          </a:prstGeom>
          <a:solidFill>
            <a:srgbClr val="C0392B"/>
          </a:solidFill>
          <a:ln>
            <a:noFill/>
          </a:ln>
        </p:spPr>
        <p:txBody>
          <a:bodyPr rtlCol="0" anchor="ctr"/>
          <a:lstStyle/>
          <a:p>
            <a:pPr algn="ctr"/>
          </a:p>
        </p:txBody>
      </p:sp>
      <p:sp>
        <p:nvSpPr>
          <p:cNvPr id="139" name="Rectangle 138"/>
          <p:cNvSpPr/>
          <p:nvPr/>
        </p:nvSpPr>
        <p:spPr>
          <a:xfrm>
            <a:off x="4140632" y="3319272"/>
            <a:ext cx="173736" cy="173736"/>
          </a:xfrm>
          <a:prstGeom prst="rect">
            <a:avLst/>
          </a:prstGeom>
          <a:solidFill>
            <a:srgbClr val="C0392B"/>
          </a:solidFill>
          <a:ln>
            <a:noFill/>
          </a:ln>
        </p:spPr>
        <p:txBody>
          <a:bodyPr rtlCol="0" anchor="ctr"/>
          <a:lstStyle/>
          <a:p>
            <a:pPr algn="ctr"/>
          </a:p>
        </p:txBody>
      </p:sp>
      <p:sp>
        <p:nvSpPr>
          <p:cNvPr id="140" name="Rectangle 139"/>
          <p:cNvSpPr/>
          <p:nvPr/>
        </p:nvSpPr>
        <p:spPr>
          <a:xfrm>
            <a:off x="4140632" y="3099816"/>
            <a:ext cx="173736" cy="173736"/>
          </a:xfrm>
          <a:prstGeom prst="rect">
            <a:avLst/>
          </a:prstGeom>
          <a:solidFill>
            <a:srgbClr val="C0392B"/>
          </a:solidFill>
          <a:ln>
            <a:noFill/>
          </a:ln>
        </p:spPr>
        <p:txBody>
          <a:bodyPr rtlCol="0" anchor="ctr"/>
          <a:lstStyle/>
          <a:p>
            <a:pPr algn="ctr"/>
          </a:p>
        </p:txBody>
      </p:sp>
      <p:sp>
        <p:nvSpPr>
          <p:cNvPr id="141" name="Rectangle 140"/>
          <p:cNvSpPr/>
          <p:nvPr/>
        </p:nvSpPr>
        <p:spPr>
          <a:xfrm>
            <a:off x="4140632" y="2880360"/>
            <a:ext cx="173736" cy="173736"/>
          </a:xfrm>
          <a:prstGeom prst="rect">
            <a:avLst/>
          </a:prstGeom>
          <a:solidFill>
            <a:srgbClr val="C0392B"/>
          </a:solidFill>
          <a:ln>
            <a:noFill/>
          </a:ln>
        </p:spPr>
        <p:txBody>
          <a:bodyPr rtlCol="0" anchor="ctr"/>
          <a:lstStyle/>
          <a:p>
            <a:pPr algn="ctr"/>
          </a:p>
        </p:txBody>
      </p:sp>
      <p:sp>
        <p:nvSpPr>
          <p:cNvPr id="142" name="Rectangle 141"/>
          <p:cNvSpPr/>
          <p:nvPr/>
        </p:nvSpPr>
        <p:spPr>
          <a:xfrm>
            <a:off x="4140632" y="2660904"/>
            <a:ext cx="173736" cy="173736"/>
          </a:xfrm>
          <a:prstGeom prst="rect">
            <a:avLst/>
          </a:prstGeom>
          <a:solidFill>
            <a:srgbClr val="C0392B"/>
          </a:solidFill>
          <a:ln>
            <a:noFill/>
          </a:ln>
        </p:spPr>
        <p:txBody>
          <a:bodyPr rtlCol="0" anchor="ctr"/>
          <a:lstStyle/>
          <a:p>
            <a:pPr algn="ctr"/>
          </a:p>
        </p:txBody>
      </p:sp>
      <p:sp>
        <p:nvSpPr>
          <p:cNvPr id="143" name="Rectangle 142"/>
          <p:cNvSpPr/>
          <p:nvPr/>
        </p:nvSpPr>
        <p:spPr>
          <a:xfrm>
            <a:off x="4140632" y="2441448"/>
            <a:ext cx="173736" cy="173736"/>
          </a:xfrm>
          <a:prstGeom prst="rect">
            <a:avLst/>
          </a:prstGeom>
          <a:solidFill>
            <a:srgbClr val="C0392B"/>
          </a:solidFill>
          <a:ln>
            <a:noFill/>
          </a:ln>
        </p:spPr>
        <p:txBody>
          <a:bodyPr rtlCol="0" anchor="ctr"/>
          <a:lstStyle/>
          <a:p>
            <a:pPr algn="ctr"/>
          </a:p>
        </p:txBody>
      </p:sp>
      <p:sp>
        <p:nvSpPr>
          <p:cNvPr id="144" name="Rectangle 143"/>
          <p:cNvSpPr/>
          <p:nvPr/>
        </p:nvSpPr>
        <p:spPr>
          <a:xfrm>
            <a:off x="4140632" y="2221992"/>
            <a:ext cx="173736" cy="173736"/>
          </a:xfrm>
          <a:prstGeom prst="rect">
            <a:avLst/>
          </a:prstGeom>
          <a:solidFill>
            <a:srgbClr val="C0392B"/>
          </a:solidFill>
          <a:ln>
            <a:noFill/>
          </a:ln>
        </p:spPr>
        <p:txBody>
          <a:bodyPr rtlCol="0" anchor="ctr"/>
          <a:lstStyle/>
          <a:p>
            <a:pPr algn="ctr"/>
          </a:p>
        </p:txBody>
      </p:sp>
      <p:sp>
        <p:nvSpPr>
          <p:cNvPr id="145" name="Rectangle 144"/>
          <p:cNvSpPr/>
          <p:nvPr/>
        </p:nvSpPr>
        <p:spPr>
          <a:xfrm>
            <a:off x="4140632" y="2002536"/>
            <a:ext cx="173736" cy="173736"/>
          </a:xfrm>
          <a:prstGeom prst="rect">
            <a:avLst/>
          </a:prstGeom>
          <a:solidFill>
            <a:srgbClr val="C0392B"/>
          </a:solidFill>
          <a:ln>
            <a:noFill/>
          </a:ln>
        </p:spPr>
        <p:txBody>
          <a:bodyPr rtlCol="0" anchor="ctr"/>
          <a:lstStyle/>
          <a:p>
            <a:pPr algn="ctr"/>
          </a:p>
        </p:txBody>
      </p:sp>
      <p:sp>
        <p:nvSpPr>
          <p:cNvPr id="146" name="Rectangle 145"/>
          <p:cNvSpPr/>
          <p:nvPr/>
        </p:nvSpPr>
        <p:spPr>
          <a:xfrm>
            <a:off x="4140632" y="1783080"/>
            <a:ext cx="173736" cy="173736"/>
          </a:xfrm>
          <a:prstGeom prst="rect">
            <a:avLst/>
          </a:prstGeom>
          <a:solidFill>
            <a:srgbClr val="C0392B"/>
          </a:solidFill>
          <a:ln>
            <a:noFill/>
          </a:ln>
        </p:spPr>
        <p:txBody>
          <a:bodyPr rtlCol="0" anchor="ctr"/>
          <a:lstStyle/>
          <a:p>
            <a:pPr algn="ctr"/>
          </a:p>
        </p:txBody>
      </p:sp>
      <p:sp>
        <p:nvSpPr>
          <p:cNvPr id="147" name="Rectangle 146"/>
          <p:cNvSpPr/>
          <p:nvPr/>
        </p:nvSpPr>
        <p:spPr>
          <a:xfrm>
            <a:off x="4360088" y="3758184"/>
            <a:ext cx="173736" cy="173736"/>
          </a:xfrm>
          <a:prstGeom prst="rect">
            <a:avLst/>
          </a:prstGeom>
          <a:solidFill>
            <a:srgbClr val="C0392B"/>
          </a:solidFill>
          <a:ln>
            <a:noFill/>
          </a:ln>
        </p:spPr>
        <p:txBody>
          <a:bodyPr rtlCol="0" anchor="ctr"/>
          <a:lstStyle/>
          <a:p>
            <a:pPr algn="ctr"/>
          </a:p>
        </p:txBody>
      </p:sp>
      <p:sp>
        <p:nvSpPr>
          <p:cNvPr id="148" name="Rectangle 147"/>
          <p:cNvSpPr/>
          <p:nvPr/>
        </p:nvSpPr>
        <p:spPr>
          <a:xfrm>
            <a:off x="4360088" y="3538728"/>
            <a:ext cx="173736" cy="173736"/>
          </a:xfrm>
          <a:prstGeom prst="rect">
            <a:avLst/>
          </a:prstGeom>
          <a:solidFill>
            <a:srgbClr val="C0392B"/>
          </a:solidFill>
          <a:ln>
            <a:noFill/>
          </a:ln>
        </p:spPr>
        <p:txBody>
          <a:bodyPr rtlCol="0" anchor="ctr"/>
          <a:lstStyle/>
          <a:p>
            <a:pPr algn="ctr"/>
          </a:p>
        </p:txBody>
      </p:sp>
      <p:sp>
        <p:nvSpPr>
          <p:cNvPr id="149" name="Rectangle 148"/>
          <p:cNvSpPr/>
          <p:nvPr/>
        </p:nvSpPr>
        <p:spPr>
          <a:xfrm>
            <a:off x="4360088" y="3319272"/>
            <a:ext cx="173736" cy="173736"/>
          </a:xfrm>
          <a:prstGeom prst="rect">
            <a:avLst/>
          </a:prstGeom>
          <a:solidFill>
            <a:srgbClr val="C0392B"/>
          </a:solidFill>
          <a:ln>
            <a:noFill/>
          </a:ln>
        </p:spPr>
        <p:txBody>
          <a:bodyPr rtlCol="0" anchor="ctr"/>
          <a:lstStyle/>
          <a:p>
            <a:pPr algn="ctr"/>
          </a:p>
        </p:txBody>
      </p:sp>
      <p:sp>
        <p:nvSpPr>
          <p:cNvPr id="150" name="Rectangle 149"/>
          <p:cNvSpPr/>
          <p:nvPr/>
        </p:nvSpPr>
        <p:spPr>
          <a:xfrm>
            <a:off x="4360088" y="3099816"/>
            <a:ext cx="173736" cy="173736"/>
          </a:xfrm>
          <a:prstGeom prst="rect">
            <a:avLst/>
          </a:prstGeom>
          <a:solidFill>
            <a:srgbClr val="C0392B"/>
          </a:solidFill>
          <a:ln>
            <a:noFill/>
          </a:ln>
        </p:spPr>
        <p:txBody>
          <a:bodyPr rtlCol="0" anchor="ctr"/>
          <a:lstStyle/>
          <a:p>
            <a:pPr algn="ctr"/>
          </a:p>
        </p:txBody>
      </p:sp>
      <p:sp>
        <p:nvSpPr>
          <p:cNvPr id="151" name="Rectangle 150"/>
          <p:cNvSpPr/>
          <p:nvPr/>
        </p:nvSpPr>
        <p:spPr>
          <a:xfrm>
            <a:off x="4360088" y="2880360"/>
            <a:ext cx="173736" cy="173736"/>
          </a:xfrm>
          <a:prstGeom prst="rect">
            <a:avLst/>
          </a:prstGeom>
          <a:solidFill>
            <a:srgbClr val="C0392B"/>
          </a:solidFill>
          <a:ln>
            <a:noFill/>
          </a:ln>
        </p:spPr>
        <p:txBody>
          <a:bodyPr rtlCol="0" anchor="ctr"/>
          <a:lstStyle/>
          <a:p>
            <a:pPr algn="ctr"/>
          </a:p>
        </p:txBody>
      </p:sp>
      <p:sp>
        <p:nvSpPr>
          <p:cNvPr id="152" name="Rectangle 151"/>
          <p:cNvSpPr/>
          <p:nvPr/>
        </p:nvSpPr>
        <p:spPr>
          <a:xfrm>
            <a:off x="4360088" y="2660904"/>
            <a:ext cx="173736" cy="173736"/>
          </a:xfrm>
          <a:prstGeom prst="rect">
            <a:avLst/>
          </a:prstGeom>
          <a:solidFill>
            <a:srgbClr val="C0392B"/>
          </a:solidFill>
          <a:ln>
            <a:noFill/>
          </a:ln>
        </p:spPr>
        <p:txBody>
          <a:bodyPr rtlCol="0" anchor="ctr"/>
          <a:lstStyle/>
          <a:p>
            <a:pPr algn="ctr"/>
          </a:p>
        </p:txBody>
      </p:sp>
      <p:sp>
        <p:nvSpPr>
          <p:cNvPr id="153" name="Rectangle 152"/>
          <p:cNvSpPr/>
          <p:nvPr/>
        </p:nvSpPr>
        <p:spPr>
          <a:xfrm>
            <a:off x="4360088" y="2441448"/>
            <a:ext cx="173736" cy="173736"/>
          </a:xfrm>
          <a:prstGeom prst="rect">
            <a:avLst/>
          </a:prstGeom>
          <a:solidFill>
            <a:srgbClr val="C0392B"/>
          </a:solidFill>
          <a:ln>
            <a:noFill/>
          </a:ln>
        </p:spPr>
        <p:txBody>
          <a:bodyPr rtlCol="0" anchor="ctr"/>
          <a:lstStyle/>
          <a:p>
            <a:pPr algn="ctr"/>
          </a:p>
        </p:txBody>
      </p:sp>
      <p:sp>
        <p:nvSpPr>
          <p:cNvPr id="154" name="Rectangle 153"/>
          <p:cNvSpPr/>
          <p:nvPr/>
        </p:nvSpPr>
        <p:spPr>
          <a:xfrm>
            <a:off x="4360088" y="2221992"/>
            <a:ext cx="173736" cy="173736"/>
          </a:xfrm>
          <a:prstGeom prst="rect">
            <a:avLst/>
          </a:prstGeom>
          <a:solidFill>
            <a:srgbClr val="C0392B"/>
          </a:solidFill>
          <a:ln>
            <a:noFill/>
          </a:ln>
        </p:spPr>
        <p:txBody>
          <a:bodyPr rtlCol="0" anchor="ctr"/>
          <a:lstStyle/>
          <a:p>
            <a:pPr algn="ctr"/>
          </a:p>
        </p:txBody>
      </p:sp>
      <p:sp>
        <p:nvSpPr>
          <p:cNvPr id="155" name="Rectangle 154"/>
          <p:cNvSpPr/>
          <p:nvPr/>
        </p:nvSpPr>
        <p:spPr>
          <a:xfrm>
            <a:off x="4360088" y="2002536"/>
            <a:ext cx="173736" cy="173736"/>
          </a:xfrm>
          <a:prstGeom prst="rect">
            <a:avLst/>
          </a:prstGeom>
          <a:solidFill>
            <a:srgbClr val="C0392B"/>
          </a:solidFill>
          <a:ln>
            <a:noFill/>
          </a:ln>
        </p:spPr>
        <p:txBody>
          <a:bodyPr rtlCol="0" anchor="ctr"/>
          <a:lstStyle/>
          <a:p>
            <a:pPr algn="ctr"/>
          </a:p>
        </p:txBody>
      </p:sp>
      <p:sp>
        <p:nvSpPr>
          <p:cNvPr id="156" name="Rectangle 155"/>
          <p:cNvSpPr/>
          <p:nvPr/>
        </p:nvSpPr>
        <p:spPr>
          <a:xfrm>
            <a:off x="4360088" y="1783080"/>
            <a:ext cx="173736" cy="173736"/>
          </a:xfrm>
          <a:prstGeom prst="rect">
            <a:avLst/>
          </a:prstGeom>
          <a:solidFill>
            <a:srgbClr val="C0392B"/>
          </a:solidFill>
          <a:ln>
            <a:noFill/>
          </a:ln>
        </p:spPr>
        <p:txBody>
          <a:bodyPr rtlCol="0" anchor="ctr"/>
          <a:lstStyle/>
          <a:p>
            <a:pPr algn="ctr"/>
          </a:p>
        </p:txBody>
      </p:sp>
      <p:sp>
        <p:nvSpPr>
          <p:cNvPr id="157" name="Rectangle 156"/>
          <p:cNvSpPr/>
          <p:nvPr/>
        </p:nvSpPr>
        <p:spPr>
          <a:xfrm>
            <a:off x="4579544" y="3758184"/>
            <a:ext cx="173736" cy="173736"/>
          </a:xfrm>
          <a:prstGeom prst="rect">
            <a:avLst/>
          </a:prstGeom>
          <a:solidFill>
            <a:srgbClr val="C0392B"/>
          </a:solidFill>
          <a:ln>
            <a:noFill/>
          </a:ln>
        </p:spPr>
        <p:txBody>
          <a:bodyPr rtlCol="0" anchor="ctr"/>
          <a:lstStyle/>
          <a:p>
            <a:pPr algn="ctr"/>
          </a:p>
        </p:txBody>
      </p:sp>
      <p:sp>
        <p:nvSpPr>
          <p:cNvPr id="158" name="Rectangle 157"/>
          <p:cNvSpPr/>
          <p:nvPr/>
        </p:nvSpPr>
        <p:spPr>
          <a:xfrm>
            <a:off x="4579544" y="3538728"/>
            <a:ext cx="173736" cy="173736"/>
          </a:xfrm>
          <a:prstGeom prst="rect">
            <a:avLst/>
          </a:prstGeom>
          <a:solidFill>
            <a:srgbClr val="C0392B"/>
          </a:solidFill>
          <a:ln>
            <a:noFill/>
          </a:ln>
        </p:spPr>
        <p:txBody>
          <a:bodyPr rtlCol="0" anchor="ctr"/>
          <a:lstStyle/>
          <a:p>
            <a:pPr algn="ctr"/>
          </a:p>
        </p:txBody>
      </p:sp>
      <p:sp>
        <p:nvSpPr>
          <p:cNvPr id="159" name="Rectangle 158"/>
          <p:cNvSpPr/>
          <p:nvPr/>
        </p:nvSpPr>
        <p:spPr>
          <a:xfrm>
            <a:off x="4579544" y="3319272"/>
            <a:ext cx="173736" cy="173736"/>
          </a:xfrm>
          <a:prstGeom prst="rect">
            <a:avLst/>
          </a:prstGeom>
          <a:solidFill>
            <a:srgbClr val="C0392B"/>
          </a:solidFill>
          <a:ln>
            <a:noFill/>
          </a:ln>
        </p:spPr>
        <p:txBody>
          <a:bodyPr rtlCol="0" anchor="ctr"/>
          <a:lstStyle/>
          <a:p>
            <a:pPr algn="ctr"/>
          </a:p>
        </p:txBody>
      </p:sp>
      <p:sp>
        <p:nvSpPr>
          <p:cNvPr id="160" name="Rectangle 159"/>
          <p:cNvSpPr/>
          <p:nvPr/>
        </p:nvSpPr>
        <p:spPr>
          <a:xfrm>
            <a:off x="4579544" y="3099816"/>
            <a:ext cx="173736" cy="173736"/>
          </a:xfrm>
          <a:prstGeom prst="rect">
            <a:avLst/>
          </a:prstGeom>
          <a:solidFill>
            <a:srgbClr val="C0392B"/>
          </a:solidFill>
          <a:ln>
            <a:noFill/>
          </a:ln>
        </p:spPr>
        <p:txBody>
          <a:bodyPr rtlCol="0" anchor="ctr"/>
          <a:lstStyle/>
          <a:p>
            <a:pPr algn="ctr"/>
          </a:p>
        </p:txBody>
      </p:sp>
      <p:sp>
        <p:nvSpPr>
          <p:cNvPr id="161" name="Rectangle 160"/>
          <p:cNvSpPr/>
          <p:nvPr/>
        </p:nvSpPr>
        <p:spPr>
          <a:xfrm>
            <a:off x="4579544" y="2880360"/>
            <a:ext cx="173736" cy="173736"/>
          </a:xfrm>
          <a:prstGeom prst="rect">
            <a:avLst/>
          </a:prstGeom>
          <a:solidFill>
            <a:srgbClr val="C0392B"/>
          </a:solidFill>
          <a:ln>
            <a:noFill/>
          </a:ln>
        </p:spPr>
        <p:txBody>
          <a:bodyPr rtlCol="0" anchor="ctr"/>
          <a:lstStyle/>
          <a:p>
            <a:pPr algn="ctr"/>
          </a:p>
        </p:txBody>
      </p:sp>
      <p:sp>
        <p:nvSpPr>
          <p:cNvPr id="162" name="Rectangle 161"/>
          <p:cNvSpPr/>
          <p:nvPr/>
        </p:nvSpPr>
        <p:spPr>
          <a:xfrm>
            <a:off x="4579544" y="2660904"/>
            <a:ext cx="173736" cy="173736"/>
          </a:xfrm>
          <a:prstGeom prst="rect">
            <a:avLst/>
          </a:prstGeom>
          <a:solidFill>
            <a:srgbClr val="C0392B"/>
          </a:solidFill>
          <a:ln>
            <a:noFill/>
          </a:ln>
        </p:spPr>
        <p:txBody>
          <a:bodyPr rtlCol="0" anchor="ctr"/>
          <a:lstStyle/>
          <a:p>
            <a:pPr algn="ctr"/>
          </a:p>
        </p:txBody>
      </p:sp>
      <p:sp>
        <p:nvSpPr>
          <p:cNvPr id="163" name="Rectangle 162"/>
          <p:cNvSpPr/>
          <p:nvPr/>
        </p:nvSpPr>
        <p:spPr>
          <a:xfrm>
            <a:off x="4579544" y="2441448"/>
            <a:ext cx="173736" cy="173736"/>
          </a:xfrm>
          <a:prstGeom prst="rect">
            <a:avLst/>
          </a:prstGeom>
          <a:solidFill>
            <a:srgbClr val="C0392B"/>
          </a:solidFill>
          <a:ln>
            <a:noFill/>
          </a:ln>
        </p:spPr>
        <p:txBody>
          <a:bodyPr rtlCol="0" anchor="ctr"/>
          <a:lstStyle/>
          <a:p>
            <a:pPr algn="ctr"/>
          </a:p>
        </p:txBody>
      </p:sp>
      <p:sp>
        <p:nvSpPr>
          <p:cNvPr id="164" name="Rectangle 163"/>
          <p:cNvSpPr/>
          <p:nvPr/>
        </p:nvSpPr>
        <p:spPr>
          <a:xfrm>
            <a:off x="4579544" y="2221992"/>
            <a:ext cx="173736" cy="173736"/>
          </a:xfrm>
          <a:prstGeom prst="rect">
            <a:avLst/>
          </a:prstGeom>
          <a:solidFill>
            <a:srgbClr val="C0392B"/>
          </a:solidFill>
          <a:ln>
            <a:noFill/>
          </a:ln>
        </p:spPr>
        <p:txBody>
          <a:bodyPr rtlCol="0" anchor="ctr"/>
          <a:lstStyle/>
          <a:p>
            <a:pPr algn="ctr"/>
          </a:p>
        </p:txBody>
      </p:sp>
      <p:sp>
        <p:nvSpPr>
          <p:cNvPr id="165" name="Rectangle 164"/>
          <p:cNvSpPr/>
          <p:nvPr/>
        </p:nvSpPr>
        <p:spPr>
          <a:xfrm>
            <a:off x="4579544" y="2002536"/>
            <a:ext cx="173736" cy="173736"/>
          </a:xfrm>
          <a:prstGeom prst="rect">
            <a:avLst/>
          </a:prstGeom>
          <a:solidFill>
            <a:srgbClr val="C0392B"/>
          </a:solidFill>
          <a:ln>
            <a:noFill/>
          </a:ln>
        </p:spPr>
        <p:txBody>
          <a:bodyPr rtlCol="0" anchor="ctr"/>
          <a:lstStyle/>
          <a:p>
            <a:pPr algn="ctr"/>
          </a:p>
        </p:txBody>
      </p:sp>
      <p:sp>
        <p:nvSpPr>
          <p:cNvPr id="166" name="Rectangle 165"/>
          <p:cNvSpPr/>
          <p:nvPr/>
        </p:nvSpPr>
        <p:spPr>
          <a:xfrm>
            <a:off x="4579544" y="1783080"/>
            <a:ext cx="173736" cy="173736"/>
          </a:xfrm>
          <a:prstGeom prst="rect">
            <a:avLst/>
          </a:prstGeom>
          <a:solidFill>
            <a:srgbClr val="C0392B"/>
          </a:solidFill>
          <a:ln>
            <a:noFill/>
          </a:ln>
        </p:spPr>
        <p:txBody>
          <a:bodyPr rtlCol="0" anchor="ctr"/>
          <a:lstStyle/>
          <a:p>
            <a:pPr algn="ctr"/>
          </a:p>
        </p:txBody>
      </p:sp>
      <p:sp>
        <p:nvSpPr>
          <p:cNvPr id="167" name="Rectangle 166"/>
          <p:cNvSpPr/>
          <p:nvPr/>
        </p:nvSpPr>
        <p:spPr>
          <a:xfrm>
            <a:off x="4799000" y="3758184"/>
            <a:ext cx="173736" cy="173736"/>
          </a:xfrm>
          <a:prstGeom prst="rect">
            <a:avLst/>
          </a:prstGeom>
          <a:solidFill>
            <a:srgbClr val="C0392B"/>
          </a:solidFill>
          <a:ln>
            <a:noFill/>
          </a:ln>
        </p:spPr>
        <p:txBody>
          <a:bodyPr rtlCol="0" anchor="ctr"/>
          <a:lstStyle/>
          <a:p>
            <a:pPr algn="ctr"/>
          </a:p>
        </p:txBody>
      </p:sp>
      <p:sp>
        <p:nvSpPr>
          <p:cNvPr id="168" name="Rectangle 167"/>
          <p:cNvSpPr/>
          <p:nvPr/>
        </p:nvSpPr>
        <p:spPr>
          <a:xfrm>
            <a:off x="4799000" y="3538728"/>
            <a:ext cx="173736" cy="173736"/>
          </a:xfrm>
          <a:prstGeom prst="rect">
            <a:avLst/>
          </a:prstGeom>
          <a:solidFill>
            <a:srgbClr val="C0392B"/>
          </a:solidFill>
          <a:ln>
            <a:noFill/>
          </a:ln>
        </p:spPr>
        <p:txBody>
          <a:bodyPr rtlCol="0" anchor="ctr"/>
          <a:lstStyle/>
          <a:p>
            <a:pPr algn="ctr"/>
          </a:p>
        </p:txBody>
      </p:sp>
      <p:sp>
        <p:nvSpPr>
          <p:cNvPr id="169" name="Rectangle 168"/>
          <p:cNvSpPr/>
          <p:nvPr/>
        </p:nvSpPr>
        <p:spPr>
          <a:xfrm>
            <a:off x="4799000" y="3319272"/>
            <a:ext cx="173736" cy="173736"/>
          </a:xfrm>
          <a:prstGeom prst="rect">
            <a:avLst/>
          </a:prstGeom>
          <a:solidFill>
            <a:srgbClr val="C0392B"/>
          </a:solidFill>
          <a:ln>
            <a:noFill/>
          </a:ln>
        </p:spPr>
        <p:txBody>
          <a:bodyPr rtlCol="0" anchor="ctr"/>
          <a:lstStyle/>
          <a:p>
            <a:pPr algn="ctr"/>
          </a:p>
        </p:txBody>
      </p:sp>
      <p:sp>
        <p:nvSpPr>
          <p:cNvPr id="170" name="Rectangle 169"/>
          <p:cNvSpPr/>
          <p:nvPr/>
        </p:nvSpPr>
        <p:spPr>
          <a:xfrm>
            <a:off x="4799000" y="3099816"/>
            <a:ext cx="173736" cy="173736"/>
          </a:xfrm>
          <a:prstGeom prst="rect">
            <a:avLst/>
          </a:prstGeom>
          <a:solidFill>
            <a:srgbClr val="C0392B"/>
          </a:solidFill>
          <a:ln>
            <a:noFill/>
          </a:ln>
        </p:spPr>
        <p:txBody>
          <a:bodyPr rtlCol="0" anchor="ctr"/>
          <a:lstStyle/>
          <a:p>
            <a:pPr algn="ctr"/>
          </a:p>
        </p:txBody>
      </p:sp>
      <p:sp>
        <p:nvSpPr>
          <p:cNvPr id="171" name="Rectangle 170"/>
          <p:cNvSpPr/>
          <p:nvPr/>
        </p:nvSpPr>
        <p:spPr>
          <a:xfrm>
            <a:off x="4799000" y="2880360"/>
            <a:ext cx="173736" cy="173736"/>
          </a:xfrm>
          <a:prstGeom prst="rect">
            <a:avLst/>
          </a:prstGeom>
          <a:solidFill>
            <a:srgbClr val="C0392B"/>
          </a:solidFill>
          <a:ln>
            <a:noFill/>
          </a:ln>
        </p:spPr>
        <p:txBody>
          <a:bodyPr rtlCol="0" anchor="ctr"/>
          <a:lstStyle/>
          <a:p>
            <a:pPr algn="ctr"/>
          </a:p>
        </p:txBody>
      </p:sp>
      <p:sp>
        <p:nvSpPr>
          <p:cNvPr id="172" name="Rectangle 171"/>
          <p:cNvSpPr/>
          <p:nvPr/>
        </p:nvSpPr>
        <p:spPr>
          <a:xfrm>
            <a:off x="4799000" y="2660904"/>
            <a:ext cx="173736" cy="173736"/>
          </a:xfrm>
          <a:prstGeom prst="rect">
            <a:avLst/>
          </a:prstGeom>
          <a:solidFill>
            <a:srgbClr val="C0392B"/>
          </a:solidFill>
          <a:ln>
            <a:noFill/>
          </a:ln>
        </p:spPr>
        <p:txBody>
          <a:bodyPr rtlCol="0" anchor="ctr"/>
          <a:lstStyle/>
          <a:p>
            <a:pPr algn="ctr"/>
          </a:p>
        </p:txBody>
      </p:sp>
      <p:sp>
        <p:nvSpPr>
          <p:cNvPr id="173" name="Rectangle 172"/>
          <p:cNvSpPr/>
          <p:nvPr/>
        </p:nvSpPr>
        <p:spPr>
          <a:xfrm>
            <a:off x="4799000" y="2441448"/>
            <a:ext cx="173736" cy="173736"/>
          </a:xfrm>
          <a:prstGeom prst="rect">
            <a:avLst/>
          </a:prstGeom>
          <a:solidFill>
            <a:srgbClr val="C0392B"/>
          </a:solidFill>
          <a:ln>
            <a:noFill/>
          </a:ln>
        </p:spPr>
        <p:txBody>
          <a:bodyPr rtlCol="0" anchor="ctr"/>
          <a:lstStyle/>
          <a:p>
            <a:pPr algn="ctr"/>
          </a:p>
        </p:txBody>
      </p:sp>
      <p:sp>
        <p:nvSpPr>
          <p:cNvPr id="174" name="Rectangle 173"/>
          <p:cNvSpPr/>
          <p:nvPr/>
        </p:nvSpPr>
        <p:spPr>
          <a:xfrm>
            <a:off x="4799000" y="2221992"/>
            <a:ext cx="173736" cy="173736"/>
          </a:xfrm>
          <a:prstGeom prst="rect">
            <a:avLst/>
          </a:prstGeom>
          <a:solidFill>
            <a:srgbClr val="C0392B"/>
          </a:solidFill>
          <a:ln>
            <a:noFill/>
          </a:ln>
        </p:spPr>
        <p:txBody>
          <a:bodyPr rtlCol="0" anchor="ctr"/>
          <a:lstStyle/>
          <a:p>
            <a:pPr algn="ctr"/>
          </a:p>
        </p:txBody>
      </p:sp>
      <p:sp>
        <p:nvSpPr>
          <p:cNvPr id="175" name="Rectangle 174"/>
          <p:cNvSpPr/>
          <p:nvPr/>
        </p:nvSpPr>
        <p:spPr>
          <a:xfrm>
            <a:off x="4799000" y="2002536"/>
            <a:ext cx="173736" cy="173736"/>
          </a:xfrm>
          <a:prstGeom prst="rect">
            <a:avLst/>
          </a:prstGeom>
          <a:solidFill>
            <a:srgbClr val="C0392B"/>
          </a:solidFill>
          <a:ln>
            <a:noFill/>
          </a:ln>
        </p:spPr>
        <p:txBody>
          <a:bodyPr rtlCol="0" anchor="ctr"/>
          <a:lstStyle/>
          <a:p>
            <a:pPr algn="ctr"/>
          </a:p>
        </p:txBody>
      </p:sp>
      <p:sp>
        <p:nvSpPr>
          <p:cNvPr id="176" name="Rectangle 175"/>
          <p:cNvSpPr/>
          <p:nvPr/>
        </p:nvSpPr>
        <p:spPr>
          <a:xfrm>
            <a:off x="4799000" y="1783080"/>
            <a:ext cx="173736" cy="173736"/>
          </a:xfrm>
          <a:prstGeom prst="rect">
            <a:avLst/>
          </a:prstGeom>
          <a:solidFill>
            <a:srgbClr val="C0392B"/>
          </a:solidFill>
          <a:ln>
            <a:noFill/>
          </a:ln>
        </p:spPr>
        <p:txBody>
          <a:bodyPr rtlCol="0" anchor="ctr"/>
          <a:lstStyle/>
          <a:p>
            <a:pPr algn="ctr"/>
          </a:p>
        </p:txBody>
      </p:sp>
      <p:sp>
        <p:nvSpPr>
          <p:cNvPr id="177" name="Rectangle 176"/>
          <p:cNvSpPr/>
          <p:nvPr/>
        </p:nvSpPr>
        <p:spPr>
          <a:xfrm>
            <a:off x="5018456" y="3758184"/>
            <a:ext cx="173736" cy="173736"/>
          </a:xfrm>
          <a:prstGeom prst="rect">
            <a:avLst/>
          </a:prstGeom>
          <a:solidFill>
            <a:srgbClr val="C0392B"/>
          </a:solidFill>
          <a:ln>
            <a:noFill/>
          </a:ln>
        </p:spPr>
        <p:txBody>
          <a:bodyPr rtlCol="0" anchor="ctr"/>
          <a:lstStyle/>
          <a:p>
            <a:pPr algn="ctr"/>
          </a:p>
        </p:txBody>
      </p:sp>
      <p:sp>
        <p:nvSpPr>
          <p:cNvPr id="178" name="Rectangle 177"/>
          <p:cNvSpPr/>
          <p:nvPr/>
        </p:nvSpPr>
        <p:spPr>
          <a:xfrm>
            <a:off x="5018456" y="3538728"/>
            <a:ext cx="173736" cy="173736"/>
          </a:xfrm>
          <a:prstGeom prst="rect">
            <a:avLst/>
          </a:prstGeom>
          <a:solidFill>
            <a:srgbClr val="C0392B"/>
          </a:solidFill>
          <a:ln>
            <a:noFill/>
          </a:ln>
        </p:spPr>
        <p:txBody>
          <a:bodyPr rtlCol="0" anchor="ctr"/>
          <a:lstStyle/>
          <a:p>
            <a:pPr algn="ctr"/>
          </a:p>
        </p:txBody>
      </p:sp>
      <p:sp>
        <p:nvSpPr>
          <p:cNvPr id="179" name="Rectangle 178"/>
          <p:cNvSpPr/>
          <p:nvPr/>
        </p:nvSpPr>
        <p:spPr>
          <a:xfrm>
            <a:off x="5018456" y="3319272"/>
            <a:ext cx="173736" cy="173736"/>
          </a:xfrm>
          <a:prstGeom prst="rect">
            <a:avLst/>
          </a:prstGeom>
          <a:solidFill>
            <a:srgbClr val="C0392B"/>
          </a:solidFill>
          <a:ln>
            <a:noFill/>
          </a:ln>
        </p:spPr>
        <p:txBody>
          <a:bodyPr rtlCol="0" anchor="ctr"/>
          <a:lstStyle/>
          <a:p>
            <a:pPr algn="ctr"/>
          </a:p>
        </p:txBody>
      </p:sp>
      <p:sp>
        <p:nvSpPr>
          <p:cNvPr id="180" name="Rectangle 179"/>
          <p:cNvSpPr/>
          <p:nvPr/>
        </p:nvSpPr>
        <p:spPr>
          <a:xfrm>
            <a:off x="5018456" y="3099816"/>
            <a:ext cx="173736" cy="173736"/>
          </a:xfrm>
          <a:prstGeom prst="rect">
            <a:avLst/>
          </a:prstGeom>
          <a:solidFill>
            <a:srgbClr val="C0392B"/>
          </a:solidFill>
          <a:ln>
            <a:noFill/>
          </a:ln>
        </p:spPr>
        <p:txBody>
          <a:bodyPr rtlCol="0" anchor="ctr"/>
          <a:lstStyle/>
          <a:p>
            <a:pPr algn="ctr"/>
          </a:p>
        </p:txBody>
      </p:sp>
      <p:sp>
        <p:nvSpPr>
          <p:cNvPr id="181" name="Rectangle 180"/>
          <p:cNvSpPr/>
          <p:nvPr/>
        </p:nvSpPr>
        <p:spPr>
          <a:xfrm>
            <a:off x="5018456" y="2880360"/>
            <a:ext cx="173736" cy="173736"/>
          </a:xfrm>
          <a:prstGeom prst="rect">
            <a:avLst/>
          </a:prstGeom>
          <a:solidFill>
            <a:srgbClr val="C0392B"/>
          </a:solidFill>
          <a:ln>
            <a:noFill/>
          </a:ln>
        </p:spPr>
        <p:txBody>
          <a:bodyPr rtlCol="0" anchor="ctr"/>
          <a:lstStyle/>
          <a:p>
            <a:pPr algn="ctr"/>
          </a:p>
        </p:txBody>
      </p:sp>
      <p:sp>
        <p:nvSpPr>
          <p:cNvPr id="182" name="Rectangle 181"/>
          <p:cNvSpPr/>
          <p:nvPr/>
        </p:nvSpPr>
        <p:spPr>
          <a:xfrm>
            <a:off x="5018456" y="2660904"/>
            <a:ext cx="173736" cy="173736"/>
          </a:xfrm>
          <a:prstGeom prst="rect">
            <a:avLst/>
          </a:prstGeom>
          <a:solidFill>
            <a:srgbClr val="C0392B"/>
          </a:solidFill>
          <a:ln>
            <a:noFill/>
          </a:ln>
        </p:spPr>
        <p:txBody>
          <a:bodyPr rtlCol="0" anchor="ctr"/>
          <a:lstStyle/>
          <a:p>
            <a:pPr algn="ctr"/>
          </a:p>
        </p:txBody>
      </p:sp>
      <p:sp>
        <p:nvSpPr>
          <p:cNvPr id="183" name="Rectangle 182"/>
          <p:cNvSpPr/>
          <p:nvPr/>
        </p:nvSpPr>
        <p:spPr>
          <a:xfrm>
            <a:off x="5018456" y="2441448"/>
            <a:ext cx="173736" cy="173736"/>
          </a:xfrm>
          <a:prstGeom prst="rect">
            <a:avLst/>
          </a:prstGeom>
          <a:solidFill>
            <a:srgbClr val="C0392B"/>
          </a:solidFill>
          <a:ln>
            <a:noFill/>
          </a:ln>
        </p:spPr>
        <p:txBody>
          <a:bodyPr rtlCol="0" anchor="ctr"/>
          <a:lstStyle/>
          <a:p>
            <a:pPr algn="ctr"/>
          </a:p>
        </p:txBody>
      </p:sp>
      <p:sp>
        <p:nvSpPr>
          <p:cNvPr id="184" name="Rectangle 183"/>
          <p:cNvSpPr/>
          <p:nvPr/>
        </p:nvSpPr>
        <p:spPr>
          <a:xfrm>
            <a:off x="5018456" y="2221992"/>
            <a:ext cx="173736" cy="173736"/>
          </a:xfrm>
          <a:prstGeom prst="rect">
            <a:avLst/>
          </a:prstGeom>
          <a:solidFill>
            <a:srgbClr val="C0392B"/>
          </a:solidFill>
          <a:ln>
            <a:noFill/>
          </a:ln>
        </p:spPr>
        <p:txBody>
          <a:bodyPr rtlCol="0" anchor="ctr"/>
          <a:lstStyle/>
          <a:p>
            <a:pPr algn="ctr"/>
          </a:p>
        </p:txBody>
      </p:sp>
      <p:sp>
        <p:nvSpPr>
          <p:cNvPr id="185" name="Rectangle 184"/>
          <p:cNvSpPr/>
          <p:nvPr/>
        </p:nvSpPr>
        <p:spPr>
          <a:xfrm>
            <a:off x="5018456" y="2002536"/>
            <a:ext cx="173736" cy="173736"/>
          </a:xfrm>
          <a:prstGeom prst="rect">
            <a:avLst/>
          </a:prstGeom>
          <a:solidFill>
            <a:srgbClr val="C0392B"/>
          </a:solidFill>
          <a:ln>
            <a:noFill/>
          </a:ln>
        </p:spPr>
        <p:txBody>
          <a:bodyPr rtlCol="0" anchor="ctr"/>
          <a:lstStyle/>
          <a:p>
            <a:pPr algn="ctr"/>
          </a:p>
        </p:txBody>
      </p:sp>
      <p:sp>
        <p:nvSpPr>
          <p:cNvPr id="186" name="Rectangle 185"/>
          <p:cNvSpPr/>
          <p:nvPr/>
        </p:nvSpPr>
        <p:spPr>
          <a:xfrm>
            <a:off x="5018456" y="1783080"/>
            <a:ext cx="173736" cy="173736"/>
          </a:xfrm>
          <a:prstGeom prst="rect">
            <a:avLst/>
          </a:prstGeom>
          <a:solidFill>
            <a:srgbClr val="C0392B"/>
          </a:solidFill>
          <a:ln>
            <a:noFill/>
          </a:ln>
        </p:spPr>
        <p:txBody>
          <a:bodyPr rtlCol="0" anchor="ctr"/>
          <a:lstStyle/>
          <a:p>
            <a:pPr algn="ctr"/>
          </a:p>
        </p:txBody>
      </p:sp>
      <p:sp>
        <p:nvSpPr>
          <p:cNvPr id="187" name="Rectangle 186"/>
          <p:cNvSpPr/>
          <p:nvPr/>
        </p:nvSpPr>
        <p:spPr>
          <a:xfrm>
            <a:off x="5237912" y="3758184"/>
            <a:ext cx="173736" cy="173736"/>
          </a:xfrm>
          <a:prstGeom prst="rect">
            <a:avLst/>
          </a:prstGeom>
          <a:solidFill>
            <a:srgbClr val="C0392B"/>
          </a:solidFill>
          <a:ln>
            <a:noFill/>
          </a:ln>
        </p:spPr>
        <p:txBody>
          <a:bodyPr rtlCol="0" anchor="ctr"/>
          <a:lstStyle/>
          <a:p>
            <a:pPr algn="ctr"/>
          </a:p>
        </p:txBody>
      </p:sp>
      <p:sp>
        <p:nvSpPr>
          <p:cNvPr id="188" name="Rectangle 187"/>
          <p:cNvSpPr/>
          <p:nvPr/>
        </p:nvSpPr>
        <p:spPr>
          <a:xfrm>
            <a:off x="5237912" y="3538728"/>
            <a:ext cx="173736" cy="173736"/>
          </a:xfrm>
          <a:prstGeom prst="rect">
            <a:avLst/>
          </a:prstGeom>
          <a:solidFill>
            <a:srgbClr val="C0392B"/>
          </a:solidFill>
          <a:ln>
            <a:noFill/>
          </a:ln>
        </p:spPr>
        <p:txBody>
          <a:bodyPr rtlCol="0" anchor="ctr"/>
          <a:lstStyle/>
          <a:p>
            <a:pPr algn="ctr"/>
          </a:p>
        </p:txBody>
      </p:sp>
      <p:sp>
        <p:nvSpPr>
          <p:cNvPr id="189" name="Rectangle 188"/>
          <p:cNvSpPr/>
          <p:nvPr/>
        </p:nvSpPr>
        <p:spPr>
          <a:xfrm>
            <a:off x="5237912" y="3319272"/>
            <a:ext cx="173736" cy="173736"/>
          </a:xfrm>
          <a:prstGeom prst="rect">
            <a:avLst/>
          </a:prstGeom>
          <a:solidFill>
            <a:srgbClr val="C0392B"/>
          </a:solidFill>
          <a:ln>
            <a:noFill/>
          </a:ln>
        </p:spPr>
        <p:txBody>
          <a:bodyPr rtlCol="0" anchor="ctr"/>
          <a:lstStyle/>
          <a:p>
            <a:pPr algn="ctr"/>
          </a:p>
        </p:txBody>
      </p:sp>
      <p:sp>
        <p:nvSpPr>
          <p:cNvPr id="190" name="Rectangle 189"/>
          <p:cNvSpPr/>
          <p:nvPr/>
        </p:nvSpPr>
        <p:spPr>
          <a:xfrm>
            <a:off x="5237912" y="3099816"/>
            <a:ext cx="173736" cy="173736"/>
          </a:xfrm>
          <a:prstGeom prst="rect">
            <a:avLst/>
          </a:prstGeom>
          <a:solidFill>
            <a:srgbClr val="C0392B"/>
          </a:solidFill>
          <a:ln>
            <a:noFill/>
          </a:ln>
        </p:spPr>
        <p:txBody>
          <a:bodyPr rtlCol="0" anchor="ctr"/>
          <a:lstStyle/>
          <a:p>
            <a:pPr algn="ctr"/>
          </a:p>
        </p:txBody>
      </p:sp>
      <p:sp>
        <p:nvSpPr>
          <p:cNvPr id="191" name="Rectangle 190"/>
          <p:cNvSpPr/>
          <p:nvPr/>
        </p:nvSpPr>
        <p:spPr>
          <a:xfrm>
            <a:off x="5237912" y="2880360"/>
            <a:ext cx="173736" cy="173736"/>
          </a:xfrm>
          <a:prstGeom prst="rect">
            <a:avLst/>
          </a:prstGeom>
          <a:solidFill>
            <a:srgbClr val="C0392B"/>
          </a:solidFill>
          <a:ln>
            <a:noFill/>
          </a:ln>
        </p:spPr>
        <p:txBody>
          <a:bodyPr rtlCol="0" anchor="ctr"/>
          <a:lstStyle/>
          <a:p>
            <a:pPr algn="ctr"/>
          </a:p>
        </p:txBody>
      </p:sp>
      <p:sp>
        <p:nvSpPr>
          <p:cNvPr id="192" name="Rectangle 191"/>
          <p:cNvSpPr/>
          <p:nvPr/>
        </p:nvSpPr>
        <p:spPr>
          <a:xfrm>
            <a:off x="5237912" y="2660904"/>
            <a:ext cx="173736" cy="173736"/>
          </a:xfrm>
          <a:prstGeom prst="rect">
            <a:avLst/>
          </a:prstGeom>
          <a:solidFill>
            <a:srgbClr val="C0392B"/>
          </a:solidFill>
          <a:ln>
            <a:noFill/>
          </a:ln>
        </p:spPr>
        <p:txBody>
          <a:bodyPr rtlCol="0" anchor="ctr"/>
          <a:lstStyle/>
          <a:p>
            <a:pPr algn="ctr"/>
          </a:p>
        </p:txBody>
      </p:sp>
      <p:sp>
        <p:nvSpPr>
          <p:cNvPr id="193" name="Rectangle 192"/>
          <p:cNvSpPr/>
          <p:nvPr/>
        </p:nvSpPr>
        <p:spPr>
          <a:xfrm>
            <a:off x="5237912" y="2441448"/>
            <a:ext cx="173736" cy="173736"/>
          </a:xfrm>
          <a:prstGeom prst="rect">
            <a:avLst/>
          </a:prstGeom>
          <a:solidFill>
            <a:srgbClr val="C0392B"/>
          </a:solidFill>
          <a:ln>
            <a:noFill/>
          </a:ln>
        </p:spPr>
        <p:txBody>
          <a:bodyPr rtlCol="0" anchor="ctr"/>
          <a:lstStyle/>
          <a:p>
            <a:pPr algn="ctr"/>
          </a:p>
        </p:txBody>
      </p:sp>
      <p:sp>
        <p:nvSpPr>
          <p:cNvPr id="194" name="Rectangle 193"/>
          <p:cNvSpPr/>
          <p:nvPr/>
        </p:nvSpPr>
        <p:spPr>
          <a:xfrm>
            <a:off x="5237912" y="2221992"/>
            <a:ext cx="173736" cy="173736"/>
          </a:xfrm>
          <a:prstGeom prst="rect">
            <a:avLst/>
          </a:prstGeom>
          <a:solidFill>
            <a:srgbClr val="C0392B"/>
          </a:solidFill>
          <a:ln>
            <a:noFill/>
          </a:ln>
        </p:spPr>
        <p:txBody>
          <a:bodyPr rtlCol="0" anchor="ctr"/>
          <a:lstStyle/>
          <a:p>
            <a:pPr algn="ctr"/>
          </a:p>
        </p:txBody>
      </p:sp>
      <p:sp>
        <p:nvSpPr>
          <p:cNvPr id="195" name="Rectangle 194"/>
          <p:cNvSpPr/>
          <p:nvPr/>
        </p:nvSpPr>
        <p:spPr>
          <a:xfrm>
            <a:off x="5237912" y="2002536"/>
            <a:ext cx="173736" cy="173736"/>
          </a:xfrm>
          <a:prstGeom prst="rect">
            <a:avLst/>
          </a:prstGeom>
          <a:solidFill>
            <a:srgbClr val="C0392B"/>
          </a:solidFill>
          <a:ln>
            <a:noFill/>
          </a:ln>
        </p:spPr>
        <p:txBody>
          <a:bodyPr rtlCol="0" anchor="ctr"/>
          <a:lstStyle/>
          <a:p>
            <a:pPr algn="ctr"/>
          </a:p>
        </p:txBody>
      </p:sp>
      <p:sp>
        <p:nvSpPr>
          <p:cNvPr id="196" name="Rectangle 195"/>
          <p:cNvSpPr/>
          <p:nvPr/>
        </p:nvSpPr>
        <p:spPr>
          <a:xfrm>
            <a:off x="5237912" y="1783080"/>
            <a:ext cx="173736" cy="173736"/>
          </a:xfrm>
          <a:prstGeom prst="rect">
            <a:avLst/>
          </a:prstGeom>
          <a:solidFill>
            <a:srgbClr val="C0392B"/>
          </a:solidFill>
          <a:ln>
            <a:noFill/>
          </a:ln>
        </p:spPr>
        <p:txBody>
          <a:bodyPr rtlCol="0" anchor="ctr"/>
          <a:lstStyle/>
          <a:p>
            <a:pPr algn="ctr"/>
          </a:p>
        </p:txBody>
      </p:sp>
      <p:sp>
        <p:nvSpPr>
          <p:cNvPr id="197" name="Rectangle 196"/>
          <p:cNvSpPr/>
          <p:nvPr/>
        </p:nvSpPr>
        <p:spPr>
          <a:xfrm>
            <a:off x="5457368" y="3758184"/>
            <a:ext cx="173736" cy="173736"/>
          </a:xfrm>
          <a:prstGeom prst="rect">
            <a:avLst/>
          </a:prstGeom>
          <a:solidFill>
            <a:srgbClr val="C0392B"/>
          </a:solidFill>
          <a:ln>
            <a:noFill/>
          </a:ln>
        </p:spPr>
        <p:txBody>
          <a:bodyPr rtlCol="0" anchor="ctr"/>
          <a:lstStyle/>
          <a:p>
            <a:pPr algn="ctr"/>
          </a:p>
        </p:txBody>
      </p:sp>
      <p:sp>
        <p:nvSpPr>
          <p:cNvPr id="198" name="Rectangle 197"/>
          <p:cNvSpPr/>
          <p:nvPr/>
        </p:nvSpPr>
        <p:spPr>
          <a:xfrm>
            <a:off x="5457368" y="3538728"/>
            <a:ext cx="173736" cy="173736"/>
          </a:xfrm>
          <a:prstGeom prst="rect">
            <a:avLst/>
          </a:prstGeom>
          <a:solidFill>
            <a:srgbClr val="C0392B"/>
          </a:solidFill>
          <a:ln>
            <a:noFill/>
          </a:ln>
        </p:spPr>
        <p:txBody>
          <a:bodyPr rtlCol="0" anchor="ctr"/>
          <a:lstStyle/>
          <a:p>
            <a:pPr algn="ctr"/>
          </a:p>
        </p:txBody>
      </p:sp>
      <p:sp>
        <p:nvSpPr>
          <p:cNvPr id="199" name="Rectangle 198"/>
          <p:cNvSpPr/>
          <p:nvPr/>
        </p:nvSpPr>
        <p:spPr>
          <a:xfrm>
            <a:off x="5457368" y="3319272"/>
            <a:ext cx="173736" cy="173736"/>
          </a:xfrm>
          <a:prstGeom prst="rect">
            <a:avLst/>
          </a:prstGeom>
          <a:solidFill>
            <a:srgbClr val="C0392B"/>
          </a:solidFill>
          <a:ln>
            <a:noFill/>
          </a:ln>
        </p:spPr>
        <p:txBody>
          <a:bodyPr rtlCol="0" anchor="ctr"/>
          <a:lstStyle/>
          <a:p>
            <a:pPr algn="ctr"/>
          </a:p>
        </p:txBody>
      </p:sp>
      <p:sp>
        <p:nvSpPr>
          <p:cNvPr id="200" name="Rectangle 199"/>
          <p:cNvSpPr/>
          <p:nvPr/>
        </p:nvSpPr>
        <p:spPr>
          <a:xfrm>
            <a:off x="5457368" y="3099816"/>
            <a:ext cx="173736" cy="173736"/>
          </a:xfrm>
          <a:prstGeom prst="rect">
            <a:avLst/>
          </a:prstGeom>
          <a:solidFill>
            <a:srgbClr val="C0392B"/>
          </a:solidFill>
          <a:ln>
            <a:noFill/>
          </a:ln>
        </p:spPr>
        <p:txBody>
          <a:bodyPr rtlCol="0" anchor="ctr"/>
          <a:lstStyle/>
          <a:p>
            <a:pPr algn="ctr"/>
          </a:p>
        </p:txBody>
      </p:sp>
      <p:sp>
        <p:nvSpPr>
          <p:cNvPr id="201" name="Rectangle 200"/>
          <p:cNvSpPr/>
          <p:nvPr/>
        </p:nvSpPr>
        <p:spPr>
          <a:xfrm>
            <a:off x="5457368" y="2880360"/>
            <a:ext cx="173736" cy="173736"/>
          </a:xfrm>
          <a:prstGeom prst="rect">
            <a:avLst/>
          </a:prstGeom>
          <a:solidFill>
            <a:srgbClr val="C0392B"/>
          </a:solidFill>
          <a:ln>
            <a:noFill/>
          </a:ln>
        </p:spPr>
        <p:txBody>
          <a:bodyPr rtlCol="0" anchor="ctr"/>
          <a:lstStyle/>
          <a:p>
            <a:pPr algn="ctr"/>
          </a:p>
        </p:txBody>
      </p:sp>
      <p:sp>
        <p:nvSpPr>
          <p:cNvPr id="202" name="Rectangle 201"/>
          <p:cNvSpPr/>
          <p:nvPr/>
        </p:nvSpPr>
        <p:spPr>
          <a:xfrm>
            <a:off x="5457368" y="2660904"/>
            <a:ext cx="173736" cy="173736"/>
          </a:xfrm>
          <a:prstGeom prst="rect">
            <a:avLst/>
          </a:prstGeom>
          <a:solidFill>
            <a:srgbClr val="C0392B"/>
          </a:solidFill>
          <a:ln>
            <a:noFill/>
          </a:ln>
        </p:spPr>
        <p:txBody>
          <a:bodyPr rtlCol="0" anchor="ctr"/>
          <a:lstStyle/>
          <a:p>
            <a:pPr algn="ctr"/>
          </a:p>
        </p:txBody>
      </p:sp>
      <p:sp>
        <p:nvSpPr>
          <p:cNvPr id="203" name="Rectangle 202"/>
          <p:cNvSpPr/>
          <p:nvPr/>
        </p:nvSpPr>
        <p:spPr>
          <a:xfrm>
            <a:off x="5457368" y="2441448"/>
            <a:ext cx="173736" cy="173736"/>
          </a:xfrm>
          <a:prstGeom prst="rect">
            <a:avLst/>
          </a:prstGeom>
          <a:solidFill>
            <a:srgbClr val="C0392B"/>
          </a:solidFill>
          <a:ln>
            <a:noFill/>
          </a:ln>
        </p:spPr>
        <p:txBody>
          <a:bodyPr rtlCol="0" anchor="ctr"/>
          <a:lstStyle/>
          <a:p>
            <a:pPr algn="ctr"/>
          </a:p>
        </p:txBody>
      </p:sp>
      <p:sp>
        <p:nvSpPr>
          <p:cNvPr id="204" name="Rectangle 203"/>
          <p:cNvSpPr/>
          <p:nvPr/>
        </p:nvSpPr>
        <p:spPr>
          <a:xfrm>
            <a:off x="5457368" y="2221992"/>
            <a:ext cx="173736" cy="173736"/>
          </a:xfrm>
          <a:prstGeom prst="rect">
            <a:avLst/>
          </a:prstGeom>
          <a:solidFill>
            <a:srgbClr val="C0392B"/>
          </a:solidFill>
          <a:ln>
            <a:noFill/>
          </a:ln>
        </p:spPr>
        <p:txBody>
          <a:bodyPr rtlCol="0" anchor="ctr"/>
          <a:lstStyle/>
          <a:p>
            <a:pPr algn="ctr"/>
          </a:p>
        </p:txBody>
      </p:sp>
      <p:sp>
        <p:nvSpPr>
          <p:cNvPr id="205" name="Rectangle 204"/>
          <p:cNvSpPr/>
          <p:nvPr/>
        </p:nvSpPr>
        <p:spPr>
          <a:xfrm>
            <a:off x="5457368" y="2002536"/>
            <a:ext cx="173736" cy="173736"/>
          </a:xfrm>
          <a:prstGeom prst="rect">
            <a:avLst/>
          </a:prstGeom>
          <a:solidFill>
            <a:srgbClr val="C0392B"/>
          </a:solidFill>
          <a:ln>
            <a:noFill/>
          </a:ln>
        </p:spPr>
        <p:txBody>
          <a:bodyPr rtlCol="0" anchor="ctr"/>
          <a:lstStyle/>
          <a:p>
            <a:pPr algn="ctr"/>
          </a:p>
        </p:txBody>
      </p:sp>
      <p:sp>
        <p:nvSpPr>
          <p:cNvPr id="206" name="Rectangle 205"/>
          <p:cNvSpPr/>
          <p:nvPr/>
        </p:nvSpPr>
        <p:spPr>
          <a:xfrm>
            <a:off x="5457368" y="1783080"/>
            <a:ext cx="173736" cy="173736"/>
          </a:xfrm>
          <a:prstGeom prst="rect">
            <a:avLst/>
          </a:prstGeom>
          <a:solidFill>
            <a:srgbClr val="C0392B"/>
          </a:solidFill>
          <a:ln>
            <a:noFill/>
          </a:ln>
        </p:spPr>
        <p:txBody>
          <a:bodyPr rtlCol="0" anchor="ctr"/>
          <a:lstStyle/>
          <a:p>
            <a:pPr algn="ctr"/>
          </a:p>
        </p:txBody>
      </p:sp>
      <p:sp>
        <p:nvSpPr>
          <p:cNvPr id="207" name="TextBox 206"/>
          <p:cNvSpPr txBox="1"/>
          <p:nvPr/>
        </p:nvSpPr>
        <p:spPr>
          <a:xfrm>
            <a:off x="3482264" y="4114800"/>
            <a:ext cx="2384984" cy="640080"/>
          </a:xfrm>
          <a:prstGeom prst="rect">
            <a:avLst/>
          </a:prstGeom>
          <a:noFill/>
        </p:spPr>
        <p:txBody>
          <a:bodyPr wrap="square" lIns="0" tIns="0" rIns="0" bIns="0">
            <a:spAutoFit/>
          </a:bodyPr>
          <a:lstStyle/>
          <a:p>
            <a:pPr>
              <a:lnSpc>
                <a:spcPct val="105000"/>
              </a:lnSpc>
            </a:pPr>
            <a:r>
              <a:rPr sz="3600">
                <a:solidFill>
                  <a:srgbClr val="C0392B"/>
                </a:solidFill>
                <a:latin typeface="Georgia"/>
              </a:rPr>
              <a:t>100+</a:t>
            </a:r>
          </a:p>
        </p:txBody>
      </p:sp>
      <p:sp>
        <p:nvSpPr>
          <p:cNvPr id="208" name="TextBox 207"/>
          <p:cNvSpPr txBox="1"/>
          <p:nvPr/>
        </p:nvSpPr>
        <p:spPr>
          <a:xfrm>
            <a:off x="3482264" y="4754880"/>
            <a:ext cx="2339264" cy="822960"/>
          </a:xfrm>
          <a:prstGeom prst="rect">
            <a:avLst/>
          </a:prstGeom>
          <a:noFill/>
        </p:spPr>
        <p:txBody>
          <a:bodyPr wrap="square" lIns="0" tIns="0" rIns="0" bIns="0">
            <a:spAutoFit/>
          </a:bodyPr>
          <a:lstStyle/>
          <a:p>
            <a:pPr>
              <a:lnSpc>
                <a:spcPct val="105000"/>
              </a:lnSpc>
            </a:pPr>
            <a:r>
              <a:rPr sz="1500">
                <a:solidFill>
                  <a:srgbClr val="0C1408"/>
                </a:solidFill>
                <a:latin typeface="Arial"/>
              </a:rPr>
              <a:t>committees lost about Rs 420 million with one organiser, 2022 [2]</a:t>
            </a:r>
          </a:p>
        </p:txBody>
      </p:sp>
      <p:sp>
        <p:nvSpPr>
          <p:cNvPr id="209" name="Rectangle 208"/>
          <p:cNvSpPr/>
          <p:nvPr/>
        </p:nvSpPr>
        <p:spPr>
          <a:xfrm>
            <a:off x="6324448" y="3758184"/>
            <a:ext cx="173736" cy="173736"/>
          </a:xfrm>
          <a:prstGeom prst="rect">
            <a:avLst/>
          </a:prstGeom>
          <a:solidFill>
            <a:srgbClr val="5F6B58"/>
          </a:solidFill>
          <a:ln>
            <a:noFill/>
          </a:ln>
        </p:spPr>
        <p:txBody>
          <a:bodyPr rtlCol="0" anchor="ctr"/>
          <a:lstStyle/>
          <a:p>
            <a:pPr algn="ctr"/>
          </a:p>
        </p:txBody>
      </p:sp>
      <p:sp>
        <p:nvSpPr>
          <p:cNvPr id="210" name="Rectangle 209"/>
          <p:cNvSpPr/>
          <p:nvPr/>
        </p:nvSpPr>
        <p:spPr>
          <a:xfrm>
            <a:off x="6324448" y="3538728"/>
            <a:ext cx="173736" cy="173736"/>
          </a:xfrm>
          <a:prstGeom prst="rect">
            <a:avLst/>
          </a:prstGeom>
          <a:solidFill>
            <a:srgbClr val="5F6B58"/>
          </a:solidFill>
          <a:ln>
            <a:noFill/>
          </a:ln>
        </p:spPr>
        <p:txBody>
          <a:bodyPr rtlCol="0" anchor="ctr"/>
          <a:lstStyle/>
          <a:p>
            <a:pPr algn="ctr"/>
          </a:p>
        </p:txBody>
      </p:sp>
      <p:sp>
        <p:nvSpPr>
          <p:cNvPr id="211" name="Rectangle 210"/>
          <p:cNvSpPr/>
          <p:nvPr/>
        </p:nvSpPr>
        <p:spPr>
          <a:xfrm>
            <a:off x="6324448" y="3319272"/>
            <a:ext cx="173736" cy="173736"/>
          </a:xfrm>
          <a:prstGeom prst="rect">
            <a:avLst/>
          </a:prstGeom>
          <a:solidFill>
            <a:srgbClr val="5F6B58"/>
          </a:solidFill>
          <a:ln>
            <a:noFill/>
          </a:ln>
        </p:spPr>
        <p:txBody>
          <a:bodyPr rtlCol="0" anchor="ctr"/>
          <a:lstStyle/>
          <a:p>
            <a:pPr algn="ctr"/>
          </a:p>
        </p:txBody>
      </p:sp>
      <p:sp>
        <p:nvSpPr>
          <p:cNvPr id="212" name="Rectangle 211"/>
          <p:cNvSpPr/>
          <p:nvPr/>
        </p:nvSpPr>
        <p:spPr>
          <a:xfrm>
            <a:off x="6324448" y="3099816"/>
            <a:ext cx="173736" cy="173736"/>
          </a:xfrm>
          <a:prstGeom prst="rect">
            <a:avLst/>
          </a:prstGeom>
          <a:solidFill>
            <a:srgbClr val="5F6B58"/>
          </a:solidFill>
          <a:ln>
            <a:noFill/>
          </a:ln>
        </p:spPr>
        <p:txBody>
          <a:bodyPr rtlCol="0" anchor="ctr"/>
          <a:lstStyle/>
          <a:p>
            <a:pPr algn="ctr"/>
          </a:p>
        </p:txBody>
      </p:sp>
      <p:sp>
        <p:nvSpPr>
          <p:cNvPr id="213" name="Rectangle 212"/>
          <p:cNvSpPr/>
          <p:nvPr/>
        </p:nvSpPr>
        <p:spPr>
          <a:xfrm>
            <a:off x="6324448" y="2880360"/>
            <a:ext cx="173736" cy="173736"/>
          </a:xfrm>
          <a:prstGeom prst="rect">
            <a:avLst/>
          </a:prstGeom>
          <a:solidFill>
            <a:srgbClr val="5F6B58"/>
          </a:solidFill>
          <a:ln>
            <a:noFill/>
          </a:ln>
        </p:spPr>
        <p:txBody>
          <a:bodyPr rtlCol="0" anchor="ctr"/>
          <a:lstStyle/>
          <a:p>
            <a:pPr algn="ctr"/>
          </a:p>
        </p:txBody>
      </p:sp>
      <p:sp>
        <p:nvSpPr>
          <p:cNvPr id="214" name="Rectangle 213"/>
          <p:cNvSpPr/>
          <p:nvPr/>
        </p:nvSpPr>
        <p:spPr>
          <a:xfrm>
            <a:off x="6324448" y="2660904"/>
            <a:ext cx="173736" cy="173736"/>
          </a:xfrm>
          <a:prstGeom prst="rect">
            <a:avLst/>
          </a:prstGeom>
          <a:solidFill>
            <a:srgbClr val="5F6B58"/>
          </a:solidFill>
          <a:ln>
            <a:noFill/>
          </a:ln>
        </p:spPr>
        <p:txBody>
          <a:bodyPr rtlCol="0" anchor="ctr"/>
          <a:lstStyle/>
          <a:p>
            <a:pPr algn="ctr"/>
          </a:p>
        </p:txBody>
      </p:sp>
      <p:sp>
        <p:nvSpPr>
          <p:cNvPr id="215" name="Rectangle 214"/>
          <p:cNvSpPr/>
          <p:nvPr/>
        </p:nvSpPr>
        <p:spPr>
          <a:xfrm>
            <a:off x="6324448" y="2441448"/>
            <a:ext cx="173736" cy="173736"/>
          </a:xfrm>
          <a:prstGeom prst="rect">
            <a:avLst/>
          </a:prstGeom>
          <a:solidFill>
            <a:srgbClr val="5F6B58"/>
          </a:solidFill>
          <a:ln>
            <a:noFill/>
          </a:ln>
        </p:spPr>
        <p:txBody>
          <a:bodyPr rtlCol="0" anchor="ctr"/>
          <a:lstStyle/>
          <a:p>
            <a:pPr algn="ctr"/>
          </a:p>
        </p:txBody>
      </p:sp>
      <p:sp>
        <p:nvSpPr>
          <p:cNvPr id="216" name="Rectangle 215"/>
          <p:cNvSpPr/>
          <p:nvPr/>
        </p:nvSpPr>
        <p:spPr>
          <a:xfrm>
            <a:off x="6324448" y="2221992"/>
            <a:ext cx="173736" cy="173736"/>
          </a:xfrm>
          <a:prstGeom prst="rect">
            <a:avLst/>
          </a:prstGeom>
          <a:solidFill>
            <a:srgbClr val="5F6B58"/>
          </a:solidFill>
          <a:ln>
            <a:noFill/>
          </a:ln>
        </p:spPr>
        <p:txBody>
          <a:bodyPr rtlCol="0" anchor="ctr"/>
          <a:lstStyle/>
          <a:p>
            <a:pPr algn="ctr"/>
          </a:p>
        </p:txBody>
      </p:sp>
      <p:sp>
        <p:nvSpPr>
          <p:cNvPr id="217" name="Rectangle 216"/>
          <p:cNvSpPr/>
          <p:nvPr/>
        </p:nvSpPr>
        <p:spPr>
          <a:xfrm>
            <a:off x="6324448" y="2002536"/>
            <a:ext cx="173736" cy="173736"/>
          </a:xfrm>
          <a:prstGeom prst="rect">
            <a:avLst/>
          </a:prstGeom>
          <a:solidFill>
            <a:srgbClr val="5F6B58"/>
          </a:solidFill>
          <a:ln>
            <a:noFill/>
          </a:ln>
        </p:spPr>
        <p:txBody>
          <a:bodyPr rtlCol="0" anchor="ctr"/>
          <a:lstStyle/>
          <a:p>
            <a:pPr algn="ctr"/>
          </a:p>
        </p:txBody>
      </p:sp>
      <p:sp>
        <p:nvSpPr>
          <p:cNvPr id="218" name="Rectangle 217"/>
          <p:cNvSpPr/>
          <p:nvPr/>
        </p:nvSpPr>
        <p:spPr>
          <a:xfrm>
            <a:off x="6324448" y="1783080"/>
            <a:ext cx="173736" cy="173736"/>
          </a:xfrm>
          <a:prstGeom prst="rect">
            <a:avLst/>
          </a:prstGeom>
          <a:solidFill>
            <a:srgbClr val="5F6B58"/>
          </a:solidFill>
          <a:ln>
            <a:noFill/>
          </a:ln>
        </p:spPr>
        <p:txBody>
          <a:bodyPr rtlCol="0" anchor="ctr"/>
          <a:lstStyle/>
          <a:p>
            <a:pPr algn="ctr"/>
          </a:p>
        </p:txBody>
      </p:sp>
      <p:sp>
        <p:nvSpPr>
          <p:cNvPr id="219" name="Rectangle 218"/>
          <p:cNvSpPr/>
          <p:nvPr/>
        </p:nvSpPr>
        <p:spPr>
          <a:xfrm>
            <a:off x="6543904" y="3758184"/>
            <a:ext cx="173736" cy="173736"/>
          </a:xfrm>
          <a:prstGeom prst="rect">
            <a:avLst/>
          </a:prstGeom>
          <a:solidFill>
            <a:srgbClr val="5F6B58"/>
          </a:solidFill>
          <a:ln>
            <a:noFill/>
          </a:ln>
        </p:spPr>
        <p:txBody>
          <a:bodyPr rtlCol="0" anchor="ctr"/>
          <a:lstStyle/>
          <a:p>
            <a:pPr algn="ctr"/>
          </a:p>
        </p:txBody>
      </p:sp>
      <p:sp>
        <p:nvSpPr>
          <p:cNvPr id="220" name="Rectangle 219"/>
          <p:cNvSpPr/>
          <p:nvPr/>
        </p:nvSpPr>
        <p:spPr>
          <a:xfrm>
            <a:off x="6543904" y="3538728"/>
            <a:ext cx="173736" cy="173736"/>
          </a:xfrm>
          <a:prstGeom prst="rect">
            <a:avLst/>
          </a:prstGeom>
          <a:solidFill>
            <a:srgbClr val="5F6B58"/>
          </a:solidFill>
          <a:ln>
            <a:noFill/>
          </a:ln>
        </p:spPr>
        <p:txBody>
          <a:bodyPr rtlCol="0" anchor="ctr"/>
          <a:lstStyle/>
          <a:p>
            <a:pPr algn="ctr"/>
          </a:p>
        </p:txBody>
      </p:sp>
      <p:sp>
        <p:nvSpPr>
          <p:cNvPr id="221" name="Rectangle 220"/>
          <p:cNvSpPr/>
          <p:nvPr/>
        </p:nvSpPr>
        <p:spPr>
          <a:xfrm>
            <a:off x="6543904" y="3319272"/>
            <a:ext cx="173736" cy="173736"/>
          </a:xfrm>
          <a:prstGeom prst="rect">
            <a:avLst/>
          </a:prstGeom>
          <a:solidFill>
            <a:srgbClr val="5F6B58"/>
          </a:solidFill>
          <a:ln>
            <a:noFill/>
          </a:ln>
        </p:spPr>
        <p:txBody>
          <a:bodyPr rtlCol="0" anchor="ctr"/>
          <a:lstStyle/>
          <a:p>
            <a:pPr algn="ctr"/>
          </a:p>
        </p:txBody>
      </p:sp>
      <p:sp>
        <p:nvSpPr>
          <p:cNvPr id="222" name="Rectangle 221"/>
          <p:cNvSpPr/>
          <p:nvPr/>
        </p:nvSpPr>
        <p:spPr>
          <a:xfrm>
            <a:off x="6543904" y="3099816"/>
            <a:ext cx="173736" cy="173736"/>
          </a:xfrm>
          <a:prstGeom prst="rect">
            <a:avLst/>
          </a:prstGeom>
          <a:solidFill>
            <a:srgbClr val="5F6B58"/>
          </a:solidFill>
          <a:ln>
            <a:noFill/>
          </a:ln>
        </p:spPr>
        <p:txBody>
          <a:bodyPr rtlCol="0" anchor="ctr"/>
          <a:lstStyle/>
          <a:p>
            <a:pPr algn="ctr"/>
          </a:p>
        </p:txBody>
      </p:sp>
      <p:sp>
        <p:nvSpPr>
          <p:cNvPr id="223" name="Rectangle 222"/>
          <p:cNvSpPr/>
          <p:nvPr/>
        </p:nvSpPr>
        <p:spPr>
          <a:xfrm>
            <a:off x="6543904" y="2880360"/>
            <a:ext cx="173736" cy="173736"/>
          </a:xfrm>
          <a:prstGeom prst="rect">
            <a:avLst/>
          </a:prstGeom>
          <a:solidFill>
            <a:srgbClr val="5F6B58"/>
          </a:solidFill>
          <a:ln>
            <a:noFill/>
          </a:ln>
        </p:spPr>
        <p:txBody>
          <a:bodyPr rtlCol="0" anchor="ctr"/>
          <a:lstStyle/>
          <a:p>
            <a:pPr algn="ctr"/>
          </a:p>
        </p:txBody>
      </p:sp>
      <p:sp>
        <p:nvSpPr>
          <p:cNvPr id="224" name="Rectangle 223"/>
          <p:cNvSpPr/>
          <p:nvPr/>
        </p:nvSpPr>
        <p:spPr>
          <a:xfrm>
            <a:off x="6543904" y="2660904"/>
            <a:ext cx="173736" cy="173736"/>
          </a:xfrm>
          <a:prstGeom prst="rect">
            <a:avLst/>
          </a:prstGeom>
          <a:solidFill>
            <a:srgbClr val="5F6B58"/>
          </a:solidFill>
          <a:ln>
            <a:noFill/>
          </a:ln>
        </p:spPr>
        <p:txBody>
          <a:bodyPr rtlCol="0" anchor="ctr"/>
          <a:lstStyle/>
          <a:p>
            <a:pPr algn="ctr"/>
          </a:p>
        </p:txBody>
      </p:sp>
      <p:sp>
        <p:nvSpPr>
          <p:cNvPr id="225" name="Rectangle 224"/>
          <p:cNvSpPr/>
          <p:nvPr/>
        </p:nvSpPr>
        <p:spPr>
          <a:xfrm>
            <a:off x="6543904" y="2441448"/>
            <a:ext cx="173736" cy="173736"/>
          </a:xfrm>
          <a:prstGeom prst="rect">
            <a:avLst/>
          </a:prstGeom>
          <a:solidFill>
            <a:srgbClr val="5F6B58"/>
          </a:solidFill>
          <a:ln>
            <a:noFill/>
          </a:ln>
        </p:spPr>
        <p:txBody>
          <a:bodyPr rtlCol="0" anchor="ctr"/>
          <a:lstStyle/>
          <a:p>
            <a:pPr algn="ctr"/>
          </a:p>
        </p:txBody>
      </p:sp>
      <p:sp>
        <p:nvSpPr>
          <p:cNvPr id="226" name="Rectangle 225"/>
          <p:cNvSpPr/>
          <p:nvPr/>
        </p:nvSpPr>
        <p:spPr>
          <a:xfrm>
            <a:off x="6543904" y="2221992"/>
            <a:ext cx="173736" cy="173736"/>
          </a:xfrm>
          <a:prstGeom prst="rect">
            <a:avLst/>
          </a:prstGeom>
          <a:solidFill>
            <a:srgbClr val="5F6B58"/>
          </a:solidFill>
          <a:ln>
            <a:noFill/>
          </a:ln>
        </p:spPr>
        <p:txBody>
          <a:bodyPr rtlCol="0" anchor="ctr"/>
          <a:lstStyle/>
          <a:p>
            <a:pPr algn="ctr"/>
          </a:p>
        </p:txBody>
      </p:sp>
      <p:sp>
        <p:nvSpPr>
          <p:cNvPr id="227" name="Rectangle 226"/>
          <p:cNvSpPr/>
          <p:nvPr/>
        </p:nvSpPr>
        <p:spPr>
          <a:xfrm>
            <a:off x="6543904" y="2002536"/>
            <a:ext cx="173736" cy="173736"/>
          </a:xfrm>
          <a:prstGeom prst="rect">
            <a:avLst/>
          </a:prstGeom>
          <a:solidFill>
            <a:srgbClr val="5F6B58"/>
          </a:solidFill>
          <a:ln>
            <a:noFill/>
          </a:ln>
        </p:spPr>
        <p:txBody>
          <a:bodyPr rtlCol="0" anchor="ctr"/>
          <a:lstStyle/>
          <a:p>
            <a:pPr algn="ctr"/>
          </a:p>
        </p:txBody>
      </p:sp>
      <p:sp>
        <p:nvSpPr>
          <p:cNvPr id="228" name="Rectangle 227"/>
          <p:cNvSpPr/>
          <p:nvPr/>
        </p:nvSpPr>
        <p:spPr>
          <a:xfrm>
            <a:off x="6543904" y="1783080"/>
            <a:ext cx="173736" cy="173736"/>
          </a:xfrm>
          <a:prstGeom prst="rect">
            <a:avLst/>
          </a:prstGeom>
          <a:solidFill>
            <a:srgbClr val="5F6B58"/>
          </a:solidFill>
          <a:ln>
            <a:noFill/>
          </a:ln>
        </p:spPr>
        <p:txBody>
          <a:bodyPr rtlCol="0" anchor="ctr"/>
          <a:lstStyle/>
          <a:p>
            <a:pPr algn="ctr"/>
          </a:p>
        </p:txBody>
      </p:sp>
      <p:sp>
        <p:nvSpPr>
          <p:cNvPr id="229" name="Rectangle 228"/>
          <p:cNvSpPr/>
          <p:nvPr/>
        </p:nvSpPr>
        <p:spPr>
          <a:xfrm>
            <a:off x="6763360" y="3758184"/>
            <a:ext cx="173736" cy="173736"/>
          </a:xfrm>
          <a:prstGeom prst="rect">
            <a:avLst/>
          </a:prstGeom>
          <a:solidFill>
            <a:srgbClr val="5F6B58"/>
          </a:solidFill>
          <a:ln>
            <a:noFill/>
          </a:ln>
        </p:spPr>
        <p:txBody>
          <a:bodyPr rtlCol="0" anchor="ctr"/>
          <a:lstStyle/>
          <a:p>
            <a:pPr algn="ctr"/>
          </a:p>
        </p:txBody>
      </p:sp>
      <p:sp>
        <p:nvSpPr>
          <p:cNvPr id="230" name="Rectangle 229"/>
          <p:cNvSpPr/>
          <p:nvPr/>
        </p:nvSpPr>
        <p:spPr>
          <a:xfrm>
            <a:off x="6763360" y="3538728"/>
            <a:ext cx="173736" cy="173736"/>
          </a:xfrm>
          <a:prstGeom prst="rect">
            <a:avLst/>
          </a:prstGeom>
          <a:solidFill>
            <a:srgbClr val="5F6B58"/>
          </a:solidFill>
          <a:ln>
            <a:noFill/>
          </a:ln>
        </p:spPr>
        <p:txBody>
          <a:bodyPr rtlCol="0" anchor="ctr"/>
          <a:lstStyle/>
          <a:p>
            <a:pPr algn="ctr"/>
          </a:p>
        </p:txBody>
      </p:sp>
      <p:sp>
        <p:nvSpPr>
          <p:cNvPr id="231" name="Rectangle 230"/>
          <p:cNvSpPr/>
          <p:nvPr/>
        </p:nvSpPr>
        <p:spPr>
          <a:xfrm>
            <a:off x="6763360" y="3319272"/>
            <a:ext cx="173736" cy="173736"/>
          </a:xfrm>
          <a:prstGeom prst="rect">
            <a:avLst/>
          </a:prstGeom>
          <a:solidFill>
            <a:srgbClr val="5F6B58"/>
          </a:solidFill>
          <a:ln>
            <a:noFill/>
          </a:ln>
        </p:spPr>
        <p:txBody>
          <a:bodyPr rtlCol="0" anchor="ctr"/>
          <a:lstStyle/>
          <a:p>
            <a:pPr algn="ctr"/>
          </a:p>
        </p:txBody>
      </p:sp>
      <p:sp>
        <p:nvSpPr>
          <p:cNvPr id="232" name="Rectangle 231"/>
          <p:cNvSpPr/>
          <p:nvPr/>
        </p:nvSpPr>
        <p:spPr>
          <a:xfrm>
            <a:off x="6763360" y="3099816"/>
            <a:ext cx="173736" cy="173736"/>
          </a:xfrm>
          <a:prstGeom prst="rect">
            <a:avLst/>
          </a:prstGeom>
          <a:solidFill>
            <a:srgbClr val="5F6B58"/>
          </a:solidFill>
          <a:ln>
            <a:noFill/>
          </a:ln>
        </p:spPr>
        <p:txBody>
          <a:bodyPr rtlCol="0" anchor="ctr"/>
          <a:lstStyle/>
          <a:p>
            <a:pPr algn="ctr"/>
          </a:p>
        </p:txBody>
      </p:sp>
      <p:sp>
        <p:nvSpPr>
          <p:cNvPr id="233" name="Rectangle 232"/>
          <p:cNvSpPr/>
          <p:nvPr/>
        </p:nvSpPr>
        <p:spPr>
          <a:xfrm>
            <a:off x="6763360" y="2880360"/>
            <a:ext cx="173736" cy="173736"/>
          </a:xfrm>
          <a:prstGeom prst="rect">
            <a:avLst/>
          </a:prstGeom>
          <a:solidFill>
            <a:srgbClr val="5F6B58"/>
          </a:solidFill>
          <a:ln>
            <a:noFill/>
          </a:ln>
        </p:spPr>
        <p:txBody>
          <a:bodyPr rtlCol="0" anchor="ctr"/>
          <a:lstStyle/>
          <a:p>
            <a:pPr algn="ctr"/>
          </a:p>
        </p:txBody>
      </p:sp>
      <p:sp>
        <p:nvSpPr>
          <p:cNvPr id="234" name="Rectangle 233"/>
          <p:cNvSpPr/>
          <p:nvPr/>
        </p:nvSpPr>
        <p:spPr>
          <a:xfrm>
            <a:off x="6763360" y="2660904"/>
            <a:ext cx="173736" cy="173736"/>
          </a:xfrm>
          <a:prstGeom prst="rect">
            <a:avLst/>
          </a:prstGeom>
          <a:solidFill>
            <a:srgbClr val="5F6B58"/>
          </a:solidFill>
          <a:ln>
            <a:noFill/>
          </a:ln>
        </p:spPr>
        <p:txBody>
          <a:bodyPr rtlCol="0" anchor="ctr"/>
          <a:lstStyle/>
          <a:p>
            <a:pPr algn="ctr"/>
          </a:p>
        </p:txBody>
      </p:sp>
      <p:sp>
        <p:nvSpPr>
          <p:cNvPr id="235" name="Rectangle 234"/>
          <p:cNvSpPr/>
          <p:nvPr/>
        </p:nvSpPr>
        <p:spPr>
          <a:xfrm>
            <a:off x="6763360" y="2441448"/>
            <a:ext cx="173736" cy="173736"/>
          </a:xfrm>
          <a:prstGeom prst="rect">
            <a:avLst/>
          </a:prstGeom>
          <a:solidFill>
            <a:srgbClr val="5F6B58"/>
          </a:solidFill>
          <a:ln>
            <a:noFill/>
          </a:ln>
        </p:spPr>
        <p:txBody>
          <a:bodyPr rtlCol="0" anchor="ctr"/>
          <a:lstStyle/>
          <a:p>
            <a:pPr algn="ctr"/>
          </a:p>
        </p:txBody>
      </p:sp>
      <p:sp>
        <p:nvSpPr>
          <p:cNvPr id="236" name="Rectangle 235"/>
          <p:cNvSpPr/>
          <p:nvPr/>
        </p:nvSpPr>
        <p:spPr>
          <a:xfrm>
            <a:off x="6763360" y="2221992"/>
            <a:ext cx="173736" cy="173736"/>
          </a:xfrm>
          <a:prstGeom prst="rect">
            <a:avLst/>
          </a:prstGeom>
          <a:solidFill>
            <a:srgbClr val="5F6B58"/>
          </a:solidFill>
          <a:ln>
            <a:noFill/>
          </a:ln>
        </p:spPr>
        <p:txBody>
          <a:bodyPr rtlCol="0" anchor="ctr"/>
          <a:lstStyle/>
          <a:p>
            <a:pPr algn="ctr"/>
          </a:p>
        </p:txBody>
      </p:sp>
      <p:sp>
        <p:nvSpPr>
          <p:cNvPr id="237" name="Rectangle 236"/>
          <p:cNvSpPr/>
          <p:nvPr/>
        </p:nvSpPr>
        <p:spPr>
          <a:xfrm>
            <a:off x="6763360" y="2002536"/>
            <a:ext cx="173736" cy="173736"/>
          </a:xfrm>
          <a:prstGeom prst="rect">
            <a:avLst/>
          </a:prstGeom>
          <a:solidFill>
            <a:srgbClr val="5F6B58"/>
          </a:solidFill>
          <a:ln>
            <a:noFill/>
          </a:ln>
        </p:spPr>
        <p:txBody>
          <a:bodyPr rtlCol="0" anchor="ctr"/>
          <a:lstStyle/>
          <a:p>
            <a:pPr algn="ctr"/>
          </a:p>
        </p:txBody>
      </p:sp>
      <p:sp>
        <p:nvSpPr>
          <p:cNvPr id="238" name="Rectangle 237"/>
          <p:cNvSpPr/>
          <p:nvPr/>
        </p:nvSpPr>
        <p:spPr>
          <a:xfrm>
            <a:off x="6763360" y="1783080"/>
            <a:ext cx="173736" cy="173736"/>
          </a:xfrm>
          <a:prstGeom prst="rect">
            <a:avLst/>
          </a:prstGeom>
          <a:solidFill>
            <a:srgbClr val="5F6B58"/>
          </a:solidFill>
          <a:ln>
            <a:noFill/>
          </a:ln>
        </p:spPr>
        <p:txBody>
          <a:bodyPr rtlCol="0" anchor="ctr"/>
          <a:lstStyle/>
          <a:p>
            <a:pPr algn="ctr"/>
          </a:p>
        </p:txBody>
      </p:sp>
      <p:sp>
        <p:nvSpPr>
          <p:cNvPr id="239" name="Rectangle 238"/>
          <p:cNvSpPr/>
          <p:nvPr/>
        </p:nvSpPr>
        <p:spPr>
          <a:xfrm>
            <a:off x="6982816" y="3758184"/>
            <a:ext cx="173736" cy="173736"/>
          </a:xfrm>
          <a:prstGeom prst="rect">
            <a:avLst/>
          </a:prstGeom>
          <a:solidFill>
            <a:srgbClr val="5F6B58"/>
          </a:solidFill>
          <a:ln>
            <a:noFill/>
          </a:ln>
        </p:spPr>
        <p:txBody>
          <a:bodyPr rtlCol="0" anchor="ctr"/>
          <a:lstStyle/>
          <a:p>
            <a:pPr algn="ctr"/>
          </a:p>
        </p:txBody>
      </p:sp>
      <p:sp>
        <p:nvSpPr>
          <p:cNvPr id="240" name="Rectangle 239"/>
          <p:cNvSpPr/>
          <p:nvPr/>
        </p:nvSpPr>
        <p:spPr>
          <a:xfrm>
            <a:off x="6982816" y="3538728"/>
            <a:ext cx="173736" cy="173736"/>
          </a:xfrm>
          <a:prstGeom prst="rect">
            <a:avLst/>
          </a:prstGeom>
          <a:solidFill>
            <a:srgbClr val="5F6B58"/>
          </a:solidFill>
          <a:ln>
            <a:noFill/>
          </a:ln>
        </p:spPr>
        <p:txBody>
          <a:bodyPr rtlCol="0" anchor="ctr"/>
          <a:lstStyle/>
          <a:p>
            <a:pPr algn="ctr"/>
          </a:p>
        </p:txBody>
      </p:sp>
      <p:sp>
        <p:nvSpPr>
          <p:cNvPr id="241" name="Rectangle 240"/>
          <p:cNvSpPr/>
          <p:nvPr/>
        </p:nvSpPr>
        <p:spPr>
          <a:xfrm>
            <a:off x="6982816" y="3319272"/>
            <a:ext cx="173736" cy="173736"/>
          </a:xfrm>
          <a:prstGeom prst="rect">
            <a:avLst/>
          </a:prstGeom>
          <a:solidFill>
            <a:srgbClr val="5F6B58"/>
          </a:solidFill>
          <a:ln>
            <a:noFill/>
          </a:ln>
        </p:spPr>
        <p:txBody>
          <a:bodyPr rtlCol="0" anchor="ctr"/>
          <a:lstStyle/>
          <a:p>
            <a:pPr algn="ctr"/>
          </a:p>
        </p:txBody>
      </p:sp>
      <p:sp>
        <p:nvSpPr>
          <p:cNvPr id="242" name="Rectangle 241"/>
          <p:cNvSpPr/>
          <p:nvPr/>
        </p:nvSpPr>
        <p:spPr>
          <a:xfrm>
            <a:off x="6982816" y="3099816"/>
            <a:ext cx="173736" cy="173736"/>
          </a:xfrm>
          <a:prstGeom prst="rect">
            <a:avLst/>
          </a:prstGeom>
          <a:solidFill>
            <a:srgbClr val="5F6B58"/>
          </a:solidFill>
          <a:ln>
            <a:noFill/>
          </a:ln>
        </p:spPr>
        <p:txBody>
          <a:bodyPr rtlCol="0" anchor="ctr"/>
          <a:lstStyle/>
          <a:p>
            <a:pPr algn="ctr"/>
          </a:p>
        </p:txBody>
      </p:sp>
      <p:sp>
        <p:nvSpPr>
          <p:cNvPr id="243" name="Rectangle 242"/>
          <p:cNvSpPr/>
          <p:nvPr/>
        </p:nvSpPr>
        <p:spPr>
          <a:xfrm>
            <a:off x="6982816" y="2880360"/>
            <a:ext cx="173736" cy="173736"/>
          </a:xfrm>
          <a:prstGeom prst="rect">
            <a:avLst/>
          </a:prstGeom>
          <a:solidFill>
            <a:srgbClr val="5F6B58"/>
          </a:solidFill>
          <a:ln>
            <a:noFill/>
          </a:ln>
        </p:spPr>
        <p:txBody>
          <a:bodyPr rtlCol="0" anchor="ctr"/>
          <a:lstStyle/>
          <a:p>
            <a:pPr algn="ctr"/>
          </a:p>
        </p:txBody>
      </p:sp>
      <p:sp>
        <p:nvSpPr>
          <p:cNvPr id="244" name="Rectangle 243"/>
          <p:cNvSpPr/>
          <p:nvPr/>
        </p:nvSpPr>
        <p:spPr>
          <a:xfrm>
            <a:off x="6982816" y="2660904"/>
            <a:ext cx="173736" cy="173736"/>
          </a:xfrm>
          <a:prstGeom prst="rect">
            <a:avLst/>
          </a:prstGeom>
          <a:solidFill>
            <a:srgbClr val="5F6B58"/>
          </a:solidFill>
          <a:ln>
            <a:noFill/>
          </a:ln>
        </p:spPr>
        <p:txBody>
          <a:bodyPr rtlCol="0" anchor="ctr"/>
          <a:lstStyle/>
          <a:p>
            <a:pPr algn="ctr"/>
          </a:p>
        </p:txBody>
      </p:sp>
      <p:sp>
        <p:nvSpPr>
          <p:cNvPr id="245" name="Rectangle 244"/>
          <p:cNvSpPr/>
          <p:nvPr/>
        </p:nvSpPr>
        <p:spPr>
          <a:xfrm>
            <a:off x="6982816" y="2441448"/>
            <a:ext cx="173736" cy="173736"/>
          </a:xfrm>
          <a:prstGeom prst="rect">
            <a:avLst/>
          </a:prstGeom>
          <a:solidFill>
            <a:srgbClr val="5F6B58"/>
          </a:solidFill>
          <a:ln>
            <a:noFill/>
          </a:ln>
        </p:spPr>
        <p:txBody>
          <a:bodyPr rtlCol="0" anchor="ctr"/>
          <a:lstStyle/>
          <a:p>
            <a:pPr algn="ctr"/>
          </a:p>
        </p:txBody>
      </p:sp>
      <p:sp>
        <p:nvSpPr>
          <p:cNvPr id="246" name="Rectangle 245"/>
          <p:cNvSpPr/>
          <p:nvPr/>
        </p:nvSpPr>
        <p:spPr>
          <a:xfrm>
            <a:off x="6982816" y="2221992"/>
            <a:ext cx="173736" cy="173736"/>
          </a:xfrm>
          <a:prstGeom prst="rect">
            <a:avLst/>
          </a:prstGeom>
          <a:solidFill>
            <a:srgbClr val="5F6B58"/>
          </a:solidFill>
          <a:ln>
            <a:noFill/>
          </a:ln>
        </p:spPr>
        <p:txBody>
          <a:bodyPr rtlCol="0" anchor="ctr"/>
          <a:lstStyle/>
          <a:p>
            <a:pPr algn="ctr"/>
          </a:p>
        </p:txBody>
      </p:sp>
      <p:sp>
        <p:nvSpPr>
          <p:cNvPr id="247" name="Rectangle 246"/>
          <p:cNvSpPr/>
          <p:nvPr/>
        </p:nvSpPr>
        <p:spPr>
          <a:xfrm>
            <a:off x="6982816" y="2002536"/>
            <a:ext cx="173736" cy="173736"/>
          </a:xfrm>
          <a:prstGeom prst="rect">
            <a:avLst/>
          </a:prstGeom>
          <a:solidFill>
            <a:srgbClr val="5F6B58"/>
          </a:solidFill>
          <a:ln>
            <a:noFill/>
          </a:ln>
        </p:spPr>
        <p:txBody>
          <a:bodyPr rtlCol="0" anchor="ctr"/>
          <a:lstStyle/>
          <a:p>
            <a:pPr algn="ctr"/>
          </a:p>
        </p:txBody>
      </p:sp>
      <p:sp>
        <p:nvSpPr>
          <p:cNvPr id="248" name="Rectangle 247"/>
          <p:cNvSpPr/>
          <p:nvPr/>
        </p:nvSpPr>
        <p:spPr>
          <a:xfrm>
            <a:off x="6982816" y="1783080"/>
            <a:ext cx="173736" cy="173736"/>
          </a:xfrm>
          <a:prstGeom prst="rect">
            <a:avLst/>
          </a:prstGeom>
          <a:solidFill>
            <a:srgbClr val="5F6B58"/>
          </a:solidFill>
          <a:ln>
            <a:noFill/>
          </a:ln>
        </p:spPr>
        <p:txBody>
          <a:bodyPr rtlCol="0" anchor="ctr"/>
          <a:lstStyle/>
          <a:p>
            <a:pPr algn="ctr"/>
          </a:p>
        </p:txBody>
      </p:sp>
      <p:sp>
        <p:nvSpPr>
          <p:cNvPr id="249" name="Rectangle 248"/>
          <p:cNvSpPr/>
          <p:nvPr/>
        </p:nvSpPr>
        <p:spPr>
          <a:xfrm>
            <a:off x="7202272" y="3758184"/>
            <a:ext cx="173736" cy="173736"/>
          </a:xfrm>
          <a:prstGeom prst="rect">
            <a:avLst/>
          </a:prstGeom>
          <a:solidFill>
            <a:srgbClr val="5F6B58"/>
          </a:solidFill>
          <a:ln>
            <a:noFill/>
          </a:ln>
        </p:spPr>
        <p:txBody>
          <a:bodyPr rtlCol="0" anchor="ctr"/>
          <a:lstStyle/>
          <a:p>
            <a:pPr algn="ctr"/>
          </a:p>
        </p:txBody>
      </p:sp>
      <p:sp>
        <p:nvSpPr>
          <p:cNvPr id="250" name="Rectangle 249"/>
          <p:cNvSpPr/>
          <p:nvPr/>
        </p:nvSpPr>
        <p:spPr>
          <a:xfrm>
            <a:off x="7202272" y="3538728"/>
            <a:ext cx="173736" cy="173736"/>
          </a:xfrm>
          <a:prstGeom prst="rect">
            <a:avLst/>
          </a:prstGeom>
          <a:solidFill>
            <a:srgbClr val="5F6B58"/>
          </a:solidFill>
          <a:ln>
            <a:noFill/>
          </a:ln>
        </p:spPr>
        <p:txBody>
          <a:bodyPr rtlCol="0" anchor="ctr"/>
          <a:lstStyle/>
          <a:p>
            <a:pPr algn="ctr"/>
          </a:p>
        </p:txBody>
      </p:sp>
      <p:sp>
        <p:nvSpPr>
          <p:cNvPr id="251" name="Rectangle 250"/>
          <p:cNvSpPr/>
          <p:nvPr/>
        </p:nvSpPr>
        <p:spPr>
          <a:xfrm>
            <a:off x="7202272" y="3319272"/>
            <a:ext cx="173736" cy="173736"/>
          </a:xfrm>
          <a:prstGeom prst="rect">
            <a:avLst/>
          </a:prstGeom>
          <a:solidFill>
            <a:srgbClr val="5F6B58"/>
          </a:solidFill>
          <a:ln>
            <a:noFill/>
          </a:ln>
        </p:spPr>
        <p:txBody>
          <a:bodyPr rtlCol="0" anchor="ctr"/>
          <a:lstStyle/>
          <a:p>
            <a:pPr algn="ctr"/>
          </a:p>
        </p:txBody>
      </p:sp>
      <p:sp>
        <p:nvSpPr>
          <p:cNvPr id="252" name="Rectangle 251"/>
          <p:cNvSpPr/>
          <p:nvPr/>
        </p:nvSpPr>
        <p:spPr>
          <a:xfrm>
            <a:off x="7202272" y="3099816"/>
            <a:ext cx="173736" cy="173736"/>
          </a:xfrm>
          <a:prstGeom prst="rect">
            <a:avLst/>
          </a:prstGeom>
          <a:solidFill>
            <a:srgbClr val="5F6B58"/>
          </a:solidFill>
          <a:ln>
            <a:noFill/>
          </a:ln>
        </p:spPr>
        <p:txBody>
          <a:bodyPr rtlCol="0" anchor="ctr"/>
          <a:lstStyle/>
          <a:p>
            <a:pPr algn="ctr"/>
          </a:p>
        </p:txBody>
      </p:sp>
      <p:sp>
        <p:nvSpPr>
          <p:cNvPr id="253" name="Rectangle 252"/>
          <p:cNvSpPr/>
          <p:nvPr/>
        </p:nvSpPr>
        <p:spPr>
          <a:xfrm>
            <a:off x="7202272" y="2880360"/>
            <a:ext cx="173736" cy="173736"/>
          </a:xfrm>
          <a:prstGeom prst="rect">
            <a:avLst/>
          </a:prstGeom>
          <a:solidFill>
            <a:srgbClr val="5F6B58"/>
          </a:solidFill>
          <a:ln>
            <a:noFill/>
          </a:ln>
        </p:spPr>
        <p:txBody>
          <a:bodyPr rtlCol="0" anchor="ctr"/>
          <a:lstStyle/>
          <a:p>
            <a:pPr algn="ctr"/>
          </a:p>
        </p:txBody>
      </p:sp>
      <p:sp>
        <p:nvSpPr>
          <p:cNvPr id="254" name="Rectangle 253"/>
          <p:cNvSpPr/>
          <p:nvPr/>
        </p:nvSpPr>
        <p:spPr>
          <a:xfrm>
            <a:off x="7202272" y="2660904"/>
            <a:ext cx="173736" cy="173736"/>
          </a:xfrm>
          <a:prstGeom prst="rect">
            <a:avLst/>
          </a:prstGeom>
          <a:solidFill>
            <a:srgbClr val="5F6B58"/>
          </a:solidFill>
          <a:ln>
            <a:noFill/>
          </a:ln>
        </p:spPr>
        <p:txBody>
          <a:bodyPr rtlCol="0" anchor="ctr"/>
          <a:lstStyle/>
          <a:p>
            <a:pPr algn="ctr"/>
          </a:p>
        </p:txBody>
      </p:sp>
      <p:sp>
        <p:nvSpPr>
          <p:cNvPr id="255" name="Rectangle 254"/>
          <p:cNvSpPr/>
          <p:nvPr/>
        </p:nvSpPr>
        <p:spPr>
          <a:xfrm>
            <a:off x="7202272" y="2441448"/>
            <a:ext cx="173736" cy="173736"/>
          </a:xfrm>
          <a:prstGeom prst="rect">
            <a:avLst/>
          </a:prstGeom>
          <a:solidFill>
            <a:srgbClr val="5F6B58"/>
          </a:solidFill>
          <a:ln>
            <a:noFill/>
          </a:ln>
        </p:spPr>
        <p:txBody>
          <a:bodyPr rtlCol="0" anchor="ctr"/>
          <a:lstStyle/>
          <a:p>
            <a:pPr algn="ctr"/>
          </a:p>
        </p:txBody>
      </p:sp>
      <p:sp>
        <p:nvSpPr>
          <p:cNvPr id="256" name="Rectangle 255"/>
          <p:cNvSpPr/>
          <p:nvPr/>
        </p:nvSpPr>
        <p:spPr>
          <a:xfrm>
            <a:off x="7202272" y="2221992"/>
            <a:ext cx="173736" cy="173736"/>
          </a:xfrm>
          <a:prstGeom prst="rect">
            <a:avLst/>
          </a:prstGeom>
          <a:solidFill>
            <a:srgbClr val="5F6B58"/>
          </a:solidFill>
          <a:ln>
            <a:noFill/>
          </a:ln>
        </p:spPr>
        <p:txBody>
          <a:bodyPr rtlCol="0" anchor="ctr"/>
          <a:lstStyle/>
          <a:p>
            <a:pPr algn="ctr"/>
          </a:p>
        </p:txBody>
      </p:sp>
      <p:sp>
        <p:nvSpPr>
          <p:cNvPr id="257" name="Rectangle 256"/>
          <p:cNvSpPr/>
          <p:nvPr/>
        </p:nvSpPr>
        <p:spPr>
          <a:xfrm>
            <a:off x="7202272" y="2002536"/>
            <a:ext cx="173736" cy="173736"/>
          </a:xfrm>
          <a:prstGeom prst="rect">
            <a:avLst/>
          </a:prstGeom>
          <a:solidFill>
            <a:srgbClr val="5F6B58"/>
          </a:solidFill>
          <a:ln>
            <a:noFill/>
          </a:ln>
        </p:spPr>
        <p:txBody>
          <a:bodyPr rtlCol="0" anchor="ctr"/>
          <a:lstStyle/>
          <a:p>
            <a:pPr algn="ctr"/>
          </a:p>
        </p:txBody>
      </p:sp>
      <p:sp>
        <p:nvSpPr>
          <p:cNvPr id="258" name="Rectangle 257"/>
          <p:cNvSpPr/>
          <p:nvPr/>
        </p:nvSpPr>
        <p:spPr>
          <a:xfrm>
            <a:off x="7202272" y="1783080"/>
            <a:ext cx="173736" cy="173736"/>
          </a:xfrm>
          <a:prstGeom prst="rect">
            <a:avLst/>
          </a:prstGeom>
          <a:solidFill>
            <a:srgbClr val="5F6B58"/>
          </a:solidFill>
          <a:ln>
            <a:noFill/>
          </a:ln>
        </p:spPr>
        <p:txBody>
          <a:bodyPr rtlCol="0" anchor="ctr"/>
          <a:lstStyle/>
          <a:p>
            <a:pPr algn="ctr"/>
          </a:p>
        </p:txBody>
      </p:sp>
      <p:sp>
        <p:nvSpPr>
          <p:cNvPr id="259" name="Rectangle 258"/>
          <p:cNvSpPr/>
          <p:nvPr/>
        </p:nvSpPr>
        <p:spPr>
          <a:xfrm>
            <a:off x="7421728" y="3758184"/>
            <a:ext cx="173736" cy="173736"/>
          </a:xfrm>
          <a:prstGeom prst="rect">
            <a:avLst/>
          </a:prstGeom>
          <a:solidFill>
            <a:srgbClr val="5F6B58"/>
          </a:solidFill>
          <a:ln>
            <a:noFill/>
          </a:ln>
        </p:spPr>
        <p:txBody>
          <a:bodyPr rtlCol="0" anchor="ctr"/>
          <a:lstStyle/>
          <a:p>
            <a:pPr algn="ctr"/>
          </a:p>
        </p:txBody>
      </p:sp>
      <p:sp>
        <p:nvSpPr>
          <p:cNvPr id="260" name="Rectangle 259"/>
          <p:cNvSpPr/>
          <p:nvPr/>
        </p:nvSpPr>
        <p:spPr>
          <a:xfrm>
            <a:off x="7421728" y="3538728"/>
            <a:ext cx="173736" cy="173736"/>
          </a:xfrm>
          <a:prstGeom prst="rect">
            <a:avLst/>
          </a:prstGeom>
          <a:solidFill>
            <a:srgbClr val="5F6B58"/>
          </a:solidFill>
          <a:ln>
            <a:noFill/>
          </a:ln>
        </p:spPr>
        <p:txBody>
          <a:bodyPr rtlCol="0" anchor="ctr"/>
          <a:lstStyle/>
          <a:p>
            <a:pPr algn="ctr"/>
          </a:p>
        </p:txBody>
      </p:sp>
      <p:sp>
        <p:nvSpPr>
          <p:cNvPr id="261" name="Rectangle 260"/>
          <p:cNvSpPr/>
          <p:nvPr/>
        </p:nvSpPr>
        <p:spPr>
          <a:xfrm>
            <a:off x="7421728" y="3319272"/>
            <a:ext cx="173736" cy="173736"/>
          </a:xfrm>
          <a:prstGeom prst="rect">
            <a:avLst/>
          </a:prstGeom>
          <a:solidFill>
            <a:srgbClr val="5F6B58"/>
          </a:solidFill>
          <a:ln>
            <a:noFill/>
          </a:ln>
        </p:spPr>
        <p:txBody>
          <a:bodyPr rtlCol="0" anchor="ctr"/>
          <a:lstStyle/>
          <a:p>
            <a:pPr algn="ctr"/>
          </a:p>
        </p:txBody>
      </p:sp>
      <p:sp>
        <p:nvSpPr>
          <p:cNvPr id="262" name="Rectangle 261"/>
          <p:cNvSpPr/>
          <p:nvPr/>
        </p:nvSpPr>
        <p:spPr>
          <a:xfrm>
            <a:off x="7421728" y="3099816"/>
            <a:ext cx="173736" cy="173736"/>
          </a:xfrm>
          <a:prstGeom prst="rect">
            <a:avLst/>
          </a:prstGeom>
          <a:solidFill>
            <a:srgbClr val="5F6B58"/>
          </a:solidFill>
          <a:ln>
            <a:noFill/>
          </a:ln>
        </p:spPr>
        <p:txBody>
          <a:bodyPr rtlCol="0" anchor="ctr"/>
          <a:lstStyle/>
          <a:p>
            <a:pPr algn="ctr"/>
          </a:p>
        </p:txBody>
      </p:sp>
      <p:sp>
        <p:nvSpPr>
          <p:cNvPr id="263" name="Rectangle 262"/>
          <p:cNvSpPr/>
          <p:nvPr/>
        </p:nvSpPr>
        <p:spPr>
          <a:xfrm>
            <a:off x="7421728" y="2880360"/>
            <a:ext cx="173736" cy="173736"/>
          </a:xfrm>
          <a:prstGeom prst="rect">
            <a:avLst/>
          </a:prstGeom>
          <a:solidFill>
            <a:srgbClr val="5F6B58"/>
          </a:solidFill>
          <a:ln>
            <a:noFill/>
          </a:ln>
        </p:spPr>
        <p:txBody>
          <a:bodyPr rtlCol="0" anchor="ctr"/>
          <a:lstStyle/>
          <a:p>
            <a:pPr algn="ctr"/>
          </a:p>
        </p:txBody>
      </p:sp>
      <p:sp>
        <p:nvSpPr>
          <p:cNvPr id="264" name="Rectangle 263"/>
          <p:cNvSpPr/>
          <p:nvPr/>
        </p:nvSpPr>
        <p:spPr>
          <a:xfrm>
            <a:off x="7421728" y="2660904"/>
            <a:ext cx="173736" cy="173736"/>
          </a:xfrm>
          <a:prstGeom prst="rect">
            <a:avLst/>
          </a:prstGeom>
          <a:solidFill>
            <a:srgbClr val="5F6B58"/>
          </a:solidFill>
          <a:ln>
            <a:noFill/>
          </a:ln>
        </p:spPr>
        <p:txBody>
          <a:bodyPr rtlCol="0" anchor="ctr"/>
          <a:lstStyle/>
          <a:p>
            <a:pPr algn="ctr"/>
          </a:p>
        </p:txBody>
      </p:sp>
      <p:sp>
        <p:nvSpPr>
          <p:cNvPr id="265" name="Rectangle 264"/>
          <p:cNvSpPr/>
          <p:nvPr/>
        </p:nvSpPr>
        <p:spPr>
          <a:xfrm>
            <a:off x="7421728" y="2441448"/>
            <a:ext cx="173736" cy="173736"/>
          </a:xfrm>
          <a:prstGeom prst="rect">
            <a:avLst/>
          </a:prstGeom>
          <a:solidFill>
            <a:srgbClr val="5F6B58"/>
          </a:solidFill>
          <a:ln>
            <a:noFill/>
          </a:ln>
        </p:spPr>
        <p:txBody>
          <a:bodyPr rtlCol="0" anchor="ctr"/>
          <a:lstStyle/>
          <a:p>
            <a:pPr algn="ctr"/>
          </a:p>
        </p:txBody>
      </p:sp>
      <p:sp>
        <p:nvSpPr>
          <p:cNvPr id="266" name="Rectangle 265"/>
          <p:cNvSpPr/>
          <p:nvPr/>
        </p:nvSpPr>
        <p:spPr>
          <a:xfrm>
            <a:off x="7421728" y="2221992"/>
            <a:ext cx="173736" cy="173736"/>
          </a:xfrm>
          <a:prstGeom prst="rect">
            <a:avLst/>
          </a:prstGeom>
          <a:solidFill>
            <a:srgbClr val="5F6B58"/>
          </a:solidFill>
          <a:ln>
            <a:noFill/>
          </a:ln>
        </p:spPr>
        <p:txBody>
          <a:bodyPr rtlCol="0" anchor="ctr"/>
          <a:lstStyle/>
          <a:p>
            <a:pPr algn="ctr"/>
          </a:p>
        </p:txBody>
      </p:sp>
      <p:sp>
        <p:nvSpPr>
          <p:cNvPr id="267" name="Rectangle 266"/>
          <p:cNvSpPr/>
          <p:nvPr/>
        </p:nvSpPr>
        <p:spPr>
          <a:xfrm>
            <a:off x="7421728" y="2002536"/>
            <a:ext cx="173736" cy="173736"/>
          </a:xfrm>
          <a:prstGeom prst="rect">
            <a:avLst/>
          </a:prstGeom>
          <a:solidFill>
            <a:srgbClr val="5F6B58"/>
          </a:solidFill>
          <a:ln>
            <a:noFill/>
          </a:ln>
        </p:spPr>
        <p:txBody>
          <a:bodyPr rtlCol="0" anchor="ctr"/>
          <a:lstStyle/>
          <a:p>
            <a:pPr algn="ctr"/>
          </a:p>
        </p:txBody>
      </p:sp>
      <p:sp>
        <p:nvSpPr>
          <p:cNvPr id="268" name="Rectangle 267"/>
          <p:cNvSpPr/>
          <p:nvPr/>
        </p:nvSpPr>
        <p:spPr>
          <a:xfrm>
            <a:off x="7421728" y="1783080"/>
            <a:ext cx="173736" cy="173736"/>
          </a:xfrm>
          <a:prstGeom prst="rect">
            <a:avLst/>
          </a:prstGeom>
          <a:solidFill>
            <a:srgbClr val="5F6B58"/>
          </a:solidFill>
          <a:ln>
            <a:noFill/>
          </a:ln>
        </p:spPr>
        <p:txBody>
          <a:bodyPr rtlCol="0" anchor="ctr"/>
          <a:lstStyle/>
          <a:p>
            <a:pPr algn="ctr"/>
          </a:p>
        </p:txBody>
      </p:sp>
      <p:sp>
        <p:nvSpPr>
          <p:cNvPr id="269" name="Rectangle 268"/>
          <p:cNvSpPr/>
          <p:nvPr/>
        </p:nvSpPr>
        <p:spPr>
          <a:xfrm>
            <a:off x="7641184" y="3758184"/>
            <a:ext cx="173736" cy="173736"/>
          </a:xfrm>
          <a:prstGeom prst="rect">
            <a:avLst/>
          </a:prstGeom>
          <a:solidFill>
            <a:srgbClr val="5F6B58"/>
          </a:solidFill>
          <a:ln>
            <a:noFill/>
          </a:ln>
        </p:spPr>
        <p:txBody>
          <a:bodyPr rtlCol="0" anchor="ctr"/>
          <a:lstStyle/>
          <a:p>
            <a:pPr algn="ctr"/>
          </a:p>
        </p:txBody>
      </p:sp>
      <p:sp>
        <p:nvSpPr>
          <p:cNvPr id="270" name="Rectangle 269"/>
          <p:cNvSpPr/>
          <p:nvPr/>
        </p:nvSpPr>
        <p:spPr>
          <a:xfrm>
            <a:off x="7641184" y="3538728"/>
            <a:ext cx="173736" cy="173736"/>
          </a:xfrm>
          <a:prstGeom prst="rect">
            <a:avLst/>
          </a:prstGeom>
          <a:solidFill>
            <a:srgbClr val="5F6B58"/>
          </a:solidFill>
          <a:ln>
            <a:noFill/>
          </a:ln>
        </p:spPr>
        <p:txBody>
          <a:bodyPr rtlCol="0" anchor="ctr"/>
          <a:lstStyle/>
          <a:p>
            <a:pPr algn="ctr"/>
          </a:p>
        </p:txBody>
      </p:sp>
      <p:sp>
        <p:nvSpPr>
          <p:cNvPr id="271" name="Rectangle 270"/>
          <p:cNvSpPr/>
          <p:nvPr/>
        </p:nvSpPr>
        <p:spPr>
          <a:xfrm>
            <a:off x="7641184" y="3319272"/>
            <a:ext cx="173736" cy="173736"/>
          </a:xfrm>
          <a:prstGeom prst="rect">
            <a:avLst/>
          </a:prstGeom>
          <a:solidFill>
            <a:srgbClr val="5F6B58"/>
          </a:solidFill>
          <a:ln>
            <a:noFill/>
          </a:ln>
        </p:spPr>
        <p:txBody>
          <a:bodyPr rtlCol="0" anchor="ctr"/>
          <a:lstStyle/>
          <a:p>
            <a:pPr algn="ctr"/>
          </a:p>
        </p:txBody>
      </p:sp>
      <p:sp>
        <p:nvSpPr>
          <p:cNvPr id="272" name="Rectangle 271"/>
          <p:cNvSpPr/>
          <p:nvPr/>
        </p:nvSpPr>
        <p:spPr>
          <a:xfrm>
            <a:off x="7641184" y="3099816"/>
            <a:ext cx="173736" cy="173736"/>
          </a:xfrm>
          <a:prstGeom prst="rect">
            <a:avLst/>
          </a:prstGeom>
          <a:solidFill>
            <a:srgbClr val="E4EAE0"/>
          </a:solidFill>
          <a:ln>
            <a:noFill/>
          </a:ln>
        </p:spPr>
        <p:txBody>
          <a:bodyPr rtlCol="0" anchor="ctr"/>
          <a:lstStyle/>
          <a:p>
            <a:pPr algn="ctr"/>
          </a:p>
        </p:txBody>
      </p:sp>
      <p:sp>
        <p:nvSpPr>
          <p:cNvPr id="273" name="Rectangle 272"/>
          <p:cNvSpPr/>
          <p:nvPr/>
        </p:nvSpPr>
        <p:spPr>
          <a:xfrm>
            <a:off x="7641184" y="2880360"/>
            <a:ext cx="173736" cy="173736"/>
          </a:xfrm>
          <a:prstGeom prst="rect">
            <a:avLst/>
          </a:prstGeom>
          <a:solidFill>
            <a:srgbClr val="E4EAE0"/>
          </a:solidFill>
          <a:ln>
            <a:noFill/>
          </a:ln>
        </p:spPr>
        <p:txBody>
          <a:bodyPr rtlCol="0" anchor="ctr"/>
          <a:lstStyle/>
          <a:p>
            <a:pPr algn="ctr"/>
          </a:p>
        </p:txBody>
      </p:sp>
      <p:sp>
        <p:nvSpPr>
          <p:cNvPr id="274" name="Rectangle 273"/>
          <p:cNvSpPr/>
          <p:nvPr/>
        </p:nvSpPr>
        <p:spPr>
          <a:xfrm>
            <a:off x="7641184" y="2660904"/>
            <a:ext cx="173736" cy="173736"/>
          </a:xfrm>
          <a:prstGeom prst="rect">
            <a:avLst/>
          </a:prstGeom>
          <a:solidFill>
            <a:srgbClr val="E4EAE0"/>
          </a:solidFill>
          <a:ln>
            <a:noFill/>
          </a:ln>
        </p:spPr>
        <p:txBody>
          <a:bodyPr rtlCol="0" anchor="ctr"/>
          <a:lstStyle/>
          <a:p>
            <a:pPr algn="ctr"/>
          </a:p>
        </p:txBody>
      </p:sp>
      <p:sp>
        <p:nvSpPr>
          <p:cNvPr id="275" name="Rectangle 274"/>
          <p:cNvSpPr/>
          <p:nvPr/>
        </p:nvSpPr>
        <p:spPr>
          <a:xfrm>
            <a:off x="7641184" y="2441448"/>
            <a:ext cx="173736" cy="173736"/>
          </a:xfrm>
          <a:prstGeom prst="rect">
            <a:avLst/>
          </a:prstGeom>
          <a:solidFill>
            <a:srgbClr val="E4EAE0"/>
          </a:solidFill>
          <a:ln>
            <a:noFill/>
          </a:ln>
        </p:spPr>
        <p:txBody>
          <a:bodyPr rtlCol="0" anchor="ctr"/>
          <a:lstStyle/>
          <a:p>
            <a:pPr algn="ctr"/>
          </a:p>
        </p:txBody>
      </p:sp>
      <p:sp>
        <p:nvSpPr>
          <p:cNvPr id="276" name="Rectangle 275"/>
          <p:cNvSpPr/>
          <p:nvPr/>
        </p:nvSpPr>
        <p:spPr>
          <a:xfrm>
            <a:off x="7641184" y="2221992"/>
            <a:ext cx="173736" cy="173736"/>
          </a:xfrm>
          <a:prstGeom prst="rect">
            <a:avLst/>
          </a:prstGeom>
          <a:solidFill>
            <a:srgbClr val="E4EAE0"/>
          </a:solidFill>
          <a:ln>
            <a:noFill/>
          </a:ln>
        </p:spPr>
        <p:txBody>
          <a:bodyPr rtlCol="0" anchor="ctr"/>
          <a:lstStyle/>
          <a:p>
            <a:pPr algn="ctr"/>
          </a:p>
        </p:txBody>
      </p:sp>
      <p:sp>
        <p:nvSpPr>
          <p:cNvPr id="277" name="Rectangle 276"/>
          <p:cNvSpPr/>
          <p:nvPr/>
        </p:nvSpPr>
        <p:spPr>
          <a:xfrm>
            <a:off x="7641184" y="2002536"/>
            <a:ext cx="173736" cy="173736"/>
          </a:xfrm>
          <a:prstGeom prst="rect">
            <a:avLst/>
          </a:prstGeom>
          <a:solidFill>
            <a:srgbClr val="E4EAE0"/>
          </a:solidFill>
          <a:ln>
            <a:noFill/>
          </a:ln>
        </p:spPr>
        <p:txBody>
          <a:bodyPr rtlCol="0" anchor="ctr"/>
          <a:lstStyle/>
          <a:p>
            <a:pPr algn="ctr"/>
          </a:p>
        </p:txBody>
      </p:sp>
      <p:sp>
        <p:nvSpPr>
          <p:cNvPr id="278" name="Rectangle 277"/>
          <p:cNvSpPr/>
          <p:nvPr/>
        </p:nvSpPr>
        <p:spPr>
          <a:xfrm>
            <a:off x="7641184" y="1783080"/>
            <a:ext cx="173736" cy="173736"/>
          </a:xfrm>
          <a:prstGeom prst="rect">
            <a:avLst/>
          </a:prstGeom>
          <a:solidFill>
            <a:srgbClr val="E4EAE0"/>
          </a:solidFill>
          <a:ln>
            <a:noFill/>
          </a:ln>
        </p:spPr>
        <p:txBody>
          <a:bodyPr rtlCol="0" anchor="ctr"/>
          <a:lstStyle/>
          <a:p>
            <a:pPr algn="ctr"/>
          </a:p>
        </p:txBody>
      </p:sp>
      <p:sp>
        <p:nvSpPr>
          <p:cNvPr id="279" name="Rectangle 278"/>
          <p:cNvSpPr/>
          <p:nvPr/>
        </p:nvSpPr>
        <p:spPr>
          <a:xfrm>
            <a:off x="7860640" y="3758184"/>
            <a:ext cx="173736" cy="173736"/>
          </a:xfrm>
          <a:prstGeom prst="rect">
            <a:avLst/>
          </a:prstGeom>
          <a:solidFill>
            <a:srgbClr val="E4EAE0"/>
          </a:solidFill>
          <a:ln>
            <a:noFill/>
          </a:ln>
        </p:spPr>
        <p:txBody>
          <a:bodyPr rtlCol="0" anchor="ctr"/>
          <a:lstStyle/>
          <a:p>
            <a:pPr algn="ctr"/>
          </a:p>
        </p:txBody>
      </p:sp>
      <p:sp>
        <p:nvSpPr>
          <p:cNvPr id="280" name="Rectangle 279"/>
          <p:cNvSpPr/>
          <p:nvPr/>
        </p:nvSpPr>
        <p:spPr>
          <a:xfrm>
            <a:off x="7860640" y="3538728"/>
            <a:ext cx="173736" cy="173736"/>
          </a:xfrm>
          <a:prstGeom prst="rect">
            <a:avLst/>
          </a:prstGeom>
          <a:solidFill>
            <a:srgbClr val="E4EAE0"/>
          </a:solidFill>
          <a:ln>
            <a:noFill/>
          </a:ln>
        </p:spPr>
        <p:txBody>
          <a:bodyPr rtlCol="0" anchor="ctr"/>
          <a:lstStyle/>
          <a:p>
            <a:pPr algn="ctr"/>
          </a:p>
        </p:txBody>
      </p:sp>
      <p:sp>
        <p:nvSpPr>
          <p:cNvPr id="281" name="Rectangle 280"/>
          <p:cNvSpPr/>
          <p:nvPr/>
        </p:nvSpPr>
        <p:spPr>
          <a:xfrm>
            <a:off x="7860640" y="3319272"/>
            <a:ext cx="173736" cy="173736"/>
          </a:xfrm>
          <a:prstGeom prst="rect">
            <a:avLst/>
          </a:prstGeom>
          <a:solidFill>
            <a:srgbClr val="E4EAE0"/>
          </a:solidFill>
          <a:ln>
            <a:noFill/>
          </a:ln>
        </p:spPr>
        <p:txBody>
          <a:bodyPr rtlCol="0" anchor="ctr"/>
          <a:lstStyle/>
          <a:p>
            <a:pPr algn="ctr"/>
          </a:p>
        </p:txBody>
      </p:sp>
      <p:sp>
        <p:nvSpPr>
          <p:cNvPr id="282" name="Rectangle 281"/>
          <p:cNvSpPr/>
          <p:nvPr/>
        </p:nvSpPr>
        <p:spPr>
          <a:xfrm>
            <a:off x="7860640" y="3099816"/>
            <a:ext cx="173736" cy="173736"/>
          </a:xfrm>
          <a:prstGeom prst="rect">
            <a:avLst/>
          </a:prstGeom>
          <a:solidFill>
            <a:srgbClr val="E4EAE0"/>
          </a:solidFill>
          <a:ln>
            <a:noFill/>
          </a:ln>
        </p:spPr>
        <p:txBody>
          <a:bodyPr rtlCol="0" anchor="ctr"/>
          <a:lstStyle/>
          <a:p>
            <a:pPr algn="ctr"/>
          </a:p>
        </p:txBody>
      </p:sp>
      <p:sp>
        <p:nvSpPr>
          <p:cNvPr id="283" name="Rectangle 282"/>
          <p:cNvSpPr/>
          <p:nvPr/>
        </p:nvSpPr>
        <p:spPr>
          <a:xfrm>
            <a:off x="7860640" y="2880360"/>
            <a:ext cx="173736" cy="173736"/>
          </a:xfrm>
          <a:prstGeom prst="rect">
            <a:avLst/>
          </a:prstGeom>
          <a:solidFill>
            <a:srgbClr val="E4EAE0"/>
          </a:solidFill>
          <a:ln>
            <a:noFill/>
          </a:ln>
        </p:spPr>
        <p:txBody>
          <a:bodyPr rtlCol="0" anchor="ctr"/>
          <a:lstStyle/>
          <a:p>
            <a:pPr algn="ctr"/>
          </a:p>
        </p:txBody>
      </p:sp>
      <p:sp>
        <p:nvSpPr>
          <p:cNvPr id="284" name="Rectangle 283"/>
          <p:cNvSpPr/>
          <p:nvPr/>
        </p:nvSpPr>
        <p:spPr>
          <a:xfrm>
            <a:off x="7860640" y="2660904"/>
            <a:ext cx="173736" cy="173736"/>
          </a:xfrm>
          <a:prstGeom prst="rect">
            <a:avLst/>
          </a:prstGeom>
          <a:solidFill>
            <a:srgbClr val="E4EAE0"/>
          </a:solidFill>
          <a:ln>
            <a:noFill/>
          </a:ln>
        </p:spPr>
        <p:txBody>
          <a:bodyPr rtlCol="0" anchor="ctr"/>
          <a:lstStyle/>
          <a:p>
            <a:pPr algn="ctr"/>
          </a:p>
        </p:txBody>
      </p:sp>
      <p:sp>
        <p:nvSpPr>
          <p:cNvPr id="285" name="Rectangle 284"/>
          <p:cNvSpPr/>
          <p:nvPr/>
        </p:nvSpPr>
        <p:spPr>
          <a:xfrm>
            <a:off x="7860640" y="2441448"/>
            <a:ext cx="173736" cy="173736"/>
          </a:xfrm>
          <a:prstGeom prst="rect">
            <a:avLst/>
          </a:prstGeom>
          <a:solidFill>
            <a:srgbClr val="E4EAE0"/>
          </a:solidFill>
          <a:ln>
            <a:noFill/>
          </a:ln>
        </p:spPr>
        <p:txBody>
          <a:bodyPr rtlCol="0" anchor="ctr"/>
          <a:lstStyle/>
          <a:p>
            <a:pPr algn="ctr"/>
          </a:p>
        </p:txBody>
      </p:sp>
      <p:sp>
        <p:nvSpPr>
          <p:cNvPr id="286" name="Rectangle 285"/>
          <p:cNvSpPr/>
          <p:nvPr/>
        </p:nvSpPr>
        <p:spPr>
          <a:xfrm>
            <a:off x="7860640" y="2221992"/>
            <a:ext cx="173736" cy="173736"/>
          </a:xfrm>
          <a:prstGeom prst="rect">
            <a:avLst/>
          </a:prstGeom>
          <a:solidFill>
            <a:srgbClr val="E4EAE0"/>
          </a:solidFill>
          <a:ln>
            <a:noFill/>
          </a:ln>
        </p:spPr>
        <p:txBody>
          <a:bodyPr rtlCol="0" anchor="ctr"/>
          <a:lstStyle/>
          <a:p>
            <a:pPr algn="ctr"/>
          </a:p>
        </p:txBody>
      </p:sp>
      <p:sp>
        <p:nvSpPr>
          <p:cNvPr id="287" name="Rectangle 286"/>
          <p:cNvSpPr/>
          <p:nvPr/>
        </p:nvSpPr>
        <p:spPr>
          <a:xfrm>
            <a:off x="7860640" y="2002536"/>
            <a:ext cx="173736" cy="173736"/>
          </a:xfrm>
          <a:prstGeom prst="rect">
            <a:avLst/>
          </a:prstGeom>
          <a:solidFill>
            <a:srgbClr val="E4EAE0"/>
          </a:solidFill>
          <a:ln>
            <a:noFill/>
          </a:ln>
        </p:spPr>
        <p:txBody>
          <a:bodyPr rtlCol="0" anchor="ctr"/>
          <a:lstStyle/>
          <a:p>
            <a:pPr algn="ctr"/>
          </a:p>
        </p:txBody>
      </p:sp>
      <p:sp>
        <p:nvSpPr>
          <p:cNvPr id="288" name="Rectangle 287"/>
          <p:cNvSpPr/>
          <p:nvPr/>
        </p:nvSpPr>
        <p:spPr>
          <a:xfrm>
            <a:off x="7860640" y="1783080"/>
            <a:ext cx="173736" cy="173736"/>
          </a:xfrm>
          <a:prstGeom prst="rect">
            <a:avLst/>
          </a:prstGeom>
          <a:solidFill>
            <a:srgbClr val="E4EAE0"/>
          </a:solidFill>
          <a:ln>
            <a:noFill/>
          </a:ln>
        </p:spPr>
        <p:txBody>
          <a:bodyPr rtlCol="0" anchor="ctr"/>
          <a:lstStyle/>
          <a:p>
            <a:pPr algn="ctr"/>
          </a:p>
        </p:txBody>
      </p:sp>
      <p:sp>
        <p:nvSpPr>
          <p:cNvPr id="289" name="Rectangle 288"/>
          <p:cNvSpPr/>
          <p:nvPr/>
        </p:nvSpPr>
        <p:spPr>
          <a:xfrm>
            <a:off x="8080096" y="3758184"/>
            <a:ext cx="173736" cy="173736"/>
          </a:xfrm>
          <a:prstGeom prst="rect">
            <a:avLst/>
          </a:prstGeom>
          <a:solidFill>
            <a:srgbClr val="E4EAE0"/>
          </a:solidFill>
          <a:ln>
            <a:noFill/>
          </a:ln>
        </p:spPr>
        <p:txBody>
          <a:bodyPr rtlCol="0" anchor="ctr"/>
          <a:lstStyle/>
          <a:p>
            <a:pPr algn="ctr"/>
          </a:p>
        </p:txBody>
      </p:sp>
      <p:sp>
        <p:nvSpPr>
          <p:cNvPr id="290" name="Rectangle 289"/>
          <p:cNvSpPr/>
          <p:nvPr/>
        </p:nvSpPr>
        <p:spPr>
          <a:xfrm>
            <a:off x="8080096" y="3538728"/>
            <a:ext cx="173736" cy="173736"/>
          </a:xfrm>
          <a:prstGeom prst="rect">
            <a:avLst/>
          </a:prstGeom>
          <a:solidFill>
            <a:srgbClr val="E4EAE0"/>
          </a:solidFill>
          <a:ln>
            <a:noFill/>
          </a:ln>
        </p:spPr>
        <p:txBody>
          <a:bodyPr rtlCol="0" anchor="ctr"/>
          <a:lstStyle/>
          <a:p>
            <a:pPr algn="ctr"/>
          </a:p>
        </p:txBody>
      </p:sp>
      <p:sp>
        <p:nvSpPr>
          <p:cNvPr id="291" name="Rectangle 290"/>
          <p:cNvSpPr/>
          <p:nvPr/>
        </p:nvSpPr>
        <p:spPr>
          <a:xfrm>
            <a:off x="8080096" y="3319272"/>
            <a:ext cx="173736" cy="173736"/>
          </a:xfrm>
          <a:prstGeom prst="rect">
            <a:avLst/>
          </a:prstGeom>
          <a:solidFill>
            <a:srgbClr val="E4EAE0"/>
          </a:solidFill>
          <a:ln>
            <a:noFill/>
          </a:ln>
        </p:spPr>
        <p:txBody>
          <a:bodyPr rtlCol="0" anchor="ctr"/>
          <a:lstStyle/>
          <a:p>
            <a:pPr algn="ctr"/>
          </a:p>
        </p:txBody>
      </p:sp>
      <p:sp>
        <p:nvSpPr>
          <p:cNvPr id="292" name="Rectangle 291"/>
          <p:cNvSpPr/>
          <p:nvPr/>
        </p:nvSpPr>
        <p:spPr>
          <a:xfrm>
            <a:off x="8080096" y="3099816"/>
            <a:ext cx="173736" cy="173736"/>
          </a:xfrm>
          <a:prstGeom prst="rect">
            <a:avLst/>
          </a:prstGeom>
          <a:solidFill>
            <a:srgbClr val="E4EAE0"/>
          </a:solidFill>
          <a:ln>
            <a:noFill/>
          </a:ln>
        </p:spPr>
        <p:txBody>
          <a:bodyPr rtlCol="0" anchor="ctr"/>
          <a:lstStyle/>
          <a:p>
            <a:pPr algn="ctr"/>
          </a:p>
        </p:txBody>
      </p:sp>
      <p:sp>
        <p:nvSpPr>
          <p:cNvPr id="293" name="Rectangle 292"/>
          <p:cNvSpPr/>
          <p:nvPr/>
        </p:nvSpPr>
        <p:spPr>
          <a:xfrm>
            <a:off x="8080096" y="2880360"/>
            <a:ext cx="173736" cy="173736"/>
          </a:xfrm>
          <a:prstGeom prst="rect">
            <a:avLst/>
          </a:prstGeom>
          <a:solidFill>
            <a:srgbClr val="E4EAE0"/>
          </a:solidFill>
          <a:ln>
            <a:noFill/>
          </a:ln>
        </p:spPr>
        <p:txBody>
          <a:bodyPr rtlCol="0" anchor="ctr"/>
          <a:lstStyle/>
          <a:p>
            <a:pPr algn="ctr"/>
          </a:p>
        </p:txBody>
      </p:sp>
      <p:sp>
        <p:nvSpPr>
          <p:cNvPr id="294" name="Rectangle 293"/>
          <p:cNvSpPr/>
          <p:nvPr/>
        </p:nvSpPr>
        <p:spPr>
          <a:xfrm>
            <a:off x="8080096" y="2660904"/>
            <a:ext cx="173736" cy="173736"/>
          </a:xfrm>
          <a:prstGeom prst="rect">
            <a:avLst/>
          </a:prstGeom>
          <a:solidFill>
            <a:srgbClr val="E4EAE0"/>
          </a:solidFill>
          <a:ln>
            <a:noFill/>
          </a:ln>
        </p:spPr>
        <p:txBody>
          <a:bodyPr rtlCol="0" anchor="ctr"/>
          <a:lstStyle/>
          <a:p>
            <a:pPr algn="ctr"/>
          </a:p>
        </p:txBody>
      </p:sp>
      <p:sp>
        <p:nvSpPr>
          <p:cNvPr id="295" name="Rectangle 294"/>
          <p:cNvSpPr/>
          <p:nvPr/>
        </p:nvSpPr>
        <p:spPr>
          <a:xfrm>
            <a:off x="8080096" y="2441448"/>
            <a:ext cx="173736" cy="173736"/>
          </a:xfrm>
          <a:prstGeom prst="rect">
            <a:avLst/>
          </a:prstGeom>
          <a:solidFill>
            <a:srgbClr val="E4EAE0"/>
          </a:solidFill>
          <a:ln>
            <a:noFill/>
          </a:ln>
        </p:spPr>
        <p:txBody>
          <a:bodyPr rtlCol="0" anchor="ctr"/>
          <a:lstStyle/>
          <a:p>
            <a:pPr algn="ctr"/>
          </a:p>
        </p:txBody>
      </p:sp>
      <p:sp>
        <p:nvSpPr>
          <p:cNvPr id="296" name="Rectangle 295"/>
          <p:cNvSpPr/>
          <p:nvPr/>
        </p:nvSpPr>
        <p:spPr>
          <a:xfrm>
            <a:off x="8080096" y="2221992"/>
            <a:ext cx="173736" cy="173736"/>
          </a:xfrm>
          <a:prstGeom prst="rect">
            <a:avLst/>
          </a:prstGeom>
          <a:solidFill>
            <a:srgbClr val="E4EAE0"/>
          </a:solidFill>
          <a:ln>
            <a:noFill/>
          </a:ln>
        </p:spPr>
        <p:txBody>
          <a:bodyPr rtlCol="0" anchor="ctr"/>
          <a:lstStyle/>
          <a:p>
            <a:pPr algn="ctr"/>
          </a:p>
        </p:txBody>
      </p:sp>
      <p:sp>
        <p:nvSpPr>
          <p:cNvPr id="297" name="Rectangle 296"/>
          <p:cNvSpPr/>
          <p:nvPr/>
        </p:nvSpPr>
        <p:spPr>
          <a:xfrm>
            <a:off x="8080096" y="2002536"/>
            <a:ext cx="173736" cy="173736"/>
          </a:xfrm>
          <a:prstGeom prst="rect">
            <a:avLst/>
          </a:prstGeom>
          <a:solidFill>
            <a:srgbClr val="E4EAE0"/>
          </a:solidFill>
          <a:ln>
            <a:noFill/>
          </a:ln>
        </p:spPr>
        <p:txBody>
          <a:bodyPr rtlCol="0" anchor="ctr"/>
          <a:lstStyle/>
          <a:p>
            <a:pPr algn="ctr"/>
          </a:p>
        </p:txBody>
      </p:sp>
      <p:sp>
        <p:nvSpPr>
          <p:cNvPr id="298" name="Rectangle 297"/>
          <p:cNvSpPr/>
          <p:nvPr/>
        </p:nvSpPr>
        <p:spPr>
          <a:xfrm>
            <a:off x="8080096" y="1783080"/>
            <a:ext cx="173736" cy="173736"/>
          </a:xfrm>
          <a:prstGeom prst="rect">
            <a:avLst/>
          </a:prstGeom>
          <a:solidFill>
            <a:srgbClr val="E4EAE0"/>
          </a:solidFill>
          <a:ln>
            <a:noFill/>
          </a:ln>
        </p:spPr>
        <p:txBody>
          <a:bodyPr rtlCol="0" anchor="ctr"/>
          <a:lstStyle/>
          <a:p>
            <a:pPr algn="ctr"/>
          </a:p>
        </p:txBody>
      </p:sp>
      <p:sp>
        <p:nvSpPr>
          <p:cNvPr id="299" name="Rectangle 298"/>
          <p:cNvSpPr/>
          <p:nvPr/>
        </p:nvSpPr>
        <p:spPr>
          <a:xfrm>
            <a:off x="8299552" y="3758184"/>
            <a:ext cx="173736" cy="173736"/>
          </a:xfrm>
          <a:prstGeom prst="rect">
            <a:avLst/>
          </a:prstGeom>
          <a:solidFill>
            <a:srgbClr val="E4EAE0"/>
          </a:solidFill>
          <a:ln>
            <a:noFill/>
          </a:ln>
        </p:spPr>
        <p:txBody>
          <a:bodyPr rtlCol="0" anchor="ctr"/>
          <a:lstStyle/>
          <a:p>
            <a:pPr algn="ctr"/>
          </a:p>
        </p:txBody>
      </p:sp>
      <p:sp>
        <p:nvSpPr>
          <p:cNvPr id="300" name="Rectangle 299"/>
          <p:cNvSpPr/>
          <p:nvPr/>
        </p:nvSpPr>
        <p:spPr>
          <a:xfrm>
            <a:off x="8299552" y="3538728"/>
            <a:ext cx="173736" cy="173736"/>
          </a:xfrm>
          <a:prstGeom prst="rect">
            <a:avLst/>
          </a:prstGeom>
          <a:solidFill>
            <a:srgbClr val="E4EAE0"/>
          </a:solidFill>
          <a:ln>
            <a:noFill/>
          </a:ln>
        </p:spPr>
        <p:txBody>
          <a:bodyPr rtlCol="0" anchor="ctr"/>
          <a:lstStyle/>
          <a:p>
            <a:pPr algn="ctr"/>
          </a:p>
        </p:txBody>
      </p:sp>
      <p:sp>
        <p:nvSpPr>
          <p:cNvPr id="301" name="Rectangle 300"/>
          <p:cNvSpPr/>
          <p:nvPr/>
        </p:nvSpPr>
        <p:spPr>
          <a:xfrm>
            <a:off x="8299552" y="3319272"/>
            <a:ext cx="173736" cy="173736"/>
          </a:xfrm>
          <a:prstGeom prst="rect">
            <a:avLst/>
          </a:prstGeom>
          <a:solidFill>
            <a:srgbClr val="E4EAE0"/>
          </a:solidFill>
          <a:ln>
            <a:noFill/>
          </a:ln>
        </p:spPr>
        <p:txBody>
          <a:bodyPr rtlCol="0" anchor="ctr"/>
          <a:lstStyle/>
          <a:p>
            <a:pPr algn="ctr"/>
          </a:p>
        </p:txBody>
      </p:sp>
      <p:sp>
        <p:nvSpPr>
          <p:cNvPr id="302" name="Rectangle 301"/>
          <p:cNvSpPr/>
          <p:nvPr/>
        </p:nvSpPr>
        <p:spPr>
          <a:xfrm>
            <a:off x="8299552" y="3099816"/>
            <a:ext cx="173736" cy="173736"/>
          </a:xfrm>
          <a:prstGeom prst="rect">
            <a:avLst/>
          </a:prstGeom>
          <a:solidFill>
            <a:srgbClr val="E4EAE0"/>
          </a:solidFill>
          <a:ln>
            <a:noFill/>
          </a:ln>
        </p:spPr>
        <p:txBody>
          <a:bodyPr rtlCol="0" anchor="ctr"/>
          <a:lstStyle/>
          <a:p>
            <a:pPr algn="ctr"/>
          </a:p>
        </p:txBody>
      </p:sp>
      <p:sp>
        <p:nvSpPr>
          <p:cNvPr id="303" name="Rectangle 302"/>
          <p:cNvSpPr/>
          <p:nvPr/>
        </p:nvSpPr>
        <p:spPr>
          <a:xfrm>
            <a:off x="8299552" y="2880360"/>
            <a:ext cx="173736" cy="173736"/>
          </a:xfrm>
          <a:prstGeom prst="rect">
            <a:avLst/>
          </a:prstGeom>
          <a:solidFill>
            <a:srgbClr val="E4EAE0"/>
          </a:solidFill>
          <a:ln>
            <a:noFill/>
          </a:ln>
        </p:spPr>
        <p:txBody>
          <a:bodyPr rtlCol="0" anchor="ctr"/>
          <a:lstStyle/>
          <a:p>
            <a:pPr algn="ctr"/>
          </a:p>
        </p:txBody>
      </p:sp>
      <p:sp>
        <p:nvSpPr>
          <p:cNvPr id="304" name="Rectangle 303"/>
          <p:cNvSpPr/>
          <p:nvPr/>
        </p:nvSpPr>
        <p:spPr>
          <a:xfrm>
            <a:off x="8299552" y="2660904"/>
            <a:ext cx="173736" cy="173736"/>
          </a:xfrm>
          <a:prstGeom prst="rect">
            <a:avLst/>
          </a:prstGeom>
          <a:solidFill>
            <a:srgbClr val="E4EAE0"/>
          </a:solidFill>
          <a:ln>
            <a:noFill/>
          </a:ln>
        </p:spPr>
        <p:txBody>
          <a:bodyPr rtlCol="0" anchor="ctr"/>
          <a:lstStyle/>
          <a:p>
            <a:pPr algn="ctr"/>
          </a:p>
        </p:txBody>
      </p:sp>
      <p:sp>
        <p:nvSpPr>
          <p:cNvPr id="305" name="Rectangle 304"/>
          <p:cNvSpPr/>
          <p:nvPr/>
        </p:nvSpPr>
        <p:spPr>
          <a:xfrm>
            <a:off x="8299552" y="2441448"/>
            <a:ext cx="173736" cy="173736"/>
          </a:xfrm>
          <a:prstGeom prst="rect">
            <a:avLst/>
          </a:prstGeom>
          <a:solidFill>
            <a:srgbClr val="E4EAE0"/>
          </a:solidFill>
          <a:ln>
            <a:noFill/>
          </a:ln>
        </p:spPr>
        <p:txBody>
          <a:bodyPr rtlCol="0" anchor="ctr"/>
          <a:lstStyle/>
          <a:p>
            <a:pPr algn="ctr"/>
          </a:p>
        </p:txBody>
      </p:sp>
      <p:sp>
        <p:nvSpPr>
          <p:cNvPr id="306" name="Rectangle 305"/>
          <p:cNvSpPr/>
          <p:nvPr/>
        </p:nvSpPr>
        <p:spPr>
          <a:xfrm>
            <a:off x="8299552" y="2221992"/>
            <a:ext cx="173736" cy="173736"/>
          </a:xfrm>
          <a:prstGeom prst="rect">
            <a:avLst/>
          </a:prstGeom>
          <a:solidFill>
            <a:srgbClr val="E4EAE0"/>
          </a:solidFill>
          <a:ln>
            <a:noFill/>
          </a:ln>
        </p:spPr>
        <p:txBody>
          <a:bodyPr rtlCol="0" anchor="ctr"/>
          <a:lstStyle/>
          <a:p>
            <a:pPr algn="ctr"/>
          </a:p>
        </p:txBody>
      </p:sp>
      <p:sp>
        <p:nvSpPr>
          <p:cNvPr id="307" name="Rectangle 306"/>
          <p:cNvSpPr/>
          <p:nvPr/>
        </p:nvSpPr>
        <p:spPr>
          <a:xfrm>
            <a:off x="8299552" y="2002536"/>
            <a:ext cx="173736" cy="173736"/>
          </a:xfrm>
          <a:prstGeom prst="rect">
            <a:avLst/>
          </a:prstGeom>
          <a:solidFill>
            <a:srgbClr val="E4EAE0"/>
          </a:solidFill>
          <a:ln>
            <a:noFill/>
          </a:ln>
        </p:spPr>
        <p:txBody>
          <a:bodyPr rtlCol="0" anchor="ctr"/>
          <a:lstStyle/>
          <a:p>
            <a:pPr algn="ctr"/>
          </a:p>
        </p:txBody>
      </p:sp>
      <p:sp>
        <p:nvSpPr>
          <p:cNvPr id="308" name="Rectangle 307"/>
          <p:cNvSpPr/>
          <p:nvPr/>
        </p:nvSpPr>
        <p:spPr>
          <a:xfrm>
            <a:off x="8299552" y="1783080"/>
            <a:ext cx="173736" cy="173736"/>
          </a:xfrm>
          <a:prstGeom prst="rect">
            <a:avLst/>
          </a:prstGeom>
          <a:solidFill>
            <a:srgbClr val="E4EAE0"/>
          </a:solidFill>
          <a:ln>
            <a:noFill/>
          </a:ln>
        </p:spPr>
        <p:txBody>
          <a:bodyPr rtlCol="0" anchor="ctr"/>
          <a:lstStyle/>
          <a:p>
            <a:pPr algn="ctr"/>
          </a:p>
        </p:txBody>
      </p:sp>
      <p:sp>
        <p:nvSpPr>
          <p:cNvPr id="309" name="TextBox 308"/>
          <p:cNvSpPr txBox="1"/>
          <p:nvPr/>
        </p:nvSpPr>
        <p:spPr>
          <a:xfrm>
            <a:off x="6324448" y="4114800"/>
            <a:ext cx="2384984" cy="640080"/>
          </a:xfrm>
          <a:prstGeom prst="rect">
            <a:avLst/>
          </a:prstGeom>
          <a:noFill/>
        </p:spPr>
        <p:txBody>
          <a:bodyPr wrap="square" lIns="0" tIns="0" rIns="0" bIns="0">
            <a:spAutoFit/>
          </a:bodyPr>
          <a:lstStyle/>
          <a:p>
            <a:pPr>
              <a:lnSpc>
                <a:spcPct val="105000"/>
              </a:lnSpc>
            </a:pPr>
            <a:r>
              <a:rPr sz="3600">
                <a:solidFill>
                  <a:srgbClr val="26301F"/>
                </a:solidFill>
                <a:latin typeface="Georgia"/>
              </a:rPr>
              <a:t>63%</a:t>
            </a:r>
          </a:p>
        </p:txBody>
      </p:sp>
      <p:sp>
        <p:nvSpPr>
          <p:cNvPr id="310" name="TextBox 309"/>
          <p:cNvSpPr txBox="1"/>
          <p:nvPr/>
        </p:nvSpPr>
        <p:spPr>
          <a:xfrm>
            <a:off x="6324448" y="4754880"/>
            <a:ext cx="2339264" cy="822960"/>
          </a:xfrm>
          <a:prstGeom prst="rect">
            <a:avLst/>
          </a:prstGeom>
          <a:noFill/>
        </p:spPr>
        <p:txBody>
          <a:bodyPr wrap="square" lIns="0" tIns="0" rIns="0" bIns="0">
            <a:spAutoFit/>
          </a:bodyPr>
          <a:lstStyle/>
          <a:p>
            <a:pPr>
              <a:lnSpc>
                <a:spcPct val="105000"/>
              </a:lnSpc>
            </a:pPr>
            <a:r>
              <a:rPr sz="1500">
                <a:solidFill>
                  <a:srgbClr val="0C1408"/>
                </a:solidFill>
                <a:latin typeface="Arial"/>
              </a:rPr>
              <a:t>of savers keep cash at home [1]</a:t>
            </a:r>
          </a:p>
        </p:txBody>
      </p:sp>
      <p:sp>
        <p:nvSpPr>
          <p:cNvPr id="311" name="Rectangle 310"/>
          <p:cNvSpPr/>
          <p:nvPr/>
        </p:nvSpPr>
        <p:spPr>
          <a:xfrm>
            <a:off x="9166631" y="3758184"/>
            <a:ext cx="173736" cy="173736"/>
          </a:xfrm>
          <a:prstGeom prst="rect">
            <a:avLst/>
          </a:prstGeom>
          <a:solidFill>
            <a:srgbClr val="41801A"/>
          </a:solidFill>
          <a:ln>
            <a:noFill/>
          </a:ln>
        </p:spPr>
        <p:txBody>
          <a:bodyPr rtlCol="0" anchor="ctr"/>
          <a:lstStyle/>
          <a:p>
            <a:pPr algn="ctr"/>
          </a:p>
        </p:txBody>
      </p:sp>
      <p:sp>
        <p:nvSpPr>
          <p:cNvPr id="312" name="Rectangle 311"/>
          <p:cNvSpPr/>
          <p:nvPr/>
        </p:nvSpPr>
        <p:spPr>
          <a:xfrm>
            <a:off x="9166631" y="3538728"/>
            <a:ext cx="173736" cy="173736"/>
          </a:xfrm>
          <a:prstGeom prst="rect">
            <a:avLst/>
          </a:prstGeom>
          <a:solidFill>
            <a:srgbClr val="41801A"/>
          </a:solidFill>
          <a:ln>
            <a:noFill/>
          </a:ln>
        </p:spPr>
        <p:txBody>
          <a:bodyPr rtlCol="0" anchor="ctr"/>
          <a:lstStyle/>
          <a:p>
            <a:pPr algn="ctr"/>
          </a:p>
        </p:txBody>
      </p:sp>
      <p:sp>
        <p:nvSpPr>
          <p:cNvPr id="313" name="Rectangle 312"/>
          <p:cNvSpPr/>
          <p:nvPr/>
        </p:nvSpPr>
        <p:spPr>
          <a:xfrm>
            <a:off x="9166631" y="3319272"/>
            <a:ext cx="173736" cy="173736"/>
          </a:xfrm>
          <a:prstGeom prst="rect">
            <a:avLst/>
          </a:prstGeom>
          <a:solidFill>
            <a:srgbClr val="41801A"/>
          </a:solidFill>
          <a:ln>
            <a:noFill/>
          </a:ln>
        </p:spPr>
        <p:txBody>
          <a:bodyPr rtlCol="0" anchor="ctr"/>
          <a:lstStyle/>
          <a:p>
            <a:pPr algn="ctr"/>
          </a:p>
        </p:txBody>
      </p:sp>
      <p:sp>
        <p:nvSpPr>
          <p:cNvPr id="314" name="Rectangle 313"/>
          <p:cNvSpPr/>
          <p:nvPr/>
        </p:nvSpPr>
        <p:spPr>
          <a:xfrm>
            <a:off x="9166631" y="3099816"/>
            <a:ext cx="173736" cy="173736"/>
          </a:xfrm>
          <a:prstGeom prst="rect">
            <a:avLst/>
          </a:prstGeom>
          <a:solidFill>
            <a:srgbClr val="41801A"/>
          </a:solidFill>
          <a:ln>
            <a:noFill/>
          </a:ln>
        </p:spPr>
        <p:txBody>
          <a:bodyPr rtlCol="0" anchor="ctr"/>
          <a:lstStyle/>
          <a:p>
            <a:pPr algn="ctr"/>
          </a:p>
        </p:txBody>
      </p:sp>
      <p:sp>
        <p:nvSpPr>
          <p:cNvPr id="315" name="Rectangle 314"/>
          <p:cNvSpPr/>
          <p:nvPr/>
        </p:nvSpPr>
        <p:spPr>
          <a:xfrm>
            <a:off x="9166631" y="2880360"/>
            <a:ext cx="173736" cy="173736"/>
          </a:xfrm>
          <a:prstGeom prst="rect">
            <a:avLst/>
          </a:prstGeom>
          <a:solidFill>
            <a:srgbClr val="E4EAE0"/>
          </a:solidFill>
          <a:ln>
            <a:noFill/>
          </a:ln>
        </p:spPr>
        <p:txBody>
          <a:bodyPr rtlCol="0" anchor="ctr"/>
          <a:lstStyle/>
          <a:p>
            <a:pPr algn="ctr"/>
          </a:p>
        </p:txBody>
      </p:sp>
      <p:sp>
        <p:nvSpPr>
          <p:cNvPr id="316" name="Rectangle 315"/>
          <p:cNvSpPr/>
          <p:nvPr/>
        </p:nvSpPr>
        <p:spPr>
          <a:xfrm>
            <a:off x="9166631" y="2660904"/>
            <a:ext cx="173736" cy="173736"/>
          </a:xfrm>
          <a:prstGeom prst="rect">
            <a:avLst/>
          </a:prstGeom>
          <a:solidFill>
            <a:srgbClr val="E4EAE0"/>
          </a:solidFill>
          <a:ln>
            <a:noFill/>
          </a:ln>
        </p:spPr>
        <p:txBody>
          <a:bodyPr rtlCol="0" anchor="ctr"/>
          <a:lstStyle/>
          <a:p>
            <a:pPr algn="ctr"/>
          </a:p>
        </p:txBody>
      </p:sp>
      <p:sp>
        <p:nvSpPr>
          <p:cNvPr id="317" name="Rectangle 316"/>
          <p:cNvSpPr/>
          <p:nvPr/>
        </p:nvSpPr>
        <p:spPr>
          <a:xfrm>
            <a:off x="9166631" y="2441448"/>
            <a:ext cx="173736" cy="173736"/>
          </a:xfrm>
          <a:prstGeom prst="rect">
            <a:avLst/>
          </a:prstGeom>
          <a:solidFill>
            <a:srgbClr val="E4EAE0"/>
          </a:solidFill>
          <a:ln>
            <a:noFill/>
          </a:ln>
        </p:spPr>
        <p:txBody>
          <a:bodyPr rtlCol="0" anchor="ctr"/>
          <a:lstStyle/>
          <a:p>
            <a:pPr algn="ctr"/>
          </a:p>
        </p:txBody>
      </p:sp>
      <p:sp>
        <p:nvSpPr>
          <p:cNvPr id="318" name="Rectangle 317"/>
          <p:cNvSpPr/>
          <p:nvPr/>
        </p:nvSpPr>
        <p:spPr>
          <a:xfrm>
            <a:off x="9166631" y="2221992"/>
            <a:ext cx="173736" cy="173736"/>
          </a:xfrm>
          <a:prstGeom prst="rect">
            <a:avLst/>
          </a:prstGeom>
          <a:solidFill>
            <a:srgbClr val="E4EAE0"/>
          </a:solidFill>
          <a:ln>
            <a:noFill/>
          </a:ln>
        </p:spPr>
        <p:txBody>
          <a:bodyPr rtlCol="0" anchor="ctr"/>
          <a:lstStyle/>
          <a:p>
            <a:pPr algn="ctr"/>
          </a:p>
        </p:txBody>
      </p:sp>
      <p:sp>
        <p:nvSpPr>
          <p:cNvPr id="319" name="Rectangle 318"/>
          <p:cNvSpPr/>
          <p:nvPr/>
        </p:nvSpPr>
        <p:spPr>
          <a:xfrm>
            <a:off x="9166631" y="2002536"/>
            <a:ext cx="173736" cy="173736"/>
          </a:xfrm>
          <a:prstGeom prst="rect">
            <a:avLst/>
          </a:prstGeom>
          <a:solidFill>
            <a:srgbClr val="E4EAE0"/>
          </a:solidFill>
          <a:ln>
            <a:noFill/>
          </a:ln>
        </p:spPr>
        <p:txBody>
          <a:bodyPr rtlCol="0" anchor="ctr"/>
          <a:lstStyle/>
          <a:p>
            <a:pPr algn="ctr"/>
          </a:p>
        </p:txBody>
      </p:sp>
      <p:sp>
        <p:nvSpPr>
          <p:cNvPr id="320" name="Rectangle 319"/>
          <p:cNvSpPr/>
          <p:nvPr/>
        </p:nvSpPr>
        <p:spPr>
          <a:xfrm>
            <a:off x="9166631" y="1783080"/>
            <a:ext cx="173736" cy="173736"/>
          </a:xfrm>
          <a:prstGeom prst="rect">
            <a:avLst/>
          </a:prstGeom>
          <a:solidFill>
            <a:srgbClr val="E4EAE0"/>
          </a:solidFill>
          <a:ln>
            <a:noFill/>
          </a:ln>
        </p:spPr>
        <p:txBody>
          <a:bodyPr rtlCol="0" anchor="ctr"/>
          <a:lstStyle/>
          <a:p>
            <a:pPr algn="ctr"/>
          </a:p>
        </p:txBody>
      </p:sp>
      <p:sp>
        <p:nvSpPr>
          <p:cNvPr id="321" name="Rectangle 320"/>
          <p:cNvSpPr/>
          <p:nvPr/>
        </p:nvSpPr>
        <p:spPr>
          <a:xfrm>
            <a:off x="9386087" y="3758184"/>
            <a:ext cx="173736" cy="173736"/>
          </a:xfrm>
          <a:prstGeom prst="rect">
            <a:avLst/>
          </a:prstGeom>
          <a:solidFill>
            <a:srgbClr val="E4EAE0"/>
          </a:solidFill>
          <a:ln>
            <a:noFill/>
          </a:ln>
        </p:spPr>
        <p:txBody>
          <a:bodyPr rtlCol="0" anchor="ctr"/>
          <a:lstStyle/>
          <a:p>
            <a:pPr algn="ctr"/>
          </a:p>
        </p:txBody>
      </p:sp>
      <p:sp>
        <p:nvSpPr>
          <p:cNvPr id="322" name="Rectangle 321"/>
          <p:cNvSpPr/>
          <p:nvPr/>
        </p:nvSpPr>
        <p:spPr>
          <a:xfrm>
            <a:off x="9386087" y="3538728"/>
            <a:ext cx="173736" cy="173736"/>
          </a:xfrm>
          <a:prstGeom prst="rect">
            <a:avLst/>
          </a:prstGeom>
          <a:solidFill>
            <a:srgbClr val="E4EAE0"/>
          </a:solidFill>
          <a:ln>
            <a:noFill/>
          </a:ln>
        </p:spPr>
        <p:txBody>
          <a:bodyPr rtlCol="0" anchor="ctr"/>
          <a:lstStyle/>
          <a:p>
            <a:pPr algn="ctr"/>
          </a:p>
        </p:txBody>
      </p:sp>
      <p:sp>
        <p:nvSpPr>
          <p:cNvPr id="323" name="Rectangle 322"/>
          <p:cNvSpPr/>
          <p:nvPr/>
        </p:nvSpPr>
        <p:spPr>
          <a:xfrm>
            <a:off x="9386087" y="3319272"/>
            <a:ext cx="173736" cy="173736"/>
          </a:xfrm>
          <a:prstGeom prst="rect">
            <a:avLst/>
          </a:prstGeom>
          <a:solidFill>
            <a:srgbClr val="E4EAE0"/>
          </a:solidFill>
          <a:ln>
            <a:noFill/>
          </a:ln>
        </p:spPr>
        <p:txBody>
          <a:bodyPr rtlCol="0" anchor="ctr"/>
          <a:lstStyle/>
          <a:p>
            <a:pPr algn="ctr"/>
          </a:p>
        </p:txBody>
      </p:sp>
      <p:sp>
        <p:nvSpPr>
          <p:cNvPr id="324" name="Rectangle 323"/>
          <p:cNvSpPr/>
          <p:nvPr/>
        </p:nvSpPr>
        <p:spPr>
          <a:xfrm>
            <a:off x="9386087" y="3099816"/>
            <a:ext cx="173736" cy="173736"/>
          </a:xfrm>
          <a:prstGeom prst="rect">
            <a:avLst/>
          </a:prstGeom>
          <a:solidFill>
            <a:srgbClr val="E4EAE0"/>
          </a:solidFill>
          <a:ln>
            <a:noFill/>
          </a:ln>
        </p:spPr>
        <p:txBody>
          <a:bodyPr rtlCol="0" anchor="ctr"/>
          <a:lstStyle/>
          <a:p>
            <a:pPr algn="ctr"/>
          </a:p>
        </p:txBody>
      </p:sp>
      <p:sp>
        <p:nvSpPr>
          <p:cNvPr id="325" name="Rectangle 324"/>
          <p:cNvSpPr/>
          <p:nvPr/>
        </p:nvSpPr>
        <p:spPr>
          <a:xfrm>
            <a:off x="9386087" y="2880360"/>
            <a:ext cx="173736" cy="173736"/>
          </a:xfrm>
          <a:prstGeom prst="rect">
            <a:avLst/>
          </a:prstGeom>
          <a:solidFill>
            <a:srgbClr val="E4EAE0"/>
          </a:solidFill>
          <a:ln>
            <a:noFill/>
          </a:ln>
        </p:spPr>
        <p:txBody>
          <a:bodyPr rtlCol="0" anchor="ctr"/>
          <a:lstStyle/>
          <a:p>
            <a:pPr algn="ctr"/>
          </a:p>
        </p:txBody>
      </p:sp>
      <p:sp>
        <p:nvSpPr>
          <p:cNvPr id="326" name="Rectangle 325"/>
          <p:cNvSpPr/>
          <p:nvPr/>
        </p:nvSpPr>
        <p:spPr>
          <a:xfrm>
            <a:off x="9386087" y="2660904"/>
            <a:ext cx="173736" cy="173736"/>
          </a:xfrm>
          <a:prstGeom prst="rect">
            <a:avLst/>
          </a:prstGeom>
          <a:solidFill>
            <a:srgbClr val="E4EAE0"/>
          </a:solidFill>
          <a:ln>
            <a:noFill/>
          </a:ln>
        </p:spPr>
        <p:txBody>
          <a:bodyPr rtlCol="0" anchor="ctr"/>
          <a:lstStyle/>
          <a:p>
            <a:pPr algn="ctr"/>
          </a:p>
        </p:txBody>
      </p:sp>
      <p:sp>
        <p:nvSpPr>
          <p:cNvPr id="327" name="Rectangle 326"/>
          <p:cNvSpPr/>
          <p:nvPr/>
        </p:nvSpPr>
        <p:spPr>
          <a:xfrm>
            <a:off x="9386087" y="2441448"/>
            <a:ext cx="173736" cy="173736"/>
          </a:xfrm>
          <a:prstGeom prst="rect">
            <a:avLst/>
          </a:prstGeom>
          <a:solidFill>
            <a:srgbClr val="E4EAE0"/>
          </a:solidFill>
          <a:ln>
            <a:noFill/>
          </a:ln>
        </p:spPr>
        <p:txBody>
          <a:bodyPr rtlCol="0" anchor="ctr"/>
          <a:lstStyle/>
          <a:p>
            <a:pPr algn="ctr"/>
          </a:p>
        </p:txBody>
      </p:sp>
      <p:sp>
        <p:nvSpPr>
          <p:cNvPr id="328" name="Rectangle 327"/>
          <p:cNvSpPr/>
          <p:nvPr/>
        </p:nvSpPr>
        <p:spPr>
          <a:xfrm>
            <a:off x="9386087" y="2221992"/>
            <a:ext cx="173736" cy="173736"/>
          </a:xfrm>
          <a:prstGeom prst="rect">
            <a:avLst/>
          </a:prstGeom>
          <a:solidFill>
            <a:srgbClr val="E4EAE0"/>
          </a:solidFill>
          <a:ln>
            <a:noFill/>
          </a:ln>
        </p:spPr>
        <p:txBody>
          <a:bodyPr rtlCol="0" anchor="ctr"/>
          <a:lstStyle/>
          <a:p>
            <a:pPr algn="ctr"/>
          </a:p>
        </p:txBody>
      </p:sp>
      <p:sp>
        <p:nvSpPr>
          <p:cNvPr id="329" name="Rectangle 328"/>
          <p:cNvSpPr/>
          <p:nvPr/>
        </p:nvSpPr>
        <p:spPr>
          <a:xfrm>
            <a:off x="9386087" y="2002536"/>
            <a:ext cx="173736" cy="173736"/>
          </a:xfrm>
          <a:prstGeom prst="rect">
            <a:avLst/>
          </a:prstGeom>
          <a:solidFill>
            <a:srgbClr val="E4EAE0"/>
          </a:solidFill>
          <a:ln>
            <a:noFill/>
          </a:ln>
        </p:spPr>
        <p:txBody>
          <a:bodyPr rtlCol="0" anchor="ctr"/>
          <a:lstStyle/>
          <a:p>
            <a:pPr algn="ctr"/>
          </a:p>
        </p:txBody>
      </p:sp>
      <p:sp>
        <p:nvSpPr>
          <p:cNvPr id="330" name="Rectangle 329"/>
          <p:cNvSpPr/>
          <p:nvPr/>
        </p:nvSpPr>
        <p:spPr>
          <a:xfrm>
            <a:off x="9386087" y="1783080"/>
            <a:ext cx="173736" cy="173736"/>
          </a:xfrm>
          <a:prstGeom prst="rect">
            <a:avLst/>
          </a:prstGeom>
          <a:solidFill>
            <a:srgbClr val="E4EAE0"/>
          </a:solidFill>
          <a:ln>
            <a:noFill/>
          </a:ln>
        </p:spPr>
        <p:txBody>
          <a:bodyPr rtlCol="0" anchor="ctr"/>
          <a:lstStyle/>
          <a:p>
            <a:pPr algn="ctr"/>
          </a:p>
        </p:txBody>
      </p:sp>
      <p:sp>
        <p:nvSpPr>
          <p:cNvPr id="331" name="Rectangle 330"/>
          <p:cNvSpPr/>
          <p:nvPr/>
        </p:nvSpPr>
        <p:spPr>
          <a:xfrm>
            <a:off x="9605543" y="3758184"/>
            <a:ext cx="173736" cy="173736"/>
          </a:xfrm>
          <a:prstGeom prst="rect">
            <a:avLst/>
          </a:prstGeom>
          <a:solidFill>
            <a:srgbClr val="E4EAE0"/>
          </a:solidFill>
          <a:ln>
            <a:noFill/>
          </a:ln>
        </p:spPr>
        <p:txBody>
          <a:bodyPr rtlCol="0" anchor="ctr"/>
          <a:lstStyle/>
          <a:p>
            <a:pPr algn="ctr"/>
          </a:p>
        </p:txBody>
      </p:sp>
      <p:sp>
        <p:nvSpPr>
          <p:cNvPr id="332" name="Rectangle 331"/>
          <p:cNvSpPr/>
          <p:nvPr/>
        </p:nvSpPr>
        <p:spPr>
          <a:xfrm>
            <a:off x="9605543" y="3538728"/>
            <a:ext cx="173736" cy="173736"/>
          </a:xfrm>
          <a:prstGeom prst="rect">
            <a:avLst/>
          </a:prstGeom>
          <a:solidFill>
            <a:srgbClr val="E4EAE0"/>
          </a:solidFill>
          <a:ln>
            <a:noFill/>
          </a:ln>
        </p:spPr>
        <p:txBody>
          <a:bodyPr rtlCol="0" anchor="ctr"/>
          <a:lstStyle/>
          <a:p>
            <a:pPr algn="ctr"/>
          </a:p>
        </p:txBody>
      </p:sp>
      <p:sp>
        <p:nvSpPr>
          <p:cNvPr id="333" name="Rectangle 332"/>
          <p:cNvSpPr/>
          <p:nvPr/>
        </p:nvSpPr>
        <p:spPr>
          <a:xfrm>
            <a:off x="9605543" y="3319272"/>
            <a:ext cx="173736" cy="173736"/>
          </a:xfrm>
          <a:prstGeom prst="rect">
            <a:avLst/>
          </a:prstGeom>
          <a:solidFill>
            <a:srgbClr val="E4EAE0"/>
          </a:solidFill>
          <a:ln>
            <a:noFill/>
          </a:ln>
        </p:spPr>
        <p:txBody>
          <a:bodyPr rtlCol="0" anchor="ctr"/>
          <a:lstStyle/>
          <a:p>
            <a:pPr algn="ctr"/>
          </a:p>
        </p:txBody>
      </p:sp>
      <p:sp>
        <p:nvSpPr>
          <p:cNvPr id="334" name="Rectangle 333"/>
          <p:cNvSpPr/>
          <p:nvPr/>
        </p:nvSpPr>
        <p:spPr>
          <a:xfrm>
            <a:off x="9605543" y="3099816"/>
            <a:ext cx="173736" cy="173736"/>
          </a:xfrm>
          <a:prstGeom prst="rect">
            <a:avLst/>
          </a:prstGeom>
          <a:solidFill>
            <a:srgbClr val="E4EAE0"/>
          </a:solidFill>
          <a:ln>
            <a:noFill/>
          </a:ln>
        </p:spPr>
        <p:txBody>
          <a:bodyPr rtlCol="0" anchor="ctr"/>
          <a:lstStyle/>
          <a:p>
            <a:pPr algn="ctr"/>
          </a:p>
        </p:txBody>
      </p:sp>
      <p:sp>
        <p:nvSpPr>
          <p:cNvPr id="335" name="Rectangle 334"/>
          <p:cNvSpPr/>
          <p:nvPr/>
        </p:nvSpPr>
        <p:spPr>
          <a:xfrm>
            <a:off x="9605543" y="2880360"/>
            <a:ext cx="173736" cy="173736"/>
          </a:xfrm>
          <a:prstGeom prst="rect">
            <a:avLst/>
          </a:prstGeom>
          <a:solidFill>
            <a:srgbClr val="E4EAE0"/>
          </a:solidFill>
          <a:ln>
            <a:noFill/>
          </a:ln>
        </p:spPr>
        <p:txBody>
          <a:bodyPr rtlCol="0" anchor="ctr"/>
          <a:lstStyle/>
          <a:p>
            <a:pPr algn="ctr"/>
          </a:p>
        </p:txBody>
      </p:sp>
      <p:sp>
        <p:nvSpPr>
          <p:cNvPr id="336" name="Rectangle 335"/>
          <p:cNvSpPr/>
          <p:nvPr/>
        </p:nvSpPr>
        <p:spPr>
          <a:xfrm>
            <a:off x="9605543" y="2660904"/>
            <a:ext cx="173736" cy="173736"/>
          </a:xfrm>
          <a:prstGeom prst="rect">
            <a:avLst/>
          </a:prstGeom>
          <a:solidFill>
            <a:srgbClr val="E4EAE0"/>
          </a:solidFill>
          <a:ln>
            <a:noFill/>
          </a:ln>
        </p:spPr>
        <p:txBody>
          <a:bodyPr rtlCol="0" anchor="ctr"/>
          <a:lstStyle/>
          <a:p>
            <a:pPr algn="ctr"/>
          </a:p>
        </p:txBody>
      </p:sp>
      <p:sp>
        <p:nvSpPr>
          <p:cNvPr id="337" name="Rectangle 336"/>
          <p:cNvSpPr/>
          <p:nvPr/>
        </p:nvSpPr>
        <p:spPr>
          <a:xfrm>
            <a:off x="9605543" y="2441448"/>
            <a:ext cx="173736" cy="173736"/>
          </a:xfrm>
          <a:prstGeom prst="rect">
            <a:avLst/>
          </a:prstGeom>
          <a:solidFill>
            <a:srgbClr val="E4EAE0"/>
          </a:solidFill>
          <a:ln>
            <a:noFill/>
          </a:ln>
        </p:spPr>
        <p:txBody>
          <a:bodyPr rtlCol="0" anchor="ctr"/>
          <a:lstStyle/>
          <a:p>
            <a:pPr algn="ctr"/>
          </a:p>
        </p:txBody>
      </p:sp>
      <p:sp>
        <p:nvSpPr>
          <p:cNvPr id="338" name="Rectangle 337"/>
          <p:cNvSpPr/>
          <p:nvPr/>
        </p:nvSpPr>
        <p:spPr>
          <a:xfrm>
            <a:off x="9605543" y="2221992"/>
            <a:ext cx="173736" cy="173736"/>
          </a:xfrm>
          <a:prstGeom prst="rect">
            <a:avLst/>
          </a:prstGeom>
          <a:solidFill>
            <a:srgbClr val="E4EAE0"/>
          </a:solidFill>
          <a:ln>
            <a:noFill/>
          </a:ln>
        </p:spPr>
        <p:txBody>
          <a:bodyPr rtlCol="0" anchor="ctr"/>
          <a:lstStyle/>
          <a:p>
            <a:pPr algn="ctr"/>
          </a:p>
        </p:txBody>
      </p:sp>
      <p:sp>
        <p:nvSpPr>
          <p:cNvPr id="339" name="Rectangle 338"/>
          <p:cNvSpPr/>
          <p:nvPr/>
        </p:nvSpPr>
        <p:spPr>
          <a:xfrm>
            <a:off x="9605543" y="2002536"/>
            <a:ext cx="173736" cy="173736"/>
          </a:xfrm>
          <a:prstGeom prst="rect">
            <a:avLst/>
          </a:prstGeom>
          <a:solidFill>
            <a:srgbClr val="E4EAE0"/>
          </a:solidFill>
          <a:ln>
            <a:noFill/>
          </a:ln>
        </p:spPr>
        <p:txBody>
          <a:bodyPr rtlCol="0" anchor="ctr"/>
          <a:lstStyle/>
          <a:p>
            <a:pPr algn="ctr"/>
          </a:p>
        </p:txBody>
      </p:sp>
      <p:sp>
        <p:nvSpPr>
          <p:cNvPr id="340" name="Rectangle 339"/>
          <p:cNvSpPr/>
          <p:nvPr/>
        </p:nvSpPr>
        <p:spPr>
          <a:xfrm>
            <a:off x="9605543" y="1783080"/>
            <a:ext cx="173736" cy="173736"/>
          </a:xfrm>
          <a:prstGeom prst="rect">
            <a:avLst/>
          </a:prstGeom>
          <a:solidFill>
            <a:srgbClr val="E4EAE0"/>
          </a:solidFill>
          <a:ln>
            <a:noFill/>
          </a:ln>
        </p:spPr>
        <p:txBody>
          <a:bodyPr rtlCol="0" anchor="ctr"/>
          <a:lstStyle/>
          <a:p>
            <a:pPr algn="ctr"/>
          </a:p>
        </p:txBody>
      </p:sp>
      <p:sp>
        <p:nvSpPr>
          <p:cNvPr id="341" name="Rectangle 340"/>
          <p:cNvSpPr/>
          <p:nvPr/>
        </p:nvSpPr>
        <p:spPr>
          <a:xfrm>
            <a:off x="9824999" y="3758184"/>
            <a:ext cx="173736" cy="173736"/>
          </a:xfrm>
          <a:prstGeom prst="rect">
            <a:avLst/>
          </a:prstGeom>
          <a:solidFill>
            <a:srgbClr val="E4EAE0"/>
          </a:solidFill>
          <a:ln>
            <a:noFill/>
          </a:ln>
        </p:spPr>
        <p:txBody>
          <a:bodyPr rtlCol="0" anchor="ctr"/>
          <a:lstStyle/>
          <a:p>
            <a:pPr algn="ctr"/>
          </a:p>
        </p:txBody>
      </p:sp>
      <p:sp>
        <p:nvSpPr>
          <p:cNvPr id="342" name="Rectangle 341"/>
          <p:cNvSpPr/>
          <p:nvPr/>
        </p:nvSpPr>
        <p:spPr>
          <a:xfrm>
            <a:off x="9824999" y="3538728"/>
            <a:ext cx="173736" cy="173736"/>
          </a:xfrm>
          <a:prstGeom prst="rect">
            <a:avLst/>
          </a:prstGeom>
          <a:solidFill>
            <a:srgbClr val="E4EAE0"/>
          </a:solidFill>
          <a:ln>
            <a:noFill/>
          </a:ln>
        </p:spPr>
        <p:txBody>
          <a:bodyPr rtlCol="0" anchor="ctr"/>
          <a:lstStyle/>
          <a:p>
            <a:pPr algn="ctr"/>
          </a:p>
        </p:txBody>
      </p:sp>
      <p:sp>
        <p:nvSpPr>
          <p:cNvPr id="343" name="Rectangle 342"/>
          <p:cNvSpPr/>
          <p:nvPr/>
        </p:nvSpPr>
        <p:spPr>
          <a:xfrm>
            <a:off x="9824999" y="3319272"/>
            <a:ext cx="173736" cy="173736"/>
          </a:xfrm>
          <a:prstGeom prst="rect">
            <a:avLst/>
          </a:prstGeom>
          <a:solidFill>
            <a:srgbClr val="E4EAE0"/>
          </a:solidFill>
          <a:ln>
            <a:noFill/>
          </a:ln>
        </p:spPr>
        <p:txBody>
          <a:bodyPr rtlCol="0" anchor="ctr"/>
          <a:lstStyle/>
          <a:p>
            <a:pPr algn="ctr"/>
          </a:p>
        </p:txBody>
      </p:sp>
      <p:sp>
        <p:nvSpPr>
          <p:cNvPr id="344" name="Rectangle 343"/>
          <p:cNvSpPr/>
          <p:nvPr/>
        </p:nvSpPr>
        <p:spPr>
          <a:xfrm>
            <a:off x="9824999" y="3099816"/>
            <a:ext cx="173736" cy="173736"/>
          </a:xfrm>
          <a:prstGeom prst="rect">
            <a:avLst/>
          </a:prstGeom>
          <a:solidFill>
            <a:srgbClr val="E4EAE0"/>
          </a:solidFill>
          <a:ln>
            <a:noFill/>
          </a:ln>
        </p:spPr>
        <p:txBody>
          <a:bodyPr rtlCol="0" anchor="ctr"/>
          <a:lstStyle/>
          <a:p>
            <a:pPr algn="ctr"/>
          </a:p>
        </p:txBody>
      </p:sp>
      <p:sp>
        <p:nvSpPr>
          <p:cNvPr id="345" name="Rectangle 344"/>
          <p:cNvSpPr/>
          <p:nvPr/>
        </p:nvSpPr>
        <p:spPr>
          <a:xfrm>
            <a:off x="9824999" y="2880360"/>
            <a:ext cx="173736" cy="173736"/>
          </a:xfrm>
          <a:prstGeom prst="rect">
            <a:avLst/>
          </a:prstGeom>
          <a:solidFill>
            <a:srgbClr val="E4EAE0"/>
          </a:solidFill>
          <a:ln>
            <a:noFill/>
          </a:ln>
        </p:spPr>
        <p:txBody>
          <a:bodyPr rtlCol="0" anchor="ctr"/>
          <a:lstStyle/>
          <a:p>
            <a:pPr algn="ctr"/>
          </a:p>
        </p:txBody>
      </p:sp>
      <p:sp>
        <p:nvSpPr>
          <p:cNvPr id="346" name="Rectangle 345"/>
          <p:cNvSpPr/>
          <p:nvPr/>
        </p:nvSpPr>
        <p:spPr>
          <a:xfrm>
            <a:off x="9824999" y="2660904"/>
            <a:ext cx="173736" cy="173736"/>
          </a:xfrm>
          <a:prstGeom prst="rect">
            <a:avLst/>
          </a:prstGeom>
          <a:solidFill>
            <a:srgbClr val="E4EAE0"/>
          </a:solidFill>
          <a:ln>
            <a:noFill/>
          </a:ln>
        </p:spPr>
        <p:txBody>
          <a:bodyPr rtlCol="0" anchor="ctr"/>
          <a:lstStyle/>
          <a:p>
            <a:pPr algn="ctr"/>
          </a:p>
        </p:txBody>
      </p:sp>
      <p:sp>
        <p:nvSpPr>
          <p:cNvPr id="347" name="Rectangle 346"/>
          <p:cNvSpPr/>
          <p:nvPr/>
        </p:nvSpPr>
        <p:spPr>
          <a:xfrm>
            <a:off x="9824999" y="2441448"/>
            <a:ext cx="173736" cy="173736"/>
          </a:xfrm>
          <a:prstGeom prst="rect">
            <a:avLst/>
          </a:prstGeom>
          <a:solidFill>
            <a:srgbClr val="E4EAE0"/>
          </a:solidFill>
          <a:ln>
            <a:noFill/>
          </a:ln>
        </p:spPr>
        <p:txBody>
          <a:bodyPr rtlCol="0" anchor="ctr"/>
          <a:lstStyle/>
          <a:p>
            <a:pPr algn="ctr"/>
          </a:p>
        </p:txBody>
      </p:sp>
      <p:sp>
        <p:nvSpPr>
          <p:cNvPr id="348" name="Rectangle 347"/>
          <p:cNvSpPr/>
          <p:nvPr/>
        </p:nvSpPr>
        <p:spPr>
          <a:xfrm>
            <a:off x="9824999" y="2221992"/>
            <a:ext cx="173736" cy="173736"/>
          </a:xfrm>
          <a:prstGeom prst="rect">
            <a:avLst/>
          </a:prstGeom>
          <a:solidFill>
            <a:srgbClr val="E4EAE0"/>
          </a:solidFill>
          <a:ln>
            <a:noFill/>
          </a:ln>
        </p:spPr>
        <p:txBody>
          <a:bodyPr rtlCol="0" anchor="ctr"/>
          <a:lstStyle/>
          <a:p>
            <a:pPr algn="ctr"/>
          </a:p>
        </p:txBody>
      </p:sp>
      <p:sp>
        <p:nvSpPr>
          <p:cNvPr id="349" name="Rectangle 348"/>
          <p:cNvSpPr/>
          <p:nvPr/>
        </p:nvSpPr>
        <p:spPr>
          <a:xfrm>
            <a:off x="9824999" y="2002536"/>
            <a:ext cx="173736" cy="173736"/>
          </a:xfrm>
          <a:prstGeom prst="rect">
            <a:avLst/>
          </a:prstGeom>
          <a:solidFill>
            <a:srgbClr val="E4EAE0"/>
          </a:solidFill>
          <a:ln>
            <a:noFill/>
          </a:ln>
        </p:spPr>
        <p:txBody>
          <a:bodyPr rtlCol="0" anchor="ctr"/>
          <a:lstStyle/>
          <a:p>
            <a:pPr algn="ctr"/>
          </a:p>
        </p:txBody>
      </p:sp>
      <p:sp>
        <p:nvSpPr>
          <p:cNvPr id="350" name="Rectangle 349"/>
          <p:cNvSpPr/>
          <p:nvPr/>
        </p:nvSpPr>
        <p:spPr>
          <a:xfrm>
            <a:off x="9824999" y="1783080"/>
            <a:ext cx="173736" cy="173736"/>
          </a:xfrm>
          <a:prstGeom prst="rect">
            <a:avLst/>
          </a:prstGeom>
          <a:solidFill>
            <a:srgbClr val="E4EAE0"/>
          </a:solidFill>
          <a:ln>
            <a:noFill/>
          </a:ln>
        </p:spPr>
        <p:txBody>
          <a:bodyPr rtlCol="0" anchor="ctr"/>
          <a:lstStyle/>
          <a:p>
            <a:pPr algn="ctr"/>
          </a:p>
        </p:txBody>
      </p:sp>
      <p:sp>
        <p:nvSpPr>
          <p:cNvPr id="351" name="Rectangle 350"/>
          <p:cNvSpPr/>
          <p:nvPr/>
        </p:nvSpPr>
        <p:spPr>
          <a:xfrm>
            <a:off x="10044455" y="3758184"/>
            <a:ext cx="173736" cy="173736"/>
          </a:xfrm>
          <a:prstGeom prst="rect">
            <a:avLst/>
          </a:prstGeom>
          <a:solidFill>
            <a:srgbClr val="E4EAE0"/>
          </a:solidFill>
          <a:ln>
            <a:noFill/>
          </a:ln>
        </p:spPr>
        <p:txBody>
          <a:bodyPr rtlCol="0" anchor="ctr"/>
          <a:lstStyle/>
          <a:p>
            <a:pPr algn="ctr"/>
          </a:p>
        </p:txBody>
      </p:sp>
      <p:sp>
        <p:nvSpPr>
          <p:cNvPr id="352" name="Rectangle 351"/>
          <p:cNvSpPr/>
          <p:nvPr/>
        </p:nvSpPr>
        <p:spPr>
          <a:xfrm>
            <a:off x="10044455" y="3538728"/>
            <a:ext cx="173736" cy="173736"/>
          </a:xfrm>
          <a:prstGeom prst="rect">
            <a:avLst/>
          </a:prstGeom>
          <a:solidFill>
            <a:srgbClr val="E4EAE0"/>
          </a:solidFill>
          <a:ln>
            <a:noFill/>
          </a:ln>
        </p:spPr>
        <p:txBody>
          <a:bodyPr rtlCol="0" anchor="ctr"/>
          <a:lstStyle/>
          <a:p>
            <a:pPr algn="ctr"/>
          </a:p>
        </p:txBody>
      </p:sp>
      <p:sp>
        <p:nvSpPr>
          <p:cNvPr id="353" name="Rectangle 352"/>
          <p:cNvSpPr/>
          <p:nvPr/>
        </p:nvSpPr>
        <p:spPr>
          <a:xfrm>
            <a:off x="10044455" y="3319272"/>
            <a:ext cx="173736" cy="173736"/>
          </a:xfrm>
          <a:prstGeom prst="rect">
            <a:avLst/>
          </a:prstGeom>
          <a:solidFill>
            <a:srgbClr val="E4EAE0"/>
          </a:solidFill>
          <a:ln>
            <a:noFill/>
          </a:ln>
        </p:spPr>
        <p:txBody>
          <a:bodyPr rtlCol="0" anchor="ctr"/>
          <a:lstStyle/>
          <a:p>
            <a:pPr algn="ctr"/>
          </a:p>
        </p:txBody>
      </p:sp>
      <p:sp>
        <p:nvSpPr>
          <p:cNvPr id="354" name="Rectangle 353"/>
          <p:cNvSpPr/>
          <p:nvPr/>
        </p:nvSpPr>
        <p:spPr>
          <a:xfrm>
            <a:off x="10044455" y="3099816"/>
            <a:ext cx="173736" cy="173736"/>
          </a:xfrm>
          <a:prstGeom prst="rect">
            <a:avLst/>
          </a:prstGeom>
          <a:solidFill>
            <a:srgbClr val="E4EAE0"/>
          </a:solidFill>
          <a:ln>
            <a:noFill/>
          </a:ln>
        </p:spPr>
        <p:txBody>
          <a:bodyPr rtlCol="0" anchor="ctr"/>
          <a:lstStyle/>
          <a:p>
            <a:pPr algn="ctr"/>
          </a:p>
        </p:txBody>
      </p:sp>
      <p:sp>
        <p:nvSpPr>
          <p:cNvPr id="355" name="Rectangle 354"/>
          <p:cNvSpPr/>
          <p:nvPr/>
        </p:nvSpPr>
        <p:spPr>
          <a:xfrm>
            <a:off x="10044455" y="2880360"/>
            <a:ext cx="173736" cy="173736"/>
          </a:xfrm>
          <a:prstGeom prst="rect">
            <a:avLst/>
          </a:prstGeom>
          <a:solidFill>
            <a:srgbClr val="E4EAE0"/>
          </a:solidFill>
          <a:ln>
            <a:noFill/>
          </a:ln>
        </p:spPr>
        <p:txBody>
          <a:bodyPr rtlCol="0" anchor="ctr"/>
          <a:lstStyle/>
          <a:p>
            <a:pPr algn="ctr"/>
          </a:p>
        </p:txBody>
      </p:sp>
      <p:sp>
        <p:nvSpPr>
          <p:cNvPr id="356" name="Rectangle 355"/>
          <p:cNvSpPr/>
          <p:nvPr/>
        </p:nvSpPr>
        <p:spPr>
          <a:xfrm>
            <a:off x="10044455" y="2660904"/>
            <a:ext cx="173736" cy="173736"/>
          </a:xfrm>
          <a:prstGeom prst="rect">
            <a:avLst/>
          </a:prstGeom>
          <a:solidFill>
            <a:srgbClr val="E4EAE0"/>
          </a:solidFill>
          <a:ln>
            <a:noFill/>
          </a:ln>
        </p:spPr>
        <p:txBody>
          <a:bodyPr rtlCol="0" anchor="ctr"/>
          <a:lstStyle/>
          <a:p>
            <a:pPr algn="ctr"/>
          </a:p>
        </p:txBody>
      </p:sp>
      <p:sp>
        <p:nvSpPr>
          <p:cNvPr id="357" name="Rectangle 356"/>
          <p:cNvSpPr/>
          <p:nvPr/>
        </p:nvSpPr>
        <p:spPr>
          <a:xfrm>
            <a:off x="10044455" y="2441448"/>
            <a:ext cx="173736" cy="173736"/>
          </a:xfrm>
          <a:prstGeom prst="rect">
            <a:avLst/>
          </a:prstGeom>
          <a:solidFill>
            <a:srgbClr val="E4EAE0"/>
          </a:solidFill>
          <a:ln>
            <a:noFill/>
          </a:ln>
        </p:spPr>
        <p:txBody>
          <a:bodyPr rtlCol="0" anchor="ctr"/>
          <a:lstStyle/>
          <a:p>
            <a:pPr algn="ctr"/>
          </a:p>
        </p:txBody>
      </p:sp>
      <p:sp>
        <p:nvSpPr>
          <p:cNvPr id="358" name="Rectangle 357"/>
          <p:cNvSpPr/>
          <p:nvPr/>
        </p:nvSpPr>
        <p:spPr>
          <a:xfrm>
            <a:off x="10044455" y="2221992"/>
            <a:ext cx="173736" cy="173736"/>
          </a:xfrm>
          <a:prstGeom prst="rect">
            <a:avLst/>
          </a:prstGeom>
          <a:solidFill>
            <a:srgbClr val="E4EAE0"/>
          </a:solidFill>
          <a:ln>
            <a:noFill/>
          </a:ln>
        </p:spPr>
        <p:txBody>
          <a:bodyPr rtlCol="0" anchor="ctr"/>
          <a:lstStyle/>
          <a:p>
            <a:pPr algn="ctr"/>
          </a:p>
        </p:txBody>
      </p:sp>
      <p:sp>
        <p:nvSpPr>
          <p:cNvPr id="359" name="Rectangle 358"/>
          <p:cNvSpPr/>
          <p:nvPr/>
        </p:nvSpPr>
        <p:spPr>
          <a:xfrm>
            <a:off x="10044455" y="2002536"/>
            <a:ext cx="173736" cy="173736"/>
          </a:xfrm>
          <a:prstGeom prst="rect">
            <a:avLst/>
          </a:prstGeom>
          <a:solidFill>
            <a:srgbClr val="E4EAE0"/>
          </a:solidFill>
          <a:ln>
            <a:noFill/>
          </a:ln>
        </p:spPr>
        <p:txBody>
          <a:bodyPr rtlCol="0" anchor="ctr"/>
          <a:lstStyle/>
          <a:p>
            <a:pPr algn="ctr"/>
          </a:p>
        </p:txBody>
      </p:sp>
      <p:sp>
        <p:nvSpPr>
          <p:cNvPr id="360" name="Rectangle 359"/>
          <p:cNvSpPr/>
          <p:nvPr/>
        </p:nvSpPr>
        <p:spPr>
          <a:xfrm>
            <a:off x="10044455" y="1783080"/>
            <a:ext cx="173736" cy="173736"/>
          </a:xfrm>
          <a:prstGeom prst="rect">
            <a:avLst/>
          </a:prstGeom>
          <a:solidFill>
            <a:srgbClr val="E4EAE0"/>
          </a:solidFill>
          <a:ln>
            <a:noFill/>
          </a:ln>
        </p:spPr>
        <p:txBody>
          <a:bodyPr rtlCol="0" anchor="ctr"/>
          <a:lstStyle/>
          <a:p>
            <a:pPr algn="ctr"/>
          </a:p>
        </p:txBody>
      </p:sp>
      <p:sp>
        <p:nvSpPr>
          <p:cNvPr id="361" name="Rectangle 360"/>
          <p:cNvSpPr/>
          <p:nvPr/>
        </p:nvSpPr>
        <p:spPr>
          <a:xfrm>
            <a:off x="10263911" y="3758184"/>
            <a:ext cx="173736" cy="173736"/>
          </a:xfrm>
          <a:prstGeom prst="rect">
            <a:avLst/>
          </a:prstGeom>
          <a:solidFill>
            <a:srgbClr val="E4EAE0"/>
          </a:solidFill>
          <a:ln>
            <a:noFill/>
          </a:ln>
        </p:spPr>
        <p:txBody>
          <a:bodyPr rtlCol="0" anchor="ctr"/>
          <a:lstStyle/>
          <a:p>
            <a:pPr algn="ctr"/>
          </a:p>
        </p:txBody>
      </p:sp>
      <p:sp>
        <p:nvSpPr>
          <p:cNvPr id="362" name="Rectangle 361"/>
          <p:cNvSpPr/>
          <p:nvPr/>
        </p:nvSpPr>
        <p:spPr>
          <a:xfrm>
            <a:off x="10263911" y="3538728"/>
            <a:ext cx="173736" cy="173736"/>
          </a:xfrm>
          <a:prstGeom prst="rect">
            <a:avLst/>
          </a:prstGeom>
          <a:solidFill>
            <a:srgbClr val="E4EAE0"/>
          </a:solidFill>
          <a:ln>
            <a:noFill/>
          </a:ln>
        </p:spPr>
        <p:txBody>
          <a:bodyPr rtlCol="0" anchor="ctr"/>
          <a:lstStyle/>
          <a:p>
            <a:pPr algn="ctr"/>
          </a:p>
        </p:txBody>
      </p:sp>
      <p:sp>
        <p:nvSpPr>
          <p:cNvPr id="363" name="Rectangle 362"/>
          <p:cNvSpPr/>
          <p:nvPr/>
        </p:nvSpPr>
        <p:spPr>
          <a:xfrm>
            <a:off x="10263911" y="3319272"/>
            <a:ext cx="173736" cy="173736"/>
          </a:xfrm>
          <a:prstGeom prst="rect">
            <a:avLst/>
          </a:prstGeom>
          <a:solidFill>
            <a:srgbClr val="E4EAE0"/>
          </a:solidFill>
          <a:ln>
            <a:noFill/>
          </a:ln>
        </p:spPr>
        <p:txBody>
          <a:bodyPr rtlCol="0" anchor="ctr"/>
          <a:lstStyle/>
          <a:p>
            <a:pPr algn="ctr"/>
          </a:p>
        </p:txBody>
      </p:sp>
      <p:sp>
        <p:nvSpPr>
          <p:cNvPr id="364" name="Rectangle 363"/>
          <p:cNvSpPr/>
          <p:nvPr/>
        </p:nvSpPr>
        <p:spPr>
          <a:xfrm>
            <a:off x="10263911" y="3099816"/>
            <a:ext cx="173736" cy="173736"/>
          </a:xfrm>
          <a:prstGeom prst="rect">
            <a:avLst/>
          </a:prstGeom>
          <a:solidFill>
            <a:srgbClr val="E4EAE0"/>
          </a:solidFill>
          <a:ln>
            <a:noFill/>
          </a:ln>
        </p:spPr>
        <p:txBody>
          <a:bodyPr rtlCol="0" anchor="ctr"/>
          <a:lstStyle/>
          <a:p>
            <a:pPr algn="ctr"/>
          </a:p>
        </p:txBody>
      </p:sp>
      <p:sp>
        <p:nvSpPr>
          <p:cNvPr id="365" name="Rectangle 364"/>
          <p:cNvSpPr/>
          <p:nvPr/>
        </p:nvSpPr>
        <p:spPr>
          <a:xfrm>
            <a:off x="10263911" y="2880360"/>
            <a:ext cx="173736" cy="173736"/>
          </a:xfrm>
          <a:prstGeom prst="rect">
            <a:avLst/>
          </a:prstGeom>
          <a:solidFill>
            <a:srgbClr val="E4EAE0"/>
          </a:solidFill>
          <a:ln>
            <a:noFill/>
          </a:ln>
        </p:spPr>
        <p:txBody>
          <a:bodyPr rtlCol="0" anchor="ctr"/>
          <a:lstStyle/>
          <a:p>
            <a:pPr algn="ctr"/>
          </a:p>
        </p:txBody>
      </p:sp>
      <p:sp>
        <p:nvSpPr>
          <p:cNvPr id="366" name="Rectangle 365"/>
          <p:cNvSpPr/>
          <p:nvPr/>
        </p:nvSpPr>
        <p:spPr>
          <a:xfrm>
            <a:off x="10263911" y="2660904"/>
            <a:ext cx="173736" cy="173736"/>
          </a:xfrm>
          <a:prstGeom prst="rect">
            <a:avLst/>
          </a:prstGeom>
          <a:solidFill>
            <a:srgbClr val="E4EAE0"/>
          </a:solidFill>
          <a:ln>
            <a:noFill/>
          </a:ln>
        </p:spPr>
        <p:txBody>
          <a:bodyPr rtlCol="0" anchor="ctr"/>
          <a:lstStyle/>
          <a:p>
            <a:pPr algn="ctr"/>
          </a:p>
        </p:txBody>
      </p:sp>
      <p:sp>
        <p:nvSpPr>
          <p:cNvPr id="367" name="Rectangle 366"/>
          <p:cNvSpPr/>
          <p:nvPr/>
        </p:nvSpPr>
        <p:spPr>
          <a:xfrm>
            <a:off x="10263911" y="2441448"/>
            <a:ext cx="173736" cy="173736"/>
          </a:xfrm>
          <a:prstGeom prst="rect">
            <a:avLst/>
          </a:prstGeom>
          <a:solidFill>
            <a:srgbClr val="E4EAE0"/>
          </a:solidFill>
          <a:ln>
            <a:noFill/>
          </a:ln>
        </p:spPr>
        <p:txBody>
          <a:bodyPr rtlCol="0" anchor="ctr"/>
          <a:lstStyle/>
          <a:p>
            <a:pPr algn="ctr"/>
          </a:p>
        </p:txBody>
      </p:sp>
      <p:sp>
        <p:nvSpPr>
          <p:cNvPr id="368" name="Rectangle 367"/>
          <p:cNvSpPr/>
          <p:nvPr/>
        </p:nvSpPr>
        <p:spPr>
          <a:xfrm>
            <a:off x="10263911" y="2221992"/>
            <a:ext cx="173736" cy="173736"/>
          </a:xfrm>
          <a:prstGeom prst="rect">
            <a:avLst/>
          </a:prstGeom>
          <a:solidFill>
            <a:srgbClr val="E4EAE0"/>
          </a:solidFill>
          <a:ln>
            <a:noFill/>
          </a:ln>
        </p:spPr>
        <p:txBody>
          <a:bodyPr rtlCol="0" anchor="ctr"/>
          <a:lstStyle/>
          <a:p>
            <a:pPr algn="ctr"/>
          </a:p>
        </p:txBody>
      </p:sp>
      <p:sp>
        <p:nvSpPr>
          <p:cNvPr id="369" name="Rectangle 368"/>
          <p:cNvSpPr/>
          <p:nvPr/>
        </p:nvSpPr>
        <p:spPr>
          <a:xfrm>
            <a:off x="10263911" y="2002536"/>
            <a:ext cx="173736" cy="173736"/>
          </a:xfrm>
          <a:prstGeom prst="rect">
            <a:avLst/>
          </a:prstGeom>
          <a:solidFill>
            <a:srgbClr val="E4EAE0"/>
          </a:solidFill>
          <a:ln>
            <a:noFill/>
          </a:ln>
        </p:spPr>
        <p:txBody>
          <a:bodyPr rtlCol="0" anchor="ctr"/>
          <a:lstStyle/>
          <a:p>
            <a:pPr algn="ctr"/>
          </a:p>
        </p:txBody>
      </p:sp>
      <p:sp>
        <p:nvSpPr>
          <p:cNvPr id="370" name="Rectangle 369"/>
          <p:cNvSpPr/>
          <p:nvPr/>
        </p:nvSpPr>
        <p:spPr>
          <a:xfrm>
            <a:off x="10263911" y="1783080"/>
            <a:ext cx="173736" cy="173736"/>
          </a:xfrm>
          <a:prstGeom prst="rect">
            <a:avLst/>
          </a:prstGeom>
          <a:solidFill>
            <a:srgbClr val="E4EAE0"/>
          </a:solidFill>
          <a:ln>
            <a:noFill/>
          </a:ln>
        </p:spPr>
        <p:txBody>
          <a:bodyPr rtlCol="0" anchor="ctr"/>
          <a:lstStyle/>
          <a:p>
            <a:pPr algn="ctr"/>
          </a:p>
        </p:txBody>
      </p:sp>
      <p:sp>
        <p:nvSpPr>
          <p:cNvPr id="371" name="Rectangle 370"/>
          <p:cNvSpPr/>
          <p:nvPr/>
        </p:nvSpPr>
        <p:spPr>
          <a:xfrm>
            <a:off x="10483367" y="3758184"/>
            <a:ext cx="173736" cy="173736"/>
          </a:xfrm>
          <a:prstGeom prst="rect">
            <a:avLst/>
          </a:prstGeom>
          <a:solidFill>
            <a:srgbClr val="E4EAE0"/>
          </a:solidFill>
          <a:ln>
            <a:noFill/>
          </a:ln>
        </p:spPr>
        <p:txBody>
          <a:bodyPr rtlCol="0" anchor="ctr"/>
          <a:lstStyle/>
          <a:p>
            <a:pPr algn="ctr"/>
          </a:p>
        </p:txBody>
      </p:sp>
      <p:sp>
        <p:nvSpPr>
          <p:cNvPr id="372" name="Rectangle 371"/>
          <p:cNvSpPr/>
          <p:nvPr/>
        </p:nvSpPr>
        <p:spPr>
          <a:xfrm>
            <a:off x="10483367" y="3538728"/>
            <a:ext cx="173736" cy="173736"/>
          </a:xfrm>
          <a:prstGeom prst="rect">
            <a:avLst/>
          </a:prstGeom>
          <a:solidFill>
            <a:srgbClr val="E4EAE0"/>
          </a:solidFill>
          <a:ln>
            <a:noFill/>
          </a:ln>
        </p:spPr>
        <p:txBody>
          <a:bodyPr rtlCol="0" anchor="ctr"/>
          <a:lstStyle/>
          <a:p>
            <a:pPr algn="ctr"/>
          </a:p>
        </p:txBody>
      </p:sp>
      <p:sp>
        <p:nvSpPr>
          <p:cNvPr id="373" name="Rectangle 372"/>
          <p:cNvSpPr/>
          <p:nvPr/>
        </p:nvSpPr>
        <p:spPr>
          <a:xfrm>
            <a:off x="10483367" y="3319272"/>
            <a:ext cx="173736" cy="173736"/>
          </a:xfrm>
          <a:prstGeom prst="rect">
            <a:avLst/>
          </a:prstGeom>
          <a:solidFill>
            <a:srgbClr val="E4EAE0"/>
          </a:solidFill>
          <a:ln>
            <a:noFill/>
          </a:ln>
        </p:spPr>
        <p:txBody>
          <a:bodyPr rtlCol="0" anchor="ctr"/>
          <a:lstStyle/>
          <a:p>
            <a:pPr algn="ctr"/>
          </a:p>
        </p:txBody>
      </p:sp>
      <p:sp>
        <p:nvSpPr>
          <p:cNvPr id="374" name="Rectangle 373"/>
          <p:cNvSpPr/>
          <p:nvPr/>
        </p:nvSpPr>
        <p:spPr>
          <a:xfrm>
            <a:off x="10483367" y="3099816"/>
            <a:ext cx="173736" cy="173736"/>
          </a:xfrm>
          <a:prstGeom prst="rect">
            <a:avLst/>
          </a:prstGeom>
          <a:solidFill>
            <a:srgbClr val="E4EAE0"/>
          </a:solidFill>
          <a:ln>
            <a:noFill/>
          </a:ln>
        </p:spPr>
        <p:txBody>
          <a:bodyPr rtlCol="0" anchor="ctr"/>
          <a:lstStyle/>
          <a:p>
            <a:pPr algn="ctr"/>
          </a:p>
        </p:txBody>
      </p:sp>
      <p:sp>
        <p:nvSpPr>
          <p:cNvPr id="375" name="Rectangle 374"/>
          <p:cNvSpPr/>
          <p:nvPr/>
        </p:nvSpPr>
        <p:spPr>
          <a:xfrm>
            <a:off x="10483367" y="2880360"/>
            <a:ext cx="173736" cy="173736"/>
          </a:xfrm>
          <a:prstGeom prst="rect">
            <a:avLst/>
          </a:prstGeom>
          <a:solidFill>
            <a:srgbClr val="E4EAE0"/>
          </a:solidFill>
          <a:ln>
            <a:noFill/>
          </a:ln>
        </p:spPr>
        <p:txBody>
          <a:bodyPr rtlCol="0" anchor="ctr"/>
          <a:lstStyle/>
          <a:p>
            <a:pPr algn="ctr"/>
          </a:p>
        </p:txBody>
      </p:sp>
      <p:sp>
        <p:nvSpPr>
          <p:cNvPr id="376" name="Rectangle 375"/>
          <p:cNvSpPr/>
          <p:nvPr/>
        </p:nvSpPr>
        <p:spPr>
          <a:xfrm>
            <a:off x="10483367" y="2660904"/>
            <a:ext cx="173736" cy="173736"/>
          </a:xfrm>
          <a:prstGeom prst="rect">
            <a:avLst/>
          </a:prstGeom>
          <a:solidFill>
            <a:srgbClr val="E4EAE0"/>
          </a:solidFill>
          <a:ln>
            <a:noFill/>
          </a:ln>
        </p:spPr>
        <p:txBody>
          <a:bodyPr rtlCol="0" anchor="ctr"/>
          <a:lstStyle/>
          <a:p>
            <a:pPr algn="ctr"/>
          </a:p>
        </p:txBody>
      </p:sp>
      <p:sp>
        <p:nvSpPr>
          <p:cNvPr id="377" name="Rectangle 376"/>
          <p:cNvSpPr/>
          <p:nvPr/>
        </p:nvSpPr>
        <p:spPr>
          <a:xfrm>
            <a:off x="10483367" y="2441448"/>
            <a:ext cx="173736" cy="173736"/>
          </a:xfrm>
          <a:prstGeom prst="rect">
            <a:avLst/>
          </a:prstGeom>
          <a:solidFill>
            <a:srgbClr val="E4EAE0"/>
          </a:solidFill>
          <a:ln>
            <a:noFill/>
          </a:ln>
        </p:spPr>
        <p:txBody>
          <a:bodyPr rtlCol="0" anchor="ctr"/>
          <a:lstStyle/>
          <a:p>
            <a:pPr algn="ctr"/>
          </a:p>
        </p:txBody>
      </p:sp>
      <p:sp>
        <p:nvSpPr>
          <p:cNvPr id="378" name="Rectangle 377"/>
          <p:cNvSpPr/>
          <p:nvPr/>
        </p:nvSpPr>
        <p:spPr>
          <a:xfrm>
            <a:off x="10483367" y="2221992"/>
            <a:ext cx="173736" cy="173736"/>
          </a:xfrm>
          <a:prstGeom prst="rect">
            <a:avLst/>
          </a:prstGeom>
          <a:solidFill>
            <a:srgbClr val="E4EAE0"/>
          </a:solidFill>
          <a:ln>
            <a:noFill/>
          </a:ln>
        </p:spPr>
        <p:txBody>
          <a:bodyPr rtlCol="0" anchor="ctr"/>
          <a:lstStyle/>
          <a:p>
            <a:pPr algn="ctr"/>
          </a:p>
        </p:txBody>
      </p:sp>
      <p:sp>
        <p:nvSpPr>
          <p:cNvPr id="379" name="Rectangle 378"/>
          <p:cNvSpPr/>
          <p:nvPr/>
        </p:nvSpPr>
        <p:spPr>
          <a:xfrm>
            <a:off x="10483367" y="2002536"/>
            <a:ext cx="173736" cy="173736"/>
          </a:xfrm>
          <a:prstGeom prst="rect">
            <a:avLst/>
          </a:prstGeom>
          <a:solidFill>
            <a:srgbClr val="E4EAE0"/>
          </a:solidFill>
          <a:ln>
            <a:noFill/>
          </a:ln>
        </p:spPr>
        <p:txBody>
          <a:bodyPr rtlCol="0" anchor="ctr"/>
          <a:lstStyle/>
          <a:p>
            <a:pPr algn="ctr"/>
          </a:p>
        </p:txBody>
      </p:sp>
      <p:sp>
        <p:nvSpPr>
          <p:cNvPr id="380" name="Rectangle 379"/>
          <p:cNvSpPr/>
          <p:nvPr/>
        </p:nvSpPr>
        <p:spPr>
          <a:xfrm>
            <a:off x="10483367" y="1783080"/>
            <a:ext cx="173736" cy="173736"/>
          </a:xfrm>
          <a:prstGeom prst="rect">
            <a:avLst/>
          </a:prstGeom>
          <a:solidFill>
            <a:srgbClr val="E4EAE0"/>
          </a:solidFill>
          <a:ln>
            <a:noFill/>
          </a:ln>
        </p:spPr>
        <p:txBody>
          <a:bodyPr rtlCol="0" anchor="ctr"/>
          <a:lstStyle/>
          <a:p>
            <a:pPr algn="ctr"/>
          </a:p>
        </p:txBody>
      </p:sp>
      <p:sp>
        <p:nvSpPr>
          <p:cNvPr id="381" name="Rectangle 380"/>
          <p:cNvSpPr/>
          <p:nvPr/>
        </p:nvSpPr>
        <p:spPr>
          <a:xfrm>
            <a:off x="10702823" y="3758184"/>
            <a:ext cx="173736" cy="173736"/>
          </a:xfrm>
          <a:prstGeom prst="rect">
            <a:avLst/>
          </a:prstGeom>
          <a:solidFill>
            <a:srgbClr val="E4EAE0"/>
          </a:solidFill>
          <a:ln>
            <a:noFill/>
          </a:ln>
        </p:spPr>
        <p:txBody>
          <a:bodyPr rtlCol="0" anchor="ctr"/>
          <a:lstStyle/>
          <a:p>
            <a:pPr algn="ctr"/>
          </a:p>
        </p:txBody>
      </p:sp>
      <p:sp>
        <p:nvSpPr>
          <p:cNvPr id="382" name="Rectangle 381"/>
          <p:cNvSpPr/>
          <p:nvPr/>
        </p:nvSpPr>
        <p:spPr>
          <a:xfrm>
            <a:off x="10702823" y="3538728"/>
            <a:ext cx="173736" cy="173736"/>
          </a:xfrm>
          <a:prstGeom prst="rect">
            <a:avLst/>
          </a:prstGeom>
          <a:solidFill>
            <a:srgbClr val="E4EAE0"/>
          </a:solidFill>
          <a:ln>
            <a:noFill/>
          </a:ln>
        </p:spPr>
        <p:txBody>
          <a:bodyPr rtlCol="0" anchor="ctr"/>
          <a:lstStyle/>
          <a:p>
            <a:pPr algn="ctr"/>
          </a:p>
        </p:txBody>
      </p:sp>
      <p:sp>
        <p:nvSpPr>
          <p:cNvPr id="383" name="Rectangle 382"/>
          <p:cNvSpPr/>
          <p:nvPr/>
        </p:nvSpPr>
        <p:spPr>
          <a:xfrm>
            <a:off x="10702823" y="3319272"/>
            <a:ext cx="173736" cy="173736"/>
          </a:xfrm>
          <a:prstGeom prst="rect">
            <a:avLst/>
          </a:prstGeom>
          <a:solidFill>
            <a:srgbClr val="E4EAE0"/>
          </a:solidFill>
          <a:ln>
            <a:noFill/>
          </a:ln>
        </p:spPr>
        <p:txBody>
          <a:bodyPr rtlCol="0" anchor="ctr"/>
          <a:lstStyle/>
          <a:p>
            <a:pPr algn="ctr"/>
          </a:p>
        </p:txBody>
      </p:sp>
      <p:sp>
        <p:nvSpPr>
          <p:cNvPr id="384" name="Rectangle 383"/>
          <p:cNvSpPr/>
          <p:nvPr/>
        </p:nvSpPr>
        <p:spPr>
          <a:xfrm>
            <a:off x="10702823" y="3099816"/>
            <a:ext cx="173736" cy="173736"/>
          </a:xfrm>
          <a:prstGeom prst="rect">
            <a:avLst/>
          </a:prstGeom>
          <a:solidFill>
            <a:srgbClr val="E4EAE0"/>
          </a:solidFill>
          <a:ln>
            <a:noFill/>
          </a:ln>
        </p:spPr>
        <p:txBody>
          <a:bodyPr rtlCol="0" anchor="ctr"/>
          <a:lstStyle/>
          <a:p>
            <a:pPr algn="ctr"/>
          </a:p>
        </p:txBody>
      </p:sp>
      <p:sp>
        <p:nvSpPr>
          <p:cNvPr id="385" name="Rectangle 384"/>
          <p:cNvSpPr/>
          <p:nvPr/>
        </p:nvSpPr>
        <p:spPr>
          <a:xfrm>
            <a:off x="10702823" y="2880360"/>
            <a:ext cx="173736" cy="173736"/>
          </a:xfrm>
          <a:prstGeom prst="rect">
            <a:avLst/>
          </a:prstGeom>
          <a:solidFill>
            <a:srgbClr val="E4EAE0"/>
          </a:solidFill>
          <a:ln>
            <a:noFill/>
          </a:ln>
        </p:spPr>
        <p:txBody>
          <a:bodyPr rtlCol="0" anchor="ctr"/>
          <a:lstStyle/>
          <a:p>
            <a:pPr algn="ctr"/>
          </a:p>
        </p:txBody>
      </p:sp>
      <p:sp>
        <p:nvSpPr>
          <p:cNvPr id="386" name="Rectangle 385"/>
          <p:cNvSpPr/>
          <p:nvPr/>
        </p:nvSpPr>
        <p:spPr>
          <a:xfrm>
            <a:off x="10702823" y="2660904"/>
            <a:ext cx="173736" cy="173736"/>
          </a:xfrm>
          <a:prstGeom prst="rect">
            <a:avLst/>
          </a:prstGeom>
          <a:solidFill>
            <a:srgbClr val="E4EAE0"/>
          </a:solidFill>
          <a:ln>
            <a:noFill/>
          </a:ln>
        </p:spPr>
        <p:txBody>
          <a:bodyPr rtlCol="0" anchor="ctr"/>
          <a:lstStyle/>
          <a:p>
            <a:pPr algn="ctr"/>
          </a:p>
        </p:txBody>
      </p:sp>
      <p:sp>
        <p:nvSpPr>
          <p:cNvPr id="387" name="Rectangle 386"/>
          <p:cNvSpPr/>
          <p:nvPr/>
        </p:nvSpPr>
        <p:spPr>
          <a:xfrm>
            <a:off x="10702823" y="2441448"/>
            <a:ext cx="173736" cy="173736"/>
          </a:xfrm>
          <a:prstGeom prst="rect">
            <a:avLst/>
          </a:prstGeom>
          <a:solidFill>
            <a:srgbClr val="E4EAE0"/>
          </a:solidFill>
          <a:ln>
            <a:noFill/>
          </a:ln>
        </p:spPr>
        <p:txBody>
          <a:bodyPr rtlCol="0" anchor="ctr"/>
          <a:lstStyle/>
          <a:p>
            <a:pPr algn="ctr"/>
          </a:p>
        </p:txBody>
      </p:sp>
      <p:sp>
        <p:nvSpPr>
          <p:cNvPr id="388" name="Rectangle 387"/>
          <p:cNvSpPr/>
          <p:nvPr/>
        </p:nvSpPr>
        <p:spPr>
          <a:xfrm>
            <a:off x="10702823" y="2221992"/>
            <a:ext cx="173736" cy="173736"/>
          </a:xfrm>
          <a:prstGeom prst="rect">
            <a:avLst/>
          </a:prstGeom>
          <a:solidFill>
            <a:srgbClr val="E4EAE0"/>
          </a:solidFill>
          <a:ln>
            <a:noFill/>
          </a:ln>
        </p:spPr>
        <p:txBody>
          <a:bodyPr rtlCol="0" anchor="ctr"/>
          <a:lstStyle/>
          <a:p>
            <a:pPr algn="ctr"/>
          </a:p>
        </p:txBody>
      </p:sp>
      <p:sp>
        <p:nvSpPr>
          <p:cNvPr id="389" name="Rectangle 388"/>
          <p:cNvSpPr/>
          <p:nvPr/>
        </p:nvSpPr>
        <p:spPr>
          <a:xfrm>
            <a:off x="10702823" y="2002536"/>
            <a:ext cx="173736" cy="173736"/>
          </a:xfrm>
          <a:prstGeom prst="rect">
            <a:avLst/>
          </a:prstGeom>
          <a:solidFill>
            <a:srgbClr val="E4EAE0"/>
          </a:solidFill>
          <a:ln>
            <a:noFill/>
          </a:ln>
        </p:spPr>
        <p:txBody>
          <a:bodyPr rtlCol="0" anchor="ctr"/>
          <a:lstStyle/>
          <a:p>
            <a:pPr algn="ctr"/>
          </a:p>
        </p:txBody>
      </p:sp>
      <p:sp>
        <p:nvSpPr>
          <p:cNvPr id="390" name="Rectangle 389"/>
          <p:cNvSpPr/>
          <p:nvPr/>
        </p:nvSpPr>
        <p:spPr>
          <a:xfrm>
            <a:off x="10702823" y="1783080"/>
            <a:ext cx="173736" cy="173736"/>
          </a:xfrm>
          <a:prstGeom prst="rect">
            <a:avLst/>
          </a:prstGeom>
          <a:solidFill>
            <a:srgbClr val="E4EAE0"/>
          </a:solidFill>
          <a:ln>
            <a:noFill/>
          </a:ln>
        </p:spPr>
        <p:txBody>
          <a:bodyPr rtlCol="0" anchor="ctr"/>
          <a:lstStyle/>
          <a:p>
            <a:pPr algn="ctr"/>
          </a:p>
        </p:txBody>
      </p:sp>
      <p:sp>
        <p:nvSpPr>
          <p:cNvPr id="391" name="Rectangle 390"/>
          <p:cNvSpPr/>
          <p:nvPr/>
        </p:nvSpPr>
        <p:spPr>
          <a:xfrm>
            <a:off x="10922279" y="3758184"/>
            <a:ext cx="173736" cy="173736"/>
          </a:xfrm>
          <a:prstGeom prst="rect">
            <a:avLst/>
          </a:prstGeom>
          <a:solidFill>
            <a:srgbClr val="E4EAE0"/>
          </a:solidFill>
          <a:ln>
            <a:noFill/>
          </a:ln>
        </p:spPr>
        <p:txBody>
          <a:bodyPr rtlCol="0" anchor="ctr"/>
          <a:lstStyle/>
          <a:p>
            <a:pPr algn="ctr"/>
          </a:p>
        </p:txBody>
      </p:sp>
      <p:sp>
        <p:nvSpPr>
          <p:cNvPr id="392" name="Rectangle 391"/>
          <p:cNvSpPr/>
          <p:nvPr/>
        </p:nvSpPr>
        <p:spPr>
          <a:xfrm>
            <a:off x="10922279" y="3538728"/>
            <a:ext cx="173736" cy="173736"/>
          </a:xfrm>
          <a:prstGeom prst="rect">
            <a:avLst/>
          </a:prstGeom>
          <a:solidFill>
            <a:srgbClr val="E4EAE0"/>
          </a:solidFill>
          <a:ln>
            <a:noFill/>
          </a:ln>
        </p:spPr>
        <p:txBody>
          <a:bodyPr rtlCol="0" anchor="ctr"/>
          <a:lstStyle/>
          <a:p>
            <a:pPr algn="ctr"/>
          </a:p>
        </p:txBody>
      </p:sp>
      <p:sp>
        <p:nvSpPr>
          <p:cNvPr id="393" name="Rectangle 392"/>
          <p:cNvSpPr/>
          <p:nvPr/>
        </p:nvSpPr>
        <p:spPr>
          <a:xfrm>
            <a:off x="10922279" y="3319272"/>
            <a:ext cx="173736" cy="173736"/>
          </a:xfrm>
          <a:prstGeom prst="rect">
            <a:avLst/>
          </a:prstGeom>
          <a:solidFill>
            <a:srgbClr val="E4EAE0"/>
          </a:solidFill>
          <a:ln>
            <a:noFill/>
          </a:ln>
        </p:spPr>
        <p:txBody>
          <a:bodyPr rtlCol="0" anchor="ctr"/>
          <a:lstStyle/>
          <a:p>
            <a:pPr algn="ctr"/>
          </a:p>
        </p:txBody>
      </p:sp>
      <p:sp>
        <p:nvSpPr>
          <p:cNvPr id="394" name="Rectangle 393"/>
          <p:cNvSpPr/>
          <p:nvPr/>
        </p:nvSpPr>
        <p:spPr>
          <a:xfrm>
            <a:off x="10922279" y="3099816"/>
            <a:ext cx="173736" cy="173736"/>
          </a:xfrm>
          <a:prstGeom prst="rect">
            <a:avLst/>
          </a:prstGeom>
          <a:solidFill>
            <a:srgbClr val="E4EAE0"/>
          </a:solidFill>
          <a:ln>
            <a:noFill/>
          </a:ln>
        </p:spPr>
        <p:txBody>
          <a:bodyPr rtlCol="0" anchor="ctr"/>
          <a:lstStyle/>
          <a:p>
            <a:pPr algn="ctr"/>
          </a:p>
        </p:txBody>
      </p:sp>
      <p:sp>
        <p:nvSpPr>
          <p:cNvPr id="395" name="Rectangle 394"/>
          <p:cNvSpPr/>
          <p:nvPr/>
        </p:nvSpPr>
        <p:spPr>
          <a:xfrm>
            <a:off x="10922279" y="2880360"/>
            <a:ext cx="173736" cy="173736"/>
          </a:xfrm>
          <a:prstGeom prst="rect">
            <a:avLst/>
          </a:prstGeom>
          <a:solidFill>
            <a:srgbClr val="E4EAE0"/>
          </a:solidFill>
          <a:ln>
            <a:noFill/>
          </a:ln>
        </p:spPr>
        <p:txBody>
          <a:bodyPr rtlCol="0" anchor="ctr"/>
          <a:lstStyle/>
          <a:p>
            <a:pPr algn="ctr"/>
          </a:p>
        </p:txBody>
      </p:sp>
      <p:sp>
        <p:nvSpPr>
          <p:cNvPr id="396" name="Rectangle 395"/>
          <p:cNvSpPr/>
          <p:nvPr/>
        </p:nvSpPr>
        <p:spPr>
          <a:xfrm>
            <a:off x="10922279" y="2660904"/>
            <a:ext cx="173736" cy="173736"/>
          </a:xfrm>
          <a:prstGeom prst="rect">
            <a:avLst/>
          </a:prstGeom>
          <a:solidFill>
            <a:srgbClr val="E4EAE0"/>
          </a:solidFill>
          <a:ln>
            <a:noFill/>
          </a:ln>
        </p:spPr>
        <p:txBody>
          <a:bodyPr rtlCol="0" anchor="ctr"/>
          <a:lstStyle/>
          <a:p>
            <a:pPr algn="ctr"/>
          </a:p>
        </p:txBody>
      </p:sp>
      <p:sp>
        <p:nvSpPr>
          <p:cNvPr id="397" name="Rectangle 396"/>
          <p:cNvSpPr/>
          <p:nvPr/>
        </p:nvSpPr>
        <p:spPr>
          <a:xfrm>
            <a:off x="10922279" y="2441448"/>
            <a:ext cx="173736" cy="173736"/>
          </a:xfrm>
          <a:prstGeom prst="rect">
            <a:avLst/>
          </a:prstGeom>
          <a:solidFill>
            <a:srgbClr val="E4EAE0"/>
          </a:solidFill>
          <a:ln>
            <a:noFill/>
          </a:ln>
        </p:spPr>
        <p:txBody>
          <a:bodyPr rtlCol="0" anchor="ctr"/>
          <a:lstStyle/>
          <a:p>
            <a:pPr algn="ctr"/>
          </a:p>
        </p:txBody>
      </p:sp>
      <p:sp>
        <p:nvSpPr>
          <p:cNvPr id="398" name="Rectangle 397"/>
          <p:cNvSpPr/>
          <p:nvPr/>
        </p:nvSpPr>
        <p:spPr>
          <a:xfrm>
            <a:off x="10922279" y="2221992"/>
            <a:ext cx="173736" cy="173736"/>
          </a:xfrm>
          <a:prstGeom prst="rect">
            <a:avLst/>
          </a:prstGeom>
          <a:solidFill>
            <a:srgbClr val="E4EAE0"/>
          </a:solidFill>
          <a:ln>
            <a:noFill/>
          </a:ln>
        </p:spPr>
        <p:txBody>
          <a:bodyPr rtlCol="0" anchor="ctr"/>
          <a:lstStyle/>
          <a:p>
            <a:pPr algn="ctr"/>
          </a:p>
        </p:txBody>
      </p:sp>
      <p:sp>
        <p:nvSpPr>
          <p:cNvPr id="399" name="Rectangle 398"/>
          <p:cNvSpPr/>
          <p:nvPr/>
        </p:nvSpPr>
        <p:spPr>
          <a:xfrm>
            <a:off x="10922279" y="2002536"/>
            <a:ext cx="173736" cy="173736"/>
          </a:xfrm>
          <a:prstGeom prst="rect">
            <a:avLst/>
          </a:prstGeom>
          <a:solidFill>
            <a:srgbClr val="E4EAE0"/>
          </a:solidFill>
          <a:ln>
            <a:noFill/>
          </a:ln>
        </p:spPr>
        <p:txBody>
          <a:bodyPr rtlCol="0" anchor="ctr"/>
          <a:lstStyle/>
          <a:p>
            <a:pPr algn="ctr"/>
          </a:p>
        </p:txBody>
      </p:sp>
      <p:sp>
        <p:nvSpPr>
          <p:cNvPr id="400" name="Rectangle 399"/>
          <p:cNvSpPr/>
          <p:nvPr/>
        </p:nvSpPr>
        <p:spPr>
          <a:xfrm>
            <a:off x="10922279" y="1783080"/>
            <a:ext cx="173736" cy="173736"/>
          </a:xfrm>
          <a:prstGeom prst="rect">
            <a:avLst/>
          </a:prstGeom>
          <a:solidFill>
            <a:srgbClr val="E4EAE0"/>
          </a:solidFill>
          <a:ln>
            <a:noFill/>
          </a:ln>
        </p:spPr>
        <p:txBody>
          <a:bodyPr rtlCol="0" anchor="ctr"/>
          <a:lstStyle/>
          <a:p>
            <a:pPr algn="ctr"/>
          </a:p>
        </p:txBody>
      </p:sp>
      <p:sp>
        <p:nvSpPr>
          <p:cNvPr id="401" name="Rectangle 400"/>
          <p:cNvSpPr/>
          <p:nvPr/>
        </p:nvSpPr>
        <p:spPr>
          <a:xfrm>
            <a:off x="11141735" y="3758184"/>
            <a:ext cx="173736" cy="173736"/>
          </a:xfrm>
          <a:prstGeom prst="rect">
            <a:avLst/>
          </a:prstGeom>
          <a:solidFill>
            <a:srgbClr val="E4EAE0"/>
          </a:solidFill>
          <a:ln>
            <a:noFill/>
          </a:ln>
        </p:spPr>
        <p:txBody>
          <a:bodyPr rtlCol="0" anchor="ctr"/>
          <a:lstStyle/>
          <a:p>
            <a:pPr algn="ctr"/>
          </a:p>
        </p:txBody>
      </p:sp>
      <p:sp>
        <p:nvSpPr>
          <p:cNvPr id="402" name="Rectangle 401"/>
          <p:cNvSpPr/>
          <p:nvPr/>
        </p:nvSpPr>
        <p:spPr>
          <a:xfrm>
            <a:off x="11141735" y="3538728"/>
            <a:ext cx="173736" cy="173736"/>
          </a:xfrm>
          <a:prstGeom prst="rect">
            <a:avLst/>
          </a:prstGeom>
          <a:solidFill>
            <a:srgbClr val="E4EAE0"/>
          </a:solidFill>
          <a:ln>
            <a:noFill/>
          </a:ln>
        </p:spPr>
        <p:txBody>
          <a:bodyPr rtlCol="0" anchor="ctr"/>
          <a:lstStyle/>
          <a:p>
            <a:pPr algn="ctr"/>
          </a:p>
        </p:txBody>
      </p:sp>
      <p:sp>
        <p:nvSpPr>
          <p:cNvPr id="403" name="Rectangle 402"/>
          <p:cNvSpPr/>
          <p:nvPr/>
        </p:nvSpPr>
        <p:spPr>
          <a:xfrm>
            <a:off x="11141735" y="3319272"/>
            <a:ext cx="173736" cy="173736"/>
          </a:xfrm>
          <a:prstGeom prst="rect">
            <a:avLst/>
          </a:prstGeom>
          <a:solidFill>
            <a:srgbClr val="E4EAE0"/>
          </a:solidFill>
          <a:ln>
            <a:noFill/>
          </a:ln>
        </p:spPr>
        <p:txBody>
          <a:bodyPr rtlCol="0" anchor="ctr"/>
          <a:lstStyle/>
          <a:p>
            <a:pPr algn="ctr"/>
          </a:p>
        </p:txBody>
      </p:sp>
      <p:sp>
        <p:nvSpPr>
          <p:cNvPr id="404" name="Rectangle 403"/>
          <p:cNvSpPr/>
          <p:nvPr/>
        </p:nvSpPr>
        <p:spPr>
          <a:xfrm>
            <a:off x="11141735" y="3099816"/>
            <a:ext cx="173736" cy="173736"/>
          </a:xfrm>
          <a:prstGeom prst="rect">
            <a:avLst/>
          </a:prstGeom>
          <a:solidFill>
            <a:srgbClr val="E4EAE0"/>
          </a:solidFill>
          <a:ln>
            <a:noFill/>
          </a:ln>
        </p:spPr>
        <p:txBody>
          <a:bodyPr rtlCol="0" anchor="ctr"/>
          <a:lstStyle/>
          <a:p>
            <a:pPr algn="ctr"/>
          </a:p>
        </p:txBody>
      </p:sp>
      <p:sp>
        <p:nvSpPr>
          <p:cNvPr id="405" name="Rectangle 404"/>
          <p:cNvSpPr/>
          <p:nvPr/>
        </p:nvSpPr>
        <p:spPr>
          <a:xfrm>
            <a:off x="11141735" y="2880360"/>
            <a:ext cx="173736" cy="173736"/>
          </a:xfrm>
          <a:prstGeom prst="rect">
            <a:avLst/>
          </a:prstGeom>
          <a:solidFill>
            <a:srgbClr val="E4EAE0"/>
          </a:solidFill>
          <a:ln>
            <a:noFill/>
          </a:ln>
        </p:spPr>
        <p:txBody>
          <a:bodyPr rtlCol="0" anchor="ctr"/>
          <a:lstStyle/>
          <a:p>
            <a:pPr algn="ctr"/>
          </a:p>
        </p:txBody>
      </p:sp>
      <p:sp>
        <p:nvSpPr>
          <p:cNvPr id="406" name="Rectangle 405"/>
          <p:cNvSpPr/>
          <p:nvPr/>
        </p:nvSpPr>
        <p:spPr>
          <a:xfrm>
            <a:off x="11141735" y="2660904"/>
            <a:ext cx="173736" cy="173736"/>
          </a:xfrm>
          <a:prstGeom prst="rect">
            <a:avLst/>
          </a:prstGeom>
          <a:solidFill>
            <a:srgbClr val="E4EAE0"/>
          </a:solidFill>
          <a:ln>
            <a:noFill/>
          </a:ln>
        </p:spPr>
        <p:txBody>
          <a:bodyPr rtlCol="0" anchor="ctr"/>
          <a:lstStyle/>
          <a:p>
            <a:pPr algn="ctr"/>
          </a:p>
        </p:txBody>
      </p:sp>
      <p:sp>
        <p:nvSpPr>
          <p:cNvPr id="407" name="Rectangle 406"/>
          <p:cNvSpPr/>
          <p:nvPr/>
        </p:nvSpPr>
        <p:spPr>
          <a:xfrm>
            <a:off x="11141735" y="2441448"/>
            <a:ext cx="173736" cy="173736"/>
          </a:xfrm>
          <a:prstGeom prst="rect">
            <a:avLst/>
          </a:prstGeom>
          <a:solidFill>
            <a:srgbClr val="E4EAE0"/>
          </a:solidFill>
          <a:ln>
            <a:noFill/>
          </a:ln>
        </p:spPr>
        <p:txBody>
          <a:bodyPr rtlCol="0" anchor="ctr"/>
          <a:lstStyle/>
          <a:p>
            <a:pPr algn="ctr"/>
          </a:p>
        </p:txBody>
      </p:sp>
      <p:sp>
        <p:nvSpPr>
          <p:cNvPr id="408" name="Rectangle 407"/>
          <p:cNvSpPr/>
          <p:nvPr/>
        </p:nvSpPr>
        <p:spPr>
          <a:xfrm>
            <a:off x="11141735" y="2221992"/>
            <a:ext cx="173736" cy="173736"/>
          </a:xfrm>
          <a:prstGeom prst="rect">
            <a:avLst/>
          </a:prstGeom>
          <a:solidFill>
            <a:srgbClr val="E4EAE0"/>
          </a:solidFill>
          <a:ln>
            <a:noFill/>
          </a:ln>
        </p:spPr>
        <p:txBody>
          <a:bodyPr rtlCol="0" anchor="ctr"/>
          <a:lstStyle/>
          <a:p>
            <a:pPr algn="ctr"/>
          </a:p>
        </p:txBody>
      </p:sp>
      <p:sp>
        <p:nvSpPr>
          <p:cNvPr id="409" name="Rectangle 408"/>
          <p:cNvSpPr/>
          <p:nvPr/>
        </p:nvSpPr>
        <p:spPr>
          <a:xfrm>
            <a:off x="11141735" y="2002536"/>
            <a:ext cx="173736" cy="173736"/>
          </a:xfrm>
          <a:prstGeom prst="rect">
            <a:avLst/>
          </a:prstGeom>
          <a:solidFill>
            <a:srgbClr val="E4EAE0"/>
          </a:solidFill>
          <a:ln>
            <a:noFill/>
          </a:ln>
        </p:spPr>
        <p:txBody>
          <a:bodyPr rtlCol="0" anchor="ctr"/>
          <a:lstStyle/>
          <a:p>
            <a:pPr algn="ctr"/>
          </a:p>
        </p:txBody>
      </p:sp>
      <p:sp>
        <p:nvSpPr>
          <p:cNvPr id="410" name="Rectangle 409"/>
          <p:cNvSpPr/>
          <p:nvPr/>
        </p:nvSpPr>
        <p:spPr>
          <a:xfrm>
            <a:off x="11141735" y="1783080"/>
            <a:ext cx="173736" cy="173736"/>
          </a:xfrm>
          <a:prstGeom prst="rect">
            <a:avLst/>
          </a:prstGeom>
          <a:solidFill>
            <a:srgbClr val="E4EAE0"/>
          </a:solidFill>
          <a:ln>
            <a:noFill/>
          </a:ln>
        </p:spPr>
        <p:txBody>
          <a:bodyPr rtlCol="0" anchor="ctr"/>
          <a:lstStyle/>
          <a:p>
            <a:pPr algn="ctr"/>
          </a:p>
        </p:txBody>
      </p:sp>
      <p:sp>
        <p:nvSpPr>
          <p:cNvPr id="411" name="TextBox 410"/>
          <p:cNvSpPr txBox="1"/>
          <p:nvPr/>
        </p:nvSpPr>
        <p:spPr>
          <a:xfrm>
            <a:off x="9166631" y="4114800"/>
            <a:ext cx="2384984" cy="640080"/>
          </a:xfrm>
          <a:prstGeom prst="rect">
            <a:avLst/>
          </a:prstGeom>
          <a:noFill/>
        </p:spPr>
        <p:txBody>
          <a:bodyPr wrap="square" lIns="0" tIns="0" rIns="0" bIns="0">
            <a:spAutoFit/>
          </a:bodyPr>
          <a:lstStyle/>
          <a:p>
            <a:pPr>
              <a:lnSpc>
                <a:spcPct val="105000"/>
              </a:lnSpc>
            </a:pPr>
            <a:r>
              <a:rPr sz="3600">
                <a:solidFill>
                  <a:srgbClr val="41801A"/>
                </a:solidFill>
                <a:latin typeface="Georgia"/>
              </a:rPr>
              <a:t>4%</a:t>
            </a:r>
          </a:p>
        </p:txBody>
      </p:sp>
      <p:sp>
        <p:nvSpPr>
          <p:cNvPr id="412" name="TextBox 411"/>
          <p:cNvSpPr txBox="1"/>
          <p:nvPr/>
        </p:nvSpPr>
        <p:spPr>
          <a:xfrm>
            <a:off x="9166631" y="4754880"/>
            <a:ext cx="2339264" cy="822960"/>
          </a:xfrm>
          <a:prstGeom prst="rect">
            <a:avLst/>
          </a:prstGeom>
          <a:noFill/>
        </p:spPr>
        <p:txBody>
          <a:bodyPr wrap="square" lIns="0" tIns="0" rIns="0" bIns="0">
            <a:spAutoFit/>
          </a:bodyPr>
          <a:lstStyle/>
          <a:p>
            <a:pPr>
              <a:lnSpc>
                <a:spcPct val="105000"/>
              </a:lnSpc>
            </a:pPr>
            <a:r>
              <a:rPr sz="1500">
                <a:solidFill>
                  <a:srgbClr val="0C1408"/>
                </a:solidFill>
                <a:latin typeface="Arial"/>
              </a:rPr>
              <a:t>of savers use a bank [1]</a:t>
            </a:r>
          </a:p>
        </p:txBody>
      </p:sp>
      <p:sp>
        <p:nvSpPr>
          <p:cNvPr id="413" name="TextBox 412"/>
          <p:cNvSpPr txBox="1"/>
          <p:nvPr/>
        </p:nvSpPr>
        <p:spPr>
          <a:xfrm>
            <a:off x="640080" y="5669280"/>
            <a:ext cx="10911535" cy="365760"/>
          </a:xfrm>
          <a:prstGeom prst="rect">
            <a:avLst/>
          </a:prstGeom>
          <a:noFill/>
        </p:spPr>
        <p:txBody>
          <a:bodyPr wrap="square" lIns="0" tIns="0" rIns="0" bIns="0">
            <a:spAutoFit/>
          </a:bodyPr>
          <a:lstStyle/>
          <a:p>
            <a:pPr>
              <a:lnSpc>
                <a:spcPct val="105000"/>
              </a:lnSpc>
            </a:pPr>
            <a:r>
              <a:rPr sz="1700" b="1">
                <a:solidFill>
                  <a:srgbClr val="0C1408"/>
                </a:solidFill>
                <a:latin typeface="Arial"/>
              </a:rPr>
              <a:t>No on-time payment reaches a credit bureau.</a:t>
            </a:r>
          </a:p>
        </p:txBody>
      </p:sp>
      <p:sp>
        <p:nvSpPr>
          <p:cNvPr id="414" name="TextBox 413"/>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Financial Inclusion Insights survey data, in Mehmood et al. 2018   2  Dawn, 5 and 12 Dec 2022; Arab News, 10 Dec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Halqa is the system; Raqami is the machine that holds and moves every rupee.</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6</a:t>
            </a:r>
          </a:p>
        </p:txBody>
      </p:sp>
      <p:sp>
        <p:nvSpPr>
          <p:cNvPr id="5" name="Rectangle 4"/>
          <p:cNvSpPr/>
          <p:nvPr/>
        </p:nvSpPr>
        <p:spPr>
          <a:xfrm>
            <a:off x="685800" y="1691640"/>
            <a:ext cx="2377440" cy="457200"/>
          </a:xfrm>
          <a:prstGeom prst="rect">
            <a:avLst/>
          </a:prstGeom>
          <a:solidFill>
            <a:srgbClr val="FFFFFF"/>
          </a:solidFill>
          <a:ln w="12700">
            <a:solidFill>
              <a:srgbClr val="26301F"/>
            </a:solidFill>
          </a:ln>
        </p:spPr>
        <p:txBody>
          <a:bodyPr rtlCol="0" anchor="ctr" lIns="18288" tIns="13716" rIns="18288" bIns="13716" wrap="square"/>
          <a:lstStyle/>
          <a:p>
            <a:pPr algn="ctr">
              <a:lnSpc>
                <a:spcPct val="105000"/>
              </a:lnSpc>
            </a:pPr>
            <a:r>
              <a:rPr sz="1500" b="1">
                <a:solidFill>
                  <a:srgbClr val="0C1408"/>
                </a:solidFill>
                <a:latin typeface="Arial"/>
              </a:rPr>
              <a:t>Member</a:t>
            </a:r>
          </a:p>
        </p:txBody>
      </p:sp>
      <p:sp>
        <p:nvSpPr>
          <p:cNvPr id="6" name="TextBox 5"/>
          <p:cNvSpPr txBox="1"/>
          <p:nvPr/>
        </p:nvSpPr>
        <p:spPr>
          <a:xfrm>
            <a:off x="320040" y="2185416"/>
            <a:ext cx="3108960" cy="274320"/>
          </a:xfrm>
          <a:prstGeom prst="rect">
            <a:avLst/>
          </a:prstGeom>
          <a:noFill/>
        </p:spPr>
        <p:txBody>
          <a:bodyPr wrap="square" lIns="0" tIns="0" rIns="0" bIns="0">
            <a:spAutoFit/>
          </a:bodyPr>
          <a:lstStyle/>
          <a:p>
            <a:pPr algn="ctr">
              <a:lnSpc>
                <a:spcPct val="105000"/>
              </a:lnSpc>
            </a:pPr>
            <a:r>
              <a:rPr sz="1200">
                <a:solidFill>
                  <a:srgbClr val="5F6B58"/>
                </a:solidFill>
                <a:latin typeface="Arial"/>
              </a:rPr>
              <a:t>own Raqami account</a:t>
            </a:r>
          </a:p>
        </p:txBody>
      </p:sp>
      <p:cxnSp>
        <p:nvCxnSpPr>
          <p:cNvPr id="7" name="Connector 6"/>
          <p:cNvCxnSpPr/>
          <p:nvPr/>
        </p:nvCxnSpPr>
        <p:spPr>
          <a:xfrm>
            <a:off x="1874520" y="2514600"/>
            <a:ext cx="0" cy="3246120"/>
          </a:xfrm>
          <a:prstGeom prst="line">
            <a:avLst/>
          </a:prstGeom>
          <a:ln w="12700">
            <a:solidFill>
              <a:srgbClr val="A9B4A3"/>
            </a:solidFill>
            <a:prstDash val="dash"/>
          </a:ln>
        </p:spPr>
      </p:cxnSp>
      <p:sp>
        <p:nvSpPr>
          <p:cNvPr id="8" name="Rectangle 7"/>
          <p:cNvSpPr/>
          <p:nvPr/>
        </p:nvSpPr>
        <p:spPr>
          <a:xfrm>
            <a:off x="4910328" y="1691640"/>
            <a:ext cx="2377440" cy="457200"/>
          </a:xfrm>
          <a:prstGeom prst="rect">
            <a:avLst/>
          </a:prstGeom>
          <a:solidFill>
            <a:srgbClr val="F3FCE7"/>
          </a:solidFill>
          <a:ln w="19050">
            <a:solidFill>
              <a:srgbClr val="41801A"/>
            </a:solidFill>
          </a:ln>
        </p:spPr>
        <p:txBody>
          <a:bodyPr rtlCol="0" anchor="ctr" lIns="18288" tIns="13716" rIns="18288" bIns="13716" wrap="square"/>
          <a:lstStyle/>
          <a:p>
            <a:pPr algn="ctr">
              <a:lnSpc>
                <a:spcPct val="105000"/>
              </a:lnSpc>
            </a:pPr>
            <a:r>
              <a:rPr sz="1500" b="1">
                <a:solidFill>
                  <a:srgbClr val="41801A"/>
                </a:solidFill>
                <a:latin typeface="Arial"/>
              </a:rPr>
              <a:t>Halqa</a:t>
            </a:r>
          </a:p>
        </p:txBody>
      </p:sp>
      <p:sp>
        <p:nvSpPr>
          <p:cNvPr id="9" name="TextBox 8"/>
          <p:cNvSpPr txBox="1"/>
          <p:nvPr/>
        </p:nvSpPr>
        <p:spPr>
          <a:xfrm>
            <a:off x="4544568" y="2185416"/>
            <a:ext cx="3108960" cy="274320"/>
          </a:xfrm>
          <a:prstGeom prst="rect">
            <a:avLst/>
          </a:prstGeom>
          <a:noFill/>
        </p:spPr>
        <p:txBody>
          <a:bodyPr wrap="square" lIns="0" tIns="0" rIns="0" bIns="0">
            <a:spAutoFit/>
          </a:bodyPr>
          <a:lstStyle/>
          <a:p>
            <a:pPr algn="ctr">
              <a:lnSpc>
                <a:spcPct val="105000"/>
              </a:lnSpc>
            </a:pPr>
            <a:r>
              <a:rPr sz="1200">
                <a:solidFill>
                  <a:srgbClr val="5F6B58"/>
                </a:solidFill>
                <a:latin typeface="Arial"/>
              </a:rPr>
              <a:t>rules, turns, checks, records</a:t>
            </a:r>
          </a:p>
        </p:txBody>
      </p:sp>
      <p:cxnSp>
        <p:nvCxnSpPr>
          <p:cNvPr id="10" name="Connector 9"/>
          <p:cNvCxnSpPr/>
          <p:nvPr/>
        </p:nvCxnSpPr>
        <p:spPr>
          <a:xfrm>
            <a:off x="6099048" y="2514600"/>
            <a:ext cx="0" cy="3246120"/>
          </a:xfrm>
          <a:prstGeom prst="line">
            <a:avLst/>
          </a:prstGeom>
          <a:ln w="12700">
            <a:solidFill>
              <a:srgbClr val="A9B4A3"/>
            </a:solidFill>
            <a:prstDash val="dash"/>
          </a:ln>
        </p:spPr>
      </p:cxnSp>
      <p:sp>
        <p:nvSpPr>
          <p:cNvPr id="11" name="Rectangle 10"/>
          <p:cNvSpPr/>
          <p:nvPr/>
        </p:nvSpPr>
        <p:spPr>
          <a:xfrm>
            <a:off x="9125712" y="1691640"/>
            <a:ext cx="2377440" cy="457200"/>
          </a:xfrm>
          <a:prstGeom prst="rect">
            <a:avLst/>
          </a:prstGeom>
          <a:solidFill>
            <a:srgbClr val="FFFFFF"/>
          </a:solidFill>
          <a:ln w="19050">
            <a:solidFill>
              <a:srgbClr val="573F99"/>
            </a:solidFill>
          </a:ln>
        </p:spPr>
        <p:txBody>
          <a:bodyPr rtlCol="0" anchor="ctr" lIns="18288" tIns="13716" rIns="18288" bIns="13716" wrap="square"/>
          <a:lstStyle/>
          <a:p>
            <a:pPr algn="ctr">
              <a:lnSpc>
                <a:spcPct val="105000"/>
              </a:lnSpc>
            </a:pPr>
            <a:r>
              <a:rPr sz="1500" b="1">
                <a:solidFill>
                  <a:srgbClr val="573F99"/>
                </a:solidFill>
                <a:latin typeface="Arial"/>
              </a:rPr>
              <a:t>Raqami</a:t>
            </a:r>
          </a:p>
        </p:txBody>
      </p:sp>
      <p:sp>
        <p:nvSpPr>
          <p:cNvPr id="12" name="TextBox 11"/>
          <p:cNvSpPr txBox="1"/>
          <p:nvPr/>
        </p:nvSpPr>
        <p:spPr>
          <a:xfrm>
            <a:off x="8759952" y="2185416"/>
            <a:ext cx="3108960" cy="274320"/>
          </a:xfrm>
          <a:prstGeom prst="rect">
            <a:avLst/>
          </a:prstGeom>
          <a:noFill/>
        </p:spPr>
        <p:txBody>
          <a:bodyPr wrap="square" lIns="0" tIns="0" rIns="0" bIns="0">
            <a:spAutoFit/>
          </a:bodyPr>
          <a:lstStyle/>
          <a:p>
            <a:pPr algn="ctr">
              <a:lnSpc>
                <a:spcPct val="105000"/>
              </a:lnSpc>
            </a:pPr>
            <a:r>
              <a:rPr sz="1200">
                <a:solidFill>
                  <a:srgbClr val="5F6B58"/>
                </a:solidFill>
                <a:latin typeface="Arial"/>
              </a:rPr>
              <a:t>accounts, debit, payout</a:t>
            </a:r>
          </a:p>
        </p:txBody>
      </p:sp>
      <p:cxnSp>
        <p:nvCxnSpPr>
          <p:cNvPr id="13" name="Connector 12"/>
          <p:cNvCxnSpPr/>
          <p:nvPr/>
        </p:nvCxnSpPr>
        <p:spPr>
          <a:xfrm>
            <a:off x="10314432" y="2514600"/>
            <a:ext cx="0" cy="3246120"/>
          </a:xfrm>
          <a:prstGeom prst="line">
            <a:avLst/>
          </a:prstGeom>
          <a:ln w="12700">
            <a:solidFill>
              <a:srgbClr val="A9B4A3"/>
            </a:solidFill>
            <a:prstDash val="dash"/>
          </a:ln>
        </p:spPr>
      </p:cxnSp>
      <p:cxnSp>
        <p:nvCxnSpPr>
          <p:cNvPr id="14" name="Connector 13"/>
          <p:cNvCxnSpPr/>
          <p:nvPr/>
        </p:nvCxnSpPr>
        <p:spPr>
          <a:xfrm>
            <a:off x="1874520" y="2926080"/>
            <a:ext cx="4224528" cy="0"/>
          </a:xfrm>
          <a:prstGeom prst="line">
            <a:avLst/>
          </a:prstGeom>
          <a:ln w="15875">
            <a:solidFill>
              <a:srgbClr val="26301F"/>
            </a:solidFill>
            <a:tailEnd type="triangle" w="med" len="med"/>
          </a:ln>
        </p:spPr>
      </p:cxnSp>
      <p:sp>
        <p:nvSpPr>
          <p:cNvPr id="15" name="TextBox 14"/>
          <p:cNvSpPr txBox="1"/>
          <p:nvPr/>
        </p:nvSpPr>
        <p:spPr>
          <a:xfrm>
            <a:off x="1984248" y="2624328"/>
            <a:ext cx="4005072" cy="256032"/>
          </a:xfrm>
          <a:prstGeom prst="rect">
            <a:avLst/>
          </a:prstGeom>
          <a:noFill/>
        </p:spPr>
        <p:txBody>
          <a:bodyPr wrap="square" lIns="0" tIns="0" rIns="0" bIns="0">
            <a:spAutoFit/>
          </a:bodyPr>
          <a:lstStyle/>
          <a:p>
            <a:pPr algn="ctr">
              <a:lnSpc>
                <a:spcPct val="105000"/>
              </a:lnSpc>
            </a:pPr>
            <a:r>
              <a:rPr sz="1300">
                <a:solidFill>
                  <a:srgbClr val="26301F"/>
                </a:solidFill>
                <a:latin typeface="Arial"/>
              </a:rPr>
              <a:t>joins; gives a standing instruction</a:t>
            </a:r>
          </a:p>
        </p:txBody>
      </p:sp>
      <p:cxnSp>
        <p:nvCxnSpPr>
          <p:cNvPr id="16" name="Connector 15"/>
          <p:cNvCxnSpPr/>
          <p:nvPr/>
        </p:nvCxnSpPr>
        <p:spPr>
          <a:xfrm>
            <a:off x="6099048" y="3429000"/>
            <a:ext cx="4215384" cy="0"/>
          </a:xfrm>
          <a:prstGeom prst="line">
            <a:avLst/>
          </a:prstGeom>
          <a:ln w="15875">
            <a:solidFill>
              <a:srgbClr val="26301F"/>
            </a:solidFill>
            <a:tailEnd type="triangle" w="med" len="med"/>
          </a:ln>
        </p:spPr>
      </p:cxnSp>
      <p:sp>
        <p:nvSpPr>
          <p:cNvPr id="17" name="TextBox 16"/>
          <p:cNvSpPr txBox="1"/>
          <p:nvPr/>
        </p:nvSpPr>
        <p:spPr>
          <a:xfrm>
            <a:off x="6208776" y="3127248"/>
            <a:ext cx="3995928" cy="256032"/>
          </a:xfrm>
          <a:prstGeom prst="rect">
            <a:avLst/>
          </a:prstGeom>
          <a:noFill/>
        </p:spPr>
        <p:txBody>
          <a:bodyPr wrap="square" lIns="0" tIns="0" rIns="0" bIns="0">
            <a:spAutoFit/>
          </a:bodyPr>
          <a:lstStyle/>
          <a:p>
            <a:pPr algn="ctr">
              <a:lnSpc>
                <a:spcPct val="105000"/>
              </a:lnSpc>
            </a:pPr>
            <a:r>
              <a:rPr sz="1300">
                <a:solidFill>
                  <a:srgbClr val="26301F"/>
                </a:solidFill>
                <a:latin typeface="Arial"/>
              </a:rPr>
              <a:t>collect on the 8th</a:t>
            </a:r>
          </a:p>
        </p:txBody>
      </p:sp>
      <p:cxnSp>
        <p:nvCxnSpPr>
          <p:cNvPr id="18" name="Connector 17"/>
          <p:cNvCxnSpPr/>
          <p:nvPr/>
        </p:nvCxnSpPr>
        <p:spPr>
          <a:xfrm>
            <a:off x="1874520" y="4023360"/>
            <a:ext cx="8439912" cy="0"/>
          </a:xfrm>
          <a:prstGeom prst="line">
            <a:avLst/>
          </a:prstGeom>
          <a:ln w="57150">
            <a:solidFill>
              <a:srgbClr val="41801A"/>
            </a:solidFill>
            <a:tailEnd type="triangle" w="med" len="med"/>
          </a:ln>
        </p:spPr>
      </p:cxnSp>
      <p:sp>
        <p:nvSpPr>
          <p:cNvPr id="19" name="TextBox 18"/>
          <p:cNvSpPr txBox="1"/>
          <p:nvPr/>
        </p:nvSpPr>
        <p:spPr>
          <a:xfrm>
            <a:off x="1984248" y="3694176"/>
            <a:ext cx="3995928" cy="274320"/>
          </a:xfrm>
          <a:prstGeom prst="rect">
            <a:avLst/>
          </a:prstGeom>
          <a:noFill/>
        </p:spPr>
        <p:txBody>
          <a:bodyPr wrap="square" lIns="0" tIns="0" rIns="0" bIns="0">
            <a:spAutoFit/>
          </a:bodyPr>
          <a:lstStyle/>
          <a:p>
            <a:pPr>
              <a:lnSpc>
                <a:spcPct val="105000"/>
              </a:lnSpc>
            </a:pPr>
            <a:r>
              <a:rPr sz="1350" b="1">
                <a:solidFill>
                  <a:srgbClr val="41801A"/>
                </a:solidFill>
                <a:latin typeface="Arial"/>
              </a:rPr>
              <a:t>Rs 10,000 from each member</a:t>
            </a:r>
          </a:p>
        </p:txBody>
      </p:sp>
      <p:sp>
        <p:nvSpPr>
          <p:cNvPr id="20" name="TextBox 19"/>
          <p:cNvSpPr txBox="1"/>
          <p:nvPr/>
        </p:nvSpPr>
        <p:spPr>
          <a:xfrm>
            <a:off x="6208776" y="3712464"/>
            <a:ext cx="2194560" cy="256032"/>
          </a:xfrm>
          <a:prstGeom prst="rect">
            <a:avLst/>
          </a:prstGeom>
          <a:noFill/>
        </p:spPr>
        <p:txBody>
          <a:bodyPr wrap="square" lIns="0" tIns="0" rIns="0" bIns="0">
            <a:spAutoFit/>
          </a:bodyPr>
          <a:lstStyle/>
          <a:p>
            <a:pPr>
              <a:lnSpc>
                <a:spcPct val="105000"/>
              </a:lnSpc>
            </a:pPr>
            <a:r>
              <a:rPr sz="1200" i="1">
                <a:solidFill>
                  <a:srgbClr val="5F6B58"/>
                </a:solidFill>
                <a:latin typeface="Arial"/>
              </a:rPr>
              <a:t>not through Halqa</a:t>
            </a:r>
          </a:p>
        </p:txBody>
      </p:sp>
      <p:cxnSp>
        <p:nvCxnSpPr>
          <p:cNvPr id="21" name="Connector 20"/>
          <p:cNvCxnSpPr/>
          <p:nvPr/>
        </p:nvCxnSpPr>
        <p:spPr>
          <a:xfrm>
            <a:off x="6099048" y="4590288"/>
            <a:ext cx="4215384" cy="0"/>
          </a:xfrm>
          <a:prstGeom prst="line">
            <a:avLst/>
          </a:prstGeom>
          <a:ln w="15875">
            <a:solidFill>
              <a:srgbClr val="26301F"/>
            </a:solidFill>
            <a:tailEnd type="triangle" w="med" len="med"/>
          </a:ln>
        </p:spPr>
      </p:cxnSp>
      <p:sp>
        <p:nvSpPr>
          <p:cNvPr id="22" name="TextBox 21"/>
          <p:cNvSpPr txBox="1"/>
          <p:nvPr/>
        </p:nvSpPr>
        <p:spPr>
          <a:xfrm>
            <a:off x="6208776" y="4288536"/>
            <a:ext cx="3995928" cy="256032"/>
          </a:xfrm>
          <a:prstGeom prst="rect">
            <a:avLst/>
          </a:prstGeom>
          <a:noFill/>
        </p:spPr>
        <p:txBody>
          <a:bodyPr wrap="square" lIns="0" tIns="0" rIns="0" bIns="0">
            <a:spAutoFit/>
          </a:bodyPr>
          <a:lstStyle/>
          <a:p>
            <a:pPr algn="ctr">
              <a:lnSpc>
                <a:spcPct val="105000"/>
              </a:lnSpc>
            </a:pPr>
            <a:r>
              <a:rPr sz="1300">
                <a:solidFill>
                  <a:srgbClr val="26301F"/>
                </a:solidFill>
                <a:latin typeface="Arial"/>
              </a:rPr>
              <a:t>pay this month’s collector</a:t>
            </a:r>
          </a:p>
        </p:txBody>
      </p:sp>
      <p:cxnSp>
        <p:nvCxnSpPr>
          <p:cNvPr id="23" name="Connector 22"/>
          <p:cNvCxnSpPr/>
          <p:nvPr/>
        </p:nvCxnSpPr>
        <p:spPr>
          <a:xfrm flipH="1">
            <a:off x="1874520" y="5184648"/>
            <a:ext cx="8439912" cy="0"/>
          </a:xfrm>
          <a:prstGeom prst="line">
            <a:avLst/>
          </a:prstGeom>
          <a:ln w="57150">
            <a:solidFill>
              <a:srgbClr val="41801A"/>
            </a:solidFill>
            <a:tailEnd type="triangle" w="med" len="med"/>
          </a:ln>
        </p:spPr>
      </p:cxnSp>
      <p:sp>
        <p:nvSpPr>
          <p:cNvPr id="24" name="TextBox 23"/>
          <p:cNvSpPr txBox="1"/>
          <p:nvPr/>
        </p:nvSpPr>
        <p:spPr>
          <a:xfrm>
            <a:off x="1984248" y="4855464"/>
            <a:ext cx="3995928" cy="274320"/>
          </a:xfrm>
          <a:prstGeom prst="rect">
            <a:avLst/>
          </a:prstGeom>
          <a:noFill/>
        </p:spPr>
        <p:txBody>
          <a:bodyPr wrap="square" lIns="0" tIns="0" rIns="0" bIns="0">
            <a:spAutoFit/>
          </a:bodyPr>
          <a:lstStyle/>
          <a:p>
            <a:pPr>
              <a:lnSpc>
                <a:spcPct val="105000"/>
              </a:lnSpc>
            </a:pPr>
            <a:r>
              <a:rPr sz="1350" b="1">
                <a:solidFill>
                  <a:srgbClr val="41801A"/>
                </a:solidFill>
                <a:latin typeface="Arial"/>
              </a:rPr>
              <a:t>Rs 120,000 to the collector, same day, free</a:t>
            </a:r>
          </a:p>
        </p:txBody>
      </p:sp>
      <p:sp>
        <p:nvSpPr>
          <p:cNvPr id="25" name="TextBox 24"/>
          <p:cNvSpPr txBox="1"/>
          <p:nvPr/>
        </p:nvSpPr>
        <p:spPr>
          <a:xfrm>
            <a:off x="6208776" y="4873752"/>
            <a:ext cx="2194560" cy="256032"/>
          </a:xfrm>
          <a:prstGeom prst="rect">
            <a:avLst/>
          </a:prstGeom>
          <a:noFill/>
        </p:spPr>
        <p:txBody>
          <a:bodyPr wrap="square" lIns="0" tIns="0" rIns="0" bIns="0">
            <a:spAutoFit/>
          </a:bodyPr>
          <a:lstStyle/>
          <a:p>
            <a:pPr>
              <a:lnSpc>
                <a:spcPct val="105000"/>
              </a:lnSpc>
            </a:pPr>
            <a:r>
              <a:rPr sz="1200" i="1">
                <a:solidFill>
                  <a:srgbClr val="5F6B58"/>
                </a:solidFill>
                <a:latin typeface="Arial"/>
              </a:rPr>
              <a:t>not through Halqa</a:t>
            </a:r>
          </a:p>
        </p:txBody>
      </p:sp>
      <p:cxnSp>
        <p:nvCxnSpPr>
          <p:cNvPr id="26" name="Connector 25"/>
          <p:cNvCxnSpPr/>
          <p:nvPr/>
        </p:nvCxnSpPr>
        <p:spPr>
          <a:xfrm flipH="1">
            <a:off x="6099048" y="5669280"/>
            <a:ext cx="4215384" cy="0"/>
          </a:xfrm>
          <a:prstGeom prst="line">
            <a:avLst/>
          </a:prstGeom>
          <a:ln w="15875">
            <a:solidFill>
              <a:srgbClr val="5F6B58"/>
            </a:solidFill>
            <a:prstDash val="dash"/>
            <a:tailEnd type="triangle" w="med" len="med"/>
          </a:ln>
        </p:spPr>
      </p:cxnSp>
      <p:sp>
        <p:nvSpPr>
          <p:cNvPr id="27" name="TextBox 26"/>
          <p:cNvSpPr txBox="1"/>
          <p:nvPr/>
        </p:nvSpPr>
        <p:spPr>
          <a:xfrm>
            <a:off x="6208776" y="5367528"/>
            <a:ext cx="3995928" cy="256032"/>
          </a:xfrm>
          <a:prstGeom prst="rect">
            <a:avLst/>
          </a:prstGeom>
          <a:noFill/>
        </p:spPr>
        <p:txBody>
          <a:bodyPr wrap="square" lIns="0" tIns="0" rIns="0" bIns="0">
            <a:spAutoFit/>
          </a:bodyPr>
          <a:lstStyle/>
          <a:p>
            <a:pPr algn="ctr">
              <a:lnSpc>
                <a:spcPct val="105000"/>
              </a:lnSpc>
            </a:pPr>
            <a:r>
              <a:rPr sz="1300">
                <a:solidFill>
                  <a:srgbClr val="26301F"/>
                </a:solidFill>
                <a:latin typeface="Arial"/>
              </a:rPr>
              <a:t>confirmed; record updates</a:t>
            </a:r>
          </a:p>
        </p:txBody>
      </p:sp>
      <p:cxnSp>
        <p:nvCxnSpPr>
          <p:cNvPr id="28" name="Connector 27"/>
          <p:cNvCxnSpPr/>
          <p:nvPr/>
        </p:nvCxnSpPr>
        <p:spPr>
          <a:xfrm>
            <a:off x="640080" y="6236208"/>
            <a:ext cx="411480" cy="0"/>
          </a:xfrm>
          <a:prstGeom prst="line">
            <a:avLst/>
          </a:prstGeom>
          <a:ln w="57150">
            <a:solidFill>
              <a:srgbClr val="41801A"/>
            </a:solidFill>
          </a:ln>
        </p:spPr>
      </p:cxnSp>
      <p:sp>
        <p:nvSpPr>
          <p:cNvPr id="29" name="TextBox 28"/>
          <p:cNvSpPr txBox="1"/>
          <p:nvPr/>
        </p:nvSpPr>
        <p:spPr>
          <a:xfrm>
            <a:off x="1143000" y="6126480"/>
            <a:ext cx="1097280" cy="228600"/>
          </a:xfrm>
          <a:prstGeom prst="rect">
            <a:avLst/>
          </a:prstGeom>
          <a:noFill/>
        </p:spPr>
        <p:txBody>
          <a:bodyPr wrap="square" lIns="0" tIns="0" rIns="0" bIns="0">
            <a:spAutoFit/>
          </a:bodyPr>
          <a:lstStyle/>
          <a:p>
            <a:pPr>
              <a:lnSpc>
                <a:spcPct val="105000"/>
              </a:lnSpc>
            </a:pPr>
            <a:r>
              <a:rPr sz="1100">
                <a:solidFill>
                  <a:srgbClr val="5F6B58"/>
                </a:solidFill>
                <a:latin typeface="Arial"/>
              </a:rPr>
              <a:t>money</a:t>
            </a:r>
          </a:p>
        </p:txBody>
      </p:sp>
      <p:cxnSp>
        <p:nvCxnSpPr>
          <p:cNvPr id="30" name="Connector 29"/>
          <p:cNvCxnSpPr/>
          <p:nvPr/>
        </p:nvCxnSpPr>
        <p:spPr>
          <a:xfrm>
            <a:off x="2103120" y="6236208"/>
            <a:ext cx="411480" cy="0"/>
          </a:xfrm>
          <a:prstGeom prst="line">
            <a:avLst/>
          </a:prstGeom>
          <a:ln w="15875">
            <a:solidFill>
              <a:srgbClr val="26301F"/>
            </a:solidFill>
          </a:ln>
        </p:spPr>
      </p:cxnSp>
      <p:sp>
        <p:nvSpPr>
          <p:cNvPr id="31" name="TextBox 30"/>
          <p:cNvSpPr txBox="1"/>
          <p:nvPr/>
        </p:nvSpPr>
        <p:spPr>
          <a:xfrm>
            <a:off x="2606040" y="6126480"/>
            <a:ext cx="2743200" cy="228600"/>
          </a:xfrm>
          <a:prstGeom prst="rect">
            <a:avLst/>
          </a:prstGeom>
          <a:noFill/>
        </p:spPr>
        <p:txBody>
          <a:bodyPr wrap="square" lIns="0" tIns="0" rIns="0" bIns="0">
            <a:spAutoFit/>
          </a:bodyPr>
          <a:lstStyle/>
          <a:p>
            <a:pPr>
              <a:lnSpc>
                <a:spcPct val="105000"/>
              </a:lnSpc>
            </a:pPr>
            <a:r>
              <a:rPr sz="1100">
                <a:solidFill>
                  <a:srgbClr val="5F6B58"/>
                </a:solidFill>
                <a:latin typeface="Arial"/>
              </a:rPr>
              <a:t>instructions and records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Each circle opens 6 to 20 Raqami accounts at once, through a host its members trust.</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7</a:t>
            </a:r>
          </a:p>
        </p:txBody>
      </p:sp>
      <p:sp>
        <p:nvSpPr>
          <p:cNvPr id="5" name="Rectangle 4"/>
          <p:cNvSpPr/>
          <p:nvPr/>
        </p:nvSpPr>
        <p:spPr>
          <a:xfrm>
            <a:off x="640080" y="3063240"/>
            <a:ext cx="1463040" cy="676656"/>
          </a:xfrm>
          <a:prstGeom prst="rect">
            <a:avLst/>
          </a:prstGeom>
          <a:solidFill>
            <a:srgbClr val="F3FCE7"/>
          </a:solidFill>
          <a:ln w="19050">
            <a:solidFill>
              <a:srgbClr val="41801A"/>
            </a:solidFill>
          </a:ln>
        </p:spPr>
        <p:txBody>
          <a:bodyPr rtlCol="0" anchor="ctr" lIns="18288" tIns="13716" rIns="18288" bIns="13716" wrap="square"/>
          <a:lstStyle/>
          <a:p>
            <a:pPr algn="ctr">
              <a:lnSpc>
                <a:spcPct val="105000"/>
              </a:lnSpc>
            </a:pPr>
            <a:r>
              <a:rPr sz="1600" b="1">
                <a:solidFill>
                  <a:srgbClr val="41801A"/>
                </a:solidFill>
                <a:latin typeface="Arial"/>
              </a:rPr>
              <a:t>Host</a:t>
            </a:r>
          </a:p>
          <a:p>
            <a:pPr algn="ctr">
              <a:lnSpc>
                <a:spcPct val="105000"/>
              </a:lnSpc>
            </a:pPr>
            <a:r>
              <a:rPr sz="1100">
                <a:solidFill>
                  <a:srgbClr val="5F6B58"/>
                </a:solidFill>
                <a:latin typeface="Arial"/>
              </a:rPr>
              <a:t>the organiser</a:t>
            </a:r>
          </a:p>
        </p:txBody>
      </p:sp>
      <p:sp>
        <p:nvSpPr>
          <p:cNvPr id="6" name="Freeform 5"/>
          <p:cNvSpPr/>
          <p:nvPr/>
        </p:nvSpPr>
        <p:spPr>
          <a:xfrm>
            <a:off x="2103120" y="2203704"/>
            <a:ext cx="896112" cy="1197864"/>
          </a:xfrm>
          <a:custGeom>
            <a:avLst/>
            <a:gdLst/>
            <a:ahLst/>
            <a:cxnLst/>
            <a:rect l="l" t="t" r="r" b="b"/>
            <a:pathLst>
              <a:path w="896112" h="1197864">
                <a:moveTo>
                  <a:pt x="0" y="1197864"/>
                </a:moveTo>
                <a:lnTo>
                  <a:pt x="896112" y="0"/>
                </a:lnTo>
              </a:path>
            </a:pathLst>
          </a:custGeom>
          <a:noFill/>
          <a:ln w="9525">
            <a:solidFill>
              <a:srgbClr val="A9B4A3"/>
            </a:solidFill>
          </a:ln>
        </p:spPr>
        <p:txBody>
          <a:bodyPr rtlCol="0" anchor="ctr"/>
          <a:lstStyle/>
          <a:p>
            <a:pPr algn="ctr"/>
          </a:p>
        </p:txBody>
      </p:sp>
      <p:sp>
        <p:nvSpPr>
          <p:cNvPr id="7" name="Freeform 6"/>
          <p:cNvSpPr/>
          <p:nvPr/>
        </p:nvSpPr>
        <p:spPr>
          <a:xfrm>
            <a:off x="2103120" y="2203704"/>
            <a:ext cx="1408176" cy="1197864"/>
          </a:xfrm>
          <a:custGeom>
            <a:avLst/>
            <a:gdLst/>
            <a:ahLst/>
            <a:cxnLst/>
            <a:rect l="l" t="t" r="r" b="b"/>
            <a:pathLst>
              <a:path w="1408176" h="1197864">
                <a:moveTo>
                  <a:pt x="0" y="1197864"/>
                </a:moveTo>
                <a:lnTo>
                  <a:pt x="1408176" y="0"/>
                </a:lnTo>
              </a:path>
            </a:pathLst>
          </a:custGeom>
          <a:noFill/>
          <a:ln w="9525">
            <a:solidFill>
              <a:srgbClr val="A9B4A3"/>
            </a:solidFill>
          </a:ln>
        </p:spPr>
        <p:txBody>
          <a:bodyPr rtlCol="0" anchor="ctr"/>
          <a:lstStyle/>
          <a:p>
            <a:pPr algn="ctr"/>
          </a:p>
        </p:txBody>
      </p:sp>
      <p:sp>
        <p:nvSpPr>
          <p:cNvPr id="8" name="Freeform 7"/>
          <p:cNvSpPr/>
          <p:nvPr/>
        </p:nvSpPr>
        <p:spPr>
          <a:xfrm>
            <a:off x="2103120" y="2203704"/>
            <a:ext cx="1920240" cy="1197864"/>
          </a:xfrm>
          <a:custGeom>
            <a:avLst/>
            <a:gdLst/>
            <a:ahLst/>
            <a:cxnLst/>
            <a:rect l="l" t="t" r="r" b="b"/>
            <a:pathLst>
              <a:path w="1920240" h="1197864">
                <a:moveTo>
                  <a:pt x="0" y="1197864"/>
                </a:moveTo>
                <a:lnTo>
                  <a:pt x="1920240" y="0"/>
                </a:lnTo>
              </a:path>
            </a:pathLst>
          </a:custGeom>
          <a:noFill/>
          <a:ln w="9525">
            <a:solidFill>
              <a:srgbClr val="A9B4A3"/>
            </a:solidFill>
          </a:ln>
        </p:spPr>
        <p:txBody>
          <a:bodyPr rtlCol="0" anchor="ctr"/>
          <a:lstStyle/>
          <a:p>
            <a:pPr algn="ctr"/>
          </a:p>
        </p:txBody>
      </p:sp>
      <p:sp>
        <p:nvSpPr>
          <p:cNvPr id="9" name="Freeform 8"/>
          <p:cNvSpPr/>
          <p:nvPr/>
        </p:nvSpPr>
        <p:spPr>
          <a:xfrm>
            <a:off x="2103120" y="2203704"/>
            <a:ext cx="2432304" cy="1197864"/>
          </a:xfrm>
          <a:custGeom>
            <a:avLst/>
            <a:gdLst/>
            <a:ahLst/>
            <a:cxnLst/>
            <a:rect l="l" t="t" r="r" b="b"/>
            <a:pathLst>
              <a:path w="2432304" h="1197864">
                <a:moveTo>
                  <a:pt x="0" y="1197864"/>
                </a:moveTo>
                <a:lnTo>
                  <a:pt x="2432304" y="0"/>
                </a:lnTo>
              </a:path>
            </a:pathLst>
          </a:custGeom>
          <a:noFill/>
          <a:ln w="9525">
            <a:solidFill>
              <a:srgbClr val="A9B4A3"/>
            </a:solidFill>
          </a:ln>
        </p:spPr>
        <p:txBody>
          <a:bodyPr rtlCol="0" anchor="ctr"/>
          <a:lstStyle/>
          <a:p>
            <a:pPr algn="ctr"/>
          </a:p>
        </p:txBody>
      </p:sp>
      <p:sp>
        <p:nvSpPr>
          <p:cNvPr id="10" name="Freeform 9"/>
          <p:cNvSpPr/>
          <p:nvPr/>
        </p:nvSpPr>
        <p:spPr>
          <a:xfrm>
            <a:off x="2103120" y="2715768"/>
            <a:ext cx="896112" cy="685800"/>
          </a:xfrm>
          <a:custGeom>
            <a:avLst/>
            <a:gdLst/>
            <a:ahLst/>
            <a:cxnLst/>
            <a:rect l="l" t="t" r="r" b="b"/>
            <a:pathLst>
              <a:path w="896112" h="685800">
                <a:moveTo>
                  <a:pt x="0" y="685800"/>
                </a:moveTo>
                <a:lnTo>
                  <a:pt x="896112" y="0"/>
                </a:lnTo>
              </a:path>
            </a:pathLst>
          </a:custGeom>
          <a:noFill/>
          <a:ln w="9525">
            <a:solidFill>
              <a:srgbClr val="A9B4A3"/>
            </a:solidFill>
          </a:ln>
        </p:spPr>
        <p:txBody>
          <a:bodyPr rtlCol="0" anchor="ctr"/>
          <a:lstStyle/>
          <a:p>
            <a:pPr algn="ctr"/>
          </a:p>
        </p:txBody>
      </p:sp>
      <p:sp>
        <p:nvSpPr>
          <p:cNvPr id="11" name="Freeform 10"/>
          <p:cNvSpPr/>
          <p:nvPr/>
        </p:nvSpPr>
        <p:spPr>
          <a:xfrm>
            <a:off x="2103120" y="2715768"/>
            <a:ext cx="1408176" cy="685800"/>
          </a:xfrm>
          <a:custGeom>
            <a:avLst/>
            <a:gdLst/>
            <a:ahLst/>
            <a:cxnLst/>
            <a:rect l="l" t="t" r="r" b="b"/>
            <a:pathLst>
              <a:path w="1408176" h="685800">
                <a:moveTo>
                  <a:pt x="0" y="685800"/>
                </a:moveTo>
                <a:lnTo>
                  <a:pt x="1408176" y="0"/>
                </a:lnTo>
              </a:path>
            </a:pathLst>
          </a:custGeom>
          <a:noFill/>
          <a:ln w="9525">
            <a:solidFill>
              <a:srgbClr val="A9B4A3"/>
            </a:solidFill>
          </a:ln>
        </p:spPr>
        <p:txBody>
          <a:bodyPr rtlCol="0" anchor="ctr"/>
          <a:lstStyle/>
          <a:p>
            <a:pPr algn="ctr"/>
          </a:p>
        </p:txBody>
      </p:sp>
      <p:sp>
        <p:nvSpPr>
          <p:cNvPr id="12" name="Freeform 11"/>
          <p:cNvSpPr/>
          <p:nvPr/>
        </p:nvSpPr>
        <p:spPr>
          <a:xfrm>
            <a:off x="2103120" y="2715768"/>
            <a:ext cx="1920240" cy="685800"/>
          </a:xfrm>
          <a:custGeom>
            <a:avLst/>
            <a:gdLst/>
            <a:ahLst/>
            <a:cxnLst/>
            <a:rect l="l" t="t" r="r" b="b"/>
            <a:pathLst>
              <a:path w="1920240" h="685800">
                <a:moveTo>
                  <a:pt x="0" y="685800"/>
                </a:moveTo>
                <a:lnTo>
                  <a:pt x="1920240" y="0"/>
                </a:lnTo>
              </a:path>
            </a:pathLst>
          </a:custGeom>
          <a:noFill/>
          <a:ln w="9525">
            <a:solidFill>
              <a:srgbClr val="A9B4A3"/>
            </a:solidFill>
          </a:ln>
        </p:spPr>
        <p:txBody>
          <a:bodyPr rtlCol="0" anchor="ctr"/>
          <a:lstStyle/>
          <a:p>
            <a:pPr algn="ctr"/>
          </a:p>
        </p:txBody>
      </p:sp>
      <p:sp>
        <p:nvSpPr>
          <p:cNvPr id="13" name="Freeform 12"/>
          <p:cNvSpPr/>
          <p:nvPr/>
        </p:nvSpPr>
        <p:spPr>
          <a:xfrm>
            <a:off x="2103120" y="2715768"/>
            <a:ext cx="2432304" cy="685800"/>
          </a:xfrm>
          <a:custGeom>
            <a:avLst/>
            <a:gdLst/>
            <a:ahLst/>
            <a:cxnLst/>
            <a:rect l="l" t="t" r="r" b="b"/>
            <a:pathLst>
              <a:path w="2432304" h="685800">
                <a:moveTo>
                  <a:pt x="0" y="685800"/>
                </a:moveTo>
                <a:lnTo>
                  <a:pt x="2432304" y="0"/>
                </a:lnTo>
              </a:path>
            </a:pathLst>
          </a:custGeom>
          <a:noFill/>
          <a:ln w="9525">
            <a:solidFill>
              <a:srgbClr val="A9B4A3"/>
            </a:solidFill>
          </a:ln>
        </p:spPr>
        <p:txBody>
          <a:bodyPr rtlCol="0" anchor="ctr"/>
          <a:lstStyle/>
          <a:p>
            <a:pPr algn="ctr"/>
          </a:p>
        </p:txBody>
      </p:sp>
      <p:sp>
        <p:nvSpPr>
          <p:cNvPr id="14" name="Freeform 13"/>
          <p:cNvSpPr/>
          <p:nvPr/>
        </p:nvSpPr>
        <p:spPr>
          <a:xfrm>
            <a:off x="2103120" y="3227832"/>
            <a:ext cx="896112" cy="173736"/>
          </a:xfrm>
          <a:custGeom>
            <a:avLst/>
            <a:gdLst/>
            <a:ahLst/>
            <a:cxnLst/>
            <a:rect l="l" t="t" r="r" b="b"/>
            <a:pathLst>
              <a:path w="896112" h="173736">
                <a:moveTo>
                  <a:pt x="0" y="173736"/>
                </a:moveTo>
                <a:lnTo>
                  <a:pt x="896112" y="0"/>
                </a:lnTo>
              </a:path>
            </a:pathLst>
          </a:custGeom>
          <a:noFill/>
          <a:ln w="9525">
            <a:solidFill>
              <a:srgbClr val="A9B4A3"/>
            </a:solidFill>
          </a:ln>
        </p:spPr>
        <p:txBody>
          <a:bodyPr rtlCol="0" anchor="ctr"/>
          <a:lstStyle/>
          <a:p>
            <a:pPr algn="ctr"/>
          </a:p>
        </p:txBody>
      </p:sp>
      <p:sp>
        <p:nvSpPr>
          <p:cNvPr id="15" name="Freeform 14"/>
          <p:cNvSpPr/>
          <p:nvPr/>
        </p:nvSpPr>
        <p:spPr>
          <a:xfrm>
            <a:off x="2103120" y="3227832"/>
            <a:ext cx="1408176" cy="173736"/>
          </a:xfrm>
          <a:custGeom>
            <a:avLst/>
            <a:gdLst/>
            <a:ahLst/>
            <a:cxnLst/>
            <a:rect l="l" t="t" r="r" b="b"/>
            <a:pathLst>
              <a:path w="1408176" h="173736">
                <a:moveTo>
                  <a:pt x="0" y="173736"/>
                </a:moveTo>
                <a:lnTo>
                  <a:pt x="1408176" y="0"/>
                </a:lnTo>
              </a:path>
            </a:pathLst>
          </a:custGeom>
          <a:noFill/>
          <a:ln w="9525">
            <a:solidFill>
              <a:srgbClr val="A9B4A3"/>
            </a:solidFill>
          </a:ln>
        </p:spPr>
        <p:txBody>
          <a:bodyPr rtlCol="0" anchor="ctr"/>
          <a:lstStyle/>
          <a:p>
            <a:pPr algn="ctr"/>
          </a:p>
        </p:txBody>
      </p:sp>
      <p:sp>
        <p:nvSpPr>
          <p:cNvPr id="16" name="Freeform 15"/>
          <p:cNvSpPr/>
          <p:nvPr/>
        </p:nvSpPr>
        <p:spPr>
          <a:xfrm>
            <a:off x="2103120" y="3227832"/>
            <a:ext cx="1920240" cy="173736"/>
          </a:xfrm>
          <a:custGeom>
            <a:avLst/>
            <a:gdLst/>
            <a:ahLst/>
            <a:cxnLst/>
            <a:rect l="l" t="t" r="r" b="b"/>
            <a:pathLst>
              <a:path w="1920240" h="173736">
                <a:moveTo>
                  <a:pt x="0" y="173736"/>
                </a:moveTo>
                <a:lnTo>
                  <a:pt x="1920240" y="0"/>
                </a:lnTo>
              </a:path>
            </a:pathLst>
          </a:custGeom>
          <a:noFill/>
          <a:ln w="9525">
            <a:solidFill>
              <a:srgbClr val="A9B4A3"/>
            </a:solidFill>
          </a:ln>
        </p:spPr>
        <p:txBody>
          <a:bodyPr rtlCol="0" anchor="ctr"/>
          <a:lstStyle/>
          <a:p>
            <a:pPr algn="ctr"/>
          </a:p>
        </p:txBody>
      </p:sp>
      <p:sp>
        <p:nvSpPr>
          <p:cNvPr id="17" name="Freeform 16"/>
          <p:cNvSpPr/>
          <p:nvPr/>
        </p:nvSpPr>
        <p:spPr>
          <a:xfrm>
            <a:off x="2103120" y="3227832"/>
            <a:ext cx="2432304" cy="173736"/>
          </a:xfrm>
          <a:custGeom>
            <a:avLst/>
            <a:gdLst/>
            <a:ahLst/>
            <a:cxnLst/>
            <a:rect l="l" t="t" r="r" b="b"/>
            <a:pathLst>
              <a:path w="2432304" h="173736">
                <a:moveTo>
                  <a:pt x="0" y="173736"/>
                </a:moveTo>
                <a:lnTo>
                  <a:pt x="2432304" y="0"/>
                </a:lnTo>
              </a:path>
            </a:pathLst>
          </a:custGeom>
          <a:noFill/>
          <a:ln w="9525">
            <a:solidFill>
              <a:srgbClr val="A9B4A3"/>
            </a:solidFill>
          </a:ln>
        </p:spPr>
        <p:txBody>
          <a:bodyPr rtlCol="0" anchor="ctr"/>
          <a:lstStyle/>
          <a:p>
            <a:pPr algn="ctr"/>
          </a:p>
        </p:txBody>
      </p:sp>
      <p:sp>
        <p:nvSpPr>
          <p:cNvPr id="18" name="Rectangle 17"/>
          <p:cNvSpPr/>
          <p:nvPr/>
        </p:nvSpPr>
        <p:spPr>
          <a:xfrm>
            <a:off x="3017520" y="2011680"/>
            <a:ext cx="384048" cy="384048"/>
          </a:xfrm>
          <a:prstGeom prst="rect">
            <a:avLst/>
          </a:prstGeom>
          <a:solidFill>
            <a:srgbClr val="573F99"/>
          </a:solidFill>
          <a:ln>
            <a:noFill/>
          </a:ln>
        </p:spPr>
        <p:txBody>
          <a:bodyPr rtlCol="0" anchor="ctr"/>
          <a:lstStyle/>
          <a:p>
            <a:pPr algn="ctr"/>
          </a:p>
        </p:txBody>
      </p:sp>
      <p:sp>
        <p:nvSpPr>
          <p:cNvPr id="19" name="Rectangle 18"/>
          <p:cNvSpPr/>
          <p:nvPr/>
        </p:nvSpPr>
        <p:spPr>
          <a:xfrm>
            <a:off x="3529584" y="2011680"/>
            <a:ext cx="384048" cy="384048"/>
          </a:xfrm>
          <a:prstGeom prst="rect">
            <a:avLst/>
          </a:prstGeom>
          <a:solidFill>
            <a:srgbClr val="573F99"/>
          </a:solidFill>
          <a:ln>
            <a:noFill/>
          </a:ln>
        </p:spPr>
        <p:txBody>
          <a:bodyPr rtlCol="0" anchor="ctr"/>
          <a:lstStyle/>
          <a:p>
            <a:pPr algn="ctr"/>
          </a:p>
        </p:txBody>
      </p:sp>
      <p:sp>
        <p:nvSpPr>
          <p:cNvPr id="20" name="Rectangle 19"/>
          <p:cNvSpPr/>
          <p:nvPr/>
        </p:nvSpPr>
        <p:spPr>
          <a:xfrm>
            <a:off x="4041648" y="2011680"/>
            <a:ext cx="384048" cy="384048"/>
          </a:xfrm>
          <a:prstGeom prst="rect">
            <a:avLst/>
          </a:prstGeom>
          <a:solidFill>
            <a:srgbClr val="573F99"/>
          </a:solidFill>
          <a:ln>
            <a:noFill/>
          </a:ln>
        </p:spPr>
        <p:txBody>
          <a:bodyPr rtlCol="0" anchor="ctr"/>
          <a:lstStyle/>
          <a:p>
            <a:pPr algn="ctr"/>
          </a:p>
        </p:txBody>
      </p:sp>
      <p:sp>
        <p:nvSpPr>
          <p:cNvPr id="21" name="Rectangle 20"/>
          <p:cNvSpPr/>
          <p:nvPr/>
        </p:nvSpPr>
        <p:spPr>
          <a:xfrm>
            <a:off x="4553712" y="2011680"/>
            <a:ext cx="384048" cy="384048"/>
          </a:xfrm>
          <a:prstGeom prst="rect">
            <a:avLst/>
          </a:prstGeom>
          <a:solidFill>
            <a:srgbClr val="573F99"/>
          </a:solidFill>
          <a:ln>
            <a:noFill/>
          </a:ln>
        </p:spPr>
        <p:txBody>
          <a:bodyPr rtlCol="0" anchor="ctr"/>
          <a:lstStyle/>
          <a:p>
            <a:pPr algn="ctr"/>
          </a:p>
        </p:txBody>
      </p:sp>
      <p:sp>
        <p:nvSpPr>
          <p:cNvPr id="22" name="Rectangle 21"/>
          <p:cNvSpPr/>
          <p:nvPr/>
        </p:nvSpPr>
        <p:spPr>
          <a:xfrm>
            <a:off x="3017520" y="2523744"/>
            <a:ext cx="384048" cy="384048"/>
          </a:xfrm>
          <a:prstGeom prst="rect">
            <a:avLst/>
          </a:prstGeom>
          <a:solidFill>
            <a:srgbClr val="573F99"/>
          </a:solidFill>
          <a:ln>
            <a:noFill/>
          </a:ln>
        </p:spPr>
        <p:txBody>
          <a:bodyPr rtlCol="0" anchor="ctr"/>
          <a:lstStyle/>
          <a:p>
            <a:pPr algn="ctr"/>
          </a:p>
        </p:txBody>
      </p:sp>
      <p:sp>
        <p:nvSpPr>
          <p:cNvPr id="23" name="Rectangle 22"/>
          <p:cNvSpPr/>
          <p:nvPr/>
        </p:nvSpPr>
        <p:spPr>
          <a:xfrm>
            <a:off x="3529584" y="2523744"/>
            <a:ext cx="384048" cy="384048"/>
          </a:xfrm>
          <a:prstGeom prst="rect">
            <a:avLst/>
          </a:prstGeom>
          <a:solidFill>
            <a:srgbClr val="573F99"/>
          </a:solidFill>
          <a:ln>
            <a:noFill/>
          </a:ln>
        </p:spPr>
        <p:txBody>
          <a:bodyPr rtlCol="0" anchor="ctr"/>
          <a:lstStyle/>
          <a:p>
            <a:pPr algn="ctr"/>
          </a:p>
        </p:txBody>
      </p:sp>
      <p:sp>
        <p:nvSpPr>
          <p:cNvPr id="24" name="Rectangle 23"/>
          <p:cNvSpPr/>
          <p:nvPr/>
        </p:nvSpPr>
        <p:spPr>
          <a:xfrm>
            <a:off x="4041648" y="2523744"/>
            <a:ext cx="384048" cy="384048"/>
          </a:xfrm>
          <a:prstGeom prst="rect">
            <a:avLst/>
          </a:prstGeom>
          <a:solidFill>
            <a:srgbClr val="573F99"/>
          </a:solidFill>
          <a:ln>
            <a:noFill/>
          </a:ln>
        </p:spPr>
        <p:txBody>
          <a:bodyPr rtlCol="0" anchor="ctr"/>
          <a:lstStyle/>
          <a:p>
            <a:pPr algn="ctr"/>
          </a:p>
        </p:txBody>
      </p:sp>
      <p:sp>
        <p:nvSpPr>
          <p:cNvPr id="25" name="Rectangle 24"/>
          <p:cNvSpPr/>
          <p:nvPr/>
        </p:nvSpPr>
        <p:spPr>
          <a:xfrm>
            <a:off x="4553712" y="2523744"/>
            <a:ext cx="384048" cy="384048"/>
          </a:xfrm>
          <a:prstGeom prst="rect">
            <a:avLst/>
          </a:prstGeom>
          <a:solidFill>
            <a:srgbClr val="573F99"/>
          </a:solidFill>
          <a:ln>
            <a:noFill/>
          </a:ln>
        </p:spPr>
        <p:txBody>
          <a:bodyPr rtlCol="0" anchor="ctr"/>
          <a:lstStyle/>
          <a:p>
            <a:pPr algn="ctr"/>
          </a:p>
        </p:txBody>
      </p:sp>
      <p:sp>
        <p:nvSpPr>
          <p:cNvPr id="26" name="Rectangle 25"/>
          <p:cNvSpPr/>
          <p:nvPr/>
        </p:nvSpPr>
        <p:spPr>
          <a:xfrm>
            <a:off x="3017520" y="3035808"/>
            <a:ext cx="384048" cy="384048"/>
          </a:xfrm>
          <a:prstGeom prst="rect">
            <a:avLst/>
          </a:prstGeom>
          <a:solidFill>
            <a:srgbClr val="573F99"/>
          </a:solidFill>
          <a:ln>
            <a:noFill/>
          </a:ln>
        </p:spPr>
        <p:txBody>
          <a:bodyPr rtlCol="0" anchor="ctr"/>
          <a:lstStyle/>
          <a:p>
            <a:pPr algn="ctr"/>
          </a:p>
        </p:txBody>
      </p:sp>
      <p:sp>
        <p:nvSpPr>
          <p:cNvPr id="27" name="Rectangle 26"/>
          <p:cNvSpPr/>
          <p:nvPr/>
        </p:nvSpPr>
        <p:spPr>
          <a:xfrm>
            <a:off x="3529584" y="3035808"/>
            <a:ext cx="384048" cy="384048"/>
          </a:xfrm>
          <a:prstGeom prst="rect">
            <a:avLst/>
          </a:prstGeom>
          <a:solidFill>
            <a:srgbClr val="573F99"/>
          </a:solidFill>
          <a:ln>
            <a:noFill/>
          </a:ln>
        </p:spPr>
        <p:txBody>
          <a:bodyPr rtlCol="0" anchor="ctr"/>
          <a:lstStyle/>
          <a:p>
            <a:pPr algn="ctr"/>
          </a:p>
        </p:txBody>
      </p:sp>
      <p:sp>
        <p:nvSpPr>
          <p:cNvPr id="28" name="Rectangle 27"/>
          <p:cNvSpPr/>
          <p:nvPr/>
        </p:nvSpPr>
        <p:spPr>
          <a:xfrm>
            <a:off x="4041648" y="3035808"/>
            <a:ext cx="384048" cy="384048"/>
          </a:xfrm>
          <a:prstGeom prst="rect">
            <a:avLst/>
          </a:prstGeom>
          <a:solidFill>
            <a:srgbClr val="573F99"/>
          </a:solidFill>
          <a:ln>
            <a:noFill/>
          </a:ln>
        </p:spPr>
        <p:txBody>
          <a:bodyPr rtlCol="0" anchor="ctr"/>
          <a:lstStyle/>
          <a:p>
            <a:pPr algn="ctr"/>
          </a:p>
        </p:txBody>
      </p:sp>
      <p:sp>
        <p:nvSpPr>
          <p:cNvPr id="29" name="Rectangle 28"/>
          <p:cNvSpPr/>
          <p:nvPr/>
        </p:nvSpPr>
        <p:spPr>
          <a:xfrm>
            <a:off x="4553712" y="3035808"/>
            <a:ext cx="384048" cy="384048"/>
          </a:xfrm>
          <a:prstGeom prst="rect">
            <a:avLst/>
          </a:prstGeom>
          <a:solidFill>
            <a:srgbClr val="573F99"/>
          </a:solidFill>
          <a:ln>
            <a:noFill/>
          </a:ln>
        </p:spPr>
        <p:txBody>
          <a:bodyPr rtlCol="0" anchor="ctr"/>
          <a:lstStyle/>
          <a:p>
            <a:pPr algn="ctr"/>
          </a:p>
        </p:txBody>
      </p:sp>
      <p:sp>
        <p:nvSpPr>
          <p:cNvPr id="30" name="TextBox 29"/>
          <p:cNvSpPr txBox="1"/>
          <p:nvPr/>
        </p:nvSpPr>
        <p:spPr>
          <a:xfrm>
            <a:off x="2834640" y="3593592"/>
            <a:ext cx="2414016" cy="502920"/>
          </a:xfrm>
          <a:prstGeom prst="rect">
            <a:avLst/>
          </a:prstGeom>
          <a:noFill/>
        </p:spPr>
        <p:txBody>
          <a:bodyPr wrap="square" lIns="0" tIns="0" rIns="0" bIns="0">
            <a:spAutoFit/>
          </a:bodyPr>
          <a:lstStyle/>
          <a:p>
            <a:pPr algn="ctr">
              <a:lnSpc>
                <a:spcPct val="103000"/>
              </a:lnSpc>
            </a:pPr>
            <a:r>
              <a:rPr sz="1400" b="1">
                <a:solidFill>
                  <a:srgbClr val="0C1408"/>
                </a:solidFill>
                <a:latin typeface="Arial"/>
              </a:rPr>
              <a:t>12 new Raqami accounts</a:t>
            </a:r>
          </a:p>
        </p:txBody>
      </p:sp>
      <p:cxnSp>
        <p:nvCxnSpPr>
          <p:cNvPr id="31" name="Connector 30"/>
          <p:cNvCxnSpPr/>
          <p:nvPr/>
        </p:nvCxnSpPr>
        <p:spPr>
          <a:xfrm>
            <a:off x="5248656" y="2728570"/>
            <a:ext cx="457200" cy="0"/>
          </a:xfrm>
          <a:prstGeom prst="line">
            <a:avLst/>
          </a:prstGeom>
          <a:ln w="19050">
            <a:solidFill>
              <a:srgbClr val="41801A"/>
            </a:solidFill>
            <a:tailEnd type="triangle" w="med" len="med"/>
          </a:ln>
        </p:spPr>
      </p:cxnSp>
      <p:sp>
        <p:nvSpPr>
          <p:cNvPr id="32" name="Rectangle 31"/>
          <p:cNvSpPr/>
          <p:nvPr/>
        </p:nvSpPr>
        <p:spPr>
          <a:xfrm>
            <a:off x="5888736" y="2057400"/>
            <a:ext cx="164592" cy="164592"/>
          </a:xfrm>
          <a:prstGeom prst="rect">
            <a:avLst/>
          </a:prstGeom>
          <a:solidFill>
            <a:srgbClr val="E4DEF3"/>
          </a:solidFill>
          <a:ln>
            <a:noFill/>
          </a:ln>
        </p:spPr>
        <p:txBody>
          <a:bodyPr rtlCol="0" anchor="ctr"/>
          <a:lstStyle/>
          <a:p>
            <a:pPr algn="ctr"/>
          </a:p>
        </p:txBody>
      </p:sp>
      <p:sp>
        <p:nvSpPr>
          <p:cNvPr id="33" name="Rectangle 32"/>
          <p:cNvSpPr/>
          <p:nvPr/>
        </p:nvSpPr>
        <p:spPr>
          <a:xfrm>
            <a:off x="5888736" y="2286000"/>
            <a:ext cx="164592" cy="164592"/>
          </a:xfrm>
          <a:prstGeom prst="rect">
            <a:avLst/>
          </a:prstGeom>
          <a:solidFill>
            <a:srgbClr val="E4DEF3"/>
          </a:solidFill>
          <a:ln>
            <a:noFill/>
          </a:ln>
        </p:spPr>
        <p:txBody>
          <a:bodyPr rtlCol="0" anchor="ctr"/>
          <a:lstStyle/>
          <a:p>
            <a:pPr algn="ctr"/>
          </a:p>
        </p:txBody>
      </p:sp>
      <p:sp>
        <p:nvSpPr>
          <p:cNvPr id="34" name="Rectangle 33"/>
          <p:cNvSpPr/>
          <p:nvPr/>
        </p:nvSpPr>
        <p:spPr>
          <a:xfrm>
            <a:off x="5888736" y="2514600"/>
            <a:ext cx="164592" cy="164592"/>
          </a:xfrm>
          <a:prstGeom prst="rect">
            <a:avLst/>
          </a:prstGeom>
          <a:solidFill>
            <a:srgbClr val="E4DEF3"/>
          </a:solidFill>
          <a:ln>
            <a:noFill/>
          </a:ln>
        </p:spPr>
        <p:txBody>
          <a:bodyPr rtlCol="0" anchor="ctr"/>
          <a:lstStyle/>
          <a:p>
            <a:pPr algn="ctr"/>
          </a:p>
        </p:txBody>
      </p:sp>
      <p:sp>
        <p:nvSpPr>
          <p:cNvPr id="35" name="Rectangle 34"/>
          <p:cNvSpPr/>
          <p:nvPr/>
        </p:nvSpPr>
        <p:spPr>
          <a:xfrm>
            <a:off x="6117336" y="2057400"/>
            <a:ext cx="164592" cy="164592"/>
          </a:xfrm>
          <a:prstGeom prst="rect">
            <a:avLst/>
          </a:prstGeom>
          <a:solidFill>
            <a:srgbClr val="E4DEF3"/>
          </a:solidFill>
          <a:ln>
            <a:noFill/>
          </a:ln>
        </p:spPr>
        <p:txBody>
          <a:bodyPr rtlCol="0" anchor="ctr"/>
          <a:lstStyle/>
          <a:p>
            <a:pPr algn="ctr"/>
          </a:p>
        </p:txBody>
      </p:sp>
      <p:sp>
        <p:nvSpPr>
          <p:cNvPr id="36" name="Rectangle 35"/>
          <p:cNvSpPr/>
          <p:nvPr/>
        </p:nvSpPr>
        <p:spPr>
          <a:xfrm>
            <a:off x="6117336" y="2286000"/>
            <a:ext cx="164592" cy="164592"/>
          </a:xfrm>
          <a:prstGeom prst="rect">
            <a:avLst/>
          </a:prstGeom>
          <a:solidFill>
            <a:srgbClr val="E4DEF3"/>
          </a:solidFill>
          <a:ln>
            <a:noFill/>
          </a:ln>
        </p:spPr>
        <p:txBody>
          <a:bodyPr rtlCol="0" anchor="ctr"/>
          <a:lstStyle/>
          <a:p>
            <a:pPr algn="ctr"/>
          </a:p>
        </p:txBody>
      </p:sp>
      <p:sp>
        <p:nvSpPr>
          <p:cNvPr id="37" name="Rectangle 36"/>
          <p:cNvSpPr/>
          <p:nvPr/>
        </p:nvSpPr>
        <p:spPr>
          <a:xfrm>
            <a:off x="6117336" y="2514600"/>
            <a:ext cx="164592" cy="164592"/>
          </a:xfrm>
          <a:prstGeom prst="rect">
            <a:avLst/>
          </a:prstGeom>
          <a:solidFill>
            <a:srgbClr val="E4DEF3"/>
          </a:solidFill>
          <a:ln>
            <a:noFill/>
          </a:ln>
        </p:spPr>
        <p:txBody>
          <a:bodyPr rtlCol="0" anchor="ctr"/>
          <a:lstStyle/>
          <a:p>
            <a:pPr algn="ctr"/>
          </a:p>
        </p:txBody>
      </p:sp>
      <p:sp>
        <p:nvSpPr>
          <p:cNvPr id="38" name="Rectangle 37"/>
          <p:cNvSpPr/>
          <p:nvPr/>
        </p:nvSpPr>
        <p:spPr>
          <a:xfrm>
            <a:off x="6345936" y="2057400"/>
            <a:ext cx="164592" cy="164592"/>
          </a:xfrm>
          <a:prstGeom prst="rect">
            <a:avLst/>
          </a:prstGeom>
          <a:solidFill>
            <a:srgbClr val="E4DEF3"/>
          </a:solidFill>
          <a:ln>
            <a:noFill/>
          </a:ln>
        </p:spPr>
        <p:txBody>
          <a:bodyPr rtlCol="0" anchor="ctr"/>
          <a:lstStyle/>
          <a:p>
            <a:pPr algn="ctr"/>
          </a:p>
        </p:txBody>
      </p:sp>
      <p:sp>
        <p:nvSpPr>
          <p:cNvPr id="39" name="Rectangle 38"/>
          <p:cNvSpPr/>
          <p:nvPr/>
        </p:nvSpPr>
        <p:spPr>
          <a:xfrm>
            <a:off x="6345936" y="2286000"/>
            <a:ext cx="164592" cy="164592"/>
          </a:xfrm>
          <a:prstGeom prst="rect">
            <a:avLst/>
          </a:prstGeom>
          <a:solidFill>
            <a:srgbClr val="E4DEF3"/>
          </a:solidFill>
          <a:ln>
            <a:noFill/>
          </a:ln>
        </p:spPr>
        <p:txBody>
          <a:bodyPr rtlCol="0" anchor="ctr"/>
          <a:lstStyle/>
          <a:p>
            <a:pPr algn="ctr"/>
          </a:p>
        </p:txBody>
      </p:sp>
      <p:sp>
        <p:nvSpPr>
          <p:cNvPr id="40" name="Rectangle 39"/>
          <p:cNvSpPr/>
          <p:nvPr/>
        </p:nvSpPr>
        <p:spPr>
          <a:xfrm>
            <a:off x="6345936" y="2514600"/>
            <a:ext cx="164592" cy="164592"/>
          </a:xfrm>
          <a:prstGeom prst="rect">
            <a:avLst/>
          </a:prstGeom>
          <a:solidFill>
            <a:srgbClr val="E4DEF3"/>
          </a:solidFill>
          <a:ln>
            <a:noFill/>
          </a:ln>
        </p:spPr>
        <p:txBody>
          <a:bodyPr rtlCol="0" anchor="ctr"/>
          <a:lstStyle/>
          <a:p>
            <a:pPr algn="ctr"/>
          </a:p>
        </p:txBody>
      </p:sp>
      <p:sp>
        <p:nvSpPr>
          <p:cNvPr id="41" name="Rectangle 40"/>
          <p:cNvSpPr/>
          <p:nvPr/>
        </p:nvSpPr>
        <p:spPr>
          <a:xfrm>
            <a:off x="6574536" y="2057400"/>
            <a:ext cx="164592" cy="164592"/>
          </a:xfrm>
          <a:prstGeom prst="rect">
            <a:avLst/>
          </a:prstGeom>
          <a:solidFill>
            <a:srgbClr val="E4DEF3"/>
          </a:solidFill>
          <a:ln>
            <a:noFill/>
          </a:ln>
        </p:spPr>
        <p:txBody>
          <a:bodyPr rtlCol="0" anchor="ctr"/>
          <a:lstStyle/>
          <a:p>
            <a:pPr algn="ctr"/>
          </a:p>
        </p:txBody>
      </p:sp>
      <p:sp>
        <p:nvSpPr>
          <p:cNvPr id="42" name="Rectangle 41"/>
          <p:cNvSpPr/>
          <p:nvPr/>
        </p:nvSpPr>
        <p:spPr>
          <a:xfrm>
            <a:off x="6574536" y="2286000"/>
            <a:ext cx="164592" cy="164592"/>
          </a:xfrm>
          <a:prstGeom prst="rect">
            <a:avLst/>
          </a:prstGeom>
          <a:solidFill>
            <a:srgbClr val="E4DEF3"/>
          </a:solidFill>
          <a:ln>
            <a:noFill/>
          </a:ln>
        </p:spPr>
        <p:txBody>
          <a:bodyPr rtlCol="0" anchor="ctr"/>
          <a:lstStyle/>
          <a:p>
            <a:pPr algn="ctr"/>
          </a:p>
        </p:txBody>
      </p:sp>
      <p:sp>
        <p:nvSpPr>
          <p:cNvPr id="43" name="Rectangle 42"/>
          <p:cNvSpPr/>
          <p:nvPr/>
        </p:nvSpPr>
        <p:spPr>
          <a:xfrm>
            <a:off x="6574536" y="2514600"/>
            <a:ext cx="164592" cy="164592"/>
          </a:xfrm>
          <a:prstGeom prst="rect">
            <a:avLst/>
          </a:prstGeom>
          <a:solidFill>
            <a:srgbClr val="E4DEF3"/>
          </a:solidFill>
          <a:ln>
            <a:noFill/>
          </a:ln>
        </p:spPr>
        <p:txBody>
          <a:bodyPr rtlCol="0" anchor="ctr"/>
          <a:lstStyle/>
          <a:p>
            <a:pPr algn="ctr"/>
          </a:p>
        </p:txBody>
      </p:sp>
      <p:sp>
        <p:nvSpPr>
          <p:cNvPr id="44" name="Rectangle 43"/>
          <p:cNvSpPr/>
          <p:nvPr/>
        </p:nvSpPr>
        <p:spPr>
          <a:xfrm>
            <a:off x="6940296" y="2057400"/>
            <a:ext cx="164592" cy="164592"/>
          </a:xfrm>
          <a:prstGeom prst="rect">
            <a:avLst/>
          </a:prstGeom>
          <a:solidFill>
            <a:srgbClr val="E4DEF3"/>
          </a:solidFill>
          <a:ln>
            <a:noFill/>
          </a:ln>
        </p:spPr>
        <p:txBody>
          <a:bodyPr rtlCol="0" anchor="ctr"/>
          <a:lstStyle/>
          <a:p>
            <a:pPr algn="ctr"/>
          </a:p>
        </p:txBody>
      </p:sp>
      <p:sp>
        <p:nvSpPr>
          <p:cNvPr id="45" name="Rectangle 44"/>
          <p:cNvSpPr/>
          <p:nvPr/>
        </p:nvSpPr>
        <p:spPr>
          <a:xfrm>
            <a:off x="6940296" y="2286000"/>
            <a:ext cx="164592" cy="164592"/>
          </a:xfrm>
          <a:prstGeom prst="rect">
            <a:avLst/>
          </a:prstGeom>
          <a:solidFill>
            <a:srgbClr val="E4DEF3"/>
          </a:solidFill>
          <a:ln>
            <a:noFill/>
          </a:ln>
        </p:spPr>
        <p:txBody>
          <a:bodyPr rtlCol="0" anchor="ctr"/>
          <a:lstStyle/>
          <a:p>
            <a:pPr algn="ctr"/>
          </a:p>
        </p:txBody>
      </p:sp>
      <p:sp>
        <p:nvSpPr>
          <p:cNvPr id="46" name="Rectangle 45"/>
          <p:cNvSpPr/>
          <p:nvPr/>
        </p:nvSpPr>
        <p:spPr>
          <a:xfrm>
            <a:off x="6940296" y="2514600"/>
            <a:ext cx="164592" cy="164592"/>
          </a:xfrm>
          <a:prstGeom prst="rect">
            <a:avLst/>
          </a:prstGeom>
          <a:solidFill>
            <a:srgbClr val="E4DEF3"/>
          </a:solidFill>
          <a:ln>
            <a:noFill/>
          </a:ln>
        </p:spPr>
        <p:txBody>
          <a:bodyPr rtlCol="0" anchor="ctr"/>
          <a:lstStyle/>
          <a:p>
            <a:pPr algn="ctr"/>
          </a:p>
        </p:txBody>
      </p:sp>
      <p:sp>
        <p:nvSpPr>
          <p:cNvPr id="47" name="Rectangle 46"/>
          <p:cNvSpPr/>
          <p:nvPr/>
        </p:nvSpPr>
        <p:spPr>
          <a:xfrm>
            <a:off x="7168896" y="2057400"/>
            <a:ext cx="164592" cy="164592"/>
          </a:xfrm>
          <a:prstGeom prst="rect">
            <a:avLst/>
          </a:prstGeom>
          <a:solidFill>
            <a:srgbClr val="E4DEF3"/>
          </a:solidFill>
          <a:ln>
            <a:noFill/>
          </a:ln>
        </p:spPr>
        <p:txBody>
          <a:bodyPr rtlCol="0" anchor="ctr"/>
          <a:lstStyle/>
          <a:p>
            <a:pPr algn="ctr"/>
          </a:p>
        </p:txBody>
      </p:sp>
      <p:sp>
        <p:nvSpPr>
          <p:cNvPr id="48" name="Rectangle 47"/>
          <p:cNvSpPr/>
          <p:nvPr/>
        </p:nvSpPr>
        <p:spPr>
          <a:xfrm>
            <a:off x="7168896" y="2286000"/>
            <a:ext cx="164592" cy="164592"/>
          </a:xfrm>
          <a:prstGeom prst="rect">
            <a:avLst/>
          </a:prstGeom>
          <a:solidFill>
            <a:srgbClr val="E4DEF3"/>
          </a:solidFill>
          <a:ln>
            <a:noFill/>
          </a:ln>
        </p:spPr>
        <p:txBody>
          <a:bodyPr rtlCol="0" anchor="ctr"/>
          <a:lstStyle/>
          <a:p>
            <a:pPr algn="ctr"/>
          </a:p>
        </p:txBody>
      </p:sp>
      <p:sp>
        <p:nvSpPr>
          <p:cNvPr id="49" name="Rectangle 48"/>
          <p:cNvSpPr/>
          <p:nvPr/>
        </p:nvSpPr>
        <p:spPr>
          <a:xfrm>
            <a:off x="7168896" y="2514600"/>
            <a:ext cx="164592" cy="164592"/>
          </a:xfrm>
          <a:prstGeom prst="rect">
            <a:avLst/>
          </a:prstGeom>
          <a:solidFill>
            <a:srgbClr val="E4DEF3"/>
          </a:solidFill>
          <a:ln>
            <a:noFill/>
          </a:ln>
        </p:spPr>
        <p:txBody>
          <a:bodyPr rtlCol="0" anchor="ctr"/>
          <a:lstStyle/>
          <a:p>
            <a:pPr algn="ctr"/>
          </a:p>
        </p:txBody>
      </p:sp>
      <p:sp>
        <p:nvSpPr>
          <p:cNvPr id="50" name="Rectangle 49"/>
          <p:cNvSpPr/>
          <p:nvPr/>
        </p:nvSpPr>
        <p:spPr>
          <a:xfrm>
            <a:off x="7397496" y="2057400"/>
            <a:ext cx="164592" cy="164592"/>
          </a:xfrm>
          <a:prstGeom prst="rect">
            <a:avLst/>
          </a:prstGeom>
          <a:solidFill>
            <a:srgbClr val="E4DEF3"/>
          </a:solidFill>
          <a:ln>
            <a:noFill/>
          </a:ln>
        </p:spPr>
        <p:txBody>
          <a:bodyPr rtlCol="0" anchor="ctr"/>
          <a:lstStyle/>
          <a:p>
            <a:pPr algn="ctr"/>
          </a:p>
        </p:txBody>
      </p:sp>
      <p:sp>
        <p:nvSpPr>
          <p:cNvPr id="51" name="Rectangle 50"/>
          <p:cNvSpPr/>
          <p:nvPr/>
        </p:nvSpPr>
        <p:spPr>
          <a:xfrm>
            <a:off x="7397496" y="2286000"/>
            <a:ext cx="164592" cy="164592"/>
          </a:xfrm>
          <a:prstGeom prst="rect">
            <a:avLst/>
          </a:prstGeom>
          <a:solidFill>
            <a:srgbClr val="E4DEF3"/>
          </a:solidFill>
          <a:ln>
            <a:noFill/>
          </a:ln>
        </p:spPr>
        <p:txBody>
          <a:bodyPr rtlCol="0" anchor="ctr"/>
          <a:lstStyle/>
          <a:p>
            <a:pPr algn="ctr"/>
          </a:p>
        </p:txBody>
      </p:sp>
      <p:sp>
        <p:nvSpPr>
          <p:cNvPr id="52" name="Rectangle 51"/>
          <p:cNvSpPr/>
          <p:nvPr/>
        </p:nvSpPr>
        <p:spPr>
          <a:xfrm>
            <a:off x="7397496" y="2514600"/>
            <a:ext cx="164592" cy="164592"/>
          </a:xfrm>
          <a:prstGeom prst="rect">
            <a:avLst/>
          </a:prstGeom>
          <a:solidFill>
            <a:srgbClr val="E4DEF3"/>
          </a:solidFill>
          <a:ln>
            <a:noFill/>
          </a:ln>
        </p:spPr>
        <p:txBody>
          <a:bodyPr rtlCol="0" anchor="ctr"/>
          <a:lstStyle/>
          <a:p>
            <a:pPr algn="ctr"/>
          </a:p>
        </p:txBody>
      </p:sp>
      <p:sp>
        <p:nvSpPr>
          <p:cNvPr id="53" name="Rectangle 52"/>
          <p:cNvSpPr/>
          <p:nvPr/>
        </p:nvSpPr>
        <p:spPr>
          <a:xfrm>
            <a:off x="7626096" y="2057400"/>
            <a:ext cx="164592" cy="164592"/>
          </a:xfrm>
          <a:prstGeom prst="rect">
            <a:avLst/>
          </a:prstGeom>
          <a:solidFill>
            <a:srgbClr val="E4DEF3"/>
          </a:solidFill>
          <a:ln>
            <a:noFill/>
          </a:ln>
        </p:spPr>
        <p:txBody>
          <a:bodyPr rtlCol="0" anchor="ctr"/>
          <a:lstStyle/>
          <a:p>
            <a:pPr algn="ctr"/>
          </a:p>
        </p:txBody>
      </p:sp>
      <p:sp>
        <p:nvSpPr>
          <p:cNvPr id="54" name="Rectangle 53"/>
          <p:cNvSpPr/>
          <p:nvPr/>
        </p:nvSpPr>
        <p:spPr>
          <a:xfrm>
            <a:off x="7626096" y="2286000"/>
            <a:ext cx="164592" cy="164592"/>
          </a:xfrm>
          <a:prstGeom prst="rect">
            <a:avLst/>
          </a:prstGeom>
          <a:solidFill>
            <a:srgbClr val="E4DEF3"/>
          </a:solidFill>
          <a:ln>
            <a:noFill/>
          </a:ln>
        </p:spPr>
        <p:txBody>
          <a:bodyPr rtlCol="0" anchor="ctr"/>
          <a:lstStyle/>
          <a:p>
            <a:pPr algn="ctr"/>
          </a:p>
        </p:txBody>
      </p:sp>
      <p:sp>
        <p:nvSpPr>
          <p:cNvPr id="55" name="Rectangle 54"/>
          <p:cNvSpPr/>
          <p:nvPr/>
        </p:nvSpPr>
        <p:spPr>
          <a:xfrm>
            <a:off x="7626096" y="2514600"/>
            <a:ext cx="164592" cy="164592"/>
          </a:xfrm>
          <a:prstGeom prst="rect">
            <a:avLst/>
          </a:prstGeom>
          <a:solidFill>
            <a:srgbClr val="E4DEF3"/>
          </a:solidFill>
          <a:ln>
            <a:noFill/>
          </a:ln>
        </p:spPr>
        <p:txBody>
          <a:bodyPr rtlCol="0" anchor="ctr"/>
          <a:lstStyle/>
          <a:p>
            <a:pPr algn="ctr"/>
          </a:p>
        </p:txBody>
      </p:sp>
      <p:sp>
        <p:nvSpPr>
          <p:cNvPr id="56" name="TextBox 55"/>
          <p:cNvSpPr txBox="1"/>
          <p:nvPr/>
        </p:nvSpPr>
        <p:spPr>
          <a:xfrm>
            <a:off x="5843016" y="2816352"/>
            <a:ext cx="2194560" cy="822960"/>
          </a:xfrm>
          <a:prstGeom prst="rect">
            <a:avLst/>
          </a:prstGeom>
          <a:noFill/>
        </p:spPr>
        <p:txBody>
          <a:bodyPr wrap="square" lIns="0" tIns="0" rIns="0" bIns="0">
            <a:spAutoFit/>
          </a:bodyPr>
          <a:lstStyle/>
          <a:p>
            <a:pPr>
              <a:lnSpc>
                <a:spcPct val="103000"/>
              </a:lnSpc>
            </a:pPr>
            <a:r>
              <a:rPr sz="1250">
                <a:solidFill>
                  <a:srgbClr val="5F6B58"/>
                </a:solidFill>
                <a:latin typeface="Arial"/>
              </a:rPr>
              <a:t>if two members then host: 24 more</a:t>
            </a:r>
          </a:p>
        </p:txBody>
      </p:sp>
      <p:cxnSp>
        <p:nvCxnSpPr>
          <p:cNvPr id="57" name="Connector 56"/>
          <p:cNvCxnSpPr/>
          <p:nvPr/>
        </p:nvCxnSpPr>
        <p:spPr>
          <a:xfrm>
            <a:off x="8046720" y="2011680"/>
            <a:ext cx="0" cy="2834640"/>
          </a:xfrm>
          <a:prstGeom prst="line">
            <a:avLst/>
          </a:prstGeom>
          <a:ln w="9525">
            <a:solidFill>
              <a:srgbClr val="CFD8C6"/>
            </a:solidFill>
          </a:ln>
        </p:spPr>
      </p:cxnSp>
      <p:sp>
        <p:nvSpPr>
          <p:cNvPr id="58" name="TextBox 57"/>
          <p:cNvSpPr txBox="1"/>
          <p:nvPr/>
        </p:nvSpPr>
        <p:spPr>
          <a:xfrm>
            <a:off x="8275320" y="2011680"/>
            <a:ext cx="3276295" cy="320040"/>
          </a:xfrm>
          <a:prstGeom prst="rect">
            <a:avLst/>
          </a:prstGeom>
          <a:noFill/>
        </p:spPr>
        <p:txBody>
          <a:bodyPr wrap="square" lIns="0" tIns="0" rIns="0" bIns="0">
            <a:spAutoFit/>
          </a:bodyPr>
          <a:lstStyle/>
          <a:p>
            <a:pPr>
              <a:lnSpc>
                <a:spcPct val="105000"/>
              </a:lnSpc>
            </a:pPr>
            <a:r>
              <a:rPr sz="1250" b="1">
                <a:solidFill>
                  <a:srgbClr val="573F99"/>
                </a:solidFill>
                <a:latin typeface="Arial"/>
              </a:rPr>
              <a:t>In Raqami’s own words</a:t>
            </a:r>
          </a:p>
        </p:txBody>
      </p:sp>
      <p:sp>
        <p:nvSpPr>
          <p:cNvPr id="59" name="TextBox 58"/>
          <p:cNvSpPr txBox="1"/>
          <p:nvPr/>
        </p:nvSpPr>
        <p:spPr>
          <a:xfrm>
            <a:off x="8275320" y="2395728"/>
            <a:ext cx="3276295" cy="1828800"/>
          </a:xfrm>
          <a:prstGeom prst="rect">
            <a:avLst/>
          </a:prstGeom>
          <a:noFill/>
        </p:spPr>
        <p:txBody>
          <a:bodyPr wrap="square" lIns="0" tIns="0" rIns="0" bIns="0">
            <a:spAutoFit/>
          </a:bodyPr>
          <a:lstStyle/>
          <a:p>
            <a:pPr>
              <a:lnSpc>
                <a:spcPct val="108000"/>
              </a:lnSpc>
            </a:pPr>
            <a:r>
              <a:rPr sz="1800">
                <a:solidFill>
                  <a:srgbClr val="0C1408"/>
                </a:solidFill>
                <a:latin typeface="Georgia"/>
              </a:rPr>
              <a:t>“The Bank is establishing strategic partnerships with key digital platforms to broaden customer outreach.”</a:t>
            </a:r>
          </a:p>
        </p:txBody>
      </p:sp>
      <p:sp>
        <p:nvSpPr>
          <p:cNvPr id="60" name="TextBox 59"/>
          <p:cNvSpPr txBox="1"/>
          <p:nvPr/>
        </p:nvSpPr>
        <p:spPr>
          <a:xfrm>
            <a:off x="8275320" y="4297680"/>
            <a:ext cx="3276295" cy="457200"/>
          </a:xfrm>
          <a:prstGeom prst="rect">
            <a:avLst/>
          </a:prstGeom>
          <a:noFill/>
        </p:spPr>
        <p:txBody>
          <a:bodyPr wrap="square" lIns="0" tIns="0" rIns="0" bIns="0">
            <a:spAutoFit/>
          </a:bodyPr>
          <a:lstStyle/>
          <a:p>
            <a:pPr>
              <a:lnSpc>
                <a:spcPct val="103000"/>
              </a:lnSpc>
            </a:pPr>
            <a:r>
              <a:rPr sz="1100">
                <a:solidFill>
                  <a:srgbClr val="5F6B58"/>
                </a:solidFill>
                <a:latin typeface="Arial"/>
              </a:rPr>
              <a:t>Raqami Islamic Digital Bank, half year report, 2026 [1]</a:t>
            </a:r>
          </a:p>
        </p:txBody>
      </p:sp>
      <p:sp>
        <p:nvSpPr>
          <p:cNvPr id="61" name="TextBox 60"/>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   </a:t>
            </a:r>
            <a:r>
              <a:rPr sz="900">
                <a:solidFill>
                  <a:srgbClr val="5F6B58"/>
                </a:solidFill>
                <a:latin typeface="Arial"/>
              </a:rPr>
              <a:t>Raqami Islamic Digital Bank, condensed interim financial statements, half year to 30 June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At Raqami’s own average deposit, 100,000 members would nearly double its deposits.</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8</a:t>
            </a:r>
          </a:p>
        </p:txBody>
      </p:sp>
      <p:sp>
        <p:nvSpPr>
          <p:cNvPr id="5" name="TextBox 4"/>
          <p:cNvSpPr txBox="1"/>
          <p:nvPr/>
        </p:nvSpPr>
        <p:spPr>
          <a:xfrm>
            <a:off x="640080" y="1600200"/>
            <a:ext cx="6858000" cy="274320"/>
          </a:xfrm>
          <a:prstGeom prst="rect">
            <a:avLst/>
          </a:prstGeom>
          <a:noFill/>
        </p:spPr>
        <p:txBody>
          <a:bodyPr wrap="square" lIns="0" tIns="0" rIns="0" bIns="0">
            <a:spAutoFit/>
          </a:bodyPr>
          <a:lstStyle/>
          <a:p>
            <a:pPr>
              <a:lnSpc>
                <a:spcPct val="105000"/>
              </a:lnSpc>
            </a:pPr>
            <a:r>
              <a:rPr sz="1300" b="1">
                <a:solidFill>
                  <a:srgbClr val="0C1408"/>
                </a:solidFill>
                <a:latin typeface="Arial"/>
              </a:rPr>
              <a:t>Deposits, Rs billion</a:t>
            </a:r>
          </a:p>
        </p:txBody>
      </p:sp>
      <p:sp>
        <p:nvSpPr>
          <p:cNvPr id="6" name="TextBox 5"/>
          <p:cNvSpPr txBox="1"/>
          <p:nvPr/>
        </p:nvSpPr>
        <p:spPr>
          <a:xfrm>
            <a:off x="640080" y="2011680"/>
            <a:ext cx="2560320" cy="566928"/>
          </a:xfrm>
          <a:prstGeom prst="rect">
            <a:avLst/>
          </a:prstGeom>
          <a:noFill/>
        </p:spPr>
        <p:txBody>
          <a:bodyPr wrap="square" lIns="0" tIns="0" rIns="0" bIns="0" anchor="ctr">
            <a:spAutoFit/>
          </a:bodyPr>
          <a:lstStyle/>
          <a:p>
            <a:pPr algn="r">
              <a:lnSpc>
                <a:spcPct val="102000"/>
              </a:lnSpc>
            </a:pPr>
            <a:r>
              <a:rPr sz="1400">
                <a:solidFill>
                  <a:srgbClr val="0C1408"/>
                </a:solidFill>
                <a:latin typeface="Arial"/>
              </a:rPr>
              <a:t>Raqami today</a:t>
            </a:r>
          </a:p>
        </p:txBody>
      </p:sp>
      <p:sp>
        <p:nvSpPr>
          <p:cNvPr id="7" name="Rectangle 6"/>
          <p:cNvSpPr/>
          <p:nvPr/>
        </p:nvSpPr>
        <p:spPr>
          <a:xfrm>
            <a:off x="3291840" y="2066544"/>
            <a:ext cx="419444" cy="457200"/>
          </a:xfrm>
          <a:prstGeom prst="rect">
            <a:avLst/>
          </a:prstGeom>
          <a:solidFill>
            <a:srgbClr val="573F99"/>
          </a:solidFill>
          <a:ln>
            <a:noFill/>
          </a:ln>
        </p:spPr>
        <p:txBody>
          <a:bodyPr rtlCol="0" anchor="ctr"/>
          <a:lstStyle/>
          <a:p>
            <a:pPr algn="ctr"/>
          </a:p>
        </p:txBody>
      </p:sp>
      <p:sp>
        <p:nvSpPr>
          <p:cNvPr id="8" name="TextBox 7"/>
          <p:cNvSpPr txBox="1"/>
          <p:nvPr/>
        </p:nvSpPr>
        <p:spPr>
          <a:xfrm>
            <a:off x="3821012" y="2011680"/>
            <a:ext cx="1280160" cy="566928"/>
          </a:xfrm>
          <a:prstGeom prst="rect">
            <a:avLst/>
          </a:prstGeom>
          <a:noFill/>
        </p:spPr>
        <p:txBody>
          <a:bodyPr wrap="square" lIns="0" tIns="0" rIns="0" bIns="0" anchor="ctr">
            <a:spAutoFit/>
          </a:bodyPr>
          <a:lstStyle/>
          <a:p>
            <a:pPr>
              <a:lnSpc>
                <a:spcPct val="105000"/>
              </a:lnSpc>
            </a:pPr>
            <a:r>
              <a:rPr sz="1700" b="1">
                <a:solidFill>
                  <a:srgbClr val="0C1408"/>
                </a:solidFill>
                <a:latin typeface="Arial"/>
              </a:rPr>
              <a:t>1.58</a:t>
            </a:r>
          </a:p>
        </p:txBody>
      </p:sp>
      <p:sp>
        <p:nvSpPr>
          <p:cNvPr id="9" name="TextBox 8"/>
          <p:cNvSpPr txBox="1"/>
          <p:nvPr/>
        </p:nvSpPr>
        <p:spPr>
          <a:xfrm>
            <a:off x="640080" y="2880360"/>
            <a:ext cx="2560320" cy="566928"/>
          </a:xfrm>
          <a:prstGeom prst="rect">
            <a:avLst/>
          </a:prstGeom>
          <a:noFill/>
        </p:spPr>
        <p:txBody>
          <a:bodyPr wrap="square" lIns="0" tIns="0" rIns="0" bIns="0" anchor="ctr">
            <a:spAutoFit/>
          </a:bodyPr>
          <a:lstStyle/>
          <a:p>
            <a:pPr algn="r">
              <a:lnSpc>
                <a:spcPct val="102000"/>
              </a:lnSpc>
            </a:pPr>
            <a:r>
              <a:rPr sz="1400">
                <a:solidFill>
                  <a:srgbClr val="0C1408"/>
                </a:solidFill>
                <a:latin typeface="Arial"/>
              </a:rPr>
              <a:t>added by 100,000 members</a:t>
            </a:r>
          </a:p>
        </p:txBody>
      </p:sp>
      <p:sp>
        <p:nvSpPr>
          <p:cNvPr id="10" name="Rectangle 9"/>
          <p:cNvSpPr/>
          <p:nvPr/>
        </p:nvSpPr>
        <p:spPr>
          <a:xfrm>
            <a:off x="3291840" y="2935224"/>
            <a:ext cx="366350" cy="457200"/>
          </a:xfrm>
          <a:prstGeom prst="rect">
            <a:avLst/>
          </a:prstGeom>
          <a:solidFill>
            <a:srgbClr val="6DC72A"/>
          </a:solidFill>
          <a:ln>
            <a:noFill/>
          </a:ln>
        </p:spPr>
        <p:txBody>
          <a:bodyPr rtlCol="0" anchor="ctr"/>
          <a:lstStyle/>
          <a:p>
            <a:pPr algn="ctr"/>
          </a:p>
        </p:txBody>
      </p:sp>
      <p:sp>
        <p:nvSpPr>
          <p:cNvPr id="11" name="TextBox 10"/>
          <p:cNvSpPr txBox="1"/>
          <p:nvPr/>
        </p:nvSpPr>
        <p:spPr>
          <a:xfrm>
            <a:off x="3767918" y="2880360"/>
            <a:ext cx="1280160" cy="566928"/>
          </a:xfrm>
          <a:prstGeom prst="rect">
            <a:avLst/>
          </a:prstGeom>
          <a:noFill/>
        </p:spPr>
        <p:txBody>
          <a:bodyPr wrap="square" lIns="0" tIns="0" rIns="0" bIns="0" anchor="ctr">
            <a:spAutoFit/>
          </a:bodyPr>
          <a:lstStyle/>
          <a:p>
            <a:pPr>
              <a:lnSpc>
                <a:spcPct val="105000"/>
              </a:lnSpc>
            </a:pPr>
            <a:r>
              <a:rPr sz="1700" b="1">
                <a:solidFill>
                  <a:srgbClr val="0C1408"/>
                </a:solidFill>
                <a:latin typeface="Arial"/>
              </a:rPr>
              <a:t>1.38</a:t>
            </a:r>
          </a:p>
        </p:txBody>
      </p:sp>
      <p:sp>
        <p:nvSpPr>
          <p:cNvPr id="12" name="TextBox 11"/>
          <p:cNvSpPr txBox="1"/>
          <p:nvPr/>
        </p:nvSpPr>
        <p:spPr>
          <a:xfrm>
            <a:off x="640080" y="3749040"/>
            <a:ext cx="2560320" cy="566928"/>
          </a:xfrm>
          <a:prstGeom prst="rect">
            <a:avLst/>
          </a:prstGeom>
          <a:noFill/>
        </p:spPr>
        <p:txBody>
          <a:bodyPr wrap="square" lIns="0" tIns="0" rIns="0" bIns="0" anchor="ctr">
            <a:spAutoFit/>
          </a:bodyPr>
          <a:lstStyle/>
          <a:p>
            <a:pPr algn="r">
              <a:lnSpc>
                <a:spcPct val="102000"/>
              </a:lnSpc>
            </a:pPr>
            <a:r>
              <a:rPr sz="1400">
                <a:solidFill>
                  <a:srgbClr val="0C1408"/>
                </a:solidFill>
                <a:latin typeface="Arial"/>
              </a:rPr>
              <a:t>added by 1,000,000 members</a:t>
            </a:r>
          </a:p>
        </p:txBody>
      </p:sp>
      <p:sp>
        <p:nvSpPr>
          <p:cNvPr id="13" name="Rectangle 12"/>
          <p:cNvSpPr/>
          <p:nvPr/>
        </p:nvSpPr>
        <p:spPr>
          <a:xfrm>
            <a:off x="3291840" y="3803904"/>
            <a:ext cx="3663499" cy="457200"/>
          </a:xfrm>
          <a:prstGeom prst="rect">
            <a:avLst/>
          </a:prstGeom>
          <a:solidFill>
            <a:srgbClr val="41801A"/>
          </a:solidFill>
          <a:ln>
            <a:noFill/>
          </a:ln>
        </p:spPr>
        <p:txBody>
          <a:bodyPr rtlCol="0" anchor="ctr"/>
          <a:lstStyle/>
          <a:p>
            <a:pPr algn="ctr"/>
          </a:p>
        </p:txBody>
      </p:sp>
      <p:sp>
        <p:nvSpPr>
          <p:cNvPr id="14" name="TextBox 13"/>
          <p:cNvSpPr txBox="1"/>
          <p:nvPr/>
        </p:nvSpPr>
        <p:spPr>
          <a:xfrm>
            <a:off x="7065067" y="3749040"/>
            <a:ext cx="1280160" cy="566928"/>
          </a:xfrm>
          <a:prstGeom prst="rect">
            <a:avLst/>
          </a:prstGeom>
          <a:noFill/>
        </p:spPr>
        <p:txBody>
          <a:bodyPr wrap="square" lIns="0" tIns="0" rIns="0" bIns="0" anchor="ctr">
            <a:spAutoFit/>
          </a:bodyPr>
          <a:lstStyle/>
          <a:p>
            <a:pPr>
              <a:lnSpc>
                <a:spcPct val="105000"/>
              </a:lnSpc>
            </a:pPr>
            <a:r>
              <a:rPr sz="1700" b="1">
                <a:solidFill>
                  <a:srgbClr val="0C1408"/>
                </a:solidFill>
                <a:latin typeface="Arial"/>
              </a:rPr>
              <a:t>13.8</a:t>
            </a:r>
          </a:p>
        </p:txBody>
      </p:sp>
      <p:cxnSp>
        <p:nvCxnSpPr>
          <p:cNvPr id="15" name="Connector 14"/>
          <p:cNvCxnSpPr/>
          <p:nvPr/>
        </p:nvCxnSpPr>
        <p:spPr>
          <a:xfrm>
            <a:off x="3291840" y="1920240"/>
            <a:ext cx="0" cy="2697480"/>
          </a:xfrm>
          <a:prstGeom prst="line">
            <a:avLst/>
          </a:prstGeom>
          <a:ln w="9525">
            <a:solidFill>
              <a:srgbClr val="5F6B58"/>
            </a:solidFill>
          </a:ln>
        </p:spPr>
      </p:cxnSp>
      <p:sp>
        <p:nvSpPr>
          <p:cNvPr id="16" name="TextBox 15"/>
          <p:cNvSpPr txBox="1"/>
          <p:nvPr/>
        </p:nvSpPr>
        <p:spPr>
          <a:xfrm>
            <a:off x="640080" y="4800600"/>
            <a:ext cx="7040880" cy="548640"/>
          </a:xfrm>
          <a:prstGeom prst="rect">
            <a:avLst/>
          </a:prstGeom>
          <a:noFill/>
        </p:spPr>
        <p:txBody>
          <a:bodyPr wrap="square" lIns="0" tIns="0" rIns="0" bIns="0">
            <a:spAutoFit/>
          </a:bodyPr>
          <a:lstStyle/>
          <a:p>
            <a:pPr>
              <a:lnSpc>
                <a:spcPct val="104000"/>
              </a:lnSpc>
            </a:pPr>
            <a:r>
              <a:rPr sz="1250">
                <a:solidFill>
                  <a:srgbClr val="5F6B58"/>
                </a:solidFill>
                <a:latin typeface="Arial"/>
              </a:rPr>
              <a:t>Rs 1,581 m of deposits ÷ 114,452 accounts = about Rs 13,800 each, 30 June 2026 [1]</a:t>
            </a:r>
          </a:p>
        </p:txBody>
      </p:sp>
      <p:sp>
        <p:nvSpPr>
          <p:cNvPr id="17" name="TextBox 16"/>
          <p:cNvSpPr txBox="1"/>
          <p:nvPr/>
        </p:nvSpPr>
        <p:spPr>
          <a:xfrm>
            <a:off x="8001000" y="1783080"/>
            <a:ext cx="3550615" cy="594360"/>
          </a:xfrm>
          <a:prstGeom prst="rect">
            <a:avLst/>
          </a:prstGeom>
          <a:noFill/>
        </p:spPr>
        <p:txBody>
          <a:bodyPr wrap="square" lIns="0" tIns="0" rIns="0" bIns="0">
            <a:spAutoFit/>
          </a:bodyPr>
          <a:lstStyle/>
          <a:p>
            <a:pPr>
              <a:lnSpc>
                <a:spcPct val="105000"/>
              </a:lnSpc>
            </a:pPr>
            <a:r>
              <a:rPr sz="3400">
                <a:solidFill>
                  <a:srgbClr val="41801A"/>
                </a:solidFill>
                <a:latin typeface="Georgia"/>
              </a:rPr>
              <a:t>+87%</a:t>
            </a:r>
          </a:p>
        </p:txBody>
      </p:sp>
      <p:sp>
        <p:nvSpPr>
          <p:cNvPr id="18" name="TextBox 17"/>
          <p:cNvSpPr txBox="1"/>
          <p:nvPr/>
        </p:nvSpPr>
        <p:spPr>
          <a:xfrm>
            <a:off x="8001000" y="2441448"/>
            <a:ext cx="3550615" cy="914400"/>
          </a:xfrm>
          <a:prstGeom prst="rect">
            <a:avLst/>
          </a:prstGeom>
          <a:noFill/>
        </p:spPr>
        <p:txBody>
          <a:bodyPr wrap="square" lIns="0" tIns="0" rIns="0" bIns="0">
            <a:spAutoFit/>
          </a:bodyPr>
          <a:lstStyle/>
          <a:p>
            <a:pPr>
              <a:lnSpc>
                <a:spcPct val="104000"/>
              </a:lnSpc>
            </a:pPr>
            <a:r>
              <a:rPr sz="1500">
                <a:solidFill>
                  <a:srgbClr val="0C1408"/>
                </a:solidFill>
                <a:latin typeface="Arial"/>
              </a:rPr>
              <a:t>more accounts from 100,000 members, on 114,452 today</a:t>
            </a:r>
          </a:p>
        </p:txBody>
      </p:sp>
      <p:cxnSp>
        <p:nvCxnSpPr>
          <p:cNvPr id="19" name="Connector 18"/>
          <p:cNvCxnSpPr/>
          <p:nvPr/>
        </p:nvCxnSpPr>
        <p:spPr>
          <a:xfrm>
            <a:off x="8001000" y="3383280"/>
            <a:ext cx="3550615" cy="0"/>
          </a:xfrm>
          <a:prstGeom prst="line">
            <a:avLst/>
          </a:prstGeom>
          <a:ln w="9525">
            <a:solidFill>
              <a:srgbClr val="CFD8C6"/>
            </a:solidFill>
          </a:ln>
        </p:spPr>
      </p:cxnSp>
      <p:sp>
        <p:nvSpPr>
          <p:cNvPr id="20" name="TextBox 19"/>
          <p:cNvSpPr txBox="1"/>
          <p:nvPr/>
        </p:nvSpPr>
        <p:spPr>
          <a:xfrm>
            <a:off x="8001000" y="3566160"/>
            <a:ext cx="3550615" cy="594360"/>
          </a:xfrm>
          <a:prstGeom prst="rect">
            <a:avLst/>
          </a:prstGeom>
          <a:noFill/>
        </p:spPr>
        <p:txBody>
          <a:bodyPr wrap="square" lIns="0" tIns="0" rIns="0" bIns="0">
            <a:spAutoFit/>
          </a:bodyPr>
          <a:lstStyle/>
          <a:p>
            <a:pPr>
              <a:lnSpc>
                <a:spcPct val="105000"/>
              </a:lnSpc>
            </a:pPr>
            <a:r>
              <a:rPr sz="3400">
                <a:solidFill>
                  <a:srgbClr val="41801A"/>
                </a:solidFill>
                <a:latin typeface="Georgia"/>
              </a:rPr>
              <a:t>1 million</a:t>
            </a:r>
          </a:p>
        </p:txBody>
      </p:sp>
      <p:sp>
        <p:nvSpPr>
          <p:cNvPr id="21" name="TextBox 20"/>
          <p:cNvSpPr txBox="1"/>
          <p:nvPr/>
        </p:nvSpPr>
        <p:spPr>
          <a:xfrm>
            <a:off x="8001000" y="4224528"/>
            <a:ext cx="3550615" cy="914400"/>
          </a:xfrm>
          <a:prstGeom prst="rect">
            <a:avLst/>
          </a:prstGeom>
          <a:noFill/>
        </p:spPr>
        <p:txBody>
          <a:bodyPr wrap="square" lIns="0" tIns="0" rIns="0" bIns="0">
            <a:spAutoFit/>
          </a:bodyPr>
          <a:lstStyle/>
          <a:p>
            <a:pPr>
              <a:lnSpc>
                <a:spcPct val="104000"/>
              </a:lnSpc>
            </a:pPr>
            <a:r>
              <a:rPr sz="1500">
                <a:solidFill>
                  <a:srgbClr val="0C1408"/>
                </a:solidFill>
                <a:latin typeface="Arial"/>
              </a:rPr>
              <a:t>customers: Raqami’s own target for its first three years [2]</a:t>
            </a:r>
          </a:p>
        </p:txBody>
      </p:sp>
      <p:sp>
        <p:nvSpPr>
          <p:cNvPr id="22" name="TextBox 21"/>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Raqami Islamic Digital Bank, half year report to 30 June 2026   2  Bloomberg, 22 January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Every instalment becomes a repayment record Raqami can finance against.</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9</a:t>
            </a:r>
          </a:p>
        </p:txBody>
      </p:sp>
      <p:sp>
        <p:nvSpPr>
          <p:cNvPr id="5" name="TextBox 4"/>
          <p:cNvSpPr txBox="1"/>
          <p:nvPr/>
        </p:nvSpPr>
        <p:spPr>
          <a:xfrm>
            <a:off x="640080" y="1783080"/>
            <a:ext cx="4937760" cy="256032"/>
          </a:xfrm>
          <a:prstGeom prst="rect">
            <a:avLst/>
          </a:prstGeom>
          <a:noFill/>
        </p:spPr>
        <p:txBody>
          <a:bodyPr wrap="square" lIns="0" tIns="0" rIns="0" bIns="0">
            <a:spAutoFit/>
          </a:bodyPr>
          <a:lstStyle/>
          <a:p>
            <a:pPr>
              <a:lnSpc>
                <a:spcPct val="105000"/>
              </a:lnSpc>
            </a:pPr>
            <a:r>
              <a:rPr sz="1250" b="1">
                <a:solidFill>
                  <a:srgbClr val="0C1408"/>
                </a:solidFill>
                <a:latin typeface="Arial"/>
              </a:rPr>
              <a:t>One member, one circle, twelve instalments</a:t>
            </a:r>
          </a:p>
        </p:txBody>
      </p:sp>
      <p:sp>
        <p:nvSpPr>
          <p:cNvPr id="6" name="Rectangle 5"/>
          <p:cNvSpPr/>
          <p:nvPr/>
        </p:nvSpPr>
        <p:spPr>
          <a:xfrm>
            <a:off x="640080"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7" name="Connector 6"/>
          <p:cNvCxnSpPr/>
          <p:nvPr/>
        </p:nvCxnSpPr>
        <p:spPr>
          <a:xfrm>
            <a:off x="731520" y="2369210"/>
            <a:ext cx="76444" cy="70409"/>
          </a:xfrm>
          <a:prstGeom prst="line">
            <a:avLst/>
          </a:prstGeom>
          <a:ln w="22860">
            <a:solidFill>
              <a:srgbClr val="41801A"/>
            </a:solidFill>
          </a:ln>
        </p:spPr>
      </p:cxnSp>
      <p:cxnSp>
        <p:nvCxnSpPr>
          <p:cNvPr id="8" name="Connector 7"/>
          <p:cNvCxnSpPr/>
          <p:nvPr/>
        </p:nvCxnSpPr>
        <p:spPr>
          <a:xfrm flipV="1">
            <a:off x="807964" y="2278685"/>
            <a:ext cx="124724" cy="160934"/>
          </a:xfrm>
          <a:prstGeom prst="line">
            <a:avLst/>
          </a:prstGeom>
          <a:ln w="22860">
            <a:solidFill>
              <a:srgbClr val="41801A"/>
            </a:solidFill>
          </a:ln>
        </p:spPr>
      </p:cxnSp>
      <p:sp>
        <p:nvSpPr>
          <p:cNvPr id="9" name="TextBox 8"/>
          <p:cNvSpPr txBox="1"/>
          <p:nvPr/>
        </p:nvSpPr>
        <p:spPr>
          <a:xfrm>
            <a:off x="594360"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1</a:t>
            </a:r>
          </a:p>
        </p:txBody>
      </p:sp>
      <p:sp>
        <p:nvSpPr>
          <p:cNvPr id="10" name="Rectangle 9"/>
          <p:cNvSpPr/>
          <p:nvPr/>
        </p:nvSpPr>
        <p:spPr>
          <a:xfrm>
            <a:off x="1042416"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11" name="Connector 10"/>
          <p:cNvCxnSpPr/>
          <p:nvPr/>
        </p:nvCxnSpPr>
        <p:spPr>
          <a:xfrm>
            <a:off x="1133856" y="2369210"/>
            <a:ext cx="76444" cy="70409"/>
          </a:xfrm>
          <a:prstGeom prst="line">
            <a:avLst/>
          </a:prstGeom>
          <a:ln w="22860">
            <a:solidFill>
              <a:srgbClr val="41801A"/>
            </a:solidFill>
          </a:ln>
        </p:spPr>
      </p:cxnSp>
      <p:cxnSp>
        <p:nvCxnSpPr>
          <p:cNvPr id="12" name="Connector 11"/>
          <p:cNvCxnSpPr/>
          <p:nvPr/>
        </p:nvCxnSpPr>
        <p:spPr>
          <a:xfrm flipV="1">
            <a:off x="1210300" y="2278685"/>
            <a:ext cx="124724" cy="160934"/>
          </a:xfrm>
          <a:prstGeom prst="line">
            <a:avLst/>
          </a:prstGeom>
          <a:ln w="22860">
            <a:solidFill>
              <a:srgbClr val="41801A"/>
            </a:solidFill>
          </a:ln>
        </p:spPr>
      </p:cxnSp>
      <p:sp>
        <p:nvSpPr>
          <p:cNvPr id="13" name="TextBox 12"/>
          <p:cNvSpPr txBox="1"/>
          <p:nvPr/>
        </p:nvSpPr>
        <p:spPr>
          <a:xfrm>
            <a:off x="996696"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2</a:t>
            </a:r>
          </a:p>
        </p:txBody>
      </p:sp>
      <p:sp>
        <p:nvSpPr>
          <p:cNvPr id="14" name="Rectangle 13"/>
          <p:cNvSpPr/>
          <p:nvPr/>
        </p:nvSpPr>
        <p:spPr>
          <a:xfrm>
            <a:off x="1444752"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15" name="Connector 14"/>
          <p:cNvCxnSpPr/>
          <p:nvPr/>
        </p:nvCxnSpPr>
        <p:spPr>
          <a:xfrm>
            <a:off x="1536192" y="2369210"/>
            <a:ext cx="76444" cy="70409"/>
          </a:xfrm>
          <a:prstGeom prst="line">
            <a:avLst/>
          </a:prstGeom>
          <a:ln w="22860">
            <a:solidFill>
              <a:srgbClr val="41801A"/>
            </a:solidFill>
          </a:ln>
        </p:spPr>
      </p:cxnSp>
      <p:cxnSp>
        <p:nvCxnSpPr>
          <p:cNvPr id="16" name="Connector 15"/>
          <p:cNvCxnSpPr/>
          <p:nvPr/>
        </p:nvCxnSpPr>
        <p:spPr>
          <a:xfrm flipV="1">
            <a:off x="1612636" y="2278685"/>
            <a:ext cx="124724" cy="160934"/>
          </a:xfrm>
          <a:prstGeom prst="line">
            <a:avLst/>
          </a:prstGeom>
          <a:ln w="22860">
            <a:solidFill>
              <a:srgbClr val="41801A"/>
            </a:solidFill>
          </a:ln>
        </p:spPr>
      </p:cxnSp>
      <p:sp>
        <p:nvSpPr>
          <p:cNvPr id="17" name="TextBox 16"/>
          <p:cNvSpPr txBox="1"/>
          <p:nvPr/>
        </p:nvSpPr>
        <p:spPr>
          <a:xfrm>
            <a:off x="1399032"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3</a:t>
            </a:r>
          </a:p>
        </p:txBody>
      </p:sp>
      <p:sp>
        <p:nvSpPr>
          <p:cNvPr id="18" name="Rectangle 17"/>
          <p:cNvSpPr/>
          <p:nvPr/>
        </p:nvSpPr>
        <p:spPr>
          <a:xfrm>
            <a:off x="1847088"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19" name="Connector 18"/>
          <p:cNvCxnSpPr/>
          <p:nvPr/>
        </p:nvCxnSpPr>
        <p:spPr>
          <a:xfrm>
            <a:off x="1938528" y="2369210"/>
            <a:ext cx="76444" cy="70409"/>
          </a:xfrm>
          <a:prstGeom prst="line">
            <a:avLst/>
          </a:prstGeom>
          <a:ln w="22860">
            <a:solidFill>
              <a:srgbClr val="41801A"/>
            </a:solidFill>
          </a:ln>
        </p:spPr>
      </p:cxnSp>
      <p:cxnSp>
        <p:nvCxnSpPr>
          <p:cNvPr id="20" name="Connector 19"/>
          <p:cNvCxnSpPr/>
          <p:nvPr/>
        </p:nvCxnSpPr>
        <p:spPr>
          <a:xfrm flipV="1">
            <a:off x="2014972" y="2278685"/>
            <a:ext cx="124724" cy="160934"/>
          </a:xfrm>
          <a:prstGeom prst="line">
            <a:avLst/>
          </a:prstGeom>
          <a:ln w="22860">
            <a:solidFill>
              <a:srgbClr val="41801A"/>
            </a:solidFill>
          </a:ln>
        </p:spPr>
      </p:cxnSp>
      <p:sp>
        <p:nvSpPr>
          <p:cNvPr id="21" name="TextBox 20"/>
          <p:cNvSpPr txBox="1"/>
          <p:nvPr/>
        </p:nvSpPr>
        <p:spPr>
          <a:xfrm>
            <a:off x="1801368"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4</a:t>
            </a:r>
          </a:p>
        </p:txBody>
      </p:sp>
      <p:sp>
        <p:nvSpPr>
          <p:cNvPr id="22" name="Rectangle 21"/>
          <p:cNvSpPr/>
          <p:nvPr/>
        </p:nvSpPr>
        <p:spPr>
          <a:xfrm>
            <a:off x="2249424"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23" name="Connector 22"/>
          <p:cNvCxnSpPr/>
          <p:nvPr/>
        </p:nvCxnSpPr>
        <p:spPr>
          <a:xfrm>
            <a:off x="2340864" y="2369210"/>
            <a:ext cx="76444" cy="70409"/>
          </a:xfrm>
          <a:prstGeom prst="line">
            <a:avLst/>
          </a:prstGeom>
          <a:ln w="22860">
            <a:solidFill>
              <a:srgbClr val="41801A"/>
            </a:solidFill>
          </a:ln>
        </p:spPr>
      </p:cxnSp>
      <p:cxnSp>
        <p:nvCxnSpPr>
          <p:cNvPr id="24" name="Connector 23"/>
          <p:cNvCxnSpPr/>
          <p:nvPr/>
        </p:nvCxnSpPr>
        <p:spPr>
          <a:xfrm flipV="1">
            <a:off x="2417308" y="2278685"/>
            <a:ext cx="124724" cy="160934"/>
          </a:xfrm>
          <a:prstGeom prst="line">
            <a:avLst/>
          </a:prstGeom>
          <a:ln w="22860">
            <a:solidFill>
              <a:srgbClr val="41801A"/>
            </a:solidFill>
          </a:ln>
        </p:spPr>
      </p:cxnSp>
      <p:sp>
        <p:nvSpPr>
          <p:cNvPr id="25" name="TextBox 24"/>
          <p:cNvSpPr txBox="1"/>
          <p:nvPr/>
        </p:nvSpPr>
        <p:spPr>
          <a:xfrm>
            <a:off x="2203704"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5</a:t>
            </a:r>
          </a:p>
        </p:txBody>
      </p:sp>
      <p:sp>
        <p:nvSpPr>
          <p:cNvPr id="26" name="Rectangle 25"/>
          <p:cNvSpPr/>
          <p:nvPr/>
        </p:nvSpPr>
        <p:spPr>
          <a:xfrm>
            <a:off x="2651760"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27" name="Connector 26"/>
          <p:cNvCxnSpPr/>
          <p:nvPr/>
        </p:nvCxnSpPr>
        <p:spPr>
          <a:xfrm>
            <a:off x="2743200" y="2369210"/>
            <a:ext cx="76444" cy="70409"/>
          </a:xfrm>
          <a:prstGeom prst="line">
            <a:avLst/>
          </a:prstGeom>
          <a:ln w="22860">
            <a:solidFill>
              <a:srgbClr val="41801A"/>
            </a:solidFill>
          </a:ln>
        </p:spPr>
      </p:cxnSp>
      <p:cxnSp>
        <p:nvCxnSpPr>
          <p:cNvPr id="28" name="Connector 27"/>
          <p:cNvCxnSpPr/>
          <p:nvPr/>
        </p:nvCxnSpPr>
        <p:spPr>
          <a:xfrm flipV="1">
            <a:off x="2819644" y="2278685"/>
            <a:ext cx="124724" cy="160934"/>
          </a:xfrm>
          <a:prstGeom prst="line">
            <a:avLst/>
          </a:prstGeom>
          <a:ln w="22860">
            <a:solidFill>
              <a:srgbClr val="41801A"/>
            </a:solidFill>
          </a:ln>
        </p:spPr>
      </p:cxnSp>
      <p:sp>
        <p:nvSpPr>
          <p:cNvPr id="29" name="TextBox 28"/>
          <p:cNvSpPr txBox="1"/>
          <p:nvPr/>
        </p:nvSpPr>
        <p:spPr>
          <a:xfrm>
            <a:off x="2606040"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6</a:t>
            </a:r>
          </a:p>
        </p:txBody>
      </p:sp>
      <p:sp>
        <p:nvSpPr>
          <p:cNvPr id="30" name="Rectangle 29"/>
          <p:cNvSpPr/>
          <p:nvPr/>
        </p:nvSpPr>
        <p:spPr>
          <a:xfrm>
            <a:off x="3054096"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31" name="Connector 30"/>
          <p:cNvCxnSpPr/>
          <p:nvPr/>
        </p:nvCxnSpPr>
        <p:spPr>
          <a:xfrm>
            <a:off x="3145536" y="2369210"/>
            <a:ext cx="76444" cy="70409"/>
          </a:xfrm>
          <a:prstGeom prst="line">
            <a:avLst/>
          </a:prstGeom>
          <a:ln w="22860">
            <a:solidFill>
              <a:srgbClr val="41801A"/>
            </a:solidFill>
          </a:ln>
        </p:spPr>
      </p:cxnSp>
      <p:cxnSp>
        <p:nvCxnSpPr>
          <p:cNvPr id="32" name="Connector 31"/>
          <p:cNvCxnSpPr/>
          <p:nvPr/>
        </p:nvCxnSpPr>
        <p:spPr>
          <a:xfrm flipV="1">
            <a:off x="3221980" y="2278685"/>
            <a:ext cx="124724" cy="160934"/>
          </a:xfrm>
          <a:prstGeom prst="line">
            <a:avLst/>
          </a:prstGeom>
          <a:ln w="22860">
            <a:solidFill>
              <a:srgbClr val="41801A"/>
            </a:solidFill>
          </a:ln>
        </p:spPr>
      </p:cxnSp>
      <p:sp>
        <p:nvSpPr>
          <p:cNvPr id="33" name="TextBox 32"/>
          <p:cNvSpPr txBox="1"/>
          <p:nvPr/>
        </p:nvSpPr>
        <p:spPr>
          <a:xfrm>
            <a:off x="3008376"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7</a:t>
            </a:r>
          </a:p>
        </p:txBody>
      </p:sp>
      <p:sp>
        <p:nvSpPr>
          <p:cNvPr id="34" name="Rectangle 33"/>
          <p:cNvSpPr/>
          <p:nvPr/>
        </p:nvSpPr>
        <p:spPr>
          <a:xfrm>
            <a:off x="3456432"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35" name="Connector 34"/>
          <p:cNvCxnSpPr/>
          <p:nvPr/>
        </p:nvCxnSpPr>
        <p:spPr>
          <a:xfrm>
            <a:off x="3547872" y="2369210"/>
            <a:ext cx="76444" cy="70409"/>
          </a:xfrm>
          <a:prstGeom prst="line">
            <a:avLst/>
          </a:prstGeom>
          <a:ln w="22860">
            <a:solidFill>
              <a:srgbClr val="41801A"/>
            </a:solidFill>
          </a:ln>
        </p:spPr>
      </p:cxnSp>
      <p:cxnSp>
        <p:nvCxnSpPr>
          <p:cNvPr id="36" name="Connector 35"/>
          <p:cNvCxnSpPr/>
          <p:nvPr/>
        </p:nvCxnSpPr>
        <p:spPr>
          <a:xfrm flipV="1">
            <a:off x="3624316" y="2278685"/>
            <a:ext cx="124724" cy="160934"/>
          </a:xfrm>
          <a:prstGeom prst="line">
            <a:avLst/>
          </a:prstGeom>
          <a:ln w="22860">
            <a:solidFill>
              <a:srgbClr val="41801A"/>
            </a:solidFill>
          </a:ln>
        </p:spPr>
      </p:cxnSp>
      <p:sp>
        <p:nvSpPr>
          <p:cNvPr id="37" name="TextBox 36"/>
          <p:cNvSpPr txBox="1"/>
          <p:nvPr/>
        </p:nvSpPr>
        <p:spPr>
          <a:xfrm>
            <a:off x="3410712"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8</a:t>
            </a:r>
          </a:p>
        </p:txBody>
      </p:sp>
      <p:sp>
        <p:nvSpPr>
          <p:cNvPr id="38" name="Rectangle 37"/>
          <p:cNvSpPr/>
          <p:nvPr/>
        </p:nvSpPr>
        <p:spPr>
          <a:xfrm>
            <a:off x="3858768"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39" name="Connector 38"/>
          <p:cNvCxnSpPr/>
          <p:nvPr/>
        </p:nvCxnSpPr>
        <p:spPr>
          <a:xfrm>
            <a:off x="3950208" y="2369210"/>
            <a:ext cx="76444" cy="70409"/>
          </a:xfrm>
          <a:prstGeom prst="line">
            <a:avLst/>
          </a:prstGeom>
          <a:ln w="22860">
            <a:solidFill>
              <a:srgbClr val="41801A"/>
            </a:solidFill>
          </a:ln>
        </p:spPr>
      </p:cxnSp>
      <p:cxnSp>
        <p:nvCxnSpPr>
          <p:cNvPr id="40" name="Connector 39"/>
          <p:cNvCxnSpPr/>
          <p:nvPr/>
        </p:nvCxnSpPr>
        <p:spPr>
          <a:xfrm flipV="1">
            <a:off x="4026652" y="2278685"/>
            <a:ext cx="124724" cy="160934"/>
          </a:xfrm>
          <a:prstGeom prst="line">
            <a:avLst/>
          </a:prstGeom>
          <a:ln w="22860">
            <a:solidFill>
              <a:srgbClr val="41801A"/>
            </a:solidFill>
          </a:ln>
        </p:spPr>
      </p:cxnSp>
      <p:sp>
        <p:nvSpPr>
          <p:cNvPr id="41" name="TextBox 40"/>
          <p:cNvSpPr txBox="1"/>
          <p:nvPr/>
        </p:nvSpPr>
        <p:spPr>
          <a:xfrm>
            <a:off x="3813048"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9</a:t>
            </a:r>
          </a:p>
        </p:txBody>
      </p:sp>
      <p:sp>
        <p:nvSpPr>
          <p:cNvPr id="42" name="Rectangle 41"/>
          <p:cNvSpPr/>
          <p:nvPr/>
        </p:nvSpPr>
        <p:spPr>
          <a:xfrm>
            <a:off x="4261104"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43" name="Connector 42"/>
          <p:cNvCxnSpPr/>
          <p:nvPr/>
        </p:nvCxnSpPr>
        <p:spPr>
          <a:xfrm>
            <a:off x="4352544" y="2369210"/>
            <a:ext cx="76444" cy="70409"/>
          </a:xfrm>
          <a:prstGeom prst="line">
            <a:avLst/>
          </a:prstGeom>
          <a:ln w="22860">
            <a:solidFill>
              <a:srgbClr val="41801A"/>
            </a:solidFill>
          </a:ln>
        </p:spPr>
      </p:cxnSp>
      <p:cxnSp>
        <p:nvCxnSpPr>
          <p:cNvPr id="44" name="Connector 43"/>
          <p:cNvCxnSpPr/>
          <p:nvPr/>
        </p:nvCxnSpPr>
        <p:spPr>
          <a:xfrm flipV="1">
            <a:off x="4428988" y="2278685"/>
            <a:ext cx="124724" cy="160934"/>
          </a:xfrm>
          <a:prstGeom prst="line">
            <a:avLst/>
          </a:prstGeom>
          <a:ln w="22860">
            <a:solidFill>
              <a:srgbClr val="41801A"/>
            </a:solidFill>
          </a:ln>
        </p:spPr>
      </p:cxnSp>
      <p:sp>
        <p:nvSpPr>
          <p:cNvPr id="45" name="TextBox 44"/>
          <p:cNvSpPr txBox="1"/>
          <p:nvPr/>
        </p:nvSpPr>
        <p:spPr>
          <a:xfrm>
            <a:off x="4215384"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10</a:t>
            </a:r>
          </a:p>
        </p:txBody>
      </p:sp>
      <p:sp>
        <p:nvSpPr>
          <p:cNvPr id="46" name="Rectangle 45"/>
          <p:cNvSpPr/>
          <p:nvPr/>
        </p:nvSpPr>
        <p:spPr>
          <a:xfrm>
            <a:off x="4663440"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47" name="Connector 46"/>
          <p:cNvCxnSpPr/>
          <p:nvPr/>
        </p:nvCxnSpPr>
        <p:spPr>
          <a:xfrm>
            <a:off x="4754880" y="2369210"/>
            <a:ext cx="76444" cy="70409"/>
          </a:xfrm>
          <a:prstGeom prst="line">
            <a:avLst/>
          </a:prstGeom>
          <a:ln w="22860">
            <a:solidFill>
              <a:srgbClr val="41801A"/>
            </a:solidFill>
          </a:ln>
        </p:spPr>
      </p:cxnSp>
      <p:cxnSp>
        <p:nvCxnSpPr>
          <p:cNvPr id="48" name="Connector 47"/>
          <p:cNvCxnSpPr/>
          <p:nvPr/>
        </p:nvCxnSpPr>
        <p:spPr>
          <a:xfrm flipV="1">
            <a:off x="4831324" y="2278685"/>
            <a:ext cx="124724" cy="160934"/>
          </a:xfrm>
          <a:prstGeom prst="line">
            <a:avLst/>
          </a:prstGeom>
          <a:ln w="22860">
            <a:solidFill>
              <a:srgbClr val="41801A"/>
            </a:solidFill>
          </a:ln>
        </p:spPr>
      </p:cxnSp>
      <p:sp>
        <p:nvSpPr>
          <p:cNvPr id="49" name="TextBox 48"/>
          <p:cNvSpPr txBox="1"/>
          <p:nvPr/>
        </p:nvSpPr>
        <p:spPr>
          <a:xfrm>
            <a:off x="4617720"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11</a:t>
            </a:r>
          </a:p>
        </p:txBody>
      </p:sp>
      <p:sp>
        <p:nvSpPr>
          <p:cNvPr id="50" name="Rectangle 49"/>
          <p:cNvSpPr/>
          <p:nvPr/>
        </p:nvSpPr>
        <p:spPr>
          <a:xfrm>
            <a:off x="5065776" y="2148840"/>
            <a:ext cx="347472" cy="457200"/>
          </a:xfrm>
          <a:prstGeom prst="rect">
            <a:avLst/>
          </a:prstGeom>
          <a:solidFill>
            <a:srgbClr val="F3FCE7"/>
          </a:solidFill>
          <a:ln w="12700">
            <a:solidFill>
              <a:srgbClr val="41801A"/>
            </a:solidFill>
          </a:ln>
        </p:spPr>
        <p:txBody>
          <a:bodyPr rtlCol="0" anchor="ctr"/>
          <a:lstStyle/>
          <a:p>
            <a:pPr algn="ctr"/>
          </a:p>
        </p:txBody>
      </p:sp>
      <p:cxnSp>
        <p:nvCxnSpPr>
          <p:cNvPr id="51" name="Connector 50"/>
          <p:cNvCxnSpPr/>
          <p:nvPr/>
        </p:nvCxnSpPr>
        <p:spPr>
          <a:xfrm>
            <a:off x="5157216" y="2369210"/>
            <a:ext cx="76444" cy="70409"/>
          </a:xfrm>
          <a:prstGeom prst="line">
            <a:avLst/>
          </a:prstGeom>
          <a:ln w="22860">
            <a:solidFill>
              <a:srgbClr val="41801A"/>
            </a:solidFill>
          </a:ln>
        </p:spPr>
      </p:cxnSp>
      <p:cxnSp>
        <p:nvCxnSpPr>
          <p:cNvPr id="52" name="Connector 51"/>
          <p:cNvCxnSpPr/>
          <p:nvPr/>
        </p:nvCxnSpPr>
        <p:spPr>
          <a:xfrm flipV="1">
            <a:off x="5233660" y="2278685"/>
            <a:ext cx="124724" cy="160934"/>
          </a:xfrm>
          <a:prstGeom prst="line">
            <a:avLst/>
          </a:prstGeom>
          <a:ln w="22860">
            <a:solidFill>
              <a:srgbClr val="41801A"/>
            </a:solidFill>
          </a:ln>
        </p:spPr>
      </p:cxnSp>
      <p:sp>
        <p:nvSpPr>
          <p:cNvPr id="53" name="TextBox 52"/>
          <p:cNvSpPr txBox="1"/>
          <p:nvPr/>
        </p:nvSpPr>
        <p:spPr>
          <a:xfrm>
            <a:off x="5020056" y="2642616"/>
            <a:ext cx="438912" cy="228600"/>
          </a:xfrm>
          <a:prstGeom prst="rect">
            <a:avLst/>
          </a:prstGeom>
          <a:noFill/>
        </p:spPr>
        <p:txBody>
          <a:bodyPr wrap="square" lIns="0" tIns="0" rIns="0" bIns="0">
            <a:spAutoFit/>
          </a:bodyPr>
          <a:lstStyle/>
          <a:p>
            <a:pPr algn="ctr">
              <a:lnSpc>
                <a:spcPct val="105000"/>
              </a:lnSpc>
            </a:pPr>
            <a:r>
              <a:rPr sz="1000">
                <a:solidFill>
                  <a:srgbClr val="5F6B58"/>
                </a:solidFill>
                <a:latin typeface="Arial"/>
              </a:rPr>
              <a:t>12</a:t>
            </a:r>
          </a:p>
        </p:txBody>
      </p:sp>
      <p:cxnSp>
        <p:nvCxnSpPr>
          <p:cNvPr id="54" name="Connector 53"/>
          <p:cNvCxnSpPr/>
          <p:nvPr/>
        </p:nvCxnSpPr>
        <p:spPr>
          <a:xfrm>
            <a:off x="5559552" y="2377440"/>
            <a:ext cx="411480" cy="0"/>
          </a:xfrm>
          <a:prstGeom prst="line">
            <a:avLst/>
          </a:prstGeom>
          <a:ln w="19050">
            <a:solidFill>
              <a:srgbClr val="41801A"/>
            </a:solidFill>
            <a:tailEnd type="triangle" w="med" len="med"/>
          </a:ln>
        </p:spPr>
      </p:cxnSp>
      <p:sp>
        <p:nvSpPr>
          <p:cNvPr id="55" name="Rectangle 54"/>
          <p:cNvSpPr/>
          <p:nvPr/>
        </p:nvSpPr>
        <p:spPr>
          <a:xfrm>
            <a:off x="6108192" y="2075688"/>
            <a:ext cx="2331720" cy="603504"/>
          </a:xfrm>
          <a:prstGeom prst="rect">
            <a:avLst/>
          </a:prstGeom>
          <a:solidFill>
            <a:srgbClr val="FFFFFF"/>
          </a:solidFill>
          <a:ln w="15875">
            <a:solidFill>
              <a:srgbClr val="26301F"/>
            </a:solidFill>
          </a:ln>
        </p:spPr>
        <p:txBody>
          <a:bodyPr rtlCol="0" anchor="ctr" lIns="18288" tIns="13716" rIns="18288" bIns="13716" wrap="square"/>
          <a:lstStyle/>
          <a:p>
            <a:pPr algn="ctr">
              <a:lnSpc>
                <a:spcPct val="105000"/>
              </a:lnSpc>
            </a:pPr>
            <a:r>
              <a:rPr sz="1450" b="1">
                <a:solidFill>
                  <a:srgbClr val="0C1408"/>
                </a:solidFill>
                <a:latin typeface="Arial"/>
              </a:rPr>
              <a:t>Credit record</a:t>
            </a:r>
          </a:p>
          <a:p>
            <a:pPr algn="ctr">
              <a:lnSpc>
                <a:spcPct val="105000"/>
              </a:lnSpc>
            </a:pPr>
            <a:r>
              <a:rPr sz="1150">
                <a:solidFill>
                  <a:srgbClr val="5F6B58"/>
                </a:solidFill>
                <a:latin typeface="Arial"/>
              </a:rPr>
              <a:t>reported to TASDEEQ</a:t>
            </a:r>
          </a:p>
        </p:txBody>
      </p:sp>
      <p:cxnSp>
        <p:nvCxnSpPr>
          <p:cNvPr id="56" name="Connector 55"/>
          <p:cNvCxnSpPr/>
          <p:nvPr/>
        </p:nvCxnSpPr>
        <p:spPr>
          <a:xfrm>
            <a:off x="8485632" y="2377440"/>
            <a:ext cx="411480" cy="0"/>
          </a:xfrm>
          <a:prstGeom prst="line">
            <a:avLst/>
          </a:prstGeom>
          <a:ln w="19050">
            <a:solidFill>
              <a:srgbClr val="41801A"/>
            </a:solidFill>
            <a:tailEnd type="triangle" w="med" len="med"/>
          </a:ln>
        </p:spPr>
      </p:cxnSp>
      <p:sp>
        <p:nvSpPr>
          <p:cNvPr id="57" name="Rectangle 56"/>
          <p:cNvSpPr/>
          <p:nvPr/>
        </p:nvSpPr>
        <p:spPr>
          <a:xfrm>
            <a:off x="9034272" y="2075688"/>
            <a:ext cx="2517343" cy="603504"/>
          </a:xfrm>
          <a:prstGeom prst="rect">
            <a:avLst/>
          </a:prstGeom>
          <a:solidFill>
            <a:srgbClr val="E4DEF3"/>
          </a:solidFill>
          <a:ln w="15875">
            <a:solidFill>
              <a:srgbClr val="573F99"/>
            </a:solidFill>
          </a:ln>
        </p:spPr>
        <p:txBody>
          <a:bodyPr rtlCol="0" anchor="ctr" lIns="18288" tIns="13716" rIns="18288" bIns="13716" wrap="square"/>
          <a:lstStyle/>
          <a:p>
            <a:pPr algn="ctr">
              <a:lnSpc>
                <a:spcPct val="105000"/>
              </a:lnSpc>
            </a:pPr>
            <a:r>
              <a:rPr sz="1450" b="1">
                <a:solidFill>
                  <a:srgbClr val="573F99"/>
                </a:solidFill>
                <a:latin typeface="Arial"/>
              </a:rPr>
              <a:t>Financing offer</a:t>
            </a:r>
          </a:p>
          <a:p>
            <a:pPr algn="ctr">
              <a:lnSpc>
                <a:spcPct val="105000"/>
              </a:lnSpc>
            </a:pPr>
            <a:r>
              <a:rPr sz="1150">
                <a:solidFill>
                  <a:srgbClr val="26301F"/>
                </a:solidFill>
                <a:latin typeface="Arial"/>
              </a:rPr>
              <a:t>after a clean circle</a:t>
            </a:r>
          </a:p>
        </p:txBody>
      </p:sp>
      <p:cxnSp>
        <p:nvCxnSpPr>
          <p:cNvPr id="58" name="Connector 57"/>
          <p:cNvCxnSpPr/>
          <p:nvPr/>
        </p:nvCxnSpPr>
        <p:spPr>
          <a:xfrm>
            <a:off x="640080" y="3291840"/>
            <a:ext cx="10911535" cy="0"/>
          </a:xfrm>
          <a:prstGeom prst="line">
            <a:avLst/>
          </a:prstGeom>
          <a:ln w="9525">
            <a:solidFill>
              <a:srgbClr val="CFD8C6"/>
            </a:solidFill>
          </a:ln>
        </p:spPr>
      </p:cxnSp>
      <p:sp>
        <p:nvSpPr>
          <p:cNvPr id="59" name="TextBox 58"/>
          <p:cNvSpPr txBox="1"/>
          <p:nvPr/>
        </p:nvSpPr>
        <p:spPr>
          <a:xfrm>
            <a:off x="640080" y="3657600"/>
            <a:ext cx="5090008" cy="548640"/>
          </a:xfrm>
          <a:prstGeom prst="rect">
            <a:avLst/>
          </a:prstGeom>
          <a:noFill/>
        </p:spPr>
        <p:txBody>
          <a:bodyPr wrap="square" lIns="0" tIns="0" rIns="0" bIns="0">
            <a:spAutoFit/>
          </a:bodyPr>
          <a:lstStyle/>
          <a:p>
            <a:pPr>
              <a:lnSpc>
                <a:spcPct val="105000"/>
              </a:lnSpc>
            </a:pPr>
            <a:r>
              <a:rPr sz="3600">
                <a:solidFill>
                  <a:srgbClr val="41801A"/>
                </a:solidFill>
                <a:latin typeface="Georgia"/>
              </a:rPr>
              <a:t>+168 points</a:t>
            </a:r>
          </a:p>
        </p:txBody>
      </p:sp>
      <p:sp>
        <p:nvSpPr>
          <p:cNvPr id="60" name="TextBox 59"/>
          <p:cNvSpPr txBox="1"/>
          <p:nvPr/>
        </p:nvSpPr>
        <p:spPr>
          <a:xfrm>
            <a:off x="640080" y="4187952"/>
            <a:ext cx="5090008" cy="914400"/>
          </a:xfrm>
          <a:prstGeom prst="rect">
            <a:avLst/>
          </a:prstGeom>
          <a:noFill/>
        </p:spPr>
        <p:txBody>
          <a:bodyPr wrap="square" lIns="0" tIns="0" rIns="0" bIns="0">
            <a:spAutoFit/>
          </a:bodyPr>
          <a:lstStyle/>
          <a:p>
            <a:pPr>
              <a:lnSpc>
                <a:spcPct val="104000"/>
              </a:lnSpc>
            </a:pPr>
            <a:r>
              <a:rPr sz="1500">
                <a:solidFill>
                  <a:srgbClr val="0C1408"/>
                </a:solidFill>
                <a:latin typeface="Arial"/>
              </a:rPr>
              <a:t>average credit score gain in US lending circles reported to the bureaus [1]</a:t>
            </a:r>
          </a:p>
        </p:txBody>
      </p:sp>
      <p:cxnSp>
        <p:nvCxnSpPr>
          <p:cNvPr id="61" name="Connector 60"/>
          <p:cNvCxnSpPr/>
          <p:nvPr/>
        </p:nvCxnSpPr>
        <p:spPr>
          <a:xfrm>
            <a:off x="6095848" y="3657600"/>
            <a:ext cx="0" cy="2011680"/>
          </a:xfrm>
          <a:prstGeom prst="line">
            <a:avLst/>
          </a:prstGeom>
          <a:ln w="9525">
            <a:solidFill>
              <a:srgbClr val="CFD8C6"/>
            </a:solidFill>
          </a:ln>
        </p:spPr>
      </p:cxnSp>
      <p:sp>
        <p:nvSpPr>
          <p:cNvPr id="62" name="TextBox 61"/>
          <p:cNvSpPr txBox="1"/>
          <p:nvPr/>
        </p:nvSpPr>
        <p:spPr>
          <a:xfrm>
            <a:off x="6324448" y="3657600"/>
            <a:ext cx="5181448" cy="548640"/>
          </a:xfrm>
          <a:prstGeom prst="rect">
            <a:avLst/>
          </a:prstGeom>
          <a:noFill/>
        </p:spPr>
        <p:txBody>
          <a:bodyPr wrap="square" lIns="0" tIns="0" rIns="0" bIns="0">
            <a:spAutoFit/>
          </a:bodyPr>
          <a:lstStyle/>
          <a:p>
            <a:pPr>
              <a:lnSpc>
                <a:spcPct val="105000"/>
              </a:lnSpc>
            </a:pPr>
            <a:r>
              <a:rPr sz="3600">
                <a:solidFill>
                  <a:srgbClr val="573F99"/>
                </a:solidFill>
                <a:latin typeface="Georgia"/>
              </a:rPr>
              <a:t>Rs 27.6 m</a:t>
            </a:r>
          </a:p>
        </p:txBody>
      </p:sp>
      <p:sp>
        <p:nvSpPr>
          <p:cNvPr id="63" name="TextBox 62"/>
          <p:cNvSpPr txBox="1"/>
          <p:nvPr/>
        </p:nvSpPr>
        <p:spPr>
          <a:xfrm>
            <a:off x="6324448" y="4187952"/>
            <a:ext cx="5181448" cy="914400"/>
          </a:xfrm>
          <a:prstGeom prst="rect">
            <a:avLst/>
          </a:prstGeom>
          <a:noFill/>
        </p:spPr>
        <p:txBody>
          <a:bodyPr wrap="square" lIns="0" tIns="0" rIns="0" bIns="0">
            <a:spAutoFit/>
          </a:bodyPr>
          <a:lstStyle/>
          <a:p>
            <a:pPr>
              <a:lnSpc>
                <a:spcPct val="104000"/>
              </a:lnSpc>
            </a:pPr>
            <a:r>
              <a:rPr sz="1500">
                <a:solidFill>
                  <a:srgbClr val="0C1408"/>
                </a:solidFill>
                <a:latin typeface="Arial"/>
              </a:rPr>
              <a:t>of Islamic financing at 30 June 2026; auto, fleet and supply chain next [2]</a:t>
            </a:r>
          </a:p>
        </p:txBody>
      </p:sp>
      <p:sp>
        <p:nvSpPr>
          <p:cNvPr id="64" name="TextBox 63"/>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Mission Asset Fund lending circles, evaluation by San Francisco State University, 600+ participants   2  Raqami Islamic Digital Bank, half year report to 30 June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AF3"/>
          </a:solidFill>
          <a:ln>
            <a:noFill/>
          </a:ln>
        </p:spPr>
        <p:txBody>
          <a:bodyPr rtlCol="0" anchor="ctr"/>
          <a:lstStyle/>
          <a:p>
            <a:pPr algn="ctr"/>
          </a:p>
        </p:txBody>
      </p:sp>
      <p:sp>
        <p:nvSpPr>
          <p:cNvPr id="3" name="TextBox 2"/>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Members join, pay automatically, collect and build a record in one app.</a:t>
            </a:r>
          </a:p>
        </p:txBody>
      </p:sp>
      <p:pic>
        <p:nvPicPr>
          <p:cNvPr id="4" name="Picture 3" descr="lockup-520.png"/>
          <p:cNvPicPr>
            <a:picLocks noChangeAspect="1"/>
          </p:cNvPicPr>
          <p:nvPr/>
        </p:nvPicPr>
        <p:blipFill>
          <a:blip r:embed="rId2"/>
          <a:stretch>
            <a:fillRect/>
          </a:stretch>
        </p:blipFill>
        <p:spPr>
          <a:xfrm>
            <a:off x="10648790" y="457200"/>
            <a:ext cx="902825" cy="274320"/>
          </a:xfrm>
          <a:prstGeom prst="rect">
            <a:avLst/>
          </a:prstGeom>
        </p:spPr>
      </p:pic>
      <p:sp>
        <p:nvSpPr>
          <p:cNvPr id="5" name="TextBox 4"/>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10</a:t>
            </a:r>
          </a:p>
        </p:txBody>
      </p:sp>
      <p:pic>
        <p:nvPicPr>
          <p:cNvPr id="6" name="Picture 5" descr="phone-circles-full.png"/>
          <p:cNvPicPr>
            <a:picLocks noChangeAspect="1"/>
          </p:cNvPicPr>
          <p:nvPr/>
        </p:nvPicPr>
        <p:blipFill>
          <a:blip r:embed="rId3"/>
          <a:stretch>
            <a:fillRect/>
          </a:stretch>
        </p:blipFill>
        <p:spPr>
          <a:xfrm>
            <a:off x="608383" y="1664208"/>
            <a:ext cx="1937913" cy="4069080"/>
          </a:xfrm>
          <a:prstGeom prst="rect">
            <a:avLst/>
          </a:prstGeom>
        </p:spPr>
      </p:pic>
      <p:sp>
        <p:nvSpPr>
          <p:cNvPr id="7" name="TextBox 6"/>
          <p:cNvSpPr txBox="1"/>
          <p:nvPr/>
        </p:nvSpPr>
        <p:spPr>
          <a:xfrm>
            <a:off x="594360" y="5852160"/>
            <a:ext cx="411480" cy="457200"/>
          </a:xfrm>
          <a:prstGeom prst="rect">
            <a:avLst/>
          </a:prstGeom>
          <a:noFill/>
        </p:spPr>
        <p:txBody>
          <a:bodyPr wrap="square" lIns="0" tIns="0" rIns="0" bIns="0" anchor="ctr">
            <a:spAutoFit/>
          </a:bodyPr>
          <a:lstStyle/>
          <a:p>
            <a:pPr>
              <a:lnSpc>
                <a:spcPct val="105000"/>
              </a:lnSpc>
            </a:pPr>
            <a:r>
              <a:rPr sz="2400">
                <a:solidFill>
                  <a:srgbClr val="41801A"/>
                </a:solidFill>
                <a:latin typeface="Georgia"/>
              </a:rPr>
              <a:t>1</a:t>
            </a:r>
          </a:p>
        </p:txBody>
      </p:sp>
      <p:sp>
        <p:nvSpPr>
          <p:cNvPr id="8" name="TextBox 7"/>
          <p:cNvSpPr txBox="1"/>
          <p:nvPr/>
        </p:nvSpPr>
        <p:spPr>
          <a:xfrm>
            <a:off x="1005840" y="5852160"/>
            <a:ext cx="2148840" cy="457200"/>
          </a:xfrm>
          <a:prstGeom prst="rect">
            <a:avLst/>
          </a:prstGeom>
          <a:noFill/>
        </p:spPr>
        <p:txBody>
          <a:bodyPr wrap="square" lIns="0" tIns="0" rIns="0" bIns="0" anchor="ctr">
            <a:spAutoFit/>
          </a:bodyPr>
          <a:lstStyle/>
          <a:p>
            <a:pPr>
              <a:lnSpc>
                <a:spcPct val="105000"/>
              </a:lnSpc>
            </a:pPr>
            <a:r>
              <a:rPr sz="1500" b="1">
                <a:solidFill>
                  <a:srgbClr val="0C1408"/>
                </a:solidFill>
                <a:latin typeface="Arial"/>
              </a:rPr>
              <a:t>Join a circle</a:t>
            </a:r>
          </a:p>
        </p:txBody>
      </p:sp>
      <p:pic>
        <p:nvPicPr>
          <p:cNvPr id="9" name="Picture 8" descr="phone-autopay-full.png"/>
          <p:cNvPicPr>
            <a:picLocks noChangeAspect="1"/>
          </p:cNvPicPr>
          <p:nvPr/>
        </p:nvPicPr>
        <p:blipFill>
          <a:blip r:embed="rId4"/>
          <a:stretch>
            <a:fillRect/>
          </a:stretch>
        </p:blipFill>
        <p:spPr>
          <a:xfrm>
            <a:off x="3620722" y="1664208"/>
            <a:ext cx="1937913" cy="4069080"/>
          </a:xfrm>
          <a:prstGeom prst="rect">
            <a:avLst/>
          </a:prstGeom>
        </p:spPr>
      </p:pic>
      <p:sp>
        <p:nvSpPr>
          <p:cNvPr id="10" name="TextBox 9"/>
          <p:cNvSpPr txBox="1"/>
          <p:nvPr/>
        </p:nvSpPr>
        <p:spPr>
          <a:xfrm>
            <a:off x="3606698" y="5852160"/>
            <a:ext cx="411480" cy="457200"/>
          </a:xfrm>
          <a:prstGeom prst="rect">
            <a:avLst/>
          </a:prstGeom>
          <a:noFill/>
        </p:spPr>
        <p:txBody>
          <a:bodyPr wrap="square" lIns="0" tIns="0" rIns="0" bIns="0" anchor="ctr">
            <a:spAutoFit/>
          </a:bodyPr>
          <a:lstStyle/>
          <a:p>
            <a:pPr>
              <a:lnSpc>
                <a:spcPct val="105000"/>
              </a:lnSpc>
            </a:pPr>
            <a:r>
              <a:rPr sz="2400">
                <a:solidFill>
                  <a:srgbClr val="41801A"/>
                </a:solidFill>
                <a:latin typeface="Georgia"/>
              </a:rPr>
              <a:t>2</a:t>
            </a:r>
          </a:p>
        </p:txBody>
      </p:sp>
      <p:sp>
        <p:nvSpPr>
          <p:cNvPr id="11" name="TextBox 10"/>
          <p:cNvSpPr txBox="1"/>
          <p:nvPr/>
        </p:nvSpPr>
        <p:spPr>
          <a:xfrm>
            <a:off x="4018178" y="5852160"/>
            <a:ext cx="2148840" cy="457200"/>
          </a:xfrm>
          <a:prstGeom prst="rect">
            <a:avLst/>
          </a:prstGeom>
          <a:noFill/>
        </p:spPr>
        <p:txBody>
          <a:bodyPr wrap="square" lIns="0" tIns="0" rIns="0" bIns="0" anchor="ctr">
            <a:spAutoFit/>
          </a:bodyPr>
          <a:lstStyle/>
          <a:p>
            <a:pPr>
              <a:lnSpc>
                <a:spcPct val="105000"/>
              </a:lnSpc>
            </a:pPr>
            <a:r>
              <a:rPr sz="1500" b="1">
                <a:solidFill>
                  <a:srgbClr val="0C1408"/>
                </a:solidFill>
                <a:latin typeface="Arial"/>
              </a:rPr>
              <a:t>Pay automatically</a:t>
            </a:r>
          </a:p>
        </p:txBody>
      </p:sp>
      <p:pic>
        <p:nvPicPr>
          <p:cNvPr id="12" name="Picture 11" descr="phone-activity-full.png"/>
          <p:cNvPicPr>
            <a:picLocks noChangeAspect="1"/>
          </p:cNvPicPr>
          <p:nvPr/>
        </p:nvPicPr>
        <p:blipFill>
          <a:blip r:embed="rId5"/>
          <a:stretch>
            <a:fillRect/>
          </a:stretch>
        </p:blipFill>
        <p:spPr>
          <a:xfrm>
            <a:off x="6633060" y="1664208"/>
            <a:ext cx="1937913" cy="4069080"/>
          </a:xfrm>
          <a:prstGeom prst="rect">
            <a:avLst/>
          </a:prstGeom>
        </p:spPr>
      </p:pic>
      <p:sp>
        <p:nvSpPr>
          <p:cNvPr id="13" name="TextBox 12"/>
          <p:cNvSpPr txBox="1"/>
          <p:nvPr/>
        </p:nvSpPr>
        <p:spPr>
          <a:xfrm>
            <a:off x="6619037" y="5852160"/>
            <a:ext cx="411480" cy="457200"/>
          </a:xfrm>
          <a:prstGeom prst="rect">
            <a:avLst/>
          </a:prstGeom>
          <a:noFill/>
        </p:spPr>
        <p:txBody>
          <a:bodyPr wrap="square" lIns="0" tIns="0" rIns="0" bIns="0" anchor="ctr">
            <a:spAutoFit/>
          </a:bodyPr>
          <a:lstStyle/>
          <a:p>
            <a:pPr>
              <a:lnSpc>
                <a:spcPct val="105000"/>
              </a:lnSpc>
            </a:pPr>
            <a:r>
              <a:rPr sz="2400">
                <a:solidFill>
                  <a:srgbClr val="41801A"/>
                </a:solidFill>
                <a:latin typeface="Georgia"/>
              </a:rPr>
              <a:t>3</a:t>
            </a:r>
          </a:p>
        </p:txBody>
      </p:sp>
      <p:sp>
        <p:nvSpPr>
          <p:cNvPr id="14" name="TextBox 13"/>
          <p:cNvSpPr txBox="1"/>
          <p:nvPr/>
        </p:nvSpPr>
        <p:spPr>
          <a:xfrm>
            <a:off x="7030517" y="5852160"/>
            <a:ext cx="2148840" cy="457200"/>
          </a:xfrm>
          <a:prstGeom prst="rect">
            <a:avLst/>
          </a:prstGeom>
          <a:noFill/>
        </p:spPr>
        <p:txBody>
          <a:bodyPr wrap="square" lIns="0" tIns="0" rIns="0" bIns="0" anchor="ctr">
            <a:spAutoFit/>
          </a:bodyPr>
          <a:lstStyle/>
          <a:p>
            <a:pPr>
              <a:lnSpc>
                <a:spcPct val="105000"/>
              </a:lnSpc>
            </a:pPr>
            <a:r>
              <a:rPr sz="1500" b="1">
                <a:solidFill>
                  <a:srgbClr val="0C1408"/>
                </a:solidFill>
                <a:latin typeface="Arial"/>
              </a:rPr>
              <a:t>Collect the pot</a:t>
            </a:r>
          </a:p>
        </p:txBody>
      </p:sp>
      <p:pic>
        <p:nvPicPr>
          <p:cNvPr id="15" name="Picture 14" descr="phone-credit-full.png"/>
          <p:cNvPicPr>
            <a:picLocks noChangeAspect="1"/>
          </p:cNvPicPr>
          <p:nvPr/>
        </p:nvPicPr>
        <p:blipFill>
          <a:blip r:embed="rId6"/>
          <a:stretch>
            <a:fillRect/>
          </a:stretch>
        </p:blipFill>
        <p:spPr>
          <a:xfrm>
            <a:off x="9645399" y="1664208"/>
            <a:ext cx="1937913" cy="4069080"/>
          </a:xfrm>
          <a:prstGeom prst="rect">
            <a:avLst/>
          </a:prstGeom>
        </p:spPr>
      </p:pic>
      <p:sp>
        <p:nvSpPr>
          <p:cNvPr id="16" name="TextBox 15"/>
          <p:cNvSpPr txBox="1"/>
          <p:nvPr/>
        </p:nvSpPr>
        <p:spPr>
          <a:xfrm>
            <a:off x="9631375" y="5852160"/>
            <a:ext cx="411480" cy="457200"/>
          </a:xfrm>
          <a:prstGeom prst="rect">
            <a:avLst/>
          </a:prstGeom>
          <a:noFill/>
        </p:spPr>
        <p:txBody>
          <a:bodyPr wrap="square" lIns="0" tIns="0" rIns="0" bIns="0" anchor="ctr">
            <a:spAutoFit/>
          </a:bodyPr>
          <a:lstStyle/>
          <a:p>
            <a:pPr>
              <a:lnSpc>
                <a:spcPct val="105000"/>
              </a:lnSpc>
            </a:pPr>
            <a:r>
              <a:rPr sz="2400">
                <a:solidFill>
                  <a:srgbClr val="41801A"/>
                </a:solidFill>
                <a:latin typeface="Georgia"/>
              </a:rPr>
              <a:t>4</a:t>
            </a:r>
          </a:p>
        </p:txBody>
      </p:sp>
      <p:sp>
        <p:nvSpPr>
          <p:cNvPr id="17" name="TextBox 16"/>
          <p:cNvSpPr txBox="1"/>
          <p:nvPr/>
        </p:nvSpPr>
        <p:spPr>
          <a:xfrm>
            <a:off x="10042855" y="5852160"/>
            <a:ext cx="2148840" cy="457200"/>
          </a:xfrm>
          <a:prstGeom prst="rect">
            <a:avLst/>
          </a:prstGeom>
          <a:noFill/>
        </p:spPr>
        <p:txBody>
          <a:bodyPr wrap="square" lIns="0" tIns="0" rIns="0" bIns="0" anchor="ctr">
            <a:spAutoFit/>
          </a:bodyPr>
          <a:lstStyle/>
          <a:p>
            <a:pPr>
              <a:lnSpc>
                <a:spcPct val="105000"/>
              </a:lnSpc>
            </a:pPr>
            <a:r>
              <a:rPr sz="1500" b="1">
                <a:solidFill>
                  <a:srgbClr val="0C1408"/>
                </a:solidFill>
                <a:latin typeface="Arial"/>
              </a:rPr>
              <a:t>Build a credit record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It runs on Raqami products that already exist, plus three new lines.</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11</a:t>
            </a:r>
          </a:p>
        </p:txBody>
      </p:sp>
      <p:cxnSp>
        <p:nvCxnSpPr>
          <p:cNvPr id="5" name="Connector 4"/>
          <p:cNvCxnSpPr/>
          <p:nvPr/>
        </p:nvCxnSpPr>
        <p:spPr>
          <a:xfrm>
            <a:off x="640080" y="2743200"/>
            <a:ext cx="10911535" cy="0"/>
          </a:xfrm>
          <a:prstGeom prst="line">
            <a:avLst/>
          </a:prstGeom>
          <a:ln w="63500">
            <a:solidFill>
              <a:srgbClr val="41801A"/>
            </a:solidFill>
          </a:ln>
        </p:spPr>
      </p:cxnSp>
      <p:sp>
        <p:nvSpPr>
          <p:cNvPr id="6" name="Oval 5"/>
          <p:cNvSpPr/>
          <p:nvPr/>
        </p:nvSpPr>
        <p:spPr>
          <a:xfrm>
            <a:off x="649224" y="2606040"/>
            <a:ext cx="274320" cy="274320"/>
          </a:xfrm>
          <a:prstGeom prst="ellipse">
            <a:avLst/>
          </a:prstGeom>
          <a:solidFill>
            <a:srgbClr val="FFFFFF"/>
          </a:solidFill>
          <a:ln w="38100">
            <a:solidFill>
              <a:srgbClr val="41801A"/>
            </a:solidFill>
          </a:ln>
        </p:spPr>
        <p:txBody>
          <a:bodyPr rtlCol="0" anchor="ctr"/>
          <a:lstStyle/>
          <a:p>
            <a:pPr algn="ctr"/>
          </a:p>
        </p:txBody>
      </p:sp>
      <p:sp>
        <p:nvSpPr>
          <p:cNvPr id="7" name="TextBox 6"/>
          <p:cNvSpPr txBox="1"/>
          <p:nvPr/>
        </p:nvSpPr>
        <p:spPr>
          <a:xfrm>
            <a:off x="640080" y="2130552"/>
            <a:ext cx="1727149" cy="365760"/>
          </a:xfrm>
          <a:prstGeom prst="rect">
            <a:avLst/>
          </a:prstGeom>
          <a:noFill/>
        </p:spPr>
        <p:txBody>
          <a:bodyPr wrap="square" lIns="0" tIns="0" rIns="0" bIns="0">
            <a:spAutoFit/>
          </a:bodyPr>
          <a:lstStyle/>
          <a:p>
            <a:pPr>
              <a:lnSpc>
                <a:spcPct val="105000"/>
              </a:lnSpc>
            </a:pPr>
            <a:r>
              <a:rPr sz="1600" b="1">
                <a:solidFill>
                  <a:srgbClr val="0C1408"/>
                </a:solidFill>
                <a:latin typeface="Arial"/>
              </a:rPr>
              <a:t>Open</a:t>
            </a:r>
          </a:p>
        </p:txBody>
      </p:sp>
      <p:sp>
        <p:nvSpPr>
          <p:cNvPr id="8" name="TextBox 7"/>
          <p:cNvSpPr txBox="1"/>
          <p:nvPr/>
        </p:nvSpPr>
        <p:spPr>
          <a:xfrm>
            <a:off x="1005840" y="2990088"/>
            <a:ext cx="1489405" cy="548640"/>
          </a:xfrm>
          <a:prstGeom prst="rect">
            <a:avLst/>
          </a:prstGeom>
          <a:noFill/>
        </p:spPr>
        <p:txBody>
          <a:bodyPr wrap="square" lIns="0" tIns="0" rIns="0" bIns="0">
            <a:spAutoFit/>
          </a:bodyPr>
          <a:lstStyle/>
          <a:p>
            <a:pPr>
              <a:lnSpc>
                <a:spcPct val="102000"/>
              </a:lnSpc>
            </a:pPr>
            <a:r>
              <a:rPr sz="1400" b="1">
                <a:solidFill>
                  <a:srgbClr val="41801A"/>
                </a:solidFill>
                <a:latin typeface="Arial"/>
              </a:rPr>
              <a:t>Asaan Digital Account</a:t>
            </a:r>
          </a:p>
        </p:txBody>
      </p:sp>
      <p:sp>
        <p:nvSpPr>
          <p:cNvPr id="9" name="TextBox 8"/>
          <p:cNvSpPr txBox="1"/>
          <p:nvPr/>
        </p:nvSpPr>
        <p:spPr>
          <a:xfrm>
            <a:off x="1005840" y="3566160"/>
            <a:ext cx="1489405" cy="640080"/>
          </a:xfrm>
          <a:prstGeom prst="rect">
            <a:avLst/>
          </a:prstGeom>
          <a:noFill/>
        </p:spPr>
        <p:txBody>
          <a:bodyPr wrap="square" lIns="0" tIns="0" rIns="0" bIns="0">
            <a:spAutoFit/>
          </a:bodyPr>
          <a:lstStyle/>
          <a:p>
            <a:pPr>
              <a:lnSpc>
                <a:spcPct val="103000"/>
              </a:lnSpc>
            </a:pPr>
            <a:r>
              <a:rPr sz="1250">
                <a:solidFill>
                  <a:srgbClr val="5F6B58"/>
                </a:solidFill>
                <a:latin typeface="Arial"/>
              </a:rPr>
              <a:t>CNIC and mobile, at once</a:t>
            </a:r>
          </a:p>
        </p:txBody>
      </p:sp>
      <p:sp>
        <p:nvSpPr>
          <p:cNvPr id="10" name="Oval 9"/>
          <p:cNvSpPr/>
          <p:nvPr/>
        </p:nvSpPr>
        <p:spPr>
          <a:xfrm>
            <a:off x="2467813" y="2606040"/>
            <a:ext cx="274320" cy="274320"/>
          </a:xfrm>
          <a:prstGeom prst="ellipse">
            <a:avLst/>
          </a:prstGeom>
          <a:solidFill>
            <a:srgbClr val="FFFFFF"/>
          </a:solidFill>
          <a:ln w="38100">
            <a:solidFill>
              <a:srgbClr val="41801A"/>
            </a:solidFill>
          </a:ln>
        </p:spPr>
        <p:txBody>
          <a:bodyPr rtlCol="0" anchor="ctr"/>
          <a:lstStyle/>
          <a:p>
            <a:pPr algn="ctr"/>
          </a:p>
        </p:txBody>
      </p:sp>
      <p:sp>
        <p:nvSpPr>
          <p:cNvPr id="11" name="TextBox 10"/>
          <p:cNvSpPr txBox="1"/>
          <p:nvPr/>
        </p:nvSpPr>
        <p:spPr>
          <a:xfrm>
            <a:off x="2458669" y="2130552"/>
            <a:ext cx="1727149" cy="365760"/>
          </a:xfrm>
          <a:prstGeom prst="rect">
            <a:avLst/>
          </a:prstGeom>
          <a:noFill/>
        </p:spPr>
        <p:txBody>
          <a:bodyPr wrap="square" lIns="0" tIns="0" rIns="0" bIns="0">
            <a:spAutoFit/>
          </a:bodyPr>
          <a:lstStyle/>
          <a:p>
            <a:pPr>
              <a:lnSpc>
                <a:spcPct val="105000"/>
              </a:lnSpc>
            </a:pPr>
            <a:r>
              <a:rPr sz="1600" b="1">
                <a:solidFill>
                  <a:srgbClr val="0C1408"/>
                </a:solidFill>
                <a:latin typeface="Arial"/>
              </a:rPr>
              <a:t>Salary in</a:t>
            </a:r>
          </a:p>
        </p:txBody>
      </p:sp>
      <p:sp>
        <p:nvSpPr>
          <p:cNvPr id="12" name="TextBox 11"/>
          <p:cNvSpPr txBox="1"/>
          <p:nvPr/>
        </p:nvSpPr>
        <p:spPr>
          <a:xfrm>
            <a:off x="2824429" y="2990088"/>
            <a:ext cx="1489405" cy="548640"/>
          </a:xfrm>
          <a:prstGeom prst="rect">
            <a:avLst/>
          </a:prstGeom>
          <a:noFill/>
        </p:spPr>
        <p:txBody>
          <a:bodyPr wrap="square" lIns="0" tIns="0" rIns="0" bIns="0">
            <a:spAutoFit/>
          </a:bodyPr>
          <a:lstStyle/>
          <a:p>
            <a:pPr>
              <a:lnSpc>
                <a:spcPct val="102000"/>
              </a:lnSpc>
            </a:pPr>
            <a:r>
              <a:rPr sz="1400" b="1">
                <a:solidFill>
                  <a:srgbClr val="41801A"/>
                </a:solidFill>
                <a:latin typeface="Arial"/>
              </a:rPr>
              <a:t>Mudarabah Savings Account</a:t>
            </a:r>
          </a:p>
        </p:txBody>
      </p:sp>
      <p:sp>
        <p:nvSpPr>
          <p:cNvPr id="13" name="TextBox 12"/>
          <p:cNvSpPr txBox="1"/>
          <p:nvPr/>
        </p:nvSpPr>
        <p:spPr>
          <a:xfrm>
            <a:off x="2824429" y="3566160"/>
            <a:ext cx="1489405" cy="640080"/>
          </a:xfrm>
          <a:prstGeom prst="rect">
            <a:avLst/>
          </a:prstGeom>
          <a:noFill/>
        </p:spPr>
        <p:txBody>
          <a:bodyPr wrap="square" lIns="0" tIns="0" rIns="0" bIns="0">
            <a:spAutoFit/>
          </a:bodyPr>
          <a:lstStyle/>
          <a:p>
            <a:pPr>
              <a:lnSpc>
                <a:spcPct val="103000"/>
              </a:lnSpc>
            </a:pPr>
            <a:r>
              <a:rPr sz="1250">
                <a:solidFill>
                  <a:srgbClr val="5F6B58"/>
                </a:solidFill>
                <a:latin typeface="Arial"/>
              </a:rPr>
              <a:t>profit from actual returns</a:t>
            </a:r>
          </a:p>
        </p:txBody>
      </p:sp>
      <p:sp>
        <p:nvSpPr>
          <p:cNvPr id="14" name="Oval 13"/>
          <p:cNvSpPr/>
          <p:nvPr/>
        </p:nvSpPr>
        <p:spPr>
          <a:xfrm>
            <a:off x="4286402" y="2606040"/>
            <a:ext cx="274320" cy="274320"/>
          </a:xfrm>
          <a:prstGeom prst="ellipse">
            <a:avLst/>
          </a:prstGeom>
          <a:solidFill>
            <a:srgbClr val="FFFFFF"/>
          </a:solidFill>
          <a:ln w="38100">
            <a:solidFill>
              <a:srgbClr val="41801A"/>
            </a:solidFill>
          </a:ln>
        </p:spPr>
        <p:txBody>
          <a:bodyPr rtlCol="0" anchor="ctr"/>
          <a:lstStyle/>
          <a:p>
            <a:pPr algn="ctr"/>
          </a:p>
        </p:txBody>
      </p:sp>
      <p:sp>
        <p:nvSpPr>
          <p:cNvPr id="15" name="TextBox 14"/>
          <p:cNvSpPr txBox="1"/>
          <p:nvPr/>
        </p:nvSpPr>
        <p:spPr>
          <a:xfrm>
            <a:off x="4277258" y="2130552"/>
            <a:ext cx="1727149" cy="365760"/>
          </a:xfrm>
          <a:prstGeom prst="rect">
            <a:avLst/>
          </a:prstGeom>
          <a:noFill/>
        </p:spPr>
        <p:txBody>
          <a:bodyPr wrap="square" lIns="0" tIns="0" rIns="0" bIns="0">
            <a:spAutoFit/>
          </a:bodyPr>
          <a:lstStyle/>
          <a:p>
            <a:pPr>
              <a:lnSpc>
                <a:spcPct val="105000"/>
              </a:lnSpc>
            </a:pPr>
            <a:r>
              <a:rPr sz="1600" b="1">
                <a:solidFill>
                  <a:srgbClr val="0C1408"/>
                </a:solidFill>
                <a:latin typeface="Arial"/>
              </a:rPr>
              <a:t>Held</a:t>
            </a:r>
          </a:p>
        </p:txBody>
      </p:sp>
      <p:sp>
        <p:nvSpPr>
          <p:cNvPr id="16" name="TextBox 15"/>
          <p:cNvSpPr txBox="1"/>
          <p:nvPr/>
        </p:nvSpPr>
        <p:spPr>
          <a:xfrm>
            <a:off x="4643018" y="2990088"/>
            <a:ext cx="1489405" cy="548640"/>
          </a:xfrm>
          <a:prstGeom prst="rect">
            <a:avLst/>
          </a:prstGeom>
          <a:noFill/>
        </p:spPr>
        <p:txBody>
          <a:bodyPr wrap="square" lIns="0" tIns="0" rIns="0" bIns="0">
            <a:spAutoFit/>
          </a:bodyPr>
          <a:lstStyle/>
          <a:p>
            <a:pPr>
              <a:lnSpc>
                <a:spcPct val="102000"/>
              </a:lnSpc>
            </a:pPr>
            <a:r>
              <a:rPr sz="1400" b="1">
                <a:solidFill>
                  <a:srgbClr val="41801A"/>
                </a:solidFill>
                <a:latin typeface="Arial"/>
              </a:rPr>
              <a:t>7 day Mudarabah Certificate</a:t>
            </a:r>
          </a:p>
        </p:txBody>
      </p:sp>
      <p:sp>
        <p:nvSpPr>
          <p:cNvPr id="17" name="TextBox 16"/>
          <p:cNvSpPr txBox="1"/>
          <p:nvPr/>
        </p:nvSpPr>
        <p:spPr>
          <a:xfrm>
            <a:off x="4643018" y="3566160"/>
            <a:ext cx="1489405" cy="640080"/>
          </a:xfrm>
          <a:prstGeom prst="rect">
            <a:avLst/>
          </a:prstGeom>
          <a:noFill/>
        </p:spPr>
        <p:txBody>
          <a:bodyPr wrap="square" lIns="0" tIns="0" rIns="0" bIns="0">
            <a:spAutoFit/>
          </a:bodyPr>
          <a:lstStyle/>
          <a:p>
            <a:pPr>
              <a:lnSpc>
                <a:spcPct val="103000"/>
              </a:lnSpc>
            </a:pPr>
            <a:r>
              <a:rPr sz="1250">
                <a:solidFill>
                  <a:srgbClr val="5F6B58"/>
                </a:solidFill>
                <a:latin typeface="Arial"/>
              </a:rPr>
              <a:t>payday to the 8th</a:t>
            </a:r>
          </a:p>
        </p:txBody>
      </p:sp>
      <p:sp>
        <p:nvSpPr>
          <p:cNvPr id="18" name="Oval 17"/>
          <p:cNvSpPr/>
          <p:nvPr/>
        </p:nvSpPr>
        <p:spPr>
          <a:xfrm>
            <a:off x="6104992" y="2606040"/>
            <a:ext cx="274320" cy="274320"/>
          </a:xfrm>
          <a:prstGeom prst="ellipse">
            <a:avLst/>
          </a:prstGeom>
          <a:solidFill>
            <a:srgbClr val="FFFFFF"/>
          </a:solidFill>
          <a:ln w="38100">
            <a:solidFill>
              <a:srgbClr val="41801A"/>
            </a:solidFill>
          </a:ln>
        </p:spPr>
        <p:txBody>
          <a:bodyPr rtlCol="0" anchor="ctr"/>
          <a:lstStyle/>
          <a:p>
            <a:pPr algn="ctr"/>
          </a:p>
        </p:txBody>
      </p:sp>
      <p:sp>
        <p:nvSpPr>
          <p:cNvPr id="19" name="TextBox 18"/>
          <p:cNvSpPr txBox="1"/>
          <p:nvPr/>
        </p:nvSpPr>
        <p:spPr>
          <a:xfrm>
            <a:off x="6095848" y="2130552"/>
            <a:ext cx="1727149" cy="365760"/>
          </a:xfrm>
          <a:prstGeom prst="rect">
            <a:avLst/>
          </a:prstGeom>
          <a:noFill/>
        </p:spPr>
        <p:txBody>
          <a:bodyPr wrap="square" lIns="0" tIns="0" rIns="0" bIns="0">
            <a:spAutoFit/>
          </a:bodyPr>
          <a:lstStyle/>
          <a:p>
            <a:pPr>
              <a:lnSpc>
                <a:spcPct val="105000"/>
              </a:lnSpc>
            </a:pPr>
            <a:r>
              <a:rPr sz="1600" b="1">
                <a:solidFill>
                  <a:srgbClr val="0C1408"/>
                </a:solidFill>
                <a:latin typeface="Arial"/>
              </a:rPr>
              <a:t>Payout</a:t>
            </a:r>
          </a:p>
        </p:txBody>
      </p:sp>
      <p:sp>
        <p:nvSpPr>
          <p:cNvPr id="20" name="TextBox 19"/>
          <p:cNvSpPr txBox="1"/>
          <p:nvPr/>
        </p:nvSpPr>
        <p:spPr>
          <a:xfrm>
            <a:off x="6461608" y="2990088"/>
            <a:ext cx="1489405" cy="548640"/>
          </a:xfrm>
          <a:prstGeom prst="rect">
            <a:avLst/>
          </a:prstGeom>
          <a:noFill/>
        </p:spPr>
        <p:txBody>
          <a:bodyPr wrap="square" lIns="0" tIns="0" rIns="0" bIns="0">
            <a:spAutoFit/>
          </a:bodyPr>
          <a:lstStyle/>
          <a:p>
            <a:pPr>
              <a:lnSpc>
                <a:spcPct val="102000"/>
              </a:lnSpc>
            </a:pPr>
            <a:r>
              <a:rPr sz="1400" b="1">
                <a:solidFill>
                  <a:srgbClr val="41801A"/>
                </a:solidFill>
                <a:latin typeface="Arial"/>
              </a:rPr>
              <a:t>Free Raqami transfer</a:t>
            </a:r>
          </a:p>
        </p:txBody>
      </p:sp>
      <p:sp>
        <p:nvSpPr>
          <p:cNvPr id="21" name="TextBox 20"/>
          <p:cNvSpPr txBox="1"/>
          <p:nvPr/>
        </p:nvSpPr>
        <p:spPr>
          <a:xfrm>
            <a:off x="6461608" y="3566160"/>
            <a:ext cx="1489405" cy="640080"/>
          </a:xfrm>
          <a:prstGeom prst="rect">
            <a:avLst/>
          </a:prstGeom>
          <a:noFill/>
        </p:spPr>
        <p:txBody>
          <a:bodyPr wrap="square" lIns="0" tIns="0" rIns="0" bIns="0">
            <a:spAutoFit/>
          </a:bodyPr>
          <a:lstStyle/>
          <a:p>
            <a:pPr>
              <a:lnSpc>
                <a:spcPct val="103000"/>
              </a:lnSpc>
            </a:pPr>
            <a:r>
              <a:rPr sz="1250">
                <a:solidFill>
                  <a:srgbClr val="5F6B58"/>
                </a:solidFill>
                <a:latin typeface="Arial"/>
              </a:rPr>
              <a:t>the pot, same day</a:t>
            </a:r>
          </a:p>
        </p:txBody>
      </p:sp>
      <p:sp>
        <p:nvSpPr>
          <p:cNvPr id="22" name="Oval 21"/>
          <p:cNvSpPr/>
          <p:nvPr/>
        </p:nvSpPr>
        <p:spPr>
          <a:xfrm>
            <a:off x="7923581" y="2606040"/>
            <a:ext cx="274320" cy="274320"/>
          </a:xfrm>
          <a:prstGeom prst="ellipse">
            <a:avLst/>
          </a:prstGeom>
          <a:solidFill>
            <a:srgbClr val="FFFFFF"/>
          </a:solidFill>
          <a:ln w="38100">
            <a:solidFill>
              <a:srgbClr val="41801A"/>
            </a:solidFill>
          </a:ln>
        </p:spPr>
        <p:txBody>
          <a:bodyPr rtlCol="0" anchor="ctr"/>
          <a:lstStyle/>
          <a:p>
            <a:pPr algn="ctr"/>
          </a:p>
        </p:txBody>
      </p:sp>
      <p:sp>
        <p:nvSpPr>
          <p:cNvPr id="23" name="TextBox 22"/>
          <p:cNvSpPr txBox="1"/>
          <p:nvPr/>
        </p:nvSpPr>
        <p:spPr>
          <a:xfrm>
            <a:off x="7914437" y="2130552"/>
            <a:ext cx="1727149" cy="365760"/>
          </a:xfrm>
          <a:prstGeom prst="rect">
            <a:avLst/>
          </a:prstGeom>
          <a:noFill/>
        </p:spPr>
        <p:txBody>
          <a:bodyPr wrap="square" lIns="0" tIns="0" rIns="0" bIns="0">
            <a:spAutoFit/>
          </a:bodyPr>
          <a:lstStyle/>
          <a:p>
            <a:pPr>
              <a:lnSpc>
                <a:spcPct val="105000"/>
              </a:lnSpc>
            </a:pPr>
            <a:r>
              <a:rPr sz="1600" b="1">
                <a:solidFill>
                  <a:srgbClr val="0C1408"/>
                </a:solidFill>
                <a:latin typeface="Arial"/>
              </a:rPr>
              <a:t>Save on</a:t>
            </a:r>
          </a:p>
        </p:txBody>
      </p:sp>
      <p:sp>
        <p:nvSpPr>
          <p:cNvPr id="24" name="TextBox 23"/>
          <p:cNvSpPr txBox="1"/>
          <p:nvPr/>
        </p:nvSpPr>
        <p:spPr>
          <a:xfrm>
            <a:off x="8280197" y="2990088"/>
            <a:ext cx="1489405" cy="548640"/>
          </a:xfrm>
          <a:prstGeom prst="rect">
            <a:avLst/>
          </a:prstGeom>
          <a:noFill/>
        </p:spPr>
        <p:txBody>
          <a:bodyPr wrap="square" lIns="0" tIns="0" rIns="0" bIns="0">
            <a:spAutoFit/>
          </a:bodyPr>
          <a:lstStyle/>
          <a:p>
            <a:pPr>
              <a:lnSpc>
                <a:spcPct val="102000"/>
              </a:lnSpc>
            </a:pPr>
            <a:r>
              <a:rPr sz="1400" b="1">
                <a:solidFill>
                  <a:srgbClr val="41801A"/>
                </a:solidFill>
                <a:latin typeface="Arial"/>
              </a:rPr>
              <a:t>Saving Pots</a:t>
            </a:r>
          </a:p>
        </p:txBody>
      </p:sp>
      <p:sp>
        <p:nvSpPr>
          <p:cNvPr id="25" name="TextBox 24"/>
          <p:cNvSpPr txBox="1"/>
          <p:nvPr/>
        </p:nvSpPr>
        <p:spPr>
          <a:xfrm>
            <a:off x="8280197" y="3566160"/>
            <a:ext cx="1489405" cy="640080"/>
          </a:xfrm>
          <a:prstGeom prst="rect">
            <a:avLst/>
          </a:prstGeom>
          <a:noFill/>
        </p:spPr>
        <p:txBody>
          <a:bodyPr wrap="square" lIns="0" tIns="0" rIns="0" bIns="0">
            <a:spAutoFit/>
          </a:bodyPr>
          <a:lstStyle/>
          <a:p>
            <a:pPr>
              <a:lnSpc>
                <a:spcPct val="103000"/>
              </a:lnSpc>
            </a:pPr>
            <a:r>
              <a:rPr sz="1250">
                <a:solidFill>
                  <a:srgbClr val="5F6B58"/>
                </a:solidFill>
                <a:latin typeface="Arial"/>
              </a:rPr>
              <a:t>goal based saving</a:t>
            </a:r>
          </a:p>
        </p:txBody>
      </p:sp>
      <p:sp>
        <p:nvSpPr>
          <p:cNvPr id="26" name="Oval 25"/>
          <p:cNvSpPr/>
          <p:nvPr/>
        </p:nvSpPr>
        <p:spPr>
          <a:xfrm>
            <a:off x="9742170" y="2606040"/>
            <a:ext cx="274320" cy="274320"/>
          </a:xfrm>
          <a:prstGeom prst="ellipse">
            <a:avLst/>
          </a:prstGeom>
          <a:solidFill>
            <a:srgbClr val="FFFFFF"/>
          </a:solidFill>
          <a:ln w="38100">
            <a:solidFill>
              <a:srgbClr val="41801A"/>
            </a:solidFill>
          </a:ln>
        </p:spPr>
        <p:txBody>
          <a:bodyPr rtlCol="0" anchor="ctr"/>
          <a:lstStyle/>
          <a:p>
            <a:pPr algn="ctr"/>
          </a:p>
        </p:txBody>
      </p:sp>
      <p:sp>
        <p:nvSpPr>
          <p:cNvPr id="27" name="TextBox 26"/>
          <p:cNvSpPr txBox="1"/>
          <p:nvPr/>
        </p:nvSpPr>
        <p:spPr>
          <a:xfrm>
            <a:off x="9733026" y="2130552"/>
            <a:ext cx="1727149" cy="365760"/>
          </a:xfrm>
          <a:prstGeom prst="rect">
            <a:avLst/>
          </a:prstGeom>
          <a:noFill/>
        </p:spPr>
        <p:txBody>
          <a:bodyPr wrap="square" lIns="0" tIns="0" rIns="0" bIns="0">
            <a:spAutoFit/>
          </a:bodyPr>
          <a:lstStyle/>
          <a:p>
            <a:pPr>
              <a:lnSpc>
                <a:spcPct val="105000"/>
              </a:lnSpc>
            </a:pPr>
            <a:r>
              <a:rPr sz="1600" b="1">
                <a:solidFill>
                  <a:srgbClr val="0C1408"/>
                </a:solidFill>
                <a:latin typeface="Arial"/>
              </a:rPr>
              <a:t>Cash in</a:t>
            </a:r>
          </a:p>
        </p:txBody>
      </p:sp>
      <p:sp>
        <p:nvSpPr>
          <p:cNvPr id="28" name="TextBox 27"/>
          <p:cNvSpPr txBox="1"/>
          <p:nvPr/>
        </p:nvSpPr>
        <p:spPr>
          <a:xfrm>
            <a:off x="10098786" y="2990088"/>
            <a:ext cx="1489405" cy="548640"/>
          </a:xfrm>
          <a:prstGeom prst="rect">
            <a:avLst/>
          </a:prstGeom>
          <a:noFill/>
        </p:spPr>
        <p:txBody>
          <a:bodyPr wrap="square" lIns="0" tIns="0" rIns="0" bIns="0">
            <a:spAutoFit/>
          </a:bodyPr>
          <a:lstStyle/>
          <a:p>
            <a:pPr>
              <a:lnSpc>
                <a:spcPct val="102000"/>
              </a:lnSpc>
            </a:pPr>
            <a:r>
              <a:rPr sz="1400" b="1">
                <a:solidFill>
                  <a:srgbClr val="41801A"/>
                </a:solidFill>
                <a:latin typeface="Arial"/>
              </a:rPr>
              <a:t>Askari Bank branches</a:t>
            </a:r>
          </a:p>
        </p:txBody>
      </p:sp>
      <p:sp>
        <p:nvSpPr>
          <p:cNvPr id="29" name="TextBox 28"/>
          <p:cNvSpPr txBox="1"/>
          <p:nvPr/>
        </p:nvSpPr>
        <p:spPr>
          <a:xfrm>
            <a:off x="10098786" y="3566160"/>
            <a:ext cx="1489405" cy="640080"/>
          </a:xfrm>
          <a:prstGeom prst="rect">
            <a:avLst/>
          </a:prstGeom>
          <a:noFill/>
        </p:spPr>
        <p:txBody>
          <a:bodyPr wrap="square" lIns="0" tIns="0" rIns="0" bIns="0">
            <a:spAutoFit/>
          </a:bodyPr>
          <a:lstStyle/>
          <a:p>
            <a:pPr>
              <a:lnSpc>
                <a:spcPct val="103000"/>
              </a:lnSpc>
            </a:pPr>
            <a:r>
              <a:rPr sz="1250">
                <a:solidFill>
                  <a:srgbClr val="5F6B58"/>
                </a:solidFill>
                <a:latin typeface="Arial"/>
              </a:rPr>
              <a:t>free deposits at 700+</a:t>
            </a:r>
          </a:p>
        </p:txBody>
      </p:sp>
      <p:sp>
        <p:nvSpPr>
          <p:cNvPr id="30" name="Freeform 29"/>
          <p:cNvSpPr/>
          <p:nvPr/>
        </p:nvSpPr>
        <p:spPr>
          <a:xfrm>
            <a:off x="2604973" y="2889504"/>
            <a:ext cx="8672322" cy="1728216"/>
          </a:xfrm>
          <a:custGeom>
            <a:avLst/>
            <a:gdLst/>
            <a:ahLst/>
            <a:cxnLst/>
            <a:rect l="l" t="t" r="r" b="b"/>
            <a:pathLst>
              <a:path w="8672322" h="1728216">
                <a:moveTo>
                  <a:pt x="0" y="0"/>
                </a:moveTo>
                <a:lnTo>
                  <a:pt x="0" y="1728216"/>
                </a:lnTo>
                <a:lnTo>
                  <a:pt x="8672322" y="1728216"/>
                </a:lnTo>
              </a:path>
            </a:pathLst>
          </a:custGeom>
          <a:noFill/>
          <a:ln w="38100">
            <a:solidFill>
              <a:srgbClr val="573F99"/>
            </a:solidFill>
            <a:prstDash val="dash"/>
          </a:ln>
        </p:spPr>
        <p:txBody>
          <a:bodyPr rtlCol="0" anchor="ctr"/>
          <a:lstStyle/>
          <a:p>
            <a:pPr algn="ctr"/>
          </a:p>
        </p:txBody>
      </p:sp>
      <p:sp>
        <p:nvSpPr>
          <p:cNvPr id="31" name="TextBox 30"/>
          <p:cNvSpPr txBox="1"/>
          <p:nvPr/>
        </p:nvSpPr>
        <p:spPr>
          <a:xfrm>
            <a:off x="547573" y="4160520"/>
            <a:ext cx="1920240" cy="320040"/>
          </a:xfrm>
          <a:prstGeom prst="rect">
            <a:avLst/>
          </a:prstGeom>
          <a:noFill/>
        </p:spPr>
        <p:txBody>
          <a:bodyPr wrap="square" lIns="0" tIns="0" rIns="0" bIns="0">
            <a:spAutoFit/>
          </a:bodyPr>
          <a:lstStyle/>
          <a:p>
            <a:pPr algn="r">
              <a:lnSpc>
                <a:spcPct val="105000"/>
              </a:lnSpc>
            </a:pPr>
            <a:r>
              <a:rPr sz="1450" b="1">
                <a:solidFill>
                  <a:srgbClr val="573F99"/>
                </a:solidFill>
                <a:latin typeface="Arial"/>
              </a:rPr>
              <a:t>New lines</a:t>
            </a:r>
          </a:p>
        </p:txBody>
      </p:sp>
      <p:sp>
        <p:nvSpPr>
          <p:cNvPr id="32" name="Oval 31"/>
          <p:cNvSpPr/>
          <p:nvPr/>
        </p:nvSpPr>
        <p:spPr>
          <a:xfrm>
            <a:off x="3025597" y="4489704"/>
            <a:ext cx="256032" cy="256032"/>
          </a:xfrm>
          <a:prstGeom prst="ellipse">
            <a:avLst/>
          </a:prstGeom>
          <a:solidFill>
            <a:srgbClr val="FFFFFF"/>
          </a:solidFill>
          <a:ln w="31750">
            <a:solidFill>
              <a:srgbClr val="573F99"/>
            </a:solidFill>
          </a:ln>
        </p:spPr>
        <p:txBody>
          <a:bodyPr rtlCol="0" anchor="ctr"/>
          <a:lstStyle/>
          <a:p>
            <a:pPr algn="ctr"/>
          </a:p>
        </p:txBody>
      </p:sp>
      <p:sp>
        <p:nvSpPr>
          <p:cNvPr id="33" name="TextBox 32"/>
          <p:cNvSpPr txBox="1"/>
          <p:nvPr/>
        </p:nvSpPr>
        <p:spPr>
          <a:xfrm>
            <a:off x="3007309" y="4846320"/>
            <a:ext cx="2194560" cy="320040"/>
          </a:xfrm>
          <a:prstGeom prst="rect">
            <a:avLst/>
          </a:prstGeom>
          <a:noFill/>
        </p:spPr>
        <p:txBody>
          <a:bodyPr wrap="square" lIns="0" tIns="0" rIns="0" bIns="0">
            <a:spAutoFit/>
          </a:bodyPr>
          <a:lstStyle/>
          <a:p>
            <a:pPr>
              <a:lnSpc>
                <a:spcPct val="105000"/>
              </a:lnSpc>
            </a:pPr>
            <a:r>
              <a:rPr sz="1450" b="1">
                <a:solidFill>
                  <a:srgbClr val="573F99"/>
                </a:solidFill>
                <a:latin typeface="Arial"/>
              </a:rPr>
              <a:t>Standing instruction</a:t>
            </a:r>
          </a:p>
        </p:txBody>
      </p:sp>
      <p:sp>
        <p:nvSpPr>
          <p:cNvPr id="34" name="TextBox 33"/>
          <p:cNvSpPr txBox="1"/>
          <p:nvPr/>
        </p:nvSpPr>
        <p:spPr>
          <a:xfrm>
            <a:off x="3007309" y="5166360"/>
            <a:ext cx="2103120" cy="548640"/>
          </a:xfrm>
          <a:prstGeom prst="rect">
            <a:avLst/>
          </a:prstGeom>
          <a:noFill/>
        </p:spPr>
        <p:txBody>
          <a:bodyPr wrap="square" lIns="0" tIns="0" rIns="0" bIns="0">
            <a:spAutoFit/>
          </a:bodyPr>
          <a:lstStyle/>
          <a:p>
            <a:pPr>
              <a:lnSpc>
                <a:spcPct val="103000"/>
              </a:lnSpc>
            </a:pPr>
            <a:r>
              <a:rPr sz="1250">
                <a:solidFill>
                  <a:srgbClr val="5F6B58"/>
                </a:solidFill>
                <a:latin typeface="Arial"/>
              </a:rPr>
              <a:t>debit on the 8th, by API</a:t>
            </a:r>
          </a:p>
        </p:txBody>
      </p:sp>
      <p:sp>
        <p:nvSpPr>
          <p:cNvPr id="35" name="Oval 34"/>
          <p:cNvSpPr/>
          <p:nvPr/>
        </p:nvSpPr>
        <p:spPr>
          <a:xfrm>
            <a:off x="6205576" y="4489704"/>
            <a:ext cx="256032" cy="256032"/>
          </a:xfrm>
          <a:prstGeom prst="ellipse">
            <a:avLst/>
          </a:prstGeom>
          <a:solidFill>
            <a:srgbClr val="FFFFFF"/>
          </a:solidFill>
          <a:ln w="31750">
            <a:solidFill>
              <a:srgbClr val="573F99"/>
            </a:solidFill>
          </a:ln>
        </p:spPr>
        <p:txBody>
          <a:bodyPr rtlCol="0" anchor="ctr"/>
          <a:lstStyle/>
          <a:p>
            <a:pPr algn="ctr"/>
          </a:p>
        </p:txBody>
      </p:sp>
      <p:sp>
        <p:nvSpPr>
          <p:cNvPr id="36" name="TextBox 35"/>
          <p:cNvSpPr txBox="1"/>
          <p:nvPr/>
        </p:nvSpPr>
        <p:spPr>
          <a:xfrm>
            <a:off x="6187288" y="4846320"/>
            <a:ext cx="2194560" cy="320040"/>
          </a:xfrm>
          <a:prstGeom prst="rect">
            <a:avLst/>
          </a:prstGeom>
          <a:noFill/>
        </p:spPr>
        <p:txBody>
          <a:bodyPr wrap="square" lIns="0" tIns="0" rIns="0" bIns="0">
            <a:spAutoFit/>
          </a:bodyPr>
          <a:lstStyle/>
          <a:p>
            <a:pPr>
              <a:lnSpc>
                <a:spcPct val="105000"/>
              </a:lnSpc>
            </a:pPr>
            <a:r>
              <a:rPr sz="1450" b="1">
                <a:solidFill>
                  <a:srgbClr val="573F99"/>
                </a:solidFill>
                <a:latin typeface="Arial"/>
              </a:rPr>
              <a:t>Committee takaful</a:t>
            </a:r>
          </a:p>
        </p:txBody>
      </p:sp>
      <p:sp>
        <p:nvSpPr>
          <p:cNvPr id="37" name="TextBox 36"/>
          <p:cNvSpPr txBox="1"/>
          <p:nvPr/>
        </p:nvSpPr>
        <p:spPr>
          <a:xfrm>
            <a:off x="6187288" y="5166360"/>
            <a:ext cx="2103120" cy="548640"/>
          </a:xfrm>
          <a:prstGeom prst="rect">
            <a:avLst/>
          </a:prstGeom>
          <a:noFill/>
        </p:spPr>
        <p:txBody>
          <a:bodyPr wrap="square" lIns="0" tIns="0" rIns="0" bIns="0">
            <a:spAutoFit/>
          </a:bodyPr>
          <a:lstStyle/>
          <a:p>
            <a:pPr>
              <a:lnSpc>
                <a:spcPct val="103000"/>
              </a:lnSpc>
            </a:pPr>
            <a:r>
              <a:rPr sz="1250">
                <a:solidFill>
                  <a:srgbClr val="5F6B58"/>
                </a:solidFill>
                <a:latin typeface="Arial"/>
              </a:rPr>
              <a:t>with EFU, Raqami’s partner</a:t>
            </a:r>
          </a:p>
        </p:txBody>
      </p:sp>
      <p:sp>
        <p:nvSpPr>
          <p:cNvPr id="38" name="Oval 37"/>
          <p:cNvSpPr/>
          <p:nvPr/>
        </p:nvSpPr>
        <p:spPr>
          <a:xfrm>
            <a:off x="8618525" y="4489704"/>
            <a:ext cx="256032" cy="256032"/>
          </a:xfrm>
          <a:prstGeom prst="ellipse">
            <a:avLst/>
          </a:prstGeom>
          <a:solidFill>
            <a:srgbClr val="FFFFFF"/>
          </a:solidFill>
          <a:ln w="31750">
            <a:solidFill>
              <a:srgbClr val="573F99"/>
            </a:solidFill>
          </a:ln>
        </p:spPr>
        <p:txBody>
          <a:bodyPr rtlCol="0" anchor="ctr"/>
          <a:lstStyle/>
          <a:p>
            <a:pPr algn="ctr"/>
          </a:p>
        </p:txBody>
      </p:sp>
      <p:sp>
        <p:nvSpPr>
          <p:cNvPr id="39" name="TextBox 38"/>
          <p:cNvSpPr txBox="1"/>
          <p:nvPr/>
        </p:nvSpPr>
        <p:spPr>
          <a:xfrm>
            <a:off x="8600237" y="4846320"/>
            <a:ext cx="2194560" cy="320040"/>
          </a:xfrm>
          <a:prstGeom prst="rect">
            <a:avLst/>
          </a:prstGeom>
          <a:noFill/>
        </p:spPr>
        <p:txBody>
          <a:bodyPr wrap="square" lIns="0" tIns="0" rIns="0" bIns="0">
            <a:spAutoFit/>
          </a:bodyPr>
          <a:lstStyle/>
          <a:p>
            <a:pPr>
              <a:lnSpc>
                <a:spcPct val="105000"/>
              </a:lnSpc>
            </a:pPr>
            <a:r>
              <a:rPr sz="1450" b="1">
                <a:solidFill>
                  <a:srgbClr val="573F99"/>
                </a:solidFill>
                <a:latin typeface="Arial"/>
              </a:rPr>
              <a:t>Asset financing</a:t>
            </a:r>
          </a:p>
        </p:txBody>
      </p:sp>
      <p:sp>
        <p:nvSpPr>
          <p:cNvPr id="40" name="TextBox 39"/>
          <p:cNvSpPr txBox="1"/>
          <p:nvPr/>
        </p:nvSpPr>
        <p:spPr>
          <a:xfrm>
            <a:off x="8600237" y="5166360"/>
            <a:ext cx="2103120" cy="548640"/>
          </a:xfrm>
          <a:prstGeom prst="rect">
            <a:avLst/>
          </a:prstGeom>
          <a:noFill/>
        </p:spPr>
        <p:txBody>
          <a:bodyPr wrap="square" lIns="0" tIns="0" rIns="0" bIns="0">
            <a:spAutoFit/>
          </a:bodyPr>
          <a:lstStyle/>
          <a:p>
            <a:pPr>
              <a:lnSpc>
                <a:spcPct val="103000"/>
              </a:lnSpc>
            </a:pPr>
            <a:r>
              <a:rPr sz="1250">
                <a:solidFill>
                  <a:srgbClr val="5F6B58"/>
                </a:solidFill>
                <a:latin typeface="Arial"/>
              </a:rPr>
              <a:t>ijarah: motorcycles, machines</a:t>
            </a:r>
          </a:p>
        </p:txBody>
      </p:sp>
      <p:sp>
        <p:nvSpPr>
          <p:cNvPr id="41" name="TextBox 40"/>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   </a:t>
            </a:r>
            <a:r>
              <a:rPr sz="900">
                <a:solidFill>
                  <a:srgbClr val="5F6B58"/>
                </a:solidFill>
                <a:latin typeface="Arial"/>
              </a:rPr>
              <a:t>Raqami products page, FAQ and home page, read 29 September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Raqami verifies each customer; Halqa’s checks decide which turns each member may take.</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12</a:t>
            </a:r>
          </a:p>
        </p:txBody>
      </p:sp>
      <p:sp>
        <p:nvSpPr>
          <p:cNvPr id="5" name="TextBox 4"/>
          <p:cNvSpPr txBox="1"/>
          <p:nvPr/>
        </p:nvSpPr>
        <p:spPr>
          <a:xfrm>
            <a:off x="640080" y="1783080"/>
            <a:ext cx="1463040" cy="1005840"/>
          </a:xfrm>
          <a:prstGeom prst="rect">
            <a:avLst/>
          </a:prstGeom>
          <a:noFill/>
        </p:spPr>
        <p:txBody>
          <a:bodyPr wrap="square" lIns="0" tIns="0" rIns="0" bIns="0" anchor="ctr">
            <a:spAutoFit/>
          </a:bodyPr>
          <a:lstStyle/>
          <a:p>
            <a:pPr>
              <a:lnSpc>
                <a:spcPct val="105000"/>
              </a:lnSpc>
            </a:pPr>
            <a:r>
              <a:rPr sz="1500" b="1">
                <a:solidFill>
                  <a:srgbClr val="0C1408"/>
                </a:solidFill>
                <a:latin typeface="Arial"/>
              </a:rPr>
              <a:t>Member</a:t>
            </a:r>
          </a:p>
        </p:txBody>
      </p:sp>
      <p:cxnSp>
        <p:nvCxnSpPr>
          <p:cNvPr id="6" name="Connector 5"/>
          <p:cNvCxnSpPr/>
          <p:nvPr/>
        </p:nvCxnSpPr>
        <p:spPr>
          <a:xfrm>
            <a:off x="640080" y="1783080"/>
            <a:ext cx="10911535" cy="0"/>
          </a:xfrm>
          <a:prstGeom prst="line">
            <a:avLst/>
          </a:prstGeom>
          <a:ln w="9525">
            <a:solidFill>
              <a:srgbClr val="CFD8C6"/>
            </a:solidFill>
          </a:ln>
        </p:spPr>
      </p:cxnSp>
      <p:sp>
        <p:nvSpPr>
          <p:cNvPr id="7" name="TextBox 6"/>
          <p:cNvSpPr txBox="1"/>
          <p:nvPr/>
        </p:nvSpPr>
        <p:spPr>
          <a:xfrm>
            <a:off x="640080" y="2788920"/>
            <a:ext cx="1463040" cy="1051560"/>
          </a:xfrm>
          <a:prstGeom prst="rect">
            <a:avLst/>
          </a:prstGeom>
          <a:noFill/>
        </p:spPr>
        <p:txBody>
          <a:bodyPr wrap="square" lIns="0" tIns="0" rIns="0" bIns="0" anchor="ctr">
            <a:spAutoFit/>
          </a:bodyPr>
          <a:lstStyle/>
          <a:p>
            <a:pPr>
              <a:lnSpc>
                <a:spcPct val="105000"/>
              </a:lnSpc>
            </a:pPr>
            <a:r>
              <a:rPr sz="1500" b="1">
                <a:solidFill>
                  <a:srgbClr val="573F99"/>
                </a:solidFill>
                <a:latin typeface="Arial"/>
              </a:rPr>
              <a:t>Raqami</a:t>
            </a:r>
          </a:p>
        </p:txBody>
      </p:sp>
      <p:cxnSp>
        <p:nvCxnSpPr>
          <p:cNvPr id="8" name="Connector 7"/>
          <p:cNvCxnSpPr/>
          <p:nvPr/>
        </p:nvCxnSpPr>
        <p:spPr>
          <a:xfrm>
            <a:off x="640080" y="2788920"/>
            <a:ext cx="10911535" cy="0"/>
          </a:xfrm>
          <a:prstGeom prst="line">
            <a:avLst/>
          </a:prstGeom>
          <a:ln w="9525">
            <a:solidFill>
              <a:srgbClr val="CFD8C6"/>
            </a:solidFill>
          </a:ln>
        </p:spPr>
      </p:cxnSp>
      <p:sp>
        <p:nvSpPr>
          <p:cNvPr id="9" name="TextBox 8"/>
          <p:cNvSpPr txBox="1"/>
          <p:nvPr/>
        </p:nvSpPr>
        <p:spPr>
          <a:xfrm>
            <a:off x="640080" y="3840480"/>
            <a:ext cx="1463040" cy="1737360"/>
          </a:xfrm>
          <a:prstGeom prst="rect">
            <a:avLst/>
          </a:prstGeom>
          <a:noFill/>
        </p:spPr>
        <p:txBody>
          <a:bodyPr wrap="square" lIns="0" tIns="0" rIns="0" bIns="0" anchor="ctr">
            <a:spAutoFit/>
          </a:bodyPr>
          <a:lstStyle/>
          <a:p>
            <a:pPr>
              <a:lnSpc>
                <a:spcPct val="105000"/>
              </a:lnSpc>
            </a:pPr>
            <a:r>
              <a:rPr sz="1500" b="1">
                <a:solidFill>
                  <a:srgbClr val="41801A"/>
                </a:solidFill>
                <a:latin typeface="Arial"/>
              </a:rPr>
              <a:t>Halqa checks</a:t>
            </a:r>
          </a:p>
        </p:txBody>
      </p:sp>
      <p:cxnSp>
        <p:nvCxnSpPr>
          <p:cNvPr id="10" name="Connector 9"/>
          <p:cNvCxnSpPr/>
          <p:nvPr/>
        </p:nvCxnSpPr>
        <p:spPr>
          <a:xfrm>
            <a:off x="640080" y="3840480"/>
            <a:ext cx="10911535" cy="0"/>
          </a:xfrm>
          <a:prstGeom prst="line">
            <a:avLst/>
          </a:prstGeom>
          <a:ln w="9525">
            <a:solidFill>
              <a:srgbClr val="CFD8C6"/>
            </a:solidFill>
          </a:ln>
        </p:spPr>
      </p:cxnSp>
      <p:cxnSp>
        <p:nvCxnSpPr>
          <p:cNvPr id="11" name="Connector 10"/>
          <p:cNvCxnSpPr/>
          <p:nvPr/>
        </p:nvCxnSpPr>
        <p:spPr>
          <a:xfrm>
            <a:off x="640080" y="5577840"/>
            <a:ext cx="10911535" cy="0"/>
          </a:xfrm>
          <a:prstGeom prst="line">
            <a:avLst/>
          </a:prstGeom>
          <a:ln w="9525">
            <a:solidFill>
              <a:srgbClr val="CFD8C6"/>
            </a:solidFill>
          </a:ln>
        </p:spPr>
      </p:cxnSp>
      <p:cxnSp>
        <p:nvCxnSpPr>
          <p:cNvPr id="12" name="Connector 11"/>
          <p:cNvCxnSpPr/>
          <p:nvPr/>
        </p:nvCxnSpPr>
        <p:spPr>
          <a:xfrm>
            <a:off x="2148840" y="1783080"/>
            <a:ext cx="0" cy="3794760"/>
          </a:xfrm>
          <a:prstGeom prst="line">
            <a:avLst/>
          </a:prstGeom>
          <a:ln w="9525">
            <a:solidFill>
              <a:srgbClr val="CFD8C6"/>
            </a:solidFill>
          </a:ln>
        </p:spPr>
      </p:cxnSp>
      <p:sp>
        <p:nvSpPr>
          <p:cNvPr id="13" name="Rectangle 12"/>
          <p:cNvSpPr/>
          <p:nvPr/>
        </p:nvSpPr>
        <p:spPr>
          <a:xfrm>
            <a:off x="2286000" y="2011680"/>
            <a:ext cx="1371600" cy="475488"/>
          </a:xfrm>
          <a:prstGeom prst="rect">
            <a:avLst/>
          </a:prstGeom>
          <a:solidFill>
            <a:srgbClr val="FFFFFF"/>
          </a:solidFill>
          <a:ln w="15875">
            <a:solidFill>
              <a:srgbClr val="26301F"/>
            </a:solidFill>
          </a:ln>
        </p:spPr>
        <p:txBody>
          <a:bodyPr rtlCol="0" anchor="ctr" lIns="18288" tIns="13716" rIns="18288" bIns="13716" wrap="square"/>
          <a:lstStyle/>
          <a:p>
            <a:pPr algn="ctr">
              <a:lnSpc>
                <a:spcPct val="105000"/>
              </a:lnSpc>
            </a:pPr>
            <a:r>
              <a:rPr sz="1400" b="1">
                <a:solidFill>
                  <a:srgbClr val="0C1408"/>
                </a:solidFill>
                <a:latin typeface="Arial"/>
              </a:rPr>
              <a:t>Signup</a:t>
            </a:r>
          </a:p>
        </p:txBody>
      </p:sp>
      <p:sp>
        <p:nvSpPr>
          <p:cNvPr id="14" name="TextBox 13"/>
          <p:cNvSpPr txBox="1"/>
          <p:nvPr/>
        </p:nvSpPr>
        <p:spPr>
          <a:xfrm>
            <a:off x="2157984" y="2532888"/>
            <a:ext cx="1627632" cy="566928"/>
          </a:xfrm>
          <a:prstGeom prst="rect">
            <a:avLst/>
          </a:prstGeom>
          <a:noFill/>
        </p:spPr>
        <p:txBody>
          <a:bodyPr wrap="square" lIns="0" tIns="0" rIns="0" bIns="0">
            <a:spAutoFit/>
          </a:bodyPr>
          <a:lstStyle/>
          <a:p>
            <a:pPr algn="ctr">
              <a:lnSpc>
                <a:spcPct val="103000"/>
              </a:lnSpc>
            </a:pPr>
            <a:r>
              <a:rPr sz="1200">
                <a:solidFill>
                  <a:srgbClr val="5F6B58"/>
                </a:solidFill>
                <a:latin typeface="Arial"/>
              </a:rPr>
              <a:t>phone and PIN</a:t>
            </a:r>
          </a:p>
        </p:txBody>
      </p:sp>
      <p:sp>
        <p:nvSpPr>
          <p:cNvPr id="15" name="Rectangle 14"/>
          <p:cNvSpPr/>
          <p:nvPr/>
        </p:nvSpPr>
        <p:spPr>
          <a:xfrm>
            <a:off x="3840480" y="3017520"/>
            <a:ext cx="1371600" cy="475488"/>
          </a:xfrm>
          <a:prstGeom prst="rect">
            <a:avLst/>
          </a:prstGeom>
          <a:solidFill>
            <a:srgbClr val="FFFFFF"/>
          </a:solidFill>
          <a:ln w="15875">
            <a:solidFill>
              <a:srgbClr val="573F99"/>
            </a:solidFill>
          </a:ln>
        </p:spPr>
        <p:txBody>
          <a:bodyPr rtlCol="0" anchor="ctr" lIns="18288" tIns="13716" rIns="18288" bIns="13716" wrap="square"/>
          <a:lstStyle/>
          <a:p>
            <a:pPr algn="ctr">
              <a:lnSpc>
                <a:spcPct val="105000"/>
              </a:lnSpc>
            </a:pPr>
            <a:r>
              <a:rPr sz="1400" b="1">
                <a:solidFill>
                  <a:srgbClr val="573F99"/>
                </a:solidFill>
                <a:latin typeface="Arial"/>
              </a:rPr>
              <a:t>Account</a:t>
            </a:r>
          </a:p>
        </p:txBody>
      </p:sp>
      <p:sp>
        <p:nvSpPr>
          <p:cNvPr id="16" name="TextBox 15"/>
          <p:cNvSpPr txBox="1"/>
          <p:nvPr/>
        </p:nvSpPr>
        <p:spPr>
          <a:xfrm>
            <a:off x="3712464" y="3538728"/>
            <a:ext cx="1627632" cy="566928"/>
          </a:xfrm>
          <a:prstGeom prst="rect">
            <a:avLst/>
          </a:prstGeom>
          <a:noFill/>
        </p:spPr>
        <p:txBody>
          <a:bodyPr wrap="square" lIns="0" tIns="0" rIns="0" bIns="0">
            <a:spAutoFit/>
          </a:bodyPr>
          <a:lstStyle/>
          <a:p>
            <a:pPr algn="ctr">
              <a:lnSpc>
                <a:spcPct val="103000"/>
              </a:lnSpc>
            </a:pPr>
            <a:r>
              <a:rPr sz="1200">
                <a:solidFill>
                  <a:srgbClr val="5F6B58"/>
                </a:solidFill>
                <a:latin typeface="Arial"/>
              </a:rPr>
              <a:t>CNIC and mobile, at once</a:t>
            </a:r>
          </a:p>
        </p:txBody>
      </p:sp>
      <p:sp>
        <p:nvSpPr>
          <p:cNvPr id="17" name="Rectangle 16"/>
          <p:cNvSpPr/>
          <p:nvPr/>
        </p:nvSpPr>
        <p:spPr>
          <a:xfrm>
            <a:off x="5440680" y="4069080"/>
            <a:ext cx="1371600" cy="475488"/>
          </a:xfrm>
          <a:prstGeom prst="rect">
            <a:avLst/>
          </a:prstGeom>
          <a:solidFill>
            <a:srgbClr val="FFFFFF"/>
          </a:solidFill>
          <a:ln w="15875">
            <a:solidFill>
              <a:srgbClr val="41801A"/>
            </a:solidFill>
          </a:ln>
        </p:spPr>
        <p:txBody>
          <a:bodyPr rtlCol="0" anchor="ctr" lIns="18288" tIns="13716" rIns="18288" bIns="13716" wrap="square"/>
          <a:lstStyle/>
          <a:p>
            <a:pPr algn="ctr">
              <a:lnSpc>
                <a:spcPct val="105000"/>
              </a:lnSpc>
            </a:pPr>
            <a:r>
              <a:rPr sz="1400" b="1">
                <a:solidFill>
                  <a:srgbClr val="41801A"/>
                </a:solidFill>
                <a:latin typeface="Arial"/>
              </a:rPr>
              <a:t>Identity</a:t>
            </a:r>
          </a:p>
        </p:txBody>
      </p:sp>
      <p:sp>
        <p:nvSpPr>
          <p:cNvPr id="18" name="TextBox 17"/>
          <p:cNvSpPr txBox="1"/>
          <p:nvPr/>
        </p:nvSpPr>
        <p:spPr>
          <a:xfrm>
            <a:off x="5312664" y="4590288"/>
            <a:ext cx="1627632" cy="566928"/>
          </a:xfrm>
          <a:prstGeom prst="rect">
            <a:avLst/>
          </a:prstGeom>
          <a:noFill/>
        </p:spPr>
        <p:txBody>
          <a:bodyPr wrap="square" lIns="0" tIns="0" rIns="0" bIns="0">
            <a:spAutoFit/>
          </a:bodyPr>
          <a:lstStyle/>
          <a:p>
            <a:pPr algn="ctr">
              <a:lnSpc>
                <a:spcPct val="103000"/>
              </a:lnSpc>
            </a:pPr>
            <a:r>
              <a:rPr sz="1200">
                <a:solidFill>
                  <a:srgbClr val="5F6B58"/>
                </a:solidFill>
                <a:latin typeface="Arial"/>
              </a:rPr>
              <a:t>names, live face, home, job</a:t>
            </a:r>
          </a:p>
        </p:txBody>
      </p:sp>
      <p:sp>
        <p:nvSpPr>
          <p:cNvPr id="19" name="Rectangle 18"/>
          <p:cNvSpPr/>
          <p:nvPr/>
        </p:nvSpPr>
        <p:spPr>
          <a:xfrm>
            <a:off x="7040880" y="4069080"/>
            <a:ext cx="1371600" cy="475488"/>
          </a:xfrm>
          <a:prstGeom prst="rect">
            <a:avLst/>
          </a:prstGeom>
          <a:solidFill>
            <a:srgbClr val="FFFFFF"/>
          </a:solidFill>
          <a:ln w="15875">
            <a:solidFill>
              <a:srgbClr val="41801A"/>
            </a:solidFill>
          </a:ln>
        </p:spPr>
        <p:txBody>
          <a:bodyPr rtlCol="0" anchor="ctr" lIns="18288" tIns="13716" rIns="18288" bIns="13716" wrap="square"/>
          <a:lstStyle/>
          <a:p>
            <a:pPr algn="ctr">
              <a:lnSpc>
                <a:spcPct val="105000"/>
              </a:lnSpc>
            </a:pPr>
            <a:r>
              <a:rPr sz="1400" b="1">
                <a:solidFill>
                  <a:srgbClr val="41801A"/>
                </a:solidFill>
                <a:latin typeface="Arial"/>
              </a:rPr>
              <a:t>Income</a:t>
            </a:r>
          </a:p>
        </p:txBody>
      </p:sp>
      <p:sp>
        <p:nvSpPr>
          <p:cNvPr id="20" name="TextBox 19"/>
          <p:cNvSpPr txBox="1"/>
          <p:nvPr/>
        </p:nvSpPr>
        <p:spPr>
          <a:xfrm>
            <a:off x="6912864" y="4590288"/>
            <a:ext cx="1627632" cy="566928"/>
          </a:xfrm>
          <a:prstGeom prst="rect">
            <a:avLst/>
          </a:prstGeom>
          <a:noFill/>
        </p:spPr>
        <p:txBody>
          <a:bodyPr wrap="square" lIns="0" tIns="0" rIns="0" bIns="0">
            <a:spAutoFit/>
          </a:bodyPr>
          <a:lstStyle/>
          <a:p>
            <a:pPr algn="ctr">
              <a:lnSpc>
                <a:spcPct val="103000"/>
              </a:lnSpc>
            </a:pPr>
            <a:r>
              <a:rPr sz="1200">
                <a:solidFill>
                  <a:srgbClr val="5F6B58"/>
                </a:solidFill>
                <a:latin typeface="Arial"/>
              </a:rPr>
              <a:t>a regular salary day</a:t>
            </a:r>
          </a:p>
        </p:txBody>
      </p:sp>
      <p:sp>
        <p:nvSpPr>
          <p:cNvPr id="21" name="Rectangle 20"/>
          <p:cNvSpPr/>
          <p:nvPr/>
        </p:nvSpPr>
        <p:spPr>
          <a:xfrm>
            <a:off x="8641080" y="4069080"/>
            <a:ext cx="1371600" cy="475488"/>
          </a:xfrm>
          <a:prstGeom prst="rect">
            <a:avLst/>
          </a:prstGeom>
          <a:solidFill>
            <a:srgbClr val="FFFFFF"/>
          </a:solidFill>
          <a:ln w="15875">
            <a:solidFill>
              <a:srgbClr val="41801A"/>
            </a:solidFill>
          </a:ln>
        </p:spPr>
        <p:txBody>
          <a:bodyPr rtlCol="0" anchor="ctr" lIns="18288" tIns="13716" rIns="18288" bIns="13716" wrap="square"/>
          <a:lstStyle/>
          <a:p>
            <a:pPr algn="ctr">
              <a:lnSpc>
                <a:spcPct val="105000"/>
              </a:lnSpc>
            </a:pPr>
            <a:r>
              <a:rPr sz="1400" b="1">
                <a:solidFill>
                  <a:srgbClr val="41801A"/>
                </a:solidFill>
                <a:latin typeface="Arial"/>
              </a:rPr>
              <a:t>Affordability</a:t>
            </a:r>
          </a:p>
        </p:txBody>
      </p:sp>
      <p:sp>
        <p:nvSpPr>
          <p:cNvPr id="22" name="TextBox 21"/>
          <p:cNvSpPr txBox="1"/>
          <p:nvPr/>
        </p:nvSpPr>
        <p:spPr>
          <a:xfrm>
            <a:off x="8513064" y="4590288"/>
            <a:ext cx="1627632" cy="566928"/>
          </a:xfrm>
          <a:prstGeom prst="rect">
            <a:avLst/>
          </a:prstGeom>
          <a:noFill/>
        </p:spPr>
        <p:txBody>
          <a:bodyPr wrap="square" lIns="0" tIns="0" rIns="0" bIns="0">
            <a:spAutoFit/>
          </a:bodyPr>
          <a:lstStyle/>
          <a:p>
            <a:pPr algn="ctr">
              <a:lnSpc>
                <a:spcPct val="103000"/>
              </a:lnSpc>
            </a:pPr>
            <a:r>
              <a:rPr sz="1200">
                <a:solidFill>
                  <a:srgbClr val="5F6B58"/>
                </a:solidFill>
                <a:latin typeface="Arial"/>
              </a:rPr>
              <a:t>instalments within a third of income</a:t>
            </a:r>
          </a:p>
        </p:txBody>
      </p:sp>
      <p:sp>
        <p:nvSpPr>
          <p:cNvPr id="23" name="Rectangle 22"/>
          <p:cNvSpPr/>
          <p:nvPr/>
        </p:nvSpPr>
        <p:spPr>
          <a:xfrm>
            <a:off x="10168128" y="4069080"/>
            <a:ext cx="1371600" cy="475488"/>
          </a:xfrm>
          <a:prstGeom prst="rect">
            <a:avLst/>
          </a:prstGeom>
          <a:solidFill>
            <a:srgbClr val="FFFFFF"/>
          </a:solidFill>
          <a:ln w="15875">
            <a:solidFill>
              <a:srgbClr val="41801A"/>
            </a:solidFill>
          </a:ln>
        </p:spPr>
        <p:txBody>
          <a:bodyPr rtlCol="0" anchor="ctr" lIns="18288" tIns="13716" rIns="18288" bIns="13716" wrap="square"/>
          <a:lstStyle/>
          <a:p>
            <a:pPr algn="ctr">
              <a:lnSpc>
                <a:spcPct val="105000"/>
              </a:lnSpc>
            </a:pPr>
            <a:r>
              <a:rPr sz="1400" b="1">
                <a:solidFill>
                  <a:srgbClr val="41801A"/>
                </a:solidFill>
                <a:latin typeface="Arial"/>
              </a:rPr>
              <a:t>Score</a:t>
            </a:r>
          </a:p>
        </p:txBody>
      </p:sp>
      <p:sp>
        <p:nvSpPr>
          <p:cNvPr id="24" name="TextBox 23"/>
          <p:cNvSpPr txBox="1"/>
          <p:nvPr/>
        </p:nvSpPr>
        <p:spPr>
          <a:xfrm>
            <a:off x="10040112" y="4590288"/>
            <a:ext cx="1627632" cy="566928"/>
          </a:xfrm>
          <a:prstGeom prst="rect">
            <a:avLst/>
          </a:prstGeom>
          <a:noFill/>
        </p:spPr>
        <p:txBody>
          <a:bodyPr wrap="square" lIns="0" tIns="0" rIns="0" bIns="0">
            <a:spAutoFit/>
          </a:bodyPr>
          <a:lstStyle/>
          <a:p>
            <a:pPr algn="ctr">
              <a:lnSpc>
                <a:spcPct val="103000"/>
              </a:lnSpc>
            </a:pPr>
            <a:r>
              <a:rPr sz="1200">
                <a:solidFill>
                  <a:srgbClr val="5F6B58"/>
                </a:solidFill>
                <a:latin typeface="Arial"/>
              </a:rPr>
              <a:t>300 to 850</a:t>
            </a:r>
          </a:p>
        </p:txBody>
      </p:sp>
      <p:sp>
        <p:nvSpPr>
          <p:cNvPr id="25" name="Freeform 24"/>
          <p:cNvSpPr/>
          <p:nvPr/>
        </p:nvSpPr>
        <p:spPr>
          <a:xfrm>
            <a:off x="3657600" y="2249424"/>
            <a:ext cx="868680" cy="768096"/>
          </a:xfrm>
          <a:custGeom>
            <a:avLst/>
            <a:gdLst/>
            <a:ahLst/>
            <a:cxnLst/>
            <a:rect l="l" t="t" r="r" b="b"/>
            <a:pathLst>
              <a:path w="868680" h="768096">
                <a:moveTo>
                  <a:pt x="0" y="0"/>
                </a:moveTo>
                <a:lnTo>
                  <a:pt x="868680" y="0"/>
                </a:lnTo>
                <a:lnTo>
                  <a:pt x="868680" y="768096"/>
                </a:lnTo>
              </a:path>
            </a:pathLst>
          </a:custGeom>
          <a:noFill/>
          <a:ln w="15875">
            <a:solidFill>
              <a:srgbClr val="26301F"/>
            </a:solidFill>
            <a:tailEnd type="triangle" w="med" len="med"/>
          </a:ln>
        </p:spPr>
        <p:txBody>
          <a:bodyPr rtlCol="0" anchor="ctr"/>
          <a:lstStyle/>
          <a:p>
            <a:pPr algn="ctr"/>
          </a:p>
        </p:txBody>
      </p:sp>
      <p:sp>
        <p:nvSpPr>
          <p:cNvPr id="26" name="Freeform 25"/>
          <p:cNvSpPr/>
          <p:nvPr/>
        </p:nvSpPr>
        <p:spPr>
          <a:xfrm>
            <a:off x="5212080" y="3255264"/>
            <a:ext cx="914400" cy="813816"/>
          </a:xfrm>
          <a:custGeom>
            <a:avLst/>
            <a:gdLst/>
            <a:ahLst/>
            <a:cxnLst/>
            <a:rect l="l" t="t" r="r" b="b"/>
            <a:pathLst>
              <a:path w="914400" h="813816">
                <a:moveTo>
                  <a:pt x="0" y="0"/>
                </a:moveTo>
                <a:lnTo>
                  <a:pt x="914400" y="0"/>
                </a:lnTo>
                <a:lnTo>
                  <a:pt x="914400" y="813816"/>
                </a:lnTo>
              </a:path>
            </a:pathLst>
          </a:custGeom>
          <a:noFill/>
          <a:ln w="15875">
            <a:solidFill>
              <a:srgbClr val="26301F"/>
            </a:solidFill>
            <a:tailEnd type="triangle" w="med" len="med"/>
          </a:ln>
        </p:spPr>
        <p:txBody>
          <a:bodyPr rtlCol="0" anchor="ctr"/>
          <a:lstStyle/>
          <a:p>
            <a:pPr algn="ctr"/>
          </a:p>
        </p:txBody>
      </p:sp>
      <p:cxnSp>
        <p:nvCxnSpPr>
          <p:cNvPr id="27" name="Connector 26"/>
          <p:cNvCxnSpPr/>
          <p:nvPr/>
        </p:nvCxnSpPr>
        <p:spPr>
          <a:xfrm>
            <a:off x="6830568" y="4306824"/>
            <a:ext cx="192024" cy="0"/>
          </a:xfrm>
          <a:prstGeom prst="line">
            <a:avLst/>
          </a:prstGeom>
          <a:ln w="15875">
            <a:solidFill>
              <a:srgbClr val="26301F"/>
            </a:solidFill>
            <a:tailEnd type="triangle" w="med" len="med"/>
          </a:ln>
        </p:spPr>
      </p:cxnSp>
      <p:cxnSp>
        <p:nvCxnSpPr>
          <p:cNvPr id="28" name="Connector 27"/>
          <p:cNvCxnSpPr/>
          <p:nvPr/>
        </p:nvCxnSpPr>
        <p:spPr>
          <a:xfrm>
            <a:off x="8430768" y="4306824"/>
            <a:ext cx="192024" cy="0"/>
          </a:xfrm>
          <a:prstGeom prst="line">
            <a:avLst/>
          </a:prstGeom>
          <a:ln w="15875">
            <a:solidFill>
              <a:srgbClr val="26301F"/>
            </a:solidFill>
            <a:tailEnd type="triangle" w="med" len="med"/>
          </a:ln>
        </p:spPr>
      </p:cxnSp>
      <p:cxnSp>
        <p:nvCxnSpPr>
          <p:cNvPr id="29" name="Connector 28"/>
          <p:cNvCxnSpPr/>
          <p:nvPr/>
        </p:nvCxnSpPr>
        <p:spPr>
          <a:xfrm>
            <a:off x="10030968" y="4306824"/>
            <a:ext cx="118872" cy="0"/>
          </a:xfrm>
          <a:prstGeom prst="line">
            <a:avLst/>
          </a:prstGeom>
          <a:ln w="15875">
            <a:solidFill>
              <a:srgbClr val="26301F"/>
            </a:solidFill>
            <a:tailEnd type="triangle" w="med" len="med"/>
          </a:ln>
        </p:spPr>
      </p:cxnSp>
      <p:cxnSp>
        <p:nvCxnSpPr>
          <p:cNvPr id="30" name="Connector 29"/>
          <p:cNvCxnSpPr/>
          <p:nvPr/>
        </p:nvCxnSpPr>
        <p:spPr>
          <a:xfrm flipV="1">
            <a:off x="10853928" y="2578608"/>
            <a:ext cx="0" cy="1490472"/>
          </a:xfrm>
          <a:prstGeom prst="line">
            <a:avLst/>
          </a:prstGeom>
          <a:ln w="19050">
            <a:solidFill>
              <a:srgbClr val="41801A"/>
            </a:solidFill>
            <a:tailEnd type="triangle" w="med" len="med"/>
          </a:ln>
        </p:spPr>
      </p:cxnSp>
      <p:sp>
        <p:nvSpPr>
          <p:cNvPr id="31" name="TextBox 30"/>
          <p:cNvSpPr txBox="1"/>
          <p:nvPr/>
        </p:nvSpPr>
        <p:spPr>
          <a:xfrm>
            <a:off x="8750808" y="1993392"/>
            <a:ext cx="2834640" cy="566928"/>
          </a:xfrm>
          <a:prstGeom prst="rect">
            <a:avLst/>
          </a:prstGeom>
          <a:noFill/>
        </p:spPr>
        <p:txBody>
          <a:bodyPr wrap="square" lIns="0" tIns="0" rIns="0" bIns="0">
            <a:spAutoFit/>
          </a:bodyPr>
          <a:lstStyle/>
          <a:p>
            <a:pPr algn="r">
              <a:lnSpc>
                <a:spcPct val="103000"/>
              </a:lnSpc>
            </a:pPr>
            <a:r>
              <a:rPr sz="1300" b="1">
                <a:solidFill>
                  <a:srgbClr val="41801A"/>
                </a:solidFill>
                <a:latin typeface="Arial"/>
              </a:rPr>
              <a:t>shown only the circles and turns open to them</a:t>
            </a:r>
          </a:p>
        </p:txBody>
      </p:sp>
      <p:sp>
        <p:nvSpPr>
          <p:cNvPr id="32" name="TextBox 31"/>
          <p:cNvSpPr txBox="1"/>
          <p:nvPr/>
        </p:nvSpPr>
        <p:spPr>
          <a:xfrm>
            <a:off x="640080" y="5669280"/>
            <a:ext cx="10911535" cy="274320"/>
          </a:xfrm>
          <a:prstGeom prst="rect">
            <a:avLst/>
          </a:prstGeom>
          <a:noFill/>
        </p:spPr>
        <p:txBody>
          <a:bodyPr wrap="square" lIns="0" tIns="0" rIns="0" bIns="0">
            <a:spAutoFit/>
          </a:bodyPr>
          <a:lstStyle/>
          <a:p>
            <a:pPr>
              <a:lnSpc>
                <a:spcPct val="105000"/>
              </a:lnSpc>
            </a:pPr>
            <a:r>
              <a:rPr sz="1200">
                <a:solidFill>
                  <a:srgbClr val="5F6B58"/>
                </a:solidFill>
                <a:latin typeface="Arial"/>
              </a:rPr>
              <a:t>Residents aged 18 and over.   Stored: results only, never images or passwords.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The less members know each other, the stricter the checks.</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13</a:t>
            </a:r>
          </a:p>
        </p:txBody>
      </p:sp>
      <p:sp>
        <p:nvSpPr>
          <p:cNvPr id="5" name="TextBox 4"/>
          <p:cNvSpPr txBox="1"/>
          <p:nvPr/>
        </p:nvSpPr>
        <p:spPr>
          <a:xfrm>
            <a:off x="2971800" y="1554480"/>
            <a:ext cx="1670243" cy="594360"/>
          </a:xfrm>
          <a:prstGeom prst="rect">
            <a:avLst/>
          </a:prstGeom>
          <a:noFill/>
        </p:spPr>
        <p:txBody>
          <a:bodyPr wrap="square" lIns="0" tIns="0" rIns="0" bIns="0" anchor="b">
            <a:spAutoFit/>
          </a:bodyPr>
          <a:lstStyle/>
          <a:p>
            <a:pPr algn="ctr">
              <a:lnSpc>
                <a:spcPct val="100000"/>
              </a:lnSpc>
            </a:pPr>
            <a:r>
              <a:rPr sz="1500" b="1">
                <a:solidFill>
                  <a:srgbClr val="41801A"/>
                </a:solidFill>
                <a:latin typeface="Arial"/>
              </a:rPr>
              <a:t>Known</a:t>
            </a:r>
          </a:p>
        </p:txBody>
      </p:sp>
      <p:sp>
        <p:nvSpPr>
          <p:cNvPr id="6" name="TextBox 5"/>
          <p:cNvSpPr txBox="1"/>
          <p:nvPr/>
        </p:nvSpPr>
        <p:spPr>
          <a:xfrm>
            <a:off x="4687763" y="1554480"/>
            <a:ext cx="1670243" cy="594360"/>
          </a:xfrm>
          <a:prstGeom prst="rect">
            <a:avLst/>
          </a:prstGeom>
          <a:noFill/>
        </p:spPr>
        <p:txBody>
          <a:bodyPr wrap="square" lIns="0" tIns="0" rIns="0" bIns="0" anchor="b">
            <a:spAutoFit/>
          </a:bodyPr>
          <a:lstStyle/>
          <a:p>
            <a:pPr algn="ctr">
              <a:lnSpc>
                <a:spcPct val="100000"/>
              </a:lnSpc>
            </a:pPr>
            <a:r>
              <a:rPr sz="1500" b="1">
                <a:solidFill>
                  <a:srgbClr val="41801A"/>
                </a:solidFill>
                <a:latin typeface="Arial"/>
              </a:rPr>
              <a:t>Unknown</a:t>
            </a:r>
          </a:p>
        </p:txBody>
      </p:sp>
      <p:sp>
        <p:nvSpPr>
          <p:cNvPr id="7" name="TextBox 6"/>
          <p:cNvSpPr txBox="1"/>
          <p:nvPr/>
        </p:nvSpPr>
        <p:spPr>
          <a:xfrm>
            <a:off x="6403726" y="1554480"/>
            <a:ext cx="1670243" cy="594360"/>
          </a:xfrm>
          <a:prstGeom prst="rect">
            <a:avLst/>
          </a:prstGeom>
          <a:noFill/>
        </p:spPr>
        <p:txBody>
          <a:bodyPr wrap="square" lIns="0" tIns="0" rIns="0" bIns="0" anchor="b">
            <a:spAutoFit/>
          </a:bodyPr>
          <a:lstStyle/>
          <a:p>
            <a:pPr algn="ctr">
              <a:lnSpc>
                <a:spcPct val="100000"/>
              </a:lnSpc>
            </a:pPr>
            <a:r>
              <a:rPr sz="1500" b="1">
                <a:solidFill>
                  <a:srgbClr val="41801A"/>
                </a:solidFill>
                <a:latin typeface="Arial"/>
              </a:rPr>
              <a:t>Large unknown</a:t>
            </a:r>
          </a:p>
        </p:txBody>
      </p:sp>
      <p:sp>
        <p:nvSpPr>
          <p:cNvPr id="8" name="TextBox 7"/>
          <p:cNvSpPr txBox="1"/>
          <p:nvPr/>
        </p:nvSpPr>
        <p:spPr>
          <a:xfrm>
            <a:off x="8119689" y="1554480"/>
            <a:ext cx="1670243" cy="594360"/>
          </a:xfrm>
          <a:prstGeom prst="rect">
            <a:avLst/>
          </a:prstGeom>
          <a:noFill/>
        </p:spPr>
        <p:txBody>
          <a:bodyPr wrap="square" lIns="0" tIns="0" rIns="0" bIns="0" anchor="b">
            <a:spAutoFit/>
          </a:bodyPr>
          <a:lstStyle/>
          <a:p>
            <a:pPr algn="ctr">
              <a:lnSpc>
                <a:spcPct val="100000"/>
              </a:lnSpc>
            </a:pPr>
            <a:r>
              <a:rPr sz="1500" b="1">
                <a:solidFill>
                  <a:srgbClr val="41801A"/>
                </a:solidFill>
                <a:latin typeface="Arial"/>
              </a:rPr>
              <a:t>Asset</a:t>
            </a:r>
          </a:p>
        </p:txBody>
      </p:sp>
      <p:sp>
        <p:nvSpPr>
          <p:cNvPr id="9" name="TextBox 8"/>
          <p:cNvSpPr txBox="1"/>
          <p:nvPr/>
        </p:nvSpPr>
        <p:spPr>
          <a:xfrm>
            <a:off x="9835652" y="1554480"/>
            <a:ext cx="1670243" cy="594360"/>
          </a:xfrm>
          <a:prstGeom prst="rect">
            <a:avLst/>
          </a:prstGeom>
          <a:noFill/>
        </p:spPr>
        <p:txBody>
          <a:bodyPr wrap="square" lIns="0" tIns="0" rIns="0" bIns="0" anchor="b">
            <a:spAutoFit/>
          </a:bodyPr>
          <a:lstStyle/>
          <a:p>
            <a:pPr algn="ctr">
              <a:lnSpc>
                <a:spcPct val="100000"/>
              </a:lnSpc>
            </a:pPr>
            <a:r>
              <a:rPr sz="1500" b="1">
                <a:solidFill>
                  <a:srgbClr val="D9A21B"/>
                </a:solidFill>
                <a:latin typeface="Arial"/>
              </a:rPr>
              <a:t>Hyper</a:t>
            </a:r>
          </a:p>
          <a:p>
            <a:pPr algn="ctr">
              <a:lnSpc>
                <a:spcPct val="100000"/>
              </a:lnSpc>
            </a:pPr>
            <a:r>
              <a:rPr sz="1050">
                <a:solidFill>
                  <a:srgbClr val="5F6B58"/>
                </a:solidFill>
                <a:latin typeface="Arial"/>
              </a:rPr>
              <a:t>experimental</a:t>
            </a:r>
          </a:p>
        </p:txBody>
      </p:sp>
      <p:cxnSp>
        <p:nvCxnSpPr>
          <p:cNvPr id="10" name="Connector 9"/>
          <p:cNvCxnSpPr/>
          <p:nvPr/>
        </p:nvCxnSpPr>
        <p:spPr>
          <a:xfrm>
            <a:off x="640080" y="2194560"/>
            <a:ext cx="10911535" cy="0"/>
          </a:xfrm>
          <a:prstGeom prst="line">
            <a:avLst/>
          </a:prstGeom>
          <a:ln w="15875">
            <a:solidFill>
              <a:srgbClr val="41801A"/>
            </a:solidFill>
          </a:ln>
        </p:spPr>
      </p:cxnSp>
      <p:sp>
        <p:nvSpPr>
          <p:cNvPr id="11" name="TextBox 10"/>
          <p:cNvSpPr txBox="1"/>
          <p:nvPr/>
        </p:nvSpPr>
        <p:spPr>
          <a:xfrm>
            <a:off x="640080" y="22494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Members</a:t>
            </a:r>
          </a:p>
        </p:txBody>
      </p:sp>
      <p:sp>
        <p:nvSpPr>
          <p:cNvPr id="12" name="TextBox 11"/>
          <p:cNvSpPr txBox="1"/>
          <p:nvPr/>
        </p:nvSpPr>
        <p:spPr>
          <a:xfrm>
            <a:off x="2971800" y="22494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6 to 12</a:t>
            </a:r>
          </a:p>
        </p:txBody>
      </p:sp>
      <p:sp>
        <p:nvSpPr>
          <p:cNvPr id="13" name="TextBox 12"/>
          <p:cNvSpPr txBox="1"/>
          <p:nvPr/>
        </p:nvSpPr>
        <p:spPr>
          <a:xfrm>
            <a:off x="4687763" y="22494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12</a:t>
            </a:r>
          </a:p>
        </p:txBody>
      </p:sp>
      <p:sp>
        <p:nvSpPr>
          <p:cNvPr id="14" name="TextBox 13"/>
          <p:cNvSpPr txBox="1"/>
          <p:nvPr/>
        </p:nvSpPr>
        <p:spPr>
          <a:xfrm>
            <a:off x="6403726" y="22494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20</a:t>
            </a:r>
          </a:p>
        </p:txBody>
      </p:sp>
      <p:sp>
        <p:nvSpPr>
          <p:cNvPr id="15" name="TextBox 14"/>
          <p:cNvSpPr txBox="1"/>
          <p:nvPr/>
        </p:nvSpPr>
        <p:spPr>
          <a:xfrm>
            <a:off x="8119689" y="22494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12</a:t>
            </a:r>
          </a:p>
        </p:txBody>
      </p:sp>
      <p:sp>
        <p:nvSpPr>
          <p:cNvPr id="16" name="TextBox 15"/>
          <p:cNvSpPr txBox="1"/>
          <p:nvPr/>
        </p:nvSpPr>
        <p:spPr>
          <a:xfrm>
            <a:off x="9835652" y="22494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390 to 400</a:t>
            </a:r>
          </a:p>
        </p:txBody>
      </p:sp>
      <p:cxnSp>
        <p:nvCxnSpPr>
          <p:cNvPr id="17" name="Connector 16"/>
          <p:cNvCxnSpPr/>
          <p:nvPr/>
        </p:nvCxnSpPr>
        <p:spPr>
          <a:xfrm>
            <a:off x="640080" y="2697480"/>
            <a:ext cx="10911535" cy="0"/>
          </a:xfrm>
          <a:prstGeom prst="line">
            <a:avLst/>
          </a:prstGeom>
          <a:ln w="9525">
            <a:solidFill>
              <a:srgbClr val="CFD8C6"/>
            </a:solidFill>
          </a:ln>
        </p:spPr>
      </p:cxnSp>
      <p:sp>
        <p:nvSpPr>
          <p:cNvPr id="18" name="TextBox 17"/>
          <p:cNvSpPr txBox="1"/>
          <p:nvPr/>
        </p:nvSpPr>
        <p:spPr>
          <a:xfrm>
            <a:off x="640080" y="27066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Instalment</a:t>
            </a:r>
          </a:p>
        </p:txBody>
      </p:sp>
      <p:sp>
        <p:nvSpPr>
          <p:cNvPr id="19" name="TextBox 18"/>
          <p:cNvSpPr txBox="1"/>
          <p:nvPr/>
        </p:nvSpPr>
        <p:spPr>
          <a:xfrm>
            <a:off x="2971800" y="27066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Rs 2,000 to 10,000</a:t>
            </a:r>
          </a:p>
        </p:txBody>
      </p:sp>
      <p:sp>
        <p:nvSpPr>
          <p:cNvPr id="20" name="TextBox 19"/>
          <p:cNvSpPr txBox="1"/>
          <p:nvPr/>
        </p:nvSpPr>
        <p:spPr>
          <a:xfrm>
            <a:off x="4687763" y="27066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Rs 10,000</a:t>
            </a:r>
          </a:p>
        </p:txBody>
      </p:sp>
      <p:sp>
        <p:nvSpPr>
          <p:cNvPr id="21" name="TextBox 20"/>
          <p:cNvSpPr txBox="1"/>
          <p:nvPr/>
        </p:nvSpPr>
        <p:spPr>
          <a:xfrm>
            <a:off x="6403726" y="27066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Rs 25,000</a:t>
            </a:r>
          </a:p>
        </p:txBody>
      </p:sp>
      <p:sp>
        <p:nvSpPr>
          <p:cNvPr id="22" name="TextBox 21"/>
          <p:cNvSpPr txBox="1"/>
          <p:nvPr/>
        </p:nvSpPr>
        <p:spPr>
          <a:xfrm>
            <a:off x="8119689" y="27066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Rs 10,000</a:t>
            </a:r>
          </a:p>
        </p:txBody>
      </p:sp>
      <p:sp>
        <p:nvSpPr>
          <p:cNvPr id="23" name="TextBox 22"/>
          <p:cNvSpPr txBox="1"/>
          <p:nvPr/>
        </p:nvSpPr>
        <p:spPr>
          <a:xfrm>
            <a:off x="9835652" y="27066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Rs 450 to 500</a:t>
            </a:r>
          </a:p>
        </p:txBody>
      </p:sp>
      <p:cxnSp>
        <p:nvCxnSpPr>
          <p:cNvPr id="24" name="Connector 23"/>
          <p:cNvCxnSpPr/>
          <p:nvPr/>
        </p:nvCxnSpPr>
        <p:spPr>
          <a:xfrm>
            <a:off x="640080" y="3154680"/>
            <a:ext cx="10911535" cy="0"/>
          </a:xfrm>
          <a:prstGeom prst="line">
            <a:avLst/>
          </a:prstGeom>
          <a:ln w="9525">
            <a:solidFill>
              <a:srgbClr val="CFD8C6"/>
            </a:solidFill>
          </a:ln>
        </p:spPr>
      </p:cxnSp>
      <p:sp>
        <p:nvSpPr>
          <p:cNvPr id="25" name="TextBox 24"/>
          <p:cNvSpPr txBox="1"/>
          <p:nvPr/>
        </p:nvSpPr>
        <p:spPr>
          <a:xfrm>
            <a:off x="640080" y="31638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How often</a:t>
            </a:r>
          </a:p>
        </p:txBody>
      </p:sp>
      <p:sp>
        <p:nvSpPr>
          <p:cNvPr id="26" name="TextBox 25"/>
          <p:cNvSpPr txBox="1"/>
          <p:nvPr/>
        </p:nvSpPr>
        <p:spPr>
          <a:xfrm>
            <a:off x="2971800" y="31638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Monthly or weekly</a:t>
            </a:r>
          </a:p>
        </p:txBody>
      </p:sp>
      <p:sp>
        <p:nvSpPr>
          <p:cNvPr id="27" name="TextBox 26"/>
          <p:cNvSpPr txBox="1"/>
          <p:nvPr/>
        </p:nvSpPr>
        <p:spPr>
          <a:xfrm>
            <a:off x="4687763" y="31638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Monthly</a:t>
            </a:r>
          </a:p>
        </p:txBody>
      </p:sp>
      <p:sp>
        <p:nvSpPr>
          <p:cNvPr id="28" name="TextBox 27"/>
          <p:cNvSpPr txBox="1"/>
          <p:nvPr/>
        </p:nvSpPr>
        <p:spPr>
          <a:xfrm>
            <a:off x="6403726" y="31638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Monthly</a:t>
            </a:r>
          </a:p>
        </p:txBody>
      </p:sp>
      <p:sp>
        <p:nvSpPr>
          <p:cNvPr id="29" name="TextBox 28"/>
          <p:cNvSpPr txBox="1"/>
          <p:nvPr/>
        </p:nvSpPr>
        <p:spPr>
          <a:xfrm>
            <a:off x="8119689" y="31638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Monthly</a:t>
            </a:r>
          </a:p>
        </p:txBody>
      </p:sp>
      <p:sp>
        <p:nvSpPr>
          <p:cNvPr id="30" name="TextBox 29"/>
          <p:cNvSpPr txBox="1"/>
          <p:nvPr/>
        </p:nvSpPr>
        <p:spPr>
          <a:xfrm>
            <a:off x="9835652" y="3163824"/>
            <a:ext cx="1670243" cy="438912"/>
          </a:xfrm>
          <a:prstGeom prst="rect">
            <a:avLst/>
          </a:prstGeom>
          <a:noFill/>
        </p:spPr>
        <p:txBody>
          <a:bodyPr wrap="square" lIns="0" tIns="0" rIns="0" bIns="0" anchor="ctr">
            <a:spAutoFit/>
          </a:bodyPr>
          <a:lstStyle/>
          <a:p>
            <a:pPr algn="ctr">
              <a:lnSpc>
                <a:spcPct val="105000"/>
              </a:lnSpc>
            </a:pPr>
            <a:r>
              <a:rPr sz="1350">
                <a:solidFill>
                  <a:srgbClr val="0C1408"/>
                </a:solidFill>
                <a:latin typeface="Arial"/>
              </a:rPr>
              <a:t>Daily</a:t>
            </a:r>
          </a:p>
        </p:txBody>
      </p:sp>
      <p:cxnSp>
        <p:nvCxnSpPr>
          <p:cNvPr id="31" name="Connector 30"/>
          <p:cNvCxnSpPr/>
          <p:nvPr/>
        </p:nvCxnSpPr>
        <p:spPr>
          <a:xfrm>
            <a:off x="640080" y="3611880"/>
            <a:ext cx="10911535" cy="0"/>
          </a:xfrm>
          <a:prstGeom prst="line">
            <a:avLst/>
          </a:prstGeom>
          <a:ln w="9525">
            <a:solidFill>
              <a:srgbClr val="CFD8C6"/>
            </a:solidFill>
          </a:ln>
        </p:spPr>
      </p:cxnSp>
      <p:sp>
        <p:nvSpPr>
          <p:cNvPr id="32" name="TextBox 31"/>
          <p:cNvSpPr txBox="1"/>
          <p:nvPr/>
        </p:nvSpPr>
        <p:spPr>
          <a:xfrm>
            <a:off x="640080" y="36210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Income checked</a:t>
            </a:r>
          </a:p>
        </p:txBody>
      </p:sp>
      <p:sp>
        <p:nvSpPr>
          <p:cNvPr id="33" name="Oval 32"/>
          <p:cNvSpPr/>
          <p:nvPr/>
        </p:nvSpPr>
        <p:spPr>
          <a:xfrm>
            <a:off x="3729198" y="3739896"/>
            <a:ext cx="201168" cy="201168"/>
          </a:xfrm>
          <a:prstGeom prst="ellipse">
            <a:avLst/>
          </a:prstGeom>
          <a:solidFill>
            <a:srgbClr val="FFFFFF"/>
          </a:solidFill>
          <a:ln w="15875">
            <a:solidFill>
              <a:srgbClr val="41801A"/>
            </a:solidFill>
          </a:ln>
        </p:spPr>
        <p:txBody>
          <a:bodyPr rtlCol="0" anchor="ctr"/>
          <a:lstStyle/>
          <a:p>
            <a:pPr algn="ctr"/>
          </a:p>
        </p:txBody>
      </p:sp>
      <p:sp>
        <p:nvSpPr>
          <p:cNvPr id="34" name="Oval 33"/>
          <p:cNvSpPr/>
          <p:nvPr/>
        </p:nvSpPr>
        <p:spPr>
          <a:xfrm>
            <a:off x="5445161" y="3739896"/>
            <a:ext cx="201168" cy="201168"/>
          </a:xfrm>
          <a:prstGeom prst="ellipse">
            <a:avLst/>
          </a:prstGeom>
          <a:solidFill>
            <a:srgbClr val="41801A"/>
          </a:solidFill>
          <a:ln w="15875">
            <a:solidFill>
              <a:srgbClr val="41801A"/>
            </a:solidFill>
          </a:ln>
        </p:spPr>
        <p:txBody>
          <a:bodyPr rtlCol="0" anchor="ctr"/>
          <a:lstStyle/>
          <a:p>
            <a:pPr algn="ctr"/>
          </a:p>
        </p:txBody>
      </p:sp>
      <p:sp>
        <p:nvSpPr>
          <p:cNvPr id="35" name="Oval 34"/>
          <p:cNvSpPr/>
          <p:nvPr/>
        </p:nvSpPr>
        <p:spPr>
          <a:xfrm>
            <a:off x="7161124" y="3739896"/>
            <a:ext cx="201168" cy="201168"/>
          </a:xfrm>
          <a:prstGeom prst="ellipse">
            <a:avLst/>
          </a:prstGeom>
          <a:solidFill>
            <a:srgbClr val="41801A"/>
          </a:solidFill>
          <a:ln w="15875">
            <a:solidFill>
              <a:srgbClr val="41801A"/>
            </a:solidFill>
          </a:ln>
        </p:spPr>
        <p:txBody>
          <a:bodyPr rtlCol="0" anchor="ctr"/>
          <a:lstStyle/>
          <a:p>
            <a:pPr algn="ctr"/>
          </a:p>
        </p:txBody>
      </p:sp>
      <p:sp>
        <p:nvSpPr>
          <p:cNvPr id="36" name="Oval 35"/>
          <p:cNvSpPr/>
          <p:nvPr/>
        </p:nvSpPr>
        <p:spPr>
          <a:xfrm>
            <a:off x="8877087" y="3739896"/>
            <a:ext cx="201168" cy="201168"/>
          </a:xfrm>
          <a:prstGeom prst="ellipse">
            <a:avLst/>
          </a:prstGeom>
          <a:solidFill>
            <a:srgbClr val="41801A"/>
          </a:solidFill>
          <a:ln w="15875">
            <a:solidFill>
              <a:srgbClr val="41801A"/>
            </a:solidFill>
          </a:ln>
        </p:spPr>
        <p:txBody>
          <a:bodyPr rtlCol="0" anchor="ctr"/>
          <a:lstStyle/>
          <a:p>
            <a:pPr algn="ctr"/>
          </a:p>
        </p:txBody>
      </p:sp>
      <p:sp>
        <p:nvSpPr>
          <p:cNvPr id="37" name="Oval 36"/>
          <p:cNvSpPr/>
          <p:nvPr/>
        </p:nvSpPr>
        <p:spPr>
          <a:xfrm>
            <a:off x="10593050" y="3739896"/>
            <a:ext cx="201168" cy="201168"/>
          </a:xfrm>
          <a:prstGeom prst="ellipse">
            <a:avLst/>
          </a:prstGeom>
          <a:solidFill>
            <a:srgbClr val="41801A"/>
          </a:solidFill>
          <a:ln w="15875">
            <a:solidFill>
              <a:srgbClr val="41801A"/>
            </a:solidFill>
          </a:ln>
        </p:spPr>
        <p:txBody>
          <a:bodyPr rtlCol="0" anchor="ctr"/>
          <a:lstStyle/>
          <a:p>
            <a:pPr algn="ctr"/>
          </a:p>
        </p:txBody>
      </p:sp>
      <p:cxnSp>
        <p:nvCxnSpPr>
          <p:cNvPr id="38" name="Connector 37"/>
          <p:cNvCxnSpPr/>
          <p:nvPr/>
        </p:nvCxnSpPr>
        <p:spPr>
          <a:xfrm>
            <a:off x="640080" y="4069080"/>
            <a:ext cx="10911535" cy="0"/>
          </a:xfrm>
          <a:prstGeom prst="line">
            <a:avLst/>
          </a:prstGeom>
          <a:ln w="9525">
            <a:solidFill>
              <a:srgbClr val="CFD8C6"/>
            </a:solidFill>
          </a:ln>
        </p:spPr>
      </p:cxnSp>
      <p:sp>
        <p:nvSpPr>
          <p:cNvPr id="39" name="TextBox 38"/>
          <p:cNvSpPr txBox="1"/>
          <p:nvPr/>
        </p:nvSpPr>
        <p:spPr>
          <a:xfrm>
            <a:off x="640080" y="40782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Automatic debit</a:t>
            </a:r>
          </a:p>
        </p:txBody>
      </p:sp>
      <p:sp>
        <p:nvSpPr>
          <p:cNvPr id="40" name="Oval 39"/>
          <p:cNvSpPr/>
          <p:nvPr/>
        </p:nvSpPr>
        <p:spPr>
          <a:xfrm>
            <a:off x="3729198" y="4197096"/>
            <a:ext cx="201168" cy="201168"/>
          </a:xfrm>
          <a:prstGeom prst="ellipse">
            <a:avLst/>
          </a:prstGeom>
          <a:solidFill>
            <a:srgbClr val="FFFFFF"/>
          </a:solidFill>
          <a:ln w="15875">
            <a:solidFill>
              <a:srgbClr val="41801A"/>
            </a:solidFill>
          </a:ln>
        </p:spPr>
        <p:txBody>
          <a:bodyPr rtlCol="0" anchor="ctr"/>
          <a:lstStyle/>
          <a:p>
            <a:pPr algn="ctr"/>
          </a:p>
        </p:txBody>
      </p:sp>
      <p:sp>
        <p:nvSpPr>
          <p:cNvPr id="41" name="Oval 40"/>
          <p:cNvSpPr/>
          <p:nvPr/>
        </p:nvSpPr>
        <p:spPr>
          <a:xfrm>
            <a:off x="5445161" y="4197096"/>
            <a:ext cx="201168" cy="201168"/>
          </a:xfrm>
          <a:prstGeom prst="ellipse">
            <a:avLst/>
          </a:prstGeom>
          <a:solidFill>
            <a:srgbClr val="41801A"/>
          </a:solidFill>
          <a:ln w="15875">
            <a:solidFill>
              <a:srgbClr val="41801A"/>
            </a:solidFill>
          </a:ln>
        </p:spPr>
        <p:txBody>
          <a:bodyPr rtlCol="0" anchor="ctr"/>
          <a:lstStyle/>
          <a:p>
            <a:pPr algn="ctr"/>
          </a:p>
        </p:txBody>
      </p:sp>
      <p:sp>
        <p:nvSpPr>
          <p:cNvPr id="42" name="Oval 41"/>
          <p:cNvSpPr/>
          <p:nvPr/>
        </p:nvSpPr>
        <p:spPr>
          <a:xfrm>
            <a:off x="7161124" y="4197096"/>
            <a:ext cx="201168" cy="201168"/>
          </a:xfrm>
          <a:prstGeom prst="ellipse">
            <a:avLst/>
          </a:prstGeom>
          <a:solidFill>
            <a:srgbClr val="41801A"/>
          </a:solidFill>
          <a:ln w="15875">
            <a:solidFill>
              <a:srgbClr val="41801A"/>
            </a:solidFill>
          </a:ln>
        </p:spPr>
        <p:txBody>
          <a:bodyPr rtlCol="0" anchor="ctr"/>
          <a:lstStyle/>
          <a:p>
            <a:pPr algn="ctr"/>
          </a:p>
        </p:txBody>
      </p:sp>
      <p:sp>
        <p:nvSpPr>
          <p:cNvPr id="43" name="Oval 42"/>
          <p:cNvSpPr/>
          <p:nvPr/>
        </p:nvSpPr>
        <p:spPr>
          <a:xfrm>
            <a:off x="8877087" y="4197096"/>
            <a:ext cx="201168" cy="201168"/>
          </a:xfrm>
          <a:prstGeom prst="ellipse">
            <a:avLst/>
          </a:prstGeom>
          <a:solidFill>
            <a:srgbClr val="41801A"/>
          </a:solidFill>
          <a:ln w="15875">
            <a:solidFill>
              <a:srgbClr val="41801A"/>
            </a:solidFill>
          </a:ln>
        </p:spPr>
        <p:txBody>
          <a:bodyPr rtlCol="0" anchor="ctr"/>
          <a:lstStyle/>
          <a:p>
            <a:pPr algn="ctr"/>
          </a:p>
        </p:txBody>
      </p:sp>
      <p:sp>
        <p:nvSpPr>
          <p:cNvPr id="44" name="Oval 43"/>
          <p:cNvSpPr/>
          <p:nvPr/>
        </p:nvSpPr>
        <p:spPr>
          <a:xfrm>
            <a:off x="10593050" y="4197096"/>
            <a:ext cx="201168" cy="201168"/>
          </a:xfrm>
          <a:prstGeom prst="ellipse">
            <a:avLst/>
          </a:prstGeom>
          <a:solidFill>
            <a:srgbClr val="41801A"/>
          </a:solidFill>
          <a:ln w="15875">
            <a:solidFill>
              <a:srgbClr val="41801A"/>
            </a:solidFill>
          </a:ln>
        </p:spPr>
        <p:txBody>
          <a:bodyPr rtlCol="0" anchor="ctr"/>
          <a:lstStyle/>
          <a:p>
            <a:pPr algn="ctr"/>
          </a:p>
        </p:txBody>
      </p:sp>
      <p:cxnSp>
        <p:nvCxnSpPr>
          <p:cNvPr id="45" name="Connector 44"/>
          <p:cNvCxnSpPr/>
          <p:nvPr/>
        </p:nvCxnSpPr>
        <p:spPr>
          <a:xfrm>
            <a:off x="640080" y="4526280"/>
            <a:ext cx="10911535" cy="0"/>
          </a:xfrm>
          <a:prstGeom prst="line">
            <a:avLst/>
          </a:prstGeom>
          <a:ln w="9525">
            <a:solidFill>
              <a:srgbClr val="CFD8C6"/>
            </a:solidFill>
          </a:ln>
        </p:spPr>
      </p:cxnSp>
      <p:sp>
        <p:nvSpPr>
          <p:cNvPr id="46" name="TextBox 45"/>
          <p:cNvSpPr txBox="1"/>
          <p:nvPr/>
        </p:nvSpPr>
        <p:spPr>
          <a:xfrm>
            <a:off x="640080" y="45354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Takaful cover</a:t>
            </a:r>
          </a:p>
        </p:txBody>
      </p:sp>
      <p:sp>
        <p:nvSpPr>
          <p:cNvPr id="47" name="Oval 46"/>
          <p:cNvSpPr/>
          <p:nvPr/>
        </p:nvSpPr>
        <p:spPr>
          <a:xfrm>
            <a:off x="3729198" y="4654296"/>
            <a:ext cx="201168" cy="201168"/>
          </a:xfrm>
          <a:prstGeom prst="ellipse">
            <a:avLst/>
          </a:prstGeom>
          <a:solidFill>
            <a:srgbClr val="FFFFFF"/>
          </a:solidFill>
          <a:ln w="15875">
            <a:solidFill>
              <a:srgbClr val="41801A"/>
            </a:solidFill>
          </a:ln>
        </p:spPr>
        <p:txBody>
          <a:bodyPr rtlCol="0" anchor="ctr"/>
          <a:lstStyle/>
          <a:p>
            <a:pPr algn="ctr"/>
          </a:p>
        </p:txBody>
      </p:sp>
      <p:sp>
        <p:nvSpPr>
          <p:cNvPr id="48" name="Oval 47"/>
          <p:cNvSpPr/>
          <p:nvPr/>
        </p:nvSpPr>
        <p:spPr>
          <a:xfrm>
            <a:off x="5445161" y="4654296"/>
            <a:ext cx="201168" cy="201168"/>
          </a:xfrm>
          <a:prstGeom prst="ellipse">
            <a:avLst/>
          </a:prstGeom>
          <a:solidFill>
            <a:srgbClr val="41801A"/>
          </a:solidFill>
          <a:ln w="15875">
            <a:solidFill>
              <a:srgbClr val="41801A"/>
            </a:solidFill>
          </a:ln>
        </p:spPr>
        <p:txBody>
          <a:bodyPr rtlCol="0" anchor="ctr"/>
          <a:lstStyle/>
          <a:p>
            <a:pPr algn="ctr"/>
          </a:p>
        </p:txBody>
      </p:sp>
      <p:sp>
        <p:nvSpPr>
          <p:cNvPr id="49" name="Oval 48"/>
          <p:cNvSpPr/>
          <p:nvPr/>
        </p:nvSpPr>
        <p:spPr>
          <a:xfrm>
            <a:off x="7161124" y="4654296"/>
            <a:ext cx="201168" cy="201168"/>
          </a:xfrm>
          <a:prstGeom prst="ellipse">
            <a:avLst/>
          </a:prstGeom>
          <a:solidFill>
            <a:srgbClr val="41801A"/>
          </a:solidFill>
          <a:ln w="15875">
            <a:solidFill>
              <a:srgbClr val="41801A"/>
            </a:solidFill>
          </a:ln>
        </p:spPr>
        <p:txBody>
          <a:bodyPr rtlCol="0" anchor="ctr"/>
          <a:lstStyle/>
          <a:p>
            <a:pPr algn="ctr"/>
          </a:p>
        </p:txBody>
      </p:sp>
      <p:sp>
        <p:nvSpPr>
          <p:cNvPr id="50" name="Oval 49"/>
          <p:cNvSpPr/>
          <p:nvPr/>
        </p:nvSpPr>
        <p:spPr>
          <a:xfrm>
            <a:off x="8877087" y="4654296"/>
            <a:ext cx="201168" cy="201168"/>
          </a:xfrm>
          <a:prstGeom prst="ellipse">
            <a:avLst/>
          </a:prstGeom>
          <a:solidFill>
            <a:srgbClr val="41801A"/>
          </a:solidFill>
          <a:ln w="15875">
            <a:solidFill>
              <a:srgbClr val="41801A"/>
            </a:solidFill>
          </a:ln>
        </p:spPr>
        <p:txBody>
          <a:bodyPr rtlCol="0" anchor="ctr"/>
          <a:lstStyle/>
          <a:p>
            <a:pPr algn="ctr"/>
          </a:p>
        </p:txBody>
      </p:sp>
      <p:sp>
        <p:nvSpPr>
          <p:cNvPr id="51" name="Oval 50"/>
          <p:cNvSpPr/>
          <p:nvPr/>
        </p:nvSpPr>
        <p:spPr>
          <a:xfrm>
            <a:off x="10593050" y="4654296"/>
            <a:ext cx="201168" cy="201168"/>
          </a:xfrm>
          <a:prstGeom prst="ellipse">
            <a:avLst/>
          </a:prstGeom>
          <a:solidFill>
            <a:srgbClr val="41801A"/>
          </a:solidFill>
          <a:ln w="15875">
            <a:solidFill>
              <a:srgbClr val="41801A"/>
            </a:solidFill>
          </a:ln>
        </p:spPr>
        <p:txBody>
          <a:bodyPr rtlCol="0" anchor="ctr"/>
          <a:lstStyle/>
          <a:p>
            <a:pPr algn="ctr"/>
          </a:p>
        </p:txBody>
      </p:sp>
      <p:cxnSp>
        <p:nvCxnSpPr>
          <p:cNvPr id="52" name="Connector 51"/>
          <p:cNvCxnSpPr/>
          <p:nvPr/>
        </p:nvCxnSpPr>
        <p:spPr>
          <a:xfrm>
            <a:off x="640080" y="4983480"/>
            <a:ext cx="10911535" cy="0"/>
          </a:xfrm>
          <a:prstGeom prst="line">
            <a:avLst/>
          </a:prstGeom>
          <a:ln w="9525">
            <a:solidFill>
              <a:srgbClr val="CFD8C6"/>
            </a:solidFill>
          </a:ln>
        </p:spPr>
      </p:cxnSp>
      <p:sp>
        <p:nvSpPr>
          <p:cNvPr id="53" name="TextBox 52"/>
          <p:cNvSpPr txBox="1"/>
          <p:nvPr/>
        </p:nvSpPr>
        <p:spPr>
          <a:xfrm>
            <a:off x="640080" y="4992624"/>
            <a:ext cx="2240280" cy="438912"/>
          </a:xfrm>
          <a:prstGeom prst="rect">
            <a:avLst/>
          </a:prstGeom>
          <a:noFill/>
        </p:spPr>
        <p:txBody>
          <a:bodyPr wrap="square" lIns="0" tIns="0" rIns="0" bIns="0" anchor="ctr">
            <a:spAutoFit/>
          </a:bodyPr>
          <a:lstStyle/>
          <a:p>
            <a:pPr>
              <a:lnSpc>
                <a:spcPct val="105000"/>
              </a:lnSpc>
            </a:pPr>
            <a:r>
              <a:rPr sz="1450">
                <a:solidFill>
                  <a:srgbClr val="0C1408"/>
                </a:solidFill>
                <a:latin typeface="Arial"/>
              </a:rPr>
              <a:t>Credit report read</a:t>
            </a:r>
          </a:p>
        </p:txBody>
      </p:sp>
      <p:sp>
        <p:nvSpPr>
          <p:cNvPr id="54" name="Oval 53"/>
          <p:cNvSpPr/>
          <p:nvPr/>
        </p:nvSpPr>
        <p:spPr>
          <a:xfrm>
            <a:off x="3729198" y="5111496"/>
            <a:ext cx="201168" cy="201168"/>
          </a:xfrm>
          <a:prstGeom prst="ellipse">
            <a:avLst/>
          </a:prstGeom>
          <a:solidFill>
            <a:srgbClr val="FFFFFF"/>
          </a:solidFill>
          <a:ln w="15875">
            <a:solidFill>
              <a:srgbClr val="41801A"/>
            </a:solidFill>
          </a:ln>
        </p:spPr>
        <p:txBody>
          <a:bodyPr rtlCol="0" anchor="ctr"/>
          <a:lstStyle/>
          <a:p>
            <a:pPr algn="ctr"/>
          </a:p>
        </p:txBody>
      </p:sp>
      <p:sp>
        <p:nvSpPr>
          <p:cNvPr id="55" name="Oval 54"/>
          <p:cNvSpPr/>
          <p:nvPr/>
        </p:nvSpPr>
        <p:spPr>
          <a:xfrm>
            <a:off x="5445161" y="5111496"/>
            <a:ext cx="201168" cy="201168"/>
          </a:xfrm>
          <a:prstGeom prst="ellipse">
            <a:avLst/>
          </a:prstGeom>
          <a:solidFill>
            <a:srgbClr val="41801A"/>
          </a:solidFill>
          <a:ln w="15875">
            <a:solidFill>
              <a:srgbClr val="41801A"/>
            </a:solidFill>
          </a:ln>
        </p:spPr>
        <p:txBody>
          <a:bodyPr rtlCol="0" anchor="ctr"/>
          <a:lstStyle/>
          <a:p>
            <a:pPr algn="ctr"/>
          </a:p>
        </p:txBody>
      </p:sp>
      <p:sp>
        <p:nvSpPr>
          <p:cNvPr id="56" name="Oval 55"/>
          <p:cNvSpPr/>
          <p:nvPr/>
        </p:nvSpPr>
        <p:spPr>
          <a:xfrm>
            <a:off x="7161124" y="5111496"/>
            <a:ext cx="201168" cy="201168"/>
          </a:xfrm>
          <a:prstGeom prst="ellipse">
            <a:avLst/>
          </a:prstGeom>
          <a:solidFill>
            <a:srgbClr val="41801A"/>
          </a:solidFill>
          <a:ln w="15875">
            <a:solidFill>
              <a:srgbClr val="41801A"/>
            </a:solidFill>
          </a:ln>
        </p:spPr>
        <p:txBody>
          <a:bodyPr rtlCol="0" anchor="ctr"/>
          <a:lstStyle/>
          <a:p>
            <a:pPr algn="ctr"/>
          </a:p>
        </p:txBody>
      </p:sp>
      <p:sp>
        <p:nvSpPr>
          <p:cNvPr id="57" name="Oval 56"/>
          <p:cNvSpPr/>
          <p:nvPr/>
        </p:nvSpPr>
        <p:spPr>
          <a:xfrm>
            <a:off x="8877087" y="5111496"/>
            <a:ext cx="201168" cy="201168"/>
          </a:xfrm>
          <a:prstGeom prst="ellipse">
            <a:avLst/>
          </a:prstGeom>
          <a:solidFill>
            <a:srgbClr val="41801A"/>
          </a:solidFill>
          <a:ln w="15875">
            <a:solidFill>
              <a:srgbClr val="41801A"/>
            </a:solidFill>
          </a:ln>
        </p:spPr>
        <p:txBody>
          <a:bodyPr rtlCol="0" anchor="ctr"/>
          <a:lstStyle/>
          <a:p>
            <a:pPr algn="ctr"/>
          </a:p>
        </p:txBody>
      </p:sp>
      <p:sp>
        <p:nvSpPr>
          <p:cNvPr id="58" name="Oval 57"/>
          <p:cNvSpPr/>
          <p:nvPr/>
        </p:nvSpPr>
        <p:spPr>
          <a:xfrm>
            <a:off x="10593050" y="5111496"/>
            <a:ext cx="201168" cy="201168"/>
          </a:xfrm>
          <a:prstGeom prst="ellipse">
            <a:avLst/>
          </a:prstGeom>
          <a:solidFill>
            <a:srgbClr val="41801A"/>
          </a:solidFill>
          <a:ln w="15875">
            <a:solidFill>
              <a:srgbClr val="41801A"/>
            </a:solidFill>
          </a:ln>
        </p:spPr>
        <p:txBody>
          <a:bodyPr rtlCol="0" anchor="ctr"/>
          <a:lstStyle/>
          <a:p>
            <a:pPr algn="ctr"/>
          </a:p>
        </p:txBody>
      </p:sp>
      <p:cxnSp>
        <p:nvCxnSpPr>
          <p:cNvPr id="59" name="Connector 58"/>
          <p:cNvCxnSpPr/>
          <p:nvPr/>
        </p:nvCxnSpPr>
        <p:spPr>
          <a:xfrm>
            <a:off x="640080" y="5440680"/>
            <a:ext cx="10911535" cy="0"/>
          </a:xfrm>
          <a:prstGeom prst="line">
            <a:avLst/>
          </a:prstGeom>
          <a:ln w="9525">
            <a:solidFill>
              <a:srgbClr val="CFD8C6"/>
            </a:solidFill>
          </a:ln>
        </p:spPr>
      </p:cxnSp>
      <p:sp>
        <p:nvSpPr>
          <p:cNvPr id="60" name="Oval 59"/>
          <p:cNvSpPr/>
          <p:nvPr/>
        </p:nvSpPr>
        <p:spPr>
          <a:xfrm>
            <a:off x="649224" y="5614416"/>
            <a:ext cx="164592" cy="164592"/>
          </a:xfrm>
          <a:prstGeom prst="ellipse">
            <a:avLst/>
          </a:prstGeom>
          <a:solidFill>
            <a:srgbClr val="41801A"/>
          </a:solidFill>
          <a:ln w="15875">
            <a:solidFill>
              <a:srgbClr val="41801A"/>
            </a:solidFill>
          </a:ln>
        </p:spPr>
        <p:txBody>
          <a:bodyPr rtlCol="0" anchor="ctr"/>
          <a:lstStyle/>
          <a:p>
            <a:pPr algn="ctr"/>
          </a:p>
        </p:txBody>
      </p:sp>
      <p:sp>
        <p:nvSpPr>
          <p:cNvPr id="61" name="TextBox 60"/>
          <p:cNvSpPr txBox="1"/>
          <p:nvPr/>
        </p:nvSpPr>
        <p:spPr>
          <a:xfrm>
            <a:off x="896112" y="5577840"/>
            <a:ext cx="1280160" cy="237744"/>
          </a:xfrm>
          <a:prstGeom prst="rect">
            <a:avLst/>
          </a:prstGeom>
          <a:noFill/>
        </p:spPr>
        <p:txBody>
          <a:bodyPr wrap="square" lIns="0" tIns="0" rIns="0" bIns="0">
            <a:spAutoFit/>
          </a:bodyPr>
          <a:lstStyle/>
          <a:p>
            <a:pPr>
              <a:lnSpc>
                <a:spcPct val="105000"/>
              </a:lnSpc>
            </a:pPr>
            <a:r>
              <a:rPr sz="1200">
                <a:solidFill>
                  <a:srgbClr val="5F6B58"/>
                </a:solidFill>
                <a:latin typeface="Arial"/>
              </a:rPr>
              <a:t>required</a:t>
            </a:r>
          </a:p>
        </p:txBody>
      </p:sp>
      <p:sp>
        <p:nvSpPr>
          <p:cNvPr id="62" name="Oval 61"/>
          <p:cNvSpPr/>
          <p:nvPr/>
        </p:nvSpPr>
        <p:spPr>
          <a:xfrm>
            <a:off x="1883664" y="5614416"/>
            <a:ext cx="164592" cy="164592"/>
          </a:xfrm>
          <a:prstGeom prst="ellipse">
            <a:avLst/>
          </a:prstGeom>
          <a:solidFill>
            <a:srgbClr val="FFFFFF"/>
          </a:solidFill>
          <a:ln w="15875">
            <a:solidFill>
              <a:srgbClr val="41801A"/>
            </a:solidFill>
          </a:ln>
        </p:spPr>
        <p:txBody>
          <a:bodyPr rtlCol="0" anchor="ctr"/>
          <a:lstStyle/>
          <a:p>
            <a:pPr algn="ctr"/>
          </a:p>
        </p:txBody>
      </p:sp>
      <p:sp>
        <p:nvSpPr>
          <p:cNvPr id="63" name="TextBox 62"/>
          <p:cNvSpPr txBox="1"/>
          <p:nvPr/>
        </p:nvSpPr>
        <p:spPr>
          <a:xfrm>
            <a:off x="2130552" y="5577840"/>
            <a:ext cx="1463040" cy="237744"/>
          </a:xfrm>
          <a:prstGeom prst="rect">
            <a:avLst/>
          </a:prstGeom>
          <a:noFill/>
        </p:spPr>
        <p:txBody>
          <a:bodyPr wrap="square" lIns="0" tIns="0" rIns="0" bIns="0">
            <a:spAutoFit/>
          </a:bodyPr>
          <a:lstStyle/>
          <a:p>
            <a:pPr>
              <a:lnSpc>
                <a:spcPct val="105000"/>
              </a:lnSpc>
            </a:pPr>
            <a:r>
              <a:rPr sz="1200">
                <a:solidFill>
                  <a:srgbClr val="5F6B58"/>
                </a:solidFill>
                <a:latin typeface="Arial"/>
              </a:rPr>
              <a:t>not required</a:t>
            </a:r>
          </a:p>
        </p:txBody>
      </p:sp>
      <p:sp>
        <p:nvSpPr>
          <p:cNvPr id="64" name="TextBox 63"/>
          <p:cNvSpPr txBox="1"/>
          <p:nvPr/>
        </p:nvSpPr>
        <p:spPr>
          <a:xfrm>
            <a:off x="3474720" y="5577840"/>
            <a:ext cx="8076895" cy="237744"/>
          </a:xfrm>
          <a:prstGeom prst="rect">
            <a:avLst/>
          </a:prstGeom>
          <a:noFill/>
        </p:spPr>
        <p:txBody>
          <a:bodyPr wrap="square" lIns="0" tIns="0" rIns="0" bIns="0">
            <a:spAutoFit/>
          </a:bodyPr>
          <a:lstStyle/>
          <a:p>
            <a:pPr>
              <a:lnSpc>
                <a:spcPct val="105000"/>
              </a:lnSpc>
            </a:pPr>
            <a:r>
              <a:rPr sz="1200">
                <a:solidFill>
                  <a:srgbClr val="5F6B58"/>
                </a:solidFill>
                <a:latin typeface="Arial"/>
              </a:rPr>
              <a:t>Known: family, colleagues or neighbours.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All the risk sits in the early turns, so only proven members may take them.</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14</a:t>
            </a:r>
          </a:p>
        </p:txBody>
      </p:sp>
      <p:sp>
        <p:nvSpPr>
          <p:cNvPr id="5" name="TextBox 4"/>
          <p:cNvSpPr txBox="1"/>
          <p:nvPr/>
        </p:nvSpPr>
        <p:spPr>
          <a:xfrm>
            <a:off x="640080" y="1600200"/>
            <a:ext cx="7315200" cy="274320"/>
          </a:xfrm>
          <a:prstGeom prst="rect">
            <a:avLst/>
          </a:prstGeom>
          <a:noFill/>
        </p:spPr>
        <p:txBody>
          <a:bodyPr wrap="square" lIns="0" tIns="0" rIns="0" bIns="0">
            <a:spAutoFit/>
          </a:bodyPr>
          <a:lstStyle/>
          <a:p>
            <a:pPr>
              <a:lnSpc>
                <a:spcPct val="105000"/>
              </a:lnSpc>
            </a:pPr>
            <a:r>
              <a:rPr sz="1250" b="1">
                <a:solidFill>
                  <a:srgbClr val="0C1408"/>
                </a:solidFill>
                <a:latin typeface="Arial"/>
              </a:rPr>
              <a:t>Still owed after collecting, Rs thousand: circle of 12 at Rs 10,000</a:t>
            </a:r>
          </a:p>
        </p:txBody>
      </p:sp>
      <p:sp>
        <p:nvSpPr>
          <p:cNvPr id="6" name="Rectangle 5"/>
          <p:cNvSpPr/>
          <p:nvPr/>
        </p:nvSpPr>
        <p:spPr>
          <a:xfrm>
            <a:off x="813816" y="2331720"/>
            <a:ext cx="402336" cy="2560320"/>
          </a:xfrm>
          <a:prstGeom prst="rect">
            <a:avLst/>
          </a:prstGeom>
          <a:solidFill>
            <a:srgbClr val="41801A"/>
          </a:solidFill>
          <a:ln>
            <a:noFill/>
          </a:ln>
        </p:spPr>
        <p:txBody>
          <a:bodyPr rtlCol="0" anchor="ctr"/>
          <a:lstStyle/>
          <a:p>
            <a:pPr algn="ctr"/>
          </a:p>
        </p:txBody>
      </p:sp>
      <p:sp>
        <p:nvSpPr>
          <p:cNvPr id="7" name="TextBox 6"/>
          <p:cNvSpPr txBox="1"/>
          <p:nvPr/>
        </p:nvSpPr>
        <p:spPr>
          <a:xfrm>
            <a:off x="704088" y="2066544"/>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110</a:t>
            </a:r>
          </a:p>
        </p:txBody>
      </p:sp>
      <p:sp>
        <p:nvSpPr>
          <p:cNvPr id="8" name="TextBox 7"/>
          <p:cNvSpPr txBox="1"/>
          <p:nvPr/>
        </p:nvSpPr>
        <p:spPr>
          <a:xfrm>
            <a:off x="704088"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1</a:t>
            </a:r>
          </a:p>
        </p:txBody>
      </p:sp>
      <p:sp>
        <p:nvSpPr>
          <p:cNvPr id="9" name="Rectangle 8"/>
          <p:cNvSpPr/>
          <p:nvPr/>
        </p:nvSpPr>
        <p:spPr>
          <a:xfrm>
            <a:off x="1380744" y="2564476"/>
            <a:ext cx="402336" cy="2327564"/>
          </a:xfrm>
          <a:prstGeom prst="rect">
            <a:avLst/>
          </a:prstGeom>
          <a:solidFill>
            <a:srgbClr val="41801A"/>
          </a:solidFill>
          <a:ln>
            <a:noFill/>
          </a:ln>
        </p:spPr>
        <p:txBody>
          <a:bodyPr rtlCol="0" anchor="ctr"/>
          <a:lstStyle/>
          <a:p>
            <a:pPr algn="ctr"/>
          </a:p>
        </p:txBody>
      </p:sp>
      <p:sp>
        <p:nvSpPr>
          <p:cNvPr id="10" name="TextBox 9"/>
          <p:cNvSpPr txBox="1"/>
          <p:nvPr/>
        </p:nvSpPr>
        <p:spPr>
          <a:xfrm>
            <a:off x="1271016" y="2299300"/>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100</a:t>
            </a:r>
          </a:p>
        </p:txBody>
      </p:sp>
      <p:sp>
        <p:nvSpPr>
          <p:cNvPr id="11" name="TextBox 10"/>
          <p:cNvSpPr txBox="1"/>
          <p:nvPr/>
        </p:nvSpPr>
        <p:spPr>
          <a:xfrm>
            <a:off x="1271016"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2</a:t>
            </a:r>
          </a:p>
        </p:txBody>
      </p:sp>
      <p:sp>
        <p:nvSpPr>
          <p:cNvPr id="12" name="Rectangle 11"/>
          <p:cNvSpPr/>
          <p:nvPr/>
        </p:nvSpPr>
        <p:spPr>
          <a:xfrm>
            <a:off x="1947672" y="2797233"/>
            <a:ext cx="402336" cy="2094807"/>
          </a:xfrm>
          <a:prstGeom prst="rect">
            <a:avLst/>
          </a:prstGeom>
          <a:solidFill>
            <a:srgbClr val="41801A"/>
          </a:solidFill>
          <a:ln>
            <a:noFill/>
          </a:ln>
        </p:spPr>
        <p:txBody>
          <a:bodyPr rtlCol="0" anchor="ctr"/>
          <a:lstStyle/>
          <a:p>
            <a:pPr algn="ctr"/>
          </a:p>
        </p:txBody>
      </p:sp>
      <p:sp>
        <p:nvSpPr>
          <p:cNvPr id="13" name="TextBox 12"/>
          <p:cNvSpPr txBox="1"/>
          <p:nvPr/>
        </p:nvSpPr>
        <p:spPr>
          <a:xfrm>
            <a:off x="1837944" y="2532057"/>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90</a:t>
            </a:r>
          </a:p>
        </p:txBody>
      </p:sp>
      <p:sp>
        <p:nvSpPr>
          <p:cNvPr id="14" name="TextBox 13"/>
          <p:cNvSpPr txBox="1"/>
          <p:nvPr/>
        </p:nvSpPr>
        <p:spPr>
          <a:xfrm>
            <a:off x="1837944"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3</a:t>
            </a:r>
          </a:p>
        </p:txBody>
      </p:sp>
      <p:sp>
        <p:nvSpPr>
          <p:cNvPr id="15" name="Rectangle 14"/>
          <p:cNvSpPr/>
          <p:nvPr/>
        </p:nvSpPr>
        <p:spPr>
          <a:xfrm>
            <a:off x="2514600" y="3029989"/>
            <a:ext cx="402336" cy="1862051"/>
          </a:xfrm>
          <a:prstGeom prst="rect">
            <a:avLst/>
          </a:prstGeom>
          <a:solidFill>
            <a:srgbClr val="41801A"/>
          </a:solidFill>
          <a:ln>
            <a:noFill/>
          </a:ln>
        </p:spPr>
        <p:txBody>
          <a:bodyPr rtlCol="0" anchor="ctr"/>
          <a:lstStyle/>
          <a:p>
            <a:pPr algn="ctr"/>
          </a:p>
        </p:txBody>
      </p:sp>
      <p:sp>
        <p:nvSpPr>
          <p:cNvPr id="16" name="TextBox 15"/>
          <p:cNvSpPr txBox="1"/>
          <p:nvPr/>
        </p:nvSpPr>
        <p:spPr>
          <a:xfrm>
            <a:off x="2404872" y="2764813"/>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80</a:t>
            </a:r>
          </a:p>
        </p:txBody>
      </p:sp>
      <p:sp>
        <p:nvSpPr>
          <p:cNvPr id="17" name="TextBox 16"/>
          <p:cNvSpPr txBox="1"/>
          <p:nvPr/>
        </p:nvSpPr>
        <p:spPr>
          <a:xfrm>
            <a:off x="2404872"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4</a:t>
            </a:r>
          </a:p>
        </p:txBody>
      </p:sp>
      <p:sp>
        <p:nvSpPr>
          <p:cNvPr id="18" name="Rectangle 17"/>
          <p:cNvSpPr/>
          <p:nvPr/>
        </p:nvSpPr>
        <p:spPr>
          <a:xfrm>
            <a:off x="3081528" y="3262745"/>
            <a:ext cx="402336" cy="1629295"/>
          </a:xfrm>
          <a:prstGeom prst="rect">
            <a:avLst/>
          </a:prstGeom>
          <a:solidFill>
            <a:srgbClr val="41801A"/>
          </a:solidFill>
          <a:ln>
            <a:noFill/>
          </a:ln>
        </p:spPr>
        <p:txBody>
          <a:bodyPr rtlCol="0" anchor="ctr"/>
          <a:lstStyle/>
          <a:p>
            <a:pPr algn="ctr"/>
          </a:p>
        </p:txBody>
      </p:sp>
      <p:sp>
        <p:nvSpPr>
          <p:cNvPr id="19" name="TextBox 18"/>
          <p:cNvSpPr txBox="1"/>
          <p:nvPr/>
        </p:nvSpPr>
        <p:spPr>
          <a:xfrm>
            <a:off x="2971800" y="2997569"/>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70</a:t>
            </a:r>
          </a:p>
        </p:txBody>
      </p:sp>
      <p:sp>
        <p:nvSpPr>
          <p:cNvPr id="20" name="TextBox 19"/>
          <p:cNvSpPr txBox="1"/>
          <p:nvPr/>
        </p:nvSpPr>
        <p:spPr>
          <a:xfrm>
            <a:off x="2971800"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5</a:t>
            </a:r>
          </a:p>
        </p:txBody>
      </p:sp>
      <p:sp>
        <p:nvSpPr>
          <p:cNvPr id="21" name="Rectangle 20"/>
          <p:cNvSpPr/>
          <p:nvPr/>
        </p:nvSpPr>
        <p:spPr>
          <a:xfrm>
            <a:off x="3648456" y="3495502"/>
            <a:ext cx="402336" cy="1396538"/>
          </a:xfrm>
          <a:prstGeom prst="rect">
            <a:avLst/>
          </a:prstGeom>
          <a:solidFill>
            <a:srgbClr val="41801A"/>
          </a:solidFill>
          <a:ln>
            <a:noFill/>
          </a:ln>
        </p:spPr>
        <p:txBody>
          <a:bodyPr rtlCol="0" anchor="ctr"/>
          <a:lstStyle/>
          <a:p>
            <a:pPr algn="ctr"/>
          </a:p>
        </p:txBody>
      </p:sp>
      <p:sp>
        <p:nvSpPr>
          <p:cNvPr id="22" name="TextBox 21"/>
          <p:cNvSpPr txBox="1"/>
          <p:nvPr/>
        </p:nvSpPr>
        <p:spPr>
          <a:xfrm>
            <a:off x="3538728" y="3230326"/>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60</a:t>
            </a:r>
          </a:p>
        </p:txBody>
      </p:sp>
      <p:sp>
        <p:nvSpPr>
          <p:cNvPr id="23" name="TextBox 22"/>
          <p:cNvSpPr txBox="1"/>
          <p:nvPr/>
        </p:nvSpPr>
        <p:spPr>
          <a:xfrm>
            <a:off x="3538728"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6</a:t>
            </a:r>
          </a:p>
        </p:txBody>
      </p:sp>
      <p:sp>
        <p:nvSpPr>
          <p:cNvPr id="24" name="Rectangle 23"/>
          <p:cNvSpPr/>
          <p:nvPr/>
        </p:nvSpPr>
        <p:spPr>
          <a:xfrm>
            <a:off x="4215384" y="3728258"/>
            <a:ext cx="402336" cy="1163782"/>
          </a:xfrm>
          <a:prstGeom prst="rect">
            <a:avLst/>
          </a:prstGeom>
          <a:solidFill>
            <a:srgbClr val="6DC72A"/>
          </a:solidFill>
          <a:ln>
            <a:noFill/>
          </a:ln>
        </p:spPr>
        <p:txBody>
          <a:bodyPr rtlCol="0" anchor="ctr"/>
          <a:lstStyle/>
          <a:p>
            <a:pPr algn="ctr"/>
          </a:p>
        </p:txBody>
      </p:sp>
      <p:sp>
        <p:nvSpPr>
          <p:cNvPr id="25" name="TextBox 24"/>
          <p:cNvSpPr txBox="1"/>
          <p:nvPr/>
        </p:nvSpPr>
        <p:spPr>
          <a:xfrm>
            <a:off x="4105656" y="3463082"/>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50</a:t>
            </a:r>
          </a:p>
        </p:txBody>
      </p:sp>
      <p:sp>
        <p:nvSpPr>
          <p:cNvPr id="26" name="TextBox 25"/>
          <p:cNvSpPr txBox="1"/>
          <p:nvPr/>
        </p:nvSpPr>
        <p:spPr>
          <a:xfrm>
            <a:off x="4105656"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7</a:t>
            </a:r>
          </a:p>
        </p:txBody>
      </p:sp>
      <p:sp>
        <p:nvSpPr>
          <p:cNvPr id="27" name="Rectangle 26"/>
          <p:cNvSpPr/>
          <p:nvPr/>
        </p:nvSpPr>
        <p:spPr>
          <a:xfrm>
            <a:off x="4782312" y="3961015"/>
            <a:ext cx="402336" cy="931025"/>
          </a:xfrm>
          <a:prstGeom prst="rect">
            <a:avLst/>
          </a:prstGeom>
          <a:solidFill>
            <a:srgbClr val="6DC72A"/>
          </a:solidFill>
          <a:ln>
            <a:noFill/>
          </a:ln>
        </p:spPr>
        <p:txBody>
          <a:bodyPr rtlCol="0" anchor="ctr"/>
          <a:lstStyle/>
          <a:p>
            <a:pPr algn="ctr"/>
          </a:p>
        </p:txBody>
      </p:sp>
      <p:sp>
        <p:nvSpPr>
          <p:cNvPr id="28" name="TextBox 27"/>
          <p:cNvSpPr txBox="1"/>
          <p:nvPr/>
        </p:nvSpPr>
        <p:spPr>
          <a:xfrm>
            <a:off x="4672584" y="3695839"/>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40</a:t>
            </a:r>
          </a:p>
        </p:txBody>
      </p:sp>
      <p:sp>
        <p:nvSpPr>
          <p:cNvPr id="29" name="TextBox 28"/>
          <p:cNvSpPr txBox="1"/>
          <p:nvPr/>
        </p:nvSpPr>
        <p:spPr>
          <a:xfrm>
            <a:off x="4672584"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8</a:t>
            </a:r>
          </a:p>
        </p:txBody>
      </p:sp>
      <p:sp>
        <p:nvSpPr>
          <p:cNvPr id="30" name="Rectangle 29"/>
          <p:cNvSpPr/>
          <p:nvPr/>
        </p:nvSpPr>
        <p:spPr>
          <a:xfrm>
            <a:off x="5349240" y="4193771"/>
            <a:ext cx="402336" cy="698269"/>
          </a:xfrm>
          <a:prstGeom prst="rect">
            <a:avLst/>
          </a:prstGeom>
          <a:solidFill>
            <a:srgbClr val="6DC72A"/>
          </a:solidFill>
          <a:ln>
            <a:noFill/>
          </a:ln>
        </p:spPr>
        <p:txBody>
          <a:bodyPr rtlCol="0" anchor="ctr"/>
          <a:lstStyle/>
          <a:p>
            <a:pPr algn="ctr"/>
          </a:p>
        </p:txBody>
      </p:sp>
      <p:sp>
        <p:nvSpPr>
          <p:cNvPr id="31" name="TextBox 30"/>
          <p:cNvSpPr txBox="1"/>
          <p:nvPr/>
        </p:nvSpPr>
        <p:spPr>
          <a:xfrm>
            <a:off x="5239512" y="3928595"/>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30</a:t>
            </a:r>
          </a:p>
        </p:txBody>
      </p:sp>
      <p:sp>
        <p:nvSpPr>
          <p:cNvPr id="32" name="TextBox 31"/>
          <p:cNvSpPr txBox="1"/>
          <p:nvPr/>
        </p:nvSpPr>
        <p:spPr>
          <a:xfrm>
            <a:off x="5239512"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9</a:t>
            </a:r>
          </a:p>
        </p:txBody>
      </p:sp>
      <p:sp>
        <p:nvSpPr>
          <p:cNvPr id="33" name="Rectangle 32"/>
          <p:cNvSpPr/>
          <p:nvPr/>
        </p:nvSpPr>
        <p:spPr>
          <a:xfrm>
            <a:off x="5916168" y="4426527"/>
            <a:ext cx="402336" cy="465513"/>
          </a:xfrm>
          <a:prstGeom prst="rect">
            <a:avLst/>
          </a:prstGeom>
          <a:solidFill>
            <a:srgbClr val="A9E76A"/>
          </a:solidFill>
          <a:ln>
            <a:noFill/>
          </a:ln>
        </p:spPr>
        <p:txBody>
          <a:bodyPr rtlCol="0" anchor="ctr"/>
          <a:lstStyle/>
          <a:p>
            <a:pPr algn="ctr"/>
          </a:p>
        </p:txBody>
      </p:sp>
      <p:sp>
        <p:nvSpPr>
          <p:cNvPr id="34" name="TextBox 33"/>
          <p:cNvSpPr txBox="1"/>
          <p:nvPr/>
        </p:nvSpPr>
        <p:spPr>
          <a:xfrm>
            <a:off x="5806440" y="4161351"/>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20</a:t>
            </a:r>
          </a:p>
        </p:txBody>
      </p:sp>
      <p:sp>
        <p:nvSpPr>
          <p:cNvPr id="35" name="TextBox 34"/>
          <p:cNvSpPr txBox="1"/>
          <p:nvPr/>
        </p:nvSpPr>
        <p:spPr>
          <a:xfrm>
            <a:off x="5806440"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10</a:t>
            </a:r>
          </a:p>
        </p:txBody>
      </p:sp>
      <p:sp>
        <p:nvSpPr>
          <p:cNvPr id="36" name="Rectangle 35"/>
          <p:cNvSpPr/>
          <p:nvPr/>
        </p:nvSpPr>
        <p:spPr>
          <a:xfrm>
            <a:off x="6483096" y="4659284"/>
            <a:ext cx="402336" cy="232756"/>
          </a:xfrm>
          <a:prstGeom prst="rect">
            <a:avLst/>
          </a:prstGeom>
          <a:solidFill>
            <a:srgbClr val="A9E76A"/>
          </a:solidFill>
          <a:ln>
            <a:noFill/>
          </a:ln>
        </p:spPr>
        <p:txBody>
          <a:bodyPr rtlCol="0" anchor="ctr"/>
          <a:lstStyle/>
          <a:p>
            <a:pPr algn="ctr"/>
          </a:p>
        </p:txBody>
      </p:sp>
      <p:sp>
        <p:nvSpPr>
          <p:cNvPr id="37" name="TextBox 36"/>
          <p:cNvSpPr txBox="1"/>
          <p:nvPr/>
        </p:nvSpPr>
        <p:spPr>
          <a:xfrm>
            <a:off x="6373368" y="4394108"/>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10</a:t>
            </a:r>
          </a:p>
        </p:txBody>
      </p:sp>
      <p:sp>
        <p:nvSpPr>
          <p:cNvPr id="38" name="TextBox 37"/>
          <p:cNvSpPr txBox="1"/>
          <p:nvPr/>
        </p:nvSpPr>
        <p:spPr>
          <a:xfrm>
            <a:off x="6373368"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11</a:t>
            </a:r>
          </a:p>
        </p:txBody>
      </p:sp>
      <p:sp>
        <p:nvSpPr>
          <p:cNvPr id="39" name="TextBox 38"/>
          <p:cNvSpPr txBox="1"/>
          <p:nvPr/>
        </p:nvSpPr>
        <p:spPr>
          <a:xfrm>
            <a:off x="6940296" y="4626864"/>
            <a:ext cx="621792" cy="237744"/>
          </a:xfrm>
          <a:prstGeom prst="rect">
            <a:avLst/>
          </a:prstGeom>
          <a:noFill/>
        </p:spPr>
        <p:txBody>
          <a:bodyPr wrap="square" lIns="0" tIns="0" rIns="0" bIns="0">
            <a:spAutoFit/>
          </a:bodyPr>
          <a:lstStyle/>
          <a:p>
            <a:pPr algn="ctr">
              <a:lnSpc>
                <a:spcPct val="105000"/>
              </a:lnSpc>
            </a:pPr>
            <a:r>
              <a:rPr sz="1200">
                <a:solidFill>
                  <a:srgbClr val="26301F"/>
                </a:solidFill>
                <a:latin typeface="Arial"/>
              </a:rPr>
              <a:t>0</a:t>
            </a:r>
          </a:p>
        </p:txBody>
      </p:sp>
      <p:sp>
        <p:nvSpPr>
          <p:cNvPr id="40" name="TextBox 39"/>
          <p:cNvSpPr txBox="1"/>
          <p:nvPr/>
        </p:nvSpPr>
        <p:spPr>
          <a:xfrm>
            <a:off x="6940296" y="4946904"/>
            <a:ext cx="621792" cy="237744"/>
          </a:xfrm>
          <a:prstGeom prst="rect">
            <a:avLst/>
          </a:prstGeom>
          <a:noFill/>
        </p:spPr>
        <p:txBody>
          <a:bodyPr wrap="square" lIns="0" tIns="0" rIns="0" bIns="0">
            <a:spAutoFit/>
          </a:bodyPr>
          <a:lstStyle/>
          <a:p>
            <a:pPr algn="ctr">
              <a:lnSpc>
                <a:spcPct val="105000"/>
              </a:lnSpc>
            </a:pPr>
            <a:r>
              <a:rPr sz="1200">
                <a:solidFill>
                  <a:srgbClr val="5F6B58"/>
                </a:solidFill>
                <a:latin typeface="Arial"/>
              </a:rPr>
              <a:t>12</a:t>
            </a:r>
          </a:p>
        </p:txBody>
      </p:sp>
      <p:cxnSp>
        <p:nvCxnSpPr>
          <p:cNvPr id="41" name="Connector 40"/>
          <p:cNvCxnSpPr/>
          <p:nvPr/>
        </p:nvCxnSpPr>
        <p:spPr>
          <a:xfrm>
            <a:off x="731520" y="4892040"/>
            <a:ext cx="6803136" cy="0"/>
          </a:xfrm>
          <a:prstGeom prst="line">
            <a:avLst/>
          </a:prstGeom>
          <a:ln w="9525">
            <a:solidFill>
              <a:srgbClr val="5F6B58"/>
            </a:solidFill>
          </a:ln>
        </p:spPr>
      </p:cxnSp>
      <p:cxnSp>
        <p:nvCxnSpPr>
          <p:cNvPr id="42" name="Connector 41"/>
          <p:cNvCxnSpPr/>
          <p:nvPr/>
        </p:nvCxnSpPr>
        <p:spPr>
          <a:xfrm>
            <a:off x="777240" y="5349240"/>
            <a:ext cx="3310128" cy="0"/>
          </a:xfrm>
          <a:prstGeom prst="line">
            <a:avLst/>
          </a:prstGeom>
          <a:ln w="9525">
            <a:solidFill>
              <a:srgbClr val="26301F"/>
            </a:solidFill>
          </a:ln>
        </p:spPr>
      </p:cxnSp>
      <p:cxnSp>
        <p:nvCxnSpPr>
          <p:cNvPr id="43" name="Connector 42"/>
          <p:cNvCxnSpPr/>
          <p:nvPr/>
        </p:nvCxnSpPr>
        <p:spPr>
          <a:xfrm>
            <a:off x="777240" y="5276088"/>
            <a:ext cx="0" cy="73152"/>
          </a:xfrm>
          <a:prstGeom prst="line">
            <a:avLst/>
          </a:prstGeom>
          <a:ln w="9525">
            <a:solidFill>
              <a:srgbClr val="26301F"/>
            </a:solidFill>
          </a:ln>
        </p:spPr>
      </p:cxnSp>
      <p:cxnSp>
        <p:nvCxnSpPr>
          <p:cNvPr id="44" name="Connector 43"/>
          <p:cNvCxnSpPr/>
          <p:nvPr/>
        </p:nvCxnSpPr>
        <p:spPr>
          <a:xfrm>
            <a:off x="4087368" y="5276088"/>
            <a:ext cx="0" cy="73152"/>
          </a:xfrm>
          <a:prstGeom prst="line">
            <a:avLst/>
          </a:prstGeom>
          <a:ln w="9525">
            <a:solidFill>
              <a:srgbClr val="26301F"/>
            </a:solidFill>
          </a:ln>
        </p:spPr>
      </p:cxnSp>
      <p:sp>
        <p:nvSpPr>
          <p:cNvPr id="45" name="TextBox 44"/>
          <p:cNvSpPr txBox="1"/>
          <p:nvPr/>
        </p:nvSpPr>
        <p:spPr>
          <a:xfrm>
            <a:off x="777240" y="5394960"/>
            <a:ext cx="3310128" cy="457200"/>
          </a:xfrm>
          <a:prstGeom prst="rect">
            <a:avLst/>
          </a:prstGeom>
          <a:noFill/>
        </p:spPr>
        <p:txBody>
          <a:bodyPr wrap="square" lIns="0" tIns="0" rIns="0" bIns="0">
            <a:spAutoFit/>
          </a:bodyPr>
          <a:lstStyle/>
          <a:p>
            <a:pPr algn="ctr">
              <a:lnSpc>
                <a:spcPct val="102000"/>
              </a:lnSpc>
            </a:pPr>
            <a:r>
              <a:rPr sz="1300">
                <a:solidFill>
                  <a:srgbClr val="0C1408"/>
                </a:solidFill>
                <a:latin typeface="Arial"/>
              </a:rPr>
              <a:t>turns 1 to 6: score 650+</a:t>
            </a:r>
          </a:p>
        </p:txBody>
      </p:sp>
      <p:cxnSp>
        <p:nvCxnSpPr>
          <p:cNvPr id="46" name="Connector 45"/>
          <p:cNvCxnSpPr/>
          <p:nvPr/>
        </p:nvCxnSpPr>
        <p:spPr>
          <a:xfrm>
            <a:off x="4178808" y="5349240"/>
            <a:ext cx="1609344" cy="0"/>
          </a:xfrm>
          <a:prstGeom prst="line">
            <a:avLst/>
          </a:prstGeom>
          <a:ln w="9525">
            <a:solidFill>
              <a:srgbClr val="26301F"/>
            </a:solidFill>
          </a:ln>
        </p:spPr>
      </p:cxnSp>
      <p:cxnSp>
        <p:nvCxnSpPr>
          <p:cNvPr id="47" name="Connector 46"/>
          <p:cNvCxnSpPr/>
          <p:nvPr/>
        </p:nvCxnSpPr>
        <p:spPr>
          <a:xfrm>
            <a:off x="4178808" y="5276088"/>
            <a:ext cx="0" cy="73152"/>
          </a:xfrm>
          <a:prstGeom prst="line">
            <a:avLst/>
          </a:prstGeom>
          <a:ln w="9525">
            <a:solidFill>
              <a:srgbClr val="26301F"/>
            </a:solidFill>
          </a:ln>
        </p:spPr>
      </p:cxnSp>
      <p:cxnSp>
        <p:nvCxnSpPr>
          <p:cNvPr id="48" name="Connector 47"/>
          <p:cNvCxnSpPr/>
          <p:nvPr/>
        </p:nvCxnSpPr>
        <p:spPr>
          <a:xfrm>
            <a:off x="5788152" y="5276088"/>
            <a:ext cx="0" cy="73152"/>
          </a:xfrm>
          <a:prstGeom prst="line">
            <a:avLst/>
          </a:prstGeom>
          <a:ln w="9525">
            <a:solidFill>
              <a:srgbClr val="26301F"/>
            </a:solidFill>
          </a:ln>
        </p:spPr>
      </p:cxnSp>
      <p:sp>
        <p:nvSpPr>
          <p:cNvPr id="49" name="TextBox 48"/>
          <p:cNvSpPr txBox="1"/>
          <p:nvPr/>
        </p:nvSpPr>
        <p:spPr>
          <a:xfrm>
            <a:off x="4178808" y="5394960"/>
            <a:ext cx="1609344" cy="457200"/>
          </a:xfrm>
          <a:prstGeom prst="rect">
            <a:avLst/>
          </a:prstGeom>
          <a:noFill/>
        </p:spPr>
        <p:txBody>
          <a:bodyPr wrap="square" lIns="0" tIns="0" rIns="0" bIns="0">
            <a:spAutoFit/>
          </a:bodyPr>
          <a:lstStyle/>
          <a:p>
            <a:pPr algn="ctr">
              <a:lnSpc>
                <a:spcPct val="102000"/>
              </a:lnSpc>
            </a:pPr>
            <a:r>
              <a:rPr sz="1300">
                <a:solidFill>
                  <a:srgbClr val="0C1408"/>
                </a:solidFill>
                <a:latin typeface="Arial"/>
              </a:rPr>
              <a:t>score 550+</a:t>
            </a:r>
          </a:p>
        </p:txBody>
      </p:sp>
      <p:cxnSp>
        <p:nvCxnSpPr>
          <p:cNvPr id="50" name="Connector 49"/>
          <p:cNvCxnSpPr/>
          <p:nvPr/>
        </p:nvCxnSpPr>
        <p:spPr>
          <a:xfrm>
            <a:off x="5879592" y="5349240"/>
            <a:ext cx="1609344" cy="0"/>
          </a:xfrm>
          <a:prstGeom prst="line">
            <a:avLst/>
          </a:prstGeom>
          <a:ln w="9525">
            <a:solidFill>
              <a:srgbClr val="26301F"/>
            </a:solidFill>
          </a:ln>
        </p:spPr>
      </p:cxnSp>
      <p:cxnSp>
        <p:nvCxnSpPr>
          <p:cNvPr id="51" name="Connector 50"/>
          <p:cNvCxnSpPr/>
          <p:nvPr/>
        </p:nvCxnSpPr>
        <p:spPr>
          <a:xfrm>
            <a:off x="5879592" y="5276088"/>
            <a:ext cx="0" cy="73152"/>
          </a:xfrm>
          <a:prstGeom prst="line">
            <a:avLst/>
          </a:prstGeom>
          <a:ln w="9525">
            <a:solidFill>
              <a:srgbClr val="26301F"/>
            </a:solidFill>
          </a:ln>
        </p:spPr>
      </p:cxnSp>
      <p:cxnSp>
        <p:nvCxnSpPr>
          <p:cNvPr id="52" name="Connector 51"/>
          <p:cNvCxnSpPr/>
          <p:nvPr/>
        </p:nvCxnSpPr>
        <p:spPr>
          <a:xfrm>
            <a:off x="7488936" y="5276088"/>
            <a:ext cx="0" cy="73152"/>
          </a:xfrm>
          <a:prstGeom prst="line">
            <a:avLst/>
          </a:prstGeom>
          <a:ln w="9525">
            <a:solidFill>
              <a:srgbClr val="26301F"/>
            </a:solidFill>
          </a:ln>
        </p:spPr>
      </p:cxnSp>
      <p:sp>
        <p:nvSpPr>
          <p:cNvPr id="53" name="TextBox 52"/>
          <p:cNvSpPr txBox="1"/>
          <p:nvPr/>
        </p:nvSpPr>
        <p:spPr>
          <a:xfrm>
            <a:off x="5879592" y="5394960"/>
            <a:ext cx="1609344" cy="457200"/>
          </a:xfrm>
          <a:prstGeom prst="rect">
            <a:avLst/>
          </a:prstGeom>
          <a:noFill/>
        </p:spPr>
        <p:txBody>
          <a:bodyPr wrap="square" lIns="0" tIns="0" rIns="0" bIns="0">
            <a:spAutoFit/>
          </a:bodyPr>
          <a:lstStyle/>
          <a:p>
            <a:pPr algn="ctr">
              <a:lnSpc>
                <a:spcPct val="102000"/>
              </a:lnSpc>
            </a:pPr>
            <a:r>
              <a:rPr sz="1300">
                <a:solidFill>
                  <a:srgbClr val="0C1408"/>
                </a:solidFill>
                <a:latin typeface="Arial"/>
              </a:rPr>
              <a:t>any score; new members</a:t>
            </a:r>
          </a:p>
        </p:txBody>
      </p:sp>
      <p:sp>
        <p:nvSpPr>
          <p:cNvPr id="54" name="TextBox 53"/>
          <p:cNvSpPr txBox="1"/>
          <p:nvPr/>
        </p:nvSpPr>
        <p:spPr>
          <a:xfrm>
            <a:off x="8001000" y="1828800"/>
            <a:ext cx="3550615" cy="523240"/>
          </a:xfrm>
          <a:prstGeom prst="rect">
            <a:avLst/>
          </a:prstGeom>
          <a:noFill/>
        </p:spPr>
        <p:txBody>
          <a:bodyPr wrap="square" lIns="0" tIns="0" rIns="0" bIns="0">
            <a:spAutoFit/>
          </a:bodyPr>
          <a:lstStyle/>
          <a:p>
            <a:pPr>
              <a:lnSpc>
                <a:spcPct val="105000"/>
              </a:lnSpc>
            </a:pPr>
            <a:r>
              <a:rPr sz="3400">
                <a:solidFill>
                  <a:srgbClr val="41801A"/>
                </a:solidFill>
                <a:latin typeface="Georgia"/>
              </a:rPr>
              <a:t>Rs 110,000</a:t>
            </a:r>
          </a:p>
        </p:txBody>
      </p:sp>
      <p:sp>
        <p:nvSpPr>
          <p:cNvPr id="55" name="TextBox 54"/>
          <p:cNvSpPr txBox="1"/>
          <p:nvPr/>
        </p:nvSpPr>
        <p:spPr>
          <a:xfrm>
            <a:off x="8001000" y="2333752"/>
            <a:ext cx="3550615" cy="685800"/>
          </a:xfrm>
          <a:prstGeom prst="rect">
            <a:avLst/>
          </a:prstGeom>
          <a:noFill/>
        </p:spPr>
        <p:txBody>
          <a:bodyPr wrap="square" lIns="0" tIns="0" rIns="0" bIns="0">
            <a:spAutoFit/>
          </a:bodyPr>
          <a:lstStyle/>
          <a:p>
            <a:pPr>
              <a:lnSpc>
                <a:spcPct val="104000"/>
              </a:lnSpc>
            </a:pPr>
            <a:r>
              <a:rPr sz="1500">
                <a:solidFill>
                  <a:srgbClr val="0C1408"/>
                </a:solidFill>
                <a:latin typeface="Arial"/>
              </a:rPr>
              <a:t>the most anyone can owe: turn 1 of 12</a:t>
            </a:r>
          </a:p>
        </p:txBody>
      </p:sp>
      <p:cxnSp>
        <p:nvCxnSpPr>
          <p:cNvPr id="56" name="Connector 55"/>
          <p:cNvCxnSpPr/>
          <p:nvPr/>
        </p:nvCxnSpPr>
        <p:spPr>
          <a:xfrm>
            <a:off x="8001000" y="3154680"/>
            <a:ext cx="3550615" cy="0"/>
          </a:xfrm>
          <a:prstGeom prst="line">
            <a:avLst/>
          </a:prstGeom>
          <a:ln w="9525">
            <a:solidFill>
              <a:srgbClr val="CFD8C6"/>
            </a:solidFill>
          </a:ln>
        </p:spPr>
      </p:cxnSp>
      <p:sp>
        <p:nvSpPr>
          <p:cNvPr id="57" name="TextBox 56"/>
          <p:cNvSpPr txBox="1"/>
          <p:nvPr/>
        </p:nvSpPr>
        <p:spPr>
          <a:xfrm>
            <a:off x="8001000" y="3383280"/>
            <a:ext cx="3550615" cy="472440"/>
          </a:xfrm>
          <a:prstGeom prst="rect">
            <a:avLst/>
          </a:prstGeom>
          <a:noFill/>
        </p:spPr>
        <p:txBody>
          <a:bodyPr wrap="square" lIns="0" tIns="0" rIns="0" bIns="0">
            <a:spAutoFit/>
          </a:bodyPr>
          <a:lstStyle/>
          <a:p>
            <a:pPr>
              <a:lnSpc>
                <a:spcPct val="105000"/>
              </a:lnSpc>
            </a:pPr>
            <a:r>
              <a:rPr sz="3000">
                <a:solidFill>
                  <a:srgbClr val="41801A"/>
                </a:solidFill>
                <a:latin typeface="Georgia"/>
              </a:rPr>
              <a:t>Last 3 turns</a:t>
            </a:r>
          </a:p>
        </p:txBody>
      </p:sp>
      <p:sp>
        <p:nvSpPr>
          <p:cNvPr id="58" name="TextBox 57"/>
          <p:cNvSpPr txBox="1"/>
          <p:nvPr/>
        </p:nvSpPr>
        <p:spPr>
          <a:xfrm>
            <a:off x="8001000" y="3837432"/>
            <a:ext cx="3550615" cy="685800"/>
          </a:xfrm>
          <a:prstGeom prst="rect">
            <a:avLst/>
          </a:prstGeom>
          <a:noFill/>
        </p:spPr>
        <p:txBody>
          <a:bodyPr wrap="square" lIns="0" tIns="0" rIns="0" bIns="0">
            <a:spAutoFit/>
          </a:bodyPr>
          <a:lstStyle/>
          <a:p>
            <a:pPr>
              <a:lnSpc>
                <a:spcPct val="104000"/>
              </a:lnSpc>
            </a:pPr>
            <a:r>
              <a:rPr sz="1500">
                <a:solidFill>
                  <a:srgbClr val="0C1408"/>
                </a:solidFill>
                <a:latin typeface="Arial"/>
              </a:rPr>
              <a:t>where every new member starts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Four checkpoints stop most missed payments before they happen.</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15</a:t>
            </a:r>
          </a:p>
        </p:txBody>
      </p:sp>
      <p:cxnSp>
        <p:nvCxnSpPr>
          <p:cNvPr id="5" name="Connector 4"/>
          <p:cNvCxnSpPr/>
          <p:nvPr/>
        </p:nvCxnSpPr>
        <p:spPr>
          <a:xfrm>
            <a:off x="640080" y="1892808"/>
            <a:ext cx="10728655" cy="0"/>
          </a:xfrm>
          <a:prstGeom prst="line">
            <a:avLst/>
          </a:prstGeom>
          <a:ln w="38100">
            <a:solidFill>
              <a:srgbClr val="41801A"/>
            </a:solidFill>
          </a:ln>
        </p:spPr>
      </p:cxnSp>
      <p:sp>
        <p:nvSpPr>
          <p:cNvPr id="6" name="Oval 5"/>
          <p:cNvSpPr/>
          <p:nvPr/>
        </p:nvSpPr>
        <p:spPr>
          <a:xfrm>
            <a:off x="640080" y="1783080"/>
            <a:ext cx="219456" cy="219456"/>
          </a:xfrm>
          <a:prstGeom prst="ellipse">
            <a:avLst/>
          </a:prstGeom>
          <a:solidFill>
            <a:srgbClr val="FFFFFF"/>
          </a:solidFill>
          <a:ln w="31750">
            <a:solidFill>
              <a:srgbClr val="41801A"/>
            </a:solidFill>
          </a:ln>
        </p:spPr>
        <p:txBody>
          <a:bodyPr rtlCol="0" anchor="ctr"/>
          <a:lstStyle/>
          <a:p>
            <a:pPr algn="ctr"/>
          </a:p>
        </p:txBody>
      </p:sp>
      <p:sp>
        <p:nvSpPr>
          <p:cNvPr id="7" name="TextBox 6"/>
          <p:cNvSpPr txBox="1"/>
          <p:nvPr/>
        </p:nvSpPr>
        <p:spPr>
          <a:xfrm>
            <a:off x="640080" y="2112264"/>
            <a:ext cx="2453564" cy="320040"/>
          </a:xfrm>
          <a:prstGeom prst="rect">
            <a:avLst/>
          </a:prstGeom>
          <a:noFill/>
        </p:spPr>
        <p:txBody>
          <a:bodyPr wrap="square" lIns="0" tIns="0" rIns="0" bIns="0">
            <a:spAutoFit/>
          </a:bodyPr>
          <a:lstStyle/>
          <a:p>
            <a:pPr>
              <a:lnSpc>
                <a:spcPct val="105000"/>
              </a:lnSpc>
            </a:pPr>
            <a:r>
              <a:rPr sz="1600" b="1">
                <a:solidFill>
                  <a:srgbClr val="0C1408"/>
                </a:solidFill>
                <a:latin typeface="Arial"/>
              </a:rPr>
              <a:t>Before joining</a:t>
            </a:r>
          </a:p>
        </p:txBody>
      </p:sp>
      <p:sp>
        <p:nvSpPr>
          <p:cNvPr id="8" name="TextBox 7"/>
          <p:cNvSpPr txBox="1"/>
          <p:nvPr/>
        </p:nvSpPr>
        <p:spPr>
          <a:xfrm>
            <a:off x="640080" y="2478024"/>
            <a:ext cx="2407844" cy="822960"/>
          </a:xfrm>
          <a:prstGeom prst="rect">
            <a:avLst/>
          </a:prstGeom>
          <a:noFill/>
        </p:spPr>
        <p:txBody>
          <a:bodyPr wrap="square" lIns="0" tIns="0" rIns="0" bIns="0">
            <a:spAutoFit/>
          </a:bodyPr>
          <a:lstStyle/>
          <a:p>
            <a:pPr>
              <a:lnSpc>
                <a:spcPct val="104000"/>
              </a:lnSpc>
            </a:pPr>
            <a:r>
              <a:rPr sz="1400">
                <a:solidFill>
                  <a:srgbClr val="26301F"/>
                </a:solidFill>
                <a:latin typeface="Arial"/>
              </a:rPr>
              <a:t>four checks; the host admits each member</a:t>
            </a:r>
          </a:p>
        </p:txBody>
      </p:sp>
      <p:sp>
        <p:nvSpPr>
          <p:cNvPr id="9" name="Oval 8"/>
          <p:cNvSpPr/>
          <p:nvPr/>
        </p:nvSpPr>
        <p:spPr>
          <a:xfrm>
            <a:off x="3367964" y="1783080"/>
            <a:ext cx="219456" cy="219456"/>
          </a:xfrm>
          <a:prstGeom prst="ellipse">
            <a:avLst/>
          </a:prstGeom>
          <a:solidFill>
            <a:srgbClr val="FFFFFF"/>
          </a:solidFill>
          <a:ln w="31750">
            <a:solidFill>
              <a:srgbClr val="41801A"/>
            </a:solidFill>
          </a:ln>
        </p:spPr>
        <p:txBody>
          <a:bodyPr rtlCol="0" anchor="ctr"/>
          <a:lstStyle/>
          <a:p>
            <a:pPr algn="ctr"/>
          </a:p>
        </p:txBody>
      </p:sp>
      <p:sp>
        <p:nvSpPr>
          <p:cNvPr id="10" name="TextBox 9"/>
          <p:cNvSpPr txBox="1"/>
          <p:nvPr/>
        </p:nvSpPr>
        <p:spPr>
          <a:xfrm>
            <a:off x="3367964" y="2112264"/>
            <a:ext cx="2453564" cy="320040"/>
          </a:xfrm>
          <a:prstGeom prst="rect">
            <a:avLst/>
          </a:prstGeom>
          <a:noFill/>
        </p:spPr>
        <p:txBody>
          <a:bodyPr wrap="square" lIns="0" tIns="0" rIns="0" bIns="0">
            <a:spAutoFit/>
          </a:bodyPr>
          <a:lstStyle/>
          <a:p>
            <a:pPr>
              <a:lnSpc>
                <a:spcPct val="105000"/>
              </a:lnSpc>
            </a:pPr>
            <a:r>
              <a:rPr sz="1600" b="1">
                <a:solidFill>
                  <a:srgbClr val="0C1408"/>
                </a:solidFill>
                <a:latin typeface="Arial"/>
              </a:rPr>
              <a:t>At joining</a:t>
            </a:r>
          </a:p>
        </p:txBody>
      </p:sp>
      <p:sp>
        <p:nvSpPr>
          <p:cNvPr id="11" name="TextBox 10"/>
          <p:cNvSpPr txBox="1"/>
          <p:nvPr/>
        </p:nvSpPr>
        <p:spPr>
          <a:xfrm>
            <a:off x="3367964" y="2478024"/>
            <a:ext cx="2407844" cy="822960"/>
          </a:xfrm>
          <a:prstGeom prst="rect">
            <a:avLst/>
          </a:prstGeom>
          <a:noFill/>
        </p:spPr>
        <p:txBody>
          <a:bodyPr wrap="square" lIns="0" tIns="0" rIns="0" bIns="0">
            <a:spAutoFit/>
          </a:bodyPr>
          <a:lstStyle/>
          <a:p>
            <a:pPr>
              <a:lnSpc>
                <a:spcPct val="104000"/>
              </a:lnSpc>
            </a:pPr>
            <a:r>
              <a:rPr sz="1400">
                <a:solidFill>
                  <a:srgbClr val="26301F"/>
                </a:solidFill>
                <a:latin typeface="Arial"/>
              </a:rPr>
              <a:t>full cost shown; 24 hours to withdraw; signed guarantee</a:t>
            </a:r>
          </a:p>
        </p:txBody>
      </p:sp>
      <p:sp>
        <p:nvSpPr>
          <p:cNvPr id="12" name="Oval 11"/>
          <p:cNvSpPr/>
          <p:nvPr/>
        </p:nvSpPr>
        <p:spPr>
          <a:xfrm>
            <a:off x="6095848" y="1783080"/>
            <a:ext cx="219456" cy="219456"/>
          </a:xfrm>
          <a:prstGeom prst="ellipse">
            <a:avLst/>
          </a:prstGeom>
          <a:solidFill>
            <a:srgbClr val="FFFFFF"/>
          </a:solidFill>
          <a:ln w="31750">
            <a:solidFill>
              <a:srgbClr val="41801A"/>
            </a:solidFill>
          </a:ln>
        </p:spPr>
        <p:txBody>
          <a:bodyPr rtlCol="0" anchor="ctr"/>
          <a:lstStyle/>
          <a:p>
            <a:pPr algn="ctr"/>
          </a:p>
        </p:txBody>
      </p:sp>
      <p:sp>
        <p:nvSpPr>
          <p:cNvPr id="13" name="TextBox 12"/>
          <p:cNvSpPr txBox="1"/>
          <p:nvPr/>
        </p:nvSpPr>
        <p:spPr>
          <a:xfrm>
            <a:off x="6095848" y="2112264"/>
            <a:ext cx="2453564" cy="320040"/>
          </a:xfrm>
          <a:prstGeom prst="rect">
            <a:avLst/>
          </a:prstGeom>
          <a:noFill/>
        </p:spPr>
        <p:txBody>
          <a:bodyPr wrap="square" lIns="0" tIns="0" rIns="0" bIns="0">
            <a:spAutoFit/>
          </a:bodyPr>
          <a:lstStyle/>
          <a:p>
            <a:pPr>
              <a:lnSpc>
                <a:spcPct val="105000"/>
              </a:lnSpc>
            </a:pPr>
            <a:r>
              <a:rPr sz="1600" b="1">
                <a:solidFill>
                  <a:srgbClr val="0C1408"/>
                </a:solidFill>
                <a:latin typeface="Arial"/>
              </a:rPr>
              <a:t>Each instalment</a:t>
            </a:r>
          </a:p>
        </p:txBody>
      </p:sp>
      <p:sp>
        <p:nvSpPr>
          <p:cNvPr id="14" name="TextBox 13"/>
          <p:cNvSpPr txBox="1"/>
          <p:nvPr/>
        </p:nvSpPr>
        <p:spPr>
          <a:xfrm>
            <a:off x="6095848" y="2478024"/>
            <a:ext cx="2407844" cy="822960"/>
          </a:xfrm>
          <a:prstGeom prst="rect">
            <a:avLst/>
          </a:prstGeom>
          <a:noFill/>
        </p:spPr>
        <p:txBody>
          <a:bodyPr wrap="square" lIns="0" tIns="0" rIns="0" bIns="0">
            <a:spAutoFit/>
          </a:bodyPr>
          <a:lstStyle/>
          <a:p>
            <a:pPr>
              <a:lnSpc>
                <a:spcPct val="104000"/>
              </a:lnSpc>
            </a:pPr>
            <a:r>
              <a:rPr sz="1400">
                <a:solidFill>
                  <a:srgbClr val="26301F"/>
                </a:solidFill>
                <a:latin typeface="Arial"/>
              </a:rPr>
              <a:t>debit on payday; retries each morning</a:t>
            </a:r>
          </a:p>
        </p:txBody>
      </p:sp>
      <p:sp>
        <p:nvSpPr>
          <p:cNvPr id="15" name="Oval 14"/>
          <p:cNvSpPr/>
          <p:nvPr/>
        </p:nvSpPr>
        <p:spPr>
          <a:xfrm>
            <a:off x="8823731" y="1783080"/>
            <a:ext cx="219456" cy="219456"/>
          </a:xfrm>
          <a:prstGeom prst="ellipse">
            <a:avLst/>
          </a:prstGeom>
          <a:solidFill>
            <a:srgbClr val="FFFFFF"/>
          </a:solidFill>
          <a:ln w="31750">
            <a:solidFill>
              <a:srgbClr val="41801A"/>
            </a:solidFill>
          </a:ln>
        </p:spPr>
        <p:txBody>
          <a:bodyPr rtlCol="0" anchor="ctr"/>
          <a:lstStyle/>
          <a:p>
            <a:pPr algn="ctr"/>
          </a:p>
        </p:txBody>
      </p:sp>
      <p:sp>
        <p:nvSpPr>
          <p:cNvPr id="16" name="TextBox 15"/>
          <p:cNvSpPr txBox="1"/>
          <p:nvPr/>
        </p:nvSpPr>
        <p:spPr>
          <a:xfrm>
            <a:off x="8823731" y="2112264"/>
            <a:ext cx="2453564" cy="320040"/>
          </a:xfrm>
          <a:prstGeom prst="rect">
            <a:avLst/>
          </a:prstGeom>
          <a:noFill/>
        </p:spPr>
        <p:txBody>
          <a:bodyPr wrap="square" lIns="0" tIns="0" rIns="0" bIns="0">
            <a:spAutoFit/>
          </a:bodyPr>
          <a:lstStyle/>
          <a:p>
            <a:pPr>
              <a:lnSpc>
                <a:spcPct val="105000"/>
              </a:lnSpc>
            </a:pPr>
            <a:r>
              <a:rPr sz="1600" b="1">
                <a:solidFill>
                  <a:srgbClr val="0C1408"/>
                </a:solidFill>
                <a:latin typeface="Arial"/>
              </a:rPr>
              <a:t>A missed payment</a:t>
            </a:r>
          </a:p>
        </p:txBody>
      </p:sp>
      <p:sp>
        <p:nvSpPr>
          <p:cNvPr id="17" name="TextBox 16"/>
          <p:cNvSpPr txBox="1"/>
          <p:nvPr/>
        </p:nvSpPr>
        <p:spPr>
          <a:xfrm>
            <a:off x="8823731" y="2478024"/>
            <a:ext cx="2407844" cy="822960"/>
          </a:xfrm>
          <a:prstGeom prst="rect">
            <a:avLst/>
          </a:prstGeom>
          <a:noFill/>
        </p:spPr>
        <p:txBody>
          <a:bodyPr wrap="square" lIns="0" tIns="0" rIns="0" bIns="0">
            <a:spAutoFit/>
          </a:bodyPr>
          <a:lstStyle/>
          <a:p>
            <a:pPr>
              <a:lnSpc>
                <a:spcPct val="104000"/>
              </a:lnSpc>
            </a:pPr>
            <a:r>
              <a:rPr sz="1400">
                <a:solidFill>
                  <a:srgbClr val="26301F"/>
                </a:solidFill>
                <a:latin typeface="Arial"/>
              </a:rPr>
              <a:t>arrears taken from the member’s own pot</a:t>
            </a:r>
          </a:p>
        </p:txBody>
      </p:sp>
      <p:sp>
        <p:nvSpPr>
          <p:cNvPr id="18" name="TextBox 17"/>
          <p:cNvSpPr txBox="1"/>
          <p:nvPr/>
        </p:nvSpPr>
        <p:spPr>
          <a:xfrm>
            <a:off x="640080" y="3456432"/>
            <a:ext cx="7315200" cy="274320"/>
          </a:xfrm>
          <a:prstGeom prst="rect">
            <a:avLst/>
          </a:prstGeom>
          <a:noFill/>
        </p:spPr>
        <p:txBody>
          <a:bodyPr wrap="square" lIns="0" tIns="0" rIns="0" bIns="0">
            <a:spAutoFit/>
          </a:bodyPr>
          <a:lstStyle/>
          <a:p>
            <a:pPr>
              <a:lnSpc>
                <a:spcPct val="105000"/>
              </a:lnSpc>
            </a:pPr>
            <a:r>
              <a:rPr sz="1250" b="1">
                <a:solidFill>
                  <a:srgbClr val="0C1408"/>
                </a:solidFill>
                <a:latin typeface="Arial"/>
              </a:rPr>
              <a:t>One instalment, day by day</a:t>
            </a:r>
          </a:p>
        </p:txBody>
      </p:sp>
      <p:sp>
        <p:nvSpPr>
          <p:cNvPr id="19" name="Rectangle 18"/>
          <p:cNvSpPr/>
          <p:nvPr/>
        </p:nvSpPr>
        <p:spPr>
          <a:xfrm>
            <a:off x="667512" y="3840480"/>
            <a:ext cx="854431" cy="566928"/>
          </a:xfrm>
          <a:prstGeom prst="rect">
            <a:avLst/>
          </a:prstGeom>
          <a:solidFill>
            <a:srgbClr val="6DC72A"/>
          </a:solidFill>
          <a:ln>
            <a:noFill/>
          </a:ln>
        </p:spPr>
        <p:txBody>
          <a:bodyPr rtlCol="0" anchor="ctr"/>
          <a:lstStyle/>
          <a:p>
            <a:pPr algn="ctr"/>
          </a:p>
        </p:txBody>
      </p:sp>
      <p:sp>
        <p:nvSpPr>
          <p:cNvPr id="20" name="TextBox 19"/>
          <p:cNvSpPr txBox="1"/>
          <p:nvPr/>
        </p:nvSpPr>
        <p:spPr>
          <a:xfrm>
            <a:off x="640080" y="3968496"/>
            <a:ext cx="909295" cy="320040"/>
          </a:xfrm>
          <a:prstGeom prst="rect">
            <a:avLst/>
          </a:prstGeom>
          <a:noFill/>
        </p:spPr>
        <p:txBody>
          <a:bodyPr wrap="square" lIns="0" tIns="0" rIns="0" bIns="0">
            <a:spAutoFit/>
          </a:bodyPr>
          <a:lstStyle/>
          <a:p>
            <a:pPr algn="ctr">
              <a:lnSpc>
                <a:spcPct val="105000"/>
              </a:lnSpc>
            </a:pPr>
            <a:r>
              <a:rPr sz="1400" b="1">
                <a:solidFill>
                  <a:srgbClr val="FFFFFF"/>
                </a:solidFill>
                <a:latin typeface="Arial"/>
              </a:rPr>
              <a:t>1</a:t>
            </a:r>
          </a:p>
        </p:txBody>
      </p:sp>
      <p:sp>
        <p:nvSpPr>
          <p:cNvPr id="21" name="Rectangle 20"/>
          <p:cNvSpPr/>
          <p:nvPr/>
        </p:nvSpPr>
        <p:spPr>
          <a:xfrm>
            <a:off x="1576807" y="3840480"/>
            <a:ext cx="854431" cy="566928"/>
          </a:xfrm>
          <a:prstGeom prst="rect">
            <a:avLst/>
          </a:prstGeom>
          <a:solidFill>
            <a:srgbClr val="A9E76A"/>
          </a:solidFill>
          <a:ln>
            <a:noFill/>
          </a:ln>
        </p:spPr>
        <p:txBody>
          <a:bodyPr rtlCol="0" anchor="ctr"/>
          <a:lstStyle/>
          <a:p>
            <a:pPr algn="ctr"/>
          </a:p>
        </p:txBody>
      </p:sp>
      <p:sp>
        <p:nvSpPr>
          <p:cNvPr id="22" name="TextBox 21"/>
          <p:cNvSpPr txBox="1"/>
          <p:nvPr/>
        </p:nvSpPr>
        <p:spPr>
          <a:xfrm>
            <a:off x="1549375" y="3968496"/>
            <a:ext cx="909295" cy="320040"/>
          </a:xfrm>
          <a:prstGeom prst="rect">
            <a:avLst/>
          </a:prstGeom>
          <a:noFill/>
        </p:spPr>
        <p:txBody>
          <a:bodyPr wrap="square" lIns="0" tIns="0" rIns="0" bIns="0">
            <a:spAutoFit/>
          </a:bodyPr>
          <a:lstStyle/>
          <a:p>
            <a:pPr algn="ctr">
              <a:lnSpc>
                <a:spcPct val="105000"/>
              </a:lnSpc>
            </a:pPr>
            <a:r>
              <a:rPr sz="1400" b="1">
                <a:solidFill>
                  <a:srgbClr val="26301F"/>
                </a:solidFill>
                <a:latin typeface="Arial"/>
              </a:rPr>
              <a:t>2</a:t>
            </a:r>
          </a:p>
        </p:txBody>
      </p:sp>
      <p:sp>
        <p:nvSpPr>
          <p:cNvPr id="23" name="Rectangle 22"/>
          <p:cNvSpPr/>
          <p:nvPr/>
        </p:nvSpPr>
        <p:spPr>
          <a:xfrm>
            <a:off x="2486101" y="3840480"/>
            <a:ext cx="854431" cy="566928"/>
          </a:xfrm>
          <a:prstGeom prst="rect">
            <a:avLst/>
          </a:prstGeom>
          <a:solidFill>
            <a:srgbClr val="A9E76A"/>
          </a:solidFill>
          <a:ln>
            <a:noFill/>
          </a:ln>
        </p:spPr>
        <p:txBody>
          <a:bodyPr rtlCol="0" anchor="ctr"/>
          <a:lstStyle/>
          <a:p>
            <a:pPr algn="ctr"/>
          </a:p>
        </p:txBody>
      </p:sp>
      <p:sp>
        <p:nvSpPr>
          <p:cNvPr id="24" name="TextBox 23"/>
          <p:cNvSpPr txBox="1"/>
          <p:nvPr/>
        </p:nvSpPr>
        <p:spPr>
          <a:xfrm>
            <a:off x="2458669" y="3968496"/>
            <a:ext cx="909295" cy="320040"/>
          </a:xfrm>
          <a:prstGeom prst="rect">
            <a:avLst/>
          </a:prstGeom>
          <a:noFill/>
        </p:spPr>
        <p:txBody>
          <a:bodyPr wrap="square" lIns="0" tIns="0" rIns="0" bIns="0">
            <a:spAutoFit/>
          </a:bodyPr>
          <a:lstStyle/>
          <a:p>
            <a:pPr algn="ctr">
              <a:lnSpc>
                <a:spcPct val="105000"/>
              </a:lnSpc>
            </a:pPr>
            <a:r>
              <a:rPr sz="1400" b="1">
                <a:solidFill>
                  <a:srgbClr val="26301F"/>
                </a:solidFill>
                <a:latin typeface="Arial"/>
              </a:rPr>
              <a:t>3</a:t>
            </a:r>
          </a:p>
        </p:txBody>
      </p:sp>
      <p:sp>
        <p:nvSpPr>
          <p:cNvPr id="25" name="Rectangle 24"/>
          <p:cNvSpPr/>
          <p:nvPr/>
        </p:nvSpPr>
        <p:spPr>
          <a:xfrm>
            <a:off x="3395396" y="3840480"/>
            <a:ext cx="854431" cy="566928"/>
          </a:xfrm>
          <a:prstGeom prst="rect">
            <a:avLst/>
          </a:prstGeom>
          <a:solidFill>
            <a:srgbClr val="A9E76A"/>
          </a:solidFill>
          <a:ln>
            <a:noFill/>
          </a:ln>
        </p:spPr>
        <p:txBody>
          <a:bodyPr rtlCol="0" anchor="ctr"/>
          <a:lstStyle/>
          <a:p>
            <a:pPr algn="ctr"/>
          </a:p>
        </p:txBody>
      </p:sp>
      <p:sp>
        <p:nvSpPr>
          <p:cNvPr id="26" name="TextBox 25"/>
          <p:cNvSpPr txBox="1"/>
          <p:nvPr/>
        </p:nvSpPr>
        <p:spPr>
          <a:xfrm>
            <a:off x="3367964" y="3968496"/>
            <a:ext cx="909295" cy="320040"/>
          </a:xfrm>
          <a:prstGeom prst="rect">
            <a:avLst/>
          </a:prstGeom>
          <a:noFill/>
        </p:spPr>
        <p:txBody>
          <a:bodyPr wrap="square" lIns="0" tIns="0" rIns="0" bIns="0">
            <a:spAutoFit/>
          </a:bodyPr>
          <a:lstStyle/>
          <a:p>
            <a:pPr algn="ctr">
              <a:lnSpc>
                <a:spcPct val="105000"/>
              </a:lnSpc>
            </a:pPr>
            <a:r>
              <a:rPr sz="1400" b="1">
                <a:solidFill>
                  <a:srgbClr val="26301F"/>
                </a:solidFill>
                <a:latin typeface="Arial"/>
              </a:rPr>
              <a:t>4</a:t>
            </a:r>
          </a:p>
        </p:txBody>
      </p:sp>
      <p:sp>
        <p:nvSpPr>
          <p:cNvPr id="27" name="Rectangle 26"/>
          <p:cNvSpPr/>
          <p:nvPr/>
        </p:nvSpPr>
        <p:spPr>
          <a:xfrm>
            <a:off x="4304690" y="3840480"/>
            <a:ext cx="854431" cy="566928"/>
          </a:xfrm>
          <a:prstGeom prst="rect">
            <a:avLst/>
          </a:prstGeom>
          <a:solidFill>
            <a:srgbClr val="A9E76A"/>
          </a:solidFill>
          <a:ln>
            <a:noFill/>
          </a:ln>
        </p:spPr>
        <p:txBody>
          <a:bodyPr rtlCol="0" anchor="ctr"/>
          <a:lstStyle/>
          <a:p>
            <a:pPr algn="ctr"/>
          </a:p>
        </p:txBody>
      </p:sp>
      <p:sp>
        <p:nvSpPr>
          <p:cNvPr id="28" name="TextBox 27"/>
          <p:cNvSpPr txBox="1"/>
          <p:nvPr/>
        </p:nvSpPr>
        <p:spPr>
          <a:xfrm>
            <a:off x="4277258" y="3968496"/>
            <a:ext cx="909295" cy="320040"/>
          </a:xfrm>
          <a:prstGeom prst="rect">
            <a:avLst/>
          </a:prstGeom>
          <a:noFill/>
        </p:spPr>
        <p:txBody>
          <a:bodyPr wrap="square" lIns="0" tIns="0" rIns="0" bIns="0">
            <a:spAutoFit/>
          </a:bodyPr>
          <a:lstStyle/>
          <a:p>
            <a:pPr algn="ctr">
              <a:lnSpc>
                <a:spcPct val="105000"/>
              </a:lnSpc>
            </a:pPr>
            <a:r>
              <a:rPr sz="1400" b="1">
                <a:solidFill>
                  <a:srgbClr val="26301F"/>
                </a:solidFill>
                <a:latin typeface="Arial"/>
              </a:rPr>
              <a:t>5</a:t>
            </a:r>
          </a:p>
        </p:txBody>
      </p:sp>
      <p:sp>
        <p:nvSpPr>
          <p:cNvPr id="29" name="Rectangle 28"/>
          <p:cNvSpPr/>
          <p:nvPr/>
        </p:nvSpPr>
        <p:spPr>
          <a:xfrm>
            <a:off x="5213985" y="3840480"/>
            <a:ext cx="854431" cy="566928"/>
          </a:xfrm>
          <a:prstGeom prst="rect">
            <a:avLst/>
          </a:prstGeom>
          <a:solidFill>
            <a:srgbClr val="E4EAE0"/>
          </a:solidFill>
          <a:ln>
            <a:noFill/>
          </a:ln>
        </p:spPr>
        <p:txBody>
          <a:bodyPr rtlCol="0" anchor="ctr"/>
          <a:lstStyle/>
          <a:p>
            <a:pPr algn="ctr"/>
          </a:p>
        </p:txBody>
      </p:sp>
      <p:sp>
        <p:nvSpPr>
          <p:cNvPr id="30" name="TextBox 29"/>
          <p:cNvSpPr txBox="1"/>
          <p:nvPr/>
        </p:nvSpPr>
        <p:spPr>
          <a:xfrm>
            <a:off x="5186553" y="3968496"/>
            <a:ext cx="909295" cy="320040"/>
          </a:xfrm>
          <a:prstGeom prst="rect">
            <a:avLst/>
          </a:prstGeom>
          <a:noFill/>
        </p:spPr>
        <p:txBody>
          <a:bodyPr wrap="square" lIns="0" tIns="0" rIns="0" bIns="0">
            <a:spAutoFit/>
          </a:bodyPr>
          <a:lstStyle/>
          <a:p>
            <a:pPr algn="ctr">
              <a:lnSpc>
                <a:spcPct val="105000"/>
              </a:lnSpc>
            </a:pPr>
            <a:r>
              <a:rPr sz="1400" b="1">
                <a:solidFill>
                  <a:srgbClr val="26301F"/>
                </a:solidFill>
                <a:latin typeface="Arial"/>
              </a:rPr>
              <a:t>6</a:t>
            </a:r>
          </a:p>
        </p:txBody>
      </p:sp>
      <p:sp>
        <p:nvSpPr>
          <p:cNvPr id="31" name="Rectangle 30"/>
          <p:cNvSpPr/>
          <p:nvPr/>
        </p:nvSpPr>
        <p:spPr>
          <a:xfrm>
            <a:off x="6123280" y="3840480"/>
            <a:ext cx="854431" cy="566928"/>
          </a:xfrm>
          <a:prstGeom prst="rect">
            <a:avLst/>
          </a:prstGeom>
          <a:solidFill>
            <a:srgbClr val="E4EAE0"/>
          </a:solidFill>
          <a:ln>
            <a:noFill/>
          </a:ln>
        </p:spPr>
        <p:txBody>
          <a:bodyPr rtlCol="0" anchor="ctr"/>
          <a:lstStyle/>
          <a:p>
            <a:pPr algn="ctr"/>
          </a:p>
        </p:txBody>
      </p:sp>
      <p:sp>
        <p:nvSpPr>
          <p:cNvPr id="32" name="TextBox 31"/>
          <p:cNvSpPr txBox="1"/>
          <p:nvPr/>
        </p:nvSpPr>
        <p:spPr>
          <a:xfrm>
            <a:off x="6095848" y="3968496"/>
            <a:ext cx="909295" cy="320040"/>
          </a:xfrm>
          <a:prstGeom prst="rect">
            <a:avLst/>
          </a:prstGeom>
          <a:noFill/>
        </p:spPr>
        <p:txBody>
          <a:bodyPr wrap="square" lIns="0" tIns="0" rIns="0" bIns="0">
            <a:spAutoFit/>
          </a:bodyPr>
          <a:lstStyle/>
          <a:p>
            <a:pPr algn="ctr">
              <a:lnSpc>
                <a:spcPct val="105000"/>
              </a:lnSpc>
            </a:pPr>
            <a:r>
              <a:rPr sz="1400" b="1">
                <a:solidFill>
                  <a:srgbClr val="26301F"/>
                </a:solidFill>
                <a:latin typeface="Arial"/>
              </a:rPr>
              <a:t>7</a:t>
            </a:r>
          </a:p>
        </p:txBody>
      </p:sp>
      <p:sp>
        <p:nvSpPr>
          <p:cNvPr id="33" name="Rectangle 32"/>
          <p:cNvSpPr/>
          <p:nvPr/>
        </p:nvSpPr>
        <p:spPr>
          <a:xfrm>
            <a:off x="7032574" y="3840480"/>
            <a:ext cx="854431" cy="566928"/>
          </a:xfrm>
          <a:prstGeom prst="rect">
            <a:avLst/>
          </a:prstGeom>
          <a:solidFill>
            <a:srgbClr val="573F99"/>
          </a:solidFill>
          <a:ln>
            <a:noFill/>
          </a:ln>
        </p:spPr>
        <p:txBody>
          <a:bodyPr rtlCol="0" anchor="ctr"/>
          <a:lstStyle/>
          <a:p>
            <a:pPr algn="ctr"/>
          </a:p>
        </p:txBody>
      </p:sp>
      <p:sp>
        <p:nvSpPr>
          <p:cNvPr id="34" name="TextBox 33"/>
          <p:cNvSpPr txBox="1"/>
          <p:nvPr/>
        </p:nvSpPr>
        <p:spPr>
          <a:xfrm>
            <a:off x="7005142" y="3968496"/>
            <a:ext cx="909295" cy="320040"/>
          </a:xfrm>
          <a:prstGeom prst="rect">
            <a:avLst/>
          </a:prstGeom>
          <a:noFill/>
        </p:spPr>
        <p:txBody>
          <a:bodyPr wrap="square" lIns="0" tIns="0" rIns="0" bIns="0">
            <a:spAutoFit/>
          </a:bodyPr>
          <a:lstStyle/>
          <a:p>
            <a:pPr algn="ctr">
              <a:lnSpc>
                <a:spcPct val="105000"/>
              </a:lnSpc>
            </a:pPr>
            <a:r>
              <a:rPr sz="1400" b="1">
                <a:solidFill>
                  <a:srgbClr val="FFFFFF"/>
                </a:solidFill>
                <a:latin typeface="Arial"/>
              </a:rPr>
              <a:t>8</a:t>
            </a:r>
          </a:p>
        </p:txBody>
      </p:sp>
      <p:sp>
        <p:nvSpPr>
          <p:cNvPr id="35" name="Rectangle 34"/>
          <p:cNvSpPr/>
          <p:nvPr/>
        </p:nvSpPr>
        <p:spPr>
          <a:xfrm>
            <a:off x="7941869" y="3840480"/>
            <a:ext cx="854431" cy="566928"/>
          </a:xfrm>
          <a:prstGeom prst="rect">
            <a:avLst/>
          </a:prstGeom>
          <a:solidFill>
            <a:srgbClr val="C0392B"/>
          </a:solidFill>
          <a:ln>
            <a:noFill/>
          </a:ln>
        </p:spPr>
        <p:txBody>
          <a:bodyPr rtlCol="0" anchor="ctr"/>
          <a:lstStyle/>
          <a:p>
            <a:pPr algn="ctr"/>
          </a:p>
        </p:txBody>
      </p:sp>
      <p:sp>
        <p:nvSpPr>
          <p:cNvPr id="36" name="TextBox 35"/>
          <p:cNvSpPr txBox="1"/>
          <p:nvPr/>
        </p:nvSpPr>
        <p:spPr>
          <a:xfrm>
            <a:off x="7914437" y="3968496"/>
            <a:ext cx="909295" cy="320040"/>
          </a:xfrm>
          <a:prstGeom prst="rect">
            <a:avLst/>
          </a:prstGeom>
          <a:noFill/>
        </p:spPr>
        <p:txBody>
          <a:bodyPr wrap="square" lIns="0" tIns="0" rIns="0" bIns="0">
            <a:spAutoFit/>
          </a:bodyPr>
          <a:lstStyle/>
          <a:p>
            <a:pPr algn="ctr">
              <a:lnSpc>
                <a:spcPct val="105000"/>
              </a:lnSpc>
            </a:pPr>
            <a:r>
              <a:rPr sz="1400" b="1">
                <a:solidFill>
                  <a:srgbClr val="FFFFFF"/>
                </a:solidFill>
                <a:latin typeface="Arial"/>
              </a:rPr>
              <a:t>9</a:t>
            </a:r>
          </a:p>
        </p:txBody>
      </p:sp>
      <p:sp>
        <p:nvSpPr>
          <p:cNvPr id="37" name="Rectangle 36"/>
          <p:cNvSpPr/>
          <p:nvPr/>
        </p:nvSpPr>
        <p:spPr>
          <a:xfrm>
            <a:off x="8851163" y="3840480"/>
            <a:ext cx="854431" cy="566928"/>
          </a:xfrm>
          <a:prstGeom prst="rect">
            <a:avLst/>
          </a:prstGeom>
          <a:solidFill>
            <a:srgbClr val="C0392B"/>
          </a:solidFill>
          <a:ln>
            <a:noFill/>
          </a:ln>
        </p:spPr>
        <p:txBody>
          <a:bodyPr rtlCol="0" anchor="ctr"/>
          <a:lstStyle/>
          <a:p>
            <a:pPr algn="ctr"/>
          </a:p>
        </p:txBody>
      </p:sp>
      <p:sp>
        <p:nvSpPr>
          <p:cNvPr id="38" name="TextBox 37"/>
          <p:cNvSpPr txBox="1"/>
          <p:nvPr/>
        </p:nvSpPr>
        <p:spPr>
          <a:xfrm>
            <a:off x="8823731" y="3968496"/>
            <a:ext cx="909295" cy="320040"/>
          </a:xfrm>
          <a:prstGeom prst="rect">
            <a:avLst/>
          </a:prstGeom>
          <a:noFill/>
        </p:spPr>
        <p:txBody>
          <a:bodyPr wrap="square" lIns="0" tIns="0" rIns="0" bIns="0">
            <a:spAutoFit/>
          </a:bodyPr>
          <a:lstStyle/>
          <a:p>
            <a:pPr algn="ctr">
              <a:lnSpc>
                <a:spcPct val="105000"/>
              </a:lnSpc>
            </a:pPr>
            <a:r>
              <a:rPr sz="1400" b="1">
                <a:solidFill>
                  <a:srgbClr val="FFFFFF"/>
                </a:solidFill>
                <a:latin typeface="Arial"/>
              </a:rPr>
              <a:t>10</a:t>
            </a:r>
          </a:p>
        </p:txBody>
      </p:sp>
      <p:sp>
        <p:nvSpPr>
          <p:cNvPr id="39" name="Rectangle 38"/>
          <p:cNvSpPr/>
          <p:nvPr/>
        </p:nvSpPr>
        <p:spPr>
          <a:xfrm>
            <a:off x="9760458" y="3840480"/>
            <a:ext cx="854431" cy="566928"/>
          </a:xfrm>
          <a:prstGeom prst="rect">
            <a:avLst/>
          </a:prstGeom>
          <a:solidFill>
            <a:srgbClr val="C0392B"/>
          </a:solidFill>
          <a:ln>
            <a:noFill/>
          </a:ln>
        </p:spPr>
        <p:txBody>
          <a:bodyPr rtlCol="0" anchor="ctr"/>
          <a:lstStyle/>
          <a:p>
            <a:pPr algn="ctr"/>
          </a:p>
        </p:txBody>
      </p:sp>
      <p:sp>
        <p:nvSpPr>
          <p:cNvPr id="40" name="TextBox 39"/>
          <p:cNvSpPr txBox="1"/>
          <p:nvPr/>
        </p:nvSpPr>
        <p:spPr>
          <a:xfrm>
            <a:off x="9733026" y="3968496"/>
            <a:ext cx="909295" cy="320040"/>
          </a:xfrm>
          <a:prstGeom prst="rect">
            <a:avLst/>
          </a:prstGeom>
          <a:noFill/>
        </p:spPr>
        <p:txBody>
          <a:bodyPr wrap="square" lIns="0" tIns="0" rIns="0" bIns="0">
            <a:spAutoFit/>
          </a:bodyPr>
          <a:lstStyle/>
          <a:p>
            <a:pPr algn="ctr">
              <a:lnSpc>
                <a:spcPct val="105000"/>
              </a:lnSpc>
            </a:pPr>
            <a:r>
              <a:rPr sz="1400" b="1">
                <a:solidFill>
                  <a:srgbClr val="FFFFFF"/>
                </a:solidFill>
                <a:latin typeface="Arial"/>
              </a:rPr>
              <a:t>11</a:t>
            </a:r>
          </a:p>
        </p:txBody>
      </p:sp>
      <p:sp>
        <p:nvSpPr>
          <p:cNvPr id="41" name="Rectangle 40"/>
          <p:cNvSpPr/>
          <p:nvPr/>
        </p:nvSpPr>
        <p:spPr>
          <a:xfrm>
            <a:off x="10669753" y="3840480"/>
            <a:ext cx="854431" cy="566928"/>
          </a:xfrm>
          <a:prstGeom prst="rect">
            <a:avLst/>
          </a:prstGeom>
          <a:solidFill>
            <a:srgbClr val="C0392B"/>
          </a:solidFill>
          <a:ln>
            <a:noFill/>
          </a:ln>
        </p:spPr>
        <p:txBody>
          <a:bodyPr rtlCol="0" anchor="ctr"/>
          <a:lstStyle/>
          <a:p>
            <a:pPr algn="ctr"/>
          </a:p>
        </p:txBody>
      </p:sp>
      <p:sp>
        <p:nvSpPr>
          <p:cNvPr id="42" name="TextBox 41"/>
          <p:cNvSpPr txBox="1"/>
          <p:nvPr/>
        </p:nvSpPr>
        <p:spPr>
          <a:xfrm>
            <a:off x="10642321" y="3968496"/>
            <a:ext cx="909295" cy="320040"/>
          </a:xfrm>
          <a:prstGeom prst="rect">
            <a:avLst/>
          </a:prstGeom>
          <a:noFill/>
        </p:spPr>
        <p:txBody>
          <a:bodyPr wrap="square" lIns="0" tIns="0" rIns="0" bIns="0">
            <a:spAutoFit/>
          </a:bodyPr>
          <a:lstStyle/>
          <a:p>
            <a:pPr algn="ctr">
              <a:lnSpc>
                <a:spcPct val="105000"/>
              </a:lnSpc>
            </a:pPr>
            <a:r>
              <a:rPr sz="1400" b="1">
                <a:solidFill>
                  <a:srgbClr val="FFFFFF"/>
                </a:solidFill>
                <a:latin typeface="Arial"/>
              </a:rPr>
              <a:t>12</a:t>
            </a:r>
          </a:p>
        </p:txBody>
      </p:sp>
      <p:sp>
        <p:nvSpPr>
          <p:cNvPr id="43" name="TextBox 42"/>
          <p:cNvSpPr txBox="1"/>
          <p:nvPr/>
        </p:nvSpPr>
        <p:spPr>
          <a:xfrm>
            <a:off x="676656" y="4480560"/>
            <a:ext cx="836143" cy="457200"/>
          </a:xfrm>
          <a:prstGeom prst="rect">
            <a:avLst/>
          </a:prstGeom>
          <a:noFill/>
        </p:spPr>
        <p:txBody>
          <a:bodyPr wrap="square" lIns="0" tIns="0" rIns="0" bIns="0">
            <a:spAutoFit/>
          </a:bodyPr>
          <a:lstStyle/>
          <a:p>
            <a:pPr>
              <a:lnSpc>
                <a:spcPct val="100000"/>
              </a:lnSpc>
            </a:pPr>
            <a:r>
              <a:rPr sz="1200">
                <a:solidFill>
                  <a:srgbClr val="26301F"/>
                </a:solidFill>
                <a:latin typeface="Arial"/>
              </a:rPr>
              <a:t>payday: first debit</a:t>
            </a:r>
          </a:p>
        </p:txBody>
      </p:sp>
      <p:sp>
        <p:nvSpPr>
          <p:cNvPr id="44" name="TextBox 43"/>
          <p:cNvSpPr txBox="1"/>
          <p:nvPr/>
        </p:nvSpPr>
        <p:spPr>
          <a:xfrm>
            <a:off x="1585951" y="4480560"/>
            <a:ext cx="3564026" cy="457200"/>
          </a:xfrm>
          <a:prstGeom prst="rect">
            <a:avLst/>
          </a:prstGeom>
          <a:noFill/>
        </p:spPr>
        <p:txBody>
          <a:bodyPr wrap="square" lIns="0" tIns="0" rIns="0" bIns="0">
            <a:spAutoFit/>
          </a:bodyPr>
          <a:lstStyle/>
          <a:p>
            <a:pPr>
              <a:lnSpc>
                <a:spcPct val="100000"/>
              </a:lnSpc>
            </a:pPr>
            <a:r>
              <a:rPr sz="1200">
                <a:solidFill>
                  <a:srgbClr val="26301F"/>
                </a:solidFill>
                <a:latin typeface="Arial"/>
              </a:rPr>
              <a:t>a retry each morning, five attempts at most</a:t>
            </a:r>
          </a:p>
        </p:txBody>
      </p:sp>
      <p:sp>
        <p:nvSpPr>
          <p:cNvPr id="45" name="TextBox 44"/>
          <p:cNvSpPr txBox="1"/>
          <p:nvPr/>
        </p:nvSpPr>
        <p:spPr>
          <a:xfrm>
            <a:off x="7041718" y="4480560"/>
            <a:ext cx="836143" cy="457200"/>
          </a:xfrm>
          <a:prstGeom prst="rect">
            <a:avLst/>
          </a:prstGeom>
          <a:noFill/>
        </p:spPr>
        <p:txBody>
          <a:bodyPr wrap="square" lIns="0" tIns="0" rIns="0" bIns="0">
            <a:spAutoFit/>
          </a:bodyPr>
          <a:lstStyle/>
          <a:p>
            <a:pPr>
              <a:lnSpc>
                <a:spcPct val="100000"/>
              </a:lnSpc>
            </a:pPr>
            <a:r>
              <a:rPr sz="1200">
                <a:solidFill>
                  <a:srgbClr val="26301F"/>
                </a:solidFill>
                <a:latin typeface="Arial"/>
              </a:rPr>
              <a:t>due date</a:t>
            </a:r>
          </a:p>
        </p:txBody>
      </p:sp>
      <p:sp>
        <p:nvSpPr>
          <p:cNvPr id="46" name="TextBox 45"/>
          <p:cNvSpPr txBox="1"/>
          <p:nvPr/>
        </p:nvSpPr>
        <p:spPr>
          <a:xfrm>
            <a:off x="7951013" y="4480560"/>
            <a:ext cx="3564026" cy="457200"/>
          </a:xfrm>
          <a:prstGeom prst="rect">
            <a:avLst/>
          </a:prstGeom>
          <a:noFill/>
        </p:spPr>
        <p:txBody>
          <a:bodyPr wrap="square" lIns="0" tIns="0" rIns="0" bIns="0">
            <a:spAutoFit/>
          </a:bodyPr>
          <a:lstStyle/>
          <a:p>
            <a:pPr>
              <a:lnSpc>
                <a:spcPct val="100000"/>
              </a:lnSpc>
            </a:pPr>
            <a:r>
              <a:rPr sz="1200">
                <a:solidFill>
                  <a:srgbClr val="26301F"/>
                </a:solidFill>
                <a:latin typeface="Arial"/>
              </a:rPr>
              <a:t>late charges: 2%, then 5%, then 10%</a:t>
            </a:r>
          </a:p>
        </p:txBody>
      </p:sp>
      <p:sp>
        <p:nvSpPr>
          <p:cNvPr id="47" name="TextBox 46"/>
          <p:cNvSpPr txBox="1"/>
          <p:nvPr/>
        </p:nvSpPr>
        <p:spPr>
          <a:xfrm>
            <a:off x="640080" y="5212080"/>
            <a:ext cx="10911535" cy="457200"/>
          </a:xfrm>
          <a:prstGeom prst="rect">
            <a:avLst/>
          </a:prstGeom>
          <a:noFill/>
        </p:spPr>
        <p:txBody>
          <a:bodyPr wrap="square" lIns="0" tIns="0" rIns="0" bIns="0">
            <a:spAutoFit/>
          </a:bodyPr>
          <a:lstStyle/>
          <a:p>
            <a:pPr>
              <a:lnSpc>
                <a:spcPct val="105000"/>
              </a:lnSpc>
            </a:pPr>
            <a:r>
              <a:rPr sz="1400">
                <a:solidFill>
                  <a:srgbClr val="26301F"/>
                </a:solidFill>
                <a:latin typeface="Arial"/>
              </a:rPr>
              <a:t>Each late step also lowers the score: </a:t>
            </a:r>
            <a:r>
              <a:rPr sz="1400" b="1">
                <a:solidFill>
                  <a:srgbClr val="0C1408"/>
                </a:solidFill>
                <a:latin typeface="Arial"/>
              </a:rPr>
              <a:t>10, 20, then 40 points.</a:t>
            </a:r>
          </a:p>
        </p:txBody>
      </p:sp>
      <p:sp>
        <p:nvSpPr>
          <p:cNvPr id="48" name="TextBox 47"/>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   </a:t>
            </a:r>
            <a:r>
              <a:rPr sz="900">
                <a:solidFill>
                  <a:srgbClr val="5F6B58"/>
                </a:solidFill>
                <a:latin typeface="Arial"/>
              </a:rPr>
              <a:t>Default Prevention (HQ-CP-05); State Bank 40 per cent consumer finance limit, BPRD Circular Letter 29 of 2021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If a member stops after collecting, takaful pays the others first; recovery follows.</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16</a:t>
            </a:r>
          </a:p>
        </p:txBody>
      </p:sp>
      <p:sp>
        <p:nvSpPr>
          <p:cNvPr id="5" name="TextBox 4"/>
          <p:cNvSpPr txBox="1"/>
          <p:nvPr/>
        </p:nvSpPr>
        <p:spPr>
          <a:xfrm>
            <a:off x="640080" y="2103120"/>
            <a:ext cx="1783080" cy="548640"/>
          </a:xfrm>
          <a:prstGeom prst="rect">
            <a:avLst/>
          </a:prstGeom>
          <a:noFill/>
        </p:spPr>
        <p:txBody>
          <a:bodyPr wrap="square" lIns="0" tIns="0" rIns="0" bIns="0" anchor="ctr">
            <a:spAutoFit/>
          </a:bodyPr>
          <a:lstStyle/>
          <a:p>
            <a:pPr>
              <a:lnSpc>
                <a:spcPct val="103000"/>
              </a:lnSpc>
            </a:pPr>
            <a:r>
              <a:rPr sz="1400" b="1">
                <a:solidFill>
                  <a:srgbClr val="26301F"/>
                </a:solidFill>
                <a:latin typeface="Arial"/>
              </a:rPr>
              <a:t>Members left short</a:t>
            </a:r>
          </a:p>
        </p:txBody>
      </p:sp>
      <p:sp>
        <p:nvSpPr>
          <p:cNvPr id="6" name="TextBox 5"/>
          <p:cNvSpPr txBox="1"/>
          <p:nvPr/>
        </p:nvSpPr>
        <p:spPr>
          <a:xfrm>
            <a:off x="640080" y="3108960"/>
            <a:ext cx="1783080" cy="685800"/>
          </a:xfrm>
          <a:prstGeom prst="rect">
            <a:avLst/>
          </a:prstGeom>
          <a:noFill/>
        </p:spPr>
        <p:txBody>
          <a:bodyPr wrap="square" lIns="0" tIns="0" rIns="0" bIns="0" anchor="ctr">
            <a:spAutoFit/>
          </a:bodyPr>
          <a:lstStyle/>
          <a:p>
            <a:pPr>
              <a:lnSpc>
                <a:spcPct val="103000"/>
              </a:lnSpc>
            </a:pPr>
            <a:r>
              <a:rPr sz="1400" b="1">
                <a:solidFill>
                  <a:srgbClr val="26301F"/>
                </a:solidFill>
                <a:latin typeface="Arial"/>
              </a:rPr>
              <a:t>The member who stopped</a:t>
            </a:r>
          </a:p>
        </p:txBody>
      </p:sp>
      <p:cxnSp>
        <p:nvCxnSpPr>
          <p:cNvPr id="7" name="Connector 6"/>
          <p:cNvCxnSpPr/>
          <p:nvPr/>
        </p:nvCxnSpPr>
        <p:spPr>
          <a:xfrm>
            <a:off x="2880360" y="3474720"/>
            <a:ext cx="1591056" cy="0"/>
          </a:xfrm>
          <a:prstGeom prst="line">
            <a:avLst/>
          </a:prstGeom>
          <a:ln w="19050">
            <a:solidFill>
              <a:srgbClr val="41801A"/>
            </a:solidFill>
          </a:ln>
        </p:spPr>
      </p:cxnSp>
      <p:cxnSp>
        <p:nvCxnSpPr>
          <p:cNvPr id="8" name="Connector 7"/>
          <p:cNvCxnSpPr/>
          <p:nvPr/>
        </p:nvCxnSpPr>
        <p:spPr>
          <a:xfrm>
            <a:off x="4471416" y="3474720"/>
            <a:ext cx="1591056" cy="0"/>
          </a:xfrm>
          <a:prstGeom prst="line">
            <a:avLst/>
          </a:prstGeom>
          <a:ln w="30480">
            <a:solidFill>
              <a:srgbClr val="41801A"/>
            </a:solidFill>
          </a:ln>
        </p:spPr>
      </p:cxnSp>
      <p:cxnSp>
        <p:nvCxnSpPr>
          <p:cNvPr id="9" name="Connector 8"/>
          <p:cNvCxnSpPr/>
          <p:nvPr/>
        </p:nvCxnSpPr>
        <p:spPr>
          <a:xfrm>
            <a:off x="6062472" y="3474720"/>
            <a:ext cx="1591056" cy="0"/>
          </a:xfrm>
          <a:prstGeom prst="line">
            <a:avLst/>
          </a:prstGeom>
          <a:ln w="41910">
            <a:solidFill>
              <a:srgbClr val="41801A"/>
            </a:solidFill>
          </a:ln>
        </p:spPr>
      </p:cxnSp>
      <p:cxnSp>
        <p:nvCxnSpPr>
          <p:cNvPr id="10" name="Connector 9"/>
          <p:cNvCxnSpPr/>
          <p:nvPr/>
        </p:nvCxnSpPr>
        <p:spPr>
          <a:xfrm>
            <a:off x="7653528" y="3474720"/>
            <a:ext cx="1591056" cy="0"/>
          </a:xfrm>
          <a:prstGeom prst="line">
            <a:avLst/>
          </a:prstGeom>
          <a:ln w="53340">
            <a:solidFill>
              <a:srgbClr val="41801A"/>
            </a:solidFill>
          </a:ln>
        </p:spPr>
      </p:cxnSp>
      <p:cxnSp>
        <p:nvCxnSpPr>
          <p:cNvPr id="11" name="Connector 10"/>
          <p:cNvCxnSpPr/>
          <p:nvPr/>
        </p:nvCxnSpPr>
        <p:spPr>
          <a:xfrm>
            <a:off x="9244584" y="3474720"/>
            <a:ext cx="1591056" cy="0"/>
          </a:xfrm>
          <a:prstGeom prst="line">
            <a:avLst/>
          </a:prstGeom>
          <a:ln w="64769">
            <a:solidFill>
              <a:srgbClr val="41801A"/>
            </a:solidFill>
          </a:ln>
        </p:spPr>
      </p:cxnSp>
      <p:sp>
        <p:nvSpPr>
          <p:cNvPr id="12" name="Oval 11"/>
          <p:cNvSpPr/>
          <p:nvPr/>
        </p:nvSpPr>
        <p:spPr>
          <a:xfrm>
            <a:off x="2770632" y="3364992"/>
            <a:ext cx="219456" cy="219456"/>
          </a:xfrm>
          <a:prstGeom prst="ellipse">
            <a:avLst/>
          </a:prstGeom>
          <a:solidFill>
            <a:srgbClr val="FFFFFF"/>
          </a:solidFill>
          <a:ln w="25400">
            <a:solidFill>
              <a:srgbClr val="41801A"/>
            </a:solidFill>
          </a:ln>
        </p:spPr>
        <p:txBody>
          <a:bodyPr rtlCol="0" anchor="ctr"/>
          <a:lstStyle/>
          <a:p>
            <a:pPr algn="ctr"/>
          </a:p>
        </p:txBody>
      </p:sp>
      <p:sp>
        <p:nvSpPr>
          <p:cNvPr id="13" name="TextBox 12"/>
          <p:cNvSpPr txBox="1"/>
          <p:nvPr/>
        </p:nvSpPr>
        <p:spPr>
          <a:xfrm>
            <a:off x="2112264" y="3694176"/>
            <a:ext cx="1536192" cy="292608"/>
          </a:xfrm>
          <a:prstGeom prst="rect">
            <a:avLst/>
          </a:prstGeom>
          <a:noFill/>
        </p:spPr>
        <p:txBody>
          <a:bodyPr wrap="square" lIns="0" tIns="0" rIns="0" bIns="0">
            <a:spAutoFit/>
          </a:bodyPr>
          <a:lstStyle/>
          <a:p>
            <a:pPr algn="ctr">
              <a:lnSpc>
                <a:spcPct val="105000"/>
              </a:lnSpc>
            </a:pPr>
            <a:r>
              <a:rPr sz="1450" b="1">
                <a:solidFill>
                  <a:srgbClr val="0C1408"/>
                </a:solidFill>
                <a:latin typeface="Arial"/>
              </a:rPr>
              <a:t>1  Contact</a:t>
            </a:r>
          </a:p>
        </p:txBody>
      </p:sp>
      <p:sp>
        <p:nvSpPr>
          <p:cNvPr id="14" name="TextBox 13"/>
          <p:cNvSpPr txBox="1"/>
          <p:nvPr/>
        </p:nvSpPr>
        <p:spPr>
          <a:xfrm>
            <a:off x="2112264" y="4023360"/>
            <a:ext cx="1536192" cy="457200"/>
          </a:xfrm>
          <a:prstGeom prst="rect">
            <a:avLst/>
          </a:prstGeom>
          <a:noFill/>
        </p:spPr>
        <p:txBody>
          <a:bodyPr wrap="square" lIns="0" tIns="0" rIns="0" bIns="0">
            <a:spAutoFit/>
          </a:bodyPr>
          <a:lstStyle/>
          <a:p>
            <a:pPr algn="ctr">
              <a:lnSpc>
                <a:spcPct val="103000"/>
              </a:lnSpc>
            </a:pPr>
            <a:r>
              <a:rPr sz="1250">
                <a:solidFill>
                  <a:srgbClr val="5F6B58"/>
                </a:solidFill>
                <a:latin typeface="Arial"/>
              </a:rPr>
              <a:t>hardship plan</a:t>
            </a:r>
          </a:p>
        </p:txBody>
      </p:sp>
      <p:sp>
        <p:nvSpPr>
          <p:cNvPr id="15" name="Oval 14"/>
          <p:cNvSpPr/>
          <p:nvPr/>
        </p:nvSpPr>
        <p:spPr>
          <a:xfrm>
            <a:off x="4361688" y="3364992"/>
            <a:ext cx="219456" cy="219456"/>
          </a:xfrm>
          <a:prstGeom prst="ellipse">
            <a:avLst/>
          </a:prstGeom>
          <a:solidFill>
            <a:srgbClr val="FFFFFF"/>
          </a:solidFill>
          <a:ln w="25400">
            <a:solidFill>
              <a:srgbClr val="41801A"/>
            </a:solidFill>
          </a:ln>
        </p:spPr>
        <p:txBody>
          <a:bodyPr rtlCol="0" anchor="ctr"/>
          <a:lstStyle/>
          <a:p>
            <a:pPr algn="ctr"/>
          </a:p>
        </p:txBody>
      </p:sp>
      <p:sp>
        <p:nvSpPr>
          <p:cNvPr id="16" name="TextBox 15"/>
          <p:cNvSpPr txBox="1"/>
          <p:nvPr/>
        </p:nvSpPr>
        <p:spPr>
          <a:xfrm>
            <a:off x="3703320" y="3694176"/>
            <a:ext cx="1536192" cy="292608"/>
          </a:xfrm>
          <a:prstGeom prst="rect">
            <a:avLst/>
          </a:prstGeom>
          <a:noFill/>
        </p:spPr>
        <p:txBody>
          <a:bodyPr wrap="square" lIns="0" tIns="0" rIns="0" bIns="0">
            <a:spAutoFit/>
          </a:bodyPr>
          <a:lstStyle/>
          <a:p>
            <a:pPr algn="ctr">
              <a:lnSpc>
                <a:spcPct val="105000"/>
              </a:lnSpc>
            </a:pPr>
            <a:r>
              <a:rPr sz="1450" b="1">
                <a:solidFill>
                  <a:srgbClr val="0C1408"/>
                </a:solidFill>
                <a:latin typeface="Arial"/>
              </a:rPr>
              <a:t>2  Restrict</a:t>
            </a:r>
          </a:p>
        </p:txBody>
      </p:sp>
      <p:sp>
        <p:nvSpPr>
          <p:cNvPr id="17" name="TextBox 16"/>
          <p:cNvSpPr txBox="1"/>
          <p:nvPr/>
        </p:nvSpPr>
        <p:spPr>
          <a:xfrm>
            <a:off x="3703320" y="4023360"/>
            <a:ext cx="1536192" cy="457200"/>
          </a:xfrm>
          <a:prstGeom prst="rect">
            <a:avLst/>
          </a:prstGeom>
          <a:noFill/>
        </p:spPr>
        <p:txBody>
          <a:bodyPr wrap="square" lIns="0" tIns="0" rIns="0" bIns="0">
            <a:spAutoFit/>
          </a:bodyPr>
          <a:lstStyle/>
          <a:p>
            <a:pPr algn="ctr">
              <a:lnSpc>
                <a:spcPct val="103000"/>
              </a:lnSpc>
            </a:pPr>
            <a:r>
              <a:rPr sz="1250">
                <a:solidFill>
                  <a:srgbClr val="5F6B58"/>
                </a:solidFill>
                <a:latin typeface="Arial"/>
              </a:rPr>
              <a:t>score down 200</a:t>
            </a:r>
          </a:p>
        </p:txBody>
      </p:sp>
      <p:sp>
        <p:nvSpPr>
          <p:cNvPr id="18" name="Oval 17"/>
          <p:cNvSpPr/>
          <p:nvPr/>
        </p:nvSpPr>
        <p:spPr>
          <a:xfrm>
            <a:off x="5952744" y="3364992"/>
            <a:ext cx="219456" cy="219456"/>
          </a:xfrm>
          <a:prstGeom prst="ellipse">
            <a:avLst/>
          </a:prstGeom>
          <a:solidFill>
            <a:srgbClr val="FFFFFF"/>
          </a:solidFill>
          <a:ln w="25400">
            <a:solidFill>
              <a:srgbClr val="41801A"/>
            </a:solidFill>
          </a:ln>
        </p:spPr>
        <p:txBody>
          <a:bodyPr rtlCol="0" anchor="ctr"/>
          <a:lstStyle/>
          <a:p>
            <a:pPr algn="ctr"/>
          </a:p>
        </p:txBody>
      </p:sp>
      <p:sp>
        <p:nvSpPr>
          <p:cNvPr id="19" name="TextBox 18"/>
          <p:cNvSpPr txBox="1"/>
          <p:nvPr/>
        </p:nvSpPr>
        <p:spPr>
          <a:xfrm>
            <a:off x="5294376" y="3694176"/>
            <a:ext cx="1536192" cy="292608"/>
          </a:xfrm>
          <a:prstGeom prst="rect">
            <a:avLst/>
          </a:prstGeom>
          <a:noFill/>
        </p:spPr>
        <p:txBody>
          <a:bodyPr wrap="square" lIns="0" tIns="0" rIns="0" bIns="0">
            <a:spAutoFit/>
          </a:bodyPr>
          <a:lstStyle/>
          <a:p>
            <a:pPr algn="ctr">
              <a:lnSpc>
                <a:spcPct val="105000"/>
              </a:lnSpc>
            </a:pPr>
            <a:r>
              <a:rPr sz="1450" b="1">
                <a:solidFill>
                  <a:srgbClr val="0C1408"/>
                </a:solidFill>
                <a:latin typeface="Arial"/>
              </a:rPr>
              <a:t>3  Takaful</a:t>
            </a:r>
          </a:p>
        </p:txBody>
      </p:sp>
      <p:sp>
        <p:nvSpPr>
          <p:cNvPr id="20" name="TextBox 19"/>
          <p:cNvSpPr txBox="1"/>
          <p:nvPr/>
        </p:nvSpPr>
        <p:spPr>
          <a:xfrm>
            <a:off x="5294376" y="4023360"/>
            <a:ext cx="1536192" cy="457200"/>
          </a:xfrm>
          <a:prstGeom prst="rect">
            <a:avLst/>
          </a:prstGeom>
          <a:noFill/>
        </p:spPr>
        <p:txBody>
          <a:bodyPr wrap="square" lIns="0" tIns="0" rIns="0" bIns="0">
            <a:spAutoFit/>
          </a:bodyPr>
          <a:lstStyle/>
          <a:p>
            <a:pPr algn="ctr">
              <a:lnSpc>
                <a:spcPct val="103000"/>
              </a:lnSpc>
            </a:pPr>
            <a:r>
              <a:rPr sz="1250">
                <a:solidFill>
                  <a:srgbClr val="5F6B58"/>
                </a:solidFill>
                <a:latin typeface="Arial"/>
              </a:rPr>
              <a:t>pays those left short</a:t>
            </a:r>
          </a:p>
        </p:txBody>
      </p:sp>
      <p:sp>
        <p:nvSpPr>
          <p:cNvPr id="21" name="Oval 20"/>
          <p:cNvSpPr/>
          <p:nvPr/>
        </p:nvSpPr>
        <p:spPr>
          <a:xfrm>
            <a:off x="7543800" y="3364992"/>
            <a:ext cx="219456" cy="219456"/>
          </a:xfrm>
          <a:prstGeom prst="ellipse">
            <a:avLst/>
          </a:prstGeom>
          <a:solidFill>
            <a:srgbClr val="FFFFFF"/>
          </a:solidFill>
          <a:ln w="25400">
            <a:solidFill>
              <a:srgbClr val="41801A"/>
            </a:solidFill>
          </a:ln>
        </p:spPr>
        <p:txBody>
          <a:bodyPr rtlCol="0" anchor="ctr"/>
          <a:lstStyle/>
          <a:p>
            <a:pPr algn="ctr"/>
          </a:p>
        </p:txBody>
      </p:sp>
      <p:sp>
        <p:nvSpPr>
          <p:cNvPr id="22" name="TextBox 21"/>
          <p:cNvSpPr txBox="1"/>
          <p:nvPr/>
        </p:nvSpPr>
        <p:spPr>
          <a:xfrm>
            <a:off x="6885432" y="3694176"/>
            <a:ext cx="1536192" cy="292608"/>
          </a:xfrm>
          <a:prstGeom prst="rect">
            <a:avLst/>
          </a:prstGeom>
          <a:noFill/>
        </p:spPr>
        <p:txBody>
          <a:bodyPr wrap="square" lIns="0" tIns="0" rIns="0" bIns="0">
            <a:spAutoFit/>
          </a:bodyPr>
          <a:lstStyle/>
          <a:p>
            <a:pPr algn="ctr">
              <a:lnSpc>
                <a:spcPct val="105000"/>
              </a:lnSpc>
            </a:pPr>
            <a:r>
              <a:rPr sz="1450" b="1">
                <a:solidFill>
                  <a:srgbClr val="0C1408"/>
                </a:solidFill>
                <a:latin typeface="Arial"/>
              </a:rPr>
              <a:t>4  Guarantee</a:t>
            </a:r>
          </a:p>
        </p:txBody>
      </p:sp>
      <p:sp>
        <p:nvSpPr>
          <p:cNvPr id="23" name="TextBox 22"/>
          <p:cNvSpPr txBox="1"/>
          <p:nvPr/>
        </p:nvSpPr>
        <p:spPr>
          <a:xfrm>
            <a:off x="6885432" y="4023360"/>
            <a:ext cx="1536192" cy="457200"/>
          </a:xfrm>
          <a:prstGeom prst="rect">
            <a:avLst/>
          </a:prstGeom>
          <a:noFill/>
        </p:spPr>
        <p:txBody>
          <a:bodyPr wrap="square" lIns="0" tIns="0" rIns="0" bIns="0">
            <a:spAutoFit/>
          </a:bodyPr>
          <a:lstStyle/>
          <a:p>
            <a:pPr algn="ctr">
              <a:lnSpc>
                <a:spcPct val="103000"/>
              </a:lnSpc>
            </a:pPr>
            <a:r>
              <a:rPr sz="1250">
                <a:solidFill>
                  <a:srgbClr val="5F6B58"/>
                </a:solidFill>
                <a:latin typeface="Arial"/>
              </a:rPr>
              <a:t>balance falls due</a:t>
            </a:r>
          </a:p>
        </p:txBody>
      </p:sp>
      <p:sp>
        <p:nvSpPr>
          <p:cNvPr id="24" name="Oval 23"/>
          <p:cNvSpPr/>
          <p:nvPr/>
        </p:nvSpPr>
        <p:spPr>
          <a:xfrm>
            <a:off x="9134856" y="3364992"/>
            <a:ext cx="219456" cy="219456"/>
          </a:xfrm>
          <a:prstGeom prst="ellipse">
            <a:avLst/>
          </a:prstGeom>
          <a:solidFill>
            <a:srgbClr val="FFFFFF"/>
          </a:solidFill>
          <a:ln w="25400">
            <a:solidFill>
              <a:srgbClr val="41801A"/>
            </a:solidFill>
          </a:ln>
        </p:spPr>
        <p:txBody>
          <a:bodyPr rtlCol="0" anchor="ctr"/>
          <a:lstStyle/>
          <a:p>
            <a:pPr algn="ctr"/>
          </a:p>
        </p:txBody>
      </p:sp>
      <p:sp>
        <p:nvSpPr>
          <p:cNvPr id="25" name="TextBox 24"/>
          <p:cNvSpPr txBox="1"/>
          <p:nvPr/>
        </p:nvSpPr>
        <p:spPr>
          <a:xfrm>
            <a:off x="8476488" y="3694176"/>
            <a:ext cx="1536192" cy="292608"/>
          </a:xfrm>
          <a:prstGeom prst="rect">
            <a:avLst/>
          </a:prstGeom>
          <a:noFill/>
        </p:spPr>
        <p:txBody>
          <a:bodyPr wrap="square" lIns="0" tIns="0" rIns="0" bIns="0">
            <a:spAutoFit/>
          </a:bodyPr>
          <a:lstStyle/>
          <a:p>
            <a:pPr algn="ctr">
              <a:lnSpc>
                <a:spcPct val="105000"/>
              </a:lnSpc>
            </a:pPr>
            <a:r>
              <a:rPr sz="1450" b="1">
                <a:solidFill>
                  <a:srgbClr val="0C1408"/>
                </a:solidFill>
                <a:latin typeface="Arial"/>
              </a:rPr>
              <a:t>5  Civil suit</a:t>
            </a:r>
          </a:p>
        </p:txBody>
      </p:sp>
      <p:sp>
        <p:nvSpPr>
          <p:cNvPr id="26" name="TextBox 25"/>
          <p:cNvSpPr txBox="1"/>
          <p:nvPr/>
        </p:nvSpPr>
        <p:spPr>
          <a:xfrm>
            <a:off x="8476488" y="4023360"/>
            <a:ext cx="1536192" cy="457200"/>
          </a:xfrm>
          <a:prstGeom prst="rect">
            <a:avLst/>
          </a:prstGeom>
          <a:noFill/>
        </p:spPr>
        <p:txBody>
          <a:bodyPr wrap="square" lIns="0" tIns="0" rIns="0" bIns="0">
            <a:spAutoFit/>
          </a:bodyPr>
          <a:lstStyle/>
          <a:p>
            <a:pPr algn="ctr">
              <a:lnSpc>
                <a:spcPct val="103000"/>
              </a:lnSpc>
            </a:pPr>
            <a:r>
              <a:rPr sz="1250">
                <a:solidFill>
                  <a:srgbClr val="5F6B58"/>
                </a:solidFill>
                <a:latin typeface="Arial"/>
              </a:rPr>
              <a:t>on the undertaking</a:t>
            </a:r>
          </a:p>
        </p:txBody>
      </p:sp>
      <p:sp>
        <p:nvSpPr>
          <p:cNvPr id="27" name="Oval 26"/>
          <p:cNvSpPr/>
          <p:nvPr/>
        </p:nvSpPr>
        <p:spPr>
          <a:xfrm>
            <a:off x="10725912" y="3364992"/>
            <a:ext cx="219456" cy="219456"/>
          </a:xfrm>
          <a:prstGeom prst="ellipse">
            <a:avLst/>
          </a:prstGeom>
          <a:solidFill>
            <a:srgbClr val="FFFFFF"/>
          </a:solidFill>
          <a:ln w="25400">
            <a:solidFill>
              <a:srgbClr val="41801A"/>
            </a:solidFill>
          </a:ln>
        </p:spPr>
        <p:txBody>
          <a:bodyPr rtlCol="0" anchor="ctr"/>
          <a:lstStyle/>
          <a:p>
            <a:pPr algn="ctr"/>
          </a:p>
        </p:txBody>
      </p:sp>
      <p:sp>
        <p:nvSpPr>
          <p:cNvPr id="28" name="TextBox 27"/>
          <p:cNvSpPr txBox="1"/>
          <p:nvPr/>
        </p:nvSpPr>
        <p:spPr>
          <a:xfrm>
            <a:off x="10067544" y="3694176"/>
            <a:ext cx="1536192" cy="292608"/>
          </a:xfrm>
          <a:prstGeom prst="rect">
            <a:avLst/>
          </a:prstGeom>
          <a:noFill/>
        </p:spPr>
        <p:txBody>
          <a:bodyPr wrap="square" lIns="0" tIns="0" rIns="0" bIns="0">
            <a:spAutoFit/>
          </a:bodyPr>
          <a:lstStyle/>
          <a:p>
            <a:pPr algn="ctr">
              <a:lnSpc>
                <a:spcPct val="105000"/>
              </a:lnSpc>
            </a:pPr>
            <a:r>
              <a:rPr sz="1450" b="1">
                <a:solidFill>
                  <a:srgbClr val="0C1408"/>
                </a:solidFill>
                <a:latin typeface="Arial"/>
              </a:rPr>
              <a:t>6  Cheque</a:t>
            </a:r>
          </a:p>
        </p:txBody>
      </p:sp>
      <p:sp>
        <p:nvSpPr>
          <p:cNvPr id="29" name="TextBox 28"/>
          <p:cNvSpPr txBox="1"/>
          <p:nvPr/>
        </p:nvSpPr>
        <p:spPr>
          <a:xfrm>
            <a:off x="10067544" y="4023360"/>
            <a:ext cx="1536192" cy="457200"/>
          </a:xfrm>
          <a:prstGeom prst="rect">
            <a:avLst/>
          </a:prstGeom>
          <a:noFill/>
        </p:spPr>
        <p:txBody>
          <a:bodyPr wrap="square" lIns="0" tIns="0" rIns="0" bIns="0">
            <a:spAutoFit/>
          </a:bodyPr>
          <a:lstStyle/>
          <a:p>
            <a:pPr algn="ctr">
              <a:lnSpc>
                <a:spcPct val="103000"/>
              </a:lnSpc>
            </a:pPr>
            <a:r>
              <a:rPr sz="1250">
                <a:solidFill>
                  <a:srgbClr val="5F6B58"/>
                </a:solidFill>
                <a:latin typeface="Arial"/>
              </a:rPr>
              <a:t>only if one is held</a:t>
            </a:r>
          </a:p>
        </p:txBody>
      </p:sp>
      <p:sp>
        <p:nvSpPr>
          <p:cNvPr id="30" name="TextBox 29"/>
          <p:cNvSpPr txBox="1"/>
          <p:nvPr/>
        </p:nvSpPr>
        <p:spPr>
          <a:xfrm>
            <a:off x="2770632" y="3044952"/>
            <a:ext cx="3840480" cy="256032"/>
          </a:xfrm>
          <a:prstGeom prst="rect">
            <a:avLst/>
          </a:prstGeom>
          <a:noFill/>
        </p:spPr>
        <p:txBody>
          <a:bodyPr wrap="square" lIns="0" tIns="0" rIns="0" bIns="0">
            <a:spAutoFit/>
          </a:bodyPr>
          <a:lstStyle/>
          <a:p>
            <a:pPr>
              <a:lnSpc>
                <a:spcPct val="105000"/>
              </a:lnSpc>
            </a:pPr>
            <a:r>
              <a:rPr sz="1200">
                <a:solidFill>
                  <a:srgbClr val="5F6B58"/>
                </a:solidFill>
                <a:latin typeface="Arial"/>
              </a:rPr>
              <a:t>each step only if the one before fails</a:t>
            </a:r>
          </a:p>
        </p:txBody>
      </p:sp>
      <p:cxnSp>
        <p:nvCxnSpPr>
          <p:cNvPr id="31" name="Connector 30"/>
          <p:cNvCxnSpPr/>
          <p:nvPr/>
        </p:nvCxnSpPr>
        <p:spPr>
          <a:xfrm flipV="1">
            <a:off x="6062472" y="2496312"/>
            <a:ext cx="0" cy="850392"/>
          </a:xfrm>
          <a:prstGeom prst="line">
            <a:avLst/>
          </a:prstGeom>
          <a:ln w="19050">
            <a:solidFill>
              <a:srgbClr val="41801A"/>
            </a:solidFill>
            <a:tailEnd type="triangle" w="med" len="med"/>
          </a:ln>
        </p:spPr>
      </p:cxnSp>
      <p:cxnSp>
        <p:nvCxnSpPr>
          <p:cNvPr id="32" name="Connector 31"/>
          <p:cNvCxnSpPr/>
          <p:nvPr/>
        </p:nvCxnSpPr>
        <p:spPr>
          <a:xfrm>
            <a:off x="2880360" y="2432304"/>
            <a:ext cx="3136392" cy="0"/>
          </a:xfrm>
          <a:prstGeom prst="line">
            <a:avLst/>
          </a:prstGeom>
          <a:ln w="12700">
            <a:solidFill>
              <a:srgbClr val="A9B4A3"/>
            </a:solidFill>
            <a:prstDash val="dash"/>
          </a:ln>
        </p:spPr>
      </p:cxnSp>
      <p:sp>
        <p:nvSpPr>
          <p:cNvPr id="33" name="Rectangle 32"/>
          <p:cNvSpPr/>
          <p:nvPr/>
        </p:nvSpPr>
        <p:spPr>
          <a:xfrm>
            <a:off x="6062472" y="2377440"/>
            <a:ext cx="5489143" cy="109728"/>
          </a:xfrm>
          <a:prstGeom prst="rect">
            <a:avLst/>
          </a:prstGeom>
          <a:solidFill>
            <a:srgbClr val="41801A"/>
          </a:solidFill>
          <a:ln>
            <a:noFill/>
          </a:ln>
        </p:spPr>
        <p:txBody>
          <a:bodyPr rtlCol="0" anchor="ctr"/>
          <a:lstStyle/>
          <a:p>
            <a:pPr algn="ctr"/>
          </a:p>
        </p:txBody>
      </p:sp>
      <p:sp>
        <p:nvSpPr>
          <p:cNvPr id="34" name="TextBox 33"/>
          <p:cNvSpPr txBox="1"/>
          <p:nvPr/>
        </p:nvSpPr>
        <p:spPr>
          <a:xfrm>
            <a:off x="6153912" y="1993392"/>
            <a:ext cx="5397703" cy="320040"/>
          </a:xfrm>
          <a:prstGeom prst="rect">
            <a:avLst/>
          </a:prstGeom>
          <a:noFill/>
        </p:spPr>
        <p:txBody>
          <a:bodyPr wrap="square" lIns="0" tIns="0" rIns="0" bIns="0">
            <a:spAutoFit/>
          </a:bodyPr>
          <a:lstStyle/>
          <a:p>
            <a:pPr>
              <a:lnSpc>
                <a:spcPct val="105000"/>
              </a:lnSpc>
            </a:pPr>
            <a:r>
              <a:rPr sz="1450" b="1">
                <a:solidFill>
                  <a:srgbClr val="41801A"/>
                </a:solidFill>
                <a:latin typeface="Arial"/>
              </a:rPr>
              <a:t>paid in full, in their own names</a:t>
            </a:r>
          </a:p>
        </p:txBody>
      </p:sp>
      <p:sp>
        <p:nvSpPr>
          <p:cNvPr id="35" name="TextBox 34"/>
          <p:cNvSpPr txBox="1"/>
          <p:nvPr/>
        </p:nvSpPr>
        <p:spPr>
          <a:xfrm>
            <a:off x="640080" y="4828032"/>
            <a:ext cx="3393338" cy="457200"/>
          </a:xfrm>
          <a:prstGeom prst="rect">
            <a:avLst/>
          </a:prstGeom>
          <a:noFill/>
        </p:spPr>
        <p:txBody>
          <a:bodyPr wrap="square" lIns="0" tIns="0" rIns="0" bIns="0">
            <a:spAutoFit/>
          </a:bodyPr>
          <a:lstStyle/>
          <a:p>
            <a:pPr>
              <a:lnSpc>
                <a:spcPct val="105000"/>
              </a:lnSpc>
            </a:pPr>
            <a:r>
              <a:rPr sz="2800">
                <a:solidFill>
                  <a:srgbClr val="41801A"/>
                </a:solidFill>
                <a:latin typeface="Georgia"/>
              </a:rPr>
              <a:t>About 5.5%</a:t>
            </a:r>
          </a:p>
        </p:txBody>
      </p:sp>
      <p:sp>
        <p:nvSpPr>
          <p:cNvPr id="36" name="TextBox 35"/>
          <p:cNvSpPr txBox="1"/>
          <p:nvPr/>
        </p:nvSpPr>
        <p:spPr>
          <a:xfrm>
            <a:off x="640080" y="5349240"/>
            <a:ext cx="3393338" cy="566928"/>
          </a:xfrm>
          <a:prstGeom prst="rect">
            <a:avLst/>
          </a:prstGeom>
          <a:noFill/>
        </p:spPr>
        <p:txBody>
          <a:bodyPr wrap="square" lIns="0" tIns="0" rIns="0" bIns="0">
            <a:spAutoFit/>
          </a:bodyPr>
          <a:lstStyle/>
          <a:p>
            <a:pPr>
              <a:lnSpc>
                <a:spcPct val="104000"/>
              </a:lnSpc>
            </a:pPr>
            <a:r>
              <a:rPr sz="1400">
                <a:solidFill>
                  <a:srgbClr val="0C1408"/>
                </a:solidFill>
                <a:latin typeface="Arial"/>
              </a:rPr>
              <a:t>of the instalment prices the takaful [1]</a:t>
            </a:r>
          </a:p>
        </p:txBody>
      </p:sp>
      <p:cxnSp>
        <p:nvCxnSpPr>
          <p:cNvPr id="37" name="Connector 36"/>
          <p:cNvCxnSpPr/>
          <p:nvPr/>
        </p:nvCxnSpPr>
        <p:spPr>
          <a:xfrm>
            <a:off x="4216298" y="4892040"/>
            <a:ext cx="0" cy="914400"/>
          </a:xfrm>
          <a:prstGeom prst="line">
            <a:avLst/>
          </a:prstGeom>
          <a:ln w="9525">
            <a:solidFill>
              <a:srgbClr val="CFD8C6"/>
            </a:solidFill>
          </a:ln>
        </p:spPr>
      </p:cxnSp>
      <p:sp>
        <p:nvSpPr>
          <p:cNvPr id="38" name="TextBox 37"/>
          <p:cNvSpPr txBox="1"/>
          <p:nvPr/>
        </p:nvSpPr>
        <p:spPr>
          <a:xfrm>
            <a:off x="4399178" y="4828032"/>
            <a:ext cx="3393338" cy="457200"/>
          </a:xfrm>
          <a:prstGeom prst="rect">
            <a:avLst/>
          </a:prstGeom>
          <a:noFill/>
        </p:spPr>
        <p:txBody>
          <a:bodyPr wrap="square" lIns="0" tIns="0" rIns="0" bIns="0">
            <a:spAutoFit/>
          </a:bodyPr>
          <a:lstStyle/>
          <a:p>
            <a:pPr>
              <a:lnSpc>
                <a:spcPct val="105000"/>
              </a:lnSpc>
            </a:pPr>
            <a:r>
              <a:rPr sz="2800">
                <a:solidFill>
                  <a:srgbClr val="573F99"/>
                </a:solidFill>
                <a:latin typeface="Georgia"/>
              </a:rPr>
              <a:t>Raqami chooses</a:t>
            </a:r>
          </a:p>
        </p:txBody>
      </p:sp>
      <p:sp>
        <p:nvSpPr>
          <p:cNvPr id="39" name="TextBox 38"/>
          <p:cNvSpPr txBox="1"/>
          <p:nvPr/>
        </p:nvSpPr>
        <p:spPr>
          <a:xfrm>
            <a:off x="4399178" y="5349240"/>
            <a:ext cx="3393338" cy="566928"/>
          </a:xfrm>
          <a:prstGeom prst="rect">
            <a:avLst/>
          </a:prstGeom>
          <a:noFill/>
        </p:spPr>
        <p:txBody>
          <a:bodyPr wrap="square" lIns="0" tIns="0" rIns="0" bIns="0">
            <a:spAutoFit/>
          </a:bodyPr>
          <a:lstStyle/>
          <a:p>
            <a:pPr>
              <a:lnSpc>
                <a:spcPct val="104000"/>
              </a:lnSpc>
            </a:pPr>
            <a:r>
              <a:rPr sz="1400">
                <a:solidFill>
                  <a:srgbClr val="0C1408"/>
                </a:solidFill>
                <a:latin typeface="Arial"/>
              </a:rPr>
              <a:t>the takaful operator</a:t>
            </a:r>
          </a:p>
        </p:txBody>
      </p:sp>
      <p:cxnSp>
        <p:nvCxnSpPr>
          <p:cNvPr id="40" name="Connector 39"/>
          <p:cNvCxnSpPr/>
          <p:nvPr/>
        </p:nvCxnSpPr>
        <p:spPr>
          <a:xfrm>
            <a:off x="7975397" y="4892040"/>
            <a:ext cx="0" cy="914400"/>
          </a:xfrm>
          <a:prstGeom prst="line">
            <a:avLst/>
          </a:prstGeom>
          <a:ln w="9525">
            <a:solidFill>
              <a:srgbClr val="CFD8C6"/>
            </a:solidFill>
          </a:ln>
        </p:spPr>
      </p:cxnSp>
      <p:sp>
        <p:nvSpPr>
          <p:cNvPr id="41" name="TextBox 40"/>
          <p:cNvSpPr txBox="1"/>
          <p:nvPr/>
        </p:nvSpPr>
        <p:spPr>
          <a:xfrm>
            <a:off x="8158277" y="4828032"/>
            <a:ext cx="3393338" cy="457200"/>
          </a:xfrm>
          <a:prstGeom prst="rect">
            <a:avLst/>
          </a:prstGeom>
          <a:noFill/>
        </p:spPr>
        <p:txBody>
          <a:bodyPr wrap="square" lIns="0" tIns="0" rIns="0" bIns="0">
            <a:spAutoFit/>
          </a:bodyPr>
          <a:lstStyle/>
          <a:p>
            <a:pPr>
              <a:lnSpc>
                <a:spcPct val="105000"/>
              </a:lnSpc>
            </a:pPr>
            <a:r>
              <a:rPr sz="2800">
                <a:solidFill>
                  <a:srgbClr val="C0392B"/>
                </a:solidFill>
                <a:latin typeface="Georgia"/>
              </a:rPr>
              <a:t>Never</a:t>
            </a:r>
          </a:p>
        </p:txBody>
      </p:sp>
      <p:sp>
        <p:nvSpPr>
          <p:cNvPr id="42" name="TextBox 41"/>
          <p:cNvSpPr txBox="1"/>
          <p:nvPr/>
        </p:nvSpPr>
        <p:spPr>
          <a:xfrm>
            <a:off x="8158277" y="5349240"/>
            <a:ext cx="3393338" cy="566928"/>
          </a:xfrm>
          <a:prstGeom prst="rect">
            <a:avLst/>
          </a:prstGeom>
          <a:noFill/>
        </p:spPr>
        <p:txBody>
          <a:bodyPr wrap="square" lIns="0" tIns="0" rIns="0" bIns="0">
            <a:spAutoFit/>
          </a:bodyPr>
          <a:lstStyle/>
          <a:p>
            <a:pPr>
              <a:lnSpc>
                <a:spcPct val="104000"/>
              </a:lnSpc>
            </a:pPr>
            <a:r>
              <a:rPr sz="1400">
                <a:solidFill>
                  <a:srgbClr val="0C1408"/>
                </a:solidFill>
                <a:latin typeface="Arial"/>
              </a:rPr>
              <a:t>relatives, contact lists or public names</a:t>
            </a:r>
          </a:p>
        </p:txBody>
      </p:sp>
      <p:sp>
        <p:nvSpPr>
          <p:cNvPr id="43" name="TextBox 42"/>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   </a:t>
            </a:r>
            <a:r>
              <a:rPr sz="900">
                <a:solidFill>
                  <a:srgbClr val="5F6B58"/>
                </a:solidFill>
                <a:latin typeface="Arial"/>
              </a:rPr>
              <a:t>Takaful Cover Pricing Model (HQ-MF-05): one circle in five losing a fifth of its members from the earliest turns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Each instalment splits three ways, and Raqami shares its fee with Halqa.</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17</a:t>
            </a:r>
          </a:p>
        </p:txBody>
      </p:sp>
      <p:sp>
        <p:nvSpPr>
          <p:cNvPr id="5" name="TextBox 4"/>
          <p:cNvSpPr txBox="1"/>
          <p:nvPr/>
        </p:nvSpPr>
        <p:spPr>
          <a:xfrm>
            <a:off x="640080" y="1600200"/>
            <a:ext cx="5760720" cy="274320"/>
          </a:xfrm>
          <a:prstGeom prst="rect">
            <a:avLst/>
          </a:prstGeom>
          <a:noFill/>
        </p:spPr>
        <p:txBody>
          <a:bodyPr wrap="square" lIns="0" tIns="0" rIns="0" bIns="0">
            <a:spAutoFit/>
          </a:bodyPr>
          <a:lstStyle/>
          <a:p>
            <a:pPr>
              <a:lnSpc>
                <a:spcPct val="105000"/>
              </a:lnSpc>
            </a:pPr>
            <a:r>
              <a:rPr sz="1250" b="1">
                <a:solidFill>
                  <a:srgbClr val="0C1408"/>
                </a:solidFill>
                <a:latin typeface="Arial"/>
              </a:rPr>
              <a:t>One instalment, circle between strangers</a:t>
            </a:r>
          </a:p>
        </p:txBody>
      </p:sp>
      <p:sp>
        <p:nvSpPr>
          <p:cNvPr id="6" name="TextBox 5"/>
          <p:cNvSpPr txBox="1"/>
          <p:nvPr/>
        </p:nvSpPr>
        <p:spPr>
          <a:xfrm>
            <a:off x="640080" y="1856232"/>
            <a:ext cx="5760720" cy="256032"/>
          </a:xfrm>
          <a:prstGeom prst="rect">
            <a:avLst/>
          </a:prstGeom>
          <a:noFill/>
        </p:spPr>
        <p:txBody>
          <a:bodyPr wrap="square" lIns="0" tIns="0" rIns="0" bIns="0">
            <a:spAutoFit/>
          </a:bodyPr>
          <a:lstStyle/>
          <a:p>
            <a:pPr>
              <a:lnSpc>
                <a:spcPct val="105000"/>
              </a:lnSpc>
            </a:pPr>
            <a:r>
              <a:rPr sz="1250">
                <a:solidFill>
                  <a:srgbClr val="5F6B58"/>
                </a:solidFill>
                <a:latin typeface="Arial"/>
              </a:rPr>
              <a:t>the member pays Rs 11,047</a:t>
            </a:r>
          </a:p>
        </p:txBody>
      </p:sp>
      <p:sp>
        <p:nvSpPr>
          <p:cNvPr id="7" name="Rectangle 6"/>
          <p:cNvSpPr/>
          <p:nvPr/>
        </p:nvSpPr>
        <p:spPr>
          <a:xfrm>
            <a:off x="685800" y="2240280"/>
            <a:ext cx="146304" cy="3108960"/>
          </a:xfrm>
          <a:prstGeom prst="rect">
            <a:avLst/>
          </a:prstGeom>
          <a:solidFill>
            <a:srgbClr val="26301F"/>
          </a:solidFill>
          <a:ln>
            <a:noFill/>
          </a:ln>
        </p:spPr>
        <p:txBody>
          <a:bodyPr rtlCol="0" anchor="ctr"/>
          <a:lstStyle/>
          <a:p>
            <a:pPr algn="ctr"/>
          </a:p>
        </p:txBody>
      </p:sp>
      <p:sp>
        <p:nvSpPr>
          <p:cNvPr id="8" name="Freeform 7"/>
          <p:cNvSpPr/>
          <p:nvPr/>
        </p:nvSpPr>
        <p:spPr>
          <a:xfrm>
            <a:off x="832104" y="2103120"/>
            <a:ext cx="2093976" cy="2951463"/>
          </a:xfrm>
          <a:custGeom>
            <a:avLst/>
            <a:gdLst/>
            <a:ahLst/>
            <a:cxnLst/>
            <a:rect l="l" t="t" r="r" b="b"/>
            <a:pathLst>
              <a:path w="2093976" h="2951463">
                <a:moveTo>
                  <a:pt x="0" y="137160"/>
                </a:moveTo>
                <a:lnTo>
                  <a:pt x="69799" y="136713"/>
                </a:lnTo>
                <a:lnTo>
                  <a:pt x="139598" y="135412"/>
                </a:lnTo>
                <a:lnTo>
                  <a:pt x="209398" y="133320"/>
                </a:lnTo>
                <a:lnTo>
                  <a:pt x="279197" y="130495"/>
                </a:lnTo>
                <a:lnTo>
                  <a:pt x="348996" y="127000"/>
                </a:lnTo>
                <a:lnTo>
                  <a:pt x="418795" y="122895"/>
                </a:lnTo>
                <a:lnTo>
                  <a:pt x="488594" y="118242"/>
                </a:lnTo>
                <a:lnTo>
                  <a:pt x="558394" y="113101"/>
                </a:lnTo>
                <a:lnTo>
                  <a:pt x="628193" y="107533"/>
                </a:lnTo>
                <a:lnTo>
                  <a:pt x="697992" y="101600"/>
                </a:lnTo>
                <a:lnTo>
                  <a:pt x="767791" y="95362"/>
                </a:lnTo>
                <a:lnTo>
                  <a:pt x="837590" y="88880"/>
                </a:lnTo>
                <a:lnTo>
                  <a:pt x="907390" y="82215"/>
                </a:lnTo>
                <a:lnTo>
                  <a:pt x="977189" y="75428"/>
                </a:lnTo>
                <a:lnTo>
                  <a:pt x="1046988" y="68580"/>
                </a:lnTo>
                <a:lnTo>
                  <a:pt x="1116787" y="61732"/>
                </a:lnTo>
                <a:lnTo>
                  <a:pt x="1186586" y="54945"/>
                </a:lnTo>
                <a:lnTo>
                  <a:pt x="1256386" y="48280"/>
                </a:lnTo>
                <a:lnTo>
                  <a:pt x="1326185" y="41798"/>
                </a:lnTo>
                <a:lnTo>
                  <a:pt x="1395984" y="35560"/>
                </a:lnTo>
                <a:lnTo>
                  <a:pt x="1465783" y="29627"/>
                </a:lnTo>
                <a:lnTo>
                  <a:pt x="1535582" y="24059"/>
                </a:lnTo>
                <a:lnTo>
                  <a:pt x="1605382" y="18918"/>
                </a:lnTo>
                <a:lnTo>
                  <a:pt x="1675181" y="14265"/>
                </a:lnTo>
                <a:lnTo>
                  <a:pt x="1744980" y="10160"/>
                </a:lnTo>
                <a:lnTo>
                  <a:pt x="1814779" y="6665"/>
                </a:lnTo>
                <a:lnTo>
                  <a:pt x="1884578" y="3840"/>
                </a:lnTo>
                <a:lnTo>
                  <a:pt x="1954378" y="1748"/>
                </a:lnTo>
                <a:lnTo>
                  <a:pt x="2024177" y="447"/>
                </a:lnTo>
                <a:lnTo>
                  <a:pt x="2093976" y="0"/>
                </a:lnTo>
                <a:lnTo>
                  <a:pt x="2093976" y="2814303"/>
                </a:lnTo>
                <a:lnTo>
                  <a:pt x="2024177" y="2814750"/>
                </a:lnTo>
                <a:lnTo>
                  <a:pt x="1954378" y="2816050"/>
                </a:lnTo>
                <a:lnTo>
                  <a:pt x="1884578" y="2818143"/>
                </a:lnTo>
                <a:lnTo>
                  <a:pt x="1814779" y="2820967"/>
                </a:lnTo>
                <a:lnTo>
                  <a:pt x="1744980" y="2824463"/>
                </a:lnTo>
                <a:lnTo>
                  <a:pt x="1675181" y="2828567"/>
                </a:lnTo>
                <a:lnTo>
                  <a:pt x="1605382" y="2833220"/>
                </a:lnTo>
                <a:lnTo>
                  <a:pt x="1535582" y="2838361"/>
                </a:lnTo>
                <a:lnTo>
                  <a:pt x="1465783" y="2843929"/>
                </a:lnTo>
                <a:lnTo>
                  <a:pt x="1395984" y="2849863"/>
                </a:lnTo>
                <a:lnTo>
                  <a:pt x="1326185" y="2856101"/>
                </a:lnTo>
                <a:lnTo>
                  <a:pt x="1256386" y="2862583"/>
                </a:lnTo>
                <a:lnTo>
                  <a:pt x="1186586" y="2869248"/>
                </a:lnTo>
                <a:lnTo>
                  <a:pt x="1116787" y="2876035"/>
                </a:lnTo>
                <a:lnTo>
                  <a:pt x="1046988" y="2882883"/>
                </a:lnTo>
                <a:lnTo>
                  <a:pt x="977189" y="2889730"/>
                </a:lnTo>
                <a:lnTo>
                  <a:pt x="907390" y="2896517"/>
                </a:lnTo>
                <a:lnTo>
                  <a:pt x="837590" y="2903182"/>
                </a:lnTo>
                <a:lnTo>
                  <a:pt x="767791" y="2909664"/>
                </a:lnTo>
                <a:lnTo>
                  <a:pt x="697992" y="2915903"/>
                </a:lnTo>
                <a:lnTo>
                  <a:pt x="628193" y="2921836"/>
                </a:lnTo>
                <a:lnTo>
                  <a:pt x="558394" y="2927404"/>
                </a:lnTo>
                <a:lnTo>
                  <a:pt x="488594" y="2932545"/>
                </a:lnTo>
                <a:lnTo>
                  <a:pt x="418795" y="2937198"/>
                </a:lnTo>
                <a:lnTo>
                  <a:pt x="348996" y="2941303"/>
                </a:lnTo>
                <a:lnTo>
                  <a:pt x="279197" y="2944798"/>
                </a:lnTo>
                <a:lnTo>
                  <a:pt x="209398" y="2947622"/>
                </a:lnTo>
                <a:lnTo>
                  <a:pt x="139598" y="2949715"/>
                </a:lnTo>
                <a:lnTo>
                  <a:pt x="69799" y="2951015"/>
                </a:lnTo>
                <a:lnTo>
                  <a:pt x="0" y="2951463"/>
                </a:lnTo>
                <a:close/>
              </a:path>
            </a:pathLst>
          </a:custGeom>
          <a:solidFill>
            <a:srgbClr val="E3F8CA"/>
          </a:solidFill>
          <a:ln>
            <a:noFill/>
          </a:ln>
        </p:spPr>
        <p:txBody>
          <a:bodyPr rtlCol="0" anchor="ctr"/>
          <a:lstStyle/>
          <a:p>
            <a:pPr algn="ctr"/>
          </a:p>
        </p:txBody>
      </p:sp>
      <p:sp>
        <p:nvSpPr>
          <p:cNvPr id="9" name="Rectangle 8"/>
          <p:cNvSpPr/>
          <p:nvPr/>
        </p:nvSpPr>
        <p:spPr>
          <a:xfrm>
            <a:off x="2926080" y="2103120"/>
            <a:ext cx="146304" cy="2814303"/>
          </a:xfrm>
          <a:prstGeom prst="rect">
            <a:avLst/>
          </a:prstGeom>
          <a:solidFill>
            <a:srgbClr val="41801A"/>
          </a:solidFill>
          <a:ln>
            <a:noFill/>
          </a:ln>
        </p:spPr>
        <p:txBody>
          <a:bodyPr rtlCol="0" anchor="ctr"/>
          <a:lstStyle/>
          <a:p>
            <a:pPr algn="ctr"/>
          </a:p>
        </p:txBody>
      </p:sp>
      <p:sp>
        <p:nvSpPr>
          <p:cNvPr id="10" name="Freeform 9"/>
          <p:cNvSpPr/>
          <p:nvPr/>
        </p:nvSpPr>
        <p:spPr>
          <a:xfrm>
            <a:off x="832104" y="5054583"/>
            <a:ext cx="2093976" cy="238287"/>
          </a:xfrm>
          <a:custGeom>
            <a:avLst/>
            <a:gdLst/>
            <a:ahLst/>
            <a:cxnLst/>
            <a:rect l="l" t="t" r="r" b="b"/>
            <a:pathLst>
              <a:path w="2093976" h="238287">
                <a:moveTo>
                  <a:pt x="0" y="0"/>
                </a:moveTo>
                <a:lnTo>
                  <a:pt x="69799" y="274"/>
                </a:lnTo>
                <a:lnTo>
                  <a:pt x="139598" y="1074"/>
                </a:lnTo>
                <a:lnTo>
                  <a:pt x="209398" y="2361"/>
                </a:lnTo>
                <a:lnTo>
                  <a:pt x="279197" y="4098"/>
                </a:lnTo>
                <a:lnTo>
                  <a:pt x="348996" y="6247"/>
                </a:lnTo>
                <a:lnTo>
                  <a:pt x="418795" y="8771"/>
                </a:lnTo>
                <a:lnTo>
                  <a:pt x="488594" y="11633"/>
                </a:lnTo>
                <a:lnTo>
                  <a:pt x="558394" y="14794"/>
                </a:lnTo>
                <a:lnTo>
                  <a:pt x="628193" y="18218"/>
                </a:lnTo>
                <a:lnTo>
                  <a:pt x="697992" y="21867"/>
                </a:lnTo>
                <a:lnTo>
                  <a:pt x="767791" y="25703"/>
                </a:lnTo>
                <a:lnTo>
                  <a:pt x="837590" y="29689"/>
                </a:lnTo>
                <a:lnTo>
                  <a:pt x="907390" y="33788"/>
                </a:lnTo>
                <a:lnTo>
                  <a:pt x="977189" y="37961"/>
                </a:lnTo>
                <a:lnTo>
                  <a:pt x="1046988" y="42172"/>
                </a:lnTo>
                <a:lnTo>
                  <a:pt x="1116787" y="46383"/>
                </a:lnTo>
                <a:lnTo>
                  <a:pt x="1186586" y="50557"/>
                </a:lnTo>
                <a:lnTo>
                  <a:pt x="1256386" y="54655"/>
                </a:lnTo>
                <a:lnTo>
                  <a:pt x="1326185" y="58641"/>
                </a:lnTo>
                <a:lnTo>
                  <a:pt x="1395984" y="62478"/>
                </a:lnTo>
                <a:lnTo>
                  <a:pt x="1465783" y="66126"/>
                </a:lnTo>
                <a:lnTo>
                  <a:pt x="1535582" y="69550"/>
                </a:lnTo>
                <a:lnTo>
                  <a:pt x="1605382" y="72712"/>
                </a:lnTo>
                <a:lnTo>
                  <a:pt x="1675181" y="75573"/>
                </a:lnTo>
                <a:lnTo>
                  <a:pt x="1744980" y="78097"/>
                </a:lnTo>
                <a:lnTo>
                  <a:pt x="1814779" y="80246"/>
                </a:lnTo>
                <a:lnTo>
                  <a:pt x="1884578" y="81983"/>
                </a:lnTo>
                <a:lnTo>
                  <a:pt x="1954378" y="83270"/>
                </a:lnTo>
                <a:lnTo>
                  <a:pt x="2024177" y="84070"/>
                </a:lnTo>
                <a:lnTo>
                  <a:pt x="2093976" y="84345"/>
                </a:lnTo>
                <a:lnTo>
                  <a:pt x="2093976" y="238287"/>
                </a:lnTo>
                <a:lnTo>
                  <a:pt x="2024177" y="238012"/>
                </a:lnTo>
                <a:lnTo>
                  <a:pt x="1954378" y="237213"/>
                </a:lnTo>
                <a:lnTo>
                  <a:pt x="1884578" y="235926"/>
                </a:lnTo>
                <a:lnTo>
                  <a:pt x="1814779" y="234189"/>
                </a:lnTo>
                <a:lnTo>
                  <a:pt x="1744980" y="232040"/>
                </a:lnTo>
                <a:lnTo>
                  <a:pt x="1675181" y="229515"/>
                </a:lnTo>
                <a:lnTo>
                  <a:pt x="1605382" y="226654"/>
                </a:lnTo>
                <a:lnTo>
                  <a:pt x="1535582" y="223493"/>
                </a:lnTo>
                <a:lnTo>
                  <a:pt x="1465783" y="220069"/>
                </a:lnTo>
                <a:lnTo>
                  <a:pt x="1395984" y="216420"/>
                </a:lnTo>
                <a:lnTo>
                  <a:pt x="1326185" y="212584"/>
                </a:lnTo>
                <a:lnTo>
                  <a:pt x="1256386" y="208598"/>
                </a:lnTo>
                <a:lnTo>
                  <a:pt x="1186586" y="204499"/>
                </a:lnTo>
                <a:lnTo>
                  <a:pt x="1116787" y="200326"/>
                </a:lnTo>
                <a:lnTo>
                  <a:pt x="1046988" y="196115"/>
                </a:lnTo>
                <a:lnTo>
                  <a:pt x="977189" y="191904"/>
                </a:lnTo>
                <a:lnTo>
                  <a:pt x="907390" y="187730"/>
                </a:lnTo>
                <a:lnTo>
                  <a:pt x="837590" y="183631"/>
                </a:lnTo>
                <a:lnTo>
                  <a:pt x="767791" y="179645"/>
                </a:lnTo>
                <a:lnTo>
                  <a:pt x="697992" y="175809"/>
                </a:lnTo>
                <a:lnTo>
                  <a:pt x="628193" y="172160"/>
                </a:lnTo>
                <a:lnTo>
                  <a:pt x="558394" y="168737"/>
                </a:lnTo>
                <a:lnTo>
                  <a:pt x="488594" y="165575"/>
                </a:lnTo>
                <a:lnTo>
                  <a:pt x="418795" y="162714"/>
                </a:lnTo>
                <a:lnTo>
                  <a:pt x="348996" y="160190"/>
                </a:lnTo>
                <a:lnTo>
                  <a:pt x="279197" y="158040"/>
                </a:lnTo>
                <a:lnTo>
                  <a:pt x="209398" y="156304"/>
                </a:lnTo>
                <a:lnTo>
                  <a:pt x="139598" y="155016"/>
                </a:lnTo>
                <a:lnTo>
                  <a:pt x="69799" y="154217"/>
                </a:lnTo>
                <a:lnTo>
                  <a:pt x="0" y="153942"/>
                </a:lnTo>
                <a:close/>
              </a:path>
            </a:pathLst>
          </a:custGeom>
          <a:solidFill>
            <a:srgbClr val="E4EAE0"/>
          </a:solidFill>
          <a:ln>
            <a:noFill/>
          </a:ln>
        </p:spPr>
        <p:txBody>
          <a:bodyPr rtlCol="0" anchor="ctr"/>
          <a:lstStyle/>
          <a:p>
            <a:pPr algn="ctr"/>
          </a:p>
        </p:txBody>
      </p:sp>
      <p:sp>
        <p:nvSpPr>
          <p:cNvPr id="11" name="Rectangle 10"/>
          <p:cNvSpPr/>
          <p:nvPr/>
        </p:nvSpPr>
        <p:spPr>
          <a:xfrm>
            <a:off x="2926080" y="5138928"/>
            <a:ext cx="146304" cy="153942"/>
          </a:xfrm>
          <a:prstGeom prst="rect">
            <a:avLst/>
          </a:prstGeom>
          <a:solidFill>
            <a:srgbClr val="26301F"/>
          </a:solidFill>
          <a:ln>
            <a:noFill/>
          </a:ln>
        </p:spPr>
        <p:txBody>
          <a:bodyPr rtlCol="0" anchor="ctr"/>
          <a:lstStyle/>
          <a:p>
            <a:pPr algn="ctr"/>
          </a:p>
        </p:txBody>
      </p:sp>
      <p:sp>
        <p:nvSpPr>
          <p:cNvPr id="12" name="Freeform 11"/>
          <p:cNvSpPr/>
          <p:nvPr/>
        </p:nvSpPr>
        <p:spPr>
          <a:xfrm>
            <a:off x="832104" y="5208525"/>
            <a:ext cx="2093976" cy="400302"/>
          </a:xfrm>
          <a:custGeom>
            <a:avLst/>
            <a:gdLst/>
            <a:ahLst/>
            <a:cxnLst/>
            <a:rect l="l" t="t" r="r" b="b"/>
            <a:pathLst>
              <a:path w="2093976" h="400302">
                <a:moveTo>
                  <a:pt x="0" y="0"/>
                </a:moveTo>
                <a:lnTo>
                  <a:pt x="69799" y="846"/>
                </a:lnTo>
                <a:lnTo>
                  <a:pt x="139598" y="3307"/>
                </a:lnTo>
                <a:lnTo>
                  <a:pt x="209398" y="7268"/>
                </a:lnTo>
                <a:lnTo>
                  <a:pt x="279197" y="12614"/>
                </a:lnTo>
                <a:lnTo>
                  <a:pt x="348996" y="19229"/>
                </a:lnTo>
                <a:lnTo>
                  <a:pt x="418795" y="26997"/>
                </a:lnTo>
                <a:lnTo>
                  <a:pt x="488594" y="35804"/>
                </a:lnTo>
                <a:lnTo>
                  <a:pt x="558394" y="45533"/>
                </a:lnTo>
                <a:lnTo>
                  <a:pt x="628193" y="56071"/>
                </a:lnTo>
                <a:lnTo>
                  <a:pt x="697992" y="67300"/>
                </a:lnTo>
                <a:lnTo>
                  <a:pt x="767791" y="79107"/>
                </a:lnTo>
                <a:lnTo>
                  <a:pt x="837590" y="91375"/>
                </a:lnTo>
                <a:lnTo>
                  <a:pt x="907390" y="103989"/>
                </a:lnTo>
                <a:lnTo>
                  <a:pt x="977189" y="116833"/>
                </a:lnTo>
                <a:lnTo>
                  <a:pt x="1046988" y="129793"/>
                </a:lnTo>
                <a:lnTo>
                  <a:pt x="1116787" y="142754"/>
                </a:lnTo>
                <a:lnTo>
                  <a:pt x="1186586" y="155598"/>
                </a:lnTo>
                <a:lnTo>
                  <a:pt x="1256386" y="168212"/>
                </a:lnTo>
                <a:lnTo>
                  <a:pt x="1326185" y="180480"/>
                </a:lnTo>
                <a:lnTo>
                  <a:pt x="1395984" y="192287"/>
                </a:lnTo>
                <a:lnTo>
                  <a:pt x="1465783" y="203516"/>
                </a:lnTo>
                <a:lnTo>
                  <a:pt x="1535582" y="214053"/>
                </a:lnTo>
                <a:lnTo>
                  <a:pt x="1605382" y="223783"/>
                </a:lnTo>
                <a:lnTo>
                  <a:pt x="1675181" y="232590"/>
                </a:lnTo>
                <a:lnTo>
                  <a:pt x="1744980" y="240358"/>
                </a:lnTo>
                <a:lnTo>
                  <a:pt x="1814779" y="246973"/>
                </a:lnTo>
                <a:lnTo>
                  <a:pt x="1884578" y="252319"/>
                </a:lnTo>
                <a:lnTo>
                  <a:pt x="1954378" y="256280"/>
                </a:lnTo>
                <a:lnTo>
                  <a:pt x="2024177" y="258741"/>
                </a:lnTo>
                <a:lnTo>
                  <a:pt x="2093976" y="259587"/>
                </a:lnTo>
                <a:lnTo>
                  <a:pt x="2093976" y="400302"/>
                </a:lnTo>
                <a:lnTo>
                  <a:pt x="2024177" y="399456"/>
                </a:lnTo>
                <a:lnTo>
                  <a:pt x="1954378" y="396995"/>
                </a:lnTo>
                <a:lnTo>
                  <a:pt x="1884578" y="393034"/>
                </a:lnTo>
                <a:lnTo>
                  <a:pt x="1814779" y="387688"/>
                </a:lnTo>
                <a:lnTo>
                  <a:pt x="1744980" y="381073"/>
                </a:lnTo>
                <a:lnTo>
                  <a:pt x="1675181" y="373305"/>
                </a:lnTo>
                <a:lnTo>
                  <a:pt x="1605382" y="364498"/>
                </a:lnTo>
                <a:lnTo>
                  <a:pt x="1535582" y="354769"/>
                </a:lnTo>
                <a:lnTo>
                  <a:pt x="1465783" y="344231"/>
                </a:lnTo>
                <a:lnTo>
                  <a:pt x="1395984" y="333002"/>
                </a:lnTo>
                <a:lnTo>
                  <a:pt x="1326185" y="321195"/>
                </a:lnTo>
                <a:lnTo>
                  <a:pt x="1256386" y="308927"/>
                </a:lnTo>
                <a:lnTo>
                  <a:pt x="1186586" y="296313"/>
                </a:lnTo>
                <a:lnTo>
                  <a:pt x="1116787" y="283469"/>
                </a:lnTo>
                <a:lnTo>
                  <a:pt x="1046988" y="270509"/>
                </a:lnTo>
                <a:lnTo>
                  <a:pt x="977189" y="257548"/>
                </a:lnTo>
                <a:lnTo>
                  <a:pt x="907390" y="244704"/>
                </a:lnTo>
                <a:lnTo>
                  <a:pt x="837590" y="232090"/>
                </a:lnTo>
                <a:lnTo>
                  <a:pt x="767791" y="219822"/>
                </a:lnTo>
                <a:lnTo>
                  <a:pt x="697992" y="208015"/>
                </a:lnTo>
                <a:lnTo>
                  <a:pt x="628193" y="196786"/>
                </a:lnTo>
                <a:lnTo>
                  <a:pt x="558394" y="186249"/>
                </a:lnTo>
                <a:lnTo>
                  <a:pt x="488594" y="176519"/>
                </a:lnTo>
                <a:lnTo>
                  <a:pt x="418795" y="167712"/>
                </a:lnTo>
                <a:lnTo>
                  <a:pt x="348996" y="159944"/>
                </a:lnTo>
                <a:lnTo>
                  <a:pt x="279197" y="153329"/>
                </a:lnTo>
                <a:lnTo>
                  <a:pt x="209398" y="147983"/>
                </a:lnTo>
                <a:lnTo>
                  <a:pt x="139598" y="144022"/>
                </a:lnTo>
                <a:lnTo>
                  <a:pt x="69799" y="141561"/>
                </a:lnTo>
                <a:lnTo>
                  <a:pt x="0" y="140715"/>
                </a:lnTo>
                <a:close/>
              </a:path>
            </a:pathLst>
          </a:custGeom>
          <a:solidFill>
            <a:srgbClr val="E4DEF3"/>
          </a:solidFill>
          <a:ln>
            <a:noFill/>
          </a:ln>
        </p:spPr>
        <p:txBody>
          <a:bodyPr rtlCol="0" anchor="ctr"/>
          <a:lstStyle/>
          <a:p>
            <a:pPr algn="ctr"/>
          </a:p>
        </p:txBody>
      </p:sp>
      <p:sp>
        <p:nvSpPr>
          <p:cNvPr id="13" name="Rectangle 12"/>
          <p:cNvSpPr/>
          <p:nvPr/>
        </p:nvSpPr>
        <p:spPr>
          <a:xfrm>
            <a:off x="2926080" y="5468112"/>
            <a:ext cx="146304" cy="140715"/>
          </a:xfrm>
          <a:prstGeom prst="rect">
            <a:avLst/>
          </a:prstGeom>
          <a:solidFill>
            <a:srgbClr val="573F99"/>
          </a:solidFill>
          <a:ln>
            <a:noFill/>
          </a:ln>
        </p:spPr>
        <p:txBody>
          <a:bodyPr rtlCol="0" anchor="ctr"/>
          <a:lstStyle/>
          <a:p>
            <a:pPr algn="ctr"/>
          </a:p>
        </p:txBody>
      </p:sp>
      <p:sp>
        <p:nvSpPr>
          <p:cNvPr id="14" name="TextBox 13"/>
          <p:cNvSpPr txBox="1"/>
          <p:nvPr/>
        </p:nvSpPr>
        <p:spPr>
          <a:xfrm>
            <a:off x="3200400" y="3053071"/>
            <a:ext cx="3108960" cy="457200"/>
          </a:xfrm>
          <a:prstGeom prst="rect">
            <a:avLst/>
          </a:prstGeom>
          <a:noFill/>
        </p:spPr>
        <p:txBody>
          <a:bodyPr wrap="square" lIns="0" tIns="0" rIns="0" bIns="0">
            <a:spAutoFit/>
          </a:bodyPr>
          <a:lstStyle/>
          <a:p>
            <a:pPr>
              <a:lnSpc>
                <a:spcPct val="105000"/>
              </a:lnSpc>
            </a:pPr>
            <a:r>
              <a:rPr sz="2800">
                <a:solidFill>
                  <a:srgbClr val="41801A"/>
                </a:solidFill>
                <a:latin typeface="Georgia"/>
              </a:rPr>
              <a:t>Rs 10,000</a:t>
            </a:r>
          </a:p>
        </p:txBody>
      </p:sp>
      <p:sp>
        <p:nvSpPr>
          <p:cNvPr id="15" name="TextBox 14"/>
          <p:cNvSpPr txBox="1"/>
          <p:nvPr/>
        </p:nvSpPr>
        <p:spPr>
          <a:xfrm>
            <a:off x="3200400" y="3583423"/>
            <a:ext cx="3108960" cy="274320"/>
          </a:xfrm>
          <a:prstGeom prst="rect">
            <a:avLst/>
          </a:prstGeom>
          <a:noFill/>
        </p:spPr>
        <p:txBody>
          <a:bodyPr wrap="square" lIns="0" tIns="0" rIns="0" bIns="0">
            <a:spAutoFit/>
          </a:bodyPr>
          <a:lstStyle/>
          <a:p>
            <a:pPr>
              <a:lnSpc>
                <a:spcPct val="105000"/>
              </a:lnSpc>
            </a:pPr>
            <a:r>
              <a:rPr sz="1500">
                <a:solidFill>
                  <a:srgbClr val="0C1408"/>
                </a:solidFill>
                <a:latin typeface="Arial"/>
              </a:rPr>
              <a:t>to the member collecting</a:t>
            </a:r>
          </a:p>
        </p:txBody>
      </p:sp>
      <p:sp>
        <p:nvSpPr>
          <p:cNvPr id="16" name="TextBox 15"/>
          <p:cNvSpPr txBox="1"/>
          <p:nvPr/>
        </p:nvSpPr>
        <p:spPr>
          <a:xfrm>
            <a:off x="3200400" y="5029200"/>
            <a:ext cx="3566160" cy="274320"/>
          </a:xfrm>
          <a:prstGeom prst="rect">
            <a:avLst/>
          </a:prstGeom>
          <a:noFill/>
        </p:spPr>
        <p:txBody>
          <a:bodyPr wrap="square" lIns="0" tIns="0" rIns="0" bIns="0">
            <a:spAutoFit/>
          </a:bodyPr>
          <a:lstStyle/>
          <a:p>
            <a:pPr>
              <a:lnSpc>
                <a:spcPct val="105000"/>
              </a:lnSpc>
            </a:pPr>
            <a:r>
              <a:rPr sz="1400" b="1">
                <a:solidFill>
                  <a:srgbClr val="0C1408"/>
                </a:solidFill>
                <a:latin typeface="Arial"/>
              </a:rPr>
              <a:t>Rs 547  </a:t>
            </a:r>
            <a:r>
              <a:rPr sz="1400">
                <a:solidFill>
                  <a:srgbClr val="0C1408"/>
                </a:solidFill>
                <a:latin typeface="Arial"/>
              </a:rPr>
              <a:t>takaful</a:t>
            </a:r>
          </a:p>
        </p:txBody>
      </p:sp>
      <p:sp>
        <p:nvSpPr>
          <p:cNvPr id="17" name="TextBox 16"/>
          <p:cNvSpPr txBox="1"/>
          <p:nvPr/>
        </p:nvSpPr>
        <p:spPr>
          <a:xfrm>
            <a:off x="3200400" y="5358384"/>
            <a:ext cx="3611880" cy="548640"/>
          </a:xfrm>
          <a:prstGeom prst="rect">
            <a:avLst/>
          </a:prstGeom>
          <a:noFill/>
        </p:spPr>
        <p:txBody>
          <a:bodyPr wrap="square" lIns="0" tIns="0" rIns="0" bIns="0">
            <a:spAutoFit/>
          </a:bodyPr>
          <a:lstStyle/>
          <a:p>
            <a:pPr>
              <a:lnSpc>
                <a:spcPct val="103000"/>
              </a:lnSpc>
            </a:pPr>
            <a:r>
              <a:rPr sz="1400" b="1">
                <a:solidFill>
                  <a:srgbClr val="573F99"/>
                </a:solidFill>
                <a:latin typeface="Arial"/>
              </a:rPr>
              <a:t>up to Rs 500  </a:t>
            </a:r>
            <a:r>
              <a:rPr sz="1400">
                <a:solidFill>
                  <a:srgbClr val="0C1408"/>
                </a:solidFill>
                <a:latin typeface="Arial"/>
              </a:rPr>
              <a:t>service fee to Raqami; share to Halqa</a:t>
            </a:r>
          </a:p>
        </p:txBody>
      </p:sp>
      <p:sp>
        <p:nvSpPr>
          <p:cNvPr id="18" name="TextBox 17"/>
          <p:cNvSpPr txBox="1"/>
          <p:nvPr/>
        </p:nvSpPr>
        <p:spPr>
          <a:xfrm>
            <a:off x="7315200" y="1600200"/>
            <a:ext cx="423641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Halqa covers its own costs at 2,572 members</a:t>
            </a:r>
          </a:p>
        </p:txBody>
      </p:sp>
      <p:cxnSp>
        <p:nvCxnSpPr>
          <p:cNvPr id="19" name="Connector 18"/>
          <p:cNvCxnSpPr/>
          <p:nvPr/>
        </p:nvCxnSpPr>
        <p:spPr>
          <a:xfrm>
            <a:off x="7452360" y="4983480"/>
            <a:ext cx="3916375" cy="0"/>
          </a:xfrm>
          <a:prstGeom prst="line">
            <a:avLst/>
          </a:prstGeom>
          <a:ln w="9525">
            <a:solidFill>
              <a:srgbClr val="5F6B58"/>
            </a:solidFill>
          </a:ln>
        </p:spPr>
      </p:cxnSp>
      <p:cxnSp>
        <p:nvCxnSpPr>
          <p:cNvPr id="20" name="Connector 19"/>
          <p:cNvCxnSpPr/>
          <p:nvPr/>
        </p:nvCxnSpPr>
        <p:spPr>
          <a:xfrm>
            <a:off x="7452360" y="2148840"/>
            <a:ext cx="0" cy="2834640"/>
          </a:xfrm>
          <a:prstGeom prst="line">
            <a:avLst/>
          </a:prstGeom>
          <a:ln w="9525">
            <a:solidFill>
              <a:srgbClr val="5F6B58"/>
            </a:solidFill>
          </a:ln>
        </p:spPr>
      </p:cxnSp>
      <p:cxnSp>
        <p:nvCxnSpPr>
          <p:cNvPr id="21" name="Connector 20"/>
          <p:cNvCxnSpPr/>
          <p:nvPr/>
        </p:nvCxnSpPr>
        <p:spPr>
          <a:xfrm>
            <a:off x="7452360" y="3814191"/>
            <a:ext cx="3916375" cy="0"/>
          </a:xfrm>
          <a:prstGeom prst="line">
            <a:avLst/>
          </a:prstGeom>
          <a:ln w="25400">
            <a:solidFill>
              <a:srgbClr val="26301F"/>
            </a:solidFill>
          </a:ln>
        </p:spPr>
      </p:cxnSp>
      <p:cxnSp>
        <p:nvCxnSpPr>
          <p:cNvPr id="22" name="Connector 21"/>
          <p:cNvCxnSpPr/>
          <p:nvPr/>
        </p:nvCxnSpPr>
        <p:spPr>
          <a:xfrm flipV="1">
            <a:off x="7452360" y="2256911"/>
            <a:ext cx="3916375" cy="2726569"/>
          </a:xfrm>
          <a:prstGeom prst="line">
            <a:avLst/>
          </a:prstGeom>
          <a:ln w="38100">
            <a:solidFill>
              <a:srgbClr val="41801A"/>
            </a:solidFill>
          </a:ln>
        </p:spPr>
      </p:cxnSp>
      <p:sp>
        <p:nvSpPr>
          <p:cNvPr id="23" name="Oval 22"/>
          <p:cNvSpPr/>
          <p:nvPr/>
        </p:nvSpPr>
        <p:spPr>
          <a:xfrm>
            <a:off x="9058745" y="3741039"/>
            <a:ext cx="146304" cy="146304"/>
          </a:xfrm>
          <a:prstGeom prst="ellipse">
            <a:avLst/>
          </a:prstGeom>
          <a:solidFill>
            <a:srgbClr val="FFFFFF"/>
          </a:solidFill>
          <a:ln w="25400">
            <a:solidFill>
              <a:srgbClr val="41801A"/>
            </a:solidFill>
          </a:ln>
        </p:spPr>
        <p:txBody>
          <a:bodyPr rtlCol="0" anchor="ctr"/>
          <a:lstStyle/>
          <a:p>
            <a:pPr algn="ctr"/>
          </a:p>
        </p:txBody>
      </p:sp>
      <p:sp>
        <p:nvSpPr>
          <p:cNvPr id="24" name="TextBox 23"/>
          <p:cNvSpPr txBox="1"/>
          <p:nvPr/>
        </p:nvSpPr>
        <p:spPr>
          <a:xfrm>
            <a:off x="7714577" y="3402711"/>
            <a:ext cx="1325880" cy="274320"/>
          </a:xfrm>
          <a:prstGeom prst="rect">
            <a:avLst/>
          </a:prstGeom>
          <a:noFill/>
        </p:spPr>
        <p:txBody>
          <a:bodyPr wrap="square" lIns="0" tIns="0" rIns="0" bIns="0">
            <a:spAutoFit/>
          </a:bodyPr>
          <a:lstStyle/>
          <a:p>
            <a:pPr algn="r">
              <a:lnSpc>
                <a:spcPct val="105000"/>
              </a:lnSpc>
            </a:pPr>
            <a:r>
              <a:rPr sz="1250" b="1">
                <a:solidFill>
                  <a:srgbClr val="41801A"/>
                </a:solidFill>
                <a:latin typeface="Arial"/>
              </a:rPr>
              <a:t>break even</a:t>
            </a:r>
          </a:p>
        </p:txBody>
      </p:sp>
      <p:sp>
        <p:nvSpPr>
          <p:cNvPr id="25" name="TextBox 24"/>
          <p:cNvSpPr txBox="1"/>
          <p:nvPr/>
        </p:nvSpPr>
        <p:spPr>
          <a:xfrm>
            <a:off x="9606366" y="3869055"/>
            <a:ext cx="2011680" cy="256032"/>
          </a:xfrm>
          <a:prstGeom prst="rect">
            <a:avLst/>
          </a:prstGeom>
          <a:noFill/>
        </p:spPr>
        <p:txBody>
          <a:bodyPr wrap="square" lIns="0" tIns="0" rIns="0" bIns="0">
            <a:spAutoFit/>
          </a:bodyPr>
          <a:lstStyle/>
          <a:p>
            <a:pPr>
              <a:lnSpc>
                <a:spcPct val="105000"/>
              </a:lnSpc>
            </a:pPr>
            <a:r>
              <a:rPr sz="1150">
                <a:solidFill>
                  <a:srgbClr val="26301F"/>
                </a:solidFill>
                <a:latin typeface="Arial"/>
              </a:rPr>
              <a:t>fixed cost, Rs 1.32 m a month</a:t>
            </a:r>
          </a:p>
        </p:txBody>
      </p:sp>
      <p:sp>
        <p:nvSpPr>
          <p:cNvPr id="26" name="TextBox 25"/>
          <p:cNvSpPr txBox="1"/>
          <p:nvPr/>
        </p:nvSpPr>
        <p:spPr>
          <a:xfrm>
            <a:off x="7615542" y="2281714"/>
            <a:ext cx="2286000" cy="457200"/>
          </a:xfrm>
          <a:prstGeom prst="rect">
            <a:avLst/>
          </a:prstGeom>
          <a:noFill/>
        </p:spPr>
        <p:txBody>
          <a:bodyPr wrap="square" lIns="0" tIns="0" rIns="0" bIns="0">
            <a:spAutoFit/>
          </a:bodyPr>
          <a:lstStyle/>
          <a:p>
            <a:pPr>
              <a:lnSpc>
                <a:spcPct val="100000"/>
              </a:lnSpc>
            </a:pPr>
            <a:r>
              <a:rPr sz="1150">
                <a:solidFill>
                  <a:srgbClr val="41801A"/>
                </a:solidFill>
                <a:latin typeface="Arial"/>
              </a:rPr>
              <a:t>about Rs 510 a member a month</a:t>
            </a:r>
          </a:p>
        </p:txBody>
      </p:sp>
      <p:sp>
        <p:nvSpPr>
          <p:cNvPr id="27" name="TextBox 26"/>
          <p:cNvSpPr txBox="1"/>
          <p:nvPr/>
        </p:nvSpPr>
        <p:spPr>
          <a:xfrm>
            <a:off x="7086600" y="5020056"/>
            <a:ext cx="731520" cy="228600"/>
          </a:xfrm>
          <a:prstGeom prst="rect">
            <a:avLst/>
          </a:prstGeom>
          <a:noFill/>
        </p:spPr>
        <p:txBody>
          <a:bodyPr wrap="square" lIns="0" tIns="0" rIns="0" bIns="0">
            <a:spAutoFit/>
          </a:bodyPr>
          <a:lstStyle/>
          <a:p>
            <a:pPr algn="ctr">
              <a:lnSpc>
                <a:spcPct val="105000"/>
              </a:lnSpc>
            </a:pPr>
            <a:r>
              <a:rPr sz="1050">
                <a:solidFill>
                  <a:srgbClr val="5F6B58"/>
                </a:solidFill>
                <a:latin typeface="Arial"/>
              </a:rPr>
              <a:t>0</a:t>
            </a:r>
          </a:p>
        </p:txBody>
      </p:sp>
      <p:sp>
        <p:nvSpPr>
          <p:cNvPr id="28" name="TextBox 27"/>
          <p:cNvSpPr txBox="1"/>
          <p:nvPr/>
        </p:nvSpPr>
        <p:spPr>
          <a:xfrm>
            <a:off x="8392058" y="5020056"/>
            <a:ext cx="731520" cy="228600"/>
          </a:xfrm>
          <a:prstGeom prst="rect">
            <a:avLst/>
          </a:prstGeom>
          <a:noFill/>
        </p:spPr>
        <p:txBody>
          <a:bodyPr wrap="square" lIns="0" tIns="0" rIns="0" bIns="0">
            <a:spAutoFit/>
          </a:bodyPr>
          <a:lstStyle/>
          <a:p>
            <a:pPr algn="ctr">
              <a:lnSpc>
                <a:spcPct val="105000"/>
              </a:lnSpc>
            </a:pPr>
            <a:r>
              <a:rPr sz="1050">
                <a:solidFill>
                  <a:srgbClr val="5F6B58"/>
                </a:solidFill>
                <a:latin typeface="Arial"/>
              </a:rPr>
              <a:t>2,000</a:t>
            </a:r>
          </a:p>
        </p:txBody>
      </p:sp>
      <p:sp>
        <p:nvSpPr>
          <p:cNvPr id="29" name="TextBox 28"/>
          <p:cNvSpPr txBox="1"/>
          <p:nvPr/>
        </p:nvSpPr>
        <p:spPr>
          <a:xfrm>
            <a:off x="9697517" y="5020056"/>
            <a:ext cx="731520" cy="228600"/>
          </a:xfrm>
          <a:prstGeom prst="rect">
            <a:avLst/>
          </a:prstGeom>
          <a:noFill/>
        </p:spPr>
        <p:txBody>
          <a:bodyPr wrap="square" lIns="0" tIns="0" rIns="0" bIns="0">
            <a:spAutoFit/>
          </a:bodyPr>
          <a:lstStyle/>
          <a:p>
            <a:pPr algn="ctr">
              <a:lnSpc>
                <a:spcPct val="105000"/>
              </a:lnSpc>
            </a:pPr>
            <a:r>
              <a:rPr sz="1050">
                <a:solidFill>
                  <a:srgbClr val="5F6B58"/>
                </a:solidFill>
                <a:latin typeface="Arial"/>
              </a:rPr>
              <a:t>4,000</a:t>
            </a:r>
          </a:p>
        </p:txBody>
      </p:sp>
      <p:sp>
        <p:nvSpPr>
          <p:cNvPr id="30" name="TextBox 29"/>
          <p:cNvSpPr txBox="1"/>
          <p:nvPr/>
        </p:nvSpPr>
        <p:spPr>
          <a:xfrm>
            <a:off x="11002975" y="5020056"/>
            <a:ext cx="731520" cy="228600"/>
          </a:xfrm>
          <a:prstGeom prst="rect">
            <a:avLst/>
          </a:prstGeom>
          <a:noFill/>
        </p:spPr>
        <p:txBody>
          <a:bodyPr wrap="square" lIns="0" tIns="0" rIns="0" bIns="0">
            <a:spAutoFit/>
          </a:bodyPr>
          <a:lstStyle/>
          <a:p>
            <a:pPr algn="ctr">
              <a:lnSpc>
                <a:spcPct val="105000"/>
              </a:lnSpc>
            </a:pPr>
            <a:r>
              <a:rPr sz="1050">
                <a:solidFill>
                  <a:srgbClr val="5F6B58"/>
                </a:solidFill>
                <a:latin typeface="Arial"/>
              </a:rPr>
              <a:t>6,000</a:t>
            </a:r>
          </a:p>
        </p:txBody>
      </p:sp>
      <p:sp>
        <p:nvSpPr>
          <p:cNvPr id="31" name="TextBox 30"/>
          <p:cNvSpPr txBox="1"/>
          <p:nvPr/>
        </p:nvSpPr>
        <p:spPr>
          <a:xfrm>
            <a:off x="7452360" y="5257800"/>
            <a:ext cx="3916375" cy="228600"/>
          </a:xfrm>
          <a:prstGeom prst="rect">
            <a:avLst/>
          </a:prstGeom>
          <a:noFill/>
        </p:spPr>
        <p:txBody>
          <a:bodyPr wrap="square" lIns="0" tIns="0" rIns="0" bIns="0">
            <a:spAutoFit/>
          </a:bodyPr>
          <a:lstStyle/>
          <a:p>
            <a:pPr algn="ctr">
              <a:lnSpc>
                <a:spcPct val="105000"/>
              </a:lnSpc>
            </a:pPr>
            <a:r>
              <a:rPr sz="1100">
                <a:solidFill>
                  <a:srgbClr val="5F6B58"/>
                </a:solidFill>
                <a:latin typeface="Arial"/>
              </a:rPr>
              <a:t>members</a:t>
            </a:r>
          </a:p>
        </p:txBody>
      </p:sp>
      <p:sp>
        <p:nvSpPr>
          <p:cNvPr id="32" name="TextBox 31"/>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Business Model and Unit Costs (HQ-CP-03), 25 September 2026, before the bank’s terms   2  Takaful Cover Pricing Model (HQ-MF-05)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Every team at Raqami gets a direct answer.</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18</a:t>
            </a:r>
          </a:p>
        </p:txBody>
      </p:sp>
      <p:sp>
        <p:nvSpPr>
          <p:cNvPr id="5" name="TextBox 4"/>
          <p:cNvSpPr txBox="1"/>
          <p:nvPr/>
        </p:nvSpPr>
        <p:spPr>
          <a:xfrm>
            <a:off x="676656" y="1691640"/>
            <a:ext cx="1828800" cy="274320"/>
          </a:xfrm>
          <a:prstGeom prst="rect">
            <a:avLst/>
          </a:prstGeom>
          <a:noFill/>
        </p:spPr>
        <p:txBody>
          <a:bodyPr wrap="square" lIns="0" tIns="0" rIns="0" bIns="0">
            <a:spAutoFit/>
          </a:bodyPr>
          <a:lstStyle/>
          <a:p>
            <a:pPr>
              <a:lnSpc>
                <a:spcPct val="105000"/>
              </a:lnSpc>
            </a:pPr>
            <a:r>
              <a:rPr sz="1150" b="1">
                <a:solidFill>
                  <a:srgbClr val="5F6B58"/>
                </a:solidFill>
                <a:latin typeface="Arial"/>
              </a:rPr>
              <a:t>Team</a:t>
            </a:r>
          </a:p>
        </p:txBody>
      </p:sp>
      <p:sp>
        <p:nvSpPr>
          <p:cNvPr id="6" name="TextBox 5"/>
          <p:cNvSpPr txBox="1"/>
          <p:nvPr/>
        </p:nvSpPr>
        <p:spPr>
          <a:xfrm>
            <a:off x="2871216" y="1691640"/>
            <a:ext cx="6400800" cy="274320"/>
          </a:xfrm>
          <a:prstGeom prst="rect">
            <a:avLst/>
          </a:prstGeom>
          <a:noFill/>
        </p:spPr>
        <p:txBody>
          <a:bodyPr wrap="square" lIns="0" tIns="0" rIns="0" bIns="0">
            <a:spAutoFit/>
          </a:bodyPr>
          <a:lstStyle/>
          <a:p>
            <a:pPr>
              <a:lnSpc>
                <a:spcPct val="105000"/>
              </a:lnSpc>
            </a:pPr>
            <a:r>
              <a:rPr sz="1150" b="1">
                <a:solidFill>
                  <a:srgbClr val="5F6B58"/>
                </a:solidFill>
                <a:latin typeface="Arial"/>
              </a:rPr>
              <a:t>The answer</a:t>
            </a:r>
          </a:p>
        </p:txBody>
      </p:sp>
      <p:sp>
        <p:nvSpPr>
          <p:cNvPr id="7" name="TextBox 6"/>
          <p:cNvSpPr txBox="1"/>
          <p:nvPr/>
        </p:nvSpPr>
        <p:spPr>
          <a:xfrm>
            <a:off x="10362895" y="1691640"/>
            <a:ext cx="1152144" cy="274320"/>
          </a:xfrm>
          <a:prstGeom prst="rect">
            <a:avLst/>
          </a:prstGeom>
          <a:noFill/>
        </p:spPr>
        <p:txBody>
          <a:bodyPr wrap="square" lIns="0" tIns="0" rIns="0" bIns="0">
            <a:spAutoFit/>
          </a:bodyPr>
          <a:lstStyle/>
          <a:p>
            <a:pPr algn="r">
              <a:lnSpc>
                <a:spcPct val="105000"/>
              </a:lnSpc>
            </a:pPr>
            <a:r>
              <a:rPr sz="1150" b="1">
                <a:solidFill>
                  <a:srgbClr val="5F6B58"/>
                </a:solidFill>
                <a:latin typeface="Arial"/>
              </a:rPr>
              <a:t>Slides</a:t>
            </a:r>
          </a:p>
        </p:txBody>
      </p:sp>
      <p:cxnSp>
        <p:nvCxnSpPr>
          <p:cNvPr id="8" name="Connector 7"/>
          <p:cNvCxnSpPr/>
          <p:nvPr/>
        </p:nvCxnSpPr>
        <p:spPr>
          <a:xfrm>
            <a:off x="640080" y="2002536"/>
            <a:ext cx="10911535" cy="0"/>
          </a:xfrm>
          <a:prstGeom prst="line">
            <a:avLst/>
          </a:prstGeom>
          <a:ln w="15875">
            <a:solidFill>
              <a:srgbClr val="41801A"/>
            </a:solidFill>
          </a:ln>
        </p:spPr>
      </p:cxnSp>
      <p:sp>
        <p:nvSpPr>
          <p:cNvPr id="9" name="TextBox 8"/>
          <p:cNvSpPr txBox="1"/>
          <p:nvPr/>
        </p:nvSpPr>
        <p:spPr>
          <a:xfrm>
            <a:off x="676656" y="2002536"/>
            <a:ext cx="2103120" cy="640080"/>
          </a:xfrm>
          <a:prstGeom prst="rect">
            <a:avLst/>
          </a:prstGeom>
          <a:noFill/>
        </p:spPr>
        <p:txBody>
          <a:bodyPr wrap="square" lIns="0" tIns="0" rIns="0" bIns="0" anchor="ctr">
            <a:spAutoFit/>
          </a:bodyPr>
          <a:lstStyle/>
          <a:p>
            <a:pPr>
              <a:lnSpc>
                <a:spcPct val="105000"/>
              </a:lnSpc>
            </a:pPr>
            <a:r>
              <a:rPr sz="1600" b="1">
                <a:solidFill>
                  <a:srgbClr val="573F99"/>
                </a:solidFill>
                <a:latin typeface="Arial"/>
              </a:rPr>
              <a:t>Business</a:t>
            </a:r>
          </a:p>
        </p:txBody>
      </p:sp>
      <p:sp>
        <p:nvSpPr>
          <p:cNvPr id="10" name="TextBox 9"/>
          <p:cNvSpPr txBox="1"/>
          <p:nvPr/>
        </p:nvSpPr>
        <p:spPr>
          <a:xfrm>
            <a:off x="2871216" y="2002536"/>
            <a:ext cx="7400239" cy="640080"/>
          </a:xfrm>
          <a:prstGeom prst="rect">
            <a:avLst/>
          </a:prstGeom>
          <a:noFill/>
        </p:spPr>
        <p:txBody>
          <a:bodyPr wrap="square" lIns="0" tIns="0" rIns="0" bIns="0" anchor="ctr">
            <a:spAutoFit/>
          </a:bodyPr>
          <a:lstStyle/>
          <a:p>
            <a:pPr>
              <a:lnSpc>
                <a:spcPct val="103000"/>
              </a:lnSpc>
            </a:pPr>
            <a:r>
              <a:rPr sz="1600">
                <a:solidFill>
                  <a:srgbClr val="0C1408"/>
                </a:solidFill>
                <a:latin typeface="Arial"/>
              </a:rPr>
              <a:t>6 to 20 accounts a circle; Rs 1.4 billion per 100,000 members</a:t>
            </a:r>
          </a:p>
        </p:txBody>
      </p:sp>
      <p:sp>
        <p:nvSpPr>
          <p:cNvPr id="11" name="TextBox 10"/>
          <p:cNvSpPr txBox="1"/>
          <p:nvPr/>
        </p:nvSpPr>
        <p:spPr>
          <a:xfrm>
            <a:off x="10362895" y="2002536"/>
            <a:ext cx="1152144" cy="640080"/>
          </a:xfrm>
          <a:prstGeom prst="rect">
            <a:avLst/>
          </a:prstGeom>
          <a:noFill/>
        </p:spPr>
        <p:txBody>
          <a:bodyPr wrap="square" lIns="0" tIns="0" rIns="0" bIns="0" anchor="ctr">
            <a:spAutoFit/>
          </a:bodyPr>
          <a:lstStyle/>
          <a:p>
            <a:pPr algn="r">
              <a:lnSpc>
                <a:spcPct val="105000"/>
              </a:lnSpc>
            </a:pPr>
            <a:r>
              <a:rPr sz="1300">
                <a:solidFill>
                  <a:srgbClr val="5F6B58"/>
                </a:solidFill>
                <a:latin typeface="Arial"/>
              </a:rPr>
              <a:t>7, 8</a:t>
            </a:r>
          </a:p>
        </p:txBody>
      </p:sp>
      <p:cxnSp>
        <p:nvCxnSpPr>
          <p:cNvPr id="12" name="Connector 11"/>
          <p:cNvCxnSpPr/>
          <p:nvPr/>
        </p:nvCxnSpPr>
        <p:spPr>
          <a:xfrm>
            <a:off x="640080" y="2642616"/>
            <a:ext cx="10911535" cy="0"/>
          </a:xfrm>
          <a:prstGeom prst="line">
            <a:avLst/>
          </a:prstGeom>
          <a:ln w="9525">
            <a:solidFill>
              <a:srgbClr val="CFD8C6"/>
            </a:solidFill>
          </a:ln>
        </p:spPr>
      </p:cxnSp>
      <p:sp>
        <p:nvSpPr>
          <p:cNvPr id="13" name="TextBox 12"/>
          <p:cNvSpPr txBox="1"/>
          <p:nvPr/>
        </p:nvSpPr>
        <p:spPr>
          <a:xfrm>
            <a:off x="676656" y="2642616"/>
            <a:ext cx="2103120" cy="640080"/>
          </a:xfrm>
          <a:prstGeom prst="rect">
            <a:avLst/>
          </a:prstGeom>
          <a:noFill/>
        </p:spPr>
        <p:txBody>
          <a:bodyPr wrap="square" lIns="0" tIns="0" rIns="0" bIns="0" anchor="ctr">
            <a:spAutoFit/>
          </a:bodyPr>
          <a:lstStyle/>
          <a:p>
            <a:pPr>
              <a:lnSpc>
                <a:spcPct val="105000"/>
              </a:lnSpc>
            </a:pPr>
            <a:r>
              <a:rPr sz="1600" b="1">
                <a:solidFill>
                  <a:srgbClr val="41801A"/>
                </a:solidFill>
                <a:latin typeface="Arial"/>
              </a:rPr>
              <a:t>Risk</a:t>
            </a:r>
          </a:p>
        </p:txBody>
      </p:sp>
      <p:sp>
        <p:nvSpPr>
          <p:cNvPr id="14" name="TextBox 13"/>
          <p:cNvSpPr txBox="1"/>
          <p:nvPr/>
        </p:nvSpPr>
        <p:spPr>
          <a:xfrm>
            <a:off x="2871216" y="2642616"/>
            <a:ext cx="7400239" cy="640080"/>
          </a:xfrm>
          <a:prstGeom prst="rect">
            <a:avLst/>
          </a:prstGeom>
          <a:noFill/>
        </p:spPr>
        <p:txBody>
          <a:bodyPr wrap="square" lIns="0" tIns="0" rIns="0" bIns="0" anchor="ctr">
            <a:spAutoFit/>
          </a:bodyPr>
          <a:lstStyle/>
          <a:p>
            <a:pPr>
              <a:lnSpc>
                <a:spcPct val="103000"/>
              </a:lnSpc>
            </a:pPr>
            <a:r>
              <a:rPr sz="1600">
                <a:solidFill>
                  <a:srgbClr val="0C1408"/>
                </a:solidFill>
                <a:latin typeface="Arial"/>
              </a:rPr>
              <a:t>early turns only for proven members; takaful pays first</a:t>
            </a:r>
          </a:p>
        </p:txBody>
      </p:sp>
      <p:sp>
        <p:nvSpPr>
          <p:cNvPr id="15" name="TextBox 14"/>
          <p:cNvSpPr txBox="1"/>
          <p:nvPr/>
        </p:nvSpPr>
        <p:spPr>
          <a:xfrm>
            <a:off x="10362895" y="2642616"/>
            <a:ext cx="1152144" cy="640080"/>
          </a:xfrm>
          <a:prstGeom prst="rect">
            <a:avLst/>
          </a:prstGeom>
          <a:noFill/>
        </p:spPr>
        <p:txBody>
          <a:bodyPr wrap="square" lIns="0" tIns="0" rIns="0" bIns="0" anchor="ctr">
            <a:spAutoFit/>
          </a:bodyPr>
          <a:lstStyle/>
          <a:p>
            <a:pPr algn="r">
              <a:lnSpc>
                <a:spcPct val="105000"/>
              </a:lnSpc>
            </a:pPr>
            <a:r>
              <a:rPr sz="1300">
                <a:solidFill>
                  <a:srgbClr val="5F6B58"/>
                </a:solidFill>
                <a:latin typeface="Arial"/>
              </a:rPr>
              <a:t>14 to 16</a:t>
            </a:r>
          </a:p>
        </p:txBody>
      </p:sp>
      <p:cxnSp>
        <p:nvCxnSpPr>
          <p:cNvPr id="16" name="Connector 15"/>
          <p:cNvCxnSpPr/>
          <p:nvPr/>
        </p:nvCxnSpPr>
        <p:spPr>
          <a:xfrm>
            <a:off x="640080" y="3282696"/>
            <a:ext cx="10911535" cy="0"/>
          </a:xfrm>
          <a:prstGeom prst="line">
            <a:avLst/>
          </a:prstGeom>
          <a:ln w="9525">
            <a:solidFill>
              <a:srgbClr val="CFD8C6"/>
            </a:solidFill>
          </a:ln>
        </p:spPr>
      </p:cxnSp>
      <p:sp>
        <p:nvSpPr>
          <p:cNvPr id="17" name="TextBox 16"/>
          <p:cNvSpPr txBox="1"/>
          <p:nvPr/>
        </p:nvSpPr>
        <p:spPr>
          <a:xfrm>
            <a:off x="676656" y="3282696"/>
            <a:ext cx="2103120" cy="640080"/>
          </a:xfrm>
          <a:prstGeom prst="rect">
            <a:avLst/>
          </a:prstGeom>
          <a:noFill/>
        </p:spPr>
        <p:txBody>
          <a:bodyPr wrap="square" lIns="0" tIns="0" rIns="0" bIns="0" anchor="ctr">
            <a:spAutoFit/>
          </a:bodyPr>
          <a:lstStyle/>
          <a:p>
            <a:pPr>
              <a:lnSpc>
                <a:spcPct val="105000"/>
              </a:lnSpc>
            </a:pPr>
            <a:r>
              <a:rPr sz="1600" b="1">
                <a:solidFill>
                  <a:srgbClr val="41801A"/>
                </a:solidFill>
                <a:latin typeface="Arial"/>
              </a:rPr>
              <a:t>Compliance</a:t>
            </a:r>
          </a:p>
        </p:txBody>
      </p:sp>
      <p:sp>
        <p:nvSpPr>
          <p:cNvPr id="18" name="TextBox 17"/>
          <p:cNvSpPr txBox="1"/>
          <p:nvPr/>
        </p:nvSpPr>
        <p:spPr>
          <a:xfrm>
            <a:off x="2871216" y="3282696"/>
            <a:ext cx="7400239" cy="640080"/>
          </a:xfrm>
          <a:prstGeom prst="rect">
            <a:avLst/>
          </a:prstGeom>
          <a:noFill/>
        </p:spPr>
        <p:txBody>
          <a:bodyPr wrap="square" lIns="0" tIns="0" rIns="0" bIns="0" anchor="ctr">
            <a:spAutoFit/>
          </a:bodyPr>
          <a:lstStyle/>
          <a:p>
            <a:pPr>
              <a:lnSpc>
                <a:spcPct val="103000"/>
              </a:lnSpc>
            </a:pPr>
            <a:r>
              <a:rPr sz="1600">
                <a:solidFill>
                  <a:srgbClr val="0C1408"/>
                </a:solidFill>
                <a:latin typeface="Arial"/>
              </a:rPr>
              <a:t>Raqami holds all money; Halqa is its service provider</a:t>
            </a:r>
          </a:p>
        </p:txBody>
      </p:sp>
      <p:sp>
        <p:nvSpPr>
          <p:cNvPr id="19" name="TextBox 18"/>
          <p:cNvSpPr txBox="1"/>
          <p:nvPr/>
        </p:nvSpPr>
        <p:spPr>
          <a:xfrm>
            <a:off x="10362895" y="3282696"/>
            <a:ext cx="1152144" cy="640080"/>
          </a:xfrm>
          <a:prstGeom prst="rect">
            <a:avLst/>
          </a:prstGeom>
          <a:noFill/>
        </p:spPr>
        <p:txBody>
          <a:bodyPr wrap="square" lIns="0" tIns="0" rIns="0" bIns="0" anchor="ctr">
            <a:spAutoFit/>
          </a:bodyPr>
          <a:lstStyle/>
          <a:p>
            <a:pPr algn="r">
              <a:lnSpc>
                <a:spcPct val="105000"/>
              </a:lnSpc>
            </a:pPr>
            <a:r>
              <a:rPr sz="1300">
                <a:solidFill>
                  <a:srgbClr val="5F6B58"/>
                </a:solidFill>
                <a:latin typeface="Arial"/>
              </a:rPr>
              <a:t>6, 22</a:t>
            </a:r>
          </a:p>
        </p:txBody>
      </p:sp>
      <p:cxnSp>
        <p:nvCxnSpPr>
          <p:cNvPr id="20" name="Connector 19"/>
          <p:cNvCxnSpPr/>
          <p:nvPr/>
        </p:nvCxnSpPr>
        <p:spPr>
          <a:xfrm>
            <a:off x="640080" y="3922776"/>
            <a:ext cx="10911535" cy="0"/>
          </a:xfrm>
          <a:prstGeom prst="line">
            <a:avLst/>
          </a:prstGeom>
          <a:ln w="9525">
            <a:solidFill>
              <a:srgbClr val="CFD8C6"/>
            </a:solidFill>
          </a:ln>
        </p:spPr>
      </p:cxnSp>
      <p:sp>
        <p:nvSpPr>
          <p:cNvPr id="21" name="TextBox 20"/>
          <p:cNvSpPr txBox="1"/>
          <p:nvPr/>
        </p:nvSpPr>
        <p:spPr>
          <a:xfrm>
            <a:off x="676656" y="3922776"/>
            <a:ext cx="2103120" cy="640080"/>
          </a:xfrm>
          <a:prstGeom prst="rect">
            <a:avLst/>
          </a:prstGeom>
          <a:noFill/>
        </p:spPr>
        <p:txBody>
          <a:bodyPr wrap="square" lIns="0" tIns="0" rIns="0" bIns="0" anchor="ctr">
            <a:spAutoFit/>
          </a:bodyPr>
          <a:lstStyle/>
          <a:p>
            <a:pPr>
              <a:lnSpc>
                <a:spcPct val="105000"/>
              </a:lnSpc>
            </a:pPr>
            <a:r>
              <a:rPr sz="1600" b="1">
                <a:solidFill>
                  <a:srgbClr val="41801A"/>
                </a:solidFill>
                <a:latin typeface="Arial"/>
              </a:rPr>
              <a:t>Technology</a:t>
            </a:r>
          </a:p>
        </p:txBody>
      </p:sp>
      <p:sp>
        <p:nvSpPr>
          <p:cNvPr id="22" name="TextBox 21"/>
          <p:cNvSpPr txBox="1"/>
          <p:nvPr/>
        </p:nvSpPr>
        <p:spPr>
          <a:xfrm>
            <a:off x="2871216" y="3922776"/>
            <a:ext cx="7400239" cy="640080"/>
          </a:xfrm>
          <a:prstGeom prst="rect">
            <a:avLst/>
          </a:prstGeom>
          <a:noFill/>
        </p:spPr>
        <p:txBody>
          <a:bodyPr wrap="square" lIns="0" tIns="0" rIns="0" bIns="0" anchor="ctr">
            <a:spAutoFit/>
          </a:bodyPr>
          <a:lstStyle/>
          <a:p>
            <a:pPr>
              <a:lnSpc>
                <a:spcPct val="103000"/>
              </a:lnSpc>
            </a:pPr>
            <a:r>
              <a:rPr sz="1600">
                <a:solidFill>
                  <a:srgbClr val="0C1408"/>
                </a:solidFill>
                <a:latin typeface="Arial"/>
              </a:rPr>
              <a:t>account, standing instruction and payment interfaces; daily reconciliation</a:t>
            </a:r>
          </a:p>
        </p:txBody>
      </p:sp>
      <p:sp>
        <p:nvSpPr>
          <p:cNvPr id="23" name="TextBox 22"/>
          <p:cNvSpPr txBox="1"/>
          <p:nvPr/>
        </p:nvSpPr>
        <p:spPr>
          <a:xfrm>
            <a:off x="10362895" y="3922776"/>
            <a:ext cx="1152144" cy="640080"/>
          </a:xfrm>
          <a:prstGeom prst="rect">
            <a:avLst/>
          </a:prstGeom>
          <a:noFill/>
        </p:spPr>
        <p:txBody>
          <a:bodyPr wrap="square" lIns="0" tIns="0" rIns="0" bIns="0" anchor="ctr">
            <a:spAutoFit/>
          </a:bodyPr>
          <a:lstStyle/>
          <a:p>
            <a:pPr algn="r">
              <a:lnSpc>
                <a:spcPct val="105000"/>
              </a:lnSpc>
            </a:pPr>
            <a:r>
              <a:rPr sz="1300">
                <a:solidFill>
                  <a:srgbClr val="5F6B58"/>
                </a:solidFill>
                <a:latin typeface="Arial"/>
              </a:rPr>
              <a:t>11, 24</a:t>
            </a:r>
          </a:p>
        </p:txBody>
      </p:sp>
      <p:cxnSp>
        <p:nvCxnSpPr>
          <p:cNvPr id="24" name="Connector 23"/>
          <p:cNvCxnSpPr/>
          <p:nvPr/>
        </p:nvCxnSpPr>
        <p:spPr>
          <a:xfrm>
            <a:off x="640080" y="4562856"/>
            <a:ext cx="10911535" cy="0"/>
          </a:xfrm>
          <a:prstGeom prst="line">
            <a:avLst/>
          </a:prstGeom>
          <a:ln w="9525">
            <a:solidFill>
              <a:srgbClr val="CFD8C6"/>
            </a:solidFill>
          </a:ln>
        </p:spPr>
      </p:cxnSp>
      <p:sp>
        <p:nvSpPr>
          <p:cNvPr id="25" name="TextBox 24"/>
          <p:cNvSpPr txBox="1"/>
          <p:nvPr/>
        </p:nvSpPr>
        <p:spPr>
          <a:xfrm>
            <a:off x="676656" y="4562856"/>
            <a:ext cx="2103120" cy="640080"/>
          </a:xfrm>
          <a:prstGeom prst="rect">
            <a:avLst/>
          </a:prstGeom>
          <a:noFill/>
        </p:spPr>
        <p:txBody>
          <a:bodyPr wrap="square" lIns="0" tIns="0" rIns="0" bIns="0" anchor="ctr">
            <a:spAutoFit/>
          </a:bodyPr>
          <a:lstStyle/>
          <a:p>
            <a:pPr>
              <a:lnSpc>
                <a:spcPct val="105000"/>
              </a:lnSpc>
            </a:pPr>
            <a:r>
              <a:rPr sz="1600" b="1">
                <a:solidFill>
                  <a:srgbClr val="573F99"/>
                </a:solidFill>
                <a:latin typeface="Arial"/>
              </a:rPr>
              <a:t>Finance</a:t>
            </a:r>
          </a:p>
        </p:txBody>
      </p:sp>
      <p:sp>
        <p:nvSpPr>
          <p:cNvPr id="26" name="TextBox 25"/>
          <p:cNvSpPr txBox="1"/>
          <p:nvPr/>
        </p:nvSpPr>
        <p:spPr>
          <a:xfrm>
            <a:off x="2871216" y="4562856"/>
            <a:ext cx="7400239" cy="640080"/>
          </a:xfrm>
          <a:prstGeom prst="rect">
            <a:avLst/>
          </a:prstGeom>
          <a:noFill/>
        </p:spPr>
        <p:txBody>
          <a:bodyPr wrap="square" lIns="0" tIns="0" rIns="0" bIns="0" anchor="ctr">
            <a:spAutoFit/>
          </a:bodyPr>
          <a:lstStyle/>
          <a:p>
            <a:pPr>
              <a:lnSpc>
                <a:spcPct val="103000"/>
              </a:lnSpc>
            </a:pPr>
            <a:r>
              <a:rPr sz="1600">
                <a:solidFill>
                  <a:srgbClr val="0C1408"/>
                </a:solidFill>
                <a:latin typeface="Arial"/>
              </a:rPr>
              <a:t>Raqami keeps the fee and shares it; profit on balances</a:t>
            </a:r>
          </a:p>
        </p:txBody>
      </p:sp>
      <p:sp>
        <p:nvSpPr>
          <p:cNvPr id="27" name="TextBox 26"/>
          <p:cNvSpPr txBox="1"/>
          <p:nvPr/>
        </p:nvSpPr>
        <p:spPr>
          <a:xfrm>
            <a:off x="10362895" y="4562856"/>
            <a:ext cx="1152144" cy="640080"/>
          </a:xfrm>
          <a:prstGeom prst="rect">
            <a:avLst/>
          </a:prstGeom>
          <a:noFill/>
        </p:spPr>
        <p:txBody>
          <a:bodyPr wrap="square" lIns="0" tIns="0" rIns="0" bIns="0" anchor="ctr">
            <a:spAutoFit/>
          </a:bodyPr>
          <a:lstStyle/>
          <a:p>
            <a:pPr algn="r">
              <a:lnSpc>
                <a:spcPct val="105000"/>
              </a:lnSpc>
            </a:pPr>
            <a:r>
              <a:rPr sz="1300">
                <a:solidFill>
                  <a:srgbClr val="5F6B58"/>
                </a:solidFill>
                <a:latin typeface="Arial"/>
              </a:rPr>
              <a:t>17</a:t>
            </a:r>
          </a:p>
        </p:txBody>
      </p:sp>
      <p:cxnSp>
        <p:nvCxnSpPr>
          <p:cNvPr id="28" name="Connector 27"/>
          <p:cNvCxnSpPr/>
          <p:nvPr/>
        </p:nvCxnSpPr>
        <p:spPr>
          <a:xfrm>
            <a:off x="640080" y="5202936"/>
            <a:ext cx="10911535" cy="0"/>
          </a:xfrm>
          <a:prstGeom prst="line">
            <a:avLst/>
          </a:prstGeom>
          <a:ln w="9525">
            <a:solidFill>
              <a:srgbClr val="CFD8C6"/>
            </a:solidFill>
          </a:ln>
        </p:spPr>
      </p:cxnSp>
      <p:sp>
        <p:nvSpPr>
          <p:cNvPr id="29" name="TextBox 28"/>
          <p:cNvSpPr txBox="1"/>
          <p:nvPr/>
        </p:nvSpPr>
        <p:spPr>
          <a:xfrm>
            <a:off x="676656" y="5202936"/>
            <a:ext cx="2103120" cy="640080"/>
          </a:xfrm>
          <a:prstGeom prst="rect">
            <a:avLst/>
          </a:prstGeom>
          <a:noFill/>
        </p:spPr>
        <p:txBody>
          <a:bodyPr wrap="square" lIns="0" tIns="0" rIns="0" bIns="0" anchor="ctr">
            <a:spAutoFit/>
          </a:bodyPr>
          <a:lstStyle/>
          <a:p>
            <a:pPr>
              <a:lnSpc>
                <a:spcPct val="105000"/>
              </a:lnSpc>
            </a:pPr>
            <a:r>
              <a:rPr sz="1600" b="1">
                <a:solidFill>
                  <a:srgbClr val="41801A"/>
                </a:solidFill>
                <a:latin typeface="Arial"/>
              </a:rPr>
              <a:t>Shariah</a:t>
            </a:r>
          </a:p>
        </p:txBody>
      </p:sp>
      <p:sp>
        <p:nvSpPr>
          <p:cNvPr id="30" name="TextBox 29"/>
          <p:cNvSpPr txBox="1"/>
          <p:nvPr/>
        </p:nvSpPr>
        <p:spPr>
          <a:xfrm>
            <a:off x="2871216" y="5202936"/>
            <a:ext cx="7400239" cy="640080"/>
          </a:xfrm>
          <a:prstGeom prst="rect">
            <a:avLst/>
          </a:prstGeom>
          <a:noFill/>
        </p:spPr>
        <p:txBody>
          <a:bodyPr wrap="square" lIns="0" tIns="0" rIns="0" bIns="0" anchor="ctr">
            <a:spAutoFit/>
          </a:bodyPr>
          <a:lstStyle/>
          <a:p>
            <a:pPr>
              <a:lnSpc>
                <a:spcPct val="103000"/>
              </a:lnSpc>
            </a:pPr>
            <a:r>
              <a:rPr sz="1600">
                <a:solidFill>
                  <a:srgbClr val="0C1408"/>
                </a:solidFill>
                <a:latin typeface="Arial"/>
              </a:rPr>
              <a:t>no interest; flat fee; late charges to charity; takaful</a:t>
            </a:r>
          </a:p>
        </p:txBody>
      </p:sp>
      <p:sp>
        <p:nvSpPr>
          <p:cNvPr id="31" name="TextBox 30"/>
          <p:cNvSpPr txBox="1"/>
          <p:nvPr/>
        </p:nvSpPr>
        <p:spPr>
          <a:xfrm>
            <a:off x="10362895" y="5202936"/>
            <a:ext cx="1152144" cy="640080"/>
          </a:xfrm>
          <a:prstGeom prst="rect">
            <a:avLst/>
          </a:prstGeom>
          <a:noFill/>
        </p:spPr>
        <p:txBody>
          <a:bodyPr wrap="square" lIns="0" tIns="0" rIns="0" bIns="0" anchor="ctr">
            <a:spAutoFit/>
          </a:bodyPr>
          <a:lstStyle/>
          <a:p>
            <a:pPr algn="r">
              <a:lnSpc>
                <a:spcPct val="105000"/>
              </a:lnSpc>
            </a:pPr>
            <a:r>
              <a:rPr sz="1300">
                <a:solidFill>
                  <a:srgbClr val="5F6B58"/>
                </a:solidFill>
                <a:latin typeface="Arial"/>
              </a:rPr>
              <a:t>15, 16</a:t>
            </a:r>
          </a:p>
        </p:txBody>
      </p:sp>
      <p:cxnSp>
        <p:nvCxnSpPr>
          <p:cNvPr id="32" name="Connector 31"/>
          <p:cNvCxnSpPr/>
          <p:nvPr/>
        </p:nvCxnSpPr>
        <p:spPr>
          <a:xfrm>
            <a:off x="640080" y="5843016"/>
            <a:ext cx="10911535" cy="0"/>
          </a:xfrm>
          <a:prstGeom prst="line">
            <a:avLst/>
          </a:prstGeom>
          <a:ln w="9525">
            <a:solidFill>
              <a:srgbClr val="CFD8C6"/>
            </a:solidFill>
          </a:ln>
        </p:spPr>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Only this model keeps money in a bank, charges one fee and builds a credit record.</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19</a:t>
            </a:r>
          </a:p>
        </p:txBody>
      </p:sp>
      <p:sp>
        <p:nvSpPr>
          <p:cNvPr id="5" name="Rectangle 4"/>
          <p:cNvSpPr/>
          <p:nvPr/>
        </p:nvSpPr>
        <p:spPr>
          <a:xfrm>
            <a:off x="3337560" y="1691640"/>
            <a:ext cx="2053514" cy="3785616"/>
          </a:xfrm>
          <a:prstGeom prst="rect">
            <a:avLst/>
          </a:prstGeom>
          <a:solidFill>
            <a:srgbClr val="F3FCE7"/>
          </a:solidFill>
          <a:ln>
            <a:noFill/>
          </a:ln>
        </p:spPr>
        <p:txBody>
          <a:bodyPr rtlCol="0" anchor="ctr"/>
          <a:lstStyle/>
          <a:p>
            <a:pPr algn="ctr"/>
          </a:p>
        </p:txBody>
      </p:sp>
      <p:sp>
        <p:nvSpPr>
          <p:cNvPr id="6" name="TextBox 5"/>
          <p:cNvSpPr txBox="1"/>
          <p:nvPr/>
        </p:nvSpPr>
        <p:spPr>
          <a:xfrm>
            <a:off x="3474720" y="1691640"/>
            <a:ext cx="1870634" cy="420624"/>
          </a:xfrm>
          <a:prstGeom prst="rect">
            <a:avLst/>
          </a:prstGeom>
          <a:noFill/>
        </p:spPr>
        <p:txBody>
          <a:bodyPr wrap="square" lIns="0" tIns="0" rIns="0" bIns="0" anchor="ctr">
            <a:spAutoFit/>
          </a:bodyPr>
          <a:lstStyle/>
          <a:p>
            <a:pPr>
              <a:lnSpc>
                <a:spcPct val="105000"/>
              </a:lnSpc>
            </a:pPr>
            <a:r>
              <a:rPr sz="1450" b="1">
                <a:solidFill>
                  <a:srgbClr val="41801A"/>
                </a:solidFill>
                <a:latin typeface="Arial"/>
              </a:rPr>
              <a:t>Halqa with Raqami</a:t>
            </a:r>
          </a:p>
        </p:txBody>
      </p:sp>
      <p:sp>
        <p:nvSpPr>
          <p:cNvPr id="7" name="TextBox 6"/>
          <p:cNvSpPr txBox="1"/>
          <p:nvPr/>
        </p:nvSpPr>
        <p:spPr>
          <a:xfrm>
            <a:off x="5528234" y="1691640"/>
            <a:ext cx="1870634" cy="420624"/>
          </a:xfrm>
          <a:prstGeom prst="rect">
            <a:avLst/>
          </a:prstGeom>
          <a:noFill/>
        </p:spPr>
        <p:txBody>
          <a:bodyPr wrap="square" lIns="0" tIns="0" rIns="0" bIns="0" anchor="ctr">
            <a:spAutoFit/>
          </a:bodyPr>
          <a:lstStyle/>
          <a:p>
            <a:pPr>
              <a:lnSpc>
                <a:spcPct val="105000"/>
              </a:lnSpc>
            </a:pPr>
            <a:r>
              <a:rPr sz="1450" b="1">
                <a:solidFill>
                  <a:srgbClr val="0C1408"/>
                </a:solidFill>
                <a:latin typeface="Arial"/>
              </a:rPr>
              <a:t>Oraan</a:t>
            </a:r>
          </a:p>
        </p:txBody>
      </p:sp>
      <p:sp>
        <p:nvSpPr>
          <p:cNvPr id="8" name="TextBox 7"/>
          <p:cNvSpPr txBox="1"/>
          <p:nvPr/>
        </p:nvSpPr>
        <p:spPr>
          <a:xfrm>
            <a:off x="7581748" y="1691640"/>
            <a:ext cx="1870634" cy="420624"/>
          </a:xfrm>
          <a:prstGeom prst="rect">
            <a:avLst/>
          </a:prstGeom>
          <a:noFill/>
        </p:spPr>
        <p:txBody>
          <a:bodyPr wrap="square" lIns="0" tIns="0" rIns="0" bIns="0" anchor="ctr">
            <a:spAutoFit/>
          </a:bodyPr>
          <a:lstStyle/>
          <a:p>
            <a:pPr>
              <a:lnSpc>
                <a:spcPct val="105000"/>
              </a:lnSpc>
            </a:pPr>
            <a:r>
              <a:rPr sz="1450" b="1">
                <a:solidFill>
                  <a:srgbClr val="0C1408"/>
                </a:solidFill>
                <a:latin typeface="Arial"/>
              </a:rPr>
              <a:t>JazzCash Committee</a:t>
            </a:r>
          </a:p>
        </p:txBody>
      </p:sp>
      <p:sp>
        <p:nvSpPr>
          <p:cNvPr id="9" name="TextBox 8"/>
          <p:cNvSpPr txBox="1"/>
          <p:nvPr/>
        </p:nvSpPr>
        <p:spPr>
          <a:xfrm>
            <a:off x="9635261" y="1691640"/>
            <a:ext cx="1870634" cy="420624"/>
          </a:xfrm>
          <a:prstGeom prst="rect">
            <a:avLst/>
          </a:prstGeom>
          <a:noFill/>
        </p:spPr>
        <p:txBody>
          <a:bodyPr wrap="square" lIns="0" tIns="0" rIns="0" bIns="0" anchor="ctr">
            <a:spAutoFit/>
          </a:bodyPr>
          <a:lstStyle/>
          <a:p>
            <a:pPr>
              <a:lnSpc>
                <a:spcPct val="105000"/>
              </a:lnSpc>
            </a:pPr>
            <a:r>
              <a:rPr sz="1450" b="1">
                <a:solidFill>
                  <a:srgbClr val="0C1408"/>
                </a:solidFill>
                <a:latin typeface="Arial"/>
              </a:rPr>
              <a:t>Informal</a:t>
            </a:r>
          </a:p>
        </p:txBody>
      </p:sp>
      <p:cxnSp>
        <p:nvCxnSpPr>
          <p:cNvPr id="10" name="Connector 9"/>
          <p:cNvCxnSpPr/>
          <p:nvPr/>
        </p:nvCxnSpPr>
        <p:spPr>
          <a:xfrm>
            <a:off x="640080" y="2148840"/>
            <a:ext cx="10911535" cy="0"/>
          </a:xfrm>
          <a:prstGeom prst="line">
            <a:avLst/>
          </a:prstGeom>
          <a:ln w="15875">
            <a:solidFill>
              <a:srgbClr val="41801A"/>
            </a:solidFill>
          </a:ln>
        </p:spPr>
      </p:cxnSp>
      <p:sp>
        <p:nvSpPr>
          <p:cNvPr id="11" name="TextBox 10"/>
          <p:cNvSpPr txBox="1"/>
          <p:nvPr/>
        </p:nvSpPr>
        <p:spPr>
          <a:xfrm>
            <a:off x="640080" y="2148840"/>
            <a:ext cx="2606040" cy="475488"/>
          </a:xfrm>
          <a:prstGeom prst="rect">
            <a:avLst/>
          </a:prstGeom>
          <a:noFill/>
        </p:spPr>
        <p:txBody>
          <a:bodyPr wrap="square" lIns="0" tIns="0" rIns="0" bIns="0" anchor="ctr">
            <a:spAutoFit/>
          </a:bodyPr>
          <a:lstStyle/>
          <a:p>
            <a:pPr>
              <a:lnSpc>
                <a:spcPct val="100000"/>
              </a:lnSpc>
            </a:pPr>
            <a:r>
              <a:rPr sz="1450">
                <a:solidFill>
                  <a:srgbClr val="0C1408"/>
                </a:solidFill>
                <a:latin typeface="Arial"/>
              </a:rPr>
              <a:t>Money held by a licensed bank</a:t>
            </a:r>
          </a:p>
        </p:txBody>
      </p:sp>
      <p:sp>
        <p:nvSpPr>
          <p:cNvPr id="12" name="Oval 11"/>
          <p:cNvSpPr/>
          <p:nvPr/>
        </p:nvSpPr>
        <p:spPr>
          <a:xfrm>
            <a:off x="3474720" y="2286000"/>
            <a:ext cx="201168" cy="201168"/>
          </a:xfrm>
          <a:prstGeom prst="ellipse">
            <a:avLst/>
          </a:prstGeom>
          <a:solidFill>
            <a:srgbClr val="41801A"/>
          </a:solidFill>
          <a:ln w="15875">
            <a:solidFill>
              <a:srgbClr val="41801A"/>
            </a:solidFill>
          </a:ln>
        </p:spPr>
        <p:txBody>
          <a:bodyPr rtlCol="0" anchor="ctr"/>
          <a:lstStyle/>
          <a:p>
            <a:pPr algn="ctr"/>
          </a:p>
        </p:txBody>
      </p:sp>
      <p:sp>
        <p:nvSpPr>
          <p:cNvPr id="13" name="TextBox 12"/>
          <p:cNvSpPr txBox="1"/>
          <p:nvPr/>
        </p:nvSpPr>
        <p:spPr>
          <a:xfrm>
            <a:off x="3776472" y="2148840"/>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Raqami</a:t>
            </a:r>
          </a:p>
        </p:txBody>
      </p:sp>
      <p:sp>
        <p:nvSpPr>
          <p:cNvPr id="14" name="Oval 13"/>
          <p:cNvSpPr/>
          <p:nvPr/>
        </p:nvSpPr>
        <p:spPr>
          <a:xfrm>
            <a:off x="5528234" y="2286000"/>
            <a:ext cx="201168" cy="201168"/>
          </a:xfrm>
          <a:prstGeom prst="ellipse">
            <a:avLst/>
          </a:prstGeom>
          <a:solidFill>
            <a:srgbClr val="FFFFFF"/>
          </a:solidFill>
          <a:ln w="15875">
            <a:solidFill>
              <a:srgbClr val="41801A"/>
            </a:solidFill>
          </a:ln>
        </p:spPr>
        <p:txBody>
          <a:bodyPr rtlCol="0" anchor="ctr"/>
          <a:lstStyle/>
          <a:p>
            <a:pPr algn="ctr"/>
          </a:p>
        </p:txBody>
      </p:sp>
      <p:sp>
        <p:nvSpPr>
          <p:cNvPr id="15" name="TextBox 14"/>
          <p:cNvSpPr txBox="1"/>
          <p:nvPr/>
        </p:nvSpPr>
        <p:spPr>
          <a:xfrm>
            <a:off x="5829986" y="2148840"/>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own company accounts</a:t>
            </a:r>
          </a:p>
        </p:txBody>
      </p:sp>
      <p:sp>
        <p:nvSpPr>
          <p:cNvPr id="16" name="Oval 15"/>
          <p:cNvSpPr/>
          <p:nvPr/>
        </p:nvSpPr>
        <p:spPr>
          <a:xfrm>
            <a:off x="7581748" y="2286000"/>
            <a:ext cx="201168" cy="201168"/>
          </a:xfrm>
          <a:prstGeom prst="ellipse">
            <a:avLst/>
          </a:prstGeom>
          <a:solidFill>
            <a:srgbClr val="FFFFFF"/>
          </a:solidFill>
          <a:ln w="15875">
            <a:solidFill>
              <a:srgbClr val="41801A"/>
            </a:solidFill>
          </a:ln>
        </p:spPr>
        <p:txBody>
          <a:bodyPr rtlCol="0" anchor="ctr"/>
          <a:lstStyle/>
          <a:p>
            <a:pPr algn="ctr"/>
          </a:p>
        </p:txBody>
      </p:sp>
      <p:sp>
        <p:nvSpPr>
          <p:cNvPr id="17" name="Freeform 16"/>
          <p:cNvSpPr/>
          <p:nvPr/>
        </p:nvSpPr>
        <p:spPr>
          <a:xfrm>
            <a:off x="7682332" y="2286000"/>
            <a:ext cx="100584" cy="201168"/>
          </a:xfrm>
          <a:custGeom>
            <a:avLst/>
            <a:gdLst/>
            <a:ahLst/>
            <a:cxnLst/>
            <a:rect l="l" t="t" r="r" b="b"/>
            <a:pathLst>
              <a:path w="100584" h="201168">
                <a:moveTo>
                  <a:pt x="0" y="0"/>
                </a:moveTo>
                <a:lnTo>
                  <a:pt x="10513" y="551"/>
                </a:lnTo>
                <a:lnTo>
                  <a:pt x="20912" y="2198"/>
                </a:lnTo>
                <a:lnTo>
                  <a:pt x="31082" y="4923"/>
                </a:lnTo>
                <a:lnTo>
                  <a:pt x="40911" y="8696"/>
                </a:lnTo>
                <a:lnTo>
                  <a:pt x="50292" y="13476"/>
                </a:lnTo>
                <a:lnTo>
                  <a:pt x="59121" y="19210"/>
                </a:lnTo>
                <a:lnTo>
                  <a:pt x="67303" y="25836"/>
                </a:lnTo>
                <a:lnTo>
                  <a:pt x="74748" y="33280"/>
                </a:lnTo>
                <a:lnTo>
                  <a:pt x="81374" y="41462"/>
                </a:lnTo>
                <a:lnTo>
                  <a:pt x="87108" y="50292"/>
                </a:lnTo>
                <a:lnTo>
                  <a:pt x="91888" y="59673"/>
                </a:lnTo>
                <a:lnTo>
                  <a:pt x="95661" y="69502"/>
                </a:lnTo>
                <a:lnTo>
                  <a:pt x="98386" y="79671"/>
                </a:lnTo>
                <a:lnTo>
                  <a:pt x="100033" y="90070"/>
                </a:lnTo>
                <a:lnTo>
                  <a:pt x="100584" y="100584"/>
                </a:lnTo>
                <a:lnTo>
                  <a:pt x="100033" y="111098"/>
                </a:lnTo>
                <a:lnTo>
                  <a:pt x="98386" y="121497"/>
                </a:lnTo>
                <a:lnTo>
                  <a:pt x="95661" y="131666"/>
                </a:lnTo>
                <a:lnTo>
                  <a:pt x="91888" y="141495"/>
                </a:lnTo>
                <a:lnTo>
                  <a:pt x="87108" y="150876"/>
                </a:lnTo>
                <a:lnTo>
                  <a:pt x="81374" y="159706"/>
                </a:lnTo>
                <a:lnTo>
                  <a:pt x="74748" y="167888"/>
                </a:lnTo>
                <a:lnTo>
                  <a:pt x="67303" y="175332"/>
                </a:lnTo>
                <a:lnTo>
                  <a:pt x="59121" y="181958"/>
                </a:lnTo>
                <a:lnTo>
                  <a:pt x="50292" y="187692"/>
                </a:lnTo>
                <a:lnTo>
                  <a:pt x="40911" y="192472"/>
                </a:lnTo>
                <a:lnTo>
                  <a:pt x="31082" y="196245"/>
                </a:lnTo>
                <a:lnTo>
                  <a:pt x="20912" y="198970"/>
                </a:lnTo>
                <a:lnTo>
                  <a:pt x="10513" y="200617"/>
                </a:lnTo>
                <a:lnTo>
                  <a:pt x="0" y="201168"/>
                </a:lnTo>
                <a:close/>
              </a:path>
            </a:pathLst>
          </a:custGeom>
          <a:solidFill>
            <a:srgbClr val="41801A"/>
          </a:solidFill>
          <a:ln>
            <a:noFill/>
          </a:ln>
        </p:spPr>
        <p:txBody>
          <a:bodyPr rtlCol="0" anchor="ctr"/>
          <a:lstStyle/>
          <a:p>
            <a:pPr algn="ctr"/>
          </a:p>
        </p:txBody>
      </p:sp>
      <p:sp>
        <p:nvSpPr>
          <p:cNvPr id="18" name="TextBox 17"/>
          <p:cNvSpPr txBox="1"/>
          <p:nvPr/>
        </p:nvSpPr>
        <p:spPr>
          <a:xfrm>
            <a:off x="7883500" y="2148840"/>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organiser’s wallet</a:t>
            </a:r>
          </a:p>
        </p:txBody>
      </p:sp>
      <p:sp>
        <p:nvSpPr>
          <p:cNvPr id="19" name="Oval 18"/>
          <p:cNvSpPr/>
          <p:nvPr/>
        </p:nvSpPr>
        <p:spPr>
          <a:xfrm>
            <a:off x="9635261" y="2286000"/>
            <a:ext cx="201168" cy="201168"/>
          </a:xfrm>
          <a:prstGeom prst="ellipse">
            <a:avLst/>
          </a:prstGeom>
          <a:solidFill>
            <a:srgbClr val="FFFFFF"/>
          </a:solidFill>
          <a:ln w="15875">
            <a:solidFill>
              <a:srgbClr val="41801A"/>
            </a:solidFill>
          </a:ln>
        </p:spPr>
        <p:txBody>
          <a:bodyPr rtlCol="0" anchor="ctr"/>
          <a:lstStyle/>
          <a:p>
            <a:pPr algn="ctr"/>
          </a:p>
        </p:txBody>
      </p:sp>
      <p:sp>
        <p:nvSpPr>
          <p:cNvPr id="20" name="TextBox 19"/>
          <p:cNvSpPr txBox="1"/>
          <p:nvPr/>
        </p:nvSpPr>
        <p:spPr>
          <a:xfrm>
            <a:off x="9937013" y="2148840"/>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the organiser</a:t>
            </a:r>
          </a:p>
        </p:txBody>
      </p:sp>
      <p:cxnSp>
        <p:nvCxnSpPr>
          <p:cNvPr id="21" name="Connector 20"/>
          <p:cNvCxnSpPr/>
          <p:nvPr/>
        </p:nvCxnSpPr>
        <p:spPr>
          <a:xfrm>
            <a:off x="640080" y="2624328"/>
            <a:ext cx="10911535" cy="0"/>
          </a:xfrm>
          <a:prstGeom prst="line">
            <a:avLst/>
          </a:prstGeom>
          <a:ln w="9525">
            <a:solidFill>
              <a:srgbClr val="CFD8C6"/>
            </a:solidFill>
          </a:ln>
        </p:spPr>
      </p:cxnSp>
      <p:sp>
        <p:nvSpPr>
          <p:cNvPr id="22" name="TextBox 21"/>
          <p:cNvSpPr txBox="1"/>
          <p:nvPr/>
        </p:nvSpPr>
        <p:spPr>
          <a:xfrm>
            <a:off x="640080" y="2624328"/>
            <a:ext cx="2606040" cy="475488"/>
          </a:xfrm>
          <a:prstGeom prst="rect">
            <a:avLst/>
          </a:prstGeom>
          <a:noFill/>
        </p:spPr>
        <p:txBody>
          <a:bodyPr wrap="square" lIns="0" tIns="0" rIns="0" bIns="0" anchor="ctr">
            <a:spAutoFit/>
          </a:bodyPr>
          <a:lstStyle/>
          <a:p>
            <a:pPr>
              <a:lnSpc>
                <a:spcPct val="100000"/>
              </a:lnSpc>
            </a:pPr>
            <a:r>
              <a:rPr sz="1450">
                <a:solidFill>
                  <a:srgbClr val="0C1408"/>
                </a:solidFill>
                <a:latin typeface="Arial"/>
              </a:rPr>
              <a:t>Shariah board oversight</a:t>
            </a:r>
          </a:p>
        </p:txBody>
      </p:sp>
      <p:sp>
        <p:nvSpPr>
          <p:cNvPr id="23" name="Oval 22"/>
          <p:cNvSpPr/>
          <p:nvPr/>
        </p:nvSpPr>
        <p:spPr>
          <a:xfrm>
            <a:off x="3474720" y="2761488"/>
            <a:ext cx="201168" cy="201168"/>
          </a:xfrm>
          <a:prstGeom prst="ellipse">
            <a:avLst/>
          </a:prstGeom>
          <a:solidFill>
            <a:srgbClr val="41801A"/>
          </a:solidFill>
          <a:ln w="15875">
            <a:solidFill>
              <a:srgbClr val="41801A"/>
            </a:solidFill>
          </a:ln>
        </p:spPr>
        <p:txBody>
          <a:bodyPr rtlCol="0" anchor="ctr"/>
          <a:lstStyle/>
          <a:p>
            <a:pPr algn="ctr"/>
          </a:p>
        </p:txBody>
      </p:sp>
      <p:sp>
        <p:nvSpPr>
          <p:cNvPr id="24" name="TextBox 23"/>
          <p:cNvSpPr txBox="1"/>
          <p:nvPr/>
        </p:nvSpPr>
        <p:spPr>
          <a:xfrm>
            <a:off x="3776472" y="2624328"/>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Raqami’s Shariah Board</a:t>
            </a:r>
          </a:p>
        </p:txBody>
      </p:sp>
      <p:sp>
        <p:nvSpPr>
          <p:cNvPr id="25" name="Oval 24"/>
          <p:cNvSpPr/>
          <p:nvPr/>
        </p:nvSpPr>
        <p:spPr>
          <a:xfrm>
            <a:off x="5528234" y="2761488"/>
            <a:ext cx="201168" cy="201168"/>
          </a:xfrm>
          <a:prstGeom prst="ellipse">
            <a:avLst/>
          </a:prstGeom>
          <a:solidFill>
            <a:srgbClr val="FFFFFF"/>
          </a:solidFill>
          <a:ln w="15875">
            <a:solidFill>
              <a:srgbClr val="41801A"/>
            </a:solidFill>
          </a:ln>
        </p:spPr>
        <p:txBody>
          <a:bodyPr rtlCol="0" anchor="ctr"/>
          <a:lstStyle/>
          <a:p>
            <a:pPr algn="ctr"/>
          </a:p>
        </p:txBody>
      </p:sp>
      <p:sp>
        <p:nvSpPr>
          <p:cNvPr id="26" name="Freeform 25"/>
          <p:cNvSpPr/>
          <p:nvPr/>
        </p:nvSpPr>
        <p:spPr>
          <a:xfrm>
            <a:off x="5628818" y="2761488"/>
            <a:ext cx="100584" cy="201168"/>
          </a:xfrm>
          <a:custGeom>
            <a:avLst/>
            <a:gdLst/>
            <a:ahLst/>
            <a:cxnLst/>
            <a:rect l="l" t="t" r="r" b="b"/>
            <a:pathLst>
              <a:path w="100584" h="201168">
                <a:moveTo>
                  <a:pt x="0" y="0"/>
                </a:moveTo>
                <a:lnTo>
                  <a:pt x="10514" y="551"/>
                </a:lnTo>
                <a:lnTo>
                  <a:pt x="20912" y="2198"/>
                </a:lnTo>
                <a:lnTo>
                  <a:pt x="31082" y="4923"/>
                </a:lnTo>
                <a:lnTo>
                  <a:pt x="40911" y="8696"/>
                </a:lnTo>
                <a:lnTo>
                  <a:pt x="50292" y="13476"/>
                </a:lnTo>
                <a:lnTo>
                  <a:pt x="59122" y="19210"/>
                </a:lnTo>
                <a:lnTo>
                  <a:pt x="67304" y="25836"/>
                </a:lnTo>
                <a:lnTo>
                  <a:pt x="74748" y="33280"/>
                </a:lnTo>
                <a:lnTo>
                  <a:pt x="81374" y="41462"/>
                </a:lnTo>
                <a:lnTo>
                  <a:pt x="87108" y="50292"/>
                </a:lnTo>
                <a:lnTo>
                  <a:pt x="91888" y="59673"/>
                </a:lnTo>
                <a:lnTo>
                  <a:pt x="95661" y="69502"/>
                </a:lnTo>
                <a:lnTo>
                  <a:pt x="98386" y="79671"/>
                </a:lnTo>
                <a:lnTo>
                  <a:pt x="100033" y="90070"/>
                </a:lnTo>
                <a:lnTo>
                  <a:pt x="100584" y="100584"/>
                </a:lnTo>
                <a:lnTo>
                  <a:pt x="100033" y="111098"/>
                </a:lnTo>
                <a:lnTo>
                  <a:pt x="98386" y="121497"/>
                </a:lnTo>
                <a:lnTo>
                  <a:pt x="95661" y="131666"/>
                </a:lnTo>
                <a:lnTo>
                  <a:pt x="91888" y="141495"/>
                </a:lnTo>
                <a:lnTo>
                  <a:pt x="87108" y="150876"/>
                </a:lnTo>
                <a:lnTo>
                  <a:pt x="81374" y="159706"/>
                </a:lnTo>
                <a:lnTo>
                  <a:pt x="74748" y="167888"/>
                </a:lnTo>
                <a:lnTo>
                  <a:pt x="67304" y="175332"/>
                </a:lnTo>
                <a:lnTo>
                  <a:pt x="59122" y="181958"/>
                </a:lnTo>
                <a:lnTo>
                  <a:pt x="50292" y="187692"/>
                </a:lnTo>
                <a:lnTo>
                  <a:pt x="40911" y="192472"/>
                </a:lnTo>
                <a:lnTo>
                  <a:pt x="31082" y="196245"/>
                </a:lnTo>
                <a:lnTo>
                  <a:pt x="20912" y="198970"/>
                </a:lnTo>
                <a:lnTo>
                  <a:pt x="10514" y="200617"/>
                </a:lnTo>
                <a:lnTo>
                  <a:pt x="0" y="201168"/>
                </a:lnTo>
                <a:close/>
              </a:path>
            </a:pathLst>
          </a:custGeom>
          <a:solidFill>
            <a:srgbClr val="41801A"/>
          </a:solidFill>
          <a:ln>
            <a:noFill/>
          </a:ln>
        </p:spPr>
        <p:txBody>
          <a:bodyPr rtlCol="0" anchor="ctr"/>
          <a:lstStyle/>
          <a:p>
            <a:pPr algn="ctr"/>
          </a:p>
        </p:txBody>
      </p:sp>
      <p:sp>
        <p:nvSpPr>
          <p:cNvPr id="27" name="TextBox 26"/>
          <p:cNvSpPr txBox="1"/>
          <p:nvPr/>
        </p:nvSpPr>
        <p:spPr>
          <a:xfrm>
            <a:off x="5829986" y="2624328"/>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private adviser</a:t>
            </a:r>
          </a:p>
        </p:txBody>
      </p:sp>
      <p:sp>
        <p:nvSpPr>
          <p:cNvPr id="28" name="TextBox 27"/>
          <p:cNvSpPr txBox="1"/>
          <p:nvPr/>
        </p:nvSpPr>
        <p:spPr>
          <a:xfrm>
            <a:off x="7883500" y="2624328"/>
            <a:ext cx="1596314" cy="475488"/>
          </a:xfrm>
          <a:prstGeom prst="rect">
            <a:avLst/>
          </a:prstGeom>
          <a:noFill/>
        </p:spPr>
        <p:txBody>
          <a:bodyPr wrap="square" lIns="0" tIns="0" rIns="0" bIns="0" anchor="ctr">
            <a:spAutoFit/>
          </a:bodyPr>
          <a:lstStyle/>
          <a:p>
            <a:pPr>
              <a:lnSpc>
                <a:spcPct val="100000"/>
              </a:lnSpc>
            </a:pPr>
            <a:r>
              <a:rPr sz="1250" i="1">
                <a:solidFill>
                  <a:srgbClr val="5F6B58"/>
                </a:solidFill>
                <a:latin typeface="Arial"/>
              </a:rPr>
              <a:t>not stated</a:t>
            </a:r>
          </a:p>
        </p:txBody>
      </p:sp>
      <p:sp>
        <p:nvSpPr>
          <p:cNvPr id="29" name="Oval 28"/>
          <p:cNvSpPr/>
          <p:nvPr/>
        </p:nvSpPr>
        <p:spPr>
          <a:xfrm>
            <a:off x="9635261" y="2761488"/>
            <a:ext cx="201168" cy="201168"/>
          </a:xfrm>
          <a:prstGeom prst="ellipse">
            <a:avLst/>
          </a:prstGeom>
          <a:solidFill>
            <a:srgbClr val="FFFFFF"/>
          </a:solidFill>
          <a:ln w="15875">
            <a:solidFill>
              <a:srgbClr val="41801A"/>
            </a:solidFill>
          </a:ln>
        </p:spPr>
        <p:txBody>
          <a:bodyPr rtlCol="0" anchor="ctr"/>
          <a:lstStyle/>
          <a:p>
            <a:pPr algn="ctr"/>
          </a:p>
        </p:txBody>
      </p:sp>
      <p:sp>
        <p:nvSpPr>
          <p:cNvPr id="30" name="TextBox 29"/>
          <p:cNvSpPr txBox="1"/>
          <p:nvPr/>
        </p:nvSpPr>
        <p:spPr>
          <a:xfrm>
            <a:off x="9937013" y="2624328"/>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none</a:t>
            </a:r>
          </a:p>
        </p:txBody>
      </p:sp>
      <p:cxnSp>
        <p:nvCxnSpPr>
          <p:cNvPr id="31" name="Connector 30"/>
          <p:cNvCxnSpPr/>
          <p:nvPr/>
        </p:nvCxnSpPr>
        <p:spPr>
          <a:xfrm>
            <a:off x="640080" y="3099816"/>
            <a:ext cx="10911535" cy="0"/>
          </a:xfrm>
          <a:prstGeom prst="line">
            <a:avLst/>
          </a:prstGeom>
          <a:ln w="9525">
            <a:solidFill>
              <a:srgbClr val="CFD8C6"/>
            </a:solidFill>
          </a:ln>
        </p:spPr>
      </p:cxnSp>
      <p:sp>
        <p:nvSpPr>
          <p:cNvPr id="32" name="TextBox 31"/>
          <p:cNvSpPr txBox="1"/>
          <p:nvPr/>
        </p:nvSpPr>
        <p:spPr>
          <a:xfrm>
            <a:off x="640080" y="3099816"/>
            <a:ext cx="2606040" cy="475488"/>
          </a:xfrm>
          <a:prstGeom prst="rect">
            <a:avLst/>
          </a:prstGeom>
          <a:noFill/>
        </p:spPr>
        <p:txBody>
          <a:bodyPr wrap="square" lIns="0" tIns="0" rIns="0" bIns="0" anchor="ctr">
            <a:spAutoFit/>
          </a:bodyPr>
          <a:lstStyle/>
          <a:p>
            <a:pPr>
              <a:lnSpc>
                <a:spcPct val="100000"/>
              </a:lnSpc>
            </a:pPr>
            <a:r>
              <a:rPr sz="1450">
                <a:solidFill>
                  <a:srgbClr val="0C1408"/>
                </a:solidFill>
                <a:latin typeface="Arial"/>
              </a:rPr>
              <a:t>Same fee for every turn</a:t>
            </a:r>
          </a:p>
        </p:txBody>
      </p:sp>
      <p:sp>
        <p:nvSpPr>
          <p:cNvPr id="33" name="Oval 32"/>
          <p:cNvSpPr/>
          <p:nvPr/>
        </p:nvSpPr>
        <p:spPr>
          <a:xfrm>
            <a:off x="3474720" y="3236976"/>
            <a:ext cx="201168" cy="201168"/>
          </a:xfrm>
          <a:prstGeom prst="ellipse">
            <a:avLst/>
          </a:prstGeom>
          <a:solidFill>
            <a:srgbClr val="41801A"/>
          </a:solidFill>
          <a:ln w="15875">
            <a:solidFill>
              <a:srgbClr val="41801A"/>
            </a:solidFill>
          </a:ln>
        </p:spPr>
        <p:txBody>
          <a:bodyPr rtlCol="0" anchor="ctr"/>
          <a:lstStyle/>
          <a:p>
            <a:pPr algn="ctr"/>
          </a:p>
        </p:txBody>
      </p:sp>
      <p:sp>
        <p:nvSpPr>
          <p:cNvPr id="34" name="TextBox 33"/>
          <p:cNvSpPr txBox="1"/>
          <p:nvPr/>
        </p:nvSpPr>
        <p:spPr>
          <a:xfrm>
            <a:off x="3776472" y="3099816"/>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one flat fee</a:t>
            </a:r>
          </a:p>
        </p:txBody>
      </p:sp>
      <p:sp>
        <p:nvSpPr>
          <p:cNvPr id="35" name="Oval 34"/>
          <p:cNvSpPr/>
          <p:nvPr/>
        </p:nvSpPr>
        <p:spPr>
          <a:xfrm>
            <a:off x="5528234" y="3236976"/>
            <a:ext cx="201168" cy="201168"/>
          </a:xfrm>
          <a:prstGeom prst="ellipse">
            <a:avLst/>
          </a:prstGeom>
          <a:solidFill>
            <a:srgbClr val="FFFFFF"/>
          </a:solidFill>
          <a:ln w="15875">
            <a:solidFill>
              <a:srgbClr val="41801A"/>
            </a:solidFill>
          </a:ln>
        </p:spPr>
        <p:txBody>
          <a:bodyPr rtlCol="0" anchor="ctr"/>
          <a:lstStyle/>
          <a:p>
            <a:pPr algn="ctr"/>
          </a:p>
        </p:txBody>
      </p:sp>
      <p:sp>
        <p:nvSpPr>
          <p:cNvPr id="36" name="TextBox 35"/>
          <p:cNvSpPr txBox="1"/>
          <p:nvPr/>
        </p:nvSpPr>
        <p:spPr>
          <a:xfrm>
            <a:off x="5829986" y="3099816"/>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up to 21% a month</a:t>
            </a:r>
          </a:p>
        </p:txBody>
      </p:sp>
      <p:sp>
        <p:nvSpPr>
          <p:cNvPr id="37" name="TextBox 36"/>
          <p:cNvSpPr txBox="1"/>
          <p:nvPr/>
        </p:nvSpPr>
        <p:spPr>
          <a:xfrm>
            <a:off x="7883500" y="3099816"/>
            <a:ext cx="1596314" cy="475488"/>
          </a:xfrm>
          <a:prstGeom prst="rect">
            <a:avLst/>
          </a:prstGeom>
          <a:noFill/>
        </p:spPr>
        <p:txBody>
          <a:bodyPr wrap="square" lIns="0" tIns="0" rIns="0" bIns="0" anchor="ctr">
            <a:spAutoFit/>
          </a:bodyPr>
          <a:lstStyle/>
          <a:p>
            <a:pPr>
              <a:lnSpc>
                <a:spcPct val="100000"/>
              </a:lnSpc>
            </a:pPr>
            <a:r>
              <a:rPr sz="1250" i="1">
                <a:solidFill>
                  <a:srgbClr val="5F6B58"/>
                </a:solidFill>
                <a:latin typeface="Arial"/>
              </a:rPr>
              <a:t>not published</a:t>
            </a:r>
          </a:p>
        </p:txBody>
      </p:sp>
      <p:sp>
        <p:nvSpPr>
          <p:cNvPr id="38" name="Oval 37"/>
          <p:cNvSpPr/>
          <p:nvPr/>
        </p:nvSpPr>
        <p:spPr>
          <a:xfrm>
            <a:off x="9635261" y="3236976"/>
            <a:ext cx="201168" cy="201168"/>
          </a:xfrm>
          <a:prstGeom prst="ellipse">
            <a:avLst/>
          </a:prstGeom>
          <a:solidFill>
            <a:srgbClr val="41801A"/>
          </a:solidFill>
          <a:ln w="15875">
            <a:solidFill>
              <a:srgbClr val="41801A"/>
            </a:solidFill>
          </a:ln>
        </p:spPr>
        <p:txBody>
          <a:bodyPr rtlCol="0" anchor="ctr"/>
          <a:lstStyle/>
          <a:p>
            <a:pPr algn="ctr"/>
          </a:p>
        </p:txBody>
      </p:sp>
      <p:sp>
        <p:nvSpPr>
          <p:cNvPr id="39" name="TextBox 38"/>
          <p:cNvSpPr txBox="1"/>
          <p:nvPr/>
        </p:nvSpPr>
        <p:spPr>
          <a:xfrm>
            <a:off x="9937013" y="3099816"/>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usually none</a:t>
            </a:r>
          </a:p>
        </p:txBody>
      </p:sp>
      <p:cxnSp>
        <p:nvCxnSpPr>
          <p:cNvPr id="40" name="Connector 39"/>
          <p:cNvCxnSpPr/>
          <p:nvPr/>
        </p:nvCxnSpPr>
        <p:spPr>
          <a:xfrm>
            <a:off x="640080" y="3575304"/>
            <a:ext cx="10911535" cy="0"/>
          </a:xfrm>
          <a:prstGeom prst="line">
            <a:avLst/>
          </a:prstGeom>
          <a:ln w="9525">
            <a:solidFill>
              <a:srgbClr val="CFD8C6"/>
            </a:solidFill>
          </a:ln>
        </p:spPr>
      </p:cxnSp>
      <p:sp>
        <p:nvSpPr>
          <p:cNvPr id="41" name="TextBox 40"/>
          <p:cNvSpPr txBox="1"/>
          <p:nvPr/>
        </p:nvSpPr>
        <p:spPr>
          <a:xfrm>
            <a:off x="640080" y="3575304"/>
            <a:ext cx="2606040" cy="475488"/>
          </a:xfrm>
          <a:prstGeom prst="rect">
            <a:avLst/>
          </a:prstGeom>
          <a:noFill/>
        </p:spPr>
        <p:txBody>
          <a:bodyPr wrap="square" lIns="0" tIns="0" rIns="0" bIns="0" anchor="ctr">
            <a:spAutoFit/>
          </a:bodyPr>
          <a:lstStyle/>
          <a:p>
            <a:pPr>
              <a:lnSpc>
                <a:spcPct val="100000"/>
              </a:lnSpc>
            </a:pPr>
            <a:r>
              <a:rPr sz="1450">
                <a:solidFill>
                  <a:srgbClr val="0C1408"/>
                </a:solidFill>
                <a:latin typeface="Arial"/>
              </a:rPr>
              <a:t>Paid out automatically</a:t>
            </a:r>
          </a:p>
        </p:txBody>
      </p:sp>
      <p:sp>
        <p:nvSpPr>
          <p:cNvPr id="42" name="Oval 41"/>
          <p:cNvSpPr/>
          <p:nvPr/>
        </p:nvSpPr>
        <p:spPr>
          <a:xfrm>
            <a:off x="3474720" y="3712464"/>
            <a:ext cx="201168" cy="201168"/>
          </a:xfrm>
          <a:prstGeom prst="ellipse">
            <a:avLst/>
          </a:prstGeom>
          <a:solidFill>
            <a:srgbClr val="41801A"/>
          </a:solidFill>
          <a:ln w="15875">
            <a:solidFill>
              <a:srgbClr val="41801A"/>
            </a:solidFill>
          </a:ln>
        </p:spPr>
        <p:txBody>
          <a:bodyPr rtlCol="0" anchor="ctr"/>
          <a:lstStyle/>
          <a:p>
            <a:pPr algn="ctr"/>
          </a:p>
        </p:txBody>
      </p:sp>
      <p:sp>
        <p:nvSpPr>
          <p:cNvPr id="43" name="TextBox 42"/>
          <p:cNvSpPr txBox="1"/>
          <p:nvPr/>
        </p:nvSpPr>
        <p:spPr>
          <a:xfrm>
            <a:off x="3776472" y="3575304"/>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same day</a:t>
            </a:r>
          </a:p>
        </p:txBody>
      </p:sp>
      <p:sp>
        <p:nvSpPr>
          <p:cNvPr id="44" name="Oval 43"/>
          <p:cNvSpPr/>
          <p:nvPr/>
        </p:nvSpPr>
        <p:spPr>
          <a:xfrm>
            <a:off x="5528234" y="3712464"/>
            <a:ext cx="201168" cy="201168"/>
          </a:xfrm>
          <a:prstGeom prst="ellipse">
            <a:avLst/>
          </a:prstGeom>
          <a:solidFill>
            <a:srgbClr val="FFFFFF"/>
          </a:solidFill>
          <a:ln w="15875">
            <a:solidFill>
              <a:srgbClr val="41801A"/>
            </a:solidFill>
          </a:ln>
        </p:spPr>
        <p:txBody>
          <a:bodyPr rtlCol="0" anchor="ctr"/>
          <a:lstStyle/>
          <a:p>
            <a:pPr algn="ctr"/>
          </a:p>
        </p:txBody>
      </p:sp>
      <p:sp>
        <p:nvSpPr>
          <p:cNvPr id="45" name="Freeform 44"/>
          <p:cNvSpPr/>
          <p:nvPr/>
        </p:nvSpPr>
        <p:spPr>
          <a:xfrm>
            <a:off x="5628818" y="3712464"/>
            <a:ext cx="100584" cy="201168"/>
          </a:xfrm>
          <a:custGeom>
            <a:avLst/>
            <a:gdLst/>
            <a:ahLst/>
            <a:cxnLst/>
            <a:rect l="l" t="t" r="r" b="b"/>
            <a:pathLst>
              <a:path w="100584" h="201168">
                <a:moveTo>
                  <a:pt x="0" y="0"/>
                </a:moveTo>
                <a:lnTo>
                  <a:pt x="10514" y="551"/>
                </a:lnTo>
                <a:lnTo>
                  <a:pt x="20912" y="2198"/>
                </a:lnTo>
                <a:lnTo>
                  <a:pt x="31082" y="4923"/>
                </a:lnTo>
                <a:lnTo>
                  <a:pt x="40911" y="8696"/>
                </a:lnTo>
                <a:lnTo>
                  <a:pt x="50292" y="13476"/>
                </a:lnTo>
                <a:lnTo>
                  <a:pt x="59122" y="19210"/>
                </a:lnTo>
                <a:lnTo>
                  <a:pt x="67304" y="25836"/>
                </a:lnTo>
                <a:lnTo>
                  <a:pt x="74748" y="33280"/>
                </a:lnTo>
                <a:lnTo>
                  <a:pt x="81374" y="41462"/>
                </a:lnTo>
                <a:lnTo>
                  <a:pt x="87108" y="50292"/>
                </a:lnTo>
                <a:lnTo>
                  <a:pt x="91888" y="59673"/>
                </a:lnTo>
                <a:lnTo>
                  <a:pt x="95661" y="69502"/>
                </a:lnTo>
                <a:lnTo>
                  <a:pt x="98386" y="79671"/>
                </a:lnTo>
                <a:lnTo>
                  <a:pt x="100033" y="90070"/>
                </a:lnTo>
                <a:lnTo>
                  <a:pt x="100584" y="100584"/>
                </a:lnTo>
                <a:lnTo>
                  <a:pt x="100033" y="111098"/>
                </a:lnTo>
                <a:lnTo>
                  <a:pt x="98386" y="121497"/>
                </a:lnTo>
                <a:lnTo>
                  <a:pt x="95661" y="131666"/>
                </a:lnTo>
                <a:lnTo>
                  <a:pt x="91888" y="141495"/>
                </a:lnTo>
                <a:lnTo>
                  <a:pt x="87108" y="150876"/>
                </a:lnTo>
                <a:lnTo>
                  <a:pt x="81374" y="159706"/>
                </a:lnTo>
                <a:lnTo>
                  <a:pt x="74748" y="167888"/>
                </a:lnTo>
                <a:lnTo>
                  <a:pt x="67304" y="175332"/>
                </a:lnTo>
                <a:lnTo>
                  <a:pt x="59122" y="181958"/>
                </a:lnTo>
                <a:lnTo>
                  <a:pt x="50292" y="187692"/>
                </a:lnTo>
                <a:lnTo>
                  <a:pt x="40911" y="192472"/>
                </a:lnTo>
                <a:lnTo>
                  <a:pt x="31082" y="196245"/>
                </a:lnTo>
                <a:lnTo>
                  <a:pt x="20912" y="198970"/>
                </a:lnTo>
                <a:lnTo>
                  <a:pt x="10514" y="200617"/>
                </a:lnTo>
                <a:lnTo>
                  <a:pt x="0" y="201168"/>
                </a:lnTo>
                <a:close/>
              </a:path>
            </a:pathLst>
          </a:custGeom>
          <a:solidFill>
            <a:srgbClr val="41801A"/>
          </a:solidFill>
          <a:ln>
            <a:noFill/>
          </a:ln>
        </p:spPr>
        <p:txBody>
          <a:bodyPr rtlCol="0" anchor="ctr"/>
          <a:lstStyle/>
          <a:p>
            <a:pPr algn="ctr"/>
          </a:p>
        </p:txBody>
      </p:sp>
      <p:sp>
        <p:nvSpPr>
          <p:cNvPr id="46" name="TextBox 45"/>
          <p:cNvSpPr txBox="1"/>
          <p:nvPr/>
        </p:nvSpPr>
        <p:spPr>
          <a:xfrm>
            <a:off x="5829986" y="3575304"/>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11th to 18th</a:t>
            </a:r>
          </a:p>
        </p:txBody>
      </p:sp>
      <p:sp>
        <p:nvSpPr>
          <p:cNvPr id="47" name="Oval 46"/>
          <p:cNvSpPr/>
          <p:nvPr/>
        </p:nvSpPr>
        <p:spPr>
          <a:xfrm>
            <a:off x="7581748" y="3712464"/>
            <a:ext cx="201168" cy="201168"/>
          </a:xfrm>
          <a:prstGeom prst="ellipse">
            <a:avLst/>
          </a:prstGeom>
          <a:solidFill>
            <a:srgbClr val="FFFFFF"/>
          </a:solidFill>
          <a:ln w="15875">
            <a:solidFill>
              <a:srgbClr val="41801A"/>
            </a:solidFill>
          </a:ln>
        </p:spPr>
        <p:txBody>
          <a:bodyPr rtlCol="0" anchor="ctr"/>
          <a:lstStyle/>
          <a:p>
            <a:pPr algn="ctr"/>
          </a:p>
        </p:txBody>
      </p:sp>
      <p:sp>
        <p:nvSpPr>
          <p:cNvPr id="48" name="TextBox 47"/>
          <p:cNvSpPr txBox="1"/>
          <p:nvPr/>
        </p:nvSpPr>
        <p:spPr>
          <a:xfrm>
            <a:off x="7883500" y="3575304"/>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by hand</a:t>
            </a:r>
          </a:p>
        </p:txBody>
      </p:sp>
      <p:sp>
        <p:nvSpPr>
          <p:cNvPr id="49" name="Oval 48"/>
          <p:cNvSpPr/>
          <p:nvPr/>
        </p:nvSpPr>
        <p:spPr>
          <a:xfrm>
            <a:off x="9635261" y="3712464"/>
            <a:ext cx="201168" cy="201168"/>
          </a:xfrm>
          <a:prstGeom prst="ellipse">
            <a:avLst/>
          </a:prstGeom>
          <a:solidFill>
            <a:srgbClr val="FFFFFF"/>
          </a:solidFill>
          <a:ln w="15875">
            <a:solidFill>
              <a:srgbClr val="41801A"/>
            </a:solidFill>
          </a:ln>
        </p:spPr>
        <p:txBody>
          <a:bodyPr rtlCol="0" anchor="ctr"/>
          <a:lstStyle/>
          <a:p>
            <a:pPr algn="ctr"/>
          </a:p>
        </p:txBody>
      </p:sp>
      <p:sp>
        <p:nvSpPr>
          <p:cNvPr id="50" name="TextBox 49"/>
          <p:cNvSpPr txBox="1"/>
          <p:nvPr/>
        </p:nvSpPr>
        <p:spPr>
          <a:xfrm>
            <a:off x="9937013" y="3575304"/>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by hand</a:t>
            </a:r>
          </a:p>
        </p:txBody>
      </p:sp>
      <p:cxnSp>
        <p:nvCxnSpPr>
          <p:cNvPr id="51" name="Connector 50"/>
          <p:cNvCxnSpPr/>
          <p:nvPr/>
        </p:nvCxnSpPr>
        <p:spPr>
          <a:xfrm>
            <a:off x="640080" y="4050792"/>
            <a:ext cx="10911535" cy="0"/>
          </a:xfrm>
          <a:prstGeom prst="line">
            <a:avLst/>
          </a:prstGeom>
          <a:ln w="9525">
            <a:solidFill>
              <a:srgbClr val="CFD8C6"/>
            </a:solidFill>
          </a:ln>
        </p:spPr>
      </p:cxnSp>
      <p:sp>
        <p:nvSpPr>
          <p:cNvPr id="52" name="TextBox 51"/>
          <p:cNvSpPr txBox="1"/>
          <p:nvPr/>
        </p:nvSpPr>
        <p:spPr>
          <a:xfrm>
            <a:off x="640080" y="4050792"/>
            <a:ext cx="2606040" cy="475488"/>
          </a:xfrm>
          <a:prstGeom prst="rect">
            <a:avLst/>
          </a:prstGeom>
          <a:noFill/>
        </p:spPr>
        <p:txBody>
          <a:bodyPr wrap="square" lIns="0" tIns="0" rIns="0" bIns="0" anchor="ctr">
            <a:spAutoFit/>
          </a:bodyPr>
          <a:lstStyle/>
          <a:p>
            <a:pPr>
              <a:lnSpc>
                <a:spcPct val="100000"/>
              </a:lnSpc>
            </a:pPr>
            <a:r>
              <a:rPr sz="1450">
                <a:solidFill>
                  <a:srgbClr val="0C1408"/>
                </a:solidFill>
                <a:latin typeface="Arial"/>
              </a:rPr>
              <a:t>Defaults covered</a:t>
            </a:r>
          </a:p>
        </p:txBody>
      </p:sp>
      <p:sp>
        <p:nvSpPr>
          <p:cNvPr id="53" name="Oval 52"/>
          <p:cNvSpPr/>
          <p:nvPr/>
        </p:nvSpPr>
        <p:spPr>
          <a:xfrm>
            <a:off x="3474720" y="4187952"/>
            <a:ext cx="201168" cy="201168"/>
          </a:xfrm>
          <a:prstGeom prst="ellipse">
            <a:avLst/>
          </a:prstGeom>
          <a:solidFill>
            <a:srgbClr val="41801A"/>
          </a:solidFill>
          <a:ln w="15875">
            <a:solidFill>
              <a:srgbClr val="41801A"/>
            </a:solidFill>
          </a:ln>
        </p:spPr>
        <p:txBody>
          <a:bodyPr rtlCol="0" anchor="ctr"/>
          <a:lstStyle/>
          <a:p>
            <a:pPr algn="ctr"/>
          </a:p>
        </p:txBody>
      </p:sp>
      <p:sp>
        <p:nvSpPr>
          <p:cNvPr id="54" name="TextBox 53"/>
          <p:cNvSpPr txBox="1"/>
          <p:nvPr/>
        </p:nvSpPr>
        <p:spPr>
          <a:xfrm>
            <a:off x="3776472" y="4050792"/>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takaful</a:t>
            </a:r>
          </a:p>
        </p:txBody>
      </p:sp>
      <p:sp>
        <p:nvSpPr>
          <p:cNvPr id="55" name="Oval 54"/>
          <p:cNvSpPr/>
          <p:nvPr/>
        </p:nvSpPr>
        <p:spPr>
          <a:xfrm>
            <a:off x="5528234" y="4187952"/>
            <a:ext cx="201168" cy="201168"/>
          </a:xfrm>
          <a:prstGeom prst="ellipse">
            <a:avLst/>
          </a:prstGeom>
          <a:solidFill>
            <a:srgbClr val="FFFFFF"/>
          </a:solidFill>
          <a:ln w="15875">
            <a:solidFill>
              <a:srgbClr val="41801A"/>
            </a:solidFill>
          </a:ln>
        </p:spPr>
        <p:txBody>
          <a:bodyPr rtlCol="0" anchor="ctr"/>
          <a:lstStyle/>
          <a:p>
            <a:pPr algn="ctr"/>
          </a:p>
        </p:txBody>
      </p:sp>
      <p:sp>
        <p:nvSpPr>
          <p:cNvPr id="56" name="Freeform 55"/>
          <p:cNvSpPr/>
          <p:nvPr/>
        </p:nvSpPr>
        <p:spPr>
          <a:xfrm>
            <a:off x="5628818" y="4187952"/>
            <a:ext cx="100584" cy="201168"/>
          </a:xfrm>
          <a:custGeom>
            <a:avLst/>
            <a:gdLst/>
            <a:ahLst/>
            <a:cxnLst/>
            <a:rect l="l" t="t" r="r" b="b"/>
            <a:pathLst>
              <a:path w="100584" h="201168">
                <a:moveTo>
                  <a:pt x="0" y="0"/>
                </a:moveTo>
                <a:lnTo>
                  <a:pt x="10514" y="551"/>
                </a:lnTo>
                <a:lnTo>
                  <a:pt x="20912" y="2198"/>
                </a:lnTo>
                <a:lnTo>
                  <a:pt x="31082" y="4923"/>
                </a:lnTo>
                <a:lnTo>
                  <a:pt x="40911" y="8696"/>
                </a:lnTo>
                <a:lnTo>
                  <a:pt x="50292" y="13476"/>
                </a:lnTo>
                <a:lnTo>
                  <a:pt x="59122" y="19210"/>
                </a:lnTo>
                <a:lnTo>
                  <a:pt x="67304" y="25836"/>
                </a:lnTo>
                <a:lnTo>
                  <a:pt x="74748" y="33280"/>
                </a:lnTo>
                <a:lnTo>
                  <a:pt x="81374" y="41462"/>
                </a:lnTo>
                <a:lnTo>
                  <a:pt x="87108" y="50292"/>
                </a:lnTo>
                <a:lnTo>
                  <a:pt x="91888" y="59673"/>
                </a:lnTo>
                <a:lnTo>
                  <a:pt x="95661" y="69502"/>
                </a:lnTo>
                <a:lnTo>
                  <a:pt x="98386" y="79671"/>
                </a:lnTo>
                <a:lnTo>
                  <a:pt x="100033" y="90070"/>
                </a:lnTo>
                <a:lnTo>
                  <a:pt x="100584" y="100584"/>
                </a:lnTo>
                <a:lnTo>
                  <a:pt x="100033" y="111098"/>
                </a:lnTo>
                <a:lnTo>
                  <a:pt x="98386" y="121497"/>
                </a:lnTo>
                <a:lnTo>
                  <a:pt x="95661" y="131666"/>
                </a:lnTo>
                <a:lnTo>
                  <a:pt x="91888" y="141495"/>
                </a:lnTo>
                <a:lnTo>
                  <a:pt x="87108" y="150876"/>
                </a:lnTo>
                <a:lnTo>
                  <a:pt x="81374" y="159706"/>
                </a:lnTo>
                <a:lnTo>
                  <a:pt x="74748" y="167888"/>
                </a:lnTo>
                <a:lnTo>
                  <a:pt x="67304" y="175332"/>
                </a:lnTo>
                <a:lnTo>
                  <a:pt x="59122" y="181958"/>
                </a:lnTo>
                <a:lnTo>
                  <a:pt x="50292" y="187692"/>
                </a:lnTo>
                <a:lnTo>
                  <a:pt x="40911" y="192472"/>
                </a:lnTo>
                <a:lnTo>
                  <a:pt x="31082" y="196245"/>
                </a:lnTo>
                <a:lnTo>
                  <a:pt x="20912" y="198970"/>
                </a:lnTo>
                <a:lnTo>
                  <a:pt x="10514" y="200617"/>
                </a:lnTo>
                <a:lnTo>
                  <a:pt x="0" y="201168"/>
                </a:lnTo>
                <a:close/>
              </a:path>
            </a:pathLst>
          </a:custGeom>
          <a:solidFill>
            <a:srgbClr val="41801A"/>
          </a:solidFill>
          <a:ln>
            <a:noFill/>
          </a:ln>
        </p:spPr>
        <p:txBody>
          <a:bodyPr rtlCol="0" anchor="ctr"/>
          <a:lstStyle/>
          <a:p>
            <a:pPr algn="ctr"/>
          </a:p>
        </p:txBody>
      </p:sp>
      <p:sp>
        <p:nvSpPr>
          <p:cNvPr id="57" name="TextBox 56"/>
          <p:cNvSpPr txBox="1"/>
          <p:nvPr/>
        </p:nvSpPr>
        <p:spPr>
          <a:xfrm>
            <a:off x="5829986" y="4050792"/>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own balance sheet</a:t>
            </a:r>
          </a:p>
        </p:txBody>
      </p:sp>
      <p:sp>
        <p:nvSpPr>
          <p:cNvPr id="58" name="TextBox 57"/>
          <p:cNvSpPr txBox="1"/>
          <p:nvPr/>
        </p:nvSpPr>
        <p:spPr>
          <a:xfrm>
            <a:off x="7883500" y="4050792"/>
            <a:ext cx="1596314" cy="475488"/>
          </a:xfrm>
          <a:prstGeom prst="rect">
            <a:avLst/>
          </a:prstGeom>
          <a:noFill/>
        </p:spPr>
        <p:txBody>
          <a:bodyPr wrap="square" lIns="0" tIns="0" rIns="0" bIns="0" anchor="ctr">
            <a:spAutoFit/>
          </a:bodyPr>
          <a:lstStyle/>
          <a:p>
            <a:pPr>
              <a:lnSpc>
                <a:spcPct val="100000"/>
              </a:lnSpc>
            </a:pPr>
            <a:r>
              <a:rPr sz="1250" i="1">
                <a:solidFill>
                  <a:srgbClr val="5F6B58"/>
                </a:solidFill>
                <a:latin typeface="Arial"/>
              </a:rPr>
              <a:t>not stated</a:t>
            </a:r>
          </a:p>
        </p:txBody>
      </p:sp>
      <p:sp>
        <p:nvSpPr>
          <p:cNvPr id="59" name="Oval 58"/>
          <p:cNvSpPr/>
          <p:nvPr/>
        </p:nvSpPr>
        <p:spPr>
          <a:xfrm>
            <a:off x="9635261" y="4187952"/>
            <a:ext cx="201168" cy="201168"/>
          </a:xfrm>
          <a:prstGeom prst="ellipse">
            <a:avLst/>
          </a:prstGeom>
          <a:solidFill>
            <a:srgbClr val="FFFFFF"/>
          </a:solidFill>
          <a:ln w="15875">
            <a:solidFill>
              <a:srgbClr val="41801A"/>
            </a:solidFill>
          </a:ln>
        </p:spPr>
        <p:txBody>
          <a:bodyPr rtlCol="0" anchor="ctr"/>
          <a:lstStyle/>
          <a:p>
            <a:pPr algn="ctr"/>
          </a:p>
        </p:txBody>
      </p:sp>
      <p:sp>
        <p:nvSpPr>
          <p:cNvPr id="60" name="TextBox 59"/>
          <p:cNvSpPr txBox="1"/>
          <p:nvPr/>
        </p:nvSpPr>
        <p:spPr>
          <a:xfrm>
            <a:off x="9937013" y="4050792"/>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organiser’s pocket</a:t>
            </a:r>
          </a:p>
        </p:txBody>
      </p:sp>
      <p:cxnSp>
        <p:nvCxnSpPr>
          <p:cNvPr id="61" name="Connector 60"/>
          <p:cNvCxnSpPr/>
          <p:nvPr/>
        </p:nvCxnSpPr>
        <p:spPr>
          <a:xfrm>
            <a:off x="640080" y="4526280"/>
            <a:ext cx="10911535" cy="0"/>
          </a:xfrm>
          <a:prstGeom prst="line">
            <a:avLst/>
          </a:prstGeom>
          <a:ln w="9525">
            <a:solidFill>
              <a:srgbClr val="CFD8C6"/>
            </a:solidFill>
          </a:ln>
        </p:spPr>
      </p:cxnSp>
      <p:sp>
        <p:nvSpPr>
          <p:cNvPr id="62" name="TextBox 61"/>
          <p:cNvSpPr txBox="1"/>
          <p:nvPr/>
        </p:nvSpPr>
        <p:spPr>
          <a:xfrm>
            <a:off x="640080" y="4526280"/>
            <a:ext cx="2606040" cy="475488"/>
          </a:xfrm>
          <a:prstGeom prst="rect">
            <a:avLst/>
          </a:prstGeom>
          <a:noFill/>
        </p:spPr>
        <p:txBody>
          <a:bodyPr wrap="square" lIns="0" tIns="0" rIns="0" bIns="0" anchor="ctr">
            <a:spAutoFit/>
          </a:bodyPr>
          <a:lstStyle/>
          <a:p>
            <a:pPr>
              <a:lnSpc>
                <a:spcPct val="100000"/>
              </a:lnSpc>
            </a:pPr>
            <a:r>
              <a:rPr sz="1450">
                <a:solidFill>
                  <a:srgbClr val="0C1408"/>
                </a:solidFill>
                <a:latin typeface="Arial"/>
              </a:rPr>
              <a:t>Credit record</a:t>
            </a:r>
          </a:p>
        </p:txBody>
      </p:sp>
      <p:sp>
        <p:nvSpPr>
          <p:cNvPr id="63" name="Oval 62"/>
          <p:cNvSpPr/>
          <p:nvPr/>
        </p:nvSpPr>
        <p:spPr>
          <a:xfrm>
            <a:off x="3474720" y="4663440"/>
            <a:ext cx="201168" cy="201168"/>
          </a:xfrm>
          <a:prstGeom prst="ellipse">
            <a:avLst/>
          </a:prstGeom>
          <a:solidFill>
            <a:srgbClr val="41801A"/>
          </a:solidFill>
          <a:ln w="15875">
            <a:solidFill>
              <a:srgbClr val="41801A"/>
            </a:solidFill>
          </a:ln>
        </p:spPr>
        <p:txBody>
          <a:bodyPr rtlCol="0" anchor="ctr"/>
          <a:lstStyle/>
          <a:p>
            <a:pPr algn="ctr"/>
          </a:p>
        </p:txBody>
      </p:sp>
      <p:sp>
        <p:nvSpPr>
          <p:cNvPr id="64" name="TextBox 63"/>
          <p:cNvSpPr txBox="1"/>
          <p:nvPr/>
        </p:nvSpPr>
        <p:spPr>
          <a:xfrm>
            <a:off x="3776472" y="4526280"/>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every payment</a:t>
            </a:r>
          </a:p>
        </p:txBody>
      </p:sp>
      <p:sp>
        <p:nvSpPr>
          <p:cNvPr id="65" name="Oval 64"/>
          <p:cNvSpPr/>
          <p:nvPr/>
        </p:nvSpPr>
        <p:spPr>
          <a:xfrm>
            <a:off x="5528234" y="4663440"/>
            <a:ext cx="201168" cy="201168"/>
          </a:xfrm>
          <a:prstGeom prst="ellipse">
            <a:avLst/>
          </a:prstGeom>
          <a:solidFill>
            <a:srgbClr val="FFFFFF"/>
          </a:solidFill>
          <a:ln w="15875">
            <a:solidFill>
              <a:srgbClr val="41801A"/>
            </a:solidFill>
          </a:ln>
        </p:spPr>
        <p:txBody>
          <a:bodyPr rtlCol="0" anchor="ctr"/>
          <a:lstStyle/>
          <a:p>
            <a:pPr algn="ctr"/>
          </a:p>
        </p:txBody>
      </p:sp>
      <p:sp>
        <p:nvSpPr>
          <p:cNvPr id="66" name="Freeform 65"/>
          <p:cNvSpPr/>
          <p:nvPr/>
        </p:nvSpPr>
        <p:spPr>
          <a:xfrm>
            <a:off x="5628818" y="4663440"/>
            <a:ext cx="100584" cy="201168"/>
          </a:xfrm>
          <a:custGeom>
            <a:avLst/>
            <a:gdLst/>
            <a:ahLst/>
            <a:cxnLst/>
            <a:rect l="l" t="t" r="r" b="b"/>
            <a:pathLst>
              <a:path w="100584" h="201168">
                <a:moveTo>
                  <a:pt x="0" y="0"/>
                </a:moveTo>
                <a:lnTo>
                  <a:pt x="10514" y="551"/>
                </a:lnTo>
                <a:lnTo>
                  <a:pt x="20912" y="2198"/>
                </a:lnTo>
                <a:lnTo>
                  <a:pt x="31082" y="4923"/>
                </a:lnTo>
                <a:lnTo>
                  <a:pt x="40911" y="8696"/>
                </a:lnTo>
                <a:lnTo>
                  <a:pt x="50292" y="13476"/>
                </a:lnTo>
                <a:lnTo>
                  <a:pt x="59122" y="19210"/>
                </a:lnTo>
                <a:lnTo>
                  <a:pt x="67304" y="25836"/>
                </a:lnTo>
                <a:lnTo>
                  <a:pt x="74748" y="33280"/>
                </a:lnTo>
                <a:lnTo>
                  <a:pt x="81374" y="41462"/>
                </a:lnTo>
                <a:lnTo>
                  <a:pt x="87108" y="50292"/>
                </a:lnTo>
                <a:lnTo>
                  <a:pt x="91888" y="59673"/>
                </a:lnTo>
                <a:lnTo>
                  <a:pt x="95661" y="69502"/>
                </a:lnTo>
                <a:lnTo>
                  <a:pt x="98386" y="79671"/>
                </a:lnTo>
                <a:lnTo>
                  <a:pt x="100033" y="90070"/>
                </a:lnTo>
                <a:lnTo>
                  <a:pt x="100584" y="100584"/>
                </a:lnTo>
                <a:lnTo>
                  <a:pt x="100033" y="111098"/>
                </a:lnTo>
                <a:lnTo>
                  <a:pt x="98386" y="121497"/>
                </a:lnTo>
                <a:lnTo>
                  <a:pt x="95661" y="131666"/>
                </a:lnTo>
                <a:lnTo>
                  <a:pt x="91888" y="141495"/>
                </a:lnTo>
                <a:lnTo>
                  <a:pt x="87108" y="150876"/>
                </a:lnTo>
                <a:lnTo>
                  <a:pt x="81374" y="159706"/>
                </a:lnTo>
                <a:lnTo>
                  <a:pt x="74748" y="167888"/>
                </a:lnTo>
                <a:lnTo>
                  <a:pt x="67304" y="175332"/>
                </a:lnTo>
                <a:lnTo>
                  <a:pt x="59122" y="181958"/>
                </a:lnTo>
                <a:lnTo>
                  <a:pt x="50292" y="187692"/>
                </a:lnTo>
                <a:lnTo>
                  <a:pt x="40911" y="192472"/>
                </a:lnTo>
                <a:lnTo>
                  <a:pt x="31082" y="196245"/>
                </a:lnTo>
                <a:lnTo>
                  <a:pt x="20912" y="198970"/>
                </a:lnTo>
                <a:lnTo>
                  <a:pt x="10514" y="200617"/>
                </a:lnTo>
                <a:lnTo>
                  <a:pt x="0" y="201168"/>
                </a:lnTo>
                <a:close/>
              </a:path>
            </a:pathLst>
          </a:custGeom>
          <a:solidFill>
            <a:srgbClr val="41801A"/>
          </a:solidFill>
          <a:ln>
            <a:noFill/>
          </a:ln>
        </p:spPr>
        <p:txBody>
          <a:bodyPr rtlCol="0" anchor="ctr"/>
          <a:lstStyle/>
          <a:p>
            <a:pPr algn="ctr"/>
          </a:p>
        </p:txBody>
      </p:sp>
      <p:sp>
        <p:nvSpPr>
          <p:cNvPr id="67" name="TextBox 66"/>
          <p:cNvSpPr txBox="1"/>
          <p:nvPr/>
        </p:nvSpPr>
        <p:spPr>
          <a:xfrm>
            <a:off x="5829986" y="4526280"/>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defaulters only</a:t>
            </a:r>
          </a:p>
        </p:txBody>
      </p:sp>
      <p:sp>
        <p:nvSpPr>
          <p:cNvPr id="68" name="Oval 67"/>
          <p:cNvSpPr/>
          <p:nvPr/>
        </p:nvSpPr>
        <p:spPr>
          <a:xfrm>
            <a:off x="7581748" y="4663440"/>
            <a:ext cx="201168" cy="201168"/>
          </a:xfrm>
          <a:prstGeom prst="ellipse">
            <a:avLst/>
          </a:prstGeom>
          <a:solidFill>
            <a:srgbClr val="FFFFFF"/>
          </a:solidFill>
          <a:ln w="15875">
            <a:solidFill>
              <a:srgbClr val="41801A"/>
            </a:solidFill>
          </a:ln>
        </p:spPr>
        <p:txBody>
          <a:bodyPr rtlCol="0" anchor="ctr"/>
          <a:lstStyle/>
          <a:p>
            <a:pPr algn="ctr"/>
          </a:p>
        </p:txBody>
      </p:sp>
      <p:sp>
        <p:nvSpPr>
          <p:cNvPr id="69" name="TextBox 68"/>
          <p:cNvSpPr txBox="1"/>
          <p:nvPr/>
        </p:nvSpPr>
        <p:spPr>
          <a:xfrm>
            <a:off x="7883500" y="4526280"/>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none</a:t>
            </a:r>
          </a:p>
        </p:txBody>
      </p:sp>
      <p:sp>
        <p:nvSpPr>
          <p:cNvPr id="70" name="Oval 69"/>
          <p:cNvSpPr/>
          <p:nvPr/>
        </p:nvSpPr>
        <p:spPr>
          <a:xfrm>
            <a:off x="9635261" y="4663440"/>
            <a:ext cx="201168" cy="201168"/>
          </a:xfrm>
          <a:prstGeom prst="ellipse">
            <a:avLst/>
          </a:prstGeom>
          <a:solidFill>
            <a:srgbClr val="FFFFFF"/>
          </a:solidFill>
          <a:ln w="15875">
            <a:solidFill>
              <a:srgbClr val="41801A"/>
            </a:solidFill>
          </a:ln>
        </p:spPr>
        <p:txBody>
          <a:bodyPr rtlCol="0" anchor="ctr"/>
          <a:lstStyle/>
          <a:p>
            <a:pPr algn="ctr"/>
          </a:p>
        </p:txBody>
      </p:sp>
      <p:sp>
        <p:nvSpPr>
          <p:cNvPr id="71" name="TextBox 70"/>
          <p:cNvSpPr txBox="1"/>
          <p:nvPr/>
        </p:nvSpPr>
        <p:spPr>
          <a:xfrm>
            <a:off x="9937013" y="4526280"/>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none</a:t>
            </a:r>
          </a:p>
        </p:txBody>
      </p:sp>
      <p:cxnSp>
        <p:nvCxnSpPr>
          <p:cNvPr id="72" name="Connector 71"/>
          <p:cNvCxnSpPr/>
          <p:nvPr/>
        </p:nvCxnSpPr>
        <p:spPr>
          <a:xfrm>
            <a:off x="640080" y="5001768"/>
            <a:ext cx="10911535" cy="0"/>
          </a:xfrm>
          <a:prstGeom prst="line">
            <a:avLst/>
          </a:prstGeom>
          <a:ln w="9525">
            <a:solidFill>
              <a:srgbClr val="CFD8C6"/>
            </a:solidFill>
          </a:ln>
        </p:spPr>
      </p:cxnSp>
      <p:sp>
        <p:nvSpPr>
          <p:cNvPr id="73" name="TextBox 72"/>
          <p:cNvSpPr txBox="1"/>
          <p:nvPr/>
        </p:nvSpPr>
        <p:spPr>
          <a:xfrm>
            <a:off x="640080" y="5001768"/>
            <a:ext cx="2606040" cy="475488"/>
          </a:xfrm>
          <a:prstGeom prst="rect">
            <a:avLst/>
          </a:prstGeom>
          <a:noFill/>
        </p:spPr>
        <p:txBody>
          <a:bodyPr wrap="square" lIns="0" tIns="0" rIns="0" bIns="0" anchor="ctr">
            <a:spAutoFit/>
          </a:bodyPr>
          <a:lstStyle/>
          <a:p>
            <a:pPr>
              <a:lnSpc>
                <a:spcPct val="100000"/>
              </a:lnSpc>
            </a:pPr>
            <a:r>
              <a:rPr sz="1450">
                <a:solidFill>
                  <a:srgbClr val="0C1408"/>
                </a:solidFill>
                <a:latin typeface="Arial"/>
              </a:rPr>
              <a:t>Reach today</a:t>
            </a:r>
          </a:p>
        </p:txBody>
      </p:sp>
      <p:sp>
        <p:nvSpPr>
          <p:cNvPr id="74" name="Oval 73"/>
          <p:cNvSpPr/>
          <p:nvPr/>
        </p:nvSpPr>
        <p:spPr>
          <a:xfrm>
            <a:off x="3474720" y="5138928"/>
            <a:ext cx="201168" cy="201168"/>
          </a:xfrm>
          <a:prstGeom prst="ellipse">
            <a:avLst/>
          </a:prstGeom>
          <a:solidFill>
            <a:srgbClr val="FFFFFF"/>
          </a:solidFill>
          <a:ln w="15875">
            <a:solidFill>
              <a:srgbClr val="41801A"/>
            </a:solidFill>
          </a:ln>
        </p:spPr>
        <p:txBody>
          <a:bodyPr rtlCol="0" anchor="ctr"/>
          <a:lstStyle/>
          <a:p>
            <a:pPr algn="ctr"/>
          </a:p>
        </p:txBody>
      </p:sp>
      <p:sp>
        <p:nvSpPr>
          <p:cNvPr id="75" name="TextBox 74"/>
          <p:cNvSpPr txBox="1"/>
          <p:nvPr/>
        </p:nvSpPr>
        <p:spPr>
          <a:xfrm>
            <a:off x="3776472" y="5001768"/>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new</a:t>
            </a:r>
          </a:p>
        </p:txBody>
      </p:sp>
      <p:sp>
        <p:nvSpPr>
          <p:cNvPr id="76" name="Oval 75"/>
          <p:cNvSpPr/>
          <p:nvPr/>
        </p:nvSpPr>
        <p:spPr>
          <a:xfrm>
            <a:off x="5528234" y="5138928"/>
            <a:ext cx="201168" cy="201168"/>
          </a:xfrm>
          <a:prstGeom prst="ellipse">
            <a:avLst/>
          </a:prstGeom>
          <a:solidFill>
            <a:srgbClr val="FFFFFF"/>
          </a:solidFill>
          <a:ln w="15875">
            <a:solidFill>
              <a:srgbClr val="41801A"/>
            </a:solidFill>
          </a:ln>
        </p:spPr>
        <p:txBody>
          <a:bodyPr rtlCol="0" anchor="ctr"/>
          <a:lstStyle/>
          <a:p>
            <a:pPr algn="ctr"/>
          </a:p>
        </p:txBody>
      </p:sp>
      <p:sp>
        <p:nvSpPr>
          <p:cNvPr id="77" name="Freeform 76"/>
          <p:cNvSpPr/>
          <p:nvPr/>
        </p:nvSpPr>
        <p:spPr>
          <a:xfrm>
            <a:off x="5628818" y="5138928"/>
            <a:ext cx="100584" cy="201168"/>
          </a:xfrm>
          <a:custGeom>
            <a:avLst/>
            <a:gdLst/>
            <a:ahLst/>
            <a:cxnLst/>
            <a:rect l="l" t="t" r="r" b="b"/>
            <a:pathLst>
              <a:path w="100584" h="201168">
                <a:moveTo>
                  <a:pt x="0" y="0"/>
                </a:moveTo>
                <a:lnTo>
                  <a:pt x="10514" y="551"/>
                </a:lnTo>
                <a:lnTo>
                  <a:pt x="20912" y="2198"/>
                </a:lnTo>
                <a:lnTo>
                  <a:pt x="31082" y="4923"/>
                </a:lnTo>
                <a:lnTo>
                  <a:pt x="40911" y="8696"/>
                </a:lnTo>
                <a:lnTo>
                  <a:pt x="50292" y="13476"/>
                </a:lnTo>
                <a:lnTo>
                  <a:pt x="59122" y="19210"/>
                </a:lnTo>
                <a:lnTo>
                  <a:pt x="67304" y="25836"/>
                </a:lnTo>
                <a:lnTo>
                  <a:pt x="74748" y="33280"/>
                </a:lnTo>
                <a:lnTo>
                  <a:pt x="81374" y="41462"/>
                </a:lnTo>
                <a:lnTo>
                  <a:pt x="87108" y="50292"/>
                </a:lnTo>
                <a:lnTo>
                  <a:pt x="91888" y="59673"/>
                </a:lnTo>
                <a:lnTo>
                  <a:pt x="95661" y="69502"/>
                </a:lnTo>
                <a:lnTo>
                  <a:pt x="98386" y="79671"/>
                </a:lnTo>
                <a:lnTo>
                  <a:pt x="100033" y="90070"/>
                </a:lnTo>
                <a:lnTo>
                  <a:pt x="100584" y="100584"/>
                </a:lnTo>
                <a:lnTo>
                  <a:pt x="100033" y="111098"/>
                </a:lnTo>
                <a:lnTo>
                  <a:pt x="98386" y="121497"/>
                </a:lnTo>
                <a:lnTo>
                  <a:pt x="95661" y="131666"/>
                </a:lnTo>
                <a:lnTo>
                  <a:pt x="91888" y="141495"/>
                </a:lnTo>
                <a:lnTo>
                  <a:pt x="87108" y="150876"/>
                </a:lnTo>
                <a:lnTo>
                  <a:pt x="81374" y="159706"/>
                </a:lnTo>
                <a:lnTo>
                  <a:pt x="74748" y="167888"/>
                </a:lnTo>
                <a:lnTo>
                  <a:pt x="67304" y="175332"/>
                </a:lnTo>
                <a:lnTo>
                  <a:pt x="59122" y="181958"/>
                </a:lnTo>
                <a:lnTo>
                  <a:pt x="50292" y="187692"/>
                </a:lnTo>
                <a:lnTo>
                  <a:pt x="40911" y="192472"/>
                </a:lnTo>
                <a:lnTo>
                  <a:pt x="31082" y="196245"/>
                </a:lnTo>
                <a:lnTo>
                  <a:pt x="20912" y="198970"/>
                </a:lnTo>
                <a:lnTo>
                  <a:pt x="10514" y="200617"/>
                </a:lnTo>
                <a:lnTo>
                  <a:pt x="0" y="201168"/>
                </a:lnTo>
                <a:close/>
              </a:path>
            </a:pathLst>
          </a:custGeom>
          <a:solidFill>
            <a:srgbClr val="41801A"/>
          </a:solidFill>
          <a:ln>
            <a:noFill/>
          </a:ln>
        </p:spPr>
        <p:txBody>
          <a:bodyPr rtlCol="0" anchor="ctr"/>
          <a:lstStyle/>
          <a:p>
            <a:pPr algn="ctr"/>
          </a:p>
        </p:txBody>
      </p:sp>
      <p:sp>
        <p:nvSpPr>
          <p:cNvPr id="78" name="TextBox 77"/>
          <p:cNvSpPr txBox="1"/>
          <p:nvPr/>
        </p:nvSpPr>
        <p:spPr>
          <a:xfrm>
            <a:off x="5829986" y="5001768"/>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600,000+ sign ups</a:t>
            </a:r>
          </a:p>
        </p:txBody>
      </p:sp>
      <p:sp>
        <p:nvSpPr>
          <p:cNvPr id="79" name="Oval 78"/>
          <p:cNvSpPr/>
          <p:nvPr/>
        </p:nvSpPr>
        <p:spPr>
          <a:xfrm>
            <a:off x="7581748" y="5138928"/>
            <a:ext cx="201168" cy="201168"/>
          </a:xfrm>
          <a:prstGeom prst="ellipse">
            <a:avLst/>
          </a:prstGeom>
          <a:solidFill>
            <a:srgbClr val="41801A"/>
          </a:solidFill>
          <a:ln w="15875">
            <a:solidFill>
              <a:srgbClr val="41801A"/>
            </a:solidFill>
          </a:ln>
        </p:spPr>
        <p:txBody>
          <a:bodyPr rtlCol="0" anchor="ctr"/>
          <a:lstStyle/>
          <a:p>
            <a:pPr algn="ctr"/>
          </a:p>
        </p:txBody>
      </p:sp>
      <p:sp>
        <p:nvSpPr>
          <p:cNvPr id="80" name="TextBox 79"/>
          <p:cNvSpPr txBox="1"/>
          <p:nvPr/>
        </p:nvSpPr>
        <p:spPr>
          <a:xfrm>
            <a:off x="7883500" y="5001768"/>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60 million registered</a:t>
            </a:r>
          </a:p>
        </p:txBody>
      </p:sp>
      <p:sp>
        <p:nvSpPr>
          <p:cNvPr id="81" name="Oval 80"/>
          <p:cNvSpPr/>
          <p:nvPr/>
        </p:nvSpPr>
        <p:spPr>
          <a:xfrm>
            <a:off x="9635261" y="5138928"/>
            <a:ext cx="201168" cy="201168"/>
          </a:xfrm>
          <a:prstGeom prst="ellipse">
            <a:avLst/>
          </a:prstGeom>
          <a:solidFill>
            <a:srgbClr val="41801A"/>
          </a:solidFill>
          <a:ln w="15875">
            <a:solidFill>
              <a:srgbClr val="41801A"/>
            </a:solidFill>
          </a:ln>
        </p:spPr>
        <p:txBody>
          <a:bodyPr rtlCol="0" anchor="ctr"/>
          <a:lstStyle/>
          <a:p>
            <a:pPr algn="ctr"/>
          </a:p>
        </p:txBody>
      </p:sp>
      <p:sp>
        <p:nvSpPr>
          <p:cNvPr id="82" name="TextBox 81"/>
          <p:cNvSpPr txBox="1"/>
          <p:nvPr/>
        </p:nvSpPr>
        <p:spPr>
          <a:xfrm>
            <a:off x="9937013" y="5001768"/>
            <a:ext cx="1596314" cy="475488"/>
          </a:xfrm>
          <a:prstGeom prst="rect">
            <a:avLst/>
          </a:prstGeom>
          <a:noFill/>
        </p:spPr>
        <p:txBody>
          <a:bodyPr wrap="square" lIns="0" tIns="0" rIns="0" bIns="0" anchor="ctr">
            <a:spAutoFit/>
          </a:bodyPr>
          <a:lstStyle/>
          <a:p>
            <a:pPr>
              <a:lnSpc>
                <a:spcPct val="100000"/>
              </a:lnSpc>
            </a:pPr>
            <a:r>
              <a:rPr sz="1250">
                <a:solidFill>
                  <a:srgbClr val="26301F"/>
                </a:solidFill>
                <a:latin typeface="Arial"/>
              </a:rPr>
              <a:t>4 in 10 Pakistanis</a:t>
            </a:r>
          </a:p>
        </p:txBody>
      </p:sp>
      <p:cxnSp>
        <p:nvCxnSpPr>
          <p:cNvPr id="83" name="Connector 82"/>
          <p:cNvCxnSpPr/>
          <p:nvPr/>
        </p:nvCxnSpPr>
        <p:spPr>
          <a:xfrm>
            <a:off x="640080" y="5477256"/>
            <a:ext cx="10911535" cy="0"/>
          </a:xfrm>
          <a:prstGeom prst="line">
            <a:avLst/>
          </a:prstGeom>
          <a:ln w="9525">
            <a:solidFill>
              <a:srgbClr val="CFD8C6"/>
            </a:solidFill>
          </a:ln>
        </p:spPr>
      </p:cxnSp>
      <p:sp>
        <p:nvSpPr>
          <p:cNvPr id="84" name="Oval 83"/>
          <p:cNvSpPr/>
          <p:nvPr/>
        </p:nvSpPr>
        <p:spPr>
          <a:xfrm>
            <a:off x="649224" y="5605272"/>
            <a:ext cx="164592" cy="164592"/>
          </a:xfrm>
          <a:prstGeom prst="ellipse">
            <a:avLst/>
          </a:prstGeom>
          <a:solidFill>
            <a:srgbClr val="41801A"/>
          </a:solidFill>
          <a:ln w="15875">
            <a:solidFill>
              <a:srgbClr val="41801A"/>
            </a:solidFill>
          </a:ln>
        </p:spPr>
        <p:txBody>
          <a:bodyPr rtlCol="0" anchor="ctr"/>
          <a:lstStyle/>
          <a:p>
            <a:pPr algn="ctr"/>
          </a:p>
        </p:txBody>
      </p:sp>
      <p:sp>
        <p:nvSpPr>
          <p:cNvPr id="85" name="TextBox 84"/>
          <p:cNvSpPr txBox="1"/>
          <p:nvPr/>
        </p:nvSpPr>
        <p:spPr>
          <a:xfrm>
            <a:off x="896112" y="5568696"/>
            <a:ext cx="822960" cy="237744"/>
          </a:xfrm>
          <a:prstGeom prst="rect">
            <a:avLst/>
          </a:prstGeom>
          <a:noFill/>
        </p:spPr>
        <p:txBody>
          <a:bodyPr wrap="square" lIns="0" tIns="0" rIns="0" bIns="0">
            <a:spAutoFit/>
          </a:bodyPr>
          <a:lstStyle/>
          <a:p>
            <a:pPr>
              <a:lnSpc>
                <a:spcPct val="105000"/>
              </a:lnSpc>
            </a:pPr>
            <a:r>
              <a:rPr sz="1200">
                <a:solidFill>
                  <a:srgbClr val="5F6B58"/>
                </a:solidFill>
                <a:latin typeface="Arial"/>
              </a:rPr>
              <a:t>yes</a:t>
            </a:r>
          </a:p>
        </p:txBody>
      </p:sp>
      <p:sp>
        <p:nvSpPr>
          <p:cNvPr id="86" name="Oval 85"/>
          <p:cNvSpPr/>
          <p:nvPr/>
        </p:nvSpPr>
        <p:spPr>
          <a:xfrm>
            <a:off x="1746504" y="5605272"/>
            <a:ext cx="164592" cy="164592"/>
          </a:xfrm>
          <a:prstGeom prst="ellipse">
            <a:avLst/>
          </a:prstGeom>
          <a:solidFill>
            <a:srgbClr val="FFFFFF"/>
          </a:solidFill>
          <a:ln w="15875">
            <a:solidFill>
              <a:srgbClr val="41801A"/>
            </a:solidFill>
          </a:ln>
        </p:spPr>
        <p:txBody>
          <a:bodyPr rtlCol="0" anchor="ctr"/>
          <a:lstStyle/>
          <a:p>
            <a:pPr algn="ctr"/>
          </a:p>
        </p:txBody>
      </p:sp>
      <p:sp>
        <p:nvSpPr>
          <p:cNvPr id="87" name="Freeform 86"/>
          <p:cNvSpPr/>
          <p:nvPr/>
        </p:nvSpPr>
        <p:spPr>
          <a:xfrm>
            <a:off x="1828800" y="5605272"/>
            <a:ext cx="82296" cy="164592"/>
          </a:xfrm>
          <a:custGeom>
            <a:avLst/>
            <a:gdLst/>
            <a:ahLst/>
            <a:cxnLst/>
            <a:rect l="l" t="t" r="r" b="b"/>
            <a:pathLst>
              <a:path w="82296" h="164592">
                <a:moveTo>
                  <a:pt x="0" y="0"/>
                </a:moveTo>
                <a:lnTo>
                  <a:pt x="8602" y="451"/>
                </a:lnTo>
                <a:lnTo>
                  <a:pt x="17110" y="1798"/>
                </a:lnTo>
                <a:lnTo>
                  <a:pt x="25431" y="4028"/>
                </a:lnTo>
                <a:lnTo>
                  <a:pt x="33473" y="7115"/>
                </a:lnTo>
                <a:lnTo>
                  <a:pt x="41148" y="11026"/>
                </a:lnTo>
                <a:lnTo>
                  <a:pt x="48372" y="15717"/>
                </a:lnTo>
                <a:lnTo>
                  <a:pt x="55067" y="21138"/>
                </a:lnTo>
                <a:lnTo>
                  <a:pt x="61158" y="27229"/>
                </a:lnTo>
                <a:lnTo>
                  <a:pt x="66579" y="33924"/>
                </a:lnTo>
                <a:lnTo>
                  <a:pt x="71270" y="41148"/>
                </a:lnTo>
                <a:lnTo>
                  <a:pt x="75181" y="48823"/>
                </a:lnTo>
                <a:lnTo>
                  <a:pt x="78268" y="56865"/>
                </a:lnTo>
                <a:lnTo>
                  <a:pt x="80498" y="65186"/>
                </a:lnTo>
                <a:lnTo>
                  <a:pt x="81845" y="73694"/>
                </a:lnTo>
                <a:lnTo>
                  <a:pt x="82296" y="82296"/>
                </a:lnTo>
                <a:lnTo>
                  <a:pt x="81845" y="90898"/>
                </a:lnTo>
                <a:lnTo>
                  <a:pt x="80498" y="99406"/>
                </a:lnTo>
                <a:lnTo>
                  <a:pt x="78268" y="107727"/>
                </a:lnTo>
                <a:lnTo>
                  <a:pt x="75181" y="115769"/>
                </a:lnTo>
                <a:lnTo>
                  <a:pt x="71270" y="123444"/>
                </a:lnTo>
                <a:lnTo>
                  <a:pt x="66579" y="130668"/>
                </a:lnTo>
                <a:lnTo>
                  <a:pt x="61158" y="137363"/>
                </a:lnTo>
                <a:lnTo>
                  <a:pt x="55067" y="143454"/>
                </a:lnTo>
                <a:lnTo>
                  <a:pt x="48372" y="148875"/>
                </a:lnTo>
                <a:lnTo>
                  <a:pt x="41148" y="153566"/>
                </a:lnTo>
                <a:lnTo>
                  <a:pt x="33473" y="157477"/>
                </a:lnTo>
                <a:lnTo>
                  <a:pt x="25431" y="160564"/>
                </a:lnTo>
                <a:lnTo>
                  <a:pt x="17110" y="162794"/>
                </a:lnTo>
                <a:lnTo>
                  <a:pt x="8602" y="164141"/>
                </a:lnTo>
                <a:lnTo>
                  <a:pt x="0" y="164592"/>
                </a:lnTo>
                <a:close/>
              </a:path>
            </a:pathLst>
          </a:custGeom>
          <a:solidFill>
            <a:srgbClr val="41801A"/>
          </a:solidFill>
          <a:ln>
            <a:noFill/>
          </a:ln>
        </p:spPr>
        <p:txBody>
          <a:bodyPr rtlCol="0" anchor="ctr"/>
          <a:lstStyle/>
          <a:p>
            <a:pPr algn="ctr"/>
          </a:p>
        </p:txBody>
      </p:sp>
      <p:sp>
        <p:nvSpPr>
          <p:cNvPr id="88" name="TextBox 87"/>
          <p:cNvSpPr txBox="1"/>
          <p:nvPr/>
        </p:nvSpPr>
        <p:spPr>
          <a:xfrm>
            <a:off x="1993392" y="5568696"/>
            <a:ext cx="822960" cy="237744"/>
          </a:xfrm>
          <a:prstGeom prst="rect">
            <a:avLst/>
          </a:prstGeom>
          <a:noFill/>
        </p:spPr>
        <p:txBody>
          <a:bodyPr wrap="square" lIns="0" tIns="0" rIns="0" bIns="0">
            <a:spAutoFit/>
          </a:bodyPr>
          <a:lstStyle/>
          <a:p>
            <a:pPr>
              <a:lnSpc>
                <a:spcPct val="105000"/>
              </a:lnSpc>
            </a:pPr>
            <a:r>
              <a:rPr sz="1200">
                <a:solidFill>
                  <a:srgbClr val="5F6B58"/>
                </a:solidFill>
                <a:latin typeface="Arial"/>
              </a:rPr>
              <a:t>partly</a:t>
            </a:r>
          </a:p>
        </p:txBody>
      </p:sp>
      <p:sp>
        <p:nvSpPr>
          <p:cNvPr id="89" name="Oval 88"/>
          <p:cNvSpPr/>
          <p:nvPr/>
        </p:nvSpPr>
        <p:spPr>
          <a:xfrm>
            <a:off x="2843784" y="5605272"/>
            <a:ext cx="164592" cy="164592"/>
          </a:xfrm>
          <a:prstGeom prst="ellipse">
            <a:avLst/>
          </a:prstGeom>
          <a:solidFill>
            <a:srgbClr val="FFFFFF"/>
          </a:solidFill>
          <a:ln w="15875">
            <a:solidFill>
              <a:srgbClr val="41801A"/>
            </a:solidFill>
          </a:ln>
        </p:spPr>
        <p:txBody>
          <a:bodyPr rtlCol="0" anchor="ctr"/>
          <a:lstStyle/>
          <a:p>
            <a:pPr algn="ctr"/>
          </a:p>
        </p:txBody>
      </p:sp>
      <p:sp>
        <p:nvSpPr>
          <p:cNvPr id="90" name="TextBox 89"/>
          <p:cNvSpPr txBox="1"/>
          <p:nvPr/>
        </p:nvSpPr>
        <p:spPr>
          <a:xfrm>
            <a:off x="3090672" y="5568696"/>
            <a:ext cx="822960" cy="237744"/>
          </a:xfrm>
          <a:prstGeom prst="rect">
            <a:avLst/>
          </a:prstGeom>
          <a:noFill/>
        </p:spPr>
        <p:txBody>
          <a:bodyPr wrap="square" lIns="0" tIns="0" rIns="0" bIns="0">
            <a:spAutoFit/>
          </a:bodyPr>
          <a:lstStyle/>
          <a:p>
            <a:pPr>
              <a:lnSpc>
                <a:spcPct val="105000"/>
              </a:lnSpc>
            </a:pPr>
            <a:r>
              <a:rPr sz="1200">
                <a:solidFill>
                  <a:srgbClr val="5F6B58"/>
                </a:solidFill>
                <a:latin typeface="Arial"/>
              </a:rPr>
              <a:t>no</a:t>
            </a:r>
          </a:p>
        </p:txBody>
      </p:sp>
      <p:sp>
        <p:nvSpPr>
          <p:cNvPr id="91" name="TextBox 90"/>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Oraan terms, fee calculator and website, 28 Sep 2026   2  JazzCash app release note, Aug 2026, and results to 31 March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Abroad, committee apps reached millions by working inside the formal system.</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20</a:t>
            </a:r>
          </a:p>
        </p:txBody>
      </p:sp>
      <p:sp>
        <p:nvSpPr>
          <p:cNvPr id="5" name="TextBox 4"/>
          <p:cNvSpPr txBox="1"/>
          <p:nvPr/>
        </p:nvSpPr>
        <p:spPr>
          <a:xfrm>
            <a:off x="2834640"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2016</a:t>
            </a:r>
          </a:p>
        </p:txBody>
      </p:sp>
      <p:cxnSp>
        <p:nvCxnSpPr>
          <p:cNvPr id="6" name="Connector 5"/>
          <p:cNvCxnSpPr/>
          <p:nvPr/>
        </p:nvCxnSpPr>
        <p:spPr>
          <a:xfrm>
            <a:off x="3108960" y="1938528"/>
            <a:ext cx="0" cy="3017520"/>
          </a:xfrm>
          <a:prstGeom prst="line">
            <a:avLst/>
          </a:prstGeom>
          <a:ln w="9525">
            <a:solidFill>
              <a:srgbClr val="EEF2EA"/>
            </a:solidFill>
          </a:ln>
        </p:spPr>
      </p:cxnSp>
      <p:sp>
        <p:nvSpPr>
          <p:cNvPr id="7" name="TextBox 6"/>
          <p:cNvSpPr txBox="1"/>
          <p:nvPr/>
        </p:nvSpPr>
        <p:spPr>
          <a:xfrm>
            <a:off x="3395442"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2017</a:t>
            </a:r>
          </a:p>
        </p:txBody>
      </p:sp>
      <p:cxnSp>
        <p:nvCxnSpPr>
          <p:cNvPr id="8" name="Connector 7"/>
          <p:cNvCxnSpPr/>
          <p:nvPr/>
        </p:nvCxnSpPr>
        <p:spPr>
          <a:xfrm>
            <a:off x="3669762" y="1938528"/>
            <a:ext cx="0" cy="3017520"/>
          </a:xfrm>
          <a:prstGeom prst="line">
            <a:avLst/>
          </a:prstGeom>
          <a:ln w="9525">
            <a:solidFill>
              <a:srgbClr val="EEF2EA"/>
            </a:solidFill>
          </a:ln>
        </p:spPr>
      </p:cxnSp>
      <p:sp>
        <p:nvSpPr>
          <p:cNvPr id="9" name="TextBox 8"/>
          <p:cNvSpPr txBox="1"/>
          <p:nvPr/>
        </p:nvSpPr>
        <p:spPr>
          <a:xfrm>
            <a:off x="3956243"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2018</a:t>
            </a:r>
          </a:p>
        </p:txBody>
      </p:sp>
      <p:cxnSp>
        <p:nvCxnSpPr>
          <p:cNvPr id="10" name="Connector 9"/>
          <p:cNvCxnSpPr/>
          <p:nvPr/>
        </p:nvCxnSpPr>
        <p:spPr>
          <a:xfrm>
            <a:off x="4230563" y="1938528"/>
            <a:ext cx="0" cy="3017520"/>
          </a:xfrm>
          <a:prstGeom prst="line">
            <a:avLst/>
          </a:prstGeom>
          <a:ln w="9525">
            <a:solidFill>
              <a:srgbClr val="EEF2EA"/>
            </a:solidFill>
          </a:ln>
        </p:spPr>
      </p:cxnSp>
      <p:sp>
        <p:nvSpPr>
          <p:cNvPr id="11" name="TextBox 10"/>
          <p:cNvSpPr txBox="1"/>
          <p:nvPr/>
        </p:nvSpPr>
        <p:spPr>
          <a:xfrm>
            <a:off x="4517045"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2019</a:t>
            </a:r>
          </a:p>
        </p:txBody>
      </p:sp>
      <p:cxnSp>
        <p:nvCxnSpPr>
          <p:cNvPr id="12" name="Connector 11"/>
          <p:cNvCxnSpPr/>
          <p:nvPr/>
        </p:nvCxnSpPr>
        <p:spPr>
          <a:xfrm>
            <a:off x="4791365" y="1938528"/>
            <a:ext cx="0" cy="3017520"/>
          </a:xfrm>
          <a:prstGeom prst="line">
            <a:avLst/>
          </a:prstGeom>
          <a:ln w="9525">
            <a:solidFill>
              <a:srgbClr val="EEF2EA"/>
            </a:solidFill>
          </a:ln>
        </p:spPr>
      </p:cxnSp>
      <p:sp>
        <p:nvSpPr>
          <p:cNvPr id="13" name="TextBox 12"/>
          <p:cNvSpPr txBox="1"/>
          <p:nvPr/>
        </p:nvSpPr>
        <p:spPr>
          <a:xfrm>
            <a:off x="5077846"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2020</a:t>
            </a:r>
          </a:p>
        </p:txBody>
      </p:sp>
      <p:cxnSp>
        <p:nvCxnSpPr>
          <p:cNvPr id="14" name="Connector 13"/>
          <p:cNvCxnSpPr/>
          <p:nvPr/>
        </p:nvCxnSpPr>
        <p:spPr>
          <a:xfrm>
            <a:off x="5352166" y="1938528"/>
            <a:ext cx="0" cy="3017520"/>
          </a:xfrm>
          <a:prstGeom prst="line">
            <a:avLst/>
          </a:prstGeom>
          <a:ln w="9525">
            <a:solidFill>
              <a:srgbClr val="EEF2EA"/>
            </a:solidFill>
          </a:ln>
        </p:spPr>
      </p:cxnSp>
      <p:sp>
        <p:nvSpPr>
          <p:cNvPr id="15" name="TextBox 14"/>
          <p:cNvSpPr txBox="1"/>
          <p:nvPr/>
        </p:nvSpPr>
        <p:spPr>
          <a:xfrm>
            <a:off x="5638648"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2021</a:t>
            </a:r>
          </a:p>
        </p:txBody>
      </p:sp>
      <p:cxnSp>
        <p:nvCxnSpPr>
          <p:cNvPr id="16" name="Connector 15"/>
          <p:cNvCxnSpPr/>
          <p:nvPr/>
        </p:nvCxnSpPr>
        <p:spPr>
          <a:xfrm>
            <a:off x="5912968" y="1938528"/>
            <a:ext cx="0" cy="3017520"/>
          </a:xfrm>
          <a:prstGeom prst="line">
            <a:avLst/>
          </a:prstGeom>
          <a:ln w="9525">
            <a:solidFill>
              <a:srgbClr val="EEF2EA"/>
            </a:solidFill>
          </a:ln>
        </p:spPr>
      </p:cxnSp>
      <p:sp>
        <p:nvSpPr>
          <p:cNvPr id="17" name="TextBox 16"/>
          <p:cNvSpPr txBox="1"/>
          <p:nvPr/>
        </p:nvSpPr>
        <p:spPr>
          <a:xfrm>
            <a:off x="6199449"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2022</a:t>
            </a:r>
          </a:p>
        </p:txBody>
      </p:sp>
      <p:cxnSp>
        <p:nvCxnSpPr>
          <p:cNvPr id="18" name="Connector 17"/>
          <p:cNvCxnSpPr/>
          <p:nvPr/>
        </p:nvCxnSpPr>
        <p:spPr>
          <a:xfrm>
            <a:off x="6473769" y="1938528"/>
            <a:ext cx="0" cy="3017520"/>
          </a:xfrm>
          <a:prstGeom prst="line">
            <a:avLst/>
          </a:prstGeom>
          <a:ln w="9525">
            <a:solidFill>
              <a:srgbClr val="EEF2EA"/>
            </a:solidFill>
          </a:ln>
        </p:spPr>
      </p:cxnSp>
      <p:sp>
        <p:nvSpPr>
          <p:cNvPr id="19" name="TextBox 18"/>
          <p:cNvSpPr txBox="1"/>
          <p:nvPr/>
        </p:nvSpPr>
        <p:spPr>
          <a:xfrm>
            <a:off x="6760251"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2023</a:t>
            </a:r>
          </a:p>
        </p:txBody>
      </p:sp>
      <p:cxnSp>
        <p:nvCxnSpPr>
          <p:cNvPr id="20" name="Connector 19"/>
          <p:cNvCxnSpPr/>
          <p:nvPr/>
        </p:nvCxnSpPr>
        <p:spPr>
          <a:xfrm>
            <a:off x="7034571" y="1938528"/>
            <a:ext cx="0" cy="3017520"/>
          </a:xfrm>
          <a:prstGeom prst="line">
            <a:avLst/>
          </a:prstGeom>
          <a:ln w="9525">
            <a:solidFill>
              <a:srgbClr val="EEF2EA"/>
            </a:solidFill>
          </a:ln>
        </p:spPr>
      </p:cxnSp>
      <p:sp>
        <p:nvSpPr>
          <p:cNvPr id="21" name="TextBox 20"/>
          <p:cNvSpPr txBox="1"/>
          <p:nvPr/>
        </p:nvSpPr>
        <p:spPr>
          <a:xfrm>
            <a:off x="7321052"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2024</a:t>
            </a:r>
          </a:p>
        </p:txBody>
      </p:sp>
      <p:cxnSp>
        <p:nvCxnSpPr>
          <p:cNvPr id="22" name="Connector 21"/>
          <p:cNvCxnSpPr/>
          <p:nvPr/>
        </p:nvCxnSpPr>
        <p:spPr>
          <a:xfrm>
            <a:off x="7595372" y="1938528"/>
            <a:ext cx="0" cy="3017520"/>
          </a:xfrm>
          <a:prstGeom prst="line">
            <a:avLst/>
          </a:prstGeom>
          <a:ln w="9525">
            <a:solidFill>
              <a:srgbClr val="EEF2EA"/>
            </a:solidFill>
          </a:ln>
        </p:spPr>
      </p:cxnSp>
      <p:sp>
        <p:nvSpPr>
          <p:cNvPr id="23" name="TextBox 22"/>
          <p:cNvSpPr txBox="1"/>
          <p:nvPr/>
        </p:nvSpPr>
        <p:spPr>
          <a:xfrm>
            <a:off x="7881854"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2025</a:t>
            </a:r>
          </a:p>
        </p:txBody>
      </p:sp>
      <p:cxnSp>
        <p:nvCxnSpPr>
          <p:cNvPr id="24" name="Connector 23"/>
          <p:cNvCxnSpPr/>
          <p:nvPr/>
        </p:nvCxnSpPr>
        <p:spPr>
          <a:xfrm>
            <a:off x="8156174" y="1938528"/>
            <a:ext cx="0" cy="3017520"/>
          </a:xfrm>
          <a:prstGeom prst="line">
            <a:avLst/>
          </a:prstGeom>
          <a:ln w="9525">
            <a:solidFill>
              <a:srgbClr val="EEF2EA"/>
            </a:solidFill>
          </a:ln>
        </p:spPr>
      </p:cxnSp>
      <p:sp>
        <p:nvSpPr>
          <p:cNvPr id="25" name="TextBox 24"/>
          <p:cNvSpPr txBox="1"/>
          <p:nvPr/>
        </p:nvSpPr>
        <p:spPr>
          <a:xfrm>
            <a:off x="8442655" y="1645920"/>
            <a:ext cx="548640" cy="274320"/>
          </a:xfrm>
          <a:prstGeom prst="rect">
            <a:avLst/>
          </a:prstGeom>
          <a:noFill/>
        </p:spPr>
        <p:txBody>
          <a:bodyPr wrap="square" lIns="0" tIns="0" rIns="0" bIns="0">
            <a:spAutoFit/>
          </a:bodyPr>
          <a:lstStyle/>
          <a:p>
            <a:pPr algn="ctr">
              <a:lnSpc>
                <a:spcPct val="105000"/>
              </a:lnSpc>
            </a:pPr>
            <a:r>
              <a:rPr sz="1150">
                <a:solidFill>
                  <a:srgbClr val="5F6B58"/>
                </a:solidFill>
                <a:latin typeface="Arial"/>
              </a:rPr>
              <a:t>2026</a:t>
            </a:r>
          </a:p>
        </p:txBody>
      </p:sp>
      <p:cxnSp>
        <p:nvCxnSpPr>
          <p:cNvPr id="26" name="Connector 25"/>
          <p:cNvCxnSpPr/>
          <p:nvPr/>
        </p:nvCxnSpPr>
        <p:spPr>
          <a:xfrm>
            <a:off x="8716975" y="1938528"/>
            <a:ext cx="0" cy="3017520"/>
          </a:xfrm>
          <a:prstGeom prst="line">
            <a:avLst/>
          </a:prstGeom>
          <a:ln w="9525">
            <a:solidFill>
              <a:srgbClr val="EEF2EA"/>
            </a:solidFill>
          </a:ln>
        </p:spPr>
      </p:cxnSp>
      <p:sp>
        <p:nvSpPr>
          <p:cNvPr id="27" name="TextBox 26"/>
          <p:cNvSpPr txBox="1"/>
          <p:nvPr/>
        </p:nvSpPr>
        <p:spPr>
          <a:xfrm>
            <a:off x="640080" y="2103120"/>
            <a:ext cx="2377440" cy="329184"/>
          </a:xfrm>
          <a:prstGeom prst="rect">
            <a:avLst/>
          </a:prstGeom>
          <a:noFill/>
        </p:spPr>
        <p:txBody>
          <a:bodyPr wrap="square" lIns="0" tIns="0" rIns="0" bIns="0">
            <a:spAutoFit/>
          </a:bodyPr>
          <a:lstStyle/>
          <a:p>
            <a:pPr>
              <a:lnSpc>
                <a:spcPct val="105000"/>
              </a:lnSpc>
            </a:pPr>
            <a:r>
              <a:rPr sz="1650" b="1">
                <a:solidFill>
                  <a:srgbClr val="41801A"/>
                </a:solidFill>
                <a:latin typeface="Arial"/>
              </a:rPr>
              <a:t>Hakbah</a:t>
            </a:r>
          </a:p>
        </p:txBody>
      </p:sp>
      <p:sp>
        <p:nvSpPr>
          <p:cNvPr id="28" name="TextBox 27"/>
          <p:cNvSpPr txBox="1"/>
          <p:nvPr/>
        </p:nvSpPr>
        <p:spPr>
          <a:xfrm>
            <a:off x="640080" y="2441448"/>
            <a:ext cx="2377440" cy="274320"/>
          </a:xfrm>
          <a:prstGeom prst="rect">
            <a:avLst/>
          </a:prstGeom>
          <a:noFill/>
        </p:spPr>
        <p:txBody>
          <a:bodyPr wrap="square" lIns="0" tIns="0" rIns="0" bIns="0">
            <a:spAutoFit/>
          </a:bodyPr>
          <a:lstStyle/>
          <a:p>
            <a:pPr>
              <a:lnSpc>
                <a:spcPct val="105000"/>
              </a:lnSpc>
            </a:pPr>
            <a:r>
              <a:rPr sz="1250">
                <a:solidFill>
                  <a:srgbClr val="5F6B58"/>
                </a:solidFill>
                <a:latin typeface="Arial"/>
              </a:rPr>
              <a:t>Saudi Arabia</a:t>
            </a:r>
          </a:p>
        </p:txBody>
      </p:sp>
      <p:cxnSp>
        <p:nvCxnSpPr>
          <p:cNvPr id="29" name="Connector 28"/>
          <p:cNvCxnSpPr/>
          <p:nvPr/>
        </p:nvCxnSpPr>
        <p:spPr>
          <a:xfrm>
            <a:off x="4230563" y="2331720"/>
            <a:ext cx="4486412" cy="0"/>
          </a:xfrm>
          <a:prstGeom prst="line">
            <a:avLst/>
          </a:prstGeom>
          <a:ln w="44450">
            <a:solidFill>
              <a:srgbClr val="41801A"/>
            </a:solidFill>
          </a:ln>
        </p:spPr>
      </p:cxnSp>
      <p:sp>
        <p:nvSpPr>
          <p:cNvPr id="30" name="Oval 29"/>
          <p:cNvSpPr/>
          <p:nvPr/>
        </p:nvSpPr>
        <p:spPr>
          <a:xfrm>
            <a:off x="4148267" y="2249424"/>
            <a:ext cx="164592" cy="164592"/>
          </a:xfrm>
          <a:prstGeom prst="ellipse">
            <a:avLst/>
          </a:prstGeom>
          <a:solidFill>
            <a:srgbClr val="41801A"/>
          </a:solidFill>
          <a:ln>
            <a:noFill/>
          </a:ln>
        </p:spPr>
        <p:txBody>
          <a:bodyPr rtlCol="0" anchor="ctr"/>
          <a:lstStyle/>
          <a:p>
            <a:pPr algn="ctr"/>
          </a:p>
        </p:txBody>
      </p:sp>
      <p:sp>
        <p:nvSpPr>
          <p:cNvPr id="31" name="Oval 30"/>
          <p:cNvSpPr/>
          <p:nvPr/>
        </p:nvSpPr>
        <p:spPr>
          <a:xfrm>
            <a:off x="5260726" y="2240280"/>
            <a:ext cx="182880" cy="182880"/>
          </a:xfrm>
          <a:prstGeom prst="ellipse">
            <a:avLst/>
          </a:prstGeom>
          <a:solidFill>
            <a:srgbClr val="FFFFFF"/>
          </a:solidFill>
          <a:ln w="25400">
            <a:solidFill>
              <a:srgbClr val="41801A"/>
            </a:solidFill>
          </a:ln>
        </p:spPr>
        <p:txBody>
          <a:bodyPr rtlCol="0" anchor="ctr"/>
          <a:lstStyle/>
          <a:p>
            <a:pPr algn="ctr"/>
          </a:p>
        </p:txBody>
      </p:sp>
      <p:sp>
        <p:nvSpPr>
          <p:cNvPr id="32" name="TextBox 31"/>
          <p:cNvSpPr txBox="1"/>
          <p:nvPr/>
        </p:nvSpPr>
        <p:spPr>
          <a:xfrm>
            <a:off x="5260726" y="2441448"/>
            <a:ext cx="3017520" cy="274320"/>
          </a:xfrm>
          <a:prstGeom prst="rect">
            <a:avLst/>
          </a:prstGeom>
          <a:noFill/>
        </p:spPr>
        <p:txBody>
          <a:bodyPr wrap="square" lIns="0" tIns="0" rIns="0" bIns="0">
            <a:spAutoFit/>
          </a:bodyPr>
          <a:lstStyle/>
          <a:p>
            <a:pPr>
              <a:lnSpc>
                <a:spcPct val="105000"/>
              </a:lnSpc>
            </a:pPr>
            <a:r>
              <a:rPr sz="1200">
                <a:solidFill>
                  <a:srgbClr val="26301F"/>
                </a:solidFill>
                <a:latin typeface="Arial"/>
              </a:rPr>
              <a:t>launched under a central bank permit</a:t>
            </a:r>
          </a:p>
        </p:txBody>
      </p:sp>
      <p:sp>
        <p:nvSpPr>
          <p:cNvPr id="33" name="TextBox 32"/>
          <p:cNvSpPr txBox="1"/>
          <p:nvPr/>
        </p:nvSpPr>
        <p:spPr>
          <a:xfrm>
            <a:off x="8945575" y="2039112"/>
            <a:ext cx="2606040" cy="329184"/>
          </a:xfrm>
          <a:prstGeom prst="rect">
            <a:avLst/>
          </a:prstGeom>
          <a:noFill/>
        </p:spPr>
        <p:txBody>
          <a:bodyPr wrap="square" lIns="0" tIns="0" rIns="0" bIns="0" anchor="ctr">
            <a:spAutoFit/>
          </a:bodyPr>
          <a:lstStyle/>
          <a:p>
            <a:pPr>
              <a:lnSpc>
                <a:spcPct val="105000"/>
              </a:lnSpc>
            </a:pPr>
            <a:r>
              <a:rPr sz="1500" b="1">
                <a:solidFill>
                  <a:srgbClr val="0C1408"/>
                </a:solidFill>
                <a:latin typeface="Arial"/>
              </a:rPr>
              <a:t>2 million registered users</a:t>
            </a:r>
          </a:p>
        </p:txBody>
      </p:sp>
      <p:sp>
        <p:nvSpPr>
          <p:cNvPr id="34" name="TextBox 33"/>
          <p:cNvSpPr txBox="1"/>
          <p:nvPr/>
        </p:nvSpPr>
        <p:spPr>
          <a:xfrm>
            <a:off x="8945575" y="2377440"/>
            <a:ext cx="2606040" cy="457200"/>
          </a:xfrm>
          <a:prstGeom prst="rect">
            <a:avLst/>
          </a:prstGeom>
          <a:noFill/>
        </p:spPr>
        <p:txBody>
          <a:bodyPr wrap="square" lIns="0" tIns="0" rIns="0" bIns="0">
            <a:spAutoFit/>
          </a:bodyPr>
          <a:lstStyle/>
          <a:p>
            <a:pPr>
              <a:lnSpc>
                <a:spcPct val="102000"/>
              </a:lnSpc>
            </a:pPr>
            <a:r>
              <a:rPr sz="1250">
                <a:solidFill>
                  <a:srgbClr val="5F6B58"/>
                </a:solidFill>
                <a:latin typeface="Arial"/>
              </a:rPr>
              <a:t>central bank sandbox</a:t>
            </a:r>
          </a:p>
        </p:txBody>
      </p:sp>
      <p:sp>
        <p:nvSpPr>
          <p:cNvPr id="35" name="TextBox 34"/>
          <p:cNvSpPr txBox="1"/>
          <p:nvPr/>
        </p:nvSpPr>
        <p:spPr>
          <a:xfrm>
            <a:off x="640080" y="3090672"/>
            <a:ext cx="2377440" cy="329184"/>
          </a:xfrm>
          <a:prstGeom prst="rect">
            <a:avLst/>
          </a:prstGeom>
          <a:noFill/>
        </p:spPr>
        <p:txBody>
          <a:bodyPr wrap="square" lIns="0" tIns="0" rIns="0" bIns="0">
            <a:spAutoFit/>
          </a:bodyPr>
          <a:lstStyle/>
          <a:p>
            <a:pPr>
              <a:lnSpc>
                <a:spcPct val="105000"/>
              </a:lnSpc>
            </a:pPr>
            <a:r>
              <a:rPr sz="1650" b="1">
                <a:solidFill>
                  <a:srgbClr val="41801A"/>
                </a:solidFill>
                <a:latin typeface="Arial"/>
              </a:rPr>
              <a:t>Money Fellows</a:t>
            </a:r>
          </a:p>
        </p:txBody>
      </p:sp>
      <p:sp>
        <p:nvSpPr>
          <p:cNvPr id="36" name="TextBox 35"/>
          <p:cNvSpPr txBox="1"/>
          <p:nvPr/>
        </p:nvSpPr>
        <p:spPr>
          <a:xfrm>
            <a:off x="640080" y="3429000"/>
            <a:ext cx="2377440" cy="274320"/>
          </a:xfrm>
          <a:prstGeom prst="rect">
            <a:avLst/>
          </a:prstGeom>
          <a:noFill/>
        </p:spPr>
        <p:txBody>
          <a:bodyPr wrap="square" lIns="0" tIns="0" rIns="0" bIns="0">
            <a:spAutoFit/>
          </a:bodyPr>
          <a:lstStyle/>
          <a:p>
            <a:pPr>
              <a:lnSpc>
                <a:spcPct val="105000"/>
              </a:lnSpc>
            </a:pPr>
            <a:r>
              <a:rPr sz="1250">
                <a:solidFill>
                  <a:srgbClr val="5F6B58"/>
                </a:solidFill>
                <a:latin typeface="Arial"/>
              </a:rPr>
              <a:t>Egypt</a:t>
            </a:r>
          </a:p>
        </p:txBody>
      </p:sp>
      <p:cxnSp>
        <p:nvCxnSpPr>
          <p:cNvPr id="37" name="Connector 36"/>
          <p:cNvCxnSpPr/>
          <p:nvPr/>
        </p:nvCxnSpPr>
        <p:spPr>
          <a:xfrm>
            <a:off x="3108960" y="3319272"/>
            <a:ext cx="5608015" cy="0"/>
          </a:xfrm>
          <a:prstGeom prst="line">
            <a:avLst/>
          </a:prstGeom>
          <a:ln w="44450">
            <a:solidFill>
              <a:srgbClr val="41801A"/>
            </a:solidFill>
          </a:ln>
        </p:spPr>
      </p:cxnSp>
      <p:sp>
        <p:nvSpPr>
          <p:cNvPr id="38" name="Oval 37"/>
          <p:cNvSpPr/>
          <p:nvPr/>
        </p:nvSpPr>
        <p:spPr>
          <a:xfrm>
            <a:off x="3026664" y="3236976"/>
            <a:ext cx="164592" cy="164592"/>
          </a:xfrm>
          <a:prstGeom prst="ellipse">
            <a:avLst/>
          </a:prstGeom>
          <a:solidFill>
            <a:srgbClr val="41801A"/>
          </a:solidFill>
          <a:ln>
            <a:noFill/>
          </a:ln>
        </p:spPr>
        <p:txBody>
          <a:bodyPr rtlCol="0" anchor="ctr"/>
          <a:lstStyle/>
          <a:p>
            <a:pPr algn="ctr"/>
          </a:p>
        </p:txBody>
      </p:sp>
      <p:sp>
        <p:nvSpPr>
          <p:cNvPr id="39" name="Oval 38"/>
          <p:cNvSpPr/>
          <p:nvPr/>
        </p:nvSpPr>
        <p:spPr>
          <a:xfrm>
            <a:off x="8064734" y="3227832"/>
            <a:ext cx="182880" cy="182880"/>
          </a:xfrm>
          <a:prstGeom prst="ellipse">
            <a:avLst/>
          </a:prstGeom>
          <a:solidFill>
            <a:srgbClr val="FFFFFF"/>
          </a:solidFill>
          <a:ln w="25400">
            <a:solidFill>
              <a:srgbClr val="41801A"/>
            </a:solidFill>
          </a:ln>
        </p:spPr>
        <p:txBody>
          <a:bodyPr rtlCol="0" anchor="ctr"/>
          <a:lstStyle/>
          <a:p>
            <a:pPr algn="ctr"/>
          </a:p>
        </p:txBody>
      </p:sp>
      <p:sp>
        <p:nvSpPr>
          <p:cNvPr id="40" name="TextBox 39"/>
          <p:cNvSpPr txBox="1"/>
          <p:nvPr/>
        </p:nvSpPr>
        <p:spPr>
          <a:xfrm>
            <a:off x="6327374" y="3429000"/>
            <a:ext cx="1920240" cy="274320"/>
          </a:xfrm>
          <a:prstGeom prst="rect">
            <a:avLst/>
          </a:prstGeom>
          <a:noFill/>
        </p:spPr>
        <p:txBody>
          <a:bodyPr wrap="square" lIns="0" tIns="0" rIns="0" bIns="0">
            <a:spAutoFit/>
          </a:bodyPr>
          <a:lstStyle/>
          <a:p>
            <a:pPr algn="r">
              <a:lnSpc>
                <a:spcPct val="105000"/>
              </a:lnSpc>
            </a:pPr>
            <a:r>
              <a:rPr sz="1200">
                <a:solidFill>
                  <a:srgbClr val="26301F"/>
                </a:solidFill>
                <a:latin typeface="Arial"/>
              </a:rPr>
              <a:t>profitable</a:t>
            </a:r>
          </a:p>
        </p:txBody>
      </p:sp>
      <p:sp>
        <p:nvSpPr>
          <p:cNvPr id="41" name="TextBox 40"/>
          <p:cNvSpPr txBox="1"/>
          <p:nvPr/>
        </p:nvSpPr>
        <p:spPr>
          <a:xfrm>
            <a:off x="8945575" y="3026664"/>
            <a:ext cx="2606040" cy="329184"/>
          </a:xfrm>
          <a:prstGeom prst="rect">
            <a:avLst/>
          </a:prstGeom>
          <a:noFill/>
        </p:spPr>
        <p:txBody>
          <a:bodyPr wrap="square" lIns="0" tIns="0" rIns="0" bIns="0" anchor="ctr">
            <a:spAutoFit/>
          </a:bodyPr>
          <a:lstStyle/>
          <a:p>
            <a:pPr>
              <a:lnSpc>
                <a:spcPct val="105000"/>
              </a:lnSpc>
            </a:pPr>
            <a:r>
              <a:rPr sz="1500" b="1">
                <a:solidFill>
                  <a:srgbClr val="0C1408"/>
                </a:solidFill>
                <a:latin typeface="Arial"/>
              </a:rPr>
              <a:t>8 million+ users</a:t>
            </a:r>
          </a:p>
        </p:txBody>
      </p:sp>
      <p:sp>
        <p:nvSpPr>
          <p:cNvPr id="42" name="TextBox 41"/>
          <p:cNvSpPr txBox="1"/>
          <p:nvPr/>
        </p:nvSpPr>
        <p:spPr>
          <a:xfrm>
            <a:off x="8945575" y="3364992"/>
            <a:ext cx="2606040" cy="457200"/>
          </a:xfrm>
          <a:prstGeom prst="rect">
            <a:avLst/>
          </a:prstGeom>
          <a:noFill/>
        </p:spPr>
        <p:txBody>
          <a:bodyPr wrap="square" lIns="0" tIns="0" rIns="0" bIns="0">
            <a:spAutoFit/>
          </a:bodyPr>
          <a:lstStyle/>
          <a:p>
            <a:pPr>
              <a:lnSpc>
                <a:spcPct val="102000"/>
              </a:lnSpc>
            </a:pPr>
            <a:r>
              <a:rPr sz="1250">
                <a:solidFill>
                  <a:srgbClr val="5F6B58"/>
                </a:solidFill>
                <a:latin typeface="Arial"/>
              </a:rPr>
              <a:t>central bank sandbox; Banque Misr card</a:t>
            </a:r>
          </a:p>
        </p:txBody>
      </p:sp>
      <p:sp>
        <p:nvSpPr>
          <p:cNvPr id="43" name="TextBox 42"/>
          <p:cNvSpPr txBox="1"/>
          <p:nvPr/>
        </p:nvSpPr>
        <p:spPr>
          <a:xfrm>
            <a:off x="640080" y="4078224"/>
            <a:ext cx="2377440" cy="329184"/>
          </a:xfrm>
          <a:prstGeom prst="rect">
            <a:avLst/>
          </a:prstGeom>
          <a:noFill/>
        </p:spPr>
        <p:txBody>
          <a:bodyPr wrap="square" lIns="0" tIns="0" rIns="0" bIns="0">
            <a:spAutoFit/>
          </a:bodyPr>
          <a:lstStyle/>
          <a:p>
            <a:pPr>
              <a:lnSpc>
                <a:spcPct val="105000"/>
              </a:lnSpc>
            </a:pPr>
            <a:r>
              <a:rPr sz="1650" b="1">
                <a:solidFill>
                  <a:srgbClr val="41801A"/>
                </a:solidFill>
                <a:latin typeface="Arial"/>
              </a:rPr>
              <a:t>Esusu</a:t>
            </a:r>
          </a:p>
        </p:txBody>
      </p:sp>
      <p:sp>
        <p:nvSpPr>
          <p:cNvPr id="44" name="TextBox 43"/>
          <p:cNvSpPr txBox="1"/>
          <p:nvPr/>
        </p:nvSpPr>
        <p:spPr>
          <a:xfrm>
            <a:off x="640080" y="4416552"/>
            <a:ext cx="2377440" cy="274320"/>
          </a:xfrm>
          <a:prstGeom prst="rect">
            <a:avLst/>
          </a:prstGeom>
          <a:noFill/>
        </p:spPr>
        <p:txBody>
          <a:bodyPr wrap="square" lIns="0" tIns="0" rIns="0" bIns="0">
            <a:spAutoFit/>
          </a:bodyPr>
          <a:lstStyle/>
          <a:p>
            <a:pPr>
              <a:lnSpc>
                <a:spcPct val="105000"/>
              </a:lnSpc>
            </a:pPr>
            <a:r>
              <a:rPr sz="1250">
                <a:solidFill>
                  <a:srgbClr val="5F6B58"/>
                </a:solidFill>
                <a:latin typeface="Arial"/>
              </a:rPr>
              <a:t>United States</a:t>
            </a:r>
          </a:p>
        </p:txBody>
      </p:sp>
      <p:cxnSp>
        <p:nvCxnSpPr>
          <p:cNvPr id="45" name="Connector 44"/>
          <p:cNvCxnSpPr/>
          <p:nvPr/>
        </p:nvCxnSpPr>
        <p:spPr>
          <a:xfrm>
            <a:off x="4230563" y="4306824"/>
            <a:ext cx="4486412" cy="0"/>
          </a:xfrm>
          <a:prstGeom prst="line">
            <a:avLst/>
          </a:prstGeom>
          <a:ln w="44450">
            <a:solidFill>
              <a:srgbClr val="41801A"/>
            </a:solidFill>
          </a:ln>
        </p:spPr>
      </p:cxnSp>
      <p:sp>
        <p:nvSpPr>
          <p:cNvPr id="46" name="Oval 45"/>
          <p:cNvSpPr/>
          <p:nvPr/>
        </p:nvSpPr>
        <p:spPr>
          <a:xfrm>
            <a:off x="4148267" y="4224528"/>
            <a:ext cx="164592" cy="164592"/>
          </a:xfrm>
          <a:prstGeom prst="ellipse">
            <a:avLst/>
          </a:prstGeom>
          <a:solidFill>
            <a:srgbClr val="41801A"/>
          </a:solidFill>
          <a:ln>
            <a:noFill/>
          </a:ln>
        </p:spPr>
        <p:txBody>
          <a:bodyPr rtlCol="0" anchor="ctr"/>
          <a:lstStyle/>
          <a:p>
            <a:pPr algn="ctr"/>
          </a:p>
        </p:txBody>
      </p:sp>
      <p:sp>
        <p:nvSpPr>
          <p:cNvPr id="47" name="Oval 46"/>
          <p:cNvSpPr/>
          <p:nvPr/>
        </p:nvSpPr>
        <p:spPr>
          <a:xfrm>
            <a:off x="6382329" y="4215384"/>
            <a:ext cx="182880" cy="182880"/>
          </a:xfrm>
          <a:prstGeom prst="ellipse">
            <a:avLst/>
          </a:prstGeom>
          <a:solidFill>
            <a:srgbClr val="FFFFFF"/>
          </a:solidFill>
          <a:ln w="25400">
            <a:solidFill>
              <a:srgbClr val="41801A"/>
            </a:solidFill>
          </a:ln>
        </p:spPr>
        <p:txBody>
          <a:bodyPr rtlCol="0" anchor="ctr"/>
          <a:lstStyle/>
          <a:p>
            <a:pPr algn="ctr"/>
          </a:p>
        </p:txBody>
      </p:sp>
      <p:sp>
        <p:nvSpPr>
          <p:cNvPr id="48" name="TextBox 47"/>
          <p:cNvSpPr txBox="1"/>
          <p:nvPr/>
        </p:nvSpPr>
        <p:spPr>
          <a:xfrm>
            <a:off x="6382329" y="4416552"/>
            <a:ext cx="3017520" cy="274320"/>
          </a:xfrm>
          <a:prstGeom prst="rect">
            <a:avLst/>
          </a:prstGeom>
          <a:noFill/>
        </p:spPr>
        <p:txBody>
          <a:bodyPr wrap="square" lIns="0" tIns="0" rIns="0" bIns="0">
            <a:spAutoFit/>
          </a:bodyPr>
          <a:lstStyle/>
          <a:p>
            <a:pPr>
              <a:lnSpc>
                <a:spcPct val="105000"/>
              </a:lnSpc>
            </a:pPr>
            <a:r>
              <a:rPr sz="1200">
                <a:solidFill>
                  <a:srgbClr val="26301F"/>
                </a:solidFill>
                <a:latin typeface="Arial"/>
              </a:rPr>
              <a:t>US$1 billion</a:t>
            </a:r>
          </a:p>
        </p:txBody>
      </p:sp>
      <p:sp>
        <p:nvSpPr>
          <p:cNvPr id="49" name="TextBox 48"/>
          <p:cNvSpPr txBox="1"/>
          <p:nvPr/>
        </p:nvSpPr>
        <p:spPr>
          <a:xfrm>
            <a:off x="8945575" y="4014216"/>
            <a:ext cx="2606040" cy="329184"/>
          </a:xfrm>
          <a:prstGeom prst="rect">
            <a:avLst/>
          </a:prstGeom>
          <a:noFill/>
        </p:spPr>
        <p:txBody>
          <a:bodyPr wrap="square" lIns="0" tIns="0" rIns="0" bIns="0" anchor="ctr">
            <a:spAutoFit/>
          </a:bodyPr>
          <a:lstStyle/>
          <a:p>
            <a:pPr>
              <a:lnSpc>
                <a:spcPct val="105000"/>
              </a:lnSpc>
            </a:pPr>
            <a:r>
              <a:rPr sz="1500" b="1">
                <a:solidFill>
                  <a:srgbClr val="0C1408"/>
                </a:solidFill>
                <a:latin typeface="Arial"/>
              </a:rPr>
              <a:t>US$1.2 billion value</a:t>
            </a:r>
          </a:p>
        </p:txBody>
      </p:sp>
      <p:sp>
        <p:nvSpPr>
          <p:cNvPr id="50" name="TextBox 49"/>
          <p:cNvSpPr txBox="1"/>
          <p:nvPr/>
        </p:nvSpPr>
        <p:spPr>
          <a:xfrm>
            <a:off x="8945575" y="4352544"/>
            <a:ext cx="2606040" cy="457200"/>
          </a:xfrm>
          <a:prstGeom prst="rect">
            <a:avLst/>
          </a:prstGeom>
          <a:noFill/>
        </p:spPr>
        <p:txBody>
          <a:bodyPr wrap="square" lIns="0" tIns="0" rIns="0" bIns="0">
            <a:spAutoFit/>
          </a:bodyPr>
          <a:lstStyle/>
          <a:p>
            <a:pPr>
              <a:lnSpc>
                <a:spcPct val="102000"/>
              </a:lnSpc>
            </a:pPr>
            <a:r>
              <a:rPr sz="1250">
                <a:solidFill>
                  <a:srgbClr val="5F6B58"/>
                </a:solidFill>
                <a:latin typeface="Arial"/>
              </a:rPr>
              <a:t>reports payments to credit bureaus</a:t>
            </a:r>
          </a:p>
        </p:txBody>
      </p:sp>
      <p:sp>
        <p:nvSpPr>
          <p:cNvPr id="51" name="TextBox 50"/>
          <p:cNvSpPr txBox="1"/>
          <p:nvPr/>
        </p:nvSpPr>
        <p:spPr>
          <a:xfrm>
            <a:off x="640080" y="5440680"/>
            <a:ext cx="10911535" cy="365760"/>
          </a:xfrm>
          <a:prstGeom prst="rect">
            <a:avLst/>
          </a:prstGeom>
          <a:noFill/>
        </p:spPr>
        <p:txBody>
          <a:bodyPr wrap="square" lIns="0" tIns="0" rIns="0" bIns="0">
            <a:spAutoFit/>
          </a:bodyPr>
          <a:lstStyle/>
          <a:p>
            <a:pPr>
              <a:lnSpc>
                <a:spcPct val="105000"/>
              </a:lnSpc>
            </a:pPr>
            <a:r>
              <a:rPr sz="1700" b="1">
                <a:solidFill>
                  <a:srgbClr val="0C1408"/>
                </a:solidFill>
                <a:latin typeface="Arial"/>
              </a:rPr>
              <a:t>Each grew with a regulator, a bank or the credit bureaus behind it.</a:t>
            </a:r>
          </a:p>
        </p:txBody>
      </p:sp>
      <p:sp>
        <p:nvSpPr>
          <p:cNvPr id="52" name="TextBox 51"/>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Daily News Egypt, 20 Oct 2025   2  MENAbytes, 3 Sep 2020; Semafor, 3 Feb 2026   3  CNBC, 11 Dec 2025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DC72A"/>
          </a:solidFill>
          <a:ln>
            <a:noFill/>
          </a:ln>
        </p:spPr>
        <p:txBody>
          <a:bodyPr rtlCol="0" anchor="ctr"/>
          <a:lstStyle/>
          <a:p>
            <a:pPr algn="ctr"/>
          </a:p>
        </p:txBody>
      </p:sp>
      <p:sp>
        <p:nvSpPr>
          <p:cNvPr id="3" name="TextBox 2"/>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0C1408"/>
                </a:solidFill>
                <a:latin typeface="Georgia"/>
              </a:rPr>
              <a:t>Payments went digital, committee savings did not, and a wallet has already moved.</a:t>
            </a:r>
          </a:p>
        </p:txBody>
      </p:sp>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0C1408"/>
                </a:solidFill>
                <a:latin typeface="Arial"/>
              </a:rPr>
              <a:t>21</a:t>
            </a:r>
          </a:p>
        </p:txBody>
      </p:sp>
      <p:sp>
        <p:nvSpPr>
          <p:cNvPr id="5" name="TextBox 4"/>
          <p:cNvSpPr txBox="1"/>
          <p:nvPr/>
        </p:nvSpPr>
        <p:spPr>
          <a:xfrm>
            <a:off x="640080" y="1600200"/>
            <a:ext cx="5669280" cy="320040"/>
          </a:xfrm>
          <a:prstGeom prst="rect">
            <a:avLst/>
          </a:prstGeom>
          <a:noFill/>
        </p:spPr>
        <p:txBody>
          <a:bodyPr wrap="square" lIns="0" tIns="0" rIns="0" bIns="0">
            <a:spAutoFit/>
          </a:bodyPr>
          <a:lstStyle/>
          <a:p>
            <a:pPr>
              <a:lnSpc>
                <a:spcPct val="105000"/>
              </a:lnSpc>
            </a:pPr>
            <a:r>
              <a:rPr sz="1300" b="1">
                <a:solidFill>
                  <a:srgbClr val="0C1408"/>
                </a:solidFill>
                <a:latin typeface="Arial"/>
              </a:rPr>
              <a:t>Share of retail payments made digitally</a:t>
            </a:r>
          </a:p>
        </p:txBody>
      </p:sp>
      <p:graphicFrame>
        <p:nvGraphicFramePr>
          <p:cNvPr id="6" name="Chart 5"/>
          <p:cNvGraphicFramePr>
            <a:graphicFrameLocks noGrp="1"/>
          </p:cNvGraphicFramePr>
          <p:nvPr/>
        </p:nvGraphicFramePr>
        <p:xfrm>
          <a:off x="594360" y="1965960"/>
          <a:ext cx="5760720" cy="3566160"/>
        </p:xfrm>
        <a:graphic>
          <a:graphicData uri="http://schemas.openxmlformats.org/drawingml/2006/chart">
            <c:chart xmlns:c="http://schemas.openxmlformats.org/drawingml/2006/chart" r:id="rId2"/>
          </a:graphicData>
        </a:graphic>
      </p:graphicFrame>
      <p:sp>
        <p:nvSpPr>
          <p:cNvPr id="7" name="TextBox 6"/>
          <p:cNvSpPr txBox="1"/>
          <p:nvPr/>
        </p:nvSpPr>
        <p:spPr>
          <a:xfrm>
            <a:off x="6812280" y="1645920"/>
            <a:ext cx="4739335" cy="548640"/>
          </a:xfrm>
          <a:prstGeom prst="rect">
            <a:avLst/>
          </a:prstGeom>
          <a:noFill/>
        </p:spPr>
        <p:txBody>
          <a:bodyPr wrap="square" lIns="0" tIns="0" rIns="0" bIns="0">
            <a:spAutoFit/>
          </a:bodyPr>
          <a:lstStyle/>
          <a:p>
            <a:pPr>
              <a:lnSpc>
                <a:spcPct val="105000"/>
              </a:lnSpc>
            </a:pPr>
            <a:r>
              <a:rPr sz="2800">
                <a:solidFill>
                  <a:srgbClr val="0C1408"/>
                </a:solidFill>
                <a:latin typeface="Georgia"/>
              </a:rPr>
              <a:t>Aug 2026</a:t>
            </a:r>
          </a:p>
        </p:txBody>
      </p:sp>
      <p:sp>
        <p:nvSpPr>
          <p:cNvPr id="8" name="TextBox 7"/>
          <p:cNvSpPr txBox="1"/>
          <p:nvPr/>
        </p:nvSpPr>
        <p:spPr>
          <a:xfrm>
            <a:off x="6812280" y="2194560"/>
            <a:ext cx="4739335" cy="685800"/>
          </a:xfrm>
          <a:prstGeom prst="rect">
            <a:avLst/>
          </a:prstGeom>
          <a:noFill/>
        </p:spPr>
        <p:txBody>
          <a:bodyPr wrap="square" lIns="0" tIns="0" rIns="0" bIns="0">
            <a:spAutoFit/>
          </a:bodyPr>
          <a:lstStyle/>
          <a:p>
            <a:pPr>
              <a:lnSpc>
                <a:spcPct val="104000"/>
              </a:lnSpc>
            </a:pPr>
            <a:r>
              <a:rPr sz="1500">
                <a:solidFill>
                  <a:srgbClr val="0C1408"/>
                </a:solidFill>
                <a:latin typeface="Arial"/>
              </a:rPr>
              <a:t>JazzCash launched a committee feature, 60 million customers behind it</a:t>
            </a:r>
          </a:p>
        </p:txBody>
      </p:sp>
      <p:cxnSp>
        <p:nvCxnSpPr>
          <p:cNvPr id="9" name="Connector 8"/>
          <p:cNvCxnSpPr/>
          <p:nvPr/>
        </p:nvCxnSpPr>
        <p:spPr>
          <a:xfrm>
            <a:off x="6812280" y="2862072"/>
            <a:ext cx="4739335" cy="0"/>
          </a:xfrm>
          <a:prstGeom prst="line">
            <a:avLst/>
          </a:prstGeom>
          <a:ln w="6350">
            <a:solidFill>
              <a:srgbClr val="26301F"/>
            </a:solidFill>
          </a:ln>
        </p:spPr>
      </p:cxnSp>
      <p:sp>
        <p:nvSpPr>
          <p:cNvPr id="10" name="TextBox 9"/>
          <p:cNvSpPr txBox="1"/>
          <p:nvPr/>
        </p:nvSpPr>
        <p:spPr>
          <a:xfrm>
            <a:off x="6812280" y="2971800"/>
            <a:ext cx="4739335" cy="548640"/>
          </a:xfrm>
          <a:prstGeom prst="rect">
            <a:avLst/>
          </a:prstGeom>
          <a:noFill/>
        </p:spPr>
        <p:txBody>
          <a:bodyPr wrap="square" lIns="0" tIns="0" rIns="0" bIns="0">
            <a:spAutoFit/>
          </a:bodyPr>
          <a:lstStyle/>
          <a:p>
            <a:pPr>
              <a:lnSpc>
                <a:spcPct val="105000"/>
              </a:lnSpc>
            </a:pPr>
            <a:r>
              <a:rPr sz="2800">
                <a:solidFill>
                  <a:srgbClr val="0C1408"/>
                </a:solidFill>
                <a:latin typeface="Georgia"/>
              </a:rPr>
              <a:t>1 Jan 2028</a:t>
            </a:r>
          </a:p>
        </p:txBody>
      </p:sp>
      <p:sp>
        <p:nvSpPr>
          <p:cNvPr id="11" name="TextBox 10"/>
          <p:cNvSpPr txBox="1"/>
          <p:nvPr/>
        </p:nvSpPr>
        <p:spPr>
          <a:xfrm>
            <a:off x="6812280" y="3520440"/>
            <a:ext cx="4739335" cy="685800"/>
          </a:xfrm>
          <a:prstGeom prst="rect">
            <a:avLst/>
          </a:prstGeom>
          <a:noFill/>
        </p:spPr>
        <p:txBody>
          <a:bodyPr wrap="square" lIns="0" tIns="0" rIns="0" bIns="0">
            <a:spAutoFit/>
          </a:bodyPr>
          <a:lstStyle/>
          <a:p>
            <a:pPr>
              <a:lnSpc>
                <a:spcPct val="104000"/>
              </a:lnSpc>
            </a:pPr>
            <a:r>
              <a:rPr sz="1500">
                <a:solidFill>
                  <a:srgbClr val="0C1408"/>
                </a:solidFill>
                <a:latin typeface="Arial"/>
              </a:rPr>
              <a:t>the Constitution’s deadline to end riba</a:t>
            </a:r>
          </a:p>
        </p:txBody>
      </p:sp>
      <p:cxnSp>
        <p:nvCxnSpPr>
          <p:cNvPr id="12" name="Connector 11"/>
          <p:cNvCxnSpPr/>
          <p:nvPr/>
        </p:nvCxnSpPr>
        <p:spPr>
          <a:xfrm>
            <a:off x="6812280" y="4187952"/>
            <a:ext cx="4739335" cy="0"/>
          </a:xfrm>
          <a:prstGeom prst="line">
            <a:avLst/>
          </a:prstGeom>
          <a:ln w="6350">
            <a:solidFill>
              <a:srgbClr val="26301F"/>
            </a:solidFill>
          </a:ln>
        </p:spPr>
      </p:cxnSp>
      <p:sp>
        <p:nvSpPr>
          <p:cNvPr id="13" name="TextBox 12"/>
          <p:cNvSpPr txBox="1"/>
          <p:nvPr/>
        </p:nvSpPr>
        <p:spPr>
          <a:xfrm>
            <a:off x="6812280" y="4297680"/>
            <a:ext cx="4739335" cy="548640"/>
          </a:xfrm>
          <a:prstGeom prst="rect">
            <a:avLst/>
          </a:prstGeom>
          <a:noFill/>
        </p:spPr>
        <p:txBody>
          <a:bodyPr wrap="square" lIns="0" tIns="0" rIns="0" bIns="0">
            <a:spAutoFit/>
          </a:bodyPr>
          <a:lstStyle/>
          <a:p>
            <a:pPr>
              <a:lnSpc>
                <a:spcPct val="105000"/>
              </a:lnSpc>
            </a:pPr>
            <a:r>
              <a:rPr sz="2800">
                <a:solidFill>
                  <a:srgbClr val="0C1408"/>
                </a:solidFill>
                <a:latin typeface="Georgia"/>
              </a:rPr>
              <a:t>75% by 2028</a:t>
            </a:r>
          </a:p>
        </p:txBody>
      </p:sp>
      <p:sp>
        <p:nvSpPr>
          <p:cNvPr id="14" name="TextBox 13"/>
          <p:cNvSpPr txBox="1"/>
          <p:nvPr/>
        </p:nvSpPr>
        <p:spPr>
          <a:xfrm>
            <a:off x="6812280" y="4846320"/>
            <a:ext cx="4739335" cy="685800"/>
          </a:xfrm>
          <a:prstGeom prst="rect">
            <a:avLst/>
          </a:prstGeom>
          <a:noFill/>
        </p:spPr>
        <p:txBody>
          <a:bodyPr wrap="square" lIns="0" tIns="0" rIns="0" bIns="0">
            <a:spAutoFit/>
          </a:bodyPr>
          <a:lstStyle/>
          <a:p>
            <a:pPr>
              <a:lnSpc>
                <a:spcPct val="104000"/>
              </a:lnSpc>
            </a:pPr>
            <a:r>
              <a:rPr sz="1500">
                <a:solidFill>
                  <a:srgbClr val="0C1408"/>
                </a:solidFill>
                <a:latin typeface="Arial"/>
              </a:rPr>
              <a:t>the State Bank’s target for adults with an account, from 64%</a:t>
            </a:r>
          </a:p>
        </p:txBody>
      </p:sp>
      <p:sp>
        <p:nvSpPr>
          <p:cNvPr id="15" name="TextBox 14"/>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0C1408"/>
                </a:solidFill>
                <a:latin typeface="Arial"/>
              </a:rPr>
              <a:t>Sources   </a:t>
            </a:r>
            <a:r>
              <a:rPr sz="900">
                <a:solidFill>
                  <a:srgbClr val="26301F"/>
                </a:solidFill>
                <a:latin typeface="Arial"/>
              </a:rPr>
              <a:t>1  SBP payment systems reviews, FY25 and Q3 FY26   2  JazzCash release notes and results   3  SBP National Financial Inclusion Strategy 2024 to 2028   4  Constitution, Article 38(f), 26th Amendment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Regulation comes through Raqami, with Halqa as its service provider.</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22</a:t>
            </a:r>
          </a:p>
        </p:txBody>
      </p:sp>
      <p:sp>
        <p:nvSpPr>
          <p:cNvPr id="5" name="Rectangle 4"/>
          <p:cNvSpPr/>
          <p:nvPr/>
        </p:nvSpPr>
        <p:spPr>
          <a:xfrm>
            <a:off x="640080" y="1783080"/>
            <a:ext cx="5852160" cy="4114800"/>
          </a:xfrm>
          <a:prstGeom prst="rect">
            <a:avLst/>
          </a:prstGeom>
          <a:noFill/>
          <a:ln w="12700">
            <a:solidFill>
              <a:srgbClr val="5F6B58"/>
            </a:solidFill>
          </a:ln>
        </p:spPr>
        <p:txBody>
          <a:bodyPr rtlCol="0" anchor="ctr"/>
          <a:lstStyle/>
          <a:p>
            <a:pPr algn="ctr"/>
          </a:p>
        </p:txBody>
      </p:sp>
      <p:sp>
        <p:nvSpPr>
          <p:cNvPr id="6" name="TextBox 5"/>
          <p:cNvSpPr txBox="1"/>
          <p:nvPr/>
        </p:nvSpPr>
        <p:spPr>
          <a:xfrm>
            <a:off x="804672" y="1874520"/>
            <a:ext cx="5486400" cy="320040"/>
          </a:xfrm>
          <a:prstGeom prst="rect">
            <a:avLst/>
          </a:prstGeom>
          <a:noFill/>
        </p:spPr>
        <p:txBody>
          <a:bodyPr wrap="square" lIns="0" tIns="0" rIns="0" bIns="0">
            <a:spAutoFit/>
          </a:bodyPr>
          <a:lstStyle/>
          <a:p>
            <a:pPr>
              <a:lnSpc>
                <a:spcPct val="105000"/>
              </a:lnSpc>
            </a:pPr>
            <a:r>
              <a:rPr sz="1500" b="1">
                <a:solidFill>
                  <a:srgbClr val="0C1408"/>
                </a:solidFill>
                <a:latin typeface="Arial"/>
              </a:rPr>
              <a:t>State Bank of Pakistan</a:t>
            </a:r>
          </a:p>
        </p:txBody>
      </p:sp>
      <p:sp>
        <p:nvSpPr>
          <p:cNvPr id="7" name="Rectangle 6"/>
          <p:cNvSpPr/>
          <p:nvPr/>
        </p:nvSpPr>
        <p:spPr>
          <a:xfrm>
            <a:off x="960120" y="2350008"/>
            <a:ext cx="5212080" cy="3337560"/>
          </a:xfrm>
          <a:prstGeom prst="rect">
            <a:avLst/>
          </a:prstGeom>
          <a:noFill/>
          <a:ln w="19050">
            <a:solidFill>
              <a:srgbClr val="573F99"/>
            </a:solidFill>
          </a:ln>
        </p:spPr>
        <p:txBody>
          <a:bodyPr rtlCol="0" anchor="ctr"/>
          <a:lstStyle/>
          <a:p>
            <a:pPr algn="ctr"/>
          </a:p>
        </p:txBody>
      </p:sp>
      <p:sp>
        <p:nvSpPr>
          <p:cNvPr id="8" name="TextBox 7"/>
          <p:cNvSpPr txBox="1"/>
          <p:nvPr/>
        </p:nvSpPr>
        <p:spPr>
          <a:xfrm>
            <a:off x="1124712" y="2441448"/>
            <a:ext cx="4937760" cy="320040"/>
          </a:xfrm>
          <a:prstGeom prst="rect">
            <a:avLst/>
          </a:prstGeom>
          <a:noFill/>
        </p:spPr>
        <p:txBody>
          <a:bodyPr wrap="square" lIns="0" tIns="0" rIns="0" bIns="0">
            <a:spAutoFit/>
          </a:bodyPr>
          <a:lstStyle/>
          <a:p>
            <a:pPr>
              <a:lnSpc>
                <a:spcPct val="105000"/>
              </a:lnSpc>
            </a:pPr>
            <a:r>
              <a:rPr sz="1450" b="1">
                <a:solidFill>
                  <a:srgbClr val="573F99"/>
                </a:solidFill>
                <a:latin typeface="Arial"/>
              </a:rPr>
              <a:t>Raqami: licence, accounts, payments</a:t>
            </a:r>
          </a:p>
        </p:txBody>
      </p:sp>
      <p:sp>
        <p:nvSpPr>
          <p:cNvPr id="9" name="Rectangle 8"/>
          <p:cNvSpPr/>
          <p:nvPr/>
        </p:nvSpPr>
        <p:spPr>
          <a:xfrm>
            <a:off x="1188720" y="2880360"/>
            <a:ext cx="4754880" cy="457200"/>
          </a:xfrm>
          <a:prstGeom prst="rect">
            <a:avLst/>
          </a:prstGeom>
          <a:solidFill>
            <a:srgbClr val="E4DEF3"/>
          </a:solidFill>
          <a:ln w="12700">
            <a:solidFill>
              <a:srgbClr val="573F99"/>
            </a:solidFill>
          </a:ln>
        </p:spPr>
        <p:txBody>
          <a:bodyPr rtlCol="0" anchor="ctr" lIns="109728" tIns="82296" rIns="109728" bIns="82296" wrap="square"/>
          <a:lstStyle/>
          <a:p>
            <a:pPr>
              <a:lnSpc>
                <a:spcPct val="105000"/>
              </a:lnSpc>
            </a:pPr>
            <a:r>
              <a:rPr sz="1300" b="1">
                <a:solidFill>
                  <a:srgbClr val="573F99"/>
                </a:solidFill>
                <a:latin typeface="Arial"/>
              </a:rPr>
              <a:t>Shariah Board: approves each structure</a:t>
            </a:r>
          </a:p>
        </p:txBody>
      </p:sp>
      <p:sp>
        <p:nvSpPr>
          <p:cNvPr id="10" name="Rectangle 9"/>
          <p:cNvSpPr/>
          <p:nvPr/>
        </p:nvSpPr>
        <p:spPr>
          <a:xfrm>
            <a:off x="1188720" y="3474720"/>
            <a:ext cx="4754880" cy="1828800"/>
          </a:xfrm>
          <a:prstGeom prst="rect">
            <a:avLst/>
          </a:prstGeom>
          <a:solidFill>
            <a:srgbClr val="F3FCE7"/>
          </a:solidFill>
          <a:ln w="19050">
            <a:solidFill>
              <a:srgbClr val="41801A"/>
            </a:solidFill>
          </a:ln>
        </p:spPr>
        <p:txBody>
          <a:bodyPr rtlCol="0" anchor="ctr"/>
          <a:lstStyle/>
          <a:p>
            <a:pPr algn="ctr"/>
          </a:p>
        </p:txBody>
      </p:sp>
      <p:sp>
        <p:nvSpPr>
          <p:cNvPr id="11" name="TextBox 10"/>
          <p:cNvSpPr txBox="1"/>
          <p:nvPr/>
        </p:nvSpPr>
        <p:spPr>
          <a:xfrm>
            <a:off x="1353312" y="3602736"/>
            <a:ext cx="4480560" cy="320040"/>
          </a:xfrm>
          <a:prstGeom prst="rect">
            <a:avLst/>
          </a:prstGeom>
          <a:noFill/>
        </p:spPr>
        <p:txBody>
          <a:bodyPr wrap="square" lIns="0" tIns="0" rIns="0" bIns="0">
            <a:spAutoFit/>
          </a:bodyPr>
          <a:lstStyle/>
          <a:p>
            <a:pPr>
              <a:lnSpc>
                <a:spcPct val="105000"/>
              </a:lnSpc>
            </a:pPr>
            <a:r>
              <a:rPr sz="1450" b="1">
                <a:solidFill>
                  <a:srgbClr val="41801A"/>
                </a:solidFill>
                <a:latin typeface="Arial"/>
              </a:rPr>
              <a:t>Halqa: service provider</a:t>
            </a:r>
          </a:p>
        </p:txBody>
      </p:sp>
      <p:sp>
        <p:nvSpPr>
          <p:cNvPr id="12" name="TextBox 11"/>
          <p:cNvSpPr txBox="1"/>
          <p:nvPr/>
        </p:nvSpPr>
        <p:spPr>
          <a:xfrm>
            <a:off x="1353312" y="3977640"/>
            <a:ext cx="4480560" cy="320040"/>
          </a:xfrm>
          <a:prstGeom prst="rect">
            <a:avLst/>
          </a:prstGeom>
          <a:noFill/>
        </p:spPr>
        <p:txBody>
          <a:bodyPr wrap="square" lIns="0" tIns="0" rIns="0" bIns="0">
            <a:spAutoFit/>
          </a:bodyPr>
          <a:lstStyle/>
          <a:p>
            <a:pPr>
              <a:lnSpc>
                <a:spcPct val="105000"/>
              </a:lnSpc>
            </a:pPr>
            <a:r>
              <a:rPr sz="1400">
                <a:solidFill>
                  <a:srgbClr val="26301F"/>
                </a:solidFill>
                <a:latin typeface="Arial"/>
              </a:rPr>
              <a:t>rules, checks, application, records</a:t>
            </a:r>
          </a:p>
        </p:txBody>
      </p:sp>
      <p:sp>
        <p:nvSpPr>
          <p:cNvPr id="13" name="TextBox 12"/>
          <p:cNvSpPr txBox="1"/>
          <p:nvPr/>
        </p:nvSpPr>
        <p:spPr>
          <a:xfrm>
            <a:off x="1353312" y="4389120"/>
            <a:ext cx="4480560" cy="822960"/>
          </a:xfrm>
          <a:prstGeom prst="rect">
            <a:avLst/>
          </a:prstGeom>
          <a:noFill/>
        </p:spPr>
        <p:txBody>
          <a:bodyPr wrap="square" lIns="0" tIns="0" rIns="0" bIns="0">
            <a:spAutoFit/>
          </a:bodyPr>
          <a:lstStyle/>
          <a:p>
            <a:pPr>
              <a:lnSpc>
                <a:spcPct val="104000"/>
              </a:lnSpc>
            </a:pPr>
            <a:r>
              <a:rPr sz="1250">
                <a:solidFill>
                  <a:srgbClr val="5F6B58"/>
                </a:solidFill>
                <a:latin typeface="Arial"/>
              </a:rPr>
              <a:t>outsourcing framework: audit rights for Raqami and the State Bank</a:t>
            </a:r>
          </a:p>
        </p:txBody>
      </p:sp>
      <p:sp>
        <p:nvSpPr>
          <p:cNvPr id="14" name="TextBox 13"/>
          <p:cNvSpPr txBox="1"/>
          <p:nvPr/>
        </p:nvSpPr>
        <p:spPr>
          <a:xfrm>
            <a:off x="6995160" y="1783080"/>
            <a:ext cx="4556455" cy="1463040"/>
          </a:xfrm>
          <a:prstGeom prst="rect">
            <a:avLst/>
          </a:prstGeom>
          <a:noFill/>
        </p:spPr>
        <p:txBody>
          <a:bodyPr wrap="square" lIns="0" tIns="0" rIns="0" bIns="0">
            <a:spAutoFit/>
          </a:bodyPr>
          <a:lstStyle/>
          <a:p>
            <a:pPr>
              <a:lnSpc>
                <a:spcPct val="108000"/>
              </a:lnSpc>
            </a:pPr>
            <a:r>
              <a:rPr sz="1800">
                <a:solidFill>
                  <a:srgbClr val="0C1408"/>
                </a:solidFill>
                <a:latin typeface="Georgia"/>
              </a:rPr>
              <a:t>“... digital financial services especially to unserved and underserved segments of the society”</a:t>
            </a:r>
          </a:p>
        </p:txBody>
      </p:sp>
      <p:sp>
        <p:nvSpPr>
          <p:cNvPr id="15" name="TextBox 14"/>
          <p:cNvSpPr txBox="1"/>
          <p:nvPr/>
        </p:nvSpPr>
        <p:spPr>
          <a:xfrm>
            <a:off x="6995160" y="3291840"/>
            <a:ext cx="4556455" cy="457200"/>
          </a:xfrm>
          <a:prstGeom prst="rect">
            <a:avLst/>
          </a:prstGeom>
          <a:noFill/>
        </p:spPr>
        <p:txBody>
          <a:bodyPr wrap="square" lIns="0" tIns="0" rIns="0" bIns="0">
            <a:spAutoFit/>
          </a:bodyPr>
          <a:lstStyle/>
          <a:p>
            <a:pPr>
              <a:lnSpc>
                <a:spcPct val="103000"/>
              </a:lnSpc>
            </a:pPr>
            <a:r>
              <a:rPr sz="1150">
                <a:solidFill>
                  <a:srgbClr val="5F6B58"/>
                </a:solidFill>
                <a:latin typeface="Arial"/>
              </a:rPr>
              <a:t>State Bank, aims of the digital bank framework, 2022 [1]</a:t>
            </a:r>
          </a:p>
        </p:txBody>
      </p:sp>
      <p:cxnSp>
        <p:nvCxnSpPr>
          <p:cNvPr id="16" name="Connector 15"/>
          <p:cNvCxnSpPr/>
          <p:nvPr/>
        </p:nvCxnSpPr>
        <p:spPr>
          <a:xfrm>
            <a:off x="6995160" y="3931920"/>
            <a:ext cx="4556455" cy="0"/>
          </a:xfrm>
          <a:prstGeom prst="line">
            <a:avLst/>
          </a:prstGeom>
          <a:ln w="9525">
            <a:solidFill>
              <a:srgbClr val="CFD8C6"/>
            </a:solidFill>
          </a:ln>
        </p:spPr>
      </p:cxnSp>
      <p:sp>
        <p:nvSpPr>
          <p:cNvPr id="17" name="TextBox 16"/>
          <p:cNvSpPr txBox="1"/>
          <p:nvPr/>
        </p:nvSpPr>
        <p:spPr>
          <a:xfrm>
            <a:off x="6995160" y="4069080"/>
            <a:ext cx="4556455" cy="1097280"/>
          </a:xfrm>
          <a:prstGeom prst="rect">
            <a:avLst/>
          </a:prstGeom>
          <a:noFill/>
        </p:spPr>
        <p:txBody>
          <a:bodyPr wrap="square" lIns="0" tIns="0" rIns="0" bIns="0">
            <a:spAutoFit/>
          </a:bodyPr>
          <a:lstStyle/>
          <a:p>
            <a:pPr>
              <a:lnSpc>
                <a:spcPct val="104000"/>
              </a:lnSpc>
            </a:pPr>
            <a:r>
              <a:rPr sz="1600">
                <a:solidFill>
                  <a:srgbClr val="0C1408"/>
                </a:solidFill>
                <a:latin typeface="Arial"/>
              </a:rPr>
              <a:t>The product goes to the State Bank through Raqami.</a:t>
            </a:r>
          </a:p>
        </p:txBody>
      </p:sp>
      <p:sp>
        <p:nvSpPr>
          <p:cNvPr id="18" name="TextBox 17"/>
          <p:cNvSpPr txBox="1"/>
          <p:nvPr/>
        </p:nvSpPr>
        <p:spPr>
          <a:xfrm>
            <a:off x="640080" y="6272784"/>
            <a:ext cx="10180015" cy="274320"/>
          </a:xfrm>
          <a:prstGeom prst="rect">
            <a:avLst/>
          </a:prstGeom>
          <a:noFill/>
        </p:spPr>
        <p:txBody>
          <a:bodyPr wrap="square" lIns="0" tIns="0" rIns="0" bIns="0">
            <a:spAutoFit/>
          </a:bodyPr>
          <a:lstStyle/>
          <a:p>
            <a:pPr>
              <a:lnSpc>
                <a:spcPct val="100000"/>
              </a:lnSpc>
            </a:pPr>
            <a:r>
              <a:rPr sz="900" b="1">
                <a:solidFill>
                  <a:srgbClr val="41801A"/>
                </a:solidFill>
                <a:latin typeface="Arial"/>
              </a:rPr>
              <a:t>Sources   </a:t>
            </a:r>
            <a:r>
              <a:rPr sz="900">
                <a:solidFill>
                  <a:srgbClr val="5F6B58"/>
                </a:solidFill>
                <a:latin typeface="Arial"/>
              </a:rPr>
              <a:t>1  SBP BPRD Circular No. 01 of 2022   2  SBP Framework for Risk Management in Outsourcing Arrangements, 2017, revised 2019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The product is built; the company, the agreement and the connection come next.</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23</a:t>
            </a:r>
          </a:p>
        </p:txBody>
      </p:sp>
      <p:sp>
        <p:nvSpPr>
          <p:cNvPr id="5" name="Rectangle 4"/>
          <p:cNvSpPr/>
          <p:nvPr/>
        </p:nvSpPr>
        <p:spPr>
          <a:xfrm>
            <a:off x="640080" y="1783080"/>
            <a:ext cx="3423818" cy="128016"/>
          </a:xfrm>
          <a:prstGeom prst="rect">
            <a:avLst/>
          </a:prstGeom>
          <a:solidFill>
            <a:srgbClr val="41801A"/>
          </a:solidFill>
          <a:ln>
            <a:noFill/>
          </a:ln>
        </p:spPr>
        <p:txBody>
          <a:bodyPr rtlCol="0" anchor="ctr"/>
          <a:lstStyle/>
          <a:p>
            <a:pPr algn="ctr"/>
          </a:p>
        </p:txBody>
      </p:sp>
      <p:sp>
        <p:nvSpPr>
          <p:cNvPr id="6" name="TextBox 5"/>
          <p:cNvSpPr txBox="1"/>
          <p:nvPr/>
        </p:nvSpPr>
        <p:spPr>
          <a:xfrm>
            <a:off x="640080" y="2011680"/>
            <a:ext cx="3423818" cy="457200"/>
          </a:xfrm>
          <a:prstGeom prst="rect">
            <a:avLst/>
          </a:prstGeom>
          <a:noFill/>
        </p:spPr>
        <p:txBody>
          <a:bodyPr wrap="square" lIns="0" tIns="0" rIns="0" bIns="0">
            <a:spAutoFit/>
          </a:bodyPr>
          <a:lstStyle/>
          <a:p>
            <a:pPr>
              <a:lnSpc>
                <a:spcPct val="105000"/>
              </a:lnSpc>
            </a:pPr>
            <a:r>
              <a:rPr sz="2400">
                <a:solidFill>
                  <a:srgbClr val="41801A"/>
                </a:solidFill>
                <a:latin typeface="Georgia"/>
              </a:rPr>
              <a:t>Built</a:t>
            </a:r>
          </a:p>
        </p:txBody>
      </p:sp>
      <p:sp>
        <p:nvSpPr>
          <p:cNvPr id="7" name="TextBox 6"/>
          <p:cNvSpPr txBox="1"/>
          <p:nvPr/>
        </p:nvSpPr>
        <p:spPr>
          <a:xfrm>
            <a:off x="640080" y="269748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The app, in preview</a:t>
            </a:r>
          </a:p>
        </p:txBody>
      </p:sp>
      <p:cxnSp>
        <p:nvCxnSpPr>
          <p:cNvPr id="8" name="Connector 7"/>
          <p:cNvCxnSpPr/>
          <p:nvPr/>
        </p:nvCxnSpPr>
        <p:spPr>
          <a:xfrm>
            <a:off x="640080" y="3447288"/>
            <a:ext cx="3423818" cy="0"/>
          </a:xfrm>
          <a:prstGeom prst="line">
            <a:avLst/>
          </a:prstGeom>
          <a:ln w="9525">
            <a:solidFill>
              <a:srgbClr val="CFD8C6"/>
            </a:solidFill>
          </a:ln>
        </p:spPr>
      </p:cxnSp>
      <p:sp>
        <p:nvSpPr>
          <p:cNvPr id="9" name="TextBox 8"/>
          <p:cNvSpPr txBox="1"/>
          <p:nvPr/>
        </p:nvSpPr>
        <p:spPr>
          <a:xfrm>
            <a:off x="640080" y="352044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Identity, income and score checks</a:t>
            </a:r>
          </a:p>
        </p:txBody>
      </p:sp>
      <p:cxnSp>
        <p:nvCxnSpPr>
          <p:cNvPr id="10" name="Connector 9"/>
          <p:cNvCxnSpPr/>
          <p:nvPr/>
        </p:nvCxnSpPr>
        <p:spPr>
          <a:xfrm>
            <a:off x="640080" y="4270248"/>
            <a:ext cx="3423818" cy="0"/>
          </a:xfrm>
          <a:prstGeom prst="line">
            <a:avLst/>
          </a:prstGeom>
          <a:ln w="9525">
            <a:solidFill>
              <a:srgbClr val="CFD8C6"/>
            </a:solidFill>
          </a:ln>
        </p:spPr>
      </p:cxnSp>
      <p:sp>
        <p:nvSpPr>
          <p:cNvPr id="11" name="TextBox 10"/>
          <p:cNvSpPr txBox="1"/>
          <p:nvPr/>
        </p:nvSpPr>
        <p:spPr>
          <a:xfrm>
            <a:off x="640080" y="434340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Payday collection</a:t>
            </a:r>
          </a:p>
        </p:txBody>
      </p:sp>
      <p:cxnSp>
        <p:nvCxnSpPr>
          <p:cNvPr id="12" name="Connector 11"/>
          <p:cNvCxnSpPr/>
          <p:nvPr/>
        </p:nvCxnSpPr>
        <p:spPr>
          <a:xfrm>
            <a:off x="640080" y="5093208"/>
            <a:ext cx="3423818" cy="0"/>
          </a:xfrm>
          <a:prstGeom prst="line">
            <a:avLst/>
          </a:prstGeom>
          <a:ln w="9525">
            <a:solidFill>
              <a:srgbClr val="CFD8C6"/>
            </a:solidFill>
          </a:ln>
        </p:spPr>
      </p:cxnSp>
      <p:sp>
        <p:nvSpPr>
          <p:cNvPr id="13" name="Rectangle 12"/>
          <p:cNvSpPr/>
          <p:nvPr/>
        </p:nvSpPr>
        <p:spPr>
          <a:xfrm>
            <a:off x="4383938" y="1783080"/>
            <a:ext cx="3423818" cy="128016"/>
          </a:xfrm>
          <a:prstGeom prst="rect">
            <a:avLst/>
          </a:prstGeom>
          <a:solidFill>
            <a:srgbClr val="57A81E"/>
          </a:solidFill>
          <a:ln>
            <a:noFill/>
          </a:ln>
        </p:spPr>
        <p:txBody>
          <a:bodyPr rtlCol="0" anchor="ctr"/>
          <a:lstStyle/>
          <a:p>
            <a:pPr algn="ctr"/>
          </a:p>
        </p:txBody>
      </p:sp>
      <p:sp>
        <p:nvSpPr>
          <p:cNvPr id="14" name="TextBox 13"/>
          <p:cNvSpPr txBox="1"/>
          <p:nvPr/>
        </p:nvSpPr>
        <p:spPr>
          <a:xfrm>
            <a:off x="4383938" y="2011680"/>
            <a:ext cx="3423818" cy="457200"/>
          </a:xfrm>
          <a:prstGeom prst="rect">
            <a:avLst/>
          </a:prstGeom>
          <a:noFill/>
        </p:spPr>
        <p:txBody>
          <a:bodyPr wrap="square" lIns="0" tIns="0" rIns="0" bIns="0">
            <a:spAutoFit/>
          </a:bodyPr>
          <a:lstStyle/>
          <a:p>
            <a:pPr>
              <a:lnSpc>
                <a:spcPct val="105000"/>
              </a:lnSpc>
            </a:pPr>
            <a:r>
              <a:rPr sz="2400">
                <a:solidFill>
                  <a:srgbClr val="57A81E"/>
                </a:solidFill>
                <a:latin typeface="Georgia"/>
              </a:rPr>
              <a:t>Written</a:t>
            </a:r>
          </a:p>
        </p:txBody>
      </p:sp>
      <p:sp>
        <p:nvSpPr>
          <p:cNvPr id="15" name="TextBox 14"/>
          <p:cNvSpPr txBox="1"/>
          <p:nvPr/>
        </p:nvSpPr>
        <p:spPr>
          <a:xfrm>
            <a:off x="4383938" y="269748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Legal position: twelve laws</a:t>
            </a:r>
          </a:p>
        </p:txBody>
      </p:sp>
      <p:cxnSp>
        <p:nvCxnSpPr>
          <p:cNvPr id="16" name="Connector 15"/>
          <p:cNvCxnSpPr/>
          <p:nvPr/>
        </p:nvCxnSpPr>
        <p:spPr>
          <a:xfrm>
            <a:off x="4383938" y="3447288"/>
            <a:ext cx="3423819" cy="0"/>
          </a:xfrm>
          <a:prstGeom prst="line">
            <a:avLst/>
          </a:prstGeom>
          <a:ln w="9525">
            <a:solidFill>
              <a:srgbClr val="CFD8C6"/>
            </a:solidFill>
          </a:ln>
        </p:spPr>
      </p:cxnSp>
      <p:sp>
        <p:nvSpPr>
          <p:cNvPr id="17" name="TextBox 16"/>
          <p:cNvSpPr txBox="1"/>
          <p:nvPr/>
        </p:nvSpPr>
        <p:spPr>
          <a:xfrm>
            <a:off x="4383938" y="352044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Six risk and pricing models</a:t>
            </a:r>
          </a:p>
        </p:txBody>
      </p:sp>
      <p:cxnSp>
        <p:nvCxnSpPr>
          <p:cNvPr id="18" name="Connector 17"/>
          <p:cNvCxnSpPr/>
          <p:nvPr/>
        </p:nvCxnSpPr>
        <p:spPr>
          <a:xfrm>
            <a:off x="4383938" y="4270248"/>
            <a:ext cx="3423819" cy="0"/>
          </a:xfrm>
          <a:prstGeom prst="line">
            <a:avLst/>
          </a:prstGeom>
          <a:ln w="9525">
            <a:solidFill>
              <a:srgbClr val="CFD8C6"/>
            </a:solidFill>
          </a:ln>
        </p:spPr>
      </p:cxnSp>
      <p:sp>
        <p:nvSpPr>
          <p:cNvPr id="19" name="TextBox 18"/>
          <p:cNvSpPr txBox="1"/>
          <p:nvPr/>
        </p:nvSpPr>
        <p:spPr>
          <a:xfrm>
            <a:off x="4383938" y="434340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Prevention and recovery design</a:t>
            </a:r>
          </a:p>
        </p:txBody>
      </p:sp>
      <p:cxnSp>
        <p:nvCxnSpPr>
          <p:cNvPr id="20" name="Connector 19"/>
          <p:cNvCxnSpPr/>
          <p:nvPr/>
        </p:nvCxnSpPr>
        <p:spPr>
          <a:xfrm>
            <a:off x="4383938" y="5093208"/>
            <a:ext cx="3423819" cy="0"/>
          </a:xfrm>
          <a:prstGeom prst="line">
            <a:avLst/>
          </a:prstGeom>
          <a:ln w="9525">
            <a:solidFill>
              <a:srgbClr val="CFD8C6"/>
            </a:solidFill>
          </a:ln>
        </p:spPr>
      </p:cxnSp>
      <p:sp>
        <p:nvSpPr>
          <p:cNvPr id="21" name="Rectangle 20"/>
          <p:cNvSpPr/>
          <p:nvPr/>
        </p:nvSpPr>
        <p:spPr>
          <a:xfrm>
            <a:off x="8127797" y="1783080"/>
            <a:ext cx="3423818" cy="128016"/>
          </a:xfrm>
          <a:prstGeom prst="rect">
            <a:avLst/>
          </a:prstGeom>
          <a:solidFill>
            <a:srgbClr val="573F99"/>
          </a:solidFill>
          <a:ln>
            <a:noFill/>
          </a:ln>
        </p:spPr>
        <p:txBody>
          <a:bodyPr rtlCol="0" anchor="ctr"/>
          <a:lstStyle/>
          <a:p>
            <a:pPr algn="ctr"/>
          </a:p>
        </p:txBody>
      </p:sp>
      <p:sp>
        <p:nvSpPr>
          <p:cNvPr id="22" name="TextBox 21"/>
          <p:cNvSpPr txBox="1"/>
          <p:nvPr/>
        </p:nvSpPr>
        <p:spPr>
          <a:xfrm>
            <a:off x="8127797" y="2011680"/>
            <a:ext cx="3423818" cy="457200"/>
          </a:xfrm>
          <a:prstGeom prst="rect">
            <a:avLst/>
          </a:prstGeom>
          <a:noFill/>
        </p:spPr>
        <p:txBody>
          <a:bodyPr wrap="square" lIns="0" tIns="0" rIns="0" bIns="0">
            <a:spAutoFit/>
          </a:bodyPr>
          <a:lstStyle/>
          <a:p>
            <a:pPr>
              <a:lnSpc>
                <a:spcPct val="105000"/>
              </a:lnSpc>
            </a:pPr>
            <a:r>
              <a:rPr sz="2400">
                <a:solidFill>
                  <a:srgbClr val="573F99"/>
                </a:solidFill>
                <a:latin typeface="Georgia"/>
              </a:rPr>
              <a:t>Next</a:t>
            </a:r>
          </a:p>
        </p:txBody>
      </p:sp>
      <p:sp>
        <p:nvSpPr>
          <p:cNvPr id="23" name="TextBox 22"/>
          <p:cNvSpPr txBox="1"/>
          <p:nvPr/>
        </p:nvSpPr>
        <p:spPr>
          <a:xfrm>
            <a:off x="8127797" y="269748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Incorporation</a:t>
            </a:r>
          </a:p>
        </p:txBody>
      </p:sp>
      <p:cxnSp>
        <p:nvCxnSpPr>
          <p:cNvPr id="24" name="Connector 23"/>
          <p:cNvCxnSpPr/>
          <p:nvPr/>
        </p:nvCxnSpPr>
        <p:spPr>
          <a:xfrm>
            <a:off x="8127797" y="3447288"/>
            <a:ext cx="3423818" cy="0"/>
          </a:xfrm>
          <a:prstGeom prst="line">
            <a:avLst/>
          </a:prstGeom>
          <a:ln w="9525">
            <a:solidFill>
              <a:srgbClr val="CFD8C6"/>
            </a:solidFill>
          </a:ln>
        </p:spPr>
      </p:cxnSp>
      <p:sp>
        <p:nvSpPr>
          <p:cNvPr id="25" name="TextBox 24"/>
          <p:cNvSpPr txBox="1"/>
          <p:nvPr/>
        </p:nvSpPr>
        <p:spPr>
          <a:xfrm>
            <a:off x="8127797" y="352044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Agreement and State Bank path</a:t>
            </a:r>
          </a:p>
        </p:txBody>
      </p:sp>
      <p:cxnSp>
        <p:nvCxnSpPr>
          <p:cNvPr id="26" name="Connector 25"/>
          <p:cNvCxnSpPr/>
          <p:nvPr/>
        </p:nvCxnSpPr>
        <p:spPr>
          <a:xfrm>
            <a:off x="8127797" y="4270248"/>
            <a:ext cx="3423818" cy="0"/>
          </a:xfrm>
          <a:prstGeom prst="line">
            <a:avLst/>
          </a:prstGeom>
          <a:ln w="9525">
            <a:solidFill>
              <a:srgbClr val="CFD8C6"/>
            </a:solidFill>
          </a:ln>
        </p:spPr>
      </p:cxnSp>
      <p:sp>
        <p:nvSpPr>
          <p:cNvPr id="27" name="TextBox 26"/>
          <p:cNvSpPr txBox="1"/>
          <p:nvPr/>
        </p:nvSpPr>
        <p:spPr>
          <a:xfrm>
            <a:off x="8127797" y="4343400"/>
            <a:ext cx="3332378" cy="731520"/>
          </a:xfrm>
          <a:prstGeom prst="rect">
            <a:avLst/>
          </a:prstGeom>
          <a:noFill/>
        </p:spPr>
        <p:txBody>
          <a:bodyPr wrap="square" lIns="0" tIns="0" rIns="0" bIns="0" anchor="ctr">
            <a:spAutoFit/>
          </a:bodyPr>
          <a:lstStyle/>
          <a:p>
            <a:pPr>
              <a:lnSpc>
                <a:spcPct val="105000"/>
              </a:lnSpc>
            </a:pPr>
            <a:r>
              <a:rPr sz="1700">
                <a:solidFill>
                  <a:srgbClr val="0C1408"/>
                </a:solidFill>
                <a:latin typeface="Arial"/>
              </a:rPr>
              <a:t>Connection, then the pilot</a:t>
            </a:r>
          </a:p>
        </p:txBody>
      </p:sp>
      <p:cxnSp>
        <p:nvCxnSpPr>
          <p:cNvPr id="28" name="Connector 27"/>
          <p:cNvCxnSpPr/>
          <p:nvPr/>
        </p:nvCxnSpPr>
        <p:spPr>
          <a:xfrm>
            <a:off x="8127797" y="5093208"/>
            <a:ext cx="3423818" cy="0"/>
          </a:xfrm>
          <a:prstGeom prst="line">
            <a:avLst/>
          </a:prstGeom>
          <a:ln w="9525">
            <a:solidFill>
              <a:srgbClr val="CFD8C6"/>
            </a:solidFill>
          </a:ln>
        </p:spPr>
      </p:cxnSp>
      <p:sp>
        <p:nvSpPr>
          <p:cNvPr id="29" name="TextBox 28"/>
          <p:cNvSpPr txBox="1"/>
          <p:nvPr/>
        </p:nvSpPr>
        <p:spPr>
          <a:xfrm>
            <a:off x="640080" y="5486400"/>
            <a:ext cx="10911535" cy="365760"/>
          </a:xfrm>
          <a:prstGeom prst="rect">
            <a:avLst/>
          </a:prstGeom>
          <a:noFill/>
        </p:spPr>
        <p:txBody>
          <a:bodyPr wrap="square" lIns="0" tIns="0" rIns="0" bIns="0">
            <a:spAutoFit/>
          </a:bodyPr>
          <a:lstStyle/>
          <a:p>
            <a:pPr>
              <a:lnSpc>
                <a:spcPct val="105000"/>
              </a:lnSpc>
            </a:pPr>
            <a:r>
              <a:rPr sz="1500">
                <a:solidFill>
                  <a:srgbClr val="26301F"/>
                </a:solidFill>
                <a:latin typeface="Arial"/>
              </a:rPr>
              <a:t>No member money has moved: every payment today is a test record.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A 14 week plan ends in one live month with about 1,000 members.</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24</a:t>
            </a:r>
          </a:p>
        </p:txBody>
      </p:sp>
      <p:sp>
        <p:nvSpPr>
          <p:cNvPr id="5" name="TextBox 4"/>
          <p:cNvSpPr txBox="1"/>
          <p:nvPr/>
        </p:nvSpPr>
        <p:spPr>
          <a:xfrm>
            <a:off x="3474720"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1</a:t>
            </a:r>
          </a:p>
        </p:txBody>
      </p:sp>
      <p:sp>
        <p:nvSpPr>
          <p:cNvPr id="6" name="TextBox 5"/>
          <p:cNvSpPr txBox="1"/>
          <p:nvPr/>
        </p:nvSpPr>
        <p:spPr>
          <a:xfrm>
            <a:off x="4050792"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2</a:t>
            </a:r>
          </a:p>
        </p:txBody>
      </p:sp>
      <p:sp>
        <p:nvSpPr>
          <p:cNvPr id="7" name="TextBox 6"/>
          <p:cNvSpPr txBox="1"/>
          <p:nvPr/>
        </p:nvSpPr>
        <p:spPr>
          <a:xfrm>
            <a:off x="4626864"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3</a:t>
            </a:r>
          </a:p>
        </p:txBody>
      </p:sp>
      <p:sp>
        <p:nvSpPr>
          <p:cNvPr id="8" name="TextBox 7"/>
          <p:cNvSpPr txBox="1"/>
          <p:nvPr/>
        </p:nvSpPr>
        <p:spPr>
          <a:xfrm>
            <a:off x="5202936"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4</a:t>
            </a:r>
          </a:p>
        </p:txBody>
      </p:sp>
      <p:sp>
        <p:nvSpPr>
          <p:cNvPr id="9" name="TextBox 8"/>
          <p:cNvSpPr txBox="1"/>
          <p:nvPr/>
        </p:nvSpPr>
        <p:spPr>
          <a:xfrm>
            <a:off x="5779008"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5</a:t>
            </a:r>
          </a:p>
        </p:txBody>
      </p:sp>
      <p:sp>
        <p:nvSpPr>
          <p:cNvPr id="10" name="TextBox 9"/>
          <p:cNvSpPr txBox="1"/>
          <p:nvPr/>
        </p:nvSpPr>
        <p:spPr>
          <a:xfrm>
            <a:off x="6355080"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6</a:t>
            </a:r>
          </a:p>
        </p:txBody>
      </p:sp>
      <p:sp>
        <p:nvSpPr>
          <p:cNvPr id="11" name="TextBox 10"/>
          <p:cNvSpPr txBox="1"/>
          <p:nvPr/>
        </p:nvSpPr>
        <p:spPr>
          <a:xfrm>
            <a:off x="6931152"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7</a:t>
            </a:r>
          </a:p>
        </p:txBody>
      </p:sp>
      <p:sp>
        <p:nvSpPr>
          <p:cNvPr id="12" name="TextBox 11"/>
          <p:cNvSpPr txBox="1"/>
          <p:nvPr/>
        </p:nvSpPr>
        <p:spPr>
          <a:xfrm>
            <a:off x="7507224"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8</a:t>
            </a:r>
          </a:p>
        </p:txBody>
      </p:sp>
      <p:sp>
        <p:nvSpPr>
          <p:cNvPr id="13" name="TextBox 12"/>
          <p:cNvSpPr txBox="1"/>
          <p:nvPr/>
        </p:nvSpPr>
        <p:spPr>
          <a:xfrm>
            <a:off x="8083296"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9</a:t>
            </a:r>
          </a:p>
        </p:txBody>
      </p:sp>
      <p:sp>
        <p:nvSpPr>
          <p:cNvPr id="14" name="TextBox 13"/>
          <p:cNvSpPr txBox="1"/>
          <p:nvPr/>
        </p:nvSpPr>
        <p:spPr>
          <a:xfrm>
            <a:off x="8659368"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10</a:t>
            </a:r>
          </a:p>
        </p:txBody>
      </p:sp>
      <p:sp>
        <p:nvSpPr>
          <p:cNvPr id="15" name="TextBox 14"/>
          <p:cNvSpPr txBox="1"/>
          <p:nvPr/>
        </p:nvSpPr>
        <p:spPr>
          <a:xfrm>
            <a:off x="9235440"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11</a:t>
            </a:r>
          </a:p>
        </p:txBody>
      </p:sp>
      <p:sp>
        <p:nvSpPr>
          <p:cNvPr id="16" name="TextBox 15"/>
          <p:cNvSpPr txBox="1"/>
          <p:nvPr/>
        </p:nvSpPr>
        <p:spPr>
          <a:xfrm>
            <a:off x="9811512"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12</a:t>
            </a:r>
          </a:p>
        </p:txBody>
      </p:sp>
      <p:sp>
        <p:nvSpPr>
          <p:cNvPr id="17" name="TextBox 16"/>
          <p:cNvSpPr txBox="1"/>
          <p:nvPr/>
        </p:nvSpPr>
        <p:spPr>
          <a:xfrm>
            <a:off x="10387584"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13</a:t>
            </a:r>
          </a:p>
        </p:txBody>
      </p:sp>
      <p:sp>
        <p:nvSpPr>
          <p:cNvPr id="18" name="TextBox 17"/>
          <p:cNvSpPr txBox="1"/>
          <p:nvPr/>
        </p:nvSpPr>
        <p:spPr>
          <a:xfrm>
            <a:off x="10963656" y="1645920"/>
            <a:ext cx="576072" cy="274320"/>
          </a:xfrm>
          <a:prstGeom prst="rect">
            <a:avLst/>
          </a:prstGeom>
          <a:noFill/>
        </p:spPr>
        <p:txBody>
          <a:bodyPr wrap="square" lIns="0" tIns="0" rIns="0" bIns="0">
            <a:spAutoFit/>
          </a:bodyPr>
          <a:lstStyle/>
          <a:p>
            <a:pPr algn="ctr">
              <a:lnSpc>
                <a:spcPct val="105000"/>
              </a:lnSpc>
            </a:pPr>
            <a:r>
              <a:rPr sz="1150" b="1">
                <a:solidFill>
                  <a:srgbClr val="5F6B58"/>
                </a:solidFill>
                <a:latin typeface="Arial"/>
              </a:rPr>
              <a:t>14</a:t>
            </a:r>
          </a:p>
        </p:txBody>
      </p:sp>
      <p:sp>
        <p:nvSpPr>
          <p:cNvPr id="19" name="TextBox 18"/>
          <p:cNvSpPr txBox="1"/>
          <p:nvPr/>
        </p:nvSpPr>
        <p:spPr>
          <a:xfrm>
            <a:off x="640080" y="1645920"/>
            <a:ext cx="2697480" cy="274320"/>
          </a:xfrm>
          <a:prstGeom prst="rect">
            <a:avLst/>
          </a:prstGeom>
          <a:noFill/>
        </p:spPr>
        <p:txBody>
          <a:bodyPr wrap="square" lIns="0" tIns="0" rIns="0" bIns="0">
            <a:spAutoFit/>
          </a:bodyPr>
          <a:lstStyle/>
          <a:p>
            <a:pPr algn="r">
              <a:lnSpc>
                <a:spcPct val="105000"/>
              </a:lnSpc>
            </a:pPr>
            <a:r>
              <a:rPr sz="1150" b="1">
                <a:solidFill>
                  <a:srgbClr val="5F6B58"/>
                </a:solidFill>
                <a:latin typeface="Arial"/>
              </a:rPr>
              <a:t>Week</a:t>
            </a:r>
          </a:p>
        </p:txBody>
      </p:sp>
      <p:cxnSp>
        <p:nvCxnSpPr>
          <p:cNvPr id="20" name="Connector 19"/>
          <p:cNvCxnSpPr/>
          <p:nvPr/>
        </p:nvCxnSpPr>
        <p:spPr>
          <a:xfrm>
            <a:off x="3474720" y="1965960"/>
            <a:ext cx="0" cy="2834640"/>
          </a:xfrm>
          <a:prstGeom prst="line">
            <a:avLst/>
          </a:prstGeom>
          <a:ln w="9525">
            <a:solidFill>
              <a:srgbClr val="EEF2EA"/>
            </a:solidFill>
          </a:ln>
        </p:spPr>
      </p:cxnSp>
      <p:cxnSp>
        <p:nvCxnSpPr>
          <p:cNvPr id="21" name="Connector 20"/>
          <p:cNvCxnSpPr/>
          <p:nvPr/>
        </p:nvCxnSpPr>
        <p:spPr>
          <a:xfrm>
            <a:off x="4050792" y="1965960"/>
            <a:ext cx="0" cy="2834640"/>
          </a:xfrm>
          <a:prstGeom prst="line">
            <a:avLst/>
          </a:prstGeom>
          <a:ln w="9525">
            <a:solidFill>
              <a:srgbClr val="EEF2EA"/>
            </a:solidFill>
          </a:ln>
        </p:spPr>
      </p:cxnSp>
      <p:cxnSp>
        <p:nvCxnSpPr>
          <p:cNvPr id="22" name="Connector 21"/>
          <p:cNvCxnSpPr/>
          <p:nvPr/>
        </p:nvCxnSpPr>
        <p:spPr>
          <a:xfrm>
            <a:off x="4626864" y="1965960"/>
            <a:ext cx="0" cy="2834640"/>
          </a:xfrm>
          <a:prstGeom prst="line">
            <a:avLst/>
          </a:prstGeom>
          <a:ln w="9525">
            <a:solidFill>
              <a:srgbClr val="EEF2EA"/>
            </a:solidFill>
          </a:ln>
        </p:spPr>
      </p:cxnSp>
      <p:cxnSp>
        <p:nvCxnSpPr>
          <p:cNvPr id="23" name="Connector 22"/>
          <p:cNvCxnSpPr/>
          <p:nvPr/>
        </p:nvCxnSpPr>
        <p:spPr>
          <a:xfrm>
            <a:off x="5202936" y="1965960"/>
            <a:ext cx="0" cy="2834640"/>
          </a:xfrm>
          <a:prstGeom prst="line">
            <a:avLst/>
          </a:prstGeom>
          <a:ln w="9525">
            <a:solidFill>
              <a:srgbClr val="EEF2EA"/>
            </a:solidFill>
          </a:ln>
        </p:spPr>
      </p:cxnSp>
      <p:cxnSp>
        <p:nvCxnSpPr>
          <p:cNvPr id="24" name="Connector 23"/>
          <p:cNvCxnSpPr/>
          <p:nvPr/>
        </p:nvCxnSpPr>
        <p:spPr>
          <a:xfrm>
            <a:off x="5779008" y="1965960"/>
            <a:ext cx="0" cy="2834640"/>
          </a:xfrm>
          <a:prstGeom prst="line">
            <a:avLst/>
          </a:prstGeom>
          <a:ln w="9525">
            <a:solidFill>
              <a:srgbClr val="EEF2EA"/>
            </a:solidFill>
          </a:ln>
        </p:spPr>
      </p:cxnSp>
      <p:cxnSp>
        <p:nvCxnSpPr>
          <p:cNvPr id="25" name="Connector 24"/>
          <p:cNvCxnSpPr/>
          <p:nvPr/>
        </p:nvCxnSpPr>
        <p:spPr>
          <a:xfrm>
            <a:off x="6355080" y="1965960"/>
            <a:ext cx="0" cy="2834640"/>
          </a:xfrm>
          <a:prstGeom prst="line">
            <a:avLst/>
          </a:prstGeom>
          <a:ln w="9525">
            <a:solidFill>
              <a:srgbClr val="EEF2EA"/>
            </a:solidFill>
          </a:ln>
        </p:spPr>
      </p:cxnSp>
      <p:cxnSp>
        <p:nvCxnSpPr>
          <p:cNvPr id="26" name="Connector 25"/>
          <p:cNvCxnSpPr/>
          <p:nvPr/>
        </p:nvCxnSpPr>
        <p:spPr>
          <a:xfrm>
            <a:off x="6931152" y="1965960"/>
            <a:ext cx="0" cy="2834640"/>
          </a:xfrm>
          <a:prstGeom prst="line">
            <a:avLst/>
          </a:prstGeom>
          <a:ln w="9525">
            <a:solidFill>
              <a:srgbClr val="EEF2EA"/>
            </a:solidFill>
          </a:ln>
        </p:spPr>
      </p:cxnSp>
      <p:cxnSp>
        <p:nvCxnSpPr>
          <p:cNvPr id="27" name="Connector 26"/>
          <p:cNvCxnSpPr/>
          <p:nvPr/>
        </p:nvCxnSpPr>
        <p:spPr>
          <a:xfrm>
            <a:off x="7507224" y="1965960"/>
            <a:ext cx="0" cy="2834640"/>
          </a:xfrm>
          <a:prstGeom prst="line">
            <a:avLst/>
          </a:prstGeom>
          <a:ln w="9525">
            <a:solidFill>
              <a:srgbClr val="EEF2EA"/>
            </a:solidFill>
          </a:ln>
        </p:spPr>
      </p:cxnSp>
      <p:cxnSp>
        <p:nvCxnSpPr>
          <p:cNvPr id="28" name="Connector 27"/>
          <p:cNvCxnSpPr/>
          <p:nvPr/>
        </p:nvCxnSpPr>
        <p:spPr>
          <a:xfrm>
            <a:off x="8083296" y="1965960"/>
            <a:ext cx="0" cy="2834640"/>
          </a:xfrm>
          <a:prstGeom prst="line">
            <a:avLst/>
          </a:prstGeom>
          <a:ln w="9525">
            <a:solidFill>
              <a:srgbClr val="EEF2EA"/>
            </a:solidFill>
          </a:ln>
        </p:spPr>
      </p:cxnSp>
      <p:cxnSp>
        <p:nvCxnSpPr>
          <p:cNvPr id="29" name="Connector 28"/>
          <p:cNvCxnSpPr/>
          <p:nvPr/>
        </p:nvCxnSpPr>
        <p:spPr>
          <a:xfrm>
            <a:off x="8659368" y="1965960"/>
            <a:ext cx="0" cy="2834640"/>
          </a:xfrm>
          <a:prstGeom prst="line">
            <a:avLst/>
          </a:prstGeom>
          <a:ln w="9525">
            <a:solidFill>
              <a:srgbClr val="EEF2EA"/>
            </a:solidFill>
          </a:ln>
        </p:spPr>
      </p:cxnSp>
      <p:cxnSp>
        <p:nvCxnSpPr>
          <p:cNvPr id="30" name="Connector 29"/>
          <p:cNvCxnSpPr/>
          <p:nvPr/>
        </p:nvCxnSpPr>
        <p:spPr>
          <a:xfrm>
            <a:off x="9235440" y="1965960"/>
            <a:ext cx="0" cy="2834640"/>
          </a:xfrm>
          <a:prstGeom prst="line">
            <a:avLst/>
          </a:prstGeom>
          <a:ln w="9525">
            <a:solidFill>
              <a:srgbClr val="EEF2EA"/>
            </a:solidFill>
          </a:ln>
        </p:spPr>
      </p:cxnSp>
      <p:cxnSp>
        <p:nvCxnSpPr>
          <p:cNvPr id="31" name="Connector 30"/>
          <p:cNvCxnSpPr/>
          <p:nvPr/>
        </p:nvCxnSpPr>
        <p:spPr>
          <a:xfrm>
            <a:off x="9811512" y="1965960"/>
            <a:ext cx="0" cy="2834640"/>
          </a:xfrm>
          <a:prstGeom prst="line">
            <a:avLst/>
          </a:prstGeom>
          <a:ln w="9525">
            <a:solidFill>
              <a:srgbClr val="EEF2EA"/>
            </a:solidFill>
          </a:ln>
        </p:spPr>
      </p:cxnSp>
      <p:cxnSp>
        <p:nvCxnSpPr>
          <p:cNvPr id="32" name="Connector 31"/>
          <p:cNvCxnSpPr/>
          <p:nvPr/>
        </p:nvCxnSpPr>
        <p:spPr>
          <a:xfrm>
            <a:off x="10387584" y="1965960"/>
            <a:ext cx="0" cy="2834640"/>
          </a:xfrm>
          <a:prstGeom prst="line">
            <a:avLst/>
          </a:prstGeom>
          <a:ln w="9525">
            <a:solidFill>
              <a:srgbClr val="EEF2EA"/>
            </a:solidFill>
          </a:ln>
        </p:spPr>
      </p:cxnSp>
      <p:cxnSp>
        <p:nvCxnSpPr>
          <p:cNvPr id="33" name="Connector 32"/>
          <p:cNvCxnSpPr/>
          <p:nvPr/>
        </p:nvCxnSpPr>
        <p:spPr>
          <a:xfrm>
            <a:off x="10963656" y="1965960"/>
            <a:ext cx="0" cy="2834640"/>
          </a:xfrm>
          <a:prstGeom prst="line">
            <a:avLst/>
          </a:prstGeom>
          <a:ln w="9525">
            <a:solidFill>
              <a:srgbClr val="EEF2EA"/>
            </a:solidFill>
          </a:ln>
        </p:spPr>
      </p:cxnSp>
      <p:cxnSp>
        <p:nvCxnSpPr>
          <p:cNvPr id="34" name="Connector 33"/>
          <p:cNvCxnSpPr/>
          <p:nvPr/>
        </p:nvCxnSpPr>
        <p:spPr>
          <a:xfrm>
            <a:off x="11539728" y="1965960"/>
            <a:ext cx="0" cy="2834640"/>
          </a:xfrm>
          <a:prstGeom prst="line">
            <a:avLst/>
          </a:prstGeom>
          <a:ln w="9525">
            <a:solidFill>
              <a:srgbClr val="EEF2EA"/>
            </a:solidFill>
          </a:ln>
        </p:spPr>
      </p:cxnSp>
      <p:sp>
        <p:nvSpPr>
          <p:cNvPr id="35" name="TextBox 34"/>
          <p:cNvSpPr txBox="1"/>
          <p:nvPr/>
        </p:nvSpPr>
        <p:spPr>
          <a:xfrm>
            <a:off x="640080" y="2011680"/>
            <a:ext cx="2697480" cy="402336"/>
          </a:xfrm>
          <a:prstGeom prst="rect">
            <a:avLst/>
          </a:prstGeom>
          <a:noFill/>
        </p:spPr>
        <p:txBody>
          <a:bodyPr wrap="square" lIns="0" tIns="0" rIns="0" bIns="0" anchor="ctr">
            <a:spAutoFit/>
          </a:bodyPr>
          <a:lstStyle/>
          <a:p>
            <a:pPr algn="r">
              <a:lnSpc>
                <a:spcPct val="105000"/>
              </a:lnSpc>
            </a:pPr>
            <a:r>
              <a:rPr sz="1450">
                <a:solidFill>
                  <a:srgbClr val="0C1408"/>
                </a:solidFill>
                <a:latin typeface="Arial"/>
              </a:rPr>
              <a:t>Agreement</a:t>
            </a:r>
          </a:p>
        </p:txBody>
      </p:sp>
      <p:sp>
        <p:nvSpPr>
          <p:cNvPr id="36" name="Rectangle 35"/>
          <p:cNvSpPr/>
          <p:nvPr/>
        </p:nvSpPr>
        <p:spPr>
          <a:xfrm>
            <a:off x="3502152" y="2075688"/>
            <a:ext cx="2249424" cy="292608"/>
          </a:xfrm>
          <a:prstGeom prst="rect">
            <a:avLst/>
          </a:prstGeom>
          <a:solidFill>
            <a:srgbClr val="41801A"/>
          </a:solidFill>
          <a:ln>
            <a:noFill/>
          </a:ln>
        </p:spPr>
        <p:txBody>
          <a:bodyPr rtlCol="0" anchor="ctr"/>
          <a:lstStyle/>
          <a:p>
            <a:pPr algn="ctr"/>
          </a:p>
        </p:txBody>
      </p:sp>
      <p:sp>
        <p:nvSpPr>
          <p:cNvPr id="37" name="TextBox 36"/>
          <p:cNvSpPr txBox="1"/>
          <p:nvPr/>
        </p:nvSpPr>
        <p:spPr>
          <a:xfrm>
            <a:off x="640080" y="2468880"/>
            <a:ext cx="2697480" cy="402336"/>
          </a:xfrm>
          <a:prstGeom prst="rect">
            <a:avLst/>
          </a:prstGeom>
          <a:noFill/>
        </p:spPr>
        <p:txBody>
          <a:bodyPr wrap="square" lIns="0" tIns="0" rIns="0" bIns="0" anchor="ctr">
            <a:spAutoFit/>
          </a:bodyPr>
          <a:lstStyle/>
          <a:p>
            <a:pPr algn="r">
              <a:lnSpc>
                <a:spcPct val="105000"/>
              </a:lnSpc>
            </a:pPr>
            <a:r>
              <a:rPr sz="1450">
                <a:solidFill>
                  <a:srgbClr val="0C1408"/>
                </a:solidFill>
                <a:latin typeface="Arial"/>
              </a:rPr>
              <a:t>Approvals</a:t>
            </a:r>
          </a:p>
        </p:txBody>
      </p:sp>
      <p:sp>
        <p:nvSpPr>
          <p:cNvPr id="38" name="Rectangle 37"/>
          <p:cNvSpPr/>
          <p:nvPr/>
        </p:nvSpPr>
        <p:spPr>
          <a:xfrm>
            <a:off x="3502152" y="2532888"/>
            <a:ext cx="4553712" cy="292608"/>
          </a:xfrm>
          <a:prstGeom prst="rect">
            <a:avLst/>
          </a:prstGeom>
          <a:solidFill>
            <a:srgbClr val="41801A"/>
          </a:solidFill>
          <a:ln>
            <a:noFill/>
          </a:ln>
        </p:spPr>
        <p:txBody>
          <a:bodyPr rtlCol="0" anchor="ctr"/>
          <a:lstStyle/>
          <a:p>
            <a:pPr algn="ctr"/>
          </a:p>
        </p:txBody>
      </p:sp>
      <p:sp>
        <p:nvSpPr>
          <p:cNvPr id="39" name="TextBox 38"/>
          <p:cNvSpPr txBox="1"/>
          <p:nvPr/>
        </p:nvSpPr>
        <p:spPr>
          <a:xfrm>
            <a:off x="640080" y="2926080"/>
            <a:ext cx="2697480" cy="402336"/>
          </a:xfrm>
          <a:prstGeom prst="rect">
            <a:avLst/>
          </a:prstGeom>
          <a:noFill/>
        </p:spPr>
        <p:txBody>
          <a:bodyPr wrap="square" lIns="0" tIns="0" rIns="0" bIns="0" anchor="ctr">
            <a:spAutoFit/>
          </a:bodyPr>
          <a:lstStyle/>
          <a:p>
            <a:pPr algn="r">
              <a:lnSpc>
                <a:spcPct val="105000"/>
              </a:lnSpc>
            </a:pPr>
            <a:r>
              <a:rPr sz="1450">
                <a:solidFill>
                  <a:srgbClr val="0C1408"/>
                </a:solidFill>
                <a:latin typeface="Arial"/>
              </a:rPr>
              <a:t>Connection and tests</a:t>
            </a:r>
          </a:p>
        </p:txBody>
      </p:sp>
      <p:sp>
        <p:nvSpPr>
          <p:cNvPr id="40" name="Rectangle 39"/>
          <p:cNvSpPr/>
          <p:nvPr/>
        </p:nvSpPr>
        <p:spPr>
          <a:xfrm>
            <a:off x="5230368" y="2990088"/>
            <a:ext cx="2825496" cy="292608"/>
          </a:xfrm>
          <a:prstGeom prst="rect">
            <a:avLst/>
          </a:prstGeom>
          <a:solidFill>
            <a:srgbClr val="6DC72A"/>
          </a:solidFill>
          <a:ln>
            <a:noFill/>
          </a:ln>
        </p:spPr>
        <p:txBody>
          <a:bodyPr rtlCol="0" anchor="ctr"/>
          <a:lstStyle/>
          <a:p>
            <a:pPr algn="ctr"/>
          </a:p>
        </p:txBody>
      </p:sp>
      <p:sp>
        <p:nvSpPr>
          <p:cNvPr id="41" name="TextBox 40"/>
          <p:cNvSpPr txBox="1"/>
          <p:nvPr/>
        </p:nvSpPr>
        <p:spPr>
          <a:xfrm>
            <a:off x="640080" y="3383280"/>
            <a:ext cx="2697480" cy="402336"/>
          </a:xfrm>
          <a:prstGeom prst="rect">
            <a:avLst/>
          </a:prstGeom>
          <a:noFill/>
        </p:spPr>
        <p:txBody>
          <a:bodyPr wrap="square" lIns="0" tIns="0" rIns="0" bIns="0" anchor="ctr">
            <a:spAutoFit/>
          </a:bodyPr>
          <a:lstStyle/>
          <a:p>
            <a:pPr algn="r">
              <a:lnSpc>
                <a:spcPct val="105000"/>
              </a:lnSpc>
            </a:pPr>
            <a:r>
              <a:rPr sz="1450">
                <a:solidFill>
                  <a:srgbClr val="0C1408"/>
                </a:solidFill>
                <a:latin typeface="Arial"/>
              </a:rPr>
              <a:t>Live month</a:t>
            </a:r>
          </a:p>
        </p:txBody>
      </p:sp>
      <p:sp>
        <p:nvSpPr>
          <p:cNvPr id="42" name="Rectangle 41"/>
          <p:cNvSpPr/>
          <p:nvPr/>
        </p:nvSpPr>
        <p:spPr>
          <a:xfrm>
            <a:off x="8110728" y="3447288"/>
            <a:ext cx="2249424" cy="292608"/>
          </a:xfrm>
          <a:prstGeom prst="rect">
            <a:avLst/>
          </a:prstGeom>
          <a:solidFill>
            <a:srgbClr val="6DC72A"/>
          </a:solidFill>
          <a:ln>
            <a:noFill/>
          </a:ln>
        </p:spPr>
        <p:txBody>
          <a:bodyPr rtlCol="0" anchor="ctr"/>
          <a:lstStyle/>
          <a:p>
            <a:pPr algn="ctr"/>
          </a:p>
        </p:txBody>
      </p:sp>
      <p:sp>
        <p:nvSpPr>
          <p:cNvPr id="43" name="TextBox 42"/>
          <p:cNvSpPr txBox="1"/>
          <p:nvPr/>
        </p:nvSpPr>
        <p:spPr>
          <a:xfrm>
            <a:off x="640080" y="3840480"/>
            <a:ext cx="2697480" cy="402336"/>
          </a:xfrm>
          <a:prstGeom prst="rect">
            <a:avLst/>
          </a:prstGeom>
          <a:noFill/>
        </p:spPr>
        <p:txBody>
          <a:bodyPr wrap="square" lIns="0" tIns="0" rIns="0" bIns="0" anchor="ctr">
            <a:spAutoFit/>
          </a:bodyPr>
          <a:lstStyle/>
          <a:p>
            <a:pPr algn="r">
              <a:lnSpc>
                <a:spcPct val="105000"/>
              </a:lnSpc>
            </a:pPr>
            <a:r>
              <a:rPr sz="1450">
                <a:solidFill>
                  <a:srgbClr val="0C1408"/>
                </a:solidFill>
                <a:latin typeface="Arial"/>
              </a:rPr>
              <a:t>Review</a:t>
            </a:r>
          </a:p>
        </p:txBody>
      </p:sp>
      <p:sp>
        <p:nvSpPr>
          <p:cNvPr id="44" name="Rectangle 43"/>
          <p:cNvSpPr/>
          <p:nvPr/>
        </p:nvSpPr>
        <p:spPr>
          <a:xfrm>
            <a:off x="10415016" y="3904488"/>
            <a:ext cx="521208" cy="292608"/>
          </a:xfrm>
          <a:prstGeom prst="rect">
            <a:avLst/>
          </a:prstGeom>
          <a:solidFill>
            <a:srgbClr val="D9A21B"/>
          </a:solidFill>
          <a:ln>
            <a:noFill/>
          </a:ln>
        </p:spPr>
        <p:txBody>
          <a:bodyPr rtlCol="0" anchor="ctr"/>
          <a:lstStyle/>
          <a:p>
            <a:pPr algn="ctr"/>
          </a:p>
        </p:txBody>
      </p:sp>
      <p:sp>
        <p:nvSpPr>
          <p:cNvPr id="45" name="TextBox 44"/>
          <p:cNvSpPr txBox="1"/>
          <p:nvPr/>
        </p:nvSpPr>
        <p:spPr>
          <a:xfrm>
            <a:off x="640080" y="4297680"/>
            <a:ext cx="2697480" cy="402336"/>
          </a:xfrm>
          <a:prstGeom prst="rect">
            <a:avLst/>
          </a:prstGeom>
          <a:noFill/>
        </p:spPr>
        <p:txBody>
          <a:bodyPr wrap="square" lIns="0" tIns="0" rIns="0" bIns="0" anchor="ctr">
            <a:spAutoFit/>
          </a:bodyPr>
          <a:lstStyle/>
          <a:p>
            <a:pPr algn="r">
              <a:lnSpc>
                <a:spcPct val="105000"/>
              </a:lnSpc>
            </a:pPr>
            <a:r>
              <a:rPr sz="1450">
                <a:solidFill>
                  <a:srgbClr val="0C1408"/>
                </a:solidFill>
                <a:latin typeface="Arial"/>
              </a:rPr>
              <a:t>Scale decision</a:t>
            </a:r>
          </a:p>
        </p:txBody>
      </p:sp>
      <p:sp>
        <p:nvSpPr>
          <p:cNvPr id="46" name="Rectangle 45"/>
          <p:cNvSpPr/>
          <p:nvPr/>
        </p:nvSpPr>
        <p:spPr>
          <a:xfrm>
            <a:off x="10991088" y="4361688"/>
            <a:ext cx="521208" cy="292608"/>
          </a:xfrm>
          <a:prstGeom prst="rect">
            <a:avLst/>
          </a:prstGeom>
          <a:solidFill>
            <a:srgbClr val="573F99"/>
          </a:solidFill>
          <a:ln>
            <a:noFill/>
          </a:ln>
        </p:spPr>
        <p:txBody>
          <a:bodyPr rtlCol="0" anchor="ctr"/>
          <a:lstStyle/>
          <a:p>
            <a:pPr algn="ctr"/>
          </a:p>
        </p:txBody>
      </p:sp>
      <p:sp>
        <p:nvSpPr>
          <p:cNvPr id="47" name="TextBox 46"/>
          <p:cNvSpPr txBox="1"/>
          <p:nvPr/>
        </p:nvSpPr>
        <p:spPr>
          <a:xfrm>
            <a:off x="640080" y="4983480"/>
            <a:ext cx="2743200" cy="274320"/>
          </a:xfrm>
          <a:prstGeom prst="rect">
            <a:avLst/>
          </a:prstGeom>
          <a:noFill/>
        </p:spPr>
        <p:txBody>
          <a:bodyPr wrap="square" lIns="0" tIns="0" rIns="0" bIns="0">
            <a:spAutoFit/>
          </a:bodyPr>
          <a:lstStyle/>
          <a:p>
            <a:pPr>
              <a:lnSpc>
                <a:spcPct val="105000"/>
              </a:lnSpc>
            </a:pPr>
            <a:r>
              <a:rPr sz="1350" b="1">
                <a:solidFill>
                  <a:srgbClr val="41801A"/>
                </a:solidFill>
                <a:latin typeface="Arial"/>
              </a:rPr>
              <a:t>Proposed pass marks</a:t>
            </a:r>
          </a:p>
        </p:txBody>
      </p:sp>
      <p:sp>
        <p:nvSpPr>
          <p:cNvPr id="48" name="TextBox 47"/>
          <p:cNvSpPr txBox="1"/>
          <p:nvPr/>
        </p:nvSpPr>
        <p:spPr>
          <a:xfrm>
            <a:off x="3474720" y="4873752"/>
            <a:ext cx="2509418" cy="457200"/>
          </a:xfrm>
          <a:prstGeom prst="rect">
            <a:avLst/>
          </a:prstGeom>
          <a:noFill/>
        </p:spPr>
        <p:txBody>
          <a:bodyPr wrap="square" lIns="0" tIns="0" rIns="0" bIns="0">
            <a:spAutoFit/>
          </a:bodyPr>
          <a:lstStyle/>
          <a:p>
            <a:pPr>
              <a:lnSpc>
                <a:spcPct val="105000"/>
              </a:lnSpc>
            </a:pPr>
            <a:r>
              <a:rPr sz="2600">
                <a:solidFill>
                  <a:srgbClr val="0C1408"/>
                </a:solidFill>
                <a:latin typeface="Georgia"/>
              </a:rPr>
              <a:t>95%</a:t>
            </a:r>
          </a:p>
        </p:txBody>
      </p:sp>
      <p:sp>
        <p:nvSpPr>
          <p:cNvPr id="49" name="TextBox 48"/>
          <p:cNvSpPr txBox="1"/>
          <p:nvPr/>
        </p:nvSpPr>
        <p:spPr>
          <a:xfrm>
            <a:off x="3474720" y="5394960"/>
            <a:ext cx="2509418" cy="548640"/>
          </a:xfrm>
          <a:prstGeom prst="rect">
            <a:avLst/>
          </a:prstGeom>
          <a:noFill/>
        </p:spPr>
        <p:txBody>
          <a:bodyPr wrap="square" lIns="0" tIns="0" rIns="0" bIns="0">
            <a:spAutoFit/>
          </a:bodyPr>
          <a:lstStyle/>
          <a:p>
            <a:pPr>
              <a:lnSpc>
                <a:spcPct val="103000"/>
              </a:lnSpc>
            </a:pPr>
            <a:r>
              <a:rPr sz="1350">
                <a:solidFill>
                  <a:srgbClr val="26301F"/>
                </a:solidFill>
                <a:latin typeface="Arial"/>
              </a:rPr>
              <a:t>instalments collected on time</a:t>
            </a:r>
          </a:p>
        </p:txBody>
      </p:sp>
      <p:sp>
        <p:nvSpPr>
          <p:cNvPr id="50" name="TextBox 49"/>
          <p:cNvSpPr txBox="1"/>
          <p:nvPr/>
        </p:nvSpPr>
        <p:spPr>
          <a:xfrm>
            <a:off x="6167018" y="4873752"/>
            <a:ext cx="2509418" cy="457200"/>
          </a:xfrm>
          <a:prstGeom prst="rect">
            <a:avLst/>
          </a:prstGeom>
          <a:noFill/>
        </p:spPr>
        <p:txBody>
          <a:bodyPr wrap="square" lIns="0" tIns="0" rIns="0" bIns="0">
            <a:spAutoFit/>
          </a:bodyPr>
          <a:lstStyle/>
          <a:p>
            <a:pPr>
              <a:lnSpc>
                <a:spcPct val="105000"/>
              </a:lnSpc>
            </a:pPr>
            <a:r>
              <a:rPr sz="2600">
                <a:solidFill>
                  <a:srgbClr val="0C1408"/>
                </a:solidFill>
                <a:latin typeface="Georgia"/>
              </a:rPr>
              <a:t>100%</a:t>
            </a:r>
          </a:p>
        </p:txBody>
      </p:sp>
      <p:sp>
        <p:nvSpPr>
          <p:cNvPr id="51" name="TextBox 50"/>
          <p:cNvSpPr txBox="1"/>
          <p:nvPr/>
        </p:nvSpPr>
        <p:spPr>
          <a:xfrm>
            <a:off x="6167018" y="5394960"/>
            <a:ext cx="2509418" cy="548640"/>
          </a:xfrm>
          <a:prstGeom prst="rect">
            <a:avLst/>
          </a:prstGeom>
          <a:noFill/>
        </p:spPr>
        <p:txBody>
          <a:bodyPr wrap="square" lIns="0" tIns="0" rIns="0" bIns="0">
            <a:spAutoFit/>
          </a:bodyPr>
          <a:lstStyle/>
          <a:p>
            <a:pPr>
              <a:lnSpc>
                <a:spcPct val="103000"/>
              </a:lnSpc>
            </a:pPr>
            <a:r>
              <a:rPr sz="1350">
                <a:solidFill>
                  <a:srgbClr val="26301F"/>
                </a:solidFill>
                <a:latin typeface="Arial"/>
              </a:rPr>
              <a:t>pots paid out the same day</a:t>
            </a:r>
          </a:p>
        </p:txBody>
      </p:sp>
      <p:sp>
        <p:nvSpPr>
          <p:cNvPr id="52" name="TextBox 51"/>
          <p:cNvSpPr txBox="1"/>
          <p:nvPr/>
        </p:nvSpPr>
        <p:spPr>
          <a:xfrm>
            <a:off x="8859317" y="4873752"/>
            <a:ext cx="2509418" cy="457200"/>
          </a:xfrm>
          <a:prstGeom prst="rect">
            <a:avLst/>
          </a:prstGeom>
          <a:noFill/>
        </p:spPr>
        <p:txBody>
          <a:bodyPr wrap="square" lIns="0" tIns="0" rIns="0" bIns="0">
            <a:spAutoFit/>
          </a:bodyPr>
          <a:lstStyle/>
          <a:p>
            <a:pPr>
              <a:lnSpc>
                <a:spcPct val="105000"/>
              </a:lnSpc>
            </a:pPr>
            <a:r>
              <a:rPr sz="2600">
                <a:solidFill>
                  <a:srgbClr val="0C1408"/>
                </a:solidFill>
                <a:latin typeface="Georgia"/>
              </a:rPr>
              <a:t>Under 1%</a:t>
            </a:r>
          </a:p>
        </p:txBody>
      </p:sp>
      <p:sp>
        <p:nvSpPr>
          <p:cNvPr id="53" name="TextBox 52"/>
          <p:cNvSpPr txBox="1"/>
          <p:nvPr/>
        </p:nvSpPr>
        <p:spPr>
          <a:xfrm>
            <a:off x="8859317" y="5394960"/>
            <a:ext cx="2509418" cy="548640"/>
          </a:xfrm>
          <a:prstGeom prst="rect">
            <a:avLst/>
          </a:prstGeom>
          <a:noFill/>
        </p:spPr>
        <p:txBody>
          <a:bodyPr wrap="square" lIns="0" tIns="0" rIns="0" bIns="0">
            <a:spAutoFit/>
          </a:bodyPr>
          <a:lstStyle/>
          <a:p>
            <a:pPr>
              <a:lnSpc>
                <a:spcPct val="103000"/>
              </a:lnSpc>
            </a:pPr>
            <a:r>
              <a:rPr sz="1350">
                <a:solidFill>
                  <a:srgbClr val="26301F"/>
                </a:solidFill>
                <a:latin typeface="Arial"/>
              </a:rPr>
              <a:t>members with a complaint open a week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9555480" cy="1005840"/>
          </a:xfrm>
          <a:prstGeom prst="rect">
            <a:avLst/>
          </a:prstGeom>
          <a:noFill/>
        </p:spPr>
        <p:txBody>
          <a:bodyPr wrap="square" lIns="0" tIns="0" rIns="0" bIns="0">
            <a:spAutoFit/>
          </a:bodyPr>
          <a:lstStyle/>
          <a:p>
            <a:pPr>
              <a:lnSpc>
                <a:spcPct val="100000"/>
              </a:lnSpc>
            </a:pPr>
            <a:r>
              <a:rPr sz="2500">
                <a:solidFill>
                  <a:srgbClr val="41801A"/>
                </a:solidFill>
                <a:latin typeface="Georgia"/>
              </a:rPr>
              <a:t>Six decisions start the pilot.</a:t>
            </a:r>
          </a:p>
        </p:txBody>
      </p:sp>
      <p:pic>
        <p:nvPicPr>
          <p:cNvPr id="3" name="Picture 2" descr="lockup-520.png"/>
          <p:cNvPicPr>
            <a:picLocks noChangeAspect="1"/>
          </p:cNvPicPr>
          <p:nvPr/>
        </p:nvPicPr>
        <p:blipFill>
          <a:blip r:embed="rId2"/>
          <a:stretch>
            <a:fillRect/>
          </a:stretch>
        </p:blipFill>
        <p:spPr>
          <a:xfrm>
            <a:off x="10648790" y="457200"/>
            <a:ext cx="902825" cy="274320"/>
          </a:xfrm>
          <a:prstGeom prst="rect">
            <a:avLst/>
          </a:prstGeom>
        </p:spPr>
      </p:pic>
      <p:sp>
        <p:nvSpPr>
          <p:cNvPr id="4" name="TextBox 3"/>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5F6B58"/>
                </a:solidFill>
                <a:latin typeface="Arial"/>
              </a:rPr>
              <a:t>25</a:t>
            </a:r>
          </a:p>
        </p:txBody>
      </p:sp>
      <p:sp>
        <p:nvSpPr>
          <p:cNvPr id="5" name="TextBox 4"/>
          <p:cNvSpPr txBox="1"/>
          <p:nvPr/>
        </p:nvSpPr>
        <p:spPr>
          <a:xfrm>
            <a:off x="640080" y="1965960"/>
            <a:ext cx="731520" cy="868680"/>
          </a:xfrm>
          <a:prstGeom prst="rect">
            <a:avLst/>
          </a:prstGeom>
          <a:noFill/>
        </p:spPr>
        <p:txBody>
          <a:bodyPr wrap="square" lIns="0" tIns="0" rIns="0" bIns="0" anchor="ctr">
            <a:spAutoFit/>
          </a:bodyPr>
          <a:lstStyle/>
          <a:p>
            <a:pPr>
              <a:lnSpc>
                <a:spcPct val="105000"/>
              </a:lnSpc>
            </a:pPr>
            <a:r>
              <a:rPr sz="4400">
                <a:solidFill>
                  <a:srgbClr val="41801A"/>
                </a:solidFill>
                <a:latin typeface="Georgia"/>
              </a:rPr>
              <a:t>1</a:t>
            </a:r>
          </a:p>
        </p:txBody>
      </p:sp>
      <p:sp>
        <p:nvSpPr>
          <p:cNvPr id="6" name="TextBox 5"/>
          <p:cNvSpPr txBox="1"/>
          <p:nvPr/>
        </p:nvSpPr>
        <p:spPr>
          <a:xfrm>
            <a:off x="1463040" y="1965960"/>
            <a:ext cx="4358488" cy="868680"/>
          </a:xfrm>
          <a:prstGeom prst="rect">
            <a:avLst/>
          </a:prstGeom>
          <a:noFill/>
        </p:spPr>
        <p:txBody>
          <a:bodyPr wrap="square" lIns="0" tIns="0" rIns="0" bIns="0" anchor="ctr">
            <a:spAutoFit/>
          </a:bodyPr>
          <a:lstStyle/>
          <a:p>
            <a:pPr>
              <a:lnSpc>
                <a:spcPct val="104000"/>
              </a:lnSpc>
            </a:pPr>
            <a:r>
              <a:rPr sz="2000">
                <a:solidFill>
                  <a:srgbClr val="0C1408"/>
                </a:solidFill>
                <a:latin typeface="Arial"/>
              </a:rPr>
              <a:t>Approve the partnership</a:t>
            </a:r>
          </a:p>
        </p:txBody>
      </p:sp>
      <p:cxnSp>
        <p:nvCxnSpPr>
          <p:cNvPr id="7" name="Connector 6"/>
          <p:cNvCxnSpPr/>
          <p:nvPr/>
        </p:nvCxnSpPr>
        <p:spPr>
          <a:xfrm>
            <a:off x="640080" y="3017520"/>
            <a:ext cx="5181448" cy="0"/>
          </a:xfrm>
          <a:prstGeom prst="line">
            <a:avLst/>
          </a:prstGeom>
          <a:ln w="9525">
            <a:solidFill>
              <a:srgbClr val="CFD8C6"/>
            </a:solidFill>
          </a:ln>
        </p:spPr>
      </p:cxnSp>
      <p:sp>
        <p:nvSpPr>
          <p:cNvPr id="8" name="TextBox 7"/>
          <p:cNvSpPr txBox="1"/>
          <p:nvPr/>
        </p:nvSpPr>
        <p:spPr>
          <a:xfrm>
            <a:off x="640080" y="3337560"/>
            <a:ext cx="731520" cy="868680"/>
          </a:xfrm>
          <a:prstGeom prst="rect">
            <a:avLst/>
          </a:prstGeom>
          <a:noFill/>
        </p:spPr>
        <p:txBody>
          <a:bodyPr wrap="square" lIns="0" tIns="0" rIns="0" bIns="0" anchor="ctr">
            <a:spAutoFit/>
          </a:bodyPr>
          <a:lstStyle/>
          <a:p>
            <a:pPr>
              <a:lnSpc>
                <a:spcPct val="105000"/>
              </a:lnSpc>
            </a:pPr>
            <a:r>
              <a:rPr sz="4400">
                <a:solidFill>
                  <a:srgbClr val="41801A"/>
                </a:solidFill>
                <a:latin typeface="Georgia"/>
              </a:rPr>
              <a:t>2</a:t>
            </a:r>
          </a:p>
        </p:txBody>
      </p:sp>
      <p:sp>
        <p:nvSpPr>
          <p:cNvPr id="9" name="TextBox 8"/>
          <p:cNvSpPr txBox="1"/>
          <p:nvPr/>
        </p:nvSpPr>
        <p:spPr>
          <a:xfrm>
            <a:off x="1463040" y="3337560"/>
            <a:ext cx="4358488" cy="868680"/>
          </a:xfrm>
          <a:prstGeom prst="rect">
            <a:avLst/>
          </a:prstGeom>
          <a:noFill/>
        </p:spPr>
        <p:txBody>
          <a:bodyPr wrap="square" lIns="0" tIns="0" rIns="0" bIns="0" anchor="ctr">
            <a:spAutoFit/>
          </a:bodyPr>
          <a:lstStyle/>
          <a:p>
            <a:pPr>
              <a:lnSpc>
                <a:spcPct val="104000"/>
              </a:lnSpc>
            </a:pPr>
            <a:r>
              <a:rPr sz="2000">
                <a:solidFill>
                  <a:srgbClr val="0C1408"/>
                </a:solidFill>
                <a:latin typeface="Arial"/>
              </a:rPr>
              <a:t>Take the product to the State Bank</a:t>
            </a:r>
          </a:p>
        </p:txBody>
      </p:sp>
      <p:cxnSp>
        <p:nvCxnSpPr>
          <p:cNvPr id="10" name="Connector 9"/>
          <p:cNvCxnSpPr/>
          <p:nvPr/>
        </p:nvCxnSpPr>
        <p:spPr>
          <a:xfrm>
            <a:off x="640080" y="4389120"/>
            <a:ext cx="5181448" cy="0"/>
          </a:xfrm>
          <a:prstGeom prst="line">
            <a:avLst/>
          </a:prstGeom>
          <a:ln w="9525">
            <a:solidFill>
              <a:srgbClr val="CFD8C6"/>
            </a:solidFill>
          </a:ln>
        </p:spPr>
      </p:cxnSp>
      <p:sp>
        <p:nvSpPr>
          <p:cNvPr id="11" name="TextBox 10"/>
          <p:cNvSpPr txBox="1"/>
          <p:nvPr/>
        </p:nvSpPr>
        <p:spPr>
          <a:xfrm>
            <a:off x="640080" y="4709160"/>
            <a:ext cx="731520" cy="868680"/>
          </a:xfrm>
          <a:prstGeom prst="rect">
            <a:avLst/>
          </a:prstGeom>
          <a:noFill/>
        </p:spPr>
        <p:txBody>
          <a:bodyPr wrap="square" lIns="0" tIns="0" rIns="0" bIns="0" anchor="ctr">
            <a:spAutoFit/>
          </a:bodyPr>
          <a:lstStyle/>
          <a:p>
            <a:pPr>
              <a:lnSpc>
                <a:spcPct val="105000"/>
              </a:lnSpc>
            </a:pPr>
            <a:r>
              <a:rPr sz="4400">
                <a:solidFill>
                  <a:srgbClr val="41801A"/>
                </a:solidFill>
                <a:latin typeface="Georgia"/>
              </a:rPr>
              <a:t>3</a:t>
            </a:r>
          </a:p>
        </p:txBody>
      </p:sp>
      <p:sp>
        <p:nvSpPr>
          <p:cNvPr id="12" name="TextBox 11"/>
          <p:cNvSpPr txBox="1"/>
          <p:nvPr/>
        </p:nvSpPr>
        <p:spPr>
          <a:xfrm>
            <a:off x="1463040" y="4709160"/>
            <a:ext cx="4358488" cy="868680"/>
          </a:xfrm>
          <a:prstGeom prst="rect">
            <a:avLst/>
          </a:prstGeom>
          <a:noFill/>
        </p:spPr>
        <p:txBody>
          <a:bodyPr wrap="square" lIns="0" tIns="0" rIns="0" bIns="0" anchor="ctr">
            <a:spAutoFit/>
          </a:bodyPr>
          <a:lstStyle/>
          <a:p>
            <a:pPr>
              <a:lnSpc>
                <a:spcPct val="104000"/>
              </a:lnSpc>
            </a:pPr>
            <a:r>
              <a:rPr sz="2000">
                <a:solidFill>
                  <a:srgbClr val="0C1408"/>
                </a:solidFill>
                <a:latin typeface="Arial"/>
              </a:rPr>
              <a:t>Shariah Board approval; takaful through EFU</a:t>
            </a:r>
          </a:p>
        </p:txBody>
      </p:sp>
      <p:cxnSp>
        <p:nvCxnSpPr>
          <p:cNvPr id="13" name="Connector 12"/>
          <p:cNvCxnSpPr/>
          <p:nvPr/>
        </p:nvCxnSpPr>
        <p:spPr>
          <a:xfrm>
            <a:off x="640080" y="5760720"/>
            <a:ext cx="5181448" cy="0"/>
          </a:xfrm>
          <a:prstGeom prst="line">
            <a:avLst/>
          </a:prstGeom>
          <a:ln w="9525">
            <a:solidFill>
              <a:srgbClr val="CFD8C6"/>
            </a:solidFill>
          </a:ln>
        </p:spPr>
      </p:cxnSp>
      <p:sp>
        <p:nvSpPr>
          <p:cNvPr id="14" name="TextBox 13"/>
          <p:cNvSpPr txBox="1"/>
          <p:nvPr/>
        </p:nvSpPr>
        <p:spPr>
          <a:xfrm>
            <a:off x="6278728" y="1965960"/>
            <a:ext cx="731520" cy="868680"/>
          </a:xfrm>
          <a:prstGeom prst="rect">
            <a:avLst/>
          </a:prstGeom>
          <a:noFill/>
        </p:spPr>
        <p:txBody>
          <a:bodyPr wrap="square" lIns="0" tIns="0" rIns="0" bIns="0" anchor="ctr">
            <a:spAutoFit/>
          </a:bodyPr>
          <a:lstStyle/>
          <a:p>
            <a:pPr>
              <a:lnSpc>
                <a:spcPct val="105000"/>
              </a:lnSpc>
            </a:pPr>
            <a:r>
              <a:rPr sz="4400">
                <a:solidFill>
                  <a:srgbClr val="41801A"/>
                </a:solidFill>
                <a:latin typeface="Georgia"/>
              </a:rPr>
              <a:t>4</a:t>
            </a:r>
          </a:p>
        </p:txBody>
      </p:sp>
      <p:sp>
        <p:nvSpPr>
          <p:cNvPr id="15" name="TextBox 14"/>
          <p:cNvSpPr txBox="1"/>
          <p:nvPr/>
        </p:nvSpPr>
        <p:spPr>
          <a:xfrm>
            <a:off x="7101688" y="1965960"/>
            <a:ext cx="4358488" cy="868680"/>
          </a:xfrm>
          <a:prstGeom prst="rect">
            <a:avLst/>
          </a:prstGeom>
          <a:noFill/>
        </p:spPr>
        <p:txBody>
          <a:bodyPr wrap="square" lIns="0" tIns="0" rIns="0" bIns="0" anchor="ctr">
            <a:spAutoFit/>
          </a:bodyPr>
          <a:lstStyle/>
          <a:p>
            <a:pPr>
              <a:lnSpc>
                <a:spcPct val="104000"/>
              </a:lnSpc>
            </a:pPr>
            <a:r>
              <a:rPr sz="2000">
                <a:solidFill>
                  <a:srgbClr val="0C1408"/>
                </a:solidFill>
                <a:latin typeface="Arial"/>
              </a:rPr>
              <a:t>Accounts and standing instructions inside the Halqa app</a:t>
            </a:r>
          </a:p>
        </p:txBody>
      </p:sp>
      <p:cxnSp>
        <p:nvCxnSpPr>
          <p:cNvPr id="16" name="Connector 15"/>
          <p:cNvCxnSpPr/>
          <p:nvPr/>
        </p:nvCxnSpPr>
        <p:spPr>
          <a:xfrm>
            <a:off x="6278728" y="3017520"/>
            <a:ext cx="5181447" cy="0"/>
          </a:xfrm>
          <a:prstGeom prst="line">
            <a:avLst/>
          </a:prstGeom>
          <a:ln w="9525">
            <a:solidFill>
              <a:srgbClr val="CFD8C6"/>
            </a:solidFill>
          </a:ln>
        </p:spPr>
      </p:cxnSp>
      <p:sp>
        <p:nvSpPr>
          <p:cNvPr id="17" name="TextBox 16"/>
          <p:cNvSpPr txBox="1"/>
          <p:nvPr/>
        </p:nvSpPr>
        <p:spPr>
          <a:xfrm>
            <a:off x="6278728" y="3337560"/>
            <a:ext cx="731520" cy="868680"/>
          </a:xfrm>
          <a:prstGeom prst="rect">
            <a:avLst/>
          </a:prstGeom>
          <a:noFill/>
        </p:spPr>
        <p:txBody>
          <a:bodyPr wrap="square" lIns="0" tIns="0" rIns="0" bIns="0" anchor="ctr">
            <a:spAutoFit/>
          </a:bodyPr>
          <a:lstStyle/>
          <a:p>
            <a:pPr>
              <a:lnSpc>
                <a:spcPct val="105000"/>
              </a:lnSpc>
            </a:pPr>
            <a:r>
              <a:rPr sz="4400">
                <a:solidFill>
                  <a:srgbClr val="41801A"/>
                </a:solidFill>
                <a:latin typeface="Georgia"/>
              </a:rPr>
              <a:t>5</a:t>
            </a:r>
          </a:p>
        </p:txBody>
      </p:sp>
      <p:sp>
        <p:nvSpPr>
          <p:cNvPr id="18" name="TextBox 17"/>
          <p:cNvSpPr txBox="1"/>
          <p:nvPr/>
        </p:nvSpPr>
        <p:spPr>
          <a:xfrm>
            <a:off x="7101688" y="3337560"/>
            <a:ext cx="4358488" cy="868680"/>
          </a:xfrm>
          <a:prstGeom prst="rect">
            <a:avLst/>
          </a:prstGeom>
          <a:noFill/>
        </p:spPr>
        <p:txBody>
          <a:bodyPr wrap="square" lIns="0" tIns="0" rIns="0" bIns="0" anchor="ctr">
            <a:spAutoFit/>
          </a:bodyPr>
          <a:lstStyle/>
          <a:p>
            <a:pPr>
              <a:lnSpc>
                <a:spcPct val="104000"/>
              </a:lnSpc>
            </a:pPr>
            <a:r>
              <a:rPr sz="2000">
                <a:solidFill>
                  <a:srgbClr val="0C1408"/>
                </a:solidFill>
                <a:latin typeface="Arial"/>
              </a:rPr>
              <a:t>Instalments held in 7 day Mudarabah Certificates</a:t>
            </a:r>
          </a:p>
        </p:txBody>
      </p:sp>
      <p:cxnSp>
        <p:nvCxnSpPr>
          <p:cNvPr id="19" name="Connector 18"/>
          <p:cNvCxnSpPr/>
          <p:nvPr/>
        </p:nvCxnSpPr>
        <p:spPr>
          <a:xfrm>
            <a:off x="6278728" y="4389120"/>
            <a:ext cx="5181447" cy="0"/>
          </a:xfrm>
          <a:prstGeom prst="line">
            <a:avLst/>
          </a:prstGeom>
          <a:ln w="9525">
            <a:solidFill>
              <a:srgbClr val="CFD8C6"/>
            </a:solidFill>
          </a:ln>
        </p:spPr>
      </p:cxnSp>
      <p:sp>
        <p:nvSpPr>
          <p:cNvPr id="20" name="TextBox 19"/>
          <p:cNvSpPr txBox="1"/>
          <p:nvPr/>
        </p:nvSpPr>
        <p:spPr>
          <a:xfrm>
            <a:off x="6278728" y="4709160"/>
            <a:ext cx="731520" cy="868680"/>
          </a:xfrm>
          <a:prstGeom prst="rect">
            <a:avLst/>
          </a:prstGeom>
          <a:noFill/>
        </p:spPr>
        <p:txBody>
          <a:bodyPr wrap="square" lIns="0" tIns="0" rIns="0" bIns="0" anchor="ctr">
            <a:spAutoFit/>
          </a:bodyPr>
          <a:lstStyle/>
          <a:p>
            <a:pPr>
              <a:lnSpc>
                <a:spcPct val="105000"/>
              </a:lnSpc>
            </a:pPr>
            <a:r>
              <a:rPr sz="4400">
                <a:solidFill>
                  <a:srgbClr val="41801A"/>
                </a:solidFill>
                <a:latin typeface="Georgia"/>
              </a:rPr>
              <a:t>6</a:t>
            </a:r>
          </a:p>
        </p:txBody>
      </p:sp>
      <p:sp>
        <p:nvSpPr>
          <p:cNvPr id="21" name="TextBox 20"/>
          <p:cNvSpPr txBox="1"/>
          <p:nvPr/>
        </p:nvSpPr>
        <p:spPr>
          <a:xfrm>
            <a:off x="7101688" y="4709160"/>
            <a:ext cx="4358488" cy="868680"/>
          </a:xfrm>
          <a:prstGeom prst="rect">
            <a:avLst/>
          </a:prstGeom>
          <a:noFill/>
        </p:spPr>
        <p:txBody>
          <a:bodyPr wrap="square" lIns="0" tIns="0" rIns="0" bIns="0" anchor="ctr">
            <a:spAutoFit/>
          </a:bodyPr>
          <a:lstStyle/>
          <a:p>
            <a:pPr>
              <a:lnSpc>
                <a:spcPct val="104000"/>
              </a:lnSpc>
            </a:pPr>
            <a:r>
              <a:rPr sz="2000">
                <a:solidFill>
                  <a:srgbClr val="0C1408"/>
                </a:solidFill>
                <a:latin typeface="Arial"/>
              </a:rPr>
              <a:t>Agree the income share and the pilot</a:t>
            </a:r>
          </a:p>
        </p:txBody>
      </p:sp>
      <p:cxnSp>
        <p:nvCxnSpPr>
          <p:cNvPr id="22" name="Connector 21"/>
          <p:cNvCxnSpPr/>
          <p:nvPr/>
        </p:nvCxnSpPr>
        <p:spPr>
          <a:xfrm>
            <a:off x="6278728" y="5760720"/>
            <a:ext cx="5181447" cy="0"/>
          </a:xfrm>
          <a:prstGeom prst="line">
            <a:avLst/>
          </a:prstGeom>
          <a:ln w="9525">
            <a:solidFill>
              <a:srgbClr val="CFD8C6"/>
            </a:solidFill>
          </a:ln>
        </p:spPr>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DC72A"/>
          </a:solidFill>
          <a:ln>
            <a:noFill/>
          </a:ln>
        </p:spPr>
        <p:txBody>
          <a:bodyPr rtlCol="0" anchor="ctr"/>
          <a:lstStyle/>
          <a:p>
            <a:pPr algn="ctr"/>
          </a:p>
        </p:txBody>
      </p:sp>
      <p:sp>
        <p:nvSpPr>
          <p:cNvPr id="3" name="Rectangle 2"/>
          <p:cNvSpPr/>
          <p:nvPr/>
        </p:nvSpPr>
        <p:spPr>
          <a:xfrm>
            <a:off x="502920" y="548640"/>
            <a:ext cx="1874520" cy="658368"/>
          </a:xfrm>
          <a:prstGeom prst="rect">
            <a:avLst/>
          </a:prstGeom>
          <a:solidFill>
            <a:srgbClr val="FFFFFF"/>
          </a:solidFill>
          <a:ln>
            <a:noFill/>
          </a:ln>
        </p:spPr>
        <p:txBody>
          <a:bodyPr rtlCol="0" anchor="ctr"/>
          <a:lstStyle/>
          <a:p>
            <a:pPr algn="ctr"/>
          </a:p>
        </p:txBody>
      </p:sp>
      <p:pic>
        <p:nvPicPr>
          <p:cNvPr id="4" name="Picture 3" descr="lockup-520.png"/>
          <p:cNvPicPr>
            <a:picLocks noChangeAspect="1"/>
          </p:cNvPicPr>
          <p:nvPr/>
        </p:nvPicPr>
        <p:blipFill>
          <a:blip r:embed="rId2"/>
          <a:stretch>
            <a:fillRect/>
          </a:stretch>
        </p:blipFill>
        <p:spPr>
          <a:xfrm>
            <a:off x="640080" y="640080"/>
            <a:ext cx="1504709" cy="457200"/>
          </a:xfrm>
          <a:prstGeom prst="rect">
            <a:avLst/>
          </a:prstGeom>
        </p:spPr>
      </p:pic>
      <p:sp>
        <p:nvSpPr>
          <p:cNvPr id="5" name="TextBox 4"/>
          <p:cNvSpPr txBox="1"/>
          <p:nvPr/>
        </p:nvSpPr>
        <p:spPr>
          <a:xfrm>
            <a:off x="640080" y="2240280"/>
            <a:ext cx="10911535" cy="1188720"/>
          </a:xfrm>
          <a:prstGeom prst="rect">
            <a:avLst/>
          </a:prstGeom>
          <a:noFill/>
        </p:spPr>
        <p:txBody>
          <a:bodyPr wrap="square" lIns="0" tIns="0" rIns="0" bIns="0">
            <a:spAutoFit/>
          </a:bodyPr>
          <a:lstStyle/>
          <a:p>
            <a:pPr>
              <a:lnSpc>
                <a:spcPct val="105000"/>
              </a:lnSpc>
            </a:pPr>
            <a:r>
              <a:rPr sz="4400">
                <a:solidFill>
                  <a:srgbClr val="0C1408"/>
                </a:solidFill>
                <a:latin typeface="Georgia"/>
              </a:rPr>
              <a:t>Halqa is the system. Raqami is the machine.</a:t>
            </a:r>
          </a:p>
        </p:txBody>
      </p:sp>
      <p:sp>
        <p:nvSpPr>
          <p:cNvPr id="6" name="TextBox 5"/>
          <p:cNvSpPr txBox="1"/>
          <p:nvPr/>
        </p:nvSpPr>
        <p:spPr>
          <a:xfrm>
            <a:off x="640080" y="5074920"/>
            <a:ext cx="7315200" cy="320040"/>
          </a:xfrm>
          <a:prstGeom prst="rect">
            <a:avLst/>
          </a:prstGeom>
          <a:noFill/>
        </p:spPr>
        <p:txBody>
          <a:bodyPr wrap="square" lIns="0" tIns="0" rIns="0" bIns="0">
            <a:spAutoFit/>
          </a:bodyPr>
          <a:lstStyle/>
          <a:p>
            <a:pPr>
              <a:lnSpc>
                <a:spcPct val="105000"/>
              </a:lnSpc>
            </a:pPr>
            <a:r>
              <a:rPr sz="1500" b="1">
                <a:solidFill>
                  <a:srgbClr val="0C1408"/>
                </a:solidFill>
                <a:latin typeface="Arial"/>
              </a:rPr>
              <a:t>Taha Kayani, Chairman, Halqa</a:t>
            </a:r>
          </a:p>
        </p:txBody>
      </p:sp>
      <p:sp>
        <p:nvSpPr>
          <p:cNvPr id="7" name="TextBox 6"/>
          <p:cNvSpPr txBox="1"/>
          <p:nvPr/>
        </p:nvSpPr>
        <p:spPr>
          <a:xfrm>
            <a:off x="640080" y="5440680"/>
            <a:ext cx="10058400" cy="320040"/>
          </a:xfrm>
          <a:prstGeom prst="rect">
            <a:avLst/>
          </a:prstGeom>
          <a:noFill/>
        </p:spPr>
        <p:txBody>
          <a:bodyPr wrap="square" lIns="0" tIns="0" rIns="0" bIns="0">
            <a:spAutoFit/>
          </a:bodyPr>
          <a:lstStyle/>
          <a:p>
            <a:pPr>
              <a:lnSpc>
                <a:spcPct val="105000"/>
              </a:lnSpc>
            </a:pPr>
            <a:r>
              <a:rPr sz="1300">
                <a:solidFill>
                  <a:srgbClr val="26301F"/>
                </a:solidFill>
                <a:latin typeface="Arial"/>
              </a:rPr>
              <a:t>A detailed reference covers the law, the product, the economics and the evidence.</a:t>
            </a:r>
          </a:p>
        </p:txBody>
      </p:sp>
      <p:sp>
        <p:nvSpPr>
          <p:cNvPr id="8" name="TextBox 7"/>
          <p:cNvSpPr txBox="1"/>
          <p:nvPr/>
        </p:nvSpPr>
        <p:spPr>
          <a:xfrm>
            <a:off x="11002975" y="6455664"/>
            <a:ext cx="548640" cy="256032"/>
          </a:xfrm>
          <a:prstGeom prst="rect">
            <a:avLst/>
          </a:prstGeom>
          <a:noFill/>
        </p:spPr>
        <p:txBody>
          <a:bodyPr wrap="square" lIns="0" tIns="0" rIns="0" bIns="0">
            <a:spAutoFit/>
          </a:bodyPr>
          <a:lstStyle/>
          <a:p>
            <a:pPr algn="r">
              <a:lnSpc>
                <a:spcPct val="105000"/>
              </a:lnSpc>
            </a:pPr>
            <a:r>
              <a:rPr sz="1000">
                <a:solidFill>
                  <a:srgbClr val="0C1408"/>
                </a:solidFill>
                <a:latin typeface="Arial"/>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Halqa: partnership proposal for Raqami Islamic Digital Bank</dc:title>
  <dc:subject/>
  <dc:creator>Halqa</dc:creator>
  <cp:keywords/>
  <dc:description>generated using python-pptx</dc:description>
  <cp:lastModifiedBy>Halqa</cp:lastModifiedBy>
  <cp:revision>1</cp:revision>
  <dcterms:created xsi:type="dcterms:W3CDTF">2013-01-27T09:14:16Z</dcterms:created>
  <dcterms:modified xsi:type="dcterms:W3CDTF">2013-01-27T09:15:58Z</dcterms:modified>
  <cp:category/>
</cp:coreProperties>
</file>