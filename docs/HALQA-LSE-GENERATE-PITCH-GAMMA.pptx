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Quattrocento"/>
      <p:regular r:id="rId201314"/>
    </p:embeddedFont>
    <p:embeddedFont>
      <p:font typeface="Quattrocento Bold"/>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C4241"/>
          </a:solidFill>
          <a:ln/>
        </p:spPr>
      </p:sp>
      <p:sp>
        <p:nvSpPr>
          <p:cNvPr id="3" name="Shape 1"/>
          <p:cNvSpPr/>
          <p:nvPr/>
        </p:nvSpPr>
        <p:spPr>
          <a:xfrm>
            <a:off x="0" y="0"/>
            <a:ext cx="12191695" cy="68580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3.png"/><Relationship Id="rId6" Type="http://schemas.openxmlformats.org/officeDocument/2006/relationships/image" Target="../media/image-6-4.svg"/><Relationship Id="rId7" Type="http://schemas.openxmlformats.org/officeDocument/2006/relationships/image" Target="../media/image-6-3.png"/><Relationship Id="rId8" Type="http://schemas.openxmlformats.org/officeDocument/2006/relationships/image" Target="../media/image-6-4.svg"/><Relationship Id="rId9" Type="http://schemas.openxmlformats.org/officeDocument/2006/relationships/image" Target="../media/image-6-3.png"/><Relationship Id="rId10" Type="http://schemas.openxmlformats.org/officeDocument/2006/relationships/image" Target="../media/image-6-4.svg"/><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69971" y="863203"/>
            <a:ext cx="6223638" cy="4400352"/>
          </a:xfrm>
          <a:prstGeom prst="rect">
            <a:avLst/>
          </a:prstGeom>
          <a:noFill/>
          <a:ln/>
        </p:spPr>
        <p:txBody>
          <a:bodyPr wrap="square" lIns="0" tIns="0" rIns="0" bIns="0" rtlCol="0" anchor="t">
            <a:normAutofit/>
          </a:bodyPr>
          <a:lstStyle/>
          <a:p>
            <a:pPr algn="ctr" indent="0" marL="0">
              <a:lnSpc>
                <a:spcPct val="104000"/>
              </a:lnSpc>
              <a:buNone/>
            </a:pPr>
            <a:r>
              <a:rPr lang="en-US" sz="5500" dirty="0">
                <a:solidFill>
                  <a:srgbClr val="FFD9BE"/>
                </a:solidFill>
                <a:latin typeface="Quattrocento" pitchFamily="34" charset="0"/>
                <a:ea typeface="Quattrocento" pitchFamily="34" charset="-122"/>
                <a:cs typeface="Quattrocento" pitchFamily="34" charset="-120"/>
              </a:rPr>
              <a:t>Pakistan's savings committees move four trillion rupees a year. None of it is written down.</a:t>
            </a:r>
            <a:endParaRPr lang="en-US" sz="5500" dirty="0"/>
          </a:p>
        </p:txBody>
      </p:sp>
      <p:sp>
        <p:nvSpPr>
          <p:cNvPr id="4" name="Text 1"/>
          <p:cNvSpPr/>
          <p:nvPr/>
        </p:nvSpPr>
        <p:spPr>
          <a:xfrm>
            <a:off x="4965179" y="5431830"/>
            <a:ext cx="6833223" cy="209451"/>
          </a:xfrm>
          <a:prstGeom prst="rect">
            <a:avLst/>
          </a:prstGeom>
          <a:noFill/>
          <a:ln/>
        </p:spPr>
        <p:txBody>
          <a:bodyPr wrap="none" lIns="0" tIns="0" rIns="0" bIns="0" rtlCol="0" anchor="t"/>
          <a:lstStyle/>
          <a:p>
            <a:pPr algn="ctr"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We built the platform that writes it down, without ever touching the money.</a:t>
            </a:r>
            <a:endParaRPr lang="en-US" sz="1150" dirty="0"/>
          </a:p>
        </p:txBody>
      </p:sp>
      <p:sp>
        <p:nvSpPr>
          <p:cNvPr id="5" name="Shape 2"/>
          <p:cNvSpPr/>
          <p:nvPr/>
        </p:nvSpPr>
        <p:spPr>
          <a:xfrm>
            <a:off x="5269971" y="5767487"/>
            <a:ext cx="2502631" cy="227211"/>
          </a:xfrm>
          <a:prstGeom prst="roundRect">
            <a:avLst>
              <a:gd name="adj" fmla="val 7902"/>
            </a:avLst>
          </a:prstGeom>
          <a:noFill/>
          <a:ln w="6350">
            <a:solidFill>
              <a:srgbClr val="EF9C82"/>
            </a:solidFill>
            <a:prstDash val="solid"/>
          </a:ln>
        </p:spPr>
      </p:sp>
      <p:sp>
        <p:nvSpPr>
          <p:cNvPr id="6" name="Text 3"/>
          <p:cNvSpPr/>
          <p:nvPr/>
        </p:nvSpPr>
        <p:spPr>
          <a:xfrm>
            <a:off x="5359663" y="5812334"/>
            <a:ext cx="2932833" cy="137517"/>
          </a:xfrm>
          <a:prstGeom prst="rect">
            <a:avLst/>
          </a:prstGeom>
          <a:noFill/>
          <a:ln/>
        </p:spPr>
        <p:txBody>
          <a:bodyPr wrap="none" lIns="0" tIns="0" rIns="0" bIns="0" rtlCol="0" anchor="t"/>
          <a:lstStyle/>
          <a:p>
            <a:pPr algn="l" indent="0" marL="0">
              <a:lnSpc>
                <a:spcPct val="96000"/>
              </a:lnSpc>
              <a:buNone/>
            </a:pPr>
            <a:r>
              <a:rPr lang="en-US" sz="900" dirty="0">
                <a:solidFill>
                  <a:srgbClr val="EF9C82"/>
                </a:solidFill>
                <a:latin typeface="Quattrocento" pitchFamily="34" charset="0"/>
                <a:ea typeface="Quattrocento" pitchFamily="34" charset="-122"/>
                <a:cs typeface="Quattrocento" pitchFamily="34" charset="-120"/>
              </a:rPr>
              <a:t>LIVE IN PRODUCTION SINCE 20 JULY 2026</a:t>
            </a:r>
            <a:endParaRPr lang="en-US" sz="900" dirty="0"/>
          </a:p>
        </p:txBody>
      </p:sp>
      <p:sp>
        <p:nvSpPr>
          <p:cNvPr id="7" name="Shape 4"/>
          <p:cNvSpPr/>
          <p:nvPr/>
        </p:nvSpPr>
        <p:spPr>
          <a:xfrm>
            <a:off x="7847312" y="5767487"/>
            <a:ext cx="2961209" cy="227211"/>
          </a:xfrm>
          <a:prstGeom prst="roundRect">
            <a:avLst>
              <a:gd name="adj" fmla="val 7902"/>
            </a:avLst>
          </a:prstGeom>
          <a:noFill/>
          <a:ln w="6350">
            <a:solidFill>
              <a:srgbClr val="EF9C82"/>
            </a:solidFill>
            <a:prstDash val="solid"/>
          </a:ln>
        </p:spPr>
      </p:sp>
      <p:sp>
        <p:nvSpPr>
          <p:cNvPr id="8" name="Text 5"/>
          <p:cNvSpPr/>
          <p:nvPr/>
        </p:nvSpPr>
        <p:spPr>
          <a:xfrm>
            <a:off x="7937004" y="5812334"/>
            <a:ext cx="3391410" cy="137517"/>
          </a:xfrm>
          <a:prstGeom prst="rect">
            <a:avLst/>
          </a:prstGeom>
          <a:noFill/>
          <a:ln/>
        </p:spPr>
        <p:txBody>
          <a:bodyPr wrap="none" lIns="0" tIns="0" rIns="0" bIns="0" rtlCol="0" anchor="t"/>
          <a:lstStyle/>
          <a:p>
            <a:pPr algn="l" indent="0" marL="0">
              <a:lnSpc>
                <a:spcPct val="96000"/>
              </a:lnSpc>
              <a:buNone/>
            </a:pPr>
            <a:r>
              <a:rPr lang="en-US" sz="900" dirty="0">
                <a:solidFill>
                  <a:srgbClr val="EF9C82"/>
                </a:solidFill>
                <a:latin typeface="Quattrocento" pitchFamily="34" charset="0"/>
                <a:ea typeface="Quattrocento" pitchFamily="34" charset="-122"/>
                <a:cs typeface="Quattrocento" pitchFamily="34" charset="-120"/>
              </a:rPr>
              <a:t>LSE GENERATE GLOBAL INNOVATION CHALLENGE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8086" y="655638"/>
            <a:ext cx="10795524" cy="498673"/>
          </a:xfrm>
          <a:prstGeom prst="rect">
            <a:avLst/>
          </a:prstGeom>
          <a:noFill/>
          <a:ln/>
        </p:spPr>
        <p:txBody>
          <a:bodyPr wrap="none" lIns="0" tIns="0" rIns="0" bIns="0" rtlCol="0" anchor="t"/>
          <a:lstStyle/>
          <a:p>
            <a:pPr algn="l" indent="0" marL="0">
              <a:lnSpc>
                <a:spcPct val="104000"/>
              </a:lnSpc>
              <a:buNone/>
            </a:pPr>
            <a:r>
              <a:rPr lang="en-US" sz="3100" dirty="0">
                <a:solidFill>
                  <a:srgbClr val="FFD9BE"/>
                </a:solidFill>
                <a:latin typeface="Quattrocento" pitchFamily="34" charset="0"/>
                <a:ea typeface="Quattrocento" pitchFamily="34" charset="-122"/>
                <a:cs typeface="Quattrocento" pitchFamily="34" charset="-120"/>
              </a:rPr>
              <a:t>Fifty two million people, no record</a:t>
            </a:r>
            <a:endParaRPr lang="en-US" sz="3100" dirty="0"/>
          </a:p>
        </p:txBody>
      </p:sp>
      <p:sp>
        <p:nvSpPr>
          <p:cNvPr id="3" name="Text 1"/>
          <p:cNvSpPr/>
          <p:nvPr/>
        </p:nvSpPr>
        <p:spPr>
          <a:xfrm>
            <a:off x="698086" y="1442541"/>
            <a:ext cx="10795524" cy="1829792"/>
          </a:xfrm>
          <a:prstGeom prst="rect">
            <a:avLst/>
          </a:prstGeom>
          <a:noFill/>
          <a:ln/>
        </p:spPr>
        <p:txBody>
          <a:bodyPr wrap="square" lIns="0" tIns="0" rIns="0" bIns="0" rtlCol="0" anchor="t">
            <a:normAutofit/>
          </a:bodyPr>
          <a:lstStyle/>
          <a:p>
            <a:pPr algn="l" indent="0" marL="0">
              <a:lnSpc>
                <a:spcPct val="123000"/>
              </a:lnSpc>
              <a:spcAft>
                <a:spcPts val="1250"/>
              </a:spcAft>
              <a:buNone/>
            </a:pPr>
            <a:r>
              <a:rPr lang="en-US" sz="1300" dirty="0">
                <a:solidFill>
                  <a:srgbClr val="F9EEE7"/>
                </a:solidFill>
                <a:latin typeface="Quattrocento" pitchFamily="34" charset="0"/>
                <a:ea typeface="Quattrocento" pitchFamily="34" charset="-122"/>
                <a:cs typeface="Quattrocento" pitchFamily="34" charset="-120"/>
              </a:rPr>
              <a:t>A committee is the oldest savings product there is. Twelve people each pay Rs 10,000 a month, and each month one of them takes the whole Rs 120,000. Everyone gets a turn.</a:t>
            </a:r>
            <a:endParaRPr lang="en-US" sz="1300" dirty="0"/>
          </a:p>
          <a:p>
            <a:pPr algn="l" indent="0" marL="0">
              <a:lnSpc>
                <a:spcPct val="123000"/>
              </a:lnSpc>
              <a:spcAft>
                <a:spcPts val="1250"/>
              </a:spcAft>
              <a:buNone/>
            </a:pPr>
            <a:r>
              <a:rPr lang="en-US" sz="1300" dirty="0">
                <a:solidFill>
                  <a:srgbClr val="F9EEE7"/>
                </a:solidFill>
                <a:latin typeface="Quattrocento" pitchFamily="34" charset="0"/>
                <a:ea typeface="Quattrocento" pitchFamily="34" charset="-122"/>
                <a:cs typeface="Quattrocento" pitchFamily="34" charset="-120"/>
              </a:rPr>
              <a:t>Thirty seven per cent of Pakistani adults are in one. Only thirteen per cent have a bank account. It runs on a notebook, a WhatsApp group, and one person's memory. When the cycle ends, the record disappears.</a:t>
            </a:r>
            <a:endParaRPr lang="en-US" sz="1300" dirty="0"/>
          </a:p>
          <a:p>
            <a:pPr algn="l"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So a tailor who has paid on the first of the month, eleven months running, walks into a bank and is a total stranger. He has proved exactly what a lender spends money trying to find out, and nobody wrote it down.</a:t>
            </a:r>
            <a:endParaRPr lang="en-US" sz="1300" dirty="0"/>
          </a:p>
        </p:txBody>
      </p:sp>
      <p:sp>
        <p:nvSpPr>
          <p:cNvPr id="4" name="Shape 2"/>
          <p:cNvSpPr/>
          <p:nvPr/>
        </p:nvSpPr>
        <p:spPr>
          <a:xfrm>
            <a:off x="698086" y="3476823"/>
            <a:ext cx="10795524" cy="19050"/>
          </a:xfrm>
          <a:prstGeom prst="roundRect">
            <a:avLst>
              <a:gd name="adj" fmla="val 49999"/>
            </a:avLst>
          </a:prstGeom>
          <a:solidFill>
            <a:srgbClr val="F9EEE7">
              <a:alpha val="50000"/>
            </a:srgbClr>
          </a:solidFill>
          <a:ln/>
        </p:spPr>
      </p:sp>
      <p:sp>
        <p:nvSpPr>
          <p:cNvPr id="5" name="Text 3"/>
          <p:cNvSpPr/>
          <p:nvPr/>
        </p:nvSpPr>
        <p:spPr>
          <a:xfrm>
            <a:off x="698086" y="3754338"/>
            <a:ext cx="10795524" cy="398959"/>
          </a:xfrm>
          <a:prstGeom prst="rect">
            <a:avLst/>
          </a:prstGeom>
          <a:noFill/>
          <a:ln/>
        </p:spPr>
        <p:txBody>
          <a:bodyPr wrap="none" lIns="0" tIns="0" rIns="0" bIns="0" rtlCol="0" anchor="t"/>
          <a:lstStyle/>
          <a:p>
            <a:pPr algn="l" indent="0" marL="0">
              <a:lnSpc>
                <a:spcPct val="104000"/>
              </a:lnSpc>
              <a:buNone/>
            </a:pPr>
            <a:r>
              <a:rPr lang="en-US" sz="2500" dirty="0">
                <a:solidFill>
                  <a:srgbClr val="FFD9BE"/>
                </a:solidFill>
                <a:latin typeface="Quattrocento" pitchFamily="34" charset="0"/>
                <a:ea typeface="Quattrocento" pitchFamily="34" charset="-122"/>
                <a:cs typeface="Quattrocento" pitchFamily="34" charset="-120"/>
              </a:rPr>
              <a:t>Twenty one attempts. The same wall.</a:t>
            </a:r>
            <a:endParaRPr lang="en-US" sz="2500" dirty="0"/>
          </a:p>
        </p:txBody>
      </p:sp>
      <p:sp>
        <p:nvSpPr>
          <p:cNvPr id="6" name="Shape 4"/>
          <p:cNvSpPr/>
          <p:nvPr/>
        </p:nvSpPr>
        <p:spPr>
          <a:xfrm>
            <a:off x="576050" y="4369395"/>
            <a:ext cx="5435067" cy="1419920"/>
          </a:xfrm>
          <a:prstGeom prst="roundRect">
            <a:avLst>
              <a:gd name="adj" fmla="val 1791"/>
            </a:avLst>
          </a:prstGeom>
          <a:solidFill>
            <a:srgbClr val="1D4241"/>
          </a:solidFill>
          <a:ln/>
        </p:spPr>
      </p:sp>
      <p:sp>
        <p:nvSpPr>
          <p:cNvPr id="7" name="Text 5"/>
          <p:cNvSpPr/>
          <p:nvPr/>
        </p:nvSpPr>
        <p:spPr>
          <a:xfrm>
            <a:off x="745511" y="4513461"/>
            <a:ext cx="5096144" cy="249337"/>
          </a:xfrm>
          <a:prstGeom prst="rect">
            <a:avLst/>
          </a:prstGeom>
          <a:noFill/>
          <a:ln/>
        </p:spPr>
        <p:txBody>
          <a:bodyPr wrap="none" lIns="0" tIns="0" rIns="0" bIns="0" rtlCol="0" anchor="t"/>
          <a:lstStyle/>
          <a:p>
            <a:pPr algn="l" indent="0" marL="0">
              <a:lnSpc>
                <a:spcPct val="104000"/>
              </a:lnSpc>
              <a:buNone/>
            </a:pPr>
            <a:r>
              <a:rPr lang="en-US" sz="1550" dirty="0">
                <a:solidFill>
                  <a:srgbClr val="FFD9BE"/>
                </a:solidFill>
                <a:latin typeface="Quattrocento" pitchFamily="34" charset="0"/>
                <a:ea typeface="Quattrocento" pitchFamily="34" charset="-122"/>
                <a:cs typeface="Quattrocento" pitchFamily="34" charset="-120"/>
              </a:rPr>
              <a:t>Hold the money</a:t>
            </a:r>
            <a:endParaRPr lang="en-US" sz="1550" dirty="0"/>
          </a:p>
        </p:txBody>
      </p:sp>
      <p:sp>
        <p:nvSpPr>
          <p:cNvPr id="8" name="Text 6"/>
          <p:cNvSpPr/>
          <p:nvPr/>
        </p:nvSpPr>
        <p:spPr>
          <a:xfrm>
            <a:off x="745511" y="4906863"/>
            <a:ext cx="5096144" cy="752773"/>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You now need a banking licence, or you become the fraud. The largest Pakistani case took Rs 420 million from 200 people across 117 committees. She kept no records and disappeared.</a:t>
            </a:r>
            <a:endParaRPr lang="en-US" sz="1300" dirty="0"/>
          </a:p>
        </p:txBody>
      </p:sp>
      <p:sp>
        <p:nvSpPr>
          <p:cNvPr id="9" name="Text 7"/>
          <p:cNvSpPr/>
          <p:nvPr/>
        </p:nvSpPr>
        <p:spPr>
          <a:xfrm>
            <a:off x="6308964" y="4513461"/>
            <a:ext cx="5190995" cy="249337"/>
          </a:xfrm>
          <a:prstGeom prst="rect">
            <a:avLst/>
          </a:prstGeom>
          <a:noFill/>
          <a:ln/>
        </p:spPr>
        <p:txBody>
          <a:bodyPr wrap="none" lIns="0" tIns="0" rIns="0" bIns="0" rtlCol="0" anchor="t"/>
          <a:lstStyle/>
          <a:p>
            <a:pPr algn="l" indent="0" marL="0">
              <a:lnSpc>
                <a:spcPct val="104000"/>
              </a:lnSpc>
              <a:buNone/>
            </a:pPr>
            <a:r>
              <a:rPr lang="en-US" sz="1550" dirty="0">
                <a:solidFill>
                  <a:srgbClr val="FFD9BE"/>
                </a:solidFill>
                <a:latin typeface="Quattrocento" pitchFamily="34" charset="0"/>
                <a:ea typeface="Quattrocento" pitchFamily="34" charset="-122"/>
                <a:cs typeface="Quattrocento" pitchFamily="34" charset="-120"/>
              </a:rPr>
              <a:t>Record it only</a:t>
            </a:r>
            <a:endParaRPr lang="en-US" sz="1550" dirty="0"/>
          </a:p>
        </p:txBody>
      </p:sp>
      <p:sp>
        <p:nvSpPr>
          <p:cNvPr id="10" name="Text 8"/>
          <p:cNvSpPr/>
          <p:nvPr/>
        </p:nvSpPr>
        <p:spPr>
          <a:xfrm>
            <a:off x="6308964" y="4906863"/>
            <a:ext cx="5190995" cy="752773"/>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Two Pakistani apps let the organiser tick a box saying who paid. No money moves through them, so the entry is somebody's claim, not proof. A bank cannot use it and a court will not weigh it.</a:t>
            </a:r>
            <a:endParaRPr lang="en-US" sz="1300" dirty="0"/>
          </a:p>
        </p:txBody>
      </p:sp>
      <p:sp>
        <p:nvSpPr>
          <p:cNvPr id="11" name="Text 9"/>
          <p:cNvSpPr/>
          <p:nvPr/>
        </p:nvSpPr>
        <p:spPr>
          <a:xfrm>
            <a:off x="698086" y="5951438"/>
            <a:ext cx="11405108" cy="250924"/>
          </a:xfrm>
          <a:prstGeom prst="rect">
            <a:avLst/>
          </a:prstGeom>
          <a:noFill/>
          <a:ln/>
        </p:spPr>
        <p:txBody>
          <a:bodyPr wrap="none" lIns="0" tIns="0" rIns="0" bIns="0" rtlCol="0" anchor="t"/>
          <a:lstStyle/>
          <a:p>
            <a:pPr algn="l"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Everybody assumed those were the only two options. Take custody and carry the licence, or take no custody and record nothing worth having.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69971" y="621705"/>
            <a:ext cx="6223638" cy="1457523"/>
          </a:xfrm>
          <a:prstGeom prst="rect">
            <a:avLst/>
          </a:prstGeom>
          <a:noFill/>
          <a:ln/>
        </p:spPr>
        <p:txBody>
          <a:bodyPr wrap="square" lIns="0" tIns="0" rIns="0" bIns="0" rtlCol="0" anchor="t">
            <a:normAutofit/>
          </a:bodyPr>
          <a:lstStyle/>
          <a:p>
            <a:pPr algn="ctr" indent="0" marL="0">
              <a:lnSpc>
                <a:spcPct val="104000"/>
              </a:lnSpc>
              <a:buNone/>
            </a:pPr>
            <a:r>
              <a:rPr lang="en-US" sz="4550" dirty="0">
                <a:solidFill>
                  <a:srgbClr val="FFD9BE"/>
                </a:solidFill>
                <a:latin typeface="Quattrocento" pitchFamily="34" charset="0"/>
                <a:ea typeface="Quattrocento" pitchFamily="34" charset="-122"/>
                <a:cs typeface="Quattrocento" pitchFamily="34" charset="-120"/>
              </a:rPr>
              <a:t>We are not trying to move the money.</a:t>
            </a:r>
            <a:endParaRPr lang="en-US" sz="4550" dirty="0"/>
          </a:p>
        </p:txBody>
      </p:sp>
      <p:sp>
        <p:nvSpPr>
          <p:cNvPr id="4" name="Text 1"/>
          <p:cNvSpPr/>
          <p:nvPr/>
        </p:nvSpPr>
        <p:spPr>
          <a:xfrm>
            <a:off x="5269971" y="2321520"/>
            <a:ext cx="6223638" cy="1457523"/>
          </a:xfrm>
          <a:prstGeom prst="rect">
            <a:avLst/>
          </a:prstGeom>
          <a:noFill/>
          <a:ln/>
        </p:spPr>
        <p:txBody>
          <a:bodyPr wrap="square" lIns="0" tIns="0" rIns="0" bIns="0" rtlCol="0" anchor="t">
            <a:normAutofit/>
          </a:bodyPr>
          <a:lstStyle/>
          <a:p>
            <a:pPr algn="ctr" indent="0" marL="0">
              <a:lnSpc>
                <a:spcPct val="104000"/>
              </a:lnSpc>
              <a:buNone/>
            </a:pPr>
            <a:r>
              <a:rPr lang="en-US" sz="4550" dirty="0">
                <a:solidFill>
                  <a:srgbClr val="EF9C82"/>
                </a:solidFill>
                <a:latin typeface="Quattrocento" pitchFamily="34" charset="0"/>
                <a:ea typeface="Quattrocento" pitchFamily="34" charset="-122"/>
                <a:cs typeface="Quattrocento" pitchFamily="34" charset="-120"/>
              </a:rPr>
              <a:t>We are trying to prove it moved.</a:t>
            </a:r>
            <a:endParaRPr lang="en-US" sz="4550" dirty="0"/>
          </a:p>
        </p:txBody>
      </p:sp>
      <p:sp>
        <p:nvSpPr>
          <p:cNvPr id="5" name="Text 2"/>
          <p:cNvSpPr/>
          <p:nvPr/>
        </p:nvSpPr>
        <p:spPr>
          <a:xfrm>
            <a:off x="5269971" y="4021336"/>
            <a:ext cx="6223638" cy="1091009"/>
          </a:xfrm>
          <a:prstGeom prst="rect">
            <a:avLst/>
          </a:prstGeom>
          <a:noFill/>
          <a:ln/>
        </p:spPr>
        <p:txBody>
          <a:bodyPr wrap="square" lIns="0" tIns="0" rIns="0" bIns="0" rtlCol="0" anchor="t">
            <a:normAutofit/>
          </a:bodyPr>
          <a:lstStyle/>
          <a:p>
            <a:pPr algn="ctr"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The money goes directly from one member's bank account to another's, over Pakistan's own instant payment rail. Halqa never holds a single rupee. We schedule it, we watch it settle, and we write it into a permanent record tied to a national identity number.</a:t>
            </a:r>
            <a:endParaRPr lang="en-US" sz="1400" dirty="0"/>
          </a:p>
        </p:txBody>
      </p:sp>
      <p:sp>
        <p:nvSpPr>
          <p:cNvPr id="6" name="Shape 3"/>
          <p:cNvSpPr/>
          <p:nvPr/>
        </p:nvSpPr>
        <p:spPr>
          <a:xfrm>
            <a:off x="5269971" y="5294114"/>
            <a:ext cx="6223638" cy="942082"/>
          </a:xfrm>
          <a:prstGeom prst="roundRect">
            <a:avLst>
              <a:gd name="adj" fmla="val 2859"/>
            </a:avLst>
          </a:prstGeom>
          <a:solidFill>
            <a:srgbClr val="71260E"/>
          </a:solidFill>
          <a:ln/>
        </p:spPr>
      </p:sp>
      <p:pic>
        <p:nvPicPr>
          <p:cNvPr id="7" name="Image 1" descr="preencoded.png">    </p:cNvPr>
          <p:cNvPicPr>
            <a:picLocks noChangeAspect="1"/>
          </p:cNvPicPr>
          <p:nvPr/>
        </p:nvPicPr>
        <p:blipFill>
          <a:blip r:embed="rId2"/>
          <a:stretch>
            <a:fillRect/>
          </a:stretch>
        </p:blipFill>
        <p:spPr>
          <a:xfrm>
            <a:off x="5449454" y="5521226"/>
            <a:ext cx="224328" cy="179487"/>
          </a:xfrm>
          <a:prstGeom prst="rect">
            <a:avLst/>
          </a:prstGeom>
        </p:spPr>
      </p:pic>
      <p:sp>
        <p:nvSpPr>
          <p:cNvPr id="8" name="Text 4"/>
          <p:cNvSpPr/>
          <p:nvPr/>
        </p:nvSpPr>
        <p:spPr>
          <a:xfrm>
            <a:off x="5853264" y="5500489"/>
            <a:ext cx="5460863" cy="545505"/>
          </a:xfrm>
          <a:prstGeom prst="rect">
            <a:avLst/>
          </a:prstGeom>
          <a:noFill/>
          <a:ln/>
        </p:spPr>
        <p:txBody>
          <a:bodyPr wrap="square" lIns="0" tIns="0" rIns="0" bIns="0" rtlCol="0" anchor="t">
            <a:normAutofit/>
          </a:bodyPr>
          <a:lstStyle/>
          <a:p>
            <a:pPr algn="l" indent="0" marL="0">
              <a:lnSpc>
                <a:spcPct val="127000"/>
              </a:lnSpc>
              <a:buNone/>
            </a:pPr>
            <a:r>
              <a:rPr lang="en-US" sz="1400" dirty="0">
                <a:solidFill>
                  <a:srgbClr val="FFFFFF"/>
                </a:solidFill>
                <a:latin typeface="Quattrocento" pitchFamily="34" charset="0"/>
                <a:ea typeface="Quattrocento" pitchFamily="34" charset="-122"/>
                <a:cs typeface="Quattrocento" pitchFamily="34" charset="-120"/>
              </a:rPr>
              <a:t>That one decision removes the licence, removes the fraud, and leaves us with the only thing that was ever actually valuable.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836216"/>
            <a:ext cx="10795524" cy="469404"/>
          </a:xfrm>
          <a:prstGeom prst="rect">
            <a:avLst/>
          </a:prstGeom>
          <a:noFill/>
          <a:ln/>
        </p:spPr>
        <p:txBody>
          <a:bodyPr wrap="none" lIns="0" tIns="0" rIns="0" bIns="0" rtlCol="0" anchor="t"/>
          <a:lstStyle/>
          <a:p>
            <a:pPr algn="l" indent="0" marL="0">
              <a:lnSpc>
                <a:spcPct val="104000"/>
              </a:lnSpc>
              <a:buNone/>
            </a:pPr>
            <a:r>
              <a:rPr lang="en-US" sz="2950" dirty="0">
                <a:solidFill>
                  <a:srgbClr val="FFD9BE"/>
                </a:solidFill>
                <a:latin typeface="Quattrocento" pitchFamily="34" charset="0"/>
                <a:ea typeface="Quattrocento" pitchFamily="34" charset="-122"/>
                <a:cs typeface="Quattrocento" pitchFamily="34" charset="-120"/>
              </a:rPr>
              <a:t>Where the money actually goes</a:t>
            </a:r>
            <a:endParaRPr lang="en-US" sz="2950" dirty="0"/>
          </a:p>
        </p:txBody>
      </p:sp>
      <p:sp>
        <p:nvSpPr>
          <p:cNvPr id="3" name="Text 1"/>
          <p:cNvSpPr/>
          <p:nvPr/>
        </p:nvSpPr>
        <p:spPr>
          <a:xfrm>
            <a:off x="698086" y="1560909"/>
            <a:ext cx="11405108" cy="229691"/>
          </a:xfrm>
          <a:prstGeom prst="rect">
            <a:avLst/>
          </a:prstGeom>
          <a:noFill/>
          <a:ln/>
        </p:spPr>
        <p:txBody>
          <a:bodyPr wrap="none" lIns="0" tIns="0" rIns="0" bIns="0" rtlCol="0" anchor="t"/>
          <a:lstStyle/>
          <a:p>
            <a:pPr algn="l" indent="0" marL="0">
              <a:lnSpc>
                <a:spcPct val="120000"/>
              </a:lnSpc>
              <a:buNone/>
            </a:pPr>
            <a:r>
              <a:rPr lang="en-US" sz="1250" dirty="0">
                <a:solidFill>
                  <a:srgbClr val="F9EEE7"/>
                </a:solidFill>
                <a:latin typeface="Quattrocento" pitchFamily="34" charset="0"/>
                <a:ea typeface="Quattrocento" pitchFamily="34" charset="-122"/>
                <a:cs typeface="Quattrocento" pitchFamily="34" charset="-120"/>
              </a:rPr>
              <a:t>Four steps. The money never stops with us.</a:t>
            </a:r>
            <a:endParaRPr lang="en-US" sz="1250" dirty="0"/>
          </a:p>
        </p:txBody>
      </p:sp>
      <p:pic>
        <p:nvPicPr>
          <p:cNvPr id="4" name="Image 0" descr="preencoded.png">    </p:cNvPr>
          <p:cNvPicPr>
            <a:picLocks noChangeAspect="1"/>
          </p:cNvPicPr>
          <p:nvPr/>
        </p:nvPicPr>
        <p:blipFill>
          <a:blip r:embed="rId1"/>
          <a:stretch>
            <a:fillRect/>
          </a:stretch>
        </p:blipFill>
        <p:spPr>
          <a:xfrm>
            <a:off x="698086" y="1934170"/>
            <a:ext cx="5397762" cy="638274"/>
          </a:xfrm>
          <a:prstGeom prst="rect">
            <a:avLst/>
          </a:prstGeom>
        </p:spPr>
      </p:pic>
      <p:sp>
        <p:nvSpPr>
          <p:cNvPr id="5" name="Text 2"/>
          <p:cNvSpPr/>
          <p:nvPr/>
        </p:nvSpPr>
        <p:spPr>
          <a:xfrm>
            <a:off x="857625" y="2700040"/>
            <a:ext cx="5078682" cy="234652"/>
          </a:xfrm>
          <a:prstGeom prst="rect">
            <a:avLst/>
          </a:prstGeom>
          <a:noFill/>
          <a:ln/>
        </p:spPr>
        <p:txBody>
          <a:bodyPr wrap="none" lIns="0" tIns="0" rIns="0" bIns="0" rtlCol="0" anchor="t"/>
          <a:lstStyle/>
          <a:p>
            <a:pPr algn="l" indent="0" marL="0">
              <a:lnSpc>
                <a:spcPct val="104000"/>
              </a:lnSpc>
              <a:buNone/>
            </a:pPr>
            <a:r>
              <a:rPr lang="en-US" sz="1450" dirty="0">
                <a:solidFill>
                  <a:srgbClr val="F9EEE7"/>
                </a:solidFill>
                <a:latin typeface="Quattrocento" pitchFamily="34" charset="0"/>
                <a:ea typeface="Quattrocento" pitchFamily="34" charset="-122"/>
                <a:cs typeface="Quattrocento" pitchFamily="34" charset="-120"/>
              </a:rPr>
              <a:t>1. Payday</a:t>
            </a:r>
            <a:endParaRPr lang="en-US" sz="1450" dirty="0"/>
          </a:p>
        </p:txBody>
      </p:sp>
      <p:sp>
        <p:nvSpPr>
          <p:cNvPr id="6" name="Text 3"/>
          <p:cNvSpPr/>
          <p:nvPr/>
        </p:nvSpPr>
        <p:spPr>
          <a:xfrm>
            <a:off x="857625" y="3011289"/>
            <a:ext cx="5078682"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F9EEE7"/>
                </a:solidFill>
                <a:latin typeface="Quattrocento" pitchFamily="34" charset="0"/>
                <a:ea typeface="Quattrocento" pitchFamily="34" charset="-122"/>
                <a:cs typeface="Quattrocento" pitchFamily="34" charset="-120"/>
              </a:rPr>
              <a:t>We collect on the morning your pay lands, not on the due date, because that is when the money is actually there.</a:t>
            </a:r>
            <a:endParaRPr lang="en-US" sz="1250" dirty="0"/>
          </a:p>
        </p:txBody>
      </p:sp>
      <p:pic>
        <p:nvPicPr>
          <p:cNvPr id="7" name="Image 1" descr="preencoded.png">    </p:cNvPr>
          <p:cNvPicPr>
            <a:picLocks noChangeAspect="1"/>
          </p:cNvPicPr>
          <p:nvPr/>
        </p:nvPicPr>
        <p:blipFill>
          <a:blip r:embed="rId2"/>
          <a:stretch>
            <a:fillRect/>
          </a:stretch>
        </p:blipFill>
        <p:spPr>
          <a:xfrm>
            <a:off x="6095848" y="1934170"/>
            <a:ext cx="5397762" cy="638274"/>
          </a:xfrm>
          <a:prstGeom prst="rect">
            <a:avLst/>
          </a:prstGeom>
        </p:spPr>
      </p:pic>
      <p:sp>
        <p:nvSpPr>
          <p:cNvPr id="8" name="Text 4"/>
          <p:cNvSpPr/>
          <p:nvPr/>
        </p:nvSpPr>
        <p:spPr>
          <a:xfrm>
            <a:off x="6255387" y="2700040"/>
            <a:ext cx="5078682" cy="234652"/>
          </a:xfrm>
          <a:prstGeom prst="rect">
            <a:avLst/>
          </a:prstGeom>
          <a:noFill/>
          <a:ln/>
        </p:spPr>
        <p:txBody>
          <a:bodyPr wrap="none" lIns="0" tIns="0" rIns="0" bIns="0" rtlCol="0" anchor="t"/>
          <a:lstStyle/>
          <a:p>
            <a:pPr algn="l" indent="0" marL="0">
              <a:lnSpc>
                <a:spcPct val="104000"/>
              </a:lnSpc>
              <a:buNone/>
            </a:pPr>
            <a:r>
              <a:rPr lang="en-US" sz="1450" dirty="0">
                <a:solidFill>
                  <a:srgbClr val="F9EEE7"/>
                </a:solidFill>
                <a:latin typeface="Quattrocento" pitchFamily="34" charset="0"/>
                <a:ea typeface="Quattrocento" pitchFamily="34" charset="-122"/>
                <a:cs typeface="Quattrocento" pitchFamily="34" charset="-120"/>
              </a:rPr>
              <a:t>2. Direct</a:t>
            </a:r>
            <a:endParaRPr lang="en-US" sz="1450" dirty="0"/>
          </a:p>
        </p:txBody>
      </p:sp>
      <p:sp>
        <p:nvSpPr>
          <p:cNvPr id="9" name="Text 5"/>
          <p:cNvSpPr/>
          <p:nvPr/>
        </p:nvSpPr>
        <p:spPr>
          <a:xfrm>
            <a:off x="6255387" y="3011289"/>
            <a:ext cx="5078682"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F9EEE7"/>
                </a:solidFill>
                <a:latin typeface="Quattrocento" pitchFamily="34" charset="0"/>
                <a:ea typeface="Quattrocento" pitchFamily="34" charset="-122"/>
                <a:cs typeface="Quattrocento" pitchFamily="34" charset="-120"/>
              </a:rPr>
              <a:t>It moves from the payer's account to the receiver's account on the national rail. It never stops with us.</a:t>
            </a:r>
            <a:endParaRPr lang="en-US" sz="1250" dirty="0"/>
          </a:p>
        </p:txBody>
      </p:sp>
      <p:pic>
        <p:nvPicPr>
          <p:cNvPr id="10" name="Image 2" descr="preencoded.png">    </p:cNvPr>
          <p:cNvPicPr>
            <a:picLocks noChangeAspect="1"/>
          </p:cNvPicPr>
          <p:nvPr/>
        </p:nvPicPr>
        <p:blipFill>
          <a:blip r:embed="rId3"/>
          <a:stretch>
            <a:fillRect/>
          </a:stretch>
        </p:blipFill>
        <p:spPr>
          <a:xfrm>
            <a:off x="698086" y="3630216"/>
            <a:ext cx="5397762" cy="638274"/>
          </a:xfrm>
          <a:prstGeom prst="rect">
            <a:avLst/>
          </a:prstGeom>
        </p:spPr>
      </p:pic>
      <p:sp>
        <p:nvSpPr>
          <p:cNvPr id="11" name="Text 6"/>
          <p:cNvSpPr/>
          <p:nvPr/>
        </p:nvSpPr>
        <p:spPr>
          <a:xfrm>
            <a:off x="857625" y="4396085"/>
            <a:ext cx="5078682" cy="234652"/>
          </a:xfrm>
          <a:prstGeom prst="rect">
            <a:avLst/>
          </a:prstGeom>
          <a:noFill/>
          <a:ln/>
        </p:spPr>
        <p:txBody>
          <a:bodyPr wrap="none" lIns="0" tIns="0" rIns="0" bIns="0" rtlCol="0" anchor="t"/>
          <a:lstStyle/>
          <a:p>
            <a:pPr algn="l" indent="0" marL="0">
              <a:lnSpc>
                <a:spcPct val="104000"/>
              </a:lnSpc>
              <a:buNone/>
            </a:pPr>
            <a:r>
              <a:rPr lang="en-US" sz="1450" dirty="0">
                <a:solidFill>
                  <a:srgbClr val="F9EEE7"/>
                </a:solidFill>
                <a:latin typeface="Quattrocento" pitchFamily="34" charset="0"/>
                <a:ea typeface="Quattrocento" pitchFamily="34" charset="-122"/>
                <a:cs typeface="Quattrocento" pitchFamily="34" charset="-120"/>
              </a:rPr>
              <a:t>3. Recorded</a:t>
            </a:r>
            <a:endParaRPr lang="en-US" sz="1450" dirty="0"/>
          </a:p>
        </p:txBody>
      </p:sp>
      <p:sp>
        <p:nvSpPr>
          <p:cNvPr id="12" name="Text 7"/>
          <p:cNvSpPr/>
          <p:nvPr/>
        </p:nvSpPr>
        <p:spPr>
          <a:xfrm>
            <a:off x="857625" y="4707334"/>
            <a:ext cx="5078682" cy="229691"/>
          </a:xfrm>
          <a:prstGeom prst="rect">
            <a:avLst/>
          </a:prstGeom>
          <a:noFill/>
          <a:ln/>
        </p:spPr>
        <p:txBody>
          <a:bodyPr wrap="none" lIns="0" tIns="0" rIns="0" bIns="0" rtlCol="0" anchor="t"/>
          <a:lstStyle/>
          <a:p>
            <a:pPr algn="l" indent="0" marL="0">
              <a:lnSpc>
                <a:spcPct val="120000"/>
              </a:lnSpc>
              <a:buNone/>
            </a:pPr>
            <a:r>
              <a:rPr lang="en-US" sz="1250" dirty="0">
                <a:solidFill>
                  <a:srgbClr val="F9EEE7"/>
                </a:solidFill>
                <a:latin typeface="Quattrocento" pitchFamily="34" charset="0"/>
                <a:ea typeface="Quattrocento" pitchFamily="34" charset="-122"/>
                <a:cs typeface="Quattrocento" pitchFamily="34" charset="-120"/>
              </a:rPr>
              <a:t>Both sides get a receipt. Two matching ledger entries. Tied to a CNIC.</a:t>
            </a:r>
            <a:endParaRPr lang="en-US" sz="1250" dirty="0"/>
          </a:p>
        </p:txBody>
      </p:sp>
      <p:pic>
        <p:nvPicPr>
          <p:cNvPr id="13" name="Image 3" descr="preencoded.png">    </p:cNvPr>
          <p:cNvPicPr>
            <a:picLocks noChangeAspect="1"/>
          </p:cNvPicPr>
          <p:nvPr/>
        </p:nvPicPr>
        <p:blipFill>
          <a:blip r:embed="rId4"/>
          <a:stretch>
            <a:fillRect/>
          </a:stretch>
        </p:blipFill>
        <p:spPr>
          <a:xfrm>
            <a:off x="6095848" y="3630216"/>
            <a:ext cx="5397762" cy="638274"/>
          </a:xfrm>
          <a:prstGeom prst="rect">
            <a:avLst/>
          </a:prstGeom>
        </p:spPr>
      </p:pic>
      <p:sp>
        <p:nvSpPr>
          <p:cNvPr id="14" name="Text 8"/>
          <p:cNvSpPr/>
          <p:nvPr/>
        </p:nvSpPr>
        <p:spPr>
          <a:xfrm>
            <a:off x="6255387" y="4396085"/>
            <a:ext cx="5078682" cy="234652"/>
          </a:xfrm>
          <a:prstGeom prst="rect">
            <a:avLst/>
          </a:prstGeom>
          <a:noFill/>
          <a:ln/>
        </p:spPr>
        <p:txBody>
          <a:bodyPr wrap="none" lIns="0" tIns="0" rIns="0" bIns="0" rtlCol="0" anchor="t"/>
          <a:lstStyle/>
          <a:p>
            <a:pPr algn="l" indent="0" marL="0">
              <a:lnSpc>
                <a:spcPct val="104000"/>
              </a:lnSpc>
              <a:buNone/>
            </a:pPr>
            <a:r>
              <a:rPr lang="en-US" sz="1450" dirty="0">
                <a:solidFill>
                  <a:srgbClr val="F9EEE7"/>
                </a:solidFill>
                <a:latin typeface="Quattrocento" pitchFamily="34" charset="0"/>
                <a:ea typeface="Quattrocento" pitchFamily="34" charset="-122"/>
                <a:cs typeface="Quattrocento" pitchFamily="34" charset="-120"/>
              </a:rPr>
              <a:t>4. Furnished</a:t>
            </a:r>
            <a:endParaRPr lang="en-US" sz="1450" dirty="0"/>
          </a:p>
        </p:txBody>
      </p:sp>
      <p:sp>
        <p:nvSpPr>
          <p:cNvPr id="15" name="Text 9"/>
          <p:cNvSpPr/>
          <p:nvPr/>
        </p:nvSpPr>
        <p:spPr>
          <a:xfrm>
            <a:off x="6255387" y="4707334"/>
            <a:ext cx="5078682" cy="229691"/>
          </a:xfrm>
          <a:prstGeom prst="rect">
            <a:avLst/>
          </a:prstGeom>
          <a:noFill/>
          <a:ln/>
        </p:spPr>
        <p:txBody>
          <a:bodyPr wrap="none" lIns="0" tIns="0" rIns="0" bIns="0" rtlCol="0" anchor="t"/>
          <a:lstStyle/>
          <a:p>
            <a:pPr algn="l" indent="0" marL="0">
              <a:lnSpc>
                <a:spcPct val="120000"/>
              </a:lnSpc>
              <a:buNone/>
            </a:pPr>
            <a:r>
              <a:rPr lang="en-US" sz="1250" dirty="0">
                <a:solidFill>
                  <a:srgbClr val="F9EEE7"/>
                </a:solidFill>
                <a:latin typeface="Quattrocento" pitchFamily="34" charset="0"/>
                <a:ea typeface="Quattrocento" pitchFamily="34" charset="-122"/>
                <a:cs typeface="Quattrocento" pitchFamily="34" charset="-120"/>
              </a:rPr>
              <a:t>The record goes to a licensed credit bureau, so it counts outside Halqa.</a:t>
            </a:r>
            <a:endParaRPr lang="en-US" sz="1250" dirty="0"/>
          </a:p>
        </p:txBody>
      </p:sp>
      <p:sp>
        <p:nvSpPr>
          <p:cNvPr id="16" name="Shape 10"/>
          <p:cNvSpPr/>
          <p:nvPr/>
        </p:nvSpPr>
        <p:spPr>
          <a:xfrm>
            <a:off x="698086" y="5240139"/>
            <a:ext cx="10795524" cy="781645"/>
          </a:xfrm>
          <a:prstGeom prst="roundRect">
            <a:avLst>
              <a:gd name="adj" fmla="val 3062"/>
            </a:avLst>
          </a:prstGeom>
          <a:solidFill>
            <a:srgbClr val="71260E"/>
          </a:solidFill>
          <a:ln/>
        </p:spPr>
      </p:sp>
      <p:pic>
        <p:nvPicPr>
          <p:cNvPr id="17" name="Image 4" descr="preencoded.png">    </p:cNvPr>
          <p:cNvPicPr>
            <a:picLocks noChangeAspect="1"/>
          </p:cNvPicPr>
          <p:nvPr/>
        </p:nvPicPr>
        <p:blipFill>
          <a:blip r:embed="rId5"/>
          <a:stretch>
            <a:fillRect/>
          </a:stretch>
        </p:blipFill>
        <p:spPr>
          <a:xfrm>
            <a:off x="857625" y="5426770"/>
            <a:ext cx="199425" cy="159544"/>
          </a:xfrm>
          <a:prstGeom prst="rect">
            <a:avLst/>
          </a:prstGeom>
        </p:spPr>
      </p:pic>
      <p:sp>
        <p:nvSpPr>
          <p:cNvPr id="18" name="Text 11"/>
          <p:cNvSpPr/>
          <p:nvPr/>
        </p:nvSpPr>
        <p:spPr>
          <a:xfrm>
            <a:off x="1216590" y="5407620"/>
            <a:ext cx="10117480"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FFFFFF"/>
                </a:solidFill>
                <a:latin typeface="Quattrocento" pitchFamily="34" charset="0"/>
                <a:ea typeface="Quattrocento" pitchFamily="34" charset="-122"/>
                <a:cs typeface="Quattrocento" pitchFamily="34" charset="-120"/>
              </a:rPr>
              <a:t>Because nothing is ever held, there is no pool to steal, no balance to lose, and no licence to wait for. What we need is a merchant agreement — the same contract any online shop signs.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086" y="618927"/>
            <a:ext cx="10795524" cy="440035"/>
          </a:xfrm>
          <a:prstGeom prst="rect">
            <a:avLst/>
          </a:prstGeom>
          <a:noFill/>
          <a:ln/>
        </p:spPr>
        <p:txBody>
          <a:bodyPr wrap="none" lIns="0" tIns="0" rIns="0" bIns="0" rtlCol="0" anchor="t"/>
          <a:lstStyle/>
          <a:p>
            <a:pPr algn="l" indent="0" marL="0">
              <a:lnSpc>
                <a:spcPct val="104000"/>
              </a:lnSpc>
              <a:buNone/>
            </a:pPr>
            <a:r>
              <a:rPr lang="en-US" sz="2750" dirty="0">
                <a:solidFill>
                  <a:srgbClr val="FFD9BE"/>
                </a:solidFill>
                <a:latin typeface="Quattrocento" pitchFamily="34" charset="0"/>
                <a:ea typeface="Quattrocento" pitchFamily="34" charset="-122"/>
                <a:cs typeface="Quattrocento" pitchFamily="34" charset="-120"/>
              </a:rPr>
              <a:t>This is not a concept. It is running.</a:t>
            </a:r>
            <a:endParaRPr lang="en-US" sz="2750" dirty="0"/>
          </a:p>
        </p:txBody>
      </p:sp>
      <p:sp>
        <p:nvSpPr>
          <p:cNvPr id="3" name="Text 1"/>
          <p:cNvSpPr/>
          <p:nvPr/>
        </p:nvSpPr>
        <p:spPr>
          <a:xfrm>
            <a:off x="1364025" y="1358007"/>
            <a:ext cx="3995638" cy="493713"/>
          </a:xfrm>
          <a:prstGeom prst="rect">
            <a:avLst/>
          </a:prstGeom>
          <a:noFill/>
          <a:ln/>
        </p:spPr>
        <p:txBody>
          <a:bodyPr wrap="none" lIns="0" tIns="0" rIns="0" bIns="0" rtlCol="0" anchor="t"/>
          <a:lstStyle/>
          <a:p>
            <a:pPr algn="ctr" indent="0" marL="0">
              <a:lnSpc>
                <a:spcPct val="83000"/>
              </a:lnSpc>
              <a:buNone/>
            </a:pPr>
            <a:r>
              <a:rPr lang="en-US" sz="3850" dirty="0">
                <a:solidFill>
                  <a:srgbClr val="F9EEE7"/>
                </a:solidFill>
                <a:latin typeface="Quattrocento" pitchFamily="34" charset="0"/>
                <a:ea typeface="Quattrocento" pitchFamily="34" charset="-122"/>
                <a:cs typeface="Quattrocento" pitchFamily="34" charset="-120"/>
              </a:rPr>
              <a:t>Live</a:t>
            </a:r>
            <a:endParaRPr lang="en-US" sz="3850" dirty="0"/>
          </a:p>
        </p:txBody>
      </p:sp>
      <p:sp>
        <p:nvSpPr>
          <p:cNvPr id="4" name="Text 2"/>
          <p:cNvSpPr/>
          <p:nvPr/>
        </p:nvSpPr>
        <p:spPr>
          <a:xfrm>
            <a:off x="698086" y="2010569"/>
            <a:ext cx="5327616" cy="219968"/>
          </a:xfrm>
          <a:prstGeom prst="rect">
            <a:avLst/>
          </a:prstGeom>
          <a:noFill/>
          <a:ln/>
        </p:spPr>
        <p:txBody>
          <a:bodyPr wrap="none" lIns="0" tIns="0" rIns="0" bIns="0" rtlCol="0" anchor="t"/>
          <a:lstStyle/>
          <a:p>
            <a:pPr algn="ctr"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In production</a:t>
            </a:r>
            <a:endParaRPr lang="en-US" sz="1350" dirty="0"/>
          </a:p>
        </p:txBody>
      </p:sp>
      <p:sp>
        <p:nvSpPr>
          <p:cNvPr id="5" name="Text 3"/>
          <p:cNvSpPr/>
          <p:nvPr/>
        </p:nvSpPr>
        <p:spPr>
          <a:xfrm>
            <a:off x="698086" y="2297807"/>
            <a:ext cx="5327616" cy="209451"/>
          </a:xfrm>
          <a:prstGeom prst="rect">
            <a:avLst/>
          </a:prstGeom>
          <a:noFill/>
          <a:ln/>
        </p:spPr>
        <p:txBody>
          <a:bodyPr wrap="none" lIns="0" tIns="0" rIns="0" bIns="0" rtlCol="0" anchor="t"/>
          <a:lstStyle/>
          <a:p>
            <a:pPr algn="ctr"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Since 20 July 2026</a:t>
            </a:r>
            <a:endParaRPr lang="en-US" sz="1150" dirty="0"/>
          </a:p>
        </p:txBody>
      </p:sp>
      <p:sp>
        <p:nvSpPr>
          <p:cNvPr id="6" name="Text 4"/>
          <p:cNvSpPr/>
          <p:nvPr/>
        </p:nvSpPr>
        <p:spPr>
          <a:xfrm>
            <a:off x="6831834" y="1358007"/>
            <a:ext cx="3995737" cy="493713"/>
          </a:xfrm>
          <a:prstGeom prst="rect">
            <a:avLst/>
          </a:prstGeom>
          <a:noFill/>
          <a:ln/>
        </p:spPr>
        <p:txBody>
          <a:bodyPr wrap="none" lIns="0" tIns="0" rIns="0" bIns="0" rtlCol="0" anchor="t"/>
          <a:lstStyle/>
          <a:p>
            <a:pPr algn="ctr" indent="0" marL="0">
              <a:lnSpc>
                <a:spcPct val="83000"/>
              </a:lnSpc>
              <a:buNone/>
            </a:pPr>
            <a:r>
              <a:rPr lang="en-US" sz="3850" dirty="0">
                <a:solidFill>
                  <a:srgbClr val="F9EEE7"/>
                </a:solidFill>
                <a:latin typeface="Quattrocento" pitchFamily="34" charset="0"/>
                <a:ea typeface="Quattrocento" pitchFamily="34" charset="-122"/>
                <a:cs typeface="Quattrocento" pitchFamily="34" charset="-120"/>
              </a:rPr>
              <a:t>412</a:t>
            </a:r>
            <a:endParaRPr lang="en-US" sz="3850" dirty="0"/>
          </a:p>
        </p:txBody>
      </p:sp>
      <p:sp>
        <p:nvSpPr>
          <p:cNvPr id="7" name="Text 5"/>
          <p:cNvSpPr/>
          <p:nvPr/>
        </p:nvSpPr>
        <p:spPr>
          <a:xfrm>
            <a:off x="6165894" y="2010569"/>
            <a:ext cx="5327715" cy="219968"/>
          </a:xfrm>
          <a:prstGeom prst="rect">
            <a:avLst/>
          </a:prstGeom>
          <a:noFill/>
          <a:ln/>
        </p:spPr>
        <p:txBody>
          <a:bodyPr wrap="none" lIns="0" tIns="0" rIns="0" bIns="0" rtlCol="0" anchor="t"/>
          <a:lstStyle/>
          <a:p>
            <a:pPr algn="ctr"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Automated tests</a:t>
            </a:r>
            <a:endParaRPr lang="en-US" sz="1350" dirty="0"/>
          </a:p>
        </p:txBody>
      </p:sp>
      <p:sp>
        <p:nvSpPr>
          <p:cNvPr id="8" name="Text 6"/>
          <p:cNvSpPr/>
          <p:nvPr/>
        </p:nvSpPr>
        <p:spPr>
          <a:xfrm>
            <a:off x="6165894" y="2297807"/>
            <a:ext cx="5327715" cy="209451"/>
          </a:xfrm>
          <a:prstGeom prst="rect">
            <a:avLst/>
          </a:prstGeom>
          <a:noFill/>
          <a:ln/>
        </p:spPr>
        <p:txBody>
          <a:bodyPr wrap="none" lIns="0" tIns="0" rIns="0" bIns="0" rtlCol="0" anchor="t"/>
          <a:lstStyle/>
          <a:p>
            <a:pPr algn="ctr"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All passing</a:t>
            </a:r>
            <a:endParaRPr lang="en-US" sz="1150" dirty="0"/>
          </a:p>
        </p:txBody>
      </p:sp>
      <p:sp>
        <p:nvSpPr>
          <p:cNvPr id="9" name="Text 7"/>
          <p:cNvSpPr/>
          <p:nvPr/>
        </p:nvSpPr>
        <p:spPr>
          <a:xfrm>
            <a:off x="1364025" y="2806303"/>
            <a:ext cx="3995638" cy="493713"/>
          </a:xfrm>
          <a:prstGeom prst="rect">
            <a:avLst/>
          </a:prstGeom>
          <a:noFill/>
          <a:ln/>
        </p:spPr>
        <p:txBody>
          <a:bodyPr wrap="none" lIns="0" tIns="0" rIns="0" bIns="0" rtlCol="0" anchor="t"/>
          <a:lstStyle/>
          <a:p>
            <a:pPr algn="ctr" indent="0" marL="0">
              <a:lnSpc>
                <a:spcPct val="83000"/>
              </a:lnSpc>
              <a:buNone/>
            </a:pPr>
            <a:r>
              <a:rPr lang="en-US" sz="3850" dirty="0">
                <a:solidFill>
                  <a:srgbClr val="F9EEE7"/>
                </a:solidFill>
                <a:latin typeface="Quattrocento" pitchFamily="34" charset="0"/>
                <a:ea typeface="Quattrocento" pitchFamily="34" charset="-122"/>
                <a:cs typeface="Quattrocento" pitchFamily="34" charset="-120"/>
              </a:rPr>
              <a:t>Rs 0</a:t>
            </a:r>
            <a:endParaRPr lang="en-US" sz="3850" dirty="0"/>
          </a:p>
        </p:txBody>
      </p:sp>
      <p:sp>
        <p:nvSpPr>
          <p:cNvPr id="10" name="Text 8"/>
          <p:cNvSpPr/>
          <p:nvPr/>
        </p:nvSpPr>
        <p:spPr>
          <a:xfrm>
            <a:off x="698086" y="3458865"/>
            <a:ext cx="5327616" cy="219968"/>
          </a:xfrm>
          <a:prstGeom prst="rect">
            <a:avLst/>
          </a:prstGeom>
          <a:noFill/>
          <a:ln/>
        </p:spPr>
        <p:txBody>
          <a:bodyPr wrap="none" lIns="0" tIns="0" rIns="0" bIns="0" rtlCol="0" anchor="t"/>
          <a:lstStyle/>
          <a:p>
            <a:pPr algn="ctr"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Member cost</a:t>
            </a:r>
            <a:endParaRPr lang="en-US" sz="1350" dirty="0"/>
          </a:p>
        </p:txBody>
      </p:sp>
      <p:sp>
        <p:nvSpPr>
          <p:cNvPr id="11" name="Text 9"/>
          <p:cNvSpPr/>
          <p:nvPr/>
        </p:nvSpPr>
        <p:spPr>
          <a:xfrm>
            <a:off x="698086" y="3746103"/>
            <a:ext cx="5327616" cy="209451"/>
          </a:xfrm>
          <a:prstGeom prst="rect">
            <a:avLst/>
          </a:prstGeom>
          <a:noFill/>
          <a:ln/>
        </p:spPr>
        <p:txBody>
          <a:bodyPr wrap="none" lIns="0" tIns="0" rIns="0" bIns="0" rtlCol="0" anchor="t"/>
          <a:lstStyle/>
          <a:p>
            <a:pPr algn="ctr"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Free to join</a:t>
            </a:r>
            <a:endParaRPr lang="en-US" sz="1150" dirty="0"/>
          </a:p>
        </p:txBody>
      </p:sp>
      <p:sp>
        <p:nvSpPr>
          <p:cNvPr id="12" name="Text 10"/>
          <p:cNvSpPr/>
          <p:nvPr/>
        </p:nvSpPr>
        <p:spPr>
          <a:xfrm>
            <a:off x="6831834" y="2806303"/>
            <a:ext cx="3995737" cy="493713"/>
          </a:xfrm>
          <a:prstGeom prst="rect">
            <a:avLst/>
          </a:prstGeom>
          <a:noFill/>
          <a:ln/>
        </p:spPr>
        <p:txBody>
          <a:bodyPr wrap="none" lIns="0" tIns="0" rIns="0" bIns="0" rtlCol="0" anchor="t"/>
          <a:lstStyle/>
          <a:p>
            <a:pPr algn="ctr" indent="0" marL="0">
              <a:lnSpc>
                <a:spcPct val="83000"/>
              </a:lnSpc>
              <a:buNone/>
            </a:pPr>
            <a:r>
              <a:rPr lang="en-US" sz="3850" dirty="0">
                <a:solidFill>
                  <a:srgbClr val="F9EEE7"/>
                </a:solidFill>
                <a:latin typeface="Quattrocento" pitchFamily="34" charset="0"/>
                <a:ea typeface="Quattrocento" pitchFamily="34" charset="-122"/>
                <a:cs typeface="Quattrocento" pitchFamily="34" charset="-120"/>
              </a:rPr>
              <a:t>11</a:t>
            </a:r>
            <a:endParaRPr lang="en-US" sz="3850" dirty="0"/>
          </a:p>
        </p:txBody>
      </p:sp>
      <p:sp>
        <p:nvSpPr>
          <p:cNvPr id="13" name="Text 11"/>
          <p:cNvSpPr/>
          <p:nvPr/>
        </p:nvSpPr>
        <p:spPr>
          <a:xfrm>
            <a:off x="6165894" y="3458865"/>
            <a:ext cx="5327715" cy="219968"/>
          </a:xfrm>
          <a:prstGeom prst="rect">
            <a:avLst/>
          </a:prstGeom>
          <a:noFill/>
          <a:ln/>
        </p:spPr>
        <p:txBody>
          <a:bodyPr wrap="none" lIns="0" tIns="0" rIns="0" bIns="0" rtlCol="0" anchor="t"/>
          <a:lstStyle/>
          <a:p>
            <a:pPr algn="ctr"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Screens built</a:t>
            </a:r>
            <a:endParaRPr lang="en-US" sz="1350" dirty="0"/>
          </a:p>
        </p:txBody>
      </p:sp>
      <p:sp>
        <p:nvSpPr>
          <p:cNvPr id="14" name="Text 12"/>
          <p:cNvSpPr/>
          <p:nvPr/>
        </p:nvSpPr>
        <p:spPr>
          <a:xfrm>
            <a:off x="6165894" y="3746103"/>
            <a:ext cx="5327715" cy="209451"/>
          </a:xfrm>
          <a:prstGeom prst="rect">
            <a:avLst/>
          </a:prstGeom>
          <a:noFill/>
          <a:ln/>
        </p:spPr>
        <p:txBody>
          <a:bodyPr wrap="none" lIns="0" tIns="0" rIns="0" bIns="0" rtlCol="0" anchor="t"/>
          <a:lstStyle/>
          <a:p>
            <a:pPr algn="ctr"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In Urdu and English</a:t>
            </a:r>
            <a:endParaRPr lang="en-US" sz="1150" dirty="0"/>
          </a:p>
        </p:txBody>
      </p:sp>
      <p:sp>
        <p:nvSpPr>
          <p:cNvPr id="15" name="Text 13"/>
          <p:cNvSpPr/>
          <p:nvPr/>
        </p:nvSpPr>
        <p:spPr>
          <a:xfrm>
            <a:off x="698086" y="4081760"/>
            <a:ext cx="11405108"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Everything below is built and working today, not on a roadmap.</a:t>
            </a:r>
            <a:endParaRPr lang="en-US" sz="1150" dirty="0"/>
          </a:p>
        </p:txBody>
      </p:sp>
      <p:sp>
        <p:nvSpPr>
          <p:cNvPr id="16" name="Shape 14"/>
          <p:cNvSpPr/>
          <p:nvPr/>
        </p:nvSpPr>
        <p:spPr>
          <a:xfrm>
            <a:off x="698086" y="4417417"/>
            <a:ext cx="10795524" cy="1821557"/>
          </a:xfrm>
          <a:prstGeom prst="roundRect">
            <a:avLst>
              <a:gd name="adj" fmla="val 1232"/>
            </a:avLst>
          </a:prstGeom>
          <a:noFill/>
          <a:ln w="6350">
            <a:solidFill>
              <a:srgbClr val="FFFFFF">
                <a:alpha val="24000"/>
              </a:srgbClr>
            </a:solidFill>
            <a:prstDash val="solid"/>
          </a:ln>
        </p:spPr>
      </p:sp>
      <p:sp>
        <p:nvSpPr>
          <p:cNvPr id="17" name="Shape 15"/>
          <p:cNvSpPr/>
          <p:nvPr/>
        </p:nvSpPr>
        <p:spPr>
          <a:xfrm>
            <a:off x="698086" y="4783634"/>
            <a:ext cx="10795524" cy="9351"/>
          </a:xfrm>
          <a:prstGeom prst="rect">
            <a:avLst/>
          </a:prstGeom>
          <a:solidFill>
            <a:srgbClr val="FFFFFF">
              <a:alpha val="24000"/>
            </a:srgbClr>
          </a:solidFill>
          <a:ln/>
        </p:spPr>
      </p:sp>
      <p:sp>
        <p:nvSpPr>
          <p:cNvPr id="18" name="Shape 16"/>
          <p:cNvSpPr/>
          <p:nvPr/>
        </p:nvSpPr>
        <p:spPr>
          <a:xfrm>
            <a:off x="698086" y="5146675"/>
            <a:ext cx="10795524" cy="9351"/>
          </a:xfrm>
          <a:prstGeom prst="rect">
            <a:avLst/>
          </a:prstGeom>
          <a:solidFill>
            <a:srgbClr val="FFFFFF">
              <a:alpha val="24000"/>
            </a:srgbClr>
          </a:solidFill>
          <a:ln/>
        </p:spPr>
      </p:sp>
      <p:sp>
        <p:nvSpPr>
          <p:cNvPr id="19" name="Shape 17"/>
          <p:cNvSpPr/>
          <p:nvPr/>
        </p:nvSpPr>
        <p:spPr>
          <a:xfrm>
            <a:off x="698086" y="5509716"/>
            <a:ext cx="10795524" cy="9351"/>
          </a:xfrm>
          <a:prstGeom prst="rect">
            <a:avLst/>
          </a:prstGeom>
          <a:solidFill>
            <a:srgbClr val="FFFFFF">
              <a:alpha val="24000"/>
            </a:srgbClr>
          </a:solidFill>
          <a:ln/>
        </p:spPr>
      </p:sp>
      <p:sp>
        <p:nvSpPr>
          <p:cNvPr id="20" name="Shape 18"/>
          <p:cNvSpPr/>
          <p:nvPr/>
        </p:nvSpPr>
        <p:spPr>
          <a:xfrm>
            <a:off x="698086" y="5872758"/>
            <a:ext cx="10795524" cy="9351"/>
          </a:xfrm>
          <a:prstGeom prst="rect">
            <a:avLst/>
          </a:prstGeom>
          <a:solidFill>
            <a:srgbClr val="FFFFFF">
              <a:alpha val="24000"/>
            </a:srgbClr>
          </a:solidFill>
          <a:ln/>
        </p:spPr>
      </p:sp>
      <p:sp>
        <p:nvSpPr>
          <p:cNvPr id="21" name="Text 19"/>
          <p:cNvSpPr/>
          <p:nvPr/>
        </p:nvSpPr>
        <p:spPr>
          <a:xfrm>
            <a:off x="853954" y="4497388"/>
            <a:ext cx="5701959" cy="209451"/>
          </a:xfrm>
          <a:prstGeom prst="rect">
            <a:avLst/>
          </a:prstGeom>
          <a:noFill/>
          <a:ln/>
        </p:spPr>
        <p:txBody>
          <a:bodyPr wrap="none" lIns="0" tIns="0" rIns="0" bIns="0" rtlCol="0" anchor="t"/>
          <a:lstStyle/>
          <a:p>
            <a:pPr algn="l" indent="0" marL="0">
              <a:lnSpc>
                <a:spcPct val="117000"/>
              </a:lnSpc>
              <a:buNone/>
            </a:pPr>
            <a:r>
              <a:rPr lang="en-US" sz="1150" b="1" dirty="0">
                <a:solidFill>
                  <a:srgbClr val="F9EEE7"/>
                </a:solidFill>
                <a:latin typeface="Quattrocento Bold" pitchFamily="34" charset="0"/>
                <a:ea typeface="Quattrocento Bold" pitchFamily="34" charset="-122"/>
                <a:cs typeface="Quattrocento Bold" pitchFamily="34" charset="-120"/>
              </a:rPr>
              <a:t>What the member touches</a:t>
            </a:r>
            <a:endParaRPr lang="en-US" sz="1150" dirty="0"/>
          </a:p>
        </p:txBody>
      </p:sp>
      <p:sp>
        <p:nvSpPr>
          <p:cNvPr id="22" name="Text 20"/>
          <p:cNvSpPr/>
          <p:nvPr/>
        </p:nvSpPr>
        <p:spPr>
          <a:xfrm>
            <a:off x="6245366" y="4497388"/>
            <a:ext cx="5701959" cy="209451"/>
          </a:xfrm>
          <a:prstGeom prst="rect">
            <a:avLst/>
          </a:prstGeom>
          <a:noFill/>
          <a:ln/>
        </p:spPr>
        <p:txBody>
          <a:bodyPr wrap="none" lIns="0" tIns="0" rIns="0" bIns="0" rtlCol="0" anchor="t"/>
          <a:lstStyle/>
          <a:p>
            <a:pPr algn="l" indent="0" marL="0">
              <a:lnSpc>
                <a:spcPct val="117000"/>
              </a:lnSpc>
              <a:buNone/>
            </a:pPr>
            <a:r>
              <a:rPr lang="en-US" sz="1150" b="1" dirty="0">
                <a:solidFill>
                  <a:srgbClr val="F9EEE7"/>
                </a:solidFill>
                <a:latin typeface="Quattrocento Bold" pitchFamily="34" charset="0"/>
                <a:ea typeface="Quattrocento Bold" pitchFamily="34" charset="-122"/>
                <a:cs typeface="Quattrocento Bold" pitchFamily="34" charset="-120"/>
              </a:rPr>
              <a:t>What runs behind it</a:t>
            </a:r>
            <a:endParaRPr lang="en-US" sz="1150" dirty="0"/>
          </a:p>
        </p:txBody>
      </p:sp>
      <p:sp>
        <p:nvSpPr>
          <p:cNvPr id="23" name="Text 21"/>
          <p:cNvSpPr/>
          <p:nvPr/>
        </p:nvSpPr>
        <p:spPr>
          <a:xfrm>
            <a:off x="853954" y="4860429"/>
            <a:ext cx="5701959"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Ten step signup with CNIC capture and live location</a:t>
            </a:r>
            <a:endParaRPr lang="en-US" sz="1150" dirty="0"/>
          </a:p>
        </p:txBody>
      </p:sp>
      <p:sp>
        <p:nvSpPr>
          <p:cNvPr id="24" name="Text 22"/>
          <p:cNvSpPr/>
          <p:nvPr/>
        </p:nvSpPr>
        <p:spPr>
          <a:xfrm>
            <a:off x="6245366" y="4860429"/>
            <a:ext cx="5701959"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Automatic collection on the member's payday</a:t>
            </a:r>
            <a:endParaRPr lang="en-US" sz="1150" dirty="0"/>
          </a:p>
        </p:txBody>
      </p:sp>
      <p:sp>
        <p:nvSpPr>
          <p:cNvPr id="25" name="Text 23"/>
          <p:cNvSpPr/>
          <p:nvPr/>
        </p:nvSpPr>
        <p:spPr>
          <a:xfrm>
            <a:off x="853954" y="5223470"/>
            <a:ext cx="5701959"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App PIN on every open, plus device biometric</a:t>
            </a:r>
            <a:endParaRPr lang="en-US" sz="1150" dirty="0"/>
          </a:p>
        </p:txBody>
      </p:sp>
      <p:sp>
        <p:nvSpPr>
          <p:cNvPr id="26" name="Text 24"/>
          <p:cNvSpPr/>
          <p:nvPr/>
        </p:nvSpPr>
        <p:spPr>
          <a:xfrm>
            <a:off x="6245366" y="5223470"/>
            <a:ext cx="5701959"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Credit score 300 to 850 with an exportable report</a:t>
            </a:r>
            <a:endParaRPr lang="en-US" sz="1150" dirty="0"/>
          </a:p>
        </p:txBody>
      </p:sp>
      <p:sp>
        <p:nvSpPr>
          <p:cNvPr id="27" name="Text 25"/>
          <p:cNvSpPr/>
          <p:nvPr/>
        </p:nvSpPr>
        <p:spPr>
          <a:xfrm>
            <a:off x="853954" y="5586512"/>
            <a:ext cx="5701959"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Every Pakistani payment rail at checkout</a:t>
            </a:r>
            <a:endParaRPr lang="en-US" sz="1150" dirty="0"/>
          </a:p>
        </p:txBody>
      </p:sp>
      <p:sp>
        <p:nvSpPr>
          <p:cNvPr id="28" name="Text 26"/>
          <p:cNvSpPr/>
          <p:nvPr/>
        </p:nvSpPr>
        <p:spPr>
          <a:xfrm>
            <a:off x="6245366" y="5586512"/>
            <a:ext cx="5701959"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Daily overdue sweep and recovery cases</a:t>
            </a:r>
            <a:endParaRPr lang="en-US" sz="1150" dirty="0"/>
          </a:p>
        </p:txBody>
      </p:sp>
      <p:sp>
        <p:nvSpPr>
          <p:cNvPr id="29" name="Text 27"/>
          <p:cNvSpPr/>
          <p:nvPr/>
        </p:nvSpPr>
        <p:spPr>
          <a:xfrm>
            <a:off x="853954" y="5949553"/>
            <a:ext cx="5701959"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Receipts with a reference for every settlement</a:t>
            </a:r>
            <a:endParaRPr lang="en-US" sz="1150" dirty="0"/>
          </a:p>
        </p:txBody>
      </p:sp>
      <p:sp>
        <p:nvSpPr>
          <p:cNvPr id="30" name="Text 28"/>
          <p:cNvSpPr/>
          <p:nvPr/>
        </p:nvSpPr>
        <p:spPr>
          <a:xfrm>
            <a:off x="6245366" y="5949553"/>
            <a:ext cx="5701959"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Turn marketplace, rewards and streaks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555625"/>
            <a:ext cx="10795524" cy="440035"/>
          </a:xfrm>
          <a:prstGeom prst="rect">
            <a:avLst/>
          </a:prstGeom>
          <a:noFill/>
          <a:ln/>
        </p:spPr>
        <p:txBody>
          <a:bodyPr wrap="none" lIns="0" tIns="0" rIns="0" bIns="0" rtlCol="0" anchor="t"/>
          <a:lstStyle/>
          <a:p>
            <a:pPr algn="l" indent="0" marL="0">
              <a:lnSpc>
                <a:spcPct val="104000"/>
              </a:lnSpc>
              <a:buNone/>
            </a:pPr>
            <a:r>
              <a:rPr lang="en-US" sz="2750" dirty="0">
                <a:solidFill>
                  <a:srgbClr val="FFD9BE"/>
                </a:solidFill>
                <a:latin typeface="Quattrocento" pitchFamily="34" charset="0"/>
                <a:ea typeface="Quattrocento" pitchFamily="34" charset="-122"/>
                <a:cs typeface="Quattrocento" pitchFamily="34" charset="-120"/>
              </a:rPr>
              <a:t>What nobody else has</a:t>
            </a:r>
            <a:endParaRPr lang="en-US" sz="2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219994"/>
            <a:ext cx="10795524" cy="1043285"/>
          </a:xfrm>
          <a:prstGeom prst="rect">
            <a:avLst/>
          </a:prstGeom>
        </p:spPr>
      </p:pic>
      <p:sp>
        <p:nvSpPr>
          <p:cNvPr id="4" name="Text 1"/>
          <p:cNvSpPr/>
          <p:nvPr/>
        </p:nvSpPr>
        <p:spPr>
          <a:xfrm>
            <a:off x="904158" y="1601391"/>
            <a:ext cx="224328" cy="280491"/>
          </a:xfrm>
          <a:prstGeom prst="rect">
            <a:avLst/>
          </a:prstGeom>
          <a:noFill/>
          <a:ln/>
        </p:spPr>
        <p:txBody>
          <a:bodyPr wrap="none" lIns="0" tIns="0" rIns="0" bIns="0" rtlCol="0" anchor="ctr"/>
          <a:lstStyle/>
          <a:p>
            <a:pPr algn="ctr" indent="0" marL="0">
              <a:lnSpc>
                <a:spcPct val="100000"/>
              </a:lnSpc>
              <a:buNone/>
            </a:pPr>
            <a:r>
              <a:rPr lang="en-US" sz="1750" dirty="0">
                <a:solidFill>
                  <a:srgbClr val="F9EEE7"/>
                </a:solidFill>
                <a:latin typeface="Quattrocento" pitchFamily="34" charset="0"/>
                <a:ea typeface="Quattrocento" pitchFamily="34" charset="-122"/>
                <a:cs typeface="Quattrocento" pitchFamily="34" charset="-120"/>
              </a:rPr>
              <a:t>1</a:t>
            </a:r>
            <a:endParaRPr lang="en-US" sz="1750" dirty="0"/>
          </a:p>
        </p:txBody>
      </p:sp>
      <p:sp>
        <p:nvSpPr>
          <p:cNvPr id="5" name="Text 2"/>
          <p:cNvSpPr/>
          <p:nvPr/>
        </p:nvSpPr>
        <p:spPr>
          <a:xfrm>
            <a:off x="1427623" y="1388566"/>
            <a:ext cx="9897418" cy="219968"/>
          </a:xfrm>
          <a:prstGeom prst="rect">
            <a:avLst/>
          </a:prstGeom>
          <a:noFill/>
          <a:ln/>
        </p:spPr>
        <p:txBody>
          <a:bodyPr wrap="none" lIns="0" tIns="0" rIns="0" bIns="0" rtlCol="0" anchor="t"/>
          <a:lstStyle/>
          <a:p>
            <a:pPr algn="l"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Collect on payday, not on the due date</a:t>
            </a:r>
            <a:endParaRPr lang="en-US" sz="1350" dirty="0"/>
          </a:p>
        </p:txBody>
      </p:sp>
      <p:sp>
        <p:nvSpPr>
          <p:cNvPr id="6" name="Text 3"/>
          <p:cNvSpPr/>
          <p:nvPr/>
        </p:nvSpPr>
        <p:spPr>
          <a:xfrm>
            <a:off x="1427623" y="1675805"/>
            <a:ext cx="9897418" cy="41890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It removes the failure where the money arrived and was spent before the deadline. It came from a member saying he pays as soon as his pay arrives.</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8086" y="2375396"/>
            <a:ext cx="10795524" cy="897632"/>
          </a:xfrm>
          <a:prstGeom prst="rect">
            <a:avLst/>
          </a:prstGeom>
        </p:spPr>
      </p:pic>
      <p:sp>
        <p:nvSpPr>
          <p:cNvPr id="8" name="Text 4"/>
          <p:cNvSpPr/>
          <p:nvPr/>
        </p:nvSpPr>
        <p:spPr>
          <a:xfrm>
            <a:off x="904158" y="2683966"/>
            <a:ext cx="224328" cy="280491"/>
          </a:xfrm>
          <a:prstGeom prst="rect">
            <a:avLst/>
          </a:prstGeom>
          <a:noFill/>
          <a:ln/>
        </p:spPr>
        <p:txBody>
          <a:bodyPr wrap="none" lIns="0" tIns="0" rIns="0" bIns="0" rtlCol="0" anchor="ctr"/>
          <a:lstStyle/>
          <a:p>
            <a:pPr algn="ctr" indent="0" marL="0">
              <a:lnSpc>
                <a:spcPct val="100000"/>
              </a:lnSpc>
              <a:buNone/>
            </a:pPr>
            <a:r>
              <a:rPr lang="en-US" sz="1750" dirty="0">
                <a:solidFill>
                  <a:srgbClr val="F9EEE7"/>
                </a:solidFill>
                <a:latin typeface="Quattrocento" pitchFamily="34" charset="0"/>
                <a:ea typeface="Quattrocento" pitchFamily="34" charset="-122"/>
                <a:cs typeface="Quattrocento" pitchFamily="34" charset="-120"/>
              </a:rPr>
              <a:t>2</a:t>
            </a:r>
            <a:endParaRPr lang="en-US" sz="1750" dirty="0"/>
          </a:p>
        </p:txBody>
      </p:sp>
      <p:sp>
        <p:nvSpPr>
          <p:cNvPr id="9" name="Text 5"/>
          <p:cNvSpPr/>
          <p:nvPr/>
        </p:nvSpPr>
        <p:spPr>
          <a:xfrm>
            <a:off x="1427623" y="2543969"/>
            <a:ext cx="9897418" cy="219968"/>
          </a:xfrm>
          <a:prstGeom prst="rect">
            <a:avLst/>
          </a:prstGeom>
          <a:noFill/>
          <a:ln/>
        </p:spPr>
        <p:txBody>
          <a:bodyPr wrap="none" lIns="0" tIns="0" rIns="0" bIns="0" rtlCol="0" anchor="t"/>
          <a:lstStyle/>
          <a:p>
            <a:pPr algn="l"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Your position in the queue is the collateral</a:t>
            </a:r>
            <a:endParaRPr lang="en-US" sz="1350" dirty="0"/>
          </a:p>
        </p:txBody>
      </p:sp>
      <p:sp>
        <p:nvSpPr>
          <p:cNvPr id="10" name="Text 6"/>
          <p:cNvSpPr/>
          <p:nvPr/>
        </p:nvSpPr>
        <p:spPr>
          <a:xfrm>
            <a:off x="1427623" y="2831207"/>
            <a:ext cx="9897418"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New members can only take the last turns, so the most they can cost anyone is tiny. No deposit, no guarantor, no cash held.</a:t>
            </a:r>
            <a:endParaRPr lang="en-US" sz="11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3385145"/>
            <a:ext cx="10795524" cy="897632"/>
          </a:xfrm>
          <a:prstGeom prst="rect">
            <a:avLst/>
          </a:prstGeom>
        </p:spPr>
      </p:pic>
      <p:sp>
        <p:nvSpPr>
          <p:cNvPr id="12" name="Text 7"/>
          <p:cNvSpPr/>
          <p:nvPr/>
        </p:nvSpPr>
        <p:spPr>
          <a:xfrm>
            <a:off x="904158" y="3693716"/>
            <a:ext cx="224328" cy="280491"/>
          </a:xfrm>
          <a:prstGeom prst="rect">
            <a:avLst/>
          </a:prstGeom>
          <a:noFill/>
          <a:ln/>
        </p:spPr>
        <p:txBody>
          <a:bodyPr wrap="none" lIns="0" tIns="0" rIns="0" bIns="0" rtlCol="0" anchor="ctr"/>
          <a:lstStyle/>
          <a:p>
            <a:pPr algn="ctr" indent="0" marL="0">
              <a:lnSpc>
                <a:spcPct val="100000"/>
              </a:lnSpc>
              <a:buNone/>
            </a:pPr>
            <a:r>
              <a:rPr lang="en-US" sz="1750" dirty="0">
                <a:solidFill>
                  <a:srgbClr val="F9EEE7"/>
                </a:solidFill>
                <a:latin typeface="Quattrocento" pitchFamily="34" charset="0"/>
                <a:ea typeface="Quattrocento" pitchFamily="34" charset="-122"/>
                <a:cs typeface="Quattrocento" pitchFamily="34" charset="-120"/>
              </a:rPr>
              <a:t>3</a:t>
            </a:r>
            <a:endParaRPr lang="en-US" sz="1750" dirty="0"/>
          </a:p>
        </p:txBody>
      </p:sp>
      <p:sp>
        <p:nvSpPr>
          <p:cNvPr id="13" name="Text 8"/>
          <p:cNvSpPr/>
          <p:nvPr/>
        </p:nvSpPr>
        <p:spPr>
          <a:xfrm>
            <a:off x="1427623" y="3553718"/>
            <a:ext cx="9897418" cy="219968"/>
          </a:xfrm>
          <a:prstGeom prst="rect">
            <a:avLst/>
          </a:prstGeom>
          <a:noFill/>
          <a:ln/>
        </p:spPr>
        <p:txBody>
          <a:bodyPr wrap="none" lIns="0" tIns="0" rIns="0" bIns="0" rtlCol="0" anchor="t"/>
          <a:lstStyle/>
          <a:p>
            <a:pPr algn="l"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The record is furnished from the day you join</a:t>
            </a:r>
            <a:endParaRPr lang="en-US" sz="1350" dirty="0"/>
          </a:p>
        </p:txBody>
      </p:sp>
      <p:sp>
        <p:nvSpPr>
          <p:cNvPr id="14" name="Text 9"/>
          <p:cNvSpPr/>
          <p:nvPr/>
        </p:nvSpPr>
        <p:spPr>
          <a:xfrm>
            <a:off x="1427623" y="3840956"/>
            <a:ext cx="9897418"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Not from the day you collect. A member has eleven months of proven history before they touch a rupee.</a:t>
            </a:r>
            <a:endParaRPr lang="en-US" sz="11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8086" y="4394895"/>
            <a:ext cx="10795524" cy="897632"/>
          </a:xfrm>
          <a:prstGeom prst="rect">
            <a:avLst/>
          </a:prstGeom>
        </p:spPr>
      </p:pic>
      <p:sp>
        <p:nvSpPr>
          <p:cNvPr id="16" name="Text 10"/>
          <p:cNvSpPr/>
          <p:nvPr/>
        </p:nvSpPr>
        <p:spPr>
          <a:xfrm>
            <a:off x="904158" y="4703465"/>
            <a:ext cx="224328" cy="280491"/>
          </a:xfrm>
          <a:prstGeom prst="rect">
            <a:avLst/>
          </a:prstGeom>
          <a:noFill/>
          <a:ln/>
        </p:spPr>
        <p:txBody>
          <a:bodyPr wrap="none" lIns="0" tIns="0" rIns="0" bIns="0" rtlCol="0" anchor="ctr"/>
          <a:lstStyle/>
          <a:p>
            <a:pPr algn="ctr" indent="0" marL="0">
              <a:lnSpc>
                <a:spcPct val="100000"/>
              </a:lnSpc>
              <a:buNone/>
            </a:pPr>
            <a:r>
              <a:rPr lang="en-US" sz="1750" dirty="0">
                <a:solidFill>
                  <a:srgbClr val="F9EEE7"/>
                </a:solidFill>
                <a:latin typeface="Quattrocento" pitchFamily="34" charset="0"/>
                <a:ea typeface="Quattrocento" pitchFamily="34" charset="-122"/>
                <a:cs typeface="Quattrocento" pitchFamily="34" charset="-120"/>
              </a:rPr>
              <a:t>4</a:t>
            </a:r>
            <a:endParaRPr lang="en-US" sz="1750" dirty="0"/>
          </a:p>
        </p:txBody>
      </p:sp>
      <p:sp>
        <p:nvSpPr>
          <p:cNvPr id="17" name="Text 11"/>
          <p:cNvSpPr/>
          <p:nvPr/>
        </p:nvSpPr>
        <p:spPr>
          <a:xfrm>
            <a:off x="1427623" y="4563467"/>
            <a:ext cx="9897418" cy="219968"/>
          </a:xfrm>
          <a:prstGeom prst="rect">
            <a:avLst/>
          </a:prstGeom>
          <a:noFill/>
          <a:ln/>
        </p:spPr>
        <p:txBody>
          <a:bodyPr wrap="none" lIns="0" tIns="0" rIns="0" bIns="0" rtlCol="0" anchor="t"/>
          <a:lstStyle/>
          <a:p>
            <a:pPr algn="l"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There is no cancel button</a:t>
            </a:r>
            <a:endParaRPr lang="en-US" sz="1350" dirty="0"/>
          </a:p>
        </p:txBody>
      </p:sp>
      <p:sp>
        <p:nvSpPr>
          <p:cNvPr id="18" name="Text 12"/>
          <p:cNvSpPr/>
          <p:nvPr/>
        </p:nvSpPr>
        <p:spPr>
          <a:xfrm>
            <a:off x="1427623" y="4850705"/>
            <a:ext cx="9897418"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Leaving is a ladder of five steps, and the money owed back is settled by the members who already collected. It needs no reserve, only arithmetic.</a:t>
            </a:r>
            <a:endParaRPr lang="en-US" sz="11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8086" y="5404644"/>
            <a:ext cx="10795524" cy="897632"/>
          </a:xfrm>
          <a:prstGeom prst="rect">
            <a:avLst/>
          </a:prstGeom>
        </p:spPr>
      </p:pic>
      <p:sp>
        <p:nvSpPr>
          <p:cNvPr id="20" name="Text 13"/>
          <p:cNvSpPr/>
          <p:nvPr/>
        </p:nvSpPr>
        <p:spPr>
          <a:xfrm>
            <a:off x="904158" y="5713214"/>
            <a:ext cx="224328" cy="280491"/>
          </a:xfrm>
          <a:prstGeom prst="rect">
            <a:avLst/>
          </a:prstGeom>
          <a:noFill/>
          <a:ln/>
        </p:spPr>
        <p:txBody>
          <a:bodyPr wrap="none" lIns="0" tIns="0" rIns="0" bIns="0" rtlCol="0" anchor="ctr"/>
          <a:lstStyle/>
          <a:p>
            <a:pPr algn="ctr" indent="0" marL="0">
              <a:lnSpc>
                <a:spcPct val="100000"/>
              </a:lnSpc>
              <a:buNone/>
            </a:pPr>
            <a:r>
              <a:rPr lang="en-US" sz="1750" dirty="0">
                <a:solidFill>
                  <a:srgbClr val="F9EEE7"/>
                </a:solidFill>
                <a:latin typeface="Quattrocento" pitchFamily="34" charset="0"/>
                <a:ea typeface="Quattrocento" pitchFamily="34" charset="-122"/>
                <a:cs typeface="Quattrocento" pitchFamily="34" charset="-120"/>
              </a:rPr>
              <a:t>5</a:t>
            </a:r>
            <a:endParaRPr lang="en-US" sz="1750" dirty="0"/>
          </a:p>
        </p:txBody>
      </p:sp>
      <p:sp>
        <p:nvSpPr>
          <p:cNvPr id="21" name="Text 14"/>
          <p:cNvSpPr/>
          <p:nvPr/>
        </p:nvSpPr>
        <p:spPr>
          <a:xfrm>
            <a:off x="1427623" y="5573216"/>
            <a:ext cx="9897418" cy="219968"/>
          </a:xfrm>
          <a:prstGeom prst="rect">
            <a:avLst/>
          </a:prstGeom>
          <a:noFill/>
          <a:ln/>
        </p:spPr>
        <p:txBody>
          <a:bodyPr wrap="none" lIns="0" tIns="0" rIns="0" bIns="0" rtlCol="0" anchor="t"/>
          <a:lstStyle/>
          <a:p>
            <a:pPr algn="l" indent="0" marL="0">
              <a:lnSpc>
                <a:spcPct val="104000"/>
              </a:lnSpc>
              <a:buNone/>
            </a:pPr>
            <a:r>
              <a:rPr lang="en-US" sz="1350" dirty="0">
                <a:solidFill>
                  <a:srgbClr val="F9EEE7"/>
                </a:solidFill>
                <a:latin typeface="Quattrocento" pitchFamily="34" charset="0"/>
                <a:ea typeface="Quattrocento" pitchFamily="34" charset="-122"/>
                <a:cs typeface="Quattrocento" pitchFamily="34" charset="-120"/>
              </a:rPr>
              <a:t>A verifiable draw</a:t>
            </a:r>
            <a:endParaRPr lang="en-US" sz="1350" dirty="0"/>
          </a:p>
        </p:txBody>
      </p:sp>
      <p:sp>
        <p:nvSpPr>
          <p:cNvPr id="22" name="Text 15"/>
          <p:cNvSpPr/>
          <p:nvPr/>
        </p:nvSpPr>
        <p:spPr>
          <a:xfrm>
            <a:off x="1427623" y="5860455"/>
            <a:ext cx="9897418" cy="209451"/>
          </a:xfrm>
          <a:prstGeom prst="rect">
            <a:avLst/>
          </a:prstGeom>
          <a:noFill/>
          <a:ln/>
        </p:spPr>
        <p:txBody>
          <a:bodyPr wrap="none" lIns="0" tIns="0" rIns="0" bIns="0" rtlCol="0" anchor="t"/>
          <a:lstStyle/>
          <a:p>
            <a:pPr algn="l" indent="0" marL="0">
              <a:lnSpc>
                <a:spcPct val="117000"/>
              </a:lnSpc>
              <a:buNone/>
            </a:pPr>
            <a:r>
              <a:rPr lang="en-US" sz="1150" dirty="0">
                <a:solidFill>
                  <a:srgbClr val="F9EEE7"/>
                </a:solidFill>
                <a:latin typeface="Quattrocento" pitchFamily="34" charset="0"/>
                <a:ea typeface="Quattrocento" pitchFamily="34" charset="-122"/>
                <a:cs typeface="Quattrocento" pitchFamily="34" charset="-120"/>
              </a:rPr>
              <a:t>The ballot is the ritual. We commit to a hashed seed, every member adds entropy, and the seed is published so anyone can recheck 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8086" y="624384"/>
            <a:ext cx="10795524" cy="498673"/>
          </a:xfrm>
          <a:prstGeom prst="rect">
            <a:avLst/>
          </a:prstGeom>
          <a:noFill/>
          <a:ln/>
        </p:spPr>
        <p:txBody>
          <a:bodyPr wrap="none" lIns="0" tIns="0" rIns="0" bIns="0" rtlCol="0" anchor="t"/>
          <a:lstStyle/>
          <a:p>
            <a:pPr algn="l" indent="0" marL="0">
              <a:lnSpc>
                <a:spcPct val="104000"/>
              </a:lnSpc>
              <a:buNone/>
            </a:pPr>
            <a:r>
              <a:rPr lang="en-US" sz="3100" dirty="0">
                <a:solidFill>
                  <a:srgbClr val="FFD9BE"/>
                </a:solidFill>
                <a:latin typeface="Quattrocento" pitchFamily="34" charset="0"/>
                <a:ea typeface="Quattrocento" pitchFamily="34" charset="-122"/>
                <a:cs typeface="Quattrocento" pitchFamily="34" charset="-120"/>
              </a:rPr>
              <a:t>It scales because the behaviour already exists</a:t>
            </a:r>
            <a:endParaRPr lang="en-US" sz="3100" dirty="0"/>
          </a:p>
        </p:txBody>
      </p:sp>
      <p:sp>
        <p:nvSpPr>
          <p:cNvPr id="3" name="Text 1"/>
          <p:cNvSpPr/>
          <p:nvPr/>
        </p:nvSpPr>
        <p:spPr>
          <a:xfrm>
            <a:off x="1096141" y="1496020"/>
            <a:ext cx="4511463" cy="559594"/>
          </a:xfrm>
          <a:prstGeom prst="rect">
            <a:avLst/>
          </a:prstGeom>
          <a:noFill/>
          <a:ln/>
        </p:spPr>
        <p:txBody>
          <a:bodyPr wrap="none" lIns="0" tIns="0" rIns="0" bIns="0" rtlCol="0" anchor="t"/>
          <a:lstStyle/>
          <a:p>
            <a:pPr algn="ctr" indent="0" marL="0">
              <a:lnSpc>
                <a:spcPct val="83000"/>
              </a:lnSpc>
              <a:buNone/>
            </a:pPr>
            <a:r>
              <a:rPr lang="en-US" sz="4400" dirty="0">
                <a:solidFill>
                  <a:srgbClr val="F9EEE7"/>
                </a:solidFill>
                <a:latin typeface="Quattrocento" pitchFamily="34" charset="0"/>
                <a:ea typeface="Quattrocento" pitchFamily="34" charset="-122"/>
                <a:cs typeface="Quattrocento" pitchFamily="34" charset="-120"/>
              </a:rPr>
              <a:t>Rs 4tn</a:t>
            </a:r>
            <a:endParaRPr lang="en-US" sz="4400" dirty="0"/>
          </a:p>
        </p:txBody>
      </p:sp>
      <p:sp>
        <p:nvSpPr>
          <p:cNvPr id="4" name="Text 2"/>
          <p:cNvSpPr/>
          <p:nvPr/>
        </p:nvSpPr>
        <p:spPr>
          <a:xfrm>
            <a:off x="698086" y="2248396"/>
            <a:ext cx="5307673" cy="249337"/>
          </a:xfrm>
          <a:prstGeom prst="rect">
            <a:avLst/>
          </a:prstGeom>
          <a:noFill/>
          <a:ln/>
        </p:spPr>
        <p:txBody>
          <a:bodyPr wrap="none" lIns="0" tIns="0" rIns="0" bIns="0" rtlCol="0" anchor="t"/>
          <a:lstStyle/>
          <a:p>
            <a:pPr algn="ctr" indent="0" marL="0">
              <a:lnSpc>
                <a:spcPct val="104000"/>
              </a:lnSpc>
              <a:buNone/>
            </a:pPr>
            <a:r>
              <a:rPr lang="en-US" sz="1550" dirty="0">
                <a:solidFill>
                  <a:srgbClr val="F9EEE7"/>
                </a:solidFill>
                <a:latin typeface="Quattrocento" pitchFamily="34" charset="0"/>
                <a:ea typeface="Quattrocento" pitchFamily="34" charset="-122"/>
                <a:cs typeface="Quattrocento" pitchFamily="34" charset="-120"/>
              </a:rPr>
              <a:t>Annual flow</a:t>
            </a:r>
            <a:endParaRPr lang="en-US" sz="1550" dirty="0"/>
          </a:p>
        </p:txBody>
      </p:sp>
      <p:sp>
        <p:nvSpPr>
          <p:cNvPr id="5" name="Text 3"/>
          <p:cNvSpPr/>
          <p:nvPr/>
        </p:nvSpPr>
        <p:spPr>
          <a:xfrm>
            <a:off x="698086" y="2584152"/>
            <a:ext cx="5307673" cy="250924"/>
          </a:xfrm>
          <a:prstGeom prst="rect">
            <a:avLst/>
          </a:prstGeom>
          <a:noFill/>
          <a:ln/>
        </p:spPr>
        <p:txBody>
          <a:bodyPr wrap="none" lIns="0" tIns="0" rIns="0" bIns="0" rtlCol="0" anchor="t"/>
          <a:lstStyle/>
          <a:p>
            <a:pPr algn="ctr"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Moves through Pakistani committees every year</a:t>
            </a:r>
            <a:endParaRPr lang="en-US" sz="1300" dirty="0"/>
          </a:p>
        </p:txBody>
      </p:sp>
      <p:sp>
        <p:nvSpPr>
          <p:cNvPr id="6" name="Text 4"/>
          <p:cNvSpPr/>
          <p:nvPr/>
        </p:nvSpPr>
        <p:spPr>
          <a:xfrm>
            <a:off x="6583892" y="1496020"/>
            <a:ext cx="4511562" cy="559594"/>
          </a:xfrm>
          <a:prstGeom prst="rect">
            <a:avLst/>
          </a:prstGeom>
          <a:noFill/>
          <a:ln/>
        </p:spPr>
        <p:txBody>
          <a:bodyPr wrap="none" lIns="0" tIns="0" rIns="0" bIns="0" rtlCol="0" anchor="t"/>
          <a:lstStyle/>
          <a:p>
            <a:pPr algn="ctr" indent="0" marL="0">
              <a:lnSpc>
                <a:spcPct val="83000"/>
              </a:lnSpc>
              <a:buNone/>
            </a:pPr>
            <a:r>
              <a:rPr lang="en-US" sz="4400" dirty="0">
                <a:solidFill>
                  <a:srgbClr val="F9EEE7"/>
                </a:solidFill>
                <a:latin typeface="Quattrocento" pitchFamily="34" charset="0"/>
                <a:ea typeface="Quattrocento" pitchFamily="34" charset="-122"/>
                <a:cs typeface="Quattrocento" pitchFamily="34" charset="-120"/>
              </a:rPr>
              <a:t>52m</a:t>
            </a:r>
            <a:endParaRPr lang="en-US" sz="4400" dirty="0"/>
          </a:p>
        </p:txBody>
      </p:sp>
      <p:sp>
        <p:nvSpPr>
          <p:cNvPr id="7" name="Text 5"/>
          <p:cNvSpPr/>
          <p:nvPr/>
        </p:nvSpPr>
        <p:spPr>
          <a:xfrm>
            <a:off x="6185837" y="2248396"/>
            <a:ext cx="5307773" cy="249337"/>
          </a:xfrm>
          <a:prstGeom prst="rect">
            <a:avLst/>
          </a:prstGeom>
          <a:noFill/>
          <a:ln/>
        </p:spPr>
        <p:txBody>
          <a:bodyPr wrap="none" lIns="0" tIns="0" rIns="0" bIns="0" rtlCol="0" anchor="t"/>
          <a:lstStyle/>
          <a:p>
            <a:pPr algn="ctr" indent="0" marL="0">
              <a:lnSpc>
                <a:spcPct val="104000"/>
              </a:lnSpc>
              <a:buNone/>
            </a:pPr>
            <a:r>
              <a:rPr lang="en-US" sz="1550" dirty="0">
                <a:solidFill>
                  <a:srgbClr val="F9EEE7"/>
                </a:solidFill>
                <a:latin typeface="Quattrocento" pitchFamily="34" charset="0"/>
                <a:ea typeface="Quattrocento" pitchFamily="34" charset="-122"/>
                <a:cs typeface="Quattrocento" pitchFamily="34" charset="-120"/>
              </a:rPr>
              <a:t>Adults participating</a:t>
            </a:r>
            <a:endParaRPr lang="en-US" sz="1550" dirty="0"/>
          </a:p>
        </p:txBody>
      </p:sp>
      <p:sp>
        <p:nvSpPr>
          <p:cNvPr id="8" name="Text 6"/>
          <p:cNvSpPr/>
          <p:nvPr/>
        </p:nvSpPr>
        <p:spPr>
          <a:xfrm>
            <a:off x="6185837" y="2584152"/>
            <a:ext cx="5307773" cy="250924"/>
          </a:xfrm>
          <a:prstGeom prst="rect">
            <a:avLst/>
          </a:prstGeom>
          <a:noFill/>
          <a:ln/>
        </p:spPr>
        <p:txBody>
          <a:bodyPr wrap="none" lIns="0" tIns="0" rIns="0" bIns="0" rtlCol="0" anchor="t"/>
          <a:lstStyle/>
          <a:p>
            <a:pPr algn="ctr"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Already taking part every month</a:t>
            </a:r>
            <a:endParaRPr lang="en-US" sz="1300" dirty="0"/>
          </a:p>
        </p:txBody>
      </p:sp>
      <p:sp>
        <p:nvSpPr>
          <p:cNvPr id="9" name="Text 7"/>
          <p:cNvSpPr/>
          <p:nvPr/>
        </p:nvSpPr>
        <p:spPr>
          <a:xfrm>
            <a:off x="1096141" y="3208040"/>
            <a:ext cx="4511463" cy="559594"/>
          </a:xfrm>
          <a:prstGeom prst="rect">
            <a:avLst/>
          </a:prstGeom>
          <a:noFill/>
          <a:ln/>
        </p:spPr>
        <p:txBody>
          <a:bodyPr wrap="none" lIns="0" tIns="0" rIns="0" bIns="0" rtlCol="0" anchor="t"/>
          <a:lstStyle/>
          <a:p>
            <a:pPr algn="ctr" indent="0" marL="0">
              <a:lnSpc>
                <a:spcPct val="83000"/>
              </a:lnSpc>
              <a:buNone/>
            </a:pPr>
            <a:r>
              <a:rPr lang="en-US" sz="4400" dirty="0">
                <a:solidFill>
                  <a:srgbClr val="F9EEE7"/>
                </a:solidFill>
                <a:latin typeface="Quattrocento" pitchFamily="34" charset="0"/>
                <a:ea typeface="Quattrocento" pitchFamily="34" charset="-122"/>
                <a:cs typeface="Quattrocento" pitchFamily="34" charset="-120"/>
              </a:rPr>
              <a:t>3%</a:t>
            </a:r>
            <a:endParaRPr lang="en-US" sz="4400" dirty="0"/>
          </a:p>
        </p:txBody>
      </p:sp>
      <p:sp>
        <p:nvSpPr>
          <p:cNvPr id="10" name="Text 8"/>
          <p:cNvSpPr/>
          <p:nvPr/>
        </p:nvSpPr>
        <p:spPr>
          <a:xfrm>
            <a:off x="698086" y="3960416"/>
            <a:ext cx="5307673" cy="249337"/>
          </a:xfrm>
          <a:prstGeom prst="rect">
            <a:avLst/>
          </a:prstGeom>
          <a:noFill/>
          <a:ln/>
        </p:spPr>
        <p:txBody>
          <a:bodyPr wrap="none" lIns="0" tIns="0" rIns="0" bIns="0" rtlCol="0" anchor="t"/>
          <a:lstStyle/>
          <a:p>
            <a:pPr algn="ctr" indent="0" marL="0">
              <a:lnSpc>
                <a:spcPct val="104000"/>
              </a:lnSpc>
              <a:buNone/>
            </a:pPr>
            <a:r>
              <a:rPr lang="en-US" sz="1550" dirty="0">
                <a:solidFill>
                  <a:srgbClr val="F9EEE7"/>
                </a:solidFill>
                <a:latin typeface="Quattrocento" pitchFamily="34" charset="0"/>
                <a:ea typeface="Quattrocento" pitchFamily="34" charset="-122"/>
                <a:cs typeface="Quattrocento" pitchFamily="34" charset="-120"/>
              </a:rPr>
              <a:t>Formal credit record</a:t>
            </a:r>
            <a:endParaRPr lang="en-US" sz="1550" dirty="0"/>
          </a:p>
        </p:txBody>
      </p:sp>
      <p:sp>
        <p:nvSpPr>
          <p:cNvPr id="11" name="Text 9"/>
          <p:cNvSpPr/>
          <p:nvPr/>
        </p:nvSpPr>
        <p:spPr>
          <a:xfrm>
            <a:off x="698086" y="4296172"/>
            <a:ext cx="5307673" cy="250924"/>
          </a:xfrm>
          <a:prstGeom prst="rect">
            <a:avLst/>
          </a:prstGeom>
          <a:noFill/>
          <a:ln/>
        </p:spPr>
        <p:txBody>
          <a:bodyPr wrap="none" lIns="0" tIns="0" rIns="0" bIns="0" rtlCol="0" anchor="t"/>
          <a:lstStyle/>
          <a:p>
            <a:pPr algn="ctr"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Of adults have any formal credit record at all</a:t>
            </a:r>
            <a:endParaRPr lang="en-US" sz="1300" dirty="0"/>
          </a:p>
        </p:txBody>
      </p:sp>
      <p:sp>
        <p:nvSpPr>
          <p:cNvPr id="12" name="Text 10"/>
          <p:cNvSpPr/>
          <p:nvPr/>
        </p:nvSpPr>
        <p:spPr>
          <a:xfrm>
            <a:off x="6583892" y="3208040"/>
            <a:ext cx="4511562" cy="559594"/>
          </a:xfrm>
          <a:prstGeom prst="rect">
            <a:avLst/>
          </a:prstGeom>
          <a:noFill/>
          <a:ln/>
        </p:spPr>
        <p:txBody>
          <a:bodyPr wrap="none" lIns="0" tIns="0" rIns="0" bIns="0" rtlCol="0" anchor="t"/>
          <a:lstStyle/>
          <a:p>
            <a:pPr algn="ctr" indent="0" marL="0">
              <a:lnSpc>
                <a:spcPct val="83000"/>
              </a:lnSpc>
              <a:buNone/>
            </a:pPr>
            <a:r>
              <a:rPr lang="en-US" sz="4400" dirty="0">
                <a:solidFill>
                  <a:srgbClr val="F9EEE7"/>
                </a:solidFill>
                <a:latin typeface="Quattrocento" pitchFamily="34" charset="0"/>
                <a:ea typeface="Quattrocento" pitchFamily="34" charset="-122"/>
                <a:cs typeface="Quattrocento" pitchFamily="34" charset="-120"/>
              </a:rPr>
              <a:t>2x</a:t>
            </a:r>
            <a:endParaRPr lang="en-US" sz="4400" dirty="0"/>
          </a:p>
        </p:txBody>
      </p:sp>
      <p:sp>
        <p:nvSpPr>
          <p:cNvPr id="13" name="Text 11"/>
          <p:cNvSpPr/>
          <p:nvPr/>
        </p:nvSpPr>
        <p:spPr>
          <a:xfrm>
            <a:off x="6185837" y="3960416"/>
            <a:ext cx="5307773" cy="249337"/>
          </a:xfrm>
          <a:prstGeom prst="rect">
            <a:avLst/>
          </a:prstGeom>
          <a:noFill/>
          <a:ln/>
        </p:spPr>
        <p:txBody>
          <a:bodyPr wrap="none" lIns="0" tIns="0" rIns="0" bIns="0" rtlCol="0" anchor="t"/>
          <a:lstStyle/>
          <a:p>
            <a:pPr algn="ctr" indent="0" marL="0">
              <a:lnSpc>
                <a:spcPct val="104000"/>
              </a:lnSpc>
              <a:buNone/>
            </a:pPr>
            <a:r>
              <a:rPr lang="en-US" sz="1550" dirty="0">
                <a:solidFill>
                  <a:srgbClr val="F9EEE7"/>
                </a:solidFill>
                <a:latin typeface="Quattrocento" pitchFamily="34" charset="0"/>
                <a:ea typeface="Quattrocento" pitchFamily="34" charset="-122"/>
                <a:cs typeface="Quattrocento" pitchFamily="34" charset="-120"/>
              </a:rPr>
              <a:t>Women's participation</a:t>
            </a:r>
            <a:endParaRPr lang="en-US" sz="1550" dirty="0"/>
          </a:p>
        </p:txBody>
      </p:sp>
      <p:sp>
        <p:nvSpPr>
          <p:cNvPr id="14" name="Text 12"/>
          <p:cNvSpPr/>
          <p:nvPr/>
        </p:nvSpPr>
        <p:spPr>
          <a:xfrm>
            <a:off x="6185837" y="4296172"/>
            <a:ext cx="5307773" cy="250924"/>
          </a:xfrm>
          <a:prstGeom prst="rect">
            <a:avLst/>
          </a:prstGeom>
          <a:noFill/>
          <a:ln/>
        </p:spPr>
        <p:txBody>
          <a:bodyPr wrap="none" lIns="0" tIns="0" rIns="0" bIns="0" rtlCol="0" anchor="t"/>
          <a:lstStyle/>
          <a:p>
            <a:pPr algn="ctr"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Women participate at twice the rate of men</a:t>
            </a:r>
            <a:endParaRPr lang="en-US" sz="1300" dirty="0"/>
          </a:p>
        </p:txBody>
      </p:sp>
      <p:sp>
        <p:nvSpPr>
          <p:cNvPr id="15" name="Text 13"/>
          <p:cNvSpPr/>
          <p:nvPr/>
        </p:nvSpPr>
        <p:spPr>
          <a:xfrm>
            <a:off x="698086" y="4709220"/>
            <a:ext cx="10795524" cy="501848"/>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We are not asking anybody to change what they do. Fifty two million people already run committees, every month, with their own money. We are writing down what they were already doing, and handing them a credit identity they could never build before.</a:t>
            </a:r>
            <a:endParaRPr lang="en-US" sz="1300" dirty="0"/>
          </a:p>
        </p:txBody>
      </p:sp>
      <p:sp>
        <p:nvSpPr>
          <p:cNvPr id="16" name="Shape 14"/>
          <p:cNvSpPr/>
          <p:nvPr/>
        </p:nvSpPr>
        <p:spPr>
          <a:xfrm>
            <a:off x="698086" y="5373191"/>
            <a:ext cx="10795524" cy="860326"/>
          </a:xfrm>
          <a:prstGeom prst="roundRect">
            <a:avLst>
              <a:gd name="adj" fmla="val 2956"/>
            </a:avLst>
          </a:prstGeom>
          <a:solidFill>
            <a:srgbClr val="71260E"/>
          </a:solidFill>
          <a:ln/>
        </p:spPr>
      </p:sp>
      <p:pic>
        <p:nvPicPr>
          <p:cNvPr id="17" name="Image 0" descr="preencoded.png">    </p:cNvPr>
          <p:cNvPicPr>
            <a:picLocks noChangeAspect="1"/>
          </p:cNvPicPr>
          <p:nvPr/>
        </p:nvPicPr>
        <p:blipFill>
          <a:blip r:embed="rId1"/>
          <a:stretch>
            <a:fillRect/>
          </a:stretch>
        </p:blipFill>
        <p:spPr>
          <a:xfrm>
            <a:off x="867547" y="5582741"/>
            <a:ext cx="211926" cy="169466"/>
          </a:xfrm>
          <a:prstGeom prst="rect">
            <a:avLst/>
          </a:prstGeom>
        </p:spPr>
      </p:pic>
      <p:sp>
        <p:nvSpPr>
          <p:cNvPr id="18" name="Text 15"/>
          <p:cNvSpPr/>
          <p:nvPr/>
        </p:nvSpPr>
        <p:spPr>
          <a:xfrm>
            <a:off x="1248934" y="5559623"/>
            <a:ext cx="10075214" cy="501848"/>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FFFFFF"/>
                </a:solidFill>
                <a:latin typeface="Quattrocento" pitchFamily="34" charset="0"/>
                <a:ea typeface="Quattrocento" pitchFamily="34" charset="-122"/>
                <a:cs typeface="Quattrocento" pitchFamily="34" charset="-120"/>
              </a:rPr>
              <a:t>UN Sustainable Development Goal 8, target 8.10 — strengthen the capacity of domestic financial institutions to expand access to banking and financial services for all. That target reads as though it were written for this.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753963"/>
            <a:ext cx="10795524" cy="528042"/>
          </a:xfrm>
          <a:prstGeom prst="rect">
            <a:avLst/>
          </a:prstGeom>
          <a:noFill/>
          <a:ln/>
        </p:spPr>
        <p:txBody>
          <a:bodyPr wrap="none" lIns="0" tIns="0" rIns="0" bIns="0" rtlCol="0" anchor="t"/>
          <a:lstStyle/>
          <a:p>
            <a:pPr algn="l" indent="0" marL="0">
              <a:lnSpc>
                <a:spcPct val="104000"/>
              </a:lnSpc>
              <a:buNone/>
            </a:pPr>
            <a:r>
              <a:rPr lang="en-US" sz="3300" dirty="0">
                <a:solidFill>
                  <a:srgbClr val="FFD9BE"/>
                </a:solidFill>
                <a:latin typeface="Quattrocento" pitchFamily="34" charset="0"/>
                <a:ea typeface="Quattrocento" pitchFamily="34" charset="-122"/>
                <a:cs typeface="Quattrocento" pitchFamily="34" charset="-120"/>
              </a:rPr>
              <a:t>How it pays for itself</a:t>
            </a:r>
            <a:endParaRPr lang="en-US" sz="3300" dirty="0"/>
          </a:p>
        </p:txBody>
      </p:sp>
      <p:sp>
        <p:nvSpPr>
          <p:cNvPr id="3" name="Text 1"/>
          <p:cNvSpPr/>
          <p:nvPr/>
        </p:nvSpPr>
        <p:spPr>
          <a:xfrm>
            <a:off x="698086" y="1605161"/>
            <a:ext cx="11405108"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A member pays nothing to join and nothing to receive their turn.</a:t>
            </a:r>
            <a:endParaRPr lang="en-US" sz="1400" dirty="0"/>
          </a:p>
        </p:txBody>
      </p:sp>
      <p:sp>
        <p:nvSpPr>
          <p:cNvPr id="4" name="Shape 2"/>
          <p:cNvSpPr/>
          <p:nvPr/>
        </p:nvSpPr>
        <p:spPr>
          <a:xfrm>
            <a:off x="698086" y="2059682"/>
            <a:ext cx="10795524" cy="2920405"/>
          </a:xfrm>
          <a:prstGeom prst="roundRect">
            <a:avLst>
              <a:gd name="adj" fmla="val 922"/>
            </a:avLst>
          </a:prstGeom>
          <a:noFill/>
          <a:ln w="6350">
            <a:solidFill>
              <a:srgbClr val="FFFFFF">
                <a:alpha val="24000"/>
              </a:srgbClr>
            </a:solidFill>
            <a:prstDash val="solid"/>
          </a:ln>
        </p:spPr>
      </p:sp>
      <p:sp>
        <p:nvSpPr>
          <p:cNvPr id="5" name="Shape 3"/>
          <p:cNvSpPr/>
          <p:nvPr/>
        </p:nvSpPr>
        <p:spPr>
          <a:xfrm>
            <a:off x="698086" y="2548533"/>
            <a:ext cx="10795524" cy="11221"/>
          </a:xfrm>
          <a:prstGeom prst="rect">
            <a:avLst/>
          </a:prstGeom>
          <a:solidFill>
            <a:srgbClr val="FFFFFF">
              <a:alpha val="24000"/>
            </a:srgbClr>
          </a:solidFill>
          <a:ln/>
        </p:spPr>
      </p:sp>
      <p:sp>
        <p:nvSpPr>
          <p:cNvPr id="6" name="Shape 4"/>
          <p:cNvSpPr/>
          <p:nvPr/>
        </p:nvSpPr>
        <p:spPr>
          <a:xfrm>
            <a:off x="698086" y="3034209"/>
            <a:ext cx="10795524" cy="11221"/>
          </a:xfrm>
          <a:prstGeom prst="rect">
            <a:avLst/>
          </a:prstGeom>
          <a:solidFill>
            <a:srgbClr val="FFFFFF">
              <a:alpha val="24000"/>
            </a:srgbClr>
          </a:solidFill>
          <a:ln/>
        </p:spPr>
      </p:sp>
      <p:sp>
        <p:nvSpPr>
          <p:cNvPr id="7" name="Shape 5"/>
          <p:cNvSpPr/>
          <p:nvPr/>
        </p:nvSpPr>
        <p:spPr>
          <a:xfrm>
            <a:off x="698086" y="3519884"/>
            <a:ext cx="10795524" cy="11221"/>
          </a:xfrm>
          <a:prstGeom prst="rect">
            <a:avLst/>
          </a:prstGeom>
          <a:solidFill>
            <a:srgbClr val="FFFFFF">
              <a:alpha val="24000"/>
            </a:srgbClr>
          </a:solidFill>
          <a:ln/>
        </p:spPr>
      </p:sp>
      <p:sp>
        <p:nvSpPr>
          <p:cNvPr id="8" name="Shape 6"/>
          <p:cNvSpPr/>
          <p:nvPr/>
        </p:nvSpPr>
        <p:spPr>
          <a:xfrm>
            <a:off x="698086" y="4005560"/>
            <a:ext cx="10795524" cy="11221"/>
          </a:xfrm>
          <a:prstGeom prst="rect">
            <a:avLst/>
          </a:prstGeom>
          <a:solidFill>
            <a:srgbClr val="FFFFFF">
              <a:alpha val="24000"/>
            </a:srgbClr>
          </a:solidFill>
          <a:ln/>
        </p:spPr>
      </p:sp>
      <p:sp>
        <p:nvSpPr>
          <p:cNvPr id="9" name="Shape 7"/>
          <p:cNvSpPr/>
          <p:nvPr/>
        </p:nvSpPr>
        <p:spPr>
          <a:xfrm>
            <a:off x="698086" y="4491236"/>
            <a:ext cx="10795524" cy="11221"/>
          </a:xfrm>
          <a:prstGeom prst="rect">
            <a:avLst/>
          </a:prstGeom>
          <a:solidFill>
            <a:srgbClr val="FFFFFF">
              <a:alpha val="24000"/>
            </a:srgbClr>
          </a:solidFill>
          <a:ln/>
        </p:spPr>
      </p:sp>
      <p:sp>
        <p:nvSpPr>
          <p:cNvPr id="10" name="Text 8"/>
          <p:cNvSpPr/>
          <p:nvPr/>
        </p:nvSpPr>
        <p:spPr>
          <a:xfrm>
            <a:off x="883918" y="2169319"/>
            <a:ext cx="6720315" cy="272752"/>
          </a:xfrm>
          <a:prstGeom prst="rect">
            <a:avLst/>
          </a:prstGeom>
          <a:noFill/>
          <a:ln/>
        </p:spPr>
        <p:txBody>
          <a:bodyPr wrap="none" lIns="0" tIns="0" rIns="0" bIns="0" rtlCol="0" anchor="t"/>
          <a:lstStyle/>
          <a:p>
            <a:pPr algn="l" indent="0" marL="0">
              <a:lnSpc>
                <a:spcPct val="127000"/>
              </a:lnSpc>
              <a:buNone/>
            </a:pPr>
            <a:r>
              <a:rPr lang="en-US" sz="1400" b="1" dirty="0">
                <a:solidFill>
                  <a:srgbClr val="F9EEE7"/>
                </a:solidFill>
                <a:latin typeface="Quattrocento Bold" pitchFamily="34" charset="0"/>
                <a:ea typeface="Quattrocento Bold" pitchFamily="34" charset="-122"/>
                <a:cs typeface="Quattrocento Bold" pitchFamily="34" charset="-120"/>
              </a:rPr>
              <a:t>Where the money comes from</a:t>
            </a:r>
            <a:endParaRPr lang="en-US" sz="1400" dirty="0"/>
          </a:p>
        </p:txBody>
      </p:sp>
      <p:sp>
        <p:nvSpPr>
          <p:cNvPr id="11" name="Text 9"/>
          <p:cNvSpPr/>
          <p:nvPr/>
        </p:nvSpPr>
        <p:spPr>
          <a:xfrm>
            <a:off x="7353612" y="2169319"/>
            <a:ext cx="4563750" cy="272752"/>
          </a:xfrm>
          <a:prstGeom prst="rect">
            <a:avLst/>
          </a:prstGeom>
          <a:noFill/>
          <a:ln/>
        </p:spPr>
        <p:txBody>
          <a:bodyPr wrap="none" lIns="0" tIns="0" rIns="0" bIns="0" rtlCol="0" anchor="t"/>
          <a:lstStyle/>
          <a:p>
            <a:pPr algn="l" indent="0" marL="0">
              <a:lnSpc>
                <a:spcPct val="127000"/>
              </a:lnSpc>
              <a:buNone/>
            </a:pPr>
            <a:r>
              <a:rPr lang="en-US" sz="1400" b="1" dirty="0">
                <a:solidFill>
                  <a:srgbClr val="F9EEE7"/>
                </a:solidFill>
                <a:latin typeface="Quattrocento Bold" pitchFamily="34" charset="0"/>
                <a:ea typeface="Quattrocento Bold" pitchFamily="34" charset="-122"/>
                <a:cs typeface="Quattrocento Bold" pitchFamily="34" charset="-120"/>
              </a:rPr>
              <a:t>Who pays</a:t>
            </a:r>
            <a:endParaRPr lang="en-US" sz="1400" dirty="0"/>
          </a:p>
        </p:txBody>
      </p:sp>
      <p:sp>
        <p:nvSpPr>
          <p:cNvPr id="12" name="Text 10"/>
          <p:cNvSpPr/>
          <p:nvPr/>
        </p:nvSpPr>
        <p:spPr>
          <a:xfrm>
            <a:off x="883918" y="2654995"/>
            <a:ext cx="6720315"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A small flat fee on each contribution, around one per cent</a:t>
            </a:r>
            <a:endParaRPr lang="en-US" sz="1400" dirty="0"/>
          </a:p>
        </p:txBody>
      </p:sp>
      <p:sp>
        <p:nvSpPr>
          <p:cNvPr id="13" name="Text 11"/>
          <p:cNvSpPr/>
          <p:nvPr/>
        </p:nvSpPr>
        <p:spPr>
          <a:xfrm>
            <a:off x="7353612" y="2654995"/>
            <a:ext cx="4563750"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The member, and it is the only thing they pay</a:t>
            </a:r>
            <a:endParaRPr lang="en-US" sz="1400" dirty="0"/>
          </a:p>
        </p:txBody>
      </p:sp>
      <p:sp>
        <p:nvSpPr>
          <p:cNvPr id="14" name="Text 12"/>
          <p:cNvSpPr/>
          <p:nvPr/>
        </p:nvSpPr>
        <p:spPr>
          <a:xfrm>
            <a:off x="883918" y="3140670"/>
            <a:ext cx="6720315"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A fee if you want an early turn, which is genuinely worth more</a:t>
            </a:r>
            <a:endParaRPr lang="en-US" sz="1400" dirty="0"/>
          </a:p>
        </p:txBody>
      </p:sp>
      <p:sp>
        <p:nvSpPr>
          <p:cNvPr id="15" name="Text 13"/>
          <p:cNvSpPr/>
          <p:nvPr/>
        </p:nvSpPr>
        <p:spPr>
          <a:xfrm>
            <a:off x="7353612" y="3140670"/>
            <a:ext cx="4563750"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Only members who choose one</a:t>
            </a:r>
            <a:endParaRPr lang="en-US" sz="1400" dirty="0"/>
          </a:p>
        </p:txBody>
      </p:sp>
      <p:sp>
        <p:nvSpPr>
          <p:cNvPr id="16" name="Text 14"/>
          <p:cNvSpPr/>
          <p:nvPr/>
        </p:nvSpPr>
        <p:spPr>
          <a:xfrm>
            <a:off x="883918" y="3626346"/>
            <a:ext cx="6720315"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Commission when a member buys something with a partner retailer</a:t>
            </a:r>
            <a:endParaRPr lang="en-US" sz="1400" dirty="0"/>
          </a:p>
        </p:txBody>
      </p:sp>
      <p:sp>
        <p:nvSpPr>
          <p:cNvPr id="17" name="Text 15"/>
          <p:cNvSpPr/>
          <p:nvPr/>
        </p:nvSpPr>
        <p:spPr>
          <a:xfrm>
            <a:off x="7353612" y="3626346"/>
            <a:ext cx="4563750"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The retailer, as customer acquisition spend</a:t>
            </a:r>
            <a:endParaRPr lang="en-US" sz="1400" dirty="0"/>
          </a:p>
        </p:txBody>
      </p:sp>
      <p:sp>
        <p:nvSpPr>
          <p:cNvPr id="18" name="Text 16"/>
          <p:cNvSpPr/>
          <p:nvPr/>
        </p:nvSpPr>
        <p:spPr>
          <a:xfrm>
            <a:off x="883918" y="4112022"/>
            <a:ext cx="6720315"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A share of the manager's fee on savings we introduce</a:t>
            </a:r>
            <a:endParaRPr lang="en-US" sz="1400" dirty="0"/>
          </a:p>
        </p:txBody>
      </p:sp>
      <p:sp>
        <p:nvSpPr>
          <p:cNvPr id="19" name="Text 17"/>
          <p:cNvSpPr/>
          <p:nvPr/>
        </p:nvSpPr>
        <p:spPr>
          <a:xfrm>
            <a:off x="7353612" y="4112022"/>
            <a:ext cx="4563750"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The asset manager, not the member</a:t>
            </a:r>
            <a:endParaRPr lang="en-US" sz="1400" dirty="0"/>
          </a:p>
        </p:txBody>
      </p:sp>
      <p:sp>
        <p:nvSpPr>
          <p:cNvPr id="20" name="Text 18"/>
          <p:cNvSpPr/>
          <p:nvPr/>
        </p:nvSpPr>
        <p:spPr>
          <a:xfrm>
            <a:off x="883918" y="4597698"/>
            <a:ext cx="6720315"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Origination when a dealer sells a bike or a machine through a circle</a:t>
            </a:r>
            <a:endParaRPr lang="en-US" sz="1400" dirty="0"/>
          </a:p>
        </p:txBody>
      </p:sp>
      <p:sp>
        <p:nvSpPr>
          <p:cNvPr id="21" name="Text 19"/>
          <p:cNvSpPr/>
          <p:nvPr/>
        </p:nvSpPr>
        <p:spPr>
          <a:xfrm>
            <a:off x="7353612" y="4597698"/>
            <a:ext cx="4563750" cy="272752"/>
          </a:xfrm>
          <a:prstGeom prst="rect">
            <a:avLst/>
          </a:prstGeom>
          <a:noFill/>
          <a:ln/>
        </p:spPr>
        <p:txBody>
          <a:bodyPr wrap="none" lIns="0" tIns="0" rIns="0" bIns="0" rtlCol="0" anchor="t"/>
          <a:lstStyle/>
          <a:p>
            <a:pPr algn="l" indent="0" marL="0">
              <a:lnSpc>
                <a:spcPct val="127000"/>
              </a:lnSpc>
              <a:buNone/>
            </a:pPr>
            <a:r>
              <a:rPr lang="en-US" sz="1400" dirty="0">
                <a:solidFill>
                  <a:srgbClr val="F9EEE7"/>
                </a:solidFill>
                <a:latin typeface="Quattrocento" pitchFamily="34" charset="0"/>
                <a:ea typeface="Quattrocento" pitchFamily="34" charset="-122"/>
                <a:cs typeface="Quattrocento" pitchFamily="34" charset="-120"/>
              </a:rPr>
              <a:t>The dealer</a:t>
            </a:r>
            <a:endParaRPr lang="en-US" sz="1400" dirty="0"/>
          </a:p>
        </p:txBody>
      </p:sp>
      <p:sp>
        <p:nvSpPr>
          <p:cNvPr id="22" name="Shape 20"/>
          <p:cNvSpPr/>
          <p:nvPr/>
        </p:nvSpPr>
        <p:spPr>
          <a:xfrm>
            <a:off x="698086" y="5161855"/>
            <a:ext cx="10795524" cy="942082"/>
          </a:xfrm>
          <a:prstGeom prst="roundRect">
            <a:avLst>
              <a:gd name="adj" fmla="val 2859"/>
            </a:avLst>
          </a:prstGeom>
          <a:solidFill>
            <a:srgbClr val="71260E"/>
          </a:solidFill>
          <a:ln/>
        </p:spPr>
      </p:sp>
      <p:pic>
        <p:nvPicPr>
          <p:cNvPr id="23" name="Image 0" descr="preencoded.png">    </p:cNvPr>
          <p:cNvPicPr>
            <a:picLocks noChangeAspect="1"/>
          </p:cNvPicPr>
          <p:nvPr/>
        </p:nvPicPr>
        <p:blipFill>
          <a:blip r:embed="rId1"/>
          <a:stretch>
            <a:fillRect/>
          </a:stretch>
        </p:blipFill>
        <p:spPr>
          <a:xfrm>
            <a:off x="877568" y="5388967"/>
            <a:ext cx="224328" cy="179487"/>
          </a:xfrm>
          <a:prstGeom prst="rect">
            <a:avLst/>
          </a:prstGeom>
        </p:spPr>
      </p:pic>
      <p:sp>
        <p:nvSpPr>
          <p:cNvPr id="24" name="Text 21"/>
          <p:cNvSpPr/>
          <p:nvPr/>
        </p:nvSpPr>
        <p:spPr>
          <a:xfrm>
            <a:off x="1281378" y="5368230"/>
            <a:ext cx="10032749" cy="545505"/>
          </a:xfrm>
          <a:prstGeom prst="rect">
            <a:avLst/>
          </a:prstGeom>
          <a:noFill/>
          <a:ln/>
        </p:spPr>
        <p:txBody>
          <a:bodyPr wrap="square" lIns="0" tIns="0" rIns="0" bIns="0" rtlCol="0" anchor="t">
            <a:normAutofit/>
          </a:bodyPr>
          <a:lstStyle/>
          <a:p>
            <a:pPr algn="l" indent="0" marL="0">
              <a:lnSpc>
                <a:spcPct val="127000"/>
              </a:lnSpc>
              <a:buNone/>
            </a:pPr>
            <a:r>
              <a:rPr lang="en-US" sz="1400" dirty="0">
                <a:solidFill>
                  <a:srgbClr val="FFFFFF"/>
                </a:solidFill>
                <a:latin typeface="Quattrocento" pitchFamily="34" charset="0"/>
                <a:ea typeface="Quattrocento" pitchFamily="34" charset="-122"/>
                <a:cs typeface="Quattrocento" pitchFamily="34" charset="-120"/>
              </a:rPr>
              <a:t>Four of those five are paid by somebody other than the member. On a one per cent share of a four trillion rupee market, the member facing fee alone is around </a:t>
            </a:r>
            <a:pPr algn="l" indent="0" marL="0">
              <a:lnSpc>
                <a:spcPct val="127000"/>
              </a:lnSpc>
              <a:buNone/>
            </a:pPr>
            <a:r>
              <a:rPr lang="en-US" sz="1400" b="1" dirty="0">
                <a:solidFill>
                  <a:srgbClr val="FFFFFF"/>
                </a:solidFill>
                <a:latin typeface="Quattrocento Bold" pitchFamily="34" charset="0"/>
                <a:ea typeface="Quattrocento Bold" pitchFamily="34" charset="-122"/>
                <a:cs typeface="Quattrocento Bold" pitchFamily="34" charset="-120"/>
              </a:rPr>
              <a:t>Rs 680 million a year</a:t>
            </a:r>
            <a:pPr algn="l" indent="0" marL="0">
              <a:lnSpc>
                <a:spcPct val="127000"/>
              </a:lnSpc>
              <a:buNone/>
            </a:pPr>
            <a:r>
              <a:rPr lang="en-US" sz="1400" dirty="0">
                <a:solidFill>
                  <a:srgbClr val="FFFFFF"/>
                </a:solidFill>
                <a:latin typeface="Quattrocento" pitchFamily="34" charset="0"/>
                <a:ea typeface="Quattrocento" pitchFamily="34" charset="-122"/>
                <a:cs typeface="Quattrocento"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086" y="825698"/>
            <a:ext cx="10795524" cy="498673"/>
          </a:xfrm>
          <a:prstGeom prst="rect">
            <a:avLst/>
          </a:prstGeom>
          <a:noFill/>
          <a:ln/>
        </p:spPr>
        <p:txBody>
          <a:bodyPr wrap="none" lIns="0" tIns="0" rIns="0" bIns="0" rtlCol="0" anchor="t"/>
          <a:lstStyle/>
          <a:p>
            <a:pPr algn="l" indent="0" marL="0">
              <a:lnSpc>
                <a:spcPct val="104000"/>
              </a:lnSpc>
              <a:buNone/>
            </a:pPr>
            <a:r>
              <a:rPr lang="en-US" sz="3100" dirty="0">
                <a:solidFill>
                  <a:srgbClr val="FFD9BE"/>
                </a:solidFill>
                <a:latin typeface="Quattrocento" pitchFamily="34" charset="0"/>
                <a:ea typeface="Quattrocento" pitchFamily="34" charset="-122"/>
                <a:cs typeface="Quattrocento" pitchFamily="34" charset="-120"/>
              </a:rPr>
              <a:t>What we think you are about to ask</a:t>
            </a:r>
            <a:endParaRPr lang="en-US" sz="3100" dirty="0"/>
          </a:p>
        </p:txBody>
      </p:sp>
      <p:sp>
        <p:nvSpPr>
          <p:cNvPr id="3" name="Shape 1"/>
          <p:cNvSpPr/>
          <p:nvPr/>
        </p:nvSpPr>
        <p:spPr>
          <a:xfrm>
            <a:off x="698086" y="1612602"/>
            <a:ext cx="10795524" cy="4419699"/>
          </a:xfrm>
          <a:prstGeom prst="roundRect">
            <a:avLst>
              <a:gd name="adj" fmla="val 575"/>
            </a:avLst>
          </a:prstGeom>
          <a:noFill/>
          <a:ln w="6350">
            <a:solidFill>
              <a:srgbClr val="FFFFFF">
                <a:alpha val="24000"/>
              </a:srgbClr>
            </a:solidFill>
            <a:prstDash val="solid"/>
          </a:ln>
        </p:spPr>
      </p:sp>
      <p:sp>
        <p:nvSpPr>
          <p:cNvPr id="4" name="Shape 2"/>
          <p:cNvSpPr/>
          <p:nvPr/>
        </p:nvSpPr>
        <p:spPr>
          <a:xfrm>
            <a:off x="698086" y="2058591"/>
            <a:ext cx="10795524" cy="10598"/>
          </a:xfrm>
          <a:prstGeom prst="rect">
            <a:avLst/>
          </a:prstGeom>
          <a:solidFill>
            <a:srgbClr val="FFFFFF">
              <a:alpha val="24000"/>
            </a:srgbClr>
          </a:solidFill>
          <a:ln/>
        </p:spPr>
      </p:sp>
      <p:sp>
        <p:nvSpPr>
          <p:cNvPr id="5" name="Shape 3"/>
          <p:cNvSpPr/>
          <p:nvPr/>
        </p:nvSpPr>
        <p:spPr>
          <a:xfrm>
            <a:off x="698086" y="2752328"/>
            <a:ext cx="10795524" cy="10598"/>
          </a:xfrm>
          <a:prstGeom prst="rect">
            <a:avLst/>
          </a:prstGeom>
          <a:solidFill>
            <a:srgbClr val="FFFFFF">
              <a:alpha val="24000"/>
            </a:srgbClr>
          </a:solidFill>
          <a:ln/>
        </p:spPr>
      </p:sp>
      <p:sp>
        <p:nvSpPr>
          <p:cNvPr id="6" name="Shape 4"/>
          <p:cNvSpPr/>
          <p:nvPr/>
        </p:nvSpPr>
        <p:spPr>
          <a:xfrm>
            <a:off x="698086" y="3696990"/>
            <a:ext cx="10795524" cy="10598"/>
          </a:xfrm>
          <a:prstGeom prst="rect">
            <a:avLst/>
          </a:prstGeom>
          <a:solidFill>
            <a:srgbClr val="FFFFFF">
              <a:alpha val="24000"/>
            </a:srgbClr>
          </a:solidFill>
          <a:ln/>
        </p:spPr>
      </p:sp>
      <p:sp>
        <p:nvSpPr>
          <p:cNvPr id="7" name="Shape 5"/>
          <p:cNvSpPr/>
          <p:nvPr/>
        </p:nvSpPr>
        <p:spPr>
          <a:xfrm>
            <a:off x="698086" y="4390727"/>
            <a:ext cx="10795524" cy="10598"/>
          </a:xfrm>
          <a:prstGeom prst="rect">
            <a:avLst/>
          </a:prstGeom>
          <a:solidFill>
            <a:srgbClr val="FFFFFF">
              <a:alpha val="24000"/>
            </a:srgbClr>
          </a:solidFill>
          <a:ln/>
        </p:spPr>
      </p:sp>
      <p:sp>
        <p:nvSpPr>
          <p:cNvPr id="8" name="Shape 6"/>
          <p:cNvSpPr/>
          <p:nvPr/>
        </p:nvSpPr>
        <p:spPr>
          <a:xfrm>
            <a:off x="698086" y="5335389"/>
            <a:ext cx="10795524" cy="10598"/>
          </a:xfrm>
          <a:prstGeom prst="rect">
            <a:avLst/>
          </a:prstGeom>
          <a:solidFill>
            <a:srgbClr val="FFFFFF">
              <a:alpha val="24000"/>
            </a:srgbClr>
          </a:solidFill>
          <a:ln/>
        </p:spPr>
      </p:sp>
      <p:sp>
        <p:nvSpPr>
          <p:cNvPr id="9" name="Text 7"/>
          <p:cNvSpPr/>
          <p:nvPr/>
        </p:nvSpPr>
        <p:spPr>
          <a:xfrm>
            <a:off x="873897" y="1711722"/>
            <a:ext cx="4583792" cy="250924"/>
          </a:xfrm>
          <a:prstGeom prst="rect">
            <a:avLst/>
          </a:prstGeom>
          <a:noFill/>
          <a:ln/>
        </p:spPr>
        <p:txBody>
          <a:bodyPr wrap="none" lIns="0" tIns="0" rIns="0" bIns="0" rtlCol="0" anchor="t"/>
          <a:lstStyle/>
          <a:p>
            <a:pPr algn="l" indent="0" marL="0">
              <a:lnSpc>
                <a:spcPct val="123000"/>
              </a:lnSpc>
              <a:buNone/>
            </a:pPr>
            <a:r>
              <a:rPr lang="en-US" sz="1300" b="1" dirty="0">
                <a:solidFill>
                  <a:srgbClr val="F9EEE7"/>
                </a:solidFill>
                <a:latin typeface="Quattrocento Bold" pitchFamily="34" charset="0"/>
                <a:ea typeface="Quattrocento Bold" pitchFamily="34" charset="-122"/>
                <a:cs typeface="Quattrocento Bold" pitchFamily="34" charset="-120"/>
              </a:rPr>
              <a:t>The question</a:t>
            </a:r>
            <a:endParaRPr lang="en-US" sz="1300" dirty="0"/>
          </a:p>
        </p:txBody>
      </p:sp>
      <p:sp>
        <p:nvSpPr>
          <p:cNvPr id="10" name="Text 8"/>
          <p:cNvSpPr/>
          <p:nvPr/>
        </p:nvSpPr>
        <p:spPr>
          <a:xfrm>
            <a:off x="5187026" y="1711722"/>
            <a:ext cx="6740356" cy="250924"/>
          </a:xfrm>
          <a:prstGeom prst="rect">
            <a:avLst/>
          </a:prstGeom>
          <a:noFill/>
          <a:ln/>
        </p:spPr>
        <p:txBody>
          <a:bodyPr wrap="none" lIns="0" tIns="0" rIns="0" bIns="0" rtlCol="0" anchor="t"/>
          <a:lstStyle/>
          <a:p>
            <a:pPr algn="l" indent="0" marL="0">
              <a:lnSpc>
                <a:spcPct val="123000"/>
              </a:lnSpc>
              <a:buNone/>
            </a:pPr>
            <a:r>
              <a:rPr lang="en-US" sz="1300" b="1" dirty="0">
                <a:solidFill>
                  <a:srgbClr val="F9EEE7"/>
                </a:solidFill>
                <a:latin typeface="Quattrocento Bold" pitchFamily="34" charset="0"/>
                <a:ea typeface="Quattrocento Bold" pitchFamily="34" charset="-122"/>
                <a:cs typeface="Quattrocento Bold" pitchFamily="34" charset="-120"/>
              </a:rPr>
              <a:t>The answer</a:t>
            </a:r>
            <a:endParaRPr lang="en-US" sz="1300" dirty="0"/>
          </a:p>
        </p:txBody>
      </p:sp>
      <p:sp>
        <p:nvSpPr>
          <p:cNvPr id="11" name="Text 9"/>
          <p:cNvSpPr/>
          <p:nvPr/>
        </p:nvSpPr>
        <p:spPr>
          <a:xfrm>
            <a:off x="873897" y="2154535"/>
            <a:ext cx="4583792" cy="250924"/>
          </a:xfrm>
          <a:prstGeom prst="rect">
            <a:avLst/>
          </a:prstGeom>
          <a:noFill/>
          <a:ln/>
        </p:spPr>
        <p:txBody>
          <a:bodyPr wrap="none" lIns="0" tIns="0" rIns="0" bIns="0" rtlCol="0" anchor="t"/>
          <a:lstStyle/>
          <a:p>
            <a:pPr algn="l" indent="0" marL="0">
              <a:lnSpc>
                <a:spcPct val="123000"/>
              </a:lnSpc>
              <a:buNone/>
            </a:pPr>
            <a:r>
              <a:rPr lang="en-US" sz="1300" b="1" dirty="0">
                <a:solidFill>
                  <a:srgbClr val="F9EEE7"/>
                </a:solidFill>
                <a:latin typeface="Quattrocento Bold" pitchFamily="34" charset="0"/>
                <a:ea typeface="Quattrocento Bold" pitchFamily="34" charset="-122"/>
                <a:cs typeface="Quattrocento Bold" pitchFamily="34" charset="-120"/>
              </a:rPr>
              <a:t>Do you need a licence?</a:t>
            </a:r>
            <a:endParaRPr lang="en-US" sz="1300" dirty="0"/>
          </a:p>
        </p:txBody>
      </p:sp>
      <p:sp>
        <p:nvSpPr>
          <p:cNvPr id="12" name="Text 10"/>
          <p:cNvSpPr/>
          <p:nvPr/>
        </p:nvSpPr>
        <p:spPr>
          <a:xfrm>
            <a:off x="5187026" y="2154535"/>
            <a:ext cx="6130772" cy="501848"/>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No. We issue no balance, lend nothing and hold nothing. We need a merchant agreement with a licensed payment aggregator, which is a commercial contract.</a:t>
            </a:r>
            <a:endParaRPr lang="en-US" sz="1300" dirty="0"/>
          </a:p>
        </p:txBody>
      </p:sp>
      <p:sp>
        <p:nvSpPr>
          <p:cNvPr id="13" name="Text 11"/>
          <p:cNvSpPr/>
          <p:nvPr/>
        </p:nvSpPr>
        <p:spPr>
          <a:xfrm>
            <a:off x="873897" y="2848273"/>
            <a:ext cx="4583792" cy="250924"/>
          </a:xfrm>
          <a:prstGeom prst="rect">
            <a:avLst/>
          </a:prstGeom>
          <a:noFill/>
          <a:ln/>
        </p:spPr>
        <p:txBody>
          <a:bodyPr wrap="none" lIns="0" tIns="0" rIns="0" bIns="0" rtlCol="0" anchor="t"/>
          <a:lstStyle/>
          <a:p>
            <a:pPr algn="l" indent="0" marL="0">
              <a:lnSpc>
                <a:spcPct val="123000"/>
              </a:lnSpc>
              <a:buNone/>
            </a:pPr>
            <a:r>
              <a:rPr lang="en-US" sz="1300" b="1" dirty="0">
                <a:solidFill>
                  <a:srgbClr val="F9EEE7"/>
                </a:solidFill>
                <a:latin typeface="Quattrocento Bold" pitchFamily="34" charset="0"/>
                <a:ea typeface="Quattrocento Bold" pitchFamily="34" charset="-122"/>
                <a:cs typeface="Quattrocento Bold" pitchFamily="34" charset="-120"/>
              </a:rPr>
              <a:t>What if somebody takes the pot and runs?</a:t>
            </a:r>
            <a:endParaRPr lang="en-US" sz="1300" dirty="0"/>
          </a:p>
        </p:txBody>
      </p:sp>
      <p:sp>
        <p:nvSpPr>
          <p:cNvPr id="14" name="Text 12"/>
          <p:cNvSpPr/>
          <p:nvPr/>
        </p:nvSpPr>
        <p:spPr>
          <a:xfrm>
            <a:off x="5187026" y="2848273"/>
            <a:ext cx="6130772" cy="752773"/>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New members can only hold the last turns, where they have already paid in nearly everything they owe. The most an unproven member can cost a circle is two contributions.</a:t>
            </a:r>
            <a:endParaRPr lang="en-US" sz="1300" dirty="0"/>
          </a:p>
        </p:txBody>
      </p:sp>
      <p:sp>
        <p:nvSpPr>
          <p:cNvPr id="15" name="Text 13"/>
          <p:cNvSpPr/>
          <p:nvPr/>
        </p:nvSpPr>
        <p:spPr>
          <a:xfrm>
            <a:off x="873897" y="3792934"/>
            <a:ext cx="4583792" cy="250924"/>
          </a:xfrm>
          <a:prstGeom prst="rect">
            <a:avLst/>
          </a:prstGeom>
          <a:noFill/>
          <a:ln/>
        </p:spPr>
        <p:txBody>
          <a:bodyPr wrap="none" lIns="0" tIns="0" rIns="0" bIns="0" rtlCol="0" anchor="t"/>
          <a:lstStyle/>
          <a:p>
            <a:pPr algn="l" indent="0" marL="0">
              <a:lnSpc>
                <a:spcPct val="123000"/>
              </a:lnSpc>
              <a:buNone/>
            </a:pPr>
            <a:r>
              <a:rPr lang="en-US" sz="1300" b="1" dirty="0">
                <a:solidFill>
                  <a:srgbClr val="F9EEE7"/>
                </a:solidFill>
                <a:latin typeface="Quattrocento Bold" pitchFamily="34" charset="0"/>
                <a:ea typeface="Quattrocento Bold" pitchFamily="34" charset="-122"/>
                <a:cs typeface="Quattrocento Bold" pitchFamily="34" charset="-120"/>
              </a:rPr>
              <a:t>What is your default rate?</a:t>
            </a:r>
            <a:endParaRPr lang="en-US" sz="1300" dirty="0"/>
          </a:p>
        </p:txBody>
      </p:sp>
      <p:sp>
        <p:nvSpPr>
          <p:cNvPr id="16" name="Text 14"/>
          <p:cNvSpPr/>
          <p:nvPr/>
        </p:nvSpPr>
        <p:spPr>
          <a:xfrm>
            <a:off x="5187026" y="3792934"/>
            <a:ext cx="6130772" cy="501848"/>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We do not know yet, and we say so. Every price is modelled from the academic literature and repriced against the first hundred completed circles.</a:t>
            </a:r>
            <a:endParaRPr lang="en-US" sz="1300" dirty="0"/>
          </a:p>
        </p:txBody>
      </p:sp>
      <p:sp>
        <p:nvSpPr>
          <p:cNvPr id="17" name="Text 15"/>
          <p:cNvSpPr/>
          <p:nvPr/>
        </p:nvSpPr>
        <p:spPr>
          <a:xfrm>
            <a:off x="873897" y="4486672"/>
            <a:ext cx="4583792" cy="250924"/>
          </a:xfrm>
          <a:prstGeom prst="rect">
            <a:avLst/>
          </a:prstGeom>
          <a:noFill/>
          <a:ln/>
        </p:spPr>
        <p:txBody>
          <a:bodyPr wrap="none" lIns="0" tIns="0" rIns="0" bIns="0" rtlCol="0" anchor="t"/>
          <a:lstStyle/>
          <a:p>
            <a:pPr algn="l" indent="0" marL="0">
              <a:lnSpc>
                <a:spcPct val="123000"/>
              </a:lnSpc>
              <a:buNone/>
            </a:pPr>
            <a:r>
              <a:rPr lang="en-US" sz="1300" b="1" dirty="0">
                <a:solidFill>
                  <a:srgbClr val="F9EEE7"/>
                </a:solidFill>
                <a:latin typeface="Quattrocento Bold" pitchFamily="34" charset="0"/>
                <a:ea typeface="Quattrocento Bold" pitchFamily="34" charset="-122"/>
                <a:cs typeface="Quattrocento Bold" pitchFamily="34" charset="-120"/>
              </a:rPr>
              <a:t>Why has nobody done this?</a:t>
            </a:r>
            <a:endParaRPr lang="en-US" sz="1300" dirty="0"/>
          </a:p>
        </p:txBody>
      </p:sp>
      <p:sp>
        <p:nvSpPr>
          <p:cNvPr id="18" name="Text 16"/>
          <p:cNvSpPr/>
          <p:nvPr/>
        </p:nvSpPr>
        <p:spPr>
          <a:xfrm>
            <a:off x="5187026" y="4486672"/>
            <a:ext cx="6130772" cy="752773"/>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Everybody optimised for holding the money. The value was never the money, which nets to zero. Two American operators abandoned pooling entirely and one reached a billion dollar valuation on the record alone.</a:t>
            </a:r>
            <a:endParaRPr lang="en-US" sz="1300" dirty="0"/>
          </a:p>
        </p:txBody>
      </p:sp>
      <p:sp>
        <p:nvSpPr>
          <p:cNvPr id="19" name="Text 17"/>
          <p:cNvSpPr/>
          <p:nvPr/>
        </p:nvSpPr>
        <p:spPr>
          <a:xfrm>
            <a:off x="873897" y="5431334"/>
            <a:ext cx="4583792" cy="250924"/>
          </a:xfrm>
          <a:prstGeom prst="rect">
            <a:avLst/>
          </a:prstGeom>
          <a:noFill/>
          <a:ln/>
        </p:spPr>
        <p:txBody>
          <a:bodyPr wrap="none" lIns="0" tIns="0" rIns="0" bIns="0" rtlCol="0" anchor="t"/>
          <a:lstStyle/>
          <a:p>
            <a:pPr algn="l" indent="0" marL="0">
              <a:lnSpc>
                <a:spcPct val="123000"/>
              </a:lnSpc>
              <a:buNone/>
            </a:pPr>
            <a:r>
              <a:rPr lang="en-US" sz="1300" b="1" dirty="0">
                <a:solidFill>
                  <a:srgbClr val="F9EEE7"/>
                </a:solidFill>
                <a:latin typeface="Quattrocento Bold" pitchFamily="34" charset="0"/>
                <a:ea typeface="Quattrocento Bold" pitchFamily="34" charset="-122"/>
                <a:cs typeface="Quattrocento Bold" pitchFamily="34" charset="-120"/>
              </a:rPr>
              <a:t>Can a seventeen year old run this?</a:t>
            </a:r>
            <a:endParaRPr lang="en-US" sz="1300" dirty="0"/>
          </a:p>
        </p:txBody>
      </p:sp>
      <p:sp>
        <p:nvSpPr>
          <p:cNvPr id="20" name="Text 18"/>
          <p:cNvSpPr/>
          <p:nvPr/>
        </p:nvSpPr>
        <p:spPr>
          <a:xfrm>
            <a:off x="5187026" y="5431334"/>
            <a:ext cx="6130772" cy="501848"/>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F9EEE7"/>
                </a:solidFill>
                <a:latin typeface="Quattrocento" pitchFamily="34" charset="0"/>
                <a:ea typeface="Quattrocento" pitchFamily="34" charset="-122"/>
                <a:cs typeface="Quattrocento" pitchFamily="34" charset="-120"/>
              </a:rPr>
              <a:t>The product is live, it has 412 passing tests, and the sitting Chairman of the SECP has met us twice and called it original.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98086" y="621506"/>
            <a:ext cx="6223638" cy="4372570"/>
          </a:xfrm>
          <a:prstGeom prst="rect">
            <a:avLst/>
          </a:prstGeom>
          <a:noFill/>
          <a:ln/>
        </p:spPr>
        <p:txBody>
          <a:bodyPr wrap="square" lIns="0" tIns="0" rIns="0" bIns="0" rtlCol="0" anchor="t">
            <a:normAutofit/>
          </a:bodyPr>
          <a:lstStyle/>
          <a:p>
            <a:pPr algn="ctr" indent="0" marL="0">
              <a:lnSpc>
                <a:spcPct val="104000"/>
              </a:lnSpc>
              <a:buNone/>
            </a:pPr>
            <a:r>
              <a:rPr lang="en-US" sz="4550" dirty="0">
                <a:solidFill>
                  <a:srgbClr val="FFD9BE"/>
                </a:solidFill>
                <a:latin typeface="Quattrocento" pitchFamily="34" charset="0"/>
                <a:ea typeface="Quattrocento" pitchFamily="34" charset="-122"/>
                <a:cs typeface="Quattrocento" pitchFamily="34" charset="-120"/>
              </a:rPr>
              <a:t>The committee is a thousand years old.</a:t>
            </a:r>
            <a:endParaRPr lang="en-US" sz="4550" dirty="0"/>
          </a:p>
          <a:p>
            <a:pPr algn="ctr" indent="0" marL="0">
              <a:lnSpc>
                <a:spcPct val="104000"/>
              </a:lnSpc>
              <a:buNone/>
            </a:pPr>
            <a:r>
              <a:rPr lang="en-US" sz="4550" dirty="0">
                <a:solidFill>
                  <a:srgbClr val="FFD9BE"/>
                </a:solidFill>
                <a:latin typeface="Quattrocento" pitchFamily="34" charset="0"/>
                <a:ea typeface="Quattrocento" pitchFamily="34" charset="-122"/>
                <a:cs typeface="Quattrocento" pitchFamily="34" charset="-120"/>
              </a:rPr>
              <a:t>Fifty two million Pakistanis are in one.</a:t>
            </a:r>
            <a:endParaRPr lang="en-US" sz="4550" dirty="0"/>
          </a:p>
          <a:p>
            <a:pPr algn="ctr" indent="0" marL="0">
              <a:lnSpc>
                <a:spcPct val="104000"/>
              </a:lnSpc>
              <a:buNone/>
            </a:pPr>
            <a:r>
              <a:rPr lang="en-US" sz="4550" dirty="0">
                <a:solidFill>
                  <a:srgbClr val="EF9C82"/>
                </a:solidFill>
                <a:latin typeface="Quattrocento" pitchFamily="34" charset="0"/>
                <a:ea typeface="Quattrocento" pitchFamily="34" charset="-122"/>
                <a:cs typeface="Quattrocento" pitchFamily="34" charset="-120"/>
              </a:rPr>
              <a:t>The money is already moving.</a:t>
            </a:r>
            <a:endParaRPr lang="en-US" sz="4550" dirty="0"/>
          </a:p>
        </p:txBody>
      </p:sp>
      <p:sp>
        <p:nvSpPr>
          <p:cNvPr id="4" name="Text 1"/>
          <p:cNvSpPr/>
          <p:nvPr/>
        </p:nvSpPr>
        <p:spPr>
          <a:xfrm>
            <a:off x="698086" y="5236369"/>
            <a:ext cx="6223638" cy="1000026"/>
          </a:xfrm>
          <a:prstGeom prst="rect">
            <a:avLst/>
          </a:prstGeom>
          <a:noFill/>
          <a:ln/>
        </p:spPr>
        <p:txBody>
          <a:bodyPr wrap="square" lIns="0" tIns="0" rIns="0" bIns="0" rtlCol="0" anchor="t">
            <a:normAutofit/>
          </a:bodyPr>
          <a:lstStyle/>
          <a:p>
            <a:pPr algn="ctr" indent="0" marL="0">
              <a:lnSpc>
                <a:spcPct val="127000"/>
              </a:lnSpc>
              <a:spcAft>
                <a:spcPts val="1400"/>
              </a:spcAft>
              <a:buNone/>
            </a:pPr>
            <a:r>
              <a:rPr lang="en-US" sz="1400" dirty="0">
                <a:solidFill>
                  <a:srgbClr val="F9EEE7"/>
                </a:solidFill>
                <a:latin typeface="Quattrocento" pitchFamily="34" charset="0"/>
                <a:ea typeface="Quattrocento" pitchFamily="34" charset="-122"/>
                <a:cs typeface="Quattrocento" pitchFamily="34" charset="-120"/>
              </a:rPr>
              <a:t>What has never existed is the record. We built it, it is live, and it costs the member nothing.</a:t>
            </a:r>
            <a:endParaRPr lang="en-US" sz="1400" dirty="0"/>
          </a:p>
          <a:p>
            <a:pPr algn="ctr" indent="0" marL="0">
              <a:lnSpc>
                <a:spcPct val="127000"/>
              </a:lnSpc>
              <a:buNone/>
            </a:pPr>
            <a:r>
              <a:rPr lang="en-US" sz="1400" b="1" dirty="0">
                <a:solidFill>
                  <a:srgbClr val="F9EEE7"/>
                </a:solidFill>
                <a:latin typeface="Quattrocento Bold" pitchFamily="34" charset="0"/>
                <a:ea typeface="Quattrocento Bold" pitchFamily="34" charset="-122"/>
                <a:cs typeface="Quattrocento Bold" pitchFamily="34" charset="-120"/>
              </a:rPr>
              <a:t>halqa-seven.vercel.app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2026-08-15T17:40:24Z</dcterms:created>
  <dcterms:modified xsi:type="dcterms:W3CDTF">2026-08-15T17:40:24Z</dcterms:modified>
</cp:coreProperties>
</file>