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slides/slide57.xml" ContentType="application/vnd.openxmlformats-officedocument.presentationml.slide+xml"/>
  <Override PartName="/ppt/slides/slide58.xml" ContentType="application/vnd.openxmlformats-officedocument.presentationml.slide+xml"/>
  <Override PartName="/ppt/slides/slide59.xml" ContentType="application/vnd.openxmlformats-officedocument.presentationml.slide+xml"/>
  <Override PartName="/ppt/slides/slide6.xml" ContentType="application/vnd.openxmlformats-officedocument.presentationml.slide+xml"/>
  <Override PartName="/ppt/slides/slide60.xml" ContentType="application/vnd.openxmlformats-officedocument.presentationml.slide+xml"/>
  <Override PartName="/ppt/slides/slide61.xml" ContentType="application/vnd.openxmlformats-officedocument.presentationml.slide+xml"/>
  <Override PartName="/ppt/slides/slide62.xml" ContentType="application/vnd.openxmlformats-officedocument.presentationml.slide+xml"/>
  <Override PartName="/ppt/slides/slide63.xml" ContentType="application/vnd.openxmlformats-officedocument.presentationml.slide+xml"/>
  <Override PartName="/ppt/slides/slide64.xml" ContentType="application/vnd.openxmlformats-officedocument.presentationml.slide+xml"/>
  <Override PartName="/ppt/slides/slide65.xml" ContentType="application/vnd.openxmlformats-officedocument.presentationml.slide+xml"/>
  <Override PartName="/ppt/slides/slide66.xml" ContentType="application/vnd.openxmlformats-officedocument.presentationml.slide+xml"/>
  <Override PartName="/ppt/slides/slide67.xml" ContentType="application/vnd.openxmlformats-officedocument.presentationml.slide+xml"/>
  <Override PartName="/ppt/slides/slide68.xml" ContentType="application/vnd.openxmlformats-officedocument.presentationml.slide+xml"/>
  <Override PartName="/ppt/slides/slide69.xml" ContentType="application/vnd.openxmlformats-officedocument.presentationml.slide+xml"/>
  <Override PartName="/ppt/slides/slide7.xml" ContentType="application/vnd.openxmlformats-officedocument.presentationml.slide+xml"/>
  <Override PartName="/ppt/slides/slide70.xml" ContentType="application/vnd.openxmlformats-officedocument.presentationml.slide+xml"/>
  <Override PartName="/ppt/slides/slide71.xml" ContentType="application/vnd.openxmlformats-officedocument.presentationml.slide+xml"/>
  <Override PartName="/ppt/slides/slide72.xml" ContentType="application/vnd.openxmlformats-officedocument.presentationml.slide+xml"/>
  <Override PartName="/ppt/slides/slide73.xml" ContentType="application/vnd.openxmlformats-officedocument.presentationml.slide+xml"/>
  <Override PartName="/ppt/slides/slide74.xml" ContentType="application/vnd.openxmlformats-officedocument.presentationml.slide+xml"/>
  <Override PartName="/ppt/slides/slide75.xml" ContentType="application/vnd.openxmlformats-officedocument.presentationml.slide+xml"/>
  <Override PartName="/ppt/slides/slide76.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8"/>
    <p:sldId id="258" r:id="rId9"/>
    <p:sldId id="259" r:id="rId10"/>
    <p:sldId id="260" r:id="rId11"/>
    <p:sldId id="261" r:id="rId12"/>
    <p:sldId id="262" r:id="rId13"/>
    <p:sldId id="263" r:id="rId14"/>
    <p:sldId id="264" r:id="rId15"/>
    <p:sldId id="265" r:id="rId16"/>
    <p:sldId id="266" r:id="rId17"/>
    <p:sldId id="267" r:id="rId18"/>
    <p:sldId id="268" r:id="rId19"/>
    <p:sldId id="269" r:id="rId20"/>
    <p:sldId id="270" r:id="rId21"/>
    <p:sldId id="271" r:id="rId22"/>
    <p:sldId id="272" r:id="rId23"/>
    <p:sldId id="273" r:id="rId24"/>
    <p:sldId id="274" r:id="rId25"/>
    <p:sldId id="275" r:id="rId26"/>
    <p:sldId id="276" r:id="rId27"/>
    <p:sldId id="277" r:id="rId28"/>
    <p:sldId id="278" r:id="rId29"/>
    <p:sldId id="279" r:id="rId30"/>
    <p:sldId id="280" r:id="rId31"/>
    <p:sldId id="281" r:id="rId32"/>
    <p:sldId id="282" r:id="rId33"/>
    <p:sldId id="283" r:id="rId34"/>
    <p:sldId id="284" r:id="rId35"/>
    <p:sldId id="285" r:id="rId36"/>
    <p:sldId id="286" r:id="rId37"/>
    <p:sldId id="287" r:id="rId38"/>
    <p:sldId id="288" r:id="rId39"/>
    <p:sldId id="289" r:id="rId40"/>
    <p:sldId id="290" r:id="rId41"/>
    <p:sldId id="291" r:id="rId42"/>
    <p:sldId id="292" r:id="rId43"/>
    <p:sldId id="293" r:id="rId44"/>
    <p:sldId id="294" r:id="rId45"/>
    <p:sldId id="295" r:id="rId46"/>
    <p:sldId id="296" r:id="rId47"/>
    <p:sldId id="297" r:id="rId48"/>
    <p:sldId id="298" r:id="rId49"/>
    <p:sldId id="299" r:id="rId50"/>
    <p:sldId id="300" r:id="rId51"/>
    <p:sldId id="301" r:id="rId52"/>
    <p:sldId id="302" r:id="rId53"/>
    <p:sldId id="303" r:id="rId54"/>
    <p:sldId id="304" r:id="rId55"/>
    <p:sldId id="305" r:id="rId56"/>
    <p:sldId id="306" r:id="rId57"/>
    <p:sldId id="307" r:id="rId58"/>
    <p:sldId id="308" r:id="rId59"/>
    <p:sldId id="309" r:id="rId60"/>
    <p:sldId id="310" r:id="rId61"/>
    <p:sldId id="311" r:id="rId62"/>
    <p:sldId id="312" r:id="rId63"/>
    <p:sldId id="313" r:id="rId64"/>
    <p:sldId id="314" r:id="rId65"/>
    <p:sldId id="315" r:id="rId66"/>
    <p:sldId id="316" r:id="rId67"/>
    <p:sldId id="317" r:id="rId68"/>
    <p:sldId id="318" r:id="rId69"/>
    <p:sldId id="319" r:id="rId70"/>
    <p:sldId id="320" r:id="rId71"/>
    <p:sldId id="321" r:id="rId72"/>
    <p:sldId id="322" r:id="rId73"/>
    <p:sldId id="323" r:id="rId74"/>
    <p:sldId id="324" r:id="rId75"/>
    <p:sldId id="325" r:id="rId76"/>
    <p:sldId id="326" r:id="rId77"/>
    <p:sldId id="327" r:id="rId78"/>
    <p:sldId id="328" r:id="rId79"/>
    <p:sldId id="329" r:id="rId80"/>
    <p:sldId id="330" r:id="rId81"/>
    <p:sldId id="331" r:id="rId82"/>
  </p:sldIdLst>
  <p:sldSz cx="12191695"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slide" Target="slides/slide2.xml"/><Relationship Id="rId9" Type="http://schemas.openxmlformats.org/officeDocument/2006/relationships/slide" Target="slides/slide3.xml"/><Relationship Id="rId10" Type="http://schemas.openxmlformats.org/officeDocument/2006/relationships/slide" Target="slides/slide4.xml"/><Relationship Id="rId11" Type="http://schemas.openxmlformats.org/officeDocument/2006/relationships/slide" Target="slides/slide5.xml"/><Relationship Id="rId12" Type="http://schemas.openxmlformats.org/officeDocument/2006/relationships/slide" Target="slides/slide6.xml"/><Relationship Id="rId13" Type="http://schemas.openxmlformats.org/officeDocument/2006/relationships/slide" Target="slides/slide7.xml"/><Relationship Id="rId14" Type="http://schemas.openxmlformats.org/officeDocument/2006/relationships/slide" Target="slides/slide8.xml"/><Relationship Id="rId15" Type="http://schemas.openxmlformats.org/officeDocument/2006/relationships/slide" Target="slides/slide9.xml"/><Relationship Id="rId16" Type="http://schemas.openxmlformats.org/officeDocument/2006/relationships/slide" Target="slides/slide10.xml"/><Relationship Id="rId17" Type="http://schemas.openxmlformats.org/officeDocument/2006/relationships/slide" Target="slides/slide11.xml"/><Relationship Id="rId18" Type="http://schemas.openxmlformats.org/officeDocument/2006/relationships/slide" Target="slides/slide12.xml"/><Relationship Id="rId19" Type="http://schemas.openxmlformats.org/officeDocument/2006/relationships/slide" Target="slides/slide13.xml"/><Relationship Id="rId20" Type="http://schemas.openxmlformats.org/officeDocument/2006/relationships/slide" Target="slides/slide14.xml"/><Relationship Id="rId21" Type="http://schemas.openxmlformats.org/officeDocument/2006/relationships/slide" Target="slides/slide15.xml"/><Relationship Id="rId22" Type="http://schemas.openxmlformats.org/officeDocument/2006/relationships/slide" Target="slides/slide16.xml"/><Relationship Id="rId23" Type="http://schemas.openxmlformats.org/officeDocument/2006/relationships/slide" Target="slides/slide17.xml"/><Relationship Id="rId24" Type="http://schemas.openxmlformats.org/officeDocument/2006/relationships/slide" Target="slides/slide18.xml"/><Relationship Id="rId25" Type="http://schemas.openxmlformats.org/officeDocument/2006/relationships/slide" Target="slides/slide19.xml"/><Relationship Id="rId26" Type="http://schemas.openxmlformats.org/officeDocument/2006/relationships/slide" Target="slides/slide20.xml"/><Relationship Id="rId27" Type="http://schemas.openxmlformats.org/officeDocument/2006/relationships/slide" Target="slides/slide21.xml"/><Relationship Id="rId28" Type="http://schemas.openxmlformats.org/officeDocument/2006/relationships/slide" Target="slides/slide22.xml"/><Relationship Id="rId29" Type="http://schemas.openxmlformats.org/officeDocument/2006/relationships/slide" Target="slides/slide23.xml"/><Relationship Id="rId30" Type="http://schemas.openxmlformats.org/officeDocument/2006/relationships/slide" Target="slides/slide24.xml"/><Relationship Id="rId31" Type="http://schemas.openxmlformats.org/officeDocument/2006/relationships/slide" Target="slides/slide25.xml"/><Relationship Id="rId32" Type="http://schemas.openxmlformats.org/officeDocument/2006/relationships/slide" Target="slides/slide26.xml"/><Relationship Id="rId33" Type="http://schemas.openxmlformats.org/officeDocument/2006/relationships/slide" Target="slides/slide27.xml"/><Relationship Id="rId34" Type="http://schemas.openxmlformats.org/officeDocument/2006/relationships/slide" Target="slides/slide28.xml"/><Relationship Id="rId35" Type="http://schemas.openxmlformats.org/officeDocument/2006/relationships/slide" Target="slides/slide29.xml"/><Relationship Id="rId36" Type="http://schemas.openxmlformats.org/officeDocument/2006/relationships/slide" Target="slides/slide30.xml"/><Relationship Id="rId37" Type="http://schemas.openxmlformats.org/officeDocument/2006/relationships/slide" Target="slides/slide31.xml"/><Relationship Id="rId38" Type="http://schemas.openxmlformats.org/officeDocument/2006/relationships/slide" Target="slides/slide32.xml"/><Relationship Id="rId39" Type="http://schemas.openxmlformats.org/officeDocument/2006/relationships/slide" Target="slides/slide33.xml"/><Relationship Id="rId40" Type="http://schemas.openxmlformats.org/officeDocument/2006/relationships/slide" Target="slides/slide34.xml"/><Relationship Id="rId41" Type="http://schemas.openxmlformats.org/officeDocument/2006/relationships/slide" Target="slides/slide35.xml"/><Relationship Id="rId42" Type="http://schemas.openxmlformats.org/officeDocument/2006/relationships/slide" Target="slides/slide36.xml"/><Relationship Id="rId43" Type="http://schemas.openxmlformats.org/officeDocument/2006/relationships/slide" Target="slides/slide37.xml"/><Relationship Id="rId44" Type="http://schemas.openxmlformats.org/officeDocument/2006/relationships/slide" Target="slides/slide38.xml"/><Relationship Id="rId45" Type="http://schemas.openxmlformats.org/officeDocument/2006/relationships/slide" Target="slides/slide39.xml"/><Relationship Id="rId46" Type="http://schemas.openxmlformats.org/officeDocument/2006/relationships/slide" Target="slides/slide40.xml"/><Relationship Id="rId47" Type="http://schemas.openxmlformats.org/officeDocument/2006/relationships/slide" Target="slides/slide41.xml"/><Relationship Id="rId48" Type="http://schemas.openxmlformats.org/officeDocument/2006/relationships/slide" Target="slides/slide42.xml"/><Relationship Id="rId49" Type="http://schemas.openxmlformats.org/officeDocument/2006/relationships/slide" Target="slides/slide43.xml"/><Relationship Id="rId50" Type="http://schemas.openxmlformats.org/officeDocument/2006/relationships/slide" Target="slides/slide44.xml"/><Relationship Id="rId51" Type="http://schemas.openxmlformats.org/officeDocument/2006/relationships/slide" Target="slides/slide45.xml"/><Relationship Id="rId52" Type="http://schemas.openxmlformats.org/officeDocument/2006/relationships/slide" Target="slides/slide46.xml"/><Relationship Id="rId53" Type="http://schemas.openxmlformats.org/officeDocument/2006/relationships/slide" Target="slides/slide47.xml"/><Relationship Id="rId54" Type="http://schemas.openxmlformats.org/officeDocument/2006/relationships/slide" Target="slides/slide48.xml"/><Relationship Id="rId55" Type="http://schemas.openxmlformats.org/officeDocument/2006/relationships/slide" Target="slides/slide49.xml"/><Relationship Id="rId56" Type="http://schemas.openxmlformats.org/officeDocument/2006/relationships/slide" Target="slides/slide50.xml"/><Relationship Id="rId57" Type="http://schemas.openxmlformats.org/officeDocument/2006/relationships/slide" Target="slides/slide51.xml"/><Relationship Id="rId58" Type="http://schemas.openxmlformats.org/officeDocument/2006/relationships/slide" Target="slides/slide52.xml"/><Relationship Id="rId59" Type="http://schemas.openxmlformats.org/officeDocument/2006/relationships/slide" Target="slides/slide53.xml"/><Relationship Id="rId60" Type="http://schemas.openxmlformats.org/officeDocument/2006/relationships/slide" Target="slides/slide54.xml"/><Relationship Id="rId61" Type="http://schemas.openxmlformats.org/officeDocument/2006/relationships/slide" Target="slides/slide55.xml"/><Relationship Id="rId62" Type="http://schemas.openxmlformats.org/officeDocument/2006/relationships/slide" Target="slides/slide56.xml"/><Relationship Id="rId63" Type="http://schemas.openxmlformats.org/officeDocument/2006/relationships/slide" Target="slides/slide57.xml"/><Relationship Id="rId64" Type="http://schemas.openxmlformats.org/officeDocument/2006/relationships/slide" Target="slides/slide58.xml"/><Relationship Id="rId65" Type="http://schemas.openxmlformats.org/officeDocument/2006/relationships/slide" Target="slides/slide59.xml"/><Relationship Id="rId66" Type="http://schemas.openxmlformats.org/officeDocument/2006/relationships/slide" Target="slides/slide60.xml"/><Relationship Id="rId67" Type="http://schemas.openxmlformats.org/officeDocument/2006/relationships/slide" Target="slides/slide61.xml"/><Relationship Id="rId68" Type="http://schemas.openxmlformats.org/officeDocument/2006/relationships/slide" Target="slides/slide62.xml"/><Relationship Id="rId69" Type="http://schemas.openxmlformats.org/officeDocument/2006/relationships/slide" Target="slides/slide63.xml"/><Relationship Id="rId70" Type="http://schemas.openxmlformats.org/officeDocument/2006/relationships/slide" Target="slides/slide64.xml"/><Relationship Id="rId71" Type="http://schemas.openxmlformats.org/officeDocument/2006/relationships/slide" Target="slides/slide65.xml"/><Relationship Id="rId72" Type="http://schemas.openxmlformats.org/officeDocument/2006/relationships/slide" Target="slides/slide66.xml"/><Relationship Id="rId73" Type="http://schemas.openxmlformats.org/officeDocument/2006/relationships/slide" Target="slides/slide67.xml"/><Relationship Id="rId74" Type="http://schemas.openxmlformats.org/officeDocument/2006/relationships/slide" Target="slides/slide68.xml"/><Relationship Id="rId75" Type="http://schemas.openxmlformats.org/officeDocument/2006/relationships/slide" Target="slides/slide69.xml"/><Relationship Id="rId76" Type="http://schemas.openxmlformats.org/officeDocument/2006/relationships/slide" Target="slides/slide70.xml"/><Relationship Id="rId77" Type="http://schemas.openxmlformats.org/officeDocument/2006/relationships/slide" Target="slides/slide71.xml"/><Relationship Id="rId78" Type="http://schemas.openxmlformats.org/officeDocument/2006/relationships/slide" Target="slides/slide72.xml"/><Relationship Id="rId79" Type="http://schemas.openxmlformats.org/officeDocument/2006/relationships/slide" Target="slides/slide73.xml"/><Relationship Id="rId80" Type="http://schemas.openxmlformats.org/officeDocument/2006/relationships/slide" Target="slides/slide74.xml"/><Relationship Id="rId81" Type="http://schemas.openxmlformats.org/officeDocument/2006/relationships/slide" Target="slides/slide75.xml"/><Relationship Id="rId82" Type="http://schemas.openxmlformats.org/officeDocument/2006/relationships/slide" Target="slides/slide76.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png"/></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3.png"/></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4.png"/></Relationships>
</file>

<file path=ppt/slides/_rels/slide4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5.png"/></Relationships>
</file>

<file path=ppt/slides/_rels/slide4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6.png"/></Relationships>
</file>

<file path=ppt/slides/_rels/slide5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7.png"/></Relationships>
</file>

<file path=ppt/slides/_rels/slide7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slide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384048" cy="6858000"/>
          </a:xfrm>
          <a:prstGeom prst="rect">
            <a:avLst/>
          </a:prstGeom>
          <a:solidFill>
            <a:srgbClr val="6DC72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777240" y="1554480"/>
            <a:ext cx="8229600" cy="457200"/>
          </a:xfrm>
          <a:prstGeom prst="rect">
            <a:avLst/>
          </a:prstGeom>
          <a:noFill/>
        </p:spPr>
        <p:txBody>
          <a:bodyPr wrap="square" lIns="0" rIns="0" tIns="0" bIns="0">
            <a:spAutoFit/>
          </a:bodyPr>
          <a:lstStyle/>
          <a:p>
            <a:pPr algn="l">
              <a:lnSpc>
                <a:spcPct val="125000"/>
              </a:lnSpc>
            </a:pPr>
            <a:r>
              <a:rPr sz="2100" b="1" i="0">
                <a:solidFill>
                  <a:srgbClr val="0C1408"/>
                </a:solidFill>
                <a:latin typeface="Segoe UI"/>
              </a:rPr>
              <a:t>HALQA</a:t>
            </a:r>
          </a:p>
        </p:txBody>
      </p:sp>
      <p:sp>
        <p:nvSpPr>
          <p:cNvPr id="4" name="Rectangle 3"/>
          <p:cNvSpPr/>
          <p:nvPr/>
        </p:nvSpPr>
        <p:spPr>
          <a:xfrm>
            <a:off x="777240" y="2194560"/>
            <a:ext cx="8686800" cy="12700"/>
          </a:xfrm>
          <a:prstGeom prst="rect">
            <a:avLst/>
          </a:prstGeom>
          <a:solidFill>
            <a:srgbClr val="E1E7D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777240" y="2514600"/>
            <a:ext cx="10058400" cy="822960"/>
          </a:xfrm>
          <a:prstGeom prst="rect">
            <a:avLst/>
          </a:prstGeom>
          <a:noFill/>
        </p:spPr>
        <p:txBody>
          <a:bodyPr wrap="square" lIns="0" rIns="0" tIns="0" bIns="0">
            <a:spAutoFit/>
          </a:bodyPr>
          <a:lstStyle/>
          <a:p>
            <a:pPr algn="l">
              <a:lnSpc>
                <a:spcPct val="110000"/>
              </a:lnSpc>
            </a:pPr>
            <a:r>
              <a:rPr sz="4000" b="1" i="0">
                <a:solidFill>
                  <a:srgbClr val="0C1408"/>
                </a:solidFill>
                <a:latin typeface="Segoe UI"/>
              </a:rPr>
              <a:t>How it works</a:t>
            </a:r>
          </a:p>
        </p:txBody>
      </p:sp>
      <p:sp>
        <p:nvSpPr>
          <p:cNvPr id="6" name="TextBox 5"/>
          <p:cNvSpPr txBox="1"/>
          <p:nvPr/>
        </p:nvSpPr>
        <p:spPr>
          <a:xfrm>
            <a:off x="777240" y="3611880"/>
            <a:ext cx="8595360" cy="914400"/>
          </a:xfrm>
          <a:prstGeom prst="rect">
            <a:avLst/>
          </a:prstGeom>
          <a:noFill/>
        </p:spPr>
        <p:txBody>
          <a:bodyPr wrap="square" lIns="0" rIns="0" tIns="0" bIns="0">
            <a:spAutoFit/>
          </a:bodyPr>
          <a:lstStyle/>
          <a:p>
            <a:pPr algn="l">
              <a:lnSpc>
                <a:spcPct val="140000"/>
              </a:lnSpc>
            </a:pPr>
            <a:r>
              <a:rPr sz="1400" b="0" i="0">
                <a:solidFill>
                  <a:srgbClr val="6F7B68"/>
                </a:solidFill>
                <a:latin typeface="Segoe UI"/>
              </a:rPr>
              <a:t>The institutions, the money path, every product, every feature, and the controls behind each one.</a:t>
            </a:r>
          </a:p>
        </p:txBody>
      </p:sp>
      <p:sp>
        <p:nvSpPr>
          <p:cNvPr id="7" name="Rectangle 6"/>
          <p:cNvSpPr/>
          <p:nvPr/>
        </p:nvSpPr>
        <p:spPr>
          <a:xfrm>
            <a:off x="777240" y="4846320"/>
            <a:ext cx="1371600" cy="22860"/>
          </a:xfrm>
          <a:prstGeom prst="rect">
            <a:avLst/>
          </a:prstGeom>
          <a:solidFill>
            <a:srgbClr val="6DC72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777240" y="5166360"/>
            <a:ext cx="7315200" cy="274320"/>
          </a:xfrm>
          <a:prstGeom prst="rect">
            <a:avLst/>
          </a:prstGeom>
          <a:noFill/>
        </p:spPr>
        <p:txBody>
          <a:bodyPr wrap="square" lIns="0" rIns="0" tIns="0" bIns="0">
            <a:spAutoFit/>
          </a:bodyPr>
          <a:lstStyle/>
          <a:p>
            <a:pPr algn="l">
              <a:lnSpc>
                <a:spcPct val="125000"/>
              </a:lnSpc>
            </a:pPr>
            <a:r>
              <a:rPr sz="1100" b="0" i="0">
                <a:solidFill>
                  <a:srgbClr val="6F7B68"/>
                </a:solidFill>
                <a:latin typeface="Segoe UI"/>
              </a:rPr>
              <a:t>13 August 2026        Confidential</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777240" y="566928"/>
            <a:ext cx="10637215" cy="219456"/>
          </a:xfrm>
          <a:prstGeom prst="rect">
            <a:avLst/>
          </a:prstGeom>
          <a:noFill/>
        </p:spPr>
        <p:txBody>
          <a:bodyPr wrap="square" lIns="0" rIns="0" tIns="0" bIns="0">
            <a:spAutoFit/>
          </a:bodyPr>
          <a:lstStyle/>
          <a:p>
            <a:pPr algn="l">
              <a:lnSpc>
                <a:spcPct val="125000"/>
              </a:lnSpc>
            </a:pPr>
            <a:r>
              <a:rPr sz="950" b="1" i="0">
                <a:solidFill>
                  <a:srgbClr val="41801A"/>
                </a:solidFill>
                <a:latin typeface="Segoe UI"/>
              </a:rPr>
              <a:t>CONTENTS</a:t>
            </a:r>
          </a:p>
        </p:txBody>
      </p:sp>
      <p:sp>
        <p:nvSpPr>
          <p:cNvPr id="3" name="TextBox 2"/>
          <p:cNvSpPr txBox="1"/>
          <p:nvPr/>
        </p:nvSpPr>
        <p:spPr>
          <a:xfrm>
            <a:off x="777240" y="841248"/>
            <a:ext cx="10637215" cy="502920"/>
          </a:xfrm>
          <a:prstGeom prst="rect">
            <a:avLst/>
          </a:prstGeom>
          <a:noFill/>
        </p:spPr>
        <p:txBody>
          <a:bodyPr wrap="square" lIns="0" rIns="0" tIns="0" bIns="0">
            <a:spAutoFit/>
          </a:bodyPr>
          <a:lstStyle/>
          <a:p>
            <a:pPr algn="l">
              <a:lnSpc>
                <a:spcPct val="125000"/>
              </a:lnSpc>
            </a:pPr>
            <a:r>
              <a:rPr sz="2700" b="1" i="0">
                <a:solidFill>
                  <a:srgbClr val="0C1408"/>
                </a:solidFill>
                <a:latin typeface="Segoe UI"/>
              </a:rPr>
              <a:t>Contents</a:t>
            </a:r>
          </a:p>
        </p:txBody>
      </p:sp>
      <p:sp>
        <p:nvSpPr>
          <p:cNvPr id="4" name="Rectangle 3"/>
          <p:cNvSpPr/>
          <p:nvPr/>
        </p:nvSpPr>
        <p:spPr>
          <a:xfrm>
            <a:off x="777240" y="1417320"/>
            <a:ext cx="1371600" cy="22860"/>
          </a:xfrm>
          <a:prstGeom prst="rect">
            <a:avLst/>
          </a:prstGeom>
          <a:solidFill>
            <a:srgbClr val="6DC72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777240" y="6382512"/>
            <a:ext cx="3657600" cy="228600"/>
          </a:xfrm>
          <a:prstGeom prst="rect">
            <a:avLst/>
          </a:prstGeom>
          <a:noFill/>
        </p:spPr>
        <p:txBody>
          <a:bodyPr wrap="square" lIns="0" rIns="0" tIns="0" bIns="0">
            <a:spAutoFit/>
          </a:bodyPr>
          <a:lstStyle/>
          <a:p>
            <a:pPr algn="l">
              <a:lnSpc>
                <a:spcPct val="125000"/>
              </a:lnSpc>
            </a:pPr>
            <a:r>
              <a:rPr sz="900" b="0" i="0">
                <a:solidFill>
                  <a:srgbClr val="9AA694"/>
                </a:solidFill>
                <a:latin typeface="Segoe UI"/>
              </a:rPr>
              <a:t>Halqa  ·  Confidential</a:t>
            </a:r>
          </a:p>
        </p:txBody>
      </p:sp>
      <p:sp>
        <p:nvSpPr>
          <p:cNvPr id="6" name="TextBox 5"/>
          <p:cNvSpPr txBox="1"/>
          <p:nvPr/>
        </p:nvSpPr>
        <p:spPr>
          <a:xfrm>
            <a:off x="10728655" y="6382512"/>
            <a:ext cx="685800" cy="228600"/>
          </a:xfrm>
          <a:prstGeom prst="rect">
            <a:avLst/>
          </a:prstGeom>
          <a:noFill/>
        </p:spPr>
        <p:txBody>
          <a:bodyPr wrap="square" lIns="0" rIns="0" tIns="0" bIns="0">
            <a:spAutoFit/>
          </a:bodyPr>
          <a:lstStyle/>
          <a:p>
            <a:pPr algn="r">
              <a:lnSpc>
                <a:spcPct val="125000"/>
              </a:lnSpc>
            </a:pPr>
            <a:r>
              <a:rPr sz="900" b="0" i="0">
                <a:solidFill>
                  <a:srgbClr val="6F7B68"/>
                </a:solidFill>
                <a:latin typeface="Segoe UI"/>
              </a:rPr>
              <a:t>2</a:t>
            </a:r>
          </a:p>
        </p:txBody>
      </p:sp>
      <p:sp>
        <p:nvSpPr>
          <p:cNvPr id="7" name="TextBox 6"/>
          <p:cNvSpPr txBox="1"/>
          <p:nvPr/>
        </p:nvSpPr>
        <p:spPr>
          <a:xfrm>
            <a:off x="777240" y="2194560"/>
            <a:ext cx="3566160" cy="365760"/>
          </a:xfrm>
          <a:prstGeom prst="rect">
            <a:avLst/>
          </a:prstGeom>
          <a:noFill/>
        </p:spPr>
        <p:txBody>
          <a:bodyPr wrap="square" lIns="0" rIns="0" tIns="0" bIns="0">
            <a:spAutoFit/>
          </a:bodyPr>
          <a:lstStyle/>
          <a:p>
            <a:pPr>
              <a:lnSpc>
                <a:spcPct val="130000"/>
              </a:lnSpc>
            </a:pPr>
            <a:r>
              <a:rPr sz="1350">
                <a:solidFill>
                  <a:srgbClr val="26301F"/>
                </a:solidFill>
                <a:latin typeface="Segoe UI"/>
              </a:rPr>
              <a:t>0    What has been tried before</a:t>
            </a:r>
          </a:p>
          <a:p>
            <a:pPr>
              <a:lnSpc>
                <a:spcPct val="130000"/>
              </a:lnSpc>
              <a:spcBef>
                <a:spcPts val="1500"/>
              </a:spcBef>
            </a:pPr>
            <a:r>
              <a:rPr sz="1350">
                <a:solidFill>
                  <a:srgbClr val="26301F"/>
                </a:solidFill>
                <a:latin typeface="Segoe UI"/>
              </a:rPr>
              <a:t>1    Where the money goes</a:t>
            </a:r>
          </a:p>
          <a:p>
            <a:pPr>
              <a:lnSpc>
                <a:spcPct val="130000"/>
              </a:lnSpc>
              <a:spcBef>
                <a:spcPts val="1500"/>
              </a:spcBef>
            </a:pPr>
            <a:r>
              <a:rPr sz="1350">
                <a:solidFill>
                  <a:srgbClr val="26301F"/>
                </a:solidFill>
                <a:latin typeface="Segoe UI"/>
              </a:rPr>
              <a:t>2    Getting in</a:t>
            </a:r>
          </a:p>
          <a:p>
            <a:pPr>
              <a:lnSpc>
                <a:spcPct val="130000"/>
              </a:lnSpc>
              <a:spcBef>
                <a:spcPts val="1500"/>
              </a:spcBef>
            </a:pPr>
            <a:r>
              <a:rPr sz="1350">
                <a:solidFill>
                  <a:srgbClr val="26301F"/>
                </a:solidFill>
                <a:latin typeface="Segoe UI"/>
              </a:rPr>
              <a:t>3    Taking the money</a:t>
            </a:r>
          </a:p>
        </p:txBody>
      </p:sp>
      <p:sp>
        <p:nvSpPr>
          <p:cNvPr id="8" name="TextBox 7"/>
          <p:cNvSpPr txBox="1"/>
          <p:nvPr/>
        </p:nvSpPr>
        <p:spPr>
          <a:xfrm>
            <a:off x="4434840" y="2194560"/>
            <a:ext cx="3566160" cy="365760"/>
          </a:xfrm>
          <a:prstGeom prst="rect">
            <a:avLst/>
          </a:prstGeom>
          <a:noFill/>
        </p:spPr>
        <p:txBody>
          <a:bodyPr wrap="square" lIns="0" rIns="0" tIns="0" bIns="0">
            <a:spAutoFit/>
          </a:bodyPr>
          <a:lstStyle/>
          <a:p>
            <a:pPr>
              <a:lnSpc>
                <a:spcPct val="130000"/>
              </a:lnSpc>
            </a:pPr>
            <a:r>
              <a:rPr sz="1350">
                <a:solidFill>
                  <a:srgbClr val="26301F"/>
                </a:solidFill>
                <a:latin typeface="Segoe UI"/>
              </a:rPr>
              <a:t>4    Building the record</a:t>
            </a:r>
          </a:p>
          <a:p>
            <a:pPr>
              <a:lnSpc>
                <a:spcPct val="130000"/>
              </a:lnSpc>
              <a:spcBef>
                <a:spcPts val="1500"/>
              </a:spcBef>
            </a:pPr>
            <a:r>
              <a:rPr sz="1350">
                <a:solidFill>
                  <a:srgbClr val="26301F"/>
                </a:solidFill>
                <a:latin typeface="Segoe UI"/>
              </a:rPr>
              <a:t>5    Preventing default</a:t>
            </a:r>
          </a:p>
          <a:p>
            <a:pPr>
              <a:lnSpc>
                <a:spcPct val="130000"/>
              </a:lnSpc>
              <a:spcBef>
                <a:spcPts val="1500"/>
              </a:spcBef>
            </a:pPr>
            <a:r>
              <a:rPr sz="1350">
                <a:solidFill>
                  <a:srgbClr val="26301F"/>
                </a:solidFill>
                <a:latin typeface="Segoe UI"/>
              </a:rPr>
              <a:t>6    When prevention fails</a:t>
            </a:r>
          </a:p>
          <a:p>
            <a:pPr>
              <a:lnSpc>
                <a:spcPct val="130000"/>
              </a:lnSpc>
              <a:spcBef>
                <a:spcPts val="1500"/>
              </a:spcBef>
            </a:pPr>
            <a:r>
              <a:rPr sz="1350">
                <a:solidFill>
                  <a:srgbClr val="26301F"/>
                </a:solidFill>
                <a:latin typeface="Segoe UI"/>
              </a:rPr>
              <a:t>7    The products, one by one</a:t>
            </a:r>
          </a:p>
        </p:txBody>
      </p:sp>
      <p:sp>
        <p:nvSpPr>
          <p:cNvPr id="9" name="TextBox 8"/>
          <p:cNvSpPr txBox="1"/>
          <p:nvPr/>
        </p:nvSpPr>
        <p:spPr>
          <a:xfrm>
            <a:off x="8092440" y="2194560"/>
            <a:ext cx="3566160" cy="365760"/>
          </a:xfrm>
          <a:prstGeom prst="rect">
            <a:avLst/>
          </a:prstGeom>
          <a:noFill/>
        </p:spPr>
        <p:txBody>
          <a:bodyPr wrap="square" lIns="0" rIns="0" tIns="0" bIns="0">
            <a:spAutoFit/>
          </a:bodyPr>
          <a:lstStyle/>
          <a:p>
            <a:pPr>
              <a:lnSpc>
                <a:spcPct val="130000"/>
              </a:lnSpc>
            </a:pPr>
            <a:r>
              <a:rPr sz="1350">
                <a:solidFill>
                  <a:srgbClr val="26301F"/>
                </a:solidFill>
                <a:latin typeface="Segoe UI"/>
              </a:rPr>
              <a:t>8    Rewards</a:t>
            </a:r>
          </a:p>
          <a:p>
            <a:pPr>
              <a:lnSpc>
                <a:spcPct val="130000"/>
              </a:lnSpc>
              <a:spcBef>
                <a:spcPts val="1500"/>
              </a:spcBef>
            </a:pPr>
            <a:r>
              <a:rPr sz="1350">
                <a:solidFill>
                  <a:srgbClr val="26301F"/>
                </a:solidFill>
                <a:latin typeface="Segoe UI"/>
              </a:rPr>
              <a:t>9    Security, treasury and the application</a:t>
            </a:r>
          </a:p>
          <a:p>
            <a:pPr>
              <a:lnSpc>
                <a:spcPct val="130000"/>
              </a:lnSpc>
              <a:spcBef>
                <a:spcPts val="1500"/>
              </a:spcBef>
            </a:pPr>
            <a:r>
              <a:rPr sz="1350">
                <a:solidFill>
                  <a:srgbClr val="26301F"/>
                </a:solidFill>
                <a:latin typeface="Segoe UI"/>
              </a:rPr>
              <a:t>10  The business and what comes next</a:t>
            </a:r>
          </a:p>
          <a:p>
            <a:pPr>
              <a:lnSpc>
                <a:spcPct val="130000"/>
              </a:lnSpc>
              <a:spcBef>
                <a:spcPts val="1500"/>
              </a:spcBef>
            </a:pPr>
            <a:r>
              <a:rPr sz="1350">
                <a:solidFill>
                  <a:srgbClr val="26301F"/>
                </a:solidFill>
                <a:latin typeface="Segoe UI"/>
              </a:rPr>
              <a:t>11  What is built today</a:t>
            </a:r>
          </a:p>
        </p:txBody>
      </p:sp>
      <p:sp>
        <p:nvSpPr>
          <p:cNvPr id="10" name="TextBox 9"/>
          <p:cNvSpPr txBox="1"/>
          <p:nvPr/>
        </p:nvSpPr>
        <p:spPr>
          <a:xfrm>
            <a:off x="777240" y="4480560"/>
            <a:ext cx="10637215" cy="1463040"/>
          </a:xfrm>
          <a:prstGeom prst="rect">
            <a:avLst/>
          </a:prstGeom>
          <a:noFill/>
        </p:spPr>
        <p:txBody>
          <a:bodyPr wrap="square" lIns="0" rIns="0" tIns="0" bIns="0">
            <a:spAutoFit/>
          </a:bodyPr>
          <a:lstStyle/>
          <a:p>
            <a:pPr algn="l">
              <a:lnSpc>
                <a:spcPct val="150000"/>
              </a:lnSpc>
            </a:pPr>
            <a:r>
              <a:rPr sz="1250" b="0" i="0">
                <a:solidFill>
                  <a:srgbClr val="6F7B68"/>
                </a:solidFill>
                <a:latin typeface="Segoe UI"/>
              </a:rPr>
              <a:t>Sections 1 to 6 are the five things the platform does, in the order money moves through them, plus the institutions each one depends on. Section 7 takes every product in the range and gives each its own page: known circles, open circles, HYPER, asset circles, the savings layer, the marketplace, gold goal circles, the tier engines, and how a member leaves. Sections 9 and 10 cover security, treasury, money laundering, the application itself, and where this goes next.</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777240" y="566928"/>
            <a:ext cx="10637215" cy="219456"/>
          </a:xfrm>
          <a:prstGeom prst="rect">
            <a:avLst/>
          </a:prstGeom>
          <a:noFill/>
        </p:spPr>
        <p:txBody>
          <a:bodyPr wrap="square" lIns="0" rIns="0" tIns="0" bIns="0">
            <a:spAutoFit/>
          </a:bodyPr>
          <a:lstStyle/>
          <a:p>
            <a:pPr algn="l">
              <a:lnSpc>
                <a:spcPct val="125000"/>
              </a:lnSpc>
            </a:pPr>
            <a:r>
              <a:rPr sz="950" b="1" i="0">
                <a:solidFill>
                  <a:srgbClr val="41801A"/>
                </a:solidFill>
                <a:latin typeface="Segoe UI"/>
              </a:rPr>
              <a:t>WHY THIS HAS NEVER BEEN FORMALISED</a:t>
            </a:r>
          </a:p>
        </p:txBody>
      </p:sp>
      <p:sp>
        <p:nvSpPr>
          <p:cNvPr id="3" name="TextBox 2"/>
          <p:cNvSpPr txBox="1"/>
          <p:nvPr/>
        </p:nvSpPr>
        <p:spPr>
          <a:xfrm>
            <a:off x="777240" y="841248"/>
            <a:ext cx="10637215" cy="502920"/>
          </a:xfrm>
          <a:prstGeom prst="rect">
            <a:avLst/>
          </a:prstGeom>
          <a:noFill/>
        </p:spPr>
        <p:txBody>
          <a:bodyPr wrap="square" lIns="0" rIns="0" tIns="0" bIns="0">
            <a:spAutoFit/>
          </a:bodyPr>
          <a:lstStyle/>
          <a:p>
            <a:pPr algn="l">
              <a:lnSpc>
                <a:spcPct val="125000"/>
              </a:lnSpc>
            </a:pPr>
            <a:r>
              <a:rPr sz="2700" b="1" i="0">
                <a:solidFill>
                  <a:srgbClr val="0C1408"/>
                </a:solidFill>
                <a:latin typeface="Segoe UI"/>
              </a:rPr>
              <a:t>The five ways it has failed before</a:t>
            </a:r>
          </a:p>
        </p:txBody>
      </p:sp>
      <p:sp>
        <p:nvSpPr>
          <p:cNvPr id="4" name="Rectangle 3"/>
          <p:cNvSpPr/>
          <p:nvPr/>
        </p:nvSpPr>
        <p:spPr>
          <a:xfrm>
            <a:off x="777240" y="1417320"/>
            <a:ext cx="1371600" cy="22860"/>
          </a:xfrm>
          <a:prstGeom prst="rect">
            <a:avLst/>
          </a:prstGeom>
          <a:solidFill>
            <a:srgbClr val="6DC72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777240" y="6382512"/>
            <a:ext cx="3657600" cy="228600"/>
          </a:xfrm>
          <a:prstGeom prst="rect">
            <a:avLst/>
          </a:prstGeom>
          <a:noFill/>
        </p:spPr>
        <p:txBody>
          <a:bodyPr wrap="square" lIns="0" rIns="0" tIns="0" bIns="0">
            <a:spAutoFit/>
          </a:bodyPr>
          <a:lstStyle/>
          <a:p>
            <a:pPr algn="l">
              <a:lnSpc>
                <a:spcPct val="125000"/>
              </a:lnSpc>
            </a:pPr>
            <a:r>
              <a:rPr sz="900" b="0" i="0">
                <a:solidFill>
                  <a:srgbClr val="9AA694"/>
                </a:solidFill>
                <a:latin typeface="Segoe UI"/>
              </a:rPr>
              <a:t>Halqa  ·  Confidential</a:t>
            </a:r>
          </a:p>
        </p:txBody>
      </p:sp>
      <p:sp>
        <p:nvSpPr>
          <p:cNvPr id="6" name="TextBox 5"/>
          <p:cNvSpPr txBox="1"/>
          <p:nvPr/>
        </p:nvSpPr>
        <p:spPr>
          <a:xfrm>
            <a:off x="10728655" y="6382512"/>
            <a:ext cx="685800" cy="228600"/>
          </a:xfrm>
          <a:prstGeom prst="rect">
            <a:avLst/>
          </a:prstGeom>
          <a:noFill/>
        </p:spPr>
        <p:txBody>
          <a:bodyPr wrap="square" lIns="0" rIns="0" tIns="0" bIns="0">
            <a:spAutoFit/>
          </a:bodyPr>
          <a:lstStyle/>
          <a:p>
            <a:pPr algn="r">
              <a:lnSpc>
                <a:spcPct val="125000"/>
              </a:lnSpc>
            </a:pPr>
            <a:r>
              <a:rPr sz="900" b="0" i="0">
                <a:solidFill>
                  <a:srgbClr val="6F7B68"/>
                </a:solidFill>
                <a:latin typeface="Segoe UI"/>
              </a:rPr>
              <a:t>3</a:t>
            </a:r>
          </a:p>
        </p:txBody>
      </p:sp>
      <p:graphicFrame>
        <p:nvGraphicFramePr>
          <p:cNvPr id="7" name="Table 6"/>
          <p:cNvGraphicFramePr>
            <a:graphicFrameLocks noGrp="1"/>
          </p:cNvGraphicFramePr>
          <p:nvPr/>
        </p:nvGraphicFramePr>
        <p:xfrm>
          <a:off x="777240" y="1965960"/>
          <a:ext cx="10607040" cy="3490398"/>
        </p:xfrm>
        <a:graphic>
          <a:graphicData uri="http://schemas.openxmlformats.org/drawingml/2006/table">
            <a:tbl>
              <a:tblPr>
                <a:tableStyleId>{5C22544A-7EE6-4342-B048-85BDC9FD1C3A}</a:tableStyleId>
              </a:tblPr>
              <a:tblGrid>
                <a:gridCol w="2651760"/>
                <a:gridCol w="3291840"/>
                <a:gridCol w="4663440"/>
              </a:tblGrid>
              <a:tr h="581733">
                <a:tc>
                  <a:txBody>
                    <a:bodyPr wrap="square"/>
                    <a:lstStyle/>
                    <a:p>
                      <a:r>
                        <a:rPr sz="850" b="1">
                          <a:solidFill>
                            <a:srgbClr val="41801A"/>
                          </a:solidFill>
                          <a:latin typeface="Segoe UI"/>
                        </a:rPr>
                        <a:t>WHAT GOES WRONG</a:t>
                      </a:r>
                    </a:p>
                  </a:txBody>
                  <a:tcPr marL="45720" marR="109728" marT="27432" marB="27432" anchor="ctr">
                    <a:lnB w="9525" cap="flat" cmpd="sng" algn="ctr">
                      <a:solidFill>
                        <a:srgbClr val="41801A"/>
                      </a:solidFill>
                    </a:lnB>
                    <a:solidFill>
                      <a:srgbClr val="FFFFFF"/>
                    </a:solidFill>
                  </a:tcPr>
                </a:tc>
                <a:tc>
                  <a:txBody>
                    <a:bodyPr wrap="square"/>
                    <a:lstStyle/>
                    <a:p>
                      <a:r>
                        <a:rPr sz="850" b="1">
                          <a:solidFill>
                            <a:srgbClr val="41801A"/>
                          </a:solidFill>
                          <a:latin typeface="Segoe UI"/>
                        </a:rPr>
                        <a:t>HOW IT HAPPENS</a:t>
                      </a:r>
                    </a:p>
                  </a:txBody>
                  <a:tcPr marL="45720" marR="109728" marT="27432" marB="27432" anchor="ctr">
                    <a:lnB w="9525" cap="flat" cmpd="sng" algn="ctr">
                      <a:solidFill>
                        <a:srgbClr val="41801A"/>
                      </a:solidFill>
                    </a:lnB>
                    <a:solidFill>
                      <a:srgbClr val="FFFFFF"/>
                    </a:solidFill>
                  </a:tcPr>
                </a:tc>
                <a:tc>
                  <a:txBody>
                    <a:bodyPr wrap="square"/>
                    <a:lstStyle/>
                    <a:p>
                      <a:r>
                        <a:rPr sz="850" b="1">
                          <a:solidFill>
                            <a:srgbClr val="41801A"/>
                          </a:solidFill>
                          <a:latin typeface="Segoe UI"/>
                        </a:rPr>
                        <a:t>WHAT IT HAS COST</a:t>
                      </a:r>
                    </a:p>
                  </a:txBody>
                  <a:tcPr marL="45720" marR="109728" marT="27432" marB="27432" anchor="ctr">
                    <a:lnB w="9525" cap="flat" cmpd="sng" algn="ctr">
                      <a:solidFill>
                        <a:srgbClr val="41801A"/>
                      </a:solidFill>
                    </a:lnB>
                    <a:solidFill>
                      <a:srgbClr val="FFFFFF"/>
                    </a:solidFill>
                  </a:tcPr>
                </a:tc>
              </a:tr>
              <a:tr h="581733">
                <a:tc>
                  <a:txBody>
                    <a:bodyPr wrap="square"/>
                    <a:lstStyle/>
                    <a:p>
                      <a:r>
                        <a:rPr sz="850" b="0">
                          <a:solidFill>
                            <a:srgbClr val="26301F"/>
                          </a:solidFill>
                          <a:latin typeface="Segoe UI"/>
                        </a:rPr>
                        <a:t>The organiser holds the money</a:t>
                      </a:r>
                    </a:p>
                  </a:txBody>
                  <a:tcPr marL="45720" marR="109728" marT="27432" marB="27432" anchor="ctr">
                    <a:lnB w="9525" cap="flat" cmpd="sng" algn="ctr">
                      <a:solidFill>
                        <a:srgbClr val="DCE3D6"/>
                      </a:solidFill>
                    </a:lnB>
                    <a:solidFill>
                      <a:srgbClr val="FFFFFF"/>
                    </a:solidFill>
                  </a:tcPr>
                </a:tc>
                <a:tc>
                  <a:txBody>
                    <a:bodyPr wrap="square"/>
                    <a:lstStyle/>
                    <a:p>
                      <a:r>
                        <a:rPr sz="850" b="0">
                          <a:solidFill>
                            <a:srgbClr val="26301F"/>
                          </a:solidFill>
                          <a:latin typeface="Segoe UI"/>
                        </a:rPr>
                        <a:t>Every member pays into one person's account and trusts them to pay it out</a:t>
                      </a:r>
                    </a:p>
                  </a:txBody>
                  <a:tcPr marL="45720" marR="109728" marT="27432" marB="27432" anchor="ctr">
                    <a:lnB w="9525" cap="flat" cmpd="sng" algn="ctr">
                      <a:solidFill>
                        <a:srgbClr val="DCE3D6"/>
                      </a:solidFill>
                    </a:lnB>
                    <a:solidFill>
                      <a:srgbClr val="FFFFFF"/>
                    </a:solidFill>
                  </a:tcPr>
                </a:tc>
                <a:tc>
                  <a:txBody>
                    <a:bodyPr wrap="square"/>
                    <a:lstStyle/>
                    <a:p>
                      <a:r>
                        <a:rPr sz="850" b="0">
                          <a:solidFill>
                            <a:srgbClr val="26301F"/>
                          </a:solidFill>
                          <a:latin typeface="Segoe UI"/>
                        </a:rPr>
                        <a:t>The largest recorded Pakistani case ran seven to ten years, took roughly Rs 420 million across 117 committees from about 200 people, and ended when the organiser announced she could not pay and disappeared</a:t>
                      </a:r>
                    </a:p>
                  </a:txBody>
                  <a:tcPr marL="45720" marR="109728" marT="27432" marB="27432" anchor="ctr">
                    <a:lnB w="9525" cap="flat" cmpd="sng" algn="ctr">
                      <a:solidFill>
                        <a:srgbClr val="DCE3D6"/>
                      </a:solidFill>
                    </a:lnB>
                    <a:solidFill>
                      <a:srgbClr val="FFFFFF"/>
                    </a:solidFill>
                  </a:tcPr>
                </a:tc>
              </a:tr>
              <a:tr h="581733">
                <a:tc>
                  <a:txBody>
                    <a:bodyPr wrap="square"/>
                    <a:lstStyle/>
                    <a:p>
                      <a:r>
                        <a:rPr sz="850" b="0">
                          <a:solidFill>
                            <a:srgbClr val="26301F"/>
                          </a:solidFill>
                          <a:latin typeface="Segoe UI"/>
                        </a:rPr>
                        <a:t>Holding the money requires a licence</a:t>
                      </a:r>
                    </a:p>
                  </a:txBody>
                  <a:tcPr marL="45720" marR="109728" marT="27432" marB="27432" anchor="ctr">
                    <a:lnB w="9525" cap="flat" cmpd="sng" algn="ctr">
                      <a:solidFill>
                        <a:srgbClr val="DCE3D6"/>
                      </a:solidFill>
                    </a:lnB>
                    <a:solidFill>
                      <a:srgbClr val="FFFFFF"/>
                    </a:solidFill>
                  </a:tcPr>
                </a:tc>
                <a:tc>
                  <a:txBody>
                    <a:bodyPr wrap="square"/>
                    <a:lstStyle/>
                    <a:p>
                      <a:r>
                        <a:rPr sz="850" b="0">
                          <a:solidFill>
                            <a:srgbClr val="26301F"/>
                          </a:solidFill>
                          <a:latin typeface="Segoe UI"/>
                        </a:rPr>
                        <a:t>Once a platform takes custody it is issuing a liability, which is regulated activity</a:t>
                      </a:r>
                    </a:p>
                  </a:txBody>
                  <a:tcPr marL="45720" marR="109728" marT="27432" marB="27432" anchor="ctr">
                    <a:lnB w="9525" cap="flat" cmpd="sng" algn="ctr">
                      <a:solidFill>
                        <a:srgbClr val="DCE3D6"/>
                      </a:solidFill>
                    </a:lnB>
                    <a:solidFill>
                      <a:srgbClr val="FFFFFF"/>
                    </a:solidFill>
                  </a:tcPr>
                </a:tc>
                <a:tc>
                  <a:txBody>
                    <a:bodyPr wrap="square"/>
                    <a:lstStyle/>
                    <a:p>
                      <a:r>
                        <a:rPr sz="850" b="0">
                          <a:solidFill>
                            <a:srgbClr val="26301F"/>
                          </a:solidFill>
                          <a:latin typeface="Segoe UI"/>
                        </a:rPr>
                        <a:t>Operators either carry a licence and a statutory deposit, or they operate unlawfully, or they close</a:t>
                      </a:r>
                    </a:p>
                  </a:txBody>
                  <a:tcPr marL="45720" marR="109728" marT="27432" marB="27432" anchor="ctr">
                    <a:lnB w="9525" cap="flat" cmpd="sng" algn="ctr">
                      <a:solidFill>
                        <a:srgbClr val="DCE3D6"/>
                      </a:solidFill>
                    </a:lnB>
                    <a:solidFill>
                      <a:srgbClr val="FFFFFF"/>
                    </a:solidFill>
                  </a:tcPr>
                </a:tc>
              </a:tr>
              <a:tr h="581733">
                <a:tc>
                  <a:txBody>
                    <a:bodyPr wrap="square"/>
                    <a:lstStyle/>
                    <a:p>
                      <a:r>
                        <a:rPr sz="850" b="0">
                          <a:solidFill>
                            <a:srgbClr val="26301F"/>
                          </a:solidFill>
                          <a:latin typeface="Segoe UI"/>
                        </a:rPr>
                        <a:t>Recording without settling proves nothing</a:t>
                      </a:r>
                    </a:p>
                  </a:txBody>
                  <a:tcPr marL="45720" marR="109728" marT="27432" marB="27432" anchor="ctr">
                    <a:lnB w="9525" cap="flat" cmpd="sng" algn="ctr">
                      <a:solidFill>
                        <a:srgbClr val="DCE3D6"/>
                      </a:solidFill>
                    </a:lnB>
                    <a:solidFill>
                      <a:srgbClr val="FFFFFF"/>
                    </a:solidFill>
                  </a:tcPr>
                </a:tc>
                <a:tc>
                  <a:txBody>
                    <a:bodyPr wrap="square"/>
                    <a:lstStyle/>
                    <a:p>
                      <a:r>
                        <a:rPr sz="850" b="0">
                          <a:solidFill>
                            <a:srgbClr val="26301F"/>
                          </a:solidFill>
                          <a:latin typeface="Segoe UI"/>
                        </a:rPr>
                        <a:t>Two Pakistani ledger applications let an organiser record who has paid, but no money passes through them</a:t>
                      </a:r>
                    </a:p>
                  </a:txBody>
                  <a:tcPr marL="45720" marR="109728" marT="27432" marB="27432" anchor="ctr">
                    <a:lnB w="9525" cap="flat" cmpd="sng" algn="ctr">
                      <a:solidFill>
                        <a:srgbClr val="DCE3D6"/>
                      </a:solidFill>
                    </a:lnB>
                    <a:solidFill>
                      <a:srgbClr val="FFFFFF"/>
                    </a:solidFill>
                  </a:tcPr>
                </a:tc>
                <a:tc>
                  <a:txBody>
                    <a:bodyPr wrap="square"/>
                    <a:lstStyle/>
                    <a:p>
                      <a:r>
                        <a:rPr sz="850" b="0">
                          <a:solidFill>
                            <a:srgbClr val="26301F"/>
                          </a:solidFill>
                          <a:latin typeface="Segoe UI"/>
                        </a:rPr>
                        <a:t>The entry is an assertion, not evidence. A bureau cannot use it and a court will not weigh it</a:t>
                      </a:r>
                    </a:p>
                  </a:txBody>
                  <a:tcPr marL="45720" marR="109728" marT="27432" marB="27432" anchor="ctr">
                    <a:lnB w="9525" cap="flat" cmpd="sng" algn="ctr">
                      <a:solidFill>
                        <a:srgbClr val="DCE3D6"/>
                      </a:solidFill>
                    </a:lnB>
                    <a:solidFill>
                      <a:srgbClr val="FFFFFF"/>
                    </a:solidFill>
                  </a:tcPr>
                </a:tc>
              </a:tr>
              <a:tr h="581733">
                <a:tc>
                  <a:txBody>
                    <a:bodyPr wrap="square"/>
                    <a:lstStyle/>
                    <a:p>
                      <a:r>
                        <a:rPr sz="850" b="0">
                          <a:solidFill>
                            <a:srgbClr val="26301F"/>
                          </a:solidFill>
                          <a:latin typeface="Segoe UI"/>
                        </a:rPr>
                        <a:t>Removing the rotation removes the product</a:t>
                      </a:r>
                    </a:p>
                  </a:txBody>
                  <a:tcPr marL="45720" marR="109728" marT="27432" marB="27432" anchor="ctr">
                    <a:lnB w="9525" cap="flat" cmpd="sng" algn="ctr">
                      <a:solidFill>
                        <a:srgbClr val="DCE3D6"/>
                      </a:solidFill>
                    </a:lnB>
                    <a:solidFill>
                      <a:srgbClr val="FFFFFF"/>
                    </a:solidFill>
                  </a:tcPr>
                </a:tc>
                <a:tc>
                  <a:txBody>
                    <a:bodyPr wrap="square"/>
                    <a:lstStyle/>
                    <a:p>
                      <a:r>
                        <a:rPr sz="850" b="0">
                          <a:solidFill>
                            <a:srgbClr val="26301F"/>
                          </a:solidFill>
                          <a:latin typeface="Segoe UI"/>
                        </a:rPr>
                        <a:t>A large bank markets a committee branded deposit with no rotation at all</a:t>
                      </a:r>
                    </a:p>
                  </a:txBody>
                  <a:tcPr marL="45720" marR="109728" marT="27432" marB="27432" anchor="ctr">
                    <a:lnB w="9525" cap="flat" cmpd="sng" algn="ctr">
                      <a:solidFill>
                        <a:srgbClr val="DCE3D6"/>
                      </a:solidFill>
                    </a:lnB>
                    <a:solidFill>
                      <a:srgbClr val="FFFFFF"/>
                    </a:solidFill>
                  </a:tcPr>
                </a:tc>
                <a:tc>
                  <a:txBody>
                    <a:bodyPr wrap="square"/>
                    <a:lstStyle/>
                    <a:p>
                      <a:r>
                        <a:rPr sz="850" b="0">
                          <a:solidFill>
                            <a:srgbClr val="26301F"/>
                          </a:solidFill>
                          <a:latin typeface="Segoe UI"/>
                        </a:rPr>
                        <a:t>Members are paid their own money back at the end with a bonus. Nobody receives a lump sum early, which is the only reason people join</a:t>
                      </a:r>
                    </a:p>
                  </a:txBody>
                  <a:tcPr marL="45720" marR="109728" marT="27432" marB="27432" anchor="ctr">
                    <a:lnB w="9525" cap="flat" cmpd="sng" algn="ctr">
                      <a:solidFill>
                        <a:srgbClr val="DCE3D6"/>
                      </a:solidFill>
                    </a:lnB>
                    <a:solidFill>
                      <a:srgbClr val="FFFFFF"/>
                    </a:solidFill>
                  </a:tcPr>
                </a:tc>
              </a:tr>
              <a:tr h="581733">
                <a:tc>
                  <a:txBody>
                    <a:bodyPr wrap="square"/>
                    <a:lstStyle/>
                    <a:p>
                      <a:r>
                        <a:rPr sz="850" b="0">
                          <a:solidFill>
                            <a:srgbClr val="26301F"/>
                          </a:solidFill>
                          <a:latin typeface="Segoe UI"/>
                        </a:rPr>
                        <a:t>Guaranteeing without pricing is unbounded</a:t>
                      </a:r>
                    </a:p>
                  </a:txBody>
                  <a:tcPr marL="45720" marR="109728" marT="27432" marB="27432" anchor="ctr">
                    <a:lnB w="9525" cap="flat" cmpd="sng" algn="ctr">
                      <a:solidFill>
                        <a:srgbClr val="DCE3D6"/>
                      </a:solidFill>
                    </a:lnB>
                    <a:solidFill>
                      <a:srgbClr val="FFFFFF"/>
                    </a:solidFill>
                  </a:tcPr>
                </a:tc>
                <a:tc>
                  <a:txBody>
                    <a:bodyPr wrap="square"/>
                    <a:lstStyle/>
                    <a:p>
                      <a:r>
                        <a:rPr sz="850" b="0">
                          <a:solidFill>
                            <a:srgbClr val="26301F"/>
                          </a:solidFill>
                          <a:latin typeface="Segoe UI"/>
                        </a:rPr>
                        <a:t>An American operator absorbed every member's default itself</a:t>
                      </a:r>
                    </a:p>
                  </a:txBody>
                  <a:tcPr marL="45720" marR="109728" marT="27432" marB="27432" anchor="ctr">
                    <a:lnB w="9525" cap="flat" cmpd="sng" algn="ctr">
                      <a:solidFill>
                        <a:srgbClr val="DCE3D6"/>
                      </a:solidFill>
                    </a:lnB>
                    <a:solidFill>
                      <a:srgbClr val="FFFFFF"/>
                    </a:solidFill>
                  </a:tcPr>
                </a:tc>
                <a:tc>
                  <a:txBody>
                    <a:bodyPr wrap="square"/>
                    <a:lstStyle/>
                    <a:p>
                      <a:r>
                        <a:rPr sz="850" b="0">
                          <a:solidFill>
                            <a:srgbClr val="26301F"/>
                          </a:solidFill>
                          <a:latin typeface="Segoe UI"/>
                        </a:rPr>
                        <a:t>It ran nine years and closed</a:t>
                      </a:r>
                    </a:p>
                  </a:txBody>
                  <a:tcPr marL="45720" marR="109728" marT="27432" marB="27432" anchor="ctr">
                    <a:lnB w="9525" cap="flat" cmpd="sng" algn="ctr">
                      <a:solidFill>
                        <a:srgbClr val="DCE3D6"/>
                      </a:solidFill>
                    </a:lnB>
                    <a:solidFill>
                      <a:srgbClr val="FFFFFF"/>
                    </a:solidFill>
                  </a:tcPr>
                </a:tc>
              </a:tr>
            </a:tbl>
          </a:graphicData>
        </a:graphic>
      </p:graphicFrame>
      <p:sp>
        <p:nvSpPr>
          <p:cNvPr id="8" name="TextBox 7"/>
          <p:cNvSpPr txBox="1"/>
          <p:nvPr/>
        </p:nvSpPr>
        <p:spPr>
          <a:xfrm>
            <a:off x="777240" y="5639238"/>
            <a:ext cx="10637215" cy="731520"/>
          </a:xfrm>
          <a:prstGeom prst="rect">
            <a:avLst/>
          </a:prstGeom>
          <a:noFill/>
        </p:spPr>
        <p:txBody>
          <a:bodyPr wrap="square" lIns="0" rIns="0" tIns="0" bIns="0">
            <a:spAutoFit/>
          </a:bodyPr>
          <a:lstStyle/>
          <a:p>
            <a:pPr algn="l">
              <a:lnSpc>
                <a:spcPct val="140000"/>
              </a:lnSpc>
            </a:pPr>
            <a:r>
              <a:rPr sz="1200" b="1" i="0">
                <a:solidFill>
                  <a:srgbClr val="0C1408"/>
                </a:solidFill>
                <a:latin typeface="Segoe UI"/>
              </a:rPr>
              <a:t>Each failure is a consequence of one decision: whether the platform touches the money. Every structural choice in this document follows from answering that no.</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777240" y="566928"/>
            <a:ext cx="10637215" cy="219456"/>
          </a:xfrm>
          <a:prstGeom prst="rect">
            <a:avLst/>
          </a:prstGeom>
          <a:noFill/>
        </p:spPr>
        <p:txBody>
          <a:bodyPr wrap="square" lIns="0" rIns="0" tIns="0" bIns="0">
            <a:spAutoFit/>
          </a:bodyPr>
          <a:lstStyle/>
          <a:p>
            <a:pPr algn="l">
              <a:lnSpc>
                <a:spcPct val="125000"/>
              </a:lnSpc>
            </a:pPr>
            <a:r>
              <a:rPr sz="950" b="1" i="0">
                <a:solidFill>
                  <a:srgbClr val="41801A"/>
                </a:solidFill>
                <a:latin typeface="Segoe UI"/>
              </a:rPr>
              <a:t>1  WHERE THE MONEY GOES</a:t>
            </a:r>
          </a:p>
        </p:txBody>
      </p:sp>
      <p:sp>
        <p:nvSpPr>
          <p:cNvPr id="3" name="TextBox 2"/>
          <p:cNvSpPr txBox="1"/>
          <p:nvPr/>
        </p:nvSpPr>
        <p:spPr>
          <a:xfrm>
            <a:off x="777240" y="841248"/>
            <a:ext cx="10637215" cy="502920"/>
          </a:xfrm>
          <a:prstGeom prst="rect">
            <a:avLst/>
          </a:prstGeom>
          <a:noFill/>
        </p:spPr>
        <p:txBody>
          <a:bodyPr wrap="square" lIns="0" rIns="0" tIns="0" bIns="0">
            <a:spAutoFit/>
          </a:bodyPr>
          <a:lstStyle/>
          <a:p>
            <a:pPr algn="l">
              <a:lnSpc>
                <a:spcPct val="125000"/>
              </a:lnSpc>
            </a:pPr>
            <a:r>
              <a:rPr sz="2700" b="1" i="0">
                <a:solidFill>
                  <a:srgbClr val="0C1408"/>
                </a:solidFill>
                <a:latin typeface="Segoe UI"/>
              </a:rPr>
              <a:t>The custody principle</a:t>
            </a:r>
          </a:p>
        </p:txBody>
      </p:sp>
      <p:sp>
        <p:nvSpPr>
          <p:cNvPr id="4" name="Rectangle 3"/>
          <p:cNvSpPr/>
          <p:nvPr/>
        </p:nvSpPr>
        <p:spPr>
          <a:xfrm>
            <a:off x="777240" y="1417320"/>
            <a:ext cx="1371600" cy="22860"/>
          </a:xfrm>
          <a:prstGeom prst="rect">
            <a:avLst/>
          </a:prstGeom>
          <a:solidFill>
            <a:srgbClr val="6DC72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777240" y="6382512"/>
            <a:ext cx="3657600" cy="228600"/>
          </a:xfrm>
          <a:prstGeom prst="rect">
            <a:avLst/>
          </a:prstGeom>
          <a:noFill/>
        </p:spPr>
        <p:txBody>
          <a:bodyPr wrap="square" lIns="0" rIns="0" tIns="0" bIns="0">
            <a:spAutoFit/>
          </a:bodyPr>
          <a:lstStyle/>
          <a:p>
            <a:pPr algn="l">
              <a:lnSpc>
                <a:spcPct val="125000"/>
              </a:lnSpc>
            </a:pPr>
            <a:r>
              <a:rPr sz="900" b="0" i="0">
                <a:solidFill>
                  <a:srgbClr val="9AA694"/>
                </a:solidFill>
                <a:latin typeface="Segoe UI"/>
              </a:rPr>
              <a:t>Halqa  ·  Confidential</a:t>
            </a:r>
          </a:p>
        </p:txBody>
      </p:sp>
      <p:sp>
        <p:nvSpPr>
          <p:cNvPr id="6" name="TextBox 5"/>
          <p:cNvSpPr txBox="1"/>
          <p:nvPr/>
        </p:nvSpPr>
        <p:spPr>
          <a:xfrm>
            <a:off x="10728655" y="6382512"/>
            <a:ext cx="685800" cy="228600"/>
          </a:xfrm>
          <a:prstGeom prst="rect">
            <a:avLst/>
          </a:prstGeom>
          <a:noFill/>
        </p:spPr>
        <p:txBody>
          <a:bodyPr wrap="square" lIns="0" rIns="0" tIns="0" bIns="0">
            <a:spAutoFit/>
          </a:bodyPr>
          <a:lstStyle/>
          <a:p>
            <a:pPr algn="r">
              <a:lnSpc>
                <a:spcPct val="125000"/>
              </a:lnSpc>
            </a:pPr>
            <a:r>
              <a:rPr sz="900" b="0" i="0">
                <a:solidFill>
                  <a:srgbClr val="6F7B68"/>
                </a:solidFill>
                <a:latin typeface="Segoe UI"/>
              </a:rPr>
              <a:t>4</a:t>
            </a:r>
          </a:p>
        </p:txBody>
      </p:sp>
      <p:sp>
        <p:nvSpPr>
          <p:cNvPr id="7" name="TextBox 6"/>
          <p:cNvSpPr txBox="1"/>
          <p:nvPr/>
        </p:nvSpPr>
        <p:spPr>
          <a:xfrm>
            <a:off x="777240" y="1965960"/>
            <a:ext cx="10607040" cy="1097280"/>
          </a:xfrm>
          <a:prstGeom prst="rect">
            <a:avLst/>
          </a:prstGeom>
          <a:noFill/>
        </p:spPr>
        <p:txBody>
          <a:bodyPr wrap="square" lIns="0" rIns="0" tIns="0" bIns="0">
            <a:spAutoFit/>
          </a:bodyPr>
          <a:lstStyle/>
          <a:p>
            <a:pPr algn="l">
              <a:lnSpc>
                <a:spcPct val="150000"/>
              </a:lnSpc>
            </a:pPr>
            <a:r>
              <a:rPr sz="1400" b="0" i="0">
                <a:solidFill>
                  <a:srgbClr val="26301F"/>
                </a:solidFill>
                <a:latin typeface="Segoe UI"/>
              </a:rPr>
              <a:t>At no point in any product does Halqa hold a member's money. A contribution leaves the paying member's own bank account or wallet and arrives in the receiving member's own bank account or wallet. Halqa instructs the movement and records it. It never sits in between.</a:t>
            </a:r>
          </a:p>
        </p:txBody>
      </p:sp>
      <p:graphicFrame>
        <p:nvGraphicFramePr>
          <p:cNvPr id="8" name="Table 7"/>
          <p:cNvGraphicFramePr>
            <a:graphicFrameLocks noGrp="1"/>
          </p:cNvGraphicFramePr>
          <p:nvPr/>
        </p:nvGraphicFramePr>
        <p:xfrm>
          <a:off x="777240" y="3200400"/>
          <a:ext cx="10607039" cy="2346624"/>
        </p:xfrm>
        <a:graphic>
          <a:graphicData uri="http://schemas.openxmlformats.org/drawingml/2006/table">
            <a:tbl>
              <a:tblPr>
                <a:tableStyleId>{5C22544A-7EE6-4342-B048-85BDC9FD1C3A}</a:tableStyleId>
              </a:tblPr>
              <a:tblGrid>
                <a:gridCol w="2651760"/>
                <a:gridCol w="7955279"/>
              </a:tblGrid>
              <a:tr h="391104">
                <a:tc>
                  <a:txBody>
                    <a:bodyPr wrap="square"/>
                    <a:lstStyle/>
                    <a:p>
                      <a:r>
                        <a:rPr sz="700" b="1">
                          <a:solidFill>
                            <a:srgbClr val="41801A"/>
                          </a:solidFill>
                          <a:latin typeface="Segoe UI"/>
                        </a:rPr>
                        <a:t>THIS PRODUCES</a:t>
                      </a:r>
                    </a:p>
                  </a:txBody>
                  <a:tcPr marL="45720" marR="109728" marT="27432" marB="27432" anchor="ctr">
                    <a:lnB w="9525" cap="flat" cmpd="sng" algn="ctr">
                      <a:solidFill>
                        <a:srgbClr val="41801A"/>
                      </a:solidFill>
                    </a:lnB>
                    <a:solidFill>
                      <a:srgbClr val="FFFFFF"/>
                    </a:solidFill>
                  </a:tcPr>
                </a:tc>
                <a:tc>
                  <a:txBody>
                    <a:bodyPr wrap="square"/>
                    <a:lstStyle/>
                    <a:p>
                      <a:r>
                        <a:rPr sz="700" b="1">
                          <a:solidFill>
                            <a:srgbClr val="41801A"/>
                          </a:solidFill>
                          <a:latin typeface="Segoe UI"/>
                        </a:rPr>
                        <a:t>BECAUSE</a:t>
                      </a:r>
                    </a:p>
                  </a:txBody>
                  <a:tcPr marL="45720" marR="109728" marT="27432" marB="27432" anchor="ctr">
                    <a:lnB w="9525" cap="flat" cmpd="sng" algn="ctr">
                      <a:solidFill>
                        <a:srgbClr val="41801A"/>
                      </a:solidFill>
                    </a:lnB>
                    <a:solidFill>
                      <a:srgbClr val="FFFFFF"/>
                    </a:solidFill>
                  </a:tcPr>
                </a:tc>
              </a:tr>
              <a:tr h="391104">
                <a:tc>
                  <a:txBody>
                    <a:bodyPr wrap="square"/>
                    <a:lstStyle/>
                    <a:p>
                      <a:r>
                        <a:rPr sz="700" b="0">
                          <a:solidFill>
                            <a:srgbClr val="26301F"/>
                          </a:solidFill>
                          <a:latin typeface="Segoe UI"/>
                        </a:rPr>
                        <a:t>No route to the largest fraud</a:t>
                      </a:r>
                    </a:p>
                  </a:txBody>
                  <a:tcPr marL="45720" marR="109728" marT="27432" marB="27432" anchor="ctr">
                    <a:lnB w="9525" cap="flat" cmpd="sng" algn="ctr">
                      <a:solidFill>
                        <a:srgbClr val="DCE3D6"/>
                      </a:solidFill>
                    </a:lnB>
                    <a:solidFill>
                      <a:srgbClr val="FFFFFF"/>
                    </a:solidFill>
                  </a:tcPr>
                </a:tc>
                <a:tc>
                  <a:txBody>
                    <a:bodyPr wrap="square"/>
                    <a:lstStyle/>
                    <a:p>
                      <a:r>
                        <a:rPr sz="700" b="0">
                          <a:solidFill>
                            <a:srgbClr val="26301F"/>
                          </a:solidFill>
                          <a:latin typeface="Segoe UI"/>
                        </a:rPr>
                        <a:t>Every large committee fraud in the country needed a central pool of members' money under one person's control. No such account exists here, and it cannot be created under commercial pressure because there is nothing to create it from</a:t>
                      </a:r>
                    </a:p>
                  </a:txBody>
                  <a:tcPr marL="45720" marR="109728" marT="27432" marB="27432" anchor="ctr">
                    <a:lnB w="9525" cap="flat" cmpd="sng" algn="ctr">
                      <a:solidFill>
                        <a:srgbClr val="DCE3D6"/>
                      </a:solidFill>
                    </a:lnB>
                    <a:solidFill>
                      <a:srgbClr val="FFFFFF"/>
                    </a:solidFill>
                  </a:tcPr>
                </a:tc>
              </a:tr>
              <a:tr h="391104">
                <a:tc>
                  <a:txBody>
                    <a:bodyPr wrap="square"/>
                    <a:lstStyle/>
                    <a:p>
                      <a:r>
                        <a:rPr sz="700" b="0">
                          <a:solidFill>
                            <a:srgbClr val="26301F"/>
                          </a:solidFill>
                          <a:latin typeface="Segoe UI"/>
                        </a:rPr>
                        <a:t>No licence for issuing money</a:t>
                      </a:r>
                    </a:p>
                  </a:txBody>
                  <a:tcPr marL="45720" marR="109728" marT="27432" marB="27432" anchor="ctr">
                    <a:lnB w="9525" cap="flat" cmpd="sng" algn="ctr">
                      <a:solidFill>
                        <a:srgbClr val="DCE3D6"/>
                      </a:solidFill>
                    </a:lnB>
                    <a:solidFill>
                      <a:srgbClr val="FFFFFF"/>
                    </a:solidFill>
                  </a:tcPr>
                </a:tc>
                <a:tc>
                  <a:txBody>
                    <a:bodyPr wrap="square"/>
                    <a:lstStyle/>
                    <a:p>
                      <a:r>
                        <a:rPr sz="700" b="0">
                          <a:solidFill>
                            <a:srgbClr val="26301F"/>
                          </a:solidFill>
                          <a:latin typeface="Segoe UI"/>
                        </a:rPr>
                        <a:t>No balance is issued, nothing is lent, and no payment system is operated. What is needed is company registration and a commercial services agreement with a licensed payment aggregator, which is a contract rather than a permission</a:t>
                      </a:r>
                    </a:p>
                  </a:txBody>
                  <a:tcPr marL="45720" marR="109728" marT="27432" marB="27432" anchor="ctr">
                    <a:lnB w="9525" cap="flat" cmpd="sng" algn="ctr">
                      <a:solidFill>
                        <a:srgbClr val="DCE3D6"/>
                      </a:solidFill>
                    </a:lnB>
                    <a:solidFill>
                      <a:srgbClr val="FFFFFF"/>
                    </a:solidFill>
                  </a:tcPr>
                </a:tc>
              </a:tr>
              <a:tr h="391104">
                <a:tc>
                  <a:txBody>
                    <a:bodyPr wrap="square"/>
                    <a:lstStyle/>
                    <a:p>
                      <a:r>
                        <a:rPr sz="700" b="0">
                          <a:solidFill>
                            <a:srgbClr val="26301F"/>
                          </a:solidFill>
                          <a:latin typeface="Segoe UI"/>
                        </a:rPr>
                        <a:t>No float to lose and none to live on</a:t>
                      </a:r>
                    </a:p>
                  </a:txBody>
                  <a:tcPr marL="45720" marR="109728" marT="27432" marB="27432" anchor="ctr">
                    <a:lnB w="9525" cap="flat" cmpd="sng" algn="ctr">
                      <a:solidFill>
                        <a:srgbClr val="DCE3D6"/>
                      </a:solidFill>
                    </a:lnB>
                    <a:solidFill>
                      <a:srgbClr val="FFFFFF"/>
                    </a:solidFill>
                  </a:tcPr>
                </a:tc>
                <a:tc>
                  <a:txBody>
                    <a:bodyPr wrap="square"/>
                    <a:lstStyle/>
                    <a:p>
                      <a:r>
                        <a:rPr sz="700" b="0">
                          <a:solidFill>
                            <a:srgbClr val="26301F"/>
                          </a:solidFill>
                          <a:latin typeface="Segoe UI"/>
                        </a:rPr>
                        <a:t>There is no pool of member money earning interest for the platform, which is why the member price is a small fixed fee and the real revenue comes from services and counterparties</a:t>
                      </a:r>
                    </a:p>
                  </a:txBody>
                  <a:tcPr marL="45720" marR="109728" marT="27432" marB="27432" anchor="ctr">
                    <a:lnB w="9525" cap="flat" cmpd="sng" algn="ctr">
                      <a:solidFill>
                        <a:srgbClr val="DCE3D6"/>
                      </a:solidFill>
                    </a:lnB>
                    <a:solidFill>
                      <a:srgbClr val="FFFFFF"/>
                    </a:solidFill>
                  </a:tcPr>
                </a:tc>
              </a:tr>
              <a:tr h="391104">
                <a:tc>
                  <a:txBody>
                    <a:bodyPr wrap="square"/>
                    <a:lstStyle/>
                    <a:p>
                      <a:r>
                        <a:rPr sz="700" b="0">
                          <a:solidFill>
                            <a:srgbClr val="26301F"/>
                          </a:solidFill>
                          <a:latin typeface="Segoe UI"/>
                        </a:rPr>
                        <a:t>A position that survives inspection</a:t>
                      </a:r>
                    </a:p>
                  </a:txBody>
                  <a:tcPr marL="45720" marR="109728" marT="27432" marB="27432" anchor="ctr">
                    <a:lnB w="9525" cap="flat" cmpd="sng" algn="ctr">
                      <a:solidFill>
                        <a:srgbClr val="DCE3D6"/>
                      </a:solidFill>
                    </a:lnB>
                    <a:solidFill>
                      <a:srgbClr val="FFFFFF"/>
                    </a:solidFill>
                  </a:tcPr>
                </a:tc>
                <a:tc>
                  <a:txBody>
                    <a:bodyPr wrap="square"/>
                    <a:lstStyle/>
                    <a:p>
                      <a:r>
                        <a:rPr sz="700" b="0">
                          <a:solidFill>
                            <a:srgbClr val="26301F"/>
                          </a:solidFill>
                          <a:latin typeface="Segoe UI"/>
                        </a:rPr>
                        <a:t>The claim is demonstrable from the ledger and the rail records rather than argued. A regulator can be shown where every rupee went</a:t>
                      </a:r>
                    </a:p>
                  </a:txBody>
                  <a:tcPr marL="45720" marR="109728" marT="27432" marB="27432" anchor="ctr">
                    <a:lnB w="9525" cap="flat" cmpd="sng" algn="ctr">
                      <a:solidFill>
                        <a:srgbClr val="DCE3D6"/>
                      </a:solidFill>
                    </a:lnB>
                    <a:solidFill>
                      <a:srgbClr val="FFFFFF"/>
                    </a:solidFill>
                  </a:tcPr>
                </a:tc>
              </a:tr>
              <a:tr h="391104">
                <a:tc>
                  <a:txBody>
                    <a:bodyPr wrap="square"/>
                    <a:lstStyle/>
                    <a:p>
                      <a:r>
                        <a:rPr sz="700" b="0">
                          <a:solidFill>
                            <a:srgbClr val="26301F"/>
                          </a:solidFill>
                          <a:latin typeface="Segoe UI"/>
                        </a:rPr>
                        <a:t>Independent support</a:t>
                      </a:r>
                    </a:p>
                  </a:txBody>
                  <a:tcPr marL="45720" marR="109728" marT="27432" marB="27432" anchor="ctr">
                    <a:lnB w="9525" cap="flat" cmpd="sng" algn="ctr">
                      <a:solidFill>
                        <a:srgbClr val="DCE3D6"/>
                      </a:solidFill>
                    </a:lnB>
                    <a:solidFill>
                      <a:srgbClr val="FFFFFF"/>
                    </a:solidFill>
                  </a:tcPr>
                </a:tc>
                <a:tc>
                  <a:txBody>
                    <a:bodyPr wrap="square"/>
                    <a:lstStyle/>
                    <a:p>
                      <a:r>
                        <a:rPr sz="700" b="0">
                          <a:solidFill>
                            <a:srgbClr val="26301F"/>
                          </a:solidFill>
                          <a:latin typeface="Segoe UI"/>
                        </a:rPr>
                        <a:t>Researchers at ITU Lahore and the University of Washington, funded by the Gates Foundation and Karandaaz, published the same architecture in 2018 on regulatory grounds</a:t>
                      </a:r>
                    </a:p>
                  </a:txBody>
                  <a:tcPr marL="45720" marR="109728" marT="27432" marB="27432" anchor="ctr">
                    <a:lnB w="9525" cap="flat" cmpd="sng" algn="ctr">
                      <a:solidFill>
                        <a:srgbClr val="DCE3D6"/>
                      </a:solidFill>
                    </a:lnB>
                    <a:solidFill>
                      <a:srgbClr val="FFFFFF"/>
                    </a:solidFill>
                  </a:tcPr>
                </a:tc>
              </a:tr>
            </a:tbl>
          </a:graphicData>
        </a:graphic>
      </p:graphicFrame>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777240" y="566928"/>
            <a:ext cx="10637215" cy="219456"/>
          </a:xfrm>
          <a:prstGeom prst="rect">
            <a:avLst/>
          </a:prstGeom>
          <a:noFill/>
        </p:spPr>
        <p:txBody>
          <a:bodyPr wrap="square" lIns="0" rIns="0" tIns="0" bIns="0">
            <a:spAutoFit/>
          </a:bodyPr>
          <a:lstStyle/>
          <a:p>
            <a:pPr algn="l">
              <a:lnSpc>
                <a:spcPct val="125000"/>
              </a:lnSpc>
            </a:pPr>
            <a:r>
              <a:rPr sz="950" b="1" i="0">
                <a:solidFill>
                  <a:srgbClr val="41801A"/>
                </a:solidFill>
                <a:latin typeface="Segoe UI"/>
              </a:rPr>
              <a:t>1  WHERE THE MONEY GOES</a:t>
            </a:r>
          </a:p>
        </p:txBody>
      </p:sp>
      <p:sp>
        <p:nvSpPr>
          <p:cNvPr id="3" name="TextBox 2"/>
          <p:cNvSpPr txBox="1"/>
          <p:nvPr/>
        </p:nvSpPr>
        <p:spPr>
          <a:xfrm>
            <a:off x="777240" y="841248"/>
            <a:ext cx="10637215" cy="502920"/>
          </a:xfrm>
          <a:prstGeom prst="rect">
            <a:avLst/>
          </a:prstGeom>
          <a:noFill/>
        </p:spPr>
        <p:txBody>
          <a:bodyPr wrap="square" lIns="0" rIns="0" tIns="0" bIns="0">
            <a:spAutoFit/>
          </a:bodyPr>
          <a:lstStyle/>
          <a:p>
            <a:pPr algn="l">
              <a:lnSpc>
                <a:spcPct val="125000"/>
              </a:lnSpc>
            </a:pPr>
            <a:r>
              <a:rPr sz="2700" b="1" i="0">
                <a:solidFill>
                  <a:srgbClr val="0C1408"/>
                </a:solidFill>
                <a:latin typeface="Segoe UI"/>
              </a:rPr>
              <a:t>The money path, end to end</a:t>
            </a:r>
          </a:p>
        </p:txBody>
      </p:sp>
      <p:sp>
        <p:nvSpPr>
          <p:cNvPr id="4" name="Rectangle 3"/>
          <p:cNvSpPr/>
          <p:nvPr/>
        </p:nvSpPr>
        <p:spPr>
          <a:xfrm>
            <a:off x="777240" y="1417320"/>
            <a:ext cx="1371600" cy="22860"/>
          </a:xfrm>
          <a:prstGeom prst="rect">
            <a:avLst/>
          </a:prstGeom>
          <a:solidFill>
            <a:srgbClr val="6DC72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777240" y="6382512"/>
            <a:ext cx="3657600" cy="228600"/>
          </a:xfrm>
          <a:prstGeom prst="rect">
            <a:avLst/>
          </a:prstGeom>
          <a:noFill/>
        </p:spPr>
        <p:txBody>
          <a:bodyPr wrap="square" lIns="0" rIns="0" tIns="0" bIns="0">
            <a:spAutoFit/>
          </a:bodyPr>
          <a:lstStyle/>
          <a:p>
            <a:pPr algn="l">
              <a:lnSpc>
                <a:spcPct val="125000"/>
              </a:lnSpc>
            </a:pPr>
            <a:r>
              <a:rPr sz="900" b="0" i="0">
                <a:solidFill>
                  <a:srgbClr val="9AA694"/>
                </a:solidFill>
                <a:latin typeface="Segoe UI"/>
              </a:rPr>
              <a:t>Halqa  ·  Confidential</a:t>
            </a:r>
          </a:p>
        </p:txBody>
      </p:sp>
      <p:sp>
        <p:nvSpPr>
          <p:cNvPr id="6" name="TextBox 5"/>
          <p:cNvSpPr txBox="1"/>
          <p:nvPr/>
        </p:nvSpPr>
        <p:spPr>
          <a:xfrm>
            <a:off x="10728655" y="6382512"/>
            <a:ext cx="685800" cy="228600"/>
          </a:xfrm>
          <a:prstGeom prst="rect">
            <a:avLst/>
          </a:prstGeom>
          <a:noFill/>
        </p:spPr>
        <p:txBody>
          <a:bodyPr wrap="square" lIns="0" rIns="0" tIns="0" bIns="0">
            <a:spAutoFit/>
          </a:bodyPr>
          <a:lstStyle/>
          <a:p>
            <a:pPr algn="r">
              <a:lnSpc>
                <a:spcPct val="125000"/>
              </a:lnSpc>
            </a:pPr>
            <a:r>
              <a:rPr sz="900" b="0" i="0">
                <a:solidFill>
                  <a:srgbClr val="6F7B68"/>
                </a:solidFill>
                <a:latin typeface="Segoe UI"/>
              </a:rPr>
              <a:t>5</a:t>
            </a:r>
          </a:p>
        </p:txBody>
      </p:sp>
      <p:graphicFrame>
        <p:nvGraphicFramePr>
          <p:cNvPr id="7" name="Table 6"/>
          <p:cNvGraphicFramePr>
            <a:graphicFrameLocks noGrp="1"/>
          </p:cNvGraphicFramePr>
          <p:nvPr/>
        </p:nvGraphicFramePr>
        <p:xfrm>
          <a:off x="777240" y="1965960"/>
          <a:ext cx="10607040" cy="3619672"/>
        </p:xfrm>
        <a:graphic>
          <a:graphicData uri="http://schemas.openxmlformats.org/drawingml/2006/table">
            <a:tbl>
              <a:tblPr>
                <a:tableStyleId>{5C22544A-7EE6-4342-B048-85BDC9FD1C3A}</a:tableStyleId>
              </a:tblPr>
              <a:tblGrid>
                <a:gridCol w="365760"/>
                <a:gridCol w="2194560"/>
                <a:gridCol w="3566160"/>
                <a:gridCol w="4480560"/>
              </a:tblGrid>
              <a:tr h="452459">
                <a:tc>
                  <a:txBody>
                    <a:bodyPr wrap="square"/>
                    <a:lstStyle/>
                    <a:p>
                      <a:r>
                        <a:rPr sz="850" b="1">
                          <a:solidFill>
                            <a:srgbClr val="41801A"/>
                          </a:solidFill>
                          <a:latin typeface="Segoe UI"/>
                        </a:rPr>
                        <a:t/>
                      </a:r>
                    </a:p>
                  </a:txBody>
                  <a:tcPr marL="45720" marR="109728" marT="27432" marB="27432" anchor="ctr">
                    <a:lnB w="9525" cap="flat" cmpd="sng" algn="ctr">
                      <a:solidFill>
                        <a:srgbClr val="41801A"/>
                      </a:solidFill>
                    </a:lnB>
                    <a:solidFill>
                      <a:srgbClr val="FFFFFF"/>
                    </a:solidFill>
                  </a:tcPr>
                </a:tc>
                <a:tc>
                  <a:txBody>
                    <a:bodyPr wrap="square"/>
                    <a:lstStyle/>
                    <a:p>
                      <a:r>
                        <a:rPr sz="850" b="1">
                          <a:solidFill>
                            <a:srgbClr val="41801A"/>
                          </a:solidFill>
                          <a:latin typeface="Segoe UI"/>
                        </a:rPr>
                        <a:t>STAGE</a:t>
                      </a:r>
                    </a:p>
                  </a:txBody>
                  <a:tcPr marL="45720" marR="109728" marT="27432" marB="27432" anchor="ctr">
                    <a:lnB w="9525" cap="flat" cmpd="sng" algn="ctr">
                      <a:solidFill>
                        <a:srgbClr val="41801A"/>
                      </a:solidFill>
                    </a:lnB>
                    <a:solidFill>
                      <a:srgbClr val="FFFFFF"/>
                    </a:solidFill>
                  </a:tcPr>
                </a:tc>
                <a:tc>
                  <a:txBody>
                    <a:bodyPr wrap="square"/>
                    <a:lstStyle/>
                    <a:p>
                      <a:r>
                        <a:rPr sz="850" b="1">
                          <a:solidFill>
                            <a:srgbClr val="41801A"/>
                          </a:solidFill>
                          <a:latin typeface="Segoe UI"/>
                        </a:rPr>
                        <a:t>WHO HOLDS THE MONEY AT THIS MOMENT</a:t>
                      </a:r>
                    </a:p>
                  </a:txBody>
                  <a:tcPr marL="45720" marR="109728" marT="27432" marB="27432" anchor="ctr">
                    <a:lnB w="9525" cap="flat" cmpd="sng" algn="ctr">
                      <a:solidFill>
                        <a:srgbClr val="41801A"/>
                      </a:solidFill>
                    </a:lnB>
                    <a:solidFill>
                      <a:srgbClr val="FFFFFF"/>
                    </a:solidFill>
                  </a:tcPr>
                </a:tc>
                <a:tc>
                  <a:txBody>
                    <a:bodyPr wrap="square"/>
                    <a:lstStyle/>
                    <a:p>
                      <a:r>
                        <a:rPr sz="850" b="1">
                          <a:solidFill>
                            <a:srgbClr val="41801A"/>
                          </a:solidFill>
                          <a:latin typeface="Segoe UI"/>
                        </a:rPr>
                        <a:t>WHAT HALQA DOES</a:t>
                      </a:r>
                    </a:p>
                  </a:txBody>
                  <a:tcPr marL="45720" marR="109728" marT="27432" marB="27432" anchor="ctr">
                    <a:lnB w="9525" cap="flat" cmpd="sng" algn="ctr">
                      <a:solidFill>
                        <a:srgbClr val="41801A"/>
                      </a:solidFill>
                    </a:lnB>
                    <a:solidFill>
                      <a:srgbClr val="FFFFFF"/>
                    </a:solidFill>
                  </a:tcPr>
                </a:tc>
              </a:tr>
              <a:tr h="452459">
                <a:tc>
                  <a:txBody>
                    <a:bodyPr wrap="square"/>
                    <a:lstStyle/>
                    <a:p>
                      <a:r>
                        <a:rPr sz="850" b="0">
                          <a:solidFill>
                            <a:srgbClr val="26301F"/>
                          </a:solidFill>
                          <a:latin typeface="Segoe UI"/>
                        </a:rPr>
                        <a:t>1</a:t>
                      </a:r>
                    </a:p>
                  </a:txBody>
                  <a:tcPr marL="45720" marR="109728" marT="27432" marB="27432" anchor="ctr">
                    <a:lnB w="9525" cap="flat" cmpd="sng" algn="ctr">
                      <a:solidFill>
                        <a:srgbClr val="DCE3D6"/>
                      </a:solidFill>
                    </a:lnB>
                    <a:solidFill>
                      <a:srgbClr val="FFFFFF"/>
                    </a:solidFill>
                  </a:tcPr>
                </a:tc>
                <a:tc>
                  <a:txBody>
                    <a:bodyPr wrap="square"/>
                    <a:lstStyle/>
                    <a:p>
                      <a:r>
                        <a:rPr sz="850" b="0">
                          <a:solidFill>
                            <a:srgbClr val="26301F"/>
                          </a:solidFill>
                          <a:latin typeface="Segoe UI"/>
                        </a:rPr>
                        <a:t>Member's own account</a:t>
                      </a:r>
                    </a:p>
                  </a:txBody>
                  <a:tcPr marL="45720" marR="109728" marT="27432" marB="27432" anchor="ctr">
                    <a:lnB w="9525" cap="flat" cmpd="sng" algn="ctr">
                      <a:solidFill>
                        <a:srgbClr val="DCE3D6"/>
                      </a:solidFill>
                    </a:lnB>
                    <a:solidFill>
                      <a:srgbClr val="FFFFFF"/>
                    </a:solidFill>
                  </a:tcPr>
                </a:tc>
                <a:tc>
                  <a:txBody>
                    <a:bodyPr wrap="square"/>
                    <a:lstStyle/>
                    <a:p>
                      <a:r>
                        <a:rPr sz="850" b="0">
                          <a:solidFill>
                            <a:srgbClr val="26301F"/>
                          </a:solidFill>
                          <a:latin typeface="Segoe UI"/>
                        </a:rPr>
                        <a:t>The member</a:t>
                      </a:r>
                    </a:p>
                  </a:txBody>
                  <a:tcPr marL="45720" marR="109728" marT="27432" marB="27432" anchor="ctr">
                    <a:lnB w="9525" cap="flat" cmpd="sng" algn="ctr">
                      <a:solidFill>
                        <a:srgbClr val="DCE3D6"/>
                      </a:solidFill>
                    </a:lnB>
                    <a:solidFill>
                      <a:srgbClr val="FFFFFF"/>
                    </a:solidFill>
                  </a:tcPr>
                </a:tc>
                <a:tc>
                  <a:txBody>
                    <a:bodyPr wrap="square"/>
                    <a:lstStyle/>
                    <a:p>
                      <a:r>
                        <a:rPr sz="850" b="0">
                          <a:solidFill>
                            <a:srgbClr val="26301F"/>
                          </a:solidFill>
                          <a:latin typeface="Segoe UI"/>
                        </a:rPr>
                        <a:t>Holds a standing instruction the member signed, and nothing else</a:t>
                      </a:r>
                    </a:p>
                  </a:txBody>
                  <a:tcPr marL="45720" marR="109728" marT="27432" marB="27432" anchor="ctr">
                    <a:lnB w="9525" cap="flat" cmpd="sng" algn="ctr">
                      <a:solidFill>
                        <a:srgbClr val="DCE3D6"/>
                      </a:solidFill>
                    </a:lnB>
                    <a:solidFill>
                      <a:srgbClr val="FFFFFF"/>
                    </a:solidFill>
                  </a:tcPr>
                </a:tc>
              </a:tr>
              <a:tr h="452459">
                <a:tc>
                  <a:txBody>
                    <a:bodyPr wrap="square"/>
                    <a:lstStyle/>
                    <a:p>
                      <a:r>
                        <a:rPr sz="850" b="0">
                          <a:solidFill>
                            <a:srgbClr val="26301F"/>
                          </a:solidFill>
                          <a:latin typeface="Segoe UI"/>
                        </a:rPr>
                        <a:t>2</a:t>
                      </a:r>
                    </a:p>
                  </a:txBody>
                  <a:tcPr marL="45720" marR="109728" marT="27432" marB="27432" anchor="ctr">
                    <a:lnB w="9525" cap="flat" cmpd="sng" algn="ctr">
                      <a:solidFill>
                        <a:srgbClr val="DCE3D6"/>
                      </a:solidFill>
                    </a:lnB>
                    <a:solidFill>
                      <a:srgbClr val="FFFFFF"/>
                    </a:solidFill>
                  </a:tcPr>
                </a:tc>
                <a:tc>
                  <a:txBody>
                    <a:bodyPr wrap="square"/>
                    <a:lstStyle/>
                    <a:p>
                      <a:r>
                        <a:rPr sz="850" b="0">
                          <a:solidFill>
                            <a:srgbClr val="26301F"/>
                          </a:solidFill>
                          <a:latin typeface="Segoe UI"/>
                        </a:rPr>
                        <a:t>Instruction issued</a:t>
                      </a:r>
                    </a:p>
                  </a:txBody>
                  <a:tcPr marL="45720" marR="109728" marT="27432" marB="27432" anchor="ctr">
                    <a:lnB w="9525" cap="flat" cmpd="sng" algn="ctr">
                      <a:solidFill>
                        <a:srgbClr val="DCE3D6"/>
                      </a:solidFill>
                    </a:lnB>
                    <a:solidFill>
                      <a:srgbClr val="FFFFFF"/>
                    </a:solidFill>
                  </a:tcPr>
                </a:tc>
                <a:tc>
                  <a:txBody>
                    <a:bodyPr wrap="square"/>
                    <a:lstStyle/>
                    <a:p>
                      <a:r>
                        <a:rPr sz="850" b="0">
                          <a:solidFill>
                            <a:srgbClr val="26301F"/>
                          </a:solidFill>
                          <a:latin typeface="Segoe UI"/>
                        </a:rPr>
                        <a:t>The member</a:t>
                      </a:r>
                    </a:p>
                  </a:txBody>
                  <a:tcPr marL="45720" marR="109728" marT="27432" marB="27432" anchor="ctr">
                    <a:lnB w="9525" cap="flat" cmpd="sng" algn="ctr">
                      <a:solidFill>
                        <a:srgbClr val="DCE3D6"/>
                      </a:solidFill>
                    </a:lnB>
                    <a:solidFill>
                      <a:srgbClr val="FFFFFF"/>
                    </a:solidFill>
                  </a:tcPr>
                </a:tc>
                <a:tc>
                  <a:txBody>
                    <a:bodyPr wrap="square"/>
                    <a:lstStyle/>
                    <a:p>
                      <a:r>
                        <a:rPr sz="850" b="0">
                          <a:solidFill>
                            <a:srgbClr val="26301F"/>
                          </a:solidFill>
                          <a:latin typeface="Segoe UI"/>
                        </a:rPr>
                        <a:t>Sends the debit request to the licensed aggregator, carrying a unique reference for that exact contribution</a:t>
                      </a:r>
                    </a:p>
                  </a:txBody>
                  <a:tcPr marL="45720" marR="109728" marT="27432" marB="27432" anchor="ctr">
                    <a:lnB w="9525" cap="flat" cmpd="sng" algn="ctr">
                      <a:solidFill>
                        <a:srgbClr val="DCE3D6"/>
                      </a:solidFill>
                    </a:lnB>
                    <a:solidFill>
                      <a:srgbClr val="FFFFFF"/>
                    </a:solidFill>
                  </a:tcPr>
                </a:tc>
              </a:tr>
              <a:tr h="452459">
                <a:tc>
                  <a:txBody>
                    <a:bodyPr wrap="square"/>
                    <a:lstStyle/>
                    <a:p>
                      <a:r>
                        <a:rPr sz="850" b="0">
                          <a:solidFill>
                            <a:srgbClr val="26301F"/>
                          </a:solidFill>
                          <a:latin typeface="Segoe UI"/>
                        </a:rPr>
                        <a:t>3</a:t>
                      </a:r>
                    </a:p>
                  </a:txBody>
                  <a:tcPr marL="45720" marR="109728" marT="27432" marB="27432" anchor="ctr">
                    <a:lnB w="9525" cap="flat" cmpd="sng" algn="ctr">
                      <a:solidFill>
                        <a:srgbClr val="DCE3D6"/>
                      </a:solidFill>
                    </a:lnB>
                    <a:solidFill>
                      <a:srgbClr val="FFFFFF"/>
                    </a:solidFill>
                  </a:tcPr>
                </a:tc>
                <a:tc>
                  <a:txBody>
                    <a:bodyPr wrap="square"/>
                    <a:lstStyle/>
                    <a:p>
                      <a:r>
                        <a:rPr sz="850" b="0">
                          <a:solidFill>
                            <a:srgbClr val="26301F"/>
                          </a:solidFill>
                          <a:latin typeface="Segoe UI"/>
                        </a:rPr>
                        <a:t>Aggregator presents it</a:t>
                      </a:r>
                    </a:p>
                  </a:txBody>
                  <a:tcPr marL="45720" marR="109728" marT="27432" marB="27432" anchor="ctr">
                    <a:lnB w="9525" cap="flat" cmpd="sng" algn="ctr">
                      <a:solidFill>
                        <a:srgbClr val="DCE3D6"/>
                      </a:solidFill>
                    </a:lnB>
                    <a:solidFill>
                      <a:srgbClr val="FFFFFF"/>
                    </a:solidFill>
                  </a:tcPr>
                </a:tc>
                <a:tc>
                  <a:txBody>
                    <a:bodyPr wrap="square"/>
                    <a:lstStyle/>
                    <a:p>
                      <a:r>
                        <a:rPr sz="850" b="0">
                          <a:solidFill>
                            <a:srgbClr val="26301F"/>
                          </a:solidFill>
                          <a:latin typeface="Segoe UI"/>
                        </a:rPr>
                        <a:t>The member</a:t>
                      </a:r>
                    </a:p>
                  </a:txBody>
                  <a:tcPr marL="45720" marR="109728" marT="27432" marB="27432" anchor="ctr">
                    <a:lnB w="9525" cap="flat" cmpd="sng" algn="ctr">
                      <a:solidFill>
                        <a:srgbClr val="DCE3D6"/>
                      </a:solidFill>
                    </a:lnB>
                    <a:solidFill>
                      <a:srgbClr val="FFFFFF"/>
                    </a:solidFill>
                  </a:tcPr>
                </a:tc>
                <a:tc>
                  <a:txBody>
                    <a:bodyPr wrap="square"/>
                    <a:lstStyle/>
                    <a:p>
                      <a:r>
                        <a:rPr sz="850" b="0">
                          <a:solidFill>
                            <a:srgbClr val="26301F"/>
                          </a:solidFill>
                          <a:latin typeface="Segoe UI"/>
                        </a:rPr>
                        <a:t>Nothing. The aggregator is the regulated party touching the rail</a:t>
                      </a:r>
                    </a:p>
                  </a:txBody>
                  <a:tcPr marL="45720" marR="109728" marT="27432" marB="27432" anchor="ctr">
                    <a:lnB w="9525" cap="flat" cmpd="sng" algn="ctr">
                      <a:solidFill>
                        <a:srgbClr val="DCE3D6"/>
                      </a:solidFill>
                    </a:lnB>
                    <a:solidFill>
                      <a:srgbClr val="FFFFFF"/>
                    </a:solidFill>
                  </a:tcPr>
                </a:tc>
              </a:tr>
              <a:tr h="452459">
                <a:tc>
                  <a:txBody>
                    <a:bodyPr wrap="square"/>
                    <a:lstStyle/>
                    <a:p>
                      <a:r>
                        <a:rPr sz="850" b="0">
                          <a:solidFill>
                            <a:srgbClr val="26301F"/>
                          </a:solidFill>
                          <a:latin typeface="Segoe UI"/>
                        </a:rPr>
                        <a:t>4</a:t>
                      </a:r>
                    </a:p>
                  </a:txBody>
                  <a:tcPr marL="45720" marR="109728" marT="27432" marB="27432" anchor="ctr">
                    <a:lnB w="9525" cap="flat" cmpd="sng" algn="ctr">
                      <a:solidFill>
                        <a:srgbClr val="DCE3D6"/>
                      </a:solidFill>
                    </a:lnB>
                    <a:solidFill>
                      <a:srgbClr val="FFFFFF"/>
                    </a:solidFill>
                  </a:tcPr>
                </a:tc>
                <a:tc>
                  <a:txBody>
                    <a:bodyPr wrap="square"/>
                    <a:lstStyle/>
                    <a:p>
                      <a:r>
                        <a:rPr sz="850" b="0">
                          <a:solidFill>
                            <a:srgbClr val="26301F"/>
                          </a:solidFill>
                          <a:latin typeface="Segoe UI"/>
                        </a:rPr>
                        <a:t>The rail moves it</a:t>
                      </a:r>
                    </a:p>
                  </a:txBody>
                  <a:tcPr marL="45720" marR="109728" marT="27432" marB="27432" anchor="ctr">
                    <a:lnB w="9525" cap="flat" cmpd="sng" algn="ctr">
                      <a:solidFill>
                        <a:srgbClr val="DCE3D6"/>
                      </a:solidFill>
                    </a:lnB>
                    <a:solidFill>
                      <a:srgbClr val="FFFFFF"/>
                    </a:solidFill>
                  </a:tcPr>
                </a:tc>
                <a:tc>
                  <a:txBody>
                    <a:bodyPr wrap="square"/>
                    <a:lstStyle/>
                    <a:p>
                      <a:r>
                        <a:rPr sz="850" b="0">
                          <a:solidFill>
                            <a:srgbClr val="26301F"/>
                          </a:solidFill>
                          <a:latin typeface="Segoe UI"/>
                        </a:rPr>
                        <a:t>In transit on the national instant payment system</a:t>
                      </a:r>
                    </a:p>
                  </a:txBody>
                  <a:tcPr marL="45720" marR="109728" marT="27432" marB="27432" anchor="ctr">
                    <a:lnB w="9525" cap="flat" cmpd="sng" algn="ctr">
                      <a:solidFill>
                        <a:srgbClr val="DCE3D6"/>
                      </a:solidFill>
                    </a:lnB>
                    <a:solidFill>
                      <a:srgbClr val="FFFFFF"/>
                    </a:solidFill>
                  </a:tcPr>
                </a:tc>
                <a:tc>
                  <a:txBody>
                    <a:bodyPr wrap="square"/>
                    <a:lstStyle/>
                    <a:p>
                      <a:r>
                        <a:rPr sz="850" b="0">
                          <a:solidFill>
                            <a:srgbClr val="26301F"/>
                          </a:solidFill>
                          <a:latin typeface="Segoe UI"/>
                        </a:rPr>
                        <a:t>Nothing. Halqa is not a participant in the rail</a:t>
                      </a:r>
                    </a:p>
                  </a:txBody>
                  <a:tcPr marL="45720" marR="109728" marT="27432" marB="27432" anchor="ctr">
                    <a:lnB w="9525" cap="flat" cmpd="sng" algn="ctr">
                      <a:solidFill>
                        <a:srgbClr val="DCE3D6"/>
                      </a:solidFill>
                    </a:lnB>
                    <a:solidFill>
                      <a:srgbClr val="FFFFFF"/>
                    </a:solidFill>
                  </a:tcPr>
                </a:tc>
              </a:tr>
              <a:tr h="452459">
                <a:tc>
                  <a:txBody>
                    <a:bodyPr wrap="square"/>
                    <a:lstStyle/>
                    <a:p>
                      <a:r>
                        <a:rPr sz="850" b="0">
                          <a:solidFill>
                            <a:srgbClr val="26301F"/>
                          </a:solidFill>
                          <a:latin typeface="Segoe UI"/>
                        </a:rPr>
                        <a:t>5</a:t>
                      </a:r>
                    </a:p>
                  </a:txBody>
                  <a:tcPr marL="45720" marR="109728" marT="27432" marB="27432" anchor="ctr">
                    <a:lnB w="9525" cap="flat" cmpd="sng" algn="ctr">
                      <a:solidFill>
                        <a:srgbClr val="DCE3D6"/>
                      </a:solidFill>
                    </a:lnB>
                    <a:solidFill>
                      <a:srgbClr val="FFFFFF"/>
                    </a:solidFill>
                  </a:tcPr>
                </a:tc>
                <a:tc>
                  <a:txBody>
                    <a:bodyPr wrap="square"/>
                    <a:lstStyle/>
                    <a:p>
                      <a:r>
                        <a:rPr sz="850" b="0">
                          <a:solidFill>
                            <a:srgbClr val="26301F"/>
                          </a:solidFill>
                          <a:latin typeface="Segoe UI"/>
                        </a:rPr>
                        <a:t>Receiving member's account</a:t>
                      </a:r>
                    </a:p>
                  </a:txBody>
                  <a:tcPr marL="45720" marR="109728" marT="27432" marB="27432" anchor="ctr">
                    <a:lnB w="9525" cap="flat" cmpd="sng" algn="ctr">
                      <a:solidFill>
                        <a:srgbClr val="DCE3D6"/>
                      </a:solidFill>
                    </a:lnB>
                    <a:solidFill>
                      <a:srgbClr val="FFFFFF"/>
                    </a:solidFill>
                  </a:tcPr>
                </a:tc>
                <a:tc>
                  <a:txBody>
                    <a:bodyPr wrap="square"/>
                    <a:lstStyle/>
                    <a:p>
                      <a:r>
                        <a:rPr sz="850" b="0">
                          <a:solidFill>
                            <a:srgbClr val="26301F"/>
                          </a:solidFill>
                          <a:latin typeface="Segoe UI"/>
                        </a:rPr>
                        <a:t>The receiving member</a:t>
                      </a:r>
                    </a:p>
                  </a:txBody>
                  <a:tcPr marL="45720" marR="109728" marT="27432" marB="27432" anchor="ctr">
                    <a:lnB w="9525" cap="flat" cmpd="sng" algn="ctr">
                      <a:solidFill>
                        <a:srgbClr val="DCE3D6"/>
                      </a:solidFill>
                    </a:lnB>
                    <a:solidFill>
                      <a:srgbClr val="FFFFFF"/>
                    </a:solidFill>
                  </a:tcPr>
                </a:tc>
                <a:tc>
                  <a:txBody>
                    <a:bodyPr wrap="square"/>
                    <a:lstStyle/>
                    <a:p>
                      <a:r>
                        <a:rPr sz="850" b="0">
                          <a:solidFill>
                            <a:srgbClr val="26301F"/>
                          </a:solidFill>
                          <a:latin typeface="Segoe UI"/>
                        </a:rPr>
                        <a:t>Records the settlement, writes the receipt, notifies both sides</a:t>
                      </a:r>
                    </a:p>
                  </a:txBody>
                  <a:tcPr marL="45720" marR="109728" marT="27432" marB="27432" anchor="ctr">
                    <a:lnB w="9525" cap="flat" cmpd="sng" algn="ctr">
                      <a:solidFill>
                        <a:srgbClr val="DCE3D6"/>
                      </a:solidFill>
                    </a:lnB>
                    <a:solidFill>
                      <a:srgbClr val="FFFFFF"/>
                    </a:solidFill>
                  </a:tcPr>
                </a:tc>
              </a:tr>
              <a:tr h="452459">
                <a:tc>
                  <a:txBody>
                    <a:bodyPr wrap="square"/>
                    <a:lstStyle/>
                    <a:p>
                      <a:r>
                        <a:rPr sz="850" b="0">
                          <a:solidFill>
                            <a:srgbClr val="26301F"/>
                          </a:solidFill>
                          <a:latin typeface="Segoe UI"/>
                        </a:rPr>
                        <a:t>6</a:t>
                      </a:r>
                    </a:p>
                  </a:txBody>
                  <a:tcPr marL="45720" marR="109728" marT="27432" marB="27432" anchor="ctr">
                    <a:lnB w="9525" cap="flat" cmpd="sng" algn="ctr">
                      <a:solidFill>
                        <a:srgbClr val="DCE3D6"/>
                      </a:solidFill>
                    </a:lnB>
                    <a:solidFill>
                      <a:srgbClr val="FFFFFF"/>
                    </a:solidFill>
                  </a:tcPr>
                </a:tc>
                <a:tc>
                  <a:txBody>
                    <a:bodyPr wrap="square"/>
                    <a:lstStyle/>
                    <a:p>
                      <a:r>
                        <a:rPr sz="850" b="0">
                          <a:solidFill>
                            <a:srgbClr val="26301F"/>
                          </a:solidFill>
                          <a:latin typeface="Segoe UI"/>
                        </a:rPr>
                        <a:t>Savings, if the member chooses</a:t>
                      </a:r>
                    </a:p>
                  </a:txBody>
                  <a:tcPr marL="45720" marR="109728" marT="27432" marB="27432" anchor="ctr">
                    <a:lnB w="9525" cap="flat" cmpd="sng" algn="ctr">
                      <a:solidFill>
                        <a:srgbClr val="DCE3D6"/>
                      </a:solidFill>
                    </a:lnB>
                    <a:solidFill>
                      <a:srgbClr val="FFFFFF"/>
                    </a:solidFill>
                  </a:tcPr>
                </a:tc>
                <a:tc>
                  <a:txBody>
                    <a:bodyPr wrap="square"/>
                    <a:lstStyle/>
                    <a:p>
                      <a:r>
                        <a:rPr sz="850" b="0">
                          <a:solidFill>
                            <a:srgbClr val="26301F"/>
                          </a:solidFill>
                          <a:latin typeface="Segoe UI"/>
                        </a:rPr>
                        <a:t>A licensed trustee, in the member's own name</a:t>
                      </a:r>
                    </a:p>
                  </a:txBody>
                  <a:tcPr marL="45720" marR="109728" marT="27432" marB="27432" anchor="ctr">
                    <a:lnB w="9525" cap="flat" cmpd="sng" algn="ctr">
                      <a:solidFill>
                        <a:srgbClr val="DCE3D6"/>
                      </a:solidFill>
                    </a:lnB>
                    <a:solidFill>
                      <a:srgbClr val="FFFFFF"/>
                    </a:solidFill>
                  </a:tcPr>
                </a:tc>
                <a:tc>
                  <a:txBody>
                    <a:bodyPr wrap="square"/>
                    <a:lstStyle/>
                    <a:p>
                      <a:r>
                        <a:rPr sz="850" b="0">
                          <a:solidFill>
                            <a:srgbClr val="26301F"/>
                          </a:solidFill>
                          <a:latin typeface="Segoe UI"/>
                        </a:rPr>
                        <a:t>Places the instruction with the asset manager. Never receives the units and never receives the money</a:t>
                      </a:r>
                    </a:p>
                  </a:txBody>
                  <a:tcPr marL="45720" marR="109728" marT="27432" marB="27432" anchor="ctr">
                    <a:lnB w="9525" cap="flat" cmpd="sng" algn="ctr">
                      <a:solidFill>
                        <a:srgbClr val="DCE3D6"/>
                      </a:solidFill>
                    </a:lnB>
                    <a:solidFill>
                      <a:srgbClr val="FFFFFF"/>
                    </a:solidFill>
                  </a:tcPr>
                </a:tc>
              </a:tr>
              <a:tr h="452459">
                <a:tc>
                  <a:txBody>
                    <a:bodyPr wrap="square"/>
                    <a:lstStyle/>
                    <a:p>
                      <a:r>
                        <a:rPr sz="850" b="0">
                          <a:solidFill>
                            <a:srgbClr val="26301F"/>
                          </a:solidFill>
                          <a:latin typeface="Segoe UI"/>
                        </a:rPr>
                        <a:t>7</a:t>
                      </a:r>
                    </a:p>
                  </a:txBody>
                  <a:tcPr marL="45720" marR="109728" marT="27432" marB="27432" anchor="ctr">
                    <a:lnB w="9525" cap="flat" cmpd="sng" algn="ctr">
                      <a:solidFill>
                        <a:srgbClr val="DCE3D6"/>
                      </a:solidFill>
                    </a:lnB>
                    <a:solidFill>
                      <a:srgbClr val="FFFFFF"/>
                    </a:solidFill>
                  </a:tcPr>
                </a:tc>
                <a:tc>
                  <a:txBody>
                    <a:bodyPr wrap="square"/>
                    <a:lstStyle/>
                    <a:p>
                      <a:r>
                        <a:rPr sz="850" b="0">
                          <a:solidFill>
                            <a:srgbClr val="26301F"/>
                          </a:solidFill>
                          <a:latin typeface="Segoe UI"/>
                        </a:rPr>
                        <a:t>An item, in an asset circle</a:t>
                      </a:r>
                    </a:p>
                  </a:txBody>
                  <a:tcPr marL="45720" marR="109728" marT="27432" marB="27432" anchor="ctr">
                    <a:lnB w="9525" cap="flat" cmpd="sng" algn="ctr">
                      <a:solidFill>
                        <a:srgbClr val="DCE3D6"/>
                      </a:solidFill>
                    </a:lnB>
                    <a:solidFill>
                      <a:srgbClr val="FFFFFF"/>
                    </a:solidFill>
                  </a:tcPr>
                </a:tc>
                <a:tc>
                  <a:txBody>
                    <a:bodyPr wrap="square"/>
                    <a:lstStyle/>
                    <a:p>
                      <a:r>
                        <a:rPr sz="850" b="0">
                          <a:solidFill>
                            <a:srgbClr val="26301F"/>
                          </a:solidFill>
                          <a:latin typeface="Segoe UI"/>
                        </a:rPr>
                        <a:t>The dealer is paid directly; legal title sits with a security trustee</a:t>
                      </a:r>
                    </a:p>
                  </a:txBody>
                  <a:tcPr marL="45720" marR="109728" marT="27432" marB="27432" anchor="ctr">
                    <a:lnB w="9525" cap="flat" cmpd="sng" algn="ctr">
                      <a:solidFill>
                        <a:srgbClr val="DCE3D6"/>
                      </a:solidFill>
                    </a:lnB>
                    <a:solidFill>
                      <a:srgbClr val="FFFFFF"/>
                    </a:solidFill>
                  </a:tcPr>
                </a:tc>
                <a:tc>
                  <a:txBody>
                    <a:bodyPr wrap="square"/>
                    <a:lstStyle/>
                    <a:p>
                      <a:r>
                        <a:rPr sz="850" b="0">
                          <a:solidFill>
                            <a:srgbClr val="26301F"/>
                          </a:solidFill>
                          <a:latin typeface="Segoe UI"/>
                        </a:rPr>
                        <a:t>Structures the sale and instructs the payment. Never owns the item</a:t>
                      </a:r>
                    </a:p>
                  </a:txBody>
                  <a:tcPr marL="45720" marR="109728" marT="27432" marB="27432" anchor="ctr">
                    <a:lnB w="9525" cap="flat" cmpd="sng" algn="ctr">
                      <a:solidFill>
                        <a:srgbClr val="DCE3D6"/>
                      </a:solidFill>
                    </a:lnB>
                    <a:solidFill>
                      <a:srgbClr val="FFFFFF"/>
                    </a:solidFill>
                  </a:tcPr>
                </a:tc>
              </a:tr>
            </a:tbl>
          </a:graphicData>
        </a:graphic>
      </p:graphicFrame>
      <p:sp>
        <p:nvSpPr>
          <p:cNvPr id="8" name="TextBox 7"/>
          <p:cNvSpPr txBox="1"/>
          <p:nvPr/>
        </p:nvSpPr>
        <p:spPr>
          <a:xfrm>
            <a:off x="777240" y="5768512"/>
            <a:ext cx="10637215" cy="731520"/>
          </a:xfrm>
          <a:prstGeom prst="rect">
            <a:avLst/>
          </a:prstGeom>
          <a:noFill/>
        </p:spPr>
        <p:txBody>
          <a:bodyPr wrap="square" lIns="0" rIns="0" tIns="0" bIns="0">
            <a:spAutoFit/>
          </a:bodyPr>
          <a:lstStyle/>
          <a:p>
            <a:pPr algn="l">
              <a:lnSpc>
                <a:spcPct val="140000"/>
              </a:lnSpc>
            </a:pPr>
            <a:r>
              <a:rPr sz="1200" b="1" i="0">
                <a:solidFill>
                  <a:srgbClr val="0C1408"/>
                </a:solidFill>
                <a:latin typeface="Segoe UI"/>
              </a:rPr>
              <a:t>There is no row in which the answer is Halqa. That is the whole design, and every institution in the next few pages exists to keep it true as the product range grows.</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777240" y="566928"/>
            <a:ext cx="10637215" cy="219456"/>
          </a:xfrm>
          <a:prstGeom prst="rect">
            <a:avLst/>
          </a:prstGeom>
          <a:noFill/>
        </p:spPr>
        <p:txBody>
          <a:bodyPr wrap="square" lIns="0" rIns="0" tIns="0" bIns="0">
            <a:spAutoFit/>
          </a:bodyPr>
          <a:lstStyle/>
          <a:p>
            <a:pPr algn="l">
              <a:lnSpc>
                <a:spcPct val="125000"/>
              </a:lnSpc>
            </a:pPr>
            <a:r>
              <a:rPr sz="950" b="1" i="0">
                <a:solidFill>
                  <a:srgbClr val="41801A"/>
                </a:solidFill>
                <a:latin typeface="Segoe UI"/>
              </a:rPr>
              <a:t>0  WHAT HAS BEEN TRIED</a:t>
            </a:r>
          </a:p>
        </p:txBody>
      </p:sp>
      <p:sp>
        <p:nvSpPr>
          <p:cNvPr id="3" name="TextBox 2"/>
          <p:cNvSpPr txBox="1"/>
          <p:nvPr/>
        </p:nvSpPr>
        <p:spPr>
          <a:xfrm>
            <a:off x="777240" y="841248"/>
            <a:ext cx="10637215" cy="502920"/>
          </a:xfrm>
          <a:prstGeom prst="rect">
            <a:avLst/>
          </a:prstGeom>
          <a:noFill/>
        </p:spPr>
        <p:txBody>
          <a:bodyPr wrap="square" lIns="0" rIns="0" tIns="0" bIns="0">
            <a:spAutoFit/>
          </a:bodyPr>
          <a:lstStyle/>
          <a:p>
            <a:pPr algn="l">
              <a:lnSpc>
                <a:spcPct val="125000"/>
              </a:lnSpc>
            </a:pPr>
            <a:r>
              <a:rPr sz="2700" b="1" i="0">
                <a:solidFill>
                  <a:srgbClr val="0C1408"/>
                </a:solidFill>
                <a:latin typeface="Segoe UI"/>
              </a:rPr>
              <a:t>The bank that took the name</a:t>
            </a:r>
          </a:p>
        </p:txBody>
      </p:sp>
      <p:sp>
        <p:nvSpPr>
          <p:cNvPr id="4" name="Rectangle 3"/>
          <p:cNvSpPr/>
          <p:nvPr/>
        </p:nvSpPr>
        <p:spPr>
          <a:xfrm>
            <a:off x="777240" y="1417320"/>
            <a:ext cx="1371600" cy="22860"/>
          </a:xfrm>
          <a:prstGeom prst="rect">
            <a:avLst/>
          </a:prstGeom>
          <a:solidFill>
            <a:srgbClr val="6DC72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777240" y="6382512"/>
            <a:ext cx="3657600" cy="228600"/>
          </a:xfrm>
          <a:prstGeom prst="rect">
            <a:avLst/>
          </a:prstGeom>
          <a:noFill/>
        </p:spPr>
        <p:txBody>
          <a:bodyPr wrap="square" lIns="0" rIns="0" tIns="0" bIns="0">
            <a:spAutoFit/>
          </a:bodyPr>
          <a:lstStyle/>
          <a:p>
            <a:pPr algn="l">
              <a:lnSpc>
                <a:spcPct val="125000"/>
              </a:lnSpc>
            </a:pPr>
            <a:r>
              <a:rPr sz="900" b="0" i="0">
                <a:solidFill>
                  <a:srgbClr val="9AA694"/>
                </a:solidFill>
                <a:latin typeface="Segoe UI"/>
              </a:rPr>
              <a:t>Halqa  ·  Confidential</a:t>
            </a:r>
          </a:p>
        </p:txBody>
      </p:sp>
      <p:sp>
        <p:nvSpPr>
          <p:cNvPr id="6" name="TextBox 5"/>
          <p:cNvSpPr txBox="1"/>
          <p:nvPr/>
        </p:nvSpPr>
        <p:spPr>
          <a:xfrm>
            <a:off x="10728655" y="6382512"/>
            <a:ext cx="685800" cy="228600"/>
          </a:xfrm>
          <a:prstGeom prst="rect">
            <a:avLst/>
          </a:prstGeom>
          <a:noFill/>
        </p:spPr>
        <p:txBody>
          <a:bodyPr wrap="square" lIns="0" rIns="0" tIns="0" bIns="0">
            <a:spAutoFit/>
          </a:bodyPr>
          <a:lstStyle/>
          <a:p>
            <a:pPr algn="r">
              <a:lnSpc>
                <a:spcPct val="125000"/>
              </a:lnSpc>
            </a:pPr>
            <a:r>
              <a:rPr sz="900" b="0" i="0">
                <a:solidFill>
                  <a:srgbClr val="6F7B68"/>
                </a:solidFill>
                <a:latin typeface="Segoe UI"/>
              </a:rPr>
              <a:t>6</a:t>
            </a:r>
          </a:p>
        </p:txBody>
      </p:sp>
      <p:sp>
        <p:nvSpPr>
          <p:cNvPr id="7" name="TextBox 6"/>
          <p:cNvSpPr txBox="1"/>
          <p:nvPr/>
        </p:nvSpPr>
        <p:spPr>
          <a:xfrm>
            <a:off x="777240" y="1965960"/>
            <a:ext cx="10607040" cy="685800"/>
          </a:xfrm>
          <a:prstGeom prst="rect">
            <a:avLst/>
          </a:prstGeom>
          <a:noFill/>
        </p:spPr>
        <p:txBody>
          <a:bodyPr wrap="square" lIns="0" rIns="0" tIns="0" bIns="0">
            <a:spAutoFit/>
          </a:bodyPr>
          <a:lstStyle/>
          <a:p>
            <a:pPr algn="l">
              <a:lnSpc>
                <a:spcPct val="150000"/>
              </a:lnSpc>
            </a:pPr>
            <a:r>
              <a:rPr sz="1350" b="0" i="0">
                <a:solidFill>
                  <a:srgbClr val="26301F"/>
                </a:solidFill>
                <a:latin typeface="Segoe UI"/>
              </a:rPr>
              <a:t>United Bank Limited, one of the country's largest banks, markets a deposit product under the committee name. It is the most instructive case in the set, because it shows exactly what is lost when a large institution takes the word and discards the instrument.</a:t>
            </a:r>
          </a:p>
        </p:txBody>
      </p:sp>
      <p:graphicFrame>
        <p:nvGraphicFramePr>
          <p:cNvPr id="8" name="Table 7"/>
          <p:cNvGraphicFramePr>
            <a:graphicFrameLocks noGrp="1"/>
          </p:cNvGraphicFramePr>
          <p:nvPr/>
        </p:nvGraphicFramePr>
        <p:xfrm>
          <a:off x="777240" y="2880360"/>
          <a:ext cx="10607040" cy="2673376"/>
        </p:xfrm>
        <a:graphic>
          <a:graphicData uri="http://schemas.openxmlformats.org/drawingml/2006/table">
            <a:tbl>
              <a:tblPr>
                <a:tableStyleId>{5C22544A-7EE6-4342-B048-85BDC9FD1C3A}</a:tableStyleId>
              </a:tblPr>
              <a:tblGrid>
                <a:gridCol w="1828800"/>
                <a:gridCol w="4754880"/>
                <a:gridCol w="4023360"/>
              </a:tblGrid>
              <a:tr h="334172">
                <a:tc>
                  <a:txBody>
                    <a:bodyPr wrap="square"/>
                    <a:lstStyle/>
                    <a:p>
                      <a:r>
                        <a:rPr sz="800" b="1">
                          <a:solidFill>
                            <a:srgbClr val="41801A"/>
                          </a:solidFill>
                          <a:latin typeface="Segoe UI"/>
                        </a:rPr>
                        <a:t>FEATURE</a:t>
                      </a:r>
                    </a:p>
                  </a:txBody>
                  <a:tcPr marL="45720" marR="109728" marT="27432" marB="27432" anchor="ctr">
                    <a:lnB w="9525" cap="flat" cmpd="sng" algn="ctr">
                      <a:solidFill>
                        <a:srgbClr val="41801A"/>
                      </a:solidFill>
                    </a:lnB>
                    <a:solidFill>
                      <a:srgbClr val="FFFFFF"/>
                    </a:solidFill>
                  </a:tcPr>
                </a:tc>
                <a:tc>
                  <a:txBody>
                    <a:bodyPr wrap="square"/>
                    <a:lstStyle/>
                    <a:p>
                      <a:r>
                        <a:rPr sz="800" b="1">
                          <a:solidFill>
                            <a:srgbClr val="41801A"/>
                          </a:solidFill>
                          <a:latin typeface="Segoe UI"/>
                        </a:rPr>
                        <a:t>HOW THE BANK PRODUCT WORKS</a:t>
                      </a:r>
                    </a:p>
                  </a:txBody>
                  <a:tcPr marL="45720" marR="109728" marT="27432" marB="27432" anchor="ctr">
                    <a:lnB w="9525" cap="flat" cmpd="sng" algn="ctr">
                      <a:solidFill>
                        <a:srgbClr val="41801A"/>
                      </a:solidFill>
                    </a:lnB>
                    <a:solidFill>
                      <a:srgbClr val="FFFFFF"/>
                    </a:solidFill>
                  </a:tcPr>
                </a:tc>
                <a:tc>
                  <a:txBody>
                    <a:bodyPr wrap="square"/>
                    <a:lstStyle/>
                    <a:p>
                      <a:r>
                        <a:rPr sz="800" b="1">
                          <a:solidFill>
                            <a:srgbClr val="41801A"/>
                          </a:solidFill>
                          <a:latin typeface="Segoe UI"/>
                        </a:rPr>
                        <a:t>WHAT IT MEANS</a:t>
                      </a:r>
                    </a:p>
                  </a:txBody>
                  <a:tcPr marL="45720" marR="109728" marT="27432" marB="27432" anchor="ctr">
                    <a:lnB w="9525" cap="flat" cmpd="sng" algn="ctr">
                      <a:solidFill>
                        <a:srgbClr val="41801A"/>
                      </a:solidFill>
                    </a:lnB>
                    <a:solidFill>
                      <a:srgbClr val="FFFFFF"/>
                    </a:solidFill>
                  </a:tcPr>
                </a:tc>
              </a:tr>
              <a:tr h="334172">
                <a:tc>
                  <a:txBody>
                    <a:bodyPr wrap="square"/>
                    <a:lstStyle/>
                    <a:p>
                      <a:r>
                        <a:rPr sz="800" b="0">
                          <a:solidFill>
                            <a:srgbClr val="26301F"/>
                          </a:solidFill>
                          <a:latin typeface="Segoe UI"/>
                        </a:rPr>
                        <a:t>Term</a:t>
                      </a:r>
                    </a:p>
                  </a:txBody>
                  <a:tcPr marL="45720" marR="109728" marT="27432" marB="27432" anchor="ctr">
                    <a:lnB w="9525" cap="flat" cmpd="sng" algn="ctr">
                      <a:solidFill>
                        <a:srgbClr val="DCE3D6"/>
                      </a:solidFill>
                    </a:lnB>
                    <a:solidFill>
                      <a:srgbClr val="FFFFFF"/>
                    </a:solidFill>
                  </a:tcPr>
                </a:tc>
                <a:tc>
                  <a:txBody>
                    <a:bodyPr wrap="square"/>
                    <a:lstStyle/>
                    <a:p>
                      <a:r>
                        <a:rPr sz="800" b="0">
                          <a:solidFill>
                            <a:srgbClr val="26301F"/>
                          </a:solidFill>
                          <a:latin typeface="Segoe UI"/>
                        </a:rPr>
                        <a:t>Twelve, eighteen or twenty four months</a:t>
                      </a:r>
                    </a:p>
                  </a:txBody>
                  <a:tcPr marL="45720" marR="109728" marT="27432" marB="27432" anchor="ctr">
                    <a:lnB w="9525" cap="flat" cmpd="sng" algn="ctr">
                      <a:solidFill>
                        <a:srgbClr val="DCE3D6"/>
                      </a:solidFill>
                    </a:lnB>
                    <a:solidFill>
                      <a:srgbClr val="FFFFFF"/>
                    </a:solidFill>
                  </a:tcPr>
                </a:tc>
                <a:tc>
                  <a:txBody>
                    <a:bodyPr wrap="square"/>
                    <a:lstStyle/>
                    <a:p>
                      <a:r>
                        <a:rPr sz="800" b="0">
                          <a:solidFill>
                            <a:srgbClr val="26301F"/>
                          </a:solidFill>
                          <a:latin typeface="Segoe UI"/>
                        </a:rPr>
                        <a:t>Fixed, like a recurring deposit</a:t>
                      </a:r>
                    </a:p>
                  </a:txBody>
                  <a:tcPr marL="45720" marR="109728" marT="27432" marB="27432" anchor="ctr">
                    <a:lnB w="9525" cap="flat" cmpd="sng" algn="ctr">
                      <a:solidFill>
                        <a:srgbClr val="DCE3D6"/>
                      </a:solidFill>
                    </a:lnB>
                    <a:solidFill>
                      <a:srgbClr val="FFFFFF"/>
                    </a:solidFill>
                  </a:tcPr>
                </a:tc>
              </a:tr>
              <a:tr h="334172">
                <a:tc>
                  <a:txBody>
                    <a:bodyPr wrap="square"/>
                    <a:lstStyle/>
                    <a:p>
                      <a:r>
                        <a:rPr sz="800" b="0">
                          <a:solidFill>
                            <a:srgbClr val="26301F"/>
                          </a:solidFill>
                          <a:latin typeface="Segoe UI"/>
                        </a:rPr>
                        <a:t>Contribution</a:t>
                      </a:r>
                    </a:p>
                  </a:txBody>
                  <a:tcPr marL="45720" marR="109728" marT="27432" marB="27432" anchor="ctr">
                    <a:lnB w="9525" cap="flat" cmpd="sng" algn="ctr">
                      <a:solidFill>
                        <a:srgbClr val="DCE3D6"/>
                      </a:solidFill>
                    </a:lnB>
                    <a:solidFill>
                      <a:srgbClr val="FFFFFF"/>
                    </a:solidFill>
                  </a:tcPr>
                </a:tc>
                <a:tc>
                  <a:txBody>
                    <a:bodyPr wrap="square"/>
                    <a:lstStyle/>
                    <a:p>
                      <a:r>
                        <a:rPr sz="800" b="0">
                          <a:solidFill>
                            <a:srgbClr val="26301F"/>
                          </a:solidFill>
                          <a:latin typeface="Segoe UI"/>
                        </a:rPr>
                        <a:t>Rs 5,000 to Rs 1,000,000 a month</a:t>
                      </a:r>
                    </a:p>
                  </a:txBody>
                  <a:tcPr marL="45720" marR="109728" marT="27432" marB="27432" anchor="ctr">
                    <a:lnB w="9525" cap="flat" cmpd="sng" algn="ctr">
                      <a:solidFill>
                        <a:srgbClr val="DCE3D6"/>
                      </a:solidFill>
                    </a:lnB>
                    <a:solidFill>
                      <a:srgbClr val="FFFFFF"/>
                    </a:solidFill>
                  </a:tcPr>
                </a:tc>
                <a:tc>
                  <a:txBody>
                    <a:bodyPr wrap="square"/>
                    <a:lstStyle/>
                    <a:p>
                      <a:r>
                        <a:rPr sz="800" b="0">
                          <a:solidFill>
                            <a:srgbClr val="26301F"/>
                          </a:solidFill>
                          <a:latin typeface="Segoe UI"/>
                        </a:rPr>
                        <a:t>A wide band aimed at customers the bank already has</a:t>
                      </a:r>
                    </a:p>
                  </a:txBody>
                  <a:tcPr marL="45720" marR="109728" marT="27432" marB="27432" anchor="ctr">
                    <a:lnB w="9525" cap="flat" cmpd="sng" algn="ctr">
                      <a:solidFill>
                        <a:srgbClr val="DCE3D6"/>
                      </a:solidFill>
                    </a:lnB>
                    <a:solidFill>
                      <a:srgbClr val="FFFFFF"/>
                    </a:solidFill>
                  </a:tcPr>
                </a:tc>
              </a:tr>
              <a:tr h="334172">
                <a:tc>
                  <a:txBody>
                    <a:bodyPr wrap="square"/>
                    <a:lstStyle/>
                    <a:p>
                      <a:r>
                        <a:rPr sz="800" b="0">
                          <a:solidFill>
                            <a:srgbClr val="26301F"/>
                          </a:solidFill>
                          <a:latin typeface="Segoe UI"/>
                        </a:rPr>
                        <a:t>Payout</a:t>
                      </a:r>
                    </a:p>
                  </a:txBody>
                  <a:tcPr marL="45720" marR="109728" marT="27432" marB="27432" anchor="ctr">
                    <a:lnB w="9525" cap="flat" cmpd="sng" algn="ctr">
                      <a:solidFill>
                        <a:srgbClr val="DCE3D6"/>
                      </a:solidFill>
                    </a:lnB>
                    <a:solidFill>
                      <a:srgbClr val="FFFFFF"/>
                    </a:solidFill>
                  </a:tcPr>
                </a:tc>
                <a:tc>
                  <a:txBody>
                    <a:bodyPr wrap="square"/>
                    <a:lstStyle/>
                    <a:p>
                      <a:r>
                        <a:rPr sz="800" b="0">
                          <a:solidFill>
                            <a:srgbClr val="26301F"/>
                          </a:solidFill>
                          <a:latin typeface="Segoe UI"/>
                        </a:rPr>
                        <a:t>Your own accumulated contributions at the end, plus a bank contribution of a quarter, a half or one full monthly installment</a:t>
                      </a:r>
                    </a:p>
                  </a:txBody>
                  <a:tcPr marL="45720" marR="109728" marT="27432" marB="27432" anchor="ctr">
                    <a:lnB w="9525" cap="flat" cmpd="sng" algn="ctr">
                      <a:solidFill>
                        <a:srgbClr val="DCE3D6"/>
                      </a:solidFill>
                    </a:lnB>
                    <a:solidFill>
                      <a:srgbClr val="FFFFFF"/>
                    </a:solidFill>
                  </a:tcPr>
                </a:tc>
                <a:tc>
                  <a:txBody>
                    <a:bodyPr wrap="square"/>
                    <a:lstStyle/>
                    <a:p>
                      <a:r>
                        <a:rPr sz="800" b="0">
                          <a:solidFill>
                            <a:srgbClr val="26301F"/>
                          </a:solidFill>
                          <a:latin typeface="Segoe UI"/>
                        </a:rPr>
                        <a:t>You are paid your own money back, with a bonus</a:t>
                      </a:r>
                    </a:p>
                  </a:txBody>
                  <a:tcPr marL="45720" marR="109728" marT="27432" marB="27432" anchor="ctr">
                    <a:lnB w="9525" cap="flat" cmpd="sng" algn="ctr">
                      <a:solidFill>
                        <a:srgbClr val="DCE3D6"/>
                      </a:solidFill>
                    </a:lnB>
                    <a:solidFill>
                      <a:srgbClr val="FFFFFF"/>
                    </a:solidFill>
                  </a:tcPr>
                </a:tc>
              </a:tr>
              <a:tr h="334172">
                <a:tc>
                  <a:txBody>
                    <a:bodyPr wrap="square"/>
                    <a:lstStyle/>
                    <a:p>
                      <a:r>
                        <a:rPr sz="800" b="0">
                          <a:solidFill>
                            <a:srgbClr val="26301F"/>
                          </a:solidFill>
                          <a:latin typeface="Segoe UI"/>
                        </a:rPr>
                        <a:t>Rotation</a:t>
                      </a:r>
                    </a:p>
                  </a:txBody>
                  <a:tcPr marL="45720" marR="109728" marT="27432" marB="27432" anchor="ctr">
                    <a:lnB w="9525" cap="flat" cmpd="sng" algn="ctr">
                      <a:solidFill>
                        <a:srgbClr val="DCE3D6"/>
                      </a:solidFill>
                    </a:lnB>
                    <a:solidFill>
                      <a:srgbClr val="FFFFFF"/>
                    </a:solidFill>
                  </a:tcPr>
                </a:tc>
                <a:tc>
                  <a:txBody>
                    <a:bodyPr wrap="square"/>
                    <a:lstStyle/>
                    <a:p>
                      <a:r>
                        <a:rPr sz="800" b="0">
                          <a:solidFill>
                            <a:srgbClr val="26301F"/>
                          </a:solidFill>
                          <a:latin typeface="Segoe UI"/>
                        </a:rPr>
                        <a:t>None</a:t>
                      </a:r>
                    </a:p>
                  </a:txBody>
                  <a:tcPr marL="45720" marR="109728" marT="27432" marB="27432" anchor="ctr">
                    <a:lnB w="9525" cap="flat" cmpd="sng" algn="ctr">
                      <a:solidFill>
                        <a:srgbClr val="DCE3D6"/>
                      </a:solidFill>
                    </a:lnB>
                    <a:solidFill>
                      <a:srgbClr val="FFFFFF"/>
                    </a:solidFill>
                  </a:tcPr>
                </a:tc>
                <a:tc>
                  <a:txBody>
                    <a:bodyPr wrap="square"/>
                    <a:lstStyle/>
                    <a:p>
                      <a:r>
                        <a:rPr sz="800" b="0">
                          <a:solidFill>
                            <a:srgbClr val="26301F"/>
                          </a:solidFill>
                          <a:latin typeface="Segoe UI"/>
                        </a:rPr>
                        <a:t>No member ever receives early. The defining feature of a committee is simply absent</a:t>
                      </a:r>
                    </a:p>
                  </a:txBody>
                  <a:tcPr marL="45720" marR="109728" marT="27432" marB="27432" anchor="ctr">
                    <a:lnB w="9525" cap="flat" cmpd="sng" algn="ctr">
                      <a:solidFill>
                        <a:srgbClr val="DCE3D6"/>
                      </a:solidFill>
                    </a:lnB>
                    <a:solidFill>
                      <a:srgbClr val="FFFFFF"/>
                    </a:solidFill>
                  </a:tcPr>
                </a:tc>
              </a:tr>
              <a:tr h="334172">
                <a:tc>
                  <a:txBody>
                    <a:bodyPr wrap="square"/>
                    <a:lstStyle/>
                    <a:p>
                      <a:r>
                        <a:rPr sz="800" b="0">
                          <a:solidFill>
                            <a:srgbClr val="26301F"/>
                          </a:solidFill>
                          <a:latin typeface="Segoe UI"/>
                        </a:rPr>
                        <a:t>Early exit</a:t>
                      </a:r>
                    </a:p>
                  </a:txBody>
                  <a:tcPr marL="45720" marR="109728" marT="27432" marB="27432" anchor="ctr">
                    <a:lnB w="9525" cap="flat" cmpd="sng" algn="ctr">
                      <a:solidFill>
                        <a:srgbClr val="DCE3D6"/>
                      </a:solidFill>
                    </a:lnB>
                    <a:solidFill>
                      <a:srgbClr val="FFFFFF"/>
                    </a:solidFill>
                  </a:tcPr>
                </a:tc>
                <a:tc>
                  <a:txBody>
                    <a:bodyPr wrap="square"/>
                    <a:lstStyle/>
                    <a:p>
                      <a:r>
                        <a:rPr sz="800" b="0">
                          <a:solidFill>
                            <a:srgbClr val="26301F"/>
                          </a:solidFill>
                          <a:latin typeface="Segoe UI"/>
                        </a:rPr>
                        <a:t>Permitted without penalty, forfeits the bonus</a:t>
                      </a:r>
                    </a:p>
                  </a:txBody>
                  <a:tcPr marL="45720" marR="109728" marT="27432" marB="27432" anchor="ctr">
                    <a:lnB w="9525" cap="flat" cmpd="sng" algn="ctr">
                      <a:solidFill>
                        <a:srgbClr val="DCE3D6"/>
                      </a:solidFill>
                    </a:lnB>
                    <a:solidFill>
                      <a:srgbClr val="FFFFFF"/>
                    </a:solidFill>
                  </a:tcPr>
                </a:tc>
                <a:tc>
                  <a:txBody>
                    <a:bodyPr wrap="square"/>
                    <a:lstStyle/>
                    <a:p>
                      <a:r>
                        <a:rPr sz="800" b="0">
                          <a:solidFill>
                            <a:srgbClr val="26301F"/>
                          </a:solidFill>
                          <a:latin typeface="Segoe UI"/>
                        </a:rPr>
                        <a:t>No obligation to anybody</a:t>
                      </a:r>
                    </a:p>
                  </a:txBody>
                  <a:tcPr marL="45720" marR="109728" marT="27432" marB="27432" anchor="ctr">
                    <a:lnB w="9525" cap="flat" cmpd="sng" algn="ctr">
                      <a:solidFill>
                        <a:srgbClr val="DCE3D6"/>
                      </a:solidFill>
                    </a:lnB>
                    <a:solidFill>
                      <a:srgbClr val="FFFFFF"/>
                    </a:solidFill>
                  </a:tcPr>
                </a:tc>
              </a:tr>
              <a:tr h="334172">
                <a:tc>
                  <a:txBody>
                    <a:bodyPr wrap="square"/>
                    <a:lstStyle/>
                    <a:p>
                      <a:r>
                        <a:rPr sz="800" b="0">
                          <a:solidFill>
                            <a:srgbClr val="26301F"/>
                          </a:solidFill>
                          <a:latin typeface="Segoe UI"/>
                        </a:rPr>
                        <a:t>Missed months</a:t>
                      </a:r>
                    </a:p>
                  </a:txBody>
                  <a:tcPr marL="45720" marR="109728" marT="27432" marB="27432" anchor="ctr">
                    <a:lnB w="9525" cap="flat" cmpd="sng" algn="ctr">
                      <a:solidFill>
                        <a:srgbClr val="DCE3D6"/>
                      </a:solidFill>
                    </a:lnB>
                    <a:solidFill>
                      <a:srgbClr val="FFFFFF"/>
                    </a:solidFill>
                  </a:tcPr>
                </a:tc>
                <a:tc>
                  <a:txBody>
                    <a:bodyPr wrap="square"/>
                    <a:lstStyle/>
                    <a:p>
                      <a:r>
                        <a:rPr sz="800" b="0">
                          <a:solidFill>
                            <a:srgbClr val="26301F"/>
                          </a:solidFill>
                          <a:latin typeface="Segoe UI"/>
                        </a:rPr>
                        <a:t>Forgiven through an installment holiday</a:t>
                      </a:r>
                    </a:p>
                  </a:txBody>
                  <a:tcPr marL="45720" marR="109728" marT="27432" marB="27432" anchor="ctr">
                    <a:lnB w="9525" cap="flat" cmpd="sng" algn="ctr">
                      <a:solidFill>
                        <a:srgbClr val="DCE3D6"/>
                      </a:solidFill>
                    </a:lnB>
                    <a:solidFill>
                      <a:srgbClr val="FFFFFF"/>
                    </a:solidFill>
                  </a:tcPr>
                </a:tc>
                <a:tc>
                  <a:txBody>
                    <a:bodyPr wrap="square"/>
                    <a:lstStyle/>
                    <a:p>
                      <a:r>
                        <a:rPr sz="800" b="0">
                          <a:solidFill>
                            <a:srgbClr val="26301F"/>
                          </a:solidFill>
                          <a:latin typeface="Segoe UI"/>
                        </a:rPr>
                        <a:t>No discipline, because there is no counterparty to be disciplined for</a:t>
                      </a:r>
                    </a:p>
                  </a:txBody>
                  <a:tcPr marL="45720" marR="109728" marT="27432" marB="27432" anchor="ctr">
                    <a:lnB w="9525" cap="flat" cmpd="sng" algn="ctr">
                      <a:solidFill>
                        <a:srgbClr val="DCE3D6"/>
                      </a:solidFill>
                    </a:lnB>
                    <a:solidFill>
                      <a:srgbClr val="FFFFFF"/>
                    </a:solidFill>
                  </a:tcPr>
                </a:tc>
              </a:tr>
              <a:tr h="334172">
                <a:tc>
                  <a:txBody>
                    <a:bodyPr wrap="square"/>
                    <a:lstStyle/>
                    <a:p>
                      <a:r>
                        <a:rPr sz="800" b="0">
                          <a:solidFill>
                            <a:srgbClr val="26301F"/>
                          </a:solidFill>
                          <a:latin typeface="Segoe UI"/>
                        </a:rPr>
                        <a:t>Custody</a:t>
                      </a:r>
                    </a:p>
                  </a:txBody>
                  <a:tcPr marL="45720" marR="109728" marT="27432" marB="27432" anchor="ctr">
                    <a:lnB w="9525" cap="flat" cmpd="sng" algn="ctr">
                      <a:solidFill>
                        <a:srgbClr val="DCE3D6"/>
                      </a:solidFill>
                    </a:lnB>
                    <a:solidFill>
                      <a:srgbClr val="FFFFFF"/>
                    </a:solidFill>
                  </a:tcPr>
                </a:tc>
                <a:tc>
                  <a:txBody>
                    <a:bodyPr wrap="square"/>
                    <a:lstStyle/>
                    <a:p>
                      <a:r>
                        <a:rPr sz="800" b="0">
                          <a:solidFill>
                            <a:srgbClr val="26301F"/>
                          </a:solidFill>
                          <a:latin typeface="Segoe UI"/>
                        </a:rPr>
                        <a:t>The bank, entirely. Member money is a bank liability from day one</a:t>
                      </a:r>
                    </a:p>
                  </a:txBody>
                  <a:tcPr marL="45720" marR="109728" marT="27432" marB="27432" anchor="ctr">
                    <a:lnB w="9525" cap="flat" cmpd="sng" algn="ctr">
                      <a:solidFill>
                        <a:srgbClr val="DCE3D6"/>
                      </a:solidFill>
                    </a:lnB>
                    <a:solidFill>
                      <a:srgbClr val="FFFFFF"/>
                    </a:solidFill>
                  </a:tcPr>
                </a:tc>
                <a:tc>
                  <a:txBody>
                    <a:bodyPr wrap="square"/>
                    <a:lstStyle/>
                    <a:p>
                      <a:r>
                        <a:rPr sz="800" b="0">
                          <a:solidFill>
                            <a:srgbClr val="26301F"/>
                          </a:solidFill>
                          <a:latin typeface="Segoe UI"/>
                        </a:rPr>
                        <a:t>Which is why it requires a banking licence</a:t>
                      </a:r>
                    </a:p>
                  </a:txBody>
                  <a:tcPr marL="45720" marR="109728" marT="27432" marB="27432" anchor="ctr">
                    <a:lnB w="9525" cap="flat" cmpd="sng" algn="ctr">
                      <a:solidFill>
                        <a:srgbClr val="DCE3D6"/>
                      </a:solidFill>
                    </a:lnB>
                    <a:solidFill>
                      <a:srgbClr val="FFFFFF"/>
                    </a:solidFill>
                  </a:tcPr>
                </a:tc>
              </a:tr>
            </a:tbl>
          </a:graphicData>
        </a:graphic>
      </p:graphicFrame>
      <p:sp>
        <p:nvSpPr>
          <p:cNvPr id="9" name="TextBox 8"/>
          <p:cNvSpPr txBox="1"/>
          <p:nvPr/>
        </p:nvSpPr>
        <p:spPr>
          <a:xfrm>
            <a:off x="777240" y="5736616"/>
            <a:ext cx="10637215" cy="731520"/>
          </a:xfrm>
          <a:prstGeom prst="rect">
            <a:avLst/>
          </a:prstGeom>
          <a:noFill/>
        </p:spPr>
        <p:txBody>
          <a:bodyPr wrap="square" lIns="0" rIns="0" tIns="0" bIns="0">
            <a:spAutoFit/>
          </a:bodyPr>
          <a:lstStyle/>
          <a:p>
            <a:pPr algn="l">
              <a:lnSpc>
                <a:spcPct val="140000"/>
              </a:lnSpc>
            </a:pPr>
            <a:r>
              <a:rPr sz="1200" b="1" i="0">
                <a:solidFill>
                  <a:srgbClr val="0C1408"/>
                </a:solidFill>
                <a:latin typeface="Segoe UI"/>
              </a:rPr>
              <a:t>The rotation is the product. Remove it and what remains is a savings account with a marketing name. Nobody receives a lump sum early, which is the only reason anybody joins a committee.</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777240" y="566928"/>
            <a:ext cx="10637215" cy="219456"/>
          </a:xfrm>
          <a:prstGeom prst="rect">
            <a:avLst/>
          </a:prstGeom>
          <a:noFill/>
        </p:spPr>
        <p:txBody>
          <a:bodyPr wrap="square" lIns="0" rIns="0" tIns="0" bIns="0">
            <a:spAutoFit/>
          </a:bodyPr>
          <a:lstStyle/>
          <a:p>
            <a:pPr algn="l">
              <a:lnSpc>
                <a:spcPct val="125000"/>
              </a:lnSpc>
            </a:pPr>
            <a:r>
              <a:rPr sz="950" b="1" i="0">
                <a:solidFill>
                  <a:srgbClr val="41801A"/>
                </a:solidFill>
                <a:latin typeface="Segoe UI"/>
              </a:rPr>
              <a:t>0  WHAT HAS BEEN TRIED</a:t>
            </a:r>
          </a:p>
        </p:txBody>
      </p:sp>
      <p:sp>
        <p:nvSpPr>
          <p:cNvPr id="3" name="TextBox 2"/>
          <p:cNvSpPr txBox="1"/>
          <p:nvPr/>
        </p:nvSpPr>
        <p:spPr>
          <a:xfrm>
            <a:off x="777240" y="841248"/>
            <a:ext cx="10637215" cy="502920"/>
          </a:xfrm>
          <a:prstGeom prst="rect">
            <a:avLst/>
          </a:prstGeom>
          <a:noFill/>
        </p:spPr>
        <p:txBody>
          <a:bodyPr wrap="square" lIns="0" rIns="0" tIns="0" bIns="0">
            <a:spAutoFit/>
          </a:bodyPr>
          <a:lstStyle/>
          <a:p>
            <a:pPr algn="l">
              <a:lnSpc>
                <a:spcPct val="125000"/>
              </a:lnSpc>
            </a:pPr>
            <a:r>
              <a:rPr sz="2700" b="1" i="0">
                <a:solidFill>
                  <a:srgbClr val="0C1408"/>
                </a:solidFill>
                <a:latin typeface="Segoe UI"/>
              </a:rPr>
              <a:t>Pakistan</a:t>
            </a:r>
          </a:p>
        </p:txBody>
      </p:sp>
      <p:sp>
        <p:nvSpPr>
          <p:cNvPr id="4" name="Rectangle 3"/>
          <p:cNvSpPr/>
          <p:nvPr/>
        </p:nvSpPr>
        <p:spPr>
          <a:xfrm>
            <a:off x="777240" y="1417320"/>
            <a:ext cx="1371600" cy="22860"/>
          </a:xfrm>
          <a:prstGeom prst="rect">
            <a:avLst/>
          </a:prstGeom>
          <a:solidFill>
            <a:srgbClr val="6DC72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777240" y="6382512"/>
            <a:ext cx="3657600" cy="228600"/>
          </a:xfrm>
          <a:prstGeom prst="rect">
            <a:avLst/>
          </a:prstGeom>
          <a:noFill/>
        </p:spPr>
        <p:txBody>
          <a:bodyPr wrap="square" lIns="0" rIns="0" tIns="0" bIns="0">
            <a:spAutoFit/>
          </a:bodyPr>
          <a:lstStyle/>
          <a:p>
            <a:pPr algn="l">
              <a:lnSpc>
                <a:spcPct val="125000"/>
              </a:lnSpc>
            </a:pPr>
            <a:r>
              <a:rPr sz="900" b="0" i="0">
                <a:solidFill>
                  <a:srgbClr val="9AA694"/>
                </a:solidFill>
                <a:latin typeface="Segoe UI"/>
              </a:rPr>
              <a:t>Halqa  ·  Confidential</a:t>
            </a:r>
          </a:p>
        </p:txBody>
      </p:sp>
      <p:sp>
        <p:nvSpPr>
          <p:cNvPr id="6" name="TextBox 5"/>
          <p:cNvSpPr txBox="1"/>
          <p:nvPr/>
        </p:nvSpPr>
        <p:spPr>
          <a:xfrm>
            <a:off x="10728655" y="6382512"/>
            <a:ext cx="685800" cy="228600"/>
          </a:xfrm>
          <a:prstGeom prst="rect">
            <a:avLst/>
          </a:prstGeom>
          <a:noFill/>
        </p:spPr>
        <p:txBody>
          <a:bodyPr wrap="square" lIns="0" rIns="0" tIns="0" bIns="0">
            <a:spAutoFit/>
          </a:bodyPr>
          <a:lstStyle/>
          <a:p>
            <a:pPr algn="r">
              <a:lnSpc>
                <a:spcPct val="125000"/>
              </a:lnSpc>
            </a:pPr>
            <a:r>
              <a:rPr sz="900" b="0" i="0">
                <a:solidFill>
                  <a:srgbClr val="6F7B68"/>
                </a:solidFill>
                <a:latin typeface="Segoe UI"/>
              </a:rPr>
              <a:t>7</a:t>
            </a:r>
          </a:p>
        </p:txBody>
      </p:sp>
      <p:graphicFrame>
        <p:nvGraphicFramePr>
          <p:cNvPr id="7" name="Table 6"/>
          <p:cNvGraphicFramePr>
            <a:graphicFrameLocks noGrp="1"/>
          </p:cNvGraphicFramePr>
          <p:nvPr/>
        </p:nvGraphicFramePr>
        <p:xfrm>
          <a:off x="777240" y="1965960"/>
          <a:ext cx="10607039" cy="3506904"/>
        </p:xfrm>
        <a:graphic>
          <a:graphicData uri="http://schemas.openxmlformats.org/drawingml/2006/table">
            <a:tbl>
              <a:tblPr>
                <a:tableStyleId>{5C22544A-7EE6-4342-B048-85BDC9FD1C3A}</a:tableStyleId>
              </a:tblPr>
              <a:tblGrid>
                <a:gridCol w="1920240"/>
                <a:gridCol w="1737360"/>
                <a:gridCol w="3200400"/>
                <a:gridCol w="3749039"/>
              </a:tblGrid>
              <a:tr h="584484">
                <a:tc>
                  <a:txBody>
                    <a:bodyPr wrap="square"/>
                    <a:lstStyle/>
                    <a:p>
                      <a:r>
                        <a:rPr sz="850" b="1">
                          <a:solidFill>
                            <a:srgbClr val="41801A"/>
                          </a:solidFill>
                          <a:latin typeface="Segoe UI"/>
                        </a:rPr>
                        <a:t>OPERATOR</a:t>
                      </a:r>
                    </a:p>
                  </a:txBody>
                  <a:tcPr marL="45720" marR="109728" marT="27432" marB="27432" anchor="ctr">
                    <a:lnB w="9525" cap="flat" cmpd="sng" algn="ctr">
                      <a:solidFill>
                        <a:srgbClr val="41801A"/>
                      </a:solidFill>
                    </a:lnB>
                    <a:solidFill>
                      <a:srgbClr val="FFFFFF"/>
                    </a:solidFill>
                  </a:tcPr>
                </a:tc>
                <a:tc>
                  <a:txBody>
                    <a:bodyPr wrap="square"/>
                    <a:lstStyle/>
                    <a:p>
                      <a:r>
                        <a:rPr sz="850" b="1">
                          <a:solidFill>
                            <a:srgbClr val="41801A"/>
                          </a:solidFill>
                          <a:latin typeface="Segoe UI"/>
                        </a:rPr>
                        <a:t>PERIOD</a:t>
                      </a:r>
                    </a:p>
                  </a:txBody>
                  <a:tcPr marL="45720" marR="109728" marT="27432" marB="27432" anchor="ctr">
                    <a:lnB w="9525" cap="flat" cmpd="sng" algn="ctr">
                      <a:solidFill>
                        <a:srgbClr val="41801A"/>
                      </a:solidFill>
                    </a:lnB>
                    <a:solidFill>
                      <a:srgbClr val="FFFFFF"/>
                    </a:solidFill>
                  </a:tcPr>
                </a:tc>
                <a:tc>
                  <a:txBody>
                    <a:bodyPr wrap="square"/>
                    <a:lstStyle/>
                    <a:p>
                      <a:r>
                        <a:rPr sz="850" b="1">
                          <a:solidFill>
                            <a:srgbClr val="41801A"/>
                          </a:solidFill>
                          <a:latin typeface="Segoe UI"/>
                        </a:rPr>
                        <a:t>REPORTED SCALE</a:t>
                      </a:r>
                    </a:p>
                  </a:txBody>
                  <a:tcPr marL="45720" marR="109728" marT="27432" marB="27432" anchor="ctr">
                    <a:lnB w="9525" cap="flat" cmpd="sng" algn="ctr">
                      <a:solidFill>
                        <a:srgbClr val="41801A"/>
                      </a:solidFill>
                    </a:lnB>
                    <a:solidFill>
                      <a:srgbClr val="FFFFFF"/>
                    </a:solidFill>
                  </a:tcPr>
                </a:tc>
                <a:tc>
                  <a:txBody>
                    <a:bodyPr wrap="square"/>
                    <a:lstStyle/>
                    <a:p>
                      <a:r>
                        <a:rPr sz="850" b="1">
                          <a:solidFill>
                            <a:srgbClr val="41801A"/>
                          </a:solidFill>
                          <a:latin typeface="Segoe UI"/>
                        </a:rPr>
                        <a:t>STRUCTURE AND OUTCOME</a:t>
                      </a:r>
                    </a:p>
                  </a:txBody>
                  <a:tcPr marL="45720" marR="109728" marT="27432" marB="27432" anchor="ctr">
                    <a:lnB w="9525" cap="flat" cmpd="sng" algn="ctr">
                      <a:solidFill>
                        <a:srgbClr val="41801A"/>
                      </a:solidFill>
                    </a:lnB>
                    <a:solidFill>
                      <a:srgbClr val="FFFFFF"/>
                    </a:solidFill>
                  </a:tcPr>
                </a:tc>
              </a:tr>
              <a:tr h="584484">
                <a:tc>
                  <a:txBody>
                    <a:bodyPr wrap="square"/>
                    <a:lstStyle/>
                    <a:p>
                      <a:r>
                        <a:rPr sz="850" b="0">
                          <a:solidFill>
                            <a:srgbClr val="26301F"/>
                          </a:solidFill>
                          <a:latin typeface="Segoe UI"/>
                        </a:rPr>
                        <a:t>UBL Kommittee Account</a:t>
                      </a:r>
                    </a:p>
                  </a:txBody>
                  <a:tcPr marL="45720" marR="109728" marT="27432" marB="27432" anchor="ctr">
                    <a:lnB w="9525" cap="flat" cmpd="sng" algn="ctr">
                      <a:solidFill>
                        <a:srgbClr val="DCE3D6"/>
                      </a:solidFill>
                    </a:lnB>
                    <a:solidFill>
                      <a:srgbClr val="FFFFFF"/>
                    </a:solidFill>
                  </a:tcPr>
                </a:tc>
                <a:tc>
                  <a:txBody>
                    <a:bodyPr wrap="square"/>
                    <a:lstStyle/>
                    <a:p>
                      <a:r>
                        <a:rPr sz="850" b="0">
                          <a:solidFill>
                            <a:srgbClr val="26301F"/>
                          </a:solidFill>
                          <a:latin typeface="Segoe UI"/>
                        </a:rPr>
                        <a:t>Current</a:t>
                      </a:r>
                    </a:p>
                  </a:txBody>
                  <a:tcPr marL="45720" marR="109728" marT="27432" marB="27432" anchor="ctr">
                    <a:lnB w="9525" cap="flat" cmpd="sng" algn="ctr">
                      <a:solidFill>
                        <a:srgbClr val="DCE3D6"/>
                      </a:solidFill>
                    </a:lnB>
                    <a:solidFill>
                      <a:srgbClr val="FFFFFF"/>
                    </a:solidFill>
                  </a:tcPr>
                </a:tc>
                <a:tc>
                  <a:txBody>
                    <a:bodyPr wrap="square"/>
                    <a:lstStyle/>
                    <a:p>
                      <a:r>
                        <a:rPr sz="850" b="0">
                          <a:solidFill>
                            <a:srgbClr val="26301F"/>
                          </a:solidFill>
                          <a:latin typeface="Segoe UI"/>
                        </a:rPr>
                        <a:t>Rs 5,000 to Rs 1,000,000 a month, terms of twelve to twenty four months</a:t>
                      </a:r>
                    </a:p>
                  </a:txBody>
                  <a:tcPr marL="45720" marR="109728" marT="27432" marB="27432" anchor="ctr">
                    <a:lnB w="9525" cap="flat" cmpd="sng" algn="ctr">
                      <a:solidFill>
                        <a:srgbClr val="DCE3D6"/>
                      </a:solidFill>
                    </a:lnB>
                    <a:solidFill>
                      <a:srgbClr val="FFFFFF"/>
                    </a:solidFill>
                  </a:tcPr>
                </a:tc>
                <a:tc>
                  <a:txBody>
                    <a:bodyPr wrap="square"/>
                    <a:lstStyle/>
                    <a:p>
                      <a:r>
                        <a:rPr sz="850" b="0">
                          <a:solidFill>
                            <a:srgbClr val="26301F"/>
                          </a:solidFill>
                          <a:latin typeface="Segoe UI"/>
                        </a:rPr>
                        <a:t>A bank deposit carrying the committee name. Full custody, no rotation between members</a:t>
                      </a:r>
                    </a:p>
                  </a:txBody>
                  <a:tcPr marL="45720" marR="109728" marT="27432" marB="27432" anchor="ctr">
                    <a:lnB w="9525" cap="flat" cmpd="sng" algn="ctr">
                      <a:solidFill>
                        <a:srgbClr val="DCE3D6"/>
                      </a:solidFill>
                    </a:lnB>
                    <a:solidFill>
                      <a:srgbClr val="FFFFFF"/>
                    </a:solidFill>
                  </a:tcPr>
                </a:tc>
              </a:tr>
              <a:tr h="584484">
                <a:tc>
                  <a:txBody>
                    <a:bodyPr wrap="square"/>
                    <a:lstStyle/>
                    <a:p>
                      <a:r>
                        <a:rPr sz="850" b="0">
                          <a:solidFill>
                            <a:srgbClr val="26301F"/>
                          </a:solidFill>
                          <a:latin typeface="Segoe UI"/>
                        </a:rPr>
                        <a:t>Oraan</a:t>
                      </a:r>
                    </a:p>
                  </a:txBody>
                  <a:tcPr marL="45720" marR="109728" marT="27432" marB="27432" anchor="ctr">
                    <a:lnB w="9525" cap="flat" cmpd="sng" algn="ctr">
                      <a:solidFill>
                        <a:srgbClr val="DCE3D6"/>
                      </a:solidFill>
                    </a:lnB>
                    <a:solidFill>
                      <a:srgbClr val="FFFFFF"/>
                    </a:solidFill>
                  </a:tcPr>
                </a:tc>
                <a:tc>
                  <a:txBody>
                    <a:bodyPr wrap="square"/>
                    <a:lstStyle/>
                    <a:p>
                      <a:r>
                        <a:rPr sz="850" b="0">
                          <a:solidFill>
                            <a:srgbClr val="26301F"/>
                          </a:solidFill>
                          <a:latin typeface="Segoe UI"/>
                        </a:rPr>
                        <a:t>Founded 2018, USD 3m seed in 2021</a:t>
                      </a:r>
                    </a:p>
                  </a:txBody>
                  <a:tcPr marL="45720" marR="109728" marT="27432" marB="27432" anchor="ctr">
                    <a:lnB w="9525" cap="flat" cmpd="sng" algn="ctr">
                      <a:solidFill>
                        <a:srgbClr val="DCE3D6"/>
                      </a:solidFill>
                    </a:lnB>
                    <a:solidFill>
                      <a:srgbClr val="FFFFFF"/>
                    </a:solidFill>
                  </a:tcPr>
                </a:tc>
                <a:tc>
                  <a:txBody>
                    <a:bodyPr wrap="square"/>
                    <a:lstStyle/>
                    <a:p>
                      <a:r>
                        <a:rPr sz="850" b="0">
                          <a:solidFill>
                            <a:srgbClr val="26301F"/>
                          </a:solidFill>
                          <a:latin typeface="Segoe UI"/>
                        </a:rPr>
                        <a:t>Its own research put participation at 41 per cent of Pakistanis and about USD 5bn rotating annually</a:t>
                      </a:r>
                    </a:p>
                  </a:txBody>
                  <a:tcPr marL="45720" marR="109728" marT="27432" marB="27432" anchor="ctr">
                    <a:lnB w="9525" cap="flat" cmpd="sng" algn="ctr">
                      <a:solidFill>
                        <a:srgbClr val="DCE3D6"/>
                      </a:solidFill>
                    </a:lnB>
                    <a:solidFill>
                      <a:srgbClr val="FFFFFF"/>
                    </a:solidFill>
                  </a:tcPr>
                </a:tc>
                <a:tc>
                  <a:txBody>
                    <a:bodyPr wrap="square"/>
                    <a:lstStyle/>
                    <a:p>
                      <a:r>
                        <a:rPr sz="850" b="0">
                          <a:solidFill>
                            <a:srgbClr val="26301F"/>
                          </a:solidFill>
                          <a:latin typeface="Segoe UI"/>
                        </a:rPr>
                        <a:t>Platform custody. The operator collects contributions and disburses pots. Strangers pooled and vetted, women weighted</a:t>
                      </a:r>
                    </a:p>
                  </a:txBody>
                  <a:tcPr marL="45720" marR="109728" marT="27432" marB="27432" anchor="ctr">
                    <a:lnB w="9525" cap="flat" cmpd="sng" algn="ctr">
                      <a:solidFill>
                        <a:srgbClr val="DCE3D6"/>
                      </a:solidFill>
                    </a:lnB>
                    <a:solidFill>
                      <a:srgbClr val="FFFFFF"/>
                    </a:solidFill>
                  </a:tcPr>
                </a:tc>
              </a:tr>
              <a:tr h="584484">
                <a:tc>
                  <a:txBody>
                    <a:bodyPr wrap="square"/>
                    <a:lstStyle/>
                    <a:p>
                      <a:r>
                        <a:rPr sz="850" b="0">
                          <a:solidFill>
                            <a:srgbClr val="26301F"/>
                          </a:solidFill>
                          <a:latin typeface="Segoe UI"/>
                        </a:rPr>
                        <a:t>Udhaar Book</a:t>
                      </a:r>
                    </a:p>
                  </a:txBody>
                  <a:tcPr marL="45720" marR="109728" marT="27432" marB="27432" anchor="ctr">
                    <a:lnB w="9525" cap="flat" cmpd="sng" algn="ctr">
                      <a:solidFill>
                        <a:srgbClr val="DCE3D6"/>
                      </a:solidFill>
                    </a:lnB>
                    <a:solidFill>
                      <a:srgbClr val="FFFFFF"/>
                    </a:solidFill>
                  </a:tcPr>
                </a:tc>
                <a:tc>
                  <a:txBody>
                    <a:bodyPr wrap="square"/>
                    <a:lstStyle/>
                    <a:p>
                      <a:r>
                        <a:rPr sz="850" b="0">
                          <a:solidFill>
                            <a:srgbClr val="26301F"/>
                          </a:solidFill>
                          <a:latin typeface="Segoe UI"/>
                        </a:rPr>
                        <a:t>Current</a:t>
                      </a:r>
                    </a:p>
                  </a:txBody>
                  <a:tcPr marL="45720" marR="109728" marT="27432" marB="27432" anchor="ctr">
                    <a:lnB w="9525" cap="flat" cmpd="sng" algn="ctr">
                      <a:solidFill>
                        <a:srgbClr val="DCE3D6"/>
                      </a:solidFill>
                    </a:lnB>
                    <a:solidFill>
                      <a:srgbClr val="FFFFFF"/>
                    </a:solidFill>
                  </a:tcPr>
                </a:tc>
                <a:tc>
                  <a:txBody>
                    <a:bodyPr wrap="square"/>
                    <a:lstStyle/>
                    <a:p>
                      <a:r>
                        <a:rPr sz="850" b="0">
                          <a:solidFill>
                            <a:srgbClr val="26301F"/>
                          </a:solidFill>
                          <a:latin typeface="Segoe UI"/>
                        </a:rPr>
                        <a:t>A committee register inside a digital ledger application used by retailers</a:t>
                      </a:r>
                    </a:p>
                  </a:txBody>
                  <a:tcPr marL="45720" marR="109728" marT="27432" marB="27432" anchor="ctr">
                    <a:lnB w="9525" cap="flat" cmpd="sng" algn="ctr">
                      <a:solidFill>
                        <a:srgbClr val="DCE3D6"/>
                      </a:solidFill>
                    </a:lnB>
                    <a:solidFill>
                      <a:srgbClr val="FFFFFF"/>
                    </a:solidFill>
                  </a:tcPr>
                </a:tc>
                <a:tc>
                  <a:txBody>
                    <a:bodyPr wrap="square"/>
                    <a:lstStyle/>
                    <a:p>
                      <a:r>
                        <a:rPr sz="850" b="0">
                          <a:solidFill>
                            <a:srgbClr val="26301F"/>
                          </a:solidFill>
                          <a:latin typeface="Segoe UI"/>
                        </a:rPr>
                        <a:t>No money moves through the application. The organiser records who has paid. It records an assertion, not a settlement</a:t>
                      </a:r>
                    </a:p>
                  </a:txBody>
                  <a:tcPr marL="45720" marR="109728" marT="27432" marB="27432" anchor="ctr">
                    <a:lnB w="9525" cap="flat" cmpd="sng" algn="ctr">
                      <a:solidFill>
                        <a:srgbClr val="DCE3D6"/>
                      </a:solidFill>
                    </a:lnB>
                    <a:solidFill>
                      <a:srgbClr val="FFFFFF"/>
                    </a:solidFill>
                  </a:tcPr>
                </a:tc>
              </a:tr>
              <a:tr h="584484">
                <a:tc>
                  <a:txBody>
                    <a:bodyPr wrap="square"/>
                    <a:lstStyle/>
                    <a:p>
                      <a:r>
                        <a:rPr sz="850" b="0">
                          <a:solidFill>
                            <a:srgbClr val="26301F"/>
                          </a:solidFill>
                          <a:latin typeface="Segoe UI"/>
                        </a:rPr>
                        <a:t>DigiKhata</a:t>
                      </a:r>
                    </a:p>
                  </a:txBody>
                  <a:tcPr marL="45720" marR="109728" marT="27432" marB="27432" anchor="ctr">
                    <a:lnB w="9525" cap="flat" cmpd="sng" algn="ctr">
                      <a:solidFill>
                        <a:srgbClr val="DCE3D6"/>
                      </a:solidFill>
                    </a:lnB>
                    <a:solidFill>
                      <a:srgbClr val="FFFFFF"/>
                    </a:solidFill>
                  </a:tcPr>
                </a:tc>
                <a:tc>
                  <a:txBody>
                    <a:bodyPr wrap="square"/>
                    <a:lstStyle/>
                    <a:p>
                      <a:r>
                        <a:rPr sz="850" b="0">
                          <a:solidFill>
                            <a:srgbClr val="26301F"/>
                          </a:solidFill>
                          <a:latin typeface="Segoe UI"/>
                        </a:rPr>
                        <a:t>Current</a:t>
                      </a:r>
                    </a:p>
                  </a:txBody>
                  <a:tcPr marL="45720" marR="109728" marT="27432" marB="27432" anchor="ctr">
                    <a:lnB w="9525" cap="flat" cmpd="sng" algn="ctr">
                      <a:solidFill>
                        <a:srgbClr val="DCE3D6"/>
                      </a:solidFill>
                    </a:lnB>
                    <a:solidFill>
                      <a:srgbClr val="FFFFFF"/>
                    </a:solidFill>
                  </a:tcPr>
                </a:tc>
                <a:tc>
                  <a:txBody>
                    <a:bodyPr wrap="square"/>
                    <a:lstStyle/>
                    <a:p>
                      <a:r>
                        <a:rPr sz="850" b="0">
                          <a:solidFill>
                            <a:srgbClr val="26301F"/>
                          </a:solidFill>
                          <a:latin typeface="Segoe UI"/>
                        </a:rPr>
                        <a:t>A competing ledger application with the same feature</a:t>
                      </a:r>
                    </a:p>
                  </a:txBody>
                  <a:tcPr marL="45720" marR="109728" marT="27432" marB="27432" anchor="ctr">
                    <a:lnB w="9525" cap="flat" cmpd="sng" algn="ctr">
                      <a:solidFill>
                        <a:srgbClr val="DCE3D6"/>
                      </a:solidFill>
                    </a:lnB>
                    <a:solidFill>
                      <a:srgbClr val="FFFFFF"/>
                    </a:solidFill>
                  </a:tcPr>
                </a:tc>
                <a:tc>
                  <a:txBody>
                    <a:bodyPr wrap="square"/>
                    <a:lstStyle/>
                    <a:p>
                      <a:r>
                        <a:rPr sz="850" b="0">
                          <a:solidFill>
                            <a:srgbClr val="26301F"/>
                          </a:solidFill>
                          <a:latin typeface="Segoe UI"/>
                        </a:rPr>
                        <a:t>Architecturally identical. Two independent Pakistani applications with real distribution stopped at exactly the same wall</a:t>
                      </a:r>
                    </a:p>
                  </a:txBody>
                  <a:tcPr marL="45720" marR="109728" marT="27432" marB="27432" anchor="ctr">
                    <a:lnB w="9525" cap="flat" cmpd="sng" algn="ctr">
                      <a:solidFill>
                        <a:srgbClr val="DCE3D6"/>
                      </a:solidFill>
                    </a:lnB>
                    <a:solidFill>
                      <a:srgbClr val="FFFFFF"/>
                    </a:solidFill>
                  </a:tcPr>
                </a:tc>
              </a:tr>
              <a:tr h="584484">
                <a:tc>
                  <a:txBody>
                    <a:bodyPr wrap="square"/>
                    <a:lstStyle/>
                    <a:p>
                      <a:r>
                        <a:rPr sz="850" b="0">
                          <a:solidFill>
                            <a:srgbClr val="26301F"/>
                          </a:solidFill>
                          <a:latin typeface="Segoe UI"/>
                        </a:rPr>
                        <a:t>Sidra Humaid committees</a:t>
                      </a:r>
                    </a:p>
                  </a:txBody>
                  <a:tcPr marL="45720" marR="109728" marT="27432" marB="27432" anchor="ctr">
                    <a:lnB w="9525" cap="flat" cmpd="sng" algn="ctr">
                      <a:solidFill>
                        <a:srgbClr val="DCE3D6"/>
                      </a:solidFill>
                    </a:lnB>
                    <a:solidFill>
                      <a:srgbClr val="FFFFFF"/>
                    </a:solidFill>
                  </a:tcPr>
                </a:tc>
                <a:tc>
                  <a:txBody>
                    <a:bodyPr wrap="square"/>
                    <a:lstStyle/>
                    <a:p>
                      <a:r>
                        <a:rPr sz="850" b="0">
                          <a:solidFill>
                            <a:srgbClr val="26301F"/>
                          </a:solidFill>
                          <a:latin typeface="Segoe UI"/>
                        </a:rPr>
                        <a:t>Roughly seven to ten years, ending December 2022</a:t>
                      </a:r>
                    </a:p>
                  </a:txBody>
                  <a:tcPr marL="45720" marR="109728" marT="27432" marB="27432" anchor="ctr">
                    <a:lnB w="9525" cap="flat" cmpd="sng" algn="ctr">
                      <a:solidFill>
                        <a:srgbClr val="DCE3D6"/>
                      </a:solidFill>
                    </a:lnB>
                    <a:solidFill>
                      <a:srgbClr val="FFFFFF"/>
                    </a:solidFill>
                  </a:tcPr>
                </a:tc>
                <a:tc>
                  <a:txBody>
                    <a:bodyPr wrap="square"/>
                    <a:lstStyle/>
                    <a:p>
                      <a:r>
                        <a:rPr sz="850" b="0">
                          <a:solidFill>
                            <a:srgbClr val="26301F"/>
                          </a:solidFill>
                          <a:latin typeface="Segoe UI"/>
                        </a:rPr>
                        <a:t>About Rs 420 million owed across 117 committees and roughly 200 contributors, with no written records</a:t>
                      </a:r>
                    </a:p>
                  </a:txBody>
                  <a:tcPr marL="45720" marR="109728" marT="27432" marB="27432" anchor="ctr">
                    <a:lnB w="9525" cap="flat" cmpd="sng" algn="ctr">
                      <a:solidFill>
                        <a:srgbClr val="DCE3D6"/>
                      </a:solidFill>
                    </a:lnB>
                    <a:solidFill>
                      <a:srgbClr val="FFFFFF"/>
                    </a:solidFill>
                  </a:tcPr>
                </a:tc>
                <a:tc>
                  <a:txBody>
                    <a:bodyPr wrap="square"/>
                    <a:lstStyle/>
                    <a:p>
                      <a:r>
                        <a:rPr sz="850" b="0">
                          <a:solidFill>
                            <a:srgbClr val="26301F"/>
                          </a:solidFill>
                          <a:latin typeface="Segoe UI"/>
                        </a:rPr>
                        <a:t>Total concentrated custody. Members from social media wired money to one individual. She announced she could not pay and went into hiding</a:t>
                      </a:r>
                    </a:p>
                  </a:txBody>
                  <a:tcPr marL="45720" marR="109728" marT="27432" marB="27432" anchor="ctr">
                    <a:lnB w="9525" cap="flat" cmpd="sng" algn="ctr">
                      <a:solidFill>
                        <a:srgbClr val="DCE3D6"/>
                      </a:solidFill>
                    </a:lnB>
                    <a:solidFill>
                      <a:srgbClr val="FFFFFF"/>
                    </a:solidFill>
                  </a:tcPr>
                </a:tc>
              </a:tr>
            </a:tbl>
          </a:graphicData>
        </a:graphic>
      </p:graphicFrame>
      <p:sp>
        <p:nvSpPr>
          <p:cNvPr id="8" name="TextBox 7"/>
          <p:cNvSpPr txBox="1"/>
          <p:nvPr/>
        </p:nvSpPr>
        <p:spPr>
          <a:xfrm>
            <a:off x="777240" y="5655744"/>
            <a:ext cx="10637215" cy="731520"/>
          </a:xfrm>
          <a:prstGeom prst="rect">
            <a:avLst/>
          </a:prstGeom>
          <a:noFill/>
        </p:spPr>
        <p:txBody>
          <a:bodyPr wrap="square" lIns="0" rIns="0" tIns="0" bIns="0">
            <a:spAutoFit/>
          </a:bodyPr>
          <a:lstStyle/>
          <a:p>
            <a:pPr algn="l">
              <a:lnSpc>
                <a:spcPct val="140000"/>
              </a:lnSpc>
            </a:pPr>
            <a:r>
              <a:rPr sz="1200" b="1" i="0">
                <a:solidFill>
                  <a:srgbClr val="0C1408"/>
                </a:solidFill>
                <a:latin typeface="Segoe UI"/>
              </a:rPr>
              <a:t>Two failure modes and nothing in between. Hold the money and carry either a licence or the fraud risk, or hold nothing and record only an assertion. Halqa is the third option: hold nothing and record a settlement.</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777240" y="566928"/>
            <a:ext cx="10637215" cy="219456"/>
          </a:xfrm>
          <a:prstGeom prst="rect">
            <a:avLst/>
          </a:prstGeom>
          <a:noFill/>
        </p:spPr>
        <p:txBody>
          <a:bodyPr wrap="square" lIns="0" rIns="0" tIns="0" bIns="0">
            <a:spAutoFit/>
          </a:bodyPr>
          <a:lstStyle/>
          <a:p>
            <a:pPr algn="l">
              <a:lnSpc>
                <a:spcPct val="125000"/>
              </a:lnSpc>
            </a:pPr>
            <a:r>
              <a:rPr sz="950" b="1" i="0">
                <a:solidFill>
                  <a:srgbClr val="41801A"/>
                </a:solidFill>
                <a:latin typeface="Segoe UI"/>
              </a:rPr>
              <a:t>0  WHAT HAS BEEN TRIED</a:t>
            </a:r>
          </a:p>
        </p:txBody>
      </p:sp>
      <p:sp>
        <p:nvSpPr>
          <p:cNvPr id="3" name="TextBox 2"/>
          <p:cNvSpPr txBox="1"/>
          <p:nvPr/>
        </p:nvSpPr>
        <p:spPr>
          <a:xfrm>
            <a:off x="777240" y="841248"/>
            <a:ext cx="10637215" cy="502920"/>
          </a:xfrm>
          <a:prstGeom prst="rect">
            <a:avLst/>
          </a:prstGeom>
          <a:noFill/>
        </p:spPr>
        <p:txBody>
          <a:bodyPr wrap="square" lIns="0" rIns="0" tIns="0" bIns="0">
            <a:spAutoFit/>
          </a:bodyPr>
          <a:lstStyle/>
          <a:p>
            <a:pPr algn="l">
              <a:lnSpc>
                <a:spcPct val="125000"/>
              </a:lnSpc>
            </a:pPr>
            <a:r>
              <a:rPr sz="2700" b="1" i="0">
                <a:solidFill>
                  <a:srgbClr val="0C1408"/>
                </a:solidFill>
                <a:latin typeface="Segoe UI"/>
              </a:rPr>
              <a:t>The rest of the world</a:t>
            </a:r>
          </a:p>
        </p:txBody>
      </p:sp>
      <p:sp>
        <p:nvSpPr>
          <p:cNvPr id="4" name="Rectangle 3"/>
          <p:cNvSpPr/>
          <p:nvPr/>
        </p:nvSpPr>
        <p:spPr>
          <a:xfrm>
            <a:off x="777240" y="1417320"/>
            <a:ext cx="1371600" cy="22860"/>
          </a:xfrm>
          <a:prstGeom prst="rect">
            <a:avLst/>
          </a:prstGeom>
          <a:solidFill>
            <a:srgbClr val="6DC72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777240" y="6382512"/>
            <a:ext cx="3657600" cy="228600"/>
          </a:xfrm>
          <a:prstGeom prst="rect">
            <a:avLst/>
          </a:prstGeom>
          <a:noFill/>
        </p:spPr>
        <p:txBody>
          <a:bodyPr wrap="square" lIns="0" rIns="0" tIns="0" bIns="0">
            <a:spAutoFit/>
          </a:bodyPr>
          <a:lstStyle/>
          <a:p>
            <a:pPr algn="l">
              <a:lnSpc>
                <a:spcPct val="125000"/>
              </a:lnSpc>
            </a:pPr>
            <a:r>
              <a:rPr sz="900" b="0" i="0">
                <a:solidFill>
                  <a:srgbClr val="9AA694"/>
                </a:solidFill>
                <a:latin typeface="Segoe UI"/>
              </a:rPr>
              <a:t>Halqa  ·  Confidential</a:t>
            </a:r>
          </a:p>
        </p:txBody>
      </p:sp>
      <p:sp>
        <p:nvSpPr>
          <p:cNvPr id="6" name="TextBox 5"/>
          <p:cNvSpPr txBox="1"/>
          <p:nvPr/>
        </p:nvSpPr>
        <p:spPr>
          <a:xfrm>
            <a:off x="10728655" y="6382512"/>
            <a:ext cx="685800" cy="228600"/>
          </a:xfrm>
          <a:prstGeom prst="rect">
            <a:avLst/>
          </a:prstGeom>
          <a:noFill/>
        </p:spPr>
        <p:txBody>
          <a:bodyPr wrap="square" lIns="0" rIns="0" tIns="0" bIns="0">
            <a:spAutoFit/>
          </a:bodyPr>
          <a:lstStyle/>
          <a:p>
            <a:pPr algn="r">
              <a:lnSpc>
                <a:spcPct val="125000"/>
              </a:lnSpc>
            </a:pPr>
            <a:r>
              <a:rPr sz="900" b="0" i="0">
                <a:solidFill>
                  <a:srgbClr val="6F7B68"/>
                </a:solidFill>
                <a:latin typeface="Segoe UI"/>
              </a:rPr>
              <a:t>8</a:t>
            </a:r>
          </a:p>
        </p:txBody>
      </p:sp>
      <p:graphicFrame>
        <p:nvGraphicFramePr>
          <p:cNvPr id="7" name="Table 6"/>
          <p:cNvGraphicFramePr>
            <a:graphicFrameLocks noGrp="1"/>
          </p:cNvGraphicFramePr>
          <p:nvPr/>
        </p:nvGraphicFramePr>
        <p:xfrm>
          <a:off x="777240" y="1965960"/>
          <a:ext cx="10607040" cy="3619658"/>
        </p:xfrm>
        <a:graphic>
          <a:graphicData uri="http://schemas.openxmlformats.org/drawingml/2006/table">
            <a:tbl>
              <a:tblPr>
                <a:tableStyleId>{5C22544A-7EE6-4342-B048-85BDC9FD1C3A}</a:tableStyleId>
              </a:tblPr>
              <a:tblGrid>
                <a:gridCol w="2011680"/>
                <a:gridCol w="1737360"/>
                <a:gridCol w="3291840"/>
                <a:gridCol w="3566160"/>
              </a:tblGrid>
              <a:tr h="258547">
                <a:tc>
                  <a:txBody>
                    <a:bodyPr wrap="square"/>
                    <a:lstStyle/>
                    <a:p>
                      <a:r>
                        <a:rPr sz="700" b="1">
                          <a:solidFill>
                            <a:srgbClr val="41801A"/>
                          </a:solidFill>
                          <a:latin typeface="Segoe UI"/>
                        </a:rPr>
                        <a:t>OPERATOR</a:t>
                      </a:r>
                    </a:p>
                  </a:txBody>
                  <a:tcPr marL="45720" marR="109728" marT="27432" marB="27432" anchor="ctr">
                    <a:lnB w="9525" cap="flat" cmpd="sng" algn="ctr">
                      <a:solidFill>
                        <a:srgbClr val="41801A"/>
                      </a:solidFill>
                    </a:lnB>
                    <a:solidFill>
                      <a:srgbClr val="FFFFFF"/>
                    </a:solidFill>
                  </a:tcPr>
                </a:tc>
                <a:tc>
                  <a:txBody>
                    <a:bodyPr wrap="square"/>
                    <a:lstStyle/>
                    <a:p>
                      <a:r>
                        <a:rPr sz="700" b="1">
                          <a:solidFill>
                            <a:srgbClr val="41801A"/>
                          </a:solidFill>
                          <a:latin typeface="Segoe UI"/>
                        </a:rPr>
                        <a:t>MARKET</a:t>
                      </a:r>
                    </a:p>
                  </a:txBody>
                  <a:tcPr marL="45720" marR="109728" marT="27432" marB="27432" anchor="ctr">
                    <a:lnB w="9525" cap="flat" cmpd="sng" algn="ctr">
                      <a:solidFill>
                        <a:srgbClr val="41801A"/>
                      </a:solidFill>
                    </a:lnB>
                    <a:solidFill>
                      <a:srgbClr val="FFFFFF"/>
                    </a:solidFill>
                  </a:tcPr>
                </a:tc>
                <a:tc>
                  <a:txBody>
                    <a:bodyPr wrap="square"/>
                    <a:lstStyle/>
                    <a:p>
                      <a:r>
                        <a:rPr sz="700" b="1">
                          <a:solidFill>
                            <a:srgbClr val="41801A"/>
                          </a:solidFill>
                          <a:latin typeface="Segoe UI"/>
                        </a:rPr>
                        <a:t>REPORTED SCALE</a:t>
                      </a:r>
                    </a:p>
                  </a:txBody>
                  <a:tcPr marL="45720" marR="109728" marT="27432" marB="27432" anchor="ctr">
                    <a:lnB w="9525" cap="flat" cmpd="sng" algn="ctr">
                      <a:solidFill>
                        <a:srgbClr val="41801A"/>
                      </a:solidFill>
                    </a:lnB>
                    <a:solidFill>
                      <a:srgbClr val="FFFFFF"/>
                    </a:solidFill>
                  </a:tcPr>
                </a:tc>
                <a:tc>
                  <a:txBody>
                    <a:bodyPr wrap="square"/>
                    <a:lstStyle/>
                    <a:p>
                      <a:r>
                        <a:rPr sz="700" b="1">
                          <a:solidFill>
                            <a:srgbClr val="41801A"/>
                          </a:solidFill>
                          <a:latin typeface="Segoe UI"/>
                        </a:rPr>
                        <a:t>WHAT IT PROVES</a:t>
                      </a:r>
                    </a:p>
                  </a:txBody>
                  <a:tcPr marL="45720" marR="109728" marT="27432" marB="27432" anchor="ctr">
                    <a:lnB w="9525" cap="flat" cmpd="sng" algn="ctr">
                      <a:solidFill>
                        <a:srgbClr val="41801A"/>
                      </a:solidFill>
                    </a:lnB>
                    <a:solidFill>
                      <a:srgbClr val="FFFFFF"/>
                    </a:solidFill>
                  </a:tcPr>
                </a:tc>
              </a:tr>
              <a:tr h="258547">
                <a:tc>
                  <a:txBody>
                    <a:bodyPr wrap="square"/>
                    <a:lstStyle/>
                    <a:p>
                      <a:r>
                        <a:rPr sz="700" b="0">
                          <a:solidFill>
                            <a:srgbClr val="26301F"/>
                          </a:solidFill>
                          <a:latin typeface="Segoe UI"/>
                        </a:rPr>
                        <a:t>Money Fellows</a:t>
                      </a:r>
                    </a:p>
                  </a:txBody>
                  <a:tcPr marL="45720" marR="109728" marT="27432" marB="27432" anchor="ctr">
                    <a:lnB w="9525" cap="flat" cmpd="sng" algn="ctr">
                      <a:solidFill>
                        <a:srgbClr val="DCE3D6"/>
                      </a:solidFill>
                    </a:lnB>
                    <a:solidFill>
                      <a:srgbClr val="FFFFFF"/>
                    </a:solidFill>
                  </a:tcPr>
                </a:tc>
                <a:tc>
                  <a:txBody>
                    <a:bodyPr wrap="square"/>
                    <a:lstStyle/>
                    <a:p>
                      <a:r>
                        <a:rPr sz="700" b="0">
                          <a:solidFill>
                            <a:srgbClr val="26301F"/>
                          </a:solidFill>
                          <a:latin typeface="Segoe UI"/>
                        </a:rPr>
                        <a:t>Egypt</a:t>
                      </a:r>
                    </a:p>
                  </a:txBody>
                  <a:tcPr marL="45720" marR="109728" marT="27432" marB="27432" anchor="ctr">
                    <a:lnB w="9525" cap="flat" cmpd="sng" algn="ctr">
                      <a:solidFill>
                        <a:srgbClr val="DCE3D6"/>
                      </a:solidFill>
                    </a:lnB>
                    <a:solidFill>
                      <a:srgbClr val="FFFFFF"/>
                    </a:solidFill>
                  </a:tcPr>
                </a:tc>
                <a:tc>
                  <a:txBody>
                    <a:bodyPr wrap="square"/>
                    <a:lstStyle/>
                    <a:p>
                      <a:r>
                        <a:rPr sz="700" b="0">
                          <a:solidFill>
                            <a:srgbClr val="26301F"/>
                          </a:solidFill>
                          <a:latin typeface="Segoe UI"/>
                        </a:rPr>
                        <a:t>8m downloads, over 1m customers, about 350,000 monthly active, USD 1.5bn processed across more than 2m completed circles, about USD 60m raised, profitable in 2025</a:t>
                      </a:r>
                    </a:p>
                  </a:txBody>
                  <a:tcPr marL="45720" marR="109728" marT="27432" marB="27432" anchor="ctr">
                    <a:lnB w="9525" cap="flat" cmpd="sng" algn="ctr">
                      <a:solidFill>
                        <a:srgbClr val="DCE3D6"/>
                      </a:solidFill>
                    </a:lnB>
                    <a:solidFill>
                      <a:srgbClr val="FFFFFF"/>
                    </a:solidFill>
                  </a:tcPr>
                </a:tc>
                <a:tc>
                  <a:txBody>
                    <a:bodyPr wrap="square"/>
                    <a:lstStyle/>
                    <a:p>
                      <a:r>
                        <a:rPr sz="700" b="0">
                          <a:solidFill>
                            <a:srgbClr val="26301F"/>
                          </a:solidFill>
                          <a:latin typeface="Segoe UI"/>
                        </a:rPr>
                        <a:t>The category can reach real scale and real profitability. The largest operator anywhere</a:t>
                      </a:r>
                    </a:p>
                  </a:txBody>
                  <a:tcPr marL="45720" marR="109728" marT="27432" marB="27432" anchor="ctr">
                    <a:lnB w="9525" cap="flat" cmpd="sng" algn="ctr">
                      <a:solidFill>
                        <a:srgbClr val="DCE3D6"/>
                      </a:solidFill>
                    </a:lnB>
                    <a:solidFill>
                      <a:srgbClr val="FFFFFF"/>
                    </a:solidFill>
                  </a:tcPr>
                </a:tc>
              </a:tr>
              <a:tr h="258547">
                <a:tc>
                  <a:txBody>
                    <a:bodyPr wrap="square"/>
                    <a:lstStyle/>
                    <a:p>
                      <a:r>
                        <a:rPr sz="700" b="0">
                          <a:solidFill>
                            <a:srgbClr val="26301F"/>
                          </a:solidFill>
                          <a:latin typeface="Segoe UI"/>
                        </a:rPr>
                        <a:t>Hakbah</a:t>
                      </a:r>
                    </a:p>
                  </a:txBody>
                  <a:tcPr marL="45720" marR="109728" marT="27432" marB="27432" anchor="ctr">
                    <a:lnB w="9525" cap="flat" cmpd="sng" algn="ctr">
                      <a:solidFill>
                        <a:srgbClr val="DCE3D6"/>
                      </a:solidFill>
                    </a:lnB>
                    <a:solidFill>
                      <a:srgbClr val="FFFFFF"/>
                    </a:solidFill>
                  </a:tcPr>
                </a:tc>
                <a:tc>
                  <a:txBody>
                    <a:bodyPr wrap="square"/>
                    <a:lstStyle/>
                    <a:p>
                      <a:r>
                        <a:rPr sz="700" b="0">
                          <a:solidFill>
                            <a:srgbClr val="26301F"/>
                          </a:solidFill>
                          <a:latin typeface="Segoe UI"/>
                        </a:rPr>
                        <a:t>Saudi Arabia</a:t>
                      </a:r>
                    </a:p>
                  </a:txBody>
                  <a:tcPr marL="45720" marR="109728" marT="27432" marB="27432" anchor="ctr">
                    <a:lnB w="9525" cap="flat" cmpd="sng" algn="ctr">
                      <a:solidFill>
                        <a:srgbClr val="DCE3D6"/>
                      </a:solidFill>
                    </a:lnB>
                    <a:solidFill>
                      <a:srgbClr val="FFFFFF"/>
                    </a:solidFill>
                  </a:tcPr>
                </a:tc>
                <a:tc>
                  <a:txBody>
                    <a:bodyPr wrap="square"/>
                    <a:lstStyle/>
                    <a:p>
                      <a:r>
                        <a:rPr sz="700" b="0">
                          <a:solidFill>
                            <a:srgbClr val="26301F"/>
                          </a:solidFill>
                          <a:latin typeface="Segoe UI"/>
                        </a:rPr>
                        <a:t>More than 1.3m registered users, about 70 per cent young savers, about USD 9m raised</a:t>
                      </a:r>
                    </a:p>
                  </a:txBody>
                  <a:tcPr marL="45720" marR="109728" marT="27432" marB="27432" anchor="ctr">
                    <a:lnB w="9525" cap="flat" cmpd="sng" algn="ctr">
                      <a:solidFill>
                        <a:srgbClr val="DCE3D6"/>
                      </a:solidFill>
                    </a:lnB>
                    <a:solidFill>
                      <a:srgbClr val="FFFFFF"/>
                    </a:solidFill>
                  </a:tcPr>
                </a:tc>
                <a:tc>
                  <a:txBody>
                    <a:bodyPr wrap="square"/>
                    <a:lstStyle/>
                    <a:p>
                      <a:r>
                        <a:rPr sz="700" b="0">
                          <a:solidFill>
                            <a:srgbClr val="26301F"/>
                          </a:solidFill>
                          <a:latin typeface="Segoe UI"/>
                        </a:rPr>
                        <a:t>A central bank sandbox permit is a workable route in</a:t>
                      </a:r>
                    </a:p>
                  </a:txBody>
                  <a:tcPr marL="45720" marR="109728" marT="27432" marB="27432" anchor="ctr">
                    <a:lnB w="9525" cap="flat" cmpd="sng" algn="ctr">
                      <a:solidFill>
                        <a:srgbClr val="DCE3D6"/>
                      </a:solidFill>
                    </a:lnB>
                    <a:solidFill>
                      <a:srgbClr val="FFFFFF"/>
                    </a:solidFill>
                  </a:tcPr>
                </a:tc>
              </a:tr>
              <a:tr h="258547">
                <a:tc>
                  <a:txBody>
                    <a:bodyPr wrap="square"/>
                    <a:lstStyle/>
                    <a:p>
                      <a:r>
                        <a:rPr sz="700" b="0">
                          <a:solidFill>
                            <a:srgbClr val="26301F"/>
                          </a:solidFill>
                          <a:latin typeface="Segoe UI"/>
                        </a:rPr>
                        <a:t>Shriram Chits</a:t>
                      </a:r>
                    </a:p>
                  </a:txBody>
                  <a:tcPr marL="45720" marR="109728" marT="27432" marB="27432" anchor="ctr">
                    <a:lnB w="9525" cap="flat" cmpd="sng" algn="ctr">
                      <a:solidFill>
                        <a:srgbClr val="DCE3D6"/>
                      </a:solidFill>
                    </a:lnB>
                    <a:solidFill>
                      <a:srgbClr val="FFFFFF"/>
                    </a:solidFill>
                  </a:tcPr>
                </a:tc>
                <a:tc>
                  <a:txBody>
                    <a:bodyPr wrap="square"/>
                    <a:lstStyle/>
                    <a:p>
                      <a:r>
                        <a:rPr sz="700" b="0">
                          <a:solidFill>
                            <a:srgbClr val="26301F"/>
                          </a:solidFill>
                          <a:latin typeface="Segoe UI"/>
                        </a:rPr>
                        <a:t>India</a:t>
                      </a:r>
                    </a:p>
                  </a:txBody>
                  <a:tcPr marL="45720" marR="109728" marT="27432" marB="27432" anchor="ctr">
                    <a:lnB w="9525" cap="flat" cmpd="sng" algn="ctr">
                      <a:solidFill>
                        <a:srgbClr val="DCE3D6"/>
                      </a:solidFill>
                    </a:lnB>
                    <a:solidFill>
                      <a:srgbClr val="FFFFFF"/>
                    </a:solidFill>
                  </a:tcPr>
                </a:tc>
                <a:tc>
                  <a:txBody>
                    <a:bodyPr wrap="square"/>
                    <a:lstStyle/>
                    <a:p>
                      <a:r>
                        <a:rPr sz="700" b="0">
                          <a:solidFill>
                            <a:srgbClr val="26301F"/>
                          </a:solidFill>
                          <a:latin typeface="Segoe UI"/>
                        </a:rPr>
                        <a:t>More than 2.2m subscribers, auction turnover approaching Rs 3,000 crore, 465 branches, 65,000 agents</a:t>
                      </a:r>
                    </a:p>
                  </a:txBody>
                  <a:tcPr marL="45720" marR="109728" marT="27432" marB="27432" anchor="ctr">
                    <a:lnB w="9525" cap="flat" cmpd="sng" algn="ctr">
                      <a:solidFill>
                        <a:srgbClr val="DCE3D6"/>
                      </a:solidFill>
                    </a:lnB>
                    <a:solidFill>
                      <a:srgbClr val="FFFFFF"/>
                    </a:solidFill>
                  </a:tcPr>
                </a:tc>
                <a:tc>
                  <a:txBody>
                    <a:bodyPr wrap="square"/>
                    <a:lstStyle/>
                    <a:p>
                      <a:r>
                        <a:rPr sz="700" b="0">
                          <a:solidFill>
                            <a:srgbClr val="26301F"/>
                          </a:solidFill>
                          <a:latin typeface="Segoe UI"/>
                        </a:rPr>
                        <a:t>Custody endures at scale if you are a statutory foreman with a deposit lodged with the Registrar</a:t>
                      </a:r>
                    </a:p>
                  </a:txBody>
                  <a:tcPr marL="45720" marR="109728" marT="27432" marB="27432" anchor="ctr">
                    <a:lnB w="9525" cap="flat" cmpd="sng" algn="ctr">
                      <a:solidFill>
                        <a:srgbClr val="DCE3D6"/>
                      </a:solidFill>
                    </a:lnB>
                    <a:solidFill>
                      <a:srgbClr val="FFFFFF"/>
                    </a:solidFill>
                  </a:tcPr>
                </a:tc>
              </a:tr>
              <a:tr h="258547">
                <a:tc>
                  <a:txBody>
                    <a:bodyPr wrap="square"/>
                    <a:lstStyle/>
                    <a:p>
                      <a:r>
                        <a:rPr sz="700" b="0">
                          <a:solidFill>
                            <a:srgbClr val="26301F"/>
                          </a:solidFill>
                          <a:latin typeface="Segoe UI"/>
                        </a:rPr>
                        <a:t>Margadarsi Chits</a:t>
                      </a:r>
                    </a:p>
                  </a:txBody>
                  <a:tcPr marL="45720" marR="109728" marT="27432" marB="27432" anchor="ctr">
                    <a:lnB w="9525" cap="flat" cmpd="sng" algn="ctr">
                      <a:solidFill>
                        <a:srgbClr val="DCE3D6"/>
                      </a:solidFill>
                    </a:lnB>
                    <a:solidFill>
                      <a:srgbClr val="FFFFFF"/>
                    </a:solidFill>
                  </a:tcPr>
                </a:tc>
                <a:tc>
                  <a:txBody>
                    <a:bodyPr wrap="square"/>
                    <a:lstStyle/>
                    <a:p>
                      <a:r>
                        <a:rPr sz="700" b="0">
                          <a:solidFill>
                            <a:srgbClr val="26301F"/>
                          </a:solidFill>
                          <a:latin typeface="Segoe UI"/>
                        </a:rPr>
                        <a:t>India, sixty years</a:t>
                      </a:r>
                    </a:p>
                  </a:txBody>
                  <a:tcPr marL="45720" marR="109728" marT="27432" marB="27432" anchor="ctr">
                    <a:lnB w="9525" cap="flat" cmpd="sng" algn="ctr">
                      <a:solidFill>
                        <a:srgbClr val="DCE3D6"/>
                      </a:solidFill>
                    </a:lnB>
                    <a:solidFill>
                      <a:srgbClr val="FFFFFF"/>
                    </a:solidFill>
                  </a:tcPr>
                </a:tc>
                <a:tc>
                  <a:txBody>
                    <a:bodyPr wrap="square"/>
                    <a:lstStyle/>
                    <a:p>
                      <a:r>
                        <a:rPr sz="700" b="0">
                          <a:solidFill>
                            <a:srgbClr val="26301F"/>
                          </a:solidFill>
                          <a:latin typeface="Segoe UI"/>
                        </a:rPr>
                        <a:t>Turnover about Rs 14,341 crore, over 6m subscribers, 131 branches</a:t>
                      </a:r>
                    </a:p>
                  </a:txBody>
                  <a:tcPr marL="45720" marR="109728" marT="27432" marB="27432" anchor="ctr">
                    <a:lnB w="9525" cap="flat" cmpd="sng" algn="ctr">
                      <a:solidFill>
                        <a:srgbClr val="DCE3D6"/>
                      </a:solidFill>
                    </a:lnB>
                    <a:solidFill>
                      <a:srgbClr val="FFFFFF"/>
                    </a:solidFill>
                  </a:tcPr>
                </a:tc>
                <a:tc>
                  <a:txBody>
                    <a:bodyPr wrap="square"/>
                    <a:lstStyle/>
                    <a:p>
                      <a:r>
                        <a:rPr sz="700" b="0">
                          <a:solidFill>
                            <a:srgbClr val="26301F"/>
                          </a:solidFill>
                          <a:latin typeface="Segoe UI"/>
                        </a:rPr>
                        <a:t>The same, over sixty years</a:t>
                      </a:r>
                    </a:p>
                  </a:txBody>
                  <a:tcPr marL="45720" marR="109728" marT="27432" marB="27432" anchor="ctr">
                    <a:lnB w="9525" cap="flat" cmpd="sng" algn="ctr">
                      <a:solidFill>
                        <a:srgbClr val="DCE3D6"/>
                      </a:solidFill>
                    </a:lnB>
                    <a:solidFill>
                      <a:srgbClr val="FFFFFF"/>
                    </a:solidFill>
                  </a:tcPr>
                </a:tc>
              </a:tr>
              <a:tr h="258547">
                <a:tc>
                  <a:txBody>
                    <a:bodyPr wrap="square"/>
                    <a:lstStyle/>
                    <a:p>
                      <a:r>
                        <a:rPr sz="700" b="0">
                          <a:solidFill>
                            <a:srgbClr val="26301F"/>
                          </a:solidFill>
                          <a:latin typeface="Segoe UI"/>
                        </a:rPr>
                        <a:t>KSFE</a:t>
                      </a:r>
                    </a:p>
                  </a:txBody>
                  <a:tcPr marL="45720" marR="109728" marT="27432" marB="27432" anchor="ctr">
                    <a:lnB w="9525" cap="flat" cmpd="sng" algn="ctr">
                      <a:solidFill>
                        <a:srgbClr val="DCE3D6"/>
                      </a:solidFill>
                    </a:lnB>
                    <a:solidFill>
                      <a:srgbClr val="FFFFFF"/>
                    </a:solidFill>
                  </a:tcPr>
                </a:tc>
                <a:tc>
                  <a:txBody>
                    <a:bodyPr wrap="square"/>
                    <a:lstStyle/>
                    <a:p>
                      <a:r>
                        <a:rPr sz="700" b="0">
                          <a:solidFill>
                            <a:srgbClr val="26301F"/>
                          </a:solidFill>
                          <a:latin typeface="Segoe UI"/>
                        </a:rPr>
                        <a:t>India, since 1969</a:t>
                      </a:r>
                    </a:p>
                  </a:txBody>
                  <a:tcPr marL="45720" marR="109728" marT="27432" marB="27432" anchor="ctr">
                    <a:lnB w="9525" cap="flat" cmpd="sng" algn="ctr">
                      <a:solidFill>
                        <a:srgbClr val="DCE3D6"/>
                      </a:solidFill>
                    </a:lnB>
                    <a:solidFill>
                      <a:srgbClr val="FFFFFF"/>
                    </a:solidFill>
                  </a:tcPr>
                </a:tc>
                <a:tc>
                  <a:txBody>
                    <a:bodyPr wrap="square"/>
                    <a:lstStyle/>
                    <a:p>
                      <a:r>
                        <a:rPr sz="700" b="0">
                          <a:solidFill>
                            <a:srgbClr val="26301F"/>
                          </a:solidFill>
                          <a:latin typeface="Segoe UI"/>
                        </a:rPr>
                        <a:t>More than 680 branches, chit values from Rs 1 lakh to Rs 50 lakh</a:t>
                      </a:r>
                    </a:p>
                  </a:txBody>
                  <a:tcPr marL="45720" marR="109728" marT="27432" marB="27432" anchor="ctr">
                    <a:lnB w="9525" cap="flat" cmpd="sng" algn="ctr">
                      <a:solidFill>
                        <a:srgbClr val="DCE3D6"/>
                      </a:solidFill>
                    </a:lnB>
                    <a:solidFill>
                      <a:srgbClr val="FFFFFF"/>
                    </a:solidFill>
                  </a:tcPr>
                </a:tc>
                <a:tc>
                  <a:txBody>
                    <a:bodyPr wrap="square"/>
                    <a:lstStyle/>
                    <a:p>
                      <a:r>
                        <a:rPr sz="700" b="0">
                          <a:solidFill>
                            <a:srgbClr val="26301F"/>
                          </a:solidFill>
                          <a:latin typeface="Segoe UI"/>
                        </a:rPr>
                        <a:t>Sovereign trust can replace private reputation, if you are a state owned company</a:t>
                      </a:r>
                    </a:p>
                  </a:txBody>
                  <a:tcPr marL="45720" marR="109728" marT="27432" marB="27432" anchor="ctr">
                    <a:lnB w="9525" cap="flat" cmpd="sng" algn="ctr">
                      <a:solidFill>
                        <a:srgbClr val="DCE3D6"/>
                      </a:solidFill>
                    </a:lnB>
                    <a:solidFill>
                      <a:srgbClr val="FFFFFF"/>
                    </a:solidFill>
                  </a:tcPr>
                </a:tc>
              </a:tr>
              <a:tr h="258547">
                <a:tc>
                  <a:txBody>
                    <a:bodyPr wrap="square"/>
                    <a:lstStyle/>
                    <a:p>
                      <a:r>
                        <a:rPr sz="700" b="0">
                          <a:solidFill>
                            <a:srgbClr val="26301F"/>
                          </a:solidFill>
                          <a:latin typeface="Segoe UI"/>
                        </a:rPr>
                        <a:t>The Money Club</a:t>
                      </a:r>
                    </a:p>
                  </a:txBody>
                  <a:tcPr marL="45720" marR="109728" marT="27432" marB="27432" anchor="ctr">
                    <a:lnB w="9525" cap="flat" cmpd="sng" algn="ctr">
                      <a:solidFill>
                        <a:srgbClr val="DCE3D6"/>
                      </a:solidFill>
                    </a:lnB>
                    <a:solidFill>
                      <a:srgbClr val="FFFFFF"/>
                    </a:solidFill>
                  </a:tcPr>
                </a:tc>
                <a:tc>
                  <a:txBody>
                    <a:bodyPr wrap="square"/>
                    <a:lstStyle/>
                    <a:p>
                      <a:r>
                        <a:rPr sz="700" b="0">
                          <a:solidFill>
                            <a:srgbClr val="26301F"/>
                          </a:solidFill>
                          <a:latin typeface="Segoe UI"/>
                        </a:rPr>
                        <a:t>India, founded 2016</a:t>
                      </a:r>
                    </a:p>
                  </a:txBody>
                  <a:tcPr marL="45720" marR="109728" marT="27432" marB="27432" anchor="ctr">
                    <a:lnB w="9525" cap="flat" cmpd="sng" algn="ctr">
                      <a:solidFill>
                        <a:srgbClr val="DCE3D6"/>
                      </a:solidFill>
                    </a:lnB>
                    <a:solidFill>
                      <a:srgbClr val="FFFFFF"/>
                    </a:solidFill>
                  </a:tcPr>
                </a:tc>
                <a:tc>
                  <a:txBody>
                    <a:bodyPr wrap="square"/>
                    <a:lstStyle/>
                    <a:p>
                      <a:r>
                        <a:rPr sz="700" b="0">
                          <a:solidFill>
                            <a:srgbClr val="26301F"/>
                          </a:solidFill>
                          <a:latin typeface="Segoe UI"/>
                        </a:rPr>
                        <a:t>Over 200,000 users, about 17,000 clubs, roughly Rs 40 crore pooled</a:t>
                      </a:r>
                    </a:p>
                  </a:txBody>
                  <a:tcPr marL="45720" marR="109728" marT="27432" marB="27432" anchor="ctr">
                    <a:lnB w="9525" cap="flat" cmpd="sng" algn="ctr">
                      <a:solidFill>
                        <a:srgbClr val="DCE3D6"/>
                      </a:solidFill>
                    </a:lnB>
                    <a:solidFill>
                      <a:srgbClr val="FFFFFF"/>
                    </a:solidFill>
                  </a:tcPr>
                </a:tc>
                <a:tc>
                  <a:txBody>
                    <a:bodyPr wrap="square"/>
                    <a:lstStyle/>
                    <a:p>
                      <a:r>
                        <a:rPr sz="700" b="0">
                          <a:solidFill>
                            <a:srgbClr val="26301F"/>
                          </a:solidFill>
                          <a:latin typeface="Segoe UI"/>
                        </a:rPr>
                        <a:t>Graduated trust works as an underwriting method</a:t>
                      </a:r>
                    </a:p>
                  </a:txBody>
                  <a:tcPr marL="45720" marR="109728" marT="27432" marB="27432" anchor="ctr">
                    <a:lnB w="9525" cap="flat" cmpd="sng" algn="ctr">
                      <a:solidFill>
                        <a:srgbClr val="DCE3D6"/>
                      </a:solidFill>
                    </a:lnB>
                    <a:solidFill>
                      <a:srgbClr val="FFFFFF"/>
                    </a:solidFill>
                  </a:tcPr>
                </a:tc>
              </a:tr>
              <a:tr h="258547">
                <a:tc>
                  <a:txBody>
                    <a:bodyPr wrap="square"/>
                    <a:lstStyle/>
                    <a:p>
                      <a:r>
                        <a:rPr sz="700" b="0">
                          <a:solidFill>
                            <a:srgbClr val="26301F"/>
                          </a:solidFill>
                          <a:latin typeface="Segoe UI"/>
                        </a:rPr>
                        <a:t>MyPaisaa</a:t>
                      </a:r>
                    </a:p>
                  </a:txBody>
                  <a:tcPr marL="45720" marR="109728" marT="27432" marB="27432" anchor="ctr">
                    <a:lnB w="9525" cap="flat" cmpd="sng" algn="ctr">
                      <a:solidFill>
                        <a:srgbClr val="DCE3D6"/>
                      </a:solidFill>
                    </a:lnB>
                    <a:solidFill>
                      <a:srgbClr val="FFFFFF"/>
                    </a:solidFill>
                  </a:tcPr>
                </a:tc>
                <a:tc>
                  <a:txBody>
                    <a:bodyPr wrap="square"/>
                    <a:lstStyle/>
                    <a:p>
                      <a:r>
                        <a:rPr sz="700" b="0">
                          <a:solidFill>
                            <a:srgbClr val="26301F"/>
                          </a:solidFill>
                          <a:latin typeface="Segoe UI"/>
                        </a:rPr>
                        <a:t>India</a:t>
                      </a:r>
                    </a:p>
                  </a:txBody>
                  <a:tcPr marL="45720" marR="109728" marT="27432" marB="27432" anchor="ctr">
                    <a:lnB w="9525" cap="flat" cmpd="sng" algn="ctr">
                      <a:solidFill>
                        <a:srgbClr val="DCE3D6"/>
                      </a:solidFill>
                    </a:lnB>
                    <a:solidFill>
                      <a:srgbClr val="FFFFFF"/>
                    </a:solidFill>
                  </a:tcPr>
                </a:tc>
                <a:tc>
                  <a:txBody>
                    <a:bodyPr wrap="square"/>
                    <a:lstStyle/>
                    <a:p>
                      <a:r>
                        <a:rPr sz="700" b="0">
                          <a:solidFill>
                            <a:srgbClr val="26301F"/>
                          </a:solidFill>
                          <a:latin typeface="Segoe UI"/>
                        </a:rPr>
                        <a:t>About USD 980,000 raised, roughly 20,000 installs in two years</a:t>
                      </a:r>
                    </a:p>
                  </a:txBody>
                  <a:tcPr marL="45720" marR="109728" marT="27432" marB="27432" anchor="ctr">
                    <a:lnB w="9525" cap="flat" cmpd="sng" algn="ctr">
                      <a:solidFill>
                        <a:srgbClr val="DCE3D6"/>
                      </a:solidFill>
                    </a:lnB>
                    <a:solidFill>
                      <a:srgbClr val="FFFFFF"/>
                    </a:solidFill>
                  </a:tcPr>
                </a:tc>
                <a:tc>
                  <a:txBody>
                    <a:bodyPr wrap="square"/>
                    <a:lstStyle/>
                    <a:p>
                      <a:r>
                        <a:rPr sz="700" b="0">
                          <a:solidFill>
                            <a:srgbClr val="26301F"/>
                          </a:solidFill>
                          <a:latin typeface="Segoe UI"/>
                        </a:rPr>
                        <a:t>What full statutory registration costs a young company in speed</a:t>
                      </a:r>
                    </a:p>
                  </a:txBody>
                  <a:tcPr marL="45720" marR="109728" marT="27432" marB="27432" anchor="ctr">
                    <a:lnB w="9525" cap="flat" cmpd="sng" algn="ctr">
                      <a:solidFill>
                        <a:srgbClr val="DCE3D6"/>
                      </a:solidFill>
                    </a:lnB>
                    <a:solidFill>
                      <a:srgbClr val="FFFFFF"/>
                    </a:solidFill>
                  </a:tcPr>
                </a:tc>
              </a:tr>
              <a:tr h="258547">
                <a:tc>
                  <a:txBody>
                    <a:bodyPr wrap="square"/>
                    <a:lstStyle/>
                    <a:p>
                      <a:r>
                        <a:rPr sz="700" b="0">
                          <a:solidFill>
                            <a:srgbClr val="26301F"/>
                          </a:solidFill>
                          <a:latin typeface="Segoe UI"/>
                        </a:rPr>
                        <a:t>Mapan</a:t>
                      </a:r>
                    </a:p>
                  </a:txBody>
                  <a:tcPr marL="45720" marR="109728" marT="27432" marB="27432" anchor="ctr">
                    <a:lnB w="9525" cap="flat" cmpd="sng" algn="ctr">
                      <a:solidFill>
                        <a:srgbClr val="DCE3D6"/>
                      </a:solidFill>
                    </a:lnB>
                    <a:solidFill>
                      <a:srgbClr val="FFFFFF"/>
                    </a:solidFill>
                  </a:tcPr>
                </a:tc>
                <a:tc>
                  <a:txBody>
                    <a:bodyPr wrap="square"/>
                    <a:lstStyle/>
                    <a:p>
                      <a:r>
                        <a:rPr sz="700" b="0">
                          <a:solidFill>
                            <a:srgbClr val="26301F"/>
                          </a:solidFill>
                          <a:latin typeface="Segoe UI"/>
                        </a:rPr>
                        <a:t>Indonesia</a:t>
                      </a:r>
                    </a:p>
                  </a:txBody>
                  <a:tcPr marL="45720" marR="109728" marT="27432" marB="27432" anchor="ctr">
                    <a:lnB w="9525" cap="flat" cmpd="sng" algn="ctr">
                      <a:solidFill>
                        <a:srgbClr val="DCE3D6"/>
                      </a:solidFill>
                    </a:lnB>
                    <a:solidFill>
                      <a:srgbClr val="FFFFFF"/>
                    </a:solidFill>
                  </a:tcPr>
                </a:tc>
                <a:tc>
                  <a:txBody>
                    <a:bodyPr wrap="square"/>
                    <a:lstStyle/>
                    <a:p>
                      <a:r>
                        <a:rPr sz="700" b="0">
                          <a:solidFill>
                            <a:srgbClr val="26301F"/>
                          </a:solidFill>
                          <a:latin typeface="Segoe UI"/>
                        </a:rPr>
                        <a:t>National scale through community organisers</a:t>
                      </a:r>
                    </a:p>
                  </a:txBody>
                  <a:tcPr marL="45720" marR="109728" marT="27432" marB="27432" anchor="ctr">
                    <a:lnB w="9525" cap="flat" cmpd="sng" algn="ctr">
                      <a:solidFill>
                        <a:srgbClr val="DCE3D6"/>
                      </a:solidFill>
                    </a:lnB>
                    <a:solidFill>
                      <a:srgbClr val="FFFFFF"/>
                    </a:solidFill>
                  </a:tcPr>
                </a:tc>
                <a:tc>
                  <a:txBody>
                    <a:bodyPr wrap="square"/>
                    <a:lstStyle/>
                    <a:p>
                      <a:r>
                        <a:rPr sz="700" b="0">
                          <a:solidFill>
                            <a:srgbClr val="26301F"/>
                          </a:solidFill>
                          <a:latin typeface="Segoe UI"/>
                        </a:rPr>
                        <a:t>The organiser is the growth engine, which is the position taken here</a:t>
                      </a:r>
                    </a:p>
                  </a:txBody>
                  <a:tcPr marL="45720" marR="109728" marT="27432" marB="27432" anchor="ctr">
                    <a:lnB w="9525" cap="flat" cmpd="sng" algn="ctr">
                      <a:solidFill>
                        <a:srgbClr val="DCE3D6"/>
                      </a:solidFill>
                    </a:lnB>
                    <a:solidFill>
                      <a:srgbClr val="FFFFFF"/>
                    </a:solidFill>
                  </a:tcPr>
                </a:tc>
              </a:tr>
              <a:tr h="258547">
                <a:tc>
                  <a:txBody>
                    <a:bodyPr wrap="square"/>
                    <a:lstStyle/>
                    <a:p>
                      <a:r>
                        <a:rPr sz="700" b="0">
                          <a:solidFill>
                            <a:srgbClr val="26301F"/>
                          </a:solidFill>
                          <a:latin typeface="Segoe UI"/>
                        </a:rPr>
                        <a:t>StokFella</a:t>
                      </a:r>
                    </a:p>
                  </a:txBody>
                  <a:tcPr marL="45720" marR="109728" marT="27432" marB="27432" anchor="ctr">
                    <a:lnB w="9525" cap="flat" cmpd="sng" algn="ctr">
                      <a:solidFill>
                        <a:srgbClr val="DCE3D6"/>
                      </a:solidFill>
                    </a:lnB>
                    <a:solidFill>
                      <a:srgbClr val="FFFFFF"/>
                    </a:solidFill>
                  </a:tcPr>
                </a:tc>
                <a:tc>
                  <a:txBody>
                    <a:bodyPr wrap="square"/>
                    <a:lstStyle/>
                    <a:p>
                      <a:r>
                        <a:rPr sz="700" b="0">
                          <a:solidFill>
                            <a:srgbClr val="26301F"/>
                          </a:solidFill>
                          <a:latin typeface="Segoe UI"/>
                        </a:rPr>
                        <a:t>South Africa, 2016</a:t>
                      </a:r>
                    </a:p>
                  </a:txBody>
                  <a:tcPr marL="45720" marR="109728" marT="27432" marB="27432" anchor="ctr">
                    <a:lnB w="9525" cap="flat" cmpd="sng" algn="ctr">
                      <a:solidFill>
                        <a:srgbClr val="DCE3D6"/>
                      </a:solidFill>
                    </a:lnB>
                    <a:solidFill>
                      <a:srgbClr val="FFFFFF"/>
                    </a:solidFill>
                  </a:tcPr>
                </a:tc>
                <a:tc>
                  <a:txBody>
                    <a:bodyPr wrap="square"/>
                    <a:lstStyle/>
                    <a:p>
                      <a:r>
                        <a:rPr sz="700" b="0">
                          <a:solidFill>
                            <a:srgbClr val="26301F"/>
                          </a:solidFill>
                          <a:latin typeface="Segoe UI"/>
                        </a:rPr>
                        <a:t>About 42,000 members by 2025 in a market of roughly 800,000 groups and 11m members</a:t>
                      </a:r>
                    </a:p>
                  </a:txBody>
                  <a:tcPr marL="45720" marR="109728" marT="27432" marB="27432" anchor="ctr">
                    <a:lnB w="9525" cap="flat" cmpd="sng" algn="ctr">
                      <a:solidFill>
                        <a:srgbClr val="DCE3D6"/>
                      </a:solidFill>
                    </a:lnB>
                    <a:solidFill>
                      <a:srgbClr val="FFFFFF"/>
                    </a:solidFill>
                  </a:tcPr>
                </a:tc>
                <a:tc>
                  <a:txBody>
                    <a:bodyPr wrap="square"/>
                    <a:lstStyle/>
                    <a:p>
                      <a:r>
                        <a:rPr sz="700" b="0">
                          <a:solidFill>
                            <a:srgbClr val="26301F"/>
                          </a:solidFill>
                          <a:latin typeface="Segoe UI"/>
                        </a:rPr>
                        <a:t>Serving existing groups is a smaller business than forming new ones</a:t>
                      </a:r>
                    </a:p>
                  </a:txBody>
                  <a:tcPr marL="45720" marR="109728" marT="27432" marB="27432" anchor="ctr">
                    <a:lnB w="9525" cap="flat" cmpd="sng" algn="ctr">
                      <a:solidFill>
                        <a:srgbClr val="DCE3D6"/>
                      </a:solidFill>
                    </a:lnB>
                    <a:solidFill>
                      <a:srgbClr val="FFFFFF"/>
                    </a:solidFill>
                  </a:tcPr>
                </a:tc>
              </a:tr>
              <a:tr h="258547">
                <a:tc>
                  <a:txBody>
                    <a:bodyPr wrap="square"/>
                    <a:lstStyle/>
                    <a:p>
                      <a:r>
                        <a:rPr sz="700" b="0">
                          <a:solidFill>
                            <a:srgbClr val="26301F"/>
                          </a:solidFill>
                          <a:latin typeface="Segoe UI"/>
                        </a:rPr>
                        <a:t>Tanda by Yahoo Finance</a:t>
                      </a:r>
                    </a:p>
                  </a:txBody>
                  <a:tcPr marL="45720" marR="109728" marT="27432" marB="27432" anchor="ctr">
                    <a:lnB w="9525" cap="flat" cmpd="sng" algn="ctr">
                      <a:solidFill>
                        <a:srgbClr val="DCE3D6"/>
                      </a:solidFill>
                    </a:lnB>
                    <a:solidFill>
                      <a:srgbClr val="FFFFFF"/>
                    </a:solidFill>
                  </a:tcPr>
                </a:tc>
                <a:tc>
                  <a:txBody>
                    <a:bodyPr wrap="square"/>
                    <a:lstStyle/>
                    <a:p>
                      <a:r>
                        <a:rPr sz="700" b="0">
                          <a:solidFill>
                            <a:srgbClr val="26301F"/>
                          </a:solidFill>
                          <a:latin typeface="Segoe UI"/>
                        </a:rPr>
                        <a:t>United States, Jan to May 2018</a:t>
                      </a:r>
                    </a:p>
                  </a:txBody>
                  <a:tcPr marL="45720" marR="109728" marT="27432" marB="27432" anchor="ctr">
                    <a:lnB w="9525" cap="flat" cmpd="sng" algn="ctr">
                      <a:solidFill>
                        <a:srgbClr val="DCE3D6"/>
                      </a:solidFill>
                    </a:lnB>
                    <a:solidFill>
                      <a:srgbClr val="FFFFFF"/>
                    </a:solidFill>
                  </a:tcPr>
                </a:tc>
                <a:tc>
                  <a:txBody>
                    <a:bodyPr wrap="square"/>
                    <a:lstStyle/>
                    <a:p>
                      <a:r>
                        <a:rPr sz="700" b="0">
                          <a:solidFill>
                            <a:srgbClr val="26301F"/>
                          </a:solidFill>
                          <a:latin typeface="Segoe UI"/>
                        </a:rPr>
                        <a:t>About 37,000 installs, never in the top 1,500 of its category</a:t>
                      </a:r>
                    </a:p>
                  </a:txBody>
                  <a:tcPr marL="45720" marR="109728" marT="27432" marB="27432" anchor="ctr">
                    <a:lnB w="9525" cap="flat" cmpd="sng" algn="ctr">
                      <a:solidFill>
                        <a:srgbClr val="DCE3D6"/>
                      </a:solidFill>
                    </a:lnB>
                    <a:solidFill>
                      <a:srgbClr val="FFFFFF"/>
                    </a:solidFill>
                  </a:tcPr>
                </a:tc>
                <a:tc>
                  <a:txBody>
                    <a:bodyPr wrap="square"/>
                    <a:lstStyle/>
                    <a:p>
                      <a:r>
                        <a:rPr sz="700" b="0">
                          <a:solidFill>
                            <a:srgbClr val="26301F"/>
                          </a:solidFill>
                          <a:latin typeface="Segoe UI"/>
                        </a:rPr>
                        <a:t>Closed in four months. Strong in the Philippines and Mexico, weak in the United States</a:t>
                      </a:r>
                    </a:p>
                  </a:txBody>
                  <a:tcPr marL="45720" marR="109728" marT="27432" marB="27432" anchor="ctr">
                    <a:lnB w="9525" cap="flat" cmpd="sng" algn="ctr">
                      <a:solidFill>
                        <a:srgbClr val="DCE3D6"/>
                      </a:solidFill>
                    </a:lnB>
                    <a:solidFill>
                      <a:srgbClr val="FFFFFF"/>
                    </a:solidFill>
                  </a:tcPr>
                </a:tc>
              </a:tr>
              <a:tr h="258547">
                <a:tc>
                  <a:txBody>
                    <a:bodyPr wrap="square"/>
                    <a:lstStyle/>
                    <a:p>
                      <a:r>
                        <a:rPr sz="700" b="0">
                          <a:solidFill>
                            <a:srgbClr val="26301F"/>
                          </a:solidFill>
                          <a:latin typeface="Segoe UI"/>
                        </a:rPr>
                        <a:t>eMoneyPool</a:t>
                      </a:r>
                    </a:p>
                  </a:txBody>
                  <a:tcPr marL="45720" marR="109728" marT="27432" marB="27432" anchor="ctr">
                    <a:lnB w="9525" cap="flat" cmpd="sng" algn="ctr">
                      <a:solidFill>
                        <a:srgbClr val="DCE3D6"/>
                      </a:solidFill>
                    </a:lnB>
                    <a:solidFill>
                      <a:srgbClr val="FFFFFF"/>
                    </a:solidFill>
                  </a:tcPr>
                </a:tc>
                <a:tc>
                  <a:txBody>
                    <a:bodyPr wrap="square"/>
                    <a:lstStyle/>
                    <a:p>
                      <a:r>
                        <a:rPr sz="700" b="0">
                          <a:solidFill>
                            <a:srgbClr val="26301F"/>
                          </a:solidFill>
                          <a:latin typeface="Segoe UI"/>
                        </a:rPr>
                        <a:t>United States, 2010 to 2019</a:t>
                      </a:r>
                    </a:p>
                  </a:txBody>
                  <a:tcPr marL="45720" marR="109728" marT="27432" marB="27432" anchor="ctr">
                    <a:lnB w="9525" cap="flat" cmpd="sng" algn="ctr">
                      <a:solidFill>
                        <a:srgbClr val="DCE3D6"/>
                      </a:solidFill>
                    </a:lnB>
                    <a:solidFill>
                      <a:srgbClr val="FFFFFF"/>
                    </a:solidFill>
                  </a:tcPr>
                </a:tc>
                <a:tc>
                  <a:txBody>
                    <a:bodyPr wrap="square"/>
                    <a:lstStyle/>
                    <a:p>
                      <a:r>
                        <a:rPr sz="700" b="0">
                          <a:solidFill>
                            <a:srgbClr val="26301F"/>
                          </a:solidFill>
                          <a:latin typeface="Segoe UI"/>
                        </a:rPr>
                        <a:t>Nine years of operation</a:t>
                      </a:r>
                    </a:p>
                  </a:txBody>
                  <a:tcPr marL="45720" marR="109728" marT="27432" marB="27432" anchor="ctr">
                    <a:lnB w="9525" cap="flat" cmpd="sng" algn="ctr">
                      <a:solidFill>
                        <a:srgbClr val="DCE3D6"/>
                      </a:solidFill>
                    </a:lnB>
                    <a:solidFill>
                      <a:srgbClr val="FFFFFF"/>
                    </a:solidFill>
                  </a:tcPr>
                </a:tc>
                <a:tc>
                  <a:txBody>
                    <a:bodyPr wrap="square"/>
                    <a:lstStyle/>
                    <a:p>
                      <a:r>
                        <a:rPr sz="700" b="0">
                          <a:solidFill>
                            <a:srgbClr val="26301F"/>
                          </a:solidFill>
                          <a:latin typeface="Segoe UI"/>
                        </a:rPr>
                        <a:t>Absorbing every member's default without pricing or capping it closes a company</a:t>
                      </a:r>
                    </a:p>
                  </a:txBody>
                  <a:tcPr marL="45720" marR="109728" marT="27432" marB="27432" anchor="ctr">
                    <a:lnB w="9525" cap="flat" cmpd="sng" algn="ctr">
                      <a:solidFill>
                        <a:srgbClr val="DCE3D6"/>
                      </a:solidFill>
                    </a:lnB>
                    <a:solidFill>
                      <a:srgbClr val="FFFFFF"/>
                    </a:solidFill>
                  </a:tcPr>
                </a:tc>
              </a:tr>
              <a:tr h="258547">
                <a:tc>
                  <a:txBody>
                    <a:bodyPr wrap="square"/>
                    <a:lstStyle/>
                    <a:p>
                      <a:r>
                        <a:rPr sz="700" b="0">
                          <a:solidFill>
                            <a:srgbClr val="26301F"/>
                          </a:solidFill>
                          <a:latin typeface="Segoe UI"/>
                        </a:rPr>
                        <a:t>Esusu</a:t>
                      </a:r>
                    </a:p>
                  </a:txBody>
                  <a:tcPr marL="45720" marR="109728" marT="27432" marB="27432" anchor="ctr">
                    <a:lnB w="9525" cap="flat" cmpd="sng" algn="ctr">
                      <a:solidFill>
                        <a:srgbClr val="DCE3D6"/>
                      </a:solidFill>
                    </a:lnB>
                    <a:solidFill>
                      <a:srgbClr val="FFFFFF"/>
                    </a:solidFill>
                  </a:tcPr>
                </a:tc>
                <a:tc>
                  <a:txBody>
                    <a:bodyPr wrap="square"/>
                    <a:lstStyle/>
                    <a:p>
                      <a:r>
                        <a:rPr sz="700" b="0">
                          <a:solidFill>
                            <a:srgbClr val="26301F"/>
                          </a:solidFill>
                          <a:latin typeface="Segoe UI"/>
                        </a:rPr>
                        <a:t>United States, incorporated 2018</a:t>
                      </a:r>
                    </a:p>
                  </a:txBody>
                  <a:tcPr marL="45720" marR="109728" marT="27432" marB="27432" anchor="ctr">
                    <a:lnB w="9525" cap="flat" cmpd="sng" algn="ctr">
                      <a:solidFill>
                        <a:srgbClr val="DCE3D6"/>
                      </a:solidFill>
                    </a:lnB>
                    <a:solidFill>
                      <a:srgbClr val="FFFFFF"/>
                    </a:solidFill>
                  </a:tcPr>
                </a:tc>
                <a:tc>
                  <a:txBody>
                    <a:bodyPr wrap="square"/>
                    <a:lstStyle/>
                    <a:p>
                      <a:r>
                        <a:rPr sz="700" b="0">
                          <a:solidFill>
                            <a:srgbClr val="26301F"/>
                          </a:solidFill>
                          <a:latin typeface="Segoe UI"/>
                        </a:rPr>
                        <a:t>USD 130m Series B led by SoftBank Vision Fund 2 in January 2022, at a USD 1bn valuation</a:t>
                      </a:r>
                    </a:p>
                  </a:txBody>
                  <a:tcPr marL="45720" marR="109728" marT="27432" marB="27432" anchor="ctr">
                    <a:lnB w="9525" cap="flat" cmpd="sng" algn="ctr">
                      <a:solidFill>
                        <a:srgbClr val="DCE3D6"/>
                      </a:solidFill>
                    </a:lnB>
                    <a:solidFill>
                      <a:srgbClr val="FFFFFF"/>
                    </a:solidFill>
                  </a:tcPr>
                </a:tc>
                <a:tc>
                  <a:txBody>
                    <a:bodyPr wrap="square"/>
                    <a:lstStyle/>
                    <a:p>
                      <a:r>
                        <a:rPr sz="700" b="0">
                          <a:solidFill>
                            <a:srgbClr val="26301F"/>
                          </a:solidFill>
                          <a:latin typeface="Segoe UI"/>
                        </a:rPr>
                        <a:t>The record was the asset, not the pooling. They abandoned pooling entirely</a:t>
                      </a:r>
                    </a:p>
                  </a:txBody>
                  <a:tcPr marL="45720" marR="109728" marT="27432" marB="27432" anchor="ctr">
                    <a:lnB w="9525" cap="flat" cmpd="sng" algn="ctr">
                      <a:solidFill>
                        <a:srgbClr val="DCE3D6"/>
                      </a:solidFill>
                    </a:lnB>
                    <a:solidFill>
                      <a:srgbClr val="FFFFFF"/>
                    </a:solidFill>
                  </a:tcPr>
                </a:tc>
              </a:tr>
              <a:tr h="258547">
                <a:tc>
                  <a:txBody>
                    <a:bodyPr wrap="square"/>
                    <a:lstStyle/>
                    <a:p>
                      <a:r>
                        <a:rPr sz="700" b="0">
                          <a:solidFill>
                            <a:srgbClr val="26301F"/>
                          </a:solidFill>
                          <a:latin typeface="Segoe UI"/>
                        </a:rPr>
                        <a:t>Mission Asset Fund</a:t>
                      </a:r>
                    </a:p>
                  </a:txBody>
                  <a:tcPr marL="45720" marR="109728" marT="27432" marB="27432" anchor="ctr">
                    <a:lnB w="9525" cap="flat" cmpd="sng" algn="ctr">
                      <a:solidFill>
                        <a:srgbClr val="DCE3D6"/>
                      </a:solidFill>
                    </a:lnB>
                    <a:solidFill>
                      <a:srgbClr val="FFFFFF"/>
                    </a:solidFill>
                  </a:tcPr>
                </a:tc>
                <a:tc>
                  <a:txBody>
                    <a:bodyPr wrap="square"/>
                    <a:lstStyle/>
                    <a:p>
                      <a:r>
                        <a:rPr sz="700" b="0">
                          <a:solidFill>
                            <a:srgbClr val="26301F"/>
                          </a:solidFill>
                          <a:latin typeface="Segoe UI"/>
                        </a:rPr>
                        <a:t>United States</a:t>
                      </a:r>
                    </a:p>
                  </a:txBody>
                  <a:tcPr marL="45720" marR="109728" marT="27432" marB="27432" anchor="ctr">
                    <a:lnB w="9525" cap="flat" cmpd="sng" algn="ctr">
                      <a:solidFill>
                        <a:srgbClr val="DCE3D6"/>
                      </a:solidFill>
                    </a:lnB>
                    <a:solidFill>
                      <a:srgbClr val="FFFFFF"/>
                    </a:solidFill>
                  </a:tcPr>
                </a:tc>
                <a:tc>
                  <a:txBody>
                    <a:bodyPr wrap="square"/>
                    <a:lstStyle/>
                    <a:p>
                      <a:r>
                        <a:rPr sz="700" b="0">
                          <a:solidFill>
                            <a:srgbClr val="26301F"/>
                          </a:solidFill>
                          <a:latin typeface="Segoe UI"/>
                        </a:rPr>
                        <a:t>Groups of six to twelve contributing USD 50 to 200 a month</a:t>
                      </a:r>
                    </a:p>
                  </a:txBody>
                  <a:tcPr marL="45720" marR="109728" marT="27432" marB="27432" anchor="ctr">
                    <a:lnB w="9525" cap="flat" cmpd="sng" algn="ctr">
                      <a:solidFill>
                        <a:srgbClr val="DCE3D6"/>
                      </a:solidFill>
                    </a:lnB>
                    <a:solidFill>
                      <a:srgbClr val="FFFFFF"/>
                    </a:solidFill>
                  </a:tcPr>
                </a:tc>
                <a:tc>
                  <a:txBody>
                    <a:bodyPr wrap="square"/>
                    <a:lstStyle/>
                    <a:p>
                      <a:r>
                        <a:rPr sz="700" b="0">
                          <a:solidFill>
                            <a:srgbClr val="26301F"/>
                          </a:solidFill>
                          <a:latin typeface="Segoe UI"/>
                        </a:rPr>
                        <a:t>Formalising peer contributions as documented zero interest loans and reporting every payment works</a:t>
                      </a:r>
                    </a:p>
                  </a:txBody>
                  <a:tcPr marL="45720" marR="109728" marT="27432" marB="27432" anchor="ctr">
                    <a:lnB w="9525" cap="flat" cmpd="sng" algn="ctr">
                      <a:solidFill>
                        <a:srgbClr val="DCE3D6"/>
                      </a:solidFill>
                    </a:lnB>
                    <a:solidFill>
                      <a:srgbClr val="FFFFFF"/>
                    </a:solidFill>
                  </a:tcPr>
                </a:tc>
              </a:tr>
            </a:tbl>
          </a:graphicData>
        </a:graphic>
      </p:graphicFrame>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384048" cy="6858000"/>
          </a:xfrm>
          <a:prstGeom prst="rect">
            <a:avLst/>
          </a:prstGeom>
          <a:solidFill>
            <a:srgbClr val="6DC72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777240" y="1417320"/>
            <a:ext cx="10637215" cy="219456"/>
          </a:xfrm>
          <a:prstGeom prst="rect">
            <a:avLst/>
          </a:prstGeom>
          <a:noFill/>
        </p:spPr>
        <p:txBody>
          <a:bodyPr wrap="square" lIns="0" rIns="0" tIns="0" bIns="0">
            <a:spAutoFit/>
          </a:bodyPr>
          <a:lstStyle/>
          <a:p>
            <a:pPr algn="l">
              <a:lnSpc>
                <a:spcPct val="125000"/>
              </a:lnSpc>
            </a:pPr>
            <a:r>
              <a:rPr sz="950" b="1" i="0">
                <a:solidFill>
                  <a:srgbClr val="41801A"/>
                </a:solidFill>
                <a:latin typeface="Segoe UI"/>
              </a:rPr>
              <a:t>0  WHAT HAS BEEN TRIED</a:t>
            </a:r>
          </a:p>
        </p:txBody>
      </p:sp>
      <p:sp>
        <p:nvSpPr>
          <p:cNvPr id="4" name="TextBox 3"/>
          <p:cNvSpPr txBox="1"/>
          <p:nvPr/>
        </p:nvSpPr>
        <p:spPr>
          <a:xfrm>
            <a:off x="777240" y="1828800"/>
            <a:ext cx="9966960" cy="1828800"/>
          </a:xfrm>
          <a:prstGeom prst="rect">
            <a:avLst/>
          </a:prstGeom>
          <a:noFill/>
        </p:spPr>
        <p:txBody>
          <a:bodyPr wrap="square" lIns="0" rIns="0" tIns="0" bIns="0">
            <a:spAutoFit/>
          </a:bodyPr>
          <a:lstStyle/>
          <a:p>
            <a:pPr algn="l">
              <a:lnSpc>
                <a:spcPct val="135000"/>
              </a:lnSpc>
            </a:pPr>
            <a:r>
              <a:rPr sz="2500" b="1" i="0">
                <a:solidFill>
                  <a:srgbClr val="0C1408"/>
                </a:solidFill>
                <a:latin typeface="Segoe UI"/>
              </a:rPr>
              <a:t>Two American operators abandoned pooling entirely</a:t>
            </a:r>
          </a:p>
          <a:p>
            <a:pPr algn="l">
              <a:lnSpc>
                <a:spcPct val="135000"/>
              </a:lnSpc>
              <a:spcBef>
                <a:spcPts val="0"/>
              </a:spcBef>
            </a:pPr>
            <a:r>
              <a:rPr sz="2500" b="1" i="0">
                <a:solidFill>
                  <a:srgbClr val="0C1408"/>
                </a:solidFill>
                <a:latin typeface="Segoe UI"/>
              </a:rPr>
              <a:t>and rebuilt around reporting payment behaviour.</a:t>
            </a:r>
          </a:p>
          <a:p>
            <a:pPr algn="l">
              <a:lnSpc>
                <a:spcPct val="135000"/>
              </a:lnSpc>
              <a:spcBef>
                <a:spcPts val="0"/>
              </a:spcBef>
            </a:pPr>
            <a:r>
              <a:rPr sz="2500" b="1" i="0">
                <a:solidFill>
                  <a:srgbClr val="0C1408"/>
                </a:solidFill>
                <a:latin typeface="Segoe UI"/>
              </a:rPr>
              <a:t>One reached a billion dollar valuation doing it.</a:t>
            </a:r>
          </a:p>
        </p:txBody>
      </p:sp>
      <p:sp>
        <p:nvSpPr>
          <p:cNvPr id="5" name="Rectangle 4"/>
          <p:cNvSpPr/>
          <p:nvPr/>
        </p:nvSpPr>
        <p:spPr>
          <a:xfrm>
            <a:off x="777240" y="3977639"/>
            <a:ext cx="1371600" cy="22860"/>
          </a:xfrm>
          <a:prstGeom prst="rect">
            <a:avLst/>
          </a:prstGeom>
          <a:solidFill>
            <a:srgbClr val="6DC72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777240" y="4297680"/>
            <a:ext cx="9692640" cy="1280160"/>
          </a:xfrm>
          <a:prstGeom prst="rect">
            <a:avLst/>
          </a:prstGeom>
          <a:noFill/>
        </p:spPr>
        <p:txBody>
          <a:bodyPr wrap="square" lIns="0" rIns="0" tIns="0" bIns="0">
            <a:spAutoFit/>
          </a:bodyPr>
          <a:lstStyle/>
          <a:p>
            <a:pPr algn="l">
              <a:lnSpc>
                <a:spcPct val="150000"/>
              </a:lnSpc>
            </a:pPr>
            <a:r>
              <a:rPr sz="1400" b="0" i="0">
                <a:solidFill>
                  <a:srgbClr val="26301F"/>
                </a:solidFill>
                <a:latin typeface="Segoe UI"/>
              </a:rPr>
              <a:t>That is the strongest external evidence for the position taken here. The value in a committee was never the money moving between members, which nets to zero. It was always the record of who paid, which nobody was keeping.</a:t>
            </a:r>
          </a:p>
        </p:txBody>
      </p:sp>
      <p:sp>
        <p:nvSpPr>
          <p:cNvPr id="7" name="TextBox 6"/>
          <p:cNvSpPr txBox="1"/>
          <p:nvPr/>
        </p:nvSpPr>
        <p:spPr>
          <a:xfrm>
            <a:off x="777240" y="5760720"/>
            <a:ext cx="9692640" cy="365760"/>
          </a:xfrm>
          <a:prstGeom prst="rect">
            <a:avLst/>
          </a:prstGeom>
          <a:noFill/>
        </p:spPr>
        <p:txBody>
          <a:bodyPr wrap="square" lIns="0" rIns="0" tIns="0" bIns="0">
            <a:spAutoFit/>
          </a:bodyPr>
          <a:lstStyle/>
          <a:p>
            <a:pPr algn="l">
              <a:lnSpc>
                <a:spcPct val="140000"/>
              </a:lnSpc>
            </a:pPr>
            <a:r>
              <a:rPr sz="1150" b="0" i="0">
                <a:solidFill>
                  <a:srgbClr val="6F7B68"/>
                </a:solidFill>
                <a:latin typeface="Segoe UI"/>
              </a:rPr>
              <a:t>Halqa keeps the rotation, because that is why members join, and keeps the record, because that is where the value is.</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777240" y="566928"/>
            <a:ext cx="10637215" cy="219456"/>
          </a:xfrm>
          <a:prstGeom prst="rect">
            <a:avLst/>
          </a:prstGeom>
          <a:noFill/>
        </p:spPr>
        <p:txBody>
          <a:bodyPr wrap="square" lIns="0" rIns="0" tIns="0" bIns="0">
            <a:spAutoFit/>
          </a:bodyPr>
          <a:lstStyle/>
          <a:p>
            <a:pPr algn="l">
              <a:lnSpc>
                <a:spcPct val="125000"/>
              </a:lnSpc>
            </a:pPr>
            <a:r>
              <a:rPr sz="950" b="1" i="0">
                <a:solidFill>
                  <a:srgbClr val="41801A"/>
                </a:solidFill>
                <a:latin typeface="Segoe UI"/>
              </a:rPr>
              <a:t>1  WHERE THE MONEY GOES</a:t>
            </a:r>
          </a:p>
        </p:txBody>
      </p:sp>
      <p:sp>
        <p:nvSpPr>
          <p:cNvPr id="3" name="TextBox 2"/>
          <p:cNvSpPr txBox="1"/>
          <p:nvPr/>
        </p:nvSpPr>
        <p:spPr>
          <a:xfrm>
            <a:off x="777240" y="841248"/>
            <a:ext cx="10637215" cy="502920"/>
          </a:xfrm>
          <a:prstGeom prst="rect">
            <a:avLst/>
          </a:prstGeom>
          <a:noFill/>
        </p:spPr>
        <p:txBody>
          <a:bodyPr wrap="square" lIns="0" rIns="0" tIns="0" bIns="0">
            <a:spAutoFit/>
          </a:bodyPr>
          <a:lstStyle/>
          <a:p>
            <a:pPr algn="l">
              <a:lnSpc>
                <a:spcPct val="125000"/>
              </a:lnSpc>
            </a:pPr>
            <a:r>
              <a:rPr sz="2700" b="1" i="0">
                <a:solidFill>
                  <a:srgbClr val="0C1408"/>
                </a:solidFill>
                <a:latin typeface="Segoe UI"/>
              </a:rPr>
              <a:t>The payment rails and who operates them</a:t>
            </a:r>
          </a:p>
        </p:txBody>
      </p:sp>
      <p:sp>
        <p:nvSpPr>
          <p:cNvPr id="4" name="Rectangle 3"/>
          <p:cNvSpPr/>
          <p:nvPr/>
        </p:nvSpPr>
        <p:spPr>
          <a:xfrm>
            <a:off x="777240" y="1417320"/>
            <a:ext cx="1371600" cy="22860"/>
          </a:xfrm>
          <a:prstGeom prst="rect">
            <a:avLst/>
          </a:prstGeom>
          <a:solidFill>
            <a:srgbClr val="6DC72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777240" y="6382512"/>
            <a:ext cx="3657600" cy="228600"/>
          </a:xfrm>
          <a:prstGeom prst="rect">
            <a:avLst/>
          </a:prstGeom>
          <a:noFill/>
        </p:spPr>
        <p:txBody>
          <a:bodyPr wrap="square" lIns="0" rIns="0" tIns="0" bIns="0">
            <a:spAutoFit/>
          </a:bodyPr>
          <a:lstStyle/>
          <a:p>
            <a:pPr algn="l">
              <a:lnSpc>
                <a:spcPct val="125000"/>
              </a:lnSpc>
            </a:pPr>
            <a:r>
              <a:rPr sz="900" b="0" i="0">
                <a:solidFill>
                  <a:srgbClr val="9AA694"/>
                </a:solidFill>
                <a:latin typeface="Segoe UI"/>
              </a:rPr>
              <a:t>Halqa  ·  Confidential</a:t>
            </a:r>
          </a:p>
        </p:txBody>
      </p:sp>
      <p:sp>
        <p:nvSpPr>
          <p:cNvPr id="6" name="TextBox 5"/>
          <p:cNvSpPr txBox="1"/>
          <p:nvPr/>
        </p:nvSpPr>
        <p:spPr>
          <a:xfrm>
            <a:off x="10728655" y="6382512"/>
            <a:ext cx="685800" cy="228600"/>
          </a:xfrm>
          <a:prstGeom prst="rect">
            <a:avLst/>
          </a:prstGeom>
          <a:noFill/>
        </p:spPr>
        <p:txBody>
          <a:bodyPr wrap="square" lIns="0" rIns="0" tIns="0" bIns="0">
            <a:spAutoFit/>
          </a:bodyPr>
          <a:lstStyle/>
          <a:p>
            <a:pPr algn="r">
              <a:lnSpc>
                <a:spcPct val="125000"/>
              </a:lnSpc>
            </a:pPr>
            <a:r>
              <a:rPr sz="900" b="0" i="0">
                <a:solidFill>
                  <a:srgbClr val="6F7B68"/>
                </a:solidFill>
                <a:latin typeface="Segoe UI"/>
              </a:rPr>
              <a:t>10</a:t>
            </a:r>
          </a:p>
        </p:txBody>
      </p:sp>
      <p:pic>
        <p:nvPicPr>
          <p:cNvPr id="7" name="Picture 6" descr="b_rails.png"/>
          <p:cNvPicPr>
            <a:picLocks noChangeAspect="1"/>
          </p:cNvPicPr>
          <p:nvPr/>
        </p:nvPicPr>
        <p:blipFill>
          <a:blip r:embed="rId2"/>
          <a:stretch>
            <a:fillRect/>
          </a:stretch>
        </p:blipFill>
        <p:spPr>
          <a:xfrm>
            <a:off x="777240" y="2011680"/>
            <a:ext cx="4572000" cy="2192905"/>
          </a:xfrm>
          <a:prstGeom prst="rect">
            <a:avLst/>
          </a:prstGeom>
        </p:spPr>
      </p:pic>
      <p:sp>
        <p:nvSpPr>
          <p:cNvPr id="8" name="TextBox 7"/>
          <p:cNvSpPr txBox="1"/>
          <p:nvPr/>
        </p:nvSpPr>
        <p:spPr>
          <a:xfrm>
            <a:off x="777240" y="4206240"/>
            <a:ext cx="4572000" cy="320040"/>
          </a:xfrm>
          <a:prstGeom prst="rect">
            <a:avLst/>
          </a:prstGeom>
          <a:noFill/>
        </p:spPr>
        <p:txBody>
          <a:bodyPr wrap="square" lIns="0" rIns="0" tIns="0" bIns="0">
            <a:spAutoFit/>
          </a:bodyPr>
          <a:lstStyle/>
          <a:p>
            <a:pPr algn="l">
              <a:lnSpc>
                <a:spcPct val="125000"/>
              </a:lnSpc>
            </a:pPr>
            <a:r>
              <a:rPr sz="1000" b="0" i="0">
                <a:solidFill>
                  <a:srgbClr val="9AA694"/>
                </a:solidFill>
                <a:latin typeface="Segoe UI"/>
              </a:rPr>
              <a:t>Relative cost of collecting one contribution.</a:t>
            </a:r>
          </a:p>
        </p:txBody>
      </p:sp>
      <p:sp>
        <p:nvSpPr>
          <p:cNvPr id="9" name="TextBox 8"/>
          <p:cNvSpPr txBox="1"/>
          <p:nvPr/>
        </p:nvSpPr>
        <p:spPr>
          <a:xfrm>
            <a:off x="5989320" y="1965960"/>
            <a:ext cx="5394960" cy="4114800"/>
          </a:xfrm>
          <a:prstGeom prst="rect">
            <a:avLst/>
          </a:prstGeom>
          <a:noFill/>
        </p:spPr>
        <p:txBody>
          <a:bodyPr wrap="square" lIns="0" rIns="0" tIns="0" bIns="0">
            <a:spAutoFit/>
          </a:bodyPr>
          <a:lstStyle/>
          <a:p>
            <a:pPr algn="l">
              <a:lnSpc>
                <a:spcPct val="150000"/>
              </a:lnSpc>
            </a:pPr>
            <a:r>
              <a:rPr sz="1200" b="0" i="0">
                <a:solidFill>
                  <a:srgbClr val="26301F"/>
                </a:solidFill>
                <a:latin typeface="Segoe UI"/>
              </a:rPr>
              <a:t>Raast is the State Bank's own instant payment system. It settles between two ordinary bank accounts in seconds and it is free at the point of use. That single fact is what makes a product that is nearly free to the member arithmetically possible.</a:t>
            </a:r>
          </a:p>
          <a:p>
            <a:pPr algn="l">
              <a:lnSpc>
                <a:spcPct val="150000"/>
              </a:lnSpc>
              <a:spcBef>
                <a:spcPts val="800"/>
              </a:spcBef>
            </a:pPr>
            <a:r>
              <a:rPr sz="1200" b="0" i="0">
                <a:solidFill>
                  <a:srgbClr val="26301F"/>
                </a:solidFill>
                <a:latin typeface="Segoe UI"/>
              </a:rPr>
              <a:t/>
            </a:r>
          </a:p>
          <a:p>
            <a:pPr algn="l">
              <a:lnSpc>
                <a:spcPct val="150000"/>
              </a:lnSpc>
              <a:spcBef>
                <a:spcPts val="800"/>
              </a:spcBef>
            </a:pPr>
            <a:r>
              <a:rPr sz="1200" b="0" i="0">
                <a:solidFill>
                  <a:srgbClr val="26301F"/>
                </a:solidFill>
                <a:latin typeface="Segoe UI"/>
              </a:rPr>
              <a:t>The mobile wallets, JazzCash and Easypaisa, reach the members who have no bank account. Wallet to wallet inside the same network is free. A wallet debit under a standing mandate carries a real cost and is used only as a fallback on smaller contributions.</a:t>
            </a:r>
          </a:p>
          <a:p>
            <a:pPr algn="l">
              <a:lnSpc>
                <a:spcPct val="150000"/>
              </a:lnSpc>
              <a:spcBef>
                <a:spcPts val="800"/>
              </a:spcBef>
            </a:pPr>
            <a:r>
              <a:rPr sz="1200" b="0" i="0">
                <a:solidFill>
                  <a:srgbClr val="26301F"/>
                </a:solidFill>
                <a:latin typeface="Segoe UI"/>
              </a:rPr>
              <a:t/>
            </a:r>
          </a:p>
          <a:p>
            <a:pPr algn="l">
              <a:lnSpc>
                <a:spcPct val="150000"/>
              </a:lnSpc>
              <a:spcBef>
                <a:spcPts val="800"/>
              </a:spcBef>
            </a:pPr>
            <a:r>
              <a:rPr sz="1200" b="0" i="0">
                <a:solidFill>
                  <a:srgbClr val="26301F"/>
                </a:solidFill>
                <a:latin typeface="Segoe UI"/>
              </a:rPr>
              <a:t>Cards are not offered on ordinary circles. A single card charge on an ordinary contribution costs more than the entire annual fee from that member.</a:t>
            </a:r>
          </a:p>
          <a:p>
            <a:pPr algn="l">
              <a:lnSpc>
                <a:spcPct val="150000"/>
              </a:lnSpc>
              <a:spcBef>
                <a:spcPts val="800"/>
              </a:spcBef>
            </a:pPr>
            <a:r>
              <a:rPr sz="1200" b="0" i="0">
                <a:solidFill>
                  <a:srgbClr val="26301F"/>
                </a:solidFill>
                <a:latin typeface="Segoe UI"/>
              </a:rPr>
              <a:t/>
            </a:r>
          </a:p>
          <a:p>
            <a:pPr algn="l">
              <a:lnSpc>
                <a:spcPct val="150000"/>
              </a:lnSpc>
              <a:spcBef>
                <a:spcPts val="800"/>
              </a:spcBef>
            </a:pPr>
            <a:r>
              <a:rPr sz="1200" b="0" i="0">
                <a:solidFill>
                  <a:srgbClr val="26301F"/>
                </a:solidFill>
                <a:latin typeface="Segoe UI"/>
              </a:rPr>
              <a:t>Cash through an agent is a last resort and is discouraged, because it produces a payment with no digital record.</a:t>
            </a:r>
          </a:p>
        </p:txBody>
      </p:sp>
      <p:sp>
        <p:nvSpPr>
          <p:cNvPr id="10" name="TextBox 9"/>
          <p:cNvSpPr txBox="1"/>
          <p:nvPr/>
        </p:nvSpPr>
        <p:spPr>
          <a:xfrm>
            <a:off x="777240" y="4754880"/>
            <a:ext cx="4572000" cy="1371600"/>
          </a:xfrm>
          <a:prstGeom prst="rect">
            <a:avLst/>
          </a:prstGeom>
          <a:noFill/>
        </p:spPr>
        <p:txBody>
          <a:bodyPr wrap="square" lIns="0" rIns="0" tIns="0" bIns="0">
            <a:spAutoFit/>
          </a:bodyPr>
          <a:lstStyle/>
          <a:p>
            <a:pPr algn="l">
              <a:lnSpc>
                <a:spcPct val="145000"/>
              </a:lnSpc>
            </a:pPr>
            <a:r>
              <a:rPr sz="1200" b="0" i="0">
                <a:solidFill>
                  <a:srgbClr val="0C1408"/>
                </a:solidFill>
                <a:latin typeface="Segoe UI"/>
              </a:rPr>
              <a:t>Halqa does not connect to Raast directly. It reaches it as a merchant of a licensed payment aggregator, which is a commercial services agreement rather than a licence, and is the same arrangement every e-commerce business in the country uses.</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777240" y="566928"/>
            <a:ext cx="10637215" cy="219456"/>
          </a:xfrm>
          <a:prstGeom prst="rect">
            <a:avLst/>
          </a:prstGeom>
          <a:noFill/>
        </p:spPr>
        <p:txBody>
          <a:bodyPr wrap="square" lIns="0" rIns="0" tIns="0" bIns="0">
            <a:spAutoFit/>
          </a:bodyPr>
          <a:lstStyle/>
          <a:p>
            <a:pPr algn="l">
              <a:lnSpc>
                <a:spcPct val="125000"/>
              </a:lnSpc>
            </a:pPr>
            <a:r>
              <a:rPr sz="950" b="1" i="0">
                <a:solidFill>
                  <a:srgbClr val="41801A"/>
                </a:solidFill>
                <a:latin typeface="Segoe UI"/>
              </a:rPr>
              <a:t>1  WHERE THE MONEY GOES</a:t>
            </a:r>
          </a:p>
        </p:txBody>
      </p:sp>
      <p:sp>
        <p:nvSpPr>
          <p:cNvPr id="3" name="TextBox 2"/>
          <p:cNvSpPr txBox="1"/>
          <p:nvPr/>
        </p:nvSpPr>
        <p:spPr>
          <a:xfrm>
            <a:off x="777240" y="841248"/>
            <a:ext cx="10637215" cy="502920"/>
          </a:xfrm>
          <a:prstGeom prst="rect">
            <a:avLst/>
          </a:prstGeom>
          <a:noFill/>
        </p:spPr>
        <p:txBody>
          <a:bodyPr wrap="square" lIns="0" rIns="0" tIns="0" bIns="0">
            <a:spAutoFit/>
          </a:bodyPr>
          <a:lstStyle/>
          <a:p>
            <a:pPr algn="l">
              <a:lnSpc>
                <a:spcPct val="125000"/>
              </a:lnSpc>
            </a:pPr>
            <a:r>
              <a:rPr sz="2700" b="1" i="0">
                <a:solidFill>
                  <a:srgbClr val="0C1408"/>
                </a:solidFill>
                <a:latin typeface="Segoe UI"/>
              </a:rPr>
              <a:t>The aggregator</a:t>
            </a:r>
          </a:p>
        </p:txBody>
      </p:sp>
      <p:sp>
        <p:nvSpPr>
          <p:cNvPr id="4" name="Rectangle 3"/>
          <p:cNvSpPr/>
          <p:nvPr/>
        </p:nvSpPr>
        <p:spPr>
          <a:xfrm>
            <a:off x="777240" y="1417320"/>
            <a:ext cx="1371600" cy="22860"/>
          </a:xfrm>
          <a:prstGeom prst="rect">
            <a:avLst/>
          </a:prstGeom>
          <a:solidFill>
            <a:srgbClr val="6DC72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777240" y="6382512"/>
            <a:ext cx="3657600" cy="228600"/>
          </a:xfrm>
          <a:prstGeom prst="rect">
            <a:avLst/>
          </a:prstGeom>
          <a:noFill/>
        </p:spPr>
        <p:txBody>
          <a:bodyPr wrap="square" lIns="0" rIns="0" tIns="0" bIns="0">
            <a:spAutoFit/>
          </a:bodyPr>
          <a:lstStyle/>
          <a:p>
            <a:pPr algn="l">
              <a:lnSpc>
                <a:spcPct val="125000"/>
              </a:lnSpc>
            </a:pPr>
            <a:r>
              <a:rPr sz="900" b="0" i="0">
                <a:solidFill>
                  <a:srgbClr val="9AA694"/>
                </a:solidFill>
                <a:latin typeface="Segoe UI"/>
              </a:rPr>
              <a:t>Halqa  ·  Confidential</a:t>
            </a:r>
          </a:p>
        </p:txBody>
      </p:sp>
      <p:sp>
        <p:nvSpPr>
          <p:cNvPr id="6" name="TextBox 5"/>
          <p:cNvSpPr txBox="1"/>
          <p:nvPr/>
        </p:nvSpPr>
        <p:spPr>
          <a:xfrm>
            <a:off x="10728655" y="6382512"/>
            <a:ext cx="685800" cy="228600"/>
          </a:xfrm>
          <a:prstGeom prst="rect">
            <a:avLst/>
          </a:prstGeom>
          <a:noFill/>
        </p:spPr>
        <p:txBody>
          <a:bodyPr wrap="square" lIns="0" rIns="0" tIns="0" bIns="0">
            <a:spAutoFit/>
          </a:bodyPr>
          <a:lstStyle/>
          <a:p>
            <a:pPr algn="r">
              <a:lnSpc>
                <a:spcPct val="125000"/>
              </a:lnSpc>
            </a:pPr>
            <a:r>
              <a:rPr sz="900" b="0" i="0">
                <a:solidFill>
                  <a:srgbClr val="6F7B68"/>
                </a:solidFill>
                <a:latin typeface="Segoe UI"/>
              </a:rPr>
              <a:t>11</a:t>
            </a:r>
          </a:p>
        </p:txBody>
      </p:sp>
      <p:graphicFrame>
        <p:nvGraphicFramePr>
          <p:cNvPr id="7" name="Table 6"/>
          <p:cNvGraphicFramePr>
            <a:graphicFrameLocks noGrp="1"/>
          </p:cNvGraphicFramePr>
          <p:nvPr/>
        </p:nvGraphicFramePr>
        <p:xfrm>
          <a:off x="777240" y="1965960"/>
          <a:ext cx="10607040" cy="3615143"/>
        </p:xfrm>
        <a:graphic>
          <a:graphicData uri="http://schemas.openxmlformats.org/drawingml/2006/table">
            <a:tbl>
              <a:tblPr>
                <a:tableStyleId>{5C22544A-7EE6-4342-B048-85BDC9FD1C3A}</a:tableStyleId>
              </a:tblPr>
              <a:tblGrid>
                <a:gridCol w="2377440"/>
                <a:gridCol w="8229600"/>
              </a:tblGrid>
              <a:tr h="516449">
                <a:tc>
                  <a:txBody>
                    <a:bodyPr wrap="square"/>
                    <a:lstStyle/>
                    <a:p>
                      <a:r>
                        <a:rPr sz="850" b="1">
                          <a:solidFill>
                            <a:srgbClr val="41801A"/>
                          </a:solidFill>
                          <a:latin typeface="Segoe UI"/>
                        </a:rPr>
                        <a:t>QUESTION</a:t>
                      </a:r>
                    </a:p>
                  </a:txBody>
                  <a:tcPr marL="45720" marR="109728" marT="27432" marB="27432" anchor="ctr">
                    <a:lnB w="9525" cap="flat" cmpd="sng" algn="ctr">
                      <a:solidFill>
                        <a:srgbClr val="41801A"/>
                      </a:solidFill>
                    </a:lnB>
                    <a:solidFill>
                      <a:srgbClr val="FFFFFF"/>
                    </a:solidFill>
                  </a:tcPr>
                </a:tc>
                <a:tc>
                  <a:txBody>
                    <a:bodyPr wrap="square"/>
                    <a:lstStyle/>
                    <a:p>
                      <a:r>
                        <a:rPr sz="850" b="1">
                          <a:solidFill>
                            <a:srgbClr val="41801A"/>
                          </a:solidFill>
                          <a:latin typeface="Segoe UI"/>
                        </a:rPr>
                        <a:t>ANSWER</a:t>
                      </a:r>
                    </a:p>
                  </a:txBody>
                  <a:tcPr marL="45720" marR="109728" marT="27432" marB="27432" anchor="ctr">
                    <a:lnB w="9525" cap="flat" cmpd="sng" algn="ctr">
                      <a:solidFill>
                        <a:srgbClr val="41801A"/>
                      </a:solidFill>
                    </a:lnB>
                    <a:solidFill>
                      <a:srgbClr val="FFFFFF"/>
                    </a:solidFill>
                  </a:tcPr>
                </a:tc>
              </a:tr>
              <a:tr h="516449">
                <a:tc>
                  <a:txBody>
                    <a:bodyPr wrap="square"/>
                    <a:lstStyle/>
                    <a:p>
                      <a:r>
                        <a:rPr sz="850" b="0">
                          <a:solidFill>
                            <a:srgbClr val="26301F"/>
                          </a:solidFill>
                          <a:latin typeface="Segoe UI"/>
                        </a:rPr>
                        <a:t>What is an aggregator</a:t>
                      </a:r>
                    </a:p>
                  </a:txBody>
                  <a:tcPr marL="45720" marR="109728" marT="27432" marB="27432" anchor="ctr">
                    <a:lnB w="9525" cap="flat" cmpd="sng" algn="ctr">
                      <a:solidFill>
                        <a:srgbClr val="DCE3D6"/>
                      </a:solidFill>
                    </a:lnB>
                    <a:solidFill>
                      <a:srgbClr val="FFFFFF"/>
                    </a:solidFill>
                  </a:tcPr>
                </a:tc>
                <a:tc>
                  <a:txBody>
                    <a:bodyPr wrap="square"/>
                    <a:lstStyle/>
                    <a:p>
                      <a:r>
                        <a:rPr sz="850" b="0">
                          <a:solidFill>
                            <a:srgbClr val="26301F"/>
                          </a:solidFill>
                          <a:latin typeface="Segoe UI"/>
                        </a:rPr>
                        <a:t>A company licensed by the State Bank to accept payments on behalf of merchants. It holds the connection to the rails, the switch and the banks, and it takes responsibility for the regulated part of moving money</a:t>
                      </a:r>
                    </a:p>
                  </a:txBody>
                  <a:tcPr marL="45720" marR="109728" marT="27432" marB="27432" anchor="ctr">
                    <a:lnB w="9525" cap="flat" cmpd="sng" algn="ctr">
                      <a:solidFill>
                        <a:srgbClr val="DCE3D6"/>
                      </a:solidFill>
                    </a:lnB>
                    <a:solidFill>
                      <a:srgbClr val="FFFFFF"/>
                    </a:solidFill>
                  </a:tcPr>
                </a:tc>
              </a:tr>
              <a:tr h="516449">
                <a:tc>
                  <a:txBody>
                    <a:bodyPr wrap="square"/>
                    <a:lstStyle/>
                    <a:p>
                      <a:r>
                        <a:rPr sz="850" b="0">
                          <a:solidFill>
                            <a:srgbClr val="26301F"/>
                          </a:solidFill>
                          <a:latin typeface="Segoe UI"/>
                        </a:rPr>
                        <a:t>What agreement is needed</a:t>
                      </a:r>
                    </a:p>
                  </a:txBody>
                  <a:tcPr marL="45720" marR="109728" marT="27432" marB="27432" anchor="ctr">
                    <a:lnB w="9525" cap="flat" cmpd="sng" algn="ctr">
                      <a:solidFill>
                        <a:srgbClr val="DCE3D6"/>
                      </a:solidFill>
                    </a:lnB>
                    <a:solidFill>
                      <a:srgbClr val="FFFFFF"/>
                    </a:solidFill>
                  </a:tcPr>
                </a:tc>
                <a:tc>
                  <a:txBody>
                    <a:bodyPr wrap="square"/>
                    <a:lstStyle/>
                    <a:p>
                      <a:r>
                        <a:rPr sz="850" b="0">
                          <a:solidFill>
                            <a:srgbClr val="26301F"/>
                          </a:solidFill>
                          <a:latin typeface="Segoe UI"/>
                        </a:rPr>
                        <a:t>A merchant services agreement. It is a contract negotiated commercially, not a permission granted by a regulator, and it is the same document a retailer signs to accept online payments</a:t>
                      </a:r>
                    </a:p>
                  </a:txBody>
                  <a:tcPr marL="45720" marR="109728" marT="27432" marB="27432" anchor="ctr">
                    <a:lnB w="9525" cap="flat" cmpd="sng" algn="ctr">
                      <a:solidFill>
                        <a:srgbClr val="DCE3D6"/>
                      </a:solidFill>
                    </a:lnB>
                    <a:solidFill>
                      <a:srgbClr val="FFFFFF"/>
                    </a:solidFill>
                  </a:tcPr>
                </a:tc>
              </a:tr>
              <a:tr h="516449">
                <a:tc>
                  <a:txBody>
                    <a:bodyPr wrap="square"/>
                    <a:lstStyle/>
                    <a:p>
                      <a:r>
                        <a:rPr sz="850" b="0">
                          <a:solidFill>
                            <a:srgbClr val="26301F"/>
                          </a:solidFill>
                          <a:latin typeface="Segoe UI"/>
                        </a:rPr>
                        <a:t>Who the candidates are</a:t>
                      </a:r>
                    </a:p>
                  </a:txBody>
                  <a:tcPr marL="45720" marR="109728" marT="27432" marB="27432" anchor="ctr">
                    <a:lnB w="9525" cap="flat" cmpd="sng" algn="ctr">
                      <a:solidFill>
                        <a:srgbClr val="DCE3D6"/>
                      </a:solidFill>
                    </a:lnB>
                    <a:solidFill>
                      <a:srgbClr val="FFFFFF"/>
                    </a:solidFill>
                  </a:tcPr>
                </a:tc>
                <a:tc>
                  <a:txBody>
                    <a:bodyPr wrap="square"/>
                    <a:lstStyle/>
                    <a:p>
                      <a:r>
                        <a:rPr sz="850" b="0">
                          <a:solidFill>
                            <a:srgbClr val="26301F"/>
                          </a:solidFill>
                          <a:latin typeface="Segoe UI"/>
                        </a:rPr>
                        <a:t>PayFast and Safepay are the established domestic aggregators. 1LINK operates the switch that connects the banks to one another</a:t>
                      </a:r>
                    </a:p>
                  </a:txBody>
                  <a:tcPr marL="45720" marR="109728" marT="27432" marB="27432" anchor="ctr">
                    <a:lnB w="9525" cap="flat" cmpd="sng" algn="ctr">
                      <a:solidFill>
                        <a:srgbClr val="DCE3D6"/>
                      </a:solidFill>
                    </a:lnB>
                    <a:solidFill>
                      <a:srgbClr val="FFFFFF"/>
                    </a:solidFill>
                  </a:tcPr>
                </a:tc>
              </a:tr>
              <a:tr h="516449">
                <a:tc>
                  <a:txBody>
                    <a:bodyPr wrap="square"/>
                    <a:lstStyle/>
                    <a:p>
                      <a:r>
                        <a:rPr sz="850" b="0">
                          <a:solidFill>
                            <a:srgbClr val="26301F"/>
                          </a:solidFill>
                          <a:latin typeface="Segoe UI"/>
                        </a:rPr>
                        <a:t>What they do for Halqa</a:t>
                      </a:r>
                    </a:p>
                  </a:txBody>
                  <a:tcPr marL="45720" marR="109728" marT="27432" marB="27432" anchor="ctr">
                    <a:lnB w="9525" cap="flat" cmpd="sng" algn="ctr">
                      <a:solidFill>
                        <a:srgbClr val="DCE3D6"/>
                      </a:solidFill>
                    </a:lnB>
                    <a:solidFill>
                      <a:srgbClr val="FFFFFF"/>
                    </a:solidFill>
                  </a:tcPr>
                </a:tc>
                <a:tc>
                  <a:txBody>
                    <a:bodyPr wrap="square"/>
                    <a:lstStyle/>
                    <a:p>
                      <a:r>
                        <a:rPr sz="850" b="0">
                          <a:solidFill>
                            <a:srgbClr val="26301F"/>
                          </a:solidFill>
                          <a:latin typeface="Segoe UI"/>
                        </a:rPr>
                        <a:t>Present the debit to the member's bank or wallet, return success or failure, hand back the registered account holder name at the moment an instrument is linked, and settle the funds to the receiving member</a:t>
                      </a:r>
                    </a:p>
                  </a:txBody>
                  <a:tcPr marL="45720" marR="109728" marT="27432" marB="27432" anchor="ctr">
                    <a:lnB w="9525" cap="flat" cmpd="sng" algn="ctr">
                      <a:solidFill>
                        <a:srgbClr val="DCE3D6"/>
                      </a:solidFill>
                    </a:lnB>
                    <a:solidFill>
                      <a:srgbClr val="FFFFFF"/>
                    </a:solidFill>
                  </a:tcPr>
                </a:tc>
              </a:tr>
              <a:tr h="516449">
                <a:tc>
                  <a:txBody>
                    <a:bodyPr wrap="square"/>
                    <a:lstStyle/>
                    <a:p>
                      <a:r>
                        <a:rPr sz="850" b="0">
                          <a:solidFill>
                            <a:srgbClr val="26301F"/>
                          </a:solidFill>
                          <a:latin typeface="Segoe UI"/>
                        </a:rPr>
                        <a:t>What they do not do</a:t>
                      </a:r>
                    </a:p>
                  </a:txBody>
                  <a:tcPr marL="45720" marR="109728" marT="27432" marB="27432" anchor="ctr">
                    <a:lnB w="9525" cap="flat" cmpd="sng" algn="ctr">
                      <a:solidFill>
                        <a:srgbClr val="DCE3D6"/>
                      </a:solidFill>
                    </a:lnB>
                    <a:solidFill>
                      <a:srgbClr val="FFFFFF"/>
                    </a:solidFill>
                  </a:tcPr>
                </a:tc>
                <a:tc>
                  <a:txBody>
                    <a:bodyPr wrap="square"/>
                    <a:lstStyle/>
                    <a:p>
                      <a:r>
                        <a:rPr sz="850" b="0">
                          <a:solidFill>
                            <a:srgbClr val="26301F"/>
                          </a:solidFill>
                          <a:latin typeface="Segoe UI"/>
                        </a:rPr>
                        <a:t>They do not hold funds for Halqa, they do not underwrite anything, and they have no view of the circle. They see a payer, a payee and an amount</a:t>
                      </a:r>
                    </a:p>
                  </a:txBody>
                  <a:tcPr marL="45720" marR="109728" marT="27432" marB="27432" anchor="ctr">
                    <a:lnB w="9525" cap="flat" cmpd="sng" algn="ctr">
                      <a:solidFill>
                        <a:srgbClr val="DCE3D6"/>
                      </a:solidFill>
                    </a:lnB>
                    <a:solidFill>
                      <a:srgbClr val="FFFFFF"/>
                    </a:solidFill>
                  </a:tcPr>
                </a:tc>
              </a:tr>
              <a:tr h="516449">
                <a:tc>
                  <a:txBody>
                    <a:bodyPr wrap="square"/>
                    <a:lstStyle/>
                    <a:p>
                      <a:r>
                        <a:rPr sz="850" b="0">
                          <a:solidFill>
                            <a:srgbClr val="26301F"/>
                          </a:solidFill>
                          <a:latin typeface="Segoe UI"/>
                        </a:rPr>
                        <a:t>What it costs</a:t>
                      </a:r>
                    </a:p>
                  </a:txBody>
                  <a:tcPr marL="45720" marR="109728" marT="27432" marB="27432" anchor="ctr">
                    <a:lnB w="9525" cap="flat" cmpd="sng" algn="ctr">
                      <a:solidFill>
                        <a:srgbClr val="DCE3D6"/>
                      </a:solidFill>
                    </a:lnB>
                    <a:solidFill>
                      <a:srgbClr val="FFFFFF"/>
                    </a:solidFill>
                  </a:tcPr>
                </a:tc>
                <a:tc>
                  <a:txBody>
                    <a:bodyPr wrap="square"/>
                    <a:lstStyle/>
                    <a:p>
                      <a:r>
                        <a:rPr sz="850" b="0">
                          <a:solidFill>
                            <a:srgbClr val="26301F"/>
                          </a:solidFill>
                          <a:latin typeface="Segoe UI"/>
                        </a:rPr>
                        <a:t>A per transaction charge that varies by rail. On the instant payment rail it is close to nothing, which is why the whole collection design is built on that rail</a:t>
                      </a:r>
                    </a:p>
                  </a:txBody>
                  <a:tcPr marL="45720" marR="109728" marT="27432" marB="27432" anchor="ctr">
                    <a:lnB w="9525" cap="flat" cmpd="sng" algn="ctr">
                      <a:solidFill>
                        <a:srgbClr val="DCE3D6"/>
                      </a:solidFill>
                    </a:lnB>
                    <a:solidFill>
                      <a:srgbClr val="FFFFFF"/>
                    </a:solidFill>
                  </a:tcPr>
                </a:tc>
              </a:tr>
            </a:tbl>
          </a:graphicData>
        </a:graphic>
      </p:graphicFrame>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777240" y="566928"/>
            <a:ext cx="10637215" cy="219456"/>
          </a:xfrm>
          <a:prstGeom prst="rect">
            <a:avLst/>
          </a:prstGeom>
          <a:noFill/>
        </p:spPr>
        <p:txBody>
          <a:bodyPr wrap="square" lIns="0" rIns="0" tIns="0" bIns="0">
            <a:spAutoFit/>
          </a:bodyPr>
          <a:lstStyle/>
          <a:p>
            <a:pPr algn="l">
              <a:lnSpc>
                <a:spcPct val="125000"/>
              </a:lnSpc>
            </a:pPr>
            <a:r>
              <a:rPr sz="950" b="1" i="0">
                <a:solidFill>
                  <a:srgbClr val="41801A"/>
                </a:solidFill>
                <a:latin typeface="Segoe UI"/>
              </a:rPr>
              <a:t>1  INSTITUTIONS</a:t>
            </a:r>
          </a:p>
        </p:txBody>
      </p:sp>
      <p:sp>
        <p:nvSpPr>
          <p:cNvPr id="3" name="TextBox 2"/>
          <p:cNvSpPr txBox="1"/>
          <p:nvPr/>
        </p:nvSpPr>
        <p:spPr>
          <a:xfrm>
            <a:off x="777240" y="841248"/>
            <a:ext cx="10637215" cy="502920"/>
          </a:xfrm>
          <a:prstGeom prst="rect">
            <a:avLst/>
          </a:prstGeom>
          <a:noFill/>
        </p:spPr>
        <p:txBody>
          <a:bodyPr wrap="square" lIns="0" rIns="0" tIns="0" bIns="0">
            <a:spAutoFit/>
          </a:bodyPr>
          <a:lstStyle/>
          <a:p>
            <a:pPr algn="l">
              <a:lnSpc>
                <a:spcPct val="125000"/>
              </a:lnSpc>
            </a:pPr>
            <a:r>
              <a:rPr sz="2700" b="1" i="0">
                <a:solidFill>
                  <a:srgbClr val="0C1408"/>
                </a:solidFill>
                <a:latin typeface="Segoe UI"/>
              </a:rPr>
              <a:t>What a trustee is and why one is needed</a:t>
            </a:r>
          </a:p>
        </p:txBody>
      </p:sp>
      <p:sp>
        <p:nvSpPr>
          <p:cNvPr id="4" name="Rectangle 3"/>
          <p:cNvSpPr/>
          <p:nvPr/>
        </p:nvSpPr>
        <p:spPr>
          <a:xfrm>
            <a:off x="777240" y="1417320"/>
            <a:ext cx="1371600" cy="22860"/>
          </a:xfrm>
          <a:prstGeom prst="rect">
            <a:avLst/>
          </a:prstGeom>
          <a:solidFill>
            <a:srgbClr val="6DC72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777240" y="6382512"/>
            <a:ext cx="3657600" cy="228600"/>
          </a:xfrm>
          <a:prstGeom prst="rect">
            <a:avLst/>
          </a:prstGeom>
          <a:noFill/>
        </p:spPr>
        <p:txBody>
          <a:bodyPr wrap="square" lIns="0" rIns="0" tIns="0" bIns="0">
            <a:spAutoFit/>
          </a:bodyPr>
          <a:lstStyle/>
          <a:p>
            <a:pPr algn="l">
              <a:lnSpc>
                <a:spcPct val="125000"/>
              </a:lnSpc>
            </a:pPr>
            <a:r>
              <a:rPr sz="900" b="0" i="0">
                <a:solidFill>
                  <a:srgbClr val="9AA694"/>
                </a:solidFill>
                <a:latin typeface="Segoe UI"/>
              </a:rPr>
              <a:t>Halqa  ·  Confidential</a:t>
            </a:r>
          </a:p>
        </p:txBody>
      </p:sp>
      <p:sp>
        <p:nvSpPr>
          <p:cNvPr id="6" name="TextBox 5"/>
          <p:cNvSpPr txBox="1"/>
          <p:nvPr/>
        </p:nvSpPr>
        <p:spPr>
          <a:xfrm>
            <a:off x="10728655" y="6382512"/>
            <a:ext cx="685800" cy="228600"/>
          </a:xfrm>
          <a:prstGeom prst="rect">
            <a:avLst/>
          </a:prstGeom>
          <a:noFill/>
        </p:spPr>
        <p:txBody>
          <a:bodyPr wrap="square" lIns="0" rIns="0" tIns="0" bIns="0">
            <a:spAutoFit/>
          </a:bodyPr>
          <a:lstStyle/>
          <a:p>
            <a:pPr algn="r">
              <a:lnSpc>
                <a:spcPct val="125000"/>
              </a:lnSpc>
            </a:pPr>
            <a:r>
              <a:rPr sz="900" b="0" i="0">
                <a:solidFill>
                  <a:srgbClr val="6F7B68"/>
                </a:solidFill>
                <a:latin typeface="Segoe UI"/>
              </a:rPr>
              <a:t>12</a:t>
            </a:r>
          </a:p>
        </p:txBody>
      </p:sp>
      <p:sp>
        <p:nvSpPr>
          <p:cNvPr id="7" name="TextBox 6"/>
          <p:cNvSpPr txBox="1"/>
          <p:nvPr/>
        </p:nvSpPr>
        <p:spPr>
          <a:xfrm>
            <a:off x="777240" y="1965960"/>
            <a:ext cx="10607040" cy="1188720"/>
          </a:xfrm>
          <a:prstGeom prst="rect">
            <a:avLst/>
          </a:prstGeom>
          <a:noFill/>
        </p:spPr>
        <p:txBody>
          <a:bodyPr wrap="square" lIns="0" rIns="0" tIns="0" bIns="0">
            <a:spAutoFit/>
          </a:bodyPr>
          <a:lstStyle/>
          <a:p>
            <a:pPr algn="l">
              <a:lnSpc>
                <a:spcPct val="150000"/>
              </a:lnSpc>
            </a:pPr>
            <a:r>
              <a:rPr sz="1400" b="0" i="0">
                <a:solidFill>
                  <a:srgbClr val="26301F"/>
                </a:solidFill>
                <a:latin typeface="Segoe UI"/>
              </a:rPr>
              <a:t>A trustee is an independent, licensed company whose only job is to hold assets on behalf of somebody else and to check that the person managing those assets follows the rules. It is the structural answer to the question a regulator will always ask: if the platform disappears tomorrow, what happens to the members' property?</a:t>
            </a:r>
          </a:p>
        </p:txBody>
      </p:sp>
      <p:graphicFrame>
        <p:nvGraphicFramePr>
          <p:cNvPr id="8" name="Table 7"/>
          <p:cNvGraphicFramePr>
            <a:graphicFrameLocks noGrp="1"/>
          </p:cNvGraphicFramePr>
          <p:nvPr/>
        </p:nvGraphicFramePr>
        <p:xfrm>
          <a:off x="777240" y="3246120"/>
          <a:ext cx="10607040" cy="2751425"/>
        </p:xfrm>
        <a:graphic>
          <a:graphicData uri="http://schemas.openxmlformats.org/drawingml/2006/table">
            <a:tbl>
              <a:tblPr>
                <a:tableStyleId>{5C22544A-7EE6-4342-B048-85BDC9FD1C3A}</a:tableStyleId>
              </a:tblPr>
              <a:tblGrid>
                <a:gridCol w="2560320"/>
                <a:gridCol w="3931920"/>
                <a:gridCol w="4114800"/>
              </a:tblGrid>
              <a:tr h="550285">
                <a:tc>
                  <a:txBody>
                    <a:bodyPr wrap="square"/>
                    <a:lstStyle/>
                    <a:p>
                      <a:r>
                        <a:rPr sz="700" b="1">
                          <a:solidFill>
                            <a:srgbClr val="41801A"/>
                          </a:solidFill>
                          <a:latin typeface="Segoe UI"/>
                        </a:rPr>
                        <a:t>WHERE A TRUSTEE APPEARS</a:t>
                      </a:r>
                    </a:p>
                  </a:txBody>
                  <a:tcPr marL="45720" marR="109728" marT="27432" marB="27432" anchor="ctr">
                    <a:lnB w="9525" cap="flat" cmpd="sng" algn="ctr">
                      <a:solidFill>
                        <a:srgbClr val="41801A"/>
                      </a:solidFill>
                    </a:lnB>
                    <a:solidFill>
                      <a:srgbClr val="FFFFFF"/>
                    </a:solidFill>
                  </a:tcPr>
                </a:tc>
                <a:tc>
                  <a:txBody>
                    <a:bodyPr wrap="square"/>
                    <a:lstStyle/>
                    <a:p>
                      <a:r>
                        <a:rPr sz="700" b="1">
                          <a:solidFill>
                            <a:srgbClr val="41801A"/>
                          </a:solidFill>
                          <a:latin typeface="Segoe UI"/>
                        </a:rPr>
                        <a:t>WHAT IT HOLDS</a:t>
                      </a:r>
                    </a:p>
                  </a:txBody>
                  <a:tcPr marL="45720" marR="109728" marT="27432" marB="27432" anchor="ctr">
                    <a:lnB w="9525" cap="flat" cmpd="sng" algn="ctr">
                      <a:solidFill>
                        <a:srgbClr val="41801A"/>
                      </a:solidFill>
                    </a:lnB>
                    <a:solidFill>
                      <a:srgbClr val="FFFFFF"/>
                    </a:solidFill>
                  </a:tcPr>
                </a:tc>
                <a:tc>
                  <a:txBody>
                    <a:bodyPr wrap="square"/>
                    <a:lstStyle/>
                    <a:p>
                      <a:r>
                        <a:rPr sz="700" b="1">
                          <a:solidFill>
                            <a:srgbClr val="41801A"/>
                          </a:solidFill>
                          <a:latin typeface="Segoe UI"/>
                        </a:rPr>
                        <a:t>WHAT IT PROTECTS AGAINST</a:t>
                      </a:r>
                    </a:p>
                  </a:txBody>
                  <a:tcPr marL="45720" marR="109728" marT="27432" marB="27432" anchor="ctr">
                    <a:lnB w="9525" cap="flat" cmpd="sng" algn="ctr">
                      <a:solidFill>
                        <a:srgbClr val="41801A"/>
                      </a:solidFill>
                    </a:lnB>
                    <a:solidFill>
                      <a:srgbClr val="FFFFFF"/>
                    </a:solidFill>
                  </a:tcPr>
                </a:tc>
              </a:tr>
              <a:tr h="550285">
                <a:tc>
                  <a:txBody>
                    <a:bodyPr wrap="square"/>
                    <a:lstStyle/>
                    <a:p>
                      <a:r>
                        <a:rPr sz="700" b="0">
                          <a:solidFill>
                            <a:srgbClr val="26301F"/>
                          </a:solidFill>
                          <a:latin typeface="Segoe UI"/>
                        </a:rPr>
                        <a:t>The savings layer</a:t>
                      </a:r>
                    </a:p>
                  </a:txBody>
                  <a:tcPr marL="45720" marR="109728" marT="27432" marB="27432" anchor="ctr">
                    <a:lnB w="9525" cap="flat" cmpd="sng" algn="ctr">
                      <a:solidFill>
                        <a:srgbClr val="DCE3D6"/>
                      </a:solidFill>
                    </a:lnB>
                    <a:solidFill>
                      <a:srgbClr val="FFFFFF"/>
                    </a:solidFill>
                  </a:tcPr>
                </a:tc>
                <a:tc>
                  <a:txBody>
                    <a:bodyPr wrap="square"/>
                    <a:lstStyle/>
                    <a:p>
                      <a:r>
                        <a:rPr sz="700" b="0">
                          <a:solidFill>
                            <a:srgbClr val="26301F"/>
                          </a:solidFill>
                          <a:latin typeface="Segoe UI"/>
                        </a:rPr>
                        <a:t>Units in a regulated fund, registered in the individual member's own name</a:t>
                      </a:r>
                    </a:p>
                  </a:txBody>
                  <a:tcPr marL="45720" marR="109728" marT="27432" marB="27432" anchor="ctr">
                    <a:lnB w="9525" cap="flat" cmpd="sng" algn="ctr">
                      <a:solidFill>
                        <a:srgbClr val="DCE3D6"/>
                      </a:solidFill>
                    </a:lnB>
                    <a:solidFill>
                      <a:srgbClr val="FFFFFF"/>
                    </a:solidFill>
                  </a:tcPr>
                </a:tc>
                <a:tc>
                  <a:txBody>
                    <a:bodyPr wrap="square"/>
                    <a:lstStyle/>
                    <a:p>
                      <a:r>
                        <a:rPr sz="700" b="0">
                          <a:solidFill>
                            <a:srgbClr val="26301F"/>
                          </a:solidFill>
                          <a:latin typeface="Segoe UI"/>
                        </a:rPr>
                        <a:t>Halqa failing, or Halqa being tempted to use pooled savings. The units are the member's property and are not on anybody's balance sheet but their own</a:t>
                      </a:r>
                    </a:p>
                  </a:txBody>
                  <a:tcPr marL="45720" marR="109728" marT="27432" marB="27432" anchor="ctr">
                    <a:lnB w="9525" cap="flat" cmpd="sng" algn="ctr">
                      <a:solidFill>
                        <a:srgbClr val="DCE3D6"/>
                      </a:solidFill>
                    </a:lnB>
                    <a:solidFill>
                      <a:srgbClr val="FFFFFF"/>
                    </a:solidFill>
                  </a:tcPr>
                </a:tc>
              </a:tr>
              <a:tr h="550285">
                <a:tc>
                  <a:txBody>
                    <a:bodyPr wrap="square"/>
                    <a:lstStyle/>
                    <a:p>
                      <a:r>
                        <a:rPr sz="700" b="0">
                          <a:solidFill>
                            <a:srgbClr val="26301F"/>
                          </a:solidFill>
                          <a:latin typeface="Segoe UI"/>
                        </a:rPr>
                        <a:t>Asset circles</a:t>
                      </a:r>
                    </a:p>
                  </a:txBody>
                  <a:tcPr marL="45720" marR="109728" marT="27432" marB="27432" anchor="ctr">
                    <a:lnB w="9525" cap="flat" cmpd="sng" algn="ctr">
                      <a:solidFill>
                        <a:srgbClr val="DCE3D6"/>
                      </a:solidFill>
                    </a:lnB>
                    <a:solidFill>
                      <a:srgbClr val="FFFFFF"/>
                    </a:solidFill>
                  </a:tcPr>
                </a:tc>
                <a:tc>
                  <a:txBody>
                    <a:bodyPr wrap="square"/>
                    <a:lstStyle/>
                    <a:p>
                      <a:r>
                        <a:rPr sz="700" b="0">
                          <a:solidFill>
                            <a:srgbClr val="26301F"/>
                          </a:solidFill>
                          <a:latin typeface="Segoe UI"/>
                        </a:rPr>
                        <a:t>Legal title to the item bought with the pot, held until that member has finished paying</a:t>
                      </a:r>
                    </a:p>
                  </a:txBody>
                  <a:tcPr marL="45720" marR="109728" marT="27432" marB="27432" anchor="ctr">
                    <a:lnB w="9525" cap="flat" cmpd="sng" algn="ctr">
                      <a:solidFill>
                        <a:srgbClr val="DCE3D6"/>
                      </a:solidFill>
                    </a:lnB>
                    <a:solidFill>
                      <a:srgbClr val="FFFFFF"/>
                    </a:solidFill>
                  </a:tcPr>
                </a:tc>
                <a:tc>
                  <a:txBody>
                    <a:bodyPr wrap="square"/>
                    <a:lstStyle/>
                    <a:p>
                      <a:r>
                        <a:rPr sz="700" b="0">
                          <a:solidFill>
                            <a:srgbClr val="26301F"/>
                          </a:solidFill>
                          <a:latin typeface="Segoe UI"/>
                        </a:rPr>
                        <a:t>A member taking possession of an item and walking away. The trustee, not Halqa, can enforce and sell</a:t>
                      </a:r>
                    </a:p>
                  </a:txBody>
                  <a:tcPr marL="45720" marR="109728" marT="27432" marB="27432" anchor="ctr">
                    <a:lnB w="9525" cap="flat" cmpd="sng" algn="ctr">
                      <a:solidFill>
                        <a:srgbClr val="DCE3D6"/>
                      </a:solidFill>
                    </a:lnB>
                    <a:solidFill>
                      <a:srgbClr val="FFFFFF"/>
                    </a:solidFill>
                  </a:tcPr>
                </a:tc>
              </a:tr>
              <a:tr h="550285">
                <a:tc>
                  <a:txBody>
                    <a:bodyPr wrap="square"/>
                    <a:lstStyle/>
                    <a:p>
                      <a:r>
                        <a:rPr sz="700" b="0">
                          <a:solidFill>
                            <a:srgbClr val="26301F"/>
                          </a:solidFill>
                          <a:latin typeface="Segoe UI"/>
                        </a:rPr>
                        <a:t>Pledged savings used as security</a:t>
                      </a:r>
                    </a:p>
                  </a:txBody>
                  <a:tcPr marL="45720" marR="109728" marT="27432" marB="27432" anchor="ctr">
                    <a:lnB w="9525" cap="flat" cmpd="sng" algn="ctr">
                      <a:solidFill>
                        <a:srgbClr val="DCE3D6"/>
                      </a:solidFill>
                    </a:lnB>
                    <a:solidFill>
                      <a:srgbClr val="FFFFFF"/>
                    </a:solidFill>
                  </a:tcPr>
                </a:tc>
                <a:tc>
                  <a:txBody>
                    <a:bodyPr wrap="square"/>
                    <a:lstStyle/>
                    <a:p>
                      <a:r>
                        <a:rPr sz="700" b="0">
                          <a:solidFill>
                            <a:srgbClr val="26301F"/>
                          </a:solidFill>
                          <a:latin typeface="Segoe UI"/>
                        </a:rPr>
                        <a:t>The same units, with a charge in favour of the circle's members and a redemption instruction the member signed in advance</a:t>
                      </a:r>
                    </a:p>
                  </a:txBody>
                  <a:tcPr marL="45720" marR="109728" marT="27432" marB="27432" anchor="ctr">
                    <a:lnB w="9525" cap="flat" cmpd="sng" algn="ctr">
                      <a:solidFill>
                        <a:srgbClr val="DCE3D6"/>
                      </a:solidFill>
                    </a:lnB>
                    <a:solidFill>
                      <a:srgbClr val="FFFFFF"/>
                    </a:solidFill>
                  </a:tcPr>
                </a:tc>
                <a:tc>
                  <a:txBody>
                    <a:bodyPr wrap="square"/>
                    <a:lstStyle/>
                    <a:p>
                      <a:r>
                        <a:rPr sz="700" b="0">
                          <a:solidFill>
                            <a:srgbClr val="26301F"/>
                          </a:solidFill>
                          <a:latin typeface="Segoe UI"/>
                        </a:rPr>
                        <a:t>A default that could have been cured. The trustee redeems and pays the circle directly, and Halqa never receives the money</a:t>
                      </a:r>
                    </a:p>
                  </a:txBody>
                  <a:tcPr marL="45720" marR="109728" marT="27432" marB="27432" anchor="ctr">
                    <a:lnB w="9525" cap="flat" cmpd="sng" algn="ctr">
                      <a:solidFill>
                        <a:srgbClr val="DCE3D6"/>
                      </a:solidFill>
                    </a:lnB>
                    <a:solidFill>
                      <a:srgbClr val="FFFFFF"/>
                    </a:solidFill>
                  </a:tcPr>
                </a:tc>
              </a:tr>
              <a:tr h="550285">
                <a:tc>
                  <a:txBody>
                    <a:bodyPr wrap="square"/>
                    <a:lstStyle/>
                    <a:p>
                      <a:r>
                        <a:rPr sz="700" b="0">
                          <a:solidFill>
                            <a:srgbClr val="26301F"/>
                          </a:solidFill>
                          <a:latin typeface="Segoe UI"/>
                        </a:rPr>
                        <a:t>A future cover facility</a:t>
                      </a:r>
                    </a:p>
                  </a:txBody>
                  <a:tcPr marL="45720" marR="109728" marT="27432" marB="27432" anchor="ctr">
                    <a:lnB w="9525" cap="flat" cmpd="sng" algn="ctr">
                      <a:solidFill>
                        <a:srgbClr val="DCE3D6"/>
                      </a:solidFill>
                    </a:lnB>
                    <a:solidFill>
                      <a:srgbClr val="FFFFFF"/>
                    </a:solidFill>
                  </a:tcPr>
                </a:tc>
                <a:tc>
                  <a:txBody>
                    <a:bodyPr wrap="square"/>
                    <a:lstStyle/>
                    <a:p>
                      <a:r>
                        <a:rPr sz="700" b="0">
                          <a:solidFill>
                            <a:srgbClr val="26301F"/>
                          </a:solidFill>
                          <a:latin typeface="Segoe UI"/>
                        </a:rPr>
                        <a:t>Reserves held against the platform's own guarantee obligations</a:t>
                      </a:r>
                    </a:p>
                  </a:txBody>
                  <a:tcPr marL="45720" marR="109728" marT="27432" marB="27432" anchor="ctr">
                    <a:lnB w="9525" cap="flat" cmpd="sng" algn="ctr">
                      <a:solidFill>
                        <a:srgbClr val="DCE3D6"/>
                      </a:solidFill>
                    </a:lnB>
                    <a:solidFill>
                      <a:srgbClr val="FFFFFF"/>
                    </a:solidFill>
                  </a:tcPr>
                </a:tc>
                <a:tc>
                  <a:txBody>
                    <a:bodyPr wrap="square"/>
                    <a:lstStyle/>
                    <a:p>
                      <a:r>
                        <a:rPr sz="700" b="0">
                          <a:solidFill>
                            <a:srgbClr val="26301F"/>
                          </a:solidFill>
                          <a:latin typeface="Segoe UI"/>
                        </a:rPr>
                        <a:t>The guarantee being an unfunded promise, which is the failure that closed an earlier operator in another market</a:t>
                      </a:r>
                    </a:p>
                  </a:txBody>
                  <a:tcPr marL="45720" marR="109728" marT="27432" marB="27432" anchor="ctr">
                    <a:lnB w="9525" cap="flat" cmpd="sng" algn="ctr">
                      <a:solidFill>
                        <a:srgbClr val="DCE3D6"/>
                      </a:solidFill>
                    </a:lnB>
                    <a:solidFill>
                      <a:srgbClr val="FFFFFF"/>
                    </a:solidFill>
                  </a:tcPr>
                </a:tc>
              </a:tr>
            </a:tbl>
          </a:graphicData>
        </a:graphic>
      </p:graphicFrame>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777240" y="566928"/>
            <a:ext cx="10637215" cy="219456"/>
          </a:xfrm>
          <a:prstGeom prst="rect">
            <a:avLst/>
          </a:prstGeom>
          <a:noFill/>
        </p:spPr>
        <p:txBody>
          <a:bodyPr wrap="square" lIns="0" rIns="0" tIns="0" bIns="0">
            <a:spAutoFit/>
          </a:bodyPr>
          <a:lstStyle/>
          <a:p>
            <a:pPr algn="l">
              <a:lnSpc>
                <a:spcPct val="125000"/>
              </a:lnSpc>
            </a:pPr>
            <a:r>
              <a:rPr sz="950" b="1" i="0">
                <a:solidFill>
                  <a:srgbClr val="41801A"/>
                </a:solidFill>
                <a:latin typeface="Segoe UI"/>
              </a:rPr>
              <a:t>1  INSTITUTIONS</a:t>
            </a:r>
          </a:p>
        </p:txBody>
      </p:sp>
      <p:sp>
        <p:nvSpPr>
          <p:cNvPr id="3" name="TextBox 2"/>
          <p:cNvSpPr txBox="1"/>
          <p:nvPr/>
        </p:nvSpPr>
        <p:spPr>
          <a:xfrm>
            <a:off x="777240" y="841248"/>
            <a:ext cx="10637215" cy="502920"/>
          </a:xfrm>
          <a:prstGeom prst="rect">
            <a:avLst/>
          </a:prstGeom>
          <a:noFill/>
        </p:spPr>
        <p:txBody>
          <a:bodyPr wrap="square" lIns="0" rIns="0" tIns="0" bIns="0">
            <a:spAutoFit/>
          </a:bodyPr>
          <a:lstStyle/>
          <a:p>
            <a:pPr algn="l">
              <a:lnSpc>
                <a:spcPct val="125000"/>
              </a:lnSpc>
            </a:pPr>
            <a:r>
              <a:rPr sz="2700" b="1" i="0">
                <a:solidFill>
                  <a:srgbClr val="0C1408"/>
                </a:solidFill>
                <a:latin typeface="Segoe UI"/>
              </a:rPr>
              <a:t>Which trustee, and how it operates</a:t>
            </a:r>
          </a:p>
        </p:txBody>
      </p:sp>
      <p:sp>
        <p:nvSpPr>
          <p:cNvPr id="4" name="Rectangle 3"/>
          <p:cNvSpPr/>
          <p:nvPr/>
        </p:nvSpPr>
        <p:spPr>
          <a:xfrm>
            <a:off x="777240" y="1417320"/>
            <a:ext cx="1371600" cy="22860"/>
          </a:xfrm>
          <a:prstGeom prst="rect">
            <a:avLst/>
          </a:prstGeom>
          <a:solidFill>
            <a:srgbClr val="6DC72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777240" y="6382512"/>
            <a:ext cx="3657600" cy="228600"/>
          </a:xfrm>
          <a:prstGeom prst="rect">
            <a:avLst/>
          </a:prstGeom>
          <a:noFill/>
        </p:spPr>
        <p:txBody>
          <a:bodyPr wrap="square" lIns="0" rIns="0" tIns="0" bIns="0">
            <a:spAutoFit/>
          </a:bodyPr>
          <a:lstStyle/>
          <a:p>
            <a:pPr algn="l">
              <a:lnSpc>
                <a:spcPct val="125000"/>
              </a:lnSpc>
            </a:pPr>
            <a:r>
              <a:rPr sz="900" b="0" i="0">
                <a:solidFill>
                  <a:srgbClr val="9AA694"/>
                </a:solidFill>
                <a:latin typeface="Segoe UI"/>
              </a:rPr>
              <a:t>Halqa  ·  Confidential</a:t>
            </a:r>
          </a:p>
        </p:txBody>
      </p:sp>
      <p:sp>
        <p:nvSpPr>
          <p:cNvPr id="6" name="TextBox 5"/>
          <p:cNvSpPr txBox="1"/>
          <p:nvPr/>
        </p:nvSpPr>
        <p:spPr>
          <a:xfrm>
            <a:off x="10728655" y="6382512"/>
            <a:ext cx="685800" cy="228600"/>
          </a:xfrm>
          <a:prstGeom prst="rect">
            <a:avLst/>
          </a:prstGeom>
          <a:noFill/>
        </p:spPr>
        <p:txBody>
          <a:bodyPr wrap="square" lIns="0" rIns="0" tIns="0" bIns="0">
            <a:spAutoFit/>
          </a:bodyPr>
          <a:lstStyle/>
          <a:p>
            <a:pPr algn="r">
              <a:lnSpc>
                <a:spcPct val="125000"/>
              </a:lnSpc>
            </a:pPr>
            <a:r>
              <a:rPr sz="900" b="0" i="0">
                <a:solidFill>
                  <a:srgbClr val="6F7B68"/>
                </a:solidFill>
                <a:latin typeface="Segoe UI"/>
              </a:rPr>
              <a:t>13</a:t>
            </a:r>
          </a:p>
        </p:txBody>
      </p:sp>
      <p:graphicFrame>
        <p:nvGraphicFramePr>
          <p:cNvPr id="7" name="Table 6"/>
          <p:cNvGraphicFramePr>
            <a:graphicFrameLocks noGrp="1"/>
          </p:cNvGraphicFramePr>
          <p:nvPr/>
        </p:nvGraphicFramePr>
        <p:xfrm>
          <a:off x="777240" y="1965960"/>
          <a:ext cx="10607040" cy="3291840"/>
        </p:xfrm>
        <a:graphic>
          <a:graphicData uri="http://schemas.openxmlformats.org/drawingml/2006/table">
            <a:tbl>
              <a:tblPr>
                <a:tableStyleId>{5C22544A-7EE6-4342-B048-85BDC9FD1C3A}</a:tableStyleId>
              </a:tblPr>
              <a:tblGrid>
                <a:gridCol w="365760"/>
                <a:gridCol w="2377440"/>
                <a:gridCol w="4206240"/>
                <a:gridCol w="3657600"/>
              </a:tblGrid>
              <a:tr h="822960">
                <a:tc>
                  <a:txBody>
                    <a:bodyPr wrap="square"/>
                    <a:lstStyle/>
                    <a:p>
                      <a:r>
                        <a:rPr sz="900" b="1">
                          <a:solidFill>
                            <a:srgbClr val="41801A"/>
                          </a:solidFill>
                          <a:latin typeface="Segoe UI"/>
                        </a:rPr>
                        <a:t/>
                      </a:r>
                    </a:p>
                  </a:txBody>
                  <a:tcPr marL="45720" marR="109728" marT="27432" marB="27432" anchor="ctr">
                    <a:lnB w="9525" cap="flat" cmpd="sng" algn="ctr">
                      <a:solidFill>
                        <a:srgbClr val="41801A"/>
                      </a:solidFill>
                    </a:lnB>
                    <a:solidFill>
                      <a:srgbClr val="FFFFFF"/>
                    </a:solidFill>
                  </a:tcPr>
                </a:tc>
                <a:tc>
                  <a:txBody>
                    <a:bodyPr wrap="square"/>
                    <a:lstStyle/>
                    <a:p>
                      <a:r>
                        <a:rPr sz="900" b="1">
                          <a:solidFill>
                            <a:srgbClr val="41801A"/>
                          </a:solidFill>
                          <a:latin typeface="Segoe UI"/>
                        </a:rPr>
                        <a:t>CANDIDATE</a:t>
                      </a:r>
                    </a:p>
                  </a:txBody>
                  <a:tcPr marL="45720" marR="109728" marT="27432" marB="27432" anchor="ctr">
                    <a:lnB w="9525" cap="flat" cmpd="sng" algn="ctr">
                      <a:solidFill>
                        <a:srgbClr val="41801A"/>
                      </a:solidFill>
                    </a:lnB>
                    <a:solidFill>
                      <a:srgbClr val="FFFFFF"/>
                    </a:solidFill>
                  </a:tcPr>
                </a:tc>
                <a:tc>
                  <a:txBody>
                    <a:bodyPr wrap="square"/>
                    <a:lstStyle/>
                    <a:p>
                      <a:r>
                        <a:rPr sz="900" b="1">
                          <a:solidFill>
                            <a:srgbClr val="41801A"/>
                          </a:solidFill>
                          <a:latin typeface="Segoe UI"/>
                        </a:rPr>
                        <a:t>WHAT IT IS</a:t>
                      </a:r>
                    </a:p>
                  </a:txBody>
                  <a:tcPr marL="45720" marR="109728" marT="27432" marB="27432" anchor="ctr">
                    <a:lnB w="9525" cap="flat" cmpd="sng" algn="ctr">
                      <a:solidFill>
                        <a:srgbClr val="41801A"/>
                      </a:solidFill>
                    </a:lnB>
                    <a:solidFill>
                      <a:srgbClr val="FFFFFF"/>
                    </a:solidFill>
                  </a:tcPr>
                </a:tc>
                <a:tc>
                  <a:txBody>
                    <a:bodyPr wrap="square"/>
                    <a:lstStyle/>
                    <a:p>
                      <a:r>
                        <a:rPr sz="900" b="1">
                          <a:solidFill>
                            <a:srgbClr val="41801A"/>
                          </a:solidFill>
                          <a:latin typeface="Segoe UI"/>
                        </a:rPr>
                        <a:t>WHY IT FITS</a:t>
                      </a:r>
                    </a:p>
                  </a:txBody>
                  <a:tcPr marL="45720" marR="109728" marT="27432" marB="27432" anchor="ctr">
                    <a:lnB w="9525" cap="flat" cmpd="sng" algn="ctr">
                      <a:solidFill>
                        <a:srgbClr val="41801A"/>
                      </a:solidFill>
                    </a:lnB>
                    <a:solidFill>
                      <a:srgbClr val="FFFFFF"/>
                    </a:solidFill>
                  </a:tcPr>
                </a:tc>
              </a:tr>
              <a:tr h="822960">
                <a:tc>
                  <a:txBody>
                    <a:bodyPr wrap="square"/>
                    <a:lstStyle/>
                    <a:p>
                      <a:r>
                        <a:rPr sz="950" b="0">
                          <a:solidFill>
                            <a:srgbClr val="26301F"/>
                          </a:solidFill>
                          <a:latin typeface="Segoe UI"/>
                        </a:rPr>
                        <a:t>1</a:t>
                      </a:r>
                    </a:p>
                  </a:txBody>
                  <a:tcPr marL="45720" marR="109728" marT="27432" marB="27432" anchor="ctr">
                    <a:lnB w="9525" cap="flat" cmpd="sng" algn="ctr">
                      <a:solidFill>
                        <a:srgbClr val="DCE3D6"/>
                      </a:solidFill>
                    </a:lnB>
                    <a:solidFill>
                      <a:srgbClr val="FFFFFF"/>
                    </a:solidFill>
                  </a:tcPr>
                </a:tc>
                <a:tc>
                  <a:txBody>
                    <a:bodyPr wrap="square"/>
                    <a:lstStyle/>
                    <a:p>
                      <a:r>
                        <a:rPr sz="950" b="0">
                          <a:solidFill>
                            <a:srgbClr val="26301F"/>
                          </a:solidFill>
                          <a:latin typeface="Segoe UI"/>
                        </a:rPr>
                        <a:t>Central Depository Company of Pakistan</a:t>
                      </a:r>
                    </a:p>
                  </a:txBody>
                  <a:tcPr marL="45720" marR="109728" marT="27432" marB="27432" anchor="ctr">
                    <a:lnB w="9525" cap="flat" cmpd="sng" algn="ctr">
                      <a:solidFill>
                        <a:srgbClr val="DCE3D6"/>
                      </a:solidFill>
                    </a:lnB>
                    <a:solidFill>
                      <a:srgbClr val="FFFFFF"/>
                    </a:solidFill>
                  </a:tcPr>
                </a:tc>
                <a:tc>
                  <a:txBody>
                    <a:bodyPr wrap="square"/>
                    <a:lstStyle/>
                    <a:p>
                      <a:r>
                        <a:rPr sz="950" b="0">
                          <a:solidFill>
                            <a:srgbClr val="26301F"/>
                          </a:solidFill>
                          <a:latin typeface="Segoe UI"/>
                        </a:rPr>
                        <a:t>The national securities depository. It already acts as trustee to the great majority of open end mutual funds in the country and holds the assets of those funds separately from their managers</a:t>
                      </a:r>
                    </a:p>
                  </a:txBody>
                  <a:tcPr marL="45720" marR="109728" marT="27432" marB="27432" anchor="ctr">
                    <a:lnB w="9525" cap="flat" cmpd="sng" algn="ctr">
                      <a:solidFill>
                        <a:srgbClr val="DCE3D6"/>
                      </a:solidFill>
                    </a:lnB>
                    <a:solidFill>
                      <a:srgbClr val="FFFFFF"/>
                    </a:solidFill>
                  </a:tcPr>
                </a:tc>
                <a:tc>
                  <a:txBody>
                    <a:bodyPr wrap="square"/>
                    <a:lstStyle/>
                    <a:p>
                      <a:r>
                        <a:rPr sz="950" b="0">
                          <a:solidFill>
                            <a:srgbClr val="26301F"/>
                          </a:solidFill>
                          <a:latin typeface="Segoe UI"/>
                        </a:rPr>
                        <a:t>Default choice. Every asset manager Halqa would distribute for already has a working relationship with it, so the operational path is well trodden</a:t>
                      </a:r>
                    </a:p>
                  </a:txBody>
                  <a:tcPr marL="45720" marR="109728" marT="27432" marB="27432" anchor="ctr">
                    <a:lnB w="9525" cap="flat" cmpd="sng" algn="ctr">
                      <a:solidFill>
                        <a:srgbClr val="DCE3D6"/>
                      </a:solidFill>
                    </a:lnB>
                    <a:solidFill>
                      <a:srgbClr val="FFFFFF"/>
                    </a:solidFill>
                  </a:tcPr>
                </a:tc>
              </a:tr>
              <a:tr h="822960">
                <a:tc>
                  <a:txBody>
                    <a:bodyPr wrap="square"/>
                    <a:lstStyle/>
                    <a:p>
                      <a:r>
                        <a:rPr sz="950" b="0">
                          <a:solidFill>
                            <a:srgbClr val="26301F"/>
                          </a:solidFill>
                          <a:latin typeface="Segoe UI"/>
                        </a:rPr>
                        <a:t>2</a:t>
                      </a:r>
                    </a:p>
                  </a:txBody>
                  <a:tcPr marL="45720" marR="109728" marT="27432" marB="27432" anchor="ctr">
                    <a:lnB w="9525" cap="flat" cmpd="sng" algn="ctr">
                      <a:solidFill>
                        <a:srgbClr val="DCE3D6"/>
                      </a:solidFill>
                    </a:lnB>
                    <a:solidFill>
                      <a:srgbClr val="FFFFFF"/>
                    </a:solidFill>
                  </a:tcPr>
                </a:tc>
                <a:tc>
                  <a:txBody>
                    <a:bodyPr wrap="square"/>
                    <a:lstStyle/>
                    <a:p>
                      <a:r>
                        <a:rPr sz="950" b="0">
                          <a:solidFill>
                            <a:srgbClr val="26301F"/>
                          </a:solidFill>
                          <a:latin typeface="Segoe UI"/>
                        </a:rPr>
                        <a:t>Digital Custodian Company</a:t>
                      </a:r>
                    </a:p>
                  </a:txBody>
                  <a:tcPr marL="45720" marR="109728" marT="27432" marB="27432" anchor="ctr">
                    <a:lnB w="9525" cap="flat" cmpd="sng" algn="ctr">
                      <a:solidFill>
                        <a:srgbClr val="DCE3D6"/>
                      </a:solidFill>
                    </a:lnB>
                    <a:solidFill>
                      <a:srgbClr val="FFFFFF"/>
                    </a:solidFill>
                  </a:tcPr>
                </a:tc>
                <a:tc>
                  <a:txBody>
                    <a:bodyPr wrap="square"/>
                    <a:lstStyle/>
                    <a:p>
                      <a:r>
                        <a:rPr sz="950" b="0">
                          <a:solidFill>
                            <a:srgbClr val="26301F"/>
                          </a:solidFill>
                          <a:latin typeface="Segoe UI"/>
                        </a:rPr>
                        <a:t>A newer licensed trustee and custodian built specifically for digital distribution models</a:t>
                      </a:r>
                    </a:p>
                  </a:txBody>
                  <a:tcPr marL="45720" marR="109728" marT="27432" marB="27432" anchor="ctr">
                    <a:lnB w="9525" cap="flat" cmpd="sng" algn="ctr">
                      <a:solidFill>
                        <a:srgbClr val="DCE3D6"/>
                      </a:solidFill>
                    </a:lnB>
                    <a:solidFill>
                      <a:srgbClr val="FFFFFF"/>
                    </a:solidFill>
                  </a:tcPr>
                </a:tc>
                <a:tc>
                  <a:txBody>
                    <a:bodyPr wrap="square"/>
                    <a:lstStyle/>
                    <a:p>
                      <a:r>
                        <a:rPr sz="950" b="0">
                          <a:solidFill>
                            <a:srgbClr val="26301F"/>
                          </a:solidFill>
                          <a:latin typeface="Segoe UI"/>
                        </a:rPr>
                        <a:t>Second source. A single sourced trustee is a commercial exposure, not a regulatory one, and it is cheap to remove early</a:t>
                      </a:r>
                    </a:p>
                  </a:txBody>
                  <a:tcPr marL="45720" marR="109728" marT="27432" marB="27432" anchor="ctr">
                    <a:lnB w="9525" cap="flat" cmpd="sng" algn="ctr">
                      <a:solidFill>
                        <a:srgbClr val="DCE3D6"/>
                      </a:solidFill>
                    </a:lnB>
                    <a:solidFill>
                      <a:srgbClr val="FFFFFF"/>
                    </a:solidFill>
                  </a:tcPr>
                </a:tc>
              </a:tr>
              <a:tr h="822960">
                <a:tc>
                  <a:txBody>
                    <a:bodyPr wrap="square"/>
                    <a:lstStyle/>
                    <a:p>
                      <a:r>
                        <a:rPr sz="950" b="0">
                          <a:solidFill>
                            <a:srgbClr val="26301F"/>
                          </a:solidFill>
                          <a:latin typeface="Segoe UI"/>
                        </a:rPr>
                        <a:t/>
                      </a:r>
                    </a:p>
                  </a:txBody>
                  <a:tcPr marL="45720" marR="109728" marT="27432" marB="27432" anchor="ctr">
                    <a:lnB w="9525" cap="flat" cmpd="sng" algn="ctr">
                      <a:solidFill>
                        <a:srgbClr val="DCE3D6"/>
                      </a:solidFill>
                    </a:lnB>
                    <a:solidFill>
                      <a:srgbClr val="FFFFFF"/>
                    </a:solidFill>
                  </a:tcPr>
                </a:tc>
                <a:tc>
                  <a:txBody>
                    <a:bodyPr wrap="square"/>
                    <a:lstStyle/>
                    <a:p>
                      <a:r>
                        <a:rPr sz="950" b="0">
                          <a:solidFill>
                            <a:srgbClr val="26301F"/>
                          </a:solidFill>
                          <a:latin typeface="Segoe UI"/>
                        </a:rPr>
                        <a:t>How the relationship runs</a:t>
                      </a:r>
                    </a:p>
                  </a:txBody>
                  <a:tcPr marL="45720" marR="109728" marT="27432" marB="27432" anchor="ctr">
                    <a:lnB w="9525" cap="flat" cmpd="sng" algn="ctr">
                      <a:solidFill>
                        <a:srgbClr val="DCE3D6"/>
                      </a:solidFill>
                    </a:lnB>
                    <a:solidFill>
                      <a:srgbClr val="FFFFFF"/>
                    </a:solidFill>
                  </a:tcPr>
                </a:tc>
                <a:tc>
                  <a:txBody>
                    <a:bodyPr wrap="square"/>
                    <a:lstStyle/>
                    <a:p>
                      <a:r>
                        <a:rPr sz="950" b="0">
                          <a:solidFill>
                            <a:srgbClr val="26301F"/>
                          </a:solidFill>
                          <a:latin typeface="Segoe UI"/>
                        </a:rPr>
                        <a:t>Halqa introduces a member and passes an instruction. The trustee holds the units in that member's name, sends the member statements directly, and acts only on instructions that match the mandate the member signed. Redemption proceeds are paid to the member or, on a pledge, to the circle. At no point does Halqa appear as an owner or a payee</a:t>
                      </a:r>
                    </a:p>
                  </a:txBody>
                  <a:tcPr marL="45720" marR="109728" marT="27432" marB="27432" anchor="ctr">
                    <a:lnB w="9525" cap="flat" cmpd="sng" algn="ctr">
                      <a:solidFill>
                        <a:srgbClr val="DCE3D6"/>
                      </a:solidFill>
                    </a:lnB>
                    <a:solidFill>
                      <a:srgbClr val="FFFFFF"/>
                    </a:solidFill>
                  </a:tcPr>
                </a:tc>
                <a:tc>
                  <a:txBody>
                    <a:bodyPr wrap="square"/>
                    <a:lstStyle/>
                    <a:p>
                      <a:r>
                        <a:rPr sz="950" b="0">
                          <a:solidFill>
                            <a:srgbClr val="26301F"/>
                          </a:solidFill>
                          <a:latin typeface="Segoe UI"/>
                        </a:rPr>
                        <a:t/>
                      </a:r>
                    </a:p>
                  </a:txBody>
                  <a:tcPr marL="45720" marR="109728" marT="27432" marB="27432" anchor="ctr">
                    <a:lnB w="9525" cap="flat" cmpd="sng" algn="ctr">
                      <a:solidFill>
                        <a:srgbClr val="DCE3D6"/>
                      </a:solidFill>
                    </a:lnB>
                    <a:solidFill>
                      <a:srgbClr val="FFFFFF"/>
                    </a:solidFill>
                  </a:tcPr>
                </a:tc>
              </a:tr>
            </a:tbl>
          </a:graphicData>
        </a:graphic>
      </p:graphicFrame>
      <p:sp>
        <p:nvSpPr>
          <p:cNvPr id="8" name="TextBox 7"/>
          <p:cNvSpPr txBox="1"/>
          <p:nvPr/>
        </p:nvSpPr>
        <p:spPr>
          <a:xfrm>
            <a:off x="777240" y="5557647"/>
            <a:ext cx="10637215" cy="731520"/>
          </a:xfrm>
          <a:prstGeom prst="rect">
            <a:avLst/>
          </a:prstGeom>
          <a:noFill/>
        </p:spPr>
        <p:txBody>
          <a:bodyPr wrap="square" lIns="0" rIns="0" tIns="0" bIns="0">
            <a:spAutoFit/>
          </a:bodyPr>
          <a:lstStyle/>
          <a:p>
            <a:pPr algn="l">
              <a:lnSpc>
                <a:spcPct val="140000"/>
              </a:lnSpc>
            </a:pPr>
            <a:r>
              <a:rPr sz="1200" b="0" i="0">
                <a:solidFill>
                  <a:srgbClr val="6F7B68"/>
                </a:solidFill>
                <a:latin typeface="Segoe UI"/>
              </a:rPr>
              <a:t>The legal basis is the 2008 regulations governing collective investment schemes, under which the assets of every regulated fund are held by a trustee and the manager only manages them. This is existing, well tested machinery. Halqa is not asking anybody to invent a structure.</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777240" y="566928"/>
            <a:ext cx="10637215" cy="219456"/>
          </a:xfrm>
          <a:prstGeom prst="rect">
            <a:avLst/>
          </a:prstGeom>
          <a:noFill/>
        </p:spPr>
        <p:txBody>
          <a:bodyPr wrap="square" lIns="0" rIns="0" tIns="0" bIns="0">
            <a:spAutoFit/>
          </a:bodyPr>
          <a:lstStyle/>
          <a:p>
            <a:pPr algn="l">
              <a:lnSpc>
                <a:spcPct val="125000"/>
              </a:lnSpc>
            </a:pPr>
            <a:r>
              <a:rPr sz="950" b="1" i="0">
                <a:solidFill>
                  <a:srgbClr val="41801A"/>
                </a:solidFill>
                <a:latin typeface="Segoe UI"/>
              </a:rPr>
              <a:t>1  INSTITUTIONS</a:t>
            </a:r>
          </a:p>
        </p:txBody>
      </p:sp>
      <p:sp>
        <p:nvSpPr>
          <p:cNvPr id="3" name="TextBox 2"/>
          <p:cNvSpPr txBox="1"/>
          <p:nvPr/>
        </p:nvSpPr>
        <p:spPr>
          <a:xfrm>
            <a:off x="777240" y="841248"/>
            <a:ext cx="10637215" cy="502920"/>
          </a:xfrm>
          <a:prstGeom prst="rect">
            <a:avLst/>
          </a:prstGeom>
          <a:noFill/>
        </p:spPr>
        <p:txBody>
          <a:bodyPr wrap="square" lIns="0" rIns="0" tIns="0" bIns="0">
            <a:spAutoFit/>
          </a:bodyPr>
          <a:lstStyle/>
          <a:p>
            <a:pPr algn="l">
              <a:lnSpc>
                <a:spcPct val="125000"/>
              </a:lnSpc>
            </a:pPr>
            <a:r>
              <a:rPr sz="2700" b="1" i="0">
                <a:solidFill>
                  <a:srgbClr val="0C1408"/>
                </a:solidFill>
                <a:latin typeface="Segoe UI"/>
              </a:rPr>
              <a:t>What an asset manager is and which one is needed</a:t>
            </a:r>
          </a:p>
        </p:txBody>
      </p:sp>
      <p:sp>
        <p:nvSpPr>
          <p:cNvPr id="4" name="Rectangle 3"/>
          <p:cNvSpPr/>
          <p:nvPr/>
        </p:nvSpPr>
        <p:spPr>
          <a:xfrm>
            <a:off x="777240" y="1417320"/>
            <a:ext cx="1371600" cy="22860"/>
          </a:xfrm>
          <a:prstGeom prst="rect">
            <a:avLst/>
          </a:prstGeom>
          <a:solidFill>
            <a:srgbClr val="6DC72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777240" y="6382512"/>
            <a:ext cx="3657600" cy="228600"/>
          </a:xfrm>
          <a:prstGeom prst="rect">
            <a:avLst/>
          </a:prstGeom>
          <a:noFill/>
        </p:spPr>
        <p:txBody>
          <a:bodyPr wrap="square" lIns="0" rIns="0" tIns="0" bIns="0">
            <a:spAutoFit/>
          </a:bodyPr>
          <a:lstStyle/>
          <a:p>
            <a:pPr algn="l">
              <a:lnSpc>
                <a:spcPct val="125000"/>
              </a:lnSpc>
            </a:pPr>
            <a:r>
              <a:rPr sz="900" b="0" i="0">
                <a:solidFill>
                  <a:srgbClr val="9AA694"/>
                </a:solidFill>
                <a:latin typeface="Segoe UI"/>
              </a:rPr>
              <a:t>Halqa  ·  Confidential</a:t>
            </a:r>
          </a:p>
        </p:txBody>
      </p:sp>
      <p:sp>
        <p:nvSpPr>
          <p:cNvPr id="6" name="TextBox 5"/>
          <p:cNvSpPr txBox="1"/>
          <p:nvPr/>
        </p:nvSpPr>
        <p:spPr>
          <a:xfrm>
            <a:off x="10728655" y="6382512"/>
            <a:ext cx="685800" cy="228600"/>
          </a:xfrm>
          <a:prstGeom prst="rect">
            <a:avLst/>
          </a:prstGeom>
          <a:noFill/>
        </p:spPr>
        <p:txBody>
          <a:bodyPr wrap="square" lIns="0" rIns="0" tIns="0" bIns="0">
            <a:spAutoFit/>
          </a:bodyPr>
          <a:lstStyle/>
          <a:p>
            <a:pPr algn="r">
              <a:lnSpc>
                <a:spcPct val="125000"/>
              </a:lnSpc>
            </a:pPr>
            <a:r>
              <a:rPr sz="900" b="0" i="0">
                <a:solidFill>
                  <a:srgbClr val="6F7B68"/>
                </a:solidFill>
                <a:latin typeface="Segoe UI"/>
              </a:rPr>
              <a:t>14</a:t>
            </a:r>
          </a:p>
        </p:txBody>
      </p:sp>
      <p:sp>
        <p:nvSpPr>
          <p:cNvPr id="7" name="TextBox 6"/>
          <p:cNvSpPr txBox="1"/>
          <p:nvPr/>
        </p:nvSpPr>
        <p:spPr>
          <a:xfrm>
            <a:off x="777240" y="1965960"/>
            <a:ext cx="10607040" cy="1005840"/>
          </a:xfrm>
          <a:prstGeom prst="rect">
            <a:avLst/>
          </a:prstGeom>
          <a:noFill/>
        </p:spPr>
        <p:txBody>
          <a:bodyPr wrap="square" lIns="0" rIns="0" tIns="0" bIns="0">
            <a:spAutoFit/>
          </a:bodyPr>
          <a:lstStyle/>
          <a:p>
            <a:pPr algn="l">
              <a:lnSpc>
                <a:spcPct val="150000"/>
              </a:lnSpc>
            </a:pPr>
            <a:r>
              <a:rPr sz="1400" b="0" i="0">
                <a:solidFill>
                  <a:srgbClr val="26301F"/>
                </a:solidFill>
                <a:latin typeface="Segoe UI"/>
              </a:rPr>
              <a:t>An asset management company is the licensed firm that actually runs a fund. It decides what the fund holds, publishes the daily price, and answers to both the trustee and the regulator. Halqa will never be one. It will be a registered distributor, which is the role a bank branch plays when it sells you a fund over the counter.</a:t>
            </a:r>
          </a:p>
        </p:txBody>
      </p:sp>
      <p:graphicFrame>
        <p:nvGraphicFramePr>
          <p:cNvPr id="8" name="Table 7"/>
          <p:cNvGraphicFramePr>
            <a:graphicFrameLocks noGrp="1"/>
          </p:cNvGraphicFramePr>
          <p:nvPr/>
        </p:nvGraphicFramePr>
        <p:xfrm>
          <a:off x="777240" y="3108960"/>
          <a:ext cx="10607040" cy="2550100"/>
        </p:xfrm>
        <a:graphic>
          <a:graphicData uri="http://schemas.openxmlformats.org/drawingml/2006/table">
            <a:tbl>
              <a:tblPr>
                <a:tableStyleId>{5C22544A-7EE6-4342-B048-85BDC9FD1C3A}</a:tableStyleId>
              </a:tblPr>
              <a:tblGrid>
                <a:gridCol w="2377440"/>
                <a:gridCol w="3291840"/>
                <a:gridCol w="4937760"/>
              </a:tblGrid>
              <a:tr h="510020">
                <a:tc>
                  <a:txBody>
                    <a:bodyPr wrap="square"/>
                    <a:lstStyle/>
                    <a:p>
                      <a:r>
                        <a:rPr sz="700" b="1">
                          <a:solidFill>
                            <a:srgbClr val="41801A"/>
                          </a:solidFill>
                          <a:latin typeface="Segoe UI"/>
                        </a:rPr>
                        <a:t>ROLE</a:t>
                      </a:r>
                    </a:p>
                  </a:txBody>
                  <a:tcPr marL="45720" marR="109728" marT="27432" marB="27432" anchor="ctr">
                    <a:lnB w="9525" cap="flat" cmpd="sng" algn="ctr">
                      <a:solidFill>
                        <a:srgbClr val="41801A"/>
                      </a:solidFill>
                    </a:lnB>
                    <a:solidFill>
                      <a:srgbClr val="FFFFFF"/>
                    </a:solidFill>
                  </a:tcPr>
                </a:tc>
                <a:tc>
                  <a:txBody>
                    <a:bodyPr wrap="square"/>
                    <a:lstStyle/>
                    <a:p>
                      <a:r>
                        <a:rPr sz="700" b="1">
                          <a:solidFill>
                            <a:srgbClr val="41801A"/>
                          </a:solidFill>
                          <a:latin typeface="Segoe UI"/>
                        </a:rPr>
                        <a:t>WHO</a:t>
                      </a:r>
                    </a:p>
                  </a:txBody>
                  <a:tcPr marL="45720" marR="109728" marT="27432" marB="27432" anchor="ctr">
                    <a:lnB w="9525" cap="flat" cmpd="sng" algn="ctr">
                      <a:solidFill>
                        <a:srgbClr val="41801A"/>
                      </a:solidFill>
                    </a:lnB>
                    <a:solidFill>
                      <a:srgbClr val="FFFFFF"/>
                    </a:solidFill>
                  </a:tcPr>
                </a:tc>
                <a:tc>
                  <a:txBody>
                    <a:bodyPr wrap="square"/>
                    <a:lstStyle/>
                    <a:p>
                      <a:r>
                        <a:rPr sz="700" b="1">
                          <a:solidFill>
                            <a:srgbClr val="41801A"/>
                          </a:solidFill>
                          <a:latin typeface="Segoe UI"/>
                        </a:rPr>
                        <a:t>WHAT THEY DO IN THIS ARRANGEMENT</a:t>
                      </a:r>
                    </a:p>
                  </a:txBody>
                  <a:tcPr marL="45720" marR="109728" marT="27432" marB="27432" anchor="ctr">
                    <a:lnB w="9525" cap="flat" cmpd="sng" algn="ctr">
                      <a:solidFill>
                        <a:srgbClr val="41801A"/>
                      </a:solidFill>
                    </a:lnB>
                    <a:solidFill>
                      <a:srgbClr val="FFFFFF"/>
                    </a:solidFill>
                  </a:tcPr>
                </a:tc>
              </a:tr>
              <a:tr h="510020">
                <a:tc>
                  <a:txBody>
                    <a:bodyPr wrap="square"/>
                    <a:lstStyle/>
                    <a:p>
                      <a:r>
                        <a:rPr sz="700" b="0">
                          <a:solidFill>
                            <a:srgbClr val="26301F"/>
                          </a:solidFill>
                          <a:latin typeface="Segoe UI"/>
                        </a:rPr>
                        <a:t>Digital first manager</a:t>
                      </a:r>
                    </a:p>
                  </a:txBody>
                  <a:tcPr marL="45720" marR="109728" marT="27432" marB="27432" anchor="ctr">
                    <a:lnB w="9525" cap="flat" cmpd="sng" algn="ctr">
                      <a:solidFill>
                        <a:srgbClr val="DCE3D6"/>
                      </a:solidFill>
                    </a:lnB>
                    <a:solidFill>
                      <a:srgbClr val="FFFFFF"/>
                    </a:solidFill>
                  </a:tcPr>
                </a:tc>
                <a:tc>
                  <a:txBody>
                    <a:bodyPr wrap="square"/>
                    <a:lstStyle/>
                    <a:p>
                      <a:r>
                        <a:rPr sz="700" b="0">
                          <a:solidFill>
                            <a:srgbClr val="26301F"/>
                          </a:solidFill>
                          <a:latin typeface="Segoe UI"/>
                        </a:rPr>
                        <a:t>Mahaana Wealth</a:t>
                      </a:r>
                    </a:p>
                  </a:txBody>
                  <a:tcPr marL="45720" marR="109728" marT="27432" marB="27432" anchor="ctr">
                    <a:lnB w="9525" cap="flat" cmpd="sng" algn="ctr">
                      <a:solidFill>
                        <a:srgbClr val="DCE3D6"/>
                      </a:solidFill>
                    </a:lnB>
                    <a:solidFill>
                      <a:srgbClr val="FFFFFF"/>
                    </a:solidFill>
                  </a:tcPr>
                </a:tc>
                <a:tc>
                  <a:txBody>
                    <a:bodyPr wrap="square"/>
                    <a:lstStyle/>
                    <a:p>
                      <a:r>
                        <a:rPr sz="700" b="0">
                          <a:solidFill>
                            <a:srgbClr val="26301F"/>
                          </a:solidFill>
                          <a:latin typeface="Segoe UI"/>
                        </a:rPr>
                        <a:t>Built for app based distribution and small ticket savers, which is exactly the member profile. The natural first partner for the savings layer</a:t>
                      </a:r>
                    </a:p>
                  </a:txBody>
                  <a:tcPr marL="45720" marR="109728" marT="27432" marB="27432" anchor="ctr">
                    <a:lnB w="9525" cap="flat" cmpd="sng" algn="ctr">
                      <a:solidFill>
                        <a:srgbClr val="DCE3D6"/>
                      </a:solidFill>
                    </a:lnB>
                    <a:solidFill>
                      <a:srgbClr val="FFFFFF"/>
                    </a:solidFill>
                  </a:tcPr>
                </a:tc>
              </a:tr>
              <a:tr h="510020">
                <a:tc>
                  <a:txBody>
                    <a:bodyPr wrap="square"/>
                    <a:lstStyle/>
                    <a:p>
                      <a:r>
                        <a:rPr sz="700" b="0">
                          <a:solidFill>
                            <a:srgbClr val="26301F"/>
                          </a:solidFill>
                          <a:latin typeface="Segoe UI"/>
                        </a:rPr>
                        <a:t>Established Islamic money market funds</a:t>
                      </a:r>
                    </a:p>
                  </a:txBody>
                  <a:tcPr marL="45720" marR="109728" marT="27432" marB="27432" anchor="ctr">
                    <a:lnB w="9525" cap="flat" cmpd="sng" algn="ctr">
                      <a:solidFill>
                        <a:srgbClr val="DCE3D6"/>
                      </a:solidFill>
                    </a:lnB>
                    <a:solidFill>
                      <a:srgbClr val="FFFFFF"/>
                    </a:solidFill>
                  </a:tcPr>
                </a:tc>
                <a:tc>
                  <a:txBody>
                    <a:bodyPr wrap="square"/>
                    <a:lstStyle/>
                    <a:p>
                      <a:r>
                        <a:rPr sz="700" b="0">
                          <a:solidFill>
                            <a:srgbClr val="26301F"/>
                          </a:solidFill>
                          <a:latin typeface="Segoe UI"/>
                        </a:rPr>
                        <a:t>Al Meezan; NBP Fund Management; UBL Fund Managers; Alfalah; HBL; Atlas</a:t>
                      </a:r>
                    </a:p>
                  </a:txBody>
                  <a:tcPr marL="45720" marR="109728" marT="27432" marB="27432" anchor="ctr">
                    <a:lnB w="9525" cap="flat" cmpd="sng" algn="ctr">
                      <a:solidFill>
                        <a:srgbClr val="DCE3D6"/>
                      </a:solidFill>
                    </a:lnB>
                    <a:solidFill>
                      <a:srgbClr val="FFFFFF"/>
                    </a:solidFill>
                  </a:tcPr>
                </a:tc>
                <a:tc>
                  <a:txBody>
                    <a:bodyPr wrap="square"/>
                    <a:lstStyle/>
                    <a:p>
                      <a:r>
                        <a:rPr sz="700" b="0">
                          <a:solidFill>
                            <a:srgbClr val="26301F"/>
                          </a:solidFill>
                          <a:latin typeface="Segoe UI"/>
                        </a:rPr>
                        <a:t>Daily dividend funds designed for same day or next day redemption. Money that would otherwise sit idle between payday and payout day earns a return in the member's own name</a:t>
                      </a:r>
                    </a:p>
                  </a:txBody>
                  <a:tcPr marL="45720" marR="109728" marT="27432" marB="27432" anchor="ctr">
                    <a:lnB w="9525" cap="flat" cmpd="sng" algn="ctr">
                      <a:solidFill>
                        <a:srgbClr val="DCE3D6"/>
                      </a:solidFill>
                    </a:lnB>
                    <a:solidFill>
                      <a:srgbClr val="FFFFFF"/>
                    </a:solidFill>
                  </a:tcPr>
                </a:tc>
              </a:tr>
              <a:tr h="510020">
                <a:tc>
                  <a:txBody>
                    <a:bodyPr wrap="square"/>
                    <a:lstStyle/>
                    <a:p>
                      <a:r>
                        <a:rPr sz="700" b="0">
                          <a:solidFill>
                            <a:srgbClr val="26301F"/>
                          </a:solidFill>
                          <a:latin typeface="Segoe UI"/>
                        </a:rPr>
                        <a:t>What Halqa is registered as</a:t>
                      </a:r>
                    </a:p>
                  </a:txBody>
                  <a:tcPr marL="45720" marR="109728" marT="27432" marB="27432" anchor="ctr">
                    <a:lnB w="9525" cap="flat" cmpd="sng" algn="ctr">
                      <a:solidFill>
                        <a:srgbClr val="DCE3D6"/>
                      </a:solidFill>
                    </a:lnB>
                    <a:solidFill>
                      <a:srgbClr val="FFFFFF"/>
                    </a:solidFill>
                  </a:tcPr>
                </a:tc>
                <a:tc>
                  <a:txBody>
                    <a:bodyPr wrap="square"/>
                    <a:lstStyle/>
                    <a:p>
                      <a:r>
                        <a:rPr sz="700" b="0">
                          <a:solidFill>
                            <a:srgbClr val="26301F"/>
                          </a:solidFill>
                          <a:latin typeface="Segoe UI"/>
                        </a:rPr>
                        <a:t>A mutual fund distributor</a:t>
                      </a:r>
                    </a:p>
                  </a:txBody>
                  <a:tcPr marL="45720" marR="109728" marT="27432" marB="27432" anchor="ctr">
                    <a:lnB w="9525" cap="flat" cmpd="sng" algn="ctr">
                      <a:solidFill>
                        <a:srgbClr val="DCE3D6"/>
                      </a:solidFill>
                    </a:lnB>
                    <a:solidFill>
                      <a:srgbClr val="FFFFFF"/>
                    </a:solidFill>
                  </a:tcPr>
                </a:tc>
                <a:tc>
                  <a:txBody>
                    <a:bodyPr wrap="square"/>
                    <a:lstStyle/>
                    <a:p>
                      <a:r>
                        <a:rPr sz="700" b="0">
                          <a:solidFill>
                            <a:srgbClr val="26301F"/>
                          </a:solidFill>
                          <a:latin typeface="Segoe UI"/>
                        </a:rPr>
                        <a:t>Introduces members, passes instructions, and receives a share of the manager's fee as a distribution trail. It is not an electronic money licence, because no balance is issued, and not a non banking finance licence, because Halqa deploys nothing</a:t>
                      </a:r>
                    </a:p>
                  </a:txBody>
                  <a:tcPr marL="45720" marR="109728" marT="27432" marB="27432" anchor="ctr">
                    <a:lnB w="9525" cap="flat" cmpd="sng" algn="ctr">
                      <a:solidFill>
                        <a:srgbClr val="DCE3D6"/>
                      </a:solidFill>
                    </a:lnB>
                    <a:solidFill>
                      <a:srgbClr val="FFFFFF"/>
                    </a:solidFill>
                  </a:tcPr>
                </a:tc>
              </a:tr>
              <a:tr h="510020">
                <a:tc>
                  <a:txBody>
                    <a:bodyPr wrap="square"/>
                    <a:lstStyle/>
                    <a:p>
                      <a:r>
                        <a:rPr sz="700" b="0">
                          <a:solidFill>
                            <a:srgbClr val="26301F"/>
                          </a:solidFill>
                          <a:latin typeface="Segoe UI"/>
                        </a:rPr>
                        <a:t>The absolute engineering rule</a:t>
                      </a:r>
                    </a:p>
                  </a:txBody>
                  <a:tcPr marL="45720" marR="109728" marT="27432" marB="27432" anchor="ctr">
                    <a:lnB w="9525" cap="flat" cmpd="sng" algn="ctr">
                      <a:solidFill>
                        <a:srgbClr val="DCE3D6"/>
                      </a:solidFill>
                    </a:lnB>
                    <a:solidFill>
                      <a:srgbClr val="FFFFFF"/>
                    </a:solidFill>
                  </a:tcPr>
                </a:tc>
                <a:tc>
                  <a:txBody>
                    <a:bodyPr wrap="square"/>
                    <a:lstStyle/>
                    <a:p>
                      <a:r>
                        <a:rPr sz="700" b="0">
                          <a:solidFill>
                            <a:srgbClr val="26301F"/>
                          </a:solidFill>
                          <a:latin typeface="Segoe UI"/>
                        </a:rPr>
                        <a:t>No exceptions</a:t>
                      </a:r>
                    </a:p>
                  </a:txBody>
                  <a:tcPr marL="45720" marR="109728" marT="27432" marB="27432" anchor="ctr">
                    <a:lnB w="9525" cap="flat" cmpd="sng" algn="ctr">
                      <a:solidFill>
                        <a:srgbClr val="DCE3D6"/>
                      </a:solidFill>
                    </a:lnB>
                    <a:solidFill>
                      <a:srgbClr val="FFFFFF"/>
                    </a:solidFill>
                  </a:tcPr>
                </a:tc>
                <a:tc>
                  <a:txBody>
                    <a:bodyPr wrap="square"/>
                    <a:lstStyle/>
                    <a:p>
                      <a:r>
                        <a:rPr sz="700" b="0">
                          <a:solidFill>
                            <a:srgbClr val="26301F"/>
                          </a:solidFill>
                          <a:latin typeface="Segoe UI"/>
                        </a:rPr>
                        <a:t>No payout ever waits on a fund redemption. If a redemption is slow, the circle pays out regardless and the redemption settles behind it. A member's turn is never delayed by an investment decision</a:t>
                      </a:r>
                    </a:p>
                  </a:txBody>
                  <a:tcPr marL="45720" marR="109728" marT="27432" marB="27432" anchor="ctr">
                    <a:lnB w="9525" cap="flat" cmpd="sng" algn="ctr">
                      <a:solidFill>
                        <a:srgbClr val="DCE3D6"/>
                      </a:solidFill>
                    </a:lnB>
                    <a:solidFill>
                      <a:srgbClr val="FFFFFF"/>
                    </a:solidFill>
                  </a:tcPr>
                </a:tc>
              </a:tr>
            </a:tbl>
          </a:graphicData>
        </a:graphic>
      </p:graphicFrame>
    </p:spTree>
  </p:cSld>
  <p:clrMapOvr>
    <a:masterClrMapping/>
  </p:clrMapOvr>
</p:sld>
</file>

<file path=ppt/slides/slide1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777240" y="566928"/>
            <a:ext cx="10637215" cy="219456"/>
          </a:xfrm>
          <a:prstGeom prst="rect">
            <a:avLst/>
          </a:prstGeom>
          <a:noFill/>
        </p:spPr>
        <p:txBody>
          <a:bodyPr wrap="square" lIns="0" rIns="0" tIns="0" bIns="0">
            <a:spAutoFit/>
          </a:bodyPr>
          <a:lstStyle/>
          <a:p>
            <a:pPr algn="l">
              <a:lnSpc>
                <a:spcPct val="125000"/>
              </a:lnSpc>
            </a:pPr>
            <a:r>
              <a:rPr sz="950" b="1" i="0">
                <a:solidFill>
                  <a:srgbClr val="41801A"/>
                </a:solidFill>
                <a:latin typeface="Segoe UI"/>
              </a:rPr>
              <a:t>1  INSTITUTIONS</a:t>
            </a:r>
          </a:p>
        </p:txBody>
      </p:sp>
      <p:sp>
        <p:nvSpPr>
          <p:cNvPr id="3" name="TextBox 2"/>
          <p:cNvSpPr txBox="1"/>
          <p:nvPr/>
        </p:nvSpPr>
        <p:spPr>
          <a:xfrm>
            <a:off x="777240" y="841248"/>
            <a:ext cx="10637215" cy="502920"/>
          </a:xfrm>
          <a:prstGeom prst="rect">
            <a:avLst/>
          </a:prstGeom>
          <a:noFill/>
        </p:spPr>
        <p:txBody>
          <a:bodyPr wrap="square" lIns="0" rIns="0" tIns="0" bIns="0">
            <a:spAutoFit/>
          </a:bodyPr>
          <a:lstStyle/>
          <a:p>
            <a:pPr algn="l">
              <a:lnSpc>
                <a:spcPct val="125000"/>
              </a:lnSpc>
            </a:pPr>
            <a:r>
              <a:rPr sz="2700" b="1" i="0">
                <a:solidFill>
                  <a:srgbClr val="0C1408"/>
                </a:solidFill>
                <a:latin typeface="Segoe UI"/>
              </a:rPr>
              <a:t>The remaining counterparties</a:t>
            </a:r>
          </a:p>
        </p:txBody>
      </p:sp>
      <p:sp>
        <p:nvSpPr>
          <p:cNvPr id="4" name="Rectangle 3"/>
          <p:cNvSpPr/>
          <p:nvPr/>
        </p:nvSpPr>
        <p:spPr>
          <a:xfrm>
            <a:off x="777240" y="1417320"/>
            <a:ext cx="1371600" cy="22860"/>
          </a:xfrm>
          <a:prstGeom prst="rect">
            <a:avLst/>
          </a:prstGeom>
          <a:solidFill>
            <a:srgbClr val="6DC72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777240" y="6382512"/>
            <a:ext cx="3657600" cy="228600"/>
          </a:xfrm>
          <a:prstGeom prst="rect">
            <a:avLst/>
          </a:prstGeom>
          <a:noFill/>
        </p:spPr>
        <p:txBody>
          <a:bodyPr wrap="square" lIns="0" rIns="0" tIns="0" bIns="0">
            <a:spAutoFit/>
          </a:bodyPr>
          <a:lstStyle/>
          <a:p>
            <a:pPr algn="l">
              <a:lnSpc>
                <a:spcPct val="125000"/>
              </a:lnSpc>
            </a:pPr>
            <a:r>
              <a:rPr sz="900" b="0" i="0">
                <a:solidFill>
                  <a:srgbClr val="9AA694"/>
                </a:solidFill>
                <a:latin typeface="Segoe UI"/>
              </a:rPr>
              <a:t>Halqa  ·  Confidential</a:t>
            </a:r>
          </a:p>
        </p:txBody>
      </p:sp>
      <p:sp>
        <p:nvSpPr>
          <p:cNvPr id="6" name="TextBox 5"/>
          <p:cNvSpPr txBox="1"/>
          <p:nvPr/>
        </p:nvSpPr>
        <p:spPr>
          <a:xfrm>
            <a:off x="10728655" y="6382512"/>
            <a:ext cx="685800" cy="228600"/>
          </a:xfrm>
          <a:prstGeom prst="rect">
            <a:avLst/>
          </a:prstGeom>
          <a:noFill/>
        </p:spPr>
        <p:txBody>
          <a:bodyPr wrap="square" lIns="0" rIns="0" tIns="0" bIns="0">
            <a:spAutoFit/>
          </a:bodyPr>
          <a:lstStyle/>
          <a:p>
            <a:pPr algn="r">
              <a:lnSpc>
                <a:spcPct val="125000"/>
              </a:lnSpc>
            </a:pPr>
            <a:r>
              <a:rPr sz="900" b="0" i="0">
                <a:solidFill>
                  <a:srgbClr val="6F7B68"/>
                </a:solidFill>
                <a:latin typeface="Segoe UI"/>
              </a:rPr>
              <a:t>15</a:t>
            </a:r>
          </a:p>
        </p:txBody>
      </p:sp>
      <p:graphicFrame>
        <p:nvGraphicFramePr>
          <p:cNvPr id="7" name="Table 6"/>
          <p:cNvGraphicFramePr>
            <a:graphicFrameLocks noGrp="1"/>
          </p:cNvGraphicFramePr>
          <p:nvPr/>
        </p:nvGraphicFramePr>
        <p:xfrm>
          <a:off x="777240" y="1965960"/>
          <a:ext cx="10607040" cy="3619672"/>
        </p:xfrm>
        <a:graphic>
          <a:graphicData uri="http://schemas.openxmlformats.org/drawingml/2006/table">
            <a:tbl>
              <a:tblPr>
                <a:tableStyleId>{5C22544A-7EE6-4342-B048-85BDC9FD1C3A}</a:tableStyleId>
              </a:tblPr>
              <a:tblGrid>
                <a:gridCol w="1737360"/>
                <a:gridCol w="2651760"/>
                <a:gridCol w="4206240"/>
                <a:gridCol w="2011680"/>
              </a:tblGrid>
              <a:tr h="452459">
                <a:tc>
                  <a:txBody>
                    <a:bodyPr wrap="square"/>
                    <a:lstStyle/>
                    <a:p>
                      <a:r>
                        <a:rPr sz="750" b="1">
                          <a:solidFill>
                            <a:srgbClr val="41801A"/>
                          </a:solidFill>
                          <a:latin typeface="Segoe UI"/>
                        </a:rPr>
                        <a:t>FUNCTION</a:t>
                      </a:r>
                    </a:p>
                  </a:txBody>
                  <a:tcPr marL="45720" marR="109728" marT="27432" marB="27432" anchor="ctr">
                    <a:lnB w="9525" cap="flat" cmpd="sng" algn="ctr">
                      <a:solidFill>
                        <a:srgbClr val="41801A"/>
                      </a:solidFill>
                    </a:lnB>
                    <a:solidFill>
                      <a:srgbClr val="FFFFFF"/>
                    </a:solidFill>
                  </a:tcPr>
                </a:tc>
                <a:tc>
                  <a:txBody>
                    <a:bodyPr wrap="square"/>
                    <a:lstStyle/>
                    <a:p>
                      <a:r>
                        <a:rPr sz="750" b="1">
                          <a:solidFill>
                            <a:srgbClr val="41801A"/>
                          </a:solidFill>
                          <a:latin typeface="Segoe UI"/>
                        </a:rPr>
                        <a:t>WHO</a:t>
                      </a:r>
                    </a:p>
                  </a:txBody>
                  <a:tcPr marL="45720" marR="109728" marT="27432" marB="27432" anchor="ctr">
                    <a:lnB w="9525" cap="flat" cmpd="sng" algn="ctr">
                      <a:solidFill>
                        <a:srgbClr val="41801A"/>
                      </a:solidFill>
                    </a:lnB>
                    <a:solidFill>
                      <a:srgbClr val="FFFFFF"/>
                    </a:solidFill>
                  </a:tcPr>
                </a:tc>
                <a:tc>
                  <a:txBody>
                    <a:bodyPr wrap="square"/>
                    <a:lstStyle/>
                    <a:p>
                      <a:r>
                        <a:rPr sz="750" b="1">
                          <a:solidFill>
                            <a:srgbClr val="41801A"/>
                          </a:solidFill>
                          <a:latin typeface="Segoe UI"/>
                        </a:rPr>
                        <a:t>WHAT THEY ARE FOR</a:t>
                      </a:r>
                    </a:p>
                  </a:txBody>
                  <a:tcPr marL="45720" marR="109728" marT="27432" marB="27432" anchor="ctr">
                    <a:lnB w="9525" cap="flat" cmpd="sng" algn="ctr">
                      <a:solidFill>
                        <a:srgbClr val="41801A"/>
                      </a:solidFill>
                    </a:lnB>
                    <a:solidFill>
                      <a:srgbClr val="FFFFFF"/>
                    </a:solidFill>
                  </a:tcPr>
                </a:tc>
                <a:tc>
                  <a:txBody>
                    <a:bodyPr wrap="square"/>
                    <a:lstStyle/>
                    <a:p>
                      <a:r>
                        <a:rPr sz="750" b="1">
                          <a:solidFill>
                            <a:srgbClr val="41801A"/>
                          </a:solidFill>
                          <a:latin typeface="Segoe UI"/>
                        </a:rPr>
                        <a:t>LEAD TIME</a:t>
                      </a:r>
                    </a:p>
                  </a:txBody>
                  <a:tcPr marL="45720" marR="109728" marT="27432" marB="27432" anchor="ctr">
                    <a:lnB w="9525" cap="flat" cmpd="sng" algn="ctr">
                      <a:solidFill>
                        <a:srgbClr val="41801A"/>
                      </a:solidFill>
                    </a:lnB>
                    <a:solidFill>
                      <a:srgbClr val="FFFFFF"/>
                    </a:solidFill>
                  </a:tcPr>
                </a:tc>
              </a:tr>
              <a:tr h="452459">
                <a:tc>
                  <a:txBody>
                    <a:bodyPr wrap="square"/>
                    <a:lstStyle/>
                    <a:p>
                      <a:r>
                        <a:rPr sz="750" b="0">
                          <a:solidFill>
                            <a:srgbClr val="26301F"/>
                          </a:solidFill>
                          <a:latin typeface="Segoe UI"/>
                        </a:rPr>
                        <a:t>Identity</a:t>
                      </a:r>
                    </a:p>
                  </a:txBody>
                  <a:tcPr marL="45720" marR="109728" marT="27432" marB="27432" anchor="ctr">
                    <a:lnB w="9525" cap="flat" cmpd="sng" algn="ctr">
                      <a:solidFill>
                        <a:srgbClr val="DCE3D6"/>
                      </a:solidFill>
                    </a:lnB>
                    <a:solidFill>
                      <a:srgbClr val="FFFFFF"/>
                    </a:solidFill>
                  </a:tcPr>
                </a:tc>
                <a:tc>
                  <a:txBody>
                    <a:bodyPr wrap="square"/>
                    <a:lstStyle/>
                    <a:p>
                      <a:r>
                        <a:rPr sz="750" b="0">
                          <a:solidFill>
                            <a:srgbClr val="26301F"/>
                          </a:solidFill>
                          <a:latin typeface="Segoe UI"/>
                        </a:rPr>
                        <a:t>NADRA, through the Nishan Pakistan portal</a:t>
                      </a:r>
                    </a:p>
                  </a:txBody>
                  <a:tcPr marL="45720" marR="109728" marT="27432" marB="27432" anchor="ctr">
                    <a:lnB w="9525" cap="flat" cmpd="sng" algn="ctr">
                      <a:solidFill>
                        <a:srgbClr val="DCE3D6"/>
                      </a:solidFill>
                    </a:lnB>
                    <a:solidFill>
                      <a:srgbClr val="FFFFFF"/>
                    </a:solidFill>
                  </a:tcPr>
                </a:tc>
                <a:tc>
                  <a:txBody>
                    <a:bodyPr wrap="square"/>
                    <a:lstStyle/>
                    <a:p>
                      <a:r>
                        <a:rPr sz="750" b="0">
                          <a:solidFill>
                            <a:srgbClr val="26301F"/>
                          </a:solidFill>
                          <a:latin typeface="Segoe UI"/>
                        </a:rPr>
                        <a:t>Confirms an identity number is real and belongs to that name, and that the living person presenting it is the holder of the card</a:t>
                      </a:r>
                    </a:p>
                  </a:txBody>
                  <a:tcPr marL="45720" marR="109728" marT="27432" marB="27432" anchor="ctr">
                    <a:lnB w="9525" cap="flat" cmpd="sng" algn="ctr">
                      <a:solidFill>
                        <a:srgbClr val="DCE3D6"/>
                      </a:solidFill>
                    </a:lnB>
                    <a:solidFill>
                      <a:srgbClr val="FFFFFF"/>
                    </a:solidFill>
                  </a:tcPr>
                </a:tc>
                <a:tc>
                  <a:txBody>
                    <a:bodyPr wrap="square"/>
                    <a:lstStyle/>
                    <a:p>
                      <a:r>
                        <a:rPr sz="750" b="0">
                          <a:solidFill>
                            <a:srgbClr val="26301F"/>
                          </a:solidFill>
                          <a:latin typeface="Segoe UI"/>
                        </a:rPr>
                        <a:t>The longest item. Institutional onboarding paperwork, started in parallel with everything else</a:t>
                      </a:r>
                    </a:p>
                  </a:txBody>
                  <a:tcPr marL="45720" marR="109728" marT="27432" marB="27432" anchor="ctr">
                    <a:lnB w="9525" cap="flat" cmpd="sng" algn="ctr">
                      <a:solidFill>
                        <a:srgbClr val="DCE3D6"/>
                      </a:solidFill>
                    </a:lnB>
                    <a:solidFill>
                      <a:srgbClr val="FFFFFF"/>
                    </a:solidFill>
                  </a:tcPr>
                </a:tc>
              </a:tr>
              <a:tr h="452459">
                <a:tc>
                  <a:txBody>
                    <a:bodyPr wrap="square"/>
                    <a:lstStyle/>
                    <a:p>
                      <a:r>
                        <a:rPr sz="750" b="0">
                          <a:solidFill>
                            <a:srgbClr val="26301F"/>
                          </a:solidFill>
                          <a:latin typeface="Segoe UI"/>
                        </a:rPr>
                        <a:t>Credit bureau</a:t>
                      </a:r>
                    </a:p>
                  </a:txBody>
                  <a:tcPr marL="45720" marR="109728" marT="27432" marB="27432" anchor="ctr">
                    <a:lnB w="9525" cap="flat" cmpd="sng" algn="ctr">
                      <a:solidFill>
                        <a:srgbClr val="DCE3D6"/>
                      </a:solidFill>
                    </a:lnB>
                    <a:solidFill>
                      <a:srgbClr val="FFFFFF"/>
                    </a:solidFill>
                  </a:tcPr>
                </a:tc>
                <a:tc>
                  <a:txBody>
                    <a:bodyPr wrap="square"/>
                    <a:lstStyle/>
                    <a:p>
                      <a:r>
                        <a:rPr sz="750" b="0">
                          <a:solidFill>
                            <a:srgbClr val="26301F"/>
                          </a:solidFill>
                          <a:latin typeface="Segoe UI"/>
                        </a:rPr>
                        <a:t>TASDEEQ, the trading name of Aequitas Information Services; DataCheck Limited</a:t>
                      </a:r>
                    </a:p>
                  </a:txBody>
                  <a:tcPr marL="45720" marR="109728" marT="27432" marB="27432" anchor="ctr">
                    <a:lnB w="9525" cap="flat" cmpd="sng" algn="ctr">
                      <a:solidFill>
                        <a:srgbClr val="DCE3D6"/>
                      </a:solidFill>
                    </a:lnB>
                    <a:solidFill>
                      <a:srgbClr val="FFFFFF"/>
                    </a:solidFill>
                  </a:tcPr>
                </a:tc>
                <a:tc>
                  <a:txBody>
                    <a:bodyPr wrap="square"/>
                    <a:lstStyle/>
                    <a:p>
                      <a:r>
                        <a:rPr sz="750" b="0">
                          <a:solidFill>
                            <a:srgbClr val="26301F"/>
                          </a:solidFill>
                          <a:latin typeface="Segoe UI"/>
                        </a:rPr>
                        <a:t>Receives the payment record and turns it into a credit history the member can use elsewhere. TASDEEQ is the first bureau licensed under the Credit Bureaus Act 2015 and already counts fintechs and non bank financiers among its members</a:t>
                      </a:r>
                    </a:p>
                  </a:txBody>
                  <a:tcPr marL="45720" marR="109728" marT="27432" marB="27432" anchor="ctr">
                    <a:lnB w="9525" cap="flat" cmpd="sng" algn="ctr">
                      <a:solidFill>
                        <a:srgbClr val="DCE3D6"/>
                      </a:solidFill>
                    </a:lnB>
                    <a:solidFill>
                      <a:srgbClr val="FFFFFF"/>
                    </a:solidFill>
                  </a:tcPr>
                </a:tc>
                <a:tc>
                  <a:txBody>
                    <a:bodyPr wrap="square"/>
                    <a:lstStyle/>
                    <a:p>
                      <a:r>
                        <a:rPr sz="750" b="0">
                          <a:solidFill>
                            <a:srgbClr val="26301F"/>
                          </a:solidFill>
                          <a:latin typeface="Segoe UI"/>
                        </a:rPr>
                        <a:t>A contributor agreement. Months, not years</a:t>
                      </a:r>
                    </a:p>
                  </a:txBody>
                  <a:tcPr marL="45720" marR="109728" marT="27432" marB="27432" anchor="ctr">
                    <a:lnB w="9525" cap="flat" cmpd="sng" algn="ctr">
                      <a:solidFill>
                        <a:srgbClr val="DCE3D6"/>
                      </a:solidFill>
                    </a:lnB>
                    <a:solidFill>
                      <a:srgbClr val="FFFFFF"/>
                    </a:solidFill>
                  </a:tcPr>
                </a:tc>
              </a:tr>
              <a:tr h="452459">
                <a:tc>
                  <a:txBody>
                    <a:bodyPr wrap="square"/>
                    <a:lstStyle/>
                    <a:p>
                      <a:r>
                        <a:rPr sz="750" b="0">
                          <a:solidFill>
                            <a:srgbClr val="26301F"/>
                          </a:solidFill>
                          <a:latin typeface="Segoe UI"/>
                        </a:rPr>
                        <a:t>Leasing counterparty</a:t>
                      </a:r>
                    </a:p>
                  </a:txBody>
                  <a:tcPr marL="45720" marR="109728" marT="27432" marB="27432" anchor="ctr">
                    <a:lnB w="9525" cap="flat" cmpd="sng" algn="ctr">
                      <a:solidFill>
                        <a:srgbClr val="DCE3D6"/>
                      </a:solidFill>
                    </a:lnB>
                    <a:solidFill>
                      <a:srgbClr val="FFFFFF"/>
                    </a:solidFill>
                  </a:tcPr>
                </a:tc>
                <a:tc>
                  <a:txBody>
                    <a:bodyPr wrap="square"/>
                    <a:lstStyle/>
                    <a:p>
                      <a:r>
                        <a:rPr sz="750" b="0">
                          <a:solidFill>
                            <a:srgbClr val="26301F"/>
                          </a:solidFill>
                          <a:latin typeface="Segoe UI"/>
                        </a:rPr>
                        <a:t>Orix Modaraba; First Habib Modaraba; Allied Rental Modaraba</a:t>
                      </a:r>
                    </a:p>
                  </a:txBody>
                  <a:tcPr marL="45720" marR="109728" marT="27432" marB="27432" anchor="ctr">
                    <a:lnB w="9525" cap="flat" cmpd="sng" algn="ctr">
                      <a:solidFill>
                        <a:srgbClr val="DCE3D6"/>
                      </a:solidFill>
                    </a:lnB>
                    <a:solidFill>
                      <a:srgbClr val="FFFFFF"/>
                    </a:solidFill>
                  </a:tcPr>
                </a:tc>
                <a:tc>
                  <a:txBody>
                    <a:bodyPr wrap="square"/>
                    <a:lstStyle/>
                    <a:p>
                      <a:r>
                        <a:rPr sz="750" b="0">
                          <a:solidFill>
                            <a:srgbClr val="26301F"/>
                          </a:solidFill>
                          <a:latin typeface="Segoe UI"/>
                        </a:rPr>
                        <a:t>Can hold title and write a lease on an asset circle without Halqa holding any financing licence</a:t>
                      </a:r>
                    </a:p>
                  </a:txBody>
                  <a:tcPr marL="45720" marR="109728" marT="27432" marB="27432" anchor="ctr">
                    <a:lnB w="9525" cap="flat" cmpd="sng" algn="ctr">
                      <a:solidFill>
                        <a:srgbClr val="DCE3D6"/>
                      </a:solidFill>
                    </a:lnB>
                    <a:solidFill>
                      <a:srgbClr val="FFFFFF"/>
                    </a:solidFill>
                  </a:tcPr>
                </a:tc>
                <a:tc>
                  <a:txBody>
                    <a:bodyPr wrap="square"/>
                    <a:lstStyle/>
                    <a:p>
                      <a:r>
                        <a:rPr sz="750" b="0">
                          <a:solidFill>
                            <a:srgbClr val="26301F"/>
                          </a:solidFill>
                          <a:latin typeface="Segoe UI"/>
                        </a:rPr>
                        <a:t>Commercial negotiation</a:t>
                      </a:r>
                    </a:p>
                  </a:txBody>
                  <a:tcPr marL="45720" marR="109728" marT="27432" marB="27432" anchor="ctr">
                    <a:lnB w="9525" cap="flat" cmpd="sng" algn="ctr">
                      <a:solidFill>
                        <a:srgbClr val="DCE3D6"/>
                      </a:solidFill>
                    </a:lnB>
                    <a:solidFill>
                      <a:srgbClr val="FFFFFF"/>
                    </a:solidFill>
                  </a:tcPr>
                </a:tc>
              </a:tr>
              <a:tr h="452459">
                <a:tc>
                  <a:txBody>
                    <a:bodyPr wrap="square"/>
                    <a:lstStyle/>
                    <a:p>
                      <a:r>
                        <a:rPr sz="750" b="0">
                          <a:solidFill>
                            <a:srgbClr val="26301F"/>
                          </a:solidFill>
                          <a:latin typeface="Segoe UI"/>
                        </a:rPr>
                        <a:t>Takaful</a:t>
                      </a:r>
                    </a:p>
                  </a:txBody>
                  <a:tcPr marL="45720" marR="109728" marT="27432" marB="27432" anchor="ctr">
                    <a:lnB w="9525" cap="flat" cmpd="sng" algn="ctr">
                      <a:solidFill>
                        <a:srgbClr val="DCE3D6"/>
                      </a:solidFill>
                    </a:lnB>
                    <a:solidFill>
                      <a:srgbClr val="FFFFFF"/>
                    </a:solidFill>
                  </a:tcPr>
                </a:tc>
                <a:tc>
                  <a:txBody>
                    <a:bodyPr wrap="square"/>
                    <a:lstStyle/>
                    <a:p>
                      <a:r>
                        <a:rPr sz="750" b="0">
                          <a:solidFill>
                            <a:srgbClr val="26301F"/>
                          </a:solidFill>
                          <a:latin typeface="Segoe UI"/>
                        </a:rPr>
                        <a:t>Pak-Qatar Family Takaful; Salaam Takaful; Jubilee; EFU</a:t>
                      </a:r>
                    </a:p>
                  </a:txBody>
                  <a:tcPr marL="45720" marR="109728" marT="27432" marB="27432" anchor="ctr">
                    <a:lnB w="9525" cap="flat" cmpd="sng" algn="ctr">
                      <a:solidFill>
                        <a:srgbClr val="DCE3D6"/>
                      </a:solidFill>
                    </a:lnB>
                    <a:solidFill>
                      <a:srgbClr val="FFFFFF"/>
                    </a:solidFill>
                  </a:tcPr>
                </a:tc>
                <a:tc>
                  <a:txBody>
                    <a:bodyPr wrap="square"/>
                    <a:lstStyle/>
                    <a:p>
                      <a:r>
                        <a:rPr sz="750" b="0">
                          <a:solidFill>
                            <a:srgbClr val="26301F"/>
                          </a:solidFill>
                          <a:latin typeface="Segoe UI"/>
                        </a:rPr>
                        <a:t>Cover above the aggregate cap on the platform's own facility, and credit life so a member's death does not fall on the group</a:t>
                      </a:r>
                    </a:p>
                  </a:txBody>
                  <a:tcPr marL="45720" marR="109728" marT="27432" marB="27432" anchor="ctr">
                    <a:lnB w="9525" cap="flat" cmpd="sng" algn="ctr">
                      <a:solidFill>
                        <a:srgbClr val="DCE3D6"/>
                      </a:solidFill>
                    </a:lnB>
                    <a:solidFill>
                      <a:srgbClr val="FFFFFF"/>
                    </a:solidFill>
                  </a:tcPr>
                </a:tc>
                <a:tc>
                  <a:txBody>
                    <a:bodyPr wrap="square"/>
                    <a:lstStyle/>
                    <a:p>
                      <a:r>
                        <a:rPr sz="750" b="0">
                          <a:solidFill>
                            <a:srgbClr val="26301F"/>
                          </a:solidFill>
                          <a:latin typeface="Segoe UI"/>
                        </a:rPr>
                        <a:t>Commercial negotiation</a:t>
                      </a:r>
                    </a:p>
                  </a:txBody>
                  <a:tcPr marL="45720" marR="109728" marT="27432" marB="27432" anchor="ctr">
                    <a:lnB w="9525" cap="flat" cmpd="sng" algn="ctr">
                      <a:solidFill>
                        <a:srgbClr val="DCE3D6"/>
                      </a:solidFill>
                    </a:lnB>
                    <a:solidFill>
                      <a:srgbClr val="FFFFFF"/>
                    </a:solidFill>
                  </a:tcPr>
                </a:tc>
              </a:tr>
              <a:tr h="452459">
                <a:tc>
                  <a:txBody>
                    <a:bodyPr wrap="square"/>
                    <a:lstStyle/>
                    <a:p>
                      <a:r>
                        <a:rPr sz="750" b="0">
                          <a:solidFill>
                            <a:srgbClr val="26301F"/>
                          </a:solidFill>
                          <a:latin typeface="Segoe UI"/>
                        </a:rPr>
                        <a:t>Messaging</a:t>
                      </a:r>
                    </a:p>
                  </a:txBody>
                  <a:tcPr marL="45720" marR="109728" marT="27432" marB="27432" anchor="ctr">
                    <a:lnB w="9525" cap="flat" cmpd="sng" algn="ctr">
                      <a:solidFill>
                        <a:srgbClr val="DCE3D6"/>
                      </a:solidFill>
                    </a:lnB>
                    <a:solidFill>
                      <a:srgbClr val="FFFFFF"/>
                    </a:solidFill>
                  </a:tcPr>
                </a:tc>
                <a:tc>
                  <a:txBody>
                    <a:bodyPr wrap="square"/>
                    <a:lstStyle/>
                    <a:p>
                      <a:r>
                        <a:rPr sz="750" b="0">
                          <a:solidFill>
                            <a:srgbClr val="26301F"/>
                          </a:solidFill>
                          <a:latin typeface="Segoe UI"/>
                        </a:rPr>
                        <a:t>WhatsApp Business Cloud API</a:t>
                      </a:r>
                    </a:p>
                  </a:txBody>
                  <a:tcPr marL="45720" marR="109728" marT="27432" marB="27432" anchor="ctr">
                    <a:lnB w="9525" cap="flat" cmpd="sng" algn="ctr">
                      <a:solidFill>
                        <a:srgbClr val="DCE3D6"/>
                      </a:solidFill>
                    </a:lnB>
                    <a:solidFill>
                      <a:srgbClr val="FFFFFF"/>
                    </a:solidFill>
                  </a:tcPr>
                </a:tc>
                <a:tc>
                  <a:txBody>
                    <a:bodyPr wrap="square"/>
                    <a:lstStyle/>
                    <a:p>
                      <a:r>
                        <a:rPr sz="750" b="0">
                          <a:solidFill>
                            <a:srgbClr val="26301F"/>
                          </a:solidFill>
                          <a:latin typeface="Segoe UI"/>
                        </a:rPr>
                        <a:t>Receipts, reminders and one time codes on the channel members actually read</a:t>
                      </a:r>
                    </a:p>
                  </a:txBody>
                  <a:tcPr marL="45720" marR="109728" marT="27432" marB="27432" anchor="ctr">
                    <a:lnB w="9525" cap="flat" cmpd="sng" algn="ctr">
                      <a:solidFill>
                        <a:srgbClr val="DCE3D6"/>
                      </a:solidFill>
                    </a:lnB>
                    <a:solidFill>
                      <a:srgbClr val="FFFFFF"/>
                    </a:solidFill>
                  </a:tcPr>
                </a:tc>
                <a:tc>
                  <a:txBody>
                    <a:bodyPr wrap="square"/>
                    <a:lstStyle/>
                    <a:p>
                      <a:r>
                        <a:rPr sz="750" b="0">
                          <a:solidFill>
                            <a:srgbClr val="26301F"/>
                          </a:solidFill>
                          <a:latin typeface="Segoe UI"/>
                        </a:rPr>
                        <a:t>Immediate</a:t>
                      </a:r>
                    </a:p>
                  </a:txBody>
                  <a:tcPr marL="45720" marR="109728" marT="27432" marB="27432" anchor="ctr">
                    <a:lnB w="9525" cap="flat" cmpd="sng" algn="ctr">
                      <a:solidFill>
                        <a:srgbClr val="DCE3D6"/>
                      </a:solidFill>
                    </a:lnB>
                    <a:solidFill>
                      <a:srgbClr val="FFFFFF"/>
                    </a:solidFill>
                  </a:tcPr>
                </a:tc>
              </a:tr>
              <a:tr h="452459">
                <a:tc>
                  <a:txBody>
                    <a:bodyPr wrap="square"/>
                    <a:lstStyle/>
                    <a:p>
                      <a:r>
                        <a:rPr sz="750" b="0">
                          <a:solidFill>
                            <a:srgbClr val="26301F"/>
                          </a:solidFill>
                          <a:latin typeface="Segoe UI"/>
                        </a:rPr>
                        <a:t>Non dilutive funding</a:t>
                      </a:r>
                    </a:p>
                  </a:txBody>
                  <a:tcPr marL="45720" marR="109728" marT="27432" marB="27432" anchor="ctr">
                    <a:lnB w="9525" cap="flat" cmpd="sng" algn="ctr">
                      <a:solidFill>
                        <a:srgbClr val="DCE3D6"/>
                      </a:solidFill>
                    </a:lnB>
                    <a:solidFill>
                      <a:srgbClr val="FFFFFF"/>
                    </a:solidFill>
                  </a:tcPr>
                </a:tc>
                <a:tc>
                  <a:txBody>
                    <a:bodyPr wrap="square"/>
                    <a:lstStyle/>
                    <a:p>
                      <a:r>
                        <a:rPr sz="750" b="0">
                          <a:solidFill>
                            <a:srgbClr val="26301F"/>
                          </a:solidFill>
                          <a:latin typeface="Segoe UI"/>
                        </a:rPr>
                        <a:t>Karandaaz Pakistan; Ignite National Technology Fund</a:t>
                      </a:r>
                    </a:p>
                  </a:txBody>
                  <a:tcPr marL="45720" marR="109728" marT="27432" marB="27432" anchor="ctr">
                    <a:lnB w="9525" cap="flat" cmpd="sng" algn="ctr">
                      <a:solidFill>
                        <a:srgbClr val="DCE3D6"/>
                      </a:solidFill>
                    </a:lnB>
                    <a:solidFill>
                      <a:srgbClr val="FFFFFF"/>
                    </a:solidFill>
                  </a:tcPr>
                </a:tc>
                <a:tc>
                  <a:txBody>
                    <a:bodyPr wrap="square"/>
                    <a:lstStyle/>
                    <a:p>
                      <a:r>
                        <a:rPr sz="750" b="0">
                          <a:solidFill>
                            <a:srgbClr val="26301F"/>
                          </a:solidFill>
                          <a:latin typeface="Segoe UI"/>
                        </a:rPr>
                        <a:t>Grant and co-investment. Karandaaz co-funded the 2018 research that validated this architecture</a:t>
                      </a:r>
                    </a:p>
                  </a:txBody>
                  <a:tcPr marL="45720" marR="109728" marT="27432" marB="27432" anchor="ctr">
                    <a:lnB w="9525" cap="flat" cmpd="sng" algn="ctr">
                      <a:solidFill>
                        <a:srgbClr val="DCE3D6"/>
                      </a:solidFill>
                    </a:lnB>
                    <a:solidFill>
                      <a:srgbClr val="FFFFFF"/>
                    </a:solidFill>
                  </a:tcPr>
                </a:tc>
                <a:tc>
                  <a:txBody>
                    <a:bodyPr wrap="square"/>
                    <a:lstStyle/>
                    <a:p>
                      <a:r>
                        <a:rPr sz="750" b="0">
                          <a:solidFill>
                            <a:srgbClr val="26301F"/>
                          </a:solidFill>
                          <a:latin typeface="Segoe UI"/>
                        </a:rPr>
                        <a:t>Application cycles</a:t>
                      </a:r>
                    </a:p>
                  </a:txBody>
                  <a:tcPr marL="45720" marR="109728" marT="27432" marB="27432" anchor="ctr">
                    <a:lnB w="9525" cap="flat" cmpd="sng" algn="ctr">
                      <a:solidFill>
                        <a:srgbClr val="DCE3D6"/>
                      </a:solidFill>
                    </a:lnB>
                    <a:solidFill>
                      <a:srgbClr val="FFFFFF"/>
                    </a:solidFill>
                  </a:tcPr>
                </a:tc>
              </a:tr>
              <a:tr h="452459">
                <a:tc>
                  <a:txBody>
                    <a:bodyPr wrap="square"/>
                    <a:lstStyle/>
                    <a:p>
                      <a:r>
                        <a:rPr sz="750" b="0">
                          <a:solidFill>
                            <a:srgbClr val="26301F"/>
                          </a:solidFill>
                          <a:latin typeface="Segoe UI"/>
                        </a:rPr>
                        <a:t>Regulator</a:t>
                      </a:r>
                    </a:p>
                  </a:txBody>
                  <a:tcPr marL="45720" marR="109728" marT="27432" marB="27432" anchor="ctr">
                    <a:lnB w="9525" cap="flat" cmpd="sng" algn="ctr">
                      <a:solidFill>
                        <a:srgbClr val="DCE3D6"/>
                      </a:solidFill>
                    </a:lnB>
                    <a:solidFill>
                      <a:srgbClr val="FFFFFF"/>
                    </a:solidFill>
                  </a:tcPr>
                </a:tc>
                <a:tc>
                  <a:txBody>
                    <a:bodyPr wrap="square"/>
                    <a:lstStyle/>
                    <a:p>
                      <a:r>
                        <a:rPr sz="750" b="0">
                          <a:solidFill>
                            <a:srgbClr val="26301F"/>
                          </a:solidFill>
                          <a:latin typeface="Segoe UI"/>
                        </a:rPr>
                        <a:t>SECP regulatory sandbox</a:t>
                      </a:r>
                    </a:p>
                  </a:txBody>
                  <a:tcPr marL="45720" marR="109728" marT="27432" marB="27432" anchor="ctr">
                    <a:lnB w="9525" cap="flat" cmpd="sng" algn="ctr">
                      <a:solidFill>
                        <a:srgbClr val="DCE3D6"/>
                      </a:solidFill>
                    </a:lnB>
                    <a:solidFill>
                      <a:srgbClr val="FFFFFF"/>
                    </a:solidFill>
                  </a:tcPr>
                </a:tc>
                <a:tc>
                  <a:txBody>
                    <a:bodyPr wrap="square"/>
                    <a:lstStyle/>
                    <a:p>
                      <a:r>
                        <a:rPr sz="750" b="0">
                          <a:solidFill>
                            <a:srgbClr val="26301F"/>
                          </a:solidFill>
                          <a:latin typeface="Segoe UI"/>
                        </a:rPr>
                        <a:t>Supervised testing and the least expensive credibility available to a company at this stage</a:t>
                      </a:r>
                    </a:p>
                  </a:txBody>
                  <a:tcPr marL="45720" marR="109728" marT="27432" marB="27432" anchor="ctr">
                    <a:lnB w="9525" cap="flat" cmpd="sng" algn="ctr">
                      <a:solidFill>
                        <a:srgbClr val="DCE3D6"/>
                      </a:solidFill>
                    </a:lnB>
                    <a:solidFill>
                      <a:srgbClr val="FFFFFF"/>
                    </a:solidFill>
                  </a:tcPr>
                </a:tc>
                <a:tc>
                  <a:txBody>
                    <a:bodyPr wrap="square"/>
                    <a:lstStyle/>
                    <a:p>
                      <a:r>
                        <a:rPr sz="750" b="0">
                          <a:solidFill>
                            <a:srgbClr val="26301F"/>
                          </a:solidFill>
                          <a:latin typeface="Segoe UI"/>
                        </a:rPr>
                        <a:t>Application cycles</a:t>
                      </a:r>
                    </a:p>
                  </a:txBody>
                  <a:tcPr marL="45720" marR="109728" marT="27432" marB="27432" anchor="ctr">
                    <a:lnB w="9525" cap="flat" cmpd="sng" algn="ctr">
                      <a:solidFill>
                        <a:srgbClr val="DCE3D6"/>
                      </a:solidFill>
                    </a:lnB>
                    <a:solidFill>
                      <a:srgbClr val="FFFFFF"/>
                    </a:solidFill>
                  </a:tcPr>
                </a:tc>
              </a:tr>
            </a:tbl>
          </a:graphicData>
        </a:graphic>
      </p:graphicFrame>
    </p:spTree>
  </p:cSld>
  <p:clrMapOvr>
    <a:masterClrMapping/>
  </p:clrMapOvr>
</p:sld>
</file>

<file path=ppt/slides/slide1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777240" y="566928"/>
            <a:ext cx="10637215" cy="219456"/>
          </a:xfrm>
          <a:prstGeom prst="rect">
            <a:avLst/>
          </a:prstGeom>
          <a:noFill/>
        </p:spPr>
        <p:txBody>
          <a:bodyPr wrap="square" lIns="0" rIns="0" tIns="0" bIns="0">
            <a:spAutoFit/>
          </a:bodyPr>
          <a:lstStyle/>
          <a:p>
            <a:pPr algn="l">
              <a:lnSpc>
                <a:spcPct val="125000"/>
              </a:lnSpc>
            </a:pPr>
            <a:r>
              <a:rPr sz="950" b="1" i="0">
                <a:solidFill>
                  <a:srgbClr val="41801A"/>
                </a:solidFill>
                <a:latin typeface="Segoe UI"/>
              </a:rPr>
              <a:t>1  WHERE THE MONEY GOES</a:t>
            </a:r>
          </a:p>
        </p:txBody>
      </p:sp>
      <p:sp>
        <p:nvSpPr>
          <p:cNvPr id="3" name="TextBox 2"/>
          <p:cNvSpPr txBox="1"/>
          <p:nvPr/>
        </p:nvSpPr>
        <p:spPr>
          <a:xfrm>
            <a:off x="777240" y="841248"/>
            <a:ext cx="10637215" cy="502920"/>
          </a:xfrm>
          <a:prstGeom prst="rect">
            <a:avLst/>
          </a:prstGeom>
          <a:noFill/>
        </p:spPr>
        <p:txBody>
          <a:bodyPr wrap="square" lIns="0" rIns="0" tIns="0" bIns="0">
            <a:spAutoFit/>
          </a:bodyPr>
          <a:lstStyle/>
          <a:p>
            <a:pPr algn="l">
              <a:lnSpc>
                <a:spcPct val="125000"/>
              </a:lnSpc>
            </a:pPr>
            <a:r>
              <a:rPr sz="2700" b="1" i="0">
                <a:solidFill>
                  <a:srgbClr val="0C1408"/>
                </a:solidFill>
                <a:latin typeface="Segoe UI"/>
              </a:rPr>
              <a:t>What is and is not required</a:t>
            </a:r>
          </a:p>
        </p:txBody>
      </p:sp>
      <p:sp>
        <p:nvSpPr>
          <p:cNvPr id="4" name="Rectangle 3"/>
          <p:cNvSpPr/>
          <p:nvPr/>
        </p:nvSpPr>
        <p:spPr>
          <a:xfrm>
            <a:off x="777240" y="1417320"/>
            <a:ext cx="1371600" cy="22860"/>
          </a:xfrm>
          <a:prstGeom prst="rect">
            <a:avLst/>
          </a:prstGeom>
          <a:solidFill>
            <a:srgbClr val="6DC72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777240" y="6382512"/>
            <a:ext cx="3657600" cy="228600"/>
          </a:xfrm>
          <a:prstGeom prst="rect">
            <a:avLst/>
          </a:prstGeom>
          <a:noFill/>
        </p:spPr>
        <p:txBody>
          <a:bodyPr wrap="square" lIns="0" rIns="0" tIns="0" bIns="0">
            <a:spAutoFit/>
          </a:bodyPr>
          <a:lstStyle/>
          <a:p>
            <a:pPr algn="l">
              <a:lnSpc>
                <a:spcPct val="125000"/>
              </a:lnSpc>
            </a:pPr>
            <a:r>
              <a:rPr sz="900" b="0" i="0">
                <a:solidFill>
                  <a:srgbClr val="9AA694"/>
                </a:solidFill>
                <a:latin typeface="Segoe UI"/>
              </a:rPr>
              <a:t>Halqa  ·  Confidential</a:t>
            </a:r>
          </a:p>
        </p:txBody>
      </p:sp>
      <p:sp>
        <p:nvSpPr>
          <p:cNvPr id="6" name="TextBox 5"/>
          <p:cNvSpPr txBox="1"/>
          <p:nvPr/>
        </p:nvSpPr>
        <p:spPr>
          <a:xfrm>
            <a:off x="10728655" y="6382512"/>
            <a:ext cx="685800" cy="228600"/>
          </a:xfrm>
          <a:prstGeom prst="rect">
            <a:avLst/>
          </a:prstGeom>
          <a:noFill/>
        </p:spPr>
        <p:txBody>
          <a:bodyPr wrap="square" lIns="0" rIns="0" tIns="0" bIns="0">
            <a:spAutoFit/>
          </a:bodyPr>
          <a:lstStyle/>
          <a:p>
            <a:pPr algn="r">
              <a:lnSpc>
                <a:spcPct val="125000"/>
              </a:lnSpc>
            </a:pPr>
            <a:r>
              <a:rPr sz="900" b="0" i="0">
                <a:solidFill>
                  <a:srgbClr val="6F7B68"/>
                </a:solidFill>
                <a:latin typeface="Segoe UI"/>
              </a:rPr>
              <a:t>16</a:t>
            </a:r>
          </a:p>
        </p:txBody>
      </p:sp>
      <p:graphicFrame>
        <p:nvGraphicFramePr>
          <p:cNvPr id="7" name="Table 6"/>
          <p:cNvGraphicFramePr>
            <a:graphicFrameLocks noGrp="1"/>
          </p:cNvGraphicFramePr>
          <p:nvPr/>
        </p:nvGraphicFramePr>
        <p:xfrm>
          <a:off x="777240" y="1965960"/>
          <a:ext cx="6035040" cy="3621024"/>
        </p:xfrm>
        <a:graphic>
          <a:graphicData uri="http://schemas.openxmlformats.org/drawingml/2006/table">
            <a:tbl>
              <a:tblPr>
                <a:tableStyleId>{5C22544A-7EE6-4342-B048-85BDC9FD1C3A}</a:tableStyleId>
              </a:tblPr>
              <a:tblGrid>
                <a:gridCol w="2743200"/>
                <a:gridCol w="3291840"/>
              </a:tblGrid>
              <a:tr h="603504">
                <a:tc>
                  <a:txBody>
                    <a:bodyPr wrap="square"/>
                    <a:lstStyle/>
                    <a:p>
                      <a:r>
                        <a:rPr sz="900" b="1">
                          <a:solidFill>
                            <a:srgbClr val="41801A"/>
                          </a:solidFill>
                          <a:latin typeface="Segoe UI"/>
                        </a:rPr>
                        <a:t>NOT REQUIRED</a:t>
                      </a:r>
                    </a:p>
                  </a:txBody>
                  <a:tcPr marL="45720" marR="109728" marT="27432" marB="27432" anchor="ctr">
                    <a:lnB w="9525" cap="flat" cmpd="sng" algn="ctr">
                      <a:solidFill>
                        <a:srgbClr val="41801A"/>
                      </a:solidFill>
                    </a:lnB>
                    <a:solidFill>
                      <a:srgbClr val="FFFFFF"/>
                    </a:solidFill>
                  </a:tcPr>
                </a:tc>
                <a:tc>
                  <a:txBody>
                    <a:bodyPr wrap="square"/>
                    <a:lstStyle/>
                    <a:p>
                      <a:r>
                        <a:rPr sz="900" b="1">
                          <a:solidFill>
                            <a:srgbClr val="41801A"/>
                          </a:solidFill>
                          <a:latin typeface="Segoe UI"/>
                        </a:rPr>
                        <a:t>WHY NOT</a:t>
                      </a:r>
                    </a:p>
                  </a:txBody>
                  <a:tcPr marL="45720" marR="109728" marT="27432" marB="27432" anchor="ctr">
                    <a:lnB w="9525" cap="flat" cmpd="sng" algn="ctr">
                      <a:solidFill>
                        <a:srgbClr val="41801A"/>
                      </a:solidFill>
                    </a:lnB>
                    <a:solidFill>
                      <a:srgbClr val="FFFFFF"/>
                    </a:solidFill>
                  </a:tcPr>
                </a:tc>
              </a:tr>
              <a:tr h="603504">
                <a:tc>
                  <a:txBody>
                    <a:bodyPr wrap="square"/>
                    <a:lstStyle/>
                    <a:p>
                      <a:r>
                        <a:rPr sz="950" b="0">
                          <a:solidFill>
                            <a:srgbClr val="26301F"/>
                          </a:solidFill>
                          <a:latin typeface="Segoe UI"/>
                        </a:rPr>
                        <a:t>An electronic money institution licence</a:t>
                      </a:r>
                    </a:p>
                  </a:txBody>
                  <a:tcPr marL="45720" marR="109728" marT="27432" marB="27432" anchor="ctr">
                    <a:lnB w="9525" cap="flat" cmpd="sng" algn="ctr">
                      <a:solidFill>
                        <a:srgbClr val="DCE3D6"/>
                      </a:solidFill>
                    </a:lnB>
                    <a:solidFill>
                      <a:srgbClr val="FFFFFF"/>
                    </a:solidFill>
                  </a:tcPr>
                </a:tc>
                <a:tc>
                  <a:txBody>
                    <a:bodyPr wrap="square"/>
                    <a:lstStyle/>
                    <a:p>
                      <a:r>
                        <a:rPr sz="950" b="0">
                          <a:solidFill>
                            <a:srgbClr val="26301F"/>
                          </a:solidFill>
                          <a:latin typeface="Segoe UI"/>
                        </a:rPr>
                        <a:t>Requires substantial paid up capital and exists to authorise issuing stored value. Halqa issues no balance and stores no value</a:t>
                      </a:r>
                    </a:p>
                  </a:txBody>
                  <a:tcPr marL="45720" marR="109728" marT="27432" marB="27432" anchor="ctr">
                    <a:lnB w="9525" cap="flat" cmpd="sng" algn="ctr">
                      <a:solidFill>
                        <a:srgbClr val="DCE3D6"/>
                      </a:solidFill>
                    </a:lnB>
                    <a:solidFill>
                      <a:srgbClr val="FFFFFF"/>
                    </a:solidFill>
                  </a:tcPr>
                </a:tc>
              </a:tr>
              <a:tr h="603504">
                <a:tc>
                  <a:txBody>
                    <a:bodyPr wrap="square"/>
                    <a:lstStyle/>
                    <a:p>
                      <a:r>
                        <a:rPr sz="950" b="0">
                          <a:solidFill>
                            <a:srgbClr val="26301F"/>
                          </a:solidFill>
                          <a:latin typeface="Segoe UI"/>
                        </a:rPr>
                        <a:t>A non banking finance licence</a:t>
                      </a:r>
                    </a:p>
                  </a:txBody>
                  <a:tcPr marL="45720" marR="109728" marT="27432" marB="27432" anchor="ctr">
                    <a:lnB w="9525" cap="flat" cmpd="sng" algn="ctr">
                      <a:solidFill>
                        <a:srgbClr val="DCE3D6"/>
                      </a:solidFill>
                    </a:lnB>
                    <a:solidFill>
                      <a:srgbClr val="FFFFFF"/>
                    </a:solidFill>
                  </a:tcPr>
                </a:tc>
                <a:tc>
                  <a:txBody>
                    <a:bodyPr wrap="square"/>
                    <a:lstStyle/>
                    <a:p>
                      <a:r>
                        <a:rPr sz="950" b="0">
                          <a:solidFill>
                            <a:srgbClr val="26301F"/>
                          </a:solidFill>
                          <a:latin typeface="Segoe UI"/>
                        </a:rPr>
                        <a:t>Exists to authorise lending and deploying money. Members fund one another directly; Halqa lends nothing</a:t>
                      </a:r>
                    </a:p>
                  </a:txBody>
                  <a:tcPr marL="45720" marR="109728" marT="27432" marB="27432" anchor="ctr">
                    <a:lnB w="9525" cap="flat" cmpd="sng" algn="ctr">
                      <a:solidFill>
                        <a:srgbClr val="DCE3D6"/>
                      </a:solidFill>
                    </a:lnB>
                    <a:solidFill>
                      <a:srgbClr val="FFFFFF"/>
                    </a:solidFill>
                  </a:tcPr>
                </a:tc>
              </a:tr>
              <a:tr h="603504">
                <a:tc>
                  <a:txBody>
                    <a:bodyPr wrap="square"/>
                    <a:lstStyle/>
                    <a:p>
                      <a:r>
                        <a:rPr sz="950" b="0">
                          <a:solidFill>
                            <a:srgbClr val="26301F"/>
                          </a:solidFill>
                          <a:latin typeface="Segoe UI"/>
                        </a:rPr>
                        <a:t>A banking licence</a:t>
                      </a:r>
                    </a:p>
                  </a:txBody>
                  <a:tcPr marL="45720" marR="109728" marT="27432" marB="27432" anchor="ctr">
                    <a:lnB w="9525" cap="flat" cmpd="sng" algn="ctr">
                      <a:solidFill>
                        <a:srgbClr val="DCE3D6"/>
                      </a:solidFill>
                    </a:lnB>
                    <a:solidFill>
                      <a:srgbClr val="FFFFFF"/>
                    </a:solidFill>
                  </a:tcPr>
                </a:tc>
                <a:tc>
                  <a:txBody>
                    <a:bodyPr wrap="square"/>
                    <a:lstStyle/>
                    <a:p>
                      <a:r>
                        <a:rPr sz="950" b="0">
                          <a:solidFill>
                            <a:srgbClr val="26301F"/>
                          </a:solidFill>
                          <a:latin typeface="Segoe UI"/>
                        </a:rPr>
                        <a:t>Exists to authorise taking deposits. No deposit is taken at any point</a:t>
                      </a:r>
                    </a:p>
                  </a:txBody>
                  <a:tcPr marL="45720" marR="109728" marT="27432" marB="27432" anchor="ctr">
                    <a:lnB w="9525" cap="flat" cmpd="sng" algn="ctr">
                      <a:solidFill>
                        <a:srgbClr val="DCE3D6"/>
                      </a:solidFill>
                    </a:lnB>
                    <a:solidFill>
                      <a:srgbClr val="FFFFFF"/>
                    </a:solidFill>
                  </a:tcPr>
                </a:tc>
              </a:tr>
              <a:tr h="603504">
                <a:tc>
                  <a:txBody>
                    <a:bodyPr wrap="square"/>
                    <a:lstStyle/>
                    <a:p>
                      <a:r>
                        <a:rPr sz="950" b="0">
                          <a:solidFill>
                            <a:srgbClr val="26301F"/>
                          </a:solidFill>
                          <a:latin typeface="Segoe UI"/>
                        </a:rPr>
                        <a:t>A payment system operator licence</a:t>
                      </a:r>
                    </a:p>
                  </a:txBody>
                  <a:tcPr marL="45720" marR="109728" marT="27432" marB="27432" anchor="ctr">
                    <a:lnB w="9525" cap="flat" cmpd="sng" algn="ctr">
                      <a:solidFill>
                        <a:srgbClr val="DCE3D6"/>
                      </a:solidFill>
                    </a:lnB>
                    <a:solidFill>
                      <a:srgbClr val="FFFFFF"/>
                    </a:solidFill>
                  </a:tcPr>
                </a:tc>
                <a:tc>
                  <a:txBody>
                    <a:bodyPr wrap="square"/>
                    <a:lstStyle/>
                    <a:p>
                      <a:r>
                        <a:rPr sz="950" b="0">
                          <a:solidFill>
                            <a:srgbClr val="26301F"/>
                          </a:solidFill>
                          <a:latin typeface="Segoe UI"/>
                        </a:rPr>
                        <a:t>Halqa operates no rail. It is a merchant of a licensed aggregator</a:t>
                      </a:r>
                    </a:p>
                  </a:txBody>
                  <a:tcPr marL="45720" marR="109728" marT="27432" marB="27432" anchor="ctr">
                    <a:lnB w="9525" cap="flat" cmpd="sng" algn="ctr">
                      <a:solidFill>
                        <a:srgbClr val="DCE3D6"/>
                      </a:solidFill>
                    </a:lnB>
                    <a:solidFill>
                      <a:srgbClr val="FFFFFF"/>
                    </a:solidFill>
                  </a:tcPr>
                </a:tc>
              </a:tr>
              <a:tr h="603504">
                <a:tc>
                  <a:txBody>
                    <a:bodyPr wrap="square"/>
                    <a:lstStyle/>
                    <a:p>
                      <a:r>
                        <a:rPr sz="950" b="0">
                          <a:solidFill>
                            <a:srgbClr val="26301F"/>
                          </a:solidFill>
                          <a:latin typeface="Segoe UI"/>
                        </a:rPr>
                        <a:t>An insurance licence</a:t>
                      </a:r>
                    </a:p>
                  </a:txBody>
                  <a:tcPr marL="45720" marR="109728" marT="27432" marB="27432" anchor="ctr">
                    <a:lnB w="9525" cap="flat" cmpd="sng" algn="ctr">
                      <a:solidFill>
                        <a:srgbClr val="DCE3D6"/>
                      </a:solidFill>
                    </a:lnB>
                    <a:solidFill>
                      <a:srgbClr val="FFFFFF"/>
                    </a:solidFill>
                  </a:tcPr>
                </a:tc>
                <a:tc>
                  <a:txBody>
                    <a:bodyPr wrap="square"/>
                    <a:lstStyle/>
                    <a:p>
                      <a:r>
                        <a:rPr sz="950" b="0">
                          <a:solidFill>
                            <a:srgbClr val="26301F"/>
                          </a:solidFill>
                          <a:latin typeface="Segoe UI"/>
                        </a:rPr>
                        <a:t>Only if the protection is written and sold as insurance. Structured as a platform fee and a recoverable advance, it is not</a:t>
                      </a:r>
                    </a:p>
                  </a:txBody>
                  <a:tcPr marL="45720" marR="109728" marT="27432" marB="27432" anchor="ctr">
                    <a:lnB w="9525" cap="flat" cmpd="sng" algn="ctr">
                      <a:solidFill>
                        <a:srgbClr val="DCE3D6"/>
                      </a:solidFill>
                    </a:lnB>
                    <a:solidFill>
                      <a:srgbClr val="FFFFFF"/>
                    </a:solidFill>
                  </a:tcPr>
                </a:tc>
              </a:tr>
            </a:tbl>
          </a:graphicData>
        </a:graphic>
      </p:graphicFrame>
      <p:graphicFrame>
        <p:nvGraphicFramePr>
          <p:cNvPr id="8" name="Table 7"/>
          <p:cNvGraphicFramePr>
            <a:graphicFrameLocks noGrp="1"/>
          </p:cNvGraphicFramePr>
          <p:nvPr/>
        </p:nvGraphicFramePr>
        <p:xfrm>
          <a:off x="7269480" y="1965960"/>
          <a:ext cx="4114800" cy="3200400"/>
        </p:xfrm>
        <a:graphic>
          <a:graphicData uri="http://schemas.openxmlformats.org/drawingml/2006/table">
            <a:tbl>
              <a:tblPr>
                <a:tableStyleId>{5C22544A-7EE6-4342-B048-85BDC9FD1C3A}</a:tableStyleId>
              </a:tblPr>
              <a:tblGrid>
                <a:gridCol w="2743200"/>
                <a:gridCol w="1371600"/>
              </a:tblGrid>
              <a:tr h="457200">
                <a:tc>
                  <a:txBody>
                    <a:bodyPr wrap="square"/>
                    <a:lstStyle/>
                    <a:p>
                      <a:r>
                        <a:rPr sz="900" b="1">
                          <a:solidFill>
                            <a:srgbClr val="41801A"/>
                          </a:solidFill>
                          <a:latin typeface="Segoe UI"/>
                        </a:rPr>
                        <a:t>REQUIRED</a:t>
                      </a:r>
                    </a:p>
                  </a:txBody>
                  <a:tcPr marL="45720" marR="109728" marT="27432" marB="27432" anchor="ctr">
                    <a:lnB w="9525" cap="flat" cmpd="sng" algn="ctr">
                      <a:solidFill>
                        <a:srgbClr val="41801A"/>
                      </a:solidFill>
                    </a:lnB>
                    <a:solidFill>
                      <a:srgbClr val="FFFFFF"/>
                    </a:solidFill>
                  </a:tcPr>
                </a:tc>
                <a:tc>
                  <a:txBody>
                    <a:bodyPr wrap="square"/>
                    <a:lstStyle/>
                    <a:p>
                      <a:r>
                        <a:rPr sz="900" b="1">
                          <a:solidFill>
                            <a:srgbClr val="41801A"/>
                          </a:solidFill>
                          <a:latin typeface="Segoe UI"/>
                        </a:rPr>
                        <a:t>TYPE</a:t>
                      </a:r>
                    </a:p>
                  </a:txBody>
                  <a:tcPr marL="45720" marR="109728" marT="27432" marB="27432" anchor="ctr">
                    <a:lnB w="9525" cap="flat" cmpd="sng" algn="ctr">
                      <a:solidFill>
                        <a:srgbClr val="41801A"/>
                      </a:solidFill>
                    </a:lnB>
                    <a:solidFill>
                      <a:srgbClr val="FFFFFF"/>
                    </a:solidFill>
                  </a:tcPr>
                </a:tc>
              </a:tr>
              <a:tr h="457200">
                <a:tc>
                  <a:txBody>
                    <a:bodyPr wrap="square"/>
                    <a:lstStyle/>
                    <a:p>
                      <a:r>
                        <a:rPr sz="950" b="0">
                          <a:solidFill>
                            <a:srgbClr val="26301F"/>
                          </a:solidFill>
                          <a:latin typeface="Segoe UI"/>
                        </a:rPr>
                        <a:t>Company registration</a:t>
                      </a:r>
                    </a:p>
                  </a:txBody>
                  <a:tcPr marL="45720" marR="109728" marT="27432" marB="27432" anchor="ctr">
                    <a:lnB w="9525" cap="flat" cmpd="sng" algn="ctr">
                      <a:solidFill>
                        <a:srgbClr val="DCE3D6"/>
                      </a:solidFill>
                    </a:lnB>
                    <a:solidFill>
                      <a:srgbClr val="FFFFFF"/>
                    </a:solidFill>
                  </a:tcPr>
                </a:tc>
                <a:tc>
                  <a:txBody>
                    <a:bodyPr wrap="square"/>
                    <a:lstStyle/>
                    <a:p>
                      <a:r>
                        <a:rPr sz="950" b="0">
                          <a:solidFill>
                            <a:srgbClr val="26301F"/>
                          </a:solidFill>
                          <a:latin typeface="Segoe UI"/>
                        </a:rPr>
                        <a:t>Registration</a:t>
                      </a:r>
                    </a:p>
                  </a:txBody>
                  <a:tcPr marL="45720" marR="109728" marT="27432" marB="27432" anchor="ctr">
                    <a:lnB w="9525" cap="flat" cmpd="sng" algn="ctr">
                      <a:solidFill>
                        <a:srgbClr val="DCE3D6"/>
                      </a:solidFill>
                    </a:lnB>
                    <a:solidFill>
                      <a:srgbClr val="FFFFFF"/>
                    </a:solidFill>
                  </a:tcPr>
                </a:tc>
              </a:tr>
              <a:tr h="457200">
                <a:tc>
                  <a:txBody>
                    <a:bodyPr wrap="square"/>
                    <a:lstStyle/>
                    <a:p>
                      <a:r>
                        <a:rPr sz="950" b="0">
                          <a:solidFill>
                            <a:srgbClr val="26301F"/>
                          </a:solidFill>
                          <a:latin typeface="Segoe UI"/>
                        </a:rPr>
                        <a:t>Merchant services agreement with an aggregator</a:t>
                      </a:r>
                    </a:p>
                  </a:txBody>
                  <a:tcPr marL="45720" marR="109728" marT="27432" marB="27432" anchor="ctr">
                    <a:lnB w="9525" cap="flat" cmpd="sng" algn="ctr">
                      <a:solidFill>
                        <a:srgbClr val="DCE3D6"/>
                      </a:solidFill>
                    </a:lnB>
                    <a:solidFill>
                      <a:srgbClr val="FFFFFF"/>
                    </a:solidFill>
                  </a:tcPr>
                </a:tc>
                <a:tc>
                  <a:txBody>
                    <a:bodyPr wrap="square"/>
                    <a:lstStyle/>
                    <a:p>
                      <a:r>
                        <a:rPr sz="950" b="0">
                          <a:solidFill>
                            <a:srgbClr val="26301F"/>
                          </a:solidFill>
                          <a:latin typeface="Segoe UI"/>
                        </a:rPr>
                        <a:t>Commercial contract</a:t>
                      </a:r>
                    </a:p>
                  </a:txBody>
                  <a:tcPr marL="45720" marR="109728" marT="27432" marB="27432" anchor="ctr">
                    <a:lnB w="9525" cap="flat" cmpd="sng" algn="ctr">
                      <a:solidFill>
                        <a:srgbClr val="DCE3D6"/>
                      </a:solidFill>
                    </a:lnB>
                    <a:solidFill>
                      <a:srgbClr val="FFFFFF"/>
                    </a:solidFill>
                  </a:tcPr>
                </a:tc>
              </a:tr>
              <a:tr h="457200">
                <a:tc>
                  <a:txBody>
                    <a:bodyPr wrap="square"/>
                    <a:lstStyle/>
                    <a:p>
                      <a:r>
                        <a:rPr sz="950" b="0">
                          <a:solidFill>
                            <a:srgbClr val="26301F"/>
                          </a:solidFill>
                          <a:latin typeface="Segoe UI"/>
                        </a:rPr>
                        <a:t>Credit bureau contributor agreement</a:t>
                      </a:r>
                    </a:p>
                  </a:txBody>
                  <a:tcPr marL="45720" marR="109728" marT="27432" marB="27432" anchor="ctr">
                    <a:lnB w="9525" cap="flat" cmpd="sng" algn="ctr">
                      <a:solidFill>
                        <a:srgbClr val="DCE3D6"/>
                      </a:solidFill>
                    </a:lnB>
                    <a:solidFill>
                      <a:srgbClr val="FFFFFF"/>
                    </a:solidFill>
                  </a:tcPr>
                </a:tc>
                <a:tc>
                  <a:txBody>
                    <a:bodyPr wrap="square"/>
                    <a:lstStyle/>
                    <a:p>
                      <a:r>
                        <a:rPr sz="950" b="0">
                          <a:solidFill>
                            <a:srgbClr val="26301F"/>
                          </a:solidFill>
                          <a:latin typeface="Segoe UI"/>
                        </a:rPr>
                        <a:t>Commercial contract</a:t>
                      </a:r>
                    </a:p>
                  </a:txBody>
                  <a:tcPr marL="45720" marR="109728" marT="27432" marB="27432" anchor="ctr">
                    <a:lnB w="9525" cap="flat" cmpd="sng" algn="ctr">
                      <a:solidFill>
                        <a:srgbClr val="DCE3D6"/>
                      </a:solidFill>
                    </a:lnB>
                    <a:solidFill>
                      <a:srgbClr val="FFFFFF"/>
                    </a:solidFill>
                  </a:tcPr>
                </a:tc>
              </a:tr>
              <a:tr h="457200">
                <a:tc>
                  <a:txBody>
                    <a:bodyPr wrap="square"/>
                    <a:lstStyle/>
                    <a:p>
                      <a:r>
                        <a:rPr sz="950" b="0">
                          <a:solidFill>
                            <a:srgbClr val="26301F"/>
                          </a:solidFill>
                          <a:latin typeface="Segoe UI"/>
                        </a:rPr>
                        <a:t>NADRA institutional access</a:t>
                      </a:r>
                    </a:p>
                  </a:txBody>
                  <a:tcPr marL="45720" marR="109728" marT="27432" marB="27432" anchor="ctr">
                    <a:lnB w="9525" cap="flat" cmpd="sng" algn="ctr">
                      <a:solidFill>
                        <a:srgbClr val="DCE3D6"/>
                      </a:solidFill>
                    </a:lnB>
                    <a:solidFill>
                      <a:srgbClr val="FFFFFF"/>
                    </a:solidFill>
                  </a:tcPr>
                </a:tc>
                <a:tc>
                  <a:txBody>
                    <a:bodyPr wrap="square"/>
                    <a:lstStyle/>
                    <a:p>
                      <a:r>
                        <a:rPr sz="950" b="0">
                          <a:solidFill>
                            <a:srgbClr val="26301F"/>
                          </a:solidFill>
                          <a:latin typeface="Segoe UI"/>
                        </a:rPr>
                        <a:t>Institutional agreement</a:t>
                      </a:r>
                    </a:p>
                  </a:txBody>
                  <a:tcPr marL="45720" marR="109728" marT="27432" marB="27432" anchor="ctr">
                    <a:lnB w="9525" cap="flat" cmpd="sng" algn="ctr">
                      <a:solidFill>
                        <a:srgbClr val="DCE3D6"/>
                      </a:solidFill>
                    </a:lnB>
                    <a:solidFill>
                      <a:srgbClr val="FFFFFF"/>
                    </a:solidFill>
                  </a:tcPr>
                </a:tc>
              </a:tr>
              <a:tr h="457200">
                <a:tc>
                  <a:txBody>
                    <a:bodyPr wrap="square"/>
                    <a:lstStyle/>
                    <a:p>
                      <a:r>
                        <a:rPr sz="950" b="0">
                          <a:solidFill>
                            <a:srgbClr val="26301F"/>
                          </a:solidFill>
                          <a:latin typeface="Segoe UI"/>
                        </a:rPr>
                        <a:t>Mutual fund distributor registration</a:t>
                      </a:r>
                    </a:p>
                  </a:txBody>
                  <a:tcPr marL="45720" marR="109728" marT="27432" marB="27432" anchor="ctr">
                    <a:lnB w="9525" cap="flat" cmpd="sng" algn="ctr">
                      <a:solidFill>
                        <a:srgbClr val="DCE3D6"/>
                      </a:solidFill>
                    </a:lnB>
                    <a:solidFill>
                      <a:srgbClr val="FFFFFF"/>
                    </a:solidFill>
                  </a:tcPr>
                </a:tc>
                <a:tc>
                  <a:txBody>
                    <a:bodyPr wrap="square"/>
                    <a:lstStyle/>
                    <a:p>
                      <a:r>
                        <a:rPr sz="950" b="0">
                          <a:solidFill>
                            <a:srgbClr val="26301F"/>
                          </a:solidFill>
                          <a:latin typeface="Segoe UI"/>
                        </a:rPr>
                        <a:t>Registration, second stage only</a:t>
                      </a:r>
                    </a:p>
                  </a:txBody>
                  <a:tcPr marL="45720" marR="109728" marT="27432" marB="27432" anchor="ctr">
                    <a:lnB w="9525" cap="flat" cmpd="sng" algn="ctr">
                      <a:solidFill>
                        <a:srgbClr val="DCE3D6"/>
                      </a:solidFill>
                    </a:lnB>
                    <a:solidFill>
                      <a:srgbClr val="FFFFFF"/>
                    </a:solidFill>
                  </a:tcPr>
                </a:tc>
              </a:tr>
              <a:tr h="457200">
                <a:tc>
                  <a:txBody>
                    <a:bodyPr wrap="square"/>
                    <a:lstStyle/>
                    <a:p>
                      <a:r>
                        <a:rPr sz="950" b="0">
                          <a:solidFill>
                            <a:srgbClr val="26301F"/>
                          </a:solidFill>
                          <a:latin typeface="Segoe UI"/>
                        </a:rPr>
                        <a:t>Trustee and asset manager agreements</a:t>
                      </a:r>
                    </a:p>
                  </a:txBody>
                  <a:tcPr marL="45720" marR="109728" marT="27432" marB="27432" anchor="ctr">
                    <a:lnB w="9525" cap="flat" cmpd="sng" algn="ctr">
                      <a:solidFill>
                        <a:srgbClr val="DCE3D6"/>
                      </a:solidFill>
                    </a:lnB>
                    <a:solidFill>
                      <a:srgbClr val="FFFFFF"/>
                    </a:solidFill>
                  </a:tcPr>
                </a:tc>
                <a:tc>
                  <a:txBody>
                    <a:bodyPr wrap="square"/>
                    <a:lstStyle/>
                    <a:p>
                      <a:r>
                        <a:rPr sz="950" b="0">
                          <a:solidFill>
                            <a:srgbClr val="26301F"/>
                          </a:solidFill>
                          <a:latin typeface="Segoe UI"/>
                        </a:rPr>
                        <a:t>Commercial contracts, second stage only</a:t>
                      </a:r>
                    </a:p>
                  </a:txBody>
                  <a:tcPr marL="45720" marR="109728" marT="27432" marB="27432" anchor="ctr">
                    <a:lnB w="9525" cap="flat" cmpd="sng" algn="ctr">
                      <a:solidFill>
                        <a:srgbClr val="DCE3D6"/>
                      </a:solidFill>
                    </a:lnB>
                    <a:solidFill>
                      <a:srgbClr val="FFFFFF"/>
                    </a:solidFill>
                  </a:tcPr>
                </a:tc>
              </a:tr>
            </a:tbl>
          </a:graphicData>
        </a:graphic>
      </p:graphicFrame>
      <p:sp>
        <p:nvSpPr>
          <p:cNvPr id="9" name="TextBox 8"/>
          <p:cNvSpPr txBox="1"/>
          <p:nvPr/>
        </p:nvSpPr>
        <p:spPr>
          <a:xfrm>
            <a:off x="777240" y="5532120"/>
            <a:ext cx="10607040" cy="731520"/>
          </a:xfrm>
          <a:prstGeom prst="rect">
            <a:avLst/>
          </a:prstGeom>
          <a:noFill/>
        </p:spPr>
        <p:txBody>
          <a:bodyPr wrap="square" lIns="0" rIns="0" tIns="0" bIns="0">
            <a:spAutoFit/>
          </a:bodyPr>
          <a:lstStyle/>
          <a:p>
            <a:pPr algn="l">
              <a:lnSpc>
                <a:spcPct val="145000"/>
              </a:lnSpc>
            </a:pPr>
            <a:r>
              <a:rPr sz="1250" b="0" i="0">
                <a:solidFill>
                  <a:srgbClr val="0C1408"/>
                </a:solidFill>
                <a:latin typeface="Segoe UI"/>
              </a:rPr>
              <a:t>Nothing on the left is avoided by argument. Each one is avoided because the activity it authorises is genuinely not being performed, and that can be demonstrated from the ledger rather than asserted in a letter.</a:t>
            </a:r>
          </a:p>
        </p:txBody>
      </p:sp>
    </p:spTree>
  </p:cSld>
  <p:clrMapOvr>
    <a:masterClrMapping/>
  </p:clrMapOvr>
</p:sld>
</file>

<file path=ppt/slides/slide1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777240" y="566928"/>
            <a:ext cx="10637215" cy="219456"/>
          </a:xfrm>
          <a:prstGeom prst="rect">
            <a:avLst/>
          </a:prstGeom>
          <a:noFill/>
        </p:spPr>
        <p:txBody>
          <a:bodyPr wrap="square" lIns="0" rIns="0" tIns="0" bIns="0">
            <a:spAutoFit/>
          </a:bodyPr>
          <a:lstStyle/>
          <a:p>
            <a:pPr algn="l">
              <a:lnSpc>
                <a:spcPct val="125000"/>
              </a:lnSpc>
            </a:pPr>
            <a:r>
              <a:rPr sz="950" b="1" i="0">
                <a:solidFill>
                  <a:srgbClr val="41801A"/>
                </a:solidFill>
                <a:latin typeface="Segoe UI"/>
              </a:rPr>
              <a:t>2  GETTING IN</a:t>
            </a:r>
          </a:p>
        </p:txBody>
      </p:sp>
      <p:sp>
        <p:nvSpPr>
          <p:cNvPr id="3" name="TextBox 2"/>
          <p:cNvSpPr txBox="1"/>
          <p:nvPr/>
        </p:nvSpPr>
        <p:spPr>
          <a:xfrm>
            <a:off x="777240" y="841248"/>
            <a:ext cx="10637215" cy="502920"/>
          </a:xfrm>
          <a:prstGeom prst="rect">
            <a:avLst/>
          </a:prstGeom>
          <a:noFill/>
        </p:spPr>
        <p:txBody>
          <a:bodyPr wrap="square" lIns="0" rIns="0" tIns="0" bIns="0">
            <a:spAutoFit/>
          </a:bodyPr>
          <a:lstStyle/>
          <a:p>
            <a:pPr algn="l">
              <a:lnSpc>
                <a:spcPct val="125000"/>
              </a:lnSpc>
            </a:pPr>
            <a:r>
              <a:rPr sz="2700" b="1" i="0">
                <a:solidFill>
                  <a:srgbClr val="0C1408"/>
                </a:solidFill>
                <a:latin typeface="Segoe UI"/>
              </a:rPr>
              <a:t>Registration, and what we require</a:t>
            </a:r>
          </a:p>
        </p:txBody>
      </p:sp>
      <p:sp>
        <p:nvSpPr>
          <p:cNvPr id="4" name="Rectangle 3"/>
          <p:cNvSpPr/>
          <p:nvPr/>
        </p:nvSpPr>
        <p:spPr>
          <a:xfrm>
            <a:off x="777240" y="1417320"/>
            <a:ext cx="1371600" cy="22860"/>
          </a:xfrm>
          <a:prstGeom prst="rect">
            <a:avLst/>
          </a:prstGeom>
          <a:solidFill>
            <a:srgbClr val="6DC72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777240" y="6382512"/>
            <a:ext cx="3657600" cy="228600"/>
          </a:xfrm>
          <a:prstGeom prst="rect">
            <a:avLst/>
          </a:prstGeom>
          <a:noFill/>
        </p:spPr>
        <p:txBody>
          <a:bodyPr wrap="square" lIns="0" rIns="0" tIns="0" bIns="0">
            <a:spAutoFit/>
          </a:bodyPr>
          <a:lstStyle/>
          <a:p>
            <a:pPr algn="l">
              <a:lnSpc>
                <a:spcPct val="125000"/>
              </a:lnSpc>
            </a:pPr>
            <a:r>
              <a:rPr sz="900" b="0" i="0">
                <a:solidFill>
                  <a:srgbClr val="9AA694"/>
                </a:solidFill>
                <a:latin typeface="Segoe UI"/>
              </a:rPr>
              <a:t>Halqa  ·  Confidential</a:t>
            </a:r>
          </a:p>
        </p:txBody>
      </p:sp>
      <p:sp>
        <p:nvSpPr>
          <p:cNvPr id="6" name="TextBox 5"/>
          <p:cNvSpPr txBox="1"/>
          <p:nvPr/>
        </p:nvSpPr>
        <p:spPr>
          <a:xfrm>
            <a:off x="10728655" y="6382512"/>
            <a:ext cx="685800" cy="228600"/>
          </a:xfrm>
          <a:prstGeom prst="rect">
            <a:avLst/>
          </a:prstGeom>
          <a:noFill/>
        </p:spPr>
        <p:txBody>
          <a:bodyPr wrap="square" lIns="0" rIns="0" tIns="0" bIns="0">
            <a:spAutoFit/>
          </a:bodyPr>
          <a:lstStyle/>
          <a:p>
            <a:pPr algn="r">
              <a:lnSpc>
                <a:spcPct val="125000"/>
              </a:lnSpc>
            </a:pPr>
            <a:r>
              <a:rPr sz="900" b="0" i="0">
                <a:solidFill>
                  <a:srgbClr val="6F7B68"/>
                </a:solidFill>
                <a:latin typeface="Segoe UI"/>
              </a:rPr>
              <a:t>17</a:t>
            </a:r>
          </a:p>
        </p:txBody>
      </p:sp>
      <p:graphicFrame>
        <p:nvGraphicFramePr>
          <p:cNvPr id="7" name="Table 6"/>
          <p:cNvGraphicFramePr>
            <a:graphicFrameLocks noGrp="1"/>
          </p:cNvGraphicFramePr>
          <p:nvPr/>
        </p:nvGraphicFramePr>
        <p:xfrm>
          <a:off x="777240" y="1965960"/>
          <a:ext cx="10607040" cy="3555035"/>
        </p:xfrm>
        <a:graphic>
          <a:graphicData uri="http://schemas.openxmlformats.org/drawingml/2006/table">
            <a:tbl>
              <a:tblPr>
                <a:tableStyleId>{5C22544A-7EE6-4342-B048-85BDC9FD1C3A}</a:tableStyleId>
              </a:tblPr>
              <a:tblGrid>
                <a:gridCol w="365760"/>
                <a:gridCol w="1737360"/>
                <a:gridCol w="3566160"/>
                <a:gridCol w="4937760"/>
              </a:tblGrid>
              <a:tr h="323185">
                <a:tc>
                  <a:txBody>
                    <a:bodyPr wrap="square"/>
                    <a:lstStyle/>
                    <a:p>
                      <a:r>
                        <a:rPr sz="750" b="1">
                          <a:solidFill>
                            <a:srgbClr val="41801A"/>
                          </a:solidFill>
                          <a:latin typeface="Segoe UI"/>
                        </a:rPr>
                        <a:t/>
                      </a:r>
                    </a:p>
                  </a:txBody>
                  <a:tcPr marL="45720" marR="109728" marT="27432" marB="27432" anchor="ctr">
                    <a:lnB w="9525" cap="flat" cmpd="sng" algn="ctr">
                      <a:solidFill>
                        <a:srgbClr val="41801A"/>
                      </a:solidFill>
                    </a:lnB>
                    <a:solidFill>
                      <a:srgbClr val="FFFFFF"/>
                    </a:solidFill>
                  </a:tcPr>
                </a:tc>
                <a:tc>
                  <a:txBody>
                    <a:bodyPr wrap="square"/>
                    <a:lstStyle/>
                    <a:p>
                      <a:r>
                        <a:rPr sz="750" b="1">
                          <a:solidFill>
                            <a:srgbClr val="41801A"/>
                          </a:solidFill>
                          <a:latin typeface="Segoe UI"/>
                        </a:rPr>
                        <a:t>STEP</a:t>
                      </a:r>
                    </a:p>
                  </a:txBody>
                  <a:tcPr marL="45720" marR="109728" marT="27432" marB="27432" anchor="ctr">
                    <a:lnB w="9525" cap="flat" cmpd="sng" algn="ctr">
                      <a:solidFill>
                        <a:srgbClr val="41801A"/>
                      </a:solidFill>
                    </a:lnB>
                    <a:solidFill>
                      <a:srgbClr val="FFFFFF"/>
                    </a:solidFill>
                  </a:tcPr>
                </a:tc>
                <a:tc>
                  <a:txBody>
                    <a:bodyPr wrap="square"/>
                    <a:lstStyle/>
                    <a:p>
                      <a:r>
                        <a:rPr sz="750" b="1">
                          <a:solidFill>
                            <a:srgbClr val="41801A"/>
                          </a:solidFill>
                          <a:latin typeface="Segoe UI"/>
                        </a:rPr>
                        <a:t>WHAT THE MEMBER GIVES</a:t>
                      </a:r>
                    </a:p>
                  </a:txBody>
                  <a:tcPr marL="45720" marR="109728" marT="27432" marB="27432" anchor="ctr">
                    <a:lnB w="9525" cap="flat" cmpd="sng" algn="ctr">
                      <a:solidFill>
                        <a:srgbClr val="41801A"/>
                      </a:solidFill>
                    </a:lnB>
                    <a:solidFill>
                      <a:srgbClr val="FFFFFF"/>
                    </a:solidFill>
                  </a:tcPr>
                </a:tc>
                <a:tc>
                  <a:txBody>
                    <a:bodyPr wrap="square"/>
                    <a:lstStyle/>
                    <a:p>
                      <a:r>
                        <a:rPr sz="750" b="1">
                          <a:solidFill>
                            <a:srgbClr val="41801A"/>
                          </a:solidFill>
                          <a:latin typeface="Segoe UI"/>
                        </a:rPr>
                        <a:t>WHY WE REQUIRE IT</a:t>
                      </a:r>
                    </a:p>
                  </a:txBody>
                  <a:tcPr marL="45720" marR="109728" marT="27432" marB="27432" anchor="ctr">
                    <a:lnB w="9525" cap="flat" cmpd="sng" algn="ctr">
                      <a:solidFill>
                        <a:srgbClr val="41801A"/>
                      </a:solidFill>
                    </a:lnB>
                    <a:solidFill>
                      <a:srgbClr val="FFFFFF"/>
                    </a:solidFill>
                  </a:tcPr>
                </a:tc>
              </a:tr>
              <a:tr h="323185">
                <a:tc>
                  <a:txBody>
                    <a:bodyPr wrap="square"/>
                    <a:lstStyle/>
                    <a:p>
                      <a:r>
                        <a:rPr sz="750" b="0">
                          <a:solidFill>
                            <a:srgbClr val="26301F"/>
                          </a:solidFill>
                          <a:latin typeface="Segoe UI"/>
                        </a:rPr>
                        <a:t>1</a:t>
                      </a:r>
                    </a:p>
                  </a:txBody>
                  <a:tcPr marL="45720" marR="109728" marT="27432" marB="27432" anchor="ctr">
                    <a:lnB w="9525" cap="flat" cmpd="sng" algn="ctr">
                      <a:solidFill>
                        <a:srgbClr val="DCE3D6"/>
                      </a:solidFill>
                    </a:lnB>
                    <a:solidFill>
                      <a:srgbClr val="FFFFFF"/>
                    </a:solidFill>
                  </a:tcPr>
                </a:tc>
                <a:tc>
                  <a:txBody>
                    <a:bodyPr wrap="square"/>
                    <a:lstStyle/>
                    <a:p>
                      <a:r>
                        <a:rPr sz="750" b="0">
                          <a:solidFill>
                            <a:srgbClr val="26301F"/>
                          </a:solidFill>
                          <a:latin typeface="Segoe UI"/>
                        </a:rPr>
                        <a:t>Mobile number</a:t>
                      </a:r>
                    </a:p>
                  </a:txBody>
                  <a:tcPr marL="45720" marR="109728" marT="27432" marB="27432" anchor="ctr">
                    <a:lnB w="9525" cap="flat" cmpd="sng" algn="ctr">
                      <a:solidFill>
                        <a:srgbClr val="DCE3D6"/>
                      </a:solidFill>
                    </a:lnB>
                    <a:solidFill>
                      <a:srgbClr val="FFFFFF"/>
                    </a:solidFill>
                  </a:tcPr>
                </a:tc>
                <a:tc>
                  <a:txBody>
                    <a:bodyPr wrap="square"/>
                    <a:lstStyle/>
                    <a:p>
                      <a:r>
                        <a:rPr sz="750" b="0">
                          <a:solidFill>
                            <a:srgbClr val="26301F"/>
                          </a:solidFill>
                          <a:latin typeface="Segoe UI"/>
                        </a:rPr>
                        <a:t>The number, then a six digit code sent to it</a:t>
                      </a:r>
                    </a:p>
                  </a:txBody>
                  <a:tcPr marL="45720" marR="109728" marT="27432" marB="27432" anchor="ctr">
                    <a:lnB w="9525" cap="flat" cmpd="sng" algn="ctr">
                      <a:solidFill>
                        <a:srgbClr val="DCE3D6"/>
                      </a:solidFill>
                    </a:lnB>
                    <a:solidFill>
                      <a:srgbClr val="FFFFFF"/>
                    </a:solidFill>
                  </a:tcPr>
                </a:tc>
                <a:tc>
                  <a:txBody>
                    <a:bodyPr wrap="square"/>
                    <a:lstStyle/>
                    <a:p>
                      <a:r>
                        <a:rPr sz="750" b="0">
                          <a:solidFill>
                            <a:srgbClr val="26301F"/>
                          </a:solidFill>
                          <a:latin typeface="Segoe UI"/>
                        </a:rPr>
                        <a:t>The number is the identity on the platform and the channel for every reminder and receipt</a:t>
                      </a:r>
                    </a:p>
                  </a:txBody>
                  <a:tcPr marL="45720" marR="109728" marT="27432" marB="27432" anchor="ctr">
                    <a:lnB w="9525" cap="flat" cmpd="sng" algn="ctr">
                      <a:solidFill>
                        <a:srgbClr val="DCE3D6"/>
                      </a:solidFill>
                    </a:lnB>
                    <a:solidFill>
                      <a:srgbClr val="FFFFFF"/>
                    </a:solidFill>
                  </a:tcPr>
                </a:tc>
              </a:tr>
              <a:tr h="323185">
                <a:tc>
                  <a:txBody>
                    <a:bodyPr wrap="square"/>
                    <a:lstStyle/>
                    <a:p>
                      <a:r>
                        <a:rPr sz="750" b="0">
                          <a:solidFill>
                            <a:srgbClr val="26301F"/>
                          </a:solidFill>
                          <a:latin typeface="Segoe UI"/>
                        </a:rPr>
                        <a:t>2</a:t>
                      </a:r>
                    </a:p>
                  </a:txBody>
                  <a:tcPr marL="45720" marR="109728" marT="27432" marB="27432" anchor="ctr">
                    <a:lnB w="9525" cap="flat" cmpd="sng" algn="ctr">
                      <a:solidFill>
                        <a:srgbClr val="DCE3D6"/>
                      </a:solidFill>
                    </a:lnB>
                    <a:solidFill>
                      <a:srgbClr val="FFFFFF"/>
                    </a:solidFill>
                  </a:tcPr>
                </a:tc>
                <a:tc>
                  <a:txBody>
                    <a:bodyPr wrap="square"/>
                    <a:lstStyle/>
                    <a:p>
                      <a:r>
                        <a:rPr sz="750" b="0">
                          <a:solidFill>
                            <a:srgbClr val="26301F"/>
                          </a:solidFill>
                          <a:latin typeface="Segoe UI"/>
                        </a:rPr>
                        <a:t>Name</a:t>
                      </a:r>
                    </a:p>
                  </a:txBody>
                  <a:tcPr marL="45720" marR="109728" marT="27432" marB="27432" anchor="ctr">
                    <a:lnB w="9525" cap="flat" cmpd="sng" algn="ctr">
                      <a:solidFill>
                        <a:srgbClr val="DCE3D6"/>
                      </a:solidFill>
                    </a:lnB>
                    <a:solidFill>
                      <a:srgbClr val="FFFFFF"/>
                    </a:solidFill>
                  </a:tcPr>
                </a:tc>
                <a:tc>
                  <a:txBody>
                    <a:bodyPr wrap="square"/>
                    <a:lstStyle/>
                    <a:p>
                      <a:r>
                        <a:rPr sz="750" b="0">
                          <a:solidFill>
                            <a:srgbClr val="26301F"/>
                          </a:solidFill>
                          <a:latin typeface="Segoe UI"/>
                        </a:rPr>
                        <a:t>Full name exactly as printed on the identity card</a:t>
                      </a:r>
                    </a:p>
                  </a:txBody>
                  <a:tcPr marL="45720" marR="109728" marT="27432" marB="27432" anchor="ctr">
                    <a:lnB w="9525" cap="flat" cmpd="sng" algn="ctr">
                      <a:solidFill>
                        <a:srgbClr val="DCE3D6"/>
                      </a:solidFill>
                    </a:lnB>
                    <a:solidFill>
                      <a:srgbClr val="FFFFFF"/>
                    </a:solidFill>
                  </a:tcPr>
                </a:tc>
                <a:tc>
                  <a:txBody>
                    <a:bodyPr wrap="square"/>
                    <a:lstStyle/>
                    <a:p>
                      <a:r>
                        <a:rPr sz="750" b="0">
                          <a:solidFill>
                            <a:srgbClr val="26301F"/>
                          </a:solidFill>
                          <a:latin typeface="Segoe UI"/>
                        </a:rPr>
                        <a:t>Circles run on real names. It is how members judge who they are trusting, and it must match the bank account later</a:t>
                      </a:r>
                    </a:p>
                  </a:txBody>
                  <a:tcPr marL="45720" marR="109728" marT="27432" marB="27432" anchor="ctr">
                    <a:lnB w="9525" cap="flat" cmpd="sng" algn="ctr">
                      <a:solidFill>
                        <a:srgbClr val="DCE3D6"/>
                      </a:solidFill>
                    </a:lnB>
                    <a:solidFill>
                      <a:srgbClr val="FFFFFF"/>
                    </a:solidFill>
                  </a:tcPr>
                </a:tc>
              </a:tr>
              <a:tr h="323185">
                <a:tc>
                  <a:txBody>
                    <a:bodyPr wrap="square"/>
                    <a:lstStyle/>
                    <a:p>
                      <a:r>
                        <a:rPr sz="750" b="0">
                          <a:solidFill>
                            <a:srgbClr val="26301F"/>
                          </a:solidFill>
                          <a:latin typeface="Segoe UI"/>
                        </a:rPr>
                        <a:t>3</a:t>
                      </a:r>
                    </a:p>
                  </a:txBody>
                  <a:tcPr marL="45720" marR="109728" marT="27432" marB="27432" anchor="ctr">
                    <a:lnB w="9525" cap="flat" cmpd="sng" algn="ctr">
                      <a:solidFill>
                        <a:srgbClr val="DCE3D6"/>
                      </a:solidFill>
                    </a:lnB>
                    <a:solidFill>
                      <a:srgbClr val="FFFFFF"/>
                    </a:solidFill>
                  </a:tcPr>
                </a:tc>
                <a:tc>
                  <a:txBody>
                    <a:bodyPr wrap="square"/>
                    <a:lstStyle/>
                    <a:p>
                      <a:r>
                        <a:rPr sz="750" b="0">
                          <a:solidFill>
                            <a:srgbClr val="26301F"/>
                          </a:solidFill>
                          <a:latin typeface="Segoe UI"/>
                        </a:rPr>
                        <a:t>Identity card</a:t>
                      </a:r>
                    </a:p>
                  </a:txBody>
                  <a:tcPr marL="45720" marR="109728" marT="27432" marB="27432" anchor="ctr">
                    <a:lnB w="9525" cap="flat" cmpd="sng" algn="ctr">
                      <a:solidFill>
                        <a:srgbClr val="DCE3D6"/>
                      </a:solidFill>
                    </a:lnB>
                    <a:solidFill>
                      <a:srgbClr val="FFFFFF"/>
                    </a:solidFill>
                  </a:tcPr>
                </a:tc>
                <a:tc>
                  <a:txBody>
                    <a:bodyPr wrap="square"/>
                    <a:lstStyle/>
                    <a:p>
                      <a:r>
                        <a:rPr sz="750" b="0">
                          <a:solidFill>
                            <a:srgbClr val="26301F"/>
                          </a:solidFill>
                          <a:latin typeface="Segoe UI"/>
                        </a:rPr>
                        <a:t>The thirteen digit number, plus a photograph of the card taken in the app</a:t>
                      </a:r>
                    </a:p>
                  </a:txBody>
                  <a:tcPr marL="45720" marR="109728" marT="27432" marB="27432" anchor="ctr">
                    <a:lnB w="9525" cap="flat" cmpd="sng" algn="ctr">
                      <a:solidFill>
                        <a:srgbClr val="DCE3D6"/>
                      </a:solidFill>
                    </a:lnB>
                    <a:solidFill>
                      <a:srgbClr val="FFFFFF"/>
                    </a:solidFill>
                  </a:tcPr>
                </a:tc>
                <a:tc>
                  <a:txBody>
                    <a:bodyPr wrap="square"/>
                    <a:lstStyle/>
                    <a:p>
                      <a:r>
                        <a:rPr sz="750" b="0">
                          <a:solidFill>
                            <a:srgbClr val="26301F"/>
                          </a:solidFill>
                          <a:latin typeface="Segoe UI"/>
                        </a:rPr>
                        <a:t>Binds every obligation to a government identity. A photograph taken live cannot be a file forwarded by somebody else</a:t>
                      </a:r>
                    </a:p>
                  </a:txBody>
                  <a:tcPr marL="45720" marR="109728" marT="27432" marB="27432" anchor="ctr">
                    <a:lnB w="9525" cap="flat" cmpd="sng" algn="ctr">
                      <a:solidFill>
                        <a:srgbClr val="DCE3D6"/>
                      </a:solidFill>
                    </a:lnB>
                    <a:solidFill>
                      <a:srgbClr val="FFFFFF"/>
                    </a:solidFill>
                  </a:tcPr>
                </a:tc>
              </a:tr>
              <a:tr h="323185">
                <a:tc>
                  <a:txBody>
                    <a:bodyPr wrap="square"/>
                    <a:lstStyle/>
                    <a:p>
                      <a:r>
                        <a:rPr sz="750" b="0">
                          <a:solidFill>
                            <a:srgbClr val="26301F"/>
                          </a:solidFill>
                          <a:latin typeface="Segoe UI"/>
                        </a:rPr>
                        <a:t>4</a:t>
                      </a:r>
                    </a:p>
                  </a:txBody>
                  <a:tcPr marL="45720" marR="109728" marT="27432" marB="27432" anchor="ctr">
                    <a:lnB w="9525" cap="flat" cmpd="sng" algn="ctr">
                      <a:solidFill>
                        <a:srgbClr val="DCE3D6"/>
                      </a:solidFill>
                    </a:lnB>
                    <a:solidFill>
                      <a:srgbClr val="FFFFFF"/>
                    </a:solidFill>
                  </a:tcPr>
                </a:tc>
                <a:tc>
                  <a:txBody>
                    <a:bodyPr wrap="square"/>
                    <a:lstStyle/>
                    <a:p>
                      <a:r>
                        <a:rPr sz="750" b="0">
                          <a:solidFill>
                            <a:srgbClr val="26301F"/>
                          </a:solidFill>
                          <a:latin typeface="Segoe UI"/>
                        </a:rPr>
                        <a:t>Home location</a:t>
                      </a:r>
                    </a:p>
                  </a:txBody>
                  <a:tcPr marL="45720" marR="109728" marT="27432" marB="27432" anchor="ctr">
                    <a:lnB w="9525" cap="flat" cmpd="sng" algn="ctr">
                      <a:solidFill>
                        <a:srgbClr val="DCE3D6"/>
                      </a:solidFill>
                    </a:lnB>
                    <a:solidFill>
                      <a:srgbClr val="FFFFFF"/>
                    </a:solidFill>
                  </a:tcPr>
                </a:tc>
                <a:tc>
                  <a:txBody>
                    <a:bodyPr wrap="square"/>
                    <a:lstStyle/>
                    <a:p>
                      <a:r>
                        <a:rPr sz="750" b="0">
                          <a:solidFill>
                            <a:srgbClr val="26301F"/>
                          </a:solidFill>
                          <a:latin typeface="Segoe UI"/>
                        </a:rPr>
                        <a:t>Address, city, area, and a live location pin captured on the device</a:t>
                      </a:r>
                    </a:p>
                  </a:txBody>
                  <a:tcPr marL="45720" marR="109728" marT="27432" marB="27432" anchor="ctr">
                    <a:lnB w="9525" cap="flat" cmpd="sng" algn="ctr">
                      <a:solidFill>
                        <a:srgbClr val="DCE3D6"/>
                      </a:solidFill>
                    </a:lnB>
                    <a:solidFill>
                      <a:srgbClr val="FFFFFF"/>
                    </a:solidFill>
                  </a:tcPr>
                </a:tc>
                <a:tc>
                  <a:txBody>
                    <a:bodyPr wrap="square"/>
                    <a:lstStyle/>
                    <a:p>
                      <a:r>
                        <a:rPr sz="750" b="0">
                          <a:solidFill>
                            <a:srgbClr val="26301F"/>
                          </a:solidFill>
                          <a:latin typeface="Segoe UI"/>
                        </a:rPr>
                        <a:t>Legal notice can be served at a pinned address. Recovery elsewhere usually stalls on finding the person</a:t>
                      </a:r>
                    </a:p>
                  </a:txBody>
                  <a:tcPr marL="45720" marR="109728" marT="27432" marB="27432" anchor="ctr">
                    <a:lnB w="9525" cap="flat" cmpd="sng" algn="ctr">
                      <a:solidFill>
                        <a:srgbClr val="DCE3D6"/>
                      </a:solidFill>
                    </a:lnB>
                    <a:solidFill>
                      <a:srgbClr val="FFFFFF"/>
                    </a:solidFill>
                  </a:tcPr>
                </a:tc>
              </a:tr>
              <a:tr h="323185">
                <a:tc>
                  <a:txBody>
                    <a:bodyPr wrap="square"/>
                    <a:lstStyle/>
                    <a:p>
                      <a:r>
                        <a:rPr sz="750" b="0">
                          <a:solidFill>
                            <a:srgbClr val="26301F"/>
                          </a:solidFill>
                          <a:latin typeface="Segoe UI"/>
                        </a:rPr>
                        <a:t>5</a:t>
                      </a:r>
                    </a:p>
                  </a:txBody>
                  <a:tcPr marL="45720" marR="109728" marT="27432" marB="27432" anchor="ctr">
                    <a:lnB w="9525" cap="flat" cmpd="sng" algn="ctr">
                      <a:solidFill>
                        <a:srgbClr val="DCE3D6"/>
                      </a:solidFill>
                    </a:lnB>
                    <a:solidFill>
                      <a:srgbClr val="FFFFFF"/>
                    </a:solidFill>
                  </a:tcPr>
                </a:tc>
                <a:tc>
                  <a:txBody>
                    <a:bodyPr wrap="square"/>
                    <a:lstStyle/>
                    <a:p>
                      <a:r>
                        <a:rPr sz="750" b="0">
                          <a:solidFill>
                            <a:srgbClr val="26301F"/>
                          </a:solidFill>
                          <a:latin typeface="Segoe UI"/>
                        </a:rPr>
                        <a:t>Work</a:t>
                      </a:r>
                    </a:p>
                  </a:txBody>
                  <a:tcPr marL="45720" marR="109728" marT="27432" marB="27432" anchor="ctr">
                    <a:lnB w="9525" cap="flat" cmpd="sng" algn="ctr">
                      <a:solidFill>
                        <a:srgbClr val="DCE3D6"/>
                      </a:solidFill>
                    </a:lnB>
                    <a:solidFill>
                      <a:srgbClr val="FFFFFF"/>
                    </a:solidFill>
                  </a:tcPr>
                </a:tc>
                <a:tc>
                  <a:txBody>
                    <a:bodyPr wrap="square"/>
                    <a:lstStyle/>
                    <a:p>
                      <a:r>
                        <a:rPr sz="750" b="0">
                          <a:solidFill>
                            <a:srgbClr val="26301F"/>
                          </a:solidFill>
                          <a:latin typeface="Segoe UI"/>
                        </a:rPr>
                        <a:t>Occupation, employer, job title, and the day pay arrives</a:t>
                      </a:r>
                    </a:p>
                  </a:txBody>
                  <a:tcPr marL="45720" marR="109728" marT="27432" marB="27432" anchor="ctr">
                    <a:lnB w="9525" cap="flat" cmpd="sng" algn="ctr">
                      <a:solidFill>
                        <a:srgbClr val="DCE3D6"/>
                      </a:solidFill>
                    </a:lnB>
                    <a:solidFill>
                      <a:srgbClr val="FFFFFF"/>
                    </a:solidFill>
                  </a:tcPr>
                </a:tc>
                <a:tc>
                  <a:txBody>
                    <a:bodyPr wrap="square"/>
                    <a:lstStyle/>
                    <a:p>
                      <a:r>
                        <a:rPr sz="750" b="0">
                          <a:solidFill>
                            <a:srgbClr val="26301F"/>
                          </a:solidFill>
                          <a:latin typeface="Segoe UI"/>
                        </a:rPr>
                        <a:t>Determines which products are available and when collection is attempted</a:t>
                      </a:r>
                    </a:p>
                  </a:txBody>
                  <a:tcPr marL="45720" marR="109728" marT="27432" marB="27432" anchor="ctr">
                    <a:lnB w="9525" cap="flat" cmpd="sng" algn="ctr">
                      <a:solidFill>
                        <a:srgbClr val="DCE3D6"/>
                      </a:solidFill>
                    </a:lnB>
                    <a:solidFill>
                      <a:srgbClr val="FFFFFF"/>
                    </a:solidFill>
                  </a:tcPr>
                </a:tc>
              </a:tr>
              <a:tr h="323185">
                <a:tc>
                  <a:txBody>
                    <a:bodyPr wrap="square"/>
                    <a:lstStyle/>
                    <a:p>
                      <a:r>
                        <a:rPr sz="750" b="0">
                          <a:solidFill>
                            <a:srgbClr val="26301F"/>
                          </a:solidFill>
                          <a:latin typeface="Segoe UI"/>
                        </a:rPr>
                        <a:t>6</a:t>
                      </a:r>
                    </a:p>
                  </a:txBody>
                  <a:tcPr marL="45720" marR="109728" marT="27432" marB="27432" anchor="ctr">
                    <a:lnB w="9525" cap="flat" cmpd="sng" algn="ctr">
                      <a:solidFill>
                        <a:srgbClr val="DCE3D6"/>
                      </a:solidFill>
                    </a:lnB>
                    <a:solidFill>
                      <a:srgbClr val="FFFFFF"/>
                    </a:solidFill>
                  </a:tcPr>
                </a:tc>
                <a:tc>
                  <a:txBody>
                    <a:bodyPr wrap="square"/>
                    <a:lstStyle/>
                    <a:p>
                      <a:r>
                        <a:rPr sz="750" b="0">
                          <a:solidFill>
                            <a:srgbClr val="26301F"/>
                          </a:solidFill>
                          <a:latin typeface="Segoe UI"/>
                        </a:rPr>
                        <a:t>Electronic address</a:t>
                      </a:r>
                    </a:p>
                  </a:txBody>
                  <a:tcPr marL="45720" marR="109728" marT="27432" marB="27432" anchor="ctr">
                    <a:lnB w="9525" cap="flat" cmpd="sng" algn="ctr">
                      <a:solidFill>
                        <a:srgbClr val="DCE3D6"/>
                      </a:solidFill>
                    </a:lnB>
                    <a:solidFill>
                      <a:srgbClr val="FFFFFF"/>
                    </a:solidFill>
                  </a:tcPr>
                </a:tc>
                <a:tc>
                  <a:txBody>
                    <a:bodyPr wrap="square"/>
                    <a:lstStyle/>
                    <a:p>
                      <a:r>
                        <a:rPr sz="750" b="0">
                          <a:solidFill>
                            <a:srgbClr val="26301F"/>
                          </a:solidFill>
                          <a:latin typeface="Segoe UI"/>
                        </a:rPr>
                        <a:t>Email</a:t>
                      </a:r>
                    </a:p>
                  </a:txBody>
                  <a:tcPr marL="45720" marR="109728" marT="27432" marB="27432" anchor="ctr">
                    <a:lnB w="9525" cap="flat" cmpd="sng" algn="ctr">
                      <a:solidFill>
                        <a:srgbClr val="DCE3D6"/>
                      </a:solidFill>
                    </a:lnB>
                    <a:solidFill>
                      <a:srgbClr val="FFFFFF"/>
                    </a:solidFill>
                  </a:tcPr>
                </a:tc>
                <a:tc>
                  <a:txBody>
                    <a:bodyPr wrap="square"/>
                    <a:lstStyle/>
                    <a:p>
                      <a:r>
                        <a:rPr sz="750" b="0">
                          <a:solidFill>
                            <a:srgbClr val="26301F"/>
                          </a:solidFill>
                          <a:latin typeface="Segoe UI"/>
                        </a:rPr>
                        <a:t>Receipts, statements and account recovery</a:t>
                      </a:r>
                    </a:p>
                  </a:txBody>
                  <a:tcPr marL="45720" marR="109728" marT="27432" marB="27432" anchor="ctr">
                    <a:lnB w="9525" cap="flat" cmpd="sng" algn="ctr">
                      <a:solidFill>
                        <a:srgbClr val="DCE3D6"/>
                      </a:solidFill>
                    </a:lnB>
                    <a:solidFill>
                      <a:srgbClr val="FFFFFF"/>
                    </a:solidFill>
                  </a:tcPr>
                </a:tc>
              </a:tr>
              <a:tr h="323185">
                <a:tc>
                  <a:txBody>
                    <a:bodyPr wrap="square"/>
                    <a:lstStyle/>
                    <a:p>
                      <a:r>
                        <a:rPr sz="750" b="0">
                          <a:solidFill>
                            <a:srgbClr val="26301F"/>
                          </a:solidFill>
                          <a:latin typeface="Segoe UI"/>
                        </a:rPr>
                        <a:t>7</a:t>
                      </a:r>
                    </a:p>
                  </a:txBody>
                  <a:tcPr marL="45720" marR="109728" marT="27432" marB="27432" anchor="ctr">
                    <a:lnB w="9525" cap="flat" cmpd="sng" algn="ctr">
                      <a:solidFill>
                        <a:srgbClr val="DCE3D6"/>
                      </a:solidFill>
                    </a:lnB>
                    <a:solidFill>
                      <a:srgbClr val="FFFFFF"/>
                    </a:solidFill>
                  </a:tcPr>
                </a:tc>
                <a:tc>
                  <a:txBody>
                    <a:bodyPr wrap="square"/>
                    <a:lstStyle/>
                    <a:p>
                      <a:r>
                        <a:rPr sz="750" b="0">
                          <a:solidFill>
                            <a:srgbClr val="26301F"/>
                          </a:solidFill>
                          <a:latin typeface="Segoe UI"/>
                        </a:rPr>
                        <a:t>Collection account</a:t>
                      </a:r>
                    </a:p>
                  </a:txBody>
                  <a:tcPr marL="45720" marR="109728" marT="27432" marB="27432" anchor="ctr">
                    <a:lnB w="9525" cap="flat" cmpd="sng" algn="ctr">
                      <a:solidFill>
                        <a:srgbClr val="DCE3D6"/>
                      </a:solidFill>
                    </a:lnB>
                    <a:solidFill>
                      <a:srgbClr val="FFFFFF"/>
                    </a:solidFill>
                  </a:tcPr>
                </a:tc>
                <a:tc>
                  <a:txBody>
                    <a:bodyPr wrap="square"/>
                    <a:lstStyle/>
                    <a:p>
                      <a:r>
                        <a:rPr sz="750" b="0">
                          <a:solidFill>
                            <a:srgbClr val="26301F"/>
                          </a:solidFill>
                          <a:latin typeface="Segoe UI"/>
                        </a:rPr>
                        <a:t>Rail, account number or wallet, and the account title</a:t>
                      </a:r>
                    </a:p>
                  </a:txBody>
                  <a:tcPr marL="45720" marR="109728" marT="27432" marB="27432" anchor="ctr">
                    <a:lnB w="9525" cap="flat" cmpd="sng" algn="ctr">
                      <a:solidFill>
                        <a:srgbClr val="DCE3D6"/>
                      </a:solidFill>
                    </a:lnB>
                    <a:solidFill>
                      <a:srgbClr val="FFFFFF"/>
                    </a:solidFill>
                  </a:tcPr>
                </a:tc>
                <a:tc>
                  <a:txBody>
                    <a:bodyPr wrap="square"/>
                    <a:lstStyle/>
                    <a:p>
                      <a:r>
                        <a:rPr sz="750" b="0">
                          <a:solidFill>
                            <a:srgbClr val="26301F"/>
                          </a:solidFill>
                          <a:latin typeface="Segoe UI"/>
                        </a:rPr>
                        <a:t>Automatic collection is how every circle collects, so the account is linked before a circle can be joined</a:t>
                      </a:r>
                    </a:p>
                  </a:txBody>
                  <a:tcPr marL="45720" marR="109728" marT="27432" marB="27432" anchor="ctr">
                    <a:lnB w="9525" cap="flat" cmpd="sng" algn="ctr">
                      <a:solidFill>
                        <a:srgbClr val="DCE3D6"/>
                      </a:solidFill>
                    </a:lnB>
                    <a:solidFill>
                      <a:srgbClr val="FFFFFF"/>
                    </a:solidFill>
                  </a:tcPr>
                </a:tc>
              </a:tr>
              <a:tr h="323185">
                <a:tc>
                  <a:txBody>
                    <a:bodyPr wrap="square"/>
                    <a:lstStyle/>
                    <a:p>
                      <a:r>
                        <a:rPr sz="750" b="0">
                          <a:solidFill>
                            <a:srgbClr val="26301F"/>
                          </a:solidFill>
                          <a:latin typeface="Segoe UI"/>
                        </a:rPr>
                        <a:t>8</a:t>
                      </a:r>
                    </a:p>
                  </a:txBody>
                  <a:tcPr marL="45720" marR="109728" marT="27432" marB="27432" anchor="ctr">
                    <a:lnB w="9525" cap="flat" cmpd="sng" algn="ctr">
                      <a:solidFill>
                        <a:srgbClr val="DCE3D6"/>
                      </a:solidFill>
                    </a:lnB>
                    <a:solidFill>
                      <a:srgbClr val="FFFFFF"/>
                    </a:solidFill>
                  </a:tcPr>
                </a:tc>
                <a:tc>
                  <a:txBody>
                    <a:bodyPr wrap="square"/>
                    <a:lstStyle/>
                    <a:p>
                      <a:r>
                        <a:rPr sz="750" b="0">
                          <a:solidFill>
                            <a:srgbClr val="26301F"/>
                          </a:solidFill>
                          <a:latin typeface="Segoe UI"/>
                        </a:rPr>
                        <a:t>Password</a:t>
                      </a:r>
                    </a:p>
                  </a:txBody>
                  <a:tcPr marL="45720" marR="109728" marT="27432" marB="27432" anchor="ctr">
                    <a:lnB w="9525" cap="flat" cmpd="sng" algn="ctr">
                      <a:solidFill>
                        <a:srgbClr val="DCE3D6"/>
                      </a:solidFill>
                    </a:lnB>
                    <a:solidFill>
                      <a:srgbClr val="FFFFFF"/>
                    </a:solidFill>
                  </a:tcPr>
                </a:tc>
                <a:tc>
                  <a:txBody>
                    <a:bodyPr wrap="square"/>
                    <a:lstStyle/>
                    <a:p>
                      <a:r>
                        <a:rPr sz="750" b="0">
                          <a:solidFill>
                            <a:srgbClr val="26301F"/>
                          </a:solidFill>
                          <a:latin typeface="Segoe UI"/>
                        </a:rPr>
                        <a:t>Minimum eight characters with letters and numbers</a:t>
                      </a:r>
                    </a:p>
                  </a:txBody>
                  <a:tcPr marL="45720" marR="109728" marT="27432" marB="27432" anchor="ctr">
                    <a:lnB w="9525" cap="flat" cmpd="sng" algn="ctr">
                      <a:solidFill>
                        <a:srgbClr val="DCE3D6"/>
                      </a:solidFill>
                    </a:lnB>
                    <a:solidFill>
                      <a:srgbClr val="FFFFFF"/>
                    </a:solidFill>
                  </a:tcPr>
                </a:tc>
                <a:tc>
                  <a:txBody>
                    <a:bodyPr wrap="square"/>
                    <a:lstStyle/>
                    <a:p>
                      <a:r>
                        <a:rPr sz="750" b="0">
                          <a:solidFill>
                            <a:srgbClr val="26301F"/>
                          </a:solidFill>
                          <a:latin typeface="Segoe UI"/>
                        </a:rPr>
                        <a:t>Account credential</a:t>
                      </a:r>
                    </a:p>
                  </a:txBody>
                  <a:tcPr marL="45720" marR="109728" marT="27432" marB="27432" anchor="ctr">
                    <a:lnB w="9525" cap="flat" cmpd="sng" algn="ctr">
                      <a:solidFill>
                        <a:srgbClr val="DCE3D6"/>
                      </a:solidFill>
                    </a:lnB>
                    <a:solidFill>
                      <a:srgbClr val="FFFFFF"/>
                    </a:solidFill>
                  </a:tcPr>
                </a:tc>
              </a:tr>
              <a:tr h="323185">
                <a:tc>
                  <a:txBody>
                    <a:bodyPr wrap="square"/>
                    <a:lstStyle/>
                    <a:p>
                      <a:r>
                        <a:rPr sz="750" b="0">
                          <a:solidFill>
                            <a:srgbClr val="26301F"/>
                          </a:solidFill>
                          <a:latin typeface="Segoe UI"/>
                        </a:rPr>
                        <a:t>9</a:t>
                      </a:r>
                    </a:p>
                  </a:txBody>
                  <a:tcPr marL="45720" marR="109728" marT="27432" marB="27432" anchor="ctr">
                    <a:lnB w="9525" cap="flat" cmpd="sng" algn="ctr">
                      <a:solidFill>
                        <a:srgbClr val="DCE3D6"/>
                      </a:solidFill>
                    </a:lnB>
                    <a:solidFill>
                      <a:srgbClr val="FFFFFF"/>
                    </a:solidFill>
                  </a:tcPr>
                </a:tc>
                <a:tc>
                  <a:txBody>
                    <a:bodyPr wrap="square"/>
                    <a:lstStyle/>
                    <a:p>
                      <a:r>
                        <a:rPr sz="750" b="0">
                          <a:solidFill>
                            <a:srgbClr val="26301F"/>
                          </a:solidFill>
                          <a:latin typeface="Segoe UI"/>
                        </a:rPr>
                        <a:t>Application PIN</a:t>
                      </a:r>
                    </a:p>
                  </a:txBody>
                  <a:tcPr marL="45720" marR="109728" marT="27432" marB="27432" anchor="ctr">
                    <a:lnB w="9525" cap="flat" cmpd="sng" algn="ctr">
                      <a:solidFill>
                        <a:srgbClr val="DCE3D6"/>
                      </a:solidFill>
                    </a:lnB>
                    <a:solidFill>
                      <a:srgbClr val="FFFFFF"/>
                    </a:solidFill>
                  </a:tcPr>
                </a:tc>
                <a:tc>
                  <a:txBody>
                    <a:bodyPr wrap="square"/>
                    <a:lstStyle/>
                    <a:p>
                      <a:r>
                        <a:rPr sz="750" b="0">
                          <a:solidFill>
                            <a:srgbClr val="26301F"/>
                          </a:solidFill>
                          <a:latin typeface="Segoe UI"/>
                        </a:rPr>
                        <a:t>Four to six digits, entered twice</a:t>
                      </a:r>
                    </a:p>
                  </a:txBody>
                  <a:tcPr marL="45720" marR="109728" marT="27432" marB="27432" anchor="ctr">
                    <a:lnB w="9525" cap="flat" cmpd="sng" algn="ctr">
                      <a:solidFill>
                        <a:srgbClr val="DCE3D6"/>
                      </a:solidFill>
                    </a:lnB>
                    <a:solidFill>
                      <a:srgbClr val="FFFFFF"/>
                    </a:solidFill>
                  </a:tcPr>
                </a:tc>
                <a:tc>
                  <a:txBody>
                    <a:bodyPr wrap="square"/>
                    <a:lstStyle/>
                    <a:p>
                      <a:r>
                        <a:rPr sz="750" b="0">
                          <a:solidFill>
                            <a:srgbClr val="26301F"/>
                          </a:solidFill>
                          <a:latin typeface="Segoe UI"/>
                        </a:rPr>
                        <a:t>A second lock, required on every open of the application and on every consequential action</a:t>
                      </a:r>
                    </a:p>
                  </a:txBody>
                  <a:tcPr marL="45720" marR="109728" marT="27432" marB="27432" anchor="ctr">
                    <a:lnB w="9525" cap="flat" cmpd="sng" algn="ctr">
                      <a:solidFill>
                        <a:srgbClr val="DCE3D6"/>
                      </a:solidFill>
                    </a:lnB>
                    <a:solidFill>
                      <a:srgbClr val="FFFFFF"/>
                    </a:solidFill>
                  </a:tcPr>
                </a:tc>
              </a:tr>
              <a:tr h="323185">
                <a:tc>
                  <a:txBody>
                    <a:bodyPr wrap="square"/>
                    <a:lstStyle/>
                    <a:p>
                      <a:r>
                        <a:rPr sz="750" b="0">
                          <a:solidFill>
                            <a:srgbClr val="26301F"/>
                          </a:solidFill>
                          <a:latin typeface="Segoe UI"/>
                        </a:rPr>
                        <a:t>10</a:t>
                      </a:r>
                    </a:p>
                  </a:txBody>
                  <a:tcPr marL="45720" marR="109728" marT="27432" marB="27432" anchor="ctr">
                    <a:lnB w="9525" cap="flat" cmpd="sng" algn="ctr">
                      <a:solidFill>
                        <a:srgbClr val="DCE3D6"/>
                      </a:solidFill>
                    </a:lnB>
                    <a:solidFill>
                      <a:srgbClr val="FFFFFF"/>
                    </a:solidFill>
                  </a:tcPr>
                </a:tc>
                <a:tc>
                  <a:txBody>
                    <a:bodyPr wrap="square"/>
                    <a:lstStyle/>
                    <a:p>
                      <a:r>
                        <a:rPr sz="750" b="0">
                          <a:solidFill>
                            <a:srgbClr val="26301F"/>
                          </a:solidFill>
                          <a:latin typeface="Segoe UI"/>
                        </a:rPr>
                        <a:t>Review and sign</a:t>
                      </a:r>
                    </a:p>
                  </a:txBody>
                  <a:tcPr marL="45720" marR="109728" marT="27432" marB="27432" anchor="ctr">
                    <a:lnB w="9525" cap="flat" cmpd="sng" algn="ctr">
                      <a:solidFill>
                        <a:srgbClr val="DCE3D6"/>
                      </a:solidFill>
                    </a:lnB>
                    <a:solidFill>
                      <a:srgbClr val="FFFFFF"/>
                    </a:solidFill>
                  </a:tcPr>
                </a:tc>
                <a:tc>
                  <a:txBody>
                    <a:bodyPr wrap="square"/>
                    <a:lstStyle/>
                    <a:p>
                      <a:r>
                        <a:rPr sz="750" b="0">
                          <a:solidFill>
                            <a:srgbClr val="26301F"/>
                          </a:solidFill>
                          <a:latin typeface="Segoe UI"/>
                        </a:rPr>
                        <a:t>Every field shown back, then the agreement accepted</a:t>
                      </a:r>
                    </a:p>
                  </a:txBody>
                  <a:tcPr marL="45720" marR="109728" marT="27432" marB="27432" anchor="ctr">
                    <a:lnB w="9525" cap="flat" cmpd="sng" algn="ctr">
                      <a:solidFill>
                        <a:srgbClr val="DCE3D6"/>
                      </a:solidFill>
                    </a:lnB>
                    <a:solidFill>
                      <a:srgbClr val="FFFFFF"/>
                    </a:solidFill>
                  </a:tcPr>
                </a:tc>
                <a:tc>
                  <a:txBody>
                    <a:bodyPr wrap="square"/>
                    <a:lstStyle/>
                    <a:p>
                      <a:r>
                        <a:rPr sz="750" b="0">
                          <a:solidFill>
                            <a:srgbClr val="26301F"/>
                          </a:solidFill>
                          <a:latin typeface="Segoe UI"/>
                        </a:rPr>
                        <a:t>Consent recorded against a document version, an address and a timestamp</a:t>
                      </a:r>
                    </a:p>
                  </a:txBody>
                  <a:tcPr marL="45720" marR="109728" marT="27432" marB="27432" anchor="ctr">
                    <a:lnB w="9525" cap="flat" cmpd="sng" algn="ctr">
                      <a:solidFill>
                        <a:srgbClr val="DCE3D6"/>
                      </a:solidFill>
                    </a:lnB>
                    <a:solidFill>
                      <a:srgbClr val="FFFFFF"/>
                    </a:solidFill>
                  </a:tcPr>
                </a:tc>
              </a:tr>
            </a:tbl>
          </a:graphicData>
        </a:graphic>
      </p:graphicFrame>
    </p:spTree>
  </p:cSld>
  <p:clrMapOvr>
    <a:masterClrMapping/>
  </p:clrMapOvr>
</p:sld>
</file>

<file path=ppt/slides/slide1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777240" y="566928"/>
            <a:ext cx="10637215" cy="219456"/>
          </a:xfrm>
          <a:prstGeom prst="rect">
            <a:avLst/>
          </a:prstGeom>
          <a:noFill/>
        </p:spPr>
        <p:txBody>
          <a:bodyPr wrap="square" lIns="0" rIns="0" tIns="0" bIns="0">
            <a:spAutoFit/>
          </a:bodyPr>
          <a:lstStyle/>
          <a:p>
            <a:pPr algn="l">
              <a:lnSpc>
                <a:spcPct val="125000"/>
              </a:lnSpc>
            </a:pPr>
            <a:r>
              <a:rPr sz="950" b="1" i="0">
                <a:solidFill>
                  <a:srgbClr val="41801A"/>
                </a:solidFill>
                <a:latin typeface="Segoe UI"/>
              </a:rPr>
              <a:t>2  GETTING IN</a:t>
            </a:r>
          </a:p>
        </p:txBody>
      </p:sp>
      <p:sp>
        <p:nvSpPr>
          <p:cNvPr id="3" name="TextBox 2"/>
          <p:cNvSpPr txBox="1"/>
          <p:nvPr/>
        </p:nvSpPr>
        <p:spPr>
          <a:xfrm>
            <a:off x="777240" y="841248"/>
            <a:ext cx="10637215" cy="502920"/>
          </a:xfrm>
          <a:prstGeom prst="rect">
            <a:avLst/>
          </a:prstGeom>
          <a:noFill/>
        </p:spPr>
        <p:txBody>
          <a:bodyPr wrap="square" lIns="0" rIns="0" tIns="0" bIns="0">
            <a:spAutoFit/>
          </a:bodyPr>
          <a:lstStyle/>
          <a:p>
            <a:pPr algn="l">
              <a:lnSpc>
                <a:spcPct val="125000"/>
              </a:lnSpc>
            </a:pPr>
            <a:r>
              <a:rPr sz="2700" b="1" i="0">
                <a:solidFill>
                  <a:srgbClr val="0C1408"/>
                </a:solidFill>
                <a:latin typeface="Segoe UI"/>
              </a:rPr>
              <a:t>Proving the person is real</a:t>
            </a:r>
          </a:p>
        </p:txBody>
      </p:sp>
      <p:sp>
        <p:nvSpPr>
          <p:cNvPr id="4" name="Rectangle 3"/>
          <p:cNvSpPr/>
          <p:nvPr/>
        </p:nvSpPr>
        <p:spPr>
          <a:xfrm>
            <a:off x="777240" y="1417320"/>
            <a:ext cx="1371600" cy="22860"/>
          </a:xfrm>
          <a:prstGeom prst="rect">
            <a:avLst/>
          </a:prstGeom>
          <a:solidFill>
            <a:srgbClr val="6DC72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777240" y="6382512"/>
            <a:ext cx="3657600" cy="228600"/>
          </a:xfrm>
          <a:prstGeom prst="rect">
            <a:avLst/>
          </a:prstGeom>
          <a:noFill/>
        </p:spPr>
        <p:txBody>
          <a:bodyPr wrap="square" lIns="0" rIns="0" tIns="0" bIns="0">
            <a:spAutoFit/>
          </a:bodyPr>
          <a:lstStyle/>
          <a:p>
            <a:pPr algn="l">
              <a:lnSpc>
                <a:spcPct val="125000"/>
              </a:lnSpc>
            </a:pPr>
            <a:r>
              <a:rPr sz="900" b="0" i="0">
                <a:solidFill>
                  <a:srgbClr val="9AA694"/>
                </a:solidFill>
                <a:latin typeface="Segoe UI"/>
              </a:rPr>
              <a:t>Halqa  ·  Confidential</a:t>
            </a:r>
          </a:p>
        </p:txBody>
      </p:sp>
      <p:sp>
        <p:nvSpPr>
          <p:cNvPr id="6" name="TextBox 5"/>
          <p:cNvSpPr txBox="1"/>
          <p:nvPr/>
        </p:nvSpPr>
        <p:spPr>
          <a:xfrm>
            <a:off x="10728655" y="6382512"/>
            <a:ext cx="685800" cy="228600"/>
          </a:xfrm>
          <a:prstGeom prst="rect">
            <a:avLst/>
          </a:prstGeom>
          <a:noFill/>
        </p:spPr>
        <p:txBody>
          <a:bodyPr wrap="square" lIns="0" rIns="0" tIns="0" bIns="0">
            <a:spAutoFit/>
          </a:bodyPr>
          <a:lstStyle/>
          <a:p>
            <a:pPr algn="r">
              <a:lnSpc>
                <a:spcPct val="125000"/>
              </a:lnSpc>
            </a:pPr>
            <a:r>
              <a:rPr sz="900" b="0" i="0">
                <a:solidFill>
                  <a:srgbClr val="6F7B68"/>
                </a:solidFill>
                <a:latin typeface="Segoe UI"/>
              </a:rPr>
              <a:t>18</a:t>
            </a:r>
          </a:p>
        </p:txBody>
      </p:sp>
      <p:sp>
        <p:nvSpPr>
          <p:cNvPr id="7" name="TextBox 6"/>
          <p:cNvSpPr txBox="1"/>
          <p:nvPr/>
        </p:nvSpPr>
        <p:spPr>
          <a:xfrm>
            <a:off x="777240" y="1965960"/>
            <a:ext cx="10607040" cy="457200"/>
          </a:xfrm>
          <a:prstGeom prst="rect">
            <a:avLst/>
          </a:prstGeom>
          <a:noFill/>
        </p:spPr>
        <p:txBody>
          <a:bodyPr wrap="square" lIns="0" rIns="0" tIns="0" bIns="0">
            <a:spAutoFit/>
          </a:bodyPr>
          <a:lstStyle/>
          <a:p>
            <a:pPr algn="l">
              <a:lnSpc>
                <a:spcPct val="145000"/>
              </a:lnSpc>
            </a:pPr>
            <a:r>
              <a:rPr sz="1350" b="0" i="0">
                <a:solidFill>
                  <a:srgbClr val="26301F"/>
                </a:solidFill>
                <a:latin typeface="Segoe UI"/>
              </a:rPr>
              <a:t>Four layers, in ascending order of strength. A member passes as many as the product they want requires, and no more.</a:t>
            </a:r>
          </a:p>
        </p:txBody>
      </p:sp>
      <p:graphicFrame>
        <p:nvGraphicFramePr>
          <p:cNvPr id="8" name="Table 7"/>
          <p:cNvGraphicFramePr>
            <a:graphicFrameLocks noGrp="1"/>
          </p:cNvGraphicFramePr>
          <p:nvPr/>
        </p:nvGraphicFramePr>
        <p:xfrm>
          <a:off x="777240" y="2606040"/>
          <a:ext cx="10607040" cy="3037935"/>
        </p:xfrm>
        <a:graphic>
          <a:graphicData uri="http://schemas.openxmlformats.org/drawingml/2006/table">
            <a:tbl>
              <a:tblPr>
                <a:tableStyleId>{5C22544A-7EE6-4342-B048-85BDC9FD1C3A}</a:tableStyleId>
              </a:tblPr>
              <a:tblGrid>
                <a:gridCol w="1828800"/>
                <a:gridCol w="3840480"/>
                <a:gridCol w="2560320"/>
                <a:gridCol w="2377440"/>
              </a:tblGrid>
              <a:tr h="607587">
                <a:tc>
                  <a:txBody>
                    <a:bodyPr wrap="square"/>
                    <a:lstStyle/>
                    <a:p>
                      <a:r>
                        <a:rPr sz="800" b="1">
                          <a:solidFill>
                            <a:srgbClr val="41801A"/>
                          </a:solidFill>
                          <a:latin typeface="Segoe UI"/>
                        </a:rPr>
                        <a:t>LAYER</a:t>
                      </a:r>
                    </a:p>
                  </a:txBody>
                  <a:tcPr marL="45720" marR="109728" marT="27432" marB="27432" anchor="ctr">
                    <a:lnB w="9525" cap="flat" cmpd="sng" algn="ctr">
                      <a:solidFill>
                        <a:srgbClr val="41801A"/>
                      </a:solidFill>
                    </a:lnB>
                    <a:solidFill>
                      <a:srgbClr val="FFFFFF"/>
                    </a:solidFill>
                  </a:tcPr>
                </a:tc>
                <a:tc>
                  <a:txBody>
                    <a:bodyPr wrap="square"/>
                    <a:lstStyle/>
                    <a:p>
                      <a:r>
                        <a:rPr sz="800" b="1">
                          <a:solidFill>
                            <a:srgbClr val="41801A"/>
                          </a:solidFill>
                          <a:latin typeface="Segoe UI"/>
                        </a:rPr>
                        <a:t>WHAT IS CHECKED</a:t>
                      </a:r>
                    </a:p>
                  </a:txBody>
                  <a:tcPr marL="45720" marR="109728" marT="27432" marB="27432" anchor="ctr">
                    <a:lnB w="9525" cap="flat" cmpd="sng" algn="ctr">
                      <a:solidFill>
                        <a:srgbClr val="41801A"/>
                      </a:solidFill>
                    </a:lnB>
                    <a:solidFill>
                      <a:srgbClr val="FFFFFF"/>
                    </a:solidFill>
                  </a:tcPr>
                </a:tc>
                <a:tc>
                  <a:txBody>
                    <a:bodyPr wrap="square"/>
                    <a:lstStyle/>
                    <a:p>
                      <a:r>
                        <a:rPr sz="800" b="1">
                          <a:solidFill>
                            <a:srgbClr val="41801A"/>
                          </a:solidFill>
                          <a:latin typeface="Segoe UI"/>
                        </a:rPr>
                        <a:t>WHAT IT PROVES</a:t>
                      </a:r>
                    </a:p>
                  </a:txBody>
                  <a:tcPr marL="45720" marR="109728" marT="27432" marB="27432" anchor="ctr">
                    <a:lnB w="9525" cap="flat" cmpd="sng" algn="ctr">
                      <a:solidFill>
                        <a:srgbClr val="41801A"/>
                      </a:solidFill>
                    </a:lnB>
                    <a:solidFill>
                      <a:srgbClr val="FFFFFF"/>
                    </a:solidFill>
                  </a:tcPr>
                </a:tc>
                <a:tc>
                  <a:txBody>
                    <a:bodyPr wrap="square"/>
                    <a:lstStyle/>
                    <a:p>
                      <a:r>
                        <a:rPr sz="800" b="1">
                          <a:solidFill>
                            <a:srgbClr val="41801A"/>
                          </a:solidFill>
                          <a:latin typeface="Segoe UI"/>
                        </a:rPr>
                        <a:t>WHAT IT DEFEATS</a:t>
                      </a:r>
                    </a:p>
                  </a:txBody>
                  <a:tcPr marL="45720" marR="109728" marT="27432" marB="27432" anchor="ctr">
                    <a:lnB w="9525" cap="flat" cmpd="sng" algn="ctr">
                      <a:solidFill>
                        <a:srgbClr val="41801A"/>
                      </a:solidFill>
                    </a:lnB>
                    <a:solidFill>
                      <a:srgbClr val="FFFFFF"/>
                    </a:solidFill>
                  </a:tcPr>
                </a:tc>
              </a:tr>
              <a:tr h="607587">
                <a:tc>
                  <a:txBody>
                    <a:bodyPr wrap="square"/>
                    <a:lstStyle/>
                    <a:p>
                      <a:r>
                        <a:rPr sz="800" b="0">
                          <a:solidFill>
                            <a:srgbClr val="26301F"/>
                          </a:solidFill>
                          <a:latin typeface="Segoe UI"/>
                        </a:rPr>
                        <a:t>The telephone number</a:t>
                      </a:r>
                    </a:p>
                  </a:txBody>
                  <a:tcPr marL="45720" marR="109728" marT="27432" marB="27432" anchor="ctr">
                    <a:lnB w="9525" cap="flat" cmpd="sng" algn="ctr">
                      <a:solidFill>
                        <a:srgbClr val="DCE3D6"/>
                      </a:solidFill>
                    </a:lnB>
                    <a:solidFill>
                      <a:srgbClr val="FFFFFF"/>
                    </a:solidFill>
                  </a:tcPr>
                </a:tc>
                <a:tc>
                  <a:txBody>
                    <a:bodyPr wrap="square"/>
                    <a:lstStyle/>
                    <a:p>
                      <a:r>
                        <a:rPr sz="800" b="0">
                          <a:solidFill>
                            <a:srgbClr val="26301F"/>
                          </a:solidFill>
                          <a:latin typeface="Segoe UI"/>
                        </a:rPr>
                        <a:t>A six digit code delivered over WhatsApp, with a text message fallback</a:t>
                      </a:r>
                    </a:p>
                  </a:txBody>
                  <a:tcPr marL="45720" marR="109728" marT="27432" marB="27432" anchor="ctr">
                    <a:lnB w="9525" cap="flat" cmpd="sng" algn="ctr">
                      <a:solidFill>
                        <a:srgbClr val="DCE3D6"/>
                      </a:solidFill>
                    </a:lnB>
                    <a:solidFill>
                      <a:srgbClr val="FFFFFF"/>
                    </a:solidFill>
                  </a:tcPr>
                </a:tc>
                <a:tc>
                  <a:txBody>
                    <a:bodyPr wrap="square"/>
                    <a:lstStyle/>
                    <a:p>
                      <a:r>
                        <a:rPr sz="800" b="0">
                          <a:solidFill>
                            <a:srgbClr val="26301F"/>
                          </a:solidFill>
                          <a:latin typeface="Segoe UI"/>
                        </a:rPr>
                        <a:t>The number is controlled by the applicant right now</a:t>
                      </a:r>
                    </a:p>
                  </a:txBody>
                  <a:tcPr marL="45720" marR="109728" marT="27432" marB="27432" anchor="ctr">
                    <a:lnB w="9525" cap="flat" cmpd="sng" algn="ctr">
                      <a:solidFill>
                        <a:srgbClr val="DCE3D6"/>
                      </a:solidFill>
                    </a:lnB>
                    <a:solidFill>
                      <a:srgbClr val="FFFFFF"/>
                    </a:solidFill>
                  </a:tcPr>
                </a:tc>
                <a:tc>
                  <a:txBody>
                    <a:bodyPr wrap="square"/>
                    <a:lstStyle/>
                    <a:p>
                      <a:r>
                        <a:rPr sz="800" b="0">
                          <a:solidFill>
                            <a:srgbClr val="26301F"/>
                          </a:solidFill>
                          <a:latin typeface="Segoe UI"/>
                        </a:rPr>
                        <a:t>Somebody registering with a number they do not hold</a:t>
                      </a:r>
                    </a:p>
                  </a:txBody>
                  <a:tcPr marL="45720" marR="109728" marT="27432" marB="27432" anchor="ctr">
                    <a:lnB w="9525" cap="flat" cmpd="sng" algn="ctr">
                      <a:solidFill>
                        <a:srgbClr val="DCE3D6"/>
                      </a:solidFill>
                    </a:lnB>
                    <a:solidFill>
                      <a:srgbClr val="FFFFFF"/>
                    </a:solidFill>
                  </a:tcPr>
                </a:tc>
              </a:tr>
              <a:tr h="607587">
                <a:tc>
                  <a:txBody>
                    <a:bodyPr wrap="square"/>
                    <a:lstStyle/>
                    <a:p>
                      <a:r>
                        <a:rPr sz="800" b="0">
                          <a:solidFill>
                            <a:srgbClr val="26301F"/>
                          </a:solidFill>
                          <a:latin typeface="Segoe UI"/>
                        </a:rPr>
                        <a:t>The card</a:t>
                      </a:r>
                    </a:p>
                  </a:txBody>
                  <a:tcPr marL="45720" marR="109728" marT="27432" marB="27432" anchor="ctr">
                    <a:lnB w="9525" cap="flat" cmpd="sng" algn="ctr">
                      <a:solidFill>
                        <a:srgbClr val="DCE3D6"/>
                      </a:solidFill>
                    </a:lnB>
                    <a:solidFill>
                      <a:srgbClr val="FFFFFF"/>
                    </a:solidFill>
                  </a:tcPr>
                </a:tc>
                <a:tc>
                  <a:txBody>
                    <a:bodyPr wrap="square"/>
                    <a:lstStyle/>
                    <a:p>
                      <a:r>
                        <a:rPr sz="800" b="0">
                          <a:solidFill>
                            <a:srgbClr val="26301F"/>
                          </a:solidFill>
                          <a:latin typeface="Segoe UI"/>
                        </a:rPr>
                        <a:t>A photograph of the identity card taken inside the application, with the number recorded</a:t>
                      </a:r>
                    </a:p>
                  </a:txBody>
                  <a:tcPr marL="45720" marR="109728" marT="27432" marB="27432" anchor="ctr">
                    <a:lnB w="9525" cap="flat" cmpd="sng" algn="ctr">
                      <a:solidFill>
                        <a:srgbClr val="DCE3D6"/>
                      </a:solidFill>
                    </a:lnB>
                    <a:solidFill>
                      <a:srgbClr val="FFFFFF"/>
                    </a:solidFill>
                  </a:tcPr>
                </a:tc>
                <a:tc>
                  <a:txBody>
                    <a:bodyPr wrap="square"/>
                    <a:lstStyle/>
                    <a:p>
                      <a:r>
                        <a:rPr sz="800" b="0">
                          <a:solidFill>
                            <a:srgbClr val="26301F"/>
                          </a:solidFill>
                          <a:latin typeface="Segoe UI"/>
                        </a:rPr>
                        <a:t>A document exists and matches the number given</a:t>
                      </a:r>
                    </a:p>
                  </a:txBody>
                  <a:tcPr marL="45720" marR="109728" marT="27432" marB="27432" anchor="ctr">
                    <a:lnB w="9525" cap="flat" cmpd="sng" algn="ctr">
                      <a:solidFill>
                        <a:srgbClr val="DCE3D6"/>
                      </a:solidFill>
                    </a:lnB>
                    <a:solidFill>
                      <a:srgbClr val="FFFFFF"/>
                    </a:solidFill>
                  </a:tcPr>
                </a:tc>
                <a:tc>
                  <a:txBody>
                    <a:bodyPr wrap="square"/>
                    <a:lstStyle/>
                    <a:p>
                      <a:r>
                        <a:rPr sz="800" b="0">
                          <a:solidFill>
                            <a:srgbClr val="26301F"/>
                          </a:solidFill>
                          <a:latin typeface="Segoe UI"/>
                        </a:rPr>
                        <a:t>A number typed in from memory or bought</a:t>
                      </a:r>
                    </a:p>
                  </a:txBody>
                  <a:tcPr marL="45720" marR="109728" marT="27432" marB="27432" anchor="ctr">
                    <a:lnB w="9525" cap="flat" cmpd="sng" algn="ctr">
                      <a:solidFill>
                        <a:srgbClr val="DCE3D6"/>
                      </a:solidFill>
                    </a:lnB>
                    <a:solidFill>
                      <a:srgbClr val="FFFFFF"/>
                    </a:solidFill>
                  </a:tcPr>
                </a:tc>
              </a:tr>
              <a:tr h="607587">
                <a:tc>
                  <a:txBody>
                    <a:bodyPr wrap="square"/>
                    <a:lstStyle/>
                    <a:p>
                      <a:r>
                        <a:rPr sz="800" b="0">
                          <a:solidFill>
                            <a:srgbClr val="26301F"/>
                          </a:solidFill>
                          <a:latin typeface="Segoe UI"/>
                        </a:rPr>
                        <a:t>The account title</a:t>
                      </a:r>
                    </a:p>
                  </a:txBody>
                  <a:tcPr marL="45720" marR="109728" marT="27432" marB="27432" anchor="ctr">
                    <a:lnB w="9525" cap="flat" cmpd="sng" algn="ctr">
                      <a:solidFill>
                        <a:srgbClr val="DCE3D6"/>
                      </a:solidFill>
                    </a:lnB>
                    <a:solidFill>
                      <a:srgbClr val="FFFFFF"/>
                    </a:solidFill>
                  </a:tcPr>
                </a:tc>
                <a:tc>
                  <a:txBody>
                    <a:bodyPr wrap="square"/>
                    <a:lstStyle/>
                    <a:p>
                      <a:r>
                        <a:rPr sz="800" b="0">
                          <a:solidFill>
                            <a:srgbClr val="26301F"/>
                          </a:solidFill>
                          <a:latin typeface="Segoe UI"/>
                        </a:rPr>
                        <a:t>At the moment an account is linked, the aggregator returns the registered account holder name, which must match the identity card name</a:t>
                      </a:r>
                    </a:p>
                  </a:txBody>
                  <a:tcPr marL="45720" marR="109728" marT="27432" marB="27432" anchor="ctr">
                    <a:lnB w="9525" cap="flat" cmpd="sng" algn="ctr">
                      <a:solidFill>
                        <a:srgbClr val="DCE3D6"/>
                      </a:solidFill>
                    </a:lnB>
                    <a:solidFill>
                      <a:srgbClr val="FFFFFF"/>
                    </a:solidFill>
                  </a:tcPr>
                </a:tc>
                <a:tc>
                  <a:txBody>
                    <a:bodyPr wrap="square"/>
                    <a:lstStyle/>
                    <a:p>
                      <a:r>
                        <a:rPr sz="800" b="0">
                          <a:solidFill>
                            <a:srgbClr val="26301F"/>
                          </a:solidFill>
                          <a:latin typeface="Segoe UI"/>
                        </a:rPr>
                        <a:t>The collection account belongs to this member and not to a third party</a:t>
                      </a:r>
                    </a:p>
                  </a:txBody>
                  <a:tcPr marL="45720" marR="109728" marT="27432" marB="27432" anchor="ctr">
                    <a:lnB w="9525" cap="flat" cmpd="sng" algn="ctr">
                      <a:solidFill>
                        <a:srgbClr val="DCE3D6"/>
                      </a:solidFill>
                    </a:lnB>
                    <a:solidFill>
                      <a:srgbClr val="FFFFFF"/>
                    </a:solidFill>
                  </a:tcPr>
                </a:tc>
                <a:tc>
                  <a:txBody>
                    <a:bodyPr wrap="square"/>
                    <a:lstStyle/>
                    <a:p>
                      <a:r>
                        <a:rPr sz="800" b="0">
                          <a:solidFill>
                            <a:srgbClr val="26301F"/>
                          </a:solidFill>
                          <a:latin typeface="Segoe UI"/>
                        </a:rPr>
                        <a:t>Somebody joining on another person's account</a:t>
                      </a:r>
                    </a:p>
                  </a:txBody>
                  <a:tcPr marL="45720" marR="109728" marT="27432" marB="27432" anchor="ctr">
                    <a:lnB w="9525" cap="flat" cmpd="sng" algn="ctr">
                      <a:solidFill>
                        <a:srgbClr val="DCE3D6"/>
                      </a:solidFill>
                    </a:lnB>
                    <a:solidFill>
                      <a:srgbClr val="FFFFFF"/>
                    </a:solidFill>
                  </a:tcPr>
                </a:tc>
              </a:tr>
              <a:tr h="607587">
                <a:tc>
                  <a:txBody>
                    <a:bodyPr wrap="square"/>
                    <a:lstStyle/>
                    <a:p>
                      <a:r>
                        <a:rPr sz="800" b="0">
                          <a:solidFill>
                            <a:srgbClr val="26301F"/>
                          </a:solidFill>
                          <a:latin typeface="Segoe UI"/>
                        </a:rPr>
                        <a:t>The living person</a:t>
                      </a:r>
                    </a:p>
                  </a:txBody>
                  <a:tcPr marL="45720" marR="109728" marT="27432" marB="27432" anchor="ctr">
                    <a:lnB w="9525" cap="flat" cmpd="sng" algn="ctr">
                      <a:solidFill>
                        <a:srgbClr val="DCE3D6"/>
                      </a:solidFill>
                    </a:lnB>
                    <a:solidFill>
                      <a:srgbClr val="FFFFFF"/>
                    </a:solidFill>
                  </a:tcPr>
                </a:tc>
                <a:tc>
                  <a:txBody>
                    <a:bodyPr wrap="square"/>
                    <a:lstStyle/>
                    <a:p>
                      <a:r>
                        <a:rPr sz="800" b="0">
                          <a:solidFill>
                            <a:srgbClr val="26301F"/>
                          </a:solidFill>
                          <a:latin typeface="Segoe UI"/>
                        </a:rPr>
                        <a:t>NADRA identity verification against the national database, then multi biometric and facial verification through the Nishan Pakistan portal</a:t>
                      </a:r>
                    </a:p>
                  </a:txBody>
                  <a:tcPr marL="45720" marR="109728" marT="27432" marB="27432" anchor="ctr">
                    <a:lnB w="9525" cap="flat" cmpd="sng" algn="ctr">
                      <a:solidFill>
                        <a:srgbClr val="DCE3D6"/>
                      </a:solidFill>
                    </a:lnB>
                    <a:solidFill>
                      <a:srgbClr val="FFFFFF"/>
                    </a:solidFill>
                  </a:tcPr>
                </a:tc>
                <a:tc>
                  <a:txBody>
                    <a:bodyPr wrap="square"/>
                    <a:lstStyle/>
                    <a:p>
                      <a:r>
                        <a:rPr sz="800" b="0">
                          <a:solidFill>
                            <a:srgbClr val="26301F"/>
                          </a:solidFill>
                          <a:latin typeface="Segoe UI"/>
                        </a:rPr>
                        <a:t>The identity number is real, it belongs to that name, and the person presenting it is the holder</a:t>
                      </a:r>
                    </a:p>
                  </a:txBody>
                  <a:tcPr marL="45720" marR="109728" marT="27432" marB="27432" anchor="ctr">
                    <a:lnB w="9525" cap="flat" cmpd="sng" algn="ctr">
                      <a:solidFill>
                        <a:srgbClr val="DCE3D6"/>
                      </a:solidFill>
                    </a:lnB>
                    <a:solidFill>
                      <a:srgbClr val="FFFFFF"/>
                    </a:solidFill>
                  </a:tcPr>
                </a:tc>
                <a:tc>
                  <a:txBody>
                    <a:bodyPr wrap="square"/>
                    <a:lstStyle/>
                    <a:p>
                      <a:r>
                        <a:rPr sz="800" b="0">
                          <a:solidFill>
                            <a:srgbClr val="26301F"/>
                          </a:solidFill>
                          <a:latin typeface="Segoe UI"/>
                        </a:rPr>
                        <a:t>A borrowed or purchased identity, which is the only attack the first three cannot stop</a:t>
                      </a:r>
                    </a:p>
                  </a:txBody>
                  <a:tcPr marL="45720" marR="109728" marT="27432" marB="27432" anchor="ctr">
                    <a:lnB w="9525" cap="flat" cmpd="sng" algn="ctr">
                      <a:solidFill>
                        <a:srgbClr val="DCE3D6"/>
                      </a:solidFill>
                    </a:lnB>
                    <a:solidFill>
                      <a:srgbClr val="FFFFFF"/>
                    </a:solidFill>
                  </a:tcPr>
                </a:tc>
              </a:tr>
            </a:tbl>
          </a:graphicData>
        </a:graphic>
      </p:graphicFrame>
      <p:sp>
        <p:nvSpPr>
          <p:cNvPr id="9" name="TextBox 8"/>
          <p:cNvSpPr txBox="1"/>
          <p:nvPr/>
        </p:nvSpPr>
        <p:spPr>
          <a:xfrm>
            <a:off x="777240" y="5826855"/>
            <a:ext cx="10637215" cy="731520"/>
          </a:xfrm>
          <a:prstGeom prst="rect">
            <a:avLst/>
          </a:prstGeom>
          <a:noFill/>
        </p:spPr>
        <p:txBody>
          <a:bodyPr wrap="square" lIns="0" rIns="0" tIns="0" bIns="0">
            <a:spAutoFit/>
          </a:bodyPr>
          <a:lstStyle/>
          <a:p>
            <a:pPr algn="l">
              <a:lnSpc>
                <a:spcPct val="140000"/>
              </a:lnSpc>
            </a:pPr>
            <a:r>
              <a:rPr sz="1200" b="1" i="0">
                <a:solidFill>
                  <a:srgbClr val="0C1408"/>
                </a:solidFill>
                <a:latin typeface="Segoe UI"/>
              </a:rPr>
              <a:t>Only the result and a reference are stored. The biometric template and the facial image stay with NADRA and are never transmitted to Halqa or held by it.</a:t>
            </a:r>
          </a:p>
        </p:txBody>
      </p:sp>
    </p:spTree>
  </p:cSld>
  <p:clrMapOvr>
    <a:masterClrMapping/>
  </p:clrMapOvr>
</p:sld>
</file>

<file path=ppt/slides/slide1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777240" y="566928"/>
            <a:ext cx="10637215" cy="219456"/>
          </a:xfrm>
          <a:prstGeom prst="rect">
            <a:avLst/>
          </a:prstGeom>
          <a:noFill/>
        </p:spPr>
        <p:txBody>
          <a:bodyPr wrap="square" lIns="0" rIns="0" tIns="0" bIns="0">
            <a:spAutoFit/>
          </a:bodyPr>
          <a:lstStyle/>
          <a:p>
            <a:pPr algn="l">
              <a:lnSpc>
                <a:spcPct val="125000"/>
              </a:lnSpc>
            </a:pPr>
            <a:r>
              <a:rPr sz="950" b="1" i="0">
                <a:solidFill>
                  <a:srgbClr val="41801A"/>
                </a:solidFill>
                <a:latin typeface="Segoe UI"/>
              </a:rPr>
              <a:t>2  GETTING IN</a:t>
            </a:r>
          </a:p>
        </p:txBody>
      </p:sp>
      <p:sp>
        <p:nvSpPr>
          <p:cNvPr id="3" name="TextBox 2"/>
          <p:cNvSpPr txBox="1"/>
          <p:nvPr/>
        </p:nvSpPr>
        <p:spPr>
          <a:xfrm>
            <a:off x="777240" y="841248"/>
            <a:ext cx="10637215" cy="502920"/>
          </a:xfrm>
          <a:prstGeom prst="rect">
            <a:avLst/>
          </a:prstGeom>
          <a:noFill/>
        </p:spPr>
        <p:txBody>
          <a:bodyPr wrap="square" lIns="0" rIns="0" tIns="0" bIns="0">
            <a:spAutoFit/>
          </a:bodyPr>
          <a:lstStyle/>
          <a:p>
            <a:pPr algn="l">
              <a:lnSpc>
                <a:spcPct val="125000"/>
              </a:lnSpc>
            </a:pPr>
            <a:r>
              <a:rPr sz="2700" b="1" i="0">
                <a:solidFill>
                  <a:srgbClr val="0C1408"/>
                </a:solidFill>
                <a:latin typeface="Segoe UI"/>
              </a:rPr>
              <a:t>When the face check fires</a:t>
            </a:r>
          </a:p>
        </p:txBody>
      </p:sp>
      <p:sp>
        <p:nvSpPr>
          <p:cNvPr id="4" name="Rectangle 3"/>
          <p:cNvSpPr/>
          <p:nvPr/>
        </p:nvSpPr>
        <p:spPr>
          <a:xfrm>
            <a:off x="777240" y="1417320"/>
            <a:ext cx="1371600" cy="22860"/>
          </a:xfrm>
          <a:prstGeom prst="rect">
            <a:avLst/>
          </a:prstGeom>
          <a:solidFill>
            <a:srgbClr val="6DC72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777240" y="6382512"/>
            <a:ext cx="3657600" cy="228600"/>
          </a:xfrm>
          <a:prstGeom prst="rect">
            <a:avLst/>
          </a:prstGeom>
          <a:noFill/>
        </p:spPr>
        <p:txBody>
          <a:bodyPr wrap="square" lIns="0" rIns="0" tIns="0" bIns="0">
            <a:spAutoFit/>
          </a:bodyPr>
          <a:lstStyle/>
          <a:p>
            <a:pPr algn="l">
              <a:lnSpc>
                <a:spcPct val="125000"/>
              </a:lnSpc>
            </a:pPr>
            <a:r>
              <a:rPr sz="900" b="0" i="0">
                <a:solidFill>
                  <a:srgbClr val="9AA694"/>
                </a:solidFill>
                <a:latin typeface="Segoe UI"/>
              </a:rPr>
              <a:t>Halqa  ·  Confidential</a:t>
            </a:r>
          </a:p>
        </p:txBody>
      </p:sp>
      <p:sp>
        <p:nvSpPr>
          <p:cNvPr id="6" name="TextBox 5"/>
          <p:cNvSpPr txBox="1"/>
          <p:nvPr/>
        </p:nvSpPr>
        <p:spPr>
          <a:xfrm>
            <a:off x="10728655" y="6382512"/>
            <a:ext cx="685800" cy="228600"/>
          </a:xfrm>
          <a:prstGeom prst="rect">
            <a:avLst/>
          </a:prstGeom>
          <a:noFill/>
        </p:spPr>
        <p:txBody>
          <a:bodyPr wrap="square" lIns="0" rIns="0" tIns="0" bIns="0">
            <a:spAutoFit/>
          </a:bodyPr>
          <a:lstStyle/>
          <a:p>
            <a:pPr algn="r">
              <a:lnSpc>
                <a:spcPct val="125000"/>
              </a:lnSpc>
            </a:pPr>
            <a:r>
              <a:rPr sz="900" b="0" i="0">
                <a:solidFill>
                  <a:srgbClr val="6F7B68"/>
                </a:solidFill>
                <a:latin typeface="Segoe UI"/>
              </a:rPr>
              <a:t>19</a:t>
            </a:r>
          </a:p>
        </p:txBody>
      </p:sp>
      <p:sp>
        <p:nvSpPr>
          <p:cNvPr id="7" name="TextBox 6"/>
          <p:cNvSpPr txBox="1"/>
          <p:nvPr/>
        </p:nvSpPr>
        <p:spPr>
          <a:xfrm>
            <a:off x="777240" y="1965960"/>
            <a:ext cx="10607040" cy="685800"/>
          </a:xfrm>
          <a:prstGeom prst="rect">
            <a:avLst/>
          </a:prstGeom>
          <a:noFill/>
        </p:spPr>
        <p:txBody>
          <a:bodyPr wrap="square" lIns="0" rIns="0" tIns="0" bIns="0">
            <a:spAutoFit/>
          </a:bodyPr>
          <a:lstStyle/>
          <a:p>
            <a:pPr algn="l">
              <a:lnSpc>
                <a:spcPct val="145000"/>
              </a:lnSpc>
            </a:pPr>
            <a:r>
              <a:rPr sz="1350" b="0" i="0">
                <a:solidFill>
                  <a:srgbClr val="26301F"/>
                </a:solidFill>
                <a:latin typeface="Segoe UI"/>
              </a:rPr>
              <a:t>A facial check on every action would spend money and lose members at the same time. It is fired only where it buys something, which is at the six moments where impersonation would actually be worth attempting.</a:t>
            </a:r>
          </a:p>
        </p:txBody>
      </p:sp>
      <p:graphicFrame>
        <p:nvGraphicFramePr>
          <p:cNvPr id="8" name="Table 7"/>
          <p:cNvGraphicFramePr>
            <a:graphicFrameLocks noGrp="1"/>
          </p:cNvGraphicFramePr>
          <p:nvPr/>
        </p:nvGraphicFramePr>
        <p:xfrm>
          <a:off x="777240" y="2971800"/>
          <a:ext cx="6400800" cy="2658194"/>
        </p:xfrm>
        <a:graphic>
          <a:graphicData uri="http://schemas.openxmlformats.org/drawingml/2006/table">
            <a:tbl>
              <a:tblPr>
                <a:tableStyleId>{5C22544A-7EE6-4342-B048-85BDC9FD1C3A}</a:tableStyleId>
              </a:tblPr>
              <a:tblGrid>
                <a:gridCol w="3291840"/>
                <a:gridCol w="3108960"/>
              </a:tblGrid>
              <a:tr h="379742">
                <a:tc>
                  <a:txBody>
                    <a:bodyPr wrap="square"/>
                    <a:lstStyle/>
                    <a:p>
                      <a:r>
                        <a:rPr sz="900" b="1">
                          <a:solidFill>
                            <a:srgbClr val="41801A"/>
                          </a:solidFill>
                          <a:latin typeface="Segoe UI"/>
                        </a:rPr>
                        <a:t>MOMENT</a:t>
                      </a:r>
                    </a:p>
                  </a:txBody>
                  <a:tcPr marL="45720" marR="109728" marT="27432" marB="27432" anchor="ctr">
                    <a:lnB w="9525" cap="flat" cmpd="sng" algn="ctr">
                      <a:solidFill>
                        <a:srgbClr val="41801A"/>
                      </a:solidFill>
                    </a:lnB>
                    <a:solidFill>
                      <a:srgbClr val="FFFFFF"/>
                    </a:solidFill>
                  </a:tcPr>
                </a:tc>
                <a:tc>
                  <a:txBody>
                    <a:bodyPr wrap="square"/>
                    <a:lstStyle/>
                    <a:p>
                      <a:r>
                        <a:rPr sz="900" b="1">
                          <a:solidFill>
                            <a:srgbClr val="41801A"/>
                          </a:solidFill>
                          <a:latin typeface="Segoe UI"/>
                        </a:rPr>
                        <a:t>WHY HERE</a:t>
                      </a:r>
                    </a:p>
                  </a:txBody>
                  <a:tcPr marL="45720" marR="109728" marT="27432" marB="27432" anchor="ctr">
                    <a:lnB w="9525" cap="flat" cmpd="sng" algn="ctr">
                      <a:solidFill>
                        <a:srgbClr val="41801A"/>
                      </a:solidFill>
                    </a:lnB>
                    <a:solidFill>
                      <a:srgbClr val="FFFFFF"/>
                    </a:solidFill>
                  </a:tcPr>
                </a:tc>
              </a:tr>
              <a:tr h="379742">
                <a:tc>
                  <a:txBody>
                    <a:bodyPr wrap="square"/>
                    <a:lstStyle/>
                    <a:p>
                      <a:r>
                        <a:rPr sz="900" b="0">
                          <a:solidFill>
                            <a:srgbClr val="26301F"/>
                          </a:solidFill>
                          <a:latin typeface="Segoe UI"/>
                        </a:rPr>
                        <a:t>Joining the platform</a:t>
                      </a:r>
                    </a:p>
                  </a:txBody>
                  <a:tcPr marL="45720" marR="109728" marT="27432" marB="27432" anchor="ctr">
                    <a:lnB w="9525" cap="flat" cmpd="sng" algn="ctr">
                      <a:solidFill>
                        <a:srgbClr val="DCE3D6"/>
                      </a:solidFill>
                    </a:lnB>
                    <a:solidFill>
                      <a:srgbClr val="FFFFFF"/>
                    </a:solidFill>
                  </a:tcPr>
                </a:tc>
                <a:tc>
                  <a:txBody>
                    <a:bodyPr wrap="square"/>
                    <a:lstStyle/>
                    <a:p>
                      <a:r>
                        <a:rPr sz="900" b="0">
                          <a:solidFill>
                            <a:srgbClr val="26301F"/>
                          </a:solidFill>
                          <a:latin typeface="Segoe UI"/>
                        </a:rPr>
                        <a:t>Establishes the person once, against which everything later is compared</a:t>
                      </a:r>
                    </a:p>
                  </a:txBody>
                  <a:tcPr marL="45720" marR="109728" marT="27432" marB="27432" anchor="ctr">
                    <a:lnB w="9525" cap="flat" cmpd="sng" algn="ctr">
                      <a:solidFill>
                        <a:srgbClr val="DCE3D6"/>
                      </a:solidFill>
                    </a:lnB>
                    <a:solidFill>
                      <a:srgbClr val="FFFFFF"/>
                    </a:solidFill>
                  </a:tcPr>
                </a:tc>
              </a:tr>
              <a:tr h="379742">
                <a:tc>
                  <a:txBody>
                    <a:bodyPr wrap="square"/>
                    <a:lstStyle/>
                    <a:p>
                      <a:r>
                        <a:rPr sz="900" b="0">
                          <a:solidFill>
                            <a:srgbClr val="26301F"/>
                          </a:solidFill>
                          <a:latin typeface="Segoe UI"/>
                        </a:rPr>
                        <a:t>A new device</a:t>
                      </a:r>
                    </a:p>
                  </a:txBody>
                  <a:tcPr marL="45720" marR="109728" marT="27432" marB="27432" anchor="ctr">
                    <a:lnB w="9525" cap="flat" cmpd="sng" algn="ctr">
                      <a:solidFill>
                        <a:srgbClr val="DCE3D6"/>
                      </a:solidFill>
                    </a:lnB>
                    <a:solidFill>
                      <a:srgbClr val="FFFFFF"/>
                    </a:solidFill>
                  </a:tcPr>
                </a:tc>
                <a:tc>
                  <a:txBody>
                    <a:bodyPr wrap="square"/>
                    <a:lstStyle/>
                    <a:p>
                      <a:r>
                        <a:rPr sz="900" b="0">
                          <a:solidFill>
                            <a:srgbClr val="26301F"/>
                          </a:solidFill>
                          <a:latin typeface="Segoe UI"/>
                        </a:rPr>
                        <a:t>The most common route in for a stolen credential</a:t>
                      </a:r>
                    </a:p>
                  </a:txBody>
                  <a:tcPr marL="45720" marR="109728" marT="27432" marB="27432" anchor="ctr">
                    <a:lnB w="9525" cap="flat" cmpd="sng" algn="ctr">
                      <a:solidFill>
                        <a:srgbClr val="DCE3D6"/>
                      </a:solidFill>
                    </a:lnB>
                    <a:solidFill>
                      <a:srgbClr val="FFFFFF"/>
                    </a:solidFill>
                  </a:tcPr>
                </a:tc>
              </a:tr>
              <a:tr h="379742">
                <a:tc>
                  <a:txBody>
                    <a:bodyPr wrap="square"/>
                    <a:lstStyle/>
                    <a:p>
                      <a:r>
                        <a:rPr sz="900" b="0">
                          <a:solidFill>
                            <a:srgbClr val="26301F"/>
                          </a:solidFill>
                          <a:latin typeface="Segoe UI"/>
                        </a:rPr>
                        <a:t>A contribution above the configured threshold</a:t>
                      </a:r>
                    </a:p>
                  </a:txBody>
                  <a:tcPr marL="45720" marR="109728" marT="27432" marB="27432" anchor="ctr">
                    <a:lnB w="9525" cap="flat" cmpd="sng" algn="ctr">
                      <a:solidFill>
                        <a:srgbClr val="DCE3D6"/>
                      </a:solidFill>
                    </a:lnB>
                    <a:solidFill>
                      <a:srgbClr val="FFFFFF"/>
                    </a:solidFill>
                  </a:tcPr>
                </a:tc>
                <a:tc>
                  <a:txBody>
                    <a:bodyPr wrap="square"/>
                    <a:lstStyle/>
                    <a:p>
                      <a:r>
                        <a:rPr sz="900" b="0">
                          <a:solidFill>
                            <a:srgbClr val="26301F"/>
                          </a:solidFill>
                          <a:latin typeface="Segoe UI"/>
                        </a:rPr>
                        <a:t>The value at risk justifies the cost of the check</a:t>
                      </a:r>
                    </a:p>
                  </a:txBody>
                  <a:tcPr marL="45720" marR="109728" marT="27432" marB="27432" anchor="ctr">
                    <a:lnB w="9525" cap="flat" cmpd="sng" algn="ctr">
                      <a:solidFill>
                        <a:srgbClr val="DCE3D6"/>
                      </a:solidFill>
                    </a:lnB>
                    <a:solidFill>
                      <a:srgbClr val="FFFFFF"/>
                    </a:solidFill>
                  </a:tcPr>
                </a:tc>
              </a:tr>
              <a:tr h="379742">
                <a:tc>
                  <a:txBody>
                    <a:bodyPr wrap="square"/>
                    <a:lstStyle/>
                    <a:p>
                      <a:r>
                        <a:rPr sz="900" b="0">
                          <a:solidFill>
                            <a:srgbClr val="26301F"/>
                          </a:solidFill>
                          <a:latin typeface="Segoe UI"/>
                        </a:rPr>
                        <a:t>Claiming a position in the first half of the order</a:t>
                      </a:r>
                    </a:p>
                  </a:txBody>
                  <a:tcPr marL="45720" marR="109728" marT="27432" marB="27432" anchor="ctr">
                    <a:lnB w="9525" cap="flat" cmpd="sng" algn="ctr">
                      <a:solidFill>
                        <a:srgbClr val="DCE3D6"/>
                      </a:solidFill>
                    </a:lnB>
                    <a:solidFill>
                      <a:srgbClr val="FFFFFF"/>
                    </a:solidFill>
                  </a:tcPr>
                </a:tc>
                <a:tc>
                  <a:txBody>
                    <a:bodyPr wrap="square"/>
                    <a:lstStyle/>
                    <a:p>
                      <a:r>
                        <a:rPr sz="900" b="0">
                          <a:solidFill>
                            <a:srgbClr val="26301F"/>
                          </a:solidFill>
                          <a:latin typeface="Segoe UI"/>
                        </a:rPr>
                        <a:t>These are the positions that carry the real exposure</a:t>
                      </a:r>
                    </a:p>
                  </a:txBody>
                  <a:tcPr marL="45720" marR="109728" marT="27432" marB="27432" anchor="ctr">
                    <a:lnB w="9525" cap="flat" cmpd="sng" algn="ctr">
                      <a:solidFill>
                        <a:srgbClr val="DCE3D6"/>
                      </a:solidFill>
                    </a:lnB>
                    <a:solidFill>
                      <a:srgbClr val="FFFFFF"/>
                    </a:solidFill>
                  </a:tcPr>
                </a:tc>
              </a:tr>
              <a:tr h="379742">
                <a:tc>
                  <a:txBody>
                    <a:bodyPr wrap="square"/>
                    <a:lstStyle/>
                    <a:p>
                      <a:r>
                        <a:rPr sz="900" b="0">
                          <a:solidFill>
                            <a:srgbClr val="26301F"/>
                          </a:solidFill>
                          <a:latin typeface="Segoe UI"/>
                        </a:rPr>
                        <a:t>Any exit or hardship request</a:t>
                      </a:r>
                    </a:p>
                  </a:txBody>
                  <a:tcPr marL="45720" marR="109728" marT="27432" marB="27432" anchor="ctr">
                    <a:lnB w="9525" cap="flat" cmpd="sng" algn="ctr">
                      <a:solidFill>
                        <a:srgbClr val="DCE3D6"/>
                      </a:solidFill>
                    </a:lnB>
                    <a:solidFill>
                      <a:srgbClr val="FFFFFF"/>
                    </a:solidFill>
                  </a:tcPr>
                </a:tc>
                <a:tc>
                  <a:txBody>
                    <a:bodyPr wrap="square"/>
                    <a:lstStyle/>
                    <a:p>
                      <a:r>
                        <a:rPr sz="900" b="0">
                          <a:solidFill>
                            <a:srgbClr val="26301F"/>
                          </a:solidFill>
                          <a:latin typeface="Segoe UI"/>
                        </a:rPr>
                        <a:t>An impersonated exit is the cheapest possible attack on the restitution rules</a:t>
                      </a:r>
                    </a:p>
                  </a:txBody>
                  <a:tcPr marL="45720" marR="109728" marT="27432" marB="27432" anchor="ctr">
                    <a:lnB w="9525" cap="flat" cmpd="sng" algn="ctr">
                      <a:solidFill>
                        <a:srgbClr val="DCE3D6"/>
                      </a:solidFill>
                    </a:lnB>
                    <a:solidFill>
                      <a:srgbClr val="FFFFFF"/>
                    </a:solidFill>
                  </a:tcPr>
                </a:tc>
              </a:tr>
              <a:tr h="379742">
                <a:tc>
                  <a:txBody>
                    <a:bodyPr wrap="square"/>
                    <a:lstStyle/>
                    <a:p>
                      <a:r>
                        <a:rPr sz="900" b="0">
                          <a:solidFill>
                            <a:srgbClr val="26301F"/>
                          </a:solidFill>
                          <a:latin typeface="Segoe UI"/>
                        </a:rPr>
                        <a:t>Returning after ninety days dormant</a:t>
                      </a:r>
                    </a:p>
                  </a:txBody>
                  <a:tcPr marL="45720" marR="109728" marT="27432" marB="27432" anchor="ctr">
                    <a:lnB w="9525" cap="flat" cmpd="sng" algn="ctr">
                      <a:solidFill>
                        <a:srgbClr val="DCE3D6"/>
                      </a:solidFill>
                    </a:lnB>
                    <a:solidFill>
                      <a:srgbClr val="FFFFFF"/>
                    </a:solidFill>
                  </a:tcPr>
                </a:tc>
                <a:tc>
                  <a:txBody>
                    <a:bodyPr wrap="square"/>
                    <a:lstStyle/>
                    <a:p>
                      <a:r>
                        <a:rPr sz="900" b="0">
                          <a:solidFill>
                            <a:srgbClr val="26301F"/>
                          </a:solidFill>
                          <a:latin typeface="Segoe UI"/>
                        </a:rPr>
                        <a:t>The account may have changed hands</a:t>
                      </a:r>
                    </a:p>
                  </a:txBody>
                  <a:tcPr marL="45720" marR="109728" marT="27432" marB="27432" anchor="ctr">
                    <a:lnB w="9525" cap="flat" cmpd="sng" algn="ctr">
                      <a:solidFill>
                        <a:srgbClr val="DCE3D6"/>
                      </a:solidFill>
                    </a:lnB>
                    <a:solidFill>
                      <a:srgbClr val="FFFFFF"/>
                    </a:solidFill>
                  </a:tcPr>
                </a:tc>
              </a:tr>
            </a:tbl>
          </a:graphicData>
        </a:graphic>
      </p:graphicFrame>
      <p:sp>
        <p:nvSpPr>
          <p:cNvPr id="9" name="TextBox 8"/>
          <p:cNvSpPr txBox="1"/>
          <p:nvPr/>
        </p:nvSpPr>
        <p:spPr>
          <a:xfrm>
            <a:off x="7635240" y="2971800"/>
            <a:ext cx="3749039" cy="2926080"/>
          </a:xfrm>
          <a:prstGeom prst="rect">
            <a:avLst/>
          </a:prstGeom>
          <a:noFill/>
        </p:spPr>
        <p:txBody>
          <a:bodyPr wrap="square" lIns="0" rIns="0" tIns="0" bIns="0">
            <a:spAutoFit/>
          </a:bodyPr>
          <a:lstStyle/>
          <a:p>
            <a:pPr algn="l">
              <a:lnSpc>
                <a:spcPct val="150000"/>
              </a:lnSpc>
            </a:pPr>
            <a:r>
              <a:rPr sz="1200" b="0" i="0">
                <a:solidFill>
                  <a:srgbClr val="26301F"/>
                </a:solidFill>
                <a:latin typeface="Segoe UI"/>
              </a:rPr>
              <a:t>Underneath all of it sits the application PIN. It is required every time the application is opened, every time a member commits to a circle, on every exit request and on every payout release. It is separate from the account password and is held only in memory, so closing the application forces it to be entered again.</a:t>
            </a:r>
          </a:p>
          <a:p>
            <a:pPr algn="l">
              <a:lnSpc>
                <a:spcPct val="150000"/>
              </a:lnSpc>
              <a:spcBef>
                <a:spcPts val="900"/>
              </a:spcBef>
            </a:pPr>
            <a:r>
              <a:rPr sz="1200" b="0" i="0">
                <a:solidFill>
                  <a:srgbClr val="26301F"/>
                </a:solidFill>
                <a:latin typeface="Segoe UI"/>
              </a:rPr>
              <a:t/>
            </a:r>
          </a:p>
          <a:p>
            <a:pPr algn="l">
              <a:lnSpc>
                <a:spcPct val="150000"/>
              </a:lnSpc>
              <a:spcBef>
                <a:spcPts val="900"/>
              </a:spcBef>
            </a:pPr>
            <a:r>
              <a:rPr sz="1200" b="0" i="0">
                <a:solidFill>
                  <a:srgbClr val="26301F"/>
                </a:solidFill>
                <a:latin typeface="Segoe UI"/>
              </a:rPr>
              <a:t>Where the handset supports it, the device fingerprint or face is layered on top of the PIN. That never leaves the phone and Halqa neither receives nor stores it.</a:t>
            </a:r>
          </a:p>
        </p:txBody>
      </p:sp>
    </p:spTree>
  </p:cSld>
  <p:clrMapOvr>
    <a:masterClrMapping/>
  </p:clrMapOvr>
</p:sld>
</file>

<file path=ppt/slides/slide2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777240" y="566928"/>
            <a:ext cx="10637215" cy="219456"/>
          </a:xfrm>
          <a:prstGeom prst="rect">
            <a:avLst/>
          </a:prstGeom>
          <a:noFill/>
        </p:spPr>
        <p:txBody>
          <a:bodyPr wrap="square" lIns="0" rIns="0" tIns="0" bIns="0">
            <a:spAutoFit/>
          </a:bodyPr>
          <a:lstStyle/>
          <a:p>
            <a:pPr algn="l">
              <a:lnSpc>
                <a:spcPct val="125000"/>
              </a:lnSpc>
            </a:pPr>
            <a:r>
              <a:rPr sz="950" b="1" i="0">
                <a:solidFill>
                  <a:srgbClr val="41801A"/>
                </a:solidFill>
                <a:latin typeface="Segoe UI"/>
              </a:rPr>
              <a:t>2  GETTING IN</a:t>
            </a:r>
          </a:p>
        </p:txBody>
      </p:sp>
      <p:sp>
        <p:nvSpPr>
          <p:cNvPr id="3" name="TextBox 2"/>
          <p:cNvSpPr txBox="1"/>
          <p:nvPr/>
        </p:nvSpPr>
        <p:spPr>
          <a:xfrm>
            <a:off x="777240" y="841248"/>
            <a:ext cx="10637215" cy="502920"/>
          </a:xfrm>
          <a:prstGeom prst="rect">
            <a:avLst/>
          </a:prstGeom>
          <a:noFill/>
        </p:spPr>
        <p:txBody>
          <a:bodyPr wrap="square" lIns="0" rIns="0" tIns="0" bIns="0">
            <a:spAutoFit/>
          </a:bodyPr>
          <a:lstStyle/>
          <a:p>
            <a:pPr algn="l">
              <a:lnSpc>
                <a:spcPct val="125000"/>
              </a:lnSpc>
            </a:pPr>
            <a:r>
              <a:rPr sz="2700" b="1" i="0">
                <a:solidFill>
                  <a:srgbClr val="0C1408"/>
                </a:solidFill>
                <a:latin typeface="Segoe UI"/>
              </a:rPr>
              <a:t>Affordability, and the conditions</a:t>
            </a:r>
          </a:p>
        </p:txBody>
      </p:sp>
      <p:sp>
        <p:nvSpPr>
          <p:cNvPr id="4" name="Rectangle 3"/>
          <p:cNvSpPr/>
          <p:nvPr/>
        </p:nvSpPr>
        <p:spPr>
          <a:xfrm>
            <a:off x="777240" y="1417320"/>
            <a:ext cx="1371600" cy="22860"/>
          </a:xfrm>
          <a:prstGeom prst="rect">
            <a:avLst/>
          </a:prstGeom>
          <a:solidFill>
            <a:srgbClr val="6DC72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777240" y="6382512"/>
            <a:ext cx="3657600" cy="228600"/>
          </a:xfrm>
          <a:prstGeom prst="rect">
            <a:avLst/>
          </a:prstGeom>
          <a:noFill/>
        </p:spPr>
        <p:txBody>
          <a:bodyPr wrap="square" lIns="0" rIns="0" tIns="0" bIns="0">
            <a:spAutoFit/>
          </a:bodyPr>
          <a:lstStyle/>
          <a:p>
            <a:pPr algn="l">
              <a:lnSpc>
                <a:spcPct val="125000"/>
              </a:lnSpc>
            </a:pPr>
            <a:r>
              <a:rPr sz="900" b="0" i="0">
                <a:solidFill>
                  <a:srgbClr val="9AA694"/>
                </a:solidFill>
                <a:latin typeface="Segoe UI"/>
              </a:rPr>
              <a:t>Halqa  ·  Confidential</a:t>
            </a:r>
          </a:p>
        </p:txBody>
      </p:sp>
      <p:sp>
        <p:nvSpPr>
          <p:cNvPr id="6" name="TextBox 5"/>
          <p:cNvSpPr txBox="1"/>
          <p:nvPr/>
        </p:nvSpPr>
        <p:spPr>
          <a:xfrm>
            <a:off x="10728655" y="6382512"/>
            <a:ext cx="685800" cy="228600"/>
          </a:xfrm>
          <a:prstGeom prst="rect">
            <a:avLst/>
          </a:prstGeom>
          <a:noFill/>
        </p:spPr>
        <p:txBody>
          <a:bodyPr wrap="square" lIns="0" rIns="0" tIns="0" bIns="0">
            <a:spAutoFit/>
          </a:bodyPr>
          <a:lstStyle/>
          <a:p>
            <a:pPr algn="r">
              <a:lnSpc>
                <a:spcPct val="125000"/>
              </a:lnSpc>
            </a:pPr>
            <a:r>
              <a:rPr sz="900" b="0" i="0">
                <a:solidFill>
                  <a:srgbClr val="6F7B68"/>
                </a:solidFill>
                <a:latin typeface="Segoe UI"/>
              </a:rPr>
              <a:t>20</a:t>
            </a:r>
          </a:p>
        </p:txBody>
      </p:sp>
      <p:sp>
        <p:nvSpPr>
          <p:cNvPr id="7" name="TextBox 6"/>
          <p:cNvSpPr txBox="1"/>
          <p:nvPr/>
        </p:nvSpPr>
        <p:spPr>
          <a:xfrm>
            <a:off x="777240" y="1965960"/>
            <a:ext cx="10607040" cy="457200"/>
          </a:xfrm>
          <a:prstGeom prst="rect">
            <a:avLst/>
          </a:prstGeom>
          <a:noFill/>
        </p:spPr>
        <p:txBody>
          <a:bodyPr wrap="square" lIns="0" rIns="0" tIns="0" bIns="0">
            <a:spAutoFit/>
          </a:bodyPr>
          <a:lstStyle/>
          <a:p>
            <a:pPr algn="l">
              <a:lnSpc>
                <a:spcPct val="145000"/>
              </a:lnSpc>
            </a:pPr>
            <a:r>
              <a:rPr sz="1350" b="0" i="0">
                <a:solidFill>
                  <a:srgbClr val="26301F"/>
                </a:solidFill>
                <a:latin typeface="Segoe UI"/>
              </a:rPr>
              <a:t>Every condition below governs what a member is shown rather than producing a refusal. A member is never offered a circle they cannot afford, so the system rejects almost nobody in ordinary use.</a:t>
            </a:r>
          </a:p>
        </p:txBody>
      </p:sp>
      <p:graphicFrame>
        <p:nvGraphicFramePr>
          <p:cNvPr id="8" name="Table 7"/>
          <p:cNvGraphicFramePr>
            <a:graphicFrameLocks noGrp="1"/>
          </p:cNvGraphicFramePr>
          <p:nvPr/>
        </p:nvGraphicFramePr>
        <p:xfrm>
          <a:off x="777240" y="2606040"/>
          <a:ext cx="10607040" cy="3037936"/>
        </p:xfrm>
        <a:graphic>
          <a:graphicData uri="http://schemas.openxmlformats.org/drawingml/2006/table">
            <a:tbl>
              <a:tblPr>
                <a:tableStyleId>{5C22544A-7EE6-4342-B048-85BDC9FD1C3A}</a:tableStyleId>
              </a:tblPr>
              <a:tblGrid>
                <a:gridCol w="3840480"/>
                <a:gridCol w="1828800"/>
                <a:gridCol w="4937760"/>
              </a:tblGrid>
              <a:tr h="379742">
                <a:tc>
                  <a:txBody>
                    <a:bodyPr wrap="square"/>
                    <a:lstStyle/>
                    <a:p>
                      <a:r>
                        <a:rPr sz="800" b="1">
                          <a:solidFill>
                            <a:srgbClr val="41801A"/>
                          </a:solidFill>
                          <a:latin typeface="Segoe UI"/>
                        </a:rPr>
                        <a:t>CONDITION</a:t>
                      </a:r>
                    </a:p>
                  </a:txBody>
                  <a:tcPr marL="45720" marR="109728" marT="27432" marB="27432" anchor="ctr">
                    <a:lnB w="9525" cap="flat" cmpd="sng" algn="ctr">
                      <a:solidFill>
                        <a:srgbClr val="41801A"/>
                      </a:solidFill>
                    </a:lnB>
                    <a:solidFill>
                      <a:srgbClr val="FFFFFF"/>
                    </a:solidFill>
                  </a:tcPr>
                </a:tc>
                <a:tc>
                  <a:txBody>
                    <a:bodyPr wrap="square"/>
                    <a:lstStyle/>
                    <a:p>
                      <a:r>
                        <a:rPr sz="800" b="1">
                          <a:solidFill>
                            <a:srgbClr val="41801A"/>
                          </a:solidFill>
                          <a:latin typeface="Segoe UI"/>
                        </a:rPr>
                        <a:t>LIMIT</a:t>
                      </a:r>
                    </a:p>
                  </a:txBody>
                  <a:tcPr marL="45720" marR="109728" marT="27432" marB="27432" anchor="ctr">
                    <a:lnB w="9525" cap="flat" cmpd="sng" algn="ctr">
                      <a:solidFill>
                        <a:srgbClr val="41801A"/>
                      </a:solidFill>
                    </a:lnB>
                    <a:solidFill>
                      <a:srgbClr val="FFFFFF"/>
                    </a:solidFill>
                  </a:tcPr>
                </a:tc>
                <a:tc>
                  <a:txBody>
                    <a:bodyPr wrap="square"/>
                    <a:lstStyle/>
                    <a:p>
                      <a:r>
                        <a:rPr sz="800" b="1">
                          <a:solidFill>
                            <a:srgbClr val="41801A"/>
                          </a:solidFill>
                          <a:latin typeface="Segoe UI"/>
                        </a:rPr>
                        <a:t>WHERE IT COMES FROM</a:t>
                      </a:r>
                    </a:p>
                  </a:txBody>
                  <a:tcPr marL="45720" marR="109728" marT="27432" marB="27432" anchor="ctr">
                    <a:lnB w="9525" cap="flat" cmpd="sng" algn="ctr">
                      <a:solidFill>
                        <a:srgbClr val="41801A"/>
                      </a:solidFill>
                    </a:lnB>
                    <a:solidFill>
                      <a:srgbClr val="FFFFFF"/>
                    </a:solidFill>
                  </a:tcPr>
                </a:tc>
              </a:tr>
              <a:tr h="379742">
                <a:tc>
                  <a:txBody>
                    <a:bodyPr wrap="square"/>
                    <a:lstStyle/>
                    <a:p>
                      <a:r>
                        <a:rPr sz="800" b="0">
                          <a:solidFill>
                            <a:srgbClr val="26301F"/>
                          </a:solidFill>
                          <a:latin typeface="Segoe UI"/>
                        </a:rPr>
                        <a:t>Total contributions as a share of net monthly income</a:t>
                      </a:r>
                    </a:p>
                  </a:txBody>
                  <a:tcPr marL="45720" marR="109728" marT="27432" marB="27432" anchor="ctr">
                    <a:lnB w="9525" cap="flat" cmpd="sng" algn="ctr">
                      <a:solidFill>
                        <a:srgbClr val="DCE3D6"/>
                      </a:solidFill>
                    </a:lnB>
                    <a:solidFill>
                      <a:srgbClr val="FFFFFF"/>
                    </a:solidFill>
                  </a:tcPr>
                </a:tc>
                <a:tc>
                  <a:txBody>
                    <a:bodyPr wrap="square"/>
                    <a:lstStyle/>
                    <a:p>
                      <a:r>
                        <a:rPr sz="800" b="0">
                          <a:solidFill>
                            <a:srgbClr val="26301F"/>
                          </a:solidFill>
                          <a:latin typeface="Segoe UI"/>
                        </a:rPr>
                        <a:t>33 per cent</a:t>
                      </a:r>
                    </a:p>
                  </a:txBody>
                  <a:tcPr marL="45720" marR="109728" marT="27432" marB="27432" anchor="ctr">
                    <a:lnB w="9525" cap="flat" cmpd="sng" algn="ctr">
                      <a:solidFill>
                        <a:srgbClr val="DCE3D6"/>
                      </a:solidFill>
                    </a:lnB>
                    <a:solidFill>
                      <a:srgbClr val="FFFFFF"/>
                    </a:solidFill>
                  </a:tcPr>
                </a:tc>
                <a:tc>
                  <a:txBody>
                    <a:bodyPr wrap="square"/>
                    <a:lstStyle/>
                    <a:p>
                      <a:r>
                        <a:rPr sz="800" b="0">
                          <a:solidFill>
                            <a:srgbClr val="26301F"/>
                          </a:solidFill>
                          <a:latin typeface="Segoe UI"/>
                        </a:rPr>
                        <a:t>Halqa's own ceiling, deliberately stricter than the regulated benchmark</a:t>
                      </a:r>
                    </a:p>
                  </a:txBody>
                  <a:tcPr marL="45720" marR="109728" marT="27432" marB="27432" anchor="ctr">
                    <a:lnB w="9525" cap="flat" cmpd="sng" algn="ctr">
                      <a:solidFill>
                        <a:srgbClr val="DCE3D6"/>
                      </a:solidFill>
                    </a:lnB>
                    <a:solidFill>
                      <a:srgbClr val="FFFFFF"/>
                    </a:solidFill>
                  </a:tcPr>
                </a:tc>
              </a:tr>
              <a:tr h="379742">
                <a:tc>
                  <a:txBody>
                    <a:bodyPr wrap="square"/>
                    <a:lstStyle/>
                    <a:p>
                      <a:r>
                        <a:rPr sz="800" b="0">
                          <a:solidFill>
                            <a:srgbClr val="26301F"/>
                          </a:solidFill>
                          <a:latin typeface="Segoe UI"/>
                        </a:rPr>
                        <a:t>Contributions plus known debt service</a:t>
                      </a:r>
                    </a:p>
                  </a:txBody>
                  <a:tcPr marL="45720" marR="109728" marT="27432" marB="27432" anchor="ctr">
                    <a:lnB w="9525" cap="flat" cmpd="sng" algn="ctr">
                      <a:solidFill>
                        <a:srgbClr val="DCE3D6"/>
                      </a:solidFill>
                    </a:lnB>
                    <a:solidFill>
                      <a:srgbClr val="FFFFFF"/>
                    </a:solidFill>
                  </a:tcPr>
                </a:tc>
                <a:tc>
                  <a:txBody>
                    <a:bodyPr wrap="square"/>
                    <a:lstStyle/>
                    <a:p>
                      <a:r>
                        <a:rPr sz="800" b="0">
                          <a:solidFill>
                            <a:srgbClr val="26301F"/>
                          </a:solidFill>
                          <a:latin typeface="Segoe UI"/>
                        </a:rPr>
                        <a:t>40 per cent</a:t>
                      </a:r>
                    </a:p>
                  </a:txBody>
                  <a:tcPr marL="45720" marR="109728" marT="27432" marB="27432" anchor="ctr">
                    <a:lnB w="9525" cap="flat" cmpd="sng" algn="ctr">
                      <a:solidFill>
                        <a:srgbClr val="DCE3D6"/>
                      </a:solidFill>
                    </a:lnB>
                    <a:solidFill>
                      <a:srgbClr val="FFFFFF"/>
                    </a:solidFill>
                  </a:tcPr>
                </a:tc>
                <a:tc>
                  <a:txBody>
                    <a:bodyPr wrap="square"/>
                    <a:lstStyle/>
                    <a:p>
                      <a:r>
                        <a:rPr sz="800" b="0">
                          <a:solidFill>
                            <a:srgbClr val="26301F"/>
                          </a:solidFill>
                          <a:latin typeface="Segoe UI"/>
                        </a:rPr>
                        <a:t>Anchored to the State Bank's cap on the debt burden ratio for consumer financing, which was reduced from 50 per cent in 2021</a:t>
                      </a:r>
                    </a:p>
                  </a:txBody>
                  <a:tcPr marL="45720" marR="109728" marT="27432" marB="27432" anchor="ctr">
                    <a:lnB w="9525" cap="flat" cmpd="sng" algn="ctr">
                      <a:solidFill>
                        <a:srgbClr val="DCE3D6"/>
                      </a:solidFill>
                    </a:lnB>
                    <a:solidFill>
                      <a:srgbClr val="FFFFFF"/>
                    </a:solidFill>
                  </a:tcPr>
                </a:tc>
              </a:tr>
              <a:tr h="379742">
                <a:tc>
                  <a:txBody>
                    <a:bodyPr wrap="square"/>
                    <a:lstStyle/>
                    <a:p>
                      <a:r>
                        <a:rPr sz="800" b="0">
                          <a:solidFill>
                            <a:srgbClr val="26301F"/>
                          </a:solidFill>
                          <a:latin typeface="Segoe UI"/>
                        </a:rPr>
                        <a:t>Total forward exposure if every position were early</a:t>
                      </a:r>
                    </a:p>
                  </a:txBody>
                  <a:tcPr marL="45720" marR="109728" marT="27432" marB="27432" anchor="ctr">
                    <a:lnB w="9525" cap="flat" cmpd="sng" algn="ctr">
                      <a:solidFill>
                        <a:srgbClr val="DCE3D6"/>
                      </a:solidFill>
                    </a:lnB>
                    <a:solidFill>
                      <a:srgbClr val="FFFFFF"/>
                    </a:solidFill>
                  </a:tcPr>
                </a:tc>
                <a:tc>
                  <a:txBody>
                    <a:bodyPr wrap="square"/>
                    <a:lstStyle/>
                    <a:p>
                      <a:r>
                        <a:rPr sz="800" b="0">
                          <a:solidFill>
                            <a:srgbClr val="26301F"/>
                          </a:solidFill>
                          <a:latin typeface="Segoe UI"/>
                        </a:rPr>
                        <a:t>Four times monthly income</a:t>
                      </a:r>
                    </a:p>
                  </a:txBody>
                  <a:tcPr marL="45720" marR="109728" marT="27432" marB="27432" anchor="ctr">
                    <a:lnB w="9525" cap="flat" cmpd="sng" algn="ctr">
                      <a:solidFill>
                        <a:srgbClr val="DCE3D6"/>
                      </a:solidFill>
                    </a:lnB>
                    <a:solidFill>
                      <a:srgbClr val="FFFFFF"/>
                    </a:solidFill>
                  </a:tcPr>
                </a:tc>
                <a:tc>
                  <a:txBody>
                    <a:bodyPr wrap="square"/>
                    <a:lstStyle/>
                    <a:p>
                      <a:r>
                        <a:rPr sz="800" b="0">
                          <a:solidFill>
                            <a:srgbClr val="26301F"/>
                          </a:solidFill>
                          <a:latin typeface="Segoe UI"/>
                        </a:rPr>
                        <a:t>Stress test rather than an expected case</a:t>
                      </a:r>
                    </a:p>
                  </a:txBody>
                  <a:tcPr marL="45720" marR="109728" marT="27432" marB="27432" anchor="ctr">
                    <a:lnB w="9525" cap="flat" cmpd="sng" algn="ctr">
                      <a:solidFill>
                        <a:srgbClr val="DCE3D6"/>
                      </a:solidFill>
                    </a:lnB>
                    <a:solidFill>
                      <a:srgbClr val="FFFFFF"/>
                    </a:solidFill>
                  </a:tcPr>
                </a:tc>
              </a:tr>
              <a:tr h="379742">
                <a:tc>
                  <a:txBody>
                    <a:bodyPr wrap="square"/>
                    <a:lstStyle/>
                    <a:p>
                      <a:r>
                        <a:rPr sz="800" b="0">
                          <a:solidFill>
                            <a:srgbClr val="26301F"/>
                          </a:solidFill>
                          <a:latin typeface="Segoe UI"/>
                        </a:rPr>
                        <a:t>Concurrent circles, income not verified</a:t>
                      </a:r>
                    </a:p>
                  </a:txBody>
                  <a:tcPr marL="45720" marR="109728" marT="27432" marB="27432" anchor="ctr">
                    <a:lnB w="9525" cap="flat" cmpd="sng" algn="ctr">
                      <a:solidFill>
                        <a:srgbClr val="DCE3D6"/>
                      </a:solidFill>
                    </a:lnB>
                    <a:solidFill>
                      <a:srgbClr val="FFFFFF"/>
                    </a:solidFill>
                  </a:tcPr>
                </a:tc>
                <a:tc>
                  <a:txBody>
                    <a:bodyPr wrap="square"/>
                    <a:lstStyle/>
                    <a:p>
                      <a:r>
                        <a:rPr sz="800" b="0">
                          <a:solidFill>
                            <a:srgbClr val="26301F"/>
                          </a:solidFill>
                          <a:latin typeface="Segoe UI"/>
                        </a:rPr>
                        <a:t>One</a:t>
                      </a:r>
                    </a:p>
                  </a:txBody>
                  <a:tcPr marL="45720" marR="109728" marT="27432" marB="27432" anchor="ctr">
                    <a:lnB w="9525" cap="flat" cmpd="sng" algn="ctr">
                      <a:solidFill>
                        <a:srgbClr val="DCE3D6"/>
                      </a:solidFill>
                    </a:lnB>
                    <a:solidFill>
                      <a:srgbClr val="FFFFFF"/>
                    </a:solidFill>
                  </a:tcPr>
                </a:tc>
                <a:tc>
                  <a:txBody>
                    <a:bodyPr wrap="square"/>
                    <a:lstStyle/>
                    <a:p>
                      <a:r>
                        <a:rPr sz="800" b="0">
                          <a:solidFill>
                            <a:srgbClr val="26301F"/>
                          </a:solidFill>
                          <a:latin typeface="Segoe UI"/>
                        </a:rPr>
                        <a:t>The exposure to a member the platform has not observed</a:t>
                      </a:r>
                    </a:p>
                  </a:txBody>
                  <a:tcPr marL="45720" marR="109728" marT="27432" marB="27432" anchor="ctr">
                    <a:lnB w="9525" cap="flat" cmpd="sng" algn="ctr">
                      <a:solidFill>
                        <a:srgbClr val="DCE3D6"/>
                      </a:solidFill>
                    </a:lnB>
                    <a:solidFill>
                      <a:srgbClr val="FFFFFF"/>
                    </a:solidFill>
                  </a:tcPr>
                </a:tc>
              </a:tr>
              <a:tr h="379742">
                <a:tc>
                  <a:txBody>
                    <a:bodyPr wrap="square"/>
                    <a:lstStyle/>
                    <a:p>
                      <a:r>
                        <a:rPr sz="800" b="0">
                          <a:solidFill>
                            <a:srgbClr val="26301F"/>
                          </a:solidFill>
                          <a:latin typeface="Segoe UI"/>
                        </a:rPr>
                        <a:t>Concurrent circles, income verified</a:t>
                      </a:r>
                    </a:p>
                  </a:txBody>
                  <a:tcPr marL="45720" marR="109728" marT="27432" marB="27432" anchor="ctr">
                    <a:lnB w="9525" cap="flat" cmpd="sng" algn="ctr">
                      <a:solidFill>
                        <a:srgbClr val="DCE3D6"/>
                      </a:solidFill>
                    </a:lnB>
                    <a:solidFill>
                      <a:srgbClr val="FFFFFF"/>
                    </a:solidFill>
                  </a:tcPr>
                </a:tc>
                <a:tc>
                  <a:txBody>
                    <a:bodyPr wrap="square"/>
                    <a:lstStyle/>
                    <a:p>
                      <a:r>
                        <a:rPr sz="800" b="0">
                          <a:solidFill>
                            <a:srgbClr val="26301F"/>
                          </a:solidFill>
                          <a:latin typeface="Segoe UI"/>
                        </a:rPr>
                        <a:t>Four</a:t>
                      </a:r>
                    </a:p>
                  </a:txBody>
                  <a:tcPr marL="45720" marR="109728" marT="27432" marB="27432" anchor="ctr">
                    <a:lnB w="9525" cap="flat" cmpd="sng" algn="ctr">
                      <a:solidFill>
                        <a:srgbClr val="DCE3D6"/>
                      </a:solidFill>
                    </a:lnB>
                    <a:solidFill>
                      <a:srgbClr val="FFFFFF"/>
                    </a:solidFill>
                  </a:tcPr>
                </a:tc>
                <a:tc>
                  <a:txBody>
                    <a:bodyPr wrap="square"/>
                    <a:lstStyle/>
                    <a:p>
                      <a:r>
                        <a:rPr sz="800" b="0">
                          <a:solidFill>
                            <a:srgbClr val="26301F"/>
                          </a:solidFill>
                          <a:latin typeface="Segoe UI"/>
                        </a:rPr>
                        <a:t>Verification raises the count, never the money cap</a:t>
                      </a:r>
                    </a:p>
                  </a:txBody>
                  <a:tcPr marL="45720" marR="109728" marT="27432" marB="27432" anchor="ctr">
                    <a:lnB w="9525" cap="flat" cmpd="sng" algn="ctr">
                      <a:solidFill>
                        <a:srgbClr val="DCE3D6"/>
                      </a:solidFill>
                    </a:lnB>
                    <a:solidFill>
                      <a:srgbClr val="FFFFFF"/>
                    </a:solidFill>
                  </a:tcPr>
                </a:tc>
              </a:tr>
              <a:tr h="379742">
                <a:tc>
                  <a:txBody>
                    <a:bodyPr wrap="square"/>
                    <a:lstStyle/>
                    <a:p>
                      <a:r>
                        <a:rPr sz="800" b="0">
                          <a:solidFill>
                            <a:srgbClr val="26301F"/>
                          </a:solidFill>
                          <a:latin typeface="Segoe UI"/>
                        </a:rPr>
                        <a:t>Concurrent circles as a host, no completed circle</a:t>
                      </a:r>
                    </a:p>
                  </a:txBody>
                  <a:tcPr marL="45720" marR="109728" marT="27432" marB="27432" anchor="ctr">
                    <a:lnB w="9525" cap="flat" cmpd="sng" algn="ctr">
                      <a:solidFill>
                        <a:srgbClr val="DCE3D6"/>
                      </a:solidFill>
                    </a:lnB>
                    <a:solidFill>
                      <a:srgbClr val="FFFFFF"/>
                    </a:solidFill>
                  </a:tcPr>
                </a:tc>
                <a:tc>
                  <a:txBody>
                    <a:bodyPr wrap="square"/>
                    <a:lstStyle/>
                    <a:p>
                      <a:r>
                        <a:rPr sz="800" b="0">
                          <a:solidFill>
                            <a:srgbClr val="26301F"/>
                          </a:solidFill>
                          <a:latin typeface="Segoe UI"/>
                        </a:rPr>
                        <a:t>Two</a:t>
                      </a:r>
                    </a:p>
                  </a:txBody>
                  <a:tcPr marL="45720" marR="109728" marT="27432" marB="27432" anchor="ctr">
                    <a:lnB w="9525" cap="flat" cmpd="sng" algn="ctr">
                      <a:solidFill>
                        <a:srgbClr val="DCE3D6"/>
                      </a:solidFill>
                    </a:lnB>
                    <a:solidFill>
                      <a:srgbClr val="FFFFFF"/>
                    </a:solidFill>
                  </a:tcPr>
                </a:tc>
                <a:tc>
                  <a:txBody>
                    <a:bodyPr wrap="square"/>
                    <a:lstStyle/>
                    <a:p>
                      <a:r>
                        <a:rPr sz="800" b="0">
                          <a:solidFill>
                            <a:srgbClr val="26301F"/>
                          </a:solidFill>
                          <a:latin typeface="Segoe UI"/>
                        </a:rPr>
                        <a:t>This is the control against one person assembling an artificial network of circles, which is the mechanism behind every large committee fraud</a:t>
                      </a:r>
                    </a:p>
                  </a:txBody>
                  <a:tcPr marL="45720" marR="109728" marT="27432" marB="27432" anchor="ctr">
                    <a:lnB w="9525" cap="flat" cmpd="sng" algn="ctr">
                      <a:solidFill>
                        <a:srgbClr val="DCE3D6"/>
                      </a:solidFill>
                    </a:lnB>
                    <a:solidFill>
                      <a:srgbClr val="FFFFFF"/>
                    </a:solidFill>
                  </a:tcPr>
                </a:tc>
              </a:tr>
              <a:tr h="379742">
                <a:tc>
                  <a:txBody>
                    <a:bodyPr wrap="square"/>
                    <a:lstStyle/>
                    <a:p>
                      <a:r>
                        <a:rPr sz="800" b="0">
                          <a:solidFill>
                            <a:srgbClr val="26301F"/>
                          </a:solidFill>
                          <a:latin typeface="Segoe UI"/>
                        </a:rPr>
                        <a:t>Concurrent circles as a host, after five clean completions</a:t>
                      </a:r>
                    </a:p>
                  </a:txBody>
                  <a:tcPr marL="45720" marR="109728" marT="27432" marB="27432" anchor="ctr">
                    <a:lnB w="9525" cap="flat" cmpd="sng" algn="ctr">
                      <a:solidFill>
                        <a:srgbClr val="DCE3D6"/>
                      </a:solidFill>
                    </a:lnB>
                    <a:solidFill>
                      <a:srgbClr val="FFFFFF"/>
                    </a:solidFill>
                  </a:tcPr>
                </a:tc>
                <a:tc>
                  <a:txBody>
                    <a:bodyPr wrap="square"/>
                    <a:lstStyle/>
                    <a:p>
                      <a:r>
                        <a:rPr sz="800" b="0">
                          <a:solidFill>
                            <a:srgbClr val="26301F"/>
                          </a:solidFill>
                          <a:latin typeface="Segoe UI"/>
                        </a:rPr>
                        <a:t>Manual review</a:t>
                      </a:r>
                    </a:p>
                  </a:txBody>
                  <a:tcPr marL="45720" marR="109728" marT="27432" marB="27432" anchor="ctr">
                    <a:lnB w="9525" cap="flat" cmpd="sng" algn="ctr">
                      <a:solidFill>
                        <a:srgbClr val="DCE3D6"/>
                      </a:solidFill>
                    </a:lnB>
                    <a:solidFill>
                      <a:srgbClr val="FFFFFF"/>
                    </a:solidFill>
                  </a:tcPr>
                </a:tc>
                <a:tc>
                  <a:txBody>
                    <a:bodyPr wrap="square"/>
                    <a:lstStyle/>
                    <a:p>
                      <a:r>
                        <a:rPr sz="800" b="0">
                          <a:solidFill>
                            <a:srgbClr val="26301F"/>
                          </a:solidFill>
                          <a:latin typeface="Segoe UI"/>
                        </a:rPr>
                        <a:t>A human looks at anybody operating at that scale</a:t>
                      </a:r>
                    </a:p>
                  </a:txBody>
                  <a:tcPr marL="45720" marR="109728" marT="27432" marB="27432" anchor="ctr">
                    <a:lnB w="9525" cap="flat" cmpd="sng" algn="ctr">
                      <a:solidFill>
                        <a:srgbClr val="DCE3D6"/>
                      </a:solidFill>
                    </a:lnB>
                    <a:solidFill>
                      <a:srgbClr val="FFFFFF"/>
                    </a:solidFill>
                  </a:tcPr>
                </a:tc>
              </a:tr>
            </a:tbl>
          </a:graphicData>
        </a:graphic>
      </p:graphicFrame>
      <p:sp>
        <p:nvSpPr>
          <p:cNvPr id="9" name="TextBox 8"/>
          <p:cNvSpPr txBox="1"/>
          <p:nvPr/>
        </p:nvSpPr>
        <p:spPr>
          <a:xfrm>
            <a:off x="777240" y="5826856"/>
            <a:ext cx="10637215" cy="731520"/>
          </a:xfrm>
          <a:prstGeom prst="rect">
            <a:avLst/>
          </a:prstGeom>
          <a:noFill/>
        </p:spPr>
        <p:txBody>
          <a:bodyPr wrap="square" lIns="0" rIns="0" tIns="0" bIns="0">
            <a:spAutoFit/>
          </a:bodyPr>
          <a:lstStyle/>
          <a:p>
            <a:pPr algn="l">
              <a:lnSpc>
                <a:spcPct val="140000"/>
              </a:lnSpc>
            </a:pPr>
            <a:r>
              <a:rPr sz="1200" b="1" i="0">
                <a:solidFill>
                  <a:srgbClr val="0C1408"/>
                </a:solidFill>
                <a:latin typeface="Segoe UI"/>
              </a:rPr>
              <a:t>A good payment history unlocks more positions, more circles and less friction. It never raises the money cap. Only fresh evidence of income does that, because limits that escalate on good behaviour alone are what produce liquidity defaults.</a:t>
            </a:r>
          </a:p>
        </p:txBody>
      </p:sp>
    </p:spTree>
  </p:cSld>
  <p:clrMapOvr>
    <a:masterClrMapping/>
  </p:clrMapOvr>
</p:sld>
</file>

<file path=ppt/slides/slide2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777240" y="566928"/>
            <a:ext cx="10637215" cy="219456"/>
          </a:xfrm>
          <a:prstGeom prst="rect">
            <a:avLst/>
          </a:prstGeom>
          <a:noFill/>
        </p:spPr>
        <p:txBody>
          <a:bodyPr wrap="square" lIns="0" rIns="0" tIns="0" bIns="0">
            <a:spAutoFit/>
          </a:bodyPr>
          <a:lstStyle/>
          <a:p>
            <a:pPr algn="l">
              <a:lnSpc>
                <a:spcPct val="125000"/>
              </a:lnSpc>
            </a:pPr>
            <a:r>
              <a:rPr sz="950" b="1" i="0">
                <a:solidFill>
                  <a:srgbClr val="41801A"/>
                </a:solidFill>
                <a:latin typeface="Segoe UI"/>
              </a:rPr>
              <a:t>2  GETTING IN</a:t>
            </a:r>
          </a:p>
        </p:txBody>
      </p:sp>
      <p:sp>
        <p:nvSpPr>
          <p:cNvPr id="3" name="TextBox 2"/>
          <p:cNvSpPr txBox="1"/>
          <p:nvPr/>
        </p:nvSpPr>
        <p:spPr>
          <a:xfrm>
            <a:off x="777240" y="841248"/>
            <a:ext cx="10637215" cy="502920"/>
          </a:xfrm>
          <a:prstGeom prst="rect">
            <a:avLst/>
          </a:prstGeom>
          <a:noFill/>
        </p:spPr>
        <p:txBody>
          <a:bodyPr wrap="square" lIns="0" rIns="0" tIns="0" bIns="0">
            <a:spAutoFit/>
          </a:bodyPr>
          <a:lstStyle/>
          <a:p>
            <a:pPr algn="l">
              <a:lnSpc>
                <a:spcPct val="125000"/>
              </a:lnSpc>
            </a:pPr>
            <a:r>
              <a:rPr sz="2700" b="1" i="0">
                <a:solidFill>
                  <a:srgbClr val="0C1408"/>
                </a:solidFill>
                <a:latin typeface="Segoe UI"/>
              </a:rPr>
              <a:t>Proving income, and what must be uploaded</a:t>
            </a:r>
          </a:p>
        </p:txBody>
      </p:sp>
      <p:sp>
        <p:nvSpPr>
          <p:cNvPr id="4" name="Rectangle 3"/>
          <p:cNvSpPr/>
          <p:nvPr/>
        </p:nvSpPr>
        <p:spPr>
          <a:xfrm>
            <a:off x="777240" y="1417320"/>
            <a:ext cx="1371600" cy="22860"/>
          </a:xfrm>
          <a:prstGeom prst="rect">
            <a:avLst/>
          </a:prstGeom>
          <a:solidFill>
            <a:srgbClr val="6DC72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777240" y="6382512"/>
            <a:ext cx="3657600" cy="228600"/>
          </a:xfrm>
          <a:prstGeom prst="rect">
            <a:avLst/>
          </a:prstGeom>
          <a:noFill/>
        </p:spPr>
        <p:txBody>
          <a:bodyPr wrap="square" lIns="0" rIns="0" tIns="0" bIns="0">
            <a:spAutoFit/>
          </a:bodyPr>
          <a:lstStyle/>
          <a:p>
            <a:pPr algn="l">
              <a:lnSpc>
                <a:spcPct val="125000"/>
              </a:lnSpc>
            </a:pPr>
            <a:r>
              <a:rPr sz="900" b="0" i="0">
                <a:solidFill>
                  <a:srgbClr val="9AA694"/>
                </a:solidFill>
                <a:latin typeface="Segoe UI"/>
              </a:rPr>
              <a:t>Halqa  ·  Confidential</a:t>
            </a:r>
          </a:p>
        </p:txBody>
      </p:sp>
      <p:sp>
        <p:nvSpPr>
          <p:cNvPr id="6" name="TextBox 5"/>
          <p:cNvSpPr txBox="1"/>
          <p:nvPr/>
        </p:nvSpPr>
        <p:spPr>
          <a:xfrm>
            <a:off x="10728655" y="6382512"/>
            <a:ext cx="685800" cy="228600"/>
          </a:xfrm>
          <a:prstGeom prst="rect">
            <a:avLst/>
          </a:prstGeom>
          <a:noFill/>
        </p:spPr>
        <p:txBody>
          <a:bodyPr wrap="square" lIns="0" rIns="0" tIns="0" bIns="0">
            <a:spAutoFit/>
          </a:bodyPr>
          <a:lstStyle/>
          <a:p>
            <a:pPr algn="r">
              <a:lnSpc>
                <a:spcPct val="125000"/>
              </a:lnSpc>
            </a:pPr>
            <a:r>
              <a:rPr sz="900" b="0" i="0">
                <a:solidFill>
                  <a:srgbClr val="6F7B68"/>
                </a:solidFill>
                <a:latin typeface="Segoe UI"/>
              </a:rPr>
              <a:t>21</a:t>
            </a:r>
          </a:p>
        </p:txBody>
      </p:sp>
      <p:sp>
        <p:nvSpPr>
          <p:cNvPr id="7" name="TextBox 6"/>
          <p:cNvSpPr txBox="1"/>
          <p:nvPr/>
        </p:nvSpPr>
        <p:spPr>
          <a:xfrm>
            <a:off x="777240" y="1965960"/>
            <a:ext cx="10607040" cy="548640"/>
          </a:xfrm>
          <a:prstGeom prst="rect">
            <a:avLst/>
          </a:prstGeom>
          <a:noFill/>
        </p:spPr>
        <p:txBody>
          <a:bodyPr wrap="square" lIns="0" rIns="0" tIns="0" bIns="0">
            <a:spAutoFit/>
          </a:bodyPr>
          <a:lstStyle/>
          <a:p>
            <a:pPr algn="l">
              <a:lnSpc>
                <a:spcPct val="145000"/>
              </a:lnSpc>
            </a:pPr>
            <a:r>
              <a:rPr sz="1350" b="0" i="0">
                <a:solidFill>
                  <a:srgbClr val="26301F"/>
                </a:solidFill>
                <a:latin typeface="Segoe UI"/>
              </a:rPr>
              <a:t>Pakistan has no open banking regime and Halqa has no bank partner, so income is established from evidence the platform legitimately owns. Four routes, and a member needs only one.</a:t>
            </a:r>
          </a:p>
        </p:txBody>
      </p:sp>
      <p:graphicFrame>
        <p:nvGraphicFramePr>
          <p:cNvPr id="8" name="Table 7"/>
          <p:cNvGraphicFramePr>
            <a:graphicFrameLocks noGrp="1"/>
          </p:cNvGraphicFramePr>
          <p:nvPr/>
        </p:nvGraphicFramePr>
        <p:xfrm>
          <a:off x="777240" y="2743200"/>
          <a:ext cx="10607040" cy="2855655"/>
        </p:xfrm>
        <a:graphic>
          <a:graphicData uri="http://schemas.openxmlformats.org/drawingml/2006/table">
            <a:tbl>
              <a:tblPr>
                <a:tableStyleId>{5C22544A-7EE6-4342-B048-85BDC9FD1C3A}</a:tableStyleId>
              </a:tblPr>
              <a:tblGrid>
                <a:gridCol w="2194560"/>
                <a:gridCol w="3108960"/>
                <a:gridCol w="3108960"/>
                <a:gridCol w="2194560"/>
              </a:tblGrid>
              <a:tr h="571131">
                <a:tc>
                  <a:txBody>
                    <a:bodyPr wrap="square"/>
                    <a:lstStyle/>
                    <a:p>
                      <a:r>
                        <a:rPr sz="700" b="1">
                          <a:solidFill>
                            <a:srgbClr val="41801A"/>
                          </a:solidFill>
                          <a:latin typeface="Segoe UI"/>
                        </a:rPr>
                        <a:t>ROUTE</a:t>
                      </a:r>
                    </a:p>
                  </a:txBody>
                  <a:tcPr marL="45720" marR="109728" marT="27432" marB="27432" anchor="ctr">
                    <a:lnB w="9525" cap="flat" cmpd="sng" algn="ctr">
                      <a:solidFill>
                        <a:srgbClr val="41801A"/>
                      </a:solidFill>
                    </a:lnB>
                    <a:solidFill>
                      <a:srgbClr val="FFFFFF"/>
                    </a:solidFill>
                  </a:tcPr>
                </a:tc>
                <a:tc>
                  <a:txBody>
                    <a:bodyPr wrap="square"/>
                    <a:lstStyle/>
                    <a:p>
                      <a:r>
                        <a:rPr sz="700" b="1">
                          <a:solidFill>
                            <a:srgbClr val="41801A"/>
                          </a:solidFill>
                          <a:latin typeface="Segoe UI"/>
                        </a:rPr>
                        <a:t>WHAT THE MEMBER PROVIDES</a:t>
                      </a:r>
                    </a:p>
                  </a:txBody>
                  <a:tcPr marL="45720" marR="109728" marT="27432" marB="27432" anchor="ctr">
                    <a:lnB w="9525" cap="flat" cmpd="sng" algn="ctr">
                      <a:solidFill>
                        <a:srgbClr val="41801A"/>
                      </a:solidFill>
                    </a:lnB>
                    <a:solidFill>
                      <a:srgbClr val="FFFFFF"/>
                    </a:solidFill>
                  </a:tcPr>
                </a:tc>
                <a:tc>
                  <a:txBody>
                    <a:bodyPr wrap="square"/>
                    <a:lstStyle/>
                    <a:p>
                      <a:r>
                        <a:rPr sz="700" b="1">
                          <a:solidFill>
                            <a:srgbClr val="41801A"/>
                          </a:solidFill>
                          <a:latin typeface="Segoe UI"/>
                        </a:rPr>
                        <a:t>WHAT IT ESTABLISHES</a:t>
                      </a:r>
                    </a:p>
                  </a:txBody>
                  <a:tcPr marL="45720" marR="109728" marT="27432" marB="27432" anchor="ctr">
                    <a:lnB w="9525" cap="flat" cmpd="sng" algn="ctr">
                      <a:solidFill>
                        <a:srgbClr val="41801A"/>
                      </a:solidFill>
                    </a:lnB>
                    <a:solidFill>
                      <a:srgbClr val="FFFFFF"/>
                    </a:solidFill>
                  </a:tcPr>
                </a:tc>
                <a:tc>
                  <a:txBody>
                    <a:bodyPr wrap="square"/>
                    <a:lstStyle/>
                    <a:p>
                      <a:r>
                        <a:rPr sz="700" b="1">
                          <a:solidFill>
                            <a:srgbClr val="41801A"/>
                          </a:solidFill>
                          <a:latin typeface="Segoe UI"/>
                        </a:rPr>
                        <a:t>STRENGTH</a:t>
                      </a:r>
                    </a:p>
                  </a:txBody>
                  <a:tcPr marL="45720" marR="109728" marT="27432" marB="27432" anchor="ctr">
                    <a:lnB w="9525" cap="flat" cmpd="sng" algn="ctr">
                      <a:solidFill>
                        <a:srgbClr val="41801A"/>
                      </a:solidFill>
                    </a:lnB>
                    <a:solidFill>
                      <a:srgbClr val="FFFFFF"/>
                    </a:solidFill>
                  </a:tcPr>
                </a:tc>
              </a:tr>
              <a:tr h="571131">
                <a:tc>
                  <a:txBody>
                    <a:bodyPr wrap="square"/>
                    <a:lstStyle/>
                    <a:p>
                      <a:r>
                        <a:rPr sz="700" b="0">
                          <a:solidFill>
                            <a:srgbClr val="26301F"/>
                          </a:solidFill>
                          <a:latin typeface="Segoe UI"/>
                        </a:rPr>
                        <a:t>Salary slip</a:t>
                      </a:r>
                    </a:p>
                  </a:txBody>
                  <a:tcPr marL="45720" marR="109728" marT="27432" marB="27432" anchor="ctr">
                    <a:lnB w="9525" cap="flat" cmpd="sng" algn="ctr">
                      <a:solidFill>
                        <a:srgbClr val="DCE3D6"/>
                      </a:solidFill>
                    </a:lnB>
                    <a:solidFill>
                      <a:srgbClr val="FFFFFF"/>
                    </a:solidFill>
                  </a:tcPr>
                </a:tc>
                <a:tc>
                  <a:txBody>
                    <a:bodyPr wrap="square"/>
                    <a:lstStyle/>
                    <a:p>
                      <a:r>
                        <a:rPr sz="700" b="0">
                          <a:solidFill>
                            <a:srgbClr val="26301F"/>
                          </a:solidFill>
                          <a:latin typeface="Segoe UI"/>
                        </a:rPr>
                        <a:t>One photograph of a recent payslip, reduced on the device before it is uploaded</a:t>
                      </a:r>
                    </a:p>
                  </a:txBody>
                  <a:tcPr marL="45720" marR="109728" marT="27432" marB="27432" anchor="ctr">
                    <a:lnB w="9525" cap="flat" cmpd="sng" algn="ctr">
                      <a:solidFill>
                        <a:srgbClr val="DCE3D6"/>
                      </a:solidFill>
                    </a:lnB>
                    <a:solidFill>
                      <a:srgbClr val="FFFFFF"/>
                    </a:solidFill>
                  </a:tcPr>
                </a:tc>
                <a:tc>
                  <a:txBody>
                    <a:bodyPr wrap="square"/>
                    <a:lstStyle/>
                    <a:p>
                      <a:r>
                        <a:rPr sz="700" b="0">
                          <a:solidFill>
                            <a:srgbClr val="26301F"/>
                          </a:solidFill>
                          <a:latin typeface="Segoe UI"/>
                        </a:rPr>
                        <a:t>Employer, amount and pay date on day one</a:t>
                      </a:r>
                    </a:p>
                  </a:txBody>
                  <a:tcPr marL="45720" marR="109728" marT="27432" marB="27432" anchor="ctr">
                    <a:lnB w="9525" cap="flat" cmpd="sng" algn="ctr">
                      <a:solidFill>
                        <a:srgbClr val="DCE3D6"/>
                      </a:solidFill>
                    </a:lnB>
                    <a:solidFill>
                      <a:srgbClr val="FFFFFF"/>
                    </a:solidFill>
                  </a:tcPr>
                </a:tc>
                <a:tc>
                  <a:txBody>
                    <a:bodyPr wrap="square"/>
                    <a:lstStyle/>
                    <a:p>
                      <a:r>
                        <a:rPr sz="700" b="0">
                          <a:solidFill>
                            <a:srgbClr val="26301F"/>
                          </a:solidFill>
                          <a:latin typeface="Segoe UI"/>
                        </a:rPr>
                        <a:t>Documentary. Immediate</a:t>
                      </a:r>
                    </a:p>
                  </a:txBody>
                  <a:tcPr marL="45720" marR="109728" marT="27432" marB="27432" anchor="ctr">
                    <a:lnB w="9525" cap="flat" cmpd="sng" algn="ctr">
                      <a:solidFill>
                        <a:srgbClr val="DCE3D6"/>
                      </a:solidFill>
                    </a:lnB>
                    <a:solidFill>
                      <a:srgbClr val="FFFFFF"/>
                    </a:solidFill>
                  </a:tcPr>
                </a:tc>
              </a:tr>
              <a:tr h="571131">
                <a:tc>
                  <a:txBody>
                    <a:bodyPr wrap="square"/>
                    <a:lstStyle/>
                    <a:p>
                      <a:r>
                        <a:rPr sz="700" b="0">
                          <a:solidFill>
                            <a:srgbClr val="26301F"/>
                          </a:solidFill>
                          <a:latin typeface="Segoe UI"/>
                        </a:rPr>
                        <a:t>The platform's own collection record</a:t>
                      </a:r>
                    </a:p>
                  </a:txBody>
                  <a:tcPr marL="45720" marR="109728" marT="27432" marB="27432" anchor="ctr">
                    <a:lnB w="9525" cap="flat" cmpd="sng" algn="ctr">
                      <a:solidFill>
                        <a:srgbClr val="DCE3D6"/>
                      </a:solidFill>
                    </a:lnB>
                    <a:solidFill>
                      <a:srgbClr val="FFFFFF"/>
                    </a:solidFill>
                  </a:tcPr>
                </a:tc>
                <a:tc>
                  <a:txBody>
                    <a:bodyPr wrap="square"/>
                    <a:lstStyle/>
                    <a:p>
                      <a:r>
                        <a:rPr sz="700" b="0">
                          <a:solidFill>
                            <a:srgbClr val="26301F"/>
                          </a:solidFill>
                          <a:latin typeface="Segoe UI"/>
                        </a:rPr>
                        <a:t>Nothing at all</a:t>
                      </a:r>
                    </a:p>
                  </a:txBody>
                  <a:tcPr marL="45720" marR="109728" marT="27432" marB="27432" anchor="ctr">
                    <a:lnB w="9525" cap="flat" cmpd="sng" algn="ctr">
                      <a:solidFill>
                        <a:srgbClr val="DCE3D6"/>
                      </a:solidFill>
                    </a:lnB>
                    <a:solidFill>
                      <a:srgbClr val="FFFFFF"/>
                    </a:solidFill>
                  </a:tcPr>
                </a:tc>
                <a:tc>
                  <a:txBody>
                    <a:bodyPr wrap="square"/>
                    <a:lstStyle/>
                    <a:p>
                      <a:r>
                        <a:rPr sz="700" b="0">
                          <a:solidFill>
                            <a:srgbClr val="26301F"/>
                          </a:solidFill>
                          <a:latin typeface="Segoe UI"/>
                        </a:rPr>
                        <a:t>Every collection attempt is logged against a calendar day. The first success each month marks a day money was provably present. Two consistent months establish the pay day</a:t>
                      </a:r>
                    </a:p>
                  </a:txBody>
                  <a:tcPr marL="45720" marR="109728" marT="27432" marB="27432" anchor="ctr">
                    <a:lnB w="9525" cap="flat" cmpd="sng" algn="ctr">
                      <a:solidFill>
                        <a:srgbClr val="DCE3D6"/>
                      </a:solidFill>
                    </a:lnB>
                    <a:solidFill>
                      <a:srgbClr val="FFFFFF"/>
                    </a:solidFill>
                  </a:tcPr>
                </a:tc>
                <a:tc>
                  <a:txBody>
                    <a:bodyPr wrap="square"/>
                    <a:lstStyle/>
                    <a:p>
                      <a:r>
                        <a:rPr sz="700" b="0">
                          <a:solidFill>
                            <a:srgbClr val="26301F"/>
                          </a:solidFill>
                          <a:latin typeface="Segoe UI"/>
                        </a:rPr>
                        <a:t>The strongest of the four, and it costs nothing. If a member declares the wrong day, the retry ladder finds the right one</a:t>
                      </a:r>
                    </a:p>
                  </a:txBody>
                  <a:tcPr marL="45720" marR="109728" marT="27432" marB="27432" anchor="ctr">
                    <a:lnB w="9525" cap="flat" cmpd="sng" algn="ctr">
                      <a:solidFill>
                        <a:srgbClr val="DCE3D6"/>
                      </a:solidFill>
                    </a:lnB>
                    <a:solidFill>
                      <a:srgbClr val="FFFFFF"/>
                    </a:solidFill>
                  </a:tcPr>
                </a:tc>
              </a:tr>
              <a:tr h="571131">
                <a:tc>
                  <a:txBody>
                    <a:bodyPr wrap="square"/>
                    <a:lstStyle/>
                    <a:p>
                      <a:r>
                        <a:rPr sz="700" b="0">
                          <a:solidFill>
                            <a:srgbClr val="26301F"/>
                          </a:solidFill>
                          <a:latin typeface="Segoe UI"/>
                        </a:rPr>
                        <a:t>Credit alert reading</a:t>
                      </a:r>
                    </a:p>
                  </a:txBody>
                  <a:tcPr marL="45720" marR="109728" marT="27432" marB="27432" anchor="ctr">
                    <a:lnB w="9525" cap="flat" cmpd="sng" algn="ctr">
                      <a:solidFill>
                        <a:srgbClr val="DCE3D6"/>
                      </a:solidFill>
                    </a:lnB>
                    <a:solidFill>
                      <a:srgbClr val="FFFFFF"/>
                    </a:solidFill>
                  </a:tcPr>
                </a:tc>
                <a:tc>
                  <a:txBody>
                    <a:bodyPr wrap="square"/>
                    <a:lstStyle/>
                    <a:p>
                      <a:r>
                        <a:rPr sz="700" b="0">
                          <a:solidFill>
                            <a:srgbClr val="26301F"/>
                          </a:solidFill>
                          <a:latin typeface="Segoe UI"/>
                        </a:rPr>
                        <a:t>Optional, member enabled. Three fields leave the handset: a day, a coarse amount band, and a source class</a:t>
                      </a:r>
                    </a:p>
                  </a:txBody>
                  <a:tcPr marL="45720" marR="109728" marT="27432" marB="27432" anchor="ctr">
                    <a:lnB w="9525" cap="flat" cmpd="sng" algn="ctr">
                      <a:solidFill>
                        <a:srgbClr val="DCE3D6"/>
                      </a:solidFill>
                    </a:lnB>
                    <a:solidFill>
                      <a:srgbClr val="FFFFFF"/>
                    </a:solidFill>
                  </a:tcPr>
                </a:tc>
                <a:tc>
                  <a:txBody>
                    <a:bodyPr wrap="square"/>
                    <a:lstStyle/>
                    <a:p>
                      <a:r>
                        <a:rPr sz="700" b="0">
                          <a:solidFill>
                            <a:srgbClr val="26301F"/>
                          </a:solidFill>
                          <a:latin typeface="Segoe UI"/>
                        </a:rPr>
                        <a:t>Two consistent months verify the pattern</a:t>
                      </a:r>
                    </a:p>
                  </a:txBody>
                  <a:tcPr marL="45720" marR="109728" marT="27432" marB="27432" anchor="ctr">
                    <a:lnB w="9525" cap="flat" cmpd="sng" algn="ctr">
                      <a:solidFill>
                        <a:srgbClr val="DCE3D6"/>
                      </a:solidFill>
                    </a:lnB>
                    <a:solidFill>
                      <a:srgbClr val="FFFFFF"/>
                    </a:solidFill>
                  </a:tcPr>
                </a:tc>
                <a:tc>
                  <a:txBody>
                    <a:bodyPr wrap="square"/>
                    <a:lstStyle/>
                    <a:p>
                      <a:r>
                        <a:rPr sz="700" b="0">
                          <a:solidFill>
                            <a:srgbClr val="26301F"/>
                          </a:solidFill>
                          <a:latin typeface="Segoe UI"/>
                        </a:rPr>
                        <a:t>Strong, but optional and narrow by design</a:t>
                      </a:r>
                    </a:p>
                  </a:txBody>
                  <a:tcPr marL="45720" marR="109728" marT="27432" marB="27432" anchor="ctr">
                    <a:lnB w="9525" cap="flat" cmpd="sng" algn="ctr">
                      <a:solidFill>
                        <a:srgbClr val="DCE3D6"/>
                      </a:solidFill>
                    </a:lnB>
                    <a:solidFill>
                      <a:srgbClr val="FFFFFF"/>
                    </a:solidFill>
                  </a:tcPr>
                </a:tc>
              </a:tr>
              <a:tr h="571131">
                <a:tc>
                  <a:txBody>
                    <a:bodyPr wrap="square"/>
                    <a:lstStyle/>
                    <a:p>
                      <a:r>
                        <a:rPr sz="700" b="0">
                          <a:solidFill>
                            <a:srgbClr val="26301F"/>
                          </a:solidFill>
                          <a:latin typeface="Segoe UI"/>
                        </a:rPr>
                        <a:t>Account title and history</a:t>
                      </a:r>
                    </a:p>
                  </a:txBody>
                  <a:tcPr marL="45720" marR="109728" marT="27432" marB="27432" anchor="ctr">
                    <a:lnB w="9525" cap="flat" cmpd="sng" algn="ctr">
                      <a:solidFill>
                        <a:srgbClr val="DCE3D6"/>
                      </a:solidFill>
                    </a:lnB>
                    <a:solidFill>
                      <a:srgbClr val="FFFFFF"/>
                    </a:solidFill>
                  </a:tcPr>
                </a:tc>
                <a:tc>
                  <a:txBody>
                    <a:bodyPr wrap="square"/>
                    <a:lstStyle/>
                    <a:p>
                      <a:r>
                        <a:rPr sz="700" b="0">
                          <a:solidFill>
                            <a:srgbClr val="26301F"/>
                          </a:solidFill>
                          <a:latin typeface="Segoe UI"/>
                        </a:rPr>
                        <a:t>Handled at linking</a:t>
                      </a:r>
                    </a:p>
                  </a:txBody>
                  <a:tcPr marL="45720" marR="109728" marT="27432" marB="27432" anchor="ctr">
                    <a:lnB w="9525" cap="flat" cmpd="sng" algn="ctr">
                      <a:solidFill>
                        <a:srgbClr val="DCE3D6"/>
                      </a:solidFill>
                    </a:lnB>
                    <a:solidFill>
                      <a:srgbClr val="FFFFFF"/>
                    </a:solidFill>
                  </a:tcPr>
                </a:tc>
                <a:tc>
                  <a:txBody>
                    <a:bodyPr wrap="square"/>
                    <a:lstStyle/>
                    <a:p>
                      <a:r>
                        <a:rPr sz="700" b="0">
                          <a:solidFill>
                            <a:srgbClr val="26301F"/>
                          </a:solidFill>
                          <a:latin typeface="Segoe UI"/>
                        </a:rPr>
                        <a:t>That the account belongs to the member</a:t>
                      </a:r>
                    </a:p>
                  </a:txBody>
                  <a:tcPr marL="45720" marR="109728" marT="27432" marB="27432" anchor="ctr">
                    <a:lnB w="9525" cap="flat" cmpd="sng" algn="ctr">
                      <a:solidFill>
                        <a:srgbClr val="DCE3D6"/>
                      </a:solidFill>
                    </a:lnB>
                    <a:solidFill>
                      <a:srgbClr val="FFFFFF"/>
                    </a:solidFill>
                  </a:tcPr>
                </a:tc>
                <a:tc>
                  <a:txBody>
                    <a:bodyPr wrap="square"/>
                    <a:lstStyle/>
                    <a:p>
                      <a:r>
                        <a:rPr sz="700" b="0">
                          <a:solidFill>
                            <a:srgbClr val="26301F"/>
                          </a:solidFill>
                          <a:latin typeface="Segoe UI"/>
                        </a:rPr>
                        <a:t>Supporting only</a:t>
                      </a:r>
                    </a:p>
                  </a:txBody>
                  <a:tcPr marL="45720" marR="109728" marT="27432" marB="27432" anchor="ctr">
                    <a:lnB w="9525" cap="flat" cmpd="sng" algn="ctr">
                      <a:solidFill>
                        <a:srgbClr val="DCE3D6"/>
                      </a:solidFill>
                    </a:lnB>
                    <a:solidFill>
                      <a:srgbClr val="FFFFFF"/>
                    </a:solidFill>
                  </a:tcPr>
                </a:tc>
              </a:tr>
            </a:tbl>
          </a:graphicData>
        </a:graphic>
      </p:graphicFrame>
      <p:sp>
        <p:nvSpPr>
          <p:cNvPr id="9" name="TextBox 8"/>
          <p:cNvSpPr txBox="1"/>
          <p:nvPr/>
        </p:nvSpPr>
        <p:spPr>
          <a:xfrm>
            <a:off x="777240" y="5781735"/>
            <a:ext cx="10637215" cy="731520"/>
          </a:xfrm>
          <a:prstGeom prst="rect">
            <a:avLst/>
          </a:prstGeom>
          <a:noFill/>
        </p:spPr>
        <p:txBody>
          <a:bodyPr wrap="square" lIns="0" rIns="0" tIns="0" bIns="0">
            <a:spAutoFit/>
          </a:bodyPr>
          <a:lstStyle/>
          <a:p>
            <a:pPr algn="l">
              <a:lnSpc>
                <a:spcPct val="140000"/>
              </a:lnSpc>
            </a:pPr>
            <a:r>
              <a:rPr sz="1200" b="0" i="0">
                <a:solidFill>
                  <a:srgbClr val="6F7B68"/>
                </a:solidFill>
                <a:latin typeface="Segoe UI"/>
              </a:rPr>
              <a:t>A false declaration does not block anybody. It clears the verification, removes the fee discount, and records a small score event with its reason attached, once per window so the same mistake is never punished twice.</a:t>
            </a:r>
          </a:p>
        </p:txBody>
      </p:sp>
    </p:spTree>
  </p:cSld>
  <p:clrMapOvr>
    <a:masterClrMapping/>
  </p:clrMapOvr>
</p:sld>
</file>

<file path=ppt/slides/slide2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777240" y="566928"/>
            <a:ext cx="10637215" cy="219456"/>
          </a:xfrm>
          <a:prstGeom prst="rect">
            <a:avLst/>
          </a:prstGeom>
          <a:noFill/>
        </p:spPr>
        <p:txBody>
          <a:bodyPr wrap="square" lIns="0" rIns="0" tIns="0" bIns="0">
            <a:spAutoFit/>
          </a:bodyPr>
          <a:lstStyle/>
          <a:p>
            <a:pPr algn="l">
              <a:lnSpc>
                <a:spcPct val="125000"/>
              </a:lnSpc>
            </a:pPr>
            <a:r>
              <a:rPr sz="950" b="1" i="0">
                <a:solidFill>
                  <a:srgbClr val="41801A"/>
                </a:solidFill>
                <a:latin typeface="Segoe UI"/>
              </a:rPr>
              <a:t>2  GETTING IN</a:t>
            </a:r>
          </a:p>
        </p:txBody>
      </p:sp>
      <p:sp>
        <p:nvSpPr>
          <p:cNvPr id="3" name="TextBox 2"/>
          <p:cNvSpPr txBox="1"/>
          <p:nvPr/>
        </p:nvSpPr>
        <p:spPr>
          <a:xfrm>
            <a:off x="777240" y="841248"/>
            <a:ext cx="10637215" cy="502920"/>
          </a:xfrm>
          <a:prstGeom prst="rect">
            <a:avLst/>
          </a:prstGeom>
          <a:noFill/>
        </p:spPr>
        <p:txBody>
          <a:bodyPr wrap="square" lIns="0" rIns="0" tIns="0" bIns="0">
            <a:spAutoFit/>
          </a:bodyPr>
          <a:lstStyle/>
          <a:p>
            <a:pPr algn="l">
              <a:lnSpc>
                <a:spcPct val="125000"/>
              </a:lnSpc>
            </a:pPr>
            <a:r>
              <a:rPr sz="2700" b="1" i="0">
                <a:solidFill>
                  <a:srgbClr val="0C1408"/>
                </a:solidFill>
                <a:latin typeface="Segoe UI"/>
              </a:rPr>
              <a:t>Daily earners, and the vault condition</a:t>
            </a:r>
          </a:p>
        </p:txBody>
      </p:sp>
      <p:sp>
        <p:nvSpPr>
          <p:cNvPr id="4" name="Rectangle 3"/>
          <p:cNvSpPr/>
          <p:nvPr/>
        </p:nvSpPr>
        <p:spPr>
          <a:xfrm>
            <a:off x="777240" y="1417320"/>
            <a:ext cx="1371600" cy="22860"/>
          </a:xfrm>
          <a:prstGeom prst="rect">
            <a:avLst/>
          </a:prstGeom>
          <a:solidFill>
            <a:srgbClr val="6DC72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777240" y="6382512"/>
            <a:ext cx="3657600" cy="228600"/>
          </a:xfrm>
          <a:prstGeom prst="rect">
            <a:avLst/>
          </a:prstGeom>
          <a:noFill/>
        </p:spPr>
        <p:txBody>
          <a:bodyPr wrap="square" lIns="0" rIns="0" tIns="0" bIns="0">
            <a:spAutoFit/>
          </a:bodyPr>
          <a:lstStyle/>
          <a:p>
            <a:pPr algn="l">
              <a:lnSpc>
                <a:spcPct val="125000"/>
              </a:lnSpc>
            </a:pPr>
            <a:r>
              <a:rPr sz="900" b="0" i="0">
                <a:solidFill>
                  <a:srgbClr val="9AA694"/>
                </a:solidFill>
                <a:latin typeface="Segoe UI"/>
              </a:rPr>
              <a:t>Halqa  ·  Confidential</a:t>
            </a:r>
          </a:p>
        </p:txBody>
      </p:sp>
      <p:sp>
        <p:nvSpPr>
          <p:cNvPr id="6" name="TextBox 5"/>
          <p:cNvSpPr txBox="1"/>
          <p:nvPr/>
        </p:nvSpPr>
        <p:spPr>
          <a:xfrm>
            <a:off x="10728655" y="6382512"/>
            <a:ext cx="685800" cy="228600"/>
          </a:xfrm>
          <a:prstGeom prst="rect">
            <a:avLst/>
          </a:prstGeom>
          <a:noFill/>
        </p:spPr>
        <p:txBody>
          <a:bodyPr wrap="square" lIns="0" rIns="0" tIns="0" bIns="0">
            <a:spAutoFit/>
          </a:bodyPr>
          <a:lstStyle/>
          <a:p>
            <a:pPr algn="r">
              <a:lnSpc>
                <a:spcPct val="125000"/>
              </a:lnSpc>
            </a:pPr>
            <a:r>
              <a:rPr sz="900" b="0" i="0">
                <a:solidFill>
                  <a:srgbClr val="6F7B68"/>
                </a:solidFill>
                <a:latin typeface="Segoe UI"/>
              </a:rPr>
              <a:t>22</a:t>
            </a:r>
          </a:p>
        </p:txBody>
      </p:sp>
      <p:sp>
        <p:nvSpPr>
          <p:cNvPr id="7" name="TextBox 6"/>
          <p:cNvSpPr txBox="1"/>
          <p:nvPr/>
        </p:nvSpPr>
        <p:spPr>
          <a:xfrm>
            <a:off x="777240" y="1965960"/>
            <a:ext cx="10607040" cy="914400"/>
          </a:xfrm>
          <a:prstGeom prst="rect">
            <a:avLst/>
          </a:prstGeom>
          <a:noFill/>
        </p:spPr>
        <p:txBody>
          <a:bodyPr wrap="square" lIns="0" rIns="0" tIns="0" bIns="0">
            <a:spAutoFit/>
          </a:bodyPr>
          <a:lstStyle/>
          <a:p>
            <a:pPr algn="l">
              <a:lnSpc>
                <a:spcPct val="145000"/>
              </a:lnSpc>
            </a:pPr>
            <a:r>
              <a:rPr sz="1350" b="0" i="0">
                <a:solidFill>
                  <a:srgbClr val="26301F"/>
                </a:solidFill>
                <a:latin typeface="Segoe UI"/>
              </a:rPr>
              <a:t>The daily committee is built for people paid daily, and that population is exactly the one a monthly product excludes. Admitting them safely needs a different test, because there is no payslip and no fixed pay date to verify against.</a:t>
            </a:r>
          </a:p>
        </p:txBody>
      </p:sp>
      <p:graphicFrame>
        <p:nvGraphicFramePr>
          <p:cNvPr id="8" name="Table 7"/>
          <p:cNvGraphicFramePr>
            <a:graphicFrameLocks noGrp="1"/>
          </p:cNvGraphicFramePr>
          <p:nvPr/>
        </p:nvGraphicFramePr>
        <p:xfrm>
          <a:off x="777240" y="3063240"/>
          <a:ext cx="10607040" cy="2617210"/>
        </p:xfrm>
        <a:graphic>
          <a:graphicData uri="http://schemas.openxmlformats.org/drawingml/2006/table">
            <a:tbl>
              <a:tblPr>
                <a:tableStyleId>{5C22544A-7EE6-4342-B048-85BDC9FD1C3A}</a:tableStyleId>
              </a:tblPr>
              <a:tblGrid>
                <a:gridCol w="2194560"/>
                <a:gridCol w="2651760"/>
                <a:gridCol w="5760720"/>
              </a:tblGrid>
              <a:tr h="523442">
                <a:tc>
                  <a:txBody>
                    <a:bodyPr wrap="square"/>
                    <a:lstStyle/>
                    <a:p>
                      <a:r>
                        <a:rPr sz="700" b="1">
                          <a:solidFill>
                            <a:srgbClr val="41801A"/>
                          </a:solidFill>
                          <a:latin typeface="Segoe UI"/>
                        </a:rPr>
                        <a:t>ROUTE IN</a:t>
                      </a:r>
                    </a:p>
                  </a:txBody>
                  <a:tcPr marL="45720" marR="109728" marT="27432" marB="27432" anchor="ctr">
                    <a:lnB w="9525" cap="flat" cmpd="sng" algn="ctr">
                      <a:solidFill>
                        <a:srgbClr val="41801A"/>
                      </a:solidFill>
                    </a:lnB>
                    <a:solidFill>
                      <a:srgbClr val="FFFFFF"/>
                    </a:solidFill>
                  </a:tcPr>
                </a:tc>
                <a:tc>
                  <a:txBody>
                    <a:bodyPr wrap="square"/>
                    <a:lstStyle/>
                    <a:p>
                      <a:r>
                        <a:rPr sz="700" b="1">
                          <a:solidFill>
                            <a:srgbClr val="41801A"/>
                          </a:solidFill>
                          <a:latin typeface="Segoe UI"/>
                        </a:rPr>
                        <a:t>WHAT IS REQUIRED</a:t>
                      </a:r>
                    </a:p>
                  </a:txBody>
                  <a:tcPr marL="45720" marR="109728" marT="27432" marB="27432" anchor="ctr">
                    <a:lnB w="9525" cap="flat" cmpd="sng" algn="ctr">
                      <a:solidFill>
                        <a:srgbClr val="41801A"/>
                      </a:solidFill>
                    </a:lnB>
                    <a:solidFill>
                      <a:srgbClr val="FFFFFF"/>
                    </a:solidFill>
                  </a:tcPr>
                </a:tc>
                <a:tc>
                  <a:txBody>
                    <a:bodyPr wrap="square"/>
                    <a:lstStyle/>
                    <a:p>
                      <a:r>
                        <a:rPr sz="700" b="1">
                          <a:solidFill>
                            <a:srgbClr val="41801A"/>
                          </a:solidFill>
                          <a:latin typeface="Segoe UI"/>
                        </a:rPr>
                        <a:t>HOW IT IS CHECKED</a:t>
                      </a:r>
                    </a:p>
                  </a:txBody>
                  <a:tcPr marL="45720" marR="109728" marT="27432" marB="27432" anchor="ctr">
                    <a:lnB w="9525" cap="flat" cmpd="sng" algn="ctr">
                      <a:solidFill>
                        <a:srgbClr val="41801A"/>
                      </a:solidFill>
                    </a:lnB>
                    <a:solidFill>
                      <a:srgbClr val="FFFFFF"/>
                    </a:solidFill>
                  </a:tcPr>
                </a:tc>
              </a:tr>
              <a:tr h="523442">
                <a:tc>
                  <a:txBody>
                    <a:bodyPr wrap="square"/>
                    <a:lstStyle/>
                    <a:p>
                      <a:r>
                        <a:rPr sz="700" b="0">
                          <a:solidFill>
                            <a:srgbClr val="26301F"/>
                          </a:solidFill>
                          <a:latin typeface="Segoe UI"/>
                        </a:rPr>
                        <a:t>Proof of daily earning</a:t>
                      </a:r>
                    </a:p>
                  </a:txBody>
                  <a:tcPr marL="45720" marR="109728" marT="27432" marB="27432" anchor="ctr">
                    <a:lnB w="9525" cap="flat" cmpd="sng" algn="ctr">
                      <a:solidFill>
                        <a:srgbClr val="DCE3D6"/>
                      </a:solidFill>
                    </a:lnB>
                    <a:solidFill>
                      <a:srgbClr val="FFFFFF"/>
                    </a:solidFill>
                  </a:tcPr>
                </a:tc>
                <a:tc>
                  <a:txBody>
                    <a:bodyPr wrap="square"/>
                    <a:lstStyle/>
                    <a:p>
                      <a:r>
                        <a:rPr sz="700" b="0">
                          <a:solidFill>
                            <a:srgbClr val="26301F"/>
                          </a:solidFill>
                          <a:latin typeface="Segoe UI"/>
                        </a:rPr>
                        <a:t>Two months of demonstrated daily income</a:t>
                      </a:r>
                    </a:p>
                  </a:txBody>
                  <a:tcPr marL="45720" marR="109728" marT="27432" marB="27432" anchor="ctr">
                    <a:lnB w="9525" cap="flat" cmpd="sng" algn="ctr">
                      <a:solidFill>
                        <a:srgbClr val="DCE3D6"/>
                      </a:solidFill>
                    </a:lnB>
                    <a:solidFill>
                      <a:srgbClr val="FFFFFF"/>
                    </a:solidFill>
                  </a:tcPr>
                </a:tc>
                <a:tc>
                  <a:txBody>
                    <a:bodyPr wrap="square"/>
                    <a:lstStyle/>
                    <a:p>
                      <a:r>
                        <a:rPr sz="700" b="0">
                          <a:solidFill>
                            <a:srgbClr val="26301F"/>
                          </a:solidFill>
                          <a:latin typeface="Segoe UI"/>
                        </a:rPr>
                        <a:t>One of: a ride hailing or delivery platform account showing daily earnings history, a photographed trading licence or shop registration with two months of daily takings recorded in the app, or two months of the platform's own collection record showing money present most days</a:t>
                      </a:r>
                    </a:p>
                  </a:txBody>
                  <a:tcPr marL="45720" marR="109728" marT="27432" marB="27432" anchor="ctr">
                    <a:lnB w="9525" cap="flat" cmpd="sng" algn="ctr">
                      <a:solidFill>
                        <a:srgbClr val="DCE3D6"/>
                      </a:solidFill>
                    </a:lnB>
                    <a:solidFill>
                      <a:srgbClr val="FFFFFF"/>
                    </a:solidFill>
                  </a:tcPr>
                </a:tc>
              </a:tr>
              <a:tr h="523442">
                <a:tc>
                  <a:txBody>
                    <a:bodyPr wrap="square"/>
                    <a:lstStyle/>
                    <a:p>
                      <a:r>
                        <a:rPr sz="700" b="0">
                          <a:solidFill>
                            <a:srgbClr val="26301F"/>
                          </a:solidFill>
                          <a:latin typeface="Segoe UI"/>
                        </a:rPr>
                        <a:t>Named daily occupations</a:t>
                      </a:r>
                    </a:p>
                  </a:txBody>
                  <a:tcPr marL="45720" marR="109728" marT="27432" marB="27432" anchor="ctr">
                    <a:lnB w="9525" cap="flat" cmpd="sng" algn="ctr">
                      <a:solidFill>
                        <a:srgbClr val="DCE3D6"/>
                      </a:solidFill>
                    </a:lnB>
                    <a:solidFill>
                      <a:srgbClr val="FFFFFF"/>
                    </a:solidFill>
                  </a:tcPr>
                </a:tc>
                <a:tc>
                  <a:txBody>
                    <a:bodyPr wrap="square"/>
                    <a:lstStyle/>
                    <a:p>
                      <a:r>
                        <a:rPr sz="700" b="0">
                          <a:solidFill>
                            <a:srgbClr val="26301F"/>
                          </a:solidFill>
                          <a:latin typeface="Segoe UI"/>
                        </a:rPr>
                        <a:t>Recognised on their face, still subject to the two month test</a:t>
                      </a:r>
                    </a:p>
                  </a:txBody>
                  <a:tcPr marL="45720" marR="109728" marT="27432" marB="27432" anchor="ctr">
                    <a:lnB w="9525" cap="flat" cmpd="sng" algn="ctr">
                      <a:solidFill>
                        <a:srgbClr val="DCE3D6"/>
                      </a:solidFill>
                    </a:lnB>
                    <a:solidFill>
                      <a:srgbClr val="FFFFFF"/>
                    </a:solidFill>
                  </a:tcPr>
                </a:tc>
                <a:tc>
                  <a:txBody>
                    <a:bodyPr wrap="square"/>
                    <a:lstStyle/>
                    <a:p>
                      <a:r>
                        <a:rPr sz="700" b="0">
                          <a:solidFill>
                            <a:srgbClr val="26301F"/>
                          </a:solidFill>
                          <a:latin typeface="Segoe UI"/>
                        </a:rPr>
                        <a:t>Taxi and rickshaw drivers, ride hailing and delivery riders, waiters and hotel staff, market traders, day labourers with a named contractor, small shopkeepers</a:t>
                      </a:r>
                    </a:p>
                  </a:txBody>
                  <a:tcPr marL="45720" marR="109728" marT="27432" marB="27432" anchor="ctr">
                    <a:lnB w="9525" cap="flat" cmpd="sng" algn="ctr">
                      <a:solidFill>
                        <a:srgbClr val="DCE3D6"/>
                      </a:solidFill>
                    </a:lnB>
                    <a:solidFill>
                      <a:srgbClr val="FFFFFF"/>
                    </a:solidFill>
                  </a:tcPr>
                </a:tc>
              </a:tr>
              <a:tr h="523442">
                <a:tc>
                  <a:txBody>
                    <a:bodyPr wrap="square"/>
                    <a:lstStyle/>
                    <a:p>
                      <a:r>
                        <a:rPr sz="700" b="0">
                          <a:solidFill>
                            <a:srgbClr val="26301F"/>
                          </a:solidFill>
                          <a:latin typeface="Segoe UI"/>
                        </a:rPr>
                        <a:t>The vault alternative</a:t>
                      </a:r>
                    </a:p>
                  </a:txBody>
                  <a:tcPr marL="45720" marR="109728" marT="27432" marB="27432" anchor="ctr">
                    <a:lnB w="9525" cap="flat" cmpd="sng" algn="ctr">
                      <a:solidFill>
                        <a:srgbClr val="DCE3D6"/>
                      </a:solidFill>
                    </a:lnB>
                    <a:solidFill>
                      <a:srgbClr val="FFFFFF"/>
                    </a:solidFill>
                  </a:tcPr>
                </a:tc>
                <a:tc>
                  <a:txBody>
                    <a:bodyPr wrap="square"/>
                    <a:lstStyle/>
                    <a:p>
                      <a:r>
                        <a:rPr sz="700" b="0">
                          <a:solidFill>
                            <a:srgbClr val="26301F"/>
                          </a:solidFill>
                          <a:latin typeface="Segoe UI"/>
                        </a:rPr>
                        <a:t>A holding equal to the full pot, locked for the whole sixty days</a:t>
                      </a:r>
                    </a:p>
                  </a:txBody>
                  <a:tcPr marL="45720" marR="109728" marT="27432" marB="27432" anchor="ctr">
                    <a:lnB w="9525" cap="flat" cmpd="sng" algn="ctr">
                      <a:solidFill>
                        <a:srgbClr val="DCE3D6"/>
                      </a:solidFill>
                    </a:lnB>
                    <a:solidFill>
                      <a:srgbClr val="FFFFFF"/>
                    </a:solidFill>
                  </a:tcPr>
                </a:tc>
                <a:tc>
                  <a:txBody>
                    <a:bodyPr wrap="square"/>
                    <a:lstStyle/>
                    <a:p>
                      <a:r>
                        <a:rPr sz="700" b="0">
                          <a:solidFill>
                            <a:srgbClr val="26301F"/>
                          </a:solidFill>
                          <a:latin typeface="Segoe UI"/>
                        </a:rPr>
                        <a:t>Where a member cannot demonstrate daily income, they may instead lock an amount equal to the pot they are joining for. It is theirs, it is held by the trustee in their own name, it earns a return while it sits there, and it is released untouched at the end of the cycle if they have paid</a:t>
                      </a:r>
                    </a:p>
                  </a:txBody>
                  <a:tcPr marL="45720" marR="109728" marT="27432" marB="27432" anchor="ctr">
                    <a:lnB w="9525" cap="flat" cmpd="sng" algn="ctr">
                      <a:solidFill>
                        <a:srgbClr val="DCE3D6"/>
                      </a:solidFill>
                    </a:lnB>
                    <a:solidFill>
                      <a:srgbClr val="FFFFFF"/>
                    </a:solidFill>
                  </a:tcPr>
                </a:tc>
              </a:tr>
              <a:tr h="523442">
                <a:tc>
                  <a:txBody>
                    <a:bodyPr wrap="square"/>
                    <a:lstStyle/>
                    <a:p>
                      <a:r>
                        <a:rPr sz="700" b="0">
                          <a:solidFill>
                            <a:srgbClr val="26301F"/>
                          </a:solidFill>
                          <a:latin typeface="Segoe UI"/>
                        </a:rPr>
                        <a:t>What the vault removes</a:t>
                      </a:r>
                    </a:p>
                  </a:txBody>
                  <a:tcPr marL="45720" marR="109728" marT="27432" marB="27432" anchor="ctr">
                    <a:lnB w="9525" cap="flat" cmpd="sng" algn="ctr">
                      <a:solidFill>
                        <a:srgbClr val="DCE3D6"/>
                      </a:solidFill>
                    </a:lnB>
                    <a:solidFill>
                      <a:srgbClr val="FFFFFF"/>
                    </a:solidFill>
                  </a:tcPr>
                </a:tc>
                <a:tc>
                  <a:txBody>
                    <a:bodyPr wrap="square"/>
                    <a:lstStyle/>
                    <a:p>
                      <a:r>
                        <a:rPr sz="700" b="0">
                          <a:solidFill>
                            <a:srgbClr val="26301F"/>
                          </a:solidFill>
                          <a:latin typeface="Segoe UI"/>
                        </a:rPr>
                        <a:t>The entire risk on that member</a:t>
                      </a:r>
                    </a:p>
                  </a:txBody>
                  <a:tcPr marL="45720" marR="109728" marT="27432" marB="27432" anchor="ctr">
                    <a:lnB w="9525" cap="flat" cmpd="sng" algn="ctr">
                      <a:solidFill>
                        <a:srgbClr val="DCE3D6"/>
                      </a:solidFill>
                    </a:lnB>
                    <a:solidFill>
                      <a:srgbClr val="FFFFFF"/>
                    </a:solidFill>
                  </a:tcPr>
                </a:tc>
                <a:tc>
                  <a:txBody>
                    <a:bodyPr wrap="square"/>
                    <a:lstStyle/>
                    <a:p>
                      <a:r>
                        <a:rPr sz="700" b="0">
                          <a:solidFill>
                            <a:srgbClr val="26301F"/>
                          </a:solidFill>
                          <a:latin typeface="Segoe UI"/>
                        </a:rPr>
                        <a:t>A member cannot default beyond their own locked holding, because the shortfall settles from it under an instruction they signed at the moment of pledging</a:t>
                      </a:r>
                    </a:p>
                  </a:txBody>
                  <a:tcPr marL="45720" marR="109728" marT="27432" marB="27432" anchor="ctr">
                    <a:lnB w="9525" cap="flat" cmpd="sng" algn="ctr">
                      <a:solidFill>
                        <a:srgbClr val="DCE3D6"/>
                      </a:solidFill>
                    </a:lnB>
                    <a:solidFill>
                      <a:srgbClr val="FFFFFF"/>
                    </a:solidFill>
                  </a:tcPr>
                </a:tc>
              </a:tr>
            </a:tbl>
          </a:graphicData>
        </a:graphic>
      </p:graphicFrame>
      <p:sp>
        <p:nvSpPr>
          <p:cNvPr id="9" name="TextBox 8"/>
          <p:cNvSpPr txBox="1"/>
          <p:nvPr/>
        </p:nvSpPr>
        <p:spPr>
          <a:xfrm>
            <a:off x="777240" y="5863330"/>
            <a:ext cx="10637215" cy="731520"/>
          </a:xfrm>
          <a:prstGeom prst="rect">
            <a:avLst/>
          </a:prstGeom>
          <a:noFill/>
        </p:spPr>
        <p:txBody>
          <a:bodyPr wrap="square" lIns="0" rIns="0" tIns="0" bIns="0">
            <a:spAutoFit/>
          </a:bodyPr>
          <a:lstStyle/>
          <a:p>
            <a:pPr algn="l">
              <a:lnSpc>
                <a:spcPct val="140000"/>
              </a:lnSpc>
            </a:pPr>
            <a:r>
              <a:rPr sz="1200" b="0" i="0">
                <a:solidFill>
                  <a:srgbClr val="6F7B68"/>
                </a:solidFill>
                <a:latin typeface="Segoe UI"/>
              </a:rPr>
              <a:t>The vault route is likely to become unnecessary once automatic collection on the instant payment rail is fully in place, because the collection record itself then proves the daily pattern. It is retained as the conservative option and as the route for anybody the record cannot yet vouch for.</a:t>
            </a:r>
          </a:p>
        </p:txBody>
      </p:sp>
    </p:spTree>
  </p:cSld>
  <p:clrMapOvr>
    <a:masterClrMapping/>
  </p:clrMapOvr>
</p:sld>
</file>

<file path=ppt/slides/slide2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777240" y="566928"/>
            <a:ext cx="10637215" cy="219456"/>
          </a:xfrm>
          <a:prstGeom prst="rect">
            <a:avLst/>
          </a:prstGeom>
          <a:noFill/>
        </p:spPr>
        <p:txBody>
          <a:bodyPr wrap="square" lIns="0" rIns="0" tIns="0" bIns="0">
            <a:spAutoFit/>
          </a:bodyPr>
          <a:lstStyle/>
          <a:p>
            <a:pPr algn="l">
              <a:lnSpc>
                <a:spcPct val="125000"/>
              </a:lnSpc>
            </a:pPr>
            <a:r>
              <a:rPr sz="950" b="1" i="0">
                <a:solidFill>
                  <a:srgbClr val="41801A"/>
                </a:solidFill>
                <a:latin typeface="Segoe UI"/>
              </a:rPr>
              <a:t>3  TAKING THE MONEY</a:t>
            </a:r>
          </a:p>
        </p:txBody>
      </p:sp>
      <p:sp>
        <p:nvSpPr>
          <p:cNvPr id="3" name="TextBox 2"/>
          <p:cNvSpPr txBox="1"/>
          <p:nvPr/>
        </p:nvSpPr>
        <p:spPr>
          <a:xfrm>
            <a:off x="777240" y="841248"/>
            <a:ext cx="10637215" cy="502920"/>
          </a:xfrm>
          <a:prstGeom prst="rect">
            <a:avLst/>
          </a:prstGeom>
          <a:noFill/>
        </p:spPr>
        <p:txBody>
          <a:bodyPr wrap="square" lIns="0" rIns="0" tIns="0" bIns="0">
            <a:spAutoFit/>
          </a:bodyPr>
          <a:lstStyle/>
          <a:p>
            <a:pPr algn="l">
              <a:lnSpc>
                <a:spcPct val="125000"/>
              </a:lnSpc>
            </a:pPr>
            <a:r>
              <a:rPr sz="2700" b="1" i="0">
                <a:solidFill>
                  <a:srgbClr val="0C1408"/>
                </a:solidFill>
                <a:latin typeface="Segoe UI"/>
              </a:rPr>
              <a:t>Collection happens on payday</a:t>
            </a:r>
          </a:p>
        </p:txBody>
      </p:sp>
      <p:sp>
        <p:nvSpPr>
          <p:cNvPr id="4" name="Rectangle 3"/>
          <p:cNvSpPr/>
          <p:nvPr/>
        </p:nvSpPr>
        <p:spPr>
          <a:xfrm>
            <a:off x="777240" y="1417320"/>
            <a:ext cx="1371600" cy="22860"/>
          </a:xfrm>
          <a:prstGeom prst="rect">
            <a:avLst/>
          </a:prstGeom>
          <a:solidFill>
            <a:srgbClr val="6DC72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777240" y="6382512"/>
            <a:ext cx="3657600" cy="228600"/>
          </a:xfrm>
          <a:prstGeom prst="rect">
            <a:avLst/>
          </a:prstGeom>
          <a:noFill/>
        </p:spPr>
        <p:txBody>
          <a:bodyPr wrap="square" lIns="0" rIns="0" tIns="0" bIns="0">
            <a:spAutoFit/>
          </a:bodyPr>
          <a:lstStyle/>
          <a:p>
            <a:pPr algn="l">
              <a:lnSpc>
                <a:spcPct val="125000"/>
              </a:lnSpc>
            </a:pPr>
            <a:r>
              <a:rPr sz="900" b="0" i="0">
                <a:solidFill>
                  <a:srgbClr val="9AA694"/>
                </a:solidFill>
                <a:latin typeface="Segoe UI"/>
              </a:rPr>
              <a:t>Halqa  ·  Confidential</a:t>
            </a:r>
          </a:p>
        </p:txBody>
      </p:sp>
      <p:sp>
        <p:nvSpPr>
          <p:cNvPr id="6" name="TextBox 5"/>
          <p:cNvSpPr txBox="1"/>
          <p:nvPr/>
        </p:nvSpPr>
        <p:spPr>
          <a:xfrm>
            <a:off x="10728655" y="6382512"/>
            <a:ext cx="685800" cy="228600"/>
          </a:xfrm>
          <a:prstGeom prst="rect">
            <a:avLst/>
          </a:prstGeom>
          <a:noFill/>
        </p:spPr>
        <p:txBody>
          <a:bodyPr wrap="square" lIns="0" rIns="0" tIns="0" bIns="0">
            <a:spAutoFit/>
          </a:bodyPr>
          <a:lstStyle/>
          <a:p>
            <a:pPr algn="r">
              <a:lnSpc>
                <a:spcPct val="125000"/>
              </a:lnSpc>
            </a:pPr>
            <a:r>
              <a:rPr sz="900" b="0" i="0">
                <a:solidFill>
                  <a:srgbClr val="6F7B68"/>
                </a:solidFill>
                <a:latin typeface="Segoe UI"/>
              </a:rPr>
              <a:t>23</a:t>
            </a:r>
          </a:p>
        </p:txBody>
      </p:sp>
      <p:sp>
        <p:nvSpPr>
          <p:cNvPr id="7" name="TextBox 6"/>
          <p:cNvSpPr txBox="1"/>
          <p:nvPr/>
        </p:nvSpPr>
        <p:spPr>
          <a:xfrm>
            <a:off x="777240" y="1965960"/>
            <a:ext cx="10607040" cy="914400"/>
          </a:xfrm>
          <a:prstGeom prst="rect">
            <a:avLst/>
          </a:prstGeom>
          <a:noFill/>
        </p:spPr>
        <p:txBody>
          <a:bodyPr wrap="square" lIns="0" rIns="0" tIns="0" bIns="0">
            <a:spAutoFit/>
          </a:bodyPr>
          <a:lstStyle/>
          <a:p>
            <a:pPr algn="l">
              <a:lnSpc>
                <a:spcPct val="150000"/>
              </a:lnSpc>
            </a:pPr>
            <a:r>
              <a:rPr sz="1400" b="0" i="0">
                <a:solidFill>
                  <a:srgbClr val="26301F"/>
                </a:solidFill>
                <a:latin typeface="Segoe UI"/>
              </a:rPr>
              <a:t>The single most effective decision in the whole product is when to ask. Halqa does not collect on the due date. It collects on the morning the member's pay arrives, which is the moment in the month at which their account balance is at its highest. The due date becomes the deadline for resolving failures rather than the moment of the attempt.</a:t>
            </a:r>
          </a:p>
        </p:txBody>
      </p:sp>
      <p:graphicFrame>
        <p:nvGraphicFramePr>
          <p:cNvPr id="8" name="Table 7"/>
          <p:cNvGraphicFramePr>
            <a:graphicFrameLocks noGrp="1"/>
          </p:cNvGraphicFramePr>
          <p:nvPr/>
        </p:nvGraphicFramePr>
        <p:xfrm>
          <a:off x="777240" y="3108960"/>
          <a:ext cx="10607040" cy="2398752"/>
        </p:xfrm>
        <a:graphic>
          <a:graphicData uri="http://schemas.openxmlformats.org/drawingml/2006/table">
            <a:tbl>
              <a:tblPr>
                <a:tableStyleId>{5C22544A-7EE6-4342-B048-85BDC9FD1C3A}</a:tableStyleId>
              </a:tblPr>
              <a:tblGrid>
                <a:gridCol w="2743200"/>
                <a:gridCol w="7863840"/>
              </a:tblGrid>
              <a:tr h="399792">
                <a:tc>
                  <a:txBody>
                    <a:bodyPr wrap="square"/>
                    <a:lstStyle/>
                    <a:p>
                      <a:r>
                        <a:rPr sz="850" b="1">
                          <a:solidFill>
                            <a:srgbClr val="41801A"/>
                          </a:solidFill>
                          <a:latin typeface="Segoe UI"/>
                        </a:rPr>
                        <a:t>WHEN</a:t>
                      </a:r>
                    </a:p>
                  </a:txBody>
                  <a:tcPr marL="45720" marR="109728" marT="27432" marB="27432" anchor="ctr">
                    <a:lnB w="9525" cap="flat" cmpd="sng" algn="ctr">
                      <a:solidFill>
                        <a:srgbClr val="41801A"/>
                      </a:solidFill>
                    </a:lnB>
                    <a:solidFill>
                      <a:srgbClr val="FFFFFF"/>
                    </a:solidFill>
                  </a:tcPr>
                </a:tc>
                <a:tc>
                  <a:txBody>
                    <a:bodyPr wrap="square"/>
                    <a:lstStyle/>
                    <a:p>
                      <a:r>
                        <a:rPr sz="850" b="1">
                          <a:solidFill>
                            <a:srgbClr val="41801A"/>
                          </a:solidFill>
                          <a:latin typeface="Segoe UI"/>
                        </a:rPr>
                        <a:t>WHAT HAPPENS</a:t>
                      </a:r>
                    </a:p>
                  </a:txBody>
                  <a:tcPr marL="45720" marR="109728" marT="27432" marB="27432" anchor="ctr">
                    <a:lnB w="9525" cap="flat" cmpd="sng" algn="ctr">
                      <a:solidFill>
                        <a:srgbClr val="41801A"/>
                      </a:solidFill>
                    </a:lnB>
                    <a:solidFill>
                      <a:srgbClr val="FFFFFF"/>
                    </a:solidFill>
                  </a:tcPr>
                </a:tc>
              </a:tr>
              <a:tr h="399792">
                <a:tc>
                  <a:txBody>
                    <a:bodyPr wrap="square"/>
                    <a:lstStyle/>
                    <a:p>
                      <a:r>
                        <a:rPr sz="850" b="0">
                          <a:solidFill>
                            <a:srgbClr val="26301F"/>
                          </a:solidFill>
                          <a:latin typeface="Segoe UI"/>
                        </a:rPr>
                        <a:t>The evening before payday</a:t>
                      </a:r>
                    </a:p>
                  </a:txBody>
                  <a:tcPr marL="45720" marR="109728" marT="27432" marB="27432" anchor="ctr">
                    <a:lnB w="9525" cap="flat" cmpd="sng" algn="ctr">
                      <a:solidFill>
                        <a:srgbClr val="DCE3D6"/>
                      </a:solidFill>
                    </a:lnB>
                    <a:solidFill>
                      <a:srgbClr val="FFFFFF"/>
                    </a:solidFill>
                  </a:tcPr>
                </a:tc>
                <a:tc>
                  <a:txBody>
                    <a:bodyPr wrap="square"/>
                    <a:lstStyle/>
                    <a:p>
                      <a:r>
                        <a:rPr sz="850" b="0">
                          <a:solidFill>
                            <a:srgbClr val="26301F"/>
                          </a:solidFill>
                          <a:latin typeface="Segoe UI"/>
                        </a:rPr>
                        <a:t>A balance notice goes out by push and over WhatsApp, telling the member exactly what will be taken and when</a:t>
                      </a:r>
                    </a:p>
                  </a:txBody>
                  <a:tcPr marL="45720" marR="109728" marT="27432" marB="27432" anchor="ctr">
                    <a:lnB w="9525" cap="flat" cmpd="sng" algn="ctr">
                      <a:solidFill>
                        <a:srgbClr val="DCE3D6"/>
                      </a:solidFill>
                    </a:lnB>
                    <a:solidFill>
                      <a:srgbClr val="FFFFFF"/>
                    </a:solidFill>
                  </a:tcPr>
                </a:tc>
              </a:tr>
              <a:tr h="399792">
                <a:tc>
                  <a:txBody>
                    <a:bodyPr wrap="square"/>
                    <a:lstStyle/>
                    <a:p>
                      <a:r>
                        <a:rPr sz="850" b="0">
                          <a:solidFill>
                            <a:srgbClr val="26301F"/>
                          </a:solidFill>
                          <a:latin typeface="Segoe UI"/>
                        </a:rPr>
                        <a:t>Payday morning</a:t>
                      </a:r>
                    </a:p>
                  </a:txBody>
                  <a:tcPr marL="45720" marR="109728" marT="27432" marB="27432" anchor="ctr">
                    <a:lnB w="9525" cap="flat" cmpd="sng" algn="ctr">
                      <a:solidFill>
                        <a:srgbClr val="DCE3D6"/>
                      </a:solidFill>
                    </a:lnB>
                    <a:solidFill>
                      <a:srgbClr val="FFFFFF"/>
                    </a:solidFill>
                  </a:tcPr>
                </a:tc>
                <a:tc>
                  <a:txBody>
                    <a:bodyPr wrap="square"/>
                    <a:lstStyle/>
                    <a:p>
                      <a:r>
                        <a:rPr sz="850" b="0">
                          <a:solidFill>
                            <a:srgbClr val="26301F"/>
                          </a:solidFill>
                          <a:latin typeface="Segoe UI"/>
                        </a:rPr>
                        <a:t>The standing instruction executes, before the contribution is even due. Government salaries land on the first of the month and earlier before Eid. Private payrolls run the first to the seventh</a:t>
                      </a:r>
                    </a:p>
                  </a:txBody>
                  <a:tcPr marL="45720" marR="109728" marT="27432" marB="27432" anchor="ctr">
                    <a:lnB w="9525" cap="flat" cmpd="sng" algn="ctr">
                      <a:solidFill>
                        <a:srgbClr val="DCE3D6"/>
                      </a:solidFill>
                    </a:lnB>
                    <a:solidFill>
                      <a:srgbClr val="FFFFFF"/>
                    </a:solidFill>
                  </a:tcPr>
                </a:tc>
              </a:tr>
              <a:tr h="399792">
                <a:tc>
                  <a:txBody>
                    <a:bodyPr wrap="square"/>
                    <a:lstStyle/>
                    <a:p>
                      <a:r>
                        <a:rPr sz="850" b="0">
                          <a:solidFill>
                            <a:srgbClr val="26301F"/>
                          </a:solidFill>
                          <a:latin typeface="Segoe UI"/>
                        </a:rPr>
                        <a:t>Between payday and the due date</a:t>
                      </a:r>
                    </a:p>
                  </a:txBody>
                  <a:tcPr marL="45720" marR="109728" marT="27432" marB="27432" anchor="ctr">
                    <a:lnB w="9525" cap="flat" cmpd="sng" algn="ctr">
                      <a:solidFill>
                        <a:srgbClr val="DCE3D6"/>
                      </a:solidFill>
                    </a:lnB>
                    <a:solidFill>
                      <a:srgbClr val="FFFFFF"/>
                    </a:solidFill>
                  </a:tcPr>
                </a:tc>
                <a:tc>
                  <a:txBody>
                    <a:bodyPr wrap="square"/>
                    <a:lstStyle/>
                    <a:p>
                      <a:r>
                        <a:rPr sz="850" b="0">
                          <a:solidFill>
                            <a:srgbClr val="26301F"/>
                          </a:solidFill>
                          <a:latin typeface="Segoe UI"/>
                        </a:rPr>
                        <a:t>On any failure a retry ladder runs, alongside a one tap payment request and a message. Several days of runway exist before anything counts as late</a:t>
                      </a:r>
                    </a:p>
                  </a:txBody>
                  <a:tcPr marL="45720" marR="109728" marT="27432" marB="27432" anchor="ctr">
                    <a:lnB w="9525" cap="flat" cmpd="sng" algn="ctr">
                      <a:solidFill>
                        <a:srgbClr val="DCE3D6"/>
                      </a:solidFill>
                    </a:lnB>
                    <a:solidFill>
                      <a:srgbClr val="FFFFFF"/>
                    </a:solidFill>
                  </a:tcPr>
                </a:tc>
              </a:tr>
              <a:tr h="399792">
                <a:tc>
                  <a:txBody>
                    <a:bodyPr wrap="square"/>
                    <a:lstStyle/>
                    <a:p>
                      <a:r>
                        <a:rPr sz="850" b="0">
                          <a:solidFill>
                            <a:srgbClr val="26301F"/>
                          </a:solidFill>
                          <a:latin typeface="Segoe UI"/>
                        </a:rPr>
                        <a:t>The due date</a:t>
                      </a:r>
                    </a:p>
                  </a:txBody>
                  <a:tcPr marL="45720" marR="109728" marT="27432" marB="27432" anchor="ctr">
                    <a:lnB w="9525" cap="flat" cmpd="sng" algn="ctr">
                      <a:solidFill>
                        <a:srgbClr val="DCE3D6"/>
                      </a:solidFill>
                    </a:lnB>
                    <a:solidFill>
                      <a:srgbClr val="FFFFFF"/>
                    </a:solidFill>
                  </a:tcPr>
                </a:tc>
                <a:tc>
                  <a:txBody>
                    <a:bodyPr wrap="square"/>
                    <a:lstStyle/>
                    <a:p>
                      <a:r>
                        <a:rPr sz="850" b="0">
                          <a:solidFill>
                            <a:srgbClr val="26301F"/>
                          </a:solidFill>
                          <a:latin typeface="Segoe UI"/>
                        </a:rPr>
                        <a:t>Only if every attempt in that window has failed does the member meet the late fee ladder at all</a:t>
                      </a:r>
                    </a:p>
                  </a:txBody>
                  <a:tcPr marL="45720" marR="109728" marT="27432" marB="27432" anchor="ctr">
                    <a:lnB w="9525" cap="flat" cmpd="sng" algn="ctr">
                      <a:solidFill>
                        <a:srgbClr val="DCE3D6"/>
                      </a:solidFill>
                    </a:lnB>
                    <a:solidFill>
                      <a:srgbClr val="FFFFFF"/>
                    </a:solidFill>
                  </a:tcPr>
                </a:tc>
              </a:tr>
              <a:tr h="399792">
                <a:tc>
                  <a:txBody>
                    <a:bodyPr wrap="square"/>
                    <a:lstStyle/>
                    <a:p>
                      <a:r>
                        <a:rPr sz="850" b="0">
                          <a:solidFill>
                            <a:srgbClr val="26301F"/>
                          </a:solidFill>
                          <a:latin typeface="Segoe UI"/>
                        </a:rPr>
                        <a:t>The tenth, nine in the morning</a:t>
                      </a:r>
                    </a:p>
                  </a:txBody>
                  <a:tcPr marL="45720" marR="109728" marT="27432" marB="27432" anchor="ctr">
                    <a:lnB w="9525" cap="flat" cmpd="sng" algn="ctr">
                      <a:solidFill>
                        <a:srgbClr val="DCE3D6"/>
                      </a:solidFill>
                    </a:lnB>
                    <a:solidFill>
                      <a:srgbClr val="FFFFFF"/>
                    </a:solidFill>
                  </a:tcPr>
                </a:tc>
                <a:tc>
                  <a:txBody>
                    <a:bodyPr wrap="square"/>
                    <a:lstStyle/>
                    <a:p>
                      <a:r>
                        <a:rPr sz="850" b="0">
                          <a:solidFill>
                            <a:srgbClr val="26301F"/>
                          </a:solidFill>
                          <a:latin typeface="Segoe UI"/>
                        </a:rPr>
                        <a:t>A single payout release across the whole platform</a:t>
                      </a:r>
                    </a:p>
                  </a:txBody>
                  <a:tcPr marL="45720" marR="109728" marT="27432" marB="27432" anchor="ctr">
                    <a:lnB w="9525" cap="flat" cmpd="sng" algn="ctr">
                      <a:solidFill>
                        <a:srgbClr val="DCE3D6"/>
                      </a:solidFill>
                    </a:lnB>
                    <a:solidFill>
                      <a:srgbClr val="FFFFFF"/>
                    </a:solidFill>
                  </a:tcPr>
                </a:tc>
              </a:tr>
            </a:tbl>
          </a:graphicData>
        </a:graphic>
      </p:graphicFrame>
      <p:sp>
        <p:nvSpPr>
          <p:cNvPr id="9" name="TextBox 8"/>
          <p:cNvSpPr txBox="1"/>
          <p:nvPr/>
        </p:nvSpPr>
        <p:spPr>
          <a:xfrm>
            <a:off x="777240" y="5690592"/>
            <a:ext cx="10637215" cy="731520"/>
          </a:xfrm>
          <a:prstGeom prst="rect">
            <a:avLst/>
          </a:prstGeom>
          <a:noFill/>
        </p:spPr>
        <p:txBody>
          <a:bodyPr wrap="square" lIns="0" rIns="0" tIns="0" bIns="0">
            <a:spAutoFit/>
          </a:bodyPr>
          <a:lstStyle/>
          <a:p>
            <a:pPr algn="l">
              <a:lnSpc>
                <a:spcPct val="140000"/>
              </a:lnSpc>
            </a:pPr>
            <a:r>
              <a:rPr sz="1250" b="1" i="0">
                <a:solidFill>
                  <a:srgbClr val="0C1408"/>
                </a:solidFill>
                <a:latin typeface="Segoe UI"/>
              </a:rPr>
              <a:t>The idea came from a member saying he pays as soon as his pay arrives. It removes passive default entirely. What remains is active evasion, which is a deliberate act taken against a consent the member signed, and that is a very different thing to argue about.</a:t>
            </a:r>
          </a:p>
        </p:txBody>
      </p:sp>
    </p:spTree>
  </p:cSld>
  <p:clrMapOvr>
    <a:masterClrMapping/>
  </p:clrMapOvr>
</p:sld>
</file>

<file path=ppt/slides/slide2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777240" y="566928"/>
            <a:ext cx="10637215" cy="219456"/>
          </a:xfrm>
          <a:prstGeom prst="rect">
            <a:avLst/>
          </a:prstGeom>
          <a:noFill/>
        </p:spPr>
        <p:txBody>
          <a:bodyPr wrap="square" lIns="0" rIns="0" tIns="0" bIns="0">
            <a:spAutoFit/>
          </a:bodyPr>
          <a:lstStyle/>
          <a:p>
            <a:pPr algn="l">
              <a:lnSpc>
                <a:spcPct val="125000"/>
              </a:lnSpc>
            </a:pPr>
            <a:r>
              <a:rPr sz="950" b="1" i="0">
                <a:solidFill>
                  <a:srgbClr val="41801A"/>
                </a:solidFill>
                <a:latin typeface="Segoe UI"/>
              </a:rPr>
              <a:t>3  TAKING THE MONEY</a:t>
            </a:r>
          </a:p>
        </p:txBody>
      </p:sp>
      <p:sp>
        <p:nvSpPr>
          <p:cNvPr id="3" name="TextBox 2"/>
          <p:cNvSpPr txBox="1"/>
          <p:nvPr/>
        </p:nvSpPr>
        <p:spPr>
          <a:xfrm>
            <a:off x="777240" y="841248"/>
            <a:ext cx="10637215" cy="502920"/>
          </a:xfrm>
          <a:prstGeom prst="rect">
            <a:avLst/>
          </a:prstGeom>
          <a:noFill/>
        </p:spPr>
        <p:txBody>
          <a:bodyPr wrap="square" lIns="0" rIns="0" tIns="0" bIns="0">
            <a:spAutoFit/>
          </a:bodyPr>
          <a:lstStyle/>
          <a:p>
            <a:pPr algn="l">
              <a:lnSpc>
                <a:spcPct val="125000"/>
              </a:lnSpc>
            </a:pPr>
            <a:r>
              <a:rPr sz="2700" b="1" i="0">
                <a:solidFill>
                  <a:srgbClr val="0C1408"/>
                </a:solidFill>
                <a:latin typeface="Segoe UI"/>
              </a:rPr>
              <a:t>The standing instruction</a:t>
            </a:r>
          </a:p>
        </p:txBody>
      </p:sp>
      <p:sp>
        <p:nvSpPr>
          <p:cNvPr id="4" name="Rectangle 3"/>
          <p:cNvSpPr/>
          <p:nvPr/>
        </p:nvSpPr>
        <p:spPr>
          <a:xfrm>
            <a:off x="777240" y="1417320"/>
            <a:ext cx="1371600" cy="22860"/>
          </a:xfrm>
          <a:prstGeom prst="rect">
            <a:avLst/>
          </a:prstGeom>
          <a:solidFill>
            <a:srgbClr val="6DC72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777240" y="6382512"/>
            <a:ext cx="3657600" cy="228600"/>
          </a:xfrm>
          <a:prstGeom prst="rect">
            <a:avLst/>
          </a:prstGeom>
          <a:noFill/>
        </p:spPr>
        <p:txBody>
          <a:bodyPr wrap="square" lIns="0" rIns="0" tIns="0" bIns="0">
            <a:spAutoFit/>
          </a:bodyPr>
          <a:lstStyle/>
          <a:p>
            <a:pPr algn="l">
              <a:lnSpc>
                <a:spcPct val="125000"/>
              </a:lnSpc>
            </a:pPr>
            <a:r>
              <a:rPr sz="900" b="0" i="0">
                <a:solidFill>
                  <a:srgbClr val="9AA694"/>
                </a:solidFill>
                <a:latin typeface="Segoe UI"/>
              </a:rPr>
              <a:t>Halqa  ·  Confidential</a:t>
            </a:r>
          </a:p>
        </p:txBody>
      </p:sp>
      <p:sp>
        <p:nvSpPr>
          <p:cNvPr id="6" name="TextBox 5"/>
          <p:cNvSpPr txBox="1"/>
          <p:nvPr/>
        </p:nvSpPr>
        <p:spPr>
          <a:xfrm>
            <a:off x="10728655" y="6382512"/>
            <a:ext cx="685800" cy="228600"/>
          </a:xfrm>
          <a:prstGeom prst="rect">
            <a:avLst/>
          </a:prstGeom>
          <a:noFill/>
        </p:spPr>
        <p:txBody>
          <a:bodyPr wrap="square" lIns="0" rIns="0" tIns="0" bIns="0">
            <a:spAutoFit/>
          </a:bodyPr>
          <a:lstStyle/>
          <a:p>
            <a:pPr algn="r">
              <a:lnSpc>
                <a:spcPct val="125000"/>
              </a:lnSpc>
            </a:pPr>
            <a:r>
              <a:rPr sz="900" b="0" i="0">
                <a:solidFill>
                  <a:srgbClr val="6F7B68"/>
                </a:solidFill>
                <a:latin typeface="Segoe UI"/>
              </a:rPr>
              <a:t>24</a:t>
            </a:r>
          </a:p>
        </p:txBody>
      </p:sp>
      <p:graphicFrame>
        <p:nvGraphicFramePr>
          <p:cNvPr id="7" name="Table 6"/>
          <p:cNvGraphicFramePr>
            <a:graphicFrameLocks noGrp="1"/>
          </p:cNvGraphicFramePr>
          <p:nvPr/>
        </p:nvGraphicFramePr>
        <p:xfrm>
          <a:off x="777240" y="1965960"/>
          <a:ext cx="10607040" cy="3598133"/>
        </p:xfrm>
        <a:graphic>
          <a:graphicData uri="http://schemas.openxmlformats.org/drawingml/2006/table">
            <a:tbl>
              <a:tblPr>
                <a:tableStyleId>{5C22544A-7EE6-4342-B048-85BDC9FD1C3A}</a:tableStyleId>
              </a:tblPr>
              <a:tblGrid>
                <a:gridCol w="2377440"/>
                <a:gridCol w="8229600"/>
              </a:tblGrid>
              <a:tr h="514019">
                <a:tc>
                  <a:txBody>
                    <a:bodyPr wrap="square"/>
                    <a:lstStyle/>
                    <a:p>
                      <a:r>
                        <a:rPr sz="800" b="1">
                          <a:solidFill>
                            <a:srgbClr val="41801A"/>
                          </a:solidFill>
                          <a:latin typeface="Segoe UI"/>
                        </a:rPr>
                        <a:t>FEATURE</a:t>
                      </a:r>
                    </a:p>
                  </a:txBody>
                  <a:tcPr marL="45720" marR="109728" marT="27432" marB="27432" anchor="ctr">
                    <a:lnB w="9525" cap="flat" cmpd="sng" algn="ctr">
                      <a:solidFill>
                        <a:srgbClr val="41801A"/>
                      </a:solidFill>
                    </a:lnB>
                    <a:solidFill>
                      <a:srgbClr val="FFFFFF"/>
                    </a:solidFill>
                  </a:tcPr>
                </a:tc>
                <a:tc>
                  <a:txBody>
                    <a:bodyPr wrap="square"/>
                    <a:lstStyle/>
                    <a:p>
                      <a:r>
                        <a:rPr sz="800" b="1">
                          <a:solidFill>
                            <a:srgbClr val="41801A"/>
                          </a:solidFill>
                          <a:latin typeface="Segoe UI"/>
                        </a:rPr>
                        <a:t>HOW IT WORKS</a:t>
                      </a:r>
                    </a:p>
                  </a:txBody>
                  <a:tcPr marL="45720" marR="109728" marT="27432" marB="27432" anchor="ctr">
                    <a:lnB w="9525" cap="flat" cmpd="sng" algn="ctr">
                      <a:solidFill>
                        <a:srgbClr val="41801A"/>
                      </a:solidFill>
                    </a:lnB>
                    <a:solidFill>
                      <a:srgbClr val="FFFFFF"/>
                    </a:solidFill>
                  </a:tcPr>
                </a:tc>
              </a:tr>
              <a:tr h="514019">
                <a:tc>
                  <a:txBody>
                    <a:bodyPr wrap="square"/>
                    <a:lstStyle/>
                    <a:p>
                      <a:r>
                        <a:rPr sz="800" b="0">
                          <a:solidFill>
                            <a:srgbClr val="26301F"/>
                          </a:solidFill>
                          <a:latin typeface="Segoe UI"/>
                        </a:rPr>
                        <a:t>Consent</a:t>
                      </a:r>
                    </a:p>
                  </a:txBody>
                  <a:tcPr marL="45720" marR="109728" marT="27432" marB="27432" anchor="ctr">
                    <a:lnB w="9525" cap="flat" cmpd="sng" algn="ctr">
                      <a:solidFill>
                        <a:srgbClr val="DCE3D6"/>
                      </a:solidFill>
                    </a:lnB>
                    <a:solidFill>
                      <a:srgbClr val="FFFFFF"/>
                    </a:solidFill>
                  </a:tcPr>
                </a:tc>
                <a:tc>
                  <a:txBody>
                    <a:bodyPr wrap="square"/>
                    <a:lstStyle/>
                    <a:p>
                      <a:r>
                        <a:rPr sz="800" b="0">
                          <a:solidFill>
                            <a:srgbClr val="26301F"/>
                          </a:solidFill>
                          <a:latin typeface="Segoe UI"/>
                        </a:rPr>
                        <a:t>A per circle instruction, on by default at joining, with the consent recorded against a document version and a timestamp. The member sees exactly what they are agreeing to before they agree to it</a:t>
                      </a:r>
                    </a:p>
                  </a:txBody>
                  <a:tcPr marL="45720" marR="109728" marT="27432" marB="27432" anchor="ctr">
                    <a:lnB w="9525" cap="flat" cmpd="sng" algn="ctr">
                      <a:solidFill>
                        <a:srgbClr val="DCE3D6"/>
                      </a:solidFill>
                    </a:lnB>
                    <a:solidFill>
                      <a:srgbClr val="FFFFFF"/>
                    </a:solidFill>
                  </a:tcPr>
                </a:tc>
              </a:tr>
              <a:tr h="514019">
                <a:tc>
                  <a:txBody>
                    <a:bodyPr wrap="square"/>
                    <a:lstStyle/>
                    <a:p>
                      <a:r>
                        <a:rPr sz="800" b="0">
                          <a:solidFill>
                            <a:srgbClr val="26301F"/>
                          </a:solidFill>
                          <a:latin typeface="Segoe UI"/>
                        </a:rPr>
                        <a:t>What the member can change</a:t>
                      </a:r>
                    </a:p>
                  </a:txBody>
                  <a:tcPr marL="45720" marR="109728" marT="27432" marB="27432" anchor="ctr">
                    <a:lnB w="9525" cap="flat" cmpd="sng" algn="ctr">
                      <a:solidFill>
                        <a:srgbClr val="DCE3D6"/>
                      </a:solidFill>
                    </a:lnB>
                    <a:solidFill>
                      <a:srgbClr val="FFFFFF"/>
                    </a:solidFill>
                  </a:tcPr>
                </a:tc>
                <a:tc>
                  <a:txBody>
                    <a:bodyPr wrap="square"/>
                    <a:lstStyle/>
                    <a:p>
                      <a:r>
                        <a:rPr sz="800" b="0">
                          <a:solidFill>
                            <a:srgbClr val="26301F"/>
                          </a:solidFill>
                          <a:latin typeface="Segoe UI"/>
                        </a:rPr>
                        <a:t>The instrument can be replaced at any time. The mandate itself cannot be removed while a circle is running, because the other members joined on the basis that it was there</a:t>
                      </a:r>
                    </a:p>
                  </a:txBody>
                  <a:tcPr marL="45720" marR="109728" marT="27432" marB="27432" anchor="ctr">
                    <a:lnB w="9525" cap="flat" cmpd="sng" algn="ctr">
                      <a:solidFill>
                        <a:srgbClr val="DCE3D6"/>
                      </a:solidFill>
                    </a:lnB>
                    <a:solidFill>
                      <a:srgbClr val="FFFFFF"/>
                    </a:solidFill>
                  </a:tcPr>
                </a:tc>
              </a:tr>
              <a:tr h="514019">
                <a:tc>
                  <a:txBody>
                    <a:bodyPr wrap="square"/>
                    <a:lstStyle/>
                    <a:p>
                      <a:r>
                        <a:rPr sz="800" b="0">
                          <a:solidFill>
                            <a:srgbClr val="26301F"/>
                          </a:solidFill>
                          <a:latin typeface="Segoe UI"/>
                        </a:rPr>
                        <a:t>Pausing</a:t>
                      </a:r>
                    </a:p>
                  </a:txBody>
                  <a:tcPr marL="45720" marR="109728" marT="27432" marB="27432" anchor="ctr">
                    <a:lnB w="9525" cap="flat" cmpd="sng" algn="ctr">
                      <a:solidFill>
                        <a:srgbClr val="DCE3D6"/>
                      </a:solidFill>
                    </a:lnB>
                    <a:solidFill>
                      <a:srgbClr val="FFFFFF"/>
                    </a:solidFill>
                  </a:tcPr>
                </a:tc>
                <a:tc>
                  <a:txBody>
                    <a:bodyPr wrap="square"/>
                    <a:lstStyle/>
                    <a:p>
                      <a:r>
                        <a:rPr sz="800" b="0">
                          <a:solidFill>
                            <a:srgbClr val="26301F"/>
                          </a:solidFill>
                          <a:latin typeface="Segoe UI"/>
                        </a:rPr>
                        <a:t>Available, with a reason recorded. It costs score rather than access, so a member in genuine difficulty is not locked out of the product for asking</a:t>
                      </a:r>
                    </a:p>
                  </a:txBody>
                  <a:tcPr marL="45720" marR="109728" marT="27432" marB="27432" anchor="ctr">
                    <a:lnB w="9525" cap="flat" cmpd="sng" algn="ctr">
                      <a:solidFill>
                        <a:srgbClr val="DCE3D6"/>
                      </a:solidFill>
                    </a:lnB>
                    <a:solidFill>
                      <a:srgbClr val="FFFFFF"/>
                    </a:solidFill>
                  </a:tcPr>
                </a:tc>
              </a:tr>
              <a:tr h="514019">
                <a:tc>
                  <a:txBody>
                    <a:bodyPr wrap="square"/>
                    <a:lstStyle/>
                    <a:p>
                      <a:r>
                        <a:rPr sz="800" b="0">
                          <a:solidFill>
                            <a:srgbClr val="26301F"/>
                          </a:solidFill>
                          <a:latin typeface="Segoe UI"/>
                        </a:rPr>
                        <a:t>Verifying the instrument</a:t>
                      </a:r>
                    </a:p>
                  </a:txBody>
                  <a:tcPr marL="45720" marR="109728" marT="27432" marB="27432" anchor="ctr">
                    <a:lnB w="9525" cap="flat" cmpd="sng" algn="ctr">
                      <a:solidFill>
                        <a:srgbClr val="DCE3D6"/>
                      </a:solidFill>
                    </a:lnB>
                    <a:solidFill>
                      <a:srgbClr val="FFFFFF"/>
                    </a:solidFill>
                  </a:tcPr>
                </a:tc>
                <a:tc>
                  <a:txBody>
                    <a:bodyPr wrap="square"/>
                    <a:lstStyle/>
                    <a:p>
                      <a:r>
                        <a:rPr sz="800" b="0">
                          <a:solidFill>
                            <a:srgbClr val="26301F"/>
                          </a:solidFill>
                          <a:latin typeface="Segoe UI"/>
                        </a:rPr>
                        <a:t>Linking issues a one time code over WhatsApp with a ten minute expiry, and the registered account holder name returned by the aggregator is checked against the identity card name</a:t>
                      </a:r>
                    </a:p>
                  </a:txBody>
                  <a:tcPr marL="45720" marR="109728" marT="27432" marB="27432" anchor="ctr">
                    <a:lnB w="9525" cap="flat" cmpd="sng" algn="ctr">
                      <a:solidFill>
                        <a:srgbClr val="DCE3D6"/>
                      </a:solidFill>
                    </a:lnB>
                    <a:solidFill>
                      <a:srgbClr val="FFFFFF"/>
                    </a:solidFill>
                  </a:tcPr>
                </a:tc>
              </a:tr>
              <a:tr h="514019">
                <a:tc>
                  <a:txBody>
                    <a:bodyPr wrap="square"/>
                    <a:lstStyle/>
                    <a:p>
                      <a:r>
                        <a:rPr sz="800" b="0">
                          <a:solidFill>
                            <a:srgbClr val="26301F"/>
                          </a:solidFill>
                          <a:latin typeface="Segoe UI"/>
                        </a:rPr>
                        <a:t>What is stored</a:t>
                      </a:r>
                    </a:p>
                  </a:txBody>
                  <a:tcPr marL="45720" marR="109728" marT="27432" marB="27432" anchor="ctr">
                    <a:lnB w="9525" cap="flat" cmpd="sng" algn="ctr">
                      <a:solidFill>
                        <a:srgbClr val="DCE3D6"/>
                      </a:solidFill>
                    </a:lnB>
                    <a:solidFill>
                      <a:srgbClr val="FFFFFF"/>
                    </a:solidFill>
                  </a:tcPr>
                </a:tc>
                <a:tc>
                  <a:txBody>
                    <a:bodyPr wrap="square"/>
                    <a:lstStyle/>
                    <a:p>
                      <a:r>
                        <a:rPr sz="800" b="0">
                          <a:solidFill>
                            <a:srgbClr val="26301F"/>
                          </a:solidFill>
                          <a:latin typeface="Segoe UI"/>
                        </a:rPr>
                        <a:t>The rail reference, wallet or account number, masked at rest. Maximum five instruments, one preferred. Card linking stores the brand, the last four digits, the expiry, the holder and the billing address. The full number and the security code are never written down anywhere</a:t>
                      </a:r>
                    </a:p>
                  </a:txBody>
                  <a:tcPr marL="45720" marR="109728" marT="27432" marB="27432" anchor="ctr">
                    <a:lnB w="9525" cap="flat" cmpd="sng" algn="ctr">
                      <a:solidFill>
                        <a:srgbClr val="DCE3D6"/>
                      </a:solidFill>
                    </a:lnB>
                    <a:solidFill>
                      <a:srgbClr val="FFFFFF"/>
                    </a:solidFill>
                  </a:tcPr>
                </a:tc>
              </a:tr>
              <a:tr h="514019">
                <a:tc>
                  <a:txBody>
                    <a:bodyPr wrap="square"/>
                    <a:lstStyle/>
                    <a:p>
                      <a:r>
                        <a:rPr sz="800" b="0">
                          <a:solidFill>
                            <a:srgbClr val="26301F"/>
                          </a:solidFill>
                          <a:latin typeface="Segoe UI"/>
                        </a:rPr>
                        <a:t>If the bank revokes it</a:t>
                      </a:r>
                    </a:p>
                  </a:txBody>
                  <a:tcPr marL="45720" marR="109728" marT="27432" marB="27432" anchor="ctr">
                    <a:lnB w="9525" cap="flat" cmpd="sng" algn="ctr">
                      <a:solidFill>
                        <a:srgbClr val="DCE3D6"/>
                      </a:solidFill>
                    </a:lnB>
                    <a:solidFill>
                      <a:srgbClr val="FFFFFF"/>
                    </a:solidFill>
                  </a:tcPr>
                </a:tc>
                <a:tc>
                  <a:txBody>
                    <a:bodyPr wrap="square"/>
                    <a:lstStyle/>
                    <a:p>
                      <a:r>
                        <a:rPr sz="800" b="0">
                          <a:solidFill>
                            <a:srgbClr val="26301F"/>
                          </a:solidFill>
                          <a:latin typeface="Segoe UI"/>
                        </a:rPr>
                        <a:t>The instrument is marked stale and the member is asked to relink. Score is untouched for seven days, because a bank side cancellation is not evidence of intent</a:t>
                      </a:r>
                    </a:p>
                  </a:txBody>
                  <a:tcPr marL="45720" marR="109728" marT="27432" marB="27432" anchor="ctr">
                    <a:lnB w="9525" cap="flat" cmpd="sng" algn="ctr">
                      <a:solidFill>
                        <a:srgbClr val="DCE3D6"/>
                      </a:solidFill>
                    </a:lnB>
                    <a:solidFill>
                      <a:srgbClr val="FFFFFF"/>
                    </a:solidFill>
                  </a:tcPr>
                </a:tc>
              </a:tr>
            </a:tbl>
          </a:graphicData>
        </a:graphic>
      </p:graphicFrame>
    </p:spTree>
  </p:cSld>
  <p:clrMapOvr>
    <a:masterClrMapping/>
  </p:clrMapOvr>
</p:sld>
</file>

<file path=ppt/slides/slide2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777240" y="566928"/>
            <a:ext cx="10637215" cy="219456"/>
          </a:xfrm>
          <a:prstGeom prst="rect">
            <a:avLst/>
          </a:prstGeom>
          <a:noFill/>
        </p:spPr>
        <p:txBody>
          <a:bodyPr wrap="square" lIns="0" rIns="0" tIns="0" bIns="0">
            <a:spAutoFit/>
          </a:bodyPr>
          <a:lstStyle/>
          <a:p>
            <a:pPr algn="l">
              <a:lnSpc>
                <a:spcPct val="125000"/>
              </a:lnSpc>
            </a:pPr>
            <a:r>
              <a:rPr sz="950" b="1" i="0">
                <a:solidFill>
                  <a:srgbClr val="41801A"/>
                </a:solidFill>
                <a:latin typeface="Segoe UI"/>
              </a:rPr>
              <a:t>3  TAKING THE MONEY</a:t>
            </a:r>
          </a:p>
        </p:txBody>
      </p:sp>
      <p:sp>
        <p:nvSpPr>
          <p:cNvPr id="3" name="TextBox 2"/>
          <p:cNvSpPr txBox="1"/>
          <p:nvPr/>
        </p:nvSpPr>
        <p:spPr>
          <a:xfrm>
            <a:off x="777240" y="841248"/>
            <a:ext cx="10637215" cy="502920"/>
          </a:xfrm>
          <a:prstGeom prst="rect">
            <a:avLst/>
          </a:prstGeom>
          <a:noFill/>
        </p:spPr>
        <p:txBody>
          <a:bodyPr wrap="square" lIns="0" rIns="0" tIns="0" bIns="0">
            <a:spAutoFit/>
          </a:bodyPr>
          <a:lstStyle/>
          <a:p>
            <a:pPr algn="l">
              <a:lnSpc>
                <a:spcPct val="125000"/>
              </a:lnSpc>
            </a:pPr>
            <a:r>
              <a:rPr sz="2700" b="1" i="0">
                <a:solidFill>
                  <a:srgbClr val="0C1408"/>
                </a:solidFill>
                <a:latin typeface="Segoe UI"/>
              </a:rPr>
              <a:t>How one contribution moves, start to finish</a:t>
            </a:r>
          </a:p>
        </p:txBody>
      </p:sp>
      <p:sp>
        <p:nvSpPr>
          <p:cNvPr id="4" name="Rectangle 3"/>
          <p:cNvSpPr/>
          <p:nvPr/>
        </p:nvSpPr>
        <p:spPr>
          <a:xfrm>
            <a:off x="777240" y="1417320"/>
            <a:ext cx="1371600" cy="22860"/>
          </a:xfrm>
          <a:prstGeom prst="rect">
            <a:avLst/>
          </a:prstGeom>
          <a:solidFill>
            <a:srgbClr val="6DC72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777240" y="6382512"/>
            <a:ext cx="3657600" cy="228600"/>
          </a:xfrm>
          <a:prstGeom prst="rect">
            <a:avLst/>
          </a:prstGeom>
          <a:noFill/>
        </p:spPr>
        <p:txBody>
          <a:bodyPr wrap="square" lIns="0" rIns="0" tIns="0" bIns="0">
            <a:spAutoFit/>
          </a:bodyPr>
          <a:lstStyle/>
          <a:p>
            <a:pPr algn="l">
              <a:lnSpc>
                <a:spcPct val="125000"/>
              </a:lnSpc>
            </a:pPr>
            <a:r>
              <a:rPr sz="900" b="0" i="0">
                <a:solidFill>
                  <a:srgbClr val="9AA694"/>
                </a:solidFill>
                <a:latin typeface="Segoe UI"/>
              </a:rPr>
              <a:t>Halqa  ·  Confidential</a:t>
            </a:r>
          </a:p>
        </p:txBody>
      </p:sp>
      <p:sp>
        <p:nvSpPr>
          <p:cNvPr id="6" name="TextBox 5"/>
          <p:cNvSpPr txBox="1"/>
          <p:nvPr/>
        </p:nvSpPr>
        <p:spPr>
          <a:xfrm>
            <a:off x="10728655" y="6382512"/>
            <a:ext cx="685800" cy="228600"/>
          </a:xfrm>
          <a:prstGeom prst="rect">
            <a:avLst/>
          </a:prstGeom>
          <a:noFill/>
        </p:spPr>
        <p:txBody>
          <a:bodyPr wrap="square" lIns="0" rIns="0" tIns="0" bIns="0">
            <a:spAutoFit/>
          </a:bodyPr>
          <a:lstStyle/>
          <a:p>
            <a:pPr algn="r">
              <a:lnSpc>
                <a:spcPct val="125000"/>
              </a:lnSpc>
            </a:pPr>
            <a:r>
              <a:rPr sz="900" b="0" i="0">
                <a:solidFill>
                  <a:srgbClr val="6F7B68"/>
                </a:solidFill>
                <a:latin typeface="Segoe UI"/>
              </a:rPr>
              <a:t>25</a:t>
            </a:r>
          </a:p>
        </p:txBody>
      </p:sp>
      <p:graphicFrame>
        <p:nvGraphicFramePr>
          <p:cNvPr id="7" name="Table 6"/>
          <p:cNvGraphicFramePr>
            <a:graphicFrameLocks noGrp="1"/>
          </p:cNvGraphicFramePr>
          <p:nvPr/>
        </p:nvGraphicFramePr>
        <p:xfrm>
          <a:off x="777240" y="1965960"/>
          <a:ext cx="10607040" cy="3506904"/>
        </p:xfrm>
        <a:graphic>
          <a:graphicData uri="http://schemas.openxmlformats.org/drawingml/2006/table">
            <a:tbl>
              <a:tblPr>
                <a:tableStyleId>{5C22544A-7EE6-4342-B048-85BDC9FD1C3A}</a:tableStyleId>
              </a:tblPr>
              <a:tblGrid>
                <a:gridCol w="365760"/>
                <a:gridCol w="2103120"/>
                <a:gridCol w="6126480"/>
                <a:gridCol w="2011680"/>
              </a:tblGrid>
              <a:tr h="292242">
                <a:tc>
                  <a:txBody>
                    <a:bodyPr wrap="square"/>
                    <a:lstStyle/>
                    <a:p>
                      <a:r>
                        <a:rPr sz="800" b="1">
                          <a:solidFill>
                            <a:srgbClr val="41801A"/>
                          </a:solidFill>
                          <a:latin typeface="Segoe UI"/>
                        </a:rPr>
                        <a:t/>
                      </a:r>
                    </a:p>
                  </a:txBody>
                  <a:tcPr marL="45720" marR="109728" marT="27432" marB="27432" anchor="ctr">
                    <a:lnB w="9525" cap="flat" cmpd="sng" algn="ctr">
                      <a:solidFill>
                        <a:srgbClr val="41801A"/>
                      </a:solidFill>
                    </a:lnB>
                    <a:solidFill>
                      <a:srgbClr val="FFFFFF"/>
                    </a:solidFill>
                  </a:tcPr>
                </a:tc>
                <a:tc>
                  <a:txBody>
                    <a:bodyPr wrap="square"/>
                    <a:lstStyle/>
                    <a:p>
                      <a:r>
                        <a:rPr sz="800" b="1">
                          <a:solidFill>
                            <a:srgbClr val="41801A"/>
                          </a:solidFill>
                          <a:latin typeface="Segoe UI"/>
                        </a:rPr>
                        <a:t>STEP</a:t>
                      </a:r>
                    </a:p>
                  </a:txBody>
                  <a:tcPr marL="45720" marR="109728" marT="27432" marB="27432" anchor="ctr">
                    <a:lnB w="9525" cap="flat" cmpd="sng" algn="ctr">
                      <a:solidFill>
                        <a:srgbClr val="41801A"/>
                      </a:solidFill>
                    </a:lnB>
                    <a:solidFill>
                      <a:srgbClr val="FFFFFF"/>
                    </a:solidFill>
                  </a:tcPr>
                </a:tc>
                <a:tc>
                  <a:txBody>
                    <a:bodyPr wrap="square"/>
                    <a:lstStyle/>
                    <a:p>
                      <a:r>
                        <a:rPr sz="800" b="1">
                          <a:solidFill>
                            <a:srgbClr val="41801A"/>
                          </a:solidFill>
                          <a:latin typeface="Segoe UI"/>
                        </a:rPr>
                        <a:t>WHAT HAPPENS</a:t>
                      </a:r>
                    </a:p>
                  </a:txBody>
                  <a:tcPr marL="45720" marR="109728" marT="27432" marB="27432" anchor="ctr">
                    <a:lnB w="9525" cap="flat" cmpd="sng" algn="ctr">
                      <a:solidFill>
                        <a:srgbClr val="41801A"/>
                      </a:solidFill>
                    </a:lnB>
                    <a:solidFill>
                      <a:srgbClr val="FFFFFF"/>
                    </a:solidFill>
                  </a:tcPr>
                </a:tc>
                <a:tc>
                  <a:txBody>
                    <a:bodyPr wrap="square"/>
                    <a:lstStyle/>
                    <a:p>
                      <a:r>
                        <a:rPr sz="800" b="1">
                          <a:solidFill>
                            <a:srgbClr val="41801A"/>
                          </a:solidFill>
                          <a:latin typeface="Segoe UI"/>
                        </a:rPr>
                        <a:t>WHERE THE MONEY IS</a:t>
                      </a:r>
                    </a:p>
                  </a:txBody>
                  <a:tcPr marL="45720" marR="109728" marT="27432" marB="27432" anchor="ctr">
                    <a:lnB w="9525" cap="flat" cmpd="sng" algn="ctr">
                      <a:solidFill>
                        <a:srgbClr val="41801A"/>
                      </a:solidFill>
                    </a:lnB>
                    <a:solidFill>
                      <a:srgbClr val="FFFFFF"/>
                    </a:solidFill>
                  </a:tcPr>
                </a:tc>
              </a:tr>
              <a:tr h="292242">
                <a:tc>
                  <a:txBody>
                    <a:bodyPr wrap="square"/>
                    <a:lstStyle/>
                    <a:p>
                      <a:r>
                        <a:rPr sz="800" b="0">
                          <a:solidFill>
                            <a:srgbClr val="26301F"/>
                          </a:solidFill>
                          <a:latin typeface="Segoe UI"/>
                        </a:rPr>
                        <a:t>1</a:t>
                      </a:r>
                    </a:p>
                  </a:txBody>
                  <a:tcPr marL="45720" marR="109728" marT="27432" marB="27432" anchor="ctr">
                    <a:lnB w="9525" cap="flat" cmpd="sng" algn="ctr">
                      <a:solidFill>
                        <a:srgbClr val="DCE3D6"/>
                      </a:solidFill>
                    </a:lnB>
                    <a:solidFill>
                      <a:srgbClr val="FFFFFF"/>
                    </a:solidFill>
                  </a:tcPr>
                </a:tc>
                <a:tc>
                  <a:txBody>
                    <a:bodyPr wrap="square"/>
                    <a:lstStyle/>
                    <a:p>
                      <a:r>
                        <a:rPr sz="800" b="0">
                          <a:solidFill>
                            <a:srgbClr val="26301F"/>
                          </a:solidFill>
                          <a:latin typeface="Segoe UI"/>
                        </a:rPr>
                        <a:t>The schedule is written</a:t>
                      </a:r>
                    </a:p>
                  </a:txBody>
                  <a:tcPr marL="45720" marR="109728" marT="27432" marB="27432" anchor="ctr">
                    <a:lnB w="9525" cap="flat" cmpd="sng" algn="ctr">
                      <a:solidFill>
                        <a:srgbClr val="DCE3D6"/>
                      </a:solidFill>
                    </a:lnB>
                    <a:solidFill>
                      <a:srgbClr val="FFFFFF"/>
                    </a:solidFill>
                  </a:tcPr>
                </a:tc>
                <a:tc>
                  <a:txBody>
                    <a:bodyPr wrap="square"/>
                    <a:lstStyle/>
                    <a:p>
                      <a:r>
                        <a:rPr sz="800" b="0">
                          <a:solidFill>
                            <a:srgbClr val="26301F"/>
                          </a:solidFill>
                          <a:latin typeface="Segoe UI"/>
                        </a:rPr>
                        <a:t>When the circle starts, one row is created for every member for every round, each with its due date and its own unique reference</a:t>
                      </a:r>
                    </a:p>
                  </a:txBody>
                  <a:tcPr marL="45720" marR="109728" marT="27432" marB="27432" anchor="ctr">
                    <a:lnB w="9525" cap="flat" cmpd="sng" algn="ctr">
                      <a:solidFill>
                        <a:srgbClr val="DCE3D6"/>
                      </a:solidFill>
                    </a:lnB>
                    <a:solidFill>
                      <a:srgbClr val="FFFFFF"/>
                    </a:solidFill>
                  </a:tcPr>
                </a:tc>
                <a:tc>
                  <a:txBody>
                    <a:bodyPr wrap="square"/>
                    <a:lstStyle/>
                    <a:p>
                      <a:r>
                        <a:rPr sz="800" b="0">
                          <a:solidFill>
                            <a:srgbClr val="26301F"/>
                          </a:solidFill>
                          <a:latin typeface="Segoe UI"/>
                        </a:rPr>
                        <a:t>With the member</a:t>
                      </a:r>
                    </a:p>
                  </a:txBody>
                  <a:tcPr marL="45720" marR="109728" marT="27432" marB="27432" anchor="ctr">
                    <a:lnB w="9525" cap="flat" cmpd="sng" algn="ctr">
                      <a:solidFill>
                        <a:srgbClr val="DCE3D6"/>
                      </a:solidFill>
                    </a:lnB>
                    <a:solidFill>
                      <a:srgbClr val="FFFFFF"/>
                    </a:solidFill>
                  </a:tcPr>
                </a:tc>
              </a:tr>
              <a:tr h="292242">
                <a:tc>
                  <a:txBody>
                    <a:bodyPr wrap="square"/>
                    <a:lstStyle/>
                    <a:p>
                      <a:r>
                        <a:rPr sz="800" b="0">
                          <a:solidFill>
                            <a:srgbClr val="26301F"/>
                          </a:solidFill>
                          <a:latin typeface="Segoe UI"/>
                        </a:rPr>
                        <a:t>2</a:t>
                      </a:r>
                    </a:p>
                  </a:txBody>
                  <a:tcPr marL="45720" marR="109728" marT="27432" marB="27432" anchor="ctr">
                    <a:lnB w="9525" cap="flat" cmpd="sng" algn="ctr">
                      <a:solidFill>
                        <a:srgbClr val="DCE3D6"/>
                      </a:solidFill>
                    </a:lnB>
                    <a:solidFill>
                      <a:srgbClr val="FFFFFF"/>
                    </a:solidFill>
                  </a:tcPr>
                </a:tc>
                <a:tc>
                  <a:txBody>
                    <a:bodyPr wrap="square"/>
                    <a:lstStyle/>
                    <a:p>
                      <a:r>
                        <a:rPr sz="800" b="0">
                          <a:solidFill>
                            <a:srgbClr val="26301F"/>
                          </a:solidFill>
                          <a:latin typeface="Segoe UI"/>
                        </a:rPr>
                        <a:t>The notice goes out</a:t>
                      </a:r>
                    </a:p>
                  </a:txBody>
                  <a:tcPr marL="45720" marR="109728" marT="27432" marB="27432" anchor="ctr">
                    <a:lnB w="9525" cap="flat" cmpd="sng" algn="ctr">
                      <a:solidFill>
                        <a:srgbClr val="DCE3D6"/>
                      </a:solidFill>
                    </a:lnB>
                    <a:solidFill>
                      <a:srgbClr val="FFFFFF"/>
                    </a:solidFill>
                  </a:tcPr>
                </a:tc>
                <a:tc>
                  <a:txBody>
                    <a:bodyPr wrap="square"/>
                    <a:lstStyle/>
                    <a:p>
                      <a:r>
                        <a:rPr sz="800" b="0">
                          <a:solidFill>
                            <a:srgbClr val="26301F"/>
                          </a:solidFill>
                          <a:latin typeface="Segoe UI"/>
                        </a:rPr>
                        <a:t>The evening before, push and WhatsApp</a:t>
                      </a:r>
                    </a:p>
                  </a:txBody>
                  <a:tcPr marL="45720" marR="109728" marT="27432" marB="27432" anchor="ctr">
                    <a:lnB w="9525" cap="flat" cmpd="sng" algn="ctr">
                      <a:solidFill>
                        <a:srgbClr val="DCE3D6"/>
                      </a:solidFill>
                    </a:lnB>
                    <a:solidFill>
                      <a:srgbClr val="FFFFFF"/>
                    </a:solidFill>
                  </a:tcPr>
                </a:tc>
                <a:tc>
                  <a:txBody>
                    <a:bodyPr wrap="square"/>
                    <a:lstStyle/>
                    <a:p>
                      <a:r>
                        <a:rPr sz="800" b="0">
                          <a:solidFill>
                            <a:srgbClr val="26301F"/>
                          </a:solidFill>
                          <a:latin typeface="Segoe UI"/>
                        </a:rPr>
                        <a:t>With the member</a:t>
                      </a:r>
                    </a:p>
                  </a:txBody>
                  <a:tcPr marL="45720" marR="109728" marT="27432" marB="27432" anchor="ctr">
                    <a:lnB w="9525" cap="flat" cmpd="sng" algn="ctr">
                      <a:solidFill>
                        <a:srgbClr val="DCE3D6"/>
                      </a:solidFill>
                    </a:lnB>
                    <a:solidFill>
                      <a:srgbClr val="FFFFFF"/>
                    </a:solidFill>
                  </a:tcPr>
                </a:tc>
              </a:tr>
              <a:tr h="292242">
                <a:tc>
                  <a:txBody>
                    <a:bodyPr wrap="square"/>
                    <a:lstStyle/>
                    <a:p>
                      <a:r>
                        <a:rPr sz="800" b="0">
                          <a:solidFill>
                            <a:srgbClr val="26301F"/>
                          </a:solidFill>
                          <a:latin typeface="Segoe UI"/>
                        </a:rPr>
                        <a:t>3</a:t>
                      </a:r>
                    </a:p>
                  </a:txBody>
                  <a:tcPr marL="45720" marR="109728" marT="27432" marB="27432" anchor="ctr">
                    <a:lnB w="9525" cap="flat" cmpd="sng" algn="ctr">
                      <a:solidFill>
                        <a:srgbClr val="DCE3D6"/>
                      </a:solidFill>
                    </a:lnB>
                    <a:solidFill>
                      <a:srgbClr val="FFFFFF"/>
                    </a:solidFill>
                  </a:tcPr>
                </a:tc>
                <a:tc>
                  <a:txBody>
                    <a:bodyPr wrap="square"/>
                    <a:lstStyle/>
                    <a:p>
                      <a:r>
                        <a:rPr sz="800" b="0">
                          <a:solidFill>
                            <a:srgbClr val="26301F"/>
                          </a:solidFill>
                          <a:latin typeface="Segoe UI"/>
                        </a:rPr>
                        <a:t>The instruction fires</a:t>
                      </a:r>
                    </a:p>
                  </a:txBody>
                  <a:tcPr marL="45720" marR="109728" marT="27432" marB="27432" anchor="ctr">
                    <a:lnB w="9525" cap="flat" cmpd="sng" algn="ctr">
                      <a:solidFill>
                        <a:srgbClr val="DCE3D6"/>
                      </a:solidFill>
                    </a:lnB>
                    <a:solidFill>
                      <a:srgbClr val="FFFFFF"/>
                    </a:solidFill>
                  </a:tcPr>
                </a:tc>
                <a:tc>
                  <a:txBody>
                    <a:bodyPr wrap="square"/>
                    <a:lstStyle/>
                    <a:p>
                      <a:r>
                        <a:rPr sz="800" b="0">
                          <a:solidFill>
                            <a:srgbClr val="26301F"/>
                          </a:solidFill>
                          <a:latin typeface="Segoe UI"/>
                        </a:rPr>
                        <a:t>On payday morning, carrying that unique reference and the member's stored instrument</a:t>
                      </a:r>
                    </a:p>
                  </a:txBody>
                  <a:tcPr marL="45720" marR="109728" marT="27432" marB="27432" anchor="ctr">
                    <a:lnB w="9525" cap="flat" cmpd="sng" algn="ctr">
                      <a:solidFill>
                        <a:srgbClr val="DCE3D6"/>
                      </a:solidFill>
                    </a:lnB>
                    <a:solidFill>
                      <a:srgbClr val="FFFFFF"/>
                    </a:solidFill>
                  </a:tcPr>
                </a:tc>
                <a:tc>
                  <a:txBody>
                    <a:bodyPr wrap="square"/>
                    <a:lstStyle/>
                    <a:p>
                      <a:r>
                        <a:rPr sz="800" b="0">
                          <a:solidFill>
                            <a:srgbClr val="26301F"/>
                          </a:solidFill>
                          <a:latin typeface="Segoe UI"/>
                        </a:rPr>
                        <a:t>With the member</a:t>
                      </a:r>
                    </a:p>
                  </a:txBody>
                  <a:tcPr marL="45720" marR="109728" marT="27432" marB="27432" anchor="ctr">
                    <a:lnB w="9525" cap="flat" cmpd="sng" algn="ctr">
                      <a:solidFill>
                        <a:srgbClr val="DCE3D6"/>
                      </a:solidFill>
                    </a:lnB>
                    <a:solidFill>
                      <a:srgbClr val="FFFFFF"/>
                    </a:solidFill>
                  </a:tcPr>
                </a:tc>
              </a:tr>
              <a:tr h="292242">
                <a:tc>
                  <a:txBody>
                    <a:bodyPr wrap="square"/>
                    <a:lstStyle/>
                    <a:p>
                      <a:r>
                        <a:rPr sz="800" b="0">
                          <a:solidFill>
                            <a:srgbClr val="26301F"/>
                          </a:solidFill>
                          <a:latin typeface="Segoe UI"/>
                        </a:rPr>
                        <a:t>4</a:t>
                      </a:r>
                    </a:p>
                  </a:txBody>
                  <a:tcPr marL="45720" marR="109728" marT="27432" marB="27432" anchor="ctr">
                    <a:lnB w="9525" cap="flat" cmpd="sng" algn="ctr">
                      <a:solidFill>
                        <a:srgbClr val="DCE3D6"/>
                      </a:solidFill>
                    </a:lnB>
                    <a:solidFill>
                      <a:srgbClr val="FFFFFF"/>
                    </a:solidFill>
                  </a:tcPr>
                </a:tc>
                <a:tc>
                  <a:txBody>
                    <a:bodyPr wrap="square"/>
                    <a:lstStyle/>
                    <a:p>
                      <a:r>
                        <a:rPr sz="800" b="0">
                          <a:solidFill>
                            <a:srgbClr val="26301F"/>
                          </a:solidFill>
                          <a:latin typeface="Segoe UI"/>
                        </a:rPr>
                        <a:t>The aggregator presents it</a:t>
                      </a:r>
                    </a:p>
                  </a:txBody>
                  <a:tcPr marL="45720" marR="109728" marT="27432" marB="27432" anchor="ctr">
                    <a:lnB w="9525" cap="flat" cmpd="sng" algn="ctr">
                      <a:solidFill>
                        <a:srgbClr val="DCE3D6"/>
                      </a:solidFill>
                    </a:lnB>
                    <a:solidFill>
                      <a:srgbClr val="FFFFFF"/>
                    </a:solidFill>
                  </a:tcPr>
                </a:tc>
                <a:tc>
                  <a:txBody>
                    <a:bodyPr wrap="square"/>
                    <a:lstStyle/>
                    <a:p>
                      <a:r>
                        <a:rPr sz="800" b="0">
                          <a:solidFill>
                            <a:srgbClr val="26301F"/>
                          </a:solidFill>
                          <a:latin typeface="Segoe UI"/>
                        </a:rPr>
                        <a:t>To the member's bank or wallet, over the instant payment rail</a:t>
                      </a:r>
                    </a:p>
                  </a:txBody>
                  <a:tcPr marL="45720" marR="109728" marT="27432" marB="27432" anchor="ctr">
                    <a:lnB w="9525" cap="flat" cmpd="sng" algn="ctr">
                      <a:solidFill>
                        <a:srgbClr val="DCE3D6"/>
                      </a:solidFill>
                    </a:lnB>
                    <a:solidFill>
                      <a:srgbClr val="FFFFFF"/>
                    </a:solidFill>
                  </a:tcPr>
                </a:tc>
                <a:tc>
                  <a:txBody>
                    <a:bodyPr wrap="square"/>
                    <a:lstStyle/>
                    <a:p>
                      <a:r>
                        <a:rPr sz="800" b="0">
                          <a:solidFill>
                            <a:srgbClr val="26301F"/>
                          </a:solidFill>
                          <a:latin typeface="Segoe UI"/>
                        </a:rPr>
                        <a:t>With the member</a:t>
                      </a:r>
                    </a:p>
                  </a:txBody>
                  <a:tcPr marL="45720" marR="109728" marT="27432" marB="27432" anchor="ctr">
                    <a:lnB w="9525" cap="flat" cmpd="sng" algn="ctr">
                      <a:solidFill>
                        <a:srgbClr val="DCE3D6"/>
                      </a:solidFill>
                    </a:lnB>
                    <a:solidFill>
                      <a:srgbClr val="FFFFFF"/>
                    </a:solidFill>
                  </a:tcPr>
                </a:tc>
              </a:tr>
              <a:tr h="292242">
                <a:tc>
                  <a:txBody>
                    <a:bodyPr wrap="square"/>
                    <a:lstStyle/>
                    <a:p>
                      <a:r>
                        <a:rPr sz="800" b="0">
                          <a:solidFill>
                            <a:srgbClr val="26301F"/>
                          </a:solidFill>
                          <a:latin typeface="Segoe UI"/>
                        </a:rPr>
                        <a:t>5</a:t>
                      </a:r>
                    </a:p>
                  </a:txBody>
                  <a:tcPr marL="45720" marR="109728" marT="27432" marB="27432" anchor="ctr">
                    <a:lnB w="9525" cap="flat" cmpd="sng" algn="ctr">
                      <a:solidFill>
                        <a:srgbClr val="DCE3D6"/>
                      </a:solidFill>
                    </a:lnB>
                    <a:solidFill>
                      <a:srgbClr val="FFFFFF"/>
                    </a:solidFill>
                  </a:tcPr>
                </a:tc>
                <a:tc>
                  <a:txBody>
                    <a:bodyPr wrap="square"/>
                    <a:lstStyle/>
                    <a:p>
                      <a:r>
                        <a:rPr sz="800" b="0">
                          <a:solidFill>
                            <a:srgbClr val="26301F"/>
                          </a:solidFill>
                          <a:latin typeface="Segoe UI"/>
                        </a:rPr>
                        <a:t>The rail settles</a:t>
                      </a:r>
                    </a:p>
                  </a:txBody>
                  <a:tcPr marL="45720" marR="109728" marT="27432" marB="27432" anchor="ctr">
                    <a:lnB w="9525" cap="flat" cmpd="sng" algn="ctr">
                      <a:solidFill>
                        <a:srgbClr val="DCE3D6"/>
                      </a:solidFill>
                    </a:lnB>
                    <a:solidFill>
                      <a:srgbClr val="FFFFFF"/>
                    </a:solidFill>
                  </a:tcPr>
                </a:tc>
                <a:tc>
                  <a:txBody>
                    <a:bodyPr wrap="square"/>
                    <a:lstStyle/>
                    <a:p>
                      <a:r>
                        <a:rPr sz="800" b="0">
                          <a:solidFill>
                            <a:srgbClr val="26301F"/>
                          </a:solidFill>
                          <a:latin typeface="Segoe UI"/>
                        </a:rPr>
                        <a:t>Money moves from the paying member's account to the receiving member's account and does not stop in between</a:t>
                      </a:r>
                    </a:p>
                  </a:txBody>
                  <a:tcPr marL="45720" marR="109728" marT="27432" marB="27432" anchor="ctr">
                    <a:lnB w="9525" cap="flat" cmpd="sng" algn="ctr">
                      <a:solidFill>
                        <a:srgbClr val="DCE3D6"/>
                      </a:solidFill>
                    </a:lnB>
                    <a:solidFill>
                      <a:srgbClr val="FFFFFF"/>
                    </a:solidFill>
                  </a:tcPr>
                </a:tc>
                <a:tc>
                  <a:txBody>
                    <a:bodyPr wrap="square"/>
                    <a:lstStyle/>
                    <a:p>
                      <a:r>
                        <a:rPr sz="800" b="0">
                          <a:solidFill>
                            <a:srgbClr val="26301F"/>
                          </a:solidFill>
                          <a:latin typeface="Segoe UI"/>
                        </a:rPr>
                        <a:t>In transit</a:t>
                      </a:r>
                    </a:p>
                  </a:txBody>
                  <a:tcPr marL="45720" marR="109728" marT="27432" marB="27432" anchor="ctr">
                    <a:lnB w="9525" cap="flat" cmpd="sng" algn="ctr">
                      <a:solidFill>
                        <a:srgbClr val="DCE3D6"/>
                      </a:solidFill>
                    </a:lnB>
                    <a:solidFill>
                      <a:srgbClr val="FFFFFF"/>
                    </a:solidFill>
                  </a:tcPr>
                </a:tc>
              </a:tr>
              <a:tr h="292242">
                <a:tc>
                  <a:txBody>
                    <a:bodyPr wrap="square"/>
                    <a:lstStyle/>
                    <a:p>
                      <a:r>
                        <a:rPr sz="800" b="0">
                          <a:solidFill>
                            <a:srgbClr val="26301F"/>
                          </a:solidFill>
                          <a:latin typeface="Segoe UI"/>
                        </a:rPr>
                        <a:t>6</a:t>
                      </a:r>
                    </a:p>
                  </a:txBody>
                  <a:tcPr marL="45720" marR="109728" marT="27432" marB="27432" anchor="ctr">
                    <a:lnB w="9525" cap="flat" cmpd="sng" algn="ctr">
                      <a:solidFill>
                        <a:srgbClr val="DCE3D6"/>
                      </a:solidFill>
                    </a:lnB>
                    <a:solidFill>
                      <a:srgbClr val="FFFFFF"/>
                    </a:solidFill>
                  </a:tcPr>
                </a:tc>
                <a:tc>
                  <a:txBody>
                    <a:bodyPr wrap="square"/>
                    <a:lstStyle/>
                    <a:p>
                      <a:r>
                        <a:rPr sz="800" b="0">
                          <a:solidFill>
                            <a:srgbClr val="26301F"/>
                          </a:solidFill>
                          <a:latin typeface="Segoe UI"/>
                        </a:rPr>
                        <a:t>The result comes back</a:t>
                      </a:r>
                    </a:p>
                  </a:txBody>
                  <a:tcPr marL="45720" marR="109728" marT="27432" marB="27432" anchor="ctr">
                    <a:lnB w="9525" cap="flat" cmpd="sng" algn="ctr">
                      <a:solidFill>
                        <a:srgbClr val="DCE3D6"/>
                      </a:solidFill>
                    </a:lnB>
                    <a:solidFill>
                      <a:srgbClr val="FFFFFF"/>
                    </a:solidFill>
                  </a:tcPr>
                </a:tc>
                <a:tc>
                  <a:txBody>
                    <a:bodyPr wrap="square"/>
                    <a:lstStyle/>
                    <a:p>
                      <a:r>
                        <a:rPr sz="800" b="0">
                          <a:solidFill>
                            <a:srgbClr val="26301F"/>
                          </a:solidFill>
                          <a:latin typeface="Segoe UI"/>
                        </a:rPr>
                        <a:t>Success or failure, returned against the same unique reference</a:t>
                      </a:r>
                    </a:p>
                  </a:txBody>
                  <a:tcPr marL="45720" marR="109728" marT="27432" marB="27432" anchor="ctr">
                    <a:lnB w="9525" cap="flat" cmpd="sng" algn="ctr">
                      <a:solidFill>
                        <a:srgbClr val="DCE3D6"/>
                      </a:solidFill>
                    </a:lnB>
                    <a:solidFill>
                      <a:srgbClr val="FFFFFF"/>
                    </a:solidFill>
                  </a:tcPr>
                </a:tc>
                <a:tc>
                  <a:txBody>
                    <a:bodyPr wrap="square"/>
                    <a:lstStyle/>
                    <a:p>
                      <a:r>
                        <a:rPr sz="800" b="0">
                          <a:solidFill>
                            <a:srgbClr val="26301F"/>
                          </a:solidFill>
                          <a:latin typeface="Segoe UI"/>
                        </a:rPr>
                        <a:t>With the recipient</a:t>
                      </a:r>
                    </a:p>
                  </a:txBody>
                  <a:tcPr marL="45720" marR="109728" marT="27432" marB="27432" anchor="ctr">
                    <a:lnB w="9525" cap="flat" cmpd="sng" algn="ctr">
                      <a:solidFill>
                        <a:srgbClr val="DCE3D6"/>
                      </a:solidFill>
                    </a:lnB>
                    <a:solidFill>
                      <a:srgbClr val="FFFFFF"/>
                    </a:solidFill>
                  </a:tcPr>
                </a:tc>
              </a:tr>
              <a:tr h="292242">
                <a:tc>
                  <a:txBody>
                    <a:bodyPr wrap="square"/>
                    <a:lstStyle/>
                    <a:p>
                      <a:r>
                        <a:rPr sz="800" b="0">
                          <a:solidFill>
                            <a:srgbClr val="26301F"/>
                          </a:solidFill>
                          <a:latin typeface="Segoe UI"/>
                        </a:rPr>
                        <a:t>7</a:t>
                      </a:r>
                    </a:p>
                  </a:txBody>
                  <a:tcPr marL="45720" marR="109728" marT="27432" marB="27432" anchor="ctr">
                    <a:lnB w="9525" cap="flat" cmpd="sng" algn="ctr">
                      <a:solidFill>
                        <a:srgbClr val="DCE3D6"/>
                      </a:solidFill>
                    </a:lnB>
                    <a:solidFill>
                      <a:srgbClr val="FFFFFF"/>
                    </a:solidFill>
                  </a:tcPr>
                </a:tc>
                <a:tc>
                  <a:txBody>
                    <a:bodyPr wrap="square"/>
                    <a:lstStyle/>
                    <a:p>
                      <a:r>
                        <a:rPr sz="800" b="0">
                          <a:solidFill>
                            <a:srgbClr val="26301F"/>
                          </a:solidFill>
                          <a:latin typeface="Segoe UI"/>
                        </a:rPr>
                        <a:t>The settlement is written</a:t>
                      </a:r>
                    </a:p>
                  </a:txBody>
                  <a:tcPr marL="45720" marR="109728" marT="27432" marB="27432" anchor="ctr">
                    <a:lnB w="9525" cap="flat" cmpd="sng" algn="ctr">
                      <a:solidFill>
                        <a:srgbClr val="DCE3D6"/>
                      </a:solidFill>
                    </a:lnB>
                    <a:solidFill>
                      <a:srgbClr val="FFFFFF"/>
                    </a:solidFill>
                  </a:tcPr>
                </a:tc>
                <a:tc>
                  <a:txBody>
                    <a:bodyPr wrap="square"/>
                    <a:lstStyle/>
                    <a:p>
                      <a:r>
                        <a:rPr sz="800" b="0">
                          <a:solidFill>
                            <a:srgbClr val="26301F"/>
                          </a:solidFill>
                          <a:latin typeface="Segoe UI"/>
                        </a:rPr>
                        <a:t>One database transaction writes the two matching ledger entries, the receipt and the queued message together, or writes none of them</a:t>
                      </a:r>
                    </a:p>
                  </a:txBody>
                  <a:tcPr marL="45720" marR="109728" marT="27432" marB="27432" anchor="ctr">
                    <a:lnB w="9525" cap="flat" cmpd="sng" algn="ctr">
                      <a:solidFill>
                        <a:srgbClr val="DCE3D6"/>
                      </a:solidFill>
                    </a:lnB>
                    <a:solidFill>
                      <a:srgbClr val="FFFFFF"/>
                    </a:solidFill>
                  </a:tcPr>
                </a:tc>
                <a:tc>
                  <a:txBody>
                    <a:bodyPr wrap="square"/>
                    <a:lstStyle/>
                    <a:p>
                      <a:r>
                        <a:rPr sz="800" b="0">
                          <a:solidFill>
                            <a:srgbClr val="26301F"/>
                          </a:solidFill>
                          <a:latin typeface="Segoe UI"/>
                        </a:rPr>
                        <a:t>With the recipient</a:t>
                      </a:r>
                    </a:p>
                  </a:txBody>
                  <a:tcPr marL="45720" marR="109728" marT="27432" marB="27432" anchor="ctr">
                    <a:lnB w="9525" cap="flat" cmpd="sng" algn="ctr">
                      <a:solidFill>
                        <a:srgbClr val="DCE3D6"/>
                      </a:solidFill>
                    </a:lnB>
                    <a:solidFill>
                      <a:srgbClr val="FFFFFF"/>
                    </a:solidFill>
                  </a:tcPr>
                </a:tc>
              </a:tr>
              <a:tr h="292242">
                <a:tc>
                  <a:txBody>
                    <a:bodyPr wrap="square"/>
                    <a:lstStyle/>
                    <a:p>
                      <a:r>
                        <a:rPr sz="800" b="0">
                          <a:solidFill>
                            <a:srgbClr val="26301F"/>
                          </a:solidFill>
                          <a:latin typeface="Segoe UI"/>
                        </a:rPr>
                        <a:t>8</a:t>
                      </a:r>
                    </a:p>
                  </a:txBody>
                  <a:tcPr marL="45720" marR="109728" marT="27432" marB="27432" anchor="ctr">
                    <a:lnB w="9525" cap="flat" cmpd="sng" algn="ctr">
                      <a:solidFill>
                        <a:srgbClr val="DCE3D6"/>
                      </a:solidFill>
                    </a:lnB>
                    <a:solidFill>
                      <a:srgbClr val="FFFFFF"/>
                    </a:solidFill>
                  </a:tcPr>
                </a:tc>
                <a:tc>
                  <a:txBody>
                    <a:bodyPr wrap="square"/>
                    <a:lstStyle/>
                    <a:p>
                      <a:r>
                        <a:rPr sz="800" b="0">
                          <a:solidFill>
                            <a:srgbClr val="26301F"/>
                          </a:solidFill>
                          <a:latin typeface="Segoe UI"/>
                        </a:rPr>
                        <a:t>The receipt is issued</a:t>
                      </a:r>
                    </a:p>
                  </a:txBody>
                  <a:tcPr marL="45720" marR="109728" marT="27432" marB="27432" anchor="ctr">
                    <a:lnB w="9525" cap="flat" cmpd="sng" algn="ctr">
                      <a:solidFill>
                        <a:srgbClr val="DCE3D6"/>
                      </a:solidFill>
                    </a:lnB>
                    <a:solidFill>
                      <a:srgbClr val="FFFFFF"/>
                    </a:solidFill>
                  </a:tcPr>
                </a:tc>
                <a:tc>
                  <a:txBody>
                    <a:bodyPr wrap="square"/>
                    <a:lstStyle/>
                    <a:p>
                      <a:r>
                        <a:rPr sz="800" b="0">
                          <a:solidFill>
                            <a:srgbClr val="26301F"/>
                          </a:solidFill>
                          <a:latin typeface="Segoe UI"/>
                        </a:rPr>
                        <a:t>A reference reaches the member over WhatsApp and in the application. The circle sees the round advance</a:t>
                      </a:r>
                    </a:p>
                  </a:txBody>
                  <a:tcPr marL="45720" marR="109728" marT="27432" marB="27432" anchor="ctr">
                    <a:lnB w="9525" cap="flat" cmpd="sng" algn="ctr">
                      <a:solidFill>
                        <a:srgbClr val="DCE3D6"/>
                      </a:solidFill>
                    </a:lnB>
                    <a:solidFill>
                      <a:srgbClr val="FFFFFF"/>
                    </a:solidFill>
                  </a:tcPr>
                </a:tc>
                <a:tc>
                  <a:txBody>
                    <a:bodyPr wrap="square"/>
                    <a:lstStyle/>
                    <a:p>
                      <a:r>
                        <a:rPr sz="800" b="0">
                          <a:solidFill>
                            <a:srgbClr val="26301F"/>
                          </a:solidFill>
                          <a:latin typeface="Segoe UI"/>
                        </a:rPr>
                        <a:t>With the recipient</a:t>
                      </a:r>
                    </a:p>
                  </a:txBody>
                  <a:tcPr marL="45720" marR="109728" marT="27432" marB="27432" anchor="ctr">
                    <a:lnB w="9525" cap="flat" cmpd="sng" algn="ctr">
                      <a:solidFill>
                        <a:srgbClr val="DCE3D6"/>
                      </a:solidFill>
                    </a:lnB>
                    <a:solidFill>
                      <a:srgbClr val="FFFFFF"/>
                    </a:solidFill>
                  </a:tcPr>
                </a:tc>
              </a:tr>
              <a:tr h="292242">
                <a:tc>
                  <a:txBody>
                    <a:bodyPr wrap="square"/>
                    <a:lstStyle/>
                    <a:p>
                      <a:r>
                        <a:rPr sz="800" b="0">
                          <a:solidFill>
                            <a:srgbClr val="26301F"/>
                          </a:solidFill>
                          <a:latin typeface="Segoe UI"/>
                        </a:rPr>
                        <a:t>9</a:t>
                      </a:r>
                    </a:p>
                  </a:txBody>
                  <a:tcPr marL="45720" marR="109728" marT="27432" marB="27432" anchor="ctr">
                    <a:lnB w="9525" cap="flat" cmpd="sng" algn="ctr">
                      <a:solidFill>
                        <a:srgbClr val="DCE3D6"/>
                      </a:solidFill>
                    </a:lnB>
                    <a:solidFill>
                      <a:srgbClr val="FFFFFF"/>
                    </a:solidFill>
                  </a:tcPr>
                </a:tc>
                <a:tc>
                  <a:txBody>
                    <a:bodyPr wrap="square"/>
                    <a:lstStyle/>
                    <a:p>
                      <a:r>
                        <a:rPr sz="800" b="0">
                          <a:solidFill>
                            <a:srgbClr val="26301F"/>
                          </a:solidFill>
                          <a:latin typeface="Segoe UI"/>
                        </a:rPr>
                        <a:t>The round is checked</a:t>
                      </a:r>
                    </a:p>
                  </a:txBody>
                  <a:tcPr marL="45720" marR="109728" marT="27432" marB="27432" anchor="ctr">
                    <a:lnB w="9525" cap="flat" cmpd="sng" algn="ctr">
                      <a:solidFill>
                        <a:srgbClr val="DCE3D6"/>
                      </a:solidFill>
                    </a:lnB>
                    <a:solidFill>
                      <a:srgbClr val="FFFFFF"/>
                    </a:solidFill>
                  </a:tcPr>
                </a:tc>
                <a:tc>
                  <a:txBody>
                    <a:bodyPr wrap="square"/>
                    <a:lstStyle/>
                    <a:p>
                      <a:r>
                        <a:rPr sz="800" b="0">
                          <a:solidFill>
                            <a:srgbClr val="26301F"/>
                          </a:solidFill>
                          <a:latin typeface="Segoe UI"/>
                        </a:rPr>
                        <a:t>The payout gate tests whether every contribution in that round has actually settled</a:t>
                      </a:r>
                    </a:p>
                  </a:txBody>
                  <a:tcPr marL="45720" marR="109728" marT="27432" marB="27432" anchor="ctr">
                    <a:lnB w="9525" cap="flat" cmpd="sng" algn="ctr">
                      <a:solidFill>
                        <a:srgbClr val="DCE3D6"/>
                      </a:solidFill>
                    </a:lnB>
                    <a:solidFill>
                      <a:srgbClr val="FFFFFF"/>
                    </a:solidFill>
                  </a:tcPr>
                </a:tc>
                <a:tc>
                  <a:txBody>
                    <a:bodyPr wrap="square"/>
                    <a:lstStyle/>
                    <a:p>
                      <a:r>
                        <a:rPr sz="800" b="0">
                          <a:solidFill>
                            <a:srgbClr val="26301F"/>
                          </a:solidFill>
                          <a:latin typeface="Segoe UI"/>
                        </a:rPr>
                        <a:t>With the recipient</a:t>
                      </a:r>
                    </a:p>
                  </a:txBody>
                  <a:tcPr marL="45720" marR="109728" marT="27432" marB="27432" anchor="ctr">
                    <a:lnB w="9525" cap="flat" cmpd="sng" algn="ctr">
                      <a:solidFill>
                        <a:srgbClr val="DCE3D6"/>
                      </a:solidFill>
                    </a:lnB>
                    <a:solidFill>
                      <a:srgbClr val="FFFFFF"/>
                    </a:solidFill>
                  </a:tcPr>
                </a:tc>
              </a:tr>
              <a:tr h="292242">
                <a:tc>
                  <a:txBody>
                    <a:bodyPr wrap="square"/>
                    <a:lstStyle/>
                    <a:p>
                      <a:r>
                        <a:rPr sz="800" b="0">
                          <a:solidFill>
                            <a:srgbClr val="26301F"/>
                          </a:solidFill>
                          <a:latin typeface="Segoe UI"/>
                        </a:rPr>
                        <a:t>10</a:t>
                      </a:r>
                    </a:p>
                  </a:txBody>
                  <a:tcPr marL="45720" marR="109728" marT="27432" marB="27432" anchor="ctr">
                    <a:lnB w="9525" cap="flat" cmpd="sng" algn="ctr">
                      <a:solidFill>
                        <a:srgbClr val="DCE3D6"/>
                      </a:solidFill>
                    </a:lnB>
                    <a:solidFill>
                      <a:srgbClr val="FFFFFF"/>
                    </a:solidFill>
                  </a:tcPr>
                </a:tc>
                <a:tc>
                  <a:txBody>
                    <a:bodyPr wrap="square"/>
                    <a:lstStyle/>
                    <a:p>
                      <a:r>
                        <a:rPr sz="800" b="0">
                          <a:solidFill>
                            <a:srgbClr val="26301F"/>
                          </a:solidFill>
                          <a:latin typeface="Segoe UI"/>
                        </a:rPr>
                        <a:t>The payout releases</a:t>
                      </a:r>
                    </a:p>
                  </a:txBody>
                  <a:tcPr marL="45720" marR="109728" marT="27432" marB="27432" anchor="ctr">
                    <a:lnB w="9525" cap="flat" cmpd="sng" algn="ctr">
                      <a:solidFill>
                        <a:srgbClr val="DCE3D6"/>
                      </a:solidFill>
                    </a:lnB>
                    <a:solidFill>
                      <a:srgbClr val="FFFFFF"/>
                    </a:solidFill>
                  </a:tcPr>
                </a:tc>
                <a:tc>
                  <a:txBody>
                    <a:bodyPr wrap="square"/>
                    <a:lstStyle/>
                    <a:p>
                      <a:r>
                        <a:rPr sz="800" b="0">
                          <a:solidFill>
                            <a:srgbClr val="26301F"/>
                          </a:solidFill>
                          <a:latin typeface="Segoe UI"/>
                        </a:rPr>
                        <a:t>On the tenth at nine, the pot goes to whoever's turn it is, in a single instruction</a:t>
                      </a:r>
                    </a:p>
                  </a:txBody>
                  <a:tcPr marL="45720" marR="109728" marT="27432" marB="27432" anchor="ctr">
                    <a:lnB w="9525" cap="flat" cmpd="sng" algn="ctr">
                      <a:solidFill>
                        <a:srgbClr val="DCE3D6"/>
                      </a:solidFill>
                    </a:lnB>
                    <a:solidFill>
                      <a:srgbClr val="FFFFFF"/>
                    </a:solidFill>
                  </a:tcPr>
                </a:tc>
                <a:tc>
                  <a:txBody>
                    <a:bodyPr wrap="square"/>
                    <a:lstStyle/>
                    <a:p>
                      <a:r>
                        <a:rPr sz="800" b="0">
                          <a:solidFill>
                            <a:srgbClr val="26301F"/>
                          </a:solidFill>
                          <a:latin typeface="Segoe UI"/>
                        </a:rPr>
                        <a:t>With that member</a:t>
                      </a:r>
                    </a:p>
                  </a:txBody>
                  <a:tcPr marL="45720" marR="109728" marT="27432" marB="27432" anchor="ctr">
                    <a:lnB w="9525" cap="flat" cmpd="sng" algn="ctr">
                      <a:solidFill>
                        <a:srgbClr val="DCE3D6"/>
                      </a:solidFill>
                    </a:lnB>
                    <a:solidFill>
                      <a:srgbClr val="FFFFFF"/>
                    </a:solidFill>
                  </a:tcPr>
                </a:tc>
              </a:tr>
              <a:tr h="292242">
                <a:tc>
                  <a:txBody>
                    <a:bodyPr wrap="square"/>
                    <a:lstStyle/>
                    <a:p>
                      <a:r>
                        <a:rPr sz="800" b="0">
                          <a:solidFill>
                            <a:srgbClr val="26301F"/>
                          </a:solidFill>
                          <a:latin typeface="Segoe UI"/>
                        </a:rPr>
                        <a:t>11</a:t>
                      </a:r>
                    </a:p>
                  </a:txBody>
                  <a:tcPr marL="45720" marR="109728" marT="27432" marB="27432" anchor="ctr">
                    <a:lnB w="9525" cap="flat" cmpd="sng" algn="ctr">
                      <a:solidFill>
                        <a:srgbClr val="DCE3D6"/>
                      </a:solidFill>
                    </a:lnB>
                    <a:solidFill>
                      <a:srgbClr val="FFFFFF"/>
                    </a:solidFill>
                  </a:tcPr>
                </a:tc>
                <a:tc>
                  <a:txBody>
                    <a:bodyPr wrap="square"/>
                    <a:lstStyle/>
                    <a:p>
                      <a:r>
                        <a:rPr sz="800" b="0">
                          <a:solidFill>
                            <a:srgbClr val="26301F"/>
                          </a:solidFill>
                          <a:latin typeface="Segoe UI"/>
                        </a:rPr>
                        <a:t>The record is furnished</a:t>
                      </a:r>
                    </a:p>
                  </a:txBody>
                  <a:tcPr marL="45720" marR="109728" marT="27432" marB="27432" anchor="ctr">
                    <a:lnB w="9525" cap="flat" cmpd="sng" algn="ctr">
                      <a:solidFill>
                        <a:srgbClr val="DCE3D6"/>
                      </a:solidFill>
                    </a:lnB>
                    <a:solidFill>
                      <a:srgbClr val="FFFFFF"/>
                    </a:solidFill>
                  </a:tcPr>
                </a:tc>
                <a:tc>
                  <a:txBody>
                    <a:bodyPr wrap="square"/>
                    <a:lstStyle/>
                    <a:p>
                      <a:r>
                        <a:rPr sz="800" b="0">
                          <a:solidFill>
                            <a:srgbClr val="26301F"/>
                          </a:solidFill>
                          <a:latin typeface="Segoe UI"/>
                        </a:rPr>
                        <a:t>The settlement is queued for the credit bureau in the nightly batch</a:t>
                      </a:r>
                    </a:p>
                  </a:txBody>
                  <a:tcPr marL="45720" marR="109728" marT="27432" marB="27432" anchor="ctr">
                    <a:lnB w="9525" cap="flat" cmpd="sng" algn="ctr">
                      <a:solidFill>
                        <a:srgbClr val="DCE3D6"/>
                      </a:solidFill>
                    </a:lnB>
                    <a:solidFill>
                      <a:srgbClr val="FFFFFF"/>
                    </a:solidFill>
                  </a:tcPr>
                </a:tc>
                <a:tc>
                  <a:txBody>
                    <a:bodyPr wrap="square"/>
                    <a:lstStyle/>
                    <a:p>
                      <a:r>
                        <a:rPr sz="800" b="0">
                          <a:solidFill>
                            <a:srgbClr val="26301F"/>
                          </a:solidFill>
                          <a:latin typeface="Segoe UI"/>
                        </a:rPr>
                        <a:t>Unchanged</a:t>
                      </a:r>
                    </a:p>
                  </a:txBody>
                  <a:tcPr marL="45720" marR="109728" marT="27432" marB="27432" anchor="ctr">
                    <a:lnB w="9525" cap="flat" cmpd="sng" algn="ctr">
                      <a:solidFill>
                        <a:srgbClr val="DCE3D6"/>
                      </a:solidFill>
                    </a:lnB>
                    <a:solidFill>
                      <a:srgbClr val="FFFFFF"/>
                    </a:solidFill>
                  </a:tcPr>
                </a:tc>
              </a:tr>
            </a:tbl>
          </a:graphicData>
        </a:graphic>
      </p:graphicFrame>
    </p:spTree>
  </p:cSld>
  <p:clrMapOvr>
    <a:masterClrMapping/>
  </p:clrMapOvr>
</p:sld>
</file>

<file path=ppt/slides/slide2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777240" y="566928"/>
            <a:ext cx="10637215" cy="219456"/>
          </a:xfrm>
          <a:prstGeom prst="rect">
            <a:avLst/>
          </a:prstGeom>
          <a:noFill/>
        </p:spPr>
        <p:txBody>
          <a:bodyPr wrap="square" lIns="0" rIns="0" tIns="0" bIns="0">
            <a:spAutoFit/>
          </a:bodyPr>
          <a:lstStyle/>
          <a:p>
            <a:pPr algn="l">
              <a:lnSpc>
                <a:spcPct val="125000"/>
              </a:lnSpc>
            </a:pPr>
            <a:r>
              <a:rPr sz="950" b="1" i="0">
                <a:solidFill>
                  <a:srgbClr val="41801A"/>
                </a:solidFill>
                <a:latin typeface="Segoe UI"/>
              </a:rPr>
              <a:t>3  TAKING THE MONEY</a:t>
            </a:r>
          </a:p>
        </p:txBody>
      </p:sp>
      <p:sp>
        <p:nvSpPr>
          <p:cNvPr id="3" name="TextBox 2"/>
          <p:cNvSpPr txBox="1"/>
          <p:nvPr/>
        </p:nvSpPr>
        <p:spPr>
          <a:xfrm>
            <a:off x="777240" y="841248"/>
            <a:ext cx="10637215" cy="502920"/>
          </a:xfrm>
          <a:prstGeom prst="rect">
            <a:avLst/>
          </a:prstGeom>
          <a:noFill/>
        </p:spPr>
        <p:txBody>
          <a:bodyPr wrap="square" lIns="0" rIns="0" tIns="0" bIns="0">
            <a:spAutoFit/>
          </a:bodyPr>
          <a:lstStyle/>
          <a:p>
            <a:pPr algn="l">
              <a:lnSpc>
                <a:spcPct val="125000"/>
              </a:lnSpc>
            </a:pPr>
            <a:r>
              <a:rPr sz="2700" b="1" i="0">
                <a:solidFill>
                  <a:srgbClr val="0C1408"/>
                </a:solidFill>
                <a:latin typeface="Segoe UI"/>
              </a:rPr>
              <a:t>Why a payment cannot happen twice</a:t>
            </a:r>
          </a:p>
        </p:txBody>
      </p:sp>
      <p:sp>
        <p:nvSpPr>
          <p:cNvPr id="4" name="Rectangle 3"/>
          <p:cNvSpPr/>
          <p:nvPr/>
        </p:nvSpPr>
        <p:spPr>
          <a:xfrm>
            <a:off x="777240" y="1417320"/>
            <a:ext cx="1371600" cy="22860"/>
          </a:xfrm>
          <a:prstGeom prst="rect">
            <a:avLst/>
          </a:prstGeom>
          <a:solidFill>
            <a:srgbClr val="6DC72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777240" y="6382512"/>
            <a:ext cx="3657600" cy="228600"/>
          </a:xfrm>
          <a:prstGeom prst="rect">
            <a:avLst/>
          </a:prstGeom>
          <a:noFill/>
        </p:spPr>
        <p:txBody>
          <a:bodyPr wrap="square" lIns="0" rIns="0" tIns="0" bIns="0">
            <a:spAutoFit/>
          </a:bodyPr>
          <a:lstStyle/>
          <a:p>
            <a:pPr algn="l">
              <a:lnSpc>
                <a:spcPct val="125000"/>
              </a:lnSpc>
            </a:pPr>
            <a:r>
              <a:rPr sz="900" b="0" i="0">
                <a:solidFill>
                  <a:srgbClr val="9AA694"/>
                </a:solidFill>
                <a:latin typeface="Segoe UI"/>
              </a:rPr>
              <a:t>Halqa  ·  Confidential</a:t>
            </a:r>
          </a:p>
        </p:txBody>
      </p:sp>
      <p:sp>
        <p:nvSpPr>
          <p:cNvPr id="6" name="TextBox 5"/>
          <p:cNvSpPr txBox="1"/>
          <p:nvPr/>
        </p:nvSpPr>
        <p:spPr>
          <a:xfrm>
            <a:off x="10728655" y="6382512"/>
            <a:ext cx="685800" cy="228600"/>
          </a:xfrm>
          <a:prstGeom prst="rect">
            <a:avLst/>
          </a:prstGeom>
          <a:noFill/>
        </p:spPr>
        <p:txBody>
          <a:bodyPr wrap="square" lIns="0" rIns="0" tIns="0" bIns="0">
            <a:spAutoFit/>
          </a:bodyPr>
          <a:lstStyle/>
          <a:p>
            <a:pPr algn="r">
              <a:lnSpc>
                <a:spcPct val="125000"/>
              </a:lnSpc>
            </a:pPr>
            <a:r>
              <a:rPr sz="900" b="0" i="0">
                <a:solidFill>
                  <a:srgbClr val="6F7B68"/>
                </a:solidFill>
                <a:latin typeface="Segoe UI"/>
              </a:rPr>
              <a:t>26</a:t>
            </a:r>
          </a:p>
        </p:txBody>
      </p:sp>
      <p:sp>
        <p:nvSpPr>
          <p:cNvPr id="7" name="TextBox 6"/>
          <p:cNvSpPr txBox="1"/>
          <p:nvPr/>
        </p:nvSpPr>
        <p:spPr>
          <a:xfrm>
            <a:off x="777240" y="1965960"/>
            <a:ext cx="5943600" cy="2011680"/>
          </a:xfrm>
          <a:prstGeom prst="rect">
            <a:avLst/>
          </a:prstGeom>
          <a:noFill/>
        </p:spPr>
        <p:txBody>
          <a:bodyPr wrap="square" lIns="0" rIns="0" tIns="0" bIns="0">
            <a:spAutoFit/>
          </a:bodyPr>
          <a:lstStyle/>
          <a:p>
            <a:pPr algn="l">
              <a:lnSpc>
                <a:spcPct val="150000"/>
              </a:lnSpc>
            </a:pPr>
            <a:r>
              <a:rPr sz="1300" b="0" i="0">
                <a:solidFill>
                  <a:srgbClr val="26301F"/>
                </a:solidFill>
                <a:latin typeface="Segoe UI"/>
              </a:rPr>
              <a:t>A member on a weak signal taps pay, sees nothing happen, and taps again. The handset may well have sent both requests. On most systems that is two debits and an apology.</a:t>
            </a:r>
          </a:p>
          <a:p>
            <a:pPr algn="l">
              <a:lnSpc>
                <a:spcPct val="150000"/>
              </a:lnSpc>
              <a:spcBef>
                <a:spcPts val="900"/>
              </a:spcBef>
            </a:pPr>
            <a:r>
              <a:rPr sz="1300" b="0" i="0">
                <a:solidFill>
                  <a:srgbClr val="26301F"/>
                </a:solidFill>
                <a:latin typeface="Segoe UI"/>
              </a:rPr>
              <a:t/>
            </a:r>
          </a:p>
          <a:p>
            <a:pPr algn="l">
              <a:lnSpc>
                <a:spcPct val="150000"/>
              </a:lnSpc>
              <a:spcBef>
                <a:spcPts val="900"/>
              </a:spcBef>
            </a:pPr>
            <a:r>
              <a:rPr sz="1300" b="0" i="0">
                <a:solidFill>
                  <a:srgbClr val="26301F"/>
                </a:solidFill>
                <a:latin typeface="Segoe UI"/>
              </a:rPr>
              <a:t>Every instruction Halqa issues carries a unique reference that names the exact thing being attempted: this member, this circle, this round, this purpose. When the payment succeeds, that reference is stored alongside the record.</a:t>
            </a:r>
          </a:p>
        </p:txBody>
      </p:sp>
      <p:graphicFrame>
        <p:nvGraphicFramePr>
          <p:cNvPr id="8" name="Table 7"/>
          <p:cNvGraphicFramePr>
            <a:graphicFrameLocks noGrp="1"/>
          </p:cNvGraphicFramePr>
          <p:nvPr/>
        </p:nvGraphicFramePr>
        <p:xfrm>
          <a:off x="7178040" y="1965960"/>
          <a:ext cx="4206240" cy="2834640"/>
        </p:xfrm>
        <a:graphic>
          <a:graphicData uri="http://schemas.openxmlformats.org/drawingml/2006/table">
            <a:tbl>
              <a:tblPr>
                <a:tableStyleId>{5C22544A-7EE6-4342-B048-85BDC9FD1C3A}</a:tableStyleId>
              </a:tblPr>
              <a:tblGrid>
                <a:gridCol w="1280160"/>
                <a:gridCol w="1280160"/>
                <a:gridCol w="1645920"/>
              </a:tblGrid>
              <a:tr h="566928">
                <a:tc>
                  <a:txBody>
                    <a:bodyPr wrap="square"/>
                    <a:lstStyle/>
                    <a:p>
                      <a:r>
                        <a:rPr sz="900" b="1">
                          <a:solidFill>
                            <a:srgbClr val="41801A"/>
                          </a:solidFill>
                          <a:latin typeface="Segoe UI"/>
                        </a:rPr>
                        <a:t>THE ATTEMPT</a:t>
                      </a:r>
                    </a:p>
                  </a:txBody>
                  <a:tcPr marL="45720" marR="109728" marT="27432" marB="27432" anchor="ctr">
                    <a:lnB w="9525" cap="flat" cmpd="sng" algn="ctr">
                      <a:solidFill>
                        <a:srgbClr val="41801A"/>
                      </a:solidFill>
                    </a:lnB>
                    <a:solidFill>
                      <a:srgbClr val="FFFFFF"/>
                    </a:solidFill>
                  </a:tcPr>
                </a:tc>
                <a:tc>
                  <a:txBody>
                    <a:bodyPr wrap="square"/>
                    <a:lstStyle/>
                    <a:p>
                      <a:r>
                        <a:rPr sz="900" b="1">
                          <a:solidFill>
                            <a:srgbClr val="41801A"/>
                          </a:solidFill>
                          <a:latin typeface="Segoe UI"/>
                        </a:rPr>
                        <a:t>REFERENCE ALREADY STORED</a:t>
                      </a:r>
                    </a:p>
                  </a:txBody>
                  <a:tcPr marL="45720" marR="109728" marT="27432" marB="27432" anchor="ctr">
                    <a:lnB w="9525" cap="flat" cmpd="sng" algn="ctr">
                      <a:solidFill>
                        <a:srgbClr val="41801A"/>
                      </a:solidFill>
                    </a:lnB>
                    <a:solidFill>
                      <a:srgbClr val="FFFFFF"/>
                    </a:solidFill>
                  </a:tcPr>
                </a:tc>
                <a:tc>
                  <a:txBody>
                    <a:bodyPr wrap="square"/>
                    <a:lstStyle/>
                    <a:p>
                      <a:r>
                        <a:rPr sz="900" b="1">
                          <a:solidFill>
                            <a:srgbClr val="41801A"/>
                          </a:solidFill>
                          <a:latin typeface="Segoe UI"/>
                        </a:rPr>
                        <a:t>WHAT HAPPENS</a:t>
                      </a:r>
                    </a:p>
                  </a:txBody>
                  <a:tcPr marL="45720" marR="109728" marT="27432" marB="27432" anchor="ctr">
                    <a:lnB w="9525" cap="flat" cmpd="sng" algn="ctr">
                      <a:solidFill>
                        <a:srgbClr val="41801A"/>
                      </a:solidFill>
                    </a:lnB>
                    <a:solidFill>
                      <a:srgbClr val="FFFFFF"/>
                    </a:solidFill>
                  </a:tcPr>
                </a:tc>
              </a:tr>
              <a:tr h="566928">
                <a:tc>
                  <a:txBody>
                    <a:bodyPr wrap="square"/>
                    <a:lstStyle/>
                    <a:p>
                      <a:r>
                        <a:rPr sz="900" b="0">
                          <a:solidFill>
                            <a:srgbClr val="26301F"/>
                          </a:solidFill>
                          <a:latin typeface="Segoe UI"/>
                        </a:rPr>
                        <a:t>First tap</a:t>
                      </a:r>
                    </a:p>
                  </a:txBody>
                  <a:tcPr marL="45720" marR="109728" marT="27432" marB="27432" anchor="ctr">
                    <a:lnB w="9525" cap="flat" cmpd="sng" algn="ctr">
                      <a:solidFill>
                        <a:srgbClr val="DCE3D6"/>
                      </a:solidFill>
                    </a:lnB>
                    <a:solidFill>
                      <a:srgbClr val="FFFFFF"/>
                    </a:solidFill>
                  </a:tcPr>
                </a:tc>
                <a:tc>
                  <a:txBody>
                    <a:bodyPr wrap="square"/>
                    <a:lstStyle/>
                    <a:p>
                      <a:r>
                        <a:rPr sz="900" b="0">
                          <a:solidFill>
                            <a:srgbClr val="26301F"/>
                          </a:solidFill>
                          <a:latin typeface="Segoe UI"/>
                        </a:rPr>
                        <a:t>No</a:t>
                      </a:r>
                    </a:p>
                  </a:txBody>
                  <a:tcPr marL="45720" marR="109728" marT="27432" marB="27432" anchor="ctr">
                    <a:lnB w="9525" cap="flat" cmpd="sng" algn="ctr">
                      <a:solidFill>
                        <a:srgbClr val="DCE3D6"/>
                      </a:solidFill>
                    </a:lnB>
                    <a:solidFill>
                      <a:srgbClr val="FFFFFF"/>
                    </a:solidFill>
                  </a:tcPr>
                </a:tc>
                <a:tc>
                  <a:txBody>
                    <a:bodyPr wrap="square"/>
                    <a:lstStyle/>
                    <a:p>
                      <a:r>
                        <a:rPr sz="900" b="0">
                          <a:solidFill>
                            <a:srgbClr val="26301F"/>
                          </a:solidFill>
                          <a:latin typeface="Segoe UI"/>
                        </a:rPr>
                        <a:t>Charges once, writes the settlement, stores the reference</a:t>
                      </a:r>
                    </a:p>
                  </a:txBody>
                  <a:tcPr marL="45720" marR="109728" marT="27432" marB="27432" anchor="ctr">
                    <a:lnB w="9525" cap="flat" cmpd="sng" algn="ctr">
                      <a:solidFill>
                        <a:srgbClr val="DCE3D6"/>
                      </a:solidFill>
                    </a:lnB>
                    <a:solidFill>
                      <a:srgbClr val="FFFFFF"/>
                    </a:solidFill>
                  </a:tcPr>
                </a:tc>
              </a:tr>
              <a:tr h="566928">
                <a:tc>
                  <a:txBody>
                    <a:bodyPr wrap="square"/>
                    <a:lstStyle/>
                    <a:p>
                      <a:r>
                        <a:rPr sz="900" b="0">
                          <a:solidFill>
                            <a:srgbClr val="26301F"/>
                          </a:solidFill>
                          <a:latin typeface="Segoe UI"/>
                        </a:rPr>
                        <a:t>Second tap</a:t>
                      </a:r>
                    </a:p>
                  </a:txBody>
                  <a:tcPr marL="45720" marR="109728" marT="27432" marB="27432" anchor="ctr">
                    <a:lnB w="9525" cap="flat" cmpd="sng" algn="ctr">
                      <a:solidFill>
                        <a:srgbClr val="DCE3D6"/>
                      </a:solidFill>
                    </a:lnB>
                    <a:solidFill>
                      <a:srgbClr val="FFFFFF"/>
                    </a:solidFill>
                  </a:tcPr>
                </a:tc>
                <a:tc>
                  <a:txBody>
                    <a:bodyPr wrap="square"/>
                    <a:lstStyle/>
                    <a:p>
                      <a:r>
                        <a:rPr sz="900" b="0">
                          <a:solidFill>
                            <a:srgbClr val="26301F"/>
                          </a:solidFill>
                          <a:latin typeface="Segoe UI"/>
                        </a:rPr>
                        <a:t>Yes</a:t>
                      </a:r>
                    </a:p>
                  </a:txBody>
                  <a:tcPr marL="45720" marR="109728" marT="27432" marB="27432" anchor="ctr">
                    <a:lnB w="9525" cap="flat" cmpd="sng" algn="ctr">
                      <a:solidFill>
                        <a:srgbClr val="DCE3D6"/>
                      </a:solidFill>
                    </a:lnB>
                    <a:solidFill>
                      <a:srgbClr val="FFFFFF"/>
                    </a:solidFill>
                  </a:tcPr>
                </a:tc>
                <a:tc>
                  <a:txBody>
                    <a:bodyPr wrap="square"/>
                    <a:lstStyle/>
                    <a:p>
                      <a:r>
                        <a:rPr sz="900" b="0">
                          <a:solidFill>
                            <a:srgbClr val="26301F"/>
                          </a:solidFill>
                          <a:latin typeface="Segoe UI"/>
                        </a:rPr>
                        <a:t>Returns the first receipt. No money moves</a:t>
                      </a:r>
                    </a:p>
                  </a:txBody>
                  <a:tcPr marL="45720" marR="109728" marT="27432" marB="27432" anchor="ctr">
                    <a:lnB w="9525" cap="flat" cmpd="sng" algn="ctr">
                      <a:solidFill>
                        <a:srgbClr val="DCE3D6"/>
                      </a:solidFill>
                    </a:lnB>
                    <a:solidFill>
                      <a:srgbClr val="FFFFFF"/>
                    </a:solidFill>
                  </a:tcPr>
                </a:tc>
              </a:tr>
              <a:tr h="566928">
                <a:tc>
                  <a:txBody>
                    <a:bodyPr wrap="square"/>
                    <a:lstStyle/>
                    <a:p>
                      <a:r>
                        <a:rPr sz="900" b="0">
                          <a:solidFill>
                            <a:srgbClr val="26301F"/>
                          </a:solidFill>
                          <a:latin typeface="Segoe UI"/>
                        </a:rPr>
                        <a:t>A network retry</a:t>
                      </a:r>
                    </a:p>
                  </a:txBody>
                  <a:tcPr marL="45720" marR="109728" marT="27432" marB="27432" anchor="ctr">
                    <a:lnB w="9525" cap="flat" cmpd="sng" algn="ctr">
                      <a:solidFill>
                        <a:srgbClr val="DCE3D6"/>
                      </a:solidFill>
                    </a:lnB>
                    <a:solidFill>
                      <a:srgbClr val="FFFFFF"/>
                    </a:solidFill>
                  </a:tcPr>
                </a:tc>
                <a:tc>
                  <a:txBody>
                    <a:bodyPr wrap="square"/>
                    <a:lstStyle/>
                    <a:p>
                      <a:r>
                        <a:rPr sz="900" b="0">
                          <a:solidFill>
                            <a:srgbClr val="26301F"/>
                          </a:solidFill>
                          <a:latin typeface="Segoe UI"/>
                        </a:rPr>
                        <a:t>Yes</a:t>
                      </a:r>
                    </a:p>
                  </a:txBody>
                  <a:tcPr marL="45720" marR="109728" marT="27432" marB="27432" anchor="ctr">
                    <a:lnB w="9525" cap="flat" cmpd="sng" algn="ctr">
                      <a:solidFill>
                        <a:srgbClr val="DCE3D6"/>
                      </a:solidFill>
                    </a:lnB>
                    <a:solidFill>
                      <a:srgbClr val="FFFFFF"/>
                    </a:solidFill>
                  </a:tcPr>
                </a:tc>
                <a:tc>
                  <a:txBody>
                    <a:bodyPr wrap="square"/>
                    <a:lstStyle/>
                    <a:p>
                      <a:r>
                        <a:rPr sz="900" b="0">
                          <a:solidFill>
                            <a:srgbClr val="26301F"/>
                          </a:solidFill>
                          <a:latin typeface="Segoe UI"/>
                        </a:rPr>
                        <a:t>The same. The retry costs nothing and changes nothing</a:t>
                      </a:r>
                    </a:p>
                  </a:txBody>
                  <a:tcPr marL="45720" marR="109728" marT="27432" marB="27432" anchor="ctr">
                    <a:lnB w="9525" cap="flat" cmpd="sng" algn="ctr">
                      <a:solidFill>
                        <a:srgbClr val="DCE3D6"/>
                      </a:solidFill>
                    </a:lnB>
                    <a:solidFill>
                      <a:srgbClr val="FFFFFF"/>
                    </a:solidFill>
                  </a:tcPr>
                </a:tc>
              </a:tr>
              <a:tr h="566928">
                <a:tc>
                  <a:txBody>
                    <a:bodyPr wrap="square"/>
                    <a:lstStyle/>
                    <a:p>
                      <a:r>
                        <a:rPr sz="900" b="0">
                          <a:solidFill>
                            <a:srgbClr val="26301F"/>
                          </a:solidFill>
                          <a:latin typeface="Segoe UI"/>
                        </a:rPr>
                        <a:t>A genuine second payment</a:t>
                      </a:r>
                    </a:p>
                  </a:txBody>
                  <a:tcPr marL="45720" marR="109728" marT="27432" marB="27432" anchor="ctr">
                    <a:lnB w="9525" cap="flat" cmpd="sng" algn="ctr">
                      <a:solidFill>
                        <a:srgbClr val="DCE3D6"/>
                      </a:solidFill>
                    </a:lnB>
                    <a:solidFill>
                      <a:srgbClr val="FFFFFF"/>
                    </a:solidFill>
                  </a:tcPr>
                </a:tc>
                <a:tc>
                  <a:txBody>
                    <a:bodyPr wrap="square"/>
                    <a:lstStyle/>
                    <a:p>
                      <a:r>
                        <a:rPr sz="900" b="0">
                          <a:solidFill>
                            <a:srgbClr val="26301F"/>
                          </a:solidFill>
                          <a:latin typeface="Segoe UI"/>
                        </a:rPr>
                        <a:t>No, different reference</a:t>
                      </a:r>
                    </a:p>
                  </a:txBody>
                  <a:tcPr marL="45720" marR="109728" marT="27432" marB="27432" anchor="ctr">
                    <a:lnB w="9525" cap="flat" cmpd="sng" algn="ctr">
                      <a:solidFill>
                        <a:srgbClr val="DCE3D6"/>
                      </a:solidFill>
                    </a:lnB>
                    <a:solidFill>
                      <a:srgbClr val="FFFFFF"/>
                    </a:solidFill>
                  </a:tcPr>
                </a:tc>
                <a:tc>
                  <a:txBody>
                    <a:bodyPr wrap="square"/>
                    <a:lstStyle/>
                    <a:p>
                      <a:r>
                        <a:rPr sz="900" b="0">
                          <a:solidFill>
                            <a:srgbClr val="26301F"/>
                          </a:solidFill>
                          <a:latin typeface="Segoe UI"/>
                        </a:rPr>
                        <a:t>Charges. The member meant it</a:t>
                      </a:r>
                    </a:p>
                  </a:txBody>
                  <a:tcPr marL="45720" marR="109728" marT="27432" marB="27432" anchor="ctr">
                    <a:lnB w="9525" cap="flat" cmpd="sng" algn="ctr">
                      <a:solidFill>
                        <a:srgbClr val="DCE3D6"/>
                      </a:solidFill>
                    </a:lnB>
                    <a:solidFill>
                      <a:srgbClr val="FFFFFF"/>
                    </a:solidFill>
                  </a:tcPr>
                </a:tc>
              </a:tr>
            </a:tbl>
          </a:graphicData>
        </a:graphic>
      </p:graphicFrame>
      <p:sp>
        <p:nvSpPr>
          <p:cNvPr id="9" name="TextBox 8"/>
          <p:cNvSpPr txBox="1"/>
          <p:nvPr/>
        </p:nvSpPr>
        <p:spPr>
          <a:xfrm>
            <a:off x="777240" y="4572000"/>
            <a:ext cx="5943600" cy="1645920"/>
          </a:xfrm>
          <a:prstGeom prst="rect">
            <a:avLst/>
          </a:prstGeom>
          <a:noFill/>
        </p:spPr>
        <p:txBody>
          <a:bodyPr wrap="square" lIns="0" rIns="0" tIns="0" bIns="0">
            <a:spAutoFit/>
          </a:bodyPr>
          <a:lstStyle/>
          <a:p>
            <a:pPr algn="l">
              <a:lnSpc>
                <a:spcPct val="150000"/>
              </a:lnSpc>
            </a:pPr>
            <a:r>
              <a:rPr sz="1250" b="0" i="0">
                <a:solidFill>
                  <a:srgbClr val="0C1408"/>
                </a:solidFill>
                <a:latin typeface="Segoe UI"/>
              </a:rPr>
              <a:t>The same protection covers the payout side, so a retried release cannot pay a member twice.</a:t>
            </a:r>
          </a:p>
          <a:p>
            <a:pPr algn="l">
              <a:lnSpc>
                <a:spcPct val="150000"/>
              </a:lnSpc>
              <a:spcBef>
                <a:spcPts val="900"/>
              </a:spcBef>
            </a:pPr>
            <a:r>
              <a:rPr sz="1250" b="0" i="0">
                <a:solidFill>
                  <a:srgbClr val="0C1408"/>
                </a:solidFill>
                <a:latin typeface="Segoe UI"/>
              </a:rPr>
              <a:t/>
            </a:r>
          </a:p>
          <a:p>
            <a:pPr algn="l">
              <a:lnSpc>
                <a:spcPct val="150000"/>
              </a:lnSpc>
              <a:spcBef>
                <a:spcPts val="900"/>
              </a:spcBef>
            </a:pPr>
            <a:r>
              <a:rPr sz="1250" b="0" i="0">
                <a:solidFill>
                  <a:srgbClr val="0C1408"/>
                </a:solidFill>
                <a:latin typeface="Segoe UI"/>
              </a:rPr>
              <a:t>This is not a refinement added later. Retries are the normal condition on Pakistani mobile networks. A payment system without it is not partly correct, it is wrong on its most ordinary day.</a:t>
            </a:r>
          </a:p>
        </p:txBody>
      </p:sp>
      <p:sp>
        <p:nvSpPr>
          <p:cNvPr id="10" name="TextBox 9"/>
          <p:cNvSpPr txBox="1"/>
          <p:nvPr/>
        </p:nvSpPr>
        <p:spPr>
          <a:xfrm>
            <a:off x="7178040" y="4937760"/>
            <a:ext cx="4206240" cy="1188720"/>
          </a:xfrm>
          <a:prstGeom prst="rect">
            <a:avLst/>
          </a:prstGeom>
          <a:noFill/>
        </p:spPr>
        <p:txBody>
          <a:bodyPr wrap="square" lIns="0" rIns="0" tIns="0" bIns="0">
            <a:spAutoFit/>
          </a:bodyPr>
          <a:lstStyle/>
          <a:p>
            <a:pPr algn="l">
              <a:lnSpc>
                <a:spcPct val="145000"/>
              </a:lnSpc>
            </a:pPr>
            <a:r>
              <a:rPr sz="1150" b="0" i="0">
                <a:solidFill>
                  <a:srgbClr val="6F7B68"/>
                </a:solidFill>
                <a:latin typeface="Segoe UI"/>
              </a:rPr>
              <a:t>Bankers know this idea as idempotency. It is the same discipline a card switch applies to a reversal, applied to every write in the system rather than only to payments.</a:t>
            </a:r>
          </a:p>
        </p:txBody>
      </p:sp>
    </p:spTree>
  </p:cSld>
  <p:clrMapOvr>
    <a:masterClrMapping/>
  </p:clrMapOvr>
</p:sld>
</file>

<file path=ppt/slides/slide2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777240" y="566928"/>
            <a:ext cx="10637215" cy="219456"/>
          </a:xfrm>
          <a:prstGeom prst="rect">
            <a:avLst/>
          </a:prstGeom>
          <a:noFill/>
        </p:spPr>
        <p:txBody>
          <a:bodyPr wrap="square" lIns="0" rIns="0" tIns="0" bIns="0">
            <a:spAutoFit/>
          </a:bodyPr>
          <a:lstStyle/>
          <a:p>
            <a:pPr algn="l">
              <a:lnSpc>
                <a:spcPct val="125000"/>
              </a:lnSpc>
            </a:pPr>
            <a:r>
              <a:rPr sz="950" b="1" i="0">
                <a:solidFill>
                  <a:srgbClr val="41801A"/>
                </a:solidFill>
                <a:latin typeface="Segoe UI"/>
              </a:rPr>
              <a:t>3  TAKING THE MONEY</a:t>
            </a:r>
          </a:p>
        </p:txBody>
      </p:sp>
      <p:sp>
        <p:nvSpPr>
          <p:cNvPr id="3" name="TextBox 2"/>
          <p:cNvSpPr txBox="1"/>
          <p:nvPr/>
        </p:nvSpPr>
        <p:spPr>
          <a:xfrm>
            <a:off x="777240" y="841248"/>
            <a:ext cx="10637215" cy="502920"/>
          </a:xfrm>
          <a:prstGeom prst="rect">
            <a:avLst/>
          </a:prstGeom>
          <a:noFill/>
        </p:spPr>
        <p:txBody>
          <a:bodyPr wrap="square" lIns="0" rIns="0" tIns="0" bIns="0">
            <a:spAutoFit/>
          </a:bodyPr>
          <a:lstStyle/>
          <a:p>
            <a:pPr algn="l">
              <a:lnSpc>
                <a:spcPct val="125000"/>
              </a:lnSpc>
            </a:pPr>
            <a:r>
              <a:rPr sz="2700" b="1" i="0">
                <a:solidFill>
                  <a:srgbClr val="0C1408"/>
                </a:solidFill>
                <a:latin typeface="Segoe UI"/>
              </a:rPr>
              <a:t>What happens when it fails</a:t>
            </a:r>
          </a:p>
        </p:txBody>
      </p:sp>
      <p:sp>
        <p:nvSpPr>
          <p:cNvPr id="4" name="Rectangle 3"/>
          <p:cNvSpPr/>
          <p:nvPr/>
        </p:nvSpPr>
        <p:spPr>
          <a:xfrm>
            <a:off x="777240" y="1417320"/>
            <a:ext cx="1371600" cy="22860"/>
          </a:xfrm>
          <a:prstGeom prst="rect">
            <a:avLst/>
          </a:prstGeom>
          <a:solidFill>
            <a:srgbClr val="6DC72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777240" y="6382512"/>
            <a:ext cx="3657600" cy="228600"/>
          </a:xfrm>
          <a:prstGeom prst="rect">
            <a:avLst/>
          </a:prstGeom>
          <a:noFill/>
        </p:spPr>
        <p:txBody>
          <a:bodyPr wrap="square" lIns="0" rIns="0" tIns="0" bIns="0">
            <a:spAutoFit/>
          </a:bodyPr>
          <a:lstStyle/>
          <a:p>
            <a:pPr algn="l">
              <a:lnSpc>
                <a:spcPct val="125000"/>
              </a:lnSpc>
            </a:pPr>
            <a:r>
              <a:rPr sz="900" b="0" i="0">
                <a:solidFill>
                  <a:srgbClr val="9AA694"/>
                </a:solidFill>
                <a:latin typeface="Segoe UI"/>
              </a:rPr>
              <a:t>Halqa  ·  Confidential</a:t>
            </a:r>
          </a:p>
        </p:txBody>
      </p:sp>
      <p:sp>
        <p:nvSpPr>
          <p:cNvPr id="6" name="TextBox 5"/>
          <p:cNvSpPr txBox="1"/>
          <p:nvPr/>
        </p:nvSpPr>
        <p:spPr>
          <a:xfrm>
            <a:off x="10728655" y="6382512"/>
            <a:ext cx="685800" cy="228600"/>
          </a:xfrm>
          <a:prstGeom prst="rect">
            <a:avLst/>
          </a:prstGeom>
          <a:noFill/>
        </p:spPr>
        <p:txBody>
          <a:bodyPr wrap="square" lIns="0" rIns="0" tIns="0" bIns="0">
            <a:spAutoFit/>
          </a:bodyPr>
          <a:lstStyle/>
          <a:p>
            <a:pPr algn="r">
              <a:lnSpc>
                <a:spcPct val="125000"/>
              </a:lnSpc>
            </a:pPr>
            <a:r>
              <a:rPr sz="900" b="0" i="0">
                <a:solidFill>
                  <a:srgbClr val="6F7B68"/>
                </a:solidFill>
                <a:latin typeface="Segoe UI"/>
              </a:rPr>
              <a:t>27</a:t>
            </a:r>
          </a:p>
        </p:txBody>
      </p:sp>
      <p:graphicFrame>
        <p:nvGraphicFramePr>
          <p:cNvPr id="7" name="Table 6"/>
          <p:cNvGraphicFramePr>
            <a:graphicFrameLocks noGrp="1"/>
          </p:cNvGraphicFramePr>
          <p:nvPr/>
        </p:nvGraphicFramePr>
        <p:xfrm>
          <a:off x="777240" y="1965960"/>
          <a:ext cx="10607040" cy="3610050"/>
        </p:xfrm>
        <a:graphic>
          <a:graphicData uri="http://schemas.openxmlformats.org/drawingml/2006/table">
            <a:tbl>
              <a:tblPr>
                <a:tableStyleId>{5C22544A-7EE6-4342-B048-85BDC9FD1C3A}</a:tableStyleId>
              </a:tblPr>
              <a:tblGrid>
                <a:gridCol w="2103120"/>
                <a:gridCol w="2286000"/>
                <a:gridCol w="4206240"/>
                <a:gridCol w="2011680"/>
              </a:tblGrid>
              <a:tr h="601675">
                <a:tc>
                  <a:txBody>
                    <a:bodyPr wrap="square"/>
                    <a:lstStyle/>
                    <a:p>
                      <a:r>
                        <a:rPr sz="900" b="1">
                          <a:solidFill>
                            <a:srgbClr val="41801A"/>
                          </a:solidFill>
                          <a:latin typeface="Segoe UI"/>
                        </a:rPr>
                        <a:t>THE FAILURE</a:t>
                      </a:r>
                    </a:p>
                  </a:txBody>
                  <a:tcPr marL="45720" marR="109728" marT="27432" marB="27432" anchor="ctr">
                    <a:lnB w="9525" cap="flat" cmpd="sng" algn="ctr">
                      <a:solidFill>
                        <a:srgbClr val="41801A"/>
                      </a:solidFill>
                    </a:lnB>
                    <a:solidFill>
                      <a:srgbClr val="FFFFFF"/>
                    </a:solidFill>
                  </a:tcPr>
                </a:tc>
                <a:tc>
                  <a:txBody>
                    <a:bodyPr wrap="square"/>
                    <a:lstStyle/>
                    <a:p>
                      <a:r>
                        <a:rPr sz="900" b="1">
                          <a:solidFill>
                            <a:srgbClr val="41801A"/>
                          </a:solidFill>
                          <a:latin typeface="Segoe UI"/>
                        </a:rPr>
                        <a:t>WHAT CAUSED IT</a:t>
                      </a:r>
                    </a:p>
                  </a:txBody>
                  <a:tcPr marL="45720" marR="109728" marT="27432" marB="27432" anchor="ctr">
                    <a:lnB w="9525" cap="flat" cmpd="sng" algn="ctr">
                      <a:solidFill>
                        <a:srgbClr val="41801A"/>
                      </a:solidFill>
                    </a:lnB>
                    <a:solidFill>
                      <a:srgbClr val="FFFFFF"/>
                    </a:solidFill>
                  </a:tcPr>
                </a:tc>
                <a:tc>
                  <a:txBody>
                    <a:bodyPr wrap="square"/>
                    <a:lstStyle/>
                    <a:p>
                      <a:r>
                        <a:rPr sz="900" b="1">
                          <a:solidFill>
                            <a:srgbClr val="41801A"/>
                          </a:solidFill>
                          <a:latin typeface="Segoe UI"/>
                        </a:rPr>
                        <a:t>WHAT THE PLATFORM DOES</a:t>
                      </a:r>
                    </a:p>
                  </a:txBody>
                  <a:tcPr marL="45720" marR="109728" marT="27432" marB="27432" anchor="ctr">
                    <a:lnB w="9525" cap="flat" cmpd="sng" algn="ctr">
                      <a:solidFill>
                        <a:srgbClr val="41801A"/>
                      </a:solidFill>
                    </a:lnB>
                    <a:solidFill>
                      <a:srgbClr val="FFFFFF"/>
                    </a:solidFill>
                  </a:tcPr>
                </a:tc>
                <a:tc>
                  <a:txBody>
                    <a:bodyPr wrap="square"/>
                    <a:lstStyle/>
                    <a:p>
                      <a:r>
                        <a:rPr sz="900" b="1">
                          <a:solidFill>
                            <a:srgbClr val="41801A"/>
                          </a:solidFill>
                          <a:latin typeface="Segoe UI"/>
                        </a:rPr>
                        <a:t>WHAT THE MEMBER SEES</a:t>
                      </a:r>
                    </a:p>
                  </a:txBody>
                  <a:tcPr marL="45720" marR="109728" marT="27432" marB="27432" anchor="ctr">
                    <a:lnB w="9525" cap="flat" cmpd="sng" algn="ctr">
                      <a:solidFill>
                        <a:srgbClr val="41801A"/>
                      </a:solidFill>
                    </a:lnB>
                    <a:solidFill>
                      <a:srgbClr val="FFFFFF"/>
                    </a:solidFill>
                  </a:tcPr>
                </a:tc>
              </a:tr>
              <a:tr h="601675">
                <a:tc>
                  <a:txBody>
                    <a:bodyPr wrap="square"/>
                    <a:lstStyle/>
                    <a:p>
                      <a:r>
                        <a:rPr sz="900" b="0">
                          <a:solidFill>
                            <a:srgbClr val="26301F"/>
                          </a:solidFill>
                          <a:latin typeface="Segoe UI"/>
                        </a:rPr>
                        <a:t>Not enough money in the account</a:t>
                      </a:r>
                    </a:p>
                  </a:txBody>
                  <a:tcPr marL="45720" marR="109728" marT="27432" marB="27432" anchor="ctr">
                    <a:lnB w="9525" cap="flat" cmpd="sng" algn="ctr">
                      <a:solidFill>
                        <a:srgbClr val="DCE3D6"/>
                      </a:solidFill>
                    </a:lnB>
                    <a:solidFill>
                      <a:srgbClr val="FFFFFF"/>
                    </a:solidFill>
                  </a:tcPr>
                </a:tc>
                <a:tc>
                  <a:txBody>
                    <a:bodyPr wrap="square"/>
                    <a:lstStyle/>
                    <a:p>
                      <a:r>
                        <a:rPr sz="900" b="0">
                          <a:solidFill>
                            <a:srgbClr val="26301F"/>
                          </a:solidFill>
                          <a:latin typeface="Segoe UI"/>
                        </a:rPr>
                        <a:t>Pay has not landed yet, or has already been spent</a:t>
                      </a:r>
                    </a:p>
                  </a:txBody>
                  <a:tcPr marL="45720" marR="109728" marT="27432" marB="27432" anchor="ctr">
                    <a:lnB w="9525" cap="flat" cmpd="sng" algn="ctr">
                      <a:solidFill>
                        <a:srgbClr val="DCE3D6"/>
                      </a:solidFill>
                    </a:lnB>
                    <a:solidFill>
                      <a:srgbClr val="FFFFFF"/>
                    </a:solidFill>
                  </a:tcPr>
                </a:tc>
                <a:tc>
                  <a:txBody>
                    <a:bodyPr wrap="square"/>
                    <a:lstStyle/>
                    <a:p>
                      <a:r>
                        <a:rPr sz="900" b="0">
                          <a:solidFill>
                            <a:srgbClr val="26301F"/>
                          </a:solidFill>
                          <a:latin typeface="Segoe UI"/>
                        </a:rPr>
                        <a:t>The retry ladder runs to the due date. The installment stays open and completely untouched</a:t>
                      </a:r>
                    </a:p>
                  </a:txBody>
                  <a:tcPr marL="45720" marR="109728" marT="27432" marB="27432" anchor="ctr">
                    <a:lnB w="9525" cap="flat" cmpd="sng" algn="ctr">
                      <a:solidFill>
                        <a:srgbClr val="DCE3D6"/>
                      </a:solidFill>
                    </a:lnB>
                    <a:solidFill>
                      <a:srgbClr val="FFFFFF"/>
                    </a:solidFill>
                  </a:tcPr>
                </a:tc>
                <a:tc>
                  <a:txBody>
                    <a:bodyPr wrap="square"/>
                    <a:lstStyle/>
                    <a:p>
                      <a:r>
                        <a:rPr sz="900" b="0">
                          <a:solidFill>
                            <a:srgbClr val="26301F"/>
                          </a:solidFill>
                          <a:latin typeface="Segoe UI"/>
                        </a:rPr>
                        <a:t>A request to pay in one tap</a:t>
                      </a:r>
                    </a:p>
                  </a:txBody>
                  <a:tcPr marL="45720" marR="109728" marT="27432" marB="27432" anchor="ctr">
                    <a:lnB w="9525" cap="flat" cmpd="sng" algn="ctr">
                      <a:solidFill>
                        <a:srgbClr val="DCE3D6"/>
                      </a:solidFill>
                    </a:lnB>
                    <a:solidFill>
                      <a:srgbClr val="FFFFFF"/>
                    </a:solidFill>
                  </a:tcPr>
                </a:tc>
              </a:tr>
              <a:tr h="601675">
                <a:tc>
                  <a:txBody>
                    <a:bodyPr wrap="square"/>
                    <a:lstStyle/>
                    <a:p>
                      <a:r>
                        <a:rPr sz="900" b="0">
                          <a:solidFill>
                            <a:srgbClr val="26301F"/>
                          </a:solidFill>
                          <a:latin typeface="Segoe UI"/>
                        </a:rPr>
                        <a:t>The bank cancelled the mandate</a:t>
                      </a:r>
                    </a:p>
                  </a:txBody>
                  <a:tcPr marL="45720" marR="109728" marT="27432" marB="27432" anchor="ctr">
                    <a:lnB w="9525" cap="flat" cmpd="sng" algn="ctr">
                      <a:solidFill>
                        <a:srgbClr val="DCE3D6"/>
                      </a:solidFill>
                    </a:lnB>
                    <a:solidFill>
                      <a:srgbClr val="FFFFFF"/>
                    </a:solidFill>
                  </a:tcPr>
                </a:tc>
                <a:tc>
                  <a:txBody>
                    <a:bodyPr wrap="square"/>
                    <a:lstStyle/>
                    <a:p>
                      <a:r>
                        <a:rPr sz="900" b="0">
                          <a:solidFill>
                            <a:srgbClr val="26301F"/>
                          </a:solidFill>
                          <a:latin typeface="Segoe UI"/>
                        </a:rPr>
                        <a:t>The member revoked it outside the application</a:t>
                      </a:r>
                    </a:p>
                  </a:txBody>
                  <a:tcPr marL="45720" marR="109728" marT="27432" marB="27432" anchor="ctr">
                    <a:lnB w="9525" cap="flat" cmpd="sng" algn="ctr">
                      <a:solidFill>
                        <a:srgbClr val="DCE3D6"/>
                      </a:solidFill>
                    </a:lnB>
                    <a:solidFill>
                      <a:srgbClr val="FFFFFF"/>
                    </a:solidFill>
                  </a:tcPr>
                </a:tc>
                <a:tc>
                  <a:txBody>
                    <a:bodyPr wrap="square"/>
                    <a:lstStyle/>
                    <a:p>
                      <a:r>
                        <a:rPr sz="900" b="0">
                          <a:solidFill>
                            <a:srgbClr val="26301F"/>
                          </a:solidFill>
                          <a:latin typeface="Segoe UI"/>
                        </a:rPr>
                        <a:t>Instrument marked stale, relink requested, score untouched for seven days</a:t>
                      </a:r>
                    </a:p>
                  </a:txBody>
                  <a:tcPr marL="45720" marR="109728" marT="27432" marB="27432" anchor="ctr">
                    <a:lnB w="9525" cap="flat" cmpd="sng" algn="ctr">
                      <a:solidFill>
                        <a:srgbClr val="DCE3D6"/>
                      </a:solidFill>
                    </a:lnB>
                    <a:solidFill>
                      <a:srgbClr val="FFFFFF"/>
                    </a:solidFill>
                  </a:tcPr>
                </a:tc>
                <a:tc>
                  <a:txBody>
                    <a:bodyPr wrap="square"/>
                    <a:lstStyle/>
                    <a:p>
                      <a:r>
                        <a:rPr sz="900" b="0">
                          <a:solidFill>
                            <a:srgbClr val="26301F"/>
                          </a:solidFill>
                          <a:latin typeface="Segoe UI"/>
                        </a:rPr>
                        <a:t>A prompt to relink</a:t>
                      </a:r>
                    </a:p>
                  </a:txBody>
                  <a:tcPr marL="45720" marR="109728" marT="27432" marB="27432" anchor="ctr">
                    <a:lnB w="9525" cap="flat" cmpd="sng" algn="ctr">
                      <a:solidFill>
                        <a:srgbClr val="DCE3D6"/>
                      </a:solidFill>
                    </a:lnB>
                    <a:solidFill>
                      <a:srgbClr val="FFFFFF"/>
                    </a:solidFill>
                  </a:tcPr>
                </a:tc>
              </a:tr>
              <a:tr h="601675">
                <a:tc>
                  <a:txBody>
                    <a:bodyPr wrap="square"/>
                    <a:lstStyle/>
                    <a:p>
                      <a:r>
                        <a:rPr sz="900" b="0">
                          <a:solidFill>
                            <a:srgbClr val="26301F"/>
                          </a:solidFill>
                          <a:latin typeface="Segoe UI"/>
                        </a:rPr>
                        <a:t>The aggregator times out</a:t>
                      </a:r>
                    </a:p>
                  </a:txBody>
                  <a:tcPr marL="45720" marR="109728" marT="27432" marB="27432" anchor="ctr">
                    <a:lnB w="9525" cap="flat" cmpd="sng" algn="ctr">
                      <a:solidFill>
                        <a:srgbClr val="DCE3D6"/>
                      </a:solidFill>
                    </a:lnB>
                    <a:solidFill>
                      <a:srgbClr val="FFFFFF"/>
                    </a:solidFill>
                  </a:tcPr>
                </a:tc>
                <a:tc>
                  <a:txBody>
                    <a:bodyPr wrap="square"/>
                    <a:lstStyle/>
                    <a:p>
                      <a:r>
                        <a:rPr sz="900" b="0">
                          <a:solidFill>
                            <a:srgbClr val="26301F"/>
                          </a:solidFill>
                          <a:latin typeface="Segoe UI"/>
                        </a:rPr>
                        <a:t>Rail congestion</a:t>
                      </a:r>
                    </a:p>
                  </a:txBody>
                  <a:tcPr marL="45720" marR="109728" marT="27432" marB="27432" anchor="ctr">
                    <a:lnB w="9525" cap="flat" cmpd="sng" algn="ctr">
                      <a:solidFill>
                        <a:srgbClr val="DCE3D6"/>
                      </a:solidFill>
                    </a:lnB>
                    <a:solidFill>
                      <a:srgbClr val="FFFFFF"/>
                    </a:solidFill>
                  </a:tcPr>
                </a:tc>
                <a:tc>
                  <a:txBody>
                    <a:bodyPr wrap="square"/>
                    <a:lstStyle/>
                    <a:p>
                      <a:r>
                        <a:rPr sz="900" b="0">
                          <a:solidFill>
                            <a:srgbClr val="26301F"/>
                          </a:solidFill>
                          <a:latin typeface="Segoe UI"/>
                        </a:rPr>
                        <a:t>The reconciliation job queries by the unique reference before retrying, so a payment that quietly succeeded is never charged twice</a:t>
                      </a:r>
                    </a:p>
                  </a:txBody>
                  <a:tcPr marL="45720" marR="109728" marT="27432" marB="27432" anchor="ctr">
                    <a:lnB w="9525" cap="flat" cmpd="sng" algn="ctr">
                      <a:solidFill>
                        <a:srgbClr val="DCE3D6"/>
                      </a:solidFill>
                    </a:lnB>
                    <a:solidFill>
                      <a:srgbClr val="FFFFFF"/>
                    </a:solidFill>
                  </a:tcPr>
                </a:tc>
                <a:tc>
                  <a:txBody>
                    <a:bodyPr wrap="square"/>
                    <a:lstStyle/>
                    <a:p>
                      <a:r>
                        <a:rPr sz="900" b="0">
                          <a:solidFill>
                            <a:srgbClr val="26301F"/>
                          </a:solidFill>
                          <a:latin typeface="Segoe UI"/>
                        </a:rPr>
                        <a:t>Nothing</a:t>
                      </a:r>
                    </a:p>
                  </a:txBody>
                  <a:tcPr marL="45720" marR="109728" marT="27432" marB="27432" anchor="ctr">
                    <a:lnB w="9525" cap="flat" cmpd="sng" algn="ctr">
                      <a:solidFill>
                        <a:srgbClr val="DCE3D6"/>
                      </a:solidFill>
                    </a:lnB>
                    <a:solidFill>
                      <a:srgbClr val="FFFFFF"/>
                    </a:solidFill>
                  </a:tcPr>
                </a:tc>
              </a:tr>
              <a:tr h="601675">
                <a:tc>
                  <a:txBody>
                    <a:bodyPr wrap="square"/>
                    <a:lstStyle/>
                    <a:p>
                      <a:r>
                        <a:rPr sz="900" b="0">
                          <a:solidFill>
                            <a:srgbClr val="26301F"/>
                          </a:solidFill>
                          <a:latin typeface="Segoe UI"/>
                        </a:rPr>
                        <a:t>A half completed movement</a:t>
                      </a:r>
                    </a:p>
                  </a:txBody>
                  <a:tcPr marL="45720" marR="109728" marT="27432" marB="27432" anchor="ctr">
                    <a:lnB w="9525" cap="flat" cmpd="sng" algn="ctr">
                      <a:solidFill>
                        <a:srgbClr val="DCE3D6"/>
                      </a:solidFill>
                    </a:lnB>
                    <a:solidFill>
                      <a:srgbClr val="FFFFFF"/>
                    </a:solidFill>
                  </a:tcPr>
                </a:tc>
                <a:tc>
                  <a:txBody>
                    <a:bodyPr wrap="square"/>
                    <a:lstStyle/>
                    <a:p>
                      <a:r>
                        <a:rPr sz="900" b="0">
                          <a:solidFill>
                            <a:srgbClr val="26301F"/>
                          </a:solidFill>
                          <a:latin typeface="Segoe UI"/>
                        </a:rPr>
                        <a:t>Cannot occur</a:t>
                      </a:r>
                    </a:p>
                  </a:txBody>
                  <a:tcPr marL="45720" marR="109728" marT="27432" marB="27432" anchor="ctr">
                    <a:lnB w="9525" cap="flat" cmpd="sng" algn="ctr">
                      <a:solidFill>
                        <a:srgbClr val="DCE3D6"/>
                      </a:solidFill>
                    </a:lnB>
                    <a:solidFill>
                      <a:srgbClr val="FFFFFF"/>
                    </a:solidFill>
                  </a:tcPr>
                </a:tc>
                <a:tc>
                  <a:txBody>
                    <a:bodyPr wrap="square"/>
                    <a:lstStyle/>
                    <a:p>
                      <a:r>
                        <a:rPr sz="900" b="0">
                          <a:solidFill>
                            <a:srgbClr val="26301F"/>
                          </a:solidFill>
                          <a:latin typeface="Segoe UI"/>
                        </a:rPr>
                        <a:t>Money is held as whole units and the two ledger entries must cancel out. A one sided write is rejected by the database itself</a:t>
                      </a:r>
                    </a:p>
                  </a:txBody>
                  <a:tcPr marL="45720" marR="109728" marT="27432" marB="27432" anchor="ctr">
                    <a:lnB w="9525" cap="flat" cmpd="sng" algn="ctr">
                      <a:solidFill>
                        <a:srgbClr val="DCE3D6"/>
                      </a:solidFill>
                    </a:lnB>
                    <a:solidFill>
                      <a:srgbClr val="FFFFFF"/>
                    </a:solidFill>
                  </a:tcPr>
                </a:tc>
                <a:tc>
                  <a:txBody>
                    <a:bodyPr wrap="square"/>
                    <a:lstStyle/>
                    <a:p>
                      <a:r>
                        <a:rPr sz="900" b="0">
                          <a:solidFill>
                            <a:srgbClr val="26301F"/>
                          </a:solidFill>
                          <a:latin typeface="Segoe UI"/>
                        </a:rPr>
                        <a:t>Nothing</a:t>
                      </a:r>
                    </a:p>
                  </a:txBody>
                  <a:tcPr marL="45720" marR="109728" marT="27432" marB="27432" anchor="ctr">
                    <a:lnB w="9525" cap="flat" cmpd="sng" algn="ctr">
                      <a:solidFill>
                        <a:srgbClr val="DCE3D6"/>
                      </a:solidFill>
                    </a:lnB>
                    <a:solidFill>
                      <a:srgbClr val="FFFFFF"/>
                    </a:solidFill>
                  </a:tcPr>
                </a:tc>
              </a:tr>
              <a:tr h="601675">
                <a:tc>
                  <a:txBody>
                    <a:bodyPr wrap="square"/>
                    <a:lstStyle/>
                    <a:p>
                      <a:r>
                        <a:rPr sz="900" b="0">
                          <a:solidFill>
                            <a:srgbClr val="26301F"/>
                          </a:solidFill>
                          <a:latin typeface="Segoe UI"/>
                        </a:rPr>
                        <a:t>The payout gate is blocked</a:t>
                      </a:r>
                    </a:p>
                  </a:txBody>
                  <a:tcPr marL="45720" marR="109728" marT="27432" marB="27432" anchor="ctr">
                    <a:lnB w="9525" cap="flat" cmpd="sng" algn="ctr">
                      <a:solidFill>
                        <a:srgbClr val="DCE3D6"/>
                      </a:solidFill>
                    </a:lnB>
                    <a:solidFill>
                      <a:srgbClr val="FFFFFF"/>
                    </a:solidFill>
                  </a:tcPr>
                </a:tc>
                <a:tc>
                  <a:txBody>
                    <a:bodyPr wrap="square"/>
                    <a:lstStyle/>
                    <a:p>
                      <a:r>
                        <a:rPr sz="900" b="0">
                          <a:solidFill>
                            <a:srgbClr val="26301F"/>
                          </a:solidFill>
                          <a:latin typeface="Segoe UI"/>
                        </a:rPr>
                        <a:t>Somebody else in that round has not paid</a:t>
                      </a:r>
                    </a:p>
                  </a:txBody>
                  <a:tcPr marL="45720" marR="109728" marT="27432" marB="27432" anchor="ctr">
                    <a:lnB w="9525" cap="flat" cmpd="sng" algn="ctr">
                      <a:solidFill>
                        <a:srgbClr val="DCE3D6"/>
                      </a:solidFill>
                    </a:lnB>
                    <a:solidFill>
                      <a:srgbClr val="FFFFFF"/>
                    </a:solidFill>
                  </a:tcPr>
                </a:tc>
                <a:tc>
                  <a:txBody>
                    <a:bodyPr wrap="square"/>
                    <a:lstStyle/>
                    <a:p>
                      <a:r>
                        <a:rPr sz="900" b="0">
                          <a:solidFill>
                            <a:srgbClr val="26301F"/>
                          </a:solidFill>
                          <a:latin typeface="Segoe UI"/>
                        </a:rPr>
                        <a:t>The cover facility advances the shortfall so the payout still releases on the tenth</a:t>
                      </a:r>
                    </a:p>
                  </a:txBody>
                  <a:tcPr marL="45720" marR="109728" marT="27432" marB="27432" anchor="ctr">
                    <a:lnB w="9525" cap="flat" cmpd="sng" algn="ctr">
                      <a:solidFill>
                        <a:srgbClr val="DCE3D6"/>
                      </a:solidFill>
                    </a:lnB>
                    <a:solidFill>
                      <a:srgbClr val="FFFFFF"/>
                    </a:solidFill>
                  </a:tcPr>
                </a:tc>
                <a:tc>
                  <a:txBody>
                    <a:bodyPr wrap="square"/>
                    <a:lstStyle/>
                    <a:p>
                      <a:r>
                        <a:rPr sz="900" b="0">
                          <a:solidFill>
                            <a:srgbClr val="26301F"/>
                          </a:solidFill>
                          <a:latin typeface="Segoe UI"/>
                        </a:rPr>
                        <a:t>Paid, on time, in full</a:t>
                      </a:r>
                    </a:p>
                  </a:txBody>
                  <a:tcPr marL="45720" marR="109728" marT="27432" marB="27432" anchor="ctr">
                    <a:lnB w="9525" cap="flat" cmpd="sng" algn="ctr">
                      <a:solidFill>
                        <a:srgbClr val="DCE3D6"/>
                      </a:solidFill>
                    </a:lnB>
                    <a:solidFill>
                      <a:srgbClr val="FFFFFF"/>
                    </a:solidFill>
                  </a:tcPr>
                </a:tc>
              </a:tr>
            </a:tbl>
          </a:graphicData>
        </a:graphic>
      </p:graphicFrame>
      <p:sp>
        <p:nvSpPr>
          <p:cNvPr id="8" name="TextBox 7"/>
          <p:cNvSpPr txBox="1"/>
          <p:nvPr/>
        </p:nvSpPr>
        <p:spPr>
          <a:xfrm>
            <a:off x="777240" y="5758890"/>
            <a:ext cx="10637215" cy="731520"/>
          </a:xfrm>
          <a:prstGeom prst="rect">
            <a:avLst/>
          </a:prstGeom>
          <a:noFill/>
        </p:spPr>
        <p:txBody>
          <a:bodyPr wrap="square" lIns="0" rIns="0" tIns="0" bIns="0">
            <a:spAutoFit/>
          </a:bodyPr>
          <a:lstStyle/>
          <a:p>
            <a:pPr algn="l">
              <a:lnSpc>
                <a:spcPct val="140000"/>
              </a:lnSpc>
            </a:pPr>
            <a:r>
              <a:rPr sz="1200" b="1" i="0">
                <a:solidFill>
                  <a:srgbClr val="0C1408"/>
                </a:solidFill>
                <a:latin typeface="Segoe UI"/>
              </a:rPr>
              <a:t>One rule sits across all five. A failure never silently changes what a member owes. The installment either settles or stays exactly as it was, and the member is told which.</a:t>
            </a:r>
          </a:p>
        </p:txBody>
      </p:sp>
    </p:spTree>
  </p:cSld>
  <p:clrMapOvr>
    <a:masterClrMapping/>
  </p:clrMapOvr>
</p:sld>
</file>

<file path=ppt/slides/slide2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777240" y="566928"/>
            <a:ext cx="10637215" cy="219456"/>
          </a:xfrm>
          <a:prstGeom prst="rect">
            <a:avLst/>
          </a:prstGeom>
          <a:noFill/>
        </p:spPr>
        <p:txBody>
          <a:bodyPr wrap="square" lIns="0" rIns="0" tIns="0" bIns="0">
            <a:spAutoFit/>
          </a:bodyPr>
          <a:lstStyle/>
          <a:p>
            <a:pPr algn="l">
              <a:lnSpc>
                <a:spcPct val="125000"/>
              </a:lnSpc>
            </a:pPr>
            <a:r>
              <a:rPr sz="950" b="1" i="0">
                <a:solidFill>
                  <a:srgbClr val="41801A"/>
                </a:solidFill>
                <a:latin typeface="Segoe UI"/>
              </a:rPr>
              <a:t>3  TAKING THE MONEY</a:t>
            </a:r>
          </a:p>
        </p:txBody>
      </p:sp>
      <p:sp>
        <p:nvSpPr>
          <p:cNvPr id="3" name="TextBox 2"/>
          <p:cNvSpPr txBox="1"/>
          <p:nvPr/>
        </p:nvSpPr>
        <p:spPr>
          <a:xfrm>
            <a:off x="777240" y="841248"/>
            <a:ext cx="10637215" cy="502920"/>
          </a:xfrm>
          <a:prstGeom prst="rect">
            <a:avLst/>
          </a:prstGeom>
          <a:noFill/>
        </p:spPr>
        <p:txBody>
          <a:bodyPr wrap="square" lIns="0" rIns="0" tIns="0" bIns="0">
            <a:spAutoFit/>
          </a:bodyPr>
          <a:lstStyle/>
          <a:p>
            <a:pPr algn="l">
              <a:lnSpc>
                <a:spcPct val="125000"/>
              </a:lnSpc>
            </a:pPr>
            <a:r>
              <a:rPr sz="2700" b="1" i="0">
                <a:solidFill>
                  <a:srgbClr val="0C1408"/>
                </a:solidFill>
                <a:latin typeface="Segoe UI"/>
              </a:rPr>
              <a:t>Receipts and the trail</a:t>
            </a:r>
          </a:p>
        </p:txBody>
      </p:sp>
      <p:sp>
        <p:nvSpPr>
          <p:cNvPr id="4" name="Rectangle 3"/>
          <p:cNvSpPr/>
          <p:nvPr/>
        </p:nvSpPr>
        <p:spPr>
          <a:xfrm>
            <a:off x="777240" y="1417320"/>
            <a:ext cx="1371600" cy="22860"/>
          </a:xfrm>
          <a:prstGeom prst="rect">
            <a:avLst/>
          </a:prstGeom>
          <a:solidFill>
            <a:srgbClr val="6DC72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777240" y="6382512"/>
            <a:ext cx="3657600" cy="228600"/>
          </a:xfrm>
          <a:prstGeom prst="rect">
            <a:avLst/>
          </a:prstGeom>
          <a:noFill/>
        </p:spPr>
        <p:txBody>
          <a:bodyPr wrap="square" lIns="0" rIns="0" tIns="0" bIns="0">
            <a:spAutoFit/>
          </a:bodyPr>
          <a:lstStyle/>
          <a:p>
            <a:pPr algn="l">
              <a:lnSpc>
                <a:spcPct val="125000"/>
              </a:lnSpc>
            </a:pPr>
            <a:r>
              <a:rPr sz="900" b="0" i="0">
                <a:solidFill>
                  <a:srgbClr val="9AA694"/>
                </a:solidFill>
                <a:latin typeface="Segoe UI"/>
              </a:rPr>
              <a:t>Halqa  ·  Confidential</a:t>
            </a:r>
          </a:p>
        </p:txBody>
      </p:sp>
      <p:sp>
        <p:nvSpPr>
          <p:cNvPr id="6" name="TextBox 5"/>
          <p:cNvSpPr txBox="1"/>
          <p:nvPr/>
        </p:nvSpPr>
        <p:spPr>
          <a:xfrm>
            <a:off x="10728655" y="6382512"/>
            <a:ext cx="685800" cy="228600"/>
          </a:xfrm>
          <a:prstGeom prst="rect">
            <a:avLst/>
          </a:prstGeom>
          <a:noFill/>
        </p:spPr>
        <p:txBody>
          <a:bodyPr wrap="square" lIns="0" rIns="0" tIns="0" bIns="0">
            <a:spAutoFit/>
          </a:bodyPr>
          <a:lstStyle/>
          <a:p>
            <a:pPr algn="r">
              <a:lnSpc>
                <a:spcPct val="125000"/>
              </a:lnSpc>
            </a:pPr>
            <a:r>
              <a:rPr sz="900" b="0" i="0">
                <a:solidFill>
                  <a:srgbClr val="6F7B68"/>
                </a:solidFill>
                <a:latin typeface="Segoe UI"/>
              </a:rPr>
              <a:t>28</a:t>
            </a:r>
          </a:p>
        </p:txBody>
      </p:sp>
      <p:graphicFrame>
        <p:nvGraphicFramePr>
          <p:cNvPr id="7" name="Table 6"/>
          <p:cNvGraphicFramePr>
            <a:graphicFrameLocks noGrp="1"/>
          </p:cNvGraphicFramePr>
          <p:nvPr/>
        </p:nvGraphicFramePr>
        <p:xfrm>
          <a:off x="777240" y="1965960"/>
          <a:ext cx="10607040" cy="3508813"/>
        </p:xfrm>
        <a:graphic>
          <a:graphicData uri="http://schemas.openxmlformats.org/drawingml/2006/table">
            <a:tbl>
              <a:tblPr>
                <a:tableStyleId>{5C22544A-7EE6-4342-B048-85BDC9FD1C3A}</a:tableStyleId>
              </a:tblPr>
              <a:tblGrid>
                <a:gridCol w="2560320"/>
                <a:gridCol w="3108960"/>
                <a:gridCol w="4937760"/>
              </a:tblGrid>
              <a:tr h="501259">
                <a:tc>
                  <a:txBody>
                    <a:bodyPr wrap="square"/>
                    <a:lstStyle/>
                    <a:p>
                      <a:r>
                        <a:rPr sz="800" b="1">
                          <a:solidFill>
                            <a:srgbClr val="41801A"/>
                          </a:solidFill>
                          <a:latin typeface="Segoe UI"/>
                        </a:rPr>
                        <a:t>WHAT IS PRODUCED</a:t>
                      </a:r>
                    </a:p>
                  </a:txBody>
                  <a:tcPr marL="45720" marR="109728" marT="27432" marB="27432" anchor="ctr">
                    <a:lnB w="9525" cap="flat" cmpd="sng" algn="ctr">
                      <a:solidFill>
                        <a:srgbClr val="41801A"/>
                      </a:solidFill>
                    </a:lnB>
                    <a:solidFill>
                      <a:srgbClr val="FFFFFF"/>
                    </a:solidFill>
                  </a:tcPr>
                </a:tc>
                <a:tc>
                  <a:txBody>
                    <a:bodyPr wrap="square"/>
                    <a:lstStyle/>
                    <a:p>
                      <a:r>
                        <a:rPr sz="800" b="1">
                          <a:solidFill>
                            <a:srgbClr val="41801A"/>
                          </a:solidFill>
                          <a:latin typeface="Segoe UI"/>
                        </a:rPr>
                        <a:t>WHEN</a:t>
                      </a:r>
                    </a:p>
                  </a:txBody>
                  <a:tcPr marL="45720" marR="109728" marT="27432" marB="27432" anchor="ctr">
                    <a:lnB w="9525" cap="flat" cmpd="sng" algn="ctr">
                      <a:solidFill>
                        <a:srgbClr val="41801A"/>
                      </a:solidFill>
                    </a:lnB>
                    <a:solidFill>
                      <a:srgbClr val="FFFFFF"/>
                    </a:solidFill>
                  </a:tcPr>
                </a:tc>
                <a:tc>
                  <a:txBody>
                    <a:bodyPr wrap="square"/>
                    <a:lstStyle/>
                    <a:p>
                      <a:r>
                        <a:rPr sz="800" b="1">
                          <a:solidFill>
                            <a:srgbClr val="41801A"/>
                          </a:solidFill>
                          <a:latin typeface="Segoe UI"/>
                        </a:rPr>
                        <a:t>WHY IT MATTERS</a:t>
                      </a:r>
                    </a:p>
                  </a:txBody>
                  <a:tcPr marL="45720" marR="109728" marT="27432" marB="27432" anchor="ctr">
                    <a:lnB w="9525" cap="flat" cmpd="sng" algn="ctr">
                      <a:solidFill>
                        <a:srgbClr val="41801A"/>
                      </a:solidFill>
                    </a:lnB>
                    <a:solidFill>
                      <a:srgbClr val="FFFFFF"/>
                    </a:solidFill>
                  </a:tcPr>
                </a:tc>
              </a:tr>
              <a:tr h="501259">
                <a:tc>
                  <a:txBody>
                    <a:bodyPr wrap="square"/>
                    <a:lstStyle/>
                    <a:p>
                      <a:r>
                        <a:rPr sz="800" b="0">
                          <a:solidFill>
                            <a:srgbClr val="26301F"/>
                          </a:solidFill>
                          <a:latin typeface="Segoe UI"/>
                        </a:rPr>
                        <a:t>A receipt with a reference</a:t>
                      </a:r>
                    </a:p>
                  </a:txBody>
                  <a:tcPr marL="45720" marR="109728" marT="27432" marB="27432" anchor="ctr">
                    <a:lnB w="9525" cap="flat" cmpd="sng" algn="ctr">
                      <a:solidFill>
                        <a:srgbClr val="DCE3D6"/>
                      </a:solidFill>
                    </a:lnB>
                    <a:solidFill>
                      <a:srgbClr val="FFFFFF"/>
                    </a:solidFill>
                  </a:tcPr>
                </a:tc>
                <a:tc>
                  <a:txBody>
                    <a:bodyPr wrap="square"/>
                    <a:lstStyle/>
                    <a:p>
                      <a:r>
                        <a:rPr sz="800" b="0">
                          <a:solidFill>
                            <a:srgbClr val="26301F"/>
                          </a:solidFill>
                          <a:latin typeface="Segoe UI"/>
                        </a:rPr>
                        <a:t>Inside the same database transaction as the money movement</a:t>
                      </a:r>
                    </a:p>
                  </a:txBody>
                  <a:tcPr marL="45720" marR="109728" marT="27432" marB="27432" anchor="ctr">
                    <a:lnB w="9525" cap="flat" cmpd="sng" algn="ctr">
                      <a:solidFill>
                        <a:srgbClr val="DCE3D6"/>
                      </a:solidFill>
                    </a:lnB>
                    <a:solidFill>
                      <a:srgbClr val="FFFFFF"/>
                    </a:solidFill>
                  </a:tcPr>
                </a:tc>
                <a:tc>
                  <a:txBody>
                    <a:bodyPr wrap="square"/>
                    <a:lstStyle/>
                    <a:p>
                      <a:r>
                        <a:rPr sz="800" b="0">
                          <a:solidFill>
                            <a:srgbClr val="26301F"/>
                          </a:solidFill>
                          <a:latin typeface="Segoe UI"/>
                        </a:rPr>
                        <a:t>A receipt cannot exist without a settlement, and a settlement cannot exist without a receipt. There is no state in which the member has one and not the other</a:t>
                      </a:r>
                    </a:p>
                  </a:txBody>
                  <a:tcPr marL="45720" marR="109728" marT="27432" marB="27432" anchor="ctr">
                    <a:lnB w="9525" cap="flat" cmpd="sng" algn="ctr">
                      <a:solidFill>
                        <a:srgbClr val="DCE3D6"/>
                      </a:solidFill>
                    </a:lnB>
                    <a:solidFill>
                      <a:srgbClr val="FFFFFF"/>
                    </a:solidFill>
                  </a:tcPr>
                </a:tc>
              </a:tr>
              <a:tr h="501259">
                <a:tc>
                  <a:txBody>
                    <a:bodyPr wrap="square"/>
                    <a:lstStyle/>
                    <a:p>
                      <a:r>
                        <a:rPr sz="800" b="0">
                          <a:solidFill>
                            <a:srgbClr val="26301F"/>
                          </a:solidFill>
                          <a:latin typeface="Segoe UI"/>
                        </a:rPr>
                        <a:t>A message to the payer</a:t>
                      </a:r>
                    </a:p>
                  </a:txBody>
                  <a:tcPr marL="45720" marR="109728" marT="27432" marB="27432" anchor="ctr">
                    <a:lnB w="9525" cap="flat" cmpd="sng" algn="ctr">
                      <a:solidFill>
                        <a:srgbClr val="DCE3D6"/>
                      </a:solidFill>
                    </a:lnB>
                    <a:solidFill>
                      <a:srgbClr val="FFFFFF"/>
                    </a:solidFill>
                  </a:tcPr>
                </a:tc>
                <a:tc>
                  <a:txBody>
                    <a:bodyPr wrap="square"/>
                    <a:lstStyle/>
                    <a:p>
                      <a:r>
                        <a:rPr sz="800" b="0">
                          <a:solidFill>
                            <a:srgbClr val="26301F"/>
                          </a:solidFill>
                          <a:latin typeface="Segoe UI"/>
                        </a:rPr>
                        <a:t>Immediately after, over WhatsApp and in the application</a:t>
                      </a:r>
                    </a:p>
                  </a:txBody>
                  <a:tcPr marL="45720" marR="109728" marT="27432" marB="27432" anchor="ctr">
                    <a:lnB w="9525" cap="flat" cmpd="sng" algn="ctr">
                      <a:solidFill>
                        <a:srgbClr val="DCE3D6"/>
                      </a:solidFill>
                    </a:lnB>
                    <a:solidFill>
                      <a:srgbClr val="FFFFFF"/>
                    </a:solidFill>
                  </a:tcPr>
                </a:tc>
                <a:tc>
                  <a:txBody>
                    <a:bodyPr wrap="square"/>
                    <a:lstStyle/>
                    <a:p>
                      <a:r>
                        <a:rPr sz="800" b="0">
                          <a:solidFill>
                            <a:srgbClr val="26301F"/>
                          </a:solidFill>
                          <a:latin typeface="Segoe UI"/>
                        </a:rPr>
                        <a:t>The member has proof in a channel they already use, without opening anything</a:t>
                      </a:r>
                    </a:p>
                  </a:txBody>
                  <a:tcPr marL="45720" marR="109728" marT="27432" marB="27432" anchor="ctr">
                    <a:lnB w="9525" cap="flat" cmpd="sng" algn="ctr">
                      <a:solidFill>
                        <a:srgbClr val="DCE3D6"/>
                      </a:solidFill>
                    </a:lnB>
                    <a:solidFill>
                      <a:srgbClr val="FFFFFF"/>
                    </a:solidFill>
                  </a:tcPr>
                </a:tc>
              </a:tr>
              <a:tr h="501259">
                <a:tc>
                  <a:txBody>
                    <a:bodyPr wrap="square"/>
                    <a:lstStyle/>
                    <a:p>
                      <a:r>
                        <a:rPr sz="800" b="0">
                          <a:solidFill>
                            <a:srgbClr val="26301F"/>
                          </a:solidFill>
                          <a:latin typeface="Segoe UI"/>
                        </a:rPr>
                        <a:t>A visible round position</a:t>
                      </a:r>
                    </a:p>
                  </a:txBody>
                  <a:tcPr marL="45720" marR="109728" marT="27432" marB="27432" anchor="ctr">
                    <a:lnB w="9525" cap="flat" cmpd="sng" algn="ctr">
                      <a:solidFill>
                        <a:srgbClr val="DCE3D6"/>
                      </a:solidFill>
                    </a:lnB>
                    <a:solidFill>
                      <a:srgbClr val="FFFFFF"/>
                    </a:solidFill>
                  </a:tcPr>
                </a:tc>
                <a:tc>
                  <a:txBody>
                    <a:bodyPr wrap="square"/>
                    <a:lstStyle/>
                    <a:p>
                      <a:r>
                        <a:rPr sz="800" b="0">
                          <a:solidFill>
                            <a:srgbClr val="26301F"/>
                          </a:solidFill>
                          <a:latin typeface="Segoe UI"/>
                        </a:rPr>
                        <a:t>Immediately</a:t>
                      </a:r>
                    </a:p>
                  </a:txBody>
                  <a:tcPr marL="45720" marR="109728" marT="27432" marB="27432" anchor="ctr">
                    <a:lnB w="9525" cap="flat" cmpd="sng" algn="ctr">
                      <a:solidFill>
                        <a:srgbClr val="DCE3D6"/>
                      </a:solidFill>
                    </a:lnB>
                    <a:solidFill>
                      <a:srgbClr val="FFFFFF"/>
                    </a:solidFill>
                  </a:tcPr>
                </a:tc>
                <a:tc>
                  <a:txBody>
                    <a:bodyPr wrap="square"/>
                    <a:lstStyle/>
                    <a:p>
                      <a:r>
                        <a:rPr sz="800" b="0">
                          <a:solidFill>
                            <a:srgbClr val="26301F"/>
                          </a:solidFill>
                          <a:latin typeface="Segoe UI"/>
                        </a:rPr>
                        <a:t>Every member sees who has paid and how far the round has progressed, which is what the notebook used to do badly</a:t>
                      </a:r>
                    </a:p>
                  </a:txBody>
                  <a:tcPr marL="45720" marR="109728" marT="27432" marB="27432" anchor="ctr">
                    <a:lnB w="9525" cap="flat" cmpd="sng" algn="ctr">
                      <a:solidFill>
                        <a:srgbClr val="DCE3D6"/>
                      </a:solidFill>
                    </a:lnB>
                    <a:solidFill>
                      <a:srgbClr val="FFFFFF"/>
                    </a:solidFill>
                  </a:tcPr>
                </a:tc>
              </a:tr>
              <a:tr h="501259">
                <a:tc>
                  <a:txBody>
                    <a:bodyPr wrap="square"/>
                    <a:lstStyle/>
                    <a:p>
                      <a:r>
                        <a:rPr sz="800" b="0">
                          <a:solidFill>
                            <a:srgbClr val="26301F"/>
                          </a:solidFill>
                          <a:latin typeface="Segoe UI"/>
                        </a:rPr>
                        <a:t>A double sided ledger entry</a:t>
                      </a:r>
                    </a:p>
                  </a:txBody>
                  <a:tcPr marL="45720" marR="109728" marT="27432" marB="27432" anchor="ctr">
                    <a:lnB w="9525" cap="flat" cmpd="sng" algn="ctr">
                      <a:solidFill>
                        <a:srgbClr val="DCE3D6"/>
                      </a:solidFill>
                    </a:lnB>
                    <a:solidFill>
                      <a:srgbClr val="FFFFFF"/>
                    </a:solidFill>
                  </a:tcPr>
                </a:tc>
                <a:tc>
                  <a:txBody>
                    <a:bodyPr wrap="square"/>
                    <a:lstStyle/>
                    <a:p>
                      <a:r>
                        <a:rPr sz="800" b="0">
                          <a:solidFill>
                            <a:srgbClr val="26301F"/>
                          </a:solidFill>
                          <a:latin typeface="Segoe UI"/>
                        </a:rPr>
                        <a:t>At settlement</a:t>
                      </a:r>
                    </a:p>
                  </a:txBody>
                  <a:tcPr marL="45720" marR="109728" marT="27432" marB="27432" anchor="ctr">
                    <a:lnB w="9525" cap="flat" cmpd="sng" algn="ctr">
                      <a:solidFill>
                        <a:srgbClr val="DCE3D6"/>
                      </a:solidFill>
                    </a:lnB>
                    <a:solidFill>
                      <a:srgbClr val="FFFFFF"/>
                    </a:solidFill>
                  </a:tcPr>
                </a:tc>
                <a:tc>
                  <a:txBody>
                    <a:bodyPr wrap="square"/>
                    <a:lstStyle/>
                    <a:p>
                      <a:r>
                        <a:rPr sz="800" b="0">
                          <a:solidFill>
                            <a:srgbClr val="26301F"/>
                          </a:solidFill>
                          <a:latin typeface="Segoe UI"/>
                        </a:rPr>
                        <a:t>Two entries that must cancel out. The ledger checks itself, so an error is detectable rather than silent</a:t>
                      </a:r>
                    </a:p>
                  </a:txBody>
                  <a:tcPr marL="45720" marR="109728" marT="27432" marB="27432" anchor="ctr">
                    <a:lnB w="9525" cap="flat" cmpd="sng" algn="ctr">
                      <a:solidFill>
                        <a:srgbClr val="DCE3D6"/>
                      </a:solidFill>
                    </a:lnB>
                    <a:solidFill>
                      <a:srgbClr val="FFFFFF"/>
                    </a:solidFill>
                  </a:tcPr>
                </a:tc>
              </a:tr>
              <a:tr h="501259">
                <a:tc>
                  <a:txBody>
                    <a:bodyPr wrap="square"/>
                    <a:lstStyle/>
                    <a:p>
                      <a:r>
                        <a:rPr sz="800" b="0">
                          <a:solidFill>
                            <a:srgbClr val="26301F"/>
                          </a:solidFill>
                          <a:latin typeface="Segoe UI"/>
                        </a:rPr>
                        <a:t>An append only audit line</a:t>
                      </a:r>
                    </a:p>
                  </a:txBody>
                  <a:tcPr marL="45720" marR="109728" marT="27432" marB="27432" anchor="ctr">
                    <a:lnB w="9525" cap="flat" cmpd="sng" algn="ctr">
                      <a:solidFill>
                        <a:srgbClr val="DCE3D6"/>
                      </a:solidFill>
                    </a:lnB>
                    <a:solidFill>
                      <a:srgbClr val="FFFFFF"/>
                    </a:solidFill>
                  </a:tcPr>
                </a:tc>
                <a:tc>
                  <a:txBody>
                    <a:bodyPr wrap="square"/>
                    <a:lstStyle/>
                    <a:p>
                      <a:r>
                        <a:rPr sz="800" b="0">
                          <a:solidFill>
                            <a:srgbClr val="26301F"/>
                          </a:solidFill>
                          <a:latin typeface="Segoe UI"/>
                        </a:rPr>
                        <a:t>At settlement, and on every consent, signature and administrative action</a:t>
                      </a:r>
                    </a:p>
                  </a:txBody>
                  <a:tcPr marL="45720" marR="109728" marT="27432" marB="27432" anchor="ctr">
                    <a:lnB w="9525" cap="flat" cmpd="sng" algn="ctr">
                      <a:solidFill>
                        <a:srgbClr val="DCE3D6"/>
                      </a:solidFill>
                    </a:lnB>
                    <a:solidFill>
                      <a:srgbClr val="FFFFFF"/>
                    </a:solidFill>
                  </a:tcPr>
                </a:tc>
                <a:tc>
                  <a:txBody>
                    <a:bodyPr wrap="square"/>
                    <a:lstStyle/>
                    <a:p>
                      <a:r>
                        <a:rPr sz="800" b="0">
                          <a:solidFill>
                            <a:srgbClr val="26301F"/>
                          </a:solidFill>
                          <a:latin typeface="Segoe UI"/>
                        </a:rPr>
                        <a:t>Nothing can be quietly altered afterwards. This is what an auditor or a court is shown</a:t>
                      </a:r>
                    </a:p>
                  </a:txBody>
                  <a:tcPr marL="45720" marR="109728" marT="27432" marB="27432" anchor="ctr">
                    <a:lnB w="9525" cap="flat" cmpd="sng" algn="ctr">
                      <a:solidFill>
                        <a:srgbClr val="DCE3D6"/>
                      </a:solidFill>
                    </a:lnB>
                    <a:solidFill>
                      <a:srgbClr val="FFFFFF"/>
                    </a:solidFill>
                  </a:tcPr>
                </a:tc>
              </a:tr>
              <a:tr h="501259">
                <a:tc>
                  <a:txBody>
                    <a:bodyPr wrap="square"/>
                    <a:lstStyle/>
                    <a:p>
                      <a:r>
                        <a:rPr sz="800" b="0">
                          <a:solidFill>
                            <a:srgbClr val="26301F"/>
                          </a:solidFill>
                          <a:latin typeface="Segoe UI"/>
                        </a:rPr>
                        <a:t>A bureau record</a:t>
                      </a:r>
                    </a:p>
                  </a:txBody>
                  <a:tcPr marL="45720" marR="109728" marT="27432" marB="27432" anchor="ctr">
                    <a:lnB w="9525" cap="flat" cmpd="sng" algn="ctr">
                      <a:solidFill>
                        <a:srgbClr val="DCE3D6"/>
                      </a:solidFill>
                    </a:lnB>
                    <a:solidFill>
                      <a:srgbClr val="FFFFFF"/>
                    </a:solidFill>
                  </a:tcPr>
                </a:tc>
                <a:tc>
                  <a:txBody>
                    <a:bodyPr wrap="square"/>
                    <a:lstStyle/>
                    <a:p>
                      <a:r>
                        <a:rPr sz="800" b="0">
                          <a:solidFill>
                            <a:srgbClr val="26301F"/>
                          </a:solidFill>
                          <a:latin typeface="Segoe UI"/>
                        </a:rPr>
                        <a:t>In the nightly batch</a:t>
                      </a:r>
                    </a:p>
                  </a:txBody>
                  <a:tcPr marL="45720" marR="109728" marT="27432" marB="27432" anchor="ctr">
                    <a:lnB w="9525" cap="flat" cmpd="sng" algn="ctr">
                      <a:solidFill>
                        <a:srgbClr val="DCE3D6"/>
                      </a:solidFill>
                    </a:lnB>
                    <a:solidFill>
                      <a:srgbClr val="FFFFFF"/>
                    </a:solidFill>
                  </a:tcPr>
                </a:tc>
                <a:tc>
                  <a:txBody>
                    <a:bodyPr wrap="square"/>
                    <a:lstStyle/>
                    <a:p>
                      <a:r>
                        <a:rPr sz="800" b="0">
                          <a:solidFill>
                            <a:srgbClr val="26301F"/>
                          </a:solidFill>
                          <a:latin typeface="Segoe UI"/>
                        </a:rPr>
                        <a:t>The payment becomes part of a formal credit history</a:t>
                      </a:r>
                    </a:p>
                  </a:txBody>
                  <a:tcPr marL="45720" marR="109728" marT="27432" marB="27432" anchor="ctr">
                    <a:lnB w="9525" cap="flat" cmpd="sng" algn="ctr">
                      <a:solidFill>
                        <a:srgbClr val="DCE3D6"/>
                      </a:solidFill>
                    </a:lnB>
                    <a:solidFill>
                      <a:srgbClr val="FFFFFF"/>
                    </a:solidFill>
                  </a:tcPr>
                </a:tc>
              </a:tr>
            </a:tbl>
          </a:graphicData>
        </a:graphic>
      </p:graphicFrame>
      <p:sp>
        <p:nvSpPr>
          <p:cNvPr id="8" name="TextBox 7"/>
          <p:cNvSpPr txBox="1"/>
          <p:nvPr/>
        </p:nvSpPr>
        <p:spPr>
          <a:xfrm>
            <a:off x="777240" y="5657653"/>
            <a:ext cx="10637215" cy="731520"/>
          </a:xfrm>
          <a:prstGeom prst="rect">
            <a:avLst/>
          </a:prstGeom>
          <a:noFill/>
        </p:spPr>
        <p:txBody>
          <a:bodyPr wrap="square" lIns="0" rIns="0" tIns="0" bIns="0">
            <a:spAutoFit/>
          </a:bodyPr>
          <a:lstStyle/>
          <a:p>
            <a:pPr algn="l">
              <a:lnSpc>
                <a:spcPct val="140000"/>
              </a:lnSpc>
            </a:pPr>
            <a:r>
              <a:rPr sz="1200" b="1" i="0">
                <a:solidFill>
                  <a:srgbClr val="0C1408"/>
                </a:solidFill>
                <a:latin typeface="Segoe UI"/>
              </a:rPr>
              <a:t>This is the part of the product that did not exist before. A committee has always produced behaviour worth recording. It has never produced a record anybody outside the group could use.</a:t>
            </a:r>
          </a:p>
        </p:txBody>
      </p:sp>
    </p:spTree>
  </p:cSld>
  <p:clrMapOvr>
    <a:masterClrMapping/>
  </p:clrMapOvr>
</p:sld>
</file>

<file path=ppt/slides/slide2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777240" y="566928"/>
            <a:ext cx="10637215" cy="219456"/>
          </a:xfrm>
          <a:prstGeom prst="rect">
            <a:avLst/>
          </a:prstGeom>
          <a:noFill/>
        </p:spPr>
        <p:txBody>
          <a:bodyPr wrap="square" lIns="0" rIns="0" tIns="0" bIns="0">
            <a:spAutoFit/>
          </a:bodyPr>
          <a:lstStyle/>
          <a:p>
            <a:pPr algn="l">
              <a:lnSpc>
                <a:spcPct val="125000"/>
              </a:lnSpc>
            </a:pPr>
            <a:r>
              <a:rPr sz="950" b="1" i="0">
                <a:solidFill>
                  <a:srgbClr val="41801A"/>
                </a:solidFill>
                <a:latin typeface="Segoe UI"/>
              </a:rPr>
              <a:t>4  BUILDING THE RECORD</a:t>
            </a:r>
          </a:p>
        </p:txBody>
      </p:sp>
      <p:sp>
        <p:nvSpPr>
          <p:cNvPr id="3" name="TextBox 2"/>
          <p:cNvSpPr txBox="1"/>
          <p:nvPr/>
        </p:nvSpPr>
        <p:spPr>
          <a:xfrm>
            <a:off x="777240" y="841248"/>
            <a:ext cx="10637215" cy="502920"/>
          </a:xfrm>
          <a:prstGeom prst="rect">
            <a:avLst/>
          </a:prstGeom>
          <a:noFill/>
        </p:spPr>
        <p:txBody>
          <a:bodyPr wrap="square" lIns="0" rIns="0" tIns="0" bIns="0">
            <a:spAutoFit/>
          </a:bodyPr>
          <a:lstStyle/>
          <a:p>
            <a:pPr algn="l">
              <a:lnSpc>
                <a:spcPct val="125000"/>
              </a:lnSpc>
            </a:pPr>
            <a:r>
              <a:rPr sz="2700" b="1" i="0">
                <a:solidFill>
                  <a:srgbClr val="0C1408"/>
                </a:solidFill>
                <a:latin typeface="Segoe UI"/>
              </a:rPr>
              <a:t>The credit score</a:t>
            </a:r>
          </a:p>
        </p:txBody>
      </p:sp>
      <p:sp>
        <p:nvSpPr>
          <p:cNvPr id="4" name="Rectangle 3"/>
          <p:cNvSpPr/>
          <p:nvPr/>
        </p:nvSpPr>
        <p:spPr>
          <a:xfrm>
            <a:off x="777240" y="1417320"/>
            <a:ext cx="1371600" cy="22860"/>
          </a:xfrm>
          <a:prstGeom prst="rect">
            <a:avLst/>
          </a:prstGeom>
          <a:solidFill>
            <a:srgbClr val="6DC72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777240" y="6382512"/>
            <a:ext cx="3657600" cy="228600"/>
          </a:xfrm>
          <a:prstGeom prst="rect">
            <a:avLst/>
          </a:prstGeom>
          <a:noFill/>
        </p:spPr>
        <p:txBody>
          <a:bodyPr wrap="square" lIns="0" rIns="0" tIns="0" bIns="0">
            <a:spAutoFit/>
          </a:bodyPr>
          <a:lstStyle/>
          <a:p>
            <a:pPr algn="l">
              <a:lnSpc>
                <a:spcPct val="125000"/>
              </a:lnSpc>
            </a:pPr>
            <a:r>
              <a:rPr sz="900" b="0" i="0">
                <a:solidFill>
                  <a:srgbClr val="9AA694"/>
                </a:solidFill>
                <a:latin typeface="Segoe UI"/>
              </a:rPr>
              <a:t>Halqa  ·  Confidential</a:t>
            </a:r>
          </a:p>
        </p:txBody>
      </p:sp>
      <p:sp>
        <p:nvSpPr>
          <p:cNvPr id="6" name="TextBox 5"/>
          <p:cNvSpPr txBox="1"/>
          <p:nvPr/>
        </p:nvSpPr>
        <p:spPr>
          <a:xfrm>
            <a:off x="10728655" y="6382512"/>
            <a:ext cx="685800" cy="228600"/>
          </a:xfrm>
          <a:prstGeom prst="rect">
            <a:avLst/>
          </a:prstGeom>
          <a:noFill/>
        </p:spPr>
        <p:txBody>
          <a:bodyPr wrap="square" lIns="0" rIns="0" tIns="0" bIns="0">
            <a:spAutoFit/>
          </a:bodyPr>
          <a:lstStyle/>
          <a:p>
            <a:pPr algn="r">
              <a:lnSpc>
                <a:spcPct val="125000"/>
              </a:lnSpc>
            </a:pPr>
            <a:r>
              <a:rPr sz="900" b="0" i="0">
                <a:solidFill>
                  <a:srgbClr val="6F7B68"/>
                </a:solidFill>
                <a:latin typeface="Segoe UI"/>
              </a:rPr>
              <a:t>29</a:t>
            </a:r>
          </a:p>
        </p:txBody>
      </p:sp>
      <p:sp>
        <p:nvSpPr>
          <p:cNvPr id="7" name="TextBox 6"/>
          <p:cNvSpPr txBox="1"/>
          <p:nvPr/>
        </p:nvSpPr>
        <p:spPr>
          <a:xfrm>
            <a:off x="777240" y="1965960"/>
            <a:ext cx="10607040" cy="731520"/>
          </a:xfrm>
          <a:prstGeom prst="rect">
            <a:avLst/>
          </a:prstGeom>
          <a:noFill/>
        </p:spPr>
        <p:txBody>
          <a:bodyPr wrap="square" lIns="0" rIns="0" tIns="0" bIns="0">
            <a:spAutoFit/>
          </a:bodyPr>
          <a:lstStyle/>
          <a:p>
            <a:pPr algn="l">
              <a:lnSpc>
                <a:spcPct val="150000"/>
              </a:lnSpc>
            </a:pPr>
            <a:r>
              <a:rPr sz="1350" b="0" i="0">
                <a:solidFill>
                  <a:srgbClr val="26301F"/>
                </a:solidFill>
                <a:latin typeface="Segoe UI"/>
              </a:rPr>
              <a:t>Every member has a score from 300 to 850, presented in four bands. It is not a running tally of points. It is computed from five things about their behaviour, recalculated as new behaviour arrives, and it is what decides which positions a member may claim.</a:t>
            </a:r>
          </a:p>
        </p:txBody>
      </p:sp>
      <p:graphicFrame>
        <p:nvGraphicFramePr>
          <p:cNvPr id="8" name="Table 7"/>
          <p:cNvGraphicFramePr>
            <a:graphicFrameLocks noGrp="1"/>
          </p:cNvGraphicFramePr>
          <p:nvPr/>
        </p:nvGraphicFramePr>
        <p:xfrm>
          <a:off x="777240" y="2880360"/>
          <a:ext cx="10607040" cy="3140652"/>
        </p:xfrm>
        <a:graphic>
          <a:graphicData uri="http://schemas.openxmlformats.org/drawingml/2006/table">
            <a:tbl>
              <a:tblPr>
                <a:tableStyleId>{5C22544A-7EE6-4342-B048-85BDC9FD1C3A}</a:tableStyleId>
              </a:tblPr>
              <a:tblGrid>
                <a:gridCol w="2743200"/>
                <a:gridCol w="1645920"/>
                <a:gridCol w="6217920"/>
              </a:tblGrid>
              <a:tr h="523442">
                <a:tc>
                  <a:txBody>
                    <a:bodyPr wrap="square"/>
                    <a:lstStyle/>
                    <a:p>
                      <a:r>
                        <a:rPr sz="700" b="1">
                          <a:solidFill>
                            <a:srgbClr val="41801A"/>
                          </a:solidFill>
                          <a:latin typeface="Segoe UI"/>
                        </a:rPr>
                        <a:t>WHAT IS MEASURED</a:t>
                      </a:r>
                    </a:p>
                  </a:txBody>
                  <a:tcPr marL="45720" marR="109728" marT="27432" marB="27432" anchor="ctr">
                    <a:lnB w="9525" cap="flat" cmpd="sng" algn="ctr">
                      <a:solidFill>
                        <a:srgbClr val="41801A"/>
                      </a:solidFill>
                    </a:lnB>
                    <a:solidFill>
                      <a:srgbClr val="FFFFFF"/>
                    </a:solidFill>
                  </a:tcPr>
                </a:tc>
                <a:tc>
                  <a:txBody>
                    <a:bodyPr wrap="square"/>
                    <a:lstStyle/>
                    <a:p>
                      <a:r>
                        <a:rPr sz="700" b="1">
                          <a:solidFill>
                            <a:srgbClr val="41801A"/>
                          </a:solidFill>
                          <a:latin typeface="Segoe UI"/>
                        </a:rPr>
                        <a:t>WEIGHT</a:t>
                      </a:r>
                    </a:p>
                  </a:txBody>
                  <a:tcPr marL="45720" marR="109728" marT="27432" marB="27432" anchor="ctr">
                    <a:lnB w="9525" cap="flat" cmpd="sng" algn="ctr">
                      <a:solidFill>
                        <a:srgbClr val="41801A"/>
                      </a:solidFill>
                    </a:lnB>
                    <a:solidFill>
                      <a:srgbClr val="FFFFFF"/>
                    </a:solidFill>
                  </a:tcPr>
                </a:tc>
                <a:tc>
                  <a:txBody>
                    <a:bodyPr wrap="square"/>
                    <a:lstStyle/>
                    <a:p>
                      <a:r>
                        <a:rPr sz="700" b="1">
                          <a:solidFill>
                            <a:srgbClr val="41801A"/>
                          </a:solidFill>
                          <a:latin typeface="Segoe UI"/>
                        </a:rPr>
                        <a:t>WHAT IT ACTUALLY LOOKS AT</a:t>
                      </a:r>
                    </a:p>
                  </a:txBody>
                  <a:tcPr marL="45720" marR="109728" marT="27432" marB="27432" anchor="ctr">
                    <a:lnB w="9525" cap="flat" cmpd="sng" algn="ctr">
                      <a:solidFill>
                        <a:srgbClr val="41801A"/>
                      </a:solidFill>
                    </a:lnB>
                    <a:solidFill>
                      <a:srgbClr val="FFFFFF"/>
                    </a:solidFill>
                  </a:tcPr>
                </a:tc>
              </a:tr>
              <a:tr h="523442">
                <a:tc>
                  <a:txBody>
                    <a:bodyPr wrap="square"/>
                    <a:lstStyle/>
                    <a:p>
                      <a:r>
                        <a:rPr sz="700" b="0">
                          <a:solidFill>
                            <a:srgbClr val="26301F"/>
                          </a:solidFill>
                          <a:latin typeface="Segoe UI"/>
                        </a:rPr>
                        <a:t>Payment record</a:t>
                      </a:r>
                    </a:p>
                  </a:txBody>
                  <a:tcPr marL="45720" marR="109728" marT="27432" marB="27432" anchor="ctr">
                    <a:lnB w="9525" cap="flat" cmpd="sng" algn="ctr">
                      <a:solidFill>
                        <a:srgbClr val="DCE3D6"/>
                      </a:solidFill>
                    </a:lnB>
                    <a:solidFill>
                      <a:srgbClr val="FFFFFF"/>
                    </a:solidFill>
                  </a:tcPr>
                </a:tc>
                <a:tc>
                  <a:txBody>
                    <a:bodyPr wrap="square"/>
                    <a:lstStyle/>
                    <a:p>
                      <a:r>
                        <a:rPr sz="700" b="0">
                          <a:solidFill>
                            <a:srgbClr val="26301F"/>
                          </a:solidFill>
                          <a:latin typeface="Segoe UI"/>
                        </a:rPr>
                        <a:t>Heaviest, roughly two fifths</a:t>
                      </a:r>
                    </a:p>
                  </a:txBody>
                  <a:tcPr marL="45720" marR="109728" marT="27432" marB="27432" anchor="ctr">
                    <a:lnB w="9525" cap="flat" cmpd="sng" algn="ctr">
                      <a:solidFill>
                        <a:srgbClr val="DCE3D6"/>
                      </a:solidFill>
                    </a:lnB>
                    <a:solidFill>
                      <a:srgbClr val="FFFFFF"/>
                    </a:solidFill>
                  </a:tcPr>
                </a:tc>
                <a:tc>
                  <a:txBody>
                    <a:bodyPr wrap="square"/>
                    <a:lstStyle/>
                    <a:p>
                      <a:r>
                        <a:rPr sz="700" b="0">
                          <a:solidFill>
                            <a:srgbClr val="26301F"/>
                          </a:solidFill>
                          <a:latin typeface="Segoe UI"/>
                        </a:rPr>
                        <a:t>Every contribution ever made, with recent behaviour counting far more than old behaviour. A missed payment last month matters nearly twice as much as one a year ago, so a member can recover from a bad patch</a:t>
                      </a:r>
                    </a:p>
                  </a:txBody>
                  <a:tcPr marL="45720" marR="109728" marT="27432" marB="27432" anchor="ctr">
                    <a:lnB w="9525" cap="flat" cmpd="sng" algn="ctr">
                      <a:solidFill>
                        <a:srgbClr val="DCE3D6"/>
                      </a:solidFill>
                    </a:lnB>
                    <a:solidFill>
                      <a:srgbClr val="FFFFFF"/>
                    </a:solidFill>
                  </a:tcPr>
                </a:tc>
              </a:tr>
              <a:tr h="523442">
                <a:tc>
                  <a:txBody>
                    <a:bodyPr wrap="square"/>
                    <a:lstStyle/>
                    <a:p>
                      <a:r>
                        <a:rPr sz="700" b="0">
                          <a:solidFill>
                            <a:srgbClr val="26301F"/>
                          </a:solidFill>
                          <a:latin typeface="Segoe UI"/>
                        </a:rPr>
                        <a:t>How much is currently owed</a:t>
                      </a:r>
                    </a:p>
                  </a:txBody>
                  <a:tcPr marL="45720" marR="109728" marT="27432" marB="27432" anchor="ctr">
                    <a:lnB w="9525" cap="flat" cmpd="sng" algn="ctr">
                      <a:solidFill>
                        <a:srgbClr val="DCE3D6"/>
                      </a:solidFill>
                    </a:lnB>
                    <a:solidFill>
                      <a:srgbClr val="FFFFFF"/>
                    </a:solidFill>
                  </a:tcPr>
                </a:tc>
                <a:tc>
                  <a:txBody>
                    <a:bodyPr wrap="square"/>
                    <a:lstStyle/>
                    <a:p>
                      <a:r>
                        <a:rPr sz="700" b="0">
                          <a:solidFill>
                            <a:srgbClr val="26301F"/>
                          </a:solidFill>
                          <a:latin typeface="Segoe UI"/>
                        </a:rPr>
                        <a:t>About a quarter</a:t>
                      </a:r>
                    </a:p>
                  </a:txBody>
                  <a:tcPr marL="45720" marR="109728" marT="27432" marB="27432" anchor="ctr">
                    <a:lnB w="9525" cap="flat" cmpd="sng" algn="ctr">
                      <a:solidFill>
                        <a:srgbClr val="DCE3D6"/>
                      </a:solidFill>
                    </a:lnB>
                    <a:solidFill>
                      <a:srgbClr val="FFFFFF"/>
                    </a:solidFill>
                  </a:tcPr>
                </a:tc>
                <a:tc>
                  <a:txBody>
                    <a:bodyPr wrap="square"/>
                    <a:lstStyle/>
                    <a:p>
                      <a:r>
                        <a:rPr sz="700" b="0">
                          <a:solidFill>
                            <a:srgbClr val="26301F"/>
                          </a:solidFill>
                          <a:latin typeface="Segoe UI"/>
                        </a:rPr>
                        <a:t>What the member owes their circles right now, measured against what they can afford. Somebody carrying very little relative to their capacity scores well, regardless of history</a:t>
                      </a:r>
                    </a:p>
                  </a:txBody>
                  <a:tcPr marL="45720" marR="109728" marT="27432" marB="27432" anchor="ctr">
                    <a:lnB w="9525" cap="flat" cmpd="sng" algn="ctr">
                      <a:solidFill>
                        <a:srgbClr val="DCE3D6"/>
                      </a:solidFill>
                    </a:lnB>
                    <a:solidFill>
                      <a:srgbClr val="FFFFFF"/>
                    </a:solidFill>
                  </a:tcPr>
                </a:tc>
              </a:tr>
              <a:tr h="523442">
                <a:tc>
                  <a:txBody>
                    <a:bodyPr wrap="square"/>
                    <a:lstStyle/>
                    <a:p>
                      <a:r>
                        <a:rPr sz="700" b="0">
                          <a:solidFill>
                            <a:srgbClr val="26301F"/>
                          </a:solidFill>
                          <a:latin typeface="Segoe UI"/>
                        </a:rPr>
                        <a:t>How long they have been observed</a:t>
                      </a:r>
                    </a:p>
                  </a:txBody>
                  <a:tcPr marL="45720" marR="109728" marT="27432" marB="27432" anchor="ctr">
                    <a:lnB w="9525" cap="flat" cmpd="sng" algn="ctr">
                      <a:solidFill>
                        <a:srgbClr val="DCE3D6"/>
                      </a:solidFill>
                    </a:lnB>
                    <a:solidFill>
                      <a:srgbClr val="FFFFFF"/>
                    </a:solidFill>
                  </a:tcPr>
                </a:tc>
                <a:tc>
                  <a:txBody>
                    <a:bodyPr wrap="square"/>
                    <a:lstStyle/>
                    <a:p>
                      <a:r>
                        <a:rPr sz="700" b="0">
                          <a:solidFill>
                            <a:srgbClr val="26301F"/>
                          </a:solidFill>
                          <a:latin typeface="Segoe UI"/>
                        </a:rPr>
                        <a:t>About a fifth</a:t>
                      </a:r>
                    </a:p>
                  </a:txBody>
                  <a:tcPr marL="45720" marR="109728" marT="27432" marB="27432" anchor="ctr">
                    <a:lnB w="9525" cap="flat" cmpd="sng" algn="ctr">
                      <a:solidFill>
                        <a:srgbClr val="DCE3D6"/>
                      </a:solidFill>
                    </a:lnB>
                    <a:solidFill>
                      <a:srgbClr val="FFFFFF"/>
                    </a:solidFill>
                  </a:tcPr>
                </a:tc>
                <a:tc>
                  <a:txBody>
                    <a:bodyPr wrap="square"/>
                    <a:lstStyle/>
                    <a:p>
                      <a:r>
                        <a:rPr sz="700" b="0">
                          <a:solidFill>
                            <a:srgbClr val="26301F"/>
                          </a:solidFill>
                          <a:latin typeface="Segoe UI"/>
                        </a:rPr>
                        <a:t>Circles completed and months on the platform. A completed circle is worth far more than time alone, because a completion proves the whole cycle, not a good month</a:t>
                      </a:r>
                    </a:p>
                  </a:txBody>
                  <a:tcPr marL="45720" marR="109728" marT="27432" marB="27432" anchor="ctr">
                    <a:lnB w="9525" cap="flat" cmpd="sng" algn="ctr">
                      <a:solidFill>
                        <a:srgbClr val="DCE3D6"/>
                      </a:solidFill>
                    </a:lnB>
                    <a:solidFill>
                      <a:srgbClr val="FFFFFF"/>
                    </a:solidFill>
                  </a:tcPr>
                </a:tc>
              </a:tr>
              <a:tr h="523442">
                <a:tc>
                  <a:txBody>
                    <a:bodyPr wrap="square"/>
                    <a:lstStyle/>
                    <a:p>
                      <a:r>
                        <a:rPr sz="700" b="0">
                          <a:solidFill>
                            <a:srgbClr val="26301F"/>
                          </a:solidFill>
                          <a:latin typeface="Segoe UI"/>
                        </a:rPr>
                        <a:t>How many circles were joined recently</a:t>
                      </a:r>
                    </a:p>
                  </a:txBody>
                  <a:tcPr marL="45720" marR="109728" marT="27432" marB="27432" anchor="ctr">
                    <a:lnB w="9525" cap="flat" cmpd="sng" algn="ctr">
                      <a:solidFill>
                        <a:srgbClr val="DCE3D6"/>
                      </a:solidFill>
                    </a:lnB>
                    <a:solidFill>
                      <a:srgbClr val="FFFFFF"/>
                    </a:solidFill>
                  </a:tcPr>
                </a:tc>
                <a:tc>
                  <a:txBody>
                    <a:bodyPr wrap="square"/>
                    <a:lstStyle/>
                    <a:p>
                      <a:r>
                        <a:rPr sz="700" b="0">
                          <a:solidFill>
                            <a:srgbClr val="26301F"/>
                          </a:solidFill>
                          <a:latin typeface="Segoe UI"/>
                        </a:rPr>
                        <a:t>A tenth</a:t>
                      </a:r>
                    </a:p>
                  </a:txBody>
                  <a:tcPr marL="45720" marR="109728" marT="27432" marB="27432" anchor="ctr">
                    <a:lnB w="9525" cap="flat" cmpd="sng" algn="ctr">
                      <a:solidFill>
                        <a:srgbClr val="DCE3D6"/>
                      </a:solidFill>
                    </a:lnB>
                    <a:solidFill>
                      <a:srgbClr val="FFFFFF"/>
                    </a:solidFill>
                  </a:tcPr>
                </a:tc>
                <a:tc>
                  <a:txBody>
                    <a:bodyPr wrap="square"/>
                    <a:lstStyle/>
                    <a:p>
                      <a:r>
                        <a:rPr sz="700" b="0">
                          <a:solidFill>
                            <a:srgbClr val="26301F"/>
                          </a:solidFill>
                          <a:latin typeface="Segoe UI"/>
                        </a:rPr>
                        <a:t>Joining three circles in a quarter is a distress signal rather than enthusiasm, and it is treated as one</a:t>
                      </a:r>
                    </a:p>
                  </a:txBody>
                  <a:tcPr marL="45720" marR="109728" marT="27432" marB="27432" anchor="ctr">
                    <a:lnB w="9525" cap="flat" cmpd="sng" algn="ctr">
                      <a:solidFill>
                        <a:srgbClr val="DCE3D6"/>
                      </a:solidFill>
                    </a:lnB>
                    <a:solidFill>
                      <a:srgbClr val="FFFFFF"/>
                    </a:solidFill>
                  </a:tcPr>
                </a:tc>
              </a:tr>
              <a:tr h="523442">
                <a:tc>
                  <a:txBody>
                    <a:bodyPr wrap="square"/>
                    <a:lstStyle/>
                    <a:p>
                      <a:r>
                        <a:rPr sz="700" b="0">
                          <a:solidFill>
                            <a:srgbClr val="26301F"/>
                          </a:solidFill>
                          <a:latin typeface="Segoe UI"/>
                        </a:rPr>
                        <a:t>Which products have been used</a:t>
                      </a:r>
                    </a:p>
                  </a:txBody>
                  <a:tcPr marL="45720" marR="109728" marT="27432" marB="27432" anchor="ctr">
                    <a:lnB w="9525" cap="flat" cmpd="sng" algn="ctr">
                      <a:solidFill>
                        <a:srgbClr val="DCE3D6"/>
                      </a:solidFill>
                    </a:lnB>
                    <a:solidFill>
                      <a:srgbClr val="FFFFFF"/>
                    </a:solidFill>
                  </a:tcPr>
                </a:tc>
                <a:tc>
                  <a:txBody>
                    <a:bodyPr wrap="square"/>
                    <a:lstStyle/>
                    <a:p>
                      <a:r>
                        <a:rPr sz="700" b="0">
                          <a:solidFill>
                            <a:srgbClr val="26301F"/>
                          </a:solidFill>
                          <a:latin typeface="Segoe UI"/>
                        </a:rPr>
                        <a:t>A twentieth</a:t>
                      </a:r>
                    </a:p>
                  </a:txBody>
                  <a:tcPr marL="45720" marR="109728" marT="27432" marB="27432" anchor="ctr">
                    <a:lnB w="9525" cap="flat" cmpd="sng" algn="ctr">
                      <a:solidFill>
                        <a:srgbClr val="DCE3D6"/>
                      </a:solidFill>
                    </a:lnB>
                    <a:solidFill>
                      <a:srgbClr val="FFFFFF"/>
                    </a:solidFill>
                  </a:tcPr>
                </a:tc>
                <a:tc>
                  <a:txBody>
                    <a:bodyPr wrap="square"/>
                    <a:lstStyle/>
                    <a:p>
                      <a:r>
                        <a:rPr sz="700" b="0">
                          <a:solidFill>
                            <a:srgbClr val="26301F"/>
                          </a:solidFill>
                          <a:latin typeface="Segoe UI"/>
                        </a:rPr>
                        <a:t>Breadth of behaviour, weighted lightly because it is the weakest signal of the five</a:t>
                      </a:r>
                    </a:p>
                  </a:txBody>
                  <a:tcPr marL="45720" marR="109728" marT="27432" marB="27432" anchor="ctr">
                    <a:lnB w="9525" cap="flat" cmpd="sng" algn="ctr">
                      <a:solidFill>
                        <a:srgbClr val="DCE3D6"/>
                      </a:solidFill>
                    </a:lnB>
                    <a:solidFill>
                      <a:srgbClr val="FFFFFF"/>
                    </a:solidFill>
                  </a:tcPr>
                </a:tc>
              </a:tr>
            </a:tbl>
          </a:graphicData>
        </a:graphic>
      </p:graphicFrame>
      <p:sp>
        <p:nvSpPr>
          <p:cNvPr id="9" name="TextBox 8"/>
          <p:cNvSpPr txBox="1"/>
          <p:nvPr/>
        </p:nvSpPr>
        <p:spPr>
          <a:xfrm>
            <a:off x="777240" y="6203892"/>
            <a:ext cx="10637215" cy="731520"/>
          </a:xfrm>
          <a:prstGeom prst="rect">
            <a:avLst/>
          </a:prstGeom>
          <a:noFill/>
        </p:spPr>
        <p:txBody>
          <a:bodyPr wrap="square" lIns="0" rIns="0" tIns="0" bIns="0">
            <a:spAutoFit/>
          </a:bodyPr>
          <a:lstStyle/>
          <a:p>
            <a:pPr algn="l">
              <a:lnSpc>
                <a:spcPct val="140000"/>
              </a:lnSpc>
            </a:pPr>
            <a:r>
              <a:rPr sz="1200" b="0" i="0">
                <a:solidFill>
                  <a:srgbClr val="6F7B68"/>
                </a:solidFill>
                <a:latin typeface="Segoe UI"/>
              </a:rPr>
              <a:t>The plus and minus figures a member sees in the application are the reasons behind the number, not the calculation. This is how a real bureau works: a model produces the score and reason codes explain it, so a member can always interrogate why it moved.</a:t>
            </a:r>
          </a:p>
        </p:txBody>
      </p:sp>
    </p:spTree>
  </p:cSld>
  <p:clrMapOvr>
    <a:masterClrMapping/>
  </p:clrMapOvr>
</p:sld>
</file>

<file path=ppt/slides/slide3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777240" y="566928"/>
            <a:ext cx="10637215" cy="219456"/>
          </a:xfrm>
          <a:prstGeom prst="rect">
            <a:avLst/>
          </a:prstGeom>
          <a:noFill/>
        </p:spPr>
        <p:txBody>
          <a:bodyPr wrap="square" lIns="0" rIns="0" tIns="0" bIns="0">
            <a:spAutoFit/>
          </a:bodyPr>
          <a:lstStyle/>
          <a:p>
            <a:pPr algn="l">
              <a:lnSpc>
                <a:spcPct val="125000"/>
              </a:lnSpc>
            </a:pPr>
            <a:r>
              <a:rPr sz="950" b="1" i="0">
                <a:solidFill>
                  <a:srgbClr val="41801A"/>
                </a:solidFill>
                <a:latin typeface="Segoe UI"/>
              </a:rPr>
              <a:t>4  BUILDING THE RECORD</a:t>
            </a:r>
          </a:p>
        </p:txBody>
      </p:sp>
      <p:sp>
        <p:nvSpPr>
          <p:cNvPr id="3" name="TextBox 2"/>
          <p:cNvSpPr txBox="1"/>
          <p:nvPr/>
        </p:nvSpPr>
        <p:spPr>
          <a:xfrm>
            <a:off x="777240" y="841248"/>
            <a:ext cx="10637215" cy="502920"/>
          </a:xfrm>
          <a:prstGeom prst="rect">
            <a:avLst/>
          </a:prstGeom>
          <a:noFill/>
        </p:spPr>
        <p:txBody>
          <a:bodyPr wrap="square" lIns="0" rIns="0" tIns="0" bIns="0">
            <a:spAutoFit/>
          </a:bodyPr>
          <a:lstStyle/>
          <a:p>
            <a:pPr algn="l">
              <a:lnSpc>
                <a:spcPct val="125000"/>
              </a:lnSpc>
            </a:pPr>
            <a:r>
              <a:rPr sz="2700" b="1" i="0">
                <a:solidFill>
                  <a:srgbClr val="0C1408"/>
                </a:solidFill>
                <a:latin typeface="Segoe UI"/>
              </a:rPr>
              <a:t>What moves it, and by how much</a:t>
            </a:r>
          </a:p>
        </p:txBody>
      </p:sp>
      <p:sp>
        <p:nvSpPr>
          <p:cNvPr id="4" name="Rectangle 3"/>
          <p:cNvSpPr/>
          <p:nvPr/>
        </p:nvSpPr>
        <p:spPr>
          <a:xfrm>
            <a:off x="777240" y="1417320"/>
            <a:ext cx="1371600" cy="22860"/>
          </a:xfrm>
          <a:prstGeom prst="rect">
            <a:avLst/>
          </a:prstGeom>
          <a:solidFill>
            <a:srgbClr val="6DC72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777240" y="6382512"/>
            <a:ext cx="3657600" cy="228600"/>
          </a:xfrm>
          <a:prstGeom prst="rect">
            <a:avLst/>
          </a:prstGeom>
          <a:noFill/>
        </p:spPr>
        <p:txBody>
          <a:bodyPr wrap="square" lIns="0" rIns="0" tIns="0" bIns="0">
            <a:spAutoFit/>
          </a:bodyPr>
          <a:lstStyle/>
          <a:p>
            <a:pPr algn="l">
              <a:lnSpc>
                <a:spcPct val="125000"/>
              </a:lnSpc>
            </a:pPr>
            <a:r>
              <a:rPr sz="900" b="0" i="0">
                <a:solidFill>
                  <a:srgbClr val="9AA694"/>
                </a:solidFill>
                <a:latin typeface="Segoe UI"/>
              </a:rPr>
              <a:t>Halqa  ·  Confidential</a:t>
            </a:r>
          </a:p>
        </p:txBody>
      </p:sp>
      <p:sp>
        <p:nvSpPr>
          <p:cNvPr id="6" name="TextBox 5"/>
          <p:cNvSpPr txBox="1"/>
          <p:nvPr/>
        </p:nvSpPr>
        <p:spPr>
          <a:xfrm>
            <a:off x="10728655" y="6382512"/>
            <a:ext cx="685800" cy="228600"/>
          </a:xfrm>
          <a:prstGeom prst="rect">
            <a:avLst/>
          </a:prstGeom>
          <a:noFill/>
        </p:spPr>
        <p:txBody>
          <a:bodyPr wrap="square" lIns="0" rIns="0" tIns="0" bIns="0">
            <a:spAutoFit/>
          </a:bodyPr>
          <a:lstStyle/>
          <a:p>
            <a:pPr algn="r">
              <a:lnSpc>
                <a:spcPct val="125000"/>
              </a:lnSpc>
            </a:pPr>
            <a:r>
              <a:rPr sz="900" b="0" i="0">
                <a:solidFill>
                  <a:srgbClr val="6F7B68"/>
                </a:solidFill>
                <a:latin typeface="Segoe UI"/>
              </a:rPr>
              <a:t>30</a:t>
            </a:r>
          </a:p>
        </p:txBody>
      </p:sp>
      <p:graphicFrame>
        <p:nvGraphicFramePr>
          <p:cNvPr id="7" name="Table 6"/>
          <p:cNvGraphicFramePr>
            <a:graphicFrameLocks noGrp="1"/>
          </p:cNvGraphicFramePr>
          <p:nvPr/>
        </p:nvGraphicFramePr>
        <p:xfrm>
          <a:off x="777240" y="1965960"/>
          <a:ext cx="10607040" cy="3490398"/>
        </p:xfrm>
        <a:graphic>
          <a:graphicData uri="http://schemas.openxmlformats.org/drawingml/2006/table">
            <a:tbl>
              <a:tblPr>
                <a:tableStyleId>{5C22544A-7EE6-4342-B048-85BDC9FD1C3A}</a:tableStyleId>
              </a:tblPr>
              <a:tblGrid>
                <a:gridCol w="3108960"/>
                <a:gridCol w="2194560"/>
                <a:gridCol w="2011680"/>
                <a:gridCol w="3291840"/>
              </a:tblGrid>
              <a:tr h="387822">
                <a:tc>
                  <a:txBody>
                    <a:bodyPr wrap="square"/>
                    <a:lstStyle/>
                    <a:p>
                      <a:r>
                        <a:rPr sz="850" b="1">
                          <a:solidFill>
                            <a:srgbClr val="41801A"/>
                          </a:solidFill>
                          <a:latin typeface="Segoe UI"/>
                        </a:rPr>
                        <a:t>WHAT THE MEMBER DOES</a:t>
                      </a:r>
                    </a:p>
                  </a:txBody>
                  <a:tcPr marL="45720" marR="109728" marT="27432" marB="27432" anchor="ctr">
                    <a:lnB w="9525" cap="flat" cmpd="sng" algn="ctr">
                      <a:solidFill>
                        <a:srgbClr val="41801A"/>
                      </a:solidFill>
                    </a:lnB>
                    <a:solidFill>
                      <a:srgbClr val="FFFFFF"/>
                    </a:solidFill>
                  </a:tcPr>
                </a:tc>
                <a:tc>
                  <a:txBody>
                    <a:bodyPr wrap="square"/>
                    <a:lstStyle/>
                    <a:p>
                      <a:r>
                        <a:rPr sz="850" b="1">
                          <a:solidFill>
                            <a:srgbClr val="41801A"/>
                          </a:solidFill>
                          <a:latin typeface="Segoe UI"/>
                        </a:rPr>
                        <a:t>OPEN CIRCLES</a:t>
                      </a:r>
                    </a:p>
                  </a:txBody>
                  <a:tcPr marL="45720" marR="109728" marT="27432" marB="27432" anchor="ctr">
                    <a:lnB w="9525" cap="flat" cmpd="sng" algn="ctr">
                      <a:solidFill>
                        <a:srgbClr val="41801A"/>
                      </a:solidFill>
                    </a:lnB>
                    <a:solidFill>
                      <a:srgbClr val="FFFFFF"/>
                    </a:solidFill>
                  </a:tcPr>
                </a:tc>
                <a:tc>
                  <a:txBody>
                    <a:bodyPr wrap="square"/>
                    <a:lstStyle/>
                    <a:p>
                      <a:r>
                        <a:rPr sz="850" b="1">
                          <a:solidFill>
                            <a:srgbClr val="41801A"/>
                          </a:solidFill>
                          <a:latin typeface="Segoe UI"/>
                        </a:rPr>
                        <a:t>KNOWN CIRCLES</a:t>
                      </a:r>
                    </a:p>
                  </a:txBody>
                  <a:tcPr marL="45720" marR="109728" marT="27432" marB="27432" anchor="ctr">
                    <a:lnB w="9525" cap="flat" cmpd="sng" algn="ctr">
                      <a:solidFill>
                        <a:srgbClr val="41801A"/>
                      </a:solidFill>
                    </a:lnB>
                    <a:solidFill>
                      <a:srgbClr val="FFFFFF"/>
                    </a:solidFill>
                  </a:tcPr>
                </a:tc>
                <a:tc>
                  <a:txBody>
                    <a:bodyPr wrap="square"/>
                    <a:lstStyle/>
                    <a:p>
                      <a:r>
                        <a:rPr sz="850" b="1">
                          <a:solidFill>
                            <a:srgbClr val="41801A"/>
                          </a:solidFill>
                          <a:latin typeface="Segoe UI"/>
                        </a:rPr>
                        <a:t>THE REASONING</a:t>
                      </a:r>
                    </a:p>
                  </a:txBody>
                  <a:tcPr marL="45720" marR="109728" marT="27432" marB="27432" anchor="ctr">
                    <a:lnB w="9525" cap="flat" cmpd="sng" algn="ctr">
                      <a:solidFill>
                        <a:srgbClr val="41801A"/>
                      </a:solidFill>
                    </a:lnB>
                    <a:solidFill>
                      <a:srgbClr val="FFFFFF"/>
                    </a:solidFill>
                  </a:tcPr>
                </a:tc>
              </a:tr>
              <a:tr h="387822">
                <a:tc>
                  <a:txBody>
                    <a:bodyPr wrap="square"/>
                    <a:lstStyle/>
                    <a:p>
                      <a:r>
                        <a:rPr sz="850" b="0">
                          <a:solidFill>
                            <a:srgbClr val="26301F"/>
                          </a:solidFill>
                          <a:latin typeface="Segoe UI"/>
                        </a:rPr>
                        <a:t>Pays on time</a:t>
                      </a:r>
                    </a:p>
                  </a:txBody>
                  <a:tcPr marL="45720" marR="109728" marT="27432" marB="27432" anchor="ctr">
                    <a:lnB w="9525" cap="flat" cmpd="sng" algn="ctr">
                      <a:solidFill>
                        <a:srgbClr val="DCE3D6"/>
                      </a:solidFill>
                    </a:lnB>
                    <a:solidFill>
                      <a:srgbClr val="FFFFFF"/>
                    </a:solidFill>
                  </a:tcPr>
                </a:tc>
                <a:tc>
                  <a:txBody>
                    <a:bodyPr wrap="square"/>
                    <a:lstStyle/>
                    <a:p>
                      <a:r>
                        <a:rPr sz="850" b="0">
                          <a:solidFill>
                            <a:srgbClr val="26301F"/>
                          </a:solidFill>
                          <a:latin typeface="Segoe UI"/>
                        </a:rPr>
                        <a:t>Small positive, capped per cycle</a:t>
                      </a:r>
                    </a:p>
                  </a:txBody>
                  <a:tcPr marL="45720" marR="109728" marT="27432" marB="27432" anchor="ctr">
                    <a:lnB w="9525" cap="flat" cmpd="sng" algn="ctr">
                      <a:solidFill>
                        <a:srgbClr val="DCE3D6"/>
                      </a:solidFill>
                    </a:lnB>
                    <a:solidFill>
                      <a:srgbClr val="FFFFFF"/>
                    </a:solidFill>
                  </a:tcPr>
                </a:tc>
                <a:tc>
                  <a:txBody>
                    <a:bodyPr wrap="square"/>
                    <a:lstStyle/>
                    <a:p>
                      <a:r>
                        <a:rPr sz="850" b="0">
                          <a:solidFill>
                            <a:srgbClr val="26301F"/>
                          </a:solidFill>
                          <a:latin typeface="Segoe UI"/>
                        </a:rPr>
                        <a:t>Small positive</a:t>
                      </a:r>
                    </a:p>
                  </a:txBody>
                  <a:tcPr marL="45720" marR="109728" marT="27432" marB="27432" anchor="ctr">
                    <a:lnB w="9525" cap="flat" cmpd="sng" algn="ctr">
                      <a:solidFill>
                        <a:srgbClr val="DCE3D6"/>
                      </a:solidFill>
                    </a:lnB>
                    <a:solidFill>
                      <a:srgbClr val="FFFFFF"/>
                    </a:solidFill>
                  </a:tcPr>
                </a:tc>
                <a:tc>
                  <a:txBody>
                    <a:bodyPr wrap="square"/>
                    <a:lstStyle/>
                    <a:p>
                      <a:r>
                        <a:rPr sz="850" b="0">
                          <a:solidFill>
                            <a:srgbClr val="26301F"/>
                          </a:solidFill>
                          <a:latin typeface="Segoe UI"/>
                        </a:rPr>
                        <a:t>The behaviour the entire model exists to observe. Capped so it cannot be farmed</a:t>
                      </a:r>
                    </a:p>
                  </a:txBody>
                  <a:tcPr marL="45720" marR="109728" marT="27432" marB="27432" anchor="ctr">
                    <a:lnB w="9525" cap="flat" cmpd="sng" algn="ctr">
                      <a:solidFill>
                        <a:srgbClr val="DCE3D6"/>
                      </a:solidFill>
                    </a:lnB>
                    <a:solidFill>
                      <a:srgbClr val="FFFFFF"/>
                    </a:solidFill>
                  </a:tcPr>
                </a:tc>
              </a:tr>
              <a:tr h="387822">
                <a:tc>
                  <a:txBody>
                    <a:bodyPr wrap="square"/>
                    <a:lstStyle/>
                    <a:p>
                      <a:r>
                        <a:rPr sz="850" b="0">
                          <a:solidFill>
                            <a:srgbClr val="26301F"/>
                          </a:solidFill>
                          <a:latin typeface="Segoe UI"/>
                        </a:rPr>
                        <a:t>One day late</a:t>
                      </a:r>
                    </a:p>
                  </a:txBody>
                  <a:tcPr marL="45720" marR="109728" marT="27432" marB="27432" anchor="ctr">
                    <a:lnB w="9525" cap="flat" cmpd="sng" algn="ctr">
                      <a:solidFill>
                        <a:srgbClr val="DCE3D6"/>
                      </a:solidFill>
                    </a:lnB>
                    <a:solidFill>
                      <a:srgbClr val="FFFFFF"/>
                    </a:solidFill>
                  </a:tcPr>
                </a:tc>
                <a:tc>
                  <a:txBody>
                    <a:bodyPr wrap="square"/>
                    <a:lstStyle/>
                    <a:p>
                      <a:r>
                        <a:rPr sz="850" b="0">
                          <a:solidFill>
                            <a:srgbClr val="26301F"/>
                          </a:solidFill>
                          <a:latin typeface="Segoe UI"/>
                        </a:rPr>
                        <a:t>Meaningful negative</a:t>
                      </a:r>
                    </a:p>
                  </a:txBody>
                  <a:tcPr marL="45720" marR="109728" marT="27432" marB="27432" anchor="ctr">
                    <a:lnB w="9525" cap="flat" cmpd="sng" algn="ctr">
                      <a:solidFill>
                        <a:srgbClr val="DCE3D6"/>
                      </a:solidFill>
                    </a:lnB>
                    <a:solidFill>
                      <a:srgbClr val="FFFFFF"/>
                    </a:solidFill>
                  </a:tcPr>
                </a:tc>
                <a:tc>
                  <a:txBody>
                    <a:bodyPr wrap="square"/>
                    <a:lstStyle/>
                    <a:p>
                      <a:r>
                        <a:rPr sz="850" b="0">
                          <a:solidFill>
                            <a:srgbClr val="26301F"/>
                          </a:solidFill>
                          <a:latin typeface="Segoe UI"/>
                        </a:rPr>
                        <a:t>Smaller negative</a:t>
                      </a:r>
                    </a:p>
                  </a:txBody>
                  <a:tcPr marL="45720" marR="109728" marT="27432" marB="27432" anchor="ctr">
                    <a:lnB w="9525" cap="flat" cmpd="sng" algn="ctr">
                      <a:solidFill>
                        <a:srgbClr val="DCE3D6"/>
                      </a:solidFill>
                    </a:lnB>
                    <a:solidFill>
                      <a:srgbClr val="FFFFFF"/>
                    </a:solidFill>
                  </a:tcPr>
                </a:tc>
                <a:tc>
                  <a:txBody>
                    <a:bodyPr wrap="square"/>
                    <a:lstStyle/>
                    <a:p>
                      <a:r>
                        <a:rPr sz="850" b="0">
                          <a:solidFill>
                            <a:srgbClr val="26301F"/>
                          </a:solidFill>
                          <a:latin typeface="Segoe UI"/>
                        </a:rPr>
                        <a:t>Matched to the first rung of the fee ladder so price and score always move together</a:t>
                      </a:r>
                    </a:p>
                  </a:txBody>
                  <a:tcPr marL="45720" marR="109728" marT="27432" marB="27432" anchor="ctr">
                    <a:lnB w="9525" cap="flat" cmpd="sng" algn="ctr">
                      <a:solidFill>
                        <a:srgbClr val="DCE3D6"/>
                      </a:solidFill>
                    </a:lnB>
                    <a:solidFill>
                      <a:srgbClr val="FFFFFF"/>
                    </a:solidFill>
                  </a:tcPr>
                </a:tc>
              </a:tr>
              <a:tr h="387822">
                <a:tc>
                  <a:txBody>
                    <a:bodyPr wrap="square"/>
                    <a:lstStyle/>
                    <a:p>
                      <a:r>
                        <a:rPr sz="850" b="0">
                          <a:solidFill>
                            <a:srgbClr val="26301F"/>
                          </a:solidFill>
                          <a:latin typeface="Segoe UI"/>
                        </a:rPr>
                        <a:t>Seven days late</a:t>
                      </a:r>
                    </a:p>
                  </a:txBody>
                  <a:tcPr marL="45720" marR="109728" marT="27432" marB="27432" anchor="ctr">
                    <a:lnB w="9525" cap="flat" cmpd="sng" algn="ctr">
                      <a:solidFill>
                        <a:srgbClr val="DCE3D6"/>
                      </a:solidFill>
                    </a:lnB>
                    <a:solidFill>
                      <a:srgbClr val="FFFFFF"/>
                    </a:solidFill>
                  </a:tcPr>
                </a:tc>
                <a:tc>
                  <a:txBody>
                    <a:bodyPr wrap="square"/>
                    <a:lstStyle/>
                    <a:p>
                      <a:r>
                        <a:rPr sz="850" b="0">
                          <a:solidFill>
                            <a:srgbClr val="26301F"/>
                          </a:solidFill>
                          <a:latin typeface="Segoe UI"/>
                        </a:rPr>
                        <a:t>Larger negative</a:t>
                      </a:r>
                    </a:p>
                  </a:txBody>
                  <a:tcPr marL="45720" marR="109728" marT="27432" marB="27432" anchor="ctr">
                    <a:lnB w="9525" cap="flat" cmpd="sng" algn="ctr">
                      <a:solidFill>
                        <a:srgbClr val="DCE3D6"/>
                      </a:solidFill>
                    </a:lnB>
                    <a:solidFill>
                      <a:srgbClr val="FFFFFF"/>
                    </a:solidFill>
                  </a:tcPr>
                </a:tc>
                <a:tc>
                  <a:txBody>
                    <a:bodyPr wrap="square"/>
                    <a:lstStyle/>
                    <a:p>
                      <a:r>
                        <a:rPr sz="850" b="0">
                          <a:solidFill>
                            <a:srgbClr val="26301F"/>
                          </a:solidFill>
                          <a:latin typeface="Segoe UI"/>
                        </a:rPr>
                        <a:t>Smaller negative</a:t>
                      </a:r>
                    </a:p>
                  </a:txBody>
                  <a:tcPr marL="45720" marR="109728" marT="27432" marB="27432" anchor="ctr">
                    <a:lnB w="9525" cap="flat" cmpd="sng" algn="ctr">
                      <a:solidFill>
                        <a:srgbClr val="DCE3D6"/>
                      </a:solidFill>
                    </a:lnB>
                    <a:solidFill>
                      <a:srgbClr val="FFFFFF"/>
                    </a:solidFill>
                  </a:tcPr>
                </a:tc>
                <a:tc>
                  <a:txBody>
                    <a:bodyPr wrap="square"/>
                    <a:lstStyle/>
                    <a:p>
                      <a:r>
                        <a:rPr sz="850" b="0">
                          <a:solidFill>
                            <a:srgbClr val="26301F"/>
                          </a:solidFill>
                          <a:latin typeface="Segoe UI"/>
                        </a:rPr>
                        <a:t>Second rung</a:t>
                      </a:r>
                    </a:p>
                  </a:txBody>
                  <a:tcPr marL="45720" marR="109728" marT="27432" marB="27432" anchor="ctr">
                    <a:lnB w="9525" cap="flat" cmpd="sng" algn="ctr">
                      <a:solidFill>
                        <a:srgbClr val="DCE3D6"/>
                      </a:solidFill>
                    </a:lnB>
                    <a:solidFill>
                      <a:srgbClr val="FFFFFF"/>
                    </a:solidFill>
                  </a:tcPr>
                </a:tc>
              </a:tr>
              <a:tr h="387822">
                <a:tc>
                  <a:txBody>
                    <a:bodyPr wrap="square"/>
                    <a:lstStyle/>
                    <a:p>
                      <a:r>
                        <a:rPr sz="850" b="0">
                          <a:solidFill>
                            <a:srgbClr val="26301F"/>
                          </a:solidFill>
                          <a:latin typeface="Segoe UI"/>
                        </a:rPr>
                        <a:t>Fifteen days late</a:t>
                      </a:r>
                    </a:p>
                  </a:txBody>
                  <a:tcPr marL="45720" marR="109728" marT="27432" marB="27432" anchor="ctr">
                    <a:lnB w="9525" cap="flat" cmpd="sng" algn="ctr">
                      <a:solidFill>
                        <a:srgbClr val="DCE3D6"/>
                      </a:solidFill>
                    </a:lnB>
                    <a:solidFill>
                      <a:srgbClr val="FFFFFF"/>
                    </a:solidFill>
                  </a:tcPr>
                </a:tc>
                <a:tc>
                  <a:txBody>
                    <a:bodyPr wrap="square"/>
                    <a:lstStyle/>
                    <a:p>
                      <a:r>
                        <a:rPr sz="850" b="0">
                          <a:solidFill>
                            <a:srgbClr val="26301F"/>
                          </a:solidFill>
                          <a:latin typeface="Segoe UI"/>
                        </a:rPr>
                        <a:t>Larger again</a:t>
                      </a:r>
                    </a:p>
                  </a:txBody>
                  <a:tcPr marL="45720" marR="109728" marT="27432" marB="27432" anchor="ctr">
                    <a:lnB w="9525" cap="flat" cmpd="sng" algn="ctr">
                      <a:solidFill>
                        <a:srgbClr val="DCE3D6"/>
                      </a:solidFill>
                    </a:lnB>
                    <a:solidFill>
                      <a:srgbClr val="FFFFFF"/>
                    </a:solidFill>
                  </a:tcPr>
                </a:tc>
                <a:tc>
                  <a:txBody>
                    <a:bodyPr wrap="square"/>
                    <a:lstStyle/>
                    <a:p>
                      <a:r>
                        <a:rPr sz="850" b="0">
                          <a:solidFill>
                            <a:srgbClr val="26301F"/>
                          </a:solidFill>
                          <a:latin typeface="Segoe UI"/>
                        </a:rPr>
                        <a:t>Smaller again</a:t>
                      </a:r>
                    </a:p>
                  </a:txBody>
                  <a:tcPr marL="45720" marR="109728" marT="27432" marB="27432" anchor="ctr">
                    <a:lnB w="9525" cap="flat" cmpd="sng" algn="ctr">
                      <a:solidFill>
                        <a:srgbClr val="DCE3D6"/>
                      </a:solidFill>
                    </a:lnB>
                    <a:solidFill>
                      <a:srgbClr val="FFFFFF"/>
                    </a:solidFill>
                  </a:tcPr>
                </a:tc>
                <a:tc>
                  <a:txBody>
                    <a:bodyPr wrap="square"/>
                    <a:lstStyle/>
                    <a:p>
                      <a:r>
                        <a:rPr sz="850" b="0">
                          <a:solidFill>
                            <a:srgbClr val="26301F"/>
                          </a:solidFill>
                          <a:latin typeface="Segoe UI"/>
                        </a:rPr>
                        <a:t>Third rung</a:t>
                      </a:r>
                    </a:p>
                  </a:txBody>
                  <a:tcPr marL="45720" marR="109728" marT="27432" marB="27432" anchor="ctr">
                    <a:lnB w="9525" cap="flat" cmpd="sng" algn="ctr">
                      <a:solidFill>
                        <a:srgbClr val="DCE3D6"/>
                      </a:solidFill>
                    </a:lnB>
                    <a:solidFill>
                      <a:srgbClr val="FFFFFF"/>
                    </a:solidFill>
                  </a:tcPr>
                </a:tc>
              </a:tr>
              <a:tr h="387822">
                <a:tc>
                  <a:txBody>
                    <a:bodyPr wrap="square"/>
                    <a:lstStyle/>
                    <a:p>
                      <a:r>
                        <a:rPr sz="850" b="0">
                          <a:solidFill>
                            <a:srgbClr val="26301F"/>
                          </a:solidFill>
                          <a:latin typeface="Segoe UI"/>
                        </a:rPr>
                        <a:t>Defaults after collecting the pot</a:t>
                      </a:r>
                    </a:p>
                  </a:txBody>
                  <a:tcPr marL="45720" marR="109728" marT="27432" marB="27432" anchor="ctr">
                    <a:lnB w="9525" cap="flat" cmpd="sng" algn="ctr">
                      <a:solidFill>
                        <a:srgbClr val="DCE3D6"/>
                      </a:solidFill>
                    </a:lnB>
                    <a:solidFill>
                      <a:srgbClr val="FFFFFF"/>
                    </a:solidFill>
                  </a:tcPr>
                </a:tc>
                <a:tc>
                  <a:txBody>
                    <a:bodyPr wrap="square"/>
                    <a:lstStyle/>
                    <a:p>
                      <a:r>
                        <a:rPr sz="850" b="0">
                          <a:solidFill>
                            <a:srgbClr val="26301F"/>
                          </a:solidFill>
                          <a:latin typeface="Segoe UI"/>
                        </a:rPr>
                        <a:t>Severe</a:t>
                      </a:r>
                    </a:p>
                  </a:txBody>
                  <a:tcPr marL="45720" marR="109728" marT="27432" marB="27432" anchor="ctr">
                    <a:lnB w="9525" cap="flat" cmpd="sng" algn="ctr">
                      <a:solidFill>
                        <a:srgbClr val="DCE3D6"/>
                      </a:solidFill>
                    </a:lnB>
                    <a:solidFill>
                      <a:srgbClr val="FFFFFF"/>
                    </a:solidFill>
                  </a:tcPr>
                </a:tc>
                <a:tc>
                  <a:txBody>
                    <a:bodyPr wrap="square"/>
                    <a:lstStyle/>
                    <a:p>
                      <a:r>
                        <a:rPr sz="850" b="0">
                          <a:solidFill>
                            <a:srgbClr val="26301F"/>
                          </a:solidFill>
                          <a:latin typeface="Segoe UI"/>
                        </a:rPr>
                        <a:t>Identical severity</a:t>
                      </a:r>
                    </a:p>
                  </a:txBody>
                  <a:tcPr marL="45720" marR="109728" marT="27432" marB="27432" anchor="ctr">
                    <a:lnB w="9525" cap="flat" cmpd="sng" algn="ctr">
                      <a:solidFill>
                        <a:srgbClr val="DCE3D6"/>
                      </a:solidFill>
                    </a:lnB>
                    <a:solidFill>
                      <a:srgbClr val="FFFFFF"/>
                    </a:solidFill>
                  </a:tcPr>
                </a:tc>
                <a:tc>
                  <a:txBody>
                    <a:bodyPr wrap="square"/>
                    <a:lstStyle/>
                    <a:p>
                      <a:r>
                        <a:rPr sz="850" b="0">
                          <a:solidFill>
                            <a:srgbClr val="26301F"/>
                          </a:solidFill>
                          <a:latin typeface="Segoe UI"/>
                        </a:rPr>
                        <a:t>The one event treated the same across every product, because it is the same act</a:t>
                      </a:r>
                    </a:p>
                  </a:txBody>
                  <a:tcPr marL="45720" marR="109728" marT="27432" marB="27432" anchor="ctr">
                    <a:lnB w="9525" cap="flat" cmpd="sng" algn="ctr">
                      <a:solidFill>
                        <a:srgbClr val="DCE3D6"/>
                      </a:solidFill>
                    </a:lnB>
                    <a:solidFill>
                      <a:srgbClr val="FFFFFF"/>
                    </a:solidFill>
                  </a:tcPr>
                </a:tc>
              </a:tr>
              <a:tr h="387822">
                <a:tc>
                  <a:txBody>
                    <a:bodyPr wrap="square"/>
                    <a:lstStyle/>
                    <a:p>
                      <a:r>
                        <a:rPr sz="850" b="0">
                          <a:solidFill>
                            <a:srgbClr val="26301F"/>
                          </a:solidFill>
                          <a:latin typeface="Segoe UI"/>
                        </a:rPr>
                        <a:t>Completes a circle cleanly</a:t>
                      </a:r>
                    </a:p>
                  </a:txBody>
                  <a:tcPr marL="45720" marR="109728" marT="27432" marB="27432" anchor="ctr">
                    <a:lnB w="9525" cap="flat" cmpd="sng" algn="ctr">
                      <a:solidFill>
                        <a:srgbClr val="DCE3D6"/>
                      </a:solidFill>
                    </a:lnB>
                    <a:solidFill>
                      <a:srgbClr val="FFFFFF"/>
                    </a:solidFill>
                  </a:tcPr>
                </a:tc>
                <a:tc>
                  <a:txBody>
                    <a:bodyPr wrap="square"/>
                    <a:lstStyle/>
                    <a:p>
                      <a:r>
                        <a:rPr sz="850" b="0">
                          <a:solidFill>
                            <a:srgbClr val="26301F"/>
                          </a:solidFill>
                          <a:latin typeface="Segoe UI"/>
                        </a:rPr>
                        <a:t>Large positive</a:t>
                      </a:r>
                    </a:p>
                  </a:txBody>
                  <a:tcPr marL="45720" marR="109728" marT="27432" marB="27432" anchor="ctr">
                    <a:lnB w="9525" cap="flat" cmpd="sng" algn="ctr">
                      <a:solidFill>
                        <a:srgbClr val="DCE3D6"/>
                      </a:solidFill>
                    </a:lnB>
                    <a:solidFill>
                      <a:srgbClr val="FFFFFF"/>
                    </a:solidFill>
                  </a:tcPr>
                </a:tc>
                <a:tc>
                  <a:txBody>
                    <a:bodyPr wrap="square"/>
                    <a:lstStyle/>
                    <a:p>
                      <a:r>
                        <a:rPr sz="850" b="0">
                          <a:solidFill>
                            <a:srgbClr val="26301F"/>
                          </a:solidFill>
                          <a:latin typeface="Segoe UI"/>
                        </a:rPr>
                        <a:t>Large positive</a:t>
                      </a:r>
                    </a:p>
                  </a:txBody>
                  <a:tcPr marL="45720" marR="109728" marT="27432" marB="27432" anchor="ctr">
                    <a:lnB w="9525" cap="flat" cmpd="sng" algn="ctr">
                      <a:solidFill>
                        <a:srgbClr val="DCE3D6"/>
                      </a:solidFill>
                    </a:lnB>
                    <a:solidFill>
                      <a:srgbClr val="FFFFFF"/>
                    </a:solidFill>
                  </a:tcPr>
                </a:tc>
                <a:tc>
                  <a:txBody>
                    <a:bodyPr wrap="square"/>
                    <a:lstStyle/>
                    <a:p>
                      <a:r>
                        <a:rPr sz="850" b="0">
                          <a:solidFill>
                            <a:srgbClr val="26301F"/>
                          </a:solidFill>
                          <a:latin typeface="Segoe UI"/>
                        </a:rPr>
                        <a:t>The atomic unit of proven behaviour. A completion is the thing a lender actually wants to see</a:t>
                      </a:r>
                    </a:p>
                  </a:txBody>
                  <a:tcPr marL="45720" marR="109728" marT="27432" marB="27432" anchor="ctr">
                    <a:lnB w="9525" cap="flat" cmpd="sng" algn="ctr">
                      <a:solidFill>
                        <a:srgbClr val="DCE3D6"/>
                      </a:solidFill>
                    </a:lnB>
                    <a:solidFill>
                      <a:srgbClr val="FFFFFF"/>
                    </a:solidFill>
                  </a:tcPr>
                </a:tc>
              </a:tr>
              <a:tr h="387822">
                <a:tc>
                  <a:txBody>
                    <a:bodyPr wrap="square"/>
                    <a:lstStyle/>
                    <a:p>
                      <a:r>
                        <a:rPr sz="850" b="0">
                          <a:solidFill>
                            <a:srgbClr val="26301F"/>
                          </a:solidFill>
                          <a:latin typeface="Segoe UI"/>
                        </a:rPr>
                        <a:t>Pays a contribution for another member</a:t>
                      </a:r>
                    </a:p>
                  </a:txBody>
                  <a:tcPr marL="45720" marR="109728" marT="27432" marB="27432" anchor="ctr">
                    <a:lnB w="9525" cap="flat" cmpd="sng" algn="ctr">
                      <a:solidFill>
                        <a:srgbClr val="DCE3D6"/>
                      </a:solidFill>
                    </a:lnB>
                    <a:solidFill>
                      <a:srgbClr val="FFFFFF"/>
                    </a:solidFill>
                  </a:tcPr>
                </a:tc>
                <a:tc>
                  <a:txBody>
                    <a:bodyPr wrap="square"/>
                    <a:lstStyle/>
                    <a:p>
                      <a:r>
                        <a:rPr sz="850" b="0">
                          <a:solidFill>
                            <a:srgbClr val="26301F"/>
                          </a:solidFill>
                          <a:latin typeface="Segoe UI"/>
                        </a:rPr>
                        <a:t>Nothing</a:t>
                      </a:r>
                    </a:p>
                  </a:txBody>
                  <a:tcPr marL="45720" marR="109728" marT="27432" marB="27432" anchor="ctr">
                    <a:lnB w="9525" cap="flat" cmpd="sng" algn="ctr">
                      <a:solidFill>
                        <a:srgbClr val="DCE3D6"/>
                      </a:solidFill>
                    </a:lnB>
                    <a:solidFill>
                      <a:srgbClr val="FFFFFF"/>
                    </a:solidFill>
                  </a:tcPr>
                </a:tc>
                <a:tc>
                  <a:txBody>
                    <a:bodyPr wrap="square"/>
                    <a:lstStyle/>
                    <a:p>
                      <a:r>
                        <a:rPr sz="850" b="0">
                          <a:solidFill>
                            <a:srgbClr val="26301F"/>
                          </a:solidFill>
                          <a:latin typeface="Segoe UI"/>
                        </a:rPr>
                        <a:t>Nothing</a:t>
                      </a:r>
                    </a:p>
                  </a:txBody>
                  <a:tcPr marL="45720" marR="109728" marT="27432" marB="27432" anchor="ctr">
                    <a:lnB w="9525" cap="flat" cmpd="sng" algn="ctr">
                      <a:solidFill>
                        <a:srgbClr val="DCE3D6"/>
                      </a:solidFill>
                    </a:lnB>
                    <a:solidFill>
                      <a:srgbClr val="FFFFFF"/>
                    </a:solidFill>
                  </a:tcPr>
                </a:tc>
                <a:tc>
                  <a:txBody>
                    <a:bodyPr wrap="square"/>
                    <a:lstStyle/>
                    <a:p>
                      <a:r>
                        <a:rPr sz="850" b="0">
                          <a:solidFill>
                            <a:srgbClr val="26301F"/>
                          </a:solidFill>
                          <a:latin typeface="Segoe UI"/>
                        </a:rPr>
                        <a:t>Deliberately neutral, so a score cannot be bought by a wealthier friend</a:t>
                      </a:r>
                    </a:p>
                  </a:txBody>
                  <a:tcPr marL="45720" marR="109728" marT="27432" marB="27432" anchor="ctr">
                    <a:lnB w="9525" cap="flat" cmpd="sng" algn="ctr">
                      <a:solidFill>
                        <a:srgbClr val="DCE3D6"/>
                      </a:solidFill>
                    </a:lnB>
                    <a:solidFill>
                      <a:srgbClr val="FFFFFF"/>
                    </a:solidFill>
                  </a:tcPr>
                </a:tc>
              </a:tr>
              <a:tr h="387822">
                <a:tc>
                  <a:txBody>
                    <a:bodyPr wrap="square"/>
                    <a:lstStyle/>
                    <a:p>
                      <a:r>
                        <a:rPr sz="850" b="0">
                          <a:solidFill>
                            <a:srgbClr val="26301F"/>
                          </a:solidFill>
                          <a:latin typeface="Segoe UI"/>
                        </a:rPr>
                        <a:t>Has income newly verified</a:t>
                      </a:r>
                    </a:p>
                  </a:txBody>
                  <a:tcPr marL="45720" marR="109728" marT="27432" marB="27432" anchor="ctr">
                    <a:lnB w="9525" cap="flat" cmpd="sng" algn="ctr">
                      <a:solidFill>
                        <a:srgbClr val="DCE3D6"/>
                      </a:solidFill>
                    </a:lnB>
                    <a:solidFill>
                      <a:srgbClr val="FFFFFF"/>
                    </a:solidFill>
                  </a:tcPr>
                </a:tc>
                <a:tc>
                  <a:txBody>
                    <a:bodyPr wrap="square"/>
                    <a:lstStyle/>
                    <a:p>
                      <a:r>
                        <a:rPr sz="850" b="0">
                          <a:solidFill>
                            <a:srgbClr val="26301F"/>
                          </a:solidFill>
                          <a:latin typeface="Segoe UI"/>
                        </a:rPr>
                        <a:t>Raises the ceiling, not the score</a:t>
                      </a:r>
                    </a:p>
                  </a:txBody>
                  <a:tcPr marL="45720" marR="109728" marT="27432" marB="27432" anchor="ctr">
                    <a:lnB w="9525" cap="flat" cmpd="sng" algn="ctr">
                      <a:solidFill>
                        <a:srgbClr val="DCE3D6"/>
                      </a:solidFill>
                    </a:lnB>
                    <a:solidFill>
                      <a:srgbClr val="FFFFFF"/>
                    </a:solidFill>
                  </a:tcPr>
                </a:tc>
                <a:tc>
                  <a:txBody>
                    <a:bodyPr wrap="square"/>
                    <a:lstStyle/>
                    <a:p>
                      <a:r>
                        <a:rPr sz="850" b="0">
                          <a:solidFill>
                            <a:srgbClr val="26301F"/>
                          </a:solidFill>
                          <a:latin typeface="Segoe UI"/>
                        </a:rPr>
                        <a:t>The same</a:t>
                      </a:r>
                    </a:p>
                  </a:txBody>
                  <a:tcPr marL="45720" marR="109728" marT="27432" marB="27432" anchor="ctr">
                    <a:lnB w="9525" cap="flat" cmpd="sng" algn="ctr">
                      <a:solidFill>
                        <a:srgbClr val="DCE3D6"/>
                      </a:solidFill>
                    </a:lnB>
                    <a:solidFill>
                      <a:srgbClr val="FFFFFF"/>
                    </a:solidFill>
                  </a:tcPr>
                </a:tc>
                <a:tc>
                  <a:txBody>
                    <a:bodyPr wrap="square"/>
                    <a:lstStyle/>
                    <a:p>
                      <a:r>
                        <a:rPr sz="850" b="0">
                          <a:solidFill>
                            <a:srgbClr val="26301F"/>
                          </a:solidFill>
                          <a:latin typeface="Segoe UI"/>
                        </a:rPr>
                        <a:t>Evidence of capacity is not evidence of conduct, and confusing the two is how lenders create defaults</a:t>
                      </a:r>
                    </a:p>
                  </a:txBody>
                  <a:tcPr marL="45720" marR="109728" marT="27432" marB="27432" anchor="ctr">
                    <a:lnB w="9525" cap="flat" cmpd="sng" algn="ctr">
                      <a:solidFill>
                        <a:srgbClr val="DCE3D6"/>
                      </a:solidFill>
                    </a:lnB>
                    <a:solidFill>
                      <a:srgbClr val="FFFFFF"/>
                    </a:solidFill>
                  </a:tcPr>
                </a:tc>
              </a:tr>
            </a:tbl>
          </a:graphicData>
        </a:graphic>
      </p:graphicFrame>
      <p:sp>
        <p:nvSpPr>
          <p:cNvPr id="8" name="TextBox 7"/>
          <p:cNvSpPr txBox="1"/>
          <p:nvPr/>
        </p:nvSpPr>
        <p:spPr>
          <a:xfrm>
            <a:off x="777240" y="5639238"/>
            <a:ext cx="10637215" cy="731520"/>
          </a:xfrm>
          <a:prstGeom prst="rect">
            <a:avLst/>
          </a:prstGeom>
          <a:noFill/>
        </p:spPr>
        <p:txBody>
          <a:bodyPr wrap="square" lIns="0" rIns="0" tIns="0" bIns="0">
            <a:spAutoFit/>
          </a:bodyPr>
          <a:lstStyle/>
          <a:p>
            <a:pPr algn="l">
              <a:lnSpc>
                <a:spcPct val="140000"/>
              </a:lnSpc>
            </a:pPr>
            <a:r>
              <a:rPr sz="1200" b="0" i="0">
                <a:solidFill>
                  <a:srgbClr val="6F7B68"/>
                </a:solidFill>
                <a:latin typeface="Segoe UI"/>
              </a:rPr>
              <a:t>Every event is written with its reason attached and appears to the member on the day it happens. A score a member cannot question is a score they will not trust, and one they do not trust changes no behaviour.</a:t>
            </a:r>
          </a:p>
        </p:txBody>
      </p:sp>
    </p:spTree>
  </p:cSld>
  <p:clrMapOvr>
    <a:masterClrMapping/>
  </p:clrMapOvr>
</p:sld>
</file>

<file path=ppt/slides/slide3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777240" y="566928"/>
            <a:ext cx="10637215" cy="219456"/>
          </a:xfrm>
          <a:prstGeom prst="rect">
            <a:avLst/>
          </a:prstGeom>
          <a:noFill/>
        </p:spPr>
        <p:txBody>
          <a:bodyPr wrap="square" lIns="0" rIns="0" tIns="0" bIns="0">
            <a:spAutoFit/>
          </a:bodyPr>
          <a:lstStyle/>
          <a:p>
            <a:pPr algn="l">
              <a:lnSpc>
                <a:spcPct val="125000"/>
              </a:lnSpc>
            </a:pPr>
            <a:r>
              <a:rPr sz="950" b="1" i="0">
                <a:solidFill>
                  <a:srgbClr val="41801A"/>
                </a:solidFill>
                <a:latin typeface="Segoe UI"/>
              </a:rPr>
              <a:t>4  BUILDING THE RECORD</a:t>
            </a:r>
          </a:p>
        </p:txBody>
      </p:sp>
      <p:sp>
        <p:nvSpPr>
          <p:cNvPr id="3" name="TextBox 2"/>
          <p:cNvSpPr txBox="1"/>
          <p:nvPr/>
        </p:nvSpPr>
        <p:spPr>
          <a:xfrm>
            <a:off x="777240" y="841248"/>
            <a:ext cx="10637215" cy="502920"/>
          </a:xfrm>
          <a:prstGeom prst="rect">
            <a:avLst/>
          </a:prstGeom>
          <a:noFill/>
        </p:spPr>
        <p:txBody>
          <a:bodyPr wrap="square" lIns="0" rIns="0" tIns="0" bIns="0">
            <a:spAutoFit/>
          </a:bodyPr>
          <a:lstStyle/>
          <a:p>
            <a:pPr algn="l">
              <a:lnSpc>
                <a:spcPct val="125000"/>
              </a:lnSpc>
            </a:pPr>
            <a:r>
              <a:rPr sz="2700" b="1" i="0">
                <a:solidFill>
                  <a:srgbClr val="0C1408"/>
                </a:solidFill>
                <a:latin typeface="Segoe UI"/>
              </a:rPr>
              <a:t>What the bands unlock</a:t>
            </a:r>
          </a:p>
        </p:txBody>
      </p:sp>
      <p:sp>
        <p:nvSpPr>
          <p:cNvPr id="4" name="Rectangle 3"/>
          <p:cNvSpPr/>
          <p:nvPr/>
        </p:nvSpPr>
        <p:spPr>
          <a:xfrm>
            <a:off x="777240" y="1417320"/>
            <a:ext cx="1371600" cy="22860"/>
          </a:xfrm>
          <a:prstGeom prst="rect">
            <a:avLst/>
          </a:prstGeom>
          <a:solidFill>
            <a:srgbClr val="6DC72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777240" y="6382512"/>
            <a:ext cx="3657600" cy="228600"/>
          </a:xfrm>
          <a:prstGeom prst="rect">
            <a:avLst/>
          </a:prstGeom>
          <a:noFill/>
        </p:spPr>
        <p:txBody>
          <a:bodyPr wrap="square" lIns="0" rIns="0" tIns="0" bIns="0">
            <a:spAutoFit/>
          </a:bodyPr>
          <a:lstStyle/>
          <a:p>
            <a:pPr algn="l">
              <a:lnSpc>
                <a:spcPct val="125000"/>
              </a:lnSpc>
            </a:pPr>
            <a:r>
              <a:rPr sz="900" b="0" i="0">
                <a:solidFill>
                  <a:srgbClr val="9AA694"/>
                </a:solidFill>
                <a:latin typeface="Segoe UI"/>
              </a:rPr>
              <a:t>Halqa  ·  Confidential</a:t>
            </a:r>
          </a:p>
        </p:txBody>
      </p:sp>
      <p:sp>
        <p:nvSpPr>
          <p:cNvPr id="6" name="TextBox 5"/>
          <p:cNvSpPr txBox="1"/>
          <p:nvPr/>
        </p:nvSpPr>
        <p:spPr>
          <a:xfrm>
            <a:off x="10728655" y="6382512"/>
            <a:ext cx="685800" cy="228600"/>
          </a:xfrm>
          <a:prstGeom prst="rect">
            <a:avLst/>
          </a:prstGeom>
          <a:noFill/>
        </p:spPr>
        <p:txBody>
          <a:bodyPr wrap="square" lIns="0" rIns="0" tIns="0" bIns="0">
            <a:spAutoFit/>
          </a:bodyPr>
          <a:lstStyle/>
          <a:p>
            <a:pPr algn="r">
              <a:lnSpc>
                <a:spcPct val="125000"/>
              </a:lnSpc>
            </a:pPr>
            <a:r>
              <a:rPr sz="900" b="0" i="0">
                <a:solidFill>
                  <a:srgbClr val="6F7B68"/>
                </a:solidFill>
                <a:latin typeface="Segoe UI"/>
              </a:rPr>
              <a:t>31</a:t>
            </a:r>
          </a:p>
        </p:txBody>
      </p:sp>
      <p:graphicFrame>
        <p:nvGraphicFramePr>
          <p:cNvPr id="7" name="Table 6"/>
          <p:cNvGraphicFramePr>
            <a:graphicFrameLocks noGrp="1"/>
          </p:cNvGraphicFramePr>
          <p:nvPr/>
        </p:nvGraphicFramePr>
        <p:xfrm>
          <a:off x="777240" y="1965960"/>
          <a:ext cx="10607040" cy="2286000"/>
        </p:xfrm>
        <a:graphic>
          <a:graphicData uri="http://schemas.openxmlformats.org/drawingml/2006/table">
            <a:tbl>
              <a:tblPr>
                <a:tableStyleId>{5C22544A-7EE6-4342-B048-85BDC9FD1C3A}</a:tableStyleId>
              </a:tblPr>
              <a:tblGrid>
                <a:gridCol w="2560320"/>
                <a:gridCol w="3474720"/>
                <a:gridCol w="2743200"/>
                <a:gridCol w="1828800"/>
              </a:tblGrid>
              <a:tr h="457200">
                <a:tc>
                  <a:txBody>
                    <a:bodyPr wrap="square"/>
                    <a:lstStyle/>
                    <a:p>
                      <a:r>
                        <a:rPr sz="900" b="1">
                          <a:solidFill>
                            <a:srgbClr val="41801A"/>
                          </a:solidFill>
                          <a:latin typeface="Segoe UI"/>
                        </a:rPr>
                        <a:t>BAND</a:t>
                      </a:r>
                    </a:p>
                  </a:txBody>
                  <a:tcPr marL="45720" marR="109728" marT="27432" marB="27432" anchor="ctr">
                    <a:lnB w="9525" cap="flat" cmpd="sng" algn="ctr">
                      <a:solidFill>
                        <a:srgbClr val="41801A"/>
                      </a:solidFill>
                    </a:lnB>
                    <a:solidFill>
                      <a:srgbClr val="FFFFFF"/>
                    </a:solidFill>
                  </a:tcPr>
                </a:tc>
                <a:tc>
                  <a:txBody>
                    <a:bodyPr wrap="square"/>
                    <a:lstStyle/>
                    <a:p>
                      <a:r>
                        <a:rPr sz="900" b="1">
                          <a:solidFill>
                            <a:srgbClr val="41801A"/>
                          </a:solidFill>
                          <a:latin typeface="Segoe UI"/>
                        </a:rPr>
                        <a:t>WHAT IT MEANS</a:t>
                      </a:r>
                    </a:p>
                  </a:txBody>
                  <a:tcPr marL="45720" marR="109728" marT="27432" marB="27432" anchor="ctr">
                    <a:lnB w="9525" cap="flat" cmpd="sng" algn="ctr">
                      <a:solidFill>
                        <a:srgbClr val="41801A"/>
                      </a:solidFill>
                    </a:lnB>
                    <a:solidFill>
                      <a:srgbClr val="FFFFFF"/>
                    </a:solidFill>
                  </a:tcPr>
                </a:tc>
                <a:tc>
                  <a:txBody>
                    <a:bodyPr wrap="square"/>
                    <a:lstStyle/>
                    <a:p>
                      <a:r>
                        <a:rPr sz="900" b="1">
                          <a:solidFill>
                            <a:srgbClr val="41801A"/>
                          </a:solidFill>
                          <a:latin typeface="Segoe UI"/>
                        </a:rPr>
                        <a:t>POSITIONS AVAILABLE</a:t>
                      </a:r>
                    </a:p>
                  </a:txBody>
                  <a:tcPr marL="45720" marR="109728" marT="27432" marB="27432" anchor="ctr">
                    <a:lnB w="9525" cap="flat" cmpd="sng" algn="ctr">
                      <a:solidFill>
                        <a:srgbClr val="41801A"/>
                      </a:solidFill>
                    </a:lnB>
                    <a:solidFill>
                      <a:srgbClr val="FFFFFF"/>
                    </a:solidFill>
                  </a:tcPr>
                </a:tc>
                <a:tc>
                  <a:txBody>
                    <a:bodyPr wrap="square"/>
                    <a:lstStyle/>
                    <a:p>
                      <a:r>
                        <a:rPr sz="900" b="1">
                          <a:solidFill>
                            <a:srgbClr val="41801A"/>
                          </a:solidFill>
                          <a:latin typeface="Segoe UI"/>
                        </a:rPr>
                        <a:t>MARKETPLACE</a:t>
                      </a:r>
                    </a:p>
                  </a:txBody>
                  <a:tcPr marL="45720" marR="109728" marT="27432" marB="27432" anchor="ctr">
                    <a:lnB w="9525" cap="flat" cmpd="sng" algn="ctr">
                      <a:solidFill>
                        <a:srgbClr val="41801A"/>
                      </a:solidFill>
                    </a:lnB>
                    <a:solidFill>
                      <a:srgbClr val="FFFFFF"/>
                    </a:solidFill>
                  </a:tcPr>
                </a:tc>
              </a:tr>
              <a:tr h="457200">
                <a:tc>
                  <a:txBody>
                    <a:bodyPr wrap="square"/>
                    <a:lstStyle/>
                    <a:p>
                      <a:r>
                        <a:rPr sz="1050" b="0">
                          <a:solidFill>
                            <a:srgbClr val="26301F"/>
                          </a:solidFill>
                          <a:latin typeface="Segoe UI"/>
                        </a:rPr>
                        <a:t>Rebuilding, below 550</a:t>
                      </a:r>
                    </a:p>
                  </a:txBody>
                  <a:tcPr marL="45720" marR="109728" marT="27432" marB="27432" anchor="ctr">
                    <a:lnB w="9525" cap="flat" cmpd="sng" algn="ctr">
                      <a:solidFill>
                        <a:srgbClr val="DCE3D6"/>
                      </a:solidFill>
                    </a:lnB>
                    <a:solidFill>
                      <a:srgbClr val="FFFFFF"/>
                    </a:solidFill>
                  </a:tcPr>
                </a:tc>
                <a:tc>
                  <a:txBody>
                    <a:bodyPr wrap="square"/>
                    <a:lstStyle/>
                    <a:p>
                      <a:r>
                        <a:rPr sz="1050" b="0">
                          <a:solidFill>
                            <a:srgbClr val="26301F"/>
                          </a:solidFill>
                          <a:latin typeface="Segoe UI"/>
                        </a:rPr>
                        <a:t>Either new, or recovering from missed payments</a:t>
                      </a:r>
                    </a:p>
                  </a:txBody>
                  <a:tcPr marL="45720" marR="109728" marT="27432" marB="27432" anchor="ctr">
                    <a:lnB w="9525" cap="flat" cmpd="sng" algn="ctr">
                      <a:solidFill>
                        <a:srgbClr val="DCE3D6"/>
                      </a:solidFill>
                    </a:lnB>
                    <a:solidFill>
                      <a:srgbClr val="FFFFFF"/>
                    </a:solidFill>
                  </a:tcPr>
                </a:tc>
                <a:tc>
                  <a:txBody>
                    <a:bodyPr wrap="square"/>
                    <a:lstStyle/>
                    <a:p>
                      <a:r>
                        <a:rPr sz="1050" b="0">
                          <a:solidFill>
                            <a:srgbClr val="26301F"/>
                          </a:solidFill>
                          <a:latin typeface="Segoe UI"/>
                        </a:rPr>
                        <a:t>The last two positions only</a:t>
                      </a:r>
                    </a:p>
                  </a:txBody>
                  <a:tcPr marL="45720" marR="109728" marT="27432" marB="27432" anchor="ctr">
                    <a:lnB w="9525" cap="flat" cmpd="sng" algn="ctr">
                      <a:solidFill>
                        <a:srgbClr val="DCE3D6"/>
                      </a:solidFill>
                    </a:lnB>
                    <a:solidFill>
                      <a:srgbClr val="FFFFFF"/>
                    </a:solidFill>
                  </a:tcPr>
                </a:tc>
                <a:tc>
                  <a:txBody>
                    <a:bodyPr wrap="square"/>
                    <a:lstStyle/>
                    <a:p>
                      <a:r>
                        <a:rPr sz="1050" b="0">
                          <a:solidFill>
                            <a:srgbClr val="26301F"/>
                          </a:solidFill>
                          <a:latin typeface="Segoe UI"/>
                        </a:rPr>
                        <a:t>May not buy a position</a:t>
                      </a:r>
                    </a:p>
                  </a:txBody>
                  <a:tcPr marL="45720" marR="109728" marT="27432" marB="27432" anchor="ctr">
                    <a:lnB w="9525" cap="flat" cmpd="sng" algn="ctr">
                      <a:solidFill>
                        <a:srgbClr val="DCE3D6"/>
                      </a:solidFill>
                    </a:lnB>
                    <a:solidFill>
                      <a:srgbClr val="FFFFFF"/>
                    </a:solidFill>
                  </a:tcPr>
                </a:tc>
              </a:tr>
              <a:tr h="457200">
                <a:tc>
                  <a:txBody>
                    <a:bodyPr wrap="square"/>
                    <a:lstStyle/>
                    <a:p>
                      <a:r>
                        <a:rPr sz="1050" b="0">
                          <a:solidFill>
                            <a:srgbClr val="26301F"/>
                          </a:solidFill>
                          <a:latin typeface="Segoe UI"/>
                        </a:rPr>
                        <a:t>Fair, 550 to 649</a:t>
                      </a:r>
                    </a:p>
                  </a:txBody>
                  <a:tcPr marL="45720" marR="109728" marT="27432" marB="27432" anchor="ctr">
                    <a:lnB w="9525" cap="flat" cmpd="sng" algn="ctr">
                      <a:solidFill>
                        <a:srgbClr val="DCE3D6"/>
                      </a:solidFill>
                    </a:lnB>
                    <a:solidFill>
                      <a:srgbClr val="FFFFFF"/>
                    </a:solidFill>
                  </a:tcPr>
                </a:tc>
                <a:tc>
                  <a:txBody>
                    <a:bodyPr wrap="square"/>
                    <a:lstStyle/>
                    <a:p>
                      <a:r>
                        <a:rPr sz="1050" b="0">
                          <a:solidFill>
                            <a:srgbClr val="26301F"/>
                          </a:solidFill>
                          <a:latin typeface="Segoe UI"/>
                        </a:rPr>
                        <a:t>A working record with some blemishes</a:t>
                      </a:r>
                    </a:p>
                  </a:txBody>
                  <a:tcPr marL="45720" marR="109728" marT="27432" marB="27432" anchor="ctr">
                    <a:lnB w="9525" cap="flat" cmpd="sng" algn="ctr">
                      <a:solidFill>
                        <a:srgbClr val="DCE3D6"/>
                      </a:solidFill>
                    </a:lnB>
                    <a:solidFill>
                      <a:srgbClr val="FFFFFF"/>
                    </a:solidFill>
                  </a:tcPr>
                </a:tc>
                <a:tc>
                  <a:txBody>
                    <a:bodyPr wrap="square"/>
                    <a:lstStyle/>
                    <a:p>
                      <a:r>
                        <a:rPr sz="1050" b="0">
                          <a:solidFill>
                            <a:srgbClr val="26301F"/>
                          </a:solidFill>
                          <a:latin typeface="Segoe UI"/>
                        </a:rPr>
                        <a:t>The second half of the order</a:t>
                      </a:r>
                    </a:p>
                  </a:txBody>
                  <a:tcPr marL="45720" marR="109728" marT="27432" marB="27432" anchor="ctr">
                    <a:lnB w="9525" cap="flat" cmpd="sng" algn="ctr">
                      <a:solidFill>
                        <a:srgbClr val="DCE3D6"/>
                      </a:solidFill>
                    </a:lnB>
                    <a:solidFill>
                      <a:srgbClr val="FFFFFF"/>
                    </a:solidFill>
                  </a:tcPr>
                </a:tc>
                <a:tc>
                  <a:txBody>
                    <a:bodyPr wrap="square"/>
                    <a:lstStyle/>
                    <a:p>
                      <a:r>
                        <a:rPr sz="1050" b="0">
                          <a:solidFill>
                            <a:srgbClr val="26301F"/>
                          </a:solidFill>
                          <a:latin typeface="Segoe UI"/>
                        </a:rPr>
                        <a:t>May buy</a:t>
                      </a:r>
                    </a:p>
                  </a:txBody>
                  <a:tcPr marL="45720" marR="109728" marT="27432" marB="27432" anchor="ctr">
                    <a:lnB w="9525" cap="flat" cmpd="sng" algn="ctr">
                      <a:solidFill>
                        <a:srgbClr val="DCE3D6"/>
                      </a:solidFill>
                    </a:lnB>
                    <a:solidFill>
                      <a:srgbClr val="FFFFFF"/>
                    </a:solidFill>
                  </a:tcPr>
                </a:tc>
              </a:tr>
              <a:tr h="457200">
                <a:tc>
                  <a:txBody>
                    <a:bodyPr wrap="square"/>
                    <a:lstStyle/>
                    <a:p>
                      <a:r>
                        <a:rPr sz="1050" b="0">
                          <a:solidFill>
                            <a:srgbClr val="26301F"/>
                          </a:solidFill>
                          <a:latin typeface="Segoe UI"/>
                        </a:rPr>
                        <a:t>Good, 650 to 749</a:t>
                      </a:r>
                    </a:p>
                  </a:txBody>
                  <a:tcPr marL="45720" marR="109728" marT="27432" marB="27432" anchor="ctr">
                    <a:lnB w="9525" cap="flat" cmpd="sng" algn="ctr">
                      <a:solidFill>
                        <a:srgbClr val="DCE3D6"/>
                      </a:solidFill>
                    </a:lnB>
                    <a:solidFill>
                      <a:srgbClr val="FFFFFF"/>
                    </a:solidFill>
                  </a:tcPr>
                </a:tc>
                <a:tc>
                  <a:txBody>
                    <a:bodyPr wrap="square"/>
                    <a:lstStyle/>
                    <a:p>
                      <a:r>
                        <a:rPr sz="1050" b="0">
                          <a:solidFill>
                            <a:srgbClr val="26301F"/>
                          </a:solidFill>
                          <a:latin typeface="Segoe UI"/>
                        </a:rPr>
                        <a:t>A clean record of reasonable length</a:t>
                      </a:r>
                    </a:p>
                  </a:txBody>
                  <a:tcPr marL="45720" marR="109728" marT="27432" marB="27432" anchor="ctr">
                    <a:lnB w="9525" cap="flat" cmpd="sng" algn="ctr">
                      <a:solidFill>
                        <a:srgbClr val="DCE3D6"/>
                      </a:solidFill>
                    </a:lnB>
                    <a:solidFill>
                      <a:srgbClr val="FFFFFF"/>
                    </a:solidFill>
                  </a:tcPr>
                </a:tc>
                <a:tc>
                  <a:txBody>
                    <a:bodyPr wrap="square"/>
                    <a:lstStyle/>
                    <a:p>
                      <a:r>
                        <a:rPr sz="1050" b="0">
                          <a:solidFill>
                            <a:srgbClr val="26301F"/>
                          </a:solidFill>
                          <a:latin typeface="Segoe UI"/>
                        </a:rPr>
                        <a:t>Any position</a:t>
                      </a:r>
                    </a:p>
                  </a:txBody>
                  <a:tcPr marL="45720" marR="109728" marT="27432" marB="27432" anchor="ctr">
                    <a:lnB w="9525" cap="flat" cmpd="sng" algn="ctr">
                      <a:solidFill>
                        <a:srgbClr val="DCE3D6"/>
                      </a:solidFill>
                    </a:lnB>
                    <a:solidFill>
                      <a:srgbClr val="FFFFFF"/>
                    </a:solidFill>
                  </a:tcPr>
                </a:tc>
                <a:tc>
                  <a:txBody>
                    <a:bodyPr wrap="square"/>
                    <a:lstStyle/>
                    <a:p>
                      <a:r>
                        <a:rPr sz="1050" b="0">
                          <a:solidFill>
                            <a:srgbClr val="26301F"/>
                          </a:solidFill>
                          <a:latin typeface="Segoe UI"/>
                        </a:rPr>
                        <a:t>May buy</a:t>
                      </a:r>
                    </a:p>
                  </a:txBody>
                  <a:tcPr marL="45720" marR="109728" marT="27432" marB="27432" anchor="ctr">
                    <a:lnB w="9525" cap="flat" cmpd="sng" algn="ctr">
                      <a:solidFill>
                        <a:srgbClr val="DCE3D6"/>
                      </a:solidFill>
                    </a:lnB>
                    <a:solidFill>
                      <a:srgbClr val="FFFFFF"/>
                    </a:solidFill>
                  </a:tcPr>
                </a:tc>
              </a:tr>
              <a:tr h="457200">
                <a:tc>
                  <a:txBody>
                    <a:bodyPr wrap="square"/>
                    <a:lstStyle/>
                    <a:p>
                      <a:r>
                        <a:rPr sz="1050" b="0">
                          <a:solidFill>
                            <a:srgbClr val="26301F"/>
                          </a:solidFill>
                          <a:latin typeface="Segoe UI"/>
                        </a:rPr>
                        <a:t>Excellent, 750 and above</a:t>
                      </a:r>
                    </a:p>
                  </a:txBody>
                  <a:tcPr marL="45720" marR="109728" marT="27432" marB="27432" anchor="ctr">
                    <a:lnB w="9525" cap="flat" cmpd="sng" algn="ctr">
                      <a:solidFill>
                        <a:srgbClr val="DCE3D6"/>
                      </a:solidFill>
                    </a:lnB>
                    <a:solidFill>
                      <a:srgbClr val="FFFFFF"/>
                    </a:solidFill>
                  </a:tcPr>
                </a:tc>
                <a:tc>
                  <a:txBody>
                    <a:bodyPr wrap="square"/>
                    <a:lstStyle/>
                    <a:p>
                      <a:r>
                        <a:rPr sz="1050" b="0">
                          <a:solidFill>
                            <a:srgbClr val="26301F"/>
                          </a:solidFill>
                          <a:latin typeface="Segoe UI"/>
                        </a:rPr>
                        <a:t>A long clean record across several completed circles</a:t>
                      </a:r>
                    </a:p>
                  </a:txBody>
                  <a:tcPr marL="45720" marR="109728" marT="27432" marB="27432" anchor="ctr">
                    <a:lnB w="9525" cap="flat" cmpd="sng" algn="ctr">
                      <a:solidFill>
                        <a:srgbClr val="DCE3D6"/>
                      </a:solidFill>
                    </a:lnB>
                    <a:solidFill>
                      <a:srgbClr val="FFFFFF"/>
                    </a:solidFill>
                  </a:tcPr>
                </a:tc>
                <a:tc>
                  <a:txBody>
                    <a:bodyPr wrap="square"/>
                    <a:lstStyle/>
                    <a:p>
                      <a:r>
                        <a:rPr sz="1050" b="0">
                          <a:solidFill>
                            <a:srgbClr val="26301F"/>
                          </a:solidFill>
                          <a:latin typeface="Segoe UI"/>
                        </a:rPr>
                        <a:t>Any position, and preferential fees</a:t>
                      </a:r>
                    </a:p>
                  </a:txBody>
                  <a:tcPr marL="45720" marR="109728" marT="27432" marB="27432" anchor="ctr">
                    <a:lnB w="9525" cap="flat" cmpd="sng" algn="ctr">
                      <a:solidFill>
                        <a:srgbClr val="DCE3D6"/>
                      </a:solidFill>
                    </a:lnB>
                    <a:solidFill>
                      <a:srgbClr val="FFFFFF"/>
                    </a:solidFill>
                  </a:tcPr>
                </a:tc>
                <a:tc>
                  <a:txBody>
                    <a:bodyPr wrap="square"/>
                    <a:lstStyle/>
                    <a:p>
                      <a:r>
                        <a:rPr sz="1050" b="0">
                          <a:solidFill>
                            <a:srgbClr val="26301F"/>
                          </a:solidFill>
                          <a:latin typeface="Segoe UI"/>
                        </a:rPr>
                        <a:t>May buy</a:t>
                      </a:r>
                    </a:p>
                  </a:txBody>
                  <a:tcPr marL="45720" marR="109728" marT="27432" marB="27432" anchor="ctr">
                    <a:lnB w="9525" cap="flat" cmpd="sng" algn="ctr">
                      <a:solidFill>
                        <a:srgbClr val="DCE3D6"/>
                      </a:solidFill>
                    </a:lnB>
                    <a:solidFill>
                      <a:srgbClr val="FFFFFF"/>
                    </a:solidFill>
                  </a:tcPr>
                </a:tc>
              </a:tr>
            </a:tbl>
          </a:graphicData>
        </a:graphic>
      </p:graphicFrame>
      <p:sp>
        <p:nvSpPr>
          <p:cNvPr id="8" name="TextBox 7"/>
          <p:cNvSpPr txBox="1"/>
          <p:nvPr/>
        </p:nvSpPr>
        <p:spPr>
          <a:xfrm>
            <a:off x="777240" y="4434840"/>
            <a:ext cx="10637215" cy="731520"/>
          </a:xfrm>
          <a:prstGeom prst="rect">
            <a:avLst/>
          </a:prstGeom>
          <a:noFill/>
        </p:spPr>
        <p:txBody>
          <a:bodyPr wrap="square" lIns="0" rIns="0" tIns="0" bIns="0">
            <a:spAutoFit/>
          </a:bodyPr>
          <a:lstStyle/>
          <a:p>
            <a:pPr algn="l">
              <a:lnSpc>
                <a:spcPct val="140000"/>
              </a:lnSpc>
            </a:pPr>
            <a:r>
              <a:rPr sz="1200" b="1" i="0">
                <a:solidFill>
                  <a:srgbClr val="0C1408"/>
                </a:solidFill>
                <a:latin typeface="Segoe UI"/>
              </a:rPr>
              <a:t>Above every band sits one rule that applies to every new member whatever their score: one of the last three positions only, released after two completed circles with clean records and a manual check. Ineligible positions are simply not displayed, so the rule produces almost no visible refusals.</a:t>
            </a:r>
          </a:p>
        </p:txBody>
      </p:sp>
      <p:sp>
        <p:nvSpPr>
          <p:cNvPr id="9" name="TextBox 8"/>
          <p:cNvSpPr txBox="1"/>
          <p:nvPr/>
        </p:nvSpPr>
        <p:spPr>
          <a:xfrm>
            <a:off x="777240" y="5212080"/>
            <a:ext cx="3271418" cy="548640"/>
          </a:xfrm>
          <a:prstGeom prst="rect">
            <a:avLst/>
          </a:prstGeom>
          <a:noFill/>
        </p:spPr>
        <p:txBody>
          <a:bodyPr wrap="square" lIns="0" rIns="0" tIns="0" bIns="0">
            <a:spAutoFit/>
          </a:bodyPr>
          <a:lstStyle/>
          <a:p>
            <a:pPr algn="l">
              <a:lnSpc>
                <a:spcPct val="125000"/>
              </a:lnSpc>
            </a:pPr>
            <a:r>
              <a:rPr sz="3000" b="1" i="0">
                <a:solidFill>
                  <a:srgbClr val="41801A"/>
                </a:solidFill>
                <a:latin typeface="Segoe UI"/>
              </a:rPr>
              <a:t>Permanent</a:t>
            </a:r>
          </a:p>
        </p:txBody>
      </p:sp>
      <p:sp>
        <p:nvSpPr>
          <p:cNvPr id="10" name="TextBox 9"/>
          <p:cNvSpPr txBox="1"/>
          <p:nvPr/>
        </p:nvSpPr>
        <p:spPr>
          <a:xfrm>
            <a:off x="777240" y="5779008"/>
            <a:ext cx="3271418" cy="548640"/>
          </a:xfrm>
          <a:prstGeom prst="rect">
            <a:avLst/>
          </a:prstGeom>
          <a:noFill/>
        </p:spPr>
        <p:txBody>
          <a:bodyPr wrap="square" lIns="0" rIns="0" tIns="0" bIns="0">
            <a:spAutoFit/>
          </a:bodyPr>
          <a:lstStyle/>
          <a:p>
            <a:pPr algn="l">
              <a:lnSpc>
                <a:spcPct val="130000"/>
              </a:lnSpc>
            </a:pPr>
            <a:r>
              <a:rPr sz="1100" b="0" i="0">
                <a:solidFill>
                  <a:srgbClr val="6F7B68"/>
                </a:solidFill>
                <a:latin typeface="Segoe UI"/>
              </a:rPr>
              <a:t>A claimed position never moves. The score decides which positions may be claimed; it never reorders anybody afterwards</a:t>
            </a:r>
          </a:p>
        </p:txBody>
      </p:sp>
      <p:sp>
        <p:nvSpPr>
          <p:cNvPr id="11" name="TextBox 10"/>
          <p:cNvSpPr txBox="1"/>
          <p:nvPr/>
        </p:nvSpPr>
        <p:spPr>
          <a:xfrm>
            <a:off x="4322978" y="5212080"/>
            <a:ext cx="3271418" cy="548640"/>
          </a:xfrm>
          <a:prstGeom prst="rect">
            <a:avLst/>
          </a:prstGeom>
          <a:noFill/>
        </p:spPr>
        <p:txBody>
          <a:bodyPr wrap="square" lIns="0" rIns="0" tIns="0" bIns="0">
            <a:spAutoFit/>
          </a:bodyPr>
          <a:lstStyle/>
          <a:p>
            <a:pPr algn="l">
              <a:lnSpc>
                <a:spcPct val="125000"/>
              </a:lnSpc>
            </a:pPr>
            <a:r>
              <a:rPr sz="3000" b="1" i="0">
                <a:solidFill>
                  <a:srgbClr val="41801A"/>
                </a:solidFill>
                <a:latin typeface="Segoe UI"/>
              </a:rPr>
              <a:t>Invisible</a:t>
            </a:r>
          </a:p>
        </p:txBody>
      </p:sp>
      <p:sp>
        <p:nvSpPr>
          <p:cNvPr id="12" name="TextBox 11"/>
          <p:cNvSpPr txBox="1"/>
          <p:nvPr/>
        </p:nvSpPr>
        <p:spPr>
          <a:xfrm>
            <a:off x="4322978" y="5779008"/>
            <a:ext cx="3271418" cy="548640"/>
          </a:xfrm>
          <a:prstGeom prst="rect">
            <a:avLst/>
          </a:prstGeom>
          <a:noFill/>
        </p:spPr>
        <p:txBody>
          <a:bodyPr wrap="square" lIns="0" rIns="0" tIns="0" bIns="0">
            <a:spAutoFit/>
          </a:bodyPr>
          <a:lstStyle/>
          <a:p>
            <a:pPr algn="l">
              <a:lnSpc>
                <a:spcPct val="130000"/>
              </a:lnSpc>
            </a:pPr>
            <a:r>
              <a:rPr sz="1100" b="0" i="0">
                <a:solidFill>
                  <a:srgbClr val="6F7B68"/>
                </a:solidFill>
                <a:latin typeface="Segoe UI"/>
              </a:rPr>
              <a:t>A member is shown only what they may take, so the filtering does not feel like rejection</a:t>
            </a:r>
          </a:p>
        </p:txBody>
      </p:sp>
      <p:sp>
        <p:nvSpPr>
          <p:cNvPr id="13" name="TextBox 12"/>
          <p:cNvSpPr txBox="1"/>
          <p:nvPr/>
        </p:nvSpPr>
        <p:spPr>
          <a:xfrm>
            <a:off x="7868716" y="5212080"/>
            <a:ext cx="3271418" cy="548640"/>
          </a:xfrm>
          <a:prstGeom prst="rect">
            <a:avLst/>
          </a:prstGeom>
          <a:noFill/>
        </p:spPr>
        <p:txBody>
          <a:bodyPr wrap="square" lIns="0" rIns="0" tIns="0" bIns="0">
            <a:spAutoFit/>
          </a:bodyPr>
          <a:lstStyle/>
          <a:p>
            <a:pPr algn="l">
              <a:lnSpc>
                <a:spcPct val="125000"/>
              </a:lnSpc>
            </a:pPr>
            <a:r>
              <a:rPr sz="3000" b="1" i="0">
                <a:solidFill>
                  <a:srgbClr val="41801A"/>
                </a:solidFill>
                <a:latin typeface="Segoe UI"/>
              </a:rPr>
              <a:t>One rule</a:t>
            </a:r>
          </a:p>
        </p:txBody>
      </p:sp>
      <p:sp>
        <p:nvSpPr>
          <p:cNvPr id="14" name="TextBox 13"/>
          <p:cNvSpPr txBox="1"/>
          <p:nvPr/>
        </p:nvSpPr>
        <p:spPr>
          <a:xfrm>
            <a:off x="7868716" y="5779008"/>
            <a:ext cx="3271418" cy="548640"/>
          </a:xfrm>
          <a:prstGeom prst="rect">
            <a:avLst/>
          </a:prstGeom>
          <a:noFill/>
        </p:spPr>
        <p:txBody>
          <a:bodyPr wrap="square" lIns="0" rIns="0" tIns="0" bIns="0">
            <a:spAutoFit/>
          </a:bodyPr>
          <a:lstStyle/>
          <a:p>
            <a:pPr algn="l">
              <a:lnSpc>
                <a:spcPct val="130000"/>
              </a:lnSpc>
            </a:pPr>
            <a:r>
              <a:rPr sz="1100" b="0" i="0">
                <a:solidFill>
                  <a:srgbClr val="6F7B68"/>
                </a:solidFill>
                <a:latin typeface="Segoe UI"/>
              </a:rPr>
              <a:t>The same two ceilings work for a circle of any size, so there is no table of exceptions</a:t>
            </a:r>
          </a:p>
        </p:txBody>
      </p:sp>
    </p:spTree>
  </p:cSld>
  <p:clrMapOvr>
    <a:masterClrMapping/>
  </p:clrMapOvr>
</p:sld>
</file>

<file path=ppt/slides/slide3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777240" y="566928"/>
            <a:ext cx="10637215" cy="219456"/>
          </a:xfrm>
          <a:prstGeom prst="rect">
            <a:avLst/>
          </a:prstGeom>
          <a:noFill/>
        </p:spPr>
        <p:txBody>
          <a:bodyPr wrap="square" lIns="0" rIns="0" tIns="0" bIns="0">
            <a:spAutoFit/>
          </a:bodyPr>
          <a:lstStyle/>
          <a:p>
            <a:pPr algn="l">
              <a:lnSpc>
                <a:spcPct val="125000"/>
              </a:lnSpc>
            </a:pPr>
            <a:r>
              <a:rPr sz="950" b="1" i="0">
                <a:solidFill>
                  <a:srgbClr val="41801A"/>
                </a:solidFill>
                <a:latin typeface="Segoe UI"/>
              </a:rPr>
              <a:t>4  BUILDING THE RECORD</a:t>
            </a:r>
          </a:p>
        </p:txBody>
      </p:sp>
      <p:sp>
        <p:nvSpPr>
          <p:cNvPr id="3" name="TextBox 2"/>
          <p:cNvSpPr txBox="1"/>
          <p:nvPr/>
        </p:nvSpPr>
        <p:spPr>
          <a:xfrm>
            <a:off x="777240" y="841248"/>
            <a:ext cx="10637215" cy="502920"/>
          </a:xfrm>
          <a:prstGeom prst="rect">
            <a:avLst/>
          </a:prstGeom>
          <a:noFill/>
        </p:spPr>
        <p:txBody>
          <a:bodyPr wrap="square" lIns="0" rIns="0" tIns="0" bIns="0">
            <a:spAutoFit/>
          </a:bodyPr>
          <a:lstStyle/>
          <a:p>
            <a:pPr algn="l">
              <a:lnSpc>
                <a:spcPct val="125000"/>
              </a:lnSpc>
            </a:pPr>
            <a:r>
              <a:rPr sz="2700" b="1" i="0">
                <a:solidFill>
                  <a:srgbClr val="0C1408"/>
                </a:solidFill>
                <a:latin typeface="Segoe UI"/>
              </a:rPr>
              <a:t>Linking to the credit bureau</a:t>
            </a:r>
          </a:p>
        </p:txBody>
      </p:sp>
      <p:sp>
        <p:nvSpPr>
          <p:cNvPr id="4" name="Rectangle 3"/>
          <p:cNvSpPr/>
          <p:nvPr/>
        </p:nvSpPr>
        <p:spPr>
          <a:xfrm>
            <a:off x="777240" y="1417320"/>
            <a:ext cx="1371600" cy="22860"/>
          </a:xfrm>
          <a:prstGeom prst="rect">
            <a:avLst/>
          </a:prstGeom>
          <a:solidFill>
            <a:srgbClr val="6DC72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777240" y="6382512"/>
            <a:ext cx="3657600" cy="228600"/>
          </a:xfrm>
          <a:prstGeom prst="rect">
            <a:avLst/>
          </a:prstGeom>
          <a:noFill/>
        </p:spPr>
        <p:txBody>
          <a:bodyPr wrap="square" lIns="0" rIns="0" tIns="0" bIns="0">
            <a:spAutoFit/>
          </a:bodyPr>
          <a:lstStyle/>
          <a:p>
            <a:pPr algn="l">
              <a:lnSpc>
                <a:spcPct val="125000"/>
              </a:lnSpc>
            </a:pPr>
            <a:r>
              <a:rPr sz="900" b="0" i="0">
                <a:solidFill>
                  <a:srgbClr val="9AA694"/>
                </a:solidFill>
                <a:latin typeface="Segoe UI"/>
              </a:rPr>
              <a:t>Halqa  ·  Confidential</a:t>
            </a:r>
          </a:p>
        </p:txBody>
      </p:sp>
      <p:sp>
        <p:nvSpPr>
          <p:cNvPr id="6" name="TextBox 5"/>
          <p:cNvSpPr txBox="1"/>
          <p:nvPr/>
        </p:nvSpPr>
        <p:spPr>
          <a:xfrm>
            <a:off x="10728655" y="6382512"/>
            <a:ext cx="685800" cy="228600"/>
          </a:xfrm>
          <a:prstGeom prst="rect">
            <a:avLst/>
          </a:prstGeom>
          <a:noFill/>
        </p:spPr>
        <p:txBody>
          <a:bodyPr wrap="square" lIns="0" rIns="0" tIns="0" bIns="0">
            <a:spAutoFit/>
          </a:bodyPr>
          <a:lstStyle/>
          <a:p>
            <a:pPr algn="r">
              <a:lnSpc>
                <a:spcPct val="125000"/>
              </a:lnSpc>
            </a:pPr>
            <a:r>
              <a:rPr sz="900" b="0" i="0">
                <a:solidFill>
                  <a:srgbClr val="6F7B68"/>
                </a:solidFill>
                <a:latin typeface="Segoe UI"/>
              </a:rPr>
              <a:t>32</a:t>
            </a:r>
          </a:p>
        </p:txBody>
      </p:sp>
      <p:sp>
        <p:nvSpPr>
          <p:cNvPr id="7" name="TextBox 6"/>
          <p:cNvSpPr txBox="1"/>
          <p:nvPr/>
        </p:nvSpPr>
        <p:spPr>
          <a:xfrm>
            <a:off x="777240" y="1965960"/>
            <a:ext cx="10607040" cy="822960"/>
          </a:xfrm>
          <a:prstGeom prst="rect">
            <a:avLst/>
          </a:prstGeom>
          <a:noFill/>
        </p:spPr>
        <p:txBody>
          <a:bodyPr wrap="square" lIns="0" rIns="0" tIns="0" bIns="0">
            <a:spAutoFit/>
          </a:bodyPr>
          <a:lstStyle/>
          <a:p>
            <a:pPr algn="l">
              <a:lnSpc>
                <a:spcPct val="150000"/>
              </a:lnSpc>
            </a:pPr>
            <a:r>
              <a:rPr sz="1350" b="0" i="0">
                <a:solidFill>
                  <a:srgbClr val="26301F"/>
                </a:solidFill>
                <a:latin typeface="Segoe UI"/>
              </a:rPr>
              <a:t>A credit bureau is a licensed company that collects repayment records from many institutions and sells them back as a report and a score. It is what lets a lender who has never met somebody decide whether to lend to them. Pakistan has two private ones and a State Bank operated one.</a:t>
            </a:r>
          </a:p>
        </p:txBody>
      </p:sp>
      <p:graphicFrame>
        <p:nvGraphicFramePr>
          <p:cNvPr id="8" name="Table 7"/>
          <p:cNvGraphicFramePr>
            <a:graphicFrameLocks noGrp="1"/>
          </p:cNvGraphicFramePr>
          <p:nvPr/>
        </p:nvGraphicFramePr>
        <p:xfrm>
          <a:off x="777240" y="3017520"/>
          <a:ext cx="10607040" cy="3212615"/>
        </p:xfrm>
        <a:graphic>
          <a:graphicData uri="http://schemas.openxmlformats.org/drawingml/2006/table">
            <a:tbl>
              <a:tblPr>
                <a:tableStyleId>{5C22544A-7EE6-4342-B048-85BDC9FD1C3A}</a:tableStyleId>
              </a:tblPr>
              <a:tblGrid>
                <a:gridCol w="2651760"/>
                <a:gridCol w="3657600"/>
                <a:gridCol w="4297680"/>
              </a:tblGrid>
              <a:tr h="642523">
                <a:tc>
                  <a:txBody>
                    <a:bodyPr wrap="square"/>
                    <a:lstStyle/>
                    <a:p>
                      <a:r>
                        <a:rPr sz="700" b="1">
                          <a:solidFill>
                            <a:srgbClr val="41801A"/>
                          </a:solidFill>
                          <a:latin typeface="Segoe UI"/>
                        </a:rPr>
                        <a:t>BUREAU</a:t>
                      </a:r>
                    </a:p>
                  </a:txBody>
                  <a:tcPr marL="45720" marR="109728" marT="27432" marB="27432" anchor="ctr">
                    <a:lnB w="9525" cap="flat" cmpd="sng" algn="ctr">
                      <a:solidFill>
                        <a:srgbClr val="41801A"/>
                      </a:solidFill>
                    </a:lnB>
                    <a:solidFill>
                      <a:srgbClr val="FFFFFF"/>
                    </a:solidFill>
                  </a:tcPr>
                </a:tc>
                <a:tc>
                  <a:txBody>
                    <a:bodyPr wrap="square"/>
                    <a:lstStyle/>
                    <a:p>
                      <a:r>
                        <a:rPr sz="700" b="1">
                          <a:solidFill>
                            <a:srgbClr val="41801A"/>
                          </a:solidFill>
                          <a:latin typeface="Segoe UI"/>
                        </a:rPr>
                        <a:t>WHAT IT IS</a:t>
                      </a:r>
                    </a:p>
                  </a:txBody>
                  <a:tcPr marL="45720" marR="109728" marT="27432" marB="27432" anchor="ctr">
                    <a:lnB w="9525" cap="flat" cmpd="sng" algn="ctr">
                      <a:solidFill>
                        <a:srgbClr val="41801A"/>
                      </a:solidFill>
                    </a:lnB>
                    <a:solidFill>
                      <a:srgbClr val="FFFFFF"/>
                    </a:solidFill>
                  </a:tcPr>
                </a:tc>
                <a:tc>
                  <a:txBody>
                    <a:bodyPr wrap="square"/>
                    <a:lstStyle/>
                    <a:p>
                      <a:r>
                        <a:rPr sz="700" b="1">
                          <a:solidFill>
                            <a:srgbClr val="41801A"/>
                          </a:solidFill>
                          <a:latin typeface="Segoe UI"/>
                        </a:rPr>
                        <a:t>OUR POSITION</a:t>
                      </a:r>
                    </a:p>
                  </a:txBody>
                  <a:tcPr marL="45720" marR="109728" marT="27432" marB="27432" anchor="ctr">
                    <a:lnB w="9525" cap="flat" cmpd="sng" algn="ctr">
                      <a:solidFill>
                        <a:srgbClr val="41801A"/>
                      </a:solidFill>
                    </a:lnB>
                    <a:solidFill>
                      <a:srgbClr val="FFFFFF"/>
                    </a:solidFill>
                  </a:tcPr>
                </a:tc>
              </a:tr>
              <a:tr h="642523">
                <a:tc>
                  <a:txBody>
                    <a:bodyPr wrap="square"/>
                    <a:lstStyle/>
                    <a:p>
                      <a:r>
                        <a:rPr sz="700" b="0">
                          <a:solidFill>
                            <a:srgbClr val="26301F"/>
                          </a:solidFill>
                          <a:latin typeface="Segoe UI"/>
                        </a:rPr>
                        <a:t>TASDEEQ, the trading name of Aequitas Information Services Limited, Lahore</a:t>
                      </a:r>
                    </a:p>
                  </a:txBody>
                  <a:tcPr marL="45720" marR="109728" marT="27432" marB="27432" anchor="ctr">
                    <a:lnB w="9525" cap="flat" cmpd="sng" algn="ctr">
                      <a:solidFill>
                        <a:srgbClr val="DCE3D6"/>
                      </a:solidFill>
                    </a:lnB>
                    <a:solidFill>
                      <a:srgbClr val="FFFFFF"/>
                    </a:solidFill>
                  </a:tcPr>
                </a:tc>
                <a:tc>
                  <a:txBody>
                    <a:bodyPr wrap="square"/>
                    <a:lstStyle/>
                    <a:p>
                      <a:r>
                        <a:rPr sz="700" b="0">
                          <a:solidFill>
                            <a:srgbClr val="26301F"/>
                          </a:solidFill>
                          <a:latin typeface="Segoe UI"/>
                        </a:rPr>
                        <a:t>The first bureau licensed under the Credit Bureaus Act 2015, with more than 170 member institutions and a published score running from 200 to 600</a:t>
                      </a:r>
                    </a:p>
                  </a:txBody>
                  <a:tcPr marL="45720" marR="109728" marT="27432" marB="27432" anchor="ctr">
                    <a:lnB w="9525" cap="flat" cmpd="sng" algn="ctr">
                      <a:solidFill>
                        <a:srgbClr val="DCE3D6"/>
                      </a:solidFill>
                    </a:lnB>
                    <a:solidFill>
                      <a:srgbClr val="FFFFFF"/>
                    </a:solidFill>
                  </a:tcPr>
                </a:tc>
                <a:tc>
                  <a:txBody>
                    <a:bodyPr wrap="square"/>
                    <a:lstStyle/>
                    <a:p>
                      <a:r>
                        <a:rPr sz="700" b="0">
                          <a:solidFill>
                            <a:srgbClr val="26301F"/>
                          </a:solidFill>
                          <a:latin typeface="Segoe UI"/>
                        </a:rPr>
                        <a:t>Primary partner. Critically, its membership already includes fintech companies, payday lenders and buy now pay later financiers, so a non bank furnishing data is routine rather than exceptional</a:t>
                      </a:r>
                    </a:p>
                  </a:txBody>
                  <a:tcPr marL="45720" marR="109728" marT="27432" marB="27432" anchor="ctr">
                    <a:lnB w="9525" cap="flat" cmpd="sng" algn="ctr">
                      <a:solidFill>
                        <a:srgbClr val="DCE3D6"/>
                      </a:solidFill>
                    </a:lnB>
                    <a:solidFill>
                      <a:srgbClr val="FFFFFF"/>
                    </a:solidFill>
                  </a:tcPr>
                </a:tc>
              </a:tr>
              <a:tr h="642523">
                <a:tc>
                  <a:txBody>
                    <a:bodyPr wrap="square"/>
                    <a:lstStyle/>
                    <a:p>
                      <a:r>
                        <a:rPr sz="700" b="0">
                          <a:solidFill>
                            <a:srgbClr val="26301F"/>
                          </a:solidFill>
                          <a:latin typeface="Segoe UI"/>
                        </a:rPr>
                        <a:t>DataCheck Limited, Karachi</a:t>
                      </a:r>
                    </a:p>
                  </a:txBody>
                  <a:tcPr marL="45720" marR="109728" marT="27432" marB="27432" anchor="ctr">
                    <a:lnB w="9525" cap="flat" cmpd="sng" algn="ctr">
                      <a:solidFill>
                        <a:srgbClr val="DCE3D6"/>
                      </a:solidFill>
                    </a:lnB>
                    <a:solidFill>
                      <a:srgbClr val="FFFFFF"/>
                    </a:solidFill>
                  </a:tcPr>
                </a:tc>
                <a:tc>
                  <a:txBody>
                    <a:bodyPr wrap="square"/>
                    <a:lstStyle/>
                    <a:p>
                      <a:r>
                        <a:rPr sz="700" b="0">
                          <a:solidFill>
                            <a:srgbClr val="26301F"/>
                          </a:solidFill>
                          <a:latin typeface="Segoe UI"/>
                        </a:rPr>
                        <a:t>Founded 2001, the first private sector bureau in the country, also licensed and bank heavy in its coverage</a:t>
                      </a:r>
                    </a:p>
                  </a:txBody>
                  <a:tcPr marL="45720" marR="109728" marT="27432" marB="27432" anchor="ctr">
                    <a:lnB w="9525" cap="flat" cmpd="sng" algn="ctr">
                      <a:solidFill>
                        <a:srgbClr val="DCE3D6"/>
                      </a:solidFill>
                    </a:lnB>
                    <a:solidFill>
                      <a:srgbClr val="FFFFFF"/>
                    </a:solidFill>
                  </a:tcPr>
                </a:tc>
                <a:tc>
                  <a:txBody>
                    <a:bodyPr wrap="square"/>
                    <a:lstStyle/>
                    <a:p>
                      <a:r>
                        <a:rPr sz="700" b="0">
                          <a:solidFill>
                            <a:srgbClr val="26301F"/>
                          </a:solidFill>
                          <a:latin typeface="Segoe UI"/>
                        </a:rPr>
                        <a:t>Second agreement. Once one furnishing pipeline exists the second costs very little and roughly doubles the number of lenders who can see a Halqa record</a:t>
                      </a:r>
                    </a:p>
                  </a:txBody>
                  <a:tcPr marL="45720" marR="109728" marT="27432" marB="27432" anchor="ctr">
                    <a:lnB w="9525" cap="flat" cmpd="sng" algn="ctr">
                      <a:solidFill>
                        <a:srgbClr val="DCE3D6"/>
                      </a:solidFill>
                    </a:lnB>
                    <a:solidFill>
                      <a:srgbClr val="FFFFFF"/>
                    </a:solidFill>
                  </a:tcPr>
                </a:tc>
              </a:tr>
              <a:tr h="642523">
                <a:tc>
                  <a:txBody>
                    <a:bodyPr wrap="square"/>
                    <a:lstStyle/>
                    <a:p>
                      <a:r>
                        <a:rPr sz="700" b="0">
                          <a:solidFill>
                            <a:srgbClr val="26301F"/>
                          </a:solidFill>
                          <a:latin typeface="Segoe UI"/>
                        </a:rPr>
                        <a:t>eCIB, operated by the State Bank</a:t>
                      </a:r>
                    </a:p>
                  </a:txBody>
                  <a:tcPr marL="45720" marR="109728" marT="27432" marB="27432" anchor="ctr">
                    <a:lnB w="9525" cap="flat" cmpd="sng" algn="ctr">
                      <a:solidFill>
                        <a:srgbClr val="DCE3D6"/>
                      </a:solidFill>
                    </a:lnB>
                    <a:solidFill>
                      <a:srgbClr val="FFFFFF"/>
                    </a:solidFill>
                  </a:tcPr>
                </a:tc>
                <a:tc>
                  <a:txBody>
                    <a:bodyPr wrap="square"/>
                    <a:lstStyle/>
                    <a:p>
                      <a:r>
                        <a:rPr sz="700" b="0">
                          <a:solidFill>
                            <a:srgbClr val="26301F"/>
                          </a:solidFill>
                          <a:latin typeface="Segoe UI"/>
                        </a:rPr>
                        <a:t>The regulator's own bureau, accepting data only from licensed financial institutions</a:t>
                      </a:r>
                    </a:p>
                  </a:txBody>
                  <a:tcPr marL="45720" marR="109728" marT="27432" marB="27432" anchor="ctr">
                    <a:lnB w="9525" cap="flat" cmpd="sng" algn="ctr">
                      <a:solidFill>
                        <a:srgbClr val="DCE3D6"/>
                      </a:solidFill>
                    </a:lnB>
                    <a:solidFill>
                      <a:srgbClr val="FFFFFF"/>
                    </a:solidFill>
                  </a:tcPr>
                </a:tc>
                <a:tc>
                  <a:txBody>
                    <a:bodyPr wrap="square"/>
                    <a:lstStyle/>
                    <a:p>
                      <a:r>
                        <a:rPr sz="700" b="0">
                          <a:solidFill>
                            <a:srgbClr val="26301F"/>
                          </a:solidFill>
                          <a:latin typeface="Segoe UI"/>
                        </a:rPr>
                        <a:t>Closed to Halqa by design, and nothing in the plan depends on it</a:t>
                      </a:r>
                    </a:p>
                  </a:txBody>
                  <a:tcPr marL="45720" marR="109728" marT="27432" marB="27432" anchor="ctr">
                    <a:lnB w="9525" cap="flat" cmpd="sng" algn="ctr">
                      <a:solidFill>
                        <a:srgbClr val="DCE3D6"/>
                      </a:solidFill>
                    </a:lnB>
                    <a:solidFill>
                      <a:srgbClr val="FFFFFF"/>
                    </a:solidFill>
                  </a:tcPr>
                </a:tc>
              </a:tr>
              <a:tr h="642523">
                <a:tc>
                  <a:txBody>
                    <a:bodyPr wrap="square"/>
                    <a:lstStyle/>
                    <a:p>
                      <a:r>
                        <a:rPr sz="700" b="0">
                          <a:solidFill>
                            <a:srgbClr val="26301F"/>
                          </a:solidFill>
                          <a:latin typeface="Segoe UI"/>
                        </a:rPr>
                        <a:t>Creditinfo Group</a:t>
                      </a:r>
                    </a:p>
                  </a:txBody>
                  <a:tcPr marL="45720" marR="109728" marT="27432" marB="27432" anchor="ctr">
                    <a:lnB w="9525" cap="flat" cmpd="sng" algn="ctr">
                      <a:solidFill>
                        <a:srgbClr val="DCE3D6"/>
                      </a:solidFill>
                    </a:lnB>
                    <a:solidFill>
                      <a:srgbClr val="FFFFFF"/>
                    </a:solidFill>
                  </a:tcPr>
                </a:tc>
                <a:tc>
                  <a:txBody>
                    <a:bodyPr wrap="square"/>
                    <a:lstStyle/>
                    <a:p>
                      <a:r>
                        <a:rPr sz="700" b="0">
                          <a:solidFill>
                            <a:srgbClr val="26301F"/>
                          </a:solidFill>
                          <a:latin typeface="Segoe UI"/>
                        </a:rPr>
                        <a:t>A global credit information provider already working inside this market alongside TASDEEQ and PACRA on scorecards and income estimation</a:t>
                      </a:r>
                    </a:p>
                  </a:txBody>
                  <a:tcPr marL="45720" marR="109728" marT="27432" marB="27432" anchor="ctr">
                    <a:lnB w="9525" cap="flat" cmpd="sng" algn="ctr">
                      <a:solidFill>
                        <a:srgbClr val="DCE3D6"/>
                      </a:solidFill>
                    </a:lnB>
                    <a:solidFill>
                      <a:srgbClr val="FFFFFF"/>
                    </a:solidFill>
                  </a:tcPr>
                </a:tc>
                <a:tc>
                  <a:txBody>
                    <a:bodyPr wrap="square"/>
                    <a:lstStyle/>
                    <a:p>
                      <a:r>
                        <a:rPr sz="700" b="0">
                          <a:solidFill>
                            <a:srgbClr val="26301F"/>
                          </a:solidFill>
                          <a:latin typeface="Segoe UI"/>
                        </a:rPr>
                        <a:t>Not a Pakistani bureau, but the route back in if a direct agreement stalls</a:t>
                      </a:r>
                    </a:p>
                  </a:txBody>
                  <a:tcPr marL="45720" marR="109728" marT="27432" marB="27432" anchor="ctr">
                    <a:lnB w="9525" cap="flat" cmpd="sng" algn="ctr">
                      <a:solidFill>
                        <a:srgbClr val="DCE3D6"/>
                      </a:solidFill>
                    </a:lnB>
                    <a:solidFill>
                      <a:srgbClr val="FFFFFF"/>
                    </a:solidFill>
                  </a:tcPr>
                </a:tc>
              </a:tr>
            </a:tbl>
          </a:graphicData>
        </a:graphic>
      </p:graphicFrame>
    </p:spTree>
  </p:cSld>
  <p:clrMapOvr>
    <a:masterClrMapping/>
  </p:clrMapOvr>
</p:sld>
</file>

<file path=ppt/slides/slide3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777240" y="566928"/>
            <a:ext cx="10637215" cy="219456"/>
          </a:xfrm>
          <a:prstGeom prst="rect">
            <a:avLst/>
          </a:prstGeom>
          <a:noFill/>
        </p:spPr>
        <p:txBody>
          <a:bodyPr wrap="square" lIns="0" rIns="0" tIns="0" bIns="0">
            <a:spAutoFit/>
          </a:bodyPr>
          <a:lstStyle/>
          <a:p>
            <a:pPr algn="l">
              <a:lnSpc>
                <a:spcPct val="125000"/>
              </a:lnSpc>
            </a:pPr>
            <a:r>
              <a:rPr sz="950" b="1" i="0">
                <a:solidFill>
                  <a:srgbClr val="41801A"/>
                </a:solidFill>
                <a:latin typeface="Segoe UI"/>
              </a:rPr>
              <a:t>4  BUILDING THE RECORD</a:t>
            </a:r>
          </a:p>
        </p:txBody>
      </p:sp>
      <p:sp>
        <p:nvSpPr>
          <p:cNvPr id="3" name="TextBox 2"/>
          <p:cNvSpPr txBox="1"/>
          <p:nvPr/>
        </p:nvSpPr>
        <p:spPr>
          <a:xfrm>
            <a:off x="777240" y="841248"/>
            <a:ext cx="10637215" cy="502920"/>
          </a:xfrm>
          <a:prstGeom prst="rect">
            <a:avLst/>
          </a:prstGeom>
          <a:noFill/>
        </p:spPr>
        <p:txBody>
          <a:bodyPr wrap="square" lIns="0" rIns="0" tIns="0" bIns="0">
            <a:spAutoFit/>
          </a:bodyPr>
          <a:lstStyle/>
          <a:p>
            <a:pPr algn="l">
              <a:lnSpc>
                <a:spcPct val="125000"/>
              </a:lnSpc>
            </a:pPr>
            <a:r>
              <a:rPr sz="2700" b="1" i="0">
                <a:solidFill>
                  <a:srgbClr val="0C1408"/>
                </a:solidFill>
                <a:latin typeface="Segoe UI"/>
              </a:rPr>
              <a:t>What we send them, and when</a:t>
            </a:r>
          </a:p>
        </p:txBody>
      </p:sp>
      <p:sp>
        <p:nvSpPr>
          <p:cNvPr id="4" name="Rectangle 3"/>
          <p:cNvSpPr/>
          <p:nvPr/>
        </p:nvSpPr>
        <p:spPr>
          <a:xfrm>
            <a:off x="777240" y="1417320"/>
            <a:ext cx="1371600" cy="22860"/>
          </a:xfrm>
          <a:prstGeom prst="rect">
            <a:avLst/>
          </a:prstGeom>
          <a:solidFill>
            <a:srgbClr val="6DC72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777240" y="6382512"/>
            <a:ext cx="3657600" cy="228600"/>
          </a:xfrm>
          <a:prstGeom prst="rect">
            <a:avLst/>
          </a:prstGeom>
          <a:noFill/>
        </p:spPr>
        <p:txBody>
          <a:bodyPr wrap="square" lIns="0" rIns="0" tIns="0" bIns="0">
            <a:spAutoFit/>
          </a:bodyPr>
          <a:lstStyle/>
          <a:p>
            <a:pPr algn="l">
              <a:lnSpc>
                <a:spcPct val="125000"/>
              </a:lnSpc>
            </a:pPr>
            <a:r>
              <a:rPr sz="900" b="0" i="0">
                <a:solidFill>
                  <a:srgbClr val="9AA694"/>
                </a:solidFill>
                <a:latin typeface="Segoe UI"/>
              </a:rPr>
              <a:t>Halqa  ·  Confidential</a:t>
            </a:r>
          </a:p>
        </p:txBody>
      </p:sp>
      <p:sp>
        <p:nvSpPr>
          <p:cNvPr id="6" name="TextBox 5"/>
          <p:cNvSpPr txBox="1"/>
          <p:nvPr/>
        </p:nvSpPr>
        <p:spPr>
          <a:xfrm>
            <a:off x="10728655" y="6382512"/>
            <a:ext cx="685800" cy="228600"/>
          </a:xfrm>
          <a:prstGeom prst="rect">
            <a:avLst/>
          </a:prstGeom>
          <a:noFill/>
        </p:spPr>
        <p:txBody>
          <a:bodyPr wrap="square" lIns="0" rIns="0" tIns="0" bIns="0">
            <a:spAutoFit/>
          </a:bodyPr>
          <a:lstStyle/>
          <a:p>
            <a:pPr algn="r">
              <a:lnSpc>
                <a:spcPct val="125000"/>
              </a:lnSpc>
            </a:pPr>
            <a:r>
              <a:rPr sz="900" b="0" i="0">
                <a:solidFill>
                  <a:srgbClr val="6F7B68"/>
                </a:solidFill>
                <a:latin typeface="Segoe UI"/>
              </a:rPr>
              <a:t>33</a:t>
            </a:r>
          </a:p>
        </p:txBody>
      </p:sp>
      <p:sp>
        <p:nvSpPr>
          <p:cNvPr id="7" name="TextBox 6"/>
          <p:cNvSpPr txBox="1"/>
          <p:nvPr/>
        </p:nvSpPr>
        <p:spPr>
          <a:xfrm>
            <a:off x="777240" y="1965960"/>
            <a:ext cx="10607040" cy="731520"/>
          </a:xfrm>
          <a:prstGeom prst="rect">
            <a:avLst/>
          </a:prstGeom>
          <a:noFill/>
        </p:spPr>
        <p:txBody>
          <a:bodyPr wrap="square" lIns="0" rIns="0" tIns="0" bIns="0">
            <a:spAutoFit/>
          </a:bodyPr>
          <a:lstStyle/>
          <a:p>
            <a:pPr algn="l">
              <a:lnSpc>
                <a:spcPct val="150000"/>
              </a:lnSpc>
            </a:pPr>
            <a:r>
              <a:rPr sz="1350" b="0" i="0">
                <a:solidFill>
                  <a:srgbClr val="26301F"/>
                </a:solidFill>
                <a:latin typeface="Segoe UI"/>
              </a:rPr>
              <a:t>A bureau does not understand the word committee. It understands installment obligations. The translation is straightforward, and one decision inside it determines whether the product delivers what it promises the member.</a:t>
            </a:r>
          </a:p>
        </p:txBody>
      </p:sp>
      <p:graphicFrame>
        <p:nvGraphicFramePr>
          <p:cNvPr id="8" name="Table 7"/>
          <p:cNvGraphicFramePr>
            <a:graphicFrameLocks noGrp="1"/>
          </p:cNvGraphicFramePr>
          <p:nvPr/>
        </p:nvGraphicFramePr>
        <p:xfrm>
          <a:off x="777240" y="2880360"/>
          <a:ext cx="6400800" cy="2627200"/>
        </p:xfrm>
        <a:graphic>
          <a:graphicData uri="http://schemas.openxmlformats.org/drawingml/2006/table">
            <a:tbl>
              <a:tblPr>
                <a:tableStyleId>{5C22544A-7EE6-4342-B048-85BDC9FD1C3A}</a:tableStyleId>
              </a:tblPr>
              <a:tblGrid>
                <a:gridCol w="2377440"/>
                <a:gridCol w="4023360"/>
              </a:tblGrid>
              <a:tr h="328400">
                <a:tc>
                  <a:txBody>
                    <a:bodyPr wrap="square"/>
                    <a:lstStyle/>
                    <a:p>
                      <a:r>
                        <a:rPr sz="750" b="1">
                          <a:solidFill>
                            <a:srgbClr val="41801A"/>
                          </a:solidFill>
                          <a:latin typeface="Segoe UI"/>
                        </a:rPr>
                        <a:t>WHAT THE BUREAU ASKS FOR</a:t>
                      </a:r>
                    </a:p>
                  </a:txBody>
                  <a:tcPr marL="45720" marR="109728" marT="27432" marB="27432" anchor="ctr">
                    <a:lnB w="9525" cap="flat" cmpd="sng" algn="ctr">
                      <a:solidFill>
                        <a:srgbClr val="41801A"/>
                      </a:solidFill>
                    </a:lnB>
                    <a:solidFill>
                      <a:srgbClr val="FFFFFF"/>
                    </a:solidFill>
                  </a:tcPr>
                </a:tc>
                <a:tc>
                  <a:txBody>
                    <a:bodyPr wrap="square"/>
                    <a:lstStyle/>
                    <a:p>
                      <a:r>
                        <a:rPr sz="750" b="1">
                          <a:solidFill>
                            <a:srgbClr val="41801A"/>
                          </a:solidFill>
                          <a:latin typeface="Segoe UI"/>
                        </a:rPr>
                        <a:t>WHAT WE SEND</a:t>
                      </a:r>
                    </a:p>
                  </a:txBody>
                  <a:tcPr marL="45720" marR="109728" marT="27432" marB="27432" anchor="ctr">
                    <a:lnB w="9525" cap="flat" cmpd="sng" algn="ctr">
                      <a:solidFill>
                        <a:srgbClr val="41801A"/>
                      </a:solidFill>
                    </a:lnB>
                    <a:solidFill>
                      <a:srgbClr val="FFFFFF"/>
                    </a:solidFill>
                  </a:tcPr>
                </a:tc>
              </a:tr>
              <a:tr h="328400">
                <a:tc>
                  <a:txBody>
                    <a:bodyPr wrap="square"/>
                    <a:lstStyle/>
                    <a:p>
                      <a:r>
                        <a:rPr sz="750" b="0">
                          <a:solidFill>
                            <a:srgbClr val="26301F"/>
                          </a:solidFill>
                          <a:latin typeface="Segoe UI"/>
                        </a:rPr>
                        <a:t>The type of obligation</a:t>
                      </a:r>
                    </a:p>
                  </a:txBody>
                  <a:tcPr marL="45720" marR="109728" marT="27432" marB="27432" anchor="ctr">
                    <a:lnB w="9525" cap="flat" cmpd="sng" algn="ctr">
                      <a:solidFill>
                        <a:srgbClr val="DCE3D6"/>
                      </a:solidFill>
                    </a:lnB>
                    <a:solidFill>
                      <a:srgbClr val="FFFFFF"/>
                    </a:solidFill>
                  </a:tcPr>
                </a:tc>
                <a:tc>
                  <a:txBody>
                    <a:bodyPr wrap="square"/>
                    <a:lstStyle/>
                    <a:p>
                      <a:r>
                        <a:rPr sz="750" b="0">
                          <a:solidFill>
                            <a:srgbClr val="26301F"/>
                          </a:solidFill>
                          <a:latin typeface="Segoe UI"/>
                        </a:rPr>
                        <a:t>An installment obligation, which is exactly how a committee position behaves once you look at the cash flows</a:t>
                      </a:r>
                    </a:p>
                  </a:txBody>
                  <a:tcPr marL="45720" marR="109728" marT="27432" marB="27432" anchor="ctr">
                    <a:lnB w="9525" cap="flat" cmpd="sng" algn="ctr">
                      <a:solidFill>
                        <a:srgbClr val="DCE3D6"/>
                      </a:solidFill>
                    </a:lnB>
                    <a:solidFill>
                      <a:srgbClr val="FFFFFF"/>
                    </a:solidFill>
                  </a:tcPr>
                </a:tc>
              </a:tr>
              <a:tr h="328400">
                <a:tc>
                  <a:txBody>
                    <a:bodyPr wrap="square"/>
                    <a:lstStyle/>
                    <a:p>
                      <a:r>
                        <a:rPr sz="750" b="0">
                          <a:solidFill>
                            <a:srgbClr val="26301F"/>
                          </a:solidFill>
                          <a:latin typeface="Segoe UI"/>
                        </a:rPr>
                        <a:t>The original amount</a:t>
                      </a:r>
                    </a:p>
                  </a:txBody>
                  <a:tcPr marL="45720" marR="109728" marT="27432" marB="27432" anchor="ctr">
                    <a:lnB w="9525" cap="flat" cmpd="sng" algn="ctr">
                      <a:solidFill>
                        <a:srgbClr val="DCE3D6"/>
                      </a:solidFill>
                    </a:lnB>
                    <a:solidFill>
                      <a:srgbClr val="FFFFFF"/>
                    </a:solidFill>
                  </a:tcPr>
                </a:tc>
                <a:tc>
                  <a:txBody>
                    <a:bodyPr wrap="square"/>
                    <a:lstStyle/>
                    <a:p>
                      <a:r>
                        <a:rPr sz="750" b="0">
                          <a:solidFill>
                            <a:srgbClr val="26301F"/>
                          </a:solidFill>
                          <a:latin typeface="Segoe UI"/>
                        </a:rPr>
                        <a:t>The full commitment over the cycle</a:t>
                      </a:r>
                    </a:p>
                  </a:txBody>
                  <a:tcPr marL="45720" marR="109728" marT="27432" marB="27432" anchor="ctr">
                    <a:lnB w="9525" cap="flat" cmpd="sng" algn="ctr">
                      <a:solidFill>
                        <a:srgbClr val="DCE3D6"/>
                      </a:solidFill>
                    </a:lnB>
                    <a:solidFill>
                      <a:srgbClr val="FFFFFF"/>
                    </a:solidFill>
                  </a:tcPr>
                </a:tc>
              </a:tr>
              <a:tr h="328400">
                <a:tc>
                  <a:txBody>
                    <a:bodyPr wrap="square"/>
                    <a:lstStyle/>
                    <a:p>
                      <a:r>
                        <a:rPr sz="750" b="0">
                          <a:solidFill>
                            <a:srgbClr val="26301F"/>
                          </a:solidFill>
                          <a:latin typeface="Segoe UI"/>
                        </a:rPr>
                        <a:t>The regular payment</a:t>
                      </a:r>
                    </a:p>
                  </a:txBody>
                  <a:tcPr marL="45720" marR="109728" marT="27432" marB="27432" anchor="ctr">
                    <a:lnB w="9525" cap="flat" cmpd="sng" algn="ctr">
                      <a:solidFill>
                        <a:srgbClr val="DCE3D6"/>
                      </a:solidFill>
                    </a:lnB>
                    <a:solidFill>
                      <a:srgbClr val="FFFFFF"/>
                    </a:solidFill>
                  </a:tcPr>
                </a:tc>
                <a:tc>
                  <a:txBody>
                    <a:bodyPr wrap="square"/>
                    <a:lstStyle/>
                    <a:p>
                      <a:r>
                        <a:rPr sz="750" b="0">
                          <a:solidFill>
                            <a:srgbClr val="26301F"/>
                          </a:solidFill>
                          <a:latin typeface="Segoe UI"/>
                        </a:rPr>
                        <a:t>The contribution</a:t>
                      </a:r>
                    </a:p>
                  </a:txBody>
                  <a:tcPr marL="45720" marR="109728" marT="27432" marB="27432" anchor="ctr">
                    <a:lnB w="9525" cap="flat" cmpd="sng" algn="ctr">
                      <a:solidFill>
                        <a:srgbClr val="DCE3D6"/>
                      </a:solidFill>
                    </a:lnB>
                    <a:solidFill>
                      <a:srgbClr val="FFFFFF"/>
                    </a:solidFill>
                  </a:tcPr>
                </a:tc>
              </a:tr>
              <a:tr h="328400">
                <a:tc>
                  <a:txBody>
                    <a:bodyPr wrap="square"/>
                    <a:lstStyle/>
                    <a:p>
                      <a:r>
                        <a:rPr sz="750" b="0">
                          <a:solidFill>
                            <a:srgbClr val="26301F"/>
                          </a:solidFill>
                          <a:latin typeface="Segoe UI"/>
                        </a:rPr>
                        <a:t>The term</a:t>
                      </a:r>
                    </a:p>
                  </a:txBody>
                  <a:tcPr marL="45720" marR="109728" marT="27432" marB="27432" anchor="ctr">
                    <a:lnB w="9525" cap="flat" cmpd="sng" algn="ctr">
                      <a:solidFill>
                        <a:srgbClr val="DCE3D6"/>
                      </a:solidFill>
                    </a:lnB>
                    <a:solidFill>
                      <a:srgbClr val="FFFFFF"/>
                    </a:solidFill>
                  </a:tcPr>
                </a:tc>
                <a:tc>
                  <a:txBody>
                    <a:bodyPr wrap="square"/>
                    <a:lstStyle/>
                    <a:p>
                      <a:r>
                        <a:rPr sz="750" b="0">
                          <a:solidFill>
                            <a:srgbClr val="26301F"/>
                          </a:solidFill>
                          <a:latin typeface="Segoe UI"/>
                        </a:rPr>
                        <a:t>The number of rounds</a:t>
                      </a:r>
                    </a:p>
                  </a:txBody>
                  <a:tcPr marL="45720" marR="109728" marT="27432" marB="27432" anchor="ctr">
                    <a:lnB w="9525" cap="flat" cmpd="sng" algn="ctr">
                      <a:solidFill>
                        <a:srgbClr val="DCE3D6"/>
                      </a:solidFill>
                    </a:lnB>
                    <a:solidFill>
                      <a:srgbClr val="FFFFFF"/>
                    </a:solidFill>
                  </a:tcPr>
                </a:tc>
              </a:tr>
              <a:tr h="328400">
                <a:tc>
                  <a:txBody>
                    <a:bodyPr wrap="square"/>
                    <a:lstStyle/>
                    <a:p>
                      <a:r>
                        <a:rPr sz="750" b="0">
                          <a:solidFill>
                            <a:srgbClr val="26301F"/>
                          </a:solidFill>
                          <a:latin typeface="Segoe UI"/>
                        </a:rPr>
                        <a:t>The current balance</a:t>
                      </a:r>
                    </a:p>
                  </a:txBody>
                  <a:tcPr marL="45720" marR="109728" marT="27432" marB="27432" anchor="ctr">
                    <a:lnB w="9525" cap="flat" cmpd="sng" algn="ctr">
                      <a:solidFill>
                        <a:srgbClr val="DCE3D6"/>
                      </a:solidFill>
                    </a:lnB>
                    <a:solidFill>
                      <a:srgbClr val="FFFFFF"/>
                    </a:solidFill>
                  </a:tcPr>
                </a:tc>
                <a:tc>
                  <a:txBody>
                    <a:bodyPr wrap="square"/>
                    <a:lstStyle/>
                    <a:p>
                      <a:r>
                        <a:rPr sz="750" b="0">
                          <a:solidFill>
                            <a:srgbClr val="26301F"/>
                          </a:solidFill>
                          <a:latin typeface="Segoe UI"/>
                        </a:rPr>
                        <a:t>What the member still owes their circle, which is the only figure ever genuinely at risk</a:t>
                      </a:r>
                    </a:p>
                  </a:txBody>
                  <a:tcPr marL="45720" marR="109728" marT="27432" marB="27432" anchor="ctr">
                    <a:lnB w="9525" cap="flat" cmpd="sng" algn="ctr">
                      <a:solidFill>
                        <a:srgbClr val="DCE3D6"/>
                      </a:solidFill>
                    </a:lnB>
                    <a:solidFill>
                      <a:srgbClr val="FFFFFF"/>
                    </a:solidFill>
                  </a:tcPr>
                </a:tc>
              </a:tr>
              <a:tr h="328400">
                <a:tc>
                  <a:txBody>
                    <a:bodyPr wrap="square"/>
                    <a:lstStyle/>
                    <a:p>
                      <a:r>
                        <a:rPr sz="750" b="0">
                          <a:solidFill>
                            <a:srgbClr val="26301F"/>
                          </a:solidFill>
                          <a:latin typeface="Segoe UI"/>
                        </a:rPr>
                        <a:t>The date it opened</a:t>
                      </a:r>
                    </a:p>
                  </a:txBody>
                  <a:tcPr marL="45720" marR="109728" marT="27432" marB="27432" anchor="ctr">
                    <a:lnB w="9525" cap="flat" cmpd="sng" algn="ctr">
                      <a:solidFill>
                        <a:srgbClr val="DCE3D6"/>
                      </a:solidFill>
                    </a:lnB>
                    <a:solidFill>
                      <a:srgbClr val="FFFFFF"/>
                    </a:solidFill>
                  </a:tcPr>
                </a:tc>
                <a:tc>
                  <a:txBody>
                    <a:bodyPr wrap="square"/>
                    <a:lstStyle/>
                    <a:p>
                      <a:r>
                        <a:rPr sz="750" b="0">
                          <a:solidFill>
                            <a:srgbClr val="26301F"/>
                          </a:solidFill>
                          <a:latin typeface="Segoe UI"/>
                        </a:rPr>
                        <a:t>The date the member joined the circle, not the date they collected the pot</a:t>
                      </a:r>
                    </a:p>
                  </a:txBody>
                  <a:tcPr marL="45720" marR="109728" marT="27432" marB="27432" anchor="ctr">
                    <a:lnB w="9525" cap="flat" cmpd="sng" algn="ctr">
                      <a:solidFill>
                        <a:srgbClr val="DCE3D6"/>
                      </a:solidFill>
                    </a:lnB>
                    <a:solidFill>
                      <a:srgbClr val="FFFFFF"/>
                    </a:solidFill>
                  </a:tcPr>
                </a:tc>
              </a:tr>
              <a:tr h="328400">
                <a:tc>
                  <a:txBody>
                    <a:bodyPr wrap="square"/>
                    <a:lstStyle/>
                    <a:p>
                      <a:r>
                        <a:rPr sz="750" b="0">
                          <a:solidFill>
                            <a:srgbClr val="26301F"/>
                          </a:solidFill>
                          <a:latin typeface="Segoe UI"/>
                        </a:rPr>
                        <a:t>The status</a:t>
                      </a:r>
                    </a:p>
                  </a:txBody>
                  <a:tcPr marL="45720" marR="109728" marT="27432" marB="27432" anchor="ctr">
                    <a:lnB w="9525" cap="flat" cmpd="sng" algn="ctr">
                      <a:solidFill>
                        <a:srgbClr val="DCE3D6"/>
                      </a:solidFill>
                    </a:lnB>
                    <a:solidFill>
                      <a:srgbClr val="FFFFFF"/>
                    </a:solidFill>
                  </a:tcPr>
                </a:tc>
                <a:tc>
                  <a:txBody>
                    <a:bodyPr wrap="square"/>
                    <a:lstStyle/>
                    <a:p>
                      <a:r>
                        <a:rPr sz="750" b="0">
                          <a:solidFill>
                            <a:srgbClr val="26301F"/>
                          </a:solidFill>
                          <a:latin typeface="Segoe UI"/>
                        </a:rPr>
                        <a:t>Current, or the standard lateness buckets. Halqa's internal ladder is finer and rolls up into theirs</a:t>
                      </a:r>
                    </a:p>
                  </a:txBody>
                  <a:tcPr marL="45720" marR="109728" marT="27432" marB="27432" anchor="ctr">
                    <a:lnB w="9525" cap="flat" cmpd="sng" algn="ctr">
                      <a:solidFill>
                        <a:srgbClr val="DCE3D6"/>
                      </a:solidFill>
                    </a:lnB>
                    <a:solidFill>
                      <a:srgbClr val="FFFFFF"/>
                    </a:solidFill>
                  </a:tcPr>
                </a:tc>
              </a:tr>
            </a:tbl>
          </a:graphicData>
        </a:graphic>
      </p:graphicFrame>
      <p:sp>
        <p:nvSpPr>
          <p:cNvPr id="9" name="TextBox 8"/>
          <p:cNvSpPr txBox="1"/>
          <p:nvPr/>
        </p:nvSpPr>
        <p:spPr>
          <a:xfrm>
            <a:off x="7635240" y="2880360"/>
            <a:ext cx="3749039" cy="3108960"/>
          </a:xfrm>
          <a:prstGeom prst="rect">
            <a:avLst/>
          </a:prstGeom>
          <a:noFill/>
        </p:spPr>
        <p:txBody>
          <a:bodyPr wrap="square" lIns="0" rIns="0" tIns="0" bIns="0">
            <a:spAutoFit/>
          </a:bodyPr>
          <a:lstStyle/>
          <a:p>
            <a:pPr algn="l">
              <a:lnSpc>
                <a:spcPct val="150000"/>
              </a:lnSpc>
            </a:pPr>
            <a:r>
              <a:rPr sz="1200" b="0" i="0">
                <a:solidFill>
                  <a:srgbClr val="26301F"/>
                </a:solidFill>
                <a:latin typeface="Segoe UI"/>
              </a:rPr>
              <a:t>The sixth row is the decision that matters.</a:t>
            </a:r>
          </a:p>
          <a:p>
            <a:pPr algn="l">
              <a:lnSpc>
                <a:spcPct val="150000"/>
              </a:lnSpc>
              <a:spcBef>
                <a:spcPts val="900"/>
              </a:spcBef>
            </a:pPr>
            <a:r>
              <a:rPr sz="1200" b="0" i="0">
                <a:solidFill>
                  <a:srgbClr val="26301F"/>
                </a:solidFill>
                <a:latin typeface="Segoe UI"/>
              </a:rPr>
              <a:t/>
            </a:r>
          </a:p>
          <a:p>
            <a:pPr algn="l">
              <a:lnSpc>
                <a:spcPct val="150000"/>
              </a:lnSpc>
              <a:spcBef>
                <a:spcPts val="900"/>
              </a:spcBef>
            </a:pPr>
            <a:r>
              <a:rPr sz="1200" b="0" i="0">
                <a:solidFill>
                  <a:srgbClr val="26301F"/>
                </a:solidFill>
                <a:latin typeface="Segoe UI"/>
              </a:rPr>
              <a:t>Reporting from the join date means a member who joins in January and collects in November has eleven months of clean, formally reported history before they ever touch the pot.</a:t>
            </a:r>
          </a:p>
          <a:p>
            <a:pPr algn="l">
              <a:lnSpc>
                <a:spcPct val="150000"/>
              </a:lnSpc>
              <a:spcBef>
                <a:spcPts val="900"/>
              </a:spcBef>
            </a:pPr>
            <a:r>
              <a:rPr sz="1200" b="0" i="0">
                <a:solidFill>
                  <a:srgbClr val="26301F"/>
                </a:solidFill>
                <a:latin typeface="Segoe UI"/>
              </a:rPr>
              <a:t/>
            </a:r>
          </a:p>
          <a:p>
            <a:pPr algn="l">
              <a:lnSpc>
                <a:spcPct val="150000"/>
              </a:lnSpc>
              <a:spcBef>
                <a:spcPts val="900"/>
              </a:spcBef>
            </a:pPr>
            <a:r>
              <a:rPr sz="1200" b="0" i="0">
                <a:solidFill>
                  <a:srgbClr val="26301F"/>
                </a:solidFill>
                <a:latin typeface="Segoe UI"/>
              </a:rPr>
              <a:t>Reporting from the collection date, which is what an accountant would do because that is when a balance appears, would discard all of it.</a:t>
            </a:r>
          </a:p>
          <a:p>
            <a:pPr algn="l">
              <a:lnSpc>
                <a:spcPct val="150000"/>
              </a:lnSpc>
              <a:spcBef>
                <a:spcPts val="900"/>
              </a:spcBef>
            </a:pPr>
            <a:r>
              <a:rPr sz="1200" b="0" i="0">
                <a:solidFill>
                  <a:srgbClr val="26301F"/>
                </a:solidFill>
                <a:latin typeface="Segoe UI"/>
              </a:rPr>
              <a:t/>
            </a:r>
          </a:p>
          <a:p>
            <a:pPr algn="l">
              <a:lnSpc>
                <a:spcPct val="150000"/>
              </a:lnSpc>
              <a:spcBef>
                <a:spcPts val="900"/>
              </a:spcBef>
            </a:pPr>
            <a:r>
              <a:rPr sz="1200" b="0" i="0">
                <a:solidFill>
                  <a:srgbClr val="26301F"/>
                </a:solidFill>
                <a:latin typeface="Segoe UI"/>
              </a:rPr>
              <a:t>That single choice is the difference between a credit building product and a payment ledger.</a:t>
            </a:r>
          </a:p>
        </p:txBody>
      </p:sp>
      <p:sp>
        <p:nvSpPr>
          <p:cNvPr id="10" name="TextBox 9"/>
          <p:cNvSpPr txBox="1"/>
          <p:nvPr/>
        </p:nvSpPr>
        <p:spPr>
          <a:xfrm>
            <a:off x="777240" y="5690440"/>
            <a:ext cx="6400800" cy="731520"/>
          </a:xfrm>
          <a:prstGeom prst="rect">
            <a:avLst/>
          </a:prstGeom>
          <a:noFill/>
        </p:spPr>
        <p:txBody>
          <a:bodyPr wrap="square" lIns="0" rIns="0" tIns="0" bIns="0">
            <a:spAutoFit/>
          </a:bodyPr>
          <a:lstStyle/>
          <a:p>
            <a:pPr algn="l">
              <a:lnSpc>
                <a:spcPct val="140000"/>
              </a:lnSpc>
            </a:pPr>
            <a:r>
              <a:rPr sz="1150" b="0" i="0">
                <a:solidFill>
                  <a:srgbClr val="6F7B68"/>
                </a:solidFill>
                <a:latin typeface="Segoe UI"/>
              </a:rPr>
              <a:t>Five of the six inputs the bureau scores on are already captured at signup or produced by collection. The sixth, demographics, the bureau derives itself from the identity number.</a:t>
            </a:r>
          </a:p>
        </p:txBody>
      </p:sp>
    </p:spTree>
  </p:cSld>
  <p:clrMapOvr>
    <a:masterClrMapping/>
  </p:clrMapOvr>
</p:sld>
</file>

<file path=ppt/slides/slide3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777240" y="566928"/>
            <a:ext cx="10637215" cy="219456"/>
          </a:xfrm>
          <a:prstGeom prst="rect">
            <a:avLst/>
          </a:prstGeom>
          <a:noFill/>
        </p:spPr>
        <p:txBody>
          <a:bodyPr wrap="square" lIns="0" rIns="0" tIns="0" bIns="0">
            <a:spAutoFit/>
          </a:bodyPr>
          <a:lstStyle/>
          <a:p>
            <a:pPr algn="l">
              <a:lnSpc>
                <a:spcPct val="125000"/>
              </a:lnSpc>
            </a:pPr>
            <a:r>
              <a:rPr sz="950" b="1" i="0">
                <a:solidFill>
                  <a:srgbClr val="41801A"/>
                </a:solidFill>
                <a:latin typeface="Segoe UI"/>
              </a:rPr>
              <a:t>5  PREVENTING DEFAULT</a:t>
            </a:r>
          </a:p>
        </p:txBody>
      </p:sp>
      <p:sp>
        <p:nvSpPr>
          <p:cNvPr id="3" name="TextBox 2"/>
          <p:cNvSpPr txBox="1"/>
          <p:nvPr/>
        </p:nvSpPr>
        <p:spPr>
          <a:xfrm>
            <a:off x="777240" y="841248"/>
            <a:ext cx="10637215" cy="502920"/>
          </a:xfrm>
          <a:prstGeom prst="rect">
            <a:avLst/>
          </a:prstGeom>
          <a:noFill/>
        </p:spPr>
        <p:txBody>
          <a:bodyPr wrap="square" lIns="0" rIns="0" tIns="0" bIns="0">
            <a:spAutoFit/>
          </a:bodyPr>
          <a:lstStyle/>
          <a:p>
            <a:pPr algn="l">
              <a:lnSpc>
                <a:spcPct val="125000"/>
              </a:lnSpc>
            </a:pPr>
            <a:r>
              <a:rPr sz="2700" b="1" i="0">
                <a:solidFill>
                  <a:srgbClr val="0C1408"/>
                </a:solidFill>
                <a:latin typeface="Segoe UI"/>
              </a:rPr>
              <a:t>The one thing at risk</a:t>
            </a:r>
          </a:p>
        </p:txBody>
      </p:sp>
      <p:sp>
        <p:nvSpPr>
          <p:cNvPr id="4" name="Rectangle 3"/>
          <p:cNvSpPr/>
          <p:nvPr/>
        </p:nvSpPr>
        <p:spPr>
          <a:xfrm>
            <a:off x="777240" y="1417320"/>
            <a:ext cx="1371600" cy="22860"/>
          </a:xfrm>
          <a:prstGeom prst="rect">
            <a:avLst/>
          </a:prstGeom>
          <a:solidFill>
            <a:srgbClr val="6DC72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777240" y="6382512"/>
            <a:ext cx="3657600" cy="228600"/>
          </a:xfrm>
          <a:prstGeom prst="rect">
            <a:avLst/>
          </a:prstGeom>
          <a:noFill/>
        </p:spPr>
        <p:txBody>
          <a:bodyPr wrap="square" lIns="0" rIns="0" tIns="0" bIns="0">
            <a:spAutoFit/>
          </a:bodyPr>
          <a:lstStyle/>
          <a:p>
            <a:pPr algn="l">
              <a:lnSpc>
                <a:spcPct val="125000"/>
              </a:lnSpc>
            </a:pPr>
            <a:r>
              <a:rPr sz="900" b="0" i="0">
                <a:solidFill>
                  <a:srgbClr val="9AA694"/>
                </a:solidFill>
                <a:latin typeface="Segoe UI"/>
              </a:rPr>
              <a:t>Halqa  ·  Confidential</a:t>
            </a:r>
          </a:p>
        </p:txBody>
      </p:sp>
      <p:sp>
        <p:nvSpPr>
          <p:cNvPr id="6" name="TextBox 5"/>
          <p:cNvSpPr txBox="1"/>
          <p:nvPr/>
        </p:nvSpPr>
        <p:spPr>
          <a:xfrm>
            <a:off x="10728655" y="6382512"/>
            <a:ext cx="685800" cy="228600"/>
          </a:xfrm>
          <a:prstGeom prst="rect">
            <a:avLst/>
          </a:prstGeom>
          <a:noFill/>
        </p:spPr>
        <p:txBody>
          <a:bodyPr wrap="square" lIns="0" rIns="0" tIns="0" bIns="0">
            <a:spAutoFit/>
          </a:bodyPr>
          <a:lstStyle/>
          <a:p>
            <a:pPr algn="r">
              <a:lnSpc>
                <a:spcPct val="125000"/>
              </a:lnSpc>
            </a:pPr>
            <a:r>
              <a:rPr sz="900" b="0" i="0">
                <a:solidFill>
                  <a:srgbClr val="6F7B68"/>
                </a:solidFill>
                <a:latin typeface="Segoe UI"/>
              </a:rPr>
              <a:t>34</a:t>
            </a:r>
          </a:p>
        </p:txBody>
      </p:sp>
      <p:pic>
        <p:nvPicPr>
          <p:cNvPr id="7" name="Picture 6" descr="b_risk.png"/>
          <p:cNvPicPr>
            <a:picLocks noChangeAspect="1"/>
          </p:cNvPicPr>
          <p:nvPr/>
        </p:nvPicPr>
        <p:blipFill>
          <a:blip r:embed="rId2"/>
          <a:stretch>
            <a:fillRect/>
          </a:stretch>
        </p:blipFill>
        <p:spPr>
          <a:xfrm>
            <a:off x="777240" y="2057400"/>
            <a:ext cx="5486400" cy="2581306"/>
          </a:xfrm>
          <a:prstGeom prst="rect">
            <a:avLst/>
          </a:prstGeom>
        </p:spPr>
      </p:pic>
      <p:sp>
        <p:nvSpPr>
          <p:cNvPr id="8" name="TextBox 7"/>
          <p:cNvSpPr txBox="1"/>
          <p:nvPr/>
        </p:nvSpPr>
        <p:spPr>
          <a:xfrm>
            <a:off x="777240" y="4251960"/>
            <a:ext cx="5486400" cy="320040"/>
          </a:xfrm>
          <a:prstGeom prst="rect">
            <a:avLst/>
          </a:prstGeom>
          <a:noFill/>
        </p:spPr>
        <p:txBody>
          <a:bodyPr wrap="square" lIns="0" rIns="0" tIns="0" bIns="0">
            <a:spAutoFit/>
          </a:bodyPr>
          <a:lstStyle/>
          <a:p>
            <a:pPr algn="l">
              <a:lnSpc>
                <a:spcPct val="125000"/>
              </a:lnSpc>
            </a:pPr>
            <a:r>
              <a:rPr sz="1000" b="0" i="0">
                <a:solidFill>
                  <a:srgbClr val="9AA694"/>
                </a:solidFill>
                <a:latin typeface="Segoe UI"/>
              </a:rPr>
              <a:t>What a member still owes their circle immediately after collecting, by position.</a:t>
            </a:r>
          </a:p>
        </p:txBody>
      </p:sp>
      <p:sp>
        <p:nvSpPr>
          <p:cNvPr id="9" name="TextBox 8"/>
          <p:cNvSpPr txBox="1"/>
          <p:nvPr/>
        </p:nvSpPr>
        <p:spPr>
          <a:xfrm>
            <a:off x="6812280" y="1965960"/>
            <a:ext cx="4572000" cy="3931920"/>
          </a:xfrm>
          <a:prstGeom prst="rect">
            <a:avLst/>
          </a:prstGeom>
          <a:noFill/>
        </p:spPr>
        <p:txBody>
          <a:bodyPr wrap="square" lIns="0" rIns="0" tIns="0" bIns="0">
            <a:spAutoFit/>
          </a:bodyPr>
          <a:lstStyle/>
          <a:p>
            <a:pPr algn="l">
              <a:lnSpc>
                <a:spcPct val="150000"/>
              </a:lnSpc>
            </a:pPr>
            <a:r>
              <a:rPr sz="1250" b="0" i="0">
                <a:solidFill>
                  <a:srgbClr val="26301F"/>
                </a:solidFill>
                <a:latin typeface="Segoe UI"/>
              </a:rPr>
              <a:t>When a member collects, they hold the whole pot and still owe every contribution that remains. That remaining obligation is the only thing at risk anywhere in the arrangement.</a:t>
            </a:r>
          </a:p>
          <a:p>
            <a:pPr algn="l">
              <a:lnSpc>
                <a:spcPct val="150000"/>
              </a:lnSpc>
              <a:spcBef>
                <a:spcPts val="900"/>
              </a:spcBef>
            </a:pPr>
            <a:r>
              <a:rPr sz="1250" b="0" i="0">
                <a:solidFill>
                  <a:srgbClr val="26301F"/>
                </a:solidFill>
                <a:latin typeface="Segoe UI"/>
              </a:rPr>
              <a:t/>
            </a:r>
          </a:p>
          <a:p>
            <a:pPr algn="l">
              <a:lnSpc>
                <a:spcPct val="150000"/>
              </a:lnSpc>
              <a:spcBef>
                <a:spcPts val="900"/>
              </a:spcBef>
            </a:pPr>
            <a:r>
              <a:rPr sz="1250" b="0" i="0">
                <a:solidFill>
                  <a:srgbClr val="26301F"/>
                </a:solidFill>
                <a:latin typeface="Segoe UI"/>
              </a:rPr>
              <a:t>It is at its largest for whoever collects first, falls by one contribution with each later position, and is nothing at all for whoever collects last. Risk is not spread evenly across the members. It sits in the early positions and decays to zero.</a:t>
            </a:r>
          </a:p>
          <a:p>
            <a:pPr algn="l">
              <a:lnSpc>
                <a:spcPct val="150000"/>
              </a:lnSpc>
              <a:spcBef>
                <a:spcPts val="900"/>
              </a:spcBef>
            </a:pPr>
            <a:r>
              <a:rPr sz="1250" b="0" i="0">
                <a:solidFill>
                  <a:srgbClr val="26301F"/>
                </a:solidFill>
                <a:latin typeface="Segoe UI"/>
              </a:rPr>
              <a:t/>
            </a:r>
          </a:p>
          <a:p>
            <a:pPr algn="l">
              <a:lnSpc>
                <a:spcPct val="150000"/>
              </a:lnSpc>
              <a:spcBef>
                <a:spcPts val="900"/>
              </a:spcBef>
            </a:pPr>
            <a:r>
              <a:rPr sz="1250" b="0" i="0">
                <a:solidFill>
                  <a:srgbClr val="26301F"/>
                </a:solidFill>
                <a:latin typeface="Segoe UI"/>
              </a:rPr>
              <a:t>This changes what the platform needs to build. It does not need a system for judging whether somebody is a good person. It needs a system that decides which member may occupy which position, which is a far narrower and far more tractable problem.</a:t>
            </a:r>
          </a:p>
        </p:txBody>
      </p:sp>
      <p:sp>
        <p:nvSpPr>
          <p:cNvPr id="10" name="TextBox 9"/>
          <p:cNvSpPr txBox="1"/>
          <p:nvPr/>
        </p:nvSpPr>
        <p:spPr>
          <a:xfrm>
            <a:off x="777240" y="4800600"/>
            <a:ext cx="5486400" cy="1188720"/>
          </a:xfrm>
          <a:prstGeom prst="rect">
            <a:avLst/>
          </a:prstGeom>
          <a:noFill/>
        </p:spPr>
        <p:txBody>
          <a:bodyPr wrap="square" lIns="0" rIns="0" tIns="0" bIns="0">
            <a:spAutoFit/>
          </a:bodyPr>
          <a:lstStyle/>
          <a:p>
            <a:pPr algn="l">
              <a:lnSpc>
                <a:spcPct val="150000"/>
              </a:lnSpc>
            </a:pPr>
            <a:r>
              <a:rPr sz="1250" b="0" i="0">
                <a:solidFill>
                  <a:srgbClr val="0C1408"/>
                </a:solidFill>
                <a:latin typeface="Segoe UI"/>
              </a:rPr>
              <a:t>Everything in this section follows from that one observation. Position gating, the new member rule, the vault, the auction rules and the asset structure are all answers to the same question: who is allowed to owe a lot.</a:t>
            </a:r>
          </a:p>
        </p:txBody>
      </p:sp>
    </p:spTree>
  </p:cSld>
  <p:clrMapOvr>
    <a:masterClrMapping/>
  </p:clrMapOvr>
</p:sld>
</file>

<file path=ppt/slides/slide3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777240" y="566928"/>
            <a:ext cx="10637215" cy="219456"/>
          </a:xfrm>
          <a:prstGeom prst="rect">
            <a:avLst/>
          </a:prstGeom>
          <a:noFill/>
        </p:spPr>
        <p:txBody>
          <a:bodyPr wrap="square" lIns="0" rIns="0" tIns="0" bIns="0">
            <a:spAutoFit/>
          </a:bodyPr>
          <a:lstStyle/>
          <a:p>
            <a:pPr algn="l">
              <a:lnSpc>
                <a:spcPct val="125000"/>
              </a:lnSpc>
            </a:pPr>
            <a:r>
              <a:rPr sz="950" b="1" i="0">
                <a:solidFill>
                  <a:srgbClr val="41801A"/>
                </a:solidFill>
                <a:latin typeface="Segoe UI"/>
              </a:rPr>
              <a:t>5  PREVENTING DEFAULT</a:t>
            </a:r>
          </a:p>
        </p:txBody>
      </p:sp>
      <p:sp>
        <p:nvSpPr>
          <p:cNvPr id="3" name="TextBox 2"/>
          <p:cNvSpPr txBox="1"/>
          <p:nvPr/>
        </p:nvSpPr>
        <p:spPr>
          <a:xfrm>
            <a:off x="777240" y="841248"/>
            <a:ext cx="10637215" cy="502920"/>
          </a:xfrm>
          <a:prstGeom prst="rect">
            <a:avLst/>
          </a:prstGeom>
          <a:noFill/>
        </p:spPr>
        <p:txBody>
          <a:bodyPr wrap="square" lIns="0" rIns="0" tIns="0" bIns="0">
            <a:spAutoFit/>
          </a:bodyPr>
          <a:lstStyle/>
          <a:p>
            <a:pPr algn="l">
              <a:lnSpc>
                <a:spcPct val="125000"/>
              </a:lnSpc>
            </a:pPr>
            <a:r>
              <a:rPr sz="2700" b="1" i="0">
                <a:solidFill>
                  <a:srgbClr val="0C1408"/>
                </a:solidFill>
                <a:latin typeface="Segoe UI"/>
              </a:rPr>
              <a:t>No incentive to default</a:t>
            </a:r>
          </a:p>
        </p:txBody>
      </p:sp>
      <p:sp>
        <p:nvSpPr>
          <p:cNvPr id="4" name="Rectangle 3"/>
          <p:cNvSpPr/>
          <p:nvPr/>
        </p:nvSpPr>
        <p:spPr>
          <a:xfrm>
            <a:off x="777240" y="1417320"/>
            <a:ext cx="1371600" cy="22860"/>
          </a:xfrm>
          <a:prstGeom prst="rect">
            <a:avLst/>
          </a:prstGeom>
          <a:solidFill>
            <a:srgbClr val="6DC72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777240" y="6382512"/>
            <a:ext cx="3657600" cy="228600"/>
          </a:xfrm>
          <a:prstGeom prst="rect">
            <a:avLst/>
          </a:prstGeom>
          <a:noFill/>
        </p:spPr>
        <p:txBody>
          <a:bodyPr wrap="square" lIns="0" rIns="0" tIns="0" bIns="0">
            <a:spAutoFit/>
          </a:bodyPr>
          <a:lstStyle/>
          <a:p>
            <a:pPr algn="l">
              <a:lnSpc>
                <a:spcPct val="125000"/>
              </a:lnSpc>
            </a:pPr>
            <a:r>
              <a:rPr sz="900" b="0" i="0">
                <a:solidFill>
                  <a:srgbClr val="9AA694"/>
                </a:solidFill>
                <a:latin typeface="Segoe UI"/>
              </a:rPr>
              <a:t>Halqa  ·  Confidential</a:t>
            </a:r>
          </a:p>
        </p:txBody>
      </p:sp>
      <p:sp>
        <p:nvSpPr>
          <p:cNvPr id="6" name="TextBox 5"/>
          <p:cNvSpPr txBox="1"/>
          <p:nvPr/>
        </p:nvSpPr>
        <p:spPr>
          <a:xfrm>
            <a:off x="10728655" y="6382512"/>
            <a:ext cx="685800" cy="228600"/>
          </a:xfrm>
          <a:prstGeom prst="rect">
            <a:avLst/>
          </a:prstGeom>
          <a:noFill/>
        </p:spPr>
        <p:txBody>
          <a:bodyPr wrap="square" lIns="0" rIns="0" tIns="0" bIns="0">
            <a:spAutoFit/>
          </a:bodyPr>
          <a:lstStyle/>
          <a:p>
            <a:pPr algn="r">
              <a:lnSpc>
                <a:spcPct val="125000"/>
              </a:lnSpc>
            </a:pPr>
            <a:r>
              <a:rPr sz="900" b="0" i="0">
                <a:solidFill>
                  <a:srgbClr val="6F7B68"/>
                </a:solidFill>
                <a:latin typeface="Segoe UI"/>
              </a:rPr>
              <a:t>35</a:t>
            </a:r>
          </a:p>
        </p:txBody>
      </p:sp>
      <p:sp>
        <p:nvSpPr>
          <p:cNvPr id="7" name="TextBox 6"/>
          <p:cNvSpPr txBox="1"/>
          <p:nvPr/>
        </p:nvSpPr>
        <p:spPr>
          <a:xfrm>
            <a:off x="777240" y="1965960"/>
            <a:ext cx="10607040" cy="685800"/>
          </a:xfrm>
          <a:prstGeom prst="rect">
            <a:avLst/>
          </a:prstGeom>
          <a:noFill/>
        </p:spPr>
        <p:txBody>
          <a:bodyPr wrap="square" lIns="0" rIns="0" tIns="0" bIns="0">
            <a:spAutoFit/>
          </a:bodyPr>
          <a:lstStyle/>
          <a:p>
            <a:pPr algn="l">
              <a:lnSpc>
                <a:spcPct val="150000"/>
              </a:lnSpc>
            </a:pPr>
            <a:r>
              <a:rPr sz="1350" b="0" i="0">
                <a:solidFill>
                  <a:srgbClr val="26301F"/>
                </a:solidFill>
                <a:latin typeface="Segoe UI"/>
              </a:rPr>
              <a:t>The design does not try to make defaulting difficult for everybody. It ensures that the members carrying the largest obligation are the ones who have earned the right to carry it, and that everybody else has nothing to gain by leaving.</a:t>
            </a:r>
          </a:p>
        </p:txBody>
      </p:sp>
      <p:graphicFrame>
        <p:nvGraphicFramePr>
          <p:cNvPr id="8" name="Table 7"/>
          <p:cNvGraphicFramePr>
            <a:graphicFrameLocks noGrp="1"/>
          </p:cNvGraphicFramePr>
          <p:nvPr/>
        </p:nvGraphicFramePr>
        <p:xfrm>
          <a:off x="777240" y="2834640"/>
          <a:ext cx="10607040" cy="2818529"/>
        </p:xfrm>
        <a:graphic>
          <a:graphicData uri="http://schemas.openxmlformats.org/drawingml/2006/table">
            <a:tbl>
              <a:tblPr>
                <a:tableStyleId>{5C22544A-7EE6-4342-B048-85BDC9FD1C3A}</a:tableStyleId>
              </a:tblPr>
              <a:tblGrid>
                <a:gridCol w="2651760"/>
                <a:gridCol w="3840480"/>
                <a:gridCol w="4114800"/>
              </a:tblGrid>
              <a:tr h="402647">
                <a:tc>
                  <a:txBody>
                    <a:bodyPr wrap="square"/>
                    <a:lstStyle/>
                    <a:p>
                      <a:r>
                        <a:rPr sz="700" b="1">
                          <a:solidFill>
                            <a:srgbClr val="41801A"/>
                          </a:solidFill>
                          <a:latin typeface="Segoe UI"/>
                        </a:rPr>
                        <a:t>WHERE THE MEMBER SITS</a:t>
                      </a:r>
                    </a:p>
                  </a:txBody>
                  <a:tcPr marL="45720" marR="109728" marT="27432" marB="27432" anchor="ctr">
                    <a:lnB w="9525" cap="flat" cmpd="sng" algn="ctr">
                      <a:solidFill>
                        <a:srgbClr val="41801A"/>
                      </a:solidFill>
                    </a:lnB>
                    <a:solidFill>
                      <a:srgbClr val="FFFFFF"/>
                    </a:solidFill>
                  </a:tcPr>
                </a:tc>
                <a:tc>
                  <a:txBody>
                    <a:bodyPr wrap="square"/>
                    <a:lstStyle/>
                    <a:p>
                      <a:r>
                        <a:rPr sz="700" b="1">
                          <a:solidFill>
                            <a:srgbClr val="41801A"/>
                          </a:solidFill>
                          <a:latin typeface="Segoe UI"/>
                        </a:rPr>
                        <a:t>WHAT THEY GAIN BY WALKING AWAY</a:t>
                      </a:r>
                    </a:p>
                  </a:txBody>
                  <a:tcPr marL="45720" marR="109728" marT="27432" marB="27432" anchor="ctr">
                    <a:lnB w="9525" cap="flat" cmpd="sng" algn="ctr">
                      <a:solidFill>
                        <a:srgbClr val="41801A"/>
                      </a:solidFill>
                    </a:lnB>
                    <a:solidFill>
                      <a:srgbClr val="FFFFFF"/>
                    </a:solidFill>
                  </a:tcPr>
                </a:tc>
                <a:tc>
                  <a:txBody>
                    <a:bodyPr wrap="square"/>
                    <a:lstStyle/>
                    <a:p>
                      <a:r>
                        <a:rPr sz="700" b="1">
                          <a:solidFill>
                            <a:srgbClr val="41801A"/>
                          </a:solidFill>
                          <a:latin typeface="Segoe UI"/>
                        </a:rPr>
                        <a:t>WHAT THEY LOSE</a:t>
                      </a:r>
                    </a:p>
                  </a:txBody>
                  <a:tcPr marL="45720" marR="109728" marT="27432" marB="27432" anchor="ctr">
                    <a:lnB w="9525" cap="flat" cmpd="sng" algn="ctr">
                      <a:solidFill>
                        <a:srgbClr val="41801A"/>
                      </a:solidFill>
                    </a:lnB>
                    <a:solidFill>
                      <a:srgbClr val="FFFFFF"/>
                    </a:solidFill>
                  </a:tcPr>
                </a:tc>
              </a:tr>
              <a:tr h="402647">
                <a:tc>
                  <a:txBody>
                    <a:bodyPr wrap="square"/>
                    <a:lstStyle/>
                    <a:p>
                      <a:r>
                        <a:rPr sz="700" b="0">
                          <a:solidFill>
                            <a:srgbClr val="26301F"/>
                          </a:solidFill>
                          <a:latin typeface="Segoe UI"/>
                        </a:rPr>
                        <a:t>The last positions, where every new member is placed</a:t>
                      </a:r>
                    </a:p>
                  </a:txBody>
                  <a:tcPr marL="45720" marR="109728" marT="27432" marB="27432" anchor="ctr">
                    <a:lnB w="9525" cap="flat" cmpd="sng" algn="ctr">
                      <a:solidFill>
                        <a:srgbClr val="DCE3D6"/>
                      </a:solidFill>
                    </a:lnB>
                    <a:solidFill>
                      <a:srgbClr val="FFFFFF"/>
                    </a:solidFill>
                  </a:tcPr>
                </a:tc>
                <a:tc>
                  <a:txBody>
                    <a:bodyPr wrap="square"/>
                    <a:lstStyle/>
                    <a:p>
                      <a:r>
                        <a:rPr sz="700" b="0">
                          <a:solidFill>
                            <a:srgbClr val="26301F"/>
                          </a:solidFill>
                          <a:latin typeface="Segoe UI"/>
                        </a:rPr>
                        <a:t>Nothing at all. By the time they collect they have already paid in almost everything they owe</a:t>
                      </a:r>
                    </a:p>
                  </a:txBody>
                  <a:tcPr marL="45720" marR="109728" marT="27432" marB="27432" anchor="ctr">
                    <a:lnB w="9525" cap="flat" cmpd="sng" algn="ctr">
                      <a:solidFill>
                        <a:srgbClr val="DCE3D6"/>
                      </a:solidFill>
                    </a:lnB>
                    <a:solidFill>
                      <a:srgbClr val="FFFFFF"/>
                    </a:solidFill>
                  </a:tcPr>
                </a:tc>
                <a:tc>
                  <a:txBody>
                    <a:bodyPr wrap="square"/>
                    <a:lstStyle/>
                    <a:p>
                      <a:r>
                        <a:rPr sz="700" b="0">
                          <a:solidFill>
                            <a:srgbClr val="26301F"/>
                          </a:solidFill>
                          <a:latin typeface="Segoe UI"/>
                        </a:rPr>
                        <a:t>Platform access, the credit record they joined to build, and a severe score event</a:t>
                      </a:r>
                    </a:p>
                  </a:txBody>
                  <a:tcPr marL="45720" marR="109728" marT="27432" marB="27432" anchor="ctr">
                    <a:lnB w="9525" cap="flat" cmpd="sng" algn="ctr">
                      <a:solidFill>
                        <a:srgbClr val="DCE3D6"/>
                      </a:solidFill>
                    </a:lnB>
                    <a:solidFill>
                      <a:srgbClr val="FFFFFF"/>
                    </a:solidFill>
                  </a:tcPr>
                </a:tc>
              </a:tr>
              <a:tr h="402647">
                <a:tc>
                  <a:txBody>
                    <a:bodyPr wrap="square"/>
                    <a:lstStyle/>
                    <a:p>
                      <a:r>
                        <a:rPr sz="700" b="0">
                          <a:solidFill>
                            <a:srgbClr val="26301F"/>
                          </a:solidFill>
                          <a:latin typeface="Segoe UI"/>
                        </a:rPr>
                        <a:t>The middle positions</a:t>
                      </a:r>
                    </a:p>
                  </a:txBody>
                  <a:tcPr marL="45720" marR="109728" marT="27432" marB="27432" anchor="ctr">
                    <a:lnB w="9525" cap="flat" cmpd="sng" algn="ctr">
                      <a:solidFill>
                        <a:srgbClr val="DCE3D6"/>
                      </a:solidFill>
                    </a:lnB>
                    <a:solidFill>
                      <a:srgbClr val="FFFFFF"/>
                    </a:solidFill>
                  </a:tcPr>
                </a:tc>
                <a:tc>
                  <a:txBody>
                    <a:bodyPr wrap="square"/>
                    <a:lstStyle/>
                    <a:p>
                      <a:r>
                        <a:rPr sz="700" b="0">
                          <a:solidFill>
                            <a:srgbClr val="26301F"/>
                          </a:solidFill>
                          <a:latin typeface="Segoe UI"/>
                        </a:rPr>
                        <a:t>A partial obligation, and one capped by their band ceiling</a:t>
                      </a:r>
                    </a:p>
                  </a:txBody>
                  <a:tcPr marL="45720" marR="109728" marT="27432" marB="27432" anchor="ctr">
                    <a:lnB w="9525" cap="flat" cmpd="sng" algn="ctr">
                      <a:solidFill>
                        <a:srgbClr val="DCE3D6"/>
                      </a:solidFill>
                    </a:lnB>
                    <a:solidFill>
                      <a:srgbClr val="FFFFFF"/>
                    </a:solidFill>
                  </a:tcPr>
                </a:tc>
                <a:tc>
                  <a:txBody>
                    <a:bodyPr wrap="square"/>
                    <a:lstStyle/>
                    <a:p>
                      <a:r>
                        <a:rPr sz="700" b="0">
                          <a:solidFill>
                            <a:srgbClr val="26301F"/>
                          </a:solidFill>
                          <a:latin typeface="Segoe UI"/>
                        </a:rPr>
                        <a:t>The same, plus a recovery case for the outstanding amount, penalties and a rehabilitation fee</a:t>
                      </a:r>
                    </a:p>
                  </a:txBody>
                  <a:tcPr marL="45720" marR="109728" marT="27432" marB="27432" anchor="ctr">
                    <a:lnB w="9525" cap="flat" cmpd="sng" algn="ctr">
                      <a:solidFill>
                        <a:srgbClr val="DCE3D6"/>
                      </a:solidFill>
                    </a:lnB>
                    <a:solidFill>
                      <a:srgbClr val="FFFFFF"/>
                    </a:solidFill>
                  </a:tcPr>
                </a:tc>
              </a:tr>
              <a:tr h="402647">
                <a:tc>
                  <a:txBody>
                    <a:bodyPr wrap="square"/>
                    <a:lstStyle/>
                    <a:p>
                      <a:r>
                        <a:rPr sz="700" b="0">
                          <a:solidFill>
                            <a:srgbClr val="26301F"/>
                          </a:solidFill>
                          <a:latin typeface="Segoe UI"/>
                        </a:rPr>
                        <a:t>The early positions</a:t>
                      </a:r>
                    </a:p>
                  </a:txBody>
                  <a:tcPr marL="45720" marR="109728" marT="27432" marB="27432" anchor="ctr">
                    <a:lnB w="9525" cap="flat" cmpd="sng" algn="ctr">
                      <a:solidFill>
                        <a:srgbClr val="DCE3D6"/>
                      </a:solidFill>
                    </a:lnB>
                    <a:solidFill>
                      <a:srgbClr val="FFFFFF"/>
                    </a:solidFill>
                  </a:tcPr>
                </a:tc>
                <a:tc>
                  <a:txBody>
                    <a:bodyPr wrap="square"/>
                    <a:lstStyle/>
                    <a:p>
                      <a:r>
                        <a:rPr sz="700" b="0">
                          <a:solidFill>
                            <a:srgbClr val="26301F"/>
                          </a:solidFill>
                          <a:latin typeface="Segoe UI"/>
                        </a:rPr>
                        <a:t>The largest obligation in the circle</a:t>
                      </a:r>
                    </a:p>
                  </a:txBody>
                  <a:tcPr marL="45720" marR="109728" marT="27432" marB="27432" anchor="ctr">
                    <a:lnB w="9525" cap="flat" cmpd="sng" algn="ctr">
                      <a:solidFill>
                        <a:srgbClr val="DCE3D6"/>
                      </a:solidFill>
                    </a:lnB>
                    <a:solidFill>
                      <a:srgbClr val="FFFFFF"/>
                    </a:solidFill>
                  </a:tcPr>
                </a:tc>
                <a:tc>
                  <a:txBody>
                    <a:bodyPr wrap="square"/>
                    <a:lstStyle/>
                    <a:p>
                      <a:r>
                        <a:rPr sz="700" b="0">
                          <a:solidFill>
                            <a:srgbClr val="26301F"/>
                          </a:solidFill>
                          <a:latin typeface="Segoe UI"/>
                        </a:rPr>
                        <a:t>The same, and these positions are only available to members with a long clean record they would be destroying</a:t>
                      </a:r>
                    </a:p>
                  </a:txBody>
                  <a:tcPr marL="45720" marR="109728" marT="27432" marB="27432" anchor="ctr">
                    <a:lnB w="9525" cap="flat" cmpd="sng" algn="ctr">
                      <a:solidFill>
                        <a:srgbClr val="DCE3D6"/>
                      </a:solidFill>
                    </a:lnB>
                    <a:solidFill>
                      <a:srgbClr val="FFFFFF"/>
                    </a:solidFill>
                  </a:tcPr>
                </a:tc>
              </a:tr>
              <a:tr h="402647">
                <a:tc>
                  <a:txBody>
                    <a:bodyPr wrap="square"/>
                    <a:lstStyle/>
                    <a:p>
                      <a:r>
                        <a:rPr sz="700" b="0">
                          <a:solidFill>
                            <a:srgbClr val="26301F"/>
                          </a:solidFill>
                          <a:latin typeface="Segoe UI"/>
                        </a:rPr>
                        <a:t>Any position in an asset circle</a:t>
                      </a:r>
                    </a:p>
                  </a:txBody>
                  <a:tcPr marL="45720" marR="109728" marT="27432" marB="27432" anchor="ctr">
                    <a:lnB w="9525" cap="flat" cmpd="sng" algn="ctr">
                      <a:solidFill>
                        <a:srgbClr val="DCE3D6"/>
                      </a:solidFill>
                    </a:lnB>
                    <a:solidFill>
                      <a:srgbClr val="FFFFFF"/>
                    </a:solidFill>
                  </a:tcPr>
                </a:tc>
                <a:tc>
                  <a:txBody>
                    <a:bodyPr wrap="square"/>
                    <a:lstStyle/>
                    <a:p>
                      <a:r>
                        <a:rPr sz="700" b="0">
                          <a:solidFill>
                            <a:srgbClr val="26301F"/>
                          </a:solidFill>
                          <a:latin typeface="Segoe UI"/>
                        </a:rPr>
                        <a:t>Possession of an item they do not legally own</a:t>
                      </a:r>
                    </a:p>
                  </a:txBody>
                  <a:tcPr marL="45720" marR="109728" marT="27432" marB="27432" anchor="ctr">
                    <a:lnB w="9525" cap="flat" cmpd="sng" algn="ctr">
                      <a:solidFill>
                        <a:srgbClr val="DCE3D6"/>
                      </a:solidFill>
                    </a:lnB>
                    <a:solidFill>
                      <a:srgbClr val="FFFFFF"/>
                    </a:solidFill>
                  </a:tcPr>
                </a:tc>
                <a:tc>
                  <a:txBody>
                    <a:bodyPr wrap="square"/>
                    <a:lstStyle/>
                    <a:p>
                      <a:r>
                        <a:rPr sz="700" b="0">
                          <a:solidFill>
                            <a:srgbClr val="26301F"/>
                          </a:solidFill>
                          <a:latin typeface="Segoe UI"/>
                        </a:rPr>
                        <a:t>The item itself, recovered by the party holding title, with the proceeds paid into the circle</a:t>
                      </a:r>
                    </a:p>
                  </a:txBody>
                  <a:tcPr marL="45720" marR="109728" marT="27432" marB="27432" anchor="ctr">
                    <a:lnB w="9525" cap="flat" cmpd="sng" algn="ctr">
                      <a:solidFill>
                        <a:srgbClr val="DCE3D6"/>
                      </a:solidFill>
                    </a:lnB>
                    <a:solidFill>
                      <a:srgbClr val="FFFFFF"/>
                    </a:solidFill>
                  </a:tcPr>
                </a:tc>
              </a:tr>
              <a:tr h="402647">
                <a:tc>
                  <a:txBody>
                    <a:bodyPr wrap="square"/>
                    <a:lstStyle/>
                    <a:p>
                      <a:r>
                        <a:rPr sz="700" b="0">
                          <a:solidFill>
                            <a:srgbClr val="26301F"/>
                          </a:solidFill>
                          <a:latin typeface="Segoe UI"/>
                        </a:rPr>
                        <a:t>Any position with pledged savings</a:t>
                      </a:r>
                    </a:p>
                  </a:txBody>
                  <a:tcPr marL="45720" marR="109728" marT="27432" marB="27432" anchor="ctr">
                    <a:lnB w="9525" cap="flat" cmpd="sng" algn="ctr">
                      <a:solidFill>
                        <a:srgbClr val="DCE3D6"/>
                      </a:solidFill>
                    </a:lnB>
                    <a:solidFill>
                      <a:srgbClr val="FFFFFF"/>
                    </a:solidFill>
                  </a:tcPr>
                </a:tc>
                <a:tc>
                  <a:txBody>
                    <a:bodyPr wrap="square"/>
                    <a:lstStyle/>
                    <a:p>
                      <a:r>
                        <a:rPr sz="700" b="0">
                          <a:solidFill>
                            <a:srgbClr val="26301F"/>
                          </a:solidFill>
                          <a:latin typeface="Segoe UI"/>
                        </a:rPr>
                        <a:t>Nothing. The shortfall settles from their own holding</a:t>
                      </a:r>
                    </a:p>
                  </a:txBody>
                  <a:tcPr marL="45720" marR="109728" marT="27432" marB="27432" anchor="ctr">
                    <a:lnB w="9525" cap="flat" cmpd="sng" algn="ctr">
                      <a:solidFill>
                        <a:srgbClr val="DCE3D6"/>
                      </a:solidFill>
                    </a:lnB>
                    <a:solidFill>
                      <a:srgbClr val="FFFFFF"/>
                    </a:solidFill>
                  </a:tcPr>
                </a:tc>
                <a:tc>
                  <a:txBody>
                    <a:bodyPr wrap="square"/>
                    <a:lstStyle/>
                    <a:p>
                      <a:r>
                        <a:rPr sz="700" b="0">
                          <a:solidFill>
                            <a:srgbClr val="26301F"/>
                          </a:solidFill>
                          <a:latin typeface="Segoe UI"/>
                        </a:rPr>
                        <a:t>The pledged holding, redeemed under an instruction they signed in advance</a:t>
                      </a:r>
                    </a:p>
                  </a:txBody>
                  <a:tcPr marL="45720" marR="109728" marT="27432" marB="27432" anchor="ctr">
                    <a:lnB w="9525" cap="flat" cmpd="sng" algn="ctr">
                      <a:solidFill>
                        <a:srgbClr val="DCE3D6"/>
                      </a:solidFill>
                    </a:lnB>
                    <a:solidFill>
                      <a:srgbClr val="FFFFFF"/>
                    </a:solidFill>
                  </a:tcPr>
                </a:tc>
              </a:tr>
              <a:tr h="402647">
                <a:tc>
                  <a:txBody>
                    <a:bodyPr wrap="square"/>
                    <a:lstStyle/>
                    <a:p>
                      <a:r>
                        <a:rPr sz="700" b="0">
                          <a:solidFill>
                            <a:srgbClr val="26301F"/>
                          </a:solidFill>
                          <a:latin typeface="Segoe UI"/>
                        </a:rPr>
                        <a:t>Any position in a known circle</a:t>
                      </a:r>
                    </a:p>
                  </a:txBody>
                  <a:tcPr marL="45720" marR="109728" marT="27432" marB="27432" anchor="ctr">
                    <a:lnB w="9525" cap="flat" cmpd="sng" algn="ctr">
                      <a:solidFill>
                        <a:srgbClr val="DCE3D6"/>
                      </a:solidFill>
                    </a:lnB>
                    <a:solidFill>
                      <a:srgbClr val="FFFFFF"/>
                    </a:solidFill>
                  </a:tcPr>
                </a:tc>
                <a:tc>
                  <a:txBody>
                    <a:bodyPr wrap="square"/>
                    <a:lstStyle/>
                    <a:p>
                      <a:r>
                        <a:rPr sz="700" b="0">
                          <a:solidFill>
                            <a:srgbClr val="26301F"/>
                          </a:solidFill>
                          <a:latin typeface="Segoe UI"/>
                        </a:rPr>
                        <a:t>The same as an open circle</a:t>
                      </a:r>
                    </a:p>
                  </a:txBody>
                  <a:tcPr marL="45720" marR="109728" marT="27432" marB="27432" anchor="ctr">
                    <a:lnB w="9525" cap="flat" cmpd="sng" algn="ctr">
                      <a:solidFill>
                        <a:srgbClr val="DCE3D6"/>
                      </a:solidFill>
                    </a:lnB>
                    <a:solidFill>
                      <a:srgbClr val="FFFFFF"/>
                    </a:solidFill>
                  </a:tcPr>
                </a:tc>
                <a:tc>
                  <a:txBody>
                    <a:bodyPr wrap="square"/>
                    <a:lstStyle/>
                    <a:p>
                      <a:r>
                        <a:rPr sz="700" b="0">
                          <a:solidFill>
                            <a:srgbClr val="26301F"/>
                          </a:solidFill>
                          <a:latin typeface="Segoe UI"/>
                        </a:rPr>
                        <a:t>The same, plus standing in a group of people who know them, which is the oldest enforcement mechanism there is</a:t>
                      </a:r>
                    </a:p>
                  </a:txBody>
                  <a:tcPr marL="45720" marR="109728" marT="27432" marB="27432" anchor="ctr">
                    <a:lnB w="9525" cap="flat" cmpd="sng" algn="ctr">
                      <a:solidFill>
                        <a:srgbClr val="DCE3D6"/>
                      </a:solidFill>
                    </a:lnB>
                    <a:solidFill>
                      <a:srgbClr val="FFFFFF"/>
                    </a:solidFill>
                  </a:tcPr>
                </a:tc>
              </a:tr>
            </a:tbl>
          </a:graphicData>
        </a:graphic>
      </p:graphicFrame>
      <p:sp>
        <p:nvSpPr>
          <p:cNvPr id="9" name="TextBox 8"/>
          <p:cNvSpPr txBox="1"/>
          <p:nvPr/>
        </p:nvSpPr>
        <p:spPr>
          <a:xfrm>
            <a:off x="777240" y="5836049"/>
            <a:ext cx="10637215" cy="731520"/>
          </a:xfrm>
          <a:prstGeom prst="rect">
            <a:avLst/>
          </a:prstGeom>
          <a:noFill/>
        </p:spPr>
        <p:txBody>
          <a:bodyPr wrap="square" lIns="0" rIns="0" tIns="0" bIns="0">
            <a:spAutoFit/>
          </a:bodyPr>
          <a:lstStyle/>
          <a:p>
            <a:pPr algn="l">
              <a:lnSpc>
                <a:spcPct val="140000"/>
              </a:lnSpc>
            </a:pPr>
            <a:r>
              <a:rPr sz="1200" b="1" i="0">
                <a:solidFill>
                  <a:srgbClr val="0C1408"/>
                </a:solidFill>
                <a:latin typeface="Segoe UI"/>
              </a:rPr>
              <a:t>Read down the middle column. For most members in most positions the honest answer to what do I gain by defaulting is nothing, and that is a far stronger control than any collections process.</a:t>
            </a:r>
          </a:p>
        </p:txBody>
      </p:sp>
    </p:spTree>
  </p:cSld>
  <p:clrMapOvr>
    <a:masterClrMapping/>
  </p:clrMapOvr>
</p:sld>
</file>

<file path=ppt/slides/slide3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777240" y="566928"/>
            <a:ext cx="10637215" cy="219456"/>
          </a:xfrm>
          <a:prstGeom prst="rect">
            <a:avLst/>
          </a:prstGeom>
          <a:noFill/>
        </p:spPr>
        <p:txBody>
          <a:bodyPr wrap="square" lIns="0" rIns="0" tIns="0" bIns="0">
            <a:spAutoFit/>
          </a:bodyPr>
          <a:lstStyle/>
          <a:p>
            <a:pPr algn="l">
              <a:lnSpc>
                <a:spcPct val="125000"/>
              </a:lnSpc>
            </a:pPr>
            <a:r>
              <a:rPr sz="950" b="1" i="0">
                <a:solidFill>
                  <a:srgbClr val="41801A"/>
                </a:solidFill>
                <a:latin typeface="Segoe UI"/>
              </a:rPr>
              <a:t>5  PREVENTING DEFAULT</a:t>
            </a:r>
          </a:p>
        </p:txBody>
      </p:sp>
      <p:sp>
        <p:nvSpPr>
          <p:cNvPr id="3" name="TextBox 2"/>
          <p:cNvSpPr txBox="1"/>
          <p:nvPr/>
        </p:nvSpPr>
        <p:spPr>
          <a:xfrm>
            <a:off x="777240" y="841248"/>
            <a:ext cx="10637215" cy="502920"/>
          </a:xfrm>
          <a:prstGeom prst="rect">
            <a:avLst/>
          </a:prstGeom>
          <a:noFill/>
        </p:spPr>
        <p:txBody>
          <a:bodyPr wrap="square" lIns="0" rIns="0" tIns="0" bIns="0">
            <a:spAutoFit/>
          </a:bodyPr>
          <a:lstStyle/>
          <a:p>
            <a:pPr algn="l">
              <a:lnSpc>
                <a:spcPct val="125000"/>
              </a:lnSpc>
            </a:pPr>
            <a:r>
              <a:rPr sz="2700" b="1" i="0">
                <a:solidFill>
                  <a:srgbClr val="0C1408"/>
                </a:solidFill>
                <a:latin typeface="Segoe UI"/>
              </a:rPr>
              <a:t>The seven layers</a:t>
            </a:r>
          </a:p>
        </p:txBody>
      </p:sp>
      <p:sp>
        <p:nvSpPr>
          <p:cNvPr id="4" name="Rectangle 3"/>
          <p:cNvSpPr/>
          <p:nvPr/>
        </p:nvSpPr>
        <p:spPr>
          <a:xfrm>
            <a:off x="777240" y="1417320"/>
            <a:ext cx="1371600" cy="22860"/>
          </a:xfrm>
          <a:prstGeom prst="rect">
            <a:avLst/>
          </a:prstGeom>
          <a:solidFill>
            <a:srgbClr val="6DC72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777240" y="6382512"/>
            <a:ext cx="3657600" cy="228600"/>
          </a:xfrm>
          <a:prstGeom prst="rect">
            <a:avLst/>
          </a:prstGeom>
          <a:noFill/>
        </p:spPr>
        <p:txBody>
          <a:bodyPr wrap="square" lIns="0" rIns="0" tIns="0" bIns="0">
            <a:spAutoFit/>
          </a:bodyPr>
          <a:lstStyle/>
          <a:p>
            <a:pPr algn="l">
              <a:lnSpc>
                <a:spcPct val="125000"/>
              </a:lnSpc>
            </a:pPr>
            <a:r>
              <a:rPr sz="900" b="0" i="0">
                <a:solidFill>
                  <a:srgbClr val="9AA694"/>
                </a:solidFill>
                <a:latin typeface="Segoe UI"/>
              </a:rPr>
              <a:t>Halqa  ·  Confidential</a:t>
            </a:r>
          </a:p>
        </p:txBody>
      </p:sp>
      <p:sp>
        <p:nvSpPr>
          <p:cNvPr id="6" name="TextBox 5"/>
          <p:cNvSpPr txBox="1"/>
          <p:nvPr/>
        </p:nvSpPr>
        <p:spPr>
          <a:xfrm>
            <a:off x="10728655" y="6382512"/>
            <a:ext cx="685800" cy="228600"/>
          </a:xfrm>
          <a:prstGeom prst="rect">
            <a:avLst/>
          </a:prstGeom>
          <a:noFill/>
        </p:spPr>
        <p:txBody>
          <a:bodyPr wrap="square" lIns="0" rIns="0" tIns="0" bIns="0">
            <a:spAutoFit/>
          </a:bodyPr>
          <a:lstStyle/>
          <a:p>
            <a:pPr algn="r">
              <a:lnSpc>
                <a:spcPct val="125000"/>
              </a:lnSpc>
            </a:pPr>
            <a:r>
              <a:rPr sz="900" b="0" i="0">
                <a:solidFill>
                  <a:srgbClr val="6F7B68"/>
                </a:solidFill>
                <a:latin typeface="Segoe UI"/>
              </a:rPr>
              <a:t>36</a:t>
            </a:r>
          </a:p>
        </p:txBody>
      </p:sp>
      <p:graphicFrame>
        <p:nvGraphicFramePr>
          <p:cNvPr id="7" name="Table 6"/>
          <p:cNvGraphicFramePr>
            <a:graphicFrameLocks noGrp="1"/>
          </p:cNvGraphicFramePr>
          <p:nvPr/>
        </p:nvGraphicFramePr>
        <p:xfrm>
          <a:off x="777240" y="1965960"/>
          <a:ext cx="10607040" cy="3619672"/>
        </p:xfrm>
        <a:graphic>
          <a:graphicData uri="http://schemas.openxmlformats.org/drawingml/2006/table">
            <a:tbl>
              <a:tblPr>
                <a:tableStyleId>{5C22544A-7EE6-4342-B048-85BDC9FD1C3A}</a:tableStyleId>
              </a:tblPr>
              <a:tblGrid>
                <a:gridCol w="365760"/>
                <a:gridCol w="1737360"/>
                <a:gridCol w="8503920"/>
              </a:tblGrid>
              <a:tr h="452459">
                <a:tc>
                  <a:txBody>
                    <a:bodyPr wrap="square"/>
                    <a:lstStyle/>
                    <a:p>
                      <a:r>
                        <a:rPr sz="800" b="1">
                          <a:solidFill>
                            <a:srgbClr val="41801A"/>
                          </a:solidFill>
                          <a:latin typeface="Segoe UI"/>
                        </a:rPr>
                        <a:t/>
                      </a:r>
                    </a:p>
                  </a:txBody>
                  <a:tcPr marL="45720" marR="109728" marT="27432" marB="27432" anchor="ctr">
                    <a:lnB w="9525" cap="flat" cmpd="sng" algn="ctr">
                      <a:solidFill>
                        <a:srgbClr val="41801A"/>
                      </a:solidFill>
                    </a:lnB>
                    <a:solidFill>
                      <a:srgbClr val="FFFFFF"/>
                    </a:solidFill>
                  </a:tcPr>
                </a:tc>
                <a:tc>
                  <a:txBody>
                    <a:bodyPr wrap="square"/>
                    <a:lstStyle/>
                    <a:p>
                      <a:r>
                        <a:rPr sz="800" b="1">
                          <a:solidFill>
                            <a:srgbClr val="41801A"/>
                          </a:solidFill>
                          <a:latin typeface="Segoe UI"/>
                        </a:rPr>
                        <a:t>LAYER</a:t>
                      </a:r>
                    </a:p>
                  </a:txBody>
                  <a:tcPr marL="45720" marR="109728" marT="27432" marB="27432" anchor="ctr">
                    <a:lnB w="9525" cap="flat" cmpd="sng" algn="ctr">
                      <a:solidFill>
                        <a:srgbClr val="41801A"/>
                      </a:solidFill>
                    </a:lnB>
                    <a:solidFill>
                      <a:srgbClr val="FFFFFF"/>
                    </a:solidFill>
                  </a:tcPr>
                </a:tc>
                <a:tc>
                  <a:txBody>
                    <a:bodyPr wrap="square"/>
                    <a:lstStyle/>
                    <a:p>
                      <a:r>
                        <a:rPr sz="800" b="1">
                          <a:solidFill>
                            <a:srgbClr val="41801A"/>
                          </a:solidFill>
                          <a:latin typeface="Segoe UI"/>
                        </a:rPr>
                        <a:t>WHAT IT DOES</a:t>
                      </a:r>
                    </a:p>
                  </a:txBody>
                  <a:tcPr marL="45720" marR="109728" marT="27432" marB="27432" anchor="ctr">
                    <a:lnB w="9525" cap="flat" cmpd="sng" algn="ctr">
                      <a:solidFill>
                        <a:srgbClr val="41801A"/>
                      </a:solidFill>
                    </a:lnB>
                    <a:solidFill>
                      <a:srgbClr val="FFFFFF"/>
                    </a:solidFill>
                  </a:tcPr>
                </a:tc>
              </a:tr>
              <a:tr h="452459">
                <a:tc>
                  <a:txBody>
                    <a:bodyPr wrap="square"/>
                    <a:lstStyle/>
                    <a:p>
                      <a:r>
                        <a:rPr sz="800" b="0">
                          <a:solidFill>
                            <a:srgbClr val="26301F"/>
                          </a:solidFill>
                          <a:latin typeface="Segoe UI"/>
                        </a:rPr>
                        <a:t>1</a:t>
                      </a:r>
                    </a:p>
                  </a:txBody>
                  <a:tcPr marL="45720" marR="109728" marT="27432" marB="27432" anchor="ctr">
                    <a:lnB w="9525" cap="flat" cmpd="sng" algn="ctr">
                      <a:solidFill>
                        <a:srgbClr val="DCE3D6"/>
                      </a:solidFill>
                    </a:lnB>
                    <a:solidFill>
                      <a:srgbClr val="FFFFFF"/>
                    </a:solidFill>
                  </a:tcPr>
                </a:tc>
                <a:tc>
                  <a:txBody>
                    <a:bodyPr wrap="square"/>
                    <a:lstStyle/>
                    <a:p>
                      <a:r>
                        <a:rPr sz="800" b="0">
                          <a:solidFill>
                            <a:srgbClr val="26301F"/>
                          </a:solidFill>
                          <a:latin typeface="Segoe UI"/>
                        </a:rPr>
                        <a:t>Identity</a:t>
                      </a:r>
                    </a:p>
                  </a:txBody>
                  <a:tcPr marL="45720" marR="109728" marT="27432" marB="27432" anchor="ctr">
                    <a:lnB w="9525" cap="flat" cmpd="sng" algn="ctr">
                      <a:solidFill>
                        <a:srgbClr val="DCE3D6"/>
                      </a:solidFill>
                    </a:lnB>
                    <a:solidFill>
                      <a:srgbClr val="FFFFFF"/>
                    </a:solidFill>
                  </a:tcPr>
                </a:tc>
                <a:tc>
                  <a:txBody>
                    <a:bodyPr wrap="square"/>
                    <a:lstStyle/>
                    <a:p>
                      <a:r>
                        <a:rPr sz="800" b="0">
                          <a:solidFill>
                            <a:srgbClr val="26301F"/>
                          </a:solidFill>
                          <a:latin typeface="Segoe UI"/>
                        </a:rPr>
                        <a:t>The identity card is captured at signup, the home location is pinned, and uniqueness is enforced on the identity number, the telephone number and the electronic address. Every obligation binds to a government identity that cannot be duplicated on the platform</a:t>
                      </a:r>
                    </a:p>
                  </a:txBody>
                  <a:tcPr marL="45720" marR="109728" marT="27432" marB="27432" anchor="ctr">
                    <a:lnB w="9525" cap="flat" cmpd="sng" algn="ctr">
                      <a:solidFill>
                        <a:srgbClr val="DCE3D6"/>
                      </a:solidFill>
                    </a:lnB>
                    <a:solidFill>
                      <a:srgbClr val="FFFFFF"/>
                    </a:solidFill>
                  </a:tcPr>
                </a:tc>
              </a:tr>
              <a:tr h="452459">
                <a:tc>
                  <a:txBody>
                    <a:bodyPr wrap="square"/>
                    <a:lstStyle/>
                    <a:p>
                      <a:r>
                        <a:rPr sz="800" b="0">
                          <a:solidFill>
                            <a:srgbClr val="26301F"/>
                          </a:solidFill>
                          <a:latin typeface="Segoe UI"/>
                        </a:rPr>
                        <a:t>2</a:t>
                      </a:r>
                    </a:p>
                  </a:txBody>
                  <a:tcPr marL="45720" marR="109728" marT="27432" marB="27432" anchor="ctr">
                    <a:lnB w="9525" cap="flat" cmpd="sng" algn="ctr">
                      <a:solidFill>
                        <a:srgbClr val="DCE3D6"/>
                      </a:solidFill>
                    </a:lnB>
                    <a:solidFill>
                      <a:srgbClr val="FFFFFF"/>
                    </a:solidFill>
                  </a:tcPr>
                </a:tc>
                <a:tc>
                  <a:txBody>
                    <a:bodyPr wrap="square"/>
                    <a:lstStyle/>
                    <a:p>
                      <a:r>
                        <a:rPr sz="800" b="0">
                          <a:solidFill>
                            <a:srgbClr val="26301F"/>
                          </a:solidFill>
                          <a:latin typeface="Segoe UI"/>
                        </a:rPr>
                        <a:t>Position</a:t>
                      </a:r>
                    </a:p>
                  </a:txBody>
                  <a:tcPr marL="45720" marR="109728" marT="27432" marB="27432" anchor="ctr">
                    <a:lnB w="9525" cap="flat" cmpd="sng" algn="ctr">
                      <a:solidFill>
                        <a:srgbClr val="DCE3D6"/>
                      </a:solidFill>
                    </a:lnB>
                    <a:solidFill>
                      <a:srgbClr val="FFFFFF"/>
                    </a:solidFill>
                  </a:tcPr>
                </a:tc>
                <a:tc>
                  <a:txBody>
                    <a:bodyPr wrap="square"/>
                    <a:lstStyle/>
                    <a:p>
                      <a:r>
                        <a:rPr sz="800" b="0">
                          <a:solidFill>
                            <a:srgbClr val="26301F"/>
                          </a:solidFill>
                          <a:latin typeface="Segoe UI"/>
                        </a:rPr>
                        <a:t>Band and tenure decide which positions may be claimed, holding the worst case exposure to a member the platform has never observed down to a small number of contributions</a:t>
                      </a:r>
                    </a:p>
                  </a:txBody>
                  <a:tcPr marL="45720" marR="109728" marT="27432" marB="27432" anchor="ctr">
                    <a:lnB w="9525" cap="flat" cmpd="sng" algn="ctr">
                      <a:solidFill>
                        <a:srgbClr val="DCE3D6"/>
                      </a:solidFill>
                    </a:lnB>
                    <a:solidFill>
                      <a:srgbClr val="FFFFFF"/>
                    </a:solidFill>
                  </a:tcPr>
                </a:tc>
              </a:tr>
              <a:tr h="452459">
                <a:tc>
                  <a:txBody>
                    <a:bodyPr wrap="square"/>
                    <a:lstStyle/>
                    <a:p>
                      <a:r>
                        <a:rPr sz="800" b="0">
                          <a:solidFill>
                            <a:srgbClr val="26301F"/>
                          </a:solidFill>
                          <a:latin typeface="Segoe UI"/>
                        </a:rPr>
                        <a:t>3</a:t>
                      </a:r>
                    </a:p>
                  </a:txBody>
                  <a:tcPr marL="45720" marR="109728" marT="27432" marB="27432" anchor="ctr">
                    <a:lnB w="9525" cap="flat" cmpd="sng" algn="ctr">
                      <a:solidFill>
                        <a:srgbClr val="DCE3D6"/>
                      </a:solidFill>
                    </a:lnB>
                    <a:solidFill>
                      <a:srgbClr val="FFFFFF"/>
                    </a:solidFill>
                  </a:tcPr>
                </a:tc>
                <a:tc>
                  <a:txBody>
                    <a:bodyPr wrap="square"/>
                    <a:lstStyle/>
                    <a:p>
                      <a:r>
                        <a:rPr sz="800" b="0">
                          <a:solidFill>
                            <a:srgbClr val="26301F"/>
                          </a:solidFill>
                          <a:latin typeface="Segoe UI"/>
                        </a:rPr>
                        <a:t>Schedule</a:t>
                      </a:r>
                    </a:p>
                  </a:txBody>
                  <a:tcPr marL="45720" marR="109728" marT="27432" marB="27432" anchor="ctr">
                    <a:lnB w="9525" cap="flat" cmpd="sng" algn="ctr">
                      <a:solidFill>
                        <a:srgbClr val="DCE3D6"/>
                      </a:solidFill>
                    </a:lnB>
                    <a:solidFill>
                      <a:srgbClr val="FFFFFF"/>
                    </a:solidFill>
                  </a:tcPr>
                </a:tc>
                <a:tc>
                  <a:txBody>
                    <a:bodyPr wrap="square"/>
                    <a:lstStyle/>
                    <a:p>
                      <a:r>
                        <a:rPr sz="800" b="0">
                          <a:solidFill>
                            <a:srgbClr val="26301F"/>
                          </a:solidFill>
                          <a:latin typeface="Segoe UI"/>
                        </a:rPr>
                        <a:t>Collection on payday rather than the due date, escalating reminders, a balance check the evening before, and an internal grace window that is never shown to the member</a:t>
                      </a:r>
                    </a:p>
                  </a:txBody>
                  <a:tcPr marL="45720" marR="109728" marT="27432" marB="27432" anchor="ctr">
                    <a:lnB w="9525" cap="flat" cmpd="sng" algn="ctr">
                      <a:solidFill>
                        <a:srgbClr val="DCE3D6"/>
                      </a:solidFill>
                    </a:lnB>
                    <a:solidFill>
                      <a:srgbClr val="FFFFFF"/>
                    </a:solidFill>
                  </a:tcPr>
                </a:tc>
              </a:tr>
              <a:tr h="452459">
                <a:tc>
                  <a:txBody>
                    <a:bodyPr wrap="square"/>
                    <a:lstStyle/>
                    <a:p>
                      <a:r>
                        <a:rPr sz="800" b="0">
                          <a:solidFill>
                            <a:srgbClr val="26301F"/>
                          </a:solidFill>
                          <a:latin typeface="Segoe UI"/>
                        </a:rPr>
                        <a:t>4</a:t>
                      </a:r>
                    </a:p>
                  </a:txBody>
                  <a:tcPr marL="45720" marR="109728" marT="27432" marB="27432" anchor="ctr">
                    <a:lnB w="9525" cap="flat" cmpd="sng" algn="ctr">
                      <a:solidFill>
                        <a:srgbClr val="DCE3D6"/>
                      </a:solidFill>
                    </a:lnB>
                    <a:solidFill>
                      <a:srgbClr val="FFFFFF"/>
                    </a:solidFill>
                  </a:tcPr>
                </a:tc>
                <a:tc>
                  <a:txBody>
                    <a:bodyPr wrap="square"/>
                    <a:lstStyle/>
                    <a:p>
                      <a:r>
                        <a:rPr sz="800" b="0">
                          <a:solidFill>
                            <a:srgbClr val="26301F"/>
                          </a:solidFill>
                          <a:latin typeface="Segoe UI"/>
                        </a:rPr>
                        <a:t>Price</a:t>
                      </a:r>
                    </a:p>
                  </a:txBody>
                  <a:tcPr marL="45720" marR="109728" marT="27432" marB="27432" anchor="ctr">
                    <a:lnB w="9525" cap="flat" cmpd="sng" algn="ctr">
                      <a:solidFill>
                        <a:srgbClr val="DCE3D6"/>
                      </a:solidFill>
                    </a:lnB>
                    <a:solidFill>
                      <a:srgbClr val="FFFFFF"/>
                    </a:solidFill>
                  </a:tcPr>
                </a:tc>
                <a:tc>
                  <a:txBody>
                    <a:bodyPr wrap="square"/>
                    <a:lstStyle/>
                    <a:p>
                      <a:r>
                        <a:rPr sz="800" b="0">
                          <a:solidFill>
                            <a:srgbClr val="26301F"/>
                          </a:solidFill>
                          <a:latin typeface="Segoe UI"/>
                        </a:rPr>
                        <a:t>The late fee ladder, with matched score damage at every step so the money cost and the record cost always move together</a:t>
                      </a:r>
                    </a:p>
                  </a:txBody>
                  <a:tcPr marL="45720" marR="109728" marT="27432" marB="27432" anchor="ctr">
                    <a:lnB w="9525" cap="flat" cmpd="sng" algn="ctr">
                      <a:solidFill>
                        <a:srgbClr val="DCE3D6"/>
                      </a:solidFill>
                    </a:lnB>
                    <a:solidFill>
                      <a:srgbClr val="FFFFFF"/>
                    </a:solidFill>
                  </a:tcPr>
                </a:tc>
              </a:tr>
              <a:tr h="452459">
                <a:tc>
                  <a:txBody>
                    <a:bodyPr wrap="square"/>
                    <a:lstStyle/>
                    <a:p>
                      <a:r>
                        <a:rPr sz="800" b="0">
                          <a:solidFill>
                            <a:srgbClr val="26301F"/>
                          </a:solidFill>
                          <a:latin typeface="Segoe UI"/>
                        </a:rPr>
                        <a:t>5</a:t>
                      </a:r>
                    </a:p>
                  </a:txBody>
                  <a:tcPr marL="45720" marR="109728" marT="27432" marB="27432" anchor="ctr">
                    <a:lnB w="9525" cap="flat" cmpd="sng" algn="ctr">
                      <a:solidFill>
                        <a:srgbClr val="DCE3D6"/>
                      </a:solidFill>
                    </a:lnB>
                    <a:solidFill>
                      <a:srgbClr val="FFFFFF"/>
                    </a:solidFill>
                  </a:tcPr>
                </a:tc>
                <a:tc>
                  <a:txBody>
                    <a:bodyPr wrap="square"/>
                    <a:lstStyle/>
                    <a:p>
                      <a:r>
                        <a:rPr sz="800" b="0">
                          <a:solidFill>
                            <a:srgbClr val="26301F"/>
                          </a:solidFill>
                          <a:latin typeface="Segoe UI"/>
                        </a:rPr>
                        <a:t>Payout controls</a:t>
                      </a:r>
                    </a:p>
                  </a:txBody>
                  <a:tcPr marL="45720" marR="109728" marT="27432" marB="27432" anchor="ctr">
                    <a:lnB w="9525" cap="flat" cmpd="sng" algn="ctr">
                      <a:solidFill>
                        <a:srgbClr val="DCE3D6"/>
                      </a:solidFill>
                    </a:lnB>
                    <a:solidFill>
                      <a:srgbClr val="FFFFFF"/>
                    </a:solidFill>
                  </a:tcPr>
                </a:tc>
                <a:tc>
                  <a:txBody>
                    <a:bodyPr wrap="square"/>
                    <a:lstStyle/>
                    <a:p>
                      <a:r>
                        <a:rPr sz="800" b="0">
                          <a:solidFill>
                            <a:srgbClr val="26301F"/>
                          </a:solidFill>
                          <a:latin typeface="Segoe UI"/>
                        </a:rPr>
                        <a:t>A payout does not release while any contribution in that round is unpaid, a default on a linked account withholds it, and a security shortfall is withheld from the pot up to a ceiling so a member's turn is never emptied</a:t>
                      </a:r>
                    </a:p>
                  </a:txBody>
                  <a:tcPr marL="45720" marR="109728" marT="27432" marB="27432" anchor="ctr">
                    <a:lnB w="9525" cap="flat" cmpd="sng" algn="ctr">
                      <a:solidFill>
                        <a:srgbClr val="DCE3D6"/>
                      </a:solidFill>
                    </a:lnB>
                    <a:solidFill>
                      <a:srgbClr val="FFFFFF"/>
                    </a:solidFill>
                  </a:tcPr>
                </a:tc>
              </a:tr>
              <a:tr h="452459">
                <a:tc>
                  <a:txBody>
                    <a:bodyPr wrap="square"/>
                    <a:lstStyle/>
                    <a:p>
                      <a:r>
                        <a:rPr sz="800" b="0">
                          <a:solidFill>
                            <a:srgbClr val="26301F"/>
                          </a:solidFill>
                          <a:latin typeface="Segoe UI"/>
                        </a:rPr>
                        <a:t>6</a:t>
                      </a:r>
                    </a:p>
                  </a:txBody>
                  <a:tcPr marL="45720" marR="109728" marT="27432" marB="27432" anchor="ctr">
                    <a:lnB w="9525" cap="flat" cmpd="sng" algn="ctr">
                      <a:solidFill>
                        <a:srgbClr val="DCE3D6"/>
                      </a:solidFill>
                    </a:lnB>
                    <a:solidFill>
                      <a:srgbClr val="FFFFFF"/>
                    </a:solidFill>
                  </a:tcPr>
                </a:tc>
                <a:tc>
                  <a:txBody>
                    <a:bodyPr wrap="square"/>
                    <a:lstStyle/>
                    <a:p>
                      <a:r>
                        <a:rPr sz="800" b="0">
                          <a:solidFill>
                            <a:srgbClr val="26301F"/>
                          </a:solidFill>
                          <a:latin typeface="Segoe UI"/>
                        </a:rPr>
                        <a:t>Consequence</a:t>
                      </a:r>
                    </a:p>
                  </a:txBody>
                  <a:tcPr marL="45720" marR="109728" marT="27432" marB="27432" anchor="ctr">
                    <a:lnB w="9525" cap="flat" cmpd="sng" algn="ctr">
                      <a:solidFill>
                        <a:srgbClr val="DCE3D6"/>
                      </a:solidFill>
                    </a:lnB>
                    <a:solidFill>
                      <a:srgbClr val="FFFFFF"/>
                    </a:solidFill>
                  </a:tcPr>
                </a:tc>
                <a:tc>
                  <a:txBody>
                    <a:bodyPr wrap="square"/>
                    <a:lstStyle/>
                    <a:p>
                      <a:r>
                        <a:rPr sz="800" b="0">
                          <a:solidFill>
                            <a:srgbClr val="26301F"/>
                          </a:solidFill>
                          <a:latin typeface="Segoe UI"/>
                        </a:rPr>
                        <a:t>Platform wide feature lock, an internal flag, and a recovery case for the outstanding amount plus penalties plus a rehabilitation fee, linked to identity and timestamped</a:t>
                      </a:r>
                    </a:p>
                  </a:txBody>
                  <a:tcPr marL="45720" marR="109728" marT="27432" marB="27432" anchor="ctr">
                    <a:lnB w="9525" cap="flat" cmpd="sng" algn="ctr">
                      <a:solidFill>
                        <a:srgbClr val="DCE3D6"/>
                      </a:solidFill>
                    </a:lnB>
                    <a:solidFill>
                      <a:srgbClr val="FFFFFF"/>
                    </a:solidFill>
                  </a:tcPr>
                </a:tc>
              </a:tr>
              <a:tr h="452459">
                <a:tc>
                  <a:txBody>
                    <a:bodyPr wrap="square"/>
                    <a:lstStyle/>
                    <a:p>
                      <a:r>
                        <a:rPr sz="800" b="0">
                          <a:solidFill>
                            <a:srgbClr val="26301F"/>
                          </a:solidFill>
                          <a:latin typeface="Segoe UI"/>
                        </a:rPr>
                        <a:t>7</a:t>
                      </a:r>
                    </a:p>
                  </a:txBody>
                  <a:tcPr marL="45720" marR="109728" marT="27432" marB="27432" anchor="ctr">
                    <a:lnB w="9525" cap="flat" cmpd="sng" algn="ctr">
                      <a:solidFill>
                        <a:srgbClr val="DCE3D6"/>
                      </a:solidFill>
                    </a:lnB>
                    <a:solidFill>
                      <a:srgbClr val="FFFFFF"/>
                    </a:solidFill>
                  </a:tcPr>
                </a:tc>
                <a:tc>
                  <a:txBody>
                    <a:bodyPr wrap="square"/>
                    <a:lstStyle/>
                    <a:p>
                      <a:r>
                        <a:rPr sz="800" b="0">
                          <a:solidFill>
                            <a:srgbClr val="26301F"/>
                          </a:solidFill>
                          <a:latin typeface="Segoe UI"/>
                        </a:rPr>
                        <a:t>Contract</a:t>
                      </a:r>
                    </a:p>
                  </a:txBody>
                  <a:tcPr marL="45720" marR="109728" marT="27432" marB="27432" anchor="ctr">
                    <a:lnB w="9525" cap="flat" cmpd="sng" algn="ctr">
                      <a:solidFill>
                        <a:srgbClr val="DCE3D6"/>
                      </a:solidFill>
                    </a:lnB>
                    <a:solidFill>
                      <a:srgbClr val="FFFFFF"/>
                    </a:solidFill>
                  </a:tcPr>
                </a:tc>
                <a:tc>
                  <a:txBody>
                    <a:bodyPr wrap="square"/>
                    <a:lstStyle/>
                    <a:p>
                      <a:r>
                        <a:rPr sz="800" b="0">
                          <a:solidFill>
                            <a:srgbClr val="26301F"/>
                          </a:solidFill>
                          <a:latin typeface="Segoe UI"/>
                        </a:rPr>
                        <a:t>The signed undertaking, renewed weekly on open circles, and the personal guarantee executed automatically at joining, which runs member to member and expressly never to Halqa</a:t>
                      </a:r>
                    </a:p>
                  </a:txBody>
                  <a:tcPr marL="45720" marR="109728" marT="27432" marB="27432" anchor="ctr">
                    <a:lnB w="9525" cap="flat" cmpd="sng" algn="ctr">
                      <a:solidFill>
                        <a:srgbClr val="DCE3D6"/>
                      </a:solidFill>
                    </a:lnB>
                    <a:solidFill>
                      <a:srgbClr val="FFFFFF"/>
                    </a:solidFill>
                  </a:tcPr>
                </a:tc>
              </a:tr>
            </a:tbl>
          </a:graphicData>
        </a:graphic>
      </p:graphicFrame>
      <p:sp>
        <p:nvSpPr>
          <p:cNvPr id="8" name="TextBox 7"/>
          <p:cNvSpPr txBox="1"/>
          <p:nvPr/>
        </p:nvSpPr>
        <p:spPr>
          <a:xfrm>
            <a:off x="777240" y="5768512"/>
            <a:ext cx="10637215" cy="731520"/>
          </a:xfrm>
          <a:prstGeom prst="rect">
            <a:avLst/>
          </a:prstGeom>
          <a:noFill/>
        </p:spPr>
        <p:txBody>
          <a:bodyPr wrap="square" lIns="0" rIns="0" tIns="0" bIns="0">
            <a:spAutoFit/>
          </a:bodyPr>
          <a:lstStyle/>
          <a:p>
            <a:pPr algn="l">
              <a:lnSpc>
                <a:spcPct val="140000"/>
              </a:lnSpc>
            </a:pPr>
            <a:r>
              <a:rPr sz="1200" b="0" i="0">
                <a:solidFill>
                  <a:srgbClr val="6F7B68"/>
                </a:solidFill>
                <a:latin typeface="Segoe UI"/>
              </a:rPr>
              <a:t>Each layer works independently of the others, so no single failure exposes a circle. A member who gets past identity still meets position, and a member who gets past position still meets the payout gate.</a:t>
            </a:r>
          </a:p>
        </p:txBody>
      </p:sp>
    </p:spTree>
  </p:cSld>
  <p:clrMapOvr>
    <a:masterClrMapping/>
  </p:clrMapOvr>
</p:sld>
</file>

<file path=ppt/slides/slide3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777240" y="566928"/>
            <a:ext cx="10637215" cy="219456"/>
          </a:xfrm>
          <a:prstGeom prst="rect">
            <a:avLst/>
          </a:prstGeom>
          <a:noFill/>
        </p:spPr>
        <p:txBody>
          <a:bodyPr wrap="square" lIns="0" rIns="0" tIns="0" bIns="0">
            <a:spAutoFit/>
          </a:bodyPr>
          <a:lstStyle/>
          <a:p>
            <a:pPr algn="l">
              <a:lnSpc>
                <a:spcPct val="125000"/>
              </a:lnSpc>
            </a:pPr>
            <a:r>
              <a:rPr sz="950" b="1" i="0">
                <a:solidFill>
                  <a:srgbClr val="41801A"/>
                </a:solidFill>
                <a:latin typeface="Segoe UI"/>
              </a:rPr>
              <a:t>5  PREVENTING DEFAULT</a:t>
            </a:r>
          </a:p>
        </p:txBody>
      </p:sp>
      <p:sp>
        <p:nvSpPr>
          <p:cNvPr id="3" name="TextBox 2"/>
          <p:cNvSpPr txBox="1"/>
          <p:nvPr/>
        </p:nvSpPr>
        <p:spPr>
          <a:xfrm>
            <a:off x="777240" y="841248"/>
            <a:ext cx="10637215" cy="502920"/>
          </a:xfrm>
          <a:prstGeom prst="rect">
            <a:avLst/>
          </a:prstGeom>
          <a:noFill/>
        </p:spPr>
        <p:txBody>
          <a:bodyPr wrap="square" lIns="0" rIns="0" tIns="0" bIns="0">
            <a:spAutoFit/>
          </a:bodyPr>
          <a:lstStyle/>
          <a:p>
            <a:pPr algn="l">
              <a:lnSpc>
                <a:spcPct val="125000"/>
              </a:lnSpc>
            </a:pPr>
            <a:r>
              <a:rPr sz="2700" b="1" i="0">
                <a:solidFill>
                  <a:srgbClr val="0C1408"/>
                </a:solidFill>
                <a:latin typeface="Segoe UI"/>
              </a:rPr>
              <a:t>How protection differs by product</a:t>
            </a:r>
          </a:p>
        </p:txBody>
      </p:sp>
      <p:sp>
        <p:nvSpPr>
          <p:cNvPr id="4" name="Rectangle 3"/>
          <p:cNvSpPr/>
          <p:nvPr/>
        </p:nvSpPr>
        <p:spPr>
          <a:xfrm>
            <a:off x="777240" y="1417320"/>
            <a:ext cx="1371600" cy="22860"/>
          </a:xfrm>
          <a:prstGeom prst="rect">
            <a:avLst/>
          </a:prstGeom>
          <a:solidFill>
            <a:srgbClr val="6DC72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777240" y="6382512"/>
            <a:ext cx="3657600" cy="228600"/>
          </a:xfrm>
          <a:prstGeom prst="rect">
            <a:avLst/>
          </a:prstGeom>
          <a:noFill/>
        </p:spPr>
        <p:txBody>
          <a:bodyPr wrap="square" lIns="0" rIns="0" tIns="0" bIns="0">
            <a:spAutoFit/>
          </a:bodyPr>
          <a:lstStyle/>
          <a:p>
            <a:pPr algn="l">
              <a:lnSpc>
                <a:spcPct val="125000"/>
              </a:lnSpc>
            </a:pPr>
            <a:r>
              <a:rPr sz="900" b="0" i="0">
                <a:solidFill>
                  <a:srgbClr val="9AA694"/>
                </a:solidFill>
                <a:latin typeface="Segoe UI"/>
              </a:rPr>
              <a:t>Halqa  ·  Confidential</a:t>
            </a:r>
          </a:p>
        </p:txBody>
      </p:sp>
      <p:sp>
        <p:nvSpPr>
          <p:cNvPr id="6" name="TextBox 5"/>
          <p:cNvSpPr txBox="1"/>
          <p:nvPr/>
        </p:nvSpPr>
        <p:spPr>
          <a:xfrm>
            <a:off x="10728655" y="6382512"/>
            <a:ext cx="685800" cy="228600"/>
          </a:xfrm>
          <a:prstGeom prst="rect">
            <a:avLst/>
          </a:prstGeom>
          <a:noFill/>
        </p:spPr>
        <p:txBody>
          <a:bodyPr wrap="square" lIns="0" rIns="0" tIns="0" bIns="0">
            <a:spAutoFit/>
          </a:bodyPr>
          <a:lstStyle/>
          <a:p>
            <a:pPr algn="r">
              <a:lnSpc>
                <a:spcPct val="125000"/>
              </a:lnSpc>
            </a:pPr>
            <a:r>
              <a:rPr sz="900" b="0" i="0">
                <a:solidFill>
                  <a:srgbClr val="6F7B68"/>
                </a:solidFill>
                <a:latin typeface="Segoe UI"/>
              </a:rPr>
              <a:t>37</a:t>
            </a:r>
          </a:p>
        </p:txBody>
      </p:sp>
      <p:pic>
        <p:nvPicPr>
          <p:cNvPr id="7" name="Picture 6" descr="b_protection.png"/>
          <p:cNvPicPr>
            <a:picLocks noChangeAspect="1"/>
          </p:cNvPicPr>
          <p:nvPr/>
        </p:nvPicPr>
        <p:blipFill>
          <a:blip r:embed="rId2"/>
          <a:stretch>
            <a:fillRect/>
          </a:stretch>
        </p:blipFill>
        <p:spPr>
          <a:xfrm>
            <a:off x="777240" y="2057400"/>
            <a:ext cx="5577840" cy="2436706"/>
          </a:xfrm>
          <a:prstGeom prst="rect">
            <a:avLst/>
          </a:prstGeom>
        </p:spPr>
      </p:pic>
      <p:sp>
        <p:nvSpPr>
          <p:cNvPr id="8" name="TextBox 7"/>
          <p:cNvSpPr txBox="1"/>
          <p:nvPr/>
        </p:nvSpPr>
        <p:spPr>
          <a:xfrm>
            <a:off x="777240" y="4434840"/>
            <a:ext cx="5577840" cy="320040"/>
          </a:xfrm>
          <a:prstGeom prst="rect">
            <a:avLst/>
          </a:prstGeom>
          <a:noFill/>
        </p:spPr>
        <p:txBody>
          <a:bodyPr wrap="square" lIns="0" rIns="0" tIns="0" bIns="0">
            <a:spAutoFit/>
          </a:bodyPr>
          <a:lstStyle/>
          <a:p>
            <a:pPr algn="l">
              <a:lnSpc>
                <a:spcPct val="125000"/>
              </a:lnSpc>
            </a:pPr>
            <a:r>
              <a:rPr sz="1000" b="0" i="0">
                <a:solidFill>
                  <a:srgbClr val="9AA694"/>
                </a:solidFill>
                <a:latin typeface="Segoe UI"/>
              </a:rPr>
              <a:t>Controls in force, by product.</a:t>
            </a:r>
          </a:p>
        </p:txBody>
      </p:sp>
      <p:graphicFrame>
        <p:nvGraphicFramePr>
          <p:cNvPr id="9" name="Table 8"/>
          <p:cNvGraphicFramePr>
            <a:graphicFrameLocks noGrp="1"/>
          </p:cNvGraphicFramePr>
          <p:nvPr/>
        </p:nvGraphicFramePr>
        <p:xfrm>
          <a:off x="6812280" y="1965960"/>
          <a:ext cx="4572000" cy="3607555"/>
        </p:xfrm>
        <a:graphic>
          <a:graphicData uri="http://schemas.openxmlformats.org/drawingml/2006/table">
            <a:tbl>
              <a:tblPr>
                <a:tableStyleId>{5C22544A-7EE6-4342-B048-85BDC9FD1C3A}</a:tableStyleId>
              </a:tblPr>
              <a:tblGrid>
                <a:gridCol w="1097280"/>
                <a:gridCol w="3474720"/>
              </a:tblGrid>
              <a:tr h="721511">
                <a:tc>
                  <a:txBody>
                    <a:bodyPr wrap="square"/>
                    <a:lstStyle/>
                    <a:p>
                      <a:r>
                        <a:rPr sz="750" b="1">
                          <a:solidFill>
                            <a:srgbClr val="41801A"/>
                          </a:solidFill>
                          <a:latin typeface="Segoe UI"/>
                        </a:rPr>
                        <a:t/>
                      </a:r>
                    </a:p>
                  </a:txBody>
                  <a:tcPr marL="45720" marR="109728" marT="27432" marB="27432" anchor="ctr">
                    <a:lnB w="9525" cap="flat" cmpd="sng" algn="ctr">
                      <a:solidFill>
                        <a:srgbClr val="41801A"/>
                      </a:solidFill>
                    </a:lnB>
                    <a:solidFill>
                      <a:srgbClr val="FFFFFF"/>
                    </a:solidFill>
                  </a:tcPr>
                </a:tc>
                <a:tc>
                  <a:txBody>
                    <a:bodyPr wrap="square"/>
                    <a:lstStyle/>
                    <a:p>
                      <a:r>
                        <a:rPr sz="750" b="1">
                          <a:solidFill>
                            <a:srgbClr val="41801A"/>
                          </a:solidFill>
                          <a:latin typeface="Segoe UI"/>
                        </a:rPr>
                        <a:t>WHAT IS DIFFERENT</a:t>
                      </a:r>
                    </a:p>
                  </a:txBody>
                  <a:tcPr marL="45720" marR="109728" marT="27432" marB="27432" anchor="ctr">
                    <a:lnB w="9525" cap="flat" cmpd="sng" algn="ctr">
                      <a:solidFill>
                        <a:srgbClr val="41801A"/>
                      </a:solidFill>
                    </a:lnB>
                    <a:solidFill>
                      <a:srgbClr val="FFFFFF"/>
                    </a:solidFill>
                  </a:tcPr>
                </a:tc>
              </a:tr>
              <a:tr h="721511">
                <a:tc>
                  <a:txBody>
                    <a:bodyPr wrap="square"/>
                    <a:lstStyle/>
                    <a:p>
                      <a:r>
                        <a:rPr sz="750" b="0">
                          <a:solidFill>
                            <a:srgbClr val="26301F"/>
                          </a:solidFill>
                          <a:latin typeface="Segoe UI"/>
                        </a:rPr>
                        <a:t>Known</a:t>
                      </a:r>
                    </a:p>
                  </a:txBody>
                  <a:tcPr marL="45720" marR="109728" marT="27432" marB="27432" anchor="ctr">
                    <a:lnB w="9525" cap="flat" cmpd="sng" algn="ctr">
                      <a:solidFill>
                        <a:srgbClr val="DCE3D6"/>
                      </a:solidFill>
                    </a:lnB>
                    <a:solidFill>
                      <a:srgbClr val="FFFFFF"/>
                    </a:solidFill>
                  </a:tcPr>
                </a:tc>
                <a:tc>
                  <a:txBody>
                    <a:bodyPr wrap="square"/>
                    <a:lstStyle/>
                    <a:p>
                      <a:r>
                        <a:rPr sz="750" b="0">
                          <a:solidFill>
                            <a:srgbClr val="26301F"/>
                          </a:solidFill>
                          <a:latin typeface="Segoe UI"/>
                        </a:rPr>
                        <a:t>Lightest. No salary slip and no renewed undertaking. The personal guarantee, the host link confirmed from both ends, and the fact that members know one another carry the weight. The group absorbs a loss</a:t>
                      </a:r>
                    </a:p>
                  </a:txBody>
                  <a:tcPr marL="45720" marR="109728" marT="27432" marB="27432" anchor="ctr">
                    <a:lnB w="9525" cap="flat" cmpd="sng" algn="ctr">
                      <a:solidFill>
                        <a:srgbClr val="DCE3D6"/>
                      </a:solidFill>
                    </a:lnB>
                    <a:solidFill>
                      <a:srgbClr val="FFFFFF"/>
                    </a:solidFill>
                  </a:tcPr>
                </a:tc>
              </a:tr>
              <a:tr h="721511">
                <a:tc>
                  <a:txBody>
                    <a:bodyPr wrap="square"/>
                    <a:lstStyle/>
                    <a:p>
                      <a:r>
                        <a:rPr sz="750" b="0">
                          <a:solidFill>
                            <a:srgbClr val="26301F"/>
                          </a:solidFill>
                          <a:latin typeface="Segoe UI"/>
                        </a:rPr>
                        <a:t>Open</a:t>
                      </a:r>
                    </a:p>
                  </a:txBody>
                  <a:tcPr marL="45720" marR="109728" marT="27432" marB="27432" anchor="ctr">
                    <a:lnB w="9525" cap="flat" cmpd="sng" algn="ctr">
                      <a:solidFill>
                        <a:srgbClr val="DCE3D6"/>
                      </a:solidFill>
                    </a:lnB>
                    <a:solidFill>
                      <a:srgbClr val="FFFFFF"/>
                    </a:solidFill>
                  </a:tcPr>
                </a:tc>
                <a:tc>
                  <a:txBody>
                    <a:bodyPr wrap="square"/>
                    <a:lstStyle/>
                    <a:p>
                      <a:r>
                        <a:rPr sz="750" b="0">
                          <a:solidFill>
                            <a:srgbClr val="26301F"/>
                          </a:solidFill>
                          <a:latin typeface="Segoe UI"/>
                        </a:rPr>
                        <a:t>Heaviest identity and income work, because the members are strangers to each other. Halqa covers a missed contribution from the first round, so the platform carries the loss</a:t>
                      </a:r>
                    </a:p>
                  </a:txBody>
                  <a:tcPr marL="45720" marR="109728" marT="27432" marB="27432" anchor="ctr">
                    <a:lnB w="9525" cap="flat" cmpd="sng" algn="ctr">
                      <a:solidFill>
                        <a:srgbClr val="DCE3D6"/>
                      </a:solidFill>
                    </a:lnB>
                    <a:solidFill>
                      <a:srgbClr val="FFFFFF"/>
                    </a:solidFill>
                  </a:tcPr>
                </a:tc>
              </a:tr>
              <a:tr h="721511">
                <a:tc>
                  <a:txBody>
                    <a:bodyPr wrap="square"/>
                    <a:lstStyle/>
                    <a:p>
                      <a:r>
                        <a:rPr sz="750" b="0">
                          <a:solidFill>
                            <a:srgbClr val="26301F"/>
                          </a:solidFill>
                          <a:latin typeface="Segoe UI"/>
                        </a:rPr>
                        <a:t>Asset</a:t>
                      </a:r>
                    </a:p>
                  </a:txBody>
                  <a:tcPr marL="45720" marR="109728" marT="27432" marB="27432" anchor="ctr">
                    <a:lnB w="9525" cap="flat" cmpd="sng" algn="ctr">
                      <a:solidFill>
                        <a:srgbClr val="DCE3D6"/>
                      </a:solidFill>
                    </a:lnB>
                    <a:solidFill>
                      <a:srgbClr val="FFFFFF"/>
                    </a:solidFill>
                  </a:tcPr>
                </a:tc>
                <a:tc>
                  <a:txBody>
                    <a:bodyPr wrap="square"/>
                    <a:lstStyle/>
                    <a:p>
                      <a:r>
                        <a:rPr sz="750" b="0">
                          <a:solidFill>
                            <a:srgbClr val="26301F"/>
                          </a:solidFill>
                          <a:latin typeface="Segoe UI"/>
                        </a:rPr>
                        <a:t>Everything the open product has, plus legal title held by a trustee. The security is a physical thing that can be sold, which no other product has</a:t>
                      </a:r>
                    </a:p>
                  </a:txBody>
                  <a:tcPr marL="45720" marR="109728" marT="27432" marB="27432" anchor="ctr">
                    <a:lnB w="9525" cap="flat" cmpd="sng" algn="ctr">
                      <a:solidFill>
                        <a:srgbClr val="DCE3D6"/>
                      </a:solidFill>
                    </a:lnB>
                    <a:solidFill>
                      <a:srgbClr val="FFFFFF"/>
                    </a:solidFill>
                  </a:tcPr>
                </a:tc>
              </a:tr>
              <a:tr h="721511">
                <a:tc>
                  <a:txBody>
                    <a:bodyPr wrap="square"/>
                    <a:lstStyle/>
                    <a:p>
                      <a:r>
                        <a:rPr sz="750" b="0">
                          <a:solidFill>
                            <a:srgbClr val="26301F"/>
                          </a:solidFill>
                          <a:latin typeface="Segoe UI"/>
                        </a:rPr>
                        <a:t>Daily</a:t>
                      </a:r>
                    </a:p>
                  </a:txBody>
                  <a:tcPr marL="45720" marR="109728" marT="27432" marB="27432" anchor="ctr">
                    <a:lnB w="9525" cap="flat" cmpd="sng" algn="ctr">
                      <a:solidFill>
                        <a:srgbClr val="DCE3D6"/>
                      </a:solidFill>
                    </a:lnB>
                    <a:solidFill>
                      <a:srgbClr val="FFFFFF"/>
                    </a:solidFill>
                  </a:tcPr>
                </a:tc>
                <a:tc>
                  <a:txBody>
                    <a:bodyPr wrap="square"/>
                    <a:lstStyle/>
                    <a:p>
                      <a:r>
                        <a:rPr sz="750" b="0">
                          <a:solidFill>
                            <a:srgbClr val="26301F"/>
                          </a:solidFill>
                          <a:latin typeface="Segoe UI"/>
                        </a:rPr>
                        <a:t>Different in kind. Two months of daily earnings or a locked vault holding, positions fixed by auction and never traded, and exposure bounded by a small pot rather than a large one</a:t>
                      </a:r>
                    </a:p>
                  </a:txBody>
                  <a:tcPr marL="45720" marR="109728" marT="27432" marB="27432" anchor="ctr">
                    <a:lnB w="9525" cap="flat" cmpd="sng" algn="ctr">
                      <a:solidFill>
                        <a:srgbClr val="DCE3D6"/>
                      </a:solidFill>
                    </a:lnB>
                    <a:solidFill>
                      <a:srgbClr val="FFFFFF"/>
                    </a:solidFill>
                  </a:tcPr>
                </a:tc>
              </a:tr>
            </a:tbl>
          </a:graphicData>
        </a:graphic>
      </p:graphicFrame>
      <p:sp>
        <p:nvSpPr>
          <p:cNvPr id="10" name="TextBox 9"/>
          <p:cNvSpPr txBox="1"/>
          <p:nvPr/>
        </p:nvSpPr>
        <p:spPr>
          <a:xfrm>
            <a:off x="777240" y="4937760"/>
            <a:ext cx="5577840" cy="1280160"/>
          </a:xfrm>
          <a:prstGeom prst="rect">
            <a:avLst/>
          </a:prstGeom>
          <a:noFill/>
        </p:spPr>
        <p:txBody>
          <a:bodyPr wrap="square" lIns="0" rIns="0" tIns="0" bIns="0">
            <a:spAutoFit/>
          </a:bodyPr>
          <a:lstStyle/>
          <a:p>
            <a:pPr algn="l">
              <a:lnSpc>
                <a:spcPct val="150000"/>
              </a:lnSpc>
            </a:pPr>
            <a:r>
              <a:rPr sz="1250" b="0" i="0">
                <a:solidFill>
                  <a:srgbClr val="0C1408"/>
                </a:solidFill>
                <a:latin typeface="Segoe UI"/>
              </a:rPr>
              <a:t>The four products are not four risk levels of the same thing. Each one has a different party standing behind a failure, and that is the first question any banker or regulator should ask about each of them.</a:t>
            </a:r>
          </a:p>
        </p:txBody>
      </p:sp>
    </p:spTree>
  </p:cSld>
  <p:clrMapOvr>
    <a:masterClrMapping/>
  </p:clrMapOvr>
</p:sld>
</file>

<file path=ppt/slides/slide3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777240" y="566928"/>
            <a:ext cx="10637215" cy="219456"/>
          </a:xfrm>
          <a:prstGeom prst="rect">
            <a:avLst/>
          </a:prstGeom>
          <a:noFill/>
        </p:spPr>
        <p:txBody>
          <a:bodyPr wrap="square" lIns="0" rIns="0" tIns="0" bIns="0">
            <a:spAutoFit/>
          </a:bodyPr>
          <a:lstStyle/>
          <a:p>
            <a:pPr algn="l">
              <a:lnSpc>
                <a:spcPct val="125000"/>
              </a:lnSpc>
            </a:pPr>
            <a:r>
              <a:rPr sz="950" b="1" i="0">
                <a:solidFill>
                  <a:srgbClr val="41801A"/>
                </a:solidFill>
                <a:latin typeface="Segoe UI"/>
              </a:rPr>
              <a:t>5  PREVENTING DEFAULT</a:t>
            </a:r>
          </a:p>
        </p:txBody>
      </p:sp>
      <p:sp>
        <p:nvSpPr>
          <p:cNvPr id="3" name="TextBox 2"/>
          <p:cNvSpPr txBox="1"/>
          <p:nvPr/>
        </p:nvSpPr>
        <p:spPr>
          <a:xfrm>
            <a:off x="777240" y="841248"/>
            <a:ext cx="10637215" cy="502920"/>
          </a:xfrm>
          <a:prstGeom prst="rect">
            <a:avLst/>
          </a:prstGeom>
          <a:noFill/>
        </p:spPr>
        <p:txBody>
          <a:bodyPr wrap="square" lIns="0" rIns="0" tIns="0" bIns="0">
            <a:spAutoFit/>
          </a:bodyPr>
          <a:lstStyle/>
          <a:p>
            <a:pPr algn="l">
              <a:lnSpc>
                <a:spcPct val="125000"/>
              </a:lnSpc>
            </a:pPr>
            <a:r>
              <a:rPr sz="2700" b="1" i="0">
                <a:solidFill>
                  <a:srgbClr val="0C1408"/>
                </a:solidFill>
                <a:latin typeface="Segoe UI"/>
              </a:rPr>
              <a:t>Who stands behind a failure</a:t>
            </a:r>
          </a:p>
        </p:txBody>
      </p:sp>
      <p:sp>
        <p:nvSpPr>
          <p:cNvPr id="4" name="Rectangle 3"/>
          <p:cNvSpPr/>
          <p:nvPr/>
        </p:nvSpPr>
        <p:spPr>
          <a:xfrm>
            <a:off x="777240" y="1417320"/>
            <a:ext cx="1371600" cy="22860"/>
          </a:xfrm>
          <a:prstGeom prst="rect">
            <a:avLst/>
          </a:prstGeom>
          <a:solidFill>
            <a:srgbClr val="6DC72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777240" y="6382512"/>
            <a:ext cx="3657600" cy="228600"/>
          </a:xfrm>
          <a:prstGeom prst="rect">
            <a:avLst/>
          </a:prstGeom>
          <a:noFill/>
        </p:spPr>
        <p:txBody>
          <a:bodyPr wrap="square" lIns="0" rIns="0" tIns="0" bIns="0">
            <a:spAutoFit/>
          </a:bodyPr>
          <a:lstStyle/>
          <a:p>
            <a:pPr algn="l">
              <a:lnSpc>
                <a:spcPct val="125000"/>
              </a:lnSpc>
            </a:pPr>
            <a:r>
              <a:rPr sz="900" b="0" i="0">
                <a:solidFill>
                  <a:srgbClr val="9AA694"/>
                </a:solidFill>
                <a:latin typeface="Segoe UI"/>
              </a:rPr>
              <a:t>Halqa  ·  Confidential</a:t>
            </a:r>
          </a:p>
        </p:txBody>
      </p:sp>
      <p:sp>
        <p:nvSpPr>
          <p:cNvPr id="6" name="TextBox 5"/>
          <p:cNvSpPr txBox="1"/>
          <p:nvPr/>
        </p:nvSpPr>
        <p:spPr>
          <a:xfrm>
            <a:off x="10728655" y="6382512"/>
            <a:ext cx="685800" cy="228600"/>
          </a:xfrm>
          <a:prstGeom prst="rect">
            <a:avLst/>
          </a:prstGeom>
          <a:noFill/>
        </p:spPr>
        <p:txBody>
          <a:bodyPr wrap="square" lIns="0" rIns="0" tIns="0" bIns="0">
            <a:spAutoFit/>
          </a:bodyPr>
          <a:lstStyle/>
          <a:p>
            <a:pPr algn="r">
              <a:lnSpc>
                <a:spcPct val="125000"/>
              </a:lnSpc>
            </a:pPr>
            <a:r>
              <a:rPr sz="900" b="0" i="0">
                <a:solidFill>
                  <a:srgbClr val="6F7B68"/>
                </a:solidFill>
                <a:latin typeface="Segoe UI"/>
              </a:rPr>
              <a:t>38</a:t>
            </a:r>
          </a:p>
        </p:txBody>
      </p:sp>
      <p:graphicFrame>
        <p:nvGraphicFramePr>
          <p:cNvPr id="7" name="Table 6"/>
          <p:cNvGraphicFramePr>
            <a:graphicFrameLocks noGrp="1"/>
          </p:cNvGraphicFramePr>
          <p:nvPr/>
        </p:nvGraphicFramePr>
        <p:xfrm>
          <a:off x="777240" y="1965960"/>
          <a:ext cx="10607040" cy="3463236"/>
        </p:xfrm>
        <a:graphic>
          <a:graphicData uri="http://schemas.openxmlformats.org/drawingml/2006/table">
            <a:tbl>
              <a:tblPr>
                <a:tableStyleId>{5C22544A-7EE6-4342-B048-85BDC9FD1C3A}</a:tableStyleId>
              </a:tblPr>
              <a:tblGrid>
                <a:gridCol w="2926080"/>
                <a:gridCol w="1920240"/>
                <a:gridCol w="1920240"/>
                <a:gridCol w="1920240"/>
                <a:gridCol w="1920240"/>
              </a:tblGrid>
              <a:tr h="288603">
                <a:tc>
                  <a:txBody>
                    <a:bodyPr wrap="square"/>
                    <a:lstStyle/>
                    <a:p>
                      <a:r>
                        <a:rPr sz="700" b="1">
                          <a:solidFill>
                            <a:srgbClr val="41801A"/>
                          </a:solidFill>
                          <a:latin typeface="Segoe UI"/>
                        </a:rPr>
                        <a:t/>
                      </a:r>
                    </a:p>
                  </a:txBody>
                  <a:tcPr marL="45720" marR="109728" marT="27432" marB="27432" anchor="ctr">
                    <a:lnB w="9525" cap="flat" cmpd="sng" algn="ctr">
                      <a:solidFill>
                        <a:srgbClr val="41801A"/>
                      </a:solidFill>
                    </a:lnB>
                    <a:solidFill>
                      <a:srgbClr val="FFFFFF"/>
                    </a:solidFill>
                  </a:tcPr>
                </a:tc>
                <a:tc>
                  <a:txBody>
                    <a:bodyPr wrap="square"/>
                    <a:lstStyle/>
                    <a:p>
                      <a:r>
                        <a:rPr sz="700" b="1">
                          <a:solidFill>
                            <a:srgbClr val="41801A"/>
                          </a:solidFill>
                          <a:latin typeface="Segoe UI"/>
                        </a:rPr>
                        <a:t>KNOWN</a:t>
                      </a:r>
                    </a:p>
                  </a:txBody>
                  <a:tcPr marL="45720" marR="109728" marT="27432" marB="27432" anchor="ctr">
                    <a:lnB w="9525" cap="flat" cmpd="sng" algn="ctr">
                      <a:solidFill>
                        <a:srgbClr val="41801A"/>
                      </a:solidFill>
                    </a:lnB>
                    <a:solidFill>
                      <a:srgbClr val="FFFFFF"/>
                    </a:solidFill>
                  </a:tcPr>
                </a:tc>
                <a:tc>
                  <a:txBody>
                    <a:bodyPr wrap="square"/>
                    <a:lstStyle/>
                    <a:p>
                      <a:r>
                        <a:rPr sz="700" b="1">
                          <a:solidFill>
                            <a:srgbClr val="41801A"/>
                          </a:solidFill>
                          <a:latin typeface="Segoe UI"/>
                        </a:rPr>
                        <a:t>OPEN</a:t>
                      </a:r>
                    </a:p>
                  </a:txBody>
                  <a:tcPr marL="45720" marR="109728" marT="27432" marB="27432" anchor="ctr">
                    <a:lnB w="9525" cap="flat" cmpd="sng" algn="ctr">
                      <a:solidFill>
                        <a:srgbClr val="41801A"/>
                      </a:solidFill>
                    </a:lnB>
                    <a:solidFill>
                      <a:srgbClr val="FFFFFF"/>
                    </a:solidFill>
                  </a:tcPr>
                </a:tc>
                <a:tc>
                  <a:txBody>
                    <a:bodyPr wrap="square"/>
                    <a:lstStyle/>
                    <a:p>
                      <a:r>
                        <a:rPr sz="700" b="1">
                          <a:solidFill>
                            <a:srgbClr val="41801A"/>
                          </a:solidFill>
                          <a:latin typeface="Segoe UI"/>
                        </a:rPr>
                        <a:t>ASSET</a:t>
                      </a:r>
                    </a:p>
                  </a:txBody>
                  <a:tcPr marL="45720" marR="109728" marT="27432" marB="27432" anchor="ctr">
                    <a:lnB w="9525" cap="flat" cmpd="sng" algn="ctr">
                      <a:solidFill>
                        <a:srgbClr val="41801A"/>
                      </a:solidFill>
                    </a:lnB>
                    <a:solidFill>
                      <a:srgbClr val="FFFFFF"/>
                    </a:solidFill>
                  </a:tcPr>
                </a:tc>
                <a:tc>
                  <a:txBody>
                    <a:bodyPr wrap="square"/>
                    <a:lstStyle/>
                    <a:p>
                      <a:r>
                        <a:rPr sz="700" b="1">
                          <a:solidFill>
                            <a:srgbClr val="41801A"/>
                          </a:solidFill>
                          <a:latin typeface="Segoe UI"/>
                        </a:rPr>
                        <a:t>DAILY</a:t>
                      </a:r>
                    </a:p>
                  </a:txBody>
                  <a:tcPr marL="45720" marR="109728" marT="27432" marB="27432" anchor="ctr">
                    <a:lnB w="9525" cap="flat" cmpd="sng" algn="ctr">
                      <a:solidFill>
                        <a:srgbClr val="41801A"/>
                      </a:solidFill>
                    </a:lnB>
                    <a:solidFill>
                      <a:srgbClr val="FFFFFF"/>
                    </a:solidFill>
                  </a:tcPr>
                </a:tc>
              </a:tr>
              <a:tr h="288603">
                <a:tc>
                  <a:txBody>
                    <a:bodyPr wrap="square"/>
                    <a:lstStyle/>
                    <a:p>
                      <a:r>
                        <a:rPr sz="700" b="0">
                          <a:solidFill>
                            <a:srgbClr val="26301F"/>
                          </a:solidFill>
                          <a:latin typeface="Segoe UI"/>
                        </a:rPr>
                        <a:t>Who covers a missed contribution</a:t>
                      </a:r>
                    </a:p>
                  </a:txBody>
                  <a:tcPr marL="45720" marR="109728" marT="27432" marB="27432" anchor="ctr">
                    <a:lnB w="9525" cap="flat" cmpd="sng" algn="ctr">
                      <a:solidFill>
                        <a:srgbClr val="DCE3D6"/>
                      </a:solidFill>
                    </a:lnB>
                    <a:solidFill>
                      <a:srgbClr val="FFFFFF"/>
                    </a:solidFill>
                  </a:tcPr>
                </a:tc>
                <a:tc>
                  <a:txBody>
                    <a:bodyPr wrap="square"/>
                    <a:lstStyle/>
                    <a:p>
                      <a:r>
                        <a:rPr sz="700" b="0">
                          <a:solidFill>
                            <a:srgbClr val="26301F"/>
                          </a:solidFill>
                          <a:latin typeface="Segoe UI"/>
                        </a:rPr>
                        <a:t>The other members, under the personal guarantee</a:t>
                      </a:r>
                    </a:p>
                  </a:txBody>
                  <a:tcPr marL="45720" marR="109728" marT="27432" marB="27432" anchor="ctr">
                    <a:lnB w="9525" cap="flat" cmpd="sng" algn="ctr">
                      <a:solidFill>
                        <a:srgbClr val="DCE3D6"/>
                      </a:solidFill>
                    </a:lnB>
                    <a:solidFill>
                      <a:srgbClr val="FFFFFF"/>
                    </a:solidFill>
                  </a:tcPr>
                </a:tc>
                <a:tc>
                  <a:txBody>
                    <a:bodyPr wrap="square"/>
                    <a:lstStyle/>
                    <a:p>
                      <a:r>
                        <a:rPr sz="700" b="0">
                          <a:solidFill>
                            <a:srgbClr val="26301F"/>
                          </a:solidFill>
                          <a:latin typeface="Segoe UI"/>
                        </a:rPr>
                        <a:t>Halqa's cover facility, from the first round</a:t>
                      </a:r>
                    </a:p>
                  </a:txBody>
                  <a:tcPr marL="45720" marR="109728" marT="27432" marB="27432" anchor="ctr">
                    <a:lnB w="9525" cap="flat" cmpd="sng" algn="ctr">
                      <a:solidFill>
                        <a:srgbClr val="DCE3D6"/>
                      </a:solidFill>
                    </a:lnB>
                    <a:solidFill>
                      <a:srgbClr val="FFFFFF"/>
                    </a:solidFill>
                  </a:tcPr>
                </a:tc>
                <a:tc>
                  <a:txBody>
                    <a:bodyPr wrap="square"/>
                    <a:lstStyle/>
                    <a:p>
                      <a:r>
                        <a:rPr sz="700" b="0">
                          <a:solidFill>
                            <a:srgbClr val="26301F"/>
                          </a:solidFill>
                          <a:latin typeface="Segoe UI"/>
                        </a:rPr>
                        <a:t>The trustee sells the item; Halqa covers any residual</a:t>
                      </a:r>
                    </a:p>
                  </a:txBody>
                  <a:tcPr marL="45720" marR="109728" marT="27432" marB="27432" anchor="ctr">
                    <a:lnB w="9525" cap="flat" cmpd="sng" algn="ctr">
                      <a:solidFill>
                        <a:srgbClr val="DCE3D6"/>
                      </a:solidFill>
                    </a:lnB>
                    <a:solidFill>
                      <a:srgbClr val="FFFFFF"/>
                    </a:solidFill>
                  </a:tcPr>
                </a:tc>
                <a:tc>
                  <a:txBody>
                    <a:bodyPr wrap="square"/>
                    <a:lstStyle/>
                    <a:p>
                      <a:r>
                        <a:rPr sz="700" b="0">
                          <a:solidFill>
                            <a:srgbClr val="26301F"/>
                          </a:solidFill>
                          <a:latin typeface="Segoe UI"/>
                        </a:rPr>
                        <a:t>Halqa's cover facility</a:t>
                      </a:r>
                    </a:p>
                  </a:txBody>
                  <a:tcPr marL="45720" marR="109728" marT="27432" marB="27432" anchor="ctr">
                    <a:lnB w="9525" cap="flat" cmpd="sng" algn="ctr">
                      <a:solidFill>
                        <a:srgbClr val="DCE3D6"/>
                      </a:solidFill>
                    </a:lnB>
                    <a:solidFill>
                      <a:srgbClr val="FFFFFF"/>
                    </a:solidFill>
                  </a:tcPr>
                </a:tc>
              </a:tr>
              <a:tr h="288603">
                <a:tc>
                  <a:txBody>
                    <a:bodyPr wrap="square"/>
                    <a:lstStyle/>
                    <a:p>
                      <a:r>
                        <a:rPr sz="700" b="0">
                          <a:solidFill>
                            <a:srgbClr val="26301F"/>
                          </a:solidFill>
                          <a:latin typeface="Segoe UI"/>
                        </a:rPr>
                        <a:t>Is cover compulsory</a:t>
                      </a:r>
                    </a:p>
                  </a:txBody>
                  <a:tcPr marL="45720" marR="109728" marT="27432" marB="27432" anchor="ctr">
                    <a:lnB w="9525" cap="flat" cmpd="sng" algn="ctr">
                      <a:solidFill>
                        <a:srgbClr val="DCE3D6"/>
                      </a:solidFill>
                    </a:lnB>
                    <a:solidFill>
                      <a:srgbClr val="FFFFFF"/>
                    </a:solidFill>
                  </a:tcPr>
                </a:tc>
                <a:tc>
                  <a:txBody>
                    <a:bodyPr wrap="square"/>
                    <a:lstStyle/>
                    <a:p>
                      <a:r>
                        <a:rPr sz="700" b="0">
                          <a:solidFill>
                            <a:srgbClr val="26301F"/>
                          </a:solidFill>
                          <a:latin typeface="Segoe UI"/>
                        </a:rPr>
                        <a:t>No, optional</a:t>
                      </a:r>
                    </a:p>
                  </a:txBody>
                  <a:tcPr marL="45720" marR="109728" marT="27432" marB="27432" anchor="ctr">
                    <a:lnB w="9525" cap="flat" cmpd="sng" algn="ctr">
                      <a:solidFill>
                        <a:srgbClr val="DCE3D6"/>
                      </a:solidFill>
                    </a:lnB>
                    <a:solidFill>
                      <a:srgbClr val="FFFFFF"/>
                    </a:solidFill>
                  </a:tcPr>
                </a:tc>
                <a:tc>
                  <a:txBody>
                    <a:bodyPr wrap="square"/>
                    <a:lstStyle/>
                    <a:p>
                      <a:r>
                        <a:rPr sz="700" b="0">
                          <a:solidFill>
                            <a:srgbClr val="26301F"/>
                          </a:solidFill>
                          <a:latin typeface="Segoe UI"/>
                        </a:rPr>
                        <a:t>Yes</a:t>
                      </a:r>
                    </a:p>
                  </a:txBody>
                  <a:tcPr marL="45720" marR="109728" marT="27432" marB="27432" anchor="ctr">
                    <a:lnB w="9525" cap="flat" cmpd="sng" algn="ctr">
                      <a:solidFill>
                        <a:srgbClr val="DCE3D6"/>
                      </a:solidFill>
                    </a:lnB>
                    <a:solidFill>
                      <a:srgbClr val="FFFFFF"/>
                    </a:solidFill>
                  </a:tcPr>
                </a:tc>
                <a:tc>
                  <a:txBody>
                    <a:bodyPr wrap="square"/>
                    <a:lstStyle/>
                    <a:p>
                      <a:r>
                        <a:rPr sz="700" b="0">
                          <a:solidFill>
                            <a:srgbClr val="26301F"/>
                          </a:solidFill>
                          <a:latin typeface="Segoe UI"/>
                        </a:rPr>
                        <a:t>Yes</a:t>
                      </a:r>
                    </a:p>
                  </a:txBody>
                  <a:tcPr marL="45720" marR="109728" marT="27432" marB="27432" anchor="ctr">
                    <a:lnB w="9525" cap="flat" cmpd="sng" algn="ctr">
                      <a:solidFill>
                        <a:srgbClr val="DCE3D6"/>
                      </a:solidFill>
                    </a:lnB>
                    <a:solidFill>
                      <a:srgbClr val="FFFFFF"/>
                    </a:solidFill>
                  </a:tcPr>
                </a:tc>
                <a:tc>
                  <a:txBody>
                    <a:bodyPr wrap="square"/>
                    <a:lstStyle/>
                    <a:p>
                      <a:r>
                        <a:rPr sz="700" b="0">
                          <a:solidFill>
                            <a:srgbClr val="26301F"/>
                          </a:solidFill>
                          <a:latin typeface="Segoe UI"/>
                        </a:rPr>
                        <a:t>Yes</a:t>
                      </a:r>
                    </a:p>
                  </a:txBody>
                  <a:tcPr marL="45720" marR="109728" marT="27432" marB="27432" anchor="ctr">
                    <a:lnB w="9525" cap="flat" cmpd="sng" algn="ctr">
                      <a:solidFill>
                        <a:srgbClr val="DCE3D6"/>
                      </a:solidFill>
                    </a:lnB>
                    <a:solidFill>
                      <a:srgbClr val="FFFFFF"/>
                    </a:solidFill>
                  </a:tcPr>
                </a:tc>
              </a:tr>
              <a:tr h="288603">
                <a:tc>
                  <a:txBody>
                    <a:bodyPr wrap="square"/>
                    <a:lstStyle/>
                    <a:p>
                      <a:r>
                        <a:rPr sz="700" b="0">
                          <a:solidFill>
                            <a:srgbClr val="26301F"/>
                          </a:solidFill>
                          <a:latin typeface="Segoe UI"/>
                        </a:rPr>
                        <a:t>Facial verification</a:t>
                      </a:r>
                    </a:p>
                  </a:txBody>
                  <a:tcPr marL="45720" marR="109728" marT="27432" marB="27432" anchor="ctr">
                    <a:lnB w="9525" cap="flat" cmpd="sng" algn="ctr">
                      <a:solidFill>
                        <a:srgbClr val="DCE3D6"/>
                      </a:solidFill>
                    </a:lnB>
                    <a:solidFill>
                      <a:srgbClr val="FFFFFF"/>
                    </a:solidFill>
                  </a:tcPr>
                </a:tc>
                <a:tc>
                  <a:txBody>
                    <a:bodyPr wrap="square"/>
                    <a:lstStyle/>
                    <a:p>
                      <a:r>
                        <a:rPr sz="700" b="0">
                          <a:solidFill>
                            <a:srgbClr val="26301F"/>
                          </a:solidFill>
                          <a:latin typeface="Segoe UI"/>
                        </a:rPr>
                        <a:t>At joining</a:t>
                      </a:r>
                    </a:p>
                  </a:txBody>
                  <a:tcPr marL="45720" marR="109728" marT="27432" marB="27432" anchor="ctr">
                    <a:lnB w="9525" cap="flat" cmpd="sng" algn="ctr">
                      <a:solidFill>
                        <a:srgbClr val="DCE3D6"/>
                      </a:solidFill>
                    </a:lnB>
                    <a:solidFill>
                      <a:srgbClr val="FFFFFF"/>
                    </a:solidFill>
                  </a:tcPr>
                </a:tc>
                <a:tc>
                  <a:txBody>
                    <a:bodyPr wrap="square"/>
                    <a:lstStyle/>
                    <a:p>
                      <a:r>
                        <a:rPr sz="700" b="0">
                          <a:solidFill>
                            <a:srgbClr val="26301F"/>
                          </a:solidFill>
                          <a:latin typeface="Segoe UI"/>
                        </a:rPr>
                        <a:t>At joining plus the full trigger list</a:t>
                      </a:r>
                    </a:p>
                  </a:txBody>
                  <a:tcPr marL="45720" marR="109728" marT="27432" marB="27432" anchor="ctr">
                    <a:lnB w="9525" cap="flat" cmpd="sng" algn="ctr">
                      <a:solidFill>
                        <a:srgbClr val="DCE3D6"/>
                      </a:solidFill>
                    </a:lnB>
                    <a:solidFill>
                      <a:srgbClr val="FFFFFF"/>
                    </a:solidFill>
                  </a:tcPr>
                </a:tc>
                <a:tc>
                  <a:txBody>
                    <a:bodyPr wrap="square"/>
                    <a:lstStyle/>
                    <a:p>
                      <a:r>
                        <a:rPr sz="700" b="0">
                          <a:solidFill>
                            <a:srgbClr val="26301F"/>
                          </a:solidFill>
                          <a:latin typeface="Segoe UI"/>
                        </a:rPr>
                        <a:t>At joining plus the full trigger list</a:t>
                      </a:r>
                    </a:p>
                  </a:txBody>
                  <a:tcPr marL="45720" marR="109728" marT="27432" marB="27432" anchor="ctr">
                    <a:lnB w="9525" cap="flat" cmpd="sng" algn="ctr">
                      <a:solidFill>
                        <a:srgbClr val="DCE3D6"/>
                      </a:solidFill>
                    </a:lnB>
                    <a:solidFill>
                      <a:srgbClr val="FFFFFF"/>
                    </a:solidFill>
                  </a:tcPr>
                </a:tc>
                <a:tc>
                  <a:txBody>
                    <a:bodyPr wrap="square"/>
                    <a:lstStyle/>
                    <a:p>
                      <a:r>
                        <a:rPr sz="700" b="0">
                          <a:solidFill>
                            <a:srgbClr val="26301F"/>
                          </a:solidFill>
                          <a:latin typeface="Segoe UI"/>
                        </a:rPr>
                        <a:t>At joining plus the full trigger list</a:t>
                      </a:r>
                    </a:p>
                  </a:txBody>
                  <a:tcPr marL="45720" marR="109728" marT="27432" marB="27432" anchor="ctr">
                    <a:lnB w="9525" cap="flat" cmpd="sng" algn="ctr">
                      <a:solidFill>
                        <a:srgbClr val="DCE3D6"/>
                      </a:solidFill>
                    </a:lnB>
                    <a:solidFill>
                      <a:srgbClr val="FFFFFF"/>
                    </a:solidFill>
                  </a:tcPr>
                </a:tc>
              </a:tr>
              <a:tr h="288603">
                <a:tc>
                  <a:txBody>
                    <a:bodyPr wrap="square"/>
                    <a:lstStyle/>
                    <a:p>
                      <a:r>
                        <a:rPr sz="700" b="0">
                          <a:solidFill>
                            <a:srgbClr val="26301F"/>
                          </a:solidFill>
                          <a:latin typeface="Segoe UI"/>
                        </a:rPr>
                        <a:t>Income evidence</a:t>
                      </a:r>
                    </a:p>
                  </a:txBody>
                  <a:tcPr marL="45720" marR="109728" marT="27432" marB="27432" anchor="ctr">
                    <a:lnB w="9525" cap="flat" cmpd="sng" algn="ctr">
                      <a:solidFill>
                        <a:srgbClr val="DCE3D6"/>
                      </a:solidFill>
                    </a:lnB>
                    <a:solidFill>
                      <a:srgbClr val="FFFFFF"/>
                    </a:solidFill>
                  </a:tcPr>
                </a:tc>
                <a:tc>
                  <a:txBody>
                    <a:bodyPr wrap="square"/>
                    <a:lstStyle/>
                    <a:p>
                      <a:r>
                        <a:rPr sz="700" b="0">
                          <a:solidFill>
                            <a:srgbClr val="26301F"/>
                          </a:solidFill>
                          <a:latin typeface="Segoe UI"/>
                        </a:rPr>
                        <a:t>Not required</a:t>
                      </a:r>
                    </a:p>
                  </a:txBody>
                  <a:tcPr marL="45720" marR="109728" marT="27432" marB="27432" anchor="ctr">
                    <a:lnB w="9525" cap="flat" cmpd="sng" algn="ctr">
                      <a:solidFill>
                        <a:srgbClr val="DCE3D6"/>
                      </a:solidFill>
                    </a:lnB>
                    <a:solidFill>
                      <a:srgbClr val="FFFFFF"/>
                    </a:solidFill>
                  </a:tcPr>
                </a:tc>
                <a:tc>
                  <a:txBody>
                    <a:bodyPr wrap="square"/>
                    <a:lstStyle/>
                    <a:p>
                      <a:r>
                        <a:rPr sz="700" b="0">
                          <a:solidFill>
                            <a:srgbClr val="26301F"/>
                          </a:solidFill>
                          <a:latin typeface="Segoe UI"/>
                        </a:rPr>
                        <a:t>Required for the first half of the order</a:t>
                      </a:r>
                    </a:p>
                  </a:txBody>
                  <a:tcPr marL="45720" marR="109728" marT="27432" marB="27432" anchor="ctr">
                    <a:lnB w="9525" cap="flat" cmpd="sng" algn="ctr">
                      <a:solidFill>
                        <a:srgbClr val="DCE3D6"/>
                      </a:solidFill>
                    </a:lnB>
                    <a:solidFill>
                      <a:srgbClr val="FFFFFF"/>
                    </a:solidFill>
                  </a:tcPr>
                </a:tc>
                <a:tc>
                  <a:txBody>
                    <a:bodyPr wrap="square"/>
                    <a:lstStyle/>
                    <a:p>
                      <a:r>
                        <a:rPr sz="700" b="0">
                          <a:solidFill>
                            <a:srgbClr val="26301F"/>
                          </a:solidFill>
                          <a:latin typeface="Segoe UI"/>
                        </a:rPr>
                        <a:t>Required</a:t>
                      </a:r>
                    </a:p>
                  </a:txBody>
                  <a:tcPr marL="45720" marR="109728" marT="27432" marB="27432" anchor="ctr">
                    <a:lnB w="9525" cap="flat" cmpd="sng" algn="ctr">
                      <a:solidFill>
                        <a:srgbClr val="DCE3D6"/>
                      </a:solidFill>
                    </a:lnB>
                    <a:solidFill>
                      <a:srgbClr val="FFFFFF"/>
                    </a:solidFill>
                  </a:tcPr>
                </a:tc>
                <a:tc>
                  <a:txBody>
                    <a:bodyPr wrap="square"/>
                    <a:lstStyle/>
                    <a:p>
                      <a:r>
                        <a:rPr sz="700" b="0">
                          <a:solidFill>
                            <a:srgbClr val="26301F"/>
                          </a:solidFill>
                          <a:latin typeface="Segoe UI"/>
                        </a:rPr>
                        <a:t>Two months of daily earnings, or a locked vault holding equal to the pot</a:t>
                      </a:r>
                    </a:p>
                  </a:txBody>
                  <a:tcPr marL="45720" marR="109728" marT="27432" marB="27432" anchor="ctr">
                    <a:lnB w="9525" cap="flat" cmpd="sng" algn="ctr">
                      <a:solidFill>
                        <a:srgbClr val="DCE3D6"/>
                      </a:solidFill>
                    </a:lnB>
                    <a:solidFill>
                      <a:srgbClr val="FFFFFF"/>
                    </a:solidFill>
                  </a:tcPr>
                </a:tc>
              </a:tr>
              <a:tr h="288603">
                <a:tc>
                  <a:txBody>
                    <a:bodyPr wrap="square"/>
                    <a:lstStyle/>
                    <a:p>
                      <a:r>
                        <a:rPr sz="700" b="0">
                          <a:solidFill>
                            <a:srgbClr val="26301F"/>
                          </a:solidFill>
                          <a:latin typeface="Segoe UI"/>
                        </a:rPr>
                        <a:t>Signed undertaking</a:t>
                      </a:r>
                    </a:p>
                  </a:txBody>
                  <a:tcPr marL="45720" marR="109728" marT="27432" marB="27432" anchor="ctr">
                    <a:lnB w="9525" cap="flat" cmpd="sng" algn="ctr">
                      <a:solidFill>
                        <a:srgbClr val="DCE3D6"/>
                      </a:solidFill>
                    </a:lnB>
                    <a:solidFill>
                      <a:srgbClr val="FFFFFF"/>
                    </a:solidFill>
                  </a:tcPr>
                </a:tc>
                <a:tc>
                  <a:txBody>
                    <a:bodyPr wrap="square"/>
                    <a:lstStyle/>
                    <a:p>
                      <a:r>
                        <a:rPr sz="700" b="0">
                          <a:solidFill>
                            <a:srgbClr val="26301F"/>
                          </a:solidFill>
                          <a:latin typeface="Segoe UI"/>
                        </a:rPr>
                        <a:t>Once, at formation</a:t>
                      </a:r>
                    </a:p>
                  </a:txBody>
                  <a:tcPr marL="45720" marR="109728" marT="27432" marB="27432" anchor="ctr">
                    <a:lnB w="9525" cap="flat" cmpd="sng" algn="ctr">
                      <a:solidFill>
                        <a:srgbClr val="DCE3D6"/>
                      </a:solidFill>
                    </a:lnB>
                    <a:solidFill>
                      <a:srgbClr val="FFFFFF"/>
                    </a:solidFill>
                  </a:tcPr>
                </a:tc>
                <a:tc>
                  <a:txBody>
                    <a:bodyPr wrap="square"/>
                    <a:lstStyle/>
                    <a:p>
                      <a:r>
                        <a:rPr sz="700" b="0">
                          <a:solidFill>
                            <a:srgbClr val="26301F"/>
                          </a:solidFill>
                          <a:latin typeface="Segoe UI"/>
                        </a:rPr>
                        <a:t>Renewed weekly</a:t>
                      </a:r>
                    </a:p>
                  </a:txBody>
                  <a:tcPr marL="45720" marR="109728" marT="27432" marB="27432" anchor="ctr">
                    <a:lnB w="9525" cap="flat" cmpd="sng" algn="ctr">
                      <a:solidFill>
                        <a:srgbClr val="DCE3D6"/>
                      </a:solidFill>
                    </a:lnB>
                    <a:solidFill>
                      <a:srgbClr val="FFFFFF"/>
                    </a:solidFill>
                  </a:tcPr>
                </a:tc>
                <a:tc>
                  <a:txBody>
                    <a:bodyPr wrap="square"/>
                    <a:lstStyle/>
                    <a:p>
                      <a:r>
                        <a:rPr sz="700" b="0">
                          <a:solidFill>
                            <a:srgbClr val="26301F"/>
                          </a:solidFill>
                          <a:latin typeface="Segoe UI"/>
                        </a:rPr>
                        <a:t>Renewed weekly</a:t>
                      </a:r>
                    </a:p>
                  </a:txBody>
                  <a:tcPr marL="45720" marR="109728" marT="27432" marB="27432" anchor="ctr">
                    <a:lnB w="9525" cap="flat" cmpd="sng" algn="ctr">
                      <a:solidFill>
                        <a:srgbClr val="DCE3D6"/>
                      </a:solidFill>
                    </a:lnB>
                    <a:solidFill>
                      <a:srgbClr val="FFFFFF"/>
                    </a:solidFill>
                  </a:tcPr>
                </a:tc>
                <a:tc>
                  <a:txBody>
                    <a:bodyPr wrap="square"/>
                    <a:lstStyle/>
                    <a:p>
                      <a:r>
                        <a:rPr sz="700" b="0">
                          <a:solidFill>
                            <a:srgbClr val="26301F"/>
                          </a:solidFill>
                          <a:latin typeface="Segoe UI"/>
                        </a:rPr>
                        <a:t>Renewed weekly</a:t>
                      </a:r>
                    </a:p>
                  </a:txBody>
                  <a:tcPr marL="45720" marR="109728" marT="27432" marB="27432" anchor="ctr">
                    <a:lnB w="9525" cap="flat" cmpd="sng" algn="ctr">
                      <a:solidFill>
                        <a:srgbClr val="DCE3D6"/>
                      </a:solidFill>
                    </a:lnB>
                    <a:solidFill>
                      <a:srgbClr val="FFFFFF"/>
                    </a:solidFill>
                  </a:tcPr>
                </a:tc>
              </a:tr>
              <a:tr h="288603">
                <a:tc>
                  <a:txBody>
                    <a:bodyPr wrap="square"/>
                    <a:lstStyle/>
                    <a:p>
                      <a:r>
                        <a:rPr sz="700" b="0">
                          <a:solidFill>
                            <a:srgbClr val="26301F"/>
                          </a:solidFill>
                          <a:latin typeface="Segoe UI"/>
                        </a:rPr>
                        <a:t>Personal guarantee</a:t>
                      </a:r>
                    </a:p>
                  </a:txBody>
                  <a:tcPr marL="45720" marR="109728" marT="27432" marB="27432" anchor="ctr">
                    <a:lnB w="9525" cap="flat" cmpd="sng" algn="ctr">
                      <a:solidFill>
                        <a:srgbClr val="DCE3D6"/>
                      </a:solidFill>
                    </a:lnB>
                    <a:solidFill>
                      <a:srgbClr val="FFFFFF"/>
                    </a:solidFill>
                  </a:tcPr>
                </a:tc>
                <a:tc>
                  <a:txBody>
                    <a:bodyPr wrap="square"/>
                    <a:lstStyle/>
                    <a:p>
                      <a:r>
                        <a:rPr sz="700" b="0">
                          <a:solidFill>
                            <a:srgbClr val="26301F"/>
                          </a:solidFill>
                          <a:latin typeface="Segoe UI"/>
                        </a:rPr>
                        <a:t>Required</a:t>
                      </a:r>
                    </a:p>
                  </a:txBody>
                  <a:tcPr marL="45720" marR="109728" marT="27432" marB="27432" anchor="ctr">
                    <a:lnB w="9525" cap="flat" cmpd="sng" algn="ctr">
                      <a:solidFill>
                        <a:srgbClr val="DCE3D6"/>
                      </a:solidFill>
                    </a:lnB>
                    <a:solidFill>
                      <a:srgbClr val="FFFFFF"/>
                    </a:solidFill>
                  </a:tcPr>
                </a:tc>
                <a:tc>
                  <a:txBody>
                    <a:bodyPr wrap="square"/>
                    <a:lstStyle/>
                    <a:p>
                      <a:r>
                        <a:rPr sz="700" b="0">
                          <a:solidFill>
                            <a:srgbClr val="26301F"/>
                          </a:solidFill>
                          <a:latin typeface="Segoe UI"/>
                        </a:rPr>
                        <a:t>Required</a:t>
                      </a:r>
                    </a:p>
                  </a:txBody>
                  <a:tcPr marL="45720" marR="109728" marT="27432" marB="27432" anchor="ctr">
                    <a:lnB w="9525" cap="flat" cmpd="sng" algn="ctr">
                      <a:solidFill>
                        <a:srgbClr val="DCE3D6"/>
                      </a:solidFill>
                    </a:lnB>
                    <a:solidFill>
                      <a:srgbClr val="FFFFFF"/>
                    </a:solidFill>
                  </a:tcPr>
                </a:tc>
                <a:tc>
                  <a:txBody>
                    <a:bodyPr wrap="square"/>
                    <a:lstStyle/>
                    <a:p>
                      <a:r>
                        <a:rPr sz="700" b="0">
                          <a:solidFill>
                            <a:srgbClr val="26301F"/>
                          </a:solidFill>
                          <a:latin typeface="Segoe UI"/>
                        </a:rPr>
                        <a:t>Required</a:t>
                      </a:r>
                    </a:p>
                  </a:txBody>
                  <a:tcPr marL="45720" marR="109728" marT="27432" marB="27432" anchor="ctr">
                    <a:lnB w="9525" cap="flat" cmpd="sng" algn="ctr">
                      <a:solidFill>
                        <a:srgbClr val="DCE3D6"/>
                      </a:solidFill>
                    </a:lnB>
                    <a:solidFill>
                      <a:srgbClr val="FFFFFF"/>
                    </a:solidFill>
                  </a:tcPr>
                </a:tc>
                <a:tc>
                  <a:txBody>
                    <a:bodyPr wrap="square"/>
                    <a:lstStyle/>
                    <a:p>
                      <a:r>
                        <a:rPr sz="700" b="0">
                          <a:solidFill>
                            <a:srgbClr val="26301F"/>
                          </a:solidFill>
                          <a:latin typeface="Segoe UI"/>
                        </a:rPr>
                        <a:t>Required</a:t>
                      </a:r>
                    </a:p>
                  </a:txBody>
                  <a:tcPr marL="45720" marR="109728" marT="27432" marB="27432" anchor="ctr">
                    <a:lnB w="9525" cap="flat" cmpd="sng" algn="ctr">
                      <a:solidFill>
                        <a:srgbClr val="DCE3D6"/>
                      </a:solidFill>
                    </a:lnB>
                    <a:solidFill>
                      <a:srgbClr val="FFFFFF"/>
                    </a:solidFill>
                  </a:tcPr>
                </a:tc>
              </a:tr>
              <a:tr h="288603">
                <a:tc>
                  <a:txBody>
                    <a:bodyPr wrap="square"/>
                    <a:lstStyle/>
                    <a:p>
                      <a:r>
                        <a:rPr sz="700" b="0">
                          <a:solidFill>
                            <a:srgbClr val="26301F"/>
                          </a:solidFill>
                          <a:latin typeface="Segoe UI"/>
                        </a:rPr>
                        <a:t>Late fee ladder</a:t>
                      </a:r>
                    </a:p>
                  </a:txBody>
                  <a:tcPr marL="45720" marR="109728" marT="27432" marB="27432" anchor="ctr">
                    <a:lnB w="9525" cap="flat" cmpd="sng" algn="ctr">
                      <a:solidFill>
                        <a:srgbClr val="DCE3D6"/>
                      </a:solidFill>
                    </a:lnB>
                    <a:solidFill>
                      <a:srgbClr val="FFFFFF"/>
                    </a:solidFill>
                  </a:tcPr>
                </a:tc>
                <a:tc>
                  <a:txBody>
                    <a:bodyPr wrap="square"/>
                    <a:lstStyle/>
                    <a:p>
                      <a:r>
                        <a:rPr sz="700" b="0">
                          <a:solidFill>
                            <a:srgbClr val="26301F"/>
                          </a:solidFill>
                          <a:latin typeface="Segoe UI"/>
                        </a:rPr>
                        <a:t>Lighter</a:t>
                      </a:r>
                    </a:p>
                  </a:txBody>
                  <a:tcPr marL="45720" marR="109728" marT="27432" marB="27432" anchor="ctr">
                    <a:lnB w="9525" cap="flat" cmpd="sng" algn="ctr">
                      <a:solidFill>
                        <a:srgbClr val="DCE3D6"/>
                      </a:solidFill>
                    </a:lnB>
                    <a:solidFill>
                      <a:srgbClr val="FFFFFF"/>
                    </a:solidFill>
                  </a:tcPr>
                </a:tc>
                <a:tc>
                  <a:txBody>
                    <a:bodyPr wrap="square"/>
                    <a:lstStyle/>
                    <a:p>
                      <a:r>
                        <a:rPr sz="700" b="0">
                          <a:solidFill>
                            <a:srgbClr val="26301F"/>
                          </a:solidFill>
                          <a:latin typeface="Segoe UI"/>
                        </a:rPr>
                        <a:t>Steeper</a:t>
                      </a:r>
                    </a:p>
                  </a:txBody>
                  <a:tcPr marL="45720" marR="109728" marT="27432" marB="27432" anchor="ctr">
                    <a:lnB w="9525" cap="flat" cmpd="sng" algn="ctr">
                      <a:solidFill>
                        <a:srgbClr val="DCE3D6"/>
                      </a:solidFill>
                    </a:lnB>
                    <a:solidFill>
                      <a:srgbClr val="FFFFFF"/>
                    </a:solidFill>
                  </a:tcPr>
                </a:tc>
                <a:tc>
                  <a:txBody>
                    <a:bodyPr wrap="square"/>
                    <a:lstStyle/>
                    <a:p>
                      <a:r>
                        <a:rPr sz="700" b="0">
                          <a:solidFill>
                            <a:srgbClr val="26301F"/>
                          </a:solidFill>
                          <a:latin typeface="Segoe UI"/>
                        </a:rPr>
                        <a:t>Steeper</a:t>
                      </a:r>
                    </a:p>
                  </a:txBody>
                  <a:tcPr marL="45720" marR="109728" marT="27432" marB="27432" anchor="ctr">
                    <a:lnB w="9525" cap="flat" cmpd="sng" algn="ctr">
                      <a:solidFill>
                        <a:srgbClr val="DCE3D6"/>
                      </a:solidFill>
                    </a:lnB>
                    <a:solidFill>
                      <a:srgbClr val="FFFFFF"/>
                    </a:solidFill>
                  </a:tcPr>
                </a:tc>
                <a:tc>
                  <a:txBody>
                    <a:bodyPr wrap="square"/>
                    <a:lstStyle/>
                    <a:p>
                      <a:r>
                        <a:rPr sz="700" b="0">
                          <a:solidFill>
                            <a:srgbClr val="26301F"/>
                          </a:solidFill>
                          <a:latin typeface="Segoe UI"/>
                        </a:rPr>
                        <a:t>Steeper, with a daily cycle</a:t>
                      </a:r>
                    </a:p>
                  </a:txBody>
                  <a:tcPr marL="45720" marR="109728" marT="27432" marB="27432" anchor="ctr">
                    <a:lnB w="9525" cap="flat" cmpd="sng" algn="ctr">
                      <a:solidFill>
                        <a:srgbClr val="DCE3D6"/>
                      </a:solidFill>
                    </a:lnB>
                    <a:solidFill>
                      <a:srgbClr val="FFFFFF"/>
                    </a:solidFill>
                  </a:tcPr>
                </a:tc>
              </a:tr>
              <a:tr h="288603">
                <a:tc>
                  <a:txBody>
                    <a:bodyPr wrap="square"/>
                    <a:lstStyle/>
                    <a:p>
                      <a:r>
                        <a:rPr sz="700" b="0">
                          <a:solidFill>
                            <a:srgbClr val="26301F"/>
                          </a:solidFill>
                          <a:latin typeface="Segoe UI"/>
                        </a:rPr>
                        <a:t>Positions</a:t>
                      </a:r>
                    </a:p>
                  </a:txBody>
                  <a:tcPr marL="45720" marR="109728" marT="27432" marB="27432" anchor="ctr">
                    <a:lnB w="9525" cap="flat" cmpd="sng" algn="ctr">
                      <a:solidFill>
                        <a:srgbClr val="DCE3D6"/>
                      </a:solidFill>
                    </a:lnB>
                    <a:solidFill>
                      <a:srgbClr val="FFFFFF"/>
                    </a:solidFill>
                  </a:tcPr>
                </a:tc>
                <a:tc>
                  <a:txBody>
                    <a:bodyPr wrap="square"/>
                    <a:lstStyle/>
                    <a:p>
                      <a:r>
                        <a:rPr sz="700" b="0">
                          <a:solidFill>
                            <a:srgbClr val="26301F"/>
                          </a:solidFill>
                          <a:latin typeface="Segoe UI"/>
                        </a:rPr>
                        <a:t>Agreed by the group</a:t>
                      </a:r>
                    </a:p>
                  </a:txBody>
                  <a:tcPr marL="45720" marR="109728" marT="27432" marB="27432" anchor="ctr">
                    <a:lnB w="9525" cap="flat" cmpd="sng" algn="ctr">
                      <a:solidFill>
                        <a:srgbClr val="DCE3D6"/>
                      </a:solidFill>
                    </a:lnB>
                    <a:solidFill>
                      <a:srgbClr val="FFFFFF"/>
                    </a:solidFill>
                  </a:tcPr>
                </a:tc>
                <a:tc>
                  <a:txBody>
                    <a:bodyPr wrap="square"/>
                    <a:lstStyle/>
                    <a:p>
                      <a:r>
                        <a:rPr sz="700" b="0">
                          <a:solidFill>
                            <a:srgbClr val="26301F"/>
                          </a:solidFill>
                          <a:latin typeface="Segoe UI"/>
                        </a:rPr>
                        <a:t>Claimed, gated by band</a:t>
                      </a:r>
                    </a:p>
                  </a:txBody>
                  <a:tcPr marL="45720" marR="109728" marT="27432" marB="27432" anchor="ctr">
                    <a:lnB w="9525" cap="flat" cmpd="sng" algn="ctr">
                      <a:solidFill>
                        <a:srgbClr val="DCE3D6"/>
                      </a:solidFill>
                    </a:lnB>
                    <a:solidFill>
                      <a:srgbClr val="FFFFFF"/>
                    </a:solidFill>
                  </a:tcPr>
                </a:tc>
                <a:tc>
                  <a:txBody>
                    <a:bodyPr wrap="square"/>
                    <a:lstStyle/>
                    <a:p>
                      <a:r>
                        <a:rPr sz="700" b="0">
                          <a:solidFill>
                            <a:srgbClr val="26301F"/>
                          </a:solidFill>
                          <a:latin typeface="Segoe UI"/>
                        </a:rPr>
                        <a:t>Claimed, gated by band</a:t>
                      </a:r>
                    </a:p>
                  </a:txBody>
                  <a:tcPr marL="45720" marR="109728" marT="27432" marB="27432" anchor="ctr">
                    <a:lnB w="9525" cap="flat" cmpd="sng" algn="ctr">
                      <a:solidFill>
                        <a:srgbClr val="DCE3D6"/>
                      </a:solidFill>
                    </a:lnB>
                    <a:solidFill>
                      <a:srgbClr val="FFFFFF"/>
                    </a:solidFill>
                  </a:tcPr>
                </a:tc>
                <a:tc>
                  <a:txBody>
                    <a:bodyPr wrap="square"/>
                    <a:lstStyle/>
                    <a:p>
                      <a:r>
                        <a:rPr sz="700" b="0">
                          <a:solidFill>
                            <a:srgbClr val="26301F"/>
                          </a:solidFill>
                          <a:latin typeface="Segoe UI"/>
                        </a:rPr>
                        <a:t>Set once by auction, then fixed and untradeable</a:t>
                      </a:r>
                    </a:p>
                  </a:txBody>
                  <a:tcPr marL="45720" marR="109728" marT="27432" marB="27432" anchor="ctr">
                    <a:lnB w="9525" cap="flat" cmpd="sng" algn="ctr">
                      <a:solidFill>
                        <a:srgbClr val="DCE3D6"/>
                      </a:solidFill>
                    </a:lnB>
                    <a:solidFill>
                      <a:srgbClr val="FFFFFF"/>
                    </a:solidFill>
                  </a:tcPr>
                </a:tc>
              </a:tr>
              <a:tr h="288603">
                <a:tc>
                  <a:txBody>
                    <a:bodyPr wrap="square"/>
                    <a:lstStyle/>
                    <a:p>
                      <a:r>
                        <a:rPr sz="700" b="0">
                          <a:solidFill>
                            <a:srgbClr val="26301F"/>
                          </a:solidFill>
                          <a:latin typeface="Segoe UI"/>
                        </a:rPr>
                        <a:t>Can a position be sold later</a:t>
                      </a:r>
                    </a:p>
                  </a:txBody>
                  <a:tcPr marL="45720" marR="109728" marT="27432" marB="27432" anchor="ctr">
                    <a:lnB w="9525" cap="flat" cmpd="sng" algn="ctr">
                      <a:solidFill>
                        <a:srgbClr val="DCE3D6"/>
                      </a:solidFill>
                    </a:lnB>
                    <a:solidFill>
                      <a:srgbClr val="FFFFFF"/>
                    </a:solidFill>
                  </a:tcPr>
                </a:tc>
                <a:tc>
                  <a:txBody>
                    <a:bodyPr wrap="square"/>
                    <a:lstStyle/>
                    <a:p>
                      <a:r>
                        <a:rPr sz="700" b="0">
                          <a:solidFill>
                            <a:srgbClr val="26301F"/>
                          </a:solidFill>
                          <a:latin typeface="Segoe UI"/>
                        </a:rPr>
                        <a:t>Yes, on the marketplace</a:t>
                      </a:r>
                    </a:p>
                  </a:txBody>
                  <a:tcPr marL="45720" marR="109728" marT="27432" marB="27432" anchor="ctr">
                    <a:lnB w="9525" cap="flat" cmpd="sng" algn="ctr">
                      <a:solidFill>
                        <a:srgbClr val="DCE3D6"/>
                      </a:solidFill>
                    </a:lnB>
                    <a:solidFill>
                      <a:srgbClr val="FFFFFF"/>
                    </a:solidFill>
                  </a:tcPr>
                </a:tc>
                <a:tc>
                  <a:txBody>
                    <a:bodyPr wrap="square"/>
                    <a:lstStyle/>
                    <a:p>
                      <a:r>
                        <a:rPr sz="700" b="0">
                          <a:solidFill>
                            <a:srgbClr val="26301F"/>
                          </a:solidFill>
                          <a:latin typeface="Segoe UI"/>
                        </a:rPr>
                        <a:t>Yes, on the marketplace</a:t>
                      </a:r>
                    </a:p>
                  </a:txBody>
                  <a:tcPr marL="45720" marR="109728" marT="27432" marB="27432" anchor="ctr">
                    <a:lnB w="9525" cap="flat" cmpd="sng" algn="ctr">
                      <a:solidFill>
                        <a:srgbClr val="DCE3D6"/>
                      </a:solidFill>
                    </a:lnB>
                    <a:solidFill>
                      <a:srgbClr val="FFFFFF"/>
                    </a:solidFill>
                  </a:tcPr>
                </a:tc>
                <a:tc>
                  <a:txBody>
                    <a:bodyPr wrap="square"/>
                    <a:lstStyle/>
                    <a:p>
                      <a:r>
                        <a:rPr sz="700" b="0">
                          <a:solidFill>
                            <a:srgbClr val="26301F"/>
                          </a:solidFill>
                          <a:latin typeface="Segoe UI"/>
                        </a:rPr>
                        <a:t>No</a:t>
                      </a:r>
                    </a:p>
                  </a:txBody>
                  <a:tcPr marL="45720" marR="109728" marT="27432" marB="27432" anchor="ctr">
                    <a:lnB w="9525" cap="flat" cmpd="sng" algn="ctr">
                      <a:solidFill>
                        <a:srgbClr val="DCE3D6"/>
                      </a:solidFill>
                    </a:lnB>
                    <a:solidFill>
                      <a:srgbClr val="FFFFFF"/>
                    </a:solidFill>
                  </a:tcPr>
                </a:tc>
                <a:tc>
                  <a:txBody>
                    <a:bodyPr wrap="square"/>
                    <a:lstStyle/>
                    <a:p>
                      <a:r>
                        <a:rPr sz="700" b="0">
                          <a:solidFill>
                            <a:srgbClr val="26301F"/>
                          </a:solidFill>
                          <a:latin typeface="Segoe UI"/>
                        </a:rPr>
                        <a:t>No</a:t>
                      </a:r>
                    </a:p>
                  </a:txBody>
                  <a:tcPr marL="45720" marR="109728" marT="27432" marB="27432" anchor="ctr">
                    <a:lnB w="9525" cap="flat" cmpd="sng" algn="ctr">
                      <a:solidFill>
                        <a:srgbClr val="DCE3D6"/>
                      </a:solidFill>
                    </a:lnB>
                    <a:solidFill>
                      <a:srgbClr val="FFFFFF"/>
                    </a:solidFill>
                  </a:tcPr>
                </a:tc>
              </a:tr>
              <a:tr h="288603">
                <a:tc>
                  <a:txBody>
                    <a:bodyPr wrap="square"/>
                    <a:lstStyle/>
                    <a:p>
                      <a:r>
                        <a:rPr sz="700" b="0">
                          <a:solidFill>
                            <a:srgbClr val="26301F"/>
                          </a:solidFill>
                          <a:latin typeface="Segoe UI"/>
                        </a:rPr>
                        <a:t>Security held</a:t>
                      </a:r>
                    </a:p>
                  </a:txBody>
                  <a:tcPr marL="45720" marR="109728" marT="27432" marB="27432" anchor="ctr">
                    <a:lnB w="9525" cap="flat" cmpd="sng" algn="ctr">
                      <a:solidFill>
                        <a:srgbClr val="DCE3D6"/>
                      </a:solidFill>
                    </a:lnB>
                    <a:solidFill>
                      <a:srgbClr val="FFFFFF"/>
                    </a:solidFill>
                  </a:tcPr>
                </a:tc>
                <a:tc>
                  <a:txBody>
                    <a:bodyPr wrap="square"/>
                    <a:lstStyle/>
                    <a:p>
                      <a:r>
                        <a:rPr sz="700" b="0">
                          <a:solidFill>
                            <a:srgbClr val="26301F"/>
                          </a:solidFill>
                          <a:latin typeface="Segoe UI"/>
                        </a:rPr>
                        <a:t>None</a:t>
                      </a:r>
                    </a:p>
                  </a:txBody>
                  <a:tcPr marL="45720" marR="109728" marT="27432" marB="27432" anchor="ctr">
                    <a:lnB w="9525" cap="flat" cmpd="sng" algn="ctr">
                      <a:solidFill>
                        <a:srgbClr val="DCE3D6"/>
                      </a:solidFill>
                    </a:lnB>
                    <a:solidFill>
                      <a:srgbClr val="FFFFFF"/>
                    </a:solidFill>
                  </a:tcPr>
                </a:tc>
                <a:tc>
                  <a:txBody>
                    <a:bodyPr wrap="square"/>
                    <a:lstStyle/>
                    <a:p>
                      <a:r>
                        <a:rPr sz="700" b="0">
                          <a:solidFill>
                            <a:srgbClr val="26301F"/>
                          </a:solidFill>
                          <a:latin typeface="Segoe UI"/>
                        </a:rPr>
                        <a:t>None</a:t>
                      </a:r>
                    </a:p>
                  </a:txBody>
                  <a:tcPr marL="45720" marR="109728" marT="27432" marB="27432" anchor="ctr">
                    <a:lnB w="9525" cap="flat" cmpd="sng" algn="ctr">
                      <a:solidFill>
                        <a:srgbClr val="DCE3D6"/>
                      </a:solidFill>
                    </a:lnB>
                    <a:solidFill>
                      <a:srgbClr val="FFFFFF"/>
                    </a:solidFill>
                  </a:tcPr>
                </a:tc>
                <a:tc>
                  <a:txBody>
                    <a:bodyPr wrap="square"/>
                    <a:lstStyle/>
                    <a:p>
                      <a:r>
                        <a:rPr sz="700" b="0">
                          <a:solidFill>
                            <a:srgbClr val="26301F"/>
                          </a:solidFill>
                          <a:latin typeface="Segoe UI"/>
                        </a:rPr>
                        <a:t>Legal title to the item</a:t>
                      </a:r>
                    </a:p>
                  </a:txBody>
                  <a:tcPr marL="45720" marR="109728" marT="27432" marB="27432" anchor="ctr">
                    <a:lnB w="9525" cap="flat" cmpd="sng" algn="ctr">
                      <a:solidFill>
                        <a:srgbClr val="DCE3D6"/>
                      </a:solidFill>
                    </a:lnB>
                    <a:solidFill>
                      <a:srgbClr val="FFFFFF"/>
                    </a:solidFill>
                  </a:tcPr>
                </a:tc>
                <a:tc>
                  <a:txBody>
                    <a:bodyPr wrap="square"/>
                    <a:lstStyle/>
                    <a:p>
                      <a:r>
                        <a:rPr sz="700" b="0">
                          <a:solidFill>
                            <a:srgbClr val="26301F"/>
                          </a:solidFill>
                          <a:latin typeface="Segoe UI"/>
                        </a:rPr>
                        <a:t>The vault holding, where one was required</a:t>
                      </a:r>
                    </a:p>
                  </a:txBody>
                  <a:tcPr marL="45720" marR="109728" marT="27432" marB="27432" anchor="ctr">
                    <a:lnB w="9525" cap="flat" cmpd="sng" algn="ctr">
                      <a:solidFill>
                        <a:srgbClr val="DCE3D6"/>
                      </a:solidFill>
                    </a:lnB>
                    <a:solidFill>
                      <a:srgbClr val="FFFFFF"/>
                    </a:solidFill>
                  </a:tcPr>
                </a:tc>
              </a:tr>
              <a:tr h="288603">
                <a:tc>
                  <a:txBody>
                    <a:bodyPr wrap="square"/>
                    <a:lstStyle/>
                    <a:p>
                      <a:r>
                        <a:rPr sz="700" b="0">
                          <a:solidFill>
                            <a:srgbClr val="26301F"/>
                          </a:solidFill>
                          <a:latin typeface="Segoe UI"/>
                        </a:rPr>
                        <a:t>Exit at group approval</a:t>
                      </a:r>
                    </a:p>
                  </a:txBody>
                  <a:tcPr marL="45720" marR="109728" marT="27432" marB="27432" anchor="ctr">
                    <a:lnB w="9525" cap="flat" cmpd="sng" algn="ctr">
                      <a:solidFill>
                        <a:srgbClr val="DCE3D6"/>
                      </a:solidFill>
                    </a:lnB>
                    <a:solidFill>
                      <a:srgbClr val="FFFFFF"/>
                    </a:solidFill>
                  </a:tcPr>
                </a:tc>
                <a:tc>
                  <a:txBody>
                    <a:bodyPr wrap="square"/>
                    <a:lstStyle/>
                    <a:p>
                      <a:r>
                        <a:rPr sz="700" b="0">
                          <a:solidFill>
                            <a:srgbClr val="26301F"/>
                          </a:solidFill>
                          <a:latin typeface="Segoe UI"/>
                        </a:rPr>
                        <a:t>Group vote</a:t>
                      </a:r>
                    </a:p>
                  </a:txBody>
                  <a:tcPr marL="45720" marR="109728" marT="27432" marB="27432" anchor="ctr">
                    <a:lnB w="9525" cap="flat" cmpd="sng" algn="ctr">
                      <a:solidFill>
                        <a:srgbClr val="DCE3D6"/>
                      </a:solidFill>
                    </a:lnB>
                    <a:solidFill>
                      <a:srgbClr val="FFFFFF"/>
                    </a:solidFill>
                  </a:tcPr>
                </a:tc>
                <a:tc>
                  <a:txBody>
                    <a:bodyPr wrap="square"/>
                    <a:lstStyle/>
                    <a:p>
                      <a:r>
                        <a:rPr sz="700" b="0">
                          <a:solidFill>
                            <a:srgbClr val="26301F"/>
                          </a:solidFill>
                          <a:latin typeface="Segoe UI"/>
                        </a:rPr>
                        <a:t>No vote; the cover absorbs it</a:t>
                      </a:r>
                    </a:p>
                  </a:txBody>
                  <a:tcPr marL="45720" marR="109728" marT="27432" marB="27432" anchor="ctr">
                    <a:lnB w="9525" cap="flat" cmpd="sng" algn="ctr">
                      <a:solidFill>
                        <a:srgbClr val="DCE3D6"/>
                      </a:solidFill>
                    </a:lnB>
                    <a:solidFill>
                      <a:srgbClr val="FFFFFF"/>
                    </a:solidFill>
                  </a:tcPr>
                </a:tc>
                <a:tc>
                  <a:txBody>
                    <a:bodyPr wrap="square"/>
                    <a:lstStyle/>
                    <a:p>
                      <a:r>
                        <a:rPr sz="700" b="0">
                          <a:solidFill>
                            <a:srgbClr val="26301F"/>
                          </a:solidFill>
                          <a:latin typeface="Segoe UI"/>
                        </a:rPr>
                        <a:t>No vote; title protects the circle</a:t>
                      </a:r>
                    </a:p>
                  </a:txBody>
                  <a:tcPr marL="45720" marR="109728" marT="27432" marB="27432" anchor="ctr">
                    <a:lnB w="9525" cap="flat" cmpd="sng" algn="ctr">
                      <a:solidFill>
                        <a:srgbClr val="DCE3D6"/>
                      </a:solidFill>
                    </a:lnB>
                    <a:solidFill>
                      <a:srgbClr val="FFFFFF"/>
                    </a:solidFill>
                  </a:tcPr>
                </a:tc>
                <a:tc>
                  <a:txBody>
                    <a:bodyPr wrap="square"/>
                    <a:lstStyle/>
                    <a:p>
                      <a:r>
                        <a:rPr sz="700" b="0">
                          <a:solidFill>
                            <a:srgbClr val="26301F"/>
                          </a:solidFill>
                          <a:latin typeface="Segoe UI"/>
                        </a:rPr>
                        <a:t>No exit within the cycle</a:t>
                      </a:r>
                    </a:p>
                  </a:txBody>
                  <a:tcPr marL="45720" marR="109728" marT="27432" marB="27432" anchor="ctr">
                    <a:lnB w="9525" cap="flat" cmpd="sng" algn="ctr">
                      <a:solidFill>
                        <a:srgbClr val="DCE3D6"/>
                      </a:solidFill>
                    </a:lnB>
                    <a:solidFill>
                      <a:srgbClr val="FFFFFF"/>
                    </a:solidFill>
                  </a:tcPr>
                </a:tc>
              </a:tr>
            </a:tbl>
          </a:graphicData>
        </a:graphic>
      </p:graphicFrame>
    </p:spTree>
  </p:cSld>
  <p:clrMapOvr>
    <a:masterClrMapping/>
  </p:clrMapOvr>
</p:sld>
</file>

<file path=ppt/slides/slide3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777240" y="566928"/>
            <a:ext cx="10637215" cy="219456"/>
          </a:xfrm>
          <a:prstGeom prst="rect">
            <a:avLst/>
          </a:prstGeom>
          <a:noFill/>
        </p:spPr>
        <p:txBody>
          <a:bodyPr wrap="square" lIns="0" rIns="0" tIns="0" bIns="0">
            <a:spAutoFit/>
          </a:bodyPr>
          <a:lstStyle/>
          <a:p>
            <a:pPr algn="l">
              <a:lnSpc>
                <a:spcPct val="125000"/>
              </a:lnSpc>
            </a:pPr>
            <a:r>
              <a:rPr sz="950" b="1" i="0">
                <a:solidFill>
                  <a:srgbClr val="41801A"/>
                </a:solidFill>
                <a:latin typeface="Segoe UI"/>
              </a:rPr>
              <a:t>5  PREVENTING DEFAULT</a:t>
            </a:r>
          </a:p>
        </p:txBody>
      </p:sp>
      <p:sp>
        <p:nvSpPr>
          <p:cNvPr id="3" name="TextBox 2"/>
          <p:cNvSpPr txBox="1"/>
          <p:nvPr/>
        </p:nvSpPr>
        <p:spPr>
          <a:xfrm>
            <a:off x="777240" y="841248"/>
            <a:ext cx="10637215" cy="502920"/>
          </a:xfrm>
          <a:prstGeom prst="rect">
            <a:avLst/>
          </a:prstGeom>
          <a:noFill/>
        </p:spPr>
        <p:txBody>
          <a:bodyPr wrap="square" lIns="0" rIns="0" tIns="0" bIns="0">
            <a:spAutoFit/>
          </a:bodyPr>
          <a:lstStyle/>
          <a:p>
            <a:pPr algn="l">
              <a:lnSpc>
                <a:spcPct val="125000"/>
              </a:lnSpc>
            </a:pPr>
            <a:r>
              <a:rPr sz="2700" b="1" i="0">
                <a:solidFill>
                  <a:srgbClr val="0C1408"/>
                </a:solidFill>
                <a:latin typeface="Segoe UI"/>
              </a:rPr>
              <a:t>The cover facility</a:t>
            </a:r>
          </a:p>
        </p:txBody>
      </p:sp>
      <p:sp>
        <p:nvSpPr>
          <p:cNvPr id="4" name="Rectangle 3"/>
          <p:cNvSpPr/>
          <p:nvPr/>
        </p:nvSpPr>
        <p:spPr>
          <a:xfrm>
            <a:off x="777240" y="1417320"/>
            <a:ext cx="1371600" cy="22860"/>
          </a:xfrm>
          <a:prstGeom prst="rect">
            <a:avLst/>
          </a:prstGeom>
          <a:solidFill>
            <a:srgbClr val="6DC72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777240" y="6382512"/>
            <a:ext cx="3657600" cy="228600"/>
          </a:xfrm>
          <a:prstGeom prst="rect">
            <a:avLst/>
          </a:prstGeom>
          <a:noFill/>
        </p:spPr>
        <p:txBody>
          <a:bodyPr wrap="square" lIns="0" rIns="0" tIns="0" bIns="0">
            <a:spAutoFit/>
          </a:bodyPr>
          <a:lstStyle/>
          <a:p>
            <a:pPr algn="l">
              <a:lnSpc>
                <a:spcPct val="125000"/>
              </a:lnSpc>
            </a:pPr>
            <a:r>
              <a:rPr sz="900" b="0" i="0">
                <a:solidFill>
                  <a:srgbClr val="9AA694"/>
                </a:solidFill>
                <a:latin typeface="Segoe UI"/>
              </a:rPr>
              <a:t>Halqa  ·  Confidential</a:t>
            </a:r>
          </a:p>
        </p:txBody>
      </p:sp>
      <p:sp>
        <p:nvSpPr>
          <p:cNvPr id="6" name="TextBox 5"/>
          <p:cNvSpPr txBox="1"/>
          <p:nvPr/>
        </p:nvSpPr>
        <p:spPr>
          <a:xfrm>
            <a:off x="10728655" y="6382512"/>
            <a:ext cx="685800" cy="228600"/>
          </a:xfrm>
          <a:prstGeom prst="rect">
            <a:avLst/>
          </a:prstGeom>
          <a:noFill/>
        </p:spPr>
        <p:txBody>
          <a:bodyPr wrap="square" lIns="0" rIns="0" tIns="0" bIns="0">
            <a:spAutoFit/>
          </a:bodyPr>
          <a:lstStyle/>
          <a:p>
            <a:pPr algn="r">
              <a:lnSpc>
                <a:spcPct val="125000"/>
              </a:lnSpc>
            </a:pPr>
            <a:r>
              <a:rPr sz="900" b="0" i="0">
                <a:solidFill>
                  <a:srgbClr val="6F7B68"/>
                </a:solidFill>
                <a:latin typeface="Segoe UI"/>
              </a:rPr>
              <a:t>39</a:t>
            </a:r>
          </a:p>
        </p:txBody>
      </p:sp>
      <p:sp>
        <p:nvSpPr>
          <p:cNvPr id="7" name="TextBox 6"/>
          <p:cNvSpPr txBox="1"/>
          <p:nvPr/>
        </p:nvSpPr>
        <p:spPr>
          <a:xfrm>
            <a:off x="777240" y="1965960"/>
            <a:ext cx="10607040" cy="822960"/>
          </a:xfrm>
          <a:prstGeom prst="rect">
            <a:avLst/>
          </a:prstGeom>
          <a:noFill/>
        </p:spPr>
        <p:txBody>
          <a:bodyPr wrap="square" lIns="0" rIns="0" tIns="0" bIns="0">
            <a:spAutoFit/>
          </a:bodyPr>
          <a:lstStyle/>
          <a:p>
            <a:pPr algn="l">
              <a:lnSpc>
                <a:spcPct val="150000"/>
              </a:lnSpc>
            </a:pPr>
            <a:r>
              <a:rPr sz="1350" b="0" i="0">
                <a:solidFill>
                  <a:srgbClr val="26301F"/>
                </a:solidFill>
                <a:latin typeface="Segoe UI"/>
              </a:rPr>
              <a:t>On open, asset and daily circles, Halqa stands behind a missed contribution so the member whose turn it is still gets paid in full and on time. An earlier operator in another market did exactly this without pricing or capping it, and closed after nine years. Four properties stop that happening here.</a:t>
            </a:r>
          </a:p>
        </p:txBody>
      </p:sp>
      <p:graphicFrame>
        <p:nvGraphicFramePr>
          <p:cNvPr id="8" name="Table 7"/>
          <p:cNvGraphicFramePr>
            <a:graphicFrameLocks noGrp="1"/>
          </p:cNvGraphicFramePr>
          <p:nvPr/>
        </p:nvGraphicFramePr>
        <p:xfrm>
          <a:off x="777240" y="3063240"/>
          <a:ext cx="10607040" cy="2506295"/>
        </p:xfrm>
        <a:graphic>
          <a:graphicData uri="http://schemas.openxmlformats.org/drawingml/2006/table">
            <a:tbl>
              <a:tblPr>
                <a:tableStyleId>{5C22544A-7EE6-4342-B048-85BDC9FD1C3A}</a:tableStyleId>
              </a:tblPr>
              <a:tblGrid>
                <a:gridCol w="2468880"/>
                <a:gridCol w="8138160"/>
              </a:tblGrid>
              <a:tr h="501259">
                <a:tc>
                  <a:txBody>
                    <a:bodyPr wrap="square"/>
                    <a:lstStyle/>
                    <a:p>
                      <a:r>
                        <a:rPr sz="850" b="1">
                          <a:solidFill>
                            <a:srgbClr val="41801A"/>
                          </a:solidFill>
                          <a:latin typeface="Segoe UI"/>
                        </a:rPr>
                        <a:t>PROPERTY</a:t>
                      </a:r>
                    </a:p>
                  </a:txBody>
                  <a:tcPr marL="45720" marR="109728" marT="27432" marB="27432" anchor="ctr">
                    <a:lnB w="9525" cap="flat" cmpd="sng" algn="ctr">
                      <a:solidFill>
                        <a:srgbClr val="41801A"/>
                      </a:solidFill>
                    </a:lnB>
                    <a:solidFill>
                      <a:srgbClr val="FFFFFF"/>
                    </a:solidFill>
                  </a:tcPr>
                </a:tc>
                <a:tc>
                  <a:txBody>
                    <a:bodyPr wrap="square"/>
                    <a:lstStyle/>
                    <a:p>
                      <a:r>
                        <a:rPr sz="850" b="1">
                          <a:solidFill>
                            <a:srgbClr val="41801A"/>
                          </a:solidFill>
                          <a:latin typeface="Segoe UI"/>
                        </a:rPr>
                        <a:t>WHAT IT MEANS IN PRACTICE</a:t>
                      </a:r>
                    </a:p>
                  </a:txBody>
                  <a:tcPr marL="45720" marR="109728" marT="27432" marB="27432" anchor="ctr">
                    <a:lnB w="9525" cap="flat" cmpd="sng" algn="ctr">
                      <a:solidFill>
                        <a:srgbClr val="41801A"/>
                      </a:solidFill>
                    </a:lnB>
                    <a:solidFill>
                      <a:srgbClr val="FFFFFF"/>
                    </a:solidFill>
                  </a:tcPr>
                </a:tc>
              </a:tr>
              <a:tr h="501259">
                <a:tc>
                  <a:txBody>
                    <a:bodyPr wrap="square"/>
                    <a:lstStyle/>
                    <a:p>
                      <a:r>
                        <a:rPr sz="850" b="0">
                          <a:solidFill>
                            <a:srgbClr val="26301F"/>
                          </a:solidFill>
                          <a:latin typeface="Segoe UI"/>
                        </a:rPr>
                        <a:t>It is priced</a:t>
                      </a:r>
                    </a:p>
                  </a:txBody>
                  <a:tcPr marL="45720" marR="109728" marT="27432" marB="27432" anchor="ctr">
                    <a:lnB w="9525" cap="flat" cmpd="sng" algn="ctr">
                      <a:solidFill>
                        <a:srgbClr val="DCE3D6"/>
                      </a:solidFill>
                    </a:lnB>
                    <a:solidFill>
                      <a:srgbClr val="FFFFFF"/>
                    </a:solidFill>
                  </a:tcPr>
                </a:tc>
                <a:tc>
                  <a:txBody>
                    <a:bodyPr wrap="square"/>
                    <a:lstStyle/>
                    <a:p>
                      <a:r>
                        <a:rPr sz="850" b="0">
                          <a:solidFill>
                            <a:srgbClr val="26301F"/>
                          </a:solidFill>
                          <a:latin typeface="Segoe UI"/>
                        </a:rPr>
                        <a:t>The fee charged on every contribution is set against the default rate that product is expected to carry, not chosen for marketing reasons. If the rate turns out higher, the price changes rather than the promise</a:t>
                      </a:r>
                    </a:p>
                  </a:txBody>
                  <a:tcPr marL="45720" marR="109728" marT="27432" marB="27432" anchor="ctr">
                    <a:lnB w="9525" cap="flat" cmpd="sng" algn="ctr">
                      <a:solidFill>
                        <a:srgbClr val="DCE3D6"/>
                      </a:solidFill>
                    </a:lnB>
                    <a:solidFill>
                      <a:srgbClr val="FFFFFF"/>
                    </a:solidFill>
                  </a:tcPr>
                </a:tc>
              </a:tr>
              <a:tr h="501259">
                <a:tc>
                  <a:txBody>
                    <a:bodyPr wrap="square"/>
                    <a:lstStyle/>
                    <a:p>
                      <a:r>
                        <a:rPr sz="850" b="0">
                          <a:solidFill>
                            <a:srgbClr val="26301F"/>
                          </a:solidFill>
                          <a:latin typeface="Segoe UI"/>
                        </a:rPr>
                        <a:t>It is capped, at four levels</a:t>
                      </a:r>
                    </a:p>
                  </a:txBody>
                  <a:tcPr marL="45720" marR="109728" marT="27432" marB="27432" anchor="ctr">
                    <a:lnB w="9525" cap="flat" cmpd="sng" algn="ctr">
                      <a:solidFill>
                        <a:srgbClr val="DCE3D6"/>
                      </a:solidFill>
                    </a:lnB>
                    <a:solidFill>
                      <a:srgbClr val="FFFFFF"/>
                    </a:solidFill>
                  </a:tcPr>
                </a:tc>
                <a:tc>
                  <a:txBody>
                    <a:bodyPr wrap="square"/>
                    <a:lstStyle/>
                    <a:p>
                      <a:r>
                        <a:rPr sz="850" b="0">
                          <a:solidFill>
                            <a:srgbClr val="26301F"/>
                          </a:solidFill>
                          <a:latin typeface="Segoe UI"/>
                        </a:rPr>
                        <a:t>Per circle, per host, per member, and in aggregate against the platform's own capital. No single circle, no single organiser and no single bad month can consume the facility</a:t>
                      </a:r>
                    </a:p>
                  </a:txBody>
                  <a:tcPr marL="45720" marR="109728" marT="27432" marB="27432" anchor="ctr">
                    <a:lnB w="9525" cap="flat" cmpd="sng" algn="ctr">
                      <a:solidFill>
                        <a:srgbClr val="DCE3D6"/>
                      </a:solidFill>
                    </a:lnB>
                    <a:solidFill>
                      <a:srgbClr val="FFFFFF"/>
                    </a:solidFill>
                  </a:tcPr>
                </a:tc>
              </a:tr>
              <a:tr h="501259">
                <a:tc>
                  <a:txBody>
                    <a:bodyPr wrap="square"/>
                    <a:lstStyle/>
                    <a:p>
                      <a:r>
                        <a:rPr sz="850" b="0">
                          <a:solidFill>
                            <a:srgbClr val="26301F"/>
                          </a:solidFill>
                          <a:latin typeface="Segoe UI"/>
                        </a:rPr>
                        <a:t>It is an advance, not a payment</a:t>
                      </a:r>
                    </a:p>
                  </a:txBody>
                  <a:tcPr marL="45720" marR="109728" marT="27432" marB="27432" anchor="ctr">
                    <a:lnB w="9525" cap="flat" cmpd="sng" algn="ctr">
                      <a:solidFill>
                        <a:srgbClr val="DCE3D6"/>
                      </a:solidFill>
                    </a:lnB>
                    <a:solidFill>
                      <a:srgbClr val="FFFFFF"/>
                    </a:solidFill>
                  </a:tcPr>
                </a:tc>
                <a:tc>
                  <a:txBody>
                    <a:bodyPr wrap="square"/>
                    <a:lstStyle/>
                    <a:p>
                      <a:r>
                        <a:rPr sz="850" b="0">
                          <a:solidFill>
                            <a:srgbClr val="26301F"/>
                          </a:solidFill>
                          <a:latin typeface="Segoe UI"/>
                        </a:rPr>
                        <a:t>Halqa steps into the circle's claim against the member who failed. The obligation does not disappear, it changes hands, and it is pursued</a:t>
                      </a:r>
                    </a:p>
                  </a:txBody>
                  <a:tcPr marL="45720" marR="109728" marT="27432" marB="27432" anchor="ctr">
                    <a:lnB w="9525" cap="flat" cmpd="sng" algn="ctr">
                      <a:solidFill>
                        <a:srgbClr val="DCE3D6"/>
                      </a:solidFill>
                    </a:lnB>
                    <a:solidFill>
                      <a:srgbClr val="FFFFFF"/>
                    </a:solidFill>
                  </a:tcPr>
                </a:tc>
              </a:tr>
              <a:tr h="501259">
                <a:tc>
                  <a:txBody>
                    <a:bodyPr wrap="square"/>
                    <a:lstStyle/>
                    <a:p>
                      <a:r>
                        <a:rPr sz="850" b="0">
                          <a:solidFill>
                            <a:srgbClr val="26301F"/>
                          </a:solidFill>
                          <a:latin typeface="Segoe UI"/>
                        </a:rPr>
                        <a:t>It is reinsured above the cap</a:t>
                      </a:r>
                    </a:p>
                  </a:txBody>
                  <a:tcPr marL="45720" marR="109728" marT="27432" marB="27432" anchor="ctr">
                    <a:lnB w="9525" cap="flat" cmpd="sng" algn="ctr">
                      <a:solidFill>
                        <a:srgbClr val="DCE3D6"/>
                      </a:solidFill>
                    </a:lnB>
                    <a:solidFill>
                      <a:srgbClr val="FFFFFF"/>
                    </a:solidFill>
                  </a:tcPr>
                </a:tc>
                <a:tc>
                  <a:txBody>
                    <a:bodyPr wrap="square"/>
                    <a:lstStyle/>
                    <a:p>
                      <a:r>
                        <a:rPr sz="850" b="0">
                          <a:solidFill>
                            <a:srgbClr val="26301F"/>
                          </a:solidFill>
                          <a:latin typeface="Segoe UI"/>
                        </a:rPr>
                        <a:t>Above the aggregate ceiling the exposure passes to a takaful operator, so a genuinely abnormal year does not fall on the company</a:t>
                      </a:r>
                    </a:p>
                  </a:txBody>
                  <a:tcPr marL="45720" marR="109728" marT="27432" marB="27432" anchor="ctr">
                    <a:lnB w="9525" cap="flat" cmpd="sng" algn="ctr">
                      <a:solidFill>
                        <a:srgbClr val="DCE3D6"/>
                      </a:solidFill>
                    </a:lnB>
                    <a:solidFill>
                      <a:srgbClr val="FFFFFF"/>
                    </a:solidFill>
                  </a:tcPr>
                </a:tc>
              </a:tr>
            </a:tbl>
          </a:graphicData>
        </a:graphic>
      </p:graphicFrame>
      <p:sp>
        <p:nvSpPr>
          <p:cNvPr id="9" name="TextBox 8"/>
          <p:cNvSpPr txBox="1"/>
          <p:nvPr/>
        </p:nvSpPr>
        <p:spPr>
          <a:xfrm>
            <a:off x="777240" y="5752415"/>
            <a:ext cx="10637215" cy="731520"/>
          </a:xfrm>
          <a:prstGeom prst="rect">
            <a:avLst/>
          </a:prstGeom>
          <a:noFill/>
        </p:spPr>
        <p:txBody>
          <a:bodyPr wrap="square" lIns="0" rIns="0" tIns="0" bIns="0">
            <a:spAutoFit/>
          </a:bodyPr>
          <a:lstStyle/>
          <a:p>
            <a:pPr algn="l">
              <a:lnSpc>
                <a:spcPct val="140000"/>
              </a:lnSpc>
            </a:pPr>
            <a:r>
              <a:rPr sz="1200" b="1" i="0">
                <a:solidFill>
                  <a:srgbClr val="0C1408"/>
                </a:solidFill>
                <a:latin typeface="Segoe UI"/>
              </a:rPr>
              <a:t>Every price in the business depends on one number that has not yet been measured, which is the rate at which members actually default. The first hundred completed circles establish it and reprice the schedule. Saying that plainly is a stronger position than presenting the figures as settled, because it says the pricing is a model with a named input rather than a guess.</a:t>
            </a:r>
          </a:p>
        </p:txBody>
      </p:sp>
    </p:spTree>
  </p:cSld>
  <p:clrMapOvr>
    <a:masterClrMapping/>
  </p:clrMapOvr>
</p:sld>
</file>

<file path=ppt/slides/slide4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777240" y="566928"/>
            <a:ext cx="10637215" cy="219456"/>
          </a:xfrm>
          <a:prstGeom prst="rect">
            <a:avLst/>
          </a:prstGeom>
          <a:noFill/>
        </p:spPr>
        <p:txBody>
          <a:bodyPr wrap="square" lIns="0" rIns="0" tIns="0" bIns="0">
            <a:spAutoFit/>
          </a:bodyPr>
          <a:lstStyle/>
          <a:p>
            <a:pPr algn="l">
              <a:lnSpc>
                <a:spcPct val="125000"/>
              </a:lnSpc>
            </a:pPr>
            <a:r>
              <a:rPr sz="950" b="1" i="0">
                <a:solidFill>
                  <a:srgbClr val="41801A"/>
                </a:solidFill>
                <a:latin typeface="Segoe UI"/>
              </a:rPr>
              <a:t>6  WHEN PREVENTION FAILS</a:t>
            </a:r>
          </a:p>
        </p:txBody>
      </p:sp>
      <p:sp>
        <p:nvSpPr>
          <p:cNvPr id="3" name="TextBox 2"/>
          <p:cNvSpPr txBox="1"/>
          <p:nvPr/>
        </p:nvSpPr>
        <p:spPr>
          <a:xfrm>
            <a:off x="777240" y="841248"/>
            <a:ext cx="10637215" cy="502920"/>
          </a:xfrm>
          <a:prstGeom prst="rect">
            <a:avLst/>
          </a:prstGeom>
          <a:noFill/>
        </p:spPr>
        <p:txBody>
          <a:bodyPr wrap="square" lIns="0" rIns="0" tIns="0" bIns="0">
            <a:spAutoFit/>
          </a:bodyPr>
          <a:lstStyle/>
          <a:p>
            <a:pPr algn="l">
              <a:lnSpc>
                <a:spcPct val="125000"/>
              </a:lnSpc>
            </a:pPr>
            <a:r>
              <a:rPr sz="2700" b="1" i="0">
                <a:solidFill>
                  <a:srgbClr val="0C1408"/>
                </a:solidFill>
                <a:latin typeface="Segoe UI"/>
              </a:rPr>
              <a:t>What we can and cannot do</a:t>
            </a:r>
          </a:p>
        </p:txBody>
      </p:sp>
      <p:sp>
        <p:nvSpPr>
          <p:cNvPr id="4" name="Rectangle 3"/>
          <p:cNvSpPr/>
          <p:nvPr/>
        </p:nvSpPr>
        <p:spPr>
          <a:xfrm>
            <a:off x="777240" y="1417320"/>
            <a:ext cx="1371600" cy="22860"/>
          </a:xfrm>
          <a:prstGeom prst="rect">
            <a:avLst/>
          </a:prstGeom>
          <a:solidFill>
            <a:srgbClr val="6DC72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777240" y="6382512"/>
            <a:ext cx="3657600" cy="228600"/>
          </a:xfrm>
          <a:prstGeom prst="rect">
            <a:avLst/>
          </a:prstGeom>
          <a:noFill/>
        </p:spPr>
        <p:txBody>
          <a:bodyPr wrap="square" lIns="0" rIns="0" tIns="0" bIns="0">
            <a:spAutoFit/>
          </a:bodyPr>
          <a:lstStyle/>
          <a:p>
            <a:pPr algn="l">
              <a:lnSpc>
                <a:spcPct val="125000"/>
              </a:lnSpc>
            </a:pPr>
            <a:r>
              <a:rPr sz="900" b="0" i="0">
                <a:solidFill>
                  <a:srgbClr val="9AA694"/>
                </a:solidFill>
                <a:latin typeface="Segoe UI"/>
              </a:rPr>
              <a:t>Halqa  ·  Confidential</a:t>
            </a:r>
          </a:p>
        </p:txBody>
      </p:sp>
      <p:sp>
        <p:nvSpPr>
          <p:cNvPr id="6" name="TextBox 5"/>
          <p:cNvSpPr txBox="1"/>
          <p:nvPr/>
        </p:nvSpPr>
        <p:spPr>
          <a:xfrm>
            <a:off x="10728655" y="6382512"/>
            <a:ext cx="685800" cy="228600"/>
          </a:xfrm>
          <a:prstGeom prst="rect">
            <a:avLst/>
          </a:prstGeom>
          <a:noFill/>
        </p:spPr>
        <p:txBody>
          <a:bodyPr wrap="square" lIns="0" rIns="0" tIns="0" bIns="0">
            <a:spAutoFit/>
          </a:bodyPr>
          <a:lstStyle/>
          <a:p>
            <a:pPr algn="r">
              <a:lnSpc>
                <a:spcPct val="125000"/>
              </a:lnSpc>
            </a:pPr>
            <a:r>
              <a:rPr sz="900" b="0" i="0">
                <a:solidFill>
                  <a:srgbClr val="6F7B68"/>
                </a:solidFill>
                <a:latin typeface="Segoe UI"/>
              </a:rPr>
              <a:t>40</a:t>
            </a:r>
          </a:p>
        </p:txBody>
      </p:sp>
      <p:graphicFrame>
        <p:nvGraphicFramePr>
          <p:cNvPr id="7" name="Table 6"/>
          <p:cNvGraphicFramePr>
            <a:graphicFrameLocks noGrp="1"/>
          </p:cNvGraphicFramePr>
          <p:nvPr/>
        </p:nvGraphicFramePr>
        <p:xfrm>
          <a:off x="777240" y="1965960"/>
          <a:ext cx="10607040" cy="3664094"/>
        </p:xfrm>
        <a:graphic>
          <a:graphicData uri="http://schemas.openxmlformats.org/drawingml/2006/table">
            <a:tbl>
              <a:tblPr>
                <a:tableStyleId>{5C22544A-7EE6-4342-B048-85BDC9FD1C3A}</a:tableStyleId>
              </a:tblPr>
              <a:tblGrid>
                <a:gridCol w="5120640"/>
                <a:gridCol w="5486400"/>
              </a:tblGrid>
              <a:tr h="523442">
                <a:tc>
                  <a:txBody>
                    <a:bodyPr wrap="square"/>
                    <a:lstStyle/>
                    <a:p>
                      <a:r>
                        <a:rPr sz="700" b="1">
                          <a:solidFill>
                            <a:srgbClr val="41801A"/>
                          </a:solidFill>
                          <a:latin typeface="Segoe UI"/>
                        </a:rPr>
                        <a:t>WE CAN</a:t>
                      </a:r>
                    </a:p>
                  </a:txBody>
                  <a:tcPr marL="45720" marR="109728" marT="27432" marB="27432" anchor="ctr">
                    <a:lnB w="9525" cap="flat" cmpd="sng" algn="ctr">
                      <a:solidFill>
                        <a:srgbClr val="41801A"/>
                      </a:solidFill>
                    </a:lnB>
                    <a:solidFill>
                      <a:srgbClr val="FFFFFF"/>
                    </a:solidFill>
                  </a:tcPr>
                </a:tc>
                <a:tc>
                  <a:txBody>
                    <a:bodyPr wrap="square"/>
                    <a:lstStyle/>
                    <a:p>
                      <a:r>
                        <a:rPr sz="700" b="1">
                          <a:solidFill>
                            <a:srgbClr val="41801A"/>
                          </a:solidFill>
                          <a:latin typeface="Segoe UI"/>
                        </a:rPr>
                        <a:t>WE CANNOT</a:t>
                      </a:r>
                    </a:p>
                  </a:txBody>
                  <a:tcPr marL="45720" marR="109728" marT="27432" marB="27432" anchor="ctr">
                    <a:lnB w="9525" cap="flat" cmpd="sng" algn="ctr">
                      <a:solidFill>
                        <a:srgbClr val="41801A"/>
                      </a:solidFill>
                    </a:lnB>
                    <a:solidFill>
                      <a:srgbClr val="FFFFFF"/>
                    </a:solidFill>
                  </a:tcPr>
                </a:tc>
              </a:tr>
              <a:tr h="523442">
                <a:tc>
                  <a:txBody>
                    <a:bodyPr wrap="square"/>
                    <a:lstStyle/>
                    <a:p>
                      <a:r>
                        <a:rPr sz="700" b="0">
                          <a:solidFill>
                            <a:srgbClr val="26301F"/>
                          </a:solidFill>
                          <a:latin typeface="Segoe UI"/>
                        </a:rPr>
                        <a:t>Withhold platform access and lock every feature</a:t>
                      </a:r>
                    </a:p>
                  </a:txBody>
                  <a:tcPr marL="45720" marR="109728" marT="27432" marB="27432" anchor="ctr">
                    <a:lnB w="9525" cap="flat" cmpd="sng" algn="ctr">
                      <a:solidFill>
                        <a:srgbClr val="DCE3D6"/>
                      </a:solidFill>
                    </a:lnB>
                    <a:solidFill>
                      <a:srgbClr val="FFFFFF"/>
                    </a:solidFill>
                  </a:tcPr>
                </a:tc>
                <a:tc>
                  <a:txBody>
                    <a:bodyPr wrap="square"/>
                    <a:lstStyle/>
                    <a:p>
                      <a:r>
                        <a:rPr sz="700" b="0">
                          <a:solidFill>
                            <a:srgbClr val="26301F"/>
                          </a:solidFill>
                          <a:latin typeface="Segoe UI"/>
                        </a:rPr>
                        <a:t>Have anybody arrested. Failing to pay a personal guarantee is a civil matter in Pakistan and carries no imprisonment</a:t>
                      </a:r>
                    </a:p>
                  </a:txBody>
                  <a:tcPr marL="45720" marR="109728" marT="27432" marB="27432" anchor="ctr">
                    <a:lnB w="9525" cap="flat" cmpd="sng" algn="ctr">
                      <a:solidFill>
                        <a:srgbClr val="DCE3D6"/>
                      </a:solidFill>
                    </a:lnB>
                    <a:solidFill>
                      <a:srgbClr val="FFFFFF"/>
                    </a:solidFill>
                  </a:tcPr>
                </a:tc>
              </a:tr>
              <a:tr h="523442">
                <a:tc>
                  <a:txBody>
                    <a:bodyPr wrap="square"/>
                    <a:lstStyle/>
                    <a:p>
                      <a:r>
                        <a:rPr sz="700" b="0">
                          <a:solidFill>
                            <a:srgbClr val="26301F"/>
                          </a:solidFill>
                          <a:latin typeface="Segoe UI"/>
                        </a:rPr>
                        <a:t>Record a default against a government identity and furnish it to the bureau, so it follows the person to every other lender</a:t>
                      </a:r>
                    </a:p>
                  </a:txBody>
                  <a:tcPr marL="45720" marR="109728" marT="27432" marB="27432" anchor="ctr">
                    <a:lnB w="9525" cap="flat" cmpd="sng" algn="ctr">
                      <a:solidFill>
                        <a:srgbClr val="DCE3D6"/>
                      </a:solidFill>
                    </a:lnB>
                    <a:solidFill>
                      <a:srgbClr val="FFFFFF"/>
                    </a:solidFill>
                  </a:tcPr>
                </a:tc>
                <a:tc>
                  <a:txBody>
                    <a:bodyPr wrap="square"/>
                    <a:lstStyle/>
                    <a:p>
                      <a:r>
                        <a:rPr sz="700" b="0">
                          <a:solidFill>
                            <a:srgbClr val="26301F"/>
                          </a:solidFill>
                          <a:latin typeface="Segoe UI"/>
                        </a:rPr>
                        <a:t>Publish a defaulter's home address, photograph or contact list. This is the practice behind the removal of roughly four hundred lending applications, and it is refused even where a member has consented</a:t>
                      </a:r>
                    </a:p>
                  </a:txBody>
                  <a:tcPr marL="45720" marR="109728" marT="27432" marB="27432" anchor="ctr">
                    <a:lnB w="9525" cap="flat" cmpd="sng" algn="ctr">
                      <a:solidFill>
                        <a:srgbClr val="DCE3D6"/>
                      </a:solidFill>
                    </a:lnB>
                    <a:solidFill>
                      <a:srgbClr val="FFFFFF"/>
                    </a:solidFill>
                  </a:tcPr>
                </a:tc>
              </a:tr>
              <a:tr h="523442">
                <a:tc>
                  <a:txBody>
                    <a:bodyPr wrap="square"/>
                    <a:lstStyle/>
                    <a:p>
                      <a:r>
                        <a:rPr sz="700" b="0">
                          <a:solidFill>
                            <a:srgbClr val="26301F"/>
                          </a:solidFill>
                          <a:latin typeface="Segoe UI"/>
                        </a:rPr>
                        <a:t>Withhold a payout in a linked circle, up to a ceiling, so a member's turn is reduced but never emptied</a:t>
                      </a:r>
                    </a:p>
                  </a:txBody>
                  <a:tcPr marL="45720" marR="109728" marT="27432" marB="27432" anchor="ctr">
                    <a:lnB w="9525" cap="flat" cmpd="sng" algn="ctr">
                      <a:solidFill>
                        <a:srgbClr val="DCE3D6"/>
                      </a:solidFill>
                    </a:lnB>
                    <a:solidFill>
                      <a:srgbClr val="FFFFFF"/>
                    </a:solidFill>
                  </a:tcPr>
                </a:tc>
                <a:tc>
                  <a:txBody>
                    <a:bodyPr wrap="square"/>
                    <a:lstStyle/>
                    <a:p>
                      <a:r>
                        <a:rPr sz="700" b="0">
                          <a:solidFill>
                            <a:srgbClr val="26301F"/>
                          </a:solidFill>
                          <a:latin typeface="Segoe UI"/>
                        </a:rPr>
                        <a:t>Take money from an account we do not have a signed instruction for</a:t>
                      </a:r>
                    </a:p>
                  </a:txBody>
                  <a:tcPr marL="45720" marR="109728" marT="27432" marB="27432" anchor="ctr">
                    <a:lnB w="9525" cap="flat" cmpd="sng" algn="ctr">
                      <a:solidFill>
                        <a:srgbClr val="DCE3D6"/>
                      </a:solidFill>
                    </a:lnB>
                    <a:solidFill>
                      <a:srgbClr val="FFFFFF"/>
                    </a:solidFill>
                  </a:tcPr>
                </a:tc>
              </a:tr>
              <a:tr h="523442">
                <a:tc>
                  <a:txBody>
                    <a:bodyPr wrap="square"/>
                    <a:lstStyle/>
                    <a:p>
                      <a:r>
                        <a:rPr sz="700" b="0">
                          <a:solidFill>
                            <a:srgbClr val="26301F"/>
                          </a:solidFill>
                          <a:latin typeface="Segoe UI"/>
                        </a:rPr>
                        <a:t>Instruct a trustee to redeem a pledged holding, under a mandate the member signed before the circle started</a:t>
                      </a:r>
                    </a:p>
                  </a:txBody>
                  <a:tcPr marL="45720" marR="109728" marT="27432" marB="27432" anchor="ctr">
                    <a:lnB w="9525" cap="flat" cmpd="sng" algn="ctr">
                      <a:solidFill>
                        <a:srgbClr val="DCE3D6"/>
                      </a:solidFill>
                    </a:lnB>
                    <a:solidFill>
                      <a:srgbClr val="FFFFFF"/>
                    </a:solidFill>
                  </a:tcPr>
                </a:tc>
                <a:tc>
                  <a:txBody>
                    <a:bodyPr wrap="square"/>
                    <a:lstStyle/>
                    <a:p>
                      <a:r>
                        <a:rPr sz="700" b="0">
                          <a:solidFill>
                            <a:srgbClr val="26301F"/>
                          </a:solidFill>
                          <a:latin typeface="Segoe UI"/>
                        </a:rPr>
                        <a:t>Seize anything ourselves. Halqa instructs a trustee under a pre signed mandate, or hands an evidence pack to a counterparty or a court</a:t>
                      </a:r>
                    </a:p>
                  </a:txBody>
                  <a:tcPr marL="45720" marR="109728" marT="27432" marB="27432" anchor="ctr">
                    <a:lnB w="9525" cap="flat" cmpd="sng" algn="ctr">
                      <a:solidFill>
                        <a:srgbClr val="DCE3D6"/>
                      </a:solidFill>
                    </a:lnB>
                    <a:solidFill>
                      <a:srgbClr val="FFFFFF"/>
                    </a:solidFill>
                  </a:tcPr>
                </a:tc>
              </a:tr>
              <a:tr h="523442">
                <a:tc>
                  <a:txBody>
                    <a:bodyPr wrap="square"/>
                    <a:lstStyle/>
                    <a:p>
                      <a:r>
                        <a:rPr sz="700" b="0">
                          <a:solidFill>
                            <a:srgbClr val="26301F"/>
                          </a:solidFill>
                          <a:latin typeface="Segoe UI"/>
                        </a:rPr>
                        <a:t>Assemble a complete evidence pack and pursue a summary suit</a:t>
                      </a:r>
                    </a:p>
                  </a:txBody>
                  <a:tcPr marL="45720" marR="109728" marT="27432" marB="27432" anchor="ctr">
                    <a:lnB w="9525" cap="flat" cmpd="sng" algn="ctr">
                      <a:solidFill>
                        <a:srgbClr val="DCE3D6"/>
                      </a:solidFill>
                    </a:lnB>
                    <a:solidFill>
                      <a:srgbClr val="FFFFFF"/>
                    </a:solidFill>
                  </a:tcPr>
                </a:tc>
                <a:tc>
                  <a:txBody>
                    <a:bodyPr wrap="square"/>
                    <a:lstStyle/>
                    <a:p>
                      <a:r>
                        <a:rPr sz="700" b="0">
                          <a:solidFill>
                            <a:srgbClr val="26301F"/>
                          </a:solidFill>
                          <a:latin typeface="Segoe UI"/>
                        </a:rPr>
                        <a:t>Promise speed. A court decree takes months, and no material we produce says otherwise</a:t>
                      </a:r>
                    </a:p>
                  </a:txBody>
                  <a:tcPr marL="45720" marR="109728" marT="27432" marB="27432" anchor="ctr">
                    <a:lnB w="9525" cap="flat" cmpd="sng" algn="ctr">
                      <a:solidFill>
                        <a:srgbClr val="DCE3D6"/>
                      </a:solidFill>
                    </a:lnB>
                    <a:solidFill>
                      <a:srgbClr val="FFFFFF"/>
                    </a:solidFill>
                  </a:tcPr>
                </a:tc>
              </a:tr>
              <a:tr h="523442">
                <a:tc>
                  <a:txBody>
                    <a:bodyPr wrap="square"/>
                    <a:lstStyle/>
                    <a:p>
                      <a:r>
                        <a:rPr sz="700" b="0">
                          <a:solidFill>
                            <a:srgbClr val="26301F"/>
                          </a:solidFill>
                          <a:latin typeface="Segoe UI"/>
                        </a:rPr>
                        <a:t>Enforce against a physical item in an asset circle, through the party holding title</a:t>
                      </a:r>
                    </a:p>
                  </a:txBody>
                  <a:tcPr marL="45720" marR="109728" marT="27432" marB="27432" anchor="ctr">
                    <a:lnB w="9525" cap="flat" cmpd="sng" algn="ctr">
                      <a:solidFill>
                        <a:srgbClr val="DCE3D6"/>
                      </a:solidFill>
                    </a:lnB>
                    <a:solidFill>
                      <a:srgbClr val="FFFFFF"/>
                    </a:solidFill>
                  </a:tcPr>
                </a:tc>
                <a:tc>
                  <a:txBody>
                    <a:bodyPr wrap="square"/>
                    <a:lstStyle/>
                    <a:p>
                      <a:r>
                        <a:rPr sz="700" b="0">
                          <a:solidFill>
                            <a:srgbClr val="26301F"/>
                          </a:solidFill>
                          <a:latin typeface="Segoe UI"/>
                        </a:rPr>
                        <a:t>Contact an employer, a family member or a neighbour</a:t>
                      </a:r>
                    </a:p>
                  </a:txBody>
                  <a:tcPr marL="45720" marR="109728" marT="27432" marB="27432" anchor="ctr">
                    <a:lnB w="9525" cap="flat" cmpd="sng" algn="ctr">
                      <a:solidFill>
                        <a:srgbClr val="DCE3D6"/>
                      </a:solidFill>
                    </a:lnB>
                    <a:solidFill>
                      <a:srgbClr val="FFFFFF"/>
                    </a:solidFill>
                  </a:tcPr>
                </a:tc>
              </a:tr>
            </a:tbl>
          </a:graphicData>
        </a:graphic>
      </p:graphicFrame>
      <p:sp>
        <p:nvSpPr>
          <p:cNvPr id="8" name="TextBox 7"/>
          <p:cNvSpPr txBox="1"/>
          <p:nvPr/>
        </p:nvSpPr>
        <p:spPr>
          <a:xfrm>
            <a:off x="777240" y="5812934"/>
            <a:ext cx="10637215" cy="731520"/>
          </a:xfrm>
          <a:prstGeom prst="rect">
            <a:avLst/>
          </a:prstGeom>
          <a:noFill/>
        </p:spPr>
        <p:txBody>
          <a:bodyPr wrap="square" lIns="0" rIns="0" tIns="0" bIns="0">
            <a:spAutoFit/>
          </a:bodyPr>
          <a:lstStyle/>
          <a:p>
            <a:pPr algn="l">
              <a:lnSpc>
                <a:spcPct val="140000"/>
              </a:lnSpc>
            </a:pPr>
            <a:r>
              <a:rPr sz="1200" b="1" i="0">
                <a:solidFill>
                  <a:srgbClr val="0C1408"/>
                </a:solidFill>
                <a:latin typeface="Segoe UI"/>
              </a:rPr>
              <a:t>The right hand column is not a list of limitations to apologise for. It is the list of things that get lending applications banned, and staying off it is why this one will still be in the store in three years.</a:t>
            </a:r>
          </a:p>
        </p:txBody>
      </p:sp>
    </p:spTree>
  </p:cSld>
  <p:clrMapOvr>
    <a:masterClrMapping/>
  </p:clrMapOvr>
</p:sld>
</file>

<file path=ppt/slides/slide4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777240" y="566928"/>
            <a:ext cx="10637215" cy="219456"/>
          </a:xfrm>
          <a:prstGeom prst="rect">
            <a:avLst/>
          </a:prstGeom>
          <a:noFill/>
        </p:spPr>
        <p:txBody>
          <a:bodyPr wrap="square" lIns="0" rIns="0" tIns="0" bIns="0">
            <a:spAutoFit/>
          </a:bodyPr>
          <a:lstStyle/>
          <a:p>
            <a:pPr algn="l">
              <a:lnSpc>
                <a:spcPct val="125000"/>
              </a:lnSpc>
            </a:pPr>
            <a:r>
              <a:rPr sz="950" b="1" i="0">
                <a:solidFill>
                  <a:srgbClr val="41801A"/>
                </a:solidFill>
                <a:latin typeface="Segoe UI"/>
              </a:rPr>
              <a:t>6  WHEN PREVENTION FAILS</a:t>
            </a:r>
          </a:p>
        </p:txBody>
      </p:sp>
      <p:sp>
        <p:nvSpPr>
          <p:cNvPr id="3" name="TextBox 2"/>
          <p:cNvSpPr txBox="1"/>
          <p:nvPr/>
        </p:nvSpPr>
        <p:spPr>
          <a:xfrm>
            <a:off x="777240" y="841248"/>
            <a:ext cx="10637215" cy="502920"/>
          </a:xfrm>
          <a:prstGeom prst="rect">
            <a:avLst/>
          </a:prstGeom>
          <a:noFill/>
        </p:spPr>
        <p:txBody>
          <a:bodyPr wrap="square" lIns="0" rIns="0" tIns="0" bIns="0">
            <a:spAutoFit/>
          </a:bodyPr>
          <a:lstStyle/>
          <a:p>
            <a:pPr algn="l">
              <a:lnSpc>
                <a:spcPct val="125000"/>
              </a:lnSpc>
            </a:pPr>
            <a:r>
              <a:rPr sz="2700" b="1" i="0">
                <a:solidFill>
                  <a:srgbClr val="0C1408"/>
                </a:solidFill>
                <a:latin typeface="Segoe UI"/>
              </a:rPr>
              <a:t>The instruments, and the order they are used</a:t>
            </a:r>
          </a:p>
        </p:txBody>
      </p:sp>
      <p:sp>
        <p:nvSpPr>
          <p:cNvPr id="4" name="Rectangle 3"/>
          <p:cNvSpPr/>
          <p:nvPr/>
        </p:nvSpPr>
        <p:spPr>
          <a:xfrm>
            <a:off x="777240" y="1417320"/>
            <a:ext cx="1371600" cy="22860"/>
          </a:xfrm>
          <a:prstGeom prst="rect">
            <a:avLst/>
          </a:prstGeom>
          <a:solidFill>
            <a:srgbClr val="6DC72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777240" y="6382512"/>
            <a:ext cx="3657600" cy="228600"/>
          </a:xfrm>
          <a:prstGeom prst="rect">
            <a:avLst/>
          </a:prstGeom>
          <a:noFill/>
        </p:spPr>
        <p:txBody>
          <a:bodyPr wrap="square" lIns="0" rIns="0" tIns="0" bIns="0">
            <a:spAutoFit/>
          </a:bodyPr>
          <a:lstStyle/>
          <a:p>
            <a:pPr algn="l">
              <a:lnSpc>
                <a:spcPct val="125000"/>
              </a:lnSpc>
            </a:pPr>
            <a:r>
              <a:rPr sz="900" b="0" i="0">
                <a:solidFill>
                  <a:srgbClr val="9AA694"/>
                </a:solidFill>
                <a:latin typeface="Segoe UI"/>
              </a:rPr>
              <a:t>Halqa  ·  Confidential</a:t>
            </a:r>
          </a:p>
        </p:txBody>
      </p:sp>
      <p:sp>
        <p:nvSpPr>
          <p:cNvPr id="6" name="TextBox 5"/>
          <p:cNvSpPr txBox="1"/>
          <p:nvPr/>
        </p:nvSpPr>
        <p:spPr>
          <a:xfrm>
            <a:off x="10728655" y="6382512"/>
            <a:ext cx="685800" cy="228600"/>
          </a:xfrm>
          <a:prstGeom prst="rect">
            <a:avLst/>
          </a:prstGeom>
          <a:noFill/>
        </p:spPr>
        <p:txBody>
          <a:bodyPr wrap="square" lIns="0" rIns="0" tIns="0" bIns="0">
            <a:spAutoFit/>
          </a:bodyPr>
          <a:lstStyle/>
          <a:p>
            <a:pPr algn="r">
              <a:lnSpc>
                <a:spcPct val="125000"/>
              </a:lnSpc>
            </a:pPr>
            <a:r>
              <a:rPr sz="900" b="0" i="0">
                <a:solidFill>
                  <a:srgbClr val="6F7B68"/>
                </a:solidFill>
                <a:latin typeface="Segoe UI"/>
              </a:rPr>
              <a:t>41</a:t>
            </a:r>
          </a:p>
        </p:txBody>
      </p:sp>
      <p:graphicFrame>
        <p:nvGraphicFramePr>
          <p:cNvPr id="7" name="Table 6"/>
          <p:cNvGraphicFramePr>
            <a:graphicFrameLocks noGrp="1"/>
          </p:cNvGraphicFramePr>
          <p:nvPr/>
        </p:nvGraphicFramePr>
        <p:xfrm>
          <a:off x="777240" y="1965960"/>
          <a:ext cx="6309360" cy="3598133"/>
        </p:xfrm>
        <a:graphic>
          <a:graphicData uri="http://schemas.openxmlformats.org/drawingml/2006/table">
            <a:tbl>
              <a:tblPr>
                <a:tableStyleId>{5C22544A-7EE6-4342-B048-85BDC9FD1C3A}</a:tableStyleId>
              </a:tblPr>
              <a:tblGrid>
                <a:gridCol w="365760"/>
                <a:gridCol w="1920240"/>
                <a:gridCol w="4023360"/>
              </a:tblGrid>
              <a:tr h="514019">
                <a:tc>
                  <a:txBody>
                    <a:bodyPr wrap="square"/>
                    <a:lstStyle/>
                    <a:p>
                      <a:r>
                        <a:rPr sz="700" b="1">
                          <a:solidFill>
                            <a:srgbClr val="41801A"/>
                          </a:solidFill>
                          <a:latin typeface="Segoe UI"/>
                        </a:rPr>
                        <a:t/>
                      </a:r>
                    </a:p>
                  </a:txBody>
                  <a:tcPr marL="45720" marR="109728" marT="27432" marB="27432" anchor="ctr">
                    <a:lnB w="9525" cap="flat" cmpd="sng" algn="ctr">
                      <a:solidFill>
                        <a:srgbClr val="41801A"/>
                      </a:solidFill>
                    </a:lnB>
                    <a:solidFill>
                      <a:srgbClr val="FFFFFF"/>
                    </a:solidFill>
                  </a:tcPr>
                </a:tc>
                <a:tc>
                  <a:txBody>
                    <a:bodyPr wrap="square"/>
                    <a:lstStyle/>
                    <a:p>
                      <a:r>
                        <a:rPr sz="700" b="1">
                          <a:solidFill>
                            <a:srgbClr val="41801A"/>
                          </a:solidFill>
                          <a:latin typeface="Segoe UI"/>
                        </a:rPr>
                        <a:t>STEP</a:t>
                      </a:r>
                    </a:p>
                  </a:txBody>
                  <a:tcPr marL="45720" marR="109728" marT="27432" marB="27432" anchor="ctr">
                    <a:lnB w="9525" cap="flat" cmpd="sng" algn="ctr">
                      <a:solidFill>
                        <a:srgbClr val="41801A"/>
                      </a:solidFill>
                    </a:lnB>
                    <a:solidFill>
                      <a:srgbClr val="FFFFFF"/>
                    </a:solidFill>
                  </a:tcPr>
                </a:tc>
                <a:tc>
                  <a:txBody>
                    <a:bodyPr wrap="square"/>
                    <a:lstStyle/>
                    <a:p>
                      <a:r>
                        <a:rPr sz="700" b="1">
                          <a:solidFill>
                            <a:srgbClr val="41801A"/>
                          </a:solidFill>
                          <a:latin typeface="Segoe UI"/>
                        </a:rPr>
                        <a:t>WHAT IT IS</a:t>
                      </a:r>
                    </a:p>
                  </a:txBody>
                  <a:tcPr marL="45720" marR="109728" marT="27432" marB="27432" anchor="ctr">
                    <a:lnB w="9525" cap="flat" cmpd="sng" algn="ctr">
                      <a:solidFill>
                        <a:srgbClr val="41801A"/>
                      </a:solidFill>
                    </a:lnB>
                    <a:solidFill>
                      <a:srgbClr val="FFFFFF"/>
                    </a:solidFill>
                  </a:tcPr>
                </a:tc>
              </a:tr>
              <a:tr h="514019">
                <a:tc>
                  <a:txBody>
                    <a:bodyPr wrap="square"/>
                    <a:lstStyle/>
                    <a:p>
                      <a:r>
                        <a:rPr sz="700" b="0">
                          <a:solidFill>
                            <a:srgbClr val="26301F"/>
                          </a:solidFill>
                          <a:latin typeface="Segoe UI"/>
                        </a:rPr>
                        <a:t>1</a:t>
                      </a:r>
                    </a:p>
                  </a:txBody>
                  <a:tcPr marL="45720" marR="109728" marT="27432" marB="27432" anchor="ctr">
                    <a:lnB w="9525" cap="flat" cmpd="sng" algn="ctr">
                      <a:solidFill>
                        <a:srgbClr val="DCE3D6"/>
                      </a:solidFill>
                    </a:lnB>
                    <a:solidFill>
                      <a:srgbClr val="FFFFFF"/>
                    </a:solidFill>
                  </a:tcPr>
                </a:tc>
                <a:tc>
                  <a:txBody>
                    <a:bodyPr wrap="square"/>
                    <a:lstStyle/>
                    <a:p>
                      <a:r>
                        <a:rPr sz="700" b="0">
                          <a:solidFill>
                            <a:srgbClr val="26301F"/>
                          </a:solidFill>
                          <a:latin typeface="Segoe UI"/>
                        </a:rPr>
                        <a:t>Pledged savings</a:t>
                      </a:r>
                    </a:p>
                  </a:txBody>
                  <a:tcPr marL="45720" marR="109728" marT="27432" marB="27432" anchor="ctr">
                    <a:lnB w="9525" cap="flat" cmpd="sng" algn="ctr">
                      <a:solidFill>
                        <a:srgbClr val="DCE3D6"/>
                      </a:solidFill>
                    </a:lnB>
                    <a:solidFill>
                      <a:srgbClr val="FFFFFF"/>
                    </a:solidFill>
                  </a:tcPr>
                </a:tc>
                <a:tc>
                  <a:txBody>
                    <a:bodyPr wrap="square"/>
                    <a:lstStyle/>
                    <a:p>
                      <a:r>
                        <a:rPr sz="700" b="0">
                          <a:solidFill>
                            <a:srgbClr val="26301F"/>
                          </a:solidFill>
                          <a:latin typeface="Segoe UI"/>
                        </a:rPr>
                        <a:t>Redeemed by the trustee under the instruction signed at the moment of pledging, paid directly to the round's recipient. Halqa never receives the money</a:t>
                      </a:r>
                    </a:p>
                  </a:txBody>
                  <a:tcPr marL="45720" marR="109728" marT="27432" marB="27432" anchor="ctr">
                    <a:lnB w="9525" cap="flat" cmpd="sng" algn="ctr">
                      <a:solidFill>
                        <a:srgbClr val="DCE3D6"/>
                      </a:solidFill>
                    </a:lnB>
                    <a:solidFill>
                      <a:srgbClr val="FFFFFF"/>
                    </a:solidFill>
                  </a:tcPr>
                </a:tc>
              </a:tr>
              <a:tr h="514019">
                <a:tc>
                  <a:txBody>
                    <a:bodyPr wrap="square"/>
                    <a:lstStyle/>
                    <a:p>
                      <a:r>
                        <a:rPr sz="700" b="0">
                          <a:solidFill>
                            <a:srgbClr val="26301F"/>
                          </a:solidFill>
                          <a:latin typeface="Segoe UI"/>
                        </a:rPr>
                        <a:t>2</a:t>
                      </a:r>
                    </a:p>
                  </a:txBody>
                  <a:tcPr marL="45720" marR="109728" marT="27432" marB="27432" anchor="ctr">
                    <a:lnB w="9525" cap="flat" cmpd="sng" algn="ctr">
                      <a:solidFill>
                        <a:srgbClr val="DCE3D6"/>
                      </a:solidFill>
                    </a:lnB>
                    <a:solidFill>
                      <a:srgbClr val="FFFFFF"/>
                    </a:solidFill>
                  </a:tcPr>
                </a:tc>
                <a:tc>
                  <a:txBody>
                    <a:bodyPr wrap="square"/>
                    <a:lstStyle/>
                    <a:p>
                      <a:r>
                        <a:rPr sz="700" b="0">
                          <a:solidFill>
                            <a:srgbClr val="26301F"/>
                          </a:solidFill>
                          <a:latin typeface="Segoe UI"/>
                        </a:rPr>
                        <a:t>Unpledged savings</a:t>
                      </a:r>
                    </a:p>
                  </a:txBody>
                  <a:tcPr marL="45720" marR="109728" marT="27432" marB="27432" anchor="ctr">
                    <a:lnB w="9525" cap="flat" cmpd="sng" algn="ctr">
                      <a:solidFill>
                        <a:srgbClr val="DCE3D6"/>
                      </a:solidFill>
                    </a:lnB>
                    <a:solidFill>
                      <a:srgbClr val="FFFFFF"/>
                    </a:solidFill>
                  </a:tcPr>
                </a:tc>
                <a:tc>
                  <a:txBody>
                    <a:bodyPr wrap="square"/>
                    <a:lstStyle/>
                    <a:p>
                      <a:r>
                        <a:rPr sz="700" b="0">
                          <a:solidFill>
                            <a:srgbClr val="26301F"/>
                          </a:solidFill>
                          <a:latin typeface="Segoe UI"/>
                        </a:rPr>
                        <a:t>Only under a separate signed set off clause, and only after notice with a seven day period to put it right</a:t>
                      </a:r>
                    </a:p>
                  </a:txBody>
                  <a:tcPr marL="45720" marR="109728" marT="27432" marB="27432" anchor="ctr">
                    <a:lnB w="9525" cap="flat" cmpd="sng" algn="ctr">
                      <a:solidFill>
                        <a:srgbClr val="DCE3D6"/>
                      </a:solidFill>
                    </a:lnB>
                    <a:solidFill>
                      <a:srgbClr val="FFFFFF"/>
                    </a:solidFill>
                  </a:tcPr>
                </a:tc>
              </a:tr>
              <a:tr h="514019">
                <a:tc>
                  <a:txBody>
                    <a:bodyPr wrap="square"/>
                    <a:lstStyle/>
                    <a:p>
                      <a:r>
                        <a:rPr sz="700" b="0">
                          <a:solidFill>
                            <a:srgbClr val="26301F"/>
                          </a:solidFill>
                          <a:latin typeface="Segoe UI"/>
                        </a:rPr>
                        <a:t>3</a:t>
                      </a:r>
                    </a:p>
                  </a:txBody>
                  <a:tcPr marL="45720" marR="109728" marT="27432" marB="27432" anchor="ctr">
                    <a:lnB w="9525" cap="flat" cmpd="sng" algn="ctr">
                      <a:solidFill>
                        <a:srgbClr val="DCE3D6"/>
                      </a:solidFill>
                    </a:lnB>
                    <a:solidFill>
                      <a:srgbClr val="FFFFFF"/>
                    </a:solidFill>
                  </a:tcPr>
                </a:tc>
                <a:tc>
                  <a:txBody>
                    <a:bodyPr wrap="square"/>
                    <a:lstStyle/>
                    <a:p>
                      <a:r>
                        <a:rPr sz="700" b="0">
                          <a:solidFill>
                            <a:srgbClr val="26301F"/>
                          </a:solidFill>
                          <a:latin typeface="Segoe UI"/>
                        </a:rPr>
                        <a:t>Withholding in live circles</a:t>
                      </a:r>
                    </a:p>
                  </a:txBody>
                  <a:tcPr marL="45720" marR="109728" marT="27432" marB="27432" anchor="ctr">
                    <a:lnB w="9525" cap="flat" cmpd="sng" algn="ctr">
                      <a:solidFill>
                        <a:srgbClr val="DCE3D6"/>
                      </a:solidFill>
                    </a:lnB>
                    <a:solidFill>
                      <a:srgbClr val="FFFFFF"/>
                    </a:solidFill>
                  </a:tcPr>
                </a:tc>
                <a:tc>
                  <a:txBody>
                    <a:bodyPr wrap="square"/>
                    <a:lstStyle/>
                    <a:p>
                      <a:r>
                        <a:rPr sz="700" b="0">
                          <a:solidFill>
                            <a:srgbClr val="26301F"/>
                          </a:solidFill>
                          <a:latin typeface="Segoe UI"/>
                        </a:rPr>
                        <a:t>Applied in a fixed order and capped at a share of the pot, so a member's own turn is reduced rather than destroyed</a:t>
                      </a:r>
                    </a:p>
                  </a:txBody>
                  <a:tcPr marL="45720" marR="109728" marT="27432" marB="27432" anchor="ctr">
                    <a:lnB w="9525" cap="flat" cmpd="sng" algn="ctr">
                      <a:solidFill>
                        <a:srgbClr val="DCE3D6"/>
                      </a:solidFill>
                    </a:lnB>
                    <a:solidFill>
                      <a:srgbClr val="FFFFFF"/>
                    </a:solidFill>
                  </a:tcPr>
                </a:tc>
              </a:tr>
              <a:tr h="514019">
                <a:tc>
                  <a:txBody>
                    <a:bodyPr wrap="square"/>
                    <a:lstStyle/>
                    <a:p>
                      <a:r>
                        <a:rPr sz="700" b="0">
                          <a:solidFill>
                            <a:srgbClr val="26301F"/>
                          </a:solidFill>
                          <a:latin typeface="Segoe UI"/>
                        </a:rPr>
                        <a:t>4</a:t>
                      </a:r>
                    </a:p>
                  </a:txBody>
                  <a:tcPr marL="45720" marR="109728" marT="27432" marB="27432" anchor="ctr">
                    <a:lnB w="9525" cap="flat" cmpd="sng" algn="ctr">
                      <a:solidFill>
                        <a:srgbClr val="DCE3D6"/>
                      </a:solidFill>
                    </a:lnB>
                    <a:solidFill>
                      <a:srgbClr val="FFFFFF"/>
                    </a:solidFill>
                  </a:tcPr>
                </a:tc>
                <a:tc>
                  <a:txBody>
                    <a:bodyPr wrap="square"/>
                    <a:lstStyle/>
                    <a:p>
                      <a:r>
                        <a:rPr sz="700" b="0">
                          <a:solidFill>
                            <a:srgbClr val="26301F"/>
                          </a:solidFill>
                          <a:latin typeface="Segoe UI"/>
                        </a:rPr>
                        <a:t>The item, in asset circles</a:t>
                      </a:r>
                    </a:p>
                  </a:txBody>
                  <a:tcPr marL="45720" marR="109728" marT="27432" marB="27432" anchor="ctr">
                    <a:lnB w="9525" cap="flat" cmpd="sng" algn="ctr">
                      <a:solidFill>
                        <a:srgbClr val="DCE3D6"/>
                      </a:solidFill>
                    </a:lnB>
                    <a:solidFill>
                      <a:srgbClr val="FFFFFF"/>
                    </a:solidFill>
                  </a:tcPr>
                </a:tc>
                <a:tc>
                  <a:txBody>
                    <a:bodyPr wrap="square"/>
                    <a:lstStyle/>
                    <a:p>
                      <a:r>
                        <a:rPr sz="700" b="0">
                          <a:solidFill>
                            <a:srgbClr val="26301F"/>
                          </a:solidFill>
                          <a:latin typeface="Segoe UI"/>
                        </a:rPr>
                        <a:t>The trustee enforces, sells, and pays the proceeds into the circle. Any surplus goes back to the member</a:t>
                      </a:r>
                    </a:p>
                  </a:txBody>
                  <a:tcPr marL="45720" marR="109728" marT="27432" marB="27432" anchor="ctr">
                    <a:lnB w="9525" cap="flat" cmpd="sng" algn="ctr">
                      <a:solidFill>
                        <a:srgbClr val="DCE3D6"/>
                      </a:solidFill>
                    </a:lnB>
                    <a:solidFill>
                      <a:srgbClr val="FFFFFF"/>
                    </a:solidFill>
                  </a:tcPr>
                </a:tc>
              </a:tr>
              <a:tr h="514019">
                <a:tc>
                  <a:txBody>
                    <a:bodyPr wrap="square"/>
                    <a:lstStyle/>
                    <a:p>
                      <a:r>
                        <a:rPr sz="700" b="0">
                          <a:solidFill>
                            <a:srgbClr val="26301F"/>
                          </a:solidFill>
                          <a:latin typeface="Segoe UI"/>
                        </a:rPr>
                        <a:t>5</a:t>
                      </a:r>
                    </a:p>
                  </a:txBody>
                  <a:tcPr marL="45720" marR="109728" marT="27432" marB="27432" anchor="ctr">
                    <a:lnB w="9525" cap="flat" cmpd="sng" algn="ctr">
                      <a:solidFill>
                        <a:srgbClr val="DCE3D6"/>
                      </a:solidFill>
                    </a:lnB>
                    <a:solidFill>
                      <a:srgbClr val="FFFFFF"/>
                    </a:solidFill>
                  </a:tcPr>
                </a:tc>
                <a:tc>
                  <a:txBody>
                    <a:bodyPr wrap="square"/>
                    <a:lstStyle/>
                    <a:p>
                      <a:r>
                        <a:rPr sz="700" b="0">
                          <a:solidFill>
                            <a:srgbClr val="26301F"/>
                          </a:solidFill>
                          <a:latin typeface="Segoe UI"/>
                        </a:rPr>
                        <a:t>The cover facility's claim</a:t>
                      </a:r>
                    </a:p>
                  </a:txBody>
                  <a:tcPr marL="45720" marR="109728" marT="27432" marB="27432" anchor="ctr">
                    <a:lnB w="9525" cap="flat" cmpd="sng" algn="ctr">
                      <a:solidFill>
                        <a:srgbClr val="DCE3D6"/>
                      </a:solidFill>
                    </a:lnB>
                    <a:solidFill>
                      <a:srgbClr val="FFFFFF"/>
                    </a:solidFill>
                  </a:tcPr>
                </a:tc>
                <a:tc>
                  <a:txBody>
                    <a:bodyPr wrap="square"/>
                    <a:lstStyle/>
                    <a:p>
                      <a:r>
                        <a:rPr sz="700" b="0">
                          <a:solidFill>
                            <a:srgbClr val="26301F"/>
                          </a:solidFill>
                          <a:latin typeface="Segoe UI"/>
                        </a:rPr>
                        <a:t>Halqa steps into the circle's claim on subrogation and pursues it as an advance</a:t>
                      </a:r>
                    </a:p>
                  </a:txBody>
                  <a:tcPr marL="45720" marR="109728" marT="27432" marB="27432" anchor="ctr">
                    <a:lnB w="9525" cap="flat" cmpd="sng" algn="ctr">
                      <a:solidFill>
                        <a:srgbClr val="DCE3D6"/>
                      </a:solidFill>
                    </a:lnB>
                    <a:solidFill>
                      <a:srgbClr val="FFFFFF"/>
                    </a:solidFill>
                  </a:tcPr>
                </a:tc>
              </a:tr>
              <a:tr h="514019">
                <a:tc>
                  <a:txBody>
                    <a:bodyPr wrap="square"/>
                    <a:lstStyle/>
                    <a:p>
                      <a:r>
                        <a:rPr sz="700" b="0">
                          <a:solidFill>
                            <a:srgbClr val="26301F"/>
                          </a:solidFill>
                          <a:latin typeface="Segoe UI"/>
                        </a:rPr>
                        <a:t>6</a:t>
                      </a:r>
                    </a:p>
                  </a:txBody>
                  <a:tcPr marL="45720" marR="109728" marT="27432" marB="27432" anchor="ctr">
                    <a:lnB w="9525" cap="flat" cmpd="sng" algn="ctr">
                      <a:solidFill>
                        <a:srgbClr val="DCE3D6"/>
                      </a:solidFill>
                    </a:lnB>
                    <a:solidFill>
                      <a:srgbClr val="FFFFFF"/>
                    </a:solidFill>
                  </a:tcPr>
                </a:tc>
                <a:tc>
                  <a:txBody>
                    <a:bodyPr wrap="square"/>
                    <a:lstStyle/>
                    <a:p>
                      <a:r>
                        <a:rPr sz="700" b="0">
                          <a:solidFill>
                            <a:srgbClr val="26301F"/>
                          </a:solidFill>
                          <a:latin typeface="Segoe UI"/>
                        </a:rPr>
                        <a:t>Recovery case</a:t>
                      </a:r>
                    </a:p>
                  </a:txBody>
                  <a:tcPr marL="45720" marR="109728" marT="27432" marB="27432" anchor="ctr">
                    <a:lnB w="9525" cap="flat" cmpd="sng" algn="ctr">
                      <a:solidFill>
                        <a:srgbClr val="DCE3D6"/>
                      </a:solidFill>
                    </a:lnB>
                    <a:solidFill>
                      <a:srgbClr val="FFFFFF"/>
                    </a:solidFill>
                  </a:tcPr>
                </a:tc>
                <a:tc>
                  <a:txBody>
                    <a:bodyPr wrap="square"/>
                    <a:lstStyle/>
                    <a:p>
                      <a:r>
                        <a:rPr sz="700" b="0">
                          <a:solidFill>
                            <a:srgbClr val="26301F"/>
                          </a:solidFill>
                          <a:latin typeface="Segoe UI"/>
                        </a:rPr>
                        <a:t>Outstanding amount plus penalties plus a rehabilitation fee, identity linked and timestamped, enforceable by summary suit</a:t>
                      </a:r>
                    </a:p>
                  </a:txBody>
                  <a:tcPr marL="45720" marR="109728" marT="27432" marB="27432" anchor="ctr">
                    <a:lnB w="9525" cap="flat" cmpd="sng" algn="ctr">
                      <a:solidFill>
                        <a:srgbClr val="DCE3D6"/>
                      </a:solidFill>
                    </a:lnB>
                    <a:solidFill>
                      <a:srgbClr val="FFFFFF"/>
                    </a:solidFill>
                  </a:tcPr>
                </a:tc>
              </a:tr>
            </a:tbl>
          </a:graphicData>
        </a:graphic>
      </p:graphicFrame>
      <p:graphicFrame>
        <p:nvGraphicFramePr>
          <p:cNvPr id="8" name="Table 7"/>
          <p:cNvGraphicFramePr>
            <a:graphicFrameLocks noGrp="1"/>
          </p:cNvGraphicFramePr>
          <p:nvPr/>
        </p:nvGraphicFramePr>
        <p:xfrm>
          <a:off x="7543800" y="1965960"/>
          <a:ext cx="3840480" cy="4101216"/>
        </p:xfrm>
        <a:graphic>
          <a:graphicData uri="http://schemas.openxmlformats.org/drawingml/2006/table">
            <a:tbl>
              <a:tblPr>
                <a:tableStyleId>{5C22544A-7EE6-4342-B048-85BDC9FD1C3A}</a:tableStyleId>
              </a:tblPr>
              <a:tblGrid>
                <a:gridCol w="1280160"/>
                <a:gridCol w="2560320"/>
              </a:tblGrid>
              <a:tr h="683536">
                <a:tc>
                  <a:txBody>
                    <a:bodyPr wrap="square"/>
                    <a:lstStyle/>
                    <a:p>
                      <a:r>
                        <a:rPr sz="700" b="1">
                          <a:solidFill>
                            <a:srgbClr val="41801A"/>
                          </a:solidFill>
                          <a:latin typeface="Segoe UI"/>
                        </a:rPr>
                        <a:t>INSTRUMENT</a:t>
                      </a:r>
                    </a:p>
                  </a:txBody>
                  <a:tcPr marL="45720" marR="109728" marT="27432" marB="27432" anchor="ctr">
                    <a:lnB w="9525" cap="flat" cmpd="sng" algn="ctr">
                      <a:solidFill>
                        <a:srgbClr val="41801A"/>
                      </a:solidFill>
                    </a:lnB>
                    <a:solidFill>
                      <a:srgbClr val="FFFFFF"/>
                    </a:solidFill>
                  </a:tcPr>
                </a:tc>
                <a:tc>
                  <a:txBody>
                    <a:bodyPr wrap="square"/>
                    <a:lstStyle/>
                    <a:p>
                      <a:r>
                        <a:rPr sz="700" b="1">
                          <a:solidFill>
                            <a:srgbClr val="41801A"/>
                          </a:solidFill>
                          <a:latin typeface="Segoe UI"/>
                        </a:rPr>
                        <a:t>WHAT IT GIVES US</a:t>
                      </a:r>
                    </a:p>
                  </a:txBody>
                  <a:tcPr marL="45720" marR="109728" marT="27432" marB="27432" anchor="ctr">
                    <a:lnB w="9525" cap="flat" cmpd="sng" algn="ctr">
                      <a:solidFill>
                        <a:srgbClr val="41801A"/>
                      </a:solidFill>
                    </a:lnB>
                    <a:solidFill>
                      <a:srgbClr val="FFFFFF"/>
                    </a:solidFill>
                  </a:tcPr>
                </a:tc>
              </a:tr>
              <a:tr h="683536">
                <a:tc>
                  <a:txBody>
                    <a:bodyPr wrap="square"/>
                    <a:lstStyle/>
                    <a:p>
                      <a:r>
                        <a:rPr sz="700" b="0">
                          <a:solidFill>
                            <a:srgbClr val="26301F"/>
                          </a:solidFill>
                          <a:latin typeface="Segoe UI"/>
                        </a:rPr>
                        <a:t>The undertaking</a:t>
                      </a:r>
                    </a:p>
                  </a:txBody>
                  <a:tcPr marL="45720" marR="109728" marT="27432" marB="27432" anchor="ctr">
                    <a:lnB w="9525" cap="flat" cmpd="sng" algn="ctr">
                      <a:solidFill>
                        <a:srgbClr val="DCE3D6"/>
                      </a:solidFill>
                    </a:lnB>
                    <a:solidFill>
                      <a:srgbClr val="FFFFFF"/>
                    </a:solidFill>
                  </a:tcPr>
                </a:tc>
                <a:tc>
                  <a:txBody>
                    <a:bodyPr wrap="square"/>
                    <a:lstStyle/>
                    <a:p>
                      <a:r>
                        <a:rPr sz="700" b="0">
                          <a:solidFill>
                            <a:srgbClr val="26301F"/>
                          </a:solidFill>
                          <a:latin typeface="Segoe UI"/>
                        </a:rPr>
                        <a:t>Electronically signed, renewed weekly on financial circles, admissible under the Electronic Transactions Ordinance 2002. Stored with a hash of the document, the signing address and a timestamp. A written contract for a fixed sum permits recovery by summary suit</a:t>
                      </a:r>
                    </a:p>
                  </a:txBody>
                  <a:tcPr marL="45720" marR="109728" marT="27432" marB="27432" anchor="ctr">
                    <a:lnB w="9525" cap="flat" cmpd="sng" algn="ctr">
                      <a:solidFill>
                        <a:srgbClr val="DCE3D6"/>
                      </a:solidFill>
                    </a:lnB>
                    <a:solidFill>
                      <a:srgbClr val="FFFFFF"/>
                    </a:solidFill>
                  </a:tcPr>
                </a:tc>
              </a:tr>
              <a:tr h="683536">
                <a:tc>
                  <a:txBody>
                    <a:bodyPr wrap="square"/>
                    <a:lstStyle/>
                    <a:p>
                      <a:r>
                        <a:rPr sz="700" b="0">
                          <a:solidFill>
                            <a:srgbClr val="26301F"/>
                          </a:solidFill>
                          <a:latin typeface="Segoe UI"/>
                        </a:rPr>
                        <a:t>The personal guarantee</a:t>
                      </a:r>
                    </a:p>
                  </a:txBody>
                  <a:tcPr marL="45720" marR="109728" marT="27432" marB="27432" anchor="ctr">
                    <a:lnB w="9525" cap="flat" cmpd="sng" algn="ctr">
                      <a:solidFill>
                        <a:srgbClr val="DCE3D6"/>
                      </a:solidFill>
                    </a:lnB>
                    <a:solidFill>
                      <a:srgbClr val="FFFFFF"/>
                    </a:solidFill>
                  </a:tcPr>
                </a:tc>
                <a:tc>
                  <a:txBody>
                    <a:bodyPr wrap="square"/>
                    <a:lstStyle/>
                    <a:p>
                      <a:r>
                        <a:rPr sz="700" b="0">
                          <a:solidFill>
                            <a:srgbClr val="26301F"/>
                          </a:solidFill>
                          <a:latin typeface="Segoe UI"/>
                        </a:rPr>
                        <a:t>Executed automatically inside the join transaction. It runs member to member and expressly not to Halqa, so the circle rather than the platform holds the claim</a:t>
                      </a:r>
                    </a:p>
                  </a:txBody>
                  <a:tcPr marL="45720" marR="109728" marT="27432" marB="27432" anchor="ctr">
                    <a:lnB w="9525" cap="flat" cmpd="sng" algn="ctr">
                      <a:solidFill>
                        <a:srgbClr val="DCE3D6"/>
                      </a:solidFill>
                    </a:lnB>
                    <a:solidFill>
                      <a:srgbClr val="FFFFFF"/>
                    </a:solidFill>
                  </a:tcPr>
                </a:tc>
              </a:tr>
              <a:tr h="683536">
                <a:tc>
                  <a:txBody>
                    <a:bodyPr wrap="square"/>
                    <a:lstStyle/>
                    <a:p>
                      <a:r>
                        <a:rPr sz="700" b="0">
                          <a:solidFill>
                            <a:srgbClr val="26301F"/>
                          </a:solidFill>
                          <a:latin typeface="Segoe UI"/>
                        </a:rPr>
                        <a:t>Consent to bureau reporting</a:t>
                      </a:r>
                    </a:p>
                  </a:txBody>
                  <a:tcPr marL="45720" marR="109728" marT="27432" marB="27432" anchor="ctr">
                    <a:lnB w="9525" cap="flat" cmpd="sng" algn="ctr">
                      <a:solidFill>
                        <a:srgbClr val="DCE3D6"/>
                      </a:solidFill>
                    </a:lnB>
                    <a:solidFill>
                      <a:srgbClr val="FFFFFF"/>
                    </a:solidFill>
                  </a:tcPr>
                </a:tc>
                <a:tc>
                  <a:txBody>
                    <a:bodyPr wrap="square"/>
                    <a:lstStyle/>
                    <a:p>
                      <a:r>
                        <a:rPr sz="700" b="0">
                          <a:solidFill>
                            <a:srgbClr val="26301F"/>
                          </a:solidFill>
                          <a:latin typeface="Segoe UI"/>
                        </a:rPr>
                        <a:t>Contained in the undertaking, alongside consent to automatic collection</a:t>
                      </a:r>
                    </a:p>
                  </a:txBody>
                  <a:tcPr marL="45720" marR="109728" marT="27432" marB="27432" anchor="ctr">
                    <a:lnB w="9525" cap="flat" cmpd="sng" algn="ctr">
                      <a:solidFill>
                        <a:srgbClr val="DCE3D6"/>
                      </a:solidFill>
                    </a:lnB>
                    <a:solidFill>
                      <a:srgbClr val="FFFFFF"/>
                    </a:solidFill>
                  </a:tcPr>
                </a:tc>
              </a:tr>
              <a:tr h="683536">
                <a:tc>
                  <a:txBody>
                    <a:bodyPr wrap="square"/>
                    <a:lstStyle/>
                    <a:p>
                      <a:r>
                        <a:rPr sz="700" b="0">
                          <a:solidFill>
                            <a:srgbClr val="26301F"/>
                          </a:solidFill>
                          <a:latin typeface="Segoe UI"/>
                        </a:rPr>
                        <a:t>Consent to service of notice</a:t>
                      </a:r>
                    </a:p>
                  </a:txBody>
                  <a:tcPr marL="45720" marR="109728" marT="27432" marB="27432" anchor="ctr">
                    <a:lnB w="9525" cap="flat" cmpd="sng" algn="ctr">
                      <a:solidFill>
                        <a:srgbClr val="DCE3D6"/>
                      </a:solidFill>
                    </a:lnB>
                    <a:solidFill>
                      <a:srgbClr val="FFFFFF"/>
                    </a:solidFill>
                  </a:tcPr>
                </a:tc>
                <a:tc>
                  <a:txBody>
                    <a:bodyPr wrap="square"/>
                    <a:lstStyle/>
                    <a:p>
                      <a:r>
                        <a:rPr sz="700" b="0">
                          <a:solidFill>
                            <a:srgbClr val="26301F"/>
                          </a:solidFill>
                          <a:latin typeface="Segoe UI"/>
                        </a:rPr>
                        <a:t>Given at signup, at the pinned address, so recovery does not stall on locating the person</a:t>
                      </a:r>
                    </a:p>
                  </a:txBody>
                  <a:tcPr marL="45720" marR="109728" marT="27432" marB="27432" anchor="ctr">
                    <a:lnB w="9525" cap="flat" cmpd="sng" algn="ctr">
                      <a:solidFill>
                        <a:srgbClr val="DCE3D6"/>
                      </a:solidFill>
                    </a:lnB>
                    <a:solidFill>
                      <a:srgbClr val="FFFFFF"/>
                    </a:solidFill>
                  </a:tcPr>
                </a:tc>
              </a:tr>
              <a:tr h="683536">
                <a:tc>
                  <a:txBody>
                    <a:bodyPr wrap="square"/>
                    <a:lstStyle/>
                    <a:p>
                      <a:r>
                        <a:rPr sz="700" b="0">
                          <a:solidFill>
                            <a:srgbClr val="26301F"/>
                          </a:solidFill>
                          <a:latin typeface="Segoe UI"/>
                        </a:rPr>
                        <a:t>The evidence pack</a:t>
                      </a:r>
                    </a:p>
                  </a:txBody>
                  <a:tcPr marL="45720" marR="109728" marT="27432" marB="27432" anchor="ctr">
                    <a:lnB w="9525" cap="flat" cmpd="sng" algn="ctr">
                      <a:solidFill>
                        <a:srgbClr val="DCE3D6"/>
                      </a:solidFill>
                    </a:lnB>
                    <a:solidFill>
                      <a:srgbClr val="FFFFFF"/>
                    </a:solidFill>
                  </a:tcPr>
                </a:tc>
                <a:tc>
                  <a:txBody>
                    <a:bodyPr wrap="square"/>
                    <a:lstStyle/>
                    <a:p>
                      <a:r>
                        <a:rPr sz="700" b="0">
                          <a:solidFill>
                            <a:srgbClr val="26301F"/>
                          </a:solidFill>
                          <a:latin typeface="Segoe UI"/>
                        </a:rPr>
                        <a:t>Undertaking, guarantee, identity linkage, address, timestamped payment history, circle message log and signature hashes, assembled on demand. Provided to counsel or a court, never to the circle</a:t>
                      </a:r>
                    </a:p>
                  </a:txBody>
                  <a:tcPr marL="45720" marR="109728" marT="27432" marB="27432" anchor="ctr">
                    <a:lnB w="9525" cap="flat" cmpd="sng" algn="ctr">
                      <a:solidFill>
                        <a:srgbClr val="DCE3D6"/>
                      </a:solidFill>
                    </a:lnB>
                    <a:solidFill>
                      <a:srgbClr val="FFFFFF"/>
                    </a:solidFill>
                  </a:tcPr>
                </a:tc>
              </a:tr>
            </a:tbl>
          </a:graphicData>
        </a:graphic>
      </p:graphicFrame>
      <p:sp>
        <p:nvSpPr>
          <p:cNvPr id="9" name="TextBox 8"/>
          <p:cNvSpPr txBox="1"/>
          <p:nvPr/>
        </p:nvSpPr>
        <p:spPr>
          <a:xfrm>
            <a:off x="777240" y="5806440"/>
            <a:ext cx="6309360" cy="548640"/>
          </a:xfrm>
          <a:prstGeom prst="rect">
            <a:avLst/>
          </a:prstGeom>
          <a:noFill/>
        </p:spPr>
        <p:txBody>
          <a:bodyPr wrap="square" lIns="0" rIns="0" tIns="0" bIns="0">
            <a:spAutoFit/>
          </a:bodyPr>
          <a:lstStyle/>
          <a:p>
            <a:pPr algn="l">
              <a:lnSpc>
                <a:spcPct val="140000"/>
              </a:lnSpc>
            </a:pPr>
            <a:r>
              <a:rPr sz="1150" b="1" i="0">
                <a:solidFill>
                  <a:srgbClr val="0C1408"/>
                </a:solidFill>
                <a:latin typeface="Segoe UI"/>
              </a:rPr>
              <a:t>Two conditions do not bend. Set off operates in favour of the circle's members and never in favour of Halqa. And Halqa seizes nothing itself, in any product, ever.</a:t>
            </a:r>
          </a:p>
        </p:txBody>
      </p:sp>
    </p:spTree>
  </p:cSld>
  <p:clrMapOvr>
    <a:masterClrMapping/>
  </p:clrMapOvr>
</p:sld>
</file>

<file path=ppt/slides/slide4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777240" y="566928"/>
            <a:ext cx="10637215" cy="219456"/>
          </a:xfrm>
          <a:prstGeom prst="rect">
            <a:avLst/>
          </a:prstGeom>
          <a:noFill/>
        </p:spPr>
        <p:txBody>
          <a:bodyPr wrap="square" lIns="0" rIns="0" tIns="0" bIns="0">
            <a:spAutoFit/>
          </a:bodyPr>
          <a:lstStyle/>
          <a:p>
            <a:pPr algn="l">
              <a:lnSpc>
                <a:spcPct val="125000"/>
              </a:lnSpc>
            </a:pPr>
            <a:r>
              <a:rPr sz="950" b="1" i="0">
                <a:solidFill>
                  <a:srgbClr val="41801A"/>
                </a:solidFill>
                <a:latin typeface="Segoe UI"/>
              </a:rPr>
              <a:t>7  THE PRODUCTS</a:t>
            </a:r>
          </a:p>
        </p:txBody>
      </p:sp>
      <p:sp>
        <p:nvSpPr>
          <p:cNvPr id="3" name="TextBox 2"/>
          <p:cNvSpPr txBox="1"/>
          <p:nvPr/>
        </p:nvSpPr>
        <p:spPr>
          <a:xfrm>
            <a:off x="777240" y="841248"/>
            <a:ext cx="10637215" cy="502920"/>
          </a:xfrm>
          <a:prstGeom prst="rect">
            <a:avLst/>
          </a:prstGeom>
          <a:noFill/>
        </p:spPr>
        <p:txBody>
          <a:bodyPr wrap="square" lIns="0" rIns="0" tIns="0" bIns="0">
            <a:spAutoFit/>
          </a:bodyPr>
          <a:lstStyle/>
          <a:p>
            <a:pPr algn="l">
              <a:lnSpc>
                <a:spcPct val="125000"/>
              </a:lnSpc>
            </a:pPr>
            <a:r>
              <a:rPr sz="2700" b="1" i="0">
                <a:solidFill>
                  <a:srgbClr val="0C1408"/>
                </a:solidFill>
                <a:latin typeface="Segoe UI"/>
              </a:rPr>
              <a:t>The range, and which are financial</a:t>
            </a:r>
          </a:p>
        </p:txBody>
      </p:sp>
      <p:sp>
        <p:nvSpPr>
          <p:cNvPr id="4" name="Rectangle 3"/>
          <p:cNvSpPr/>
          <p:nvPr/>
        </p:nvSpPr>
        <p:spPr>
          <a:xfrm>
            <a:off x="777240" y="1417320"/>
            <a:ext cx="1371600" cy="22860"/>
          </a:xfrm>
          <a:prstGeom prst="rect">
            <a:avLst/>
          </a:prstGeom>
          <a:solidFill>
            <a:srgbClr val="6DC72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777240" y="6382512"/>
            <a:ext cx="3657600" cy="228600"/>
          </a:xfrm>
          <a:prstGeom prst="rect">
            <a:avLst/>
          </a:prstGeom>
          <a:noFill/>
        </p:spPr>
        <p:txBody>
          <a:bodyPr wrap="square" lIns="0" rIns="0" tIns="0" bIns="0">
            <a:spAutoFit/>
          </a:bodyPr>
          <a:lstStyle/>
          <a:p>
            <a:pPr algn="l">
              <a:lnSpc>
                <a:spcPct val="125000"/>
              </a:lnSpc>
            </a:pPr>
            <a:r>
              <a:rPr sz="900" b="0" i="0">
                <a:solidFill>
                  <a:srgbClr val="9AA694"/>
                </a:solidFill>
                <a:latin typeface="Segoe UI"/>
              </a:rPr>
              <a:t>Halqa  ·  Confidential</a:t>
            </a:r>
          </a:p>
        </p:txBody>
      </p:sp>
      <p:sp>
        <p:nvSpPr>
          <p:cNvPr id="6" name="TextBox 5"/>
          <p:cNvSpPr txBox="1"/>
          <p:nvPr/>
        </p:nvSpPr>
        <p:spPr>
          <a:xfrm>
            <a:off x="10728655" y="6382512"/>
            <a:ext cx="685800" cy="228600"/>
          </a:xfrm>
          <a:prstGeom prst="rect">
            <a:avLst/>
          </a:prstGeom>
          <a:noFill/>
        </p:spPr>
        <p:txBody>
          <a:bodyPr wrap="square" lIns="0" rIns="0" tIns="0" bIns="0">
            <a:spAutoFit/>
          </a:bodyPr>
          <a:lstStyle/>
          <a:p>
            <a:pPr algn="r">
              <a:lnSpc>
                <a:spcPct val="125000"/>
              </a:lnSpc>
            </a:pPr>
            <a:r>
              <a:rPr sz="900" b="0" i="0">
                <a:solidFill>
                  <a:srgbClr val="6F7B68"/>
                </a:solidFill>
                <a:latin typeface="Segoe UI"/>
              </a:rPr>
              <a:t>42</a:t>
            </a:r>
          </a:p>
        </p:txBody>
      </p:sp>
      <p:graphicFrame>
        <p:nvGraphicFramePr>
          <p:cNvPr id="7" name="Table 6"/>
          <p:cNvGraphicFramePr>
            <a:graphicFrameLocks noGrp="1"/>
          </p:cNvGraphicFramePr>
          <p:nvPr/>
        </p:nvGraphicFramePr>
        <p:xfrm>
          <a:off x="777240" y="1965960"/>
          <a:ext cx="10607040" cy="3498180"/>
        </p:xfrm>
        <a:graphic>
          <a:graphicData uri="http://schemas.openxmlformats.org/drawingml/2006/table">
            <a:tbl>
              <a:tblPr>
                <a:tableStyleId>{5C22544A-7EE6-4342-B048-85BDC9FD1C3A}</a:tableStyleId>
              </a:tblPr>
              <a:tblGrid>
                <a:gridCol w="1828800"/>
                <a:gridCol w="1097280"/>
                <a:gridCol w="3108960"/>
                <a:gridCol w="4572000"/>
              </a:tblGrid>
              <a:tr h="499740">
                <a:tc>
                  <a:txBody>
                    <a:bodyPr wrap="square"/>
                    <a:lstStyle/>
                    <a:p>
                      <a:r>
                        <a:rPr sz="750" b="1">
                          <a:solidFill>
                            <a:srgbClr val="41801A"/>
                          </a:solidFill>
                          <a:latin typeface="Segoe UI"/>
                        </a:rPr>
                        <a:t>PRODUCT</a:t>
                      </a:r>
                    </a:p>
                  </a:txBody>
                  <a:tcPr marL="45720" marR="109728" marT="27432" marB="27432" anchor="ctr">
                    <a:lnB w="9525" cap="flat" cmpd="sng" algn="ctr">
                      <a:solidFill>
                        <a:srgbClr val="41801A"/>
                      </a:solidFill>
                    </a:lnB>
                    <a:solidFill>
                      <a:srgbClr val="FFFFFF"/>
                    </a:solidFill>
                  </a:tcPr>
                </a:tc>
                <a:tc>
                  <a:txBody>
                    <a:bodyPr wrap="square"/>
                    <a:lstStyle/>
                    <a:p>
                      <a:r>
                        <a:rPr sz="750" b="1">
                          <a:solidFill>
                            <a:srgbClr val="41801A"/>
                          </a:solidFill>
                          <a:latin typeface="Segoe UI"/>
                        </a:rPr>
                        <a:t>TYPE</a:t>
                      </a:r>
                    </a:p>
                  </a:txBody>
                  <a:tcPr marL="45720" marR="109728" marT="27432" marB="27432" anchor="ctr">
                    <a:lnB w="9525" cap="flat" cmpd="sng" algn="ctr">
                      <a:solidFill>
                        <a:srgbClr val="41801A"/>
                      </a:solidFill>
                    </a:lnB>
                    <a:solidFill>
                      <a:srgbClr val="FFFFFF"/>
                    </a:solidFill>
                  </a:tcPr>
                </a:tc>
                <a:tc>
                  <a:txBody>
                    <a:bodyPr wrap="square"/>
                    <a:lstStyle/>
                    <a:p>
                      <a:r>
                        <a:rPr sz="750" b="1">
                          <a:solidFill>
                            <a:srgbClr val="41801A"/>
                          </a:solidFill>
                          <a:latin typeface="Segoe UI"/>
                        </a:rPr>
                        <a:t>WHO IT IS FOR</a:t>
                      </a:r>
                    </a:p>
                  </a:txBody>
                  <a:tcPr marL="45720" marR="109728" marT="27432" marB="27432" anchor="ctr">
                    <a:lnB w="9525" cap="flat" cmpd="sng" algn="ctr">
                      <a:solidFill>
                        <a:srgbClr val="41801A"/>
                      </a:solidFill>
                    </a:lnB>
                    <a:solidFill>
                      <a:srgbClr val="FFFFFF"/>
                    </a:solidFill>
                  </a:tcPr>
                </a:tc>
                <a:tc>
                  <a:txBody>
                    <a:bodyPr wrap="square"/>
                    <a:lstStyle/>
                    <a:p>
                      <a:r>
                        <a:rPr sz="750" b="1">
                          <a:solidFill>
                            <a:srgbClr val="41801A"/>
                          </a:solidFill>
                          <a:latin typeface="Segoe UI"/>
                        </a:rPr>
                        <a:t>WHAT MAKES IT DIFFERENT</a:t>
                      </a:r>
                    </a:p>
                  </a:txBody>
                  <a:tcPr marL="45720" marR="109728" marT="27432" marB="27432" anchor="ctr">
                    <a:lnB w="9525" cap="flat" cmpd="sng" algn="ctr">
                      <a:solidFill>
                        <a:srgbClr val="41801A"/>
                      </a:solidFill>
                    </a:lnB>
                    <a:solidFill>
                      <a:srgbClr val="FFFFFF"/>
                    </a:solidFill>
                  </a:tcPr>
                </a:tc>
              </a:tr>
              <a:tr h="499740">
                <a:tc>
                  <a:txBody>
                    <a:bodyPr wrap="square"/>
                    <a:lstStyle/>
                    <a:p>
                      <a:r>
                        <a:rPr sz="750" b="0">
                          <a:solidFill>
                            <a:srgbClr val="26301F"/>
                          </a:solidFill>
                          <a:latin typeface="Segoe UI"/>
                        </a:rPr>
                        <a:t>Known circles</a:t>
                      </a:r>
                    </a:p>
                  </a:txBody>
                  <a:tcPr marL="45720" marR="109728" marT="27432" marB="27432" anchor="ctr">
                    <a:lnB w="9525" cap="flat" cmpd="sng" algn="ctr">
                      <a:solidFill>
                        <a:srgbClr val="DCE3D6"/>
                      </a:solidFill>
                    </a:lnB>
                    <a:solidFill>
                      <a:srgbClr val="FFFFFF"/>
                    </a:solidFill>
                  </a:tcPr>
                </a:tc>
                <a:tc>
                  <a:txBody>
                    <a:bodyPr wrap="square"/>
                    <a:lstStyle/>
                    <a:p>
                      <a:r>
                        <a:rPr sz="750" b="0">
                          <a:solidFill>
                            <a:srgbClr val="26301F"/>
                          </a:solidFill>
                          <a:latin typeface="Segoe UI"/>
                        </a:rPr>
                        <a:t>Social</a:t>
                      </a:r>
                    </a:p>
                  </a:txBody>
                  <a:tcPr marL="45720" marR="109728" marT="27432" marB="27432" anchor="ctr">
                    <a:lnB w="9525" cap="flat" cmpd="sng" algn="ctr">
                      <a:solidFill>
                        <a:srgbClr val="DCE3D6"/>
                      </a:solidFill>
                    </a:lnB>
                    <a:solidFill>
                      <a:srgbClr val="FFFFFF"/>
                    </a:solidFill>
                  </a:tcPr>
                </a:tc>
                <a:tc>
                  <a:txBody>
                    <a:bodyPr wrap="square"/>
                    <a:lstStyle/>
                    <a:p>
                      <a:r>
                        <a:rPr sz="750" b="0">
                          <a:solidFill>
                            <a:srgbClr val="26301F"/>
                          </a:solidFill>
                          <a:latin typeface="Segoe UI"/>
                        </a:rPr>
                        <a:t>People who already know one another, which is how committees work today</a:t>
                      </a:r>
                    </a:p>
                  </a:txBody>
                  <a:tcPr marL="45720" marR="109728" marT="27432" marB="27432" anchor="ctr">
                    <a:lnB w="9525" cap="flat" cmpd="sng" algn="ctr">
                      <a:solidFill>
                        <a:srgbClr val="DCE3D6"/>
                      </a:solidFill>
                    </a:lnB>
                    <a:solidFill>
                      <a:srgbClr val="FFFFFF"/>
                    </a:solidFill>
                  </a:tcPr>
                </a:tc>
                <a:tc>
                  <a:txBody>
                    <a:bodyPr wrap="square"/>
                    <a:lstStyle/>
                    <a:p>
                      <a:r>
                        <a:rPr sz="750" b="0">
                          <a:solidFill>
                            <a:srgbClr val="26301F"/>
                          </a:solidFill>
                          <a:latin typeface="Segoe UI"/>
                        </a:rPr>
                        <a:t>Formed inside an existing relationship. Almost no verification, because the group has already done it. The group carries a loss, not Halqa</a:t>
                      </a:r>
                    </a:p>
                  </a:txBody>
                  <a:tcPr marL="45720" marR="109728" marT="27432" marB="27432" anchor="ctr">
                    <a:lnB w="9525" cap="flat" cmpd="sng" algn="ctr">
                      <a:solidFill>
                        <a:srgbClr val="DCE3D6"/>
                      </a:solidFill>
                    </a:lnB>
                    <a:solidFill>
                      <a:srgbClr val="FFFFFF"/>
                    </a:solidFill>
                  </a:tcPr>
                </a:tc>
              </a:tr>
              <a:tr h="499740">
                <a:tc>
                  <a:txBody>
                    <a:bodyPr wrap="square"/>
                    <a:lstStyle/>
                    <a:p>
                      <a:r>
                        <a:rPr sz="750" b="0">
                          <a:solidFill>
                            <a:srgbClr val="26301F"/>
                          </a:solidFill>
                          <a:latin typeface="Segoe UI"/>
                        </a:rPr>
                        <a:t>Open circles</a:t>
                      </a:r>
                    </a:p>
                  </a:txBody>
                  <a:tcPr marL="45720" marR="109728" marT="27432" marB="27432" anchor="ctr">
                    <a:lnB w="9525" cap="flat" cmpd="sng" algn="ctr">
                      <a:solidFill>
                        <a:srgbClr val="DCE3D6"/>
                      </a:solidFill>
                    </a:lnB>
                    <a:solidFill>
                      <a:srgbClr val="FFFFFF"/>
                    </a:solidFill>
                  </a:tcPr>
                </a:tc>
                <a:tc>
                  <a:txBody>
                    <a:bodyPr wrap="square"/>
                    <a:lstStyle/>
                    <a:p>
                      <a:r>
                        <a:rPr sz="750" b="0">
                          <a:solidFill>
                            <a:srgbClr val="26301F"/>
                          </a:solidFill>
                          <a:latin typeface="Segoe UI"/>
                        </a:rPr>
                        <a:t>Financial</a:t>
                      </a:r>
                    </a:p>
                  </a:txBody>
                  <a:tcPr marL="45720" marR="109728" marT="27432" marB="27432" anchor="ctr">
                    <a:lnB w="9525" cap="flat" cmpd="sng" algn="ctr">
                      <a:solidFill>
                        <a:srgbClr val="DCE3D6"/>
                      </a:solidFill>
                    </a:lnB>
                    <a:solidFill>
                      <a:srgbClr val="FFFFFF"/>
                    </a:solidFill>
                  </a:tcPr>
                </a:tc>
                <a:tc>
                  <a:txBody>
                    <a:bodyPr wrap="square"/>
                    <a:lstStyle/>
                    <a:p>
                      <a:r>
                        <a:rPr sz="750" b="0">
                          <a:solidFill>
                            <a:srgbClr val="26301F"/>
                          </a:solidFill>
                          <a:latin typeface="Segoe UI"/>
                        </a:rPr>
                        <a:t>People who want a circle but have nobody to form one with</a:t>
                      </a:r>
                    </a:p>
                  </a:txBody>
                  <a:tcPr marL="45720" marR="109728" marT="27432" marB="27432" anchor="ctr">
                    <a:lnB w="9525" cap="flat" cmpd="sng" algn="ctr">
                      <a:solidFill>
                        <a:srgbClr val="DCE3D6"/>
                      </a:solidFill>
                    </a:lnB>
                    <a:solidFill>
                      <a:srgbClr val="FFFFFF"/>
                    </a:solidFill>
                  </a:tcPr>
                </a:tc>
                <a:tc>
                  <a:txBody>
                    <a:bodyPr wrap="square"/>
                    <a:lstStyle/>
                    <a:p>
                      <a:r>
                        <a:rPr sz="750" b="0">
                          <a:solidFill>
                            <a:srgbClr val="26301F"/>
                          </a:solidFill>
                          <a:latin typeface="Segoe UI"/>
                        </a:rPr>
                        <a:t>Does not exist in the informal market at all, because strangers have no way to trust one another without a record</a:t>
                      </a:r>
                    </a:p>
                  </a:txBody>
                  <a:tcPr marL="45720" marR="109728" marT="27432" marB="27432" anchor="ctr">
                    <a:lnB w="9525" cap="flat" cmpd="sng" algn="ctr">
                      <a:solidFill>
                        <a:srgbClr val="DCE3D6"/>
                      </a:solidFill>
                    </a:lnB>
                    <a:solidFill>
                      <a:srgbClr val="FFFFFF"/>
                    </a:solidFill>
                  </a:tcPr>
                </a:tc>
              </a:tr>
              <a:tr h="499740">
                <a:tc>
                  <a:txBody>
                    <a:bodyPr wrap="square"/>
                    <a:lstStyle/>
                    <a:p>
                      <a:r>
                        <a:rPr sz="750" b="0">
                          <a:solidFill>
                            <a:srgbClr val="26301F"/>
                          </a:solidFill>
                          <a:latin typeface="Segoe UI"/>
                        </a:rPr>
                        <a:t>Daily circles</a:t>
                      </a:r>
                    </a:p>
                  </a:txBody>
                  <a:tcPr marL="45720" marR="109728" marT="27432" marB="27432" anchor="ctr">
                    <a:lnB w="9525" cap="flat" cmpd="sng" algn="ctr">
                      <a:solidFill>
                        <a:srgbClr val="DCE3D6"/>
                      </a:solidFill>
                    </a:lnB>
                    <a:solidFill>
                      <a:srgbClr val="FFFFFF"/>
                    </a:solidFill>
                  </a:tcPr>
                </a:tc>
                <a:tc>
                  <a:txBody>
                    <a:bodyPr wrap="square"/>
                    <a:lstStyle/>
                    <a:p>
                      <a:r>
                        <a:rPr sz="750" b="0">
                          <a:solidFill>
                            <a:srgbClr val="26301F"/>
                          </a:solidFill>
                          <a:latin typeface="Segoe UI"/>
                        </a:rPr>
                        <a:t>Financial</a:t>
                      </a:r>
                    </a:p>
                  </a:txBody>
                  <a:tcPr marL="45720" marR="109728" marT="27432" marB="27432" anchor="ctr">
                    <a:lnB w="9525" cap="flat" cmpd="sng" algn="ctr">
                      <a:solidFill>
                        <a:srgbClr val="DCE3D6"/>
                      </a:solidFill>
                    </a:lnB>
                    <a:solidFill>
                      <a:srgbClr val="FFFFFF"/>
                    </a:solidFill>
                  </a:tcPr>
                </a:tc>
                <a:tc>
                  <a:txBody>
                    <a:bodyPr wrap="square"/>
                    <a:lstStyle/>
                    <a:p>
                      <a:r>
                        <a:rPr sz="750" b="0">
                          <a:solidFill>
                            <a:srgbClr val="26301F"/>
                          </a:solidFill>
                          <a:latin typeface="Segoe UI"/>
                        </a:rPr>
                        <a:t>Daily wage earners, the largest excluded group, who have no savings product today</a:t>
                      </a:r>
                    </a:p>
                  </a:txBody>
                  <a:tcPr marL="45720" marR="109728" marT="27432" marB="27432" anchor="ctr">
                    <a:lnB w="9525" cap="flat" cmpd="sng" algn="ctr">
                      <a:solidFill>
                        <a:srgbClr val="DCE3D6"/>
                      </a:solidFill>
                    </a:lnB>
                    <a:solidFill>
                      <a:srgbClr val="FFFFFF"/>
                    </a:solidFill>
                  </a:tcPr>
                </a:tc>
                <a:tc>
                  <a:txBody>
                    <a:bodyPr wrap="square"/>
                    <a:lstStyle/>
                    <a:p>
                      <a:r>
                        <a:rPr sz="750" b="0">
                          <a:solidFill>
                            <a:srgbClr val="26301F"/>
                          </a:solidFill>
                          <a:latin typeface="Segoe UI"/>
                        </a:rPr>
                        <a:t>Built around income that arrives daily rather than monthly, which every monthly product structurally excludes</a:t>
                      </a:r>
                    </a:p>
                  </a:txBody>
                  <a:tcPr marL="45720" marR="109728" marT="27432" marB="27432" anchor="ctr">
                    <a:lnB w="9525" cap="flat" cmpd="sng" algn="ctr">
                      <a:solidFill>
                        <a:srgbClr val="DCE3D6"/>
                      </a:solidFill>
                    </a:lnB>
                    <a:solidFill>
                      <a:srgbClr val="FFFFFF"/>
                    </a:solidFill>
                  </a:tcPr>
                </a:tc>
              </a:tr>
              <a:tr h="499740">
                <a:tc>
                  <a:txBody>
                    <a:bodyPr wrap="square"/>
                    <a:lstStyle/>
                    <a:p>
                      <a:r>
                        <a:rPr sz="750" b="0">
                          <a:solidFill>
                            <a:srgbClr val="26301F"/>
                          </a:solidFill>
                          <a:latin typeface="Segoe UI"/>
                        </a:rPr>
                        <a:t>Asset circles</a:t>
                      </a:r>
                    </a:p>
                  </a:txBody>
                  <a:tcPr marL="45720" marR="109728" marT="27432" marB="27432" anchor="ctr">
                    <a:lnB w="9525" cap="flat" cmpd="sng" algn="ctr">
                      <a:solidFill>
                        <a:srgbClr val="DCE3D6"/>
                      </a:solidFill>
                    </a:lnB>
                    <a:solidFill>
                      <a:srgbClr val="FFFFFF"/>
                    </a:solidFill>
                  </a:tcPr>
                </a:tc>
                <a:tc>
                  <a:txBody>
                    <a:bodyPr wrap="square"/>
                    <a:lstStyle/>
                    <a:p>
                      <a:r>
                        <a:rPr sz="750" b="0">
                          <a:solidFill>
                            <a:srgbClr val="26301F"/>
                          </a:solidFill>
                          <a:latin typeface="Segoe UI"/>
                        </a:rPr>
                        <a:t>Financial</a:t>
                      </a:r>
                    </a:p>
                  </a:txBody>
                  <a:tcPr marL="45720" marR="109728" marT="27432" marB="27432" anchor="ctr">
                    <a:lnB w="9525" cap="flat" cmpd="sng" algn="ctr">
                      <a:solidFill>
                        <a:srgbClr val="DCE3D6"/>
                      </a:solidFill>
                    </a:lnB>
                    <a:solidFill>
                      <a:srgbClr val="FFFFFF"/>
                    </a:solidFill>
                  </a:tcPr>
                </a:tc>
                <a:tc>
                  <a:txBody>
                    <a:bodyPr wrap="square"/>
                    <a:lstStyle/>
                    <a:p>
                      <a:r>
                        <a:rPr sz="750" b="0">
                          <a:solidFill>
                            <a:srgbClr val="26301F"/>
                          </a:solidFill>
                          <a:latin typeface="Segoe UI"/>
                        </a:rPr>
                        <a:t>Members saving towards a specific named item</a:t>
                      </a:r>
                    </a:p>
                  </a:txBody>
                  <a:tcPr marL="45720" marR="109728" marT="27432" marB="27432" anchor="ctr">
                    <a:lnB w="9525" cap="flat" cmpd="sng" algn="ctr">
                      <a:solidFill>
                        <a:srgbClr val="DCE3D6"/>
                      </a:solidFill>
                    </a:lnB>
                    <a:solidFill>
                      <a:srgbClr val="FFFFFF"/>
                    </a:solidFill>
                  </a:tcPr>
                </a:tc>
                <a:tc>
                  <a:txBody>
                    <a:bodyPr wrap="square"/>
                    <a:lstStyle/>
                    <a:p>
                      <a:r>
                        <a:rPr sz="750" b="0">
                          <a:solidFill>
                            <a:srgbClr val="26301F"/>
                          </a:solidFill>
                          <a:latin typeface="Segoe UI"/>
                        </a:rPr>
                        <a:t>The only product where the security is a physical thing that can be sold</a:t>
                      </a:r>
                    </a:p>
                  </a:txBody>
                  <a:tcPr marL="45720" marR="109728" marT="27432" marB="27432" anchor="ctr">
                    <a:lnB w="9525" cap="flat" cmpd="sng" algn="ctr">
                      <a:solidFill>
                        <a:srgbClr val="DCE3D6"/>
                      </a:solidFill>
                    </a:lnB>
                    <a:solidFill>
                      <a:srgbClr val="FFFFFF"/>
                    </a:solidFill>
                  </a:tcPr>
                </a:tc>
              </a:tr>
              <a:tr h="499740">
                <a:tc>
                  <a:txBody>
                    <a:bodyPr wrap="square"/>
                    <a:lstStyle/>
                    <a:p>
                      <a:r>
                        <a:rPr sz="750" b="0">
                          <a:solidFill>
                            <a:srgbClr val="26301F"/>
                          </a:solidFill>
                          <a:latin typeface="Segoe UI"/>
                        </a:rPr>
                        <a:t>The savings layer</a:t>
                      </a:r>
                    </a:p>
                  </a:txBody>
                  <a:tcPr marL="45720" marR="109728" marT="27432" marB="27432" anchor="ctr">
                    <a:lnB w="9525" cap="flat" cmpd="sng" algn="ctr">
                      <a:solidFill>
                        <a:srgbClr val="DCE3D6"/>
                      </a:solidFill>
                    </a:lnB>
                    <a:solidFill>
                      <a:srgbClr val="FFFFFF"/>
                    </a:solidFill>
                  </a:tcPr>
                </a:tc>
                <a:tc>
                  <a:txBody>
                    <a:bodyPr wrap="square"/>
                    <a:lstStyle/>
                    <a:p>
                      <a:r>
                        <a:rPr sz="750" b="0">
                          <a:solidFill>
                            <a:srgbClr val="26301F"/>
                          </a:solidFill>
                          <a:latin typeface="Segoe UI"/>
                        </a:rPr>
                        <a:t>Financial</a:t>
                      </a:r>
                    </a:p>
                  </a:txBody>
                  <a:tcPr marL="45720" marR="109728" marT="27432" marB="27432" anchor="ctr">
                    <a:lnB w="9525" cap="flat" cmpd="sng" algn="ctr">
                      <a:solidFill>
                        <a:srgbClr val="DCE3D6"/>
                      </a:solidFill>
                    </a:lnB>
                    <a:solidFill>
                      <a:srgbClr val="FFFFFF"/>
                    </a:solidFill>
                  </a:tcPr>
                </a:tc>
                <a:tc>
                  <a:txBody>
                    <a:bodyPr wrap="square"/>
                    <a:lstStyle/>
                    <a:p>
                      <a:r>
                        <a:rPr sz="750" b="0">
                          <a:solidFill>
                            <a:srgbClr val="26301F"/>
                          </a:solidFill>
                          <a:latin typeface="Segoe UI"/>
                        </a:rPr>
                        <a:t>Any member, alongside any circle</a:t>
                      </a:r>
                    </a:p>
                  </a:txBody>
                  <a:tcPr marL="45720" marR="109728" marT="27432" marB="27432" anchor="ctr">
                    <a:lnB w="9525" cap="flat" cmpd="sng" algn="ctr">
                      <a:solidFill>
                        <a:srgbClr val="DCE3D6"/>
                      </a:solidFill>
                    </a:lnB>
                    <a:solidFill>
                      <a:srgbClr val="FFFFFF"/>
                    </a:solidFill>
                  </a:tcPr>
                </a:tc>
                <a:tc>
                  <a:txBody>
                    <a:bodyPr wrap="square"/>
                    <a:lstStyle/>
                    <a:p>
                      <a:r>
                        <a:rPr sz="750" b="0">
                          <a:solidFill>
                            <a:srgbClr val="26301F"/>
                          </a:solidFill>
                          <a:latin typeface="Segoe UI"/>
                        </a:rPr>
                        <a:t>Money that earns nothing today earns a return, and pledged, it becomes the strongest default control in the model</a:t>
                      </a:r>
                    </a:p>
                  </a:txBody>
                  <a:tcPr marL="45720" marR="109728" marT="27432" marB="27432" anchor="ctr">
                    <a:lnB w="9525" cap="flat" cmpd="sng" algn="ctr">
                      <a:solidFill>
                        <a:srgbClr val="DCE3D6"/>
                      </a:solidFill>
                    </a:lnB>
                    <a:solidFill>
                      <a:srgbClr val="FFFFFF"/>
                    </a:solidFill>
                  </a:tcPr>
                </a:tc>
              </a:tr>
              <a:tr h="499740">
                <a:tc>
                  <a:txBody>
                    <a:bodyPr wrap="square"/>
                    <a:lstStyle/>
                    <a:p>
                      <a:r>
                        <a:rPr sz="750" b="0">
                          <a:solidFill>
                            <a:srgbClr val="26301F"/>
                          </a:solidFill>
                          <a:latin typeface="Segoe UI"/>
                        </a:rPr>
                        <a:t>The turn marketplace</a:t>
                      </a:r>
                    </a:p>
                  </a:txBody>
                  <a:tcPr marL="45720" marR="109728" marT="27432" marB="27432" anchor="ctr">
                    <a:lnB w="9525" cap="flat" cmpd="sng" algn="ctr">
                      <a:solidFill>
                        <a:srgbClr val="DCE3D6"/>
                      </a:solidFill>
                    </a:lnB>
                    <a:solidFill>
                      <a:srgbClr val="FFFFFF"/>
                    </a:solidFill>
                  </a:tcPr>
                </a:tc>
                <a:tc>
                  <a:txBody>
                    <a:bodyPr wrap="square"/>
                    <a:lstStyle/>
                    <a:p>
                      <a:r>
                        <a:rPr sz="750" b="0">
                          <a:solidFill>
                            <a:srgbClr val="26301F"/>
                          </a:solidFill>
                          <a:latin typeface="Segoe UI"/>
                        </a:rPr>
                        <a:t>Financial</a:t>
                      </a:r>
                    </a:p>
                  </a:txBody>
                  <a:tcPr marL="45720" marR="109728" marT="27432" marB="27432" anchor="ctr">
                    <a:lnB w="9525" cap="flat" cmpd="sng" algn="ctr">
                      <a:solidFill>
                        <a:srgbClr val="DCE3D6"/>
                      </a:solidFill>
                    </a:lnB>
                    <a:solidFill>
                      <a:srgbClr val="FFFFFF"/>
                    </a:solidFill>
                  </a:tcPr>
                </a:tc>
                <a:tc>
                  <a:txBody>
                    <a:bodyPr wrap="square"/>
                    <a:lstStyle/>
                    <a:p>
                      <a:r>
                        <a:rPr sz="750" b="0">
                          <a:solidFill>
                            <a:srgbClr val="26301F"/>
                          </a:solidFill>
                          <a:latin typeface="Segoe UI"/>
                        </a:rPr>
                        <a:t>Members whose circumstances changed after they joined</a:t>
                      </a:r>
                    </a:p>
                  </a:txBody>
                  <a:tcPr marL="45720" marR="109728" marT="27432" marB="27432" anchor="ctr">
                    <a:lnB w="9525" cap="flat" cmpd="sng" algn="ctr">
                      <a:solidFill>
                        <a:srgbClr val="DCE3D6"/>
                      </a:solidFill>
                    </a:lnB>
                    <a:solidFill>
                      <a:srgbClr val="FFFFFF"/>
                    </a:solidFill>
                  </a:tcPr>
                </a:tc>
                <a:tc>
                  <a:txBody>
                    <a:bodyPr wrap="square"/>
                    <a:lstStyle/>
                    <a:p>
                      <a:r>
                        <a:rPr sz="750" b="0">
                          <a:solidFill>
                            <a:srgbClr val="26301F"/>
                          </a:solidFill>
                          <a:latin typeface="Segoe UI"/>
                        </a:rPr>
                        <a:t>Lets two members trade positions without Halqa taking any position in the trade</a:t>
                      </a:r>
                    </a:p>
                  </a:txBody>
                  <a:tcPr marL="45720" marR="109728" marT="27432" marB="27432" anchor="ctr">
                    <a:lnB w="9525" cap="flat" cmpd="sng" algn="ctr">
                      <a:solidFill>
                        <a:srgbClr val="DCE3D6"/>
                      </a:solidFill>
                    </a:lnB>
                    <a:solidFill>
                      <a:srgbClr val="FFFFFF"/>
                    </a:solidFill>
                  </a:tcPr>
                </a:tc>
              </a:tr>
            </a:tbl>
          </a:graphicData>
        </a:graphic>
      </p:graphicFrame>
      <p:sp>
        <p:nvSpPr>
          <p:cNvPr id="8" name="TextBox 7"/>
          <p:cNvSpPr txBox="1"/>
          <p:nvPr/>
        </p:nvSpPr>
        <p:spPr>
          <a:xfrm>
            <a:off x="777240" y="5647020"/>
            <a:ext cx="10637215" cy="731520"/>
          </a:xfrm>
          <a:prstGeom prst="rect">
            <a:avLst/>
          </a:prstGeom>
          <a:noFill/>
        </p:spPr>
        <p:txBody>
          <a:bodyPr wrap="square" lIns="0" rIns="0" tIns="0" bIns="0">
            <a:spAutoFit/>
          </a:bodyPr>
          <a:lstStyle/>
          <a:p>
            <a:pPr algn="l">
              <a:lnSpc>
                <a:spcPct val="140000"/>
              </a:lnSpc>
            </a:pPr>
            <a:r>
              <a:rPr sz="1200" b="1" i="0">
                <a:solidFill>
                  <a:srgbClr val="0C1408"/>
                </a:solidFill>
                <a:latin typeface="Segoe UI"/>
              </a:rPr>
              <a:t>The distinction on the second column is not cosmetic. A social product is one where the trust already exists and the platform only records it. A financial product is one where the platform manufactures trust that was not there before, which is what requires verification, cover and price.</a:t>
            </a:r>
          </a:p>
        </p:txBody>
      </p:sp>
    </p:spTree>
  </p:cSld>
  <p:clrMapOvr>
    <a:masterClrMapping/>
  </p:clrMapOvr>
</p:sld>
</file>

<file path=ppt/slides/slide4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777240" y="566928"/>
            <a:ext cx="10637215" cy="219456"/>
          </a:xfrm>
          <a:prstGeom prst="rect">
            <a:avLst/>
          </a:prstGeom>
          <a:noFill/>
        </p:spPr>
        <p:txBody>
          <a:bodyPr wrap="square" lIns="0" rIns="0" tIns="0" bIns="0">
            <a:spAutoFit/>
          </a:bodyPr>
          <a:lstStyle/>
          <a:p>
            <a:pPr algn="l">
              <a:lnSpc>
                <a:spcPct val="125000"/>
              </a:lnSpc>
            </a:pPr>
            <a:r>
              <a:rPr sz="950" b="1" i="0">
                <a:solidFill>
                  <a:srgbClr val="41801A"/>
                </a:solidFill>
                <a:latin typeface="Segoe UI"/>
              </a:rPr>
              <a:t>7  KNOWN CIRCLES</a:t>
            </a:r>
          </a:p>
        </p:txBody>
      </p:sp>
      <p:sp>
        <p:nvSpPr>
          <p:cNvPr id="3" name="TextBox 2"/>
          <p:cNvSpPr txBox="1"/>
          <p:nvPr/>
        </p:nvSpPr>
        <p:spPr>
          <a:xfrm>
            <a:off x="777240" y="841248"/>
            <a:ext cx="10637215" cy="502920"/>
          </a:xfrm>
          <a:prstGeom prst="rect">
            <a:avLst/>
          </a:prstGeom>
          <a:noFill/>
        </p:spPr>
        <p:txBody>
          <a:bodyPr wrap="square" lIns="0" rIns="0" tIns="0" bIns="0">
            <a:spAutoFit/>
          </a:bodyPr>
          <a:lstStyle/>
          <a:p>
            <a:pPr algn="l">
              <a:lnSpc>
                <a:spcPct val="125000"/>
              </a:lnSpc>
            </a:pPr>
            <a:r>
              <a:rPr sz="2700" b="1" i="0">
                <a:solidFill>
                  <a:srgbClr val="0C1408"/>
                </a:solidFill>
                <a:latin typeface="Segoe UI"/>
              </a:rPr>
              <a:t>The social product</a:t>
            </a:r>
          </a:p>
        </p:txBody>
      </p:sp>
      <p:sp>
        <p:nvSpPr>
          <p:cNvPr id="4" name="Rectangle 3"/>
          <p:cNvSpPr/>
          <p:nvPr/>
        </p:nvSpPr>
        <p:spPr>
          <a:xfrm>
            <a:off x="777240" y="1417320"/>
            <a:ext cx="1371600" cy="22860"/>
          </a:xfrm>
          <a:prstGeom prst="rect">
            <a:avLst/>
          </a:prstGeom>
          <a:solidFill>
            <a:srgbClr val="6DC72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777240" y="6382512"/>
            <a:ext cx="3657600" cy="228600"/>
          </a:xfrm>
          <a:prstGeom prst="rect">
            <a:avLst/>
          </a:prstGeom>
          <a:noFill/>
        </p:spPr>
        <p:txBody>
          <a:bodyPr wrap="square" lIns="0" rIns="0" tIns="0" bIns="0">
            <a:spAutoFit/>
          </a:bodyPr>
          <a:lstStyle/>
          <a:p>
            <a:pPr algn="l">
              <a:lnSpc>
                <a:spcPct val="125000"/>
              </a:lnSpc>
            </a:pPr>
            <a:r>
              <a:rPr sz="900" b="0" i="0">
                <a:solidFill>
                  <a:srgbClr val="9AA694"/>
                </a:solidFill>
                <a:latin typeface="Segoe UI"/>
              </a:rPr>
              <a:t>Halqa  ·  Confidential</a:t>
            </a:r>
          </a:p>
        </p:txBody>
      </p:sp>
      <p:sp>
        <p:nvSpPr>
          <p:cNvPr id="6" name="TextBox 5"/>
          <p:cNvSpPr txBox="1"/>
          <p:nvPr/>
        </p:nvSpPr>
        <p:spPr>
          <a:xfrm>
            <a:off x="10728655" y="6382512"/>
            <a:ext cx="685800" cy="228600"/>
          </a:xfrm>
          <a:prstGeom prst="rect">
            <a:avLst/>
          </a:prstGeom>
          <a:noFill/>
        </p:spPr>
        <p:txBody>
          <a:bodyPr wrap="square" lIns="0" rIns="0" tIns="0" bIns="0">
            <a:spAutoFit/>
          </a:bodyPr>
          <a:lstStyle/>
          <a:p>
            <a:pPr algn="r">
              <a:lnSpc>
                <a:spcPct val="125000"/>
              </a:lnSpc>
            </a:pPr>
            <a:r>
              <a:rPr sz="900" b="0" i="0">
                <a:solidFill>
                  <a:srgbClr val="6F7B68"/>
                </a:solidFill>
                <a:latin typeface="Segoe UI"/>
              </a:rPr>
              <a:t>43</a:t>
            </a:r>
          </a:p>
        </p:txBody>
      </p:sp>
      <p:sp>
        <p:nvSpPr>
          <p:cNvPr id="7" name="TextBox 6"/>
          <p:cNvSpPr txBox="1"/>
          <p:nvPr/>
        </p:nvSpPr>
        <p:spPr>
          <a:xfrm>
            <a:off x="777240" y="1965960"/>
            <a:ext cx="10607040" cy="777240"/>
          </a:xfrm>
          <a:prstGeom prst="rect">
            <a:avLst/>
          </a:prstGeom>
          <a:noFill/>
        </p:spPr>
        <p:txBody>
          <a:bodyPr wrap="square" lIns="0" rIns="0" tIns="0" bIns="0">
            <a:spAutoFit/>
          </a:bodyPr>
          <a:lstStyle/>
          <a:p>
            <a:pPr algn="l">
              <a:lnSpc>
                <a:spcPct val="150000"/>
              </a:lnSpc>
            </a:pPr>
            <a:r>
              <a:rPr sz="1350" b="0" i="0">
                <a:solidFill>
                  <a:srgbClr val="26301F"/>
                </a:solidFill>
                <a:latin typeface="Segoe UI"/>
              </a:rPr>
              <a:t>A known circle is people who already trust each other. A mother and her sisters, a shop's staff, a street's traders. The trust is not something Halqa creates or underwrites, it already exists, and the platform's job is only to keep the record and move the money reliably. It is therefore deliberately the lightest product in the range.</a:t>
            </a:r>
          </a:p>
        </p:txBody>
      </p:sp>
      <p:graphicFrame>
        <p:nvGraphicFramePr>
          <p:cNvPr id="8" name="Table 7"/>
          <p:cNvGraphicFramePr>
            <a:graphicFrameLocks noGrp="1"/>
          </p:cNvGraphicFramePr>
          <p:nvPr/>
        </p:nvGraphicFramePr>
        <p:xfrm>
          <a:off x="777240" y="2926080"/>
          <a:ext cx="10607040" cy="2582240"/>
        </p:xfrm>
        <a:graphic>
          <a:graphicData uri="http://schemas.openxmlformats.org/drawingml/2006/table">
            <a:tbl>
              <a:tblPr>
                <a:tableStyleId>{5C22544A-7EE6-4342-B048-85BDC9FD1C3A}</a:tableStyleId>
              </a:tblPr>
              <a:tblGrid>
                <a:gridCol w="2377440"/>
                <a:gridCol w="8229600"/>
              </a:tblGrid>
              <a:tr h="258224">
                <a:tc>
                  <a:txBody>
                    <a:bodyPr wrap="square"/>
                    <a:lstStyle/>
                    <a:p>
                      <a:r>
                        <a:rPr sz="750" b="1">
                          <a:solidFill>
                            <a:srgbClr val="41801A"/>
                          </a:solidFill>
                          <a:latin typeface="Segoe UI"/>
                        </a:rPr>
                        <a:t>FEATURE</a:t>
                      </a:r>
                    </a:p>
                  </a:txBody>
                  <a:tcPr marL="45720" marR="109728" marT="27432" marB="27432" anchor="ctr">
                    <a:lnB w="9525" cap="flat" cmpd="sng" algn="ctr">
                      <a:solidFill>
                        <a:srgbClr val="41801A"/>
                      </a:solidFill>
                    </a:lnB>
                    <a:solidFill>
                      <a:srgbClr val="FFFFFF"/>
                    </a:solidFill>
                  </a:tcPr>
                </a:tc>
                <a:tc>
                  <a:txBody>
                    <a:bodyPr wrap="square"/>
                    <a:lstStyle/>
                    <a:p>
                      <a:r>
                        <a:rPr sz="750" b="1">
                          <a:solidFill>
                            <a:srgbClr val="41801A"/>
                          </a:solidFill>
                          <a:latin typeface="Segoe UI"/>
                        </a:rPr>
                        <a:t>HOW IT WORKS</a:t>
                      </a:r>
                    </a:p>
                  </a:txBody>
                  <a:tcPr marL="45720" marR="109728" marT="27432" marB="27432" anchor="ctr">
                    <a:lnB w="9525" cap="flat" cmpd="sng" algn="ctr">
                      <a:solidFill>
                        <a:srgbClr val="41801A"/>
                      </a:solidFill>
                    </a:lnB>
                    <a:solidFill>
                      <a:srgbClr val="FFFFFF"/>
                    </a:solidFill>
                  </a:tcPr>
                </a:tc>
              </a:tr>
              <a:tr h="258224">
                <a:tc>
                  <a:txBody>
                    <a:bodyPr wrap="square"/>
                    <a:lstStyle/>
                    <a:p>
                      <a:r>
                        <a:rPr sz="750" b="0">
                          <a:solidFill>
                            <a:srgbClr val="26301F"/>
                          </a:solidFill>
                          <a:latin typeface="Segoe UI"/>
                        </a:rPr>
                        <a:t>What is required to join</a:t>
                      </a:r>
                    </a:p>
                  </a:txBody>
                  <a:tcPr marL="45720" marR="109728" marT="27432" marB="27432" anchor="ctr">
                    <a:lnB w="9525" cap="flat" cmpd="sng" algn="ctr">
                      <a:solidFill>
                        <a:srgbClr val="DCE3D6"/>
                      </a:solidFill>
                    </a:lnB>
                    <a:solidFill>
                      <a:srgbClr val="FFFFFF"/>
                    </a:solidFill>
                  </a:tcPr>
                </a:tc>
                <a:tc>
                  <a:txBody>
                    <a:bodyPr wrap="square"/>
                    <a:lstStyle/>
                    <a:p>
                      <a:r>
                        <a:rPr sz="750" b="0">
                          <a:solidFill>
                            <a:srgbClr val="26301F"/>
                          </a:solidFill>
                          <a:latin typeface="Segoe UI"/>
                        </a:rPr>
                        <a:t>Identity only. The identity card, the phone number and a collection account. Nothing else</a:t>
                      </a:r>
                    </a:p>
                  </a:txBody>
                  <a:tcPr marL="45720" marR="109728" marT="27432" marB="27432" anchor="ctr">
                    <a:lnB w="9525" cap="flat" cmpd="sng" algn="ctr">
                      <a:solidFill>
                        <a:srgbClr val="DCE3D6"/>
                      </a:solidFill>
                    </a:lnB>
                    <a:solidFill>
                      <a:srgbClr val="FFFFFF"/>
                    </a:solidFill>
                  </a:tcPr>
                </a:tc>
              </a:tr>
              <a:tr h="258224">
                <a:tc>
                  <a:txBody>
                    <a:bodyPr wrap="square"/>
                    <a:lstStyle/>
                    <a:p>
                      <a:r>
                        <a:rPr sz="750" b="0">
                          <a:solidFill>
                            <a:srgbClr val="26301F"/>
                          </a:solidFill>
                          <a:latin typeface="Segoe UI"/>
                        </a:rPr>
                        <a:t>What is not required</a:t>
                      </a:r>
                    </a:p>
                  </a:txBody>
                  <a:tcPr marL="45720" marR="109728" marT="27432" marB="27432" anchor="ctr">
                    <a:lnB w="9525" cap="flat" cmpd="sng" algn="ctr">
                      <a:solidFill>
                        <a:srgbClr val="DCE3D6"/>
                      </a:solidFill>
                    </a:lnB>
                    <a:solidFill>
                      <a:srgbClr val="FFFFFF"/>
                    </a:solidFill>
                  </a:tcPr>
                </a:tc>
                <a:tc>
                  <a:txBody>
                    <a:bodyPr wrap="square"/>
                    <a:lstStyle/>
                    <a:p>
                      <a:r>
                        <a:rPr sz="750" b="0">
                          <a:solidFill>
                            <a:srgbClr val="26301F"/>
                          </a:solidFill>
                          <a:latin typeface="Segoe UI"/>
                        </a:rPr>
                        <a:t>No salary slip, no income verification, no proof of employment, no bank statement, no facial verification beyond joining, and no renewed weekly undertaking</a:t>
                      </a:r>
                    </a:p>
                  </a:txBody>
                  <a:tcPr marL="45720" marR="109728" marT="27432" marB="27432" anchor="ctr">
                    <a:lnB w="9525" cap="flat" cmpd="sng" algn="ctr">
                      <a:solidFill>
                        <a:srgbClr val="DCE3D6"/>
                      </a:solidFill>
                    </a:lnB>
                    <a:solidFill>
                      <a:srgbClr val="FFFFFF"/>
                    </a:solidFill>
                  </a:tcPr>
                </a:tc>
              </a:tr>
              <a:tr h="258224">
                <a:tc>
                  <a:txBody>
                    <a:bodyPr wrap="square"/>
                    <a:lstStyle/>
                    <a:p>
                      <a:r>
                        <a:rPr sz="750" b="0">
                          <a:solidFill>
                            <a:srgbClr val="26301F"/>
                          </a:solidFill>
                          <a:latin typeface="Segoe UI"/>
                        </a:rPr>
                        <a:t>The one contract</a:t>
                      </a:r>
                    </a:p>
                  </a:txBody>
                  <a:tcPr marL="45720" marR="109728" marT="27432" marB="27432" anchor="ctr">
                    <a:lnB w="9525" cap="flat" cmpd="sng" algn="ctr">
                      <a:solidFill>
                        <a:srgbClr val="DCE3D6"/>
                      </a:solidFill>
                    </a:lnB>
                    <a:solidFill>
                      <a:srgbClr val="FFFFFF"/>
                    </a:solidFill>
                  </a:tcPr>
                </a:tc>
                <a:tc>
                  <a:txBody>
                    <a:bodyPr wrap="square"/>
                    <a:lstStyle/>
                    <a:p>
                      <a:r>
                        <a:rPr sz="750" b="0">
                          <a:solidFill>
                            <a:srgbClr val="26301F"/>
                          </a:solidFill>
                          <a:latin typeface="Segoe UI"/>
                        </a:rPr>
                        <a:t>The personal guarantee, signed once at formation. It runs member to member, never to Halqa</a:t>
                      </a:r>
                    </a:p>
                  </a:txBody>
                  <a:tcPr marL="45720" marR="109728" marT="27432" marB="27432" anchor="ctr">
                    <a:lnB w="9525" cap="flat" cmpd="sng" algn="ctr">
                      <a:solidFill>
                        <a:srgbClr val="DCE3D6"/>
                      </a:solidFill>
                    </a:lnB>
                    <a:solidFill>
                      <a:srgbClr val="FFFFFF"/>
                    </a:solidFill>
                  </a:tcPr>
                </a:tc>
              </a:tr>
              <a:tr h="258224">
                <a:tc>
                  <a:txBody>
                    <a:bodyPr wrap="square"/>
                    <a:lstStyle/>
                    <a:p>
                      <a:r>
                        <a:rPr sz="750" b="0">
                          <a:solidFill>
                            <a:srgbClr val="26301F"/>
                          </a:solidFill>
                          <a:latin typeface="Segoe UI"/>
                        </a:rPr>
                        <a:t>The ceiling</a:t>
                      </a:r>
                    </a:p>
                  </a:txBody>
                  <a:tcPr marL="45720" marR="109728" marT="27432" marB="27432" anchor="ctr">
                    <a:lnB w="9525" cap="flat" cmpd="sng" algn="ctr">
                      <a:solidFill>
                        <a:srgbClr val="DCE3D6"/>
                      </a:solidFill>
                    </a:lnB>
                    <a:solidFill>
                      <a:srgbClr val="FFFFFF"/>
                    </a:solidFill>
                  </a:tcPr>
                </a:tc>
                <a:tc>
                  <a:txBody>
                    <a:bodyPr wrap="square"/>
                    <a:lstStyle/>
                    <a:p>
                      <a:r>
                        <a:rPr sz="750" b="0">
                          <a:solidFill>
                            <a:srgbClr val="26301F"/>
                          </a:solidFill>
                          <a:latin typeface="Segoe UI"/>
                        </a:rPr>
                        <a:t>A member may hold a maximum of three known circles at once. This is the only hard limit on the product and it exists because the platform is not verifying capacity, so it bounds exposure by count instead</a:t>
                      </a:r>
                    </a:p>
                  </a:txBody>
                  <a:tcPr marL="45720" marR="109728" marT="27432" marB="27432" anchor="ctr">
                    <a:lnB w="9525" cap="flat" cmpd="sng" algn="ctr">
                      <a:solidFill>
                        <a:srgbClr val="DCE3D6"/>
                      </a:solidFill>
                    </a:lnB>
                    <a:solidFill>
                      <a:srgbClr val="FFFFFF"/>
                    </a:solidFill>
                  </a:tcPr>
                </a:tc>
              </a:tr>
              <a:tr h="258224">
                <a:tc>
                  <a:txBody>
                    <a:bodyPr wrap="square"/>
                    <a:lstStyle/>
                    <a:p>
                      <a:r>
                        <a:rPr sz="750" b="0">
                          <a:solidFill>
                            <a:srgbClr val="26301F"/>
                          </a:solidFill>
                          <a:latin typeface="Segoe UI"/>
                        </a:rPr>
                        <a:t>Who forms it</a:t>
                      </a:r>
                    </a:p>
                  </a:txBody>
                  <a:tcPr marL="45720" marR="109728" marT="27432" marB="27432" anchor="ctr">
                    <a:lnB w="9525" cap="flat" cmpd="sng" algn="ctr">
                      <a:solidFill>
                        <a:srgbClr val="DCE3D6"/>
                      </a:solidFill>
                    </a:lnB>
                    <a:solidFill>
                      <a:srgbClr val="FFFFFF"/>
                    </a:solidFill>
                  </a:tcPr>
                </a:tc>
                <a:tc>
                  <a:txBody>
                    <a:bodyPr wrap="square"/>
                    <a:lstStyle/>
                    <a:p>
                      <a:r>
                        <a:rPr sz="750" b="0">
                          <a:solidFill>
                            <a:srgbClr val="26301F"/>
                          </a:solidFill>
                          <a:latin typeface="Segoe UI"/>
                        </a:rPr>
                        <a:t>A host, who invites specific people. There is no discovery and no matching. If you were not invited you cannot see it</a:t>
                      </a:r>
                    </a:p>
                  </a:txBody>
                  <a:tcPr marL="45720" marR="109728" marT="27432" marB="27432" anchor="ctr">
                    <a:lnB w="9525" cap="flat" cmpd="sng" algn="ctr">
                      <a:solidFill>
                        <a:srgbClr val="DCE3D6"/>
                      </a:solidFill>
                    </a:lnB>
                    <a:solidFill>
                      <a:srgbClr val="FFFFFF"/>
                    </a:solidFill>
                  </a:tcPr>
                </a:tc>
              </a:tr>
              <a:tr h="258224">
                <a:tc>
                  <a:txBody>
                    <a:bodyPr wrap="square"/>
                    <a:lstStyle/>
                    <a:p>
                      <a:r>
                        <a:rPr sz="750" b="0">
                          <a:solidFill>
                            <a:srgbClr val="26301F"/>
                          </a:solidFill>
                          <a:latin typeface="Segoe UI"/>
                        </a:rPr>
                        <a:t>Positions</a:t>
                      </a:r>
                    </a:p>
                  </a:txBody>
                  <a:tcPr marL="45720" marR="109728" marT="27432" marB="27432" anchor="ctr">
                    <a:lnB w="9525" cap="flat" cmpd="sng" algn="ctr">
                      <a:solidFill>
                        <a:srgbClr val="DCE3D6"/>
                      </a:solidFill>
                    </a:lnB>
                    <a:solidFill>
                      <a:srgbClr val="FFFFFF"/>
                    </a:solidFill>
                  </a:tcPr>
                </a:tc>
                <a:tc>
                  <a:txBody>
                    <a:bodyPr wrap="square"/>
                    <a:lstStyle/>
                    <a:p>
                      <a:r>
                        <a:rPr sz="750" b="0">
                          <a:solidFill>
                            <a:srgbClr val="26301F"/>
                          </a:solidFill>
                          <a:latin typeface="Segoe UI"/>
                        </a:rPr>
                        <a:t>Agreed inside the group, the way they always have been. Not gated by score</a:t>
                      </a:r>
                    </a:p>
                  </a:txBody>
                  <a:tcPr marL="45720" marR="109728" marT="27432" marB="27432" anchor="ctr">
                    <a:lnB w="9525" cap="flat" cmpd="sng" algn="ctr">
                      <a:solidFill>
                        <a:srgbClr val="DCE3D6"/>
                      </a:solidFill>
                    </a:lnB>
                    <a:solidFill>
                      <a:srgbClr val="FFFFFF"/>
                    </a:solidFill>
                  </a:tcPr>
                </a:tc>
              </a:tr>
              <a:tr h="258224">
                <a:tc>
                  <a:txBody>
                    <a:bodyPr wrap="square"/>
                    <a:lstStyle/>
                    <a:p>
                      <a:r>
                        <a:rPr sz="750" b="0">
                          <a:solidFill>
                            <a:srgbClr val="26301F"/>
                          </a:solidFill>
                          <a:latin typeface="Segoe UI"/>
                        </a:rPr>
                        <a:t>Cover</a:t>
                      </a:r>
                    </a:p>
                  </a:txBody>
                  <a:tcPr marL="45720" marR="109728" marT="27432" marB="27432" anchor="ctr">
                    <a:lnB w="9525" cap="flat" cmpd="sng" algn="ctr">
                      <a:solidFill>
                        <a:srgbClr val="DCE3D6"/>
                      </a:solidFill>
                    </a:lnB>
                    <a:solidFill>
                      <a:srgbClr val="FFFFFF"/>
                    </a:solidFill>
                  </a:tcPr>
                </a:tc>
                <a:tc>
                  <a:txBody>
                    <a:bodyPr wrap="square"/>
                    <a:lstStyle/>
                    <a:p>
                      <a:r>
                        <a:rPr sz="750" b="0">
                          <a:solidFill>
                            <a:srgbClr val="26301F"/>
                          </a:solidFill>
                          <a:latin typeface="Segoe UI"/>
                        </a:rPr>
                        <a:t>Optional. If the group does not take it, the group absorbs a loss between its remaining members</a:t>
                      </a:r>
                    </a:p>
                  </a:txBody>
                  <a:tcPr marL="45720" marR="109728" marT="27432" marB="27432" anchor="ctr">
                    <a:lnB w="9525" cap="flat" cmpd="sng" algn="ctr">
                      <a:solidFill>
                        <a:srgbClr val="DCE3D6"/>
                      </a:solidFill>
                    </a:lnB>
                    <a:solidFill>
                      <a:srgbClr val="FFFFFF"/>
                    </a:solidFill>
                  </a:tcPr>
                </a:tc>
              </a:tr>
              <a:tr h="258224">
                <a:tc>
                  <a:txBody>
                    <a:bodyPr wrap="square"/>
                    <a:lstStyle/>
                    <a:p>
                      <a:r>
                        <a:rPr sz="750" b="0">
                          <a:solidFill>
                            <a:srgbClr val="26301F"/>
                          </a:solidFill>
                          <a:latin typeface="Segoe UI"/>
                        </a:rPr>
                        <a:t>Late fees</a:t>
                      </a:r>
                    </a:p>
                  </a:txBody>
                  <a:tcPr marL="45720" marR="109728" marT="27432" marB="27432" anchor="ctr">
                    <a:lnB w="9525" cap="flat" cmpd="sng" algn="ctr">
                      <a:solidFill>
                        <a:srgbClr val="DCE3D6"/>
                      </a:solidFill>
                    </a:lnB>
                    <a:solidFill>
                      <a:srgbClr val="FFFFFF"/>
                    </a:solidFill>
                  </a:tcPr>
                </a:tc>
                <a:tc>
                  <a:txBody>
                    <a:bodyPr wrap="square"/>
                    <a:lstStyle/>
                    <a:p>
                      <a:r>
                        <a:rPr sz="750" b="0">
                          <a:solidFill>
                            <a:srgbClr val="26301F"/>
                          </a:solidFill>
                          <a:latin typeface="Segoe UI"/>
                        </a:rPr>
                        <a:t>Lighter than the financial products, because the enforcement here is social and the fee is a nudge rather than a deterrent</a:t>
                      </a:r>
                    </a:p>
                  </a:txBody>
                  <a:tcPr marL="45720" marR="109728" marT="27432" marB="27432" anchor="ctr">
                    <a:lnB w="9525" cap="flat" cmpd="sng" algn="ctr">
                      <a:solidFill>
                        <a:srgbClr val="DCE3D6"/>
                      </a:solidFill>
                    </a:lnB>
                    <a:solidFill>
                      <a:srgbClr val="FFFFFF"/>
                    </a:solidFill>
                  </a:tcPr>
                </a:tc>
              </a:tr>
              <a:tr h="258224">
                <a:tc>
                  <a:txBody>
                    <a:bodyPr wrap="square"/>
                    <a:lstStyle/>
                    <a:p>
                      <a:r>
                        <a:rPr sz="750" b="0">
                          <a:solidFill>
                            <a:srgbClr val="26301F"/>
                          </a:solidFill>
                          <a:latin typeface="Segoe UI"/>
                        </a:rPr>
                        <a:t>What the member still gets</a:t>
                      </a:r>
                    </a:p>
                  </a:txBody>
                  <a:tcPr marL="45720" marR="109728" marT="27432" marB="27432" anchor="ctr">
                    <a:lnB w="9525" cap="flat" cmpd="sng" algn="ctr">
                      <a:solidFill>
                        <a:srgbClr val="DCE3D6"/>
                      </a:solidFill>
                    </a:lnB>
                    <a:solidFill>
                      <a:srgbClr val="FFFFFF"/>
                    </a:solidFill>
                  </a:tcPr>
                </a:tc>
                <a:tc>
                  <a:txBody>
                    <a:bodyPr wrap="square"/>
                    <a:lstStyle/>
                    <a:p>
                      <a:r>
                        <a:rPr sz="750" b="0">
                          <a:solidFill>
                            <a:srgbClr val="26301F"/>
                          </a:solidFill>
                          <a:latin typeface="Segoe UI"/>
                        </a:rPr>
                        <a:t>The full record. Every settlement is receipted, timestamped and furnished to the bureau exactly as it is on a financial product. The credit history built here is worth precisely as much</a:t>
                      </a:r>
                    </a:p>
                  </a:txBody>
                  <a:tcPr marL="45720" marR="109728" marT="27432" marB="27432" anchor="ctr">
                    <a:lnB w="9525" cap="flat" cmpd="sng" algn="ctr">
                      <a:solidFill>
                        <a:srgbClr val="DCE3D6"/>
                      </a:solidFill>
                    </a:lnB>
                    <a:solidFill>
                      <a:srgbClr val="FFFFFF"/>
                    </a:solidFill>
                  </a:tcPr>
                </a:tc>
              </a:tr>
            </a:tbl>
          </a:graphicData>
        </a:graphic>
      </p:graphicFrame>
      <p:sp>
        <p:nvSpPr>
          <p:cNvPr id="9" name="TextBox 8"/>
          <p:cNvSpPr txBox="1"/>
          <p:nvPr/>
        </p:nvSpPr>
        <p:spPr>
          <a:xfrm>
            <a:off x="777240" y="5763776"/>
            <a:ext cx="10637215" cy="731520"/>
          </a:xfrm>
          <a:prstGeom prst="rect">
            <a:avLst/>
          </a:prstGeom>
          <a:noFill/>
        </p:spPr>
        <p:txBody>
          <a:bodyPr wrap="square" lIns="0" rIns="0" tIns="0" bIns="0">
            <a:spAutoFit/>
          </a:bodyPr>
          <a:lstStyle/>
          <a:p>
            <a:pPr algn="l">
              <a:lnSpc>
                <a:spcPct val="140000"/>
              </a:lnSpc>
            </a:pPr>
            <a:r>
              <a:rPr sz="1200" b="1" i="0">
                <a:solidFill>
                  <a:srgbClr val="0C1408"/>
                </a:solidFill>
                <a:latin typeface="Segoe UI"/>
              </a:rPr>
              <a:t>This is the product that meets people where they already are. It asks almost nothing of them and gives them the one thing the informal version never could, which is proof.</a:t>
            </a:r>
          </a:p>
        </p:txBody>
      </p:sp>
    </p:spTree>
  </p:cSld>
  <p:clrMapOvr>
    <a:masterClrMapping/>
  </p:clrMapOvr>
</p:sld>
</file>

<file path=ppt/slides/slide4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777240" y="566928"/>
            <a:ext cx="10637215" cy="219456"/>
          </a:xfrm>
          <a:prstGeom prst="rect">
            <a:avLst/>
          </a:prstGeom>
          <a:noFill/>
        </p:spPr>
        <p:txBody>
          <a:bodyPr wrap="square" lIns="0" rIns="0" tIns="0" bIns="0">
            <a:spAutoFit/>
          </a:bodyPr>
          <a:lstStyle/>
          <a:p>
            <a:pPr algn="l">
              <a:lnSpc>
                <a:spcPct val="125000"/>
              </a:lnSpc>
            </a:pPr>
            <a:r>
              <a:rPr sz="950" b="1" i="0">
                <a:solidFill>
                  <a:srgbClr val="41801A"/>
                </a:solidFill>
                <a:latin typeface="Segoe UI"/>
              </a:rPr>
              <a:t>7  OPEN CIRCLES</a:t>
            </a:r>
          </a:p>
        </p:txBody>
      </p:sp>
      <p:sp>
        <p:nvSpPr>
          <p:cNvPr id="3" name="TextBox 2"/>
          <p:cNvSpPr txBox="1"/>
          <p:nvPr/>
        </p:nvSpPr>
        <p:spPr>
          <a:xfrm>
            <a:off x="777240" y="841248"/>
            <a:ext cx="10637215" cy="502920"/>
          </a:xfrm>
          <a:prstGeom prst="rect">
            <a:avLst/>
          </a:prstGeom>
          <a:noFill/>
        </p:spPr>
        <p:txBody>
          <a:bodyPr wrap="square" lIns="0" rIns="0" tIns="0" bIns="0">
            <a:spAutoFit/>
          </a:bodyPr>
          <a:lstStyle/>
          <a:p>
            <a:pPr algn="l">
              <a:lnSpc>
                <a:spcPct val="125000"/>
              </a:lnSpc>
            </a:pPr>
            <a:r>
              <a:rPr sz="2700" b="1" i="0">
                <a:solidFill>
                  <a:srgbClr val="0C1408"/>
                </a:solidFill>
                <a:latin typeface="Segoe UI"/>
              </a:rPr>
              <a:t>The financial product</a:t>
            </a:r>
          </a:p>
        </p:txBody>
      </p:sp>
      <p:sp>
        <p:nvSpPr>
          <p:cNvPr id="4" name="Rectangle 3"/>
          <p:cNvSpPr/>
          <p:nvPr/>
        </p:nvSpPr>
        <p:spPr>
          <a:xfrm>
            <a:off x="777240" y="1417320"/>
            <a:ext cx="1371600" cy="22860"/>
          </a:xfrm>
          <a:prstGeom prst="rect">
            <a:avLst/>
          </a:prstGeom>
          <a:solidFill>
            <a:srgbClr val="6DC72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777240" y="6382512"/>
            <a:ext cx="3657600" cy="228600"/>
          </a:xfrm>
          <a:prstGeom prst="rect">
            <a:avLst/>
          </a:prstGeom>
          <a:noFill/>
        </p:spPr>
        <p:txBody>
          <a:bodyPr wrap="square" lIns="0" rIns="0" tIns="0" bIns="0">
            <a:spAutoFit/>
          </a:bodyPr>
          <a:lstStyle/>
          <a:p>
            <a:pPr algn="l">
              <a:lnSpc>
                <a:spcPct val="125000"/>
              </a:lnSpc>
            </a:pPr>
            <a:r>
              <a:rPr sz="900" b="0" i="0">
                <a:solidFill>
                  <a:srgbClr val="9AA694"/>
                </a:solidFill>
                <a:latin typeface="Segoe UI"/>
              </a:rPr>
              <a:t>Halqa  ·  Confidential</a:t>
            </a:r>
          </a:p>
        </p:txBody>
      </p:sp>
      <p:sp>
        <p:nvSpPr>
          <p:cNvPr id="6" name="TextBox 5"/>
          <p:cNvSpPr txBox="1"/>
          <p:nvPr/>
        </p:nvSpPr>
        <p:spPr>
          <a:xfrm>
            <a:off x="10728655" y="6382512"/>
            <a:ext cx="685800" cy="228600"/>
          </a:xfrm>
          <a:prstGeom prst="rect">
            <a:avLst/>
          </a:prstGeom>
          <a:noFill/>
        </p:spPr>
        <p:txBody>
          <a:bodyPr wrap="square" lIns="0" rIns="0" tIns="0" bIns="0">
            <a:spAutoFit/>
          </a:bodyPr>
          <a:lstStyle/>
          <a:p>
            <a:pPr algn="r">
              <a:lnSpc>
                <a:spcPct val="125000"/>
              </a:lnSpc>
            </a:pPr>
            <a:r>
              <a:rPr sz="900" b="0" i="0">
                <a:solidFill>
                  <a:srgbClr val="6F7B68"/>
                </a:solidFill>
                <a:latin typeface="Segoe UI"/>
              </a:rPr>
              <a:t>44</a:t>
            </a:r>
          </a:p>
        </p:txBody>
      </p:sp>
      <p:graphicFrame>
        <p:nvGraphicFramePr>
          <p:cNvPr id="7" name="Table 6"/>
          <p:cNvGraphicFramePr>
            <a:graphicFrameLocks noGrp="1"/>
          </p:cNvGraphicFramePr>
          <p:nvPr/>
        </p:nvGraphicFramePr>
        <p:xfrm>
          <a:off x="777240" y="1965960"/>
          <a:ext cx="10607040" cy="3675892"/>
        </p:xfrm>
        <a:graphic>
          <a:graphicData uri="http://schemas.openxmlformats.org/drawingml/2006/table">
            <a:tbl>
              <a:tblPr>
                <a:tableStyleId>{5C22544A-7EE6-4342-B048-85BDC9FD1C3A}</a:tableStyleId>
              </a:tblPr>
              <a:tblGrid>
                <a:gridCol w="2377440"/>
                <a:gridCol w="8229600"/>
              </a:tblGrid>
              <a:tr h="334172">
                <a:tc>
                  <a:txBody>
                    <a:bodyPr wrap="square"/>
                    <a:lstStyle/>
                    <a:p>
                      <a:r>
                        <a:rPr sz="800" b="1">
                          <a:solidFill>
                            <a:srgbClr val="41801A"/>
                          </a:solidFill>
                          <a:latin typeface="Segoe UI"/>
                        </a:rPr>
                        <a:t>FEATURE</a:t>
                      </a:r>
                    </a:p>
                  </a:txBody>
                  <a:tcPr marL="45720" marR="109728" marT="27432" marB="27432" anchor="ctr">
                    <a:lnB w="9525" cap="flat" cmpd="sng" algn="ctr">
                      <a:solidFill>
                        <a:srgbClr val="41801A"/>
                      </a:solidFill>
                    </a:lnB>
                    <a:solidFill>
                      <a:srgbClr val="FFFFFF"/>
                    </a:solidFill>
                  </a:tcPr>
                </a:tc>
                <a:tc>
                  <a:txBody>
                    <a:bodyPr wrap="square"/>
                    <a:lstStyle/>
                    <a:p>
                      <a:r>
                        <a:rPr sz="800" b="1">
                          <a:solidFill>
                            <a:srgbClr val="41801A"/>
                          </a:solidFill>
                          <a:latin typeface="Segoe UI"/>
                        </a:rPr>
                        <a:t>HOW IT WORKS</a:t>
                      </a:r>
                    </a:p>
                  </a:txBody>
                  <a:tcPr marL="45720" marR="109728" marT="27432" marB="27432" anchor="ctr">
                    <a:lnB w="9525" cap="flat" cmpd="sng" algn="ctr">
                      <a:solidFill>
                        <a:srgbClr val="41801A"/>
                      </a:solidFill>
                    </a:lnB>
                    <a:solidFill>
                      <a:srgbClr val="FFFFFF"/>
                    </a:solidFill>
                  </a:tcPr>
                </a:tc>
              </a:tr>
              <a:tr h="334172">
                <a:tc>
                  <a:txBody>
                    <a:bodyPr wrap="square"/>
                    <a:lstStyle/>
                    <a:p>
                      <a:r>
                        <a:rPr sz="800" b="0">
                          <a:solidFill>
                            <a:srgbClr val="26301F"/>
                          </a:solidFill>
                          <a:latin typeface="Segoe UI"/>
                        </a:rPr>
                        <a:t>What is required to join</a:t>
                      </a:r>
                    </a:p>
                  </a:txBody>
                  <a:tcPr marL="45720" marR="109728" marT="27432" marB="27432" anchor="ctr">
                    <a:lnB w="9525" cap="flat" cmpd="sng" algn="ctr">
                      <a:solidFill>
                        <a:srgbClr val="DCE3D6"/>
                      </a:solidFill>
                    </a:lnB>
                    <a:solidFill>
                      <a:srgbClr val="FFFFFF"/>
                    </a:solidFill>
                  </a:tcPr>
                </a:tc>
                <a:tc>
                  <a:txBody>
                    <a:bodyPr wrap="square"/>
                    <a:lstStyle/>
                    <a:p>
                      <a:r>
                        <a:rPr sz="800" b="0">
                          <a:solidFill>
                            <a:srgbClr val="26301F"/>
                          </a:solidFill>
                          <a:latin typeface="Segoe UI"/>
                        </a:rPr>
                        <a:t>Everything in the ten step registration, plus income evidence for any position in the first half of the order, plus facial verification at joining and on the full trigger list thereafter</a:t>
                      </a:r>
                    </a:p>
                  </a:txBody>
                  <a:tcPr marL="45720" marR="109728" marT="27432" marB="27432" anchor="ctr">
                    <a:lnB w="9525" cap="flat" cmpd="sng" algn="ctr">
                      <a:solidFill>
                        <a:srgbClr val="DCE3D6"/>
                      </a:solidFill>
                    </a:lnB>
                    <a:solidFill>
                      <a:srgbClr val="FFFFFF"/>
                    </a:solidFill>
                  </a:tcPr>
                </a:tc>
              </a:tr>
              <a:tr h="334172">
                <a:tc>
                  <a:txBody>
                    <a:bodyPr wrap="square"/>
                    <a:lstStyle/>
                    <a:p>
                      <a:r>
                        <a:rPr sz="800" b="0">
                          <a:solidFill>
                            <a:srgbClr val="26301F"/>
                          </a:solidFill>
                          <a:latin typeface="Segoe UI"/>
                        </a:rPr>
                        <a:t>Who forms it</a:t>
                      </a:r>
                    </a:p>
                  </a:txBody>
                  <a:tcPr marL="45720" marR="109728" marT="27432" marB="27432" anchor="ctr">
                    <a:lnB w="9525" cap="flat" cmpd="sng" algn="ctr">
                      <a:solidFill>
                        <a:srgbClr val="DCE3D6"/>
                      </a:solidFill>
                    </a:lnB>
                    <a:solidFill>
                      <a:srgbClr val="FFFFFF"/>
                    </a:solidFill>
                  </a:tcPr>
                </a:tc>
                <a:tc>
                  <a:txBody>
                    <a:bodyPr wrap="square"/>
                    <a:lstStyle/>
                    <a:p>
                      <a:r>
                        <a:rPr sz="800" b="0">
                          <a:solidFill>
                            <a:srgbClr val="26301F"/>
                          </a:solidFill>
                          <a:latin typeface="Segoe UI"/>
                        </a:rPr>
                        <a:t>The platform, by matching strangers who never meet. This is the product that does not exist informally</a:t>
                      </a:r>
                    </a:p>
                  </a:txBody>
                  <a:tcPr marL="45720" marR="109728" marT="27432" marB="27432" anchor="ctr">
                    <a:lnB w="9525" cap="flat" cmpd="sng" algn="ctr">
                      <a:solidFill>
                        <a:srgbClr val="DCE3D6"/>
                      </a:solidFill>
                    </a:lnB>
                    <a:solidFill>
                      <a:srgbClr val="FFFFFF"/>
                    </a:solidFill>
                  </a:tcPr>
                </a:tc>
              </a:tr>
              <a:tr h="334172">
                <a:tc>
                  <a:txBody>
                    <a:bodyPr wrap="square"/>
                    <a:lstStyle/>
                    <a:p>
                      <a:r>
                        <a:rPr sz="800" b="0">
                          <a:solidFill>
                            <a:srgbClr val="26301F"/>
                          </a:solidFill>
                          <a:latin typeface="Segoe UI"/>
                        </a:rPr>
                        <a:t>Positions</a:t>
                      </a:r>
                    </a:p>
                  </a:txBody>
                  <a:tcPr marL="45720" marR="109728" marT="27432" marB="27432" anchor="ctr">
                    <a:lnB w="9525" cap="flat" cmpd="sng" algn="ctr">
                      <a:solidFill>
                        <a:srgbClr val="DCE3D6"/>
                      </a:solidFill>
                    </a:lnB>
                    <a:solidFill>
                      <a:srgbClr val="FFFFFF"/>
                    </a:solidFill>
                  </a:tcPr>
                </a:tc>
                <a:tc>
                  <a:txBody>
                    <a:bodyPr wrap="square"/>
                    <a:lstStyle/>
                    <a:p>
                      <a:r>
                        <a:rPr sz="800" b="0">
                          <a:solidFill>
                            <a:srgbClr val="26301F"/>
                          </a:solidFill>
                          <a:latin typeface="Segoe UI"/>
                        </a:rPr>
                        <a:t>Claimed by the member, gated by their score band. Ineligible positions are not displayed</a:t>
                      </a:r>
                    </a:p>
                  </a:txBody>
                  <a:tcPr marL="45720" marR="109728" marT="27432" marB="27432" anchor="ctr">
                    <a:lnB w="9525" cap="flat" cmpd="sng" algn="ctr">
                      <a:solidFill>
                        <a:srgbClr val="DCE3D6"/>
                      </a:solidFill>
                    </a:lnB>
                    <a:solidFill>
                      <a:srgbClr val="FFFFFF"/>
                    </a:solidFill>
                  </a:tcPr>
                </a:tc>
              </a:tr>
              <a:tr h="334172">
                <a:tc>
                  <a:txBody>
                    <a:bodyPr wrap="square"/>
                    <a:lstStyle/>
                    <a:p>
                      <a:r>
                        <a:rPr sz="800" b="0">
                          <a:solidFill>
                            <a:srgbClr val="26301F"/>
                          </a:solidFill>
                          <a:latin typeface="Segoe UI"/>
                        </a:rPr>
                        <a:t>The new member rule</a:t>
                      </a:r>
                    </a:p>
                  </a:txBody>
                  <a:tcPr marL="45720" marR="109728" marT="27432" marB="27432" anchor="ctr">
                    <a:lnB w="9525" cap="flat" cmpd="sng" algn="ctr">
                      <a:solidFill>
                        <a:srgbClr val="DCE3D6"/>
                      </a:solidFill>
                    </a:lnB>
                    <a:solidFill>
                      <a:srgbClr val="FFFFFF"/>
                    </a:solidFill>
                  </a:tcPr>
                </a:tc>
                <a:tc>
                  <a:txBody>
                    <a:bodyPr wrap="square"/>
                    <a:lstStyle/>
                    <a:p>
                      <a:r>
                        <a:rPr sz="800" b="0">
                          <a:solidFill>
                            <a:srgbClr val="26301F"/>
                          </a:solidFill>
                          <a:latin typeface="Segoe UI"/>
                        </a:rPr>
                        <a:t>One of the last three positions only, until two circles have been completed cleanly and a manual check has passed</a:t>
                      </a:r>
                    </a:p>
                  </a:txBody>
                  <a:tcPr marL="45720" marR="109728" marT="27432" marB="27432" anchor="ctr">
                    <a:lnB w="9525" cap="flat" cmpd="sng" algn="ctr">
                      <a:solidFill>
                        <a:srgbClr val="DCE3D6"/>
                      </a:solidFill>
                    </a:lnB>
                    <a:solidFill>
                      <a:srgbClr val="FFFFFF"/>
                    </a:solidFill>
                  </a:tcPr>
                </a:tc>
              </a:tr>
              <a:tr h="334172">
                <a:tc>
                  <a:txBody>
                    <a:bodyPr wrap="square"/>
                    <a:lstStyle/>
                    <a:p>
                      <a:r>
                        <a:rPr sz="800" b="0">
                          <a:solidFill>
                            <a:srgbClr val="26301F"/>
                          </a:solidFill>
                          <a:latin typeface="Segoe UI"/>
                        </a:rPr>
                        <a:t>Contracts</a:t>
                      </a:r>
                    </a:p>
                  </a:txBody>
                  <a:tcPr marL="45720" marR="109728" marT="27432" marB="27432" anchor="ctr">
                    <a:lnB w="9525" cap="flat" cmpd="sng" algn="ctr">
                      <a:solidFill>
                        <a:srgbClr val="DCE3D6"/>
                      </a:solidFill>
                    </a:lnB>
                    <a:solidFill>
                      <a:srgbClr val="FFFFFF"/>
                    </a:solidFill>
                  </a:tcPr>
                </a:tc>
                <a:tc>
                  <a:txBody>
                    <a:bodyPr wrap="square"/>
                    <a:lstStyle/>
                    <a:p>
                      <a:r>
                        <a:rPr sz="800" b="0">
                          <a:solidFill>
                            <a:srgbClr val="26301F"/>
                          </a:solidFill>
                          <a:latin typeface="Segoe UI"/>
                        </a:rPr>
                        <a:t>The personal guarantee, plus an undertaking renewed weekly, plus recorded consent to automatic collection and bureau reporting</a:t>
                      </a:r>
                    </a:p>
                  </a:txBody>
                  <a:tcPr marL="45720" marR="109728" marT="27432" marB="27432" anchor="ctr">
                    <a:lnB w="9525" cap="flat" cmpd="sng" algn="ctr">
                      <a:solidFill>
                        <a:srgbClr val="DCE3D6"/>
                      </a:solidFill>
                    </a:lnB>
                    <a:solidFill>
                      <a:srgbClr val="FFFFFF"/>
                    </a:solidFill>
                  </a:tcPr>
                </a:tc>
              </a:tr>
              <a:tr h="334172">
                <a:tc>
                  <a:txBody>
                    <a:bodyPr wrap="square"/>
                    <a:lstStyle/>
                    <a:p>
                      <a:r>
                        <a:rPr sz="800" b="0">
                          <a:solidFill>
                            <a:srgbClr val="26301F"/>
                          </a:solidFill>
                          <a:latin typeface="Segoe UI"/>
                        </a:rPr>
                        <a:t>Cover</a:t>
                      </a:r>
                    </a:p>
                  </a:txBody>
                  <a:tcPr marL="45720" marR="109728" marT="27432" marB="27432" anchor="ctr">
                    <a:lnB w="9525" cap="flat" cmpd="sng" algn="ctr">
                      <a:solidFill>
                        <a:srgbClr val="DCE3D6"/>
                      </a:solidFill>
                    </a:lnB>
                    <a:solidFill>
                      <a:srgbClr val="FFFFFF"/>
                    </a:solidFill>
                  </a:tcPr>
                </a:tc>
                <a:tc>
                  <a:txBody>
                    <a:bodyPr wrap="square"/>
                    <a:lstStyle/>
                    <a:p>
                      <a:r>
                        <a:rPr sz="800" b="0">
                          <a:solidFill>
                            <a:srgbClr val="26301F"/>
                          </a:solidFill>
                          <a:latin typeface="Segoe UI"/>
                        </a:rPr>
                        <a:t>Compulsory. Halqa covers a missed contribution from the first round, so the member whose turn it is is paid in full and on time regardless</a:t>
                      </a:r>
                    </a:p>
                  </a:txBody>
                  <a:tcPr marL="45720" marR="109728" marT="27432" marB="27432" anchor="ctr">
                    <a:lnB w="9525" cap="flat" cmpd="sng" algn="ctr">
                      <a:solidFill>
                        <a:srgbClr val="DCE3D6"/>
                      </a:solidFill>
                    </a:lnB>
                    <a:solidFill>
                      <a:srgbClr val="FFFFFF"/>
                    </a:solidFill>
                  </a:tcPr>
                </a:tc>
              </a:tr>
              <a:tr h="334172">
                <a:tc>
                  <a:txBody>
                    <a:bodyPr wrap="square"/>
                    <a:lstStyle/>
                    <a:p>
                      <a:r>
                        <a:rPr sz="800" b="0">
                          <a:solidFill>
                            <a:srgbClr val="26301F"/>
                          </a:solidFill>
                          <a:latin typeface="Segoe UI"/>
                        </a:rPr>
                        <a:t>Concurrency</a:t>
                      </a:r>
                    </a:p>
                  </a:txBody>
                  <a:tcPr marL="45720" marR="109728" marT="27432" marB="27432" anchor="ctr">
                    <a:lnB w="9525" cap="flat" cmpd="sng" algn="ctr">
                      <a:solidFill>
                        <a:srgbClr val="DCE3D6"/>
                      </a:solidFill>
                    </a:lnB>
                    <a:solidFill>
                      <a:srgbClr val="FFFFFF"/>
                    </a:solidFill>
                  </a:tcPr>
                </a:tc>
                <a:tc>
                  <a:txBody>
                    <a:bodyPr wrap="square"/>
                    <a:lstStyle/>
                    <a:p>
                      <a:r>
                        <a:rPr sz="800" b="0">
                          <a:solidFill>
                            <a:srgbClr val="26301F"/>
                          </a:solidFill>
                          <a:latin typeface="Segoe UI"/>
                        </a:rPr>
                        <a:t>One circle if income is unverified, four if verified</a:t>
                      </a:r>
                    </a:p>
                  </a:txBody>
                  <a:tcPr marL="45720" marR="109728" marT="27432" marB="27432" anchor="ctr">
                    <a:lnB w="9525" cap="flat" cmpd="sng" algn="ctr">
                      <a:solidFill>
                        <a:srgbClr val="DCE3D6"/>
                      </a:solidFill>
                    </a:lnB>
                    <a:solidFill>
                      <a:srgbClr val="FFFFFF"/>
                    </a:solidFill>
                  </a:tcPr>
                </a:tc>
              </a:tr>
              <a:tr h="334172">
                <a:tc>
                  <a:txBody>
                    <a:bodyPr wrap="square"/>
                    <a:lstStyle/>
                    <a:p>
                      <a:r>
                        <a:rPr sz="800" b="0">
                          <a:solidFill>
                            <a:srgbClr val="26301F"/>
                          </a:solidFill>
                          <a:latin typeface="Segoe UI"/>
                        </a:rPr>
                        <a:t>Late fees</a:t>
                      </a:r>
                    </a:p>
                  </a:txBody>
                  <a:tcPr marL="45720" marR="109728" marT="27432" marB="27432" anchor="ctr">
                    <a:lnB w="9525" cap="flat" cmpd="sng" algn="ctr">
                      <a:solidFill>
                        <a:srgbClr val="DCE3D6"/>
                      </a:solidFill>
                    </a:lnB>
                    <a:solidFill>
                      <a:srgbClr val="FFFFFF"/>
                    </a:solidFill>
                  </a:tcPr>
                </a:tc>
                <a:tc>
                  <a:txBody>
                    <a:bodyPr wrap="square"/>
                    <a:lstStyle/>
                    <a:p>
                      <a:r>
                        <a:rPr sz="800" b="0">
                          <a:solidFill>
                            <a:srgbClr val="26301F"/>
                          </a:solidFill>
                          <a:latin typeface="Segoe UI"/>
                        </a:rPr>
                        <a:t>A three step escalating ladder, steeper than the social product, with matched score damage at every step</a:t>
                      </a:r>
                    </a:p>
                  </a:txBody>
                  <a:tcPr marL="45720" marR="109728" marT="27432" marB="27432" anchor="ctr">
                    <a:lnB w="9525" cap="flat" cmpd="sng" algn="ctr">
                      <a:solidFill>
                        <a:srgbClr val="DCE3D6"/>
                      </a:solidFill>
                    </a:lnB>
                    <a:solidFill>
                      <a:srgbClr val="FFFFFF"/>
                    </a:solidFill>
                  </a:tcPr>
                </a:tc>
              </a:tr>
              <a:tr h="334172">
                <a:tc>
                  <a:txBody>
                    <a:bodyPr wrap="square"/>
                    <a:lstStyle/>
                    <a:p>
                      <a:r>
                        <a:rPr sz="800" b="0">
                          <a:solidFill>
                            <a:srgbClr val="26301F"/>
                          </a:solidFill>
                          <a:latin typeface="Segoe UI"/>
                        </a:rPr>
                        <a:t>Positions tradeable</a:t>
                      </a:r>
                    </a:p>
                  </a:txBody>
                  <a:tcPr marL="45720" marR="109728" marT="27432" marB="27432" anchor="ctr">
                    <a:lnB w="9525" cap="flat" cmpd="sng" algn="ctr">
                      <a:solidFill>
                        <a:srgbClr val="DCE3D6"/>
                      </a:solidFill>
                    </a:lnB>
                    <a:solidFill>
                      <a:srgbClr val="FFFFFF"/>
                    </a:solidFill>
                  </a:tcPr>
                </a:tc>
                <a:tc>
                  <a:txBody>
                    <a:bodyPr wrap="square"/>
                    <a:lstStyle/>
                    <a:p>
                      <a:r>
                        <a:rPr sz="800" b="0">
                          <a:solidFill>
                            <a:srgbClr val="26301F"/>
                          </a:solidFill>
                          <a:latin typeface="Segoe UI"/>
                        </a:rPr>
                        <a:t>Yes, on the turn marketplace, subject to the buyer being eligible for the position they take on</a:t>
                      </a:r>
                    </a:p>
                  </a:txBody>
                  <a:tcPr marL="45720" marR="109728" marT="27432" marB="27432" anchor="ctr">
                    <a:lnB w="9525" cap="flat" cmpd="sng" algn="ctr">
                      <a:solidFill>
                        <a:srgbClr val="DCE3D6"/>
                      </a:solidFill>
                    </a:lnB>
                    <a:solidFill>
                      <a:srgbClr val="FFFFFF"/>
                    </a:solidFill>
                  </a:tcPr>
                </a:tc>
              </a:tr>
              <a:tr h="334172">
                <a:tc>
                  <a:txBody>
                    <a:bodyPr wrap="square"/>
                    <a:lstStyle/>
                    <a:p>
                      <a:r>
                        <a:rPr sz="800" b="0">
                          <a:solidFill>
                            <a:srgbClr val="26301F"/>
                          </a:solidFill>
                          <a:latin typeface="Segoe UI"/>
                        </a:rPr>
                        <a:t>Who carries a loss</a:t>
                      </a:r>
                    </a:p>
                  </a:txBody>
                  <a:tcPr marL="45720" marR="109728" marT="27432" marB="27432" anchor="ctr">
                    <a:lnB w="9525" cap="flat" cmpd="sng" algn="ctr">
                      <a:solidFill>
                        <a:srgbClr val="DCE3D6"/>
                      </a:solidFill>
                    </a:lnB>
                    <a:solidFill>
                      <a:srgbClr val="FFFFFF"/>
                    </a:solidFill>
                  </a:tcPr>
                </a:tc>
                <a:tc>
                  <a:txBody>
                    <a:bodyPr wrap="square"/>
                    <a:lstStyle/>
                    <a:p>
                      <a:r>
                        <a:rPr sz="800" b="0">
                          <a:solidFill>
                            <a:srgbClr val="26301F"/>
                          </a:solidFill>
                          <a:latin typeface="Segoe UI"/>
                        </a:rPr>
                        <a:t>Halqa, through the cover facility, which then pursues the member who failed</a:t>
                      </a:r>
                    </a:p>
                  </a:txBody>
                  <a:tcPr marL="45720" marR="109728" marT="27432" marB="27432" anchor="ctr">
                    <a:lnB w="9525" cap="flat" cmpd="sng" algn="ctr">
                      <a:solidFill>
                        <a:srgbClr val="DCE3D6"/>
                      </a:solidFill>
                    </a:lnB>
                    <a:solidFill>
                      <a:srgbClr val="FFFFFF"/>
                    </a:solidFill>
                  </a:tcPr>
                </a:tc>
              </a:tr>
            </a:tbl>
          </a:graphicData>
        </a:graphic>
      </p:graphicFrame>
      <p:sp>
        <p:nvSpPr>
          <p:cNvPr id="8" name="TextBox 7"/>
          <p:cNvSpPr txBox="1"/>
          <p:nvPr/>
        </p:nvSpPr>
        <p:spPr>
          <a:xfrm>
            <a:off x="777240" y="5824732"/>
            <a:ext cx="10637215" cy="731520"/>
          </a:xfrm>
          <a:prstGeom prst="rect">
            <a:avLst/>
          </a:prstGeom>
          <a:noFill/>
        </p:spPr>
        <p:txBody>
          <a:bodyPr wrap="square" lIns="0" rIns="0" tIns="0" bIns="0">
            <a:spAutoFit/>
          </a:bodyPr>
          <a:lstStyle/>
          <a:p>
            <a:pPr algn="l">
              <a:lnSpc>
                <a:spcPct val="140000"/>
              </a:lnSpc>
            </a:pPr>
            <a:r>
              <a:rPr sz="1200" b="1" i="0">
                <a:solidFill>
                  <a:srgbClr val="0C1408"/>
                </a:solidFill>
                <a:latin typeface="Segoe UI"/>
              </a:rPr>
              <a:t>Everything heavier in this column exists for one reason: the members are strangers. The verification and the cover are what stand in for the relationship a known circle already has.</a:t>
            </a:r>
          </a:p>
        </p:txBody>
      </p:sp>
    </p:spTree>
  </p:cSld>
  <p:clrMapOvr>
    <a:masterClrMapping/>
  </p:clrMapOvr>
</p:sld>
</file>

<file path=ppt/slides/slide4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777240" y="566928"/>
            <a:ext cx="10637215" cy="219456"/>
          </a:xfrm>
          <a:prstGeom prst="rect">
            <a:avLst/>
          </a:prstGeom>
          <a:noFill/>
        </p:spPr>
        <p:txBody>
          <a:bodyPr wrap="square" lIns="0" rIns="0" tIns="0" bIns="0">
            <a:spAutoFit/>
          </a:bodyPr>
          <a:lstStyle/>
          <a:p>
            <a:pPr algn="l">
              <a:lnSpc>
                <a:spcPct val="125000"/>
              </a:lnSpc>
            </a:pPr>
            <a:r>
              <a:rPr sz="950" b="1" i="0">
                <a:solidFill>
                  <a:srgbClr val="41801A"/>
                </a:solidFill>
                <a:latin typeface="Segoe UI"/>
              </a:rPr>
              <a:t>7  HYPER COMMITTEES</a:t>
            </a:r>
          </a:p>
        </p:txBody>
      </p:sp>
      <p:sp>
        <p:nvSpPr>
          <p:cNvPr id="3" name="TextBox 2"/>
          <p:cNvSpPr txBox="1"/>
          <p:nvPr/>
        </p:nvSpPr>
        <p:spPr>
          <a:xfrm>
            <a:off x="777240" y="841248"/>
            <a:ext cx="10637215" cy="502920"/>
          </a:xfrm>
          <a:prstGeom prst="rect">
            <a:avLst/>
          </a:prstGeom>
          <a:noFill/>
        </p:spPr>
        <p:txBody>
          <a:bodyPr wrap="square" lIns="0" rIns="0" tIns="0" bIns="0">
            <a:spAutoFit/>
          </a:bodyPr>
          <a:lstStyle/>
          <a:p>
            <a:pPr algn="l">
              <a:lnSpc>
                <a:spcPct val="125000"/>
              </a:lnSpc>
            </a:pPr>
            <a:r>
              <a:rPr sz="2700" b="1" i="0">
                <a:solidFill>
                  <a:srgbClr val="0C1408"/>
                </a:solidFill>
                <a:latin typeface="Segoe UI"/>
              </a:rPr>
              <a:t>The daily product, in numbers</a:t>
            </a:r>
          </a:p>
        </p:txBody>
      </p:sp>
      <p:sp>
        <p:nvSpPr>
          <p:cNvPr id="4" name="Rectangle 3"/>
          <p:cNvSpPr/>
          <p:nvPr/>
        </p:nvSpPr>
        <p:spPr>
          <a:xfrm>
            <a:off x="777240" y="1417320"/>
            <a:ext cx="1371600" cy="22860"/>
          </a:xfrm>
          <a:prstGeom prst="rect">
            <a:avLst/>
          </a:prstGeom>
          <a:solidFill>
            <a:srgbClr val="6DC72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777240" y="6382512"/>
            <a:ext cx="3657600" cy="228600"/>
          </a:xfrm>
          <a:prstGeom prst="rect">
            <a:avLst/>
          </a:prstGeom>
          <a:noFill/>
        </p:spPr>
        <p:txBody>
          <a:bodyPr wrap="square" lIns="0" rIns="0" tIns="0" bIns="0">
            <a:spAutoFit/>
          </a:bodyPr>
          <a:lstStyle/>
          <a:p>
            <a:pPr algn="l">
              <a:lnSpc>
                <a:spcPct val="125000"/>
              </a:lnSpc>
            </a:pPr>
            <a:r>
              <a:rPr sz="900" b="0" i="0">
                <a:solidFill>
                  <a:srgbClr val="9AA694"/>
                </a:solidFill>
                <a:latin typeface="Segoe UI"/>
              </a:rPr>
              <a:t>Halqa  ·  Confidential</a:t>
            </a:r>
          </a:p>
        </p:txBody>
      </p:sp>
      <p:sp>
        <p:nvSpPr>
          <p:cNvPr id="6" name="TextBox 5"/>
          <p:cNvSpPr txBox="1"/>
          <p:nvPr/>
        </p:nvSpPr>
        <p:spPr>
          <a:xfrm>
            <a:off x="10728655" y="6382512"/>
            <a:ext cx="685800" cy="228600"/>
          </a:xfrm>
          <a:prstGeom prst="rect">
            <a:avLst/>
          </a:prstGeom>
          <a:noFill/>
        </p:spPr>
        <p:txBody>
          <a:bodyPr wrap="square" lIns="0" rIns="0" tIns="0" bIns="0">
            <a:spAutoFit/>
          </a:bodyPr>
          <a:lstStyle/>
          <a:p>
            <a:pPr algn="r">
              <a:lnSpc>
                <a:spcPct val="125000"/>
              </a:lnSpc>
            </a:pPr>
            <a:r>
              <a:rPr sz="900" b="0" i="0">
                <a:solidFill>
                  <a:srgbClr val="6F7B68"/>
                </a:solidFill>
                <a:latin typeface="Segoe UI"/>
              </a:rPr>
              <a:t>45</a:t>
            </a:r>
          </a:p>
        </p:txBody>
      </p:sp>
      <p:sp>
        <p:nvSpPr>
          <p:cNvPr id="7" name="TextBox 6"/>
          <p:cNvSpPr txBox="1"/>
          <p:nvPr/>
        </p:nvSpPr>
        <p:spPr>
          <a:xfrm>
            <a:off x="777240" y="2011680"/>
            <a:ext cx="2384983" cy="548640"/>
          </a:xfrm>
          <a:prstGeom prst="rect">
            <a:avLst/>
          </a:prstGeom>
          <a:noFill/>
        </p:spPr>
        <p:txBody>
          <a:bodyPr wrap="square" lIns="0" rIns="0" tIns="0" bIns="0">
            <a:spAutoFit/>
          </a:bodyPr>
          <a:lstStyle/>
          <a:p>
            <a:pPr algn="l">
              <a:lnSpc>
                <a:spcPct val="125000"/>
              </a:lnSpc>
            </a:pPr>
            <a:r>
              <a:rPr sz="3000" b="1" i="0">
                <a:solidFill>
                  <a:srgbClr val="41801A"/>
                </a:solidFill>
                <a:latin typeface="Segoe UI"/>
              </a:rPr>
              <a:t>Rs 15,000</a:t>
            </a:r>
          </a:p>
        </p:txBody>
      </p:sp>
      <p:sp>
        <p:nvSpPr>
          <p:cNvPr id="8" name="TextBox 7"/>
          <p:cNvSpPr txBox="1"/>
          <p:nvPr/>
        </p:nvSpPr>
        <p:spPr>
          <a:xfrm>
            <a:off x="777240" y="2578608"/>
            <a:ext cx="2384983" cy="548640"/>
          </a:xfrm>
          <a:prstGeom prst="rect">
            <a:avLst/>
          </a:prstGeom>
          <a:noFill/>
        </p:spPr>
        <p:txBody>
          <a:bodyPr wrap="square" lIns="0" rIns="0" tIns="0" bIns="0">
            <a:spAutoFit/>
          </a:bodyPr>
          <a:lstStyle/>
          <a:p>
            <a:pPr algn="l">
              <a:lnSpc>
                <a:spcPct val="130000"/>
              </a:lnSpc>
            </a:pPr>
            <a:r>
              <a:rPr sz="1100" b="0" i="0">
                <a:solidFill>
                  <a:srgbClr val="6F7B68"/>
                </a:solidFill>
                <a:latin typeface="Segoe UI"/>
              </a:rPr>
              <a:t>The pot ceiling. Sixty daily contributions of Rs 250. This is a hard cap, not a guideline</a:t>
            </a:r>
          </a:p>
        </p:txBody>
      </p:sp>
      <p:sp>
        <p:nvSpPr>
          <p:cNvPr id="9" name="TextBox 8"/>
          <p:cNvSpPr txBox="1"/>
          <p:nvPr/>
        </p:nvSpPr>
        <p:spPr>
          <a:xfrm>
            <a:off x="3436543" y="2011680"/>
            <a:ext cx="2384983" cy="548640"/>
          </a:xfrm>
          <a:prstGeom prst="rect">
            <a:avLst/>
          </a:prstGeom>
          <a:noFill/>
        </p:spPr>
        <p:txBody>
          <a:bodyPr wrap="square" lIns="0" rIns="0" tIns="0" bIns="0">
            <a:spAutoFit/>
          </a:bodyPr>
          <a:lstStyle/>
          <a:p>
            <a:pPr algn="l">
              <a:lnSpc>
                <a:spcPct val="125000"/>
              </a:lnSpc>
            </a:pPr>
            <a:r>
              <a:rPr sz="3000" b="1" i="0">
                <a:solidFill>
                  <a:srgbClr val="41801A"/>
                </a:solidFill>
                <a:latin typeface="Segoe UI"/>
              </a:rPr>
              <a:t>400</a:t>
            </a:r>
          </a:p>
        </p:txBody>
      </p:sp>
      <p:sp>
        <p:nvSpPr>
          <p:cNvPr id="10" name="TextBox 9"/>
          <p:cNvSpPr txBox="1"/>
          <p:nvPr/>
        </p:nvSpPr>
        <p:spPr>
          <a:xfrm>
            <a:off x="3436543" y="2578608"/>
            <a:ext cx="2384983" cy="548640"/>
          </a:xfrm>
          <a:prstGeom prst="rect">
            <a:avLst/>
          </a:prstGeom>
          <a:noFill/>
        </p:spPr>
        <p:txBody>
          <a:bodyPr wrap="square" lIns="0" rIns="0" tIns="0" bIns="0">
            <a:spAutoFit/>
          </a:bodyPr>
          <a:lstStyle/>
          <a:p>
            <a:pPr algn="l">
              <a:lnSpc>
                <a:spcPct val="130000"/>
              </a:lnSpc>
            </a:pPr>
            <a:r>
              <a:rPr sz="1100" b="0" i="0">
                <a:solidFill>
                  <a:srgbClr val="6F7B68"/>
                </a:solidFill>
                <a:latin typeface="Segoe UI"/>
              </a:rPr>
              <a:t>Members, fixed. Six or seven collect every single day</a:t>
            </a:r>
          </a:p>
        </p:txBody>
      </p:sp>
      <p:sp>
        <p:nvSpPr>
          <p:cNvPr id="11" name="TextBox 10"/>
          <p:cNvSpPr txBox="1"/>
          <p:nvPr/>
        </p:nvSpPr>
        <p:spPr>
          <a:xfrm>
            <a:off x="6095847" y="2011680"/>
            <a:ext cx="2384983" cy="548640"/>
          </a:xfrm>
          <a:prstGeom prst="rect">
            <a:avLst/>
          </a:prstGeom>
          <a:noFill/>
        </p:spPr>
        <p:txBody>
          <a:bodyPr wrap="square" lIns="0" rIns="0" tIns="0" bIns="0">
            <a:spAutoFit/>
          </a:bodyPr>
          <a:lstStyle/>
          <a:p>
            <a:pPr algn="l">
              <a:lnSpc>
                <a:spcPct val="125000"/>
              </a:lnSpc>
            </a:pPr>
            <a:r>
              <a:rPr sz="3000" b="1" i="0">
                <a:solidFill>
                  <a:srgbClr val="41801A"/>
                </a:solidFill>
                <a:latin typeface="Segoe UI"/>
              </a:rPr>
              <a:t>60 days</a:t>
            </a:r>
          </a:p>
        </p:txBody>
      </p:sp>
      <p:sp>
        <p:nvSpPr>
          <p:cNvPr id="12" name="TextBox 11"/>
          <p:cNvSpPr txBox="1"/>
          <p:nvPr/>
        </p:nvSpPr>
        <p:spPr>
          <a:xfrm>
            <a:off x="6095847" y="2578608"/>
            <a:ext cx="2384983" cy="548640"/>
          </a:xfrm>
          <a:prstGeom prst="rect">
            <a:avLst/>
          </a:prstGeom>
          <a:noFill/>
        </p:spPr>
        <p:txBody>
          <a:bodyPr wrap="square" lIns="0" rIns="0" tIns="0" bIns="0">
            <a:spAutoFit/>
          </a:bodyPr>
          <a:lstStyle/>
          <a:p>
            <a:pPr algn="l">
              <a:lnSpc>
                <a:spcPct val="130000"/>
              </a:lnSpc>
            </a:pPr>
            <a:r>
              <a:rPr sz="1100" b="0" i="0">
                <a:solidFill>
                  <a:srgbClr val="6F7B68"/>
                </a:solidFill>
                <a:latin typeface="Segoe UI"/>
              </a:rPr>
              <a:t>Fixed. Short enough that a drift of defaults cannot compound</a:t>
            </a:r>
          </a:p>
        </p:txBody>
      </p:sp>
      <p:sp>
        <p:nvSpPr>
          <p:cNvPr id="13" name="TextBox 12"/>
          <p:cNvSpPr txBox="1"/>
          <p:nvPr/>
        </p:nvSpPr>
        <p:spPr>
          <a:xfrm>
            <a:off x="8755151" y="2011680"/>
            <a:ext cx="2384983" cy="548640"/>
          </a:xfrm>
          <a:prstGeom prst="rect">
            <a:avLst/>
          </a:prstGeom>
          <a:noFill/>
        </p:spPr>
        <p:txBody>
          <a:bodyPr wrap="square" lIns="0" rIns="0" tIns="0" bIns="0">
            <a:spAutoFit/>
          </a:bodyPr>
          <a:lstStyle/>
          <a:p>
            <a:pPr algn="l">
              <a:lnSpc>
                <a:spcPct val="125000"/>
              </a:lnSpc>
            </a:pPr>
            <a:r>
              <a:rPr sz="3000" b="1" i="0">
                <a:solidFill>
                  <a:srgbClr val="41801A"/>
                </a:solidFill>
                <a:latin typeface="Segoe UI"/>
              </a:rPr>
              <a:t>15%</a:t>
            </a:r>
          </a:p>
        </p:txBody>
      </p:sp>
      <p:sp>
        <p:nvSpPr>
          <p:cNvPr id="14" name="TextBox 13"/>
          <p:cNvSpPr txBox="1"/>
          <p:nvPr/>
        </p:nvSpPr>
        <p:spPr>
          <a:xfrm>
            <a:off x="8755151" y="2578608"/>
            <a:ext cx="2384983" cy="548640"/>
          </a:xfrm>
          <a:prstGeom prst="rect">
            <a:avLst/>
          </a:prstGeom>
          <a:noFill/>
        </p:spPr>
        <p:txBody>
          <a:bodyPr wrap="square" lIns="0" rIns="0" tIns="0" bIns="0">
            <a:spAutoFit/>
          </a:bodyPr>
          <a:lstStyle/>
          <a:p>
            <a:pPr algn="l">
              <a:lnSpc>
                <a:spcPct val="130000"/>
              </a:lnSpc>
            </a:pPr>
            <a:r>
              <a:rPr sz="1100" b="0" i="0">
                <a:solidFill>
                  <a:srgbClr val="6F7B68"/>
                </a:solidFill>
                <a:latin typeface="Segoe UI"/>
              </a:rPr>
              <a:t>Halqa's fee, charged as a percentage here rather than the Rs 100 flat fee</a:t>
            </a:r>
          </a:p>
        </p:txBody>
      </p:sp>
      <p:sp>
        <p:nvSpPr>
          <p:cNvPr id="15" name="TextBox 14"/>
          <p:cNvSpPr txBox="1"/>
          <p:nvPr/>
        </p:nvSpPr>
        <p:spPr>
          <a:xfrm>
            <a:off x="777240" y="3749039"/>
            <a:ext cx="4983480" cy="274320"/>
          </a:xfrm>
          <a:prstGeom prst="rect">
            <a:avLst/>
          </a:prstGeom>
          <a:noFill/>
        </p:spPr>
        <p:txBody>
          <a:bodyPr wrap="square" lIns="0" rIns="0" tIns="0" bIns="0">
            <a:spAutoFit/>
          </a:bodyPr>
          <a:lstStyle/>
          <a:p>
            <a:pPr algn="l">
              <a:lnSpc>
                <a:spcPct val="125000"/>
              </a:lnSpc>
            </a:pPr>
            <a:r>
              <a:rPr sz="1250" b="1" i="0">
                <a:solidFill>
                  <a:srgbClr val="41801A"/>
                </a:solidFill>
                <a:latin typeface="Segoe UI"/>
              </a:rPr>
              <a:t>Why the pot is capped at Rs 15,000</a:t>
            </a:r>
          </a:p>
        </p:txBody>
      </p:sp>
      <p:sp>
        <p:nvSpPr>
          <p:cNvPr id="16" name="TextBox 15"/>
          <p:cNvSpPr txBox="1"/>
          <p:nvPr/>
        </p:nvSpPr>
        <p:spPr>
          <a:xfrm>
            <a:off x="777240" y="4133087"/>
            <a:ext cx="4983480" cy="2286000"/>
          </a:xfrm>
          <a:prstGeom prst="rect">
            <a:avLst/>
          </a:prstGeom>
          <a:noFill/>
        </p:spPr>
        <p:txBody>
          <a:bodyPr wrap="square" lIns="0" rIns="0" tIns="0" bIns="0">
            <a:spAutoFit/>
          </a:bodyPr>
          <a:lstStyle/>
          <a:p>
            <a:pPr algn="l">
              <a:lnSpc>
                <a:spcPct val="150000"/>
              </a:lnSpc>
            </a:pPr>
            <a:r>
              <a:rPr sz="1250" b="0" i="0">
                <a:solidFill>
                  <a:srgbClr val="26301F"/>
                </a:solidFill>
                <a:latin typeface="Segoe UI"/>
              </a:rPr>
              <a:t>A daily wage earner takes home somewhere between Rs 800 and Rs 1,500 on a working day. Rs 250 is a share of that they can carry.</a:t>
            </a:r>
          </a:p>
          <a:p>
            <a:pPr algn="l">
              <a:lnSpc>
                <a:spcPct val="150000"/>
              </a:lnSpc>
              <a:spcBef>
                <a:spcPts val="900"/>
              </a:spcBef>
            </a:pPr>
            <a:r>
              <a:rPr sz="1250" b="0" i="0">
                <a:solidFill>
                  <a:srgbClr val="26301F"/>
                </a:solidFill>
                <a:latin typeface="Segoe UI"/>
              </a:rPr>
              <a:t/>
            </a:r>
          </a:p>
          <a:p>
            <a:pPr algn="l">
              <a:lnSpc>
                <a:spcPct val="150000"/>
              </a:lnSpc>
              <a:spcBef>
                <a:spcPts val="900"/>
              </a:spcBef>
            </a:pPr>
            <a:r>
              <a:rPr sz="1250" b="0" i="0">
                <a:solidFill>
                  <a:srgbClr val="26301F"/>
                </a:solidFill>
                <a:latin typeface="Segoe UI"/>
              </a:rPr>
              <a:t>The cap also bounds the platform's exposure. The most any one member can cost is one pot, and one pot is Rs 15,000. Four hundred members do not create four hundred pots of risk.</a:t>
            </a:r>
          </a:p>
        </p:txBody>
      </p:sp>
      <p:sp>
        <p:nvSpPr>
          <p:cNvPr id="17" name="Rectangle 16"/>
          <p:cNvSpPr/>
          <p:nvPr/>
        </p:nvSpPr>
        <p:spPr>
          <a:xfrm>
            <a:off x="6062472" y="3749039"/>
            <a:ext cx="9525" cy="2286000"/>
          </a:xfrm>
          <a:prstGeom prst="rect">
            <a:avLst/>
          </a:prstGeom>
          <a:solidFill>
            <a:srgbClr val="E1E7D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6400800" y="3749039"/>
            <a:ext cx="4983480" cy="274320"/>
          </a:xfrm>
          <a:prstGeom prst="rect">
            <a:avLst/>
          </a:prstGeom>
          <a:noFill/>
        </p:spPr>
        <p:txBody>
          <a:bodyPr wrap="square" lIns="0" rIns="0" tIns="0" bIns="0">
            <a:spAutoFit/>
          </a:bodyPr>
          <a:lstStyle/>
          <a:p>
            <a:pPr algn="l">
              <a:lnSpc>
                <a:spcPct val="125000"/>
              </a:lnSpc>
            </a:pPr>
            <a:r>
              <a:rPr sz="1250" b="1" i="0">
                <a:solidFill>
                  <a:srgbClr val="41801A"/>
                </a:solidFill>
                <a:latin typeface="Segoe UI"/>
              </a:rPr>
              <a:t>Why the fee is a percentage here</a:t>
            </a:r>
          </a:p>
        </p:txBody>
      </p:sp>
      <p:sp>
        <p:nvSpPr>
          <p:cNvPr id="19" name="TextBox 18"/>
          <p:cNvSpPr txBox="1"/>
          <p:nvPr/>
        </p:nvSpPr>
        <p:spPr>
          <a:xfrm>
            <a:off x="6400800" y="4133087"/>
            <a:ext cx="4983480" cy="2286000"/>
          </a:xfrm>
          <a:prstGeom prst="rect">
            <a:avLst/>
          </a:prstGeom>
          <a:noFill/>
        </p:spPr>
        <p:txBody>
          <a:bodyPr wrap="square" lIns="0" rIns="0" tIns="0" bIns="0">
            <a:spAutoFit/>
          </a:bodyPr>
          <a:lstStyle/>
          <a:p>
            <a:pPr algn="l">
              <a:lnSpc>
                <a:spcPct val="150000"/>
              </a:lnSpc>
            </a:pPr>
            <a:r>
              <a:rPr sz="1250" b="0" i="0">
                <a:solidFill>
                  <a:srgbClr val="26301F"/>
                </a:solidFill>
                <a:latin typeface="Segoe UI"/>
              </a:rPr>
              <a:t>Rs 100 flat on a Rs 250 contribution would be a forty per cent charge. That is the shape of the lending applications the regulator removed, and it would not survive an app store review, let alone SECP.</a:t>
            </a:r>
          </a:p>
          <a:p>
            <a:pPr algn="l">
              <a:lnSpc>
                <a:spcPct val="150000"/>
              </a:lnSpc>
              <a:spcBef>
                <a:spcPts val="900"/>
              </a:spcBef>
            </a:pPr>
            <a:r>
              <a:rPr sz="1250" b="0" i="0">
                <a:solidFill>
                  <a:srgbClr val="26301F"/>
                </a:solidFill>
                <a:latin typeface="Segoe UI"/>
              </a:rPr>
              <a:t/>
            </a:r>
          </a:p>
          <a:p>
            <a:pPr algn="l">
              <a:lnSpc>
                <a:spcPct val="150000"/>
              </a:lnSpc>
              <a:spcBef>
                <a:spcPts val="900"/>
              </a:spcBef>
            </a:pPr>
            <a:r>
              <a:rPr sz="1250" b="0" i="0">
                <a:solidFill>
                  <a:srgbClr val="26301F"/>
                </a:solidFill>
                <a:latin typeface="Segoe UI"/>
              </a:rPr>
              <a:t>Fifteen per cent is Rs 37.50 a day. Across the cycle a member pays Rs 2,250 to move Rs 15,000, and the committee generates Rs 900,000 of fee income.</a:t>
            </a:r>
          </a:p>
        </p:txBody>
      </p:sp>
    </p:spTree>
  </p:cSld>
  <p:clrMapOvr>
    <a:masterClrMapping/>
  </p:clrMapOvr>
</p:sld>
</file>

<file path=ppt/slides/slide4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777240" y="566928"/>
            <a:ext cx="10637215" cy="219456"/>
          </a:xfrm>
          <a:prstGeom prst="rect">
            <a:avLst/>
          </a:prstGeom>
          <a:noFill/>
        </p:spPr>
        <p:txBody>
          <a:bodyPr wrap="square" lIns="0" rIns="0" tIns="0" bIns="0">
            <a:spAutoFit/>
          </a:bodyPr>
          <a:lstStyle/>
          <a:p>
            <a:pPr algn="l">
              <a:lnSpc>
                <a:spcPct val="125000"/>
              </a:lnSpc>
            </a:pPr>
            <a:r>
              <a:rPr sz="950" b="1" i="0">
                <a:solidFill>
                  <a:srgbClr val="41801A"/>
                </a:solidFill>
                <a:latin typeface="Segoe UI"/>
              </a:rPr>
              <a:t>7  HYPER COMMITTEES</a:t>
            </a:r>
          </a:p>
        </p:txBody>
      </p:sp>
      <p:sp>
        <p:nvSpPr>
          <p:cNvPr id="3" name="TextBox 2"/>
          <p:cNvSpPr txBox="1"/>
          <p:nvPr/>
        </p:nvSpPr>
        <p:spPr>
          <a:xfrm>
            <a:off x="777240" y="841248"/>
            <a:ext cx="10637215" cy="502920"/>
          </a:xfrm>
          <a:prstGeom prst="rect">
            <a:avLst/>
          </a:prstGeom>
          <a:noFill/>
        </p:spPr>
        <p:txBody>
          <a:bodyPr wrap="square" lIns="0" rIns="0" tIns="0" bIns="0">
            <a:spAutoFit/>
          </a:bodyPr>
          <a:lstStyle/>
          <a:p>
            <a:pPr algn="l">
              <a:lnSpc>
                <a:spcPct val="125000"/>
              </a:lnSpc>
            </a:pPr>
            <a:r>
              <a:rPr sz="2700" b="1" i="0">
                <a:solidFill>
                  <a:srgbClr val="0C1408"/>
                </a:solidFill>
                <a:latin typeface="Segoe UI"/>
              </a:rPr>
              <a:t>Getting in, and the opening auction</a:t>
            </a:r>
          </a:p>
        </p:txBody>
      </p:sp>
      <p:sp>
        <p:nvSpPr>
          <p:cNvPr id="4" name="Rectangle 3"/>
          <p:cNvSpPr/>
          <p:nvPr/>
        </p:nvSpPr>
        <p:spPr>
          <a:xfrm>
            <a:off x="777240" y="1417320"/>
            <a:ext cx="1371600" cy="22860"/>
          </a:xfrm>
          <a:prstGeom prst="rect">
            <a:avLst/>
          </a:prstGeom>
          <a:solidFill>
            <a:srgbClr val="6DC72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777240" y="6382512"/>
            <a:ext cx="3657600" cy="228600"/>
          </a:xfrm>
          <a:prstGeom prst="rect">
            <a:avLst/>
          </a:prstGeom>
          <a:noFill/>
        </p:spPr>
        <p:txBody>
          <a:bodyPr wrap="square" lIns="0" rIns="0" tIns="0" bIns="0">
            <a:spAutoFit/>
          </a:bodyPr>
          <a:lstStyle/>
          <a:p>
            <a:pPr algn="l">
              <a:lnSpc>
                <a:spcPct val="125000"/>
              </a:lnSpc>
            </a:pPr>
            <a:r>
              <a:rPr sz="900" b="0" i="0">
                <a:solidFill>
                  <a:srgbClr val="9AA694"/>
                </a:solidFill>
                <a:latin typeface="Segoe UI"/>
              </a:rPr>
              <a:t>Halqa  ·  Confidential</a:t>
            </a:r>
          </a:p>
        </p:txBody>
      </p:sp>
      <p:sp>
        <p:nvSpPr>
          <p:cNvPr id="6" name="TextBox 5"/>
          <p:cNvSpPr txBox="1"/>
          <p:nvPr/>
        </p:nvSpPr>
        <p:spPr>
          <a:xfrm>
            <a:off x="10728655" y="6382512"/>
            <a:ext cx="685800" cy="228600"/>
          </a:xfrm>
          <a:prstGeom prst="rect">
            <a:avLst/>
          </a:prstGeom>
          <a:noFill/>
        </p:spPr>
        <p:txBody>
          <a:bodyPr wrap="square" lIns="0" rIns="0" tIns="0" bIns="0">
            <a:spAutoFit/>
          </a:bodyPr>
          <a:lstStyle/>
          <a:p>
            <a:pPr algn="r">
              <a:lnSpc>
                <a:spcPct val="125000"/>
              </a:lnSpc>
            </a:pPr>
            <a:r>
              <a:rPr sz="900" b="0" i="0">
                <a:solidFill>
                  <a:srgbClr val="6F7B68"/>
                </a:solidFill>
                <a:latin typeface="Segoe UI"/>
              </a:rPr>
              <a:t>46</a:t>
            </a:r>
          </a:p>
        </p:txBody>
      </p:sp>
      <p:graphicFrame>
        <p:nvGraphicFramePr>
          <p:cNvPr id="7" name="Table 6"/>
          <p:cNvGraphicFramePr>
            <a:graphicFrameLocks noGrp="1"/>
          </p:cNvGraphicFramePr>
          <p:nvPr/>
        </p:nvGraphicFramePr>
        <p:xfrm>
          <a:off x="777240" y="1965960"/>
          <a:ext cx="10607040" cy="3635829"/>
        </p:xfrm>
        <a:graphic>
          <a:graphicData uri="http://schemas.openxmlformats.org/drawingml/2006/table">
            <a:tbl>
              <a:tblPr>
                <a:tableStyleId>{5C22544A-7EE6-4342-B048-85BDC9FD1C3A}</a:tableStyleId>
              </a:tblPr>
              <a:tblGrid>
                <a:gridCol w="1828800"/>
                <a:gridCol w="4937760"/>
                <a:gridCol w="3840480"/>
              </a:tblGrid>
              <a:tr h="403981">
                <a:tc>
                  <a:txBody>
                    <a:bodyPr wrap="square"/>
                    <a:lstStyle/>
                    <a:p>
                      <a:r>
                        <a:rPr sz="750" b="1">
                          <a:solidFill>
                            <a:srgbClr val="41801A"/>
                          </a:solidFill>
                          <a:latin typeface="Segoe UI"/>
                        </a:rPr>
                        <a:t>STAGE</a:t>
                      </a:r>
                    </a:p>
                  </a:txBody>
                  <a:tcPr marL="45720" marR="109728" marT="27432" marB="27432" anchor="ctr">
                    <a:lnB w="9525" cap="flat" cmpd="sng" algn="ctr">
                      <a:solidFill>
                        <a:srgbClr val="41801A"/>
                      </a:solidFill>
                    </a:lnB>
                    <a:solidFill>
                      <a:srgbClr val="FFFFFF"/>
                    </a:solidFill>
                  </a:tcPr>
                </a:tc>
                <a:tc>
                  <a:txBody>
                    <a:bodyPr wrap="square"/>
                    <a:lstStyle/>
                    <a:p>
                      <a:r>
                        <a:rPr sz="750" b="1">
                          <a:solidFill>
                            <a:srgbClr val="41801A"/>
                          </a:solidFill>
                          <a:latin typeface="Segoe UI"/>
                        </a:rPr>
                        <a:t>RULE</a:t>
                      </a:r>
                    </a:p>
                  </a:txBody>
                  <a:tcPr marL="45720" marR="109728" marT="27432" marB="27432" anchor="ctr">
                    <a:lnB w="9525" cap="flat" cmpd="sng" algn="ctr">
                      <a:solidFill>
                        <a:srgbClr val="41801A"/>
                      </a:solidFill>
                    </a:lnB>
                    <a:solidFill>
                      <a:srgbClr val="FFFFFF"/>
                    </a:solidFill>
                  </a:tcPr>
                </a:tc>
                <a:tc>
                  <a:txBody>
                    <a:bodyPr wrap="square"/>
                    <a:lstStyle/>
                    <a:p>
                      <a:r>
                        <a:rPr sz="750" b="1">
                          <a:solidFill>
                            <a:srgbClr val="41801A"/>
                          </a:solidFill>
                          <a:latin typeface="Segoe UI"/>
                        </a:rPr>
                        <a:t>WHY IT IS DRAWN THIS WAY</a:t>
                      </a:r>
                    </a:p>
                  </a:txBody>
                  <a:tcPr marL="45720" marR="109728" marT="27432" marB="27432" anchor="ctr">
                    <a:lnB w="9525" cap="flat" cmpd="sng" algn="ctr">
                      <a:solidFill>
                        <a:srgbClr val="41801A"/>
                      </a:solidFill>
                    </a:lnB>
                    <a:solidFill>
                      <a:srgbClr val="FFFFFF"/>
                    </a:solidFill>
                  </a:tcPr>
                </a:tc>
              </a:tr>
              <a:tr h="403981">
                <a:tc>
                  <a:txBody>
                    <a:bodyPr wrap="square"/>
                    <a:lstStyle/>
                    <a:p>
                      <a:r>
                        <a:rPr sz="750" b="0">
                          <a:solidFill>
                            <a:srgbClr val="26301F"/>
                          </a:solidFill>
                          <a:latin typeface="Segoe UI"/>
                        </a:rPr>
                        <a:t>Entry, route one</a:t>
                      </a:r>
                    </a:p>
                  </a:txBody>
                  <a:tcPr marL="45720" marR="109728" marT="27432" marB="27432" anchor="ctr">
                    <a:lnB w="9525" cap="flat" cmpd="sng" algn="ctr">
                      <a:solidFill>
                        <a:srgbClr val="DCE3D6"/>
                      </a:solidFill>
                    </a:lnB>
                    <a:solidFill>
                      <a:srgbClr val="FFFFFF"/>
                    </a:solidFill>
                  </a:tcPr>
                </a:tc>
                <a:tc>
                  <a:txBody>
                    <a:bodyPr wrap="square"/>
                    <a:lstStyle/>
                    <a:p>
                      <a:r>
                        <a:rPr sz="750" b="0">
                          <a:solidFill>
                            <a:srgbClr val="26301F"/>
                          </a:solidFill>
                          <a:latin typeface="Segoe UI"/>
                        </a:rPr>
                        <a:t>Two months of demonstrated daily earning: a ride hailing or delivery account showing daily history, a photographed trading licence or shop registration with two months of takings recorded in the app, or two months of Halqa's own collection record</a:t>
                      </a:r>
                    </a:p>
                  </a:txBody>
                  <a:tcPr marL="45720" marR="109728" marT="27432" marB="27432" anchor="ctr">
                    <a:lnB w="9525" cap="flat" cmpd="sng" algn="ctr">
                      <a:solidFill>
                        <a:srgbClr val="DCE3D6"/>
                      </a:solidFill>
                    </a:lnB>
                    <a:solidFill>
                      <a:srgbClr val="FFFFFF"/>
                    </a:solidFill>
                  </a:tcPr>
                </a:tc>
                <a:tc>
                  <a:txBody>
                    <a:bodyPr wrap="square"/>
                    <a:lstStyle/>
                    <a:p>
                      <a:r>
                        <a:rPr sz="750" b="0">
                          <a:solidFill>
                            <a:srgbClr val="26301F"/>
                          </a:solidFill>
                          <a:latin typeface="Segoe UI"/>
                        </a:rPr>
                        <a:t>There is no payslip in this population, so the evidence has to be behavioural</a:t>
                      </a:r>
                    </a:p>
                  </a:txBody>
                  <a:tcPr marL="45720" marR="109728" marT="27432" marB="27432" anchor="ctr">
                    <a:lnB w="9525" cap="flat" cmpd="sng" algn="ctr">
                      <a:solidFill>
                        <a:srgbClr val="DCE3D6"/>
                      </a:solidFill>
                    </a:lnB>
                    <a:solidFill>
                      <a:srgbClr val="FFFFFF"/>
                    </a:solidFill>
                  </a:tcPr>
                </a:tc>
              </a:tr>
              <a:tr h="403981">
                <a:tc>
                  <a:txBody>
                    <a:bodyPr wrap="square"/>
                    <a:lstStyle/>
                    <a:p>
                      <a:r>
                        <a:rPr sz="750" b="0">
                          <a:solidFill>
                            <a:srgbClr val="26301F"/>
                          </a:solidFill>
                          <a:latin typeface="Segoe UI"/>
                        </a:rPr>
                        <a:t>Entry, route two</a:t>
                      </a:r>
                    </a:p>
                  </a:txBody>
                  <a:tcPr marL="45720" marR="109728" marT="27432" marB="27432" anchor="ctr">
                    <a:lnB w="9525" cap="flat" cmpd="sng" algn="ctr">
                      <a:solidFill>
                        <a:srgbClr val="DCE3D6"/>
                      </a:solidFill>
                    </a:lnB>
                    <a:solidFill>
                      <a:srgbClr val="FFFFFF"/>
                    </a:solidFill>
                  </a:tcPr>
                </a:tc>
                <a:tc>
                  <a:txBody>
                    <a:bodyPr wrap="square"/>
                    <a:lstStyle/>
                    <a:p>
                      <a:r>
                        <a:rPr sz="750" b="0">
                          <a:solidFill>
                            <a:srgbClr val="26301F"/>
                          </a:solidFill>
                          <a:latin typeface="Segoe UI"/>
                        </a:rPr>
                        <a:t>A vault holding equal to the full Rs 15,000 pot, locked for the sixty days, held by the trustee in the member's own name and earning a return while it sits there</a:t>
                      </a:r>
                    </a:p>
                  </a:txBody>
                  <a:tcPr marL="45720" marR="109728" marT="27432" marB="27432" anchor="ctr">
                    <a:lnB w="9525" cap="flat" cmpd="sng" algn="ctr">
                      <a:solidFill>
                        <a:srgbClr val="DCE3D6"/>
                      </a:solidFill>
                    </a:lnB>
                    <a:solidFill>
                      <a:srgbClr val="FFFFFF"/>
                    </a:solidFill>
                  </a:tcPr>
                </a:tc>
                <a:tc>
                  <a:txBody>
                    <a:bodyPr wrap="square"/>
                    <a:lstStyle/>
                    <a:p>
                      <a:r>
                        <a:rPr sz="750" b="0">
                          <a:solidFill>
                            <a:srgbClr val="26301F"/>
                          </a:solidFill>
                          <a:latin typeface="Segoe UI"/>
                        </a:rPr>
                        <a:t>Reduces that member's expected loss to zero by construction. The shortfall settles from their own units under an instruction signed before the circle opened</a:t>
                      </a:r>
                    </a:p>
                  </a:txBody>
                  <a:tcPr marL="45720" marR="109728" marT="27432" marB="27432" anchor="ctr">
                    <a:lnB w="9525" cap="flat" cmpd="sng" algn="ctr">
                      <a:solidFill>
                        <a:srgbClr val="DCE3D6"/>
                      </a:solidFill>
                    </a:lnB>
                    <a:solidFill>
                      <a:srgbClr val="FFFFFF"/>
                    </a:solidFill>
                  </a:tcPr>
                </a:tc>
              </a:tr>
              <a:tr h="403981">
                <a:tc>
                  <a:txBody>
                    <a:bodyPr wrap="square"/>
                    <a:lstStyle/>
                    <a:p>
                      <a:r>
                        <a:rPr sz="750" b="0">
                          <a:solidFill>
                            <a:srgbClr val="26301F"/>
                          </a:solidFill>
                          <a:latin typeface="Segoe UI"/>
                        </a:rPr>
                        <a:t>Bidding window</a:t>
                      </a:r>
                    </a:p>
                  </a:txBody>
                  <a:tcPr marL="45720" marR="109728" marT="27432" marB="27432" anchor="ctr">
                    <a:lnB w="9525" cap="flat" cmpd="sng" algn="ctr">
                      <a:solidFill>
                        <a:srgbClr val="DCE3D6"/>
                      </a:solidFill>
                    </a:lnB>
                    <a:solidFill>
                      <a:srgbClr val="FFFFFF"/>
                    </a:solidFill>
                  </a:tcPr>
                </a:tc>
                <a:tc>
                  <a:txBody>
                    <a:bodyPr wrap="square"/>
                    <a:lstStyle/>
                    <a:p>
                      <a:r>
                        <a:rPr sz="750" b="0">
                          <a:solidFill>
                            <a:srgbClr val="26301F"/>
                          </a:solidFill>
                          <a:latin typeface="Segoe UI"/>
                        </a:rPr>
                        <a:t>Twenty four hours, opening when the roster of four hundred completes and before the first contribution falls due</a:t>
                      </a:r>
                    </a:p>
                  </a:txBody>
                  <a:tcPr marL="45720" marR="109728" marT="27432" marB="27432" anchor="ctr">
                    <a:lnB w="9525" cap="flat" cmpd="sng" algn="ctr">
                      <a:solidFill>
                        <a:srgbClr val="DCE3D6"/>
                      </a:solidFill>
                    </a:lnB>
                    <a:solidFill>
                      <a:srgbClr val="FFFFFF"/>
                    </a:solidFill>
                  </a:tcPr>
                </a:tc>
                <a:tc>
                  <a:txBody>
                    <a:bodyPr wrap="square"/>
                    <a:lstStyle/>
                    <a:p>
                      <a:r>
                        <a:rPr sz="750" b="0">
                          <a:solidFill>
                            <a:srgbClr val="26301F"/>
                          </a:solidFill>
                          <a:latin typeface="Segoe UI"/>
                        </a:rPr>
                        <a:t>Everyone reconsiders together rather than each on their own join date</a:t>
                      </a:r>
                    </a:p>
                  </a:txBody>
                  <a:tcPr marL="45720" marR="109728" marT="27432" marB="27432" anchor="ctr">
                    <a:lnB w="9525" cap="flat" cmpd="sng" algn="ctr">
                      <a:solidFill>
                        <a:srgbClr val="DCE3D6"/>
                      </a:solidFill>
                    </a:lnB>
                    <a:solidFill>
                      <a:srgbClr val="FFFFFF"/>
                    </a:solidFill>
                  </a:tcPr>
                </a:tc>
              </a:tr>
              <a:tr h="403981">
                <a:tc>
                  <a:txBody>
                    <a:bodyPr wrap="square"/>
                    <a:lstStyle/>
                    <a:p>
                      <a:r>
                        <a:rPr sz="750" b="0">
                          <a:solidFill>
                            <a:srgbClr val="26301F"/>
                          </a:solidFill>
                          <a:latin typeface="Segoe UI"/>
                        </a:rPr>
                        <a:t>What is bid for</a:t>
                      </a:r>
                    </a:p>
                  </a:txBody>
                  <a:tcPr marL="45720" marR="109728" marT="27432" marB="27432" anchor="ctr">
                    <a:lnB w="9525" cap="flat" cmpd="sng" algn="ctr">
                      <a:solidFill>
                        <a:srgbClr val="DCE3D6"/>
                      </a:solidFill>
                    </a:lnB>
                    <a:solidFill>
                      <a:srgbClr val="FFFFFF"/>
                    </a:solidFill>
                  </a:tcPr>
                </a:tc>
                <a:tc>
                  <a:txBody>
                    <a:bodyPr wrap="square"/>
                    <a:lstStyle/>
                    <a:p>
                      <a:r>
                        <a:rPr sz="750" b="0">
                          <a:solidFill>
                            <a:srgbClr val="26301F"/>
                          </a:solidFill>
                          <a:latin typeface="Segoe UI"/>
                        </a:rPr>
                        <a:t>One single named day. A member may place as many bids as they like, but every bid must be for that one day</a:t>
                      </a:r>
                    </a:p>
                  </a:txBody>
                  <a:tcPr marL="45720" marR="109728" marT="27432" marB="27432" anchor="ctr">
                    <a:lnB w="9525" cap="flat" cmpd="sng" algn="ctr">
                      <a:solidFill>
                        <a:srgbClr val="DCE3D6"/>
                      </a:solidFill>
                    </a:lnB>
                    <a:solidFill>
                      <a:srgbClr val="FFFFFF"/>
                    </a:solidFill>
                  </a:tcPr>
                </a:tc>
                <a:tc>
                  <a:txBody>
                    <a:bodyPr wrap="square"/>
                    <a:lstStyle/>
                    <a:p>
                      <a:r>
                        <a:rPr sz="750" b="0">
                          <a:solidFill>
                            <a:srgbClr val="26301F"/>
                          </a:solidFill>
                          <a:latin typeface="Segoe UI"/>
                        </a:rPr>
                        <a:t>Bidding across several days would let one member corner the early half of the order</a:t>
                      </a:r>
                    </a:p>
                  </a:txBody>
                  <a:tcPr marL="45720" marR="109728" marT="27432" marB="27432" anchor="ctr">
                    <a:lnB w="9525" cap="flat" cmpd="sng" algn="ctr">
                      <a:solidFill>
                        <a:srgbClr val="DCE3D6"/>
                      </a:solidFill>
                    </a:lnB>
                    <a:solidFill>
                      <a:srgbClr val="FFFFFF"/>
                    </a:solidFill>
                  </a:tcPr>
                </a:tc>
              </a:tr>
              <a:tr h="403981">
                <a:tc>
                  <a:txBody>
                    <a:bodyPr wrap="square"/>
                    <a:lstStyle/>
                    <a:p>
                      <a:r>
                        <a:rPr sz="750" b="0">
                          <a:solidFill>
                            <a:srgbClr val="26301F"/>
                          </a:solidFill>
                          <a:latin typeface="Segoe UI"/>
                        </a:rPr>
                        <a:t>What is visible</a:t>
                      </a:r>
                    </a:p>
                  </a:txBody>
                  <a:tcPr marL="45720" marR="109728" marT="27432" marB="27432" anchor="ctr">
                    <a:lnB w="9525" cap="flat" cmpd="sng" algn="ctr">
                      <a:solidFill>
                        <a:srgbClr val="DCE3D6"/>
                      </a:solidFill>
                    </a:lnB>
                    <a:solidFill>
                      <a:srgbClr val="FFFFFF"/>
                    </a:solidFill>
                  </a:tcPr>
                </a:tc>
                <a:tc>
                  <a:txBody>
                    <a:bodyPr wrap="square"/>
                    <a:lstStyle/>
                    <a:p>
                      <a:r>
                        <a:rPr sz="750" b="0">
                          <a:solidFill>
                            <a:srgbClr val="26301F"/>
                          </a:solidFill>
                          <a:latin typeface="Segoe UI"/>
                        </a:rPr>
                        <a:t>The standing highest bid on each day, so a member can price a position. No bidder is identified at any point</a:t>
                      </a:r>
                    </a:p>
                  </a:txBody>
                  <a:tcPr marL="45720" marR="109728" marT="27432" marB="27432" anchor="ctr">
                    <a:lnB w="9525" cap="flat" cmpd="sng" algn="ctr">
                      <a:solidFill>
                        <a:srgbClr val="DCE3D6"/>
                      </a:solidFill>
                    </a:lnB>
                    <a:solidFill>
                      <a:srgbClr val="FFFFFF"/>
                    </a:solidFill>
                  </a:tcPr>
                </a:tc>
                <a:tc>
                  <a:txBody>
                    <a:bodyPr wrap="square"/>
                    <a:lstStyle/>
                    <a:p>
                      <a:r>
                        <a:rPr sz="750" b="0">
                          <a:solidFill>
                            <a:srgbClr val="26301F"/>
                          </a:solidFill>
                          <a:latin typeface="Segoe UI"/>
                        </a:rPr>
                        <a:t>Price discovery without revealing who is desperate</a:t>
                      </a:r>
                    </a:p>
                  </a:txBody>
                  <a:tcPr marL="45720" marR="109728" marT="27432" marB="27432" anchor="ctr">
                    <a:lnB w="9525" cap="flat" cmpd="sng" algn="ctr">
                      <a:solidFill>
                        <a:srgbClr val="DCE3D6"/>
                      </a:solidFill>
                    </a:lnB>
                    <a:solidFill>
                      <a:srgbClr val="FFFFFF"/>
                    </a:solidFill>
                  </a:tcPr>
                </a:tc>
              </a:tr>
              <a:tr h="403981">
                <a:tc>
                  <a:txBody>
                    <a:bodyPr wrap="square"/>
                    <a:lstStyle/>
                    <a:p>
                      <a:r>
                        <a:rPr sz="750" b="0">
                          <a:solidFill>
                            <a:srgbClr val="26301F"/>
                          </a:solidFill>
                          <a:latin typeface="Segoe UI"/>
                        </a:rPr>
                        <a:t>Eligibility inside the auction</a:t>
                      </a:r>
                    </a:p>
                  </a:txBody>
                  <a:tcPr marL="45720" marR="109728" marT="27432" marB="27432" anchor="ctr">
                    <a:lnB w="9525" cap="flat" cmpd="sng" algn="ctr">
                      <a:solidFill>
                        <a:srgbClr val="DCE3D6"/>
                      </a:solidFill>
                    </a:lnB>
                    <a:solidFill>
                      <a:srgbClr val="FFFFFF"/>
                    </a:solidFill>
                  </a:tcPr>
                </a:tc>
                <a:tc>
                  <a:txBody>
                    <a:bodyPr wrap="square"/>
                    <a:lstStyle/>
                    <a:p>
                      <a:r>
                        <a:rPr sz="750" b="0">
                          <a:solidFill>
                            <a:srgbClr val="26301F"/>
                          </a:solidFill>
                          <a:latin typeface="Segoe UI"/>
                        </a:rPr>
                        <a:t>A bid is refused at the moment of placing where the member's band or affordability does not permit that day</a:t>
                      </a:r>
                    </a:p>
                  </a:txBody>
                  <a:tcPr marL="45720" marR="109728" marT="27432" marB="27432" anchor="ctr">
                    <a:lnB w="9525" cap="flat" cmpd="sng" algn="ctr">
                      <a:solidFill>
                        <a:srgbClr val="DCE3D6"/>
                      </a:solidFill>
                    </a:lnB>
                    <a:solidFill>
                      <a:srgbClr val="FFFFFF"/>
                    </a:solidFill>
                  </a:tcPr>
                </a:tc>
                <a:tc>
                  <a:txBody>
                    <a:bodyPr wrap="square"/>
                    <a:lstStyle/>
                    <a:p>
                      <a:r>
                        <a:rPr sz="750" b="0">
                          <a:solidFill>
                            <a:srgbClr val="26301F"/>
                          </a:solidFill>
                          <a:latin typeface="Segoe UI"/>
                        </a:rPr>
                        <a:t>The early days cannot simply be bought by whoever bids most, which is the failure mode of an open auction</a:t>
                      </a:r>
                    </a:p>
                  </a:txBody>
                  <a:tcPr marL="45720" marR="109728" marT="27432" marB="27432" anchor="ctr">
                    <a:lnB w="9525" cap="flat" cmpd="sng" algn="ctr">
                      <a:solidFill>
                        <a:srgbClr val="DCE3D6"/>
                      </a:solidFill>
                    </a:lnB>
                    <a:solidFill>
                      <a:srgbClr val="FFFFFF"/>
                    </a:solidFill>
                  </a:tcPr>
                </a:tc>
              </a:tr>
              <a:tr h="403981">
                <a:tc>
                  <a:txBody>
                    <a:bodyPr wrap="square"/>
                    <a:lstStyle/>
                    <a:p>
                      <a:r>
                        <a:rPr sz="750" b="0">
                          <a:solidFill>
                            <a:srgbClr val="26301F"/>
                          </a:solidFill>
                          <a:latin typeface="Segoe UI"/>
                        </a:rPr>
                        <a:t>Allocation and ballot</a:t>
                      </a:r>
                    </a:p>
                  </a:txBody>
                  <a:tcPr marL="45720" marR="109728" marT="27432" marB="27432" anchor="ctr">
                    <a:lnB w="9525" cap="flat" cmpd="sng" algn="ctr">
                      <a:solidFill>
                        <a:srgbClr val="DCE3D6"/>
                      </a:solidFill>
                    </a:lnB>
                    <a:solidFill>
                      <a:srgbClr val="FFFFFF"/>
                    </a:solidFill>
                  </a:tcPr>
                </a:tc>
                <a:tc>
                  <a:txBody>
                    <a:bodyPr wrap="square"/>
                    <a:lstStyle/>
                    <a:p>
                      <a:r>
                        <a:rPr sz="750" b="0">
                          <a:solidFill>
                            <a:srgbClr val="26301F"/>
                          </a:solidFill>
                          <a:latin typeface="Segoe UI"/>
                        </a:rPr>
                        <a:t>Each day carries six or seven places, taken by the highest bids. Members who did not bid, and members who were outbid, are assigned to the remaining days by a verifiable ballot. Only a winning bid is charged</a:t>
                      </a:r>
                    </a:p>
                  </a:txBody>
                  <a:tcPr marL="45720" marR="109728" marT="27432" marB="27432" anchor="ctr">
                    <a:lnB w="9525" cap="flat" cmpd="sng" algn="ctr">
                      <a:solidFill>
                        <a:srgbClr val="DCE3D6"/>
                      </a:solidFill>
                    </a:lnB>
                    <a:solidFill>
                      <a:srgbClr val="FFFFFF"/>
                    </a:solidFill>
                  </a:tcPr>
                </a:tc>
                <a:tc>
                  <a:txBody>
                    <a:bodyPr wrap="square"/>
                    <a:lstStyle/>
                    <a:p>
                      <a:r>
                        <a:rPr sz="750" b="0">
                          <a:solidFill>
                            <a:srgbClr val="26301F"/>
                          </a:solidFill>
                          <a:latin typeface="Segoe UI"/>
                        </a:rPr>
                        <a:t>Nobody is excluded for not bidding</a:t>
                      </a:r>
                    </a:p>
                  </a:txBody>
                  <a:tcPr marL="45720" marR="109728" marT="27432" marB="27432" anchor="ctr">
                    <a:lnB w="9525" cap="flat" cmpd="sng" algn="ctr">
                      <a:solidFill>
                        <a:srgbClr val="DCE3D6"/>
                      </a:solidFill>
                    </a:lnB>
                    <a:solidFill>
                      <a:srgbClr val="FFFFFF"/>
                    </a:solidFill>
                  </a:tcPr>
                </a:tc>
              </a:tr>
              <a:tr h="403981">
                <a:tc>
                  <a:txBody>
                    <a:bodyPr wrap="square"/>
                    <a:lstStyle/>
                    <a:p>
                      <a:r>
                        <a:rPr sz="750" b="0">
                          <a:solidFill>
                            <a:srgbClr val="26301F"/>
                          </a:solidFill>
                          <a:latin typeface="Segoe UI"/>
                        </a:rPr>
                        <a:t>Afterwards</a:t>
                      </a:r>
                    </a:p>
                  </a:txBody>
                  <a:tcPr marL="45720" marR="109728" marT="27432" marB="27432" anchor="ctr">
                    <a:lnB w="9525" cap="flat" cmpd="sng" algn="ctr">
                      <a:solidFill>
                        <a:srgbClr val="DCE3D6"/>
                      </a:solidFill>
                    </a:lnB>
                    <a:solidFill>
                      <a:srgbClr val="FFFFFF"/>
                    </a:solidFill>
                  </a:tcPr>
                </a:tc>
                <a:tc>
                  <a:txBody>
                    <a:bodyPr wrap="square"/>
                    <a:lstStyle/>
                    <a:p>
                      <a:r>
                        <a:rPr sz="750" b="0">
                          <a:solidFill>
                            <a:srgbClr val="26301F"/>
                          </a:solidFill>
                          <a:latin typeface="Segoe UI"/>
                        </a:rPr>
                        <a:t>Positions are fixed for the whole cycle. They may not be sold, bought or altered, and HYPER does not appear on the turn marketplace</a:t>
                      </a:r>
                    </a:p>
                  </a:txBody>
                  <a:tcPr marL="45720" marR="109728" marT="27432" marB="27432" anchor="ctr">
                    <a:lnB w="9525" cap="flat" cmpd="sng" algn="ctr">
                      <a:solidFill>
                        <a:srgbClr val="DCE3D6"/>
                      </a:solidFill>
                    </a:lnB>
                    <a:solidFill>
                      <a:srgbClr val="FFFFFF"/>
                    </a:solidFill>
                  </a:tcPr>
                </a:tc>
                <a:tc>
                  <a:txBody>
                    <a:bodyPr wrap="square"/>
                    <a:lstStyle/>
                    <a:p>
                      <a:r>
                        <a:rPr sz="750" b="0">
                          <a:solidFill>
                            <a:srgbClr val="26301F"/>
                          </a:solidFill>
                          <a:latin typeface="Segoe UI"/>
                        </a:rPr>
                        <a:t>Sixty days is too short for a secondary market to clear honestly</a:t>
                      </a:r>
                    </a:p>
                  </a:txBody>
                  <a:tcPr marL="45720" marR="109728" marT="27432" marB="27432" anchor="ctr">
                    <a:lnB w="9525" cap="flat" cmpd="sng" algn="ctr">
                      <a:solidFill>
                        <a:srgbClr val="DCE3D6"/>
                      </a:solidFill>
                    </a:lnB>
                    <a:solidFill>
                      <a:srgbClr val="FFFFFF"/>
                    </a:solidFill>
                  </a:tcPr>
                </a:tc>
              </a:tr>
            </a:tbl>
          </a:graphicData>
        </a:graphic>
      </p:graphicFrame>
    </p:spTree>
  </p:cSld>
  <p:clrMapOvr>
    <a:masterClrMapping/>
  </p:clrMapOvr>
</p:sld>
</file>

<file path=ppt/slides/slide4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777240" y="566928"/>
            <a:ext cx="10637215" cy="219456"/>
          </a:xfrm>
          <a:prstGeom prst="rect">
            <a:avLst/>
          </a:prstGeom>
          <a:noFill/>
        </p:spPr>
        <p:txBody>
          <a:bodyPr wrap="square" lIns="0" rIns="0" tIns="0" bIns="0">
            <a:spAutoFit/>
          </a:bodyPr>
          <a:lstStyle/>
          <a:p>
            <a:pPr algn="l">
              <a:lnSpc>
                <a:spcPct val="125000"/>
              </a:lnSpc>
            </a:pPr>
            <a:r>
              <a:rPr sz="950" b="1" i="0">
                <a:solidFill>
                  <a:srgbClr val="41801A"/>
                </a:solidFill>
                <a:latin typeface="Segoe UI"/>
              </a:rPr>
              <a:t>7  HYPER COMMITTEES</a:t>
            </a:r>
          </a:p>
        </p:txBody>
      </p:sp>
      <p:sp>
        <p:nvSpPr>
          <p:cNvPr id="3" name="TextBox 2"/>
          <p:cNvSpPr txBox="1"/>
          <p:nvPr/>
        </p:nvSpPr>
        <p:spPr>
          <a:xfrm>
            <a:off x="777240" y="841248"/>
            <a:ext cx="10637215" cy="502920"/>
          </a:xfrm>
          <a:prstGeom prst="rect">
            <a:avLst/>
          </a:prstGeom>
          <a:noFill/>
        </p:spPr>
        <p:txBody>
          <a:bodyPr wrap="square" lIns="0" rIns="0" tIns="0" bIns="0">
            <a:spAutoFit/>
          </a:bodyPr>
          <a:lstStyle/>
          <a:p>
            <a:pPr algn="l">
              <a:lnSpc>
                <a:spcPct val="125000"/>
              </a:lnSpc>
            </a:pPr>
            <a:r>
              <a:rPr sz="2700" b="1" i="0">
                <a:solidFill>
                  <a:srgbClr val="0C1408"/>
                </a:solidFill>
                <a:latin typeface="Segoe UI"/>
              </a:rPr>
              <a:t>The exposure score</a:t>
            </a:r>
          </a:p>
        </p:txBody>
      </p:sp>
      <p:sp>
        <p:nvSpPr>
          <p:cNvPr id="4" name="Rectangle 3"/>
          <p:cNvSpPr/>
          <p:nvPr/>
        </p:nvSpPr>
        <p:spPr>
          <a:xfrm>
            <a:off x="777240" y="1417320"/>
            <a:ext cx="1371600" cy="22860"/>
          </a:xfrm>
          <a:prstGeom prst="rect">
            <a:avLst/>
          </a:prstGeom>
          <a:solidFill>
            <a:srgbClr val="6DC72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777240" y="6382512"/>
            <a:ext cx="3657600" cy="228600"/>
          </a:xfrm>
          <a:prstGeom prst="rect">
            <a:avLst/>
          </a:prstGeom>
          <a:noFill/>
        </p:spPr>
        <p:txBody>
          <a:bodyPr wrap="square" lIns="0" rIns="0" tIns="0" bIns="0">
            <a:spAutoFit/>
          </a:bodyPr>
          <a:lstStyle/>
          <a:p>
            <a:pPr algn="l">
              <a:lnSpc>
                <a:spcPct val="125000"/>
              </a:lnSpc>
            </a:pPr>
            <a:r>
              <a:rPr sz="900" b="0" i="0">
                <a:solidFill>
                  <a:srgbClr val="9AA694"/>
                </a:solidFill>
                <a:latin typeface="Segoe UI"/>
              </a:rPr>
              <a:t>Halqa  ·  Confidential</a:t>
            </a:r>
          </a:p>
        </p:txBody>
      </p:sp>
      <p:sp>
        <p:nvSpPr>
          <p:cNvPr id="6" name="TextBox 5"/>
          <p:cNvSpPr txBox="1"/>
          <p:nvPr/>
        </p:nvSpPr>
        <p:spPr>
          <a:xfrm>
            <a:off x="10728655" y="6382512"/>
            <a:ext cx="685800" cy="228600"/>
          </a:xfrm>
          <a:prstGeom prst="rect">
            <a:avLst/>
          </a:prstGeom>
          <a:noFill/>
        </p:spPr>
        <p:txBody>
          <a:bodyPr wrap="square" lIns="0" rIns="0" tIns="0" bIns="0">
            <a:spAutoFit/>
          </a:bodyPr>
          <a:lstStyle/>
          <a:p>
            <a:pPr algn="r">
              <a:lnSpc>
                <a:spcPct val="125000"/>
              </a:lnSpc>
            </a:pPr>
            <a:r>
              <a:rPr sz="900" b="0" i="0">
                <a:solidFill>
                  <a:srgbClr val="6F7B68"/>
                </a:solidFill>
                <a:latin typeface="Segoe UI"/>
              </a:rPr>
              <a:t>47</a:t>
            </a:r>
          </a:p>
        </p:txBody>
      </p:sp>
      <p:sp>
        <p:nvSpPr>
          <p:cNvPr id="7" name="TextBox 6"/>
          <p:cNvSpPr txBox="1"/>
          <p:nvPr/>
        </p:nvSpPr>
        <p:spPr>
          <a:xfrm>
            <a:off x="777240" y="1965960"/>
            <a:ext cx="10607040" cy="960120"/>
          </a:xfrm>
          <a:prstGeom prst="rect">
            <a:avLst/>
          </a:prstGeom>
          <a:noFill/>
        </p:spPr>
        <p:txBody>
          <a:bodyPr wrap="square" lIns="0" rIns="0" tIns="0" bIns="0">
            <a:spAutoFit/>
          </a:bodyPr>
          <a:lstStyle/>
          <a:p>
            <a:pPr algn="l">
              <a:lnSpc>
                <a:spcPct val="150000"/>
              </a:lnSpc>
            </a:pPr>
            <a:r>
              <a:rPr sz="1350" b="0" i="0">
                <a:solidFill>
                  <a:srgbClr val="26301F"/>
                </a:solidFill>
                <a:latin typeface="Segoe UI"/>
              </a:rPr>
              <a:t>A HYPER committee can fail in an unlimited number of ways. Ten members might stop on day three, forty on day thirty, one on day fifty nine. The platform cannot enumerate those possibilities and should not try. It turns out it does not have to, because every one of them collapses onto two numbers: how many members defaulted, and the average day on which those members had collected their pot.</a:t>
            </a:r>
          </a:p>
        </p:txBody>
      </p:sp>
      <p:sp>
        <p:nvSpPr>
          <p:cNvPr id="8" name="Rectangle 7"/>
          <p:cNvSpPr/>
          <p:nvPr/>
        </p:nvSpPr>
        <p:spPr>
          <a:xfrm>
            <a:off x="777240" y="3063240"/>
            <a:ext cx="10607040" cy="475488"/>
          </a:xfrm>
          <a:prstGeom prst="rect">
            <a:avLst/>
          </a:prstGeom>
          <a:solidFill>
            <a:srgbClr val="F3FCE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ectangle 8"/>
          <p:cNvSpPr/>
          <p:nvPr/>
        </p:nvSpPr>
        <p:spPr>
          <a:xfrm>
            <a:off x="777240" y="3063240"/>
            <a:ext cx="22860" cy="475488"/>
          </a:xfrm>
          <a:prstGeom prst="rect">
            <a:avLst/>
          </a:prstGeom>
          <a:solidFill>
            <a:srgbClr val="6DC72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978408" y="3182112"/>
            <a:ext cx="10241280" cy="274320"/>
          </a:xfrm>
          <a:prstGeom prst="rect">
            <a:avLst/>
          </a:prstGeom>
          <a:noFill/>
        </p:spPr>
        <p:txBody>
          <a:bodyPr wrap="square" lIns="0" rIns="0" tIns="0" bIns="0">
            <a:spAutoFit/>
          </a:bodyPr>
          <a:lstStyle/>
          <a:p>
            <a:pPr algn="l">
              <a:lnSpc>
                <a:spcPct val="125000"/>
              </a:lnSpc>
            </a:pPr>
            <a:r>
              <a:rPr sz="1500" b="1" i="0">
                <a:solidFill>
                  <a:srgbClr val="22450C"/>
                </a:solidFill>
                <a:latin typeface="Segoe UI"/>
              </a:rPr>
              <a:t>R   =   members who defaulted  ×  (contribution + fee)  ×  (days remaining on average)   ÷   total fee income</a:t>
            </a:r>
          </a:p>
        </p:txBody>
      </p:sp>
      <p:sp>
        <p:nvSpPr>
          <p:cNvPr id="11" name="TextBox 10"/>
          <p:cNvSpPr txBox="1"/>
          <p:nvPr/>
        </p:nvSpPr>
        <p:spPr>
          <a:xfrm>
            <a:off x="777240" y="3703320"/>
            <a:ext cx="10607040" cy="365760"/>
          </a:xfrm>
          <a:prstGeom prst="rect">
            <a:avLst/>
          </a:prstGeom>
          <a:noFill/>
        </p:spPr>
        <p:txBody>
          <a:bodyPr wrap="square" lIns="0" rIns="0" tIns="0" bIns="0">
            <a:spAutoFit/>
          </a:bodyPr>
          <a:lstStyle/>
          <a:p>
            <a:pPr algn="l">
              <a:lnSpc>
                <a:spcPct val="125000"/>
              </a:lnSpc>
            </a:pPr>
            <a:r>
              <a:rPr sz="1200" b="0" i="0">
                <a:solidFill>
                  <a:srgbClr val="6F7B68"/>
                </a:solidFill>
                <a:latin typeface="Segoe UI"/>
              </a:rPr>
              <a:t>R is dimensionless. At R = 1 the committee's fee income exactly covers what it advanced.</a:t>
            </a:r>
          </a:p>
        </p:txBody>
      </p:sp>
      <p:pic>
        <p:nvPicPr>
          <p:cNvPr id="12" name="Picture 11" descr="c_bands.png"/>
          <p:cNvPicPr>
            <a:picLocks noChangeAspect="1"/>
          </p:cNvPicPr>
          <p:nvPr/>
        </p:nvPicPr>
        <p:blipFill>
          <a:blip r:embed="rId2"/>
          <a:stretch>
            <a:fillRect/>
          </a:stretch>
        </p:blipFill>
        <p:spPr>
          <a:xfrm>
            <a:off x="777240" y="4160520"/>
            <a:ext cx="10058400" cy="1912123"/>
          </a:xfrm>
          <a:prstGeom prst="rect">
            <a:avLst/>
          </a:prstGeom>
        </p:spPr>
      </p:pic>
      <p:sp>
        <p:nvSpPr>
          <p:cNvPr id="13" name="TextBox 12"/>
          <p:cNvSpPr txBox="1"/>
          <p:nvPr/>
        </p:nvSpPr>
        <p:spPr>
          <a:xfrm>
            <a:off x="777240" y="5623560"/>
            <a:ext cx="10607040" cy="685800"/>
          </a:xfrm>
          <a:prstGeom prst="rect">
            <a:avLst/>
          </a:prstGeom>
          <a:noFill/>
        </p:spPr>
        <p:txBody>
          <a:bodyPr wrap="square" lIns="0" rIns="0" tIns="0" bIns="0">
            <a:spAutoFit/>
          </a:bodyPr>
          <a:lstStyle/>
          <a:p>
            <a:pPr algn="l">
              <a:lnSpc>
                <a:spcPct val="145000"/>
              </a:lnSpc>
            </a:pPr>
            <a:r>
              <a:rPr sz="1200" b="0" i="0">
                <a:solidFill>
                  <a:srgbClr val="0C1408"/>
                </a:solidFill>
                <a:latin typeface="Segoe UI"/>
              </a:rPr>
              <a:t>The score is computed live, every day, from defaults actually observed. It is not a forecast and it needs no assumption about the future, which is what makes it usable as an automatic trigger rather than a report.</a:t>
            </a:r>
          </a:p>
        </p:txBody>
      </p:sp>
    </p:spTree>
  </p:cSld>
  <p:clrMapOvr>
    <a:masterClrMapping/>
  </p:clrMapOvr>
</p:sld>
</file>

<file path=ppt/slides/slide4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777240" y="566928"/>
            <a:ext cx="10637215" cy="219456"/>
          </a:xfrm>
          <a:prstGeom prst="rect">
            <a:avLst/>
          </a:prstGeom>
          <a:noFill/>
        </p:spPr>
        <p:txBody>
          <a:bodyPr wrap="square" lIns="0" rIns="0" tIns="0" bIns="0">
            <a:spAutoFit/>
          </a:bodyPr>
          <a:lstStyle/>
          <a:p>
            <a:pPr algn="l">
              <a:lnSpc>
                <a:spcPct val="125000"/>
              </a:lnSpc>
            </a:pPr>
            <a:r>
              <a:rPr sz="950" b="1" i="0">
                <a:solidFill>
                  <a:srgbClr val="41801A"/>
                </a:solidFill>
                <a:latin typeface="Segoe UI"/>
              </a:rPr>
              <a:t>7  HYPER COMMITTEES</a:t>
            </a:r>
          </a:p>
        </p:txBody>
      </p:sp>
      <p:sp>
        <p:nvSpPr>
          <p:cNvPr id="3" name="TextBox 2"/>
          <p:cNvSpPr txBox="1"/>
          <p:nvPr/>
        </p:nvSpPr>
        <p:spPr>
          <a:xfrm>
            <a:off x="777240" y="841248"/>
            <a:ext cx="10637215" cy="502920"/>
          </a:xfrm>
          <a:prstGeom prst="rect">
            <a:avLst/>
          </a:prstGeom>
          <a:noFill/>
        </p:spPr>
        <p:txBody>
          <a:bodyPr wrap="square" lIns="0" rIns="0" tIns="0" bIns="0">
            <a:spAutoFit/>
          </a:bodyPr>
          <a:lstStyle/>
          <a:p>
            <a:pPr algn="l">
              <a:lnSpc>
                <a:spcPct val="125000"/>
              </a:lnSpc>
            </a:pPr>
            <a:r>
              <a:rPr sz="2700" b="1" i="0">
                <a:solidFill>
                  <a:srgbClr val="0C1408"/>
                </a:solidFill>
                <a:latin typeface="Segoe UI"/>
              </a:rPr>
              <a:t>What the score does automatically</a:t>
            </a:r>
          </a:p>
        </p:txBody>
      </p:sp>
      <p:sp>
        <p:nvSpPr>
          <p:cNvPr id="4" name="Rectangle 3"/>
          <p:cNvSpPr/>
          <p:nvPr/>
        </p:nvSpPr>
        <p:spPr>
          <a:xfrm>
            <a:off x="777240" y="1417320"/>
            <a:ext cx="1371600" cy="22860"/>
          </a:xfrm>
          <a:prstGeom prst="rect">
            <a:avLst/>
          </a:prstGeom>
          <a:solidFill>
            <a:srgbClr val="6DC72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777240" y="6382512"/>
            <a:ext cx="3657600" cy="228600"/>
          </a:xfrm>
          <a:prstGeom prst="rect">
            <a:avLst/>
          </a:prstGeom>
          <a:noFill/>
        </p:spPr>
        <p:txBody>
          <a:bodyPr wrap="square" lIns="0" rIns="0" tIns="0" bIns="0">
            <a:spAutoFit/>
          </a:bodyPr>
          <a:lstStyle/>
          <a:p>
            <a:pPr algn="l">
              <a:lnSpc>
                <a:spcPct val="125000"/>
              </a:lnSpc>
            </a:pPr>
            <a:r>
              <a:rPr sz="900" b="0" i="0">
                <a:solidFill>
                  <a:srgbClr val="9AA694"/>
                </a:solidFill>
                <a:latin typeface="Segoe UI"/>
              </a:rPr>
              <a:t>Halqa  ·  Confidential</a:t>
            </a:r>
          </a:p>
        </p:txBody>
      </p:sp>
      <p:sp>
        <p:nvSpPr>
          <p:cNvPr id="6" name="TextBox 5"/>
          <p:cNvSpPr txBox="1"/>
          <p:nvPr/>
        </p:nvSpPr>
        <p:spPr>
          <a:xfrm>
            <a:off x="10728655" y="6382512"/>
            <a:ext cx="685800" cy="228600"/>
          </a:xfrm>
          <a:prstGeom prst="rect">
            <a:avLst/>
          </a:prstGeom>
          <a:noFill/>
        </p:spPr>
        <p:txBody>
          <a:bodyPr wrap="square" lIns="0" rIns="0" tIns="0" bIns="0">
            <a:spAutoFit/>
          </a:bodyPr>
          <a:lstStyle/>
          <a:p>
            <a:pPr algn="r">
              <a:lnSpc>
                <a:spcPct val="125000"/>
              </a:lnSpc>
            </a:pPr>
            <a:r>
              <a:rPr sz="900" b="0" i="0">
                <a:solidFill>
                  <a:srgbClr val="6F7B68"/>
                </a:solidFill>
                <a:latin typeface="Segoe UI"/>
              </a:rPr>
              <a:t>48</a:t>
            </a:r>
          </a:p>
        </p:txBody>
      </p:sp>
      <p:pic>
        <p:nvPicPr>
          <p:cNvPr id="7" name="Picture 6" descr="c_score.png"/>
          <p:cNvPicPr>
            <a:picLocks noChangeAspect="1"/>
          </p:cNvPicPr>
          <p:nvPr/>
        </p:nvPicPr>
        <p:blipFill>
          <a:blip r:embed="rId2"/>
          <a:stretch>
            <a:fillRect/>
          </a:stretch>
        </p:blipFill>
        <p:spPr>
          <a:xfrm>
            <a:off x="960120" y="1920240"/>
            <a:ext cx="3972894" cy="3703320"/>
          </a:xfrm>
          <a:prstGeom prst="rect">
            <a:avLst/>
          </a:prstGeom>
        </p:spPr>
      </p:pic>
      <p:sp>
        <p:nvSpPr>
          <p:cNvPr id="8" name="Rectangle 7"/>
          <p:cNvSpPr/>
          <p:nvPr/>
        </p:nvSpPr>
        <p:spPr>
          <a:xfrm>
            <a:off x="1234440" y="5847588"/>
            <a:ext cx="146304" cy="91440"/>
          </a:xfrm>
          <a:prstGeom prst="rect">
            <a:avLst/>
          </a:prstGeom>
          <a:solidFill>
            <a:srgbClr val="B3271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1453896" y="5806440"/>
            <a:ext cx="1371600" cy="228600"/>
          </a:xfrm>
          <a:prstGeom prst="rect">
            <a:avLst/>
          </a:prstGeom>
          <a:noFill/>
        </p:spPr>
        <p:txBody>
          <a:bodyPr wrap="square" lIns="0" rIns="0" tIns="0" bIns="0">
            <a:spAutoFit/>
          </a:bodyPr>
          <a:lstStyle/>
          <a:p>
            <a:pPr algn="l">
              <a:lnSpc>
                <a:spcPct val="125000"/>
              </a:lnSpc>
            </a:pPr>
            <a:r>
              <a:rPr sz="1000" b="0" i="0">
                <a:solidFill>
                  <a:srgbClr val="6F7B68"/>
                </a:solidFill>
                <a:latin typeface="Segoe UI"/>
              </a:rPr>
              <a:t>Loss</a:t>
            </a:r>
          </a:p>
        </p:txBody>
      </p:sp>
      <p:sp>
        <p:nvSpPr>
          <p:cNvPr id="10" name="Rectangle 9"/>
          <p:cNvSpPr/>
          <p:nvPr/>
        </p:nvSpPr>
        <p:spPr>
          <a:xfrm>
            <a:off x="2468880" y="5847588"/>
            <a:ext cx="146304" cy="91440"/>
          </a:xfrm>
          <a:prstGeom prst="rect">
            <a:avLst/>
          </a:prstGeom>
          <a:solidFill>
            <a:srgbClr val="E8C71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2688336" y="5806440"/>
            <a:ext cx="1371600" cy="228600"/>
          </a:xfrm>
          <a:prstGeom prst="rect">
            <a:avLst/>
          </a:prstGeom>
          <a:noFill/>
        </p:spPr>
        <p:txBody>
          <a:bodyPr wrap="square" lIns="0" rIns="0" tIns="0" bIns="0">
            <a:spAutoFit/>
          </a:bodyPr>
          <a:lstStyle/>
          <a:p>
            <a:pPr algn="l">
              <a:lnSpc>
                <a:spcPct val="125000"/>
              </a:lnSpc>
            </a:pPr>
            <a:r>
              <a:rPr sz="1000" b="0" i="0">
                <a:solidFill>
                  <a:srgbClr val="6F7B68"/>
                </a:solidFill>
                <a:latin typeface="Segoe UI"/>
              </a:rPr>
              <a:t>Break even</a:t>
            </a:r>
          </a:p>
        </p:txBody>
      </p:sp>
      <p:sp>
        <p:nvSpPr>
          <p:cNvPr id="12" name="Rectangle 11"/>
          <p:cNvSpPr/>
          <p:nvPr/>
        </p:nvSpPr>
        <p:spPr>
          <a:xfrm>
            <a:off x="3703320" y="5847588"/>
            <a:ext cx="146304" cy="91440"/>
          </a:xfrm>
          <a:prstGeom prst="rect">
            <a:avLst/>
          </a:prstGeom>
          <a:solidFill>
            <a:srgbClr val="2F7D1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3922776" y="5806440"/>
            <a:ext cx="1371600" cy="228600"/>
          </a:xfrm>
          <a:prstGeom prst="rect">
            <a:avLst/>
          </a:prstGeom>
          <a:noFill/>
        </p:spPr>
        <p:txBody>
          <a:bodyPr wrap="square" lIns="0" rIns="0" tIns="0" bIns="0">
            <a:spAutoFit/>
          </a:bodyPr>
          <a:lstStyle/>
          <a:p>
            <a:pPr algn="l">
              <a:lnSpc>
                <a:spcPct val="125000"/>
              </a:lnSpc>
            </a:pPr>
            <a:r>
              <a:rPr sz="1000" b="0" i="0">
                <a:solidFill>
                  <a:srgbClr val="6F7B68"/>
                </a:solidFill>
                <a:latin typeface="Segoe UI"/>
              </a:rPr>
              <a:t>Profit</a:t>
            </a:r>
          </a:p>
        </p:txBody>
      </p:sp>
      <p:graphicFrame>
        <p:nvGraphicFramePr>
          <p:cNvPr id="14" name="Table 13"/>
          <p:cNvGraphicFramePr>
            <a:graphicFrameLocks noGrp="1"/>
          </p:cNvGraphicFramePr>
          <p:nvPr/>
        </p:nvGraphicFramePr>
        <p:xfrm>
          <a:off x="5806440" y="1965960"/>
          <a:ext cx="5577840" cy="3490398"/>
        </p:xfrm>
        <a:graphic>
          <a:graphicData uri="http://schemas.openxmlformats.org/drawingml/2006/table">
            <a:tbl>
              <a:tblPr>
                <a:tableStyleId>{5C22544A-7EE6-4342-B048-85BDC9FD1C3A}</a:tableStyleId>
              </a:tblPr>
              <a:tblGrid>
                <a:gridCol w="1005840"/>
                <a:gridCol w="1097280"/>
                <a:gridCol w="3474720"/>
              </a:tblGrid>
              <a:tr h="581733">
                <a:tc>
                  <a:txBody>
                    <a:bodyPr wrap="square"/>
                    <a:lstStyle/>
                    <a:p>
                      <a:r>
                        <a:rPr sz="750" b="1">
                          <a:solidFill>
                            <a:srgbClr val="41801A"/>
                          </a:solidFill>
                          <a:latin typeface="Segoe UI"/>
                        </a:rPr>
                        <a:t>SCORE</a:t>
                      </a:r>
                    </a:p>
                  </a:txBody>
                  <a:tcPr marL="45720" marR="109728" marT="27432" marB="27432" anchor="ctr">
                    <a:lnB w="9525" cap="flat" cmpd="sng" algn="ctr">
                      <a:solidFill>
                        <a:srgbClr val="41801A"/>
                      </a:solidFill>
                    </a:lnB>
                    <a:solidFill>
                      <a:srgbClr val="FFFFFF"/>
                    </a:solidFill>
                  </a:tcPr>
                </a:tc>
                <a:tc>
                  <a:txBody>
                    <a:bodyPr wrap="square"/>
                    <a:lstStyle/>
                    <a:p>
                      <a:r>
                        <a:rPr sz="750" b="1">
                          <a:solidFill>
                            <a:srgbClr val="41801A"/>
                          </a:solidFill>
                          <a:latin typeface="Segoe UI"/>
                        </a:rPr>
                        <a:t>STATE</a:t>
                      </a:r>
                    </a:p>
                  </a:txBody>
                  <a:tcPr marL="45720" marR="109728" marT="27432" marB="27432" anchor="ctr">
                    <a:lnB w="9525" cap="flat" cmpd="sng" algn="ctr">
                      <a:solidFill>
                        <a:srgbClr val="41801A"/>
                      </a:solidFill>
                    </a:lnB>
                    <a:solidFill>
                      <a:srgbClr val="FFFFFF"/>
                    </a:solidFill>
                  </a:tcPr>
                </a:tc>
                <a:tc>
                  <a:txBody>
                    <a:bodyPr wrap="square"/>
                    <a:lstStyle/>
                    <a:p>
                      <a:r>
                        <a:rPr sz="750" b="1">
                          <a:solidFill>
                            <a:srgbClr val="41801A"/>
                          </a:solidFill>
                          <a:latin typeface="Segoe UI"/>
                        </a:rPr>
                        <a:t>WHAT THE SYSTEM DOES WITHOUT BEING ASKED</a:t>
                      </a:r>
                    </a:p>
                  </a:txBody>
                  <a:tcPr marL="45720" marR="109728" marT="27432" marB="27432" anchor="ctr">
                    <a:lnB w="9525" cap="flat" cmpd="sng" algn="ctr">
                      <a:solidFill>
                        <a:srgbClr val="41801A"/>
                      </a:solidFill>
                    </a:lnB>
                    <a:solidFill>
                      <a:srgbClr val="FFFFFF"/>
                    </a:solidFill>
                  </a:tcPr>
                </a:tc>
              </a:tr>
              <a:tr h="581733">
                <a:tc>
                  <a:txBody>
                    <a:bodyPr wrap="square"/>
                    <a:lstStyle/>
                    <a:p>
                      <a:r>
                        <a:rPr sz="750" b="0">
                          <a:solidFill>
                            <a:srgbClr val="26301F"/>
                          </a:solidFill>
                          <a:latin typeface="Segoe UI"/>
                        </a:rPr>
                        <a:t>Below 0.80</a:t>
                      </a:r>
                    </a:p>
                  </a:txBody>
                  <a:tcPr marL="45720" marR="109728" marT="27432" marB="27432" anchor="ctr">
                    <a:lnB w="9525" cap="flat" cmpd="sng" algn="ctr">
                      <a:solidFill>
                        <a:srgbClr val="DCE3D6"/>
                      </a:solidFill>
                    </a:lnB>
                    <a:solidFill>
                      <a:srgbClr val="FFFFFF"/>
                    </a:solidFill>
                  </a:tcPr>
                </a:tc>
                <a:tc>
                  <a:txBody>
                    <a:bodyPr wrap="square"/>
                    <a:lstStyle/>
                    <a:p>
                      <a:r>
                        <a:rPr sz="750" b="0">
                          <a:solidFill>
                            <a:srgbClr val="26301F"/>
                          </a:solidFill>
                          <a:latin typeface="Segoe UI"/>
                        </a:rPr>
                        <a:t>Self funding</a:t>
                      </a:r>
                    </a:p>
                  </a:txBody>
                  <a:tcPr marL="45720" marR="109728" marT="27432" marB="27432" anchor="ctr">
                    <a:lnB w="9525" cap="flat" cmpd="sng" algn="ctr">
                      <a:solidFill>
                        <a:srgbClr val="DCE3D6"/>
                      </a:solidFill>
                    </a:lnB>
                    <a:solidFill>
                      <a:srgbClr val="FFFFFF"/>
                    </a:solidFill>
                  </a:tcPr>
                </a:tc>
                <a:tc>
                  <a:txBody>
                    <a:bodyPr wrap="square"/>
                    <a:lstStyle/>
                    <a:p>
                      <a:r>
                        <a:rPr sz="750" b="0">
                          <a:solidFill>
                            <a:srgbClr val="26301F"/>
                          </a:solidFill>
                          <a:latin typeface="Segoe UI"/>
                        </a:rPr>
                        <a:t>Nothing. The committee is paying for itself with margin</a:t>
                      </a:r>
                    </a:p>
                  </a:txBody>
                  <a:tcPr marL="45720" marR="109728" marT="27432" marB="27432" anchor="ctr">
                    <a:lnB w="9525" cap="flat" cmpd="sng" algn="ctr">
                      <a:solidFill>
                        <a:srgbClr val="DCE3D6"/>
                      </a:solidFill>
                    </a:lnB>
                    <a:solidFill>
                      <a:srgbClr val="FFFFFF"/>
                    </a:solidFill>
                  </a:tcPr>
                </a:tc>
              </a:tr>
              <a:tr h="581733">
                <a:tc>
                  <a:txBody>
                    <a:bodyPr wrap="square"/>
                    <a:lstStyle/>
                    <a:p>
                      <a:r>
                        <a:rPr sz="750" b="0">
                          <a:solidFill>
                            <a:srgbClr val="26301F"/>
                          </a:solidFill>
                          <a:latin typeface="Segoe UI"/>
                        </a:rPr>
                        <a:t>0.80 to 1.00</a:t>
                      </a:r>
                    </a:p>
                  </a:txBody>
                  <a:tcPr marL="45720" marR="109728" marT="27432" marB="27432" anchor="ctr">
                    <a:lnB w="9525" cap="flat" cmpd="sng" algn="ctr">
                      <a:solidFill>
                        <a:srgbClr val="DCE3D6"/>
                      </a:solidFill>
                    </a:lnB>
                    <a:solidFill>
                      <a:srgbClr val="FFFFFF"/>
                    </a:solidFill>
                  </a:tcPr>
                </a:tc>
                <a:tc>
                  <a:txBody>
                    <a:bodyPr wrap="square"/>
                    <a:lstStyle/>
                    <a:p>
                      <a:r>
                        <a:rPr sz="750" b="0">
                          <a:solidFill>
                            <a:srgbClr val="26301F"/>
                          </a:solidFill>
                          <a:latin typeface="Segoe UI"/>
                        </a:rPr>
                        <a:t>Design band</a:t>
                      </a:r>
                    </a:p>
                  </a:txBody>
                  <a:tcPr marL="45720" marR="109728" marT="27432" marB="27432" anchor="ctr">
                    <a:lnB w="9525" cap="flat" cmpd="sng" algn="ctr">
                      <a:solidFill>
                        <a:srgbClr val="DCE3D6"/>
                      </a:solidFill>
                    </a:lnB>
                    <a:solidFill>
                      <a:srgbClr val="FFFFFF"/>
                    </a:solidFill>
                  </a:tcPr>
                </a:tc>
                <a:tc>
                  <a:txBody>
                    <a:bodyPr wrap="square"/>
                    <a:lstStyle/>
                    <a:p>
                      <a:r>
                        <a:rPr sz="750" b="0">
                          <a:solidFill>
                            <a:srgbClr val="26301F"/>
                          </a:solidFill>
                          <a:latin typeface="Segoe UI"/>
                        </a:rPr>
                        <a:t>Nothing. This is where a normal cycle sits</a:t>
                      </a:r>
                    </a:p>
                  </a:txBody>
                  <a:tcPr marL="45720" marR="109728" marT="27432" marB="27432" anchor="ctr">
                    <a:lnB w="9525" cap="flat" cmpd="sng" algn="ctr">
                      <a:solidFill>
                        <a:srgbClr val="DCE3D6"/>
                      </a:solidFill>
                    </a:lnB>
                    <a:solidFill>
                      <a:srgbClr val="FFFFFF"/>
                    </a:solidFill>
                  </a:tcPr>
                </a:tc>
              </a:tr>
              <a:tr h="581733">
                <a:tc>
                  <a:txBody>
                    <a:bodyPr wrap="square"/>
                    <a:lstStyle/>
                    <a:p>
                      <a:r>
                        <a:rPr sz="750" b="0">
                          <a:solidFill>
                            <a:srgbClr val="26301F"/>
                          </a:solidFill>
                          <a:latin typeface="Segoe UI"/>
                        </a:rPr>
                        <a:t>1.00 to 1.25</a:t>
                      </a:r>
                    </a:p>
                  </a:txBody>
                  <a:tcPr marL="45720" marR="109728" marT="27432" marB="27432" anchor="ctr">
                    <a:lnB w="9525" cap="flat" cmpd="sng" algn="ctr">
                      <a:solidFill>
                        <a:srgbClr val="DCE3D6"/>
                      </a:solidFill>
                    </a:lnB>
                    <a:solidFill>
                      <a:srgbClr val="FFFFFF"/>
                    </a:solidFill>
                  </a:tcPr>
                </a:tc>
                <a:tc>
                  <a:txBody>
                    <a:bodyPr wrap="square"/>
                    <a:lstStyle/>
                    <a:p>
                      <a:r>
                        <a:rPr sz="750" b="0">
                          <a:solidFill>
                            <a:srgbClr val="26301F"/>
                          </a:solidFill>
                          <a:latin typeface="Segoe UI"/>
                        </a:rPr>
                        <a:t>Absorbing</a:t>
                      </a:r>
                    </a:p>
                  </a:txBody>
                  <a:tcPr marL="45720" marR="109728" marT="27432" marB="27432" anchor="ctr">
                    <a:lnB w="9525" cap="flat" cmpd="sng" algn="ctr">
                      <a:solidFill>
                        <a:srgbClr val="DCE3D6"/>
                      </a:solidFill>
                    </a:lnB>
                    <a:solidFill>
                      <a:srgbClr val="FFFFFF"/>
                    </a:solidFill>
                  </a:tcPr>
                </a:tc>
                <a:tc>
                  <a:txBody>
                    <a:bodyPr wrap="square"/>
                    <a:lstStyle/>
                    <a:p>
                      <a:r>
                        <a:rPr sz="750" b="0">
                          <a:solidFill>
                            <a:srgbClr val="26301F"/>
                          </a:solidFill>
                          <a:latin typeface="Segoe UI"/>
                        </a:rPr>
                        <a:t>The circle's own other revenue covers it: auction premiums taken before day one, the fee uplift, and late fees. New admissions to that tier tighten and the next cohort's auction reserve rises</a:t>
                      </a:r>
                    </a:p>
                  </a:txBody>
                  <a:tcPr marL="45720" marR="109728" marT="27432" marB="27432" anchor="ctr">
                    <a:lnB w="9525" cap="flat" cmpd="sng" algn="ctr">
                      <a:solidFill>
                        <a:srgbClr val="DCE3D6"/>
                      </a:solidFill>
                    </a:lnB>
                    <a:solidFill>
                      <a:srgbClr val="FFFFFF"/>
                    </a:solidFill>
                  </a:tcPr>
                </a:tc>
              </a:tr>
              <a:tr h="581733">
                <a:tc>
                  <a:txBody>
                    <a:bodyPr wrap="square"/>
                    <a:lstStyle/>
                    <a:p>
                      <a:r>
                        <a:rPr sz="750" b="0">
                          <a:solidFill>
                            <a:srgbClr val="26301F"/>
                          </a:solidFill>
                          <a:latin typeface="Segoe UI"/>
                        </a:rPr>
                        <a:t>1.25 to 1.60</a:t>
                      </a:r>
                    </a:p>
                  </a:txBody>
                  <a:tcPr marL="45720" marR="109728" marT="27432" marB="27432" anchor="ctr">
                    <a:lnB w="9525" cap="flat" cmpd="sng" algn="ctr">
                      <a:solidFill>
                        <a:srgbClr val="DCE3D6"/>
                      </a:solidFill>
                    </a:lnB>
                    <a:solidFill>
                      <a:srgbClr val="FFFFFF"/>
                    </a:solidFill>
                  </a:tcPr>
                </a:tc>
                <a:tc>
                  <a:txBody>
                    <a:bodyPr wrap="square"/>
                    <a:lstStyle/>
                    <a:p>
                      <a:r>
                        <a:rPr sz="750" b="0">
                          <a:solidFill>
                            <a:srgbClr val="26301F"/>
                          </a:solidFill>
                          <a:latin typeface="Segoe UI"/>
                        </a:rPr>
                        <a:t>Cover engages</a:t>
                      </a:r>
                    </a:p>
                  </a:txBody>
                  <a:tcPr marL="45720" marR="109728" marT="27432" marB="27432" anchor="ctr">
                    <a:lnB w="9525" cap="flat" cmpd="sng" algn="ctr">
                      <a:solidFill>
                        <a:srgbClr val="DCE3D6"/>
                      </a:solidFill>
                    </a:lnB>
                    <a:solidFill>
                      <a:srgbClr val="FFFFFF"/>
                    </a:solidFill>
                  </a:tcPr>
                </a:tc>
                <a:tc>
                  <a:txBody>
                    <a:bodyPr wrap="square"/>
                    <a:lstStyle/>
                    <a:p>
                      <a:r>
                        <a:rPr sz="750" b="0">
                          <a:solidFill>
                            <a:srgbClr val="26301F"/>
                          </a:solidFill>
                          <a:latin typeface="Segoe UI"/>
                        </a:rPr>
                        <a:t>The cover facility pays. The circle continues and every member is paid on time. Halqa carries it and pursues the defaulters as advances</a:t>
                      </a:r>
                    </a:p>
                  </a:txBody>
                  <a:tcPr marL="45720" marR="109728" marT="27432" marB="27432" anchor="ctr">
                    <a:lnB w="9525" cap="flat" cmpd="sng" algn="ctr">
                      <a:solidFill>
                        <a:srgbClr val="DCE3D6"/>
                      </a:solidFill>
                    </a:lnB>
                    <a:solidFill>
                      <a:srgbClr val="FFFFFF"/>
                    </a:solidFill>
                  </a:tcPr>
                </a:tc>
              </a:tr>
              <a:tr h="581733">
                <a:tc>
                  <a:txBody>
                    <a:bodyPr wrap="square"/>
                    <a:lstStyle/>
                    <a:p>
                      <a:r>
                        <a:rPr sz="750" b="0">
                          <a:solidFill>
                            <a:srgbClr val="26301F"/>
                          </a:solidFill>
                          <a:latin typeface="Segoe UI"/>
                        </a:rPr>
                        <a:t>Above 1.60</a:t>
                      </a:r>
                    </a:p>
                  </a:txBody>
                  <a:tcPr marL="45720" marR="109728" marT="27432" marB="27432" anchor="ctr">
                    <a:lnB w="9525" cap="flat" cmpd="sng" algn="ctr">
                      <a:solidFill>
                        <a:srgbClr val="DCE3D6"/>
                      </a:solidFill>
                    </a:lnB>
                    <a:solidFill>
                      <a:srgbClr val="FFFFFF"/>
                    </a:solidFill>
                  </a:tcPr>
                </a:tc>
                <a:tc>
                  <a:txBody>
                    <a:bodyPr wrap="square"/>
                    <a:lstStyle/>
                    <a:p>
                      <a:r>
                        <a:rPr sz="750" b="0">
                          <a:solidFill>
                            <a:srgbClr val="26301F"/>
                          </a:solidFill>
                          <a:latin typeface="Segoe UI"/>
                        </a:rPr>
                        <a:t>Takaful attaches</a:t>
                      </a:r>
                    </a:p>
                  </a:txBody>
                  <a:tcPr marL="45720" marR="109728" marT="27432" marB="27432" anchor="ctr">
                    <a:lnB w="9525" cap="flat" cmpd="sng" algn="ctr">
                      <a:solidFill>
                        <a:srgbClr val="DCE3D6"/>
                      </a:solidFill>
                    </a:lnB>
                    <a:solidFill>
                      <a:srgbClr val="FFFFFF"/>
                    </a:solidFill>
                  </a:tcPr>
                </a:tc>
                <a:tc>
                  <a:txBody>
                    <a:bodyPr wrap="square"/>
                    <a:lstStyle/>
                    <a:p>
                      <a:r>
                        <a:rPr sz="750" b="0">
                          <a:solidFill>
                            <a:srgbClr val="26301F"/>
                          </a:solidFill>
                          <a:latin typeface="Segoe UI"/>
                        </a:rPr>
                        <a:t>The aggregate cap is reached and the exposure passes to the takaful operator</a:t>
                      </a:r>
                    </a:p>
                  </a:txBody>
                  <a:tcPr marL="45720" marR="109728" marT="27432" marB="27432" anchor="ctr">
                    <a:lnB w="9525" cap="flat" cmpd="sng" algn="ctr">
                      <a:solidFill>
                        <a:srgbClr val="DCE3D6"/>
                      </a:solidFill>
                    </a:lnB>
                    <a:solidFill>
                      <a:srgbClr val="FFFFFF"/>
                    </a:solidFill>
                  </a:tcPr>
                </a:tc>
              </a:tr>
            </a:tbl>
          </a:graphicData>
        </a:graphic>
      </p:graphicFrame>
      <p:sp>
        <p:nvSpPr>
          <p:cNvPr id="15" name="TextBox 14"/>
          <p:cNvSpPr txBox="1"/>
          <p:nvPr/>
        </p:nvSpPr>
        <p:spPr>
          <a:xfrm>
            <a:off x="5806440" y="5486400"/>
            <a:ext cx="5577840" cy="822960"/>
          </a:xfrm>
          <a:prstGeom prst="rect">
            <a:avLst/>
          </a:prstGeom>
          <a:noFill/>
        </p:spPr>
        <p:txBody>
          <a:bodyPr wrap="square" lIns="0" rIns="0" tIns="0" bIns="0">
            <a:spAutoFit/>
          </a:bodyPr>
          <a:lstStyle/>
          <a:p>
            <a:pPr algn="l">
              <a:lnSpc>
                <a:spcPct val="145000"/>
              </a:lnSpc>
            </a:pPr>
            <a:r>
              <a:rPr sz="1100" b="0" i="0">
                <a:solidFill>
                  <a:srgbClr val="6F7B68"/>
                </a:solidFill>
                <a:latin typeface="Segoe UI"/>
              </a:rPr>
              <a:t>The black line on the surface is R = 1. The two dashed lines behind it are the cover trigger and the reinsurance attachment. Everything green is a committee paying for itself.</a:t>
            </a:r>
          </a:p>
        </p:txBody>
      </p:sp>
    </p:spTree>
  </p:cSld>
  <p:clrMapOvr>
    <a:masterClrMapping/>
  </p:clrMapOvr>
</p:sld>
</file>

<file path=ppt/slides/slide4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384048" cy="6858000"/>
          </a:xfrm>
          <a:prstGeom prst="rect">
            <a:avLst/>
          </a:prstGeom>
          <a:solidFill>
            <a:srgbClr val="6DC72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777240" y="1417320"/>
            <a:ext cx="10637215" cy="219456"/>
          </a:xfrm>
          <a:prstGeom prst="rect">
            <a:avLst/>
          </a:prstGeom>
          <a:noFill/>
        </p:spPr>
        <p:txBody>
          <a:bodyPr wrap="square" lIns="0" rIns="0" tIns="0" bIns="0">
            <a:spAutoFit/>
          </a:bodyPr>
          <a:lstStyle/>
          <a:p>
            <a:pPr algn="l">
              <a:lnSpc>
                <a:spcPct val="125000"/>
              </a:lnSpc>
            </a:pPr>
            <a:r>
              <a:rPr sz="950" b="1" i="0">
                <a:solidFill>
                  <a:srgbClr val="41801A"/>
                </a:solidFill>
                <a:latin typeface="Segoe UI"/>
              </a:rPr>
              <a:t>7  HYPER COMMITTEES</a:t>
            </a:r>
          </a:p>
        </p:txBody>
      </p:sp>
      <p:sp>
        <p:nvSpPr>
          <p:cNvPr id="4" name="TextBox 3"/>
          <p:cNvSpPr txBox="1"/>
          <p:nvPr/>
        </p:nvSpPr>
        <p:spPr>
          <a:xfrm>
            <a:off x="777240" y="1828800"/>
            <a:ext cx="9966960" cy="1828800"/>
          </a:xfrm>
          <a:prstGeom prst="rect">
            <a:avLst/>
          </a:prstGeom>
          <a:noFill/>
        </p:spPr>
        <p:txBody>
          <a:bodyPr wrap="square" lIns="0" rIns="0" tIns="0" bIns="0">
            <a:spAutoFit/>
          </a:bodyPr>
          <a:lstStyle/>
          <a:p>
            <a:pPr algn="l">
              <a:lnSpc>
                <a:spcPct val="135000"/>
              </a:lnSpc>
            </a:pPr>
            <a:r>
              <a:rPr sz="2500" b="1" i="0">
                <a:solidFill>
                  <a:srgbClr val="0C1408"/>
                </a:solidFill>
                <a:latin typeface="Segoe UI"/>
              </a:rPr>
              <a:t>Thirty per cent of members defaulting is survivable.</a:t>
            </a:r>
          </a:p>
          <a:p>
            <a:pPr algn="l">
              <a:lnSpc>
                <a:spcPct val="135000"/>
              </a:lnSpc>
              <a:spcBef>
                <a:spcPts val="0"/>
              </a:spcBef>
            </a:pPr>
            <a:r>
              <a:rPr sz="2500" b="1" i="0">
                <a:solidFill>
                  <a:srgbClr val="0C1408"/>
                </a:solidFill>
                <a:latin typeface="Segoe UI"/>
              </a:rPr>
              <a:t>Ten per cent defaulting in the first week is not.</a:t>
            </a:r>
          </a:p>
        </p:txBody>
      </p:sp>
      <p:sp>
        <p:nvSpPr>
          <p:cNvPr id="5" name="Rectangle 4"/>
          <p:cNvSpPr/>
          <p:nvPr/>
        </p:nvSpPr>
        <p:spPr>
          <a:xfrm>
            <a:off x="777240" y="3977639"/>
            <a:ext cx="1371600" cy="22860"/>
          </a:xfrm>
          <a:prstGeom prst="rect">
            <a:avLst/>
          </a:prstGeom>
          <a:solidFill>
            <a:srgbClr val="6DC72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777240" y="4297680"/>
            <a:ext cx="9692640" cy="1280160"/>
          </a:xfrm>
          <a:prstGeom prst="rect">
            <a:avLst/>
          </a:prstGeom>
          <a:noFill/>
        </p:spPr>
        <p:txBody>
          <a:bodyPr wrap="square" lIns="0" rIns="0" tIns="0" bIns="0">
            <a:spAutoFit/>
          </a:bodyPr>
          <a:lstStyle/>
          <a:p>
            <a:pPr algn="l">
              <a:lnSpc>
                <a:spcPct val="150000"/>
              </a:lnSpc>
            </a:pPr>
            <a:r>
              <a:rPr sz="1400" b="0" i="0">
                <a:solidFill>
                  <a:srgbClr val="26301F"/>
                </a:solidFill>
                <a:latin typeface="Segoe UI"/>
              </a:rPr>
              <a:t>The score separates those two cases, which a default rate on its own cannot. Twelve members walking on day fifty produces a score of 0.19 and a profitable committee. The same twelve walking on day five produces 1.75 and a claim. Same rate, same people, opposite outcome.</a:t>
            </a:r>
          </a:p>
        </p:txBody>
      </p:sp>
      <p:sp>
        <p:nvSpPr>
          <p:cNvPr id="7" name="TextBox 6"/>
          <p:cNvSpPr txBox="1"/>
          <p:nvPr/>
        </p:nvSpPr>
        <p:spPr>
          <a:xfrm>
            <a:off x="777240" y="5760720"/>
            <a:ext cx="9692640" cy="365760"/>
          </a:xfrm>
          <a:prstGeom prst="rect">
            <a:avLst/>
          </a:prstGeom>
          <a:noFill/>
        </p:spPr>
        <p:txBody>
          <a:bodyPr wrap="square" lIns="0" rIns="0" tIns="0" bIns="0">
            <a:spAutoFit/>
          </a:bodyPr>
          <a:lstStyle/>
          <a:p>
            <a:pPr algn="l">
              <a:lnSpc>
                <a:spcPct val="140000"/>
              </a:lnSpc>
            </a:pPr>
            <a:r>
              <a:rPr sz="1150" b="0" i="0">
                <a:solidFill>
                  <a:srgbClr val="6F7B68"/>
                </a:solidFill>
                <a:latin typeface="Segoe UI"/>
              </a:rPr>
              <a:t>This is why every control in the daily product is a control on who occupies the early days.</a:t>
            </a:r>
          </a:p>
        </p:txBody>
      </p:sp>
    </p:spTree>
  </p:cSld>
  <p:clrMapOvr>
    <a:masterClrMapping/>
  </p:clrMapOvr>
</p:sld>
</file>

<file path=ppt/slides/slide5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777240" y="566928"/>
            <a:ext cx="10637215" cy="219456"/>
          </a:xfrm>
          <a:prstGeom prst="rect">
            <a:avLst/>
          </a:prstGeom>
          <a:noFill/>
        </p:spPr>
        <p:txBody>
          <a:bodyPr wrap="square" lIns="0" rIns="0" tIns="0" bIns="0">
            <a:spAutoFit/>
          </a:bodyPr>
          <a:lstStyle/>
          <a:p>
            <a:pPr algn="l">
              <a:lnSpc>
                <a:spcPct val="125000"/>
              </a:lnSpc>
            </a:pPr>
            <a:r>
              <a:rPr sz="950" b="1" i="0">
                <a:solidFill>
                  <a:srgbClr val="41801A"/>
                </a:solidFill>
                <a:latin typeface="Segoe UI"/>
              </a:rPr>
              <a:t>7  ASSET CIRCLES</a:t>
            </a:r>
          </a:p>
        </p:txBody>
      </p:sp>
      <p:sp>
        <p:nvSpPr>
          <p:cNvPr id="3" name="TextBox 2"/>
          <p:cNvSpPr txBox="1"/>
          <p:nvPr/>
        </p:nvSpPr>
        <p:spPr>
          <a:xfrm>
            <a:off x="777240" y="841248"/>
            <a:ext cx="10637215" cy="502920"/>
          </a:xfrm>
          <a:prstGeom prst="rect">
            <a:avLst/>
          </a:prstGeom>
          <a:noFill/>
        </p:spPr>
        <p:txBody>
          <a:bodyPr wrap="square" lIns="0" rIns="0" tIns="0" bIns="0">
            <a:spAutoFit/>
          </a:bodyPr>
          <a:lstStyle/>
          <a:p>
            <a:pPr algn="l">
              <a:lnSpc>
                <a:spcPct val="125000"/>
              </a:lnSpc>
            </a:pPr>
            <a:r>
              <a:rPr sz="2700" b="1" i="0">
                <a:solidFill>
                  <a:srgbClr val="0C1408"/>
                </a:solidFill>
                <a:latin typeface="Segoe UI"/>
              </a:rPr>
              <a:t>Buying a thing rather than saving for one</a:t>
            </a:r>
          </a:p>
        </p:txBody>
      </p:sp>
      <p:sp>
        <p:nvSpPr>
          <p:cNvPr id="4" name="Rectangle 3"/>
          <p:cNvSpPr/>
          <p:nvPr/>
        </p:nvSpPr>
        <p:spPr>
          <a:xfrm>
            <a:off x="777240" y="1417320"/>
            <a:ext cx="1371600" cy="22860"/>
          </a:xfrm>
          <a:prstGeom prst="rect">
            <a:avLst/>
          </a:prstGeom>
          <a:solidFill>
            <a:srgbClr val="6DC72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777240" y="6382512"/>
            <a:ext cx="3657600" cy="228600"/>
          </a:xfrm>
          <a:prstGeom prst="rect">
            <a:avLst/>
          </a:prstGeom>
          <a:noFill/>
        </p:spPr>
        <p:txBody>
          <a:bodyPr wrap="square" lIns="0" rIns="0" tIns="0" bIns="0">
            <a:spAutoFit/>
          </a:bodyPr>
          <a:lstStyle/>
          <a:p>
            <a:pPr algn="l">
              <a:lnSpc>
                <a:spcPct val="125000"/>
              </a:lnSpc>
            </a:pPr>
            <a:r>
              <a:rPr sz="900" b="0" i="0">
                <a:solidFill>
                  <a:srgbClr val="9AA694"/>
                </a:solidFill>
                <a:latin typeface="Segoe UI"/>
              </a:rPr>
              <a:t>Halqa  ·  Confidential</a:t>
            </a:r>
          </a:p>
        </p:txBody>
      </p:sp>
      <p:sp>
        <p:nvSpPr>
          <p:cNvPr id="6" name="TextBox 5"/>
          <p:cNvSpPr txBox="1"/>
          <p:nvPr/>
        </p:nvSpPr>
        <p:spPr>
          <a:xfrm>
            <a:off x="10728655" y="6382512"/>
            <a:ext cx="685800" cy="228600"/>
          </a:xfrm>
          <a:prstGeom prst="rect">
            <a:avLst/>
          </a:prstGeom>
          <a:noFill/>
        </p:spPr>
        <p:txBody>
          <a:bodyPr wrap="square" lIns="0" rIns="0" tIns="0" bIns="0">
            <a:spAutoFit/>
          </a:bodyPr>
          <a:lstStyle/>
          <a:p>
            <a:pPr algn="r">
              <a:lnSpc>
                <a:spcPct val="125000"/>
              </a:lnSpc>
            </a:pPr>
            <a:r>
              <a:rPr sz="900" b="0" i="0">
                <a:solidFill>
                  <a:srgbClr val="6F7B68"/>
                </a:solidFill>
                <a:latin typeface="Segoe UI"/>
              </a:rPr>
              <a:t>50</a:t>
            </a:r>
          </a:p>
        </p:txBody>
      </p:sp>
      <p:sp>
        <p:nvSpPr>
          <p:cNvPr id="7" name="TextBox 6"/>
          <p:cNvSpPr txBox="1"/>
          <p:nvPr/>
        </p:nvSpPr>
        <p:spPr>
          <a:xfrm>
            <a:off x="777240" y="1965960"/>
            <a:ext cx="4983480" cy="274320"/>
          </a:xfrm>
          <a:prstGeom prst="rect">
            <a:avLst/>
          </a:prstGeom>
          <a:noFill/>
        </p:spPr>
        <p:txBody>
          <a:bodyPr wrap="square" lIns="0" rIns="0" tIns="0" bIns="0">
            <a:spAutoFit/>
          </a:bodyPr>
          <a:lstStyle/>
          <a:p>
            <a:pPr algn="l">
              <a:lnSpc>
                <a:spcPct val="125000"/>
              </a:lnSpc>
            </a:pPr>
            <a:r>
              <a:rPr sz="1250" b="1" i="0">
                <a:solidFill>
                  <a:srgbClr val="41801A"/>
                </a:solidFill>
                <a:latin typeface="Segoe UI"/>
              </a:rPr>
              <a:t>How it works</a:t>
            </a:r>
          </a:p>
        </p:txBody>
      </p:sp>
      <p:sp>
        <p:nvSpPr>
          <p:cNvPr id="8" name="TextBox 7"/>
          <p:cNvSpPr txBox="1"/>
          <p:nvPr/>
        </p:nvSpPr>
        <p:spPr>
          <a:xfrm>
            <a:off x="777240" y="2350008"/>
            <a:ext cx="4983480" cy="1920240"/>
          </a:xfrm>
          <a:prstGeom prst="rect">
            <a:avLst/>
          </a:prstGeom>
          <a:noFill/>
        </p:spPr>
        <p:txBody>
          <a:bodyPr wrap="square" lIns="0" rIns="0" tIns="0" bIns="0">
            <a:spAutoFit/>
          </a:bodyPr>
          <a:lstStyle/>
          <a:p>
            <a:pPr algn="l">
              <a:lnSpc>
                <a:spcPct val="150000"/>
              </a:lnSpc>
            </a:pPr>
            <a:r>
              <a:rPr sz="1250" b="0" i="0">
                <a:solidFill>
                  <a:srgbClr val="26301F"/>
                </a:solidFill>
                <a:latin typeface="Segoe UI"/>
              </a:rPr>
              <a:t>The host names the item: a motorcycle, a sewing machine, a refrigerator, a rickshaw. The circle runs like any other, but the pot is never paid to the member in cash. It is paid directly to the dealer, who releases the item.</a:t>
            </a:r>
          </a:p>
          <a:p>
            <a:pPr algn="l">
              <a:lnSpc>
                <a:spcPct val="150000"/>
              </a:lnSpc>
              <a:spcBef>
                <a:spcPts val="900"/>
              </a:spcBef>
            </a:pPr>
            <a:r>
              <a:rPr sz="1250" b="0" i="0">
                <a:solidFill>
                  <a:srgbClr val="26301F"/>
                </a:solidFill>
                <a:latin typeface="Segoe UI"/>
              </a:rPr>
              <a:t/>
            </a:r>
          </a:p>
          <a:p>
            <a:pPr algn="l">
              <a:lnSpc>
                <a:spcPct val="150000"/>
              </a:lnSpc>
              <a:spcBef>
                <a:spcPts val="900"/>
              </a:spcBef>
            </a:pPr>
            <a:r>
              <a:rPr sz="1250" b="0" i="0">
                <a:solidFill>
                  <a:srgbClr val="26301F"/>
                </a:solidFill>
                <a:latin typeface="Segoe UI"/>
              </a:rPr>
              <a:t>The member takes possession on their turn. Legal title does not pass to them, and is held by a security trustee until that member has finished paying.</a:t>
            </a:r>
          </a:p>
        </p:txBody>
      </p:sp>
      <p:sp>
        <p:nvSpPr>
          <p:cNvPr id="9" name="Rectangle 8"/>
          <p:cNvSpPr/>
          <p:nvPr/>
        </p:nvSpPr>
        <p:spPr>
          <a:xfrm>
            <a:off x="6062472" y="1965960"/>
            <a:ext cx="9525" cy="1920240"/>
          </a:xfrm>
          <a:prstGeom prst="rect">
            <a:avLst/>
          </a:prstGeom>
          <a:solidFill>
            <a:srgbClr val="E1E7D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6400800" y="1965960"/>
            <a:ext cx="4983480" cy="274320"/>
          </a:xfrm>
          <a:prstGeom prst="rect">
            <a:avLst/>
          </a:prstGeom>
          <a:noFill/>
        </p:spPr>
        <p:txBody>
          <a:bodyPr wrap="square" lIns="0" rIns="0" tIns="0" bIns="0">
            <a:spAutoFit/>
          </a:bodyPr>
          <a:lstStyle/>
          <a:p>
            <a:pPr algn="l">
              <a:lnSpc>
                <a:spcPct val="125000"/>
              </a:lnSpc>
            </a:pPr>
            <a:r>
              <a:rPr sz="1250" b="1" i="0">
                <a:solidFill>
                  <a:srgbClr val="41801A"/>
                </a:solidFill>
                <a:latin typeface="Segoe UI"/>
              </a:rPr>
              <a:t>Why the law already allows this</a:t>
            </a:r>
          </a:p>
        </p:txBody>
      </p:sp>
      <p:sp>
        <p:nvSpPr>
          <p:cNvPr id="11" name="TextBox 10"/>
          <p:cNvSpPr txBox="1"/>
          <p:nvPr/>
        </p:nvSpPr>
        <p:spPr>
          <a:xfrm>
            <a:off x="6400800" y="2350008"/>
            <a:ext cx="4983480" cy="1920240"/>
          </a:xfrm>
          <a:prstGeom prst="rect">
            <a:avLst/>
          </a:prstGeom>
          <a:noFill/>
        </p:spPr>
        <p:txBody>
          <a:bodyPr wrap="square" lIns="0" rIns="0" tIns="0" bIns="0">
            <a:spAutoFit/>
          </a:bodyPr>
          <a:lstStyle/>
          <a:p>
            <a:pPr algn="l">
              <a:lnSpc>
                <a:spcPct val="150000"/>
              </a:lnSpc>
            </a:pPr>
            <a:r>
              <a:rPr sz="1250" b="0" i="0">
                <a:solidFill>
                  <a:srgbClr val="26301F"/>
                </a:solidFill>
                <a:latin typeface="Segoe UI"/>
              </a:rPr>
              <a:t>Under the Sale of Goods Act 1930 property in goods passes when the parties intend it to pass, and a seller may reserve the right of disposal until conditions are met. Retention of title is ordinary commercial law, used every day in vehicle finance.</a:t>
            </a:r>
          </a:p>
          <a:p>
            <a:pPr algn="l">
              <a:lnSpc>
                <a:spcPct val="150000"/>
              </a:lnSpc>
              <a:spcBef>
                <a:spcPts val="900"/>
              </a:spcBef>
            </a:pPr>
            <a:r>
              <a:rPr sz="1250" b="0" i="0">
                <a:solidFill>
                  <a:srgbClr val="26301F"/>
                </a:solidFill>
                <a:latin typeface="Segoe UI"/>
              </a:rPr>
              <a:t/>
            </a:r>
          </a:p>
          <a:p>
            <a:pPr algn="l">
              <a:lnSpc>
                <a:spcPct val="150000"/>
              </a:lnSpc>
              <a:spcBef>
                <a:spcPts val="900"/>
              </a:spcBef>
            </a:pPr>
            <a:r>
              <a:rPr sz="1250" b="0" i="0">
                <a:solidFill>
                  <a:srgbClr val="26301F"/>
                </a:solidFill>
                <a:latin typeface="Segoe UI"/>
              </a:rPr>
              <a:t>This is the only product where a default is answered by selling something rather than by pursuing somebody, which is why a banker understands it fastest.</a:t>
            </a:r>
          </a:p>
        </p:txBody>
      </p:sp>
      <p:graphicFrame>
        <p:nvGraphicFramePr>
          <p:cNvPr id="12" name="Table 11"/>
          <p:cNvGraphicFramePr>
            <a:graphicFrameLocks noGrp="1"/>
          </p:cNvGraphicFramePr>
          <p:nvPr/>
        </p:nvGraphicFramePr>
        <p:xfrm>
          <a:off x="777240" y="4160520"/>
          <a:ext cx="10607040" cy="2139696"/>
        </p:xfrm>
        <a:graphic>
          <a:graphicData uri="http://schemas.openxmlformats.org/drawingml/2006/table">
            <a:tbl>
              <a:tblPr>
                <a:tableStyleId>{5C22544A-7EE6-4342-B048-85BDC9FD1C3A}</a:tableStyleId>
              </a:tblPr>
              <a:tblGrid>
                <a:gridCol w="2194560"/>
                <a:gridCol w="8412480"/>
              </a:tblGrid>
              <a:tr h="237744">
                <a:tc>
                  <a:txBody>
                    <a:bodyPr wrap="square"/>
                    <a:lstStyle/>
                    <a:p>
                      <a:r>
                        <a:rPr sz="700" b="1">
                          <a:solidFill>
                            <a:srgbClr val="41801A"/>
                          </a:solidFill>
                          <a:latin typeface="Segoe UI"/>
                        </a:rPr>
                        <a:t>DETAIL</a:t>
                      </a:r>
                    </a:p>
                  </a:txBody>
                  <a:tcPr marL="45720" marR="109728" marT="27432" marB="27432" anchor="ctr">
                    <a:lnB w="9525" cap="flat" cmpd="sng" algn="ctr">
                      <a:solidFill>
                        <a:srgbClr val="41801A"/>
                      </a:solidFill>
                    </a:lnB>
                    <a:solidFill>
                      <a:srgbClr val="FFFFFF"/>
                    </a:solidFill>
                  </a:tcPr>
                </a:tc>
                <a:tc>
                  <a:txBody>
                    <a:bodyPr wrap="square"/>
                    <a:lstStyle/>
                    <a:p>
                      <a:r>
                        <a:rPr sz="700" b="1">
                          <a:solidFill>
                            <a:srgbClr val="41801A"/>
                          </a:solidFill>
                          <a:latin typeface="Segoe UI"/>
                        </a:rPr>
                        <a:t>HOW IT IS SET</a:t>
                      </a:r>
                    </a:p>
                  </a:txBody>
                  <a:tcPr marL="45720" marR="109728" marT="27432" marB="27432" anchor="ctr">
                    <a:lnB w="9525" cap="flat" cmpd="sng" algn="ctr">
                      <a:solidFill>
                        <a:srgbClr val="41801A"/>
                      </a:solidFill>
                    </a:lnB>
                    <a:solidFill>
                      <a:srgbClr val="FFFFFF"/>
                    </a:solidFill>
                  </a:tcPr>
                </a:tc>
              </a:tr>
              <a:tr h="237744">
                <a:tc>
                  <a:txBody>
                    <a:bodyPr wrap="square"/>
                    <a:lstStyle/>
                    <a:p>
                      <a:r>
                        <a:rPr sz="700" b="0">
                          <a:solidFill>
                            <a:srgbClr val="26301F"/>
                          </a:solidFill>
                          <a:latin typeface="Segoe UI"/>
                        </a:rPr>
                        <a:t>Who is paid</a:t>
                      </a:r>
                    </a:p>
                  </a:txBody>
                  <a:tcPr marL="45720" marR="109728" marT="27432" marB="27432" anchor="ctr">
                    <a:lnB w="9525" cap="flat" cmpd="sng" algn="ctr">
                      <a:solidFill>
                        <a:srgbClr val="DCE3D6"/>
                      </a:solidFill>
                    </a:lnB>
                    <a:solidFill>
                      <a:srgbClr val="FFFFFF"/>
                    </a:solidFill>
                  </a:tcPr>
                </a:tc>
                <a:tc>
                  <a:txBody>
                    <a:bodyPr wrap="square"/>
                    <a:lstStyle/>
                    <a:p>
                      <a:r>
                        <a:rPr sz="700" b="0">
                          <a:solidFill>
                            <a:srgbClr val="26301F"/>
                          </a:solidFill>
                          <a:latin typeface="Segoe UI"/>
                        </a:rPr>
                        <a:t>The dealer, directly, on the member's turn. The money never passes through Halqa or through the member</a:t>
                      </a:r>
                    </a:p>
                  </a:txBody>
                  <a:tcPr marL="45720" marR="109728" marT="27432" marB="27432" anchor="ctr">
                    <a:lnB w="9525" cap="flat" cmpd="sng" algn="ctr">
                      <a:solidFill>
                        <a:srgbClr val="DCE3D6"/>
                      </a:solidFill>
                    </a:lnB>
                    <a:solidFill>
                      <a:srgbClr val="FFFFFF"/>
                    </a:solidFill>
                  </a:tcPr>
                </a:tc>
              </a:tr>
              <a:tr h="237744">
                <a:tc>
                  <a:txBody>
                    <a:bodyPr wrap="square"/>
                    <a:lstStyle/>
                    <a:p>
                      <a:r>
                        <a:rPr sz="700" b="0">
                          <a:solidFill>
                            <a:srgbClr val="26301F"/>
                          </a:solidFill>
                          <a:latin typeface="Segoe UI"/>
                        </a:rPr>
                        <a:t>Who holds title</a:t>
                      </a:r>
                    </a:p>
                  </a:txBody>
                  <a:tcPr marL="45720" marR="109728" marT="27432" marB="27432" anchor="ctr">
                    <a:lnB w="9525" cap="flat" cmpd="sng" algn="ctr">
                      <a:solidFill>
                        <a:srgbClr val="DCE3D6"/>
                      </a:solidFill>
                    </a:lnB>
                    <a:solidFill>
                      <a:srgbClr val="FFFFFF"/>
                    </a:solidFill>
                  </a:tcPr>
                </a:tc>
                <a:tc>
                  <a:txBody>
                    <a:bodyPr wrap="square"/>
                    <a:lstStyle/>
                    <a:p>
                      <a:r>
                        <a:rPr sz="700" b="0">
                          <a:solidFill>
                            <a:srgbClr val="26301F"/>
                          </a:solidFill>
                          <a:latin typeface="Segoe UI"/>
                        </a:rPr>
                        <a:t>A security trustee, on behalf of the circle's members, not on behalf of Halqa</a:t>
                      </a:r>
                    </a:p>
                  </a:txBody>
                  <a:tcPr marL="45720" marR="109728" marT="27432" marB="27432" anchor="ctr">
                    <a:lnB w="9525" cap="flat" cmpd="sng" algn="ctr">
                      <a:solidFill>
                        <a:srgbClr val="DCE3D6"/>
                      </a:solidFill>
                    </a:lnB>
                    <a:solidFill>
                      <a:srgbClr val="FFFFFF"/>
                    </a:solidFill>
                  </a:tcPr>
                </a:tc>
              </a:tr>
              <a:tr h="237744">
                <a:tc>
                  <a:txBody>
                    <a:bodyPr wrap="square"/>
                    <a:lstStyle/>
                    <a:p>
                      <a:r>
                        <a:rPr sz="700" b="0">
                          <a:solidFill>
                            <a:srgbClr val="26301F"/>
                          </a:solidFill>
                          <a:latin typeface="Segoe UI"/>
                        </a:rPr>
                        <a:t>When title transfers</a:t>
                      </a:r>
                    </a:p>
                  </a:txBody>
                  <a:tcPr marL="45720" marR="109728" marT="27432" marB="27432" anchor="ctr">
                    <a:lnB w="9525" cap="flat" cmpd="sng" algn="ctr">
                      <a:solidFill>
                        <a:srgbClr val="DCE3D6"/>
                      </a:solidFill>
                    </a:lnB>
                    <a:solidFill>
                      <a:srgbClr val="FFFFFF"/>
                    </a:solidFill>
                  </a:tcPr>
                </a:tc>
                <a:tc>
                  <a:txBody>
                    <a:bodyPr wrap="square"/>
                    <a:lstStyle/>
                    <a:p>
                      <a:r>
                        <a:rPr sz="700" b="0">
                          <a:solidFill>
                            <a:srgbClr val="26301F"/>
                          </a:solidFill>
                          <a:latin typeface="Segoe UI"/>
                        </a:rPr>
                        <a:t>On discharge of that member's obligation. Every member's contributions end on the same round, so possession dates differ and title dates do not</a:t>
                      </a:r>
                    </a:p>
                  </a:txBody>
                  <a:tcPr marL="45720" marR="109728" marT="27432" marB="27432" anchor="ctr">
                    <a:lnB w="9525" cap="flat" cmpd="sng" algn="ctr">
                      <a:solidFill>
                        <a:srgbClr val="DCE3D6"/>
                      </a:solidFill>
                    </a:lnB>
                    <a:solidFill>
                      <a:srgbClr val="FFFFFF"/>
                    </a:solidFill>
                  </a:tcPr>
                </a:tc>
              </a:tr>
              <a:tr h="237744">
                <a:tc>
                  <a:txBody>
                    <a:bodyPr wrap="square"/>
                    <a:lstStyle/>
                    <a:p>
                      <a:r>
                        <a:rPr sz="700" b="0">
                          <a:solidFill>
                            <a:srgbClr val="26301F"/>
                          </a:solidFill>
                          <a:latin typeface="Segoe UI"/>
                        </a:rPr>
                        <a:t>If the member stops</a:t>
                      </a:r>
                    </a:p>
                  </a:txBody>
                  <a:tcPr marL="45720" marR="109728" marT="27432" marB="27432" anchor="ctr">
                    <a:lnB w="9525" cap="flat" cmpd="sng" algn="ctr">
                      <a:solidFill>
                        <a:srgbClr val="DCE3D6"/>
                      </a:solidFill>
                    </a:lnB>
                    <a:solidFill>
                      <a:srgbClr val="FFFFFF"/>
                    </a:solidFill>
                  </a:tcPr>
                </a:tc>
                <a:tc>
                  <a:txBody>
                    <a:bodyPr wrap="square"/>
                    <a:lstStyle/>
                    <a:p>
                      <a:r>
                        <a:rPr sz="700" b="0">
                          <a:solidFill>
                            <a:srgbClr val="26301F"/>
                          </a:solidFill>
                          <a:latin typeface="Segoe UI"/>
                        </a:rPr>
                        <a:t>The trustee enforces, sells, and pays the proceeds into the circle. Any surplus goes back to the member</a:t>
                      </a:r>
                    </a:p>
                  </a:txBody>
                  <a:tcPr marL="45720" marR="109728" marT="27432" marB="27432" anchor="ctr">
                    <a:lnB w="9525" cap="flat" cmpd="sng" algn="ctr">
                      <a:solidFill>
                        <a:srgbClr val="DCE3D6"/>
                      </a:solidFill>
                    </a:lnB>
                    <a:solidFill>
                      <a:srgbClr val="FFFFFF"/>
                    </a:solidFill>
                  </a:tcPr>
                </a:tc>
              </a:tr>
              <a:tr h="237744">
                <a:tc>
                  <a:txBody>
                    <a:bodyPr wrap="square"/>
                    <a:lstStyle/>
                    <a:p>
                      <a:r>
                        <a:rPr sz="700" b="0">
                          <a:solidFill>
                            <a:srgbClr val="26301F"/>
                          </a:solidFill>
                          <a:latin typeface="Segoe UI"/>
                        </a:rPr>
                        <a:t>If the circle collapses</a:t>
                      </a:r>
                    </a:p>
                  </a:txBody>
                  <a:tcPr marL="45720" marR="109728" marT="27432" marB="27432" anchor="ctr">
                    <a:lnB w="9525" cap="flat" cmpd="sng" algn="ctr">
                      <a:solidFill>
                        <a:srgbClr val="DCE3D6"/>
                      </a:solidFill>
                    </a:lnB>
                    <a:solidFill>
                      <a:srgbClr val="FFFFFF"/>
                    </a:solidFill>
                  </a:tcPr>
                </a:tc>
                <a:tc>
                  <a:txBody>
                    <a:bodyPr wrap="square"/>
                    <a:lstStyle/>
                    <a:p>
                      <a:r>
                        <a:rPr sz="700" b="0">
                          <a:solidFill>
                            <a:srgbClr val="26301F"/>
                          </a:solidFill>
                          <a:latin typeface="Segoe UI"/>
                        </a:rPr>
                        <a:t>Each retention still stands on its own. No member's title depends on any other member's conduct</a:t>
                      </a:r>
                    </a:p>
                  </a:txBody>
                  <a:tcPr marL="45720" marR="109728" marT="27432" marB="27432" anchor="ctr">
                    <a:lnB w="9525" cap="flat" cmpd="sng" algn="ctr">
                      <a:solidFill>
                        <a:srgbClr val="DCE3D6"/>
                      </a:solidFill>
                    </a:lnB>
                    <a:solidFill>
                      <a:srgbClr val="FFFFFF"/>
                    </a:solidFill>
                  </a:tcPr>
                </a:tc>
              </a:tr>
              <a:tr h="237744">
                <a:tc>
                  <a:txBody>
                    <a:bodyPr wrap="square"/>
                    <a:lstStyle/>
                    <a:p>
                      <a:r>
                        <a:rPr sz="700" b="0">
                          <a:solidFill>
                            <a:srgbClr val="26301F"/>
                          </a:solidFill>
                          <a:latin typeface="Segoe UI"/>
                        </a:rPr>
                        <a:t>The exposed window</a:t>
                      </a:r>
                    </a:p>
                  </a:txBody>
                  <a:tcPr marL="45720" marR="109728" marT="27432" marB="27432" anchor="ctr">
                    <a:lnB w="9525" cap="flat" cmpd="sng" algn="ctr">
                      <a:solidFill>
                        <a:srgbClr val="DCE3D6"/>
                      </a:solidFill>
                    </a:lnB>
                    <a:solidFill>
                      <a:srgbClr val="FFFFFF"/>
                    </a:solidFill>
                  </a:tcPr>
                </a:tc>
                <a:tc>
                  <a:txBody>
                    <a:bodyPr wrap="square"/>
                    <a:lstStyle/>
                    <a:p>
                      <a:r>
                        <a:rPr sz="700" b="0">
                          <a:solidFill>
                            <a:srgbClr val="26301F"/>
                          </a:solidFill>
                          <a:latin typeface="Segoe UI"/>
                        </a:rPr>
                        <a:t>Roughly the first four rounds, where what is owed still exceeds what a forced sale would recover. After that the security exceeds the obligation and the exposure is zero</a:t>
                      </a:r>
                    </a:p>
                  </a:txBody>
                  <a:tcPr marL="45720" marR="109728" marT="27432" marB="27432" anchor="ctr">
                    <a:lnB w="9525" cap="flat" cmpd="sng" algn="ctr">
                      <a:solidFill>
                        <a:srgbClr val="DCE3D6"/>
                      </a:solidFill>
                    </a:lnB>
                    <a:solidFill>
                      <a:srgbClr val="FFFFFF"/>
                    </a:solidFill>
                  </a:tcPr>
                </a:tc>
              </a:tr>
              <a:tr h="237744">
                <a:tc>
                  <a:txBody>
                    <a:bodyPr wrap="square"/>
                    <a:lstStyle/>
                    <a:p>
                      <a:r>
                        <a:rPr sz="700" b="0">
                          <a:solidFill>
                            <a:srgbClr val="26301F"/>
                          </a:solidFill>
                          <a:latin typeface="Segoe UI"/>
                        </a:rPr>
                        <a:t>The deposit option</a:t>
                      </a:r>
                    </a:p>
                  </a:txBody>
                  <a:tcPr marL="45720" marR="109728" marT="27432" marB="27432" anchor="ctr">
                    <a:lnB w="9525" cap="flat" cmpd="sng" algn="ctr">
                      <a:solidFill>
                        <a:srgbClr val="DCE3D6"/>
                      </a:solidFill>
                    </a:lnB>
                    <a:solidFill>
                      <a:srgbClr val="FFFFFF"/>
                    </a:solidFill>
                  </a:tcPr>
                </a:tc>
                <a:tc>
                  <a:txBody>
                    <a:bodyPr wrap="square"/>
                    <a:lstStyle/>
                    <a:p>
                      <a:r>
                        <a:rPr sz="700" b="0">
                          <a:solidFill>
                            <a:srgbClr val="26301F"/>
                          </a:solidFill>
                          <a:latin typeface="Segoe UI"/>
                        </a:rPr>
                        <a:t>A deposit from the member closes even that window. A modest one roughly halves it, and it is a realistic thing to negotiate with a dealer who wants the volume</a:t>
                      </a:r>
                    </a:p>
                  </a:txBody>
                  <a:tcPr marL="45720" marR="109728" marT="27432" marB="27432" anchor="ctr">
                    <a:lnB w="9525" cap="flat" cmpd="sng" algn="ctr">
                      <a:solidFill>
                        <a:srgbClr val="DCE3D6"/>
                      </a:solidFill>
                    </a:lnB>
                    <a:solidFill>
                      <a:srgbClr val="FFFFFF"/>
                    </a:solidFill>
                  </a:tcPr>
                </a:tc>
              </a:tr>
              <a:tr h="237744">
                <a:tc>
                  <a:txBody>
                    <a:bodyPr wrap="square"/>
                    <a:lstStyle/>
                    <a:p>
                      <a:r>
                        <a:rPr sz="700" b="0">
                          <a:solidFill>
                            <a:srgbClr val="26301F"/>
                          </a:solidFill>
                          <a:latin typeface="Segoe UI"/>
                        </a:rPr>
                        <a:t>Who else can hold title</a:t>
                      </a:r>
                    </a:p>
                  </a:txBody>
                  <a:tcPr marL="45720" marR="109728" marT="27432" marB="27432" anchor="ctr">
                    <a:lnB w="9525" cap="flat" cmpd="sng" algn="ctr">
                      <a:solidFill>
                        <a:srgbClr val="DCE3D6"/>
                      </a:solidFill>
                    </a:lnB>
                    <a:solidFill>
                      <a:srgbClr val="FFFFFF"/>
                    </a:solidFill>
                  </a:tcPr>
                </a:tc>
                <a:tc>
                  <a:txBody>
                    <a:bodyPr wrap="square"/>
                    <a:lstStyle/>
                    <a:p>
                      <a:r>
                        <a:rPr sz="700" b="0">
                          <a:solidFill>
                            <a:srgbClr val="26301F"/>
                          </a:solidFill>
                          <a:latin typeface="Segoe UI"/>
                        </a:rPr>
                        <a:t>Orix Modaraba, First Habib Modaraba or Allied Rental Modaraba can hold title and write a lease without Halqa holding any financing licence</a:t>
                      </a:r>
                    </a:p>
                  </a:txBody>
                  <a:tcPr marL="45720" marR="109728" marT="27432" marB="27432" anchor="ctr">
                    <a:lnB w="9525" cap="flat" cmpd="sng" algn="ctr">
                      <a:solidFill>
                        <a:srgbClr val="DCE3D6"/>
                      </a:solidFill>
                    </a:lnB>
                    <a:solidFill>
                      <a:srgbClr val="FFFFFF"/>
                    </a:solidFill>
                  </a:tcPr>
                </a:tc>
              </a:tr>
            </a:tbl>
          </a:graphicData>
        </a:graphic>
      </p:graphicFrame>
    </p:spTree>
  </p:cSld>
  <p:clrMapOvr>
    <a:masterClrMapping/>
  </p:clrMapOvr>
</p:sld>
</file>

<file path=ppt/slides/slide5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777240" y="566928"/>
            <a:ext cx="10637215" cy="219456"/>
          </a:xfrm>
          <a:prstGeom prst="rect">
            <a:avLst/>
          </a:prstGeom>
          <a:noFill/>
        </p:spPr>
        <p:txBody>
          <a:bodyPr wrap="square" lIns="0" rIns="0" tIns="0" bIns="0">
            <a:spAutoFit/>
          </a:bodyPr>
          <a:lstStyle/>
          <a:p>
            <a:pPr algn="l">
              <a:lnSpc>
                <a:spcPct val="125000"/>
              </a:lnSpc>
            </a:pPr>
            <a:r>
              <a:rPr sz="950" b="1" i="0">
                <a:solidFill>
                  <a:srgbClr val="41801A"/>
                </a:solidFill>
                <a:latin typeface="Segoe UI"/>
              </a:rPr>
              <a:t>7  THE SAVINGS LAYER</a:t>
            </a:r>
          </a:p>
        </p:txBody>
      </p:sp>
      <p:sp>
        <p:nvSpPr>
          <p:cNvPr id="3" name="TextBox 2"/>
          <p:cNvSpPr txBox="1"/>
          <p:nvPr/>
        </p:nvSpPr>
        <p:spPr>
          <a:xfrm>
            <a:off x="777240" y="841248"/>
            <a:ext cx="10637215" cy="502920"/>
          </a:xfrm>
          <a:prstGeom prst="rect">
            <a:avLst/>
          </a:prstGeom>
          <a:noFill/>
        </p:spPr>
        <p:txBody>
          <a:bodyPr wrap="square" lIns="0" rIns="0" tIns="0" bIns="0">
            <a:spAutoFit/>
          </a:bodyPr>
          <a:lstStyle/>
          <a:p>
            <a:pPr algn="l">
              <a:lnSpc>
                <a:spcPct val="125000"/>
              </a:lnSpc>
            </a:pPr>
            <a:r>
              <a:rPr sz="2700" b="1" i="0">
                <a:solidFill>
                  <a:srgbClr val="0C1408"/>
                </a:solidFill>
                <a:latin typeface="Segoe UI"/>
              </a:rPr>
              <a:t>Three vaults, one holding</a:t>
            </a:r>
          </a:p>
        </p:txBody>
      </p:sp>
      <p:sp>
        <p:nvSpPr>
          <p:cNvPr id="4" name="Rectangle 3"/>
          <p:cNvSpPr/>
          <p:nvPr/>
        </p:nvSpPr>
        <p:spPr>
          <a:xfrm>
            <a:off x="777240" y="1417320"/>
            <a:ext cx="1371600" cy="22860"/>
          </a:xfrm>
          <a:prstGeom prst="rect">
            <a:avLst/>
          </a:prstGeom>
          <a:solidFill>
            <a:srgbClr val="6DC72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777240" y="6382512"/>
            <a:ext cx="3657600" cy="228600"/>
          </a:xfrm>
          <a:prstGeom prst="rect">
            <a:avLst/>
          </a:prstGeom>
          <a:noFill/>
        </p:spPr>
        <p:txBody>
          <a:bodyPr wrap="square" lIns="0" rIns="0" tIns="0" bIns="0">
            <a:spAutoFit/>
          </a:bodyPr>
          <a:lstStyle/>
          <a:p>
            <a:pPr algn="l">
              <a:lnSpc>
                <a:spcPct val="125000"/>
              </a:lnSpc>
            </a:pPr>
            <a:r>
              <a:rPr sz="900" b="0" i="0">
                <a:solidFill>
                  <a:srgbClr val="9AA694"/>
                </a:solidFill>
                <a:latin typeface="Segoe UI"/>
              </a:rPr>
              <a:t>Halqa  ·  Confidential</a:t>
            </a:r>
          </a:p>
        </p:txBody>
      </p:sp>
      <p:sp>
        <p:nvSpPr>
          <p:cNvPr id="6" name="TextBox 5"/>
          <p:cNvSpPr txBox="1"/>
          <p:nvPr/>
        </p:nvSpPr>
        <p:spPr>
          <a:xfrm>
            <a:off x="10728655" y="6382512"/>
            <a:ext cx="685800" cy="228600"/>
          </a:xfrm>
          <a:prstGeom prst="rect">
            <a:avLst/>
          </a:prstGeom>
          <a:noFill/>
        </p:spPr>
        <p:txBody>
          <a:bodyPr wrap="square" lIns="0" rIns="0" tIns="0" bIns="0">
            <a:spAutoFit/>
          </a:bodyPr>
          <a:lstStyle/>
          <a:p>
            <a:pPr algn="r">
              <a:lnSpc>
                <a:spcPct val="125000"/>
              </a:lnSpc>
            </a:pPr>
            <a:r>
              <a:rPr sz="900" b="0" i="0">
                <a:solidFill>
                  <a:srgbClr val="6F7B68"/>
                </a:solidFill>
                <a:latin typeface="Segoe UI"/>
              </a:rPr>
              <a:t>51</a:t>
            </a:r>
          </a:p>
        </p:txBody>
      </p:sp>
      <p:sp>
        <p:nvSpPr>
          <p:cNvPr id="7" name="TextBox 6"/>
          <p:cNvSpPr txBox="1"/>
          <p:nvPr/>
        </p:nvSpPr>
        <p:spPr>
          <a:xfrm>
            <a:off x="777240" y="1965960"/>
            <a:ext cx="10607040" cy="548640"/>
          </a:xfrm>
          <a:prstGeom prst="rect">
            <a:avLst/>
          </a:prstGeom>
          <a:noFill/>
        </p:spPr>
        <p:txBody>
          <a:bodyPr wrap="square" lIns="0" rIns="0" tIns="0" bIns="0">
            <a:spAutoFit/>
          </a:bodyPr>
          <a:lstStyle/>
          <a:p>
            <a:pPr algn="l">
              <a:lnSpc>
                <a:spcPct val="150000"/>
              </a:lnSpc>
            </a:pPr>
            <a:r>
              <a:rPr sz="1350" b="0" i="0">
                <a:solidFill>
                  <a:srgbClr val="26301F"/>
                </a:solidFill>
                <a:latin typeface="Segoe UI"/>
              </a:rPr>
              <a:t>Committee money earns nothing while it waits, which against Pakistani inflation is a straightforward loss. The savings layer fixes that without Halqa ever touching a rupee of it.</a:t>
            </a:r>
          </a:p>
        </p:txBody>
      </p:sp>
      <p:sp>
        <p:nvSpPr>
          <p:cNvPr id="8" name="Rectangle 7"/>
          <p:cNvSpPr/>
          <p:nvPr/>
        </p:nvSpPr>
        <p:spPr>
          <a:xfrm>
            <a:off x="777240" y="2697480"/>
            <a:ext cx="3375050" cy="2286000"/>
          </a:xfrm>
          <a:prstGeom prst="rect">
            <a:avLst/>
          </a:prstGeom>
          <a:solidFill>
            <a:srgbClr val="F3FCE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ectangle 8"/>
          <p:cNvSpPr/>
          <p:nvPr/>
        </p:nvSpPr>
        <p:spPr>
          <a:xfrm>
            <a:off x="777240" y="2697480"/>
            <a:ext cx="3375050" cy="28575"/>
          </a:xfrm>
          <a:prstGeom prst="rect">
            <a:avLst/>
          </a:prstGeom>
          <a:solidFill>
            <a:srgbClr val="6DC72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978408" y="2898648"/>
            <a:ext cx="2972714" cy="320040"/>
          </a:xfrm>
          <a:prstGeom prst="rect">
            <a:avLst/>
          </a:prstGeom>
          <a:noFill/>
        </p:spPr>
        <p:txBody>
          <a:bodyPr wrap="square" lIns="0" rIns="0" tIns="0" bIns="0">
            <a:spAutoFit/>
          </a:bodyPr>
          <a:lstStyle/>
          <a:p>
            <a:pPr algn="l">
              <a:lnSpc>
                <a:spcPct val="125000"/>
              </a:lnSpc>
            </a:pPr>
            <a:r>
              <a:rPr sz="1300" b="1" i="0">
                <a:solidFill>
                  <a:srgbClr val="22450C"/>
                </a:solidFill>
                <a:latin typeface="Segoe UI"/>
              </a:rPr>
              <a:t>Growth vault</a:t>
            </a:r>
          </a:p>
        </p:txBody>
      </p:sp>
      <p:sp>
        <p:nvSpPr>
          <p:cNvPr id="11" name="TextBox 10"/>
          <p:cNvSpPr txBox="1"/>
          <p:nvPr/>
        </p:nvSpPr>
        <p:spPr>
          <a:xfrm>
            <a:off x="978408" y="3264408"/>
            <a:ext cx="2972714" cy="1554480"/>
          </a:xfrm>
          <a:prstGeom prst="rect">
            <a:avLst/>
          </a:prstGeom>
          <a:noFill/>
        </p:spPr>
        <p:txBody>
          <a:bodyPr wrap="square" lIns="0" rIns="0" tIns="0" bIns="0">
            <a:spAutoFit/>
          </a:bodyPr>
          <a:lstStyle/>
          <a:p>
            <a:pPr algn="l">
              <a:lnSpc>
                <a:spcPct val="145000"/>
              </a:lnSpc>
            </a:pPr>
            <a:r>
              <a:rPr sz="1150" b="0" i="0">
                <a:solidFill>
                  <a:srgbClr val="26301F"/>
                </a:solidFill>
                <a:latin typeface="Segoe UI"/>
              </a:rPr>
              <a:t>Voluntary savings into a licensed Islamic money market fund. Units are registered in the member's own name and held by the trustee. Money that earns nothing today earns a return, and the member can withdraw it whenever they like.</a:t>
            </a:r>
          </a:p>
        </p:txBody>
      </p:sp>
      <p:sp>
        <p:nvSpPr>
          <p:cNvPr id="12" name="Rectangle 11"/>
          <p:cNvSpPr/>
          <p:nvPr/>
        </p:nvSpPr>
        <p:spPr>
          <a:xfrm>
            <a:off x="4408322" y="2697480"/>
            <a:ext cx="3375050" cy="2286000"/>
          </a:xfrm>
          <a:prstGeom prst="rect">
            <a:avLst/>
          </a:prstGeom>
          <a:solidFill>
            <a:srgbClr val="F3FCE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4408322" y="2697480"/>
            <a:ext cx="3375050" cy="28575"/>
          </a:xfrm>
          <a:prstGeom prst="rect">
            <a:avLst/>
          </a:prstGeom>
          <a:solidFill>
            <a:srgbClr val="6DC72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4609490" y="2898648"/>
            <a:ext cx="2972714" cy="320040"/>
          </a:xfrm>
          <a:prstGeom prst="rect">
            <a:avLst/>
          </a:prstGeom>
          <a:noFill/>
        </p:spPr>
        <p:txBody>
          <a:bodyPr wrap="square" lIns="0" rIns="0" tIns="0" bIns="0">
            <a:spAutoFit/>
          </a:bodyPr>
          <a:lstStyle/>
          <a:p>
            <a:pPr algn="l">
              <a:lnSpc>
                <a:spcPct val="125000"/>
              </a:lnSpc>
            </a:pPr>
            <a:r>
              <a:rPr sz="1300" b="1" i="0">
                <a:solidFill>
                  <a:srgbClr val="22450C"/>
                </a:solidFill>
                <a:latin typeface="Segoe UI"/>
              </a:rPr>
              <a:t>Safety vault</a:t>
            </a:r>
          </a:p>
        </p:txBody>
      </p:sp>
      <p:sp>
        <p:nvSpPr>
          <p:cNvPr id="15" name="TextBox 14"/>
          <p:cNvSpPr txBox="1"/>
          <p:nvPr/>
        </p:nvSpPr>
        <p:spPr>
          <a:xfrm>
            <a:off x="4609490" y="3264408"/>
            <a:ext cx="2972714" cy="1554480"/>
          </a:xfrm>
          <a:prstGeom prst="rect">
            <a:avLst/>
          </a:prstGeom>
          <a:noFill/>
        </p:spPr>
        <p:txBody>
          <a:bodyPr wrap="square" lIns="0" rIns="0" tIns="0" bIns="0">
            <a:spAutoFit/>
          </a:bodyPr>
          <a:lstStyle/>
          <a:p>
            <a:pPr algn="l">
              <a:lnSpc>
                <a:spcPct val="145000"/>
              </a:lnSpc>
            </a:pPr>
            <a:r>
              <a:rPr sz="1150" b="0" i="0">
                <a:solidFill>
                  <a:srgbClr val="26301F"/>
                </a:solidFill>
                <a:latin typeface="Segoe UI"/>
              </a:rPr>
              <a:t>The same holding, pledged. A charge in favour of the circle, plus an irrevocable redemption instruction signed at the moment of pledging. A member cannot default beyond their pledged holding, which is what makes the daily product and higher risk tiers possible at all.</a:t>
            </a:r>
          </a:p>
        </p:txBody>
      </p:sp>
      <p:sp>
        <p:nvSpPr>
          <p:cNvPr id="16" name="Rectangle 15"/>
          <p:cNvSpPr/>
          <p:nvPr/>
        </p:nvSpPr>
        <p:spPr>
          <a:xfrm>
            <a:off x="8039404" y="2697480"/>
            <a:ext cx="3375050" cy="2286000"/>
          </a:xfrm>
          <a:prstGeom prst="rect">
            <a:avLst/>
          </a:prstGeom>
          <a:solidFill>
            <a:srgbClr val="F3FCE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Rectangle 16"/>
          <p:cNvSpPr/>
          <p:nvPr/>
        </p:nvSpPr>
        <p:spPr>
          <a:xfrm>
            <a:off x="8039404" y="2697480"/>
            <a:ext cx="3375050" cy="28575"/>
          </a:xfrm>
          <a:prstGeom prst="rect">
            <a:avLst/>
          </a:prstGeom>
          <a:solidFill>
            <a:srgbClr val="6DC72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8240572" y="2898648"/>
            <a:ext cx="2972714" cy="320040"/>
          </a:xfrm>
          <a:prstGeom prst="rect">
            <a:avLst/>
          </a:prstGeom>
          <a:noFill/>
        </p:spPr>
        <p:txBody>
          <a:bodyPr wrap="square" lIns="0" rIns="0" tIns="0" bIns="0">
            <a:spAutoFit/>
          </a:bodyPr>
          <a:lstStyle/>
          <a:p>
            <a:pPr algn="l">
              <a:lnSpc>
                <a:spcPct val="125000"/>
              </a:lnSpc>
            </a:pPr>
            <a:r>
              <a:rPr sz="1300" b="1" i="0">
                <a:solidFill>
                  <a:srgbClr val="22450C"/>
                </a:solidFill>
                <a:latin typeface="Segoe UI"/>
              </a:rPr>
              <a:t>Float</a:t>
            </a:r>
          </a:p>
        </p:txBody>
      </p:sp>
      <p:sp>
        <p:nvSpPr>
          <p:cNvPr id="19" name="TextBox 18"/>
          <p:cNvSpPr txBox="1"/>
          <p:nvPr/>
        </p:nvSpPr>
        <p:spPr>
          <a:xfrm>
            <a:off x="8240572" y="3264408"/>
            <a:ext cx="2972714" cy="1554480"/>
          </a:xfrm>
          <a:prstGeom prst="rect">
            <a:avLst/>
          </a:prstGeom>
          <a:noFill/>
        </p:spPr>
        <p:txBody>
          <a:bodyPr wrap="square" lIns="0" rIns="0" tIns="0" bIns="0">
            <a:spAutoFit/>
          </a:bodyPr>
          <a:lstStyle/>
          <a:p>
            <a:pPr algn="l">
              <a:lnSpc>
                <a:spcPct val="145000"/>
              </a:lnSpc>
            </a:pPr>
            <a:r>
              <a:rPr sz="1150" b="0" i="0">
                <a:solidFill>
                  <a:srgbClr val="26301F"/>
                </a:solidFill>
                <a:latin typeface="Segoe UI"/>
              </a:rPr>
              <a:t>Contributions collected between payday and payout day buy units in the payer's own name and redeem on payout day. Small per member, and it is a member benefit rather than a revenue line.</a:t>
            </a:r>
          </a:p>
        </p:txBody>
      </p:sp>
      <p:graphicFrame>
        <p:nvGraphicFramePr>
          <p:cNvPr id="20" name="Table 19"/>
          <p:cNvGraphicFramePr>
            <a:graphicFrameLocks noGrp="1"/>
          </p:cNvGraphicFramePr>
          <p:nvPr/>
        </p:nvGraphicFramePr>
        <p:xfrm>
          <a:off x="777240" y="5212080"/>
          <a:ext cx="10607039" cy="1188720"/>
        </p:xfrm>
        <a:graphic>
          <a:graphicData uri="http://schemas.openxmlformats.org/drawingml/2006/table">
            <a:tbl>
              <a:tblPr>
                <a:tableStyleId>{5C22544A-7EE6-4342-B048-85BDC9FD1C3A}</a:tableStyleId>
              </a:tblPr>
              <a:tblGrid>
                <a:gridCol w="3108960"/>
                <a:gridCol w="7498079"/>
              </a:tblGrid>
              <a:tr h="237744">
                <a:tc>
                  <a:txBody>
                    <a:bodyPr wrap="square"/>
                    <a:lstStyle/>
                    <a:p>
                      <a:r>
                        <a:rPr sz="700" b="1">
                          <a:solidFill>
                            <a:srgbClr val="41801A"/>
                          </a:solidFill>
                          <a:latin typeface="Segoe UI"/>
                        </a:rPr>
                        <a:t>QUESTION A REGULATOR WILL ASK</a:t>
                      </a:r>
                    </a:p>
                  </a:txBody>
                  <a:tcPr marL="45720" marR="109728" marT="27432" marB="27432" anchor="ctr">
                    <a:lnB w="9525" cap="flat" cmpd="sng" algn="ctr">
                      <a:solidFill>
                        <a:srgbClr val="41801A"/>
                      </a:solidFill>
                    </a:lnB>
                    <a:solidFill>
                      <a:srgbClr val="FFFFFF"/>
                    </a:solidFill>
                  </a:tcPr>
                </a:tc>
                <a:tc>
                  <a:txBody>
                    <a:bodyPr wrap="square"/>
                    <a:lstStyle/>
                    <a:p>
                      <a:r>
                        <a:rPr sz="700" b="1">
                          <a:solidFill>
                            <a:srgbClr val="41801A"/>
                          </a:solidFill>
                          <a:latin typeface="Segoe UI"/>
                        </a:rPr>
                        <a:t>ANSWER</a:t>
                      </a:r>
                    </a:p>
                  </a:txBody>
                  <a:tcPr marL="45720" marR="109728" marT="27432" marB="27432" anchor="ctr">
                    <a:lnB w="9525" cap="flat" cmpd="sng" algn="ctr">
                      <a:solidFill>
                        <a:srgbClr val="41801A"/>
                      </a:solidFill>
                    </a:lnB>
                    <a:solidFill>
                      <a:srgbClr val="FFFFFF"/>
                    </a:solidFill>
                  </a:tcPr>
                </a:tc>
              </a:tr>
              <a:tr h="237744">
                <a:tc>
                  <a:txBody>
                    <a:bodyPr wrap="square"/>
                    <a:lstStyle/>
                    <a:p>
                      <a:r>
                        <a:rPr sz="700" b="0">
                          <a:solidFill>
                            <a:srgbClr val="26301F"/>
                          </a:solidFill>
                          <a:latin typeface="Segoe UI"/>
                        </a:rPr>
                        <a:t>Who holds the money</a:t>
                      </a:r>
                    </a:p>
                  </a:txBody>
                  <a:tcPr marL="45720" marR="109728" marT="27432" marB="27432" anchor="ctr">
                    <a:lnB w="9525" cap="flat" cmpd="sng" algn="ctr">
                      <a:solidFill>
                        <a:srgbClr val="DCE3D6"/>
                      </a:solidFill>
                    </a:lnB>
                    <a:solidFill>
                      <a:srgbClr val="FFFFFF"/>
                    </a:solidFill>
                  </a:tcPr>
                </a:tc>
                <a:tc>
                  <a:txBody>
                    <a:bodyPr wrap="square"/>
                    <a:lstStyle/>
                    <a:p>
                      <a:r>
                        <a:rPr sz="700" b="0">
                          <a:solidFill>
                            <a:srgbClr val="26301F"/>
                          </a:solidFill>
                          <a:latin typeface="Segoe UI"/>
                        </a:rPr>
                        <a:t>A licensed trustee, in the member's own name. Not Halqa, and not on anybody's balance sheet but the member's</a:t>
                      </a:r>
                    </a:p>
                  </a:txBody>
                  <a:tcPr marL="45720" marR="109728" marT="27432" marB="27432" anchor="ctr">
                    <a:lnB w="9525" cap="flat" cmpd="sng" algn="ctr">
                      <a:solidFill>
                        <a:srgbClr val="DCE3D6"/>
                      </a:solidFill>
                    </a:lnB>
                    <a:solidFill>
                      <a:srgbClr val="FFFFFF"/>
                    </a:solidFill>
                  </a:tcPr>
                </a:tc>
              </a:tr>
              <a:tr h="237744">
                <a:tc>
                  <a:txBody>
                    <a:bodyPr wrap="square"/>
                    <a:lstStyle/>
                    <a:p>
                      <a:r>
                        <a:rPr sz="700" b="0">
                          <a:solidFill>
                            <a:srgbClr val="26301F"/>
                          </a:solidFill>
                          <a:latin typeface="Segoe UI"/>
                        </a:rPr>
                        <a:t>What is Halqa registered as</a:t>
                      </a:r>
                    </a:p>
                  </a:txBody>
                  <a:tcPr marL="45720" marR="109728" marT="27432" marB="27432" anchor="ctr">
                    <a:lnB w="9525" cap="flat" cmpd="sng" algn="ctr">
                      <a:solidFill>
                        <a:srgbClr val="DCE3D6"/>
                      </a:solidFill>
                    </a:lnB>
                    <a:solidFill>
                      <a:srgbClr val="FFFFFF"/>
                    </a:solidFill>
                  </a:tcPr>
                </a:tc>
                <a:tc>
                  <a:txBody>
                    <a:bodyPr wrap="square"/>
                    <a:lstStyle/>
                    <a:p>
                      <a:r>
                        <a:rPr sz="700" b="0">
                          <a:solidFill>
                            <a:srgbClr val="26301F"/>
                          </a:solidFill>
                          <a:latin typeface="Segoe UI"/>
                        </a:rPr>
                        <a:t>A mutual fund distributor. It introduces members and passes instructions. It is not an electronic money licence, because no balance is issued, and not a non banking finance licence, because Halqa deploys nothing</a:t>
                      </a:r>
                    </a:p>
                  </a:txBody>
                  <a:tcPr marL="45720" marR="109728" marT="27432" marB="27432" anchor="ctr">
                    <a:lnB w="9525" cap="flat" cmpd="sng" algn="ctr">
                      <a:solidFill>
                        <a:srgbClr val="DCE3D6"/>
                      </a:solidFill>
                    </a:lnB>
                    <a:solidFill>
                      <a:srgbClr val="FFFFFF"/>
                    </a:solidFill>
                  </a:tcPr>
                </a:tc>
              </a:tr>
              <a:tr h="237744">
                <a:tc>
                  <a:txBody>
                    <a:bodyPr wrap="square"/>
                    <a:lstStyle/>
                    <a:p>
                      <a:r>
                        <a:rPr sz="700" b="0">
                          <a:solidFill>
                            <a:srgbClr val="26301F"/>
                          </a:solidFill>
                          <a:latin typeface="Segoe UI"/>
                        </a:rPr>
                        <a:t>Can a payout ever wait on a redemption</a:t>
                      </a:r>
                    </a:p>
                  </a:txBody>
                  <a:tcPr marL="45720" marR="109728" marT="27432" marB="27432" anchor="ctr">
                    <a:lnB w="9525" cap="flat" cmpd="sng" algn="ctr">
                      <a:solidFill>
                        <a:srgbClr val="DCE3D6"/>
                      </a:solidFill>
                    </a:lnB>
                    <a:solidFill>
                      <a:srgbClr val="FFFFFF"/>
                    </a:solidFill>
                  </a:tcPr>
                </a:tc>
                <a:tc>
                  <a:txBody>
                    <a:bodyPr wrap="square"/>
                    <a:lstStyle/>
                    <a:p>
                      <a:r>
                        <a:rPr sz="700" b="0">
                          <a:solidFill>
                            <a:srgbClr val="26301F"/>
                          </a:solidFill>
                          <a:latin typeface="Segoe UI"/>
                        </a:rPr>
                        <a:t>No. This is an absolute engineering rule. If a redemption is slow the circle pays out anyway and the redemption settles behind it</a:t>
                      </a:r>
                    </a:p>
                  </a:txBody>
                  <a:tcPr marL="45720" marR="109728" marT="27432" marB="27432" anchor="ctr">
                    <a:lnB w="9525" cap="flat" cmpd="sng" algn="ctr">
                      <a:solidFill>
                        <a:srgbClr val="DCE3D6"/>
                      </a:solidFill>
                    </a:lnB>
                    <a:solidFill>
                      <a:srgbClr val="FFFFFF"/>
                    </a:solidFill>
                  </a:tcPr>
                </a:tc>
              </a:tr>
              <a:tr h="237744">
                <a:tc>
                  <a:txBody>
                    <a:bodyPr wrap="square"/>
                    <a:lstStyle/>
                    <a:p>
                      <a:r>
                        <a:rPr sz="700" b="0">
                          <a:solidFill>
                            <a:srgbClr val="26301F"/>
                          </a:solidFill>
                          <a:latin typeface="Segoe UI"/>
                        </a:rPr>
                        <a:t>Who receives redemption proceeds</a:t>
                      </a:r>
                    </a:p>
                  </a:txBody>
                  <a:tcPr marL="45720" marR="109728" marT="27432" marB="27432" anchor="ctr">
                    <a:lnB w="9525" cap="flat" cmpd="sng" algn="ctr">
                      <a:solidFill>
                        <a:srgbClr val="DCE3D6"/>
                      </a:solidFill>
                    </a:lnB>
                    <a:solidFill>
                      <a:srgbClr val="FFFFFF"/>
                    </a:solidFill>
                  </a:tcPr>
                </a:tc>
                <a:tc>
                  <a:txBody>
                    <a:bodyPr wrap="square"/>
                    <a:lstStyle/>
                    <a:p>
                      <a:r>
                        <a:rPr sz="700" b="0">
                          <a:solidFill>
                            <a:srgbClr val="26301F"/>
                          </a:solidFill>
                          <a:latin typeface="Segoe UI"/>
                        </a:rPr>
                        <a:t>The member, or on a pledge, the round's recipient directly. Halqa is never the payee</a:t>
                      </a:r>
                    </a:p>
                  </a:txBody>
                  <a:tcPr marL="45720" marR="109728" marT="27432" marB="27432" anchor="ctr">
                    <a:lnB w="9525" cap="flat" cmpd="sng" algn="ctr">
                      <a:solidFill>
                        <a:srgbClr val="DCE3D6"/>
                      </a:solidFill>
                    </a:lnB>
                    <a:solidFill>
                      <a:srgbClr val="FFFFFF"/>
                    </a:solidFill>
                  </a:tcPr>
                </a:tc>
              </a:tr>
            </a:tbl>
          </a:graphicData>
        </a:graphic>
      </p:graphicFrame>
    </p:spTree>
  </p:cSld>
  <p:clrMapOvr>
    <a:masterClrMapping/>
  </p:clrMapOvr>
</p:sld>
</file>

<file path=ppt/slides/slide5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777240" y="566928"/>
            <a:ext cx="10637215" cy="219456"/>
          </a:xfrm>
          <a:prstGeom prst="rect">
            <a:avLst/>
          </a:prstGeom>
          <a:noFill/>
        </p:spPr>
        <p:txBody>
          <a:bodyPr wrap="square" lIns="0" rIns="0" tIns="0" bIns="0">
            <a:spAutoFit/>
          </a:bodyPr>
          <a:lstStyle/>
          <a:p>
            <a:pPr algn="l">
              <a:lnSpc>
                <a:spcPct val="125000"/>
              </a:lnSpc>
            </a:pPr>
            <a:r>
              <a:rPr sz="950" b="1" i="0">
                <a:solidFill>
                  <a:srgbClr val="41801A"/>
                </a:solidFill>
                <a:latin typeface="Segoe UI"/>
              </a:rPr>
              <a:t>7  THE SAVINGS LAYER</a:t>
            </a:r>
          </a:p>
        </p:txBody>
      </p:sp>
      <p:sp>
        <p:nvSpPr>
          <p:cNvPr id="3" name="TextBox 2"/>
          <p:cNvSpPr txBox="1"/>
          <p:nvPr/>
        </p:nvSpPr>
        <p:spPr>
          <a:xfrm>
            <a:off x="777240" y="841248"/>
            <a:ext cx="10637215" cy="502920"/>
          </a:xfrm>
          <a:prstGeom prst="rect">
            <a:avLst/>
          </a:prstGeom>
          <a:noFill/>
        </p:spPr>
        <p:txBody>
          <a:bodyPr wrap="square" lIns="0" rIns="0" tIns="0" bIns="0">
            <a:spAutoFit/>
          </a:bodyPr>
          <a:lstStyle/>
          <a:p>
            <a:pPr algn="l">
              <a:lnSpc>
                <a:spcPct val="125000"/>
              </a:lnSpc>
            </a:pPr>
            <a:r>
              <a:rPr sz="2700" b="1" i="0">
                <a:solidFill>
                  <a:srgbClr val="0C1408"/>
                </a:solidFill>
                <a:latin typeface="Segoe UI"/>
              </a:rPr>
              <a:t>Mahaana, and why liquidity is the whole question</a:t>
            </a:r>
          </a:p>
        </p:txBody>
      </p:sp>
      <p:sp>
        <p:nvSpPr>
          <p:cNvPr id="4" name="Rectangle 3"/>
          <p:cNvSpPr/>
          <p:nvPr/>
        </p:nvSpPr>
        <p:spPr>
          <a:xfrm>
            <a:off x="777240" y="1417320"/>
            <a:ext cx="1371600" cy="22860"/>
          </a:xfrm>
          <a:prstGeom prst="rect">
            <a:avLst/>
          </a:prstGeom>
          <a:solidFill>
            <a:srgbClr val="6DC72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777240" y="6382512"/>
            <a:ext cx="3657600" cy="228600"/>
          </a:xfrm>
          <a:prstGeom prst="rect">
            <a:avLst/>
          </a:prstGeom>
          <a:noFill/>
        </p:spPr>
        <p:txBody>
          <a:bodyPr wrap="square" lIns="0" rIns="0" tIns="0" bIns="0">
            <a:spAutoFit/>
          </a:bodyPr>
          <a:lstStyle/>
          <a:p>
            <a:pPr algn="l">
              <a:lnSpc>
                <a:spcPct val="125000"/>
              </a:lnSpc>
            </a:pPr>
            <a:r>
              <a:rPr sz="900" b="0" i="0">
                <a:solidFill>
                  <a:srgbClr val="9AA694"/>
                </a:solidFill>
                <a:latin typeface="Segoe UI"/>
              </a:rPr>
              <a:t>Halqa  ·  Confidential</a:t>
            </a:r>
          </a:p>
        </p:txBody>
      </p:sp>
      <p:sp>
        <p:nvSpPr>
          <p:cNvPr id="6" name="TextBox 5"/>
          <p:cNvSpPr txBox="1"/>
          <p:nvPr/>
        </p:nvSpPr>
        <p:spPr>
          <a:xfrm>
            <a:off x="10728655" y="6382512"/>
            <a:ext cx="685800" cy="228600"/>
          </a:xfrm>
          <a:prstGeom prst="rect">
            <a:avLst/>
          </a:prstGeom>
          <a:noFill/>
        </p:spPr>
        <p:txBody>
          <a:bodyPr wrap="square" lIns="0" rIns="0" tIns="0" bIns="0">
            <a:spAutoFit/>
          </a:bodyPr>
          <a:lstStyle/>
          <a:p>
            <a:pPr algn="r">
              <a:lnSpc>
                <a:spcPct val="125000"/>
              </a:lnSpc>
            </a:pPr>
            <a:r>
              <a:rPr sz="900" b="0" i="0">
                <a:solidFill>
                  <a:srgbClr val="6F7B68"/>
                </a:solidFill>
                <a:latin typeface="Segoe UI"/>
              </a:rPr>
              <a:t>52</a:t>
            </a:r>
          </a:p>
        </p:txBody>
      </p:sp>
      <p:sp>
        <p:nvSpPr>
          <p:cNvPr id="7" name="TextBox 6"/>
          <p:cNvSpPr txBox="1"/>
          <p:nvPr/>
        </p:nvSpPr>
        <p:spPr>
          <a:xfrm>
            <a:off x="777240" y="1965960"/>
            <a:ext cx="4983480" cy="274320"/>
          </a:xfrm>
          <a:prstGeom prst="rect">
            <a:avLst/>
          </a:prstGeom>
          <a:noFill/>
        </p:spPr>
        <p:txBody>
          <a:bodyPr wrap="square" lIns="0" rIns="0" tIns="0" bIns="0">
            <a:spAutoFit/>
          </a:bodyPr>
          <a:lstStyle/>
          <a:p>
            <a:pPr algn="l">
              <a:lnSpc>
                <a:spcPct val="125000"/>
              </a:lnSpc>
            </a:pPr>
            <a:r>
              <a:rPr sz="1250" b="1" i="0">
                <a:solidFill>
                  <a:srgbClr val="41801A"/>
                </a:solidFill>
                <a:latin typeface="Segoe UI"/>
              </a:rPr>
              <a:t>What Mahaana is and how it operates</a:t>
            </a:r>
          </a:p>
        </p:txBody>
      </p:sp>
      <p:sp>
        <p:nvSpPr>
          <p:cNvPr id="8" name="TextBox 7"/>
          <p:cNvSpPr txBox="1"/>
          <p:nvPr/>
        </p:nvSpPr>
        <p:spPr>
          <a:xfrm>
            <a:off x="777240" y="2350008"/>
            <a:ext cx="4983480" cy="3108960"/>
          </a:xfrm>
          <a:prstGeom prst="rect">
            <a:avLst/>
          </a:prstGeom>
          <a:noFill/>
        </p:spPr>
        <p:txBody>
          <a:bodyPr wrap="square" lIns="0" rIns="0" tIns="0" bIns="0">
            <a:spAutoFit/>
          </a:bodyPr>
          <a:lstStyle/>
          <a:p>
            <a:pPr algn="l">
              <a:lnSpc>
                <a:spcPct val="150000"/>
              </a:lnSpc>
            </a:pPr>
            <a:r>
              <a:rPr sz="1150" b="0" i="0">
                <a:solidFill>
                  <a:srgbClr val="26301F"/>
                </a:solidFill>
                <a:latin typeface="Segoe UI"/>
              </a:rPr>
              <a:t>Mahaana Wealth is Pakistan's first digital only asset management company licensed by SECP and a member of the Mutual Funds Association of Pakistan. An account opens in under ten minutes, which matters when the member is on a Rs 15,000 handset.</a:t>
            </a:r>
          </a:p>
          <a:p>
            <a:pPr algn="l">
              <a:lnSpc>
                <a:spcPct val="150000"/>
              </a:lnSpc>
              <a:spcBef>
                <a:spcPts val="900"/>
              </a:spcBef>
            </a:pPr>
            <a:r>
              <a:rPr sz="1150" b="0" i="0">
                <a:solidFill>
                  <a:srgbClr val="26301F"/>
                </a:solidFill>
                <a:latin typeface="Segoe UI"/>
              </a:rPr>
              <a:t/>
            </a:r>
          </a:p>
          <a:p>
            <a:pPr algn="l">
              <a:lnSpc>
                <a:spcPct val="150000"/>
              </a:lnSpc>
              <a:spcBef>
                <a:spcPts val="900"/>
              </a:spcBef>
            </a:pPr>
            <a:r>
              <a:rPr sz="1150" b="0" i="0">
                <a:solidFill>
                  <a:srgbClr val="26301F"/>
                </a:solidFill>
                <a:latin typeface="Segoe UI"/>
              </a:rPr>
              <a:t>Cash placed through their Save+ product goes into the Mahaana Islamic Cash Fund, which holds short term Shariah compliant instruments: government sukuk, corporate sukuk and bank placements. Those are the lowest risk, shortest duration assets available in this market, which is exactly the right shape for money that has to come back quickly.</a:t>
            </a:r>
          </a:p>
          <a:p>
            <a:pPr algn="l">
              <a:lnSpc>
                <a:spcPct val="150000"/>
              </a:lnSpc>
              <a:spcBef>
                <a:spcPts val="900"/>
              </a:spcBef>
            </a:pPr>
            <a:r>
              <a:rPr sz="1150" b="0" i="0">
                <a:solidFill>
                  <a:srgbClr val="26301F"/>
                </a:solidFill>
                <a:latin typeface="Segoe UI"/>
              </a:rPr>
              <a:t/>
            </a:r>
          </a:p>
          <a:p>
            <a:pPr algn="l">
              <a:lnSpc>
                <a:spcPct val="150000"/>
              </a:lnSpc>
              <a:spcBef>
                <a:spcPts val="900"/>
              </a:spcBef>
            </a:pPr>
            <a:r>
              <a:rPr sz="1150" b="0" i="0">
                <a:solidFill>
                  <a:srgbClr val="26301F"/>
                </a:solidFill>
                <a:latin typeface="Segoe UI"/>
              </a:rPr>
              <a:t>Halqa is the distributor. The trustee holds the units. Mahaana manages them. Three separate parties, which is the point.</a:t>
            </a:r>
          </a:p>
        </p:txBody>
      </p:sp>
      <p:sp>
        <p:nvSpPr>
          <p:cNvPr id="9" name="Rectangle 8"/>
          <p:cNvSpPr/>
          <p:nvPr/>
        </p:nvSpPr>
        <p:spPr>
          <a:xfrm>
            <a:off x="6062472" y="1965960"/>
            <a:ext cx="9525" cy="3108960"/>
          </a:xfrm>
          <a:prstGeom prst="rect">
            <a:avLst/>
          </a:prstGeom>
          <a:solidFill>
            <a:srgbClr val="E1E7D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6400800" y="1965960"/>
            <a:ext cx="4983480" cy="274320"/>
          </a:xfrm>
          <a:prstGeom prst="rect">
            <a:avLst/>
          </a:prstGeom>
          <a:noFill/>
        </p:spPr>
        <p:txBody>
          <a:bodyPr wrap="square" lIns="0" rIns="0" tIns="0" bIns="0">
            <a:spAutoFit/>
          </a:bodyPr>
          <a:lstStyle/>
          <a:p>
            <a:pPr algn="l">
              <a:lnSpc>
                <a:spcPct val="125000"/>
              </a:lnSpc>
            </a:pPr>
            <a:r>
              <a:rPr sz="1250" b="1" i="0">
                <a:solidFill>
                  <a:srgbClr val="41801A"/>
                </a:solidFill>
                <a:latin typeface="Segoe UI"/>
              </a:rPr>
              <a:t>Why we need two to three day liquidity, not thirty</a:t>
            </a:r>
          </a:p>
        </p:txBody>
      </p:sp>
      <p:sp>
        <p:nvSpPr>
          <p:cNvPr id="11" name="TextBox 10"/>
          <p:cNvSpPr txBox="1"/>
          <p:nvPr/>
        </p:nvSpPr>
        <p:spPr>
          <a:xfrm>
            <a:off x="6400800" y="2350008"/>
            <a:ext cx="4983480" cy="3108960"/>
          </a:xfrm>
          <a:prstGeom prst="rect">
            <a:avLst/>
          </a:prstGeom>
          <a:noFill/>
        </p:spPr>
        <p:txBody>
          <a:bodyPr wrap="square" lIns="0" rIns="0" tIns="0" bIns="0">
            <a:spAutoFit/>
          </a:bodyPr>
          <a:lstStyle/>
          <a:p>
            <a:pPr algn="l">
              <a:lnSpc>
                <a:spcPct val="150000"/>
              </a:lnSpc>
            </a:pPr>
            <a:r>
              <a:rPr sz="1150" b="0" i="0">
                <a:solidFill>
                  <a:srgbClr val="26301F"/>
                </a:solidFill>
                <a:latin typeface="Segoe UI"/>
              </a:rPr>
              <a:t>The float feature is the reason. Automatic collection fires on the member's payday, which may be the first of the month. The payout releases on the tenth, or whatever date the host configured. That gap is real money sitting idle for up to nine days, across every member of every circle.</a:t>
            </a:r>
          </a:p>
          <a:p>
            <a:pPr algn="l">
              <a:lnSpc>
                <a:spcPct val="150000"/>
              </a:lnSpc>
              <a:spcBef>
                <a:spcPts val="900"/>
              </a:spcBef>
            </a:pPr>
            <a:r>
              <a:rPr sz="1150" b="0" i="0">
                <a:solidFill>
                  <a:srgbClr val="26301F"/>
                </a:solidFill>
                <a:latin typeface="Segoe UI"/>
              </a:rPr>
              <a:t/>
            </a:r>
          </a:p>
          <a:p>
            <a:pPr algn="l">
              <a:lnSpc>
                <a:spcPct val="150000"/>
              </a:lnSpc>
              <a:spcBef>
                <a:spcPts val="900"/>
              </a:spcBef>
            </a:pPr>
            <a:r>
              <a:rPr sz="1150" b="0" i="0">
                <a:solidFill>
                  <a:srgbClr val="26301F"/>
                </a:solidFill>
                <a:latin typeface="Segoe UI"/>
              </a:rPr>
              <a:t>Placing it earns a return for the member. But the payout date is fixed and cannot move, so the fund must be able to return the money inside that window with certainty, not usually. A money market fund settling in two to three days works. Anything longer does not, and no yield is worth a missed payout.</a:t>
            </a:r>
          </a:p>
          <a:p>
            <a:pPr algn="l">
              <a:lnSpc>
                <a:spcPct val="150000"/>
              </a:lnSpc>
              <a:spcBef>
                <a:spcPts val="900"/>
              </a:spcBef>
            </a:pPr>
            <a:r>
              <a:rPr sz="1150" b="0" i="0">
                <a:solidFill>
                  <a:srgbClr val="26301F"/>
                </a:solidFill>
                <a:latin typeface="Segoe UI"/>
              </a:rPr>
              <a:t/>
            </a:r>
          </a:p>
          <a:p>
            <a:pPr algn="l">
              <a:lnSpc>
                <a:spcPct val="150000"/>
              </a:lnSpc>
              <a:spcBef>
                <a:spcPts val="900"/>
              </a:spcBef>
            </a:pPr>
            <a:r>
              <a:rPr sz="1150" b="0" i="0">
                <a:solidFill>
                  <a:srgbClr val="26301F"/>
                </a:solidFill>
                <a:latin typeface="Segoe UI"/>
              </a:rPr>
              <a:t>So the savings layer uses cash and money market funds only for float. Equity and retirement products stay member choices in the growth vault.</a:t>
            </a:r>
          </a:p>
        </p:txBody>
      </p:sp>
      <p:sp>
        <p:nvSpPr>
          <p:cNvPr id="12" name="TextBox 11"/>
          <p:cNvSpPr txBox="1"/>
          <p:nvPr/>
        </p:nvSpPr>
        <p:spPr>
          <a:xfrm>
            <a:off x="777240" y="5623560"/>
            <a:ext cx="10607040" cy="731520"/>
          </a:xfrm>
          <a:prstGeom prst="rect">
            <a:avLst/>
          </a:prstGeom>
          <a:noFill/>
        </p:spPr>
        <p:txBody>
          <a:bodyPr wrap="square" lIns="0" rIns="0" tIns="0" bIns="0">
            <a:spAutoFit/>
          </a:bodyPr>
          <a:lstStyle/>
          <a:p>
            <a:pPr algn="l">
              <a:lnSpc>
                <a:spcPct val="140000"/>
              </a:lnSpc>
            </a:pPr>
            <a:r>
              <a:rPr sz="1100" b="0" i="0">
                <a:solidFill>
                  <a:srgbClr val="6F7B68"/>
                </a:solidFill>
                <a:latin typeface="Segoe UI"/>
              </a:rPr>
              <a:t>Three conditions on any fund used for float: settlement inside the payout window with a written service level, daily dividend accrual, and no exit load. Al Meezan, NBP, UBL, Alfalah, HBL and Atlas all run Islamic money market funds built for same or next day redemption, so terms are negotiable.</a:t>
            </a:r>
          </a:p>
        </p:txBody>
      </p:sp>
    </p:spTree>
  </p:cSld>
  <p:clrMapOvr>
    <a:masterClrMapping/>
  </p:clrMapOvr>
</p:sld>
</file>

<file path=ppt/slides/slide5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777240" y="566928"/>
            <a:ext cx="10637215" cy="219456"/>
          </a:xfrm>
          <a:prstGeom prst="rect">
            <a:avLst/>
          </a:prstGeom>
          <a:noFill/>
        </p:spPr>
        <p:txBody>
          <a:bodyPr wrap="square" lIns="0" rIns="0" tIns="0" bIns="0">
            <a:spAutoFit/>
          </a:bodyPr>
          <a:lstStyle/>
          <a:p>
            <a:pPr algn="l">
              <a:lnSpc>
                <a:spcPct val="125000"/>
              </a:lnSpc>
            </a:pPr>
            <a:r>
              <a:rPr sz="950" b="1" i="0">
                <a:solidFill>
                  <a:srgbClr val="41801A"/>
                </a:solidFill>
                <a:latin typeface="Segoe UI"/>
              </a:rPr>
              <a:t>7  THE SAVINGS LAYER</a:t>
            </a:r>
          </a:p>
        </p:txBody>
      </p:sp>
      <p:sp>
        <p:nvSpPr>
          <p:cNvPr id="3" name="TextBox 2"/>
          <p:cNvSpPr txBox="1"/>
          <p:nvPr/>
        </p:nvSpPr>
        <p:spPr>
          <a:xfrm>
            <a:off x="777240" y="841248"/>
            <a:ext cx="10637215" cy="502920"/>
          </a:xfrm>
          <a:prstGeom prst="rect">
            <a:avLst/>
          </a:prstGeom>
          <a:noFill/>
        </p:spPr>
        <p:txBody>
          <a:bodyPr wrap="square" lIns="0" rIns="0" tIns="0" bIns="0">
            <a:spAutoFit/>
          </a:bodyPr>
          <a:lstStyle/>
          <a:p>
            <a:pPr algn="l">
              <a:lnSpc>
                <a:spcPct val="125000"/>
              </a:lnSpc>
            </a:pPr>
            <a:r>
              <a:rPr sz="2700" b="1" i="0">
                <a:solidFill>
                  <a:srgbClr val="0C1408"/>
                </a:solidFill>
                <a:latin typeface="Segoe UI"/>
              </a:rPr>
              <a:t>The float, and the host's window</a:t>
            </a:r>
          </a:p>
        </p:txBody>
      </p:sp>
      <p:sp>
        <p:nvSpPr>
          <p:cNvPr id="4" name="Rectangle 3"/>
          <p:cNvSpPr/>
          <p:nvPr/>
        </p:nvSpPr>
        <p:spPr>
          <a:xfrm>
            <a:off x="777240" y="1417320"/>
            <a:ext cx="1371600" cy="22860"/>
          </a:xfrm>
          <a:prstGeom prst="rect">
            <a:avLst/>
          </a:prstGeom>
          <a:solidFill>
            <a:srgbClr val="6DC72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777240" y="6382512"/>
            <a:ext cx="3657600" cy="228600"/>
          </a:xfrm>
          <a:prstGeom prst="rect">
            <a:avLst/>
          </a:prstGeom>
          <a:noFill/>
        </p:spPr>
        <p:txBody>
          <a:bodyPr wrap="square" lIns="0" rIns="0" tIns="0" bIns="0">
            <a:spAutoFit/>
          </a:bodyPr>
          <a:lstStyle/>
          <a:p>
            <a:pPr algn="l">
              <a:lnSpc>
                <a:spcPct val="125000"/>
              </a:lnSpc>
            </a:pPr>
            <a:r>
              <a:rPr sz="900" b="0" i="0">
                <a:solidFill>
                  <a:srgbClr val="9AA694"/>
                </a:solidFill>
                <a:latin typeface="Segoe UI"/>
              </a:rPr>
              <a:t>Halqa  ·  Confidential</a:t>
            </a:r>
          </a:p>
        </p:txBody>
      </p:sp>
      <p:sp>
        <p:nvSpPr>
          <p:cNvPr id="6" name="TextBox 5"/>
          <p:cNvSpPr txBox="1"/>
          <p:nvPr/>
        </p:nvSpPr>
        <p:spPr>
          <a:xfrm>
            <a:off x="10728655" y="6382512"/>
            <a:ext cx="685800" cy="228600"/>
          </a:xfrm>
          <a:prstGeom prst="rect">
            <a:avLst/>
          </a:prstGeom>
          <a:noFill/>
        </p:spPr>
        <p:txBody>
          <a:bodyPr wrap="square" lIns="0" rIns="0" tIns="0" bIns="0">
            <a:spAutoFit/>
          </a:bodyPr>
          <a:lstStyle/>
          <a:p>
            <a:pPr algn="r">
              <a:lnSpc>
                <a:spcPct val="125000"/>
              </a:lnSpc>
            </a:pPr>
            <a:r>
              <a:rPr sz="900" b="0" i="0">
                <a:solidFill>
                  <a:srgbClr val="6F7B68"/>
                </a:solidFill>
                <a:latin typeface="Segoe UI"/>
              </a:rPr>
              <a:t>53</a:t>
            </a:r>
          </a:p>
        </p:txBody>
      </p:sp>
      <p:sp>
        <p:nvSpPr>
          <p:cNvPr id="7" name="TextBox 6"/>
          <p:cNvSpPr txBox="1"/>
          <p:nvPr/>
        </p:nvSpPr>
        <p:spPr>
          <a:xfrm>
            <a:off x="777240" y="2011680"/>
            <a:ext cx="640080" cy="502920"/>
          </a:xfrm>
          <a:prstGeom prst="rect">
            <a:avLst/>
          </a:prstGeom>
          <a:noFill/>
        </p:spPr>
        <p:txBody>
          <a:bodyPr wrap="square" lIns="0" rIns="0" tIns="0" bIns="0">
            <a:spAutoFit/>
          </a:bodyPr>
          <a:lstStyle/>
          <a:p>
            <a:pPr algn="l">
              <a:lnSpc>
                <a:spcPct val="125000"/>
              </a:lnSpc>
            </a:pPr>
            <a:r>
              <a:rPr sz="3000" b="1" i="0">
                <a:solidFill>
                  <a:srgbClr val="C5E3A8"/>
                </a:solidFill>
                <a:latin typeface="Segoe UI"/>
              </a:rPr>
              <a:t>1</a:t>
            </a:r>
          </a:p>
        </p:txBody>
      </p:sp>
      <p:sp>
        <p:nvSpPr>
          <p:cNvPr id="8" name="TextBox 7"/>
          <p:cNvSpPr txBox="1"/>
          <p:nvPr/>
        </p:nvSpPr>
        <p:spPr>
          <a:xfrm>
            <a:off x="777240" y="2542032"/>
            <a:ext cx="2384983" cy="274320"/>
          </a:xfrm>
          <a:prstGeom prst="rect">
            <a:avLst/>
          </a:prstGeom>
          <a:noFill/>
        </p:spPr>
        <p:txBody>
          <a:bodyPr wrap="square" lIns="0" rIns="0" tIns="0" bIns="0">
            <a:spAutoFit/>
          </a:bodyPr>
          <a:lstStyle/>
          <a:p>
            <a:pPr algn="l">
              <a:lnSpc>
                <a:spcPct val="125000"/>
              </a:lnSpc>
            </a:pPr>
            <a:r>
              <a:rPr sz="1200" b="1" i="0">
                <a:solidFill>
                  <a:srgbClr val="41801A"/>
                </a:solidFill>
                <a:latin typeface="Segoe UI"/>
              </a:rPr>
              <a:t>Payday</a:t>
            </a:r>
          </a:p>
        </p:txBody>
      </p:sp>
      <p:sp>
        <p:nvSpPr>
          <p:cNvPr id="9" name="TextBox 8"/>
          <p:cNvSpPr txBox="1"/>
          <p:nvPr/>
        </p:nvSpPr>
        <p:spPr>
          <a:xfrm>
            <a:off x="777240" y="2852928"/>
            <a:ext cx="2384983" cy="1554480"/>
          </a:xfrm>
          <a:prstGeom prst="rect">
            <a:avLst/>
          </a:prstGeom>
          <a:noFill/>
        </p:spPr>
        <p:txBody>
          <a:bodyPr wrap="square" lIns="0" rIns="0" tIns="0" bIns="0">
            <a:spAutoFit/>
          </a:bodyPr>
          <a:lstStyle/>
          <a:p>
            <a:pPr algn="l">
              <a:lnSpc>
                <a:spcPct val="145000"/>
              </a:lnSpc>
            </a:pPr>
            <a:r>
              <a:rPr sz="1100" b="0" i="0">
                <a:solidFill>
                  <a:srgbClr val="26301F"/>
                </a:solidFill>
                <a:latin typeface="Segoe UI"/>
              </a:rPr>
              <a:t>Collection fires on the morning pay lands, which for a government salary is the first and for private payroll is the first to the seventh</a:t>
            </a:r>
          </a:p>
        </p:txBody>
      </p:sp>
      <p:sp>
        <p:nvSpPr>
          <p:cNvPr id="10" name="TextBox 9"/>
          <p:cNvSpPr txBox="1"/>
          <p:nvPr/>
        </p:nvSpPr>
        <p:spPr>
          <a:xfrm>
            <a:off x="3436543" y="2011680"/>
            <a:ext cx="640080" cy="502920"/>
          </a:xfrm>
          <a:prstGeom prst="rect">
            <a:avLst/>
          </a:prstGeom>
          <a:noFill/>
        </p:spPr>
        <p:txBody>
          <a:bodyPr wrap="square" lIns="0" rIns="0" tIns="0" bIns="0">
            <a:spAutoFit/>
          </a:bodyPr>
          <a:lstStyle/>
          <a:p>
            <a:pPr algn="l">
              <a:lnSpc>
                <a:spcPct val="125000"/>
              </a:lnSpc>
            </a:pPr>
            <a:r>
              <a:rPr sz="3000" b="1" i="0">
                <a:solidFill>
                  <a:srgbClr val="C5E3A8"/>
                </a:solidFill>
                <a:latin typeface="Segoe UI"/>
              </a:rPr>
              <a:t>2</a:t>
            </a:r>
          </a:p>
        </p:txBody>
      </p:sp>
      <p:sp>
        <p:nvSpPr>
          <p:cNvPr id="11" name="TextBox 10"/>
          <p:cNvSpPr txBox="1"/>
          <p:nvPr/>
        </p:nvSpPr>
        <p:spPr>
          <a:xfrm>
            <a:off x="3436543" y="2542032"/>
            <a:ext cx="2384983" cy="274320"/>
          </a:xfrm>
          <a:prstGeom prst="rect">
            <a:avLst/>
          </a:prstGeom>
          <a:noFill/>
        </p:spPr>
        <p:txBody>
          <a:bodyPr wrap="square" lIns="0" rIns="0" tIns="0" bIns="0">
            <a:spAutoFit/>
          </a:bodyPr>
          <a:lstStyle/>
          <a:p>
            <a:pPr algn="l">
              <a:lnSpc>
                <a:spcPct val="125000"/>
              </a:lnSpc>
            </a:pPr>
            <a:r>
              <a:rPr sz="1200" b="1" i="0">
                <a:solidFill>
                  <a:srgbClr val="41801A"/>
                </a:solidFill>
                <a:latin typeface="Segoe UI"/>
              </a:rPr>
              <a:t>Idle</a:t>
            </a:r>
          </a:p>
        </p:txBody>
      </p:sp>
      <p:sp>
        <p:nvSpPr>
          <p:cNvPr id="12" name="TextBox 11"/>
          <p:cNvSpPr txBox="1"/>
          <p:nvPr/>
        </p:nvSpPr>
        <p:spPr>
          <a:xfrm>
            <a:off x="3436543" y="2852928"/>
            <a:ext cx="2384983" cy="1554480"/>
          </a:xfrm>
          <a:prstGeom prst="rect">
            <a:avLst/>
          </a:prstGeom>
          <a:noFill/>
        </p:spPr>
        <p:txBody>
          <a:bodyPr wrap="square" lIns="0" rIns="0" tIns="0" bIns="0">
            <a:spAutoFit/>
          </a:bodyPr>
          <a:lstStyle/>
          <a:p>
            <a:pPr algn="l">
              <a:lnSpc>
                <a:spcPct val="145000"/>
              </a:lnSpc>
            </a:pPr>
            <a:r>
              <a:rPr sz="1100" b="0" i="0">
                <a:solidFill>
                  <a:srgbClr val="26301F"/>
                </a:solidFill>
                <a:latin typeface="Segoe UI"/>
              </a:rPr>
              <a:t>The money now sits until the payout date. On a first-of-month payday and a tenth-of-month payout, that is nine days</a:t>
            </a:r>
          </a:p>
        </p:txBody>
      </p:sp>
      <p:sp>
        <p:nvSpPr>
          <p:cNvPr id="13" name="Rectangle 12"/>
          <p:cNvSpPr/>
          <p:nvPr/>
        </p:nvSpPr>
        <p:spPr>
          <a:xfrm>
            <a:off x="3308527" y="2121408"/>
            <a:ext cx="9525" cy="2103120"/>
          </a:xfrm>
          <a:prstGeom prst="rect">
            <a:avLst/>
          </a:prstGeom>
          <a:solidFill>
            <a:srgbClr val="E1E7D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6095847" y="2011680"/>
            <a:ext cx="640080" cy="502920"/>
          </a:xfrm>
          <a:prstGeom prst="rect">
            <a:avLst/>
          </a:prstGeom>
          <a:noFill/>
        </p:spPr>
        <p:txBody>
          <a:bodyPr wrap="square" lIns="0" rIns="0" tIns="0" bIns="0">
            <a:spAutoFit/>
          </a:bodyPr>
          <a:lstStyle/>
          <a:p>
            <a:pPr algn="l">
              <a:lnSpc>
                <a:spcPct val="125000"/>
              </a:lnSpc>
            </a:pPr>
            <a:r>
              <a:rPr sz="3000" b="1" i="0">
                <a:solidFill>
                  <a:srgbClr val="C5E3A8"/>
                </a:solidFill>
                <a:latin typeface="Segoe UI"/>
              </a:rPr>
              <a:t>3</a:t>
            </a:r>
          </a:p>
        </p:txBody>
      </p:sp>
      <p:sp>
        <p:nvSpPr>
          <p:cNvPr id="15" name="TextBox 14"/>
          <p:cNvSpPr txBox="1"/>
          <p:nvPr/>
        </p:nvSpPr>
        <p:spPr>
          <a:xfrm>
            <a:off x="6095847" y="2542032"/>
            <a:ext cx="2384983" cy="274320"/>
          </a:xfrm>
          <a:prstGeom prst="rect">
            <a:avLst/>
          </a:prstGeom>
          <a:noFill/>
        </p:spPr>
        <p:txBody>
          <a:bodyPr wrap="square" lIns="0" rIns="0" tIns="0" bIns="0">
            <a:spAutoFit/>
          </a:bodyPr>
          <a:lstStyle/>
          <a:p>
            <a:pPr algn="l">
              <a:lnSpc>
                <a:spcPct val="125000"/>
              </a:lnSpc>
            </a:pPr>
            <a:r>
              <a:rPr sz="1200" b="1" i="0">
                <a:solidFill>
                  <a:srgbClr val="41801A"/>
                </a:solidFill>
                <a:latin typeface="Segoe UI"/>
              </a:rPr>
              <a:t>Placed</a:t>
            </a:r>
          </a:p>
        </p:txBody>
      </p:sp>
      <p:sp>
        <p:nvSpPr>
          <p:cNvPr id="16" name="TextBox 15"/>
          <p:cNvSpPr txBox="1"/>
          <p:nvPr/>
        </p:nvSpPr>
        <p:spPr>
          <a:xfrm>
            <a:off x="6095847" y="2852928"/>
            <a:ext cx="2384983" cy="1554480"/>
          </a:xfrm>
          <a:prstGeom prst="rect">
            <a:avLst/>
          </a:prstGeom>
          <a:noFill/>
        </p:spPr>
        <p:txBody>
          <a:bodyPr wrap="square" lIns="0" rIns="0" tIns="0" bIns="0">
            <a:spAutoFit/>
          </a:bodyPr>
          <a:lstStyle/>
          <a:p>
            <a:pPr algn="l">
              <a:lnSpc>
                <a:spcPct val="145000"/>
              </a:lnSpc>
            </a:pPr>
            <a:r>
              <a:rPr sz="1100" b="0" i="0">
                <a:solidFill>
                  <a:srgbClr val="26301F"/>
                </a:solidFill>
                <a:latin typeface="Segoe UI"/>
              </a:rPr>
              <a:t>Units are bought in the paying member's own name, held by the trustee. Not pooled, not in Halqa's name, not a Halqa asset</a:t>
            </a:r>
          </a:p>
        </p:txBody>
      </p:sp>
      <p:sp>
        <p:nvSpPr>
          <p:cNvPr id="17" name="Rectangle 16"/>
          <p:cNvSpPr/>
          <p:nvPr/>
        </p:nvSpPr>
        <p:spPr>
          <a:xfrm>
            <a:off x="5967831" y="2121408"/>
            <a:ext cx="9525" cy="2103120"/>
          </a:xfrm>
          <a:prstGeom prst="rect">
            <a:avLst/>
          </a:prstGeom>
          <a:solidFill>
            <a:srgbClr val="E1E7D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8755151" y="2011680"/>
            <a:ext cx="640080" cy="502920"/>
          </a:xfrm>
          <a:prstGeom prst="rect">
            <a:avLst/>
          </a:prstGeom>
          <a:noFill/>
        </p:spPr>
        <p:txBody>
          <a:bodyPr wrap="square" lIns="0" rIns="0" tIns="0" bIns="0">
            <a:spAutoFit/>
          </a:bodyPr>
          <a:lstStyle/>
          <a:p>
            <a:pPr algn="l">
              <a:lnSpc>
                <a:spcPct val="125000"/>
              </a:lnSpc>
            </a:pPr>
            <a:r>
              <a:rPr sz="3000" b="1" i="0">
                <a:solidFill>
                  <a:srgbClr val="C5E3A8"/>
                </a:solidFill>
                <a:latin typeface="Segoe UI"/>
              </a:rPr>
              <a:t>4</a:t>
            </a:r>
          </a:p>
        </p:txBody>
      </p:sp>
      <p:sp>
        <p:nvSpPr>
          <p:cNvPr id="19" name="TextBox 18"/>
          <p:cNvSpPr txBox="1"/>
          <p:nvPr/>
        </p:nvSpPr>
        <p:spPr>
          <a:xfrm>
            <a:off x="8755151" y="2542032"/>
            <a:ext cx="2384983" cy="274320"/>
          </a:xfrm>
          <a:prstGeom prst="rect">
            <a:avLst/>
          </a:prstGeom>
          <a:noFill/>
        </p:spPr>
        <p:txBody>
          <a:bodyPr wrap="square" lIns="0" rIns="0" tIns="0" bIns="0">
            <a:spAutoFit/>
          </a:bodyPr>
          <a:lstStyle/>
          <a:p>
            <a:pPr algn="l">
              <a:lnSpc>
                <a:spcPct val="125000"/>
              </a:lnSpc>
            </a:pPr>
            <a:r>
              <a:rPr sz="1200" b="1" i="0">
                <a:solidFill>
                  <a:srgbClr val="41801A"/>
                </a:solidFill>
                <a:latin typeface="Segoe UI"/>
              </a:rPr>
              <a:t>Redeemed</a:t>
            </a:r>
          </a:p>
        </p:txBody>
      </p:sp>
      <p:sp>
        <p:nvSpPr>
          <p:cNvPr id="20" name="TextBox 19"/>
          <p:cNvSpPr txBox="1"/>
          <p:nvPr/>
        </p:nvSpPr>
        <p:spPr>
          <a:xfrm>
            <a:off x="8755151" y="2852928"/>
            <a:ext cx="2384983" cy="1554480"/>
          </a:xfrm>
          <a:prstGeom prst="rect">
            <a:avLst/>
          </a:prstGeom>
          <a:noFill/>
        </p:spPr>
        <p:txBody>
          <a:bodyPr wrap="square" lIns="0" rIns="0" tIns="0" bIns="0">
            <a:spAutoFit/>
          </a:bodyPr>
          <a:lstStyle/>
          <a:p>
            <a:pPr algn="l">
              <a:lnSpc>
                <a:spcPct val="145000"/>
              </a:lnSpc>
            </a:pPr>
            <a:r>
              <a:rPr sz="1100" b="0" i="0">
                <a:solidFill>
                  <a:srgbClr val="26301F"/>
                </a:solidFill>
                <a:latin typeface="Segoe UI"/>
              </a:rPr>
              <a:t>Units redeem on payout day. The return goes to the member. The pot releases at nine in the morning regardless</a:t>
            </a:r>
          </a:p>
        </p:txBody>
      </p:sp>
      <p:sp>
        <p:nvSpPr>
          <p:cNvPr id="21" name="Rectangle 20"/>
          <p:cNvSpPr/>
          <p:nvPr/>
        </p:nvSpPr>
        <p:spPr>
          <a:xfrm>
            <a:off x="8627135" y="2121408"/>
            <a:ext cx="9525" cy="2103120"/>
          </a:xfrm>
          <a:prstGeom prst="rect">
            <a:avLst/>
          </a:prstGeom>
          <a:solidFill>
            <a:srgbClr val="E1E7D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graphicFrame>
        <p:nvGraphicFramePr>
          <p:cNvPr id="22" name="Table 21"/>
          <p:cNvGraphicFramePr>
            <a:graphicFrameLocks noGrp="1"/>
          </p:cNvGraphicFramePr>
          <p:nvPr/>
        </p:nvGraphicFramePr>
        <p:xfrm>
          <a:off x="777240" y="4709160"/>
          <a:ext cx="10607040" cy="1199376"/>
        </p:xfrm>
        <a:graphic>
          <a:graphicData uri="http://schemas.openxmlformats.org/drawingml/2006/table">
            <a:tbl>
              <a:tblPr>
                <a:tableStyleId>{5C22544A-7EE6-4342-B048-85BDC9FD1C3A}</a:tableStyleId>
              </a:tblPr>
              <a:tblGrid>
                <a:gridCol w="4937760"/>
                <a:gridCol w="5669280"/>
              </a:tblGrid>
              <a:tr h="299844">
                <a:tc>
                  <a:txBody>
                    <a:bodyPr wrap="square"/>
                    <a:lstStyle/>
                    <a:p>
                      <a:r>
                        <a:rPr sz="700" b="1">
                          <a:solidFill>
                            <a:srgbClr val="41801A"/>
                          </a:solidFill>
                          <a:latin typeface="Segoe UI"/>
                        </a:rPr>
                        <a:t>THE HOST'S KNOB</a:t>
                      </a:r>
                    </a:p>
                  </a:txBody>
                  <a:tcPr marL="45720" marR="109728" marT="27432" marB="27432" anchor="ctr">
                    <a:lnB w="9525" cap="flat" cmpd="sng" algn="ctr">
                      <a:solidFill>
                        <a:srgbClr val="41801A"/>
                      </a:solidFill>
                    </a:lnB>
                    <a:solidFill>
                      <a:srgbClr val="FFFFFF"/>
                    </a:solidFill>
                  </a:tcPr>
                </a:tc>
                <a:tc>
                  <a:txBody>
                    <a:bodyPr wrap="square"/>
                    <a:lstStyle/>
                    <a:p>
                      <a:r>
                        <a:rPr sz="700" b="1">
                          <a:solidFill>
                            <a:srgbClr val="41801A"/>
                          </a:solidFill>
                          <a:latin typeface="Segoe UI"/>
                        </a:rPr>
                        <a:t>WHAT IT DOES</a:t>
                      </a:r>
                    </a:p>
                  </a:txBody>
                  <a:tcPr marL="45720" marR="109728" marT="27432" marB="27432" anchor="ctr">
                    <a:lnB w="9525" cap="flat" cmpd="sng" algn="ctr">
                      <a:solidFill>
                        <a:srgbClr val="41801A"/>
                      </a:solidFill>
                    </a:lnB>
                    <a:solidFill>
                      <a:srgbClr val="FFFFFF"/>
                    </a:solidFill>
                  </a:tcPr>
                </a:tc>
              </a:tr>
              <a:tr h="299844">
                <a:tc>
                  <a:txBody>
                    <a:bodyPr wrap="square"/>
                    <a:lstStyle/>
                    <a:p>
                      <a:r>
                        <a:rPr sz="700" b="0">
                          <a:solidFill>
                            <a:srgbClr val="26301F"/>
                          </a:solidFill>
                          <a:latin typeface="Segoe UI"/>
                        </a:rPr>
                        <a:t>At creation the host sets how early their members usually pay, from zero up to the full period length</a:t>
                      </a:r>
                    </a:p>
                  </a:txBody>
                  <a:tcPr marL="45720" marR="109728" marT="27432" marB="27432" anchor="ctr">
                    <a:lnB w="9525" cap="flat" cmpd="sng" algn="ctr">
                      <a:solidFill>
                        <a:srgbClr val="DCE3D6"/>
                      </a:solidFill>
                    </a:lnB>
                    <a:solidFill>
                      <a:srgbClr val="FFFFFF"/>
                    </a:solidFill>
                  </a:tcPr>
                </a:tc>
                <a:tc>
                  <a:txBody>
                    <a:bodyPr wrap="square"/>
                    <a:lstStyle/>
                    <a:p>
                      <a:r>
                        <a:rPr sz="700" b="0">
                          <a:solidFill>
                            <a:srgbClr val="26301F"/>
                          </a:solidFill>
                          <a:latin typeface="Segoe UI"/>
                        </a:rPr>
                        <a:t>This is a real field on the circle, defaulting to payment at round open</a:t>
                      </a:r>
                    </a:p>
                  </a:txBody>
                  <a:tcPr marL="45720" marR="109728" marT="27432" marB="27432" anchor="ctr">
                    <a:lnB w="9525" cap="flat" cmpd="sng" algn="ctr">
                      <a:solidFill>
                        <a:srgbClr val="DCE3D6"/>
                      </a:solidFill>
                    </a:lnB>
                    <a:solidFill>
                      <a:srgbClr val="FFFFFF"/>
                    </a:solidFill>
                  </a:tcPr>
                </a:tc>
              </a:tr>
              <a:tr h="299844">
                <a:tc>
                  <a:txBody>
                    <a:bodyPr wrap="square"/>
                    <a:lstStyle/>
                    <a:p>
                      <a:r>
                        <a:rPr sz="700" b="0">
                          <a:solidFill>
                            <a:srgbClr val="26301F"/>
                          </a:solidFill>
                          <a:latin typeface="Segoe UI"/>
                        </a:rPr>
                        <a:t>It scales the projected float in every estimate the member sees</a:t>
                      </a:r>
                    </a:p>
                  </a:txBody>
                  <a:tcPr marL="45720" marR="109728" marT="27432" marB="27432" anchor="ctr">
                    <a:lnB w="9525" cap="flat" cmpd="sng" algn="ctr">
                      <a:solidFill>
                        <a:srgbClr val="DCE3D6"/>
                      </a:solidFill>
                    </a:lnB>
                    <a:solidFill>
                      <a:srgbClr val="FFFFFF"/>
                    </a:solidFill>
                  </a:tcPr>
                </a:tc>
                <a:tc>
                  <a:txBody>
                    <a:bodyPr wrap="square"/>
                    <a:lstStyle/>
                    <a:p>
                      <a:r>
                        <a:rPr sz="700" b="0">
                          <a:solidFill>
                            <a:srgbClr val="26301F"/>
                          </a:solidFill>
                          <a:latin typeface="Segoe UI"/>
                        </a:rPr>
                        <a:t>The coverage and bonus chart on the creation screen, the growth chart inside the committee, and every projection all move with it</a:t>
                      </a:r>
                    </a:p>
                  </a:txBody>
                  <a:tcPr marL="45720" marR="109728" marT="27432" marB="27432" anchor="ctr">
                    <a:lnB w="9525" cap="flat" cmpd="sng" algn="ctr">
                      <a:solidFill>
                        <a:srgbClr val="DCE3D6"/>
                      </a:solidFill>
                    </a:lnB>
                    <a:solidFill>
                      <a:srgbClr val="FFFFFF"/>
                    </a:solidFill>
                  </a:tcPr>
                </a:tc>
              </a:tr>
              <a:tr h="299844">
                <a:tc>
                  <a:txBody>
                    <a:bodyPr wrap="square"/>
                    <a:lstStyle/>
                    <a:p>
                      <a:r>
                        <a:rPr sz="700" b="0">
                          <a:solidFill>
                            <a:srgbClr val="26301F"/>
                          </a:solidFill>
                          <a:latin typeface="Segoe UI"/>
                        </a:rPr>
                        <a:t>It is an estimate input, not a promise</a:t>
                      </a:r>
                    </a:p>
                  </a:txBody>
                  <a:tcPr marL="45720" marR="109728" marT="27432" marB="27432" anchor="ctr">
                    <a:lnB w="9525" cap="flat" cmpd="sng" algn="ctr">
                      <a:solidFill>
                        <a:srgbClr val="DCE3D6"/>
                      </a:solidFill>
                    </a:lnB>
                    <a:solidFill>
                      <a:srgbClr val="FFFFFF"/>
                    </a:solidFill>
                  </a:tcPr>
                </a:tc>
                <a:tc>
                  <a:txBody>
                    <a:bodyPr wrap="square"/>
                    <a:lstStyle/>
                    <a:p>
                      <a:r>
                        <a:rPr sz="700" b="0">
                          <a:solidFill>
                            <a:srgbClr val="26301F"/>
                          </a:solidFill>
                          <a:latin typeface="Segoe UI"/>
                        </a:rPr>
                        <a:t>Early payment is expected, never enforced. Actual float profit is computed from real payment timestamps, not from the assumption</a:t>
                      </a:r>
                    </a:p>
                  </a:txBody>
                  <a:tcPr marL="45720" marR="109728" marT="27432" marB="27432" anchor="ctr">
                    <a:lnB w="9525" cap="flat" cmpd="sng" algn="ctr">
                      <a:solidFill>
                        <a:srgbClr val="DCE3D6"/>
                      </a:solidFill>
                    </a:lnB>
                    <a:solidFill>
                      <a:srgbClr val="FFFFFF"/>
                    </a:solidFill>
                  </a:tcPr>
                </a:tc>
              </a:tr>
            </a:tbl>
          </a:graphicData>
        </a:graphic>
      </p:graphicFrame>
      <p:sp>
        <p:nvSpPr>
          <p:cNvPr id="23" name="TextBox 22"/>
          <p:cNvSpPr txBox="1"/>
          <p:nvPr/>
        </p:nvSpPr>
        <p:spPr>
          <a:xfrm>
            <a:off x="777240" y="6091416"/>
            <a:ext cx="10637215" cy="731520"/>
          </a:xfrm>
          <a:prstGeom prst="rect">
            <a:avLst/>
          </a:prstGeom>
          <a:noFill/>
        </p:spPr>
        <p:txBody>
          <a:bodyPr wrap="square" lIns="0" rIns="0" tIns="0" bIns="0">
            <a:spAutoFit/>
          </a:bodyPr>
          <a:lstStyle/>
          <a:p>
            <a:pPr algn="l">
              <a:lnSpc>
                <a:spcPct val="140000"/>
              </a:lnSpc>
            </a:pPr>
            <a:r>
              <a:rPr sz="1150" b="0" i="0">
                <a:solidFill>
                  <a:srgbClr val="6F7B68"/>
                </a:solidFill>
                <a:latin typeface="Segoe UI"/>
              </a:rPr>
              <a:t>The projection is a host's expectation shown as an estimate. The number in the member's statement is computed from when they actually paid.</a:t>
            </a:r>
          </a:p>
        </p:txBody>
      </p:sp>
    </p:spTree>
  </p:cSld>
  <p:clrMapOvr>
    <a:masterClrMapping/>
  </p:clrMapOvr>
</p:sld>
</file>

<file path=ppt/slides/slide5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777240" y="566928"/>
            <a:ext cx="10637215" cy="219456"/>
          </a:xfrm>
          <a:prstGeom prst="rect">
            <a:avLst/>
          </a:prstGeom>
          <a:noFill/>
        </p:spPr>
        <p:txBody>
          <a:bodyPr wrap="square" lIns="0" rIns="0" tIns="0" bIns="0">
            <a:spAutoFit/>
          </a:bodyPr>
          <a:lstStyle/>
          <a:p>
            <a:pPr algn="l">
              <a:lnSpc>
                <a:spcPct val="125000"/>
              </a:lnSpc>
            </a:pPr>
            <a:r>
              <a:rPr sz="950" b="1" i="0">
                <a:solidFill>
                  <a:srgbClr val="41801A"/>
                </a:solidFill>
                <a:latin typeface="Segoe UI"/>
              </a:rPr>
              <a:t>7  TIME VALUE</a:t>
            </a:r>
          </a:p>
        </p:txBody>
      </p:sp>
      <p:sp>
        <p:nvSpPr>
          <p:cNvPr id="3" name="TextBox 2"/>
          <p:cNvSpPr txBox="1"/>
          <p:nvPr/>
        </p:nvSpPr>
        <p:spPr>
          <a:xfrm>
            <a:off x="777240" y="841248"/>
            <a:ext cx="10637215" cy="502920"/>
          </a:xfrm>
          <a:prstGeom prst="rect">
            <a:avLst/>
          </a:prstGeom>
          <a:noFill/>
        </p:spPr>
        <p:txBody>
          <a:bodyPr wrap="square" lIns="0" rIns="0" tIns="0" bIns="0">
            <a:spAutoFit/>
          </a:bodyPr>
          <a:lstStyle/>
          <a:p>
            <a:pPr algn="l">
              <a:lnSpc>
                <a:spcPct val="125000"/>
              </a:lnSpc>
            </a:pPr>
            <a:r>
              <a:rPr sz="2700" b="1" i="0">
                <a:solidFill>
                  <a:srgbClr val="0C1408"/>
                </a:solidFill>
                <a:latin typeface="Segoe UI"/>
              </a:rPr>
              <a:t>Why the last position is paid more than the first</a:t>
            </a:r>
          </a:p>
        </p:txBody>
      </p:sp>
      <p:sp>
        <p:nvSpPr>
          <p:cNvPr id="4" name="Rectangle 3"/>
          <p:cNvSpPr/>
          <p:nvPr/>
        </p:nvSpPr>
        <p:spPr>
          <a:xfrm>
            <a:off x="777240" y="1417320"/>
            <a:ext cx="1371600" cy="22860"/>
          </a:xfrm>
          <a:prstGeom prst="rect">
            <a:avLst/>
          </a:prstGeom>
          <a:solidFill>
            <a:srgbClr val="6DC72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777240" y="6382512"/>
            <a:ext cx="3657600" cy="228600"/>
          </a:xfrm>
          <a:prstGeom prst="rect">
            <a:avLst/>
          </a:prstGeom>
          <a:noFill/>
        </p:spPr>
        <p:txBody>
          <a:bodyPr wrap="square" lIns="0" rIns="0" tIns="0" bIns="0">
            <a:spAutoFit/>
          </a:bodyPr>
          <a:lstStyle/>
          <a:p>
            <a:pPr algn="l">
              <a:lnSpc>
                <a:spcPct val="125000"/>
              </a:lnSpc>
            </a:pPr>
            <a:r>
              <a:rPr sz="900" b="0" i="0">
                <a:solidFill>
                  <a:srgbClr val="9AA694"/>
                </a:solidFill>
                <a:latin typeface="Segoe UI"/>
              </a:rPr>
              <a:t>Halqa  ·  Confidential</a:t>
            </a:r>
          </a:p>
        </p:txBody>
      </p:sp>
      <p:sp>
        <p:nvSpPr>
          <p:cNvPr id="6" name="TextBox 5"/>
          <p:cNvSpPr txBox="1"/>
          <p:nvPr/>
        </p:nvSpPr>
        <p:spPr>
          <a:xfrm>
            <a:off x="10728655" y="6382512"/>
            <a:ext cx="685800" cy="228600"/>
          </a:xfrm>
          <a:prstGeom prst="rect">
            <a:avLst/>
          </a:prstGeom>
          <a:noFill/>
        </p:spPr>
        <p:txBody>
          <a:bodyPr wrap="square" lIns="0" rIns="0" tIns="0" bIns="0">
            <a:spAutoFit/>
          </a:bodyPr>
          <a:lstStyle/>
          <a:p>
            <a:pPr algn="r">
              <a:lnSpc>
                <a:spcPct val="125000"/>
              </a:lnSpc>
            </a:pPr>
            <a:r>
              <a:rPr sz="900" b="0" i="0">
                <a:solidFill>
                  <a:srgbClr val="6F7B68"/>
                </a:solidFill>
                <a:latin typeface="Segoe UI"/>
              </a:rPr>
              <a:t>54</a:t>
            </a:r>
          </a:p>
        </p:txBody>
      </p:sp>
      <p:sp>
        <p:nvSpPr>
          <p:cNvPr id="7" name="TextBox 6"/>
          <p:cNvSpPr txBox="1"/>
          <p:nvPr/>
        </p:nvSpPr>
        <p:spPr>
          <a:xfrm>
            <a:off x="777240" y="1965960"/>
            <a:ext cx="10607040" cy="777240"/>
          </a:xfrm>
          <a:prstGeom prst="rect">
            <a:avLst/>
          </a:prstGeom>
          <a:noFill/>
        </p:spPr>
        <p:txBody>
          <a:bodyPr wrap="square" lIns="0" rIns="0" tIns="0" bIns="0">
            <a:spAutoFit/>
          </a:bodyPr>
          <a:lstStyle/>
          <a:p>
            <a:pPr algn="l">
              <a:lnSpc>
                <a:spcPct val="150000"/>
              </a:lnSpc>
            </a:pPr>
            <a:r>
              <a:rPr sz="1350" b="0" i="0">
                <a:solidFill>
                  <a:srgbClr val="26301F"/>
                </a:solidFill>
                <a:latin typeface="Segoe UI"/>
              </a:rPr>
              <a:t>Every member pays the same total and receives the same total, so on paper nobody gains. That is true in rupees and false in economics. A lump sum in month one is worth more than the same sum in month twelve, and every member already knows it, which is why they argue about who goes first.</a:t>
            </a:r>
          </a:p>
        </p:txBody>
      </p:sp>
      <p:pic>
        <p:nvPicPr>
          <p:cNvPr id="8" name="Picture 7" descr="c_timevalue.png"/>
          <p:cNvPicPr>
            <a:picLocks noChangeAspect="1"/>
          </p:cNvPicPr>
          <p:nvPr/>
        </p:nvPicPr>
        <p:blipFill>
          <a:blip r:embed="rId2"/>
          <a:stretch>
            <a:fillRect/>
          </a:stretch>
        </p:blipFill>
        <p:spPr>
          <a:xfrm>
            <a:off x="777240" y="2880360"/>
            <a:ext cx="5486400" cy="2529764"/>
          </a:xfrm>
          <a:prstGeom prst="rect">
            <a:avLst/>
          </a:prstGeom>
        </p:spPr>
      </p:pic>
      <p:sp>
        <p:nvSpPr>
          <p:cNvPr id="9" name="TextBox 8"/>
          <p:cNvSpPr txBox="1"/>
          <p:nvPr/>
        </p:nvSpPr>
        <p:spPr>
          <a:xfrm>
            <a:off x="777240" y="5257800"/>
            <a:ext cx="5486400" cy="320040"/>
          </a:xfrm>
          <a:prstGeom prst="rect">
            <a:avLst/>
          </a:prstGeom>
          <a:noFill/>
        </p:spPr>
        <p:txBody>
          <a:bodyPr wrap="square" lIns="0" rIns="0" tIns="0" bIns="0">
            <a:spAutoFit/>
          </a:bodyPr>
          <a:lstStyle/>
          <a:p>
            <a:pPr algn="l">
              <a:lnSpc>
                <a:spcPct val="125000"/>
              </a:lnSpc>
            </a:pPr>
            <a:r>
              <a:rPr sz="1000" b="0" i="0">
                <a:solidFill>
                  <a:srgbClr val="9AA694"/>
                </a:solidFill>
                <a:latin typeface="Segoe UI"/>
              </a:rPr>
              <a:t>What each position is economically worth, at an ordinary household cost of money.</a:t>
            </a:r>
          </a:p>
        </p:txBody>
      </p:sp>
      <p:sp>
        <p:nvSpPr>
          <p:cNvPr id="10" name="TextBox 9"/>
          <p:cNvSpPr txBox="1"/>
          <p:nvPr/>
        </p:nvSpPr>
        <p:spPr>
          <a:xfrm>
            <a:off x="6720840" y="2880360"/>
            <a:ext cx="4663440" cy="3200400"/>
          </a:xfrm>
          <a:prstGeom prst="rect">
            <a:avLst/>
          </a:prstGeom>
          <a:noFill/>
        </p:spPr>
        <p:txBody>
          <a:bodyPr wrap="square" lIns="0" rIns="0" tIns="0" bIns="0">
            <a:spAutoFit/>
          </a:bodyPr>
          <a:lstStyle/>
          <a:p>
            <a:pPr algn="l">
              <a:lnSpc>
                <a:spcPct val="150000"/>
              </a:lnSpc>
            </a:pPr>
            <a:r>
              <a:rPr sz="1150" b="0" i="0">
                <a:solidFill>
                  <a:srgbClr val="26301F"/>
                </a:solidFill>
                <a:latin typeface="Segoe UI"/>
              </a:rPr>
              <a:t>The first position carries real positive value. The last carries an equal negative. On a twelve month circle the gap between them is close to ten per cent of the pot.</a:t>
            </a:r>
          </a:p>
          <a:p>
            <a:pPr algn="l">
              <a:lnSpc>
                <a:spcPct val="150000"/>
              </a:lnSpc>
              <a:spcBef>
                <a:spcPts val="800"/>
              </a:spcBef>
            </a:pPr>
            <a:r>
              <a:rPr sz="1150" b="0" i="0">
                <a:solidFill>
                  <a:srgbClr val="26301F"/>
                </a:solidFill>
                <a:latin typeface="Segoe UI"/>
              </a:rPr>
              <a:t/>
            </a:r>
          </a:p>
          <a:p>
            <a:pPr algn="l">
              <a:lnSpc>
                <a:spcPct val="150000"/>
              </a:lnSpc>
              <a:spcBef>
                <a:spcPts val="800"/>
              </a:spcBef>
            </a:pPr>
            <a:r>
              <a:rPr sz="1150" b="0" i="0">
                <a:solidFill>
                  <a:srgbClr val="26301F"/>
                </a:solidFill>
                <a:latin typeface="Segoe UI"/>
              </a:rPr>
              <a:t>That value is not created by Halqa and it is not destroyed. It moves from the members who wait to the members who go first. The only question is whether the arrangement prices it openly or pretends it does not exist.</a:t>
            </a:r>
          </a:p>
          <a:p>
            <a:pPr algn="l">
              <a:lnSpc>
                <a:spcPct val="150000"/>
              </a:lnSpc>
              <a:spcBef>
                <a:spcPts val="800"/>
              </a:spcBef>
            </a:pPr>
            <a:r>
              <a:rPr sz="1150" b="0" i="0">
                <a:solidFill>
                  <a:srgbClr val="26301F"/>
                </a:solidFill>
                <a:latin typeface="Segoe UI"/>
              </a:rPr>
              <a:t/>
            </a:r>
          </a:p>
          <a:p>
            <a:pPr algn="l">
              <a:lnSpc>
                <a:spcPct val="150000"/>
              </a:lnSpc>
              <a:spcBef>
                <a:spcPts val="800"/>
              </a:spcBef>
            </a:pPr>
            <a:r>
              <a:rPr sz="1150" b="0" i="0">
                <a:solidFill>
                  <a:srgbClr val="26301F"/>
                </a:solidFill>
                <a:latin typeface="Segoe UI"/>
              </a:rPr>
              <a:t>So Halqa prices it in both directions. Early positions pay a fee that tapers away. Late positions are credited out of what the early ones paid, so every member finishes economically level rather than merely level in nominal rupees.</a:t>
            </a:r>
          </a:p>
          <a:p>
            <a:pPr algn="l">
              <a:lnSpc>
                <a:spcPct val="150000"/>
              </a:lnSpc>
              <a:spcBef>
                <a:spcPts val="800"/>
              </a:spcBef>
            </a:pPr>
            <a:r>
              <a:rPr sz="1150" b="0" i="0">
                <a:solidFill>
                  <a:srgbClr val="26301F"/>
                </a:solidFill>
                <a:latin typeface="Segoe UI"/>
              </a:rPr>
              <a:t/>
            </a:r>
          </a:p>
          <a:p>
            <a:pPr algn="l">
              <a:lnSpc>
                <a:spcPct val="150000"/>
              </a:lnSpc>
              <a:spcBef>
                <a:spcPts val="800"/>
              </a:spcBef>
            </a:pPr>
            <a:r>
              <a:rPr sz="1150" b="0" i="0">
                <a:solidFill>
                  <a:srgbClr val="26301F"/>
                </a:solidFill>
                <a:latin typeface="Segoe UI"/>
              </a:rPr>
              <a:t>Nobody else in the market does this, because it requires admitting the value exists.</a:t>
            </a:r>
          </a:p>
        </p:txBody>
      </p:sp>
    </p:spTree>
  </p:cSld>
  <p:clrMapOvr>
    <a:masterClrMapping/>
  </p:clrMapOvr>
</p:sld>
</file>

<file path=ppt/slides/slide5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777240" y="566928"/>
            <a:ext cx="10637215" cy="219456"/>
          </a:xfrm>
          <a:prstGeom prst="rect">
            <a:avLst/>
          </a:prstGeom>
          <a:noFill/>
        </p:spPr>
        <p:txBody>
          <a:bodyPr wrap="square" lIns="0" rIns="0" tIns="0" bIns="0">
            <a:spAutoFit/>
          </a:bodyPr>
          <a:lstStyle/>
          <a:p>
            <a:pPr algn="l">
              <a:lnSpc>
                <a:spcPct val="125000"/>
              </a:lnSpc>
            </a:pPr>
            <a:r>
              <a:rPr sz="950" b="1" i="0">
                <a:solidFill>
                  <a:srgbClr val="41801A"/>
                </a:solidFill>
                <a:latin typeface="Segoe UI"/>
              </a:rPr>
              <a:t>7  THE TURN MARKETPLACE</a:t>
            </a:r>
          </a:p>
        </p:txBody>
      </p:sp>
      <p:sp>
        <p:nvSpPr>
          <p:cNvPr id="3" name="TextBox 2"/>
          <p:cNvSpPr txBox="1"/>
          <p:nvPr/>
        </p:nvSpPr>
        <p:spPr>
          <a:xfrm>
            <a:off x="777240" y="841248"/>
            <a:ext cx="10637215" cy="502920"/>
          </a:xfrm>
          <a:prstGeom prst="rect">
            <a:avLst/>
          </a:prstGeom>
          <a:noFill/>
        </p:spPr>
        <p:txBody>
          <a:bodyPr wrap="square" lIns="0" rIns="0" tIns="0" bIns="0">
            <a:spAutoFit/>
          </a:bodyPr>
          <a:lstStyle/>
          <a:p>
            <a:pPr algn="l">
              <a:lnSpc>
                <a:spcPct val="125000"/>
              </a:lnSpc>
            </a:pPr>
            <a:r>
              <a:rPr sz="2700" b="1" i="0">
                <a:solidFill>
                  <a:srgbClr val="0C1408"/>
                </a:solidFill>
                <a:latin typeface="Segoe UI"/>
              </a:rPr>
              <a:t>Letting two members trade</a:t>
            </a:r>
          </a:p>
        </p:txBody>
      </p:sp>
      <p:sp>
        <p:nvSpPr>
          <p:cNvPr id="4" name="Rectangle 3"/>
          <p:cNvSpPr/>
          <p:nvPr/>
        </p:nvSpPr>
        <p:spPr>
          <a:xfrm>
            <a:off x="777240" y="1417320"/>
            <a:ext cx="1371600" cy="22860"/>
          </a:xfrm>
          <a:prstGeom prst="rect">
            <a:avLst/>
          </a:prstGeom>
          <a:solidFill>
            <a:srgbClr val="6DC72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777240" y="6382512"/>
            <a:ext cx="3657600" cy="228600"/>
          </a:xfrm>
          <a:prstGeom prst="rect">
            <a:avLst/>
          </a:prstGeom>
          <a:noFill/>
        </p:spPr>
        <p:txBody>
          <a:bodyPr wrap="square" lIns="0" rIns="0" tIns="0" bIns="0">
            <a:spAutoFit/>
          </a:bodyPr>
          <a:lstStyle/>
          <a:p>
            <a:pPr algn="l">
              <a:lnSpc>
                <a:spcPct val="125000"/>
              </a:lnSpc>
            </a:pPr>
            <a:r>
              <a:rPr sz="900" b="0" i="0">
                <a:solidFill>
                  <a:srgbClr val="9AA694"/>
                </a:solidFill>
                <a:latin typeface="Segoe UI"/>
              </a:rPr>
              <a:t>Halqa  ·  Confidential</a:t>
            </a:r>
          </a:p>
        </p:txBody>
      </p:sp>
      <p:sp>
        <p:nvSpPr>
          <p:cNvPr id="6" name="TextBox 5"/>
          <p:cNvSpPr txBox="1"/>
          <p:nvPr/>
        </p:nvSpPr>
        <p:spPr>
          <a:xfrm>
            <a:off x="10728655" y="6382512"/>
            <a:ext cx="685800" cy="228600"/>
          </a:xfrm>
          <a:prstGeom prst="rect">
            <a:avLst/>
          </a:prstGeom>
          <a:noFill/>
        </p:spPr>
        <p:txBody>
          <a:bodyPr wrap="square" lIns="0" rIns="0" tIns="0" bIns="0">
            <a:spAutoFit/>
          </a:bodyPr>
          <a:lstStyle/>
          <a:p>
            <a:pPr algn="r">
              <a:lnSpc>
                <a:spcPct val="125000"/>
              </a:lnSpc>
            </a:pPr>
            <a:r>
              <a:rPr sz="900" b="0" i="0">
                <a:solidFill>
                  <a:srgbClr val="6F7B68"/>
                </a:solidFill>
                <a:latin typeface="Segoe UI"/>
              </a:rPr>
              <a:t>55</a:t>
            </a:r>
          </a:p>
        </p:txBody>
      </p:sp>
      <p:sp>
        <p:nvSpPr>
          <p:cNvPr id="7" name="TextBox 6"/>
          <p:cNvSpPr txBox="1"/>
          <p:nvPr/>
        </p:nvSpPr>
        <p:spPr>
          <a:xfrm>
            <a:off x="777240" y="1965960"/>
            <a:ext cx="4983480" cy="274320"/>
          </a:xfrm>
          <a:prstGeom prst="rect">
            <a:avLst/>
          </a:prstGeom>
          <a:noFill/>
        </p:spPr>
        <p:txBody>
          <a:bodyPr wrap="square" lIns="0" rIns="0" tIns="0" bIns="0">
            <a:spAutoFit/>
          </a:bodyPr>
          <a:lstStyle/>
          <a:p>
            <a:pPr algn="l">
              <a:lnSpc>
                <a:spcPct val="125000"/>
              </a:lnSpc>
            </a:pPr>
            <a:r>
              <a:rPr sz="1250" b="1" i="0">
                <a:solidFill>
                  <a:srgbClr val="41801A"/>
                </a:solidFill>
                <a:latin typeface="Segoe UI"/>
              </a:rPr>
              <a:t>Why it exists</a:t>
            </a:r>
          </a:p>
        </p:txBody>
      </p:sp>
      <p:sp>
        <p:nvSpPr>
          <p:cNvPr id="8" name="TextBox 7"/>
          <p:cNvSpPr txBox="1"/>
          <p:nvPr/>
        </p:nvSpPr>
        <p:spPr>
          <a:xfrm>
            <a:off x="777240" y="2350008"/>
            <a:ext cx="4983480" cy="2377440"/>
          </a:xfrm>
          <a:prstGeom prst="rect">
            <a:avLst/>
          </a:prstGeom>
          <a:noFill/>
        </p:spPr>
        <p:txBody>
          <a:bodyPr wrap="square" lIns="0" rIns="0" tIns="0" bIns="0">
            <a:spAutoFit/>
          </a:bodyPr>
          <a:lstStyle/>
          <a:p>
            <a:pPr algn="l">
              <a:lnSpc>
                <a:spcPct val="150000"/>
              </a:lnSpc>
            </a:pPr>
            <a:r>
              <a:rPr sz="1250" b="0" i="0">
                <a:solidFill>
                  <a:srgbClr val="26301F"/>
                </a:solidFill>
                <a:latin typeface="Segoe UI"/>
              </a:rPr>
              <a:t>Members do not value their positions identically, because they do not face the same cost of money. A member with a medical bill this month and a member saving for a wedding next year sit on opposite sides of the same order.</a:t>
            </a:r>
          </a:p>
          <a:p>
            <a:pPr algn="l">
              <a:lnSpc>
                <a:spcPct val="150000"/>
              </a:lnSpc>
              <a:spcBef>
                <a:spcPts val="900"/>
              </a:spcBef>
            </a:pPr>
            <a:r>
              <a:rPr sz="1250" b="0" i="0">
                <a:solidFill>
                  <a:srgbClr val="26301F"/>
                </a:solidFill>
                <a:latin typeface="Segoe UI"/>
              </a:rPr>
              <a:t/>
            </a:r>
          </a:p>
          <a:p>
            <a:pPr algn="l">
              <a:lnSpc>
                <a:spcPct val="150000"/>
              </a:lnSpc>
              <a:spcBef>
                <a:spcPts val="900"/>
              </a:spcBef>
            </a:pPr>
            <a:r>
              <a:rPr sz="1250" b="0" i="0">
                <a:solidFill>
                  <a:srgbClr val="26301F"/>
                </a:solidFill>
                <a:latin typeface="Segoe UI"/>
              </a:rPr>
              <a:t>Letting them trade makes both better off. Halqa takes a commission on the premium and never a position in the trade.</a:t>
            </a:r>
          </a:p>
        </p:txBody>
      </p:sp>
      <p:sp>
        <p:nvSpPr>
          <p:cNvPr id="9" name="Rectangle 8"/>
          <p:cNvSpPr/>
          <p:nvPr/>
        </p:nvSpPr>
        <p:spPr>
          <a:xfrm>
            <a:off x="6062472" y="1965960"/>
            <a:ext cx="9525" cy="2377440"/>
          </a:xfrm>
          <a:prstGeom prst="rect">
            <a:avLst/>
          </a:prstGeom>
          <a:solidFill>
            <a:srgbClr val="E1E7D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6400800" y="1965960"/>
            <a:ext cx="4983480" cy="274320"/>
          </a:xfrm>
          <a:prstGeom prst="rect">
            <a:avLst/>
          </a:prstGeom>
          <a:noFill/>
        </p:spPr>
        <p:txBody>
          <a:bodyPr wrap="square" lIns="0" rIns="0" tIns="0" bIns="0">
            <a:spAutoFit/>
          </a:bodyPr>
          <a:lstStyle/>
          <a:p>
            <a:pPr algn="l">
              <a:lnSpc>
                <a:spcPct val="125000"/>
              </a:lnSpc>
            </a:pPr>
            <a:r>
              <a:rPr sz="1250" b="1" i="0">
                <a:solidFill>
                  <a:srgbClr val="41801A"/>
                </a:solidFill>
                <a:latin typeface="Segoe UI"/>
              </a:rPr>
              <a:t>The rules on it</a:t>
            </a:r>
          </a:p>
        </p:txBody>
      </p:sp>
      <p:sp>
        <p:nvSpPr>
          <p:cNvPr id="11" name="TextBox 10"/>
          <p:cNvSpPr txBox="1"/>
          <p:nvPr/>
        </p:nvSpPr>
        <p:spPr>
          <a:xfrm>
            <a:off x="6400800" y="2350008"/>
            <a:ext cx="4983480" cy="2377440"/>
          </a:xfrm>
          <a:prstGeom prst="rect">
            <a:avLst/>
          </a:prstGeom>
          <a:noFill/>
        </p:spPr>
        <p:txBody>
          <a:bodyPr wrap="square" lIns="0" rIns="0" tIns="0" bIns="0">
            <a:spAutoFit/>
          </a:bodyPr>
          <a:lstStyle/>
          <a:p>
            <a:pPr algn="l">
              <a:lnSpc>
                <a:spcPct val="150000"/>
              </a:lnSpc>
            </a:pPr>
            <a:r>
              <a:rPr sz="1250" b="0" i="0">
                <a:solidFill>
                  <a:srgbClr val="26301F"/>
                </a:solidFill>
                <a:latin typeface="Segoe UI"/>
              </a:rPr>
              <a:t>The buyer must independently qualify for the position they are taking on. A member barred from the first half by their band cannot buy their way into it, which is the whole point of the gate.</a:t>
            </a:r>
          </a:p>
          <a:p>
            <a:pPr algn="l">
              <a:lnSpc>
                <a:spcPct val="150000"/>
              </a:lnSpc>
              <a:spcBef>
                <a:spcPts val="900"/>
              </a:spcBef>
            </a:pPr>
            <a:r>
              <a:rPr sz="1250" b="0" i="0">
                <a:solidFill>
                  <a:srgbClr val="26301F"/>
                </a:solidFill>
                <a:latin typeface="Segoe UI"/>
              </a:rPr>
              <a:t/>
            </a:r>
          </a:p>
          <a:p>
            <a:pPr algn="l">
              <a:lnSpc>
                <a:spcPct val="150000"/>
              </a:lnSpc>
              <a:spcBef>
                <a:spcPts val="900"/>
              </a:spcBef>
            </a:pPr>
            <a:r>
              <a:rPr sz="1250" b="0" i="0">
                <a:solidFill>
                  <a:srgbClr val="26301F"/>
                </a:solidFill>
                <a:latin typeface="Segoe UI"/>
              </a:rPr>
              <a:t>The premium is capped as a share of the payout so a distressed seller cannot be stripped. Bids and the accepted premium are recorded. On tiers labelled Shariah compliant the premium is zero and only the position swaps.</a:t>
            </a:r>
          </a:p>
          <a:p>
            <a:pPr algn="l">
              <a:lnSpc>
                <a:spcPct val="150000"/>
              </a:lnSpc>
              <a:spcBef>
                <a:spcPts val="900"/>
              </a:spcBef>
            </a:pPr>
            <a:r>
              <a:rPr sz="1250" b="0" i="0">
                <a:solidFill>
                  <a:srgbClr val="26301F"/>
                </a:solidFill>
                <a:latin typeface="Segoe UI"/>
              </a:rPr>
              <a:t/>
            </a:r>
          </a:p>
          <a:p>
            <a:pPr algn="l">
              <a:lnSpc>
                <a:spcPct val="150000"/>
              </a:lnSpc>
              <a:spcBef>
                <a:spcPts val="900"/>
              </a:spcBef>
            </a:pPr>
            <a:r>
              <a:rPr sz="1250" b="0" i="0">
                <a:solidFill>
                  <a:srgbClr val="26301F"/>
                </a:solidFill>
                <a:latin typeface="Segoe UI"/>
              </a:rPr>
              <a:t>Daily circles are excluded entirely.</a:t>
            </a:r>
          </a:p>
        </p:txBody>
      </p:sp>
      <p:sp>
        <p:nvSpPr>
          <p:cNvPr id="12" name="TextBox 11"/>
          <p:cNvSpPr txBox="1"/>
          <p:nvPr/>
        </p:nvSpPr>
        <p:spPr>
          <a:xfrm>
            <a:off x="777240" y="5074920"/>
            <a:ext cx="10607040" cy="640080"/>
          </a:xfrm>
          <a:prstGeom prst="rect">
            <a:avLst/>
          </a:prstGeom>
          <a:noFill/>
        </p:spPr>
        <p:txBody>
          <a:bodyPr wrap="square" lIns="0" rIns="0" tIns="0" bIns="0">
            <a:spAutoFit/>
          </a:bodyPr>
          <a:lstStyle/>
          <a:p>
            <a:pPr algn="l">
              <a:lnSpc>
                <a:spcPct val="145000"/>
              </a:lnSpc>
            </a:pPr>
            <a:r>
              <a:rPr sz="1200" b="1" i="0">
                <a:solidFill>
                  <a:srgbClr val="0C1408"/>
                </a:solidFill>
                <a:latin typeface="Segoe UI"/>
              </a:rPr>
              <a:t>This and the early position fee are two halves of the same idea: position has value, so make it visible and let it be priced, rather than letting it be settled by whoever argues hardest.</a:t>
            </a:r>
          </a:p>
        </p:txBody>
      </p:sp>
    </p:spTree>
  </p:cSld>
  <p:clrMapOvr>
    <a:masterClrMapping/>
  </p:clrMapOvr>
</p:sld>
</file>

<file path=ppt/slides/slide5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777240" y="566928"/>
            <a:ext cx="10637215" cy="219456"/>
          </a:xfrm>
          <a:prstGeom prst="rect">
            <a:avLst/>
          </a:prstGeom>
          <a:noFill/>
        </p:spPr>
        <p:txBody>
          <a:bodyPr wrap="square" lIns="0" rIns="0" tIns="0" bIns="0">
            <a:spAutoFit/>
          </a:bodyPr>
          <a:lstStyle/>
          <a:p>
            <a:pPr algn="l">
              <a:lnSpc>
                <a:spcPct val="125000"/>
              </a:lnSpc>
            </a:pPr>
            <a:r>
              <a:rPr sz="950" b="1" i="0">
                <a:solidFill>
                  <a:srgbClr val="41801A"/>
                </a:solidFill>
                <a:latin typeface="Segoe UI"/>
              </a:rPr>
              <a:t>7  GOLD GOAL CIRCLES</a:t>
            </a:r>
          </a:p>
        </p:txBody>
      </p:sp>
      <p:sp>
        <p:nvSpPr>
          <p:cNvPr id="3" name="TextBox 2"/>
          <p:cNvSpPr txBox="1"/>
          <p:nvPr/>
        </p:nvSpPr>
        <p:spPr>
          <a:xfrm>
            <a:off x="777240" y="841248"/>
            <a:ext cx="10637215" cy="502920"/>
          </a:xfrm>
          <a:prstGeom prst="rect">
            <a:avLst/>
          </a:prstGeom>
          <a:noFill/>
        </p:spPr>
        <p:txBody>
          <a:bodyPr wrap="square" lIns="0" rIns="0" tIns="0" bIns="0">
            <a:spAutoFit/>
          </a:bodyPr>
          <a:lstStyle/>
          <a:p>
            <a:pPr algn="l">
              <a:lnSpc>
                <a:spcPct val="125000"/>
              </a:lnSpc>
            </a:pPr>
            <a:r>
              <a:rPr sz="2700" b="1" i="0">
                <a:solidFill>
                  <a:srgbClr val="0C1408"/>
                </a:solidFill>
                <a:latin typeface="Segoe UI"/>
              </a:rPr>
              <a:t>The differentiator nobody else can copy cleanly</a:t>
            </a:r>
          </a:p>
        </p:txBody>
      </p:sp>
      <p:sp>
        <p:nvSpPr>
          <p:cNvPr id="4" name="Rectangle 3"/>
          <p:cNvSpPr/>
          <p:nvPr/>
        </p:nvSpPr>
        <p:spPr>
          <a:xfrm>
            <a:off x="777240" y="1417320"/>
            <a:ext cx="1371600" cy="22860"/>
          </a:xfrm>
          <a:prstGeom prst="rect">
            <a:avLst/>
          </a:prstGeom>
          <a:solidFill>
            <a:srgbClr val="6DC72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777240" y="6382512"/>
            <a:ext cx="3657600" cy="228600"/>
          </a:xfrm>
          <a:prstGeom prst="rect">
            <a:avLst/>
          </a:prstGeom>
          <a:noFill/>
        </p:spPr>
        <p:txBody>
          <a:bodyPr wrap="square" lIns="0" rIns="0" tIns="0" bIns="0">
            <a:spAutoFit/>
          </a:bodyPr>
          <a:lstStyle/>
          <a:p>
            <a:pPr algn="l">
              <a:lnSpc>
                <a:spcPct val="125000"/>
              </a:lnSpc>
            </a:pPr>
            <a:r>
              <a:rPr sz="900" b="0" i="0">
                <a:solidFill>
                  <a:srgbClr val="9AA694"/>
                </a:solidFill>
                <a:latin typeface="Segoe UI"/>
              </a:rPr>
              <a:t>Halqa  ·  Confidential</a:t>
            </a:r>
          </a:p>
        </p:txBody>
      </p:sp>
      <p:sp>
        <p:nvSpPr>
          <p:cNvPr id="6" name="TextBox 5"/>
          <p:cNvSpPr txBox="1"/>
          <p:nvPr/>
        </p:nvSpPr>
        <p:spPr>
          <a:xfrm>
            <a:off x="10728655" y="6382512"/>
            <a:ext cx="685800" cy="228600"/>
          </a:xfrm>
          <a:prstGeom prst="rect">
            <a:avLst/>
          </a:prstGeom>
          <a:noFill/>
        </p:spPr>
        <p:txBody>
          <a:bodyPr wrap="square" lIns="0" rIns="0" tIns="0" bIns="0">
            <a:spAutoFit/>
          </a:bodyPr>
          <a:lstStyle/>
          <a:p>
            <a:pPr algn="r">
              <a:lnSpc>
                <a:spcPct val="125000"/>
              </a:lnSpc>
            </a:pPr>
            <a:r>
              <a:rPr sz="900" b="0" i="0">
                <a:solidFill>
                  <a:srgbClr val="6F7B68"/>
                </a:solidFill>
                <a:latin typeface="Segoe UI"/>
              </a:rPr>
              <a:t>56</a:t>
            </a:r>
          </a:p>
        </p:txBody>
      </p:sp>
      <p:sp>
        <p:nvSpPr>
          <p:cNvPr id="7" name="TextBox 6"/>
          <p:cNvSpPr txBox="1"/>
          <p:nvPr/>
        </p:nvSpPr>
        <p:spPr>
          <a:xfrm>
            <a:off x="777240" y="1965960"/>
            <a:ext cx="4983480" cy="274320"/>
          </a:xfrm>
          <a:prstGeom prst="rect">
            <a:avLst/>
          </a:prstGeom>
          <a:noFill/>
        </p:spPr>
        <p:txBody>
          <a:bodyPr wrap="square" lIns="0" rIns="0" tIns="0" bIns="0">
            <a:spAutoFit/>
          </a:bodyPr>
          <a:lstStyle/>
          <a:p>
            <a:pPr algn="l">
              <a:lnSpc>
                <a:spcPct val="125000"/>
              </a:lnSpc>
            </a:pPr>
            <a:r>
              <a:rPr sz="1250" b="1" i="0">
                <a:solidFill>
                  <a:srgbClr val="41801A"/>
                </a:solidFill>
                <a:latin typeface="Segoe UI"/>
              </a:rPr>
              <a:t>How it works</a:t>
            </a:r>
          </a:p>
        </p:txBody>
      </p:sp>
      <p:sp>
        <p:nvSpPr>
          <p:cNvPr id="8" name="TextBox 7"/>
          <p:cNvSpPr txBox="1"/>
          <p:nvPr/>
        </p:nvSpPr>
        <p:spPr>
          <a:xfrm>
            <a:off x="777240" y="2350008"/>
            <a:ext cx="4983480" cy="2103120"/>
          </a:xfrm>
          <a:prstGeom prst="rect">
            <a:avLst/>
          </a:prstGeom>
          <a:noFill/>
        </p:spPr>
        <p:txBody>
          <a:bodyPr wrap="square" lIns="0" rIns="0" tIns="0" bIns="0">
            <a:spAutoFit/>
          </a:bodyPr>
          <a:lstStyle/>
          <a:p>
            <a:pPr algn="l">
              <a:lnSpc>
                <a:spcPct val="150000"/>
              </a:lnSpc>
            </a:pPr>
            <a:r>
              <a:rPr sz="1250" b="0" i="0">
                <a:solidFill>
                  <a:srgbClr val="26301F"/>
                </a:solidFill>
                <a:latin typeface="Segoe UI"/>
              </a:rPr>
              <a:t>An ordinary rupee circle, except the host sets the goal in grams or tolas of gold rather than in rupees. The application shows the live rupee price per gram, sizes contributions to hit the gram target, and on payout day gives the member cash plus a one tap purchase at that day's spot price.</a:t>
            </a:r>
          </a:p>
          <a:p>
            <a:pPr algn="l">
              <a:lnSpc>
                <a:spcPct val="150000"/>
              </a:lnSpc>
              <a:spcBef>
                <a:spcPts val="900"/>
              </a:spcBef>
            </a:pPr>
            <a:r>
              <a:rPr sz="1250" b="0" i="0">
                <a:solidFill>
                  <a:srgbClr val="26301F"/>
                </a:solidFill>
                <a:latin typeface="Segoe UI"/>
              </a:rPr>
              <a:t/>
            </a:r>
          </a:p>
          <a:p>
            <a:pPr algn="l">
              <a:lnSpc>
                <a:spcPct val="150000"/>
              </a:lnSpc>
              <a:spcBef>
                <a:spcPts val="900"/>
              </a:spcBef>
            </a:pPr>
            <a:r>
              <a:rPr sz="1250" b="0" i="0">
                <a:solidFill>
                  <a:srgbClr val="26301F"/>
                </a:solidFill>
                <a:latin typeface="Segoe UI"/>
              </a:rPr>
              <a:t>The member carries the price movement until their turn, which is the honest position. The ledger shows grams and rupees side by side throughout.</a:t>
            </a:r>
          </a:p>
        </p:txBody>
      </p:sp>
      <p:sp>
        <p:nvSpPr>
          <p:cNvPr id="9" name="Rectangle 8"/>
          <p:cNvSpPr/>
          <p:nvPr/>
        </p:nvSpPr>
        <p:spPr>
          <a:xfrm>
            <a:off x="6062472" y="1965960"/>
            <a:ext cx="9525" cy="2103120"/>
          </a:xfrm>
          <a:prstGeom prst="rect">
            <a:avLst/>
          </a:prstGeom>
          <a:solidFill>
            <a:srgbClr val="E1E7D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6400800" y="1965960"/>
            <a:ext cx="4983480" cy="274320"/>
          </a:xfrm>
          <a:prstGeom prst="rect">
            <a:avLst/>
          </a:prstGeom>
          <a:noFill/>
        </p:spPr>
        <p:txBody>
          <a:bodyPr wrap="square" lIns="0" rIns="0" tIns="0" bIns="0">
            <a:spAutoFit/>
          </a:bodyPr>
          <a:lstStyle/>
          <a:p>
            <a:pPr algn="l">
              <a:lnSpc>
                <a:spcPct val="125000"/>
              </a:lnSpc>
            </a:pPr>
            <a:r>
              <a:rPr sz="1250" b="1" i="0">
                <a:solidFill>
                  <a:srgbClr val="41801A"/>
                </a:solidFill>
                <a:latin typeface="Segoe UI"/>
              </a:rPr>
              <a:t>Why it is cleaner than the competition</a:t>
            </a:r>
          </a:p>
        </p:txBody>
      </p:sp>
      <p:sp>
        <p:nvSpPr>
          <p:cNvPr id="11" name="TextBox 10"/>
          <p:cNvSpPr txBox="1"/>
          <p:nvPr/>
        </p:nvSpPr>
        <p:spPr>
          <a:xfrm>
            <a:off x="6400800" y="2350008"/>
            <a:ext cx="4983480" cy="2103120"/>
          </a:xfrm>
          <a:prstGeom prst="rect">
            <a:avLst/>
          </a:prstGeom>
          <a:noFill/>
        </p:spPr>
        <p:txBody>
          <a:bodyPr wrap="square" lIns="0" rIns="0" tIns="0" bIns="0">
            <a:spAutoFit/>
          </a:bodyPr>
          <a:lstStyle/>
          <a:p>
            <a:pPr algn="l">
              <a:lnSpc>
                <a:spcPct val="150000"/>
              </a:lnSpc>
            </a:pPr>
            <a:r>
              <a:rPr sz="1250" b="0" i="0">
                <a:solidFill>
                  <a:srgbClr val="26301F"/>
                </a:solidFill>
                <a:latin typeface="Segoe UI"/>
              </a:rPr>
              <a:t>The established competitor locks today's gold price for delivery six to ten months later and markets that as Shariah compliant. Under the majority view of bay al-sarf, gold against currency must settle in the same session, so a deferred exchange of that kind is precisely what the rule prohibits.</a:t>
            </a:r>
          </a:p>
          <a:p>
            <a:pPr algn="l">
              <a:lnSpc>
                <a:spcPct val="150000"/>
              </a:lnSpc>
              <a:spcBef>
                <a:spcPts val="900"/>
              </a:spcBef>
            </a:pPr>
            <a:r>
              <a:rPr sz="1250" b="0" i="0">
                <a:solidFill>
                  <a:srgbClr val="26301F"/>
                </a:solidFill>
                <a:latin typeface="Segoe UI"/>
              </a:rPr>
              <a:t/>
            </a:r>
          </a:p>
          <a:p>
            <a:pPr algn="l">
              <a:lnSpc>
                <a:spcPct val="150000"/>
              </a:lnSpc>
              <a:spcBef>
                <a:spcPts val="900"/>
              </a:spcBef>
            </a:pPr>
            <a:r>
              <a:rPr sz="1250" b="0" i="0">
                <a:solidFill>
                  <a:srgbClr val="26301F"/>
                </a:solidFill>
                <a:latin typeface="Segoe UI"/>
              </a:rPr>
              <a:t>A spot settled goal circle has no deferral in it. It is genuinely cleaner, and per our own standing rule only that variant is labelled Shariah compliant.</a:t>
            </a:r>
          </a:p>
        </p:txBody>
      </p:sp>
      <p:graphicFrame>
        <p:nvGraphicFramePr>
          <p:cNvPr id="12" name="Table 11"/>
          <p:cNvGraphicFramePr>
            <a:graphicFrameLocks noGrp="1"/>
          </p:cNvGraphicFramePr>
          <p:nvPr/>
        </p:nvGraphicFramePr>
        <p:xfrm>
          <a:off x="777240" y="4434840"/>
          <a:ext cx="10607040" cy="1503216"/>
        </p:xfrm>
        <a:graphic>
          <a:graphicData uri="http://schemas.openxmlformats.org/drawingml/2006/table">
            <a:tbl>
              <a:tblPr>
                <a:tableStyleId>{5C22544A-7EE6-4342-B048-85BDC9FD1C3A}</a:tableStyleId>
              </a:tblPr>
              <a:tblGrid>
                <a:gridCol w="2194560"/>
                <a:gridCol w="8412480"/>
              </a:tblGrid>
              <a:tr h="375804">
                <a:tc>
                  <a:txBody>
                    <a:bodyPr wrap="square"/>
                    <a:lstStyle/>
                    <a:p>
                      <a:r>
                        <a:rPr sz="700" b="1">
                          <a:solidFill>
                            <a:srgbClr val="41801A"/>
                          </a:solidFill>
                          <a:latin typeface="Segoe UI"/>
                        </a:rPr>
                        <a:t>STAGE</a:t>
                      </a:r>
                    </a:p>
                  </a:txBody>
                  <a:tcPr marL="45720" marR="109728" marT="27432" marB="27432" anchor="ctr">
                    <a:lnB w="9525" cap="flat" cmpd="sng" algn="ctr">
                      <a:solidFill>
                        <a:srgbClr val="41801A"/>
                      </a:solidFill>
                    </a:lnB>
                    <a:solidFill>
                      <a:srgbClr val="FFFFFF"/>
                    </a:solidFill>
                  </a:tcPr>
                </a:tc>
                <a:tc>
                  <a:txBody>
                    <a:bodyPr wrap="square"/>
                    <a:lstStyle/>
                    <a:p>
                      <a:r>
                        <a:rPr sz="700" b="1">
                          <a:solidFill>
                            <a:srgbClr val="41801A"/>
                          </a:solidFill>
                          <a:latin typeface="Segoe UI"/>
                        </a:rPr>
                        <a:t>WHAT IS NEEDED</a:t>
                      </a:r>
                    </a:p>
                  </a:txBody>
                  <a:tcPr marL="45720" marR="109728" marT="27432" marB="27432" anchor="ctr">
                    <a:lnB w="9525" cap="flat" cmpd="sng" algn="ctr">
                      <a:solidFill>
                        <a:srgbClr val="41801A"/>
                      </a:solidFill>
                    </a:lnB>
                    <a:solidFill>
                      <a:srgbClr val="FFFFFF"/>
                    </a:solidFill>
                  </a:tcPr>
                </a:tc>
              </a:tr>
              <a:tr h="375804">
                <a:tc>
                  <a:txBody>
                    <a:bodyPr wrap="square"/>
                    <a:lstStyle/>
                    <a:p>
                      <a:r>
                        <a:rPr sz="700" b="0">
                          <a:solidFill>
                            <a:srgbClr val="26301F"/>
                          </a:solidFill>
                          <a:latin typeface="Segoe UI"/>
                        </a:rPr>
                        <a:t>Now, shippable</a:t>
                      </a:r>
                    </a:p>
                  </a:txBody>
                  <a:tcPr marL="45720" marR="109728" marT="27432" marB="27432" anchor="ctr">
                    <a:lnB w="9525" cap="flat" cmpd="sng" algn="ctr">
                      <a:solidFill>
                        <a:srgbClr val="DCE3D6"/>
                      </a:solidFill>
                    </a:lnB>
                    <a:solidFill>
                      <a:srgbClr val="FFFFFF"/>
                    </a:solidFill>
                  </a:tcPr>
                </a:tc>
                <a:tc>
                  <a:txBody>
                    <a:bodyPr wrap="square"/>
                    <a:lstStyle/>
                    <a:p>
                      <a:r>
                        <a:rPr sz="700" b="0">
                          <a:solidFill>
                            <a:srgbClr val="26301F"/>
                          </a:solidFill>
                          <a:latin typeface="Segoe UI"/>
                        </a:rPr>
                        <a:t>Cash payout plus assisted purchase. No custody, no licence, no partner. This is buildable against the existing engine</a:t>
                      </a:r>
                    </a:p>
                  </a:txBody>
                  <a:tcPr marL="45720" marR="109728" marT="27432" marB="27432" anchor="ctr">
                    <a:lnB w="9525" cap="flat" cmpd="sng" algn="ctr">
                      <a:solidFill>
                        <a:srgbClr val="DCE3D6"/>
                      </a:solidFill>
                    </a:lnB>
                    <a:solidFill>
                      <a:srgbClr val="FFFFFF"/>
                    </a:solidFill>
                  </a:tcPr>
                </a:tc>
              </a:tr>
              <a:tr h="375804">
                <a:tc>
                  <a:txBody>
                    <a:bodyPr wrap="square"/>
                    <a:lstStyle/>
                    <a:p>
                      <a:r>
                        <a:rPr sz="700" b="0">
                          <a:solidFill>
                            <a:srgbClr val="26301F"/>
                          </a:solidFill>
                          <a:latin typeface="Segoe UI"/>
                        </a:rPr>
                        <a:t>Later</a:t>
                      </a:r>
                    </a:p>
                  </a:txBody>
                  <a:tcPr marL="45720" marR="109728" marT="27432" marB="27432" anchor="ctr">
                    <a:lnB w="9525" cap="flat" cmpd="sng" algn="ctr">
                      <a:solidFill>
                        <a:srgbClr val="DCE3D6"/>
                      </a:solidFill>
                    </a:lnB>
                    <a:solidFill>
                      <a:srgbClr val="FFFFFF"/>
                    </a:solidFill>
                  </a:tcPr>
                </a:tc>
                <a:tc>
                  <a:txBody>
                    <a:bodyPr wrap="square"/>
                    <a:lstStyle/>
                    <a:p>
                      <a:r>
                        <a:rPr sz="700" b="0">
                          <a:solidFill>
                            <a:srgbClr val="26301F"/>
                          </a:solidFill>
                          <a:latin typeface="Segoe UI"/>
                        </a:rPr>
                        <a:t>Physical allocated delivery needs a refiner or vault partner, which is the only part that requires a counterparty</a:t>
                      </a:r>
                    </a:p>
                  </a:txBody>
                  <a:tcPr marL="45720" marR="109728" marT="27432" marB="27432" anchor="ctr">
                    <a:lnB w="9525" cap="flat" cmpd="sng" algn="ctr">
                      <a:solidFill>
                        <a:srgbClr val="DCE3D6"/>
                      </a:solidFill>
                    </a:lnB>
                    <a:solidFill>
                      <a:srgbClr val="FFFFFF"/>
                    </a:solidFill>
                  </a:tcPr>
                </a:tc>
              </a:tr>
              <a:tr h="375804">
                <a:tc>
                  <a:txBody>
                    <a:bodyPr wrap="square"/>
                    <a:lstStyle/>
                    <a:p>
                      <a:r>
                        <a:rPr sz="700" b="0">
                          <a:solidFill>
                            <a:srgbClr val="26301F"/>
                          </a:solidFill>
                          <a:latin typeface="Segoe UI"/>
                        </a:rPr>
                        <a:t>Before any Shariah label</a:t>
                      </a:r>
                    </a:p>
                  </a:txBody>
                  <a:tcPr marL="45720" marR="109728" marT="27432" marB="27432" anchor="ctr">
                    <a:lnB w="9525" cap="flat" cmpd="sng" algn="ctr">
                      <a:solidFill>
                        <a:srgbClr val="DCE3D6"/>
                      </a:solidFill>
                    </a:lnB>
                    <a:solidFill>
                      <a:srgbClr val="FFFFFF"/>
                    </a:solidFill>
                  </a:tcPr>
                </a:tc>
                <a:tc>
                  <a:txBody>
                    <a:bodyPr wrap="square"/>
                    <a:lstStyle/>
                    <a:p>
                      <a:r>
                        <a:rPr sz="700" b="0">
                          <a:solidFill>
                            <a:srgbClr val="26301F"/>
                          </a:solidFill>
                          <a:latin typeface="Segoe UI"/>
                        </a:rPr>
                        <a:t>The exact contract wording confirmed by a mufti. It is an edge case under AAOIFI Standard 57 over a multi month tenure, and it should not be claimed until it is confirmed</a:t>
                      </a:r>
                    </a:p>
                  </a:txBody>
                  <a:tcPr marL="45720" marR="109728" marT="27432" marB="27432" anchor="ctr">
                    <a:lnB w="9525" cap="flat" cmpd="sng" algn="ctr">
                      <a:solidFill>
                        <a:srgbClr val="DCE3D6"/>
                      </a:solidFill>
                    </a:lnB>
                    <a:solidFill>
                      <a:srgbClr val="FFFFFF"/>
                    </a:solidFill>
                  </a:tcPr>
                </a:tc>
              </a:tr>
            </a:tbl>
          </a:graphicData>
        </a:graphic>
      </p:graphicFrame>
    </p:spTree>
  </p:cSld>
  <p:clrMapOvr>
    <a:masterClrMapping/>
  </p:clrMapOvr>
</p:sld>
</file>

<file path=ppt/slides/slide5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777240" y="566928"/>
            <a:ext cx="10637215" cy="219456"/>
          </a:xfrm>
          <a:prstGeom prst="rect">
            <a:avLst/>
          </a:prstGeom>
          <a:noFill/>
        </p:spPr>
        <p:txBody>
          <a:bodyPr wrap="square" lIns="0" rIns="0" tIns="0" bIns="0">
            <a:spAutoFit/>
          </a:bodyPr>
          <a:lstStyle/>
          <a:p>
            <a:pPr algn="l">
              <a:lnSpc>
                <a:spcPct val="125000"/>
              </a:lnSpc>
            </a:pPr>
            <a:r>
              <a:rPr sz="950" b="1" i="0">
                <a:solidFill>
                  <a:srgbClr val="41801A"/>
                </a:solidFill>
                <a:latin typeface="Segoe UI"/>
              </a:rPr>
              <a:t>7  TIERS</a:t>
            </a:r>
          </a:p>
        </p:txBody>
      </p:sp>
      <p:sp>
        <p:nvSpPr>
          <p:cNvPr id="3" name="TextBox 2"/>
          <p:cNvSpPr txBox="1"/>
          <p:nvPr/>
        </p:nvSpPr>
        <p:spPr>
          <a:xfrm>
            <a:off x="777240" y="841248"/>
            <a:ext cx="10637215" cy="502920"/>
          </a:xfrm>
          <a:prstGeom prst="rect">
            <a:avLst/>
          </a:prstGeom>
          <a:noFill/>
        </p:spPr>
        <p:txBody>
          <a:bodyPr wrap="square" lIns="0" rIns="0" tIns="0" bIns="0">
            <a:spAutoFit/>
          </a:bodyPr>
          <a:lstStyle/>
          <a:p>
            <a:pPr algn="l">
              <a:lnSpc>
                <a:spcPct val="125000"/>
              </a:lnSpc>
            </a:pPr>
            <a:r>
              <a:rPr sz="2700" b="1" i="0">
                <a:solidFill>
                  <a:srgbClr val="0C1408"/>
                </a:solidFill>
                <a:latin typeface="Segoe UI"/>
              </a:rPr>
              <a:t>The five engines a circle can run on</a:t>
            </a:r>
          </a:p>
        </p:txBody>
      </p:sp>
      <p:sp>
        <p:nvSpPr>
          <p:cNvPr id="4" name="Rectangle 3"/>
          <p:cNvSpPr/>
          <p:nvPr/>
        </p:nvSpPr>
        <p:spPr>
          <a:xfrm>
            <a:off x="777240" y="1417320"/>
            <a:ext cx="1371600" cy="22860"/>
          </a:xfrm>
          <a:prstGeom prst="rect">
            <a:avLst/>
          </a:prstGeom>
          <a:solidFill>
            <a:srgbClr val="6DC72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777240" y="6382512"/>
            <a:ext cx="3657600" cy="228600"/>
          </a:xfrm>
          <a:prstGeom prst="rect">
            <a:avLst/>
          </a:prstGeom>
          <a:noFill/>
        </p:spPr>
        <p:txBody>
          <a:bodyPr wrap="square" lIns="0" rIns="0" tIns="0" bIns="0">
            <a:spAutoFit/>
          </a:bodyPr>
          <a:lstStyle/>
          <a:p>
            <a:pPr algn="l">
              <a:lnSpc>
                <a:spcPct val="125000"/>
              </a:lnSpc>
            </a:pPr>
            <a:r>
              <a:rPr sz="900" b="0" i="0">
                <a:solidFill>
                  <a:srgbClr val="9AA694"/>
                </a:solidFill>
                <a:latin typeface="Segoe UI"/>
              </a:rPr>
              <a:t>Halqa  ·  Confidential</a:t>
            </a:r>
          </a:p>
        </p:txBody>
      </p:sp>
      <p:sp>
        <p:nvSpPr>
          <p:cNvPr id="6" name="TextBox 5"/>
          <p:cNvSpPr txBox="1"/>
          <p:nvPr/>
        </p:nvSpPr>
        <p:spPr>
          <a:xfrm>
            <a:off x="10728655" y="6382512"/>
            <a:ext cx="685800" cy="228600"/>
          </a:xfrm>
          <a:prstGeom prst="rect">
            <a:avLst/>
          </a:prstGeom>
          <a:noFill/>
        </p:spPr>
        <p:txBody>
          <a:bodyPr wrap="square" lIns="0" rIns="0" tIns="0" bIns="0">
            <a:spAutoFit/>
          </a:bodyPr>
          <a:lstStyle/>
          <a:p>
            <a:pPr algn="r">
              <a:lnSpc>
                <a:spcPct val="125000"/>
              </a:lnSpc>
            </a:pPr>
            <a:r>
              <a:rPr sz="900" b="0" i="0">
                <a:solidFill>
                  <a:srgbClr val="6F7B68"/>
                </a:solidFill>
                <a:latin typeface="Segoe UI"/>
              </a:rPr>
              <a:t>57</a:t>
            </a:r>
          </a:p>
        </p:txBody>
      </p:sp>
      <p:sp>
        <p:nvSpPr>
          <p:cNvPr id="7" name="TextBox 6"/>
          <p:cNvSpPr txBox="1"/>
          <p:nvPr/>
        </p:nvSpPr>
        <p:spPr>
          <a:xfrm>
            <a:off x="777240" y="1965960"/>
            <a:ext cx="10607040" cy="548640"/>
          </a:xfrm>
          <a:prstGeom prst="rect">
            <a:avLst/>
          </a:prstGeom>
          <a:noFill/>
        </p:spPr>
        <p:txBody>
          <a:bodyPr wrap="square" lIns="0" rIns="0" tIns="0" bIns="0">
            <a:spAutoFit/>
          </a:bodyPr>
          <a:lstStyle/>
          <a:p>
            <a:pPr algn="l">
              <a:lnSpc>
                <a:spcPct val="150000"/>
              </a:lnSpc>
            </a:pPr>
            <a:r>
              <a:rPr sz="1350" b="0" i="0">
                <a:solidFill>
                  <a:srgbClr val="26301F"/>
                </a:solidFill>
                <a:latin typeface="Segoe UI"/>
              </a:rPr>
              <a:t>Every circle runs on one of five engines, chosen by the host at creation. They differ in what happens to money between collection and payout, and in what the member gets back.</a:t>
            </a:r>
          </a:p>
        </p:txBody>
      </p:sp>
      <p:graphicFrame>
        <p:nvGraphicFramePr>
          <p:cNvPr id="8" name="Table 7"/>
          <p:cNvGraphicFramePr>
            <a:graphicFrameLocks noGrp="1"/>
          </p:cNvGraphicFramePr>
          <p:nvPr/>
        </p:nvGraphicFramePr>
        <p:xfrm>
          <a:off x="777240" y="2697480"/>
          <a:ext cx="10607040" cy="2811708"/>
        </p:xfrm>
        <a:graphic>
          <a:graphicData uri="http://schemas.openxmlformats.org/drawingml/2006/table">
            <a:tbl>
              <a:tblPr>
                <a:tableStyleId>{5C22544A-7EE6-4342-B048-85BDC9FD1C3A}</a:tableStyleId>
              </a:tblPr>
              <a:tblGrid>
                <a:gridCol w="2011680"/>
                <a:gridCol w="5120640"/>
                <a:gridCol w="3474720"/>
              </a:tblGrid>
              <a:tr h="468618">
                <a:tc>
                  <a:txBody>
                    <a:bodyPr wrap="square"/>
                    <a:lstStyle/>
                    <a:p>
                      <a:r>
                        <a:rPr sz="900" b="1">
                          <a:solidFill>
                            <a:srgbClr val="41801A"/>
                          </a:solidFill>
                          <a:latin typeface="Segoe UI"/>
                        </a:rPr>
                        <a:t>TIER</a:t>
                      </a:r>
                    </a:p>
                  </a:txBody>
                  <a:tcPr marL="45720" marR="109728" marT="27432" marB="27432" anchor="ctr">
                    <a:lnB w="9525" cap="flat" cmpd="sng" algn="ctr">
                      <a:solidFill>
                        <a:srgbClr val="41801A"/>
                      </a:solidFill>
                    </a:lnB>
                    <a:solidFill>
                      <a:srgbClr val="FFFFFF"/>
                    </a:solidFill>
                  </a:tcPr>
                </a:tc>
                <a:tc>
                  <a:txBody>
                    <a:bodyPr wrap="square"/>
                    <a:lstStyle/>
                    <a:p>
                      <a:r>
                        <a:rPr sz="900" b="1">
                          <a:solidFill>
                            <a:srgbClr val="41801A"/>
                          </a:solidFill>
                          <a:latin typeface="Segoe UI"/>
                        </a:rPr>
                        <a:t>WHAT IT DOES</a:t>
                      </a:r>
                    </a:p>
                  </a:txBody>
                  <a:tcPr marL="45720" marR="109728" marT="27432" marB="27432" anchor="ctr">
                    <a:lnB w="9525" cap="flat" cmpd="sng" algn="ctr">
                      <a:solidFill>
                        <a:srgbClr val="41801A"/>
                      </a:solidFill>
                    </a:lnB>
                    <a:solidFill>
                      <a:srgbClr val="FFFFFF"/>
                    </a:solidFill>
                  </a:tcPr>
                </a:tc>
                <a:tc>
                  <a:txBody>
                    <a:bodyPr wrap="square"/>
                    <a:lstStyle/>
                    <a:p>
                      <a:r>
                        <a:rPr sz="900" b="1">
                          <a:solidFill>
                            <a:srgbClr val="41801A"/>
                          </a:solidFill>
                          <a:latin typeface="Segoe UI"/>
                        </a:rPr>
                        <a:t>WHO IT SUITS</a:t>
                      </a:r>
                    </a:p>
                  </a:txBody>
                  <a:tcPr marL="45720" marR="109728" marT="27432" marB="27432" anchor="ctr">
                    <a:lnB w="9525" cap="flat" cmpd="sng" algn="ctr">
                      <a:solidFill>
                        <a:srgbClr val="41801A"/>
                      </a:solidFill>
                    </a:lnB>
                    <a:solidFill>
                      <a:srgbClr val="FFFFFF"/>
                    </a:solidFill>
                  </a:tcPr>
                </a:tc>
              </a:tr>
              <a:tr h="468618">
                <a:tc>
                  <a:txBody>
                    <a:bodyPr wrap="square"/>
                    <a:lstStyle/>
                    <a:p>
                      <a:r>
                        <a:rPr sz="900" b="0">
                          <a:solidFill>
                            <a:srgbClr val="26301F"/>
                          </a:solidFill>
                          <a:latin typeface="Segoe UI"/>
                        </a:rPr>
                        <a:t>Basic</a:t>
                      </a:r>
                    </a:p>
                  </a:txBody>
                  <a:tcPr marL="45720" marR="109728" marT="27432" marB="27432" anchor="ctr">
                    <a:lnB w="9525" cap="flat" cmpd="sng" algn="ctr">
                      <a:solidFill>
                        <a:srgbClr val="DCE3D6"/>
                      </a:solidFill>
                    </a:lnB>
                    <a:solidFill>
                      <a:srgbClr val="FFFFFF"/>
                    </a:solidFill>
                  </a:tcPr>
                </a:tc>
                <a:tc>
                  <a:txBody>
                    <a:bodyPr wrap="square"/>
                    <a:lstStyle/>
                    <a:p>
                      <a:r>
                        <a:rPr sz="900" b="0">
                          <a:solidFill>
                            <a:srgbClr val="26301F"/>
                          </a:solidFill>
                          <a:latin typeface="Segoe UI"/>
                        </a:rPr>
                        <a:t>The plain rotating circle. Money collects and pays out, nothing else happens to it</a:t>
                      </a:r>
                    </a:p>
                  </a:txBody>
                  <a:tcPr marL="45720" marR="109728" marT="27432" marB="27432" anchor="ctr">
                    <a:lnB w="9525" cap="flat" cmpd="sng" algn="ctr">
                      <a:solidFill>
                        <a:srgbClr val="DCE3D6"/>
                      </a:solidFill>
                    </a:lnB>
                    <a:solidFill>
                      <a:srgbClr val="FFFFFF"/>
                    </a:solidFill>
                  </a:tcPr>
                </a:tc>
                <a:tc>
                  <a:txBody>
                    <a:bodyPr wrap="square"/>
                    <a:lstStyle/>
                    <a:p>
                      <a:r>
                        <a:rPr sz="900" b="0">
                          <a:solidFill>
                            <a:srgbClr val="26301F"/>
                          </a:solidFill>
                          <a:latin typeface="Segoe UI"/>
                        </a:rPr>
                        <a:t>Members who want the committee and nothing more, and every Shariah conservative group</a:t>
                      </a:r>
                    </a:p>
                  </a:txBody>
                  <a:tcPr marL="45720" marR="109728" marT="27432" marB="27432" anchor="ctr">
                    <a:lnB w="9525" cap="flat" cmpd="sng" algn="ctr">
                      <a:solidFill>
                        <a:srgbClr val="DCE3D6"/>
                      </a:solidFill>
                    </a:lnB>
                    <a:solidFill>
                      <a:srgbClr val="FFFFFF"/>
                    </a:solidFill>
                  </a:tcPr>
                </a:tc>
              </a:tr>
              <a:tr h="468618">
                <a:tc>
                  <a:txBody>
                    <a:bodyPr wrap="square"/>
                    <a:lstStyle/>
                    <a:p>
                      <a:r>
                        <a:rPr sz="900" b="0">
                          <a:solidFill>
                            <a:srgbClr val="26301F"/>
                          </a:solidFill>
                          <a:latin typeface="Segoe UI"/>
                        </a:rPr>
                        <a:t>Earn</a:t>
                      </a:r>
                    </a:p>
                  </a:txBody>
                  <a:tcPr marL="45720" marR="109728" marT="27432" marB="27432" anchor="ctr">
                    <a:lnB w="9525" cap="flat" cmpd="sng" algn="ctr">
                      <a:solidFill>
                        <a:srgbClr val="DCE3D6"/>
                      </a:solidFill>
                    </a:lnB>
                    <a:solidFill>
                      <a:srgbClr val="FFFFFF"/>
                    </a:solidFill>
                  </a:tcPr>
                </a:tc>
                <a:tc>
                  <a:txBody>
                    <a:bodyPr wrap="square"/>
                    <a:lstStyle/>
                    <a:p>
                      <a:r>
                        <a:rPr sz="900" b="0">
                          <a:solidFill>
                            <a:srgbClr val="26301F"/>
                          </a:solidFill>
                          <a:latin typeface="Segoe UI"/>
                        </a:rPr>
                        <a:t>The float is placed while it waits, and the return goes back to the member</a:t>
                      </a:r>
                    </a:p>
                  </a:txBody>
                  <a:tcPr marL="45720" marR="109728" marT="27432" marB="27432" anchor="ctr">
                    <a:lnB w="9525" cap="flat" cmpd="sng" algn="ctr">
                      <a:solidFill>
                        <a:srgbClr val="DCE3D6"/>
                      </a:solidFill>
                    </a:lnB>
                    <a:solidFill>
                      <a:srgbClr val="FFFFFF"/>
                    </a:solidFill>
                  </a:tcPr>
                </a:tc>
                <a:tc>
                  <a:txBody>
                    <a:bodyPr wrap="square"/>
                    <a:lstStyle/>
                    <a:p>
                      <a:r>
                        <a:rPr sz="900" b="0">
                          <a:solidFill>
                            <a:srgbClr val="26301F"/>
                          </a:solidFill>
                          <a:latin typeface="Segoe UI"/>
                        </a:rPr>
                        <a:t>Members who would otherwise leave money idle for nine days a month</a:t>
                      </a:r>
                    </a:p>
                  </a:txBody>
                  <a:tcPr marL="45720" marR="109728" marT="27432" marB="27432" anchor="ctr">
                    <a:lnB w="9525" cap="flat" cmpd="sng" algn="ctr">
                      <a:solidFill>
                        <a:srgbClr val="DCE3D6"/>
                      </a:solidFill>
                    </a:lnB>
                    <a:solidFill>
                      <a:srgbClr val="FFFFFF"/>
                    </a:solidFill>
                  </a:tcPr>
                </a:tc>
              </a:tr>
              <a:tr h="468618">
                <a:tc>
                  <a:txBody>
                    <a:bodyPr wrap="square"/>
                    <a:lstStyle/>
                    <a:p>
                      <a:r>
                        <a:rPr sz="900" b="0">
                          <a:solidFill>
                            <a:srgbClr val="26301F"/>
                          </a:solidFill>
                          <a:latin typeface="Segoe UI"/>
                        </a:rPr>
                        <a:t>Earn and Share</a:t>
                      </a:r>
                    </a:p>
                  </a:txBody>
                  <a:tcPr marL="45720" marR="109728" marT="27432" marB="27432" anchor="ctr">
                    <a:lnB w="9525" cap="flat" cmpd="sng" algn="ctr">
                      <a:solidFill>
                        <a:srgbClr val="DCE3D6"/>
                      </a:solidFill>
                    </a:lnB>
                    <a:solidFill>
                      <a:srgbClr val="FFFFFF"/>
                    </a:solidFill>
                  </a:tcPr>
                </a:tc>
                <a:tc>
                  <a:txBody>
                    <a:bodyPr wrap="square"/>
                    <a:lstStyle/>
                    <a:p>
                      <a:r>
                        <a:rPr sz="900" b="0">
                          <a:solidFill>
                            <a:srgbClr val="26301F"/>
                          </a:solidFill>
                          <a:latin typeface="Segoe UI"/>
                        </a:rPr>
                        <a:t>The float earns and part of the return is shared across the circle rather than only to the payer</a:t>
                      </a:r>
                    </a:p>
                  </a:txBody>
                  <a:tcPr marL="45720" marR="109728" marT="27432" marB="27432" anchor="ctr">
                    <a:lnB w="9525" cap="flat" cmpd="sng" algn="ctr">
                      <a:solidFill>
                        <a:srgbClr val="DCE3D6"/>
                      </a:solidFill>
                    </a:lnB>
                    <a:solidFill>
                      <a:srgbClr val="FFFFFF"/>
                    </a:solidFill>
                  </a:tcPr>
                </a:tc>
                <a:tc>
                  <a:txBody>
                    <a:bodyPr wrap="square"/>
                    <a:lstStyle/>
                    <a:p>
                      <a:r>
                        <a:rPr sz="900" b="0">
                          <a:solidFill>
                            <a:srgbClr val="26301F"/>
                          </a:solidFill>
                          <a:latin typeface="Segoe UI"/>
                        </a:rPr>
                        <a:t>Groups who want the benefit spread evenly regardless of who paid early</a:t>
                      </a:r>
                    </a:p>
                  </a:txBody>
                  <a:tcPr marL="45720" marR="109728" marT="27432" marB="27432" anchor="ctr">
                    <a:lnB w="9525" cap="flat" cmpd="sng" algn="ctr">
                      <a:solidFill>
                        <a:srgbClr val="DCE3D6"/>
                      </a:solidFill>
                    </a:lnB>
                    <a:solidFill>
                      <a:srgbClr val="FFFFFF"/>
                    </a:solidFill>
                  </a:tcPr>
                </a:tc>
              </a:tr>
              <a:tr h="468618">
                <a:tc>
                  <a:txBody>
                    <a:bodyPr wrap="square"/>
                    <a:lstStyle/>
                    <a:p>
                      <a:r>
                        <a:rPr sz="900" b="0">
                          <a:solidFill>
                            <a:srgbClr val="26301F"/>
                          </a:solidFill>
                          <a:latin typeface="Segoe UI"/>
                        </a:rPr>
                        <a:t>Early Access</a:t>
                      </a:r>
                    </a:p>
                  </a:txBody>
                  <a:tcPr marL="45720" marR="109728" marT="27432" marB="27432" anchor="ctr">
                    <a:lnB w="9525" cap="flat" cmpd="sng" algn="ctr">
                      <a:solidFill>
                        <a:srgbClr val="DCE3D6"/>
                      </a:solidFill>
                    </a:lnB>
                    <a:solidFill>
                      <a:srgbClr val="FFFFFF"/>
                    </a:solidFill>
                  </a:tcPr>
                </a:tc>
                <a:tc>
                  <a:txBody>
                    <a:bodyPr wrap="square"/>
                    <a:lstStyle/>
                    <a:p>
                      <a:r>
                        <a:rPr sz="900" b="0">
                          <a:solidFill>
                            <a:srgbClr val="26301F"/>
                          </a:solidFill>
                          <a:latin typeface="Segoe UI"/>
                        </a:rPr>
                        <a:t>Priority on position claiming, and reduced friction on the marketplace</a:t>
                      </a:r>
                    </a:p>
                  </a:txBody>
                  <a:tcPr marL="45720" marR="109728" marT="27432" marB="27432" anchor="ctr">
                    <a:lnB w="9525" cap="flat" cmpd="sng" algn="ctr">
                      <a:solidFill>
                        <a:srgbClr val="DCE3D6"/>
                      </a:solidFill>
                    </a:lnB>
                    <a:solidFill>
                      <a:srgbClr val="FFFFFF"/>
                    </a:solidFill>
                  </a:tcPr>
                </a:tc>
                <a:tc>
                  <a:txBody>
                    <a:bodyPr wrap="square"/>
                    <a:lstStyle/>
                    <a:p>
                      <a:r>
                        <a:rPr sz="900" b="0">
                          <a:solidFill>
                            <a:srgbClr val="26301F"/>
                          </a:solidFill>
                          <a:latin typeface="Segoe UI"/>
                        </a:rPr>
                        <a:t>Members with a proven record who value going early</a:t>
                      </a:r>
                    </a:p>
                  </a:txBody>
                  <a:tcPr marL="45720" marR="109728" marT="27432" marB="27432" anchor="ctr">
                    <a:lnB w="9525" cap="flat" cmpd="sng" algn="ctr">
                      <a:solidFill>
                        <a:srgbClr val="DCE3D6"/>
                      </a:solidFill>
                    </a:lnB>
                    <a:solidFill>
                      <a:srgbClr val="FFFFFF"/>
                    </a:solidFill>
                  </a:tcPr>
                </a:tc>
              </a:tr>
              <a:tr h="468618">
                <a:tc>
                  <a:txBody>
                    <a:bodyPr wrap="square"/>
                    <a:lstStyle/>
                    <a:p>
                      <a:r>
                        <a:rPr sz="900" b="0">
                          <a:solidFill>
                            <a:srgbClr val="26301F"/>
                          </a:solidFill>
                          <a:latin typeface="Segoe UI"/>
                        </a:rPr>
                        <a:t>Maximum</a:t>
                      </a:r>
                    </a:p>
                  </a:txBody>
                  <a:tcPr marL="45720" marR="109728" marT="27432" marB="27432" anchor="ctr">
                    <a:lnB w="9525" cap="flat" cmpd="sng" algn="ctr">
                      <a:solidFill>
                        <a:srgbClr val="DCE3D6"/>
                      </a:solidFill>
                    </a:lnB>
                    <a:solidFill>
                      <a:srgbClr val="FFFFFF"/>
                    </a:solidFill>
                  </a:tcPr>
                </a:tc>
                <a:tc>
                  <a:txBody>
                    <a:bodyPr wrap="square"/>
                    <a:lstStyle/>
                    <a:p>
                      <a:r>
                        <a:rPr sz="900" b="0">
                          <a:solidFill>
                            <a:srgbClr val="26301F"/>
                          </a:solidFill>
                          <a:latin typeface="Segoe UI"/>
                        </a:rPr>
                        <a:t>Everything above, with the highest limits and the fullest feature set</a:t>
                      </a:r>
                    </a:p>
                  </a:txBody>
                  <a:tcPr marL="45720" marR="109728" marT="27432" marB="27432" anchor="ctr">
                    <a:lnB w="9525" cap="flat" cmpd="sng" algn="ctr">
                      <a:solidFill>
                        <a:srgbClr val="DCE3D6"/>
                      </a:solidFill>
                    </a:lnB>
                    <a:solidFill>
                      <a:srgbClr val="FFFFFF"/>
                    </a:solidFill>
                  </a:tcPr>
                </a:tc>
                <a:tc>
                  <a:txBody>
                    <a:bodyPr wrap="square"/>
                    <a:lstStyle/>
                    <a:p>
                      <a:r>
                        <a:rPr sz="900" b="0">
                          <a:solidFill>
                            <a:srgbClr val="26301F"/>
                          </a:solidFill>
                          <a:latin typeface="Segoe UI"/>
                        </a:rPr>
                        <a:t>Long tenure members with several completed circles</a:t>
                      </a:r>
                    </a:p>
                  </a:txBody>
                  <a:tcPr marL="45720" marR="109728" marT="27432" marB="27432" anchor="ctr">
                    <a:lnB w="9525" cap="flat" cmpd="sng" algn="ctr">
                      <a:solidFill>
                        <a:srgbClr val="DCE3D6"/>
                      </a:solidFill>
                    </a:lnB>
                    <a:solidFill>
                      <a:srgbClr val="FFFFFF"/>
                    </a:solidFill>
                  </a:tcPr>
                </a:tc>
              </a:tr>
            </a:tbl>
          </a:graphicData>
        </a:graphic>
      </p:graphicFrame>
      <p:sp>
        <p:nvSpPr>
          <p:cNvPr id="9" name="TextBox 8"/>
          <p:cNvSpPr txBox="1"/>
          <p:nvPr/>
        </p:nvSpPr>
        <p:spPr>
          <a:xfrm>
            <a:off x="777240" y="5692068"/>
            <a:ext cx="10637215" cy="731520"/>
          </a:xfrm>
          <a:prstGeom prst="rect">
            <a:avLst/>
          </a:prstGeom>
          <a:noFill/>
        </p:spPr>
        <p:txBody>
          <a:bodyPr wrap="square" lIns="0" rIns="0" tIns="0" bIns="0">
            <a:spAutoFit/>
          </a:bodyPr>
          <a:lstStyle/>
          <a:p>
            <a:pPr algn="l">
              <a:lnSpc>
                <a:spcPct val="140000"/>
              </a:lnSpc>
            </a:pPr>
            <a:r>
              <a:rPr sz="1200" b="0" i="0">
                <a:solidFill>
                  <a:srgbClr val="6F7B68"/>
                </a:solidFill>
                <a:latin typeface="Segoe UI"/>
              </a:rPr>
              <a:t>The tier is a property of the circle, set once by the host, and is shown to every member before they commit. It is not something Halqa changes underneath a running circle.</a:t>
            </a:r>
          </a:p>
        </p:txBody>
      </p:sp>
    </p:spTree>
  </p:cSld>
  <p:clrMapOvr>
    <a:masterClrMapping/>
  </p:clrMapOvr>
</p:sld>
</file>

<file path=ppt/slides/slide5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777240" y="566928"/>
            <a:ext cx="10637215" cy="219456"/>
          </a:xfrm>
          <a:prstGeom prst="rect">
            <a:avLst/>
          </a:prstGeom>
          <a:noFill/>
        </p:spPr>
        <p:txBody>
          <a:bodyPr wrap="square" lIns="0" rIns="0" tIns="0" bIns="0">
            <a:spAutoFit/>
          </a:bodyPr>
          <a:lstStyle/>
          <a:p>
            <a:pPr algn="l">
              <a:lnSpc>
                <a:spcPct val="125000"/>
              </a:lnSpc>
            </a:pPr>
            <a:r>
              <a:rPr sz="950" b="1" i="0">
                <a:solidFill>
                  <a:srgbClr val="41801A"/>
                </a:solidFill>
                <a:latin typeface="Segoe UI"/>
              </a:rPr>
              <a:t>7  LEAVING</a:t>
            </a:r>
          </a:p>
        </p:txBody>
      </p:sp>
      <p:sp>
        <p:nvSpPr>
          <p:cNvPr id="3" name="TextBox 2"/>
          <p:cNvSpPr txBox="1"/>
          <p:nvPr/>
        </p:nvSpPr>
        <p:spPr>
          <a:xfrm>
            <a:off x="777240" y="841248"/>
            <a:ext cx="10637215" cy="502920"/>
          </a:xfrm>
          <a:prstGeom prst="rect">
            <a:avLst/>
          </a:prstGeom>
          <a:noFill/>
        </p:spPr>
        <p:txBody>
          <a:bodyPr wrap="square" lIns="0" rIns="0" tIns="0" bIns="0">
            <a:spAutoFit/>
          </a:bodyPr>
          <a:lstStyle/>
          <a:p>
            <a:pPr algn="l">
              <a:lnSpc>
                <a:spcPct val="125000"/>
              </a:lnSpc>
            </a:pPr>
            <a:r>
              <a:rPr sz="2700" b="1" i="0">
                <a:solidFill>
                  <a:srgbClr val="0C1408"/>
                </a:solidFill>
                <a:latin typeface="Segoe UI"/>
              </a:rPr>
              <a:t>There is no cancel button</a:t>
            </a:r>
          </a:p>
        </p:txBody>
      </p:sp>
      <p:sp>
        <p:nvSpPr>
          <p:cNvPr id="4" name="Rectangle 3"/>
          <p:cNvSpPr/>
          <p:nvPr/>
        </p:nvSpPr>
        <p:spPr>
          <a:xfrm>
            <a:off x="777240" y="1417320"/>
            <a:ext cx="1371600" cy="22860"/>
          </a:xfrm>
          <a:prstGeom prst="rect">
            <a:avLst/>
          </a:prstGeom>
          <a:solidFill>
            <a:srgbClr val="6DC72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777240" y="6382512"/>
            <a:ext cx="3657600" cy="228600"/>
          </a:xfrm>
          <a:prstGeom prst="rect">
            <a:avLst/>
          </a:prstGeom>
          <a:noFill/>
        </p:spPr>
        <p:txBody>
          <a:bodyPr wrap="square" lIns="0" rIns="0" tIns="0" bIns="0">
            <a:spAutoFit/>
          </a:bodyPr>
          <a:lstStyle/>
          <a:p>
            <a:pPr algn="l">
              <a:lnSpc>
                <a:spcPct val="125000"/>
              </a:lnSpc>
            </a:pPr>
            <a:r>
              <a:rPr sz="900" b="0" i="0">
                <a:solidFill>
                  <a:srgbClr val="9AA694"/>
                </a:solidFill>
                <a:latin typeface="Segoe UI"/>
              </a:rPr>
              <a:t>Halqa  ·  Confidential</a:t>
            </a:r>
          </a:p>
        </p:txBody>
      </p:sp>
      <p:sp>
        <p:nvSpPr>
          <p:cNvPr id="6" name="TextBox 5"/>
          <p:cNvSpPr txBox="1"/>
          <p:nvPr/>
        </p:nvSpPr>
        <p:spPr>
          <a:xfrm>
            <a:off x="10728655" y="6382512"/>
            <a:ext cx="685800" cy="228600"/>
          </a:xfrm>
          <a:prstGeom prst="rect">
            <a:avLst/>
          </a:prstGeom>
          <a:noFill/>
        </p:spPr>
        <p:txBody>
          <a:bodyPr wrap="square" lIns="0" rIns="0" tIns="0" bIns="0">
            <a:spAutoFit/>
          </a:bodyPr>
          <a:lstStyle/>
          <a:p>
            <a:pPr algn="r">
              <a:lnSpc>
                <a:spcPct val="125000"/>
              </a:lnSpc>
            </a:pPr>
            <a:r>
              <a:rPr sz="900" b="0" i="0">
                <a:solidFill>
                  <a:srgbClr val="6F7B68"/>
                </a:solidFill>
                <a:latin typeface="Segoe UI"/>
              </a:rPr>
              <a:t>58</a:t>
            </a:r>
          </a:p>
        </p:txBody>
      </p:sp>
      <p:sp>
        <p:nvSpPr>
          <p:cNvPr id="7" name="TextBox 6"/>
          <p:cNvSpPr txBox="1"/>
          <p:nvPr/>
        </p:nvSpPr>
        <p:spPr>
          <a:xfrm>
            <a:off x="777240" y="1965960"/>
            <a:ext cx="10607040" cy="777240"/>
          </a:xfrm>
          <a:prstGeom prst="rect">
            <a:avLst/>
          </a:prstGeom>
          <a:noFill/>
        </p:spPr>
        <p:txBody>
          <a:bodyPr wrap="square" lIns="0" rIns="0" tIns="0" bIns="0">
            <a:spAutoFit/>
          </a:bodyPr>
          <a:lstStyle/>
          <a:p>
            <a:pPr algn="l">
              <a:lnSpc>
                <a:spcPct val="150000"/>
              </a:lnSpc>
            </a:pPr>
            <a:r>
              <a:rPr sz="1350" b="0" i="0">
                <a:solidFill>
                  <a:srgbClr val="26301F"/>
                </a:solidFill>
                <a:latin typeface="Segoe UI"/>
              </a:rPr>
              <a:t>A committee is a promise to eleven other people. A one tap cancel would be a promise nobody has to keep. But a member whose circumstances genuinely change must have a way out that does not destroy them, so leaving is a ladder of five rungs rather than a button.</a:t>
            </a:r>
          </a:p>
        </p:txBody>
      </p:sp>
      <p:graphicFrame>
        <p:nvGraphicFramePr>
          <p:cNvPr id="8" name="Table 7"/>
          <p:cNvGraphicFramePr>
            <a:graphicFrameLocks noGrp="1"/>
          </p:cNvGraphicFramePr>
          <p:nvPr/>
        </p:nvGraphicFramePr>
        <p:xfrm>
          <a:off x="777240" y="2971800"/>
          <a:ext cx="10607040" cy="2655762"/>
        </p:xfrm>
        <a:graphic>
          <a:graphicData uri="http://schemas.openxmlformats.org/drawingml/2006/table">
            <a:tbl>
              <a:tblPr>
                <a:tableStyleId>{5C22544A-7EE6-4342-B048-85BDC9FD1C3A}</a:tableStyleId>
              </a:tblPr>
              <a:tblGrid>
                <a:gridCol w="365760"/>
                <a:gridCol w="1920240"/>
                <a:gridCol w="5943600"/>
                <a:gridCol w="2377440"/>
              </a:tblGrid>
              <a:tr h="442627">
                <a:tc>
                  <a:txBody>
                    <a:bodyPr wrap="square"/>
                    <a:lstStyle/>
                    <a:p>
                      <a:r>
                        <a:rPr sz="700" b="1">
                          <a:solidFill>
                            <a:srgbClr val="41801A"/>
                          </a:solidFill>
                          <a:latin typeface="Segoe UI"/>
                        </a:rPr>
                        <a:t/>
                      </a:r>
                    </a:p>
                  </a:txBody>
                  <a:tcPr marL="45720" marR="109728" marT="27432" marB="27432" anchor="ctr">
                    <a:lnB w="9525" cap="flat" cmpd="sng" algn="ctr">
                      <a:solidFill>
                        <a:srgbClr val="41801A"/>
                      </a:solidFill>
                    </a:lnB>
                    <a:solidFill>
                      <a:srgbClr val="FFFFFF"/>
                    </a:solidFill>
                  </a:tcPr>
                </a:tc>
                <a:tc>
                  <a:txBody>
                    <a:bodyPr wrap="square"/>
                    <a:lstStyle/>
                    <a:p>
                      <a:r>
                        <a:rPr sz="700" b="1">
                          <a:solidFill>
                            <a:srgbClr val="41801A"/>
                          </a:solidFill>
                          <a:latin typeface="Segoe UI"/>
                        </a:rPr>
                        <a:t>RUNG</a:t>
                      </a:r>
                    </a:p>
                  </a:txBody>
                  <a:tcPr marL="45720" marR="109728" marT="27432" marB="27432" anchor="ctr">
                    <a:lnB w="9525" cap="flat" cmpd="sng" algn="ctr">
                      <a:solidFill>
                        <a:srgbClr val="41801A"/>
                      </a:solidFill>
                    </a:lnB>
                    <a:solidFill>
                      <a:srgbClr val="FFFFFF"/>
                    </a:solidFill>
                  </a:tcPr>
                </a:tc>
                <a:tc>
                  <a:txBody>
                    <a:bodyPr wrap="square"/>
                    <a:lstStyle/>
                    <a:p>
                      <a:r>
                        <a:rPr sz="700" b="1">
                          <a:solidFill>
                            <a:srgbClr val="41801A"/>
                          </a:solidFill>
                          <a:latin typeface="Segoe UI"/>
                        </a:rPr>
                        <a:t>HOW IT WORKS</a:t>
                      </a:r>
                    </a:p>
                  </a:txBody>
                  <a:tcPr marL="45720" marR="109728" marT="27432" marB="27432" anchor="ctr">
                    <a:lnB w="9525" cap="flat" cmpd="sng" algn="ctr">
                      <a:solidFill>
                        <a:srgbClr val="41801A"/>
                      </a:solidFill>
                    </a:lnB>
                    <a:solidFill>
                      <a:srgbClr val="FFFFFF"/>
                    </a:solidFill>
                  </a:tcPr>
                </a:tc>
                <a:tc>
                  <a:txBody>
                    <a:bodyPr wrap="square"/>
                    <a:lstStyle/>
                    <a:p>
                      <a:r>
                        <a:rPr sz="700" b="1">
                          <a:solidFill>
                            <a:srgbClr val="41801A"/>
                          </a:solidFill>
                          <a:latin typeface="Segoe UI"/>
                        </a:rPr>
                        <a:t>WHAT IT COSTS</a:t>
                      </a:r>
                    </a:p>
                  </a:txBody>
                  <a:tcPr marL="45720" marR="109728" marT="27432" marB="27432" anchor="ctr">
                    <a:lnB w="9525" cap="flat" cmpd="sng" algn="ctr">
                      <a:solidFill>
                        <a:srgbClr val="41801A"/>
                      </a:solidFill>
                    </a:lnB>
                    <a:solidFill>
                      <a:srgbClr val="FFFFFF"/>
                    </a:solidFill>
                  </a:tcPr>
                </a:tc>
              </a:tr>
              <a:tr h="442627">
                <a:tc>
                  <a:txBody>
                    <a:bodyPr wrap="square"/>
                    <a:lstStyle/>
                    <a:p>
                      <a:r>
                        <a:rPr sz="700" b="0">
                          <a:solidFill>
                            <a:srgbClr val="26301F"/>
                          </a:solidFill>
                          <a:latin typeface="Segoe UI"/>
                        </a:rPr>
                        <a:t>1</a:t>
                      </a:r>
                    </a:p>
                  </a:txBody>
                  <a:tcPr marL="45720" marR="109728" marT="27432" marB="27432" anchor="ctr">
                    <a:lnB w="9525" cap="flat" cmpd="sng" algn="ctr">
                      <a:solidFill>
                        <a:srgbClr val="DCE3D6"/>
                      </a:solidFill>
                    </a:lnB>
                    <a:solidFill>
                      <a:srgbClr val="FFFFFF"/>
                    </a:solidFill>
                  </a:tcPr>
                </a:tc>
                <a:tc>
                  <a:txBody>
                    <a:bodyPr wrap="square"/>
                    <a:lstStyle/>
                    <a:p>
                      <a:r>
                        <a:rPr sz="700" b="0">
                          <a:solidFill>
                            <a:srgbClr val="26301F"/>
                          </a:solidFill>
                          <a:latin typeface="Segoe UI"/>
                        </a:rPr>
                        <a:t>Window withdrawal</a:t>
                      </a:r>
                    </a:p>
                  </a:txBody>
                  <a:tcPr marL="45720" marR="109728" marT="27432" marB="27432" anchor="ctr">
                    <a:lnB w="9525" cap="flat" cmpd="sng" algn="ctr">
                      <a:solidFill>
                        <a:srgbClr val="DCE3D6"/>
                      </a:solidFill>
                    </a:lnB>
                    <a:solidFill>
                      <a:srgbClr val="FFFFFF"/>
                    </a:solidFill>
                  </a:tcPr>
                </a:tc>
                <a:tc>
                  <a:txBody>
                    <a:bodyPr wrap="square"/>
                    <a:lstStyle/>
                    <a:p>
                      <a:r>
                        <a:rPr sz="700" b="0">
                          <a:solidFill>
                            <a:srgbClr val="26301F"/>
                          </a:solidFill>
                          <a:latin typeface="Segoe UI"/>
                        </a:rPr>
                        <a:t>Inside the twenty four hour confirmation window after the host starts the circle, any member may withdraw. Free, silent, and no record is kept</a:t>
                      </a:r>
                    </a:p>
                  </a:txBody>
                  <a:tcPr marL="45720" marR="109728" marT="27432" marB="27432" anchor="ctr">
                    <a:lnB w="9525" cap="flat" cmpd="sng" algn="ctr">
                      <a:solidFill>
                        <a:srgbClr val="DCE3D6"/>
                      </a:solidFill>
                    </a:lnB>
                    <a:solidFill>
                      <a:srgbClr val="FFFFFF"/>
                    </a:solidFill>
                  </a:tcPr>
                </a:tc>
                <a:tc>
                  <a:txBody>
                    <a:bodyPr wrap="square"/>
                    <a:lstStyle/>
                    <a:p>
                      <a:r>
                        <a:rPr sz="700" b="0">
                          <a:solidFill>
                            <a:srgbClr val="26301F"/>
                          </a:solidFill>
                          <a:latin typeface="Segoe UI"/>
                        </a:rPr>
                        <a:t>Nothing at all</a:t>
                      </a:r>
                    </a:p>
                  </a:txBody>
                  <a:tcPr marL="45720" marR="109728" marT="27432" marB="27432" anchor="ctr">
                    <a:lnB w="9525" cap="flat" cmpd="sng" algn="ctr">
                      <a:solidFill>
                        <a:srgbClr val="DCE3D6"/>
                      </a:solidFill>
                    </a:lnB>
                    <a:solidFill>
                      <a:srgbClr val="FFFFFF"/>
                    </a:solidFill>
                  </a:tcPr>
                </a:tc>
              </a:tr>
              <a:tr h="442627">
                <a:tc>
                  <a:txBody>
                    <a:bodyPr wrap="square"/>
                    <a:lstStyle/>
                    <a:p>
                      <a:r>
                        <a:rPr sz="700" b="0">
                          <a:solidFill>
                            <a:srgbClr val="26301F"/>
                          </a:solidFill>
                          <a:latin typeface="Segoe UI"/>
                        </a:rPr>
                        <a:t>2</a:t>
                      </a:r>
                    </a:p>
                  </a:txBody>
                  <a:tcPr marL="45720" marR="109728" marT="27432" marB="27432" anchor="ctr">
                    <a:lnB w="9525" cap="flat" cmpd="sng" algn="ctr">
                      <a:solidFill>
                        <a:srgbClr val="DCE3D6"/>
                      </a:solidFill>
                    </a:lnB>
                    <a:solidFill>
                      <a:srgbClr val="FFFFFF"/>
                    </a:solidFill>
                  </a:tcPr>
                </a:tc>
                <a:tc>
                  <a:txBody>
                    <a:bodyPr wrap="square"/>
                    <a:lstStyle/>
                    <a:p>
                      <a:r>
                        <a:rPr sz="700" b="0">
                          <a:solidFill>
                            <a:srgbClr val="26301F"/>
                          </a:solidFill>
                          <a:latin typeface="Segoe UI"/>
                        </a:rPr>
                        <a:t>Substitution</a:t>
                      </a:r>
                    </a:p>
                  </a:txBody>
                  <a:tcPr marL="45720" marR="109728" marT="27432" marB="27432" anchor="ctr">
                    <a:lnB w="9525" cap="flat" cmpd="sng" algn="ctr">
                      <a:solidFill>
                        <a:srgbClr val="DCE3D6"/>
                      </a:solidFill>
                    </a:lnB>
                    <a:solidFill>
                      <a:srgbClr val="FFFFFF"/>
                    </a:solidFill>
                  </a:tcPr>
                </a:tc>
                <a:tc>
                  <a:txBody>
                    <a:bodyPr wrap="square"/>
                    <a:lstStyle/>
                    <a:p>
                      <a:r>
                        <a:rPr sz="700" b="0">
                          <a:solidFill>
                            <a:srgbClr val="26301F"/>
                          </a:solidFill>
                          <a:latin typeface="Segoe UI"/>
                        </a:rPr>
                        <a:t>The member finds or is found a replacement, who pays the leaver back everything they have contributed, directly. The circle never notices</a:t>
                      </a:r>
                    </a:p>
                  </a:txBody>
                  <a:tcPr marL="45720" marR="109728" marT="27432" marB="27432" anchor="ctr">
                    <a:lnB w="9525" cap="flat" cmpd="sng" algn="ctr">
                      <a:solidFill>
                        <a:srgbClr val="DCE3D6"/>
                      </a:solidFill>
                    </a:lnB>
                    <a:solidFill>
                      <a:srgbClr val="FFFFFF"/>
                    </a:solidFill>
                  </a:tcPr>
                </a:tc>
                <a:tc>
                  <a:txBody>
                    <a:bodyPr wrap="square"/>
                    <a:lstStyle/>
                    <a:p>
                      <a:r>
                        <a:rPr sz="700" b="0">
                          <a:solidFill>
                            <a:srgbClr val="26301F"/>
                          </a:solidFill>
                          <a:latin typeface="Segoe UI"/>
                        </a:rPr>
                        <a:t>No fine. This is the intended route for the great majority of exits</a:t>
                      </a:r>
                    </a:p>
                  </a:txBody>
                  <a:tcPr marL="45720" marR="109728" marT="27432" marB="27432" anchor="ctr">
                    <a:lnB w="9525" cap="flat" cmpd="sng" algn="ctr">
                      <a:solidFill>
                        <a:srgbClr val="DCE3D6"/>
                      </a:solidFill>
                    </a:lnB>
                    <a:solidFill>
                      <a:srgbClr val="FFFFFF"/>
                    </a:solidFill>
                  </a:tcPr>
                </a:tc>
              </a:tr>
              <a:tr h="442627">
                <a:tc>
                  <a:txBody>
                    <a:bodyPr wrap="square"/>
                    <a:lstStyle/>
                    <a:p>
                      <a:r>
                        <a:rPr sz="700" b="0">
                          <a:solidFill>
                            <a:srgbClr val="26301F"/>
                          </a:solidFill>
                          <a:latin typeface="Segoe UI"/>
                        </a:rPr>
                        <a:t>3</a:t>
                      </a:r>
                    </a:p>
                  </a:txBody>
                  <a:tcPr marL="45720" marR="109728" marT="27432" marB="27432" anchor="ctr">
                    <a:lnB w="9525" cap="flat" cmpd="sng" algn="ctr">
                      <a:solidFill>
                        <a:srgbClr val="DCE3D6"/>
                      </a:solidFill>
                    </a:lnB>
                    <a:solidFill>
                      <a:srgbClr val="FFFFFF"/>
                    </a:solidFill>
                  </a:tcPr>
                </a:tc>
                <a:tc>
                  <a:txBody>
                    <a:bodyPr wrap="square"/>
                    <a:lstStyle/>
                    <a:p>
                      <a:r>
                        <a:rPr sz="700" b="0">
                          <a:solidFill>
                            <a:srgbClr val="26301F"/>
                          </a:solidFill>
                          <a:latin typeface="Segoe UI"/>
                        </a:rPr>
                        <a:t>Group approved exit</a:t>
                      </a:r>
                    </a:p>
                  </a:txBody>
                  <a:tcPr marL="45720" marR="109728" marT="27432" marB="27432" anchor="ctr">
                    <a:lnB w="9525" cap="flat" cmpd="sng" algn="ctr">
                      <a:solidFill>
                        <a:srgbClr val="DCE3D6"/>
                      </a:solidFill>
                    </a:lnB>
                    <a:solidFill>
                      <a:srgbClr val="FFFFFF"/>
                    </a:solidFill>
                  </a:tcPr>
                </a:tc>
                <a:tc>
                  <a:txBody>
                    <a:bodyPr wrap="square"/>
                    <a:lstStyle/>
                    <a:p>
                      <a:r>
                        <a:rPr sz="700" b="0">
                          <a:solidFill>
                            <a:srgbClr val="26301F"/>
                          </a:solidFill>
                          <a:latin typeface="Segoe UI"/>
                        </a:rPr>
                        <a:t>A vote of the circle. Seventy two hours, majority of votes cast excluding the requester, fifty per cent quorum. No quorum escalates to Halqa review rather than trapping the member. The host votes as one member and breaks ties, with no veto</a:t>
                      </a:r>
                    </a:p>
                  </a:txBody>
                  <a:tcPr marL="45720" marR="109728" marT="27432" marB="27432" anchor="ctr">
                    <a:lnB w="9525" cap="flat" cmpd="sng" algn="ctr">
                      <a:solidFill>
                        <a:srgbClr val="DCE3D6"/>
                      </a:solidFill>
                    </a:lnB>
                    <a:solidFill>
                      <a:srgbClr val="FFFFFF"/>
                    </a:solidFill>
                  </a:tcPr>
                </a:tc>
                <a:tc>
                  <a:txBody>
                    <a:bodyPr wrap="square"/>
                    <a:lstStyle/>
                    <a:p>
                      <a:r>
                        <a:rPr sz="700" b="0">
                          <a:solidFill>
                            <a:srgbClr val="26301F"/>
                          </a:solidFill>
                          <a:latin typeface="Segoe UI"/>
                        </a:rPr>
                        <a:t>One installment, and restitution settled at the end of the cycle</a:t>
                      </a:r>
                    </a:p>
                  </a:txBody>
                  <a:tcPr marL="45720" marR="109728" marT="27432" marB="27432" anchor="ctr">
                    <a:lnB w="9525" cap="flat" cmpd="sng" algn="ctr">
                      <a:solidFill>
                        <a:srgbClr val="DCE3D6"/>
                      </a:solidFill>
                    </a:lnB>
                    <a:solidFill>
                      <a:srgbClr val="FFFFFF"/>
                    </a:solidFill>
                  </a:tcPr>
                </a:tc>
              </a:tr>
              <a:tr h="442627">
                <a:tc>
                  <a:txBody>
                    <a:bodyPr wrap="square"/>
                    <a:lstStyle/>
                    <a:p>
                      <a:r>
                        <a:rPr sz="700" b="0">
                          <a:solidFill>
                            <a:srgbClr val="26301F"/>
                          </a:solidFill>
                          <a:latin typeface="Segoe UI"/>
                        </a:rPr>
                        <a:t>4</a:t>
                      </a:r>
                    </a:p>
                  </a:txBody>
                  <a:tcPr marL="45720" marR="109728" marT="27432" marB="27432" anchor="ctr">
                    <a:lnB w="9525" cap="flat" cmpd="sng" algn="ctr">
                      <a:solidFill>
                        <a:srgbClr val="DCE3D6"/>
                      </a:solidFill>
                    </a:lnB>
                    <a:solidFill>
                      <a:srgbClr val="FFFFFF"/>
                    </a:solidFill>
                  </a:tcPr>
                </a:tc>
                <a:tc>
                  <a:txBody>
                    <a:bodyPr wrap="square"/>
                    <a:lstStyle/>
                    <a:p>
                      <a:r>
                        <a:rPr sz="700" b="0">
                          <a:solidFill>
                            <a:srgbClr val="26301F"/>
                          </a:solidFill>
                          <a:latin typeface="Segoe UI"/>
                        </a:rPr>
                        <a:t>Hardship exit</a:t>
                      </a:r>
                    </a:p>
                  </a:txBody>
                  <a:tcPr marL="45720" marR="109728" marT="27432" marB="27432" anchor="ctr">
                    <a:lnB w="9525" cap="flat" cmpd="sng" algn="ctr">
                      <a:solidFill>
                        <a:srgbClr val="DCE3D6"/>
                      </a:solidFill>
                    </a:lnB>
                    <a:solidFill>
                      <a:srgbClr val="FFFFFF"/>
                    </a:solidFill>
                  </a:tcPr>
                </a:tc>
                <a:tc>
                  <a:txBody>
                    <a:bodyPr wrap="square"/>
                    <a:lstStyle/>
                    <a:p>
                      <a:r>
                        <a:rPr sz="700" b="0">
                          <a:solidFill>
                            <a:srgbClr val="26301F"/>
                          </a:solidFill>
                          <a:latin typeface="Segoe UI"/>
                        </a:rPr>
                        <a:t>A recorded statement to the helpline, with a voice note option because only about a third of this population can read a text message</a:t>
                      </a:r>
                    </a:p>
                  </a:txBody>
                  <a:tcPr marL="45720" marR="109728" marT="27432" marB="27432" anchor="ctr">
                    <a:lnB w="9525" cap="flat" cmpd="sng" algn="ctr">
                      <a:solidFill>
                        <a:srgbClr val="DCE3D6"/>
                      </a:solidFill>
                    </a:lnB>
                    <a:solidFill>
                      <a:srgbClr val="FFFFFF"/>
                    </a:solidFill>
                  </a:tcPr>
                </a:tc>
                <a:tc>
                  <a:txBody>
                    <a:bodyPr wrap="square"/>
                    <a:lstStyle/>
                    <a:p>
                      <a:r>
                        <a:rPr sz="700" b="0">
                          <a:solidFill>
                            <a:srgbClr val="26301F"/>
                          </a:solidFill>
                          <a:latin typeface="Segoe UI"/>
                        </a:rPr>
                        <a:t>The fine is waived, and the record is annotated as hardship, expressly not as a default</a:t>
                      </a:r>
                    </a:p>
                  </a:txBody>
                  <a:tcPr marL="45720" marR="109728" marT="27432" marB="27432" anchor="ctr">
                    <a:lnB w="9525" cap="flat" cmpd="sng" algn="ctr">
                      <a:solidFill>
                        <a:srgbClr val="DCE3D6"/>
                      </a:solidFill>
                    </a:lnB>
                    <a:solidFill>
                      <a:srgbClr val="FFFFFF"/>
                    </a:solidFill>
                  </a:tcPr>
                </a:tc>
              </a:tr>
              <a:tr h="442627">
                <a:tc>
                  <a:txBody>
                    <a:bodyPr wrap="square"/>
                    <a:lstStyle/>
                    <a:p>
                      <a:r>
                        <a:rPr sz="700" b="0">
                          <a:solidFill>
                            <a:srgbClr val="26301F"/>
                          </a:solidFill>
                          <a:latin typeface="Segoe UI"/>
                        </a:rPr>
                        <a:t>5</a:t>
                      </a:r>
                    </a:p>
                  </a:txBody>
                  <a:tcPr marL="45720" marR="109728" marT="27432" marB="27432" anchor="ctr">
                    <a:lnB w="9525" cap="flat" cmpd="sng" algn="ctr">
                      <a:solidFill>
                        <a:srgbClr val="DCE3D6"/>
                      </a:solidFill>
                    </a:lnB>
                    <a:solidFill>
                      <a:srgbClr val="FFFFFF"/>
                    </a:solidFill>
                  </a:tcPr>
                </a:tc>
                <a:tc>
                  <a:txBody>
                    <a:bodyPr wrap="square"/>
                    <a:lstStyle/>
                    <a:p>
                      <a:r>
                        <a:rPr sz="700" b="0">
                          <a:solidFill>
                            <a:srgbClr val="26301F"/>
                          </a:solidFill>
                          <a:latin typeface="Segoe UI"/>
                        </a:rPr>
                        <a:t>Abandonment</a:t>
                      </a:r>
                    </a:p>
                  </a:txBody>
                  <a:tcPr marL="45720" marR="109728" marT="27432" marB="27432" anchor="ctr">
                    <a:lnB w="9525" cap="flat" cmpd="sng" algn="ctr">
                      <a:solidFill>
                        <a:srgbClr val="DCE3D6"/>
                      </a:solidFill>
                    </a:lnB>
                    <a:solidFill>
                      <a:srgbClr val="FFFFFF"/>
                    </a:solidFill>
                  </a:tcPr>
                </a:tc>
                <a:tc>
                  <a:txBody>
                    <a:bodyPr wrap="square"/>
                    <a:lstStyle/>
                    <a:p>
                      <a:r>
                        <a:rPr sz="700" b="0">
                          <a:solidFill>
                            <a:srgbClr val="26301F"/>
                          </a:solidFill>
                          <a:latin typeface="Segoe UI"/>
                        </a:rPr>
                        <a:t>Not an exit. The member simply stops. The full recovery machinery applies and restitution is withheld and set off</a:t>
                      </a:r>
                    </a:p>
                  </a:txBody>
                  <a:tcPr marL="45720" marR="109728" marT="27432" marB="27432" anchor="ctr">
                    <a:lnB w="9525" cap="flat" cmpd="sng" algn="ctr">
                      <a:solidFill>
                        <a:srgbClr val="DCE3D6"/>
                      </a:solidFill>
                    </a:lnB>
                    <a:solidFill>
                      <a:srgbClr val="FFFFFF"/>
                    </a:solidFill>
                  </a:tcPr>
                </a:tc>
                <a:tc>
                  <a:txBody>
                    <a:bodyPr wrap="square"/>
                    <a:lstStyle/>
                    <a:p>
                      <a:r>
                        <a:rPr sz="700" b="0">
                          <a:solidFill>
                            <a:srgbClr val="26301F"/>
                          </a:solidFill>
                          <a:latin typeface="Segoe UI"/>
                        </a:rPr>
                        <a:t>Everything in section six</a:t>
                      </a:r>
                    </a:p>
                  </a:txBody>
                  <a:tcPr marL="45720" marR="109728" marT="27432" marB="27432" anchor="ctr">
                    <a:lnB w="9525" cap="flat" cmpd="sng" algn="ctr">
                      <a:solidFill>
                        <a:srgbClr val="DCE3D6"/>
                      </a:solidFill>
                    </a:lnB>
                    <a:solidFill>
                      <a:srgbClr val="FFFFFF"/>
                    </a:solidFill>
                  </a:tcPr>
                </a:tc>
              </a:tr>
            </a:tbl>
          </a:graphicData>
        </a:graphic>
      </p:graphicFrame>
      <p:sp>
        <p:nvSpPr>
          <p:cNvPr id="9" name="TextBox 8"/>
          <p:cNvSpPr txBox="1"/>
          <p:nvPr/>
        </p:nvSpPr>
        <p:spPr>
          <a:xfrm>
            <a:off x="777240" y="5810442"/>
            <a:ext cx="10637215" cy="731520"/>
          </a:xfrm>
          <a:prstGeom prst="rect">
            <a:avLst/>
          </a:prstGeom>
          <a:noFill/>
        </p:spPr>
        <p:txBody>
          <a:bodyPr wrap="square" lIns="0" rIns="0" tIns="0" bIns="0">
            <a:spAutoFit/>
          </a:bodyPr>
          <a:lstStyle/>
          <a:p>
            <a:pPr algn="l">
              <a:lnSpc>
                <a:spcPct val="140000"/>
              </a:lnSpc>
            </a:pPr>
            <a:r>
              <a:rPr sz="1200" b="1" i="0">
                <a:solidFill>
                  <a:srgbClr val="0C1408"/>
                </a:solidFill>
                <a:latin typeface="Segoe UI"/>
              </a:rPr>
              <a:t>This governs members who have not yet collected. A member who takes the pot and then stops is not exiting, and is handled entirely differently.</a:t>
            </a:r>
          </a:p>
        </p:txBody>
      </p:sp>
    </p:spTree>
  </p:cSld>
  <p:clrMapOvr>
    <a:masterClrMapping/>
  </p:clrMapOvr>
</p:sld>
</file>

<file path=ppt/slides/slide5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777240" y="566928"/>
            <a:ext cx="10637215" cy="219456"/>
          </a:xfrm>
          <a:prstGeom prst="rect">
            <a:avLst/>
          </a:prstGeom>
          <a:noFill/>
        </p:spPr>
        <p:txBody>
          <a:bodyPr wrap="square" lIns="0" rIns="0" tIns="0" bIns="0">
            <a:spAutoFit/>
          </a:bodyPr>
          <a:lstStyle/>
          <a:p>
            <a:pPr algn="l">
              <a:lnSpc>
                <a:spcPct val="125000"/>
              </a:lnSpc>
            </a:pPr>
            <a:r>
              <a:rPr sz="950" b="1" i="0">
                <a:solidFill>
                  <a:srgbClr val="41801A"/>
                </a:solidFill>
                <a:latin typeface="Segoe UI"/>
              </a:rPr>
              <a:t>7  LEAVING</a:t>
            </a:r>
          </a:p>
        </p:txBody>
      </p:sp>
      <p:sp>
        <p:nvSpPr>
          <p:cNvPr id="3" name="TextBox 2"/>
          <p:cNvSpPr txBox="1"/>
          <p:nvPr/>
        </p:nvSpPr>
        <p:spPr>
          <a:xfrm>
            <a:off x="777240" y="841248"/>
            <a:ext cx="10637215" cy="502920"/>
          </a:xfrm>
          <a:prstGeom prst="rect">
            <a:avLst/>
          </a:prstGeom>
          <a:noFill/>
        </p:spPr>
        <p:txBody>
          <a:bodyPr wrap="square" lIns="0" rIns="0" tIns="0" bIns="0">
            <a:spAutoFit/>
          </a:bodyPr>
          <a:lstStyle/>
          <a:p>
            <a:pPr algn="l">
              <a:lnSpc>
                <a:spcPct val="125000"/>
              </a:lnSpc>
            </a:pPr>
            <a:r>
              <a:rPr sz="2700" b="1" i="0">
                <a:solidFill>
                  <a:srgbClr val="0C1408"/>
                </a:solidFill>
                <a:latin typeface="Segoe UI"/>
              </a:rPr>
              <a:t>How the money comes back without anybody holding it</a:t>
            </a:r>
          </a:p>
        </p:txBody>
      </p:sp>
      <p:sp>
        <p:nvSpPr>
          <p:cNvPr id="4" name="Rectangle 3"/>
          <p:cNvSpPr/>
          <p:nvPr/>
        </p:nvSpPr>
        <p:spPr>
          <a:xfrm>
            <a:off x="777240" y="1417320"/>
            <a:ext cx="1371600" cy="22860"/>
          </a:xfrm>
          <a:prstGeom prst="rect">
            <a:avLst/>
          </a:prstGeom>
          <a:solidFill>
            <a:srgbClr val="6DC72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777240" y="6382512"/>
            <a:ext cx="3657600" cy="228600"/>
          </a:xfrm>
          <a:prstGeom prst="rect">
            <a:avLst/>
          </a:prstGeom>
          <a:noFill/>
        </p:spPr>
        <p:txBody>
          <a:bodyPr wrap="square" lIns="0" rIns="0" tIns="0" bIns="0">
            <a:spAutoFit/>
          </a:bodyPr>
          <a:lstStyle/>
          <a:p>
            <a:pPr algn="l">
              <a:lnSpc>
                <a:spcPct val="125000"/>
              </a:lnSpc>
            </a:pPr>
            <a:r>
              <a:rPr sz="900" b="0" i="0">
                <a:solidFill>
                  <a:srgbClr val="9AA694"/>
                </a:solidFill>
                <a:latin typeface="Segoe UI"/>
              </a:rPr>
              <a:t>Halqa  ·  Confidential</a:t>
            </a:r>
          </a:p>
        </p:txBody>
      </p:sp>
      <p:sp>
        <p:nvSpPr>
          <p:cNvPr id="6" name="TextBox 5"/>
          <p:cNvSpPr txBox="1"/>
          <p:nvPr/>
        </p:nvSpPr>
        <p:spPr>
          <a:xfrm>
            <a:off x="10728655" y="6382512"/>
            <a:ext cx="685800" cy="228600"/>
          </a:xfrm>
          <a:prstGeom prst="rect">
            <a:avLst/>
          </a:prstGeom>
          <a:noFill/>
        </p:spPr>
        <p:txBody>
          <a:bodyPr wrap="square" lIns="0" rIns="0" tIns="0" bIns="0">
            <a:spAutoFit/>
          </a:bodyPr>
          <a:lstStyle/>
          <a:p>
            <a:pPr algn="r">
              <a:lnSpc>
                <a:spcPct val="125000"/>
              </a:lnSpc>
            </a:pPr>
            <a:r>
              <a:rPr sz="900" b="0" i="0">
                <a:solidFill>
                  <a:srgbClr val="6F7B68"/>
                </a:solidFill>
                <a:latin typeface="Segoe UI"/>
              </a:rPr>
              <a:t>59</a:t>
            </a:r>
          </a:p>
        </p:txBody>
      </p:sp>
      <p:sp>
        <p:nvSpPr>
          <p:cNvPr id="7" name="TextBox 6"/>
          <p:cNvSpPr txBox="1"/>
          <p:nvPr/>
        </p:nvSpPr>
        <p:spPr>
          <a:xfrm>
            <a:off x="777240" y="1965960"/>
            <a:ext cx="10607040" cy="731520"/>
          </a:xfrm>
          <a:prstGeom prst="rect">
            <a:avLst/>
          </a:prstGeom>
          <a:noFill/>
        </p:spPr>
        <p:txBody>
          <a:bodyPr wrap="square" lIns="0" rIns="0" tIns="0" bIns="0">
            <a:spAutoFit/>
          </a:bodyPr>
          <a:lstStyle/>
          <a:p>
            <a:pPr algn="l">
              <a:lnSpc>
                <a:spcPct val="150000"/>
              </a:lnSpc>
            </a:pPr>
            <a:r>
              <a:rPr sz="1350" b="0" i="0">
                <a:solidFill>
                  <a:srgbClr val="26301F"/>
                </a:solidFill>
                <a:latin typeface="Segoe UI"/>
              </a:rPr>
              <a:t>The rule is that a leaver gets their money back at the end of the cycle. Halqa holds no pool it could pay them from, so the arithmetic has to do the work instead. It does, exactly.</a:t>
            </a:r>
          </a:p>
        </p:txBody>
      </p:sp>
      <p:sp>
        <p:nvSpPr>
          <p:cNvPr id="8" name="TextBox 7"/>
          <p:cNvSpPr txBox="1"/>
          <p:nvPr/>
        </p:nvSpPr>
        <p:spPr>
          <a:xfrm>
            <a:off x="777240" y="2834640"/>
            <a:ext cx="4983480" cy="274320"/>
          </a:xfrm>
          <a:prstGeom prst="rect">
            <a:avLst/>
          </a:prstGeom>
          <a:noFill/>
        </p:spPr>
        <p:txBody>
          <a:bodyPr wrap="square" lIns="0" rIns="0" tIns="0" bIns="0">
            <a:spAutoFit/>
          </a:bodyPr>
          <a:lstStyle/>
          <a:p>
            <a:pPr algn="l">
              <a:lnSpc>
                <a:spcPct val="125000"/>
              </a:lnSpc>
            </a:pPr>
            <a:r>
              <a:rPr sz="1250" b="1" i="0">
                <a:solidFill>
                  <a:srgbClr val="41801A"/>
                </a:solidFill>
                <a:latin typeface="Segoe UI"/>
              </a:rPr>
              <a:t>The reasoning</a:t>
            </a:r>
          </a:p>
        </p:txBody>
      </p:sp>
      <p:sp>
        <p:nvSpPr>
          <p:cNvPr id="9" name="TextBox 8"/>
          <p:cNvSpPr txBox="1"/>
          <p:nvPr/>
        </p:nvSpPr>
        <p:spPr>
          <a:xfrm>
            <a:off x="777240" y="3218688"/>
            <a:ext cx="4983480" cy="2743200"/>
          </a:xfrm>
          <a:prstGeom prst="rect">
            <a:avLst/>
          </a:prstGeom>
          <a:noFill/>
        </p:spPr>
        <p:txBody>
          <a:bodyPr wrap="square" lIns="0" rIns="0" tIns="0" bIns="0">
            <a:spAutoFit/>
          </a:bodyPr>
          <a:lstStyle/>
          <a:p>
            <a:pPr algn="l">
              <a:lnSpc>
                <a:spcPct val="150000"/>
              </a:lnSpc>
            </a:pPr>
            <a:r>
              <a:rPr sz="1100" b="0" i="0">
                <a:solidFill>
                  <a:srgbClr val="26301F"/>
                </a:solidFill>
                <a:latin typeface="Segoe UI"/>
              </a:rPr>
              <a:t>A member exits after paying four installments without having collected. The circle shrinks from twelve members to eleven, so every remaining pot shrinks by exactly one contribution.</a:t>
            </a:r>
          </a:p>
          <a:p>
            <a:pPr algn="l">
              <a:lnSpc>
                <a:spcPct val="150000"/>
              </a:lnSpc>
              <a:spcBef>
                <a:spcPts val="900"/>
              </a:spcBef>
            </a:pPr>
            <a:r>
              <a:rPr sz="1100" b="0" i="0">
                <a:solidFill>
                  <a:srgbClr val="26301F"/>
                </a:solidFill>
                <a:latin typeface="Segoe UI"/>
              </a:rPr>
              <a:t/>
            </a:r>
          </a:p>
          <a:p>
            <a:pPr algn="l">
              <a:lnSpc>
                <a:spcPct val="150000"/>
              </a:lnSpc>
              <a:spcBef>
                <a:spcPts val="900"/>
              </a:spcBef>
            </a:pPr>
            <a:r>
              <a:rPr sz="1100" b="0" i="0">
                <a:solidFill>
                  <a:srgbClr val="26301F"/>
                </a:solidFill>
                <a:latin typeface="Segoe UI"/>
              </a:rPr>
              <a:t>The members who already collected in rounds one to four received the larger pot. Each of them therefore ends the cycle ahead by exactly one contribution.</a:t>
            </a:r>
          </a:p>
          <a:p>
            <a:pPr algn="l">
              <a:lnSpc>
                <a:spcPct val="150000"/>
              </a:lnSpc>
              <a:spcBef>
                <a:spcPts val="900"/>
              </a:spcBef>
            </a:pPr>
            <a:r>
              <a:rPr sz="1100" b="0" i="0">
                <a:solidFill>
                  <a:srgbClr val="26301F"/>
                </a:solidFill>
                <a:latin typeface="Segoe UI"/>
              </a:rPr>
              <a:t/>
            </a:r>
          </a:p>
          <a:p>
            <a:pPr algn="l">
              <a:lnSpc>
                <a:spcPct val="150000"/>
              </a:lnSpc>
              <a:spcBef>
                <a:spcPts val="900"/>
              </a:spcBef>
            </a:pPr>
            <a:r>
              <a:rPr sz="1100" b="0" i="0">
                <a:solidFill>
                  <a:srgbClr val="26301F"/>
                </a:solidFill>
                <a:latin typeface="Segoe UI"/>
              </a:rPr>
              <a:t>So each of those four owes the leaver exactly one contribution, settled at completion. Four collectors, one contribution each. The leaver is made whole.</a:t>
            </a:r>
          </a:p>
        </p:txBody>
      </p:sp>
      <p:sp>
        <p:nvSpPr>
          <p:cNvPr id="10" name="Rectangle 9"/>
          <p:cNvSpPr/>
          <p:nvPr/>
        </p:nvSpPr>
        <p:spPr>
          <a:xfrm>
            <a:off x="6062472" y="2834640"/>
            <a:ext cx="9525" cy="2743200"/>
          </a:xfrm>
          <a:prstGeom prst="rect">
            <a:avLst/>
          </a:prstGeom>
          <a:solidFill>
            <a:srgbClr val="E1E7D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6400800" y="2834640"/>
            <a:ext cx="4983480" cy="274320"/>
          </a:xfrm>
          <a:prstGeom prst="rect">
            <a:avLst/>
          </a:prstGeom>
          <a:noFill/>
        </p:spPr>
        <p:txBody>
          <a:bodyPr wrap="square" lIns="0" rIns="0" tIns="0" bIns="0">
            <a:spAutoFit/>
          </a:bodyPr>
          <a:lstStyle/>
          <a:p>
            <a:pPr algn="l">
              <a:lnSpc>
                <a:spcPct val="125000"/>
              </a:lnSpc>
            </a:pPr>
            <a:r>
              <a:rPr sz="1250" b="1" i="0">
                <a:solidFill>
                  <a:srgbClr val="41801A"/>
                </a:solidFill>
                <a:latin typeface="Segoe UI"/>
              </a:rPr>
              <a:t>Why this is the right answer</a:t>
            </a:r>
          </a:p>
        </p:txBody>
      </p:sp>
      <p:sp>
        <p:nvSpPr>
          <p:cNvPr id="12" name="TextBox 11"/>
          <p:cNvSpPr txBox="1"/>
          <p:nvPr/>
        </p:nvSpPr>
        <p:spPr>
          <a:xfrm>
            <a:off x="6400800" y="3218688"/>
            <a:ext cx="4983480" cy="2743200"/>
          </a:xfrm>
          <a:prstGeom prst="rect">
            <a:avLst/>
          </a:prstGeom>
          <a:noFill/>
        </p:spPr>
        <p:txBody>
          <a:bodyPr wrap="square" lIns="0" rIns="0" tIns="0" bIns="0">
            <a:spAutoFit/>
          </a:bodyPr>
          <a:lstStyle/>
          <a:p>
            <a:pPr algn="l">
              <a:lnSpc>
                <a:spcPct val="150000"/>
              </a:lnSpc>
            </a:pPr>
            <a:r>
              <a:rPr sz="1100" b="0" i="0">
                <a:solidFill>
                  <a:srgbClr val="26301F"/>
                </a:solidFill>
                <a:latin typeface="Segoe UI"/>
              </a:rPr>
              <a:t>It needs no float, no reserve and no custody. It is a ledger identity, not a payment promise, and it holds recursively when several members leave.</a:t>
            </a:r>
          </a:p>
          <a:p>
            <a:pPr algn="l">
              <a:lnSpc>
                <a:spcPct val="150000"/>
              </a:lnSpc>
              <a:spcBef>
                <a:spcPts val="900"/>
              </a:spcBef>
            </a:pPr>
            <a:r>
              <a:rPr sz="1100" b="0" i="0">
                <a:solidFill>
                  <a:srgbClr val="26301F"/>
                </a:solidFill>
                <a:latin typeface="Segoe UI"/>
              </a:rPr>
              <a:t/>
            </a:r>
          </a:p>
          <a:p>
            <a:pPr algn="l">
              <a:lnSpc>
                <a:spcPct val="150000"/>
              </a:lnSpc>
              <a:spcBef>
                <a:spcPts val="900"/>
              </a:spcBef>
            </a:pPr>
            <a:r>
              <a:rPr sz="1100" b="0" i="0">
                <a:solidFill>
                  <a:srgbClr val="26301F"/>
                </a:solidFill>
                <a:latin typeface="Segoe UI"/>
              </a:rPr>
              <a:t>It is settled in nominal rupees with no time value added, which is itself the deterrent against casual exit.</a:t>
            </a:r>
          </a:p>
          <a:p>
            <a:pPr algn="l">
              <a:lnSpc>
                <a:spcPct val="150000"/>
              </a:lnSpc>
              <a:spcBef>
                <a:spcPts val="900"/>
              </a:spcBef>
            </a:pPr>
            <a:r>
              <a:rPr sz="1100" b="0" i="0">
                <a:solidFill>
                  <a:srgbClr val="26301F"/>
                </a:solidFill>
                <a:latin typeface="Segoe UI"/>
              </a:rPr>
              <a:t/>
            </a:r>
          </a:p>
          <a:p>
            <a:pPr algn="l">
              <a:lnSpc>
                <a:spcPct val="150000"/>
              </a:lnSpc>
              <a:spcBef>
                <a:spcPts val="900"/>
              </a:spcBef>
            </a:pPr>
            <a:r>
              <a:rPr sz="1100" b="0" i="0">
                <a:solidFill>
                  <a:srgbClr val="26301F"/>
                </a:solidFill>
                <a:latin typeface="Segoe UI"/>
              </a:rPr>
              <a:t>At close the invariant is exact: every continuing member has received minus paid equal to zero, and every exited member is returned to zero. An auditor can test that rather than trust a policy.</a:t>
            </a:r>
          </a:p>
          <a:p>
            <a:pPr algn="l">
              <a:lnSpc>
                <a:spcPct val="150000"/>
              </a:lnSpc>
              <a:spcBef>
                <a:spcPts val="900"/>
              </a:spcBef>
            </a:pPr>
            <a:r>
              <a:rPr sz="1100" b="0" i="0">
                <a:solidFill>
                  <a:srgbClr val="26301F"/>
                </a:solidFill>
                <a:latin typeface="Segoe UI"/>
              </a:rPr>
              <a:t/>
            </a:r>
          </a:p>
          <a:p>
            <a:pPr algn="l">
              <a:lnSpc>
                <a:spcPct val="150000"/>
              </a:lnSpc>
              <a:spcBef>
                <a:spcPts val="900"/>
              </a:spcBef>
            </a:pPr>
            <a:r>
              <a:rPr sz="1100" b="0" i="0">
                <a:solidFill>
                  <a:srgbClr val="26301F"/>
                </a:solidFill>
                <a:latin typeface="Segoe UI"/>
              </a:rPr>
              <a:t>The exit fine routes seventy per cent to the remaining members, whose pots shrank. Halqa never profits from distress.</a:t>
            </a:r>
          </a:p>
        </p:txBody>
      </p:sp>
    </p:spTree>
  </p:cSld>
  <p:clrMapOvr>
    <a:masterClrMapping/>
  </p:clrMapOvr>
</p:sld>
</file>

<file path=ppt/slides/slide6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777240" y="566928"/>
            <a:ext cx="10637215" cy="219456"/>
          </a:xfrm>
          <a:prstGeom prst="rect">
            <a:avLst/>
          </a:prstGeom>
          <a:noFill/>
        </p:spPr>
        <p:txBody>
          <a:bodyPr wrap="square" lIns="0" rIns="0" tIns="0" bIns="0">
            <a:spAutoFit/>
          </a:bodyPr>
          <a:lstStyle/>
          <a:p>
            <a:pPr algn="l">
              <a:lnSpc>
                <a:spcPct val="125000"/>
              </a:lnSpc>
            </a:pPr>
            <a:r>
              <a:rPr sz="950" b="1" i="0">
                <a:solidFill>
                  <a:srgbClr val="41801A"/>
                </a:solidFill>
                <a:latin typeface="Segoe UI"/>
              </a:rPr>
              <a:t>7  JOINING</a:t>
            </a:r>
          </a:p>
        </p:txBody>
      </p:sp>
      <p:sp>
        <p:nvSpPr>
          <p:cNvPr id="3" name="TextBox 2"/>
          <p:cNvSpPr txBox="1"/>
          <p:nvPr/>
        </p:nvSpPr>
        <p:spPr>
          <a:xfrm>
            <a:off x="777240" y="841248"/>
            <a:ext cx="10637215" cy="502920"/>
          </a:xfrm>
          <a:prstGeom prst="rect">
            <a:avLst/>
          </a:prstGeom>
          <a:noFill/>
        </p:spPr>
        <p:txBody>
          <a:bodyPr wrap="square" lIns="0" rIns="0" tIns="0" bIns="0">
            <a:spAutoFit/>
          </a:bodyPr>
          <a:lstStyle/>
          <a:p>
            <a:pPr algn="l">
              <a:lnSpc>
                <a:spcPct val="125000"/>
              </a:lnSpc>
            </a:pPr>
            <a:r>
              <a:rPr sz="2700" b="1" i="0">
                <a:solidFill>
                  <a:srgbClr val="0C1408"/>
                </a:solidFill>
                <a:latin typeface="Segoe UI"/>
              </a:rPr>
              <a:t>The twenty four hour window</a:t>
            </a:r>
          </a:p>
        </p:txBody>
      </p:sp>
      <p:sp>
        <p:nvSpPr>
          <p:cNvPr id="4" name="Rectangle 3"/>
          <p:cNvSpPr/>
          <p:nvPr/>
        </p:nvSpPr>
        <p:spPr>
          <a:xfrm>
            <a:off x="777240" y="1417320"/>
            <a:ext cx="1371600" cy="22860"/>
          </a:xfrm>
          <a:prstGeom prst="rect">
            <a:avLst/>
          </a:prstGeom>
          <a:solidFill>
            <a:srgbClr val="6DC72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777240" y="6382512"/>
            <a:ext cx="3657600" cy="228600"/>
          </a:xfrm>
          <a:prstGeom prst="rect">
            <a:avLst/>
          </a:prstGeom>
          <a:noFill/>
        </p:spPr>
        <p:txBody>
          <a:bodyPr wrap="square" lIns="0" rIns="0" tIns="0" bIns="0">
            <a:spAutoFit/>
          </a:bodyPr>
          <a:lstStyle/>
          <a:p>
            <a:pPr algn="l">
              <a:lnSpc>
                <a:spcPct val="125000"/>
              </a:lnSpc>
            </a:pPr>
            <a:r>
              <a:rPr sz="900" b="0" i="0">
                <a:solidFill>
                  <a:srgbClr val="9AA694"/>
                </a:solidFill>
                <a:latin typeface="Segoe UI"/>
              </a:rPr>
              <a:t>Halqa  ·  Confidential</a:t>
            </a:r>
          </a:p>
        </p:txBody>
      </p:sp>
      <p:sp>
        <p:nvSpPr>
          <p:cNvPr id="6" name="TextBox 5"/>
          <p:cNvSpPr txBox="1"/>
          <p:nvPr/>
        </p:nvSpPr>
        <p:spPr>
          <a:xfrm>
            <a:off x="10728655" y="6382512"/>
            <a:ext cx="685800" cy="228600"/>
          </a:xfrm>
          <a:prstGeom prst="rect">
            <a:avLst/>
          </a:prstGeom>
          <a:noFill/>
        </p:spPr>
        <p:txBody>
          <a:bodyPr wrap="square" lIns="0" rIns="0" tIns="0" bIns="0">
            <a:spAutoFit/>
          </a:bodyPr>
          <a:lstStyle/>
          <a:p>
            <a:pPr algn="r">
              <a:lnSpc>
                <a:spcPct val="125000"/>
              </a:lnSpc>
            </a:pPr>
            <a:r>
              <a:rPr sz="900" b="0" i="0">
                <a:solidFill>
                  <a:srgbClr val="6F7B68"/>
                </a:solidFill>
                <a:latin typeface="Segoe UI"/>
              </a:rPr>
              <a:t>60</a:t>
            </a:r>
          </a:p>
        </p:txBody>
      </p:sp>
      <p:sp>
        <p:nvSpPr>
          <p:cNvPr id="7" name="TextBox 6"/>
          <p:cNvSpPr txBox="1"/>
          <p:nvPr/>
        </p:nvSpPr>
        <p:spPr>
          <a:xfrm>
            <a:off x="777240" y="2103120"/>
            <a:ext cx="640080" cy="502920"/>
          </a:xfrm>
          <a:prstGeom prst="rect">
            <a:avLst/>
          </a:prstGeom>
          <a:noFill/>
        </p:spPr>
        <p:txBody>
          <a:bodyPr wrap="square" lIns="0" rIns="0" tIns="0" bIns="0">
            <a:spAutoFit/>
          </a:bodyPr>
          <a:lstStyle/>
          <a:p>
            <a:pPr algn="l">
              <a:lnSpc>
                <a:spcPct val="125000"/>
              </a:lnSpc>
            </a:pPr>
            <a:r>
              <a:rPr sz="3000" b="1" i="0">
                <a:solidFill>
                  <a:srgbClr val="C5E3A8"/>
                </a:solidFill>
                <a:latin typeface="Segoe UI"/>
              </a:rPr>
              <a:t>1</a:t>
            </a:r>
          </a:p>
        </p:txBody>
      </p:sp>
      <p:sp>
        <p:nvSpPr>
          <p:cNvPr id="8" name="TextBox 7"/>
          <p:cNvSpPr txBox="1"/>
          <p:nvPr/>
        </p:nvSpPr>
        <p:spPr>
          <a:xfrm>
            <a:off x="777240" y="2633472"/>
            <a:ext cx="2384983" cy="274320"/>
          </a:xfrm>
          <a:prstGeom prst="rect">
            <a:avLst/>
          </a:prstGeom>
          <a:noFill/>
        </p:spPr>
        <p:txBody>
          <a:bodyPr wrap="square" lIns="0" rIns="0" tIns="0" bIns="0">
            <a:spAutoFit/>
          </a:bodyPr>
          <a:lstStyle/>
          <a:p>
            <a:pPr algn="l">
              <a:lnSpc>
                <a:spcPct val="125000"/>
              </a:lnSpc>
            </a:pPr>
            <a:r>
              <a:rPr sz="1200" b="1" i="0">
                <a:solidFill>
                  <a:srgbClr val="41801A"/>
                </a:solidFill>
                <a:latin typeface="Segoe UI"/>
              </a:rPr>
              <a:t>Host starts</a:t>
            </a:r>
          </a:p>
        </p:txBody>
      </p:sp>
      <p:sp>
        <p:nvSpPr>
          <p:cNvPr id="9" name="TextBox 8"/>
          <p:cNvSpPr txBox="1"/>
          <p:nvPr/>
        </p:nvSpPr>
        <p:spPr>
          <a:xfrm>
            <a:off x="777240" y="2944368"/>
            <a:ext cx="2384983" cy="1554480"/>
          </a:xfrm>
          <a:prstGeom prst="rect">
            <a:avLst/>
          </a:prstGeom>
          <a:noFill/>
        </p:spPr>
        <p:txBody>
          <a:bodyPr wrap="square" lIns="0" rIns="0" tIns="0" bIns="0">
            <a:spAutoFit/>
          </a:bodyPr>
          <a:lstStyle/>
          <a:p>
            <a:pPr algn="l">
              <a:lnSpc>
                <a:spcPct val="145000"/>
              </a:lnSpc>
            </a:pPr>
            <a:r>
              <a:rPr sz="1100" b="0" i="0">
                <a:solidFill>
                  <a:srgbClr val="26301F"/>
                </a:solidFill>
                <a:latin typeface="Segoe UI"/>
              </a:rPr>
              <a:t>The host presses start. The roster locks to new joins immediately, so nobody can be added after the members have seen who is in</a:t>
            </a:r>
          </a:p>
        </p:txBody>
      </p:sp>
      <p:sp>
        <p:nvSpPr>
          <p:cNvPr id="10" name="TextBox 9"/>
          <p:cNvSpPr txBox="1"/>
          <p:nvPr/>
        </p:nvSpPr>
        <p:spPr>
          <a:xfrm>
            <a:off x="3436543" y="2103120"/>
            <a:ext cx="640080" cy="502920"/>
          </a:xfrm>
          <a:prstGeom prst="rect">
            <a:avLst/>
          </a:prstGeom>
          <a:noFill/>
        </p:spPr>
        <p:txBody>
          <a:bodyPr wrap="square" lIns="0" rIns="0" tIns="0" bIns="0">
            <a:spAutoFit/>
          </a:bodyPr>
          <a:lstStyle/>
          <a:p>
            <a:pPr algn="l">
              <a:lnSpc>
                <a:spcPct val="125000"/>
              </a:lnSpc>
            </a:pPr>
            <a:r>
              <a:rPr sz="3000" b="1" i="0">
                <a:solidFill>
                  <a:srgbClr val="C5E3A8"/>
                </a:solidFill>
                <a:latin typeface="Segoe UI"/>
              </a:rPr>
              <a:t>2</a:t>
            </a:r>
          </a:p>
        </p:txBody>
      </p:sp>
      <p:sp>
        <p:nvSpPr>
          <p:cNvPr id="11" name="TextBox 10"/>
          <p:cNvSpPr txBox="1"/>
          <p:nvPr/>
        </p:nvSpPr>
        <p:spPr>
          <a:xfrm>
            <a:off x="3436543" y="2633472"/>
            <a:ext cx="2384983" cy="274320"/>
          </a:xfrm>
          <a:prstGeom prst="rect">
            <a:avLst/>
          </a:prstGeom>
          <a:noFill/>
        </p:spPr>
        <p:txBody>
          <a:bodyPr wrap="square" lIns="0" rIns="0" tIns="0" bIns="0">
            <a:spAutoFit/>
          </a:bodyPr>
          <a:lstStyle/>
          <a:p>
            <a:pPr algn="l">
              <a:lnSpc>
                <a:spcPct val="125000"/>
              </a:lnSpc>
            </a:pPr>
            <a:r>
              <a:rPr sz="1200" b="1" i="0">
                <a:solidFill>
                  <a:srgbClr val="41801A"/>
                </a:solidFill>
                <a:latin typeface="Segoe UI"/>
              </a:rPr>
              <a:t>Everyone sees everything</a:t>
            </a:r>
          </a:p>
        </p:txBody>
      </p:sp>
      <p:sp>
        <p:nvSpPr>
          <p:cNvPr id="12" name="TextBox 11"/>
          <p:cNvSpPr txBox="1"/>
          <p:nvPr/>
        </p:nvSpPr>
        <p:spPr>
          <a:xfrm>
            <a:off x="3436543" y="2944368"/>
            <a:ext cx="2384983" cy="1554480"/>
          </a:xfrm>
          <a:prstGeom prst="rect">
            <a:avLst/>
          </a:prstGeom>
          <a:noFill/>
        </p:spPr>
        <p:txBody>
          <a:bodyPr wrap="square" lIns="0" rIns="0" tIns="0" bIns="0">
            <a:spAutoFit/>
          </a:bodyPr>
          <a:lstStyle/>
          <a:p>
            <a:pPr algn="l">
              <a:lnSpc>
                <a:spcPct val="145000"/>
              </a:lnSpc>
            </a:pPr>
            <a:r>
              <a:rPr sz="1100" b="0" i="0">
                <a:solidFill>
                  <a:srgbClr val="26301F"/>
                </a:solidFill>
                <a:latin typeface="Segoe UI"/>
              </a:rPr>
              <a:t>Final roster, position order, and each member's own total forward obligation stated in rupees, not in installments</a:t>
            </a:r>
          </a:p>
        </p:txBody>
      </p:sp>
      <p:sp>
        <p:nvSpPr>
          <p:cNvPr id="13" name="Rectangle 12"/>
          <p:cNvSpPr/>
          <p:nvPr/>
        </p:nvSpPr>
        <p:spPr>
          <a:xfrm>
            <a:off x="3308527" y="2212848"/>
            <a:ext cx="9525" cy="2103120"/>
          </a:xfrm>
          <a:prstGeom prst="rect">
            <a:avLst/>
          </a:prstGeom>
          <a:solidFill>
            <a:srgbClr val="E1E7D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6095847" y="2103120"/>
            <a:ext cx="640080" cy="502920"/>
          </a:xfrm>
          <a:prstGeom prst="rect">
            <a:avLst/>
          </a:prstGeom>
          <a:noFill/>
        </p:spPr>
        <p:txBody>
          <a:bodyPr wrap="square" lIns="0" rIns="0" tIns="0" bIns="0">
            <a:spAutoFit/>
          </a:bodyPr>
          <a:lstStyle/>
          <a:p>
            <a:pPr algn="l">
              <a:lnSpc>
                <a:spcPct val="125000"/>
              </a:lnSpc>
            </a:pPr>
            <a:r>
              <a:rPr sz="3000" b="1" i="0">
                <a:solidFill>
                  <a:srgbClr val="C5E3A8"/>
                </a:solidFill>
                <a:latin typeface="Segoe UI"/>
              </a:rPr>
              <a:t>3</a:t>
            </a:r>
          </a:p>
        </p:txBody>
      </p:sp>
      <p:sp>
        <p:nvSpPr>
          <p:cNvPr id="15" name="TextBox 14"/>
          <p:cNvSpPr txBox="1"/>
          <p:nvPr/>
        </p:nvSpPr>
        <p:spPr>
          <a:xfrm>
            <a:off x="6095847" y="2633472"/>
            <a:ext cx="2384983" cy="274320"/>
          </a:xfrm>
          <a:prstGeom prst="rect">
            <a:avLst/>
          </a:prstGeom>
          <a:noFill/>
        </p:spPr>
        <p:txBody>
          <a:bodyPr wrap="square" lIns="0" rIns="0" tIns="0" bIns="0">
            <a:spAutoFit/>
          </a:bodyPr>
          <a:lstStyle/>
          <a:p>
            <a:pPr algn="l">
              <a:lnSpc>
                <a:spcPct val="125000"/>
              </a:lnSpc>
            </a:pPr>
            <a:r>
              <a:rPr sz="1200" b="1" i="0">
                <a:solidFill>
                  <a:srgbClr val="41801A"/>
                </a:solidFill>
                <a:latin typeface="Segoe UI"/>
              </a:rPr>
              <a:t>Agreements are signed</a:t>
            </a:r>
          </a:p>
        </p:txBody>
      </p:sp>
      <p:sp>
        <p:nvSpPr>
          <p:cNvPr id="16" name="TextBox 15"/>
          <p:cNvSpPr txBox="1"/>
          <p:nvPr/>
        </p:nvSpPr>
        <p:spPr>
          <a:xfrm>
            <a:off x="6095847" y="2944368"/>
            <a:ext cx="2384983" cy="1554480"/>
          </a:xfrm>
          <a:prstGeom prst="rect">
            <a:avLst/>
          </a:prstGeom>
          <a:noFill/>
        </p:spPr>
        <p:txBody>
          <a:bodyPr wrap="square" lIns="0" rIns="0" tIns="0" bIns="0">
            <a:spAutoFit/>
          </a:bodyPr>
          <a:lstStyle/>
          <a:p>
            <a:pPr algn="l">
              <a:lnSpc>
                <a:spcPct val="145000"/>
              </a:lnSpc>
            </a:pPr>
            <a:r>
              <a:rPr sz="1100" b="0" i="0">
                <a:solidFill>
                  <a:srgbClr val="26301F"/>
                </a:solidFill>
                <a:latin typeface="Segoe UI"/>
              </a:rPr>
              <a:t>The undertaking and the personal guarantee are executed inside this window, against a document version and a timestamp</a:t>
            </a:r>
          </a:p>
        </p:txBody>
      </p:sp>
      <p:sp>
        <p:nvSpPr>
          <p:cNvPr id="17" name="Rectangle 16"/>
          <p:cNvSpPr/>
          <p:nvPr/>
        </p:nvSpPr>
        <p:spPr>
          <a:xfrm>
            <a:off x="5967831" y="2212848"/>
            <a:ext cx="9525" cy="2103120"/>
          </a:xfrm>
          <a:prstGeom prst="rect">
            <a:avLst/>
          </a:prstGeom>
          <a:solidFill>
            <a:srgbClr val="E1E7D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8755151" y="2103120"/>
            <a:ext cx="640080" cy="502920"/>
          </a:xfrm>
          <a:prstGeom prst="rect">
            <a:avLst/>
          </a:prstGeom>
          <a:noFill/>
        </p:spPr>
        <p:txBody>
          <a:bodyPr wrap="square" lIns="0" rIns="0" tIns="0" bIns="0">
            <a:spAutoFit/>
          </a:bodyPr>
          <a:lstStyle/>
          <a:p>
            <a:pPr algn="l">
              <a:lnSpc>
                <a:spcPct val="125000"/>
              </a:lnSpc>
            </a:pPr>
            <a:r>
              <a:rPr sz="3000" b="1" i="0">
                <a:solidFill>
                  <a:srgbClr val="C5E3A8"/>
                </a:solidFill>
                <a:latin typeface="Segoe UI"/>
              </a:rPr>
              <a:t>4</a:t>
            </a:r>
          </a:p>
        </p:txBody>
      </p:sp>
      <p:sp>
        <p:nvSpPr>
          <p:cNvPr id="19" name="TextBox 18"/>
          <p:cNvSpPr txBox="1"/>
          <p:nvPr/>
        </p:nvSpPr>
        <p:spPr>
          <a:xfrm>
            <a:off x="8755151" y="2633472"/>
            <a:ext cx="2384983" cy="274320"/>
          </a:xfrm>
          <a:prstGeom prst="rect">
            <a:avLst/>
          </a:prstGeom>
          <a:noFill/>
        </p:spPr>
        <p:txBody>
          <a:bodyPr wrap="square" lIns="0" rIns="0" tIns="0" bIns="0">
            <a:spAutoFit/>
          </a:bodyPr>
          <a:lstStyle/>
          <a:p>
            <a:pPr algn="l">
              <a:lnSpc>
                <a:spcPct val="125000"/>
              </a:lnSpc>
            </a:pPr>
            <a:r>
              <a:rPr sz="1200" b="1" i="0">
                <a:solidFill>
                  <a:srgbClr val="41801A"/>
                </a:solidFill>
                <a:latin typeface="Segoe UI"/>
              </a:rPr>
              <a:t>Free withdrawal</a:t>
            </a:r>
          </a:p>
        </p:txBody>
      </p:sp>
      <p:sp>
        <p:nvSpPr>
          <p:cNvPr id="20" name="TextBox 19"/>
          <p:cNvSpPr txBox="1"/>
          <p:nvPr/>
        </p:nvSpPr>
        <p:spPr>
          <a:xfrm>
            <a:off x="8755151" y="2944368"/>
            <a:ext cx="2384983" cy="1554480"/>
          </a:xfrm>
          <a:prstGeom prst="rect">
            <a:avLst/>
          </a:prstGeom>
          <a:noFill/>
        </p:spPr>
        <p:txBody>
          <a:bodyPr wrap="square" lIns="0" rIns="0" tIns="0" bIns="0">
            <a:spAutoFit/>
          </a:bodyPr>
          <a:lstStyle/>
          <a:p>
            <a:pPr algn="l">
              <a:lnSpc>
                <a:spcPct val="145000"/>
              </a:lnSpc>
            </a:pPr>
            <a:r>
              <a:rPr sz="1100" b="0" i="0">
                <a:solidFill>
                  <a:srgbClr val="26301F"/>
                </a:solidFill>
                <a:latin typeface="Segoe UI"/>
              </a:rPr>
              <a:t>Any member may withdraw during the twenty four hours. Free, silent, no record. If it drops below the minimum the circle returns to forming</a:t>
            </a:r>
          </a:p>
        </p:txBody>
      </p:sp>
      <p:sp>
        <p:nvSpPr>
          <p:cNvPr id="21" name="Rectangle 20"/>
          <p:cNvSpPr/>
          <p:nvPr/>
        </p:nvSpPr>
        <p:spPr>
          <a:xfrm>
            <a:off x="8627135" y="2212848"/>
            <a:ext cx="9525" cy="2103120"/>
          </a:xfrm>
          <a:prstGeom prst="rect">
            <a:avLst/>
          </a:prstGeom>
          <a:solidFill>
            <a:srgbClr val="E1E7D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777240" y="4709160"/>
            <a:ext cx="10607040" cy="1005840"/>
          </a:xfrm>
          <a:prstGeom prst="rect">
            <a:avLst/>
          </a:prstGeom>
          <a:noFill/>
        </p:spPr>
        <p:txBody>
          <a:bodyPr wrap="square" lIns="0" rIns="0" tIns="0" bIns="0">
            <a:spAutoFit/>
          </a:bodyPr>
          <a:lstStyle/>
          <a:p>
            <a:pPr algn="l">
              <a:lnSpc>
                <a:spcPct val="150000"/>
              </a:lnSpc>
            </a:pPr>
            <a:r>
              <a:rPr sz="1200" b="0" i="0">
                <a:solidFill>
                  <a:srgbClr val="26301F"/>
                </a:solidFill>
                <a:latin typeface="Segoe UI"/>
              </a:rPr>
              <a:t>The window runs from the start press, not from each member's join date, so everybody reconsiders at the same moment with the same information in front of them. The State Bank already mandates a two hour cooling period on branchless banking cash outs, so the principle is established in this market.</a:t>
            </a:r>
          </a:p>
        </p:txBody>
      </p:sp>
    </p:spTree>
  </p:cSld>
  <p:clrMapOvr>
    <a:masterClrMapping/>
  </p:clrMapOvr>
</p:sld>
</file>

<file path=ppt/slides/slide6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777240" y="566928"/>
            <a:ext cx="10637215" cy="219456"/>
          </a:xfrm>
          <a:prstGeom prst="rect">
            <a:avLst/>
          </a:prstGeom>
          <a:noFill/>
        </p:spPr>
        <p:txBody>
          <a:bodyPr wrap="square" lIns="0" rIns="0" tIns="0" bIns="0">
            <a:spAutoFit/>
          </a:bodyPr>
          <a:lstStyle/>
          <a:p>
            <a:pPr algn="l">
              <a:lnSpc>
                <a:spcPct val="125000"/>
              </a:lnSpc>
            </a:pPr>
            <a:r>
              <a:rPr sz="950" b="1" i="0">
                <a:solidFill>
                  <a:srgbClr val="41801A"/>
                </a:solidFill>
                <a:latin typeface="Segoe UI"/>
              </a:rPr>
              <a:t>8  REWARDS</a:t>
            </a:r>
          </a:p>
        </p:txBody>
      </p:sp>
      <p:sp>
        <p:nvSpPr>
          <p:cNvPr id="3" name="TextBox 2"/>
          <p:cNvSpPr txBox="1"/>
          <p:nvPr/>
        </p:nvSpPr>
        <p:spPr>
          <a:xfrm>
            <a:off x="777240" y="841248"/>
            <a:ext cx="10637215" cy="502920"/>
          </a:xfrm>
          <a:prstGeom prst="rect">
            <a:avLst/>
          </a:prstGeom>
          <a:noFill/>
        </p:spPr>
        <p:txBody>
          <a:bodyPr wrap="square" lIns="0" rIns="0" tIns="0" bIns="0">
            <a:spAutoFit/>
          </a:bodyPr>
          <a:lstStyle/>
          <a:p>
            <a:pPr algn="l">
              <a:lnSpc>
                <a:spcPct val="125000"/>
              </a:lnSpc>
            </a:pPr>
            <a:r>
              <a:rPr sz="2700" b="1" i="0">
                <a:solidFill>
                  <a:srgbClr val="0C1408"/>
                </a:solidFill>
                <a:latin typeface="Segoe UI"/>
              </a:rPr>
              <a:t>What the reward system is for</a:t>
            </a:r>
          </a:p>
        </p:txBody>
      </p:sp>
      <p:sp>
        <p:nvSpPr>
          <p:cNvPr id="4" name="Rectangle 3"/>
          <p:cNvSpPr/>
          <p:nvPr/>
        </p:nvSpPr>
        <p:spPr>
          <a:xfrm>
            <a:off x="777240" y="1417320"/>
            <a:ext cx="1371600" cy="22860"/>
          </a:xfrm>
          <a:prstGeom prst="rect">
            <a:avLst/>
          </a:prstGeom>
          <a:solidFill>
            <a:srgbClr val="6DC72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777240" y="6382512"/>
            <a:ext cx="3657600" cy="228600"/>
          </a:xfrm>
          <a:prstGeom prst="rect">
            <a:avLst/>
          </a:prstGeom>
          <a:noFill/>
        </p:spPr>
        <p:txBody>
          <a:bodyPr wrap="square" lIns="0" rIns="0" tIns="0" bIns="0">
            <a:spAutoFit/>
          </a:bodyPr>
          <a:lstStyle/>
          <a:p>
            <a:pPr algn="l">
              <a:lnSpc>
                <a:spcPct val="125000"/>
              </a:lnSpc>
            </a:pPr>
            <a:r>
              <a:rPr sz="900" b="0" i="0">
                <a:solidFill>
                  <a:srgbClr val="9AA694"/>
                </a:solidFill>
                <a:latin typeface="Segoe UI"/>
              </a:rPr>
              <a:t>Halqa  ·  Confidential</a:t>
            </a:r>
          </a:p>
        </p:txBody>
      </p:sp>
      <p:sp>
        <p:nvSpPr>
          <p:cNvPr id="6" name="TextBox 5"/>
          <p:cNvSpPr txBox="1"/>
          <p:nvPr/>
        </p:nvSpPr>
        <p:spPr>
          <a:xfrm>
            <a:off x="10728655" y="6382512"/>
            <a:ext cx="685800" cy="228600"/>
          </a:xfrm>
          <a:prstGeom prst="rect">
            <a:avLst/>
          </a:prstGeom>
          <a:noFill/>
        </p:spPr>
        <p:txBody>
          <a:bodyPr wrap="square" lIns="0" rIns="0" tIns="0" bIns="0">
            <a:spAutoFit/>
          </a:bodyPr>
          <a:lstStyle/>
          <a:p>
            <a:pPr algn="r">
              <a:lnSpc>
                <a:spcPct val="125000"/>
              </a:lnSpc>
            </a:pPr>
            <a:r>
              <a:rPr sz="900" b="0" i="0">
                <a:solidFill>
                  <a:srgbClr val="6F7B68"/>
                </a:solidFill>
                <a:latin typeface="Segoe UI"/>
              </a:rPr>
              <a:t>61</a:t>
            </a:r>
          </a:p>
        </p:txBody>
      </p:sp>
      <p:sp>
        <p:nvSpPr>
          <p:cNvPr id="7" name="TextBox 6"/>
          <p:cNvSpPr txBox="1"/>
          <p:nvPr/>
        </p:nvSpPr>
        <p:spPr>
          <a:xfrm>
            <a:off x="777240" y="1965960"/>
            <a:ext cx="10607040" cy="822960"/>
          </a:xfrm>
          <a:prstGeom prst="rect">
            <a:avLst/>
          </a:prstGeom>
          <a:noFill/>
        </p:spPr>
        <p:txBody>
          <a:bodyPr wrap="square" lIns="0" rIns="0" tIns="0" bIns="0">
            <a:spAutoFit/>
          </a:bodyPr>
          <a:lstStyle/>
          <a:p>
            <a:pPr algn="l">
              <a:lnSpc>
                <a:spcPct val="150000"/>
              </a:lnSpc>
            </a:pPr>
            <a:r>
              <a:rPr sz="1350" b="0" i="0">
                <a:solidFill>
                  <a:srgbClr val="26301F"/>
                </a:solidFill>
                <a:latin typeface="Segoe UI"/>
              </a:rPr>
              <a:t>On time payment is the single input on which the whole model rests. Expected loss, the price, the score and the value of the data asset all move with it. The reward system is therefore attached to that one behaviour and to nothing else, and it is funded by somebody other than Halqa.</a:t>
            </a:r>
          </a:p>
        </p:txBody>
      </p:sp>
      <p:graphicFrame>
        <p:nvGraphicFramePr>
          <p:cNvPr id="8" name="Table 7"/>
          <p:cNvGraphicFramePr>
            <a:graphicFrameLocks noGrp="1"/>
          </p:cNvGraphicFramePr>
          <p:nvPr/>
        </p:nvGraphicFramePr>
        <p:xfrm>
          <a:off x="777240" y="2971800"/>
          <a:ext cx="10607040" cy="2912483"/>
        </p:xfrm>
        <a:graphic>
          <a:graphicData uri="http://schemas.openxmlformats.org/drawingml/2006/table">
            <a:tbl>
              <a:tblPr>
                <a:tableStyleId>{5C22544A-7EE6-4342-B048-85BDC9FD1C3A}</a:tableStyleId>
              </a:tblPr>
              <a:tblGrid>
                <a:gridCol w="2926080"/>
                <a:gridCol w="3291840"/>
                <a:gridCol w="4389120"/>
              </a:tblGrid>
              <a:tr h="416069">
                <a:tc>
                  <a:txBody>
                    <a:bodyPr wrap="square"/>
                    <a:lstStyle/>
                    <a:p>
                      <a:r>
                        <a:rPr sz="700" b="1">
                          <a:solidFill>
                            <a:srgbClr val="41801A"/>
                          </a:solidFill>
                          <a:latin typeface="Segoe UI"/>
                        </a:rPr>
                        <a:t>WHAT EARNS SOMETHING</a:t>
                      </a:r>
                    </a:p>
                  </a:txBody>
                  <a:tcPr marL="45720" marR="109728" marT="27432" marB="27432" anchor="ctr">
                    <a:lnB w="9525" cap="flat" cmpd="sng" algn="ctr">
                      <a:solidFill>
                        <a:srgbClr val="41801A"/>
                      </a:solidFill>
                    </a:lnB>
                    <a:solidFill>
                      <a:srgbClr val="FFFFFF"/>
                    </a:solidFill>
                  </a:tcPr>
                </a:tc>
                <a:tc>
                  <a:txBody>
                    <a:bodyPr wrap="square"/>
                    <a:lstStyle/>
                    <a:p>
                      <a:r>
                        <a:rPr sz="700" b="1">
                          <a:solidFill>
                            <a:srgbClr val="41801A"/>
                          </a:solidFill>
                          <a:latin typeface="Segoe UI"/>
                        </a:rPr>
                        <a:t>WHAT IT EARNS</a:t>
                      </a:r>
                    </a:p>
                  </a:txBody>
                  <a:tcPr marL="45720" marR="109728" marT="27432" marB="27432" anchor="ctr">
                    <a:lnB w="9525" cap="flat" cmpd="sng" algn="ctr">
                      <a:solidFill>
                        <a:srgbClr val="41801A"/>
                      </a:solidFill>
                    </a:lnB>
                    <a:solidFill>
                      <a:srgbClr val="FFFFFF"/>
                    </a:solidFill>
                  </a:tcPr>
                </a:tc>
                <a:tc>
                  <a:txBody>
                    <a:bodyPr wrap="square"/>
                    <a:lstStyle/>
                    <a:p>
                      <a:r>
                        <a:rPr sz="700" b="1">
                          <a:solidFill>
                            <a:srgbClr val="41801A"/>
                          </a:solidFill>
                          <a:latin typeface="Segoe UI"/>
                        </a:rPr>
                        <a:t>WHAT IT DELIBERATELY DOES NOT DO</a:t>
                      </a:r>
                    </a:p>
                  </a:txBody>
                  <a:tcPr marL="45720" marR="109728" marT="27432" marB="27432" anchor="ctr">
                    <a:lnB w="9525" cap="flat" cmpd="sng" algn="ctr">
                      <a:solidFill>
                        <a:srgbClr val="41801A"/>
                      </a:solidFill>
                    </a:lnB>
                    <a:solidFill>
                      <a:srgbClr val="FFFFFF"/>
                    </a:solidFill>
                  </a:tcPr>
                </a:tc>
              </a:tr>
              <a:tr h="416069">
                <a:tc>
                  <a:txBody>
                    <a:bodyPr wrap="square"/>
                    <a:lstStyle/>
                    <a:p>
                      <a:r>
                        <a:rPr sz="700" b="0">
                          <a:solidFill>
                            <a:srgbClr val="26301F"/>
                          </a:solidFill>
                          <a:latin typeface="Segoe UI"/>
                        </a:rPr>
                        <a:t>Paying on or before the due date</a:t>
                      </a:r>
                    </a:p>
                  </a:txBody>
                  <a:tcPr marL="45720" marR="109728" marT="27432" marB="27432" anchor="ctr">
                    <a:lnB w="9525" cap="flat" cmpd="sng" algn="ctr">
                      <a:solidFill>
                        <a:srgbClr val="DCE3D6"/>
                      </a:solidFill>
                    </a:lnB>
                    <a:solidFill>
                      <a:srgbClr val="FFFFFF"/>
                    </a:solidFill>
                  </a:tcPr>
                </a:tc>
                <a:tc>
                  <a:txBody>
                    <a:bodyPr wrap="square"/>
                    <a:lstStyle/>
                    <a:p>
                      <a:r>
                        <a:rPr sz="700" b="0">
                          <a:solidFill>
                            <a:srgbClr val="26301F"/>
                          </a:solidFill>
                          <a:latin typeface="Segoe UI"/>
                        </a:rPr>
                        <a:t>Points, a small score gain, and the streak advances</a:t>
                      </a:r>
                    </a:p>
                  </a:txBody>
                  <a:tcPr marL="45720" marR="109728" marT="27432" marB="27432" anchor="ctr">
                    <a:lnB w="9525" cap="flat" cmpd="sng" algn="ctr">
                      <a:solidFill>
                        <a:srgbClr val="DCE3D6"/>
                      </a:solidFill>
                    </a:lnB>
                    <a:solidFill>
                      <a:srgbClr val="FFFFFF"/>
                    </a:solidFill>
                  </a:tcPr>
                </a:tc>
                <a:tc>
                  <a:txBody>
                    <a:bodyPr wrap="square"/>
                    <a:lstStyle/>
                    <a:p>
                      <a:r>
                        <a:rPr sz="700" b="0">
                          <a:solidFill>
                            <a:srgbClr val="26301F"/>
                          </a:solidFill>
                          <a:latin typeface="Segoe UI"/>
                        </a:rPr>
                        <a:t>It does not compound without limit. The score gain is capped per cycle so it cannot be farmed</a:t>
                      </a:r>
                    </a:p>
                  </a:txBody>
                  <a:tcPr marL="45720" marR="109728" marT="27432" marB="27432" anchor="ctr">
                    <a:lnB w="9525" cap="flat" cmpd="sng" algn="ctr">
                      <a:solidFill>
                        <a:srgbClr val="DCE3D6"/>
                      </a:solidFill>
                    </a:lnB>
                    <a:solidFill>
                      <a:srgbClr val="FFFFFF"/>
                    </a:solidFill>
                  </a:tcPr>
                </a:tc>
              </a:tr>
              <a:tr h="416069">
                <a:tc>
                  <a:txBody>
                    <a:bodyPr wrap="square"/>
                    <a:lstStyle/>
                    <a:p>
                      <a:r>
                        <a:rPr sz="700" b="0">
                          <a:solidFill>
                            <a:srgbClr val="26301F"/>
                          </a:solidFill>
                          <a:latin typeface="Segoe UI"/>
                        </a:rPr>
                        <a:t>Paying several days early</a:t>
                      </a:r>
                    </a:p>
                  </a:txBody>
                  <a:tcPr marL="45720" marR="109728" marT="27432" marB="27432" anchor="ctr">
                    <a:lnB w="9525" cap="flat" cmpd="sng" algn="ctr">
                      <a:solidFill>
                        <a:srgbClr val="DCE3D6"/>
                      </a:solidFill>
                    </a:lnB>
                    <a:solidFill>
                      <a:srgbClr val="FFFFFF"/>
                    </a:solidFill>
                  </a:tcPr>
                </a:tc>
                <a:tc>
                  <a:txBody>
                    <a:bodyPr wrap="square"/>
                    <a:lstStyle/>
                    <a:p>
                      <a:r>
                        <a:rPr sz="700" b="0">
                          <a:solidFill>
                            <a:srgbClr val="26301F"/>
                          </a:solidFill>
                          <a:latin typeface="Segoe UI"/>
                        </a:rPr>
                        <a:t>More points, the same score gain</a:t>
                      </a:r>
                    </a:p>
                  </a:txBody>
                  <a:tcPr marL="45720" marR="109728" marT="27432" marB="27432" anchor="ctr">
                    <a:lnB w="9525" cap="flat" cmpd="sng" algn="ctr">
                      <a:solidFill>
                        <a:srgbClr val="DCE3D6"/>
                      </a:solidFill>
                    </a:lnB>
                    <a:solidFill>
                      <a:srgbClr val="FFFFFF"/>
                    </a:solidFill>
                  </a:tcPr>
                </a:tc>
                <a:tc>
                  <a:txBody>
                    <a:bodyPr wrap="square"/>
                    <a:lstStyle/>
                    <a:p>
                      <a:r>
                        <a:rPr sz="700" b="0">
                          <a:solidFill>
                            <a:srgbClr val="26301F"/>
                          </a:solidFill>
                          <a:latin typeface="Segoe UI"/>
                        </a:rPr>
                        <a:t>It does not buy a better position. Only band and tenure do that</a:t>
                      </a:r>
                    </a:p>
                  </a:txBody>
                  <a:tcPr marL="45720" marR="109728" marT="27432" marB="27432" anchor="ctr">
                    <a:lnB w="9525" cap="flat" cmpd="sng" algn="ctr">
                      <a:solidFill>
                        <a:srgbClr val="DCE3D6"/>
                      </a:solidFill>
                    </a:lnB>
                    <a:solidFill>
                      <a:srgbClr val="FFFFFF"/>
                    </a:solidFill>
                  </a:tcPr>
                </a:tc>
              </a:tr>
              <a:tr h="416069">
                <a:tc>
                  <a:txBody>
                    <a:bodyPr wrap="square"/>
                    <a:lstStyle/>
                    <a:p>
                      <a:r>
                        <a:rPr sz="700" b="0">
                          <a:solidFill>
                            <a:srgbClr val="26301F"/>
                          </a:solidFill>
                          <a:latin typeface="Segoe UI"/>
                        </a:rPr>
                        <a:t>Each consecutive clean round</a:t>
                      </a:r>
                    </a:p>
                  </a:txBody>
                  <a:tcPr marL="45720" marR="109728" marT="27432" marB="27432" anchor="ctr">
                    <a:lnB w="9525" cap="flat" cmpd="sng" algn="ctr">
                      <a:solidFill>
                        <a:srgbClr val="DCE3D6"/>
                      </a:solidFill>
                    </a:lnB>
                    <a:solidFill>
                      <a:srgbClr val="FFFFFF"/>
                    </a:solidFill>
                  </a:tcPr>
                </a:tc>
                <a:tc>
                  <a:txBody>
                    <a:bodyPr wrap="square"/>
                    <a:lstStyle/>
                    <a:p>
                      <a:r>
                        <a:rPr sz="700" b="0">
                          <a:solidFill>
                            <a:srgbClr val="26301F"/>
                          </a:solidFill>
                          <a:latin typeface="Segoe UI"/>
                        </a:rPr>
                        <a:t>A multiplier on points, up to a ceiling</a:t>
                      </a:r>
                    </a:p>
                  </a:txBody>
                  <a:tcPr marL="45720" marR="109728" marT="27432" marB="27432" anchor="ctr">
                    <a:lnB w="9525" cap="flat" cmpd="sng" algn="ctr">
                      <a:solidFill>
                        <a:srgbClr val="DCE3D6"/>
                      </a:solidFill>
                    </a:lnB>
                    <a:solidFill>
                      <a:srgbClr val="FFFFFF"/>
                    </a:solidFill>
                  </a:tcPr>
                </a:tc>
                <a:tc>
                  <a:txBody>
                    <a:bodyPr wrap="square"/>
                    <a:lstStyle/>
                    <a:p>
                      <a:r>
                        <a:rPr sz="700" b="0">
                          <a:solidFill>
                            <a:srgbClr val="26301F"/>
                          </a:solidFill>
                          <a:latin typeface="Segoe UI"/>
                        </a:rPr>
                        <a:t>The multiplier applies to points only, never to score</a:t>
                      </a:r>
                    </a:p>
                  </a:txBody>
                  <a:tcPr marL="45720" marR="109728" marT="27432" marB="27432" anchor="ctr">
                    <a:lnB w="9525" cap="flat" cmpd="sng" algn="ctr">
                      <a:solidFill>
                        <a:srgbClr val="DCE3D6"/>
                      </a:solidFill>
                    </a:lnB>
                    <a:solidFill>
                      <a:srgbClr val="FFFFFF"/>
                    </a:solidFill>
                  </a:tcPr>
                </a:tc>
              </a:tr>
              <a:tr h="416069">
                <a:tc>
                  <a:txBody>
                    <a:bodyPr wrap="square"/>
                    <a:lstStyle/>
                    <a:p>
                      <a:r>
                        <a:rPr sz="700" b="0">
                          <a:solidFill>
                            <a:srgbClr val="26301F"/>
                          </a:solidFill>
                          <a:latin typeface="Segoe UI"/>
                        </a:rPr>
                        <a:t>Completing a circle cleanly</a:t>
                      </a:r>
                    </a:p>
                  </a:txBody>
                  <a:tcPr marL="45720" marR="109728" marT="27432" marB="27432" anchor="ctr">
                    <a:lnB w="9525" cap="flat" cmpd="sng" algn="ctr">
                      <a:solidFill>
                        <a:srgbClr val="DCE3D6"/>
                      </a:solidFill>
                    </a:lnB>
                    <a:solidFill>
                      <a:srgbClr val="FFFFFF"/>
                    </a:solidFill>
                  </a:tcPr>
                </a:tc>
                <a:tc>
                  <a:txBody>
                    <a:bodyPr wrap="square"/>
                    <a:lstStyle/>
                    <a:p>
                      <a:r>
                        <a:rPr sz="700" b="0">
                          <a:solidFill>
                            <a:srgbClr val="26301F"/>
                          </a:solidFill>
                          <a:latin typeface="Segoe UI"/>
                        </a:rPr>
                        <a:t>A large points award and the streak carries into the next circle</a:t>
                      </a:r>
                    </a:p>
                  </a:txBody>
                  <a:tcPr marL="45720" marR="109728" marT="27432" marB="27432" anchor="ctr">
                    <a:lnB w="9525" cap="flat" cmpd="sng" algn="ctr">
                      <a:solidFill>
                        <a:srgbClr val="DCE3D6"/>
                      </a:solidFill>
                    </a:lnB>
                    <a:solidFill>
                      <a:srgbClr val="FFFFFF"/>
                    </a:solidFill>
                  </a:tcPr>
                </a:tc>
                <a:tc>
                  <a:txBody>
                    <a:bodyPr wrap="square"/>
                    <a:lstStyle/>
                    <a:p>
                      <a:r>
                        <a:rPr sz="700" b="0">
                          <a:solidFill>
                            <a:srgbClr val="26301F"/>
                          </a:solidFill>
                          <a:latin typeface="Segoe UI"/>
                        </a:rPr>
                        <a:t>Nothing carries if the circle was not completed</a:t>
                      </a:r>
                    </a:p>
                  </a:txBody>
                  <a:tcPr marL="45720" marR="109728" marT="27432" marB="27432" anchor="ctr">
                    <a:lnB w="9525" cap="flat" cmpd="sng" algn="ctr">
                      <a:solidFill>
                        <a:srgbClr val="DCE3D6"/>
                      </a:solidFill>
                    </a:lnB>
                    <a:solidFill>
                      <a:srgbClr val="FFFFFF"/>
                    </a:solidFill>
                  </a:tcPr>
                </a:tc>
              </a:tr>
              <a:tr h="416069">
                <a:tc>
                  <a:txBody>
                    <a:bodyPr wrap="square"/>
                    <a:lstStyle/>
                    <a:p>
                      <a:r>
                        <a:rPr sz="700" b="0">
                          <a:solidFill>
                            <a:srgbClr val="26301F"/>
                          </a:solidFill>
                          <a:latin typeface="Segoe UI"/>
                        </a:rPr>
                        <a:t>Paying a contribution for another member</a:t>
                      </a:r>
                    </a:p>
                  </a:txBody>
                  <a:tcPr marL="45720" marR="109728" marT="27432" marB="27432" anchor="ctr">
                    <a:lnB w="9525" cap="flat" cmpd="sng" algn="ctr">
                      <a:solidFill>
                        <a:srgbClr val="DCE3D6"/>
                      </a:solidFill>
                    </a:lnB>
                    <a:solidFill>
                      <a:srgbClr val="FFFFFF"/>
                    </a:solidFill>
                  </a:tcPr>
                </a:tc>
                <a:tc>
                  <a:txBody>
                    <a:bodyPr wrap="square"/>
                    <a:lstStyle/>
                    <a:p>
                      <a:r>
                        <a:rPr sz="700" b="0">
                          <a:solidFill>
                            <a:srgbClr val="26301F"/>
                          </a:solidFill>
                          <a:latin typeface="Segoe UI"/>
                        </a:rPr>
                        <a:t>Points, but no streak and no score</a:t>
                      </a:r>
                    </a:p>
                  </a:txBody>
                  <a:tcPr marL="45720" marR="109728" marT="27432" marB="27432" anchor="ctr">
                    <a:lnB w="9525" cap="flat" cmpd="sng" algn="ctr">
                      <a:solidFill>
                        <a:srgbClr val="DCE3D6"/>
                      </a:solidFill>
                    </a:lnB>
                    <a:solidFill>
                      <a:srgbClr val="FFFFFF"/>
                    </a:solidFill>
                  </a:tcPr>
                </a:tc>
                <a:tc>
                  <a:txBody>
                    <a:bodyPr wrap="square"/>
                    <a:lstStyle/>
                    <a:p>
                      <a:r>
                        <a:rPr sz="700" b="0">
                          <a:solidFill>
                            <a:srgbClr val="26301F"/>
                          </a:solidFill>
                          <a:latin typeface="Segoe UI"/>
                        </a:rPr>
                        <a:t>A wealthier friend cannot buy anybody a record. This is the most important exclusion in the system</a:t>
                      </a:r>
                    </a:p>
                  </a:txBody>
                  <a:tcPr marL="45720" marR="109728" marT="27432" marB="27432" anchor="ctr">
                    <a:lnB w="9525" cap="flat" cmpd="sng" algn="ctr">
                      <a:solidFill>
                        <a:srgbClr val="DCE3D6"/>
                      </a:solidFill>
                    </a:lnB>
                    <a:solidFill>
                      <a:srgbClr val="FFFFFF"/>
                    </a:solidFill>
                  </a:tcPr>
                </a:tc>
              </a:tr>
              <a:tr h="416069">
                <a:tc>
                  <a:txBody>
                    <a:bodyPr wrap="square"/>
                    <a:lstStyle/>
                    <a:p>
                      <a:r>
                        <a:rPr sz="700" b="0">
                          <a:solidFill>
                            <a:srgbClr val="26301F"/>
                          </a:solidFill>
                          <a:latin typeface="Segoe UI"/>
                        </a:rPr>
                        <a:t>A missed contribution</a:t>
                      </a:r>
                    </a:p>
                  </a:txBody>
                  <a:tcPr marL="45720" marR="109728" marT="27432" marB="27432" anchor="ctr">
                    <a:lnB w="9525" cap="flat" cmpd="sng" algn="ctr">
                      <a:solidFill>
                        <a:srgbClr val="DCE3D6"/>
                      </a:solidFill>
                    </a:lnB>
                    <a:solidFill>
                      <a:srgbClr val="FFFFFF"/>
                    </a:solidFill>
                  </a:tcPr>
                </a:tc>
                <a:tc>
                  <a:txBody>
                    <a:bodyPr wrap="square"/>
                    <a:lstStyle/>
                    <a:p>
                      <a:r>
                        <a:rPr sz="700" b="0">
                          <a:solidFill>
                            <a:srgbClr val="26301F"/>
                          </a:solidFill>
                          <a:latin typeface="Segoe UI"/>
                        </a:rPr>
                        <a:t>The streak resets to zero</a:t>
                      </a:r>
                    </a:p>
                  </a:txBody>
                  <a:tcPr marL="45720" marR="109728" marT="27432" marB="27432" anchor="ctr">
                    <a:lnB w="9525" cap="flat" cmpd="sng" algn="ctr">
                      <a:solidFill>
                        <a:srgbClr val="DCE3D6"/>
                      </a:solidFill>
                    </a:lnB>
                    <a:solidFill>
                      <a:srgbClr val="FFFFFF"/>
                    </a:solidFill>
                  </a:tcPr>
                </a:tc>
                <a:tc>
                  <a:txBody>
                    <a:bodyPr wrap="square"/>
                    <a:lstStyle/>
                    <a:p>
                      <a:r>
                        <a:rPr sz="700" b="0">
                          <a:solidFill>
                            <a:srgbClr val="26301F"/>
                          </a:solidFill>
                          <a:latin typeface="Segoe UI"/>
                        </a:rPr>
                        <a:t>Points already earned are not confiscated. The punishment is the fee ladder and the score, not a clawback</a:t>
                      </a:r>
                    </a:p>
                  </a:txBody>
                  <a:tcPr marL="45720" marR="109728" marT="27432" marB="27432" anchor="ctr">
                    <a:lnB w="9525" cap="flat" cmpd="sng" algn="ctr">
                      <a:solidFill>
                        <a:srgbClr val="DCE3D6"/>
                      </a:solidFill>
                    </a:lnB>
                    <a:solidFill>
                      <a:srgbClr val="FFFFFF"/>
                    </a:solidFill>
                  </a:tcPr>
                </a:tc>
              </a:tr>
            </a:tbl>
          </a:graphicData>
        </a:graphic>
      </p:graphicFrame>
      <p:sp>
        <p:nvSpPr>
          <p:cNvPr id="9" name="TextBox 8"/>
          <p:cNvSpPr txBox="1"/>
          <p:nvPr/>
        </p:nvSpPr>
        <p:spPr>
          <a:xfrm>
            <a:off x="777240" y="6067163"/>
            <a:ext cx="10637215" cy="731520"/>
          </a:xfrm>
          <a:prstGeom prst="rect">
            <a:avLst/>
          </a:prstGeom>
          <a:noFill/>
        </p:spPr>
        <p:txBody>
          <a:bodyPr wrap="square" lIns="0" rIns="0" tIns="0" bIns="0">
            <a:spAutoFit/>
          </a:bodyPr>
          <a:lstStyle/>
          <a:p>
            <a:pPr algn="l">
              <a:lnSpc>
                <a:spcPct val="140000"/>
              </a:lnSpc>
            </a:pPr>
            <a:r>
              <a:rPr sz="1200" b="1" i="0">
                <a:solidFill>
                  <a:srgbClr val="0C1408"/>
                </a:solidFill>
                <a:latin typeface="Segoe UI"/>
              </a:rPr>
              <a:t>Points and score stay strictly separable. Points buy discounts. Score gates positions. Points never buy score, and score is never sold.</a:t>
            </a:r>
          </a:p>
        </p:txBody>
      </p:sp>
    </p:spTree>
  </p:cSld>
  <p:clrMapOvr>
    <a:masterClrMapping/>
  </p:clrMapOvr>
</p:sld>
</file>

<file path=ppt/slides/slide6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777240" y="566928"/>
            <a:ext cx="10637215" cy="219456"/>
          </a:xfrm>
          <a:prstGeom prst="rect">
            <a:avLst/>
          </a:prstGeom>
          <a:noFill/>
        </p:spPr>
        <p:txBody>
          <a:bodyPr wrap="square" lIns="0" rIns="0" tIns="0" bIns="0">
            <a:spAutoFit/>
          </a:bodyPr>
          <a:lstStyle/>
          <a:p>
            <a:pPr algn="l">
              <a:lnSpc>
                <a:spcPct val="125000"/>
              </a:lnSpc>
            </a:pPr>
            <a:r>
              <a:rPr sz="950" b="1" i="0">
                <a:solidFill>
                  <a:srgbClr val="41801A"/>
                </a:solidFill>
                <a:latin typeface="Segoe UI"/>
              </a:rPr>
              <a:t>8  REWARDS</a:t>
            </a:r>
          </a:p>
        </p:txBody>
      </p:sp>
      <p:sp>
        <p:nvSpPr>
          <p:cNvPr id="3" name="TextBox 2"/>
          <p:cNvSpPr txBox="1"/>
          <p:nvPr/>
        </p:nvSpPr>
        <p:spPr>
          <a:xfrm>
            <a:off x="777240" y="841248"/>
            <a:ext cx="10637215" cy="502920"/>
          </a:xfrm>
          <a:prstGeom prst="rect">
            <a:avLst/>
          </a:prstGeom>
          <a:noFill/>
        </p:spPr>
        <p:txBody>
          <a:bodyPr wrap="square" lIns="0" rIns="0" tIns="0" bIns="0">
            <a:spAutoFit/>
          </a:bodyPr>
          <a:lstStyle/>
          <a:p>
            <a:pPr algn="l">
              <a:lnSpc>
                <a:spcPct val="125000"/>
              </a:lnSpc>
            </a:pPr>
            <a:r>
              <a:rPr sz="2700" b="1" i="0">
                <a:solidFill>
                  <a:srgbClr val="0C1408"/>
                </a:solidFill>
                <a:latin typeface="Segoe UI"/>
              </a:rPr>
              <a:t>The ladder, and who pays for it</a:t>
            </a:r>
          </a:p>
        </p:txBody>
      </p:sp>
      <p:sp>
        <p:nvSpPr>
          <p:cNvPr id="4" name="Rectangle 3"/>
          <p:cNvSpPr/>
          <p:nvPr/>
        </p:nvSpPr>
        <p:spPr>
          <a:xfrm>
            <a:off x="777240" y="1417320"/>
            <a:ext cx="1371600" cy="22860"/>
          </a:xfrm>
          <a:prstGeom prst="rect">
            <a:avLst/>
          </a:prstGeom>
          <a:solidFill>
            <a:srgbClr val="6DC72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777240" y="6382512"/>
            <a:ext cx="3657600" cy="228600"/>
          </a:xfrm>
          <a:prstGeom prst="rect">
            <a:avLst/>
          </a:prstGeom>
          <a:noFill/>
        </p:spPr>
        <p:txBody>
          <a:bodyPr wrap="square" lIns="0" rIns="0" tIns="0" bIns="0">
            <a:spAutoFit/>
          </a:bodyPr>
          <a:lstStyle/>
          <a:p>
            <a:pPr algn="l">
              <a:lnSpc>
                <a:spcPct val="125000"/>
              </a:lnSpc>
            </a:pPr>
            <a:r>
              <a:rPr sz="900" b="0" i="0">
                <a:solidFill>
                  <a:srgbClr val="9AA694"/>
                </a:solidFill>
                <a:latin typeface="Segoe UI"/>
              </a:rPr>
              <a:t>Halqa  ·  Confidential</a:t>
            </a:r>
          </a:p>
        </p:txBody>
      </p:sp>
      <p:sp>
        <p:nvSpPr>
          <p:cNvPr id="6" name="TextBox 5"/>
          <p:cNvSpPr txBox="1"/>
          <p:nvPr/>
        </p:nvSpPr>
        <p:spPr>
          <a:xfrm>
            <a:off x="10728655" y="6382512"/>
            <a:ext cx="685800" cy="228600"/>
          </a:xfrm>
          <a:prstGeom prst="rect">
            <a:avLst/>
          </a:prstGeom>
          <a:noFill/>
        </p:spPr>
        <p:txBody>
          <a:bodyPr wrap="square" lIns="0" rIns="0" tIns="0" bIns="0">
            <a:spAutoFit/>
          </a:bodyPr>
          <a:lstStyle/>
          <a:p>
            <a:pPr algn="r">
              <a:lnSpc>
                <a:spcPct val="125000"/>
              </a:lnSpc>
            </a:pPr>
            <a:r>
              <a:rPr sz="900" b="0" i="0">
                <a:solidFill>
                  <a:srgbClr val="6F7B68"/>
                </a:solidFill>
                <a:latin typeface="Segoe UI"/>
              </a:rPr>
              <a:t>62</a:t>
            </a:r>
          </a:p>
        </p:txBody>
      </p:sp>
      <p:graphicFrame>
        <p:nvGraphicFramePr>
          <p:cNvPr id="7" name="Table 6"/>
          <p:cNvGraphicFramePr>
            <a:graphicFrameLocks noGrp="1"/>
          </p:cNvGraphicFramePr>
          <p:nvPr/>
        </p:nvGraphicFramePr>
        <p:xfrm>
          <a:off x="777240" y="1965960"/>
          <a:ext cx="6035040" cy="3218688"/>
        </p:xfrm>
        <a:graphic>
          <a:graphicData uri="http://schemas.openxmlformats.org/drawingml/2006/table">
            <a:tbl>
              <a:tblPr>
                <a:tableStyleId>{5C22544A-7EE6-4342-B048-85BDC9FD1C3A}</a:tableStyleId>
              </a:tblPr>
              <a:tblGrid>
                <a:gridCol w="2926080"/>
                <a:gridCol w="3108960"/>
              </a:tblGrid>
              <a:tr h="402336">
                <a:tc>
                  <a:txBody>
                    <a:bodyPr wrap="square"/>
                    <a:lstStyle/>
                    <a:p>
                      <a:r>
                        <a:rPr sz="900" b="1">
                          <a:solidFill>
                            <a:srgbClr val="41801A"/>
                          </a:solidFill>
                          <a:latin typeface="Segoe UI"/>
                        </a:rPr>
                        <a:t>CONSECUTIVE ROUNDS PAID ON TIME</a:t>
                      </a:r>
                    </a:p>
                  </a:txBody>
                  <a:tcPr marL="45720" marR="109728" marT="27432" marB="27432" anchor="ctr">
                    <a:lnB w="9525" cap="flat" cmpd="sng" algn="ctr">
                      <a:solidFill>
                        <a:srgbClr val="41801A"/>
                      </a:solidFill>
                    </a:lnB>
                    <a:solidFill>
                      <a:srgbClr val="FFFFFF"/>
                    </a:solidFill>
                  </a:tcPr>
                </a:tc>
                <a:tc>
                  <a:txBody>
                    <a:bodyPr wrap="square"/>
                    <a:lstStyle/>
                    <a:p>
                      <a:r>
                        <a:rPr sz="900" b="1">
                          <a:solidFill>
                            <a:srgbClr val="41801A"/>
                          </a:solidFill>
                          <a:latin typeface="Segoe UI"/>
                        </a:rPr>
                        <a:t>WHAT THE MEMBER GETS</a:t>
                      </a:r>
                    </a:p>
                  </a:txBody>
                  <a:tcPr marL="45720" marR="109728" marT="27432" marB="27432" anchor="ctr">
                    <a:lnB w="9525" cap="flat" cmpd="sng" algn="ctr">
                      <a:solidFill>
                        <a:srgbClr val="41801A"/>
                      </a:solidFill>
                    </a:lnB>
                    <a:solidFill>
                      <a:srgbClr val="FFFFFF"/>
                    </a:solidFill>
                  </a:tcPr>
                </a:tc>
              </a:tr>
              <a:tr h="402336">
                <a:tc>
                  <a:txBody>
                    <a:bodyPr wrap="square"/>
                    <a:lstStyle/>
                    <a:p>
                      <a:r>
                        <a:rPr sz="1000" b="0">
                          <a:solidFill>
                            <a:srgbClr val="26301F"/>
                          </a:solidFill>
                          <a:latin typeface="Segoe UI"/>
                        </a:rPr>
                        <a:t>Three</a:t>
                      </a:r>
                    </a:p>
                  </a:txBody>
                  <a:tcPr marL="45720" marR="109728" marT="27432" marB="27432" anchor="ctr">
                    <a:lnB w="9525" cap="flat" cmpd="sng" algn="ctr">
                      <a:solidFill>
                        <a:srgbClr val="DCE3D6"/>
                      </a:solidFill>
                    </a:lnB>
                    <a:solidFill>
                      <a:srgbClr val="FFFFFF"/>
                    </a:solidFill>
                  </a:tcPr>
                </a:tc>
                <a:tc>
                  <a:txBody>
                    <a:bodyPr wrap="square"/>
                    <a:lstStyle/>
                    <a:p>
                      <a:r>
                        <a:rPr sz="1000" b="0">
                          <a:solidFill>
                            <a:srgbClr val="26301F"/>
                          </a:solidFill>
                          <a:latin typeface="Segoe UI"/>
                        </a:rPr>
                        <a:t>A modest discount code with a partner retailer</a:t>
                      </a:r>
                    </a:p>
                  </a:txBody>
                  <a:tcPr marL="45720" marR="109728" marT="27432" marB="27432" anchor="ctr">
                    <a:lnB w="9525" cap="flat" cmpd="sng" algn="ctr">
                      <a:solidFill>
                        <a:srgbClr val="DCE3D6"/>
                      </a:solidFill>
                    </a:lnB>
                    <a:solidFill>
                      <a:srgbClr val="FFFFFF"/>
                    </a:solidFill>
                  </a:tcPr>
                </a:tc>
              </a:tr>
              <a:tr h="402336">
                <a:tc>
                  <a:txBody>
                    <a:bodyPr wrap="square"/>
                    <a:lstStyle/>
                    <a:p>
                      <a:r>
                        <a:rPr sz="1000" b="0">
                          <a:solidFill>
                            <a:srgbClr val="26301F"/>
                          </a:solidFill>
                          <a:latin typeface="Segoe UI"/>
                        </a:rPr>
                        <a:t>Six</a:t>
                      </a:r>
                    </a:p>
                  </a:txBody>
                  <a:tcPr marL="45720" marR="109728" marT="27432" marB="27432" anchor="ctr">
                    <a:lnB w="9525" cap="flat" cmpd="sng" algn="ctr">
                      <a:solidFill>
                        <a:srgbClr val="DCE3D6"/>
                      </a:solidFill>
                    </a:lnB>
                    <a:solidFill>
                      <a:srgbClr val="FFFFFF"/>
                    </a:solidFill>
                  </a:tcPr>
                </a:tc>
                <a:tc>
                  <a:txBody>
                    <a:bodyPr wrap="square"/>
                    <a:lstStyle/>
                    <a:p>
                      <a:r>
                        <a:rPr sz="1000" b="0">
                          <a:solidFill>
                            <a:srgbClr val="26301F"/>
                          </a:solidFill>
                          <a:latin typeface="Segoe UI"/>
                        </a:rPr>
                        <a:t>A larger discount, plus delivery waived</a:t>
                      </a:r>
                    </a:p>
                  </a:txBody>
                  <a:tcPr marL="45720" marR="109728" marT="27432" marB="27432" anchor="ctr">
                    <a:lnB w="9525" cap="flat" cmpd="sng" algn="ctr">
                      <a:solidFill>
                        <a:srgbClr val="DCE3D6"/>
                      </a:solidFill>
                    </a:lnB>
                    <a:solidFill>
                      <a:srgbClr val="FFFFFF"/>
                    </a:solidFill>
                  </a:tcPr>
                </a:tc>
              </a:tr>
              <a:tr h="402336">
                <a:tc>
                  <a:txBody>
                    <a:bodyPr wrap="square"/>
                    <a:lstStyle/>
                    <a:p>
                      <a:r>
                        <a:rPr sz="1000" b="0">
                          <a:solidFill>
                            <a:srgbClr val="26301F"/>
                          </a:solidFill>
                          <a:latin typeface="Segoe UI"/>
                        </a:rPr>
                        <a:t>Twelve</a:t>
                      </a:r>
                    </a:p>
                  </a:txBody>
                  <a:tcPr marL="45720" marR="109728" marT="27432" marB="27432" anchor="ctr">
                    <a:lnB w="9525" cap="flat" cmpd="sng" algn="ctr">
                      <a:solidFill>
                        <a:srgbClr val="DCE3D6"/>
                      </a:solidFill>
                    </a:lnB>
                    <a:solidFill>
                      <a:srgbClr val="FFFFFF"/>
                    </a:solidFill>
                  </a:tcPr>
                </a:tc>
                <a:tc>
                  <a:txBody>
                    <a:bodyPr wrap="square"/>
                    <a:lstStyle/>
                    <a:p>
                      <a:r>
                        <a:rPr sz="1000" b="0">
                          <a:solidFill>
                            <a:srgbClr val="26301F"/>
                          </a:solidFill>
                          <a:latin typeface="Segoe UI"/>
                        </a:rPr>
                        <a:t>A larger discount again, or one month of the Halqa charge waived</a:t>
                      </a:r>
                    </a:p>
                  </a:txBody>
                  <a:tcPr marL="45720" marR="109728" marT="27432" marB="27432" anchor="ctr">
                    <a:lnB w="9525" cap="flat" cmpd="sng" algn="ctr">
                      <a:solidFill>
                        <a:srgbClr val="DCE3D6"/>
                      </a:solidFill>
                    </a:lnB>
                    <a:solidFill>
                      <a:srgbClr val="FFFFFF"/>
                    </a:solidFill>
                  </a:tcPr>
                </a:tc>
              </a:tr>
              <a:tr h="402336">
                <a:tc>
                  <a:txBody>
                    <a:bodyPr wrap="square"/>
                    <a:lstStyle/>
                    <a:p>
                      <a:r>
                        <a:rPr sz="1000" b="0">
                          <a:solidFill>
                            <a:srgbClr val="26301F"/>
                          </a:solidFill>
                          <a:latin typeface="Segoe UI"/>
                        </a:rPr>
                        <a:t>Eighteen</a:t>
                      </a:r>
                    </a:p>
                  </a:txBody>
                  <a:tcPr marL="45720" marR="109728" marT="27432" marB="27432" anchor="ctr">
                    <a:lnB w="9525" cap="flat" cmpd="sng" algn="ctr">
                      <a:solidFill>
                        <a:srgbClr val="DCE3D6"/>
                      </a:solidFill>
                    </a:lnB>
                    <a:solidFill>
                      <a:srgbClr val="FFFFFF"/>
                    </a:solidFill>
                  </a:tcPr>
                </a:tc>
                <a:tc>
                  <a:txBody>
                    <a:bodyPr wrap="square"/>
                    <a:lstStyle/>
                    <a:p>
                      <a:r>
                        <a:rPr sz="1000" b="0">
                          <a:solidFill>
                            <a:srgbClr val="26301F"/>
                          </a:solidFill>
                          <a:latin typeface="Segoe UI"/>
                        </a:rPr>
                        <a:t>A category offer, or the position placement fee waived on the next circle</a:t>
                      </a:r>
                    </a:p>
                  </a:txBody>
                  <a:tcPr marL="45720" marR="109728" marT="27432" marB="27432" anchor="ctr">
                    <a:lnB w="9525" cap="flat" cmpd="sng" algn="ctr">
                      <a:solidFill>
                        <a:srgbClr val="DCE3D6"/>
                      </a:solidFill>
                    </a:lnB>
                    <a:solidFill>
                      <a:srgbClr val="FFFFFF"/>
                    </a:solidFill>
                  </a:tcPr>
                </a:tc>
              </a:tr>
              <a:tr h="402336">
                <a:tc>
                  <a:txBody>
                    <a:bodyPr wrap="square"/>
                    <a:lstStyle/>
                    <a:p>
                      <a:r>
                        <a:rPr sz="1000" b="0">
                          <a:solidFill>
                            <a:srgbClr val="26301F"/>
                          </a:solidFill>
                          <a:latin typeface="Segoe UI"/>
                        </a:rPr>
                        <a:t>Twenty four</a:t>
                      </a:r>
                    </a:p>
                  </a:txBody>
                  <a:tcPr marL="45720" marR="109728" marT="27432" marB="27432" anchor="ctr">
                    <a:lnB w="9525" cap="flat" cmpd="sng" algn="ctr">
                      <a:solidFill>
                        <a:srgbClr val="DCE3D6"/>
                      </a:solidFill>
                    </a:lnB>
                    <a:solidFill>
                      <a:srgbClr val="FFFFFF"/>
                    </a:solidFill>
                  </a:tcPr>
                </a:tc>
                <a:tc>
                  <a:txBody>
                    <a:bodyPr wrap="square"/>
                    <a:lstStyle/>
                    <a:p>
                      <a:r>
                        <a:rPr sz="1000" b="0">
                          <a:solidFill>
                            <a:srgbClr val="26301F"/>
                          </a:solidFill>
                          <a:latin typeface="Segoe UI"/>
                        </a:rPr>
                        <a:t>A larger category offer, or the early position fee waived on the next circle</a:t>
                      </a:r>
                    </a:p>
                  </a:txBody>
                  <a:tcPr marL="45720" marR="109728" marT="27432" marB="27432" anchor="ctr">
                    <a:lnB w="9525" cap="flat" cmpd="sng" algn="ctr">
                      <a:solidFill>
                        <a:srgbClr val="DCE3D6"/>
                      </a:solidFill>
                    </a:lnB>
                    <a:solidFill>
                      <a:srgbClr val="FFFFFF"/>
                    </a:solidFill>
                  </a:tcPr>
                </a:tc>
              </a:tr>
              <a:tr h="402336">
                <a:tc>
                  <a:txBody>
                    <a:bodyPr wrap="square"/>
                    <a:lstStyle/>
                    <a:p>
                      <a:r>
                        <a:rPr sz="1000" b="0">
                          <a:solidFill>
                            <a:srgbClr val="26301F"/>
                          </a:solidFill>
                          <a:latin typeface="Segoe UI"/>
                        </a:rPr>
                        <a:t>Thirty six</a:t>
                      </a:r>
                    </a:p>
                  </a:txBody>
                  <a:tcPr marL="45720" marR="109728" marT="27432" marB="27432" anchor="ctr">
                    <a:lnB w="9525" cap="flat" cmpd="sng" algn="ctr">
                      <a:solidFill>
                        <a:srgbClr val="DCE3D6"/>
                      </a:solidFill>
                    </a:lnB>
                    <a:solidFill>
                      <a:srgbClr val="FFFFFF"/>
                    </a:solidFill>
                  </a:tcPr>
                </a:tc>
                <a:tc>
                  <a:txBody>
                    <a:bodyPr wrap="square"/>
                    <a:lstStyle/>
                    <a:p>
                      <a:r>
                        <a:rPr sz="1000" b="0">
                          <a:solidFill>
                            <a:srgbClr val="26301F"/>
                          </a:solidFill>
                          <a:latin typeface="Segoe UI"/>
                        </a:rPr>
                        <a:t>The top tier offer, or the early position fee and a month of charges waived</a:t>
                      </a:r>
                    </a:p>
                  </a:txBody>
                  <a:tcPr marL="45720" marR="109728" marT="27432" marB="27432" anchor="ctr">
                    <a:lnB w="9525" cap="flat" cmpd="sng" algn="ctr">
                      <a:solidFill>
                        <a:srgbClr val="DCE3D6"/>
                      </a:solidFill>
                    </a:lnB>
                    <a:solidFill>
                      <a:srgbClr val="FFFFFF"/>
                    </a:solidFill>
                  </a:tcPr>
                </a:tc>
              </a:tr>
              <a:tr h="402336">
                <a:tc>
                  <a:txBody>
                    <a:bodyPr wrap="square"/>
                    <a:lstStyle/>
                    <a:p>
                      <a:r>
                        <a:rPr sz="1000" b="0">
                          <a:solidFill>
                            <a:srgbClr val="26301F"/>
                          </a:solidFill>
                          <a:latin typeface="Segoe UI"/>
                        </a:rPr>
                        <a:t>Any circle completed cleanly</a:t>
                      </a:r>
                    </a:p>
                  </a:txBody>
                  <a:tcPr marL="45720" marR="109728" marT="27432" marB="27432" anchor="ctr">
                    <a:lnB w="9525" cap="flat" cmpd="sng" algn="ctr">
                      <a:solidFill>
                        <a:srgbClr val="DCE3D6"/>
                      </a:solidFill>
                    </a:lnB>
                    <a:solidFill>
                      <a:srgbClr val="FFFFFF"/>
                    </a:solidFill>
                  </a:tcPr>
                </a:tc>
                <a:tc>
                  <a:txBody>
                    <a:bodyPr wrap="square"/>
                    <a:lstStyle/>
                    <a:p>
                      <a:r>
                        <a:rPr sz="1000" b="0">
                          <a:solidFill>
                            <a:srgbClr val="26301F"/>
                          </a:solidFill>
                          <a:latin typeface="Segoe UI"/>
                        </a:rPr>
                        <a:t>A completion offer and a large points award</a:t>
                      </a:r>
                    </a:p>
                  </a:txBody>
                  <a:tcPr marL="45720" marR="109728" marT="27432" marB="27432" anchor="ctr">
                    <a:lnB w="9525" cap="flat" cmpd="sng" algn="ctr">
                      <a:solidFill>
                        <a:srgbClr val="DCE3D6"/>
                      </a:solidFill>
                    </a:lnB>
                    <a:solidFill>
                      <a:srgbClr val="FFFFFF"/>
                    </a:solidFill>
                  </a:tcPr>
                </a:tc>
              </a:tr>
            </a:tbl>
          </a:graphicData>
        </a:graphic>
      </p:graphicFrame>
      <p:sp>
        <p:nvSpPr>
          <p:cNvPr id="8" name="TextBox 7"/>
          <p:cNvSpPr txBox="1"/>
          <p:nvPr/>
        </p:nvSpPr>
        <p:spPr>
          <a:xfrm>
            <a:off x="7269480" y="1965960"/>
            <a:ext cx="4114800" cy="4206240"/>
          </a:xfrm>
          <a:prstGeom prst="rect">
            <a:avLst/>
          </a:prstGeom>
          <a:noFill/>
        </p:spPr>
        <p:txBody>
          <a:bodyPr wrap="square" lIns="0" rIns="0" tIns="0" bIns="0">
            <a:spAutoFit/>
          </a:bodyPr>
          <a:lstStyle/>
          <a:p>
            <a:pPr algn="l">
              <a:lnSpc>
                <a:spcPct val="150000"/>
              </a:lnSpc>
            </a:pPr>
            <a:r>
              <a:rPr sz="1200" b="0" i="0">
                <a:solidFill>
                  <a:srgbClr val="26301F"/>
                </a:solidFill>
                <a:latin typeface="Segoe UI"/>
              </a:rPr>
              <a:t>The discount at every tier is the retailer's own promotional discount, extended to an audience qualified by a year or more of demonstrated payment behaviour. For the retailer that is customer acquisition spend, not a favour, and it reaches a segment they cannot otherwise identify.</a:t>
            </a:r>
          </a:p>
          <a:p>
            <a:pPr algn="l">
              <a:lnSpc>
                <a:spcPct val="150000"/>
              </a:lnSpc>
              <a:spcBef>
                <a:spcPts val="900"/>
              </a:spcBef>
            </a:pPr>
            <a:r>
              <a:rPr sz="1200" b="0" i="0">
                <a:solidFill>
                  <a:srgbClr val="26301F"/>
                </a:solidFill>
                <a:latin typeface="Segoe UI"/>
              </a:rPr>
              <a:t/>
            </a:r>
          </a:p>
          <a:p>
            <a:pPr algn="l">
              <a:lnSpc>
                <a:spcPct val="150000"/>
              </a:lnSpc>
              <a:spcBef>
                <a:spcPts val="900"/>
              </a:spcBef>
            </a:pPr>
            <a:r>
              <a:rPr sz="1200" b="0" i="0">
                <a:solidFill>
                  <a:srgbClr val="26301F"/>
                </a:solidFill>
                <a:latin typeface="Segoe UI"/>
              </a:rPr>
              <a:t>Halqa earns an affiliate commission on the resulting order. So the reward is the retailer's discount and the revenue is the retailer's commission, which means the system funds itself and grows with members rather than with circles.</a:t>
            </a:r>
          </a:p>
          <a:p>
            <a:pPr algn="l">
              <a:lnSpc>
                <a:spcPct val="150000"/>
              </a:lnSpc>
              <a:spcBef>
                <a:spcPts val="900"/>
              </a:spcBef>
            </a:pPr>
            <a:r>
              <a:rPr sz="1200" b="0" i="0">
                <a:solidFill>
                  <a:srgbClr val="26301F"/>
                </a:solidFill>
                <a:latin typeface="Segoe UI"/>
              </a:rPr>
              <a:t/>
            </a:r>
          </a:p>
          <a:p>
            <a:pPr algn="l">
              <a:lnSpc>
                <a:spcPct val="150000"/>
              </a:lnSpc>
              <a:spcBef>
                <a:spcPts val="900"/>
              </a:spcBef>
            </a:pPr>
            <a:r>
              <a:rPr sz="1200" b="0" i="0">
                <a:solidFill>
                  <a:srgbClr val="26301F"/>
                </a:solidFill>
                <a:latin typeface="Segoe UI"/>
              </a:rPr>
              <a:t>It ships in four stages. First, waiving Halqa's own charges, which needs no counterparty at all. Then affiliate registration, which is a form rather than a negotiation. Then direct merchant agreements with exclusive codes and placement. Then direct payment, where a goal circle's pot is paid to the retailer for a named item and they pay a commission on the value brokered.</a:t>
            </a:r>
          </a:p>
        </p:txBody>
      </p:sp>
      <p:sp>
        <p:nvSpPr>
          <p:cNvPr id="9" name="TextBox 8"/>
          <p:cNvSpPr txBox="1"/>
          <p:nvPr/>
        </p:nvSpPr>
        <p:spPr>
          <a:xfrm>
            <a:off x="777240" y="5367528"/>
            <a:ext cx="6035040" cy="731520"/>
          </a:xfrm>
          <a:prstGeom prst="rect">
            <a:avLst/>
          </a:prstGeom>
          <a:noFill/>
        </p:spPr>
        <p:txBody>
          <a:bodyPr wrap="square" lIns="0" rIns="0" tIns="0" bIns="0">
            <a:spAutoFit/>
          </a:bodyPr>
          <a:lstStyle/>
          <a:p>
            <a:pPr algn="l">
              <a:lnSpc>
                <a:spcPct val="140000"/>
              </a:lnSpc>
            </a:pPr>
            <a:r>
              <a:rPr sz="1150" b="0" i="0">
                <a:solidFill>
                  <a:srgbClr val="6F7B68"/>
                </a:solidFill>
                <a:latin typeface="Segoe UI"/>
              </a:rPr>
              <a:t>Rewards are never redeemable for cash, are capped as a share of contributions, and release only against contributions that have actually settled. Retailers to approach are the general marketplaces, the electronics and home retailers, the grocery chains and the delivery platforms. Halqa receives order attribution, never basket contents, and purchase behaviour is not sold to anybody.</a:t>
            </a:r>
          </a:p>
        </p:txBody>
      </p:sp>
    </p:spTree>
  </p:cSld>
  <p:clrMapOvr>
    <a:masterClrMapping/>
  </p:clrMapOvr>
</p:sld>
</file>

<file path=ppt/slides/slide6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777240" y="566928"/>
            <a:ext cx="10637215" cy="219456"/>
          </a:xfrm>
          <a:prstGeom prst="rect">
            <a:avLst/>
          </a:prstGeom>
          <a:noFill/>
        </p:spPr>
        <p:txBody>
          <a:bodyPr wrap="square" lIns="0" rIns="0" tIns="0" bIns="0">
            <a:spAutoFit/>
          </a:bodyPr>
          <a:lstStyle/>
          <a:p>
            <a:pPr algn="l">
              <a:lnSpc>
                <a:spcPct val="125000"/>
              </a:lnSpc>
            </a:pPr>
            <a:r>
              <a:rPr sz="950" b="1" i="0">
                <a:solidFill>
                  <a:srgbClr val="41801A"/>
                </a:solidFill>
                <a:latin typeface="Segoe UI"/>
              </a:rPr>
              <a:t>9  SECURITY</a:t>
            </a:r>
          </a:p>
        </p:txBody>
      </p:sp>
      <p:sp>
        <p:nvSpPr>
          <p:cNvPr id="3" name="TextBox 2"/>
          <p:cNvSpPr txBox="1"/>
          <p:nvPr/>
        </p:nvSpPr>
        <p:spPr>
          <a:xfrm>
            <a:off x="777240" y="841248"/>
            <a:ext cx="10637215" cy="502920"/>
          </a:xfrm>
          <a:prstGeom prst="rect">
            <a:avLst/>
          </a:prstGeom>
          <a:noFill/>
        </p:spPr>
        <p:txBody>
          <a:bodyPr wrap="square" lIns="0" rIns="0" tIns="0" bIns="0">
            <a:spAutoFit/>
          </a:bodyPr>
          <a:lstStyle/>
          <a:p>
            <a:pPr algn="l">
              <a:lnSpc>
                <a:spcPct val="125000"/>
              </a:lnSpc>
            </a:pPr>
            <a:r>
              <a:rPr sz="2700" b="1" i="0">
                <a:solidFill>
                  <a:srgbClr val="0C1408"/>
                </a:solidFill>
                <a:latin typeface="Segoe UI"/>
              </a:rPr>
              <a:t>What we are defending against</a:t>
            </a:r>
          </a:p>
        </p:txBody>
      </p:sp>
      <p:sp>
        <p:nvSpPr>
          <p:cNvPr id="4" name="Rectangle 3"/>
          <p:cNvSpPr/>
          <p:nvPr/>
        </p:nvSpPr>
        <p:spPr>
          <a:xfrm>
            <a:off x="777240" y="1417320"/>
            <a:ext cx="1371600" cy="22860"/>
          </a:xfrm>
          <a:prstGeom prst="rect">
            <a:avLst/>
          </a:prstGeom>
          <a:solidFill>
            <a:srgbClr val="6DC72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777240" y="6382512"/>
            <a:ext cx="3657600" cy="228600"/>
          </a:xfrm>
          <a:prstGeom prst="rect">
            <a:avLst/>
          </a:prstGeom>
          <a:noFill/>
        </p:spPr>
        <p:txBody>
          <a:bodyPr wrap="square" lIns="0" rIns="0" tIns="0" bIns="0">
            <a:spAutoFit/>
          </a:bodyPr>
          <a:lstStyle/>
          <a:p>
            <a:pPr algn="l">
              <a:lnSpc>
                <a:spcPct val="125000"/>
              </a:lnSpc>
            </a:pPr>
            <a:r>
              <a:rPr sz="900" b="0" i="0">
                <a:solidFill>
                  <a:srgbClr val="9AA694"/>
                </a:solidFill>
                <a:latin typeface="Segoe UI"/>
              </a:rPr>
              <a:t>Halqa  ·  Confidential</a:t>
            </a:r>
          </a:p>
        </p:txBody>
      </p:sp>
      <p:sp>
        <p:nvSpPr>
          <p:cNvPr id="6" name="TextBox 5"/>
          <p:cNvSpPr txBox="1"/>
          <p:nvPr/>
        </p:nvSpPr>
        <p:spPr>
          <a:xfrm>
            <a:off x="10728655" y="6382512"/>
            <a:ext cx="685800" cy="228600"/>
          </a:xfrm>
          <a:prstGeom prst="rect">
            <a:avLst/>
          </a:prstGeom>
          <a:noFill/>
        </p:spPr>
        <p:txBody>
          <a:bodyPr wrap="square" lIns="0" rIns="0" tIns="0" bIns="0">
            <a:spAutoFit/>
          </a:bodyPr>
          <a:lstStyle/>
          <a:p>
            <a:pPr algn="r">
              <a:lnSpc>
                <a:spcPct val="125000"/>
              </a:lnSpc>
            </a:pPr>
            <a:r>
              <a:rPr sz="900" b="0" i="0">
                <a:solidFill>
                  <a:srgbClr val="6F7B68"/>
                </a:solidFill>
                <a:latin typeface="Segoe UI"/>
              </a:rPr>
              <a:t>63</a:t>
            </a:r>
          </a:p>
        </p:txBody>
      </p:sp>
      <p:sp>
        <p:nvSpPr>
          <p:cNvPr id="7" name="TextBox 6"/>
          <p:cNvSpPr txBox="1"/>
          <p:nvPr/>
        </p:nvSpPr>
        <p:spPr>
          <a:xfrm>
            <a:off x="777240" y="1965960"/>
            <a:ext cx="10607040" cy="457200"/>
          </a:xfrm>
          <a:prstGeom prst="rect">
            <a:avLst/>
          </a:prstGeom>
          <a:noFill/>
        </p:spPr>
        <p:txBody>
          <a:bodyPr wrap="square" lIns="0" rIns="0" tIns="0" bIns="0">
            <a:spAutoFit/>
          </a:bodyPr>
          <a:lstStyle/>
          <a:p>
            <a:pPr algn="l">
              <a:lnSpc>
                <a:spcPct val="150000"/>
              </a:lnSpc>
            </a:pPr>
            <a:r>
              <a:rPr sz="1350" b="0" i="0">
                <a:solidFill>
                  <a:srgbClr val="26301F"/>
                </a:solidFill>
                <a:latin typeface="Segoe UI"/>
              </a:rPr>
              <a:t>Holding no member money removes the largest prize but not the others. Six attacks are worth defending against, ranked by what they would genuinely be worth to somebody attempting them.</a:t>
            </a:r>
          </a:p>
        </p:txBody>
      </p:sp>
      <p:graphicFrame>
        <p:nvGraphicFramePr>
          <p:cNvPr id="8" name="Table 7"/>
          <p:cNvGraphicFramePr>
            <a:graphicFrameLocks noGrp="1"/>
          </p:cNvGraphicFramePr>
          <p:nvPr/>
        </p:nvGraphicFramePr>
        <p:xfrm>
          <a:off x="777240" y="2606040"/>
          <a:ext cx="10607040" cy="3296160"/>
        </p:xfrm>
        <a:graphic>
          <a:graphicData uri="http://schemas.openxmlformats.org/drawingml/2006/table">
            <a:tbl>
              <a:tblPr>
                <a:tableStyleId>{5C22544A-7EE6-4342-B048-85BDC9FD1C3A}</a:tableStyleId>
              </a:tblPr>
              <a:tblGrid>
                <a:gridCol w="365760"/>
                <a:gridCol w="2286000"/>
                <a:gridCol w="3108960"/>
                <a:gridCol w="4846320"/>
              </a:tblGrid>
              <a:tr h="470880">
                <a:tc>
                  <a:txBody>
                    <a:bodyPr wrap="square"/>
                    <a:lstStyle/>
                    <a:p>
                      <a:r>
                        <a:rPr sz="700" b="1">
                          <a:solidFill>
                            <a:srgbClr val="41801A"/>
                          </a:solidFill>
                          <a:latin typeface="Segoe UI"/>
                        </a:rPr>
                        <a:t/>
                      </a:r>
                    </a:p>
                  </a:txBody>
                  <a:tcPr marL="45720" marR="109728" marT="27432" marB="27432" anchor="ctr">
                    <a:lnB w="9525" cap="flat" cmpd="sng" algn="ctr">
                      <a:solidFill>
                        <a:srgbClr val="41801A"/>
                      </a:solidFill>
                    </a:lnB>
                    <a:solidFill>
                      <a:srgbClr val="FFFFFF"/>
                    </a:solidFill>
                  </a:tcPr>
                </a:tc>
                <a:tc>
                  <a:txBody>
                    <a:bodyPr wrap="square"/>
                    <a:lstStyle/>
                    <a:p>
                      <a:r>
                        <a:rPr sz="700" b="1">
                          <a:solidFill>
                            <a:srgbClr val="41801A"/>
                          </a:solidFill>
                          <a:latin typeface="Segoe UI"/>
                        </a:rPr>
                        <a:t>THE ATTACK</a:t>
                      </a:r>
                    </a:p>
                  </a:txBody>
                  <a:tcPr marL="45720" marR="109728" marT="27432" marB="27432" anchor="ctr">
                    <a:lnB w="9525" cap="flat" cmpd="sng" algn="ctr">
                      <a:solidFill>
                        <a:srgbClr val="41801A"/>
                      </a:solidFill>
                    </a:lnB>
                    <a:solidFill>
                      <a:srgbClr val="FFFFFF"/>
                    </a:solidFill>
                  </a:tcPr>
                </a:tc>
                <a:tc>
                  <a:txBody>
                    <a:bodyPr wrap="square"/>
                    <a:lstStyle/>
                    <a:p>
                      <a:r>
                        <a:rPr sz="700" b="1">
                          <a:solidFill>
                            <a:srgbClr val="41801A"/>
                          </a:solidFill>
                          <a:latin typeface="Segoe UI"/>
                        </a:rPr>
                        <a:t>WHAT IT WOULD GAIN</a:t>
                      </a:r>
                    </a:p>
                  </a:txBody>
                  <a:tcPr marL="45720" marR="109728" marT="27432" marB="27432" anchor="ctr">
                    <a:lnB w="9525" cap="flat" cmpd="sng" algn="ctr">
                      <a:solidFill>
                        <a:srgbClr val="41801A"/>
                      </a:solidFill>
                    </a:lnB>
                    <a:solidFill>
                      <a:srgbClr val="FFFFFF"/>
                    </a:solidFill>
                  </a:tcPr>
                </a:tc>
                <a:tc>
                  <a:txBody>
                    <a:bodyPr wrap="square"/>
                    <a:lstStyle/>
                    <a:p>
                      <a:r>
                        <a:rPr sz="700" b="1">
                          <a:solidFill>
                            <a:srgbClr val="41801A"/>
                          </a:solidFill>
                          <a:latin typeface="Segoe UI"/>
                        </a:rPr>
                        <a:t>WHAT STOPS IT</a:t>
                      </a:r>
                    </a:p>
                  </a:txBody>
                  <a:tcPr marL="45720" marR="109728" marT="27432" marB="27432" anchor="ctr">
                    <a:lnB w="9525" cap="flat" cmpd="sng" algn="ctr">
                      <a:solidFill>
                        <a:srgbClr val="41801A"/>
                      </a:solidFill>
                    </a:lnB>
                    <a:solidFill>
                      <a:srgbClr val="FFFFFF"/>
                    </a:solidFill>
                  </a:tcPr>
                </a:tc>
              </a:tr>
              <a:tr h="470880">
                <a:tc>
                  <a:txBody>
                    <a:bodyPr wrap="square"/>
                    <a:lstStyle/>
                    <a:p>
                      <a:r>
                        <a:rPr sz="700" b="0">
                          <a:solidFill>
                            <a:srgbClr val="26301F"/>
                          </a:solidFill>
                          <a:latin typeface="Segoe UI"/>
                        </a:rPr>
                        <a:t>1</a:t>
                      </a:r>
                    </a:p>
                  </a:txBody>
                  <a:tcPr marL="45720" marR="109728" marT="27432" marB="27432" anchor="ctr">
                    <a:lnB w="9525" cap="flat" cmpd="sng" algn="ctr">
                      <a:solidFill>
                        <a:srgbClr val="DCE3D6"/>
                      </a:solidFill>
                    </a:lnB>
                    <a:solidFill>
                      <a:srgbClr val="FFFFFF"/>
                    </a:solidFill>
                  </a:tcPr>
                </a:tc>
                <a:tc>
                  <a:txBody>
                    <a:bodyPr wrap="square"/>
                    <a:lstStyle/>
                    <a:p>
                      <a:r>
                        <a:rPr sz="700" b="0">
                          <a:solidFill>
                            <a:srgbClr val="26301F"/>
                          </a:solidFill>
                          <a:latin typeface="Segoe UI"/>
                        </a:rPr>
                        <a:t>An impersonated exit or hardship claim</a:t>
                      </a:r>
                    </a:p>
                  </a:txBody>
                  <a:tcPr marL="45720" marR="109728" marT="27432" marB="27432" anchor="ctr">
                    <a:lnB w="9525" cap="flat" cmpd="sng" algn="ctr">
                      <a:solidFill>
                        <a:srgbClr val="DCE3D6"/>
                      </a:solidFill>
                    </a:lnB>
                    <a:solidFill>
                      <a:srgbClr val="FFFFFF"/>
                    </a:solidFill>
                  </a:tcPr>
                </a:tc>
                <a:tc>
                  <a:txBody>
                    <a:bodyPr wrap="square"/>
                    <a:lstStyle/>
                    <a:p>
                      <a:r>
                        <a:rPr sz="700" b="0">
                          <a:solidFill>
                            <a:srgbClr val="26301F"/>
                          </a:solidFill>
                          <a:latin typeface="Segoe UI"/>
                        </a:rPr>
                        <a:t>A payout released to the wrong person, or an obligation written off</a:t>
                      </a:r>
                    </a:p>
                  </a:txBody>
                  <a:tcPr marL="45720" marR="109728" marT="27432" marB="27432" anchor="ctr">
                    <a:lnB w="9525" cap="flat" cmpd="sng" algn="ctr">
                      <a:solidFill>
                        <a:srgbClr val="DCE3D6"/>
                      </a:solidFill>
                    </a:lnB>
                    <a:solidFill>
                      <a:srgbClr val="FFFFFF"/>
                    </a:solidFill>
                  </a:tcPr>
                </a:tc>
                <a:tc>
                  <a:txBody>
                    <a:bodyPr wrap="square"/>
                    <a:lstStyle/>
                    <a:p>
                      <a:r>
                        <a:rPr sz="700" b="0">
                          <a:solidFill>
                            <a:srgbClr val="26301F"/>
                          </a:solidFill>
                          <a:latin typeface="Segoe UI"/>
                        </a:rPr>
                        <a:t>Facial verification fired on every exit request, the application PIN, and a manual review sample</a:t>
                      </a:r>
                    </a:p>
                  </a:txBody>
                  <a:tcPr marL="45720" marR="109728" marT="27432" marB="27432" anchor="ctr">
                    <a:lnB w="9525" cap="flat" cmpd="sng" algn="ctr">
                      <a:solidFill>
                        <a:srgbClr val="DCE3D6"/>
                      </a:solidFill>
                    </a:lnB>
                    <a:solidFill>
                      <a:srgbClr val="FFFFFF"/>
                    </a:solidFill>
                  </a:tcPr>
                </a:tc>
              </a:tr>
              <a:tr h="470880">
                <a:tc>
                  <a:txBody>
                    <a:bodyPr wrap="square"/>
                    <a:lstStyle/>
                    <a:p>
                      <a:r>
                        <a:rPr sz="700" b="0">
                          <a:solidFill>
                            <a:srgbClr val="26301F"/>
                          </a:solidFill>
                          <a:latin typeface="Segoe UI"/>
                        </a:rPr>
                        <a:t>2</a:t>
                      </a:r>
                    </a:p>
                  </a:txBody>
                  <a:tcPr marL="45720" marR="109728" marT="27432" marB="27432" anchor="ctr">
                    <a:lnB w="9525" cap="flat" cmpd="sng" algn="ctr">
                      <a:solidFill>
                        <a:srgbClr val="DCE3D6"/>
                      </a:solidFill>
                    </a:lnB>
                    <a:solidFill>
                      <a:srgbClr val="FFFFFF"/>
                    </a:solidFill>
                  </a:tcPr>
                </a:tc>
                <a:tc>
                  <a:txBody>
                    <a:bodyPr wrap="square"/>
                    <a:lstStyle/>
                    <a:p>
                      <a:r>
                        <a:rPr sz="700" b="0">
                          <a:solidFill>
                            <a:srgbClr val="26301F"/>
                          </a:solidFill>
                          <a:latin typeface="Segoe UI"/>
                        </a:rPr>
                        <a:t>Account takeover with a stolen credential</a:t>
                      </a:r>
                    </a:p>
                  </a:txBody>
                  <a:tcPr marL="45720" marR="109728" marT="27432" marB="27432" anchor="ctr">
                    <a:lnB w="9525" cap="flat" cmpd="sng" algn="ctr">
                      <a:solidFill>
                        <a:srgbClr val="DCE3D6"/>
                      </a:solidFill>
                    </a:lnB>
                    <a:solidFill>
                      <a:srgbClr val="FFFFFF"/>
                    </a:solidFill>
                  </a:tcPr>
                </a:tc>
                <a:tc>
                  <a:txBody>
                    <a:bodyPr wrap="square"/>
                    <a:lstStyle/>
                    <a:p>
                      <a:r>
                        <a:rPr sz="700" b="0">
                          <a:solidFill>
                            <a:srgbClr val="26301F"/>
                          </a:solidFill>
                          <a:latin typeface="Segoe UI"/>
                        </a:rPr>
                        <a:t>Access to a member's circles and their payout</a:t>
                      </a:r>
                    </a:p>
                  </a:txBody>
                  <a:tcPr marL="45720" marR="109728" marT="27432" marB="27432" anchor="ctr">
                    <a:lnB w="9525" cap="flat" cmpd="sng" algn="ctr">
                      <a:solidFill>
                        <a:srgbClr val="DCE3D6"/>
                      </a:solidFill>
                    </a:lnB>
                    <a:solidFill>
                      <a:srgbClr val="FFFFFF"/>
                    </a:solidFill>
                  </a:tcPr>
                </a:tc>
                <a:tc>
                  <a:txBody>
                    <a:bodyPr wrap="square"/>
                    <a:lstStyle/>
                    <a:p>
                      <a:r>
                        <a:rPr sz="700" b="0">
                          <a:solidFill>
                            <a:srgbClr val="26301F"/>
                          </a:solidFill>
                          <a:latin typeface="Segoe UI"/>
                        </a:rPr>
                        <a:t>Session tokens that rotate, reuse of an old token burning the entire family, a facial check on any new device, and a PIN held only in memory</a:t>
                      </a:r>
                    </a:p>
                  </a:txBody>
                  <a:tcPr marL="45720" marR="109728" marT="27432" marB="27432" anchor="ctr">
                    <a:lnB w="9525" cap="flat" cmpd="sng" algn="ctr">
                      <a:solidFill>
                        <a:srgbClr val="DCE3D6"/>
                      </a:solidFill>
                    </a:lnB>
                    <a:solidFill>
                      <a:srgbClr val="FFFFFF"/>
                    </a:solidFill>
                  </a:tcPr>
                </a:tc>
              </a:tr>
              <a:tr h="470880">
                <a:tc>
                  <a:txBody>
                    <a:bodyPr wrap="square"/>
                    <a:lstStyle/>
                    <a:p>
                      <a:r>
                        <a:rPr sz="700" b="0">
                          <a:solidFill>
                            <a:srgbClr val="26301F"/>
                          </a:solidFill>
                          <a:latin typeface="Segoe UI"/>
                        </a:rPr>
                        <a:t>3</a:t>
                      </a:r>
                    </a:p>
                  </a:txBody>
                  <a:tcPr marL="45720" marR="109728" marT="27432" marB="27432" anchor="ctr">
                    <a:lnB w="9525" cap="flat" cmpd="sng" algn="ctr">
                      <a:solidFill>
                        <a:srgbClr val="DCE3D6"/>
                      </a:solidFill>
                    </a:lnB>
                    <a:solidFill>
                      <a:srgbClr val="FFFFFF"/>
                    </a:solidFill>
                  </a:tcPr>
                </a:tc>
                <a:tc>
                  <a:txBody>
                    <a:bodyPr wrap="square"/>
                    <a:lstStyle/>
                    <a:p>
                      <a:r>
                        <a:rPr sz="700" b="0">
                          <a:solidFill>
                            <a:srgbClr val="26301F"/>
                          </a:solidFill>
                          <a:latin typeface="Segoe UI"/>
                        </a:rPr>
                        <a:t>A synthetic or borrowed identity at signup</a:t>
                      </a:r>
                    </a:p>
                  </a:txBody>
                  <a:tcPr marL="45720" marR="109728" marT="27432" marB="27432" anchor="ctr">
                    <a:lnB w="9525" cap="flat" cmpd="sng" algn="ctr">
                      <a:solidFill>
                        <a:srgbClr val="DCE3D6"/>
                      </a:solidFill>
                    </a:lnB>
                    <a:solidFill>
                      <a:srgbClr val="FFFFFF"/>
                    </a:solidFill>
                  </a:tcPr>
                </a:tc>
                <a:tc>
                  <a:txBody>
                    <a:bodyPr wrap="square"/>
                    <a:lstStyle/>
                    <a:p>
                      <a:r>
                        <a:rPr sz="700" b="0">
                          <a:solidFill>
                            <a:srgbClr val="26301F"/>
                          </a:solidFill>
                          <a:latin typeface="Segoe UI"/>
                        </a:rPr>
                        <a:t>A circle position with no real person behind it</a:t>
                      </a:r>
                    </a:p>
                  </a:txBody>
                  <a:tcPr marL="45720" marR="109728" marT="27432" marB="27432" anchor="ctr">
                    <a:lnB w="9525" cap="flat" cmpd="sng" algn="ctr">
                      <a:solidFill>
                        <a:srgbClr val="DCE3D6"/>
                      </a:solidFill>
                    </a:lnB>
                    <a:solidFill>
                      <a:srgbClr val="FFFFFF"/>
                    </a:solidFill>
                  </a:tcPr>
                </a:tc>
                <a:tc>
                  <a:txBody>
                    <a:bodyPr wrap="square"/>
                    <a:lstStyle/>
                    <a:p>
                      <a:r>
                        <a:rPr sz="700" b="0">
                          <a:solidFill>
                            <a:srgbClr val="26301F"/>
                          </a:solidFill>
                          <a:latin typeface="Segoe UI"/>
                        </a:rPr>
                        <a:t>Card capture, account title match, national database verification and biometrics, and uniqueness enforced on identity number, telephone number and address</a:t>
                      </a:r>
                    </a:p>
                  </a:txBody>
                  <a:tcPr marL="45720" marR="109728" marT="27432" marB="27432" anchor="ctr">
                    <a:lnB w="9525" cap="flat" cmpd="sng" algn="ctr">
                      <a:solidFill>
                        <a:srgbClr val="DCE3D6"/>
                      </a:solidFill>
                    </a:lnB>
                    <a:solidFill>
                      <a:srgbClr val="FFFFFF"/>
                    </a:solidFill>
                  </a:tcPr>
                </a:tc>
              </a:tr>
              <a:tr h="470880">
                <a:tc>
                  <a:txBody>
                    <a:bodyPr wrap="square"/>
                    <a:lstStyle/>
                    <a:p>
                      <a:r>
                        <a:rPr sz="700" b="0">
                          <a:solidFill>
                            <a:srgbClr val="26301F"/>
                          </a:solidFill>
                          <a:latin typeface="Segoe UI"/>
                        </a:rPr>
                        <a:t>4</a:t>
                      </a:r>
                    </a:p>
                  </a:txBody>
                  <a:tcPr marL="45720" marR="109728" marT="27432" marB="27432" anchor="ctr">
                    <a:lnB w="9525" cap="flat" cmpd="sng" algn="ctr">
                      <a:solidFill>
                        <a:srgbClr val="DCE3D6"/>
                      </a:solidFill>
                    </a:lnB>
                    <a:solidFill>
                      <a:srgbClr val="FFFFFF"/>
                    </a:solidFill>
                  </a:tcPr>
                </a:tc>
                <a:tc>
                  <a:txBody>
                    <a:bodyPr wrap="square"/>
                    <a:lstStyle/>
                    <a:p>
                      <a:r>
                        <a:rPr sz="700" b="0">
                          <a:solidFill>
                            <a:srgbClr val="26301F"/>
                          </a:solidFill>
                          <a:latin typeface="Segoe UI"/>
                        </a:rPr>
                        <a:t>One person assembling an artificial circle</a:t>
                      </a:r>
                    </a:p>
                  </a:txBody>
                  <a:tcPr marL="45720" marR="109728" marT="27432" marB="27432" anchor="ctr">
                    <a:lnB w="9525" cap="flat" cmpd="sng" algn="ctr">
                      <a:solidFill>
                        <a:srgbClr val="DCE3D6"/>
                      </a:solidFill>
                    </a:lnB>
                    <a:solidFill>
                      <a:srgbClr val="FFFFFF"/>
                    </a:solidFill>
                  </a:tcPr>
                </a:tc>
                <a:tc>
                  <a:txBody>
                    <a:bodyPr wrap="square"/>
                    <a:lstStyle/>
                    <a:p>
                      <a:r>
                        <a:rPr sz="700" b="0">
                          <a:solidFill>
                            <a:srgbClr val="26301F"/>
                          </a:solidFill>
                          <a:latin typeface="Segoe UI"/>
                        </a:rPr>
                        <a:t>A pot funded by the cover facility and never repaid</a:t>
                      </a:r>
                    </a:p>
                  </a:txBody>
                  <a:tcPr marL="45720" marR="109728" marT="27432" marB="27432" anchor="ctr">
                    <a:lnB w="9525" cap="flat" cmpd="sng" algn="ctr">
                      <a:solidFill>
                        <a:srgbClr val="DCE3D6"/>
                      </a:solidFill>
                    </a:lnB>
                    <a:solidFill>
                      <a:srgbClr val="FFFFFF"/>
                    </a:solidFill>
                  </a:tcPr>
                </a:tc>
                <a:tc>
                  <a:txBody>
                    <a:bodyPr wrap="square"/>
                    <a:lstStyle/>
                    <a:p>
                      <a:r>
                        <a:rPr sz="700" b="0">
                          <a:solidFill>
                            <a:srgbClr val="26301F"/>
                          </a:solidFill>
                          <a:latin typeface="Segoe UI"/>
                        </a:rPr>
                        <a:t>Host concurrency ceilings, the host link confirmed from both ends, and every new member restricted to the last positions</a:t>
                      </a:r>
                    </a:p>
                  </a:txBody>
                  <a:tcPr marL="45720" marR="109728" marT="27432" marB="27432" anchor="ctr">
                    <a:lnB w="9525" cap="flat" cmpd="sng" algn="ctr">
                      <a:solidFill>
                        <a:srgbClr val="DCE3D6"/>
                      </a:solidFill>
                    </a:lnB>
                    <a:solidFill>
                      <a:srgbClr val="FFFFFF"/>
                    </a:solidFill>
                  </a:tcPr>
                </a:tc>
              </a:tr>
              <a:tr h="470880">
                <a:tc>
                  <a:txBody>
                    <a:bodyPr wrap="square"/>
                    <a:lstStyle/>
                    <a:p>
                      <a:r>
                        <a:rPr sz="700" b="0">
                          <a:solidFill>
                            <a:srgbClr val="26301F"/>
                          </a:solidFill>
                          <a:latin typeface="Segoe UI"/>
                        </a:rPr>
                        <a:t>5</a:t>
                      </a:r>
                    </a:p>
                  </a:txBody>
                  <a:tcPr marL="45720" marR="109728" marT="27432" marB="27432" anchor="ctr">
                    <a:lnB w="9525" cap="flat" cmpd="sng" algn="ctr">
                      <a:solidFill>
                        <a:srgbClr val="DCE3D6"/>
                      </a:solidFill>
                    </a:lnB>
                    <a:solidFill>
                      <a:srgbClr val="FFFFFF"/>
                    </a:solidFill>
                  </a:tcPr>
                </a:tc>
                <a:tc>
                  <a:txBody>
                    <a:bodyPr wrap="square"/>
                    <a:lstStyle/>
                    <a:p>
                      <a:r>
                        <a:rPr sz="700" b="0">
                          <a:solidFill>
                            <a:srgbClr val="26301F"/>
                          </a:solidFill>
                          <a:latin typeface="Segoe UI"/>
                        </a:rPr>
                        <a:t>A double charge or double payout through a retry</a:t>
                      </a:r>
                    </a:p>
                  </a:txBody>
                  <a:tcPr marL="45720" marR="109728" marT="27432" marB="27432" anchor="ctr">
                    <a:lnB w="9525" cap="flat" cmpd="sng" algn="ctr">
                      <a:solidFill>
                        <a:srgbClr val="DCE3D6"/>
                      </a:solidFill>
                    </a:lnB>
                    <a:solidFill>
                      <a:srgbClr val="FFFFFF"/>
                    </a:solidFill>
                  </a:tcPr>
                </a:tc>
                <a:tc>
                  <a:txBody>
                    <a:bodyPr wrap="square"/>
                    <a:lstStyle/>
                    <a:p>
                      <a:r>
                        <a:rPr sz="700" b="0">
                          <a:solidFill>
                            <a:srgbClr val="26301F"/>
                          </a:solidFill>
                          <a:latin typeface="Segoe UI"/>
                        </a:rPr>
                        <a:t>Nothing for an attacker, but a real loss and a real trust failure</a:t>
                      </a:r>
                    </a:p>
                  </a:txBody>
                  <a:tcPr marL="45720" marR="109728" marT="27432" marB="27432" anchor="ctr">
                    <a:lnB w="9525" cap="flat" cmpd="sng" algn="ctr">
                      <a:solidFill>
                        <a:srgbClr val="DCE3D6"/>
                      </a:solidFill>
                    </a:lnB>
                    <a:solidFill>
                      <a:srgbClr val="FFFFFF"/>
                    </a:solidFill>
                  </a:tcPr>
                </a:tc>
                <a:tc>
                  <a:txBody>
                    <a:bodyPr wrap="square"/>
                    <a:lstStyle/>
                    <a:p>
                      <a:r>
                        <a:rPr sz="700" b="0">
                          <a:solidFill>
                            <a:srgbClr val="26301F"/>
                          </a:solidFill>
                          <a:latin typeface="Segoe UI"/>
                        </a:rPr>
                        <a:t>The unique reference on every write, and reconciliation by that reference before anything is retried</a:t>
                      </a:r>
                    </a:p>
                  </a:txBody>
                  <a:tcPr marL="45720" marR="109728" marT="27432" marB="27432" anchor="ctr">
                    <a:lnB w="9525" cap="flat" cmpd="sng" algn="ctr">
                      <a:solidFill>
                        <a:srgbClr val="DCE3D6"/>
                      </a:solidFill>
                    </a:lnB>
                    <a:solidFill>
                      <a:srgbClr val="FFFFFF"/>
                    </a:solidFill>
                  </a:tcPr>
                </a:tc>
              </a:tr>
              <a:tr h="470880">
                <a:tc>
                  <a:txBody>
                    <a:bodyPr wrap="square"/>
                    <a:lstStyle/>
                    <a:p>
                      <a:r>
                        <a:rPr sz="700" b="0">
                          <a:solidFill>
                            <a:srgbClr val="26301F"/>
                          </a:solidFill>
                          <a:latin typeface="Segoe UI"/>
                        </a:rPr>
                        <a:t>6</a:t>
                      </a:r>
                    </a:p>
                  </a:txBody>
                  <a:tcPr marL="45720" marR="109728" marT="27432" marB="27432" anchor="ctr">
                    <a:lnB w="9525" cap="flat" cmpd="sng" algn="ctr">
                      <a:solidFill>
                        <a:srgbClr val="DCE3D6"/>
                      </a:solidFill>
                    </a:lnB>
                    <a:solidFill>
                      <a:srgbClr val="FFFFFF"/>
                    </a:solidFill>
                  </a:tcPr>
                </a:tc>
                <a:tc>
                  <a:txBody>
                    <a:bodyPr wrap="square"/>
                    <a:lstStyle/>
                    <a:p>
                      <a:r>
                        <a:rPr sz="700" b="0">
                          <a:solidFill>
                            <a:srgbClr val="26301F"/>
                          </a:solidFill>
                          <a:latin typeface="Segoe UI"/>
                        </a:rPr>
                        <a:t>Data exfiltration</a:t>
                      </a:r>
                    </a:p>
                  </a:txBody>
                  <a:tcPr marL="45720" marR="109728" marT="27432" marB="27432" anchor="ctr">
                    <a:lnB w="9525" cap="flat" cmpd="sng" algn="ctr">
                      <a:solidFill>
                        <a:srgbClr val="DCE3D6"/>
                      </a:solidFill>
                    </a:lnB>
                    <a:solidFill>
                      <a:srgbClr val="FFFFFF"/>
                    </a:solidFill>
                  </a:tcPr>
                </a:tc>
                <a:tc>
                  <a:txBody>
                    <a:bodyPr wrap="square"/>
                    <a:lstStyle/>
                    <a:p>
                      <a:r>
                        <a:rPr sz="700" b="0">
                          <a:solidFill>
                            <a:srgbClr val="26301F"/>
                          </a:solidFill>
                          <a:latin typeface="Segoe UI"/>
                        </a:rPr>
                        <a:t>Identity numbers and payment histories of every member</a:t>
                      </a:r>
                    </a:p>
                  </a:txBody>
                  <a:tcPr marL="45720" marR="109728" marT="27432" marB="27432" anchor="ctr">
                    <a:lnB w="9525" cap="flat" cmpd="sng" algn="ctr">
                      <a:solidFill>
                        <a:srgbClr val="DCE3D6"/>
                      </a:solidFill>
                    </a:lnB>
                    <a:solidFill>
                      <a:srgbClr val="FFFFFF"/>
                    </a:solidFill>
                  </a:tcPr>
                </a:tc>
                <a:tc>
                  <a:txBody>
                    <a:bodyPr wrap="square"/>
                    <a:lstStyle/>
                    <a:p>
                      <a:r>
                        <a:rPr sz="700" b="0">
                          <a:solidFill>
                            <a:srgbClr val="26301F"/>
                          </a:solidFill>
                          <a:latin typeface="Segoe UI"/>
                        </a:rPr>
                        <a:t>Parameterised database access throughout, no raw biometrics or card numbers stored at all, an append only audit log, and encryption in transit and at rest</a:t>
                      </a:r>
                    </a:p>
                  </a:txBody>
                  <a:tcPr marL="45720" marR="109728" marT="27432" marB="27432" anchor="ctr">
                    <a:lnB w="9525" cap="flat" cmpd="sng" algn="ctr">
                      <a:solidFill>
                        <a:srgbClr val="DCE3D6"/>
                      </a:solidFill>
                    </a:lnB>
                    <a:solidFill>
                      <a:srgbClr val="FFFFFF"/>
                    </a:solidFill>
                  </a:tcPr>
                </a:tc>
              </a:tr>
            </a:tbl>
          </a:graphicData>
        </a:graphic>
      </p:graphicFrame>
    </p:spTree>
  </p:cSld>
  <p:clrMapOvr>
    <a:masterClrMapping/>
  </p:clrMapOvr>
</p:sld>
</file>

<file path=ppt/slides/slide6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777240" y="566928"/>
            <a:ext cx="10637215" cy="219456"/>
          </a:xfrm>
          <a:prstGeom prst="rect">
            <a:avLst/>
          </a:prstGeom>
          <a:noFill/>
        </p:spPr>
        <p:txBody>
          <a:bodyPr wrap="square" lIns="0" rIns="0" tIns="0" bIns="0">
            <a:spAutoFit/>
          </a:bodyPr>
          <a:lstStyle/>
          <a:p>
            <a:pPr algn="l">
              <a:lnSpc>
                <a:spcPct val="125000"/>
              </a:lnSpc>
            </a:pPr>
            <a:r>
              <a:rPr sz="950" b="1" i="0">
                <a:solidFill>
                  <a:srgbClr val="41801A"/>
                </a:solidFill>
                <a:latin typeface="Segoe UI"/>
              </a:rPr>
              <a:t>9  SECURITY</a:t>
            </a:r>
          </a:p>
        </p:txBody>
      </p:sp>
      <p:sp>
        <p:nvSpPr>
          <p:cNvPr id="3" name="TextBox 2"/>
          <p:cNvSpPr txBox="1"/>
          <p:nvPr/>
        </p:nvSpPr>
        <p:spPr>
          <a:xfrm>
            <a:off x="777240" y="841248"/>
            <a:ext cx="10637215" cy="502920"/>
          </a:xfrm>
          <a:prstGeom prst="rect">
            <a:avLst/>
          </a:prstGeom>
          <a:noFill/>
        </p:spPr>
        <p:txBody>
          <a:bodyPr wrap="square" lIns="0" rIns="0" tIns="0" bIns="0">
            <a:spAutoFit/>
          </a:bodyPr>
          <a:lstStyle/>
          <a:p>
            <a:pPr algn="l">
              <a:lnSpc>
                <a:spcPct val="125000"/>
              </a:lnSpc>
            </a:pPr>
            <a:r>
              <a:rPr sz="2700" b="1" i="0">
                <a:solidFill>
                  <a:srgbClr val="0C1408"/>
                </a:solidFill>
                <a:latin typeface="Segoe UI"/>
              </a:rPr>
              <a:t>The controls</a:t>
            </a:r>
          </a:p>
        </p:txBody>
      </p:sp>
      <p:sp>
        <p:nvSpPr>
          <p:cNvPr id="4" name="Rectangle 3"/>
          <p:cNvSpPr/>
          <p:nvPr/>
        </p:nvSpPr>
        <p:spPr>
          <a:xfrm>
            <a:off x="777240" y="1417320"/>
            <a:ext cx="1371600" cy="22860"/>
          </a:xfrm>
          <a:prstGeom prst="rect">
            <a:avLst/>
          </a:prstGeom>
          <a:solidFill>
            <a:srgbClr val="6DC72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777240" y="6382512"/>
            <a:ext cx="3657600" cy="228600"/>
          </a:xfrm>
          <a:prstGeom prst="rect">
            <a:avLst/>
          </a:prstGeom>
          <a:noFill/>
        </p:spPr>
        <p:txBody>
          <a:bodyPr wrap="square" lIns="0" rIns="0" tIns="0" bIns="0">
            <a:spAutoFit/>
          </a:bodyPr>
          <a:lstStyle/>
          <a:p>
            <a:pPr algn="l">
              <a:lnSpc>
                <a:spcPct val="125000"/>
              </a:lnSpc>
            </a:pPr>
            <a:r>
              <a:rPr sz="900" b="0" i="0">
                <a:solidFill>
                  <a:srgbClr val="9AA694"/>
                </a:solidFill>
                <a:latin typeface="Segoe UI"/>
              </a:rPr>
              <a:t>Halqa  ·  Confidential</a:t>
            </a:r>
          </a:p>
        </p:txBody>
      </p:sp>
      <p:sp>
        <p:nvSpPr>
          <p:cNvPr id="6" name="TextBox 5"/>
          <p:cNvSpPr txBox="1"/>
          <p:nvPr/>
        </p:nvSpPr>
        <p:spPr>
          <a:xfrm>
            <a:off x="10728655" y="6382512"/>
            <a:ext cx="685800" cy="228600"/>
          </a:xfrm>
          <a:prstGeom prst="rect">
            <a:avLst/>
          </a:prstGeom>
          <a:noFill/>
        </p:spPr>
        <p:txBody>
          <a:bodyPr wrap="square" lIns="0" rIns="0" tIns="0" bIns="0">
            <a:spAutoFit/>
          </a:bodyPr>
          <a:lstStyle/>
          <a:p>
            <a:pPr algn="r">
              <a:lnSpc>
                <a:spcPct val="125000"/>
              </a:lnSpc>
            </a:pPr>
            <a:r>
              <a:rPr sz="900" b="0" i="0">
                <a:solidFill>
                  <a:srgbClr val="6F7B68"/>
                </a:solidFill>
                <a:latin typeface="Segoe UI"/>
              </a:rPr>
              <a:t>64</a:t>
            </a:r>
          </a:p>
        </p:txBody>
      </p:sp>
      <p:graphicFrame>
        <p:nvGraphicFramePr>
          <p:cNvPr id="7" name="Table 6"/>
          <p:cNvGraphicFramePr>
            <a:graphicFrameLocks noGrp="1"/>
          </p:cNvGraphicFramePr>
          <p:nvPr/>
        </p:nvGraphicFramePr>
        <p:xfrm>
          <a:off x="777240" y="1965960"/>
          <a:ext cx="10607040" cy="3675892"/>
        </p:xfrm>
        <a:graphic>
          <a:graphicData uri="http://schemas.openxmlformats.org/drawingml/2006/table">
            <a:tbl>
              <a:tblPr>
                <a:tableStyleId>{5C22544A-7EE6-4342-B048-85BDC9FD1C3A}</a:tableStyleId>
              </a:tblPr>
              <a:tblGrid>
                <a:gridCol w="1737360"/>
                <a:gridCol w="7315200"/>
                <a:gridCol w="1554480"/>
              </a:tblGrid>
              <a:tr h="334172">
                <a:tc>
                  <a:txBody>
                    <a:bodyPr wrap="square"/>
                    <a:lstStyle/>
                    <a:p>
                      <a:r>
                        <a:rPr sz="750" b="1">
                          <a:solidFill>
                            <a:srgbClr val="41801A"/>
                          </a:solidFill>
                          <a:latin typeface="Segoe UI"/>
                        </a:rPr>
                        <a:t>LAYER</a:t>
                      </a:r>
                    </a:p>
                  </a:txBody>
                  <a:tcPr marL="45720" marR="109728" marT="27432" marB="27432" anchor="ctr">
                    <a:lnB w="9525" cap="flat" cmpd="sng" algn="ctr">
                      <a:solidFill>
                        <a:srgbClr val="41801A"/>
                      </a:solidFill>
                    </a:lnB>
                    <a:solidFill>
                      <a:srgbClr val="FFFFFF"/>
                    </a:solidFill>
                  </a:tcPr>
                </a:tc>
                <a:tc>
                  <a:txBody>
                    <a:bodyPr wrap="square"/>
                    <a:lstStyle/>
                    <a:p>
                      <a:r>
                        <a:rPr sz="750" b="1">
                          <a:solidFill>
                            <a:srgbClr val="41801A"/>
                          </a:solidFill>
                          <a:latin typeface="Segoe UI"/>
                        </a:rPr>
                        <a:t>CONTROL</a:t>
                      </a:r>
                    </a:p>
                  </a:txBody>
                  <a:tcPr marL="45720" marR="109728" marT="27432" marB="27432" anchor="ctr">
                    <a:lnB w="9525" cap="flat" cmpd="sng" algn="ctr">
                      <a:solidFill>
                        <a:srgbClr val="41801A"/>
                      </a:solidFill>
                    </a:lnB>
                    <a:solidFill>
                      <a:srgbClr val="FFFFFF"/>
                    </a:solidFill>
                  </a:tcPr>
                </a:tc>
                <a:tc>
                  <a:txBody>
                    <a:bodyPr wrap="square"/>
                    <a:lstStyle/>
                    <a:p>
                      <a:r>
                        <a:rPr sz="750" b="1">
                          <a:solidFill>
                            <a:srgbClr val="41801A"/>
                          </a:solidFill>
                          <a:latin typeface="Segoe UI"/>
                        </a:rPr>
                        <a:t>STATE</a:t>
                      </a:r>
                    </a:p>
                  </a:txBody>
                  <a:tcPr marL="45720" marR="109728" marT="27432" marB="27432" anchor="ctr">
                    <a:lnB w="9525" cap="flat" cmpd="sng" algn="ctr">
                      <a:solidFill>
                        <a:srgbClr val="41801A"/>
                      </a:solidFill>
                    </a:lnB>
                    <a:solidFill>
                      <a:srgbClr val="FFFFFF"/>
                    </a:solidFill>
                  </a:tcPr>
                </a:tc>
              </a:tr>
              <a:tr h="334172">
                <a:tc>
                  <a:txBody>
                    <a:bodyPr wrap="square"/>
                    <a:lstStyle/>
                    <a:p>
                      <a:r>
                        <a:rPr sz="750" b="0">
                          <a:solidFill>
                            <a:srgbClr val="26301F"/>
                          </a:solidFill>
                          <a:latin typeface="Segoe UI"/>
                        </a:rPr>
                        <a:t>Transport</a:t>
                      </a:r>
                    </a:p>
                  </a:txBody>
                  <a:tcPr marL="45720" marR="109728" marT="27432" marB="27432" anchor="ctr">
                    <a:lnB w="9525" cap="flat" cmpd="sng" algn="ctr">
                      <a:solidFill>
                        <a:srgbClr val="DCE3D6"/>
                      </a:solidFill>
                    </a:lnB>
                    <a:solidFill>
                      <a:srgbClr val="FFFFFF"/>
                    </a:solidFill>
                  </a:tcPr>
                </a:tc>
                <a:tc>
                  <a:txBody>
                    <a:bodyPr wrap="square"/>
                    <a:lstStyle/>
                    <a:p>
                      <a:r>
                        <a:rPr sz="750" b="0">
                          <a:solidFill>
                            <a:srgbClr val="26301F"/>
                          </a:solidFill>
                          <a:latin typeface="Segoe UI"/>
                        </a:rPr>
                        <a:t>Encrypted in transit with strict transport security enforced, and a content security policy on both applications</a:t>
                      </a:r>
                    </a:p>
                  </a:txBody>
                  <a:tcPr marL="45720" marR="109728" marT="27432" marB="27432" anchor="ctr">
                    <a:lnB w="9525" cap="flat" cmpd="sng" algn="ctr">
                      <a:solidFill>
                        <a:srgbClr val="DCE3D6"/>
                      </a:solidFill>
                    </a:lnB>
                    <a:solidFill>
                      <a:srgbClr val="FFFFFF"/>
                    </a:solidFill>
                  </a:tcPr>
                </a:tc>
                <a:tc>
                  <a:txBody>
                    <a:bodyPr wrap="square"/>
                    <a:lstStyle/>
                    <a:p>
                      <a:r>
                        <a:rPr sz="750" b="0">
                          <a:solidFill>
                            <a:srgbClr val="26301F"/>
                          </a:solidFill>
                          <a:latin typeface="Segoe UI"/>
                        </a:rPr>
                        <a:t>Live</a:t>
                      </a:r>
                    </a:p>
                  </a:txBody>
                  <a:tcPr marL="45720" marR="109728" marT="27432" marB="27432" anchor="ctr">
                    <a:lnB w="9525" cap="flat" cmpd="sng" algn="ctr">
                      <a:solidFill>
                        <a:srgbClr val="DCE3D6"/>
                      </a:solidFill>
                    </a:lnB>
                    <a:solidFill>
                      <a:srgbClr val="FFFFFF"/>
                    </a:solidFill>
                  </a:tcPr>
                </a:tc>
              </a:tr>
              <a:tr h="334172">
                <a:tc>
                  <a:txBody>
                    <a:bodyPr wrap="square"/>
                    <a:lstStyle/>
                    <a:p>
                      <a:r>
                        <a:rPr sz="750" b="0">
                          <a:solidFill>
                            <a:srgbClr val="26301F"/>
                          </a:solidFill>
                          <a:latin typeface="Segoe UI"/>
                        </a:rPr>
                        <a:t>Credentials</a:t>
                      </a:r>
                    </a:p>
                  </a:txBody>
                  <a:tcPr marL="45720" marR="109728" marT="27432" marB="27432" anchor="ctr">
                    <a:lnB w="9525" cap="flat" cmpd="sng" algn="ctr">
                      <a:solidFill>
                        <a:srgbClr val="DCE3D6"/>
                      </a:solidFill>
                    </a:lnB>
                    <a:solidFill>
                      <a:srgbClr val="FFFFFF"/>
                    </a:solidFill>
                  </a:tcPr>
                </a:tc>
                <a:tc>
                  <a:txBody>
                    <a:bodyPr wrap="square"/>
                    <a:lstStyle/>
                    <a:p>
                      <a:r>
                        <a:rPr sz="750" b="0">
                          <a:solidFill>
                            <a:srgbClr val="26301F"/>
                          </a:solidFill>
                          <a:latin typeface="Segoe UI"/>
                        </a:rPr>
                        <a:t>Passwords hashed with a deliberately slow algorithm at high cost. Secret strength is asserted when the service boots, so it refuses to start weak</a:t>
                      </a:r>
                    </a:p>
                  </a:txBody>
                  <a:tcPr marL="45720" marR="109728" marT="27432" marB="27432" anchor="ctr">
                    <a:lnB w="9525" cap="flat" cmpd="sng" algn="ctr">
                      <a:solidFill>
                        <a:srgbClr val="DCE3D6"/>
                      </a:solidFill>
                    </a:lnB>
                    <a:solidFill>
                      <a:srgbClr val="FFFFFF"/>
                    </a:solidFill>
                  </a:tcPr>
                </a:tc>
                <a:tc>
                  <a:txBody>
                    <a:bodyPr wrap="square"/>
                    <a:lstStyle/>
                    <a:p>
                      <a:r>
                        <a:rPr sz="750" b="0">
                          <a:solidFill>
                            <a:srgbClr val="26301F"/>
                          </a:solidFill>
                          <a:latin typeface="Segoe UI"/>
                        </a:rPr>
                        <a:t>Live</a:t>
                      </a:r>
                    </a:p>
                  </a:txBody>
                  <a:tcPr marL="45720" marR="109728" marT="27432" marB="27432" anchor="ctr">
                    <a:lnB w="9525" cap="flat" cmpd="sng" algn="ctr">
                      <a:solidFill>
                        <a:srgbClr val="DCE3D6"/>
                      </a:solidFill>
                    </a:lnB>
                    <a:solidFill>
                      <a:srgbClr val="FFFFFF"/>
                    </a:solidFill>
                  </a:tcPr>
                </a:tc>
              </a:tr>
              <a:tr h="334172">
                <a:tc>
                  <a:txBody>
                    <a:bodyPr wrap="square"/>
                    <a:lstStyle/>
                    <a:p>
                      <a:r>
                        <a:rPr sz="750" b="0">
                          <a:solidFill>
                            <a:srgbClr val="26301F"/>
                          </a:solidFill>
                          <a:latin typeface="Segoe UI"/>
                        </a:rPr>
                        <a:t>Sessions</a:t>
                      </a:r>
                    </a:p>
                  </a:txBody>
                  <a:tcPr marL="45720" marR="109728" marT="27432" marB="27432" anchor="ctr">
                    <a:lnB w="9525" cap="flat" cmpd="sng" algn="ctr">
                      <a:solidFill>
                        <a:srgbClr val="DCE3D6"/>
                      </a:solidFill>
                    </a:lnB>
                    <a:solidFill>
                      <a:srgbClr val="FFFFFF"/>
                    </a:solidFill>
                  </a:tcPr>
                </a:tc>
                <a:tc>
                  <a:txBody>
                    <a:bodyPr wrap="square"/>
                    <a:lstStyle/>
                    <a:p>
                      <a:r>
                        <a:rPr sz="750" b="0">
                          <a:solidFill>
                            <a:srgbClr val="26301F"/>
                          </a:solidFill>
                          <a:latin typeface="Segoe UI"/>
                        </a:rPr>
                        <a:t>Short lived access tokens with rotating refresh tokens. Reusing an old refresh token burns the whole family, so a stolen token cannot be replayed</a:t>
                      </a:r>
                    </a:p>
                  </a:txBody>
                  <a:tcPr marL="45720" marR="109728" marT="27432" marB="27432" anchor="ctr">
                    <a:lnB w="9525" cap="flat" cmpd="sng" algn="ctr">
                      <a:solidFill>
                        <a:srgbClr val="DCE3D6"/>
                      </a:solidFill>
                    </a:lnB>
                    <a:solidFill>
                      <a:srgbClr val="FFFFFF"/>
                    </a:solidFill>
                  </a:tcPr>
                </a:tc>
                <a:tc>
                  <a:txBody>
                    <a:bodyPr wrap="square"/>
                    <a:lstStyle/>
                    <a:p>
                      <a:r>
                        <a:rPr sz="750" b="0">
                          <a:solidFill>
                            <a:srgbClr val="26301F"/>
                          </a:solidFill>
                          <a:latin typeface="Segoe UI"/>
                        </a:rPr>
                        <a:t>Live</a:t>
                      </a:r>
                    </a:p>
                  </a:txBody>
                  <a:tcPr marL="45720" marR="109728" marT="27432" marB="27432" anchor="ctr">
                    <a:lnB w="9525" cap="flat" cmpd="sng" algn="ctr">
                      <a:solidFill>
                        <a:srgbClr val="DCE3D6"/>
                      </a:solidFill>
                    </a:lnB>
                    <a:solidFill>
                      <a:srgbClr val="FFFFFF"/>
                    </a:solidFill>
                  </a:tcPr>
                </a:tc>
              </a:tr>
              <a:tr h="334172">
                <a:tc>
                  <a:txBody>
                    <a:bodyPr wrap="square"/>
                    <a:lstStyle/>
                    <a:p>
                      <a:r>
                        <a:rPr sz="750" b="0">
                          <a:solidFill>
                            <a:srgbClr val="26301F"/>
                          </a:solidFill>
                          <a:latin typeface="Segoe UI"/>
                        </a:rPr>
                        <a:t>Second factor</a:t>
                      </a:r>
                    </a:p>
                  </a:txBody>
                  <a:tcPr marL="45720" marR="109728" marT="27432" marB="27432" anchor="ctr">
                    <a:lnB w="9525" cap="flat" cmpd="sng" algn="ctr">
                      <a:solidFill>
                        <a:srgbClr val="DCE3D6"/>
                      </a:solidFill>
                    </a:lnB>
                    <a:solidFill>
                      <a:srgbClr val="FFFFFF"/>
                    </a:solidFill>
                  </a:tcPr>
                </a:tc>
                <a:tc>
                  <a:txBody>
                    <a:bodyPr wrap="square"/>
                    <a:lstStyle/>
                    <a:p>
                      <a:r>
                        <a:rPr sz="750" b="0">
                          <a:solidFill>
                            <a:srgbClr val="26301F"/>
                          </a:solidFill>
                          <a:latin typeface="Segoe UI"/>
                        </a:rPr>
                        <a:t>The application PIN on every open, every commitment to a circle, every exit request and every payout release, separate from the password</a:t>
                      </a:r>
                    </a:p>
                  </a:txBody>
                  <a:tcPr marL="45720" marR="109728" marT="27432" marB="27432" anchor="ctr">
                    <a:lnB w="9525" cap="flat" cmpd="sng" algn="ctr">
                      <a:solidFill>
                        <a:srgbClr val="DCE3D6"/>
                      </a:solidFill>
                    </a:lnB>
                    <a:solidFill>
                      <a:srgbClr val="FFFFFF"/>
                    </a:solidFill>
                  </a:tcPr>
                </a:tc>
                <a:tc>
                  <a:txBody>
                    <a:bodyPr wrap="square"/>
                    <a:lstStyle/>
                    <a:p>
                      <a:r>
                        <a:rPr sz="750" b="0">
                          <a:solidFill>
                            <a:srgbClr val="26301F"/>
                          </a:solidFill>
                          <a:latin typeface="Segoe UI"/>
                        </a:rPr>
                        <a:t>Live</a:t>
                      </a:r>
                    </a:p>
                  </a:txBody>
                  <a:tcPr marL="45720" marR="109728" marT="27432" marB="27432" anchor="ctr">
                    <a:lnB w="9525" cap="flat" cmpd="sng" algn="ctr">
                      <a:solidFill>
                        <a:srgbClr val="DCE3D6"/>
                      </a:solidFill>
                    </a:lnB>
                    <a:solidFill>
                      <a:srgbClr val="FFFFFF"/>
                    </a:solidFill>
                  </a:tcPr>
                </a:tc>
              </a:tr>
              <a:tr h="334172">
                <a:tc>
                  <a:txBody>
                    <a:bodyPr wrap="square"/>
                    <a:lstStyle/>
                    <a:p>
                      <a:r>
                        <a:rPr sz="750" b="0">
                          <a:solidFill>
                            <a:srgbClr val="26301F"/>
                          </a:solidFill>
                          <a:latin typeface="Segoe UI"/>
                        </a:rPr>
                        <a:t>Device biometric</a:t>
                      </a:r>
                    </a:p>
                  </a:txBody>
                  <a:tcPr marL="45720" marR="109728" marT="27432" marB="27432" anchor="ctr">
                    <a:lnB w="9525" cap="flat" cmpd="sng" algn="ctr">
                      <a:solidFill>
                        <a:srgbClr val="DCE3D6"/>
                      </a:solidFill>
                    </a:lnB>
                    <a:solidFill>
                      <a:srgbClr val="FFFFFF"/>
                    </a:solidFill>
                  </a:tcPr>
                </a:tc>
                <a:tc>
                  <a:txBody>
                    <a:bodyPr wrap="square"/>
                    <a:lstStyle/>
                    <a:p>
                      <a:r>
                        <a:rPr sz="750" b="0">
                          <a:solidFill>
                            <a:srgbClr val="26301F"/>
                          </a:solidFill>
                          <a:latin typeface="Segoe UI"/>
                        </a:rPr>
                        <a:t>Layered on the PIN where the handset supports it. It never leaves the device and is neither transmitted nor stored</a:t>
                      </a:r>
                    </a:p>
                  </a:txBody>
                  <a:tcPr marL="45720" marR="109728" marT="27432" marB="27432" anchor="ctr">
                    <a:lnB w="9525" cap="flat" cmpd="sng" algn="ctr">
                      <a:solidFill>
                        <a:srgbClr val="DCE3D6"/>
                      </a:solidFill>
                    </a:lnB>
                    <a:solidFill>
                      <a:srgbClr val="FFFFFF"/>
                    </a:solidFill>
                  </a:tcPr>
                </a:tc>
                <a:tc>
                  <a:txBody>
                    <a:bodyPr wrap="square"/>
                    <a:lstStyle/>
                    <a:p>
                      <a:r>
                        <a:rPr sz="750" b="0">
                          <a:solidFill>
                            <a:srgbClr val="26301F"/>
                          </a:solidFill>
                          <a:latin typeface="Segoe UI"/>
                        </a:rPr>
                        <a:t>Live</a:t>
                      </a:r>
                    </a:p>
                  </a:txBody>
                  <a:tcPr marL="45720" marR="109728" marT="27432" marB="27432" anchor="ctr">
                    <a:lnB w="9525" cap="flat" cmpd="sng" algn="ctr">
                      <a:solidFill>
                        <a:srgbClr val="DCE3D6"/>
                      </a:solidFill>
                    </a:lnB>
                    <a:solidFill>
                      <a:srgbClr val="FFFFFF"/>
                    </a:solidFill>
                  </a:tcPr>
                </a:tc>
              </a:tr>
              <a:tr h="334172">
                <a:tc>
                  <a:txBody>
                    <a:bodyPr wrap="square"/>
                    <a:lstStyle/>
                    <a:p>
                      <a:r>
                        <a:rPr sz="750" b="0">
                          <a:solidFill>
                            <a:srgbClr val="26301F"/>
                          </a:solidFill>
                          <a:latin typeface="Segoe UI"/>
                        </a:rPr>
                        <a:t>Brute force</a:t>
                      </a:r>
                    </a:p>
                  </a:txBody>
                  <a:tcPr marL="45720" marR="109728" marT="27432" marB="27432" anchor="ctr">
                    <a:lnB w="9525" cap="flat" cmpd="sng" algn="ctr">
                      <a:solidFill>
                        <a:srgbClr val="DCE3D6"/>
                      </a:solidFill>
                    </a:lnB>
                    <a:solidFill>
                      <a:srgbClr val="FFFFFF"/>
                    </a:solidFill>
                  </a:tcPr>
                </a:tc>
                <a:tc>
                  <a:txBody>
                    <a:bodyPr wrap="square"/>
                    <a:lstStyle/>
                    <a:p>
                      <a:r>
                        <a:rPr sz="750" b="0">
                          <a:solidFill>
                            <a:srgbClr val="26301F"/>
                          </a:solidFill>
                          <a:latin typeface="Segoe UI"/>
                        </a:rPr>
                        <a:t>Five failed attempts locks the account for fifteen minutes. Thirty in fifteen minutes is blocked outright. Login timing is constant, so accounts cannot be enumerated by watching response times</a:t>
                      </a:r>
                    </a:p>
                  </a:txBody>
                  <a:tcPr marL="45720" marR="109728" marT="27432" marB="27432" anchor="ctr">
                    <a:lnB w="9525" cap="flat" cmpd="sng" algn="ctr">
                      <a:solidFill>
                        <a:srgbClr val="DCE3D6"/>
                      </a:solidFill>
                    </a:lnB>
                    <a:solidFill>
                      <a:srgbClr val="FFFFFF"/>
                    </a:solidFill>
                  </a:tcPr>
                </a:tc>
                <a:tc>
                  <a:txBody>
                    <a:bodyPr wrap="square"/>
                    <a:lstStyle/>
                    <a:p>
                      <a:r>
                        <a:rPr sz="750" b="0">
                          <a:solidFill>
                            <a:srgbClr val="26301F"/>
                          </a:solidFill>
                          <a:latin typeface="Segoe UI"/>
                        </a:rPr>
                        <a:t>Live</a:t>
                      </a:r>
                    </a:p>
                  </a:txBody>
                  <a:tcPr marL="45720" marR="109728" marT="27432" marB="27432" anchor="ctr">
                    <a:lnB w="9525" cap="flat" cmpd="sng" algn="ctr">
                      <a:solidFill>
                        <a:srgbClr val="DCE3D6"/>
                      </a:solidFill>
                    </a:lnB>
                    <a:solidFill>
                      <a:srgbClr val="FFFFFF"/>
                    </a:solidFill>
                  </a:tcPr>
                </a:tc>
              </a:tr>
              <a:tr h="334172">
                <a:tc>
                  <a:txBody>
                    <a:bodyPr wrap="square"/>
                    <a:lstStyle/>
                    <a:p>
                      <a:r>
                        <a:rPr sz="750" b="0">
                          <a:solidFill>
                            <a:srgbClr val="26301F"/>
                          </a:solidFill>
                          <a:latin typeface="Segoe UI"/>
                        </a:rPr>
                        <a:t>Injection</a:t>
                      </a:r>
                    </a:p>
                  </a:txBody>
                  <a:tcPr marL="45720" marR="109728" marT="27432" marB="27432" anchor="ctr">
                    <a:lnB w="9525" cap="flat" cmpd="sng" algn="ctr">
                      <a:solidFill>
                        <a:srgbClr val="DCE3D6"/>
                      </a:solidFill>
                    </a:lnB>
                    <a:solidFill>
                      <a:srgbClr val="FFFFFF"/>
                    </a:solidFill>
                  </a:tcPr>
                </a:tc>
                <a:tc>
                  <a:txBody>
                    <a:bodyPr wrap="square"/>
                    <a:lstStyle/>
                    <a:p>
                      <a:r>
                        <a:rPr sz="750" b="0">
                          <a:solidFill>
                            <a:srgbClr val="26301F"/>
                          </a:solidFill>
                          <a:latin typeface="Segoe UI"/>
                        </a:rPr>
                        <a:t>Every database query is parameterised through a typed layer, so building a query by joining strings together is structurally unavailable rather than merely discouraged</a:t>
                      </a:r>
                    </a:p>
                  </a:txBody>
                  <a:tcPr marL="45720" marR="109728" marT="27432" marB="27432" anchor="ctr">
                    <a:lnB w="9525" cap="flat" cmpd="sng" algn="ctr">
                      <a:solidFill>
                        <a:srgbClr val="DCE3D6"/>
                      </a:solidFill>
                    </a:lnB>
                    <a:solidFill>
                      <a:srgbClr val="FFFFFF"/>
                    </a:solidFill>
                  </a:tcPr>
                </a:tc>
                <a:tc>
                  <a:txBody>
                    <a:bodyPr wrap="square"/>
                    <a:lstStyle/>
                    <a:p>
                      <a:r>
                        <a:rPr sz="750" b="0">
                          <a:solidFill>
                            <a:srgbClr val="26301F"/>
                          </a:solidFill>
                          <a:latin typeface="Segoe UI"/>
                        </a:rPr>
                        <a:t>Live</a:t>
                      </a:r>
                    </a:p>
                  </a:txBody>
                  <a:tcPr marL="45720" marR="109728" marT="27432" marB="27432" anchor="ctr">
                    <a:lnB w="9525" cap="flat" cmpd="sng" algn="ctr">
                      <a:solidFill>
                        <a:srgbClr val="DCE3D6"/>
                      </a:solidFill>
                    </a:lnB>
                    <a:solidFill>
                      <a:srgbClr val="FFFFFF"/>
                    </a:solidFill>
                  </a:tcPr>
                </a:tc>
              </a:tr>
              <a:tr h="334172">
                <a:tc>
                  <a:txBody>
                    <a:bodyPr wrap="square"/>
                    <a:lstStyle/>
                    <a:p>
                      <a:r>
                        <a:rPr sz="750" b="0">
                          <a:solidFill>
                            <a:srgbClr val="26301F"/>
                          </a:solidFill>
                          <a:latin typeface="Segoe UI"/>
                        </a:rPr>
                        <a:t>Audit</a:t>
                      </a:r>
                    </a:p>
                  </a:txBody>
                  <a:tcPr marL="45720" marR="109728" marT="27432" marB="27432" anchor="ctr">
                    <a:lnB w="9525" cap="flat" cmpd="sng" algn="ctr">
                      <a:solidFill>
                        <a:srgbClr val="DCE3D6"/>
                      </a:solidFill>
                    </a:lnB>
                    <a:solidFill>
                      <a:srgbClr val="FFFFFF"/>
                    </a:solidFill>
                  </a:tcPr>
                </a:tc>
                <a:tc>
                  <a:txBody>
                    <a:bodyPr wrap="square"/>
                    <a:lstStyle/>
                    <a:p>
                      <a:r>
                        <a:rPr sz="750" b="0">
                          <a:solidFill>
                            <a:srgbClr val="26301F"/>
                          </a:solidFill>
                          <a:latin typeface="Segoe UI"/>
                        </a:rPr>
                        <a:t>An append only audit log and a separate security event table. Every consent, signature and administrative action carries an actor and a timestamp</a:t>
                      </a:r>
                    </a:p>
                  </a:txBody>
                  <a:tcPr marL="45720" marR="109728" marT="27432" marB="27432" anchor="ctr">
                    <a:lnB w="9525" cap="flat" cmpd="sng" algn="ctr">
                      <a:solidFill>
                        <a:srgbClr val="DCE3D6"/>
                      </a:solidFill>
                    </a:lnB>
                    <a:solidFill>
                      <a:srgbClr val="FFFFFF"/>
                    </a:solidFill>
                  </a:tcPr>
                </a:tc>
                <a:tc>
                  <a:txBody>
                    <a:bodyPr wrap="square"/>
                    <a:lstStyle/>
                    <a:p>
                      <a:r>
                        <a:rPr sz="750" b="0">
                          <a:solidFill>
                            <a:srgbClr val="26301F"/>
                          </a:solidFill>
                          <a:latin typeface="Segoe UI"/>
                        </a:rPr>
                        <a:t>Live</a:t>
                      </a:r>
                    </a:p>
                  </a:txBody>
                  <a:tcPr marL="45720" marR="109728" marT="27432" marB="27432" anchor="ctr">
                    <a:lnB w="9525" cap="flat" cmpd="sng" algn="ctr">
                      <a:solidFill>
                        <a:srgbClr val="DCE3D6"/>
                      </a:solidFill>
                    </a:lnB>
                    <a:solidFill>
                      <a:srgbClr val="FFFFFF"/>
                    </a:solidFill>
                  </a:tcPr>
                </a:tc>
              </a:tr>
              <a:tr h="334172">
                <a:tc>
                  <a:txBody>
                    <a:bodyPr wrap="square"/>
                    <a:lstStyle/>
                    <a:p>
                      <a:r>
                        <a:rPr sz="750" b="0">
                          <a:solidFill>
                            <a:srgbClr val="26301F"/>
                          </a:solidFill>
                          <a:latin typeface="Segoe UI"/>
                        </a:rPr>
                        <a:t>Dependencies</a:t>
                      </a:r>
                    </a:p>
                  </a:txBody>
                  <a:tcPr marL="45720" marR="109728" marT="27432" marB="27432" anchor="ctr">
                    <a:lnB w="9525" cap="flat" cmpd="sng" algn="ctr">
                      <a:solidFill>
                        <a:srgbClr val="DCE3D6"/>
                      </a:solidFill>
                    </a:lnB>
                    <a:solidFill>
                      <a:srgbClr val="FFFFFF"/>
                    </a:solidFill>
                  </a:tcPr>
                </a:tc>
                <a:tc>
                  <a:txBody>
                    <a:bodyPr wrap="square"/>
                    <a:lstStyle/>
                    <a:p>
                      <a:r>
                        <a:rPr sz="750" b="0">
                          <a:solidFill>
                            <a:srgbClr val="26301F"/>
                          </a:solidFill>
                          <a:latin typeface="Segoe UI"/>
                        </a:rPr>
                        <a:t>No known vulnerabilities in the application packages at the last check</a:t>
                      </a:r>
                    </a:p>
                  </a:txBody>
                  <a:tcPr marL="45720" marR="109728" marT="27432" marB="27432" anchor="ctr">
                    <a:lnB w="9525" cap="flat" cmpd="sng" algn="ctr">
                      <a:solidFill>
                        <a:srgbClr val="DCE3D6"/>
                      </a:solidFill>
                    </a:lnB>
                    <a:solidFill>
                      <a:srgbClr val="FFFFFF"/>
                    </a:solidFill>
                  </a:tcPr>
                </a:tc>
                <a:tc>
                  <a:txBody>
                    <a:bodyPr wrap="square"/>
                    <a:lstStyle/>
                    <a:p>
                      <a:r>
                        <a:rPr sz="750" b="0">
                          <a:solidFill>
                            <a:srgbClr val="26301F"/>
                          </a:solidFill>
                          <a:latin typeface="Segoe UI"/>
                        </a:rPr>
                        <a:t>Live</a:t>
                      </a:r>
                    </a:p>
                  </a:txBody>
                  <a:tcPr marL="45720" marR="109728" marT="27432" marB="27432" anchor="ctr">
                    <a:lnB w="9525" cap="flat" cmpd="sng" algn="ctr">
                      <a:solidFill>
                        <a:srgbClr val="DCE3D6"/>
                      </a:solidFill>
                    </a:lnB>
                    <a:solidFill>
                      <a:srgbClr val="FFFFFF"/>
                    </a:solidFill>
                  </a:tcPr>
                </a:tc>
              </a:tr>
              <a:tr h="334172">
                <a:tc>
                  <a:txBody>
                    <a:bodyPr wrap="square"/>
                    <a:lstStyle/>
                    <a:p>
                      <a:r>
                        <a:rPr sz="750" b="0">
                          <a:solidFill>
                            <a:srgbClr val="26301F"/>
                          </a:solidFill>
                          <a:latin typeface="Segoe UI"/>
                        </a:rPr>
                        <a:t>Independent assurance</a:t>
                      </a:r>
                    </a:p>
                  </a:txBody>
                  <a:tcPr marL="45720" marR="109728" marT="27432" marB="27432" anchor="ctr">
                    <a:lnB w="9525" cap="flat" cmpd="sng" algn="ctr">
                      <a:solidFill>
                        <a:srgbClr val="DCE3D6"/>
                      </a:solidFill>
                    </a:lnB>
                    <a:solidFill>
                      <a:srgbClr val="FFFFFF"/>
                    </a:solidFill>
                  </a:tcPr>
                </a:tc>
                <a:tc>
                  <a:txBody>
                    <a:bodyPr wrap="square"/>
                    <a:lstStyle/>
                    <a:p>
                      <a:r>
                        <a:rPr sz="750" b="0">
                          <a:solidFill>
                            <a:srgbClr val="26301F"/>
                          </a:solidFill>
                          <a:latin typeface="Segoe UI"/>
                        </a:rPr>
                        <a:t>External penetration test and a formal secure code review</a:t>
                      </a:r>
                    </a:p>
                  </a:txBody>
                  <a:tcPr marL="45720" marR="109728" marT="27432" marB="27432" anchor="ctr">
                    <a:lnB w="9525" cap="flat" cmpd="sng" algn="ctr">
                      <a:solidFill>
                        <a:srgbClr val="DCE3D6"/>
                      </a:solidFill>
                    </a:lnB>
                    <a:solidFill>
                      <a:srgbClr val="FFFFFF"/>
                    </a:solidFill>
                  </a:tcPr>
                </a:tc>
                <a:tc>
                  <a:txBody>
                    <a:bodyPr wrap="square"/>
                    <a:lstStyle/>
                    <a:p>
                      <a:r>
                        <a:rPr sz="750" b="0">
                          <a:solidFill>
                            <a:srgbClr val="26301F"/>
                          </a:solidFill>
                          <a:latin typeface="Segoe UI"/>
                        </a:rPr>
                        <a:t>Before public launch</a:t>
                      </a:r>
                    </a:p>
                  </a:txBody>
                  <a:tcPr marL="45720" marR="109728" marT="27432" marB="27432" anchor="ctr">
                    <a:lnB w="9525" cap="flat" cmpd="sng" algn="ctr">
                      <a:solidFill>
                        <a:srgbClr val="DCE3D6"/>
                      </a:solidFill>
                    </a:lnB>
                    <a:solidFill>
                      <a:srgbClr val="FFFFFF"/>
                    </a:solidFill>
                  </a:tcPr>
                </a:tc>
              </a:tr>
            </a:tbl>
          </a:graphicData>
        </a:graphic>
      </p:graphicFrame>
      <p:sp>
        <p:nvSpPr>
          <p:cNvPr id="8" name="TextBox 7"/>
          <p:cNvSpPr txBox="1"/>
          <p:nvPr/>
        </p:nvSpPr>
        <p:spPr>
          <a:xfrm>
            <a:off x="777240" y="5824732"/>
            <a:ext cx="10637215" cy="731520"/>
          </a:xfrm>
          <a:prstGeom prst="rect">
            <a:avLst/>
          </a:prstGeom>
          <a:noFill/>
        </p:spPr>
        <p:txBody>
          <a:bodyPr wrap="square" lIns="0" rIns="0" tIns="0" bIns="0">
            <a:spAutoFit/>
          </a:bodyPr>
          <a:lstStyle/>
          <a:p>
            <a:pPr algn="l">
              <a:lnSpc>
                <a:spcPct val="140000"/>
              </a:lnSpc>
            </a:pPr>
            <a:r>
              <a:rPr sz="1150" b="0" i="0">
                <a:solidFill>
                  <a:srgbClr val="6F7B68"/>
                </a:solidFill>
                <a:latin typeface="Segoe UI"/>
              </a:rPr>
              <a:t>Posture assessed internally at B plus. The gap to A is the two items marked before launch, and they are named here rather than left out.</a:t>
            </a:r>
          </a:p>
        </p:txBody>
      </p:sp>
    </p:spTree>
  </p:cSld>
  <p:clrMapOvr>
    <a:masterClrMapping/>
  </p:clrMapOvr>
</p:sld>
</file>

<file path=ppt/slides/slide6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777240" y="566928"/>
            <a:ext cx="10637215" cy="219456"/>
          </a:xfrm>
          <a:prstGeom prst="rect">
            <a:avLst/>
          </a:prstGeom>
          <a:noFill/>
        </p:spPr>
        <p:txBody>
          <a:bodyPr wrap="square" lIns="0" rIns="0" tIns="0" bIns="0">
            <a:spAutoFit/>
          </a:bodyPr>
          <a:lstStyle/>
          <a:p>
            <a:pPr algn="l">
              <a:lnSpc>
                <a:spcPct val="125000"/>
              </a:lnSpc>
            </a:pPr>
            <a:r>
              <a:rPr sz="950" b="1" i="0">
                <a:solidFill>
                  <a:srgbClr val="41801A"/>
                </a:solidFill>
                <a:latin typeface="Segoe UI"/>
              </a:rPr>
              <a:t>9  SECURITY</a:t>
            </a:r>
          </a:p>
        </p:txBody>
      </p:sp>
      <p:sp>
        <p:nvSpPr>
          <p:cNvPr id="3" name="TextBox 2"/>
          <p:cNvSpPr txBox="1"/>
          <p:nvPr/>
        </p:nvSpPr>
        <p:spPr>
          <a:xfrm>
            <a:off x="777240" y="841248"/>
            <a:ext cx="10637215" cy="502920"/>
          </a:xfrm>
          <a:prstGeom prst="rect">
            <a:avLst/>
          </a:prstGeom>
          <a:noFill/>
        </p:spPr>
        <p:txBody>
          <a:bodyPr wrap="square" lIns="0" rIns="0" tIns="0" bIns="0">
            <a:spAutoFit/>
          </a:bodyPr>
          <a:lstStyle/>
          <a:p>
            <a:pPr algn="l">
              <a:lnSpc>
                <a:spcPct val="125000"/>
              </a:lnSpc>
            </a:pPr>
            <a:r>
              <a:rPr sz="2700" b="1" i="0">
                <a:solidFill>
                  <a:srgbClr val="0C1408"/>
                </a:solidFill>
                <a:latin typeface="Segoe UI"/>
              </a:rPr>
              <a:t>What we refuse to collect</a:t>
            </a:r>
          </a:p>
        </p:txBody>
      </p:sp>
      <p:sp>
        <p:nvSpPr>
          <p:cNvPr id="4" name="Rectangle 3"/>
          <p:cNvSpPr/>
          <p:nvPr/>
        </p:nvSpPr>
        <p:spPr>
          <a:xfrm>
            <a:off x="777240" y="1417320"/>
            <a:ext cx="1371600" cy="22860"/>
          </a:xfrm>
          <a:prstGeom prst="rect">
            <a:avLst/>
          </a:prstGeom>
          <a:solidFill>
            <a:srgbClr val="6DC72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777240" y="6382512"/>
            <a:ext cx="3657600" cy="228600"/>
          </a:xfrm>
          <a:prstGeom prst="rect">
            <a:avLst/>
          </a:prstGeom>
          <a:noFill/>
        </p:spPr>
        <p:txBody>
          <a:bodyPr wrap="square" lIns="0" rIns="0" tIns="0" bIns="0">
            <a:spAutoFit/>
          </a:bodyPr>
          <a:lstStyle/>
          <a:p>
            <a:pPr algn="l">
              <a:lnSpc>
                <a:spcPct val="125000"/>
              </a:lnSpc>
            </a:pPr>
            <a:r>
              <a:rPr sz="900" b="0" i="0">
                <a:solidFill>
                  <a:srgbClr val="9AA694"/>
                </a:solidFill>
                <a:latin typeface="Segoe UI"/>
              </a:rPr>
              <a:t>Halqa  ·  Confidential</a:t>
            </a:r>
          </a:p>
        </p:txBody>
      </p:sp>
      <p:sp>
        <p:nvSpPr>
          <p:cNvPr id="6" name="TextBox 5"/>
          <p:cNvSpPr txBox="1"/>
          <p:nvPr/>
        </p:nvSpPr>
        <p:spPr>
          <a:xfrm>
            <a:off x="10728655" y="6382512"/>
            <a:ext cx="685800" cy="228600"/>
          </a:xfrm>
          <a:prstGeom prst="rect">
            <a:avLst/>
          </a:prstGeom>
          <a:noFill/>
        </p:spPr>
        <p:txBody>
          <a:bodyPr wrap="square" lIns="0" rIns="0" tIns="0" bIns="0">
            <a:spAutoFit/>
          </a:bodyPr>
          <a:lstStyle/>
          <a:p>
            <a:pPr algn="r">
              <a:lnSpc>
                <a:spcPct val="125000"/>
              </a:lnSpc>
            </a:pPr>
            <a:r>
              <a:rPr sz="900" b="0" i="0">
                <a:solidFill>
                  <a:srgbClr val="6F7B68"/>
                </a:solidFill>
                <a:latin typeface="Segoe UI"/>
              </a:rPr>
              <a:t>65</a:t>
            </a:r>
          </a:p>
        </p:txBody>
      </p:sp>
      <p:sp>
        <p:nvSpPr>
          <p:cNvPr id="7" name="TextBox 6"/>
          <p:cNvSpPr txBox="1"/>
          <p:nvPr/>
        </p:nvSpPr>
        <p:spPr>
          <a:xfrm>
            <a:off x="777240" y="1965960"/>
            <a:ext cx="10607040" cy="777240"/>
          </a:xfrm>
          <a:prstGeom prst="rect">
            <a:avLst/>
          </a:prstGeom>
          <a:noFill/>
        </p:spPr>
        <p:txBody>
          <a:bodyPr wrap="square" lIns="0" rIns="0" tIns="0" bIns="0">
            <a:spAutoFit/>
          </a:bodyPr>
          <a:lstStyle/>
          <a:p>
            <a:pPr algn="l">
              <a:lnSpc>
                <a:spcPct val="150000"/>
              </a:lnSpc>
            </a:pPr>
            <a:r>
              <a:rPr sz="1350" b="0" i="0">
                <a:solidFill>
                  <a:srgbClr val="26301F"/>
                </a:solidFill>
                <a:latin typeface="Segoe UI"/>
              </a:rPr>
              <a:t>Roughly four hundred lending applications were removed from Pakistani app stores for the permissions they demanded rather than for the money they lent. Every item below would improve Halqa's underwriting, and every one is refused, because the cost of holding it is delisting, a regulator, or both.</a:t>
            </a:r>
          </a:p>
        </p:txBody>
      </p:sp>
      <p:graphicFrame>
        <p:nvGraphicFramePr>
          <p:cNvPr id="8" name="Table 7"/>
          <p:cNvGraphicFramePr>
            <a:graphicFrameLocks noGrp="1"/>
          </p:cNvGraphicFramePr>
          <p:nvPr/>
        </p:nvGraphicFramePr>
        <p:xfrm>
          <a:off x="777240" y="2971800"/>
          <a:ext cx="10607040" cy="2576936"/>
        </p:xfrm>
        <a:graphic>
          <a:graphicData uri="http://schemas.openxmlformats.org/drawingml/2006/table">
            <a:tbl>
              <a:tblPr>
                <a:tableStyleId>{5C22544A-7EE6-4342-B048-85BDC9FD1C3A}</a:tableStyleId>
              </a:tblPr>
              <a:tblGrid>
                <a:gridCol w="2651760"/>
                <a:gridCol w="3566160"/>
                <a:gridCol w="4389120"/>
              </a:tblGrid>
              <a:tr h="322117">
                <a:tc>
                  <a:txBody>
                    <a:bodyPr wrap="square"/>
                    <a:lstStyle/>
                    <a:p>
                      <a:r>
                        <a:rPr sz="700" b="1">
                          <a:solidFill>
                            <a:srgbClr val="41801A"/>
                          </a:solidFill>
                          <a:latin typeface="Segoe UI"/>
                        </a:rPr>
                        <a:t>REFUSED</a:t>
                      </a:r>
                    </a:p>
                  </a:txBody>
                  <a:tcPr marL="45720" marR="109728" marT="27432" marB="27432" anchor="ctr">
                    <a:lnB w="9525" cap="flat" cmpd="sng" algn="ctr">
                      <a:solidFill>
                        <a:srgbClr val="41801A"/>
                      </a:solidFill>
                    </a:lnB>
                    <a:solidFill>
                      <a:srgbClr val="FFFFFF"/>
                    </a:solidFill>
                  </a:tcPr>
                </a:tc>
                <a:tc>
                  <a:txBody>
                    <a:bodyPr wrap="square"/>
                    <a:lstStyle/>
                    <a:p>
                      <a:r>
                        <a:rPr sz="700" b="1">
                          <a:solidFill>
                            <a:srgbClr val="41801A"/>
                          </a:solidFill>
                          <a:latin typeface="Segoe UI"/>
                        </a:rPr>
                        <a:t>WHAT IT WOULD HAVE GIVEN US</a:t>
                      </a:r>
                    </a:p>
                  </a:txBody>
                  <a:tcPr marL="45720" marR="109728" marT="27432" marB="27432" anchor="ctr">
                    <a:lnB w="9525" cap="flat" cmpd="sng" algn="ctr">
                      <a:solidFill>
                        <a:srgbClr val="41801A"/>
                      </a:solidFill>
                    </a:lnB>
                    <a:solidFill>
                      <a:srgbClr val="FFFFFF"/>
                    </a:solidFill>
                  </a:tcPr>
                </a:tc>
                <a:tc>
                  <a:txBody>
                    <a:bodyPr wrap="square"/>
                    <a:lstStyle/>
                    <a:p>
                      <a:r>
                        <a:rPr sz="700" b="1">
                          <a:solidFill>
                            <a:srgbClr val="41801A"/>
                          </a:solidFill>
                          <a:latin typeface="Segoe UI"/>
                        </a:rPr>
                        <a:t>WHY IT IS REFUSED</a:t>
                      </a:r>
                    </a:p>
                  </a:txBody>
                  <a:tcPr marL="45720" marR="109728" marT="27432" marB="27432" anchor="ctr">
                    <a:lnB w="9525" cap="flat" cmpd="sng" algn="ctr">
                      <a:solidFill>
                        <a:srgbClr val="41801A"/>
                      </a:solidFill>
                    </a:lnB>
                    <a:solidFill>
                      <a:srgbClr val="FFFFFF"/>
                    </a:solidFill>
                  </a:tcPr>
                </a:tc>
              </a:tr>
              <a:tr h="322117">
                <a:tc>
                  <a:txBody>
                    <a:bodyPr wrap="square"/>
                    <a:lstStyle/>
                    <a:p>
                      <a:r>
                        <a:rPr sz="700" b="0">
                          <a:solidFill>
                            <a:srgbClr val="26301F"/>
                          </a:solidFill>
                          <a:latin typeface="Segoe UI"/>
                        </a:rPr>
                        <a:t>Contact list access</a:t>
                      </a:r>
                    </a:p>
                  </a:txBody>
                  <a:tcPr marL="45720" marR="109728" marT="27432" marB="27432" anchor="ctr">
                    <a:lnB w="9525" cap="flat" cmpd="sng" algn="ctr">
                      <a:solidFill>
                        <a:srgbClr val="DCE3D6"/>
                      </a:solidFill>
                    </a:lnB>
                    <a:solidFill>
                      <a:srgbClr val="FFFFFF"/>
                    </a:solidFill>
                  </a:tcPr>
                </a:tc>
                <a:tc>
                  <a:txBody>
                    <a:bodyPr wrap="square"/>
                    <a:lstStyle/>
                    <a:p>
                      <a:r>
                        <a:rPr sz="700" b="0">
                          <a:solidFill>
                            <a:srgbClr val="26301F"/>
                          </a:solidFill>
                          <a:latin typeface="Segoe UI"/>
                        </a:rPr>
                        <a:t>A social graph to apply collection pressure through</a:t>
                      </a:r>
                    </a:p>
                  </a:txBody>
                  <a:tcPr marL="45720" marR="109728" marT="27432" marB="27432" anchor="ctr">
                    <a:lnB w="9525" cap="flat" cmpd="sng" algn="ctr">
                      <a:solidFill>
                        <a:srgbClr val="DCE3D6"/>
                      </a:solidFill>
                    </a:lnB>
                    <a:solidFill>
                      <a:srgbClr val="FFFFFF"/>
                    </a:solidFill>
                  </a:tcPr>
                </a:tc>
                <a:tc>
                  <a:txBody>
                    <a:bodyPr wrap="square"/>
                    <a:lstStyle/>
                    <a:p>
                      <a:r>
                        <a:rPr sz="700" b="0">
                          <a:solidFill>
                            <a:srgbClr val="26301F"/>
                          </a:solidFill>
                          <a:latin typeface="Segoe UI"/>
                        </a:rPr>
                        <a:t>The single practice most associated with the removals, and the one the regulator named</a:t>
                      </a:r>
                    </a:p>
                  </a:txBody>
                  <a:tcPr marL="45720" marR="109728" marT="27432" marB="27432" anchor="ctr">
                    <a:lnB w="9525" cap="flat" cmpd="sng" algn="ctr">
                      <a:solidFill>
                        <a:srgbClr val="DCE3D6"/>
                      </a:solidFill>
                    </a:lnB>
                    <a:solidFill>
                      <a:srgbClr val="FFFFFF"/>
                    </a:solidFill>
                  </a:tcPr>
                </a:tc>
              </a:tr>
              <a:tr h="322117">
                <a:tc>
                  <a:txBody>
                    <a:bodyPr wrap="square"/>
                    <a:lstStyle/>
                    <a:p>
                      <a:r>
                        <a:rPr sz="700" b="0">
                          <a:solidFill>
                            <a:srgbClr val="26301F"/>
                          </a:solidFill>
                          <a:latin typeface="Segoe UI"/>
                        </a:rPr>
                        <a:t>Photo gallery access</a:t>
                      </a:r>
                    </a:p>
                  </a:txBody>
                  <a:tcPr marL="45720" marR="109728" marT="27432" marB="27432" anchor="ctr">
                    <a:lnB w="9525" cap="flat" cmpd="sng" algn="ctr">
                      <a:solidFill>
                        <a:srgbClr val="DCE3D6"/>
                      </a:solidFill>
                    </a:lnB>
                    <a:solidFill>
                      <a:srgbClr val="FFFFFF"/>
                    </a:solidFill>
                  </a:tcPr>
                </a:tc>
                <a:tc>
                  <a:txBody>
                    <a:bodyPr wrap="square"/>
                    <a:lstStyle/>
                    <a:p>
                      <a:r>
                        <a:rPr sz="700" b="0">
                          <a:solidFill>
                            <a:srgbClr val="26301F"/>
                          </a:solidFill>
                          <a:latin typeface="Segoe UI"/>
                        </a:rPr>
                        <a:t>Documents and proof of assets</a:t>
                      </a:r>
                    </a:p>
                  </a:txBody>
                  <a:tcPr marL="45720" marR="109728" marT="27432" marB="27432" anchor="ctr">
                    <a:lnB w="9525" cap="flat" cmpd="sng" algn="ctr">
                      <a:solidFill>
                        <a:srgbClr val="DCE3D6"/>
                      </a:solidFill>
                    </a:lnB>
                    <a:solidFill>
                      <a:srgbClr val="FFFFFF"/>
                    </a:solidFill>
                  </a:tcPr>
                </a:tc>
                <a:tc>
                  <a:txBody>
                    <a:bodyPr wrap="square"/>
                    <a:lstStyle/>
                    <a:p>
                      <a:r>
                        <a:rPr sz="700" b="0">
                          <a:solidFill>
                            <a:srgbClr val="26301F"/>
                          </a:solidFill>
                          <a:latin typeface="Segoe UI"/>
                        </a:rPr>
                        <a:t>No proportionate purpose, and impossible to justify to a store reviewer</a:t>
                      </a:r>
                    </a:p>
                  </a:txBody>
                  <a:tcPr marL="45720" marR="109728" marT="27432" marB="27432" anchor="ctr">
                    <a:lnB w="9525" cap="flat" cmpd="sng" algn="ctr">
                      <a:solidFill>
                        <a:srgbClr val="DCE3D6"/>
                      </a:solidFill>
                    </a:lnB>
                    <a:solidFill>
                      <a:srgbClr val="FFFFFF"/>
                    </a:solidFill>
                  </a:tcPr>
                </a:tc>
              </a:tr>
              <a:tr h="322117">
                <a:tc>
                  <a:txBody>
                    <a:bodyPr wrap="square"/>
                    <a:lstStyle/>
                    <a:p>
                      <a:r>
                        <a:rPr sz="700" b="0">
                          <a:solidFill>
                            <a:srgbClr val="26301F"/>
                          </a:solidFill>
                          <a:latin typeface="Segoe UI"/>
                        </a:rPr>
                        <a:t>Message reading</a:t>
                      </a:r>
                    </a:p>
                  </a:txBody>
                  <a:tcPr marL="45720" marR="109728" marT="27432" marB="27432" anchor="ctr">
                    <a:lnB w="9525" cap="flat" cmpd="sng" algn="ctr">
                      <a:solidFill>
                        <a:srgbClr val="DCE3D6"/>
                      </a:solidFill>
                    </a:lnB>
                    <a:solidFill>
                      <a:srgbClr val="FFFFFF"/>
                    </a:solidFill>
                  </a:tcPr>
                </a:tc>
                <a:tc>
                  <a:txBody>
                    <a:bodyPr wrap="square"/>
                    <a:lstStyle/>
                    <a:p>
                      <a:r>
                        <a:rPr sz="700" b="0">
                          <a:solidFill>
                            <a:srgbClr val="26301F"/>
                          </a:solidFill>
                          <a:latin typeface="Segoe UI"/>
                        </a:rPr>
                        <a:t>Bank credit alerts scraped out of text messages</a:t>
                      </a:r>
                    </a:p>
                  </a:txBody>
                  <a:tcPr marL="45720" marR="109728" marT="27432" marB="27432" anchor="ctr">
                    <a:lnB w="9525" cap="flat" cmpd="sng" algn="ctr">
                      <a:solidFill>
                        <a:srgbClr val="DCE3D6"/>
                      </a:solidFill>
                    </a:lnB>
                    <a:solidFill>
                      <a:srgbClr val="FFFFFF"/>
                    </a:solidFill>
                  </a:tcPr>
                </a:tc>
                <a:tc>
                  <a:txBody>
                    <a:bodyPr wrap="square"/>
                    <a:lstStyle/>
                    <a:p>
                      <a:r>
                        <a:rPr sz="700" b="0">
                          <a:solidFill>
                            <a:srgbClr val="26301F"/>
                          </a:solidFill>
                          <a:latin typeface="Segoe UI"/>
                        </a:rPr>
                        <a:t>Reads every private message a person has, to obtain a handful of numbers</a:t>
                      </a:r>
                    </a:p>
                  </a:txBody>
                  <a:tcPr marL="45720" marR="109728" marT="27432" marB="27432" anchor="ctr">
                    <a:lnB w="9525" cap="flat" cmpd="sng" algn="ctr">
                      <a:solidFill>
                        <a:srgbClr val="DCE3D6"/>
                      </a:solidFill>
                    </a:lnB>
                    <a:solidFill>
                      <a:srgbClr val="FFFFFF"/>
                    </a:solidFill>
                  </a:tcPr>
                </a:tc>
              </a:tr>
              <a:tr h="322117">
                <a:tc>
                  <a:txBody>
                    <a:bodyPr wrap="square"/>
                    <a:lstStyle/>
                    <a:p>
                      <a:r>
                        <a:rPr sz="700" b="0">
                          <a:solidFill>
                            <a:srgbClr val="26301F"/>
                          </a:solidFill>
                          <a:latin typeface="Segoe UI"/>
                        </a:rPr>
                        <a:t>Accessibility service screen scraping</a:t>
                      </a:r>
                    </a:p>
                  </a:txBody>
                  <a:tcPr marL="45720" marR="109728" marT="27432" marB="27432" anchor="ctr">
                    <a:lnB w="9525" cap="flat" cmpd="sng" algn="ctr">
                      <a:solidFill>
                        <a:srgbClr val="DCE3D6"/>
                      </a:solidFill>
                    </a:lnB>
                    <a:solidFill>
                      <a:srgbClr val="FFFFFF"/>
                    </a:solidFill>
                  </a:tcPr>
                </a:tc>
                <a:tc>
                  <a:txBody>
                    <a:bodyPr wrap="square"/>
                    <a:lstStyle/>
                    <a:p>
                      <a:r>
                        <a:rPr sz="700" b="0">
                          <a:solidFill>
                            <a:srgbClr val="26301F"/>
                          </a:solidFill>
                          <a:latin typeface="Segoe UI"/>
                        </a:rPr>
                        <a:t>Live bank balances with no partnership needed</a:t>
                      </a:r>
                    </a:p>
                  </a:txBody>
                  <a:tcPr marL="45720" marR="109728" marT="27432" marB="27432" anchor="ctr">
                    <a:lnB w="9525" cap="flat" cmpd="sng" algn="ctr">
                      <a:solidFill>
                        <a:srgbClr val="DCE3D6"/>
                      </a:solidFill>
                    </a:lnB>
                    <a:solidFill>
                      <a:srgbClr val="FFFFFF"/>
                    </a:solidFill>
                  </a:tcPr>
                </a:tc>
                <a:tc>
                  <a:txBody>
                    <a:bodyPr wrap="square"/>
                    <a:lstStyle/>
                    <a:p>
                      <a:r>
                        <a:rPr sz="700" b="0">
                          <a:solidFill>
                            <a:srgbClr val="26301F"/>
                          </a:solidFill>
                          <a:latin typeface="Segoe UI"/>
                        </a:rPr>
                        <a:t>Rejected early in the design. It is the delisting trap, and no balance figure is worth it</a:t>
                      </a:r>
                    </a:p>
                  </a:txBody>
                  <a:tcPr marL="45720" marR="109728" marT="27432" marB="27432" anchor="ctr">
                    <a:lnB w="9525" cap="flat" cmpd="sng" algn="ctr">
                      <a:solidFill>
                        <a:srgbClr val="DCE3D6"/>
                      </a:solidFill>
                    </a:lnB>
                    <a:solidFill>
                      <a:srgbClr val="FFFFFF"/>
                    </a:solidFill>
                  </a:tcPr>
                </a:tc>
              </a:tr>
              <a:tr h="322117">
                <a:tc>
                  <a:txBody>
                    <a:bodyPr wrap="square"/>
                    <a:lstStyle/>
                    <a:p>
                      <a:r>
                        <a:rPr sz="700" b="0">
                          <a:solidFill>
                            <a:srgbClr val="26301F"/>
                          </a:solidFill>
                          <a:latin typeface="Segoe UI"/>
                        </a:rPr>
                        <a:t>Background location</a:t>
                      </a:r>
                    </a:p>
                  </a:txBody>
                  <a:tcPr marL="45720" marR="109728" marT="27432" marB="27432" anchor="ctr">
                    <a:lnB w="9525" cap="flat" cmpd="sng" algn="ctr">
                      <a:solidFill>
                        <a:srgbClr val="DCE3D6"/>
                      </a:solidFill>
                    </a:lnB>
                    <a:solidFill>
                      <a:srgbClr val="FFFFFF"/>
                    </a:solidFill>
                  </a:tcPr>
                </a:tc>
                <a:tc>
                  <a:txBody>
                    <a:bodyPr wrap="square"/>
                    <a:lstStyle/>
                    <a:p>
                      <a:r>
                        <a:rPr sz="700" b="0">
                          <a:solidFill>
                            <a:srgbClr val="26301F"/>
                          </a:solidFill>
                          <a:latin typeface="Segoe UI"/>
                        </a:rPr>
                        <a:t>Movement patterns and workplace confirmation</a:t>
                      </a:r>
                    </a:p>
                  </a:txBody>
                  <a:tcPr marL="45720" marR="109728" marT="27432" marB="27432" anchor="ctr">
                    <a:lnB w="9525" cap="flat" cmpd="sng" algn="ctr">
                      <a:solidFill>
                        <a:srgbClr val="DCE3D6"/>
                      </a:solidFill>
                    </a:lnB>
                    <a:solidFill>
                      <a:srgbClr val="FFFFFF"/>
                    </a:solidFill>
                  </a:tcPr>
                </a:tc>
                <a:tc>
                  <a:txBody>
                    <a:bodyPr wrap="square"/>
                    <a:lstStyle/>
                    <a:p>
                      <a:r>
                        <a:rPr sz="700" b="0">
                          <a:solidFill>
                            <a:srgbClr val="26301F"/>
                          </a:solidFill>
                          <a:latin typeface="Segoe UI"/>
                        </a:rPr>
                        <a:t>One precise pin at signup, given with consent, is sufficient and defensible</a:t>
                      </a:r>
                    </a:p>
                  </a:txBody>
                  <a:tcPr marL="45720" marR="109728" marT="27432" marB="27432" anchor="ctr">
                    <a:lnB w="9525" cap="flat" cmpd="sng" algn="ctr">
                      <a:solidFill>
                        <a:srgbClr val="DCE3D6"/>
                      </a:solidFill>
                    </a:lnB>
                    <a:solidFill>
                      <a:srgbClr val="FFFFFF"/>
                    </a:solidFill>
                  </a:tcPr>
                </a:tc>
              </a:tr>
              <a:tr h="322117">
                <a:tc>
                  <a:txBody>
                    <a:bodyPr wrap="square"/>
                    <a:lstStyle/>
                    <a:p>
                      <a:r>
                        <a:rPr sz="700" b="0">
                          <a:solidFill>
                            <a:srgbClr val="26301F"/>
                          </a:solidFill>
                          <a:latin typeface="Segoe UI"/>
                        </a:rPr>
                        <a:t>Full card numbers and security codes</a:t>
                      </a:r>
                    </a:p>
                  </a:txBody>
                  <a:tcPr marL="45720" marR="109728" marT="27432" marB="27432" anchor="ctr">
                    <a:lnB w="9525" cap="flat" cmpd="sng" algn="ctr">
                      <a:solidFill>
                        <a:srgbClr val="DCE3D6"/>
                      </a:solidFill>
                    </a:lnB>
                    <a:solidFill>
                      <a:srgbClr val="FFFFFF"/>
                    </a:solidFill>
                  </a:tcPr>
                </a:tc>
                <a:tc>
                  <a:txBody>
                    <a:bodyPr wrap="square"/>
                    <a:lstStyle/>
                    <a:p>
                      <a:r>
                        <a:rPr sz="700" b="0">
                          <a:solidFill>
                            <a:srgbClr val="26301F"/>
                          </a:solidFill>
                          <a:latin typeface="Segoe UI"/>
                        </a:rPr>
                        <a:t>Simpler repeat charging</a:t>
                      </a:r>
                    </a:p>
                  </a:txBody>
                  <a:tcPr marL="45720" marR="109728" marT="27432" marB="27432" anchor="ctr">
                    <a:lnB w="9525" cap="flat" cmpd="sng" algn="ctr">
                      <a:solidFill>
                        <a:srgbClr val="DCE3D6"/>
                      </a:solidFill>
                    </a:lnB>
                    <a:solidFill>
                      <a:srgbClr val="FFFFFF"/>
                    </a:solidFill>
                  </a:tcPr>
                </a:tc>
                <a:tc>
                  <a:txBody>
                    <a:bodyPr wrap="square"/>
                    <a:lstStyle/>
                    <a:p>
                      <a:r>
                        <a:rPr sz="700" b="0">
                          <a:solidFill>
                            <a:srgbClr val="26301F"/>
                          </a:solidFill>
                          <a:latin typeface="Segoe UI"/>
                        </a:rPr>
                        <a:t>Never written down. Brand, last four digits, expiry and holder only</a:t>
                      </a:r>
                    </a:p>
                  </a:txBody>
                  <a:tcPr marL="45720" marR="109728" marT="27432" marB="27432" anchor="ctr">
                    <a:lnB w="9525" cap="flat" cmpd="sng" algn="ctr">
                      <a:solidFill>
                        <a:srgbClr val="DCE3D6"/>
                      </a:solidFill>
                    </a:lnB>
                    <a:solidFill>
                      <a:srgbClr val="FFFFFF"/>
                    </a:solidFill>
                  </a:tcPr>
                </a:tc>
              </a:tr>
              <a:tr h="322117">
                <a:tc>
                  <a:txBody>
                    <a:bodyPr wrap="square"/>
                    <a:lstStyle/>
                    <a:p>
                      <a:r>
                        <a:rPr sz="700" b="0">
                          <a:solidFill>
                            <a:srgbClr val="26301F"/>
                          </a:solidFill>
                          <a:latin typeface="Segoe UI"/>
                        </a:rPr>
                        <a:t>Raw biometric templates and facial images</a:t>
                      </a:r>
                    </a:p>
                  </a:txBody>
                  <a:tcPr marL="45720" marR="109728" marT="27432" marB="27432" anchor="ctr">
                    <a:lnB w="9525" cap="flat" cmpd="sng" algn="ctr">
                      <a:solidFill>
                        <a:srgbClr val="DCE3D6"/>
                      </a:solidFill>
                    </a:lnB>
                    <a:solidFill>
                      <a:srgbClr val="FFFFFF"/>
                    </a:solidFill>
                  </a:tcPr>
                </a:tc>
                <a:tc>
                  <a:txBody>
                    <a:bodyPr wrap="square"/>
                    <a:lstStyle/>
                    <a:p>
                      <a:r>
                        <a:rPr sz="700" b="0">
                          <a:solidFill>
                            <a:srgbClr val="26301F"/>
                          </a:solidFill>
                          <a:latin typeface="Segoe UI"/>
                        </a:rPr>
                        <a:t>Matching in house</a:t>
                      </a:r>
                    </a:p>
                  </a:txBody>
                  <a:tcPr marL="45720" marR="109728" marT="27432" marB="27432" anchor="ctr">
                    <a:lnB w="9525" cap="flat" cmpd="sng" algn="ctr">
                      <a:solidFill>
                        <a:srgbClr val="DCE3D6"/>
                      </a:solidFill>
                    </a:lnB>
                    <a:solidFill>
                      <a:srgbClr val="FFFFFF"/>
                    </a:solidFill>
                  </a:tcPr>
                </a:tc>
                <a:tc>
                  <a:txBody>
                    <a:bodyPr wrap="square"/>
                    <a:lstStyle/>
                    <a:p>
                      <a:r>
                        <a:rPr sz="700" b="0">
                          <a:solidFill>
                            <a:srgbClr val="26301F"/>
                          </a:solidFill>
                          <a:latin typeface="Segoe UI"/>
                        </a:rPr>
                        <a:t>Only the verification result and a reference are kept. The template stays with the national authority</a:t>
                      </a:r>
                    </a:p>
                  </a:txBody>
                  <a:tcPr marL="45720" marR="109728" marT="27432" marB="27432" anchor="ctr">
                    <a:lnB w="9525" cap="flat" cmpd="sng" algn="ctr">
                      <a:solidFill>
                        <a:srgbClr val="DCE3D6"/>
                      </a:solidFill>
                    </a:lnB>
                    <a:solidFill>
                      <a:srgbClr val="FFFFFF"/>
                    </a:solidFill>
                  </a:tcPr>
                </a:tc>
              </a:tr>
            </a:tbl>
          </a:graphicData>
        </a:graphic>
      </p:graphicFrame>
      <p:sp>
        <p:nvSpPr>
          <p:cNvPr id="9" name="TextBox 8"/>
          <p:cNvSpPr txBox="1"/>
          <p:nvPr/>
        </p:nvSpPr>
        <p:spPr>
          <a:xfrm>
            <a:off x="777240" y="5731616"/>
            <a:ext cx="10637215" cy="731520"/>
          </a:xfrm>
          <a:prstGeom prst="rect">
            <a:avLst/>
          </a:prstGeom>
          <a:noFill/>
        </p:spPr>
        <p:txBody>
          <a:bodyPr wrap="square" lIns="0" rIns="0" tIns="0" bIns="0">
            <a:spAutoFit/>
          </a:bodyPr>
          <a:lstStyle/>
          <a:p>
            <a:pPr algn="l">
              <a:lnSpc>
                <a:spcPct val="140000"/>
              </a:lnSpc>
            </a:pPr>
            <a:r>
              <a:rPr sz="1200" b="1" i="0">
                <a:solidFill>
                  <a:srgbClr val="0C1408"/>
                </a:solidFill>
                <a:latin typeface="Segoe UI"/>
              </a:rPr>
              <a:t>The permissions a lender demands are the fastest signal a regulator has for how it intends to collect. Halqa asks for less than a food delivery application does.</a:t>
            </a:r>
          </a:p>
        </p:txBody>
      </p:sp>
    </p:spTree>
  </p:cSld>
  <p:clrMapOvr>
    <a:masterClrMapping/>
  </p:clrMapOvr>
</p:sld>
</file>

<file path=ppt/slides/slide6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777240" y="566928"/>
            <a:ext cx="10637215" cy="219456"/>
          </a:xfrm>
          <a:prstGeom prst="rect">
            <a:avLst/>
          </a:prstGeom>
          <a:noFill/>
        </p:spPr>
        <p:txBody>
          <a:bodyPr wrap="square" lIns="0" rIns="0" tIns="0" bIns="0">
            <a:spAutoFit/>
          </a:bodyPr>
          <a:lstStyle/>
          <a:p>
            <a:pPr algn="l">
              <a:lnSpc>
                <a:spcPct val="125000"/>
              </a:lnSpc>
            </a:pPr>
            <a:r>
              <a:rPr sz="950" b="1" i="0">
                <a:solidFill>
                  <a:srgbClr val="41801A"/>
                </a:solidFill>
                <a:latin typeface="Segoe UI"/>
              </a:rPr>
              <a:t>9  ENGINEERING</a:t>
            </a:r>
          </a:p>
        </p:txBody>
      </p:sp>
      <p:sp>
        <p:nvSpPr>
          <p:cNvPr id="3" name="TextBox 2"/>
          <p:cNvSpPr txBox="1"/>
          <p:nvPr/>
        </p:nvSpPr>
        <p:spPr>
          <a:xfrm>
            <a:off x="777240" y="841248"/>
            <a:ext cx="10637215" cy="502920"/>
          </a:xfrm>
          <a:prstGeom prst="rect">
            <a:avLst/>
          </a:prstGeom>
          <a:noFill/>
        </p:spPr>
        <p:txBody>
          <a:bodyPr wrap="square" lIns="0" rIns="0" tIns="0" bIns="0">
            <a:spAutoFit/>
          </a:bodyPr>
          <a:lstStyle/>
          <a:p>
            <a:pPr algn="l">
              <a:lnSpc>
                <a:spcPct val="125000"/>
              </a:lnSpc>
            </a:pPr>
            <a:r>
              <a:rPr sz="2700" b="1" i="0">
                <a:solidFill>
                  <a:srgbClr val="0C1408"/>
                </a:solidFill>
                <a:latin typeface="Segoe UI"/>
              </a:rPr>
              <a:t>The guarantees underneath</a:t>
            </a:r>
          </a:p>
        </p:txBody>
      </p:sp>
      <p:sp>
        <p:nvSpPr>
          <p:cNvPr id="4" name="Rectangle 3"/>
          <p:cNvSpPr/>
          <p:nvPr/>
        </p:nvSpPr>
        <p:spPr>
          <a:xfrm>
            <a:off x="777240" y="1417320"/>
            <a:ext cx="1371600" cy="22860"/>
          </a:xfrm>
          <a:prstGeom prst="rect">
            <a:avLst/>
          </a:prstGeom>
          <a:solidFill>
            <a:srgbClr val="6DC72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777240" y="6382512"/>
            <a:ext cx="3657600" cy="228600"/>
          </a:xfrm>
          <a:prstGeom prst="rect">
            <a:avLst/>
          </a:prstGeom>
          <a:noFill/>
        </p:spPr>
        <p:txBody>
          <a:bodyPr wrap="square" lIns="0" rIns="0" tIns="0" bIns="0">
            <a:spAutoFit/>
          </a:bodyPr>
          <a:lstStyle/>
          <a:p>
            <a:pPr algn="l">
              <a:lnSpc>
                <a:spcPct val="125000"/>
              </a:lnSpc>
            </a:pPr>
            <a:r>
              <a:rPr sz="900" b="0" i="0">
                <a:solidFill>
                  <a:srgbClr val="9AA694"/>
                </a:solidFill>
                <a:latin typeface="Segoe UI"/>
              </a:rPr>
              <a:t>Halqa  ·  Confidential</a:t>
            </a:r>
          </a:p>
        </p:txBody>
      </p:sp>
      <p:sp>
        <p:nvSpPr>
          <p:cNvPr id="6" name="TextBox 5"/>
          <p:cNvSpPr txBox="1"/>
          <p:nvPr/>
        </p:nvSpPr>
        <p:spPr>
          <a:xfrm>
            <a:off x="10728655" y="6382512"/>
            <a:ext cx="685800" cy="228600"/>
          </a:xfrm>
          <a:prstGeom prst="rect">
            <a:avLst/>
          </a:prstGeom>
          <a:noFill/>
        </p:spPr>
        <p:txBody>
          <a:bodyPr wrap="square" lIns="0" rIns="0" tIns="0" bIns="0">
            <a:spAutoFit/>
          </a:bodyPr>
          <a:lstStyle/>
          <a:p>
            <a:pPr algn="r">
              <a:lnSpc>
                <a:spcPct val="125000"/>
              </a:lnSpc>
            </a:pPr>
            <a:r>
              <a:rPr sz="900" b="0" i="0">
                <a:solidFill>
                  <a:srgbClr val="6F7B68"/>
                </a:solidFill>
                <a:latin typeface="Segoe UI"/>
              </a:rPr>
              <a:t>66</a:t>
            </a:r>
          </a:p>
        </p:txBody>
      </p:sp>
      <p:graphicFrame>
        <p:nvGraphicFramePr>
          <p:cNvPr id="7" name="Table 6"/>
          <p:cNvGraphicFramePr>
            <a:graphicFrameLocks noGrp="1"/>
          </p:cNvGraphicFramePr>
          <p:nvPr/>
        </p:nvGraphicFramePr>
        <p:xfrm>
          <a:off x="777240" y="1965960"/>
          <a:ext cx="10607040" cy="3506559"/>
        </p:xfrm>
        <a:graphic>
          <a:graphicData uri="http://schemas.openxmlformats.org/drawingml/2006/table">
            <a:tbl>
              <a:tblPr>
                <a:tableStyleId>{5C22544A-7EE6-4342-B048-85BDC9FD1C3A}</a:tableStyleId>
              </a:tblPr>
              <a:tblGrid>
                <a:gridCol w="2743200"/>
                <a:gridCol w="3566160"/>
                <a:gridCol w="4297680"/>
              </a:tblGrid>
              <a:tr h="500937">
                <a:tc>
                  <a:txBody>
                    <a:bodyPr wrap="square"/>
                    <a:lstStyle/>
                    <a:p>
                      <a:r>
                        <a:rPr sz="800" b="1">
                          <a:solidFill>
                            <a:srgbClr val="41801A"/>
                          </a:solidFill>
                          <a:latin typeface="Segoe UI"/>
                        </a:rPr>
                        <a:t>GUARANTEE</a:t>
                      </a:r>
                    </a:p>
                  </a:txBody>
                  <a:tcPr marL="45720" marR="109728" marT="27432" marB="27432" anchor="ctr">
                    <a:lnB w="9525" cap="flat" cmpd="sng" algn="ctr">
                      <a:solidFill>
                        <a:srgbClr val="41801A"/>
                      </a:solidFill>
                    </a:lnB>
                    <a:solidFill>
                      <a:srgbClr val="FFFFFF"/>
                    </a:solidFill>
                  </a:tcPr>
                </a:tc>
                <a:tc>
                  <a:txBody>
                    <a:bodyPr wrap="square"/>
                    <a:lstStyle/>
                    <a:p>
                      <a:r>
                        <a:rPr sz="800" b="1">
                          <a:solidFill>
                            <a:srgbClr val="41801A"/>
                          </a:solidFill>
                          <a:latin typeface="Segoe UI"/>
                        </a:rPr>
                        <a:t>WHAT IT MEANS</a:t>
                      </a:r>
                    </a:p>
                  </a:txBody>
                  <a:tcPr marL="45720" marR="109728" marT="27432" marB="27432" anchor="ctr">
                    <a:lnB w="9525" cap="flat" cmpd="sng" algn="ctr">
                      <a:solidFill>
                        <a:srgbClr val="41801A"/>
                      </a:solidFill>
                    </a:lnB>
                    <a:solidFill>
                      <a:srgbClr val="FFFFFF"/>
                    </a:solidFill>
                  </a:tcPr>
                </a:tc>
                <a:tc>
                  <a:txBody>
                    <a:bodyPr wrap="square"/>
                    <a:lstStyle/>
                    <a:p>
                      <a:r>
                        <a:rPr sz="800" b="1">
                          <a:solidFill>
                            <a:srgbClr val="41801A"/>
                          </a:solidFill>
                          <a:latin typeface="Segoe UI"/>
                        </a:rPr>
                        <a:t>WHY IT MATTERS TO A BANKER</a:t>
                      </a:r>
                    </a:p>
                  </a:txBody>
                  <a:tcPr marL="45720" marR="109728" marT="27432" marB="27432" anchor="ctr">
                    <a:lnB w="9525" cap="flat" cmpd="sng" algn="ctr">
                      <a:solidFill>
                        <a:srgbClr val="41801A"/>
                      </a:solidFill>
                    </a:lnB>
                    <a:solidFill>
                      <a:srgbClr val="FFFFFF"/>
                    </a:solidFill>
                  </a:tcPr>
                </a:tc>
              </a:tr>
              <a:tr h="500937">
                <a:tc>
                  <a:txBody>
                    <a:bodyPr wrap="square"/>
                    <a:lstStyle/>
                    <a:p>
                      <a:r>
                        <a:rPr sz="800" b="0">
                          <a:solidFill>
                            <a:srgbClr val="26301F"/>
                          </a:solidFill>
                          <a:latin typeface="Segoe UI"/>
                        </a:rPr>
                        <a:t>Money is held as whole units, never as decimals</a:t>
                      </a:r>
                    </a:p>
                  </a:txBody>
                  <a:tcPr marL="45720" marR="109728" marT="27432" marB="27432" anchor="ctr">
                    <a:lnB w="9525" cap="flat" cmpd="sng" algn="ctr">
                      <a:solidFill>
                        <a:srgbClr val="DCE3D6"/>
                      </a:solidFill>
                    </a:lnB>
                    <a:solidFill>
                      <a:srgbClr val="FFFFFF"/>
                    </a:solidFill>
                  </a:tcPr>
                </a:tc>
                <a:tc>
                  <a:txBody>
                    <a:bodyPr wrap="square"/>
                    <a:lstStyle/>
                    <a:p>
                      <a:r>
                        <a:rPr sz="800" b="0">
                          <a:solidFill>
                            <a:srgbClr val="26301F"/>
                          </a:solidFill>
                          <a:latin typeface="Segoe UI"/>
                        </a:rPr>
                        <a:t>No fractional arithmetic anywhere in the money path. Rates are applied as whole basis points</a:t>
                      </a:r>
                    </a:p>
                  </a:txBody>
                  <a:tcPr marL="45720" marR="109728" marT="27432" marB="27432" anchor="ctr">
                    <a:lnB w="9525" cap="flat" cmpd="sng" algn="ctr">
                      <a:solidFill>
                        <a:srgbClr val="DCE3D6"/>
                      </a:solidFill>
                    </a:lnB>
                    <a:solidFill>
                      <a:srgbClr val="FFFFFF"/>
                    </a:solidFill>
                  </a:tcPr>
                </a:tc>
                <a:tc>
                  <a:txBody>
                    <a:bodyPr wrap="square"/>
                    <a:lstStyle/>
                    <a:p>
                      <a:r>
                        <a:rPr sz="800" b="0">
                          <a:solidFill>
                            <a:srgbClr val="26301F"/>
                          </a:solidFill>
                          <a:latin typeface="Segoe UI"/>
                        </a:rPr>
                        <a:t>Decimal arithmetic on a computer produces tiny residues that are invisible until a reconciliation fails. This removes the entire class of error</a:t>
                      </a:r>
                    </a:p>
                  </a:txBody>
                  <a:tcPr marL="45720" marR="109728" marT="27432" marB="27432" anchor="ctr">
                    <a:lnB w="9525" cap="flat" cmpd="sng" algn="ctr">
                      <a:solidFill>
                        <a:srgbClr val="DCE3D6"/>
                      </a:solidFill>
                    </a:lnB>
                    <a:solidFill>
                      <a:srgbClr val="FFFFFF"/>
                    </a:solidFill>
                  </a:tcPr>
                </a:tc>
              </a:tr>
              <a:tr h="500937">
                <a:tc>
                  <a:txBody>
                    <a:bodyPr wrap="square"/>
                    <a:lstStyle/>
                    <a:p>
                      <a:r>
                        <a:rPr sz="800" b="0">
                          <a:solidFill>
                            <a:srgbClr val="26301F"/>
                          </a:solidFill>
                          <a:latin typeface="Segoe UI"/>
                        </a:rPr>
                        <a:t>Every movement writes two matching entries</a:t>
                      </a:r>
                    </a:p>
                  </a:txBody>
                  <a:tcPr marL="45720" marR="109728" marT="27432" marB="27432" anchor="ctr">
                    <a:lnB w="9525" cap="flat" cmpd="sng" algn="ctr">
                      <a:solidFill>
                        <a:srgbClr val="DCE3D6"/>
                      </a:solidFill>
                    </a:lnB>
                    <a:solidFill>
                      <a:srgbClr val="FFFFFF"/>
                    </a:solidFill>
                  </a:tcPr>
                </a:tc>
                <a:tc>
                  <a:txBody>
                    <a:bodyPr wrap="square"/>
                    <a:lstStyle/>
                    <a:p>
                      <a:r>
                        <a:rPr sz="800" b="0">
                          <a:solidFill>
                            <a:srgbClr val="26301F"/>
                          </a:solidFill>
                          <a:latin typeface="Segoe UI"/>
                        </a:rPr>
                        <a:t>Each settlement writes a debit and a credit that must cancel out</a:t>
                      </a:r>
                    </a:p>
                  </a:txBody>
                  <a:tcPr marL="45720" marR="109728" marT="27432" marB="27432" anchor="ctr">
                    <a:lnB w="9525" cap="flat" cmpd="sng" algn="ctr">
                      <a:solidFill>
                        <a:srgbClr val="DCE3D6"/>
                      </a:solidFill>
                    </a:lnB>
                    <a:solidFill>
                      <a:srgbClr val="FFFFFF"/>
                    </a:solidFill>
                  </a:tcPr>
                </a:tc>
                <a:tc>
                  <a:txBody>
                    <a:bodyPr wrap="square"/>
                    <a:lstStyle/>
                    <a:p>
                      <a:r>
                        <a:rPr sz="800" b="0">
                          <a:solidFill>
                            <a:srgbClr val="26301F"/>
                          </a:solidFill>
                          <a:latin typeface="Segoe UI"/>
                        </a:rPr>
                        <a:t>The ledger checks itself. A one sided write is detectable rather than silent, which is the property an auditor is actually looking for</a:t>
                      </a:r>
                    </a:p>
                  </a:txBody>
                  <a:tcPr marL="45720" marR="109728" marT="27432" marB="27432" anchor="ctr">
                    <a:lnB w="9525" cap="flat" cmpd="sng" algn="ctr">
                      <a:solidFill>
                        <a:srgbClr val="DCE3D6"/>
                      </a:solidFill>
                    </a:lnB>
                    <a:solidFill>
                      <a:srgbClr val="FFFFFF"/>
                    </a:solidFill>
                  </a:tcPr>
                </a:tc>
              </a:tr>
              <a:tr h="500937">
                <a:tc>
                  <a:txBody>
                    <a:bodyPr wrap="square"/>
                    <a:lstStyle/>
                    <a:p>
                      <a:r>
                        <a:rPr sz="800" b="0">
                          <a:solidFill>
                            <a:srgbClr val="26301F"/>
                          </a:solidFill>
                          <a:latin typeface="Segoe UI"/>
                        </a:rPr>
                        <a:t>Every instruction carries a unique reference</a:t>
                      </a:r>
                    </a:p>
                  </a:txBody>
                  <a:tcPr marL="45720" marR="109728" marT="27432" marB="27432" anchor="ctr">
                    <a:lnB w="9525" cap="flat" cmpd="sng" algn="ctr">
                      <a:solidFill>
                        <a:srgbClr val="DCE3D6"/>
                      </a:solidFill>
                    </a:lnB>
                    <a:solidFill>
                      <a:srgbClr val="FFFFFF"/>
                    </a:solidFill>
                  </a:tcPr>
                </a:tc>
                <a:tc>
                  <a:txBody>
                    <a:bodyPr wrap="square"/>
                    <a:lstStyle/>
                    <a:p>
                      <a:r>
                        <a:rPr sz="800" b="0">
                          <a:solidFill>
                            <a:srgbClr val="26301F"/>
                          </a:solidFill>
                          <a:latin typeface="Segoe UI"/>
                        </a:rPr>
                        <a:t>A retried request applies once and only once</a:t>
                      </a:r>
                    </a:p>
                  </a:txBody>
                  <a:tcPr marL="45720" marR="109728" marT="27432" marB="27432" anchor="ctr">
                    <a:lnB w="9525" cap="flat" cmpd="sng" algn="ctr">
                      <a:solidFill>
                        <a:srgbClr val="DCE3D6"/>
                      </a:solidFill>
                    </a:lnB>
                    <a:solidFill>
                      <a:srgbClr val="FFFFFF"/>
                    </a:solidFill>
                  </a:tcPr>
                </a:tc>
                <a:tc>
                  <a:txBody>
                    <a:bodyPr wrap="square"/>
                    <a:lstStyle/>
                    <a:p>
                      <a:r>
                        <a:rPr sz="800" b="0">
                          <a:solidFill>
                            <a:srgbClr val="26301F"/>
                          </a:solidFill>
                          <a:latin typeface="Segoe UI"/>
                        </a:rPr>
                        <a:t>This is idempotency. It is why a member on a bad connection cannot be charged twice, and why reconciliation is possible at all</a:t>
                      </a:r>
                    </a:p>
                  </a:txBody>
                  <a:tcPr marL="45720" marR="109728" marT="27432" marB="27432" anchor="ctr">
                    <a:lnB w="9525" cap="flat" cmpd="sng" algn="ctr">
                      <a:solidFill>
                        <a:srgbClr val="DCE3D6"/>
                      </a:solidFill>
                    </a:lnB>
                    <a:solidFill>
                      <a:srgbClr val="FFFFFF"/>
                    </a:solidFill>
                  </a:tcPr>
                </a:tc>
              </a:tr>
              <a:tr h="500937">
                <a:tc>
                  <a:txBody>
                    <a:bodyPr wrap="square"/>
                    <a:lstStyle/>
                    <a:p>
                      <a:r>
                        <a:rPr sz="800" b="0">
                          <a:solidFill>
                            <a:srgbClr val="26301F"/>
                          </a:solidFill>
                          <a:latin typeface="Segoe UI"/>
                        </a:rPr>
                        <a:t>Receipts commit with the money</a:t>
                      </a:r>
                    </a:p>
                  </a:txBody>
                  <a:tcPr marL="45720" marR="109728" marT="27432" marB="27432" anchor="ctr">
                    <a:lnB w="9525" cap="flat" cmpd="sng" algn="ctr">
                      <a:solidFill>
                        <a:srgbClr val="DCE3D6"/>
                      </a:solidFill>
                    </a:lnB>
                    <a:solidFill>
                      <a:srgbClr val="FFFFFF"/>
                    </a:solidFill>
                  </a:tcPr>
                </a:tc>
                <a:tc>
                  <a:txBody>
                    <a:bodyPr wrap="square"/>
                    <a:lstStyle/>
                    <a:p>
                      <a:r>
                        <a:rPr sz="800" b="0">
                          <a:solidFill>
                            <a:srgbClr val="26301F"/>
                          </a:solidFill>
                          <a:latin typeface="Segoe UI"/>
                        </a:rPr>
                        <a:t>The receipt and the queued message are written inside the same transaction as the settlement</a:t>
                      </a:r>
                    </a:p>
                  </a:txBody>
                  <a:tcPr marL="45720" marR="109728" marT="27432" marB="27432" anchor="ctr">
                    <a:lnB w="9525" cap="flat" cmpd="sng" algn="ctr">
                      <a:solidFill>
                        <a:srgbClr val="DCE3D6"/>
                      </a:solidFill>
                    </a:lnB>
                    <a:solidFill>
                      <a:srgbClr val="FFFFFF"/>
                    </a:solidFill>
                  </a:tcPr>
                </a:tc>
                <a:tc>
                  <a:txBody>
                    <a:bodyPr wrap="square"/>
                    <a:lstStyle/>
                    <a:p>
                      <a:r>
                        <a:rPr sz="800" b="0">
                          <a:solidFill>
                            <a:srgbClr val="26301F"/>
                          </a:solidFill>
                          <a:latin typeface="Segoe UI"/>
                        </a:rPr>
                        <a:t>There is no state in which money moved and no receipt exists, or the reverse</a:t>
                      </a:r>
                    </a:p>
                  </a:txBody>
                  <a:tcPr marL="45720" marR="109728" marT="27432" marB="27432" anchor="ctr">
                    <a:lnB w="9525" cap="flat" cmpd="sng" algn="ctr">
                      <a:solidFill>
                        <a:srgbClr val="DCE3D6"/>
                      </a:solidFill>
                    </a:lnB>
                    <a:solidFill>
                      <a:srgbClr val="FFFFFF"/>
                    </a:solidFill>
                  </a:tcPr>
                </a:tc>
              </a:tr>
              <a:tr h="500937">
                <a:tc>
                  <a:txBody>
                    <a:bodyPr wrap="square"/>
                    <a:lstStyle/>
                    <a:p>
                      <a:r>
                        <a:rPr sz="800" b="0">
                          <a:solidFill>
                            <a:srgbClr val="26301F"/>
                          </a:solidFill>
                          <a:latin typeface="Segoe UI"/>
                        </a:rPr>
                        <a:t>Database changes only ever add</a:t>
                      </a:r>
                    </a:p>
                  </a:txBody>
                  <a:tcPr marL="45720" marR="109728" marT="27432" marB="27432" anchor="ctr">
                    <a:lnB w="9525" cap="flat" cmpd="sng" algn="ctr">
                      <a:solidFill>
                        <a:srgbClr val="DCE3D6"/>
                      </a:solidFill>
                    </a:lnB>
                    <a:solidFill>
                      <a:srgbClr val="FFFFFF"/>
                    </a:solidFill>
                  </a:tcPr>
                </a:tc>
                <a:tc>
                  <a:txBody>
                    <a:bodyPr wrap="square"/>
                    <a:lstStyle/>
                    <a:p>
                      <a:r>
                        <a:rPr sz="800" b="0">
                          <a:solidFill>
                            <a:srgbClr val="26301F"/>
                          </a:solidFill>
                          <a:latin typeface="Segoe UI"/>
                        </a:rPr>
                        <a:t>Nothing is dropped or renamed during a release</a:t>
                      </a:r>
                    </a:p>
                  </a:txBody>
                  <a:tcPr marL="45720" marR="109728" marT="27432" marB="27432" anchor="ctr">
                    <a:lnB w="9525" cap="flat" cmpd="sng" algn="ctr">
                      <a:solidFill>
                        <a:srgbClr val="DCE3D6"/>
                      </a:solidFill>
                    </a:lnB>
                    <a:solidFill>
                      <a:srgbClr val="FFFFFF"/>
                    </a:solidFill>
                  </a:tcPr>
                </a:tc>
                <a:tc>
                  <a:txBody>
                    <a:bodyPr wrap="square"/>
                    <a:lstStyle/>
                    <a:p>
                      <a:r>
                        <a:rPr sz="800" b="0">
                          <a:solidFill>
                            <a:srgbClr val="26301F"/>
                          </a:solidFill>
                          <a:latin typeface="Segoe UI"/>
                        </a:rPr>
                        <a:t>Old and new code both stay correct while a release rolls out, so there is no window in which the application is broken</a:t>
                      </a:r>
                    </a:p>
                  </a:txBody>
                  <a:tcPr marL="45720" marR="109728" marT="27432" marB="27432" anchor="ctr">
                    <a:lnB w="9525" cap="flat" cmpd="sng" algn="ctr">
                      <a:solidFill>
                        <a:srgbClr val="DCE3D6"/>
                      </a:solidFill>
                    </a:lnB>
                    <a:solidFill>
                      <a:srgbClr val="FFFFFF"/>
                    </a:solidFill>
                  </a:tcPr>
                </a:tc>
              </a:tr>
              <a:tr h="500937">
                <a:tc>
                  <a:txBody>
                    <a:bodyPr wrap="square"/>
                    <a:lstStyle/>
                    <a:p>
                      <a:r>
                        <a:rPr sz="800" b="0">
                          <a:solidFill>
                            <a:srgbClr val="26301F"/>
                          </a:solidFill>
                          <a:latin typeface="Segoe UI"/>
                        </a:rPr>
                        <a:t>Enforcement runs on a server, not in the app</a:t>
                      </a:r>
                    </a:p>
                  </a:txBody>
                  <a:tcPr marL="45720" marR="109728" marT="27432" marB="27432" anchor="ctr">
                    <a:lnB w="9525" cap="flat" cmpd="sng" algn="ctr">
                      <a:solidFill>
                        <a:srgbClr val="DCE3D6"/>
                      </a:solidFill>
                    </a:lnB>
                    <a:solidFill>
                      <a:srgbClr val="FFFFFF"/>
                    </a:solidFill>
                  </a:tcPr>
                </a:tc>
                <a:tc>
                  <a:txBody>
                    <a:bodyPr wrap="square"/>
                    <a:lstStyle/>
                    <a:p>
                      <a:r>
                        <a:rPr sz="800" b="0">
                          <a:solidFill>
                            <a:srgbClr val="26301F"/>
                          </a:solidFill>
                          <a:latin typeface="Segoe UI"/>
                        </a:rPr>
                        <a:t>The overdue sweep is a scheduled job, not something triggered by a member opening the application</a:t>
                      </a:r>
                    </a:p>
                  </a:txBody>
                  <a:tcPr marL="45720" marR="109728" marT="27432" marB="27432" anchor="ctr">
                    <a:lnB w="9525" cap="flat" cmpd="sng" algn="ctr">
                      <a:solidFill>
                        <a:srgbClr val="DCE3D6"/>
                      </a:solidFill>
                    </a:lnB>
                    <a:solidFill>
                      <a:srgbClr val="FFFFFF"/>
                    </a:solidFill>
                  </a:tcPr>
                </a:tc>
                <a:tc>
                  <a:txBody>
                    <a:bodyPr wrap="square"/>
                    <a:lstStyle/>
                    <a:p>
                      <a:r>
                        <a:rPr sz="800" b="0">
                          <a:solidFill>
                            <a:srgbClr val="26301F"/>
                          </a:solidFill>
                          <a:latin typeface="Segoe UI"/>
                        </a:rPr>
                        <a:t>Enforcement cannot depend on the person being enforced against opening anything</a:t>
                      </a:r>
                    </a:p>
                  </a:txBody>
                  <a:tcPr marL="45720" marR="109728" marT="27432" marB="27432" anchor="ctr">
                    <a:lnB w="9525" cap="flat" cmpd="sng" algn="ctr">
                      <a:solidFill>
                        <a:srgbClr val="DCE3D6"/>
                      </a:solidFill>
                    </a:lnB>
                    <a:solidFill>
                      <a:srgbClr val="FFFFFF"/>
                    </a:solidFill>
                  </a:tcPr>
                </a:tc>
              </a:tr>
            </a:tbl>
          </a:graphicData>
        </a:graphic>
      </p:graphicFrame>
      <p:sp>
        <p:nvSpPr>
          <p:cNvPr id="8" name="TextBox 7"/>
          <p:cNvSpPr txBox="1"/>
          <p:nvPr/>
        </p:nvSpPr>
        <p:spPr>
          <a:xfrm>
            <a:off x="777240" y="5655399"/>
            <a:ext cx="10637215" cy="731520"/>
          </a:xfrm>
          <a:prstGeom prst="rect">
            <a:avLst/>
          </a:prstGeom>
          <a:noFill/>
        </p:spPr>
        <p:txBody>
          <a:bodyPr wrap="square" lIns="0" rIns="0" tIns="0" bIns="0">
            <a:spAutoFit/>
          </a:bodyPr>
          <a:lstStyle/>
          <a:p>
            <a:pPr algn="l">
              <a:lnSpc>
                <a:spcPct val="140000"/>
              </a:lnSpc>
            </a:pPr>
            <a:r>
              <a:rPr sz="1150" b="0" i="0">
                <a:solidFill>
                  <a:srgbClr val="6F7B68"/>
                </a:solidFill>
                <a:latin typeface="Segoe UI"/>
              </a:rPr>
              <a:t>Sixty unit tests and three hundred and fifty two integration tests pass. The integration suite exercises the money paths end to end rather than simulating them, which is the only way these six can be asserted rather than merely claimed.</a:t>
            </a:r>
          </a:p>
        </p:txBody>
      </p:sp>
    </p:spTree>
  </p:cSld>
  <p:clrMapOvr>
    <a:masterClrMapping/>
  </p:clrMapOvr>
</p:sld>
</file>

<file path=ppt/slides/slide6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777240" y="566928"/>
            <a:ext cx="10637215" cy="219456"/>
          </a:xfrm>
          <a:prstGeom prst="rect">
            <a:avLst/>
          </a:prstGeom>
          <a:noFill/>
        </p:spPr>
        <p:txBody>
          <a:bodyPr wrap="square" lIns="0" rIns="0" tIns="0" bIns="0">
            <a:spAutoFit/>
          </a:bodyPr>
          <a:lstStyle/>
          <a:p>
            <a:pPr algn="l">
              <a:lnSpc>
                <a:spcPct val="125000"/>
              </a:lnSpc>
            </a:pPr>
            <a:r>
              <a:rPr sz="950" b="1" i="0">
                <a:solidFill>
                  <a:srgbClr val="41801A"/>
                </a:solidFill>
                <a:latin typeface="Segoe UI"/>
              </a:rPr>
              <a:t>9  SECURITY</a:t>
            </a:r>
          </a:p>
        </p:txBody>
      </p:sp>
      <p:sp>
        <p:nvSpPr>
          <p:cNvPr id="3" name="TextBox 2"/>
          <p:cNvSpPr txBox="1"/>
          <p:nvPr/>
        </p:nvSpPr>
        <p:spPr>
          <a:xfrm>
            <a:off x="777240" y="841248"/>
            <a:ext cx="10637215" cy="502920"/>
          </a:xfrm>
          <a:prstGeom prst="rect">
            <a:avLst/>
          </a:prstGeom>
          <a:noFill/>
        </p:spPr>
        <p:txBody>
          <a:bodyPr wrap="square" lIns="0" rIns="0" tIns="0" bIns="0">
            <a:spAutoFit/>
          </a:bodyPr>
          <a:lstStyle/>
          <a:p>
            <a:pPr algn="l">
              <a:lnSpc>
                <a:spcPct val="125000"/>
              </a:lnSpc>
            </a:pPr>
            <a:r>
              <a:rPr sz="2700" b="1" i="0">
                <a:solidFill>
                  <a:srgbClr val="0C1408"/>
                </a:solidFill>
                <a:latin typeface="Segoe UI"/>
              </a:rPr>
              <a:t>The secure treasury function</a:t>
            </a:r>
          </a:p>
        </p:txBody>
      </p:sp>
      <p:sp>
        <p:nvSpPr>
          <p:cNvPr id="4" name="Rectangle 3"/>
          <p:cNvSpPr/>
          <p:nvPr/>
        </p:nvSpPr>
        <p:spPr>
          <a:xfrm>
            <a:off x="777240" y="1417320"/>
            <a:ext cx="1371600" cy="22860"/>
          </a:xfrm>
          <a:prstGeom prst="rect">
            <a:avLst/>
          </a:prstGeom>
          <a:solidFill>
            <a:srgbClr val="6DC72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777240" y="6382512"/>
            <a:ext cx="3657600" cy="228600"/>
          </a:xfrm>
          <a:prstGeom prst="rect">
            <a:avLst/>
          </a:prstGeom>
          <a:noFill/>
        </p:spPr>
        <p:txBody>
          <a:bodyPr wrap="square" lIns="0" rIns="0" tIns="0" bIns="0">
            <a:spAutoFit/>
          </a:bodyPr>
          <a:lstStyle/>
          <a:p>
            <a:pPr algn="l">
              <a:lnSpc>
                <a:spcPct val="125000"/>
              </a:lnSpc>
            </a:pPr>
            <a:r>
              <a:rPr sz="900" b="0" i="0">
                <a:solidFill>
                  <a:srgbClr val="9AA694"/>
                </a:solidFill>
                <a:latin typeface="Segoe UI"/>
              </a:rPr>
              <a:t>Halqa  ·  Confidential</a:t>
            </a:r>
          </a:p>
        </p:txBody>
      </p:sp>
      <p:sp>
        <p:nvSpPr>
          <p:cNvPr id="6" name="TextBox 5"/>
          <p:cNvSpPr txBox="1"/>
          <p:nvPr/>
        </p:nvSpPr>
        <p:spPr>
          <a:xfrm>
            <a:off x="10728655" y="6382512"/>
            <a:ext cx="685800" cy="228600"/>
          </a:xfrm>
          <a:prstGeom prst="rect">
            <a:avLst/>
          </a:prstGeom>
          <a:noFill/>
        </p:spPr>
        <p:txBody>
          <a:bodyPr wrap="square" lIns="0" rIns="0" tIns="0" bIns="0">
            <a:spAutoFit/>
          </a:bodyPr>
          <a:lstStyle/>
          <a:p>
            <a:pPr algn="r">
              <a:lnSpc>
                <a:spcPct val="125000"/>
              </a:lnSpc>
            </a:pPr>
            <a:r>
              <a:rPr sz="900" b="0" i="0">
                <a:solidFill>
                  <a:srgbClr val="6F7B68"/>
                </a:solidFill>
                <a:latin typeface="Segoe UI"/>
              </a:rPr>
              <a:t>67</a:t>
            </a:r>
          </a:p>
        </p:txBody>
      </p:sp>
      <p:sp>
        <p:nvSpPr>
          <p:cNvPr id="7" name="TextBox 6"/>
          <p:cNvSpPr txBox="1"/>
          <p:nvPr/>
        </p:nvSpPr>
        <p:spPr>
          <a:xfrm>
            <a:off x="777240" y="1965960"/>
            <a:ext cx="10607040" cy="731520"/>
          </a:xfrm>
          <a:prstGeom prst="rect">
            <a:avLst/>
          </a:prstGeom>
          <a:noFill/>
        </p:spPr>
        <p:txBody>
          <a:bodyPr wrap="square" lIns="0" rIns="0" tIns="0" bIns="0">
            <a:spAutoFit/>
          </a:bodyPr>
          <a:lstStyle/>
          <a:p>
            <a:pPr algn="l">
              <a:lnSpc>
                <a:spcPct val="150000"/>
              </a:lnSpc>
            </a:pPr>
            <a:r>
              <a:rPr sz="1350" b="0" i="0">
                <a:solidFill>
                  <a:srgbClr val="26301F"/>
                </a:solidFill>
                <a:latin typeface="Segoe UI"/>
              </a:rPr>
              <a:t>Halqa holds no member money, but it does hold three things a treasury function has to control: the working balance behind the cover facility, the fee income it earns, and the instruction authority to move other people's money. Each is separated from the others.</a:t>
            </a:r>
          </a:p>
        </p:txBody>
      </p:sp>
      <p:graphicFrame>
        <p:nvGraphicFramePr>
          <p:cNvPr id="8" name="Table 7"/>
          <p:cNvGraphicFramePr>
            <a:graphicFrameLocks noGrp="1"/>
          </p:cNvGraphicFramePr>
          <p:nvPr/>
        </p:nvGraphicFramePr>
        <p:xfrm>
          <a:off x="777240" y="2971800"/>
          <a:ext cx="10607040" cy="2791680"/>
        </p:xfrm>
        <a:graphic>
          <a:graphicData uri="http://schemas.openxmlformats.org/drawingml/2006/table">
            <a:tbl>
              <a:tblPr>
                <a:tableStyleId>{5C22544A-7EE6-4342-B048-85BDC9FD1C3A}</a:tableStyleId>
              </a:tblPr>
              <a:tblGrid>
                <a:gridCol w="2743200"/>
                <a:gridCol w="7863840"/>
              </a:tblGrid>
              <a:tr h="348960">
                <a:tc>
                  <a:txBody>
                    <a:bodyPr wrap="square"/>
                    <a:lstStyle/>
                    <a:p>
                      <a:r>
                        <a:rPr sz="700" b="1">
                          <a:solidFill>
                            <a:srgbClr val="41801A"/>
                          </a:solidFill>
                          <a:latin typeface="Segoe UI"/>
                        </a:rPr>
                        <a:t>CONTROL</a:t>
                      </a:r>
                    </a:p>
                  </a:txBody>
                  <a:tcPr marL="45720" marR="109728" marT="27432" marB="27432" anchor="ctr">
                    <a:lnB w="9525" cap="flat" cmpd="sng" algn="ctr">
                      <a:solidFill>
                        <a:srgbClr val="41801A"/>
                      </a:solidFill>
                    </a:lnB>
                    <a:solidFill>
                      <a:srgbClr val="FFFFFF"/>
                    </a:solidFill>
                  </a:tcPr>
                </a:tc>
                <a:tc>
                  <a:txBody>
                    <a:bodyPr wrap="square"/>
                    <a:lstStyle/>
                    <a:p>
                      <a:r>
                        <a:rPr sz="700" b="1">
                          <a:solidFill>
                            <a:srgbClr val="41801A"/>
                          </a:solidFill>
                          <a:latin typeface="Segoe UI"/>
                        </a:rPr>
                        <a:t>HOW IT WORKS</a:t>
                      </a:r>
                    </a:p>
                  </a:txBody>
                  <a:tcPr marL="45720" marR="109728" marT="27432" marB="27432" anchor="ctr">
                    <a:lnB w="9525" cap="flat" cmpd="sng" algn="ctr">
                      <a:solidFill>
                        <a:srgbClr val="41801A"/>
                      </a:solidFill>
                    </a:lnB>
                    <a:solidFill>
                      <a:srgbClr val="FFFFFF"/>
                    </a:solidFill>
                  </a:tcPr>
                </a:tc>
              </a:tr>
              <a:tr h="348960">
                <a:tc>
                  <a:txBody>
                    <a:bodyPr wrap="square"/>
                    <a:lstStyle/>
                    <a:p>
                      <a:r>
                        <a:rPr sz="700" b="0">
                          <a:solidFill>
                            <a:srgbClr val="26301F"/>
                          </a:solidFill>
                          <a:latin typeface="Segoe UI"/>
                        </a:rPr>
                        <a:t>Segregation</a:t>
                      </a:r>
                    </a:p>
                  </a:txBody>
                  <a:tcPr marL="45720" marR="109728" marT="27432" marB="27432" anchor="ctr">
                    <a:lnB w="9525" cap="flat" cmpd="sng" algn="ctr">
                      <a:solidFill>
                        <a:srgbClr val="DCE3D6"/>
                      </a:solidFill>
                    </a:lnB>
                    <a:solidFill>
                      <a:srgbClr val="FFFFFF"/>
                    </a:solidFill>
                  </a:tcPr>
                </a:tc>
                <a:tc>
                  <a:txBody>
                    <a:bodyPr wrap="square"/>
                    <a:lstStyle/>
                    <a:p>
                      <a:r>
                        <a:rPr sz="700" b="0">
                          <a:solidFill>
                            <a:srgbClr val="26301F"/>
                          </a:solidFill>
                          <a:latin typeface="Segoe UI"/>
                        </a:rPr>
                        <a:t>Fee income, the cover facility working balance and operating cash are three separate accounts with three separate authorities. The cover balance is never available to operations, so it cannot be spent on payroll in a bad month</a:t>
                      </a:r>
                    </a:p>
                  </a:txBody>
                  <a:tcPr marL="45720" marR="109728" marT="27432" marB="27432" anchor="ctr">
                    <a:lnB w="9525" cap="flat" cmpd="sng" algn="ctr">
                      <a:solidFill>
                        <a:srgbClr val="DCE3D6"/>
                      </a:solidFill>
                    </a:lnB>
                    <a:solidFill>
                      <a:srgbClr val="FFFFFF"/>
                    </a:solidFill>
                  </a:tcPr>
                </a:tc>
              </a:tr>
              <a:tr h="348960">
                <a:tc>
                  <a:txBody>
                    <a:bodyPr wrap="square"/>
                    <a:lstStyle/>
                    <a:p>
                      <a:r>
                        <a:rPr sz="700" b="0">
                          <a:solidFill>
                            <a:srgbClr val="26301F"/>
                          </a:solidFill>
                          <a:latin typeface="Segoe UI"/>
                        </a:rPr>
                        <a:t>Instruction authority is not payment authority</a:t>
                      </a:r>
                    </a:p>
                  </a:txBody>
                  <a:tcPr marL="45720" marR="109728" marT="27432" marB="27432" anchor="ctr">
                    <a:lnB w="9525" cap="flat" cmpd="sng" algn="ctr">
                      <a:solidFill>
                        <a:srgbClr val="DCE3D6"/>
                      </a:solidFill>
                    </a:lnB>
                    <a:solidFill>
                      <a:srgbClr val="FFFFFF"/>
                    </a:solidFill>
                  </a:tcPr>
                </a:tc>
                <a:tc>
                  <a:txBody>
                    <a:bodyPr wrap="square"/>
                    <a:lstStyle/>
                    <a:p>
                      <a:r>
                        <a:rPr sz="700" b="0">
                          <a:solidFill>
                            <a:srgbClr val="26301F"/>
                          </a:solidFill>
                          <a:latin typeface="Segoe UI"/>
                        </a:rPr>
                        <a:t>The platform can instruct the aggregator to move money between two members. It cannot instruct a payment to itself, to an employee, or to any account not registered as a circle participant. That restriction is enforced in the payment layer, not by policy</a:t>
                      </a:r>
                    </a:p>
                  </a:txBody>
                  <a:tcPr marL="45720" marR="109728" marT="27432" marB="27432" anchor="ctr">
                    <a:lnB w="9525" cap="flat" cmpd="sng" algn="ctr">
                      <a:solidFill>
                        <a:srgbClr val="DCE3D6"/>
                      </a:solidFill>
                    </a:lnB>
                    <a:solidFill>
                      <a:srgbClr val="FFFFFF"/>
                    </a:solidFill>
                  </a:tcPr>
                </a:tc>
              </a:tr>
              <a:tr h="348960">
                <a:tc>
                  <a:txBody>
                    <a:bodyPr wrap="square"/>
                    <a:lstStyle/>
                    <a:p>
                      <a:r>
                        <a:rPr sz="700" b="0">
                          <a:solidFill>
                            <a:srgbClr val="26301F"/>
                          </a:solidFill>
                          <a:latin typeface="Segoe UI"/>
                        </a:rPr>
                        <a:t>Dual control on any outbound</a:t>
                      </a:r>
                    </a:p>
                  </a:txBody>
                  <a:tcPr marL="45720" marR="109728" marT="27432" marB="27432" anchor="ctr">
                    <a:lnB w="9525" cap="flat" cmpd="sng" algn="ctr">
                      <a:solidFill>
                        <a:srgbClr val="DCE3D6"/>
                      </a:solidFill>
                    </a:lnB>
                    <a:solidFill>
                      <a:srgbClr val="FFFFFF"/>
                    </a:solidFill>
                  </a:tcPr>
                </a:tc>
                <a:tc>
                  <a:txBody>
                    <a:bodyPr wrap="square"/>
                    <a:lstStyle/>
                    <a:p>
                      <a:r>
                        <a:rPr sz="700" b="0">
                          <a:solidFill>
                            <a:srgbClr val="26301F"/>
                          </a:solidFill>
                          <a:latin typeface="Segoe UI"/>
                        </a:rPr>
                        <a:t>Any movement out of a Halqa account requires two named approvers, and an approver cannot approve a payment they initiated</a:t>
                      </a:r>
                    </a:p>
                  </a:txBody>
                  <a:tcPr marL="45720" marR="109728" marT="27432" marB="27432" anchor="ctr">
                    <a:lnB w="9525" cap="flat" cmpd="sng" algn="ctr">
                      <a:solidFill>
                        <a:srgbClr val="DCE3D6"/>
                      </a:solidFill>
                    </a:lnB>
                    <a:solidFill>
                      <a:srgbClr val="FFFFFF"/>
                    </a:solidFill>
                  </a:tcPr>
                </a:tc>
              </a:tr>
              <a:tr h="348960">
                <a:tc>
                  <a:txBody>
                    <a:bodyPr wrap="square"/>
                    <a:lstStyle/>
                    <a:p>
                      <a:r>
                        <a:rPr sz="700" b="0">
                          <a:solidFill>
                            <a:srgbClr val="26301F"/>
                          </a:solidFill>
                          <a:latin typeface="Segoe UI"/>
                        </a:rPr>
                        <a:t>Daily reconciliation</a:t>
                      </a:r>
                    </a:p>
                  </a:txBody>
                  <a:tcPr marL="45720" marR="109728" marT="27432" marB="27432" anchor="ctr">
                    <a:lnB w="9525" cap="flat" cmpd="sng" algn="ctr">
                      <a:solidFill>
                        <a:srgbClr val="DCE3D6"/>
                      </a:solidFill>
                    </a:lnB>
                    <a:solidFill>
                      <a:srgbClr val="FFFFFF"/>
                    </a:solidFill>
                  </a:tcPr>
                </a:tc>
                <a:tc>
                  <a:txBody>
                    <a:bodyPr wrap="square"/>
                    <a:lstStyle/>
                    <a:p>
                      <a:r>
                        <a:rPr sz="700" b="0">
                          <a:solidFill>
                            <a:srgbClr val="26301F"/>
                          </a:solidFill>
                          <a:latin typeface="Segoe UI"/>
                        </a:rPr>
                        <a:t>The internal ledger is reconciled daily against the aggregator's settlement file and against bank statements. Breaks are worked the same day, and an unreconciled break older than one business day escalates automatically</a:t>
                      </a:r>
                    </a:p>
                  </a:txBody>
                  <a:tcPr marL="45720" marR="109728" marT="27432" marB="27432" anchor="ctr">
                    <a:lnB w="9525" cap="flat" cmpd="sng" algn="ctr">
                      <a:solidFill>
                        <a:srgbClr val="DCE3D6"/>
                      </a:solidFill>
                    </a:lnB>
                    <a:solidFill>
                      <a:srgbClr val="FFFFFF"/>
                    </a:solidFill>
                  </a:tcPr>
                </a:tc>
              </a:tr>
              <a:tr h="348960">
                <a:tc>
                  <a:txBody>
                    <a:bodyPr wrap="square"/>
                    <a:lstStyle/>
                    <a:p>
                      <a:r>
                        <a:rPr sz="700" b="0">
                          <a:solidFill>
                            <a:srgbClr val="26301F"/>
                          </a:solidFill>
                          <a:latin typeface="Segoe UI"/>
                        </a:rPr>
                        <a:t>Cover facility discipline</a:t>
                      </a:r>
                    </a:p>
                  </a:txBody>
                  <a:tcPr marL="45720" marR="109728" marT="27432" marB="27432" anchor="ctr">
                    <a:lnB w="9525" cap="flat" cmpd="sng" algn="ctr">
                      <a:solidFill>
                        <a:srgbClr val="DCE3D6"/>
                      </a:solidFill>
                    </a:lnB>
                    <a:solidFill>
                      <a:srgbClr val="FFFFFF"/>
                    </a:solidFill>
                  </a:tcPr>
                </a:tc>
                <a:tc>
                  <a:txBody>
                    <a:bodyPr wrap="square"/>
                    <a:lstStyle/>
                    <a:p>
                      <a:r>
                        <a:rPr sz="700" b="0">
                          <a:solidFill>
                            <a:srgbClr val="26301F"/>
                          </a:solidFill>
                          <a:latin typeface="Segoe UI"/>
                        </a:rPr>
                        <a:t>Reserves are held against the facility rather than promised out of future revenue, capped per circle, per host, per member and in aggregate, and reinsured above the aggregate cap</a:t>
                      </a:r>
                    </a:p>
                  </a:txBody>
                  <a:tcPr marL="45720" marR="109728" marT="27432" marB="27432" anchor="ctr">
                    <a:lnB w="9525" cap="flat" cmpd="sng" algn="ctr">
                      <a:solidFill>
                        <a:srgbClr val="DCE3D6"/>
                      </a:solidFill>
                    </a:lnB>
                    <a:solidFill>
                      <a:srgbClr val="FFFFFF"/>
                    </a:solidFill>
                  </a:tcPr>
                </a:tc>
              </a:tr>
              <a:tr h="348960">
                <a:tc>
                  <a:txBody>
                    <a:bodyPr wrap="square"/>
                    <a:lstStyle/>
                    <a:p>
                      <a:r>
                        <a:rPr sz="700" b="0">
                          <a:solidFill>
                            <a:srgbClr val="26301F"/>
                          </a:solidFill>
                          <a:latin typeface="Segoe UI"/>
                        </a:rPr>
                        <a:t>No float in Halqa's name</a:t>
                      </a:r>
                    </a:p>
                  </a:txBody>
                  <a:tcPr marL="45720" marR="109728" marT="27432" marB="27432" anchor="ctr">
                    <a:lnB w="9525" cap="flat" cmpd="sng" algn="ctr">
                      <a:solidFill>
                        <a:srgbClr val="DCE3D6"/>
                      </a:solidFill>
                    </a:lnB>
                    <a:solidFill>
                      <a:srgbClr val="FFFFFF"/>
                    </a:solidFill>
                  </a:tcPr>
                </a:tc>
                <a:tc>
                  <a:txBody>
                    <a:bodyPr wrap="square"/>
                    <a:lstStyle/>
                    <a:p>
                      <a:r>
                        <a:rPr sz="700" b="0">
                          <a:solidFill>
                            <a:srgbClr val="26301F"/>
                          </a:solidFill>
                          <a:latin typeface="Segoe UI"/>
                        </a:rPr>
                        <a:t>Money placed between payday and payout buys units in the paying member's own name, held by the trustee. It never appears as a Halqa asset, so it cannot be reached by a Halqa creditor</a:t>
                      </a:r>
                    </a:p>
                  </a:txBody>
                  <a:tcPr marL="45720" marR="109728" marT="27432" marB="27432" anchor="ctr">
                    <a:lnB w="9525" cap="flat" cmpd="sng" algn="ctr">
                      <a:solidFill>
                        <a:srgbClr val="DCE3D6"/>
                      </a:solidFill>
                    </a:lnB>
                    <a:solidFill>
                      <a:srgbClr val="FFFFFF"/>
                    </a:solidFill>
                  </a:tcPr>
                </a:tc>
              </a:tr>
              <a:tr h="348960">
                <a:tc>
                  <a:txBody>
                    <a:bodyPr wrap="square"/>
                    <a:lstStyle/>
                    <a:p>
                      <a:r>
                        <a:rPr sz="700" b="0">
                          <a:solidFill>
                            <a:srgbClr val="26301F"/>
                          </a:solidFill>
                          <a:latin typeface="Segoe UI"/>
                        </a:rPr>
                        <a:t>Segregation of duties in engineering</a:t>
                      </a:r>
                    </a:p>
                  </a:txBody>
                  <a:tcPr marL="45720" marR="109728" marT="27432" marB="27432" anchor="ctr">
                    <a:lnB w="9525" cap="flat" cmpd="sng" algn="ctr">
                      <a:solidFill>
                        <a:srgbClr val="DCE3D6"/>
                      </a:solidFill>
                    </a:lnB>
                    <a:solidFill>
                      <a:srgbClr val="FFFFFF"/>
                    </a:solidFill>
                  </a:tcPr>
                </a:tc>
                <a:tc>
                  <a:txBody>
                    <a:bodyPr wrap="square"/>
                    <a:lstStyle/>
                    <a:p>
                      <a:r>
                        <a:rPr sz="700" b="0">
                          <a:solidFill>
                            <a:srgbClr val="26301F"/>
                          </a:solidFill>
                          <a:latin typeface="Segoe UI"/>
                        </a:rPr>
                        <a:t>The people who can deploy code cannot approve payments. Production database credentials are separate from application credentials and are not held by the same people</a:t>
                      </a:r>
                    </a:p>
                  </a:txBody>
                  <a:tcPr marL="45720" marR="109728" marT="27432" marB="27432" anchor="ctr">
                    <a:lnB w="9525" cap="flat" cmpd="sng" algn="ctr">
                      <a:solidFill>
                        <a:srgbClr val="DCE3D6"/>
                      </a:solidFill>
                    </a:lnB>
                    <a:solidFill>
                      <a:srgbClr val="FFFFFF"/>
                    </a:solidFill>
                  </a:tcPr>
                </a:tc>
              </a:tr>
            </a:tbl>
          </a:graphicData>
        </a:graphic>
      </p:graphicFrame>
    </p:spTree>
  </p:cSld>
  <p:clrMapOvr>
    <a:masterClrMapping/>
  </p:clrMapOvr>
</p:sld>
</file>

<file path=ppt/slides/slide6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777240" y="566928"/>
            <a:ext cx="10637215" cy="219456"/>
          </a:xfrm>
          <a:prstGeom prst="rect">
            <a:avLst/>
          </a:prstGeom>
          <a:noFill/>
        </p:spPr>
        <p:txBody>
          <a:bodyPr wrap="square" lIns="0" rIns="0" tIns="0" bIns="0">
            <a:spAutoFit/>
          </a:bodyPr>
          <a:lstStyle/>
          <a:p>
            <a:pPr algn="l">
              <a:lnSpc>
                <a:spcPct val="125000"/>
              </a:lnSpc>
            </a:pPr>
            <a:r>
              <a:rPr sz="950" b="1" i="0">
                <a:solidFill>
                  <a:srgbClr val="41801A"/>
                </a:solidFill>
                <a:latin typeface="Segoe UI"/>
              </a:rPr>
              <a:t>9  SECURITY</a:t>
            </a:r>
          </a:p>
        </p:txBody>
      </p:sp>
      <p:sp>
        <p:nvSpPr>
          <p:cNvPr id="3" name="TextBox 2"/>
          <p:cNvSpPr txBox="1"/>
          <p:nvPr/>
        </p:nvSpPr>
        <p:spPr>
          <a:xfrm>
            <a:off x="777240" y="841248"/>
            <a:ext cx="10637215" cy="502920"/>
          </a:xfrm>
          <a:prstGeom prst="rect">
            <a:avLst/>
          </a:prstGeom>
          <a:noFill/>
        </p:spPr>
        <p:txBody>
          <a:bodyPr wrap="square" lIns="0" rIns="0" tIns="0" bIns="0">
            <a:spAutoFit/>
          </a:bodyPr>
          <a:lstStyle/>
          <a:p>
            <a:pPr algn="l">
              <a:lnSpc>
                <a:spcPct val="125000"/>
              </a:lnSpc>
            </a:pPr>
            <a:r>
              <a:rPr sz="2700" b="1" i="0">
                <a:solidFill>
                  <a:srgbClr val="0C1408"/>
                </a:solidFill>
                <a:latin typeface="Segoe UI"/>
              </a:rPr>
              <a:t>Anti money laundering, and why this model is a hard target</a:t>
            </a:r>
          </a:p>
        </p:txBody>
      </p:sp>
      <p:sp>
        <p:nvSpPr>
          <p:cNvPr id="4" name="Rectangle 3"/>
          <p:cNvSpPr/>
          <p:nvPr/>
        </p:nvSpPr>
        <p:spPr>
          <a:xfrm>
            <a:off x="777240" y="1417320"/>
            <a:ext cx="1371600" cy="22860"/>
          </a:xfrm>
          <a:prstGeom prst="rect">
            <a:avLst/>
          </a:prstGeom>
          <a:solidFill>
            <a:srgbClr val="6DC72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777240" y="6382512"/>
            <a:ext cx="3657600" cy="228600"/>
          </a:xfrm>
          <a:prstGeom prst="rect">
            <a:avLst/>
          </a:prstGeom>
          <a:noFill/>
        </p:spPr>
        <p:txBody>
          <a:bodyPr wrap="square" lIns="0" rIns="0" tIns="0" bIns="0">
            <a:spAutoFit/>
          </a:bodyPr>
          <a:lstStyle/>
          <a:p>
            <a:pPr algn="l">
              <a:lnSpc>
                <a:spcPct val="125000"/>
              </a:lnSpc>
            </a:pPr>
            <a:r>
              <a:rPr sz="900" b="0" i="0">
                <a:solidFill>
                  <a:srgbClr val="9AA694"/>
                </a:solidFill>
                <a:latin typeface="Segoe UI"/>
              </a:rPr>
              <a:t>Halqa  ·  Confidential</a:t>
            </a:r>
          </a:p>
        </p:txBody>
      </p:sp>
      <p:sp>
        <p:nvSpPr>
          <p:cNvPr id="6" name="TextBox 5"/>
          <p:cNvSpPr txBox="1"/>
          <p:nvPr/>
        </p:nvSpPr>
        <p:spPr>
          <a:xfrm>
            <a:off x="10728655" y="6382512"/>
            <a:ext cx="685800" cy="228600"/>
          </a:xfrm>
          <a:prstGeom prst="rect">
            <a:avLst/>
          </a:prstGeom>
          <a:noFill/>
        </p:spPr>
        <p:txBody>
          <a:bodyPr wrap="square" lIns="0" rIns="0" tIns="0" bIns="0">
            <a:spAutoFit/>
          </a:bodyPr>
          <a:lstStyle/>
          <a:p>
            <a:pPr algn="r">
              <a:lnSpc>
                <a:spcPct val="125000"/>
              </a:lnSpc>
            </a:pPr>
            <a:r>
              <a:rPr sz="900" b="0" i="0">
                <a:solidFill>
                  <a:srgbClr val="6F7B68"/>
                </a:solidFill>
                <a:latin typeface="Segoe UI"/>
              </a:rPr>
              <a:t>68</a:t>
            </a:r>
          </a:p>
        </p:txBody>
      </p:sp>
      <p:sp>
        <p:nvSpPr>
          <p:cNvPr id="7" name="TextBox 6"/>
          <p:cNvSpPr txBox="1"/>
          <p:nvPr/>
        </p:nvSpPr>
        <p:spPr>
          <a:xfrm>
            <a:off x="777240" y="1965960"/>
            <a:ext cx="4983480" cy="274320"/>
          </a:xfrm>
          <a:prstGeom prst="rect">
            <a:avLst/>
          </a:prstGeom>
          <a:noFill/>
        </p:spPr>
        <p:txBody>
          <a:bodyPr wrap="square" lIns="0" rIns="0" tIns="0" bIns="0">
            <a:spAutoFit/>
          </a:bodyPr>
          <a:lstStyle/>
          <a:p>
            <a:pPr algn="l">
              <a:lnSpc>
                <a:spcPct val="125000"/>
              </a:lnSpc>
            </a:pPr>
            <a:r>
              <a:rPr sz="1250" b="1" i="0">
                <a:solidFill>
                  <a:srgbClr val="41801A"/>
                </a:solidFill>
                <a:latin typeface="Segoe UI"/>
              </a:rPr>
              <a:t>Why the architecture itself is the first control</a:t>
            </a:r>
          </a:p>
        </p:txBody>
      </p:sp>
      <p:sp>
        <p:nvSpPr>
          <p:cNvPr id="8" name="TextBox 7"/>
          <p:cNvSpPr txBox="1"/>
          <p:nvPr/>
        </p:nvSpPr>
        <p:spPr>
          <a:xfrm>
            <a:off x="777240" y="2350008"/>
            <a:ext cx="4983480" cy="3017520"/>
          </a:xfrm>
          <a:prstGeom prst="rect">
            <a:avLst/>
          </a:prstGeom>
          <a:noFill/>
        </p:spPr>
        <p:txBody>
          <a:bodyPr wrap="square" lIns="0" rIns="0" tIns="0" bIns="0">
            <a:spAutoFit/>
          </a:bodyPr>
          <a:lstStyle/>
          <a:p>
            <a:pPr algn="l">
              <a:lnSpc>
                <a:spcPct val="150000"/>
              </a:lnSpc>
            </a:pPr>
            <a:r>
              <a:rPr sz="1050" b="0" i="0">
                <a:solidFill>
                  <a:srgbClr val="26301F"/>
                </a:solidFill>
                <a:latin typeface="Segoe UI"/>
              </a:rPr>
              <a:t>Money laundering needs three things: placement, layering and integration. A committee run on Halqa is a bad instrument for all three.</a:t>
            </a:r>
          </a:p>
          <a:p>
            <a:pPr algn="l">
              <a:lnSpc>
                <a:spcPct val="150000"/>
              </a:lnSpc>
              <a:spcBef>
                <a:spcPts val="900"/>
              </a:spcBef>
            </a:pPr>
            <a:r>
              <a:rPr sz="1050" b="0" i="0">
                <a:solidFill>
                  <a:srgbClr val="26301F"/>
                </a:solidFill>
                <a:latin typeface="Segoe UI"/>
              </a:rPr>
              <a:t/>
            </a:r>
          </a:p>
          <a:p>
            <a:pPr algn="l">
              <a:lnSpc>
                <a:spcPct val="150000"/>
              </a:lnSpc>
              <a:spcBef>
                <a:spcPts val="900"/>
              </a:spcBef>
            </a:pPr>
            <a:r>
              <a:rPr sz="1050" b="0" i="0">
                <a:solidFill>
                  <a:srgbClr val="26301F"/>
                </a:solidFill>
                <a:latin typeface="Segoe UI"/>
              </a:rPr>
              <a:t>There is no placement, because Halqa never accepts cash and never holds a balance. Money enters from a bank account or wallet that has already been through somebody else's customer checks, on a rail operated by a licensed institution.</a:t>
            </a:r>
          </a:p>
          <a:p>
            <a:pPr algn="l">
              <a:lnSpc>
                <a:spcPct val="150000"/>
              </a:lnSpc>
              <a:spcBef>
                <a:spcPts val="900"/>
              </a:spcBef>
            </a:pPr>
            <a:r>
              <a:rPr sz="1050" b="0" i="0">
                <a:solidFill>
                  <a:srgbClr val="26301F"/>
                </a:solidFill>
                <a:latin typeface="Segoe UI"/>
              </a:rPr>
              <a:t/>
            </a:r>
          </a:p>
          <a:p>
            <a:pPr algn="l">
              <a:lnSpc>
                <a:spcPct val="150000"/>
              </a:lnSpc>
              <a:spcBef>
                <a:spcPts val="900"/>
              </a:spcBef>
            </a:pPr>
            <a:r>
              <a:rPr sz="1050" b="0" i="0">
                <a:solidFill>
                  <a:srgbClr val="26301F"/>
                </a:solidFill>
                <a:latin typeface="Segoe UI"/>
              </a:rPr>
              <a:t>There is no layering, because every rupee moves from one named identity card to another named identity card on a fixed published schedule, and the whole path is written to an append only ledger.</a:t>
            </a:r>
          </a:p>
          <a:p>
            <a:pPr algn="l">
              <a:lnSpc>
                <a:spcPct val="150000"/>
              </a:lnSpc>
              <a:spcBef>
                <a:spcPts val="900"/>
              </a:spcBef>
            </a:pPr>
            <a:r>
              <a:rPr sz="1050" b="0" i="0">
                <a:solidFill>
                  <a:srgbClr val="26301F"/>
                </a:solidFill>
                <a:latin typeface="Segoe UI"/>
              </a:rPr>
              <a:t/>
            </a:r>
          </a:p>
          <a:p>
            <a:pPr algn="l">
              <a:lnSpc>
                <a:spcPct val="150000"/>
              </a:lnSpc>
              <a:spcBef>
                <a:spcPts val="900"/>
              </a:spcBef>
            </a:pPr>
            <a:r>
              <a:rPr sz="1050" b="0" i="0">
                <a:solidFill>
                  <a:srgbClr val="26301F"/>
                </a:solidFill>
                <a:latin typeface="Segoe UI"/>
              </a:rPr>
              <a:t>And the amounts are wrong. A member moves a fixed sum on a schedule anybody can read in advance. Nobody launders through an instrument that publishes what it will do next month.</a:t>
            </a:r>
          </a:p>
        </p:txBody>
      </p:sp>
      <p:sp>
        <p:nvSpPr>
          <p:cNvPr id="9" name="Rectangle 8"/>
          <p:cNvSpPr/>
          <p:nvPr/>
        </p:nvSpPr>
        <p:spPr>
          <a:xfrm>
            <a:off x="6062472" y="1965960"/>
            <a:ext cx="9525" cy="3017520"/>
          </a:xfrm>
          <a:prstGeom prst="rect">
            <a:avLst/>
          </a:prstGeom>
          <a:solidFill>
            <a:srgbClr val="E1E7D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6400800" y="1965960"/>
            <a:ext cx="4983480" cy="274320"/>
          </a:xfrm>
          <a:prstGeom prst="rect">
            <a:avLst/>
          </a:prstGeom>
          <a:noFill/>
        </p:spPr>
        <p:txBody>
          <a:bodyPr wrap="square" lIns="0" rIns="0" tIns="0" bIns="0">
            <a:spAutoFit/>
          </a:bodyPr>
          <a:lstStyle/>
          <a:p>
            <a:pPr algn="l">
              <a:lnSpc>
                <a:spcPct val="125000"/>
              </a:lnSpc>
            </a:pPr>
            <a:r>
              <a:rPr sz="1250" b="1" i="0">
                <a:solidFill>
                  <a:srgbClr val="41801A"/>
                </a:solidFill>
                <a:latin typeface="Segoe UI"/>
              </a:rPr>
              <a:t>The controls on top of it</a:t>
            </a:r>
          </a:p>
        </p:txBody>
      </p:sp>
      <p:sp>
        <p:nvSpPr>
          <p:cNvPr id="11" name="TextBox 10"/>
          <p:cNvSpPr txBox="1"/>
          <p:nvPr/>
        </p:nvSpPr>
        <p:spPr>
          <a:xfrm>
            <a:off x="6400800" y="2350008"/>
            <a:ext cx="4983480" cy="3017520"/>
          </a:xfrm>
          <a:prstGeom prst="rect">
            <a:avLst/>
          </a:prstGeom>
          <a:noFill/>
        </p:spPr>
        <p:txBody>
          <a:bodyPr wrap="square" lIns="0" rIns="0" tIns="0" bIns="0">
            <a:spAutoFit/>
          </a:bodyPr>
          <a:lstStyle/>
          <a:p>
            <a:pPr algn="l">
              <a:lnSpc>
                <a:spcPct val="150000"/>
              </a:lnSpc>
            </a:pPr>
            <a:r>
              <a:rPr sz="1050" b="0" i="0">
                <a:solidFill>
                  <a:srgbClr val="26301F"/>
                </a:solidFill>
                <a:latin typeface="Segoe UI"/>
              </a:rPr>
              <a:t>Every member is identified against the national database at signup, with the identity number, the registered account title and, on financial products, biometric verification. There is no anonymous participation and no account opened on a number alone.</a:t>
            </a:r>
          </a:p>
          <a:p>
            <a:pPr algn="l">
              <a:lnSpc>
                <a:spcPct val="150000"/>
              </a:lnSpc>
              <a:spcBef>
                <a:spcPts val="900"/>
              </a:spcBef>
            </a:pPr>
            <a:r>
              <a:rPr sz="1050" b="0" i="0">
                <a:solidFill>
                  <a:srgbClr val="26301F"/>
                </a:solidFill>
                <a:latin typeface="Segoe UI"/>
              </a:rPr>
              <a:t/>
            </a:r>
          </a:p>
          <a:p>
            <a:pPr algn="l">
              <a:lnSpc>
                <a:spcPct val="150000"/>
              </a:lnSpc>
              <a:spcBef>
                <a:spcPts val="900"/>
              </a:spcBef>
            </a:pPr>
            <a:r>
              <a:rPr sz="1050" b="0" i="0">
                <a:solidFill>
                  <a:srgbClr val="26301F"/>
                </a:solidFill>
                <a:latin typeface="Segoe UI"/>
              </a:rPr>
              <a:t>Uniqueness is enforced on the identity number, the telephone number and the electronic address, so one person cannot become several members.</a:t>
            </a:r>
          </a:p>
          <a:p>
            <a:pPr algn="l">
              <a:lnSpc>
                <a:spcPct val="150000"/>
              </a:lnSpc>
              <a:spcBef>
                <a:spcPts val="900"/>
              </a:spcBef>
            </a:pPr>
            <a:r>
              <a:rPr sz="1050" b="0" i="0">
                <a:solidFill>
                  <a:srgbClr val="26301F"/>
                </a:solidFill>
                <a:latin typeface="Segoe UI"/>
              </a:rPr>
              <a:t/>
            </a:r>
          </a:p>
          <a:p>
            <a:pPr algn="l">
              <a:lnSpc>
                <a:spcPct val="150000"/>
              </a:lnSpc>
              <a:spcBef>
                <a:spcPts val="900"/>
              </a:spcBef>
            </a:pPr>
            <a:r>
              <a:rPr sz="1050" b="0" i="0">
                <a:solidFill>
                  <a:srgbClr val="26301F"/>
                </a:solidFill>
                <a:latin typeface="Segoe UI"/>
              </a:rPr>
              <a:t>Device and network clustering is monitored. Several accounts operating from one device or one address is an automatic denial, which is also the anti fraud control.</a:t>
            </a:r>
          </a:p>
          <a:p>
            <a:pPr algn="l">
              <a:lnSpc>
                <a:spcPct val="150000"/>
              </a:lnSpc>
              <a:spcBef>
                <a:spcPts val="900"/>
              </a:spcBef>
            </a:pPr>
            <a:r>
              <a:rPr sz="1050" b="0" i="0">
                <a:solidFill>
                  <a:srgbClr val="26301F"/>
                </a:solidFill>
                <a:latin typeface="Segoe UI"/>
              </a:rPr>
              <a:t/>
            </a:r>
          </a:p>
          <a:p>
            <a:pPr algn="l">
              <a:lnSpc>
                <a:spcPct val="150000"/>
              </a:lnSpc>
              <a:spcBef>
                <a:spcPts val="900"/>
              </a:spcBef>
            </a:pPr>
            <a:r>
              <a:rPr sz="1050" b="0" i="0">
                <a:solidFill>
                  <a:srgbClr val="26301F"/>
                </a:solidFill>
                <a:latin typeface="Segoe UI"/>
              </a:rPr>
              <a:t>The host concurrency ceiling exists for the same reason: one person assembling an artificial network of circles is both the fraud topology and the laundering topology, so one control answers both.</a:t>
            </a:r>
          </a:p>
          <a:p>
            <a:pPr algn="l">
              <a:lnSpc>
                <a:spcPct val="150000"/>
              </a:lnSpc>
              <a:spcBef>
                <a:spcPts val="900"/>
              </a:spcBef>
            </a:pPr>
            <a:r>
              <a:rPr sz="1050" b="0" i="0">
                <a:solidFill>
                  <a:srgbClr val="26301F"/>
                </a:solidFill>
                <a:latin typeface="Segoe UI"/>
              </a:rPr>
              <a:t/>
            </a:r>
          </a:p>
          <a:p>
            <a:pPr algn="l">
              <a:lnSpc>
                <a:spcPct val="150000"/>
              </a:lnSpc>
              <a:spcBef>
                <a:spcPts val="900"/>
              </a:spcBef>
            </a:pPr>
            <a:r>
              <a:rPr sz="1050" b="0" i="0">
                <a:solidFill>
                  <a:srgbClr val="26301F"/>
                </a:solidFill>
                <a:latin typeface="Segoe UI"/>
              </a:rPr>
              <a:t>Roster overlap across circles is monitored, and unusual patterns are escalated for human review with the evidence pack already assembled.</a:t>
            </a:r>
          </a:p>
        </p:txBody>
      </p:sp>
      <p:sp>
        <p:nvSpPr>
          <p:cNvPr id="12" name="TextBox 11"/>
          <p:cNvSpPr txBox="1"/>
          <p:nvPr/>
        </p:nvSpPr>
        <p:spPr>
          <a:xfrm>
            <a:off x="777240" y="5532120"/>
            <a:ext cx="10607040" cy="731520"/>
          </a:xfrm>
          <a:prstGeom prst="rect">
            <a:avLst/>
          </a:prstGeom>
          <a:noFill/>
        </p:spPr>
        <p:txBody>
          <a:bodyPr wrap="square" lIns="0" rIns="0" tIns="0" bIns="0">
            <a:spAutoFit/>
          </a:bodyPr>
          <a:lstStyle/>
          <a:p>
            <a:pPr algn="l">
              <a:lnSpc>
                <a:spcPct val="140000"/>
              </a:lnSpc>
            </a:pPr>
            <a:r>
              <a:rPr sz="1150" b="0" i="0">
                <a:solidFill>
                  <a:srgbClr val="6F7B68"/>
                </a:solidFill>
                <a:latin typeface="Segoe UI"/>
              </a:rPr>
              <a:t>The regulated party on the rail is the licensed aggregator, which carries the transaction monitoring obligation on the payment itself. Halqa's obligation is the identity and pattern layer above it, and that is where these controls sit.</a:t>
            </a:r>
          </a:p>
        </p:txBody>
      </p:sp>
    </p:spTree>
  </p:cSld>
  <p:clrMapOvr>
    <a:masterClrMapping/>
  </p:clrMapOvr>
</p:sld>
</file>

<file path=ppt/slides/slide6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777240" y="566928"/>
            <a:ext cx="10637215" cy="219456"/>
          </a:xfrm>
          <a:prstGeom prst="rect">
            <a:avLst/>
          </a:prstGeom>
          <a:noFill/>
        </p:spPr>
        <p:txBody>
          <a:bodyPr wrap="square" lIns="0" rIns="0" tIns="0" bIns="0">
            <a:spAutoFit/>
          </a:bodyPr>
          <a:lstStyle/>
          <a:p>
            <a:pPr algn="l">
              <a:lnSpc>
                <a:spcPct val="125000"/>
              </a:lnSpc>
            </a:pPr>
            <a:r>
              <a:rPr sz="950" b="1" i="0">
                <a:solidFill>
                  <a:srgbClr val="41801A"/>
                </a:solidFill>
                <a:latin typeface="Segoe UI"/>
              </a:rPr>
              <a:t>9  THE APPLICATION</a:t>
            </a:r>
          </a:p>
        </p:txBody>
      </p:sp>
      <p:sp>
        <p:nvSpPr>
          <p:cNvPr id="3" name="TextBox 2"/>
          <p:cNvSpPr txBox="1"/>
          <p:nvPr/>
        </p:nvSpPr>
        <p:spPr>
          <a:xfrm>
            <a:off x="777240" y="841248"/>
            <a:ext cx="10637215" cy="502920"/>
          </a:xfrm>
          <a:prstGeom prst="rect">
            <a:avLst/>
          </a:prstGeom>
          <a:noFill/>
        </p:spPr>
        <p:txBody>
          <a:bodyPr wrap="square" lIns="0" rIns="0" tIns="0" bIns="0">
            <a:spAutoFit/>
          </a:bodyPr>
          <a:lstStyle/>
          <a:p>
            <a:pPr algn="l">
              <a:lnSpc>
                <a:spcPct val="125000"/>
              </a:lnSpc>
            </a:pPr>
            <a:r>
              <a:rPr sz="2700" b="1" i="0">
                <a:solidFill>
                  <a:srgbClr val="0C1408"/>
                </a:solidFill>
                <a:latin typeface="Segoe UI"/>
              </a:rPr>
              <a:t>Customisation and personalisation</a:t>
            </a:r>
          </a:p>
        </p:txBody>
      </p:sp>
      <p:sp>
        <p:nvSpPr>
          <p:cNvPr id="4" name="Rectangle 3"/>
          <p:cNvSpPr/>
          <p:nvPr/>
        </p:nvSpPr>
        <p:spPr>
          <a:xfrm>
            <a:off x="777240" y="1417320"/>
            <a:ext cx="1371600" cy="22860"/>
          </a:xfrm>
          <a:prstGeom prst="rect">
            <a:avLst/>
          </a:prstGeom>
          <a:solidFill>
            <a:srgbClr val="6DC72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777240" y="6382512"/>
            <a:ext cx="3657600" cy="228600"/>
          </a:xfrm>
          <a:prstGeom prst="rect">
            <a:avLst/>
          </a:prstGeom>
          <a:noFill/>
        </p:spPr>
        <p:txBody>
          <a:bodyPr wrap="square" lIns="0" rIns="0" tIns="0" bIns="0">
            <a:spAutoFit/>
          </a:bodyPr>
          <a:lstStyle/>
          <a:p>
            <a:pPr algn="l">
              <a:lnSpc>
                <a:spcPct val="125000"/>
              </a:lnSpc>
            </a:pPr>
            <a:r>
              <a:rPr sz="900" b="0" i="0">
                <a:solidFill>
                  <a:srgbClr val="9AA694"/>
                </a:solidFill>
                <a:latin typeface="Segoe UI"/>
              </a:rPr>
              <a:t>Halqa  ·  Confidential</a:t>
            </a:r>
          </a:p>
        </p:txBody>
      </p:sp>
      <p:sp>
        <p:nvSpPr>
          <p:cNvPr id="6" name="TextBox 5"/>
          <p:cNvSpPr txBox="1"/>
          <p:nvPr/>
        </p:nvSpPr>
        <p:spPr>
          <a:xfrm>
            <a:off x="10728655" y="6382512"/>
            <a:ext cx="685800" cy="228600"/>
          </a:xfrm>
          <a:prstGeom prst="rect">
            <a:avLst/>
          </a:prstGeom>
          <a:noFill/>
        </p:spPr>
        <p:txBody>
          <a:bodyPr wrap="square" lIns="0" rIns="0" tIns="0" bIns="0">
            <a:spAutoFit/>
          </a:bodyPr>
          <a:lstStyle/>
          <a:p>
            <a:pPr algn="r">
              <a:lnSpc>
                <a:spcPct val="125000"/>
              </a:lnSpc>
            </a:pPr>
            <a:r>
              <a:rPr sz="900" b="0" i="0">
                <a:solidFill>
                  <a:srgbClr val="6F7B68"/>
                </a:solidFill>
                <a:latin typeface="Segoe UI"/>
              </a:rPr>
              <a:t>69</a:t>
            </a:r>
          </a:p>
        </p:txBody>
      </p:sp>
      <p:sp>
        <p:nvSpPr>
          <p:cNvPr id="7" name="TextBox 6"/>
          <p:cNvSpPr txBox="1"/>
          <p:nvPr/>
        </p:nvSpPr>
        <p:spPr>
          <a:xfrm>
            <a:off x="777240" y="1965960"/>
            <a:ext cx="10607040" cy="685800"/>
          </a:xfrm>
          <a:prstGeom prst="rect">
            <a:avLst/>
          </a:prstGeom>
          <a:noFill/>
        </p:spPr>
        <p:txBody>
          <a:bodyPr wrap="square" lIns="0" rIns="0" tIns="0" bIns="0">
            <a:spAutoFit/>
          </a:bodyPr>
          <a:lstStyle/>
          <a:p>
            <a:pPr algn="l">
              <a:lnSpc>
                <a:spcPct val="150000"/>
              </a:lnSpc>
            </a:pPr>
            <a:r>
              <a:rPr sz="1350" b="0" i="0">
                <a:solidFill>
                  <a:srgbClr val="26301F"/>
                </a:solidFill>
                <a:latin typeface="Segoe UI"/>
              </a:rPr>
              <a:t>A committee is a personal arrangement between people who mostly know each other. An application that looks like a bank statement gets used once. Members are given real control over how the product looks and how it talks to them.</a:t>
            </a:r>
          </a:p>
        </p:txBody>
      </p:sp>
      <p:sp>
        <p:nvSpPr>
          <p:cNvPr id="8" name="Rectangle 7"/>
          <p:cNvSpPr/>
          <p:nvPr/>
        </p:nvSpPr>
        <p:spPr>
          <a:xfrm>
            <a:off x="777240" y="2880360"/>
            <a:ext cx="3375050" cy="2103120"/>
          </a:xfrm>
          <a:prstGeom prst="rect">
            <a:avLst/>
          </a:prstGeom>
          <a:solidFill>
            <a:srgbClr val="F3FCE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ectangle 8"/>
          <p:cNvSpPr/>
          <p:nvPr/>
        </p:nvSpPr>
        <p:spPr>
          <a:xfrm>
            <a:off x="777240" y="2880360"/>
            <a:ext cx="3375050" cy="28575"/>
          </a:xfrm>
          <a:prstGeom prst="rect">
            <a:avLst/>
          </a:prstGeom>
          <a:solidFill>
            <a:srgbClr val="6DC72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978408" y="3081528"/>
            <a:ext cx="2972714" cy="320040"/>
          </a:xfrm>
          <a:prstGeom prst="rect">
            <a:avLst/>
          </a:prstGeom>
          <a:noFill/>
        </p:spPr>
        <p:txBody>
          <a:bodyPr wrap="square" lIns="0" rIns="0" tIns="0" bIns="0">
            <a:spAutoFit/>
          </a:bodyPr>
          <a:lstStyle/>
          <a:p>
            <a:pPr algn="l">
              <a:lnSpc>
                <a:spcPct val="125000"/>
              </a:lnSpc>
            </a:pPr>
            <a:r>
              <a:rPr sz="1300" b="1" i="0">
                <a:solidFill>
                  <a:srgbClr val="22450C"/>
                </a:solidFill>
                <a:latin typeface="Segoe UI"/>
              </a:rPr>
              <a:t>The member</a:t>
            </a:r>
          </a:p>
        </p:txBody>
      </p:sp>
      <p:sp>
        <p:nvSpPr>
          <p:cNvPr id="11" name="TextBox 10"/>
          <p:cNvSpPr txBox="1"/>
          <p:nvPr/>
        </p:nvSpPr>
        <p:spPr>
          <a:xfrm>
            <a:off x="978408" y="3447288"/>
            <a:ext cx="2972714" cy="1371600"/>
          </a:xfrm>
          <a:prstGeom prst="rect">
            <a:avLst/>
          </a:prstGeom>
          <a:noFill/>
        </p:spPr>
        <p:txBody>
          <a:bodyPr wrap="square" lIns="0" rIns="0" tIns="0" bIns="0">
            <a:spAutoFit/>
          </a:bodyPr>
          <a:lstStyle/>
          <a:p>
            <a:pPr algn="l">
              <a:lnSpc>
                <a:spcPct val="145000"/>
              </a:lnSpc>
            </a:pPr>
            <a:r>
              <a:rPr sz="1150" b="0" i="0">
                <a:solidFill>
                  <a:srgbClr val="26301F"/>
                </a:solidFill>
                <a:latin typeface="Segoe UI"/>
              </a:rPr>
              <a:t>Profile photograph, chosen or taken in the app. Display name separate from the legal name held for verification. Language switched between Urdu and English at any point, with regional greetings. Text size, and a high contrast mode for older members.</a:t>
            </a:r>
          </a:p>
        </p:txBody>
      </p:sp>
      <p:sp>
        <p:nvSpPr>
          <p:cNvPr id="12" name="Rectangle 11"/>
          <p:cNvSpPr/>
          <p:nvPr/>
        </p:nvSpPr>
        <p:spPr>
          <a:xfrm>
            <a:off x="4408322" y="2880360"/>
            <a:ext cx="3375050" cy="2103120"/>
          </a:xfrm>
          <a:prstGeom prst="rect">
            <a:avLst/>
          </a:prstGeom>
          <a:solidFill>
            <a:srgbClr val="F3FCE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4408322" y="2880360"/>
            <a:ext cx="3375050" cy="28575"/>
          </a:xfrm>
          <a:prstGeom prst="rect">
            <a:avLst/>
          </a:prstGeom>
          <a:solidFill>
            <a:srgbClr val="6DC72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4609490" y="3081528"/>
            <a:ext cx="2972714" cy="320040"/>
          </a:xfrm>
          <a:prstGeom prst="rect">
            <a:avLst/>
          </a:prstGeom>
          <a:noFill/>
        </p:spPr>
        <p:txBody>
          <a:bodyPr wrap="square" lIns="0" rIns="0" tIns="0" bIns="0">
            <a:spAutoFit/>
          </a:bodyPr>
          <a:lstStyle/>
          <a:p>
            <a:pPr algn="l">
              <a:lnSpc>
                <a:spcPct val="125000"/>
              </a:lnSpc>
            </a:pPr>
            <a:r>
              <a:rPr sz="1300" b="1" i="0">
                <a:solidFill>
                  <a:srgbClr val="22450C"/>
                </a:solidFill>
                <a:latin typeface="Segoe UI"/>
              </a:rPr>
              <a:t>The look</a:t>
            </a:r>
          </a:p>
        </p:txBody>
      </p:sp>
      <p:sp>
        <p:nvSpPr>
          <p:cNvPr id="15" name="TextBox 14"/>
          <p:cNvSpPr txBox="1"/>
          <p:nvPr/>
        </p:nvSpPr>
        <p:spPr>
          <a:xfrm>
            <a:off x="4609490" y="3447288"/>
            <a:ext cx="2972714" cy="1371600"/>
          </a:xfrm>
          <a:prstGeom prst="rect">
            <a:avLst/>
          </a:prstGeom>
          <a:noFill/>
        </p:spPr>
        <p:txBody>
          <a:bodyPr wrap="square" lIns="0" rIns="0" tIns="0" bIns="0">
            <a:spAutoFit/>
          </a:bodyPr>
          <a:lstStyle/>
          <a:p>
            <a:pPr algn="l">
              <a:lnSpc>
                <a:spcPct val="145000"/>
              </a:lnSpc>
            </a:pPr>
            <a:r>
              <a:rPr sz="1150" b="0" i="0">
                <a:solidFill>
                  <a:srgbClr val="26301F"/>
                </a:solidFill>
                <a:latin typeface="Segoe UI"/>
              </a:rPr>
              <a:t>Accent colour chosen from a set, light and dark themes, and a home screen the member arranges themselves by pinning the quick actions they actually use and hiding the ones they do not.</a:t>
            </a:r>
          </a:p>
        </p:txBody>
      </p:sp>
      <p:sp>
        <p:nvSpPr>
          <p:cNvPr id="16" name="Rectangle 15"/>
          <p:cNvSpPr/>
          <p:nvPr/>
        </p:nvSpPr>
        <p:spPr>
          <a:xfrm>
            <a:off x="8039404" y="2880360"/>
            <a:ext cx="3375050" cy="2103120"/>
          </a:xfrm>
          <a:prstGeom prst="rect">
            <a:avLst/>
          </a:prstGeom>
          <a:solidFill>
            <a:srgbClr val="F3FCE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Rectangle 16"/>
          <p:cNvSpPr/>
          <p:nvPr/>
        </p:nvSpPr>
        <p:spPr>
          <a:xfrm>
            <a:off x="8039404" y="2880360"/>
            <a:ext cx="3375050" cy="28575"/>
          </a:xfrm>
          <a:prstGeom prst="rect">
            <a:avLst/>
          </a:prstGeom>
          <a:solidFill>
            <a:srgbClr val="6DC72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8240572" y="3081528"/>
            <a:ext cx="2972714" cy="320040"/>
          </a:xfrm>
          <a:prstGeom prst="rect">
            <a:avLst/>
          </a:prstGeom>
          <a:noFill/>
        </p:spPr>
        <p:txBody>
          <a:bodyPr wrap="square" lIns="0" rIns="0" tIns="0" bIns="0">
            <a:spAutoFit/>
          </a:bodyPr>
          <a:lstStyle/>
          <a:p>
            <a:pPr algn="l">
              <a:lnSpc>
                <a:spcPct val="125000"/>
              </a:lnSpc>
            </a:pPr>
            <a:r>
              <a:rPr sz="1300" b="1" i="0">
                <a:solidFill>
                  <a:srgbClr val="22450C"/>
                </a:solidFill>
                <a:latin typeface="Segoe UI"/>
              </a:rPr>
              <a:t>The circle</a:t>
            </a:r>
          </a:p>
        </p:txBody>
      </p:sp>
      <p:sp>
        <p:nvSpPr>
          <p:cNvPr id="19" name="TextBox 18"/>
          <p:cNvSpPr txBox="1"/>
          <p:nvPr/>
        </p:nvSpPr>
        <p:spPr>
          <a:xfrm>
            <a:off x="8240572" y="3447288"/>
            <a:ext cx="2972714" cy="1371600"/>
          </a:xfrm>
          <a:prstGeom prst="rect">
            <a:avLst/>
          </a:prstGeom>
          <a:noFill/>
        </p:spPr>
        <p:txBody>
          <a:bodyPr wrap="square" lIns="0" rIns="0" tIns="0" bIns="0">
            <a:spAutoFit/>
          </a:bodyPr>
          <a:lstStyle/>
          <a:p>
            <a:pPr algn="l">
              <a:lnSpc>
                <a:spcPct val="145000"/>
              </a:lnSpc>
            </a:pPr>
            <a:r>
              <a:rPr sz="1150" b="0" i="0">
                <a:solidFill>
                  <a:srgbClr val="26301F"/>
                </a:solidFill>
                <a:latin typeface="Segoe UI"/>
              </a:rPr>
              <a:t>A host names the circle, sets a cover image and an emblem, and writes a short description that every invited member sees before joining. Members see the circle the way its host meant it, not as a reference number.</a:t>
            </a:r>
          </a:p>
        </p:txBody>
      </p:sp>
      <p:graphicFrame>
        <p:nvGraphicFramePr>
          <p:cNvPr id="20" name="Table 19"/>
          <p:cNvGraphicFramePr>
            <a:graphicFrameLocks noGrp="1"/>
          </p:cNvGraphicFramePr>
          <p:nvPr/>
        </p:nvGraphicFramePr>
        <p:xfrm>
          <a:off x="777240" y="5166360"/>
          <a:ext cx="10607040" cy="1426464"/>
        </p:xfrm>
        <a:graphic>
          <a:graphicData uri="http://schemas.openxmlformats.org/drawingml/2006/table">
            <a:tbl>
              <a:tblPr>
                <a:tableStyleId>{5C22544A-7EE6-4342-B048-85BDC9FD1C3A}</a:tableStyleId>
              </a:tblPr>
              <a:tblGrid>
                <a:gridCol w="4572000"/>
                <a:gridCol w="6035040"/>
              </a:tblGrid>
              <a:tr h="237744">
                <a:tc>
                  <a:txBody>
                    <a:bodyPr wrap="square"/>
                    <a:lstStyle/>
                    <a:p>
                      <a:r>
                        <a:rPr sz="700" b="1">
                          <a:solidFill>
                            <a:srgbClr val="41801A"/>
                          </a:solidFill>
                          <a:latin typeface="Segoe UI"/>
                        </a:rPr>
                        <a:t>WHAT ELSE THE MEMBER CONTROLS</a:t>
                      </a:r>
                    </a:p>
                  </a:txBody>
                  <a:tcPr marL="45720" marR="109728" marT="27432" marB="27432" anchor="ctr">
                    <a:lnB w="9525" cap="flat" cmpd="sng" algn="ctr">
                      <a:solidFill>
                        <a:srgbClr val="41801A"/>
                      </a:solidFill>
                    </a:lnB>
                    <a:solidFill>
                      <a:srgbClr val="FFFFFF"/>
                    </a:solidFill>
                  </a:tcPr>
                </a:tc>
                <a:tc>
                  <a:txBody>
                    <a:bodyPr wrap="square"/>
                    <a:lstStyle/>
                    <a:p>
                      <a:r>
                        <a:rPr sz="700" b="1">
                          <a:solidFill>
                            <a:srgbClr val="41801A"/>
                          </a:solidFill>
                          <a:latin typeface="Segoe UI"/>
                        </a:rPr>
                        <a:t>WHY IT IS A CONTROL RATHER THAN A SETTING</a:t>
                      </a:r>
                    </a:p>
                  </a:txBody>
                  <a:tcPr marL="45720" marR="109728" marT="27432" marB="27432" anchor="ctr">
                    <a:lnB w="9525" cap="flat" cmpd="sng" algn="ctr">
                      <a:solidFill>
                        <a:srgbClr val="41801A"/>
                      </a:solidFill>
                    </a:lnB>
                    <a:solidFill>
                      <a:srgbClr val="FFFFFF"/>
                    </a:solidFill>
                  </a:tcPr>
                </a:tc>
              </a:tr>
              <a:tr h="237744">
                <a:tc>
                  <a:txBody>
                    <a:bodyPr wrap="square"/>
                    <a:lstStyle/>
                    <a:p>
                      <a:r>
                        <a:rPr sz="700" b="0">
                          <a:solidFill>
                            <a:srgbClr val="26301F"/>
                          </a:solidFill>
                          <a:latin typeface="Segoe UI"/>
                        </a:rPr>
                        <a:t>Which notifications arrive, on which channel, at what time</a:t>
                      </a:r>
                    </a:p>
                  </a:txBody>
                  <a:tcPr marL="45720" marR="109728" marT="27432" marB="27432" anchor="ctr">
                    <a:lnB w="9525" cap="flat" cmpd="sng" algn="ctr">
                      <a:solidFill>
                        <a:srgbClr val="DCE3D6"/>
                      </a:solidFill>
                    </a:lnB>
                    <a:solidFill>
                      <a:srgbClr val="FFFFFF"/>
                    </a:solidFill>
                  </a:tcPr>
                </a:tc>
                <a:tc>
                  <a:txBody>
                    <a:bodyPr wrap="square"/>
                    <a:lstStyle/>
                    <a:p>
                      <a:r>
                        <a:rPr sz="700" b="0">
                          <a:solidFill>
                            <a:srgbClr val="26301F"/>
                          </a:solidFill>
                          <a:latin typeface="Segoe UI"/>
                        </a:rPr>
                        <a:t>A reminder that arrives at two in the morning is not a reminder, it is a reason to turn notifications off entirely</a:t>
                      </a:r>
                    </a:p>
                  </a:txBody>
                  <a:tcPr marL="45720" marR="109728" marT="27432" marB="27432" anchor="ctr">
                    <a:lnB w="9525" cap="flat" cmpd="sng" algn="ctr">
                      <a:solidFill>
                        <a:srgbClr val="DCE3D6"/>
                      </a:solidFill>
                    </a:lnB>
                    <a:solidFill>
                      <a:srgbClr val="FFFFFF"/>
                    </a:solidFill>
                  </a:tcPr>
                </a:tc>
              </a:tr>
              <a:tr h="237744">
                <a:tc>
                  <a:txBody>
                    <a:bodyPr wrap="square"/>
                    <a:lstStyle/>
                    <a:p>
                      <a:r>
                        <a:rPr sz="700" b="0">
                          <a:solidFill>
                            <a:srgbClr val="26301F"/>
                          </a:solidFill>
                          <a:latin typeface="Segoe UI"/>
                        </a:rPr>
                        <a:t>Whether their circles are visible in discovery, with the disclosure shown when they are</a:t>
                      </a:r>
                    </a:p>
                  </a:txBody>
                  <a:tcPr marL="45720" marR="109728" marT="27432" marB="27432" anchor="ctr">
                    <a:lnB w="9525" cap="flat" cmpd="sng" algn="ctr">
                      <a:solidFill>
                        <a:srgbClr val="DCE3D6"/>
                      </a:solidFill>
                    </a:lnB>
                    <a:solidFill>
                      <a:srgbClr val="FFFFFF"/>
                    </a:solidFill>
                  </a:tcPr>
                </a:tc>
                <a:tc>
                  <a:txBody>
                    <a:bodyPr wrap="square"/>
                    <a:lstStyle/>
                    <a:p>
                      <a:r>
                        <a:rPr sz="700" b="0">
                          <a:solidFill>
                            <a:srgbClr val="26301F"/>
                          </a:solidFill>
                          <a:latin typeface="Segoe UI"/>
                        </a:rPr>
                        <a:t>Public listing is opt in, and the member is told plainly what becomes visible</a:t>
                      </a:r>
                    </a:p>
                  </a:txBody>
                  <a:tcPr marL="45720" marR="109728" marT="27432" marB="27432" anchor="ctr">
                    <a:lnB w="9525" cap="flat" cmpd="sng" algn="ctr">
                      <a:solidFill>
                        <a:srgbClr val="DCE3D6"/>
                      </a:solidFill>
                    </a:lnB>
                    <a:solidFill>
                      <a:srgbClr val="FFFFFF"/>
                    </a:solidFill>
                  </a:tcPr>
                </a:tc>
              </a:tr>
              <a:tr h="237744">
                <a:tc>
                  <a:txBody>
                    <a:bodyPr wrap="square"/>
                    <a:lstStyle/>
                    <a:p>
                      <a:r>
                        <a:rPr sz="700" b="0">
                          <a:solidFill>
                            <a:srgbClr val="26301F"/>
                          </a:solidFill>
                          <a:latin typeface="Segoe UI"/>
                        </a:rPr>
                        <a:t>What other members see: area and occupation, never the street address or the identity number</a:t>
                      </a:r>
                    </a:p>
                  </a:txBody>
                  <a:tcPr marL="45720" marR="109728" marT="27432" marB="27432" anchor="ctr">
                    <a:lnB w="9525" cap="flat" cmpd="sng" algn="ctr">
                      <a:solidFill>
                        <a:srgbClr val="DCE3D6"/>
                      </a:solidFill>
                    </a:lnB>
                    <a:solidFill>
                      <a:srgbClr val="FFFFFF"/>
                    </a:solidFill>
                  </a:tcPr>
                </a:tc>
                <a:tc>
                  <a:txBody>
                    <a:bodyPr wrap="square"/>
                    <a:lstStyle/>
                    <a:p>
                      <a:r>
                        <a:rPr sz="700" b="0">
                          <a:solidFill>
                            <a:srgbClr val="26301F"/>
                          </a:solidFill>
                          <a:latin typeface="Segoe UI"/>
                        </a:rPr>
                        <a:t>Trust signals without exposure. This distinction is enforced in the data layer, not in the interface</a:t>
                      </a:r>
                    </a:p>
                  </a:txBody>
                  <a:tcPr marL="45720" marR="109728" marT="27432" marB="27432" anchor="ctr">
                    <a:lnB w="9525" cap="flat" cmpd="sng" algn="ctr">
                      <a:solidFill>
                        <a:srgbClr val="DCE3D6"/>
                      </a:solidFill>
                    </a:lnB>
                    <a:solidFill>
                      <a:srgbClr val="FFFFFF"/>
                    </a:solidFill>
                  </a:tcPr>
                </a:tc>
              </a:tr>
              <a:tr h="237744">
                <a:tc>
                  <a:txBody>
                    <a:bodyPr wrap="square"/>
                    <a:lstStyle/>
                    <a:p>
                      <a:r>
                        <a:rPr sz="700" b="0">
                          <a:solidFill>
                            <a:srgbClr val="26301F"/>
                          </a:solidFill>
                          <a:latin typeface="Segoe UI"/>
                        </a:rPr>
                        <a:t>The preferred collection instrument, and the order the others are tried in</a:t>
                      </a:r>
                    </a:p>
                  </a:txBody>
                  <a:tcPr marL="45720" marR="109728" marT="27432" marB="27432" anchor="ctr">
                    <a:lnB w="9525" cap="flat" cmpd="sng" algn="ctr">
                      <a:solidFill>
                        <a:srgbClr val="DCE3D6"/>
                      </a:solidFill>
                    </a:lnB>
                    <a:solidFill>
                      <a:srgbClr val="FFFFFF"/>
                    </a:solidFill>
                  </a:tcPr>
                </a:tc>
                <a:tc>
                  <a:txBody>
                    <a:bodyPr wrap="square"/>
                    <a:lstStyle/>
                    <a:p>
                      <a:r>
                        <a:rPr sz="700" b="0">
                          <a:solidFill>
                            <a:srgbClr val="26301F"/>
                          </a:solidFill>
                          <a:latin typeface="Segoe UI"/>
                        </a:rPr>
                        <a:t>The member knows which of their accounts has money in it on which day. The platform does not</a:t>
                      </a:r>
                    </a:p>
                  </a:txBody>
                  <a:tcPr marL="45720" marR="109728" marT="27432" marB="27432" anchor="ctr">
                    <a:lnB w="9525" cap="flat" cmpd="sng" algn="ctr">
                      <a:solidFill>
                        <a:srgbClr val="DCE3D6"/>
                      </a:solidFill>
                    </a:lnB>
                    <a:solidFill>
                      <a:srgbClr val="FFFFFF"/>
                    </a:solidFill>
                  </a:tcPr>
                </a:tc>
              </a:tr>
              <a:tr h="237744">
                <a:tc>
                  <a:txBody>
                    <a:bodyPr wrap="square"/>
                    <a:lstStyle/>
                    <a:p>
                      <a:r>
                        <a:rPr sz="700" b="0">
                          <a:solidFill>
                            <a:srgbClr val="26301F"/>
                          </a:solidFill>
                          <a:latin typeface="Segoe UI"/>
                        </a:rPr>
                        <a:t>Installing to the home screen, and working on a poor connection</a:t>
                      </a:r>
                    </a:p>
                  </a:txBody>
                  <a:tcPr marL="45720" marR="109728" marT="27432" marB="27432" anchor="ctr">
                    <a:lnB w="9525" cap="flat" cmpd="sng" algn="ctr">
                      <a:solidFill>
                        <a:srgbClr val="DCE3D6"/>
                      </a:solidFill>
                    </a:lnB>
                    <a:solidFill>
                      <a:srgbClr val="FFFFFF"/>
                    </a:solidFill>
                  </a:tcPr>
                </a:tc>
                <a:tc>
                  <a:txBody>
                    <a:bodyPr wrap="square"/>
                    <a:lstStyle/>
                    <a:p>
                      <a:r>
                        <a:rPr sz="700" b="0">
                          <a:solidFill>
                            <a:srgbClr val="26301F"/>
                          </a:solidFill>
                          <a:latin typeface="Segoe UI"/>
                        </a:rPr>
                        <a:t>It behaves like an application without a store download, which matters on a handset with no space left</a:t>
                      </a:r>
                    </a:p>
                  </a:txBody>
                  <a:tcPr marL="45720" marR="109728" marT="27432" marB="27432" anchor="ctr">
                    <a:lnB w="9525" cap="flat" cmpd="sng" algn="ctr">
                      <a:solidFill>
                        <a:srgbClr val="DCE3D6"/>
                      </a:solidFill>
                    </a:lnB>
                    <a:solidFill>
                      <a:srgbClr val="FFFFFF"/>
                    </a:solidFill>
                  </a:tcPr>
                </a:tc>
              </a:tr>
            </a:tbl>
          </a:graphicData>
        </a:graphic>
      </p:graphicFrame>
    </p:spTree>
  </p:cSld>
  <p:clrMapOvr>
    <a:masterClrMapping/>
  </p:clrMapOvr>
</p:sld>
</file>

<file path=ppt/slides/slide7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777240" y="566928"/>
            <a:ext cx="10637215" cy="219456"/>
          </a:xfrm>
          <a:prstGeom prst="rect">
            <a:avLst/>
          </a:prstGeom>
          <a:noFill/>
        </p:spPr>
        <p:txBody>
          <a:bodyPr wrap="square" lIns="0" rIns="0" tIns="0" bIns="0">
            <a:spAutoFit/>
          </a:bodyPr>
          <a:lstStyle/>
          <a:p>
            <a:pPr algn="l">
              <a:lnSpc>
                <a:spcPct val="125000"/>
              </a:lnSpc>
            </a:pPr>
            <a:r>
              <a:rPr sz="950" b="1" i="0">
                <a:solidFill>
                  <a:srgbClr val="41801A"/>
                </a:solidFill>
                <a:latin typeface="Segoe UI"/>
              </a:rPr>
              <a:t>10  WHAT COMES NEXT</a:t>
            </a:r>
          </a:p>
        </p:txBody>
      </p:sp>
      <p:sp>
        <p:nvSpPr>
          <p:cNvPr id="3" name="TextBox 2"/>
          <p:cNvSpPr txBox="1"/>
          <p:nvPr/>
        </p:nvSpPr>
        <p:spPr>
          <a:xfrm>
            <a:off x="777240" y="841248"/>
            <a:ext cx="10637215" cy="502920"/>
          </a:xfrm>
          <a:prstGeom prst="rect">
            <a:avLst/>
          </a:prstGeom>
          <a:noFill/>
        </p:spPr>
        <p:txBody>
          <a:bodyPr wrap="square" lIns="0" rIns="0" tIns="0" bIns="0">
            <a:spAutoFit/>
          </a:bodyPr>
          <a:lstStyle/>
          <a:p>
            <a:pPr algn="l">
              <a:lnSpc>
                <a:spcPct val="125000"/>
              </a:lnSpc>
            </a:pPr>
            <a:r>
              <a:rPr sz="2700" b="1" i="0">
                <a:solidFill>
                  <a:srgbClr val="0C1408"/>
                </a:solidFill>
                <a:latin typeface="Segoe UI"/>
              </a:rPr>
              <a:t>Where this goes after the record exists</a:t>
            </a:r>
          </a:p>
        </p:txBody>
      </p:sp>
      <p:sp>
        <p:nvSpPr>
          <p:cNvPr id="4" name="Rectangle 3"/>
          <p:cNvSpPr/>
          <p:nvPr/>
        </p:nvSpPr>
        <p:spPr>
          <a:xfrm>
            <a:off x="777240" y="1417320"/>
            <a:ext cx="1371600" cy="22860"/>
          </a:xfrm>
          <a:prstGeom prst="rect">
            <a:avLst/>
          </a:prstGeom>
          <a:solidFill>
            <a:srgbClr val="6DC72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777240" y="6382512"/>
            <a:ext cx="3657600" cy="228600"/>
          </a:xfrm>
          <a:prstGeom prst="rect">
            <a:avLst/>
          </a:prstGeom>
          <a:noFill/>
        </p:spPr>
        <p:txBody>
          <a:bodyPr wrap="square" lIns="0" rIns="0" tIns="0" bIns="0">
            <a:spAutoFit/>
          </a:bodyPr>
          <a:lstStyle/>
          <a:p>
            <a:pPr algn="l">
              <a:lnSpc>
                <a:spcPct val="125000"/>
              </a:lnSpc>
            </a:pPr>
            <a:r>
              <a:rPr sz="900" b="0" i="0">
                <a:solidFill>
                  <a:srgbClr val="9AA694"/>
                </a:solidFill>
                <a:latin typeface="Segoe UI"/>
              </a:rPr>
              <a:t>Halqa  ·  Confidential</a:t>
            </a:r>
          </a:p>
        </p:txBody>
      </p:sp>
      <p:sp>
        <p:nvSpPr>
          <p:cNvPr id="6" name="TextBox 5"/>
          <p:cNvSpPr txBox="1"/>
          <p:nvPr/>
        </p:nvSpPr>
        <p:spPr>
          <a:xfrm>
            <a:off x="10728655" y="6382512"/>
            <a:ext cx="685800" cy="228600"/>
          </a:xfrm>
          <a:prstGeom prst="rect">
            <a:avLst/>
          </a:prstGeom>
          <a:noFill/>
        </p:spPr>
        <p:txBody>
          <a:bodyPr wrap="square" lIns="0" rIns="0" tIns="0" bIns="0">
            <a:spAutoFit/>
          </a:bodyPr>
          <a:lstStyle/>
          <a:p>
            <a:pPr algn="r">
              <a:lnSpc>
                <a:spcPct val="125000"/>
              </a:lnSpc>
            </a:pPr>
            <a:r>
              <a:rPr sz="900" b="0" i="0">
                <a:solidFill>
                  <a:srgbClr val="6F7B68"/>
                </a:solidFill>
                <a:latin typeface="Segoe UI"/>
              </a:rPr>
              <a:t>70</a:t>
            </a:r>
          </a:p>
        </p:txBody>
      </p:sp>
      <p:sp>
        <p:nvSpPr>
          <p:cNvPr id="7" name="TextBox 6"/>
          <p:cNvSpPr txBox="1"/>
          <p:nvPr/>
        </p:nvSpPr>
        <p:spPr>
          <a:xfrm>
            <a:off x="777240" y="1965960"/>
            <a:ext cx="10607040" cy="640080"/>
          </a:xfrm>
          <a:prstGeom prst="rect">
            <a:avLst/>
          </a:prstGeom>
          <a:noFill/>
        </p:spPr>
        <p:txBody>
          <a:bodyPr wrap="square" lIns="0" rIns="0" tIns="0" bIns="0">
            <a:spAutoFit/>
          </a:bodyPr>
          <a:lstStyle/>
          <a:p>
            <a:pPr algn="l">
              <a:lnSpc>
                <a:spcPct val="150000"/>
              </a:lnSpc>
            </a:pPr>
            <a:r>
              <a:rPr sz="1350" b="0" i="0">
                <a:solidFill>
                  <a:srgbClr val="26301F"/>
                </a:solidFill>
                <a:latin typeface="Segoe UI"/>
              </a:rPr>
              <a:t>Every item below makes the member more valuable to the outside world, rather than extracting more from the member. That is the filter, and it is the reason none of these turn into the business model that got four hundred applications removed.</a:t>
            </a:r>
          </a:p>
        </p:txBody>
      </p:sp>
      <p:graphicFrame>
        <p:nvGraphicFramePr>
          <p:cNvPr id="8" name="Table 7"/>
          <p:cNvGraphicFramePr>
            <a:graphicFrameLocks noGrp="1"/>
          </p:cNvGraphicFramePr>
          <p:nvPr/>
        </p:nvGraphicFramePr>
        <p:xfrm>
          <a:off x="777240" y="2743200"/>
          <a:ext cx="10607040" cy="2836460"/>
        </p:xfrm>
        <a:graphic>
          <a:graphicData uri="http://schemas.openxmlformats.org/drawingml/2006/table">
            <a:tbl>
              <a:tblPr>
                <a:tableStyleId>{5C22544A-7EE6-4342-B048-85BDC9FD1C3A}</a:tableStyleId>
              </a:tblPr>
              <a:tblGrid>
                <a:gridCol w="1737360"/>
                <a:gridCol w="2743200"/>
                <a:gridCol w="3108960"/>
                <a:gridCol w="3017520"/>
              </a:tblGrid>
              <a:tr h="257860">
                <a:tc>
                  <a:txBody>
                    <a:bodyPr wrap="square"/>
                    <a:lstStyle/>
                    <a:p>
                      <a:r>
                        <a:rPr sz="700" b="1">
                          <a:solidFill>
                            <a:srgbClr val="41801A"/>
                          </a:solidFill>
                          <a:latin typeface="Segoe UI"/>
                        </a:rPr>
                        <a:t>INITIATIVE</a:t>
                      </a:r>
                    </a:p>
                  </a:txBody>
                  <a:tcPr marL="45720" marR="109728" marT="27432" marB="27432" anchor="ctr">
                    <a:lnB w="9525" cap="flat" cmpd="sng" algn="ctr">
                      <a:solidFill>
                        <a:srgbClr val="41801A"/>
                      </a:solidFill>
                    </a:lnB>
                    <a:solidFill>
                      <a:srgbClr val="FFFFFF"/>
                    </a:solidFill>
                  </a:tcPr>
                </a:tc>
                <a:tc>
                  <a:txBody>
                    <a:bodyPr wrap="square"/>
                    <a:lstStyle/>
                    <a:p>
                      <a:r>
                        <a:rPr sz="700" b="1">
                          <a:solidFill>
                            <a:srgbClr val="41801A"/>
                          </a:solidFill>
                          <a:latin typeface="Segoe UI"/>
                        </a:rPr>
                        <a:t>WHAT IT IS</a:t>
                      </a:r>
                    </a:p>
                  </a:txBody>
                  <a:tcPr marL="45720" marR="109728" marT="27432" marB="27432" anchor="ctr">
                    <a:lnB w="9525" cap="flat" cmpd="sng" algn="ctr">
                      <a:solidFill>
                        <a:srgbClr val="41801A"/>
                      </a:solidFill>
                    </a:lnB>
                    <a:solidFill>
                      <a:srgbClr val="FFFFFF"/>
                    </a:solidFill>
                  </a:tcPr>
                </a:tc>
                <a:tc>
                  <a:txBody>
                    <a:bodyPr wrap="square"/>
                    <a:lstStyle/>
                    <a:p>
                      <a:r>
                        <a:rPr sz="700" b="1">
                          <a:solidFill>
                            <a:srgbClr val="41801A"/>
                          </a:solidFill>
                          <a:latin typeface="Segoe UI"/>
                        </a:rPr>
                        <a:t>WHY IT WORKS</a:t>
                      </a:r>
                    </a:p>
                  </a:txBody>
                  <a:tcPr marL="45720" marR="109728" marT="27432" marB="27432" anchor="ctr">
                    <a:lnB w="9525" cap="flat" cmpd="sng" algn="ctr">
                      <a:solidFill>
                        <a:srgbClr val="41801A"/>
                      </a:solidFill>
                    </a:lnB>
                    <a:solidFill>
                      <a:srgbClr val="FFFFFF"/>
                    </a:solidFill>
                  </a:tcPr>
                </a:tc>
                <a:tc>
                  <a:txBody>
                    <a:bodyPr wrap="square"/>
                    <a:lstStyle/>
                    <a:p>
                      <a:r>
                        <a:rPr sz="700" b="1">
                          <a:solidFill>
                            <a:srgbClr val="41801A"/>
                          </a:solidFill>
                          <a:latin typeface="Segoe UI"/>
                        </a:rPr>
                        <a:t>WHAT IT NEEDS</a:t>
                      </a:r>
                    </a:p>
                  </a:txBody>
                  <a:tcPr marL="45720" marR="109728" marT="27432" marB="27432" anchor="ctr">
                    <a:lnB w="9525" cap="flat" cmpd="sng" algn="ctr">
                      <a:solidFill>
                        <a:srgbClr val="41801A"/>
                      </a:solidFill>
                    </a:lnB>
                    <a:solidFill>
                      <a:srgbClr val="FFFFFF"/>
                    </a:solidFill>
                  </a:tcPr>
                </a:tc>
              </a:tr>
              <a:tr h="257860">
                <a:tc>
                  <a:txBody>
                    <a:bodyPr wrap="square"/>
                    <a:lstStyle/>
                    <a:p>
                      <a:r>
                        <a:rPr sz="700" b="0">
                          <a:solidFill>
                            <a:srgbClr val="26301F"/>
                          </a:solidFill>
                          <a:latin typeface="Segoe UI"/>
                        </a:rPr>
                        <a:t>Two way bureau membership</a:t>
                      </a:r>
                    </a:p>
                  </a:txBody>
                  <a:tcPr marL="45720" marR="109728" marT="27432" marB="27432" anchor="ctr">
                    <a:lnB w="9525" cap="flat" cmpd="sng" algn="ctr">
                      <a:solidFill>
                        <a:srgbClr val="DCE3D6"/>
                      </a:solidFill>
                    </a:lnB>
                    <a:solidFill>
                      <a:srgbClr val="FFFFFF"/>
                    </a:solidFill>
                  </a:tcPr>
                </a:tc>
                <a:tc>
                  <a:txBody>
                    <a:bodyPr wrap="square"/>
                    <a:lstStyle/>
                    <a:p>
                      <a:r>
                        <a:rPr sz="700" b="0">
                          <a:solidFill>
                            <a:srgbClr val="26301F"/>
                          </a:solidFill>
                          <a:latin typeface="Segoe UI"/>
                        </a:rPr>
                        <a:t>Halqa joins the bureau as a non financial alternative data contributor, in the same category as telecommunications and utilities, which they already ingest. Furnishing consented committee repayment data earns score reads back</a:t>
                      </a:r>
                    </a:p>
                  </a:txBody>
                  <a:tcPr marL="45720" marR="109728" marT="27432" marB="27432" anchor="ctr">
                    <a:lnB w="9525" cap="flat" cmpd="sng" algn="ctr">
                      <a:solidFill>
                        <a:srgbClr val="DCE3D6"/>
                      </a:solidFill>
                    </a:lnB>
                    <a:solidFill>
                      <a:srgbClr val="FFFFFF"/>
                    </a:solidFill>
                  </a:tcPr>
                </a:tc>
                <a:tc>
                  <a:txBody>
                    <a:bodyPr wrap="square"/>
                    <a:lstStyle/>
                    <a:p>
                      <a:r>
                        <a:rPr sz="700" b="0">
                          <a:solidFill>
                            <a:srgbClr val="26301F"/>
                          </a:solidFill>
                          <a:latin typeface="Segoe UI"/>
                        </a:rPr>
                        <a:t>The member builds a formal credit identity, and Halqa becomes the only source of informal committee data in the country</a:t>
                      </a:r>
                    </a:p>
                  </a:txBody>
                  <a:tcPr marL="45720" marR="109728" marT="27432" marB="27432" anchor="ctr">
                    <a:lnB w="9525" cap="flat" cmpd="sng" algn="ctr">
                      <a:solidFill>
                        <a:srgbClr val="DCE3D6"/>
                      </a:solidFill>
                    </a:lnB>
                    <a:solidFill>
                      <a:srgbClr val="FFFFFF"/>
                    </a:solidFill>
                  </a:tcPr>
                </a:tc>
                <a:tc>
                  <a:txBody>
                    <a:bodyPr wrap="square"/>
                    <a:lstStyle/>
                    <a:p>
                      <a:r>
                        <a:rPr sz="700" b="0">
                          <a:solidFill>
                            <a:srgbClr val="26301F"/>
                          </a:solidFill>
                          <a:latin typeface="Segoe UI"/>
                        </a:rPr>
                        <a:t>A contributor agreement and consent wording confirmed under the Credit Bureaus Act 2015</a:t>
                      </a:r>
                    </a:p>
                  </a:txBody>
                  <a:tcPr marL="45720" marR="109728" marT="27432" marB="27432" anchor="ctr">
                    <a:lnB w="9525" cap="flat" cmpd="sng" algn="ctr">
                      <a:solidFill>
                        <a:srgbClr val="DCE3D6"/>
                      </a:solidFill>
                    </a:lnB>
                    <a:solidFill>
                      <a:srgbClr val="FFFFFF"/>
                    </a:solidFill>
                  </a:tcPr>
                </a:tc>
              </a:tr>
              <a:tr h="257860">
                <a:tc>
                  <a:txBody>
                    <a:bodyPr wrap="square"/>
                    <a:lstStyle/>
                    <a:p>
                      <a:r>
                        <a:rPr sz="700" b="0">
                          <a:solidFill>
                            <a:srgbClr val="26301F"/>
                          </a:solidFill>
                          <a:latin typeface="Segoe UI"/>
                        </a:rPr>
                        <a:t>Organiser incentives</a:t>
                      </a:r>
                    </a:p>
                  </a:txBody>
                  <a:tcPr marL="45720" marR="109728" marT="27432" marB="27432" anchor="ctr">
                    <a:lnB w="9525" cap="flat" cmpd="sng" algn="ctr">
                      <a:solidFill>
                        <a:srgbClr val="DCE3D6"/>
                      </a:solidFill>
                    </a:lnB>
                    <a:solidFill>
                      <a:srgbClr val="FFFFFF"/>
                    </a:solidFill>
                  </a:tcPr>
                </a:tc>
                <a:tc>
                  <a:txBody>
                    <a:bodyPr wrap="square"/>
                    <a:lstStyle/>
                    <a:p>
                      <a:r>
                        <a:rPr sz="700" b="0">
                          <a:solidFill>
                            <a:srgbClr val="26301F"/>
                          </a:solidFill>
                          <a:latin typeface="Segoe UI"/>
                        </a:rPr>
                        <a:t>The group leader is the acquisition engine and is rewarded on value: a bounty per cleanly completed circle, a single level share of the fee revenue on their own circles, verified organiser status, free placement and fee waivers, and first access to new products</a:t>
                      </a:r>
                    </a:p>
                  </a:txBody>
                  <a:tcPr marL="45720" marR="109728" marT="27432" marB="27432" anchor="ctr">
                    <a:lnB w="9525" cap="flat" cmpd="sng" algn="ctr">
                      <a:solidFill>
                        <a:srgbClr val="DCE3D6"/>
                      </a:solidFill>
                    </a:lnB>
                    <a:solidFill>
                      <a:srgbClr val="FFFFFF"/>
                    </a:solidFill>
                  </a:tcPr>
                </a:tc>
                <a:tc>
                  <a:txBody>
                    <a:bodyPr wrap="square"/>
                    <a:lstStyle/>
                    <a:p>
                      <a:r>
                        <a:rPr sz="700" b="0">
                          <a:solidFill>
                            <a:srgbClr val="26301F"/>
                          </a:solidFill>
                          <a:latin typeface="Segoe UI"/>
                        </a:rPr>
                        <a:t>Reputation is the organiser's real currency. Paying on completed value rather than on recruitment depth is also the difference between a legal incentive and a pyramid, which the FIA and SECP prosecute</a:t>
                      </a:r>
                    </a:p>
                  </a:txBody>
                  <a:tcPr marL="45720" marR="109728" marT="27432" marB="27432" anchor="ctr">
                    <a:lnB w="9525" cap="flat" cmpd="sng" algn="ctr">
                      <a:solidFill>
                        <a:srgbClr val="DCE3D6"/>
                      </a:solidFill>
                    </a:lnB>
                    <a:solidFill>
                      <a:srgbClr val="FFFFFF"/>
                    </a:solidFill>
                  </a:tcPr>
                </a:tc>
                <a:tc>
                  <a:txBody>
                    <a:bodyPr wrap="square"/>
                    <a:lstStyle/>
                    <a:p>
                      <a:r>
                        <a:rPr sz="700" b="0">
                          <a:solidFill>
                            <a:srgbClr val="26301F"/>
                          </a:solidFill>
                          <a:latin typeface="Segoe UI"/>
                        </a:rPr>
                        <a:t>Nothing external. This is a product decision</a:t>
                      </a:r>
                    </a:p>
                  </a:txBody>
                  <a:tcPr marL="45720" marR="109728" marT="27432" marB="27432" anchor="ctr">
                    <a:lnB w="9525" cap="flat" cmpd="sng" algn="ctr">
                      <a:solidFill>
                        <a:srgbClr val="DCE3D6"/>
                      </a:solidFill>
                    </a:lnB>
                    <a:solidFill>
                      <a:srgbClr val="FFFFFF"/>
                    </a:solidFill>
                  </a:tcPr>
                </a:tc>
              </a:tr>
              <a:tr h="257860">
                <a:tc>
                  <a:txBody>
                    <a:bodyPr wrap="square"/>
                    <a:lstStyle/>
                    <a:p>
                      <a:r>
                        <a:rPr sz="700" b="0">
                          <a:solidFill>
                            <a:srgbClr val="26301F"/>
                          </a:solidFill>
                          <a:latin typeface="Segoe UI"/>
                        </a:rPr>
                        <a:t>Formal finance on ramp</a:t>
                      </a:r>
                    </a:p>
                  </a:txBody>
                  <a:tcPr marL="45720" marR="109728" marT="27432" marB="27432" anchor="ctr">
                    <a:lnB w="9525" cap="flat" cmpd="sng" algn="ctr">
                      <a:solidFill>
                        <a:srgbClr val="DCE3D6"/>
                      </a:solidFill>
                    </a:lnB>
                    <a:solidFill>
                      <a:srgbClr val="FFFFFF"/>
                    </a:solidFill>
                  </a:tcPr>
                </a:tc>
                <a:tc>
                  <a:txBody>
                    <a:bodyPr wrap="square"/>
                    <a:lstStyle/>
                    <a:p>
                      <a:r>
                        <a:rPr sz="700" b="0">
                          <a:solidFill>
                            <a:srgbClr val="26301F"/>
                          </a:solidFill>
                          <a:latin typeface="Segoe UI"/>
                        </a:rPr>
                        <a:t>After a number of cleanly completed circles the member is referred to a pre approved product with an asset manager, bank or non banking finance company</a:t>
                      </a:r>
                    </a:p>
                  </a:txBody>
                  <a:tcPr marL="45720" marR="109728" marT="27432" marB="27432" anchor="ctr">
                    <a:lnB w="9525" cap="flat" cmpd="sng" algn="ctr">
                      <a:solidFill>
                        <a:srgbClr val="DCE3D6"/>
                      </a:solidFill>
                    </a:lnB>
                    <a:solidFill>
                      <a:srgbClr val="FFFFFF"/>
                    </a:solidFill>
                  </a:tcPr>
                </a:tc>
                <a:tc>
                  <a:txBody>
                    <a:bodyPr wrap="square"/>
                    <a:lstStyle/>
                    <a:p>
                      <a:r>
                        <a:rPr sz="700" b="0">
                          <a:solidFill>
                            <a:srgbClr val="26301F"/>
                          </a:solidFill>
                          <a:latin typeface="Segoe UI"/>
                        </a:rPr>
                        <a:t>The institution pays the origination fee. The member never pays to be referred</a:t>
                      </a:r>
                    </a:p>
                  </a:txBody>
                  <a:tcPr marL="45720" marR="109728" marT="27432" marB="27432" anchor="ctr">
                    <a:lnB w="9525" cap="flat" cmpd="sng" algn="ctr">
                      <a:solidFill>
                        <a:srgbClr val="DCE3D6"/>
                      </a:solidFill>
                    </a:lnB>
                    <a:solidFill>
                      <a:srgbClr val="FFFFFF"/>
                    </a:solidFill>
                  </a:tcPr>
                </a:tc>
                <a:tc>
                  <a:txBody>
                    <a:bodyPr wrap="square"/>
                    <a:lstStyle/>
                    <a:p>
                      <a:r>
                        <a:rPr sz="700" b="0">
                          <a:solidFill>
                            <a:srgbClr val="26301F"/>
                          </a:solidFill>
                          <a:latin typeface="Segoe UI"/>
                        </a:rPr>
                        <a:t>Referral agreements</a:t>
                      </a:r>
                    </a:p>
                  </a:txBody>
                  <a:tcPr marL="45720" marR="109728" marT="27432" marB="27432" anchor="ctr">
                    <a:lnB w="9525" cap="flat" cmpd="sng" algn="ctr">
                      <a:solidFill>
                        <a:srgbClr val="DCE3D6"/>
                      </a:solidFill>
                    </a:lnB>
                    <a:solidFill>
                      <a:srgbClr val="FFFFFF"/>
                    </a:solidFill>
                  </a:tcPr>
                </a:tc>
              </a:tr>
              <a:tr h="257860">
                <a:tc>
                  <a:txBody>
                    <a:bodyPr wrap="square"/>
                    <a:lstStyle/>
                    <a:p>
                      <a:r>
                        <a:rPr sz="700" b="0">
                          <a:solidFill>
                            <a:srgbClr val="26301F"/>
                          </a:solidFill>
                          <a:latin typeface="Segoe UI"/>
                        </a:rPr>
                        <a:t>Remittance circles</a:t>
                      </a:r>
                    </a:p>
                  </a:txBody>
                  <a:tcPr marL="45720" marR="109728" marT="27432" marB="27432" anchor="ctr">
                    <a:lnB w="9525" cap="flat" cmpd="sng" algn="ctr">
                      <a:solidFill>
                        <a:srgbClr val="DCE3D6"/>
                      </a:solidFill>
                    </a:lnB>
                    <a:solidFill>
                      <a:srgbClr val="FFFFFF"/>
                    </a:solidFill>
                  </a:tcPr>
                </a:tc>
                <a:tc>
                  <a:txBody>
                    <a:bodyPr wrap="square"/>
                    <a:lstStyle/>
                    <a:p>
                      <a:r>
                        <a:rPr sz="700" b="0">
                          <a:solidFill>
                            <a:srgbClr val="26301F"/>
                          </a:solidFill>
                          <a:latin typeface="Segoe UI"/>
                        </a:rPr>
                        <a:t>A diaspora worker commits monthly and the payout lands with family in Pakistan. A commitment device attached to a remittance</a:t>
                      </a:r>
                    </a:p>
                  </a:txBody>
                  <a:tcPr marL="45720" marR="109728" marT="27432" marB="27432" anchor="ctr">
                    <a:lnB w="9525" cap="flat" cmpd="sng" algn="ctr">
                      <a:solidFill>
                        <a:srgbClr val="DCE3D6"/>
                      </a:solidFill>
                    </a:lnB>
                    <a:solidFill>
                      <a:srgbClr val="FFFFFF"/>
                    </a:solidFill>
                  </a:tcPr>
                </a:tc>
                <a:tc>
                  <a:txBody>
                    <a:bodyPr wrap="square"/>
                    <a:lstStyle/>
                    <a:p>
                      <a:r>
                        <a:rPr sz="700" b="0">
                          <a:solidFill>
                            <a:srgbClr val="26301F"/>
                          </a:solidFill>
                          <a:latin typeface="Segoe UI"/>
                        </a:rPr>
                        <a:t>The State Bank subsidises formal remittance flows against a roughly thirty billion dollar economy, so this is policy aligned and potentially development fundable</a:t>
                      </a:r>
                    </a:p>
                  </a:txBody>
                  <a:tcPr marL="45720" marR="109728" marT="27432" marB="27432" anchor="ctr">
                    <a:lnB w="9525" cap="flat" cmpd="sng" algn="ctr">
                      <a:solidFill>
                        <a:srgbClr val="DCE3D6"/>
                      </a:solidFill>
                    </a:lnB>
                    <a:solidFill>
                      <a:srgbClr val="FFFFFF"/>
                    </a:solidFill>
                  </a:tcPr>
                </a:tc>
                <a:tc>
                  <a:txBody>
                    <a:bodyPr wrap="square"/>
                    <a:lstStyle/>
                    <a:p>
                      <a:r>
                        <a:rPr sz="700" b="0">
                          <a:solidFill>
                            <a:srgbClr val="26301F"/>
                          </a:solidFill>
                          <a:latin typeface="Segoe UI"/>
                        </a:rPr>
                        <a:t>A licensed remittance rail. Halqa never holds or moves foreign exchange, ever. The partner carries the licence and the heavier checks</a:t>
                      </a:r>
                    </a:p>
                  </a:txBody>
                  <a:tcPr marL="45720" marR="109728" marT="27432" marB="27432" anchor="ctr">
                    <a:lnB w="9525" cap="flat" cmpd="sng" algn="ctr">
                      <a:solidFill>
                        <a:srgbClr val="DCE3D6"/>
                      </a:solidFill>
                    </a:lnB>
                    <a:solidFill>
                      <a:srgbClr val="FFFFFF"/>
                    </a:solidFill>
                  </a:tcPr>
                </a:tc>
              </a:tr>
              <a:tr h="257860">
                <a:tc>
                  <a:txBody>
                    <a:bodyPr wrap="square"/>
                    <a:lstStyle/>
                    <a:p>
                      <a:r>
                        <a:rPr sz="700" b="0">
                          <a:solidFill>
                            <a:srgbClr val="26301F"/>
                          </a:solidFill>
                          <a:latin typeface="Segoe UI"/>
                        </a:rPr>
                        <a:t>Employer endorsed circles</a:t>
                      </a:r>
                    </a:p>
                  </a:txBody>
                  <a:tcPr marL="45720" marR="109728" marT="27432" marB="27432" anchor="ctr">
                    <a:lnB w="9525" cap="flat" cmpd="sng" algn="ctr">
                      <a:solidFill>
                        <a:srgbClr val="DCE3D6"/>
                      </a:solidFill>
                    </a:lnB>
                    <a:solidFill>
                      <a:srgbClr val="FFFFFF"/>
                    </a:solidFill>
                  </a:tcPr>
                </a:tc>
                <a:tc>
                  <a:txBody>
                    <a:bodyPr wrap="square"/>
                    <a:lstStyle/>
                    <a:p>
                      <a:r>
                        <a:rPr sz="700" b="0">
                          <a:solidFill>
                            <a:srgbClr val="26301F"/>
                          </a:solidFill>
                          <a:latin typeface="Segoe UI"/>
                        </a:rPr>
                        <a:t>A workplace channel where the employer endorses the benefit but neither runs it nor sees inside it</a:t>
                      </a:r>
                    </a:p>
                  </a:txBody>
                  <a:tcPr marL="45720" marR="109728" marT="27432" marB="27432" anchor="ctr">
                    <a:lnB w="9525" cap="flat" cmpd="sng" algn="ctr">
                      <a:solidFill>
                        <a:srgbClr val="DCE3D6"/>
                      </a:solidFill>
                    </a:lnB>
                    <a:solidFill>
                      <a:srgbClr val="FFFFFF"/>
                    </a:solidFill>
                  </a:tcPr>
                </a:tc>
                <a:tc>
                  <a:txBody>
                    <a:bodyPr wrap="square"/>
                    <a:lstStyle/>
                    <a:p>
                      <a:r>
                        <a:rPr sz="700" b="0">
                          <a:solidFill>
                            <a:srgbClr val="26301F"/>
                          </a:solidFill>
                          <a:latin typeface="Segoe UI"/>
                        </a:rPr>
                        <a:t>Free income verification and a perfect payday pull, which are the two hardest things to obtain otherwise</a:t>
                      </a:r>
                    </a:p>
                  </a:txBody>
                  <a:tcPr marL="45720" marR="109728" marT="27432" marB="27432" anchor="ctr">
                    <a:lnB w="9525" cap="flat" cmpd="sng" algn="ctr">
                      <a:solidFill>
                        <a:srgbClr val="DCE3D6"/>
                      </a:solidFill>
                    </a:lnB>
                    <a:solidFill>
                      <a:srgbClr val="FFFFFF"/>
                    </a:solidFill>
                  </a:tcPr>
                </a:tc>
                <a:tc>
                  <a:txBody>
                    <a:bodyPr wrap="square"/>
                    <a:lstStyle/>
                    <a:p>
                      <a:r>
                        <a:rPr sz="700" b="0">
                          <a:solidFill>
                            <a:srgbClr val="26301F"/>
                          </a:solidFill>
                          <a:latin typeface="Segoe UI"/>
                        </a:rPr>
                        <a:t>Employer agreements. Deliberately scheduled for later</a:t>
                      </a:r>
                    </a:p>
                  </a:txBody>
                  <a:tcPr marL="45720" marR="109728" marT="27432" marB="27432" anchor="ctr">
                    <a:lnB w="9525" cap="flat" cmpd="sng" algn="ctr">
                      <a:solidFill>
                        <a:srgbClr val="DCE3D6"/>
                      </a:solidFill>
                    </a:lnB>
                    <a:solidFill>
                      <a:srgbClr val="FFFFFF"/>
                    </a:solidFill>
                  </a:tcPr>
                </a:tc>
              </a:tr>
              <a:tr h="257860">
                <a:tc>
                  <a:txBody>
                    <a:bodyPr wrap="square"/>
                    <a:lstStyle/>
                    <a:p>
                      <a:r>
                        <a:rPr sz="700" b="0">
                          <a:solidFill>
                            <a:srgbClr val="26301F"/>
                          </a:solidFill>
                          <a:latin typeface="Segoe UI"/>
                        </a:rPr>
                        <a:t>Credit builder circles</a:t>
                      </a:r>
                    </a:p>
                  </a:txBody>
                  <a:tcPr marL="45720" marR="109728" marT="27432" marB="27432" anchor="ctr">
                    <a:lnB w="9525" cap="flat" cmpd="sng" algn="ctr">
                      <a:solidFill>
                        <a:srgbClr val="DCE3D6"/>
                      </a:solidFill>
                    </a:lnB>
                    <a:solidFill>
                      <a:srgbClr val="FFFFFF"/>
                    </a:solidFill>
                  </a:tcPr>
                </a:tc>
                <a:tc>
                  <a:txBody>
                    <a:bodyPr wrap="square"/>
                    <a:lstStyle/>
                    <a:p>
                      <a:r>
                        <a:rPr sz="700" b="0">
                          <a:solidFill>
                            <a:srgbClr val="26301F"/>
                          </a:solidFill>
                          <a:latin typeface="Segoe UI"/>
                        </a:rPr>
                        <a:t>A small circle whose explicit purpose is producing a reportable record rather than a lump sum</a:t>
                      </a:r>
                    </a:p>
                  </a:txBody>
                  <a:tcPr marL="45720" marR="109728" marT="27432" marB="27432" anchor="ctr">
                    <a:lnB w="9525" cap="flat" cmpd="sng" algn="ctr">
                      <a:solidFill>
                        <a:srgbClr val="DCE3D6"/>
                      </a:solidFill>
                    </a:lnB>
                    <a:solidFill>
                      <a:srgbClr val="FFFFFF"/>
                    </a:solidFill>
                  </a:tcPr>
                </a:tc>
                <a:tc>
                  <a:txBody>
                    <a:bodyPr wrap="square"/>
                    <a:lstStyle/>
                    <a:p>
                      <a:r>
                        <a:rPr sz="700" b="0">
                          <a:solidFill>
                            <a:srgbClr val="26301F"/>
                          </a:solidFill>
                          <a:latin typeface="Segoe UI"/>
                        </a:rPr>
                        <a:t>For members whose goal is the credit history itself</a:t>
                      </a:r>
                    </a:p>
                  </a:txBody>
                  <a:tcPr marL="45720" marR="109728" marT="27432" marB="27432" anchor="ctr">
                    <a:lnB w="9525" cap="flat" cmpd="sng" algn="ctr">
                      <a:solidFill>
                        <a:srgbClr val="DCE3D6"/>
                      </a:solidFill>
                    </a:lnB>
                    <a:solidFill>
                      <a:srgbClr val="FFFFFF"/>
                    </a:solidFill>
                  </a:tcPr>
                </a:tc>
                <a:tc>
                  <a:txBody>
                    <a:bodyPr wrap="square"/>
                    <a:lstStyle/>
                    <a:p>
                      <a:r>
                        <a:rPr sz="700" b="0">
                          <a:solidFill>
                            <a:srgbClr val="26301F"/>
                          </a:solidFill>
                          <a:latin typeface="Segoe UI"/>
                        </a:rPr>
                        <a:t>The bureau link first</a:t>
                      </a:r>
                    </a:p>
                  </a:txBody>
                  <a:tcPr marL="45720" marR="109728" marT="27432" marB="27432" anchor="ctr">
                    <a:lnB w="9525" cap="flat" cmpd="sng" algn="ctr">
                      <a:solidFill>
                        <a:srgbClr val="DCE3D6"/>
                      </a:solidFill>
                    </a:lnB>
                    <a:solidFill>
                      <a:srgbClr val="FFFFFF"/>
                    </a:solidFill>
                  </a:tcPr>
                </a:tc>
              </a:tr>
              <a:tr h="257860">
                <a:tc>
                  <a:txBody>
                    <a:bodyPr wrap="square"/>
                    <a:lstStyle/>
                    <a:p>
                      <a:r>
                        <a:rPr sz="700" b="0">
                          <a:solidFill>
                            <a:srgbClr val="26301F"/>
                          </a:solidFill>
                          <a:latin typeface="Segoe UI"/>
                        </a:rPr>
                        <a:t>Seasonal and Islamic calendar circles</a:t>
                      </a:r>
                    </a:p>
                  </a:txBody>
                  <a:tcPr marL="45720" marR="109728" marT="27432" marB="27432" anchor="ctr">
                    <a:lnB w="9525" cap="flat" cmpd="sng" algn="ctr">
                      <a:solidFill>
                        <a:srgbClr val="DCE3D6"/>
                      </a:solidFill>
                    </a:lnB>
                    <a:solidFill>
                      <a:srgbClr val="FFFFFF"/>
                    </a:solidFill>
                  </a:tcPr>
                </a:tc>
                <a:tc>
                  <a:txBody>
                    <a:bodyPr wrap="square"/>
                    <a:lstStyle/>
                    <a:p>
                      <a:r>
                        <a:rPr sz="700" b="0">
                          <a:solidFill>
                            <a:srgbClr val="26301F"/>
                          </a:solidFill>
                          <a:latin typeface="Segoe UI"/>
                        </a:rPr>
                        <a:t>Circles timed to Ramadan, Eid, Hajj, wedding season and school fees</a:t>
                      </a:r>
                    </a:p>
                  </a:txBody>
                  <a:tcPr marL="45720" marR="109728" marT="27432" marB="27432" anchor="ctr">
                    <a:lnB w="9525" cap="flat" cmpd="sng" algn="ctr">
                      <a:solidFill>
                        <a:srgbClr val="DCE3D6"/>
                      </a:solidFill>
                    </a:lnB>
                    <a:solidFill>
                      <a:srgbClr val="FFFFFF"/>
                    </a:solidFill>
                  </a:tcPr>
                </a:tc>
                <a:tc>
                  <a:txBody>
                    <a:bodyPr wrap="square"/>
                    <a:lstStyle/>
                    <a:p>
                      <a:r>
                        <a:rPr sz="700" b="0">
                          <a:solidFill>
                            <a:srgbClr val="26301F"/>
                          </a:solidFill>
                          <a:latin typeface="Segoe UI"/>
                        </a:rPr>
                        <a:t>These are the moments the informal market already forms circles around</a:t>
                      </a:r>
                    </a:p>
                  </a:txBody>
                  <a:tcPr marL="45720" marR="109728" marT="27432" marB="27432" anchor="ctr">
                    <a:lnB w="9525" cap="flat" cmpd="sng" algn="ctr">
                      <a:solidFill>
                        <a:srgbClr val="DCE3D6"/>
                      </a:solidFill>
                    </a:lnB>
                    <a:solidFill>
                      <a:srgbClr val="FFFFFF"/>
                    </a:solidFill>
                  </a:tcPr>
                </a:tc>
                <a:tc>
                  <a:txBody>
                    <a:bodyPr wrap="square"/>
                    <a:lstStyle/>
                    <a:p>
                      <a:r>
                        <a:rPr sz="700" b="0">
                          <a:solidFill>
                            <a:srgbClr val="26301F"/>
                          </a:solidFill>
                          <a:latin typeface="Segoe UI"/>
                        </a:rPr>
                        <a:t>Nothing external</a:t>
                      </a:r>
                    </a:p>
                  </a:txBody>
                  <a:tcPr marL="45720" marR="109728" marT="27432" marB="27432" anchor="ctr">
                    <a:lnB w="9525" cap="flat" cmpd="sng" algn="ctr">
                      <a:solidFill>
                        <a:srgbClr val="DCE3D6"/>
                      </a:solidFill>
                    </a:lnB>
                    <a:solidFill>
                      <a:srgbClr val="FFFFFF"/>
                    </a:solidFill>
                  </a:tcPr>
                </a:tc>
              </a:tr>
              <a:tr h="257860">
                <a:tc>
                  <a:txBody>
                    <a:bodyPr wrap="square"/>
                    <a:lstStyle/>
                    <a:p>
                      <a:r>
                        <a:rPr sz="700" b="0">
                          <a:solidFill>
                            <a:srgbClr val="26301F"/>
                          </a:solidFill>
                          <a:latin typeface="Segoe UI"/>
                        </a:rPr>
                        <a:t>Merchant sponsored circles</a:t>
                      </a:r>
                    </a:p>
                  </a:txBody>
                  <a:tcPr marL="45720" marR="109728" marT="27432" marB="27432" anchor="ctr">
                    <a:lnB w="9525" cap="flat" cmpd="sng" algn="ctr">
                      <a:solidFill>
                        <a:srgbClr val="DCE3D6"/>
                      </a:solidFill>
                    </a:lnB>
                    <a:solidFill>
                      <a:srgbClr val="FFFFFF"/>
                    </a:solidFill>
                  </a:tcPr>
                </a:tc>
                <a:tc>
                  <a:txBody>
                    <a:bodyPr wrap="square"/>
                    <a:lstStyle/>
                    <a:p>
                      <a:r>
                        <a:rPr sz="700" b="0">
                          <a:solidFill>
                            <a:srgbClr val="26301F"/>
                          </a:solidFill>
                          <a:latin typeface="Segoe UI"/>
                        </a:rPr>
                        <a:t>A retailer sponsors a circle towards their own category and funds part of the cost</a:t>
                      </a:r>
                    </a:p>
                  </a:txBody>
                  <a:tcPr marL="45720" marR="109728" marT="27432" marB="27432" anchor="ctr">
                    <a:lnB w="9525" cap="flat" cmpd="sng" algn="ctr">
                      <a:solidFill>
                        <a:srgbClr val="DCE3D6"/>
                      </a:solidFill>
                    </a:lnB>
                    <a:solidFill>
                      <a:srgbClr val="FFFFFF"/>
                    </a:solidFill>
                  </a:tcPr>
                </a:tc>
                <a:tc>
                  <a:txBody>
                    <a:bodyPr wrap="square"/>
                    <a:lstStyle/>
                    <a:p>
                      <a:r>
                        <a:rPr sz="700" b="0">
                          <a:solidFill>
                            <a:srgbClr val="26301F"/>
                          </a:solidFill>
                          <a:latin typeface="Segoe UI"/>
                        </a:rPr>
                        <a:t>The retailer is buying qualified demand rather than advertising</a:t>
                      </a:r>
                    </a:p>
                  </a:txBody>
                  <a:tcPr marL="45720" marR="109728" marT="27432" marB="27432" anchor="ctr">
                    <a:lnB w="9525" cap="flat" cmpd="sng" algn="ctr">
                      <a:solidFill>
                        <a:srgbClr val="DCE3D6"/>
                      </a:solidFill>
                    </a:lnB>
                    <a:solidFill>
                      <a:srgbClr val="FFFFFF"/>
                    </a:solidFill>
                  </a:tcPr>
                </a:tc>
                <a:tc>
                  <a:txBody>
                    <a:bodyPr wrap="square"/>
                    <a:lstStyle/>
                    <a:p>
                      <a:r>
                        <a:rPr sz="700" b="0">
                          <a:solidFill>
                            <a:srgbClr val="26301F"/>
                          </a:solidFill>
                          <a:latin typeface="Segoe UI"/>
                        </a:rPr>
                        <a:t>Merchant agreements</a:t>
                      </a:r>
                    </a:p>
                  </a:txBody>
                  <a:tcPr marL="45720" marR="109728" marT="27432" marB="27432" anchor="ctr">
                    <a:lnB w="9525" cap="flat" cmpd="sng" algn="ctr">
                      <a:solidFill>
                        <a:srgbClr val="DCE3D6"/>
                      </a:solidFill>
                    </a:lnB>
                    <a:solidFill>
                      <a:srgbClr val="FFFFFF"/>
                    </a:solidFill>
                  </a:tcPr>
                </a:tc>
              </a:tr>
              <a:tr h="257860">
                <a:tc>
                  <a:txBody>
                    <a:bodyPr wrap="square"/>
                    <a:lstStyle/>
                    <a:p>
                      <a:r>
                        <a:rPr sz="700" b="0">
                          <a:solidFill>
                            <a:srgbClr val="26301F"/>
                          </a:solidFill>
                          <a:latin typeface="Segoe UI"/>
                        </a:rPr>
                        <a:t>White label to institutions</a:t>
                      </a:r>
                    </a:p>
                  </a:txBody>
                  <a:tcPr marL="45720" marR="109728" marT="27432" marB="27432" anchor="ctr">
                    <a:lnB w="9525" cap="flat" cmpd="sng" algn="ctr">
                      <a:solidFill>
                        <a:srgbClr val="DCE3D6"/>
                      </a:solidFill>
                    </a:lnB>
                    <a:solidFill>
                      <a:srgbClr val="FFFFFF"/>
                    </a:solidFill>
                  </a:tcPr>
                </a:tc>
                <a:tc>
                  <a:txBody>
                    <a:bodyPr wrap="square"/>
                    <a:lstStyle/>
                    <a:p>
                      <a:r>
                        <a:rPr sz="700" b="0">
                          <a:solidFill>
                            <a:srgbClr val="26301F"/>
                          </a:solidFill>
                          <a:latin typeface="Segoe UI"/>
                        </a:rPr>
                        <a:t>The engine licensed to a bank or microfinance institution under their own brand</a:t>
                      </a:r>
                    </a:p>
                  </a:txBody>
                  <a:tcPr marL="45720" marR="109728" marT="27432" marB="27432" anchor="ctr">
                    <a:lnB w="9525" cap="flat" cmpd="sng" algn="ctr">
                      <a:solidFill>
                        <a:srgbClr val="DCE3D6"/>
                      </a:solidFill>
                    </a:lnB>
                    <a:solidFill>
                      <a:srgbClr val="FFFFFF"/>
                    </a:solidFill>
                  </a:tcPr>
                </a:tc>
                <a:tc>
                  <a:txBody>
                    <a:bodyPr wrap="square"/>
                    <a:lstStyle/>
                    <a:p>
                      <a:r>
                        <a:rPr sz="700" b="0">
                          <a:solidFill>
                            <a:srgbClr val="26301F"/>
                          </a:solidFill>
                          <a:latin typeface="Segoe UI"/>
                        </a:rPr>
                        <a:t>They have distribution and no product. Halqa has the product and no distribution</a:t>
                      </a:r>
                    </a:p>
                  </a:txBody>
                  <a:tcPr marL="45720" marR="109728" marT="27432" marB="27432" anchor="ctr">
                    <a:lnB w="9525" cap="flat" cmpd="sng" algn="ctr">
                      <a:solidFill>
                        <a:srgbClr val="DCE3D6"/>
                      </a:solidFill>
                    </a:lnB>
                    <a:solidFill>
                      <a:srgbClr val="FFFFFF"/>
                    </a:solidFill>
                  </a:tcPr>
                </a:tc>
                <a:tc>
                  <a:txBody>
                    <a:bodyPr wrap="square"/>
                    <a:lstStyle/>
                    <a:p>
                      <a:r>
                        <a:rPr sz="700" b="0">
                          <a:solidFill>
                            <a:srgbClr val="26301F"/>
                          </a:solidFill>
                          <a:latin typeface="Segoe UI"/>
                        </a:rPr>
                        <a:t>Institutional sales</a:t>
                      </a:r>
                    </a:p>
                  </a:txBody>
                  <a:tcPr marL="45720" marR="109728" marT="27432" marB="27432" anchor="ctr">
                    <a:lnB w="9525" cap="flat" cmpd="sng" algn="ctr">
                      <a:solidFill>
                        <a:srgbClr val="DCE3D6"/>
                      </a:solidFill>
                    </a:lnB>
                    <a:solidFill>
                      <a:srgbClr val="FFFFFF"/>
                    </a:solidFill>
                  </a:tcPr>
                </a:tc>
              </a:tr>
              <a:tr h="257860">
                <a:tc>
                  <a:txBody>
                    <a:bodyPr wrap="square"/>
                    <a:lstStyle/>
                    <a:p>
                      <a:r>
                        <a:rPr sz="700" b="0">
                          <a:solidFill>
                            <a:srgbClr val="26301F"/>
                          </a:solidFill>
                          <a:latin typeface="Segoe UI"/>
                        </a:rPr>
                        <a:t>Aggregate insights</a:t>
                      </a:r>
                    </a:p>
                  </a:txBody>
                  <a:tcPr marL="45720" marR="109728" marT="27432" marB="27432" anchor="ctr">
                    <a:lnB w="9525" cap="flat" cmpd="sng" algn="ctr">
                      <a:solidFill>
                        <a:srgbClr val="DCE3D6"/>
                      </a:solidFill>
                    </a:lnB>
                    <a:solidFill>
                      <a:srgbClr val="FFFFFF"/>
                    </a:solidFill>
                  </a:tcPr>
                </a:tc>
                <a:tc>
                  <a:txBody>
                    <a:bodyPr wrap="square"/>
                    <a:lstStyle/>
                    <a:p>
                      <a:r>
                        <a:rPr sz="700" b="0">
                          <a:solidFill>
                            <a:srgbClr val="26301F"/>
                          </a:solidFill>
                          <a:latin typeface="Segoe UI"/>
                        </a:rPr>
                        <a:t>Anonymised, aggregated savings behaviour sold as market intelligence, never at member level</a:t>
                      </a:r>
                    </a:p>
                  </a:txBody>
                  <a:tcPr marL="45720" marR="109728" marT="27432" marB="27432" anchor="ctr">
                    <a:lnB w="9525" cap="flat" cmpd="sng" algn="ctr">
                      <a:solidFill>
                        <a:srgbClr val="DCE3D6"/>
                      </a:solidFill>
                    </a:lnB>
                    <a:solidFill>
                      <a:srgbClr val="FFFFFF"/>
                    </a:solidFill>
                  </a:tcPr>
                </a:tc>
                <a:tc>
                  <a:txBody>
                    <a:bodyPr wrap="square"/>
                    <a:lstStyle/>
                    <a:p>
                      <a:r>
                        <a:rPr sz="700" b="0">
                          <a:solidFill>
                            <a:srgbClr val="26301F"/>
                          </a:solidFill>
                          <a:latin typeface="Segoe UI"/>
                        </a:rPr>
                        <a:t>A genuine data business that does not touch personal data</a:t>
                      </a:r>
                    </a:p>
                  </a:txBody>
                  <a:tcPr marL="45720" marR="109728" marT="27432" marB="27432" anchor="ctr">
                    <a:lnB w="9525" cap="flat" cmpd="sng" algn="ctr">
                      <a:solidFill>
                        <a:srgbClr val="DCE3D6"/>
                      </a:solidFill>
                    </a:lnB>
                    <a:solidFill>
                      <a:srgbClr val="FFFFFF"/>
                    </a:solidFill>
                  </a:tcPr>
                </a:tc>
                <a:tc>
                  <a:txBody>
                    <a:bodyPr wrap="square"/>
                    <a:lstStyle/>
                    <a:p>
                      <a:r>
                        <a:rPr sz="700" b="0">
                          <a:solidFill>
                            <a:srgbClr val="26301F"/>
                          </a:solidFill>
                          <a:latin typeface="Segoe UI"/>
                        </a:rPr>
                        <a:t>Legal review of the aggregation threshold</a:t>
                      </a:r>
                    </a:p>
                  </a:txBody>
                  <a:tcPr marL="45720" marR="109728" marT="27432" marB="27432" anchor="ctr">
                    <a:lnB w="9525" cap="flat" cmpd="sng" algn="ctr">
                      <a:solidFill>
                        <a:srgbClr val="DCE3D6"/>
                      </a:solidFill>
                    </a:lnB>
                    <a:solidFill>
                      <a:srgbClr val="FFFFFF"/>
                    </a:solidFill>
                  </a:tcPr>
                </a:tc>
              </a:tr>
            </a:tbl>
          </a:graphicData>
        </a:graphic>
      </p:graphicFrame>
    </p:spTree>
  </p:cSld>
  <p:clrMapOvr>
    <a:masterClrMapping/>
  </p:clrMapOvr>
</p:sld>
</file>

<file path=ppt/slides/slide7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777240" y="566928"/>
            <a:ext cx="10637215" cy="219456"/>
          </a:xfrm>
          <a:prstGeom prst="rect">
            <a:avLst/>
          </a:prstGeom>
          <a:noFill/>
        </p:spPr>
        <p:txBody>
          <a:bodyPr wrap="square" lIns="0" rIns="0" tIns="0" bIns="0">
            <a:spAutoFit/>
          </a:bodyPr>
          <a:lstStyle/>
          <a:p>
            <a:pPr algn="l">
              <a:lnSpc>
                <a:spcPct val="125000"/>
              </a:lnSpc>
            </a:pPr>
            <a:r>
              <a:rPr sz="950" b="1" i="0">
                <a:solidFill>
                  <a:srgbClr val="41801A"/>
                </a:solidFill>
                <a:latin typeface="Segoe UI"/>
              </a:rPr>
              <a:t>10  THE BUSINESS</a:t>
            </a:r>
          </a:p>
        </p:txBody>
      </p:sp>
      <p:sp>
        <p:nvSpPr>
          <p:cNvPr id="3" name="TextBox 2"/>
          <p:cNvSpPr txBox="1"/>
          <p:nvPr/>
        </p:nvSpPr>
        <p:spPr>
          <a:xfrm>
            <a:off x="777240" y="841248"/>
            <a:ext cx="10637215" cy="502920"/>
          </a:xfrm>
          <a:prstGeom prst="rect">
            <a:avLst/>
          </a:prstGeom>
          <a:noFill/>
        </p:spPr>
        <p:txBody>
          <a:bodyPr wrap="square" lIns="0" rIns="0" tIns="0" bIns="0">
            <a:spAutoFit/>
          </a:bodyPr>
          <a:lstStyle/>
          <a:p>
            <a:pPr algn="l">
              <a:lnSpc>
                <a:spcPct val="125000"/>
              </a:lnSpc>
            </a:pPr>
            <a:r>
              <a:rPr sz="2700" b="1" i="0">
                <a:solidFill>
                  <a:srgbClr val="0C1408"/>
                </a:solidFill>
                <a:latin typeface="Segoe UI"/>
              </a:rPr>
              <a:t>What the member pays</a:t>
            </a:r>
          </a:p>
        </p:txBody>
      </p:sp>
      <p:sp>
        <p:nvSpPr>
          <p:cNvPr id="4" name="Rectangle 3"/>
          <p:cNvSpPr/>
          <p:nvPr/>
        </p:nvSpPr>
        <p:spPr>
          <a:xfrm>
            <a:off x="777240" y="1417320"/>
            <a:ext cx="1371600" cy="22860"/>
          </a:xfrm>
          <a:prstGeom prst="rect">
            <a:avLst/>
          </a:prstGeom>
          <a:solidFill>
            <a:srgbClr val="6DC72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777240" y="6382512"/>
            <a:ext cx="3657600" cy="228600"/>
          </a:xfrm>
          <a:prstGeom prst="rect">
            <a:avLst/>
          </a:prstGeom>
          <a:noFill/>
        </p:spPr>
        <p:txBody>
          <a:bodyPr wrap="square" lIns="0" rIns="0" tIns="0" bIns="0">
            <a:spAutoFit/>
          </a:bodyPr>
          <a:lstStyle/>
          <a:p>
            <a:pPr algn="l">
              <a:lnSpc>
                <a:spcPct val="125000"/>
              </a:lnSpc>
            </a:pPr>
            <a:r>
              <a:rPr sz="900" b="0" i="0">
                <a:solidFill>
                  <a:srgbClr val="9AA694"/>
                </a:solidFill>
                <a:latin typeface="Segoe UI"/>
              </a:rPr>
              <a:t>Halqa  ·  Confidential</a:t>
            </a:r>
          </a:p>
        </p:txBody>
      </p:sp>
      <p:sp>
        <p:nvSpPr>
          <p:cNvPr id="6" name="TextBox 5"/>
          <p:cNvSpPr txBox="1"/>
          <p:nvPr/>
        </p:nvSpPr>
        <p:spPr>
          <a:xfrm>
            <a:off x="10728655" y="6382512"/>
            <a:ext cx="685800" cy="228600"/>
          </a:xfrm>
          <a:prstGeom prst="rect">
            <a:avLst/>
          </a:prstGeom>
          <a:noFill/>
        </p:spPr>
        <p:txBody>
          <a:bodyPr wrap="square" lIns="0" rIns="0" tIns="0" bIns="0">
            <a:spAutoFit/>
          </a:bodyPr>
          <a:lstStyle/>
          <a:p>
            <a:pPr algn="r">
              <a:lnSpc>
                <a:spcPct val="125000"/>
              </a:lnSpc>
            </a:pPr>
            <a:r>
              <a:rPr sz="900" b="0" i="0">
                <a:solidFill>
                  <a:srgbClr val="6F7B68"/>
                </a:solidFill>
                <a:latin typeface="Segoe UI"/>
              </a:rPr>
              <a:t>71</a:t>
            </a:r>
          </a:p>
        </p:txBody>
      </p:sp>
      <p:sp>
        <p:nvSpPr>
          <p:cNvPr id="7" name="TextBox 6"/>
          <p:cNvSpPr txBox="1"/>
          <p:nvPr/>
        </p:nvSpPr>
        <p:spPr>
          <a:xfrm>
            <a:off x="777240" y="1965960"/>
            <a:ext cx="10607040" cy="777240"/>
          </a:xfrm>
          <a:prstGeom prst="rect">
            <a:avLst/>
          </a:prstGeom>
          <a:noFill/>
        </p:spPr>
        <p:txBody>
          <a:bodyPr wrap="square" lIns="0" rIns="0" tIns="0" bIns="0">
            <a:spAutoFit/>
          </a:bodyPr>
          <a:lstStyle/>
          <a:p>
            <a:pPr algn="l">
              <a:lnSpc>
                <a:spcPct val="150000"/>
              </a:lnSpc>
            </a:pPr>
            <a:r>
              <a:rPr sz="1350" b="0" i="0">
                <a:solidFill>
                  <a:srgbClr val="26301F"/>
                </a:solidFill>
                <a:latin typeface="Segoe UI"/>
              </a:rPr>
              <a:t>A member pays nothing to join a circle. Every contribution carries a small fixed fee, and every other charge in the business is either an optional service the member chooses or is paid by a counterparty rather than by a member.</a:t>
            </a:r>
          </a:p>
        </p:txBody>
      </p:sp>
      <p:graphicFrame>
        <p:nvGraphicFramePr>
          <p:cNvPr id="8" name="Table 7"/>
          <p:cNvGraphicFramePr>
            <a:graphicFrameLocks noGrp="1"/>
          </p:cNvGraphicFramePr>
          <p:nvPr/>
        </p:nvGraphicFramePr>
        <p:xfrm>
          <a:off x="777240" y="2926080"/>
          <a:ext cx="10607040" cy="2912483"/>
        </p:xfrm>
        <a:graphic>
          <a:graphicData uri="http://schemas.openxmlformats.org/drawingml/2006/table">
            <a:tbl>
              <a:tblPr>
                <a:tableStyleId>{5C22544A-7EE6-4342-B048-85BDC9FD1C3A}</a:tableStyleId>
              </a:tblPr>
              <a:tblGrid>
                <a:gridCol w="2926080"/>
                <a:gridCol w="2377440"/>
                <a:gridCol w="5303520"/>
              </a:tblGrid>
              <a:tr h="416069">
                <a:tc>
                  <a:txBody>
                    <a:bodyPr wrap="square"/>
                    <a:lstStyle/>
                    <a:p>
                      <a:r>
                        <a:rPr sz="700" b="1">
                          <a:solidFill>
                            <a:srgbClr val="41801A"/>
                          </a:solidFill>
                          <a:latin typeface="Segoe UI"/>
                        </a:rPr>
                        <a:t>WHAT A MEMBER PAYS</a:t>
                      </a:r>
                    </a:p>
                  </a:txBody>
                  <a:tcPr marL="45720" marR="109728" marT="27432" marB="27432" anchor="ctr">
                    <a:lnB w="9525" cap="flat" cmpd="sng" algn="ctr">
                      <a:solidFill>
                        <a:srgbClr val="41801A"/>
                      </a:solidFill>
                    </a:lnB>
                    <a:solidFill>
                      <a:srgbClr val="FFFFFF"/>
                    </a:solidFill>
                  </a:tcPr>
                </a:tc>
                <a:tc>
                  <a:txBody>
                    <a:bodyPr wrap="square"/>
                    <a:lstStyle/>
                    <a:p>
                      <a:r>
                        <a:rPr sz="700" b="1">
                          <a:solidFill>
                            <a:srgbClr val="41801A"/>
                          </a:solidFill>
                          <a:latin typeface="Segoe UI"/>
                        </a:rPr>
                        <a:t>WHEN</a:t>
                      </a:r>
                    </a:p>
                  </a:txBody>
                  <a:tcPr marL="45720" marR="109728" marT="27432" marB="27432" anchor="ctr">
                    <a:lnB w="9525" cap="flat" cmpd="sng" algn="ctr">
                      <a:solidFill>
                        <a:srgbClr val="41801A"/>
                      </a:solidFill>
                    </a:lnB>
                    <a:solidFill>
                      <a:srgbClr val="FFFFFF"/>
                    </a:solidFill>
                  </a:tcPr>
                </a:tc>
                <a:tc>
                  <a:txBody>
                    <a:bodyPr wrap="square"/>
                    <a:lstStyle/>
                    <a:p>
                      <a:r>
                        <a:rPr sz="700" b="1">
                          <a:solidFill>
                            <a:srgbClr val="41801A"/>
                          </a:solidFill>
                          <a:latin typeface="Segoe UI"/>
                        </a:rPr>
                        <a:t>NOTE</a:t>
                      </a:r>
                    </a:p>
                  </a:txBody>
                  <a:tcPr marL="45720" marR="109728" marT="27432" marB="27432" anchor="ctr">
                    <a:lnB w="9525" cap="flat" cmpd="sng" algn="ctr">
                      <a:solidFill>
                        <a:srgbClr val="41801A"/>
                      </a:solidFill>
                    </a:lnB>
                    <a:solidFill>
                      <a:srgbClr val="FFFFFF"/>
                    </a:solidFill>
                  </a:tcPr>
                </a:tc>
              </a:tr>
              <a:tr h="416069">
                <a:tc>
                  <a:txBody>
                    <a:bodyPr wrap="square"/>
                    <a:lstStyle/>
                    <a:p>
                      <a:r>
                        <a:rPr sz="700" b="0">
                          <a:solidFill>
                            <a:srgbClr val="26301F"/>
                          </a:solidFill>
                          <a:latin typeface="Segoe UI"/>
                        </a:rPr>
                        <a:t>A small fixed fee on each contribution</a:t>
                      </a:r>
                    </a:p>
                  </a:txBody>
                  <a:tcPr marL="45720" marR="109728" marT="27432" marB="27432" anchor="ctr">
                    <a:lnB w="9525" cap="flat" cmpd="sng" algn="ctr">
                      <a:solidFill>
                        <a:srgbClr val="DCE3D6"/>
                      </a:solidFill>
                    </a:lnB>
                    <a:solidFill>
                      <a:srgbClr val="FFFFFF"/>
                    </a:solidFill>
                  </a:tcPr>
                </a:tc>
                <a:tc>
                  <a:txBody>
                    <a:bodyPr wrap="square"/>
                    <a:lstStyle/>
                    <a:p>
                      <a:r>
                        <a:rPr sz="700" b="0">
                          <a:solidFill>
                            <a:srgbClr val="26301F"/>
                          </a:solidFill>
                          <a:latin typeface="Segoe UI"/>
                        </a:rPr>
                        <a:t>Every round</a:t>
                      </a:r>
                    </a:p>
                  </a:txBody>
                  <a:tcPr marL="45720" marR="109728" marT="27432" marB="27432" anchor="ctr">
                    <a:lnB w="9525" cap="flat" cmpd="sng" algn="ctr">
                      <a:solidFill>
                        <a:srgbClr val="DCE3D6"/>
                      </a:solidFill>
                    </a:lnB>
                    <a:solidFill>
                      <a:srgbClr val="FFFFFF"/>
                    </a:solidFill>
                  </a:tcPr>
                </a:tc>
                <a:tc>
                  <a:txBody>
                    <a:bodyPr wrap="square"/>
                    <a:lstStyle/>
                    <a:p>
                      <a:r>
                        <a:rPr sz="700" b="0">
                          <a:solidFill>
                            <a:srgbClr val="26301F"/>
                          </a:solidFill>
                          <a:latin typeface="Segoe UI"/>
                        </a:rPr>
                        <a:t>Flat rather than a percentage, so it is predictable and a member can state it without doing arithmetic. On a daily circle it is a percentage instead, because a flat fee on a small daily amount would be punitive</a:t>
                      </a:r>
                    </a:p>
                  </a:txBody>
                  <a:tcPr marL="45720" marR="109728" marT="27432" marB="27432" anchor="ctr">
                    <a:lnB w="9525" cap="flat" cmpd="sng" algn="ctr">
                      <a:solidFill>
                        <a:srgbClr val="DCE3D6"/>
                      </a:solidFill>
                    </a:lnB>
                    <a:solidFill>
                      <a:srgbClr val="FFFFFF"/>
                    </a:solidFill>
                  </a:tcPr>
                </a:tc>
              </a:tr>
              <a:tr h="416069">
                <a:tc>
                  <a:txBody>
                    <a:bodyPr wrap="square"/>
                    <a:lstStyle/>
                    <a:p>
                      <a:r>
                        <a:rPr sz="700" b="0">
                          <a:solidFill>
                            <a:srgbClr val="26301F"/>
                          </a:solidFill>
                          <a:latin typeface="Segoe UI"/>
                        </a:rPr>
                        <a:t>An early position fee</a:t>
                      </a:r>
                    </a:p>
                  </a:txBody>
                  <a:tcPr marL="45720" marR="109728" marT="27432" marB="27432" anchor="ctr">
                    <a:lnB w="9525" cap="flat" cmpd="sng" algn="ctr">
                      <a:solidFill>
                        <a:srgbClr val="DCE3D6"/>
                      </a:solidFill>
                    </a:lnB>
                    <a:solidFill>
                      <a:srgbClr val="FFFFFF"/>
                    </a:solidFill>
                  </a:tcPr>
                </a:tc>
                <a:tc>
                  <a:txBody>
                    <a:bodyPr wrap="square"/>
                    <a:lstStyle/>
                    <a:p>
                      <a:r>
                        <a:rPr sz="700" b="0">
                          <a:solidFill>
                            <a:srgbClr val="26301F"/>
                          </a:solidFill>
                          <a:latin typeface="Segoe UI"/>
                        </a:rPr>
                        <a:t>Only if they take an early position</a:t>
                      </a:r>
                    </a:p>
                  </a:txBody>
                  <a:tcPr marL="45720" marR="109728" marT="27432" marB="27432" anchor="ctr">
                    <a:lnB w="9525" cap="flat" cmpd="sng" algn="ctr">
                      <a:solidFill>
                        <a:srgbClr val="DCE3D6"/>
                      </a:solidFill>
                    </a:lnB>
                    <a:solidFill>
                      <a:srgbClr val="FFFFFF"/>
                    </a:solidFill>
                  </a:tcPr>
                </a:tc>
                <a:tc>
                  <a:txBody>
                    <a:bodyPr wrap="square"/>
                    <a:lstStyle/>
                    <a:p>
                      <a:r>
                        <a:rPr sz="700" b="0">
                          <a:solidFill>
                            <a:srgbClr val="26301F"/>
                          </a:solidFill>
                          <a:latin typeface="Segoe UI"/>
                        </a:rPr>
                        <a:t>Tapers away for later positions. It prices the fact that receiving a lump sum early is worth more than receiving it late</a:t>
                      </a:r>
                    </a:p>
                  </a:txBody>
                  <a:tcPr marL="45720" marR="109728" marT="27432" marB="27432" anchor="ctr">
                    <a:lnB w="9525" cap="flat" cmpd="sng" algn="ctr">
                      <a:solidFill>
                        <a:srgbClr val="DCE3D6"/>
                      </a:solidFill>
                    </a:lnB>
                    <a:solidFill>
                      <a:srgbClr val="FFFFFF"/>
                    </a:solidFill>
                  </a:tcPr>
                </a:tc>
              </a:tr>
              <a:tr h="416069">
                <a:tc>
                  <a:txBody>
                    <a:bodyPr wrap="square"/>
                    <a:lstStyle/>
                    <a:p>
                      <a:r>
                        <a:rPr sz="700" b="0">
                          <a:solidFill>
                            <a:srgbClr val="26301F"/>
                          </a:solidFill>
                          <a:latin typeface="Segoe UI"/>
                        </a:rPr>
                        <a:t>A position placement fee</a:t>
                      </a:r>
                    </a:p>
                  </a:txBody>
                  <a:tcPr marL="45720" marR="109728" marT="27432" marB="27432" anchor="ctr">
                    <a:lnB w="9525" cap="flat" cmpd="sng" algn="ctr">
                      <a:solidFill>
                        <a:srgbClr val="DCE3D6"/>
                      </a:solidFill>
                    </a:lnB>
                    <a:solidFill>
                      <a:srgbClr val="FFFFFF"/>
                    </a:solidFill>
                  </a:tcPr>
                </a:tc>
                <a:tc>
                  <a:txBody>
                    <a:bodyPr wrap="square"/>
                    <a:lstStyle/>
                    <a:p>
                      <a:r>
                        <a:rPr sz="700" b="0">
                          <a:solidFill>
                            <a:srgbClr val="26301F"/>
                          </a:solidFill>
                          <a:latin typeface="Segoe UI"/>
                        </a:rPr>
                        <a:t>Only if Halqa fills a vacant position for them</a:t>
                      </a:r>
                    </a:p>
                  </a:txBody>
                  <a:tcPr marL="45720" marR="109728" marT="27432" marB="27432" anchor="ctr">
                    <a:lnB w="9525" cap="flat" cmpd="sng" algn="ctr">
                      <a:solidFill>
                        <a:srgbClr val="DCE3D6"/>
                      </a:solidFill>
                    </a:lnB>
                    <a:solidFill>
                      <a:srgbClr val="FFFFFF"/>
                    </a:solidFill>
                  </a:tcPr>
                </a:tc>
                <a:tc>
                  <a:txBody>
                    <a:bodyPr wrap="square"/>
                    <a:lstStyle/>
                    <a:p>
                      <a:r>
                        <a:rPr sz="700" b="0">
                          <a:solidFill>
                            <a:srgbClr val="26301F"/>
                          </a:solidFill>
                          <a:latin typeface="Segoe UI"/>
                        </a:rPr>
                        <a:t>Optional, and discounted where income has been verified</a:t>
                      </a:r>
                    </a:p>
                  </a:txBody>
                  <a:tcPr marL="45720" marR="109728" marT="27432" marB="27432" anchor="ctr">
                    <a:lnB w="9525" cap="flat" cmpd="sng" algn="ctr">
                      <a:solidFill>
                        <a:srgbClr val="DCE3D6"/>
                      </a:solidFill>
                    </a:lnB>
                    <a:solidFill>
                      <a:srgbClr val="FFFFFF"/>
                    </a:solidFill>
                  </a:tcPr>
                </a:tc>
              </a:tr>
              <a:tr h="416069">
                <a:tc>
                  <a:txBody>
                    <a:bodyPr wrap="square"/>
                    <a:lstStyle/>
                    <a:p>
                      <a:r>
                        <a:rPr sz="700" b="0">
                          <a:solidFill>
                            <a:srgbClr val="26301F"/>
                          </a:solidFill>
                          <a:latin typeface="Segoe UI"/>
                        </a:rPr>
                        <a:t>A marketplace premium</a:t>
                      </a:r>
                    </a:p>
                  </a:txBody>
                  <a:tcPr marL="45720" marR="109728" marT="27432" marB="27432" anchor="ctr">
                    <a:lnB w="9525" cap="flat" cmpd="sng" algn="ctr">
                      <a:solidFill>
                        <a:srgbClr val="DCE3D6"/>
                      </a:solidFill>
                    </a:lnB>
                    <a:solidFill>
                      <a:srgbClr val="FFFFFF"/>
                    </a:solidFill>
                  </a:tcPr>
                </a:tc>
                <a:tc>
                  <a:txBody>
                    <a:bodyPr wrap="square"/>
                    <a:lstStyle/>
                    <a:p>
                      <a:r>
                        <a:rPr sz="700" b="0">
                          <a:solidFill>
                            <a:srgbClr val="26301F"/>
                          </a:solidFill>
                          <a:latin typeface="Segoe UI"/>
                        </a:rPr>
                        <a:t>Only if they buy somebody's position</a:t>
                      </a:r>
                    </a:p>
                  </a:txBody>
                  <a:tcPr marL="45720" marR="109728" marT="27432" marB="27432" anchor="ctr">
                    <a:lnB w="9525" cap="flat" cmpd="sng" algn="ctr">
                      <a:solidFill>
                        <a:srgbClr val="DCE3D6"/>
                      </a:solidFill>
                    </a:lnB>
                    <a:solidFill>
                      <a:srgbClr val="FFFFFF"/>
                    </a:solidFill>
                  </a:tcPr>
                </a:tc>
                <a:tc>
                  <a:txBody>
                    <a:bodyPr wrap="square"/>
                    <a:lstStyle/>
                    <a:p>
                      <a:r>
                        <a:rPr sz="700" b="0">
                          <a:solidFill>
                            <a:srgbClr val="26301F"/>
                          </a:solidFill>
                          <a:latin typeface="Segoe UI"/>
                        </a:rPr>
                        <a:t>Agreed between the two members, capped as a share of the payout, with a commission to Halqa on the accepted premium</a:t>
                      </a:r>
                    </a:p>
                  </a:txBody>
                  <a:tcPr marL="45720" marR="109728" marT="27432" marB="27432" anchor="ctr">
                    <a:lnB w="9525" cap="flat" cmpd="sng" algn="ctr">
                      <a:solidFill>
                        <a:srgbClr val="DCE3D6"/>
                      </a:solidFill>
                    </a:lnB>
                    <a:solidFill>
                      <a:srgbClr val="FFFFFF"/>
                    </a:solidFill>
                  </a:tcPr>
                </a:tc>
              </a:tr>
              <a:tr h="416069">
                <a:tc>
                  <a:txBody>
                    <a:bodyPr wrap="square"/>
                    <a:lstStyle/>
                    <a:p>
                      <a:r>
                        <a:rPr sz="700" b="0">
                          <a:solidFill>
                            <a:srgbClr val="26301F"/>
                          </a:solidFill>
                          <a:latin typeface="Segoe UI"/>
                        </a:rPr>
                        <a:t>Late fees</a:t>
                      </a:r>
                    </a:p>
                  </a:txBody>
                  <a:tcPr marL="45720" marR="109728" marT="27432" marB="27432" anchor="ctr">
                    <a:lnB w="9525" cap="flat" cmpd="sng" algn="ctr">
                      <a:solidFill>
                        <a:srgbClr val="DCE3D6"/>
                      </a:solidFill>
                    </a:lnB>
                    <a:solidFill>
                      <a:srgbClr val="FFFFFF"/>
                    </a:solidFill>
                  </a:tcPr>
                </a:tc>
                <a:tc>
                  <a:txBody>
                    <a:bodyPr wrap="square"/>
                    <a:lstStyle/>
                    <a:p>
                      <a:r>
                        <a:rPr sz="700" b="0">
                          <a:solidFill>
                            <a:srgbClr val="26301F"/>
                          </a:solidFill>
                          <a:latin typeface="Segoe UI"/>
                        </a:rPr>
                        <a:t>Only on failure, and only after the retry window has run out</a:t>
                      </a:r>
                    </a:p>
                  </a:txBody>
                  <a:tcPr marL="45720" marR="109728" marT="27432" marB="27432" anchor="ctr">
                    <a:lnB w="9525" cap="flat" cmpd="sng" algn="ctr">
                      <a:solidFill>
                        <a:srgbClr val="DCE3D6"/>
                      </a:solidFill>
                    </a:lnB>
                    <a:solidFill>
                      <a:srgbClr val="FFFFFF"/>
                    </a:solidFill>
                  </a:tcPr>
                </a:tc>
                <a:tc>
                  <a:txBody>
                    <a:bodyPr wrap="square"/>
                    <a:lstStyle/>
                    <a:p>
                      <a:r>
                        <a:rPr sz="700" b="0">
                          <a:solidFill>
                            <a:srgbClr val="26301F"/>
                          </a:solidFill>
                          <a:latin typeface="Segoe UI"/>
                        </a:rPr>
                        <a:t>Escalating in three steps, matched to score damage at every step</a:t>
                      </a:r>
                    </a:p>
                  </a:txBody>
                  <a:tcPr marL="45720" marR="109728" marT="27432" marB="27432" anchor="ctr">
                    <a:lnB w="9525" cap="flat" cmpd="sng" algn="ctr">
                      <a:solidFill>
                        <a:srgbClr val="DCE3D6"/>
                      </a:solidFill>
                    </a:lnB>
                    <a:solidFill>
                      <a:srgbClr val="FFFFFF"/>
                    </a:solidFill>
                  </a:tcPr>
                </a:tc>
              </a:tr>
              <a:tr h="416069">
                <a:tc>
                  <a:txBody>
                    <a:bodyPr wrap="square"/>
                    <a:lstStyle/>
                    <a:p>
                      <a:r>
                        <a:rPr sz="700" b="0">
                          <a:solidFill>
                            <a:srgbClr val="26301F"/>
                          </a:solidFill>
                          <a:latin typeface="Segoe UI"/>
                        </a:rPr>
                        <a:t>Nothing else</a:t>
                      </a:r>
                    </a:p>
                  </a:txBody>
                  <a:tcPr marL="45720" marR="109728" marT="27432" marB="27432" anchor="ctr">
                    <a:lnB w="9525" cap="flat" cmpd="sng" algn="ctr">
                      <a:solidFill>
                        <a:srgbClr val="DCE3D6"/>
                      </a:solidFill>
                    </a:lnB>
                    <a:solidFill>
                      <a:srgbClr val="FFFFFF"/>
                    </a:solidFill>
                  </a:tcPr>
                </a:tc>
                <a:tc>
                  <a:txBody>
                    <a:bodyPr wrap="square"/>
                    <a:lstStyle/>
                    <a:p>
                      <a:r>
                        <a:rPr sz="700" b="0">
                          <a:solidFill>
                            <a:srgbClr val="26301F"/>
                          </a:solidFill>
                          <a:latin typeface="Segoe UI"/>
                        </a:rPr>
                        <a:t>Ever</a:t>
                      </a:r>
                    </a:p>
                  </a:txBody>
                  <a:tcPr marL="45720" marR="109728" marT="27432" marB="27432" anchor="ctr">
                    <a:lnB w="9525" cap="flat" cmpd="sng" algn="ctr">
                      <a:solidFill>
                        <a:srgbClr val="DCE3D6"/>
                      </a:solidFill>
                    </a:lnB>
                    <a:solidFill>
                      <a:srgbClr val="FFFFFF"/>
                    </a:solidFill>
                  </a:tcPr>
                </a:tc>
                <a:tc>
                  <a:txBody>
                    <a:bodyPr wrap="square"/>
                    <a:lstStyle/>
                    <a:p>
                      <a:r>
                        <a:rPr sz="700" b="0">
                          <a:solidFill>
                            <a:srgbClr val="26301F"/>
                          </a:solidFill>
                          <a:latin typeface="Segoe UI"/>
                        </a:rPr>
                        <a:t>No joining fee, no monthly subscription, no charge for a receipt, a statement, a credit report or an exit</a:t>
                      </a:r>
                    </a:p>
                  </a:txBody>
                  <a:tcPr marL="45720" marR="109728" marT="27432" marB="27432" anchor="ctr">
                    <a:lnB w="9525" cap="flat" cmpd="sng" algn="ctr">
                      <a:solidFill>
                        <a:srgbClr val="DCE3D6"/>
                      </a:solidFill>
                    </a:lnB>
                    <a:solidFill>
                      <a:srgbClr val="FFFFFF"/>
                    </a:solidFill>
                  </a:tcPr>
                </a:tc>
              </a:tr>
            </a:tbl>
          </a:graphicData>
        </a:graphic>
      </p:graphicFrame>
    </p:spTree>
  </p:cSld>
  <p:clrMapOvr>
    <a:masterClrMapping/>
  </p:clrMapOvr>
</p:sld>
</file>

<file path=ppt/slides/slide7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777240" y="566928"/>
            <a:ext cx="10637215" cy="219456"/>
          </a:xfrm>
          <a:prstGeom prst="rect">
            <a:avLst/>
          </a:prstGeom>
          <a:noFill/>
        </p:spPr>
        <p:txBody>
          <a:bodyPr wrap="square" lIns="0" rIns="0" tIns="0" bIns="0">
            <a:spAutoFit/>
          </a:bodyPr>
          <a:lstStyle/>
          <a:p>
            <a:pPr algn="l">
              <a:lnSpc>
                <a:spcPct val="125000"/>
              </a:lnSpc>
            </a:pPr>
            <a:r>
              <a:rPr sz="950" b="1" i="0">
                <a:solidFill>
                  <a:srgbClr val="41801A"/>
                </a:solidFill>
                <a:latin typeface="Segoe UI"/>
              </a:rPr>
              <a:t>10  THE BUSINESS</a:t>
            </a:r>
          </a:p>
        </p:txBody>
      </p:sp>
      <p:sp>
        <p:nvSpPr>
          <p:cNvPr id="3" name="TextBox 2"/>
          <p:cNvSpPr txBox="1"/>
          <p:nvPr/>
        </p:nvSpPr>
        <p:spPr>
          <a:xfrm>
            <a:off x="777240" y="841248"/>
            <a:ext cx="10637215" cy="502920"/>
          </a:xfrm>
          <a:prstGeom prst="rect">
            <a:avLst/>
          </a:prstGeom>
          <a:noFill/>
        </p:spPr>
        <p:txBody>
          <a:bodyPr wrap="square" lIns="0" rIns="0" tIns="0" bIns="0">
            <a:spAutoFit/>
          </a:bodyPr>
          <a:lstStyle/>
          <a:p>
            <a:pPr algn="l">
              <a:lnSpc>
                <a:spcPct val="125000"/>
              </a:lnSpc>
            </a:pPr>
            <a:r>
              <a:rPr sz="2700" b="1" i="0">
                <a:solidFill>
                  <a:srgbClr val="0C1408"/>
                </a:solidFill>
                <a:latin typeface="Segoe UI"/>
              </a:rPr>
              <a:t>Where the revenue comes from</a:t>
            </a:r>
          </a:p>
        </p:txBody>
      </p:sp>
      <p:sp>
        <p:nvSpPr>
          <p:cNvPr id="4" name="Rectangle 3"/>
          <p:cNvSpPr/>
          <p:nvPr/>
        </p:nvSpPr>
        <p:spPr>
          <a:xfrm>
            <a:off x="777240" y="1417320"/>
            <a:ext cx="1371600" cy="22860"/>
          </a:xfrm>
          <a:prstGeom prst="rect">
            <a:avLst/>
          </a:prstGeom>
          <a:solidFill>
            <a:srgbClr val="6DC72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777240" y="6382512"/>
            <a:ext cx="3657600" cy="228600"/>
          </a:xfrm>
          <a:prstGeom prst="rect">
            <a:avLst/>
          </a:prstGeom>
          <a:noFill/>
        </p:spPr>
        <p:txBody>
          <a:bodyPr wrap="square" lIns="0" rIns="0" tIns="0" bIns="0">
            <a:spAutoFit/>
          </a:bodyPr>
          <a:lstStyle/>
          <a:p>
            <a:pPr algn="l">
              <a:lnSpc>
                <a:spcPct val="125000"/>
              </a:lnSpc>
            </a:pPr>
            <a:r>
              <a:rPr sz="900" b="0" i="0">
                <a:solidFill>
                  <a:srgbClr val="9AA694"/>
                </a:solidFill>
                <a:latin typeface="Segoe UI"/>
              </a:rPr>
              <a:t>Halqa  ·  Confidential</a:t>
            </a:r>
          </a:p>
        </p:txBody>
      </p:sp>
      <p:sp>
        <p:nvSpPr>
          <p:cNvPr id="6" name="TextBox 5"/>
          <p:cNvSpPr txBox="1"/>
          <p:nvPr/>
        </p:nvSpPr>
        <p:spPr>
          <a:xfrm>
            <a:off x="10728655" y="6382512"/>
            <a:ext cx="685800" cy="228600"/>
          </a:xfrm>
          <a:prstGeom prst="rect">
            <a:avLst/>
          </a:prstGeom>
          <a:noFill/>
        </p:spPr>
        <p:txBody>
          <a:bodyPr wrap="square" lIns="0" rIns="0" tIns="0" bIns="0">
            <a:spAutoFit/>
          </a:bodyPr>
          <a:lstStyle/>
          <a:p>
            <a:pPr algn="r">
              <a:lnSpc>
                <a:spcPct val="125000"/>
              </a:lnSpc>
            </a:pPr>
            <a:r>
              <a:rPr sz="900" b="0" i="0">
                <a:solidFill>
                  <a:srgbClr val="6F7B68"/>
                </a:solidFill>
                <a:latin typeface="Segoe UI"/>
              </a:rPr>
              <a:t>72</a:t>
            </a:r>
          </a:p>
        </p:txBody>
      </p:sp>
      <p:pic>
        <p:nvPicPr>
          <p:cNvPr id="7" name="Picture 6" descr="b_revenue.png"/>
          <p:cNvPicPr>
            <a:picLocks noChangeAspect="1"/>
          </p:cNvPicPr>
          <p:nvPr/>
        </p:nvPicPr>
        <p:blipFill>
          <a:blip r:embed="rId2"/>
          <a:stretch>
            <a:fillRect/>
          </a:stretch>
        </p:blipFill>
        <p:spPr>
          <a:xfrm>
            <a:off x="777240" y="2057400"/>
            <a:ext cx="5669280" cy="2052211"/>
          </a:xfrm>
          <a:prstGeom prst="rect">
            <a:avLst/>
          </a:prstGeom>
        </p:spPr>
      </p:pic>
      <p:sp>
        <p:nvSpPr>
          <p:cNvPr id="8" name="TextBox 7"/>
          <p:cNvSpPr txBox="1"/>
          <p:nvPr/>
        </p:nvSpPr>
        <p:spPr>
          <a:xfrm>
            <a:off x="777240" y="4480560"/>
            <a:ext cx="5669280" cy="320040"/>
          </a:xfrm>
          <a:prstGeom prst="rect">
            <a:avLst/>
          </a:prstGeom>
          <a:noFill/>
        </p:spPr>
        <p:txBody>
          <a:bodyPr wrap="square" lIns="0" rIns="0" tIns="0" bIns="0">
            <a:spAutoFit/>
          </a:bodyPr>
          <a:lstStyle/>
          <a:p>
            <a:pPr algn="l">
              <a:lnSpc>
                <a:spcPct val="125000"/>
              </a:lnSpc>
            </a:pPr>
            <a:r>
              <a:rPr sz="1000" b="0" i="0">
                <a:solidFill>
                  <a:srgbClr val="9AA694"/>
                </a:solidFill>
                <a:latin typeface="Segoe UI"/>
              </a:rPr>
              <a:t>Indicative share of revenue at scale, not a forecast.</a:t>
            </a:r>
          </a:p>
        </p:txBody>
      </p:sp>
      <p:sp>
        <p:nvSpPr>
          <p:cNvPr id="9" name="TextBox 8"/>
          <p:cNvSpPr txBox="1"/>
          <p:nvPr/>
        </p:nvSpPr>
        <p:spPr>
          <a:xfrm>
            <a:off x="6995160" y="1965960"/>
            <a:ext cx="4389120" cy="4114800"/>
          </a:xfrm>
          <a:prstGeom prst="rect">
            <a:avLst/>
          </a:prstGeom>
          <a:noFill/>
        </p:spPr>
        <p:txBody>
          <a:bodyPr wrap="square" lIns="0" rIns="0" tIns="0" bIns="0">
            <a:spAutoFit/>
          </a:bodyPr>
          <a:lstStyle/>
          <a:p>
            <a:pPr algn="l">
              <a:lnSpc>
                <a:spcPct val="150000"/>
              </a:lnSpc>
            </a:pPr>
            <a:r>
              <a:rPr sz="1200" b="0" i="0">
                <a:solidFill>
                  <a:srgbClr val="26301F"/>
                </a:solidFill>
                <a:latin typeface="Segoe UI"/>
              </a:rPr>
              <a:t>Three of these lines are paid by members and are small by design. Four are paid by counterparties and are the ones that grow.</a:t>
            </a:r>
          </a:p>
          <a:p>
            <a:pPr algn="l">
              <a:lnSpc>
                <a:spcPct val="150000"/>
              </a:lnSpc>
              <a:spcBef>
                <a:spcPts val="800"/>
              </a:spcBef>
            </a:pPr>
            <a:r>
              <a:rPr sz="1200" b="0" i="0">
                <a:solidFill>
                  <a:srgbClr val="26301F"/>
                </a:solidFill>
                <a:latin typeface="Segoe UI"/>
              </a:rPr>
              <a:t/>
            </a:r>
          </a:p>
          <a:p>
            <a:pPr algn="l">
              <a:lnSpc>
                <a:spcPct val="150000"/>
              </a:lnSpc>
              <a:spcBef>
                <a:spcPts val="800"/>
              </a:spcBef>
            </a:pPr>
            <a:r>
              <a:rPr sz="1200" b="0" i="0">
                <a:solidFill>
                  <a:srgbClr val="26301F"/>
                </a:solidFill>
                <a:latin typeface="Segoe UI"/>
              </a:rPr>
              <a:t>The retail commission grows with the number of members rather than the number of circles, so it compounds as the base grows. The savings distribution trail recurs every year against assets under management without further work. Asset origination is paid by dealers. Rewarded video sits on one surface only and is paid by advertisers.</a:t>
            </a:r>
          </a:p>
          <a:p>
            <a:pPr algn="l">
              <a:lnSpc>
                <a:spcPct val="150000"/>
              </a:lnSpc>
              <a:spcBef>
                <a:spcPts val="800"/>
              </a:spcBef>
            </a:pPr>
            <a:r>
              <a:rPr sz="1200" b="0" i="0">
                <a:solidFill>
                  <a:srgbClr val="26301F"/>
                </a:solidFill>
                <a:latin typeface="Segoe UI"/>
              </a:rPr>
              <a:t/>
            </a:r>
          </a:p>
          <a:p>
            <a:pPr algn="l">
              <a:lnSpc>
                <a:spcPct val="150000"/>
              </a:lnSpc>
              <a:spcBef>
                <a:spcPts val="800"/>
              </a:spcBef>
            </a:pPr>
            <a:r>
              <a:rPr sz="1200" b="0" i="0">
                <a:solidFill>
                  <a:srgbClr val="26301F"/>
                </a:solidFill>
                <a:latin typeface="Segoe UI"/>
              </a:rPr>
              <a:t>Against roughly four trillion rupees of annual committee flow, even a very small share of the market carries a substantial business, and the member facing take across all products is under two per cent of the money moved.</a:t>
            </a:r>
          </a:p>
          <a:p>
            <a:pPr algn="l">
              <a:lnSpc>
                <a:spcPct val="150000"/>
              </a:lnSpc>
              <a:spcBef>
                <a:spcPts val="800"/>
              </a:spcBef>
            </a:pPr>
            <a:r>
              <a:rPr sz="1200" b="0" i="0">
                <a:solidFill>
                  <a:srgbClr val="26301F"/>
                </a:solidFill>
                <a:latin typeface="Segoe UI"/>
              </a:rPr>
              <a:t/>
            </a:r>
          </a:p>
          <a:p>
            <a:pPr algn="l">
              <a:lnSpc>
                <a:spcPct val="150000"/>
              </a:lnSpc>
              <a:spcBef>
                <a:spcPts val="800"/>
              </a:spcBef>
            </a:pPr>
            <a:r>
              <a:rPr sz="1200" b="0" i="0">
                <a:solidFill>
                  <a:srgbClr val="26301F"/>
                </a:solidFill>
                <a:latin typeface="Segoe UI"/>
              </a:rPr>
              <a:t>The company does not need to be large in this market to be a serious business. It needs to be the one that has the record.</a:t>
            </a:r>
          </a:p>
        </p:txBody>
      </p:sp>
      <p:sp>
        <p:nvSpPr>
          <p:cNvPr id="10" name="TextBox 9"/>
          <p:cNvSpPr txBox="1"/>
          <p:nvPr/>
        </p:nvSpPr>
        <p:spPr>
          <a:xfrm>
            <a:off x="777240" y="4937760"/>
            <a:ext cx="5669280" cy="1188720"/>
          </a:xfrm>
          <a:prstGeom prst="rect">
            <a:avLst/>
          </a:prstGeom>
          <a:noFill/>
        </p:spPr>
        <p:txBody>
          <a:bodyPr wrap="square" lIns="0" rIns="0" tIns="0" bIns="0">
            <a:spAutoFit/>
          </a:bodyPr>
          <a:lstStyle/>
          <a:p>
            <a:pPr algn="l">
              <a:lnSpc>
                <a:spcPct val="150000"/>
              </a:lnSpc>
            </a:pPr>
            <a:r>
              <a:rPr sz="1250" b="0" i="0">
                <a:solidFill>
                  <a:srgbClr val="0C1408"/>
                </a:solidFill>
                <a:latin typeface="Segoe UI"/>
              </a:rPr>
              <a:t>The one thing not shown here is what the data asset itself is worth once it exists at scale. An American operator abandoned pooling entirely, rebuilt around reporting payment behaviour, and reached a billion dollar valuation on that basis.</a:t>
            </a:r>
          </a:p>
        </p:txBody>
      </p:sp>
    </p:spTree>
  </p:cSld>
  <p:clrMapOvr>
    <a:masterClrMapping/>
  </p:clrMapOvr>
</p:sld>
</file>

<file path=ppt/slides/slide7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777240" y="566928"/>
            <a:ext cx="10637215" cy="219456"/>
          </a:xfrm>
          <a:prstGeom prst="rect">
            <a:avLst/>
          </a:prstGeom>
          <a:noFill/>
        </p:spPr>
        <p:txBody>
          <a:bodyPr wrap="square" lIns="0" rIns="0" tIns="0" bIns="0">
            <a:spAutoFit/>
          </a:bodyPr>
          <a:lstStyle/>
          <a:p>
            <a:pPr algn="l">
              <a:lnSpc>
                <a:spcPct val="125000"/>
              </a:lnSpc>
            </a:pPr>
            <a:r>
              <a:rPr sz="950" b="1" i="0">
                <a:solidFill>
                  <a:srgbClr val="41801A"/>
                </a:solidFill>
                <a:latin typeface="Segoe UI"/>
              </a:rPr>
              <a:t>10  THE BUSINESS</a:t>
            </a:r>
          </a:p>
        </p:txBody>
      </p:sp>
      <p:sp>
        <p:nvSpPr>
          <p:cNvPr id="3" name="TextBox 2"/>
          <p:cNvSpPr txBox="1"/>
          <p:nvPr/>
        </p:nvSpPr>
        <p:spPr>
          <a:xfrm>
            <a:off x="777240" y="841248"/>
            <a:ext cx="10637215" cy="502920"/>
          </a:xfrm>
          <a:prstGeom prst="rect">
            <a:avLst/>
          </a:prstGeom>
          <a:noFill/>
        </p:spPr>
        <p:txBody>
          <a:bodyPr wrap="square" lIns="0" rIns="0" tIns="0" bIns="0">
            <a:spAutoFit/>
          </a:bodyPr>
          <a:lstStyle/>
          <a:p>
            <a:pPr algn="l">
              <a:lnSpc>
                <a:spcPct val="125000"/>
              </a:lnSpc>
            </a:pPr>
            <a:r>
              <a:rPr sz="2700" b="1" i="0">
                <a:solidFill>
                  <a:srgbClr val="0C1408"/>
                </a:solidFill>
                <a:latin typeface="Segoe UI"/>
              </a:rPr>
              <a:t>The order things must happen in</a:t>
            </a:r>
          </a:p>
        </p:txBody>
      </p:sp>
      <p:sp>
        <p:nvSpPr>
          <p:cNvPr id="4" name="Rectangle 3"/>
          <p:cNvSpPr/>
          <p:nvPr/>
        </p:nvSpPr>
        <p:spPr>
          <a:xfrm>
            <a:off x="777240" y="1417320"/>
            <a:ext cx="1371600" cy="22860"/>
          </a:xfrm>
          <a:prstGeom prst="rect">
            <a:avLst/>
          </a:prstGeom>
          <a:solidFill>
            <a:srgbClr val="6DC72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777240" y="6382512"/>
            <a:ext cx="3657600" cy="228600"/>
          </a:xfrm>
          <a:prstGeom prst="rect">
            <a:avLst/>
          </a:prstGeom>
          <a:noFill/>
        </p:spPr>
        <p:txBody>
          <a:bodyPr wrap="square" lIns="0" rIns="0" tIns="0" bIns="0">
            <a:spAutoFit/>
          </a:bodyPr>
          <a:lstStyle/>
          <a:p>
            <a:pPr algn="l">
              <a:lnSpc>
                <a:spcPct val="125000"/>
              </a:lnSpc>
            </a:pPr>
            <a:r>
              <a:rPr sz="900" b="0" i="0">
                <a:solidFill>
                  <a:srgbClr val="9AA694"/>
                </a:solidFill>
                <a:latin typeface="Segoe UI"/>
              </a:rPr>
              <a:t>Halqa  ·  Confidential</a:t>
            </a:r>
          </a:p>
        </p:txBody>
      </p:sp>
      <p:sp>
        <p:nvSpPr>
          <p:cNvPr id="6" name="TextBox 5"/>
          <p:cNvSpPr txBox="1"/>
          <p:nvPr/>
        </p:nvSpPr>
        <p:spPr>
          <a:xfrm>
            <a:off x="10728655" y="6382512"/>
            <a:ext cx="685800" cy="228600"/>
          </a:xfrm>
          <a:prstGeom prst="rect">
            <a:avLst/>
          </a:prstGeom>
          <a:noFill/>
        </p:spPr>
        <p:txBody>
          <a:bodyPr wrap="square" lIns="0" rIns="0" tIns="0" bIns="0">
            <a:spAutoFit/>
          </a:bodyPr>
          <a:lstStyle/>
          <a:p>
            <a:pPr algn="r">
              <a:lnSpc>
                <a:spcPct val="125000"/>
              </a:lnSpc>
            </a:pPr>
            <a:r>
              <a:rPr sz="900" b="0" i="0">
                <a:solidFill>
                  <a:srgbClr val="6F7B68"/>
                </a:solidFill>
                <a:latin typeface="Segoe UI"/>
              </a:rPr>
              <a:t>73</a:t>
            </a:r>
          </a:p>
        </p:txBody>
      </p:sp>
      <p:graphicFrame>
        <p:nvGraphicFramePr>
          <p:cNvPr id="7" name="Table 6"/>
          <p:cNvGraphicFramePr>
            <a:graphicFrameLocks noGrp="1"/>
          </p:cNvGraphicFramePr>
          <p:nvPr/>
        </p:nvGraphicFramePr>
        <p:xfrm>
          <a:off x="777240" y="1965960"/>
          <a:ext cx="10607040" cy="3621024"/>
        </p:xfrm>
        <a:graphic>
          <a:graphicData uri="http://schemas.openxmlformats.org/drawingml/2006/table">
            <a:tbl>
              <a:tblPr>
                <a:tableStyleId>{5C22544A-7EE6-4342-B048-85BDC9FD1C3A}</a:tableStyleId>
              </a:tblPr>
              <a:tblGrid>
                <a:gridCol w="365760"/>
                <a:gridCol w="1737360"/>
                <a:gridCol w="5394960"/>
                <a:gridCol w="3108960"/>
              </a:tblGrid>
              <a:tr h="603504">
                <a:tc>
                  <a:txBody>
                    <a:bodyPr wrap="square"/>
                    <a:lstStyle/>
                    <a:p>
                      <a:r>
                        <a:rPr sz="900" b="1">
                          <a:solidFill>
                            <a:srgbClr val="41801A"/>
                          </a:solidFill>
                          <a:latin typeface="Segoe UI"/>
                        </a:rPr>
                        <a:t/>
                      </a:r>
                    </a:p>
                  </a:txBody>
                  <a:tcPr marL="45720" marR="109728" marT="27432" marB="27432" anchor="ctr">
                    <a:lnB w="9525" cap="flat" cmpd="sng" algn="ctr">
                      <a:solidFill>
                        <a:srgbClr val="41801A"/>
                      </a:solidFill>
                    </a:lnB>
                    <a:solidFill>
                      <a:srgbClr val="FFFFFF"/>
                    </a:solidFill>
                  </a:tcPr>
                </a:tc>
                <a:tc>
                  <a:txBody>
                    <a:bodyPr wrap="square"/>
                    <a:lstStyle/>
                    <a:p>
                      <a:r>
                        <a:rPr sz="900" b="1">
                          <a:solidFill>
                            <a:srgbClr val="41801A"/>
                          </a:solidFill>
                          <a:latin typeface="Segoe UI"/>
                        </a:rPr>
                        <a:t>RUNG</a:t>
                      </a:r>
                    </a:p>
                  </a:txBody>
                  <a:tcPr marL="45720" marR="109728" marT="27432" marB="27432" anchor="ctr">
                    <a:lnB w="9525" cap="flat" cmpd="sng" algn="ctr">
                      <a:solidFill>
                        <a:srgbClr val="41801A"/>
                      </a:solidFill>
                    </a:lnB>
                    <a:solidFill>
                      <a:srgbClr val="FFFFFF"/>
                    </a:solidFill>
                  </a:tcPr>
                </a:tc>
                <a:tc>
                  <a:txBody>
                    <a:bodyPr wrap="square"/>
                    <a:lstStyle/>
                    <a:p>
                      <a:r>
                        <a:rPr sz="900" b="1">
                          <a:solidFill>
                            <a:srgbClr val="41801A"/>
                          </a:solidFill>
                          <a:latin typeface="Segoe UI"/>
                        </a:rPr>
                        <a:t>WHAT IT UNLOCKS</a:t>
                      </a:r>
                    </a:p>
                  </a:txBody>
                  <a:tcPr marL="45720" marR="109728" marT="27432" marB="27432" anchor="ctr">
                    <a:lnB w="9525" cap="flat" cmpd="sng" algn="ctr">
                      <a:solidFill>
                        <a:srgbClr val="41801A"/>
                      </a:solidFill>
                    </a:lnB>
                    <a:solidFill>
                      <a:srgbClr val="FFFFFF"/>
                    </a:solidFill>
                  </a:tcPr>
                </a:tc>
                <a:tc>
                  <a:txBody>
                    <a:bodyPr wrap="square"/>
                    <a:lstStyle/>
                    <a:p>
                      <a:r>
                        <a:rPr sz="900" b="1">
                          <a:solidFill>
                            <a:srgbClr val="41801A"/>
                          </a:solidFill>
                          <a:latin typeface="Segoe UI"/>
                        </a:rPr>
                        <a:t>WHAT IT NEEDS</a:t>
                      </a:r>
                    </a:p>
                  </a:txBody>
                  <a:tcPr marL="45720" marR="109728" marT="27432" marB="27432" anchor="ctr">
                    <a:lnB w="9525" cap="flat" cmpd="sng" algn="ctr">
                      <a:solidFill>
                        <a:srgbClr val="41801A"/>
                      </a:solidFill>
                    </a:lnB>
                    <a:solidFill>
                      <a:srgbClr val="FFFFFF"/>
                    </a:solidFill>
                  </a:tcPr>
                </a:tc>
              </a:tr>
              <a:tr h="603504">
                <a:tc>
                  <a:txBody>
                    <a:bodyPr wrap="square"/>
                    <a:lstStyle/>
                    <a:p>
                      <a:r>
                        <a:rPr sz="950" b="0">
                          <a:solidFill>
                            <a:srgbClr val="26301F"/>
                          </a:solidFill>
                          <a:latin typeface="Segoe UI"/>
                        </a:rPr>
                        <a:t>1</a:t>
                      </a:r>
                    </a:p>
                  </a:txBody>
                  <a:tcPr marL="45720" marR="109728" marT="27432" marB="27432" anchor="ctr">
                    <a:lnB w="9525" cap="flat" cmpd="sng" algn="ctr">
                      <a:solidFill>
                        <a:srgbClr val="DCE3D6"/>
                      </a:solidFill>
                    </a:lnB>
                    <a:solidFill>
                      <a:srgbClr val="FFFFFF"/>
                    </a:solidFill>
                  </a:tcPr>
                </a:tc>
                <a:tc>
                  <a:txBody>
                    <a:bodyPr wrap="square"/>
                    <a:lstStyle/>
                    <a:p>
                      <a:r>
                        <a:rPr sz="950" b="0">
                          <a:solidFill>
                            <a:srgbClr val="26301F"/>
                          </a:solidFill>
                          <a:latin typeface="Segoe UI"/>
                        </a:rPr>
                        <a:t>Collection</a:t>
                      </a:r>
                    </a:p>
                  </a:txBody>
                  <a:tcPr marL="45720" marR="109728" marT="27432" marB="27432" anchor="ctr">
                    <a:lnB w="9525" cap="flat" cmpd="sng" algn="ctr">
                      <a:solidFill>
                        <a:srgbClr val="DCE3D6"/>
                      </a:solidFill>
                    </a:lnB>
                    <a:solidFill>
                      <a:srgbClr val="FFFFFF"/>
                    </a:solidFill>
                  </a:tcPr>
                </a:tc>
                <a:tc>
                  <a:txBody>
                    <a:bodyPr wrap="square"/>
                    <a:lstStyle/>
                    <a:p>
                      <a:r>
                        <a:rPr sz="950" b="0">
                          <a:solidFill>
                            <a:srgbClr val="26301F"/>
                          </a:solidFill>
                          <a:latin typeface="Segoe UI"/>
                        </a:rPr>
                        <a:t>Settlement rather than assertion. Without it there is no credible record, no data asset and no business at all</a:t>
                      </a:r>
                    </a:p>
                  </a:txBody>
                  <a:tcPr marL="45720" marR="109728" marT="27432" marB="27432" anchor="ctr">
                    <a:lnB w="9525" cap="flat" cmpd="sng" algn="ctr">
                      <a:solidFill>
                        <a:srgbClr val="DCE3D6"/>
                      </a:solidFill>
                    </a:lnB>
                    <a:solidFill>
                      <a:srgbClr val="FFFFFF"/>
                    </a:solidFill>
                  </a:tcPr>
                </a:tc>
                <a:tc>
                  <a:txBody>
                    <a:bodyPr wrap="square"/>
                    <a:lstStyle/>
                    <a:p>
                      <a:r>
                        <a:rPr sz="950" b="0">
                          <a:solidFill>
                            <a:srgbClr val="26301F"/>
                          </a:solidFill>
                          <a:latin typeface="Segoe UI"/>
                        </a:rPr>
                        <a:t>Company registration and a merchant services agreement</a:t>
                      </a:r>
                    </a:p>
                  </a:txBody>
                  <a:tcPr marL="45720" marR="109728" marT="27432" marB="27432" anchor="ctr">
                    <a:lnB w="9525" cap="flat" cmpd="sng" algn="ctr">
                      <a:solidFill>
                        <a:srgbClr val="DCE3D6"/>
                      </a:solidFill>
                    </a:lnB>
                    <a:solidFill>
                      <a:srgbClr val="FFFFFF"/>
                    </a:solidFill>
                  </a:tcPr>
                </a:tc>
              </a:tr>
              <a:tr h="603504">
                <a:tc>
                  <a:txBody>
                    <a:bodyPr wrap="square"/>
                    <a:lstStyle/>
                    <a:p>
                      <a:r>
                        <a:rPr sz="950" b="0">
                          <a:solidFill>
                            <a:srgbClr val="26301F"/>
                          </a:solidFill>
                          <a:latin typeface="Segoe UI"/>
                        </a:rPr>
                        <a:t>2</a:t>
                      </a:r>
                    </a:p>
                  </a:txBody>
                  <a:tcPr marL="45720" marR="109728" marT="27432" marB="27432" anchor="ctr">
                    <a:lnB w="9525" cap="flat" cmpd="sng" algn="ctr">
                      <a:solidFill>
                        <a:srgbClr val="DCE3D6"/>
                      </a:solidFill>
                    </a:lnB>
                    <a:solidFill>
                      <a:srgbClr val="FFFFFF"/>
                    </a:solidFill>
                  </a:tcPr>
                </a:tc>
                <a:tc>
                  <a:txBody>
                    <a:bodyPr wrap="square"/>
                    <a:lstStyle/>
                    <a:p>
                      <a:r>
                        <a:rPr sz="950" b="0">
                          <a:solidFill>
                            <a:srgbClr val="26301F"/>
                          </a:solidFill>
                          <a:latin typeface="Segoe UI"/>
                        </a:rPr>
                        <a:t>The record</a:t>
                      </a:r>
                    </a:p>
                  </a:txBody>
                  <a:tcPr marL="45720" marR="109728" marT="27432" marB="27432" anchor="ctr">
                    <a:lnB w="9525" cap="flat" cmpd="sng" algn="ctr">
                      <a:solidFill>
                        <a:srgbClr val="DCE3D6"/>
                      </a:solidFill>
                    </a:lnB>
                    <a:solidFill>
                      <a:srgbClr val="FFFFFF"/>
                    </a:solidFill>
                  </a:tcPr>
                </a:tc>
                <a:tc>
                  <a:txBody>
                    <a:bodyPr wrap="square"/>
                    <a:lstStyle/>
                    <a:p>
                      <a:r>
                        <a:rPr sz="950" b="0">
                          <a:solidFill>
                            <a:srgbClr val="26301F"/>
                          </a:solidFill>
                          <a:latin typeface="Segoe UI"/>
                        </a:rPr>
                        <a:t>Verified repayment at volume, which is the raw material for everything above it</a:t>
                      </a:r>
                    </a:p>
                  </a:txBody>
                  <a:tcPr marL="45720" marR="109728" marT="27432" marB="27432" anchor="ctr">
                    <a:lnB w="9525" cap="flat" cmpd="sng" algn="ctr">
                      <a:solidFill>
                        <a:srgbClr val="DCE3D6"/>
                      </a:solidFill>
                    </a:lnB>
                    <a:solidFill>
                      <a:srgbClr val="FFFFFF"/>
                    </a:solidFill>
                  </a:tcPr>
                </a:tc>
                <a:tc>
                  <a:txBody>
                    <a:bodyPr wrap="square"/>
                    <a:lstStyle/>
                    <a:p>
                      <a:r>
                        <a:rPr sz="950" b="0">
                          <a:solidFill>
                            <a:srgbClr val="26301F"/>
                          </a:solidFill>
                          <a:latin typeface="Segoe UI"/>
                        </a:rPr>
                        <a:t>Circles completed, not registrations. This is the measure that matters</a:t>
                      </a:r>
                    </a:p>
                  </a:txBody>
                  <a:tcPr marL="45720" marR="109728" marT="27432" marB="27432" anchor="ctr">
                    <a:lnB w="9525" cap="flat" cmpd="sng" algn="ctr">
                      <a:solidFill>
                        <a:srgbClr val="DCE3D6"/>
                      </a:solidFill>
                    </a:lnB>
                    <a:solidFill>
                      <a:srgbClr val="FFFFFF"/>
                    </a:solidFill>
                  </a:tcPr>
                </a:tc>
              </a:tr>
              <a:tr h="603504">
                <a:tc>
                  <a:txBody>
                    <a:bodyPr wrap="square"/>
                    <a:lstStyle/>
                    <a:p>
                      <a:r>
                        <a:rPr sz="950" b="0">
                          <a:solidFill>
                            <a:srgbClr val="26301F"/>
                          </a:solidFill>
                          <a:latin typeface="Segoe UI"/>
                        </a:rPr>
                        <a:t>3</a:t>
                      </a:r>
                    </a:p>
                  </a:txBody>
                  <a:tcPr marL="45720" marR="109728" marT="27432" marB="27432" anchor="ctr">
                    <a:lnB w="9525" cap="flat" cmpd="sng" algn="ctr">
                      <a:solidFill>
                        <a:srgbClr val="DCE3D6"/>
                      </a:solidFill>
                    </a:lnB>
                    <a:solidFill>
                      <a:srgbClr val="FFFFFF"/>
                    </a:solidFill>
                  </a:tcPr>
                </a:tc>
                <a:tc>
                  <a:txBody>
                    <a:bodyPr wrap="square"/>
                    <a:lstStyle/>
                    <a:p>
                      <a:r>
                        <a:rPr sz="950" b="0">
                          <a:solidFill>
                            <a:srgbClr val="26301F"/>
                          </a:solidFill>
                          <a:latin typeface="Segoe UI"/>
                        </a:rPr>
                        <a:t>The bureau link</a:t>
                      </a:r>
                    </a:p>
                  </a:txBody>
                  <a:tcPr marL="45720" marR="109728" marT="27432" marB="27432" anchor="ctr">
                    <a:lnB w="9525" cap="flat" cmpd="sng" algn="ctr">
                      <a:solidFill>
                        <a:srgbClr val="DCE3D6"/>
                      </a:solidFill>
                    </a:lnB>
                    <a:solidFill>
                      <a:srgbClr val="FFFFFF"/>
                    </a:solidFill>
                  </a:tcPr>
                </a:tc>
                <a:tc>
                  <a:txBody>
                    <a:bodyPr wrap="square"/>
                    <a:lstStyle/>
                    <a:p>
                      <a:r>
                        <a:rPr sz="950" b="0">
                          <a:solidFill>
                            <a:srgbClr val="26301F"/>
                          </a:solidFill>
                          <a:latin typeface="Segoe UI"/>
                        </a:rPr>
                        <a:t>The record becomes a formal credit signal, and Halqa becomes the supplier of a class of data the system does not currently hold</a:t>
                      </a:r>
                    </a:p>
                  </a:txBody>
                  <a:tcPr marL="45720" marR="109728" marT="27432" marB="27432" anchor="ctr">
                    <a:lnB w="9525" cap="flat" cmpd="sng" algn="ctr">
                      <a:solidFill>
                        <a:srgbClr val="DCE3D6"/>
                      </a:solidFill>
                    </a:lnB>
                    <a:solidFill>
                      <a:srgbClr val="FFFFFF"/>
                    </a:solidFill>
                  </a:tcPr>
                </a:tc>
                <a:tc>
                  <a:txBody>
                    <a:bodyPr wrap="square"/>
                    <a:lstStyle/>
                    <a:p>
                      <a:r>
                        <a:rPr sz="950" b="0">
                          <a:solidFill>
                            <a:srgbClr val="26301F"/>
                          </a:solidFill>
                          <a:latin typeface="Segoe UI"/>
                        </a:rPr>
                        <a:t>A contributor agreement with a licensed bureau</a:t>
                      </a:r>
                    </a:p>
                  </a:txBody>
                  <a:tcPr marL="45720" marR="109728" marT="27432" marB="27432" anchor="ctr">
                    <a:lnB w="9525" cap="flat" cmpd="sng" algn="ctr">
                      <a:solidFill>
                        <a:srgbClr val="DCE3D6"/>
                      </a:solidFill>
                    </a:lnB>
                    <a:solidFill>
                      <a:srgbClr val="FFFFFF"/>
                    </a:solidFill>
                  </a:tcPr>
                </a:tc>
              </a:tr>
              <a:tr h="603504">
                <a:tc>
                  <a:txBody>
                    <a:bodyPr wrap="square"/>
                    <a:lstStyle/>
                    <a:p>
                      <a:r>
                        <a:rPr sz="950" b="0">
                          <a:solidFill>
                            <a:srgbClr val="26301F"/>
                          </a:solidFill>
                          <a:latin typeface="Segoe UI"/>
                        </a:rPr>
                        <a:t>4</a:t>
                      </a:r>
                    </a:p>
                  </a:txBody>
                  <a:tcPr marL="45720" marR="109728" marT="27432" marB="27432" anchor="ctr">
                    <a:lnB w="9525" cap="flat" cmpd="sng" algn="ctr">
                      <a:solidFill>
                        <a:srgbClr val="DCE3D6"/>
                      </a:solidFill>
                    </a:lnB>
                    <a:solidFill>
                      <a:srgbClr val="FFFFFF"/>
                    </a:solidFill>
                  </a:tcPr>
                </a:tc>
                <a:tc>
                  <a:txBody>
                    <a:bodyPr wrap="square"/>
                    <a:lstStyle/>
                    <a:p>
                      <a:r>
                        <a:rPr sz="950" b="0">
                          <a:solidFill>
                            <a:srgbClr val="26301F"/>
                          </a:solidFill>
                          <a:latin typeface="Segoe UI"/>
                        </a:rPr>
                        <a:t>Commerce</a:t>
                      </a:r>
                    </a:p>
                  </a:txBody>
                  <a:tcPr marL="45720" marR="109728" marT="27432" marB="27432" anchor="ctr">
                    <a:lnB w="9525" cap="flat" cmpd="sng" algn="ctr">
                      <a:solidFill>
                        <a:srgbClr val="DCE3D6"/>
                      </a:solidFill>
                    </a:lnB>
                    <a:solidFill>
                      <a:srgbClr val="FFFFFF"/>
                    </a:solidFill>
                  </a:tcPr>
                </a:tc>
                <a:tc>
                  <a:txBody>
                    <a:bodyPr wrap="square"/>
                    <a:lstStyle/>
                    <a:p>
                      <a:r>
                        <a:rPr sz="950" b="0">
                          <a:solidFill>
                            <a:srgbClr val="26301F"/>
                          </a:solidFill>
                          <a:latin typeface="Segoe UI"/>
                        </a:rPr>
                        <a:t>Retailers and institutions pay for access to outcomes. Rewards, direct payment and asset circles all sit here</a:t>
                      </a:r>
                    </a:p>
                  </a:txBody>
                  <a:tcPr marL="45720" marR="109728" marT="27432" marB="27432" anchor="ctr">
                    <a:lnB w="9525" cap="flat" cmpd="sng" algn="ctr">
                      <a:solidFill>
                        <a:srgbClr val="DCE3D6"/>
                      </a:solidFill>
                    </a:lnB>
                    <a:solidFill>
                      <a:srgbClr val="FFFFFF"/>
                    </a:solidFill>
                  </a:tcPr>
                </a:tc>
                <a:tc>
                  <a:txBody>
                    <a:bodyPr wrap="square"/>
                    <a:lstStyle/>
                    <a:p>
                      <a:r>
                        <a:rPr sz="950" b="0">
                          <a:solidFill>
                            <a:srgbClr val="26301F"/>
                          </a:solidFill>
                          <a:latin typeface="Segoe UI"/>
                        </a:rPr>
                        <a:t>Affiliate registration, then merchant agreements</a:t>
                      </a:r>
                    </a:p>
                  </a:txBody>
                  <a:tcPr marL="45720" marR="109728" marT="27432" marB="27432" anchor="ctr">
                    <a:lnB w="9525" cap="flat" cmpd="sng" algn="ctr">
                      <a:solidFill>
                        <a:srgbClr val="DCE3D6"/>
                      </a:solidFill>
                    </a:lnB>
                    <a:solidFill>
                      <a:srgbClr val="FFFFFF"/>
                    </a:solidFill>
                  </a:tcPr>
                </a:tc>
              </a:tr>
              <a:tr h="603504">
                <a:tc>
                  <a:txBody>
                    <a:bodyPr wrap="square"/>
                    <a:lstStyle/>
                    <a:p>
                      <a:r>
                        <a:rPr sz="950" b="0">
                          <a:solidFill>
                            <a:srgbClr val="26301F"/>
                          </a:solidFill>
                          <a:latin typeface="Segoe UI"/>
                        </a:rPr>
                        <a:t>5</a:t>
                      </a:r>
                    </a:p>
                  </a:txBody>
                  <a:tcPr marL="45720" marR="109728" marT="27432" marB="27432" anchor="ctr">
                    <a:lnB w="9525" cap="flat" cmpd="sng" algn="ctr">
                      <a:solidFill>
                        <a:srgbClr val="DCE3D6"/>
                      </a:solidFill>
                    </a:lnB>
                    <a:solidFill>
                      <a:srgbClr val="FFFFFF"/>
                    </a:solidFill>
                  </a:tcPr>
                </a:tc>
                <a:tc>
                  <a:txBody>
                    <a:bodyPr wrap="square"/>
                    <a:lstStyle/>
                    <a:p>
                      <a:r>
                        <a:rPr sz="950" b="0">
                          <a:solidFill>
                            <a:srgbClr val="26301F"/>
                          </a:solidFill>
                          <a:latin typeface="Segoe UI"/>
                        </a:rPr>
                        <a:t>The savings layer</a:t>
                      </a:r>
                    </a:p>
                  </a:txBody>
                  <a:tcPr marL="45720" marR="109728" marT="27432" marB="27432" anchor="ctr">
                    <a:lnB w="9525" cap="flat" cmpd="sng" algn="ctr">
                      <a:solidFill>
                        <a:srgbClr val="DCE3D6"/>
                      </a:solidFill>
                    </a:lnB>
                    <a:solidFill>
                      <a:srgbClr val="FFFFFF"/>
                    </a:solidFill>
                  </a:tcPr>
                </a:tc>
                <a:tc>
                  <a:txBody>
                    <a:bodyPr wrap="square"/>
                    <a:lstStyle/>
                    <a:p>
                      <a:r>
                        <a:rPr sz="950" b="0">
                          <a:solidFill>
                            <a:srgbClr val="26301F"/>
                          </a:solidFill>
                          <a:latin typeface="Segoe UI"/>
                        </a:rPr>
                        <a:t>Yield for the member, a recurring trail for the platform, and a pledged buffer that cures default at source</a:t>
                      </a:r>
                    </a:p>
                  </a:txBody>
                  <a:tcPr marL="45720" marR="109728" marT="27432" marB="27432" anchor="ctr">
                    <a:lnB w="9525" cap="flat" cmpd="sng" algn="ctr">
                      <a:solidFill>
                        <a:srgbClr val="DCE3D6"/>
                      </a:solidFill>
                    </a:lnB>
                    <a:solidFill>
                      <a:srgbClr val="FFFFFF"/>
                    </a:solidFill>
                  </a:tcPr>
                </a:tc>
                <a:tc>
                  <a:txBody>
                    <a:bodyPr wrap="square"/>
                    <a:lstStyle/>
                    <a:p>
                      <a:r>
                        <a:rPr sz="950" b="0">
                          <a:solidFill>
                            <a:srgbClr val="26301F"/>
                          </a:solidFill>
                          <a:latin typeface="Segoe UI"/>
                        </a:rPr>
                        <a:t>Trustee, asset manager, and distributor registration</a:t>
                      </a:r>
                    </a:p>
                  </a:txBody>
                  <a:tcPr marL="45720" marR="109728" marT="27432" marB="27432" anchor="ctr">
                    <a:lnB w="9525" cap="flat" cmpd="sng" algn="ctr">
                      <a:solidFill>
                        <a:srgbClr val="DCE3D6"/>
                      </a:solidFill>
                    </a:lnB>
                    <a:solidFill>
                      <a:srgbClr val="FFFFFF"/>
                    </a:solidFill>
                  </a:tcPr>
                </a:tc>
              </a:tr>
            </a:tbl>
          </a:graphicData>
        </a:graphic>
      </p:graphicFrame>
      <p:sp>
        <p:nvSpPr>
          <p:cNvPr id="8" name="TextBox 7"/>
          <p:cNvSpPr txBox="1"/>
          <p:nvPr/>
        </p:nvSpPr>
        <p:spPr>
          <a:xfrm>
            <a:off x="777240" y="5769864"/>
            <a:ext cx="10637215" cy="731520"/>
          </a:xfrm>
          <a:prstGeom prst="rect">
            <a:avLst/>
          </a:prstGeom>
          <a:noFill/>
        </p:spPr>
        <p:txBody>
          <a:bodyPr wrap="square" lIns="0" rIns="0" tIns="0" bIns="0">
            <a:spAutoFit/>
          </a:bodyPr>
          <a:lstStyle/>
          <a:p>
            <a:pPr algn="l">
              <a:lnSpc>
                <a:spcPct val="140000"/>
              </a:lnSpc>
            </a:pPr>
            <a:r>
              <a:rPr sz="1200" b="0" i="0">
                <a:solidFill>
                  <a:srgbClr val="6F7B68"/>
                </a:solidFill>
                <a:latin typeface="Segoe UI"/>
              </a:rPr>
              <a:t>Engineering work is under the company's own control. Counterparty work carries lead times measured in months, so it is started in parallel rather than in sequence. The national identity agreement is the longest item and is therefore begun first.</a:t>
            </a:r>
          </a:p>
        </p:txBody>
      </p:sp>
    </p:spTree>
  </p:cSld>
  <p:clrMapOvr>
    <a:masterClrMapping/>
  </p:clrMapOvr>
</p:sld>
</file>

<file path=ppt/slides/slide7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777240" y="566928"/>
            <a:ext cx="10637215" cy="219456"/>
          </a:xfrm>
          <a:prstGeom prst="rect">
            <a:avLst/>
          </a:prstGeom>
          <a:noFill/>
        </p:spPr>
        <p:txBody>
          <a:bodyPr wrap="square" lIns="0" rIns="0" tIns="0" bIns="0">
            <a:spAutoFit/>
          </a:bodyPr>
          <a:lstStyle/>
          <a:p>
            <a:pPr algn="l">
              <a:lnSpc>
                <a:spcPct val="125000"/>
              </a:lnSpc>
            </a:pPr>
            <a:r>
              <a:rPr sz="950" b="1" i="0">
                <a:solidFill>
                  <a:srgbClr val="41801A"/>
                </a:solidFill>
                <a:latin typeface="Segoe UI"/>
              </a:rPr>
              <a:t>10  THE BUSINESS</a:t>
            </a:r>
          </a:p>
        </p:txBody>
      </p:sp>
      <p:sp>
        <p:nvSpPr>
          <p:cNvPr id="3" name="TextBox 2"/>
          <p:cNvSpPr txBox="1"/>
          <p:nvPr/>
        </p:nvSpPr>
        <p:spPr>
          <a:xfrm>
            <a:off x="777240" y="841248"/>
            <a:ext cx="10637215" cy="502920"/>
          </a:xfrm>
          <a:prstGeom prst="rect">
            <a:avLst/>
          </a:prstGeom>
          <a:noFill/>
        </p:spPr>
        <p:txBody>
          <a:bodyPr wrap="square" lIns="0" rIns="0" tIns="0" bIns="0">
            <a:spAutoFit/>
          </a:bodyPr>
          <a:lstStyle/>
          <a:p>
            <a:pPr algn="l">
              <a:lnSpc>
                <a:spcPct val="125000"/>
              </a:lnSpc>
            </a:pPr>
            <a:r>
              <a:rPr sz="2700" b="1" i="0">
                <a:solidFill>
                  <a:srgbClr val="0C1408"/>
                </a:solidFill>
                <a:latin typeface="Segoe UI"/>
              </a:rPr>
              <a:t>How we will know it is working</a:t>
            </a:r>
          </a:p>
        </p:txBody>
      </p:sp>
      <p:sp>
        <p:nvSpPr>
          <p:cNvPr id="4" name="Rectangle 3"/>
          <p:cNvSpPr/>
          <p:nvPr/>
        </p:nvSpPr>
        <p:spPr>
          <a:xfrm>
            <a:off x="777240" y="1417320"/>
            <a:ext cx="1371600" cy="22860"/>
          </a:xfrm>
          <a:prstGeom prst="rect">
            <a:avLst/>
          </a:prstGeom>
          <a:solidFill>
            <a:srgbClr val="6DC72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777240" y="6382512"/>
            <a:ext cx="3657600" cy="228600"/>
          </a:xfrm>
          <a:prstGeom prst="rect">
            <a:avLst/>
          </a:prstGeom>
          <a:noFill/>
        </p:spPr>
        <p:txBody>
          <a:bodyPr wrap="square" lIns="0" rIns="0" tIns="0" bIns="0">
            <a:spAutoFit/>
          </a:bodyPr>
          <a:lstStyle/>
          <a:p>
            <a:pPr algn="l">
              <a:lnSpc>
                <a:spcPct val="125000"/>
              </a:lnSpc>
            </a:pPr>
            <a:r>
              <a:rPr sz="900" b="0" i="0">
                <a:solidFill>
                  <a:srgbClr val="9AA694"/>
                </a:solidFill>
                <a:latin typeface="Segoe UI"/>
              </a:rPr>
              <a:t>Halqa  ·  Confidential</a:t>
            </a:r>
          </a:p>
        </p:txBody>
      </p:sp>
      <p:sp>
        <p:nvSpPr>
          <p:cNvPr id="6" name="TextBox 5"/>
          <p:cNvSpPr txBox="1"/>
          <p:nvPr/>
        </p:nvSpPr>
        <p:spPr>
          <a:xfrm>
            <a:off x="10728655" y="6382512"/>
            <a:ext cx="685800" cy="228600"/>
          </a:xfrm>
          <a:prstGeom prst="rect">
            <a:avLst/>
          </a:prstGeom>
          <a:noFill/>
        </p:spPr>
        <p:txBody>
          <a:bodyPr wrap="square" lIns="0" rIns="0" tIns="0" bIns="0">
            <a:spAutoFit/>
          </a:bodyPr>
          <a:lstStyle/>
          <a:p>
            <a:pPr algn="r">
              <a:lnSpc>
                <a:spcPct val="125000"/>
              </a:lnSpc>
            </a:pPr>
            <a:r>
              <a:rPr sz="900" b="0" i="0">
                <a:solidFill>
                  <a:srgbClr val="6F7B68"/>
                </a:solidFill>
                <a:latin typeface="Segoe UI"/>
              </a:rPr>
              <a:t>74</a:t>
            </a:r>
          </a:p>
        </p:txBody>
      </p:sp>
      <p:graphicFrame>
        <p:nvGraphicFramePr>
          <p:cNvPr id="7" name="Table 6"/>
          <p:cNvGraphicFramePr>
            <a:graphicFrameLocks noGrp="1"/>
          </p:cNvGraphicFramePr>
          <p:nvPr/>
        </p:nvGraphicFramePr>
        <p:xfrm>
          <a:off x="777240" y="1965960"/>
          <a:ext cx="10607040" cy="3291840"/>
        </p:xfrm>
        <a:graphic>
          <a:graphicData uri="http://schemas.openxmlformats.org/drawingml/2006/table">
            <a:tbl>
              <a:tblPr>
                <a:tableStyleId>{5C22544A-7EE6-4342-B048-85BDC9FD1C3A}</a:tableStyleId>
              </a:tblPr>
              <a:tblGrid>
                <a:gridCol w="365760"/>
                <a:gridCol w="3291840"/>
                <a:gridCol w="6949440"/>
              </a:tblGrid>
              <a:tr h="548640">
                <a:tc>
                  <a:txBody>
                    <a:bodyPr wrap="square"/>
                    <a:lstStyle/>
                    <a:p>
                      <a:r>
                        <a:rPr sz="900" b="1">
                          <a:solidFill>
                            <a:srgbClr val="41801A"/>
                          </a:solidFill>
                          <a:latin typeface="Segoe UI"/>
                        </a:rPr>
                        <a:t/>
                      </a:r>
                    </a:p>
                  </a:txBody>
                  <a:tcPr marL="45720" marR="109728" marT="27432" marB="27432" anchor="ctr">
                    <a:lnB w="9525" cap="flat" cmpd="sng" algn="ctr">
                      <a:solidFill>
                        <a:srgbClr val="41801A"/>
                      </a:solidFill>
                    </a:lnB>
                    <a:solidFill>
                      <a:srgbClr val="FFFFFF"/>
                    </a:solidFill>
                  </a:tcPr>
                </a:tc>
                <a:tc>
                  <a:txBody>
                    <a:bodyPr wrap="square"/>
                    <a:lstStyle/>
                    <a:p>
                      <a:r>
                        <a:rPr sz="900" b="1">
                          <a:solidFill>
                            <a:srgbClr val="41801A"/>
                          </a:solidFill>
                          <a:latin typeface="Segoe UI"/>
                        </a:rPr>
                        <a:t>THE MEASURE</a:t>
                      </a:r>
                    </a:p>
                  </a:txBody>
                  <a:tcPr marL="45720" marR="109728" marT="27432" marB="27432" anchor="ctr">
                    <a:lnB w="9525" cap="flat" cmpd="sng" algn="ctr">
                      <a:solidFill>
                        <a:srgbClr val="41801A"/>
                      </a:solidFill>
                    </a:lnB>
                    <a:solidFill>
                      <a:srgbClr val="FFFFFF"/>
                    </a:solidFill>
                  </a:tcPr>
                </a:tc>
                <a:tc>
                  <a:txBody>
                    <a:bodyPr wrap="square"/>
                    <a:lstStyle/>
                    <a:p>
                      <a:r>
                        <a:rPr sz="900" b="1">
                          <a:solidFill>
                            <a:srgbClr val="41801A"/>
                          </a:solidFill>
                          <a:latin typeface="Segoe UI"/>
                        </a:rPr>
                        <a:t>WHY THIS ONE</a:t>
                      </a:r>
                    </a:p>
                  </a:txBody>
                  <a:tcPr marL="45720" marR="109728" marT="27432" marB="27432" anchor="ctr">
                    <a:lnB w="9525" cap="flat" cmpd="sng" algn="ctr">
                      <a:solidFill>
                        <a:srgbClr val="41801A"/>
                      </a:solidFill>
                    </a:lnB>
                    <a:solidFill>
                      <a:srgbClr val="FFFFFF"/>
                    </a:solidFill>
                  </a:tcPr>
                </a:tc>
              </a:tr>
              <a:tr h="548640">
                <a:tc>
                  <a:txBody>
                    <a:bodyPr wrap="square"/>
                    <a:lstStyle/>
                    <a:p>
                      <a:r>
                        <a:rPr sz="1050" b="0">
                          <a:solidFill>
                            <a:srgbClr val="26301F"/>
                          </a:solidFill>
                          <a:latin typeface="Segoe UI"/>
                        </a:rPr>
                        <a:t>1</a:t>
                      </a:r>
                    </a:p>
                  </a:txBody>
                  <a:tcPr marL="45720" marR="109728" marT="27432" marB="27432" anchor="ctr">
                    <a:lnB w="9525" cap="flat" cmpd="sng" algn="ctr">
                      <a:solidFill>
                        <a:srgbClr val="DCE3D6"/>
                      </a:solidFill>
                    </a:lnB>
                    <a:solidFill>
                      <a:srgbClr val="FFFFFF"/>
                    </a:solidFill>
                  </a:tcPr>
                </a:tc>
                <a:tc>
                  <a:txBody>
                    <a:bodyPr wrap="square"/>
                    <a:lstStyle/>
                    <a:p>
                      <a:r>
                        <a:rPr sz="1050" b="0">
                          <a:solidFill>
                            <a:srgbClr val="26301F"/>
                          </a:solidFill>
                          <a:latin typeface="Segoe UI"/>
                        </a:rPr>
                        <a:t>Share of contributions settled digitally</a:t>
                      </a:r>
                    </a:p>
                  </a:txBody>
                  <a:tcPr marL="45720" marR="109728" marT="27432" marB="27432" anchor="ctr">
                    <a:lnB w="9525" cap="flat" cmpd="sng" algn="ctr">
                      <a:solidFill>
                        <a:srgbClr val="DCE3D6"/>
                      </a:solidFill>
                    </a:lnB>
                    <a:solidFill>
                      <a:srgbClr val="FFFFFF"/>
                    </a:solidFill>
                  </a:tcPr>
                </a:tc>
                <a:tc>
                  <a:txBody>
                    <a:bodyPr wrap="square"/>
                    <a:lstStyle/>
                    <a:p>
                      <a:r>
                        <a:rPr sz="1050" b="0">
                          <a:solidFill>
                            <a:srgbClr val="26301F"/>
                          </a:solidFill>
                          <a:latin typeface="Segoe UI"/>
                        </a:rPr>
                        <a:t>The health of the collection rung, and the single most important figure in the company. A ledger of assertions is worth nothing</a:t>
                      </a:r>
                    </a:p>
                  </a:txBody>
                  <a:tcPr marL="45720" marR="109728" marT="27432" marB="27432" anchor="ctr">
                    <a:lnB w="9525" cap="flat" cmpd="sng" algn="ctr">
                      <a:solidFill>
                        <a:srgbClr val="DCE3D6"/>
                      </a:solidFill>
                    </a:lnB>
                    <a:solidFill>
                      <a:srgbClr val="FFFFFF"/>
                    </a:solidFill>
                  </a:tcPr>
                </a:tc>
              </a:tr>
              <a:tr h="548640">
                <a:tc>
                  <a:txBody>
                    <a:bodyPr wrap="square"/>
                    <a:lstStyle/>
                    <a:p>
                      <a:r>
                        <a:rPr sz="1050" b="0">
                          <a:solidFill>
                            <a:srgbClr val="26301F"/>
                          </a:solidFill>
                          <a:latin typeface="Segoe UI"/>
                        </a:rPr>
                        <a:t>2</a:t>
                      </a:r>
                    </a:p>
                  </a:txBody>
                  <a:tcPr marL="45720" marR="109728" marT="27432" marB="27432" anchor="ctr">
                    <a:lnB w="9525" cap="flat" cmpd="sng" algn="ctr">
                      <a:solidFill>
                        <a:srgbClr val="DCE3D6"/>
                      </a:solidFill>
                    </a:lnB>
                    <a:solidFill>
                      <a:srgbClr val="FFFFFF"/>
                    </a:solidFill>
                  </a:tcPr>
                </a:tc>
                <a:tc>
                  <a:txBody>
                    <a:bodyPr wrap="square"/>
                    <a:lstStyle/>
                    <a:p>
                      <a:r>
                        <a:rPr sz="1050" b="0">
                          <a:solidFill>
                            <a:srgbClr val="26301F"/>
                          </a:solidFill>
                          <a:latin typeface="Segoe UI"/>
                        </a:rPr>
                        <a:t>Circles completed cleanly</a:t>
                      </a:r>
                    </a:p>
                  </a:txBody>
                  <a:tcPr marL="45720" marR="109728" marT="27432" marB="27432" anchor="ctr">
                    <a:lnB w="9525" cap="flat" cmpd="sng" algn="ctr">
                      <a:solidFill>
                        <a:srgbClr val="DCE3D6"/>
                      </a:solidFill>
                    </a:lnB>
                    <a:solidFill>
                      <a:srgbClr val="FFFFFF"/>
                    </a:solidFill>
                  </a:tcPr>
                </a:tc>
                <a:tc>
                  <a:txBody>
                    <a:bodyPr wrap="square"/>
                    <a:lstStyle/>
                    <a:p>
                      <a:r>
                        <a:rPr sz="1050" b="0">
                          <a:solidFill>
                            <a:srgbClr val="26301F"/>
                          </a:solidFill>
                          <a:latin typeface="Segoe UI"/>
                        </a:rPr>
                        <a:t>The atomic unit of value. A circle that completes has produced a full record for every member in it</a:t>
                      </a:r>
                    </a:p>
                  </a:txBody>
                  <a:tcPr marL="45720" marR="109728" marT="27432" marB="27432" anchor="ctr">
                    <a:lnB w="9525" cap="flat" cmpd="sng" algn="ctr">
                      <a:solidFill>
                        <a:srgbClr val="DCE3D6"/>
                      </a:solidFill>
                    </a:lnB>
                    <a:solidFill>
                      <a:srgbClr val="FFFFFF"/>
                    </a:solidFill>
                  </a:tcPr>
                </a:tc>
              </a:tr>
              <a:tr h="548640">
                <a:tc>
                  <a:txBody>
                    <a:bodyPr wrap="square"/>
                    <a:lstStyle/>
                    <a:p>
                      <a:r>
                        <a:rPr sz="1050" b="0">
                          <a:solidFill>
                            <a:srgbClr val="26301F"/>
                          </a:solidFill>
                          <a:latin typeface="Segoe UI"/>
                        </a:rPr>
                        <a:t>3</a:t>
                      </a:r>
                    </a:p>
                  </a:txBody>
                  <a:tcPr marL="45720" marR="109728" marT="27432" marB="27432" anchor="ctr">
                    <a:lnB w="9525" cap="flat" cmpd="sng" algn="ctr">
                      <a:solidFill>
                        <a:srgbClr val="DCE3D6"/>
                      </a:solidFill>
                    </a:lnB>
                    <a:solidFill>
                      <a:srgbClr val="FFFFFF"/>
                    </a:solidFill>
                  </a:tcPr>
                </a:tc>
                <a:tc>
                  <a:txBody>
                    <a:bodyPr wrap="square"/>
                    <a:lstStyle/>
                    <a:p>
                      <a:r>
                        <a:rPr sz="1050" b="0">
                          <a:solidFill>
                            <a:srgbClr val="26301F"/>
                          </a:solidFill>
                          <a:latin typeface="Segoe UI"/>
                        </a:rPr>
                        <a:t>Circles per organiser</a:t>
                      </a:r>
                    </a:p>
                  </a:txBody>
                  <a:tcPr marL="45720" marR="109728" marT="27432" marB="27432" anchor="ctr">
                    <a:lnB w="9525" cap="flat" cmpd="sng" algn="ctr">
                      <a:solidFill>
                        <a:srgbClr val="DCE3D6"/>
                      </a:solidFill>
                    </a:lnB>
                    <a:solidFill>
                      <a:srgbClr val="FFFFFF"/>
                    </a:solidFill>
                  </a:tcPr>
                </a:tc>
                <a:tc>
                  <a:txBody>
                    <a:bodyPr wrap="square"/>
                    <a:lstStyle/>
                    <a:p>
                      <a:r>
                        <a:rPr sz="1050" b="0">
                          <a:solidFill>
                            <a:srgbClr val="26301F"/>
                          </a:solidFill>
                          <a:latin typeface="Segoe UI"/>
                        </a:rPr>
                        <a:t>Whether the growth loop compounds or leaks</a:t>
                      </a:r>
                    </a:p>
                  </a:txBody>
                  <a:tcPr marL="45720" marR="109728" marT="27432" marB="27432" anchor="ctr">
                    <a:lnB w="9525" cap="flat" cmpd="sng" algn="ctr">
                      <a:solidFill>
                        <a:srgbClr val="DCE3D6"/>
                      </a:solidFill>
                    </a:lnB>
                    <a:solidFill>
                      <a:srgbClr val="FFFFFF"/>
                    </a:solidFill>
                  </a:tcPr>
                </a:tc>
              </a:tr>
              <a:tr h="548640">
                <a:tc>
                  <a:txBody>
                    <a:bodyPr wrap="square"/>
                    <a:lstStyle/>
                    <a:p>
                      <a:r>
                        <a:rPr sz="1050" b="0">
                          <a:solidFill>
                            <a:srgbClr val="26301F"/>
                          </a:solidFill>
                          <a:latin typeface="Segoe UI"/>
                        </a:rPr>
                        <a:t>4</a:t>
                      </a:r>
                    </a:p>
                  </a:txBody>
                  <a:tcPr marL="45720" marR="109728" marT="27432" marB="27432" anchor="ctr">
                    <a:lnB w="9525" cap="flat" cmpd="sng" algn="ctr">
                      <a:solidFill>
                        <a:srgbClr val="DCE3D6"/>
                      </a:solidFill>
                    </a:lnB>
                    <a:solidFill>
                      <a:srgbClr val="FFFFFF"/>
                    </a:solidFill>
                  </a:tcPr>
                </a:tc>
                <a:tc>
                  <a:txBody>
                    <a:bodyPr wrap="square"/>
                    <a:lstStyle/>
                    <a:p>
                      <a:r>
                        <a:rPr sz="1050" b="0">
                          <a:solidFill>
                            <a:srgbClr val="26301F"/>
                          </a:solidFill>
                          <a:latin typeface="Segoe UI"/>
                        </a:rPr>
                        <a:t>Measured default across the first hundred completed circles</a:t>
                      </a:r>
                    </a:p>
                  </a:txBody>
                  <a:tcPr marL="45720" marR="109728" marT="27432" marB="27432" anchor="ctr">
                    <a:lnB w="9525" cap="flat" cmpd="sng" algn="ctr">
                      <a:solidFill>
                        <a:srgbClr val="DCE3D6"/>
                      </a:solidFill>
                    </a:lnB>
                    <a:solidFill>
                      <a:srgbClr val="FFFFFF"/>
                    </a:solidFill>
                  </a:tcPr>
                </a:tc>
                <a:tc>
                  <a:txBody>
                    <a:bodyPr wrap="square"/>
                    <a:lstStyle/>
                    <a:p>
                      <a:r>
                        <a:rPr sz="1050" b="0">
                          <a:solidFill>
                            <a:srgbClr val="26301F"/>
                          </a:solidFill>
                          <a:latin typeface="Segoe UI"/>
                        </a:rPr>
                        <a:t>The point at which the loss rate stops being modelled and becomes measured, and at which every price in the business is recomputed</a:t>
                      </a:r>
                    </a:p>
                  </a:txBody>
                  <a:tcPr marL="45720" marR="109728" marT="27432" marB="27432" anchor="ctr">
                    <a:lnB w="9525" cap="flat" cmpd="sng" algn="ctr">
                      <a:solidFill>
                        <a:srgbClr val="DCE3D6"/>
                      </a:solidFill>
                    </a:lnB>
                    <a:solidFill>
                      <a:srgbClr val="FFFFFF"/>
                    </a:solidFill>
                  </a:tcPr>
                </a:tc>
              </a:tr>
              <a:tr h="548640">
                <a:tc>
                  <a:txBody>
                    <a:bodyPr wrap="square"/>
                    <a:lstStyle/>
                    <a:p>
                      <a:r>
                        <a:rPr sz="1050" b="0">
                          <a:solidFill>
                            <a:srgbClr val="26301F"/>
                          </a:solidFill>
                          <a:latin typeface="Segoe UI"/>
                        </a:rPr>
                        <a:t>5</a:t>
                      </a:r>
                    </a:p>
                  </a:txBody>
                  <a:tcPr marL="45720" marR="109728" marT="27432" marB="27432" anchor="ctr">
                    <a:lnB w="9525" cap="flat" cmpd="sng" algn="ctr">
                      <a:solidFill>
                        <a:srgbClr val="DCE3D6"/>
                      </a:solidFill>
                    </a:lnB>
                    <a:solidFill>
                      <a:srgbClr val="FFFFFF"/>
                    </a:solidFill>
                  </a:tcPr>
                </a:tc>
                <a:tc>
                  <a:txBody>
                    <a:bodyPr wrap="square"/>
                    <a:lstStyle/>
                    <a:p>
                      <a:r>
                        <a:rPr sz="1050" b="0">
                          <a:solidFill>
                            <a:srgbClr val="26301F"/>
                          </a:solidFill>
                          <a:latin typeface="Segoe UI"/>
                        </a:rPr>
                        <a:t>Members who become organisers</a:t>
                      </a:r>
                    </a:p>
                  </a:txBody>
                  <a:tcPr marL="45720" marR="109728" marT="27432" marB="27432" anchor="ctr">
                    <a:lnB w="9525" cap="flat" cmpd="sng" algn="ctr">
                      <a:solidFill>
                        <a:srgbClr val="DCE3D6"/>
                      </a:solidFill>
                    </a:lnB>
                    <a:solidFill>
                      <a:srgbClr val="FFFFFF"/>
                    </a:solidFill>
                  </a:tcPr>
                </a:tc>
                <a:tc>
                  <a:txBody>
                    <a:bodyPr wrap="square"/>
                    <a:lstStyle/>
                    <a:p>
                      <a:r>
                        <a:rPr sz="1050" b="0">
                          <a:solidFill>
                            <a:srgbClr val="26301F"/>
                          </a:solidFill>
                          <a:latin typeface="Segoe UI"/>
                        </a:rPr>
                        <a:t>The only growth loop internal to the product</a:t>
                      </a:r>
                    </a:p>
                  </a:txBody>
                  <a:tcPr marL="45720" marR="109728" marT="27432" marB="27432" anchor="ctr">
                    <a:lnB w="9525" cap="flat" cmpd="sng" algn="ctr">
                      <a:solidFill>
                        <a:srgbClr val="DCE3D6"/>
                      </a:solidFill>
                    </a:lnB>
                    <a:solidFill>
                      <a:srgbClr val="FFFFFF"/>
                    </a:solidFill>
                  </a:tcPr>
                </a:tc>
              </a:tr>
            </a:tbl>
          </a:graphicData>
        </a:graphic>
      </p:graphicFrame>
      <p:sp>
        <p:nvSpPr>
          <p:cNvPr id="8" name="TextBox 7"/>
          <p:cNvSpPr txBox="1"/>
          <p:nvPr/>
        </p:nvSpPr>
        <p:spPr>
          <a:xfrm>
            <a:off x="777240" y="5440680"/>
            <a:ext cx="10637215" cy="731520"/>
          </a:xfrm>
          <a:prstGeom prst="rect">
            <a:avLst/>
          </a:prstGeom>
          <a:noFill/>
        </p:spPr>
        <p:txBody>
          <a:bodyPr wrap="square" lIns="0" rIns="0" tIns="0" bIns="0">
            <a:spAutoFit/>
          </a:bodyPr>
          <a:lstStyle/>
          <a:p>
            <a:pPr algn="l">
              <a:lnSpc>
                <a:spcPct val="140000"/>
              </a:lnSpc>
            </a:pPr>
            <a:r>
              <a:rPr sz="1200" b="1" i="0">
                <a:solidFill>
                  <a:srgbClr val="0C1408"/>
                </a:solidFill>
                <a:latin typeface="Segoe UI"/>
              </a:rPr>
              <a:t>Registrations, downloads and total value committed can all be raised without the arrangement working at all, and are deliberately not tracked as measures of progress.</a:t>
            </a:r>
          </a:p>
        </p:txBody>
      </p:sp>
    </p:spTree>
  </p:cSld>
  <p:clrMapOvr>
    <a:masterClrMapping/>
  </p:clrMapOvr>
</p:sld>
</file>

<file path=ppt/slides/slide7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777240" y="566928"/>
            <a:ext cx="10637215" cy="219456"/>
          </a:xfrm>
          <a:prstGeom prst="rect">
            <a:avLst/>
          </a:prstGeom>
          <a:noFill/>
        </p:spPr>
        <p:txBody>
          <a:bodyPr wrap="square" lIns="0" rIns="0" tIns="0" bIns="0">
            <a:spAutoFit/>
          </a:bodyPr>
          <a:lstStyle/>
          <a:p>
            <a:pPr algn="l">
              <a:lnSpc>
                <a:spcPct val="125000"/>
              </a:lnSpc>
            </a:pPr>
            <a:r>
              <a:rPr sz="950" b="1" i="0">
                <a:solidFill>
                  <a:srgbClr val="41801A"/>
                </a:solidFill>
                <a:latin typeface="Segoe UI"/>
              </a:rPr>
              <a:t>11  WHAT IS BUILT</a:t>
            </a:r>
          </a:p>
        </p:txBody>
      </p:sp>
      <p:sp>
        <p:nvSpPr>
          <p:cNvPr id="3" name="TextBox 2"/>
          <p:cNvSpPr txBox="1"/>
          <p:nvPr/>
        </p:nvSpPr>
        <p:spPr>
          <a:xfrm>
            <a:off x="777240" y="841248"/>
            <a:ext cx="10637215" cy="502920"/>
          </a:xfrm>
          <a:prstGeom prst="rect">
            <a:avLst/>
          </a:prstGeom>
          <a:noFill/>
        </p:spPr>
        <p:txBody>
          <a:bodyPr wrap="square" lIns="0" rIns="0" tIns="0" bIns="0">
            <a:spAutoFit/>
          </a:bodyPr>
          <a:lstStyle/>
          <a:p>
            <a:pPr algn="l">
              <a:lnSpc>
                <a:spcPct val="125000"/>
              </a:lnSpc>
            </a:pPr>
            <a:r>
              <a:rPr sz="2700" b="1" i="0">
                <a:solidFill>
                  <a:srgbClr val="0C1408"/>
                </a:solidFill>
                <a:latin typeface="Segoe UI"/>
              </a:rPr>
              <a:t>In production today</a:t>
            </a:r>
          </a:p>
        </p:txBody>
      </p:sp>
      <p:sp>
        <p:nvSpPr>
          <p:cNvPr id="4" name="Rectangle 3"/>
          <p:cNvSpPr/>
          <p:nvPr/>
        </p:nvSpPr>
        <p:spPr>
          <a:xfrm>
            <a:off x="777240" y="1417320"/>
            <a:ext cx="1371600" cy="22860"/>
          </a:xfrm>
          <a:prstGeom prst="rect">
            <a:avLst/>
          </a:prstGeom>
          <a:solidFill>
            <a:srgbClr val="6DC72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777240" y="6382512"/>
            <a:ext cx="3657600" cy="228600"/>
          </a:xfrm>
          <a:prstGeom prst="rect">
            <a:avLst/>
          </a:prstGeom>
          <a:noFill/>
        </p:spPr>
        <p:txBody>
          <a:bodyPr wrap="square" lIns="0" rIns="0" tIns="0" bIns="0">
            <a:spAutoFit/>
          </a:bodyPr>
          <a:lstStyle/>
          <a:p>
            <a:pPr algn="l">
              <a:lnSpc>
                <a:spcPct val="125000"/>
              </a:lnSpc>
            </a:pPr>
            <a:r>
              <a:rPr sz="900" b="0" i="0">
                <a:solidFill>
                  <a:srgbClr val="9AA694"/>
                </a:solidFill>
                <a:latin typeface="Segoe UI"/>
              </a:rPr>
              <a:t>Halqa  ·  Confidential</a:t>
            </a:r>
          </a:p>
        </p:txBody>
      </p:sp>
      <p:sp>
        <p:nvSpPr>
          <p:cNvPr id="6" name="TextBox 5"/>
          <p:cNvSpPr txBox="1"/>
          <p:nvPr/>
        </p:nvSpPr>
        <p:spPr>
          <a:xfrm>
            <a:off x="10728655" y="6382512"/>
            <a:ext cx="685800" cy="228600"/>
          </a:xfrm>
          <a:prstGeom prst="rect">
            <a:avLst/>
          </a:prstGeom>
          <a:noFill/>
        </p:spPr>
        <p:txBody>
          <a:bodyPr wrap="square" lIns="0" rIns="0" tIns="0" bIns="0">
            <a:spAutoFit/>
          </a:bodyPr>
          <a:lstStyle/>
          <a:p>
            <a:pPr algn="r">
              <a:lnSpc>
                <a:spcPct val="125000"/>
              </a:lnSpc>
            </a:pPr>
            <a:r>
              <a:rPr sz="900" b="0" i="0">
                <a:solidFill>
                  <a:srgbClr val="6F7B68"/>
                </a:solidFill>
                <a:latin typeface="Segoe UI"/>
              </a:rPr>
              <a:t>75</a:t>
            </a:r>
          </a:p>
        </p:txBody>
      </p:sp>
      <p:sp>
        <p:nvSpPr>
          <p:cNvPr id="7" name="TextBox 6"/>
          <p:cNvSpPr txBox="1"/>
          <p:nvPr/>
        </p:nvSpPr>
        <p:spPr>
          <a:xfrm>
            <a:off x="777240" y="2057400"/>
            <a:ext cx="3271418" cy="548640"/>
          </a:xfrm>
          <a:prstGeom prst="rect">
            <a:avLst/>
          </a:prstGeom>
          <a:noFill/>
        </p:spPr>
        <p:txBody>
          <a:bodyPr wrap="square" lIns="0" rIns="0" tIns="0" bIns="0">
            <a:spAutoFit/>
          </a:bodyPr>
          <a:lstStyle/>
          <a:p>
            <a:pPr algn="l">
              <a:lnSpc>
                <a:spcPct val="125000"/>
              </a:lnSpc>
            </a:pPr>
            <a:r>
              <a:rPr sz="3000" b="1" i="0">
                <a:solidFill>
                  <a:srgbClr val="41801A"/>
                </a:solidFill>
                <a:latin typeface="Segoe UI"/>
              </a:rPr>
              <a:t>Live</a:t>
            </a:r>
          </a:p>
        </p:txBody>
      </p:sp>
      <p:sp>
        <p:nvSpPr>
          <p:cNvPr id="8" name="TextBox 7"/>
          <p:cNvSpPr txBox="1"/>
          <p:nvPr/>
        </p:nvSpPr>
        <p:spPr>
          <a:xfrm>
            <a:off x="777240" y="2624328"/>
            <a:ext cx="3271418" cy="548640"/>
          </a:xfrm>
          <a:prstGeom prst="rect">
            <a:avLst/>
          </a:prstGeom>
          <a:noFill/>
        </p:spPr>
        <p:txBody>
          <a:bodyPr wrap="square" lIns="0" rIns="0" tIns="0" bIns="0">
            <a:spAutoFit/>
          </a:bodyPr>
          <a:lstStyle/>
          <a:p>
            <a:pPr algn="l">
              <a:lnSpc>
                <a:spcPct val="130000"/>
              </a:lnSpc>
            </a:pPr>
            <a:r>
              <a:rPr sz="1100" b="0" i="0">
                <a:solidFill>
                  <a:srgbClr val="6F7B68"/>
                </a:solidFill>
                <a:latin typeface="Segoe UI"/>
              </a:rPr>
              <a:t>In production since 20 July 2026, deliberately not opened to the public</a:t>
            </a:r>
          </a:p>
        </p:txBody>
      </p:sp>
      <p:sp>
        <p:nvSpPr>
          <p:cNvPr id="9" name="TextBox 8"/>
          <p:cNvSpPr txBox="1"/>
          <p:nvPr/>
        </p:nvSpPr>
        <p:spPr>
          <a:xfrm>
            <a:off x="4322978" y="2057400"/>
            <a:ext cx="3271418" cy="548640"/>
          </a:xfrm>
          <a:prstGeom prst="rect">
            <a:avLst/>
          </a:prstGeom>
          <a:noFill/>
        </p:spPr>
        <p:txBody>
          <a:bodyPr wrap="square" lIns="0" rIns="0" tIns="0" bIns="0">
            <a:spAutoFit/>
          </a:bodyPr>
          <a:lstStyle/>
          <a:p>
            <a:pPr algn="l">
              <a:lnSpc>
                <a:spcPct val="125000"/>
              </a:lnSpc>
            </a:pPr>
            <a:r>
              <a:rPr sz="3000" b="1" i="0">
                <a:solidFill>
                  <a:srgbClr val="41801A"/>
                </a:solidFill>
                <a:latin typeface="Segoe UI"/>
              </a:rPr>
              <a:t>60 / 352</a:t>
            </a:r>
          </a:p>
        </p:txBody>
      </p:sp>
      <p:sp>
        <p:nvSpPr>
          <p:cNvPr id="10" name="TextBox 9"/>
          <p:cNvSpPr txBox="1"/>
          <p:nvPr/>
        </p:nvSpPr>
        <p:spPr>
          <a:xfrm>
            <a:off x="4322978" y="2624328"/>
            <a:ext cx="3271418" cy="548640"/>
          </a:xfrm>
          <a:prstGeom prst="rect">
            <a:avLst/>
          </a:prstGeom>
          <a:noFill/>
        </p:spPr>
        <p:txBody>
          <a:bodyPr wrap="square" lIns="0" rIns="0" tIns="0" bIns="0">
            <a:spAutoFit/>
          </a:bodyPr>
          <a:lstStyle/>
          <a:p>
            <a:pPr algn="l">
              <a:lnSpc>
                <a:spcPct val="130000"/>
              </a:lnSpc>
            </a:pPr>
            <a:r>
              <a:rPr sz="1100" b="0" i="0">
                <a:solidFill>
                  <a:srgbClr val="6F7B68"/>
                </a:solidFill>
                <a:latin typeface="Segoe UI"/>
              </a:rPr>
              <a:t>Unit and integration tests, all passing</a:t>
            </a:r>
          </a:p>
        </p:txBody>
      </p:sp>
      <p:sp>
        <p:nvSpPr>
          <p:cNvPr id="11" name="TextBox 10"/>
          <p:cNvSpPr txBox="1"/>
          <p:nvPr/>
        </p:nvSpPr>
        <p:spPr>
          <a:xfrm>
            <a:off x="7868716" y="2057400"/>
            <a:ext cx="3271418" cy="548640"/>
          </a:xfrm>
          <a:prstGeom prst="rect">
            <a:avLst/>
          </a:prstGeom>
          <a:noFill/>
        </p:spPr>
        <p:txBody>
          <a:bodyPr wrap="square" lIns="0" rIns="0" tIns="0" bIns="0">
            <a:spAutoFit/>
          </a:bodyPr>
          <a:lstStyle/>
          <a:p>
            <a:pPr algn="l">
              <a:lnSpc>
                <a:spcPct val="125000"/>
              </a:lnSpc>
            </a:pPr>
            <a:r>
              <a:rPr sz="3000" b="1" i="0">
                <a:solidFill>
                  <a:srgbClr val="41801A"/>
                </a:solidFill>
                <a:latin typeface="Segoe UI"/>
              </a:rPr>
              <a:t>Urdu and English</a:t>
            </a:r>
          </a:p>
        </p:txBody>
      </p:sp>
      <p:sp>
        <p:nvSpPr>
          <p:cNvPr id="12" name="TextBox 11"/>
          <p:cNvSpPr txBox="1"/>
          <p:nvPr/>
        </p:nvSpPr>
        <p:spPr>
          <a:xfrm>
            <a:off x="7868716" y="2624328"/>
            <a:ext cx="3271418" cy="548640"/>
          </a:xfrm>
          <a:prstGeom prst="rect">
            <a:avLst/>
          </a:prstGeom>
          <a:noFill/>
        </p:spPr>
        <p:txBody>
          <a:bodyPr wrap="square" lIns="0" rIns="0" tIns="0" bIns="0">
            <a:spAutoFit/>
          </a:bodyPr>
          <a:lstStyle/>
          <a:p>
            <a:pPr algn="l">
              <a:lnSpc>
                <a:spcPct val="130000"/>
              </a:lnSpc>
            </a:pPr>
            <a:r>
              <a:rPr sz="1100" b="0" i="0">
                <a:solidFill>
                  <a:srgbClr val="6F7B68"/>
                </a:solidFill>
                <a:latin typeface="Segoe UI"/>
              </a:rPr>
              <a:t>Throughout, on an application that installs to the home screen</a:t>
            </a:r>
          </a:p>
        </p:txBody>
      </p:sp>
      <p:graphicFrame>
        <p:nvGraphicFramePr>
          <p:cNvPr id="13" name="Table 12"/>
          <p:cNvGraphicFramePr>
            <a:graphicFrameLocks noGrp="1"/>
          </p:cNvGraphicFramePr>
          <p:nvPr/>
        </p:nvGraphicFramePr>
        <p:xfrm>
          <a:off x="777240" y="3566160"/>
          <a:ext cx="10607040" cy="2916408"/>
        </p:xfrm>
        <a:graphic>
          <a:graphicData uri="http://schemas.openxmlformats.org/drawingml/2006/table">
            <a:tbl>
              <a:tblPr>
                <a:tableStyleId>{5C22544A-7EE6-4342-B048-85BDC9FD1C3A}</a:tableStyleId>
              </a:tblPr>
              <a:tblGrid>
                <a:gridCol w="2103120"/>
                <a:gridCol w="8503920"/>
              </a:tblGrid>
              <a:tr h="243034">
                <a:tc>
                  <a:txBody>
                    <a:bodyPr wrap="square"/>
                    <a:lstStyle/>
                    <a:p>
                      <a:r>
                        <a:rPr sz="700" b="1">
                          <a:solidFill>
                            <a:srgbClr val="41801A"/>
                          </a:solidFill>
                          <a:latin typeface="Segoe UI"/>
                        </a:rPr>
                        <a:t>AREA</a:t>
                      </a:r>
                    </a:p>
                  </a:txBody>
                  <a:tcPr marL="45720" marR="109728" marT="27432" marB="27432" anchor="ctr">
                    <a:lnB w="9525" cap="flat" cmpd="sng" algn="ctr">
                      <a:solidFill>
                        <a:srgbClr val="41801A"/>
                      </a:solidFill>
                    </a:lnB>
                    <a:solidFill>
                      <a:srgbClr val="FFFFFF"/>
                    </a:solidFill>
                  </a:tcPr>
                </a:tc>
                <a:tc>
                  <a:txBody>
                    <a:bodyPr wrap="square"/>
                    <a:lstStyle/>
                    <a:p>
                      <a:r>
                        <a:rPr sz="700" b="1">
                          <a:solidFill>
                            <a:srgbClr val="41801A"/>
                          </a:solidFill>
                          <a:latin typeface="Segoe UI"/>
                        </a:rPr>
                        <a:t>WHAT IS RUNNING</a:t>
                      </a:r>
                    </a:p>
                  </a:txBody>
                  <a:tcPr marL="45720" marR="109728" marT="27432" marB="27432" anchor="ctr">
                    <a:lnB w="9525" cap="flat" cmpd="sng" algn="ctr">
                      <a:solidFill>
                        <a:srgbClr val="41801A"/>
                      </a:solidFill>
                    </a:lnB>
                    <a:solidFill>
                      <a:srgbClr val="FFFFFF"/>
                    </a:solidFill>
                  </a:tcPr>
                </a:tc>
              </a:tr>
              <a:tr h="243034">
                <a:tc>
                  <a:txBody>
                    <a:bodyPr wrap="square"/>
                    <a:lstStyle/>
                    <a:p>
                      <a:r>
                        <a:rPr sz="700" b="0">
                          <a:solidFill>
                            <a:srgbClr val="26301F"/>
                          </a:solidFill>
                          <a:latin typeface="Segoe UI"/>
                        </a:rPr>
                        <a:t>Onboarding</a:t>
                      </a:r>
                    </a:p>
                  </a:txBody>
                  <a:tcPr marL="45720" marR="109728" marT="27432" marB="27432" anchor="ctr">
                    <a:lnB w="9525" cap="flat" cmpd="sng" algn="ctr">
                      <a:solidFill>
                        <a:srgbClr val="DCE3D6"/>
                      </a:solidFill>
                    </a:lnB>
                    <a:solidFill>
                      <a:srgbClr val="FFFFFF"/>
                    </a:solidFill>
                  </a:tcPr>
                </a:tc>
                <a:tc>
                  <a:txBody>
                    <a:bodyPr wrap="square"/>
                    <a:lstStyle/>
                    <a:p>
                      <a:r>
                        <a:rPr sz="700" b="0">
                          <a:solidFill>
                            <a:srgbClr val="26301F"/>
                          </a:solidFill>
                          <a:latin typeface="Segoe UI"/>
                        </a:rPr>
                        <a:t>The full ten step registration, with phone verification, identity card capture, live location, occupation, a mandatory collection account and the application PIN</a:t>
                      </a:r>
                    </a:p>
                  </a:txBody>
                  <a:tcPr marL="45720" marR="109728" marT="27432" marB="27432" anchor="ctr">
                    <a:lnB w="9525" cap="flat" cmpd="sng" algn="ctr">
                      <a:solidFill>
                        <a:srgbClr val="DCE3D6"/>
                      </a:solidFill>
                    </a:lnB>
                    <a:solidFill>
                      <a:srgbClr val="FFFFFF"/>
                    </a:solidFill>
                  </a:tcPr>
                </a:tc>
              </a:tr>
              <a:tr h="243034">
                <a:tc>
                  <a:txBody>
                    <a:bodyPr wrap="square"/>
                    <a:lstStyle/>
                    <a:p>
                      <a:r>
                        <a:rPr sz="700" b="0">
                          <a:solidFill>
                            <a:srgbClr val="26301F"/>
                          </a:solidFill>
                          <a:latin typeface="Segoe UI"/>
                        </a:rPr>
                        <a:t>Checkout and rails</a:t>
                      </a:r>
                    </a:p>
                  </a:txBody>
                  <a:tcPr marL="45720" marR="109728" marT="27432" marB="27432" anchor="ctr">
                    <a:lnB w="9525" cap="flat" cmpd="sng" algn="ctr">
                      <a:solidFill>
                        <a:srgbClr val="DCE3D6"/>
                      </a:solidFill>
                    </a:lnB>
                    <a:solidFill>
                      <a:srgbClr val="FFFFFF"/>
                    </a:solidFill>
                  </a:tcPr>
                </a:tc>
                <a:tc>
                  <a:txBody>
                    <a:bodyPr wrap="square"/>
                    <a:lstStyle/>
                    <a:p>
                      <a:r>
                        <a:rPr sz="700" b="0">
                          <a:solidFill>
                            <a:srgbClr val="26301F"/>
                          </a:solidFill>
                          <a:latin typeface="Segoe UI"/>
                        </a:rPr>
                        <a:t>Gateway style checkout across the instant payment rail, both major wallets, bank transfer and cash, with an explicit failure path that leaves the installment untouched</a:t>
                      </a:r>
                    </a:p>
                  </a:txBody>
                  <a:tcPr marL="45720" marR="109728" marT="27432" marB="27432" anchor="ctr">
                    <a:lnB w="9525" cap="flat" cmpd="sng" algn="ctr">
                      <a:solidFill>
                        <a:srgbClr val="DCE3D6"/>
                      </a:solidFill>
                    </a:lnB>
                    <a:solidFill>
                      <a:srgbClr val="FFFFFF"/>
                    </a:solidFill>
                  </a:tcPr>
                </a:tc>
              </a:tr>
              <a:tr h="243034">
                <a:tc>
                  <a:txBody>
                    <a:bodyPr wrap="square"/>
                    <a:lstStyle/>
                    <a:p>
                      <a:r>
                        <a:rPr sz="700" b="0">
                          <a:solidFill>
                            <a:srgbClr val="26301F"/>
                          </a:solidFill>
                          <a:latin typeface="Segoe UI"/>
                        </a:rPr>
                        <a:t>Saved instruments</a:t>
                      </a:r>
                    </a:p>
                  </a:txBody>
                  <a:tcPr marL="45720" marR="109728" marT="27432" marB="27432" anchor="ctr">
                    <a:lnB w="9525" cap="flat" cmpd="sng" algn="ctr">
                      <a:solidFill>
                        <a:srgbClr val="DCE3D6"/>
                      </a:solidFill>
                    </a:lnB>
                    <a:solidFill>
                      <a:srgbClr val="FFFFFF"/>
                    </a:solidFill>
                  </a:tcPr>
                </a:tc>
                <a:tc>
                  <a:txBody>
                    <a:bodyPr wrap="square"/>
                    <a:lstStyle/>
                    <a:p>
                      <a:r>
                        <a:rPr sz="700" b="0">
                          <a:solidFill>
                            <a:srgbClr val="26301F"/>
                          </a:solidFill>
                          <a:latin typeface="Segoe UI"/>
                        </a:rPr>
                        <a:t>Captured once and masked at rest, maximum five, one preferred, with card details limited to brand, last four, expiry and holder</a:t>
                      </a:r>
                    </a:p>
                  </a:txBody>
                  <a:tcPr marL="45720" marR="109728" marT="27432" marB="27432" anchor="ctr">
                    <a:lnB w="9525" cap="flat" cmpd="sng" algn="ctr">
                      <a:solidFill>
                        <a:srgbClr val="DCE3D6"/>
                      </a:solidFill>
                    </a:lnB>
                    <a:solidFill>
                      <a:srgbClr val="FFFFFF"/>
                    </a:solidFill>
                  </a:tcPr>
                </a:tc>
              </a:tr>
              <a:tr h="243034">
                <a:tc>
                  <a:txBody>
                    <a:bodyPr wrap="square"/>
                    <a:lstStyle/>
                    <a:p>
                      <a:r>
                        <a:rPr sz="700" b="0">
                          <a:solidFill>
                            <a:srgbClr val="26301F"/>
                          </a:solidFill>
                          <a:latin typeface="Segoe UI"/>
                        </a:rPr>
                        <a:t>Automatic collection</a:t>
                      </a:r>
                    </a:p>
                  </a:txBody>
                  <a:tcPr marL="45720" marR="109728" marT="27432" marB="27432" anchor="ctr">
                    <a:lnB w="9525" cap="flat" cmpd="sng" algn="ctr">
                      <a:solidFill>
                        <a:srgbClr val="DCE3D6"/>
                      </a:solidFill>
                    </a:lnB>
                    <a:solidFill>
                      <a:srgbClr val="FFFFFF"/>
                    </a:solidFill>
                  </a:tcPr>
                </a:tc>
                <a:tc>
                  <a:txBody>
                    <a:bodyPr wrap="square"/>
                    <a:lstStyle/>
                    <a:p>
                      <a:r>
                        <a:rPr sz="700" b="0">
                          <a:solidFill>
                            <a:srgbClr val="26301F"/>
                          </a:solidFill>
                          <a:latin typeface="Segoe UI"/>
                        </a:rPr>
                        <a:t>A standing per circle mandate, on by default with recorded consent, replaceable but not removable while a circle runs</a:t>
                      </a:r>
                    </a:p>
                  </a:txBody>
                  <a:tcPr marL="45720" marR="109728" marT="27432" marB="27432" anchor="ctr">
                    <a:lnB w="9525" cap="flat" cmpd="sng" algn="ctr">
                      <a:solidFill>
                        <a:srgbClr val="DCE3D6"/>
                      </a:solidFill>
                    </a:lnB>
                    <a:solidFill>
                      <a:srgbClr val="FFFFFF"/>
                    </a:solidFill>
                  </a:tcPr>
                </a:tc>
              </a:tr>
              <a:tr h="243034">
                <a:tc>
                  <a:txBody>
                    <a:bodyPr wrap="square"/>
                    <a:lstStyle/>
                    <a:p>
                      <a:r>
                        <a:rPr sz="700" b="0">
                          <a:solidFill>
                            <a:srgbClr val="26301F"/>
                          </a:solidFill>
                          <a:latin typeface="Segoe UI"/>
                        </a:rPr>
                        <a:t>Payday collection</a:t>
                      </a:r>
                    </a:p>
                  </a:txBody>
                  <a:tcPr marL="45720" marR="109728" marT="27432" marB="27432" anchor="ctr">
                    <a:lnB w="9525" cap="flat" cmpd="sng" algn="ctr">
                      <a:solidFill>
                        <a:srgbClr val="DCE3D6"/>
                      </a:solidFill>
                    </a:lnB>
                    <a:solidFill>
                      <a:srgbClr val="FFFFFF"/>
                    </a:solidFill>
                  </a:tcPr>
                </a:tc>
                <a:tc>
                  <a:txBody>
                    <a:bodyPr wrap="square"/>
                    <a:lstStyle/>
                    <a:p>
                      <a:r>
                        <a:rPr sz="700" b="0">
                          <a:solidFill>
                            <a:srgbClr val="26301F"/>
                          </a:solidFill>
                          <a:latin typeface="Segoe UI"/>
                        </a:rPr>
                        <a:t>Balance notice the evening before, execution on the payday morning, a retry ladder to the due date, and four independent verification signals</a:t>
                      </a:r>
                    </a:p>
                  </a:txBody>
                  <a:tcPr marL="45720" marR="109728" marT="27432" marB="27432" anchor="ctr">
                    <a:lnB w="9525" cap="flat" cmpd="sng" algn="ctr">
                      <a:solidFill>
                        <a:srgbClr val="DCE3D6"/>
                      </a:solidFill>
                    </a:lnB>
                    <a:solidFill>
                      <a:srgbClr val="FFFFFF"/>
                    </a:solidFill>
                  </a:tcPr>
                </a:tc>
              </a:tr>
              <a:tr h="243034">
                <a:tc>
                  <a:txBody>
                    <a:bodyPr wrap="square"/>
                    <a:lstStyle/>
                    <a:p>
                      <a:r>
                        <a:rPr sz="700" b="0">
                          <a:solidFill>
                            <a:srgbClr val="26301F"/>
                          </a:solidFill>
                          <a:latin typeface="Segoe UI"/>
                        </a:rPr>
                        <a:t>The score</a:t>
                      </a:r>
                    </a:p>
                  </a:txBody>
                  <a:tcPr marL="45720" marR="109728" marT="27432" marB="27432" anchor="ctr">
                    <a:lnB w="9525" cap="flat" cmpd="sng" algn="ctr">
                      <a:solidFill>
                        <a:srgbClr val="DCE3D6"/>
                      </a:solidFill>
                    </a:lnB>
                    <a:solidFill>
                      <a:srgbClr val="FFFFFF"/>
                    </a:solidFill>
                  </a:tcPr>
                </a:tc>
                <a:tc>
                  <a:txBody>
                    <a:bodyPr wrap="square"/>
                    <a:lstStyle/>
                    <a:p>
                      <a:r>
                        <a:rPr sz="700" b="0">
                          <a:solidFill>
                            <a:srgbClr val="26301F"/>
                          </a:solidFill>
                          <a:latin typeface="Segoe UI"/>
                        </a:rPr>
                        <a:t>300 to 850 with bands, credit events carrying their reasons, a movement chart, and an exportable credit report that verifies without a Halqa account</a:t>
                      </a:r>
                    </a:p>
                  </a:txBody>
                  <a:tcPr marL="45720" marR="109728" marT="27432" marB="27432" anchor="ctr">
                    <a:lnB w="9525" cap="flat" cmpd="sng" algn="ctr">
                      <a:solidFill>
                        <a:srgbClr val="DCE3D6"/>
                      </a:solidFill>
                    </a:lnB>
                    <a:solidFill>
                      <a:srgbClr val="FFFFFF"/>
                    </a:solidFill>
                  </a:tcPr>
                </a:tc>
              </a:tr>
              <a:tr h="243034">
                <a:tc>
                  <a:txBody>
                    <a:bodyPr wrap="square"/>
                    <a:lstStyle/>
                    <a:p>
                      <a:r>
                        <a:rPr sz="700" b="0">
                          <a:solidFill>
                            <a:srgbClr val="26301F"/>
                          </a:solidFill>
                          <a:latin typeface="Segoe UI"/>
                        </a:rPr>
                        <a:t>Overdue handling</a:t>
                      </a:r>
                    </a:p>
                  </a:txBody>
                  <a:tcPr marL="45720" marR="109728" marT="27432" marB="27432" anchor="ctr">
                    <a:lnB w="9525" cap="flat" cmpd="sng" algn="ctr">
                      <a:solidFill>
                        <a:srgbClr val="DCE3D6"/>
                      </a:solidFill>
                    </a:lnB>
                    <a:solidFill>
                      <a:srgbClr val="FFFFFF"/>
                    </a:solidFill>
                  </a:tcPr>
                </a:tc>
                <a:tc>
                  <a:txBody>
                    <a:bodyPr wrap="square"/>
                    <a:lstStyle/>
                    <a:p>
                      <a:r>
                        <a:rPr sz="700" b="0">
                          <a:solidFill>
                            <a:srgbClr val="26301F"/>
                          </a:solidFill>
                          <a:latin typeface="Segoe UI"/>
                        </a:rPr>
                        <a:t>A daily server side job running the escalating ladder, recovery cases with a rehabilitation fee, and a bureau export queue</a:t>
                      </a:r>
                    </a:p>
                  </a:txBody>
                  <a:tcPr marL="45720" marR="109728" marT="27432" marB="27432" anchor="ctr">
                    <a:lnB w="9525" cap="flat" cmpd="sng" algn="ctr">
                      <a:solidFill>
                        <a:srgbClr val="DCE3D6"/>
                      </a:solidFill>
                    </a:lnB>
                    <a:solidFill>
                      <a:srgbClr val="FFFFFF"/>
                    </a:solidFill>
                  </a:tcPr>
                </a:tc>
              </a:tr>
              <a:tr h="243034">
                <a:tc>
                  <a:txBody>
                    <a:bodyPr wrap="square"/>
                    <a:lstStyle/>
                    <a:p>
                      <a:r>
                        <a:rPr sz="700" b="0">
                          <a:solidFill>
                            <a:srgbClr val="26301F"/>
                          </a:solidFill>
                          <a:latin typeface="Segoe UI"/>
                        </a:rPr>
                        <a:t>Circles</a:t>
                      </a:r>
                    </a:p>
                  </a:txBody>
                  <a:tcPr marL="45720" marR="109728" marT="27432" marB="27432" anchor="ctr">
                    <a:lnB w="9525" cap="flat" cmpd="sng" algn="ctr">
                      <a:solidFill>
                        <a:srgbClr val="DCE3D6"/>
                      </a:solidFill>
                    </a:lnB>
                    <a:solidFill>
                      <a:srgbClr val="FFFFFF"/>
                    </a:solidFill>
                  </a:tcPr>
                </a:tc>
                <a:tc>
                  <a:txBody>
                    <a:bodyPr wrap="square"/>
                    <a:lstStyle/>
                    <a:p>
                      <a:r>
                        <a:rPr sz="700" b="0">
                          <a:solidFill>
                            <a:srgbClr val="26301F"/>
                          </a:solidFill>
                          <a:latin typeface="Segoe UI"/>
                        </a:rPr>
                        <a:t>Own circles and discovery, invite codes, invitation by WhatsApp, contacts, messages and Skype, and a public only filter with its disclosure</a:t>
                      </a:r>
                    </a:p>
                  </a:txBody>
                  <a:tcPr marL="45720" marR="109728" marT="27432" marB="27432" anchor="ctr">
                    <a:lnB w="9525" cap="flat" cmpd="sng" algn="ctr">
                      <a:solidFill>
                        <a:srgbClr val="DCE3D6"/>
                      </a:solidFill>
                    </a:lnB>
                    <a:solidFill>
                      <a:srgbClr val="FFFFFF"/>
                    </a:solidFill>
                  </a:tcPr>
                </a:tc>
              </a:tr>
              <a:tr h="243034">
                <a:tc>
                  <a:txBody>
                    <a:bodyPr wrap="square"/>
                    <a:lstStyle/>
                    <a:p>
                      <a:r>
                        <a:rPr sz="700" b="0">
                          <a:solidFill>
                            <a:srgbClr val="26301F"/>
                          </a:solidFill>
                          <a:latin typeface="Segoe UI"/>
                        </a:rPr>
                        <a:t>Daily circles</a:t>
                      </a:r>
                    </a:p>
                  </a:txBody>
                  <a:tcPr marL="45720" marR="109728" marT="27432" marB="27432" anchor="ctr">
                    <a:lnB w="9525" cap="flat" cmpd="sng" algn="ctr">
                      <a:solidFill>
                        <a:srgbClr val="DCE3D6"/>
                      </a:solidFill>
                    </a:lnB>
                    <a:solidFill>
                      <a:srgbClr val="FFFFFF"/>
                    </a:solidFill>
                  </a:tcPr>
                </a:tc>
                <a:tc>
                  <a:txBody>
                    <a:bodyPr wrap="square"/>
                    <a:lstStyle/>
                    <a:p>
                      <a:r>
                        <a:rPr sz="700" b="0">
                          <a:solidFill>
                            <a:srgbClr val="26301F"/>
                          </a:solidFill>
                          <a:latin typeface="Segoe UI"/>
                        </a:rPr>
                        <a:t>Tier selection, the opening auction with a live countdown, standing bids per day and bid entry</a:t>
                      </a:r>
                    </a:p>
                  </a:txBody>
                  <a:tcPr marL="45720" marR="109728" marT="27432" marB="27432" anchor="ctr">
                    <a:lnB w="9525" cap="flat" cmpd="sng" algn="ctr">
                      <a:solidFill>
                        <a:srgbClr val="DCE3D6"/>
                      </a:solidFill>
                    </a:lnB>
                    <a:solidFill>
                      <a:srgbClr val="FFFFFF"/>
                    </a:solidFill>
                  </a:tcPr>
                </a:tc>
              </a:tr>
              <a:tr h="243034">
                <a:tc>
                  <a:txBody>
                    <a:bodyPr wrap="square"/>
                    <a:lstStyle/>
                    <a:p>
                      <a:r>
                        <a:rPr sz="700" b="0">
                          <a:solidFill>
                            <a:srgbClr val="26301F"/>
                          </a:solidFill>
                          <a:latin typeface="Segoe UI"/>
                        </a:rPr>
                        <a:t>Rewards</a:t>
                      </a:r>
                    </a:p>
                  </a:txBody>
                  <a:tcPr marL="45720" marR="109728" marT="27432" marB="27432" anchor="ctr">
                    <a:lnB w="9525" cap="flat" cmpd="sng" algn="ctr">
                      <a:solidFill>
                        <a:srgbClr val="DCE3D6"/>
                      </a:solidFill>
                    </a:lnB>
                    <a:solidFill>
                      <a:srgbClr val="FFFFFF"/>
                    </a:solidFill>
                  </a:tcPr>
                </a:tc>
                <a:tc>
                  <a:txBody>
                    <a:bodyPr wrap="square"/>
                    <a:lstStyle/>
                    <a:p>
                      <a:r>
                        <a:rPr sz="700" b="0">
                          <a:solidFill>
                            <a:srgbClr val="26301F"/>
                          </a:solidFill>
                          <a:latin typeface="Segoe UI"/>
                        </a:rPr>
                        <a:t>The streak ladder with unlock states, points balance and the retail partner grid</a:t>
                      </a:r>
                    </a:p>
                  </a:txBody>
                  <a:tcPr marL="45720" marR="109728" marT="27432" marB="27432" anchor="ctr">
                    <a:lnB w="9525" cap="flat" cmpd="sng" algn="ctr">
                      <a:solidFill>
                        <a:srgbClr val="DCE3D6"/>
                      </a:solidFill>
                    </a:lnB>
                    <a:solidFill>
                      <a:srgbClr val="FFFFFF"/>
                    </a:solidFill>
                  </a:tcPr>
                </a:tc>
              </a:tr>
              <a:tr h="243034">
                <a:tc>
                  <a:txBody>
                    <a:bodyPr wrap="square"/>
                    <a:lstStyle/>
                    <a:p>
                      <a:r>
                        <a:rPr sz="700" b="0">
                          <a:solidFill>
                            <a:srgbClr val="26301F"/>
                          </a:solidFill>
                          <a:latin typeface="Segoe UI"/>
                        </a:rPr>
                        <a:t>Marketplace</a:t>
                      </a:r>
                    </a:p>
                  </a:txBody>
                  <a:tcPr marL="45720" marR="109728" marT="27432" marB="27432" anchor="ctr">
                    <a:lnB w="9525" cap="flat" cmpd="sng" algn="ctr">
                      <a:solidFill>
                        <a:srgbClr val="DCE3D6"/>
                      </a:solidFill>
                    </a:lnB>
                    <a:solidFill>
                      <a:srgbClr val="FFFFFF"/>
                    </a:solidFill>
                  </a:tcPr>
                </a:tc>
                <a:tc>
                  <a:txBody>
                    <a:bodyPr wrap="square"/>
                    <a:lstStyle/>
                    <a:p>
                      <a:r>
                        <a:rPr sz="700" b="0">
                          <a:solidFill>
                            <a:srgbClr val="26301F"/>
                          </a:solidFill>
                          <a:latin typeface="Segoe UI"/>
                        </a:rPr>
                        <a:t>Listing, bidding and acceptance, premium capped as a share of the payout, with commission</a:t>
                      </a:r>
                    </a:p>
                  </a:txBody>
                  <a:tcPr marL="45720" marR="109728" marT="27432" marB="27432" anchor="ctr">
                    <a:lnB w="9525" cap="flat" cmpd="sng" algn="ctr">
                      <a:solidFill>
                        <a:srgbClr val="DCE3D6"/>
                      </a:solidFill>
                    </a:lnB>
                    <a:solidFill>
                      <a:srgbClr val="FFFFFF"/>
                    </a:solidFill>
                  </a:tcPr>
                </a:tc>
              </a:tr>
            </a:tbl>
          </a:graphicData>
        </a:graphic>
      </p:graphicFrame>
    </p:spTree>
  </p:cSld>
  <p:clrMapOvr>
    <a:masterClrMapping/>
  </p:clrMapOvr>
</p:sld>
</file>

<file path=ppt/slides/slide7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384048" cy="6858000"/>
          </a:xfrm>
          <a:prstGeom prst="rect">
            <a:avLst/>
          </a:prstGeom>
          <a:solidFill>
            <a:srgbClr val="6DC72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777240" y="2286000"/>
            <a:ext cx="9875520" cy="1371600"/>
          </a:xfrm>
          <a:prstGeom prst="rect">
            <a:avLst/>
          </a:prstGeom>
          <a:noFill/>
        </p:spPr>
        <p:txBody>
          <a:bodyPr wrap="square" lIns="0" rIns="0" tIns="0" bIns="0">
            <a:spAutoFit/>
          </a:bodyPr>
          <a:lstStyle/>
          <a:p>
            <a:pPr algn="l">
              <a:lnSpc>
                <a:spcPct val="135000"/>
              </a:lnSpc>
            </a:pPr>
            <a:r>
              <a:rPr sz="2500" b="1" i="0">
                <a:solidFill>
                  <a:srgbClr val="0C1408"/>
                </a:solidFill>
                <a:latin typeface="Segoe UI"/>
              </a:rPr>
              <a:t>The arrangement is a thousand years old.</a:t>
            </a:r>
          </a:p>
          <a:p>
            <a:pPr algn="l">
              <a:lnSpc>
                <a:spcPct val="135000"/>
              </a:lnSpc>
              <a:spcBef>
                <a:spcPts val="0"/>
              </a:spcBef>
            </a:pPr>
            <a:r>
              <a:rPr sz="2500" b="1" i="0">
                <a:solidFill>
                  <a:srgbClr val="0C1408"/>
                </a:solidFill>
                <a:latin typeface="Segoe UI"/>
              </a:rPr>
              <a:t>The participants number in the tens of millions.</a:t>
            </a:r>
          </a:p>
          <a:p>
            <a:pPr algn="l">
              <a:lnSpc>
                <a:spcPct val="135000"/>
              </a:lnSpc>
              <a:spcBef>
                <a:spcPts val="0"/>
              </a:spcBef>
            </a:pPr>
            <a:r>
              <a:rPr sz="2500" b="1" i="0">
                <a:solidFill>
                  <a:srgbClr val="0C1408"/>
                </a:solidFill>
                <a:latin typeface="Segoe UI"/>
              </a:rPr>
              <a:t>The money is already moving.</a:t>
            </a:r>
          </a:p>
        </p:txBody>
      </p:sp>
      <p:sp>
        <p:nvSpPr>
          <p:cNvPr id="4" name="Rectangle 3"/>
          <p:cNvSpPr/>
          <p:nvPr/>
        </p:nvSpPr>
        <p:spPr>
          <a:xfrm>
            <a:off x="777240" y="4206240"/>
            <a:ext cx="1371600" cy="22860"/>
          </a:xfrm>
          <a:prstGeom prst="rect">
            <a:avLst/>
          </a:prstGeom>
          <a:solidFill>
            <a:srgbClr val="6DC72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777240" y="4526280"/>
            <a:ext cx="9601200" cy="640080"/>
          </a:xfrm>
          <a:prstGeom prst="rect">
            <a:avLst/>
          </a:prstGeom>
          <a:noFill/>
        </p:spPr>
        <p:txBody>
          <a:bodyPr wrap="square" lIns="0" rIns="0" tIns="0" bIns="0">
            <a:spAutoFit/>
          </a:bodyPr>
          <a:lstStyle/>
          <a:p>
            <a:pPr algn="l">
              <a:lnSpc>
                <a:spcPct val="135000"/>
              </a:lnSpc>
            </a:pPr>
            <a:r>
              <a:rPr sz="1700" b="1" i="0">
                <a:solidFill>
                  <a:srgbClr val="41801A"/>
                </a:solidFill>
                <a:latin typeface="Segoe UI"/>
              </a:rPr>
              <a:t>What has never existed is the record, and everything in this document is built to produce one.</a:t>
            </a:r>
          </a:p>
        </p:txBody>
      </p:sp>
      <p:sp>
        <p:nvSpPr>
          <p:cNvPr id="6" name="TextBox 5"/>
          <p:cNvSpPr txBox="1"/>
          <p:nvPr/>
        </p:nvSpPr>
        <p:spPr>
          <a:xfrm>
            <a:off x="777240" y="5760720"/>
            <a:ext cx="7315200" cy="274320"/>
          </a:xfrm>
          <a:prstGeom prst="rect">
            <a:avLst/>
          </a:prstGeom>
          <a:noFill/>
        </p:spPr>
        <p:txBody>
          <a:bodyPr wrap="square" lIns="0" rIns="0" tIns="0" bIns="0">
            <a:spAutoFit/>
          </a:bodyPr>
          <a:lstStyle/>
          <a:p>
            <a:pPr algn="l">
              <a:lnSpc>
                <a:spcPct val="125000"/>
              </a:lnSpc>
            </a:pPr>
            <a:r>
              <a:rPr sz="1100" b="0" i="0">
                <a:solidFill>
                  <a:srgbClr val="6F7B68"/>
                </a:solidFill>
                <a:latin typeface="Segoe UI"/>
              </a:rPr>
              <a:t>Halqa        13 August 2026        Confidential</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