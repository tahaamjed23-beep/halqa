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6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2148840" y="2171700"/>
            <a:ext cx="0" cy="36576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2434590" y="2297269"/>
            <a:ext cx="182880" cy="316757"/>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2643773" y="2640330"/>
            <a:ext cx="316757" cy="18288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2720340" y="3108960"/>
            <a:ext cx="365760" cy="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643773" y="3394710"/>
            <a:ext cx="316757" cy="18288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2434590" y="3603893"/>
            <a:ext cx="182880" cy="316757"/>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148840" y="3680460"/>
            <a:ext cx="0" cy="36576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680210" y="3603893"/>
            <a:ext cx="182880" cy="316757"/>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337149" y="3394710"/>
            <a:ext cx="316757" cy="18288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11580" y="3108960"/>
            <a:ext cx="502920" cy="0"/>
          </a:xfrm>
          <a:prstGeom prst="line">
            <a:avLst/>
          </a:prstGeom>
          <a:ln w="28575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977639" y="2084831"/>
            <a:ext cx="7315200" cy="822960"/>
          </a:xfrm>
          <a:prstGeom prst="rect">
            <a:avLst/>
          </a:prstGeom>
          <a:noFill/>
        </p:spPr>
        <p:txBody>
          <a:bodyPr wrap="square" lIns="0" rIns="0" tIns="0" bIns="0" anchor="t">
            <a:spAutoFit/>
          </a:bodyPr>
          <a:lstStyle/>
          <a:p>
            <a:pPr algn="l">
              <a:lnSpc>
                <a:spcPct val="100000"/>
              </a:lnSpc>
              <a:spcAft>
                <a:spcPts val="400"/>
              </a:spcAft>
            </a:pPr>
            <a:r>
              <a:rPr sz="5400" b="0" i="0" spc="800">
                <a:solidFill>
                  <a:srgbClr val="F6F1E4"/>
                </a:solidFill>
                <a:latin typeface="Georgia"/>
              </a:rPr>
              <a:t>HALQA</a:t>
            </a:r>
          </a:p>
        </p:txBody>
      </p:sp>
      <p:cxnSp>
        <p:nvCxnSpPr>
          <p:cNvPr id="15" name="Connector 14"/>
          <p:cNvCxnSpPr/>
          <p:nvPr/>
        </p:nvCxnSpPr>
        <p:spPr>
          <a:xfrm>
            <a:off x="4023360" y="2944368"/>
            <a:ext cx="1828800" cy="0"/>
          </a:xfrm>
          <a:prstGeom prst="line">
            <a:avLst/>
          </a:prstGeom>
          <a:ln w="304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023360" y="3154680"/>
            <a:ext cx="7498079" cy="548640"/>
          </a:xfrm>
          <a:prstGeom prst="rect">
            <a:avLst/>
          </a:prstGeom>
          <a:noFill/>
        </p:spPr>
        <p:txBody>
          <a:bodyPr wrap="square" lIns="0" rIns="0" tIns="0" bIns="0" anchor="t">
            <a:spAutoFit/>
          </a:bodyPr>
          <a:lstStyle/>
          <a:p>
            <a:pPr algn="l">
              <a:lnSpc>
                <a:spcPct val="100000"/>
              </a:lnSpc>
              <a:spcAft>
                <a:spcPts val="400"/>
              </a:spcAft>
            </a:pPr>
            <a:r>
              <a:rPr sz="2300" b="0" i="0">
                <a:solidFill>
                  <a:srgbClr val="F6F1E4"/>
                </a:solidFill>
                <a:latin typeface="Georgia"/>
              </a:rPr>
              <a:t>The complete position</a:t>
            </a:r>
          </a:p>
        </p:txBody>
      </p:sp>
      <p:sp>
        <p:nvSpPr>
          <p:cNvPr id="17" name="TextBox 16"/>
          <p:cNvSpPr txBox="1"/>
          <p:nvPr/>
        </p:nvSpPr>
        <p:spPr>
          <a:xfrm>
            <a:off x="4023360" y="3703320"/>
            <a:ext cx="7315200" cy="1280160"/>
          </a:xfrm>
          <a:prstGeom prst="rect">
            <a:avLst/>
          </a:prstGeom>
          <a:noFill/>
        </p:spPr>
        <p:txBody>
          <a:bodyPr wrap="square" lIns="0" rIns="0" tIns="0" bIns="0" anchor="t">
            <a:spAutoFit/>
          </a:bodyPr>
          <a:lstStyle/>
          <a:p>
            <a:pPr algn="l">
              <a:lnSpc>
                <a:spcPct val="115000"/>
              </a:lnSpc>
              <a:spcAft>
                <a:spcPts val="500"/>
              </a:spcAft>
            </a:pPr>
            <a:r>
              <a:rPr sz="1260" b="0" i="0">
                <a:solidFill>
                  <a:srgbClr val="C8D4CC"/>
                </a:solidFill>
                <a:latin typeface="Arial"/>
              </a:rPr>
              <a:t>Apni committee, apnay log. Hisaab humara.</a:t>
            </a:r>
          </a:p>
          <a:p>
            <a:pPr algn="l">
              <a:lnSpc>
                <a:spcPct val="115000"/>
              </a:lnSpc>
              <a:spcAft>
                <a:spcPts val="500"/>
              </a:spcAft>
            </a:pPr>
            <a:r>
              <a:rPr sz="1260" b="0" i="0">
                <a:solidFill>
                  <a:srgbClr val="C8D4CC"/>
                </a:solidFill>
                <a:latin typeface="Arial"/>
              </a:rPr>
              <a:t>Your committee. Your people. We keep the record — and we never hold your money.</a:t>
            </a:r>
          </a:p>
        </p:txBody>
      </p:sp>
      <p:cxnSp>
        <p:nvCxnSpPr>
          <p:cNvPr id="18" name="Connector 17"/>
          <p:cNvCxnSpPr/>
          <p:nvPr/>
        </p:nvCxnSpPr>
        <p:spPr>
          <a:xfrm>
            <a:off x="4023360" y="4590288"/>
            <a:ext cx="6949440" cy="0"/>
          </a:xfrm>
          <a:prstGeom prst="line">
            <a:avLst/>
          </a:prstGeom>
          <a:ln w="9525">
            <a:solidFill>
              <a:srgbClr val="1B5140"/>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23360" y="4736592"/>
            <a:ext cx="7315200" cy="548640"/>
          </a:xfrm>
          <a:prstGeom prst="rect">
            <a:avLst/>
          </a:prstGeom>
          <a:noFill/>
        </p:spPr>
        <p:txBody>
          <a:bodyPr wrap="square" lIns="0" rIns="0" tIns="0" bIns="0" anchor="t">
            <a:spAutoFit/>
          </a:bodyPr>
          <a:lstStyle/>
          <a:p>
            <a:pPr algn="l">
              <a:lnSpc>
                <a:spcPct val="100000"/>
              </a:lnSpc>
              <a:spcAft>
                <a:spcPts val="400"/>
              </a:spcAft>
            </a:pPr>
            <a:r>
              <a:rPr sz="1040" b="0" i="0">
                <a:solidFill>
                  <a:srgbClr val="9AA39C"/>
                </a:solidFill>
                <a:latin typeface="Arial"/>
              </a:rPr>
              <a:t>9 August 2026   ·   Prepared for the chairman   ·   Internal and counterparty use</a:t>
            </a:r>
          </a:p>
        </p:txBody>
      </p:sp>
      <p:sp>
        <p:nvSpPr>
          <p:cNvPr id="20" name="TextBox 19"/>
          <p:cNvSpPr txBox="1"/>
          <p:nvPr/>
        </p:nvSpPr>
        <p:spPr>
          <a:xfrm>
            <a:off x="566928" y="6291072"/>
            <a:ext cx="8229600" cy="274320"/>
          </a:xfrm>
          <a:prstGeom prst="rect">
            <a:avLst/>
          </a:prstGeom>
          <a:noFill/>
        </p:spPr>
        <p:txBody>
          <a:bodyPr wrap="square" lIns="0" rIns="0" tIns="0" bIns="0" anchor="t">
            <a:spAutoFit/>
          </a:bodyPr>
          <a:lstStyle/>
          <a:p>
            <a:pPr algn="l">
              <a:lnSpc>
                <a:spcPct val="100000"/>
              </a:lnSpc>
              <a:spcAft>
                <a:spcPts val="400"/>
              </a:spcAft>
            </a:pPr>
            <a:r>
              <a:rPr sz="960" b="0" i="0">
                <a:solidFill>
                  <a:srgbClr val="9AA39C"/>
                </a:solidFill>
                <a:latin typeface="Arial"/>
              </a:rPr>
              <a:t>Every claim in this deck carries a provenance mark and a stage tag. The next page explains both.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READING THIS DECK</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Provenance and stage tags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Nothing here is stated without saying how strongly it is known and what it depends on.</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a:t>
            </a:r>
          </a:p>
        </p:txBody>
      </p:sp>
      <p:sp>
        <p:nvSpPr>
          <p:cNvPr id="18" name="TextBox 17"/>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   The two marks used throughout</a:t>
            </a:r>
          </a:p>
        </p:txBody>
      </p:sp>
      <p:graphicFrame>
        <p:nvGraphicFramePr>
          <p:cNvPr id="19" name="Table 18"/>
          <p:cNvGraphicFramePr>
            <a:graphicFrameLocks noGrp="1"/>
          </p:cNvGraphicFramePr>
          <p:nvPr/>
        </p:nvGraphicFramePr>
        <p:xfrm>
          <a:off x="566928" y="1783080"/>
          <a:ext cx="5486400" cy="1543872"/>
        </p:xfrm>
        <a:graphic>
          <a:graphicData uri="http://schemas.openxmlformats.org/drawingml/2006/table">
            <a:tbl>
              <a:tblPr>
                <a:tableStyleId>{5C22544A-7EE6-4342-B048-85BDC9FD1C3A}</a:tableStyleId>
              </a:tblPr>
              <a:tblGrid>
                <a:gridCol w="1426464"/>
                <a:gridCol w="4059936"/>
              </a:tblGrid>
              <a:tr h="391728">
                <a:tc>
                  <a:txBody>
                    <a:bodyPr wrap="square"/>
                    <a:lstStyle/>
                    <a:p>
                      <a:pPr algn="l"/>
                      <a:r>
                        <a:rPr sz="960" b="1">
                          <a:solidFill>
                            <a:srgbClr val="F6F1E4"/>
                          </a:solidFill>
                          <a:latin typeface="Arial"/>
                        </a:rPr>
                        <a:t>Provenance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Meaning</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84048">
                <a:tc>
                  <a:txBody>
                    <a:bodyPr wrap="square"/>
                    <a:lstStyle/>
                    <a:p>
                      <a:pPr algn="l"/>
                      <a:r>
                        <a:rPr sz="1019" b="0">
                          <a:solidFill>
                            <a:srgbClr val="0E1512"/>
                          </a:solidFill>
                          <a:latin typeface="Arial"/>
                        </a:rPr>
                        <a:t>verified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We ran it. A test, a query, a document read in full.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84048">
                <a:tc>
                  <a:txBody>
                    <a:bodyPr wrap="square"/>
                    <a:lstStyle/>
                    <a:p>
                      <a:pPr algn="l"/>
                      <a:r>
                        <a:rPr sz="1019" b="0">
                          <a:solidFill>
                            <a:srgbClr val="0E1512"/>
                          </a:solidFill>
                          <a:latin typeface="Arial"/>
                        </a:rPr>
                        <a:t>modelled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Simulation or arithmetic. Not measured in the world.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84048">
                <a:tc>
                  <a:txBody>
                    <a:bodyPr wrap="square"/>
                    <a:lstStyle/>
                    <a:p>
                      <a:pPr algn="l"/>
                      <a:r>
                        <a:rPr sz="1019" b="0">
                          <a:solidFill>
                            <a:srgbClr val="0E1512"/>
                          </a:solidFill>
                          <a:latin typeface="Arial"/>
                        </a:rPr>
                        <a:t>reported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A third party said it. Press, company claim, or paper.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graphicFrame>
        <p:nvGraphicFramePr>
          <p:cNvPr id="20" name="Table 19"/>
          <p:cNvGraphicFramePr>
            <a:graphicFrameLocks noGrp="1"/>
          </p:cNvGraphicFramePr>
          <p:nvPr/>
        </p:nvGraphicFramePr>
        <p:xfrm>
          <a:off x="6419088" y="1783080"/>
          <a:ext cx="5166360" cy="1560697"/>
        </p:xfrm>
        <a:graphic>
          <a:graphicData uri="http://schemas.openxmlformats.org/drawingml/2006/table">
            <a:tbl>
              <a:tblPr>
                <a:tableStyleId>{5C22544A-7EE6-4342-B048-85BDC9FD1C3A}</a:tableStyleId>
              </a:tblPr>
              <a:tblGrid>
                <a:gridCol w="1549908"/>
                <a:gridCol w="3616452"/>
              </a:tblGrid>
              <a:tr h="317113">
                <a:tc>
                  <a:txBody>
                    <a:bodyPr wrap="square"/>
                    <a:lstStyle/>
                    <a:p>
                      <a:pPr algn="l"/>
                      <a:r>
                        <a:rPr sz="960" b="1">
                          <a:solidFill>
                            <a:srgbClr val="F6F1E4"/>
                          </a:solidFill>
                          <a:latin typeface="Arial"/>
                        </a:rPr>
                        <a:t>Stage tag</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What it needs</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19" b="0">
                          <a:solidFill>
                            <a:srgbClr val="0E1512"/>
                          </a:solidFill>
                          <a:latin typeface="Arial"/>
                        </a:rPr>
                        <a:t>FUNCTIONAL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Works today. Record-only. No licence.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19" b="0">
                          <a:solidFill>
                            <a:srgbClr val="0E1512"/>
                          </a:solidFill>
                          <a:latin typeface="Arial"/>
                        </a:rPr>
                        <a:t>BUILD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Specified. Buildable now with no external gate.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19" b="0">
                          <a:solidFill>
                            <a:srgbClr val="0E1512"/>
                          </a:solidFill>
                          <a:latin typeface="Arial"/>
                        </a:rPr>
                        <a:t>GATE-2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Needs the payment merchant agreement.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19" b="0">
                          <a:solidFill>
                            <a:srgbClr val="0E1512"/>
                          </a:solidFill>
                          <a:latin typeface="Arial"/>
                        </a:rPr>
                        <a:t>STAGE-2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Needs the CDC trustee and AMC structure.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cxnSp>
        <p:nvCxnSpPr>
          <p:cNvPr id="21" name="Connector 20"/>
          <p:cNvCxnSpPr/>
          <p:nvPr/>
        </p:nvCxnSpPr>
        <p:spPr>
          <a:xfrm>
            <a:off x="566928" y="3977639"/>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88414"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409901"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331387"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252874"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74360"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95847"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017334"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938820"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60307"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781793" y="3895343"/>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703280" y="3895343"/>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4206240"/>
            <a:ext cx="10607040" cy="1097280"/>
          </a:xfrm>
          <a:prstGeom prst="rect">
            <a:avLst/>
          </a:prstGeom>
          <a:noFill/>
        </p:spPr>
        <p:txBody>
          <a:bodyPr wrap="square" lIns="0" rIns="0" tIns="0" bIns="0" anchor="t">
            <a:spAutoFit/>
          </a:bodyPr>
          <a:lstStyle/>
          <a:p>
            <a:pPr algn="l">
              <a:lnSpc>
                <a:spcPct val="100000"/>
              </a:lnSpc>
              <a:spcAft>
                <a:spcPts val="400"/>
              </a:spcAft>
            </a:pPr>
            <a:r>
              <a:rPr sz="1550" b="0" i="0">
                <a:solidFill>
                  <a:srgbClr val="123D30"/>
                </a:solidFill>
                <a:latin typeface="Georgia"/>
              </a:rPr>
              <a:t>The single fact this deck is built on</a:t>
            </a:r>
          </a:p>
        </p:txBody>
      </p:sp>
      <p:sp>
        <p:nvSpPr>
          <p:cNvPr id="34" name="Rectangle 33"/>
          <p:cNvSpPr/>
          <p:nvPr/>
        </p:nvSpPr>
        <p:spPr>
          <a:xfrm>
            <a:off x="566928" y="4590288"/>
            <a:ext cx="45720" cy="11887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95528" y="4617720"/>
            <a:ext cx="10424160" cy="1188720"/>
          </a:xfrm>
          <a:prstGeom prst="rect">
            <a:avLst/>
          </a:prstGeom>
          <a:noFill/>
        </p:spPr>
        <p:txBody>
          <a:bodyPr wrap="square" lIns="0" rIns="0" tIns="0" bIns="0" anchor="t">
            <a:spAutoFit/>
          </a:bodyPr>
          <a:lstStyle/>
          <a:p>
            <a:pPr algn="l">
              <a:lnSpc>
                <a:spcPct val="125000"/>
              </a:lnSpc>
              <a:spcAft>
                <a:spcPts val="400"/>
              </a:spcAft>
            </a:pPr>
            <a:r>
              <a:rPr sz="1260" b="0" i="0">
                <a:solidFill>
                  <a:srgbClr val="0E1512"/>
                </a:solidFill>
                <a:latin typeface="Arial"/>
              </a:rPr>
              <a:t>Halqa never takes possession of member money. Contributions settle payer to recipient over Pakistan’s own rails. Halqa observes the settlement and writes it to a double-entry ledger. That is the whole relationship between this company and the money — at every planned stage, including the second, where savings sit with a licensed trustee in the member’s own name.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CONTENTS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What is in this deck</a:t>
            </a:r>
          </a:p>
        </p:txBody>
      </p:sp>
      <p:cxnSp>
        <p:nvCxnSpPr>
          <p:cNvPr id="5" name="Connector 4"/>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6" name="TextBox 15"/>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a:t>
            </a:r>
          </a:p>
        </p:txBody>
      </p:sp>
      <p:cxnSp>
        <p:nvCxnSpPr>
          <p:cNvPr id="17" name="Connector 16"/>
          <p:cNvCxnSpPr/>
          <p:nvPr/>
        </p:nvCxnSpPr>
        <p:spPr>
          <a:xfrm>
            <a:off x="566928" y="1481328"/>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66928" y="1600200"/>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01</a:t>
            </a:r>
          </a:p>
        </p:txBody>
      </p:sp>
      <p:sp>
        <p:nvSpPr>
          <p:cNvPr id="19" name="TextBox 18"/>
          <p:cNvSpPr txBox="1"/>
          <p:nvPr/>
        </p:nvSpPr>
        <p:spPr>
          <a:xfrm>
            <a:off x="1252728" y="1618488"/>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instrument and the market</a:t>
            </a:r>
          </a:p>
        </p:txBody>
      </p:sp>
      <p:sp>
        <p:nvSpPr>
          <p:cNvPr id="20" name="TextBox 19"/>
          <p:cNvSpPr txBox="1"/>
          <p:nvPr/>
        </p:nvSpPr>
        <p:spPr>
          <a:xfrm>
            <a:off x="5321808" y="1655064"/>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4C574F"/>
                </a:solidFill>
                <a:latin typeface="Arial"/>
              </a:rPr>
              <a:t>What a committee is, who runs one, and the arithmetic that governs the risk</a:t>
            </a:r>
          </a:p>
        </p:txBody>
      </p:sp>
      <p:cxnSp>
        <p:nvCxnSpPr>
          <p:cNvPr id="21" name="Connector 20"/>
          <p:cNvCxnSpPr/>
          <p:nvPr/>
        </p:nvCxnSpPr>
        <p:spPr>
          <a:xfrm>
            <a:off x="566928" y="2066544"/>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2185416"/>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02</a:t>
            </a:r>
          </a:p>
        </p:txBody>
      </p:sp>
      <p:sp>
        <p:nvSpPr>
          <p:cNvPr id="23" name="TextBox 22"/>
          <p:cNvSpPr txBox="1"/>
          <p:nvPr/>
        </p:nvSpPr>
        <p:spPr>
          <a:xfrm>
            <a:off x="1252728" y="2203704"/>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architecture</a:t>
            </a:r>
          </a:p>
        </p:txBody>
      </p:sp>
      <p:sp>
        <p:nvSpPr>
          <p:cNvPr id="24" name="TextBox 23"/>
          <p:cNvSpPr txBox="1"/>
          <p:nvPr/>
        </p:nvSpPr>
        <p:spPr>
          <a:xfrm>
            <a:off x="5321808" y="2240280"/>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4C574F"/>
                </a:solidFill>
                <a:latin typeface="Arial"/>
              </a:rPr>
              <a:t>No custody, and why that is a legal position rather than a slogan</a:t>
            </a:r>
          </a:p>
        </p:txBody>
      </p:sp>
      <p:cxnSp>
        <p:nvCxnSpPr>
          <p:cNvPr id="25" name="Connector 24"/>
          <p:cNvCxnSpPr/>
          <p:nvPr/>
        </p:nvCxnSpPr>
        <p:spPr>
          <a:xfrm>
            <a:off x="566928" y="2651760"/>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2770632"/>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03</a:t>
            </a:r>
          </a:p>
        </p:txBody>
      </p:sp>
      <p:sp>
        <p:nvSpPr>
          <p:cNvPr id="27" name="TextBox 26"/>
          <p:cNvSpPr txBox="1"/>
          <p:nvPr/>
        </p:nvSpPr>
        <p:spPr>
          <a:xfrm>
            <a:off x="1252728" y="2788920"/>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economics</a:t>
            </a:r>
          </a:p>
        </p:txBody>
      </p:sp>
      <p:sp>
        <p:nvSpPr>
          <p:cNvPr id="28" name="TextBox 27"/>
          <p:cNvSpPr txBox="1"/>
          <p:nvPr/>
        </p:nvSpPr>
        <p:spPr>
          <a:xfrm>
            <a:off x="5321808" y="2825496"/>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4C574F"/>
                </a:solidFill>
                <a:latin typeface="Arial"/>
              </a:rPr>
              <a:t>Members pay nothing. Where the money actually comes from</a:t>
            </a:r>
          </a:p>
        </p:txBody>
      </p:sp>
      <p:cxnSp>
        <p:nvCxnSpPr>
          <p:cNvPr id="29" name="Connector 28"/>
          <p:cNvCxnSpPr/>
          <p:nvPr/>
        </p:nvCxnSpPr>
        <p:spPr>
          <a:xfrm>
            <a:off x="566928" y="3236976"/>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3355848"/>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04</a:t>
            </a:r>
          </a:p>
        </p:txBody>
      </p:sp>
      <p:sp>
        <p:nvSpPr>
          <p:cNvPr id="31" name="TextBox 30"/>
          <p:cNvSpPr txBox="1"/>
          <p:nvPr/>
        </p:nvSpPr>
        <p:spPr>
          <a:xfrm>
            <a:off x="1252728" y="3374136"/>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product as built</a:t>
            </a:r>
          </a:p>
        </p:txBody>
      </p:sp>
      <p:sp>
        <p:nvSpPr>
          <p:cNvPr id="32" name="TextBox 31"/>
          <p:cNvSpPr txBox="1"/>
          <p:nvPr/>
        </p:nvSpPr>
        <p:spPr>
          <a:xfrm>
            <a:off x="5321808" y="3410712"/>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4C574F"/>
                </a:solidFill>
                <a:latin typeface="Arial"/>
              </a:rPr>
              <a:t>Everything shipped and running in production today</a:t>
            </a:r>
          </a:p>
        </p:txBody>
      </p:sp>
      <p:cxnSp>
        <p:nvCxnSpPr>
          <p:cNvPr id="33" name="Connector 32"/>
          <p:cNvCxnSpPr/>
          <p:nvPr/>
        </p:nvCxnSpPr>
        <p:spPr>
          <a:xfrm>
            <a:off x="566928" y="3822192"/>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3941064"/>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05</a:t>
            </a:r>
          </a:p>
        </p:txBody>
      </p:sp>
      <p:sp>
        <p:nvSpPr>
          <p:cNvPr id="35" name="TextBox 34"/>
          <p:cNvSpPr txBox="1"/>
          <p:nvPr/>
        </p:nvSpPr>
        <p:spPr>
          <a:xfrm>
            <a:off x="1252728" y="3959352"/>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What is specified next</a:t>
            </a:r>
          </a:p>
        </p:txBody>
      </p:sp>
      <p:sp>
        <p:nvSpPr>
          <p:cNvPr id="36" name="TextBox 35"/>
          <p:cNvSpPr txBox="1"/>
          <p:nvPr/>
        </p:nvSpPr>
        <p:spPr>
          <a:xfrm>
            <a:off x="5321808" y="3995928"/>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4C574F"/>
                </a:solidFill>
                <a:latin typeface="Arial"/>
              </a:rPr>
              <a:t>The discipline layer, and the features awaiting a ruling</a:t>
            </a:r>
          </a:p>
        </p:txBody>
      </p:sp>
      <p:cxnSp>
        <p:nvCxnSpPr>
          <p:cNvPr id="37" name="Connector 36"/>
          <p:cNvCxnSpPr/>
          <p:nvPr/>
        </p:nvCxnSpPr>
        <p:spPr>
          <a:xfrm>
            <a:off x="566928" y="4407408"/>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 y="4526280"/>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06</a:t>
            </a:r>
          </a:p>
        </p:txBody>
      </p:sp>
      <p:sp>
        <p:nvSpPr>
          <p:cNvPr id="39" name="TextBox 38"/>
          <p:cNvSpPr txBox="1"/>
          <p:nvPr/>
        </p:nvSpPr>
        <p:spPr>
          <a:xfrm>
            <a:off x="1252728" y="4544568"/>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evidence</a:t>
            </a:r>
          </a:p>
        </p:txBody>
      </p:sp>
      <p:sp>
        <p:nvSpPr>
          <p:cNvPr id="40" name="TextBox 39"/>
          <p:cNvSpPr txBox="1"/>
          <p:nvPr/>
        </p:nvSpPr>
        <p:spPr>
          <a:xfrm>
            <a:off x="5321808" y="4581144"/>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4C574F"/>
                </a:solidFill>
                <a:latin typeface="Arial"/>
              </a:rPr>
              <a:t>Twenty-five attempts in nine markets, reduced to six questions</a:t>
            </a:r>
          </a:p>
        </p:txBody>
      </p:sp>
      <p:cxnSp>
        <p:nvCxnSpPr>
          <p:cNvPr id="41" name="Connector 40"/>
          <p:cNvCxnSpPr/>
          <p:nvPr/>
        </p:nvCxnSpPr>
        <p:spPr>
          <a:xfrm>
            <a:off x="566928" y="4992624"/>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66928" y="5111496"/>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07</a:t>
            </a:r>
          </a:p>
        </p:txBody>
      </p:sp>
      <p:sp>
        <p:nvSpPr>
          <p:cNvPr id="43" name="TextBox 42"/>
          <p:cNvSpPr txBox="1"/>
          <p:nvPr/>
        </p:nvSpPr>
        <p:spPr>
          <a:xfrm>
            <a:off x="1252728" y="5129784"/>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regulatory position</a:t>
            </a:r>
          </a:p>
        </p:txBody>
      </p:sp>
      <p:sp>
        <p:nvSpPr>
          <p:cNvPr id="44" name="TextBox 43"/>
          <p:cNvSpPr txBox="1"/>
          <p:nvPr/>
        </p:nvSpPr>
        <p:spPr>
          <a:xfrm>
            <a:off x="5321808" y="5166360"/>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4C574F"/>
                </a:solidFill>
                <a:latin typeface="Arial"/>
              </a:rPr>
              <a:t>Three red lines, two gates, and the first-clean-actor move</a:t>
            </a:r>
          </a:p>
        </p:txBody>
      </p:sp>
      <p:cxnSp>
        <p:nvCxnSpPr>
          <p:cNvPr id="45" name="Connector 44"/>
          <p:cNvCxnSpPr/>
          <p:nvPr/>
        </p:nvCxnSpPr>
        <p:spPr>
          <a:xfrm>
            <a:off x="566928" y="5577840"/>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66928" y="5696712"/>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08</a:t>
            </a:r>
          </a:p>
        </p:txBody>
      </p:sp>
      <p:sp>
        <p:nvSpPr>
          <p:cNvPr id="47" name="TextBox 46"/>
          <p:cNvSpPr txBox="1"/>
          <p:nvPr/>
        </p:nvSpPr>
        <p:spPr>
          <a:xfrm>
            <a:off x="1252728" y="5715000"/>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State and plan</a:t>
            </a:r>
          </a:p>
        </p:txBody>
      </p:sp>
      <p:sp>
        <p:nvSpPr>
          <p:cNvPr id="48" name="TextBox 47"/>
          <p:cNvSpPr txBox="1"/>
          <p:nvPr/>
        </p:nvSpPr>
        <p:spPr>
          <a:xfrm>
            <a:off x="5321808" y="5751576"/>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4C574F"/>
                </a:solidFill>
                <a:latin typeface="Arial"/>
              </a:rPr>
              <a:t>Where this honestly is, what happens next, in order</a:t>
            </a:r>
          </a:p>
        </p:txBody>
      </p:sp>
      <p:cxnSp>
        <p:nvCxnSpPr>
          <p:cNvPr id="49" name="Connector 48"/>
          <p:cNvCxnSpPr/>
          <p:nvPr/>
        </p:nvCxnSpPr>
        <p:spPr>
          <a:xfrm>
            <a:off x="566928" y="6163056"/>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D9A93C"/>
                </a:solidFill>
                <a:latin typeface="Georgia"/>
              </a:rPr>
              <a:t>01</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6F1E4"/>
                </a:solidFill>
                <a:latin typeface="Georgia"/>
              </a:rPr>
              <a:t>The instrument and the market</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A committee is a precise financial machine, not a folk custom.</a:t>
            </a:r>
          </a:p>
          <a:p>
            <a:pPr algn="l">
              <a:lnSpc>
                <a:spcPct val="100000"/>
              </a:lnSpc>
              <a:spcAft>
                <a:spcPts val="600"/>
              </a:spcAft>
            </a:pPr>
            <a:r>
              <a:rPr sz="1240" b="0" i="0">
                <a:solidFill>
                  <a:srgbClr val="C8D4CC"/>
                </a:solidFill>
                <a:latin typeface="Arial"/>
              </a:rPr>
              <a:t>Its risk is not spread evenly — it is concentrated entirely in the early seats.</a:t>
            </a:r>
          </a:p>
          <a:p>
            <a:pPr algn="l">
              <a:lnSpc>
                <a:spcPct val="100000"/>
              </a:lnSpc>
              <a:spcAft>
                <a:spcPts val="600"/>
              </a:spcAft>
            </a:pPr>
            <a:r>
              <a:rPr sz="1240" b="0" i="0">
                <a:solidFill>
                  <a:srgbClr val="C8D4CC"/>
                </a:solidFill>
                <a:latin typeface="Arial"/>
              </a:rPr>
              <a:t>Roughly Rs 4 trillion rotates through it every year in Pakistan.</a:t>
            </a:r>
          </a:p>
        </p:txBody>
      </p:sp>
      <p:cxnSp>
        <p:nvCxnSpPr>
          <p:cNvPr id="7" name="Connector 6"/>
          <p:cNvCxnSpPr/>
          <p:nvPr/>
        </p:nvCxnSpPr>
        <p:spPr>
          <a:xfrm>
            <a:off x="2697480"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01 · THE INSTRUMENT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A committee is two financial products fused into one schedule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n members · each pays c every period · each period one member collects the whole pot n × c · after n periods everyone has paid the same and collected exactly once.</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5</a:t>
            </a:r>
          </a:p>
        </p:txBody>
      </p:sp>
      <p:sp>
        <p:nvSpPr>
          <p:cNvPr id="18" name="TextBox 17"/>
          <p:cNvSpPr txBox="1"/>
          <p:nvPr/>
        </p:nvSpPr>
        <p:spPr>
          <a:xfrm>
            <a:off x="566928" y="1737360"/>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   Three rounds of a 12-member circle. The gold cell collects.</a:t>
            </a:r>
          </a:p>
        </p:txBody>
      </p:sp>
      <p:sp>
        <p:nvSpPr>
          <p:cNvPr id="19" name="TextBox 18"/>
          <p:cNvSpPr txBox="1"/>
          <p:nvPr/>
        </p:nvSpPr>
        <p:spPr>
          <a:xfrm>
            <a:off x="548640" y="2066544"/>
            <a:ext cx="82296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4C574F"/>
                </a:solidFill>
                <a:latin typeface="Arial"/>
              </a:rPr>
              <a:t>Round 1</a:t>
            </a:r>
          </a:p>
        </p:txBody>
      </p:sp>
      <p:sp>
        <p:nvSpPr>
          <p:cNvPr id="20" name="Rectangle 19"/>
          <p:cNvSpPr/>
          <p:nvPr/>
        </p:nvSpPr>
        <p:spPr>
          <a:xfrm>
            <a:off x="1435608" y="1956816"/>
            <a:ext cx="749808" cy="402336"/>
          </a:xfrm>
          <a:prstGeom prst="rect">
            <a:avLst/>
          </a:prstGeom>
          <a:solidFill>
            <a:srgbClr val="D9A93C"/>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435608" y="2057400"/>
            <a:ext cx="749808" cy="274320"/>
          </a:xfrm>
          <a:prstGeom prst="rect">
            <a:avLst/>
          </a:prstGeom>
          <a:noFill/>
        </p:spPr>
        <p:txBody>
          <a:bodyPr wrap="square" lIns="0" rIns="0" tIns="0" bIns="0" anchor="t">
            <a:spAutoFit/>
          </a:bodyPr>
          <a:lstStyle/>
          <a:p>
            <a:pPr algn="ctr">
              <a:lnSpc>
                <a:spcPct val="100000"/>
              </a:lnSpc>
              <a:spcAft>
                <a:spcPts val="400"/>
              </a:spcAft>
            </a:pPr>
            <a:r>
              <a:rPr sz="819" b="1" i="0">
                <a:solidFill>
                  <a:srgbClr val="07160F"/>
                </a:solidFill>
                <a:latin typeface="Arial"/>
              </a:rPr>
              <a:t>collects</a:t>
            </a:r>
          </a:p>
        </p:txBody>
      </p:sp>
      <p:sp>
        <p:nvSpPr>
          <p:cNvPr id="22" name="Rectangle 21"/>
          <p:cNvSpPr/>
          <p:nvPr/>
        </p:nvSpPr>
        <p:spPr>
          <a:xfrm>
            <a:off x="2221992"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21992"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24" name="Rectangle 23"/>
          <p:cNvSpPr/>
          <p:nvPr/>
        </p:nvSpPr>
        <p:spPr>
          <a:xfrm>
            <a:off x="3008376"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008376"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26" name="Rectangle 25"/>
          <p:cNvSpPr/>
          <p:nvPr/>
        </p:nvSpPr>
        <p:spPr>
          <a:xfrm>
            <a:off x="3794760"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794760"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28" name="Rectangle 27"/>
          <p:cNvSpPr/>
          <p:nvPr/>
        </p:nvSpPr>
        <p:spPr>
          <a:xfrm>
            <a:off x="4581144"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81144"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30" name="Rectangle 29"/>
          <p:cNvSpPr/>
          <p:nvPr/>
        </p:nvSpPr>
        <p:spPr>
          <a:xfrm>
            <a:off x="5367528"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367528"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32" name="Rectangle 31"/>
          <p:cNvSpPr/>
          <p:nvPr/>
        </p:nvSpPr>
        <p:spPr>
          <a:xfrm>
            <a:off x="6153912"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153912"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34" name="Rectangle 33"/>
          <p:cNvSpPr/>
          <p:nvPr/>
        </p:nvSpPr>
        <p:spPr>
          <a:xfrm>
            <a:off x="6940296"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40296"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36" name="Rectangle 35"/>
          <p:cNvSpPr/>
          <p:nvPr/>
        </p:nvSpPr>
        <p:spPr>
          <a:xfrm>
            <a:off x="7726680"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726680"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38" name="Rectangle 37"/>
          <p:cNvSpPr/>
          <p:nvPr/>
        </p:nvSpPr>
        <p:spPr>
          <a:xfrm>
            <a:off x="8513064"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513064"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40" name="Rectangle 39"/>
          <p:cNvSpPr/>
          <p:nvPr/>
        </p:nvSpPr>
        <p:spPr>
          <a:xfrm>
            <a:off x="9299448"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299448"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42" name="Rectangle 41"/>
          <p:cNvSpPr/>
          <p:nvPr/>
        </p:nvSpPr>
        <p:spPr>
          <a:xfrm>
            <a:off x="10085832" y="1956816"/>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085832"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44" name="TextBox 43"/>
          <p:cNvSpPr txBox="1"/>
          <p:nvPr/>
        </p:nvSpPr>
        <p:spPr>
          <a:xfrm>
            <a:off x="548640" y="2542032"/>
            <a:ext cx="82296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4C574F"/>
                </a:solidFill>
                <a:latin typeface="Arial"/>
              </a:rPr>
              <a:t>Round 2</a:t>
            </a:r>
          </a:p>
        </p:txBody>
      </p:sp>
      <p:sp>
        <p:nvSpPr>
          <p:cNvPr id="45" name="Rectangle 44"/>
          <p:cNvSpPr/>
          <p:nvPr/>
        </p:nvSpPr>
        <p:spPr>
          <a:xfrm>
            <a:off x="1435608"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435608"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47" name="Rectangle 46"/>
          <p:cNvSpPr/>
          <p:nvPr/>
        </p:nvSpPr>
        <p:spPr>
          <a:xfrm>
            <a:off x="2221992" y="2432304"/>
            <a:ext cx="749808" cy="402336"/>
          </a:xfrm>
          <a:prstGeom prst="rect">
            <a:avLst/>
          </a:prstGeom>
          <a:solidFill>
            <a:srgbClr val="D9A93C"/>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2221992" y="2532888"/>
            <a:ext cx="749808" cy="274320"/>
          </a:xfrm>
          <a:prstGeom prst="rect">
            <a:avLst/>
          </a:prstGeom>
          <a:noFill/>
        </p:spPr>
        <p:txBody>
          <a:bodyPr wrap="square" lIns="0" rIns="0" tIns="0" bIns="0" anchor="t">
            <a:spAutoFit/>
          </a:bodyPr>
          <a:lstStyle/>
          <a:p>
            <a:pPr algn="ctr">
              <a:lnSpc>
                <a:spcPct val="100000"/>
              </a:lnSpc>
              <a:spcAft>
                <a:spcPts val="400"/>
              </a:spcAft>
            </a:pPr>
            <a:r>
              <a:rPr sz="819" b="1" i="0">
                <a:solidFill>
                  <a:srgbClr val="07160F"/>
                </a:solidFill>
                <a:latin typeface="Arial"/>
              </a:rPr>
              <a:t>collects</a:t>
            </a:r>
          </a:p>
        </p:txBody>
      </p:sp>
      <p:sp>
        <p:nvSpPr>
          <p:cNvPr id="49" name="Rectangle 48"/>
          <p:cNvSpPr/>
          <p:nvPr/>
        </p:nvSpPr>
        <p:spPr>
          <a:xfrm>
            <a:off x="3008376"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3008376"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51" name="Rectangle 50"/>
          <p:cNvSpPr/>
          <p:nvPr/>
        </p:nvSpPr>
        <p:spPr>
          <a:xfrm>
            <a:off x="3794760"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794760"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53" name="Rectangle 52"/>
          <p:cNvSpPr/>
          <p:nvPr/>
        </p:nvSpPr>
        <p:spPr>
          <a:xfrm>
            <a:off x="4581144"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581144"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55" name="Rectangle 54"/>
          <p:cNvSpPr/>
          <p:nvPr/>
        </p:nvSpPr>
        <p:spPr>
          <a:xfrm>
            <a:off x="5367528"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367528"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57" name="Rectangle 56"/>
          <p:cNvSpPr/>
          <p:nvPr/>
        </p:nvSpPr>
        <p:spPr>
          <a:xfrm>
            <a:off x="6153912"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153912"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59" name="Rectangle 58"/>
          <p:cNvSpPr/>
          <p:nvPr/>
        </p:nvSpPr>
        <p:spPr>
          <a:xfrm>
            <a:off x="6940296"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940296"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61" name="Rectangle 60"/>
          <p:cNvSpPr/>
          <p:nvPr/>
        </p:nvSpPr>
        <p:spPr>
          <a:xfrm>
            <a:off x="7726680"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726680"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63" name="Rectangle 62"/>
          <p:cNvSpPr/>
          <p:nvPr/>
        </p:nvSpPr>
        <p:spPr>
          <a:xfrm>
            <a:off x="8513064"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513064"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65" name="Rectangle 64"/>
          <p:cNvSpPr/>
          <p:nvPr/>
        </p:nvSpPr>
        <p:spPr>
          <a:xfrm>
            <a:off x="9299448"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9299448"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67" name="Rectangle 66"/>
          <p:cNvSpPr/>
          <p:nvPr/>
        </p:nvSpPr>
        <p:spPr>
          <a:xfrm>
            <a:off x="10085832" y="2432304"/>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10085832"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69" name="TextBox 68"/>
          <p:cNvSpPr txBox="1"/>
          <p:nvPr/>
        </p:nvSpPr>
        <p:spPr>
          <a:xfrm>
            <a:off x="548640" y="3017520"/>
            <a:ext cx="82296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4C574F"/>
                </a:solidFill>
                <a:latin typeface="Arial"/>
              </a:rPr>
              <a:t>Round 3</a:t>
            </a:r>
          </a:p>
        </p:txBody>
      </p:sp>
      <p:sp>
        <p:nvSpPr>
          <p:cNvPr id="70" name="Rectangle 69"/>
          <p:cNvSpPr/>
          <p:nvPr/>
        </p:nvSpPr>
        <p:spPr>
          <a:xfrm>
            <a:off x="1435608"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1435608"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72" name="Rectangle 71"/>
          <p:cNvSpPr/>
          <p:nvPr/>
        </p:nvSpPr>
        <p:spPr>
          <a:xfrm>
            <a:off x="2221992"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2221992"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74" name="Rectangle 73"/>
          <p:cNvSpPr/>
          <p:nvPr/>
        </p:nvSpPr>
        <p:spPr>
          <a:xfrm>
            <a:off x="3008376" y="2907792"/>
            <a:ext cx="749808" cy="402336"/>
          </a:xfrm>
          <a:prstGeom prst="rect">
            <a:avLst/>
          </a:prstGeom>
          <a:solidFill>
            <a:srgbClr val="D9A93C"/>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3008376" y="3008376"/>
            <a:ext cx="749808" cy="274320"/>
          </a:xfrm>
          <a:prstGeom prst="rect">
            <a:avLst/>
          </a:prstGeom>
          <a:noFill/>
        </p:spPr>
        <p:txBody>
          <a:bodyPr wrap="square" lIns="0" rIns="0" tIns="0" bIns="0" anchor="t">
            <a:spAutoFit/>
          </a:bodyPr>
          <a:lstStyle/>
          <a:p>
            <a:pPr algn="ctr">
              <a:lnSpc>
                <a:spcPct val="100000"/>
              </a:lnSpc>
              <a:spcAft>
                <a:spcPts val="400"/>
              </a:spcAft>
            </a:pPr>
            <a:r>
              <a:rPr sz="819" b="1" i="0">
                <a:solidFill>
                  <a:srgbClr val="07160F"/>
                </a:solidFill>
                <a:latin typeface="Arial"/>
              </a:rPr>
              <a:t>collects</a:t>
            </a:r>
          </a:p>
        </p:txBody>
      </p:sp>
      <p:sp>
        <p:nvSpPr>
          <p:cNvPr id="76" name="Rectangle 75"/>
          <p:cNvSpPr/>
          <p:nvPr/>
        </p:nvSpPr>
        <p:spPr>
          <a:xfrm>
            <a:off x="3794760"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3794760"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78" name="Rectangle 77"/>
          <p:cNvSpPr/>
          <p:nvPr/>
        </p:nvSpPr>
        <p:spPr>
          <a:xfrm>
            <a:off x="4581144"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4581144"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80" name="Rectangle 79"/>
          <p:cNvSpPr/>
          <p:nvPr/>
        </p:nvSpPr>
        <p:spPr>
          <a:xfrm>
            <a:off x="5367528"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5367528"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82" name="Rectangle 81"/>
          <p:cNvSpPr/>
          <p:nvPr/>
        </p:nvSpPr>
        <p:spPr>
          <a:xfrm>
            <a:off x="6153912"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6153912"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84" name="Rectangle 83"/>
          <p:cNvSpPr/>
          <p:nvPr/>
        </p:nvSpPr>
        <p:spPr>
          <a:xfrm>
            <a:off x="6940296"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6940296"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86" name="Rectangle 85"/>
          <p:cNvSpPr/>
          <p:nvPr/>
        </p:nvSpPr>
        <p:spPr>
          <a:xfrm>
            <a:off x="7726680"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7726680"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88" name="Rectangle 87"/>
          <p:cNvSpPr/>
          <p:nvPr/>
        </p:nvSpPr>
        <p:spPr>
          <a:xfrm>
            <a:off x="8513064"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8513064"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90" name="Rectangle 89"/>
          <p:cNvSpPr/>
          <p:nvPr/>
        </p:nvSpPr>
        <p:spPr>
          <a:xfrm>
            <a:off x="9299448"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9299448"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92" name="Rectangle 91"/>
          <p:cNvSpPr/>
          <p:nvPr/>
        </p:nvSpPr>
        <p:spPr>
          <a:xfrm>
            <a:off x="10085832" y="2907792"/>
            <a:ext cx="749808" cy="402336"/>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10085832"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4C574F"/>
                </a:solidFill>
                <a:latin typeface="Arial"/>
              </a:rPr>
              <a:t>pays c</a:t>
            </a:r>
          </a:p>
        </p:txBody>
      </p:sp>
      <p:sp>
        <p:nvSpPr>
          <p:cNvPr id="94" name="TextBox 93"/>
          <p:cNvSpPr txBox="1"/>
          <p:nvPr/>
        </p:nvSpPr>
        <p:spPr>
          <a:xfrm>
            <a:off x="1435608"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1</a:t>
            </a:r>
          </a:p>
        </p:txBody>
      </p:sp>
      <p:sp>
        <p:nvSpPr>
          <p:cNvPr id="95" name="TextBox 94"/>
          <p:cNvSpPr txBox="1"/>
          <p:nvPr/>
        </p:nvSpPr>
        <p:spPr>
          <a:xfrm>
            <a:off x="2221992"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2</a:t>
            </a:r>
          </a:p>
        </p:txBody>
      </p:sp>
      <p:sp>
        <p:nvSpPr>
          <p:cNvPr id="96" name="TextBox 95"/>
          <p:cNvSpPr txBox="1"/>
          <p:nvPr/>
        </p:nvSpPr>
        <p:spPr>
          <a:xfrm>
            <a:off x="3008376"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3</a:t>
            </a:r>
          </a:p>
        </p:txBody>
      </p:sp>
      <p:sp>
        <p:nvSpPr>
          <p:cNvPr id="97" name="TextBox 96"/>
          <p:cNvSpPr txBox="1"/>
          <p:nvPr/>
        </p:nvSpPr>
        <p:spPr>
          <a:xfrm>
            <a:off x="3794760"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4</a:t>
            </a:r>
          </a:p>
        </p:txBody>
      </p:sp>
      <p:sp>
        <p:nvSpPr>
          <p:cNvPr id="98" name="TextBox 97"/>
          <p:cNvSpPr txBox="1"/>
          <p:nvPr/>
        </p:nvSpPr>
        <p:spPr>
          <a:xfrm>
            <a:off x="4581144"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5</a:t>
            </a:r>
          </a:p>
        </p:txBody>
      </p:sp>
      <p:sp>
        <p:nvSpPr>
          <p:cNvPr id="99" name="TextBox 98"/>
          <p:cNvSpPr txBox="1"/>
          <p:nvPr/>
        </p:nvSpPr>
        <p:spPr>
          <a:xfrm>
            <a:off x="5367528"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6</a:t>
            </a:r>
          </a:p>
        </p:txBody>
      </p:sp>
      <p:sp>
        <p:nvSpPr>
          <p:cNvPr id="100" name="TextBox 99"/>
          <p:cNvSpPr txBox="1"/>
          <p:nvPr/>
        </p:nvSpPr>
        <p:spPr>
          <a:xfrm>
            <a:off x="6153912"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7</a:t>
            </a:r>
          </a:p>
        </p:txBody>
      </p:sp>
      <p:sp>
        <p:nvSpPr>
          <p:cNvPr id="101" name="TextBox 100"/>
          <p:cNvSpPr txBox="1"/>
          <p:nvPr/>
        </p:nvSpPr>
        <p:spPr>
          <a:xfrm>
            <a:off x="6940296"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8</a:t>
            </a:r>
          </a:p>
        </p:txBody>
      </p:sp>
      <p:sp>
        <p:nvSpPr>
          <p:cNvPr id="102" name="TextBox 101"/>
          <p:cNvSpPr txBox="1"/>
          <p:nvPr/>
        </p:nvSpPr>
        <p:spPr>
          <a:xfrm>
            <a:off x="7726680"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9</a:t>
            </a:r>
          </a:p>
        </p:txBody>
      </p:sp>
      <p:sp>
        <p:nvSpPr>
          <p:cNvPr id="103" name="TextBox 102"/>
          <p:cNvSpPr txBox="1"/>
          <p:nvPr/>
        </p:nvSpPr>
        <p:spPr>
          <a:xfrm>
            <a:off x="8513064"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10</a:t>
            </a:r>
          </a:p>
        </p:txBody>
      </p:sp>
      <p:sp>
        <p:nvSpPr>
          <p:cNvPr id="104" name="TextBox 103"/>
          <p:cNvSpPr txBox="1"/>
          <p:nvPr/>
        </p:nvSpPr>
        <p:spPr>
          <a:xfrm>
            <a:off x="9299448"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11</a:t>
            </a:r>
          </a:p>
        </p:txBody>
      </p:sp>
      <p:sp>
        <p:nvSpPr>
          <p:cNvPr id="105" name="TextBox 104"/>
          <p:cNvSpPr txBox="1"/>
          <p:nvPr/>
        </p:nvSpPr>
        <p:spPr>
          <a:xfrm>
            <a:off x="10085832"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4C574F"/>
                </a:solidFill>
                <a:latin typeface="Arial"/>
              </a:rPr>
              <a:t>seat 12</a:t>
            </a:r>
          </a:p>
        </p:txBody>
      </p:sp>
      <p:cxnSp>
        <p:nvCxnSpPr>
          <p:cNvPr id="106" name="Connector 105"/>
          <p:cNvCxnSpPr/>
          <p:nvPr/>
        </p:nvCxnSpPr>
        <p:spPr>
          <a:xfrm>
            <a:off x="566928" y="38404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488414" y="3758184"/>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2409901"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3331387"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4252874"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5174360"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095847"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017334"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938820"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860307"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9781793"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703280" y="375818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566928" y="4069080"/>
            <a:ext cx="5394960" cy="365760"/>
          </a:xfrm>
          <a:prstGeom prst="rect">
            <a:avLst/>
          </a:prstGeom>
          <a:noFill/>
        </p:spPr>
        <p:txBody>
          <a:bodyPr wrap="square" lIns="0" rIns="0" tIns="0" bIns="0" anchor="t">
            <a:spAutoFit/>
          </a:bodyPr>
          <a:lstStyle/>
          <a:p>
            <a:pPr algn="l">
              <a:lnSpc>
                <a:spcPct val="100000"/>
              </a:lnSpc>
              <a:spcAft>
                <a:spcPts val="400"/>
              </a:spcAft>
            </a:pPr>
            <a:r>
              <a:rPr sz="1400" b="0" i="0">
                <a:solidFill>
                  <a:srgbClr val="123D30"/>
                </a:solidFill>
                <a:latin typeface="Georgia"/>
              </a:rPr>
              <a:t>The credit half and the savings half</a:t>
            </a:r>
          </a:p>
        </p:txBody>
      </p:sp>
      <p:sp>
        <p:nvSpPr>
          <p:cNvPr id="119" name="TextBox 118"/>
          <p:cNvSpPr txBox="1"/>
          <p:nvPr/>
        </p:nvSpPr>
        <p:spPr>
          <a:xfrm>
            <a:off x="566928" y="4498848"/>
            <a:ext cx="5394960" cy="365760"/>
          </a:xfrm>
          <a:prstGeom prst="rect">
            <a:avLst/>
          </a:prstGeom>
          <a:noFill/>
        </p:spPr>
        <p:txBody>
          <a:bodyPr wrap="square" lIns="0" rIns="0" tIns="0" bIns="0">
            <a:spAutoFit/>
          </a:bodyPr>
          <a:lstStyle/>
          <a:p>
            <a:pPr>
              <a:lnSpc>
                <a:spcPct val="106000"/>
              </a:lnSpc>
              <a:spcAft>
                <a:spcPts val="700"/>
              </a:spcAft>
            </a:pPr>
            <a:r>
              <a:rPr sz="1140" b="1">
                <a:solidFill>
                  <a:srgbClr val="D9A93C"/>
                </a:solidFill>
                <a:latin typeface="Georgia"/>
              </a:rPr>
              <a:t>|  </a:t>
            </a:r>
            <a:r>
              <a:rPr sz="1140" b="1">
                <a:solidFill>
                  <a:srgbClr val="123D30"/>
                </a:solidFill>
                <a:latin typeface="Arial"/>
              </a:rPr>
              <a:t>Collect early  </a:t>
            </a:r>
            <a:r>
              <a:rPr sz="1140">
                <a:solidFill>
                  <a:srgbClr val="0E1512"/>
                </a:solidFill>
                <a:latin typeface="Arial"/>
              </a:rPr>
              <a:t>you receive a lump sum before you have paid for it. That is an interest-free loan repaid in installments.</a:t>
            </a:r>
          </a:p>
          <a:p>
            <a:pPr>
              <a:lnSpc>
                <a:spcPct val="106000"/>
              </a:lnSpc>
              <a:spcAft>
                <a:spcPts val="700"/>
              </a:spcAft>
            </a:pPr>
            <a:r>
              <a:rPr sz="1140" b="1">
                <a:solidFill>
                  <a:srgbClr val="D9A93C"/>
                </a:solidFill>
                <a:latin typeface="Georgia"/>
              </a:rPr>
              <a:t>|  </a:t>
            </a:r>
            <a:r>
              <a:rPr sz="1140" b="1">
                <a:solidFill>
                  <a:srgbClr val="123D30"/>
                </a:solidFill>
                <a:latin typeface="Arial"/>
              </a:rPr>
              <a:t>Collect late  </a:t>
            </a:r>
            <a:r>
              <a:rPr sz="1140">
                <a:solidFill>
                  <a:srgbClr val="0E1512"/>
                </a:solidFill>
                <a:latin typeface="Arial"/>
              </a:rPr>
              <a:t>you pay installments before you receive. That is forced saving under a commitment device.</a:t>
            </a:r>
          </a:p>
          <a:p>
            <a:pPr>
              <a:lnSpc>
                <a:spcPct val="106000"/>
              </a:lnSpc>
              <a:spcAft>
                <a:spcPts val="700"/>
              </a:spcAft>
            </a:pPr>
            <a:r>
              <a:rPr sz="1140" b="1">
                <a:solidFill>
                  <a:srgbClr val="D9A93C"/>
                </a:solidFill>
                <a:latin typeface="Georgia"/>
              </a:rPr>
              <a:t>|  </a:t>
            </a:r>
            <a:r>
              <a:rPr sz="1140" b="1">
                <a:solidFill>
                  <a:srgbClr val="123D30"/>
                </a:solidFill>
                <a:latin typeface="Arial"/>
              </a:rPr>
              <a:t>Total in equals total out  </a:t>
            </a:r>
            <a:r>
              <a:rPr sz="1140">
                <a:solidFill>
                  <a:srgbClr val="0E1512"/>
                </a:solidFill>
                <a:latin typeface="Arial"/>
              </a:rPr>
              <a:t>the machine holds nothing at rest and earns nothing for itself.</a:t>
            </a:r>
          </a:p>
        </p:txBody>
      </p:sp>
      <p:sp>
        <p:nvSpPr>
          <p:cNvPr id="120" name="TextBox 119"/>
          <p:cNvSpPr txBox="1"/>
          <p:nvPr/>
        </p:nvSpPr>
        <p:spPr>
          <a:xfrm>
            <a:off x="6419088" y="4069080"/>
            <a:ext cx="5120640" cy="365760"/>
          </a:xfrm>
          <a:prstGeom prst="rect">
            <a:avLst/>
          </a:prstGeom>
          <a:noFill/>
        </p:spPr>
        <p:txBody>
          <a:bodyPr wrap="square" lIns="0" rIns="0" tIns="0" bIns="0" anchor="t">
            <a:spAutoFit/>
          </a:bodyPr>
          <a:lstStyle/>
          <a:p>
            <a:pPr algn="l">
              <a:lnSpc>
                <a:spcPct val="100000"/>
              </a:lnSpc>
              <a:spcAft>
                <a:spcPts val="400"/>
              </a:spcAft>
            </a:pPr>
            <a:r>
              <a:rPr sz="1400" b="0" i="0">
                <a:solidFill>
                  <a:srgbClr val="123D30"/>
                </a:solidFill>
                <a:latin typeface="Georgia"/>
              </a:rPr>
              <a:t>Worked in rupees</a:t>
            </a:r>
          </a:p>
        </p:txBody>
      </p:sp>
      <p:graphicFrame>
        <p:nvGraphicFramePr>
          <p:cNvPr id="121" name="Table 120"/>
          <p:cNvGraphicFramePr>
            <a:graphicFrameLocks noGrp="1"/>
          </p:cNvGraphicFramePr>
          <p:nvPr/>
        </p:nvGraphicFramePr>
        <p:xfrm>
          <a:off x="6419088" y="4480560"/>
          <a:ext cx="5166359" cy="1213043"/>
        </p:xfrm>
        <a:graphic>
          <a:graphicData uri="http://schemas.openxmlformats.org/drawingml/2006/table">
            <a:tbl>
              <a:tblPr>
                <a:tableStyleId>{5C22544A-7EE6-4342-B048-85BDC9FD1C3A}</a:tableStyleId>
              </a:tblPr>
              <a:tblGrid>
                <a:gridCol w="2479852"/>
                <a:gridCol w="2686507"/>
              </a:tblGrid>
              <a:tr h="307787">
                <a:tc>
                  <a:txBody>
                    <a:bodyPr wrap="square"/>
                    <a:lstStyle/>
                    <a:p>
                      <a:pPr algn="l"/>
                      <a:r>
                        <a:rPr sz="960" b="1">
                          <a:solidFill>
                            <a:srgbClr val="F6F1E4"/>
                          </a:solidFill>
                          <a:latin typeface="Arial"/>
                        </a:rPr>
                        <a:t>12 members, Rs 10,000 each</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Pot Rs 120,000</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Seat 1 collects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120,000 having paid Rs 10,000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Seat 12 collects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120,000 having paid Rs 120,000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Every member, end of cycle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paid Rs 120,000, received Rs 120,000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01 · THE INSTRUMENT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Risk is concentrated entirely in the early seats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At the moment member k collects, what they still owe the group is the forward liability. Every control Halqa has, and every failure in the competitor archive, is about who bears it.</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6</a:t>
            </a:r>
          </a:p>
        </p:txBody>
      </p:sp>
      <p:sp>
        <p:nvSpPr>
          <p:cNvPr id="18" name="Rectangle 17"/>
          <p:cNvSpPr/>
          <p:nvPr/>
        </p:nvSpPr>
        <p:spPr>
          <a:xfrm>
            <a:off x="566928" y="1645920"/>
            <a:ext cx="4937760" cy="566928"/>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9808" y="1773936"/>
            <a:ext cx="4572000" cy="365760"/>
          </a:xfrm>
          <a:prstGeom prst="rect">
            <a:avLst/>
          </a:prstGeom>
          <a:noFill/>
        </p:spPr>
        <p:txBody>
          <a:bodyPr wrap="square" lIns="0" rIns="0" tIns="0" bIns="0" anchor="t">
            <a:spAutoFit/>
          </a:bodyPr>
          <a:lstStyle/>
          <a:p>
            <a:pPr algn="l">
              <a:lnSpc>
                <a:spcPct val="100000"/>
              </a:lnSpc>
              <a:spcAft>
                <a:spcPts val="400"/>
              </a:spcAft>
            </a:pPr>
            <a:r>
              <a:rPr sz="1700" b="0" i="0">
                <a:solidFill>
                  <a:srgbClr val="123D30"/>
                </a:solidFill>
                <a:latin typeface="Consolas"/>
              </a:rPr>
              <a:t>L(k)  =  c × (n − k)</a:t>
            </a:r>
          </a:p>
        </p:txBody>
      </p:sp>
      <p:sp>
        <p:nvSpPr>
          <p:cNvPr id="20" name="TextBox 19"/>
          <p:cNvSpPr txBox="1"/>
          <p:nvPr/>
        </p:nvSpPr>
        <p:spPr>
          <a:xfrm>
            <a:off x="566928" y="2395728"/>
            <a:ext cx="5029200" cy="365760"/>
          </a:xfrm>
          <a:prstGeom prst="rect">
            <a:avLst/>
          </a:prstGeom>
          <a:noFill/>
        </p:spPr>
        <p:txBody>
          <a:bodyPr wrap="square" lIns="0" rIns="0" tIns="0" bIns="0">
            <a:spAutoFit/>
          </a:bodyPr>
          <a:lstStyle/>
          <a:p>
            <a:pPr>
              <a:lnSpc>
                <a:spcPct val="106000"/>
              </a:lnSpc>
              <a:spcAft>
                <a:spcPts val="700"/>
              </a:spcAft>
            </a:pPr>
            <a:r>
              <a:rPr sz="1140" b="1">
                <a:solidFill>
                  <a:srgbClr val="D9A93C"/>
                </a:solidFill>
                <a:latin typeface="Georgia"/>
              </a:rPr>
              <a:t>|  </a:t>
            </a:r>
            <a:r>
              <a:rPr sz="1140" b="1">
                <a:solidFill>
                  <a:srgbClr val="123D30"/>
                </a:solidFill>
                <a:latin typeface="Arial"/>
              </a:rPr>
              <a:t>Largest at seat 1  </a:t>
            </a:r>
            <a:r>
              <a:rPr sz="1140">
                <a:solidFill>
                  <a:srgbClr val="0E1512"/>
                </a:solidFill>
                <a:latin typeface="Arial"/>
              </a:rPr>
              <a:t>c × (n−1). On the worked circle, Rs 110,000.</a:t>
            </a:r>
          </a:p>
          <a:p>
            <a:pPr>
              <a:lnSpc>
                <a:spcPct val="106000"/>
              </a:lnSpc>
              <a:spcAft>
                <a:spcPts val="700"/>
              </a:spcAft>
            </a:pPr>
            <a:r>
              <a:rPr sz="1140" b="1">
                <a:solidFill>
                  <a:srgbClr val="D9A93C"/>
                </a:solidFill>
                <a:latin typeface="Georgia"/>
              </a:rPr>
              <a:t>|  </a:t>
            </a:r>
            <a:r>
              <a:rPr sz="1140" b="1">
                <a:solidFill>
                  <a:srgbClr val="123D30"/>
                </a:solidFill>
                <a:latin typeface="Arial"/>
              </a:rPr>
              <a:t>Falls by exactly one contribution per seat  </a:t>
            </a:r>
            <a:r>
              <a:rPr sz="1140">
                <a:solidFill>
                  <a:srgbClr val="0E1512"/>
                </a:solidFill>
                <a:latin typeface="Arial"/>
              </a:rPr>
              <a:t>the decline is linear, which is why seat position can be priced.</a:t>
            </a:r>
          </a:p>
          <a:p>
            <a:pPr>
              <a:lnSpc>
                <a:spcPct val="106000"/>
              </a:lnSpc>
              <a:spcAft>
                <a:spcPts val="700"/>
              </a:spcAft>
            </a:pPr>
            <a:r>
              <a:rPr sz="1140" b="1">
                <a:solidFill>
                  <a:srgbClr val="D9A93C"/>
                </a:solidFill>
                <a:latin typeface="Georgia"/>
              </a:rPr>
              <a:t>|  </a:t>
            </a:r>
            <a:r>
              <a:rPr sz="1140" b="1">
                <a:solidFill>
                  <a:srgbClr val="123D30"/>
                </a:solidFill>
                <a:latin typeface="Arial"/>
              </a:rPr>
              <a:t>Zero at seat n  </a:t>
            </a:r>
            <a:r>
              <a:rPr sz="1140">
                <a:solidFill>
                  <a:srgbClr val="0E1512"/>
                </a:solidFill>
                <a:latin typeface="Arial"/>
              </a:rPr>
              <a:t>the last member owes nothing the moment they collect.</a:t>
            </a:r>
          </a:p>
        </p:txBody>
      </p:sp>
      <p:sp>
        <p:nvSpPr>
          <p:cNvPr id="21" name="TextBox 20"/>
          <p:cNvSpPr txBox="1"/>
          <p:nvPr/>
        </p:nvSpPr>
        <p:spPr>
          <a:xfrm>
            <a:off x="566928" y="4041648"/>
            <a:ext cx="5029200" cy="1463040"/>
          </a:xfrm>
          <a:prstGeom prst="rect">
            <a:avLst/>
          </a:prstGeom>
          <a:noFill/>
        </p:spPr>
        <p:txBody>
          <a:bodyPr wrap="square" lIns="0" rIns="0" tIns="0" bIns="0" anchor="t">
            <a:spAutoFit/>
          </a:bodyPr>
          <a:lstStyle/>
          <a:p>
            <a:pPr algn="l">
              <a:lnSpc>
                <a:spcPct val="122000"/>
              </a:lnSpc>
              <a:spcAft>
                <a:spcPts val="400"/>
              </a:spcAft>
            </a:pPr>
            <a:r>
              <a:rPr sz="1160" b="0" i="0">
                <a:solidFill>
                  <a:srgbClr val="0E1512"/>
                </a:solidFill>
                <a:latin typeface="Arial"/>
              </a:rPr>
              <a:t>This is why the whole product reduces to one question: who is allowed to sit early, and what stands behind them when they do. Halqa answers it with position, price, property and paper — never with a pool of money.</a:t>
            </a:r>
          </a:p>
        </p:txBody>
      </p:sp>
      <p:sp>
        <p:nvSpPr>
          <p:cNvPr id="22" name="TextBox 21"/>
          <p:cNvSpPr txBox="1"/>
          <p:nvPr/>
        </p:nvSpPr>
        <p:spPr>
          <a:xfrm>
            <a:off x="6144768" y="1645920"/>
            <a:ext cx="54864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3   Forward liability by seat — 12 × Rs 10,000 circle</a:t>
            </a:r>
          </a:p>
        </p:txBody>
      </p:sp>
      <p:sp>
        <p:nvSpPr>
          <p:cNvPr id="23" name="TextBox 22"/>
          <p:cNvSpPr txBox="1"/>
          <p:nvPr/>
        </p:nvSpPr>
        <p:spPr>
          <a:xfrm>
            <a:off x="6144768" y="193307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1</a:t>
            </a:r>
          </a:p>
        </p:txBody>
      </p:sp>
      <p:sp>
        <p:nvSpPr>
          <p:cNvPr id="24" name="Rectangle 23"/>
          <p:cNvSpPr/>
          <p:nvPr/>
        </p:nvSpPr>
        <p:spPr>
          <a:xfrm>
            <a:off x="7013448" y="1920240"/>
            <a:ext cx="3474720" cy="160477"/>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570464" y="193307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110,000</a:t>
            </a:r>
          </a:p>
        </p:txBody>
      </p:sp>
      <p:sp>
        <p:nvSpPr>
          <p:cNvPr id="26" name="TextBox 25"/>
          <p:cNvSpPr txBox="1"/>
          <p:nvPr/>
        </p:nvSpPr>
        <p:spPr>
          <a:xfrm>
            <a:off x="6144768" y="224168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2</a:t>
            </a:r>
          </a:p>
        </p:txBody>
      </p:sp>
      <p:sp>
        <p:nvSpPr>
          <p:cNvPr id="27" name="Rectangle 26"/>
          <p:cNvSpPr/>
          <p:nvPr/>
        </p:nvSpPr>
        <p:spPr>
          <a:xfrm>
            <a:off x="7013448" y="2228850"/>
            <a:ext cx="3158836" cy="160477"/>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254580" y="224168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100,000</a:t>
            </a:r>
          </a:p>
        </p:txBody>
      </p:sp>
      <p:sp>
        <p:nvSpPr>
          <p:cNvPr id="29" name="TextBox 28"/>
          <p:cNvSpPr txBox="1"/>
          <p:nvPr/>
        </p:nvSpPr>
        <p:spPr>
          <a:xfrm>
            <a:off x="6144768" y="255029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3</a:t>
            </a:r>
          </a:p>
        </p:txBody>
      </p:sp>
      <p:sp>
        <p:nvSpPr>
          <p:cNvPr id="30" name="Rectangle 29"/>
          <p:cNvSpPr/>
          <p:nvPr/>
        </p:nvSpPr>
        <p:spPr>
          <a:xfrm>
            <a:off x="7013448" y="2537460"/>
            <a:ext cx="2842952" cy="160477"/>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938696" y="255029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90,000</a:t>
            </a:r>
          </a:p>
        </p:txBody>
      </p:sp>
      <p:sp>
        <p:nvSpPr>
          <p:cNvPr id="32" name="TextBox 31"/>
          <p:cNvSpPr txBox="1"/>
          <p:nvPr/>
        </p:nvSpPr>
        <p:spPr>
          <a:xfrm>
            <a:off x="6144768" y="285890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4</a:t>
            </a:r>
          </a:p>
        </p:txBody>
      </p:sp>
      <p:sp>
        <p:nvSpPr>
          <p:cNvPr id="33" name="Rectangle 32"/>
          <p:cNvSpPr/>
          <p:nvPr/>
        </p:nvSpPr>
        <p:spPr>
          <a:xfrm>
            <a:off x="7013448" y="2846070"/>
            <a:ext cx="2527069"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622813" y="285890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80,000</a:t>
            </a:r>
          </a:p>
        </p:txBody>
      </p:sp>
      <p:sp>
        <p:nvSpPr>
          <p:cNvPr id="35" name="TextBox 34"/>
          <p:cNvSpPr txBox="1"/>
          <p:nvPr/>
        </p:nvSpPr>
        <p:spPr>
          <a:xfrm>
            <a:off x="6144768" y="316751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5</a:t>
            </a:r>
          </a:p>
        </p:txBody>
      </p:sp>
      <p:sp>
        <p:nvSpPr>
          <p:cNvPr id="36" name="Rectangle 35"/>
          <p:cNvSpPr/>
          <p:nvPr/>
        </p:nvSpPr>
        <p:spPr>
          <a:xfrm>
            <a:off x="7013448" y="3154680"/>
            <a:ext cx="2211185"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306929" y="316751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70,000</a:t>
            </a:r>
          </a:p>
        </p:txBody>
      </p:sp>
      <p:sp>
        <p:nvSpPr>
          <p:cNvPr id="38" name="TextBox 37"/>
          <p:cNvSpPr txBox="1"/>
          <p:nvPr/>
        </p:nvSpPr>
        <p:spPr>
          <a:xfrm>
            <a:off x="6144768" y="347612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6</a:t>
            </a:r>
          </a:p>
        </p:txBody>
      </p:sp>
      <p:sp>
        <p:nvSpPr>
          <p:cNvPr id="39" name="Rectangle 38"/>
          <p:cNvSpPr/>
          <p:nvPr/>
        </p:nvSpPr>
        <p:spPr>
          <a:xfrm>
            <a:off x="7013448" y="3463290"/>
            <a:ext cx="1895301"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991045" y="347612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60,000</a:t>
            </a:r>
          </a:p>
        </p:txBody>
      </p:sp>
      <p:sp>
        <p:nvSpPr>
          <p:cNvPr id="41" name="TextBox 40"/>
          <p:cNvSpPr txBox="1"/>
          <p:nvPr/>
        </p:nvSpPr>
        <p:spPr>
          <a:xfrm>
            <a:off x="6144768" y="378473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7</a:t>
            </a:r>
          </a:p>
        </p:txBody>
      </p:sp>
      <p:sp>
        <p:nvSpPr>
          <p:cNvPr id="42" name="Rectangle 41"/>
          <p:cNvSpPr/>
          <p:nvPr/>
        </p:nvSpPr>
        <p:spPr>
          <a:xfrm>
            <a:off x="7013448" y="3771900"/>
            <a:ext cx="1579418"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675162" y="378473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50,000</a:t>
            </a:r>
          </a:p>
        </p:txBody>
      </p:sp>
      <p:sp>
        <p:nvSpPr>
          <p:cNvPr id="44" name="TextBox 43"/>
          <p:cNvSpPr txBox="1"/>
          <p:nvPr/>
        </p:nvSpPr>
        <p:spPr>
          <a:xfrm>
            <a:off x="6144768" y="409334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8</a:t>
            </a:r>
          </a:p>
        </p:txBody>
      </p:sp>
      <p:sp>
        <p:nvSpPr>
          <p:cNvPr id="45" name="Rectangle 44"/>
          <p:cNvSpPr/>
          <p:nvPr/>
        </p:nvSpPr>
        <p:spPr>
          <a:xfrm>
            <a:off x="7013448" y="4080510"/>
            <a:ext cx="1263534"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359278" y="409334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40,000</a:t>
            </a:r>
          </a:p>
        </p:txBody>
      </p:sp>
      <p:sp>
        <p:nvSpPr>
          <p:cNvPr id="47" name="TextBox 46"/>
          <p:cNvSpPr txBox="1"/>
          <p:nvPr/>
        </p:nvSpPr>
        <p:spPr>
          <a:xfrm>
            <a:off x="6144768" y="440195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9</a:t>
            </a:r>
          </a:p>
        </p:txBody>
      </p:sp>
      <p:sp>
        <p:nvSpPr>
          <p:cNvPr id="48" name="Rectangle 47"/>
          <p:cNvSpPr/>
          <p:nvPr/>
        </p:nvSpPr>
        <p:spPr>
          <a:xfrm>
            <a:off x="7013448" y="4389120"/>
            <a:ext cx="947650"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043394" y="440195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30,000</a:t>
            </a:r>
          </a:p>
        </p:txBody>
      </p:sp>
      <p:sp>
        <p:nvSpPr>
          <p:cNvPr id="50" name="TextBox 49"/>
          <p:cNvSpPr txBox="1"/>
          <p:nvPr/>
        </p:nvSpPr>
        <p:spPr>
          <a:xfrm>
            <a:off x="6144768" y="471056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10</a:t>
            </a:r>
          </a:p>
        </p:txBody>
      </p:sp>
      <p:sp>
        <p:nvSpPr>
          <p:cNvPr id="51" name="Rectangle 50"/>
          <p:cNvSpPr/>
          <p:nvPr/>
        </p:nvSpPr>
        <p:spPr>
          <a:xfrm>
            <a:off x="7013448" y="4697730"/>
            <a:ext cx="631767"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727511" y="471056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20,000</a:t>
            </a:r>
          </a:p>
        </p:txBody>
      </p:sp>
      <p:sp>
        <p:nvSpPr>
          <p:cNvPr id="53" name="TextBox 52"/>
          <p:cNvSpPr txBox="1"/>
          <p:nvPr/>
        </p:nvSpPr>
        <p:spPr>
          <a:xfrm>
            <a:off x="6144768" y="501917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11</a:t>
            </a:r>
          </a:p>
        </p:txBody>
      </p:sp>
      <p:sp>
        <p:nvSpPr>
          <p:cNvPr id="54" name="Rectangle 53"/>
          <p:cNvSpPr/>
          <p:nvPr/>
        </p:nvSpPr>
        <p:spPr>
          <a:xfrm>
            <a:off x="7013448" y="5006340"/>
            <a:ext cx="315883"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411627" y="501917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10,000</a:t>
            </a:r>
          </a:p>
        </p:txBody>
      </p:sp>
      <p:sp>
        <p:nvSpPr>
          <p:cNvPr id="56" name="TextBox 55"/>
          <p:cNvSpPr txBox="1"/>
          <p:nvPr/>
        </p:nvSpPr>
        <p:spPr>
          <a:xfrm>
            <a:off x="6144768" y="532778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Seat 12</a:t>
            </a:r>
          </a:p>
        </p:txBody>
      </p:sp>
      <p:sp>
        <p:nvSpPr>
          <p:cNvPr id="57" name="Rectangle 56"/>
          <p:cNvSpPr/>
          <p:nvPr/>
        </p:nvSpPr>
        <p:spPr>
          <a:xfrm>
            <a:off x="7013448" y="5314950"/>
            <a:ext cx="18288" cy="16047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114032" y="532778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0</a:t>
            </a:r>
          </a:p>
        </p:txBody>
      </p:sp>
      <p:cxnSp>
        <p:nvCxnSpPr>
          <p:cNvPr id="59" name="Connector 58"/>
          <p:cNvCxnSpPr/>
          <p:nvPr/>
        </p:nvCxnSpPr>
        <p:spPr>
          <a:xfrm>
            <a:off x="7013448" y="1874520"/>
            <a:ext cx="0" cy="3646627"/>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144768" y="5687568"/>
            <a:ext cx="548640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Gold marks the seats a new or low-band member may not claim. verified against src/lib/score-bands.ts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01 · THE INSTRUMENT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Four structural families. Two supported, two refused.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 refusals are structural, not squeamish — each one would break either the riba-free positioning or the definition of a committee.</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7</a:t>
            </a:r>
          </a:p>
        </p:txBody>
      </p:sp>
      <p:sp>
        <p:nvSpPr>
          <p:cNvPr id="18" name="TextBox 17"/>
          <p:cNvSpPr txBox="1"/>
          <p:nvPr/>
        </p:nvSpPr>
        <p:spPr>
          <a:xfrm>
            <a:off x="566928" y="1627632"/>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4   The four ways a committee sets its order</a:t>
            </a:r>
          </a:p>
        </p:txBody>
      </p:sp>
      <p:graphicFrame>
        <p:nvGraphicFramePr>
          <p:cNvPr id="19" name="Table 18"/>
          <p:cNvGraphicFramePr>
            <a:graphicFrameLocks noGrp="1"/>
          </p:cNvGraphicFramePr>
          <p:nvPr/>
        </p:nvGraphicFramePr>
        <p:xfrm>
          <a:off x="566928" y="1847088"/>
          <a:ext cx="11057838" cy="2111532"/>
        </p:xfrm>
        <a:graphic>
          <a:graphicData uri="http://schemas.openxmlformats.org/drawingml/2006/table">
            <a:tbl>
              <a:tblPr>
                <a:tableStyleId>{5C22544A-7EE6-4342-B048-85BDC9FD1C3A}</a:tableStyleId>
              </a:tblPr>
              <a:tblGrid>
                <a:gridCol w="3096194"/>
                <a:gridCol w="3980822"/>
                <a:gridCol w="3980822"/>
              </a:tblGrid>
              <a:tr h="429036">
                <a:tc>
                  <a:txBody>
                    <a:bodyPr wrap="square"/>
                    <a:lstStyle/>
                    <a:p>
                      <a:pPr algn="l"/>
                      <a:r>
                        <a:rPr sz="960" b="1">
                          <a:solidFill>
                            <a:srgbClr val="F6F1E4"/>
                          </a:solidFill>
                          <a:latin typeface="Arial"/>
                        </a:rPr>
                        <a:t>Family</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How the order is set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Halqa’s position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20624">
                <a:tc>
                  <a:txBody>
                    <a:bodyPr wrap="square"/>
                    <a:lstStyle/>
                    <a:p>
                      <a:pPr algn="l"/>
                      <a:r>
                        <a:rPr sz="1019" b="0">
                          <a:solidFill>
                            <a:srgbClr val="0E1512"/>
                          </a:solidFill>
                          <a:latin typeface="Arial"/>
                        </a:rPr>
                        <a:t>Ballot (random) — Pakistan’s default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Names drawn by lot, the parchi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Supported, plus a verifiable commit-reveal draw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20624">
                <a:tc>
                  <a:txBody>
                    <a:bodyPr wrap="square"/>
                    <a:lstStyle/>
                    <a:p>
                      <a:pPr algn="l"/>
                      <a:r>
                        <a:rPr sz="1019" b="0">
                          <a:solidFill>
                            <a:srgbClr val="0E1512"/>
                          </a:solidFill>
                          <a:latin typeface="Arial"/>
                        </a:rPr>
                        <a:t>Fixed order (negotiated)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Seats agreed at formation by need or seniority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Core. This is pick-your-seat with band gates.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20624">
                <a:tc>
                  <a:txBody>
                    <a:bodyPr wrap="square"/>
                    <a:lstStyle/>
                    <a:p>
                      <a:pPr algn="l"/>
                      <a:r>
                        <a:rPr sz="1019" b="0">
                          <a:solidFill>
                            <a:srgbClr val="0E1512"/>
                          </a:solidFill>
                          <a:latin typeface="Arial"/>
                        </a:rPr>
                        <a:t>Auction — the Indian chit fund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Highest discount accepted takes the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Refused. The discovered price is interest in substance.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20624">
                <a:tc>
                  <a:txBody>
                    <a:bodyPr wrap="square"/>
                    <a:lstStyle/>
                    <a:p>
                      <a:pPr algn="l"/>
                      <a:r>
                        <a:rPr sz="1019" b="0">
                          <a:solidFill>
                            <a:srgbClr val="0E1512"/>
                          </a:solidFill>
                          <a:latin typeface="Arial"/>
                        </a:rPr>
                        <a:t>Prize or “lucky” committee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The draw winner takes the pot and stops paying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Refused. A lottery wearing a committee’s clothes.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4041648"/>
            <a:ext cx="45720" cy="14173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4059936"/>
            <a:ext cx="5120640" cy="1463040"/>
          </a:xfrm>
          <a:prstGeom prst="rect">
            <a:avLst/>
          </a:prstGeom>
          <a:noFill/>
        </p:spPr>
        <p:txBody>
          <a:bodyPr wrap="square" lIns="0" rIns="0" tIns="0" bIns="0" anchor="t">
            <a:spAutoFit/>
          </a:bodyPr>
          <a:lstStyle/>
          <a:p>
            <a:pPr algn="l">
              <a:lnSpc>
                <a:spcPct val="122000"/>
              </a:lnSpc>
              <a:spcAft>
                <a:spcPts val="200"/>
              </a:spcAft>
            </a:pPr>
            <a:r>
              <a:rPr sz="1140" b="0" i="0">
                <a:solidFill>
                  <a:srgbClr val="0E1512"/>
                </a:solidFill>
                <a:latin typeface="Arial"/>
              </a:rPr>
              <a:t>Why the auction is fatal</a:t>
            </a:r>
          </a:p>
          <a:p>
            <a:pPr algn="l">
              <a:lnSpc>
                <a:spcPct val="122000"/>
              </a:lnSpc>
              <a:spcAft>
                <a:spcPts val="200"/>
              </a:spcAft>
            </a:pPr>
            <a:r>
              <a:rPr sz="1140" b="0" i="0">
                <a:solidFill>
                  <a:srgbClr val="0E1512"/>
                </a:solidFill>
                <a:latin typeface="Arial"/>
              </a:rPr>
              <a:t/>
            </a:r>
          </a:p>
          <a:p>
            <a:pPr algn="l">
              <a:lnSpc>
                <a:spcPct val="122000"/>
              </a:lnSpc>
              <a:spcAft>
                <a:spcPts val="200"/>
              </a:spcAft>
            </a:pPr>
            <a:r>
              <a:rPr sz="1140" b="0" i="0">
                <a:solidFill>
                  <a:srgbClr val="0E1512"/>
                </a:solidFill>
                <a:latin typeface="Arial"/>
              </a:rPr>
              <a:t>Working the discount through as an annualised rate gives roughly 45–55% implied APR. A member who takes an early pot at a 30% discount has borrowed at a price, and that price is interest however it is described. India regulates precisely this family under the Chit Funds Act 1982.</a:t>
            </a:r>
          </a:p>
        </p:txBody>
      </p:sp>
      <p:sp>
        <p:nvSpPr>
          <p:cNvPr id="22" name="Rectangle 21"/>
          <p:cNvSpPr/>
          <p:nvPr/>
        </p:nvSpPr>
        <p:spPr>
          <a:xfrm>
            <a:off x="6419088" y="4041648"/>
            <a:ext cx="45720" cy="14173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647688" y="4059936"/>
            <a:ext cx="4937760" cy="1463040"/>
          </a:xfrm>
          <a:prstGeom prst="rect">
            <a:avLst/>
          </a:prstGeom>
          <a:noFill/>
        </p:spPr>
        <p:txBody>
          <a:bodyPr wrap="square" lIns="0" rIns="0" tIns="0" bIns="0" anchor="t">
            <a:spAutoFit/>
          </a:bodyPr>
          <a:lstStyle/>
          <a:p>
            <a:pPr algn="l">
              <a:lnSpc>
                <a:spcPct val="122000"/>
              </a:lnSpc>
              <a:spcAft>
                <a:spcPts val="200"/>
              </a:spcAft>
            </a:pPr>
            <a:r>
              <a:rPr sz="1140" b="0" i="0">
                <a:solidFill>
                  <a:srgbClr val="0E1512"/>
                </a:solidFill>
                <a:latin typeface="Arial"/>
              </a:rPr>
              <a:t>Why the prize committee is fatal</a:t>
            </a:r>
          </a:p>
          <a:p>
            <a:pPr algn="l">
              <a:lnSpc>
                <a:spcPct val="122000"/>
              </a:lnSpc>
              <a:spcAft>
                <a:spcPts val="200"/>
              </a:spcAft>
            </a:pPr>
            <a:r>
              <a:rPr sz="1140" b="0" i="0">
                <a:solidFill>
                  <a:srgbClr val="0E1512"/>
                </a:solidFill>
                <a:latin typeface="Arial"/>
              </a:rPr>
              <a:t/>
            </a:r>
          </a:p>
          <a:p>
            <a:pPr algn="l">
              <a:lnSpc>
                <a:spcPct val="122000"/>
              </a:lnSpc>
              <a:spcAft>
                <a:spcPts val="200"/>
              </a:spcAft>
            </a:pPr>
            <a:r>
              <a:rPr sz="1140" b="0" i="0">
                <a:solidFill>
                  <a:srgbClr val="0E1512"/>
                </a:solidFill>
                <a:latin typeface="Arial"/>
              </a:rPr>
              <a:t>If the winner stops paying, the arithmetic stops closing. Most participants pay more than they can ever receive, which makes it a lottery funded by the losers. Reputationally it is the exact thing a trust product cannot be caught doing.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01 · THE MARKET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third-largest savings channel in the country</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These are the figures used in every Halqa document. Sources are named because a regulator can check them.</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8</a:t>
            </a:r>
          </a:p>
        </p:txBody>
      </p:sp>
      <p:cxnSp>
        <p:nvCxnSpPr>
          <p:cNvPr id="18" name="Connector 17"/>
          <p:cNvCxnSpPr/>
          <p:nvPr/>
        </p:nvCxnSpPr>
        <p:spPr>
          <a:xfrm>
            <a:off x="566928" y="1627632"/>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6928" y="2496312"/>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76656"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Rs 4 trillion</a:t>
            </a:r>
          </a:p>
        </p:txBody>
      </p:sp>
      <p:sp>
        <p:nvSpPr>
          <p:cNvPr id="21" name="TextBox 20"/>
          <p:cNvSpPr txBox="1"/>
          <p:nvPr/>
        </p:nvSpPr>
        <p:spPr>
          <a:xfrm>
            <a:off x="676656"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ROTATES ANNUALLY</a:t>
            </a:r>
          </a:p>
        </p:txBody>
      </p:sp>
      <p:cxnSp>
        <p:nvCxnSpPr>
          <p:cNvPr id="22" name="Connector 21"/>
          <p:cNvCxnSpPr/>
          <p:nvPr/>
        </p:nvCxnSpPr>
        <p:spPr>
          <a:xfrm>
            <a:off x="2778495" y="1783994"/>
            <a:ext cx="0" cy="555955"/>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888223"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≈52 million</a:t>
            </a:r>
          </a:p>
        </p:txBody>
      </p:sp>
      <p:sp>
        <p:nvSpPr>
          <p:cNvPr id="24" name="TextBox 23"/>
          <p:cNvSpPr txBox="1"/>
          <p:nvPr/>
        </p:nvSpPr>
        <p:spPr>
          <a:xfrm>
            <a:off x="2888223"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ADULTS PARTICIPATING</a:t>
            </a:r>
          </a:p>
        </p:txBody>
      </p:sp>
      <p:cxnSp>
        <p:nvCxnSpPr>
          <p:cNvPr id="25" name="Connector 24"/>
          <p:cNvCxnSpPr/>
          <p:nvPr/>
        </p:nvCxnSpPr>
        <p:spPr>
          <a:xfrm>
            <a:off x="4990063" y="1783994"/>
            <a:ext cx="0" cy="555955"/>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99791"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37%</a:t>
            </a:r>
          </a:p>
        </p:txBody>
      </p:sp>
      <p:sp>
        <p:nvSpPr>
          <p:cNvPr id="27" name="TextBox 26"/>
          <p:cNvSpPr txBox="1"/>
          <p:nvPr/>
        </p:nvSpPr>
        <p:spPr>
          <a:xfrm>
            <a:off x="5099791"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OF ADULTS HAVE USED ONE</a:t>
            </a:r>
          </a:p>
        </p:txBody>
      </p:sp>
      <p:cxnSp>
        <p:nvCxnSpPr>
          <p:cNvPr id="28" name="Connector 27"/>
          <p:cNvCxnSpPr/>
          <p:nvPr/>
        </p:nvCxnSpPr>
        <p:spPr>
          <a:xfrm>
            <a:off x="7201631" y="1783994"/>
            <a:ext cx="0" cy="555955"/>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311359"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12%</a:t>
            </a:r>
          </a:p>
        </p:txBody>
      </p:sp>
      <p:sp>
        <p:nvSpPr>
          <p:cNvPr id="30" name="TextBox 29"/>
          <p:cNvSpPr txBox="1"/>
          <p:nvPr/>
        </p:nvSpPr>
        <p:spPr>
          <a:xfrm>
            <a:off x="7311359"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HAVE LOST MONEY TO FRAUD</a:t>
            </a:r>
          </a:p>
        </p:txBody>
      </p:sp>
      <p:cxnSp>
        <p:nvCxnSpPr>
          <p:cNvPr id="31" name="Connector 30"/>
          <p:cNvCxnSpPr/>
          <p:nvPr/>
        </p:nvCxnSpPr>
        <p:spPr>
          <a:xfrm>
            <a:off x="9413199" y="1783994"/>
            <a:ext cx="0" cy="555955"/>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522927"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31%</a:t>
            </a:r>
          </a:p>
        </p:txBody>
      </p:sp>
      <p:sp>
        <p:nvSpPr>
          <p:cNvPr id="33" name="TextBox 32"/>
          <p:cNvSpPr txBox="1"/>
          <p:nvPr/>
        </p:nvSpPr>
        <p:spPr>
          <a:xfrm>
            <a:off x="9522927"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CAN SEND OR RECEIVE AN SMS</a:t>
            </a:r>
          </a:p>
        </p:txBody>
      </p:sp>
      <p:sp>
        <p:nvSpPr>
          <p:cNvPr id="34" name="TextBox 33"/>
          <p:cNvSpPr txBox="1"/>
          <p:nvPr/>
        </p:nvSpPr>
        <p:spPr>
          <a:xfrm>
            <a:off x="566928" y="2834640"/>
            <a:ext cx="54864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5   Where a Pakistani saver actually puts money</a:t>
            </a:r>
          </a:p>
        </p:txBody>
      </p:sp>
      <p:sp>
        <p:nvSpPr>
          <p:cNvPr id="35" name="TextBox 34"/>
          <p:cNvSpPr txBox="1"/>
          <p:nvPr/>
        </p:nvSpPr>
        <p:spPr>
          <a:xfrm>
            <a:off x="566928" y="3096475"/>
            <a:ext cx="1947672" cy="301142"/>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Cash hidden at home</a:t>
            </a:r>
          </a:p>
        </p:txBody>
      </p:sp>
      <p:sp>
        <p:nvSpPr>
          <p:cNvPr id="36" name="Rectangle 35"/>
          <p:cNvSpPr/>
          <p:nvPr/>
        </p:nvSpPr>
        <p:spPr>
          <a:xfrm>
            <a:off x="2624328" y="3072384"/>
            <a:ext cx="2345436" cy="301142"/>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052060" y="3096475"/>
            <a:ext cx="822960" cy="301142"/>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63%</a:t>
            </a:r>
          </a:p>
        </p:txBody>
      </p:sp>
      <p:sp>
        <p:nvSpPr>
          <p:cNvPr id="38" name="TextBox 37"/>
          <p:cNvSpPr txBox="1"/>
          <p:nvPr/>
        </p:nvSpPr>
        <p:spPr>
          <a:xfrm>
            <a:off x="566928" y="3675595"/>
            <a:ext cx="1947672" cy="301142"/>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A committee</a:t>
            </a:r>
          </a:p>
        </p:txBody>
      </p:sp>
      <p:sp>
        <p:nvSpPr>
          <p:cNvPr id="39" name="Rectangle 38"/>
          <p:cNvSpPr/>
          <p:nvPr/>
        </p:nvSpPr>
        <p:spPr>
          <a:xfrm>
            <a:off x="2624328" y="3651504"/>
            <a:ext cx="1228561" cy="301142"/>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935185" y="3675595"/>
            <a:ext cx="822960" cy="301142"/>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33%</a:t>
            </a:r>
          </a:p>
        </p:txBody>
      </p:sp>
      <p:sp>
        <p:nvSpPr>
          <p:cNvPr id="41" name="TextBox 40"/>
          <p:cNvSpPr txBox="1"/>
          <p:nvPr/>
        </p:nvSpPr>
        <p:spPr>
          <a:xfrm>
            <a:off x="566928" y="4254715"/>
            <a:ext cx="1947672" cy="301142"/>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Holds a bank account</a:t>
            </a:r>
          </a:p>
        </p:txBody>
      </p:sp>
      <p:sp>
        <p:nvSpPr>
          <p:cNvPr id="42" name="Rectangle 41"/>
          <p:cNvSpPr/>
          <p:nvPr/>
        </p:nvSpPr>
        <p:spPr>
          <a:xfrm>
            <a:off x="2624328" y="4230624"/>
            <a:ext cx="483978" cy="301142"/>
          </a:xfrm>
          <a:prstGeom prst="rect">
            <a:avLst/>
          </a:prstGeom>
          <a:solidFill>
            <a:srgbClr val="1B51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190602" y="4254715"/>
            <a:ext cx="822960" cy="301142"/>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13%</a:t>
            </a:r>
          </a:p>
        </p:txBody>
      </p:sp>
      <p:cxnSp>
        <p:nvCxnSpPr>
          <p:cNvPr id="44" name="Connector 43"/>
          <p:cNvCxnSpPr/>
          <p:nvPr/>
        </p:nvCxnSpPr>
        <p:spPr>
          <a:xfrm>
            <a:off x="2624328" y="3026664"/>
            <a:ext cx="0" cy="1550822"/>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66928" y="4956048"/>
            <a:ext cx="45720" cy="9601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95528" y="4974336"/>
            <a:ext cx="5212080" cy="1005840"/>
          </a:xfrm>
          <a:prstGeom prst="rect">
            <a:avLst/>
          </a:prstGeom>
          <a:noFill/>
        </p:spPr>
        <p:txBody>
          <a:bodyPr wrap="square" lIns="0" rIns="0" tIns="0" bIns="0" anchor="t">
            <a:spAutoFit/>
          </a:bodyPr>
          <a:lstStyle/>
          <a:p>
            <a:pPr algn="l">
              <a:lnSpc>
                <a:spcPct val="120000"/>
              </a:lnSpc>
              <a:spcAft>
                <a:spcPts val="400"/>
              </a:spcAft>
            </a:pPr>
            <a:r>
              <a:rPr sz="1400" b="0" i="0">
                <a:solidFill>
                  <a:srgbClr val="123D30"/>
                </a:solidFill>
                <a:latin typeface="Georgia"/>
              </a:rPr>
              <a:t>The committee is not competing with banks. It is competing with a cupboard.</a:t>
            </a:r>
          </a:p>
        </p:txBody>
      </p:sp>
      <p:sp>
        <p:nvSpPr>
          <p:cNvPr id="47" name="TextBox 46"/>
          <p:cNvSpPr txBox="1"/>
          <p:nvPr/>
        </p:nvSpPr>
        <p:spPr>
          <a:xfrm>
            <a:off x="6419088" y="2834640"/>
            <a:ext cx="51206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rest of the picture</a:t>
            </a:r>
          </a:p>
        </p:txBody>
      </p:sp>
      <p:graphicFrame>
        <p:nvGraphicFramePr>
          <p:cNvPr id="48" name="Table 47"/>
          <p:cNvGraphicFramePr>
            <a:graphicFrameLocks noGrp="1"/>
          </p:cNvGraphicFramePr>
          <p:nvPr/>
        </p:nvGraphicFramePr>
        <p:xfrm>
          <a:off x="6419088" y="3163824"/>
          <a:ext cx="5166359" cy="1989917"/>
        </p:xfrm>
        <a:graphic>
          <a:graphicData uri="http://schemas.openxmlformats.org/drawingml/2006/table">
            <a:tbl>
              <a:tblPr>
                <a:tableStyleId>{5C22544A-7EE6-4342-B048-85BDC9FD1C3A}</a:tableStyleId>
              </a:tblPr>
              <a:tblGrid>
                <a:gridCol w="3719779"/>
                <a:gridCol w="1446580"/>
              </a:tblGrid>
              <a:tr h="289133">
                <a:tc>
                  <a:txBody>
                    <a:bodyPr wrap="square"/>
                    <a:lstStyle/>
                    <a:p>
                      <a:pPr algn="l"/>
                      <a:r>
                        <a:rPr sz="960" b="1">
                          <a:solidFill>
                            <a:srgbClr val="F6F1E4"/>
                          </a:solidFill>
                          <a:latin typeface="Arial"/>
                        </a:rPr>
                        <a:t>Figure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Source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E1512"/>
                          </a:solidFill>
                          <a:latin typeface="Arial"/>
                        </a:rPr>
                        <a:t>36% of Pakistanis save; 4% of savers use a formal institution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FII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E1512"/>
                          </a:solidFill>
                          <a:latin typeface="Arial"/>
                        </a:rPr>
                        <a:t>19% use the pot for a one-time durable purchase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FII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E1512"/>
                          </a:solidFill>
                          <a:latin typeface="Arial"/>
                        </a:rPr>
                        <a:t>Just over half own a phone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FII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E1512"/>
                          </a:solidFill>
                          <a:latin typeface="Arial"/>
                        </a:rPr>
                        <a:t>Women participate at twice the rate of men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FII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E1512"/>
                          </a:solidFill>
                          <a:latin typeface="Arial"/>
                        </a:rPr>
                        <a:t>~100 million lack formal financial services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World Bank</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E1512"/>
                          </a:solidFill>
                          <a:latin typeface="Arial"/>
                        </a:rPr>
                        <a:t>~41% have participated; ~$5bn rotating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Oraan research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49" name="TextBox 48"/>
          <p:cNvSpPr txBox="1"/>
          <p:nvPr/>
        </p:nvSpPr>
        <p:spPr>
          <a:xfrm>
            <a:off x="6419088" y="5358384"/>
            <a:ext cx="516636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reported. FII = Financial Inclusion Insights. Participation range across sources is 34–41%.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01 · THE MARKET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Who this actually serves, stated precisely</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 academic literature forces a narrowing that competitors do not make. Making it costs nothing and buys credibility with a regulator who can check.</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9</a:t>
            </a:r>
          </a:p>
        </p:txBody>
      </p:sp>
      <p:sp>
        <p:nvSpPr>
          <p:cNvPr id="18" name="TextBox 17"/>
          <p:cNvSpPr txBox="1"/>
          <p:nvPr/>
        </p:nvSpPr>
        <p:spPr>
          <a:xfrm>
            <a:off x="566928" y="1645920"/>
            <a:ext cx="1060704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6   The contradiction in the literature, and its resolution</a:t>
            </a:r>
          </a:p>
        </p:txBody>
      </p:sp>
      <p:sp>
        <p:nvSpPr>
          <p:cNvPr id="19" name="Rectangle 18"/>
          <p:cNvSpPr/>
          <p:nvPr/>
        </p:nvSpPr>
        <p:spPr>
          <a:xfrm>
            <a:off x="566928" y="1874519"/>
            <a:ext cx="5074920" cy="1188720"/>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9808" y="2011680"/>
            <a:ext cx="4709160" cy="1005840"/>
          </a:xfrm>
          <a:prstGeom prst="rect">
            <a:avLst/>
          </a:prstGeom>
          <a:noFill/>
        </p:spPr>
        <p:txBody>
          <a:bodyPr wrap="square" lIns="0" rIns="0" tIns="0" bIns="0" anchor="t">
            <a:spAutoFit/>
          </a:bodyPr>
          <a:lstStyle/>
          <a:p>
            <a:pPr algn="l">
              <a:lnSpc>
                <a:spcPct val="118000"/>
              </a:lnSpc>
              <a:spcAft>
                <a:spcPts val="300"/>
              </a:spcAft>
            </a:pPr>
            <a:r>
              <a:rPr sz="1100" b="0" i="0">
                <a:solidFill>
                  <a:srgbClr val="0E1512"/>
                </a:solidFill>
                <a:latin typeface="Arial"/>
              </a:rPr>
              <a:t>Khan (2013), Dera Ghazi Khan fieldwork</a:t>
            </a:r>
          </a:p>
          <a:p>
            <a:pPr algn="l">
              <a:lnSpc>
                <a:spcPct val="118000"/>
              </a:lnSpc>
              <a:spcAft>
                <a:spcPts val="300"/>
              </a:spcAft>
            </a:pPr>
            <a:r>
              <a:rPr sz="1100" b="0" i="0">
                <a:solidFill>
                  <a:srgbClr val="0E1512"/>
                </a:solidFill>
                <a:latin typeface="Arial"/>
              </a:rPr>
              <a:t>Regular income is a precondition. The genuinely poor are excluded by the groups themselves as bad risks. Committees cannot substitute for microfinance.</a:t>
            </a:r>
          </a:p>
        </p:txBody>
      </p:sp>
      <p:sp>
        <p:nvSpPr>
          <p:cNvPr id="21" name="Rectangle 20"/>
          <p:cNvSpPr/>
          <p:nvPr/>
        </p:nvSpPr>
        <p:spPr>
          <a:xfrm>
            <a:off x="6099048" y="1874519"/>
            <a:ext cx="5074920" cy="1188720"/>
          </a:xfrm>
          <a:prstGeom prst="rect">
            <a:avLst/>
          </a:prstGeom>
          <a:solidFill>
            <a:srgbClr val="FFFFFF"/>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81928" y="2011680"/>
            <a:ext cx="4709160" cy="1005840"/>
          </a:xfrm>
          <a:prstGeom prst="rect">
            <a:avLst/>
          </a:prstGeom>
          <a:noFill/>
        </p:spPr>
        <p:txBody>
          <a:bodyPr wrap="square" lIns="0" rIns="0" tIns="0" bIns="0" anchor="t">
            <a:spAutoFit/>
          </a:bodyPr>
          <a:lstStyle/>
          <a:p>
            <a:pPr algn="l">
              <a:lnSpc>
                <a:spcPct val="118000"/>
              </a:lnSpc>
              <a:spcAft>
                <a:spcPts val="300"/>
              </a:spcAft>
            </a:pPr>
            <a:r>
              <a:rPr sz="1100" b="0" i="0">
                <a:solidFill>
                  <a:srgbClr val="0E1512"/>
                </a:solidFill>
                <a:latin typeface="Arial"/>
              </a:rPr>
              <a:t>Kamran (2017), 30 unbanked informants</a:t>
            </a:r>
          </a:p>
          <a:p>
            <a:pPr algn="l">
              <a:lnSpc>
                <a:spcPct val="118000"/>
              </a:lnSpc>
              <a:spcAft>
                <a:spcPts val="300"/>
              </a:spcAft>
            </a:pPr>
            <a:r>
              <a:rPr sz="1100" b="0" i="0">
                <a:solidFill>
                  <a:srgbClr val="0E1512"/>
                </a:solidFill>
                <a:latin typeface="Arial"/>
              </a:rPr>
              <a:t>Committees give real control over money, and not one of his thirty informants had ever experienced a member default.</a:t>
            </a:r>
          </a:p>
        </p:txBody>
      </p:sp>
      <p:sp>
        <p:nvSpPr>
          <p:cNvPr id="23" name="Isosceles Triangle 22"/>
          <p:cNvSpPr/>
          <p:nvPr/>
        </p:nvSpPr>
        <p:spPr>
          <a:xfrm rot="10800000">
            <a:off x="5806440" y="3163824"/>
            <a:ext cx="457200" cy="310896"/>
          </a:xfrm>
          <a:prstGeom prst="triangle">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84448"/>
            <a:ext cx="11057839" cy="566928"/>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95528" y="3712463"/>
            <a:ext cx="10600639" cy="365760"/>
          </a:xfrm>
          <a:prstGeom prst="rect">
            <a:avLst/>
          </a:prstGeom>
          <a:noFill/>
        </p:spPr>
        <p:txBody>
          <a:bodyPr wrap="square" lIns="0" rIns="0" tIns="0" bIns="0" anchor="t">
            <a:spAutoFit/>
          </a:bodyPr>
          <a:lstStyle/>
          <a:p>
            <a:pPr algn="l">
              <a:lnSpc>
                <a:spcPct val="100000"/>
              </a:lnSpc>
              <a:spcAft>
                <a:spcPts val="400"/>
              </a:spcAft>
            </a:pPr>
            <a:r>
              <a:rPr sz="1360" b="0" i="0">
                <a:solidFill>
                  <a:srgbClr val="F6F1E4"/>
                </a:solidFill>
                <a:latin typeface="Georgia"/>
              </a:rPr>
              <a:t>The committee filters on income REGULARITY, not income LEVEL. Both papers are then true at once.</a:t>
            </a:r>
          </a:p>
        </p:txBody>
      </p:sp>
      <p:graphicFrame>
        <p:nvGraphicFramePr>
          <p:cNvPr id="26" name="Table 25"/>
          <p:cNvGraphicFramePr>
            <a:graphicFrameLocks noGrp="1"/>
          </p:cNvGraphicFramePr>
          <p:nvPr/>
        </p:nvGraphicFramePr>
        <p:xfrm>
          <a:off x="566928" y="4370832"/>
          <a:ext cx="11057837" cy="1325514"/>
        </p:xfrm>
        <a:graphic>
          <a:graphicData uri="http://schemas.openxmlformats.org/drawingml/2006/table">
            <a:tbl>
              <a:tblPr>
                <a:tableStyleId>{5C22544A-7EE6-4342-B048-85BDC9FD1C3A}</a:tableStyleId>
              </a:tblPr>
              <a:tblGrid>
                <a:gridCol w="4201978"/>
                <a:gridCol w="3317351"/>
                <a:gridCol w="3538508"/>
              </a:tblGrid>
              <a:tr h="447690">
                <a:tc>
                  <a:txBody>
                    <a:bodyPr wrap="square"/>
                    <a:lstStyle/>
                    <a:p>
                      <a:pPr algn="l"/>
                      <a:r>
                        <a:rPr sz="960" b="1">
                          <a:solidFill>
                            <a:srgbClr val="F6F1E4"/>
                          </a:solidFill>
                          <a:latin typeface="Arial"/>
                        </a:rPr>
                        <a:t>Segment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Outcome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Consequence for Halqa</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38912">
                <a:tc>
                  <a:txBody>
                    <a:bodyPr wrap="square"/>
                    <a:lstStyle/>
                    <a:p>
                      <a:pPr algn="l"/>
                      <a:r>
                        <a:rPr sz="1019" b="0">
                          <a:solidFill>
                            <a:srgbClr val="0E1512"/>
                          </a:solidFill>
                          <a:latin typeface="Arial"/>
                        </a:rPr>
                        <a:t>The destitute — irregular or insufficient income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Excluded by the groups themselves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Not our member. Do not claim otherwise.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38912">
                <a:tc>
                  <a:txBody>
                    <a:bodyPr wrap="square"/>
                    <a:lstStyle/>
                    <a:p>
                      <a:pPr algn="l"/>
                      <a:r>
                        <a:rPr sz="1019" b="0">
                          <a:solidFill>
                            <a:srgbClr val="0E1512"/>
                          </a:solidFill>
                          <a:latin typeface="Arial"/>
                        </a:rPr>
                        <a:t>The regularly-earning unbanked — a tailor on Rs 17,000, a driver on Rs 22,000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Served well, near-zero observed default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The whole market. Tens of millions of people.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7" name="Rectangle 26"/>
          <p:cNvSpPr/>
          <p:nvPr/>
        </p:nvSpPr>
        <p:spPr>
          <a:xfrm>
            <a:off x="566928" y="5669280"/>
            <a:ext cx="45720" cy="566928"/>
          </a:xfrm>
          <a:prstGeom prst="rect">
            <a:avLst/>
          </a:prstGeom>
          <a:solidFill>
            <a:srgbClr val="8C2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95528" y="5687568"/>
            <a:ext cx="10424160" cy="640080"/>
          </a:xfrm>
          <a:prstGeom prst="rect">
            <a:avLst/>
          </a:prstGeom>
          <a:noFill/>
        </p:spPr>
        <p:txBody>
          <a:bodyPr wrap="square" lIns="0" rIns="0" tIns="0" bIns="0" anchor="t">
            <a:spAutoFit/>
          </a:bodyPr>
          <a:lstStyle/>
          <a:p>
            <a:pPr algn="l">
              <a:lnSpc>
                <a:spcPct val="120000"/>
              </a:lnSpc>
              <a:spcAft>
                <a:spcPts val="400"/>
              </a:spcAft>
            </a:pPr>
            <a:r>
              <a:rPr sz="1100" b="0" i="0">
                <a:solidFill>
                  <a:srgbClr val="0E1512"/>
                </a:solidFill>
                <a:latin typeface="Arial"/>
              </a:rPr>
              <a:t>Two claims are formally retired and must not reappear: that Halqa serves “the poorest”, and that committees substitute for formal finance. Both are disprovable in ten minutes. The defensible claim is that Halqa is the on-ramp to formal finance — which is exactly what the Sakh delivers.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D9A93C"/>
                </a:solidFill>
                <a:latin typeface="Georgia"/>
              </a:rPr>
              <a:t>02</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6F1E4"/>
                </a:solidFill>
                <a:latin typeface="Georgia"/>
              </a:rPr>
              <a:t>The architecture</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One decision defines the company: Halqa never holds member money.</a:t>
            </a:r>
          </a:p>
          <a:p>
            <a:pPr algn="l">
              <a:lnSpc>
                <a:spcPct val="100000"/>
              </a:lnSpc>
              <a:spcAft>
                <a:spcPts val="600"/>
              </a:spcAft>
            </a:pPr>
            <a:r>
              <a:rPr sz="1240" b="0" i="0">
                <a:solidFill>
                  <a:srgbClr val="C8D4CC"/>
                </a:solidFill>
                <a:latin typeface="Arial"/>
              </a:rPr>
              <a:t>It is simultaneously the fraud control, the legal strategy and the moat.</a:t>
            </a:r>
          </a:p>
          <a:p>
            <a:pPr algn="l">
              <a:lnSpc>
                <a:spcPct val="100000"/>
              </a:lnSpc>
              <a:spcAft>
                <a:spcPts val="600"/>
              </a:spcAft>
            </a:pPr>
            <a:r>
              <a:rPr sz="1240" b="0" i="0">
                <a:solidFill>
                  <a:srgbClr val="C8D4CC"/>
                </a:solidFill>
                <a:latin typeface="Arial"/>
              </a:rPr>
              <a:t>It was designed in from the first line of code, not bolted on.</a:t>
            </a:r>
          </a:p>
        </p:txBody>
      </p:sp>
      <p:cxnSp>
        <p:nvCxnSpPr>
          <p:cNvPr id="7" name="Connector 6"/>
          <p:cNvCxnSpPr/>
          <p:nvPr/>
        </p:nvCxnSpPr>
        <p:spPr>
          <a:xfrm>
            <a:off x="2697480"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02 · THE ARCHITECTURE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Where the money goes, and where Halqa is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When a member pays, funds travel directly from their account to the recipient’s over Pakistan’s own rails. Halqa observes the settlement and writes it down.</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11</a:t>
            </a:r>
          </a:p>
        </p:txBody>
      </p:sp>
      <p:sp>
        <p:nvSpPr>
          <p:cNvPr id="18" name="TextBox 17"/>
          <p:cNvSpPr txBox="1"/>
          <p:nvPr/>
        </p:nvSpPr>
        <p:spPr>
          <a:xfrm>
            <a:off x="566928" y="166420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7   The settlement path. Halqa is not in it.</a:t>
            </a:r>
          </a:p>
        </p:txBody>
      </p:sp>
      <p:sp>
        <p:nvSpPr>
          <p:cNvPr id="19" name="Rectangle 18"/>
          <p:cNvSpPr/>
          <p:nvPr/>
        </p:nvSpPr>
        <p:spPr>
          <a:xfrm>
            <a:off x="841248" y="2103120"/>
            <a:ext cx="2743200" cy="960120"/>
          </a:xfrm>
          <a:prstGeom prst="rect">
            <a:avLst/>
          </a:prstGeom>
          <a:solidFill>
            <a:srgbClr val="FFFFFF"/>
          </a:solidFill>
          <a:ln w="1397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78408" y="2304288"/>
            <a:ext cx="2468880" cy="640080"/>
          </a:xfrm>
          <a:prstGeom prst="rect">
            <a:avLst/>
          </a:prstGeom>
          <a:noFill/>
        </p:spPr>
        <p:txBody>
          <a:bodyPr wrap="square" lIns="0" rIns="0" tIns="0" bIns="0" anchor="t">
            <a:spAutoFit/>
          </a:bodyPr>
          <a:lstStyle/>
          <a:p>
            <a:pPr algn="ctr">
              <a:lnSpc>
                <a:spcPct val="100000"/>
              </a:lnSpc>
              <a:spcAft>
                <a:spcPts val="200"/>
              </a:spcAft>
            </a:pPr>
            <a:r>
              <a:rPr sz="1160" b="0" i="0">
                <a:solidFill>
                  <a:srgbClr val="0E1512"/>
                </a:solidFill>
                <a:latin typeface="Arial"/>
              </a:rPr>
              <a:t>The member paying</a:t>
            </a:r>
          </a:p>
          <a:p>
            <a:pPr algn="ctr">
              <a:lnSpc>
                <a:spcPct val="100000"/>
              </a:lnSpc>
              <a:spcAft>
                <a:spcPts val="200"/>
              </a:spcAft>
            </a:pPr>
            <a:r>
              <a:rPr sz="1160" b="0" i="0">
                <a:solidFill>
                  <a:srgbClr val="0E1512"/>
                </a:solidFill>
                <a:latin typeface="Arial"/>
              </a:rPr>
              <a:t>this round’s contribution</a:t>
            </a:r>
          </a:p>
        </p:txBody>
      </p:sp>
      <p:sp>
        <p:nvSpPr>
          <p:cNvPr id="21" name="Rectangle 20"/>
          <p:cNvSpPr/>
          <p:nvPr/>
        </p:nvSpPr>
        <p:spPr>
          <a:xfrm>
            <a:off x="4727448" y="2267712"/>
            <a:ext cx="2377440" cy="621792"/>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818888" y="2377440"/>
            <a:ext cx="2194560" cy="457200"/>
          </a:xfrm>
          <a:prstGeom prst="rect">
            <a:avLst/>
          </a:prstGeom>
          <a:noFill/>
        </p:spPr>
        <p:txBody>
          <a:bodyPr wrap="square" lIns="0" rIns="0" tIns="0" bIns="0" anchor="t">
            <a:spAutoFit/>
          </a:bodyPr>
          <a:lstStyle/>
          <a:p>
            <a:pPr algn="ctr">
              <a:lnSpc>
                <a:spcPct val="100000"/>
              </a:lnSpc>
              <a:spcAft>
                <a:spcPts val="100"/>
              </a:spcAft>
            </a:pPr>
            <a:r>
              <a:rPr sz="980" b="0" i="0">
                <a:solidFill>
                  <a:srgbClr val="123D30"/>
                </a:solidFill>
                <a:latin typeface="Arial"/>
              </a:rPr>
              <a:t>Raast  ·  JazzCash  ·  Easypaisa</a:t>
            </a:r>
          </a:p>
          <a:p>
            <a:pPr algn="ctr">
              <a:lnSpc>
                <a:spcPct val="100000"/>
              </a:lnSpc>
              <a:spcAft>
                <a:spcPts val="100"/>
              </a:spcAft>
            </a:pPr>
            <a:r>
              <a:rPr sz="980" b="0" i="0">
                <a:solidFill>
                  <a:srgbClr val="123D30"/>
                </a:solidFill>
                <a:latin typeface="Arial"/>
              </a:rPr>
              <a:t>bank transfer  ·  cash record</a:t>
            </a:r>
          </a:p>
        </p:txBody>
      </p:sp>
      <p:sp>
        <p:nvSpPr>
          <p:cNvPr id="23" name="Rectangle 22"/>
          <p:cNvSpPr/>
          <p:nvPr/>
        </p:nvSpPr>
        <p:spPr>
          <a:xfrm>
            <a:off x="8202168" y="2103120"/>
            <a:ext cx="2743200" cy="960120"/>
          </a:xfrm>
          <a:prstGeom prst="rect">
            <a:avLst/>
          </a:prstGeom>
          <a:solidFill>
            <a:srgbClr val="FFFFFF"/>
          </a:solidFill>
          <a:ln w="1397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39328" y="2304288"/>
            <a:ext cx="2468880" cy="640080"/>
          </a:xfrm>
          <a:prstGeom prst="rect">
            <a:avLst/>
          </a:prstGeom>
          <a:noFill/>
        </p:spPr>
        <p:txBody>
          <a:bodyPr wrap="square" lIns="0" rIns="0" tIns="0" bIns="0" anchor="t">
            <a:spAutoFit/>
          </a:bodyPr>
          <a:lstStyle/>
          <a:p>
            <a:pPr algn="ctr">
              <a:lnSpc>
                <a:spcPct val="100000"/>
              </a:lnSpc>
              <a:spcAft>
                <a:spcPts val="200"/>
              </a:spcAft>
            </a:pPr>
            <a:r>
              <a:rPr sz="1160" b="0" i="0">
                <a:solidFill>
                  <a:srgbClr val="0E1512"/>
                </a:solidFill>
                <a:latin typeface="Arial"/>
              </a:rPr>
              <a:t>The member whose</a:t>
            </a:r>
          </a:p>
          <a:p>
            <a:pPr algn="ctr">
              <a:lnSpc>
                <a:spcPct val="100000"/>
              </a:lnSpc>
              <a:spcAft>
                <a:spcPts val="200"/>
              </a:spcAft>
            </a:pPr>
            <a:r>
              <a:rPr sz="1160" b="0" i="0">
                <a:solidFill>
                  <a:srgbClr val="0E1512"/>
                </a:solidFill>
                <a:latin typeface="Arial"/>
              </a:rPr>
              <a:t>turn it is this round</a:t>
            </a:r>
          </a:p>
        </p:txBody>
      </p:sp>
      <p:cxnSp>
        <p:nvCxnSpPr>
          <p:cNvPr id="25" name="Connector 24"/>
          <p:cNvCxnSpPr/>
          <p:nvPr/>
        </p:nvCxnSpPr>
        <p:spPr>
          <a:xfrm>
            <a:off x="3584448" y="2578608"/>
            <a:ext cx="1143000" cy="0"/>
          </a:xfrm>
          <a:prstGeom prst="line">
            <a:avLst/>
          </a:prstGeom>
          <a:ln w="3810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104888" y="2578608"/>
            <a:ext cx="1097280" cy="0"/>
          </a:xfrm>
          <a:prstGeom prst="line">
            <a:avLst/>
          </a:prstGeom>
          <a:ln w="381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7973568" y="2432304"/>
            <a:ext cx="274320" cy="292608"/>
          </a:xfrm>
          <a:prstGeom prst="triangle">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13048" y="3931920"/>
            <a:ext cx="4114800" cy="896112"/>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995928" y="4096512"/>
            <a:ext cx="3749039" cy="640080"/>
          </a:xfrm>
          <a:prstGeom prst="rect">
            <a:avLst/>
          </a:prstGeom>
          <a:noFill/>
        </p:spPr>
        <p:txBody>
          <a:bodyPr wrap="square" lIns="0" rIns="0" tIns="0" bIns="0" anchor="t">
            <a:spAutoFit/>
          </a:bodyPr>
          <a:lstStyle/>
          <a:p>
            <a:pPr algn="ctr">
              <a:lnSpc>
                <a:spcPct val="100000"/>
              </a:lnSpc>
              <a:spcAft>
                <a:spcPts val="200"/>
              </a:spcAft>
            </a:pPr>
            <a:r>
              <a:rPr sz="1260" b="0" i="0">
                <a:solidFill>
                  <a:srgbClr val="F6F1E4"/>
                </a:solidFill>
                <a:latin typeface="Georgia"/>
              </a:rPr>
              <a:t>HALQA</a:t>
            </a:r>
          </a:p>
          <a:p>
            <a:pPr algn="ctr">
              <a:lnSpc>
                <a:spcPct val="100000"/>
              </a:lnSpc>
              <a:spcAft>
                <a:spcPts val="200"/>
              </a:spcAft>
            </a:pPr>
            <a:r>
              <a:rPr sz="1260" b="0" i="0">
                <a:solidFill>
                  <a:srgbClr val="F6F1E4"/>
                </a:solidFill>
                <a:latin typeface="Georgia"/>
              </a:rPr>
              <a:t>the double-entry ledger</a:t>
            </a:r>
          </a:p>
        </p:txBody>
      </p:sp>
      <p:cxnSp>
        <p:nvCxnSpPr>
          <p:cNvPr id="30" name="Connector 29"/>
          <p:cNvCxnSpPr/>
          <p:nvPr/>
        </p:nvCxnSpPr>
        <p:spPr>
          <a:xfrm>
            <a:off x="5870448" y="3063240"/>
            <a:ext cx="0" cy="868680"/>
          </a:xfrm>
          <a:prstGeom prst="line">
            <a:avLst/>
          </a:prstGeom>
          <a:ln w="12700">
            <a:solidFill>
              <a:srgbClr val="4C574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53328" y="3383280"/>
            <a:ext cx="3657600" cy="274320"/>
          </a:xfrm>
          <a:prstGeom prst="rect">
            <a:avLst/>
          </a:prstGeom>
          <a:noFill/>
        </p:spPr>
        <p:txBody>
          <a:bodyPr wrap="square" lIns="0" rIns="0" tIns="0" bIns="0" anchor="t">
            <a:spAutoFit/>
          </a:bodyPr>
          <a:lstStyle/>
          <a:p>
            <a:pPr algn="l">
              <a:lnSpc>
                <a:spcPct val="100000"/>
              </a:lnSpc>
              <a:spcAft>
                <a:spcPts val="400"/>
              </a:spcAft>
            </a:pPr>
            <a:r>
              <a:rPr sz="1019" b="0" i="0">
                <a:solidFill>
                  <a:srgbClr val="4C574F"/>
                </a:solidFill>
                <a:latin typeface="Arial"/>
              </a:rPr>
              <a:t>observes the settlement and records it</a:t>
            </a:r>
          </a:p>
        </p:txBody>
      </p:sp>
      <p:sp>
        <p:nvSpPr>
          <p:cNvPr id="32" name="TextBox 31"/>
          <p:cNvSpPr txBox="1"/>
          <p:nvPr/>
        </p:nvSpPr>
        <p:spPr>
          <a:xfrm>
            <a:off x="566928" y="5138928"/>
            <a:ext cx="5212080" cy="365760"/>
          </a:xfrm>
          <a:prstGeom prst="rect">
            <a:avLst/>
          </a:prstGeom>
          <a:noFill/>
        </p:spPr>
        <p:txBody>
          <a:bodyPr wrap="square" lIns="0" rIns="0" tIns="0" bIns="0">
            <a:spAutoFit/>
          </a:bodyPr>
          <a:lstStyle/>
          <a:p>
            <a:pPr>
              <a:lnSpc>
                <a:spcPct val="106000"/>
              </a:lnSpc>
              <a:spcAft>
                <a:spcPts val="700"/>
              </a:spcAft>
            </a:pPr>
            <a:r>
              <a:rPr sz="1140" b="1">
                <a:solidFill>
                  <a:srgbClr val="D9A93C"/>
                </a:solidFill>
                <a:latin typeface="Georgia"/>
              </a:rPr>
              <a:t>|  </a:t>
            </a:r>
            <a:r>
              <a:rPr sz="1140" b="1">
                <a:solidFill>
                  <a:srgbClr val="123D30"/>
                </a:solidFill>
                <a:latin typeface="Arial"/>
              </a:rPr>
              <a:t>No pooled account exists  </a:t>
            </a:r>
            <a:r>
              <a:rPr sz="1140">
                <a:solidFill>
                  <a:srgbClr val="0E1512"/>
                </a:solidFill>
                <a:latin typeface="Arial"/>
              </a:rPr>
              <a:t>there is no balance to misappropriate, delay, or lend out.</a:t>
            </a:r>
          </a:p>
          <a:p>
            <a:pPr>
              <a:lnSpc>
                <a:spcPct val="106000"/>
              </a:lnSpc>
              <a:spcAft>
                <a:spcPts val="700"/>
              </a:spcAft>
            </a:pPr>
            <a:r>
              <a:rPr sz="1140" b="1">
                <a:solidFill>
                  <a:srgbClr val="D9A93C"/>
                </a:solidFill>
                <a:latin typeface="Georgia"/>
              </a:rPr>
              <a:t>|  </a:t>
            </a:r>
            <a:r>
              <a:rPr sz="1140" b="1">
                <a:solidFill>
                  <a:srgbClr val="123D30"/>
                </a:solidFill>
                <a:latin typeface="Arial"/>
              </a:rPr>
              <a:t>This cannot weaken under commercial pressure  </a:t>
            </a:r>
            <a:r>
              <a:rPr sz="1140">
                <a:solidFill>
                  <a:srgbClr val="0E1512"/>
                </a:solidFill>
                <a:latin typeface="Arial"/>
              </a:rPr>
              <a:t>there is nothing to weaken.</a:t>
            </a:r>
          </a:p>
        </p:txBody>
      </p:sp>
      <p:sp>
        <p:nvSpPr>
          <p:cNvPr id="33" name="TextBox 32"/>
          <p:cNvSpPr txBox="1"/>
          <p:nvPr/>
        </p:nvSpPr>
        <p:spPr>
          <a:xfrm>
            <a:off x="6327648" y="5138928"/>
            <a:ext cx="5212080" cy="365760"/>
          </a:xfrm>
          <a:prstGeom prst="rect">
            <a:avLst/>
          </a:prstGeom>
          <a:noFill/>
        </p:spPr>
        <p:txBody>
          <a:bodyPr wrap="square" lIns="0" rIns="0" tIns="0" bIns="0">
            <a:spAutoFit/>
          </a:bodyPr>
          <a:lstStyle/>
          <a:p>
            <a:pPr>
              <a:lnSpc>
                <a:spcPct val="106000"/>
              </a:lnSpc>
              <a:spcAft>
                <a:spcPts val="700"/>
              </a:spcAft>
            </a:pPr>
            <a:r>
              <a:rPr sz="1140" b="1">
                <a:solidFill>
                  <a:srgbClr val="D9A93C"/>
                </a:solidFill>
                <a:latin typeface="Georgia"/>
              </a:rPr>
              <a:t>|  </a:t>
            </a:r>
            <a:r>
              <a:rPr sz="1140" b="1">
                <a:solidFill>
                  <a:srgbClr val="123D30"/>
                </a:solidFill>
                <a:latin typeface="Arial"/>
              </a:rPr>
              <a:t>Even at stage two  </a:t>
            </a:r>
            <a:r>
              <a:rPr sz="1140">
                <a:solidFill>
                  <a:srgbClr val="0E1512"/>
                </a:solidFill>
                <a:latin typeface="Arial"/>
              </a:rPr>
              <a:t>savings sit with a licensed trustee, in units registered in the member’s own name.</a:t>
            </a:r>
          </a:p>
          <a:p>
            <a:pPr>
              <a:lnSpc>
                <a:spcPct val="106000"/>
              </a:lnSpc>
              <a:spcAft>
                <a:spcPts val="700"/>
              </a:spcAft>
            </a:pPr>
            <a:r>
              <a:rPr sz="1140" b="1">
                <a:solidFill>
                  <a:srgbClr val="D9A93C"/>
                </a:solidFill>
                <a:latin typeface="Georgia"/>
              </a:rPr>
              <a:t>|  </a:t>
            </a:r>
            <a:r>
              <a:rPr sz="1140" b="1">
                <a:solidFill>
                  <a:srgbClr val="123D30"/>
                </a:solidFill>
                <a:latin typeface="Arial"/>
              </a:rPr>
              <a:t>Receipts are admissible  </a:t>
            </a:r>
            <a:r>
              <a:rPr sz="1140">
                <a:solidFill>
                  <a:srgbClr val="0E1512"/>
                </a:solidFill>
                <a:latin typeface="Arial"/>
              </a:rPr>
              <a:t>under the Electronic Transactions Ordinance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02 · THE ARCHITECTURE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Why this is a legal position and not a slogan</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Pakistan’s heavy financial licences each attach to a specific activity. The regulated activities do not occur anywhere in the architecture, so the licences governing them cannot apply.</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12</a:t>
            </a:r>
          </a:p>
        </p:txBody>
      </p:sp>
      <p:sp>
        <p:nvSpPr>
          <p:cNvPr id="18" name="TextBox 17"/>
          <p:cNvSpPr txBox="1"/>
          <p:nvPr/>
        </p:nvSpPr>
        <p:spPr>
          <a:xfrm>
            <a:off x="566928" y="170078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8   The three licences, and why each does not attach</a:t>
            </a:r>
          </a:p>
        </p:txBody>
      </p:sp>
      <p:graphicFrame>
        <p:nvGraphicFramePr>
          <p:cNvPr id="19" name="Table 18"/>
          <p:cNvGraphicFramePr>
            <a:graphicFrameLocks noGrp="1"/>
          </p:cNvGraphicFramePr>
          <p:nvPr/>
        </p:nvGraphicFramePr>
        <p:xfrm>
          <a:off x="566928" y="1920240"/>
          <a:ext cx="11057837" cy="2058497"/>
        </p:xfrm>
        <a:graphic>
          <a:graphicData uri="http://schemas.openxmlformats.org/drawingml/2006/table">
            <a:tbl>
              <a:tblPr>
                <a:tableStyleId>{5C22544A-7EE6-4342-B048-85BDC9FD1C3A}</a:tableStyleId>
              </a:tblPr>
              <a:tblGrid>
                <a:gridCol w="2875038"/>
                <a:gridCol w="1105783"/>
                <a:gridCol w="3096194"/>
                <a:gridCol w="3980822"/>
              </a:tblGrid>
              <a:tr h="522305">
                <a:tc>
                  <a:txBody>
                    <a:bodyPr wrap="square"/>
                    <a:lstStyle/>
                    <a:p>
                      <a:pPr algn="l"/>
                      <a:r>
                        <a:rPr sz="960" b="1">
                          <a:solidFill>
                            <a:srgbClr val="F6F1E4"/>
                          </a:solidFill>
                          <a:latin typeface="Arial"/>
                        </a:rPr>
                        <a:t>Licence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Regulator</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Triggered by</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Halqa</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EMI — Electronic Money Institution, Rs 200M capital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SBP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Issuing or holding electronic money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Issues no balances, holds none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NBFC — Investment Finance Services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SECP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Lending, or pooling and deploying funds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Members fund each other. Stage-2 funds are deployed only by a licensed AMC under its own licence.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PSO / PSP — payment system operator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SBP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Operating a payment system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Operates none. Initiates over a licensed aggregator’s.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4041648"/>
            <a:ext cx="45720" cy="786384"/>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4059936"/>
            <a:ext cx="10424160" cy="822960"/>
          </a:xfrm>
          <a:prstGeom prst="rect">
            <a:avLst/>
          </a:prstGeom>
          <a:noFill/>
        </p:spPr>
        <p:txBody>
          <a:bodyPr wrap="square" lIns="0" rIns="0" tIns="0" bIns="0" anchor="t">
            <a:spAutoFit/>
          </a:bodyPr>
          <a:lstStyle/>
          <a:p>
            <a:pPr algn="l">
              <a:lnSpc>
                <a:spcPct val="122000"/>
              </a:lnSpc>
              <a:spcAft>
                <a:spcPts val="400"/>
              </a:spcAft>
            </a:pPr>
            <a:r>
              <a:rPr sz="1220" b="0" i="0">
                <a:solidFill>
                  <a:srgbClr val="0E1512"/>
                </a:solidFill>
                <a:latin typeface="Arial"/>
              </a:rPr>
              <a:t>This is not a workaround. It was designed in from the first line of code and survives scrutiny because it is architectural rather than contractual — there is no clause to be read against us, because there is no activity to construe.</a:t>
            </a:r>
          </a:p>
        </p:txBody>
      </p:sp>
      <p:cxnSp>
        <p:nvCxnSpPr>
          <p:cNvPr id="22" name="Connector 21"/>
          <p:cNvCxnSpPr/>
          <p:nvPr/>
        </p:nvCxnSpPr>
        <p:spPr>
          <a:xfrm>
            <a:off x="566928" y="5047488"/>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88414"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409901"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331387"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252874"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74360"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5847"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17334"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938820"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860307"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81793" y="496519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703280" y="496519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5266944"/>
            <a:ext cx="10607040" cy="274320"/>
          </a:xfrm>
          <a:prstGeom prst="rect">
            <a:avLst/>
          </a:prstGeom>
          <a:noFill/>
        </p:spPr>
        <p:txBody>
          <a:bodyPr wrap="square" lIns="0" rIns="0" tIns="0" bIns="0" anchor="t">
            <a:spAutoFit/>
          </a:bodyPr>
          <a:lstStyle/>
          <a:p>
            <a:pPr algn="l">
              <a:lnSpc>
                <a:spcPct val="100000"/>
              </a:lnSpc>
              <a:spcAft>
                <a:spcPts val="400"/>
              </a:spcAft>
            </a:pPr>
            <a:r>
              <a:rPr sz="1340" b="0" i="0">
                <a:solidFill>
                  <a:srgbClr val="123D30"/>
                </a:solidFill>
                <a:latin typeface="Georgia"/>
              </a:rPr>
              <a:t>Independent validation, eight years early</a:t>
            </a:r>
          </a:p>
        </p:txBody>
      </p:sp>
      <p:sp>
        <p:nvSpPr>
          <p:cNvPr id="35" name="TextBox 34"/>
          <p:cNvSpPr txBox="1"/>
          <p:nvPr/>
        </p:nvSpPr>
        <p:spPr>
          <a:xfrm>
            <a:off x="566928" y="5614416"/>
            <a:ext cx="10607040" cy="640080"/>
          </a:xfrm>
          <a:prstGeom prst="rect">
            <a:avLst/>
          </a:prstGeom>
          <a:noFill/>
        </p:spPr>
        <p:txBody>
          <a:bodyPr wrap="square" lIns="0" rIns="0" tIns="0" bIns="0" anchor="t">
            <a:spAutoFit/>
          </a:bodyPr>
          <a:lstStyle/>
          <a:p>
            <a:pPr algn="l">
              <a:lnSpc>
                <a:spcPct val="120000"/>
              </a:lnSpc>
              <a:spcAft>
                <a:spcPts val="400"/>
              </a:spcAft>
            </a:pPr>
            <a:r>
              <a:rPr sz="1160" b="0" i="0">
                <a:solidFill>
                  <a:srgbClr val="0E1512"/>
                </a:solidFill>
                <a:latin typeface="Arial"/>
              </a:rPr>
              <a:t>“Holding money deposits is not allowed without a license, and therefore the money flowing in and out of the ROSCA app could be directed to an individual’s mobile wallet with the ROSCA app serving as a conduit.”</a:t>
            </a:r>
          </a:p>
        </p:txBody>
      </p:sp>
      <p:sp>
        <p:nvSpPr>
          <p:cNvPr id="36" name="TextBox 35"/>
          <p:cNvSpPr txBox="1"/>
          <p:nvPr/>
        </p:nvSpPr>
        <p:spPr>
          <a:xfrm>
            <a:off x="566928" y="6327648"/>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Mehmood, Razaq, Webster, Batool, Mustafa, Raza and Anderson (2018) — Information Technology University Lahore and University of Washington, funded by the Gates Foundation and Karandaaz Pakistan. reported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02 · THE ARCHITECTURE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same decision is the primary fraud control</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Every major committee fraud in Pakistan required one precondition: a central pool under one person’s control.</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13</a:t>
            </a:r>
          </a:p>
        </p:txBody>
      </p:sp>
      <p:sp>
        <p:nvSpPr>
          <p:cNvPr id="18" name="TextBox 17"/>
          <p:cNvSpPr txBox="1"/>
          <p:nvPr/>
        </p:nvSpPr>
        <p:spPr>
          <a:xfrm>
            <a:off x="566928" y="1664208"/>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9   What custody has cost Pakistani savers</a:t>
            </a:r>
          </a:p>
        </p:txBody>
      </p:sp>
      <p:graphicFrame>
        <p:nvGraphicFramePr>
          <p:cNvPr id="19" name="Table 18"/>
          <p:cNvGraphicFramePr>
            <a:graphicFrameLocks noGrp="1"/>
          </p:cNvGraphicFramePr>
          <p:nvPr/>
        </p:nvGraphicFramePr>
        <p:xfrm>
          <a:off x="566928" y="1883664"/>
          <a:ext cx="6766560" cy="2386949"/>
        </p:xfrm>
        <a:graphic>
          <a:graphicData uri="http://schemas.openxmlformats.org/drawingml/2006/table">
            <a:tbl>
              <a:tblPr>
                <a:tableStyleId>{5C22544A-7EE6-4342-B048-85BDC9FD1C3A}</a:tableStyleId>
              </a:tblPr>
              <a:tblGrid>
                <a:gridCol w="2029968"/>
                <a:gridCol w="2368296"/>
                <a:gridCol w="2368296"/>
              </a:tblGrid>
              <a:tr h="484997">
                <a:tc>
                  <a:txBody>
                    <a:bodyPr wrap="square"/>
                    <a:lstStyle/>
                    <a:p>
                      <a:pPr algn="l"/>
                      <a:r>
                        <a:rPr sz="960" b="1">
                          <a:solidFill>
                            <a:srgbClr val="F6F1E4"/>
                          </a:solidFill>
                          <a:latin typeface="Arial"/>
                        </a:rPr>
                        <a:t>Case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Scale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Precondition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75488">
                <a:tc>
                  <a:txBody>
                    <a:bodyPr wrap="square"/>
                    <a:lstStyle/>
                    <a:p>
                      <a:pPr algn="l"/>
                      <a:r>
                        <a:rPr sz="980" b="0">
                          <a:solidFill>
                            <a:srgbClr val="0E1512"/>
                          </a:solidFill>
                          <a:latin typeface="Arial"/>
                        </a:rPr>
                        <a:t>Sidra Humaid, Karachi, December 2022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≈Rs 420 million across 117 committees, ≈200 contributors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Total concentrated custody, strangers from Facebook, no written records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75488">
                <a:tc>
                  <a:txBody>
                    <a:bodyPr wrap="square"/>
                    <a:lstStyle/>
                    <a:p>
                      <a:pPr algn="l"/>
                      <a:r>
                        <a:rPr sz="980" b="0">
                          <a:solidFill>
                            <a:srgbClr val="0E1512"/>
                          </a:solidFill>
                          <a:latin typeface="Arial"/>
                        </a:rPr>
                        <a:t>Punjab cooperative societies, 1991–92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Rs 10–23 billion across as many as 2.6 million accounts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Institutional custody of community savings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75488">
                <a:tc>
                  <a:txBody>
                    <a:bodyPr wrap="square"/>
                    <a:lstStyle/>
                    <a:p>
                      <a:pPr algn="l"/>
                      <a:r>
                        <a:rPr sz="980" b="0">
                          <a:solidFill>
                            <a:srgbClr val="0E1512"/>
                          </a:solidFill>
                          <a:latin typeface="Arial"/>
                        </a:rPr>
                        <a:t>TAG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SBP revoked approvals 2022, ordered to refund wallet balances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Held customer balances under an EMI approval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75488">
                <a:tc>
                  <a:txBody>
                    <a:bodyPr wrap="square"/>
                    <a:lstStyle/>
                    <a:p>
                      <a:pPr algn="l"/>
                      <a:r>
                        <a:rPr sz="980" b="0">
                          <a:solidFill>
                            <a:srgbClr val="0E1512"/>
                          </a:solidFill>
                          <a:latin typeface="Arial"/>
                        </a:rPr>
                        <a:t>SadaPay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Sold 2024 at a reported sub-$50M, below its last valuation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EMI economics never closed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7699248" y="1883664"/>
            <a:ext cx="3886200" cy="237744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27848" y="2103120"/>
            <a:ext cx="3429000" cy="2011680"/>
          </a:xfrm>
          <a:prstGeom prst="rect">
            <a:avLst/>
          </a:prstGeom>
          <a:noFill/>
        </p:spPr>
        <p:txBody>
          <a:bodyPr wrap="square" lIns="0" rIns="0" tIns="0" bIns="0" anchor="t">
            <a:spAutoFit/>
          </a:bodyPr>
          <a:lstStyle/>
          <a:p>
            <a:pPr algn="l">
              <a:lnSpc>
                <a:spcPct val="124000"/>
              </a:lnSpc>
              <a:spcAft>
                <a:spcPts val="400"/>
              </a:spcAft>
            </a:pPr>
            <a:r>
              <a:rPr sz="1120" b="0" i="0">
                <a:solidFill>
                  <a:srgbClr val="F6F1E4"/>
                </a:solidFill>
                <a:latin typeface="Arial"/>
              </a:rPr>
              <a:t>The cooperatives were the last formal attempt to institutionalise community savings in Pakistan. Their collapse taught two generations that handing the pool to an institution is how you lose it.</a:t>
            </a:r>
          </a:p>
          <a:p>
            <a:pPr algn="l">
              <a:lnSpc>
                <a:spcPct val="124000"/>
              </a:lnSpc>
              <a:spcAft>
                <a:spcPts val="400"/>
              </a:spcAft>
            </a:pPr>
            <a:r>
              <a:rPr sz="1120" b="0" i="0">
                <a:solidFill>
                  <a:srgbClr val="F6F1E4"/>
                </a:solidFill>
                <a:latin typeface="Arial"/>
              </a:rPr>
              <a:t/>
            </a:r>
          </a:p>
          <a:p>
            <a:pPr algn="l">
              <a:lnSpc>
                <a:spcPct val="124000"/>
              </a:lnSpc>
              <a:spcAft>
                <a:spcPts val="400"/>
              </a:spcAft>
            </a:pPr>
            <a:r>
              <a:rPr sz="1120" b="0" i="0">
                <a:solidFill>
                  <a:srgbClr val="F6F1E4"/>
                </a:solidFill>
                <a:latin typeface="Arial"/>
              </a:rPr>
              <a:t>“Your money never touches us” is not a compliance line in this market. It is the most persuasive sentence a Pakistani savings product can say — and only a no-custody operator can say it truthfully.</a:t>
            </a:r>
          </a:p>
        </p:txBody>
      </p:sp>
      <p:cxnSp>
        <p:nvCxnSpPr>
          <p:cNvPr id="22" name="Connector 21"/>
          <p:cNvCxnSpPr/>
          <p:nvPr/>
        </p:nvCxnSpPr>
        <p:spPr>
          <a:xfrm>
            <a:off x="566928" y="461772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88414"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409901"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331387"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252874" y="4535424"/>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74360"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5847"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17334"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938820"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860307"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81793"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703280" y="453542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4846320"/>
            <a:ext cx="10607040" cy="274320"/>
          </a:xfrm>
          <a:prstGeom prst="rect">
            <a:avLst/>
          </a:prstGeom>
          <a:noFill/>
        </p:spPr>
        <p:txBody>
          <a:bodyPr wrap="square" lIns="0" rIns="0" tIns="0" bIns="0" anchor="t">
            <a:spAutoFit/>
          </a:bodyPr>
          <a:lstStyle/>
          <a:p>
            <a:pPr algn="l">
              <a:lnSpc>
                <a:spcPct val="100000"/>
              </a:lnSpc>
              <a:spcAft>
                <a:spcPts val="400"/>
              </a:spcAft>
            </a:pPr>
            <a:r>
              <a:rPr sz="1340" b="0" i="0">
                <a:solidFill>
                  <a:srgbClr val="123D30"/>
                </a:solidFill>
                <a:latin typeface="Georgia"/>
              </a:rPr>
              <a:t>The three roles Halqa plays</a:t>
            </a:r>
          </a:p>
        </p:txBody>
      </p:sp>
      <p:sp>
        <p:nvSpPr>
          <p:cNvPr id="35" name="Rectangle 34"/>
          <p:cNvSpPr/>
          <p:nvPr/>
        </p:nvSpPr>
        <p:spPr>
          <a:xfrm>
            <a:off x="566928" y="5193792"/>
            <a:ext cx="45720" cy="9601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68096" y="5193792"/>
            <a:ext cx="32004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The Ledger</a:t>
            </a:r>
          </a:p>
        </p:txBody>
      </p:sp>
      <p:sp>
        <p:nvSpPr>
          <p:cNvPr id="37" name="TextBox 36"/>
          <p:cNvSpPr txBox="1"/>
          <p:nvPr/>
        </p:nvSpPr>
        <p:spPr>
          <a:xfrm>
            <a:off x="768096" y="5486400"/>
            <a:ext cx="3200400" cy="731520"/>
          </a:xfrm>
          <a:prstGeom prst="rect">
            <a:avLst/>
          </a:prstGeom>
          <a:noFill/>
        </p:spPr>
        <p:txBody>
          <a:bodyPr wrap="square" lIns="0" rIns="0" tIns="0" bIns="0" anchor="t">
            <a:spAutoFit/>
          </a:bodyPr>
          <a:lstStyle/>
          <a:p>
            <a:pPr algn="l">
              <a:lnSpc>
                <a:spcPct val="118000"/>
              </a:lnSpc>
              <a:spcAft>
                <a:spcPts val="400"/>
              </a:spcAft>
            </a:pPr>
            <a:r>
              <a:rPr sz="1040" b="0" i="0">
                <a:solidFill>
                  <a:srgbClr val="0E1512"/>
                </a:solidFill>
                <a:latin typeface="Arial"/>
              </a:rPr>
              <a:t>Records every settlement with receipts, timestamps and CNIC linkage. Admissible under the Electronic Transactions Ordinance 2002.</a:t>
            </a:r>
          </a:p>
        </p:txBody>
      </p:sp>
      <p:sp>
        <p:nvSpPr>
          <p:cNvPr id="38" name="Rectangle 37"/>
          <p:cNvSpPr/>
          <p:nvPr/>
        </p:nvSpPr>
        <p:spPr>
          <a:xfrm>
            <a:off x="4224528" y="5193792"/>
            <a:ext cx="45720" cy="9601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425696" y="5193792"/>
            <a:ext cx="32004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The Treasury</a:t>
            </a:r>
          </a:p>
        </p:txBody>
      </p:sp>
      <p:sp>
        <p:nvSpPr>
          <p:cNvPr id="40" name="TextBox 39"/>
          <p:cNvSpPr txBox="1"/>
          <p:nvPr/>
        </p:nvSpPr>
        <p:spPr>
          <a:xfrm>
            <a:off x="4425696" y="5486400"/>
            <a:ext cx="3200400" cy="731520"/>
          </a:xfrm>
          <a:prstGeom prst="rect">
            <a:avLst/>
          </a:prstGeom>
          <a:noFill/>
        </p:spPr>
        <p:txBody>
          <a:bodyPr wrap="square" lIns="0" rIns="0" tIns="0" bIns="0" anchor="t">
            <a:spAutoFit/>
          </a:bodyPr>
          <a:lstStyle/>
          <a:p>
            <a:pPr algn="l">
              <a:lnSpc>
                <a:spcPct val="118000"/>
              </a:lnSpc>
              <a:spcAft>
                <a:spcPts val="400"/>
              </a:spcAft>
            </a:pPr>
            <a:r>
              <a:rPr sz="1040" b="0" i="0">
                <a:solidFill>
                  <a:srgbClr val="0E1512"/>
                </a:solidFill>
                <a:latin typeface="Arial"/>
              </a:rPr>
              <a:t>Schedules, prices, collects and settles — without ever holding.</a:t>
            </a:r>
          </a:p>
        </p:txBody>
      </p:sp>
      <p:sp>
        <p:nvSpPr>
          <p:cNvPr id="41" name="Rectangle 40"/>
          <p:cNvSpPr/>
          <p:nvPr/>
        </p:nvSpPr>
        <p:spPr>
          <a:xfrm>
            <a:off x="7882128" y="5193792"/>
            <a:ext cx="45720" cy="9601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083296" y="5193792"/>
            <a:ext cx="32004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The Credit Bureau</a:t>
            </a:r>
          </a:p>
        </p:txBody>
      </p:sp>
      <p:sp>
        <p:nvSpPr>
          <p:cNvPr id="43" name="TextBox 42"/>
          <p:cNvSpPr txBox="1"/>
          <p:nvPr/>
        </p:nvSpPr>
        <p:spPr>
          <a:xfrm>
            <a:off x="8083296" y="5486400"/>
            <a:ext cx="3200400" cy="731520"/>
          </a:xfrm>
          <a:prstGeom prst="rect">
            <a:avLst/>
          </a:prstGeom>
          <a:noFill/>
        </p:spPr>
        <p:txBody>
          <a:bodyPr wrap="square" lIns="0" rIns="0" tIns="0" bIns="0" anchor="t">
            <a:spAutoFit/>
          </a:bodyPr>
          <a:lstStyle/>
          <a:p>
            <a:pPr algn="l">
              <a:lnSpc>
                <a:spcPct val="118000"/>
              </a:lnSpc>
              <a:spcAft>
                <a:spcPts val="400"/>
              </a:spcAft>
            </a:pPr>
            <a:r>
              <a:rPr sz="1040" b="0" i="0">
                <a:solidFill>
                  <a:srgbClr val="0E1512"/>
                </a:solidFill>
                <a:latin typeface="Arial"/>
              </a:rPr>
              <a:t>Converts payment history into the Sakh, a portable proof of reliability, and is built to furnish it to TASDEEQ.</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D9A93C"/>
                </a:solidFill>
                <a:latin typeface="Georgia"/>
              </a:rPr>
              <a:t>03</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6F1E4"/>
                </a:solidFill>
                <a:latin typeface="Georgia"/>
              </a:rPr>
              <a:t>The economics</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Members pay nothing, permanently. That is a lesson paid for by someone else’s failure.</a:t>
            </a:r>
          </a:p>
          <a:p>
            <a:pPr algn="l">
              <a:lnSpc>
                <a:spcPct val="100000"/>
              </a:lnSpc>
              <a:spcAft>
                <a:spcPts val="600"/>
              </a:spcAft>
            </a:pPr>
            <a:r>
              <a:rPr sz="1240" b="0" i="0">
                <a:solidFill>
                  <a:srgbClr val="C8D4CC"/>
                </a:solidFill>
                <a:latin typeface="Arial"/>
              </a:rPr>
              <a:t>The revenue comes from lateness, liquidity, matching and merchants.</a:t>
            </a:r>
          </a:p>
          <a:p>
            <a:pPr algn="l">
              <a:lnSpc>
                <a:spcPct val="100000"/>
              </a:lnSpc>
              <a:spcAft>
                <a:spcPts val="600"/>
              </a:spcAft>
            </a:pPr>
            <a:r>
              <a:rPr sz="1240" b="0" i="0">
                <a:solidFill>
                  <a:srgbClr val="C8D4CC"/>
                </a:solidFill>
                <a:latin typeface="Arial"/>
              </a:rPr>
              <a:t>Rail cost decides whether free-for-members is arithmetic or a wish.</a:t>
            </a:r>
          </a:p>
        </p:txBody>
      </p:sp>
      <p:cxnSp>
        <p:nvCxnSpPr>
          <p:cNvPr id="7" name="Connector 6"/>
          <p:cNvCxnSpPr/>
          <p:nvPr/>
        </p:nvCxnSpPr>
        <p:spPr>
          <a:xfrm>
            <a:off x="2697480"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03 · THE ECONOMICS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One payment, three destinations, none of them a deposit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Every rupee a member pays resolves into three amounts at the moment it is taken. They are separately ledgered, separately reconciled and never commingled.</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15</a:t>
            </a:r>
          </a:p>
        </p:txBody>
      </p:sp>
      <p:sp>
        <p:nvSpPr>
          <p:cNvPr id="18" name="TextBox 17"/>
          <p:cNvSpPr txBox="1"/>
          <p:nvPr/>
        </p:nvSpPr>
        <p:spPr>
          <a:xfrm>
            <a:off x="566928" y="1773936"/>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10   The split, on the daily product</a:t>
            </a:r>
          </a:p>
        </p:txBody>
      </p:sp>
      <p:graphicFrame>
        <p:nvGraphicFramePr>
          <p:cNvPr id="19" name="Table 18"/>
          <p:cNvGraphicFramePr>
            <a:graphicFrameLocks noGrp="1"/>
          </p:cNvGraphicFramePr>
          <p:nvPr/>
        </p:nvGraphicFramePr>
        <p:xfrm>
          <a:off x="566928" y="1993392"/>
          <a:ext cx="11057837" cy="1744309"/>
        </p:xfrm>
        <a:graphic>
          <a:graphicData uri="http://schemas.openxmlformats.org/drawingml/2006/table">
            <a:tbl>
              <a:tblPr>
                <a:tableStyleId>{5C22544A-7EE6-4342-B048-85BDC9FD1C3A}</a:tableStyleId>
              </a:tblPr>
              <a:tblGrid>
                <a:gridCol w="1990411"/>
                <a:gridCol w="3759665"/>
                <a:gridCol w="2653881"/>
                <a:gridCol w="1326940"/>
                <a:gridCol w="1326940"/>
              </a:tblGrid>
              <a:tr h="354421">
                <a:tc>
                  <a:txBody>
                    <a:bodyPr wrap="square"/>
                    <a:lstStyle/>
                    <a:p>
                      <a:pPr algn="l"/>
                      <a:r>
                        <a:rPr sz="960" b="1">
                          <a:solidFill>
                            <a:srgbClr val="F6F1E4"/>
                          </a:solidFill>
                          <a:latin typeface="Arial"/>
                        </a:rPr>
                        <a:t>Part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Where it goes</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Who owns it there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Option 1</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Option 2</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19" b="0">
                          <a:solidFill>
                            <a:srgbClr val="0E1512"/>
                          </a:solidFill>
                          <a:latin typeface="Arial"/>
                        </a:rPr>
                        <a:t>Contribution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The collecting member, over the licensed rail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The collecting member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Rs 300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Rs 333.33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19" b="0">
                          <a:solidFill>
                            <a:srgbClr val="0E1512"/>
                          </a:solidFill>
                          <a:latin typeface="Arial"/>
                        </a:rPr>
                        <a:t>Takaful contribution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Participants risk fund at a licensed operator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The participants, collectively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Rs 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Rs 83.33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19" b="0">
                          <a:solidFill>
                            <a:srgbClr val="0E1512"/>
                          </a:solidFill>
                          <a:latin typeface="Arial"/>
                        </a:rPr>
                        <a:t>Service fee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Halqa’s own revenue account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Halqa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Rs 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Rs 83.33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19" b="0">
                          <a:solidFill>
                            <a:srgbClr val="0E1512"/>
                          </a:solidFill>
                          <a:latin typeface="Arial"/>
                        </a:rPr>
                        <a:t>Daily total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One debit, resolved at source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Rs 450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E1512"/>
                          </a:solidFill>
                          <a:latin typeface="Arial"/>
                        </a:rPr>
                        <a:t>Rs 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3840480"/>
            <a:ext cx="45720" cy="9144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3858768"/>
            <a:ext cx="5120640" cy="1097280"/>
          </a:xfrm>
          <a:prstGeom prst="rect">
            <a:avLst/>
          </a:prstGeom>
          <a:noFill/>
        </p:spPr>
        <p:txBody>
          <a:bodyPr wrap="square" lIns="0" rIns="0" tIns="0" bIns="0" anchor="t">
            <a:spAutoFit/>
          </a:bodyPr>
          <a:lstStyle/>
          <a:p>
            <a:pPr algn="l">
              <a:lnSpc>
                <a:spcPct val="120000"/>
              </a:lnSpc>
              <a:spcAft>
                <a:spcPts val="200"/>
              </a:spcAft>
            </a:pPr>
            <a:r>
              <a:rPr sz="1080" b="0" i="0">
                <a:solidFill>
                  <a:srgbClr val="0E1512"/>
                </a:solidFill>
                <a:latin typeface="Arial"/>
              </a:rPr>
              <a:t>Why the fee is lawful</a:t>
            </a:r>
          </a:p>
          <a:p>
            <a:pPr algn="l">
              <a:lnSpc>
                <a:spcPct val="120000"/>
              </a:lnSpc>
              <a:spcAft>
                <a:spcPts val="200"/>
              </a:spcAft>
            </a:pPr>
            <a:r>
              <a:rPr sz="1080" b="0" i="0">
                <a:solidFill>
                  <a:srgbClr val="0E1512"/>
                </a:solidFill>
                <a:latin typeface="Arial"/>
              </a:rPr>
              <a:t/>
            </a:r>
          </a:p>
          <a:p>
            <a:pPr algn="l">
              <a:lnSpc>
                <a:spcPct val="120000"/>
              </a:lnSpc>
              <a:spcAft>
                <a:spcPts val="200"/>
              </a:spcAft>
            </a:pPr>
            <a:r>
              <a:rPr sz="1080" b="0" i="0">
                <a:solidFill>
                  <a:srgbClr val="0E1512"/>
                </a:solidFill>
                <a:latin typeface="Arial"/>
              </a:rPr>
              <a:t>The Explanation to section 84 of the Companies Act excludes “an advance against sale of goods or provision of services in the ordinary course of business” from the meaning of a deposit. A fee charged in advance for a service is revenue.</a:t>
            </a:r>
          </a:p>
        </p:txBody>
      </p:sp>
      <p:sp>
        <p:nvSpPr>
          <p:cNvPr id="22" name="TextBox 21"/>
          <p:cNvSpPr txBox="1"/>
          <p:nvPr/>
        </p:nvSpPr>
        <p:spPr>
          <a:xfrm>
            <a:off x="6419088" y="3840480"/>
            <a:ext cx="51206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Why the fee is flat</a:t>
            </a:r>
          </a:p>
        </p:txBody>
      </p:sp>
      <p:sp>
        <p:nvSpPr>
          <p:cNvPr id="23" name="TextBox 22"/>
          <p:cNvSpPr txBox="1"/>
          <p:nvPr/>
        </p:nvSpPr>
        <p:spPr>
          <a:xfrm>
            <a:off x="6419088" y="4169663"/>
            <a:ext cx="5166360" cy="1097280"/>
          </a:xfrm>
          <a:prstGeom prst="rect">
            <a:avLst/>
          </a:prstGeom>
          <a:noFill/>
        </p:spPr>
        <p:txBody>
          <a:bodyPr wrap="square" lIns="0" rIns="0" tIns="0" bIns="0" anchor="t">
            <a:spAutoFit/>
          </a:bodyPr>
          <a:lstStyle/>
          <a:p>
            <a:pPr algn="l">
              <a:lnSpc>
                <a:spcPct val="120000"/>
              </a:lnSpc>
              <a:spcAft>
                <a:spcPts val="400"/>
              </a:spcAft>
            </a:pPr>
            <a:r>
              <a:rPr sz="1080" b="0" i="0">
                <a:solidFill>
                  <a:srgbClr val="0E1512"/>
                </a:solidFill>
                <a:latin typeface="Arial"/>
              </a:rPr>
              <a:t>A fee graded by collection day is priced on the advance and reads as interest. It is therefore identical for every seat on the roster. Members holding later seats are compensated by Halqa in points and fee waivers, never by another member.</a:t>
            </a:r>
          </a:p>
        </p:txBody>
      </p:sp>
      <p:cxnSp>
        <p:nvCxnSpPr>
          <p:cNvPr id="24" name="Connector 23"/>
          <p:cNvCxnSpPr/>
          <p:nvPr/>
        </p:nvCxnSpPr>
        <p:spPr>
          <a:xfrm>
            <a:off x="566928" y="5230368"/>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66928" y="6099048"/>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76656"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Rs 1,500,000</a:t>
            </a:r>
          </a:p>
        </p:txBody>
      </p:sp>
      <p:sp>
        <p:nvSpPr>
          <p:cNvPr id="27" name="TextBox 26"/>
          <p:cNvSpPr txBox="1"/>
          <p:nvPr/>
        </p:nvSpPr>
        <p:spPr>
          <a:xfrm>
            <a:off x="676656"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FEE REVENUE, ONE CYCLE</a:t>
            </a:r>
          </a:p>
        </p:txBody>
      </p:sp>
      <p:cxnSp>
        <p:nvCxnSpPr>
          <p:cNvPr id="28" name="Connector 27"/>
          <p:cNvCxnSpPr/>
          <p:nvPr/>
        </p:nvCxnSpPr>
        <p:spPr>
          <a:xfrm>
            <a:off x="2778495" y="5386730"/>
            <a:ext cx="0" cy="555955"/>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888223"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Rs 225,000</a:t>
            </a:r>
          </a:p>
        </p:txBody>
      </p:sp>
      <p:sp>
        <p:nvSpPr>
          <p:cNvPr id="30" name="TextBox 29"/>
          <p:cNvSpPr txBox="1"/>
          <p:nvPr/>
        </p:nvSpPr>
        <p:spPr>
          <a:xfrm>
            <a:off x="2888223"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AGENCY COMMISSION</a:t>
            </a:r>
          </a:p>
        </p:txBody>
      </p:sp>
      <p:cxnSp>
        <p:nvCxnSpPr>
          <p:cNvPr id="31" name="Connector 30"/>
          <p:cNvCxnSpPr/>
          <p:nvPr/>
        </p:nvCxnSpPr>
        <p:spPr>
          <a:xfrm>
            <a:off x="4990063" y="5386730"/>
            <a:ext cx="0" cy="555955"/>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99791"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Rs 135,000</a:t>
            </a:r>
          </a:p>
        </p:txBody>
      </p:sp>
      <p:sp>
        <p:nvSpPr>
          <p:cNvPr id="33" name="TextBox 32"/>
          <p:cNvSpPr txBox="1"/>
          <p:nvPr/>
        </p:nvSpPr>
        <p:spPr>
          <a:xfrm>
            <a:off x="5099791"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RAIL AT 1.5 PER CENT</a:t>
            </a:r>
          </a:p>
        </p:txBody>
      </p:sp>
      <p:cxnSp>
        <p:nvCxnSpPr>
          <p:cNvPr id="34" name="Connector 33"/>
          <p:cNvCxnSpPr/>
          <p:nvPr/>
        </p:nvCxnSpPr>
        <p:spPr>
          <a:xfrm>
            <a:off x="7201631" y="5386730"/>
            <a:ext cx="0" cy="555955"/>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311359"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Rs 252,000</a:t>
            </a:r>
          </a:p>
        </p:txBody>
      </p:sp>
      <p:sp>
        <p:nvSpPr>
          <p:cNvPr id="36" name="TextBox 35"/>
          <p:cNvSpPr txBox="1"/>
          <p:nvPr/>
        </p:nvSpPr>
        <p:spPr>
          <a:xfrm>
            <a:off x="7311359"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OPERATING COST</a:t>
            </a:r>
          </a:p>
        </p:txBody>
      </p:sp>
      <p:cxnSp>
        <p:nvCxnSpPr>
          <p:cNvPr id="37" name="Connector 36"/>
          <p:cNvCxnSpPr/>
          <p:nvPr/>
        </p:nvCxnSpPr>
        <p:spPr>
          <a:xfrm>
            <a:off x="9413199" y="5386730"/>
            <a:ext cx="0" cy="555955"/>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522927"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123D30"/>
                </a:solidFill>
                <a:latin typeface="Georgia"/>
              </a:rPr>
              <a:t>Rs 1,338,000</a:t>
            </a:r>
          </a:p>
        </p:txBody>
      </p:sp>
      <p:sp>
        <p:nvSpPr>
          <p:cNvPr id="39" name="TextBox 38"/>
          <p:cNvSpPr txBox="1"/>
          <p:nvPr/>
        </p:nvSpPr>
        <p:spPr>
          <a:xfrm>
            <a:off x="9522927"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4C574F"/>
                </a:solidFill>
                <a:latin typeface="Arial"/>
              </a:rPr>
              <a:t>NET PER CYCLE</a:t>
            </a:r>
          </a:p>
        </p:txBody>
      </p:sp>
      <p:sp>
        <p:nvSpPr>
          <p:cNvPr id="40" name="TextBox 39"/>
          <p:cNvSpPr txBox="1"/>
          <p:nvPr/>
        </p:nvSpPr>
        <p:spPr>
          <a:xfrm>
            <a:off x="566928" y="6217920"/>
            <a:ext cx="11057839"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Option 1. No member is compensated by another member, so no lender and no borrower exists, and the peer to peer chapter has nothing to attach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03 · THE ECONOMICS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Cover is written by a licensed operator, never by Halqa</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Section 5(1) of the Insurance Ordinance admits only a public company, so a private limited company cannot be registered as an insurer at all. The cover is therefore bought, not built.</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16</a:t>
            </a:r>
          </a:p>
        </p:txBody>
      </p:sp>
      <p:sp>
        <p:nvSpPr>
          <p:cNvPr id="18" name="TextBox 17"/>
          <p:cNvSpPr txBox="1"/>
          <p:nvPr/>
        </p:nvSpPr>
        <p:spPr>
          <a:xfrm>
            <a:off x="566928" y="1773936"/>
            <a:ext cx="6309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11   How the risk fund behaves across one cycle</a:t>
            </a:r>
          </a:p>
        </p:txBody>
      </p:sp>
      <p:graphicFrame>
        <p:nvGraphicFramePr>
          <p:cNvPr id="19" name="Table 18"/>
          <p:cNvGraphicFramePr>
            <a:graphicFrameLocks noGrp="1"/>
          </p:cNvGraphicFramePr>
          <p:nvPr/>
        </p:nvGraphicFramePr>
        <p:xfrm>
          <a:off x="566928" y="1993392"/>
          <a:ext cx="6309359" cy="1396837"/>
        </p:xfrm>
        <a:graphic>
          <a:graphicData uri="http://schemas.openxmlformats.org/drawingml/2006/table">
            <a:tbl>
              <a:tblPr>
                <a:tableStyleId>{5C22544A-7EE6-4342-B048-85BDC9FD1C3A}</a:tableStyleId>
              </a:tblPr>
              <a:tblGrid>
                <a:gridCol w="1892808"/>
                <a:gridCol w="1514246"/>
                <a:gridCol w="1261872"/>
                <a:gridCol w="1640433"/>
              </a:tblGrid>
              <a:tr h="354421">
                <a:tc>
                  <a:txBody>
                    <a:bodyPr wrap="square"/>
                    <a:lstStyle/>
                    <a:p>
                      <a:pPr algn="l"/>
                      <a:r>
                        <a:rPr sz="960" b="1">
                          <a:solidFill>
                            <a:srgbClr val="F6F1E4"/>
                          </a:solidFill>
                          <a:latin typeface="Arial"/>
                        </a:rPr>
                        <a:t>Scenario</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Defaults after collecting</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Claims paid</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Back to each member</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00" b="0">
                          <a:solidFill>
                            <a:srgbClr val="0E1512"/>
                          </a:solidFill>
                          <a:latin typeface="Arial"/>
                        </a:rPr>
                        <a:t>Normal, 5 per cent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20 of 400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150,000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2,437</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00" b="0">
                          <a:solidFill>
                            <a:srgbClr val="0E1512"/>
                          </a:solidFill>
                          <a:latin typeface="Arial"/>
                        </a:rPr>
                        <a:t>Severe, 30 per cent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120 of 400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900,000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562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00" b="0">
                          <a:solidFill>
                            <a:srgbClr val="0E1512"/>
                          </a:solidFill>
                          <a:latin typeface="Arial"/>
                        </a:rPr>
                        <a:t>Catastrophic, 50 per cent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200 of 400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1,500,000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nil, operator covers the deficit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3621024"/>
            <a:ext cx="6309360" cy="100584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3767328"/>
            <a:ext cx="5989320" cy="822960"/>
          </a:xfrm>
          <a:prstGeom prst="rect">
            <a:avLst/>
          </a:prstGeom>
          <a:noFill/>
        </p:spPr>
        <p:txBody>
          <a:bodyPr wrap="square" lIns="0" rIns="0" tIns="0" bIns="0" anchor="t">
            <a:spAutoFit/>
          </a:bodyPr>
          <a:lstStyle/>
          <a:p>
            <a:pPr algn="l">
              <a:lnSpc>
                <a:spcPct val="120000"/>
              </a:lnSpc>
              <a:spcAft>
                <a:spcPts val="400"/>
              </a:spcAft>
            </a:pPr>
            <a:r>
              <a:rPr sz="1120" b="0" i="0">
                <a:solidFill>
                  <a:srgbClr val="0E1512"/>
                </a:solidFill>
                <a:latin typeface="Arial"/>
              </a:rPr>
              <a:t>The fund built over one cycle is Rs 1,500,000, from Rs 75 a day across 400 members. A deficit is met by an interest free advance from the operator’s own shareholder fund, recovered from later surpluses. Members are paid even in the catastrophic case, and not out of Halqa’s pocket.</a:t>
            </a:r>
          </a:p>
        </p:txBody>
      </p:sp>
      <p:sp>
        <p:nvSpPr>
          <p:cNvPr id="22" name="Rectangle 21"/>
          <p:cNvSpPr/>
          <p:nvPr/>
        </p:nvSpPr>
        <p:spPr>
          <a:xfrm>
            <a:off x="7242048" y="1993392"/>
            <a:ext cx="4343400" cy="133502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70648" y="2194560"/>
            <a:ext cx="3886200" cy="1005840"/>
          </a:xfrm>
          <a:prstGeom prst="rect">
            <a:avLst/>
          </a:prstGeom>
          <a:noFill/>
        </p:spPr>
        <p:txBody>
          <a:bodyPr wrap="square" lIns="0" rIns="0" tIns="0" bIns="0" anchor="t">
            <a:spAutoFit/>
          </a:bodyPr>
          <a:lstStyle/>
          <a:p>
            <a:pPr algn="l">
              <a:lnSpc>
                <a:spcPct val="122000"/>
              </a:lnSpc>
              <a:spcAft>
                <a:spcPts val="300"/>
              </a:spcAft>
            </a:pPr>
            <a:r>
              <a:rPr sz="1140" b="0" i="0">
                <a:solidFill>
                  <a:srgbClr val="F6F1E4"/>
                </a:solidFill>
                <a:latin typeface="Arial"/>
              </a:rPr>
              <a:t>Halqa’s role</a:t>
            </a:r>
          </a:p>
          <a:p>
            <a:pPr algn="l">
              <a:lnSpc>
                <a:spcPct val="122000"/>
              </a:lnSpc>
              <a:spcAft>
                <a:spcPts val="300"/>
              </a:spcAft>
            </a:pPr>
            <a:r>
              <a:rPr sz="1140" b="0" i="0">
                <a:solidFill>
                  <a:srgbClr val="F6F1E4"/>
                </a:solidFill>
                <a:latin typeface="Arial"/>
              </a:rPr>
              <a:t/>
            </a:r>
          </a:p>
          <a:p>
            <a:pPr algn="l">
              <a:lnSpc>
                <a:spcPct val="122000"/>
              </a:lnSpc>
              <a:spcAft>
                <a:spcPts val="300"/>
              </a:spcAft>
            </a:pPr>
            <a:r>
              <a:rPr sz="1140" b="0" i="0">
                <a:solidFill>
                  <a:srgbClr val="F6F1E4"/>
                </a:solidFill>
                <a:latin typeface="Arial"/>
              </a:rPr>
              <a:t>Registered corporate insurance agent. It distributes, it earns commission, and it never underwrites, never holds the fund and never decides a claim.</a:t>
            </a:r>
          </a:p>
        </p:txBody>
      </p:sp>
      <p:sp>
        <p:nvSpPr>
          <p:cNvPr id="24" name="TextBox 23"/>
          <p:cNvSpPr txBox="1"/>
          <p:nvPr/>
        </p:nvSpPr>
        <p:spPr>
          <a:xfrm>
            <a:off x="7242048" y="3547872"/>
            <a:ext cx="434340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What this requires</a:t>
            </a:r>
          </a:p>
        </p:txBody>
      </p:sp>
      <p:sp>
        <p:nvSpPr>
          <p:cNvPr id="25" name="TextBox 24"/>
          <p:cNvSpPr txBox="1"/>
          <p:nvPr/>
        </p:nvSpPr>
        <p:spPr>
          <a:xfrm>
            <a:off x="7242048" y="3877056"/>
            <a:ext cx="4343400" cy="365760"/>
          </a:xfrm>
          <a:prstGeom prst="rect">
            <a:avLst/>
          </a:prstGeom>
          <a:noFill/>
        </p:spPr>
        <p:txBody>
          <a:bodyPr wrap="square" lIns="0" rIns="0" tIns="0" bIns="0">
            <a:spAutoFit/>
          </a:bodyPr>
          <a:lstStyle/>
          <a:p>
            <a:pPr>
              <a:lnSpc>
                <a:spcPct val="106000"/>
              </a:lnSpc>
              <a:spcAft>
                <a:spcPts val="700"/>
              </a:spcAft>
            </a:pPr>
            <a:r>
              <a:rPr sz="1080" b="1">
                <a:solidFill>
                  <a:srgbClr val="D9A93C"/>
                </a:solidFill>
                <a:latin typeface="Georgia"/>
              </a:rPr>
              <a:t>|  </a:t>
            </a:r>
            <a:r>
              <a:rPr sz="1080">
                <a:solidFill>
                  <a:srgbClr val="0E1512"/>
                </a:solidFill>
                <a:latin typeface="Arial"/>
              </a:rPr>
              <a:t>Corporate insurance agent registration with the Commission</a:t>
            </a:r>
          </a:p>
          <a:p>
            <a:pPr>
              <a:lnSpc>
                <a:spcPct val="106000"/>
              </a:lnSpc>
              <a:spcAft>
                <a:spcPts val="700"/>
              </a:spcAft>
            </a:pPr>
            <a:r>
              <a:rPr sz="1080" b="1">
                <a:solidFill>
                  <a:srgbClr val="D9A93C"/>
                </a:solidFill>
                <a:latin typeface="Georgia"/>
              </a:rPr>
              <a:t>|  </a:t>
            </a:r>
            <a:r>
              <a:rPr sz="1080">
                <a:solidFill>
                  <a:srgbClr val="0E1512"/>
                </a:solidFill>
                <a:latin typeface="Arial"/>
              </a:rPr>
              <a:t>A distribution agreement with the operator</a:t>
            </a:r>
          </a:p>
          <a:p>
            <a:pPr>
              <a:lnSpc>
                <a:spcPct val="106000"/>
              </a:lnSpc>
              <a:spcAft>
                <a:spcPts val="700"/>
              </a:spcAft>
            </a:pPr>
            <a:r>
              <a:rPr sz="1080" b="1">
                <a:solidFill>
                  <a:srgbClr val="D9A93C"/>
                </a:solidFill>
                <a:latin typeface="Georgia"/>
              </a:rPr>
              <a:t>|  </a:t>
            </a:r>
            <a:r>
              <a:rPr sz="1080">
                <a:solidFill>
                  <a:srgbClr val="0E1512"/>
                </a:solidFill>
                <a:latin typeface="Arial"/>
              </a:rPr>
              <a:t>No capital requirement attaches to either</a:t>
            </a:r>
          </a:p>
          <a:p>
            <a:pPr>
              <a:lnSpc>
                <a:spcPct val="106000"/>
              </a:lnSpc>
              <a:spcAft>
                <a:spcPts val="700"/>
              </a:spcAft>
            </a:pPr>
            <a:r>
              <a:rPr sz="1080" b="1">
                <a:solidFill>
                  <a:srgbClr val="D9A93C"/>
                </a:solidFill>
                <a:latin typeface="Georgia"/>
              </a:rPr>
              <a:t>|  </a:t>
            </a:r>
            <a:r>
              <a:rPr sz="1080">
                <a:solidFill>
                  <a:srgbClr val="0E1512"/>
                </a:solidFill>
                <a:latin typeface="Arial"/>
              </a:rPr>
              <a:t>Candidates: Pak-Qatar Family Takaful, Salaam Takaful</a:t>
            </a:r>
          </a:p>
        </p:txBody>
      </p:sp>
      <p:sp>
        <p:nvSpPr>
          <p:cNvPr id="26" name="TextBox 25"/>
          <p:cNvSpPr txBox="1"/>
          <p:nvPr/>
        </p:nvSpPr>
        <p:spPr>
          <a:xfrm>
            <a:off x="566928" y="4791456"/>
            <a:ext cx="11057839"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cover is sized at a 50 per cent post collection default rate. Recorded committee fraud runs at about 12 per cent, so the fund is built for an event roughly four times worse than any on record.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03 · THE DAILY PRODUCT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Hyper — two configurations, both balanced at source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A daily cadence product for members with daily income. Every figure below is forced by two identities that are asserted in code and cannot be overridden at creation.</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17</a:t>
            </a:r>
          </a:p>
        </p:txBody>
      </p:sp>
      <p:sp>
        <p:nvSpPr>
          <p:cNvPr id="18" name="Rectangle 17"/>
          <p:cNvSpPr/>
          <p:nvPr/>
        </p:nvSpPr>
        <p:spPr>
          <a:xfrm>
            <a:off x="566928" y="1773936"/>
            <a:ext cx="11057839" cy="566928"/>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9808" y="1883664"/>
            <a:ext cx="10692079" cy="384048"/>
          </a:xfrm>
          <a:prstGeom prst="rect">
            <a:avLst/>
          </a:prstGeom>
          <a:noFill/>
        </p:spPr>
        <p:txBody>
          <a:bodyPr wrap="square" lIns="0" rIns="0" tIns="0" bIns="0" anchor="t">
            <a:spAutoFit/>
          </a:bodyPr>
          <a:lstStyle/>
          <a:p>
            <a:pPr algn="l">
              <a:lnSpc>
                <a:spcPct val="110000"/>
              </a:lnSpc>
              <a:spcAft>
                <a:spcPts val="400"/>
              </a:spcAft>
            </a:pPr>
            <a:r>
              <a:rPr sz="1260" b="0" i="0">
                <a:solidFill>
                  <a:srgbClr val="123D30"/>
                </a:solidFill>
                <a:latin typeface="Consolas"/>
              </a:rPr>
              <a:t>pot = contribution × days        roster = members collecting each day × days</a:t>
            </a:r>
          </a:p>
        </p:txBody>
      </p:sp>
      <p:sp>
        <p:nvSpPr>
          <p:cNvPr id="20" name="TextBox 19"/>
          <p:cNvSpPr txBox="1"/>
          <p:nvPr/>
        </p:nvSpPr>
        <p:spPr>
          <a:xfrm>
            <a:off x="566928" y="2505456"/>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12   The two configurations</a:t>
            </a:r>
          </a:p>
        </p:txBody>
      </p:sp>
      <p:graphicFrame>
        <p:nvGraphicFramePr>
          <p:cNvPr id="21" name="Table 20"/>
          <p:cNvGraphicFramePr>
            <a:graphicFrameLocks noGrp="1"/>
          </p:cNvGraphicFramePr>
          <p:nvPr/>
        </p:nvGraphicFramePr>
        <p:xfrm>
          <a:off x="566928" y="2724912"/>
          <a:ext cx="11057835" cy="994135"/>
        </p:xfrm>
        <a:graphic>
          <a:graphicData uri="http://schemas.openxmlformats.org/drawingml/2006/table">
            <a:tbl>
              <a:tblPr>
                <a:tableStyleId>{5C22544A-7EE6-4342-B048-85BDC9FD1C3A}</a:tableStyleId>
              </a:tblPr>
              <a:tblGrid>
                <a:gridCol w="1216362"/>
                <a:gridCol w="1105783"/>
                <a:gridCol w="1658675"/>
                <a:gridCol w="1548097"/>
                <a:gridCol w="1216362"/>
                <a:gridCol w="1437519"/>
                <a:gridCol w="1326940"/>
                <a:gridCol w="1548097"/>
              </a:tblGrid>
              <a:tr h="335767">
                <a:tc>
                  <a:txBody>
                    <a:bodyPr wrap="square"/>
                    <a:lstStyle/>
                    <a:p>
                      <a:pPr algn="l"/>
                      <a:r>
                        <a:rPr sz="960" b="1">
                          <a:solidFill>
                            <a:srgbClr val="F6F1E4"/>
                          </a:solidFill>
                          <a:latin typeface="Arial"/>
                        </a:rPr>
                        <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Roster</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Cycle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Collecting daily</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Paid daily</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Pot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Paid in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Cycle value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9184">
                <a:tc>
                  <a:txBody>
                    <a:bodyPr wrap="square"/>
                    <a:lstStyle/>
                    <a:p>
                      <a:pPr algn="l"/>
                      <a:r>
                        <a:rPr sz="1000" b="0">
                          <a:solidFill>
                            <a:srgbClr val="0E1512"/>
                          </a:solidFill>
                          <a:latin typeface="Arial"/>
                        </a:rPr>
                        <a:t>Option 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400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50 days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450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15,000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22,500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6,000,000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9184">
                <a:tc>
                  <a:txBody>
                    <a:bodyPr wrap="square"/>
                    <a:lstStyle/>
                    <a:p>
                      <a:pPr algn="l"/>
                      <a:r>
                        <a:rPr sz="1000" b="0">
                          <a:solidFill>
                            <a:srgbClr val="0E1512"/>
                          </a:solidFill>
                          <a:latin typeface="Arial"/>
                        </a:rPr>
                        <a:t>Option 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390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26 active days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15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8,666.67</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13,000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3,380,000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2" name="TextBox 21"/>
          <p:cNvSpPr txBox="1"/>
          <p:nvPr/>
        </p:nvSpPr>
        <p:spPr>
          <a:xfrm>
            <a:off x="566928" y="3913632"/>
            <a:ext cx="60350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What a seat is worth on the day it collects</a:t>
            </a:r>
          </a:p>
        </p:txBody>
      </p:sp>
      <p:sp>
        <p:nvSpPr>
          <p:cNvPr id="23" name="TextBox 22"/>
          <p:cNvSpPr txBox="1"/>
          <p:nvPr/>
        </p:nvSpPr>
        <p:spPr>
          <a:xfrm>
            <a:off x="566928" y="4244815"/>
            <a:ext cx="1261872" cy="253593"/>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Day 1</a:t>
            </a:r>
          </a:p>
        </p:txBody>
      </p:sp>
      <p:sp>
        <p:nvSpPr>
          <p:cNvPr id="24" name="Rectangle 23"/>
          <p:cNvSpPr/>
          <p:nvPr/>
        </p:nvSpPr>
        <p:spPr>
          <a:xfrm>
            <a:off x="1938528" y="4224528"/>
            <a:ext cx="3108388" cy="253593"/>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129212" y="4244815"/>
            <a:ext cx="1280160" cy="253593"/>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14,700</a:t>
            </a:r>
          </a:p>
        </p:txBody>
      </p:sp>
      <p:sp>
        <p:nvSpPr>
          <p:cNvPr id="26" name="TextBox 25"/>
          <p:cNvSpPr txBox="1"/>
          <p:nvPr/>
        </p:nvSpPr>
        <p:spPr>
          <a:xfrm>
            <a:off x="566928" y="4732495"/>
            <a:ext cx="1261872" cy="253593"/>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Day 25</a:t>
            </a:r>
          </a:p>
        </p:txBody>
      </p:sp>
      <p:sp>
        <p:nvSpPr>
          <p:cNvPr id="27" name="Rectangle 26"/>
          <p:cNvSpPr/>
          <p:nvPr/>
        </p:nvSpPr>
        <p:spPr>
          <a:xfrm>
            <a:off x="1938528" y="4712208"/>
            <a:ext cx="1585912" cy="253593"/>
          </a:xfrm>
          <a:prstGeom prst="rect">
            <a:avLst/>
          </a:prstGeom>
          <a:solidFill>
            <a:srgbClr val="1B51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606736" y="4732495"/>
            <a:ext cx="1280160" cy="253593"/>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Rs 7,500</a:t>
            </a:r>
          </a:p>
        </p:txBody>
      </p:sp>
      <p:sp>
        <p:nvSpPr>
          <p:cNvPr id="29" name="TextBox 28"/>
          <p:cNvSpPr txBox="1"/>
          <p:nvPr/>
        </p:nvSpPr>
        <p:spPr>
          <a:xfrm>
            <a:off x="566928" y="5220175"/>
            <a:ext cx="1261872" cy="253593"/>
          </a:xfrm>
          <a:prstGeom prst="rect">
            <a:avLst/>
          </a:prstGeom>
          <a:noFill/>
        </p:spPr>
        <p:txBody>
          <a:bodyPr wrap="square" lIns="0" rIns="0" tIns="0" bIns="0" anchor="t">
            <a:spAutoFit/>
          </a:bodyPr>
          <a:lstStyle/>
          <a:p>
            <a:pPr algn="r">
              <a:lnSpc>
                <a:spcPct val="100000"/>
              </a:lnSpc>
              <a:spcAft>
                <a:spcPts val="400"/>
              </a:spcAft>
            </a:pPr>
            <a:r>
              <a:rPr sz="1019" b="0" i="0">
                <a:solidFill>
                  <a:srgbClr val="0E1512"/>
                </a:solidFill>
                <a:latin typeface="Arial"/>
              </a:rPr>
              <a:t>Day 50</a:t>
            </a:r>
          </a:p>
        </p:txBody>
      </p:sp>
      <p:sp>
        <p:nvSpPr>
          <p:cNvPr id="30" name="Rectangle 29"/>
          <p:cNvSpPr/>
          <p:nvPr/>
        </p:nvSpPr>
        <p:spPr>
          <a:xfrm>
            <a:off x="1938528" y="5199888"/>
            <a:ext cx="18288" cy="253593"/>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039112" y="5220175"/>
            <a:ext cx="1280160" cy="253593"/>
          </a:xfrm>
          <a:prstGeom prst="rect">
            <a:avLst/>
          </a:prstGeom>
          <a:noFill/>
        </p:spPr>
        <p:txBody>
          <a:bodyPr wrap="square" lIns="0" rIns="0" tIns="0" bIns="0" anchor="t">
            <a:spAutoFit/>
          </a:bodyPr>
          <a:lstStyle/>
          <a:p>
            <a:pPr algn="l">
              <a:lnSpc>
                <a:spcPct val="100000"/>
              </a:lnSpc>
              <a:spcAft>
                <a:spcPts val="400"/>
              </a:spcAft>
            </a:pPr>
            <a:r>
              <a:rPr sz="1019" b="1" i="0">
                <a:solidFill>
                  <a:srgbClr val="123D30"/>
                </a:solidFill>
                <a:latin typeface="Georgia"/>
              </a:rPr>
              <a:t>nil</a:t>
            </a:r>
          </a:p>
        </p:txBody>
      </p:sp>
      <p:cxnSp>
        <p:nvCxnSpPr>
          <p:cNvPr id="32" name="Connector 31"/>
          <p:cNvCxnSpPr/>
          <p:nvPr/>
        </p:nvCxnSpPr>
        <p:spPr>
          <a:xfrm>
            <a:off x="1938528" y="4178808"/>
            <a:ext cx="0" cy="1320393"/>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059168" y="3913632"/>
            <a:ext cx="452628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Why this shape matters</a:t>
            </a:r>
          </a:p>
        </p:txBody>
      </p:sp>
      <p:sp>
        <p:nvSpPr>
          <p:cNvPr id="34" name="TextBox 33"/>
          <p:cNvSpPr txBox="1"/>
          <p:nvPr/>
        </p:nvSpPr>
        <p:spPr>
          <a:xfrm>
            <a:off x="7059168" y="4224528"/>
            <a:ext cx="4526280" cy="365760"/>
          </a:xfrm>
          <a:prstGeom prst="rect">
            <a:avLst/>
          </a:prstGeom>
          <a:noFill/>
        </p:spPr>
        <p:txBody>
          <a:bodyPr wrap="square" lIns="0" rIns="0" tIns="0" bIns="0">
            <a:spAutoFit/>
          </a:bodyPr>
          <a:lstStyle/>
          <a:p>
            <a:pPr>
              <a:lnSpc>
                <a:spcPct val="106000"/>
              </a:lnSpc>
              <a:spcAft>
                <a:spcPts val="700"/>
              </a:spcAft>
            </a:pPr>
            <a:r>
              <a:rPr sz="1080" b="1">
                <a:solidFill>
                  <a:srgbClr val="D9A93C"/>
                </a:solidFill>
                <a:latin typeface="Georgia"/>
              </a:rPr>
              <a:t>|  </a:t>
            </a:r>
            <a:r>
              <a:rPr sz="1080">
                <a:solidFill>
                  <a:srgbClr val="0E1512"/>
                </a:solidFill>
                <a:latin typeface="Arial"/>
              </a:rPr>
              <a:t>Forward liability falls in a straight line to nil</a:t>
            </a:r>
          </a:p>
          <a:p>
            <a:pPr>
              <a:lnSpc>
                <a:spcPct val="106000"/>
              </a:lnSpc>
              <a:spcAft>
                <a:spcPts val="700"/>
              </a:spcAft>
            </a:pPr>
            <a:r>
              <a:rPr sz="1080" b="1">
                <a:solidFill>
                  <a:srgbClr val="D9A93C"/>
                </a:solidFill>
                <a:latin typeface="Georgia"/>
              </a:rPr>
              <a:t>|  </a:t>
            </a:r>
            <a:r>
              <a:rPr sz="1080">
                <a:solidFill>
                  <a:srgbClr val="0E1512"/>
                </a:solidFill>
                <a:latin typeface="Arial"/>
              </a:rPr>
              <a:t>It averages half a pot across a uniform spread of days</a:t>
            </a:r>
          </a:p>
          <a:p>
            <a:pPr>
              <a:lnSpc>
                <a:spcPct val="106000"/>
              </a:lnSpc>
              <a:spcAft>
                <a:spcPts val="700"/>
              </a:spcAft>
            </a:pPr>
            <a:r>
              <a:rPr sz="1080" b="1">
                <a:solidFill>
                  <a:srgbClr val="D9A93C"/>
                </a:solidFill>
                <a:latin typeface="Georgia"/>
              </a:rPr>
              <a:t>|  </a:t>
            </a:r>
            <a:r>
              <a:rPr sz="1080">
                <a:solidFill>
                  <a:srgbClr val="0E1512"/>
                </a:solidFill>
                <a:latin typeface="Arial"/>
              </a:rPr>
              <a:t>Half a pot is the planning figure for every default after collection</a:t>
            </a:r>
          </a:p>
          <a:p>
            <a:pPr>
              <a:lnSpc>
                <a:spcPct val="106000"/>
              </a:lnSpc>
              <a:spcAft>
                <a:spcPts val="700"/>
              </a:spcAft>
            </a:pPr>
            <a:r>
              <a:rPr sz="1080" b="1">
                <a:solidFill>
                  <a:srgbClr val="D9A93C"/>
                </a:solidFill>
                <a:latin typeface="Georgia"/>
              </a:rPr>
              <a:t>|  </a:t>
            </a:r>
            <a:r>
              <a:rPr sz="1080">
                <a:solidFill>
                  <a:srgbClr val="0E1512"/>
                </a:solidFill>
                <a:latin typeface="Arial"/>
              </a:rPr>
              <a:t>The seat fee does not follow this curve, because grading would read as interest</a:t>
            </a:r>
          </a:p>
        </p:txBody>
      </p:sp>
      <p:sp>
        <p:nvSpPr>
          <p:cNvPr id="35" name="TextBox 34"/>
          <p:cNvSpPr txBox="1"/>
          <p:nvPr/>
        </p:nvSpPr>
        <p:spPr>
          <a:xfrm>
            <a:off x="566928" y="5852160"/>
            <a:ext cx="11057839"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Option 2 uses 390 rather than 400 because 400 does not divide into 26 days. At 390 the roster gives exactly 15 collecting each day and reproduces the pot to the paisa.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03 · THE DAILY PRODUCT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collapse threshold, and the bands before it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 point at which a circle would pay out more than it takes in, derived rather than asserted, and instrumented so a host sees it coming.</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18</a:t>
            </a:r>
          </a:p>
        </p:txBody>
      </p:sp>
      <p:sp>
        <p:nvSpPr>
          <p:cNvPr id="18" name="TextBox 17"/>
          <p:cNvSpPr txBox="1"/>
          <p:nvPr/>
        </p:nvSpPr>
        <p:spPr>
          <a:xfrm>
            <a:off x="566928" y="1773936"/>
            <a:ext cx="6309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13   Four results</a:t>
            </a:r>
          </a:p>
        </p:txBody>
      </p:sp>
      <p:sp>
        <p:nvSpPr>
          <p:cNvPr id="19" name="TextBox 18"/>
          <p:cNvSpPr txBox="1"/>
          <p:nvPr/>
        </p:nvSpPr>
        <p:spPr>
          <a:xfrm>
            <a:off x="566928" y="2029968"/>
            <a:ext cx="6309360" cy="365760"/>
          </a:xfrm>
          <a:prstGeom prst="rect">
            <a:avLst/>
          </a:prstGeom>
          <a:noFill/>
        </p:spPr>
        <p:txBody>
          <a:bodyPr wrap="square" lIns="0" rIns="0" tIns="0" bIns="0">
            <a:spAutoFit/>
          </a:bodyPr>
          <a:lstStyle/>
          <a:p>
            <a:pPr>
              <a:lnSpc>
                <a:spcPct val="106000"/>
              </a:lnSpc>
              <a:spcAft>
                <a:spcPts val="900"/>
              </a:spcAft>
            </a:pPr>
            <a:r>
              <a:rPr sz="1120" b="1">
                <a:solidFill>
                  <a:srgbClr val="D9A93C"/>
                </a:solidFill>
                <a:latin typeface="Georgia"/>
              </a:rPr>
              <a:t>|  </a:t>
            </a:r>
            <a:r>
              <a:rPr sz="1120">
                <a:solidFill>
                  <a:srgbClr val="0E1512"/>
                </a:solidFill>
                <a:latin typeface="Arial"/>
              </a:rPr>
              <a:t>Arrears before collection recover themselves. They net from the member’s own pot on their day, so they are a timing gap and not a loss.</a:t>
            </a:r>
          </a:p>
          <a:p>
            <a:pPr>
              <a:lnSpc>
                <a:spcPct val="106000"/>
              </a:lnSpc>
              <a:spcAft>
                <a:spcPts val="900"/>
              </a:spcAft>
            </a:pPr>
            <a:r>
              <a:rPr sz="1120" b="1">
                <a:solidFill>
                  <a:srgbClr val="D9A93C"/>
                </a:solidFill>
                <a:latin typeface="Georgia"/>
              </a:rPr>
              <a:t>|  </a:t>
            </a:r>
            <a:r>
              <a:rPr sz="1120">
                <a:solidFill>
                  <a:srgbClr val="0E1512"/>
                </a:solidFill>
                <a:latin typeface="Arial"/>
              </a:rPr>
              <a:t>The only true loss is default after collection. There is no pot left to net against.</a:t>
            </a:r>
          </a:p>
          <a:p>
            <a:pPr>
              <a:lnSpc>
                <a:spcPct val="106000"/>
              </a:lnSpc>
              <a:spcAft>
                <a:spcPts val="900"/>
              </a:spcAft>
            </a:pPr>
            <a:r>
              <a:rPr sz="1120" b="1">
                <a:solidFill>
                  <a:srgbClr val="D9A93C"/>
                </a:solidFill>
                <a:latin typeface="Georgia"/>
              </a:rPr>
              <a:t>|  </a:t>
            </a:r>
            <a:r>
              <a:rPr sz="1120">
                <a:solidFill>
                  <a:srgbClr val="0E1512"/>
                </a:solidFill>
                <a:latin typeface="Arial"/>
              </a:rPr>
              <a:t>Expected loss on a cycle is the roster × the default rate × half a pot. As a share of cycle value that is half the default rate.</a:t>
            </a:r>
          </a:p>
          <a:p>
            <a:pPr>
              <a:lnSpc>
                <a:spcPct val="106000"/>
              </a:lnSpc>
              <a:spcAft>
                <a:spcPts val="900"/>
              </a:spcAft>
            </a:pPr>
            <a:r>
              <a:rPr sz="1120" b="1">
                <a:solidFill>
                  <a:srgbClr val="D9A93C"/>
                </a:solidFill>
                <a:latin typeface="Georgia"/>
              </a:rPr>
              <a:t>|  </a:t>
            </a:r>
            <a:r>
              <a:rPr sz="1120">
                <a:solidFill>
                  <a:srgbClr val="0E1512"/>
                </a:solidFill>
                <a:latin typeface="Arial"/>
              </a:rPr>
              <a:t>The circle cannot complete once unrecovered exposure exceeds the cover limit.</a:t>
            </a:r>
          </a:p>
        </p:txBody>
      </p:sp>
      <p:sp>
        <p:nvSpPr>
          <p:cNvPr id="20" name="TextBox 19"/>
          <p:cNvSpPr txBox="1"/>
          <p:nvPr/>
        </p:nvSpPr>
        <p:spPr>
          <a:xfrm>
            <a:off x="7242048" y="1773936"/>
            <a:ext cx="434340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stress index</a:t>
            </a:r>
          </a:p>
        </p:txBody>
      </p:sp>
      <p:graphicFrame>
        <p:nvGraphicFramePr>
          <p:cNvPr id="21" name="Table 20"/>
          <p:cNvGraphicFramePr>
            <a:graphicFrameLocks noGrp="1"/>
          </p:cNvGraphicFramePr>
          <p:nvPr/>
        </p:nvGraphicFramePr>
        <p:xfrm>
          <a:off x="7242048" y="2084831"/>
          <a:ext cx="4343400" cy="1706453"/>
        </p:xfrm>
        <a:graphic>
          <a:graphicData uri="http://schemas.openxmlformats.org/drawingml/2006/table">
            <a:tbl>
              <a:tblPr>
                <a:tableStyleId>{5C22544A-7EE6-4342-B048-85BDC9FD1C3A}</a:tableStyleId>
              </a:tblPr>
              <a:tblGrid>
                <a:gridCol w="3127248"/>
                <a:gridCol w="1216152"/>
              </a:tblGrid>
              <a:tr h="289133">
                <a:tc>
                  <a:txBody>
                    <a:bodyPr wrap="square"/>
                    <a:lstStyle/>
                    <a:p>
                      <a:pPr algn="l"/>
                      <a:r>
                        <a:rPr sz="960" b="1">
                          <a:solidFill>
                            <a:srgbClr val="F6F1E4"/>
                          </a:solidFill>
                          <a:latin typeface="Arial"/>
                        </a:rPr>
                        <a:t>Axis</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Weight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Exposure against cover plus one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45%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Defaults against cover, in pots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20%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Share of roster previously late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15%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Age of arrears, in grace periods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10%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Day reached out of the cycle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10%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2" name="TextBox 21"/>
          <p:cNvSpPr txBox="1"/>
          <p:nvPr/>
        </p:nvSpPr>
        <p:spPr>
          <a:xfrm>
            <a:off x="566928" y="3913632"/>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14   Worked path of a circle under stress, cover at 8 pots</a:t>
            </a:r>
          </a:p>
        </p:txBody>
      </p:sp>
      <p:graphicFrame>
        <p:nvGraphicFramePr>
          <p:cNvPr id="23" name="Table 22"/>
          <p:cNvGraphicFramePr>
            <a:graphicFrameLocks noGrp="1"/>
          </p:cNvGraphicFramePr>
          <p:nvPr/>
        </p:nvGraphicFramePr>
        <p:xfrm>
          <a:off x="566928" y="4133087"/>
          <a:ext cx="11057835" cy="1761500"/>
        </p:xfrm>
        <a:graphic>
          <a:graphicData uri="http://schemas.openxmlformats.org/drawingml/2006/table">
            <a:tbl>
              <a:tblPr>
                <a:tableStyleId>{5C22544A-7EE6-4342-B048-85BDC9FD1C3A}</a:tableStyleId>
              </a:tblPr>
              <a:tblGrid>
                <a:gridCol w="774048"/>
                <a:gridCol w="2211567"/>
                <a:gridCol w="2211567"/>
                <a:gridCol w="995205"/>
                <a:gridCol w="1105783"/>
                <a:gridCol w="3759665"/>
              </a:tblGrid>
              <a:tr h="298460">
                <a:tc>
                  <a:txBody>
                    <a:bodyPr wrap="square"/>
                    <a:lstStyle/>
                    <a:p>
                      <a:pPr algn="l"/>
                      <a:r>
                        <a:rPr sz="960" b="1">
                          <a:solidFill>
                            <a:srgbClr val="F6F1E4"/>
                          </a:solidFill>
                          <a:latin typeface="Arial"/>
                        </a:rPr>
                        <a:t>Day</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Defaults after collecting</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Unrecovered exposure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Index</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Band</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Action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E1512"/>
                          </a:solidFill>
                          <a:latin typeface="Arial"/>
                        </a:rPr>
                        <a:t>12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Rs 14,100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11.8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Green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Normal operation, case tracked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E1512"/>
                          </a:solidFill>
                          <a:latin typeface="Arial"/>
                        </a:rPr>
                        <a:t>20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Rs 37,800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28.6</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Green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Host notified, operator put on notice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E1512"/>
                          </a:solidFill>
                          <a:latin typeface="Arial"/>
                        </a:rPr>
                        <a:t>30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6</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Rs 64,800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49.5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New joins blocked, next pots pre netted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E1512"/>
                          </a:solidFill>
                          <a:latin typeface="Arial"/>
                        </a:rPr>
                        <a:t>38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9</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Rs 81,000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64.0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Claim prepared, roster informed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E1512"/>
                          </a:solidFill>
                          <a:latin typeface="Arial"/>
                        </a:rPr>
                        <a:t>45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13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Rs 93,600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72.1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Payouts held, restitution arithmetic published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4" name="TextBox 23"/>
          <p:cNvSpPr txBox="1"/>
          <p:nvPr/>
        </p:nvSpPr>
        <p:spPr>
          <a:xfrm>
            <a:off x="566928" y="6053328"/>
            <a:ext cx="11057839"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the whole daily margin is exactly the cover required for a 100 per cent default rate. That is not a coincidence; it falls out of the structure, and it is the ceiling on the charge.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03 · THE ECONOMICS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collection ladder, and why the rail decides the tier</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Three tiers, chosen by cost rather than preference. A percentage rail against a flat fee is the binding constraint on the whole model.</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19</a:t>
            </a:r>
          </a:p>
        </p:txBody>
      </p:sp>
      <p:sp>
        <p:nvSpPr>
          <p:cNvPr id="18" name="TextBox 17"/>
          <p:cNvSpPr txBox="1"/>
          <p:nvPr/>
        </p:nvSpPr>
        <p:spPr>
          <a:xfrm>
            <a:off x="566928" y="1737360"/>
            <a:ext cx="6309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15   The ladder</a:t>
            </a:r>
          </a:p>
        </p:txBody>
      </p:sp>
      <p:graphicFrame>
        <p:nvGraphicFramePr>
          <p:cNvPr id="19" name="Table 18"/>
          <p:cNvGraphicFramePr>
            <a:graphicFrameLocks noGrp="1"/>
          </p:cNvGraphicFramePr>
          <p:nvPr/>
        </p:nvGraphicFramePr>
        <p:xfrm>
          <a:off x="566928" y="1975104"/>
          <a:ext cx="6309358" cy="1249801"/>
        </p:xfrm>
        <a:graphic>
          <a:graphicData uri="http://schemas.openxmlformats.org/drawingml/2006/table">
            <a:tbl>
              <a:tblPr>
                <a:tableStyleId>{5C22544A-7EE6-4342-B048-85BDC9FD1C3A}</a:tableStyleId>
              </a:tblPr>
              <a:tblGrid>
                <a:gridCol w="504748"/>
                <a:gridCol w="1892808"/>
                <a:gridCol w="1388059"/>
                <a:gridCol w="757123"/>
                <a:gridCol w="1766620"/>
              </a:tblGrid>
              <a:tr h="317113">
                <a:tc>
                  <a:txBody>
                    <a:bodyPr wrap="square"/>
                    <a:lstStyle/>
                    <a:p>
                      <a:pPr algn="l"/>
                      <a:r>
                        <a:rPr sz="960" b="1">
                          <a:solidFill>
                            <a:srgbClr val="F6F1E4"/>
                          </a:solidFill>
                          <a:latin typeface="Arial"/>
                        </a:rPr>
                        <a:t>Tier</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Mechanism</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Member action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Cost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Used on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Raast Request to Pay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One tap to approve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 nil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Every monthly circle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Aggregator token mandate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None, silent debit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1.5%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Hyper only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Manual initiation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Member initiates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 nil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Fallback</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3401568"/>
            <a:ext cx="6309360" cy="969264"/>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3547872"/>
            <a:ext cx="5989320" cy="786384"/>
          </a:xfrm>
          <a:prstGeom prst="rect">
            <a:avLst/>
          </a:prstGeom>
          <a:noFill/>
        </p:spPr>
        <p:txBody>
          <a:bodyPr wrap="square" lIns="0" rIns="0" tIns="0" bIns="0" anchor="t">
            <a:spAutoFit/>
          </a:bodyPr>
          <a:lstStyle/>
          <a:p>
            <a:pPr algn="l">
              <a:lnSpc>
                <a:spcPct val="120000"/>
              </a:lnSpc>
              <a:spcAft>
                <a:spcPts val="400"/>
              </a:spcAft>
            </a:pPr>
            <a:r>
              <a:rPr sz="1120" b="0" i="0">
                <a:solidFill>
                  <a:srgbClr val="0E1512"/>
                </a:solidFill>
                <a:latin typeface="Arial"/>
              </a:rPr>
              <a:t>Raast Request to Pay is not auto-pull. It sends a request the member approves in their own banking application. It removes the remembering problem without the cost, which is why it is the default rather than the exception.</a:t>
            </a:r>
          </a:p>
        </p:txBody>
      </p:sp>
      <p:sp>
        <p:nvSpPr>
          <p:cNvPr id="22" name="TextBox 21"/>
          <p:cNvSpPr txBox="1"/>
          <p:nvPr/>
        </p:nvSpPr>
        <p:spPr>
          <a:xfrm>
            <a:off x="7242048" y="1737360"/>
            <a:ext cx="434340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Rail at 1.5 per cent, against a flat fee</a:t>
            </a:r>
          </a:p>
        </p:txBody>
      </p:sp>
      <p:graphicFrame>
        <p:nvGraphicFramePr>
          <p:cNvPr id="23" name="Table 22"/>
          <p:cNvGraphicFramePr>
            <a:graphicFrameLocks noGrp="1"/>
          </p:cNvGraphicFramePr>
          <p:nvPr/>
        </p:nvGraphicFramePr>
        <p:xfrm>
          <a:off x="7242048" y="2048256"/>
          <a:ext cx="4343400" cy="1422989"/>
        </p:xfrm>
        <a:graphic>
          <a:graphicData uri="http://schemas.openxmlformats.org/drawingml/2006/table">
            <a:tbl>
              <a:tblPr>
                <a:tableStyleId>{5C22544A-7EE6-4342-B048-85BDC9FD1C3A}</a:tableStyleId>
              </a:tblPr>
              <a:tblGrid>
                <a:gridCol w="1476756"/>
                <a:gridCol w="955548"/>
                <a:gridCol w="868680"/>
                <a:gridCol w="1042416"/>
              </a:tblGrid>
              <a:tr h="289133">
                <a:tc>
                  <a:txBody>
                    <a:bodyPr wrap="square"/>
                    <a:lstStyle/>
                    <a:p>
                      <a:pPr algn="l"/>
                      <a:r>
                        <a:rPr sz="960" b="1">
                          <a:solidFill>
                            <a:srgbClr val="F6F1E4"/>
                          </a:solidFill>
                          <a:latin typeface="Arial"/>
                        </a:rPr>
                        <a:t>Instalment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Rail</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Fee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Share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Rs 450, hyper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6.75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9%</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Rs 2,500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37.50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100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38%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Rs 5,000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150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E1512"/>
                          </a:solidFill>
                          <a:latin typeface="Arial"/>
                        </a:rPr>
                        <a:t>Rs 20,000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300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Rs 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60%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4" name="TextBox 23"/>
          <p:cNvSpPr txBox="1"/>
          <p:nvPr/>
        </p:nvSpPr>
        <p:spPr>
          <a:xfrm>
            <a:off x="7242048" y="3712463"/>
            <a:ext cx="4343400" cy="658368"/>
          </a:xfrm>
          <a:prstGeom prst="rect">
            <a:avLst/>
          </a:prstGeom>
          <a:noFill/>
        </p:spPr>
        <p:txBody>
          <a:bodyPr wrap="square" lIns="0" rIns="0" tIns="0" bIns="0" anchor="t">
            <a:spAutoFit/>
          </a:bodyPr>
          <a:lstStyle/>
          <a:p>
            <a:pPr algn="l">
              <a:lnSpc>
                <a:spcPct val="120000"/>
              </a:lnSpc>
              <a:spcAft>
                <a:spcPts val="400"/>
              </a:spcAft>
            </a:pPr>
            <a:r>
              <a:rPr sz="1080" b="0" i="0">
                <a:solidFill>
                  <a:srgbClr val="0E1512"/>
                </a:solidFill>
                <a:latin typeface="Arial"/>
              </a:rPr>
              <a:t>The ratio worsens as the instalment grows, because the fee is flat and the rail is a percentage. Card at 3.3 per cent plus Rs 33 would take 64 per cent of hyper fee revenue and is never offered.</a:t>
            </a:r>
          </a:p>
        </p:txBody>
      </p:sp>
      <p:sp>
        <p:nvSpPr>
          <p:cNvPr id="25" name="TextBox 24"/>
          <p:cNvSpPr txBox="1"/>
          <p:nvPr/>
        </p:nvSpPr>
        <p:spPr>
          <a:xfrm>
            <a:off x="566928" y="4572000"/>
            <a:ext cx="11057839"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mandate is lawful, and it carries duties</a:t>
            </a:r>
          </a:p>
        </p:txBody>
      </p:sp>
      <p:graphicFrame>
        <p:nvGraphicFramePr>
          <p:cNvPr id="26" name="Table 25"/>
          <p:cNvGraphicFramePr>
            <a:graphicFrameLocks noGrp="1"/>
          </p:cNvGraphicFramePr>
          <p:nvPr/>
        </p:nvGraphicFramePr>
        <p:xfrm>
          <a:off x="566928" y="4882896"/>
          <a:ext cx="11057838" cy="1560697"/>
        </p:xfrm>
        <a:graphic>
          <a:graphicData uri="http://schemas.openxmlformats.org/drawingml/2006/table">
            <a:tbl>
              <a:tblPr>
                <a:tableStyleId>{5C22544A-7EE6-4342-B048-85BDC9FD1C3A}</a:tableStyleId>
              </a:tblPr>
              <a:tblGrid>
                <a:gridCol w="2211567"/>
                <a:gridCol w="8846271"/>
              </a:tblGrid>
              <a:tr h="317113">
                <a:tc>
                  <a:txBody>
                    <a:bodyPr wrap="square"/>
                    <a:lstStyle/>
                    <a:p>
                      <a:pPr algn="l"/>
                      <a:r>
                        <a:rPr sz="960" b="1">
                          <a:solidFill>
                            <a:srgbClr val="F6F1E4"/>
                          </a:solidFill>
                          <a:latin typeface="Arial"/>
                        </a:rPr>
                        <a:t>Clause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Requirement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980" b="0">
                          <a:solidFill>
                            <a:srgbClr val="0E1512"/>
                          </a:solidFill>
                          <a:latin typeface="Arial"/>
                        </a:rPr>
                        <a:t>PS&amp;EFT s.35(1)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 preauthorised transfer may be authorised “in writing, or in any other accepted form”, so an in-application mandate is valid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980" b="0">
                          <a:solidFill>
                            <a:srgbClr val="0E1512"/>
                          </a:solidFill>
                          <a:latin typeface="Arial"/>
                        </a:rPr>
                        <a:t>PS&amp;EFT s.35(2)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 working stop must exist. Cancelling the mandate returns the member to manual and does not end the commitment to the circle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980" b="0">
                          <a:solidFill>
                            <a:srgbClr val="0E1512"/>
                          </a:solidFill>
                          <a:latin typeface="Arial"/>
                        </a:rPr>
                        <a:t>PS&amp;EFT s.30, s.31(1)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Disclosures at contracting, and 21 days notice before any material change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980" b="0">
                          <a:solidFill>
                            <a:srgbClr val="0E1512"/>
                          </a:solidFill>
                          <a:latin typeface="Arial"/>
                        </a:rPr>
                        <a:t>PS&amp;EFT s.36(2), s.41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An alleged error investigated and reported in writing within 10 business days, with the burden of proving authorisation on us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D9A93C"/>
                </a:solidFill>
                <a:latin typeface="Georgia"/>
              </a:rPr>
              <a:t>04</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6F1E4"/>
                </a:solidFill>
                <a:latin typeface="Georgia"/>
              </a:rPr>
              <a:t>The product as built</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Live in production since 20 July 2026, deliberately not opened to the public.</a:t>
            </a:r>
          </a:p>
          <a:p>
            <a:pPr algn="l">
              <a:lnSpc>
                <a:spcPct val="100000"/>
              </a:lnSpc>
              <a:spcAft>
                <a:spcPts val="600"/>
              </a:spcAft>
            </a:pPr>
            <a:r>
              <a:rPr sz="1240" b="0" i="0">
                <a:solidFill>
                  <a:srgbClr val="C8D4CC"/>
                </a:solidFill>
                <a:latin typeface="Arial"/>
              </a:rPr>
              <a:t>Both packages type-clean. 60 unit and 352 integration checks passing.</a:t>
            </a:r>
          </a:p>
          <a:p>
            <a:pPr algn="l">
              <a:lnSpc>
                <a:spcPct val="100000"/>
              </a:lnSpc>
              <a:spcAft>
                <a:spcPts val="600"/>
              </a:spcAft>
            </a:pPr>
            <a:r>
              <a:rPr sz="1240" b="0" i="0">
                <a:solidFill>
                  <a:srgbClr val="C8D4CC"/>
                </a:solidFill>
                <a:latin typeface="Arial"/>
              </a:rPr>
              <a:t>No real money has ever moved. Every payment path is sandbox-settled.</a:t>
            </a:r>
          </a:p>
        </p:txBody>
      </p:sp>
      <p:cxnSp>
        <p:nvCxnSpPr>
          <p:cNvPr id="7" name="Connector 6"/>
          <p:cNvCxnSpPr/>
          <p:nvPr/>
        </p:nvCxnSpPr>
        <p:spPr>
          <a:xfrm>
            <a:off x="2697480"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04 · SHIPPED</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What is running in production today</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Every item below is shipped, tested and deployed. The stage tag says what it can and cannot do without an external gate.</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21</a:t>
            </a:r>
          </a:p>
        </p:txBody>
      </p:sp>
      <p:sp>
        <p:nvSpPr>
          <p:cNvPr id="18" name="TextBox 17"/>
          <p:cNvSpPr txBox="1"/>
          <p:nvPr/>
        </p:nvSpPr>
        <p:spPr>
          <a:xfrm>
            <a:off x="566928" y="1645920"/>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Onboarding and identity</a:t>
            </a:r>
          </a:p>
        </p:txBody>
      </p:sp>
      <p:cxnSp>
        <p:nvCxnSpPr>
          <p:cNvPr id="19" name="Connector 18"/>
          <p:cNvCxnSpPr/>
          <p:nvPr/>
        </p:nvCxnSpPr>
        <p:spPr>
          <a:xfrm>
            <a:off x="566928" y="1938528"/>
            <a:ext cx="3383280" cy="0"/>
          </a:xfrm>
          <a:prstGeom prst="line">
            <a:avLst/>
          </a:prstGeom>
          <a:ln w="152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66928" y="2084831"/>
            <a:ext cx="3383280" cy="365760"/>
          </a:xfrm>
          <a:prstGeom prst="rect">
            <a:avLst/>
          </a:prstGeom>
          <a:noFill/>
        </p:spPr>
        <p:txBody>
          <a:bodyPr wrap="square" lIns="0" rIns="0" tIns="0" bIns="0">
            <a:spAutoFit/>
          </a:bodyPr>
          <a:lstStyle/>
          <a:p>
            <a:pPr>
              <a:lnSpc>
                <a:spcPct val="106000"/>
              </a:lnSpc>
              <a:spcAft>
                <a:spcPts val="600"/>
              </a:spcAft>
            </a:pPr>
            <a:r>
              <a:rPr sz="1019" b="1">
                <a:solidFill>
                  <a:srgbClr val="D9A93C"/>
                </a:solidFill>
                <a:latin typeface="Georgia"/>
              </a:rPr>
              <a:t>|  </a:t>
            </a:r>
            <a:r>
              <a:rPr sz="1019">
                <a:solidFill>
                  <a:srgbClr val="0E1512"/>
                </a:solidFill>
                <a:latin typeface="Arial"/>
              </a:rPr>
              <a:t>Seven-step signup wizard with phone OTP</a:t>
            </a:r>
          </a:p>
          <a:p>
            <a:pPr>
              <a:lnSpc>
                <a:spcPct val="106000"/>
              </a:lnSpc>
              <a:spcAft>
                <a:spcPts val="600"/>
              </a:spcAft>
            </a:pPr>
            <a:r>
              <a:rPr sz="1019" b="1">
                <a:solidFill>
                  <a:srgbClr val="D9A93C"/>
                </a:solidFill>
                <a:latin typeface="Georgia"/>
              </a:rPr>
              <a:t>|  </a:t>
            </a:r>
            <a:r>
              <a:rPr sz="1019">
                <a:solidFill>
                  <a:srgbClr val="0E1512"/>
                </a:solidFill>
                <a:latin typeface="Arial"/>
              </a:rPr>
              <a:t>App PIN on every open, optional biometric unlock</a:t>
            </a:r>
          </a:p>
          <a:p>
            <a:pPr>
              <a:lnSpc>
                <a:spcPct val="106000"/>
              </a:lnSpc>
              <a:spcAft>
                <a:spcPts val="600"/>
              </a:spcAft>
            </a:pPr>
            <a:r>
              <a:rPr sz="1019" b="1">
                <a:solidFill>
                  <a:srgbClr val="D9A93C"/>
                </a:solidFill>
                <a:latin typeface="Georgia"/>
              </a:rPr>
              <a:t>|  </a:t>
            </a:r>
            <a:r>
              <a:rPr sz="1019">
                <a:solidFill>
                  <a:srgbClr val="0E1512"/>
                </a:solidFill>
                <a:latin typeface="Arial"/>
              </a:rPr>
              <a:t>CNIC captured by device camera, uniqueness enforced</a:t>
            </a:r>
          </a:p>
          <a:p>
            <a:pPr>
              <a:lnSpc>
                <a:spcPct val="106000"/>
              </a:lnSpc>
              <a:spcAft>
                <a:spcPts val="600"/>
              </a:spcAft>
            </a:pPr>
            <a:r>
              <a:rPr sz="1019" b="1">
                <a:solidFill>
                  <a:srgbClr val="D9A93C"/>
                </a:solidFill>
                <a:latin typeface="Georgia"/>
              </a:rPr>
              <a:t>|  </a:t>
            </a:r>
            <a:r>
              <a:rPr sz="1019">
                <a:solidFill>
                  <a:srgbClr val="0E1512"/>
                </a:solidFill>
                <a:latin typeface="Arial"/>
              </a:rPr>
              <a:t>One-time precise GPS home pin, reverse-geocoded</a:t>
            </a:r>
          </a:p>
          <a:p>
            <a:pPr>
              <a:lnSpc>
                <a:spcPct val="106000"/>
              </a:lnSpc>
              <a:spcAft>
                <a:spcPts val="600"/>
              </a:spcAft>
            </a:pPr>
            <a:r>
              <a:rPr sz="1019" b="1">
                <a:solidFill>
                  <a:srgbClr val="D9A93C"/>
                </a:solidFill>
                <a:latin typeface="Georgia"/>
              </a:rPr>
              <a:t>|  </a:t>
            </a:r>
            <a:r>
              <a:rPr sz="1019">
                <a:solidFill>
                  <a:srgbClr val="0E1512"/>
                </a:solidFill>
                <a:latin typeface="Arial"/>
              </a:rPr>
              <a:t>Occupation, employer, locality and public job title</a:t>
            </a:r>
          </a:p>
        </p:txBody>
      </p:sp>
      <p:sp>
        <p:nvSpPr>
          <p:cNvPr id="21" name="TextBox 20"/>
          <p:cNvSpPr txBox="1"/>
          <p:nvPr/>
        </p:nvSpPr>
        <p:spPr>
          <a:xfrm>
            <a:off x="4224528" y="1645920"/>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Circle lifecycle</a:t>
            </a:r>
          </a:p>
        </p:txBody>
      </p:sp>
      <p:cxnSp>
        <p:nvCxnSpPr>
          <p:cNvPr id="22" name="Connector 21"/>
          <p:cNvCxnSpPr/>
          <p:nvPr/>
        </p:nvCxnSpPr>
        <p:spPr>
          <a:xfrm>
            <a:off x="4224528" y="1938528"/>
            <a:ext cx="3383280" cy="0"/>
          </a:xfrm>
          <a:prstGeom prst="line">
            <a:avLst/>
          </a:prstGeom>
          <a:ln w="152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224528" y="2084831"/>
            <a:ext cx="3383280" cy="365760"/>
          </a:xfrm>
          <a:prstGeom prst="rect">
            <a:avLst/>
          </a:prstGeom>
          <a:noFill/>
        </p:spPr>
        <p:txBody>
          <a:bodyPr wrap="square" lIns="0" rIns="0" tIns="0" bIns="0">
            <a:spAutoFit/>
          </a:bodyPr>
          <a:lstStyle/>
          <a:p>
            <a:pPr>
              <a:lnSpc>
                <a:spcPct val="106000"/>
              </a:lnSpc>
              <a:spcAft>
                <a:spcPts val="600"/>
              </a:spcAft>
            </a:pPr>
            <a:r>
              <a:rPr sz="1019" b="1">
                <a:solidFill>
                  <a:srgbClr val="D9A93C"/>
                </a:solidFill>
                <a:latin typeface="Georgia"/>
              </a:rPr>
              <a:t>|  </a:t>
            </a:r>
            <a:r>
              <a:rPr sz="1019">
                <a:solidFill>
                  <a:srgbClr val="0E1512"/>
                </a:solidFill>
                <a:latin typeface="Arial"/>
              </a:rPr>
              <a:t>FORMING → ACTIVE → COMPLETED, cancel only from FORMING</a:t>
            </a:r>
          </a:p>
          <a:p>
            <a:pPr>
              <a:lnSpc>
                <a:spcPct val="106000"/>
              </a:lnSpc>
              <a:spcAft>
                <a:spcPts val="600"/>
              </a:spcAft>
            </a:pPr>
            <a:r>
              <a:rPr sz="1019" b="1">
                <a:solidFill>
                  <a:srgbClr val="D9A93C"/>
                </a:solidFill>
                <a:latin typeface="Georgia"/>
              </a:rPr>
              <a:t>|  </a:t>
            </a:r>
            <a:r>
              <a:rPr sz="1019">
                <a:solidFill>
                  <a:srgbClr val="0E1512"/>
                </a:solidFill>
                <a:latin typeface="Arial"/>
              </a:rPr>
              <a:t>Start is one atomic transaction — order frozen, all rounds created</a:t>
            </a:r>
          </a:p>
          <a:p>
            <a:pPr>
              <a:lnSpc>
                <a:spcPct val="106000"/>
              </a:lnSpc>
              <a:spcAft>
                <a:spcPts val="600"/>
              </a:spcAft>
            </a:pPr>
            <a:r>
              <a:rPr sz="1019" b="1">
                <a:solidFill>
                  <a:srgbClr val="D9A93C"/>
                </a:solidFill>
                <a:latin typeface="Georgia"/>
              </a:rPr>
              <a:t>|  </a:t>
            </a:r>
            <a:r>
              <a:rPr sz="1019">
                <a:solidFill>
                  <a:srgbClr val="0E1512"/>
                </a:solidFill>
                <a:latin typeface="Arial"/>
              </a:rPr>
              <a:t>Pick-your-seat at join, band-gated, permanent</a:t>
            </a:r>
          </a:p>
          <a:p>
            <a:pPr>
              <a:lnSpc>
                <a:spcPct val="106000"/>
              </a:lnSpc>
              <a:spcAft>
                <a:spcPts val="600"/>
              </a:spcAft>
            </a:pPr>
            <a:r>
              <a:rPr sz="1019" b="1">
                <a:solidFill>
                  <a:srgbClr val="D9A93C"/>
                </a:solidFill>
                <a:latin typeface="Georgia"/>
              </a:rPr>
              <a:t>|  </a:t>
            </a:r>
            <a:r>
              <a:rPr sz="1019">
                <a:solidFill>
                  <a:srgbClr val="0E1512"/>
                </a:solidFill>
                <a:latin typeface="Arial"/>
              </a:rPr>
              <a:t>Daily circles, mega circles to 150 members, goal circles</a:t>
            </a:r>
          </a:p>
          <a:p>
            <a:pPr>
              <a:lnSpc>
                <a:spcPct val="106000"/>
              </a:lnSpc>
              <a:spcAft>
                <a:spcPts val="600"/>
              </a:spcAft>
            </a:pPr>
            <a:r>
              <a:rPr sz="1019" b="1">
                <a:solidFill>
                  <a:srgbClr val="D9A93C"/>
                </a:solidFill>
                <a:latin typeface="Georgia"/>
              </a:rPr>
              <a:t>|  </a:t>
            </a:r>
            <a:r>
              <a:rPr sz="1019">
                <a:solidFill>
                  <a:srgbClr val="0E1512"/>
                </a:solidFill>
                <a:latin typeface="Arial"/>
              </a:rPr>
              <a:t>Per-circle group chat, waitlist, host visibility toggle</a:t>
            </a:r>
          </a:p>
        </p:txBody>
      </p:sp>
      <p:sp>
        <p:nvSpPr>
          <p:cNvPr id="24" name="TextBox 23"/>
          <p:cNvSpPr txBox="1"/>
          <p:nvPr/>
        </p:nvSpPr>
        <p:spPr>
          <a:xfrm>
            <a:off x="7882128" y="1645920"/>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Payments and collection</a:t>
            </a:r>
          </a:p>
        </p:txBody>
      </p:sp>
      <p:cxnSp>
        <p:nvCxnSpPr>
          <p:cNvPr id="25" name="Connector 24"/>
          <p:cNvCxnSpPr/>
          <p:nvPr/>
        </p:nvCxnSpPr>
        <p:spPr>
          <a:xfrm>
            <a:off x="7882128" y="1938528"/>
            <a:ext cx="3383280" cy="0"/>
          </a:xfrm>
          <a:prstGeom prst="line">
            <a:avLst/>
          </a:prstGeom>
          <a:ln w="152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882128" y="2084831"/>
            <a:ext cx="3383280" cy="365760"/>
          </a:xfrm>
          <a:prstGeom prst="rect">
            <a:avLst/>
          </a:prstGeom>
          <a:noFill/>
        </p:spPr>
        <p:txBody>
          <a:bodyPr wrap="square" lIns="0" rIns="0" tIns="0" bIns="0">
            <a:spAutoFit/>
          </a:bodyPr>
          <a:lstStyle/>
          <a:p>
            <a:pPr>
              <a:lnSpc>
                <a:spcPct val="106000"/>
              </a:lnSpc>
              <a:spcAft>
                <a:spcPts val="600"/>
              </a:spcAft>
            </a:pPr>
            <a:r>
              <a:rPr sz="1019" b="1">
                <a:solidFill>
                  <a:srgbClr val="D9A93C"/>
                </a:solidFill>
                <a:latin typeface="Georgia"/>
              </a:rPr>
              <a:t>|  </a:t>
            </a:r>
            <a:r>
              <a:rPr sz="1019">
                <a:solidFill>
                  <a:srgbClr val="0E1512"/>
                </a:solidFill>
                <a:latin typeface="Arial"/>
              </a:rPr>
              <a:t>Gateway-style checkout with branded rail cards and a failure path</a:t>
            </a:r>
          </a:p>
          <a:p>
            <a:pPr>
              <a:lnSpc>
                <a:spcPct val="106000"/>
              </a:lnSpc>
              <a:spcAft>
                <a:spcPts val="600"/>
              </a:spcAft>
            </a:pPr>
            <a:r>
              <a:rPr sz="1019" b="1">
                <a:solidFill>
                  <a:srgbClr val="D9A93C"/>
                </a:solidFill>
                <a:latin typeface="Georgia"/>
              </a:rPr>
              <a:t>|  </a:t>
            </a:r>
            <a:r>
              <a:rPr sz="1019">
                <a:solidFill>
                  <a:srgbClr val="0E1512"/>
                </a:solidFill>
                <a:latin typeface="Arial"/>
              </a:rPr>
              <a:t>Saved instruments, masked at rest, mandate OTP over WhatsApp</a:t>
            </a:r>
          </a:p>
          <a:p>
            <a:pPr>
              <a:lnSpc>
                <a:spcPct val="106000"/>
              </a:lnSpc>
              <a:spcAft>
                <a:spcPts val="600"/>
              </a:spcAft>
            </a:pPr>
            <a:r>
              <a:rPr sz="1019" b="1">
                <a:solidFill>
                  <a:srgbClr val="D9A93C"/>
                </a:solidFill>
                <a:latin typeface="Georgia"/>
              </a:rPr>
              <a:t>|  </a:t>
            </a:r>
            <a:r>
              <a:rPr sz="1019">
                <a:solidFill>
                  <a:srgbClr val="0E1512"/>
                </a:solidFill>
                <a:latin typeface="Arial"/>
              </a:rPr>
              <a:t>Card linking stores brand, last four, expiry only — never PAN or CVC</a:t>
            </a:r>
          </a:p>
          <a:p>
            <a:pPr>
              <a:lnSpc>
                <a:spcPct val="106000"/>
              </a:lnSpc>
              <a:spcAft>
                <a:spcPts val="600"/>
              </a:spcAft>
            </a:pPr>
            <a:r>
              <a:rPr sz="1019" b="1">
                <a:solidFill>
                  <a:srgbClr val="D9A93C"/>
                </a:solidFill>
                <a:latin typeface="Georgia"/>
              </a:rPr>
              <a:t>|  </a:t>
            </a:r>
            <a:r>
              <a:rPr sz="1019">
                <a:solidFill>
                  <a:srgbClr val="0E1512"/>
                </a:solidFill>
                <a:latin typeface="Arial"/>
              </a:rPr>
              <a:t>Auto-collection on by default at join, with recorded consent</a:t>
            </a:r>
          </a:p>
          <a:p>
            <a:pPr>
              <a:lnSpc>
                <a:spcPct val="106000"/>
              </a:lnSpc>
              <a:spcAft>
                <a:spcPts val="600"/>
              </a:spcAft>
            </a:pPr>
            <a:r>
              <a:rPr sz="1019" b="1">
                <a:solidFill>
                  <a:srgbClr val="D9A93C"/>
                </a:solidFill>
                <a:latin typeface="Georgia"/>
              </a:rPr>
              <a:t>|  </a:t>
            </a:r>
            <a:r>
              <a:rPr sz="1019">
                <a:solidFill>
                  <a:srgbClr val="0E1512"/>
                </a:solidFill>
                <a:latin typeface="Arial"/>
              </a:rPr>
              <a:t>The daily delinquency cron is the real collector, 02:00 UTC</a:t>
            </a:r>
          </a:p>
        </p:txBody>
      </p:sp>
      <p:sp>
        <p:nvSpPr>
          <p:cNvPr id="27" name="TextBox 26"/>
          <p:cNvSpPr txBox="1"/>
          <p:nvPr/>
        </p:nvSpPr>
        <p:spPr>
          <a:xfrm>
            <a:off x="566928" y="4041648"/>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Legal rails</a:t>
            </a:r>
          </a:p>
        </p:txBody>
      </p:sp>
      <p:cxnSp>
        <p:nvCxnSpPr>
          <p:cNvPr id="28" name="Connector 27"/>
          <p:cNvCxnSpPr/>
          <p:nvPr/>
        </p:nvCxnSpPr>
        <p:spPr>
          <a:xfrm>
            <a:off x="566928" y="4334256"/>
            <a:ext cx="3383280" cy="0"/>
          </a:xfrm>
          <a:prstGeom prst="line">
            <a:avLst/>
          </a:prstGeom>
          <a:ln w="152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4480560"/>
            <a:ext cx="3383280" cy="365760"/>
          </a:xfrm>
          <a:prstGeom prst="rect">
            <a:avLst/>
          </a:prstGeom>
          <a:noFill/>
        </p:spPr>
        <p:txBody>
          <a:bodyPr wrap="square" lIns="0" rIns="0" tIns="0" bIns="0">
            <a:spAutoFit/>
          </a:bodyPr>
          <a:lstStyle/>
          <a:p>
            <a:pPr>
              <a:lnSpc>
                <a:spcPct val="106000"/>
              </a:lnSpc>
              <a:spcAft>
                <a:spcPts val="600"/>
              </a:spcAft>
            </a:pPr>
            <a:r>
              <a:rPr sz="1019" b="1">
                <a:solidFill>
                  <a:srgbClr val="D9A93C"/>
                </a:solidFill>
                <a:latin typeface="Georgia"/>
              </a:rPr>
              <a:t>|  </a:t>
            </a:r>
            <a:r>
              <a:rPr sz="1019">
                <a:solidFill>
                  <a:srgbClr val="0E1512"/>
                </a:solidFill>
                <a:latin typeface="Arial"/>
              </a:rPr>
              <a:t>Weekly e-signed undertaking, 7-day expiry, 10 clauses</a:t>
            </a:r>
          </a:p>
          <a:p>
            <a:pPr>
              <a:lnSpc>
                <a:spcPct val="106000"/>
              </a:lnSpc>
              <a:spcAft>
                <a:spcPts val="600"/>
              </a:spcAft>
            </a:pPr>
            <a:r>
              <a:rPr sz="1019" b="1">
                <a:solidFill>
                  <a:srgbClr val="D9A93C"/>
                </a:solidFill>
                <a:latin typeface="Georgia"/>
              </a:rPr>
              <a:t>|  </a:t>
            </a:r>
            <a:r>
              <a:rPr sz="1019">
                <a:solidFill>
                  <a:srgbClr val="0E1512"/>
                </a:solidFill>
                <a:latin typeface="Arial"/>
              </a:rPr>
              <a:t>Typed legal name must match the account, optional drawn signature</a:t>
            </a:r>
          </a:p>
          <a:p>
            <a:pPr>
              <a:lnSpc>
                <a:spcPct val="106000"/>
              </a:lnSpc>
              <a:spcAft>
                <a:spcPts val="600"/>
              </a:spcAft>
            </a:pPr>
            <a:r>
              <a:rPr sz="1019" b="1">
                <a:solidFill>
                  <a:srgbClr val="D9A93C"/>
                </a:solidFill>
                <a:latin typeface="Georgia"/>
              </a:rPr>
              <a:t>|  </a:t>
            </a:r>
            <a:r>
              <a:rPr sz="1019">
                <a:solidFill>
                  <a:srgbClr val="0E1512"/>
                </a:solidFill>
                <a:latin typeface="Arial"/>
              </a:rPr>
              <a:t>Stored with SHA-256 hash, IP and timestamp</a:t>
            </a:r>
          </a:p>
          <a:p>
            <a:pPr>
              <a:lnSpc>
                <a:spcPct val="106000"/>
              </a:lnSpc>
              <a:spcAft>
                <a:spcPts val="600"/>
              </a:spcAft>
            </a:pPr>
            <a:r>
              <a:rPr sz="1019" b="1">
                <a:solidFill>
                  <a:srgbClr val="D9A93C"/>
                </a:solidFill>
                <a:latin typeface="Georgia"/>
              </a:rPr>
              <a:t>|  </a:t>
            </a:r>
            <a:r>
              <a:rPr sz="1019">
                <a:solidFill>
                  <a:srgbClr val="0E1512"/>
                </a:solidFill>
                <a:latin typeface="Arial"/>
              </a:rPr>
              <a:t>Mutual member-to-member guarantee, auto-signed at join — never to Halqa</a:t>
            </a:r>
          </a:p>
        </p:txBody>
      </p:sp>
      <p:sp>
        <p:nvSpPr>
          <p:cNvPr id="30" name="TextBox 29"/>
          <p:cNvSpPr txBox="1"/>
          <p:nvPr/>
        </p:nvSpPr>
        <p:spPr>
          <a:xfrm>
            <a:off x="4224528" y="4041648"/>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Credit and marketplace</a:t>
            </a:r>
          </a:p>
        </p:txBody>
      </p:sp>
      <p:cxnSp>
        <p:nvCxnSpPr>
          <p:cNvPr id="31" name="Connector 30"/>
          <p:cNvCxnSpPr/>
          <p:nvPr/>
        </p:nvCxnSpPr>
        <p:spPr>
          <a:xfrm>
            <a:off x="4224528" y="4334256"/>
            <a:ext cx="3383280" cy="0"/>
          </a:xfrm>
          <a:prstGeom prst="line">
            <a:avLst/>
          </a:prstGeom>
          <a:ln w="152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24528" y="4480560"/>
            <a:ext cx="3383280" cy="365760"/>
          </a:xfrm>
          <a:prstGeom prst="rect">
            <a:avLst/>
          </a:prstGeom>
          <a:noFill/>
        </p:spPr>
        <p:txBody>
          <a:bodyPr wrap="square" lIns="0" rIns="0" tIns="0" bIns="0">
            <a:spAutoFit/>
          </a:bodyPr>
          <a:lstStyle/>
          <a:p>
            <a:pPr>
              <a:lnSpc>
                <a:spcPct val="106000"/>
              </a:lnSpc>
              <a:spcAft>
                <a:spcPts val="600"/>
              </a:spcAft>
            </a:pPr>
            <a:r>
              <a:rPr sz="1019" b="1">
                <a:solidFill>
                  <a:srgbClr val="D9A93C"/>
                </a:solidFill>
                <a:latin typeface="Georgia"/>
              </a:rPr>
              <a:t>|  </a:t>
            </a:r>
            <a:r>
              <a:rPr sz="1019">
                <a:solidFill>
                  <a:srgbClr val="0E1512"/>
                </a:solidFill>
                <a:latin typeface="Arial"/>
              </a:rPr>
              <a:t>Sakh 300–850, opening 700, four bands, cutoffs in one file</a:t>
            </a:r>
          </a:p>
          <a:p>
            <a:pPr>
              <a:lnSpc>
                <a:spcPct val="106000"/>
              </a:lnSpc>
              <a:spcAft>
                <a:spcPts val="600"/>
              </a:spcAft>
            </a:pPr>
            <a:r>
              <a:rPr sz="1019" b="1">
                <a:solidFill>
                  <a:srgbClr val="D9A93C"/>
                </a:solidFill>
                <a:latin typeface="Georgia"/>
              </a:rPr>
              <a:t>|  </a:t>
            </a:r>
            <a:r>
              <a:rPr sz="1019">
                <a:solidFill>
                  <a:srgbClr val="0E1512"/>
                </a:solidFill>
                <a:latin typeface="Arial"/>
              </a:rPr>
              <a:t>Credit Passport, signed and verifiable without a Halqa account</a:t>
            </a:r>
          </a:p>
          <a:p>
            <a:pPr>
              <a:lnSpc>
                <a:spcPct val="106000"/>
              </a:lnSpc>
              <a:spcAft>
                <a:spcPts val="600"/>
              </a:spcAft>
            </a:pPr>
            <a:r>
              <a:rPr sz="1019" b="1">
                <a:solidFill>
                  <a:srgbClr val="D9A93C"/>
                </a:solidFill>
                <a:latin typeface="Georgia"/>
              </a:rPr>
              <a:t>|  </a:t>
            </a:r>
            <a:r>
              <a:rPr sz="1019">
                <a:solidFill>
                  <a:srgbClr val="0E1512"/>
                </a:solidFill>
                <a:latin typeface="Arial"/>
              </a:rPr>
              <a:t>Turn marketplace: list, bid, accept, premium capped at 50% of payout</a:t>
            </a:r>
          </a:p>
          <a:p>
            <a:pPr>
              <a:lnSpc>
                <a:spcPct val="106000"/>
              </a:lnSpc>
              <a:spcAft>
                <a:spcPts val="600"/>
              </a:spcAft>
            </a:pPr>
            <a:r>
              <a:rPr sz="1019" b="1">
                <a:solidFill>
                  <a:srgbClr val="D9A93C"/>
                </a:solidFill>
                <a:latin typeface="Georgia"/>
              </a:rPr>
              <a:t>|  </a:t>
            </a:r>
            <a:r>
              <a:rPr sz="1019">
                <a:solidFill>
                  <a:srgbClr val="0E1512"/>
                </a:solidFill>
                <a:latin typeface="Arial"/>
              </a:rPr>
              <a:t>Bureau-impact audit queue feeding a future TASDEEQ export</a:t>
            </a:r>
          </a:p>
        </p:txBody>
      </p:sp>
      <p:sp>
        <p:nvSpPr>
          <p:cNvPr id="33" name="TextBox 32"/>
          <p:cNvSpPr txBox="1"/>
          <p:nvPr/>
        </p:nvSpPr>
        <p:spPr>
          <a:xfrm>
            <a:off x="7882128" y="4041648"/>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Engineering invariants</a:t>
            </a:r>
          </a:p>
        </p:txBody>
      </p:sp>
      <p:cxnSp>
        <p:nvCxnSpPr>
          <p:cNvPr id="34" name="Connector 33"/>
          <p:cNvCxnSpPr/>
          <p:nvPr/>
        </p:nvCxnSpPr>
        <p:spPr>
          <a:xfrm>
            <a:off x="7882128" y="4334256"/>
            <a:ext cx="3383280" cy="0"/>
          </a:xfrm>
          <a:prstGeom prst="line">
            <a:avLst/>
          </a:prstGeom>
          <a:ln w="152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882128" y="4480560"/>
            <a:ext cx="3383280" cy="365760"/>
          </a:xfrm>
          <a:prstGeom prst="rect">
            <a:avLst/>
          </a:prstGeom>
          <a:noFill/>
        </p:spPr>
        <p:txBody>
          <a:bodyPr wrap="square" lIns="0" rIns="0" tIns="0" bIns="0">
            <a:spAutoFit/>
          </a:bodyPr>
          <a:lstStyle/>
          <a:p>
            <a:pPr>
              <a:lnSpc>
                <a:spcPct val="106000"/>
              </a:lnSpc>
              <a:spcAft>
                <a:spcPts val="600"/>
              </a:spcAft>
            </a:pPr>
            <a:r>
              <a:rPr sz="1019" b="1">
                <a:solidFill>
                  <a:srgbClr val="D9A93C"/>
                </a:solidFill>
                <a:latin typeface="Georgia"/>
              </a:rPr>
              <a:t>|  </a:t>
            </a:r>
            <a:r>
              <a:rPr sz="1019">
                <a:solidFill>
                  <a:srgbClr val="0E1512"/>
                </a:solidFill>
                <a:latin typeface="Arial"/>
              </a:rPr>
              <a:t>All money is integer paisa in BigInt — no floating point anywhere</a:t>
            </a:r>
          </a:p>
          <a:p>
            <a:pPr>
              <a:lnSpc>
                <a:spcPct val="106000"/>
              </a:lnSpc>
              <a:spcAft>
                <a:spcPts val="600"/>
              </a:spcAft>
            </a:pPr>
            <a:r>
              <a:rPr sz="1019" b="1">
                <a:solidFill>
                  <a:srgbClr val="D9A93C"/>
                </a:solidFill>
                <a:latin typeface="Georgia"/>
              </a:rPr>
              <a:t>|  </a:t>
            </a:r>
            <a:r>
              <a:rPr sz="1019">
                <a:solidFill>
                  <a:srgbClr val="0E1512"/>
                </a:solidFill>
                <a:latin typeface="Arial"/>
              </a:rPr>
              <a:t>Every movement is a double-entry pair, so the ledger self-checks</a:t>
            </a:r>
          </a:p>
          <a:p>
            <a:pPr>
              <a:lnSpc>
                <a:spcPct val="106000"/>
              </a:lnSpc>
              <a:spcAft>
                <a:spcPts val="600"/>
              </a:spcAft>
            </a:pPr>
            <a:r>
              <a:rPr sz="1019" b="1">
                <a:solidFill>
                  <a:srgbClr val="D9A93C"/>
                </a:solidFill>
                <a:latin typeface="Georgia"/>
              </a:rPr>
              <a:t>|  </a:t>
            </a:r>
            <a:r>
              <a:rPr sz="1019">
                <a:solidFill>
                  <a:srgbClr val="0E1512"/>
                </a:solidFill>
                <a:latin typeface="Arial"/>
              </a:rPr>
              <a:t>Every write carries an idempotency key</a:t>
            </a:r>
          </a:p>
          <a:p>
            <a:pPr>
              <a:lnSpc>
                <a:spcPct val="106000"/>
              </a:lnSpc>
              <a:spcAft>
                <a:spcPts val="600"/>
              </a:spcAft>
            </a:pPr>
            <a:r>
              <a:rPr sz="1019" b="1">
                <a:solidFill>
                  <a:srgbClr val="D9A93C"/>
                </a:solidFill>
                <a:latin typeface="Georgia"/>
              </a:rPr>
              <a:t>|  </a:t>
            </a:r>
            <a:r>
              <a:rPr sz="1019">
                <a:solidFill>
                  <a:srgbClr val="0E1512"/>
                </a:solidFill>
                <a:latin typeface="Arial"/>
              </a:rPr>
              <a:t>Production migrations are additive-only hand-written SQL</a:t>
            </a:r>
          </a:p>
        </p:txBody>
      </p:sp>
      <p:sp>
        <p:nvSpPr>
          <p:cNvPr id="36" name="TextBox 35"/>
          <p:cNvSpPr txBox="1"/>
          <p:nvPr/>
        </p:nvSpPr>
        <p:spPr>
          <a:xfrm>
            <a:off x="566928" y="6053328"/>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verified 31 July 2026: both packages type-clean, 60 of 60 unit tests and 352 of 352 integration checks passing, web dependencies reporting zero known vulnerabilities, security posture assessed 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04 · THE FLAGSHIP</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Payday collection — the most consequential decision in the product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It came from a chacha saying “I pay as soon as my pay arrives.” The due date stops being the collection event. Payday becomes the collection event, and the due date becomes the deadline for failures.</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22</a:t>
            </a:r>
          </a:p>
        </p:txBody>
      </p:sp>
      <p:sp>
        <p:nvSpPr>
          <p:cNvPr id="18" name="TextBox 17"/>
          <p:cNvSpPr txBox="1"/>
          <p:nvPr/>
        </p:nvSpPr>
        <p:spPr>
          <a:xfrm>
            <a:off x="566928" y="188366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12   The collection sequence</a:t>
            </a:r>
          </a:p>
        </p:txBody>
      </p:sp>
      <p:cxnSp>
        <p:nvCxnSpPr>
          <p:cNvPr id="19" name="Connector 18"/>
          <p:cNvCxnSpPr/>
          <p:nvPr/>
        </p:nvCxnSpPr>
        <p:spPr>
          <a:xfrm>
            <a:off x="932688" y="2761488"/>
            <a:ext cx="10058400" cy="0"/>
          </a:xfrm>
          <a:prstGeom prst="line">
            <a:avLst/>
          </a:prstGeom>
          <a:ln w="12700">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91540" y="2679192"/>
            <a:ext cx="82296" cy="164592"/>
          </a:xfrm>
          <a:prstGeom prst="rect">
            <a:avLst/>
          </a:prstGeom>
          <a:solidFill>
            <a:srgbClr val="1B51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24128" y="2395728"/>
            <a:ext cx="2258568" cy="256032"/>
          </a:xfrm>
          <a:prstGeom prst="rect">
            <a:avLst/>
          </a:prstGeom>
          <a:noFill/>
        </p:spPr>
        <p:txBody>
          <a:bodyPr wrap="square" lIns="0" rIns="0" tIns="0" bIns="0" anchor="t">
            <a:spAutoFit/>
          </a:bodyPr>
          <a:lstStyle/>
          <a:p>
            <a:pPr algn="l">
              <a:lnSpc>
                <a:spcPct val="100000"/>
              </a:lnSpc>
              <a:spcAft>
                <a:spcPts val="400"/>
              </a:spcAft>
            </a:pPr>
            <a:r>
              <a:rPr sz="1100" b="1" i="0">
                <a:solidFill>
                  <a:srgbClr val="123D30"/>
                </a:solidFill>
                <a:latin typeface="Arial"/>
              </a:rPr>
              <a:t>Evening before</a:t>
            </a:r>
          </a:p>
        </p:txBody>
      </p:sp>
      <p:sp>
        <p:nvSpPr>
          <p:cNvPr id="22" name="TextBox 21"/>
          <p:cNvSpPr txBox="1"/>
          <p:nvPr/>
        </p:nvSpPr>
        <p:spPr>
          <a:xfrm>
            <a:off x="1024128" y="2926080"/>
            <a:ext cx="2258568" cy="822960"/>
          </a:xfrm>
          <a:prstGeom prst="rect">
            <a:avLst/>
          </a:prstGeom>
          <a:noFill/>
        </p:spPr>
        <p:txBody>
          <a:bodyPr wrap="square" lIns="0" rIns="0" tIns="0" bIns="0" anchor="t">
            <a:spAutoFit/>
          </a:bodyPr>
          <a:lstStyle/>
          <a:p>
            <a:pPr algn="l">
              <a:lnSpc>
                <a:spcPct val="116000"/>
              </a:lnSpc>
              <a:spcAft>
                <a:spcPts val="400"/>
              </a:spcAft>
            </a:pPr>
            <a:r>
              <a:rPr sz="1000" b="0" i="0">
                <a:solidFill>
                  <a:srgbClr val="0E1512"/>
                </a:solidFill>
                <a:latin typeface="Arial"/>
              </a:rPr>
              <a:t>Balance-check notice goes out</a:t>
            </a:r>
          </a:p>
        </p:txBody>
      </p:sp>
      <p:sp>
        <p:nvSpPr>
          <p:cNvPr id="23" name="Rectangle 22"/>
          <p:cNvSpPr/>
          <p:nvPr/>
        </p:nvSpPr>
        <p:spPr>
          <a:xfrm>
            <a:off x="3378708" y="2679192"/>
            <a:ext cx="82296" cy="164592"/>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11296" y="2395728"/>
            <a:ext cx="2258568" cy="256032"/>
          </a:xfrm>
          <a:prstGeom prst="rect">
            <a:avLst/>
          </a:prstGeom>
          <a:noFill/>
        </p:spPr>
        <p:txBody>
          <a:bodyPr wrap="square" lIns="0" rIns="0" tIns="0" bIns="0" anchor="t">
            <a:spAutoFit/>
          </a:bodyPr>
          <a:lstStyle/>
          <a:p>
            <a:pPr algn="l">
              <a:lnSpc>
                <a:spcPct val="100000"/>
              </a:lnSpc>
              <a:spcAft>
                <a:spcPts val="400"/>
              </a:spcAft>
            </a:pPr>
            <a:r>
              <a:rPr sz="1100" b="1" i="0">
                <a:solidFill>
                  <a:srgbClr val="123D30"/>
                </a:solidFill>
                <a:latin typeface="Arial"/>
              </a:rPr>
              <a:t>Payday morning</a:t>
            </a:r>
          </a:p>
        </p:txBody>
      </p:sp>
      <p:sp>
        <p:nvSpPr>
          <p:cNvPr id="25" name="TextBox 24"/>
          <p:cNvSpPr txBox="1"/>
          <p:nvPr/>
        </p:nvSpPr>
        <p:spPr>
          <a:xfrm>
            <a:off x="3511296" y="2926080"/>
            <a:ext cx="2258568" cy="822960"/>
          </a:xfrm>
          <a:prstGeom prst="rect">
            <a:avLst/>
          </a:prstGeom>
          <a:noFill/>
        </p:spPr>
        <p:txBody>
          <a:bodyPr wrap="square" lIns="0" rIns="0" tIns="0" bIns="0" anchor="t">
            <a:spAutoFit/>
          </a:bodyPr>
          <a:lstStyle/>
          <a:p>
            <a:pPr algn="l">
              <a:lnSpc>
                <a:spcPct val="116000"/>
              </a:lnSpc>
              <a:spcAft>
                <a:spcPts val="400"/>
              </a:spcAft>
            </a:pPr>
            <a:r>
              <a:rPr sz="1000" b="0" i="0">
                <a:solidFill>
                  <a:srgbClr val="0E1512"/>
                </a:solidFill>
                <a:latin typeface="Arial"/>
              </a:rPr>
              <a:t>The mandate executes while the balance is at its monthly maximum, before the installment is even due</a:t>
            </a:r>
          </a:p>
        </p:txBody>
      </p:sp>
      <p:sp>
        <p:nvSpPr>
          <p:cNvPr id="26" name="Rectangle 25"/>
          <p:cNvSpPr/>
          <p:nvPr/>
        </p:nvSpPr>
        <p:spPr>
          <a:xfrm>
            <a:off x="5865876" y="2679192"/>
            <a:ext cx="82296" cy="164592"/>
          </a:xfrm>
          <a:prstGeom prst="rect">
            <a:avLst/>
          </a:prstGeom>
          <a:solidFill>
            <a:srgbClr val="1B51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998464" y="2395728"/>
            <a:ext cx="2258568" cy="256032"/>
          </a:xfrm>
          <a:prstGeom prst="rect">
            <a:avLst/>
          </a:prstGeom>
          <a:noFill/>
        </p:spPr>
        <p:txBody>
          <a:bodyPr wrap="square" lIns="0" rIns="0" tIns="0" bIns="0" anchor="t">
            <a:spAutoFit/>
          </a:bodyPr>
          <a:lstStyle/>
          <a:p>
            <a:pPr algn="l">
              <a:lnSpc>
                <a:spcPct val="100000"/>
              </a:lnSpc>
              <a:spcAft>
                <a:spcPts val="400"/>
              </a:spcAft>
            </a:pPr>
            <a:r>
              <a:rPr sz="1100" b="1" i="0">
                <a:solidFill>
                  <a:srgbClr val="123D30"/>
                </a:solidFill>
                <a:latin typeface="Arial"/>
              </a:rPr>
              <a:t>If the charge fails</a:t>
            </a:r>
          </a:p>
        </p:txBody>
      </p:sp>
      <p:sp>
        <p:nvSpPr>
          <p:cNvPr id="28" name="TextBox 27"/>
          <p:cNvSpPr txBox="1"/>
          <p:nvPr/>
        </p:nvSpPr>
        <p:spPr>
          <a:xfrm>
            <a:off x="5998464" y="2926080"/>
            <a:ext cx="2258568" cy="822960"/>
          </a:xfrm>
          <a:prstGeom prst="rect">
            <a:avLst/>
          </a:prstGeom>
          <a:noFill/>
        </p:spPr>
        <p:txBody>
          <a:bodyPr wrap="square" lIns="0" rIns="0" tIns="0" bIns="0" anchor="t">
            <a:spAutoFit/>
          </a:bodyPr>
          <a:lstStyle/>
          <a:p>
            <a:pPr algn="l">
              <a:lnSpc>
                <a:spcPct val="116000"/>
              </a:lnSpc>
              <a:spcAft>
                <a:spcPts val="400"/>
              </a:spcAft>
            </a:pPr>
            <a:r>
              <a:rPr sz="1000" b="0" i="0">
                <a:solidFill>
                  <a:srgbClr val="0E1512"/>
                </a:solidFill>
                <a:latin typeface="Arial"/>
              </a:rPr>
              <a:t>A retry ladder runs to the due date, alongside a Raast one-tap request and a WhatsApp nudge</a:t>
            </a:r>
          </a:p>
        </p:txBody>
      </p:sp>
      <p:sp>
        <p:nvSpPr>
          <p:cNvPr id="29" name="Rectangle 28"/>
          <p:cNvSpPr/>
          <p:nvPr/>
        </p:nvSpPr>
        <p:spPr>
          <a:xfrm>
            <a:off x="8353044" y="2679192"/>
            <a:ext cx="82296" cy="164592"/>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485632" y="2395728"/>
            <a:ext cx="2258568" cy="256032"/>
          </a:xfrm>
          <a:prstGeom prst="rect">
            <a:avLst/>
          </a:prstGeom>
          <a:noFill/>
        </p:spPr>
        <p:txBody>
          <a:bodyPr wrap="square" lIns="0" rIns="0" tIns="0" bIns="0" anchor="t">
            <a:spAutoFit/>
          </a:bodyPr>
          <a:lstStyle/>
          <a:p>
            <a:pPr algn="l">
              <a:lnSpc>
                <a:spcPct val="100000"/>
              </a:lnSpc>
              <a:spcAft>
                <a:spcPts val="400"/>
              </a:spcAft>
            </a:pPr>
            <a:r>
              <a:rPr sz="1100" b="1" i="0">
                <a:solidFill>
                  <a:srgbClr val="123D30"/>
                </a:solidFill>
                <a:latin typeface="Arial"/>
              </a:rPr>
              <a:t>Only if all fail</a:t>
            </a:r>
          </a:p>
        </p:txBody>
      </p:sp>
      <p:sp>
        <p:nvSpPr>
          <p:cNvPr id="31" name="TextBox 30"/>
          <p:cNvSpPr txBox="1"/>
          <p:nvPr/>
        </p:nvSpPr>
        <p:spPr>
          <a:xfrm>
            <a:off x="8485632" y="2926080"/>
            <a:ext cx="2258568" cy="822960"/>
          </a:xfrm>
          <a:prstGeom prst="rect">
            <a:avLst/>
          </a:prstGeom>
          <a:noFill/>
        </p:spPr>
        <p:txBody>
          <a:bodyPr wrap="square" lIns="0" rIns="0" tIns="0" bIns="0" anchor="t">
            <a:spAutoFit/>
          </a:bodyPr>
          <a:lstStyle/>
          <a:p>
            <a:pPr algn="l">
              <a:lnSpc>
                <a:spcPct val="116000"/>
              </a:lnSpc>
              <a:spcAft>
                <a:spcPts val="400"/>
              </a:spcAft>
            </a:pPr>
            <a:r>
              <a:rPr sz="1000" b="0" i="0">
                <a:solidFill>
                  <a:srgbClr val="0E1512"/>
                </a:solidFill>
                <a:latin typeface="Arial"/>
              </a:rPr>
              <a:t>The member meets the late-fee ladder — 2%, 5%, 10% by tier</a:t>
            </a:r>
          </a:p>
        </p:txBody>
      </p:sp>
      <p:cxnSp>
        <p:nvCxnSpPr>
          <p:cNvPr id="32" name="Connector 31"/>
          <p:cNvCxnSpPr/>
          <p:nvPr/>
        </p:nvCxnSpPr>
        <p:spPr>
          <a:xfrm>
            <a:off x="566928" y="4041648"/>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88414"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409901" y="39593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331387"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252874"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74360"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95847"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017334"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938820"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860307"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781793"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703280" y="3959352"/>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928" y="4261104"/>
            <a:ext cx="5212080" cy="274320"/>
          </a:xfrm>
          <a:prstGeom prst="rect">
            <a:avLst/>
          </a:prstGeom>
          <a:noFill/>
        </p:spPr>
        <p:txBody>
          <a:bodyPr wrap="square" lIns="0" rIns="0" tIns="0" bIns="0" anchor="t">
            <a:spAutoFit/>
          </a:bodyPr>
          <a:lstStyle/>
          <a:p>
            <a:pPr algn="l">
              <a:lnSpc>
                <a:spcPct val="100000"/>
              </a:lnSpc>
              <a:spcAft>
                <a:spcPts val="400"/>
              </a:spcAft>
            </a:pPr>
            <a:r>
              <a:rPr sz="1320" b="0" i="0">
                <a:solidFill>
                  <a:srgbClr val="123D30"/>
                </a:solidFill>
                <a:latin typeface="Georgia"/>
              </a:rPr>
              <a:t>The payday proves itself — four verification layers</a:t>
            </a:r>
          </a:p>
        </p:txBody>
      </p:sp>
      <p:graphicFrame>
        <p:nvGraphicFramePr>
          <p:cNvPr id="45" name="Table 44"/>
          <p:cNvGraphicFramePr>
            <a:graphicFrameLocks noGrp="1"/>
          </p:cNvGraphicFramePr>
          <p:nvPr/>
        </p:nvGraphicFramePr>
        <p:xfrm>
          <a:off x="566928" y="4590288"/>
          <a:ext cx="5212079" cy="2019726"/>
        </p:xfrm>
        <a:graphic>
          <a:graphicData uri="http://schemas.openxmlformats.org/drawingml/2006/table">
            <a:tbl>
              <a:tblPr>
                <a:tableStyleId>{5C22544A-7EE6-4342-B048-85BDC9FD1C3A}</a:tableStyleId>
              </a:tblPr>
              <a:tblGrid>
                <a:gridCol w="1407261"/>
                <a:gridCol w="3804818"/>
              </a:tblGrid>
              <a:tr h="410382">
                <a:tc>
                  <a:txBody>
                    <a:bodyPr wrap="square"/>
                    <a:lstStyle/>
                    <a:p>
                      <a:pPr algn="l"/>
                      <a:r>
                        <a:rPr sz="960" b="1">
                          <a:solidFill>
                            <a:srgbClr val="F6F1E4"/>
                          </a:solidFill>
                          <a:latin typeface="Arial"/>
                        </a:rPr>
                        <a:t>Signal</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How it works</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60" b="0">
                          <a:solidFill>
                            <a:srgbClr val="0E1512"/>
                          </a:solidFill>
                          <a:latin typeface="Arial"/>
                        </a:rPr>
                        <a:t>Account title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The aggregator returns the registered holder name at linking; it must match the CNIC name.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60" b="0">
                          <a:solidFill>
                            <a:srgbClr val="0E1512"/>
                          </a:solidFill>
                          <a:latin typeface="Arial"/>
                        </a:rPr>
                        <a:t>Our own collection pattern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The strongest signal, and it costs nothing. If a member declares the wrong day, the retry ladder finds the true 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60" b="0">
                          <a:solidFill>
                            <a:srgbClr val="0E1512"/>
                          </a:solidFill>
                          <a:latin typeface="Arial"/>
                        </a:rPr>
                        <a:t>Credit alerts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Opt-in, parsed on device. Only a day, a coarse amount band and a source class leave the phone.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60" b="0">
                          <a:solidFill>
                            <a:srgbClr val="0E1512"/>
                          </a:solidFill>
                          <a:latin typeface="Arial"/>
                        </a:rPr>
                        <a:t>Payslip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One photo, downscaled on the device. Documentary verification on day 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46" name="Rectangle 45"/>
          <p:cNvSpPr/>
          <p:nvPr/>
        </p:nvSpPr>
        <p:spPr>
          <a:xfrm>
            <a:off x="6236208" y="4261104"/>
            <a:ext cx="45720" cy="7315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64808" y="4279392"/>
            <a:ext cx="5120640" cy="822960"/>
          </a:xfrm>
          <a:prstGeom prst="rect">
            <a:avLst/>
          </a:prstGeom>
          <a:noFill/>
        </p:spPr>
        <p:txBody>
          <a:bodyPr wrap="square" lIns="0" rIns="0" tIns="0" bIns="0" anchor="t">
            <a:spAutoFit/>
          </a:bodyPr>
          <a:lstStyle/>
          <a:p>
            <a:pPr algn="l">
              <a:lnSpc>
                <a:spcPct val="120000"/>
              </a:lnSpc>
              <a:spcAft>
                <a:spcPts val="200"/>
              </a:spcAft>
            </a:pPr>
            <a:r>
              <a:rPr sz="1120" b="0" i="0">
                <a:solidFill>
                  <a:srgbClr val="0E1512"/>
                </a:solidFill>
                <a:latin typeface="Arial"/>
              </a:rPr>
              <a:t>Honest limits</a:t>
            </a:r>
          </a:p>
          <a:p>
            <a:pPr algn="l">
              <a:lnSpc>
                <a:spcPct val="120000"/>
              </a:lnSpc>
              <a:spcAft>
                <a:spcPts val="200"/>
              </a:spcAft>
            </a:pPr>
            <a:r>
              <a:rPr sz="1120" b="0" i="0">
                <a:solidFill>
                  <a:srgbClr val="0E1512"/>
                </a:solidFill>
                <a:latin typeface="Arial"/>
              </a:rPr>
              <a:t/>
            </a:r>
          </a:p>
          <a:p>
            <a:pPr algn="l">
              <a:lnSpc>
                <a:spcPct val="120000"/>
              </a:lnSpc>
              <a:spcAft>
                <a:spcPts val="200"/>
              </a:spcAft>
            </a:pPr>
            <a:r>
              <a:rPr sz="1120" b="0" i="0">
                <a:solidFill>
                  <a:srgbClr val="0E1512"/>
                </a:solidFill>
                <a:latin typeface="Arial"/>
              </a:rPr>
              <a:t>Three escapes always survive: keep the account empty, reroute the salary, revoke the mandate at the bank.</a:t>
            </a:r>
          </a:p>
        </p:txBody>
      </p:sp>
      <p:sp>
        <p:nvSpPr>
          <p:cNvPr id="48" name="TextBox 47"/>
          <p:cNvSpPr txBox="1"/>
          <p:nvPr/>
        </p:nvSpPr>
        <p:spPr>
          <a:xfrm>
            <a:off x="6464808" y="5084064"/>
            <a:ext cx="5120640" cy="1005840"/>
          </a:xfrm>
          <a:prstGeom prst="rect">
            <a:avLst/>
          </a:prstGeom>
          <a:noFill/>
        </p:spPr>
        <p:txBody>
          <a:bodyPr wrap="square" lIns="0" rIns="0" tIns="0" bIns="0" anchor="t">
            <a:spAutoFit/>
          </a:bodyPr>
          <a:lstStyle/>
          <a:p>
            <a:pPr algn="l">
              <a:lnSpc>
                <a:spcPct val="120000"/>
              </a:lnSpc>
              <a:spcAft>
                <a:spcPts val="400"/>
              </a:spcAft>
            </a:pPr>
            <a:r>
              <a:rPr sz="1120" b="0" i="0">
                <a:solidFill>
                  <a:srgbClr val="0E1512"/>
                </a:solidFill>
                <a:latin typeface="Arial"/>
              </a:rPr>
              <a:t>Each is a deliberate act, timestamped against a signed consent, which converts “I forgot” into documented bad faith. Passive default — money arrived, then got spent before the due date — is deleted entirely. Active evasion becomes rare, visible and evidenced.</a:t>
            </a:r>
          </a:p>
        </p:txBody>
      </p:sp>
      <p:cxnSp>
        <p:nvCxnSpPr>
          <p:cNvPr id="49" name="Connector 48"/>
          <p:cNvCxnSpPr/>
          <p:nvPr/>
        </p:nvCxnSpPr>
        <p:spPr>
          <a:xfrm>
            <a:off x="6464808" y="6144768"/>
            <a:ext cx="0" cy="155448"/>
          </a:xfrm>
          <a:prstGeom prst="line">
            <a:avLst/>
          </a:prstGeom>
          <a:ln w="279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528816" y="6140196"/>
            <a:ext cx="2194560" cy="182880"/>
          </a:xfrm>
          <a:prstGeom prst="rect">
            <a:avLst/>
          </a:prstGeom>
          <a:noFill/>
        </p:spPr>
        <p:txBody>
          <a:bodyPr wrap="square" lIns="0" rIns="0" tIns="0" bIns="0" anchor="t">
            <a:spAutoFit/>
          </a:bodyPr>
          <a:lstStyle/>
          <a:p>
            <a:pPr algn="l">
              <a:lnSpc>
                <a:spcPct val="100000"/>
              </a:lnSpc>
              <a:spcAft>
                <a:spcPts val="400"/>
              </a:spcAft>
            </a:pPr>
            <a:r>
              <a:rPr sz="840" b="1" i="0" spc="80">
                <a:solidFill>
                  <a:srgbClr val="123D30"/>
                </a:solidFill>
                <a:latin typeface="Arial"/>
              </a:rPr>
              <a:t>FUNCTIONAL AS A PATTERN ENGINE  ·  GATE-2 TO EXECUTE AGAINST A LIVE INSTRUMENT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04 · THE RECORD</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Sakh — credibility, made portable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Named for the Urdu word for economic credibility. It needs no tooltip for a Pakistani user and cannot be borrowed by a foreign competitor.</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23</a:t>
            </a:r>
          </a:p>
        </p:txBody>
      </p:sp>
      <p:sp>
        <p:nvSpPr>
          <p:cNvPr id="18" name="TextBox 17"/>
          <p:cNvSpPr txBox="1"/>
          <p:nvPr/>
        </p:nvSpPr>
        <p:spPr>
          <a:xfrm>
            <a:off x="566928" y="1700784"/>
            <a:ext cx="1060704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13   Bands, and what each one may claim</a:t>
            </a:r>
          </a:p>
        </p:txBody>
      </p:sp>
      <p:sp>
        <p:nvSpPr>
          <p:cNvPr id="19" name="Rectangle 18"/>
          <p:cNvSpPr/>
          <p:nvPr/>
        </p:nvSpPr>
        <p:spPr>
          <a:xfrm>
            <a:off x="566928" y="1938528"/>
            <a:ext cx="2969971" cy="475488"/>
          </a:xfrm>
          <a:prstGeom prst="rect">
            <a:avLst/>
          </a:prstGeom>
          <a:solidFill>
            <a:srgbClr val="0716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6656" y="2029968"/>
            <a:ext cx="2787091"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F6F1E4"/>
                </a:solidFill>
                <a:latin typeface="Arial"/>
              </a:rPr>
              <a:t>Rebuilding   below 550</a:t>
            </a:r>
          </a:p>
        </p:txBody>
      </p:sp>
      <p:sp>
        <p:nvSpPr>
          <p:cNvPr id="21" name="Rectangle 20"/>
          <p:cNvSpPr/>
          <p:nvPr/>
        </p:nvSpPr>
        <p:spPr>
          <a:xfrm>
            <a:off x="3536899" y="1938528"/>
            <a:ext cx="2121408" cy="475488"/>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46627" y="2029968"/>
            <a:ext cx="1938528"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F6F1E4"/>
                </a:solidFill>
                <a:latin typeface="Arial"/>
              </a:rPr>
              <a:t>Fair   550–649</a:t>
            </a:r>
          </a:p>
        </p:txBody>
      </p:sp>
      <p:sp>
        <p:nvSpPr>
          <p:cNvPr id="23" name="Rectangle 22"/>
          <p:cNvSpPr/>
          <p:nvPr/>
        </p:nvSpPr>
        <p:spPr>
          <a:xfrm>
            <a:off x="5658307" y="1938528"/>
            <a:ext cx="2333548" cy="475488"/>
          </a:xfrm>
          <a:prstGeom prst="rect">
            <a:avLst/>
          </a:prstGeom>
          <a:solidFill>
            <a:srgbClr val="1B51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768035" y="2029968"/>
            <a:ext cx="2150668"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F6F1E4"/>
                </a:solidFill>
                <a:latin typeface="Arial"/>
              </a:rPr>
              <a:t>Good   650–749</a:t>
            </a:r>
          </a:p>
        </p:txBody>
      </p:sp>
      <p:sp>
        <p:nvSpPr>
          <p:cNvPr id="25" name="Rectangle 24"/>
          <p:cNvSpPr/>
          <p:nvPr/>
        </p:nvSpPr>
        <p:spPr>
          <a:xfrm>
            <a:off x="7991856" y="1938528"/>
            <a:ext cx="3182112" cy="47548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01584" y="2029968"/>
            <a:ext cx="2999232"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07160F"/>
                </a:solidFill>
                <a:latin typeface="Arial"/>
              </a:rPr>
              <a:t>Excellent   750+</a:t>
            </a:r>
          </a:p>
        </p:txBody>
      </p:sp>
      <p:cxnSp>
        <p:nvCxnSpPr>
          <p:cNvPr id="27" name="Connector 26"/>
          <p:cNvCxnSpPr/>
          <p:nvPr/>
        </p:nvCxnSpPr>
        <p:spPr>
          <a:xfrm>
            <a:off x="566928" y="2414016"/>
            <a:ext cx="0" cy="12801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92608"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4C574F"/>
                </a:solidFill>
                <a:latin typeface="Arial"/>
              </a:rPr>
              <a:t>300</a:t>
            </a:r>
          </a:p>
        </p:txBody>
      </p:sp>
      <p:cxnSp>
        <p:nvCxnSpPr>
          <p:cNvPr id="29" name="Connector 28"/>
          <p:cNvCxnSpPr/>
          <p:nvPr/>
        </p:nvCxnSpPr>
        <p:spPr>
          <a:xfrm>
            <a:off x="3536899" y="2414016"/>
            <a:ext cx="0" cy="12801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62579"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4C574F"/>
                </a:solidFill>
                <a:latin typeface="Arial"/>
              </a:rPr>
              <a:t>550</a:t>
            </a:r>
          </a:p>
        </p:txBody>
      </p:sp>
      <p:cxnSp>
        <p:nvCxnSpPr>
          <p:cNvPr id="31" name="Connector 30"/>
          <p:cNvCxnSpPr/>
          <p:nvPr/>
        </p:nvCxnSpPr>
        <p:spPr>
          <a:xfrm>
            <a:off x="5658307" y="2414016"/>
            <a:ext cx="0" cy="12801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83987"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4C574F"/>
                </a:solidFill>
                <a:latin typeface="Arial"/>
              </a:rPr>
              <a:t>650</a:t>
            </a:r>
          </a:p>
        </p:txBody>
      </p:sp>
      <p:cxnSp>
        <p:nvCxnSpPr>
          <p:cNvPr id="33" name="Connector 32"/>
          <p:cNvCxnSpPr/>
          <p:nvPr/>
        </p:nvCxnSpPr>
        <p:spPr>
          <a:xfrm>
            <a:off x="7991855" y="2414016"/>
            <a:ext cx="0" cy="12801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17535"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4C574F"/>
                </a:solidFill>
                <a:latin typeface="Arial"/>
              </a:rPr>
              <a:t>750</a:t>
            </a:r>
          </a:p>
        </p:txBody>
      </p:sp>
      <p:cxnSp>
        <p:nvCxnSpPr>
          <p:cNvPr id="35" name="Connector 34"/>
          <p:cNvCxnSpPr/>
          <p:nvPr/>
        </p:nvCxnSpPr>
        <p:spPr>
          <a:xfrm>
            <a:off x="11173968" y="2414016"/>
            <a:ext cx="0" cy="12801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899648"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4C574F"/>
                </a:solidFill>
                <a:latin typeface="Arial"/>
              </a:rPr>
              <a:t>850</a:t>
            </a:r>
          </a:p>
        </p:txBody>
      </p:sp>
      <p:graphicFrame>
        <p:nvGraphicFramePr>
          <p:cNvPr id="37" name="Table 36"/>
          <p:cNvGraphicFramePr>
            <a:graphicFrameLocks noGrp="1"/>
          </p:cNvGraphicFramePr>
          <p:nvPr/>
        </p:nvGraphicFramePr>
        <p:xfrm>
          <a:off x="566928" y="2889504"/>
          <a:ext cx="6766559" cy="1560697"/>
        </p:xfrm>
        <a:graphic>
          <a:graphicData uri="http://schemas.openxmlformats.org/drawingml/2006/table">
            <a:tbl>
              <a:tblPr>
                <a:tableStyleId>{5C22544A-7EE6-4342-B048-85BDC9FD1C3A}</a:tableStyleId>
              </a:tblPr>
              <a:tblGrid>
                <a:gridCol w="2165299"/>
                <a:gridCol w="3112617"/>
                <a:gridCol w="1488643"/>
              </a:tblGrid>
              <a:tr h="317113">
                <a:tc>
                  <a:txBody>
                    <a:bodyPr wrap="square"/>
                    <a:lstStyle/>
                    <a:p>
                      <a:pPr algn="l"/>
                      <a:r>
                        <a:rPr sz="960" b="1">
                          <a:solidFill>
                            <a:srgbClr val="F6F1E4"/>
                          </a:solidFill>
                          <a:latin typeface="Arial"/>
                        </a:rPr>
                        <a:t>Band</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Seats claimable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Marketplace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Rebuilding, below 550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Last three seats, never earlier than halfway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May not buy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Fair, 550–649</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Second half of the order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May buy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Good, 650–749</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Any free seat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May buy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Excellent, 750+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Any free seat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May buy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38" name="TextBox 37"/>
          <p:cNvSpPr txBox="1"/>
          <p:nvPr/>
        </p:nvSpPr>
        <p:spPr>
          <a:xfrm>
            <a:off x="566928" y="4553712"/>
            <a:ext cx="6766560" cy="365760"/>
          </a:xfrm>
          <a:prstGeom prst="rect">
            <a:avLst/>
          </a:prstGeom>
          <a:noFill/>
        </p:spPr>
        <p:txBody>
          <a:bodyPr wrap="square" lIns="0" rIns="0" tIns="0" bIns="0">
            <a:spAutoFit/>
          </a:bodyPr>
          <a:lstStyle/>
          <a:p>
            <a:pPr>
              <a:lnSpc>
                <a:spcPct val="106000"/>
              </a:lnSpc>
              <a:spcAft>
                <a:spcPts val="600"/>
              </a:spcAft>
            </a:pPr>
            <a:r>
              <a:rPr sz="1080" b="1">
                <a:solidFill>
                  <a:srgbClr val="D9A93C"/>
                </a:solidFill>
                <a:latin typeface="Georgia"/>
              </a:rPr>
              <a:t>|  </a:t>
            </a:r>
            <a:r>
              <a:rPr sz="1080" b="1">
                <a:solidFill>
                  <a:srgbClr val="123D30"/>
                </a:solidFill>
                <a:latin typeface="Arial"/>
              </a:rPr>
              <a:t>Opening score is 700  </a:t>
            </a:r>
            <a:r>
              <a:rPr sz="1080">
                <a:solidFill>
                  <a:srgbClr val="0E1512"/>
                </a:solidFill>
                <a:latin typeface="Arial"/>
              </a:rPr>
              <a:t>hosting requires 700, marketplace requires any non-Rebuilding band.</a:t>
            </a:r>
          </a:p>
          <a:p>
            <a:pPr>
              <a:lnSpc>
                <a:spcPct val="106000"/>
              </a:lnSpc>
              <a:spcAft>
                <a:spcPts val="600"/>
              </a:spcAft>
            </a:pPr>
            <a:r>
              <a:rPr sz="1080" b="1">
                <a:solidFill>
                  <a:srgbClr val="D9A93C"/>
                </a:solidFill>
                <a:latin typeface="Georgia"/>
              </a:rPr>
              <a:t>|  </a:t>
            </a:r>
            <a:r>
              <a:rPr sz="1080" b="1">
                <a:solidFill>
                  <a:srgbClr val="123D30"/>
                </a:solidFill>
                <a:latin typeface="Arial"/>
              </a:rPr>
              <a:t>Tenure quarantine overrides the band  </a:t>
            </a:r>
            <a:r>
              <a:rPr sz="1080">
                <a:solidFill>
                  <a:srgbClr val="0E1512"/>
                </a:solidFill>
                <a:latin typeface="Arial"/>
              </a:rPr>
              <a:t>every new member, whatever their score, may take only one of the last three turns of any circle, of any size. It unlocks after two clean completed circles and manual verification.</a:t>
            </a:r>
          </a:p>
          <a:p>
            <a:pPr>
              <a:lnSpc>
                <a:spcPct val="106000"/>
              </a:lnSpc>
              <a:spcAft>
                <a:spcPts val="600"/>
              </a:spcAft>
            </a:pPr>
            <a:r>
              <a:rPr sz="1080" b="1">
                <a:solidFill>
                  <a:srgbClr val="D9A93C"/>
                </a:solidFill>
                <a:latin typeface="Georgia"/>
              </a:rPr>
              <a:t>|  </a:t>
            </a:r>
            <a:r>
              <a:rPr sz="1080" b="1">
                <a:solidFill>
                  <a:srgbClr val="123D30"/>
                </a:solidFill>
                <a:latin typeface="Arial"/>
              </a:rPr>
              <a:t>Worst-case exposure to an unproven member is two contributions  </a:t>
            </a:r>
            <a:r>
              <a:rPr sz="1080">
                <a:solidFill>
                  <a:srgbClr val="0E1512"/>
                </a:solidFill>
                <a:latin typeface="Arial"/>
              </a:rPr>
              <a:t>Rs 20,000 on a Rs 120,000 pot.</a:t>
            </a:r>
          </a:p>
          <a:p>
            <a:pPr>
              <a:lnSpc>
                <a:spcPct val="106000"/>
              </a:lnSpc>
              <a:spcAft>
                <a:spcPts val="600"/>
              </a:spcAft>
            </a:pPr>
            <a:r>
              <a:rPr sz="1080" b="1">
                <a:solidFill>
                  <a:srgbClr val="D9A93C"/>
                </a:solidFill>
                <a:latin typeface="Georgia"/>
              </a:rPr>
              <a:t>|  </a:t>
            </a:r>
            <a:r>
              <a:rPr sz="1080" b="1">
                <a:solidFill>
                  <a:srgbClr val="123D30"/>
                </a:solidFill>
                <a:latin typeface="Arial"/>
              </a:rPr>
              <a:t>Score never moves anyone  </a:t>
            </a:r>
            <a:r>
              <a:rPr sz="1080">
                <a:solidFill>
                  <a:srgbClr val="0E1512"/>
                </a:solidFill>
                <a:latin typeface="Arial"/>
              </a:rPr>
              <a:t>credit-weighted reordering was removed on 22 July. A claimed seat is permanent.</a:t>
            </a:r>
          </a:p>
        </p:txBody>
      </p:sp>
      <p:sp>
        <p:nvSpPr>
          <p:cNvPr id="39" name="Rectangle 38"/>
          <p:cNvSpPr/>
          <p:nvPr/>
        </p:nvSpPr>
        <p:spPr>
          <a:xfrm>
            <a:off x="7790688" y="2889504"/>
            <a:ext cx="3794760" cy="306324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019288" y="3090672"/>
            <a:ext cx="3337560" cy="2651760"/>
          </a:xfrm>
          <a:prstGeom prst="rect">
            <a:avLst/>
          </a:prstGeom>
          <a:noFill/>
        </p:spPr>
        <p:txBody>
          <a:bodyPr wrap="square" lIns="0" rIns="0" tIns="0" bIns="0" anchor="t">
            <a:spAutoFit/>
          </a:bodyPr>
          <a:lstStyle/>
          <a:p>
            <a:pPr algn="l">
              <a:lnSpc>
                <a:spcPct val="122000"/>
              </a:lnSpc>
              <a:spcAft>
                <a:spcPts val="400"/>
              </a:spcAft>
            </a:pPr>
            <a:r>
              <a:rPr sz="1060" b="0" i="0">
                <a:solidFill>
                  <a:srgbClr val="F6F1E4"/>
                </a:solidFill>
                <a:latin typeface="Arial"/>
              </a:rPr>
              <a:t>Why this signal is unusually strong</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“I know that I have to pay the Committee instalment; it is necessary. We can compromise on rent or [utility] bills, but Committee [instalments] should not be missed.”</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Bano, 36, housemaid, Rs 15,000 a month — Kamran (2017)</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Committee obligation ranks above rent and utilities in the household payment hierarchy. The Credit Passport is not exporting a soft signal. It is exporting the hardest one the household has.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04 · THE RECORD</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bureau link — where the company actually is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Informal committee repayment history exists in no written form anywhere on earth. At scale Halqa becomes the monopoly supplier of a data class the national credit system lacks.</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24</a:t>
            </a:r>
          </a:p>
        </p:txBody>
      </p:sp>
      <p:sp>
        <p:nvSpPr>
          <p:cNvPr id="18" name="TextBox 17"/>
          <p:cNvSpPr txBox="1"/>
          <p:nvPr/>
        </p:nvSpPr>
        <p:spPr>
          <a:xfrm>
            <a:off x="566928" y="1773936"/>
            <a:ext cx="658368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14   Score mapping, Halqa to TASDEEQ</a:t>
            </a:r>
          </a:p>
        </p:txBody>
      </p:sp>
      <p:sp>
        <p:nvSpPr>
          <p:cNvPr id="19" name="TextBox 18"/>
          <p:cNvSpPr txBox="1"/>
          <p:nvPr/>
        </p:nvSpPr>
        <p:spPr>
          <a:xfrm>
            <a:off x="566928" y="2121408"/>
            <a:ext cx="274320" cy="274320"/>
          </a:xfrm>
          <a:prstGeom prst="rect">
            <a:avLst/>
          </a:prstGeom>
          <a:noFill/>
        </p:spPr>
        <p:txBody>
          <a:bodyPr wrap="square" lIns="0" rIns="0" tIns="0" bIns="0" anchor="t">
            <a:spAutoFit/>
          </a:bodyPr>
          <a:lstStyle/>
          <a:p>
            <a:pPr algn="l">
              <a:lnSpc>
                <a:spcPct val="100000"/>
              </a:lnSpc>
              <a:spcAft>
                <a:spcPts val="400"/>
              </a:spcAft>
            </a:pPr>
            <a:r>
              <a:rPr sz="900" b="0" i="0">
                <a:solidFill>
                  <a:srgbClr val="0E1512"/>
                </a:solidFill>
                <a:latin typeface="Arial"/>
              </a:rPr>
              <a:t/>
            </a:r>
          </a:p>
        </p:txBody>
      </p:sp>
      <p:sp>
        <p:nvSpPr>
          <p:cNvPr id="20" name="Rectangle 19"/>
          <p:cNvSpPr/>
          <p:nvPr/>
        </p:nvSpPr>
        <p:spPr>
          <a:xfrm>
            <a:off x="841248" y="2103120"/>
            <a:ext cx="5943600" cy="27432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41248" y="2395728"/>
            <a:ext cx="1463040" cy="182880"/>
          </a:xfrm>
          <a:prstGeom prst="rect">
            <a:avLst/>
          </a:prstGeom>
          <a:noFill/>
        </p:spPr>
        <p:txBody>
          <a:bodyPr wrap="square" lIns="0" rIns="0" tIns="0" bIns="0" anchor="t">
            <a:spAutoFit/>
          </a:bodyPr>
          <a:lstStyle/>
          <a:p>
            <a:pPr algn="l">
              <a:lnSpc>
                <a:spcPct val="100000"/>
              </a:lnSpc>
              <a:spcAft>
                <a:spcPts val="400"/>
              </a:spcAft>
            </a:pPr>
            <a:r>
              <a:rPr sz="919" b="0" i="0">
                <a:solidFill>
                  <a:srgbClr val="4C574F"/>
                </a:solidFill>
                <a:latin typeface="Arial"/>
              </a:rPr>
              <a:t>Halqa  300–850</a:t>
            </a:r>
          </a:p>
        </p:txBody>
      </p:sp>
      <p:sp>
        <p:nvSpPr>
          <p:cNvPr id="22" name="Rectangle 21"/>
          <p:cNvSpPr/>
          <p:nvPr/>
        </p:nvSpPr>
        <p:spPr>
          <a:xfrm>
            <a:off x="841248" y="3035808"/>
            <a:ext cx="5943600" cy="274320"/>
          </a:xfrm>
          <a:prstGeom prst="rect">
            <a:avLst/>
          </a:prstGeom>
          <a:solidFill>
            <a:srgbClr val="1B51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1248" y="3328416"/>
            <a:ext cx="1463040" cy="182880"/>
          </a:xfrm>
          <a:prstGeom prst="rect">
            <a:avLst/>
          </a:prstGeom>
          <a:noFill/>
        </p:spPr>
        <p:txBody>
          <a:bodyPr wrap="square" lIns="0" rIns="0" tIns="0" bIns="0" anchor="t">
            <a:spAutoFit/>
          </a:bodyPr>
          <a:lstStyle/>
          <a:p>
            <a:pPr algn="l">
              <a:lnSpc>
                <a:spcPct val="100000"/>
              </a:lnSpc>
              <a:spcAft>
                <a:spcPts val="400"/>
              </a:spcAft>
            </a:pPr>
            <a:r>
              <a:rPr sz="919" b="0" i="0">
                <a:solidFill>
                  <a:srgbClr val="4C574F"/>
                </a:solidFill>
                <a:latin typeface="Arial"/>
              </a:rPr>
              <a:t>TASDEEQ  200–600</a:t>
            </a:r>
          </a:p>
        </p:txBody>
      </p:sp>
      <p:cxnSp>
        <p:nvCxnSpPr>
          <p:cNvPr id="24" name="Connector 23"/>
          <p:cNvCxnSpPr/>
          <p:nvPr/>
        </p:nvCxnSpPr>
        <p:spPr>
          <a:xfrm>
            <a:off x="3542614" y="2103120"/>
            <a:ext cx="0" cy="1207008"/>
          </a:xfrm>
          <a:prstGeom prst="line">
            <a:avLst/>
          </a:prstGeom>
          <a:ln w="177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222574" y="1847088"/>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123D30"/>
                </a:solidFill>
                <a:latin typeface="Arial"/>
              </a:rPr>
              <a:t>550</a:t>
            </a:r>
          </a:p>
        </p:txBody>
      </p:sp>
      <p:sp>
        <p:nvSpPr>
          <p:cNvPr id="26" name="TextBox 25"/>
          <p:cNvSpPr txBox="1"/>
          <p:nvPr/>
        </p:nvSpPr>
        <p:spPr>
          <a:xfrm>
            <a:off x="3222574" y="3529584"/>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123D30"/>
                </a:solidFill>
                <a:latin typeface="Arial"/>
              </a:rPr>
              <a:t>382</a:t>
            </a:r>
          </a:p>
        </p:txBody>
      </p:sp>
      <p:cxnSp>
        <p:nvCxnSpPr>
          <p:cNvPr id="27" name="Connector 26"/>
          <p:cNvCxnSpPr/>
          <p:nvPr/>
        </p:nvCxnSpPr>
        <p:spPr>
          <a:xfrm>
            <a:off x="4623160" y="2103120"/>
            <a:ext cx="0" cy="1207008"/>
          </a:xfrm>
          <a:prstGeom prst="line">
            <a:avLst/>
          </a:prstGeom>
          <a:ln w="177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03120" y="1847088"/>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123D30"/>
                </a:solidFill>
                <a:latin typeface="Arial"/>
              </a:rPr>
              <a:t>650</a:t>
            </a:r>
          </a:p>
        </p:txBody>
      </p:sp>
      <p:sp>
        <p:nvSpPr>
          <p:cNvPr id="29" name="TextBox 28"/>
          <p:cNvSpPr txBox="1"/>
          <p:nvPr/>
        </p:nvSpPr>
        <p:spPr>
          <a:xfrm>
            <a:off x="4303120" y="3529584"/>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123D30"/>
                </a:solidFill>
                <a:latin typeface="Arial"/>
              </a:rPr>
              <a:t>455</a:t>
            </a:r>
          </a:p>
        </p:txBody>
      </p:sp>
      <p:cxnSp>
        <p:nvCxnSpPr>
          <p:cNvPr id="30" name="Connector 29"/>
          <p:cNvCxnSpPr/>
          <p:nvPr/>
        </p:nvCxnSpPr>
        <p:spPr>
          <a:xfrm>
            <a:off x="5703707" y="2103120"/>
            <a:ext cx="0" cy="1207008"/>
          </a:xfrm>
          <a:prstGeom prst="line">
            <a:avLst/>
          </a:prstGeom>
          <a:ln w="177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383667" y="1847088"/>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123D30"/>
                </a:solidFill>
                <a:latin typeface="Arial"/>
              </a:rPr>
              <a:t>750</a:t>
            </a:r>
          </a:p>
        </p:txBody>
      </p:sp>
      <p:sp>
        <p:nvSpPr>
          <p:cNvPr id="32" name="TextBox 31"/>
          <p:cNvSpPr txBox="1"/>
          <p:nvPr/>
        </p:nvSpPr>
        <p:spPr>
          <a:xfrm>
            <a:off x="5383667" y="3529584"/>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123D30"/>
                </a:solidFill>
                <a:latin typeface="Arial"/>
              </a:rPr>
              <a:t>527</a:t>
            </a:r>
          </a:p>
        </p:txBody>
      </p:sp>
      <p:sp>
        <p:nvSpPr>
          <p:cNvPr id="33" name="TextBox 32"/>
          <p:cNvSpPr txBox="1"/>
          <p:nvPr/>
        </p:nvSpPr>
        <p:spPr>
          <a:xfrm>
            <a:off x="566928" y="3822191"/>
            <a:ext cx="658368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A linear invertible mapping is implemented. TASDEEQ intermediate cutoffs are not public.</a:t>
            </a:r>
          </a:p>
        </p:txBody>
      </p:sp>
      <p:sp>
        <p:nvSpPr>
          <p:cNvPr id="34" name="TextBox 33"/>
          <p:cNvSpPr txBox="1"/>
          <p:nvPr/>
        </p:nvSpPr>
        <p:spPr>
          <a:xfrm>
            <a:off x="566928" y="4224528"/>
            <a:ext cx="6583680" cy="365760"/>
          </a:xfrm>
          <a:prstGeom prst="rect">
            <a:avLst/>
          </a:prstGeom>
          <a:noFill/>
        </p:spPr>
        <p:txBody>
          <a:bodyPr wrap="square" lIns="0" rIns="0" tIns="0" bIns="0">
            <a:spAutoFit/>
          </a:bodyPr>
          <a:lstStyle/>
          <a:p>
            <a:pPr>
              <a:lnSpc>
                <a:spcPct val="106000"/>
              </a:lnSpc>
              <a:spcAft>
                <a:spcPts val="600"/>
              </a:spcAft>
            </a:pPr>
            <a:r>
              <a:rPr sz="1080" b="1">
                <a:solidFill>
                  <a:srgbClr val="D9A93C"/>
                </a:solidFill>
                <a:latin typeface="Georgia"/>
              </a:rPr>
              <a:t>|  </a:t>
            </a:r>
            <a:r>
              <a:rPr sz="1080" b="1">
                <a:solidFill>
                  <a:srgbClr val="123D30"/>
                </a:solidFill>
                <a:latin typeface="Arial"/>
              </a:rPr>
              <a:t>eCIB is closed  </a:t>
            </a:r>
            <a:r>
              <a:rPr sz="1080">
                <a:solidFill>
                  <a:srgbClr val="0E1512"/>
                </a:solidFill>
                <a:latin typeface="Arial"/>
              </a:rPr>
              <a:t>membership of SBP’s own bureau is restricted to regulated financial institutions. Full stop, without becoming the NBFC we deliberately avoid.</a:t>
            </a:r>
          </a:p>
          <a:p>
            <a:pPr>
              <a:lnSpc>
                <a:spcPct val="106000"/>
              </a:lnSpc>
              <a:spcAft>
                <a:spcPts val="600"/>
              </a:spcAft>
            </a:pPr>
            <a:r>
              <a:rPr sz="1080" b="1">
                <a:solidFill>
                  <a:srgbClr val="D9A93C"/>
                </a:solidFill>
                <a:latin typeface="Georgia"/>
              </a:rPr>
              <a:t>|  </a:t>
            </a:r>
            <a:r>
              <a:rPr sz="1080" b="1">
                <a:solidFill>
                  <a:srgbClr val="123D30"/>
                </a:solidFill>
                <a:latin typeface="Arial"/>
              </a:rPr>
              <a:t>TASDEEQ is open  </a:t>
            </a:r>
            <a:r>
              <a:rPr sz="1080">
                <a:solidFill>
                  <a:srgbClr val="0E1512"/>
                </a:solidFill>
                <a:latin typeface="Arial"/>
              </a:rPr>
              <a:t>its own site states it ingests data from non-financial non-conventional sources: utilities, telecommunications, insurance. Halqa can join in that category.</a:t>
            </a:r>
          </a:p>
          <a:p>
            <a:pPr>
              <a:lnSpc>
                <a:spcPct val="106000"/>
              </a:lnSpc>
              <a:spcAft>
                <a:spcPts val="600"/>
              </a:spcAft>
            </a:pPr>
            <a:r>
              <a:rPr sz="1080" b="1">
                <a:solidFill>
                  <a:srgbClr val="D9A93C"/>
                </a:solidFill>
                <a:latin typeface="Georgia"/>
              </a:rPr>
              <a:t>|  </a:t>
            </a:r>
            <a:r>
              <a:rPr sz="1080" b="1">
                <a:solidFill>
                  <a:srgbClr val="123D30"/>
                </a:solidFill>
                <a:latin typeface="Arial"/>
              </a:rPr>
              <a:t>No FI licence and no bank partner is needed for the private bureau  </a:t>
            </a:r>
            <a:r>
              <a:rPr sz="1080">
                <a:solidFill>
                  <a:srgbClr val="0E1512"/>
                </a:solidFill>
                <a:latin typeface="Arial"/>
              </a:rPr>
              <a:t>and bureaus run on reciprocity, so furnishing typically earns read access back.</a:t>
            </a:r>
          </a:p>
          <a:p>
            <a:pPr>
              <a:lnSpc>
                <a:spcPct val="106000"/>
              </a:lnSpc>
              <a:spcAft>
                <a:spcPts val="600"/>
              </a:spcAft>
            </a:pPr>
            <a:r>
              <a:rPr sz="1080" b="1">
                <a:solidFill>
                  <a:srgbClr val="D9A93C"/>
                </a:solidFill>
                <a:latin typeface="Georgia"/>
              </a:rPr>
              <a:t>|  </a:t>
            </a:r>
            <a:r>
              <a:rPr sz="1080" b="1">
                <a:solidFill>
                  <a:srgbClr val="123D30"/>
                </a:solidFill>
                <a:latin typeface="Arial"/>
              </a:rPr>
              <a:t>Precedent exists  </a:t>
            </a:r>
            <a:r>
              <a:rPr sz="1080">
                <a:solidFill>
                  <a:srgbClr val="0E1512"/>
                </a:solidFill>
                <a:latin typeface="Arial"/>
              </a:rPr>
              <a:t>Karandaaz, a non-bank, signed a TASDEEQ data agreement.</a:t>
            </a:r>
          </a:p>
        </p:txBody>
      </p:sp>
      <p:sp>
        <p:nvSpPr>
          <p:cNvPr id="35" name="Rectangle 34"/>
          <p:cNvSpPr/>
          <p:nvPr/>
        </p:nvSpPr>
        <p:spPr>
          <a:xfrm>
            <a:off x="7516368" y="1773936"/>
            <a:ext cx="4069080" cy="233172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744968" y="1975104"/>
            <a:ext cx="3611880" cy="1920240"/>
          </a:xfrm>
          <a:prstGeom prst="rect">
            <a:avLst/>
          </a:prstGeom>
          <a:noFill/>
        </p:spPr>
        <p:txBody>
          <a:bodyPr wrap="square" lIns="0" rIns="0" tIns="0" bIns="0" anchor="t">
            <a:spAutoFit/>
          </a:bodyPr>
          <a:lstStyle/>
          <a:p>
            <a:pPr algn="l">
              <a:lnSpc>
                <a:spcPct val="122000"/>
              </a:lnSpc>
              <a:spcAft>
                <a:spcPts val="400"/>
              </a:spcAft>
            </a:pPr>
            <a:r>
              <a:rPr sz="1060" b="0" i="0">
                <a:solidFill>
                  <a:srgbClr val="F6F1E4"/>
                </a:solidFill>
                <a:latin typeface="Arial"/>
              </a:rPr>
              <a:t>The measurement that already exists</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Mission Asset Fund, a San Francisco non-profit, runs lending circles on the Mexican tanda and reports every monthly payment to all three US bureaus.</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Reported average credit score increase for participants: +168 points.</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This is the entire Sakh thesis, already measured, by an organisation with no incentive to overstate it.</a:t>
            </a:r>
          </a:p>
        </p:txBody>
      </p:sp>
      <p:sp>
        <p:nvSpPr>
          <p:cNvPr id="37" name="TextBox 36"/>
          <p:cNvSpPr txBox="1"/>
          <p:nvPr/>
        </p:nvSpPr>
        <p:spPr>
          <a:xfrm>
            <a:off x="7516368" y="4279392"/>
            <a:ext cx="4069080" cy="274320"/>
          </a:xfrm>
          <a:prstGeom prst="rect">
            <a:avLst/>
          </a:prstGeom>
          <a:noFill/>
        </p:spPr>
        <p:txBody>
          <a:bodyPr wrap="square" lIns="0" rIns="0" tIns="0" bIns="0" anchor="t">
            <a:spAutoFit/>
          </a:bodyPr>
          <a:lstStyle/>
          <a:p>
            <a:pPr algn="l">
              <a:lnSpc>
                <a:spcPct val="100000"/>
              </a:lnSpc>
              <a:spcAft>
                <a:spcPts val="400"/>
              </a:spcAft>
            </a:pPr>
            <a:r>
              <a:rPr sz="1220" b="0" i="0">
                <a:solidFill>
                  <a:srgbClr val="123D30"/>
                </a:solidFill>
                <a:latin typeface="Georgia"/>
              </a:rPr>
              <a:t>To confirm with counsel</a:t>
            </a:r>
          </a:p>
        </p:txBody>
      </p:sp>
      <p:sp>
        <p:nvSpPr>
          <p:cNvPr id="38" name="TextBox 37"/>
          <p:cNvSpPr txBox="1"/>
          <p:nvPr/>
        </p:nvSpPr>
        <p:spPr>
          <a:xfrm>
            <a:off x="7516368" y="4590288"/>
            <a:ext cx="4069080" cy="365760"/>
          </a:xfrm>
          <a:prstGeom prst="rect">
            <a:avLst/>
          </a:prstGeom>
          <a:noFill/>
        </p:spPr>
        <p:txBody>
          <a:bodyPr wrap="square" lIns="0" rIns="0" tIns="0" bIns="0">
            <a:spAutoFit/>
          </a:bodyPr>
          <a:lstStyle/>
          <a:p>
            <a:pPr>
              <a:lnSpc>
                <a:spcPct val="106000"/>
              </a:lnSpc>
              <a:spcAft>
                <a:spcPts val="500"/>
              </a:spcAft>
            </a:pPr>
            <a:r>
              <a:rPr sz="1019" b="1">
                <a:solidFill>
                  <a:srgbClr val="D9A93C"/>
                </a:solidFill>
                <a:latin typeface="Georgia"/>
              </a:rPr>
              <a:t>|  </a:t>
            </a:r>
            <a:r>
              <a:rPr sz="1019">
                <a:solidFill>
                  <a:srgbClr val="0E1512"/>
                </a:solidFill>
                <a:latin typeface="Arial"/>
              </a:rPr>
              <a:t>Whether committee data qualifies under contributor terms</a:t>
            </a:r>
          </a:p>
          <a:p>
            <a:pPr>
              <a:lnSpc>
                <a:spcPct val="106000"/>
              </a:lnSpc>
              <a:spcAft>
                <a:spcPts val="500"/>
              </a:spcAft>
            </a:pPr>
            <a:r>
              <a:rPr sz="1019" b="1">
                <a:solidFill>
                  <a:srgbClr val="D9A93C"/>
                </a:solidFill>
                <a:latin typeface="Georgia"/>
              </a:rPr>
              <a:t>|  </a:t>
            </a:r>
            <a:r>
              <a:rPr sz="1019">
                <a:solidFill>
                  <a:srgbClr val="0E1512"/>
                </a:solidFill>
                <a:latin typeface="Arial"/>
              </a:rPr>
              <a:t>The exact consent wording the Credit Bureaus Act 2015 mandates</a:t>
            </a:r>
          </a:p>
          <a:p>
            <a:pPr>
              <a:lnSpc>
                <a:spcPct val="106000"/>
              </a:lnSpc>
              <a:spcAft>
                <a:spcPts val="500"/>
              </a:spcAft>
            </a:pPr>
            <a:r>
              <a:rPr sz="1019" b="1">
                <a:solidFill>
                  <a:srgbClr val="D9A93C"/>
                </a:solidFill>
                <a:latin typeface="Georgia"/>
              </a:rPr>
              <a:t>|  </a:t>
            </a:r>
            <a:r>
              <a:rPr sz="1019">
                <a:solidFill>
                  <a:srgbClr val="0E1512"/>
                </a:solidFill>
                <a:latin typeface="Arial"/>
              </a:rPr>
              <a:t>Whether furnishing default data changes the requirement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04 · ANTI-DEFAULT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Seven layers stand between a member and a default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Each is a mechanism with a number attached, not a policy. Together they take the modelled default rate from 2.48% to 0.99%.</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25</a:t>
            </a:r>
          </a:p>
        </p:txBody>
      </p:sp>
      <p:sp>
        <p:nvSpPr>
          <p:cNvPr id="18" name="TextBox 17"/>
          <p:cNvSpPr txBox="1"/>
          <p:nvPr/>
        </p:nvSpPr>
        <p:spPr>
          <a:xfrm>
            <a:off x="566928" y="1737360"/>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15   The seven layers, in the order they act</a:t>
            </a:r>
          </a:p>
        </p:txBody>
      </p:sp>
      <p:sp>
        <p:nvSpPr>
          <p:cNvPr id="19" name="Rectangle 18"/>
          <p:cNvSpPr/>
          <p:nvPr/>
        </p:nvSpPr>
        <p:spPr>
          <a:xfrm>
            <a:off x="566928" y="1975104"/>
            <a:ext cx="310896" cy="51206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6928" y="2103120"/>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6F1E4"/>
                </a:solidFill>
                <a:latin typeface="Georgia"/>
              </a:rPr>
              <a:t>1</a:t>
            </a:r>
          </a:p>
        </p:txBody>
      </p:sp>
      <p:sp>
        <p:nvSpPr>
          <p:cNvPr id="21" name="TextBox 20"/>
          <p:cNvSpPr txBox="1"/>
          <p:nvPr/>
        </p:nvSpPr>
        <p:spPr>
          <a:xfrm>
            <a:off x="1005840" y="2002536"/>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123D30"/>
                </a:solidFill>
                <a:latin typeface="Arial"/>
              </a:rPr>
              <a:t>Identity</a:t>
            </a:r>
          </a:p>
        </p:txBody>
      </p:sp>
      <p:sp>
        <p:nvSpPr>
          <p:cNvPr id="22" name="TextBox 21"/>
          <p:cNvSpPr txBox="1"/>
          <p:nvPr/>
        </p:nvSpPr>
        <p:spPr>
          <a:xfrm>
            <a:off x="2670048" y="2002536"/>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CNIC photographed at signup, GPS home pinned, uniqueness enforced on CNIC, phone and email. Every obligation binds to a government identity.</a:t>
            </a:r>
          </a:p>
        </p:txBody>
      </p:sp>
      <p:cxnSp>
        <p:nvCxnSpPr>
          <p:cNvPr id="23" name="Connector 22"/>
          <p:cNvCxnSpPr/>
          <p:nvPr/>
        </p:nvCxnSpPr>
        <p:spPr>
          <a:xfrm>
            <a:off x="566928" y="2542032"/>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66928" y="2596896"/>
            <a:ext cx="310896" cy="512064"/>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66928" y="2724912"/>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07160F"/>
                </a:solidFill>
                <a:latin typeface="Georgia"/>
              </a:rPr>
              <a:t>2</a:t>
            </a:r>
          </a:p>
        </p:txBody>
      </p:sp>
      <p:sp>
        <p:nvSpPr>
          <p:cNvPr id="26" name="TextBox 25"/>
          <p:cNvSpPr txBox="1"/>
          <p:nvPr/>
        </p:nvSpPr>
        <p:spPr>
          <a:xfrm>
            <a:off x="1005840" y="2624328"/>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123D30"/>
                </a:solidFill>
                <a:latin typeface="Arial"/>
              </a:rPr>
              <a:t>Position</a:t>
            </a:r>
          </a:p>
        </p:txBody>
      </p:sp>
      <p:sp>
        <p:nvSpPr>
          <p:cNvPr id="27" name="TextBox 26"/>
          <p:cNvSpPr txBox="1"/>
          <p:nvPr/>
        </p:nvSpPr>
        <p:spPr>
          <a:xfrm>
            <a:off x="2670048" y="2624328"/>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Band and tenure define claimable seats. New members take only the last three seats. Worst-case exposure to an unproven member is two contributions.</a:t>
            </a:r>
          </a:p>
        </p:txBody>
      </p:sp>
      <p:cxnSp>
        <p:nvCxnSpPr>
          <p:cNvPr id="28" name="Connector 27"/>
          <p:cNvCxnSpPr/>
          <p:nvPr/>
        </p:nvCxnSpPr>
        <p:spPr>
          <a:xfrm>
            <a:off x="566928" y="3163824"/>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66928" y="3218688"/>
            <a:ext cx="310896" cy="51206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66928" y="3346704"/>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6F1E4"/>
                </a:solidFill>
                <a:latin typeface="Georgia"/>
              </a:rPr>
              <a:t>3</a:t>
            </a:r>
          </a:p>
        </p:txBody>
      </p:sp>
      <p:sp>
        <p:nvSpPr>
          <p:cNvPr id="31" name="TextBox 30"/>
          <p:cNvSpPr txBox="1"/>
          <p:nvPr/>
        </p:nvSpPr>
        <p:spPr>
          <a:xfrm>
            <a:off x="1005840" y="3246120"/>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123D30"/>
                </a:solidFill>
                <a:latin typeface="Arial"/>
              </a:rPr>
              <a:t>Schedule</a:t>
            </a:r>
          </a:p>
        </p:txBody>
      </p:sp>
      <p:sp>
        <p:nvSpPr>
          <p:cNvPr id="32" name="TextBox 31"/>
          <p:cNvSpPr txBox="1"/>
          <p:nvPr/>
        </p:nvSpPr>
        <p:spPr>
          <a:xfrm>
            <a:off x="2670048" y="3246120"/>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Fixed dates, escalating reminders, day-before balance check, and an internal grace window never shown in the interface.</a:t>
            </a:r>
          </a:p>
        </p:txBody>
      </p:sp>
      <p:cxnSp>
        <p:nvCxnSpPr>
          <p:cNvPr id="33" name="Connector 32"/>
          <p:cNvCxnSpPr/>
          <p:nvPr/>
        </p:nvCxnSpPr>
        <p:spPr>
          <a:xfrm>
            <a:off x="566928" y="3785616"/>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6928" y="3840480"/>
            <a:ext cx="310896" cy="51206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66928" y="3968496"/>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6F1E4"/>
                </a:solidFill>
                <a:latin typeface="Georgia"/>
              </a:rPr>
              <a:t>4</a:t>
            </a:r>
          </a:p>
        </p:txBody>
      </p:sp>
      <p:sp>
        <p:nvSpPr>
          <p:cNvPr id="36" name="TextBox 35"/>
          <p:cNvSpPr txBox="1"/>
          <p:nvPr/>
        </p:nvSpPr>
        <p:spPr>
          <a:xfrm>
            <a:off x="1005840" y="3867912"/>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123D30"/>
                </a:solidFill>
                <a:latin typeface="Arial"/>
              </a:rPr>
              <a:t>Price</a:t>
            </a:r>
          </a:p>
        </p:txBody>
      </p:sp>
      <p:sp>
        <p:nvSpPr>
          <p:cNvPr id="37" name="TextBox 36"/>
          <p:cNvSpPr txBox="1"/>
          <p:nvPr/>
        </p:nvSpPr>
        <p:spPr>
          <a:xfrm>
            <a:off x="2670048" y="3867912"/>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2% / 5% / 10% by lateness tier, with matched score damage of −10, −20 and −40. Post-payout default reaches −200.</a:t>
            </a:r>
          </a:p>
        </p:txBody>
      </p:sp>
      <p:cxnSp>
        <p:nvCxnSpPr>
          <p:cNvPr id="38" name="Connector 37"/>
          <p:cNvCxnSpPr/>
          <p:nvPr/>
        </p:nvCxnSpPr>
        <p:spPr>
          <a:xfrm>
            <a:off x="566928" y="4407408"/>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66928" y="4462272"/>
            <a:ext cx="310896" cy="512064"/>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66928" y="4590288"/>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07160F"/>
                </a:solidFill>
                <a:latin typeface="Georgia"/>
              </a:rPr>
              <a:t>5</a:t>
            </a:r>
          </a:p>
        </p:txBody>
      </p:sp>
      <p:sp>
        <p:nvSpPr>
          <p:cNvPr id="41" name="TextBox 40"/>
          <p:cNvSpPr txBox="1"/>
          <p:nvPr/>
        </p:nvSpPr>
        <p:spPr>
          <a:xfrm>
            <a:off x="1005840" y="4489704"/>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123D30"/>
                </a:solidFill>
                <a:latin typeface="Arial"/>
              </a:rPr>
              <a:t>Payout controls</a:t>
            </a:r>
          </a:p>
        </p:txBody>
      </p:sp>
      <p:sp>
        <p:nvSpPr>
          <p:cNvPr id="42" name="TextBox 41"/>
          <p:cNvSpPr txBox="1"/>
          <p:nvPr/>
        </p:nvSpPr>
        <p:spPr>
          <a:xfrm>
            <a:off x="2670048" y="4489704"/>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A round’s payout cannot release while any contribution in it is unpaid, including the recipient’s own; a linked-account default withholds it; a forward-liability shortfall is withheld from the pot, capped at 60%, released in steps as clean payments land.</a:t>
            </a:r>
          </a:p>
        </p:txBody>
      </p:sp>
      <p:cxnSp>
        <p:nvCxnSpPr>
          <p:cNvPr id="43" name="Connector 42"/>
          <p:cNvCxnSpPr/>
          <p:nvPr/>
        </p:nvCxnSpPr>
        <p:spPr>
          <a:xfrm>
            <a:off x="566928" y="502920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66928" y="5084064"/>
            <a:ext cx="310896" cy="51206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66928" y="5212080"/>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6F1E4"/>
                </a:solidFill>
                <a:latin typeface="Georgia"/>
              </a:rPr>
              <a:t>6</a:t>
            </a:r>
          </a:p>
        </p:txBody>
      </p:sp>
      <p:sp>
        <p:nvSpPr>
          <p:cNvPr id="46" name="TextBox 45"/>
          <p:cNvSpPr txBox="1"/>
          <p:nvPr/>
        </p:nvSpPr>
        <p:spPr>
          <a:xfrm>
            <a:off x="1005840" y="5111496"/>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123D30"/>
                </a:solidFill>
                <a:latin typeface="Arial"/>
              </a:rPr>
              <a:t>Consequence</a:t>
            </a:r>
          </a:p>
        </p:txBody>
      </p:sp>
      <p:sp>
        <p:nvSpPr>
          <p:cNvPr id="47" name="TextBox 46"/>
          <p:cNvSpPr txBox="1"/>
          <p:nvPr/>
        </p:nvSpPr>
        <p:spPr>
          <a:xfrm>
            <a:off x="2670048" y="5111496"/>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Platform-wide feature lock, internal flag, recovery case for outstanding plus penalties plus a 10% rehabilitation fee. All CNIC-linked and timestamped.</a:t>
            </a:r>
          </a:p>
        </p:txBody>
      </p:sp>
      <p:cxnSp>
        <p:nvCxnSpPr>
          <p:cNvPr id="48" name="Connector 47"/>
          <p:cNvCxnSpPr/>
          <p:nvPr/>
        </p:nvCxnSpPr>
        <p:spPr>
          <a:xfrm>
            <a:off x="566928" y="5650992"/>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66928" y="5705856"/>
            <a:ext cx="310896" cy="51206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66928" y="5833872"/>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6F1E4"/>
                </a:solidFill>
                <a:latin typeface="Georgia"/>
              </a:rPr>
              <a:t>7</a:t>
            </a:r>
          </a:p>
        </p:txBody>
      </p:sp>
      <p:sp>
        <p:nvSpPr>
          <p:cNvPr id="51" name="TextBox 50"/>
          <p:cNvSpPr txBox="1"/>
          <p:nvPr/>
        </p:nvSpPr>
        <p:spPr>
          <a:xfrm>
            <a:off x="1005840" y="5733288"/>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123D30"/>
                </a:solidFill>
                <a:latin typeface="Arial"/>
              </a:rPr>
              <a:t>Contract</a:t>
            </a:r>
          </a:p>
        </p:txBody>
      </p:sp>
      <p:sp>
        <p:nvSpPr>
          <p:cNvPr id="52" name="TextBox 51"/>
          <p:cNvSpPr txBox="1"/>
          <p:nvPr/>
        </p:nvSpPr>
        <p:spPr>
          <a:xfrm>
            <a:off x="2670048" y="5733288"/>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Weekly e-signed undertaking and an auto-executed mutual member-to-member guarantee — never to Halqa — required from every member before a circle can start.</a:t>
            </a:r>
          </a:p>
        </p:txBody>
      </p:sp>
      <p:cxnSp>
        <p:nvCxnSpPr>
          <p:cNvPr id="53" name="Connector 52"/>
          <p:cNvCxnSpPr/>
          <p:nvPr/>
        </p:nvCxnSpPr>
        <p:spPr>
          <a:xfrm>
            <a:off x="566928" y="6272784"/>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566928" y="6327648"/>
            <a:ext cx="45720" cy="329184"/>
          </a:xfrm>
          <a:prstGeom prst="rect">
            <a:avLst/>
          </a:prstGeom>
          <a:solidFill>
            <a:srgbClr val="8C2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95528" y="6309360"/>
            <a:ext cx="10424160" cy="365760"/>
          </a:xfrm>
          <a:prstGeom prst="rect">
            <a:avLst/>
          </a:prstGeom>
          <a:noFill/>
        </p:spPr>
        <p:txBody>
          <a:bodyPr wrap="square" lIns="0" rIns="0" tIns="0" bIns="0" anchor="t">
            <a:spAutoFit/>
          </a:bodyPr>
          <a:lstStyle/>
          <a:p>
            <a:pPr algn="l">
              <a:lnSpc>
                <a:spcPct val="116000"/>
              </a:lnSpc>
              <a:spcAft>
                <a:spcPts val="400"/>
              </a:spcAft>
            </a:pPr>
            <a:r>
              <a:rPr sz="1040" b="0" i="0">
                <a:solidFill>
                  <a:srgbClr val="0E1512"/>
                </a:solidFill>
                <a:latin typeface="Arial"/>
              </a:rPr>
              <a:t>Legal reality check, verified: signing a personal guarantee and then defaulting is civil, not criminal. There is no jail. Recovery is an Order XXXVII CPC summary suit and needs a court decree first. Never claim Halqa can jail defaulters.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04 · BUILT, NOT SWITCHED ON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second stage, and why it is switched off</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These are complete and tested, hidden behind one flag. They are not unfinished — switched on today, several would constitute pooling or deploying member funds, the exact activity the NBFC regime regulates.</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26</a:t>
            </a:r>
          </a:p>
        </p:txBody>
      </p:sp>
      <p:sp>
        <p:nvSpPr>
          <p:cNvPr id="18" name="TextBox 17"/>
          <p:cNvSpPr txBox="1"/>
          <p:nvPr/>
        </p:nvSpPr>
        <p:spPr>
          <a:xfrm>
            <a:off x="566928" y="1883664"/>
            <a:ext cx="667512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16   The stage-two money path. No bank is involved at any point.</a:t>
            </a:r>
          </a:p>
        </p:txBody>
      </p:sp>
      <p:sp>
        <p:nvSpPr>
          <p:cNvPr id="19" name="Rectangle 18"/>
          <p:cNvSpPr/>
          <p:nvPr/>
        </p:nvSpPr>
        <p:spPr>
          <a:xfrm>
            <a:off x="566928" y="2139696"/>
            <a:ext cx="2057400" cy="786384"/>
          </a:xfrm>
          <a:prstGeom prst="rect">
            <a:avLst/>
          </a:prstGeom>
          <a:solidFill>
            <a:srgbClr val="F3F6F4"/>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6656" y="2286000"/>
            <a:ext cx="1828800" cy="274320"/>
          </a:xfrm>
          <a:prstGeom prst="rect">
            <a:avLst/>
          </a:prstGeom>
          <a:noFill/>
        </p:spPr>
        <p:txBody>
          <a:bodyPr wrap="square" lIns="0" rIns="0" tIns="0" bIns="0" anchor="t">
            <a:spAutoFit/>
          </a:bodyPr>
          <a:lstStyle/>
          <a:p>
            <a:pPr algn="ctr">
              <a:lnSpc>
                <a:spcPct val="100000"/>
              </a:lnSpc>
              <a:spcAft>
                <a:spcPts val="400"/>
              </a:spcAft>
            </a:pPr>
            <a:r>
              <a:rPr sz="1100" b="1" i="0">
                <a:solidFill>
                  <a:srgbClr val="123D30"/>
                </a:solidFill>
                <a:latin typeface="Arial"/>
              </a:rPr>
              <a:t>The member</a:t>
            </a:r>
          </a:p>
        </p:txBody>
      </p:sp>
      <p:cxnSp>
        <p:nvCxnSpPr>
          <p:cNvPr id="21" name="Connector 20"/>
          <p:cNvCxnSpPr/>
          <p:nvPr/>
        </p:nvCxnSpPr>
        <p:spPr>
          <a:xfrm>
            <a:off x="2624328" y="2532888"/>
            <a:ext cx="274320" cy="0"/>
          </a:xfrm>
          <a:prstGeom prst="line">
            <a:avLst/>
          </a:prstGeom>
          <a:ln w="304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2898648" y="2139696"/>
            <a:ext cx="2057400" cy="786384"/>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008376" y="2286000"/>
            <a:ext cx="1828800" cy="274320"/>
          </a:xfrm>
          <a:prstGeom prst="rect">
            <a:avLst/>
          </a:prstGeom>
          <a:noFill/>
        </p:spPr>
        <p:txBody>
          <a:bodyPr wrap="square" lIns="0" rIns="0" tIns="0" bIns="0" anchor="t">
            <a:spAutoFit/>
          </a:bodyPr>
          <a:lstStyle/>
          <a:p>
            <a:pPr algn="ctr">
              <a:lnSpc>
                <a:spcPct val="100000"/>
              </a:lnSpc>
              <a:spcAft>
                <a:spcPts val="400"/>
              </a:spcAft>
            </a:pPr>
            <a:r>
              <a:rPr sz="1100" b="1" i="0">
                <a:solidFill>
                  <a:srgbClr val="123D30"/>
                </a:solidFill>
                <a:latin typeface="Arial"/>
              </a:rPr>
              <a:t>CDC collection account</a:t>
            </a:r>
          </a:p>
        </p:txBody>
      </p:sp>
      <p:sp>
        <p:nvSpPr>
          <p:cNvPr id="24" name="TextBox 23"/>
          <p:cNvSpPr txBox="1"/>
          <p:nvPr/>
        </p:nvSpPr>
        <p:spPr>
          <a:xfrm>
            <a:off x="3008376" y="2560320"/>
            <a:ext cx="1828800" cy="274320"/>
          </a:xfrm>
          <a:prstGeom prst="rect">
            <a:avLst/>
          </a:prstGeom>
          <a:noFill/>
        </p:spPr>
        <p:txBody>
          <a:bodyPr wrap="square" lIns="0" rIns="0" tIns="0" bIns="0" anchor="t">
            <a:spAutoFit/>
          </a:bodyPr>
          <a:lstStyle/>
          <a:p>
            <a:pPr algn="ctr">
              <a:lnSpc>
                <a:spcPct val="100000"/>
              </a:lnSpc>
              <a:spcAft>
                <a:spcPts val="400"/>
              </a:spcAft>
            </a:pPr>
            <a:r>
              <a:rPr sz="880" b="0" i="0">
                <a:solidFill>
                  <a:srgbClr val="4C574F"/>
                </a:solidFill>
                <a:latin typeface="Arial"/>
              </a:rPr>
              <a:t>the trustee holds the assets</a:t>
            </a:r>
          </a:p>
        </p:txBody>
      </p:sp>
      <p:cxnSp>
        <p:nvCxnSpPr>
          <p:cNvPr id="25" name="Connector 24"/>
          <p:cNvCxnSpPr/>
          <p:nvPr/>
        </p:nvCxnSpPr>
        <p:spPr>
          <a:xfrm>
            <a:off x="4956048" y="2532888"/>
            <a:ext cx="274320" cy="0"/>
          </a:xfrm>
          <a:prstGeom prst="line">
            <a:avLst/>
          </a:prstGeom>
          <a:ln w="304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230368" y="2139696"/>
            <a:ext cx="2057400" cy="786384"/>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340096" y="2286000"/>
            <a:ext cx="1828800" cy="274320"/>
          </a:xfrm>
          <a:prstGeom prst="rect">
            <a:avLst/>
          </a:prstGeom>
          <a:noFill/>
        </p:spPr>
        <p:txBody>
          <a:bodyPr wrap="square" lIns="0" rIns="0" tIns="0" bIns="0" anchor="t">
            <a:spAutoFit/>
          </a:bodyPr>
          <a:lstStyle/>
          <a:p>
            <a:pPr algn="ctr">
              <a:lnSpc>
                <a:spcPct val="100000"/>
              </a:lnSpc>
              <a:spcAft>
                <a:spcPts val="400"/>
              </a:spcAft>
            </a:pPr>
            <a:r>
              <a:rPr sz="1100" b="1" i="0">
                <a:solidFill>
                  <a:srgbClr val="123D30"/>
                </a:solidFill>
                <a:latin typeface="Arial"/>
              </a:rPr>
              <a:t>Fund units</a:t>
            </a:r>
          </a:p>
        </p:txBody>
      </p:sp>
      <p:sp>
        <p:nvSpPr>
          <p:cNvPr id="28" name="TextBox 27"/>
          <p:cNvSpPr txBox="1"/>
          <p:nvPr/>
        </p:nvSpPr>
        <p:spPr>
          <a:xfrm>
            <a:off x="5340096" y="2560320"/>
            <a:ext cx="1828800" cy="274320"/>
          </a:xfrm>
          <a:prstGeom prst="rect">
            <a:avLst/>
          </a:prstGeom>
          <a:noFill/>
        </p:spPr>
        <p:txBody>
          <a:bodyPr wrap="square" lIns="0" rIns="0" tIns="0" bIns="0" anchor="t">
            <a:spAutoFit/>
          </a:bodyPr>
          <a:lstStyle/>
          <a:p>
            <a:pPr algn="ctr">
              <a:lnSpc>
                <a:spcPct val="100000"/>
              </a:lnSpc>
              <a:spcAft>
                <a:spcPts val="400"/>
              </a:spcAft>
            </a:pPr>
            <a:r>
              <a:rPr sz="880" b="0" i="0">
                <a:solidFill>
                  <a:srgbClr val="4C574F"/>
                </a:solidFill>
                <a:latin typeface="Arial"/>
              </a:rPr>
              <a:t>registered in the member’s own name</a:t>
            </a:r>
          </a:p>
        </p:txBody>
      </p:sp>
      <p:sp>
        <p:nvSpPr>
          <p:cNvPr id="29" name="TextBox 28"/>
          <p:cNvSpPr txBox="1"/>
          <p:nvPr/>
        </p:nvSpPr>
        <p:spPr>
          <a:xfrm>
            <a:off x="566928" y="3072384"/>
            <a:ext cx="6675120" cy="365760"/>
          </a:xfrm>
          <a:prstGeom prst="rect">
            <a:avLst/>
          </a:prstGeom>
          <a:noFill/>
        </p:spPr>
        <p:txBody>
          <a:bodyPr wrap="square" lIns="0" rIns="0" tIns="0" bIns="0" anchor="t">
            <a:spAutoFit/>
          </a:bodyPr>
          <a:lstStyle/>
          <a:p>
            <a:pPr algn="l">
              <a:lnSpc>
                <a:spcPct val="120000"/>
              </a:lnSpc>
              <a:spcAft>
                <a:spcPts val="400"/>
              </a:spcAft>
            </a:pPr>
            <a:r>
              <a:rPr sz="1100" b="0" i="0">
                <a:solidFill>
                  <a:srgbClr val="0E1512"/>
                </a:solidFill>
                <a:latin typeface="Arial"/>
              </a:rPr>
              <a:t>Halqa never sits in that path. The licence required is an SECP mutual-fund distributor registration — not EMI, because it holds no balances; not NBFC, because it deploys no funds.</a:t>
            </a:r>
          </a:p>
        </p:txBody>
      </p:sp>
      <p:graphicFrame>
        <p:nvGraphicFramePr>
          <p:cNvPr id="30" name="Table 29"/>
          <p:cNvGraphicFramePr>
            <a:graphicFrameLocks noGrp="1"/>
          </p:cNvGraphicFramePr>
          <p:nvPr/>
        </p:nvGraphicFramePr>
        <p:xfrm>
          <a:off x="566928" y="3675887"/>
          <a:ext cx="6675119" cy="2279050"/>
        </p:xfrm>
        <a:graphic>
          <a:graphicData uri="http://schemas.openxmlformats.org/drawingml/2006/table">
            <a:tbl>
              <a:tblPr>
                <a:tableStyleId>{5C22544A-7EE6-4342-B048-85BDC9FD1C3A}</a:tableStyleId>
              </a:tblPr>
              <a:tblGrid>
                <a:gridCol w="1201521"/>
                <a:gridCol w="5473598"/>
              </a:tblGrid>
              <a:tr h="578266">
                <a:tc>
                  <a:txBody>
                    <a:bodyPr wrap="square"/>
                    <a:lstStyle/>
                    <a:p>
                      <a:pPr algn="l"/>
                      <a:r>
                        <a:rPr sz="960" b="1">
                          <a:solidFill>
                            <a:srgbClr val="F6F1E4"/>
                          </a:solidFill>
                          <a:latin typeface="Arial"/>
                        </a:rPr>
                        <a:t>Product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Mechanism</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60" b="0">
                          <a:solidFill>
                            <a:srgbClr val="0E1512"/>
                          </a:solidFill>
                          <a:latin typeface="Arial"/>
                        </a:rPr>
                        <a:t>Growth Vault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Idle savings — typically a late-seat member waiting their turn — routed into an Islamic money-market or income fund at roughly 10–11%, against inflation of 11–12%. Committee money today earns zero while it waits.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60" b="0">
                          <a:solidFill>
                            <a:srgbClr val="0E1512"/>
                          </a:solidFill>
                          <a:latin typeface="Arial"/>
                        </a:rPr>
                        <a:t>Safety Vault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The same holding, pledged, with a lien in favour of the circle. A missed installment settles from the member’s own units. A member with a pledged buffer cannot default up to the size of that buffer.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60" b="0">
                          <a:solidFill>
                            <a:srgbClr val="0E1512"/>
                          </a:solidFill>
                          <a:latin typeface="Arial"/>
                        </a:rPr>
                        <a:t>The Float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Contributions buy units in the payer’s own name on pay-in and redeem on payout day. One month of float is roughly Rs 1,000 on a Rs 120,000 pot, accruing to savers rather than to nobody.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31" name="TextBox 30"/>
          <p:cNvSpPr txBox="1"/>
          <p:nvPr/>
        </p:nvSpPr>
        <p:spPr>
          <a:xfrm>
            <a:off x="7653528" y="1883664"/>
            <a:ext cx="39319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Also built, also switched off</a:t>
            </a:r>
          </a:p>
        </p:txBody>
      </p:sp>
      <p:sp>
        <p:nvSpPr>
          <p:cNvPr id="32" name="TextBox 31"/>
          <p:cNvSpPr txBox="1"/>
          <p:nvPr/>
        </p:nvSpPr>
        <p:spPr>
          <a:xfrm>
            <a:off x="7653528" y="2212848"/>
            <a:ext cx="3931920" cy="365760"/>
          </a:xfrm>
          <a:prstGeom prst="rect">
            <a:avLst/>
          </a:prstGeom>
          <a:noFill/>
        </p:spPr>
        <p:txBody>
          <a:bodyPr wrap="square" lIns="0" rIns="0" tIns="0" bIns="0">
            <a:spAutoFit/>
          </a:bodyPr>
          <a:lstStyle/>
          <a:p>
            <a:pPr>
              <a:lnSpc>
                <a:spcPct val="106000"/>
              </a:lnSpc>
              <a:spcAft>
                <a:spcPts val="500"/>
              </a:spcAft>
            </a:pPr>
            <a:r>
              <a:rPr sz="1000" b="1">
                <a:solidFill>
                  <a:srgbClr val="D9A93C"/>
                </a:solidFill>
                <a:latin typeface="Georgia"/>
              </a:rPr>
              <a:t>|  </a:t>
            </a:r>
            <a:r>
              <a:rPr sz="1000">
                <a:solidFill>
                  <a:srgbClr val="0E1512"/>
                </a:solidFill>
                <a:latin typeface="Arial"/>
              </a:rPr>
              <a:t>Vault sleeves — Standard, Income, Gold, Crypto, with allocation sliders and auto-cover</a:t>
            </a:r>
          </a:p>
          <a:p>
            <a:pPr>
              <a:lnSpc>
                <a:spcPct val="106000"/>
              </a:lnSpc>
              <a:spcAft>
                <a:spcPts val="500"/>
              </a:spcAft>
            </a:pPr>
            <a:r>
              <a:rPr sz="1000" b="1">
                <a:solidFill>
                  <a:srgbClr val="D9A93C"/>
                </a:solidFill>
                <a:latin typeface="Georgia"/>
              </a:rPr>
              <a:t>|  </a:t>
            </a:r>
            <a:r>
              <a:rPr sz="1000">
                <a:solidFill>
                  <a:srgbClr val="0E1512"/>
                </a:solidFill>
                <a:latin typeface="Arial"/>
              </a:rPr>
              <a:t>Earning engines — float sweep, deposit mudarabah, patience tilt, prize hiba</a:t>
            </a:r>
          </a:p>
          <a:p>
            <a:pPr>
              <a:lnSpc>
                <a:spcPct val="106000"/>
              </a:lnSpc>
              <a:spcAft>
                <a:spcPts val="500"/>
              </a:spcAft>
            </a:pPr>
            <a:r>
              <a:rPr sz="1000" b="1">
                <a:solidFill>
                  <a:srgbClr val="D9A93C"/>
                </a:solidFill>
                <a:latin typeface="Georgia"/>
              </a:rPr>
              <a:t>|  </a:t>
            </a:r>
            <a:r>
              <a:rPr sz="1000">
                <a:solidFill>
                  <a:srgbClr val="0E1512"/>
                </a:solidFill>
                <a:latin typeface="Arial"/>
              </a:rPr>
              <a:t>Scheme terminal and the scheme catalogue</a:t>
            </a:r>
          </a:p>
          <a:p>
            <a:pPr>
              <a:lnSpc>
                <a:spcPct val="106000"/>
              </a:lnSpc>
              <a:spcAft>
                <a:spcPts val="500"/>
              </a:spcAft>
            </a:pPr>
            <a:r>
              <a:rPr sz="1000" b="1">
                <a:solidFill>
                  <a:srgbClr val="D9A93C"/>
                </a:solidFill>
                <a:latin typeface="Georgia"/>
              </a:rPr>
              <a:t>|  </a:t>
            </a:r>
            <a:r>
              <a:rPr sz="1000">
                <a:solidFill>
                  <a:srgbClr val="0E1512"/>
                </a:solidFill>
                <a:latin typeface="Arial"/>
              </a:rPr>
              <a:t>Escrow treasury and guarantee pool — needs custody</a:t>
            </a:r>
          </a:p>
          <a:p>
            <a:pPr>
              <a:lnSpc>
                <a:spcPct val="106000"/>
              </a:lnSpc>
              <a:spcAft>
                <a:spcPts val="500"/>
              </a:spcAft>
            </a:pPr>
            <a:r>
              <a:rPr sz="1000" b="1">
                <a:solidFill>
                  <a:srgbClr val="D9A93C"/>
                </a:solidFill>
                <a:latin typeface="Georgia"/>
              </a:rPr>
              <a:t>|  </a:t>
            </a:r>
            <a:r>
              <a:rPr sz="1000">
                <a:solidFill>
                  <a:srgbClr val="0E1512"/>
                </a:solidFill>
                <a:latin typeface="Arial"/>
              </a:rPr>
              <a:t>Security deposits and payout holdbacks</a:t>
            </a:r>
          </a:p>
          <a:p>
            <a:pPr>
              <a:lnSpc>
                <a:spcPct val="106000"/>
              </a:lnSpc>
              <a:spcAft>
                <a:spcPts val="500"/>
              </a:spcAft>
            </a:pPr>
            <a:r>
              <a:rPr sz="1000" b="1">
                <a:solidFill>
                  <a:srgbClr val="D9A93C"/>
                </a:solidFill>
                <a:latin typeface="Georgia"/>
              </a:rPr>
              <a:t>|  </a:t>
            </a:r>
            <a:r>
              <a:rPr sz="1000">
                <a:solidFill>
                  <a:srgbClr val="0E1512"/>
                </a:solidFill>
                <a:latin typeface="Arial"/>
              </a:rPr>
              <a:t>Committee tiers, renamed at the display layer only: Basic, Earn, Earn &amp; Share, Early Access, Maximum</a:t>
            </a:r>
          </a:p>
          <a:p>
            <a:pPr>
              <a:lnSpc>
                <a:spcPct val="106000"/>
              </a:lnSpc>
              <a:spcAft>
                <a:spcPts val="500"/>
              </a:spcAft>
            </a:pPr>
            <a:r>
              <a:rPr sz="1000" b="1">
                <a:solidFill>
                  <a:srgbClr val="D9A93C"/>
                </a:solidFill>
                <a:latin typeface="Georgia"/>
              </a:rPr>
              <a:t>|  </a:t>
            </a:r>
            <a:r>
              <a:rPr sz="1000">
                <a:solidFill>
                  <a:srgbClr val="0E1512"/>
                </a:solidFill>
                <a:latin typeface="Arial"/>
              </a:rPr>
              <a:t>Host-configurable float window, deposit coverage 30–90%, group staking streak</a:t>
            </a:r>
          </a:p>
        </p:txBody>
      </p:sp>
      <p:sp>
        <p:nvSpPr>
          <p:cNvPr id="33" name="Rectangle 32"/>
          <p:cNvSpPr/>
          <p:nvPr/>
        </p:nvSpPr>
        <p:spPr>
          <a:xfrm>
            <a:off x="7653528" y="5138928"/>
            <a:ext cx="45720" cy="9601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82128" y="5157216"/>
            <a:ext cx="3703320" cy="1005840"/>
          </a:xfrm>
          <a:prstGeom prst="rect">
            <a:avLst/>
          </a:prstGeom>
          <a:noFill/>
        </p:spPr>
        <p:txBody>
          <a:bodyPr wrap="square" lIns="0" rIns="0" tIns="0" bIns="0" anchor="t">
            <a:spAutoFit/>
          </a:bodyPr>
          <a:lstStyle/>
          <a:p>
            <a:pPr algn="l">
              <a:lnSpc>
                <a:spcPct val="120000"/>
              </a:lnSpc>
              <a:spcAft>
                <a:spcPts val="400"/>
              </a:spcAft>
            </a:pPr>
            <a:r>
              <a:rPr sz="1060" b="0" i="0">
                <a:solidFill>
                  <a:srgbClr val="0E1512"/>
                </a:solidFill>
                <a:latin typeface="Arial"/>
              </a:rPr>
              <a:t>Standing rule: never delete these for being non-Shariah or dormant. Halqa keeps every feature working and simply refrains from labelling it Shariah where that does not apply.</a:t>
            </a:r>
          </a:p>
        </p:txBody>
      </p:sp>
      <p:cxnSp>
        <p:nvCxnSpPr>
          <p:cNvPr id="35" name="Connector 34"/>
          <p:cNvCxnSpPr/>
          <p:nvPr/>
        </p:nvCxnSpPr>
        <p:spPr>
          <a:xfrm>
            <a:off x="566928" y="6309360"/>
            <a:ext cx="0" cy="155448"/>
          </a:xfrm>
          <a:prstGeom prst="line">
            <a:avLst/>
          </a:prstGeom>
          <a:ln w="279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30936" y="6304788"/>
            <a:ext cx="2194560" cy="182880"/>
          </a:xfrm>
          <a:prstGeom prst="rect">
            <a:avLst/>
          </a:prstGeom>
          <a:noFill/>
        </p:spPr>
        <p:txBody>
          <a:bodyPr wrap="square" lIns="0" rIns="0" tIns="0" bIns="0" anchor="t">
            <a:spAutoFit/>
          </a:bodyPr>
          <a:lstStyle/>
          <a:p>
            <a:pPr algn="l">
              <a:lnSpc>
                <a:spcPct val="100000"/>
              </a:lnSpc>
              <a:spcAft>
                <a:spcPts val="400"/>
              </a:spcAft>
            </a:pPr>
            <a:r>
              <a:rPr sz="840" b="1" i="0" spc="80">
                <a:solidFill>
                  <a:srgbClr val="123D30"/>
                </a:solidFill>
                <a:latin typeface="Arial"/>
              </a:rPr>
              <a:t>STAGE-2  ·  REQUIRES THE CDC TRUSTEE AND AMC STRUCTURE, AND AN SECP DISTRIBUTOR REGISTRATION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D9A93C"/>
                </a:solidFill>
                <a:latin typeface="Georgia"/>
              </a:rPr>
              <a:t>05</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6F1E4"/>
                </a:solidFill>
                <a:latin typeface="Georgia"/>
              </a:rPr>
              <a:t>What is specified next</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The discipline layer: consent, exit, affordability, authenticity.</a:t>
            </a:r>
          </a:p>
          <a:p>
            <a:pPr algn="l">
              <a:lnSpc>
                <a:spcPct val="100000"/>
              </a:lnSpc>
              <a:spcAft>
                <a:spcPts val="600"/>
              </a:spcAft>
            </a:pPr>
            <a:r>
              <a:rPr sz="1240" b="0" i="0">
                <a:solidFill>
                  <a:srgbClr val="C8D4CC"/>
                </a:solidFill>
                <a:latin typeface="Arial"/>
              </a:rPr>
              <a:t>The restitution arithmetic solves refunds without ever holding a pool.</a:t>
            </a:r>
          </a:p>
          <a:p>
            <a:pPr algn="l">
              <a:lnSpc>
                <a:spcPct val="100000"/>
              </a:lnSpc>
              <a:spcAft>
                <a:spcPts val="600"/>
              </a:spcAft>
            </a:pPr>
            <a:r>
              <a:rPr sz="1240" b="0" i="0">
                <a:solidFill>
                  <a:srgbClr val="C8D4CC"/>
                </a:solidFill>
                <a:latin typeface="Arial"/>
              </a:rPr>
              <a:t>Four numbers and one design are still awaiting the chairman’s ruling.</a:t>
            </a:r>
          </a:p>
        </p:txBody>
      </p:sp>
      <p:cxnSp>
        <p:nvCxnSpPr>
          <p:cNvPr id="7" name="Connector 6"/>
          <p:cNvCxnSpPr/>
          <p:nvPr/>
        </p:nvCxnSpPr>
        <p:spPr>
          <a:xfrm>
            <a:off x="2697480"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05 · THE DISCIPLINE LAYER</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Six builds, and the order cannot be changed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Each was specified as product design but reads as a compliance posture — and that is the point.</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28</a:t>
            </a:r>
          </a:p>
        </p:txBody>
      </p:sp>
      <p:sp>
        <p:nvSpPr>
          <p:cNvPr id="18" name="TextBox 17"/>
          <p:cNvSpPr txBox="1"/>
          <p:nvPr/>
        </p:nvSpPr>
        <p:spPr>
          <a:xfrm>
            <a:off x="566928" y="1664208"/>
            <a:ext cx="68580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17   Build order</a:t>
            </a:r>
          </a:p>
        </p:txBody>
      </p:sp>
      <p:sp>
        <p:nvSpPr>
          <p:cNvPr id="19" name="Rectangle 18"/>
          <p:cNvSpPr/>
          <p:nvPr/>
        </p:nvSpPr>
        <p:spPr>
          <a:xfrm>
            <a:off x="566928" y="1901952"/>
            <a:ext cx="292608" cy="4572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6928" y="2002536"/>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6F1E4"/>
                </a:solidFill>
                <a:latin typeface="Georgia"/>
              </a:rPr>
              <a:t>1</a:t>
            </a:r>
          </a:p>
        </p:txBody>
      </p:sp>
      <p:sp>
        <p:nvSpPr>
          <p:cNvPr id="21" name="TextBox 20"/>
          <p:cNvSpPr txBox="1"/>
          <p:nvPr/>
        </p:nvSpPr>
        <p:spPr>
          <a:xfrm>
            <a:off x="987552" y="1920240"/>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123D30"/>
                </a:solidFill>
                <a:latin typeface="Arial"/>
              </a:rPr>
              <a:t>CONFIRMING state and the 24-hour window</a:t>
            </a:r>
          </a:p>
        </p:txBody>
      </p:sp>
      <p:sp>
        <p:nvSpPr>
          <p:cNvPr id="22" name="TextBox 21"/>
          <p:cNvSpPr txBox="1"/>
          <p:nvPr/>
        </p:nvSpPr>
        <p:spPr>
          <a:xfrm>
            <a:off x="4828032" y="1938528"/>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4C574F"/>
                </a:solidFill>
                <a:latin typeface="Arial"/>
              </a:rPr>
              <a:t>The smallest change and the largest legal return</a:t>
            </a:r>
          </a:p>
        </p:txBody>
      </p:sp>
      <p:cxnSp>
        <p:nvCxnSpPr>
          <p:cNvPr id="23" name="Connector 22"/>
          <p:cNvCxnSpPr/>
          <p:nvPr/>
        </p:nvCxnSpPr>
        <p:spPr>
          <a:xfrm>
            <a:off x="566928" y="2414016"/>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66928" y="2468880"/>
            <a:ext cx="292608" cy="4572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66928" y="2569464"/>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6F1E4"/>
                </a:solidFill>
                <a:latin typeface="Georgia"/>
              </a:rPr>
              <a:t>2</a:t>
            </a:r>
          </a:p>
        </p:txBody>
      </p:sp>
      <p:sp>
        <p:nvSpPr>
          <p:cNvPr id="26" name="TextBox 25"/>
          <p:cNvSpPr txBox="1"/>
          <p:nvPr/>
        </p:nvSpPr>
        <p:spPr>
          <a:xfrm>
            <a:off x="987552" y="2487168"/>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123D30"/>
                </a:solidFill>
                <a:latin typeface="Arial"/>
              </a:rPr>
              <a:t>Affordability engine and headroom display</a:t>
            </a:r>
          </a:p>
        </p:txBody>
      </p:sp>
      <p:sp>
        <p:nvSpPr>
          <p:cNvPr id="27" name="TextBox 26"/>
          <p:cNvSpPr txBox="1"/>
          <p:nvPr/>
        </p:nvSpPr>
        <p:spPr>
          <a:xfrm>
            <a:off x="4828032" y="2505456"/>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4C574F"/>
                </a:solidFill>
                <a:latin typeface="Arial"/>
              </a:rPr>
              <a:t>Stricter than the regulator’s own ratio</a:t>
            </a:r>
          </a:p>
        </p:txBody>
      </p:sp>
      <p:cxnSp>
        <p:nvCxnSpPr>
          <p:cNvPr id="28" name="Connector 27"/>
          <p:cNvCxnSpPr/>
          <p:nvPr/>
        </p:nvCxnSpPr>
        <p:spPr>
          <a:xfrm>
            <a:off x="566928" y="2980944"/>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66928" y="3035808"/>
            <a:ext cx="292608" cy="4572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66928" y="3136392"/>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6F1E4"/>
                </a:solidFill>
                <a:latin typeface="Georgia"/>
              </a:rPr>
              <a:t>3</a:t>
            </a:r>
          </a:p>
        </p:txBody>
      </p:sp>
      <p:sp>
        <p:nvSpPr>
          <p:cNvPr id="31" name="TextBox 30"/>
          <p:cNvSpPr txBox="1"/>
          <p:nvPr/>
        </p:nvSpPr>
        <p:spPr>
          <a:xfrm>
            <a:off x="987552" y="3054096"/>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123D30"/>
                </a:solidFill>
                <a:latin typeface="Arial"/>
              </a:rPr>
              <a:t>Exit ladder, restitution engine, group vote</a:t>
            </a:r>
          </a:p>
        </p:txBody>
      </p:sp>
      <p:sp>
        <p:nvSpPr>
          <p:cNvPr id="32" name="TextBox 31"/>
          <p:cNvSpPr txBox="1"/>
          <p:nvPr/>
        </p:nvSpPr>
        <p:spPr>
          <a:xfrm>
            <a:off x="4828032" y="3072384"/>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4C574F"/>
                </a:solidFill>
                <a:latin typeface="Arial"/>
              </a:rPr>
              <a:t>The heaviest engineering in the set</a:t>
            </a:r>
          </a:p>
        </p:txBody>
      </p:sp>
      <p:cxnSp>
        <p:nvCxnSpPr>
          <p:cNvPr id="33" name="Connector 32"/>
          <p:cNvCxnSpPr/>
          <p:nvPr/>
        </p:nvCxnSpPr>
        <p:spPr>
          <a:xfrm>
            <a:off x="566928" y="3547872"/>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6928" y="3602736"/>
            <a:ext cx="292608" cy="4572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66928" y="3703320"/>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6F1E4"/>
                </a:solidFill>
                <a:latin typeface="Georgia"/>
              </a:rPr>
              <a:t>4</a:t>
            </a:r>
          </a:p>
        </p:txBody>
      </p:sp>
      <p:sp>
        <p:nvSpPr>
          <p:cNvPr id="36" name="TextBox 35"/>
          <p:cNvSpPr txBox="1"/>
          <p:nvPr/>
        </p:nvSpPr>
        <p:spPr>
          <a:xfrm>
            <a:off x="987552" y="3621024"/>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123D30"/>
                </a:solidFill>
                <a:latin typeface="Arial"/>
              </a:rPr>
              <a:t>Hardship path and helpline</a:t>
            </a:r>
          </a:p>
        </p:txBody>
      </p:sp>
      <p:sp>
        <p:nvSpPr>
          <p:cNvPr id="37" name="TextBox 36"/>
          <p:cNvSpPr txBox="1"/>
          <p:nvPr/>
        </p:nvSpPr>
        <p:spPr>
          <a:xfrm>
            <a:off x="4828032" y="3639312"/>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4C574F"/>
                </a:solidFill>
                <a:latin typeface="Arial"/>
              </a:rPr>
              <a:t>Turns a collections call into a recorded statement</a:t>
            </a:r>
          </a:p>
        </p:txBody>
      </p:sp>
      <p:cxnSp>
        <p:nvCxnSpPr>
          <p:cNvPr id="38" name="Connector 37"/>
          <p:cNvCxnSpPr/>
          <p:nvPr/>
        </p:nvCxnSpPr>
        <p:spPr>
          <a:xfrm>
            <a:off x="566928" y="4114800"/>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66928" y="4169664"/>
            <a:ext cx="292608" cy="4572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66928" y="4270248"/>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6F1E4"/>
                </a:solidFill>
                <a:latin typeface="Georgia"/>
              </a:rPr>
              <a:t>5</a:t>
            </a:r>
          </a:p>
        </p:txBody>
      </p:sp>
      <p:sp>
        <p:nvSpPr>
          <p:cNvPr id="41" name="TextBox 40"/>
          <p:cNvSpPr txBox="1"/>
          <p:nvPr/>
        </p:nvSpPr>
        <p:spPr>
          <a:xfrm>
            <a:off x="987552" y="4187952"/>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123D30"/>
                </a:solidFill>
                <a:latin typeface="Arial"/>
              </a:rPr>
              <a:t>NADRA face match</a:t>
            </a:r>
          </a:p>
        </p:txBody>
      </p:sp>
      <p:sp>
        <p:nvSpPr>
          <p:cNvPr id="42" name="TextBox 41"/>
          <p:cNvSpPr txBox="1"/>
          <p:nvPr/>
        </p:nvSpPr>
        <p:spPr>
          <a:xfrm>
            <a:off x="4828032" y="4206240"/>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4C574F"/>
                </a:solidFill>
                <a:latin typeface="Arial"/>
              </a:rPr>
              <a:t>Start the Nishan portal paperwork in parallel — it is the long pole</a:t>
            </a:r>
          </a:p>
        </p:txBody>
      </p:sp>
      <p:cxnSp>
        <p:nvCxnSpPr>
          <p:cNvPr id="43" name="Connector 42"/>
          <p:cNvCxnSpPr/>
          <p:nvPr/>
        </p:nvCxnSpPr>
        <p:spPr>
          <a:xfrm>
            <a:off x="566928" y="4681728"/>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66928" y="4736592"/>
            <a:ext cx="292608" cy="4572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66928" y="4837176"/>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6F1E4"/>
                </a:solidFill>
                <a:latin typeface="Georgia"/>
              </a:rPr>
              <a:t>6</a:t>
            </a:r>
          </a:p>
        </p:txBody>
      </p:sp>
      <p:sp>
        <p:nvSpPr>
          <p:cNvPr id="46" name="TextBox 45"/>
          <p:cNvSpPr txBox="1"/>
          <p:nvPr/>
        </p:nvSpPr>
        <p:spPr>
          <a:xfrm>
            <a:off x="987552" y="4754880"/>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123D30"/>
                </a:solidFill>
                <a:latin typeface="Arial"/>
              </a:rPr>
              <a:t>Circle authenticity</a:t>
            </a:r>
          </a:p>
        </p:txBody>
      </p:sp>
      <p:sp>
        <p:nvSpPr>
          <p:cNvPr id="47" name="TextBox 46"/>
          <p:cNvSpPr txBox="1"/>
          <p:nvPr/>
        </p:nvSpPr>
        <p:spPr>
          <a:xfrm>
            <a:off x="4828032" y="4773168"/>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4C574F"/>
                </a:solidFill>
                <a:latin typeface="Arial"/>
              </a:rPr>
              <a:t>Last, because it depends on everything above it</a:t>
            </a:r>
          </a:p>
        </p:txBody>
      </p:sp>
      <p:cxnSp>
        <p:nvCxnSpPr>
          <p:cNvPr id="48" name="Connector 47"/>
          <p:cNvCxnSpPr/>
          <p:nvPr/>
        </p:nvCxnSpPr>
        <p:spPr>
          <a:xfrm>
            <a:off x="566928" y="5248656"/>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7790688" y="1901952"/>
            <a:ext cx="3794760" cy="3429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019288" y="2103120"/>
            <a:ext cx="3337560" cy="3017520"/>
          </a:xfrm>
          <a:prstGeom prst="rect">
            <a:avLst/>
          </a:prstGeom>
          <a:noFill/>
        </p:spPr>
        <p:txBody>
          <a:bodyPr wrap="square" lIns="0" rIns="0" tIns="0" bIns="0" anchor="t">
            <a:spAutoFit/>
          </a:bodyPr>
          <a:lstStyle/>
          <a:p>
            <a:pPr algn="l">
              <a:lnSpc>
                <a:spcPct val="120000"/>
              </a:lnSpc>
              <a:spcAft>
                <a:spcPts val="300"/>
              </a:spcAft>
            </a:pPr>
            <a:r>
              <a:rPr sz="1040" b="0" i="0">
                <a:solidFill>
                  <a:srgbClr val="F6F1E4"/>
                </a:solidFill>
                <a:latin typeface="Arial"/>
              </a:rPr>
              <a:t>What this buys with the regulator</a:t>
            </a:r>
          </a:p>
          <a:p>
            <a:pPr algn="l">
              <a:lnSpc>
                <a:spcPct val="120000"/>
              </a:lnSpc>
              <a:spcAft>
                <a:spcPts val="300"/>
              </a:spcAft>
            </a:pPr>
            <a:r>
              <a:rPr sz="1040" b="0" i="0">
                <a:solidFill>
                  <a:srgbClr val="F6F1E4"/>
                </a:solidFill>
                <a:latin typeface="Arial"/>
              </a:rPr>
              <a:t/>
            </a:r>
          </a:p>
          <a:p>
            <a:pPr algn="l">
              <a:lnSpc>
                <a:spcPct val="120000"/>
              </a:lnSpc>
              <a:spcAft>
                <a:spcPts val="300"/>
              </a:spcAft>
            </a:pPr>
            <a:r>
              <a:rPr sz="1040" b="0" i="0">
                <a:solidFill>
                  <a:srgbClr val="F6F1E4"/>
                </a:solidFill>
                <a:latin typeface="Arial"/>
              </a:rPr>
              <a:t>Set against SBP’s Business Conduct and Fair Treatment of Consumers framework of October 2025, which governs disclosure, delivery, complaints and termination, Halqa can show:</a:t>
            </a:r>
          </a:p>
          <a:p>
            <a:pPr algn="l">
              <a:lnSpc>
                <a:spcPct val="120000"/>
              </a:lnSpc>
              <a:spcAft>
                <a:spcPts val="300"/>
              </a:spcAft>
            </a:pPr>
            <a:r>
              <a:rPr sz="1040" b="0" i="0">
                <a:solidFill>
                  <a:srgbClr val="F6F1E4"/>
                </a:solidFill>
                <a:latin typeface="Arial"/>
              </a:rPr>
              <a:t/>
            </a:r>
          </a:p>
          <a:p>
            <a:pPr algn="l">
              <a:lnSpc>
                <a:spcPct val="120000"/>
              </a:lnSpc>
              <a:spcAft>
                <a:spcPts val="300"/>
              </a:spcAft>
            </a:pPr>
            <a:r>
              <a:rPr sz="1040" b="0" i="0">
                <a:solidFill>
                  <a:srgbClr val="F6F1E4"/>
                </a:solidFill>
                <a:latin typeface="Arial"/>
              </a:rPr>
              <a:t>informed consent captured after a mandatory cooling window;</a:t>
            </a:r>
          </a:p>
          <a:p>
            <a:pPr algn="l">
              <a:lnSpc>
                <a:spcPct val="120000"/>
              </a:lnSpc>
              <a:spcAft>
                <a:spcPts val="300"/>
              </a:spcAft>
            </a:pPr>
            <a:r>
              <a:rPr sz="1040" b="0" i="0">
                <a:solidFill>
                  <a:srgbClr val="F6F1E4"/>
                </a:solidFill>
                <a:latin typeface="Arial"/>
              </a:rPr>
              <a:t/>
            </a:r>
          </a:p>
          <a:p>
            <a:pPr algn="l">
              <a:lnSpc>
                <a:spcPct val="120000"/>
              </a:lnSpc>
              <a:spcAft>
                <a:spcPts val="300"/>
              </a:spcAft>
            </a:pPr>
            <a:r>
              <a:rPr sz="1040" b="0" i="0">
                <a:solidFill>
                  <a:srgbClr val="F6F1E4"/>
                </a:solidFill>
                <a:latin typeface="Arial"/>
              </a:rPr>
              <a:t>a documented, member-initiated termination path with restitution arithmetic that is published rather than discretionary;</a:t>
            </a:r>
          </a:p>
          <a:p>
            <a:pPr algn="l">
              <a:lnSpc>
                <a:spcPct val="120000"/>
              </a:lnSpc>
              <a:spcAft>
                <a:spcPts val="300"/>
              </a:spcAft>
            </a:pPr>
            <a:r>
              <a:rPr sz="1040" b="0" i="0">
                <a:solidFill>
                  <a:srgbClr val="F6F1E4"/>
                </a:solidFill>
                <a:latin typeface="Arial"/>
              </a:rPr>
              <a:t/>
            </a:r>
          </a:p>
          <a:p>
            <a:pPr algn="l">
              <a:lnSpc>
                <a:spcPct val="120000"/>
              </a:lnSpc>
              <a:spcAft>
                <a:spcPts val="300"/>
              </a:spcAft>
            </a:pPr>
            <a:r>
              <a:rPr sz="1040" b="0" i="0">
                <a:solidFill>
                  <a:srgbClr val="F6F1E4"/>
                </a:solidFill>
                <a:latin typeface="Arial"/>
              </a:rPr>
              <a:t>an affordability gate stricter than the regulator’s own debt-burden ratio, 33% against 40%;</a:t>
            </a:r>
          </a:p>
          <a:p>
            <a:pPr algn="l">
              <a:lnSpc>
                <a:spcPct val="120000"/>
              </a:lnSpc>
              <a:spcAft>
                <a:spcPts val="300"/>
              </a:spcAft>
            </a:pPr>
            <a:r>
              <a:rPr sz="1040" b="0" i="0">
                <a:solidFill>
                  <a:srgbClr val="F6F1E4"/>
                </a:solidFill>
                <a:latin typeface="Arial"/>
              </a:rPr>
              <a:t/>
            </a:r>
          </a:p>
          <a:p>
            <a:pPr algn="l">
              <a:lnSpc>
                <a:spcPct val="120000"/>
              </a:lnSpc>
              <a:spcAft>
                <a:spcPts val="300"/>
              </a:spcAft>
            </a:pPr>
            <a:r>
              <a:rPr sz="1040" b="0" i="0">
                <a:solidFill>
                  <a:srgbClr val="F6F1E4"/>
                </a:solidFill>
                <a:latin typeface="Arial"/>
              </a:rPr>
              <a:t>a hardship route ending in a waived fine rather than a collections call.</a:t>
            </a:r>
          </a:p>
        </p:txBody>
      </p:sp>
      <p:sp>
        <p:nvSpPr>
          <p:cNvPr id="51" name="TextBox 50"/>
          <p:cNvSpPr txBox="1"/>
          <p:nvPr/>
        </p:nvSpPr>
        <p:spPr>
          <a:xfrm>
            <a:off x="566928" y="5577840"/>
            <a:ext cx="6858000" cy="731520"/>
          </a:xfrm>
          <a:prstGeom prst="rect">
            <a:avLst/>
          </a:prstGeom>
          <a:noFill/>
        </p:spPr>
        <p:txBody>
          <a:bodyPr wrap="square" lIns="0" rIns="0" tIns="0" bIns="0" anchor="t">
            <a:spAutoFit/>
          </a:bodyPr>
          <a:lstStyle/>
          <a:p>
            <a:pPr algn="l">
              <a:lnSpc>
                <a:spcPct val="122000"/>
              </a:lnSpc>
              <a:spcAft>
                <a:spcPts val="400"/>
              </a:spcAft>
            </a:pPr>
            <a:r>
              <a:rPr sz="1140" b="0" i="0">
                <a:solidFill>
                  <a:srgbClr val="0E1512"/>
                </a:solidFill>
                <a:latin typeface="Arial"/>
              </a:rPr>
              <a:t>Read that list against the accusations that removed 400 lending apps — lending beyond capacity, collecting by pressure, hoarding personal data — and it inverts every one. That is the substance behind the first-clean-actor approach: not a claim of good intentions, but four mechanisms, each with a number attached.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05 · THE DISCIPLINE LAYER</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There is no cancel button</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A committee where leaving is free has stopped being a commitment device. So exit is a ladder, and the platform pushes hard toward the rung that harms nobody.</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29</a:t>
            </a:r>
          </a:p>
        </p:txBody>
      </p:sp>
      <p:sp>
        <p:nvSpPr>
          <p:cNvPr id="18" name="TextBox 17"/>
          <p:cNvSpPr txBox="1"/>
          <p:nvPr/>
        </p:nvSpPr>
        <p:spPr>
          <a:xfrm>
            <a:off x="566928" y="170078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18   The five levels of exit</a:t>
            </a:r>
          </a:p>
        </p:txBody>
      </p:sp>
      <p:graphicFrame>
        <p:nvGraphicFramePr>
          <p:cNvPr id="19" name="Table 18"/>
          <p:cNvGraphicFramePr>
            <a:graphicFrameLocks noGrp="1"/>
          </p:cNvGraphicFramePr>
          <p:nvPr/>
        </p:nvGraphicFramePr>
        <p:xfrm>
          <a:off x="566928" y="1920240"/>
          <a:ext cx="11057836" cy="3412906"/>
        </p:xfrm>
        <a:graphic>
          <a:graphicData uri="http://schemas.openxmlformats.org/drawingml/2006/table">
            <a:tbl>
              <a:tblPr>
                <a:tableStyleId>{5C22544A-7EE6-4342-B048-85BDC9FD1C3A}</a:tableStyleId>
              </a:tblPr>
              <a:tblGrid>
                <a:gridCol w="442313"/>
                <a:gridCol w="1769254"/>
                <a:gridCol w="5086605"/>
                <a:gridCol w="1658675"/>
                <a:gridCol w="2100989"/>
              </a:tblGrid>
              <a:tr h="578266">
                <a:tc>
                  <a:txBody>
                    <a:bodyPr wrap="square"/>
                    <a:lstStyle/>
                    <a:p>
                      <a:pPr algn="l"/>
                      <a:r>
                        <a:rPr sz="960" b="1">
                          <a:solidFill>
                            <a:srgbClr val="F6F1E4"/>
                          </a:solidFill>
                          <a:latin typeface="Arial"/>
                        </a:rPr>
                        <a: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Level</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Mechanism</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Fine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Destination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E1512"/>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Window withdrawal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During the 24-hour CONFIRMING window. Free, silent, unrecorded.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None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E1512"/>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Substitution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A replacement takes the seat and pays the leaver their contributions to date, member to member. Target: about 90% of exits.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None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 group unharmed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E1512"/>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Group-approved exit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No replacement. The member states a reason; a majority must approve. Contributions restored at the end of the cycle.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One installment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70% to remaining members, 30% platform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E1512"/>
                          </a:solidFill>
                          <a:latin typeface="Arial"/>
                        </a:rPr>
                        <a:t>4</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Hardship exit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Recorded statement to the helpline, evidence reviewed. Annotated hardship, not default — and that distinction survives into the Passport.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Waived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E1512"/>
                          </a:solidFill>
                          <a:latin typeface="Arial"/>
                        </a:rPr>
                        <a:t>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Abandonment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Not an exit. Full late-fee ladder, feature lock, recovery case. Restitution withheld and set off against what is owed.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Ladder + 10% rehabilitation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E1512"/>
                          </a:solidFill>
                          <a:latin typeface="Arial"/>
                        </a:rPr>
                        <a:t>Platform, or circle pool on Shariah circles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5504688"/>
            <a:ext cx="45720" cy="86868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5522976"/>
            <a:ext cx="5120640" cy="914400"/>
          </a:xfrm>
          <a:prstGeom prst="rect">
            <a:avLst/>
          </a:prstGeom>
          <a:noFill/>
        </p:spPr>
        <p:txBody>
          <a:bodyPr wrap="square" lIns="0" rIns="0" tIns="0" bIns="0" anchor="t">
            <a:spAutoFit/>
          </a:bodyPr>
          <a:lstStyle/>
          <a:p>
            <a:pPr algn="l">
              <a:lnSpc>
                <a:spcPct val="120000"/>
              </a:lnSpc>
              <a:spcAft>
                <a:spcPts val="200"/>
              </a:spcAft>
            </a:pPr>
            <a:r>
              <a:rPr sz="1060" b="0" i="0">
                <a:solidFill>
                  <a:srgbClr val="0E1512"/>
                </a:solidFill>
                <a:latin typeface="Arial"/>
              </a:rPr>
              <a:t>The 24-hour window</a:t>
            </a:r>
          </a:p>
          <a:p>
            <a:pPr algn="l">
              <a:lnSpc>
                <a:spcPct val="120000"/>
              </a:lnSpc>
              <a:spcAft>
                <a:spcPts val="200"/>
              </a:spcAft>
            </a:pPr>
            <a:r>
              <a:rPr sz="1060" b="0" i="0">
                <a:solidFill>
                  <a:srgbClr val="0E1512"/>
                </a:solidFill>
                <a:latin typeface="Arial"/>
              </a:rPr>
              <a:t/>
            </a:r>
          </a:p>
          <a:p>
            <a:pPr algn="l">
              <a:lnSpc>
                <a:spcPct val="120000"/>
              </a:lnSpc>
              <a:spcAft>
                <a:spcPts val="200"/>
              </a:spcAft>
            </a:pPr>
            <a:r>
              <a:rPr sz="1060" b="0" i="0">
                <a:solidFill>
                  <a:srgbClr val="0E1512"/>
                </a:solidFill>
                <a:latin typeface="Arial"/>
              </a:rPr>
              <a:t>A new state, CONFIRMING, between FORMING and ACTIVE. The roster locks, agreements are signed, and any member may withdraw with no fine, no score effect and no record. It runs from Start, not from each member’s join, so everyone reconsiders together.</a:t>
            </a:r>
          </a:p>
        </p:txBody>
      </p:sp>
      <p:sp>
        <p:nvSpPr>
          <p:cNvPr id="22" name="Rectangle 21"/>
          <p:cNvSpPr/>
          <p:nvPr/>
        </p:nvSpPr>
        <p:spPr>
          <a:xfrm>
            <a:off x="6327648" y="5504688"/>
            <a:ext cx="45720" cy="86868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56248" y="5522976"/>
            <a:ext cx="5029200" cy="914400"/>
          </a:xfrm>
          <a:prstGeom prst="rect">
            <a:avLst/>
          </a:prstGeom>
          <a:noFill/>
        </p:spPr>
        <p:txBody>
          <a:bodyPr wrap="square" lIns="0" rIns="0" tIns="0" bIns="0" anchor="t">
            <a:spAutoFit/>
          </a:bodyPr>
          <a:lstStyle/>
          <a:p>
            <a:pPr algn="l">
              <a:lnSpc>
                <a:spcPct val="120000"/>
              </a:lnSpc>
              <a:spcAft>
                <a:spcPts val="200"/>
              </a:spcAft>
            </a:pPr>
            <a:r>
              <a:rPr sz="1060" b="0" i="0">
                <a:solidFill>
                  <a:srgbClr val="0E1512"/>
                </a:solidFill>
                <a:latin typeface="Arial"/>
              </a:rPr>
              <a:t>The boundary</a:t>
            </a:r>
          </a:p>
          <a:p>
            <a:pPr algn="l">
              <a:lnSpc>
                <a:spcPct val="120000"/>
              </a:lnSpc>
              <a:spcAft>
                <a:spcPts val="200"/>
              </a:spcAft>
            </a:pPr>
            <a:r>
              <a:rPr sz="1060" b="0" i="0">
                <a:solidFill>
                  <a:srgbClr val="0E1512"/>
                </a:solidFill>
                <a:latin typeface="Arial"/>
              </a:rPr>
              <a:t/>
            </a:r>
          </a:p>
          <a:p>
            <a:pPr algn="l">
              <a:lnSpc>
                <a:spcPct val="120000"/>
              </a:lnSpc>
              <a:spcAft>
                <a:spcPts val="200"/>
              </a:spcAft>
            </a:pPr>
            <a:r>
              <a:rPr sz="1060" b="0" i="0">
                <a:solidFill>
                  <a:srgbClr val="0E1512"/>
                </a:solidFill>
                <a:latin typeface="Arial"/>
              </a:rPr>
              <a:t>All of this governs members who have not yet collected. A member who takes the pot and stops paying is post-payout default — the −200 event and a recovery case. Precedent for the window: SBP already mandates a two-hour cooling period on branchless-banking cash-outs.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05 · THE DISCIPLINE LAYER</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restitution arithmetic — the key engineering result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 chairman’s rule is that a leaver’s money returns at the end of the cycle. Halqa holds no pool, so there is nothing to refund from. The resolution is that the members who already collected are precisely who owes it.</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30</a:t>
            </a:r>
          </a:p>
        </p:txBody>
      </p:sp>
      <p:sp>
        <p:nvSpPr>
          <p:cNvPr id="18" name="TextBox 17"/>
          <p:cNvSpPr txBox="1"/>
          <p:nvPr/>
        </p:nvSpPr>
        <p:spPr>
          <a:xfrm>
            <a:off x="566928" y="1920240"/>
            <a:ext cx="6309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19   Twelve members, Rs 10,000 each. Seat 9 leaves after round 4 having paid Rs 40,000, collected nothing, no replacement found.</a:t>
            </a:r>
          </a:p>
        </p:txBody>
      </p:sp>
      <p:sp>
        <p:nvSpPr>
          <p:cNvPr id="19" name="Rectangle 18"/>
          <p:cNvSpPr/>
          <p:nvPr/>
        </p:nvSpPr>
        <p:spPr>
          <a:xfrm>
            <a:off x="566928" y="2267712"/>
            <a:ext cx="6309360" cy="201168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8096" y="2432304"/>
            <a:ext cx="5943600" cy="1828800"/>
          </a:xfrm>
          <a:prstGeom prst="rect">
            <a:avLst/>
          </a:prstGeom>
          <a:noFill/>
        </p:spPr>
        <p:txBody>
          <a:bodyPr wrap="square" lIns="0" rIns="0" tIns="0" bIns="0" anchor="t">
            <a:spAutoFit/>
          </a:bodyPr>
          <a:lstStyle/>
          <a:p>
            <a:pPr algn="l">
              <a:lnSpc>
                <a:spcPct val="124000"/>
              </a:lnSpc>
              <a:spcAft>
                <a:spcPts val="200"/>
              </a:spcAft>
            </a:pPr>
            <a:r>
              <a:rPr sz="1040" b="0" i="0">
                <a:solidFill>
                  <a:srgbClr val="0E1512"/>
                </a:solidFill>
                <a:latin typeface="Consolas"/>
              </a:rPr>
              <a:t>Circle contracts to 11 payers  →  remaining pots = 11 × 10,000 = Rs 110,000</a:t>
            </a:r>
          </a:p>
          <a:p>
            <a:pPr algn="l">
              <a:lnSpc>
                <a:spcPct val="124000"/>
              </a:lnSpc>
              <a:spcAft>
                <a:spcPts val="200"/>
              </a:spcAft>
            </a:pPr>
            <a:r>
              <a:rPr sz="1040" b="0" i="0">
                <a:solidFill>
                  <a:srgbClr val="0E1512"/>
                </a:solidFill>
                <a:latin typeface="Consolas"/>
              </a:rPr>
              <a:t/>
            </a:r>
          </a:p>
          <a:p>
            <a:pPr algn="l">
              <a:lnSpc>
                <a:spcPct val="124000"/>
              </a:lnSpc>
              <a:spcAft>
                <a:spcPts val="200"/>
              </a:spcAft>
            </a:pPr>
            <a:r>
              <a:rPr sz="1040" b="0" i="0">
                <a:solidFill>
                  <a:srgbClr val="0E1512"/>
                </a:solidFill>
                <a:latin typeface="Consolas"/>
              </a:rPr>
              <a:t>Seat 11, never collected:   pays 110,000, receives 110,000   →  square</a:t>
            </a:r>
          </a:p>
          <a:p>
            <a:pPr algn="l">
              <a:lnSpc>
                <a:spcPct val="124000"/>
              </a:lnSpc>
              <a:spcAft>
                <a:spcPts val="200"/>
              </a:spcAft>
            </a:pPr>
            <a:r>
              <a:rPr sz="1040" b="0" i="0">
                <a:solidFill>
                  <a:srgbClr val="0E1512"/>
                </a:solidFill>
                <a:latin typeface="Consolas"/>
              </a:rPr>
              <a:t>Seat 3, collected 120,000:  pays 110,000                     →  ahead by 10,000</a:t>
            </a:r>
          </a:p>
          <a:p>
            <a:pPr algn="l">
              <a:lnSpc>
                <a:spcPct val="124000"/>
              </a:lnSpc>
              <a:spcAft>
                <a:spcPts val="200"/>
              </a:spcAft>
            </a:pPr>
            <a:r>
              <a:rPr sz="1040" b="0" i="0">
                <a:solidFill>
                  <a:srgbClr val="0E1512"/>
                </a:solidFill>
                <a:latin typeface="Consolas"/>
              </a:rPr>
              <a:t/>
            </a:r>
          </a:p>
          <a:p>
            <a:pPr algn="l">
              <a:lnSpc>
                <a:spcPct val="124000"/>
              </a:lnSpc>
              <a:spcAft>
                <a:spcPts val="200"/>
              </a:spcAft>
            </a:pPr>
            <a:r>
              <a:rPr sz="1040" b="0" i="0">
                <a:solidFill>
                  <a:srgbClr val="0E1512"/>
                </a:solidFill>
                <a:latin typeface="Consolas"/>
              </a:rPr>
              <a:t>Seats 1, 2, 3, 4 each ahead by 10,000  =  Rs 40,000</a:t>
            </a:r>
          </a:p>
          <a:p>
            <a:pPr algn="l">
              <a:lnSpc>
                <a:spcPct val="124000"/>
              </a:lnSpc>
              <a:spcAft>
                <a:spcPts val="200"/>
              </a:spcAft>
            </a:pPr>
            <a:r>
              <a:rPr sz="1040" b="0" i="0">
                <a:solidFill>
                  <a:srgbClr val="0E1512"/>
                </a:solidFill>
                <a:latin typeface="Consolas"/>
              </a:rPr>
              <a:t>                                       =  exactly what the leaver is owed</a:t>
            </a:r>
          </a:p>
        </p:txBody>
      </p:sp>
      <p:sp>
        <p:nvSpPr>
          <p:cNvPr id="21" name="Rectangle 20"/>
          <p:cNvSpPr/>
          <p:nvPr/>
        </p:nvSpPr>
        <p:spPr>
          <a:xfrm>
            <a:off x="566928" y="4480560"/>
            <a:ext cx="6309360" cy="658368"/>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8096" y="4590288"/>
            <a:ext cx="5943600" cy="457200"/>
          </a:xfrm>
          <a:prstGeom prst="rect">
            <a:avLst/>
          </a:prstGeom>
          <a:noFill/>
        </p:spPr>
        <p:txBody>
          <a:bodyPr wrap="square" lIns="0" rIns="0" tIns="0" bIns="0" anchor="t">
            <a:spAutoFit/>
          </a:bodyPr>
          <a:lstStyle/>
          <a:p>
            <a:pPr algn="l">
              <a:lnSpc>
                <a:spcPct val="118000"/>
              </a:lnSpc>
              <a:spcAft>
                <a:spcPts val="400"/>
              </a:spcAft>
            </a:pPr>
            <a:r>
              <a:rPr sz="1120" b="0" i="0">
                <a:solidFill>
                  <a:srgbClr val="F6F1E4"/>
                </a:solidFill>
                <a:latin typeface="Arial"/>
              </a:rPr>
              <a:t>Where a member exits before collecting having paid p installments, each member who collected in rounds 1 to p owes the leaver exactly c, settled at completion.</a:t>
            </a:r>
          </a:p>
        </p:txBody>
      </p:sp>
      <p:sp>
        <p:nvSpPr>
          <p:cNvPr id="23" name="TextBox 22"/>
          <p:cNvSpPr txBox="1"/>
          <p:nvPr/>
        </p:nvSpPr>
        <p:spPr>
          <a:xfrm>
            <a:off x="566928" y="5321808"/>
            <a:ext cx="6309360" cy="365760"/>
          </a:xfrm>
          <a:prstGeom prst="rect">
            <a:avLst/>
          </a:prstGeom>
          <a:noFill/>
        </p:spPr>
        <p:txBody>
          <a:bodyPr wrap="square" lIns="0" rIns="0" tIns="0" bIns="0">
            <a:spAutoFit/>
          </a:bodyPr>
          <a:lstStyle/>
          <a:p>
            <a:pPr>
              <a:lnSpc>
                <a:spcPct val="106000"/>
              </a:lnSpc>
              <a:spcAft>
                <a:spcPts val="500"/>
              </a:spcAft>
            </a:pPr>
            <a:r>
              <a:rPr sz="1060" b="1">
                <a:solidFill>
                  <a:srgbClr val="D9A93C"/>
                </a:solidFill>
                <a:latin typeface="Georgia"/>
              </a:rPr>
              <a:t>|  </a:t>
            </a:r>
            <a:r>
              <a:rPr sz="1060" b="1">
                <a:solidFill>
                  <a:srgbClr val="123D30"/>
                </a:solidFill>
                <a:latin typeface="Arial"/>
              </a:rPr>
              <a:t>Total is p × c, nominal, with no time value  </a:t>
            </a:r>
            <a:r>
              <a:rPr sz="1060">
                <a:solidFill>
                  <a:srgbClr val="0E1512"/>
                </a:solidFill>
                <a:latin typeface="Arial"/>
              </a:rPr>
              <a:t>and the absence of time value is the deterrent.</a:t>
            </a:r>
          </a:p>
          <a:p>
            <a:pPr>
              <a:lnSpc>
                <a:spcPct val="106000"/>
              </a:lnSpc>
              <a:spcAft>
                <a:spcPts val="500"/>
              </a:spcAft>
            </a:pPr>
            <a:r>
              <a:rPr sz="1060" b="1">
                <a:solidFill>
                  <a:srgbClr val="D9A93C"/>
                </a:solidFill>
                <a:latin typeface="Georgia"/>
              </a:rPr>
              <a:t>|  </a:t>
            </a:r>
            <a:r>
              <a:rPr sz="1060" b="1">
                <a:solidFill>
                  <a:srgbClr val="123D30"/>
                </a:solidFill>
                <a:latin typeface="Arial"/>
              </a:rPr>
              <a:t>Ledger invariant at close  </a:t>
            </a:r>
            <a:r>
              <a:rPr sz="1060">
                <a:solidFill>
                  <a:srgbClr val="0E1512"/>
                </a:solidFill>
                <a:latin typeface="Arial"/>
              </a:rPr>
              <a:t>every continuing member ends at received minus paid equal to zero, and every exited member is returned to zero. Recursive for multiple exits.</a:t>
            </a:r>
          </a:p>
        </p:txBody>
      </p:sp>
      <p:sp>
        <p:nvSpPr>
          <p:cNvPr id="24" name="Rectangle 23"/>
          <p:cNvSpPr/>
          <p:nvPr/>
        </p:nvSpPr>
        <p:spPr>
          <a:xfrm>
            <a:off x="7242048" y="2267712"/>
            <a:ext cx="4343400" cy="1691640"/>
          </a:xfrm>
          <a:prstGeom prst="rect">
            <a:avLst/>
          </a:prstGeom>
          <a:solidFill>
            <a:srgbClr val="FFFFFF"/>
          </a:solidFill>
          <a:ln w="13970">
            <a:solidFill>
              <a:srgbClr val="8C2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43216" y="2432304"/>
            <a:ext cx="3931920" cy="1463040"/>
          </a:xfrm>
          <a:prstGeom prst="rect">
            <a:avLst/>
          </a:prstGeom>
          <a:noFill/>
        </p:spPr>
        <p:txBody>
          <a:bodyPr wrap="square" lIns="0" rIns="0" tIns="0" bIns="0" anchor="t">
            <a:spAutoFit/>
          </a:bodyPr>
          <a:lstStyle/>
          <a:p>
            <a:pPr algn="l">
              <a:lnSpc>
                <a:spcPct val="120000"/>
              </a:lnSpc>
              <a:spcAft>
                <a:spcPts val="300"/>
              </a:spcAft>
            </a:pPr>
            <a:r>
              <a:rPr sz="1080" b="0" i="0">
                <a:solidFill>
                  <a:srgbClr val="0E1512"/>
                </a:solidFill>
                <a:latin typeface="Arial"/>
              </a:rPr>
              <a:t>The harm that is real, and why the fine exists</a:t>
            </a:r>
          </a:p>
          <a:p>
            <a:pPr algn="l">
              <a:lnSpc>
                <a:spcPct val="120000"/>
              </a:lnSpc>
              <a:spcAft>
                <a:spcPts val="300"/>
              </a:spcAft>
            </a:pPr>
            <a:r>
              <a:rPr sz="1080" b="0" i="0">
                <a:solidFill>
                  <a:srgbClr val="0E1512"/>
                </a:solidFill>
                <a:latin typeface="Arial"/>
              </a:rPr>
              <a:t/>
            </a:r>
          </a:p>
          <a:p>
            <a:pPr algn="l">
              <a:lnSpc>
                <a:spcPct val="120000"/>
              </a:lnSpc>
              <a:spcAft>
                <a:spcPts val="300"/>
              </a:spcAft>
            </a:pPr>
            <a:r>
              <a:rPr sz="1080" b="0" i="0">
                <a:solidFill>
                  <a:srgbClr val="0E1512"/>
                </a:solidFill>
                <a:latin typeface="Arial"/>
              </a:rPr>
              <a:t>A mid-cycle exit shrinks every remaining pot by one contribution. A member expecting Rs 120,000 for a wedding now receives Rs 110,000. That is why exits need group consent and why level 3 carries a fine.</a:t>
            </a:r>
          </a:p>
        </p:txBody>
      </p:sp>
      <p:sp>
        <p:nvSpPr>
          <p:cNvPr id="26" name="TextBox 25"/>
          <p:cNvSpPr txBox="1"/>
          <p:nvPr/>
        </p:nvSpPr>
        <p:spPr>
          <a:xfrm>
            <a:off x="7242048" y="4160520"/>
            <a:ext cx="43434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The group vote</a:t>
            </a:r>
          </a:p>
        </p:txBody>
      </p:sp>
      <p:sp>
        <p:nvSpPr>
          <p:cNvPr id="27" name="TextBox 26"/>
          <p:cNvSpPr txBox="1"/>
          <p:nvPr/>
        </p:nvSpPr>
        <p:spPr>
          <a:xfrm>
            <a:off x="7242048" y="4480560"/>
            <a:ext cx="4343400" cy="365760"/>
          </a:xfrm>
          <a:prstGeom prst="rect">
            <a:avLst/>
          </a:prstGeom>
          <a:noFill/>
        </p:spPr>
        <p:txBody>
          <a:bodyPr wrap="square" lIns="0" rIns="0" tIns="0" bIns="0">
            <a:spAutoFit/>
          </a:bodyPr>
          <a:lstStyle/>
          <a:p>
            <a:pPr>
              <a:lnSpc>
                <a:spcPct val="106000"/>
              </a:lnSpc>
              <a:spcAft>
                <a:spcPts val="500"/>
              </a:spcAft>
            </a:pPr>
            <a:r>
              <a:rPr sz="1000" b="1">
                <a:solidFill>
                  <a:srgbClr val="D9A93C"/>
                </a:solidFill>
                <a:latin typeface="Georgia"/>
              </a:rPr>
              <a:t>|  </a:t>
            </a:r>
            <a:r>
              <a:rPr sz="1000">
                <a:solidFill>
                  <a:srgbClr val="0E1512"/>
                </a:solidFill>
                <a:latin typeface="Arial"/>
              </a:rPr>
              <a:t>Written reason plus an optional voice note — only 31% can send or receive a text message</a:t>
            </a:r>
          </a:p>
          <a:p>
            <a:pPr>
              <a:lnSpc>
                <a:spcPct val="106000"/>
              </a:lnSpc>
              <a:spcAft>
                <a:spcPts val="500"/>
              </a:spcAft>
            </a:pPr>
            <a:r>
              <a:rPr sz="1000" b="1">
                <a:solidFill>
                  <a:srgbClr val="D9A93C"/>
                </a:solidFill>
                <a:latin typeface="Georgia"/>
              </a:rPr>
              <a:t>|  </a:t>
            </a:r>
            <a:r>
              <a:rPr sz="1000">
                <a:solidFill>
                  <a:srgbClr val="0E1512"/>
                </a:solidFill>
                <a:latin typeface="Arial"/>
              </a:rPr>
              <a:t>72-hour window, simple majority of votes cast, excluding the requester, 50% quorum</a:t>
            </a:r>
          </a:p>
          <a:p>
            <a:pPr>
              <a:lnSpc>
                <a:spcPct val="106000"/>
              </a:lnSpc>
              <a:spcAft>
                <a:spcPts val="500"/>
              </a:spcAft>
            </a:pPr>
            <a:r>
              <a:rPr sz="1000" b="1">
                <a:solidFill>
                  <a:srgbClr val="D9A93C"/>
                </a:solidFill>
                <a:latin typeface="Georgia"/>
              </a:rPr>
              <a:t>|  </a:t>
            </a:r>
            <a:r>
              <a:rPr sz="1000">
                <a:solidFill>
                  <a:srgbClr val="0E1512"/>
                </a:solidFill>
                <a:latin typeface="Arial"/>
              </a:rPr>
              <a:t>If quorum fails it escalates to Halqa review rather than failing — a member must not be trapped because peers did not open the app</a:t>
            </a:r>
          </a:p>
          <a:p>
            <a:pPr>
              <a:lnSpc>
                <a:spcPct val="106000"/>
              </a:lnSpc>
              <a:spcAft>
                <a:spcPts val="500"/>
              </a:spcAft>
            </a:pPr>
            <a:r>
              <a:rPr sz="1000" b="1">
                <a:solidFill>
                  <a:srgbClr val="D9A93C"/>
                </a:solidFill>
                <a:latin typeface="Georgia"/>
              </a:rPr>
              <a:t>|  </a:t>
            </a:r>
            <a:r>
              <a:rPr sz="1000">
                <a:solidFill>
                  <a:srgbClr val="0E1512"/>
                </a:solidFill>
                <a:latin typeface="Arial"/>
              </a:rPr>
              <a:t>The host votes as one member and breaks ties. No veto, no unilateral approval.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05 · THE DISCIPLINE LAYER</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affordability engine is stricter than the regulator</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SBP caps consumer-financing debt burden at 40% of disposable income. Halqa goes below that, for three reasons that are specific to this instrument.</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31</a:t>
            </a:r>
          </a:p>
        </p:txBody>
      </p:sp>
      <p:sp>
        <p:nvSpPr>
          <p:cNvPr id="18" name="TextBox 17"/>
          <p:cNvSpPr txBox="1"/>
          <p:nvPr/>
        </p:nvSpPr>
        <p:spPr>
          <a:xfrm>
            <a:off x="566928" y="1773936"/>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20   The three caps</a:t>
            </a:r>
          </a:p>
        </p:txBody>
      </p:sp>
      <p:graphicFrame>
        <p:nvGraphicFramePr>
          <p:cNvPr id="19" name="Table 18"/>
          <p:cNvGraphicFramePr>
            <a:graphicFrameLocks noGrp="1"/>
          </p:cNvGraphicFramePr>
          <p:nvPr/>
        </p:nvGraphicFramePr>
        <p:xfrm>
          <a:off x="566928" y="1993392"/>
          <a:ext cx="6766559" cy="2058497"/>
        </p:xfrm>
        <a:graphic>
          <a:graphicData uri="http://schemas.openxmlformats.org/drawingml/2006/table">
            <a:tbl>
              <a:tblPr>
                <a:tableStyleId>{5C22544A-7EE6-4342-B048-85BDC9FD1C3A}</a:tableStyleId>
              </a:tblPr>
              <a:tblGrid>
                <a:gridCol w="1488643"/>
                <a:gridCol w="5277916"/>
              </a:tblGrid>
              <a:tr h="522305">
                <a:tc>
                  <a:txBody>
                    <a:bodyPr wrap="square"/>
                    <a:lstStyle/>
                    <a:p>
                      <a:pPr algn="l"/>
                      <a:r>
                        <a:rPr sz="960" b="1">
                          <a:solidFill>
                            <a:srgbClr val="F6F1E4"/>
                          </a:solidFill>
                          <a:latin typeface="Arial"/>
                        </a:rPr>
                        <a:t>Cap</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Rule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Cash-flow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Sum of contributions ≤ 33% of net monthly income, and contributions plus known debt service ≤ 40%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Forward exposure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Sum of L(k) ≤ 4 × net monthly income — the worst case where every circle pays out early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Concurrency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Members: 1 unverified, up to 4 verified. Hosts: 2 unproven, 5 with clean history, then manual review — which is also the anti-Ponzi control.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TextBox 19"/>
          <p:cNvSpPr txBox="1"/>
          <p:nvPr/>
        </p:nvSpPr>
        <p:spPr>
          <a:xfrm>
            <a:off x="566928" y="3785615"/>
            <a:ext cx="6766560" cy="365760"/>
          </a:xfrm>
          <a:prstGeom prst="rect">
            <a:avLst/>
          </a:prstGeom>
          <a:noFill/>
        </p:spPr>
        <p:txBody>
          <a:bodyPr wrap="square" lIns="0" rIns="0" tIns="0" bIns="0">
            <a:spAutoFit/>
          </a:bodyPr>
          <a:lstStyle/>
          <a:p>
            <a:pPr>
              <a:lnSpc>
                <a:spcPct val="106000"/>
              </a:lnSpc>
              <a:spcAft>
                <a:spcPts val="600"/>
              </a:spcAft>
            </a:pPr>
            <a:r>
              <a:rPr sz="1100" b="1">
                <a:solidFill>
                  <a:srgbClr val="D9A93C"/>
                </a:solidFill>
                <a:latin typeface="Georgia"/>
              </a:rPr>
              <a:t>|  </a:t>
            </a:r>
            <a:r>
              <a:rPr sz="1100" b="1">
                <a:solidFill>
                  <a:srgbClr val="123D30"/>
                </a:solidFill>
                <a:latin typeface="Arial"/>
              </a:rPr>
              <a:t>Committee obligations outrank rent  </a:t>
            </a:r>
            <a:r>
              <a:rPr sz="1100">
                <a:solidFill>
                  <a:srgbClr val="0E1512"/>
                </a:solidFill>
                <a:latin typeface="Arial"/>
              </a:rPr>
              <a:t>so they crowd out everything else in the household.</a:t>
            </a:r>
          </a:p>
          <a:p>
            <a:pPr>
              <a:lnSpc>
                <a:spcPct val="106000"/>
              </a:lnSpc>
              <a:spcAft>
                <a:spcPts val="600"/>
              </a:spcAft>
            </a:pPr>
            <a:r>
              <a:rPr sz="1100" b="1">
                <a:solidFill>
                  <a:srgbClr val="D9A93C"/>
                </a:solidFill>
                <a:latin typeface="Georgia"/>
              </a:rPr>
              <a:t>|  </a:t>
            </a:r>
            <a:r>
              <a:rPr sz="1100" b="1">
                <a:solidFill>
                  <a:srgbClr val="123D30"/>
                </a:solidFill>
                <a:latin typeface="Arial"/>
              </a:rPr>
              <a:t>Members hold offline committees no bureau sees  </a:t>
            </a:r>
            <a:r>
              <a:rPr sz="1100">
                <a:solidFill>
                  <a:srgbClr val="0E1512"/>
                </a:solidFill>
                <a:latin typeface="Arial"/>
              </a:rPr>
              <a:t>the declared picture is always incomplete.</a:t>
            </a:r>
          </a:p>
          <a:p>
            <a:pPr>
              <a:lnSpc>
                <a:spcPct val="106000"/>
              </a:lnSpc>
              <a:spcAft>
                <a:spcPts val="600"/>
              </a:spcAft>
            </a:pPr>
            <a:r>
              <a:rPr sz="1100" b="1">
                <a:solidFill>
                  <a:srgbClr val="D9A93C"/>
                </a:solidFill>
                <a:latin typeface="Georgia"/>
              </a:rPr>
              <a:t>|  </a:t>
            </a:r>
            <a:r>
              <a:rPr sz="1100" b="1">
                <a:solidFill>
                  <a:srgbClr val="123D30"/>
                </a:solidFill>
                <a:latin typeface="Arial"/>
              </a:rPr>
              <a:t>The loss lands on eleven neighbours  </a:t>
            </a:r>
            <a:r>
              <a:rPr sz="1100">
                <a:solidFill>
                  <a:srgbClr val="0E1512"/>
                </a:solidFill>
                <a:latin typeface="Arial"/>
              </a:rPr>
              <a:t>not on a balance sheet that priced for it.</a:t>
            </a:r>
          </a:p>
        </p:txBody>
      </p:sp>
      <p:sp>
        <p:nvSpPr>
          <p:cNvPr id="21" name="Rectangle 20"/>
          <p:cNvSpPr/>
          <p:nvPr/>
        </p:nvSpPr>
        <p:spPr>
          <a:xfrm>
            <a:off x="7699248" y="1993392"/>
            <a:ext cx="3886200" cy="214884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927848" y="2194560"/>
            <a:ext cx="3429000" cy="1783080"/>
          </a:xfrm>
          <a:prstGeom prst="rect">
            <a:avLst/>
          </a:prstGeom>
          <a:noFill/>
        </p:spPr>
        <p:txBody>
          <a:bodyPr wrap="square" lIns="0" rIns="0" tIns="0" bIns="0" anchor="t">
            <a:spAutoFit/>
          </a:bodyPr>
          <a:lstStyle/>
          <a:p>
            <a:pPr algn="l">
              <a:lnSpc>
                <a:spcPct val="120000"/>
              </a:lnSpc>
              <a:spcAft>
                <a:spcPts val="300"/>
              </a:spcAft>
            </a:pPr>
            <a:r>
              <a:rPr sz="1040" b="0" i="0">
                <a:solidFill>
                  <a:srgbClr val="F6F1E4"/>
                </a:solidFill>
                <a:latin typeface="Arial"/>
              </a:rPr>
              <a:t>The discipline taken from the progressive-lending literature</a:t>
            </a:r>
          </a:p>
          <a:p>
            <a:pPr algn="l">
              <a:lnSpc>
                <a:spcPct val="120000"/>
              </a:lnSpc>
              <a:spcAft>
                <a:spcPts val="300"/>
              </a:spcAft>
            </a:pPr>
            <a:r>
              <a:rPr sz="1040" b="0" i="0">
                <a:solidFill>
                  <a:srgbClr val="F6F1E4"/>
                </a:solidFill>
                <a:latin typeface="Arial"/>
              </a:rPr>
              <a:t/>
            </a:r>
          </a:p>
          <a:p>
            <a:pPr algn="l">
              <a:lnSpc>
                <a:spcPct val="120000"/>
              </a:lnSpc>
              <a:spcAft>
                <a:spcPts val="300"/>
              </a:spcAft>
            </a:pPr>
            <a:r>
              <a:rPr sz="1040" b="0" i="0">
                <a:solidFill>
                  <a:srgbClr val="F6F1E4"/>
                </a:solidFill>
                <a:latin typeface="Arial"/>
              </a:rPr>
              <a:t>Escalating limits cause liquidity defaults when the limit outruns real capacity, particularly once borrowers treat the limit itself as evidence of what they can afford.</a:t>
            </a:r>
          </a:p>
          <a:p>
            <a:pPr algn="l">
              <a:lnSpc>
                <a:spcPct val="120000"/>
              </a:lnSpc>
              <a:spcAft>
                <a:spcPts val="300"/>
              </a:spcAft>
            </a:pPr>
            <a:r>
              <a:rPr sz="1040" b="0" i="0">
                <a:solidFill>
                  <a:srgbClr val="F6F1E4"/>
                </a:solidFill>
                <a:latin typeface="Arial"/>
              </a:rPr>
              <a:t/>
            </a:r>
          </a:p>
          <a:p>
            <a:pPr algn="l">
              <a:lnSpc>
                <a:spcPct val="120000"/>
              </a:lnSpc>
              <a:spcAft>
                <a:spcPts val="300"/>
              </a:spcAft>
            </a:pPr>
            <a:r>
              <a:rPr sz="1040" b="0" i="0">
                <a:solidFill>
                  <a:srgbClr val="F6F1E4"/>
                </a:solidFill>
                <a:latin typeface="Arial"/>
              </a:rPr>
              <a:t>So good history unlocks seats, circles and lower friction. It never raises the money cap. Only new income evidence does.</a:t>
            </a:r>
          </a:p>
        </p:txBody>
      </p:sp>
      <p:sp>
        <p:nvSpPr>
          <p:cNvPr id="23" name="TextBox 22"/>
          <p:cNvSpPr txBox="1"/>
          <p:nvPr/>
        </p:nvSpPr>
        <p:spPr>
          <a:xfrm>
            <a:off x="7699248" y="4315968"/>
            <a:ext cx="3886200" cy="274320"/>
          </a:xfrm>
          <a:prstGeom prst="rect">
            <a:avLst/>
          </a:prstGeom>
          <a:noFill/>
        </p:spPr>
        <p:txBody>
          <a:bodyPr wrap="square" lIns="0" rIns="0" tIns="0" bIns="0" anchor="t">
            <a:spAutoFit/>
          </a:bodyPr>
          <a:lstStyle/>
          <a:p>
            <a:pPr algn="l">
              <a:lnSpc>
                <a:spcPct val="100000"/>
              </a:lnSpc>
              <a:spcAft>
                <a:spcPts val="400"/>
              </a:spcAft>
            </a:pPr>
            <a:r>
              <a:rPr sz="1220" b="0" i="0">
                <a:solidFill>
                  <a:srgbClr val="123D30"/>
                </a:solidFill>
                <a:latin typeface="Georgia"/>
              </a:rPr>
              <a:t>Verification tiers</a:t>
            </a:r>
          </a:p>
        </p:txBody>
      </p:sp>
      <p:sp>
        <p:nvSpPr>
          <p:cNvPr id="24" name="TextBox 23"/>
          <p:cNvSpPr txBox="1"/>
          <p:nvPr/>
        </p:nvSpPr>
        <p:spPr>
          <a:xfrm>
            <a:off x="7699248" y="4626864"/>
            <a:ext cx="3886200" cy="365760"/>
          </a:xfrm>
          <a:prstGeom prst="rect">
            <a:avLst/>
          </a:prstGeom>
          <a:noFill/>
        </p:spPr>
        <p:txBody>
          <a:bodyPr wrap="square" lIns="0" rIns="0" tIns="0" bIns="0">
            <a:spAutoFit/>
          </a:bodyPr>
          <a:lstStyle/>
          <a:p>
            <a:pPr>
              <a:lnSpc>
                <a:spcPct val="106000"/>
              </a:lnSpc>
              <a:spcAft>
                <a:spcPts val="500"/>
              </a:spcAft>
            </a:pPr>
            <a:r>
              <a:rPr sz="1000" b="1">
                <a:solidFill>
                  <a:srgbClr val="D9A93C"/>
                </a:solidFill>
                <a:latin typeface="Georgia"/>
              </a:rPr>
              <a:t>|  </a:t>
            </a:r>
            <a:r>
              <a:rPr sz="1000">
                <a:solidFill>
                  <a:srgbClr val="0E1512"/>
                </a:solidFill>
                <a:latin typeface="Arial"/>
              </a:rPr>
              <a:t>Declared only → one small circle</a:t>
            </a:r>
          </a:p>
          <a:p>
            <a:pPr>
              <a:lnSpc>
                <a:spcPct val="106000"/>
              </a:lnSpc>
              <a:spcAft>
                <a:spcPts val="500"/>
              </a:spcAft>
            </a:pPr>
            <a:r>
              <a:rPr sz="1000" b="1">
                <a:solidFill>
                  <a:srgbClr val="D9A93C"/>
                </a:solidFill>
                <a:latin typeface="Georgia"/>
              </a:rPr>
              <a:t>|  </a:t>
            </a:r>
            <a:r>
              <a:rPr sz="1000">
                <a:solidFill>
                  <a:srgbClr val="0E1512"/>
                </a:solidFill>
                <a:latin typeface="Arial"/>
              </a:rPr>
              <a:t>Payslip, or the salary pattern proven from our own collection outcomes — free, no document → full caps</a:t>
            </a:r>
          </a:p>
          <a:p>
            <a:pPr>
              <a:lnSpc>
                <a:spcPct val="106000"/>
              </a:lnSpc>
              <a:spcAft>
                <a:spcPts val="500"/>
              </a:spcAft>
            </a:pPr>
            <a:r>
              <a:rPr sz="1000" b="1">
                <a:solidFill>
                  <a:srgbClr val="D9A93C"/>
                </a:solidFill>
                <a:latin typeface="Georgia"/>
              </a:rPr>
              <a:t>|  </a:t>
            </a:r>
            <a:r>
              <a:rPr sz="1000">
                <a:solidFill>
                  <a:srgbClr val="0E1512"/>
                </a:solidFill>
                <a:latin typeface="Arial"/>
              </a:rPr>
              <a:t>Additional income → the member contacts Halqa with proof; an analyst uplift is filed against a named reviewer, with an expiry</a:t>
            </a:r>
          </a:p>
        </p:txBody>
      </p:sp>
      <p:sp>
        <p:nvSpPr>
          <p:cNvPr id="25" name="Rectangle 24"/>
          <p:cNvSpPr/>
          <p:nvPr/>
        </p:nvSpPr>
        <p:spPr>
          <a:xfrm>
            <a:off x="566928" y="5138928"/>
            <a:ext cx="45720" cy="56692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95528" y="5157216"/>
            <a:ext cx="6583680" cy="640080"/>
          </a:xfrm>
          <a:prstGeom prst="rect">
            <a:avLst/>
          </a:prstGeom>
          <a:noFill/>
        </p:spPr>
        <p:txBody>
          <a:bodyPr wrap="square" lIns="0" rIns="0" tIns="0" bIns="0" anchor="t">
            <a:spAutoFit/>
          </a:bodyPr>
          <a:lstStyle/>
          <a:p>
            <a:pPr algn="l">
              <a:lnSpc>
                <a:spcPct val="120000"/>
              </a:lnSpc>
              <a:spcAft>
                <a:spcPts val="400"/>
              </a:spcAft>
            </a:pPr>
            <a:r>
              <a:rPr sz="1080" b="0" i="0">
                <a:solidFill>
                  <a:srgbClr val="0E1512"/>
                </a:solidFill>
                <a:latin typeface="Arial"/>
              </a:rPr>
              <a:t>Always show headroom in plain language — “you can take one more circle up to Rs 9,800 a month” — never a bare rejection. Filtering over enforcement, which is the direction the SECP Chairman gave on 23 July.</a:t>
            </a:r>
          </a:p>
        </p:txBody>
      </p:sp>
      <p:cxnSp>
        <p:nvCxnSpPr>
          <p:cNvPr id="27" name="Connector 26"/>
          <p:cNvCxnSpPr/>
          <p:nvPr/>
        </p:nvCxnSpPr>
        <p:spPr>
          <a:xfrm>
            <a:off x="566928" y="5961888"/>
            <a:ext cx="0" cy="155448"/>
          </a:xfrm>
          <a:prstGeom prst="line">
            <a:avLst/>
          </a:prstGeom>
          <a:ln w="279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0936" y="5957316"/>
            <a:ext cx="2194560" cy="182880"/>
          </a:xfrm>
          <a:prstGeom prst="rect">
            <a:avLst/>
          </a:prstGeom>
          <a:noFill/>
        </p:spPr>
        <p:txBody>
          <a:bodyPr wrap="square" lIns="0" rIns="0" tIns="0" bIns="0" anchor="t">
            <a:spAutoFit/>
          </a:bodyPr>
          <a:lstStyle/>
          <a:p>
            <a:pPr algn="l">
              <a:lnSpc>
                <a:spcPct val="100000"/>
              </a:lnSpc>
              <a:spcAft>
                <a:spcPts val="400"/>
              </a:spcAft>
            </a:pPr>
            <a:r>
              <a:rPr sz="840" b="1" i="0" spc="80">
                <a:solidFill>
                  <a:srgbClr val="123D30"/>
                </a:solidFill>
                <a:latin typeface="Arial"/>
              </a:rPr>
              <a:t>BUILD  ·  NO EXTERNAL GATE  ·  THE 33% CAP AND THE EXIT FINE ARE PROPOSALS AWAITING SIGN-OFF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05 · AWAITING A RULING</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Circle authenticity — the paired declaration</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Nothing is relaxed for anyone. Auto-debit, takaful, identity, affordability caps, the exit ladder and the 24-hour window apply to every circle. This mechanism only ever tightens.</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32</a:t>
            </a:r>
          </a:p>
        </p:txBody>
      </p:sp>
      <p:sp>
        <p:nvSpPr>
          <p:cNvPr id="18" name="TextBox 17"/>
          <p:cNvSpPr txBox="1"/>
          <p:nvPr/>
        </p:nvSpPr>
        <p:spPr>
          <a:xfrm>
            <a:off x="566928" y="1847088"/>
            <a:ext cx="667512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21   The test, run from both ends</a:t>
            </a:r>
          </a:p>
        </p:txBody>
      </p:sp>
      <p:sp>
        <p:nvSpPr>
          <p:cNvPr id="19" name="Rectangle 18"/>
          <p:cNvSpPr/>
          <p:nvPr/>
        </p:nvSpPr>
        <p:spPr>
          <a:xfrm>
            <a:off x="566928" y="2066543"/>
            <a:ext cx="3200400" cy="1188720"/>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2212848"/>
            <a:ext cx="2880360" cy="1005840"/>
          </a:xfrm>
          <a:prstGeom prst="rect">
            <a:avLst/>
          </a:prstGeom>
          <a:noFill/>
        </p:spPr>
        <p:txBody>
          <a:bodyPr wrap="square" lIns="0" rIns="0" tIns="0" bIns="0" anchor="t">
            <a:spAutoFit/>
          </a:bodyPr>
          <a:lstStyle/>
          <a:p>
            <a:pPr algn="l">
              <a:lnSpc>
                <a:spcPct val="116000"/>
              </a:lnSpc>
              <a:spcAft>
                <a:spcPts val="200"/>
              </a:spcAft>
            </a:pPr>
            <a:r>
              <a:rPr sz="1019" b="0" i="0">
                <a:solidFill>
                  <a:srgbClr val="0E1512"/>
                </a:solidFill>
                <a:latin typeface="Arial"/>
              </a:rPr>
              <a:t>The host answers, per member</a:t>
            </a:r>
          </a:p>
          <a:p>
            <a:pPr algn="l">
              <a:lnSpc>
                <a:spcPct val="116000"/>
              </a:lnSpc>
              <a:spcAft>
                <a:spcPts val="200"/>
              </a:spcAft>
            </a:pPr>
            <a:r>
              <a:rPr sz="1019" b="0" i="0">
                <a:solidFill>
                  <a:srgbClr val="0E1512"/>
                </a:solidFill>
                <a:latin typeface="Arial"/>
              </a:rPr>
              <a:t/>
            </a:r>
          </a:p>
          <a:p>
            <a:pPr algn="l">
              <a:lnSpc>
                <a:spcPct val="116000"/>
              </a:lnSpc>
              <a:spcAft>
                <a:spcPts val="200"/>
              </a:spcAft>
            </a:pPr>
            <a:r>
              <a:rPr sz="1019" b="0" i="0">
                <a:solidFill>
                  <a:srgbClr val="0E1512"/>
                </a:solidFill>
                <a:latin typeface="Arial"/>
              </a:rPr>
              <a:t>How do you know them?  relative / neighbour / colleague / customer or supplier / friend-of-a-friend</a:t>
            </a:r>
          </a:p>
          <a:p>
            <a:pPr algn="l">
              <a:lnSpc>
                <a:spcPct val="116000"/>
              </a:lnSpc>
              <a:spcAft>
                <a:spcPts val="200"/>
              </a:spcAft>
            </a:pPr>
            <a:r>
              <a:rPr sz="1019" b="0" i="0">
                <a:solidFill>
                  <a:srgbClr val="0E1512"/>
                </a:solidFill>
                <a:latin typeface="Arial"/>
              </a:rPr>
              <a:t/>
            </a:r>
          </a:p>
          <a:p>
            <a:pPr algn="l">
              <a:lnSpc>
                <a:spcPct val="116000"/>
              </a:lnSpc>
              <a:spcAft>
                <a:spcPts val="200"/>
              </a:spcAft>
            </a:pPr>
            <a:r>
              <a:rPr sz="1019" b="0" i="0">
                <a:solidFill>
                  <a:srgbClr val="0E1512"/>
                </a:solidFill>
                <a:latin typeface="Arial"/>
              </a:rPr>
              <a:t>How long?  under a year / 1–3 / 3+</a:t>
            </a:r>
          </a:p>
        </p:txBody>
      </p:sp>
      <p:sp>
        <p:nvSpPr>
          <p:cNvPr id="21" name="Rectangle 20"/>
          <p:cNvSpPr/>
          <p:nvPr/>
        </p:nvSpPr>
        <p:spPr>
          <a:xfrm>
            <a:off x="4041648" y="2066543"/>
            <a:ext cx="3200400" cy="1188720"/>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206240" y="2212848"/>
            <a:ext cx="2880360" cy="1005840"/>
          </a:xfrm>
          <a:prstGeom prst="rect">
            <a:avLst/>
          </a:prstGeom>
          <a:noFill/>
        </p:spPr>
        <p:txBody>
          <a:bodyPr wrap="square" lIns="0" rIns="0" tIns="0" bIns="0" anchor="t">
            <a:spAutoFit/>
          </a:bodyPr>
          <a:lstStyle/>
          <a:p>
            <a:pPr algn="l">
              <a:lnSpc>
                <a:spcPct val="116000"/>
              </a:lnSpc>
              <a:spcAft>
                <a:spcPts val="200"/>
              </a:spcAft>
            </a:pPr>
            <a:r>
              <a:rPr sz="1019" b="0" i="0">
                <a:solidFill>
                  <a:srgbClr val="0E1512"/>
                </a:solidFill>
                <a:latin typeface="Arial"/>
              </a:rPr>
              <a:t>The member answers, about the host</a:t>
            </a:r>
          </a:p>
          <a:p>
            <a:pPr algn="l">
              <a:lnSpc>
                <a:spcPct val="116000"/>
              </a:lnSpc>
              <a:spcAft>
                <a:spcPts val="200"/>
              </a:spcAft>
            </a:pPr>
            <a:r>
              <a:rPr sz="1019" b="0" i="0">
                <a:solidFill>
                  <a:srgbClr val="0E1512"/>
                </a:solidFill>
                <a:latin typeface="Arial"/>
              </a:rPr>
              <a:t/>
            </a:r>
          </a:p>
          <a:p>
            <a:pPr algn="l">
              <a:lnSpc>
                <a:spcPct val="116000"/>
              </a:lnSpc>
              <a:spcAft>
                <a:spcPts val="200"/>
              </a:spcAft>
            </a:pPr>
            <a:r>
              <a:rPr sz="1019" b="0" i="0">
                <a:solidFill>
                  <a:srgbClr val="0E1512"/>
                </a:solidFill>
                <a:latin typeface="Arial"/>
              </a:rPr>
              <a:t>The same two questions, separately, without seeing the host’s answer.</a:t>
            </a:r>
          </a:p>
          <a:p>
            <a:pPr algn="l">
              <a:lnSpc>
                <a:spcPct val="116000"/>
              </a:lnSpc>
              <a:spcAft>
                <a:spcPts val="200"/>
              </a:spcAft>
            </a:pPr>
            <a:r>
              <a:rPr sz="1019" b="0" i="0">
                <a:solidFill>
                  <a:srgbClr val="0E1512"/>
                </a:solidFill>
                <a:latin typeface="Arial"/>
              </a:rPr>
              <a:t/>
            </a:r>
          </a:p>
          <a:p>
            <a:pPr algn="l">
              <a:lnSpc>
                <a:spcPct val="116000"/>
              </a:lnSpc>
              <a:spcAft>
                <a:spcPts val="200"/>
              </a:spcAft>
            </a:pPr>
            <a:r>
              <a:rPr sz="1019" b="0" i="0">
                <a:solidFill>
                  <a:srgbClr val="0E1512"/>
                </a:solidFill>
                <a:latin typeface="Arial"/>
              </a:rPr>
              <a:t>The answers must agree.</a:t>
            </a:r>
          </a:p>
        </p:txBody>
      </p:sp>
      <p:cxnSp>
        <p:nvCxnSpPr>
          <p:cNvPr id="23" name="Connector 22"/>
          <p:cNvCxnSpPr/>
          <p:nvPr/>
        </p:nvCxnSpPr>
        <p:spPr>
          <a:xfrm>
            <a:off x="3767328" y="2660904"/>
            <a:ext cx="274320" cy="0"/>
          </a:xfrm>
          <a:prstGeom prst="line">
            <a:avLst/>
          </a:prstGeom>
          <a:ln w="304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66928" y="3401568"/>
            <a:ext cx="6675120" cy="566928"/>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9808" y="3529584"/>
            <a:ext cx="6309360" cy="365760"/>
          </a:xfrm>
          <a:prstGeom prst="rect">
            <a:avLst/>
          </a:prstGeom>
          <a:noFill/>
        </p:spPr>
        <p:txBody>
          <a:bodyPr wrap="square" lIns="0" rIns="0" tIns="0" bIns="0" anchor="t">
            <a:spAutoFit/>
          </a:bodyPr>
          <a:lstStyle/>
          <a:p>
            <a:pPr algn="l">
              <a:lnSpc>
                <a:spcPct val="116000"/>
              </a:lnSpc>
              <a:spcAft>
                <a:spcPts val="400"/>
              </a:spcAft>
            </a:pPr>
            <a:r>
              <a:rPr sz="1100" b="0" i="0">
                <a:solidFill>
                  <a:srgbClr val="F6F1E4"/>
                </a:solidFill>
                <a:latin typeface="Arial"/>
              </a:rPr>
              <a:t>A fraudster controls only one side of every answer. To pass eleven spokes he needs eleven real people to independently produce matching categories.</a:t>
            </a:r>
          </a:p>
        </p:txBody>
      </p:sp>
      <p:sp>
        <p:nvSpPr>
          <p:cNvPr id="26" name="TextBox 25"/>
          <p:cNvSpPr txBox="1"/>
          <p:nvPr/>
        </p:nvSpPr>
        <p:spPr>
          <a:xfrm>
            <a:off x="566928" y="4187952"/>
            <a:ext cx="66751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Three corroborations that cost nothing</a:t>
            </a:r>
          </a:p>
        </p:txBody>
      </p:sp>
      <p:sp>
        <p:nvSpPr>
          <p:cNvPr id="27" name="TextBox 26"/>
          <p:cNvSpPr txBox="1"/>
          <p:nvPr/>
        </p:nvSpPr>
        <p:spPr>
          <a:xfrm>
            <a:off x="566928" y="4517136"/>
            <a:ext cx="6675120" cy="365760"/>
          </a:xfrm>
          <a:prstGeom prst="rect">
            <a:avLst/>
          </a:prstGeom>
          <a:noFill/>
        </p:spPr>
        <p:txBody>
          <a:bodyPr wrap="square" lIns="0" rIns="0" tIns="0" bIns="0">
            <a:spAutoFit/>
          </a:bodyPr>
          <a:lstStyle/>
          <a:p>
            <a:pPr>
              <a:lnSpc>
                <a:spcPct val="106000"/>
              </a:lnSpc>
              <a:spcAft>
                <a:spcPts val="600"/>
              </a:spcAft>
            </a:pPr>
            <a:r>
              <a:rPr sz="1040" b="1">
                <a:solidFill>
                  <a:srgbClr val="D9A93C"/>
                </a:solidFill>
                <a:latin typeface="Georgia"/>
              </a:rPr>
              <a:t>|  </a:t>
            </a:r>
            <a:r>
              <a:rPr sz="1040" b="1">
                <a:solidFill>
                  <a:srgbClr val="123D30"/>
                </a:solidFill>
                <a:latin typeface="Arial"/>
              </a:rPr>
              <a:t>Consistency with what we already know  </a:t>
            </a:r>
            <a:r>
              <a:rPr sz="1040">
                <a:solidFill>
                  <a:srgbClr val="0E1512"/>
                </a:solidFill>
                <a:latin typeface="Arial"/>
              </a:rPr>
              <a:t>both home pins exist from signup. A relative in another city is normal; a neighbour in another city is a contradiction. We are testing whether the stated relationship survives contact with everything else we can see.</a:t>
            </a:r>
          </a:p>
          <a:p>
            <a:pPr>
              <a:lnSpc>
                <a:spcPct val="106000"/>
              </a:lnSpc>
              <a:spcAft>
                <a:spcPts val="600"/>
              </a:spcAft>
            </a:pPr>
            <a:r>
              <a:rPr sz="1040" b="1">
                <a:solidFill>
                  <a:srgbClr val="D9A93C"/>
                </a:solidFill>
                <a:latin typeface="Georgia"/>
              </a:rPr>
              <a:t>|  </a:t>
            </a:r>
            <a:r>
              <a:rPr sz="1040" b="1">
                <a:solidFill>
                  <a:srgbClr val="123D30"/>
                </a:solidFill>
                <a:latin typeface="Arial"/>
              </a:rPr>
              <a:t>Invitation trail  </a:t>
            </a:r>
            <a:r>
              <a:rPr sz="1040">
                <a:solidFill>
                  <a:srgbClr val="0E1512"/>
                </a:solidFill>
                <a:latin typeface="Arial"/>
              </a:rPr>
              <a:t>in a closed circle the host should have invited each member directly. A member arriving via a twice-forwarded link is not someone the host knows.</a:t>
            </a:r>
          </a:p>
          <a:p>
            <a:pPr>
              <a:lnSpc>
                <a:spcPct val="106000"/>
              </a:lnSpc>
              <a:spcAft>
                <a:spcPts val="600"/>
              </a:spcAft>
            </a:pPr>
            <a:r>
              <a:rPr sz="1040" b="1">
                <a:solidFill>
                  <a:srgbClr val="D9A93C"/>
                </a:solidFill>
                <a:latin typeface="Georgia"/>
              </a:rPr>
              <a:t>|  </a:t>
            </a:r>
            <a:r>
              <a:rPr sz="1040" b="1">
                <a:solidFill>
                  <a:srgbClr val="123D30"/>
                </a:solidFill>
                <a:latin typeface="Arial"/>
              </a:rPr>
              <a:t>Answer independence  </a:t>
            </a:r>
            <a:r>
              <a:rPr sz="1040">
                <a:solidFill>
                  <a:srgbClr val="0E1512"/>
                </a:solidFill>
                <a:latin typeface="Arial"/>
              </a:rPr>
              <a:t>eleven declarations completing within seconds of each other from one network means one person is filling in the forms.</a:t>
            </a:r>
          </a:p>
        </p:txBody>
      </p:sp>
      <p:sp>
        <p:nvSpPr>
          <p:cNvPr id="28" name="Rectangle 27"/>
          <p:cNvSpPr/>
          <p:nvPr/>
        </p:nvSpPr>
        <p:spPr>
          <a:xfrm>
            <a:off x="7516368" y="2066543"/>
            <a:ext cx="4069080" cy="1874519"/>
          </a:xfrm>
          <a:prstGeom prst="rect">
            <a:avLst/>
          </a:prstGeom>
          <a:solidFill>
            <a:srgbClr val="FFFFFF"/>
          </a:solidFill>
          <a:ln w="13970">
            <a:solidFill>
              <a:srgbClr val="8C2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717536" y="2231136"/>
            <a:ext cx="3657600" cy="1645920"/>
          </a:xfrm>
          <a:prstGeom prst="rect">
            <a:avLst/>
          </a:prstGeom>
          <a:noFill/>
        </p:spPr>
        <p:txBody>
          <a:bodyPr wrap="square" lIns="0" rIns="0" tIns="0" bIns="0" anchor="t">
            <a:spAutoFit/>
          </a:bodyPr>
          <a:lstStyle/>
          <a:p>
            <a:pPr algn="l">
              <a:lnSpc>
                <a:spcPct val="118000"/>
              </a:lnSpc>
              <a:spcAft>
                <a:spcPts val="300"/>
              </a:spcAft>
            </a:pPr>
            <a:r>
              <a:rPr sz="1019" b="0" i="0">
                <a:solidFill>
                  <a:srgbClr val="0E1512"/>
                </a:solidFill>
                <a:latin typeface="Arial"/>
              </a:rPr>
              <a:t>This design was rewritten twice</a:t>
            </a:r>
          </a:p>
          <a:p>
            <a:pPr algn="l">
              <a:lnSpc>
                <a:spcPct val="118000"/>
              </a:lnSpc>
              <a:spcAft>
                <a:spcPts val="300"/>
              </a:spcAft>
            </a:pPr>
            <a:r>
              <a:rPr sz="1019" b="0" i="0">
                <a:solidFill>
                  <a:srgbClr val="0E1512"/>
                </a:solidFill>
                <a:latin typeface="Arial"/>
              </a:rPr>
              <a:t/>
            </a:r>
          </a:p>
          <a:p>
            <a:pPr algn="l">
              <a:lnSpc>
                <a:spcPct val="118000"/>
              </a:lnSpc>
              <a:spcAft>
                <a:spcPts val="300"/>
              </a:spcAft>
            </a:pPr>
            <a:r>
              <a:rPr sz="1019" b="0" i="0">
                <a:solidFill>
                  <a:srgbClr val="0E1512"/>
                </a:solidFill>
                <a:latin typeface="Arial"/>
              </a:rPr>
              <a:t>v1, a leniency tier for circles where everyone knows each other, was killed: there will still be auto-debit and insurance.</a:t>
            </a:r>
          </a:p>
          <a:p>
            <a:pPr algn="l">
              <a:lnSpc>
                <a:spcPct val="118000"/>
              </a:lnSpc>
              <a:spcAft>
                <a:spcPts val="300"/>
              </a:spcAft>
            </a:pPr>
            <a:r>
              <a:rPr sz="1019" b="0" i="0">
                <a:solidFill>
                  <a:srgbClr val="0E1512"/>
                </a:solidFill>
                <a:latin typeface="Arial"/>
              </a:rPr>
              <a:t/>
            </a:r>
          </a:p>
          <a:p>
            <a:pPr algn="l">
              <a:lnSpc>
                <a:spcPct val="118000"/>
              </a:lnSpc>
              <a:spcAft>
                <a:spcPts val="300"/>
              </a:spcAft>
            </a:pPr>
            <a:r>
              <a:rPr sz="1019" b="0" i="0">
                <a:solidFill>
                  <a:srgbClr val="0E1512"/>
                </a:solidFill>
                <a:latin typeface="Arial"/>
              </a:rPr>
              <a:t>v2, a mesh test with the host removed from the graph, was corrected: the host knows everyone, and this is only for closed circles.</a:t>
            </a:r>
          </a:p>
          <a:p>
            <a:pPr algn="l">
              <a:lnSpc>
                <a:spcPct val="118000"/>
              </a:lnSpc>
              <a:spcAft>
                <a:spcPts val="300"/>
              </a:spcAft>
            </a:pPr>
            <a:r>
              <a:rPr sz="1019" b="0" i="0">
                <a:solidFill>
                  <a:srgbClr val="0E1512"/>
                </a:solidFill>
                <a:latin typeface="Arial"/>
              </a:rPr>
              <a:t/>
            </a:r>
          </a:p>
          <a:p>
            <a:pPr algn="l">
              <a:lnSpc>
                <a:spcPct val="118000"/>
              </a:lnSpc>
              <a:spcAft>
                <a:spcPts val="300"/>
              </a:spcAft>
            </a:pPr>
            <a:r>
              <a:rPr sz="1019" b="0" i="0">
                <a:solidFill>
                  <a:srgbClr val="0E1512"/>
                </a:solidFill>
                <a:latin typeface="Arial"/>
              </a:rPr>
              <a:t>v3 is the design above. It awaits approval.</a:t>
            </a:r>
          </a:p>
        </p:txBody>
      </p:sp>
      <p:sp>
        <p:nvSpPr>
          <p:cNvPr id="30" name="TextBox 29"/>
          <p:cNvSpPr txBox="1"/>
          <p:nvPr/>
        </p:nvSpPr>
        <p:spPr>
          <a:xfrm>
            <a:off x="7516368" y="4114800"/>
            <a:ext cx="4069080" cy="822960"/>
          </a:xfrm>
          <a:prstGeom prst="rect">
            <a:avLst/>
          </a:prstGeom>
          <a:noFill/>
        </p:spPr>
        <p:txBody>
          <a:bodyPr wrap="square" lIns="0" rIns="0" tIns="0" bIns="0" anchor="t">
            <a:spAutoFit/>
          </a:bodyPr>
          <a:lstStyle/>
          <a:p>
            <a:pPr algn="l">
              <a:lnSpc>
                <a:spcPct val="120000"/>
              </a:lnSpc>
              <a:spcAft>
                <a:spcPts val="400"/>
              </a:spcAft>
            </a:pPr>
            <a:r>
              <a:rPr sz="1060" b="0" i="0">
                <a:solidFill>
                  <a:srgbClr val="0E1512"/>
                </a:solidFill>
                <a:latin typeface="Arial"/>
              </a:rPr>
              <a:t>The literature agrees with the correction. Kamran’s informant: “It is his job to decide whether to accept someone into the Committee.” The organizer is the hub by design. The star topology is the real structure, not a fraud signal.</a:t>
            </a:r>
          </a:p>
        </p:txBody>
      </p:sp>
      <p:sp>
        <p:nvSpPr>
          <p:cNvPr id="31" name="TextBox 30"/>
          <p:cNvSpPr txBox="1"/>
          <p:nvPr/>
        </p:nvSpPr>
        <p:spPr>
          <a:xfrm>
            <a:off x="7516368" y="5138928"/>
            <a:ext cx="4069080" cy="914400"/>
          </a:xfrm>
          <a:prstGeom prst="rect">
            <a:avLst/>
          </a:prstGeom>
          <a:noFill/>
        </p:spPr>
        <p:txBody>
          <a:bodyPr wrap="square" lIns="0" rIns="0" tIns="0" bIns="0" anchor="t">
            <a:spAutoFit/>
          </a:bodyPr>
          <a:lstStyle/>
          <a:p>
            <a:pPr algn="l">
              <a:lnSpc>
                <a:spcPct val="120000"/>
              </a:lnSpc>
              <a:spcAft>
                <a:spcPts val="400"/>
              </a:spcAft>
            </a:pPr>
            <a:r>
              <a:rPr sz="1060" b="0" i="0">
                <a:solidFill>
                  <a:srgbClr val="0E1512"/>
                </a:solidFill>
                <a:latin typeface="Arial"/>
              </a:rPr>
              <a:t>The contact check fits here, sharpened. The host having members saved proves little. The half that matters is each member having the host saved — the direction a fraudster cannot manufacture. Done on device with hashed matching, so no address book ever reaches 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05 · FROM THE FIELD</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Mechanics the real committee already has, and we did not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Catalogued from field research and the committee dossier. Each is a real convention that a digital product either reproduces or quietly breaks.</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33</a:t>
            </a:r>
          </a:p>
        </p:txBody>
      </p:sp>
      <p:sp>
        <p:nvSpPr>
          <p:cNvPr id="18" name="TextBox 17"/>
          <p:cNvSpPr txBox="1"/>
          <p:nvPr/>
        </p:nvSpPr>
        <p:spPr>
          <a:xfrm>
            <a:off x="566928" y="1737360"/>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22   The catalogue</a:t>
            </a:r>
          </a:p>
        </p:txBody>
      </p:sp>
      <p:graphicFrame>
        <p:nvGraphicFramePr>
          <p:cNvPr id="19" name="Table 18"/>
          <p:cNvGraphicFramePr>
            <a:graphicFrameLocks noGrp="1"/>
          </p:cNvGraphicFramePr>
          <p:nvPr/>
        </p:nvGraphicFramePr>
        <p:xfrm>
          <a:off x="566928" y="1956816"/>
          <a:ext cx="11057838" cy="4293656"/>
        </p:xfrm>
        <a:graphic>
          <a:graphicData uri="http://schemas.openxmlformats.org/drawingml/2006/table">
            <a:tbl>
              <a:tblPr>
                <a:tableStyleId>{5C22544A-7EE6-4342-B048-85BDC9FD1C3A}</a:tableStyleId>
              </a:tblPr>
              <a:tblGrid>
                <a:gridCol w="1990411"/>
                <a:gridCol w="4201978"/>
                <a:gridCol w="4865449"/>
              </a:tblGrid>
              <a:tr h="727496">
                <a:tc>
                  <a:txBody>
                    <a:bodyPr wrap="square"/>
                    <a:lstStyle/>
                    <a:p>
                      <a:pPr algn="l"/>
                      <a:r>
                        <a:rPr sz="960" b="1">
                          <a:solidFill>
                            <a:srgbClr val="F6F1E4"/>
                          </a:solidFill>
                          <a:latin typeface="Arial"/>
                        </a:rPr>
                        <a:t>Mechanic</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What it is</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How Halqa implements it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E1512"/>
                          </a:solidFill>
                          <a:latin typeface="Arial"/>
                        </a:rPr>
                        <a:t>Net-off settlement, “hissa kat lo”</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When a member’s turn arrives, their own installment for that round is deducted from the pot instead of paid in cash.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Host toggle at creation, default off, shown to every joiner. The ledger still writes both legs — only the cash nets, never the record. Counts as on-time at full weight.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E1512"/>
                          </a:solidFill>
                          <a:latin typeface="Arial"/>
                        </a:rPr>
                        <a:t>Declared organizer compensation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The host may claim seat 1 as organizer’s privilege, plus an optional recorded member-to-member tip at payout.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Shown on the circle card before anyone joins. Seat 1 is also maximum liability, so the host takes the largest forward obligation — the skin in the game the literature asks for.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E1512"/>
                          </a:solidFill>
                          <a:latin typeface="Arial"/>
                        </a:rPr>
                        <a:t>Half-shares, “aadhi kameti”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Two people share one seat at half the contribution each, splitting the pot. Or one member holds two seats.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First-class sub-membership, joint and several liability stated at join, payout splits by recorded ratio. The interface hides all of it behind one question: full seat or half seat?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E1512"/>
                          </a:solidFill>
                          <a:latin typeface="Arial"/>
                        </a:rPr>
                        <a:t>The verifiable parchi draw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The ballot ceremony is the institution. A server-side random() replaces theatre with a black box, and black boxes get accused.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Commit-reveal: the server commits to a hashed seed, each member’s tap adds entropy, the seed is revealed after so anyone can recompute the result. No competitor in the archive has this.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E1512"/>
                          </a:solidFill>
                          <a:latin typeface="Arial"/>
                        </a:rPr>
                        <a:t>Death and incapacity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A deceased member who had collected is not pursued if the family cannot pay; one who had not collected is paid out early.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Recorded as the default convention in the mutual guarantee now; priced properly by circle-level takaful at stage two. Kerala’s state chit operator waives up to ₹10 lakh formally.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TextBox 19"/>
          <p:cNvSpPr txBox="1"/>
          <p:nvPr/>
        </p:nvSpPr>
        <p:spPr>
          <a:xfrm>
            <a:off x="566928" y="6016752"/>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Also catalogued: daily and weekly circles for bazaar traders, Ramzan schedule exceptions, the replacement protocol where paid months transfer to the seat rather than the person, and progressive contribution caps for new members.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05 · DIRECTIONS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X-factor, and the growth directions already approved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 gold-goal committee is the single strongest near-term differentiator and is shippable now, cash-only.</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34</a:t>
            </a:r>
          </a:p>
        </p:txBody>
      </p:sp>
      <p:sp>
        <p:nvSpPr>
          <p:cNvPr id="18" name="TextBox 17"/>
          <p:cNvSpPr txBox="1"/>
          <p:nvPr/>
        </p:nvSpPr>
        <p:spPr>
          <a:xfrm>
            <a:off x="566928" y="1700784"/>
            <a:ext cx="6675120" cy="274320"/>
          </a:xfrm>
          <a:prstGeom prst="rect">
            <a:avLst/>
          </a:prstGeom>
          <a:noFill/>
        </p:spPr>
        <p:txBody>
          <a:bodyPr wrap="square" lIns="0" rIns="0" tIns="0" bIns="0" anchor="t">
            <a:spAutoFit/>
          </a:bodyPr>
          <a:lstStyle/>
          <a:p>
            <a:pPr algn="l">
              <a:lnSpc>
                <a:spcPct val="100000"/>
              </a:lnSpc>
              <a:spcAft>
                <a:spcPts val="400"/>
              </a:spcAft>
            </a:pPr>
            <a:r>
              <a:rPr sz="1340" b="0" i="0">
                <a:solidFill>
                  <a:srgbClr val="123D30"/>
                </a:solidFill>
                <a:latin typeface="Georgia"/>
              </a:rPr>
              <a:t>The gold-goal committee</a:t>
            </a:r>
          </a:p>
        </p:txBody>
      </p:sp>
      <p:cxnSp>
        <p:nvCxnSpPr>
          <p:cNvPr id="19" name="Connector 18"/>
          <p:cNvCxnSpPr/>
          <p:nvPr/>
        </p:nvCxnSpPr>
        <p:spPr>
          <a:xfrm>
            <a:off x="566928" y="1993392"/>
            <a:ext cx="6675120" cy="0"/>
          </a:xfrm>
          <a:prstGeom prst="line">
            <a:avLst/>
          </a:prstGeom>
          <a:ln w="152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66928" y="2139696"/>
            <a:ext cx="6675120" cy="365760"/>
          </a:xfrm>
          <a:prstGeom prst="rect">
            <a:avLst/>
          </a:prstGeom>
          <a:noFill/>
        </p:spPr>
        <p:txBody>
          <a:bodyPr wrap="square" lIns="0" rIns="0" tIns="0" bIns="0">
            <a:spAutoFit/>
          </a:bodyPr>
          <a:lstStyle/>
          <a:p>
            <a:pPr>
              <a:lnSpc>
                <a:spcPct val="106000"/>
              </a:lnSpc>
              <a:spcAft>
                <a:spcPts val="700"/>
              </a:spcAft>
            </a:pPr>
            <a:r>
              <a:rPr sz="1060" b="1">
                <a:solidFill>
                  <a:srgbClr val="D9A93C"/>
                </a:solidFill>
                <a:latin typeface="Georgia"/>
              </a:rPr>
              <a:t>|  </a:t>
            </a:r>
            <a:r>
              <a:rPr sz="1060" b="1">
                <a:solidFill>
                  <a:srgbClr val="123D30"/>
                </a:solidFill>
                <a:latin typeface="Arial"/>
              </a:rPr>
              <a:t>What it is  </a:t>
            </a:r>
            <a:r>
              <a:rPr sz="1060">
                <a:solidFill>
                  <a:srgbClr val="0E1512"/>
                </a:solidFill>
                <a:latin typeface="Arial"/>
              </a:rPr>
              <a:t>a normal PKR rotating committee where the host sets the goal in grams or tolas of gold, not rupees. The app shows the live rate, sizes contributions to the gram target, and on payout day gives cash plus a one-tap assisted purchase at that day’s spot price.</a:t>
            </a:r>
          </a:p>
          <a:p>
            <a:pPr>
              <a:lnSpc>
                <a:spcPct val="106000"/>
              </a:lnSpc>
              <a:spcAft>
                <a:spcPts val="700"/>
              </a:spcAft>
            </a:pPr>
            <a:r>
              <a:rPr sz="1060" b="1">
                <a:solidFill>
                  <a:srgbClr val="D9A93C"/>
                </a:solidFill>
                <a:latin typeface="Georgia"/>
              </a:rPr>
              <a:t>|  </a:t>
            </a:r>
            <a:r>
              <a:rPr sz="1060" b="1">
                <a:solidFill>
                  <a:srgbClr val="123D30"/>
                </a:solidFill>
                <a:latin typeface="Arial"/>
              </a:rPr>
              <a:t>Why it beats Oraan on Shariah  </a:t>
            </a:r>
            <a:r>
              <a:rPr sz="1060">
                <a:solidFill>
                  <a:srgbClr val="0E1512"/>
                </a:solidFill>
                <a:latin typeface="Arial"/>
              </a:rPr>
              <a:t>Oraan Gold locks today’s price for delivery six to ten months later. Deferred gold-for-currency is riba under the majority Bay’ al-Sarf view, which requires spot settlement — yet it is marketed as Shariah-compliant. A spot-settled gold-goal committee is genuinely cleaner, and only that variant should carry the label.</a:t>
            </a:r>
          </a:p>
          <a:p>
            <a:pPr>
              <a:lnSpc>
                <a:spcPct val="106000"/>
              </a:lnSpc>
              <a:spcAft>
                <a:spcPts val="700"/>
              </a:spcAft>
            </a:pPr>
            <a:r>
              <a:rPr sz="1060" b="1">
                <a:solidFill>
                  <a:srgbClr val="D9A93C"/>
                </a:solidFill>
                <a:latin typeface="Georgia"/>
              </a:rPr>
              <a:t>|  </a:t>
            </a:r>
            <a:r>
              <a:rPr sz="1060" b="1">
                <a:solidFill>
                  <a:srgbClr val="123D30"/>
                </a:solidFill>
                <a:latin typeface="Arial"/>
              </a:rPr>
              <a:t>Hard dependency  </a:t>
            </a:r>
            <a:r>
              <a:rPr sz="1060">
                <a:solidFill>
                  <a:srgbClr val="0E1512"/>
                </a:solidFill>
                <a:latin typeface="Arial"/>
              </a:rPr>
              <a:t>physical allocated delivery needs a refiner or vault partner. Until then ship only the cash-payout plus assisted-purchase variant — no custody, no licence. Exact contract wording is mufti-to-confirm.</a:t>
            </a:r>
          </a:p>
        </p:txBody>
      </p:sp>
      <p:cxnSp>
        <p:nvCxnSpPr>
          <p:cNvPr id="21" name="Connector 20"/>
          <p:cNvCxnSpPr/>
          <p:nvPr/>
        </p:nvCxnSpPr>
        <p:spPr>
          <a:xfrm>
            <a:off x="566928" y="4133087"/>
            <a:ext cx="0" cy="155448"/>
          </a:xfrm>
          <a:prstGeom prst="line">
            <a:avLst/>
          </a:prstGeom>
          <a:ln w="279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0936" y="4128515"/>
            <a:ext cx="2194560" cy="182880"/>
          </a:xfrm>
          <a:prstGeom prst="rect">
            <a:avLst/>
          </a:prstGeom>
          <a:noFill/>
        </p:spPr>
        <p:txBody>
          <a:bodyPr wrap="square" lIns="0" rIns="0" tIns="0" bIns="0" anchor="t">
            <a:spAutoFit/>
          </a:bodyPr>
          <a:lstStyle/>
          <a:p>
            <a:pPr algn="l">
              <a:lnSpc>
                <a:spcPct val="100000"/>
              </a:lnSpc>
              <a:spcAft>
                <a:spcPts val="400"/>
              </a:spcAft>
            </a:pPr>
            <a:r>
              <a:rPr sz="840" b="1" i="0" spc="80">
                <a:solidFill>
                  <a:srgbClr val="123D30"/>
                </a:solidFill>
                <a:latin typeface="Arial"/>
              </a:rPr>
              <a:t>FUNCTIONAL NOW IN THE CASH-ONLY VARIANT  ·  NEVER HOLD THE METAL</a:t>
            </a:r>
          </a:p>
        </p:txBody>
      </p:sp>
      <p:sp>
        <p:nvSpPr>
          <p:cNvPr id="23" name="TextBox 22"/>
          <p:cNvSpPr txBox="1"/>
          <p:nvPr/>
        </p:nvSpPr>
        <p:spPr>
          <a:xfrm>
            <a:off x="566928" y="4498848"/>
            <a:ext cx="66751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Other verified differentiators, all functional today</a:t>
            </a:r>
          </a:p>
        </p:txBody>
      </p:sp>
      <p:sp>
        <p:nvSpPr>
          <p:cNvPr id="24" name="TextBox 23"/>
          <p:cNvSpPr txBox="1"/>
          <p:nvPr/>
        </p:nvSpPr>
        <p:spPr>
          <a:xfrm>
            <a:off x="566928" y="4828032"/>
            <a:ext cx="6675120" cy="365760"/>
          </a:xfrm>
          <a:prstGeom prst="rect">
            <a:avLst/>
          </a:prstGeom>
          <a:noFill/>
        </p:spPr>
        <p:txBody>
          <a:bodyPr wrap="square" lIns="0" rIns="0" tIns="0" bIns="0">
            <a:spAutoFit/>
          </a:bodyPr>
          <a:lstStyle/>
          <a:p>
            <a:pPr>
              <a:lnSpc>
                <a:spcPct val="106000"/>
              </a:lnSpc>
              <a:spcAft>
                <a:spcPts val="500"/>
              </a:spcAft>
            </a:pPr>
            <a:r>
              <a:rPr sz="1040" b="1">
                <a:solidFill>
                  <a:srgbClr val="D9A93C"/>
                </a:solidFill>
                <a:latin typeface="Georgia"/>
              </a:rPr>
              <a:t>|  </a:t>
            </a:r>
            <a:r>
              <a:rPr sz="1040">
                <a:solidFill>
                  <a:srgbClr val="0E1512"/>
                </a:solidFill>
                <a:latin typeface="Arial"/>
              </a:rPr>
              <a:t>Make the turn-pricing fee curve the public headline — Oraan and Money Fellows both price slots this way, which validates it</a:t>
            </a:r>
          </a:p>
          <a:p>
            <a:pPr>
              <a:lnSpc>
                <a:spcPct val="106000"/>
              </a:lnSpc>
              <a:spcAft>
                <a:spcPts val="500"/>
              </a:spcAft>
            </a:pPr>
            <a:r>
              <a:rPr sz="1040" b="1">
                <a:solidFill>
                  <a:srgbClr val="D9A93C"/>
                </a:solidFill>
                <a:latin typeface="Georgia"/>
              </a:rPr>
              <a:t>|  </a:t>
            </a:r>
            <a:r>
              <a:rPr sz="1040">
                <a:solidFill>
                  <a:srgbClr val="0E1512"/>
                </a:solidFill>
                <a:latin typeface="Arial"/>
              </a:rPr>
              <a:t>Market the mutual member-to-member guarantee as hard as Money Fellows markets its company guarantee</a:t>
            </a:r>
          </a:p>
          <a:p>
            <a:pPr>
              <a:lnSpc>
                <a:spcPct val="106000"/>
              </a:lnSpc>
              <a:spcAft>
                <a:spcPts val="500"/>
              </a:spcAft>
            </a:pPr>
            <a:r>
              <a:rPr sz="1040" b="1">
                <a:solidFill>
                  <a:srgbClr val="D9A93C"/>
                </a:solidFill>
                <a:latin typeface="Georgia"/>
              </a:rPr>
              <a:t>|  </a:t>
            </a:r>
            <a:r>
              <a:rPr sz="1040">
                <a:solidFill>
                  <a:srgbClr val="0E1512"/>
                </a:solidFill>
                <a:latin typeface="Arial"/>
              </a:rPr>
              <a:t>Add earned early-slot progression, and show a gram-and-rupee side-by-side ledger</a:t>
            </a:r>
          </a:p>
        </p:txBody>
      </p:sp>
      <p:sp>
        <p:nvSpPr>
          <p:cNvPr id="25" name="TextBox 24"/>
          <p:cNvSpPr txBox="1"/>
          <p:nvPr/>
        </p:nvSpPr>
        <p:spPr>
          <a:xfrm>
            <a:off x="7653528" y="1700784"/>
            <a:ext cx="3931920" cy="274320"/>
          </a:xfrm>
          <a:prstGeom prst="rect">
            <a:avLst/>
          </a:prstGeom>
          <a:noFill/>
        </p:spPr>
        <p:txBody>
          <a:bodyPr wrap="square" lIns="0" rIns="0" tIns="0" bIns="0" anchor="t">
            <a:spAutoFit/>
          </a:bodyPr>
          <a:lstStyle/>
          <a:p>
            <a:pPr algn="l">
              <a:lnSpc>
                <a:spcPct val="100000"/>
              </a:lnSpc>
              <a:spcAft>
                <a:spcPts val="400"/>
              </a:spcAft>
            </a:pPr>
            <a:r>
              <a:rPr sz="1340" b="0" i="0">
                <a:solidFill>
                  <a:srgbClr val="123D30"/>
                </a:solidFill>
                <a:latin typeface="Georgia"/>
              </a:rPr>
              <a:t>Approved growth directions</a:t>
            </a:r>
          </a:p>
        </p:txBody>
      </p:sp>
      <p:cxnSp>
        <p:nvCxnSpPr>
          <p:cNvPr id="26" name="Connector 25"/>
          <p:cNvCxnSpPr/>
          <p:nvPr/>
        </p:nvCxnSpPr>
        <p:spPr>
          <a:xfrm>
            <a:off x="7653528" y="1993392"/>
            <a:ext cx="3971239" cy="0"/>
          </a:xfrm>
          <a:prstGeom prst="line">
            <a:avLst/>
          </a:prstGeom>
          <a:ln w="1524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653528" y="2139696"/>
            <a:ext cx="3931920" cy="365760"/>
          </a:xfrm>
          <a:prstGeom prst="rect">
            <a:avLst/>
          </a:prstGeom>
          <a:noFill/>
        </p:spPr>
        <p:txBody>
          <a:bodyPr wrap="square" lIns="0" rIns="0" tIns="0" bIns="0">
            <a:spAutoFit/>
          </a:bodyPr>
          <a:lstStyle/>
          <a:p>
            <a:pPr>
              <a:lnSpc>
                <a:spcPct val="106000"/>
              </a:lnSpc>
              <a:spcAft>
                <a:spcPts val="600"/>
              </a:spcAft>
            </a:pPr>
            <a:r>
              <a:rPr sz="1000" b="1">
                <a:solidFill>
                  <a:srgbClr val="D9A93C"/>
                </a:solidFill>
                <a:latin typeface="Georgia"/>
              </a:rPr>
              <a:t>|  </a:t>
            </a:r>
            <a:r>
              <a:rPr sz="1000" b="1">
                <a:solidFill>
                  <a:srgbClr val="123D30"/>
                </a:solidFill>
                <a:latin typeface="Arial"/>
              </a:rPr>
              <a:t>TASDEEQ two-way membership, the flagship  </a:t>
            </a:r>
            <a:r>
              <a:rPr sz="1000">
                <a:solidFill>
                  <a:srgbClr val="0E1512"/>
                </a:solidFill>
                <a:latin typeface="Arial"/>
              </a:rPr>
              <a:t>join as an alternative-data contributor. The member builds formal credit; Halqa becomes the only source of informal-committee data.</a:t>
            </a:r>
          </a:p>
          <a:p>
            <a:pPr>
              <a:lnSpc>
                <a:spcPct val="106000"/>
              </a:lnSpc>
              <a:spcAft>
                <a:spcPts val="600"/>
              </a:spcAft>
            </a:pPr>
            <a:r>
              <a:rPr sz="1000" b="1">
                <a:solidFill>
                  <a:srgbClr val="D9A93C"/>
                </a:solidFill>
                <a:latin typeface="Georgia"/>
              </a:rPr>
              <a:t>|  </a:t>
            </a:r>
            <a:r>
              <a:rPr sz="1000" b="1">
                <a:solidFill>
                  <a:srgbClr val="123D30"/>
                </a:solidFill>
                <a:latin typeface="Arial"/>
              </a:rPr>
              <a:t>Organizer incentives on value, never depth  </a:t>
            </a:r>
            <a:r>
              <a:rPr sz="1000">
                <a:solidFill>
                  <a:srgbClr val="0E1512"/>
                </a:solidFill>
                <a:latin typeface="Arial"/>
              </a:rPr>
              <a:t>completion bounty, single-level revenue share, Verified Organizer status, free Halqa-fill, accelerated Sakh. Multi-level is an illegal pyramid.</a:t>
            </a:r>
          </a:p>
          <a:p>
            <a:pPr>
              <a:lnSpc>
                <a:spcPct val="106000"/>
              </a:lnSpc>
              <a:spcAft>
                <a:spcPts val="600"/>
              </a:spcAft>
            </a:pPr>
            <a:r>
              <a:rPr sz="1000" b="1">
                <a:solidFill>
                  <a:srgbClr val="D9A93C"/>
                </a:solidFill>
                <a:latin typeface="Georgia"/>
              </a:rPr>
              <a:t>|  </a:t>
            </a:r>
            <a:r>
              <a:rPr sz="1000" b="1">
                <a:solidFill>
                  <a:srgbClr val="123D30"/>
                </a:solidFill>
                <a:latin typeface="Arial"/>
              </a:rPr>
              <a:t>Formal-finance on-ramp  </a:t>
            </a:r>
            <a:r>
              <a:rPr sz="1000">
                <a:solidFill>
                  <a:srgbClr val="0E1512"/>
                </a:solidFill>
                <a:latin typeface="Arial"/>
              </a:rPr>
              <a:t>N clean circles unlock a pre-approved product by referral. The institution pays origination, never the member.</a:t>
            </a:r>
          </a:p>
          <a:p>
            <a:pPr>
              <a:lnSpc>
                <a:spcPct val="106000"/>
              </a:lnSpc>
              <a:spcAft>
                <a:spcPts val="600"/>
              </a:spcAft>
            </a:pPr>
            <a:r>
              <a:rPr sz="1000" b="1">
                <a:solidFill>
                  <a:srgbClr val="D9A93C"/>
                </a:solidFill>
                <a:latin typeface="Georgia"/>
              </a:rPr>
              <a:t>|  </a:t>
            </a:r>
            <a:r>
              <a:rPr sz="1000" b="1">
                <a:solidFill>
                  <a:srgbClr val="123D30"/>
                </a:solidFill>
                <a:latin typeface="Arial"/>
              </a:rPr>
              <a:t>Remittance committees  </a:t>
            </a:r>
            <a:r>
              <a:rPr sz="1000">
                <a:solidFill>
                  <a:srgbClr val="0E1512"/>
                </a:solidFill>
                <a:latin typeface="Arial"/>
              </a:rPr>
              <a:t>ride a licensed remittance rail. Halqa never holds or moves FX.</a:t>
            </a:r>
          </a:p>
          <a:p>
            <a:pPr>
              <a:lnSpc>
                <a:spcPct val="106000"/>
              </a:lnSpc>
              <a:spcAft>
                <a:spcPts val="600"/>
              </a:spcAft>
            </a:pPr>
            <a:r>
              <a:rPr sz="1000" b="1">
                <a:solidFill>
                  <a:srgbClr val="D9A93C"/>
                </a:solidFill>
                <a:latin typeface="Georgia"/>
              </a:rPr>
              <a:t>|  </a:t>
            </a:r>
            <a:r>
              <a:rPr sz="1000" b="1">
                <a:solidFill>
                  <a:srgbClr val="123D30"/>
                </a:solidFill>
                <a:latin typeface="Arial"/>
              </a:rPr>
              <a:t>Employer-endorsed committees  </a:t>
            </a:r>
            <a:r>
              <a:rPr sz="1000">
                <a:solidFill>
                  <a:srgbClr val="0E1512"/>
                </a:solidFill>
                <a:latin typeface="Arial"/>
              </a:rPr>
              <a:t>the employer endorses, does not run and does not see. Chairman: for later.</a:t>
            </a:r>
          </a:p>
        </p:txBody>
      </p:sp>
      <p:sp>
        <p:nvSpPr>
          <p:cNvPr id="28" name="TextBox 27"/>
          <p:cNvSpPr txBox="1"/>
          <p:nvPr/>
        </p:nvSpPr>
        <p:spPr>
          <a:xfrm>
            <a:off x="7653528" y="5760720"/>
            <a:ext cx="393192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Liked but not prioritised: gold committees, credit-builder circles, seasonal Islamic committees, merchant-sponsored circles, white-label to licensed FIs, aggregate insights, a BISP channel.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D9A93C"/>
                </a:solidFill>
                <a:latin typeface="Georgia"/>
              </a:rPr>
              <a:t>06</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6F1E4"/>
                </a:solidFill>
                <a:latin typeface="Georgia"/>
              </a:rPr>
              <a:t>The evidence</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Twenty-five attempts across nine markets, reduced to the same six questions.</a:t>
            </a:r>
          </a:p>
          <a:p>
            <a:pPr algn="l">
              <a:lnSpc>
                <a:spcPct val="100000"/>
              </a:lnSpc>
              <a:spcAft>
                <a:spcPts val="600"/>
              </a:spcAft>
            </a:pPr>
            <a:r>
              <a:rPr sz="1240" b="0" i="0">
                <a:solidFill>
                  <a:srgbClr val="C8D4CC"/>
                </a:solidFill>
                <a:latin typeface="Arial"/>
              </a:rPr>
              <a:t>Every failure held member money, guaranteed it, or removed the rotation.</a:t>
            </a:r>
          </a:p>
          <a:p>
            <a:pPr algn="l">
              <a:lnSpc>
                <a:spcPct val="100000"/>
              </a:lnSpc>
              <a:spcAft>
                <a:spcPts val="600"/>
              </a:spcAft>
            </a:pPr>
            <a:r>
              <a:rPr sz="1240" b="0" i="0">
                <a:solidFill>
                  <a:srgbClr val="C8D4CC"/>
                </a:solidFill>
                <a:latin typeface="Arial"/>
              </a:rPr>
              <a:t>The differences between these companies are architectural, not executional.</a:t>
            </a:r>
          </a:p>
        </p:txBody>
      </p:sp>
      <p:cxnSp>
        <p:nvCxnSpPr>
          <p:cNvPr id="7" name="Connector 6"/>
          <p:cNvCxnSpPr/>
          <p:nvPr/>
        </p:nvCxnSpPr>
        <p:spPr>
          <a:xfrm>
            <a:off x="2697480"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finding, before the evidence</a:t>
            </a:r>
          </a:p>
        </p:txBody>
      </p:sp>
      <p:cxnSp>
        <p:nvCxnSpPr>
          <p:cNvPr id="5" name="Connector 4"/>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6" name="TextBox 15"/>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36</a:t>
            </a:r>
          </a:p>
        </p:txBody>
      </p:sp>
      <p:sp>
        <p:nvSpPr>
          <p:cNvPr id="17" name="Rectangle 16"/>
          <p:cNvSpPr/>
          <p:nvPr/>
        </p:nvSpPr>
        <p:spPr>
          <a:xfrm>
            <a:off x="566928" y="1371600"/>
            <a:ext cx="11057839" cy="1115568"/>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1248" y="1517904"/>
            <a:ext cx="10509199" cy="914400"/>
          </a:xfrm>
          <a:prstGeom prst="rect">
            <a:avLst/>
          </a:prstGeom>
          <a:noFill/>
        </p:spPr>
        <p:txBody>
          <a:bodyPr wrap="square" lIns="0" rIns="0" tIns="0" bIns="0" anchor="t">
            <a:spAutoFit/>
          </a:bodyPr>
          <a:lstStyle/>
          <a:p>
            <a:pPr algn="l">
              <a:lnSpc>
                <a:spcPct val="124000"/>
              </a:lnSpc>
              <a:spcAft>
                <a:spcPts val="400"/>
              </a:spcAft>
            </a:pPr>
            <a:r>
              <a:rPr sz="1300" b="0" i="0">
                <a:solidFill>
                  <a:srgbClr val="F6F1E4"/>
                </a:solidFill>
                <a:latin typeface="Arial"/>
              </a:rPr>
              <a:t>Of twenty-five attempts, every single failure held member money, guaranteed member money, or removed the rotation that makes a committee a committee. Every durable success either kept the money outside itself, or paid a full regulatory toll to hold it legitimately.</a:t>
            </a:r>
          </a:p>
          <a:p>
            <a:pPr algn="l">
              <a:lnSpc>
                <a:spcPct val="124000"/>
              </a:lnSpc>
              <a:spcAft>
                <a:spcPts val="400"/>
              </a:spcAft>
            </a:pPr>
            <a:r>
              <a:rPr sz="1300" b="0" i="0">
                <a:solidFill>
                  <a:srgbClr val="F6F1E4"/>
                </a:solidFill>
                <a:latin typeface="Arial"/>
              </a:rPr>
              <a:t>There is no case of a well-executed no-custody committee product failing, and no case of an unlicensed custody product surviving.</a:t>
            </a:r>
          </a:p>
        </p:txBody>
      </p:sp>
      <p:sp>
        <p:nvSpPr>
          <p:cNvPr id="19" name="TextBox 18"/>
          <p:cNvSpPr txBox="1"/>
          <p:nvPr/>
        </p:nvSpPr>
        <p:spPr>
          <a:xfrm>
            <a:off x="566928" y="267004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23   The eight killers</a:t>
            </a:r>
          </a:p>
        </p:txBody>
      </p:sp>
      <p:graphicFrame>
        <p:nvGraphicFramePr>
          <p:cNvPr id="20" name="Table 19"/>
          <p:cNvGraphicFramePr>
            <a:graphicFrameLocks noGrp="1"/>
          </p:cNvGraphicFramePr>
          <p:nvPr/>
        </p:nvGraphicFramePr>
        <p:xfrm>
          <a:off x="566928" y="2889504"/>
          <a:ext cx="11057838" cy="3134197"/>
        </p:xfrm>
        <a:graphic>
          <a:graphicData uri="http://schemas.openxmlformats.org/drawingml/2006/table">
            <a:tbl>
              <a:tblPr>
                <a:tableStyleId>{5C22544A-7EE6-4342-B048-85BDC9FD1C3A}</a:tableStyleId>
              </a:tblPr>
              <a:tblGrid>
                <a:gridCol w="442313"/>
                <a:gridCol w="4644292"/>
                <a:gridCol w="5971233"/>
              </a:tblGrid>
              <a:tr h="354421">
                <a:tc>
                  <a:txBody>
                    <a:bodyPr wrap="square"/>
                    <a:lstStyle/>
                    <a:p>
                      <a:pPr algn="l"/>
                      <a:r>
                        <a:rPr sz="960" b="1">
                          <a:solidFill>
                            <a:srgbClr val="F6F1E4"/>
                          </a:solidFill>
                          <a:latin typeface="Arial"/>
                        </a:rPr>
                        <a: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Killer</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Cases</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Custody — holding the pool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Punjab cooperatives, TAG, SadaPay, Oraan’s ceiling, Braid by proxy, Sidra Humaid, Saradha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Guarantee burden — the platform as payer of last resort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eMoneyPool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Stranger pooling — trust without a graph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Yahoo Tanda, Puddle, Oraan v1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4</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Amputating the credit half — no early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UBL Kommittee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Adding interest to a riba-defined culture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UBL Kommittee, every auction model in Pakistan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6</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Record without settlement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Udhaar Book, DigiKhata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7</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Monetising the member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Oraan v1, every subscription ROSCA app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Regulatory ambush — rules written after a scandal, around someone else’s model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India after Saradha, Pakistan after nano-lending, the coming committee rules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1" name="TextBox 20"/>
          <p:cNvSpPr txBox="1"/>
          <p:nvPr/>
        </p:nvSpPr>
        <p:spPr>
          <a:xfrm>
            <a:off x="566928" y="6144768"/>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Halqa has an architectural answer to each. reported, from company disclosures, regulator actions and press across nine markets.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four models that work, and what each one proves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None of them is a competitor for Halqa’s position. Each validates one component of it.</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37</a:t>
            </a:r>
          </a:p>
        </p:txBody>
      </p:sp>
      <p:sp>
        <p:nvSpPr>
          <p:cNvPr id="18" name="TextBox 17"/>
          <p:cNvSpPr txBox="1"/>
          <p:nvPr/>
        </p:nvSpPr>
        <p:spPr>
          <a:xfrm>
            <a:off x="566928" y="166420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24   The living</a:t>
            </a:r>
          </a:p>
        </p:txBody>
      </p:sp>
      <p:graphicFrame>
        <p:nvGraphicFramePr>
          <p:cNvPr id="19" name="Table 18"/>
          <p:cNvGraphicFramePr>
            <a:graphicFrameLocks noGrp="1"/>
          </p:cNvGraphicFramePr>
          <p:nvPr/>
        </p:nvGraphicFramePr>
        <p:xfrm>
          <a:off x="566928" y="1883664"/>
          <a:ext cx="11057838" cy="4682093"/>
        </p:xfrm>
        <a:graphic>
          <a:graphicData uri="http://schemas.openxmlformats.org/drawingml/2006/table">
            <a:tbl>
              <a:tblPr>
                <a:tableStyleId>{5C22544A-7EE6-4342-B048-85BDC9FD1C3A}</a:tableStyleId>
              </a:tblPr>
              <a:tblGrid>
                <a:gridCol w="1437519"/>
                <a:gridCol w="2432724"/>
                <a:gridCol w="3427930"/>
                <a:gridCol w="3759665"/>
              </a:tblGrid>
              <a:tr h="951341">
                <a:tc>
                  <a:txBody>
                    <a:bodyPr wrap="square"/>
                    <a:lstStyle/>
                    <a:p>
                      <a:pPr algn="l"/>
                      <a:r>
                        <a:rPr sz="960" b="1">
                          <a:solidFill>
                            <a:srgbClr val="F6F1E4"/>
                          </a:solidFill>
                          <a:latin typeface="Arial"/>
                        </a:rPr>
                        <a:t>Case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Reported scale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The mechanism</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What it proves for us</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932688">
                <a:tc>
                  <a:txBody>
                    <a:bodyPr wrap="square"/>
                    <a:lstStyle/>
                    <a:p>
                      <a:pPr algn="l"/>
                      <a:r>
                        <a:rPr sz="880" b="0">
                          <a:solidFill>
                            <a:srgbClr val="0E1512"/>
                          </a:solidFill>
                          <a:latin typeface="Arial"/>
                        </a:rPr>
                        <a:t>Money Fellows, Egypt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8M downloads, 1M+ served, ~350k monthly actives, $1.5bn processed across 2M+ circles, profitable 2025, ~$60M raised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Custody done properly. Slot position is priced — the fee is the price of liquidity. The platform fills unsold slots and covers defaults from its own capital, on under 8% of active slots.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Digitised committees scale to millions and to profit. Pricing the seat works. A sandbox is the door out of the grey market. What it carries — being the circle’s counterparty — took years of licence and capital to make safe.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932688">
                <a:tc>
                  <a:txBody>
                    <a:bodyPr wrap="square"/>
                    <a:lstStyle/>
                    <a:p>
                      <a:pPr algn="l"/>
                      <a:r>
                        <a:rPr sz="880" b="0">
                          <a:solidFill>
                            <a:srgbClr val="0E1512"/>
                          </a:solidFill>
                          <a:latin typeface="Arial"/>
                        </a:rPr>
                        <a:t>Hakbah, Saudi Arabia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1.3M+ registered users, ~70% young savers, ~$9M raised, SAMA sandbox permit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Treated the jam’iyya as a cultural institution to respect rather than a market to disrupt, and made the central bank its first partner.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The closest existing analogue to the posture Halqa intends with SECP.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932688">
                <a:tc>
                  <a:txBody>
                    <a:bodyPr wrap="square"/>
                    <a:lstStyle/>
                    <a:p>
                      <a:pPr algn="l"/>
                      <a:r>
                        <a:rPr sz="880" b="0">
                          <a:solidFill>
                            <a:srgbClr val="0E1512"/>
                          </a:solidFill>
                          <a:latin typeface="Arial"/>
                        </a:rPr>
                        <a:t>Mapan, Indonesia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Acquired by GO-JEK 2017, later past a million users on a $15M round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Village leader-agents, largely women, form and run circles. The pot is frequently delivered as goods. Revenue is margin on the goods, shared with agents.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The unit of growth is the organizer, compensated for organising. And a goods pot suppresses default — a delivered good cannot be re-lent, re-hidden, or claimed by relatives.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932688">
                <a:tc>
                  <a:txBody>
                    <a:bodyPr wrap="square"/>
                    <a:lstStyle/>
                    <a:p>
                      <a:pPr algn="l"/>
                      <a:r>
                        <a:rPr sz="880" b="0">
                          <a:solidFill>
                            <a:srgbClr val="0E1512"/>
                          </a:solidFill>
                          <a:latin typeface="Arial"/>
                        </a:rPr>
                        <a:t>The Money Club, India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200,000+ users, ~17,000 clubs, ~Rs 40 crore pooled, $1.7M pre-Series 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Graduated exposure. Members start in tiny clubs with small amounts; only sustained clean behaviour unlocks larger clubs and larger sums.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Underwriting by demonstrated history rather than documents — and their refinement, which we adopt: the permitted amounts, not only the seats, should scale with history.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single most important case in the archive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Esusu launched as a communal savings app named for the West African rotating savings practice, found the US market too thin, and pivoted.</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38</a:t>
            </a:r>
          </a:p>
        </p:txBody>
      </p:sp>
      <p:sp>
        <p:nvSpPr>
          <p:cNvPr id="18" name="Rectangle 17"/>
          <p:cNvSpPr/>
          <p:nvPr/>
        </p:nvSpPr>
        <p:spPr>
          <a:xfrm>
            <a:off x="566928" y="1700784"/>
            <a:ext cx="6675120" cy="20574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960" y="1883664"/>
            <a:ext cx="6172200" cy="1828800"/>
          </a:xfrm>
          <a:prstGeom prst="rect">
            <a:avLst/>
          </a:prstGeom>
          <a:noFill/>
        </p:spPr>
        <p:txBody>
          <a:bodyPr wrap="square" lIns="0" rIns="0" tIns="0" bIns="0" anchor="t">
            <a:spAutoFit/>
          </a:bodyPr>
          <a:lstStyle/>
          <a:p>
            <a:pPr algn="l">
              <a:lnSpc>
                <a:spcPct val="126000"/>
              </a:lnSpc>
              <a:spcAft>
                <a:spcPts val="500"/>
              </a:spcAft>
            </a:pPr>
            <a:r>
              <a:rPr sz="1260" b="0" i="0">
                <a:solidFill>
                  <a:srgbClr val="F6F1E4"/>
                </a:solidFill>
                <a:latin typeface="Arial"/>
              </a:rPr>
              <a:t>Esusu abandoned moving the money and kept only the recording of it — and that is where all the value turned out to be. They did not build a savings product. They built a machine that converts an obligation people already honour into a formal credit record, and that machine was worth a billion dollars.</a:t>
            </a:r>
          </a:p>
          <a:p>
            <a:pPr algn="l">
              <a:lnSpc>
                <a:spcPct val="126000"/>
              </a:lnSpc>
              <a:spcAft>
                <a:spcPts val="500"/>
              </a:spcAft>
            </a:pPr>
            <a:r>
              <a:rPr sz="1260" b="0" i="0">
                <a:solidFill>
                  <a:srgbClr val="F6F1E4"/>
                </a:solidFill>
                <a:latin typeface="Arial"/>
              </a:rPr>
              <a:t/>
            </a:r>
          </a:p>
          <a:p>
            <a:pPr algn="l">
              <a:lnSpc>
                <a:spcPct val="126000"/>
              </a:lnSpc>
              <a:spcAft>
                <a:spcPts val="500"/>
              </a:spcAft>
            </a:pPr>
            <a:r>
              <a:rPr sz="1260" b="0" i="0">
                <a:solidFill>
                  <a:srgbClr val="F6F1E4"/>
                </a:solidFill>
                <a:latin typeface="Arial"/>
              </a:rPr>
              <a:t>In America the obligation people already honour is rent.</a:t>
            </a:r>
          </a:p>
          <a:p>
            <a:pPr algn="l">
              <a:lnSpc>
                <a:spcPct val="126000"/>
              </a:lnSpc>
              <a:spcAft>
                <a:spcPts val="500"/>
              </a:spcAft>
            </a:pPr>
            <a:r>
              <a:rPr sz="1260" b="0" i="0">
                <a:solidFill>
                  <a:srgbClr val="F6F1E4"/>
                </a:solidFill>
                <a:latin typeface="Arial"/>
              </a:rPr>
              <a:t>In Pakistan it is the committee — which Kamran’s informants rank above rent.</a:t>
            </a:r>
          </a:p>
        </p:txBody>
      </p:sp>
      <p:sp>
        <p:nvSpPr>
          <p:cNvPr id="20" name="TextBox 19"/>
          <p:cNvSpPr txBox="1"/>
          <p:nvPr/>
        </p:nvSpPr>
        <p:spPr>
          <a:xfrm>
            <a:off x="566928" y="3840480"/>
            <a:ext cx="667512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Esusu integrated with property-management software and reported on-time rent payments to Equifax, Experian and TransUnion. January 2022: $130M Series B led by SoftBank Vision Fund 2 at a $1 billion valuation. reported</a:t>
            </a:r>
          </a:p>
        </p:txBody>
      </p:sp>
      <p:sp>
        <p:nvSpPr>
          <p:cNvPr id="21" name="TextBox 20"/>
          <p:cNvSpPr txBox="1"/>
          <p:nvPr/>
        </p:nvSpPr>
        <p:spPr>
          <a:xfrm>
            <a:off x="566928" y="4443984"/>
            <a:ext cx="6675120" cy="365760"/>
          </a:xfrm>
          <a:prstGeom prst="rect">
            <a:avLst/>
          </a:prstGeom>
          <a:noFill/>
        </p:spPr>
        <p:txBody>
          <a:bodyPr wrap="square" lIns="0" rIns="0" tIns="0" bIns="0" anchor="t">
            <a:spAutoFit/>
          </a:bodyPr>
          <a:lstStyle/>
          <a:p>
            <a:pPr algn="l">
              <a:lnSpc>
                <a:spcPct val="122000"/>
              </a:lnSpc>
              <a:spcAft>
                <a:spcPts val="400"/>
              </a:spcAft>
            </a:pPr>
            <a:r>
              <a:rPr sz="1300" b="0" i="0">
                <a:solidFill>
                  <a:srgbClr val="123D30"/>
                </a:solidFill>
                <a:latin typeface="Georgia"/>
              </a:rPr>
              <a:t>Halqa is the Esusu thesis applied to the largest un-recorded obligation stream in Pakistan. The instruction that follows: the committee is the funnel; the credit record is the company.</a:t>
            </a:r>
          </a:p>
        </p:txBody>
      </p:sp>
      <p:sp>
        <p:nvSpPr>
          <p:cNvPr id="22" name="TextBox 21"/>
          <p:cNvSpPr txBox="1"/>
          <p:nvPr/>
        </p:nvSpPr>
        <p:spPr>
          <a:xfrm>
            <a:off x="566928" y="5230368"/>
            <a:ext cx="66751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Three cases that say the same thing</a:t>
            </a:r>
          </a:p>
        </p:txBody>
      </p:sp>
      <p:sp>
        <p:nvSpPr>
          <p:cNvPr id="23" name="TextBox 22"/>
          <p:cNvSpPr txBox="1"/>
          <p:nvPr/>
        </p:nvSpPr>
        <p:spPr>
          <a:xfrm>
            <a:off x="566928" y="5541264"/>
            <a:ext cx="6675120" cy="365760"/>
          </a:xfrm>
          <a:prstGeom prst="rect">
            <a:avLst/>
          </a:prstGeom>
          <a:noFill/>
        </p:spPr>
        <p:txBody>
          <a:bodyPr wrap="square" lIns="0" rIns="0" tIns="0" bIns="0">
            <a:spAutoFit/>
          </a:bodyPr>
          <a:lstStyle/>
          <a:p>
            <a:pPr>
              <a:lnSpc>
                <a:spcPct val="106000"/>
              </a:lnSpc>
              <a:spcAft>
                <a:spcPts val="500"/>
              </a:spcAft>
            </a:pPr>
            <a:r>
              <a:rPr sz="1019" b="1">
                <a:solidFill>
                  <a:srgbClr val="D9A93C"/>
                </a:solidFill>
                <a:latin typeface="Georgia"/>
              </a:rPr>
              <a:t>|  </a:t>
            </a:r>
            <a:r>
              <a:rPr sz="1019" b="1">
                <a:solidFill>
                  <a:srgbClr val="123D30"/>
                </a:solidFill>
                <a:latin typeface="Arial"/>
              </a:rPr>
              <a:t>eMoneyPool  </a:t>
            </a:r>
            <a:r>
              <a:rPr sz="1019">
                <a:solidFill>
                  <a:srgbClr val="0E1512"/>
                </a:solidFill>
                <a:latin typeface="Arial"/>
              </a:rPr>
              <a:t>nine years, reported members’ payment histories to credit bureaus, and died carrying the guarantee on its own balance sheet. Right about the destination, wrong about the vehicle.</a:t>
            </a:r>
          </a:p>
          <a:p>
            <a:pPr>
              <a:lnSpc>
                <a:spcPct val="106000"/>
              </a:lnSpc>
              <a:spcAft>
                <a:spcPts val="500"/>
              </a:spcAft>
            </a:pPr>
            <a:r>
              <a:rPr sz="1019" b="1">
                <a:solidFill>
                  <a:srgbClr val="D9A93C"/>
                </a:solidFill>
                <a:latin typeface="Georgia"/>
              </a:rPr>
              <a:t>|  </a:t>
            </a:r>
            <a:r>
              <a:rPr sz="1019" b="1">
                <a:solidFill>
                  <a:srgbClr val="123D30"/>
                </a:solidFill>
                <a:latin typeface="Arial"/>
              </a:rPr>
              <a:t>Chamasoft, Kenya  </a:t>
            </a:r>
            <a:r>
              <a:rPr sz="1019">
                <a:solidFill>
                  <a:srgbClr val="0E1512"/>
                </a:solidFill>
                <a:latin typeface="Arial"/>
              </a:rPr>
              <a:t>where an excellent payment rail already exists, the platform layer that survives is the record. A preview of Pakistan after Raast matures.</a:t>
            </a:r>
          </a:p>
        </p:txBody>
      </p:sp>
      <p:sp>
        <p:nvSpPr>
          <p:cNvPr id="24" name="Rectangle 23"/>
          <p:cNvSpPr/>
          <p:nvPr/>
        </p:nvSpPr>
        <p:spPr>
          <a:xfrm>
            <a:off x="7653528" y="1700784"/>
            <a:ext cx="3931920" cy="4251960"/>
          </a:xfrm>
          <a:prstGeom prst="rect">
            <a:avLst/>
          </a:prstGeom>
          <a:solidFill>
            <a:srgbClr val="FFFFFF"/>
          </a:solidFill>
          <a:ln w="1397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863840" y="1883664"/>
            <a:ext cx="3520440" cy="3931920"/>
          </a:xfrm>
          <a:prstGeom prst="rect">
            <a:avLst/>
          </a:prstGeom>
          <a:noFill/>
        </p:spPr>
        <p:txBody>
          <a:bodyPr wrap="square" lIns="0" rIns="0" tIns="0" bIns="0" anchor="t">
            <a:spAutoFit/>
          </a:bodyPr>
          <a:lstStyle/>
          <a:p>
            <a:pPr algn="l">
              <a:lnSpc>
                <a:spcPct val="122000"/>
              </a:lnSpc>
              <a:spcAft>
                <a:spcPts val="400"/>
              </a:spcAft>
            </a:pPr>
            <a:r>
              <a:rPr sz="1080" b="0" i="0">
                <a:solidFill>
                  <a:srgbClr val="0E1512"/>
                </a:solidFill>
                <a:latin typeface="Arial"/>
              </a:rPr>
              <a:t>Mission Asset Fund, San Francisco</a:t>
            </a:r>
          </a:p>
          <a:p>
            <a:pPr algn="l">
              <a:lnSpc>
                <a:spcPct val="122000"/>
              </a:lnSpc>
              <a:spcAft>
                <a:spcPts val="400"/>
              </a:spcAft>
            </a:pPr>
            <a:r>
              <a:rPr sz="1080" b="0" i="0">
                <a:solidFill>
                  <a:srgbClr val="0E1512"/>
                </a:solidFill>
                <a:latin typeface="Arial"/>
              </a:rPr>
              <a:t/>
            </a:r>
          </a:p>
          <a:p>
            <a:pPr algn="l">
              <a:lnSpc>
                <a:spcPct val="122000"/>
              </a:lnSpc>
              <a:spcAft>
                <a:spcPts val="400"/>
              </a:spcAft>
            </a:pPr>
            <a:r>
              <a:rPr sz="1080" b="0" i="0">
                <a:solidFill>
                  <a:srgbClr val="0E1512"/>
                </a:solidFill>
                <a:latin typeface="Arial"/>
              </a:rPr>
              <a:t>A non-profit running lending circles based on the Mexican tanda. Groups of six to twelve. Contributions of $50 to $200 a month. Each month one member receives the pot as a zero-interest loan of $300 to $2,400. MAF formalises it as a loan, services it, and reports every monthly payment to all three major bureaus.</a:t>
            </a:r>
          </a:p>
          <a:p>
            <a:pPr algn="l">
              <a:lnSpc>
                <a:spcPct val="122000"/>
              </a:lnSpc>
              <a:spcAft>
                <a:spcPts val="400"/>
              </a:spcAft>
            </a:pPr>
            <a:r>
              <a:rPr sz="1080" b="0" i="0">
                <a:solidFill>
                  <a:srgbClr val="0E1512"/>
                </a:solidFill>
                <a:latin typeface="Arial"/>
              </a:rPr>
              <a:t/>
            </a:r>
          </a:p>
          <a:p>
            <a:pPr algn="l">
              <a:lnSpc>
                <a:spcPct val="122000"/>
              </a:lnSpc>
              <a:spcAft>
                <a:spcPts val="400"/>
              </a:spcAft>
            </a:pPr>
            <a:r>
              <a:rPr sz="1080" b="0" i="0">
                <a:solidFill>
                  <a:srgbClr val="0E1512"/>
                </a:solidFill>
                <a:latin typeface="Arial"/>
              </a:rPr>
              <a:t>Reported average credit score increase for participants:</a:t>
            </a:r>
          </a:p>
        </p:txBody>
      </p:sp>
      <p:sp>
        <p:nvSpPr>
          <p:cNvPr id="26" name="TextBox 25"/>
          <p:cNvSpPr txBox="1"/>
          <p:nvPr/>
        </p:nvSpPr>
        <p:spPr>
          <a:xfrm>
            <a:off x="7863840" y="4626864"/>
            <a:ext cx="3520440" cy="640080"/>
          </a:xfrm>
          <a:prstGeom prst="rect">
            <a:avLst/>
          </a:prstGeom>
          <a:noFill/>
        </p:spPr>
        <p:txBody>
          <a:bodyPr wrap="square" lIns="0" rIns="0" tIns="0" bIns="0" anchor="t">
            <a:spAutoFit/>
          </a:bodyPr>
          <a:lstStyle/>
          <a:p>
            <a:pPr algn="l">
              <a:lnSpc>
                <a:spcPct val="100000"/>
              </a:lnSpc>
              <a:spcAft>
                <a:spcPts val="400"/>
              </a:spcAft>
            </a:pPr>
            <a:r>
              <a:rPr sz="3200" b="0" i="0">
                <a:solidFill>
                  <a:srgbClr val="D9A93C"/>
                </a:solidFill>
                <a:latin typeface="Georgia"/>
              </a:rPr>
              <a:t>+168 points</a:t>
            </a:r>
          </a:p>
        </p:txBody>
      </p:sp>
      <p:sp>
        <p:nvSpPr>
          <p:cNvPr id="27" name="TextBox 26"/>
          <p:cNvSpPr txBox="1"/>
          <p:nvPr/>
        </p:nvSpPr>
        <p:spPr>
          <a:xfrm>
            <a:off x="7863840" y="5230368"/>
            <a:ext cx="3520440" cy="640080"/>
          </a:xfrm>
          <a:prstGeom prst="rect">
            <a:avLst/>
          </a:prstGeom>
          <a:noFill/>
        </p:spPr>
        <p:txBody>
          <a:bodyPr wrap="square" lIns="0" rIns="0" tIns="0" bIns="0" anchor="t">
            <a:spAutoFit/>
          </a:bodyPr>
          <a:lstStyle/>
          <a:p>
            <a:pPr algn="l">
              <a:lnSpc>
                <a:spcPct val="120000"/>
              </a:lnSpc>
              <a:spcAft>
                <a:spcPts val="400"/>
              </a:spcAft>
            </a:pPr>
            <a:r>
              <a:rPr sz="1040" b="0" i="0">
                <a:solidFill>
                  <a:srgbClr val="4C574F"/>
                </a:solidFill>
                <a:latin typeface="Arial"/>
              </a:rPr>
              <a:t>Its one limitation is the one Halqa is built to solve: MAF depends on philanthropy because it serves small numbers at high touch.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Where Halqa sits, and who the real threat is</a:t>
            </a:r>
          </a:p>
        </p:txBody>
      </p:sp>
      <p:cxnSp>
        <p:nvCxnSpPr>
          <p:cNvPr id="5" name="Connector 4"/>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6" name="TextBox 15"/>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39</a:t>
            </a:r>
          </a:p>
        </p:txBody>
      </p:sp>
      <p:sp>
        <p:nvSpPr>
          <p:cNvPr id="17" name="TextBox 16"/>
          <p:cNvSpPr txBox="1"/>
          <p:nvPr/>
        </p:nvSpPr>
        <p:spPr>
          <a:xfrm>
            <a:off x="566928" y="1371600"/>
            <a:ext cx="58521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25   Six elements, each independently validated by a success in the archive</a:t>
            </a:r>
          </a:p>
        </p:txBody>
      </p:sp>
      <p:graphicFrame>
        <p:nvGraphicFramePr>
          <p:cNvPr id="18" name="Table 17"/>
          <p:cNvGraphicFramePr>
            <a:graphicFrameLocks noGrp="1"/>
          </p:cNvGraphicFramePr>
          <p:nvPr/>
        </p:nvGraphicFramePr>
        <p:xfrm>
          <a:off x="566928" y="1591056"/>
          <a:ext cx="5852159" cy="2118299"/>
        </p:xfrm>
        <a:graphic>
          <a:graphicData uri="http://schemas.openxmlformats.org/drawingml/2006/table">
            <a:tbl>
              <a:tblPr>
                <a:tableStyleId>{5C22544A-7EE6-4342-B048-85BDC9FD1C3A}</a:tableStyleId>
              </a:tblPr>
              <a:tblGrid>
                <a:gridCol w="3394252"/>
                <a:gridCol w="2457907"/>
              </a:tblGrid>
              <a:tr h="307787">
                <a:tc>
                  <a:txBody>
                    <a:bodyPr wrap="square"/>
                    <a:lstStyle/>
                    <a:p>
                      <a:pPr algn="l"/>
                      <a:r>
                        <a:rPr sz="960" b="1">
                          <a:solidFill>
                            <a:srgbClr val="F6F1E4"/>
                          </a:solidFill>
                          <a:latin typeface="Arial"/>
                        </a:rPr>
                        <a:t>Element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Validated by</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An intact rotating instrument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Money Fellows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Inherited social circles, never strangers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Mission Asset Fund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Zero custody, settlement on an existing rail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Chamasoft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Agent-led distribution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Mapan and Shriram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The record as the product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Esusu</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E1512"/>
                          </a:solidFill>
                          <a:latin typeface="Arial"/>
                        </a:rPr>
                        <a:t>The regulator engaged early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Hakbah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19" name="Rectangle 18"/>
          <p:cNvSpPr/>
          <p:nvPr/>
        </p:nvSpPr>
        <p:spPr>
          <a:xfrm>
            <a:off x="566928" y="3657600"/>
            <a:ext cx="5852160" cy="60350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8096" y="3785615"/>
            <a:ext cx="5486400" cy="365760"/>
          </a:xfrm>
          <a:prstGeom prst="rect">
            <a:avLst/>
          </a:prstGeom>
          <a:noFill/>
        </p:spPr>
        <p:txBody>
          <a:bodyPr wrap="square" lIns="0" rIns="0" tIns="0" bIns="0" anchor="t">
            <a:spAutoFit/>
          </a:bodyPr>
          <a:lstStyle/>
          <a:p>
            <a:pPr algn="l">
              <a:lnSpc>
                <a:spcPct val="100000"/>
              </a:lnSpc>
              <a:spcAft>
                <a:spcPts val="400"/>
              </a:spcAft>
            </a:pPr>
            <a:r>
              <a:rPr sz="1320" b="0" i="0">
                <a:solidFill>
                  <a:srgbClr val="F6F1E4"/>
                </a:solidFill>
                <a:latin typeface="Georgia"/>
              </a:rPr>
              <a:t>No company in the archive holds all six at once.</a:t>
            </a:r>
          </a:p>
        </p:txBody>
      </p:sp>
      <p:sp>
        <p:nvSpPr>
          <p:cNvPr id="21" name="TextBox 20"/>
          <p:cNvSpPr txBox="1"/>
          <p:nvPr/>
        </p:nvSpPr>
        <p:spPr>
          <a:xfrm>
            <a:off x="566928" y="4498848"/>
            <a:ext cx="5852160" cy="822960"/>
          </a:xfrm>
          <a:prstGeom prst="rect">
            <a:avLst/>
          </a:prstGeom>
          <a:noFill/>
        </p:spPr>
        <p:txBody>
          <a:bodyPr wrap="square" lIns="0" rIns="0" tIns="0" bIns="0" anchor="t">
            <a:spAutoFit/>
          </a:bodyPr>
          <a:lstStyle/>
          <a:p>
            <a:pPr algn="l">
              <a:lnSpc>
                <a:spcPct val="122000"/>
              </a:lnSpc>
              <a:spcAft>
                <a:spcPts val="400"/>
              </a:spcAft>
            </a:pPr>
            <a:r>
              <a:rPr sz="1140" b="0" i="0">
                <a:solidFill>
                  <a:srgbClr val="0E1512"/>
                </a:solidFill>
                <a:latin typeface="Arial"/>
              </a:rPr>
              <a:t>Three conclusions carry across every market. Custody is the variable, and it is binary in effect. The trust graph is inherited, never manufactured. Distribution is agents, not advertising — not one case in twenty-five grew by acquiring individual users through marketing.</a:t>
            </a:r>
          </a:p>
        </p:txBody>
      </p:sp>
      <p:sp>
        <p:nvSpPr>
          <p:cNvPr id="22" name="TextBox 21"/>
          <p:cNvSpPr txBox="1"/>
          <p:nvPr/>
        </p:nvSpPr>
        <p:spPr>
          <a:xfrm>
            <a:off x="566928" y="5431536"/>
            <a:ext cx="5852160" cy="822960"/>
          </a:xfrm>
          <a:prstGeom prst="rect">
            <a:avLst/>
          </a:prstGeom>
          <a:noFill/>
        </p:spPr>
        <p:txBody>
          <a:bodyPr wrap="square" lIns="0" rIns="0" tIns="0" bIns="0" anchor="t">
            <a:spAutoFit/>
          </a:bodyPr>
          <a:lstStyle/>
          <a:p>
            <a:pPr algn="l">
              <a:lnSpc>
                <a:spcPct val="122000"/>
              </a:lnSpc>
              <a:spcAft>
                <a:spcPts val="400"/>
              </a:spcAft>
            </a:pPr>
            <a:r>
              <a:rPr sz="1140" b="0" i="0">
                <a:solidFill>
                  <a:srgbClr val="0E1512"/>
                </a:solidFill>
                <a:latin typeface="Arial"/>
              </a:rPr>
              <a:t>Regulation arrives after the scandal and shapes itself around whoever is visible. India after Saradha. SECP after the nano-lending deaths. Pakistan will regulate digital committees after its first large platform fraud.</a:t>
            </a:r>
          </a:p>
        </p:txBody>
      </p:sp>
      <p:sp>
        <p:nvSpPr>
          <p:cNvPr id="23" name="TextBox 22"/>
          <p:cNvSpPr txBox="1"/>
          <p:nvPr/>
        </p:nvSpPr>
        <p:spPr>
          <a:xfrm>
            <a:off x="6830568" y="1371600"/>
            <a:ext cx="475488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26   The competitive map, corrected</a:t>
            </a:r>
          </a:p>
        </p:txBody>
      </p:sp>
      <p:graphicFrame>
        <p:nvGraphicFramePr>
          <p:cNvPr id="24" name="Table 23"/>
          <p:cNvGraphicFramePr>
            <a:graphicFrameLocks noGrp="1"/>
          </p:cNvGraphicFramePr>
          <p:nvPr/>
        </p:nvGraphicFramePr>
        <p:xfrm>
          <a:off x="6830568" y="1591056"/>
          <a:ext cx="4754879" cy="3488618"/>
        </p:xfrm>
        <a:graphic>
          <a:graphicData uri="http://schemas.openxmlformats.org/drawingml/2006/table">
            <a:tbl>
              <a:tblPr>
                <a:tableStyleId>{5C22544A-7EE6-4342-B048-85BDC9FD1C3A}</a:tableStyleId>
              </a:tblPr>
              <a:tblGrid>
                <a:gridCol w="950976"/>
                <a:gridCol w="760780"/>
                <a:gridCol w="3043123"/>
              </a:tblGrid>
              <a:tr h="708842">
                <a:tc>
                  <a:txBody>
                    <a:bodyPr wrap="square"/>
                    <a:lstStyle/>
                    <a:p>
                      <a:pPr algn="l"/>
                      <a:r>
                        <a:rPr sz="960" b="1">
                          <a:solidFill>
                            <a:srgbClr val="F6F1E4"/>
                          </a:solidFill>
                          <a:latin typeface="Arial"/>
                        </a:rPr>
                        <a:t>Player</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Threat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Why</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694944">
                <a:tc>
                  <a:txBody>
                    <a:bodyPr wrap="square"/>
                    <a:lstStyle/>
                    <a:p>
                      <a:pPr algn="l"/>
                      <a:r>
                        <a:rPr sz="880" b="0">
                          <a:solidFill>
                            <a:srgbClr val="0E1512"/>
                          </a:solidFill>
                          <a:latin typeface="Arial"/>
                        </a:rPr>
                        <a:t>Oraan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Low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Custody, licence, member fees, stranger pooling — every structural choice is one we deliberately inverted. Proof of category, not a competitor for our position.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694944">
                <a:tc>
                  <a:txBody>
                    <a:bodyPr wrap="square"/>
                    <a:lstStyle/>
                    <a:p>
                      <a:pPr algn="l"/>
                      <a:r>
                        <a:rPr sz="880" b="0">
                          <a:solidFill>
                            <a:srgbClr val="0E1512"/>
                          </a:solidFill>
                          <a:latin typeface="Arial"/>
                        </a:rPr>
                        <a:t>Money Fellows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Low near-term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Would enter with a custody model needing a Pakistani licensing programme. Slow, capital-heavy, and stranger pooling does not fit a market organised around pre-existing circles.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694944">
                <a:tc>
                  <a:txBody>
                    <a:bodyPr wrap="square"/>
                    <a:lstStyle/>
                    <a:p>
                      <a:pPr algn="l"/>
                      <a:r>
                        <a:rPr sz="880" b="0">
                          <a:solidFill>
                            <a:srgbClr val="0E1512"/>
                          </a:solidFill>
                          <a:latin typeface="Arial"/>
                        </a:rPr>
                        <a:t>Notebook apps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Low on substance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Cannot produce a credit history. But free, already installed, and they shape what users expect a committee app to be.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694944">
                <a:tc>
                  <a:txBody>
                    <a:bodyPr wrap="square"/>
                    <a:lstStyle/>
                    <a:p>
                      <a:pPr algn="l"/>
                      <a:r>
                        <a:rPr sz="880" b="0">
                          <a:solidFill>
                            <a:srgbClr val="0E1512"/>
                          </a:solidFill>
                          <a:latin typeface="Arial"/>
                        </a:rPr>
                        <a:t>JazzCash / Easypaisa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HIGH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E1512"/>
                          </a:solidFill>
                          <a:latin typeface="Arial"/>
                        </a:rPr>
                        <a:t>Tens of millions of users, the wallet the money already sits in, a payments licence, agent networks, brand trust. This is the real 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5" name="TextBox 24"/>
          <p:cNvSpPr txBox="1"/>
          <p:nvPr/>
        </p:nvSpPr>
        <p:spPr>
          <a:xfrm>
            <a:off x="6830568" y="4809744"/>
            <a:ext cx="4754880" cy="1371600"/>
          </a:xfrm>
          <a:prstGeom prst="rect">
            <a:avLst/>
          </a:prstGeom>
          <a:noFill/>
        </p:spPr>
        <p:txBody>
          <a:bodyPr wrap="square" lIns="0" rIns="0" tIns="0" bIns="0" anchor="t">
            <a:spAutoFit/>
          </a:bodyPr>
          <a:lstStyle/>
          <a:p>
            <a:pPr algn="l">
              <a:lnSpc>
                <a:spcPct val="118000"/>
              </a:lnSpc>
              <a:spcAft>
                <a:spcPts val="300"/>
              </a:spcAft>
            </a:pPr>
            <a:r>
              <a:rPr sz="1000" b="0" i="0">
                <a:solidFill>
                  <a:srgbClr val="0E1512"/>
                </a:solidFill>
                <a:latin typeface="Arial"/>
              </a:rPr>
              <a:t>Why the wallets probably will not, and the defence</a:t>
            </a:r>
          </a:p>
          <a:p>
            <a:pPr algn="l">
              <a:lnSpc>
                <a:spcPct val="118000"/>
              </a:lnSpc>
              <a:spcAft>
                <a:spcPts val="300"/>
              </a:spcAft>
            </a:pPr>
            <a:r>
              <a:rPr sz="1000" b="0" i="0">
                <a:solidFill>
                  <a:srgbClr val="0E1512"/>
                </a:solidFill>
                <a:latin typeface="Arial"/>
              </a:rPr>
              <a:t/>
            </a:r>
          </a:p>
          <a:p>
            <a:pPr algn="l">
              <a:lnSpc>
                <a:spcPct val="118000"/>
              </a:lnSpc>
              <a:spcAft>
                <a:spcPts val="300"/>
              </a:spcAft>
            </a:pPr>
            <a:r>
              <a:rPr sz="1000" b="0" i="0">
                <a:solidFill>
                  <a:srgbClr val="0E1512"/>
                </a:solidFill>
                <a:latin typeface="Arial"/>
              </a:rPr>
              <a:t>Their licence is the obstacle. As EMIs, holding balances is the business. A no-custody committee contradicts the model; a custody one imports the deposit-taking scrutiny that makes committee products legally fraught for a licensed institution. UBL is the live proof. Their users are individuals, not circles.</a:t>
            </a:r>
          </a:p>
          <a:p>
            <a:pPr algn="l">
              <a:lnSpc>
                <a:spcPct val="118000"/>
              </a:lnSpc>
              <a:spcAft>
                <a:spcPts val="300"/>
              </a:spcAft>
            </a:pPr>
            <a:r>
              <a:rPr sz="1000" b="0" i="0">
                <a:solidFill>
                  <a:srgbClr val="0E1512"/>
                </a:solidFill>
                <a:latin typeface="Arial"/>
              </a:rPr>
              <a:t/>
            </a:r>
          </a:p>
          <a:p>
            <a:pPr algn="l">
              <a:lnSpc>
                <a:spcPct val="118000"/>
              </a:lnSpc>
              <a:spcAft>
                <a:spcPts val="300"/>
              </a:spcAft>
            </a:pPr>
            <a:r>
              <a:rPr sz="1000" b="0" i="0">
                <a:solidFill>
                  <a:srgbClr val="0E1512"/>
                </a:solidFill>
                <a:latin typeface="Arial"/>
              </a:rPr>
              <a:t>The defensive move: become the layer they would rather integrate than rebuild. Ship the committee-as-a-service API earlier than instinct suggests.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most useful exhibit we have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UBL Kommittee Account — a deposit product from one of Pakistan’s largest banks, marketed under the committee name.</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40</a:t>
            </a:r>
          </a:p>
        </p:txBody>
      </p:sp>
      <p:sp>
        <p:nvSpPr>
          <p:cNvPr id="18" name="TextBox 17"/>
          <p:cNvSpPr txBox="1"/>
          <p:nvPr/>
        </p:nvSpPr>
        <p:spPr>
          <a:xfrm>
            <a:off x="566928" y="1773936"/>
            <a:ext cx="658368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27   Three amputations happened in translation</a:t>
            </a:r>
          </a:p>
        </p:txBody>
      </p:sp>
      <p:graphicFrame>
        <p:nvGraphicFramePr>
          <p:cNvPr id="19" name="Table 18"/>
          <p:cNvGraphicFramePr>
            <a:graphicFrameLocks noGrp="1"/>
          </p:cNvGraphicFramePr>
          <p:nvPr/>
        </p:nvGraphicFramePr>
        <p:xfrm>
          <a:off x="566928" y="1993392"/>
          <a:ext cx="6583679" cy="2058497"/>
        </p:xfrm>
        <a:graphic>
          <a:graphicData uri="http://schemas.openxmlformats.org/drawingml/2006/table">
            <a:tbl>
              <a:tblPr>
                <a:tableStyleId>{5C22544A-7EE6-4342-B048-85BDC9FD1C3A}</a:tableStyleId>
              </a:tblPr>
              <a:tblGrid>
                <a:gridCol w="1711756"/>
                <a:gridCol w="4871923"/>
              </a:tblGrid>
              <a:tr h="522305">
                <a:tc>
                  <a:txBody>
                    <a:bodyPr wrap="square"/>
                    <a:lstStyle/>
                    <a:p>
                      <a:pPr algn="l"/>
                      <a:r>
                        <a:rPr sz="960" b="1">
                          <a:solidFill>
                            <a:srgbClr val="F6F1E4"/>
                          </a:solidFill>
                          <a:latin typeface="Arial"/>
                        </a:rPr>
                        <a:t>What was removed</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Consequence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The rotation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Nobody receives a pot early. This deletes the credit half and the reason the early half of every real committee joins.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The peers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No group, no social spine — hence an “installment holiday” feature no genuine committee could offer and remain itself.</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E1512"/>
                          </a:solidFill>
                          <a:latin typeface="Arial"/>
                        </a:rPr>
                        <a:t>Riba-free structure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A fixed return on deposits came in — interest, in exactly the form committee culture defines itself against.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3785615"/>
            <a:ext cx="6583680" cy="100584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 y="3931920"/>
            <a:ext cx="6217920" cy="822960"/>
          </a:xfrm>
          <a:prstGeom prst="rect">
            <a:avLst/>
          </a:prstGeom>
          <a:noFill/>
        </p:spPr>
        <p:txBody>
          <a:bodyPr wrap="square" lIns="0" rIns="0" tIns="0" bIns="0" anchor="t">
            <a:spAutoFit/>
          </a:bodyPr>
          <a:lstStyle/>
          <a:p>
            <a:pPr algn="l">
              <a:lnSpc>
                <a:spcPct val="130000"/>
              </a:lnSpc>
              <a:spcAft>
                <a:spcPts val="200"/>
              </a:spcAft>
            </a:pPr>
            <a:r>
              <a:rPr sz="1060" b="0" i="0">
                <a:solidFill>
                  <a:srgbClr val="0E1512"/>
                </a:solidFill>
                <a:latin typeface="Consolas"/>
              </a:rPr>
              <a:t>24-month plan at Rs 100,000 a month  →  pay in Rs 2,400,000, receive Rs 2,500,000</a:t>
            </a:r>
          </a:p>
          <a:p>
            <a:pPr algn="l">
              <a:lnSpc>
                <a:spcPct val="130000"/>
              </a:lnSpc>
              <a:spcAft>
                <a:spcPts val="200"/>
              </a:spcAft>
            </a:pPr>
            <a:r>
              <a:rPr sz="1060" b="0" i="0">
                <a:solidFill>
                  <a:srgbClr val="0E1512"/>
                </a:solidFill>
                <a:latin typeface="Consolas"/>
              </a:rPr>
              <a:t>Rs 100,000 bonus on an average balance of about Rs 1,250,000 over two years  ≈  2% a year</a:t>
            </a:r>
          </a:p>
        </p:txBody>
      </p:sp>
      <p:sp>
        <p:nvSpPr>
          <p:cNvPr id="22" name="TextBox 21"/>
          <p:cNvSpPr txBox="1"/>
          <p:nvPr/>
        </p:nvSpPr>
        <p:spPr>
          <a:xfrm>
            <a:off x="566928" y="4882896"/>
            <a:ext cx="658368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modelled from the published product terms. The saver surrenders everything a committee provides in exchange for materially less than an ordinary savings account was paying.</a:t>
            </a:r>
          </a:p>
        </p:txBody>
      </p:sp>
      <p:sp>
        <p:nvSpPr>
          <p:cNvPr id="23" name="Rectangle 22"/>
          <p:cNvSpPr/>
          <p:nvPr/>
        </p:nvSpPr>
        <p:spPr>
          <a:xfrm>
            <a:off x="7607808" y="1993392"/>
            <a:ext cx="3977639" cy="233172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36408" y="2194560"/>
            <a:ext cx="3520440" cy="2011680"/>
          </a:xfrm>
          <a:prstGeom prst="rect">
            <a:avLst/>
          </a:prstGeom>
          <a:noFill/>
        </p:spPr>
        <p:txBody>
          <a:bodyPr wrap="square" lIns="0" rIns="0" tIns="0" bIns="0" anchor="t">
            <a:spAutoFit/>
          </a:bodyPr>
          <a:lstStyle/>
          <a:p>
            <a:pPr algn="l">
              <a:lnSpc>
                <a:spcPct val="122000"/>
              </a:lnSpc>
              <a:spcAft>
                <a:spcPts val="400"/>
              </a:spcAft>
            </a:pPr>
            <a:r>
              <a:rPr sz="1060" b="0" i="0">
                <a:solidFill>
                  <a:srgbClr val="F6F1E4"/>
                </a:solidFill>
                <a:latin typeface="Arial"/>
              </a:rPr>
              <a:t>The lesson, and it is the strongest single argument in the pitch</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A balance-sheet institution cannot digitise the committee, because its value lives in exactly the things a balance sheet must remove — peer credit without interest, social enforcement without collateral, and money that never becomes the institution’s liability.</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The same fact closes the category to JazzCash and Easypaisa.</a:t>
            </a:r>
          </a:p>
        </p:txBody>
      </p:sp>
      <p:sp>
        <p:nvSpPr>
          <p:cNvPr id="25" name="TextBox 24"/>
          <p:cNvSpPr txBox="1"/>
          <p:nvPr/>
        </p:nvSpPr>
        <p:spPr>
          <a:xfrm>
            <a:off x="7607808" y="4498848"/>
            <a:ext cx="3977639" cy="1097280"/>
          </a:xfrm>
          <a:prstGeom prst="rect">
            <a:avLst/>
          </a:prstGeom>
          <a:noFill/>
        </p:spPr>
        <p:txBody>
          <a:bodyPr wrap="square" lIns="0" rIns="0" tIns="0" bIns="0" anchor="t">
            <a:spAutoFit/>
          </a:bodyPr>
          <a:lstStyle/>
          <a:p>
            <a:pPr algn="l">
              <a:lnSpc>
                <a:spcPct val="120000"/>
              </a:lnSpc>
              <a:spcAft>
                <a:spcPts val="400"/>
              </a:spcAft>
            </a:pPr>
            <a:r>
              <a:rPr sz="1060" b="0" i="0">
                <a:solidFill>
                  <a:srgbClr val="0E1512"/>
                </a:solidFill>
                <a:latin typeface="Arial"/>
              </a:rPr>
              <a:t>Set FNB beside UBL and the pattern completes. FNB’s stokvel accounts succeed because South African stokvels frequently accumulate — everyone saves, everyone is paid at year end — so a bank account genuinely serves the instrument.</a:t>
            </a:r>
          </a:p>
        </p:txBody>
      </p:sp>
      <p:sp>
        <p:nvSpPr>
          <p:cNvPr id="26" name="Rectangle 25"/>
          <p:cNvSpPr/>
          <p:nvPr/>
        </p:nvSpPr>
        <p:spPr>
          <a:xfrm>
            <a:off x="566928" y="5358384"/>
            <a:ext cx="6583680" cy="73152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68096" y="5504688"/>
            <a:ext cx="6217920" cy="548640"/>
          </a:xfrm>
          <a:prstGeom prst="rect">
            <a:avLst/>
          </a:prstGeom>
          <a:noFill/>
        </p:spPr>
        <p:txBody>
          <a:bodyPr wrap="square" lIns="0" rIns="0" tIns="0" bIns="0" anchor="t">
            <a:spAutoFit/>
          </a:bodyPr>
          <a:lstStyle/>
          <a:p>
            <a:pPr algn="l">
              <a:lnSpc>
                <a:spcPct val="120000"/>
              </a:lnSpc>
              <a:spcAft>
                <a:spcPts val="200"/>
              </a:spcAft>
            </a:pPr>
            <a:r>
              <a:rPr sz="1260" b="0" i="0">
                <a:solidFill>
                  <a:srgbClr val="F6F1E4"/>
                </a:solidFill>
                <a:latin typeface="Georgia"/>
              </a:rPr>
              <a:t>Banks can hold group savings. Banks cannot rotate group credit.</a:t>
            </a:r>
          </a:p>
          <a:p>
            <a:pPr algn="l">
              <a:lnSpc>
                <a:spcPct val="120000"/>
              </a:lnSpc>
              <a:spcAft>
                <a:spcPts val="200"/>
              </a:spcAft>
            </a:pPr>
            <a:r>
              <a:rPr sz="1260" b="0" i="0">
                <a:solidFill>
                  <a:srgbClr val="F6F1E4"/>
                </a:solidFill>
                <a:latin typeface="Georgia"/>
              </a:rPr>
              <a:t>Halqa’s entire opportunity lives in that second sentence.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D9A93C"/>
                </a:solidFill>
                <a:latin typeface="Georgia"/>
              </a:rPr>
              <a:t>07</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6F1E4"/>
                </a:solidFill>
                <a:latin typeface="Georgia"/>
              </a:rPr>
              <a:t>The regulatory position</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Three red lines, each avoided by architecture rather than by contract.</a:t>
            </a:r>
          </a:p>
          <a:p>
            <a:pPr algn="l">
              <a:lnSpc>
                <a:spcPct val="100000"/>
              </a:lnSpc>
              <a:spcAft>
                <a:spcPts val="600"/>
              </a:spcAft>
            </a:pPr>
            <a:r>
              <a:rPr sz="1240" b="0" i="0">
                <a:solidFill>
                  <a:srgbClr val="C8D4CC"/>
                </a:solidFill>
                <a:latin typeface="Arial"/>
              </a:rPr>
              <a:t>Two gates, neither of which is an engineering problem.</a:t>
            </a:r>
          </a:p>
          <a:p>
            <a:pPr algn="l">
              <a:lnSpc>
                <a:spcPct val="100000"/>
              </a:lnSpc>
              <a:spcAft>
                <a:spcPts val="600"/>
              </a:spcAft>
            </a:pPr>
            <a:r>
              <a:rPr sz="1240" b="0" i="0">
                <a:solidFill>
                  <a:srgbClr val="C8D4CC"/>
                </a:solidFill>
                <a:latin typeface="Arial"/>
              </a:rPr>
              <a:t>One move: be the first clean actor, before the rules are written.</a:t>
            </a:r>
          </a:p>
        </p:txBody>
      </p:sp>
      <p:cxnSp>
        <p:nvCxnSpPr>
          <p:cNvPr id="7" name="Connector 6"/>
          <p:cNvCxnSpPr/>
          <p:nvPr/>
        </p:nvCxnSpPr>
        <p:spPr>
          <a:xfrm>
            <a:off x="2697480"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07 · THE PATH</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Two gates. Nothing on the critical path is engineering work.</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 binding sequence is incorporation, then the tax number, then the merchant agreement — because the aggregator contracts with a registered company holding an NTN.</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42</a:t>
            </a:r>
          </a:p>
        </p:txBody>
      </p:sp>
      <p:sp>
        <p:nvSpPr>
          <p:cNvPr id="18" name="TextBox 17"/>
          <p:cNvSpPr txBox="1"/>
          <p:nvPr/>
        </p:nvSpPr>
        <p:spPr>
          <a:xfrm>
            <a:off x="566928" y="1810512"/>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28   Gate 1 — become a company. About Rs 20–30k, two weeks.</a:t>
            </a:r>
          </a:p>
        </p:txBody>
      </p:sp>
      <p:graphicFrame>
        <p:nvGraphicFramePr>
          <p:cNvPr id="19" name="Table 18"/>
          <p:cNvGraphicFramePr>
            <a:graphicFrameLocks noGrp="1"/>
          </p:cNvGraphicFramePr>
          <p:nvPr/>
        </p:nvGraphicFramePr>
        <p:xfrm>
          <a:off x="566928" y="2029968"/>
          <a:ext cx="6766559" cy="2091781"/>
        </p:xfrm>
        <a:graphic>
          <a:graphicData uri="http://schemas.openxmlformats.org/drawingml/2006/table">
            <a:tbl>
              <a:tblPr>
                <a:tableStyleId>{5C22544A-7EE6-4342-B048-85BDC9FD1C3A}</a:tableStyleId>
              </a:tblPr>
              <a:tblGrid>
                <a:gridCol w="2300630"/>
                <a:gridCol w="4465929"/>
              </a:tblGrid>
              <a:tr h="354421">
                <a:tc>
                  <a:txBody>
                    <a:bodyPr wrap="square"/>
                    <a:lstStyle/>
                    <a:p>
                      <a:pPr algn="l"/>
                      <a:r>
                        <a:rPr sz="960" b="1">
                          <a:solidFill>
                            <a:srgbClr val="F6F1E4"/>
                          </a:solidFill>
                          <a:latin typeface="Arial"/>
                        </a:rPr>
                        <a:t>Step</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Detail</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SECP private limited incorporation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Via eservices.secp.gov.pk. Name Rs 1,000, incorporation Rs 1,800–2,500. Two to five working days.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FBR National Tax Number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Free, one to two days, auto-integrated via IRIS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Provincial sales-tax registration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Corporate operating account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Halqa’s own account for its own revenue. Not a partnership, and not customer money.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E1512"/>
                          </a:solidFill>
                          <a:latin typeface="Arial"/>
                        </a:rPr>
                        <a:t>Trademark filing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IPO-Pakistan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TextBox 19"/>
          <p:cNvSpPr txBox="1"/>
          <p:nvPr/>
        </p:nvSpPr>
        <p:spPr>
          <a:xfrm>
            <a:off x="566928" y="4059936"/>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29   Gate 2 — turn on real money. Rs 80,000–180,000, four to eight weeks.</a:t>
            </a:r>
          </a:p>
        </p:txBody>
      </p:sp>
      <p:graphicFrame>
        <p:nvGraphicFramePr>
          <p:cNvPr id="21" name="Table 20"/>
          <p:cNvGraphicFramePr>
            <a:graphicFrameLocks noGrp="1"/>
          </p:cNvGraphicFramePr>
          <p:nvPr/>
        </p:nvGraphicFramePr>
        <p:xfrm>
          <a:off x="566928" y="4279392"/>
          <a:ext cx="6766559" cy="2295144"/>
        </p:xfrm>
        <a:graphic>
          <a:graphicData uri="http://schemas.openxmlformats.org/drawingml/2006/table">
            <a:tbl>
              <a:tblPr>
                <a:tableStyleId>{5C22544A-7EE6-4342-B048-85BDC9FD1C3A}</a:tableStyleId>
              </a:tblPr>
              <a:tblGrid>
                <a:gridCol w="1623974"/>
                <a:gridCol w="5142585"/>
              </a:tblGrid>
              <a:tr h="466344">
                <a:tc>
                  <a:txBody>
                    <a:bodyPr wrap="square"/>
                    <a:lstStyle/>
                    <a:p>
                      <a:pPr algn="l"/>
                      <a:r>
                        <a:rPr sz="960" b="1">
                          <a:solidFill>
                            <a:srgbClr val="F6F1E4"/>
                          </a:solidFill>
                          <a:latin typeface="Arial"/>
                        </a:rPr>
                        <a:t>Step</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Detail</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57200">
                <a:tc>
                  <a:txBody>
                    <a:bodyPr wrap="square"/>
                    <a:lstStyle/>
                    <a:p>
                      <a:pPr algn="l"/>
                      <a:r>
                        <a:rPr sz="980" b="0">
                          <a:solidFill>
                            <a:srgbClr val="0E1512"/>
                          </a:solidFill>
                          <a:latin typeface="Arial"/>
                        </a:rPr>
                        <a:t>Payment aggregation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A Merchant Services Agreement with PayFast or Safepay. A commercial contract, not a licence — which is why the hardest-sounding step is a negotiation of weeks rather than an approval of months.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57200">
                <a:tc>
                  <a:txBody>
                    <a:bodyPr wrap="square"/>
                    <a:lstStyle/>
                    <a:p>
                      <a:pPr algn="l"/>
                      <a:r>
                        <a:rPr sz="980" b="0">
                          <a:solidFill>
                            <a:srgbClr val="0E1512"/>
                          </a:solidFill>
                          <a:latin typeface="Arial"/>
                        </a:rPr>
                        <a:t>Second factor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WhatsApp Business Cloud API, free tier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57200">
                <a:tc>
                  <a:txBody>
                    <a:bodyPr wrap="square"/>
                    <a:lstStyle/>
                    <a:p>
                      <a:pPr algn="l"/>
                      <a:r>
                        <a:rPr sz="980" b="0">
                          <a:solidFill>
                            <a:srgbClr val="0E1512"/>
                          </a:solidFill>
                          <a:latin typeface="Arial"/>
                        </a:rPr>
                        <a:t>Legal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Counsel opinion on non-licensable activity, plus review of the undertaking and guarantee texts. Rs 50–100k.</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57200">
                <a:tc>
                  <a:txBody>
                    <a:bodyPr wrap="square"/>
                    <a:lstStyle/>
                    <a:p>
                      <a:pPr algn="l"/>
                      <a:r>
                        <a:rPr sz="980" b="0">
                          <a:solidFill>
                            <a:srgbClr val="0E1512"/>
                          </a:solidFill>
                          <a:latin typeface="Arial"/>
                        </a:rPr>
                        <a:t>Identity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NADRA Verisys corporate agreement. Deferrable past launch, since CNIC is already collected.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2" name="Rectangle 21"/>
          <p:cNvSpPr/>
          <p:nvPr/>
        </p:nvSpPr>
        <p:spPr>
          <a:xfrm>
            <a:off x="7790688" y="2029968"/>
            <a:ext cx="3794760" cy="15087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19288" y="2212848"/>
            <a:ext cx="3337560" cy="1280160"/>
          </a:xfrm>
          <a:prstGeom prst="rect">
            <a:avLst/>
          </a:prstGeom>
          <a:noFill/>
        </p:spPr>
        <p:txBody>
          <a:bodyPr wrap="square" lIns="0" rIns="0" tIns="0" bIns="0" anchor="t">
            <a:spAutoFit/>
          </a:bodyPr>
          <a:lstStyle/>
          <a:p>
            <a:pPr algn="l">
              <a:lnSpc>
                <a:spcPct val="124000"/>
              </a:lnSpc>
              <a:spcAft>
                <a:spcPts val="400"/>
              </a:spcAft>
            </a:pPr>
            <a:r>
              <a:rPr sz="1140" b="0" i="0">
                <a:solidFill>
                  <a:srgbClr val="F6F1E4"/>
                </a:solidFill>
                <a:latin typeface="Arial"/>
              </a:rPr>
              <a:t>Halqa currently has neither the company nor the tax number.</a:t>
            </a:r>
          </a:p>
          <a:p>
            <a:pPr algn="l">
              <a:lnSpc>
                <a:spcPct val="124000"/>
              </a:lnSpc>
              <a:spcAft>
                <a:spcPts val="400"/>
              </a:spcAft>
            </a:pPr>
            <a:r>
              <a:rPr sz="1140" b="0" i="0">
                <a:solidFill>
                  <a:srgbClr val="F6F1E4"/>
                </a:solidFill>
                <a:latin typeface="Arial"/>
              </a:rPr>
              <a:t/>
            </a:r>
          </a:p>
          <a:p>
            <a:pPr algn="l">
              <a:lnSpc>
                <a:spcPct val="124000"/>
              </a:lnSpc>
              <a:spcAft>
                <a:spcPts val="400"/>
              </a:spcAft>
            </a:pPr>
            <a:r>
              <a:rPr sz="1140" b="0" i="0">
                <a:solidFill>
                  <a:srgbClr val="F6F1E4"/>
                </a:solidFill>
                <a:latin typeface="Arial"/>
              </a:rPr>
              <a:t>This is the first blocking step for everything else in the business.</a:t>
            </a:r>
          </a:p>
        </p:txBody>
      </p:sp>
      <p:sp>
        <p:nvSpPr>
          <p:cNvPr id="24" name="TextBox 23"/>
          <p:cNvSpPr txBox="1"/>
          <p:nvPr/>
        </p:nvSpPr>
        <p:spPr>
          <a:xfrm>
            <a:off x="7790688" y="3749039"/>
            <a:ext cx="37947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Gate 3 — scale via partner</a:t>
            </a:r>
          </a:p>
        </p:txBody>
      </p:sp>
      <p:sp>
        <p:nvSpPr>
          <p:cNvPr id="25" name="TextBox 24"/>
          <p:cNvSpPr txBox="1"/>
          <p:nvPr/>
        </p:nvSpPr>
        <p:spPr>
          <a:xfrm>
            <a:off x="7790688" y="4078224"/>
            <a:ext cx="3794760" cy="731520"/>
          </a:xfrm>
          <a:prstGeom prst="rect">
            <a:avLst/>
          </a:prstGeom>
          <a:noFill/>
        </p:spPr>
        <p:txBody>
          <a:bodyPr wrap="square" lIns="0" rIns="0" tIns="0" bIns="0" anchor="t">
            <a:spAutoFit/>
          </a:bodyPr>
          <a:lstStyle/>
          <a:p>
            <a:pPr algn="l">
              <a:lnSpc>
                <a:spcPct val="120000"/>
              </a:lnSpc>
              <a:spcAft>
                <a:spcPts val="400"/>
              </a:spcAft>
            </a:pPr>
            <a:r>
              <a:rPr sz="1060" b="0" i="0">
                <a:solidFill>
                  <a:srgbClr val="0E1512"/>
                </a:solidFill>
                <a:latin typeface="Arial"/>
              </a:rPr>
              <a:t>Never buy an EMI or NBFC licence. Reach anything requiring one through a party who already holds it, and who carries the regulatory burden with it.</a:t>
            </a:r>
          </a:p>
        </p:txBody>
      </p:sp>
      <p:sp>
        <p:nvSpPr>
          <p:cNvPr id="26" name="Rectangle 25"/>
          <p:cNvSpPr/>
          <p:nvPr/>
        </p:nvSpPr>
        <p:spPr>
          <a:xfrm>
            <a:off x="7790688" y="4937760"/>
            <a:ext cx="45720" cy="11887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019288" y="4956048"/>
            <a:ext cx="3566160" cy="1234440"/>
          </a:xfrm>
          <a:prstGeom prst="rect">
            <a:avLst/>
          </a:prstGeom>
          <a:noFill/>
        </p:spPr>
        <p:txBody>
          <a:bodyPr wrap="square" lIns="0" rIns="0" tIns="0" bIns="0" anchor="t">
            <a:spAutoFit/>
          </a:bodyPr>
          <a:lstStyle/>
          <a:p>
            <a:pPr algn="l">
              <a:lnSpc>
                <a:spcPct val="122000"/>
              </a:lnSpc>
              <a:spcAft>
                <a:spcPts val="400"/>
              </a:spcAft>
            </a:pPr>
            <a:r>
              <a:rPr sz="1100" b="0" i="0">
                <a:solidFill>
                  <a:srgbClr val="0E1512"/>
                </a:solidFill>
                <a:latin typeface="Arial"/>
              </a:rPr>
              <a:t>Gate 2 is the single most important milestone in the company. Until it lands, the ledger records assertions rather than settlements, and the entire credit-data thesis is unproven.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07 · THE PRECEDENT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Any credit-adjacent product in Pakistan is now judged against this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Four hundred predatory loan apps were blocked across 2023 and 2024. What they did is now a named criminal pattern, and every permission Halqa requests is read against it.</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43</a:t>
            </a:r>
          </a:p>
        </p:txBody>
      </p:sp>
      <p:sp>
        <p:nvSpPr>
          <p:cNvPr id="18" name="TextBox 17"/>
          <p:cNvSpPr txBox="1"/>
          <p:nvPr/>
        </p:nvSpPr>
        <p:spPr>
          <a:xfrm>
            <a:off x="566928" y="1847088"/>
            <a:ext cx="612648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30   How the predatory apps worked, and what it cost</a:t>
            </a:r>
          </a:p>
        </p:txBody>
      </p:sp>
      <p:sp>
        <p:nvSpPr>
          <p:cNvPr id="19" name="TextBox 18"/>
          <p:cNvSpPr txBox="1"/>
          <p:nvPr/>
        </p:nvSpPr>
        <p:spPr>
          <a:xfrm>
            <a:off x="566928" y="2084831"/>
            <a:ext cx="6126480" cy="365760"/>
          </a:xfrm>
          <a:prstGeom prst="rect">
            <a:avLst/>
          </a:prstGeom>
          <a:noFill/>
        </p:spPr>
        <p:txBody>
          <a:bodyPr wrap="square" lIns="0" rIns="0" tIns="0" bIns="0">
            <a:spAutoFit/>
          </a:bodyPr>
          <a:lstStyle/>
          <a:p>
            <a:pPr>
              <a:lnSpc>
                <a:spcPct val="106000"/>
              </a:lnSpc>
              <a:spcAft>
                <a:spcPts val="700"/>
              </a:spcAft>
            </a:pPr>
            <a:r>
              <a:rPr sz="1060" b="1">
                <a:solidFill>
                  <a:srgbClr val="D9A93C"/>
                </a:solidFill>
                <a:latin typeface="Georgia"/>
              </a:rPr>
              <a:t>|  </a:t>
            </a:r>
            <a:r>
              <a:rPr sz="1060" b="1">
                <a:solidFill>
                  <a:srgbClr val="123D30"/>
                </a:solidFill>
                <a:latin typeface="Arial"/>
              </a:rPr>
              <a:t>The product  </a:t>
            </a:r>
            <a:r>
              <a:rPr sz="1060">
                <a:solidFill>
                  <a:srgbClr val="0E1512"/>
                </a:solidFill>
                <a:latin typeface="Arial"/>
              </a:rPr>
              <a:t>loans of Rs 1,000–25,000 over 7 to 90 days at up to roughly 220% APR. The ticket was too small to underwrite, so the model was: do not screen, price for mass default, make recovery cheap through social coercion.</a:t>
            </a:r>
          </a:p>
          <a:p>
            <a:pPr>
              <a:lnSpc>
                <a:spcPct val="106000"/>
              </a:lnSpc>
              <a:spcAft>
                <a:spcPts val="700"/>
              </a:spcAft>
            </a:pPr>
            <a:r>
              <a:rPr sz="1060" b="1">
                <a:solidFill>
                  <a:srgbClr val="D9A93C"/>
                </a:solidFill>
                <a:latin typeface="Georgia"/>
              </a:rPr>
              <a:t>|  </a:t>
            </a:r>
            <a:r>
              <a:rPr sz="1060" b="1">
                <a:solidFill>
                  <a:srgbClr val="123D30"/>
                </a:solidFill>
                <a:latin typeface="Arial"/>
              </a:rPr>
              <a:t>The recovery ladder  </a:t>
            </a:r>
            <a:r>
              <a:rPr sz="1060">
                <a:solidFill>
                  <a:srgbClr val="0E1512"/>
                </a:solidFill>
                <a:latin typeface="Arial"/>
              </a:rPr>
              <a:t>harvest contacts, gallery and SMS at install → reminders → agent calls → call the borrower’s contacts to shame them → morph gallery photos into obscene images sent to family → app-to-app rollover debt spiral.</a:t>
            </a:r>
          </a:p>
          <a:p>
            <a:pPr>
              <a:lnSpc>
                <a:spcPct val="106000"/>
              </a:lnSpc>
              <a:spcAft>
                <a:spcPts val="700"/>
              </a:spcAft>
            </a:pPr>
            <a:r>
              <a:rPr sz="1060" b="1">
                <a:solidFill>
                  <a:srgbClr val="D9A93C"/>
                </a:solidFill>
                <a:latin typeface="Georgia"/>
              </a:rPr>
              <a:t>|  </a:t>
            </a:r>
            <a:r>
              <a:rPr sz="1060" b="1">
                <a:solidFill>
                  <a:srgbClr val="123D30"/>
                </a:solidFill>
                <a:latin typeface="Arial"/>
              </a:rPr>
              <a:t>The case that ended it  </a:t>
            </a:r>
            <a:r>
              <a:rPr sz="1060">
                <a:solidFill>
                  <a:srgbClr val="0E1512"/>
                </a:solidFill>
                <a:latin typeface="Arial"/>
              </a:rPr>
              <a:t>Rawalpindi: Rs 13,000 borrowed, Rs 100,000 owed, a suicide, an FIA crackdown and more than twenty arrests.</a:t>
            </a:r>
          </a:p>
        </p:txBody>
      </p:sp>
      <p:sp>
        <p:nvSpPr>
          <p:cNvPr id="20" name="TextBox 19"/>
          <p:cNvSpPr txBox="1"/>
          <p:nvPr/>
        </p:nvSpPr>
        <p:spPr>
          <a:xfrm>
            <a:off x="566928" y="4023360"/>
            <a:ext cx="612648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What was banned — most of it even with consent</a:t>
            </a:r>
          </a:p>
        </p:txBody>
      </p:sp>
      <p:sp>
        <p:nvSpPr>
          <p:cNvPr id="21" name="TextBox 20"/>
          <p:cNvSpPr txBox="1"/>
          <p:nvPr/>
        </p:nvSpPr>
        <p:spPr>
          <a:xfrm>
            <a:off x="566928" y="4352544"/>
            <a:ext cx="6126480" cy="365760"/>
          </a:xfrm>
          <a:prstGeom prst="rect">
            <a:avLst/>
          </a:prstGeom>
          <a:noFill/>
        </p:spPr>
        <p:txBody>
          <a:bodyPr wrap="square" lIns="0" rIns="0" tIns="0" bIns="0">
            <a:spAutoFit/>
          </a:bodyPr>
          <a:lstStyle/>
          <a:p>
            <a:pPr>
              <a:lnSpc>
                <a:spcPct val="106000"/>
              </a:lnSpc>
              <a:spcAft>
                <a:spcPts val="600"/>
              </a:spcAft>
            </a:pPr>
            <a:r>
              <a:rPr sz="1040" b="1">
                <a:solidFill>
                  <a:srgbClr val="D9A93C"/>
                </a:solidFill>
                <a:latin typeface="Georgia"/>
              </a:rPr>
              <a:t>|  </a:t>
            </a:r>
            <a:r>
              <a:rPr sz="1040" b="1">
                <a:solidFill>
                  <a:srgbClr val="123D30"/>
                </a:solidFill>
                <a:latin typeface="Arial"/>
              </a:rPr>
              <a:t>SECP Circulars 3, 10, 14 and 15 of 2023 and 8 of 2024  </a:t>
            </a:r>
            <a:r>
              <a:rPr sz="1040">
                <a:solidFill>
                  <a:srgbClr val="0E1512"/>
                </a:solidFill>
                <a:latin typeface="Arial"/>
              </a:rPr>
              <a:t>no contact-list or gallery access even with consent; contact only a separately-consented guarantor; exposure cap Rs 25,000 per app; APR capped at ten times the policy rate; mandatory Key Fact Statement; borrower data must stay in Pakistan.</a:t>
            </a:r>
          </a:p>
          <a:p>
            <a:pPr>
              <a:lnSpc>
                <a:spcPct val="106000"/>
              </a:lnSpc>
              <a:spcAft>
                <a:spcPts val="600"/>
              </a:spcAft>
            </a:pPr>
            <a:r>
              <a:rPr sz="1040" b="1">
                <a:solidFill>
                  <a:srgbClr val="D9A93C"/>
                </a:solidFill>
                <a:latin typeface="Georgia"/>
              </a:rPr>
              <a:t>|  </a:t>
            </a:r>
            <a:r>
              <a:rPr sz="1040" b="1">
                <a:solidFill>
                  <a:srgbClr val="123D30"/>
                </a:solidFill>
                <a:latin typeface="Arial"/>
              </a:rPr>
              <a:t>Google Play, 31 May 2023  </a:t>
            </a:r>
            <a:r>
              <a:rPr sz="1040">
                <a:solidFill>
                  <a:srgbClr val="0E1512"/>
                </a:solidFill>
                <a:latin typeface="Arial"/>
              </a:rPr>
              <a:t>personal-loan apps and facilitators may not access contacts, photos, precise location, phone numbers or external storage. Pakistan was named.</a:t>
            </a:r>
          </a:p>
        </p:txBody>
      </p:sp>
      <p:sp>
        <p:nvSpPr>
          <p:cNvPr id="22" name="Rectangle 21"/>
          <p:cNvSpPr/>
          <p:nvPr/>
        </p:nvSpPr>
        <p:spPr>
          <a:xfrm>
            <a:off x="7104888" y="2084831"/>
            <a:ext cx="4480560" cy="19659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333488" y="2267712"/>
            <a:ext cx="4023360" cy="1691640"/>
          </a:xfrm>
          <a:prstGeom prst="rect">
            <a:avLst/>
          </a:prstGeom>
          <a:noFill/>
        </p:spPr>
        <p:txBody>
          <a:bodyPr wrap="square" lIns="0" rIns="0" tIns="0" bIns="0" anchor="t">
            <a:spAutoFit/>
          </a:bodyPr>
          <a:lstStyle/>
          <a:p>
            <a:pPr algn="l">
              <a:lnSpc>
                <a:spcPct val="122000"/>
              </a:lnSpc>
              <a:spcAft>
                <a:spcPts val="400"/>
              </a:spcAft>
            </a:pPr>
            <a:r>
              <a:rPr sz="1060" b="0" i="0">
                <a:solidFill>
                  <a:srgbClr val="F6F1E4"/>
                </a:solidFill>
                <a:latin typeface="Arial"/>
              </a:rPr>
              <a:t>The best single line for any room</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“They had to manufacture leverage over people they knew nothing about. We don’t — the committee brings its own.”</a:t>
            </a:r>
          </a:p>
          <a:p>
            <a:pPr algn="l">
              <a:lnSpc>
                <a:spcPct val="122000"/>
              </a:lnSpc>
              <a:spcAft>
                <a:spcPts val="400"/>
              </a:spcAft>
            </a:pPr>
            <a:r>
              <a:rPr sz="1060" b="0" i="0">
                <a:solidFill>
                  <a:srgbClr val="F6F1E4"/>
                </a:solidFill>
                <a:latin typeface="Arial"/>
              </a:rPr>
              <a:t/>
            </a:r>
          </a:p>
          <a:p>
            <a:pPr algn="l">
              <a:lnSpc>
                <a:spcPct val="122000"/>
              </a:lnSpc>
              <a:spcAft>
                <a:spcPts val="400"/>
              </a:spcAft>
            </a:pPr>
            <a:r>
              <a:rPr sz="1060" b="0" i="0">
                <a:solidFill>
                  <a:srgbClr val="F6F1E4"/>
                </a:solidFill>
                <a:latin typeface="Arial"/>
              </a:rPr>
              <a:t>Those apps had to coerce because they lent to strangers with no collateral. The seat is collateral, exposure is capped at about two installments, the circle is pre-existing, and the record is admissible.</a:t>
            </a:r>
          </a:p>
        </p:txBody>
      </p:sp>
      <p:sp>
        <p:nvSpPr>
          <p:cNvPr id="24" name="TextBox 23"/>
          <p:cNvSpPr txBox="1"/>
          <p:nvPr/>
        </p:nvSpPr>
        <p:spPr>
          <a:xfrm>
            <a:off x="7104888" y="4224528"/>
            <a:ext cx="44805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What Halqa refuses, on the record</a:t>
            </a:r>
          </a:p>
        </p:txBody>
      </p:sp>
      <p:sp>
        <p:nvSpPr>
          <p:cNvPr id="25" name="TextBox 24"/>
          <p:cNvSpPr txBox="1"/>
          <p:nvPr/>
        </p:nvSpPr>
        <p:spPr>
          <a:xfrm>
            <a:off x="7104888" y="4553712"/>
            <a:ext cx="4480560" cy="365760"/>
          </a:xfrm>
          <a:prstGeom prst="rect">
            <a:avLst/>
          </a:prstGeom>
          <a:noFill/>
        </p:spPr>
        <p:txBody>
          <a:bodyPr wrap="square" lIns="0" rIns="0" tIns="0" bIns="0">
            <a:spAutoFit/>
          </a:bodyPr>
          <a:lstStyle/>
          <a:p>
            <a:pPr>
              <a:lnSpc>
                <a:spcPct val="106000"/>
              </a:lnSpc>
              <a:spcAft>
                <a:spcPts val="500"/>
              </a:spcAft>
            </a:pPr>
            <a:r>
              <a:rPr sz="980" b="1">
                <a:solidFill>
                  <a:srgbClr val="D9A93C"/>
                </a:solidFill>
                <a:latin typeface="Georgia"/>
              </a:rPr>
              <a:t>|  </a:t>
            </a:r>
            <a:r>
              <a:rPr sz="980">
                <a:solidFill>
                  <a:srgbClr val="0E1512"/>
                </a:solidFill>
                <a:latin typeface="Arial"/>
              </a:rPr>
              <a:t>Contact-list harvesting — only on-device hashed matching is acceptable</a:t>
            </a:r>
          </a:p>
          <a:p>
            <a:pPr>
              <a:lnSpc>
                <a:spcPct val="106000"/>
              </a:lnSpc>
              <a:spcAft>
                <a:spcPts val="500"/>
              </a:spcAft>
            </a:pPr>
            <a:r>
              <a:rPr sz="980" b="1">
                <a:solidFill>
                  <a:srgbClr val="D9A93C"/>
                </a:solidFill>
                <a:latin typeface="Georgia"/>
              </a:rPr>
              <a:t>|  </a:t>
            </a:r>
            <a:r>
              <a:rPr sz="980">
                <a:solidFill>
                  <a:srgbClr val="0E1512"/>
                </a:solidFill>
                <a:latin typeface="Arial"/>
              </a:rPr>
              <a:t>Gallery and photo access, READ_SMS, call log, QUERY_ALL_PACKAGES</a:t>
            </a:r>
          </a:p>
          <a:p>
            <a:pPr>
              <a:lnSpc>
                <a:spcPct val="106000"/>
              </a:lnSpc>
              <a:spcAft>
                <a:spcPts val="500"/>
              </a:spcAft>
            </a:pPr>
            <a:r>
              <a:rPr sz="980" b="1">
                <a:solidFill>
                  <a:srgbClr val="D9A93C"/>
                </a:solidFill>
                <a:latin typeface="Georgia"/>
              </a:rPr>
              <a:t>|  </a:t>
            </a:r>
            <a:r>
              <a:rPr sz="980">
                <a:solidFill>
                  <a:srgbClr val="0E1512"/>
                </a:solidFill>
                <a:latin typeface="Arial"/>
              </a:rPr>
              <a:t>Background or continuous location</a:t>
            </a:r>
          </a:p>
          <a:p>
            <a:pPr>
              <a:lnSpc>
                <a:spcPct val="106000"/>
              </a:lnSpc>
              <a:spcAft>
                <a:spcPts val="500"/>
              </a:spcAft>
            </a:pPr>
            <a:r>
              <a:rPr sz="980" b="1">
                <a:solidFill>
                  <a:srgbClr val="D9A93C"/>
                </a:solidFill>
                <a:latin typeface="Georgia"/>
              </a:rPr>
              <a:t>|  </a:t>
            </a:r>
            <a:r>
              <a:rPr sz="980">
                <a:solidFill>
                  <a:srgbClr val="0E1512"/>
                </a:solidFill>
                <a:latin typeface="Arial"/>
              </a:rPr>
              <a:t>Android Accessibility Service to read bank-app balances — declined with reasons on record: it is the predatory-app signature, it reads the entire screen rather than one number, and a screenshot of that permission ends our whole sentence</a:t>
            </a:r>
          </a:p>
          <a:p>
            <a:pPr>
              <a:lnSpc>
                <a:spcPct val="106000"/>
              </a:lnSpc>
              <a:spcAft>
                <a:spcPts val="500"/>
              </a:spcAft>
            </a:pPr>
            <a:r>
              <a:rPr sz="980" b="1">
                <a:solidFill>
                  <a:srgbClr val="D9A93C"/>
                </a:solidFill>
                <a:latin typeface="Georgia"/>
              </a:rPr>
              <a:t>|  </a:t>
            </a:r>
            <a:r>
              <a:rPr sz="980">
                <a:solidFill>
                  <a:srgbClr val="0E1512"/>
                </a:solidFill>
                <a:latin typeface="Arial"/>
              </a:rPr>
              <a:t>A public default flag or wall of shame — the flag stays internal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07 · THE MOVE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Be the first clean actor, before the rules are written</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Money Fellows entered the Central Bank of Egypt sandbox before scale. Hakbah entered SAMA’s. Both bought legitimacy cheaply by arriving early. That door is currently open in Pakistan and will not stay open.</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44</a:t>
            </a:r>
          </a:p>
        </p:txBody>
      </p:sp>
      <p:sp>
        <p:nvSpPr>
          <p:cNvPr id="18" name="TextBox 17"/>
          <p:cNvSpPr txBox="1"/>
          <p:nvPr/>
        </p:nvSpPr>
        <p:spPr>
          <a:xfrm>
            <a:off x="566928" y="1883664"/>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31   The three red lines to put on the table</a:t>
            </a:r>
          </a:p>
        </p:txBody>
      </p:sp>
      <p:graphicFrame>
        <p:nvGraphicFramePr>
          <p:cNvPr id="19" name="Table 18"/>
          <p:cNvGraphicFramePr>
            <a:graphicFrameLocks noGrp="1"/>
          </p:cNvGraphicFramePr>
          <p:nvPr/>
        </p:nvGraphicFramePr>
        <p:xfrm>
          <a:off x="566928" y="2103120"/>
          <a:ext cx="6766560" cy="1249801"/>
        </p:xfrm>
        <a:graphic>
          <a:graphicData uri="http://schemas.openxmlformats.org/drawingml/2006/table">
            <a:tbl>
              <a:tblPr>
                <a:tableStyleId>{5C22544A-7EE6-4342-B048-85BDC9FD1C3A}</a:tableStyleId>
              </a:tblPr>
              <a:tblGrid>
                <a:gridCol w="338328"/>
                <a:gridCol w="3383280"/>
                <a:gridCol w="3044952"/>
              </a:tblGrid>
              <a:tr h="317113">
                <a:tc>
                  <a:txBody>
                    <a:bodyPr wrap="square"/>
                    <a:lstStyle/>
                    <a:p>
                      <a:pPr algn="l"/>
                      <a:r>
                        <a:rPr sz="960" b="1">
                          <a:solidFill>
                            <a:srgbClr val="F6F1E4"/>
                          </a:solidFill>
                          <a:latin typeface="Arial"/>
                        </a:rPr>
                        <a: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Red line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Licence it would trigger</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Holding the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SBP EMI — Rs 200M capital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Lending or pooling at scale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SECP NBFC — Investment Finance Services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E1512"/>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Formal credit-bureau writing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E1512"/>
                          </a:solidFill>
                          <a:latin typeface="Arial"/>
                        </a:rPr>
                        <a:t>Bureau membership rules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TextBox 19"/>
          <p:cNvSpPr txBox="1"/>
          <p:nvPr/>
        </p:nvSpPr>
        <p:spPr>
          <a:xfrm>
            <a:off x="566928" y="3566160"/>
            <a:ext cx="676656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And the model clause a future framework needs</a:t>
            </a:r>
          </a:p>
        </p:txBody>
      </p:sp>
      <p:sp>
        <p:nvSpPr>
          <p:cNvPr id="21" name="Rectangle 20"/>
          <p:cNvSpPr/>
          <p:nvPr/>
        </p:nvSpPr>
        <p:spPr>
          <a:xfrm>
            <a:off x="566928" y="3895344"/>
            <a:ext cx="6766560" cy="96012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95528" y="4041648"/>
            <a:ext cx="6309360" cy="777240"/>
          </a:xfrm>
          <a:prstGeom prst="rect">
            <a:avLst/>
          </a:prstGeom>
          <a:noFill/>
        </p:spPr>
        <p:txBody>
          <a:bodyPr wrap="square" lIns="0" rIns="0" tIns="0" bIns="0" anchor="t">
            <a:spAutoFit/>
          </a:bodyPr>
          <a:lstStyle/>
          <a:p>
            <a:pPr algn="l">
              <a:lnSpc>
                <a:spcPct val="124000"/>
              </a:lnSpc>
              <a:spcAft>
                <a:spcPts val="400"/>
              </a:spcAft>
            </a:pPr>
            <a:r>
              <a:rPr sz="1180" b="0" i="0">
                <a:solidFill>
                  <a:srgbClr val="F6F1E4"/>
                </a:solidFill>
                <a:latin typeface="Arial"/>
              </a:rPr>
              <a:t>A facilitator that never holds, guarantees, or auctions member funds, and provides records admissible under the Electronic Transactions Ordinance 2002, is a registrar of private arrangements, not a deposit-taker.</a:t>
            </a:r>
          </a:p>
        </p:txBody>
      </p:sp>
      <p:sp>
        <p:nvSpPr>
          <p:cNvPr id="23" name="TextBox 22"/>
          <p:cNvSpPr txBox="1"/>
          <p:nvPr/>
        </p:nvSpPr>
        <p:spPr>
          <a:xfrm>
            <a:off x="566928" y="5029200"/>
            <a:ext cx="6766560" cy="777240"/>
          </a:xfrm>
          <a:prstGeom prst="rect">
            <a:avLst/>
          </a:prstGeom>
          <a:noFill/>
        </p:spPr>
        <p:txBody>
          <a:bodyPr wrap="square" lIns="0" rIns="0" tIns="0" bIns="0" anchor="t">
            <a:spAutoFit/>
          </a:bodyPr>
          <a:lstStyle/>
          <a:p>
            <a:pPr algn="l">
              <a:lnSpc>
                <a:spcPct val="122000"/>
              </a:lnSpc>
              <a:spcAft>
                <a:spcPts val="400"/>
              </a:spcAft>
            </a:pPr>
            <a:r>
              <a:rPr sz="1160" b="0" i="0">
                <a:solidFill>
                  <a:srgbClr val="0E1512"/>
                </a:solidFill>
                <a:latin typeface="Arial"/>
              </a:rPr>
              <a:t>Whoever gets that sentence into the first consultation paper owns the category’s legal ground. And note: it cannot be written about a custodian — every competitor who might lobby against it is one.</a:t>
            </a:r>
          </a:p>
        </p:txBody>
      </p:sp>
      <p:sp>
        <p:nvSpPr>
          <p:cNvPr id="24" name="Rectangle 23"/>
          <p:cNvSpPr/>
          <p:nvPr/>
        </p:nvSpPr>
        <p:spPr>
          <a:xfrm>
            <a:off x="7744968" y="2103120"/>
            <a:ext cx="3840480" cy="1828800"/>
          </a:xfrm>
          <a:prstGeom prst="rect">
            <a:avLst/>
          </a:prstGeom>
          <a:solidFill>
            <a:srgbClr val="FFFFFF"/>
          </a:solidFill>
          <a:ln w="1397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955280" y="2267712"/>
            <a:ext cx="3429000" cy="1554480"/>
          </a:xfrm>
          <a:prstGeom prst="rect">
            <a:avLst/>
          </a:prstGeom>
          <a:noFill/>
        </p:spPr>
        <p:txBody>
          <a:bodyPr wrap="square" lIns="0" rIns="0" tIns="0" bIns="0" anchor="t">
            <a:spAutoFit/>
          </a:bodyPr>
          <a:lstStyle/>
          <a:p>
            <a:pPr algn="l">
              <a:lnSpc>
                <a:spcPct val="122000"/>
              </a:lnSpc>
              <a:spcAft>
                <a:spcPts val="300"/>
              </a:spcAft>
            </a:pPr>
            <a:r>
              <a:rPr sz="1080" b="0" i="0">
                <a:solidFill>
                  <a:srgbClr val="0E1512"/>
                </a:solidFill>
                <a:latin typeface="Arial"/>
              </a:rPr>
              <a:t>The SECP Regulatory Sandbox</a:t>
            </a:r>
          </a:p>
          <a:p>
            <a:pPr algn="l">
              <a:lnSpc>
                <a:spcPct val="122000"/>
              </a:lnSpc>
              <a:spcAft>
                <a:spcPts val="300"/>
              </a:spcAft>
            </a:pPr>
            <a:r>
              <a:rPr sz="1080" b="0" i="0">
                <a:solidFill>
                  <a:srgbClr val="0E1512"/>
                </a:solidFill>
                <a:latin typeface="Arial"/>
              </a:rPr>
              <a:t/>
            </a:r>
          </a:p>
          <a:p>
            <a:pPr algn="l">
              <a:lnSpc>
                <a:spcPct val="122000"/>
              </a:lnSpc>
              <a:spcAft>
                <a:spcPts val="300"/>
              </a:spcAft>
            </a:pPr>
            <a:r>
              <a:rPr sz="1080" b="0" i="0">
                <a:solidFill>
                  <a:srgbClr val="0E1512"/>
                </a:solidFill>
                <a:latin typeface="Arial"/>
              </a:rPr>
              <a:t>Real, with cohorts running since 2020, and its rules allow unregistered startups intending to register to apply. It is the single best door available, and the mentor is currently the sitting Chairman of the Commission.</a:t>
            </a:r>
          </a:p>
        </p:txBody>
      </p:sp>
      <p:sp>
        <p:nvSpPr>
          <p:cNvPr id="26" name="TextBox 25"/>
          <p:cNvSpPr txBox="1"/>
          <p:nvPr/>
        </p:nvSpPr>
        <p:spPr>
          <a:xfrm>
            <a:off x="7744968" y="4114800"/>
            <a:ext cx="384048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What India’s statute teaches about scope</a:t>
            </a:r>
          </a:p>
        </p:txBody>
      </p:sp>
      <p:sp>
        <p:nvSpPr>
          <p:cNvPr id="27" name="TextBox 26"/>
          <p:cNvSpPr txBox="1"/>
          <p:nvPr/>
        </p:nvSpPr>
        <p:spPr>
          <a:xfrm>
            <a:off x="7744968" y="4443984"/>
            <a:ext cx="3840480" cy="1371600"/>
          </a:xfrm>
          <a:prstGeom prst="rect">
            <a:avLst/>
          </a:prstGeom>
          <a:noFill/>
        </p:spPr>
        <p:txBody>
          <a:bodyPr wrap="square" lIns="0" rIns="0" tIns="0" bIns="0" anchor="t">
            <a:spAutoFit/>
          </a:bodyPr>
          <a:lstStyle/>
          <a:p>
            <a:pPr algn="l">
              <a:lnSpc>
                <a:spcPct val="120000"/>
              </a:lnSpc>
              <a:spcAft>
                <a:spcPts val="400"/>
              </a:spcAft>
            </a:pPr>
            <a:r>
              <a:rPr sz="1040" b="0" i="0">
                <a:solidFill>
                  <a:srgbClr val="0E1512"/>
                </a:solidFill>
                <a:latin typeface="Arial"/>
              </a:rPr>
              <a:t>The Chit Funds Act 1982 regulates the foreman — the person conducting the chit. In a Pakistani analogue, Halqa’s hosts would be the regulated persons, not the platform. And the auction family the Act really polices is one Halqa already refuses. A record-only facilitator of non-auction, member-settled committees sits outside every operative clause.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D9A93C"/>
                </a:solidFill>
                <a:latin typeface="Georgia"/>
              </a:rPr>
              <a:t>08</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6F1E4"/>
                </a:solidFill>
                <a:latin typeface="Georgia"/>
              </a:rPr>
              <a:t>State and plan</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The engineering is far ahead of the business.</a:t>
            </a:r>
          </a:p>
          <a:p>
            <a:pPr algn="l">
              <a:lnSpc>
                <a:spcPct val="100000"/>
              </a:lnSpc>
              <a:spcAft>
                <a:spcPts val="600"/>
              </a:spcAft>
            </a:pPr>
            <a:r>
              <a:rPr sz="1240" b="0" i="0">
                <a:solidFill>
                  <a:srgbClr val="C8D4CC"/>
                </a:solidFill>
                <a:latin typeface="Arial"/>
              </a:rPr>
              <a:t>Nothing on the critical path to real money is a coding problem.</a:t>
            </a:r>
          </a:p>
          <a:p>
            <a:pPr algn="l">
              <a:lnSpc>
                <a:spcPct val="100000"/>
              </a:lnSpc>
              <a:spcAft>
                <a:spcPts val="600"/>
              </a:spcAft>
            </a:pPr>
            <a:r>
              <a:rPr sz="1240" b="0" i="0">
                <a:solidFill>
                  <a:srgbClr val="C8D4CC"/>
                </a:solidFill>
                <a:latin typeface="Arial"/>
              </a:rPr>
              <a:t>This section states that plainly, including what is unresolved.</a:t>
            </a:r>
          </a:p>
        </p:txBody>
      </p:sp>
      <p:cxnSp>
        <p:nvCxnSpPr>
          <p:cNvPr id="7" name="Connector 6"/>
          <p:cNvCxnSpPr/>
          <p:nvPr/>
        </p:nvCxnSpPr>
        <p:spPr>
          <a:xfrm>
            <a:off x="2697480"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08 · WHERE THIS HONESTLY IS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state of the company, without dressing</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As of 9 August 2026.</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46</a:t>
            </a:r>
          </a:p>
        </p:txBody>
      </p:sp>
      <p:sp>
        <p:nvSpPr>
          <p:cNvPr id="18" name="TextBox 17"/>
          <p:cNvSpPr txBox="1"/>
          <p:nvPr/>
        </p:nvSpPr>
        <p:spPr>
          <a:xfrm>
            <a:off x="566928" y="1554480"/>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32   Current state</a:t>
            </a:r>
          </a:p>
        </p:txBody>
      </p:sp>
      <p:graphicFrame>
        <p:nvGraphicFramePr>
          <p:cNvPr id="19" name="Table 18"/>
          <p:cNvGraphicFramePr>
            <a:graphicFrameLocks noGrp="1"/>
          </p:cNvGraphicFramePr>
          <p:nvPr/>
        </p:nvGraphicFramePr>
        <p:xfrm>
          <a:off x="566928" y="1773936"/>
          <a:ext cx="6766559" cy="2824398"/>
        </p:xfrm>
        <a:graphic>
          <a:graphicData uri="http://schemas.openxmlformats.org/drawingml/2006/table">
            <a:tbl>
              <a:tblPr>
                <a:tableStyleId>{5C22544A-7EE6-4342-B048-85BDC9FD1C3A}</a:tableStyleId>
              </a:tblPr>
              <a:tblGrid>
                <a:gridCol w="1082649"/>
                <a:gridCol w="5683910"/>
              </a:tblGrid>
              <a:tr h="410382">
                <a:tc>
                  <a:txBody>
                    <a:bodyPr wrap="square"/>
                    <a:lstStyle/>
                    <a:p>
                      <a:pPr algn="l"/>
                      <a:r>
                        <a:rPr sz="960" b="1">
                          <a:solidFill>
                            <a:srgbClr val="F6F1E4"/>
                          </a:solidFill>
                          <a:latin typeface="Arial"/>
                        </a:rPr>
                        <a:t>Dimension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State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E1512"/>
                          </a:solidFill>
                          <a:latin typeface="Arial"/>
                        </a:rPr>
                        <a:t>Product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Live in production since 20 July 2026, deliberately not opened to the public. One real member.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E1512"/>
                          </a:solidFill>
                          <a:latin typeface="Arial"/>
                        </a:rPr>
                        <a:t>Code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Both packages type-clean. 60 of 60 unit tests and 352 of 352 integration checks passing, verified 31 July.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E1512"/>
                          </a:solidFill>
                          <a:latin typeface="Arial"/>
                        </a:rPr>
                        <a:t>Money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No real money has ever moved. Every payment path is sandbox-settled. Blocked on a merchant agreement.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E1512"/>
                          </a:solidFill>
                          <a:latin typeface="Arial"/>
                        </a:rPr>
                        <a:t>Company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Does not exist. No SECP registration, no FBR tax number. This blocks everything downstream.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E1512"/>
                          </a:solidFill>
                          <a:latin typeface="Arial"/>
                        </a:rPr>
                        <a:t>Brand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Pine and gold implemented in the app, uncommitted. Auth screen visually verified; the logged-in interior is not.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E1512"/>
                          </a:solidFill>
                          <a:latin typeface="Arial"/>
                        </a:rPr>
                        <a:t>Regulator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E1512"/>
                          </a:solidFill>
                          <a:latin typeface="Arial"/>
                        </a:rPr>
                        <a:t>Mentored by the sitting SECP Chairman. No formal engagement yet.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4315968"/>
            <a:ext cx="6766560" cy="566928"/>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 y="4443984"/>
            <a:ext cx="6400800" cy="365760"/>
          </a:xfrm>
          <a:prstGeom prst="rect">
            <a:avLst/>
          </a:prstGeom>
          <a:noFill/>
        </p:spPr>
        <p:txBody>
          <a:bodyPr wrap="square" lIns="0" rIns="0" tIns="0" bIns="0" anchor="t">
            <a:spAutoFit/>
          </a:bodyPr>
          <a:lstStyle/>
          <a:p>
            <a:pPr algn="l">
              <a:lnSpc>
                <a:spcPct val="100000"/>
              </a:lnSpc>
              <a:spcAft>
                <a:spcPts val="400"/>
              </a:spcAft>
            </a:pPr>
            <a:r>
              <a:rPr sz="1340" b="0" i="0">
                <a:solidFill>
                  <a:srgbClr val="F6F1E4"/>
                </a:solidFill>
                <a:latin typeface="Georgia"/>
              </a:rPr>
              <a:t>The engineering is far ahead of the business.</a:t>
            </a:r>
          </a:p>
        </p:txBody>
      </p:sp>
      <p:sp>
        <p:nvSpPr>
          <p:cNvPr id="22" name="TextBox 21"/>
          <p:cNvSpPr txBox="1"/>
          <p:nvPr/>
        </p:nvSpPr>
        <p:spPr>
          <a:xfrm>
            <a:off x="566928" y="5102352"/>
            <a:ext cx="67665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Blocking, before any push or deploy</a:t>
            </a:r>
          </a:p>
        </p:txBody>
      </p:sp>
      <p:sp>
        <p:nvSpPr>
          <p:cNvPr id="23" name="TextBox 22"/>
          <p:cNvSpPr txBox="1"/>
          <p:nvPr/>
        </p:nvSpPr>
        <p:spPr>
          <a:xfrm>
            <a:off x="566928" y="5431536"/>
            <a:ext cx="6766560" cy="365760"/>
          </a:xfrm>
          <a:prstGeom prst="rect">
            <a:avLst/>
          </a:prstGeom>
          <a:noFill/>
        </p:spPr>
        <p:txBody>
          <a:bodyPr wrap="square" lIns="0" rIns="0" tIns="0" bIns="0">
            <a:spAutoFit/>
          </a:bodyPr>
          <a:lstStyle/>
          <a:p>
            <a:pPr>
              <a:lnSpc>
                <a:spcPct val="106000"/>
              </a:lnSpc>
              <a:spcAft>
                <a:spcPts val="500"/>
              </a:spcAft>
            </a:pPr>
            <a:r>
              <a:rPr sz="1019" b="1">
                <a:solidFill>
                  <a:srgbClr val="D9A93C"/>
                </a:solidFill>
                <a:latin typeface="Georgia"/>
              </a:rPr>
              <a:t>|  </a:t>
            </a:r>
            <a:r>
              <a:rPr sz="1019" b="1">
                <a:solidFill>
                  <a:srgbClr val="123D30"/>
                </a:solidFill>
                <a:latin typeface="Arial"/>
              </a:rPr>
              <a:t>Apply both pending production migrations  </a:t>
            </a:r>
            <a:r>
              <a:rPr sz="1019">
                <a:solidFill>
                  <a:srgbClr val="0E1512"/>
                </a:solidFill>
                <a:latin typeface="Arial"/>
              </a:rPr>
              <a:t>commit 13d5687 added two User columns with no migration. Production does not have them. On deploy, the host trust card, member profiles, the Credit Passport and signup all break. Production is safe only because the commit was never shipped.</a:t>
            </a:r>
          </a:p>
          <a:p>
            <a:pPr>
              <a:lnSpc>
                <a:spcPct val="106000"/>
              </a:lnSpc>
              <a:spcAft>
                <a:spcPts val="500"/>
              </a:spcAft>
            </a:pPr>
            <a:r>
              <a:rPr sz="1019" b="1">
                <a:solidFill>
                  <a:srgbClr val="D9A93C"/>
                </a:solidFill>
                <a:latin typeface="Georgia"/>
              </a:rPr>
              <a:t>|  </a:t>
            </a:r>
            <a:r>
              <a:rPr sz="1019" b="1">
                <a:solidFill>
                  <a:srgbClr val="123D30"/>
                </a:solidFill>
                <a:latin typeface="Arial"/>
              </a:rPr>
              <a:t>Then push the four unpushed commits  </a:t>
            </a:r>
            <a:r>
              <a:rPr sz="1019">
                <a:solidFill>
                  <a:srgbClr val="0E1512"/>
                </a:solidFill>
                <a:latin typeface="Arial"/>
              </a:rPr>
              <a:t>migrations first, then push, plus the uncommitted brand work and the August documents.</a:t>
            </a:r>
          </a:p>
        </p:txBody>
      </p:sp>
      <p:sp>
        <p:nvSpPr>
          <p:cNvPr id="24" name="TextBox 23"/>
          <p:cNvSpPr txBox="1"/>
          <p:nvPr/>
        </p:nvSpPr>
        <p:spPr>
          <a:xfrm>
            <a:off x="7790688" y="1773936"/>
            <a:ext cx="37947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123D30"/>
                </a:solidFill>
                <a:latin typeface="Georgia"/>
              </a:rPr>
              <a:t>Open operational items</a:t>
            </a:r>
          </a:p>
        </p:txBody>
      </p:sp>
      <p:graphicFrame>
        <p:nvGraphicFramePr>
          <p:cNvPr id="25" name="Table 24"/>
          <p:cNvGraphicFramePr>
            <a:graphicFrameLocks noGrp="1"/>
          </p:cNvGraphicFramePr>
          <p:nvPr/>
        </p:nvGraphicFramePr>
        <p:xfrm>
          <a:off x="7790688" y="2103120"/>
          <a:ext cx="3794759" cy="2886760"/>
        </p:xfrm>
        <a:graphic>
          <a:graphicData uri="http://schemas.openxmlformats.org/drawingml/2006/table">
            <a:tbl>
              <a:tblPr>
                <a:tableStyleId>{5C22544A-7EE6-4342-B048-85BDC9FD1C3A}</a:tableStyleId>
              </a:tblPr>
              <a:tblGrid>
                <a:gridCol w="834847"/>
                <a:gridCol w="2959912"/>
              </a:tblGrid>
              <a:tr h="326440">
                <a:tc>
                  <a:txBody>
                    <a:bodyPr wrap="square"/>
                    <a:lstStyle/>
                    <a:p>
                      <a:pPr algn="l"/>
                      <a:r>
                        <a:rPr sz="960" b="1">
                          <a:solidFill>
                            <a:srgbClr val="F6F1E4"/>
                          </a:solidFill>
                          <a:latin typeface="Arial"/>
                        </a:rPr>
                        <a:t>Priority</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Item</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E1512"/>
                          </a:solidFill>
                          <a:latin typeface="Arial"/>
                        </a:rPr>
                        <a:t>HIGH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E1512"/>
                          </a:solidFill>
                          <a:latin typeface="Arial"/>
                        </a:rPr>
                        <a:t>Wipe demo seed data from production before real users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E1512"/>
                          </a:solidFill>
                          <a:latin typeface="Arial"/>
                        </a:rPr>
                        <a:t>HIGH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E1512"/>
                          </a:solidFill>
                          <a:latin typeface="Arial"/>
                        </a:rPr>
                        <a:t>Database password exposed in chat and not rotated — on record, flagged, not acted 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E1512"/>
                          </a:solidFill>
                          <a:latin typeface="Arial"/>
                        </a:rPr>
                        <a:t>HIGH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E1512"/>
                          </a:solidFill>
                          <a:latin typeface="Arial"/>
                        </a:rPr>
                        <a:t>Abuse detection for credibility-by-proxy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E1512"/>
                          </a:solidFill>
                          <a:latin typeface="Arial"/>
                        </a:rPr>
                        <a:t>MEDIUM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E1512"/>
                          </a:solidFill>
                          <a:latin typeface="Arial"/>
                        </a:rPr>
                        <a:t>Move the application off the master database role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E1512"/>
                          </a:solidFill>
                          <a:latin typeface="Arial"/>
                        </a:rPr>
                        <a:t>MEDIUM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E1512"/>
                          </a:solidFill>
                          <a:latin typeface="Arial"/>
                        </a:rPr>
                        <a:t>Add a second factor for admin access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E1512"/>
                          </a:solidFill>
                          <a:latin typeface="Arial"/>
                        </a:rPr>
                        <a:t>MEDIUM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E1512"/>
                          </a:solidFill>
                          <a:latin typeface="Arial"/>
                        </a:rPr>
                        <a:t>Alerting on error rates and failed-login bursts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E1512"/>
                          </a:solidFill>
                          <a:latin typeface="Arial"/>
                        </a:rPr>
                        <a:t>MEDIUM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E1512"/>
                          </a:solidFill>
                          <a:latin typeface="Arial"/>
                        </a:rPr>
                        <a:t>Retain counsel — the undertaking and guarantee are unreviewed drafts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E1512"/>
                          </a:solidFill>
                          <a:latin typeface="Arial"/>
                        </a:rPr>
                        <a:t>LOW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E1512"/>
                          </a:solidFill>
                          <a:latin typeface="Arial"/>
                        </a:rPr>
                        <a:t>External penetration test when a counterparty requires 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6" name="TextBox 25"/>
          <p:cNvSpPr txBox="1"/>
          <p:nvPr/>
        </p:nvSpPr>
        <p:spPr>
          <a:xfrm>
            <a:off x="7790688" y="5029200"/>
            <a:ext cx="379476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Security posture assessed B+. No critical or high-severity code vulnerability found; the open items are operational.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08 · THE PLAN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ladder — why the order cannot be changed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Each rung is only reachable because the one below it exists. Attempting them out of order is the most common way companies in this category waste a year.</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47</a:t>
            </a:r>
          </a:p>
        </p:txBody>
      </p:sp>
      <p:sp>
        <p:nvSpPr>
          <p:cNvPr id="18" name="Rectangle 17"/>
          <p:cNvSpPr/>
          <p:nvPr/>
        </p:nvSpPr>
        <p:spPr>
          <a:xfrm>
            <a:off x="2103120" y="1700784"/>
            <a:ext cx="9521647" cy="786384"/>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103120" y="1700784"/>
            <a:ext cx="384048" cy="78638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03120" y="1938528"/>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F6F1E4"/>
                </a:solidFill>
                <a:latin typeface="Georgia"/>
              </a:rPr>
              <a:t>5</a:t>
            </a:r>
          </a:p>
        </p:txBody>
      </p:sp>
      <p:sp>
        <p:nvSpPr>
          <p:cNvPr id="21" name="TextBox 20"/>
          <p:cNvSpPr txBox="1"/>
          <p:nvPr/>
        </p:nvSpPr>
        <p:spPr>
          <a:xfrm>
            <a:off x="2651760" y="1810512"/>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The savings layer</a:t>
            </a:r>
          </a:p>
        </p:txBody>
      </p:sp>
      <p:sp>
        <p:nvSpPr>
          <p:cNvPr id="22" name="TextBox 21"/>
          <p:cNvSpPr txBox="1"/>
          <p:nvPr/>
        </p:nvSpPr>
        <p:spPr>
          <a:xfrm>
            <a:off x="2651760" y="2103120"/>
            <a:ext cx="6229807"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0E1512"/>
                </a:solidFill>
                <a:latin typeface="Arial"/>
              </a:rPr>
              <a:t>Vault and Float via CDC trusteeship — yield, plus a pledged buffer that self-cures default.</a:t>
            </a:r>
          </a:p>
        </p:txBody>
      </p:sp>
      <p:sp>
        <p:nvSpPr>
          <p:cNvPr id="23" name="TextBox 22"/>
          <p:cNvSpPr txBox="1"/>
          <p:nvPr/>
        </p:nvSpPr>
        <p:spPr>
          <a:xfrm>
            <a:off x="9018727" y="1810512"/>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4C574F"/>
                </a:solidFill>
                <a:latin typeface="Arial"/>
              </a:rPr>
              <a:t>GATE</a:t>
            </a:r>
          </a:p>
          <a:p>
            <a:pPr algn="r">
              <a:lnSpc>
                <a:spcPct val="100000"/>
              </a:lnSpc>
              <a:spcAft>
                <a:spcPts val="100"/>
              </a:spcAft>
            </a:pPr>
            <a:r>
              <a:rPr sz="919" b="0" i="0">
                <a:solidFill>
                  <a:srgbClr val="4C574F"/>
                </a:solidFill>
                <a:latin typeface="Arial"/>
              </a:rPr>
              <a:t>SECP distributor registration</a:t>
            </a:r>
          </a:p>
        </p:txBody>
      </p:sp>
      <p:sp>
        <p:nvSpPr>
          <p:cNvPr id="24" name="Rectangle 23"/>
          <p:cNvSpPr/>
          <p:nvPr/>
        </p:nvSpPr>
        <p:spPr>
          <a:xfrm>
            <a:off x="1719072" y="2560320"/>
            <a:ext cx="9905695" cy="786384"/>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719072" y="2560320"/>
            <a:ext cx="384048" cy="78638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719072" y="2798064"/>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F6F1E4"/>
                </a:solidFill>
                <a:latin typeface="Georgia"/>
              </a:rPr>
              <a:t>4</a:t>
            </a:r>
          </a:p>
        </p:txBody>
      </p:sp>
      <p:sp>
        <p:nvSpPr>
          <p:cNvPr id="27" name="TextBox 26"/>
          <p:cNvSpPr txBox="1"/>
          <p:nvPr/>
        </p:nvSpPr>
        <p:spPr>
          <a:xfrm>
            <a:off x="2267712" y="2670048"/>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Commerce and the on-ramp</a:t>
            </a:r>
          </a:p>
        </p:txBody>
      </p:sp>
      <p:sp>
        <p:nvSpPr>
          <p:cNvPr id="28" name="TextBox 27"/>
          <p:cNvSpPr txBox="1"/>
          <p:nvPr/>
        </p:nvSpPr>
        <p:spPr>
          <a:xfrm>
            <a:off x="2267712" y="2962656"/>
            <a:ext cx="6613855"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0E1512"/>
                </a:solidFill>
                <a:latin typeface="Arial"/>
              </a:rPr>
              <a:t>Merchants and institutions pay for access to outcomes. This is where the revenue actually is.</a:t>
            </a:r>
          </a:p>
        </p:txBody>
      </p:sp>
      <p:sp>
        <p:nvSpPr>
          <p:cNvPr id="29" name="TextBox 28"/>
          <p:cNvSpPr txBox="1"/>
          <p:nvPr/>
        </p:nvSpPr>
        <p:spPr>
          <a:xfrm>
            <a:off x="9018727" y="2670048"/>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4C574F"/>
                </a:solidFill>
                <a:latin typeface="Arial"/>
              </a:rPr>
              <a:t>GATE</a:t>
            </a:r>
          </a:p>
          <a:p>
            <a:pPr algn="r">
              <a:lnSpc>
                <a:spcPct val="100000"/>
              </a:lnSpc>
              <a:spcAft>
                <a:spcPts val="100"/>
              </a:spcAft>
            </a:pPr>
            <a:r>
              <a:rPr sz="919" b="0" i="0">
                <a:solidFill>
                  <a:srgbClr val="4C574F"/>
                </a:solidFill>
                <a:latin typeface="Arial"/>
              </a:rPr>
              <a:t>Referral and merchant partnerships</a:t>
            </a:r>
          </a:p>
        </p:txBody>
      </p:sp>
      <p:sp>
        <p:nvSpPr>
          <p:cNvPr id="30" name="Rectangle 29"/>
          <p:cNvSpPr/>
          <p:nvPr/>
        </p:nvSpPr>
        <p:spPr>
          <a:xfrm>
            <a:off x="1335024" y="3419856"/>
            <a:ext cx="10289743" cy="786384"/>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335024" y="3419856"/>
            <a:ext cx="384048" cy="78638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335024" y="3657600"/>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F6F1E4"/>
                </a:solidFill>
                <a:latin typeface="Georgia"/>
              </a:rPr>
              <a:t>3</a:t>
            </a:r>
          </a:p>
        </p:txBody>
      </p:sp>
      <p:sp>
        <p:nvSpPr>
          <p:cNvPr id="33" name="TextBox 32"/>
          <p:cNvSpPr txBox="1"/>
          <p:nvPr/>
        </p:nvSpPr>
        <p:spPr>
          <a:xfrm>
            <a:off x="1883664" y="3529584"/>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The bureau link</a:t>
            </a:r>
          </a:p>
        </p:txBody>
      </p:sp>
      <p:sp>
        <p:nvSpPr>
          <p:cNvPr id="34" name="TextBox 33"/>
          <p:cNvSpPr txBox="1"/>
          <p:nvPr/>
        </p:nvSpPr>
        <p:spPr>
          <a:xfrm>
            <a:off x="1883664" y="3822192"/>
            <a:ext cx="6997903"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0E1512"/>
                </a:solidFill>
                <a:latin typeface="Arial"/>
              </a:rPr>
              <a:t>The record becomes a formal credit signal. The member gains real benefit; we gain monopoly-supplier status.</a:t>
            </a:r>
          </a:p>
        </p:txBody>
      </p:sp>
      <p:sp>
        <p:nvSpPr>
          <p:cNvPr id="35" name="TextBox 34"/>
          <p:cNvSpPr txBox="1"/>
          <p:nvPr/>
        </p:nvSpPr>
        <p:spPr>
          <a:xfrm>
            <a:off x="9018727" y="3529584"/>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4C574F"/>
                </a:solidFill>
                <a:latin typeface="Arial"/>
              </a:rPr>
              <a:t>GATE</a:t>
            </a:r>
          </a:p>
          <a:p>
            <a:pPr algn="r">
              <a:lnSpc>
                <a:spcPct val="100000"/>
              </a:lnSpc>
              <a:spcAft>
                <a:spcPts val="100"/>
              </a:spcAft>
            </a:pPr>
            <a:r>
              <a:rPr sz="919" b="0" i="0">
                <a:solidFill>
                  <a:srgbClr val="4C574F"/>
                </a:solidFill>
                <a:latin typeface="Arial"/>
              </a:rPr>
              <a:t>TASDEEQ contributor agreement</a:t>
            </a:r>
          </a:p>
        </p:txBody>
      </p:sp>
      <p:sp>
        <p:nvSpPr>
          <p:cNvPr id="36" name="Rectangle 35"/>
          <p:cNvSpPr/>
          <p:nvPr/>
        </p:nvSpPr>
        <p:spPr>
          <a:xfrm>
            <a:off x="950976" y="4279392"/>
            <a:ext cx="10673791" cy="786384"/>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950976" y="4279392"/>
            <a:ext cx="384048" cy="786384"/>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50976" y="4517136"/>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F6F1E4"/>
                </a:solidFill>
                <a:latin typeface="Georgia"/>
              </a:rPr>
              <a:t>2</a:t>
            </a:r>
          </a:p>
        </p:txBody>
      </p:sp>
      <p:sp>
        <p:nvSpPr>
          <p:cNvPr id="39" name="TextBox 38"/>
          <p:cNvSpPr txBox="1"/>
          <p:nvPr/>
        </p:nvSpPr>
        <p:spPr>
          <a:xfrm>
            <a:off x="1499616" y="4389120"/>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The record</a:t>
            </a:r>
          </a:p>
        </p:txBody>
      </p:sp>
      <p:sp>
        <p:nvSpPr>
          <p:cNvPr id="40" name="TextBox 39"/>
          <p:cNvSpPr txBox="1"/>
          <p:nvPr/>
        </p:nvSpPr>
        <p:spPr>
          <a:xfrm>
            <a:off x="1499616" y="4681728"/>
            <a:ext cx="7381951"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0E1512"/>
                </a:solidFill>
                <a:latin typeface="Arial"/>
              </a:rPr>
              <a:t>Verified repayment at volume — the raw material for everything above it.</a:t>
            </a:r>
          </a:p>
        </p:txBody>
      </p:sp>
      <p:sp>
        <p:nvSpPr>
          <p:cNvPr id="41" name="TextBox 40"/>
          <p:cNvSpPr txBox="1"/>
          <p:nvPr/>
        </p:nvSpPr>
        <p:spPr>
          <a:xfrm>
            <a:off x="9018727" y="4389120"/>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4C574F"/>
                </a:solidFill>
                <a:latin typeface="Arial"/>
              </a:rPr>
              <a:t>GATE</a:t>
            </a:r>
          </a:p>
          <a:p>
            <a:pPr algn="r">
              <a:lnSpc>
                <a:spcPct val="100000"/>
              </a:lnSpc>
              <a:spcAft>
                <a:spcPts val="100"/>
              </a:spcAft>
            </a:pPr>
            <a:r>
              <a:rPr sz="919" b="0" i="0">
                <a:solidFill>
                  <a:srgbClr val="4C574F"/>
                </a:solidFill>
                <a:latin typeface="Arial"/>
              </a:rPr>
              <a:t>Circles completed, not signups</a:t>
            </a:r>
          </a:p>
        </p:txBody>
      </p:sp>
      <p:sp>
        <p:nvSpPr>
          <p:cNvPr id="42" name="Rectangle 41"/>
          <p:cNvSpPr/>
          <p:nvPr/>
        </p:nvSpPr>
        <p:spPr>
          <a:xfrm>
            <a:off x="566928" y="5138928"/>
            <a:ext cx="11057839" cy="786384"/>
          </a:xfrm>
          <a:prstGeom prst="rect">
            <a:avLst/>
          </a:prstGeom>
          <a:solidFill>
            <a:srgbClr val="123D30"/>
          </a:solidFill>
          <a:ln>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66928" y="5138928"/>
            <a:ext cx="384048" cy="786384"/>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6928" y="5376672"/>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07160F"/>
                </a:solidFill>
                <a:latin typeface="Georgia"/>
              </a:rPr>
              <a:t>1</a:t>
            </a:r>
          </a:p>
        </p:txBody>
      </p:sp>
      <p:sp>
        <p:nvSpPr>
          <p:cNvPr id="45" name="TextBox 44"/>
          <p:cNvSpPr txBox="1"/>
          <p:nvPr/>
        </p:nvSpPr>
        <p:spPr>
          <a:xfrm>
            <a:off x="1115568" y="5248656"/>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F6F1E4"/>
                </a:solidFill>
                <a:latin typeface="Arial"/>
              </a:rPr>
              <a:t>Collection</a:t>
            </a:r>
          </a:p>
        </p:txBody>
      </p:sp>
      <p:sp>
        <p:nvSpPr>
          <p:cNvPr id="46" name="TextBox 45"/>
          <p:cNvSpPr txBox="1"/>
          <p:nvPr/>
        </p:nvSpPr>
        <p:spPr>
          <a:xfrm>
            <a:off x="1115568" y="5541264"/>
            <a:ext cx="7765999"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F6F1E4"/>
                </a:solidFill>
                <a:latin typeface="Arial"/>
              </a:rPr>
              <a:t>Settlement, not assertion. Without it there is no credible record, therefore no data asset, no bureau link, and no business.</a:t>
            </a:r>
          </a:p>
        </p:txBody>
      </p:sp>
      <p:sp>
        <p:nvSpPr>
          <p:cNvPr id="47" name="TextBox 46"/>
          <p:cNvSpPr txBox="1"/>
          <p:nvPr/>
        </p:nvSpPr>
        <p:spPr>
          <a:xfrm>
            <a:off x="9018727" y="5248656"/>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D9A93C"/>
                </a:solidFill>
                <a:latin typeface="Arial"/>
              </a:rPr>
              <a:t>GATE</a:t>
            </a:r>
          </a:p>
          <a:p>
            <a:pPr algn="r">
              <a:lnSpc>
                <a:spcPct val="100000"/>
              </a:lnSpc>
              <a:spcAft>
                <a:spcPts val="100"/>
              </a:spcAft>
            </a:pPr>
            <a:r>
              <a:rPr sz="919" b="0" i="0">
                <a:solidFill>
                  <a:srgbClr val="D9A93C"/>
                </a:solidFill>
                <a:latin typeface="Arial"/>
              </a:rPr>
              <a:t>Gate-2 merchant agreement</a:t>
            </a:r>
          </a:p>
        </p:txBody>
      </p:sp>
      <p:sp>
        <p:nvSpPr>
          <p:cNvPr id="48" name="Rectangle 47"/>
          <p:cNvSpPr/>
          <p:nvPr/>
        </p:nvSpPr>
        <p:spPr>
          <a:xfrm>
            <a:off x="566928" y="6108192"/>
            <a:ext cx="45720" cy="4572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95528" y="6089904"/>
            <a:ext cx="10424160" cy="457200"/>
          </a:xfrm>
          <a:prstGeom prst="rect">
            <a:avLst/>
          </a:prstGeom>
          <a:noFill/>
        </p:spPr>
        <p:txBody>
          <a:bodyPr wrap="square" lIns="0" rIns="0" tIns="0" bIns="0" anchor="t">
            <a:spAutoFit/>
          </a:bodyPr>
          <a:lstStyle/>
          <a:p>
            <a:pPr algn="l">
              <a:lnSpc>
                <a:spcPct val="120000"/>
              </a:lnSpc>
              <a:spcAft>
                <a:spcPts val="400"/>
              </a:spcAft>
            </a:pPr>
            <a:r>
              <a:rPr sz="1160" b="0" i="0">
                <a:solidFill>
                  <a:srgbClr val="0E1512"/>
                </a:solidFill>
                <a:latin typeface="Arial"/>
              </a:rPr>
              <a:t>Rung one is the whole game. A ledger of assertions is worth nothing — which is why the merchant agreement, a commercial negotiation, is the most important thing in the company right now.</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08 · THE PLAN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pre-mortem — it is 2029 and Halqa failed. What happened?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Each row names the mechanism and the signal that would show it starting. This is the section that makes the rest of the deck credible.</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48</a:t>
            </a:r>
          </a:p>
        </p:txBody>
      </p:sp>
      <p:sp>
        <p:nvSpPr>
          <p:cNvPr id="18" name="TextBox 17"/>
          <p:cNvSpPr txBox="1"/>
          <p:nvPr/>
        </p:nvSpPr>
        <p:spPr>
          <a:xfrm>
            <a:off x="566928" y="1810512"/>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33   Six ways this ends badly, and what to watch</a:t>
            </a:r>
          </a:p>
        </p:txBody>
      </p:sp>
      <p:graphicFrame>
        <p:nvGraphicFramePr>
          <p:cNvPr id="19" name="Table 18"/>
          <p:cNvGraphicFramePr>
            <a:graphicFrameLocks noGrp="1"/>
          </p:cNvGraphicFramePr>
          <p:nvPr/>
        </p:nvGraphicFramePr>
        <p:xfrm>
          <a:off x="566928" y="2029968"/>
          <a:ext cx="11057837" cy="3979834"/>
        </p:xfrm>
        <a:graphic>
          <a:graphicData uri="http://schemas.openxmlformats.org/drawingml/2006/table">
            <a:tbl>
              <a:tblPr>
                <a:tableStyleId>{5C22544A-7EE6-4342-B048-85BDC9FD1C3A}</a:tableStyleId>
              </a:tblPr>
              <a:tblGrid>
                <a:gridCol w="2653881"/>
                <a:gridCol w="5307762"/>
                <a:gridCol w="3096194"/>
              </a:tblGrid>
              <a:tr h="578266">
                <a:tc>
                  <a:txBody>
                    <a:bodyPr wrap="square"/>
                    <a:lstStyle/>
                    <a:p>
                      <a:pPr algn="l"/>
                      <a:r>
                        <a:rPr sz="960" b="1">
                          <a:solidFill>
                            <a:srgbClr val="F6F1E4"/>
                          </a:solidFill>
                          <a:latin typeface="Arial"/>
                        </a:rPr>
                        <a:t>Cause</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Mechanism</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The early-warning signal</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E1512"/>
                          </a:solidFill>
                          <a:latin typeface="Arial"/>
                        </a:rPr>
                        <a:t>Collection never became real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Raast pull-payments slipped, card-on-file was too narrow for a cash-native base, wallet cost failed the Rs 300 ceiling. Members went back to cash and the ledger recorded assertions.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Share of installments settled digitally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E1512"/>
                          </a:solidFill>
                          <a:latin typeface="Arial"/>
                        </a:rPr>
                        <a:t>An organizer ran a Ponzi using our credibility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Built a clean record on Halqa, showed the app as proof, ran a large offline scheme. Currently unmanaged.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Organizers running many simultaneous circles, unusual member concentration, implausible growth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E1512"/>
                          </a:solidFill>
                          <a:latin typeface="Arial"/>
                        </a:rPr>
                        <a:t>The wallets shipped 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Distribution beat product.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Any committee feature in a JazzCash or Easypaisa release note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E1512"/>
                          </a:solidFill>
                          <a:latin typeface="Arial"/>
                        </a:rPr>
                        <a:t>Regulatory reclassification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A high-profile committee fraud, not ours, triggered rules written for custody operators with no carve-out for record-only facilitators.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Consultation papers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E1512"/>
                          </a:solidFill>
                          <a:latin typeface="Arial"/>
                        </a:rPr>
                        <a:t>We scaled before the loss model was real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The 0.3–1.4% band stayed modelled, never measured; real losses landed outside 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Measured default in the first hundred completed circles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E1512"/>
                          </a:solidFill>
                          <a:latin typeface="Arial"/>
                        </a:rPr>
                        <a:t>The founder ran out of runway doing everything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The most common cause. Product, regulation, partnerships, research and brand all run through one person’s attention.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E1512"/>
                          </a:solidFill>
                          <a:latin typeface="Arial"/>
                        </a:rPr>
                        <a:t>Elapsed time between shipped milestones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5779008"/>
            <a:ext cx="45720" cy="658368"/>
          </a:xfrm>
          <a:prstGeom prst="rect">
            <a:avLst/>
          </a:prstGeom>
          <a:solidFill>
            <a:srgbClr val="8C2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5779008"/>
            <a:ext cx="10424160" cy="685800"/>
          </a:xfrm>
          <a:prstGeom prst="rect">
            <a:avLst/>
          </a:prstGeom>
          <a:noFill/>
        </p:spPr>
        <p:txBody>
          <a:bodyPr wrap="square" lIns="0" rIns="0" tIns="0" bIns="0" anchor="t">
            <a:spAutoFit/>
          </a:bodyPr>
          <a:lstStyle/>
          <a:p>
            <a:pPr algn="l">
              <a:lnSpc>
                <a:spcPct val="120000"/>
              </a:lnSpc>
              <a:spcAft>
                <a:spcPts val="400"/>
              </a:spcAft>
            </a:pPr>
            <a:r>
              <a:rPr sz="1080" b="0" i="0">
                <a:solidFill>
                  <a:srgbClr val="0E1512"/>
                </a:solidFill>
                <a:latin typeface="Arial"/>
              </a:rPr>
              <a:t>The second row is the one to act on now. Halqa’s core product is manufactured, verifiable credibility — which is exactly what a fraudster needs most, and we hand it over free. Cap concurrent circles per organizer, flag implausible growth, watch member concentration, and scope the Credit Passport explicitly to on-platform history, endorsing no outside arrangement.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08 · THE PLAN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The five numbers that say whether this is working</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Most of the industry’s conventional metrics are wrong for this business. A committee is a pre-formed atomic network — ten to fifteen people who already trust each other, already do this monthly, and already have a leader. We are not assembling a network; we are digitising one that arrived complete.</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49</a:t>
            </a:r>
          </a:p>
        </p:txBody>
      </p:sp>
      <p:cxnSp>
        <p:nvCxnSpPr>
          <p:cNvPr id="18" name="Connector 17"/>
          <p:cNvCxnSpPr/>
          <p:nvPr/>
        </p:nvCxnSpPr>
        <p:spPr>
          <a:xfrm>
            <a:off x="566928" y="219456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 y="234086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D9A93C"/>
                </a:solidFill>
                <a:latin typeface="Georgia"/>
              </a:rPr>
              <a:t>1</a:t>
            </a:r>
          </a:p>
        </p:txBody>
      </p:sp>
      <p:sp>
        <p:nvSpPr>
          <p:cNvPr id="20" name="TextBox 19"/>
          <p:cNvSpPr txBox="1"/>
          <p:nvPr/>
        </p:nvSpPr>
        <p:spPr>
          <a:xfrm>
            <a:off x="1252728" y="237744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Share of installments digitally settled</a:t>
            </a:r>
          </a:p>
        </p:txBody>
      </p:sp>
      <p:sp>
        <p:nvSpPr>
          <p:cNvPr id="21" name="TextBox 20"/>
          <p:cNvSpPr txBox="1"/>
          <p:nvPr/>
        </p:nvSpPr>
        <p:spPr>
          <a:xfrm>
            <a:off x="5687568" y="241401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E1512"/>
                </a:solidFill>
                <a:latin typeface="Arial"/>
              </a:rPr>
              <a:t>The health of the collection rung, and the single most important number in the company. A ledger of assertions is worth nothing.</a:t>
            </a:r>
          </a:p>
        </p:txBody>
      </p:sp>
      <p:cxnSp>
        <p:nvCxnSpPr>
          <p:cNvPr id="22" name="Connector 21"/>
          <p:cNvCxnSpPr/>
          <p:nvPr/>
        </p:nvCxnSpPr>
        <p:spPr>
          <a:xfrm>
            <a:off x="566928" y="292608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307238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D9A93C"/>
                </a:solidFill>
                <a:latin typeface="Georgia"/>
              </a:rPr>
              <a:t>2</a:t>
            </a:r>
          </a:p>
        </p:txBody>
      </p:sp>
      <p:sp>
        <p:nvSpPr>
          <p:cNvPr id="24" name="TextBox 23"/>
          <p:cNvSpPr txBox="1"/>
          <p:nvPr/>
        </p:nvSpPr>
        <p:spPr>
          <a:xfrm>
            <a:off x="1252728" y="310896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Circles completed clean</a:t>
            </a:r>
          </a:p>
        </p:txBody>
      </p:sp>
      <p:sp>
        <p:nvSpPr>
          <p:cNvPr id="25" name="TextBox 24"/>
          <p:cNvSpPr txBox="1"/>
          <p:nvPr/>
        </p:nvSpPr>
        <p:spPr>
          <a:xfrm>
            <a:off x="5687568" y="314553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E1512"/>
                </a:solidFill>
                <a:latin typeface="Arial"/>
              </a:rPr>
              <a:t>The atomic unit of value. Signups are vanity — a circle that never finishes proved nothing about anyone in it.</a:t>
            </a:r>
          </a:p>
        </p:txBody>
      </p:sp>
      <p:cxnSp>
        <p:nvCxnSpPr>
          <p:cNvPr id="26" name="Connector 25"/>
          <p:cNvCxnSpPr/>
          <p:nvPr/>
        </p:nvCxnSpPr>
        <p:spPr>
          <a:xfrm>
            <a:off x="566928" y="365760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66928" y="380390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D9A93C"/>
                </a:solidFill>
                <a:latin typeface="Georgia"/>
              </a:rPr>
              <a:t>3</a:t>
            </a:r>
          </a:p>
        </p:txBody>
      </p:sp>
      <p:sp>
        <p:nvSpPr>
          <p:cNvPr id="28" name="TextBox 27"/>
          <p:cNvSpPr txBox="1"/>
          <p:nvPr/>
        </p:nvSpPr>
        <p:spPr>
          <a:xfrm>
            <a:off x="1252728" y="384048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Circles per organizer</a:t>
            </a:r>
          </a:p>
        </p:txBody>
      </p:sp>
      <p:sp>
        <p:nvSpPr>
          <p:cNvPr id="29" name="TextBox 28"/>
          <p:cNvSpPr txBox="1"/>
          <p:nvPr/>
        </p:nvSpPr>
        <p:spPr>
          <a:xfrm>
            <a:off x="5687568" y="387705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E1512"/>
                </a:solidFill>
                <a:latin typeface="Arial"/>
              </a:rPr>
              <a:t>Whether the growth loop compounds or leaks. A host’s second circle re-acquires the whole group for free.</a:t>
            </a:r>
          </a:p>
        </p:txBody>
      </p:sp>
      <p:cxnSp>
        <p:nvCxnSpPr>
          <p:cNvPr id="30" name="Connector 29"/>
          <p:cNvCxnSpPr/>
          <p:nvPr/>
        </p:nvCxnSpPr>
        <p:spPr>
          <a:xfrm>
            <a:off x="566928" y="438912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66928" y="453542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D9A93C"/>
                </a:solidFill>
                <a:latin typeface="Georgia"/>
              </a:rPr>
              <a:t>4</a:t>
            </a:r>
          </a:p>
        </p:txBody>
      </p:sp>
      <p:sp>
        <p:nvSpPr>
          <p:cNvPr id="32" name="TextBox 31"/>
          <p:cNvSpPr txBox="1"/>
          <p:nvPr/>
        </p:nvSpPr>
        <p:spPr>
          <a:xfrm>
            <a:off x="1252728" y="457200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Measured post-payout default in the first 100 completed circles</a:t>
            </a:r>
          </a:p>
        </p:txBody>
      </p:sp>
      <p:sp>
        <p:nvSpPr>
          <p:cNvPr id="33" name="TextBox 32"/>
          <p:cNvSpPr txBox="1"/>
          <p:nvPr/>
        </p:nvSpPr>
        <p:spPr>
          <a:xfrm>
            <a:off x="5687568" y="460857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E1512"/>
                </a:solidFill>
                <a:latin typeface="Arial"/>
              </a:rPr>
              <a:t>The moment 0.3–1.4% stops being a model and becomes a fact.</a:t>
            </a:r>
          </a:p>
        </p:txBody>
      </p:sp>
      <p:cxnSp>
        <p:nvCxnSpPr>
          <p:cNvPr id="34" name="Connector 33"/>
          <p:cNvCxnSpPr/>
          <p:nvPr/>
        </p:nvCxnSpPr>
        <p:spPr>
          <a:xfrm>
            <a:off x="566928" y="512064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526694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D9A93C"/>
                </a:solidFill>
                <a:latin typeface="Georgia"/>
              </a:rPr>
              <a:t>5</a:t>
            </a:r>
          </a:p>
        </p:txBody>
      </p:sp>
      <p:sp>
        <p:nvSpPr>
          <p:cNvPr id="36" name="TextBox 35"/>
          <p:cNvSpPr txBox="1"/>
          <p:nvPr/>
        </p:nvSpPr>
        <p:spPr>
          <a:xfrm>
            <a:off x="1252728" y="530352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123D30"/>
                </a:solidFill>
                <a:latin typeface="Georgia"/>
              </a:rPr>
              <a:t>Member-to-organizer conversion</a:t>
            </a:r>
          </a:p>
        </p:txBody>
      </p:sp>
      <p:sp>
        <p:nvSpPr>
          <p:cNvPr id="37" name="TextBox 36"/>
          <p:cNvSpPr txBox="1"/>
          <p:nvPr/>
        </p:nvSpPr>
        <p:spPr>
          <a:xfrm>
            <a:off x="5687568" y="534009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E1512"/>
                </a:solidFill>
                <a:latin typeface="Arial"/>
              </a:rPr>
              <a:t>The only endogenous growth loop in the product.</a:t>
            </a:r>
          </a:p>
        </p:txBody>
      </p:sp>
      <p:cxnSp>
        <p:nvCxnSpPr>
          <p:cNvPr id="38" name="Connector 37"/>
          <p:cNvCxnSpPr/>
          <p:nvPr/>
        </p:nvCxnSpPr>
        <p:spPr>
          <a:xfrm>
            <a:off x="566928" y="5852160"/>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5980176"/>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4C574F"/>
                </a:solidFill>
                <a:latin typeface="Arial"/>
              </a:rPr>
              <a:t>Cost per organizer replaces cost per user: one organizer delivers ten to fifteen pre-trusting members. Measure circles completed, not monthly actives.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08 · THE PLAN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What happens next, in order</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 first two are blocking. Nothing above them can be reached until they are done.</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50</a:t>
            </a:r>
          </a:p>
        </p:txBody>
      </p:sp>
      <p:sp>
        <p:nvSpPr>
          <p:cNvPr id="18" name="Rectangle 17"/>
          <p:cNvSpPr/>
          <p:nvPr/>
        </p:nvSpPr>
        <p:spPr>
          <a:xfrm>
            <a:off x="566928" y="1627632"/>
            <a:ext cx="45720" cy="566928"/>
          </a:xfrm>
          <a:prstGeom prst="rect">
            <a:avLst/>
          </a:prstGeom>
          <a:solidFill>
            <a:srgbClr val="8C2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68096" y="1645920"/>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4C574F"/>
                </a:solidFill>
                <a:latin typeface="Arial"/>
              </a:rPr>
              <a:t>NOW</a:t>
            </a:r>
          </a:p>
        </p:txBody>
      </p:sp>
      <p:sp>
        <p:nvSpPr>
          <p:cNvPr id="20" name="TextBox 19"/>
          <p:cNvSpPr txBox="1"/>
          <p:nvPr/>
        </p:nvSpPr>
        <p:spPr>
          <a:xfrm>
            <a:off x="2578608" y="1618488"/>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Apply the two migrations, then push</a:t>
            </a:r>
          </a:p>
        </p:txBody>
      </p:sp>
      <p:sp>
        <p:nvSpPr>
          <p:cNvPr id="21" name="TextBox 20"/>
          <p:cNvSpPr txBox="1"/>
          <p:nvPr/>
        </p:nvSpPr>
        <p:spPr>
          <a:xfrm>
            <a:off x="6419088" y="1645920"/>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Everything is blocked behind a working production. The chairman applies these himself.</a:t>
            </a:r>
          </a:p>
        </p:txBody>
      </p:sp>
      <p:sp>
        <p:nvSpPr>
          <p:cNvPr id="22" name="Rectangle 21"/>
          <p:cNvSpPr/>
          <p:nvPr/>
        </p:nvSpPr>
        <p:spPr>
          <a:xfrm>
            <a:off x="566928" y="2286000"/>
            <a:ext cx="45720" cy="56692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8096" y="2304288"/>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4C574F"/>
                </a:solidFill>
                <a:latin typeface="Arial"/>
              </a:rPr>
              <a:t>WEEKS 1–2</a:t>
            </a:r>
          </a:p>
        </p:txBody>
      </p:sp>
      <p:sp>
        <p:nvSpPr>
          <p:cNvPr id="24" name="TextBox 23"/>
          <p:cNvSpPr txBox="1"/>
          <p:nvPr/>
        </p:nvSpPr>
        <p:spPr>
          <a:xfrm>
            <a:off x="2578608" y="2276856"/>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Gate 1 — make Halqa a company</a:t>
            </a:r>
          </a:p>
        </p:txBody>
      </p:sp>
      <p:sp>
        <p:nvSpPr>
          <p:cNvPr id="25" name="TextBox 24"/>
          <p:cNvSpPr txBox="1"/>
          <p:nvPr/>
        </p:nvSpPr>
        <p:spPr>
          <a:xfrm>
            <a:off x="6419088" y="2304288"/>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SECP private limited, FBR tax number, provincial sales tax, corporate operating account, trademark filing. About Rs 20–30k.</a:t>
            </a:r>
          </a:p>
        </p:txBody>
      </p:sp>
      <p:sp>
        <p:nvSpPr>
          <p:cNvPr id="26" name="Rectangle 25"/>
          <p:cNvSpPr/>
          <p:nvPr/>
        </p:nvSpPr>
        <p:spPr>
          <a:xfrm>
            <a:off x="566928" y="2944368"/>
            <a:ext cx="45720" cy="56692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68096" y="2962656"/>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4C574F"/>
                </a:solidFill>
                <a:latin typeface="Arial"/>
              </a:rPr>
              <a:t>WEEKS 2–8</a:t>
            </a:r>
          </a:p>
        </p:txBody>
      </p:sp>
      <p:sp>
        <p:nvSpPr>
          <p:cNvPr id="28" name="TextBox 27"/>
          <p:cNvSpPr txBox="1"/>
          <p:nvPr/>
        </p:nvSpPr>
        <p:spPr>
          <a:xfrm>
            <a:off x="2578608" y="2935224"/>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Gate 2 — turn on real money</a:t>
            </a:r>
          </a:p>
        </p:txBody>
      </p:sp>
      <p:sp>
        <p:nvSpPr>
          <p:cNvPr id="29" name="TextBox 28"/>
          <p:cNvSpPr txBox="1"/>
          <p:nvPr/>
        </p:nvSpPr>
        <p:spPr>
          <a:xfrm>
            <a:off x="6419088" y="2962656"/>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Merchant Services Agreement with PayFast or Safepay, WhatsApp Business API, counsel opinion. Rs 80–180k.</a:t>
            </a:r>
          </a:p>
        </p:txBody>
      </p:sp>
      <p:sp>
        <p:nvSpPr>
          <p:cNvPr id="30" name="Rectangle 29"/>
          <p:cNvSpPr/>
          <p:nvPr/>
        </p:nvSpPr>
        <p:spPr>
          <a:xfrm>
            <a:off x="566928" y="3602736"/>
            <a:ext cx="45720" cy="56692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68096" y="3621024"/>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4C574F"/>
                </a:solidFill>
                <a:latin typeface="Arial"/>
              </a:rPr>
              <a:t>IN PARALLEL</a:t>
            </a:r>
          </a:p>
        </p:txBody>
      </p:sp>
      <p:sp>
        <p:nvSpPr>
          <p:cNvPr id="32" name="TextBox 31"/>
          <p:cNvSpPr txBox="1"/>
          <p:nvPr/>
        </p:nvSpPr>
        <p:spPr>
          <a:xfrm>
            <a:off x="2578608" y="3593592"/>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Build the discipline layer, in the specified order</a:t>
            </a:r>
          </a:p>
        </p:txBody>
      </p:sp>
      <p:sp>
        <p:nvSpPr>
          <p:cNvPr id="33" name="TextBox 32"/>
          <p:cNvSpPr txBox="1"/>
          <p:nvPr/>
        </p:nvSpPr>
        <p:spPr>
          <a:xfrm>
            <a:off x="6419088" y="3621024"/>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CONFIRMING window, affordability engine, exit ladder and restitution, hardship path, NADRA face, authenticity last.</a:t>
            </a:r>
          </a:p>
        </p:txBody>
      </p:sp>
      <p:sp>
        <p:nvSpPr>
          <p:cNvPr id="34" name="Rectangle 33"/>
          <p:cNvSpPr/>
          <p:nvPr/>
        </p:nvSpPr>
        <p:spPr>
          <a:xfrm>
            <a:off x="566928" y="4261104"/>
            <a:ext cx="45720" cy="56692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68096" y="4279392"/>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4C574F"/>
                </a:solidFill>
                <a:latin typeface="Arial"/>
              </a:rPr>
              <a:t>BEFORE PUBLIC LAUNCH</a:t>
            </a:r>
          </a:p>
        </p:txBody>
      </p:sp>
      <p:sp>
        <p:nvSpPr>
          <p:cNvPr id="36" name="TextBox 35"/>
          <p:cNvSpPr txBox="1"/>
          <p:nvPr/>
        </p:nvSpPr>
        <p:spPr>
          <a:xfrm>
            <a:off x="2578608" y="4251960"/>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Build the abuse-detection layer</a:t>
            </a:r>
          </a:p>
        </p:txBody>
      </p:sp>
      <p:sp>
        <p:nvSpPr>
          <p:cNvPr id="37" name="TextBox 36"/>
          <p:cNvSpPr txBox="1"/>
          <p:nvPr/>
        </p:nvSpPr>
        <p:spPr>
          <a:xfrm>
            <a:off x="6419088" y="4279392"/>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Cap concurrent circles per organizer, flag implausible growth, watch member concentration, scope the Passport to on-platform history.</a:t>
            </a:r>
          </a:p>
        </p:txBody>
      </p:sp>
      <p:sp>
        <p:nvSpPr>
          <p:cNvPr id="38" name="Rectangle 37"/>
          <p:cNvSpPr/>
          <p:nvPr/>
        </p:nvSpPr>
        <p:spPr>
          <a:xfrm>
            <a:off x="566928" y="4919472"/>
            <a:ext cx="45720" cy="56692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8096" y="4937760"/>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4C574F"/>
                </a:solidFill>
                <a:latin typeface="Arial"/>
              </a:rPr>
              <a:t>WHILE THE DOOR IS OPEN</a:t>
            </a:r>
          </a:p>
        </p:txBody>
      </p:sp>
      <p:sp>
        <p:nvSpPr>
          <p:cNvPr id="40" name="TextBox 39"/>
          <p:cNvSpPr txBox="1"/>
          <p:nvPr/>
        </p:nvSpPr>
        <p:spPr>
          <a:xfrm>
            <a:off x="2578608" y="4910328"/>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Approach SECP as the first clean actor</a:t>
            </a:r>
          </a:p>
        </p:txBody>
      </p:sp>
      <p:sp>
        <p:nvSpPr>
          <p:cNvPr id="41" name="TextBox 40"/>
          <p:cNvSpPr txBox="1"/>
          <p:nvPr/>
        </p:nvSpPr>
        <p:spPr>
          <a:xfrm>
            <a:off x="6419088" y="4937760"/>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Seek the sandbox. Get the model clause into the first consultation paper.</a:t>
            </a:r>
          </a:p>
        </p:txBody>
      </p:sp>
      <p:sp>
        <p:nvSpPr>
          <p:cNvPr id="42" name="Rectangle 41"/>
          <p:cNvSpPr/>
          <p:nvPr/>
        </p:nvSpPr>
        <p:spPr>
          <a:xfrm>
            <a:off x="566928" y="5577840"/>
            <a:ext cx="45720" cy="56692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68096" y="5596128"/>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4C574F"/>
                </a:solidFill>
                <a:latin typeface="Arial"/>
              </a:rPr>
              <a:t>ONGOING</a:t>
            </a:r>
          </a:p>
        </p:txBody>
      </p:sp>
      <p:sp>
        <p:nvSpPr>
          <p:cNvPr id="44" name="TextBox 43"/>
          <p:cNvSpPr txBox="1"/>
          <p:nvPr/>
        </p:nvSpPr>
        <p:spPr>
          <a:xfrm>
            <a:off x="2578608" y="5568696"/>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123D30"/>
                </a:solidFill>
                <a:latin typeface="Arial"/>
              </a:rPr>
              <a:t>Field sales to existing offline organizers</a:t>
            </a:r>
          </a:p>
        </p:txBody>
      </p:sp>
      <p:sp>
        <p:nvSpPr>
          <p:cNvPr id="45" name="TextBox 44"/>
          <p:cNvSpPr txBox="1"/>
          <p:nvPr/>
        </p:nvSpPr>
        <p:spPr>
          <a:xfrm>
            <a:off x="6419088" y="5596128"/>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E1512"/>
                </a:solidFill>
                <a:latin typeface="Arial"/>
              </a:rPr>
              <a:t>The highest-return growth motion available, and the one competitors will not run. Every case in the archive that scaled did it through agents.</a:t>
            </a:r>
          </a:p>
        </p:txBody>
      </p:sp>
      <p:cxnSp>
        <p:nvCxnSpPr>
          <p:cNvPr id="46" name="Connector 45"/>
          <p:cNvCxnSpPr/>
          <p:nvPr/>
        </p:nvCxnSpPr>
        <p:spPr>
          <a:xfrm>
            <a:off x="566928" y="630936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88414"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409901"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331387"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252874"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174360"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095847"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017334"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938820"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860307"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781793" y="6227064"/>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703280" y="6227064"/>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08 · HONEST LIMITS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123D30"/>
                </a:solidFill>
                <a:latin typeface="Georgia"/>
              </a:rPr>
              <a:t>What is unresolved, and needs a ruling</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4C574F"/>
                </a:solidFill>
                <a:latin typeface="Arial"/>
              </a:rPr>
              <a:t>These are genuine gaps. Silence on them is not a defensible position for any of them.</a:t>
            </a:r>
          </a:p>
        </p:txBody>
      </p:sp>
      <p:cxnSp>
        <p:nvCxnSpPr>
          <p:cNvPr id="6" name="Connector 5"/>
          <p:cNvCxnSpPr/>
          <p:nvPr/>
        </p:nvCxnSpPr>
        <p:spPr>
          <a:xfrm>
            <a:off x="566928" y="654710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4C574F"/>
                </a:solidFill>
                <a:latin typeface="Arial"/>
              </a:rPr>
              <a:t>HALQA   ·   COMPLETE POSITION   ·   9 AUGUST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4C574F"/>
                </a:solidFill>
                <a:latin typeface="Arial"/>
              </a:rPr>
              <a:t>51</a:t>
            </a:r>
          </a:p>
        </p:txBody>
      </p:sp>
      <p:sp>
        <p:nvSpPr>
          <p:cNvPr id="18" name="TextBox 17"/>
          <p:cNvSpPr txBox="1"/>
          <p:nvPr/>
        </p:nvSpPr>
        <p:spPr>
          <a:xfrm>
            <a:off x="566928" y="170078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34   Open questions</a:t>
            </a:r>
          </a:p>
        </p:txBody>
      </p:sp>
      <p:graphicFrame>
        <p:nvGraphicFramePr>
          <p:cNvPr id="19" name="Table 18"/>
          <p:cNvGraphicFramePr>
            <a:graphicFrameLocks noGrp="1"/>
          </p:cNvGraphicFramePr>
          <p:nvPr/>
        </p:nvGraphicFramePr>
        <p:xfrm>
          <a:off x="566928" y="1920240"/>
          <a:ext cx="11057838" cy="3947647"/>
        </p:xfrm>
        <a:graphic>
          <a:graphicData uri="http://schemas.openxmlformats.org/drawingml/2006/table">
            <a:tbl>
              <a:tblPr>
                <a:tableStyleId>{5C22544A-7EE6-4342-B048-85BDC9FD1C3A}</a:tableStyleId>
              </a:tblPr>
              <a:tblGrid>
                <a:gridCol w="442313"/>
                <a:gridCol w="2653881"/>
                <a:gridCol w="7961644"/>
              </a:tblGrid>
              <a:tr h="802111">
                <a:tc>
                  <a:txBody>
                    <a:bodyPr wrap="square"/>
                    <a:lstStyle/>
                    <a:p>
                      <a:pPr algn="l"/>
                      <a:r>
                        <a:rPr sz="960" b="1">
                          <a:solidFill>
                            <a:srgbClr val="F6F1E4"/>
                          </a:solidFill>
                          <a:latin typeface="Arial"/>
                        </a:rPr>
                        <a:t>#</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Question</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6F1E4"/>
                          </a:solidFill>
                          <a:latin typeface="Arial"/>
                        </a:rPr>
                        <a:t>The two defensible answers</a:t>
                      </a:r>
                    </a:p>
                  </a:txBody>
                  <a:tcPr marL="64008" marR="45720" marT="27432" marB="27432" anchor="ctr">
                    <a:solidFill>
                      <a:srgbClr val="123D30"/>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86384">
                <a:tc>
                  <a:txBody>
                    <a:bodyPr wrap="square"/>
                    <a:lstStyle/>
                    <a:p>
                      <a:pPr algn="l"/>
                      <a:r>
                        <a:rPr sz="960" b="0">
                          <a:solidFill>
                            <a:srgbClr val="0E1512"/>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The balance-sheet default-cover tension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The SECP Chairman said cover defaults from Halqa’s own balance sheet and insure the exposure with takaful. The competitor archive says a platform guarantee is precisely what killed eMoneyPool, and that Money Fellows only carries it because it is licensed. The documents currently take the archive’s side. This has never been put back for a final ruling.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86384">
                <a:tc>
                  <a:txBody>
                    <a:bodyPr wrap="square"/>
                    <a:lstStyle/>
                    <a:p>
                      <a:pPr algn="l"/>
                      <a:r>
                        <a:rPr sz="960" b="0">
                          <a:solidFill>
                            <a:srgbClr val="0E1512"/>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The organizer guarantee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In the traditional system the host covers a defaulter from his own pocket, and field informants cite that guarantee as their main reason for feeling safe. Removing custody — correctly — also removed it. Either reproduce it, or state plainly that seat arithmetic replaces 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86384">
                <a:tc>
                  <a:txBody>
                    <a:bodyPr wrap="square"/>
                    <a:lstStyle/>
                    <a:p>
                      <a:pPr algn="l"/>
                      <a:r>
                        <a:rPr sz="960" b="0">
                          <a:solidFill>
                            <a:srgbClr val="0E1512"/>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Circle authenticity v3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The paired-declaration design, presented 9 August, is not yet approved.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86384">
                <a:tc>
                  <a:txBody>
                    <a:bodyPr wrap="square"/>
                    <a:lstStyle/>
                    <a:p>
                      <a:pPr algn="l"/>
                      <a:r>
                        <a:rPr sz="960" b="0">
                          <a:solidFill>
                            <a:srgbClr val="0E1512"/>
                          </a:solidFill>
                          <a:latin typeface="Arial"/>
                        </a:rPr>
                        <a:t>4</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Four numbers awaiting sign-off</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E1512"/>
                          </a:solidFill>
                          <a:latin typeface="Arial"/>
                        </a:rPr>
                        <a:t>The exit fine at one installment with a 70/30 split; the 33% affordability cap; and the tier-one ceilings of Rs 25,000 a month and a Rs 300,000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5687568"/>
            <a:ext cx="45720" cy="65836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5687568"/>
            <a:ext cx="10424160" cy="731520"/>
          </a:xfrm>
          <a:prstGeom prst="rect">
            <a:avLst/>
          </a:prstGeom>
          <a:noFill/>
        </p:spPr>
        <p:txBody>
          <a:bodyPr wrap="square" lIns="0" rIns="0" tIns="0" bIns="0" anchor="t">
            <a:spAutoFit/>
          </a:bodyPr>
          <a:lstStyle/>
          <a:p>
            <a:pPr algn="l">
              <a:lnSpc>
                <a:spcPct val="122000"/>
              </a:lnSpc>
              <a:spcAft>
                <a:spcPts val="400"/>
              </a:spcAft>
            </a:pPr>
            <a:r>
              <a:rPr sz="1140" b="0" i="0">
                <a:solidFill>
                  <a:srgbClr val="0E1512"/>
                </a:solidFill>
                <a:latin typeface="Arial"/>
              </a:rPr>
              <a:t>Every strong document in this project contains a passage like this one, and they consistently strengthen the case rather than weaken it. A regulator, a counterparty and an investor all read the absence of one as the tell.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6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10104120" y="2458821"/>
            <a:ext cx="0" cy="30723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0344150" y="2564299"/>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519864" y="2852470"/>
            <a:ext cx="266076" cy="15362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584180" y="3246120"/>
            <a:ext cx="307238" cy="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10519864" y="348615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10344150" y="3661864"/>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0104120" y="3726180"/>
            <a:ext cx="0" cy="307238"/>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710470" y="3661864"/>
            <a:ext cx="153620"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422299" y="348615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316821" y="3246120"/>
            <a:ext cx="422453" cy="0"/>
          </a:xfrm>
          <a:prstGeom prst="line">
            <a:avLst/>
          </a:prstGeom>
          <a:ln w="24003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32688" y="1874519"/>
            <a:ext cx="8412480" cy="2194560"/>
          </a:xfrm>
          <a:prstGeom prst="rect">
            <a:avLst/>
          </a:prstGeom>
          <a:noFill/>
        </p:spPr>
        <p:txBody>
          <a:bodyPr wrap="square" lIns="0" rIns="0" tIns="0" bIns="0" anchor="t">
            <a:spAutoFit/>
          </a:bodyPr>
          <a:lstStyle/>
          <a:p>
            <a:pPr algn="l">
              <a:lnSpc>
                <a:spcPct val="128000"/>
              </a:lnSpc>
              <a:spcAft>
                <a:spcPts val="600"/>
              </a:spcAft>
            </a:pPr>
            <a:r>
              <a:rPr sz="2100" b="0" i="0">
                <a:solidFill>
                  <a:srgbClr val="F6F1E4"/>
                </a:solidFill>
                <a:latin typeface="Georgia"/>
              </a:rPr>
              <a:t>Every serious competitor in this market makes money by holding money.</a:t>
            </a:r>
          </a:p>
          <a:p>
            <a:pPr algn="l">
              <a:lnSpc>
                <a:spcPct val="128000"/>
              </a:lnSpc>
              <a:spcAft>
                <a:spcPts val="600"/>
              </a:spcAft>
            </a:pPr>
            <a:r>
              <a:rPr sz="2100" b="0" i="0">
                <a:solidFill>
                  <a:srgbClr val="F6F1E4"/>
                </a:solidFill>
                <a:latin typeface="Georgia"/>
              </a:rPr>
              <a:t/>
            </a:r>
          </a:p>
          <a:p>
            <a:pPr algn="l">
              <a:lnSpc>
                <a:spcPct val="128000"/>
              </a:lnSpc>
              <a:spcAft>
                <a:spcPts val="600"/>
              </a:spcAft>
            </a:pPr>
            <a:r>
              <a:rPr sz="2100" b="0" i="0">
                <a:solidFill>
                  <a:srgbClr val="F6F1E4"/>
                </a:solidFill>
                <a:latin typeface="Georgia"/>
              </a:rPr>
              <a:t>Halqa makes money by recording it.</a:t>
            </a:r>
          </a:p>
          <a:p>
            <a:pPr algn="l">
              <a:lnSpc>
                <a:spcPct val="128000"/>
              </a:lnSpc>
              <a:spcAft>
                <a:spcPts val="600"/>
              </a:spcAft>
            </a:pPr>
            <a:r>
              <a:rPr sz="2100" b="0" i="0">
                <a:solidFill>
                  <a:srgbClr val="F6F1E4"/>
                </a:solidFill>
                <a:latin typeface="Georgia"/>
              </a:rPr>
              <a:t/>
            </a:r>
          </a:p>
          <a:p>
            <a:pPr algn="l">
              <a:lnSpc>
                <a:spcPct val="128000"/>
              </a:lnSpc>
              <a:spcAft>
                <a:spcPts val="600"/>
              </a:spcAft>
            </a:pPr>
            <a:r>
              <a:rPr sz="2100" b="0" i="0">
                <a:solidFill>
                  <a:srgbClr val="F6F1E4"/>
                </a:solidFill>
                <a:latin typeface="Georgia"/>
              </a:rPr>
              <a:t>That is not a feature difference — it is a different business, with a different regulator, a different cost structure, and a different failure mode.</a:t>
            </a:r>
          </a:p>
        </p:txBody>
      </p:sp>
      <p:cxnSp>
        <p:nvCxnSpPr>
          <p:cNvPr id="15" name="Connector 14"/>
          <p:cNvCxnSpPr/>
          <p:nvPr/>
        </p:nvCxnSpPr>
        <p:spPr>
          <a:xfrm>
            <a:off x="932688" y="4434840"/>
            <a:ext cx="5650992" cy="0"/>
          </a:xfrm>
          <a:prstGeom prst="line">
            <a:avLst/>
          </a:prstGeom>
          <a:ln w="304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32688" y="4663440"/>
            <a:ext cx="8229600" cy="822960"/>
          </a:xfrm>
          <a:prstGeom prst="rect">
            <a:avLst/>
          </a:prstGeom>
          <a:noFill/>
        </p:spPr>
        <p:txBody>
          <a:bodyPr wrap="square" lIns="0" rIns="0" tIns="0" bIns="0" anchor="t">
            <a:spAutoFit/>
          </a:bodyPr>
          <a:lstStyle/>
          <a:p>
            <a:pPr algn="l">
              <a:lnSpc>
                <a:spcPct val="100000"/>
              </a:lnSpc>
              <a:spcAft>
                <a:spcPts val="400"/>
              </a:spcAft>
            </a:pPr>
            <a:r>
              <a:rPr sz="1500" b="0" i="0">
                <a:solidFill>
                  <a:srgbClr val="F0C356"/>
                </a:solidFill>
                <a:latin typeface="Georgia"/>
              </a:rPr>
              <a:t>Apni committee, apnay log. Hisaab humara.</a:t>
            </a:r>
          </a:p>
        </p:txBody>
      </p:sp>
      <p:sp>
        <p:nvSpPr>
          <p:cNvPr id="17" name="TextBox 16"/>
          <p:cNvSpPr txBox="1"/>
          <p:nvPr/>
        </p:nvSpPr>
        <p:spPr>
          <a:xfrm>
            <a:off x="932688" y="5047488"/>
            <a:ext cx="8229600" cy="822960"/>
          </a:xfrm>
          <a:prstGeom prst="rect">
            <a:avLst/>
          </a:prstGeom>
          <a:noFill/>
        </p:spPr>
        <p:txBody>
          <a:bodyPr wrap="square" lIns="0" rIns="0" tIns="0" bIns="0" anchor="t">
            <a:spAutoFit/>
          </a:bodyPr>
          <a:lstStyle/>
          <a:p>
            <a:pPr algn="l">
              <a:lnSpc>
                <a:spcPct val="100000"/>
              </a:lnSpc>
              <a:spcAft>
                <a:spcPts val="400"/>
              </a:spcAft>
            </a:pPr>
            <a:r>
              <a:rPr sz="1060" b="0" i="0">
                <a:solidFill>
                  <a:srgbClr val="9AA39C"/>
                </a:solidFill>
                <a:latin typeface="Arial"/>
              </a:rPr>
              <a:t>Halqa · 9 August 2026 · Live in production since 20 July 2026 · No real money has moved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