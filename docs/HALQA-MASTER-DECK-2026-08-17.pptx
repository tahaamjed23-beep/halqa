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6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2103120" y="2080260"/>
            <a:ext cx="0" cy="36576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2388870" y="2205829"/>
            <a:ext cx="182880" cy="316757"/>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598053" y="2548890"/>
            <a:ext cx="316757" cy="18288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2674620" y="3017520"/>
            <a:ext cx="365760" cy="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598053" y="3303270"/>
            <a:ext cx="316757" cy="18288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2388870" y="3512453"/>
            <a:ext cx="182880" cy="316757"/>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103120" y="3589020"/>
            <a:ext cx="0" cy="36576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634490" y="3512453"/>
            <a:ext cx="182880" cy="316757"/>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291429" y="3303270"/>
            <a:ext cx="316757" cy="182880"/>
          </a:xfrm>
          <a:prstGeom prst="line">
            <a:avLst/>
          </a:prstGeom>
          <a:ln w="22225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 y="3017520"/>
            <a:ext cx="502920" cy="0"/>
          </a:xfrm>
          <a:prstGeom prst="line">
            <a:avLst/>
          </a:prstGeom>
          <a:ln w="28575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931920" y="1874519"/>
            <a:ext cx="7315200" cy="822960"/>
          </a:xfrm>
          <a:prstGeom prst="rect">
            <a:avLst/>
          </a:prstGeom>
          <a:noFill/>
        </p:spPr>
        <p:txBody>
          <a:bodyPr wrap="square" lIns="0" rIns="0" tIns="0" bIns="0" anchor="t">
            <a:spAutoFit/>
          </a:bodyPr>
          <a:lstStyle/>
          <a:p>
            <a:pPr algn="l">
              <a:lnSpc>
                <a:spcPct val="100000"/>
              </a:lnSpc>
              <a:spcAft>
                <a:spcPts val="400"/>
              </a:spcAft>
            </a:pPr>
            <a:r>
              <a:rPr sz="5200" b="0" i="0" spc="800">
                <a:solidFill>
                  <a:srgbClr val="F6F1E4"/>
                </a:solidFill>
                <a:latin typeface="Georgia"/>
              </a:rPr>
              <a:t>HALQA</a:t>
            </a:r>
          </a:p>
        </p:txBody>
      </p:sp>
      <p:cxnSp>
        <p:nvCxnSpPr>
          <p:cNvPr id="15" name="Connector 14"/>
          <p:cNvCxnSpPr/>
          <p:nvPr/>
        </p:nvCxnSpPr>
        <p:spPr>
          <a:xfrm>
            <a:off x="3977639" y="2697480"/>
            <a:ext cx="1965961" cy="0"/>
          </a:xfrm>
          <a:prstGeom prst="line">
            <a:avLst/>
          </a:prstGeom>
          <a:ln w="3048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77639" y="2889504"/>
            <a:ext cx="7680960" cy="548640"/>
          </a:xfrm>
          <a:prstGeom prst="rect">
            <a:avLst/>
          </a:prstGeom>
          <a:noFill/>
        </p:spPr>
        <p:txBody>
          <a:bodyPr wrap="square" lIns="0" rIns="0" tIns="0" bIns="0" anchor="t">
            <a:spAutoFit/>
          </a:bodyPr>
          <a:lstStyle/>
          <a:p>
            <a:pPr algn="l">
              <a:lnSpc>
                <a:spcPct val="100000"/>
              </a:lnSpc>
              <a:spcAft>
                <a:spcPts val="400"/>
              </a:spcAft>
            </a:pPr>
            <a:r>
              <a:rPr sz="2200" b="0" i="0">
                <a:solidFill>
                  <a:srgbClr val="F6F1E4"/>
                </a:solidFill>
                <a:latin typeface="Georgia"/>
              </a:rPr>
              <a:t>The complete position</a:t>
            </a:r>
          </a:p>
        </p:txBody>
      </p:sp>
      <p:sp>
        <p:nvSpPr>
          <p:cNvPr id="17" name="TextBox 16"/>
          <p:cNvSpPr txBox="1"/>
          <p:nvPr/>
        </p:nvSpPr>
        <p:spPr>
          <a:xfrm>
            <a:off x="3977639" y="3419856"/>
            <a:ext cx="7498079" cy="1097280"/>
          </a:xfrm>
          <a:prstGeom prst="rect">
            <a:avLst/>
          </a:prstGeom>
          <a:noFill/>
        </p:spPr>
        <p:txBody>
          <a:bodyPr wrap="square" lIns="0" rIns="0" tIns="0" bIns="0" anchor="t">
            <a:spAutoFit/>
          </a:bodyPr>
          <a:lstStyle/>
          <a:p>
            <a:pPr algn="l">
              <a:lnSpc>
                <a:spcPct val="115000"/>
              </a:lnSpc>
              <a:spcAft>
                <a:spcPts val="500"/>
              </a:spcAft>
            </a:pPr>
            <a:r>
              <a:rPr sz="1240" b="0" i="0">
                <a:solidFill>
                  <a:srgbClr val="C8D4CC"/>
                </a:solidFill>
                <a:latin typeface="Arial"/>
              </a:rPr>
              <a:t>Apni committee, apnay log. Hisaab humara.</a:t>
            </a:r>
          </a:p>
          <a:p>
            <a:pPr algn="l">
              <a:lnSpc>
                <a:spcPct val="115000"/>
              </a:lnSpc>
              <a:spcAft>
                <a:spcPts val="500"/>
              </a:spcAft>
            </a:pPr>
            <a:r>
              <a:rPr sz="1240" b="0" i="0">
                <a:solidFill>
                  <a:srgbClr val="C8D4CC"/>
                </a:solidFill>
                <a:latin typeface="Arial"/>
              </a:rPr>
              <a:t>Your committee, your people. We keep the record, and we never hold your money.</a:t>
            </a:r>
          </a:p>
        </p:txBody>
      </p:sp>
      <p:cxnSp>
        <p:nvCxnSpPr>
          <p:cNvPr id="18" name="Connector 17"/>
          <p:cNvCxnSpPr/>
          <p:nvPr/>
        </p:nvCxnSpPr>
        <p:spPr>
          <a:xfrm>
            <a:off x="3977639" y="4261104"/>
            <a:ext cx="7086601" cy="0"/>
          </a:xfrm>
          <a:prstGeom prst="line">
            <a:avLst/>
          </a:prstGeom>
          <a:ln w="9525">
            <a:solidFill>
              <a:srgbClr val="1B5140"/>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977639" y="4407408"/>
            <a:ext cx="7315200" cy="822960"/>
          </a:xfrm>
          <a:prstGeom prst="rect">
            <a:avLst/>
          </a:prstGeom>
          <a:noFill/>
        </p:spPr>
        <p:txBody>
          <a:bodyPr wrap="square" lIns="0" rIns="0" tIns="0" bIns="0" anchor="t">
            <a:spAutoFit/>
          </a:bodyPr>
          <a:lstStyle/>
          <a:p>
            <a:pPr algn="l">
              <a:lnSpc>
                <a:spcPct val="118000"/>
              </a:lnSpc>
              <a:spcAft>
                <a:spcPts val="200"/>
              </a:spcAft>
            </a:pPr>
            <a:r>
              <a:rPr sz="1060" b="0" i="0">
                <a:solidFill>
                  <a:srgbClr val="9AA39C"/>
                </a:solidFill>
                <a:latin typeface="Arial"/>
              </a:rPr>
              <a:t>Every subsystem, specified. Instrument, architecture, products, the HYPER model,</a:t>
            </a:r>
          </a:p>
          <a:p>
            <a:pPr algn="l">
              <a:lnSpc>
                <a:spcPct val="118000"/>
              </a:lnSpc>
              <a:spcAft>
                <a:spcPts val="200"/>
              </a:spcAft>
            </a:pPr>
            <a:r>
              <a:rPr sz="1060" b="0" i="0">
                <a:solidFill>
                  <a:srgbClr val="9AA39C"/>
                </a:solidFill>
                <a:latin typeface="Arial"/>
              </a:rPr>
              <a:t>identity and AML, the rails, the ledger, the algorithms, credit, the vault, security,</a:t>
            </a:r>
          </a:p>
          <a:p>
            <a:pPr algn="l">
              <a:lnSpc>
                <a:spcPct val="118000"/>
              </a:lnSpc>
              <a:spcAft>
                <a:spcPts val="200"/>
              </a:spcAft>
            </a:pPr>
            <a:r>
              <a:rPr sz="1060" b="0" i="0">
                <a:solidFill>
                  <a:srgbClr val="9AA39C"/>
                </a:solidFill>
                <a:latin typeface="Arial"/>
              </a:rPr>
              <a:t>the fee book, marketing and the business model.</a:t>
            </a:r>
          </a:p>
        </p:txBody>
      </p:sp>
      <p:sp>
        <p:nvSpPr>
          <p:cNvPr id="20" name="TextBox 19"/>
          <p:cNvSpPr txBox="1"/>
          <p:nvPr/>
        </p:nvSpPr>
        <p:spPr>
          <a:xfrm>
            <a:off x="3977639" y="5440680"/>
            <a:ext cx="7315200" cy="365760"/>
          </a:xfrm>
          <a:prstGeom prst="rect">
            <a:avLst/>
          </a:prstGeom>
          <a:noFill/>
        </p:spPr>
        <p:txBody>
          <a:bodyPr wrap="square" lIns="0" rIns="0" tIns="0" bIns="0" anchor="t">
            <a:spAutoFit/>
          </a:bodyPr>
          <a:lstStyle/>
          <a:p>
            <a:pPr algn="l">
              <a:lnSpc>
                <a:spcPct val="100000"/>
              </a:lnSpc>
              <a:spcAft>
                <a:spcPts val="400"/>
              </a:spcAft>
            </a:pPr>
            <a:r>
              <a:rPr sz="1019" b="0" i="0" spc="60">
                <a:solidFill>
                  <a:srgbClr val="D9A93C"/>
                </a:solidFill>
                <a:latin typeface="Arial"/>
              </a:rPr>
              <a:t>17 August 2026    ·    Internal and counterparty use</a:t>
            </a:r>
          </a:p>
        </p:txBody>
      </p:sp>
      <p:sp>
        <p:nvSpPr>
          <p:cNvPr id="21" name="TextBox 20"/>
          <p:cNvSpPr txBox="1"/>
          <p:nvPr/>
        </p:nvSpPr>
        <p:spPr>
          <a:xfrm>
            <a:off x="3977639" y="5806440"/>
            <a:ext cx="7315200" cy="365760"/>
          </a:xfrm>
          <a:prstGeom prst="rect">
            <a:avLst/>
          </a:prstGeom>
          <a:noFill/>
        </p:spPr>
        <p:txBody>
          <a:bodyPr wrap="square" lIns="0" rIns="0" tIns="0" bIns="0" anchor="t">
            <a:spAutoFit/>
          </a:bodyPr>
          <a:lstStyle/>
          <a:p>
            <a:pPr algn="l">
              <a:lnSpc>
                <a:spcPct val="100000"/>
              </a:lnSpc>
              <a:spcAft>
                <a:spcPts val="400"/>
              </a:spcAft>
            </a:pPr>
            <a:r>
              <a:rPr sz="919" b="0" i="0">
                <a:solidFill>
                  <a:srgbClr val="9AA39C"/>
                </a:solidFill>
                <a:latin typeface="Arial"/>
              </a:rPr>
              <a:t>Live: halqa-seven.vercel.app    ·    API: halqa-api-delta.vercel.app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READING THIS DECK</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Provenance marks and stage tags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Nothing is stated without saying how strongly it is known and what it depends on. Both marks are used throughout.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a:t>
            </a:r>
          </a:p>
        </p:txBody>
      </p:sp>
      <p:graphicFrame>
        <p:nvGraphicFramePr>
          <p:cNvPr id="18" name="Table 17"/>
          <p:cNvGraphicFramePr>
            <a:graphicFrameLocks noGrp="1"/>
          </p:cNvGraphicFramePr>
          <p:nvPr/>
        </p:nvGraphicFramePr>
        <p:xfrm>
          <a:off x="566928" y="1517904"/>
          <a:ext cx="5486400" cy="1470355"/>
        </p:xfrm>
        <a:graphic>
          <a:graphicData uri="http://schemas.openxmlformats.org/drawingml/2006/table">
            <a:tbl>
              <a:tblPr>
                <a:tableStyleId>{5C22544A-7EE6-4342-B048-85BDC9FD1C3A}</a:tableStyleId>
              </a:tblPr>
              <a:tblGrid>
                <a:gridCol w="1426464"/>
                <a:gridCol w="4059936"/>
              </a:tblGrid>
              <a:tr h="373075">
                <a:tc>
                  <a:txBody>
                    <a:bodyPr wrap="square"/>
                    <a:lstStyle/>
                    <a:p>
                      <a:pPr algn="l"/>
                      <a:r>
                        <a:rPr sz="960" b="1">
                          <a:solidFill>
                            <a:srgbClr val="F6F1E4"/>
                          </a:solidFill>
                          <a:latin typeface="Arial"/>
                        </a:rPr>
                        <a:t>Provenance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60" b="1">
                          <a:solidFill>
                            <a:srgbClr val="F6F1E4"/>
                          </a:solidFill>
                          <a:latin typeface="Arial"/>
                        </a:rPr>
                        <a:t>Meaning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65760">
                <a:tc>
                  <a:txBody>
                    <a:bodyPr wrap="square"/>
                    <a:lstStyle/>
                    <a:p>
                      <a:pPr algn="l"/>
                      <a:r>
                        <a:rPr sz="1019" b="0">
                          <a:solidFill>
                            <a:srgbClr val="0E1512"/>
                          </a:solidFill>
                          <a:latin typeface="Arial"/>
                        </a:rPr>
                        <a:t>verified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1019" b="0">
                          <a:solidFill>
                            <a:srgbClr val="0E1512"/>
                          </a:solidFill>
                          <a:latin typeface="Arial"/>
                        </a:rPr>
                        <a:t>We ran it, a test, a query, or a document read in full.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1019" b="0">
                          <a:solidFill>
                            <a:srgbClr val="0E1512"/>
                          </a:solidFill>
                          <a:latin typeface="Arial"/>
                        </a:rPr>
                        <a:t>modelled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1019" b="0">
                          <a:solidFill>
                            <a:srgbClr val="0E1512"/>
                          </a:solidFill>
                          <a:latin typeface="Arial"/>
                        </a:rPr>
                        <a:t>Arithmetic or simulation. Not yet measured in the world.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1019" b="0">
                          <a:solidFill>
                            <a:srgbClr val="0E1512"/>
                          </a:solidFill>
                          <a:latin typeface="Arial"/>
                        </a:rPr>
                        <a:t>reported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1019" b="0">
                          <a:solidFill>
                            <a:srgbClr val="0E1512"/>
                          </a:solidFill>
                          <a:latin typeface="Arial"/>
                        </a:rPr>
                        <a:t>A third party said it, press, a company claim, or a paper.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graphicFrame>
        <p:nvGraphicFramePr>
          <p:cNvPr id="19" name="Table 18"/>
          <p:cNvGraphicFramePr>
            <a:graphicFrameLocks noGrp="1"/>
          </p:cNvGraphicFramePr>
          <p:nvPr/>
        </p:nvGraphicFramePr>
        <p:xfrm>
          <a:off x="6419088" y="1517904"/>
          <a:ext cx="5166360" cy="1560697"/>
        </p:xfrm>
        <a:graphic>
          <a:graphicData uri="http://schemas.openxmlformats.org/drawingml/2006/table">
            <a:tbl>
              <a:tblPr>
                <a:tableStyleId>{5C22544A-7EE6-4342-B048-85BDC9FD1C3A}</a:tableStyleId>
              </a:tblPr>
              <a:tblGrid>
                <a:gridCol w="1549908"/>
                <a:gridCol w="3616452"/>
              </a:tblGrid>
              <a:tr h="317113">
                <a:tc>
                  <a:txBody>
                    <a:bodyPr wrap="square"/>
                    <a:lstStyle/>
                    <a:p>
                      <a:pPr algn="l"/>
                      <a:r>
                        <a:rPr sz="960" b="1">
                          <a:solidFill>
                            <a:srgbClr val="F6F1E4"/>
                          </a:solidFill>
                          <a:latin typeface="Arial"/>
                        </a:rPr>
                        <a:t>Stage tag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60" b="1">
                          <a:solidFill>
                            <a:srgbClr val="F6F1E4"/>
                          </a:solidFill>
                          <a:latin typeface="Arial"/>
                        </a:rPr>
                        <a:t>What it needs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1019" b="0">
                          <a:solidFill>
                            <a:srgbClr val="0E1512"/>
                          </a:solidFill>
                          <a:latin typeface="Arial"/>
                        </a:rPr>
                        <a:t>FUNCTIONAL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1019" b="0">
                          <a:solidFill>
                            <a:srgbClr val="0E1512"/>
                          </a:solidFill>
                          <a:latin typeface="Arial"/>
                        </a:rPr>
                        <a:t>Works today, in production. Record-only, no licence.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1019" b="0">
                          <a:solidFill>
                            <a:srgbClr val="0E1512"/>
                          </a:solidFill>
                          <a:latin typeface="Arial"/>
                        </a:rPr>
                        <a:t>BUILD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1019" b="0">
                          <a:solidFill>
                            <a:srgbClr val="0E1512"/>
                          </a:solidFill>
                          <a:latin typeface="Arial"/>
                        </a:rPr>
                        <a:t>Specified. Buildable now, no external dependency.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1019" b="0">
                          <a:solidFill>
                            <a:srgbClr val="0E1512"/>
                          </a:solidFill>
                          <a:latin typeface="Arial"/>
                        </a:rPr>
                        <a:t>GATE-2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1019" b="0">
                          <a:solidFill>
                            <a:srgbClr val="0E1512"/>
                          </a:solidFill>
                          <a:latin typeface="Arial"/>
                        </a:rPr>
                        <a:t>Needs the payment-aggregator merchant agreement.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1019" b="0">
                          <a:solidFill>
                            <a:srgbClr val="0E1512"/>
                          </a:solidFill>
                          <a:latin typeface="Arial"/>
                        </a:rPr>
                        <a:t>STAGE-2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1019" b="0">
                          <a:solidFill>
                            <a:srgbClr val="0E1512"/>
                          </a:solidFill>
                          <a:latin typeface="Arial"/>
                        </a:rPr>
                        <a:t>Needs the CDC/DCC trustee and the AMC structure.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cxnSp>
        <p:nvCxnSpPr>
          <p:cNvPr id="20" name="Connector 19"/>
          <p:cNvCxnSpPr/>
          <p:nvPr/>
        </p:nvCxnSpPr>
        <p:spPr>
          <a:xfrm>
            <a:off x="566928" y="3529584"/>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88414"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409901"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331387"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52874"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74360"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95847"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017334"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938820"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860307"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781793" y="3447288"/>
            <a:ext cx="0" cy="82296"/>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703280" y="3447288"/>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66928" y="3730752"/>
            <a:ext cx="1060704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The single fact the whole company is built on</a:t>
            </a:r>
          </a:p>
        </p:txBody>
      </p:sp>
      <p:sp>
        <p:nvSpPr>
          <p:cNvPr id="33" name="Rectangle 32"/>
          <p:cNvSpPr/>
          <p:nvPr/>
        </p:nvSpPr>
        <p:spPr>
          <a:xfrm>
            <a:off x="566928" y="4151376"/>
            <a:ext cx="45720" cy="141732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95528" y="4169663"/>
            <a:ext cx="10332720" cy="1463040"/>
          </a:xfrm>
          <a:prstGeom prst="rect">
            <a:avLst/>
          </a:prstGeom>
          <a:noFill/>
        </p:spPr>
        <p:txBody>
          <a:bodyPr wrap="square" lIns="0" rIns="0" tIns="0" bIns="0" anchor="t">
            <a:spAutoFit/>
          </a:bodyPr>
          <a:lstStyle/>
          <a:p>
            <a:pPr algn="l">
              <a:lnSpc>
                <a:spcPct val="126000"/>
              </a:lnSpc>
              <a:spcAft>
                <a:spcPts val="400"/>
              </a:spcAft>
            </a:pPr>
            <a:r>
              <a:rPr sz="1220" b="0" i="0">
                <a:solidFill>
                  <a:srgbClr val="0E1512"/>
                </a:solidFill>
                <a:latin typeface="Arial"/>
              </a:rPr>
              <a:t>Halqa never takes possession of member money. Contributions settle directly from payer to recipient over Pakistan’s own rails; Halqa observes each settlement and writes it to a double-entry ledger. That is the entire relationship between this company and the money, at every planned stage, including the second, where savings sit with a licensed trustee in units registered in the member’s own name. There is no pooled account to misappropriate, delay or lend, so the control cannot weaken under commercial pressure: there is nothing to weaken.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CONTENTS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What is inside</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a:t>
            </a:r>
          </a:p>
        </p:txBody>
      </p:sp>
      <p:cxnSp>
        <p:nvCxnSpPr>
          <p:cNvPr id="17" name="Connector 16"/>
          <p:cNvCxnSpPr/>
          <p:nvPr/>
        </p:nvCxnSpPr>
        <p:spPr>
          <a:xfrm>
            <a:off x="566928" y="1517904"/>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66928" y="1645920"/>
            <a:ext cx="82296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I</a:t>
            </a:r>
          </a:p>
        </p:txBody>
      </p:sp>
      <p:sp>
        <p:nvSpPr>
          <p:cNvPr id="19" name="TextBox 18"/>
          <p:cNvSpPr txBox="1"/>
          <p:nvPr/>
        </p:nvSpPr>
        <p:spPr>
          <a:xfrm>
            <a:off x="1435608" y="1664208"/>
            <a:ext cx="42062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instrument and the field</a:t>
            </a:r>
          </a:p>
        </p:txBody>
      </p:sp>
      <p:sp>
        <p:nvSpPr>
          <p:cNvPr id="20" name="TextBox 19"/>
          <p:cNvSpPr txBox="1"/>
          <p:nvPr/>
        </p:nvSpPr>
        <p:spPr>
          <a:xfrm>
            <a:off x="5779008" y="1700784"/>
            <a:ext cx="5852160" cy="365760"/>
          </a:xfrm>
          <a:prstGeom prst="rect">
            <a:avLst/>
          </a:prstGeom>
          <a:noFill/>
        </p:spPr>
        <p:txBody>
          <a:bodyPr wrap="square" lIns="0" rIns="0" tIns="0" bIns="0" anchor="t">
            <a:spAutoFit/>
          </a:bodyPr>
          <a:lstStyle/>
          <a:p>
            <a:pPr algn="l">
              <a:lnSpc>
                <a:spcPct val="105000"/>
              </a:lnSpc>
              <a:spcAft>
                <a:spcPts val="400"/>
              </a:spcAft>
            </a:pPr>
            <a:r>
              <a:rPr sz="1040" b="0" i="0">
                <a:solidFill>
                  <a:srgbClr val="4C574F"/>
                </a:solidFill>
                <a:latin typeface="Arial"/>
              </a:rPr>
              <a:t>What a committee is; the four families; the market; who has tried and failed</a:t>
            </a:r>
          </a:p>
        </p:txBody>
      </p:sp>
      <p:cxnSp>
        <p:nvCxnSpPr>
          <p:cNvPr id="21" name="Connector 20"/>
          <p:cNvCxnSpPr/>
          <p:nvPr/>
        </p:nvCxnSpPr>
        <p:spPr>
          <a:xfrm>
            <a:off x="566928" y="2231136"/>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2359152"/>
            <a:ext cx="82296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II</a:t>
            </a:r>
          </a:p>
        </p:txBody>
      </p:sp>
      <p:sp>
        <p:nvSpPr>
          <p:cNvPr id="23" name="TextBox 22"/>
          <p:cNvSpPr txBox="1"/>
          <p:nvPr/>
        </p:nvSpPr>
        <p:spPr>
          <a:xfrm>
            <a:off x="1435608" y="2377440"/>
            <a:ext cx="42062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Halqa as a platform</a:t>
            </a:r>
          </a:p>
        </p:txBody>
      </p:sp>
      <p:sp>
        <p:nvSpPr>
          <p:cNvPr id="24" name="TextBox 23"/>
          <p:cNvSpPr txBox="1"/>
          <p:nvPr/>
        </p:nvSpPr>
        <p:spPr>
          <a:xfrm>
            <a:off x="5779008" y="2414016"/>
            <a:ext cx="5852160" cy="365760"/>
          </a:xfrm>
          <a:prstGeom prst="rect">
            <a:avLst/>
          </a:prstGeom>
          <a:noFill/>
        </p:spPr>
        <p:txBody>
          <a:bodyPr wrap="square" lIns="0" rIns="0" tIns="0" bIns="0" anchor="t">
            <a:spAutoFit/>
          </a:bodyPr>
          <a:lstStyle/>
          <a:p>
            <a:pPr algn="l">
              <a:lnSpc>
                <a:spcPct val="105000"/>
              </a:lnSpc>
              <a:spcAft>
                <a:spcPts val="400"/>
              </a:spcAft>
            </a:pPr>
            <a:r>
              <a:rPr sz="1040" b="0" i="0">
                <a:solidFill>
                  <a:srgbClr val="4C574F"/>
                </a:solidFill>
                <a:latin typeface="Arial"/>
              </a:rPr>
              <a:t>The no-custody architecture, the Stage-2 stack, and the product map</a:t>
            </a:r>
          </a:p>
        </p:txBody>
      </p:sp>
      <p:cxnSp>
        <p:nvCxnSpPr>
          <p:cNvPr id="25" name="Connector 24"/>
          <p:cNvCxnSpPr/>
          <p:nvPr/>
        </p:nvCxnSpPr>
        <p:spPr>
          <a:xfrm>
            <a:off x="566928" y="2944368"/>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3072384"/>
            <a:ext cx="82296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III</a:t>
            </a:r>
          </a:p>
        </p:txBody>
      </p:sp>
      <p:sp>
        <p:nvSpPr>
          <p:cNvPr id="27" name="TextBox 26"/>
          <p:cNvSpPr txBox="1"/>
          <p:nvPr/>
        </p:nvSpPr>
        <p:spPr>
          <a:xfrm>
            <a:off x="1435608" y="3090672"/>
            <a:ext cx="42062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circle types</a:t>
            </a:r>
          </a:p>
        </p:txBody>
      </p:sp>
      <p:sp>
        <p:nvSpPr>
          <p:cNvPr id="28" name="TextBox 27"/>
          <p:cNvSpPr txBox="1"/>
          <p:nvPr/>
        </p:nvSpPr>
        <p:spPr>
          <a:xfrm>
            <a:off x="5779008" y="3127248"/>
            <a:ext cx="5852160" cy="365760"/>
          </a:xfrm>
          <a:prstGeom prst="rect">
            <a:avLst/>
          </a:prstGeom>
          <a:noFill/>
        </p:spPr>
        <p:txBody>
          <a:bodyPr wrap="square" lIns="0" rIns="0" tIns="0" bIns="0" anchor="t">
            <a:spAutoFit/>
          </a:bodyPr>
          <a:lstStyle/>
          <a:p>
            <a:pPr algn="l">
              <a:lnSpc>
                <a:spcPct val="105000"/>
              </a:lnSpc>
              <a:spcAft>
                <a:spcPts val="400"/>
              </a:spcAft>
            </a:pPr>
            <a:r>
              <a:rPr sz="1040" b="0" i="0">
                <a:solidFill>
                  <a:srgbClr val="4C574F"/>
                </a:solidFill>
                <a:latin typeface="Arial"/>
              </a:rPr>
              <a:t>Standard, open versus known, HYPER with its model, and asset-backed circles</a:t>
            </a:r>
          </a:p>
        </p:txBody>
      </p:sp>
      <p:cxnSp>
        <p:nvCxnSpPr>
          <p:cNvPr id="29" name="Connector 28"/>
          <p:cNvCxnSpPr/>
          <p:nvPr/>
        </p:nvCxnSpPr>
        <p:spPr>
          <a:xfrm>
            <a:off x="566928" y="3657600"/>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3785616"/>
            <a:ext cx="82296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IV</a:t>
            </a:r>
          </a:p>
        </p:txBody>
      </p:sp>
      <p:sp>
        <p:nvSpPr>
          <p:cNvPr id="31" name="TextBox 30"/>
          <p:cNvSpPr txBox="1"/>
          <p:nvPr/>
        </p:nvSpPr>
        <p:spPr>
          <a:xfrm>
            <a:off x="1435608" y="3803904"/>
            <a:ext cx="42062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Trust, identity and money</a:t>
            </a:r>
          </a:p>
        </p:txBody>
      </p:sp>
      <p:sp>
        <p:nvSpPr>
          <p:cNvPr id="32" name="TextBox 31"/>
          <p:cNvSpPr txBox="1"/>
          <p:nvPr/>
        </p:nvSpPr>
        <p:spPr>
          <a:xfrm>
            <a:off x="5779008" y="3840480"/>
            <a:ext cx="5852160" cy="365760"/>
          </a:xfrm>
          <a:prstGeom prst="rect">
            <a:avLst/>
          </a:prstGeom>
          <a:noFill/>
        </p:spPr>
        <p:txBody>
          <a:bodyPr wrap="square" lIns="0" rIns="0" tIns="0" bIns="0" anchor="t">
            <a:spAutoFit/>
          </a:bodyPr>
          <a:lstStyle/>
          <a:p>
            <a:pPr algn="l">
              <a:lnSpc>
                <a:spcPct val="105000"/>
              </a:lnSpc>
              <a:spcAft>
                <a:spcPts val="400"/>
              </a:spcAft>
            </a:pPr>
            <a:r>
              <a:rPr sz="1040" b="0" i="0">
                <a:solidFill>
                  <a:srgbClr val="4C574F"/>
                </a:solidFill>
                <a:latin typeface="Arial"/>
              </a:rPr>
              <a:t>Licensing, KYC and biometrics, AML, the rails, the ledger, the algorithms</a:t>
            </a:r>
          </a:p>
        </p:txBody>
      </p:sp>
      <p:cxnSp>
        <p:nvCxnSpPr>
          <p:cNvPr id="33" name="Connector 32"/>
          <p:cNvCxnSpPr/>
          <p:nvPr/>
        </p:nvCxnSpPr>
        <p:spPr>
          <a:xfrm>
            <a:off x="566928" y="4370832"/>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4498848"/>
            <a:ext cx="82296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V</a:t>
            </a:r>
          </a:p>
        </p:txBody>
      </p:sp>
      <p:sp>
        <p:nvSpPr>
          <p:cNvPr id="35" name="TextBox 34"/>
          <p:cNvSpPr txBox="1"/>
          <p:nvPr/>
        </p:nvSpPr>
        <p:spPr>
          <a:xfrm>
            <a:off x="1435608" y="4517136"/>
            <a:ext cx="42062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Credit, rewards and the vault</a:t>
            </a:r>
          </a:p>
        </p:txBody>
      </p:sp>
      <p:sp>
        <p:nvSpPr>
          <p:cNvPr id="36" name="TextBox 35"/>
          <p:cNvSpPr txBox="1"/>
          <p:nvPr/>
        </p:nvSpPr>
        <p:spPr>
          <a:xfrm>
            <a:off x="5779008" y="4553712"/>
            <a:ext cx="5852160" cy="365760"/>
          </a:xfrm>
          <a:prstGeom prst="rect">
            <a:avLst/>
          </a:prstGeom>
          <a:noFill/>
        </p:spPr>
        <p:txBody>
          <a:bodyPr wrap="square" lIns="0" rIns="0" tIns="0" bIns="0" anchor="t">
            <a:spAutoFit/>
          </a:bodyPr>
          <a:lstStyle/>
          <a:p>
            <a:pPr algn="l">
              <a:lnSpc>
                <a:spcPct val="105000"/>
              </a:lnSpc>
              <a:spcAft>
                <a:spcPts val="400"/>
              </a:spcAft>
            </a:pPr>
            <a:r>
              <a:rPr sz="1040" b="0" i="0">
                <a:solidFill>
                  <a:srgbClr val="4C574F"/>
                </a:solidFill>
                <a:latin typeface="Arial"/>
              </a:rPr>
              <a:t>The Sakh and the bureau, rewards and partners, the AMC/trustee savings layer</a:t>
            </a:r>
          </a:p>
        </p:txBody>
      </p:sp>
      <p:cxnSp>
        <p:nvCxnSpPr>
          <p:cNvPr id="37" name="Connector 36"/>
          <p:cNvCxnSpPr/>
          <p:nvPr/>
        </p:nvCxnSpPr>
        <p:spPr>
          <a:xfrm>
            <a:off x="566928" y="5084064"/>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 y="5212080"/>
            <a:ext cx="82296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D9A93C"/>
                </a:solidFill>
                <a:latin typeface="Georgia"/>
              </a:rPr>
              <a:t>VI</a:t>
            </a:r>
          </a:p>
        </p:txBody>
      </p:sp>
      <p:sp>
        <p:nvSpPr>
          <p:cNvPr id="39" name="TextBox 38"/>
          <p:cNvSpPr txBox="1"/>
          <p:nvPr/>
        </p:nvSpPr>
        <p:spPr>
          <a:xfrm>
            <a:off x="1435608" y="5230368"/>
            <a:ext cx="42062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Security, economics and go-to-market</a:t>
            </a:r>
          </a:p>
        </p:txBody>
      </p:sp>
      <p:sp>
        <p:nvSpPr>
          <p:cNvPr id="40" name="TextBox 39"/>
          <p:cNvSpPr txBox="1"/>
          <p:nvPr/>
        </p:nvSpPr>
        <p:spPr>
          <a:xfrm>
            <a:off x="5779008" y="5266944"/>
            <a:ext cx="5852160" cy="365760"/>
          </a:xfrm>
          <a:prstGeom prst="rect">
            <a:avLst/>
          </a:prstGeom>
          <a:noFill/>
        </p:spPr>
        <p:txBody>
          <a:bodyPr wrap="square" lIns="0" rIns="0" tIns="0" bIns="0" anchor="t">
            <a:spAutoFit/>
          </a:bodyPr>
          <a:lstStyle/>
          <a:p>
            <a:pPr algn="l">
              <a:lnSpc>
                <a:spcPct val="105000"/>
              </a:lnSpc>
              <a:spcAft>
                <a:spcPts val="400"/>
              </a:spcAft>
            </a:pPr>
            <a:r>
              <a:rPr sz="1040" b="0" i="0">
                <a:solidFill>
                  <a:srgbClr val="4C574F"/>
                </a:solidFill>
                <a:latin typeface="Arial"/>
              </a:rPr>
              <a:t>Cybersecurity, the fee book, marketing, the business model, the plan</a:t>
            </a:r>
          </a:p>
        </p:txBody>
      </p:sp>
      <p:cxnSp>
        <p:nvCxnSpPr>
          <p:cNvPr id="41" name="Connector 40"/>
          <p:cNvCxnSpPr/>
          <p:nvPr/>
        </p:nvCxnSpPr>
        <p:spPr>
          <a:xfrm>
            <a:off x="566928" y="5797296"/>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D9A93C"/>
                </a:solidFill>
                <a:latin typeface="Georgia"/>
              </a:rPr>
              <a:t>I</a:t>
            </a:r>
          </a:p>
        </p:txBody>
      </p:sp>
      <p:sp>
        <p:nvSpPr>
          <p:cNvPr id="5" name="TextBox 4"/>
          <p:cNvSpPr txBox="1"/>
          <p:nvPr/>
        </p:nvSpPr>
        <p:spPr>
          <a:xfrm>
            <a:off x="2468880" y="2359152"/>
            <a:ext cx="8595360" cy="731520"/>
          </a:xfrm>
          <a:prstGeom prst="rect">
            <a:avLst/>
          </a:prstGeom>
          <a:noFill/>
        </p:spPr>
        <p:txBody>
          <a:bodyPr wrap="square" lIns="0" rIns="0" tIns="0" bIns="0" anchor="t">
            <a:spAutoFit/>
          </a:bodyPr>
          <a:lstStyle/>
          <a:p>
            <a:pPr algn="l">
              <a:lnSpc>
                <a:spcPct val="100000"/>
              </a:lnSpc>
              <a:spcAft>
                <a:spcPts val="400"/>
              </a:spcAft>
            </a:pPr>
            <a:r>
              <a:rPr sz="3000" b="0" i="0">
                <a:solidFill>
                  <a:srgbClr val="F6F1E4"/>
                </a:solidFill>
                <a:latin typeface="Georgia"/>
              </a:rPr>
              <a:t>The instrument and the field</a:t>
            </a:r>
          </a:p>
        </p:txBody>
      </p:sp>
      <p:cxnSp>
        <p:nvCxnSpPr>
          <p:cNvPr id="6" name="Connector 5"/>
          <p:cNvCxnSpPr/>
          <p:nvPr/>
        </p:nvCxnSpPr>
        <p:spPr>
          <a:xfrm>
            <a:off x="2542032"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3101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941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782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622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03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44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98464"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42032" y="3310128"/>
            <a:ext cx="7680960" cy="1463040"/>
          </a:xfrm>
          <a:prstGeom prst="rect">
            <a:avLst/>
          </a:prstGeom>
          <a:noFill/>
        </p:spPr>
        <p:txBody>
          <a:bodyPr wrap="square" lIns="0" rIns="0" tIns="0" bIns="0" anchor="t">
            <a:spAutoFit/>
          </a:bodyPr>
          <a:lstStyle/>
          <a:p>
            <a:pPr algn="l">
              <a:lnSpc>
                <a:spcPct val="112000"/>
              </a:lnSpc>
              <a:spcAft>
                <a:spcPts val="600"/>
              </a:spcAft>
            </a:pPr>
            <a:r>
              <a:rPr sz="1220" b="0" i="0">
                <a:solidFill>
                  <a:srgbClr val="C8D4CC"/>
                </a:solidFill>
                <a:latin typeface="Arial"/>
              </a:rPr>
              <a:t>A committee is a precise financial machine, not a folk custom.</a:t>
            </a:r>
          </a:p>
          <a:p>
            <a:pPr algn="l">
              <a:lnSpc>
                <a:spcPct val="112000"/>
              </a:lnSpc>
              <a:spcAft>
                <a:spcPts val="600"/>
              </a:spcAft>
            </a:pPr>
            <a:r>
              <a:rPr sz="1220" b="0" i="0">
                <a:solidFill>
                  <a:srgbClr val="C8D4CC"/>
                </a:solidFill>
                <a:latin typeface="Arial"/>
              </a:rPr>
              <a:t>Its risk is not spread evenly; it is concentrated entirely in the early seats.</a:t>
            </a:r>
          </a:p>
          <a:p>
            <a:pPr algn="l">
              <a:lnSpc>
                <a:spcPct val="112000"/>
              </a:lnSpc>
              <a:spcAft>
                <a:spcPts val="600"/>
              </a:spcAft>
            </a:pPr>
            <a:r>
              <a:rPr sz="1220" b="0" i="0">
                <a:solidFill>
                  <a:srgbClr val="C8D4CC"/>
                </a:solidFill>
                <a:latin typeface="Arial"/>
              </a:rPr>
              <a:t>Roughly Rs 4 trillion rotates through it in Pakistan every year, and twenty-five</a:t>
            </a:r>
          </a:p>
          <a:p>
            <a:pPr algn="l">
              <a:lnSpc>
                <a:spcPct val="112000"/>
              </a:lnSpc>
              <a:spcAft>
                <a:spcPts val="600"/>
              </a:spcAft>
            </a:pPr>
            <a:r>
              <a:rPr sz="1220" b="0" i="0">
                <a:solidFill>
                  <a:srgbClr val="C8D4CC"/>
                </a:solidFill>
                <a:latin typeface="Arial"/>
              </a:rPr>
              <a:t>attempts to digitise it have failed for one recurring reason.</a:t>
            </a:r>
          </a:p>
        </p:txBody>
      </p:sp>
      <p:cxnSp>
        <p:nvCxnSpPr>
          <p:cNvPr id="17" name="Connector 16"/>
          <p:cNvCxnSpPr/>
          <p:nvPr/>
        </p:nvCxnSpPr>
        <p:spPr>
          <a:xfrm>
            <a:off x="10454335" y="2641701"/>
            <a:ext cx="0" cy="30723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94365" y="2747179"/>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870079" y="3035350"/>
            <a:ext cx="266076" cy="15362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934395" y="3429000"/>
            <a:ext cx="307238" cy="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870079"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94365" y="3844744"/>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454335" y="3909060"/>
            <a:ext cx="0" cy="307238"/>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060685" y="3844744"/>
            <a:ext cx="153620"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772514"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67036" y="3429000"/>
            <a:ext cx="422453" cy="0"/>
          </a:xfrm>
          <a:prstGeom prst="line">
            <a:avLst/>
          </a:prstGeom>
          <a:ln w="24003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 · THE INSTRUMENT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ROSCA: the instrument, its pillars, types and the trust factor</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n members, each pays c every period; each period one member collects the whole pot n×c; after n periods everyone has paid the same and collected exactly once. It holds nothing at rest and earns nothing for itself.</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a:t>
            </a:r>
          </a:p>
        </p:txBody>
      </p:sp>
      <p:sp>
        <p:nvSpPr>
          <p:cNvPr id="18" name="TextBox 17"/>
          <p:cNvSpPr txBox="1"/>
          <p:nvPr/>
        </p:nvSpPr>
        <p:spPr>
          <a:xfrm>
            <a:off x="566928" y="1426464"/>
            <a:ext cx="53035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two halves of the instrument</a:t>
            </a:r>
          </a:p>
        </p:txBody>
      </p:sp>
      <p:sp>
        <p:nvSpPr>
          <p:cNvPr id="19" name="TextBox 18"/>
          <p:cNvSpPr txBox="1"/>
          <p:nvPr/>
        </p:nvSpPr>
        <p:spPr>
          <a:xfrm>
            <a:off x="566928" y="1773936"/>
            <a:ext cx="5349240" cy="365760"/>
          </a:xfrm>
          <a:prstGeom prst="rect">
            <a:avLst/>
          </a:prstGeom>
          <a:noFill/>
        </p:spPr>
        <p:txBody>
          <a:bodyPr wrap="square" lIns="0" rIns="0" tIns="0" bIns="0">
            <a:spAutoFit/>
          </a:bodyPr>
          <a:lstStyle/>
          <a:p>
            <a:pPr>
              <a:lnSpc>
                <a:spcPct val="112000"/>
              </a:lnSpc>
              <a:spcAft>
                <a:spcPts val="600"/>
              </a:spcAft>
            </a:pPr>
            <a:r>
              <a:rPr sz="1080" b="1">
                <a:solidFill>
                  <a:srgbClr val="D9A93C"/>
                </a:solidFill>
                <a:latin typeface="Georgia"/>
              </a:rPr>
              <a:t>|  </a:t>
            </a:r>
            <a:r>
              <a:rPr sz="1080" b="1">
                <a:solidFill>
                  <a:srgbClr val="123D30"/>
                </a:solidFill>
                <a:latin typeface="Arial"/>
              </a:rPr>
              <a:t>Collect early  </a:t>
            </a:r>
            <a:r>
              <a:rPr sz="1080">
                <a:solidFill>
                  <a:srgbClr val="0E1512"/>
                </a:solidFill>
                <a:latin typeface="Arial"/>
              </a:rPr>
              <a:t>you receive a lump sum before you have paid for it, an interest-free loan repaid in installments (the consumer).</a:t>
            </a:r>
          </a:p>
          <a:p>
            <a:pPr>
              <a:lnSpc>
                <a:spcPct val="112000"/>
              </a:lnSpc>
              <a:spcAft>
                <a:spcPts val="600"/>
              </a:spcAft>
            </a:pPr>
            <a:r>
              <a:rPr sz="1080" b="1">
                <a:solidFill>
                  <a:srgbClr val="D9A93C"/>
                </a:solidFill>
                <a:latin typeface="Georgia"/>
              </a:rPr>
              <a:t>|  </a:t>
            </a:r>
            <a:r>
              <a:rPr sz="1080" b="1">
                <a:solidFill>
                  <a:srgbClr val="123D30"/>
                </a:solidFill>
                <a:latin typeface="Arial"/>
              </a:rPr>
              <a:t>Collect late  </a:t>
            </a:r>
            <a:r>
              <a:rPr sz="1080">
                <a:solidFill>
                  <a:srgbClr val="0E1512"/>
                </a:solidFill>
                <a:latin typeface="Arial"/>
              </a:rPr>
              <a:t>you pay installments before you receive, forced saving under a commitment device (the saver).</a:t>
            </a:r>
          </a:p>
          <a:p>
            <a:pPr>
              <a:lnSpc>
                <a:spcPct val="112000"/>
              </a:lnSpc>
              <a:spcAft>
                <a:spcPts val="600"/>
              </a:spcAft>
            </a:pPr>
            <a:r>
              <a:rPr sz="1080" b="1">
                <a:solidFill>
                  <a:srgbClr val="D9A93C"/>
                </a:solidFill>
                <a:latin typeface="Georgia"/>
              </a:rPr>
              <a:t>|  </a:t>
            </a:r>
            <a:r>
              <a:rPr sz="1080" b="1">
                <a:solidFill>
                  <a:srgbClr val="123D30"/>
                </a:solidFill>
                <a:latin typeface="Arial"/>
              </a:rPr>
              <a:t>Total in equals total out  </a:t>
            </a:r>
            <a:r>
              <a:rPr sz="1080">
                <a:solidFill>
                  <a:srgbClr val="0E1512"/>
                </a:solidFill>
                <a:latin typeface="Arial"/>
              </a:rPr>
              <a:t>nobody pays interest, the organiser holds nothing, and the schedule is the whole contract.</a:t>
            </a:r>
          </a:p>
          <a:p>
            <a:pPr>
              <a:lnSpc>
                <a:spcPct val="112000"/>
              </a:lnSpc>
              <a:spcAft>
                <a:spcPts val="600"/>
              </a:spcAft>
            </a:pPr>
            <a:r>
              <a:rPr sz="1080" b="1">
                <a:solidFill>
                  <a:srgbClr val="D9A93C"/>
                </a:solidFill>
                <a:latin typeface="Georgia"/>
              </a:rPr>
              <a:t>|  </a:t>
            </a:r>
            <a:r>
              <a:rPr sz="1080" b="1">
                <a:solidFill>
                  <a:srgbClr val="123D30"/>
                </a:solidFill>
                <a:latin typeface="Arial"/>
              </a:rPr>
              <a:t>The trust factor  </a:t>
            </a:r>
            <a:r>
              <a:rPr sz="1080">
                <a:solidFill>
                  <a:srgbClr val="0E1512"/>
                </a:solidFill>
                <a:latin typeface="Arial"/>
              </a:rPr>
              <a:t>it runs on locality and social collateral, members judge traceability (“his house and shop are here”), and the obligation outranks rent.</a:t>
            </a:r>
          </a:p>
        </p:txBody>
      </p:sp>
      <p:sp>
        <p:nvSpPr>
          <p:cNvPr id="20" name="TextBox 19"/>
          <p:cNvSpPr txBox="1"/>
          <p:nvPr/>
        </p:nvSpPr>
        <p:spPr>
          <a:xfrm>
            <a:off x="566928" y="3703320"/>
            <a:ext cx="53492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123D30"/>
                </a:solidFill>
                <a:latin typeface="Georgia"/>
              </a:rPr>
              <a:t>The five structural pillars</a:t>
            </a:r>
          </a:p>
        </p:txBody>
      </p:sp>
      <p:sp>
        <p:nvSpPr>
          <p:cNvPr id="21" name="TextBox 20"/>
          <p:cNvSpPr txBox="1"/>
          <p:nvPr/>
        </p:nvSpPr>
        <p:spPr>
          <a:xfrm>
            <a:off x="566928" y="4041648"/>
            <a:ext cx="5349240" cy="365760"/>
          </a:xfrm>
          <a:prstGeom prst="rect">
            <a:avLst/>
          </a:prstGeom>
          <a:noFill/>
        </p:spPr>
        <p:txBody>
          <a:bodyPr wrap="square" lIns="0" rIns="0" tIns="0" bIns="0">
            <a:spAutoFit/>
          </a:bodyPr>
          <a:lstStyle/>
          <a:p>
            <a:pPr>
              <a:lnSpc>
                <a:spcPct val="110000"/>
              </a:lnSpc>
              <a:spcAft>
                <a:spcPts val="500"/>
              </a:spcAft>
            </a:pPr>
            <a:r>
              <a:rPr sz="1080" b="1">
                <a:solidFill>
                  <a:srgbClr val="D9A93C"/>
                </a:solidFill>
                <a:latin typeface="Georgia"/>
              </a:rPr>
              <a:t>|  </a:t>
            </a:r>
            <a:r>
              <a:rPr sz="1080" b="1">
                <a:solidFill>
                  <a:srgbClr val="123D30"/>
                </a:solidFill>
                <a:latin typeface="Arial"/>
              </a:rPr>
              <a:t>Order-setting  </a:t>
            </a:r>
            <a:r>
              <a:rPr sz="1080">
                <a:solidFill>
                  <a:srgbClr val="0E1512"/>
                </a:solidFill>
                <a:latin typeface="Arial"/>
              </a:rPr>
              <a:t>how seats are assigned, ballot, fixed, auction or prize.</a:t>
            </a:r>
          </a:p>
          <a:p>
            <a:pPr>
              <a:lnSpc>
                <a:spcPct val="110000"/>
              </a:lnSpc>
              <a:spcAft>
                <a:spcPts val="500"/>
              </a:spcAft>
            </a:pPr>
            <a:r>
              <a:rPr sz="1080" b="1">
                <a:solidFill>
                  <a:srgbClr val="D9A93C"/>
                </a:solidFill>
                <a:latin typeface="Georgia"/>
              </a:rPr>
              <a:t>|  </a:t>
            </a:r>
            <a:r>
              <a:rPr sz="1080" b="1">
                <a:solidFill>
                  <a:srgbClr val="123D30"/>
                </a:solidFill>
                <a:latin typeface="Arial"/>
              </a:rPr>
              <a:t>Contribution and cadence  </a:t>
            </a:r>
            <a:r>
              <a:rPr sz="1080">
                <a:solidFill>
                  <a:srgbClr val="0E1512"/>
                </a:solidFill>
                <a:latin typeface="Arial"/>
              </a:rPr>
              <a:t>c per period; daily, weekly or monthly.</a:t>
            </a:r>
          </a:p>
          <a:p>
            <a:pPr>
              <a:lnSpc>
                <a:spcPct val="110000"/>
              </a:lnSpc>
              <a:spcAft>
                <a:spcPts val="500"/>
              </a:spcAft>
            </a:pPr>
            <a:r>
              <a:rPr sz="1080" b="1">
                <a:solidFill>
                  <a:srgbClr val="D9A93C"/>
                </a:solidFill>
                <a:latin typeface="Georgia"/>
              </a:rPr>
              <a:t>|  </a:t>
            </a:r>
            <a:r>
              <a:rPr sz="1080" b="1">
                <a:solidFill>
                  <a:srgbClr val="123D30"/>
                </a:solidFill>
                <a:latin typeface="Arial"/>
              </a:rPr>
              <a:t>The pot and the payout  </a:t>
            </a:r>
            <a:r>
              <a:rPr sz="1080">
                <a:solidFill>
                  <a:srgbClr val="0E1512"/>
                </a:solidFill>
                <a:latin typeface="Arial"/>
              </a:rPr>
              <a:t>n×c each round, net-off of the collector’s own installment optional.</a:t>
            </a:r>
          </a:p>
          <a:p>
            <a:pPr>
              <a:lnSpc>
                <a:spcPct val="110000"/>
              </a:lnSpc>
              <a:spcAft>
                <a:spcPts val="500"/>
              </a:spcAft>
            </a:pPr>
            <a:r>
              <a:rPr sz="1080" b="1">
                <a:solidFill>
                  <a:srgbClr val="D9A93C"/>
                </a:solidFill>
                <a:latin typeface="Georgia"/>
              </a:rPr>
              <a:t>|  </a:t>
            </a:r>
            <a:r>
              <a:rPr sz="1080" b="1">
                <a:solidFill>
                  <a:srgbClr val="123D30"/>
                </a:solidFill>
                <a:latin typeface="Arial"/>
              </a:rPr>
              <a:t>Enforcement  </a:t>
            </a:r>
            <a:r>
              <a:rPr sz="1080">
                <a:solidFill>
                  <a:srgbClr val="0E1512"/>
                </a:solidFill>
                <a:latin typeface="Arial"/>
              </a:rPr>
              <a:t>who stands behind an early taker who stops paying.</a:t>
            </a:r>
          </a:p>
          <a:p>
            <a:pPr>
              <a:lnSpc>
                <a:spcPct val="110000"/>
              </a:lnSpc>
              <a:spcAft>
                <a:spcPts val="500"/>
              </a:spcAft>
            </a:pPr>
            <a:r>
              <a:rPr sz="1080" b="1">
                <a:solidFill>
                  <a:srgbClr val="D9A93C"/>
                </a:solidFill>
                <a:latin typeface="Georgia"/>
              </a:rPr>
              <a:t>|  </a:t>
            </a:r>
            <a:r>
              <a:rPr sz="1080" b="1">
                <a:solidFill>
                  <a:srgbClr val="123D30"/>
                </a:solidFill>
                <a:latin typeface="Arial"/>
              </a:rPr>
              <a:t>The record  </a:t>
            </a:r>
            <a:r>
              <a:rPr sz="1080">
                <a:solidFill>
                  <a:srgbClr val="0E1512"/>
                </a:solidFill>
                <a:latin typeface="Arial"/>
              </a:rPr>
              <a:t>the organiser’s register, which is exactly what Halqa digitises.</a:t>
            </a:r>
          </a:p>
        </p:txBody>
      </p:sp>
      <p:sp>
        <p:nvSpPr>
          <p:cNvPr id="22" name="TextBox 21"/>
          <p:cNvSpPr txBox="1"/>
          <p:nvPr/>
        </p:nvSpPr>
        <p:spPr>
          <a:xfrm>
            <a:off x="6190488" y="1426464"/>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   The four ways a committee sets its order</a:t>
            </a:r>
          </a:p>
        </p:txBody>
      </p:sp>
      <p:graphicFrame>
        <p:nvGraphicFramePr>
          <p:cNvPr id="23" name="Table 22"/>
          <p:cNvGraphicFramePr>
            <a:graphicFrameLocks noGrp="1"/>
          </p:cNvGraphicFramePr>
          <p:nvPr/>
        </p:nvGraphicFramePr>
        <p:xfrm>
          <a:off x="6190488" y="1627632"/>
          <a:ext cx="5486400" cy="3412906"/>
        </p:xfrm>
        <a:graphic>
          <a:graphicData uri="http://schemas.openxmlformats.org/drawingml/2006/table">
            <a:tbl>
              <a:tblPr>
                <a:tableStyleId>{5C22544A-7EE6-4342-B048-85BDC9FD1C3A}</a:tableStyleId>
              </a:tblPr>
              <a:tblGrid>
                <a:gridCol w="1316736"/>
                <a:gridCol w="2194560"/>
                <a:gridCol w="1975104"/>
              </a:tblGrid>
              <a:tr h="578266">
                <a:tc>
                  <a:txBody>
                    <a:bodyPr wrap="square"/>
                    <a:lstStyle/>
                    <a:p>
                      <a:pPr algn="l"/>
                      <a:r>
                        <a:rPr sz="900" b="1">
                          <a:solidFill>
                            <a:srgbClr val="F6F1E4"/>
                          </a:solidFill>
                          <a:latin typeface="Arial"/>
                        </a:rPr>
                        <a:t>Family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How the order is set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Halqa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566928">
                <a:tc>
                  <a:txBody>
                    <a:bodyPr wrap="square"/>
                    <a:lstStyle/>
                    <a:p>
                      <a:pPr algn="l"/>
                      <a:r>
                        <a:rPr sz="900" b="0">
                          <a:solidFill>
                            <a:srgbClr val="0E1512"/>
                          </a:solidFill>
                          <a:latin typeface="Arial"/>
                        </a:rPr>
                        <a:t>Ballot (parchi)
Pakistan’s default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Names drawn by lot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Supported, with a verifiable commit-reveal draw</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900" b="0">
                          <a:solidFill>
                            <a:srgbClr val="0E1512"/>
                          </a:solidFill>
                          <a:latin typeface="Arial"/>
                        </a:rPr>
                        <a:t>Fixed order
(negotiated)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Seats agreed at formation by need or seniority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Core, pick-your-seat under band gates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900" b="0">
                          <a:solidFill>
                            <a:srgbClr val="0E1512"/>
                          </a:solidFill>
                          <a:latin typeface="Arial"/>
                        </a:rPr>
                        <a:t>Auction
the Indian chit fund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Highest discount bid takes the pot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Refused, ~45-55% implied APR, riba in substance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900" b="0">
                          <a:solidFill>
                            <a:srgbClr val="0E1512"/>
                          </a:solidFill>
                          <a:latin typeface="Arial"/>
                        </a:rPr>
                        <a:t>Prize / “lucky”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Draw winner takes the pot and stops paying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Refused, a lottery wearing a committee’s clothes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900" b="0">
                          <a:solidFill>
                            <a:srgbClr val="0E1512"/>
                          </a:solidFill>
                          <a:latin typeface="Arial"/>
                        </a:rPr>
                        <a:t>Bazaar / asset &amp; gold
(a variant, not a family)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A normal circle whose goal is an asset or grams of gold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Supported, spot-settled, retention-of-title (§III)</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TextBox 23"/>
          <p:cNvSpPr txBox="1"/>
          <p:nvPr/>
        </p:nvSpPr>
        <p:spPr>
          <a:xfrm>
            <a:off x="6190488" y="6089904"/>
            <a:ext cx="548640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The refusals are structural, not squeamish: each would break the riba-free positioning or the definition of a committee.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 · THE FIELD</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market: committees in Pakistan</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These figures appear in every Halqa document, each with a named source, because a regulator can check them. The committee is not competing with banks, it is competing with a cupboard.</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a:t>
            </a:r>
          </a:p>
        </p:txBody>
      </p:sp>
      <p:cxnSp>
        <p:nvCxnSpPr>
          <p:cNvPr id="18" name="Connector 17"/>
          <p:cNvCxnSpPr/>
          <p:nvPr/>
        </p:nvCxnSpPr>
        <p:spPr>
          <a:xfrm>
            <a:off x="566928" y="1517904"/>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6928" y="2359152"/>
            <a:ext cx="11057839"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1627266"/>
            <a:ext cx="2028687" cy="420624"/>
          </a:xfrm>
          <a:prstGeom prst="rect">
            <a:avLst/>
          </a:prstGeom>
          <a:noFill/>
        </p:spPr>
        <p:txBody>
          <a:bodyPr wrap="square" lIns="0" rIns="0" tIns="0" bIns="0" anchor="t">
            <a:spAutoFit/>
          </a:bodyPr>
          <a:lstStyle/>
          <a:p>
            <a:pPr algn="l">
              <a:lnSpc>
                <a:spcPct val="100000"/>
              </a:lnSpc>
              <a:spcAft>
                <a:spcPts val="400"/>
              </a:spcAft>
            </a:pPr>
            <a:r>
              <a:rPr sz="2100" b="0" i="0">
                <a:solidFill>
                  <a:srgbClr val="123D30"/>
                </a:solidFill>
                <a:latin typeface="Georgia"/>
              </a:rPr>
              <a:t>Rs 4 trillion</a:t>
            </a:r>
          </a:p>
        </p:txBody>
      </p:sp>
      <p:sp>
        <p:nvSpPr>
          <p:cNvPr id="21" name="TextBox 20"/>
          <p:cNvSpPr txBox="1"/>
          <p:nvPr/>
        </p:nvSpPr>
        <p:spPr>
          <a:xfrm>
            <a:off x="658368" y="2047890"/>
            <a:ext cx="2028687" cy="277611"/>
          </a:xfrm>
          <a:prstGeom prst="rect">
            <a:avLst/>
          </a:prstGeom>
          <a:noFill/>
        </p:spPr>
        <p:txBody>
          <a:bodyPr wrap="square" lIns="0" rIns="0" tIns="0" bIns="0" anchor="t">
            <a:spAutoFit/>
          </a:bodyPr>
          <a:lstStyle/>
          <a:p>
            <a:pPr algn="l">
              <a:lnSpc>
                <a:spcPct val="100000"/>
              </a:lnSpc>
              <a:spcAft>
                <a:spcPts val="400"/>
              </a:spcAft>
            </a:pPr>
            <a:r>
              <a:rPr sz="840" b="0" i="0" spc="50">
                <a:solidFill>
                  <a:srgbClr val="4C574F"/>
                </a:solidFill>
                <a:latin typeface="Arial"/>
              </a:rPr>
              <a:t>ROTATES ANNUALLY</a:t>
            </a:r>
          </a:p>
        </p:txBody>
      </p:sp>
      <p:cxnSp>
        <p:nvCxnSpPr>
          <p:cNvPr id="22" name="Connector 21"/>
          <p:cNvCxnSpPr/>
          <p:nvPr/>
        </p:nvCxnSpPr>
        <p:spPr>
          <a:xfrm>
            <a:off x="2778495" y="1669328"/>
            <a:ext cx="0" cy="538399"/>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869935" y="1627266"/>
            <a:ext cx="2028687" cy="420624"/>
          </a:xfrm>
          <a:prstGeom prst="rect">
            <a:avLst/>
          </a:prstGeom>
          <a:noFill/>
        </p:spPr>
        <p:txBody>
          <a:bodyPr wrap="square" lIns="0" rIns="0" tIns="0" bIns="0" anchor="t">
            <a:spAutoFit/>
          </a:bodyPr>
          <a:lstStyle/>
          <a:p>
            <a:pPr algn="l">
              <a:lnSpc>
                <a:spcPct val="100000"/>
              </a:lnSpc>
              <a:spcAft>
                <a:spcPts val="400"/>
              </a:spcAft>
            </a:pPr>
            <a:r>
              <a:rPr sz="2100" b="0" i="0">
                <a:solidFill>
                  <a:srgbClr val="123D30"/>
                </a:solidFill>
                <a:latin typeface="Georgia"/>
              </a:rPr>
              <a:t>≈52 million</a:t>
            </a:r>
          </a:p>
        </p:txBody>
      </p:sp>
      <p:sp>
        <p:nvSpPr>
          <p:cNvPr id="24" name="TextBox 23"/>
          <p:cNvSpPr txBox="1"/>
          <p:nvPr/>
        </p:nvSpPr>
        <p:spPr>
          <a:xfrm>
            <a:off x="2869935" y="2047890"/>
            <a:ext cx="2028687" cy="277611"/>
          </a:xfrm>
          <a:prstGeom prst="rect">
            <a:avLst/>
          </a:prstGeom>
          <a:noFill/>
        </p:spPr>
        <p:txBody>
          <a:bodyPr wrap="square" lIns="0" rIns="0" tIns="0" bIns="0" anchor="t">
            <a:spAutoFit/>
          </a:bodyPr>
          <a:lstStyle/>
          <a:p>
            <a:pPr algn="l">
              <a:lnSpc>
                <a:spcPct val="100000"/>
              </a:lnSpc>
              <a:spcAft>
                <a:spcPts val="400"/>
              </a:spcAft>
            </a:pPr>
            <a:r>
              <a:rPr sz="840" b="0" i="0" spc="50">
                <a:solidFill>
                  <a:srgbClr val="4C574F"/>
                </a:solidFill>
                <a:latin typeface="Arial"/>
              </a:rPr>
              <a:t>ADULTS PARTICIPATING</a:t>
            </a:r>
          </a:p>
        </p:txBody>
      </p:sp>
      <p:cxnSp>
        <p:nvCxnSpPr>
          <p:cNvPr id="25" name="Connector 24"/>
          <p:cNvCxnSpPr/>
          <p:nvPr/>
        </p:nvCxnSpPr>
        <p:spPr>
          <a:xfrm>
            <a:off x="4990063" y="1669328"/>
            <a:ext cx="0" cy="538399"/>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81503" y="1627266"/>
            <a:ext cx="2028687" cy="420624"/>
          </a:xfrm>
          <a:prstGeom prst="rect">
            <a:avLst/>
          </a:prstGeom>
          <a:noFill/>
        </p:spPr>
        <p:txBody>
          <a:bodyPr wrap="square" lIns="0" rIns="0" tIns="0" bIns="0" anchor="t">
            <a:spAutoFit/>
          </a:bodyPr>
          <a:lstStyle/>
          <a:p>
            <a:pPr algn="l">
              <a:lnSpc>
                <a:spcPct val="100000"/>
              </a:lnSpc>
              <a:spcAft>
                <a:spcPts val="400"/>
              </a:spcAft>
            </a:pPr>
            <a:r>
              <a:rPr sz="2100" b="0" i="0">
                <a:solidFill>
                  <a:srgbClr val="123D30"/>
                </a:solidFill>
                <a:latin typeface="Georgia"/>
              </a:rPr>
              <a:t>37%</a:t>
            </a:r>
          </a:p>
        </p:txBody>
      </p:sp>
      <p:sp>
        <p:nvSpPr>
          <p:cNvPr id="27" name="TextBox 26"/>
          <p:cNvSpPr txBox="1"/>
          <p:nvPr/>
        </p:nvSpPr>
        <p:spPr>
          <a:xfrm>
            <a:off x="5081503" y="2047890"/>
            <a:ext cx="2028687" cy="277611"/>
          </a:xfrm>
          <a:prstGeom prst="rect">
            <a:avLst/>
          </a:prstGeom>
          <a:noFill/>
        </p:spPr>
        <p:txBody>
          <a:bodyPr wrap="square" lIns="0" rIns="0" tIns="0" bIns="0" anchor="t">
            <a:spAutoFit/>
          </a:bodyPr>
          <a:lstStyle/>
          <a:p>
            <a:pPr algn="l">
              <a:lnSpc>
                <a:spcPct val="100000"/>
              </a:lnSpc>
              <a:spcAft>
                <a:spcPts val="400"/>
              </a:spcAft>
            </a:pPr>
            <a:r>
              <a:rPr sz="840" b="0" i="0" spc="50">
                <a:solidFill>
                  <a:srgbClr val="4C574F"/>
                </a:solidFill>
                <a:latin typeface="Arial"/>
              </a:rPr>
              <a:t>OF ADULTS HAVE USED ONE</a:t>
            </a:r>
          </a:p>
        </p:txBody>
      </p:sp>
      <p:cxnSp>
        <p:nvCxnSpPr>
          <p:cNvPr id="28" name="Connector 27"/>
          <p:cNvCxnSpPr/>
          <p:nvPr/>
        </p:nvCxnSpPr>
        <p:spPr>
          <a:xfrm>
            <a:off x="7201631" y="1669328"/>
            <a:ext cx="0" cy="538399"/>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293071" y="1627266"/>
            <a:ext cx="2028687" cy="420624"/>
          </a:xfrm>
          <a:prstGeom prst="rect">
            <a:avLst/>
          </a:prstGeom>
          <a:noFill/>
        </p:spPr>
        <p:txBody>
          <a:bodyPr wrap="square" lIns="0" rIns="0" tIns="0" bIns="0" anchor="t">
            <a:spAutoFit/>
          </a:bodyPr>
          <a:lstStyle/>
          <a:p>
            <a:pPr algn="l">
              <a:lnSpc>
                <a:spcPct val="100000"/>
              </a:lnSpc>
              <a:spcAft>
                <a:spcPts val="400"/>
              </a:spcAft>
            </a:pPr>
            <a:r>
              <a:rPr sz="2100" b="0" i="0">
                <a:solidFill>
                  <a:srgbClr val="123D30"/>
                </a:solidFill>
                <a:latin typeface="Georgia"/>
              </a:rPr>
              <a:t>12%</a:t>
            </a:r>
          </a:p>
        </p:txBody>
      </p:sp>
      <p:sp>
        <p:nvSpPr>
          <p:cNvPr id="30" name="TextBox 29"/>
          <p:cNvSpPr txBox="1"/>
          <p:nvPr/>
        </p:nvSpPr>
        <p:spPr>
          <a:xfrm>
            <a:off x="7293071" y="2047890"/>
            <a:ext cx="2028687" cy="277611"/>
          </a:xfrm>
          <a:prstGeom prst="rect">
            <a:avLst/>
          </a:prstGeom>
          <a:noFill/>
        </p:spPr>
        <p:txBody>
          <a:bodyPr wrap="square" lIns="0" rIns="0" tIns="0" bIns="0" anchor="t">
            <a:spAutoFit/>
          </a:bodyPr>
          <a:lstStyle/>
          <a:p>
            <a:pPr algn="l">
              <a:lnSpc>
                <a:spcPct val="100000"/>
              </a:lnSpc>
              <a:spcAft>
                <a:spcPts val="400"/>
              </a:spcAft>
            </a:pPr>
            <a:r>
              <a:rPr sz="840" b="0" i="0" spc="50">
                <a:solidFill>
                  <a:srgbClr val="4C574F"/>
                </a:solidFill>
                <a:latin typeface="Arial"/>
              </a:rPr>
              <a:t>HAVE LOST MONEY TO FRAUD</a:t>
            </a:r>
          </a:p>
        </p:txBody>
      </p:sp>
      <p:cxnSp>
        <p:nvCxnSpPr>
          <p:cNvPr id="31" name="Connector 30"/>
          <p:cNvCxnSpPr/>
          <p:nvPr/>
        </p:nvCxnSpPr>
        <p:spPr>
          <a:xfrm>
            <a:off x="9413199" y="1669328"/>
            <a:ext cx="0" cy="538399"/>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504639" y="1627266"/>
            <a:ext cx="2028687" cy="420624"/>
          </a:xfrm>
          <a:prstGeom prst="rect">
            <a:avLst/>
          </a:prstGeom>
          <a:noFill/>
        </p:spPr>
        <p:txBody>
          <a:bodyPr wrap="square" lIns="0" rIns="0" tIns="0" bIns="0" anchor="t">
            <a:spAutoFit/>
          </a:bodyPr>
          <a:lstStyle/>
          <a:p>
            <a:pPr algn="l">
              <a:lnSpc>
                <a:spcPct val="100000"/>
              </a:lnSpc>
              <a:spcAft>
                <a:spcPts val="400"/>
              </a:spcAft>
            </a:pPr>
            <a:r>
              <a:rPr sz="2100" b="0" i="0">
                <a:solidFill>
                  <a:srgbClr val="123D30"/>
                </a:solidFill>
                <a:latin typeface="Georgia"/>
              </a:rPr>
              <a:t>31%</a:t>
            </a:r>
          </a:p>
        </p:txBody>
      </p:sp>
      <p:sp>
        <p:nvSpPr>
          <p:cNvPr id="33" name="TextBox 32"/>
          <p:cNvSpPr txBox="1"/>
          <p:nvPr/>
        </p:nvSpPr>
        <p:spPr>
          <a:xfrm>
            <a:off x="9504639" y="2047890"/>
            <a:ext cx="2028687" cy="277611"/>
          </a:xfrm>
          <a:prstGeom prst="rect">
            <a:avLst/>
          </a:prstGeom>
          <a:noFill/>
        </p:spPr>
        <p:txBody>
          <a:bodyPr wrap="square" lIns="0" rIns="0" tIns="0" bIns="0" anchor="t">
            <a:spAutoFit/>
          </a:bodyPr>
          <a:lstStyle/>
          <a:p>
            <a:pPr algn="l">
              <a:lnSpc>
                <a:spcPct val="100000"/>
              </a:lnSpc>
              <a:spcAft>
                <a:spcPts val="400"/>
              </a:spcAft>
            </a:pPr>
            <a:r>
              <a:rPr sz="840" b="0" i="0" spc="50">
                <a:solidFill>
                  <a:srgbClr val="4C574F"/>
                </a:solidFill>
                <a:latin typeface="Arial"/>
              </a:rPr>
              <a:t>CAN SEND OR RECEIVE AN SMS</a:t>
            </a:r>
          </a:p>
        </p:txBody>
      </p:sp>
      <p:sp>
        <p:nvSpPr>
          <p:cNvPr id="34" name="TextBox 33"/>
          <p:cNvSpPr txBox="1"/>
          <p:nvPr/>
        </p:nvSpPr>
        <p:spPr>
          <a:xfrm>
            <a:off x="566928" y="2743200"/>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2   Where a Pakistani saver actually puts money</a:t>
            </a:r>
          </a:p>
        </p:txBody>
      </p:sp>
      <p:sp>
        <p:nvSpPr>
          <p:cNvPr id="35" name="TextBox 34"/>
          <p:cNvSpPr txBox="1"/>
          <p:nvPr/>
        </p:nvSpPr>
        <p:spPr>
          <a:xfrm>
            <a:off x="566928" y="2995604"/>
            <a:ext cx="1947672" cy="293217"/>
          </a:xfrm>
          <a:prstGeom prst="rect">
            <a:avLst/>
          </a:prstGeom>
          <a:noFill/>
        </p:spPr>
        <p:txBody>
          <a:bodyPr wrap="square" lIns="0" rIns="0" tIns="0" bIns="0" anchor="t">
            <a:spAutoFit/>
          </a:bodyPr>
          <a:lstStyle/>
          <a:p>
            <a:pPr algn="r">
              <a:lnSpc>
                <a:spcPct val="100000"/>
              </a:lnSpc>
              <a:spcAft>
                <a:spcPts val="400"/>
              </a:spcAft>
            </a:pPr>
            <a:r>
              <a:rPr sz="980" b="0" i="0">
                <a:solidFill>
                  <a:srgbClr val="0E1512"/>
                </a:solidFill>
                <a:latin typeface="Arial"/>
              </a:rPr>
              <a:t>Cash hidden at home</a:t>
            </a:r>
          </a:p>
        </p:txBody>
      </p:sp>
      <p:sp>
        <p:nvSpPr>
          <p:cNvPr id="36" name="Rectangle 35"/>
          <p:cNvSpPr/>
          <p:nvPr/>
        </p:nvSpPr>
        <p:spPr>
          <a:xfrm>
            <a:off x="2624328" y="2980944"/>
            <a:ext cx="2345436" cy="293217"/>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052060" y="2995604"/>
            <a:ext cx="822960" cy="293217"/>
          </a:xfrm>
          <a:prstGeom prst="rect">
            <a:avLst/>
          </a:prstGeom>
          <a:noFill/>
        </p:spPr>
        <p:txBody>
          <a:bodyPr wrap="square" lIns="0" rIns="0" tIns="0" bIns="0" anchor="t">
            <a:spAutoFit/>
          </a:bodyPr>
          <a:lstStyle/>
          <a:p>
            <a:pPr algn="l">
              <a:lnSpc>
                <a:spcPct val="100000"/>
              </a:lnSpc>
              <a:spcAft>
                <a:spcPts val="400"/>
              </a:spcAft>
            </a:pPr>
            <a:r>
              <a:rPr sz="980" b="1" i="0">
                <a:solidFill>
                  <a:srgbClr val="123D30"/>
                </a:solidFill>
                <a:latin typeface="Georgia"/>
              </a:rPr>
              <a:t>63%</a:t>
            </a:r>
          </a:p>
        </p:txBody>
      </p:sp>
      <p:sp>
        <p:nvSpPr>
          <p:cNvPr id="38" name="TextBox 37"/>
          <p:cNvSpPr txBox="1"/>
          <p:nvPr/>
        </p:nvSpPr>
        <p:spPr>
          <a:xfrm>
            <a:off x="566928" y="3559484"/>
            <a:ext cx="1947672" cy="293217"/>
          </a:xfrm>
          <a:prstGeom prst="rect">
            <a:avLst/>
          </a:prstGeom>
          <a:noFill/>
        </p:spPr>
        <p:txBody>
          <a:bodyPr wrap="square" lIns="0" rIns="0" tIns="0" bIns="0" anchor="t">
            <a:spAutoFit/>
          </a:bodyPr>
          <a:lstStyle/>
          <a:p>
            <a:pPr algn="r">
              <a:lnSpc>
                <a:spcPct val="100000"/>
              </a:lnSpc>
              <a:spcAft>
                <a:spcPts val="400"/>
              </a:spcAft>
            </a:pPr>
            <a:r>
              <a:rPr sz="980" b="0" i="0">
                <a:solidFill>
                  <a:srgbClr val="0E1512"/>
                </a:solidFill>
                <a:latin typeface="Arial"/>
              </a:rPr>
              <a:t>A committee</a:t>
            </a:r>
          </a:p>
        </p:txBody>
      </p:sp>
      <p:sp>
        <p:nvSpPr>
          <p:cNvPr id="39" name="Rectangle 38"/>
          <p:cNvSpPr/>
          <p:nvPr/>
        </p:nvSpPr>
        <p:spPr>
          <a:xfrm>
            <a:off x="2624328" y="3544824"/>
            <a:ext cx="1228561" cy="293217"/>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935185" y="3559484"/>
            <a:ext cx="822960" cy="293217"/>
          </a:xfrm>
          <a:prstGeom prst="rect">
            <a:avLst/>
          </a:prstGeom>
          <a:noFill/>
        </p:spPr>
        <p:txBody>
          <a:bodyPr wrap="square" lIns="0" rIns="0" tIns="0" bIns="0" anchor="t">
            <a:spAutoFit/>
          </a:bodyPr>
          <a:lstStyle/>
          <a:p>
            <a:pPr algn="l">
              <a:lnSpc>
                <a:spcPct val="100000"/>
              </a:lnSpc>
              <a:spcAft>
                <a:spcPts val="400"/>
              </a:spcAft>
            </a:pPr>
            <a:r>
              <a:rPr sz="980" b="1" i="0">
                <a:solidFill>
                  <a:srgbClr val="123D30"/>
                </a:solidFill>
                <a:latin typeface="Georgia"/>
              </a:rPr>
              <a:t>33%</a:t>
            </a:r>
          </a:p>
        </p:txBody>
      </p:sp>
      <p:sp>
        <p:nvSpPr>
          <p:cNvPr id="41" name="TextBox 40"/>
          <p:cNvSpPr txBox="1"/>
          <p:nvPr/>
        </p:nvSpPr>
        <p:spPr>
          <a:xfrm>
            <a:off x="566928" y="4123364"/>
            <a:ext cx="1947672" cy="293217"/>
          </a:xfrm>
          <a:prstGeom prst="rect">
            <a:avLst/>
          </a:prstGeom>
          <a:noFill/>
        </p:spPr>
        <p:txBody>
          <a:bodyPr wrap="square" lIns="0" rIns="0" tIns="0" bIns="0" anchor="t">
            <a:spAutoFit/>
          </a:bodyPr>
          <a:lstStyle/>
          <a:p>
            <a:pPr algn="r">
              <a:lnSpc>
                <a:spcPct val="100000"/>
              </a:lnSpc>
              <a:spcAft>
                <a:spcPts val="400"/>
              </a:spcAft>
            </a:pPr>
            <a:r>
              <a:rPr sz="980" b="0" i="0">
                <a:solidFill>
                  <a:srgbClr val="0E1512"/>
                </a:solidFill>
                <a:latin typeface="Arial"/>
              </a:rPr>
              <a:t>Holds a bank account</a:t>
            </a:r>
          </a:p>
        </p:txBody>
      </p:sp>
      <p:sp>
        <p:nvSpPr>
          <p:cNvPr id="42" name="Rectangle 41"/>
          <p:cNvSpPr/>
          <p:nvPr/>
        </p:nvSpPr>
        <p:spPr>
          <a:xfrm>
            <a:off x="2624328" y="4108704"/>
            <a:ext cx="483978" cy="293217"/>
          </a:xfrm>
          <a:prstGeom prst="rect">
            <a:avLst/>
          </a:prstGeom>
          <a:solidFill>
            <a:srgbClr val="1B5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190602" y="4123364"/>
            <a:ext cx="822960" cy="293217"/>
          </a:xfrm>
          <a:prstGeom prst="rect">
            <a:avLst/>
          </a:prstGeom>
          <a:noFill/>
        </p:spPr>
        <p:txBody>
          <a:bodyPr wrap="square" lIns="0" rIns="0" tIns="0" bIns="0" anchor="t">
            <a:spAutoFit/>
          </a:bodyPr>
          <a:lstStyle/>
          <a:p>
            <a:pPr algn="l">
              <a:lnSpc>
                <a:spcPct val="100000"/>
              </a:lnSpc>
              <a:spcAft>
                <a:spcPts val="400"/>
              </a:spcAft>
            </a:pPr>
            <a:r>
              <a:rPr sz="980" b="1" i="0">
                <a:solidFill>
                  <a:srgbClr val="123D30"/>
                </a:solidFill>
                <a:latin typeface="Georgia"/>
              </a:rPr>
              <a:t>13%</a:t>
            </a:r>
          </a:p>
        </p:txBody>
      </p:sp>
      <p:cxnSp>
        <p:nvCxnSpPr>
          <p:cNvPr id="44" name="Connector 43"/>
          <p:cNvCxnSpPr/>
          <p:nvPr/>
        </p:nvCxnSpPr>
        <p:spPr>
          <a:xfrm>
            <a:off x="2624328" y="2935224"/>
            <a:ext cx="0" cy="1512417"/>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66928" y="4882896"/>
            <a:ext cx="45720" cy="123444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95528" y="4901184"/>
            <a:ext cx="5212080" cy="1280160"/>
          </a:xfrm>
          <a:prstGeom prst="rect">
            <a:avLst/>
          </a:prstGeom>
          <a:noFill/>
        </p:spPr>
        <p:txBody>
          <a:bodyPr wrap="square" lIns="0" rIns="0" tIns="0" bIns="0" anchor="t">
            <a:spAutoFit/>
          </a:bodyPr>
          <a:lstStyle/>
          <a:p>
            <a:pPr algn="l">
              <a:lnSpc>
                <a:spcPct val="116000"/>
              </a:lnSpc>
              <a:spcAft>
                <a:spcPts val="400"/>
              </a:spcAft>
            </a:pPr>
            <a:r>
              <a:rPr sz="1060" b="0" i="0">
                <a:solidFill>
                  <a:srgbClr val="0E1512"/>
                </a:solidFill>
                <a:latin typeface="Arial"/>
              </a:rPr>
              <a:t>The binding constraint is income REGULARITY, not income level. Khan (2013) finds the genuinely poor are excluded by the groups themselves as bad risks; Kamran (2017) finds thirty unbanked informants, not one of whom had ever seen a member default. Both are true at once. Halqa is the on-ramp to formal finance, not a substitute for it, and never serves “the poorest.”</a:t>
            </a:r>
          </a:p>
        </p:txBody>
      </p:sp>
      <p:sp>
        <p:nvSpPr>
          <p:cNvPr id="47" name="TextBox 46"/>
          <p:cNvSpPr txBox="1"/>
          <p:nvPr/>
        </p:nvSpPr>
        <p:spPr>
          <a:xfrm>
            <a:off x="6419088" y="2743200"/>
            <a:ext cx="5166360" cy="274320"/>
          </a:xfrm>
          <a:prstGeom prst="rect">
            <a:avLst/>
          </a:prstGeom>
          <a:noFill/>
        </p:spPr>
        <p:txBody>
          <a:bodyPr wrap="square" lIns="0" rIns="0" tIns="0" bIns="0" anchor="t">
            <a:spAutoFit/>
          </a:bodyPr>
          <a:lstStyle/>
          <a:p>
            <a:pPr algn="l">
              <a:lnSpc>
                <a:spcPct val="100000"/>
              </a:lnSpc>
              <a:spcAft>
                <a:spcPts val="400"/>
              </a:spcAft>
            </a:pPr>
            <a:r>
              <a:rPr sz="1250" b="0" i="0">
                <a:solidFill>
                  <a:srgbClr val="123D30"/>
                </a:solidFill>
                <a:latin typeface="Georgia"/>
              </a:rPr>
              <a:t>The rest of the picture, attributed</a:t>
            </a:r>
          </a:p>
        </p:txBody>
      </p:sp>
      <p:graphicFrame>
        <p:nvGraphicFramePr>
          <p:cNvPr id="48" name="Table 47"/>
          <p:cNvGraphicFramePr>
            <a:graphicFrameLocks noGrp="1"/>
          </p:cNvGraphicFramePr>
          <p:nvPr/>
        </p:nvGraphicFramePr>
        <p:xfrm>
          <a:off x="6419088" y="3072384"/>
          <a:ext cx="5166359" cy="2182489"/>
        </p:xfrm>
        <a:graphic>
          <a:graphicData uri="http://schemas.openxmlformats.org/drawingml/2006/table">
            <a:tbl>
              <a:tblPr>
                <a:tableStyleId>{5C22544A-7EE6-4342-B048-85BDC9FD1C3A}</a:tableStyleId>
              </a:tblPr>
              <a:tblGrid>
                <a:gridCol w="3823106"/>
                <a:gridCol w="1343253"/>
              </a:tblGrid>
              <a:tr h="317113">
                <a:tc>
                  <a:txBody>
                    <a:bodyPr wrap="square"/>
                    <a:lstStyle/>
                    <a:p>
                      <a:pPr algn="l"/>
                      <a:r>
                        <a:rPr sz="940" b="1">
                          <a:solidFill>
                            <a:srgbClr val="F6F1E4"/>
                          </a:solidFill>
                          <a:latin typeface="Arial"/>
                        </a:rPr>
                        <a:t>Figure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40" b="1">
                          <a:solidFill>
                            <a:srgbClr val="F6F1E4"/>
                          </a:solidFill>
                          <a:latin typeface="Arial"/>
                        </a:rPr>
                        <a:t>Source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940" b="0">
                          <a:solidFill>
                            <a:srgbClr val="0E1512"/>
                          </a:solidFill>
                          <a:latin typeface="Arial"/>
                        </a:rPr>
                        <a:t>13% of adults hold a bank account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Findex</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40" b="0">
                          <a:solidFill>
                            <a:srgbClr val="0E1512"/>
                          </a:solidFill>
                          <a:latin typeface="Arial"/>
                        </a:rPr>
                        <a:t>36% save; only 4% of savers use a formal institution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FII</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40" b="0">
                          <a:solidFill>
                            <a:srgbClr val="0E1512"/>
                          </a:solidFill>
                          <a:latin typeface="Arial"/>
                        </a:rPr>
                        <a:t>63% hide cash at home; 33% of savers use committees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FII</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40" b="0">
                          <a:solidFill>
                            <a:srgbClr val="0E1512"/>
                          </a:solidFill>
                          <a:latin typeface="Arial"/>
                        </a:rPr>
                        <a:t>19% use the pot for a one-time durable purchase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FII</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40" b="0">
                          <a:solidFill>
                            <a:srgbClr val="0E1512"/>
                          </a:solidFill>
                          <a:latin typeface="Arial"/>
                        </a:rPr>
                        <a:t>Women participate at twice the rate of men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FII</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40" b="0">
                          <a:solidFill>
                            <a:srgbClr val="0E1512"/>
                          </a:solidFill>
                          <a:latin typeface="Arial"/>
                        </a:rPr>
                        <a:t>~100 million lack formal financial services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World Bank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49" name="TextBox 48"/>
          <p:cNvSpPr txBox="1"/>
          <p:nvPr/>
        </p:nvSpPr>
        <p:spPr>
          <a:xfrm>
            <a:off x="6419088" y="6089904"/>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reported. FII = Financial Inclusion Insights. Participation across sources runs 34-41%.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 · THE FIELD</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Competition, and the attempts that failed</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Every failed committee product removed something the committee needs or added something it rejects, and each traces to a single root: an operator standing in the middle of the money.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7</a:t>
            </a:r>
          </a:p>
        </p:txBody>
      </p:sp>
      <p:sp>
        <p:nvSpPr>
          <p:cNvPr id="18" name="TextBox 17"/>
          <p:cNvSpPr txBox="1"/>
          <p:nvPr/>
        </p:nvSpPr>
        <p:spPr>
          <a:xfrm>
            <a:off x="566928" y="1408176"/>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3   The eight killers, a failure taxonomy</a:t>
            </a:r>
          </a:p>
        </p:txBody>
      </p:sp>
      <p:sp>
        <p:nvSpPr>
          <p:cNvPr id="19" name="TextBox 18"/>
          <p:cNvSpPr txBox="1"/>
          <p:nvPr/>
        </p:nvSpPr>
        <p:spPr>
          <a:xfrm>
            <a:off x="566928" y="1627632"/>
            <a:ext cx="5486400" cy="365760"/>
          </a:xfrm>
          <a:prstGeom prst="rect">
            <a:avLst/>
          </a:prstGeom>
          <a:noFill/>
        </p:spPr>
        <p:txBody>
          <a:bodyPr wrap="square" lIns="0" rIns="0" tIns="0" bIns="0">
            <a:spAutoFit/>
          </a:bodyPr>
          <a:lstStyle/>
          <a:p>
            <a:pPr>
              <a:lnSpc>
                <a:spcPct val="108000"/>
              </a:lnSpc>
              <a:spcAft>
                <a:spcPts val="400"/>
              </a:spcAft>
            </a:pPr>
            <a:r>
              <a:rPr sz="1019" b="1">
                <a:solidFill>
                  <a:srgbClr val="D9A93C"/>
                </a:solidFill>
                <a:latin typeface="Georgia"/>
              </a:rPr>
              <a:t>|  </a:t>
            </a:r>
            <a:r>
              <a:rPr sz="1019" b="1">
                <a:solidFill>
                  <a:srgbClr val="123D30"/>
                </a:solidFill>
                <a:latin typeface="Arial"/>
              </a:rPr>
              <a:t>1 Custody  </a:t>
            </a:r>
            <a:r>
              <a:rPr sz="1019">
                <a:solidFill>
                  <a:srgbClr val="0E1512"/>
                </a:solidFill>
                <a:latin typeface="Arial"/>
              </a:rPr>
              <a:t>a pooled account under one party’s control, the master key to every other failure.</a:t>
            </a:r>
          </a:p>
          <a:p>
            <a:pPr>
              <a:lnSpc>
                <a:spcPct val="108000"/>
              </a:lnSpc>
              <a:spcAft>
                <a:spcPts val="400"/>
              </a:spcAft>
            </a:pPr>
            <a:r>
              <a:rPr sz="1019" b="1">
                <a:solidFill>
                  <a:srgbClr val="D9A93C"/>
                </a:solidFill>
                <a:latin typeface="Georgia"/>
              </a:rPr>
              <a:t>|  </a:t>
            </a:r>
            <a:r>
              <a:rPr sz="1019" b="1">
                <a:solidFill>
                  <a:srgbClr val="123D30"/>
                </a:solidFill>
                <a:latin typeface="Arial"/>
              </a:rPr>
              <a:t>2 Guarantee burden  </a:t>
            </a:r>
            <a:r>
              <a:rPr sz="1019">
                <a:solidFill>
                  <a:srgbClr val="0E1512"/>
                </a:solidFill>
                <a:latin typeface="Arial"/>
              </a:rPr>
              <a:t>free, unpriced cover that becomes unbounded (eMoneyPool).</a:t>
            </a:r>
          </a:p>
          <a:p>
            <a:pPr>
              <a:lnSpc>
                <a:spcPct val="108000"/>
              </a:lnSpc>
              <a:spcAft>
                <a:spcPts val="400"/>
              </a:spcAft>
            </a:pPr>
            <a:r>
              <a:rPr sz="1019" b="1">
                <a:solidFill>
                  <a:srgbClr val="D9A93C"/>
                </a:solidFill>
                <a:latin typeface="Georgia"/>
              </a:rPr>
              <a:t>|  </a:t>
            </a:r>
            <a:r>
              <a:rPr sz="1019" b="1">
                <a:solidFill>
                  <a:srgbClr val="123D30"/>
                </a:solidFill>
                <a:latin typeface="Arial"/>
              </a:rPr>
              <a:t>3 Stranger pooling  </a:t>
            </a:r>
            <a:r>
              <a:rPr sz="1019">
                <a:solidFill>
                  <a:srgbClr val="0E1512"/>
                </a:solidFill>
                <a:latin typeface="Arial"/>
              </a:rPr>
              <a:t>no pre-existing trust graph, so adverse selection (Tanda, Puddle).</a:t>
            </a:r>
          </a:p>
          <a:p>
            <a:pPr>
              <a:lnSpc>
                <a:spcPct val="108000"/>
              </a:lnSpc>
              <a:spcAft>
                <a:spcPts val="400"/>
              </a:spcAft>
            </a:pPr>
            <a:r>
              <a:rPr sz="1019" b="1">
                <a:solidFill>
                  <a:srgbClr val="D9A93C"/>
                </a:solidFill>
                <a:latin typeface="Georgia"/>
              </a:rPr>
              <a:t>|  </a:t>
            </a:r>
            <a:r>
              <a:rPr sz="1019" b="1">
                <a:solidFill>
                  <a:srgbClr val="123D30"/>
                </a:solidFill>
                <a:latin typeface="Arial"/>
              </a:rPr>
              <a:t>4 Amputating the credit half  </a:t>
            </a:r>
            <a:r>
              <a:rPr sz="1019">
                <a:solidFill>
                  <a:srgbClr val="0E1512"/>
                </a:solidFill>
                <a:latin typeface="Arial"/>
              </a:rPr>
              <a:t>no rotation, so it is a recurring deposit (UBL).</a:t>
            </a:r>
          </a:p>
          <a:p>
            <a:pPr>
              <a:lnSpc>
                <a:spcPct val="108000"/>
              </a:lnSpc>
              <a:spcAft>
                <a:spcPts val="400"/>
              </a:spcAft>
            </a:pPr>
            <a:r>
              <a:rPr sz="1019" b="1">
                <a:solidFill>
                  <a:srgbClr val="D9A93C"/>
                </a:solidFill>
                <a:latin typeface="Georgia"/>
              </a:rPr>
              <a:t>|  </a:t>
            </a:r>
            <a:r>
              <a:rPr sz="1019" b="1">
                <a:solidFill>
                  <a:srgbClr val="123D30"/>
                </a:solidFill>
                <a:latin typeface="Arial"/>
              </a:rPr>
              <a:t>5 Adding interest  </a:t>
            </a:r>
            <a:r>
              <a:rPr sz="1019">
                <a:solidFill>
                  <a:srgbClr val="0E1512"/>
                </a:solidFill>
                <a:latin typeface="Arial"/>
              </a:rPr>
              <a:t>riba in the form committee culture defines itself against.</a:t>
            </a:r>
          </a:p>
          <a:p>
            <a:pPr>
              <a:lnSpc>
                <a:spcPct val="108000"/>
              </a:lnSpc>
              <a:spcAft>
                <a:spcPts val="400"/>
              </a:spcAft>
            </a:pPr>
            <a:r>
              <a:rPr sz="1019" b="1">
                <a:solidFill>
                  <a:srgbClr val="D9A93C"/>
                </a:solidFill>
                <a:latin typeface="Georgia"/>
              </a:rPr>
              <a:t>|  </a:t>
            </a:r>
            <a:r>
              <a:rPr sz="1019" b="1">
                <a:solidFill>
                  <a:srgbClr val="123D30"/>
                </a:solidFill>
                <a:latin typeface="Arial"/>
              </a:rPr>
              <a:t>6 Record without settlement  </a:t>
            </a:r>
            <a:r>
              <a:rPr sz="1019">
                <a:solidFill>
                  <a:srgbClr val="0E1512"/>
                </a:solidFill>
                <a:latin typeface="Arial"/>
              </a:rPr>
              <a:t>payments asserted, not settled, no usable credit history (khata apps).</a:t>
            </a:r>
          </a:p>
          <a:p>
            <a:pPr>
              <a:lnSpc>
                <a:spcPct val="108000"/>
              </a:lnSpc>
              <a:spcAft>
                <a:spcPts val="400"/>
              </a:spcAft>
            </a:pPr>
            <a:r>
              <a:rPr sz="1019" b="1">
                <a:solidFill>
                  <a:srgbClr val="D9A93C"/>
                </a:solidFill>
                <a:latin typeface="Georgia"/>
              </a:rPr>
              <a:t>|  </a:t>
            </a:r>
            <a:r>
              <a:rPr sz="1019" b="1">
                <a:solidFill>
                  <a:srgbClr val="123D30"/>
                </a:solidFill>
                <a:latin typeface="Arial"/>
              </a:rPr>
              <a:t>7 Monetising the member  </a:t>
            </a:r>
            <a:r>
              <a:rPr sz="1019">
                <a:solidFill>
                  <a:srgbClr val="0E1512"/>
                </a:solidFill>
                <a:latin typeface="Arial"/>
              </a:rPr>
              <a:t>fees; Kazi’s “Razq” and Oraan’s committee product stalled on them.</a:t>
            </a:r>
          </a:p>
          <a:p>
            <a:pPr>
              <a:lnSpc>
                <a:spcPct val="108000"/>
              </a:lnSpc>
              <a:spcAft>
                <a:spcPts val="400"/>
              </a:spcAft>
            </a:pPr>
            <a:r>
              <a:rPr sz="1019" b="1">
                <a:solidFill>
                  <a:srgbClr val="D9A93C"/>
                </a:solidFill>
                <a:latin typeface="Georgia"/>
              </a:rPr>
              <a:t>|  </a:t>
            </a:r>
            <a:r>
              <a:rPr sz="1019" b="1">
                <a:solidFill>
                  <a:srgbClr val="123D30"/>
                </a:solidFill>
                <a:latin typeface="Arial"/>
              </a:rPr>
              <a:t>8 Regulatory ambush  </a:t>
            </a:r>
            <a:r>
              <a:rPr sz="1019">
                <a:solidFill>
                  <a:srgbClr val="0E1512"/>
                </a:solidFill>
                <a:latin typeface="Arial"/>
              </a:rPr>
              <a:t>rules written for custody operators catch the whole category.</a:t>
            </a:r>
          </a:p>
        </p:txBody>
      </p:sp>
      <p:sp>
        <p:nvSpPr>
          <p:cNvPr id="20" name="TextBox 19"/>
          <p:cNvSpPr txBox="1"/>
          <p:nvPr/>
        </p:nvSpPr>
        <p:spPr>
          <a:xfrm>
            <a:off x="6419088" y="1408176"/>
            <a:ext cx="5166360" cy="274320"/>
          </a:xfrm>
          <a:prstGeom prst="rect">
            <a:avLst/>
          </a:prstGeom>
          <a:noFill/>
        </p:spPr>
        <p:txBody>
          <a:bodyPr wrap="square" lIns="0" rIns="0" tIns="0" bIns="0" anchor="t">
            <a:spAutoFit/>
          </a:bodyPr>
          <a:lstStyle/>
          <a:p>
            <a:pPr algn="l">
              <a:lnSpc>
                <a:spcPct val="100000"/>
              </a:lnSpc>
              <a:spcAft>
                <a:spcPts val="400"/>
              </a:spcAft>
            </a:pPr>
            <a:r>
              <a:rPr sz="1250" b="0" i="0">
                <a:solidFill>
                  <a:srgbClr val="123D30"/>
                </a:solidFill>
                <a:latin typeface="Georgia"/>
              </a:rPr>
              <a:t>The graveyard, and what each proves</a:t>
            </a:r>
          </a:p>
        </p:txBody>
      </p:sp>
      <p:graphicFrame>
        <p:nvGraphicFramePr>
          <p:cNvPr id="21" name="Table 20"/>
          <p:cNvGraphicFramePr>
            <a:graphicFrameLocks noGrp="1"/>
          </p:cNvGraphicFramePr>
          <p:nvPr/>
        </p:nvGraphicFramePr>
        <p:xfrm>
          <a:off x="6419088" y="1737360"/>
          <a:ext cx="5166359" cy="2786725"/>
        </p:xfrm>
        <a:graphic>
          <a:graphicData uri="http://schemas.openxmlformats.org/drawingml/2006/table">
            <a:tbl>
              <a:tblPr>
                <a:tableStyleId>{5C22544A-7EE6-4342-B048-85BDC9FD1C3A}</a:tableStyleId>
              </a:tblPr>
              <a:tblGrid>
                <a:gridCol w="2169871"/>
                <a:gridCol w="2996488"/>
              </a:tblGrid>
              <a:tr h="354421">
                <a:tc>
                  <a:txBody>
                    <a:bodyPr wrap="square"/>
                    <a:lstStyle/>
                    <a:p>
                      <a:pPr algn="l"/>
                      <a:r>
                        <a:rPr sz="919" b="1">
                          <a:solidFill>
                            <a:srgbClr val="F6F1E4"/>
                          </a:solidFill>
                          <a:latin typeface="Arial"/>
                        </a:rPr>
                        <a:t>Attempt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Cause of death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47472">
                <a:tc>
                  <a:txBody>
                    <a:bodyPr wrap="square"/>
                    <a:lstStyle/>
                    <a:p>
                      <a:pPr algn="l"/>
                      <a:r>
                        <a:rPr sz="919" b="0">
                          <a:solidFill>
                            <a:srgbClr val="0E1512"/>
                          </a:solidFill>
                          <a:latin typeface="Arial"/>
                        </a:rPr>
                        <a:t>Yahoo Tanda (US, 2018)</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No pre-existing trust graph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eMoneyPool (US)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Guarantee economics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Braid (US, 2023)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Custody by proxy, sponsor bank froze 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Punjab co-ops (PK, 1991-92)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10-23bn lost; the case for no-custody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Sidra Humaid (PK, 2022)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420M, 117 committees on borrowed trust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Esusu (US)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PIVOTED to rent-reporting → $1bn; proves the thesis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Khata apps (PK)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Assert, don’t settle, no credit asset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2" name="TextBox 21"/>
          <p:cNvSpPr txBox="1"/>
          <p:nvPr/>
        </p:nvSpPr>
        <p:spPr>
          <a:xfrm>
            <a:off x="6419088" y="4443984"/>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Esusu is the cleanest proof: the value is in recording an obligation people already honour, not in moving the money. Halqa is that thesis applied to the committee.</a:t>
            </a:r>
          </a:p>
        </p:txBody>
      </p:sp>
      <p:sp>
        <p:nvSpPr>
          <p:cNvPr id="23" name="Rectangle 22"/>
          <p:cNvSpPr/>
          <p:nvPr/>
        </p:nvSpPr>
        <p:spPr>
          <a:xfrm>
            <a:off x="6419088" y="5047488"/>
            <a:ext cx="5166360" cy="1060704"/>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0" y="5157216"/>
            <a:ext cx="4892040" cy="914400"/>
          </a:xfrm>
          <a:prstGeom prst="rect">
            <a:avLst/>
          </a:prstGeom>
          <a:noFill/>
        </p:spPr>
        <p:txBody>
          <a:bodyPr wrap="square" lIns="0" rIns="0" tIns="0" bIns="0" anchor="t">
            <a:spAutoFit/>
          </a:bodyPr>
          <a:lstStyle/>
          <a:p>
            <a:pPr algn="l">
              <a:lnSpc>
                <a:spcPct val="114000"/>
              </a:lnSpc>
              <a:spcAft>
                <a:spcPts val="400"/>
              </a:spcAft>
            </a:pPr>
            <a:r>
              <a:rPr sz="1000" b="0" i="0">
                <a:solidFill>
                  <a:srgbClr val="0E1512"/>
                </a:solidFill>
                <a:latin typeface="Arial"/>
              </a:rPr>
              <a:t>A balance-sheet institution cannot digitise the committee, because its value lives in exactly what a balance sheet must remove. That single fact also closes the category to JazzCash and Easypaisa, and it is stated by a live exhibit (UBL, next) rather than by argument.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 · THE FIELD</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UBL Kommittee autopsy</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A bank did digitise a “committee,” and it is still listed. Reading what it had to change to fit a balance sheet is the whole argument, made by a competitor rather than by us.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8</a:t>
            </a:r>
          </a:p>
        </p:txBody>
      </p:sp>
      <p:sp>
        <p:nvSpPr>
          <p:cNvPr id="18" name="TextBox 17"/>
          <p:cNvSpPr txBox="1"/>
          <p:nvPr/>
        </p:nvSpPr>
        <p:spPr>
          <a:xfrm>
            <a:off x="566928" y="1426464"/>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4   What a balance sheet forced UBL to remove</a:t>
            </a:r>
          </a:p>
        </p:txBody>
      </p:sp>
      <p:sp>
        <p:nvSpPr>
          <p:cNvPr id="19" name="TextBox 18"/>
          <p:cNvSpPr txBox="1"/>
          <p:nvPr/>
        </p:nvSpPr>
        <p:spPr>
          <a:xfrm>
            <a:off x="566928" y="1645920"/>
            <a:ext cx="5486400" cy="365760"/>
          </a:xfrm>
          <a:prstGeom prst="rect">
            <a:avLst/>
          </a:prstGeom>
          <a:noFill/>
        </p:spPr>
        <p:txBody>
          <a:bodyPr wrap="square" lIns="0" rIns="0" tIns="0" bIns="0">
            <a:spAutoFit/>
          </a:bodyPr>
          <a:lstStyle/>
          <a:p>
            <a:pPr>
              <a:lnSpc>
                <a:spcPct val="114000"/>
              </a:lnSpc>
              <a:spcAft>
                <a:spcPts val="700"/>
              </a:spcAft>
            </a:pPr>
            <a:r>
              <a:rPr sz="1080" b="1">
                <a:solidFill>
                  <a:srgbClr val="D9A93C"/>
                </a:solidFill>
                <a:latin typeface="Georgia"/>
              </a:rPr>
              <a:t>|  </a:t>
            </a:r>
            <a:r>
              <a:rPr sz="1080" b="1">
                <a:solidFill>
                  <a:srgbClr val="123D30"/>
                </a:solidFill>
                <a:latin typeface="Arial"/>
              </a:rPr>
              <a:t>No rotation  </a:t>
            </a:r>
            <a:r>
              <a:rPr sz="1080">
                <a:solidFill>
                  <a:srgbClr val="0E1512"/>
                </a:solidFill>
                <a:latin typeface="Arial"/>
              </a:rPr>
              <a:t>nobody collects early, so the credit half of the instrument is deleted. It is a recurring deposit wearing committee clothes.</a:t>
            </a:r>
          </a:p>
          <a:p>
            <a:pPr>
              <a:lnSpc>
                <a:spcPct val="114000"/>
              </a:lnSpc>
              <a:spcAft>
                <a:spcPts val="700"/>
              </a:spcAft>
            </a:pPr>
            <a:r>
              <a:rPr sz="1080" b="1">
                <a:solidFill>
                  <a:srgbClr val="D9A93C"/>
                </a:solidFill>
                <a:latin typeface="Georgia"/>
              </a:rPr>
              <a:t>|  </a:t>
            </a:r>
            <a:r>
              <a:rPr sz="1080" b="1">
                <a:solidFill>
                  <a:srgbClr val="123D30"/>
                </a:solidFill>
                <a:latin typeface="Arial"/>
              </a:rPr>
              <a:t>No peers  </a:t>
            </a:r>
            <a:r>
              <a:rPr sz="1080">
                <a:solidFill>
                  <a:srgbClr val="0E1512"/>
                </a:solidFill>
                <a:latin typeface="Arial"/>
              </a:rPr>
              <a:t>no group, no social spine, hence an “installment holiday” a real committee could never offer and remain itself.</a:t>
            </a:r>
          </a:p>
          <a:p>
            <a:pPr>
              <a:lnSpc>
                <a:spcPct val="114000"/>
              </a:lnSpc>
              <a:spcAft>
                <a:spcPts val="700"/>
              </a:spcAft>
            </a:pPr>
            <a:r>
              <a:rPr sz="1080" b="1">
                <a:solidFill>
                  <a:srgbClr val="D9A93C"/>
                </a:solidFill>
                <a:latin typeface="Georgia"/>
              </a:rPr>
              <a:t>|  </a:t>
            </a:r>
            <a:r>
              <a:rPr sz="1080" b="1">
                <a:solidFill>
                  <a:srgbClr val="123D30"/>
                </a:solidFill>
                <a:latin typeface="Arial"/>
              </a:rPr>
              <a:t>Interest added  </a:t>
            </a:r>
            <a:r>
              <a:rPr sz="1080">
                <a:solidFill>
                  <a:srgbClr val="0E1512"/>
                </a:solidFill>
                <a:latin typeface="Arial"/>
              </a:rPr>
              <a:t>a fixed return on deposits: riba in exactly the form committee culture rejects.</a:t>
            </a:r>
          </a:p>
          <a:p>
            <a:pPr>
              <a:lnSpc>
                <a:spcPct val="114000"/>
              </a:lnSpc>
              <a:spcAft>
                <a:spcPts val="700"/>
              </a:spcAft>
            </a:pPr>
            <a:r>
              <a:rPr sz="1080" b="1">
                <a:solidFill>
                  <a:srgbClr val="D9A93C"/>
                </a:solidFill>
                <a:latin typeface="Georgia"/>
              </a:rPr>
              <a:t>|  </a:t>
            </a:r>
            <a:r>
              <a:rPr sz="1080" b="1">
                <a:solidFill>
                  <a:srgbClr val="123D30"/>
                </a:solidFill>
                <a:latin typeface="Arial"/>
              </a:rPr>
              <a:t>The tell  </a:t>
            </a:r>
            <a:r>
              <a:rPr sz="1080">
                <a:solidFill>
                  <a:srgbClr val="0E1512"/>
                </a:solidFill>
                <a:latin typeface="Arial"/>
              </a:rPr>
              <a:t>early exit forfeits the bonus; missed months are “forgiven.” Both dissolve the commitment device.</a:t>
            </a:r>
          </a:p>
        </p:txBody>
      </p:sp>
      <p:sp>
        <p:nvSpPr>
          <p:cNvPr id="20" name="TextBox 19"/>
          <p:cNvSpPr txBox="1"/>
          <p:nvPr/>
        </p:nvSpPr>
        <p:spPr>
          <a:xfrm>
            <a:off x="6419088" y="1426464"/>
            <a:ext cx="5166360" cy="274320"/>
          </a:xfrm>
          <a:prstGeom prst="rect">
            <a:avLst/>
          </a:prstGeom>
          <a:noFill/>
        </p:spPr>
        <p:txBody>
          <a:bodyPr wrap="square" lIns="0" rIns="0" tIns="0" bIns="0" anchor="t">
            <a:spAutoFit/>
          </a:bodyPr>
          <a:lstStyle/>
          <a:p>
            <a:pPr algn="l">
              <a:lnSpc>
                <a:spcPct val="100000"/>
              </a:lnSpc>
              <a:spcAft>
                <a:spcPts val="400"/>
              </a:spcAft>
            </a:pPr>
            <a:r>
              <a:rPr sz="1250" b="0" i="0">
                <a:solidFill>
                  <a:srgbClr val="123D30"/>
                </a:solidFill>
                <a:latin typeface="Georgia"/>
              </a:rPr>
              <a:t>The arithmetic, worked</a:t>
            </a:r>
          </a:p>
        </p:txBody>
      </p:sp>
      <p:graphicFrame>
        <p:nvGraphicFramePr>
          <p:cNvPr id="21" name="Table 20"/>
          <p:cNvGraphicFramePr>
            <a:graphicFrameLocks noGrp="1"/>
          </p:cNvGraphicFramePr>
          <p:nvPr/>
        </p:nvGraphicFramePr>
        <p:xfrm>
          <a:off x="6419088" y="1755648"/>
          <a:ext cx="5166359" cy="2201875"/>
        </p:xfrm>
        <a:graphic>
          <a:graphicData uri="http://schemas.openxmlformats.org/drawingml/2006/table">
            <a:tbl>
              <a:tblPr>
                <a:tableStyleId>{5C22544A-7EE6-4342-B048-85BDC9FD1C3A}</a:tableStyleId>
              </a:tblPr>
              <a:tblGrid>
                <a:gridCol w="3203143"/>
                <a:gridCol w="1963216"/>
              </a:tblGrid>
              <a:tr h="373075">
                <a:tc>
                  <a:txBody>
                    <a:bodyPr wrap="square"/>
                    <a:lstStyle/>
                    <a:p>
                      <a:pPr algn="l"/>
                      <a:r>
                        <a:rPr sz="980" b="1">
                          <a:solidFill>
                            <a:srgbClr val="F6F1E4"/>
                          </a:solidFill>
                          <a:latin typeface="Arial"/>
                        </a:rPr>
                        <a:t>24 months × Rs 100,000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80" b="1">
                          <a:solidFill>
                            <a:srgbClr val="F6F1E4"/>
                          </a:solidFill>
                          <a:latin typeface="Arial"/>
                        </a:rPr>
                        <a:t>Kommittee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65760">
                <a:tc>
                  <a:txBody>
                    <a:bodyPr wrap="square"/>
                    <a:lstStyle/>
                    <a:p>
                      <a:pPr algn="l"/>
                      <a:r>
                        <a:rPr sz="980" b="0">
                          <a:solidFill>
                            <a:srgbClr val="0E1512"/>
                          </a:solidFill>
                          <a:latin typeface="Arial"/>
                        </a:rPr>
                        <a:t>You pay in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80" b="0">
                          <a:solidFill>
                            <a:srgbClr val="0E1512"/>
                          </a:solidFill>
                          <a:latin typeface="Arial"/>
                        </a:rPr>
                        <a:t>Rs 2,400,000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80" b="0">
                          <a:solidFill>
                            <a:srgbClr val="0E1512"/>
                          </a:solidFill>
                          <a:latin typeface="Arial"/>
                        </a:rPr>
                        <a:t>You receive (with bonus)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80" b="0">
                          <a:solidFill>
                            <a:srgbClr val="0E1512"/>
                          </a:solidFill>
                          <a:latin typeface="Arial"/>
                        </a:rPr>
                        <a:t>Rs 2,500,000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80" b="0">
                          <a:solidFill>
                            <a:srgbClr val="0E1512"/>
                          </a:solidFill>
                          <a:latin typeface="Arial"/>
                        </a:rPr>
                        <a:t>Bonus, on ~Rs 1.25M average balance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80" b="0">
                          <a:solidFill>
                            <a:srgbClr val="0E1512"/>
                          </a:solidFill>
                          <a:latin typeface="Arial"/>
                        </a:rPr>
                        <a:t>Rs 100,000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80" b="0">
                          <a:solidFill>
                            <a:srgbClr val="0E1512"/>
                          </a:solidFill>
                          <a:latin typeface="Arial"/>
                        </a:rPr>
                        <a:t>Effective return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80" b="0">
                          <a:solidFill>
                            <a:srgbClr val="0E1512"/>
                          </a:solidFill>
                          <a:latin typeface="Arial"/>
                        </a:rPr>
                        <a:t>≈ 2% p.a.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80" b="0">
                          <a:solidFill>
                            <a:srgbClr val="0E1512"/>
                          </a:solidFill>
                          <a:latin typeface="Arial"/>
                        </a:rPr>
                        <a:t>An ordinary savings account then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80" b="0">
                          <a:solidFill>
                            <a:srgbClr val="0E1512"/>
                          </a:solidFill>
                          <a:latin typeface="Arial"/>
                        </a:rPr>
                        <a:t>paid materially more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2" name="Rectangle 21"/>
          <p:cNvSpPr/>
          <p:nvPr/>
        </p:nvSpPr>
        <p:spPr>
          <a:xfrm>
            <a:off x="6419088" y="4261104"/>
            <a:ext cx="45720" cy="173736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620256" y="4297680"/>
            <a:ext cx="4937760" cy="1828800"/>
          </a:xfrm>
          <a:prstGeom prst="rect">
            <a:avLst/>
          </a:prstGeom>
          <a:noFill/>
        </p:spPr>
        <p:txBody>
          <a:bodyPr wrap="square" lIns="0" rIns="0" tIns="0" bIns="0" anchor="t">
            <a:spAutoFit/>
          </a:bodyPr>
          <a:lstStyle/>
          <a:p>
            <a:pPr algn="l">
              <a:lnSpc>
                <a:spcPct val="120000"/>
              </a:lnSpc>
              <a:spcAft>
                <a:spcPts val="400"/>
              </a:spcAft>
            </a:pPr>
            <a:r>
              <a:rPr sz="1100" b="0" i="0">
                <a:solidFill>
                  <a:srgbClr val="0E1512"/>
                </a:solidFill>
                <a:latin typeface="Arial"/>
              </a:rPr>
              <a:t>You give up everything a committee gives, the early pot, the group, the discipline, and receive less than a deposit pays. The lesson is not that UBL executed badly; it is that a balance-sheet institution cannot digitise the committee, because the value lives in what the balance sheet must strip out. That is why the door is open to a record-only facilitator and closed to the wallets.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 · THE FIELD</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Oraan, the closest comparable, and what its own pivot tells us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This is the one competitor a partner will name, so it gets its own page.</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9</a:t>
            </a:r>
          </a:p>
        </p:txBody>
      </p:sp>
      <p:sp>
        <p:nvSpPr>
          <p:cNvPr id="18" name="Rectangle 17"/>
          <p:cNvSpPr/>
          <p:nvPr/>
        </p:nvSpPr>
        <p:spPr>
          <a:xfrm>
            <a:off x="566928" y="1371600"/>
            <a:ext cx="5486400" cy="1170432"/>
          </a:xfrm>
          <a:prstGeom prst="rect">
            <a:avLst/>
          </a:prstGeom>
          <a:solidFill>
            <a:srgbClr val="F3F6F4"/>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1371600"/>
            <a:ext cx="54864" cy="1170432"/>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8096" y="1481328"/>
            <a:ext cx="5166360" cy="1005840"/>
          </a:xfrm>
          <a:prstGeom prst="rect">
            <a:avLst/>
          </a:prstGeom>
          <a:noFill/>
        </p:spPr>
        <p:txBody>
          <a:bodyPr wrap="square" lIns="0" rIns="0" tIns="0" bIns="0" anchor="t">
            <a:spAutoFit/>
          </a:bodyPr>
          <a:lstStyle/>
          <a:p>
            <a:pPr algn="l">
              <a:lnSpc>
                <a:spcPct val="120000"/>
              </a:lnSpc>
              <a:spcAft>
                <a:spcPts val="400"/>
              </a:spcAft>
            </a:pPr>
            <a:r>
              <a:rPr sz="1140" b="0" i="0">
                <a:solidFill>
                  <a:srgbClr val="123D30"/>
                </a:solidFill>
                <a:latin typeface="Georgia"/>
              </a:rPr>
              <a:t>Oraan is the nearest thing to Halqa in Pakistan, and it is NOT failing. But it grew by leaving the custody committee behind, for gold and for B2B licensing. That pivot quietly proves our whole point: the value was never in holding the money.</a:t>
            </a:r>
          </a:p>
        </p:txBody>
      </p:sp>
      <p:sp>
        <p:nvSpPr>
          <p:cNvPr id="21" name="TextBox 20"/>
          <p:cNvSpPr txBox="1"/>
          <p:nvPr/>
        </p:nvSpPr>
        <p:spPr>
          <a:xfrm>
            <a:off x="566928" y="2688336"/>
            <a:ext cx="5486400" cy="365760"/>
          </a:xfrm>
          <a:prstGeom prst="rect">
            <a:avLst/>
          </a:prstGeom>
          <a:noFill/>
        </p:spPr>
        <p:txBody>
          <a:bodyPr wrap="square" lIns="0" rIns="0" tIns="0" bIns="0">
            <a:spAutoFit/>
          </a:bodyPr>
          <a:lstStyle/>
          <a:p>
            <a:pPr>
              <a:lnSpc>
                <a:spcPct val="110000"/>
              </a:lnSpc>
              <a:spcAft>
                <a:spcPts val="500"/>
              </a:spcAft>
            </a:pPr>
            <a:r>
              <a:rPr sz="960" b="1">
                <a:solidFill>
                  <a:srgbClr val="D9A93C"/>
                </a:solidFill>
                <a:latin typeface="Georgia"/>
              </a:rPr>
              <a:t>|  </a:t>
            </a:r>
            <a:r>
              <a:rPr sz="960" b="1">
                <a:solidFill>
                  <a:srgbClr val="123D30"/>
                </a:solidFill>
                <a:latin typeface="Arial"/>
              </a:rPr>
              <a:t>Not failing  </a:t>
            </a:r>
            <a:r>
              <a:rPr sz="960">
                <a:solidFill>
                  <a:srgbClr val="0E1512"/>
                </a:solidFill>
                <a:latin typeface="Arial"/>
              </a:rPr>
              <a:t>gold savings reportedly grew about 75 times in seven months, a bank-licensing deal, Epic Angels funding in July 2026.</a:t>
            </a:r>
          </a:p>
          <a:p>
            <a:pPr>
              <a:lnSpc>
                <a:spcPct val="110000"/>
              </a:lnSpc>
              <a:spcAft>
                <a:spcPts val="500"/>
              </a:spcAft>
            </a:pPr>
            <a:r>
              <a:rPr sz="960" b="1">
                <a:solidFill>
                  <a:srgbClr val="D9A93C"/>
                </a:solidFill>
                <a:latin typeface="Georgia"/>
              </a:rPr>
              <a:t>|  </a:t>
            </a:r>
            <a:r>
              <a:rPr sz="960" b="1">
                <a:solidFill>
                  <a:srgbClr val="123D30"/>
                </a:solidFill>
                <a:latin typeface="Arial"/>
              </a:rPr>
              <a:t>But the engine moved  </a:t>
            </a:r>
            <a:r>
              <a:rPr sz="960">
                <a:solidFill>
                  <a:srgbClr val="0E1512"/>
                </a:solidFill>
                <a:latin typeface="Arial"/>
              </a:rPr>
              <a:t>the growth is gold plus B2B licensing, not the custody committee it launched with.</a:t>
            </a:r>
          </a:p>
          <a:p>
            <a:pPr>
              <a:lnSpc>
                <a:spcPct val="110000"/>
              </a:lnSpc>
              <a:spcAft>
                <a:spcPts val="500"/>
              </a:spcAft>
            </a:pPr>
            <a:r>
              <a:rPr sz="960" b="1">
                <a:solidFill>
                  <a:srgbClr val="D9A93C"/>
                </a:solidFill>
                <a:latin typeface="Georgia"/>
              </a:rPr>
              <a:t>|  </a:t>
            </a:r>
            <a:r>
              <a:rPr sz="960" b="1">
                <a:solidFill>
                  <a:srgbClr val="123D30"/>
                </a:solidFill>
                <a:latin typeface="Arial"/>
              </a:rPr>
              <a:t>Its gold, examined  </a:t>
            </a:r>
            <a:r>
              <a:rPr sz="960">
                <a:solidFill>
                  <a:srgbClr val="0E1512"/>
                </a:solidFill>
                <a:latin typeface="Arial"/>
              </a:rPr>
              <a:t>Oraan Gold locks today’s price for delivery six to ten months later. That is deferred gold for currency, riba under the majority Bay’ al-Sarf view, yet it is marketed as Shariah-compliant.</a:t>
            </a:r>
          </a:p>
          <a:p>
            <a:pPr>
              <a:lnSpc>
                <a:spcPct val="110000"/>
              </a:lnSpc>
              <a:spcAft>
                <a:spcPts val="500"/>
              </a:spcAft>
            </a:pPr>
            <a:r>
              <a:rPr sz="960" b="1">
                <a:solidFill>
                  <a:srgbClr val="D9A93C"/>
                </a:solidFill>
                <a:latin typeface="Georgia"/>
              </a:rPr>
              <a:t>|  </a:t>
            </a:r>
            <a:r>
              <a:rPr sz="960" b="1">
                <a:solidFill>
                  <a:srgbClr val="123D30"/>
                </a:solidFill>
                <a:latin typeface="Arial"/>
              </a:rPr>
              <a:t>Our answer  </a:t>
            </a:r>
            <a:r>
              <a:rPr sz="960">
                <a:solidFill>
                  <a:srgbClr val="0E1512"/>
                </a:solidFill>
                <a:latin typeface="Arial"/>
              </a:rPr>
              <a:t>a spot-settled gold-goal committee is genuinely cleaner, and only that variant carries the Shariah label (§III).</a:t>
            </a:r>
          </a:p>
          <a:p>
            <a:pPr>
              <a:lnSpc>
                <a:spcPct val="110000"/>
              </a:lnSpc>
              <a:spcAft>
                <a:spcPts val="500"/>
              </a:spcAft>
            </a:pPr>
            <a:r>
              <a:rPr sz="960" b="1">
                <a:solidFill>
                  <a:srgbClr val="D9A93C"/>
                </a:solidFill>
                <a:latin typeface="Georgia"/>
              </a:rPr>
              <a:t>|  </a:t>
            </a:r>
            <a:r>
              <a:rPr sz="960" b="1">
                <a:solidFill>
                  <a:srgbClr val="123D30"/>
                </a:solidFill>
                <a:latin typeface="Arial"/>
              </a:rPr>
              <a:t>Its licensing  </a:t>
            </a:r>
            <a:r>
              <a:rPr sz="960">
                <a:solidFill>
                  <a:srgbClr val="0E1512"/>
                </a:solidFill>
                <a:latin typeface="Arial"/>
              </a:rPr>
              <a:t>Oraan was NOT SECP-licensed as a committee operator, and how it legally ran the custody committee is unclear even to the regulator.</a:t>
            </a:r>
          </a:p>
        </p:txBody>
      </p:sp>
      <p:sp>
        <p:nvSpPr>
          <p:cNvPr id="22" name="TextBox 21"/>
          <p:cNvSpPr txBox="1"/>
          <p:nvPr/>
        </p:nvSpPr>
        <p:spPr>
          <a:xfrm>
            <a:off x="6419088" y="1426464"/>
            <a:ext cx="5166360" cy="274320"/>
          </a:xfrm>
          <a:prstGeom prst="rect">
            <a:avLst/>
          </a:prstGeom>
          <a:noFill/>
        </p:spPr>
        <p:txBody>
          <a:bodyPr wrap="square" lIns="0" rIns="0" tIns="0" bIns="0" anchor="t">
            <a:spAutoFit/>
          </a:bodyPr>
          <a:lstStyle/>
          <a:p>
            <a:pPr algn="l">
              <a:lnSpc>
                <a:spcPct val="100000"/>
              </a:lnSpc>
              <a:spcAft>
                <a:spcPts val="400"/>
              </a:spcAft>
            </a:pPr>
            <a:r>
              <a:rPr sz="1250" b="0" i="0">
                <a:solidFill>
                  <a:srgbClr val="123D30"/>
                </a:solidFill>
                <a:latin typeface="Georgia"/>
              </a:rPr>
              <a:t>The four that work, and the five laws</a:t>
            </a:r>
          </a:p>
        </p:txBody>
      </p:sp>
      <p:graphicFrame>
        <p:nvGraphicFramePr>
          <p:cNvPr id="23" name="Table 22"/>
          <p:cNvGraphicFramePr>
            <a:graphicFrameLocks noGrp="1"/>
          </p:cNvGraphicFramePr>
          <p:nvPr/>
        </p:nvGraphicFramePr>
        <p:xfrm>
          <a:off x="6419088" y="1755648"/>
          <a:ext cx="5166360" cy="2019726"/>
        </p:xfrm>
        <a:graphic>
          <a:graphicData uri="http://schemas.openxmlformats.org/drawingml/2006/table">
            <a:tbl>
              <a:tblPr>
                <a:tableStyleId>{5C22544A-7EE6-4342-B048-85BDC9FD1C3A}</a:tableStyleId>
              </a:tblPr>
              <a:tblGrid>
                <a:gridCol w="1549908"/>
                <a:gridCol w="3616452"/>
              </a:tblGrid>
              <a:tr h="410382">
                <a:tc>
                  <a:txBody>
                    <a:bodyPr wrap="square"/>
                    <a:lstStyle/>
                    <a:p>
                      <a:pPr algn="l"/>
                      <a:r>
                        <a:rPr sz="919" b="1">
                          <a:solidFill>
                            <a:srgbClr val="F6F1E4"/>
                          </a:solidFill>
                          <a:latin typeface="Arial"/>
                        </a:rPr>
                        <a:t>Operator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What it proves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02336">
                <a:tc>
                  <a:txBody>
                    <a:bodyPr wrap="square"/>
                    <a:lstStyle/>
                    <a:p>
                      <a:pPr algn="l"/>
                      <a:r>
                        <a:rPr sz="919" b="0">
                          <a:solidFill>
                            <a:srgbClr val="0E1512"/>
                          </a:solidFill>
                          <a:latin typeface="Arial"/>
                        </a:rPr>
                        <a:t>Money Fellows (EG)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$1.5bn processed, profitable; &lt;8% of slots need its own capital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919" b="0">
                          <a:solidFill>
                            <a:srgbClr val="0E1512"/>
                          </a:solidFill>
                          <a:latin typeface="Arial"/>
                        </a:rPr>
                        <a:t>Hakbah (SA)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Made the regulator its first partner (SAMA sandbox)</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919" b="0">
                          <a:solidFill>
                            <a:srgbClr val="0E1512"/>
                          </a:solidFill>
                          <a:latin typeface="Arial"/>
                        </a:rPr>
                        <a:t>Mapan (ID)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Village leader-agents on commission; the organiser network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919" b="0">
                          <a:solidFill>
                            <a:srgbClr val="0E1512"/>
                          </a:solidFill>
                          <a:latin typeface="Arial"/>
                        </a:rPr>
                        <a:t>The Money Club (IN)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Graduated exposure, history unlocks larger clubs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TextBox 23"/>
          <p:cNvSpPr txBox="1"/>
          <p:nvPr/>
        </p:nvSpPr>
        <p:spPr>
          <a:xfrm>
            <a:off x="6419088" y="3931920"/>
            <a:ext cx="5166360" cy="365760"/>
          </a:xfrm>
          <a:prstGeom prst="rect">
            <a:avLst/>
          </a:prstGeom>
          <a:noFill/>
        </p:spPr>
        <p:txBody>
          <a:bodyPr wrap="square" lIns="0" rIns="0" tIns="0" bIns="0">
            <a:spAutoFit/>
          </a:bodyPr>
          <a:lstStyle/>
          <a:p>
            <a:pPr>
              <a:lnSpc>
                <a:spcPct val="106000"/>
              </a:lnSpc>
              <a:spcAft>
                <a:spcPts val="400"/>
              </a:spcAft>
            </a:pPr>
            <a:r>
              <a:rPr sz="1040" b="1">
                <a:solidFill>
                  <a:srgbClr val="D9A93C"/>
                </a:solidFill>
                <a:latin typeface="Georgia"/>
              </a:rPr>
              <a:t>|  </a:t>
            </a:r>
            <a:r>
              <a:rPr sz="1040">
                <a:solidFill>
                  <a:srgbClr val="0E1512"/>
                </a:solidFill>
                <a:latin typeface="Arial"/>
              </a:rPr>
              <a:t>Keep the instrument intact.</a:t>
            </a:r>
          </a:p>
          <a:p>
            <a:pPr>
              <a:lnSpc>
                <a:spcPct val="106000"/>
              </a:lnSpc>
              <a:spcAft>
                <a:spcPts val="400"/>
              </a:spcAft>
            </a:pPr>
            <a:r>
              <a:rPr sz="1040" b="1">
                <a:solidFill>
                  <a:srgbClr val="D9A93C"/>
                </a:solidFill>
                <a:latin typeface="Georgia"/>
              </a:rPr>
              <a:t>|  </a:t>
            </a:r>
            <a:r>
              <a:rPr sz="1040">
                <a:solidFill>
                  <a:srgbClr val="0E1512"/>
                </a:solidFill>
                <a:latin typeface="Arial"/>
              </a:rPr>
              <a:t>Price the position, not the membership.</a:t>
            </a:r>
          </a:p>
          <a:p>
            <a:pPr>
              <a:lnSpc>
                <a:spcPct val="106000"/>
              </a:lnSpc>
              <a:spcAft>
                <a:spcPts val="400"/>
              </a:spcAft>
            </a:pPr>
            <a:r>
              <a:rPr sz="1040" b="1">
                <a:solidFill>
                  <a:srgbClr val="D9A93C"/>
                </a:solidFill>
                <a:latin typeface="Georgia"/>
              </a:rPr>
              <a:t>|  </a:t>
            </a:r>
            <a:r>
              <a:rPr sz="1040">
                <a:solidFill>
                  <a:srgbClr val="0E1512"/>
                </a:solidFill>
                <a:latin typeface="Arial"/>
              </a:rPr>
              <a:t>Grow through the organiser.</a:t>
            </a:r>
          </a:p>
          <a:p>
            <a:pPr>
              <a:lnSpc>
                <a:spcPct val="106000"/>
              </a:lnSpc>
              <a:spcAft>
                <a:spcPts val="400"/>
              </a:spcAft>
            </a:pPr>
            <a:r>
              <a:rPr sz="1040" b="1">
                <a:solidFill>
                  <a:srgbClr val="D9A93C"/>
                </a:solidFill>
                <a:latin typeface="Georgia"/>
              </a:rPr>
              <a:t>|  </a:t>
            </a:r>
            <a:r>
              <a:rPr sz="1040">
                <a:solidFill>
                  <a:srgbClr val="0E1512"/>
                </a:solidFill>
                <a:latin typeface="Arial"/>
              </a:rPr>
              <a:t>Underwrite with history, not documents.</a:t>
            </a:r>
          </a:p>
          <a:p>
            <a:pPr>
              <a:lnSpc>
                <a:spcPct val="106000"/>
              </a:lnSpc>
              <a:spcAft>
                <a:spcPts val="400"/>
              </a:spcAft>
            </a:pPr>
            <a:r>
              <a:rPr sz="1040" b="1">
                <a:solidFill>
                  <a:srgbClr val="D9A93C"/>
                </a:solidFill>
                <a:latin typeface="Georgia"/>
              </a:rPr>
              <a:t>|  </a:t>
            </a:r>
            <a:r>
              <a:rPr sz="1040">
                <a:solidFill>
                  <a:srgbClr val="0E1512"/>
                </a:solidFill>
                <a:latin typeface="Arial"/>
              </a:rPr>
              <a:t>Make the regulator a partner before scale.</a:t>
            </a:r>
          </a:p>
        </p:txBody>
      </p:sp>
      <p:sp>
        <p:nvSpPr>
          <p:cNvPr id="25" name="TextBox 24"/>
          <p:cNvSpPr txBox="1"/>
          <p:nvPr/>
        </p:nvSpPr>
        <p:spPr>
          <a:xfrm>
            <a:off x="6419088" y="5797296"/>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Money Fellows prices the slot position, as we do, but is the circle’s counterparty, which we refuse. India’s Chit Funds Act 1982 regulates the auction family we already refuse.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D9A93C"/>
                </a:solidFill>
                <a:latin typeface="Georgia"/>
              </a:rPr>
              <a:t>II</a:t>
            </a:r>
          </a:p>
        </p:txBody>
      </p:sp>
      <p:sp>
        <p:nvSpPr>
          <p:cNvPr id="5" name="TextBox 4"/>
          <p:cNvSpPr txBox="1"/>
          <p:nvPr/>
        </p:nvSpPr>
        <p:spPr>
          <a:xfrm>
            <a:off x="2468880" y="2359152"/>
            <a:ext cx="8595360" cy="731520"/>
          </a:xfrm>
          <a:prstGeom prst="rect">
            <a:avLst/>
          </a:prstGeom>
          <a:noFill/>
        </p:spPr>
        <p:txBody>
          <a:bodyPr wrap="square" lIns="0" rIns="0" tIns="0" bIns="0" anchor="t">
            <a:spAutoFit/>
          </a:bodyPr>
          <a:lstStyle/>
          <a:p>
            <a:pPr algn="l">
              <a:lnSpc>
                <a:spcPct val="100000"/>
              </a:lnSpc>
              <a:spcAft>
                <a:spcPts val="400"/>
              </a:spcAft>
            </a:pPr>
            <a:r>
              <a:rPr sz="3000" b="0" i="0">
                <a:solidFill>
                  <a:srgbClr val="F6F1E4"/>
                </a:solidFill>
                <a:latin typeface="Georgia"/>
              </a:rPr>
              <a:t>Halqa as a platform</a:t>
            </a:r>
          </a:p>
        </p:txBody>
      </p:sp>
      <p:cxnSp>
        <p:nvCxnSpPr>
          <p:cNvPr id="6" name="Connector 5"/>
          <p:cNvCxnSpPr/>
          <p:nvPr/>
        </p:nvCxnSpPr>
        <p:spPr>
          <a:xfrm>
            <a:off x="2542032"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3101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941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782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622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03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44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98464"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42032" y="3310128"/>
            <a:ext cx="7680960" cy="1463040"/>
          </a:xfrm>
          <a:prstGeom prst="rect">
            <a:avLst/>
          </a:prstGeom>
          <a:noFill/>
        </p:spPr>
        <p:txBody>
          <a:bodyPr wrap="square" lIns="0" rIns="0" tIns="0" bIns="0" anchor="t">
            <a:spAutoFit/>
          </a:bodyPr>
          <a:lstStyle/>
          <a:p>
            <a:pPr algn="l">
              <a:lnSpc>
                <a:spcPct val="112000"/>
              </a:lnSpc>
              <a:spcAft>
                <a:spcPts val="600"/>
              </a:spcAft>
            </a:pPr>
            <a:r>
              <a:rPr sz="1220" b="0" i="0">
                <a:solidFill>
                  <a:srgbClr val="C8D4CC"/>
                </a:solidFill>
                <a:latin typeface="Arial"/>
              </a:rPr>
              <a:t>One decision defines the company: Halqa never holds member money.</a:t>
            </a:r>
          </a:p>
          <a:p>
            <a:pPr algn="l">
              <a:lnSpc>
                <a:spcPct val="112000"/>
              </a:lnSpc>
              <a:spcAft>
                <a:spcPts val="600"/>
              </a:spcAft>
            </a:pPr>
            <a:r>
              <a:rPr sz="1220" b="0" i="0">
                <a:solidFill>
                  <a:srgbClr val="C8D4CC"/>
                </a:solidFill>
                <a:latin typeface="Arial"/>
              </a:rPr>
              <a:t>It is at once the fraud control, the legal position and the moat.</a:t>
            </a:r>
          </a:p>
          <a:p>
            <a:pPr algn="l">
              <a:lnSpc>
                <a:spcPct val="112000"/>
              </a:lnSpc>
              <a:spcAft>
                <a:spcPts val="600"/>
              </a:spcAft>
            </a:pPr>
            <a:r>
              <a:rPr sz="1220" b="0" i="0">
                <a:solidFill>
                  <a:srgbClr val="C8D4CC"/>
                </a:solidFill>
                <a:latin typeface="Arial"/>
              </a:rPr>
              <a:t>On top of it sit the three roles, the Stage-2 custody stack,</a:t>
            </a:r>
          </a:p>
          <a:p>
            <a:pPr algn="l">
              <a:lnSpc>
                <a:spcPct val="112000"/>
              </a:lnSpc>
              <a:spcAft>
                <a:spcPts val="600"/>
              </a:spcAft>
            </a:pPr>
            <a:r>
              <a:rPr sz="1220" b="0" i="0">
                <a:solidFill>
                  <a:srgbClr val="C8D4CC"/>
                </a:solidFill>
                <a:latin typeface="Arial"/>
              </a:rPr>
              <a:t>and a product family that all reduces to one risk primitive.</a:t>
            </a:r>
          </a:p>
        </p:txBody>
      </p:sp>
      <p:cxnSp>
        <p:nvCxnSpPr>
          <p:cNvPr id="17" name="Connector 16"/>
          <p:cNvCxnSpPr/>
          <p:nvPr/>
        </p:nvCxnSpPr>
        <p:spPr>
          <a:xfrm>
            <a:off x="10454335" y="2641701"/>
            <a:ext cx="0" cy="30723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94365" y="2747179"/>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870079" y="3035350"/>
            <a:ext cx="266076" cy="15362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934395" y="3429000"/>
            <a:ext cx="307238" cy="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870079"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94365" y="3844744"/>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454335" y="3909060"/>
            <a:ext cx="0" cy="307238"/>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060685" y="3844744"/>
            <a:ext cx="153620"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772514"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67036" y="3429000"/>
            <a:ext cx="422453" cy="0"/>
          </a:xfrm>
          <a:prstGeom prst="line">
            <a:avLst/>
          </a:prstGeom>
          <a:ln w="24003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 · THE PLATFORM</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functions: the ledger, the AMC and the trustee stack</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Halqa performs three roles and holds nothing. When savings and yield return, they run through a licensed trustee and AMC, not a bank, and never Halqa’s own balance sheet.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11</a:t>
            </a:r>
          </a:p>
        </p:txBody>
      </p:sp>
      <p:sp>
        <p:nvSpPr>
          <p:cNvPr id="18" name="TextBox 17"/>
          <p:cNvSpPr txBox="1"/>
          <p:nvPr/>
        </p:nvSpPr>
        <p:spPr>
          <a:xfrm>
            <a:off x="566928" y="1426464"/>
            <a:ext cx="5486400" cy="274320"/>
          </a:xfrm>
          <a:prstGeom prst="rect">
            <a:avLst/>
          </a:prstGeom>
          <a:noFill/>
        </p:spPr>
        <p:txBody>
          <a:bodyPr wrap="square" lIns="0" rIns="0" tIns="0" bIns="0" anchor="t">
            <a:spAutoFit/>
          </a:bodyPr>
          <a:lstStyle/>
          <a:p>
            <a:pPr algn="l">
              <a:lnSpc>
                <a:spcPct val="100000"/>
              </a:lnSpc>
              <a:spcAft>
                <a:spcPts val="400"/>
              </a:spcAft>
            </a:pPr>
            <a:r>
              <a:rPr sz="1250" b="0" i="0">
                <a:solidFill>
                  <a:srgbClr val="123D30"/>
                </a:solidFill>
                <a:latin typeface="Georgia"/>
              </a:rPr>
              <a:t>The three roles Halqa plays</a:t>
            </a:r>
          </a:p>
        </p:txBody>
      </p:sp>
      <p:sp>
        <p:nvSpPr>
          <p:cNvPr id="19" name="TextBox 18"/>
          <p:cNvSpPr txBox="1"/>
          <p:nvPr/>
        </p:nvSpPr>
        <p:spPr>
          <a:xfrm>
            <a:off x="566928" y="1755648"/>
            <a:ext cx="5486400" cy="365760"/>
          </a:xfrm>
          <a:prstGeom prst="rect">
            <a:avLst/>
          </a:prstGeom>
          <a:noFill/>
        </p:spPr>
        <p:txBody>
          <a:bodyPr wrap="square" lIns="0" rIns="0" tIns="0" bIns="0">
            <a:spAutoFit/>
          </a:bodyPr>
          <a:lstStyle/>
          <a:p>
            <a:pPr>
              <a:lnSpc>
                <a:spcPct val="114000"/>
              </a:lnSpc>
              <a:spcAft>
                <a:spcPts val="700"/>
              </a:spcAft>
            </a:pPr>
            <a:r>
              <a:rPr sz="1080" b="1">
                <a:solidFill>
                  <a:srgbClr val="D9A93C"/>
                </a:solidFill>
                <a:latin typeface="Georgia"/>
              </a:rPr>
              <a:t>|  </a:t>
            </a:r>
            <a:r>
              <a:rPr sz="1080" b="1">
                <a:solidFill>
                  <a:srgbClr val="123D30"/>
                </a:solidFill>
                <a:latin typeface="Arial"/>
              </a:rPr>
              <a:t>The Ledger  </a:t>
            </a:r>
            <a:r>
              <a:rPr sz="1080">
                <a:solidFill>
                  <a:srgbClr val="0E1512"/>
                </a:solidFill>
                <a:latin typeface="Arial"/>
              </a:rPr>
              <a:t>a double-entry record of every obligation and settlement, in integer paisa, admissible under the ETO 2002.</a:t>
            </a:r>
          </a:p>
          <a:p>
            <a:pPr>
              <a:lnSpc>
                <a:spcPct val="114000"/>
              </a:lnSpc>
              <a:spcAft>
                <a:spcPts val="700"/>
              </a:spcAft>
            </a:pPr>
            <a:r>
              <a:rPr sz="1080" b="1">
                <a:solidFill>
                  <a:srgbClr val="D9A93C"/>
                </a:solidFill>
                <a:latin typeface="Georgia"/>
              </a:rPr>
              <a:t>|  </a:t>
            </a:r>
            <a:r>
              <a:rPr sz="1080" b="1">
                <a:solidFill>
                  <a:srgbClr val="123D30"/>
                </a:solidFill>
                <a:latin typeface="Arial"/>
              </a:rPr>
              <a:t>The Treasury (record-only)  </a:t>
            </a:r>
            <a:r>
              <a:rPr sz="1080">
                <a:solidFill>
                  <a:srgbClr val="0E1512"/>
                </a:solidFill>
                <a:latin typeface="Arial"/>
              </a:rPr>
              <a:t>it schedules, collects over the rails and reconciles, but never takes possession.</a:t>
            </a:r>
          </a:p>
          <a:p>
            <a:pPr>
              <a:lnSpc>
                <a:spcPct val="114000"/>
              </a:lnSpc>
              <a:spcAft>
                <a:spcPts val="700"/>
              </a:spcAft>
            </a:pPr>
            <a:r>
              <a:rPr sz="1080" b="1">
                <a:solidFill>
                  <a:srgbClr val="D9A93C"/>
                </a:solidFill>
                <a:latin typeface="Georgia"/>
              </a:rPr>
              <a:t>|  </a:t>
            </a:r>
            <a:r>
              <a:rPr sz="1080" b="1">
                <a:solidFill>
                  <a:srgbClr val="123D30"/>
                </a:solidFill>
                <a:latin typeface="Arial"/>
              </a:rPr>
              <a:t>The Credit Bureau  </a:t>
            </a:r>
            <a:r>
              <a:rPr sz="1080">
                <a:solidFill>
                  <a:srgbClr val="0E1512"/>
                </a:solidFill>
                <a:latin typeface="Arial"/>
              </a:rPr>
              <a:t>it turns a settled repayment history into the Halqa credit score and the Credit Passport (§V).</a:t>
            </a:r>
          </a:p>
        </p:txBody>
      </p:sp>
      <p:sp>
        <p:nvSpPr>
          <p:cNvPr id="20" name="TextBox 19"/>
          <p:cNvSpPr txBox="1"/>
          <p:nvPr/>
        </p:nvSpPr>
        <p:spPr>
          <a:xfrm>
            <a:off x="566928" y="3611880"/>
            <a:ext cx="5486400" cy="274320"/>
          </a:xfrm>
          <a:prstGeom prst="rect">
            <a:avLst/>
          </a:prstGeom>
          <a:noFill/>
        </p:spPr>
        <p:txBody>
          <a:bodyPr wrap="square" lIns="0" rIns="0" tIns="0" bIns="0" anchor="t">
            <a:spAutoFit/>
          </a:bodyPr>
          <a:lstStyle/>
          <a:p>
            <a:pPr algn="l">
              <a:lnSpc>
                <a:spcPct val="100000"/>
              </a:lnSpc>
              <a:spcAft>
                <a:spcPts val="400"/>
              </a:spcAft>
            </a:pPr>
            <a:r>
              <a:rPr sz="1250" b="0" i="0">
                <a:solidFill>
                  <a:srgbClr val="123D30"/>
                </a:solidFill>
                <a:latin typeface="Georgia"/>
              </a:rPr>
              <a:t>The money path, Halqa is not in it</a:t>
            </a:r>
          </a:p>
        </p:txBody>
      </p:sp>
      <p:sp>
        <p:nvSpPr>
          <p:cNvPr id="21" name="TextBox 20"/>
          <p:cNvSpPr txBox="1"/>
          <p:nvPr/>
        </p:nvSpPr>
        <p:spPr>
          <a:xfrm>
            <a:off x="566928" y="3931920"/>
            <a:ext cx="5486400" cy="914400"/>
          </a:xfrm>
          <a:prstGeom prst="rect">
            <a:avLst/>
          </a:prstGeom>
          <a:noFill/>
        </p:spPr>
        <p:txBody>
          <a:bodyPr wrap="square" lIns="0" rIns="0" tIns="0" bIns="0" anchor="t">
            <a:spAutoFit/>
          </a:bodyPr>
          <a:lstStyle/>
          <a:p>
            <a:pPr algn="l">
              <a:lnSpc>
                <a:spcPct val="118000"/>
              </a:lnSpc>
              <a:spcAft>
                <a:spcPts val="400"/>
              </a:spcAft>
            </a:pPr>
            <a:r>
              <a:rPr sz="1060" b="0" i="0">
                <a:solidFill>
                  <a:srgbClr val="0E1512"/>
                </a:solidFill>
                <a:latin typeface="Arial"/>
              </a:rPr>
              <a:t>member  →  trustee collection account  →  fund units in the member’s OWN name  →  redemption to the member’s OWN account. Halqa’s registration is an SECP mutual-fund DISTRIBUTOR registration, not EMI (no balances issued), not NBFC (no funds deployed by us). Investment-adviser licensing is avoided by an execution-only menu that recommends nothing.</a:t>
            </a:r>
          </a:p>
        </p:txBody>
      </p:sp>
      <p:sp>
        <p:nvSpPr>
          <p:cNvPr id="22" name="TextBox 21"/>
          <p:cNvSpPr txBox="1"/>
          <p:nvPr/>
        </p:nvSpPr>
        <p:spPr>
          <a:xfrm>
            <a:off x="6419088" y="1426464"/>
            <a:ext cx="5166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5   The custody stack, and who does what</a:t>
            </a:r>
          </a:p>
        </p:txBody>
      </p:sp>
      <p:graphicFrame>
        <p:nvGraphicFramePr>
          <p:cNvPr id="23" name="Table 22"/>
          <p:cNvGraphicFramePr>
            <a:graphicFrameLocks noGrp="1"/>
          </p:cNvGraphicFramePr>
          <p:nvPr/>
        </p:nvGraphicFramePr>
        <p:xfrm>
          <a:off x="6419088" y="1645920"/>
          <a:ext cx="5166358" cy="2532156"/>
        </p:xfrm>
        <a:graphic>
          <a:graphicData uri="http://schemas.openxmlformats.org/drawingml/2006/table">
            <a:tbl>
              <a:tblPr>
                <a:tableStyleId>{5C22544A-7EE6-4342-B048-85BDC9FD1C3A}</a:tableStyleId>
              </a:tblPr>
              <a:tblGrid>
                <a:gridCol w="1446580"/>
                <a:gridCol w="1239926"/>
                <a:gridCol w="2479852"/>
              </a:tblGrid>
              <a:tr h="429036">
                <a:tc>
                  <a:txBody>
                    <a:bodyPr wrap="square"/>
                    <a:lstStyle/>
                    <a:p>
                      <a:pPr algn="l"/>
                      <a:r>
                        <a:rPr sz="919" b="1">
                          <a:solidFill>
                            <a:srgbClr val="F6F1E4"/>
                          </a:solidFill>
                          <a:latin typeface="Arial"/>
                        </a:rPr>
                        <a:t>Layer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Who</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Role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20624">
                <a:tc>
                  <a:txBody>
                    <a:bodyPr wrap="square"/>
                    <a:lstStyle/>
                    <a:p>
                      <a:pPr algn="l"/>
                      <a:r>
                        <a:rPr sz="919" b="0">
                          <a:solidFill>
                            <a:srgbClr val="0E1512"/>
                          </a:solidFill>
                          <a:latin typeface="Arial"/>
                        </a:rPr>
                        <a:t>Trustee / custodian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CDC · DCC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Holds fund assets and retained asset title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20624">
                <a:tc>
                  <a:txBody>
                    <a:bodyPr wrap="square"/>
                    <a:lstStyle/>
                    <a:p>
                      <a:pPr algn="l"/>
                      <a:r>
                        <a:rPr sz="919" b="0">
                          <a:solidFill>
                            <a:srgbClr val="0E1512"/>
                          </a:solidFill>
                          <a:latin typeface="Arial"/>
                        </a:rPr>
                        <a:t>Digital AMC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Mahaana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Manages the fund; deploys under its own licence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20624">
                <a:tc>
                  <a:txBody>
                    <a:bodyPr wrap="square"/>
                    <a:lstStyle/>
                    <a:p>
                      <a:pPr algn="l"/>
                      <a:r>
                        <a:rPr sz="919" b="0">
                          <a:solidFill>
                            <a:srgbClr val="0E1512"/>
                          </a:solidFill>
                          <a:latin typeface="Arial"/>
                        </a:rPr>
                        <a:t>Money-market fund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Al Meezan etc.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Daily-liquidity Islamic instrument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20624">
                <a:tc>
                  <a:txBody>
                    <a:bodyPr wrap="square"/>
                    <a:lstStyle/>
                    <a:p>
                      <a:pPr algn="l"/>
                      <a:r>
                        <a:rPr sz="919" b="0">
                          <a:solidFill>
                            <a:srgbClr val="0E1512"/>
                          </a:solidFill>
                          <a:latin typeface="Arial"/>
                        </a:rPr>
                        <a:t>Distributor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HALQA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Introduces, records; holds nothing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20624">
                <a:tc>
                  <a:txBody>
                    <a:bodyPr wrap="square"/>
                    <a:lstStyle/>
                    <a:p>
                      <a:pPr algn="l"/>
                      <a:r>
                        <a:rPr sz="919" b="0">
                          <a:solidFill>
                            <a:srgbClr val="0E1512"/>
                          </a:solidFill>
                          <a:latin typeface="Arial"/>
                        </a:rPr>
                        <a:t>Bank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 </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None, ever. Only Halqa’s own corporate account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Rectangle 23"/>
          <p:cNvSpPr/>
          <p:nvPr/>
        </p:nvSpPr>
        <p:spPr>
          <a:xfrm>
            <a:off x="6419088" y="4206240"/>
            <a:ext cx="5166360" cy="1847088"/>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0" y="4315968"/>
            <a:ext cx="4892040" cy="173736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Why no bank, ever (chairman directive, 28 July). Under the NBFC Regulations 2008 every regulated mutual fund’s assets already sit with a trustee, the bank adds nothing but custody optics and a dependency. Bureau access likewise needs no bank: TASDEEQ ingests non-financial “alternative data” (telcos, utilities), so Halqa can join as a contributor directly (§V). The only bank account anywhere in the plan is Halqa’s own operating account at Gate 1, which is not a partnership.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 · THE PLATFORM</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products, and how they relate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Every product is the same machine with different settings, and all of them reduce to a single risk primitive, the forward liability L(k) = c×(n−k), what a member still owes the group at the moment they collect.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12</a:t>
            </a:r>
          </a:p>
        </p:txBody>
      </p:sp>
      <p:sp>
        <p:nvSpPr>
          <p:cNvPr id="18" name="TextBox 17"/>
          <p:cNvSpPr txBox="1"/>
          <p:nvPr/>
        </p:nvSpPr>
        <p:spPr>
          <a:xfrm>
            <a:off x="566928" y="151790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6   The products, ranked by where the risk sits</a:t>
            </a:r>
          </a:p>
        </p:txBody>
      </p:sp>
      <p:graphicFrame>
        <p:nvGraphicFramePr>
          <p:cNvPr id="19" name="Table 18"/>
          <p:cNvGraphicFramePr>
            <a:graphicFrameLocks noGrp="1"/>
          </p:cNvGraphicFramePr>
          <p:nvPr/>
        </p:nvGraphicFramePr>
        <p:xfrm>
          <a:off x="566928" y="1737360"/>
          <a:ext cx="11057837" cy="2696016"/>
        </p:xfrm>
        <a:graphic>
          <a:graphicData uri="http://schemas.openxmlformats.org/drawingml/2006/table">
            <a:tbl>
              <a:tblPr>
                <a:tableStyleId>{5C22544A-7EE6-4342-B048-85BDC9FD1C3A}</a:tableStyleId>
              </a:tblPr>
              <a:tblGrid>
                <a:gridCol w="2653881"/>
                <a:gridCol w="1216362"/>
                <a:gridCol w="2653881"/>
                <a:gridCol w="2764459"/>
                <a:gridCol w="1769254"/>
              </a:tblGrid>
              <a:tr h="391728">
                <a:tc>
                  <a:txBody>
                    <a:bodyPr wrap="square"/>
                    <a:lstStyle/>
                    <a:p>
                      <a:pPr algn="l"/>
                      <a:r>
                        <a:rPr sz="919" b="1">
                          <a:solidFill>
                            <a:srgbClr val="F6F1E4"/>
                          </a:solidFill>
                          <a:latin typeface="Arial"/>
                        </a:rPr>
                        <a:t>Product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Cadence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Who it serves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Where the risk is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Stage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84048">
                <a:tc>
                  <a:txBody>
                    <a:bodyPr wrap="square"/>
                    <a:lstStyle/>
                    <a:p>
                      <a:pPr algn="l"/>
                      <a:r>
                        <a:rPr sz="919" b="0">
                          <a:solidFill>
                            <a:srgbClr val="0E1512"/>
                          </a:solidFill>
                          <a:latin typeface="Arial"/>
                        </a:rPr>
                        <a:t>Standard, known (Apna)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Monthly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Both; a real social network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Low; the group bears 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FUNCTIONAL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Standard, open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Monthly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Strangers, score-gated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Priced; cover premium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FUNCTIONAL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Gold-goal / bazaar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Any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The inflation-exposed saver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Price risk to the member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FUNCTIONAL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Asset /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Monthly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The consumer buying a thing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Lowest, title is retained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PARTNER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HYPER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Daily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Daily-wage earners, anonymous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Highest, pledge is collateral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GATE-2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Vault (Growth / Safety / Float)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 </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The saver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None to Halqa, held by trustee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STAGE-2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Rectangle 19"/>
          <p:cNvSpPr/>
          <p:nvPr/>
        </p:nvSpPr>
        <p:spPr>
          <a:xfrm>
            <a:off x="566928" y="4553712"/>
            <a:ext cx="45720" cy="146304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4572000"/>
            <a:ext cx="5212080" cy="1508760"/>
          </a:xfrm>
          <a:prstGeom prst="rect">
            <a:avLst/>
          </a:prstGeom>
          <a:noFill/>
        </p:spPr>
        <p:txBody>
          <a:bodyPr wrap="square" lIns="0" rIns="0" tIns="0" bIns="0" anchor="t">
            <a:spAutoFit/>
          </a:bodyPr>
          <a:lstStyle/>
          <a:p>
            <a:pPr algn="l">
              <a:lnSpc>
                <a:spcPct val="116000"/>
              </a:lnSpc>
              <a:spcAft>
                <a:spcPts val="400"/>
              </a:spcAft>
            </a:pPr>
            <a:r>
              <a:rPr sz="1060" b="0" i="0">
                <a:solidFill>
                  <a:srgbClr val="0E1512"/>
                </a:solidFill>
                <a:latin typeface="Arial"/>
              </a:rPr>
              <a:t>The consumer / saver split (Akif’s instruction). A consumer takes the pot early to spend, high forward liability, so PG enforced, cover premium mandatory, salary anchor, band-and-tenure seat gating, early-seat fee. A saver waits, liability falls to zero, lighter friction, routed to the vault and the AMC. A circle that is all consumers should not be allowed to form: a healthy roster needs late seats people actually want, which the vault’s yield makes possible for the first time.</a:t>
            </a:r>
          </a:p>
        </p:txBody>
      </p:sp>
      <p:sp>
        <p:nvSpPr>
          <p:cNvPr id="22" name="TextBox 21"/>
          <p:cNvSpPr txBox="1"/>
          <p:nvPr/>
        </p:nvSpPr>
        <p:spPr>
          <a:xfrm>
            <a:off x="6419088" y="4553712"/>
            <a:ext cx="51663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One primitive, priced four ways</a:t>
            </a:r>
          </a:p>
        </p:txBody>
      </p:sp>
      <p:sp>
        <p:nvSpPr>
          <p:cNvPr id="23" name="TextBox 22"/>
          <p:cNvSpPr txBox="1"/>
          <p:nvPr/>
        </p:nvSpPr>
        <p:spPr>
          <a:xfrm>
            <a:off x="6419088" y="4882896"/>
            <a:ext cx="5166360" cy="1280160"/>
          </a:xfrm>
          <a:prstGeom prst="rect">
            <a:avLst/>
          </a:prstGeom>
          <a:noFill/>
        </p:spPr>
        <p:txBody>
          <a:bodyPr wrap="square" lIns="0" rIns="0" tIns="0" bIns="0" anchor="t">
            <a:spAutoFit/>
          </a:bodyPr>
          <a:lstStyle/>
          <a:p>
            <a:pPr algn="l">
              <a:lnSpc>
                <a:spcPct val="118000"/>
              </a:lnSpc>
              <a:spcAft>
                <a:spcPts val="400"/>
              </a:spcAft>
            </a:pPr>
            <a:r>
              <a:rPr sz="1060" b="0" i="0">
                <a:solidFill>
                  <a:srgbClr val="0E1512"/>
                </a:solidFill>
                <a:latin typeface="Arial"/>
              </a:rPr>
              <a:t>L(k) is largest at seat 1 (c×(n−1)), falls by exactly one contribution per seat, and is zero at seat n. Because the decline is linear, seat position can be priced, gated by score band, quarantined by tenure, secured by a pledge, or collateralised by a retained asset title, and every control in this deck is one of those five moves on this single number. Nothing is priced by guesswork.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 · THE PLATFORM</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standard committee as a social product</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Before any feature, the reason people use committees at all, taken from thirty field interviews, because the product must serve what the instrument already does, not what a fintech wishes it did.</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13</a:t>
            </a:r>
          </a:p>
        </p:txBody>
      </p:sp>
      <p:sp>
        <p:nvSpPr>
          <p:cNvPr id="18" name="TextBox 17"/>
          <p:cNvSpPr txBox="1"/>
          <p:nvPr/>
        </p:nvSpPr>
        <p:spPr>
          <a:xfrm>
            <a:off x="566928" y="1463040"/>
            <a:ext cx="5486400" cy="365760"/>
          </a:xfrm>
          <a:prstGeom prst="rect">
            <a:avLst/>
          </a:prstGeom>
          <a:noFill/>
        </p:spPr>
        <p:txBody>
          <a:bodyPr wrap="square" lIns="0" rIns="0" tIns="0" bIns="0">
            <a:spAutoFit/>
          </a:bodyPr>
          <a:lstStyle/>
          <a:p>
            <a:pPr>
              <a:lnSpc>
                <a:spcPct val="112000"/>
              </a:lnSpc>
              <a:spcAft>
                <a:spcPts val="600"/>
              </a:spcAft>
            </a:pPr>
            <a:r>
              <a:rPr sz="1050" b="1">
                <a:solidFill>
                  <a:srgbClr val="D9A93C"/>
                </a:solidFill>
                <a:latin typeface="Georgia"/>
              </a:rPr>
              <a:t>|  </a:t>
            </a:r>
            <a:r>
              <a:rPr sz="1050" b="1">
                <a:solidFill>
                  <a:srgbClr val="123D30"/>
                </a:solidFill>
                <a:latin typeface="Arial"/>
              </a:rPr>
              <a:t>It protects money from relatives, not only from yourself  </a:t>
            </a:r>
            <a:r>
              <a:rPr sz="1050">
                <a:solidFill>
                  <a:srgbClr val="0E1512"/>
                </a:solidFill>
                <a:latin typeface="Arial"/>
              </a:rPr>
              <a:t>“when the money is in someone else’s possession, people cannot ask for it.” Locked-and-visibly-locked is a feature people buy.</a:t>
            </a:r>
          </a:p>
          <a:p>
            <a:pPr>
              <a:lnSpc>
                <a:spcPct val="112000"/>
              </a:lnSpc>
              <a:spcAft>
                <a:spcPts val="600"/>
              </a:spcAft>
            </a:pPr>
            <a:r>
              <a:rPr sz="1050" b="1">
                <a:solidFill>
                  <a:srgbClr val="D9A93C"/>
                </a:solidFill>
                <a:latin typeface="Georgia"/>
              </a:rPr>
              <a:t>|  </a:t>
            </a:r>
            <a:r>
              <a:rPr sz="1050" b="1">
                <a:solidFill>
                  <a:srgbClr val="123D30"/>
                </a:solidFill>
                <a:latin typeface="Arial"/>
              </a:rPr>
              <a:t>The committee outranks rent  </a:t>
            </a:r>
            <a:r>
              <a:rPr sz="1050">
                <a:solidFill>
                  <a:srgbClr val="0E1512"/>
                </a:solidFill>
                <a:latin typeface="Arial"/>
              </a:rPr>
              <a:t>“we can compromise on rent or bills, but the committee installment should not be missed.” So its record is the hardest repayment signal a household owns.</a:t>
            </a:r>
          </a:p>
          <a:p>
            <a:pPr>
              <a:lnSpc>
                <a:spcPct val="112000"/>
              </a:lnSpc>
              <a:spcAft>
                <a:spcPts val="600"/>
              </a:spcAft>
            </a:pPr>
            <a:r>
              <a:rPr sz="1050" b="1">
                <a:solidFill>
                  <a:srgbClr val="D9A93C"/>
                </a:solidFill>
                <a:latin typeface="Georgia"/>
              </a:rPr>
              <a:t>|  </a:t>
            </a:r>
            <a:r>
              <a:rPr sz="1050" b="1">
                <a:solidFill>
                  <a:srgbClr val="123D30"/>
                </a:solidFill>
                <a:latin typeface="Arial"/>
              </a:rPr>
              <a:t>The organiser is guarantor of last resort  </a:t>
            </a:r>
            <a:r>
              <a:rPr sz="1050">
                <a:solidFill>
                  <a:srgbClr val="0E1512"/>
                </a:solidFill>
                <a:latin typeface="Arial"/>
              </a:rPr>
              <a:t>whoever selects the members bears the loss, the main reason members feel safe.</a:t>
            </a:r>
          </a:p>
          <a:p>
            <a:pPr>
              <a:lnSpc>
                <a:spcPct val="112000"/>
              </a:lnSpc>
              <a:spcAft>
                <a:spcPts val="600"/>
              </a:spcAft>
            </a:pPr>
            <a:r>
              <a:rPr sz="1050" b="1">
                <a:solidFill>
                  <a:srgbClr val="D9A93C"/>
                </a:solidFill>
                <a:latin typeface="Georgia"/>
              </a:rPr>
              <a:t>|  </a:t>
            </a:r>
            <a:r>
              <a:rPr sz="1050" b="1">
                <a:solidFill>
                  <a:srgbClr val="123D30"/>
                </a:solidFill>
                <a:latin typeface="Arial"/>
              </a:rPr>
              <a:t>Locality is the fraud control  </a:t>
            </a:r>
            <a:r>
              <a:rPr sz="1050">
                <a:solidFill>
                  <a:srgbClr val="0E1512"/>
                </a:solidFill>
                <a:latin typeface="Arial"/>
              </a:rPr>
              <a:t>members assess traceability, not character: “his house and shop are here.”</a:t>
            </a:r>
          </a:p>
          <a:p>
            <a:pPr>
              <a:lnSpc>
                <a:spcPct val="112000"/>
              </a:lnSpc>
              <a:spcAft>
                <a:spcPts val="600"/>
              </a:spcAft>
            </a:pPr>
            <a:r>
              <a:rPr sz="1050" b="1">
                <a:solidFill>
                  <a:srgbClr val="D9A93C"/>
                </a:solidFill>
                <a:latin typeface="Georgia"/>
              </a:rPr>
              <a:t>|  </a:t>
            </a:r>
            <a:r>
              <a:rPr sz="1050" b="1">
                <a:solidFill>
                  <a:srgbClr val="123D30"/>
                </a:solidFill>
                <a:latin typeface="Arial"/>
              </a:rPr>
              <a:t>Privacy anxiety is real  </a:t>
            </a:r>
            <a:r>
              <a:rPr sz="1050">
                <a:solidFill>
                  <a:srgbClr val="0E1512"/>
                </a:solidFill>
                <a:latin typeface="Arial"/>
              </a:rPr>
              <a:t>fear of carrying the pot home and of neighbours knowing it arrived; digital settlement solves both, free.</a:t>
            </a:r>
          </a:p>
        </p:txBody>
      </p:sp>
      <p:sp>
        <p:nvSpPr>
          <p:cNvPr id="19" name="TextBox 18"/>
          <p:cNvSpPr txBox="1"/>
          <p:nvPr/>
        </p:nvSpPr>
        <p:spPr>
          <a:xfrm>
            <a:off x="6419088" y="1426464"/>
            <a:ext cx="5166360" cy="274320"/>
          </a:xfrm>
          <a:prstGeom prst="rect">
            <a:avLst/>
          </a:prstGeom>
          <a:noFill/>
        </p:spPr>
        <p:txBody>
          <a:bodyPr wrap="square" lIns="0" rIns="0" tIns="0" bIns="0" anchor="t">
            <a:spAutoFit/>
          </a:bodyPr>
          <a:lstStyle/>
          <a:p>
            <a:pPr algn="l">
              <a:lnSpc>
                <a:spcPct val="100000"/>
              </a:lnSpc>
              <a:spcAft>
                <a:spcPts val="400"/>
              </a:spcAft>
            </a:pPr>
            <a:r>
              <a:rPr sz="1250" b="0" i="0">
                <a:solidFill>
                  <a:srgbClr val="123D30"/>
                </a:solidFill>
                <a:latin typeface="Georgia"/>
              </a:rPr>
              <a:t>What that dictates for the build</a:t>
            </a:r>
          </a:p>
        </p:txBody>
      </p:sp>
      <p:sp>
        <p:nvSpPr>
          <p:cNvPr id="20" name="TextBox 19"/>
          <p:cNvSpPr txBox="1"/>
          <p:nvPr/>
        </p:nvSpPr>
        <p:spPr>
          <a:xfrm>
            <a:off x="6419088" y="1773936"/>
            <a:ext cx="5166360" cy="365760"/>
          </a:xfrm>
          <a:prstGeom prst="rect">
            <a:avLst/>
          </a:prstGeom>
          <a:noFill/>
        </p:spPr>
        <p:txBody>
          <a:bodyPr wrap="square" lIns="0" rIns="0" tIns="0" bIns="0">
            <a:spAutoFit/>
          </a:bodyPr>
          <a:lstStyle/>
          <a:p>
            <a:pPr>
              <a:lnSpc>
                <a:spcPct val="112000"/>
              </a:lnSpc>
              <a:spcAft>
                <a:spcPts val="600"/>
              </a:spcAft>
            </a:pPr>
            <a:r>
              <a:rPr sz="1040" b="1">
                <a:solidFill>
                  <a:srgbClr val="D9A93C"/>
                </a:solidFill>
                <a:latin typeface="Georgia"/>
              </a:rPr>
              <a:t>|  </a:t>
            </a:r>
            <a:r>
              <a:rPr sz="1040" b="1">
                <a:solidFill>
                  <a:srgbClr val="123D30"/>
                </a:solidFill>
                <a:latin typeface="Arial"/>
              </a:rPr>
              <a:t>Keep the instrument intact  </a:t>
            </a:r>
            <a:r>
              <a:rPr sz="1040">
                <a:solidFill>
                  <a:srgbClr val="0E1512"/>
                </a:solidFill>
                <a:latin typeface="Arial"/>
              </a:rPr>
              <a:t>no rotation removed, no interest added, no holiday.</a:t>
            </a:r>
          </a:p>
          <a:p>
            <a:pPr>
              <a:lnSpc>
                <a:spcPct val="112000"/>
              </a:lnSpc>
              <a:spcAft>
                <a:spcPts val="600"/>
              </a:spcAft>
            </a:pPr>
            <a:r>
              <a:rPr sz="1040" b="1">
                <a:solidFill>
                  <a:srgbClr val="D9A93C"/>
                </a:solidFill>
                <a:latin typeface="Georgia"/>
              </a:rPr>
              <a:t>|  </a:t>
            </a:r>
            <a:r>
              <a:rPr sz="1040" b="1">
                <a:solidFill>
                  <a:srgbClr val="123D30"/>
                </a:solidFill>
                <a:latin typeface="Arial"/>
              </a:rPr>
              <a:t>Digitise the register, settle the money  </a:t>
            </a:r>
            <a:r>
              <a:rPr sz="1040">
                <a:solidFill>
                  <a:srgbClr val="0E1512"/>
                </a:solidFill>
                <a:latin typeface="Arial"/>
              </a:rPr>
              <a:t>assert nothing; settlement is what makes the record a credit asset.</a:t>
            </a:r>
          </a:p>
          <a:p>
            <a:pPr>
              <a:lnSpc>
                <a:spcPct val="112000"/>
              </a:lnSpc>
              <a:spcAft>
                <a:spcPts val="600"/>
              </a:spcAft>
            </a:pPr>
            <a:r>
              <a:rPr sz="1040" b="1">
                <a:solidFill>
                  <a:srgbClr val="D9A93C"/>
                </a:solidFill>
                <a:latin typeface="Georgia"/>
              </a:rPr>
              <a:t>|  </a:t>
            </a:r>
            <a:r>
              <a:rPr sz="1040" b="1">
                <a:solidFill>
                  <a:srgbClr val="123D30"/>
                </a:solidFill>
                <a:latin typeface="Arial"/>
              </a:rPr>
              <a:t>Reproduce or replace the organiser guarantee  </a:t>
            </a:r>
            <a:r>
              <a:rPr sz="1040">
                <a:solidFill>
                  <a:srgbClr val="0E1512"/>
                </a:solidFill>
                <a:latin typeface="Arial"/>
              </a:rPr>
              <a:t>either the cover facility does it, or seat arithmetic does, stated plainly, never left silent.</a:t>
            </a:r>
          </a:p>
          <a:p>
            <a:pPr>
              <a:lnSpc>
                <a:spcPct val="112000"/>
              </a:lnSpc>
              <a:spcAft>
                <a:spcPts val="600"/>
              </a:spcAft>
            </a:pPr>
            <a:r>
              <a:rPr sz="1040" b="1">
                <a:solidFill>
                  <a:srgbClr val="D9A93C"/>
                </a:solidFill>
                <a:latin typeface="Georgia"/>
              </a:rPr>
              <a:t>|  </a:t>
            </a:r>
            <a:r>
              <a:rPr sz="1040" b="1">
                <a:solidFill>
                  <a:srgbClr val="123D30"/>
                </a:solidFill>
                <a:latin typeface="Arial"/>
              </a:rPr>
              <a:t>Keep the ceremony  </a:t>
            </a:r>
            <a:r>
              <a:rPr sz="1040">
                <a:solidFill>
                  <a:srgbClr val="0E1512"/>
                </a:solidFill>
                <a:latin typeface="Arial"/>
              </a:rPr>
              <a:t>the parchi draw becomes a verifiable commit-reveal, not a black box.</a:t>
            </a:r>
          </a:p>
          <a:p>
            <a:pPr>
              <a:lnSpc>
                <a:spcPct val="112000"/>
              </a:lnSpc>
              <a:spcAft>
                <a:spcPts val="600"/>
              </a:spcAft>
            </a:pPr>
            <a:r>
              <a:rPr sz="1040" b="1">
                <a:solidFill>
                  <a:srgbClr val="D9A93C"/>
                </a:solidFill>
                <a:latin typeface="Georgia"/>
              </a:rPr>
              <a:t>|  </a:t>
            </a:r>
            <a:r>
              <a:rPr sz="1040" b="1">
                <a:solidFill>
                  <a:srgbClr val="123D30"/>
                </a:solidFill>
                <a:latin typeface="Arial"/>
              </a:rPr>
              <a:t>Honour the conventions  </a:t>
            </a:r>
            <a:r>
              <a:rPr sz="1040">
                <a:solidFill>
                  <a:srgbClr val="0E1512"/>
                </a:solidFill>
                <a:latin typeface="Arial"/>
              </a:rPr>
              <a:t>emergency turn swaps, Ramzan pause or double-month, the death convention.</a:t>
            </a:r>
          </a:p>
        </p:txBody>
      </p:sp>
      <p:sp>
        <p:nvSpPr>
          <p:cNvPr id="21" name="TextBox 20"/>
          <p:cNvSpPr txBox="1"/>
          <p:nvPr/>
        </p:nvSpPr>
        <p:spPr>
          <a:xfrm>
            <a:off x="6419088" y="594360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Source: Kamran (2017), 30 unbanked informants, Jyväskylä; and the committee dossier field research. reported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D9A93C"/>
                </a:solidFill>
                <a:latin typeface="Georgia"/>
              </a:rPr>
              <a:t>III</a:t>
            </a:r>
          </a:p>
        </p:txBody>
      </p:sp>
      <p:sp>
        <p:nvSpPr>
          <p:cNvPr id="5" name="TextBox 4"/>
          <p:cNvSpPr txBox="1"/>
          <p:nvPr/>
        </p:nvSpPr>
        <p:spPr>
          <a:xfrm>
            <a:off x="2468880" y="2359152"/>
            <a:ext cx="8595360" cy="731520"/>
          </a:xfrm>
          <a:prstGeom prst="rect">
            <a:avLst/>
          </a:prstGeom>
          <a:noFill/>
        </p:spPr>
        <p:txBody>
          <a:bodyPr wrap="square" lIns="0" rIns="0" tIns="0" bIns="0" anchor="t">
            <a:spAutoFit/>
          </a:bodyPr>
          <a:lstStyle/>
          <a:p>
            <a:pPr algn="l">
              <a:lnSpc>
                <a:spcPct val="100000"/>
              </a:lnSpc>
              <a:spcAft>
                <a:spcPts val="400"/>
              </a:spcAft>
            </a:pPr>
            <a:r>
              <a:rPr sz="3000" b="0" i="0">
                <a:solidFill>
                  <a:srgbClr val="F6F1E4"/>
                </a:solidFill>
                <a:latin typeface="Georgia"/>
              </a:rPr>
              <a:t>The circle types, in full</a:t>
            </a:r>
          </a:p>
        </p:txBody>
      </p:sp>
      <p:cxnSp>
        <p:nvCxnSpPr>
          <p:cNvPr id="6" name="Connector 5"/>
          <p:cNvCxnSpPr/>
          <p:nvPr/>
        </p:nvCxnSpPr>
        <p:spPr>
          <a:xfrm>
            <a:off x="2542032"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3101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941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782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622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03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44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98464"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42032" y="3310128"/>
            <a:ext cx="7680960" cy="1463040"/>
          </a:xfrm>
          <a:prstGeom prst="rect">
            <a:avLst/>
          </a:prstGeom>
          <a:noFill/>
        </p:spPr>
        <p:txBody>
          <a:bodyPr wrap="square" lIns="0" rIns="0" tIns="0" bIns="0" anchor="t">
            <a:spAutoFit/>
          </a:bodyPr>
          <a:lstStyle/>
          <a:p>
            <a:pPr algn="l">
              <a:lnSpc>
                <a:spcPct val="112000"/>
              </a:lnSpc>
              <a:spcAft>
                <a:spcPts val="600"/>
              </a:spcAft>
            </a:pPr>
            <a:r>
              <a:rPr sz="1220" b="0" i="0">
                <a:solidFill>
                  <a:srgbClr val="C8D4CC"/>
                </a:solidFill>
                <a:latin typeface="Arial"/>
              </a:rPr>
              <a:t>One machine, many settings. Every type shares the lifecycle, the ledger,</a:t>
            </a:r>
          </a:p>
          <a:p>
            <a:pPr algn="l">
              <a:lnSpc>
                <a:spcPct val="112000"/>
              </a:lnSpc>
              <a:spcAft>
                <a:spcPts val="600"/>
              </a:spcAft>
            </a:pPr>
            <a:r>
              <a:rPr sz="1220" b="0" i="0">
                <a:solidFill>
                  <a:srgbClr val="C8D4CC"/>
                </a:solidFill>
                <a:latin typeface="Arial"/>
              </a:rPr>
              <a:t>auto-collection and identity; they differ only in who carries the forward liability</a:t>
            </a:r>
          </a:p>
          <a:p>
            <a:pPr algn="l">
              <a:lnSpc>
                <a:spcPct val="112000"/>
              </a:lnSpc>
              <a:spcAft>
                <a:spcPts val="600"/>
              </a:spcAft>
            </a:pPr>
            <a:r>
              <a:rPr sz="1220" b="0" i="0">
                <a:solidFill>
                  <a:srgbClr val="C8D4CC"/>
                </a:solidFill>
                <a:latin typeface="Arial"/>
              </a:rPr>
              <a:t>and what stands behind it, the group, a priced premium, a pledge, or a retained title.</a:t>
            </a:r>
          </a:p>
          <a:p>
            <a:pPr algn="l">
              <a:lnSpc>
                <a:spcPct val="112000"/>
              </a:lnSpc>
              <a:spcAft>
                <a:spcPts val="600"/>
              </a:spcAft>
            </a:pPr>
            <a:r>
              <a:rPr sz="1220" b="0" i="0">
                <a:solidFill>
                  <a:srgbClr val="C8D4CC"/>
                </a:solidFill>
                <a:latin typeface="Arial"/>
              </a:rPr>
              <a:t>HYPER is set out with its pricing model and its mass-default model in full.</a:t>
            </a:r>
          </a:p>
        </p:txBody>
      </p:sp>
      <p:cxnSp>
        <p:nvCxnSpPr>
          <p:cNvPr id="17" name="Connector 16"/>
          <p:cNvCxnSpPr/>
          <p:nvPr/>
        </p:nvCxnSpPr>
        <p:spPr>
          <a:xfrm>
            <a:off x="10454335" y="2641701"/>
            <a:ext cx="0" cy="30723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94365" y="2747179"/>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870079" y="3035350"/>
            <a:ext cx="266076" cy="15362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934395" y="3429000"/>
            <a:ext cx="307238" cy="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870079"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94365" y="3844744"/>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454335" y="3909060"/>
            <a:ext cx="0" cy="307238"/>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060685" y="3844744"/>
            <a:ext cx="153620"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772514"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67036" y="3429000"/>
            <a:ext cx="422453" cy="0"/>
          </a:xfrm>
          <a:prstGeom prst="line">
            <a:avLst/>
          </a:prstGeom>
          <a:ln w="24003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HOW IT WORKS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How a committee works: the lifecycle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Every circle passes through four states. Two operations carry the legal weight: the 24-hour CONFIRMING window (a cooling period), and the atomic Start (one transaction, because turn position is the collateral of the whole model).</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15</a:t>
            </a:r>
          </a:p>
        </p:txBody>
      </p:sp>
      <p:sp>
        <p:nvSpPr>
          <p:cNvPr id="18" name="TextBox 17"/>
          <p:cNvSpPr txBox="1"/>
          <p:nvPr/>
        </p:nvSpPr>
        <p:spPr>
          <a:xfrm>
            <a:off x="566928" y="1389888"/>
            <a:ext cx="649224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7   The four states, and what is true in each</a:t>
            </a:r>
          </a:p>
        </p:txBody>
      </p:sp>
      <p:graphicFrame>
        <p:nvGraphicFramePr>
          <p:cNvPr id="19" name="Table 18"/>
          <p:cNvGraphicFramePr>
            <a:graphicFrameLocks noGrp="1"/>
          </p:cNvGraphicFramePr>
          <p:nvPr/>
        </p:nvGraphicFramePr>
        <p:xfrm>
          <a:off x="566928" y="1591056"/>
          <a:ext cx="6492239" cy="4498482"/>
        </p:xfrm>
        <a:graphic>
          <a:graphicData uri="http://schemas.openxmlformats.org/drawingml/2006/table">
            <a:tbl>
              <a:tblPr>
                <a:tableStyleId>{5C22544A-7EE6-4342-B048-85BDC9FD1C3A}</a:tableStyleId>
              </a:tblPr>
              <a:tblGrid>
                <a:gridCol w="1168603"/>
                <a:gridCol w="4155033"/>
                <a:gridCol w="1168603"/>
              </a:tblGrid>
              <a:tr h="914034">
                <a:tc>
                  <a:txBody>
                    <a:bodyPr wrap="square"/>
                    <a:lstStyle/>
                    <a:p>
                      <a:pPr algn="l"/>
                      <a:r>
                        <a:rPr sz="919" b="1">
                          <a:solidFill>
                            <a:srgbClr val="F6F1E4"/>
                          </a:solidFill>
                          <a:latin typeface="Arial"/>
                        </a:rPr>
                        <a:t>State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What is true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Ends by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896112">
                <a:tc>
                  <a:txBody>
                    <a:bodyPr wrap="square"/>
                    <a:lstStyle/>
                    <a:p>
                      <a:pPr algn="l"/>
                      <a:r>
                        <a:rPr sz="900" b="0">
                          <a:solidFill>
                            <a:srgbClr val="0E1512"/>
                          </a:solidFill>
                          <a:latin typeface="Arial"/>
                        </a:rPr>
                        <a:t>FORMING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Join by invite code up to the cap. Nothing committed; anyone may leave; no money has moved. Pick-your-slot: the slot map shows only band- and tenure-eligible free seats, and a claimed seat is permanent.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Host presses Start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896112">
                <a:tc>
                  <a:txBody>
                    <a:bodyPr wrap="square"/>
                    <a:lstStyle/>
                    <a:p>
                      <a:pPr algn="l"/>
                      <a:r>
                        <a:rPr sz="900" b="0">
                          <a:solidFill>
                            <a:srgbClr val="0E1512"/>
                          </a:solidFill>
                          <a:latin typeface="Arial"/>
                        </a:rPr>
                        <a:t>CONFIRMING (BUILD)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24 hours after Start. Roster locks to new joiners; any member may withdraw free, silent, unrecorded; agreements sign here; everyone sees the final roster, seat order, and their own forward obligation in rupees.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24h elapse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896112">
                <a:tc>
                  <a:txBody>
                    <a:bodyPr wrap="square"/>
                    <a:lstStyle/>
                    <a:p>
                      <a:pPr algn="l"/>
                      <a:r>
                        <a:rPr sz="900" b="0">
                          <a:solidFill>
                            <a:srgbClr val="0E1512"/>
                          </a:solidFill>
                          <a:latin typeface="Arial"/>
                        </a:rPr>
                        <a:t>ACTIVE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Turn order frozen; every round created with dates; round 1 open. Joining refused. Each round members pay, the payout releases, the circle advances.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Final round settles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896112">
                <a:tc>
                  <a:txBody>
                    <a:bodyPr wrap="square"/>
                    <a:lstStyle/>
                    <a:p>
                      <a:pPr algn="l"/>
                      <a:r>
                        <a:rPr sz="900" b="0">
                          <a:solidFill>
                            <a:srgbClr val="0E1512"/>
                          </a:solidFill>
                          <a:latin typeface="Arial"/>
                        </a:rPr>
                        <a:t>COMPLETED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Everyone paid identically and collected once. A clean completion raises the credit score and counts toward unlocking earlier turns next cycle.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 </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7287768" y="1389888"/>
            <a:ext cx="4251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engineering that protects the seat</a:t>
            </a:r>
          </a:p>
        </p:txBody>
      </p:sp>
      <p:sp>
        <p:nvSpPr>
          <p:cNvPr id="21" name="TextBox 20"/>
          <p:cNvSpPr txBox="1"/>
          <p:nvPr/>
        </p:nvSpPr>
        <p:spPr>
          <a:xfrm>
            <a:off x="7287768" y="1700784"/>
            <a:ext cx="4251960" cy="365760"/>
          </a:xfrm>
          <a:prstGeom prst="rect">
            <a:avLst/>
          </a:prstGeom>
          <a:noFill/>
        </p:spPr>
        <p:txBody>
          <a:bodyPr wrap="square" lIns="0" rIns="0" tIns="0" bIns="0">
            <a:spAutoFit/>
          </a:bodyPr>
          <a:lstStyle/>
          <a:p>
            <a:pPr>
              <a:lnSpc>
                <a:spcPct val="108000"/>
              </a:lnSpc>
              <a:spcAft>
                <a:spcPts val="600"/>
              </a:spcAft>
            </a:pPr>
            <a:r>
              <a:rPr sz="960" b="1">
                <a:solidFill>
                  <a:srgbClr val="D9A93C"/>
                </a:solidFill>
                <a:latin typeface="Georgia"/>
              </a:rPr>
              <a:t>|  </a:t>
            </a:r>
            <a:r>
              <a:rPr sz="960" b="1">
                <a:solidFill>
                  <a:srgbClr val="123D30"/>
                </a:solidFill>
                <a:latin typeface="Arial"/>
              </a:rPr>
              <a:t>Start is one atomic write  </a:t>
            </a:r>
            <a:r>
              <a:rPr sz="960">
                <a:solidFill>
                  <a:srgbClr val="0E1512"/>
                </a:solidFill>
                <a:latin typeface="Arial"/>
              </a:rPr>
              <a:t>seat order frozen, every round created, round-1 installments generated, status flipped, all inside one DB transaction (budget 25s across the pooler). A half-applied start would leave the collateral disputable.</a:t>
            </a:r>
          </a:p>
          <a:p>
            <a:pPr>
              <a:lnSpc>
                <a:spcPct val="108000"/>
              </a:lnSpc>
              <a:spcAft>
                <a:spcPts val="600"/>
              </a:spcAft>
            </a:pPr>
            <a:r>
              <a:rPr sz="960" b="1">
                <a:solidFill>
                  <a:srgbClr val="D9A93C"/>
                </a:solidFill>
                <a:latin typeface="Georgia"/>
              </a:rPr>
              <a:t>|  </a:t>
            </a:r>
            <a:r>
              <a:rPr sz="960" b="1">
                <a:solidFill>
                  <a:srgbClr val="123D30"/>
                </a:solidFill>
                <a:latin typeface="Arial"/>
              </a:rPr>
              <a:t>Compaction  </a:t>
            </a:r>
            <a:r>
              <a:rPr sz="960">
                <a:solidFill>
                  <a:srgbClr val="0E1512"/>
                </a:solidFill>
                <a:latin typeface="Arial"/>
              </a:rPr>
              <a:t>if a circle starts under capacity, seats compact by band, then chosen seat, then join time, so the eligibility guarantee holds against the actual size, not the cap.</a:t>
            </a:r>
          </a:p>
          <a:p>
            <a:pPr>
              <a:lnSpc>
                <a:spcPct val="108000"/>
              </a:lnSpc>
              <a:spcAft>
                <a:spcPts val="600"/>
              </a:spcAft>
            </a:pPr>
            <a:r>
              <a:rPr sz="960" b="1">
                <a:solidFill>
                  <a:srgbClr val="D9A93C"/>
                </a:solidFill>
                <a:latin typeface="Georgia"/>
              </a:rPr>
              <a:t>|  </a:t>
            </a:r>
            <a:r>
              <a:rPr sz="960" b="1">
                <a:solidFill>
                  <a:srgbClr val="123D30"/>
                </a:solidFill>
                <a:latin typeface="Arial"/>
              </a:rPr>
              <a:t>The 24h window has a precedent  </a:t>
            </a:r>
            <a:r>
              <a:rPr sz="960">
                <a:solidFill>
                  <a:srgbClr val="0E1512"/>
                </a:solidFill>
                <a:latin typeface="Arial"/>
              </a:rPr>
              <a:t>SBP already mandates a 2-hour cooling period on branchless-banking cash-outs (April 2023). We give twelve times that on a twelve-month commitment.</a:t>
            </a:r>
          </a:p>
          <a:p>
            <a:pPr>
              <a:lnSpc>
                <a:spcPct val="108000"/>
              </a:lnSpc>
              <a:spcAft>
                <a:spcPts val="600"/>
              </a:spcAft>
            </a:pPr>
            <a:r>
              <a:rPr sz="960" b="1">
                <a:solidFill>
                  <a:srgbClr val="D9A93C"/>
                </a:solidFill>
                <a:latin typeface="Georgia"/>
              </a:rPr>
              <a:t>|  </a:t>
            </a:r>
            <a:r>
              <a:rPr sz="960" b="1">
                <a:solidFill>
                  <a:srgbClr val="123D30"/>
                </a:solidFill>
                <a:latin typeface="Arial"/>
              </a:rPr>
              <a:t>Variants  </a:t>
            </a:r>
            <a:r>
              <a:rPr sz="960">
                <a:solidFill>
                  <a:srgbClr val="0E1512"/>
                </a:solidFill>
                <a:latin typeface="Arial"/>
              </a:rPr>
              <a:t>daily circles (&lt;7 days run as plain rotations), mega circles up to 150 members (period ≤30d above 30 members), and goal circles (goalType / goalName / goalTarget).</a:t>
            </a:r>
          </a:p>
        </p:txBody>
      </p:sp>
      <p:sp>
        <p:nvSpPr>
          <p:cNvPr id="22" name="TextBox 21"/>
          <p:cNvSpPr txBox="1"/>
          <p:nvPr/>
        </p:nvSpPr>
        <p:spPr>
          <a:xfrm>
            <a:off x="566928" y="6272784"/>
            <a:ext cx="649224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CONFIRMING is a BUILD item, first on the discipline-layer order; the other three states are FUNCTIONAL and live in production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HOW IT WORKS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regular committee, on the member phone</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16</a:t>
            </a:r>
          </a:p>
        </p:txBody>
      </p:sp>
      <p:sp>
        <p:nvSpPr>
          <p:cNvPr id="17" name="Rectangle 16"/>
          <p:cNvSpPr/>
          <p:nvPr/>
        </p:nvSpPr>
        <p:spPr>
          <a:xfrm>
            <a:off x="649224" y="1362456"/>
            <a:ext cx="2285761" cy="4818888"/>
          </a:xfrm>
          <a:prstGeom prst="rect">
            <a:avLst/>
          </a:prstGeom>
          <a:solidFill>
            <a:srgbClr val="123D30"/>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01-home.png"/>
          <p:cNvPicPr>
            <a:picLocks noChangeAspect="1"/>
          </p:cNvPicPr>
          <p:nvPr/>
        </p:nvPicPr>
        <p:blipFill>
          <a:blip r:embed="rId2"/>
          <a:stretch>
            <a:fillRect/>
          </a:stretch>
        </p:blipFill>
        <p:spPr>
          <a:xfrm>
            <a:off x="704088" y="1417320"/>
            <a:ext cx="2176033" cy="4709160"/>
          </a:xfrm>
          <a:prstGeom prst="rect">
            <a:avLst/>
          </a:prstGeom>
        </p:spPr>
      </p:pic>
      <p:sp>
        <p:nvSpPr>
          <p:cNvPr id="19" name="TextBox 18"/>
          <p:cNvSpPr txBox="1"/>
          <p:nvPr/>
        </p:nvSpPr>
        <p:spPr>
          <a:xfrm>
            <a:off x="704088" y="6236208"/>
            <a:ext cx="2176033" cy="274320"/>
          </a:xfrm>
          <a:prstGeom prst="rect">
            <a:avLst/>
          </a:prstGeom>
          <a:noFill/>
        </p:spPr>
        <p:txBody>
          <a:bodyPr wrap="square" lIns="0" rIns="0" tIns="0" bIns="0" anchor="t">
            <a:spAutoFit/>
          </a:bodyPr>
          <a:lstStyle/>
          <a:p>
            <a:pPr algn="l">
              <a:lnSpc>
                <a:spcPct val="100000"/>
              </a:lnSpc>
              <a:spcAft>
                <a:spcPts val="400"/>
              </a:spcAft>
            </a:pPr>
            <a:r>
              <a:rPr sz="819" b="0" i="1">
                <a:solidFill>
                  <a:srgbClr val="4C574F"/>
                </a:solidFill>
                <a:latin typeface="Arial"/>
              </a:rPr>
              <a:t>Live production build, halqa-seven.vercel.app</a:t>
            </a:r>
          </a:p>
        </p:txBody>
      </p:sp>
      <p:sp>
        <p:nvSpPr>
          <p:cNvPr id="20" name="TextBox 19"/>
          <p:cNvSpPr txBox="1"/>
          <p:nvPr/>
        </p:nvSpPr>
        <p:spPr>
          <a:xfrm>
            <a:off x="3383041" y="1481328"/>
            <a:ext cx="8241726"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One glance at the whole relationship</a:t>
            </a:r>
          </a:p>
        </p:txBody>
      </p:sp>
      <p:sp>
        <p:nvSpPr>
          <p:cNvPr id="21" name="Rectangle 20"/>
          <p:cNvSpPr/>
          <p:nvPr/>
        </p:nvSpPr>
        <p:spPr>
          <a:xfrm>
            <a:off x="3383041" y="1938528"/>
            <a:ext cx="45720" cy="182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041" y="1975104"/>
            <a:ext cx="8241726" cy="365760"/>
          </a:xfrm>
          <a:prstGeom prst="rect">
            <a:avLst/>
          </a:prstGeom>
          <a:noFill/>
        </p:spPr>
        <p:txBody>
          <a:bodyPr wrap="square" lIns="0" rIns="0" tIns="0" bIns="0">
            <a:spAutoFit/>
          </a:bodyPr>
          <a:lstStyle/>
          <a:p>
            <a:pPr>
              <a:lnSpc>
                <a:spcPct val="112000"/>
              </a:lnSpc>
              <a:spcAft>
                <a:spcPts val="800"/>
              </a:spcAft>
            </a:pPr>
            <a:r>
              <a:rPr sz="1140" b="1">
                <a:solidFill>
                  <a:srgbClr val="D9A93C"/>
                </a:solidFill>
                <a:latin typeface="Georgia"/>
              </a:rPr>
              <a:t>|  </a:t>
            </a:r>
            <a:r>
              <a:rPr sz="1140" b="1">
                <a:solidFill>
                  <a:srgbClr val="123D30"/>
                </a:solidFill>
                <a:latin typeface="Arial"/>
              </a:rPr>
              <a:t>Total recorded  </a:t>
            </a:r>
            <a:r>
              <a:rPr sz="1140">
                <a:solidFill>
                  <a:srgbClr val="0E1512"/>
                </a:solidFill>
                <a:latin typeface="Arial"/>
              </a:rPr>
              <a:t>Rs 140,000 across 12 active committees. Recorded, never held.</a:t>
            </a:r>
          </a:p>
          <a:p>
            <a:pPr>
              <a:lnSpc>
                <a:spcPct val="112000"/>
              </a:lnSpc>
              <a:spcAft>
                <a:spcPts val="800"/>
              </a:spcAft>
            </a:pPr>
            <a:r>
              <a:rPr sz="1140" b="1">
                <a:solidFill>
                  <a:srgbClr val="D9A93C"/>
                </a:solidFill>
                <a:latin typeface="Georgia"/>
              </a:rPr>
              <a:t>|  </a:t>
            </a:r>
            <a:r>
              <a:rPr sz="1140" b="1">
                <a:solidFill>
                  <a:srgbClr val="123D30"/>
                </a:solidFill>
                <a:latin typeface="Arial"/>
              </a:rPr>
              <a:t>Next installment and credit score  </a:t>
            </a:r>
            <a:r>
              <a:rPr sz="1140">
                <a:solidFill>
                  <a:srgbClr val="0E1512"/>
                </a:solidFill>
                <a:latin typeface="Arial"/>
              </a:rPr>
              <a:t>Nothing due, and a live score of 804, side by side, so the member sees obligation and standing together.</a:t>
            </a:r>
          </a:p>
          <a:p>
            <a:pPr>
              <a:lnSpc>
                <a:spcPct val="112000"/>
              </a:lnSpc>
              <a:spcAft>
                <a:spcPts val="800"/>
              </a:spcAft>
            </a:pPr>
            <a:r>
              <a:rPr sz="1140" b="1">
                <a:solidFill>
                  <a:srgbClr val="D9A93C"/>
                </a:solidFill>
                <a:latin typeface="Georgia"/>
              </a:rPr>
              <a:t>|  </a:t>
            </a:r>
            <a:r>
              <a:rPr sz="1140" b="1">
                <a:solidFill>
                  <a:srgbClr val="123D30"/>
                </a:solidFill>
                <a:latin typeface="Arial"/>
              </a:rPr>
              <a:t>Quick actions  </a:t>
            </a:r>
            <a:r>
              <a:rPr sz="1140">
                <a:solidFill>
                  <a:srgbClr val="0E1512"/>
                </a:solidFill>
                <a:latin typeface="Arial"/>
              </a:rPr>
              <a:t>Pay now, Join circle, HYPER, Auto-debit, Cards, Receipts, Credit score, Rewards, the whole product one tap away.</a:t>
            </a:r>
          </a:p>
          <a:p>
            <a:pPr>
              <a:lnSpc>
                <a:spcPct val="112000"/>
              </a:lnSpc>
              <a:spcAft>
                <a:spcPts val="800"/>
              </a:spcAft>
            </a:pPr>
            <a:r>
              <a:rPr sz="1140" b="1">
                <a:solidFill>
                  <a:srgbClr val="D9A93C"/>
                </a:solidFill>
                <a:latin typeface="Georgia"/>
              </a:rPr>
              <a:t>|  </a:t>
            </a:r>
            <a:r>
              <a:rPr sz="1140" b="1">
                <a:solidFill>
                  <a:srgbClr val="123D30"/>
                </a:solidFill>
                <a:latin typeface="Arial"/>
              </a:rPr>
              <a:t>Your committees  </a:t>
            </a:r>
            <a:r>
              <a:rPr sz="1140">
                <a:solidFill>
                  <a:srgbClr val="0E1512"/>
                </a:solidFill>
                <a:latin typeface="Arial"/>
              </a:rPr>
              <a:t>each card shows installment, members, your turn and round progress; the bottom nav is Home, Committees, Join, Vault, Account.</a:t>
            </a:r>
          </a:p>
          <a:p>
            <a:pPr>
              <a:lnSpc>
                <a:spcPct val="112000"/>
              </a:lnSpc>
              <a:spcAft>
                <a:spcPts val="800"/>
              </a:spcAft>
            </a:pPr>
            <a:r>
              <a:rPr sz="1140" b="1">
                <a:solidFill>
                  <a:srgbClr val="D9A93C"/>
                </a:solidFill>
                <a:latin typeface="Georgia"/>
              </a:rPr>
              <a:t>|  </a:t>
            </a:r>
            <a:r>
              <a:rPr sz="1140" b="1">
                <a:solidFill>
                  <a:srgbClr val="123D30"/>
                </a:solidFill>
                <a:latin typeface="Arial"/>
              </a:rPr>
              <a:t>Roman-Urdu greeting  </a:t>
            </a:r>
            <a:r>
              <a:rPr sz="1140">
                <a:solidFill>
                  <a:srgbClr val="0E1512"/>
                </a:solidFill>
                <a:latin typeface="Arial"/>
              </a:rPr>
              <a:t>a rotating regional greeting sits over the name, one of fifteen.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HOW IT WORKS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How it works: collection and the payday engine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most consequential decision in the product, from a chacha saying “I pay as soon as my pay arrives.” The due date stopped being the collection event; payday became it, and the due date is now only the deadline for failures.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17</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mechanism, and the calendar</a:t>
            </a:r>
          </a:p>
        </p:txBody>
      </p:sp>
      <p:sp>
        <p:nvSpPr>
          <p:cNvPr id="19" name="TextBox 18"/>
          <p:cNvSpPr txBox="1"/>
          <p:nvPr/>
        </p:nvSpPr>
        <p:spPr>
          <a:xfrm>
            <a:off x="566928" y="1700784"/>
            <a:ext cx="5486400" cy="365760"/>
          </a:xfrm>
          <a:prstGeom prst="rect">
            <a:avLst/>
          </a:prstGeom>
          <a:noFill/>
        </p:spPr>
        <p:txBody>
          <a:bodyPr wrap="square" lIns="0" rIns="0" tIns="0" bIns="0">
            <a:spAutoFit/>
          </a:bodyPr>
          <a:lstStyle/>
          <a:p>
            <a:pPr>
              <a:lnSpc>
                <a:spcPct val="108000"/>
              </a:lnSpc>
              <a:spcAft>
                <a:spcPts val="500"/>
              </a:spcAft>
            </a:pPr>
            <a:r>
              <a:rPr sz="960" b="1">
                <a:solidFill>
                  <a:srgbClr val="D9A93C"/>
                </a:solidFill>
                <a:latin typeface="Georgia"/>
              </a:rPr>
              <a:t>|  </a:t>
            </a:r>
            <a:r>
              <a:rPr sz="960" b="1">
                <a:solidFill>
                  <a:srgbClr val="123D30"/>
                </a:solidFill>
                <a:latin typeface="Arial"/>
              </a:rPr>
              <a:t>Payday eve  </a:t>
            </a:r>
            <a:r>
              <a:rPr sz="960">
                <a:solidFill>
                  <a:srgbClr val="0E1512"/>
                </a:solidFill>
                <a:latin typeface="Arial"/>
              </a:rPr>
              <a:t>balance-check notice, WhatsApp + push (SHIPPED).</a:t>
            </a:r>
          </a:p>
          <a:p>
            <a:pPr>
              <a:lnSpc>
                <a:spcPct val="108000"/>
              </a:lnSpc>
              <a:spcAft>
                <a:spcPts val="500"/>
              </a:spcAft>
            </a:pPr>
            <a:r>
              <a:rPr sz="960" b="1">
                <a:solidFill>
                  <a:srgbClr val="D9A93C"/>
                </a:solidFill>
                <a:latin typeface="Georgia"/>
              </a:rPr>
              <a:t>|  </a:t>
            </a:r>
            <a:r>
              <a:rPr sz="960" b="1">
                <a:solidFill>
                  <a:srgbClr val="123D30"/>
                </a:solidFill>
                <a:latin typeface="Arial"/>
              </a:rPr>
              <a:t>Payday morning  </a:t>
            </a:r>
            <a:r>
              <a:rPr sz="960">
                <a:solidFill>
                  <a:srgbClr val="0E1512"/>
                </a:solidFill>
                <a:latin typeface="Arial"/>
              </a:rPr>
              <a:t>the mandate executes while the balance is at its monthly maximum, before the installment is even due. Government salaries land on the 1st, private payrolls the 1st-7th.</a:t>
            </a:r>
          </a:p>
          <a:p>
            <a:pPr>
              <a:lnSpc>
                <a:spcPct val="108000"/>
              </a:lnSpc>
              <a:spcAft>
                <a:spcPts val="500"/>
              </a:spcAft>
            </a:pPr>
            <a:r>
              <a:rPr sz="960" b="1">
                <a:solidFill>
                  <a:srgbClr val="D9A93C"/>
                </a:solidFill>
                <a:latin typeface="Georgia"/>
              </a:rPr>
              <a:t>|  </a:t>
            </a:r>
            <a:r>
              <a:rPr sz="960" b="1">
                <a:solidFill>
                  <a:srgbClr val="123D30"/>
                </a:solidFill>
                <a:latin typeface="Arial"/>
              </a:rPr>
              <a:t>Payday → 9th  </a:t>
            </a:r>
            <a:r>
              <a:rPr sz="960">
                <a:solidFill>
                  <a:srgbClr val="0E1512"/>
                </a:solidFill>
                <a:latin typeface="Arial"/>
              </a:rPr>
              <a:t>retry ladder + Raast one-tap request + WhatsApp nudge on each failure. Only if every attempt fails does the member meet the late ladder.</a:t>
            </a:r>
          </a:p>
          <a:p>
            <a:pPr>
              <a:lnSpc>
                <a:spcPct val="108000"/>
              </a:lnSpc>
              <a:spcAft>
                <a:spcPts val="500"/>
              </a:spcAft>
            </a:pPr>
            <a:r>
              <a:rPr sz="960" b="1">
                <a:solidFill>
                  <a:srgbClr val="D9A93C"/>
                </a:solidFill>
                <a:latin typeface="Georgia"/>
              </a:rPr>
              <a:t>|  </a:t>
            </a:r>
            <a:r>
              <a:rPr sz="960" b="1">
                <a:solidFill>
                  <a:srgbClr val="123D30"/>
                </a:solidFill>
                <a:latin typeface="Arial"/>
              </a:rPr>
              <a:t>9th 23:59, then 10th 09:00  </a:t>
            </a:r>
            <a:r>
              <a:rPr sz="960">
                <a:solidFill>
                  <a:srgbClr val="0E1512"/>
                </a:solidFill>
                <a:latin typeface="Arial"/>
              </a:rPr>
              <a:t>final sweep, then a single platform-wide payout release (BUILD), which is what makes one daily trustee sweep possible.</a:t>
            </a:r>
          </a:p>
          <a:p>
            <a:pPr>
              <a:lnSpc>
                <a:spcPct val="108000"/>
              </a:lnSpc>
              <a:spcAft>
                <a:spcPts val="500"/>
              </a:spcAft>
            </a:pPr>
            <a:r>
              <a:rPr sz="960" b="1">
                <a:solidFill>
                  <a:srgbClr val="D9A93C"/>
                </a:solidFill>
                <a:latin typeface="Georgia"/>
              </a:rPr>
              <a:t>|  </a:t>
            </a:r>
            <a:r>
              <a:rPr sz="960" b="1">
                <a:solidFill>
                  <a:srgbClr val="123D30"/>
                </a:solidFill>
                <a:latin typeface="Arial"/>
              </a:rPr>
              <a:t>Netting is default and non-optional  </a:t>
            </a:r>
            <a:r>
              <a:rPr sz="960">
                <a:solidFill>
                  <a:srgbClr val="0E1512"/>
                </a:solidFill>
                <a:latin typeface="Arial"/>
              </a:rPr>
              <a:t>on your collection round, your own installment is deducted from the pot; net payout (n−1)c. It also breaks a real deadlock: a recipient’s own failed pull can no longer block their own payout.</a:t>
            </a:r>
          </a:p>
          <a:p>
            <a:pPr>
              <a:lnSpc>
                <a:spcPct val="108000"/>
              </a:lnSpc>
              <a:spcAft>
                <a:spcPts val="500"/>
              </a:spcAft>
            </a:pPr>
            <a:r>
              <a:rPr sz="960" b="1">
                <a:solidFill>
                  <a:srgbClr val="D9A93C"/>
                </a:solidFill>
                <a:latin typeface="Georgia"/>
              </a:rPr>
              <a:t>|  </a:t>
            </a:r>
            <a:r>
              <a:rPr sz="960" b="1">
                <a:solidFill>
                  <a:srgbClr val="123D30"/>
                </a:solidFill>
                <a:latin typeface="Arial"/>
              </a:rPr>
              <a:t>Every settlement writes a WhatsApp receipt  </a:t>
            </a:r>
            <a:r>
              <a:rPr sz="960">
                <a:solidFill>
                  <a:srgbClr val="0E1512"/>
                </a:solidFill>
                <a:latin typeface="Arial"/>
              </a:rPr>
              <a:t>RCPT-&lt;id&gt; inside the settle transaction; early-bird bonus ×1.25 if ≥75% of payments land 3+ days early.</a:t>
            </a:r>
          </a:p>
        </p:txBody>
      </p:sp>
      <p:sp>
        <p:nvSpPr>
          <p:cNvPr id="20" name="TextBox 19"/>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Verification, four layers, no bank, no open banking</a:t>
            </a:r>
          </a:p>
        </p:txBody>
      </p:sp>
      <p:graphicFrame>
        <p:nvGraphicFramePr>
          <p:cNvPr id="21" name="Table 20"/>
          <p:cNvGraphicFramePr>
            <a:graphicFrameLocks noGrp="1"/>
          </p:cNvGraphicFramePr>
          <p:nvPr/>
        </p:nvGraphicFramePr>
        <p:xfrm>
          <a:off x="6419088" y="1719072"/>
          <a:ext cx="5166359" cy="3305007"/>
        </p:xfrm>
        <a:graphic>
          <a:graphicData uri="http://schemas.openxmlformats.org/drawingml/2006/table">
            <a:tbl>
              <a:tblPr>
                <a:tableStyleId>{5C22544A-7EE6-4342-B048-85BDC9FD1C3A}</a:tableStyleId>
              </a:tblPr>
              <a:tblGrid>
                <a:gridCol w="1343253"/>
                <a:gridCol w="3823106"/>
              </a:tblGrid>
              <a:tr h="671535">
                <a:tc>
                  <a:txBody>
                    <a:bodyPr wrap="square"/>
                    <a:lstStyle/>
                    <a:p>
                      <a:pPr algn="l"/>
                      <a:r>
                        <a:rPr sz="900" b="1">
                          <a:solidFill>
                            <a:srgbClr val="F6F1E4"/>
                          </a:solidFill>
                          <a:latin typeface="Arial"/>
                        </a:rPr>
                        <a:t>Signal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How it works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658368">
                <a:tc>
                  <a:txBody>
                    <a:bodyPr wrap="square"/>
                    <a:lstStyle/>
                    <a:p>
                      <a:pPr algn="l"/>
                      <a:r>
                        <a:rPr sz="880" b="0">
                          <a:solidFill>
                            <a:srgbClr val="0E1512"/>
                          </a:solidFill>
                          <a:latin typeface="Arial"/>
                        </a:rPr>
                        <a:t>Account title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The aggregator returns the registered holder name; it must match the CNIC name.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658368">
                <a:tc>
                  <a:txBody>
                    <a:bodyPr wrap="square"/>
                    <a:lstStyle/>
                    <a:p>
                      <a:pPr algn="l"/>
                      <a:r>
                        <a:rPr sz="880" b="0">
                          <a:solidFill>
                            <a:srgbClr val="0E1512"/>
                          </a:solidFill>
                          <a:latin typeface="Arial"/>
                        </a:rPr>
                        <a:t>Our own collection pattern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The strongest signal, and free. The first successful collection each month marks a day money was present; two months prove the payday. A wrong declared day is found by the retry ladder.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658368">
                <a:tc>
                  <a:txBody>
                    <a:bodyPr wrap="square"/>
                    <a:lstStyle/>
                    <a:p>
                      <a:pPr algn="l"/>
                      <a:r>
                        <a:rPr sz="880" b="0">
                          <a:solidFill>
                            <a:srgbClr val="0E1512"/>
                          </a:solidFill>
                          <a:latin typeface="Arial"/>
                        </a:rPr>
                        <a:t>Credit alerts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Opt-in, on-device notification read. Only a day, a coarse amount band and a source class leave the phone. Two months verify.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658368">
                <a:tc>
                  <a:txBody>
                    <a:bodyPr wrap="square"/>
                    <a:lstStyle/>
                    <a:p>
                      <a:pPr algn="l"/>
                      <a:r>
                        <a:rPr sz="880" b="0">
                          <a:solidFill>
                            <a:srgbClr val="0E1512"/>
                          </a:solidFill>
                          <a:latin typeface="Arial"/>
                        </a:rPr>
                        <a:t>Payslip</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One photo, downscaled on the device. Documentary proof on day one.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2" name="TextBox 21"/>
          <p:cNvSpPr txBox="1"/>
          <p:nvPr/>
        </p:nvSpPr>
        <p:spPr>
          <a:xfrm>
            <a:off x="6419088" y="539496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Engine src/lib/salary-pattern.ts: MIN_MONTHS 2, DAY_TOLERANCE 3, CLUSTER_TOLERANCE 5, MISDECLARE_SCORE_DELTA −15. A false declaration stops the fee discount and records a −15 event with its reason. The salary anchor is replace-only while circles are active.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HOW IT WORKS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How it works: features and security</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no-custody model removed the organiser guarantee, so protection is rebuilt from five things that are not a pool of money: position, tenure, legal paper, reputation, and linkage. Each is live in production today.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18</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0000"/>
              </a:lnSpc>
              <a:spcAft>
                <a:spcPts val="600"/>
              </a:spcAft>
            </a:pPr>
            <a:r>
              <a:rPr sz="960" b="1">
                <a:solidFill>
                  <a:srgbClr val="D9A93C"/>
                </a:solidFill>
                <a:latin typeface="Georgia"/>
              </a:rPr>
              <a:t>|  </a:t>
            </a:r>
            <a:r>
              <a:rPr sz="960" b="1">
                <a:solidFill>
                  <a:srgbClr val="123D30"/>
                </a:solidFill>
                <a:latin typeface="Arial"/>
              </a:rPr>
              <a:t>Turn position is the collateral  </a:t>
            </a:r>
            <a:r>
              <a:rPr sz="960">
                <a:solidFill>
                  <a:srgbClr val="0E1512"/>
                </a:solidFill>
                <a:latin typeface="Arial"/>
              </a:rPr>
              <a:t>a late-turn taker pays in before they ever collect, so their loss to the group is zero. Score bands and tenure quarantine keep risky and new members out of the dangerous early seats (§IV algorithms).</a:t>
            </a:r>
          </a:p>
          <a:p>
            <a:pPr>
              <a:lnSpc>
                <a:spcPct val="110000"/>
              </a:lnSpc>
              <a:spcAft>
                <a:spcPts val="600"/>
              </a:spcAft>
            </a:pPr>
            <a:r>
              <a:rPr sz="960" b="1">
                <a:solidFill>
                  <a:srgbClr val="D9A93C"/>
                </a:solidFill>
                <a:latin typeface="Georgia"/>
              </a:rPr>
              <a:t>|  </a:t>
            </a:r>
            <a:r>
              <a:rPr sz="960" b="1">
                <a:solidFill>
                  <a:srgbClr val="123D30"/>
                </a:solidFill>
                <a:latin typeface="Arial"/>
              </a:rPr>
              <a:t>Forward-liability gate (src/lib/forward-liability.ts)  </a:t>
            </a:r>
            <a:r>
              <a:rPr sz="960">
                <a:solidFill>
                  <a:srgbClr val="0E1512"/>
                </a:solidFill>
                <a:latin typeface="Arial"/>
              </a:rPr>
              <a:t>required security = coverage × contribution × rounds-still-owed, sized only to early recipients. Satisfied by a host-verified PG/undertaking, else a pot holdback capped at 60%, released as clean payments land.</a:t>
            </a:r>
          </a:p>
          <a:p>
            <a:pPr>
              <a:lnSpc>
                <a:spcPct val="110000"/>
              </a:lnSpc>
              <a:spcAft>
                <a:spcPts val="600"/>
              </a:spcAft>
            </a:pPr>
            <a:r>
              <a:rPr sz="960" b="1">
                <a:solidFill>
                  <a:srgbClr val="D9A93C"/>
                </a:solidFill>
                <a:latin typeface="Georgia"/>
              </a:rPr>
              <a:t>|  </a:t>
            </a:r>
            <a:r>
              <a:rPr sz="960" b="1">
                <a:solidFill>
                  <a:srgbClr val="123D30"/>
                </a:solidFill>
                <a:latin typeface="Arial"/>
              </a:rPr>
              <a:t>Weekly e-signed undertaking (iqrarnama)  </a:t>
            </a:r>
            <a:r>
              <a:rPr sz="960">
                <a:solidFill>
                  <a:srgbClr val="0E1512"/>
                </a:solidFill>
                <a:latin typeface="Arial"/>
              </a:rPr>
              <a:t>10 clauses, liquidated demand under Order XXXVII, acceleration, auto-collect + salary consent, bureau consent, arbitration, record-only. Typed name must match the account; gates create/join/pay with HTTP 428.</a:t>
            </a:r>
          </a:p>
          <a:p>
            <a:pPr>
              <a:lnSpc>
                <a:spcPct val="110000"/>
              </a:lnSpc>
              <a:spcAft>
                <a:spcPts val="600"/>
              </a:spcAft>
            </a:pPr>
            <a:r>
              <a:rPr sz="960" b="1">
                <a:solidFill>
                  <a:srgbClr val="D9A93C"/>
                </a:solidFill>
                <a:latin typeface="Georgia"/>
              </a:rPr>
              <a:t>|  </a:t>
            </a:r>
            <a:r>
              <a:rPr sz="960" b="1">
                <a:solidFill>
                  <a:srgbClr val="123D30"/>
                </a:solidFill>
                <a:latin typeface="Arial"/>
              </a:rPr>
              <a:t>Mutual member-to-member PG  </a:t>
            </a:r>
            <a:r>
              <a:rPr sz="960">
                <a:solidFill>
                  <a:srgbClr val="0E1512"/>
                </a:solidFill>
                <a:latin typeface="Arial"/>
              </a:rPr>
              <a:t>auto-signed in the join transaction; /start requires every active member’s PG. The text is member-to-member, expressly NOT to Halqa.</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affordability engine, an invisible filter</a:t>
            </a:r>
          </a:p>
        </p:txBody>
      </p:sp>
      <p:sp>
        <p:nvSpPr>
          <p:cNvPr id="20" name="TextBox 19"/>
          <p:cNvSpPr txBox="1"/>
          <p:nvPr/>
        </p:nvSpPr>
        <p:spPr>
          <a:xfrm>
            <a:off x="6419088" y="1719072"/>
            <a:ext cx="5166360" cy="365760"/>
          </a:xfrm>
          <a:prstGeom prst="rect">
            <a:avLst/>
          </a:prstGeom>
          <a:noFill/>
        </p:spPr>
        <p:txBody>
          <a:bodyPr wrap="square" lIns="0" rIns="0" tIns="0" bIns="0">
            <a:spAutoFit/>
          </a:bodyPr>
          <a:lstStyle/>
          <a:p>
            <a:pPr>
              <a:lnSpc>
                <a:spcPct val="108000"/>
              </a:lnSpc>
              <a:spcAft>
                <a:spcPts val="500"/>
              </a:spcAft>
            </a:pPr>
            <a:r>
              <a:rPr sz="940" b="1">
                <a:solidFill>
                  <a:srgbClr val="D9A93C"/>
                </a:solidFill>
                <a:latin typeface="Georgia"/>
              </a:rPr>
              <a:t>|  </a:t>
            </a:r>
            <a:r>
              <a:rPr sz="940" b="1">
                <a:solidFill>
                  <a:srgbClr val="123D30"/>
                </a:solidFill>
                <a:latin typeface="Arial"/>
              </a:rPr>
              <a:t>Cash-flow cap  </a:t>
            </a:r>
            <a:r>
              <a:rPr sz="940">
                <a:solidFill>
                  <a:srgbClr val="0E1512"/>
                </a:solidFill>
                <a:latin typeface="Arial"/>
              </a:rPr>
              <a:t>Σ contributions ≤ 33% of net monthly income, AND Σ contributions + known debt service ≤ 40% (the SBP DBR anchor, BPRD CL 29 of 2021; we sit stricter).</a:t>
            </a:r>
          </a:p>
          <a:p>
            <a:pPr>
              <a:lnSpc>
                <a:spcPct val="108000"/>
              </a:lnSpc>
              <a:spcAft>
                <a:spcPts val="500"/>
              </a:spcAft>
            </a:pPr>
            <a:r>
              <a:rPr sz="940" b="1">
                <a:solidFill>
                  <a:srgbClr val="D9A93C"/>
                </a:solidFill>
                <a:latin typeface="Georgia"/>
              </a:rPr>
              <a:t>|  </a:t>
            </a:r>
            <a:r>
              <a:rPr sz="940" b="1">
                <a:solidFill>
                  <a:srgbClr val="123D30"/>
                </a:solidFill>
                <a:latin typeface="Arial"/>
              </a:rPr>
              <a:t>Forward-exposure cap  </a:t>
            </a:r>
            <a:r>
              <a:rPr sz="940">
                <a:solidFill>
                  <a:srgbClr val="0E1512"/>
                </a:solidFill>
                <a:latin typeface="Arial"/>
              </a:rPr>
              <a:t>Σ L(k) across all circles ≤ 4 × net monthly income, worst case where every circle pays out early.</a:t>
            </a:r>
          </a:p>
          <a:p>
            <a:pPr>
              <a:lnSpc>
                <a:spcPct val="108000"/>
              </a:lnSpc>
              <a:spcAft>
                <a:spcPts val="500"/>
              </a:spcAft>
            </a:pPr>
            <a:r>
              <a:rPr sz="940" b="1">
                <a:solidFill>
                  <a:srgbClr val="D9A93C"/>
                </a:solidFill>
                <a:latin typeface="Georgia"/>
              </a:rPr>
              <a:t>|  </a:t>
            </a:r>
            <a:r>
              <a:rPr sz="940" b="1">
                <a:solidFill>
                  <a:srgbClr val="123D30"/>
                </a:solidFill>
                <a:latin typeface="Arial"/>
              </a:rPr>
              <a:t>Concurrency cap  </a:t>
            </a:r>
            <a:r>
              <a:rPr sz="940">
                <a:solidFill>
                  <a:srgbClr val="0E1512"/>
                </a:solidFill>
                <a:latin typeface="Arial"/>
              </a:rPr>
              <a:t>unverified → 1 circle, verified → 4; unproven host → 2, five clean → manual review (also the anti-Ponzi control).</a:t>
            </a:r>
          </a:p>
          <a:p>
            <a:pPr>
              <a:lnSpc>
                <a:spcPct val="108000"/>
              </a:lnSpc>
              <a:spcAft>
                <a:spcPts val="500"/>
              </a:spcAft>
            </a:pPr>
            <a:r>
              <a:rPr sz="940" b="1">
                <a:solidFill>
                  <a:srgbClr val="D9A93C"/>
                </a:solidFill>
                <a:latin typeface="Georgia"/>
              </a:rPr>
              <a:t>|  </a:t>
            </a:r>
            <a:r>
              <a:rPr sz="940" b="1">
                <a:solidFill>
                  <a:srgbClr val="123D30"/>
                </a:solidFill>
                <a:latin typeface="Arial"/>
              </a:rPr>
              <a:t>The discipline that must not break  </a:t>
            </a:r>
            <a:r>
              <a:rPr sz="940">
                <a:solidFill>
                  <a:srgbClr val="0E1512"/>
                </a:solidFill>
                <a:latin typeface="Arial"/>
              </a:rPr>
              <a:t>good history unlocks seats, circles and lower friction, it NEVER raises the money cap. Only new income evidence does. Escalating limits cause liquidity defaults.</a:t>
            </a:r>
          </a:p>
          <a:p>
            <a:pPr>
              <a:lnSpc>
                <a:spcPct val="108000"/>
              </a:lnSpc>
              <a:spcAft>
                <a:spcPts val="500"/>
              </a:spcAft>
            </a:pPr>
            <a:r>
              <a:rPr sz="940" b="1">
                <a:solidFill>
                  <a:srgbClr val="D9A93C"/>
                </a:solidFill>
                <a:latin typeface="Georgia"/>
              </a:rPr>
              <a:t>|  </a:t>
            </a:r>
            <a:r>
              <a:rPr sz="940" b="1">
                <a:solidFill>
                  <a:srgbClr val="123D30"/>
                </a:solidFill>
                <a:latin typeface="Arial"/>
              </a:rPr>
              <a:t>Never a bare rejection  </a:t>
            </a:r>
            <a:r>
              <a:rPr sz="940">
                <a:solidFill>
                  <a:srgbClr val="0E1512"/>
                </a:solidFill>
                <a:latin typeface="Arial"/>
              </a:rPr>
              <a:t>always show headroom in rupees: “you can add Rs 4,000 a month; circles up to Rs 4,000 are shown.”</a:t>
            </a:r>
          </a:p>
        </p:txBody>
      </p:sp>
      <p:sp>
        <p:nvSpPr>
          <p:cNvPr id="21" name="TextBox 20"/>
          <p:cNvSpPr txBox="1"/>
          <p:nvPr/>
        </p:nvSpPr>
        <p:spPr>
          <a:xfrm>
            <a:off x="566928" y="6089904"/>
            <a:ext cx="548640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Also live: family linkage (referral + guarantor + shared deviceId → a linked open default blocks join 403 and payout 409); recovery cases at outstanding + penalties + a 10% rehabilitation fee; an internal, never-public grace window; an 80% fee discount for income+employer verification.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HOW IT WORKS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Inside a committee: the locked turn order</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19</a:t>
            </a:r>
          </a:p>
        </p:txBody>
      </p:sp>
      <p:sp>
        <p:nvSpPr>
          <p:cNvPr id="17" name="Rectangle 16"/>
          <p:cNvSpPr/>
          <p:nvPr/>
        </p:nvSpPr>
        <p:spPr>
          <a:xfrm>
            <a:off x="649224" y="1362456"/>
            <a:ext cx="2285761" cy="4818888"/>
          </a:xfrm>
          <a:prstGeom prst="rect">
            <a:avLst/>
          </a:prstGeom>
          <a:solidFill>
            <a:srgbClr val="123D30"/>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03-marketplace.png"/>
          <p:cNvPicPr>
            <a:picLocks noChangeAspect="1"/>
          </p:cNvPicPr>
          <p:nvPr/>
        </p:nvPicPr>
        <p:blipFill>
          <a:blip r:embed="rId2"/>
          <a:stretch>
            <a:fillRect/>
          </a:stretch>
        </p:blipFill>
        <p:spPr>
          <a:xfrm>
            <a:off x="704088" y="1417320"/>
            <a:ext cx="2176033" cy="4709160"/>
          </a:xfrm>
          <a:prstGeom prst="rect">
            <a:avLst/>
          </a:prstGeom>
        </p:spPr>
      </p:pic>
      <p:sp>
        <p:nvSpPr>
          <p:cNvPr id="19" name="TextBox 18"/>
          <p:cNvSpPr txBox="1"/>
          <p:nvPr/>
        </p:nvSpPr>
        <p:spPr>
          <a:xfrm>
            <a:off x="704088" y="6236208"/>
            <a:ext cx="2176033" cy="274320"/>
          </a:xfrm>
          <a:prstGeom prst="rect">
            <a:avLst/>
          </a:prstGeom>
          <a:noFill/>
        </p:spPr>
        <p:txBody>
          <a:bodyPr wrap="square" lIns="0" rIns="0" tIns="0" bIns="0" anchor="t">
            <a:spAutoFit/>
          </a:bodyPr>
          <a:lstStyle/>
          <a:p>
            <a:pPr algn="l">
              <a:lnSpc>
                <a:spcPct val="100000"/>
              </a:lnSpc>
              <a:spcAft>
                <a:spcPts val="400"/>
              </a:spcAft>
            </a:pPr>
            <a:r>
              <a:rPr sz="819" b="0" i="1">
                <a:solidFill>
                  <a:srgbClr val="4C574F"/>
                </a:solidFill>
                <a:latin typeface="Arial"/>
              </a:rPr>
              <a:t>Live production build, halqa-seven.vercel.app</a:t>
            </a:r>
          </a:p>
        </p:txBody>
      </p:sp>
      <p:sp>
        <p:nvSpPr>
          <p:cNvPr id="20" name="TextBox 19"/>
          <p:cNvSpPr txBox="1"/>
          <p:nvPr/>
        </p:nvSpPr>
        <p:spPr>
          <a:xfrm>
            <a:off x="3383041" y="1481328"/>
            <a:ext cx="8241726"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The register, made legible</a:t>
            </a:r>
          </a:p>
        </p:txBody>
      </p:sp>
      <p:sp>
        <p:nvSpPr>
          <p:cNvPr id="21" name="Rectangle 20"/>
          <p:cNvSpPr/>
          <p:nvPr/>
        </p:nvSpPr>
        <p:spPr>
          <a:xfrm>
            <a:off x="3383041" y="1938528"/>
            <a:ext cx="45720" cy="182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041" y="1975104"/>
            <a:ext cx="8241726" cy="365760"/>
          </a:xfrm>
          <a:prstGeom prst="rect">
            <a:avLst/>
          </a:prstGeom>
          <a:noFill/>
        </p:spPr>
        <p:txBody>
          <a:bodyPr wrap="square" lIns="0" rIns="0" tIns="0" bIns="0">
            <a:spAutoFit/>
          </a:bodyPr>
          <a:lstStyle/>
          <a:p>
            <a:pPr>
              <a:lnSpc>
                <a:spcPct val="112000"/>
              </a:lnSpc>
              <a:spcAft>
                <a:spcPts val="800"/>
              </a:spcAft>
            </a:pPr>
            <a:r>
              <a:rPr sz="1140" b="1">
                <a:solidFill>
                  <a:srgbClr val="D9A93C"/>
                </a:solidFill>
                <a:latin typeface="Georgia"/>
              </a:rPr>
              <a:t>|  </a:t>
            </a:r>
            <a:r>
              <a:rPr sz="1140" b="1">
                <a:solidFill>
                  <a:srgbClr val="123D30"/>
                </a:solidFill>
                <a:latin typeface="Arial"/>
              </a:rPr>
              <a:t>Locked order  </a:t>
            </a:r>
            <a:r>
              <a:rPr sz="1140">
                <a:solidFill>
                  <a:srgbClr val="0E1512"/>
                </a:solidFill>
                <a:latin typeface="Arial"/>
              </a:rPr>
              <a:t>Everybody’s turn lists every seat, member, date and status, the organiser’s notebook, now tamper-evident and shared.</a:t>
            </a:r>
          </a:p>
          <a:p>
            <a:pPr>
              <a:lnSpc>
                <a:spcPct val="112000"/>
              </a:lnSpc>
              <a:spcAft>
                <a:spcPts val="800"/>
              </a:spcAft>
            </a:pPr>
            <a:r>
              <a:rPr sz="1140" b="1">
                <a:solidFill>
                  <a:srgbClr val="D9A93C"/>
                </a:solidFill>
                <a:latin typeface="Georgia"/>
              </a:rPr>
              <a:t>|  </a:t>
            </a:r>
            <a:r>
              <a:rPr sz="1140" b="1">
                <a:solidFill>
                  <a:srgbClr val="123D30"/>
                </a:solidFill>
                <a:latin typeface="Arial"/>
              </a:rPr>
              <a:t>Member view  </a:t>
            </a:r>
            <a:r>
              <a:rPr sz="1140">
                <a:solidFill>
                  <a:srgbClr val="0E1512"/>
                </a:solidFill>
                <a:latin typeface="Arial"/>
              </a:rPr>
              <a:t>current payout Rs 60,000, your position number 6, contribution Rs 10,000, round 1 of 6, and a countdown to your turn.</a:t>
            </a:r>
          </a:p>
          <a:p>
            <a:pPr>
              <a:lnSpc>
                <a:spcPct val="112000"/>
              </a:lnSpc>
              <a:spcAft>
                <a:spcPts val="800"/>
              </a:spcAft>
            </a:pPr>
            <a:r>
              <a:rPr sz="1140" b="1">
                <a:solidFill>
                  <a:srgbClr val="D9A93C"/>
                </a:solidFill>
                <a:latin typeface="Georgia"/>
              </a:rPr>
              <a:t>|  </a:t>
            </a:r>
            <a:r>
              <a:rPr sz="1140" b="1">
                <a:solidFill>
                  <a:srgbClr val="123D30"/>
                </a:solidFill>
                <a:latin typeface="Arial"/>
              </a:rPr>
              <a:t>Turn pricing, shown honestly  </a:t>
            </a:r>
            <a:r>
              <a:rPr sz="1140">
                <a:solidFill>
                  <a:srgbClr val="0E1512"/>
                </a:solidFill>
                <a:latin typeface="Arial"/>
              </a:rPr>
              <a:t>Flat, no turn pricing on this circle; the time-value fee or credit is optional and labelled.</a:t>
            </a:r>
          </a:p>
          <a:p>
            <a:pPr>
              <a:lnSpc>
                <a:spcPct val="112000"/>
              </a:lnSpc>
              <a:spcAft>
                <a:spcPts val="800"/>
              </a:spcAft>
            </a:pPr>
            <a:r>
              <a:rPr sz="1140" b="1">
                <a:solidFill>
                  <a:srgbClr val="D9A93C"/>
                </a:solidFill>
                <a:latin typeface="Georgia"/>
              </a:rPr>
              <a:t>|  </a:t>
            </a:r>
            <a:r>
              <a:rPr sz="1140" b="1">
                <a:solidFill>
                  <a:srgbClr val="123D30"/>
                </a:solidFill>
                <a:latin typeface="Arial"/>
              </a:rPr>
              <a:t>The circle tabs  </a:t>
            </a:r>
            <a:r>
              <a:rPr sz="1140">
                <a:solidFill>
                  <a:srgbClr val="0E1512"/>
                </a:solidFill>
                <a:latin typeface="Arial"/>
              </a:rPr>
              <a:t>Turns and people, Payments, Growth, Safety, Chat, the whole lifecycle in one place.</a:t>
            </a:r>
          </a:p>
          <a:p>
            <a:pPr>
              <a:lnSpc>
                <a:spcPct val="112000"/>
              </a:lnSpc>
              <a:spcAft>
                <a:spcPts val="800"/>
              </a:spcAft>
            </a:pPr>
            <a:r>
              <a:rPr sz="1140" b="1">
                <a:solidFill>
                  <a:srgbClr val="D9A93C"/>
                </a:solidFill>
                <a:latin typeface="Georgia"/>
              </a:rPr>
              <a:t>|  </a:t>
            </a:r>
            <a:r>
              <a:rPr sz="1140" b="1">
                <a:solidFill>
                  <a:srgbClr val="123D30"/>
                </a:solidFill>
                <a:latin typeface="Arial"/>
              </a:rPr>
              <a:t>Growth allocation  </a:t>
            </a:r>
            <a:r>
              <a:rPr sz="1140">
                <a:solidFill>
                  <a:srgbClr val="0E1512"/>
                </a:solidFill>
                <a:latin typeface="Arial"/>
              </a:rPr>
              <a:t>0 per cent here; the earning engines stay dormant until the Stage-2 trustee structure exists.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OPEN CIRCLES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open (unknown) committee, and how it operates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Members claim no relationship, so nothing social is assumed and everything is verified. The open circle buys protection and pays for it; the known circle brings its own and pays a service fee instead. Same machine, inverted defences.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20</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2000"/>
              </a:lnSpc>
              <a:spcAft>
                <a:spcPts val="700"/>
              </a:spcAft>
            </a:pPr>
            <a:r>
              <a:rPr sz="969" b="1">
                <a:solidFill>
                  <a:srgbClr val="D9A93C"/>
                </a:solidFill>
                <a:latin typeface="Georgia"/>
              </a:rPr>
              <a:t>|  </a:t>
            </a:r>
            <a:r>
              <a:rPr sz="969" b="1">
                <a:solidFill>
                  <a:srgbClr val="123D30"/>
                </a:solidFill>
                <a:latin typeface="Arial"/>
              </a:rPr>
              <a:t>Who may sit where  </a:t>
            </a:r>
            <a:r>
              <a:rPr sz="969">
                <a:solidFill>
                  <a:srgbClr val="0E1512"/>
                </a:solidFill>
                <a:latin typeface="Arial"/>
              </a:rPr>
              <a:t>the credit score gates which free seats a member may claim (it never reorders anyone). Rebuilding &lt;550: last seats only, no marketplace. Fair 550-649: second half only. Good 650-749 / Excellent 750+: any free seat. Opening score 700; the live demo account sits at 804 (Excellent).</a:t>
            </a:r>
          </a:p>
          <a:p>
            <a:pPr>
              <a:lnSpc>
                <a:spcPct val="112000"/>
              </a:lnSpc>
              <a:spcAft>
                <a:spcPts val="700"/>
              </a:spcAft>
            </a:pPr>
            <a:r>
              <a:rPr sz="969" b="1">
                <a:solidFill>
                  <a:srgbClr val="D9A93C"/>
                </a:solidFill>
                <a:latin typeface="Georgia"/>
              </a:rPr>
              <a:t>|  </a:t>
            </a:r>
            <a:r>
              <a:rPr sz="969" b="1">
                <a:solidFill>
                  <a:srgbClr val="123D30"/>
                </a:solidFill>
                <a:latin typeface="Arial"/>
              </a:rPr>
              <a:t>Tenure quarantine overrides the score  </a:t>
            </a:r>
            <a:r>
              <a:rPr sz="969">
                <a:solidFill>
                  <a:srgbClr val="0E1512"/>
                </a:solidFill>
                <a:latin typeface="Arial"/>
              </a:rPr>
              <a:t>every new member, whatever their score, may take only one of the last three seats of any circle, until two clean completed circles + manual verification. Worst-case exposure to an unproven member is two contributions.</a:t>
            </a:r>
          </a:p>
          <a:p>
            <a:pPr>
              <a:lnSpc>
                <a:spcPct val="112000"/>
              </a:lnSpc>
              <a:spcAft>
                <a:spcPts val="700"/>
              </a:spcAft>
            </a:pPr>
            <a:r>
              <a:rPr sz="969" b="1">
                <a:solidFill>
                  <a:srgbClr val="D9A93C"/>
                </a:solidFill>
                <a:latin typeface="Georgia"/>
              </a:rPr>
              <a:t>|  </a:t>
            </a:r>
            <a:r>
              <a:rPr sz="969" b="1">
                <a:solidFill>
                  <a:srgbClr val="123D30"/>
                </a:solidFill>
                <a:latin typeface="Arial"/>
              </a:rPr>
              <a:t>Verification is a hard filter  </a:t>
            </a:r>
            <a:r>
              <a:rPr sz="969">
                <a:solidFill>
                  <a:srgbClr val="0E1512"/>
                </a:solidFill>
                <a:latin typeface="Arial"/>
              </a:rPr>
              <a:t>salary-account detection blocks a first-half seat with no proven salary pattern; a random 5% of members get a manual human check; NADRA face at join plus the full trigger list; location pin required.</a:t>
            </a:r>
          </a:p>
          <a:p>
            <a:pPr>
              <a:lnSpc>
                <a:spcPct val="112000"/>
              </a:lnSpc>
              <a:spcAft>
                <a:spcPts val="700"/>
              </a:spcAft>
            </a:pPr>
            <a:r>
              <a:rPr sz="969" b="1">
                <a:solidFill>
                  <a:srgbClr val="D9A93C"/>
                </a:solidFill>
                <a:latin typeface="Georgia"/>
              </a:rPr>
              <a:t>|  </a:t>
            </a:r>
            <a:r>
              <a:rPr sz="969" b="1">
                <a:solidFill>
                  <a:srgbClr val="123D30"/>
                </a:solidFill>
                <a:latin typeface="Arial"/>
              </a:rPr>
              <a:t>The cover premium makes the pot whole  </a:t>
            </a:r>
            <a:r>
              <a:rPr sz="969">
                <a:solidFill>
                  <a:srgbClr val="0E1512"/>
                </a:solidFill>
                <a:latin typeface="Arial"/>
              </a:rPr>
              <a:t>1.5% of each installment, mandatory, capped Rs 300. If a member walks, the cover facility buys the vacated seat, so nobody’s pot shrinks, which is why an open circle needs no group vote to let someone exit.</a:t>
            </a:r>
          </a:p>
        </p:txBody>
      </p:sp>
      <p:sp>
        <p:nvSpPr>
          <p:cNvPr id="19" name="TextBox 18"/>
          <p:cNvSpPr txBox="1"/>
          <p:nvPr/>
        </p:nvSpPr>
        <p:spPr>
          <a:xfrm>
            <a:off x="6419088" y="1408176"/>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Where the price comes from, not a guess</a:t>
            </a:r>
          </a:p>
        </p:txBody>
      </p:sp>
      <p:sp>
        <p:nvSpPr>
          <p:cNvPr id="20" name="Rectangle 19"/>
          <p:cNvSpPr/>
          <p:nvPr/>
        </p:nvSpPr>
        <p:spPr>
          <a:xfrm>
            <a:off x="6419088" y="1773936"/>
            <a:ext cx="5166360" cy="566928"/>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56248" y="1883664"/>
            <a:ext cx="4892040" cy="457200"/>
          </a:xfrm>
          <a:prstGeom prst="rect">
            <a:avLst/>
          </a:prstGeom>
          <a:noFill/>
        </p:spPr>
        <p:txBody>
          <a:bodyPr wrap="square" lIns="0" rIns="0" tIns="0" bIns="0" anchor="t">
            <a:spAutoFit/>
          </a:bodyPr>
          <a:lstStyle/>
          <a:p>
            <a:pPr algn="ctr">
              <a:lnSpc>
                <a:spcPct val="100000"/>
              </a:lnSpc>
              <a:spcAft>
                <a:spcPts val="400"/>
              </a:spcAft>
            </a:pPr>
            <a:r>
              <a:rPr sz="1500" b="0" i="0">
                <a:solidFill>
                  <a:srgbClr val="123D30"/>
                </a:solidFill>
                <a:latin typeface="Georgia"/>
              </a:rPr>
              <a:t>r  =  1.5 q (n−1)/n   ≈   1.5 q</a:t>
            </a:r>
          </a:p>
        </p:txBody>
      </p:sp>
      <p:sp>
        <p:nvSpPr>
          <p:cNvPr id="22" name="TextBox 21"/>
          <p:cNvSpPr txBox="1"/>
          <p:nvPr/>
        </p:nvSpPr>
        <p:spPr>
          <a:xfrm>
            <a:off x="6419088" y="2487168"/>
            <a:ext cx="5166360" cy="137160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Expected loss per member-cycle is q × mean L(k) = q·c(n−1)/2, where q is the post-payout default probability. Premium collected at rate r on each installment is r·c·n. A 3× loading for adverse selection, cost and takaful reinsurance gives r ≈ 1.5q, the premium rate is 1.5× the default rate, independent of circle size. So every price in the fee book is a function of one modelled q in the 0.3-1.4% band, and the first hundred completed circles reprice all of them.</a:t>
            </a:r>
          </a:p>
        </p:txBody>
      </p:sp>
      <p:graphicFrame>
        <p:nvGraphicFramePr>
          <p:cNvPr id="23" name="Table 22"/>
          <p:cNvGraphicFramePr>
            <a:graphicFrameLocks noGrp="1"/>
          </p:cNvGraphicFramePr>
          <p:nvPr/>
        </p:nvGraphicFramePr>
        <p:xfrm>
          <a:off x="6419088" y="4261104"/>
          <a:ext cx="5166360" cy="1249801"/>
        </p:xfrm>
        <a:graphic>
          <a:graphicData uri="http://schemas.openxmlformats.org/drawingml/2006/table">
            <a:tbl>
              <a:tblPr>
                <a:tableStyleId>{5C22544A-7EE6-4342-B048-85BDC9FD1C3A}</a:tableStyleId>
              </a:tblPr>
              <a:tblGrid>
                <a:gridCol w="2066544"/>
                <a:gridCol w="1549908"/>
                <a:gridCol w="1549908"/>
              </a:tblGrid>
              <a:tr h="317113">
                <a:tc>
                  <a:txBody>
                    <a:bodyPr wrap="square"/>
                    <a:lstStyle/>
                    <a:p>
                      <a:pPr algn="l"/>
                      <a:r>
                        <a:rPr sz="940" b="1">
                          <a:solidFill>
                            <a:srgbClr val="F6F1E4"/>
                          </a:solidFill>
                          <a:latin typeface="Arial"/>
                        </a:rPr>
                        <a:t>Circle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40" b="1">
                          <a:solidFill>
                            <a:srgbClr val="F6F1E4"/>
                          </a:solidFill>
                          <a:latin typeface="Arial"/>
                        </a:rPr>
                        <a:t>Modelled q</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40" b="1">
                          <a:solidFill>
                            <a:srgbClr val="F6F1E4"/>
                          </a:solidFill>
                          <a:latin typeface="Arial"/>
                        </a:rPr>
                        <a:t>Premium 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940" b="0">
                          <a:solidFill>
                            <a:srgbClr val="0E1512"/>
                          </a:solidFill>
                          <a:latin typeface="Arial"/>
                        </a:rPr>
                        <a:t>Known (Apna)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0.3%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0.5%</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40" b="0">
                          <a:solidFill>
                            <a:srgbClr val="0E1512"/>
                          </a:solidFill>
                          <a:latin typeface="Arial"/>
                        </a:rPr>
                        <a:t>Open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1.0%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1.5%</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40" b="0">
                          <a:solidFill>
                            <a:srgbClr val="0E1512"/>
                          </a:solidFill>
                          <a:latin typeface="Arial"/>
                        </a:rPr>
                        <a:t>HYPER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2.0%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40" b="0">
                          <a:solidFill>
                            <a:srgbClr val="0E1512"/>
                          </a:solidFill>
                          <a:latin typeface="Arial"/>
                        </a:rPr>
                        <a:t>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TextBox 23"/>
          <p:cNvSpPr txBox="1"/>
          <p:nvPr/>
        </p:nvSpPr>
        <p:spPr>
          <a:xfrm>
            <a:off x="6419088" y="5815584"/>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1.5% of a Rs 20,000 installment is exactly Rs 300, the premium sits on the chairman’s ceiling and tapers in percent above it. modelled.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OPEN CIRCLES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Security on the open committee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Because there is no social bond to lean on, the consequences are heavier and every one of them is spelled out to the member before they join. Nothing is hidden; the deterrent works only if it is known.</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21</a:t>
            </a:r>
          </a:p>
        </p:txBody>
      </p:sp>
      <p:sp>
        <p:nvSpPr>
          <p:cNvPr id="18" name="TextBox 17"/>
          <p:cNvSpPr txBox="1"/>
          <p:nvPr/>
        </p:nvSpPr>
        <p:spPr>
          <a:xfrm>
            <a:off x="566928" y="1408176"/>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8   Open versus known, the consequence machinery</a:t>
            </a:r>
          </a:p>
        </p:txBody>
      </p:sp>
      <p:graphicFrame>
        <p:nvGraphicFramePr>
          <p:cNvPr id="19" name="Table 18"/>
          <p:cNvGraphicFramePr>
            <a:graphicFrameLocks noGrp="1"/>
          </p:cNvGraphicFramePr>
          <p:nvPr/>
        </p:nvGraphicFramePr>
        <p:xfrm>
          <a:off x="566928" y="1627632"/>
          <a:ext cx="11057838" cy="3299155"/>
        </p:xfrm>
        <a:graphic>
          <a:graphicData uri="http://schemas.openxmlformats.org/drawingml/2006/table">
            <a:tbl>
              <a:tblPr>
                <a:tableStyleId>{5C22544A-7EE6-4342-B048-85BDC9FD1C3A}</a:tableStyleId>
              </a:tblPr>
              <a:tblGrid>
                <a:gridCol w="3759665"/>
                <a:gridCol w="3759665"/>
                <a:gridCol w="3538508"/>
              </a:tblGrid>
              <a:tr h="373075">
                <a:tc>
                  <a:txBody>
                    <a:bodyPr wrap="square"/>
                    <a:lstStyle/>
                    <a:p>
                      <a:pPr algn="l"/>
                      <a:r>
                        <a:rPr sz="919" b="1">
                          <a:solidFill>
                            <a:srgbClr val="F6F1E4"/>
                          </a:solidFill>
                          <a:latin typeface="Arial"/>
                        </a:rPr>
                        <a:t>Control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OPEN (strangers)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KNOWN (Apna)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65760">
                <a:tc>
                  <a:txBody>
                    <a:bodyPr wrap="square"/>
                    <a:lstStyle/>
                    <a:p>
                      <a:pPr algn="l"/>
                      <a:r>
                        <a:rPr sz="900" b="0">
                          <a:solidFill>
                            <a:srgbClr val="0E1512"/>
                          </a:solidFill>
                          <a:latin typeface="Arial"/>
                        </a:rPr>
                        <a:t>Early-seat fee (of pot, from the pot)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1.00% at seat 1, tapering to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1.75% at seat 1, tapering to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00" b="0">
                          <a:solidFill>
                            <a:srgbClr val="0E1512"/>
                          </a:solidFill>
                          <a:latin typeface="Arial"/>
                        </a:rPr>
                        <a:t>Cover premium (per round, of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1.5% mandatory, cap Rs 300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0.5% optional, cap Rs 150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00" b="0">
                          <a:solidFill>
                            <a:srgbClr val="0E1512"/>
                          </a:solidFill>
                          <a:latin typeface="Arial"/>
                        </a:rPr>
                        <a:t>Late-fee ladder (of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3% / 7% / 12% at D+1 / D+7 / D+15</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 / 3% / 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00" b="0">
                          <a:solidFill>
                            <a:srgbClr val="0E1512"/>
                          </a:solidFill>
                          <a:latin typeface="Arial"/>
                        </a:rPr>
                        <a:t>Credit-score damage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−15 / −30 / −50; post-payout default −200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−10 / −20 / −40; −200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00" b="0">
                          <a:solidFill>
                            <a:srgbClr val="0E1512"/>
                          </a:solidFill>
                          <a:latin typeface="Arial"/>
                        </a:rPr>
                        <a:t>Halqa auto-covers a miss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Yes, from round 1 (facility buys the seat)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No, the group covers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00" b="0">
                          <a:solidFill>
                            <a:srgbClr val="0E1512"/>
                          </a:solidFill>
                          <a:latin typeface="Arial"/>
                        </a:rPr>
                        <a:t>Weekly e-signed undertaking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Required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One signing at formation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00" b="0">
                          <a:solidFill>
                            <a:srgbClr val="0E1512"/>
                          </a:solidFill>
                          <a:latin typeface="Arial"/>
                        </a:rPr>
                        <a:t>Manual human check / NADRA face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Random 5% / join + full trigger list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Random 2% / at join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900" b="0">
                          <a:solidFill>
                            <a:srgbClr val="0E1512"/>
                          </a:solidFill>
                          <a:latin typeface="Arial"/>
                        </a:rPr>
                        <a:t>Exit at Level 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No vote needed, cover absorbs 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Group vote (the group bears the loss)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5989320"/>
            <a:ext cx="10607040" cy="365760"/>
          </a:xfrm>
          <a:prstGeom prst="rect">
            <a:avLst/>
          </a:prstGeom>
          <a:noFill/>
        </p:spPr>
        <p:txBody>
          <a:bodyPr wrap="square" lIns="0" rIns="0" tIns="0" bIns="0" anchor="t">
            <a:spAutoFit/>
          </a:bodyPr>
          <a:lstStyle/>
          <a:p>
            <a:pPr algn="l">
              <a:lnSpc>
                <a:spcPct val="116000"/>
              </a:lnSpc>
              <a:spcAft>
                <a:spcPts val="400"/>
              </a:spcAft>
            </a:pPr>
            <a:r>
              <a:rPr sz="1040" b="0" i="0">
                <a:solidFill>
                  <a:srgbClr val="0E1512"/>
                </a:solidFill>
                <a:latin typeface="Arial"/>
              </a:rPr>
              <a:t>The inversion in one line: open circles buy protection and pay for it with fines and a premium; known circles bring their own protection and pay a service fee instead. Mutual PG and auto-debit are required on both, there is no leniency tier.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OPEN VERSUS KNOWN</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Open and known committees, compared</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chairman’s own comparison, made numeric, plus the derivation of “position 5 of 12” from a forward-liability ceiling rather than a fitted ratio, which is why it generalises to every circle size.</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22</a:t>
            </a:r>
          </a:p>
        </p:txBody>
      </p:sp>
      <p:sp>
        <p:nvSpPr>
          <p:cNvPr id="18" name="TextBox 17"/>
          <p:cNvSpPr txBox="1"/>
          <p:nvPr/>
        </p:nvSpPr>
        <p:spPr>
          <a:xfrm>
            <a:off x="566928" y="1389888"/>
            <a:ext cx="598932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9   Parameters that differ between the two</a:t>
            </a:r>
          </a:p>
        </p:txBody>
      </p:sp>
      <p:graphicFrame>
        <p:nvGraphicFramePr>
          <p:cNvPr id="19" name="Table 18"/>
          <p:cNvGraphicFramePr>
            <a:graphicFrameLocks noGrp="1"/>
          </p:cNvGraphicFramePr>
          <p:nvPr/>
        </p:nvGraphicFramePr>
        <p:xfrm>
          <a:off x="566928" y="1591056"/>
          <a:ext cx="5989320" cy="2439253"/>
        </p:xfrm>
        <a:graphic>
          <a:graphicData uri="http://schemas.openxmlformats.org/drawingml/2006/table">
            <a:tbl>
              <a:tblPr>
                <a:tableStyleId>{5C22544A-7EE6-4342-B048-85BDC9FD1C3A}</a:tableStyleId>
              </a:tblPr>
              <a:tblGrid>
                <a:gridCol w="2395728"/>
                <a:gridCol w="1796796"/>
                <a:gridCol w="1796796"/>
              </a:tblGrid>
              <a:tr h="354421">
                <a:tc>
                  <a:txBody>
                    <a:bodyPr wrap="square"/>
                    <a:lstStyle/>
                    <a:p>
                      <a:pPr algn="l"/>
                      <a:r>
                        <a:rPr sz="919" b="1">
                          <a:solidFill>
                            <a:srgbClr val="F6F1E4"/>
                          </a:solidFill>
                          <a:latin typeface="Arial"/>
                        </a:rPr>
                        <a:t>Parameter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OPEN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KNOWN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47472">
                <a:tc>
                  <a:txBody>
                    <a:bodyPr wrap="square"/>
                    <a:lstStyle/>
                    <a:p>
                      <a:pPr algn="l"/>
                      <a:r>
                        <a:rPr sz="919" b="0">
                          <a:solidFill>
                            <a:srgbClr val="0E1512"/>
                          </a:solidFill>
                          <a:latin typeface="Arial"/>
                        </a:rPr>
                        <a:t>Join / pay an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Auto-debit / Mutual PG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Mandatory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Mandatory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Salary detection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Hard filter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Soft signal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Ticket ceiling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Affordability caps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25,000/mo, Rs 300,000 pot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Authenticity test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Not required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Host-spoke integrity, Tier 1</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47472">
                <a:tc>
                  <a:txBody>
                    <a:bodyPr wrap="square"/>
                    <a:lstStyle/>
                    <a:p>
                      <a:pPr algn="l"/>
                      <a:r>
                        <a:rPr sz="919" b="0">
                          <a:solidFill>
                            <a:srgbClr val="0E1512"/>
                          </a:solidFill>
                          <a:latin typeface="Arial"/>
                        </a:rPr>
                        <a:t>Undertaking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Weekly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Once at formation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6830568" y="1389888"/>
            <a:ext cx="475488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Seat access by band, the L(k) ceiling</a:t>
            </a:r>
          </a:p>
        </p:txBody>
      </p:sp>
      <p:sp>
        <p:nvSpPr>
          <p:cNvPr id="21" name="Rectangle 20"/>
          <p:cNvSpPr/>
          <p:nvPr/>
        </p:nvSpPr>
        <p:spPr>
          <a:xfrm>
            <a:off x="6830568" y="1700784"/>
            <a:ext cx="4754880" cy="786384"/>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67728" y="1773936"/>
            <a:ext cx="4480560" cy="731520"/>
          </a:xfrm>
          <a:prstGeom prst="rect">
            <a:avLst/>
          </a:prstGeom>
          <a:noFill/>
        </p:spPr>
        <p:txBody>
          <a:bodyPr wrap="square" lIns="0" rIns="0" tIns="0" bIns="0" anchor="t">
            <a:spAutoFit/>
          </a:bodyPr>
          <a:lstStyle/>
          <a:p>
            <a:pPr algn="l">
              <a:lnSpc>
                <a:spcPct val="120000"/>
              </a:lnSpc>
              <a:spcAft>
                <a:spcPts val="400"/>
              </a:spcAft>
            </a:pPr>
            <a:r>
              <a:rPr sz="1019" b="0" i="0">
                <a:solidFill>
                  <a:srgbClr val="0E1512"/>
                </a:solidFill>
                <a:latin typeface="Arial"/>
              </a:rPr>
              <a:t>Rebuilding (&lt;550):  L(k) ≤ 2c  ⇒  last 3 seats</a:t>
            </a:r>
          </a:p>
          <a:p>
            <a:pPr algn="l">
              <a:lnSpc>
                <a:spcPct val="120000"/>
              </a:lnSpc>
              <a:spcAft>
                <a:spcPts val="400"/>
              </a:spcAft>
            </a:pPr>
            <a:r>
              <a:rPr sz="1019" b="0" i="0">
                <a:solidFill>
                  <a:srgbClr val="0E1512"/>
                </a:solidFill>
                <a:latin typeface="Arial"/>
              </a:rPr>
              <a:t>Fair (550-649):     L(k) ≤ 7c  ⇒  k ≥ n−7</a:t>
            </a:r>
          </a:p>
          <a:p>
            <a:pPr algn="l">
              <a:lnSpc>
                <a:spcPct val="120000"/>
              </a:lnSpc>
              <a:spcAft>
                <a:spcPts val="400"/>
              </a:spcAft>
            </a:pPr>
            <a:r>
              <a:rPr sz="1019" b="0" i="0">
                <a:solidFill>
                  <a:srgbClr val="0E1512"/>
                </a:solidFill>
                <a:latin typeface="Arial"/>
              </a:rPr>
              <a:t>Good / Excellent:   any seat</a:t>
            </a:r>
          </a:p>
        </p:txBody>
      </p:sp>
      <p:sp>
        <p:nvSpPr>
          <p:cNvPr id="23" name="TextBox 22"/>
          <p:cNvSpPr txBox="1"/>
          <p:nvPr/>
        </p:nvSpPr>
        <p:spPr>
          <a:xfrm>
            <a:off x="6830568" y="2615184"/>
            <a:ext cx="4754880" cy="914400"/>
          </a:xfrm>
          <a:prstGeom prst="rect">
            <a:avLst/>
          </a:prstGeom>
          <a:noFill/>
        </p:spPr>
        <p:txBody>
          <a:bodyPr wrap="square" lIns="0" rIns="0" tIns="0" bIns="0" anchor="t">
            <a:spAutoFit/>
          </a:bodyPr>
          <a:lstStyle/>
          <a:p>
            <a:pPr algn="l">
              <a:lnSpc>
                <a:spcPct val="114000"/>
              </a:lnSpc>
              <a:spcAft>
                <a:spcPts val="400"/>
              </a:spcAft>
            </a:pPr>
            <a:r>
              <a:rPr sz="960" b="0" i="0">
                <a:solidFill>
                  <a:srgbClr val="0E1512"/>
                </a:solidFill>
                <a:latin typeface="Arial"/>
              </a:rPr>
              <a:t>For n = 12, Fair → k ≥ 5: position 5 of 12, exactly as specified, derived, not assumed. It generalises with no further tuning (n=6 → any; n=20 → seat 13; n=24 → seat 17), and a rupee cap sits alongside the multiple so a large installment cannot slip through. Tenure quarantine overrides all of it: new members take a last-three seat regardless of score.</a:t>
            </a:r>
          </a:p>
        </p:txBody>
      </p:sp>
      <p:sp>
        <p:nvSpPr>
          <p:cNvPr id="24" name="TextBox 23"/>
          <p:cNvSpPr txBox="1"/>
          <p:nvPr/>
        </p:nvSpPr>
        <p:spPr>
          <a:xfrm>
            <a:off x="6830568" y="3913632"/>
            <a:ext cx="475488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Graduation</a:t>
            </a:r>
          </a:p>
        </p:txBody>
      </p:sp>
      <p:sp>
        <p:nvSpPr>
          <p:cNvPr id="25" name="TextBox 24"/>
          <p:cNvSpPr txBox="1"/>
          <p:nvPr/>
        </p:nvSpPr>
        <p:spPr>
          <a:xfrm>
            <a:off x="6830568" y="4206240"/>
            <a:ext cx="4754880" cy="365760"/>
          </a:xfrm>
          <a:prstGeom prst="rect">
            <a:avLst/>
          </a:prstGeom>
          <a:noFill/>
        </p:spPr>
        <p:txBody>
          <a:bodyPr wrap="square" lIns="0" rIns="0" tIns="0" bIns="0">
            <a:spAutoFit/>
          </a:bodyPr>
          <a:lstStyle/>
          <a:p>
            <a:pPr>
              <a:lnSpc>
                <a:spcPct val="108000"/>
              </a:lnSpc>
              <a:spcAft>
                <a:spcPts val="500"/>
              </a:spcAft>
            </a:pPr>
            <a:r>
              <a:rPr sz="940" b="1">
                <a:solidFill>
                  <a:srgbClr val="D9A93C"/>
                </a:solidFill>
                <a:latin typeface="Georgia"/>
              </a:rPr>
              <a:t>|  </a:t>
            </a:r>
            <a:r>
              <a:rPr sz="940" b="1">
                <a:solidFill>
                  <a:srgbClr val="123D30"/>
                </a:solidFill>
                <a:latin typeface="Arial"/>
              </a:rPr>
              <a:t>Level 0 (new)  </a:t>
            </a:r>
            <a:r>
              <a:rPr sz="940">
                <a:solidFill>
                  <a:srgbClr val="0E1512"/>
                </a:solidFill>
                <a:latin typeface="Arial"/>
              </a:rPr>
              <a:t>last-3 seats only, any circle.</a:t>
            </a:r>
          </a:p>
          <a:p>
            <a:pPr>
              <a:lnSpc>
                <a:spcPct val="108000"/>
              </a:lnSpc>
              <a:spcAft>
                <a:spcPts val="500"/>
              </a:spcAft>
            </a:pPr>
            <a:r>
              <a:rPr sz="940" b="1">
                <a:solidFill>
                  <a:srgbClr val="D9A93C"/>
                </a:solidFill>
                <a:latin typeface="Georgia"/>
              </a:rPr>
              <a:t>|  </a:t>
            </a:r>
            <a:r>
              <a:rPr sz="940" b="1">
                <a:solidFill>
                  <a:srgbClr val="123D30"/>
                </a:solidFill>
                <a:latin typeface="Arial"/>
              </a:rPr>
              <a:t>Level 1  </a:t>
            </a:r>
            <a:r>
              <a:rPr sz="940">
                <a:solidFill>
                  <a:srgbClr val="0E1512"/>
                </a:solidFill>
                <a:latin typeface="Arial"/>
              </a:rPr>
              <a:t>one KNOWN + one OPEN circle completed at last-3 seats, every payment on time, score ≥650, manual check → full seat access.</a:t>
            </a:r>
          </a:p>
          <a:p>
            <a:pPr>
              <a:lnSpc>
                <a:spcPct val="108000"/>
              </a:lnSpc>
              <a:spcAft>
                <a:spcPts val="500"/>
              </a:spcAft>
            </a:pPr>
            <a:r>
              <a:rPr sz="940" b="1">
                <a:solidFill>
                  <a:srgbClr val="D9A93C"/>
                </a:solidFill>
                <a:latin typeface="Georgia"/>
              </a:rPr>
              <a:t>|  </a:t>
            </a:r>
            <a:r>
              <a:rPr sz="940" b="1">
                <a:solidFill>
                  <a:srgbClr val="123D30"/>
                </a:solidFill>
                <a:latin typeface="Arial"/>
              </a:rPr>
              <a:t>Why one of each  </a:t>
            </a:r>
            <a:r>
              <a:rPr sz="940">
                <a:solidFill>
                  <a:srgbClr val="0E1512"/>
                </a:solidFill>
                <a:latin typeface="Arial"/>
              </a:rPr>
              <a:t>a known circle proves you have a real network; an open circle proves you pay strangers. Neither alone proves both.</a:t>
            </a:r>
          </a:p>
        </p:txBody>
      </p:sp>
      <p:sp>
        <p:nvSpPr>
          <p:cNvPr id="26" name="TextBox 25"/>
          <p:cNvSpPr txBox="1"/>
          <p:nvPr/>
        </p:nvSpPr>
        <p:spPr>
          <a:xfrm>
            <a:off x="566928" y="4023360"/>
            <a:ext cx="5989320" cy="201168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Because the two differ only in who bears the loss, the same exit event resolves differently: an insured open circle does not contract when someone leaves (the facility buys the seat), so Level 3 needs no vote; an uninsured known circle genuinely loses a contribution per remaining pot, so it keeps the vote. That single difference, vote or no vote, is the cleanest way to explain to a member why open circles carry a premium and known circles do not.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HYPER</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HYPER: what it is, and its parameters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Daily contributions, large roster, random queue. You do not know anyone else in the circle and you cannot see them. There is no human host, Halqa runs the queue, which deletes the organiser-fraud topology entirely.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23</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reference product (live in the app)</a:t>
            </a:r>
          </a:p>
        </p:txBody>
      </p:sp>
      <p:cxnSp>
        <p:nvCxnSpPr>
          <p:cNvPr id="19" name="Connector 18"/>
          <p:cNvCxnSpPr/>
          <p:nvPr/>
        </p:nvCxnSpPr>
        <p:spPr>
          <a:xfrm>
            <a:off x="566928" y="1700784"/>
            <a:ext cx="5486400"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6928" y="2450592"/>
            <a:ext cx="5486400" cy="0"/>
          </a:xfrm>
          <a:prstGeom prst="line">
            <a:avLst/>
          </a:prstGeom>
          <a:ln w="13970">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1798259"/>
            <a:ext cx="1188720" cy="374904"/>
          </a:xfrm>
          <a:prstGeom prst="rect">
            <a:avLst/>
          </a:prstGeom>
          <a:noFill/>
        </p:spPr>
        <p:txBody>
          <a:bodyPr wrap="square" lIns="0" rIns="0" tIns="0" bIns="0" anchor="t">
            <a:spAutoFit/>
          </a:bodyPr>
          <a:lstStyle/>
          <a:p>
            <a:pPr algn="l">
              <a:lnSpc>
                <a:spcPct val="100000"/>
              </a:lnSpc>
              <a:spcAft>
                <a:spcPts val="400"/>
              </a:spcAft>
            </a:pPr>
            <a:r>
              <a:rPr sz="1700" b="0" i="0">
                <a:solidFill>
                  <a:srgbClr val="123D30"/>
                </a:solidFill>
                <a:latin typeface="Georgia"/>
              </a:rPr>
              <a:t>400</a:t>
            </a:r>
          </a:p>
        </p:txBody>
      </p:sp>
      <p:sp>
        <p:nvSpPr>
          <p:cNvPr id="22" name="TextBox 21"/>
          <p:cNvSpPr txBox="1"/>
          <p:nvPr/>
        </p:nvSpPr>
        <p:spPr>
          <a:xfrm>
            <a:off x="658368" y="2173163"/>
            <a:ext cx="1188720" cy="247436"/>
          </a:xfrm>
          <a:prstGeom prst="rect">
            <a:avLst/>
          </a:prstGeom>
          <a:noFill/>
        </p:spPr>
        <p:txBody>
          <a:bodyPr wrap="square" lIns="0" rIns="0" tIns="0" bIns="0" anchor="t">
            <a:spAutoFit/>
          </a:bodyPr>
          <a:lstStyle/>
          <a:p>
            <a:pPr algn="l">
              <a:lnSpc>
                <a:spcPct val="100000"/>
              </a:lnSpc>
              <a:spcAft>
                <a:spcPts val="400"/>
              </a:spcAft>
            </a:pPr>
            <a:r>
              <a:rPr sz="760" b="0" i="0" spc="50">
                <a:solidFill>
                  <a:srgbClr val="4C574F"/>
                </a:solidFill>
                <a:latin typeface="Arial"/>
              </a:rPr>
              <a:t>MEMBERS</a:t>
            </a:r>
          </a:p>
        </p:txBody>
      </p:sp>
      <p:cxnSp>
        <p:nvCxnSpPr>
          <p:cNvPr id="23" name="Connector 22"/>
          <p:cNvCxnSpPr/>
          <p:nvPr/>
        </p:nvCxnSpPr>
        <p:spPr>
          <a:xfrm>
            <a:off x="1938528" y="1835749"/>
            <a:ext cx="0" cy="479877"/>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029968" y="1798259"/>
            <a:ext cx="1188720" cy="374904"/>
          </a:xfrm>
          <a:prstGeom prst="rect">
            <a:avLst/>
          </a:prstGeom>
          <a:noFill/>
        </p:spPr>
        <p:txBody>
          <a:bodyPr wrap="square" lIns="0" rIns="0" tIns="0" bIns="0" anchor="t">
            <a:spAutoFit/>
          </a:bodyPr>
          <a:lstStyle/>
          <a:p>
            <a:pPr algn="l">
              <a:lnSpc>
                <a:spcPct val="100000"/>
              </a:lnSpc>
              <a:spcAft>
                <a:spcPts val="400"/>
              </a:spcAft>
            </a:pPr>
            <a:r>
              <a:rPr sz="1700" b="0" i="0">
                <a:solidFill>
                  <a:srgbClr val="123D30"/>
                </a:solidFill>
                <a:latin typeface="Georgia"/>
              </a:rPr>
              <a:t>60</a:t>
            </a:r>
          </a:p>
        </p:txBody>
      </p:sp>
      <p:sp>
        <p:nvSpPr>
          <p:cNvPr id="25" name="TextBox 24"/>
          <p:cNvSpPr txBox="1"/>
          <p:nvPr/>
        </p:nvSpPr>
        <p:spPr>
          <a:xfrm>
            <a:off x="2029968" y="2173163"/>
            <a:ext cx="1188720" cy="247436"/>
          </a:xfrm>
          <a:prstGeom prst="rect">
            <a:avLst/>
          </a:prstGeom>
          <a:noFill/>
        </p:spPr>
        <p:txBody>
          <a:bodyPr wrap="square" lIns="0" rIns="0" tIns="0" bIns="0" anchor="t">
            <a:spAutoFit/>
          </a:bodyPr>
          <a:lstStyle/>
          <a:p>
            <a:pPr algn="l">
              <a:lnSpc>
                <a:spcPct val="100000"/>
              </a:lnSpc>
              <a:spcAft>
                <a:spcPts val="400"/>
              </a:spcAft>
            </a:pPr>
            <a:r>
              <a:rPr sz="760" b="0" i="0" spc="50">
                <a:solidFill>
                  <a:srgbClr val="4C574F"/>
                </a:solidFill>
                <a:latin typeface="Arial"/>
              </a:rPr>
              <a:t>DAYS</a:t>
            </a:r>
          </a:p>
        </p:txBody>
      </p:sp>
      <p:cxnSp>
        <p:nvCxnSpPr>
          <p:cNvPr id="26" name="Connector 25"/>
          <p:cNvCxnSpPr/>
          <p:nvPr/>
        </p:nvCxnSpPr>
        <p:spPr>
          <a:xfrm>
            <a:off x="3310128" y="1835749"/>
            <a:ext cx="0" cy="479877"/>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401568" y="1798259"/>
            <a:ext cx="1188720" cy="374904"/>
          </a:xfrm>
          <a:prstGeom prst="rect">
            <a:avLst/>
          </a:prstGeom>
          <a:noFill/>
        </p:spPr>
        <p:txBody>
          <a:bodyPr wrap="square" lIns="0" rIns="0" tIns="0" bIns="0" anchor="t">
            <a:spAutoFit/>
          </a:bodyPr>
          <a:lstStyle/>
          <a:p>
            <a:pPr algn="l">
              <a:lnSpc>
                <a:spcPct val="100000"/>
              </a:lnSpc>
              <a:spcAft>
                <a:spcPts val="400"/>
              </a:spcAft>
            </a:pPr>
            <a:r>
              <a:rPr sz="1700" b="0" i="0">
                <a:solidFill>
                  <a:srgbClr val="123D30"/>
                </a:solidFill>
                <a:latin typeface="Georgia"/>
              </a:rPr>
              <a:t>7</a:t>
            </a:r>
          </a:p>
        </p:txBody>
      </p:sp>
      <p:sp>
        <p:nvSpPr>
          <p:cNvPr id="28" name="TextBox 27"/>
          <p:cNvSpPr txBox="1"/>
          <p:nvPr/>
        </p:nvSpPr>
        <p:spPr>
          <a:xfrm>
            <a:off x="3401568" y="2173163"/>
            <a:ext cx="1188720" cy="247436"/>
          </a:xfrm>
          <a:prstGeom prst="rect">
            <a:avLst/>
          </a:prstGeom>
          <a:noFill/>
        </p:spPr>
        <p:txBody>
          <a:bodyPr wrap="square" lIns="0" rIns="0" tIns="0" bIns="0" anchor="t">
            <a:spAutoFit/>
          </a:bodyPr>
          <a:lstStyle/>
          <a:p>
            <a:pPr algn="l">
              <a:lnSpc>
                <a:spcPct val="100000"/>
              </a:lnSpc>
              <a:spcAft>
                <a:spcPts val="400"/>
              </a:spcAft>
            </a:pPr>
            <a:r>
              <a:rPr sz="760" b="0" i="0" spc="50">
                <a:solidFill>
                  <a:srgbClr val="4C574F"/>
                </a:solidFill>
                <a:latin typeface="Arial"/>
              </a:rPr>
              <a:t>COLLECT A DAY</a:t>
            </a:r>
          </a:p>
        </p:txBody>
      </p:sp>
      <p:cxnSp>
        <p:nvCxnSpPr>
          <p:cNvPr id="29" name="Connector 28"/>
          <p:cNvCxnSpPr/>
          <p:nvPr/>
        </p:nvCxnSpPr>
        <p:spPr>
          <a:xfrm>
            <a:off x="4681728" y="1835749"/>
            <a:ext cx="0" cy="479877"/>
          </a:xfrm>
          <a:prstGeom prst="line">
            <a:avLst/>
          </a:prstGeom>
          <a:ln w="1270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773168" y="1798259"/>
            <a:ext cx="1188720" cy="374904"/>
          </a:xfrm>
          <a:prstGeom prst="rect">
            <a:avLst/>
          </a:prstGeom>
          <a:noFill/>
        </p:spPr>
        <p:txBody>
          <a:bodyPr wrap="square" lIns="0" rIns="0" tIns="0" bIns="0" anchor="t">
            <a:spAutoFit/>
          </a:bodyPr>
          <a:lstStyle/>
          <a:p>
            <a:pPr algn="l">
              <a:lnSpc>
                <a:spcPct val="100000"/>
              </a:lnSpc>
              <a:spcAft>
                <a:spcPts val="400"/>
              </a:spcAft>
            </a:pPr>
            <a:r>
              <a:rPr sz="1700" b="0" i="0">
                <a:solidFill>
                  <a:srgbClr val="123D30"/>
                </a:solidFill>
                <a:latin typeface="Georgia"/>
              </a:rPr>
              <a:t>Rs 15,000</a:t>
            </a:r>
          </a:p>
        </p:txBody>
      </p:sp>
      <p:sp>
        <p:nvSpPr>
          <p:cNvPr id="31" name="TextBox 30"/>
          <p:cNvSpPr txBox="1"/>
          <p:nvPr/>
        </p:nvSpPr>
        <p:spPr>
          <a:xfrm>
            <a:off x="4773168" y="2173163"/>
            <a:ext cx="1188720" cy="247436"/>
          </a:xfrm>
          <a:prstGeom prst="rect">
            <a:avLst/>
          </a:prstGeom>
          <a:noFill/>
        </p:spPr>
        <p:txBody>
          <a:bodyPr wrap="square" lIns="0" rIns="0" tIns="0" bIns="0" anchor="t">
            <a:spAutoFit/>
          </a:bodyPr>
          <a:lstStyle/>
          <a:p>
            <a:pPr algn="l">
              <a:lnSpc>
                <a:spcPct val="100000"/>
              </a:lnSpc>
              <a:spcAft>
                <a:spcPts val="400"/>
              </a:spcAft>
            </a:pPr>
            <a:r>
              <a:rPr sz="760" b="0" i="0" spc="50">
                <a:solidFill>
                  <a:srgbClr val="4C574F"/>
                </a:solidFill>
                <a:latin typeface="Arial"/>
              </a:rPr>
              <a:t>POT, HARD CAP</a:t>
            </a:r>
          </a:p>
        </p:txBody>
      </p:sp>
      <p:sp>
        <p:nvSpPr>
          <p:cNvPr id="32" name="TextBox 31"/>
          <p:cNvSpPr txBox="1"/>
          <p:nvPr/>
        </p:nvSpPr>
        <p:spPr>
          <a:xfrm>
            <a:off x="566928" y="2670048"/>
            <a:ext cx="5486400" cy="365760"/>
          </a:xfrm>
          <a:prstGeom prst="rect">
            <a:avLst/>
          </a:prstGeom>
          <a:noFill/>
        </p:spPr>
        <p:txBody>
          <a:bodyPr wrap="square" lIns="0" rIns="0" tIns="0" bIns="0">
            <a:spAutoFit/>
          </a:bodyPr>
          <a:lstStyle/>
          <a:p>
            <a:pPr>
              <a:lnSpc>
                <a:spcPct val="110000"/>
              </a:lnSpc>
              <a:spcAft>
                <a:spcPts val="600"/>
              </a:spcAft>
            </a:pPr>
            <a:r>
              <a:rPr sz="960" b="1">
                <a:solidFill>
                  <a:srgbClr val="D9A93C"/>
                </a:solidFill>
                <a:latin typeface="Georgia"/>
              </a:rPr>
              <a:t>|  </a:t>
            </a:r>
            <a:r>
              <a:rPr sz="960" b="1">
                <a:solidFill>
                  <a:srgbClr val="123D30"/>
                </a:solidFill>
                <a:latin typeface="Arial"/>
              </a:rPr>
              <a:t>Exposure is bounded by POT SIZE, not roster size  </a:t>
            </a:r>
            <a:r>
              <a:rPr sz="960">
                <a:solidFill>
                  <a:srgbClr val="0E1512"/>
                </a:solidFill>
                <a:latin typeface="Arial"/>
              </a:rPr>
              <a:t>the pot is hard-capped (Rs 15,000 in the reference engine; the live app runs Rs 9,000 at Rs 150/day). That cap is what makes a 30% design default rate financeable at all.</a:t>
            </a:r>
          </a:p>
          <a:p>
            <a:pPr>
              <a:lnSpc>
                <a:spcPct val="110000"/>
              </a:lnSpc>
              <a:spcAft>
                <a:spcPts val="600"/>
              </a:spcAft>
            </a:pPr>
            <a:r>
              <a:rPr sz="960" b="1">
                <a:solidFill>
                  <a:srgbClr val="D9A93C"/>
                </a:solidFill>
                <a:latin typeface="Georgia"/>
              </a:rPr>
              <a:t>|  </a:t>
            </a:r>
            <a:r>
              <a:rPr sz="960" b="1">
                <a:solidFill>
                  <a:srgbClr val="123D30"/>
                </a:solidFill>
                <a:latin typeface="Arial"/>
              </a:rPr>
              <a:t>Seven members collect each day  </a:t>
            </a:r>
            <a:r>
              <a:rPr sz="960">
                <a:solidFill>
                  <a:srgbClr val="0E1512"/>
                </a:solidFill>
                <a:latin typeface="Arial"/>
              </a:rPr>
              <a:t>six on the earliest days, seven thereafter, across the sixty-day cycle; ticket tiers Rs 100 / 150 / 200 / 500 per day.</a:t>
            </a:r>
          </a:p>
          <a:p>
            <a:pPr>
              <a:lnSpc>
                <a:spcPct val="110000"/>
              </a:lnSpc>
              <a:spcAft>
                <a:spcPts val="600"/>
              </a:spcAft>
            </a:pPr>
            <a:r>
              <a:rPr sz="960" b="1">
                <a:solidFill>
                  <a:srgbClr val="D9A93C"/>
                </a:solidFill>
                <a:latin typeface="Georgia"/>
              </a:rPr>
              <a:t>|  </a:t>
            </a:r>
            <a:r>
              <a:rPr sz="960" b="1">
                <a:solidFill>
                  <a:srgbClr val="123D30"/>
                </a:solidFill>
                <a:latin typeface="Arial"/>
              </a:rPr>
              <a:t>Anonymity is enforced at the query, not the UI  </a:t>
            </a:r>
            <a:r>
              <a:rPr sz="960">
                <a:solidFill>
                  <a:srgbClr val="0E1512"/>
                </a:solidFill>
                <a:latin typeface="Arial"/>
              </a:rPr>
              <a:t>CommitteeMember.displayAlias = “Member #7”; the members endpoint returns alias, seat and status only, it never joins User, so no name, photo, phone, city or score crosses the wire. No chat, no profile link, no export.</a:t>
            </a:r>
          </a:p>
          <a:p>
            <a:pPr>
              <a:lnSpc>
                <a:spcPct val="110000"/>
              </a:lnSpc>
              <a:spcAft>
                <a:spcPts val="600"/>
              </a:spcAft>
            </a:pPr>
            <a:r>
              <a:rPr sz="960" b="1">
                <a:solidFill>
                  <a:srgbClr val="D9A93C"/>
                </a:solidFill>
                <a:latin typeface="Georgia"/>
              </a:rPr>
              <a:t>|  </a:t>
            </a:r>
            <a:r>
              <a:rPr sz="960" b="1">
                <a:solidFill>
                  <a:srgbClr val="123D30"/>
                </a:solidFill>
                <a:latin typeface="Arial"/>
              </a:rPr>
              <a:t>Anonymity removes social enforcement  </a:t>
            </a:r>
            <a:r>
              <a:rPr sz="960">
                <a:solidFill>
                  <a:srgbClr val="0E1512"/>
                </a:solidFill>
                <a:latin typeface="Arial"/>
              </a:rPr>
              <a:t>so HYPER is the most heavily gated product on the platform, not the most open. The pledge (Stage 2) is the collateral the social bond provides everywhere else.</a:t>
            </a:r>
          </a:p>
        </p:txBody>
      </p:sp>
      <p:sp>
        <p:nvSpPr>
          <p:cNvPr id="33" name="TextBox 32"/>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Parameters</a:t>
            </a:r>
          </a:p>
        </p:txBody>
      </p:sp>
      <p:graphicFrame>
        <p:nvGraphicFramePr>
          <p:cNvPr id="34" name="Table 33"/>
          <p:cNvGraphicFramePr>
            <a:graphicFrameLocks noGrp="1"/>
          </p:cNvGraphicFramePr>
          <p:nvPr/>
        </p:nvGraphicFramePr>
        <p:xfrm>
          <a:off x="6419088" y="1700784"/>
          <a:ext cx="5166360" cy="4232208"/>
        </p:xfrm>
        <a:graphic>
          <a:graphicData uri="http://schemas.openxmlformats.org/drawingml/2006/table">
            <a:tbl>
              <a:tblPr>
                <a:tableStyleId>{5C22544A-7EE6-4342-B048-85BDC9FD1C3A}</a:tableStyleId>
              </a:tblPr>
              <a:tblGrid>
                <a:gridCol w="1549908"/>
                <a:gridCol w="3616452"/>
              </a:tblGrid>
              <a:tr h="391728">
                <a:tc>
                  <a:txBody>
                    <a:bodyPr wrap="square"/>
                    <a:lstStyle/>
                    <a:p>
                      <a:pPr algn="l"/>
                      <a:r>
                        <a:rPr sz="900" b="1">
                          <a:solidFill>
                            <a:srgbClr val="F6F1E4"/>
                          </a:solidFill>
                          <a:latin typeface="Arial"/>
                        </a:rPr>
                        <a:t>Parameter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Value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84048">
                <a:tc>
                  <a:txBody>
                    <a:bodyPr wrap="square"/>
                    <a:lstStyle/>
                    <a:p>
                      <a:pPr algn="l"/>
                      <a:r>
                        <a:rPr sz="880" b="0">
                          <a:solidFill>
                            <a:srgbClr val="0E1512"/>
                          </a:solidFill>
                          <a:latin typeface="Arial"/>
                        </a:rPr>
                        <a:t>Cadence / cycle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Daily / 48-60 days (60 recommended and maximum)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Seat assignment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Verifiable commit-reveal ballot only, no picking, no marketplace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Identity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Pseudonymous “Member #7”; no host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Rail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Raast, mandatory. No wallet fallback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Concurrency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One HYPER circle per member at a time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NADRA face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At join AND before every payout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Manual check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100% of first-time HYPER members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Grace / late ladder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12h; then 5% / 10% / 15% at T+12h / 36h / 60h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Score damage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−20 / −40 / −60; post-payout default −200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Exit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Substitution only, the standing queue always has a replacement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HYPER</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HYPER pricing, and why the cycle runs 48 to 60 days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You asked to charge much more on HYPER. You can, but the constraint is not our appetite: daily cadence turns every rupee of fee into a large annualised rate, and that rate is the exact number a hostile journalist or an SECP reviewer computes. The 400 banned lending apps were killed by it.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24</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early seat is a genuinely short loan</a:t>
            </a:r>
          </a:p>
        </p:txBody>
      </p:sp>
      <p:sp>
        <p:nvSpPr>
          <p:cNvPr id="19" name="Rectangle 18"/>
          <p:cNvSpPr/>
          <p:nvPr/>
        </p:nvSpPr>
        <p:spPr>
          <a:xfrm>
            <a:off x="566928" y="1700784"/>
            <a:ext cx="5486400" cy="603504"/>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4088" y="1810512"/>
            <a:ext cx="5212080" cy="457200"/>
          </a:xfrm>
          <a:prstGeom prst="rect">
            <a:avLst/>
          </a:prstGeom>
          <a:noFill/>
        </p:spPr>
        <p:txBody>
          <a:bodyPr wrap="square" lIns="0" rIns="0" tIns="0" bIns="0" anchor="t">
            <a:spAutoFit/>
          </a:bodyPr>
          <a:lstStyle/>
          <a:p>
            <a:pPr algn="ctr">
              <a:lnSpc>
                <a:spcPct val="100000"/>
              </a:lnSpc>
              <a:spcAft>
                <a:spcPts val="400"/>
              </a:spcAft>
            </a:pPr>
            <a:r>
              <a:rPr sz="1350" b="0" i="0">
                <a:solidFill>
                  <a:srgbClr val="123D30"/>
                </a:solidFill>
                <a:latin typeface="Georgia"/>
              </a:rPr>
              <a:t>APR-equivalent  =  2 × 365 × F  ÷  ((n−1)² × c)</a:t>
            </a:r>
          </a:p>
        </p:txBody>
      </p:sp>
      <p:sp>
        <p:nvSpPr>
          <p:cNvPr id="21" name="TextBox 20"/>
          <p:cNvSpPr txBox="1"/>
          <p:nvPr/>
        </p:nvSpPr>
        <p:spPr>
          <a:xfrm>
            <a:off x="566928" y="2395728"/>
            <a:ext cx="5486400" cy="457200"/>
          </a:xfrm>
          <a:prstGeom prst="rect">
            <a:avLst/>
          </a:prstGeom>
          <a:noFill/>
        </p:spPr>
        <p:txBody>
          <a:bodyPr wrap="square" lIns="0" rIns="0" tIns="0" bIns="0" anchor="t">
            <a:spAutoFit/>
          </a:bodyPr>
          <a:lstStyle/>
          <a:p>
            <a:pPr algn="l">
              <a:lnSpc>
                <a:spcPct val="114000"/>
              </a:lnSpc>
              <a:spcAft>
                <a:spcPts val="400"/>
              </a:spcAft>
            </a:pPr>
            <a:r>
              <a:rPr sz="980" b="0" i="0">
                <a:solidFill>
                  <a:srgbClr val="0E1512"/>
                </a:solidFill>
                <a:latin typeface="Arial"/>
              </a:rPr>
              <a:t>F is the all-in cost to seat 1, who receives n·c on day 1 having paid c, and amortises by c/day to zero. Worked at Rs 500/day, 30-day cycle, pot Rs 15,000:</a:t>
            </a:r>
          </a:p>
        </p:txBody>
      </p:sp>
      <p:graphicFrame>
        <p:nvGraphicFramePr>
          <p:cNvPr id="22" name="Table 21"/>
          <p:cNvGraphicFramePr>
            <a:graphicFrameLocks noGrp="1"/>
          </p:cNvGraphicFramePr>
          <p:nvPr/>
        </p:nvGraphicFramePr>
        <p:xfrm>
          <a:off x="566928" y="2907792"/>
          <a:ext cx="5486400" cy="1560697"/>
        </p:xfrm>
        <a:graphic>
          <a:graphicData uri="http://schemas.openxmlformats.org/drawingml/2006/table">
            <a:tbl>
              <a:tblPr>
                <a:tableStyleId>{5C22544A-7EE6-4342-B048-85BDC9FD1C3A}</a:tableStyleId>
              </a:tblPr>
              <a:tblGrid>
                <a:gridCol w="2194560"/>
                <a:gridCol w="1645920"/>
                <a:gridCol w="1645920"/>
              </a:tblGrid>
              <a:tr h="317113">
                <a:tc>
                  <a:txBody>
                    <a:bodyPr wrap="square"/>
                    <a:lstStyle/>
                    <a:p>
                      <a:pPr algn="l"/>
                      <a:r>
                        <a:rPr sz="960" b="1">
                          <a:solidFill>
                            <a:srgbClr val="F6F1E4"/>
                          </a:solidFill>
                          <a:latin typeface="Arial"/>
                        </a:rPr>
                        <a:t>All-in cost to seat 1</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60" b="1">
                          <a:solidFill>
                            <a:srgbClr val="F6F1E4"/>
                          </a:solidFill>
                          <a:latin typeface="Arial"/>
                        </a:rPr>
                        <a:t>As % of pot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60" b="1">
                          <a:solidFill>
                            <a:srgbClr val="F6F1E4"/>
                          </a:solidFill>
                          <a:latin typeface="Arial"/>
                        </a:rPr>
                        <a:t>APR-equivalent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960" b="0">
                          <a:solidFill>
                            <a:srgbClr val="0E1512"/>
                          </a:solidFill>
                          <a:latin typeface="Arial"/>
                        </a:rPr>
                        <a:t>Rs 276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1.84%</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48%</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60" b="0">
                          <a:solidFill>
                            <a:srgbClr val="0E1512"/>
                          </a:solidFill>
                          <a:latin typeface="Arial"/>
                        </a:rPr>
                        <a:t>Rs 450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78%</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60" b="0">
                          <a:solidFill>
                            <a:srgbClr val="0E1512"/>
                          </a:solidFill>
                          <a:latin typeface="Arial"/>
                        </a:rPr>
                        <a:t>Rs 750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5.0%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130%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60" b="0">
                          <a:solidFill>
                            <a:srgbClr val="0E1512"/>
                          </a:solidFill>
                          <a:latin typeface="Arial"/>
                        </a:rPr>
                        <a:t>Rs 1,500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10.0%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60" b="0">
                          <a:solidFill>
                            <a:srgbClr val="0E1512"/>
                          </a:solidFill>
                          <a:latin typeface="Arial"/>
                        </a:rPr>
                        <a:t>260%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3" name="TextBox 22"/>
          <p:cNvSpPr txBox="1"/>
          <p:nvPr/>
        </p:nvSpPr>
        <p:spPr>
          <a:xfrm>
            <a:off x="566928" y="4617720"/>
            <a:ext cx="5486400" cy="146304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Rs 1,500 on a Rs 15,000 pot feels like a modest 10%. It is 260% APR, nano-lender territory, and it ends the company. This is the single most important number in the HYPER design. The proposed hard internal ceiling is 48% APR-equivalent at the earliest seat, all-in: above a microfinance bank, far below anything predatory, and a number we can publish. The borrower’s TOTAL cost is the test, not Halqa’s cut.</a:t>
            </a:r>
          </a:p>
        </p:txBody>
      </p:sp>
      <p:sp>
        <p:nvSpPr>
          <p:cNvPr id="24" name="TextBox 23"/>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derived consequence: cycles ≥ 48 days</a:t>
            </a:r>
          </a:p>
        </p:txBody>
      </p:sp>
      <p:sp>
        <p:nvSpPr>
          <p:cNvPr id="25" name="TextBox 24"/>
          <p:cNvSpPr txBox="1"/>
          <p:nvPr/>
        </p:nvSpPr>
        <p:spPr>
          <a:xfrm>
            <a:off x="6419088" y="1737360"/>
            <a:ext cx="5166360" cy="109728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The risk-priced cover premium (r ≈ 1.5q, q ≈ 2%) is 3.0% of each installment over n installments, so it is ALWAYS 3.0% of the pot, whatever n is. But the APR ceiling as a share of pot grows with duration: 0.48(n−1)² / (730n). Setting the two equal solves to n ≈ 47.6.</a:t>
            </a:r>
          </a:p>
        </p:txBody>
      </p:sp>
      <p:graphicFrame>
        <p:nvGraphicFramePr>
          <p:cNvPr id="26" name="Table 25"/>
          <p:cNvGraphicFramePr>
            <a:graphicFrameLocks noGrp="1"/>
          </p:cNvGraphicFramePr>
          <p:nvPr/>
        </p:nvGraphicFramePr>
        <p:xfrm>
          <a:off x="6419088" y="2926080"/>
          <a:ext cx="5166360" cy="1560697"/>
        </p:xfrm>
        <a:graphic>
          <a:graphicData uri="http://schemas.openxmlformats.org/drawingml/2006/table">
            <a:tbl>
              <a:tblPr>
                <a:tableStyleId>{5C22544A-7EE6-4342-B048-85BDC9FD1C3A}</a:tableStyleId>
              </a:tblPr>
              <a:tblGrid>
                <a:gridCol w="1033272"/>
                <a:gridCol w="1549908"/>
                <a:gridCol w="1033272"/>
                <a:gridCol w="1549908"/>
              </a:tblGrid>
              <a:tr h="317113">
                <a:tc>
                  <a:txBody>
                    <a:bodyPr wrap="square"/>
                    <a:lstStyle/>
                    <a:p>
                      <a:pPr algn="l"/>
                      <a:r>
                        <a:rPr sz="900" b="1">
                          <a:solidFill>
                            <a:srgbClr val="F6F1E4"/>
                          </a:solidFill>
                          <a:latin typeface="Arial"/>
                        </a:rPr>
                        <a:t>Cycle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Ceiling (% of pot)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Premium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Verdict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919" b="0">
                          <a:solidFill>
                            <a:srgbClr val="0E1512"/>
                          </a:solidFill>
                          <a:latin typeface="Arial"/>
                        </a:rPr>
                        <a:t>15 days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0.90%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impossible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19" b="0">
                          <a:solidFill>
                            <a:srgbClr val="0E1512"/>
                          </a:solidFill>
                          <a:latin typeface="Arial"/>
                        </a:rPr>
                        <a:t>30 days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1.84%</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breaches by 1.16%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19" b="0">
                          <a:solidFill>
                            <a:srgbClr val="0E1512"/>
                          </a:solidFill>
                          <a:latin typeface="Arial"/>
                        </a:rPr>
                        <a:t>48 days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3.03%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the floor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19" b="0">
                          <a:solidFill>
                            <a:srgbClr val="0E1512"/>
                          </a:solidFill>
                          <a:latin typeface="Arial"/>
                        </a:rPr>
                        <a:t>60 days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3.81%</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works, 0.81% headroom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7" name="TextBox 26"/>
          <p:cNvSpPr txBox="1"/>
          <p:nvPr/>
        </p:nvSpPr>
        <p:spPr>
          <a:xfrm>
            <a:off x="6419088" y="4617720"/>
            <a:ext cx="5166360" cy="146304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A 30-day HYPER cannot be both risk-priced and non-predatory, a hard result, not an opinion. The chairman caps HYPER at 60 days; the floor is 48; the recommended setting is 60. Doubling the duration doubles the rupee fee at the same APR, and collateralising with a Safety Vault pledge (Stage 2) collapses q, which is what makes a genuine 15 or 30-day HYPER possible later.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HYPER</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HYPER fees, and where the margin is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Every charge sits inside the 48% ceiling at seat 1, checked at circle creation, a circle whose fee stack breaches it will not instantiate. HYPER’s fees run about 45% above open circles, but the margin is in the underwriting, not the fee line.</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25</a:t>
            </a:r>
          </a:p>
        </p:txBody>
      </p:sp>
      <p:sp>
        <p:nvSpPr>
          <p:cNvPr id="18" name="TextBox 17"/>
          <p:cNvSpPr txBox="1"/>
          <p:nvPr/>
        </p:nvSpPr>
        <p:spPr>
          <a:xfrm>
            <a:off x="566928" y="1389888"/>
            <a:ext cx="58521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10   Standard HYPER, 60 days, Rs 500/day, 60 members, pot Rs 30,000</a:t>
            </a:r>
          </a:p>
        </p:txBody>
      </p:sp>
      <p:graphicFrame>
        <p:nvGraphicFramePr>
          <p:cNvPr id="19" name="Table 18"/>
          <p:cNvGraphicFramePr>
            <a:graphicFrameLocks noGrp="1"/>
          </p:cNvGraphicFramePr>
          <p:nvPr/>
        </p:nvGraphicFramePr>
        <p:xfrm>
          <a:off x="566928" y="1609344"/>
          <a:ext cx="5852159" cy="2311968"/>
        </p:xfrm>
        <a:graphic>
          <a:graphicData uri="http://schemas.openxmlformats.org/drawingml/2006/table">
            <a:tbl>
              <a:tblPr>
                <a:tableStyleId>{5C22544A-7EE6-4342-B048-85BDC9FD1C3A}</a:tableStyleId>
              </a:tblPr>
              <a:tblGrid>
                <a:gridCol w="2457907"/>
                <a:gridCol w="2340864"/>
                <a:gridCol w="1053388"/>
              </a:tblGrid>
              <a:tr h="391728">
                <a:tc>
                  <a:txBody>
                    <a:bodyPr wrap="square"/>
                    <a:lstStyle/>
                    <a:p>
                      <a:pPr algn="l"/>
                      <a:r>
                        <a:rPr sz="919" b="1">
                          <a:solidFill>
                            <a:srgbClr val="F6F1E4"/>
                          </a:solidFill>
                          <a:latin typeface="Arial"/>
                        </a:rPr>
                        <a:t>Charge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Rate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Rupees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84048">
                <a:tc>
                  <a:txBody>
                    <a:bodyPr wrap="square"/>
                    <a:lstStyle/>
                    <a:p>
                      <a:pPr algn="l"/>
                      <a:r>
                        <a:rPr sz="919" b="0">
                          <a:solidFill>
                            <a:srgbClr val="0E1512"/>
                          </a:solidFill>
                          <a:latin typeface="Arial"/>
                        </a:rPr>
                        <a:t>Cover premium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3.0% of each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900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Access fee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0.6% of pot at seat 1, taper (n−k)/(n−1)</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180 → 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Late ladder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5% / 10% / 15% at T+12h / 36h / 60h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25 / 50 / 75</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0">
                          <a:solidFill>
                            <a:srgbClr val="0E1512"/>
                          </a:solidFill>
                          <a:latin typeface="Arial"/>
                        </a:rPr>
                        <a:t>Instant-cover fee (Halqa fronts a day)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2% of the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10 / day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19" b="1">
                          <a:solidFill>
                            <a:srgbClr val="0E1512"/>
                          </a:solidFill>
                          <a:latin typeface="Arial"/>
                        </a:rPr>
                        <a:t>All-in at seat 1</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1">
                          <a:solidFill>
                            <a:srgbClr val="0E1512"/>
                          </a:solidFill>
                          <a:latin typeface="Arial"/>
                        </a:rPr>
                        <a:t>3.6% of pot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1">
                          <a:solidFill>
                            <a:srgbClr val="0E1512"/>
                          </a:solidFill>
                          <a:latin typeface="Arial"/>
                        </a:rPr>
                        <a:t>Rs 1,080  →  APR 45.4% ✓</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3931920"/>
            <a:ext cx="585216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The same rate, four times the ticket</a:t>
            </a:r>
          </a:p>
        </p:txBody>
      </p:sp>
      <p:sp>
        <p:nvSpPr>
          <p:cNvPr id="21" name="TextBox 20"/>
          <p:cNvSpPr txBox="1"/>
          <p:nvPr/>
        </p:nvSpPr>
        <p:spPr>
          <a:xfrm>
            <a:off x="566928" y="4224528"/>
            <a:ext cx="5852160" cy="182880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At Rs 2,000/day, 60 members, pot Rs 120,000, the all-in at seat 1 is Rs 4,320, four times the rupees of the 30-day circle at a LOWER APR (still 45.4%). Duration and ticket size are the levers; the rate is fixed by the ceiling. That is the honest form of “charge much more”: the rate stays defensible and the volume does the work, six cycles a year instead of one, a roster of 60 instead of 12. HYPER’s cover premium (3%) deliberately exceeds the standard envelope; it is the price of anonymity, disclosed to the member in rupees, never in percent.</a:t>
            </a:r>
          </a:p>
        </p:txBody>
      </p:sp>
      <p:sp>
        <p:nvSpPr>
          <p:cNvPr id="22" name="TextBox 21"/>
          <p:cNvSpPr txBox="1"/>
          <p:nvPr/>
        </p:nvSpPr>
        <p:spPr>
          <a:xfrm>
            <a:off x="6739128" y="1389888"/>
            <a:ext cx="484632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Where HYPER’s money is, the margin</a:t>
            </a:r>
          </a:p>
        </p:txBody>
      </p:sp>
      <p:sp>
        <p:nvSpPr>
          <p:cNvPr id="23" name="Rectangle 22"/>
          <p:cNvSpPr/>
          <p:nvPr/>
        </p:nvSpPr>
        <p:spPr>
          <a:xfrm>
            <a:off x="6739128" y="1737360"/>
            <a:ext cx="4846320" cy="173736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76288" y="1847088"/>
            <a:ext cx="4572000" cy="1645920"/>
          </a:xfrm>
          <a:prstGeom prst="rect">
            <a:avLst/>
          </a:prstGeom>
          <a:noFill/>
        </p:spPr>
        <p:txBody>
          <a:bodyPr wrap="square" lIns="0" rIns="0" tIns="0" bIns="0" anchor="t">
            <a:spAutoFit/>
          </a:bodyPr>
          <a:lstStyle/>
          <a:p>
            <a:pPr algn="l">
              <a:lnSpc>
                <a:spcPct val="124000"/>
              </a:lnSpc>
              <a:spcAft>
                <a:spcPts val="400"/>
              </a:spcAft>
            </a:pPr>
            <a:r>
              <a:rPr sz="1019" b="0" i="0">
                <a:solidFill>
                  <a:srgbClr val="0E1512"/>
                </a:solidFill>
                <a:latin typeface="Arial"/>
              </a:rPr>
              <a:t>60-day, Rs 500/day, 60 members</a:t>
            </a:r>
          </a:p>
          <a:p>
            <a:pPr algn="l">
              <a:lnSpc>
                <a:spcPct val="124000"/>
              </a:lnSpc>
              <a:spcAft>
                <a:spcPts val="400"/>
              </a:spcAft>
            </a:pPr>
            <a:r>
              <a:rPr sz="1019" b="0" i="0">
                <a:solidFill>
                  <a:srgbClr val="0E1512"/>
                </a:solidFill>
                <a:latin typeface="Arial"/>
              </a:rPr>
              <a:t>Premium collected = 0.03×500×60×60  = Rs 54,000</a:t>
            </a:r>
          </a:p>
          <a:p>
            <a:pPr algn="l">
              <a:lnSpc>
                <a:spcPct val="124000"/>
              </a:lnSpc>
              <a:spcAft>
                <a:spcPts val="400"/>
              </a:spcAft>
            </a:pPr>
            <a:r>
              <a:rPr sz="1019" b="0" i="0">
                <a:solidFill>
                  <a:srgbClr val="0E1512"/>
                </a:solidFill>
                <a:latin typeface="Arial"/>
              </a:rPr>
              <a:t>Expected loss = 60×0.02×500×29.5   = Rs 17,700</a:t>
            </a:r>
          </a:p>
          <a:p>
            <a:pPr algn="l">
              <a:lnSpc>
                <a:spcPct val="124000"/>
              </a:lnSpc>
              <a:spcAft>
                <a:spcPts val="400"/>
              </a:spcAft>
            </a:pPr>
            <a:r>
              <a:rPr sz="1019" b="0" i="0">
                <a:solidFill>
                  <a:srgbClr val="0E1512"/>
                </a:solidFill>
                <a:latin typeface="Arial"/>
              </a:rPr>
              <a:t>Gross margin per cycle           = Rs 36,300</a:t>
            </a:r>
          </a:p>
          <a:p>
            <a:pPr algn="l">
              <a:lnSpc>
                <a:spcPct val="124000"/>
              </a:lnSpc>
              <a:spcAft>
                <a:spcPts val="400"/>
              </a:spcAft>
            </a:pPr>
            <a:r>
              <a:rPr sz="1019" b="0" i="0">
                <a:solidFill>
                  <a:srgbClr val="0E1512"/>
                </a:solidFill>
                <a:latin typeface="Arial"/>
              </a:rPr>
              <a:t>Cycles per year                  = 6</a:t>
            </a:r>
          </a:p>
          <a:p>
            <a:pPr algn="l">
              <a:lnSpc>
                <a:spcPct val="124000"/>
              </a:lnSpc>
              <a:spcAft>
                <a:spcPts val="400"/>
              </a:spcAft>
            </a:pPr>
            <a:r>
              <a:rPr sz="1019" b="0" i="0">
                <a:solidFill>
                  <a:srgbClr val="0E1512"/>
                </a:solidFill>
                <a:latin typeface="Arial"/>
              </a:rPr>
              <a:t>Per member per year (60)         = Rs 3,630</a:t>
            </a:r>
          </a:p>
        </p:txBody>
      </p:sp>
      <p:sp>
        <p:nvSpPr>
          <p:cNvPr id="25" name="TextBox 24"/>
          <p:cNvSpPr txBox="1"/>
          <p:nvPr/>
        </p:nvSpPr>
        <p:spPr>
          <a:xfrm>
            <a:off x="6739128" y="3657600"/>
            <a:ext cx="4846320" cy="2194560"/>
          </a:xfrm>
          <a:prstGeom prst="rect">
            <a:avLst/>
          </a:prstGeom>
          <a:noFill/>
        </p:spPr>
        <p:txBody>
          <a:bodyPr wrap="square" lIns="0" rIns="0" tIns="0" bIns="0" anchor="t">
            <a:spAutoFit/>
          </a:bodyPr>
          <a:lstStyle/>
          <a:p>
            <a:pPr algn="l">
              <a:lnSpc>
                <a:spcPct val="116000"/>
              </a:lnSpc>
              <a:spcAft>
                <a:spcPts val="400"/>
              </a:spcAft>
            </a:pPr>
            <a:r>
              <a:rPr sz="980" b="0" i="0">
                <a:solidFill>
                  <a:srgbClr val="0E1512"/>
                </a:solidFill>
                <a:latin typeface="Arial"/>
              </a:rPr>
              <a:t>Against a standard monthly circle, 1.5% × Rs 20,000 × 12 = Rs 3,600 premium, Rs 1,100 expected loss, Rs 2,500 gross margin per member per year, HYPER earns about 1.5× per member at half the ticket, roughly 3× on comparable flow, and it does it on velocity, not on rate. The natural launch channel is not the open internet: it is daily-wage workplaces, where an employer becomes the institutional anchor, one relationship, four hundred members, and the anonymity problem is solved by the anchor rather than by price.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HYPER</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Mass default: the score, and where the circle turns a loss for us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Four hundred people paying daily can vanish in countless ways: ten stop on day three, forty on day thirty, over a hundred scattered across the cycle. We do not try to list them. The model reads three things and turns them into one live number that says whether the circle still pays for itself or starts costing our balance sheet.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26</a:t>
            </a:r>
          </a:p>
        </p:txBody>
      </p:sp>
      <p:sp>
        <p:nvSpPr>
          <p:cNvPr id="18" name="TextBox 17"/>
          <p:cNvSpPr txBox="1"/>
          <p:nvPr/>
        </p:nvSpPr>
        <p:spPr>
          <a:xfrm>
            <a:off x="566928" y="1408176"/>
            <a:ext cx="557784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three things the model reads</a:t>
            </a:r>
          </a:p>
        </p:txBody>
      </p:sp>
      <p:sp>
        <p:nvSpPr>
          <p:cNvPr id="19" name="TextBox 18"/>
          <p:cNvSpPr txBox="1"/>
          <p:nvPr/>
        </p:nvSpPr>
        <p:spPr>
          <a:xfrm>
            <a:off x="566928" y="1737360"/>
            <a:ext cx="5577840" cy="365760"/>
          </a:xfrm>
          <a:prstGeom prst="rect">
            <a:avLst/>
          </a:prstGeom>
          <a:noFill/>
        </p:spPr>
        <p:txBody>
          <a:bodyPr wrap="square" lIns="0" rIns="0" tIns="0" bIns="0">
            <a:spAutoFit/>
          </a:bodyPr>
          <a:lstStyle/>
          <a:p>
            <a:pPr>
              <a:lnSpc>
                <a:spcPct val="110000"/>
              </a:lnSpc>
              <a:spcAft>
                <a:spcPts val="600"/>
              </a:spcAft>
            </a:pPr>
            <a:r>
              <a:rPr sz="960" b="1">
                <a:solidFill>
                  <a:srgbClr val="D9A93C"/>
                </a:solidFill>
                <a:latin typeface="Georgia"/>
              </a:rPr>
              <a:t>|  </a:t>
            </a:r>
            <a:r>
              <a:rPr sz="960" b="1">
                <a:solidFill>
                  <a:srgbClr val="123D30"/>
                </a:solidFill>
                <a:latin typeface="Arial"/>
              </a:rPr>
              <a:t>How many vanished after taking their pot  </a:t>
            </a:r>
            <a:r>
              <a:rPr sz="960">
                <a:solidFill>
                  <a:srgbClr val="0E1512"/>
                </a:solidFill>
                <a:latin typeface="Arial"/>
              </a:rPr>
              <a:t>only people who already collected count. Someone who quits before their turn received no money, so they cost the circle nothing.</a:t>
            </a:r>
          </a:p>
          <a:p>
            <a:pPr>
              <a:lnSpc>
                <a:spcPct val="110000"/>
              </a:lnSpc>
              <a:spcAft>
                <a:spcPts val="600"/>
              </a:spcAft>
            </a:pPr>
            <a:r>
              <a:rPr sz="960" b="1">
                <a:solidFill>
                  <a:srgbClr val="D9A93C"/>
                </a:solidFill>
                <a:latin typeface="Georgia"/>
              </a:rPr>
              <a:t>|  </a:t>
            </a:r>
            <a:r>
              <a:rPr sz="960" b="1">
                <a:solidFill>
                  <a:srgbClr val="123D30"/>
                </a:solidFill>
                <a:latin typeface="Arial"/>
              </a:rPr>
              <a:t>When each of them collected  </a:t>
            </a:r>
            <a:r>
              <a:rPr sz="960">
                <a:solidFill>
                  <a:srgbClr val="0E1512"/>
                </a:solidFill>
                <a:latin typeface="Arial"/>
              </a:rPr>
              <a:t>a member who vanishes on day 5, right after taking the pot, still owes the circle almost the whole thing. One who vanishes on day 50 has already paid most of it back. Timing matters as much as headcount.</a:t>
            </a:r>
          </a:p>
          <a:p>
            <a:pPr>
              <a:lnSpc>
                <a:spcPct val="110000"/>
              </a:lnSpc>
              <a:spcAft>
                <a:spcPts val="600"/>
              </a:spcAft>
            </a:pPr>
            <a:r>
              <a:rPr sz="960" b="1">
                <a:solidFill>
                  <a:srgbClr val="D9A93C"/>
                </a:solidFill>
                <a:latin typeface="Georgia"/>
              </a:rPr>
              <a:t>|  </a:t>
            </a:r>
            <a:r>
              <a:rPr sz="960" b="1">
                <a:solidFill>
                  <a:srgbClr val="123D30"/>
                </a:solidFill>
                <a:latin typeface="Arial"/>
              </a:rPr>
              <a:t>The fee the circle earns if everyone pays  </a:t>
            </a:r>
            <a:r>
              <a:rPr sz="960">
                <a:solidFill>
                  <a:srgbClr val="0E1512"/>
                </a:solidFill>
                <a:latin typeface="Arial"/>
              </a:rPr>
              <a:t>on the reference circle, Rs 900,000 (400 members, 60 days, Rs 250 a day, our 15 per cent).</a:t>
            </a:r>
          </a:p>
        </p:txBody>
      </p:sp>
      <p:sp>
        <p:nvSpPr>
          <p:cNvPr id="20" name="TextBox 19"/>
          <p:cNvSpPr txBox="1"/>
          <p:nvPr/>
        </p:nvSpPr>
        <p:spPr>
          <a:xfrm>
            <a:off x="566928" y="3611880"/>
            <a:ext cx="5577840" cy="146304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The score R is simply the money the vanished members still owe the circle, divided by that fee income. Below 1, the fees cover the loss and we keep the difference. Above 1, the circle costs us more than it earns, and the gap comes off our balance sheet. It is computed from what has ALREADY happened, so it is a live measurement wired to automatic action, not a forecast. A plain default rate cannot do this job: the same 120 members give R 0.54 if they leave late and about 3 if they leave early. Because each pot is capped at Rs 15,000, the worst case is bounded by pot size, not by the 400-person roster, which is exactly what makes a 30 per cent design default rate financeable.</a:t>
            </a:r>
          </a:p>
        </p:txBody>
      </p:sp>
      <p:sp>
        <p:nvSpPr>
          <p:cNvPr id="21" name="TextBox 20"/>
          <p:cNvSpPr txBox="1"/>
          <p:nvPr/>
        </p:nvSpPr>
        <p:spPr>
          <a:xfrm>
            <a:off x="6510528" y="1408176"/>
            <a:ext cx="50749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The whole spectrum, and what we do at each point</a:t>
            </a:r>
          </a:p>
        </p:txBody>
      </p:sp>
      <p:graphicFrame>
        <p:nvGraphicFramePr>
          <p:cNvPr id="22" name="Table 21"/>
          <p:cNvGraphicFramePr>
            <a:graphicFrameLocks noGrp="1"/>
          </p:cNvGraphicFramePr>
          <p:nvPr/>
        </p:nvGraphicFramePr>
        <p:xfrm>
          <a:off x="6510528" y="1755648"/>
          <a:ext cx="5074919" cy="3412906"/>
        </p:xfrm>
        <a:graphic>
          <a:graphicData uri="http://schemas.openxmlformats.org/drawingml/2006/table">
            <a:tbl>
              <a:tblPr>
                <a:tableStyleId>{5C22544A-7EE6-4342-B048-85BDC9FD1C3A}</a:tableStyleId>
              </a:tblPr>
              <a:tblGrid>
                <a:gridCol w="1014984"/>
                <a:gridCol w="1217980"/>
                <a:gridCol w="2841955"/>
              </a:tblGrid>
              <a:tr h="578266">
                <a:tc>
                  <a:txBody>
                    <a:bodyPr wrap="square"/>
                    <a:lstStyle/>
                    <a:p>
                      <a:pPr algn="l"/>
                      <a:r>
                        <a:rPr sz="860" b="1">
                          <a:solidFill>
                            <a:srgbClr val="F6F1E4"/>
                          </a:solidFill>
                          <a:latin typeface="Arial"/>
                        </a:rPr>
                        <a:t>Score 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60" b="1">
                          <a:solidFill>
                            <a:srgbClr val="F6F1E4"/>
                          </a:solidFill>
                          <a:latin typeface="Arial"/>
                        </a:rPr>
                        <a:t>Where the circle is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60" b="1">
                          <a:solidFill>
                            <a:srgbClr val="F6F1E4"/>
                          </a:solidFill>
                          <a:latin typeface="Arial"/>
                        </a:rPr>
                        <a:t>What we do</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566928">
                <a:tc>
                  <a:txBody>
                    <a:bodyPr wrap="square"/>
                    <a:lstStyle/>
                    <a:p>
                      <a:pPr algn="l"/>
                      <a:r>
                        <a:rPr sz="860" b="0">
                          <a:solidFill>
                            <a:srgbClr val="0E1512"/>
                          </a:solidFill>
                          <a:latin typeface="Arial"/>
                        </a:rPr>
                        <a:t>below 0.80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Self funding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Nothing. It pays for itself with margin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860" b="0">
                          <a:solidFill>
                            <a:srgbClr val="0E1512"/>
                          </a:solidFill>
                          <a:latin typeface="Arial"/>
                        </a:rPr>
                        <a:t>0.80 to 1.00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Design band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Nothing. Where a normal cycle sits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860" b="0">
                          <a:solidFill>
                            <a:srgbClr val="0E1512"/>
                          </a:solidFill>
                          <a:latin typeface="Arial"/>
                        </a:rPr>
                        <a:t>1.00 to 1.25</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Absorbing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Tighten new admissions; raise the next auction reserve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860" b="0">
                          <a:solidFill>
                            <a:srgbClr val="0E1512"/>
                          </a:solidFill>
                          <a:latin typeface="Arial"/>
                        </a:rPr>
                        <a:t>1.25 to 1.60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Cover engages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The cover facility pays; members still paid on time; we pursue the vanished as advances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860" b="0">
                          <a:solidFill>
                            <a:srgbClr val="0E1512"/>
                          </a:solidFill>
                          <a:latin typeface="Arial"/>
                        </a:rPr>
                        <a:t>above 1.60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Takaful attaches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Aggregate cap reached; the reinsurer carries it; freeze new circles on the tier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3" name="TextBox 22"/>
          <p:cNvSpPr txBox="1"/>
          <p:nvPr/>
        </p:nvSpPr>
        <p:spPr>
          <a:xfrm>
            <a:off x="6510528" y="5212080"/>
            <a:ext cx="507492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The engine also answers the one question an underwriter asks: how many more people could vanish, at the current average day, before the circle tips into the next band. Three worked cases, live, comfortable and catastrophic, are on the next page.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HYPER</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Three cases: where we stay in profit, where we manage, where only the cover saves us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same circle, read three ways. In each, members vanish after taking their pot, scattered across the days shown, while seven members collect each day. The reference circle earns Rs 900,000 in fees if everyone pays. This is the spectrum a partner should see before anything else.</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27</a:t>
            </a:r>
          </a:p>
        </p:txBody>
      </p:sp>
      <p:sp>
        <p:nvSpPr>
          <p:cNvPr id="18" name="Rectangle 17"/>
          <p:cNvSpPr/>
          <p:nvPr/>
        </p:nvSpPr>
        <p:spPr>
          <a:xfrm>
            <a:off x="566928" y="1517904"/>
            <a:ext cx="3493008" cy="4480560"/>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1517904"/>
            <a:ext cx="34930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1591056"/>
            <a:ext cx="3200400" cy="310896"/>
          </a:xfrm>
          <a:prstGeom prst="rect">
            <a:avLst/>
          </a:prstGeom>
          <a:noFill/>
        </p:spPr>
        <p:txBody>
          <a:bodyPr wrap="square" lIns="0" rIns="0" tIns="0" bIns="0" anchor="t">
            <a:spAutoFit/>
          </a:bodyPr>
          <a:lstStyle/>
          <a:p>
            <a:pPr algn="l">
              <a:lnSpc>
                <a:spcPct val="100000"/>
              </a:lnSpc>
              <a:spcAft>
                <a:spcPts val="400"/>
              </a:spcAft>
            </a:pPr>
            <a:r>
              <a:rPr sz="1250" b="0" i="0">
                <a:solidFill>
                  <a:srgbClr val="F6F1E4"/>
                </a:solidFill>
                <a:latin typeface="Georgia"/>
              </a:rPr>
              <a:t>We stay in profit</a:t>
            </a:r>
          </a:p>
        </p:txBody>
      </p:sp>
      <p:sp>
        <p:nvSpPr>
          <p:cNvPr id="21" name="TextBox 20"/>
          <p:cNvSpPr txBox="1"/>
          <p:nvPr/>
        </p:nvSpPr>
        <p:spPr>
          <a:xfrm>
            <a:off x="731520" y="2103120"/>
            <a:ext cx="3200400" cy="2377440"/>
          </a:xfrm>
          <a:prstGeom prst="rect">
            <a:avLst/>
          </a:prstGeom>
          <a:noFill/>
        </p:spPr>
        <p:txBody>
          <a:bodyPr wrap="square" lIns="0" rIns="0" tIns="0" bIns="0" anchor="t">
            <a:spAutoFit/>
          </a:bodyPr>
          <a:lstStyle/>
          <a:p>
            <a:pPr algn="l">
              <a:lnSpc>
                <a:spcPct val="120000"/>
              </a:lnSpc>
              <a:spcAft>
                <a:spcPts val="200"/>
              </a:spcAft>
            </a:pPr>
            <a:r>
              <a:rPr sz="1000" b="0" i="0">
                <a:solidFill>
                  <a:srgbClr val="0E1512"/>
                </a:solidFill>
                <a:latin typeface="Arial"/>
              </a:rPr>
              <a:t>120 members vanish, scattered across the LATE days, average day 46.</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Between them they still owe the circle Rs 483,000.</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Score R = 0.54</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The Rs 900,000 of fees more than covers it. The circle keeps Rs 417,000. We do nothing; it pays for itself.</a:t>
            </a:r>
          </a:p>
        </p:txBody>
      </p:sp>
      <p:sp>
        <p:nvSpPr>
          <p:cNvPr id="22" name="Rectangle 21"/>
          <p:cNvSpPr/>
          <p:nvPr/>
        </p:nvSpPr>
        <p:spPr>
          <a:xfrm>
            <a:off x="4270248" y="1517904"/>
            <a:ext cx="3493008" cy="4480560"/>
          </a:xfrm>
          <a:prstGeom prst="rect">
            <a:avLst/>
          </a:prstGeom>
          <a:solidFill>
            <a:srgbClr val="FFFFFF"/>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270248" y="1517904"/>
            <a:ext cx="3493008" cy="4572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434840" y="1591056"/>
            <a:ext cx="3200400" cy="310896"/>
          </a:xfrm>
          <a:prstGeom prst="rect">
            <a:avLst/>
          </a:prstGeom>
          <a:noFill/>
        </p:spPr>
        <p:txBody>
          <a:bodyPr wrap="square" lIns="0" rIns="0" tIns="0" bIns="0" anchor="t">
            <a:spAutoFit/>
          </a:bodyPr>
          <a:lstStyle/>
          <a:p>
            <a:pPr algn="l">
              <a:lnSpc>
                <a:spcPct val="100000"/>
              </a:lnSpc>
              <a:spcAft>
                <a:spcPts val="400"/>
              </a:spcAft>
            </a:pPr>
            <a:r>
              <a:rPr sz="1250" b="0" i="0">
                <a:solidFill>
                  <a:srgbClr val="F6F1E4"/>
                </a:solidFill>
                <a:latin typeface="Georgia"/>
              </a:rPr>
              <a:t>The cover carries it</a:t>
            </a:r>
          </a:p>
        </p:txBody>
      </p:sp>
      <p:sp>
        <p:nvSpPr>
          <p:cNvPr id="25" name="TextBox 24"/>
          <p:cNvSpPr txBox="1"/>
          <p:nvPr/>
        </p:nvSpPr>
        <p:spPr>
          <a:xfrm>
            <a:off x="4434840" y="2103120"/>
            <a:ext cx="3200400" cy="2377440"/>
          </a:xfrm>
          <a:prstGeom prst="rect">
            <a:avLst/>
          </a:prstGeom>
          <a:noFill/>
        </p:spPr>
        <p:txBody>
          <a:bodyPr wrap="square" lIns="0" rIns="0" tIns="0" bIns="0" anchor="t">
            <a:spAutoFit/>
          </a:bodyPr>
          <a:lstStyle/>
          <a:p>
            <a:pPr algn="l">
              <a:lnSpc>
                <a:spcPct val="120000"/>
              </a:lnSpc>
              <a:spcAft>
                <a:spcPts val="200"/>
              </a:spcAft>
            </a:pPr>
            <a:r>
              <a:rPr sz="1000" b="0" i="0">
                <a:solidFill>
                  <a:srgbClr val="0E1512"/>
                </a:solidFill>
                <a:latin typeface="Arial"/>
              </a:rPr>
              <a:t>150 members vanish, average day 32, mid cycle.</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Between them they owe Rs 1,207,500.</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Score R = 1.34</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Fees cover Rs 900,000; the gap, Rs 307,500, is our loss. The cover facility pays it, every remaining member is still paid on time, and each vanished member becomes a recovery case. Bounded, and reinsured above the cap.</a:t>
            </a:r>
          </a:p>
        </p:txBody>
      </p:sp>
      <p:sp>
        <p:nvSpPr>
          <p:cNvPr id="26" name="Rectangle 25"/>
          <p:cNvSpPr/>
          <p:nvPr/>
        </p:nvSpPr>
        <p:spPr>
          <a:xfrm>
            <a:off x="7973568" y="1517904"/>
            <a:ext cx="3520440" cy="4480560"/>
          </a:xfrm>
          <a:prstGeom prst="rect">
            <a:avLst/>
          </a:prstGeom>
          <a:solidFill>
            <a:srgbClr val="FFFFFF"/>
          </a:solidFill>
          <a:ln w="15240">
            <a:solidFill>
              <a:srgbClr val="8C2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973568" y="1517904"/>
            <a:ext cx="3520440" cy="457200"/>
          </a:xfrm>
          <a:prstGeom prst="rect">
            <a:avLst/>
          </a:prstGeom>
          <a:solidFill>
            <a:srgbClr val="8C2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138159" y="1591056"/>
            <a:ext cx="3200400" cy="310896"/>
          </a:xfrm>
          <a:prstGeom prst="rect">
            <a:avLst/>
          </a:prstGeom>
          <a:noFill/>
        </p:spPr>
        <p:txBody>
          <a:bodyPr wrap="square" lIns="0" rIns="0" tIns="0" bIns="0" anchor="t">
            <a:spAutoFit/>
          </a:bodyPr>
          <a:lstStyle/>
          <a:p>
            <a:pPr algn="l">
              <a:lnSpc>
                <a:spcPct val="100000"/>
              </a:lnSpc>
              <a:spcAft>
                <a:spcPts val="400"/>
              </a:spcAft>
            </a:pPr>
            <a:r>
              <a:rPr sz="1150" b="0" i="0">
                <a:solidFill>
                  <a:srgbClr val="F6F1E4"/>
                </a:solidFill>
                <a:latin typeface="Georgia"/>
              </a:rPr>
              <a:t>Only the cap and takaful save us</a:t>
            </a:r>
          </a:p>
        </p:txBody>
      </p:sp>
      <p:sp>
        <p:nvSpPr>
          <p:cNvPr id="29" name="TextBox 28"/>
          <p:cNvSpPr txBox="1"/>
          <p:nvPr/>
        </p:nvSpPr>
        <p:spPr>
          <a:xfrm>
            <a:off x="8138159" y="2103120"/>
            <a:ext cx="3246120" cy="2377440"/>
          </a:xfrm>
          <a:prstGeom prst="rect">
            <a:avLst/>
          </a:prstGeom>
          <a:noFill/>
        </p:spPr>
        <p:txBody>
          <a:bodyPr wrap="square" lIns="0" rIns="0" tIns="0" bIns="0" anchor="t">
            <a:spAutoFit/>
          </a:bodyPr>
          <a:lstStyle/>
          <a:p>
            <a:pPr algn="l">
              <a:lnSpc>
                <a:spcPct val="120000"/>
              </a:lnSpc>
              <a:spcAft>
                <a:spcPts val="200"/>
              </a:spcAft>
            </a:pPr>
            <a:r>
              <a:rPr sz="1000" b="0" i="0">
                <a:solidFill>
                  <a:srgbClr val="0E1512"/>
                </a:solidFill>
                <a:latin typeface="Arial"/>
              </a:rPr>
              <a:t>200 members, half the roster, vanish EARLY, average day 12, right after taking their pots.</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Between them they owe Rs 2,760,000.</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Score R = 3.07</a:t>
            </a:r>
          </a:p>
          <a:p>
            <a:pPr algn="l">
              <a:lnSpc>
                <a:spcPct val="120000"/>
              </a:lnSpc>
              <a:spcAft>
                <a:spcPts val="200"/>
              </a:spcAft>
            </a:pPr>
            <a:r>
              <a:rPr sz="1000" b="0" i="0">
                <a:solidFill>
                  <a:srgbClr val="0E1512"/>
                </a:solidFill>
                <a:latin typeface="Arial"/>
              </a:rPr>
              <a:t/>
            </a:r>
          </a:p>
          <a:p>
            <a:pPr algn="l">
              <a:lnSpc>
                <a:spcPct val="120000"/>
              </a:lnSpc>
              <a:spcAft>
                <a:spcPts val="200"/>
              </a:spcAft>
            </a:pPr>
            <a:r>
              <a:rPr sz="1000" b="0" i="0">
                <a:solidFill>
                  <a:srgbClr val="0E1512"/>
                </a:solidFill>
                <a:latin typeface="Arial"/>
              </a:rPr>
              <a:t>Our loss is Rs 1,860,000. The aggregate cap is breached, so the takaful reinsurance attaches and new circles on the tier freeze. The loss is bounded ONLY because each pot is capped at Rs 15,000.</a:t>
            </a:r>
          </a:p>
        </p:txBody>
      </p:sp>
      <p:sp>
        <p:nvSpPr>
          <p:cNvPr id="30" name="TextBox 29"/>
          <p:cNvSpPr txBox="1"/>
          <p:nvPr/>
        </p:nvSpPr>
        <p:spPr>
          <a:xfrm>
            <a:off x="566928" y="6144768"/>
            <a:ext cx="10881360" cy="365760"/>
          </a:xfrm>
          <a:prstGeom prst="rect">
            <a:avLst/>
          </a:prstGeom>
          <a:noFill/>
        </p:spPr>
        <p:txBody>
          <a:bodyPr wrap="square" lIns="0" rIns="0" tIns="0" bIns="0" anchor="t">
            <a:spAutoFit/>
          </a:bodyPr>
          <a:lstStyle/>
          <a:p>
            <a:pPr algn="l">
              <a:lnSpc>
                <a:spcPct val="114000"/>
              </a:lnSpc>
              <a:spcAft>
                <a:spcPts val="400"/>
              </a:spcAft>
            </a:pPr>
            <a:r>
              <a:rPr sz="960" b="0" i="0">
                <a:solidFill>
                  <a:srgbClr val="0E1512"/>
                </a:solidFill>
                <a:latin typeface="Arial"/>
              </a:rPr>
              <a:t>This is why HYPER is the most gated product we run: a score of 650 or more, two clean circles, verified income, and from Stage 2 a pledged Safety Vault. It is why the pot is capped and the rail is Raast only. The whole design exists to keep the third case rare, and survivable when it comes.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HYPER</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HYPER: requirements, the queue and security</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most gated product on the platform. Because there is no host and no roster until instantiation, HYPER needs a matching engine that no other circle type has, plus a same-day auto-cover backstop so the recipient never waits.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28</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Entry requirements</a:t>
            </a:r>
          </a:p>
        </p:txBody>
      </p:sp>
      <p:sp>
        <p:nvSpPr>
          <p:cNvPr id="19" name="TextBox 18"/>
          <p:cNvSpPr txBox="1"/>
          <p:nvPr/>
        </p:nvSpPr>
        <p:spPr>
          <a:xfrm>
            <a:off x="566928" y="1700784"/>
            <a:ext cx="5486400" cy="365760"/>
          </a:xfrm>
          <a:prstGeom prst="rect">
            <a:avLst/>
          </a:prstGeom>
          <a:noFill/>
        </p:spPr>
        <p:txBody>
          <a:bodyPr wrap="square" lIns="0" rIns="0" tIns="0" bIns="0">
            <a:spAutoFit/>
          </a:bodyPr>
          <a:lstStyle/>
          <a:p>
            <a:pPr>
              <a:lnSpc>
                <a:spcPct val="110000"/>
              </a:lnSpc>
              <a:spcAft>
                <a:spcPts val="600"/>
              </a:spcAft>
            </a:pPr>
            <a:r>
              <a:rPr sz="950" b="1">
                <a:solidFill>
                  <a:srgbClr val="D9A93C"/>
                </a:solidFill>
                <a:latin typeface="Georgia"/>
              </a:rPr>
              <a:t>|  </a:t>
            </a:r>
            <a:r>
              <a:rPr sz="950" b="1">
                <a:solidFill>
                  <a:srgbClr val="123D30"/>
                </a:solidFill>
                <a:latin typeface="Arial"/>
              </a:rPr>
              <a:t>Credit score ≥ 650, two completed circles clean, verified income  </a:t>
            </a:r>
            <a:r>
              <a:rPr sz="950">
                <a:solidFill>
                  <a:srgbClr val="0E1512"/>
                </a:solidFill>
                <a:latin typeface="Arial"/>
              </a:rPr>
              <a:t>the live app enforces this exactly, an 804-score account with 0 completions is refused with the reason shown.</a:t>
            </a:r>
          </a:p>
          <a:p>
            <a:pPr>
              <a:lnSpc>
                <a:spcPct val="110000"/>
              </a:lnSpc>
              <a:spcAft>
                <a:spcPts val="600"/>
              </a:spcAft>
            </a:pPr>
            <a:r>
              <a:rPr sz="950" b="1">
                <a:solidFill>
                  <a:srgbClr val="D9A93C"/>
                </a:solidFill>
                <a:latin typeface="Georgia"/>
              </a:rPr>
              <a:t>|  </a:t>
            </a:r>
            <a:r>
              <a:rPr sz="950" b="1">
                <a:solidFill>
                  <a:srgbClr val="123D30"/>
                </a:solidFill>
                <a:latin typeface="Arial"/>
              </a:rPr>
              <a:t>From Stage 2, a pledged Safety Vault covering L(k)  </a:t>
            </a:r>
            <a:r>
              <a:rPr sz="950">
                <a:solidFill>
                  <a:srgbClr val="0E1512"/>
                </a:solidFill>
                <a:latin typeface="Arial"/>
              </a:rPr>
              <a:t>a member whose pledged units cover their forward liability cannot default up to that pledge. In HYPER the pledge is the collateral the social bond provides elsewhere.</a:t>
            </a:r>
          </a:p>
          <a:p>
            <a:pPr>
              <a:lnSpc>
                <a:spcPct val="110000"/>
              </a:lnSpc>
              <a:spcAft>
                <a:spcPts val="600"/>
              </a:spcAft>
            </a:pPr>
            <a:r>
              <a:rPr sz="950" b="1">
                <a:solidFill>
                  <a:srgbClr val="D9A93C"/>
                </a:solidFill>
                <a:latin typeface="Georgia"/>
              </a:rPr>
              <a:t>|  </a:t>
            </a:r>
            <a:r>
              <a:rPr sz="950" b="1">
                <a:solidFill>
                  <a:srgbClr val="123D30"/>
                </a:solidFill>
                <a:latin typeface="Arial"/>
              </a:rPr>
              <a:t>Raast, mandatory, verified at creation  </a:t>
            </a:r>
            <a:r>
              <a:rPr sz="950">
                <a:solidFill>
                  <a:srgbClr val="0E1512"/>
                </a:solidFill>
                <a:latin typeface="Arial"/>
              </a:rPr>
              <a:t>a HYPER circle cannot instantiate unless every member has a verified Raast credential. A 1.5% wallet pull on daily cadence would cost Rs 27,000 against a Rs 30,000 pot, 90% of one pot. HYPER is a product on Raast or it does not exist.</a:t>
            </a:r>
          </a:p>
          <a:p>
            <a:pPr>
              <a:lnSpc>
                <a:spcPct val="110000"/>
              </a:lnSpc>
              <a:spcAft>
                <a:spcPts val="600"/>
              </a:spcAft>
            </a:pPr>
            <a:r>
              <a:rPr sz="950" b="1">
                <a:solidFill>
                  <a:srgbClr val="D9A93C"/>
                </a:solidFill>
                <a:latin typeface="Georgia"/>
              </a:rPr>
              <a:t>|  </a:t>
            </a:r>
            <a:r>
              <a:rPr sz="950" b="1">
                <a:solidFill>
                  <a:srgbClr val="123D30"/>
                </a:solidFill>
                <a:latin typeface="Arial"/>
              </a:rPr>
              <a:t>Stage-1 seats  </a:t>
            </a:r>
            <a:r>
              <a:rPr sz="950">
                <a:solidFill>
                  <a:srgbClr val="0E1512"/>
                </a:solidFill>
                <a:latin typeface="Arial"/>
              </a:rPr>
              <a:t>last-3 only for everyone below Excellent; NADRA face at join and before every payout; 100% manual check for first-timers.</a:t>
            </a:r>
          </a:p>
        </p:txBody>
      </p:sp>
      <p:sp>
        <p:nvSpPr>
          <p:cNvPr id="20" name="TextBox 19"/>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Queue mechanics, the part unique to HYPER</a:t>
            </a:r>
          </a:p>
        </p:txBody>
      </p:sp>
      <p:sp>
        <p:nvSpPr>
          <p:cNvPr id="21" name="TextBox 20"/>
          <p:cNvSpPr txBox="1"/>
          <p:nvPr/>
        </p:nvSpPr>
        <p:spPr>
          <a:xfrm>
            <a:off x="6419088" y="1719072"/>
            <a:ext cx="5166360" cy="365760"/>
          </a:xfrm>
          <a:prstGeom prst="rect">
            <a:avLst/>
          </a:prstGeom>
          <a:noFill/>
        </p:spPr>
        <p:txBody>
          <a:bodyPr wrap="square" lIns="0" rIns="0" tIns="0" bIns="0">
            <a:spAutoFit/>
          </a:bodyPr>
          <a:lstStyle/>
          <a:p>
            <a:pPr>
              <a:lnSpc>
                <a:spcPct val="105000"/>
              </a:lnSpc>
              <a:spcAft>
                <a:spcPts val="400"/>
              </a:spcAft>
            </a:pPr>
            <a:r>
              <a:rPr sz="900" b="1">
                <a:solidFill>
                  <a:srgbClr val="D9A93C"/>
                </a:solidFill>
                <a:latin typeface="Georgia"/>
              </a:rPr>
              <a:t>|  </a:t>
            </a:r>
            <a:r>
              <a:rPr sz="900" b="1">
                <a:solidFill>
                  <a:srgbClr val="123D30"/>
                </a:solidFill>
                <a:latin typeface="Arial"/>
              </a:rPr>
              <a:t>Intake  </a:t>
            </a:r>
            <a:r>
              <a:rPr sz="900">
                <a:solidFill>
                  <a:srgbClr val="0E1512"/>
                </a:solidFill>
                <a:latin typeface="Arial"/>
              </a:rPr>
              <a:t>a member joins a POOL, not a circle, one pool per (ticket tier × cycle length). The screen shows their queue position and projected start, and nothing about anyone else.</a:t>
            </a:r>
          </a:p>
          <a:p>
            <a:pPr>
              <a:lnSpc>
                <a:spcPct val="105000"/>
              </a:lnSpc>
              <a:spcAft>
                <a:spcPts val="400"/>
              </a:spcAft>
            </a:pPr>
            <a:r>
              <a:rPr sz="900" b="1">
                <a:solidFill>
                  <a:srgbClr val="D9A93C"/>
                </a:solidFill>
                <a:latin typeface="Georgia"/>
              </a:rPr>
              <a:t>|  </a:t>
            </a:r>
            <a:r>
              <a:rPr sz="900" b="1">
                <a:solidFill>
                  <a:srgbClr val="123D30"/>
                </a:solidFill>
                <a:latin typeface="Arial"/>
              </a:rPr>
              <a:t>Instantiation  </a:t>
            </a:r>
            <a:r>
              <a:rPr sz="900">
                <a:solidFill>
                  <a:srgbClr val="0E1512"/>
                </a:solidFill>
                <a:latin typeface="Arial"/>
              </a:rPr>
              <a:t>when a pool reaches n eligible members, a circle forms and the commit-reveal ballot runs; members are notified with seat, collection date and forward liability in rupees.</a:t>
            </a:r>
          </a:p>
          <a:p>
            <a:pPr>
              <a:lnSpc>
                <a:spcPct val="105000"/>
              </a:lnSpc>
              <a:spcAft>
                <a:spcPts val="400"/>
              </a:spcAft>
            </a:pPr>
            <a:r>
              <a:rPr sz="900" b="1">
                <a:solidFill>
                  <a:srgbClr val="D9A93C"/>
                </a:solidFill>
                <a:latin typeface="Georgia"/>
              </a:rPr>
              <a:t>|  </a:t>
            </a:r>
            <a:r>
              <a:rPr sz="900" b="1">
                <a:solidFill>
                  <a:srgbClr val="123D30"/>
                </a:solidFill>
                <a:latin typeface="Arial"/>
              </a:rPr>
              <a:t>Assignment guards  </a:t>
            </a:r>
            <a:r>
              <a:rPr sz="900">
                <a:solidFill>
                  <a:srgbClr val="0E1512"/>
                </a:solidFill>
                <a:latin typeface="Arial"/>
              </a:rPr>
              <a:t>no two device-, IP-, referral-, guarantor- or address-clustered accounts in one circle (the only collusion attack left under anonymity is stacking a circle with your own accounts); band-and-tenure sort so the ballot is random within what each may hold.</a:t>
            </a:r>
          </a:p>
          <a:p>
            <a:pPr>
              <a:lnSpc>
                <a:spcPct val="105000"/>
              </a:lnSpc>
              <a:spcAft>
                <a:spcPts val="400"/>
              </a:spcAft>
            </a:pPr>
            <a:r>
              <a:rPr sz="900" b="1">
                <a:solidFill>
                  <a:srgbClr val="D9A93C"/>
                </a:solidFill>
                <a:latin typeface="Georgia"/>
              </a:rPr>
              <a:t>|  </a:t>
            </a:r>
            <a:r>
              <a:rPr sz="900" b="1">
                <a:solidFill>
                  <a:srgbClr val="123D30"/>
                </a:solidFill>
                <a:latin typeface="Arial"/>
              </a:rPr>
              <a:t>No pay, no pot  </a:t>
            </a:r>
            <a:r>
              <a:rPr sz="900">
                <a:solidFill>
                  <a:srgbClr val="0E1512"/>
                </a:solidFill>
                <a:latin typeface="Arial"/>
              </a:rPr>
              <a:t>you only collect on your day if you are paid up. Miss, and the cover facility pays the day’s recipient at T+12h so nobody waits, then you are chased and, after three misses, removed. A non-payer is never handed a pot, and the netting means your own installment for your collection day is taken out of the pot, not paid separately.</a:t>
            </a:r>
          </a:p>
          <a:p>
            <a:pPr>
              <a:lnSpc>
                <a:spcPct val="105000"/>
              </a:lnSpc>
              <a:spcAft>
                <a:spcPts val="400"/>
              </a:spcAft>
            </a:pPr>
            <a:r>
              <a:rPr sz="900" b="1">
                <a:solidFill>
                  <a:srgbClr val="D9A93C"/>
                </a:solidFill>
                <a:latin typeface="Georgia"/>
              </a:rPr>
              <a:t>|  </a:t>
            </a:r>
            <a:r>
              <a:rPr sz="900" b="1">
                <a:solidFill>
                  <a:srgbClr val="123D30"/>
                </a:solidFill>
                <a:latin typeface="Arial"/>
              </a:rPr>
              <a:t>Payout + backstop  </a:t>
            </a:r>
            <a:r>
              <a:rPr sz="900">
                <a:solidFill>
                  <a:srgbClr val="0E1512"/>
                </a:solidFill>
                <a:latin typeface="Arial"/>
              </a:rPr>
              <a:t>single daily settlement 09:00 PKT, Raast, netted; substitution from the standing pool the same day, so there is no vote, no restitution and no exit ladder.</a:t>
            </a:r>
          </a:p>
          <a:p>
            <a:pPr>
              <a:lnSpc>
                <a:spcPct val="105000"/>
              </a:lnSpc>
              <a:spcAft>
                <a:spcPts val="400"/>
              </a:spcAft>
            </a:pPr>
            <a:r>
              <a:rPr sz="900" b="1">
                <a:solidFill>
                  <a:srgbClr val="D9A93C"/>
                </a:solidFill>
                <a:latin typeface="Georgia"/>
              </a:rPr>
              <a:t>|  </a:t>
            </a:r>
            <a:r>
              <a:rPr sz="900" b="1">
                <a:solidFill>
                  <a:srgbClr val="123D30"/>
                </a:solidFill>
                <a:latin typeface="Arial"/>
              </a:rPr>
              <a:t>Rejoin  </a:t>
            </a:r>
            <a:r>
              <a:rPr sz="900">
                <a:solidFill>
                  <a:srgbClr val="0E1512"/>
                </a:solidFill>
                <a:latin typeface="Arial"/>
              </a:rPr>
              <a:t>clean completion offers the next cycle with queue priority, the retention loop that makes lifetime value high despite the small ticket.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HYPER</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HYPER on the phone, gated in the app</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29</a:t>
            </a:r>
          </a:p>
        </p:txBody>
      </p:sp>
      <p:sp>
        <p:nvSpPr>
          <p:cNvPr id="17" name="Rectangle 16"/>
          <p:cNvSpPr/>
          <p:nvPr/>
        </p:nvSpPr>
        <p:spPr>
          <a:xfrm>
            <a:off x="649224" y="1362456"/>
            <a:ext cx="2285761" cy="4818888"/>
          </a:xfrm>
          <a:prstGeom prst="rect">
            <a:avLst/>
          </a:prstGeom>
          <a:solidFill>
            <a:srgbClr val="123D30"/>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03-hyper.png"/>
          <p:cNvPicPr>
            <a:picLocks noChangeAspect="1"/>
          </p:cNvPicPr>
          <p:nvPr/>
        </p:nvPicPr>
        <p:blipFill>
          <a:blip r:embed="rId2"/>
          <a:stretch>
            <a:fillRect/>
          </a:stretch>
        </p:blipFill>
        <p:spPr>
          <a:xfrm>
            <a:off x="704088" y="1417320"/>
            <a:ext cx="2176033" cy="4709160"/>
          </a:xfrm>
          <a:prstGeom prst="rect">
            <a:avLst/>
          </a:prstGeom>
        </p:spPr>
      </p:pic>
      <p:sp>
        <p:nvSpPr>
          <p:cNvPr id="19" name="TextBox 18"/>
          <p:cNvSpPr txBox="1"/>
          <p:nvPr/>
        </p:nvSpPr>
        <p:spPr>
          <a:xfrm>
            <a:off x="704088" y="6236208"/>
            <a:ext cx="2176033" cy="274320"/>
          </a:xfrm>
          <a:prstGeom prst="rect">
            <a:avLst/>
          </a:prstGeom>
          <a:noFill/>
        </p:spPr>
        <p:txBody>
          <a:bodyPr wrap="square" lIns="0" rIns="0" tIns="0" bIns="0" anchor="t">
            <a:spAutoFit/>
          </a:bodyPr>
          <a:lstStyle/>
          <a:p>
            <a:pPr algn="l">
              <a:lnSpc>
                <a:spcPct val="100000"/>
              </a:lnSpc>
              <a:spcAft>
                <a:spcPts val="400"/>
              </a:spcAft>
            </a:pPr>
            <a:r>
              <a:rPr sz="819" b="0" i="1">
                <a:solidFill>
                  <a:srgbClr val="4C574F"/>
                </a:solidFill>
                <a:latin typeface="Arial"/>
              </a:rPr>
              <a:t>Live production build, halqa-seven.vercel.app</a:t>
            </a:r>
          </a:p>
        </p:txBody>
      </p:sp>
      <p:sp>
        <p:nvSpPr>
          <p:cNvPr id="20" name="TextBox 19"/>
          <p:cNvSpPr txBox="1"/>
          <p:nvPr/>
        </p:nvSpPr>
        <p:spPr>
          <a:xfrm>
            <a:off x="3383041" y="1481328"/>
            <a:ext cx="8241726"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The most gated product, shown honestly</a:t>
            </a:r>
          </a:p>
        </p:txBody>
      </p:sp>
      <p:sp>
        <p:nvSpPr>
          <p:cNvPr id="21" name="Rectangle 20"/>
          <p:cNvSpPr/>
          <p:nvPr/>
        </p:nvSpPr>
        <p:spPr>
          <a:xfrm>
            <a:off x="3383041" y="1938528"/>
            <a:ext cx="45720" cy="182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041" y="1975104"/>
            <a:ext cx="8241726" cy="365760"/>
          </a:xfrm>
          <a:prstGeom prst="rect">
            <a:avLst/>
          </a:prstGeom>
          <a:noFill/>
        </p:spPr>
        <p:txBody>
          <a:bodyPr wrap="square" lIns="0" rIns="0" tIns="0" bIns="0">
            <a:spAutoFit/>
          </a:bodyPr>
          <a:lstStyle/>
          <a:p>
            <a:pPr>
              <a:lnSpc>
                <a:spcPct val="112000"/>
              </a:lnSpc>
              <a:spcAft>
                <a:spcPts val="800"/>
              </a:spcAft>
            </a:pPr>
            <a:r>
              <a:rPr sz="1140" b="1">
                <a:solidFill>
                  <a:srgbClr val="D9A93C"/>
                </a:solidFill>
                <a:latin typeface="Georgia"/>
              </a:rPr>
              <a:t>|  </a:t>
            </a:r>
            <a:r>
              <a:rPr sz="1140" b="1">
                <a:solidFill>
                  <a:srgbClr val="123D30"/>
                </a:solidFill>
                <a:latin typeface="Arial"/>
              </a:rPr>
              <a:t>The reference product  </a:t>
            </a:r>
            <a:r>
              <a:rPr sz="1140">
                <a:solidFill>
                  <a:srgbClr val="0E1512"/>
                </a:solidFill>
                <a:latin typeface="Arial"/>
              </a:rPr>
              <a:t>60 days, 400 members, pot Rs 9,000 (Rs 150 a day), seven collecting a day.</a:t>
            </a:r>
          </a:p>
          <a:p>
            <a:pPr>
              <a:lnSpc>
                <a:spcPct val="112000"/>
              </a:lnSpc>
              <a:spcAft>
                <a:spcPts val="800"/>
              </a:spcAft>
            </a:pPr>
            <a:r>
              <a:rPr sz="1140" b="1">
                <a:solidFill>
                  <a:srgbClr val="D9A93C"/>
                </a:solidFill>
                <a:latin typeface="Georgia"/>
              </a:rPr>
              <a:t>|  </a:t>
            </a:r>
            <a:r>
              <a:rPr sz="1140" b="1">
                <a:solidFill>
                  <a:srgbClr val="123D30"/>
                </a:solidFill>
                <a:latin typeface="Arial"/>
              </a:rPr>
              <a:t>Cover premium 15 per cent, disclosed  </a:t>
            </a:r>
            <a:r>
              <a:rPr sz="1140">
                <a:solidFill>
                  <a:srgbClr val="0E1512"/>
                </a:solidFill>
                <a:latin typeface="Arial"/>
              </a:rPr>
              <a:t>the price of anonymity, shown as a rate and in rupees over the cycle.</a:t>
            </a:r>
          </a:p>
          <a:p>
            <a:pPr>
              <a:lnSpc>
                <a:spcPct val="112000"/>
              </a:lnSpc>
              <a:spcAft>
                <a:spcPts val="800"/>
              </a:spcAft>
            </a:pPr>
            <a:r>
              <a:rPr sz="1140" b="1">
                <a:solidFill>
                  <a:srgbClr val="D9A93C"/>
                </a:solidFill>
                <a:latin typeface="Georgia"/>
              </a:rPr>
              <a:t>|  </a:t>
            </a:r>
            <a:r>
              <a:rPr sz="1140" b="1">
                <a:solidFill>
                  <a:srgbClr val="123D30"/>
                </a:solidFill>
                <a:latin typeface="Arial"/>
              </a:rPr>
              <a:t>The gate, enforced live  </a:t>
            </a:r>
            <a:r>
              <a:rPr sz="1140">
                <a:solidFill>
                  <a:srgbClr val="0E1512"/>
                </a:solidFill>
                <a:latin typeface="Arial"/>
              </a:rPr>
              <a:t>Not open to you yet. HYPER needs a score of 650 or more and two completed committees. You are at 804 with 0 completed.</a:t>
            </a:r>
          </a:p>
          <a:p>
            <a:pPr>
              <a:lnSpc>
                <a:spcPct val="112000"/>
              </a:lnSpc>
              <a:spcAft>
                <a:spcPts val="800"/>
              </a:spcAft>
            </a:pPr>
            <a:r>
              <a:rPr sz="1140" b="1">
                <a:solidFill>
                  <a:srgbClr val="D9A93C"/>
                </a:solidFill>
                <a:latin typeface="Georgia"/>
              </a:rPr>
              <a:t>|  </a:t>
            </a:r>
            <a:r>
              <a:rPr sz="1140" b="1">
                <a:solidFill>
                  <a:srgbClr val="123D30"/>
                </a:solidFill>
                <a:latin typeface="Arial"/>
              </a:rPr>
              <a:t>The opening auction  </a:t>
            </a:r>
            <a:r>
              <a:rPr sz="1140">
                <a:solidFill>
                  <a:srgbClr val="0E1512"/>
                </a:solidFill>
                <a:latin typeface="Arial"/>
              </a:rPr>
              <a:t>a 24-hour bid for one day only; unallocated days go to ballot, and only a winning bid is charged. No per-round discount auction.</a:t>
            </a:r>
          </a:p>
          <a:p>
            <a:pPr>
              <a:lnSpc>
                <a:spcPct val="112000"/>
              </a:lnSpc>
              <a:spcAft>
                <a:spcPts val="800"/>
              </a:spcAft>
            </a:pPr>
            <a:r>
              <a:rPr sz="1140" b="1">
                <a:solidFill>
                  <a:srgbClr val="D9A93C"/>
                </a:solidFill>
                <a:latin typeface="Georgia"/>
              </a:rPr>
              <a:t>|  </a:t>
            </a:r>
            <a:r>
              <a:rPr sz="1140" b="1">
                <a:solidFill>
                  <a:srgbClr val="123D30"/>
                </a:solidFill>
                <a:latin typeface="Arial"/>
              </a:rPr>
              <a:t>Pick a collection day  </a:t>
            </a:r>
            <a:r>
              <a:rPr sz="1140">
                <a:solidFill>
                  <a:srgbClr val="0E1512"/>
                </a:solidFill>
                <a:latin typeface="Arial"/>
              </a:rPr>
              <a:t>every seat priced by position, the earliest carrying the access fee.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ASSET CIRCLES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Asset-backed committees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sharpest question in the brief: how does a member take a thing at their turn without owning it outright until they have finished paying, “not by us necessarily, just take it away from the guy”? The answer needs Halqa to own, hold, finance and repossess nothing.</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30</a:t>
            </a:r>
          </a:p>
        </p:txBody>
      </p:sp>
      <p:sp>
        <p:nvSpPr>
          <p:cNvPr id="18" name="TextBox 17"/>
          <p:cNvSpPr txBox="1"/>
          <p:nvPr/>
        </p:nvSpPr>
        <p:spPr>
          <a:xfrm>
            <a:off x="566928" y="1389888"/>
            <a:ext cx="557784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mechanism, retention of title</a:t>
            </a:r>
          </a:p>
        </p:txBody>
      </p:sp>
      <p:sp>
        <p:nvSpPr>
          <p:cNvPr id="19" name="TextBox 18"/>
          <p:cNvSpPr txBox="1"/>
          <p:nvPr/>
        </p:nvSpPr>
        <p:spPr>
          <a:xfrm>
            <a:off x="566928" y="1700784"/>
            <a:ext cx="5577840" cy="365760"/>
          </a:xfrm>
          <a:prstGeom prst="rect">
            <a:avLst/>
          </a:prstGeom>
          <a:noFill/>
        </p:spPr>
        <p:txBody>
          <a:bodyPr wrap="square" lIns="0" rIns="0" tIns="0" bIns="0">
            <a:spAutoFit/>
          </a:bodyPr>
          <a:lstStyle/>
          <a:p>
            <a:pPr>
              <a:lnSpc>
                <a:spcPct val="110000"/>
              </a:lnSpc>
              <a:spcAft>
                <a:spcPts val="600"/>
              </a:spcAft>
            </a:pPr>
            <a:r>
              <a:rPr sz="940" b="1">
                <a:solidFill>
                  <a:srgbClr val="D9A93C"/>
                </a:solidFill>
                <a:latin typeface="Georgia"/>
              </a:rPr>
              <a:t>|  </a:t>
            </a:r>
            <a:r>
              <a:rPr sz="940" b="1">
                <a:solidFill>
                  <a:srgbClr val="123D30"/>
                </a:solidFill>
                <a:latin typeface="Arial"/>
              </a:rPr>
              <a:t>Conditional sale, title retained  </a:t>
            </a:r>
            <a:r>
              <a:rPr sz="940">
                <a:solidFill>
                  <a:srgbClr val="0E1512"/>
                </a:solidFill>
                <a:latin typeface="Arial"/>
              </a:rPr>
              <a:t>under the Sale of Goods Act 1930 property passes when the parties intend and a seller may reserve title until conditions are met. Possession and use pass at the member’s turn; legal title does not.</a:t>
            </a:r>
          </a:p>
          <a:p>
            <a:pPr>
              <a:lnSpc>
                <a:spcPct val="110000"/>
              </a:lnSpc>
              <a:spcAft>
                <a:spcPts val="600"/>
              </a:spcAft>
            </a:pPr>
            <a:r>
              <a:rPr sz="940" b="1">
                <a:solidFill>
                  <a:srgbClr val="D9A93C"/>
                </a:solidFill>
                <a:latin typeface="Georgia"/>
              </a:rPr>
              <a:t>|  </a:t>
            </a:r>
            <a:r>
              <a:rPr sz="940" b="1">
                <a:solidFill>
                  <a:srgbClr val="123D30"/>
                </a:solidFill>
                <a:latin typeface="Arial"/>
              </a:rPr>
              <a:t>Held by a security trustee, for the circle  </a:t>
            </a:r>
            <a:r>
              <a:rPr sz="940">
                <a:solidFill>
                  <a:srgbClr val="0E1512"/>
                </a:solidFill>
                <a:latin typeface="Arial"/>
              </a:rPr>
              <a:t>the dealer is paid in full at round k and has no reason to enforce afterwards, so the retained title is assigned to a trustee (CDC or DCC) who holds it for the circle’s members, releases at close, and enforces on default.</a:t>
            </a:r>
          </a:p>
          <a:p>
            <a:pPr>
              <a:lnSpc>
                <a:spcPct val="110000"/>
              </a:lnSpc>
              <a:spcAft>
                <a:spcPts val="600"/>
              </a:spcAft>
            </a:pPr>
            <a:r>
              <a:rPr sz="940" b="1">
                <a:solidFill>
                  <a:srgbClr val="D9A93C"/>
                </a:solidFill>
                <a:latin typeface="Georgia"/>
              </a:rPr>
              <a:t>|  </a:t>
            </a:r>
            <a:r>
              <a:rPr sz="940" b="1">
                <a:solidFill>
                  <a:srgbClr val="123D30"/>
                </a:solidFill>
                <a:latin typeface="Arial"/>
              </a:rPr>
              <a:t>The retention IS the forward liability  </a:t>
            </a:r>
            <a:r>
              <a:rPr sz="940">
                <a:solidFill>
                  <a:srgbClr val="0E1512"/>
                </a:solidFill>
                <a:latin typeface="Arial"/>
              </a:rPr>
              <a:t>retention period = (n−k) rounds; discharged by the member’s own remaining contributions = L(k); title releases when their own obligation reaches zero. Nothing changes operationally, but if they stop, there is now a thing that can be taken, and the proceeds go to the eleven people they left short.</a:t>
            </a:r>
          </a:p>
          <a:p>
            <a:pPr>
              <a:lnSpc>
                <a:spcPct val="110000"/>
              </a:lnSpc>
              <a:spcAft>
                <a:spcPts val="600"/>
              </a:spcAft>
            </a:pPr>
            <a:r>
              <a:rPr sz="940" b="1">
                <a:solidFill>
                  <a:srgbClr val="D9A93C"/>
                </a:solidFill>
                <a:latin typeface="Georgia"/>
              </a:rPr>
              <a:t>|  </a:t>
            </a:r>
            <a:r>
              <a:rPr sz="940" b="1">
                <a:solidFill>
                  <a:srgbClr val="123D30"/>
                </a:solidFill>
                <a:latin typeface="Arial"/>
              </a:rPr>
              <a:t>NOT ijarah  </a:t>
            </a:r>
            <a:r>
              <a:rPr sz="940">
                <a:solidFill>
                  <a:srgbClr val="0E1512"/>
                </a:solidFill>
                <a:latin typeface="Arial"/>
              </a:rPr>
              <a:t>the pot pays the dealer in full and the member’s continuing payments fund OTHER members’ pots, not a lessor, so calling them “rentals” is a fiction. An ijarah variant exists only where a modaraba actually funds the asset (§V).</a:t>
            </a:r>
          </a:p>
        </p:txBody>
      </p:sp>
      <p:sp>
        <p:nvSpPr>
          <p:cNvPr id="20" name="TextBox 19"/>
          <p:cNvSpPr txBox="1"/>
          <p:nvPr/>
        </p:nvSpPr>
        <p:spPr>
          <a:xfrm>
            <a:off x="6510528" y="1389888"/>
            <a:ext cx="507492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Coverage improves every month</a:t>
            </a:r>
          </a:p>
        </p:txBody>
      </p:sp>
      <p:graphicFrame>
        <p:nvGraphicFramePr>
          <p:cNvPr id="21" name="Table 20"/>
          <p:cNvGraphicFramePr>
            <a:graphicFrameLocks noGrp="1"/>
          </p:cNvGraphicFramePr>
          <p:nvPr/>
        </p:nvGraphicFramePr>
        <p:xfrm>
          <a:off x="6510528" y="1719072"/>
          <a:ext cx="5074919" cy="1560697"/>
        </p:xfrm>
        <a:graphic>
          <a:graphicData uri="http://schemas.openxmlformats.org/drawingml/2006/table">
            <a:tbl>
              <a:tblPr>
                <a:tableStyleId>{5C22544A-7EE6-4342-B048-85BDC9FD1C3A}</a:tableStyleId>
              </a:tblPr>
              <a:tblGrid>
                <a:gridCol w="811987"/>
                <a:gridCol w="1471726"/>
                <a:gridCol w="1522476"/>
                <a:gridCol w="1268730"/>
              </a:tblGrid>
              <a:tr h="317113">
                <a:tc>
                  <a:txBody>
                    <a:bodyPr wrap="square"/>
                    <a:lstStyle/>
                    <a:p>
                      <a:pPr algn="l"/>
                      <a:r>
                        <a:rPr sz="919" b="1">
                          <a:solidFill>
                            <a:srgbClr val="F6F1E4"/>
                          </a:solidFill>
                          <a:latin typeface="Arial"/>
                        </a:rPr>
                        <a:t>Month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L(k)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Bike value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Cover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919" b="0">
                          <a:solidFill>
                            <a:srgbClr val="0E1512"/>
                          </a:solidFill>
                          <a:latin typeface="Arial"/>
                        </a:rPr>
                        <a:t>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90,000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118,000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1.31×</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19" b="0">
                          <a:solidFill>
                            <a:srgbClr val="0E1512"/>
                          </a:solidFill>
                          <a:latin typeface="Arial"/>
                        </a:rPr>
                        <a:t>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60,000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112,000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1.87×</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19" b="0">
                          <a:solidFill>
                            <a:srgbClr val="0E1512"/>
                          </a:solidFill>
                          <a:latin typeface="Arial"/>
                        </a:rPr>
                        <a:t>9</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30,000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106,000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3.53×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19" b="0">
                          <a:solidFill>
                            <a:srgbClr val="0E1512"/>
                          </a:solidFill>
                          <a:latin typeface="Arial"/>
                        </a:rPr>
                        <a:t>12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Rs 100,000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title transfers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2" name="TextBox 21"/>
          <p:cNvSpPr txBox="1"/>
          <p:nvPr/>
        </p:nvSpPr>
        <p:spPr>
          <a:xfrm>
            <a:off x="6510528" y="3383280"/>
            <a:ext cx="5074920" cy="128016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The liability falls by c per round while the asset depreciates far more slowly, so the installment circle is structurally the SAFEST product in the range, the only one where the security appreciates relative to the debt. Everyone receives ownership on the same day: each member’s retention is discharged by their own contributions, and every member’s contributions end at round n, one Circle Close batch release at n+7 days, one instruction file to the trustee, one Ownership Certificate each.</a:t>
            </a:r>
          </a:p>
        </p:txBody>
      </p:sp>
      <p:sp>
        <p:nvSpPr>
          <p:cNvPr id="23" name="TextBox 22"/>
          <p:cNvSpPr txBox="1"/>
          <p:nvPr/>
        </p:nvSpPr>
        <p:spPr>
          <a:xfrm>
            <a:off x="6510528" y="4828032"/>
            <a:ext cx="507492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Three invariants: no member’s title depends on another’s payment; a member who finishes early releases early; if the circle collapses, each retention still stands on its own bilateral contract.</a:t>
            </a:r>
          </a:p>
        </p:txBody>
      </p:sp>
      <p:sp>
        <p:nvSpPr>
          <p:cNvPr id="24" name="TextBox 23"/>
          <p:cNvSpPr txBox="1"/>
          <p:nvPr/>
        </p:nvSpPr>
        <p:spPr>
          <a:xfrm>
            <a:off x="566928" y="5943600"/>
            <a:ext cx="5577840" cy="457200"/>
          </a:xfrm>
          <a:prstGeom prst="rect">
            <a:avLst/>
          </a:prstGeom>
          <a:noFill/>
        </p:spPr>
        <p:txBody>
          <a:bodyPr wrap="square" lIns="0" rIns="0" tIns="0" bIns="0" anchor="t">
            <a:spAutoFit/>
          </a:bodyPr>
          <a:lstStyle/>
          <a:p>
            <a:pPr algn="l">
              <a:lnSpc>
                <a:spcPct val="114000"/>
              </a:lnSpc>
              <a:spcAft>
                <a:spcPts val="400"/>
              </a:spcAft>
            </a:pPr>
            <a:r>
              <a:rPr sz="940" b="0" i="0">
                <a:solidFill>
                  <a:srgbClr val="0E1512"/>
                </a:solidFill>
                <a:latin typeface="Arial"/>
              </a:rPr>
              <a:t>On default: after three missed contributions the TRUSTEE enforces (not Halqa), recovers the asset (an administrative act via the charge endorsement, not litigation), sells it, and settles, outstanding L(k) into the CIRCLE first, then costs, then the SURPLUS back to the member. Under an ijarah the proceeds would make the lessor whole; here they make the circle whole.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ASSET CIRCLES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trustee, the registry and our position for the regulator</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Recovery is only as good as the registry, so the launch set is exactly the asset classes where a registry or a remote lock exists. And Halqa’s role is written for an SECP reviewer to read in one column.</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31</a:t>
            </a:r>
          </a:p>
        </p:txBody>
      </p:sp>
      <p:sp>
        <p:nvSpPr>
          <p:cNvPr id="18" name="TextBox 17"/>
          <p:cNvSpPr txBox="1"/>
          <p:nvPr/>
        </p:nvSpPr>
        <p:spPr>
          <a:xfrm>
            <a:off x="566928" y="1389888"/>
            <a:ext cx="58521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11   Where retention works, and where it does not</a:t>
            </a:r>
          </a:p>
        </p:txBody>
      </p:sp>
      <p:graphicFrame>
        <p:nvGraphicFramePr>
          <p:cNvPr id="19" name="Table 18"/>
          <p:cNvGraphicFramePr>
            <a:graphicFrameLocks noGrp="1"/>
          </p:cNvGraphicFramePr>
          <p:nvPr/>
        </p:nvGraphicFramePr>
        <p:xfrm>
          <a:off x="566928" y="1609344"/>
          <a:ext cx="5852158" cy="3594689"/>
        </p:xfrm>
        <a:graphic>
          <a:graphicData uri="http://schemas.openxmlformats.org/drawingml/2006/table">
            <a:tbl>
              <a:tblPr>
                <a:tableStyleId>{5C22544A-7EE6-4342-B048-85BDC9FD1C3A}</a:tableStyleId>
              </a:tblPr>
              <a:tblGrid>
                <a:gridCol w="1638604"/>
                <a:gridCol w="3160166"/>
                <a:gridCol w="1053388"/>
              </a:tblGrid>
              <a:tr h="522305">
                <a:tc>
                  <a:txBody>
                    <a:bodyPr wrap="square"/>
                    <a:lstStyle/>
                    <a:p>
                      <a:pPr algn="l"/>
                      <a:r>
                        <a:rPr sz="900" b="1">
                          <a:solidFill>
                            <a:srgbClr val="F6F1E4"/>
                          </a:solidFill>
                          <a:latin typeface="Arial"/>
                        </a:rPr>
                        <a:t>Asset class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Recovery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Verdict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512064">
                <a:tc>
                  <a:txBody>
                    <a:bodyPr wrap="square"/>
                    <a:lstStyle/>
                    <a:p>
                      <a:pPr algn="l"/>
                      <a:r>
                        <a:rPr sz="880" b="0">
                          <a:solidFill>
                            <a:srgbClr val="0E1512"/>
                          </a:solidFill>
                          <a:latin typeface="Arial"/>
                        </a:rPr>
                        <a:t>Motorcycles, cars, rickshaws, loaders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Registration in the trustee’s name, or a charge endorsement at Excise &amp; Taxation, strong, already standard for leased vehicles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Launch here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12064">
                <a:tc>
                  <a:txBody>
                    <a:bodyPr wrap="square"/>
                    <a:lstStyle/>
                    <a:p>
                      <a:pPr algn="l"/>
                      <a:r>
                        <a:rPr sz="880" b="0">
                          <a:solidFill>
                            <a:srgbClr val="0E1512"/>
                          </a:solidFill>
                          <a:latin typeface="Arial"/>
                        </a:rPr>
                        <a:t>Machinery, generators, sewing/embroidery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Charge registered against the serial number, good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Launch here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12064">
                <a:tc>
                  <a:txBody>
                    <a:bodyPr wrap="square"/>
                    <a:lstStyle/>
                    <a:p>
                      <a:pPr algn="l"/>
                      <a:r>
                        <a:rPr sz="880" b="0">
                          <a:solidFill>
                            <a:srgbClr val="0E1512"/>
                          </a:solidFill>
                          <a:latin typeface="Arial"/>
                        </a:rPr>
                        <a:t>Phones, tablets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A locking chip or blocker is preinstalled: on default we disable the device remotely, exactly as handset financiers already do. Miss and it stops working until you clear, or we take it back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Launch here, with a lock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12064">
                <a:tc>
                  <a:txBody>
                    <a:bodyPr wrap="square"/>
                    <a:lstStyle/>
                    <a:p>
                      <a:pPr algn="l"/>
                      <a:r>
                        <a:rPr sz="880" b="0">
                          <a:solidFill>
                            <a:srgbClr val="0E1512"/>
                          </a:solidFill>
                          <a:latin typeface="Arial"/>
                        </a:rPr>
                        <a:t>Fridges, ACs, appliances with a smart module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The embedded chip lets us cut the appliance off remotely on default, then repossess if unpaid. Without a chip there is no registry, so retention is real but weak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Chip-equipped only; else cash goal circle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12064">
                <a:tc>
                  <a:txBody>
                    <a:bodyPr wrap="square"/>
                    <a:lstStyle/>
                    <a:p>
                      <a:pPr algn="l"/>
                      <a:r>
                        <a:rPr sz="880" b="0">
                          <a:solidFill>
                            <a:srgbClr val="0E1512"/>
                          </a:solidFill>
                          <a:latin typeface="Arial"/>
                        </a:rPr>
                        <a:t>Plain furniture, unchipped goods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No registry and no lock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Run as ordinary cash goal circles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12064">
                <a:tc>
                  <a:txBody>
                    <a:bodyPr wrap="square"/>
                    <a:lstStyle/>
                    <a:p>
                      <a:pPr algn="l"/>
                      <a:r>
                        <a:rPr sz="880" b="0">
                          <a:solidFill>
                            <a:srgbClr val="0E1512"/>
                          </a:solidFill>
                          <a:latin typeface="Arial"/>
                        </a:rPr>
                        <a:t>Cash (no asset)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None possible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Secured by L(k), position, PG, Safety Vault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6739128" y="1389888"/>
            <a:ext cx="484632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Halqa’s position, stated for the regulator</a:t>
            </a:r>
          </a:p>
        </p:txBody>
      </p:sp>
      <p:sp>
        <p:nvSpPr>
          <p:cNvPr id="21" name="TextBox 20"/>
          <p:cNvSpPr txBox="1"/>
          <p:nvPr/>
        </p:nvSpPr>
        <p:spPr>
          <a:xfrm>
            <a:off x="6739128" y="1737360"/>
            <a:ext cx="4846320" cy="365760"/>
          </a:xfrm>
          <a:prstGeom prst="rect">
            <a:avLst/>
          </a:prstGeom>
          <a:noFill/>
        </p:spPr>
        <p:txBody>
          <a:bodyPr wrap="square" lIns="0" rIns="0" tIns="0" bIns="0">
            <a:spAutoFit/>
          </a:bodyPr>
          <a:lstStyle/>
          <a:p>
            <a:pPr>
              <a:lnSpc>
                <a:spcPct val="108000"/>
              </a:lnSpc>
              <a:spcAft>
                <a:spcPts val="500"/>
              </a:spcAft>
            </a:pPr>
            <a:r>
              <a:rPr sz="940" b="1">
                <a:solidFill>
                  <a:srgbClr val="D9A93C"/>
                </a:solidFill>
                <a:latin typeface="Georgia"/>
              </a:rPr>
              <a:t>|  </a:t>
            </a:r>
            <a:r>
              <a:rPr sz="940" b="1">
                <a:solidFill>
                  <a:srgbClr val="123D30"/>
                </a:solidFill>
                <a:latin typeface="Arial"/>
              </a:rPr>
              <a:t>Does NOT own the asset  </a:t>
            </a:r>
            <a:r>
              <a:rPr sz="940">
                <a:solidFill>
                  <a:srgbClr val="0E1512"/>
                </a:solidFill>
                <a:latin typeface="Arial"/>
              </a:rPr>
              <a:t>the security trustee holds title, for the circle’s members.</a:t>
            </a:r>
          </a:p>
          <a:p>
            <a:pPr>
              <a:lnSpc>
                <a:spcPct val="108000"/>
              </a:lnSpc>
              <a:spcAft>
                <a:spcPts val="500"/>
              </a:spcAft>
            </a:pPr>
            <a:r>
              <a:rPr sz="940" b="1">
                <a:solidFill>
                  <a:srgbClr val="D9A93C"/>
                </a:solidFill>
                <a:latin typeface="Georgia"/>
              </a:rPr>
              <a:t>|  </a:t>
            </a:r>
            <a:r>
              <a:rPr sz="940" b="1">
                <a:solidFill>
                  <a:srgbClr val="123D30"/>
                </a:solidFill>
                <a:latin typeface="Arial"/>
              </a:rPr>
              <a:t>Does NOT hold title, finance, repossess, or receive proceeds  </a:t>
            </a:r>
            <a:r>
              <a:rPr sz="940">
                <a:solidFill>
                  <a:srgbClr val="0E1512"/>
                </a:solidFill>
                <a:latin typeface="Arial"/>
              </a:rPr>
              <a:t>the CIRCLE funds the purchase; the TRUSTEE enforces; proceeds go to the circle, then the member.</a:t>
            </a:r>
          </a:p>
          <a:p>
            <a:pPr>
              <a:lnSpc>
                <a:spcPct val="108000"/>
              </a:lnSpc>
              <a:spcAft>
                <a:spcPts val="500"/>
              </a:spcAft>
            </a:pPr>
            <a:r>
              <a:rPr sz="940" b="1">
                <a:solidFill>
                  <a:srgbClr val="D9A93C"/>
                </a:solidFill>
                <a:latin typeface="Georgia"/>
              </a:rPr>
              <a:t>|  </a:t>
            </a:r>
            <a:r>
              <a:rPr sz="940" b="1">
                <a:solidFill>
                  <a:srgbClr val="123D30"/>
                </a:solidFill>
                <a:latin typeface="Arial"/>
              </a:rPr>
              <a:t>Does NOT take credit risk  </a:t>
            </a:r>
            <a:r>
              <a:rPr sz="940">
                <a:solidFill>
                  <a:srgbClr val="0E1512"/>
                </a:solidFill>
                <a:latin typeface="Arial"/>
              </a:rPr>
              <a:t>beyond the published, capped cover facility.</a:t>
            </a:r>
          </a:p>
          <a:p>
            <a:pPr>
              <a:lnSpc>
                <a:spcPct val="108000"/>
              </a:lnSpc>
              <a:spcAft>
                <a:spcPts val="500"/>
              </a:spcAft>
            </a:pPr>
            <a:r>
              <a:rPr sz="940" b="1">
                <a:solidFill>
                  <a:srgbClr val="D9A93C"/>
                </a:solidFill>
                <a:latin typeface="Georgia"/>
              </a:rPr>
              <a:t>|  </a:t>
            </a:r>
            <a:r>
              <a:rPr sz="940" b="1">
                <a:solidFill>
                  <a:srgbClr val="123D30"/>
                </a:solidFill>
                <a:latin typeface="Arial"/>
              </a:rPr>
              <a:t>DOES  </a:t>
            </a:r>
            <a:r>
              <a:rPr sz="940">
                <a:solidFill>
                  <a:srgbClr val="0E1512"/>
                </a:solidFill>
                <a:latin typeface="Arial"/>
              </a:rPr>
              <a:t>introduce, schedule, collect, record, post discharge records, file credit events, assemble the evidence pack.</a:t>
            </a:r>
          </a:p>
        </p:txBody>
      </p:sp>
      <p:sp>
        <p:nvSpPr>
          <p:cNvPr id="22" name="TextBox 21"/>
          <p:cNvSpPr txBox="1"/>
          <p:nvPr/>
        </p:nvSpPr>
        <p:spPr>
          <a:xfrm>
            <a:off x="6739128" y="3913632"/>
            <a:ext cx="4846320" cy="1097280"/>
          </a:xfrm>
          <a:prstGeom prst="rect">
            <a:avLst/>
          </a:prstGeom>
          <a:noFill/>
        </p:spPr>
        <p:txBody>
          <a:bodyPr wrap="square" lIns="0" rIns="0" tIns="0" bIns="0" anchor="t">
            <a:spAutoFit/>
          </a:bodyPr>
          <a:lstStyle/>
          <a:p>
            <a:pPr algn="l">
              <a:lnSpc>
                <a:spcPct val="114000"/>
              </a:lnSpc>
              <a:spcAft>
                <a:spcPts val="400"/>
              </a:spcAft>
            </a:pPr>
            <a:r>
              <a:rPr sz="940" b="0" i="0">
                <a:solidFill>
                  <a:srgbClr val="0E1512"/>
                </a:solidFill>
                <a:latin typeface="Arial"/>
              </a:rPr>
              <a:t>That keeps Halqa outside the NBFC regime (which attaches to lending and to pooling-and-deploying) and outside the leasing regime (which attaches to owning and leasing). Per completed asset circle Halqa earns Rs 3,600-8,400 from counterparties, Goal Direct-Pay commission 1-3%, trustee-structure origination 2-4%, a 1% early-transfer fee, and the member pays Rs 0 beyond the price of the bike they were going to buy anyway. Highest margin, lowest risk.</a:t>
            </a:r>
          </a:p>
        </p:txBody>
      </p:sp>
      <p:sp>
        <p:nvSpPr>
          <p:cNvPr id="23" name="TextBox 22"/>
          <p:cNvSpPr txBox="1"/>
          <p:nvPr/>
        </p:nvSpPr>
        <p:spPr>
          <a:xfrm>
            <a:off x="6739128" y="5413248"/>
            <a:ext cx="484632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Two counsel items to close: whether introducing a member to a dealer and trustee for a commission is arranging credit; and that a retention-of-title assignment to a trustee for a group of individuals is enforceable as drafted.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PREVENTION</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Default prevention, and the cover facility</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Akif’s instruction was to build so there is no incentive to default, or consequences so great that nobody does, and to cover defaults on the balance sheet and reinsure with takaful. The archive says an unlimited platform guarantee is what killed eMoneyPool. Both are right, and the reconciliation is structural.</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32</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seven layers that stand behind an early taker</a:t>
            </a:r>
          </a:p>
        </p:txBody>
      </p:sp>
      <p:sp>
        <p:nvSpPr>
          <p:cNvPr id="19" name="TextBox 18"/>
          <p:cNvSpPr txBox="1"/>
          <p:nvPr/>
        </p:nvSpPr>
        <p:spPr>
          <a:xfrm>
            <a:off x="566928" y="1719072"/>
            <a:ext cx="5486400" cy="365760"/>
          </a:xfrm>
          <a:prstGeom prst="rect">
            <a:avLst/>
          </a:prstGeom>
          <a:noFill/>
        </p:spPr>
        <p:txBody>
          <a:bodyPr wrap="square" lIns="0" rIns="0" tIns="0" bIns="0">
            <a:spAutoFit/>
          </a:bodyPr>
          <a:lstStyle/>
          <a:p>
            <a:pPr>
              <a:lnSpc>
                <a:spcPct val="106000"/>
              </a:lnSpc>
              <a:spcAft>
                <a:spcPts val="400"/>
              </a:spcAft>
            </a:pPr>
            <a:r>
              <a:rPr sz="940" b="1">
                <a:solidFill>
                  <a:srgbClr val="D9A93C"/>
                </a:solidFill>
                <a:latin typeface="Georgia"/>
              </a:rPr>
              <a:t>|  </a:t>
            </a:r>
            <a:r>
              <a:rPr sz="940" b="1">
                <a:solidFill>
                  <a:srgbClr val="123D30"/>
                </a:solidFill>
                <a:latin typeface="Arial"/>
              </a:rPr>
              <a:t>Turn-position quarantine  </a:t>
            </a:r>
            <a:r>
              <a:rPr sz="940">
                <a:solidFill>
                  <a:srgbClr val="0E1512"/>
                </a:solidFill>
                <a:latin typeface="Arial"/>
              </a:rPr>
              <a:t>late-turn takers pay in before they collect; their loss to the group is zero.</a:t>
            </a:r>
          </a:p>
          <a:p>
            <a:pPr>
              <a:lnSpc>
                <a:spcPct val="106000"/>
              </a:lnSpc>
              <a:spcAft>
                <a:spcPts val="400"/>
              </a:spcAft>
            </a:pPr>
            <a:r>
              <a:rPr sz="940" b="1">
                <a:solidFill>
                  <a:srgbClr val="D9A93C"/>
                </a:solidFill>
                <a:latin typeface="Georgia"/>
              </a:rPr>
              <a:t>|  </a:t>
            </a:r>
            <a:r>
              <a:rPr sz="940" b="1">
                <a:solidFill>
                  <a:srgbClr val="123D30"/>
                </a:solidFill>
                <a:latin typeface="Arial"/>
              </a:rPr>
              <a:t>Tenure progression  </a:t>
            </a:r>
            <a:r>
              <a:rPr sz="940">
                <a:solidFill>
                  <a:srgbClr val="0E1512"/>
                </a:solidFill>
                <a:latin typeface="Arial"/>
              </a:rPr>
              <a:t>new members restricted to the last three seats until two clean circles + manual verification.</a:t>
            </a:r>
          </a:p>
          <a:p>
            <a:pPr>
              <a:lnSpc>
                <a:spcPct val="106000"/>
              </a:lnSpc>
              <a:spcAft>
                <a:spcPts val="400"/>
              </a:spcAft>
            </a:pPr>
            <a:r>
              <a:rPr sz="940" b="1">
                <a:solidFill>
                  <a:srgbClr val="D9A93C"/>
                </a:solidFill>
                <a:latin typeface="Georgia"/>
              </a:rPr>
              <a:t>|  </a:t>
            </a:r>
            <a:r>
              <a:rPr sz="940" b="1">
                <a:solidFill>
                  <a:srgbClr val="123D30"/>
                </a:solidFill>
                <a:latin typeface="Arial"/>
              </a:rPr>
              <a:t>Legal instruments  </a:t>
            </a:r>
            <a:r>
              <a:rPr sz="940">
                <a:solidFill>
                  <a:srgbClr val="0E1512"/>
                </a:solidFill>
                <a:latin typeface="Arial"/>
              </a:rPr>
              <a:t>the weekly undertaking (Order XXXVII summary suit) and the mutual member-to-member PG.</a:t>
            </a:r>
          </a:p>
          <a:p>
            <a:pPr>
              <a:lnSpc>
                <a:spcPct val="106000"/>
              </a:lnSpc>
              <a:spcAft>
                <a:spcPts val="400"/>
              </a:spcAft>
            </a:pPr>
            <a:r>
              <a:rPr sz="940" b="1">
                <a:solidFill>
                  <a:srgbClr val="D9A93C"/>
                </a:solidFill>
                <a:latin typeface="Georgia"/>
              </a:rPr>
              <a:t>|  </a:t>
            </a:r>
            <a:r>
              <a:rPr sz="940" b="1">
                <a:solidFill>
                  <a:srgbClr val="123D30"/>
                </a:solidFill>
                <a:latin typeface="Arial"/>
              </a:rPr>
              <a:t>Reputation  </a:t>
            </a:r>
            <a:r>
              <a:rPr sz="940">
                <a:solidFill>
                  <a:srgbClr val="0E1512"/>
                </a:solidFill>
                <a:latin typeface="Arial"/>
              </a:rPr>
              <a:t>the credit score and the Credit Passport, exporting the hardest repayment signal a household owns.</a:t>
            </a:r>
          </a:p>
          <a:p>
            <a:pPr>
              <a:lnSpc>
                <a:spcPct val="106000"/>
              </a:lnSpc>
              <a:spcAft>
                <a:spcPts val="400"/>
              </a:spcAft>
            </a:pPr>
            <a:r>
              <a:rPr sz="940" b="1">
                <a:solidFill>
                  <a:srgbClr val="D9A93C"/>
                </a:solidFill>
                <a:latin typeface="Georgia"/>
              </a:rPr>
              <a:t>|  </a:t>
            </a:r>
            <a:r>
              <a:rPr sz="940" b="1">
                <a:solidFill>
                  <a:srgbClr val="123D30"/>
                </a:solidFill>
                <a:latin typeface="Arial"/>
              </a:rPr>
              <a:t>Family / linked-account withholding  </a:t>
            </a:r>
            <a:r>
              <a:rPr sz="940">
                <a:solidFill>
                  <a:srgbClr val="0E1512"/>
                </a:solidFill>
                <a:latin typeface="Arial"/>
              </a:rPr>
              <a:t>a linked open default blocks join and payout.</a:t>
            </a:r>
          </a:p>
          <a:p>
            <a:pPr>
              <a:lnSpc>
                <a:spcPct val="106000"/>
              </a:lnSpc>
              <a:spcAft>
                <a:spcPts val="400"/>
              </a:spcAft>
            </a:pPr>
            <a:r>
              <a:rPr sz="940" b="1">
                <a:solidFill>
                  <a:srgbClr val="D9A93C"/>
                </a:solidFill>
                <a:latin typeface="Georgia"/>
              </a:rPr>
              <a:t>|  </a:t>
            </a:r>
            <a:r>
              <a:rPr sz="940" b="1">
                <a:solidFill>
                  <a:srgbClr val="123D30"/>
                </a:solidFill>
                <a:latin typeface="Arial"/>
              </a:rPr>
              <a:t>The forward-liability holdback  </a:t>
            </a:r>
            <a:r>
              <a:rPr sz="940">
                <a:solidFill>
                  <a:srgbClr val="0E1512"/>
                </a:solidFill>
                <a:latin typeface="Arial"/>
              </a:rPr>
              <a:t>sized to L(k), capped at 60% of the pot, released as clean payments land.</a:t>
            </a:r>
          </a:p>
          <a:p>
            <a:pPr>
              <a:lnSpc>
                <a:spcPct val="106000"/>
              </a:lnSpc>
              <a:spcAft>
                <a:spcPts val="400"/>
              </a:spcAft>
            </a:pPr>
            <a:r>
              <a:rPr sz="940" b="1">
                <a:solidFill>
                  <a:srgbClr val="D9A93C"/>
                </a:solidFill>
                <a:latin typeface="Georgia"/>
              </a:rPr>
              <a:t>|  </a:t>
            </a:r>
            <a:r>
              <a:rPr sz="940" b="1">
                <a:solidFill>
                  <a:srgbClr val="123D30"/>
                </a:solidFill>
                <a:latin typeface="Arial"/>
              </a:rPr>
              <a:t>The cover facility  </a:t>
            </a:r>
            <a:r>
              <a:rPr sz="940">
                <a:solidFill>
                  <a:srgbClr val="0E1512"/>
                </a:solidFill>
                <a:latin typeface="Arial"/>
              </a:rPr>
              <a:t>priced, capped, subrogated, reinsured (right).</a:t>
            </a:r>
          </a:p>
        </p:txBody>
      </p:sp>
      <p:sp>
        <p:nvSpPr>
          <p:cNvPr id="20" name="TextBox 19"/>
          <p:cNvSpPr txBox="1"/>
          <p:nvPr/>
        </p:nvSpPr>
        <p:spPr>
          <a:xfrm>
            <a:off x="566928" y="3977639"/>
            <a:ext cx="548640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There is no cancel button: a five-level exit instead</a:t>
            </a:r>
          </a:p>
        </p:txBody>
      </p:sp>
      <p:sp>
        <p:nvSpPr>
          <p:cNvPr id="21" name="TextBox 20"/>
          <p:cNvSpPr txBox="1"/>
          <p:nvPr/>
        </p:nvSpPr>
        <p:spPr>
          <a:xfrm>
            <a:off x="566928" y="4279392"/>
            <a:ext cx="5486400" cy="2103120"/>
          </a:xfrm>
          <a:prstGeom prst="rect">
            <a:avLst/>
          </a:prstGeom>
          <a:noFill/>
        </p:spPr>
        <p:txBody>
          <a:bodyPr wrap="square" lIns="0" rIns="0" tIns="0" bIns="0" anchor="t">
            <a:spAutoFit/>
          </a:bodyPr>
          <a:lstStyle/>
          <a:p>
            <a:pPr algn="l">
              <a:lnSpc>
                <a:spcPct val="114000"/>
              </a:lnSpc>
              <a:spcAft>
                <a:spcPts val="400"/>
              </a:spcAft>
            </a:pPr>
            <a:r>
              <a:rPr sz="919" b="0" i="0">
                <a:solidFill>
                  <a:srgbClr val="0E1512"/>
                </a:solidFill>
                <a:latin typeface="Arial"/>
              </a:rPr>
              <a:t>A member who wants out is offered, in order: a free silent withdrawal inside the 24-hour window; SUBSTITUTION, where a replacement pays the leaver their money to date directly and nobody loses anything (the target for about 90 per cent of exits); a group-approved exit; a hardship exit; and only then abandonment, which triggers full recovery. The fine on a group exit is one installment, 70 per cent to the remaining members and 30 per cent to Halqa. How a leaver is made whole with no pool: if they paid p installments before collecting and the circle shrinks, the p members who ALREADY collected each end up ahead by exactly one contribution, so each owes the leaver one contribution, settled at cycle close. On an insured circle the cover buys the vacated seat instead, so no pot shrinks and no vote is needed.</a:t>
            </a:r>
          </a:p>
        </p:txBody>
      </p:sp>
      <p:sp>
        <p:nvSpPr>
          <p:cNvPr id="22" name="TextBox 21"/>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cover facility, insurance, not a guarantee</a:t>
            </a:r>
          </a:p>
        </p:txBody>
      </p:sp>
      <p:sp>
        <p:nvSpPr>
          <p:cNvPr id="23" name="TextBox 22"/>
          <p:cNvSpPr txBox="1"/>
          <p:nvPr/>
        </p:nvSpPr>
        <p:spPr>
          <a:xfrm>
            <a:off x="6419088" y="1737360"/>
            <a:ext cx="5166360" cy="365760"/>
          </a:xfrm>
          <a:prstGeom prst="rect">
            <a:avLst/>
          </a:prstGeom>
          <a:noFill/>
        </p:spPr>
        <p:txBody>
          <a:bodyPr wrap="square" lIns="0" rIns="0" tIns="0" bIns="0">
            <a:spAutoFit/>
          </a:bodyPr>
          <a:lstStyle/>
          <a:p>
            <a:pPr>
              <a:lnSpc>
                <a:spcPct val="110000"/>
              </a:lnSpc>
              <a:spcAft>
                <a:spcPts val="600"/>
              </a:spcAft>
            </a:pPr>
            <a:r>
              <a:rPr sz="950" b="1">
                <a:solidFill>
                  <a:srgbClr val="D9A93C"/>
                </a:solidFill>
                <a:latin typeface="Georgia"/>
              </a:rPr>
              <a:t>|  </a:t>
            </a:r>
            <a:r>
              <a:rPr sz="950" b="1">
                <a:solidFill>
                  <a:srgbClr val="123D30"/>
                </a:solidFill>
                <a:latin typeface="Arial"/>
              </a:rPr>
              <a:t>Priced  </a:t>
            </a:r>
            <a:r>
              <a:rPr sz="950">
                <a:solidFill>
                  <a:srgbClr val="0E1512"/>
                </a:solidFill>
                <a:latin typeface="Arial"/>
              </a:rPr>
              <a:t>premium r ≈ 1.5q, not free, not bundled. eMoneyPool’s guarantee was free, so unpriced, so unbounded.</a:t>
            </a:r>
          </a:p>
          <a:p>
            <a:pPr>
              <a:lnSpc>
                <a:spcPct val="110000"/>
              </a:lnSpc>
              <a:spcAft>
                <a:spcPts val="600"/>
              </a:spcAft>
            </a:pPr>
            <a:r>
              <a:rPr sz="950" b="1">
                <a:solidFill>
                  <a:srgbClr val="D9A93C"/>
                </a:solidFill>
                <a:latin typeface="Georgia"/>
              </a:rPr>
              <a:t>|  </a:t>
            </a:r>
            <a:r>
              <a:rPr sz="950" b="1">
                <a:solidFill>
                  <a:srgbClr val="123D30"/>
                </a:solidFill>
                <a:latin typeface="Arial"/>
              </a:rPr>
              <a:t>Capped, at four published levels  </a:t>
            </a:r>
            <a:r>
              <a:rPr sz="950">
                <a:solidFill>
                  <a:srgbClr val="0E1512"/>
                </a:solidFill>
                <a:latin typeface="Arial"/>
              </a:rPr>
              <a:t>per circle ≤ 1 pot; per host/month ≤ Rs 500,000; per member ≤ their own forward liability; aggregate/month ≤ 2% of paid-up capital.</a:t>
            </a:r>
          </a:p>
          <a:p>
            <a:pPr>
              <a:lnSpc>
                <a:spcPct val="110000"/>
              </a:lnSpc>
              <a:spcAft>
                <a:spcPts val="600"/>
              </a:spcAft>
            </a:pPr>
            <a:r>
              <a:rPr sz="950" b="1">
                <a:solidFill>
                  <a:srgbClr val="D9A93C"/>
                </a:solidFill>
                <a:latin typeface="Georgia"/>
              </a:rPr>
              <a:t>|  </a:t>
            </a:r>
            <a:r>
              <a:rPr sz="950" b="1">
                <a:solidFill>
                  <a:srgbClr val="123D30"/>
                </a:solidFill>
                <a:latin typeface="Arial"/>
              </a:rPr>
              <a:t>Subrogated  </a:t>
            </a:r>
            <a:r>
              <a:rPr sz="950">
                <a:solidFill>
                  <a:srgbClr val="0E1512"/>
                </a:solidFill>
                <a:latin typeface="Arial"/>
              </a:rPr>
              <a:t>cover is an ADVANCE to the defaulter, not a gift, it opens a recovery case for the full amount plus a 10% rehabilitation fee, and Halqa stands in the circle’s shoes.</a:t>
            </a:r>
          </a:p>
          <a:p>
            <a:pPr>
              <a:lnSpc>
                <a:spcPct val="110000"/>
              </a:lnSpc>
              <a:spcAft>
                <a:spcPts val="600"/>
              </a:spcAft>
            </a:pPr>
            <a:r>
              <a:rPr sz="950" b="1">
                <a:solidFill>
                  <a:srgbClr val="D9A93C"/>
                </a:solidFill>
                <a:latin typeface="Georgia"/>
              </a:rPr>
              <a:t>|  </a:t>
            </a:r>
            <a:r>
              <a:rPr sz="950" b="1">
                <a:solidFill>
                  <a:srgbClr val="123D30"/>
                </a:solidFill>
                <a:latin typeface="Arial"/>
              </a:rPr>
              <a:t>Reinsured  </a:t>
            </a:r>
            <a:r>
              <a:rPr sz="950">
                <a:solidFill>
                  <a:srgbClr val="0E1512"/>
                </a:solidFill>
                <a:latin typeface="Arial"/>
              </a:rPr>
              <a:t>above the aggregate cap, a takaful operator carries it, exactly what Akif meant by insuring the exposure.</a:t>
            </a:r>
          </a:p>
        </p:txBody>
      </p:sp>
      <p:sp>
        <p:nvSpPr>
          <p:cNvPr id="24" name="TextBox 23"/>
          <p:cNvSpPr txBox="1"/>
          <p:nvPr/>
        </p:nvSpPr>
        <p:spPr>
          <a:xfrm>
            <a:off x="6419088" y="4160520"/>
            <a:ext cx="5166360" cy="45720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Set-off on default, in strict order</a:t>
            </a:r>
          </a:p>
        </p:txBody>
      </p:sp>
      <p:sp>
        <p:nvSpPr>
          <p:cNvPr id="25" name="TextBox 24"/>
          <p:cNvSpPr txBox="1"/>
          <p:nvPr/>
        </p:nvSpPr>
        <p:spPr>
          <a:xfrm>
            <a:off x="6419088" y="4480560"/>
            <a:ext cx="5166360" cy="1554480"/>
          </a:xfrm>
          <a:prstGeom prst="rect">
            <a:avLst/>
          </a:prstGeom>
          <a:noFill/>
        </p:spPr>
        <p:txBody>
          <a:bodyPr wrap="square" lIns="0" rIns="0" tIns="0" bIns="0" anchor="t">
            <a:spAutoFit/>
          </a:bodyPr>
          <a:lstStyle/>
          <a:p>
            <a:pPr algn="l">
              <a:lnSpc>
                <a:spcPct val="114000"/>
              </a:lnSpc>
              <a:spcAft>
                <a:spcPts val="400"/>
              </a:spcAft>
            </a:pPr>
            <a:r>
              <a:rPr sz="940" b="0" i="0">
                <a:solidFill>
                  <a:srgbClr val="0E1512"/>
                </a:solidFill>
                <a:latin typeface="Arial"/>
              </a:rPr>
              <a:t>1 Safety Vault pledged units (redeem, pay the recipient)  ·  2 Growth Vault, only under a separate signed set-off clause after a 7-day cure  ·  3 pot deductions in live circles (≤60% cap)  ·  4 sponsor/restitution claims assigned to the cover facility  ·  5 the ijarah asset  ·  6 recovery case, Order XXXVII. Two rules never bend: the set-off runs in favour of the CIRCLE’S MEMBERS, never Halqa; and Halqa never seizes, it instructs a trustee under a pre-signed mandate, or hands an evidence pack to a court.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ACROSS ALL TYPES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Mechanics common to every committee, part one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Field-tested conventions that the platform reproduces exactly, because the value of a committee lives in them. Each is on the ledger, each preserves the double-entry invariant, none of them lets anyone buy a clean record.</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33</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Sponsor / pay-on-behalf, the best growth loop</a:t>
            </a:r>
          </a:p>
        </p:txBody>
      </p:sp>
      <p:sp>
        <p:nvSpPr>
          <p:cNvPr id="19" name="TextBox 18"/>
          <p:cNvSpPr txBox="1"/>
          <p:nvPr/>
        </p:nvSpPr>
        <p:spPr>
          <a:xfrm>
            <a:off x="566928" y="1719072"/>
            <a:ext cx="5486400" cy="365760"/>
          </a:xfrm>
          <a:prstGeom prst="rect">
            <a:avLst/>
          </a:prstGeom>
          <a:noFill/>
        </p:spPr>
        <p:txBody>
          <a:bodyPr wrap="square" lIns="0" rIns="0" tIns="0" bIns="0">
            <a:spAutoFit/>
          </a:bodyPr>
          <a:lstStyle/>
          <a:p>
            <a:pPr>
              <a:lnSpc>
                <a:spcPct val="108000"/>
              </a:lnSpc>
              <a:spcAft>
                <a:spcPts val="500"/>
              </a:spcAft>
            </a:pPr>
            <a:r>
              <a:rPr sz="940" b="1">
                <a:solidFill>
                  <a:srgbClr val="D9A93C"/>
                </a:solidFill>
                <a:latin typeface="Georgia"/>
              </a:rPr>
              <a:t>|  </a:t>
            </a:r>
            <a:r>
              <a:rPr sz="940" b="1">
                <a:solidFill>
                  <a:srgbClr val="123D30"/>
                </a:solidFill>
                <a:latin typeface="Arial"/>
              </a:rPr>
              <a:t>It converts a would-be default into a member-funded save  </a:t>
            </a:r>
            <a:r>
              <a:rPr sz="940">
                <a:solidFill>
                  <a:srgbClr val="0E1512"/>
                </a:solidFill>
                <a:latin typeface="Arial"/>
              </a:rPr>
              <a:t>and the sponsor is usually not yet on the platform, so it is a viral loop.</a:t>
            </a:r>
          </a:p>
          <a:p>
            <a:pPr>
              <a:lnSpc>
                <a:spcPct val="108000"/>
              </a:lnSpc>
              <a:spcAft>
                <a:spcPts val="500"/>
              </a:spcAft>
            </a:pPr>
            <a:r>
              <a:rPr sz="940" b="1">
                <a:solidFill>
                  <a:srgbClr val="D9A93C"/>
                </a:solidFill>
                <a:latin typeface="Georgia"/>
              </a:rPr>
              <a:t>|  </a:t>
            </a:r>
            <a:r>
              <a:rPr sz="940" b="1">
                <a:solidFill>
                  <a:srgbClr val="123D30"/>
                </a:solidFill>
                <a:latin typeface="Arial"/>
              </a:rPr>
              <a:t>Reciprocal (default, free)  </a:t>
            </a:r>
            <a:r>
              <a:rPr sz="940">
                <a:solidFill>
                  <a:srgbClr val="0E1512"/>
                </a:solidFill>
                <a:latin typeface="Arial"/>
              </a:rPr>
              <a:t>the sponsor pays your round k, you pay their round k+1, a swap of obligations, qard hasan in substance, clean.</a:t>
            </a:r>
          </a:p>
          <a:p>
            <a:pPr>
              <a:lnSpc>
                <a:spcPct val="108000"/>
              </a:lnSpc>
              <a:spcAft>
                <a:spcPts val="500"/>
              </a:spcAft>
            </a:pPr>
            <a:r>
              <a:rPr sz="940" b="1">
                <a:solidFill>
                  <a:srgbClr val="D9A93C"/>
                </a:solidFill>
                <a:latin typeface="Georgia"/>
              </a:rPr>
              <a:t>|  </a:t>
            </a:r>
            <a:r>
              <a:rPr sz="940" b="1">
                <a:solidFill>
                  <a:srgbClr val="123D30"/>
                </a:solidFill>
                <a:latin typeface="Arial"/>
              </a:rPr>
              <a:t>Pot deduction / cash  </a:t>
            </a:r>
            <a:r>
              <a:rPr sz="940">
                <a:solidFill>
                  <a:srgbClr val="0E1512"/>
                </a:solidFill>
                <a:latin typeface="Arial"/>
              </a:rPr>
              <a:t>the amount nets from your pot at your turn; or settled off-platform with Halqa recording the substitution only.</a:t>
            </a:r>
          </a:p>
          <a:p>
            <a:pPr>
              <a:lnSpc>
                <a:spcPct val="108000"/>
              </a:lnSpc>
              <a:spcAft>
                <a:spcPts val="500"/>
              </a:spcAft>
            </a:pPr>
            <a:r>
              <a:rPr sz="940" b="1">
                <a:solidFill>
                  <a:srgbClr val="D9A93C"/>
                </a:solidFill>
                <a:latin typeface="Georgia"/>
              </a:rPr>
              <a:t>|  </a:t>
            </a:r>
            <a:r>
              <a:rPr sz="940" b="1">
                <a:solidFill>
                  <a:srgbClr val="123D30"/>
                </a:solidFill>
                <a:latin typeface="Arial"/>
              </a:rPr>
              <a:t>Priced is labelled honestly  </a:t>
            </a:r>
            <a:r>
              <a:rPr sz="940">
                <a:solidFill>
                  <a:srgbClr val="0E1512"/>
                </a:solidFill>
                <a:latin typeface="Arial"/>
              </a:rPr>
              <a:t>premium capped at 5% of the installment, Halqa takes 10% of the premium; never the default, never Shariah-labelled, the free option always shown first and larger.</a:t>
            </a:r>
          </a:p>
          <a:p>
            <a:pPr>
              <a:lnSpc>
                <a:spcPct val="108000"/>
              </a:lnSpc>
              <a:spcAft>
                <a:spcPts val="500"/>
              </a:spcAft>
            </a:pPr>
            <a:r>
              <a:rPr sz="940" b="1">
                <a:solidFill>
                  <a:srgbClr val="D9A93C"/>
                </a:solidFill>
                <a:latin typeface="Georgia"/>
              </a:rPr>
              <a:t>|  </a:t>
            </a:r>
            <a:r>
              <a:rPr sz="940" b="1">
                <a:solidFill>
                  <a:srgbClr val="123D30"/>
                </a:solidFill>
                <a:latin typeface="Arial"/>
              </a:rPr>
              <a:t>Guard rails  </a:t>
            </a:r>
            <a:r>
              <a:rPr sz="940">
                <a:solidFill>
                  <a:srgbClr val="0E1512"/>
                </a:solidFill>
                <a:latin typeface="Arial"/>
              </a:rPr>
              <a:t>≤2 open sponsorships held, ≤5 carried; blocked against an open recovery case; a sponsored payment is on-time for the circle and NEUTRAL for the score, it earns no streak and cannot buy a record.</a:t>
            </a:r>
          </a:p>
        </p:txBody>
      </p:sp>
      <p:sp>
        <p:nvSpPr>
          <p:cNvPr id="20" name="TextBox 19"/>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Net-off, half-shares and multi-slots</a:t>
            </a:r>
          </a:p>
        </p:txBody>
      </p:sp>
      <p:sp>
        <p:nvSpPr>
          <p:cNvPr id="21" name="TextBox 20"/>
          <p:cNvSpPr txBox="1"/>
          <p:nvPr/>
        </p:nvSpPr>
        <p:spPr>
          <a:xfrm>
            <a:off x="6419088" y="1719072"/>
            <a:ext cx="5166360" cy="365760"/>
          </a:xfrm>
          <a:prstGeom prst="rect">
            <a:avLst/>
          </a:prstGeom>
          <a:noFill/>
        </p:spPr>
        <p:txBody>
          <a:bodyPr wrap="square" lIns="0" rIns="0" tIns="0" bIns="0">
            <a:spAutoFit/>
          </a:bodyPr>
          <a:lstStyle/>
          <a:p>
            <a:pPr>
              <a:lnSpc>
                <a:spcPct val="108000"/>
              </a:lnSpc>
              <a:spcAft>
                <a:spcPts val="600"/>
              </a:spcAft>
            </a:pPr>
            <a:r>
              <a:rPr sz="930" b="1">
                <a:solidFill>
                  <a:srgbClr val="D9A93C"/>
                </a:solidFill>
                <a:latin typeface="Georgia"/>
              </a:rPr>
              <a:t>|  </a:t>
            </a:r>
            <a:r>
              <a:rPr sz="930" b="1">
                <a:solidFill>
                  <a:srgbClr val="123D30"/>
                </a:solidFill>
                <a:latin typeface="Arial"/>
              </a:rPr>
              <a:t>Net-off (“hissa kat lo”)  </a:t>
            </a:r>
            <a:r>
              <a:rPr sz="930">
                <a:solidFill>
                  <a:srgbClr val="0E1512"/>
                </a:solidFill>
                <a:latin typeface="Arial"/>
              </a:rPr>
              <a:t>the collector’s own installment is deducted from the pot instead of paid in cash, a Rs 120,000 pot pays out Rs 110,000. The LEDGER writes both legs (method NET_OFF, its own receipt and idempotency key); only the cash nets, the record never does. Counts on-time at full weight, unobjectionable on Shariah tiers.</a:t>
            </a:r>
          </a:p>
          <a:p>
            <a:pPr>
              <a:lnSpc>
                <a:spcPct val="108000"/>
              </a:lnSpc>
              <a:spcAft>
                <a:spcPts val="600"/>
              </a:spcAft>
            </a:pPr>
            <a:r>
              <a:rPr sz="930" b="1">
                <a:solidFill>
                  <a:srgbClr val="D9A93C"/>
                </a:solidFill>
                <a:latin typeface="Georgia"/>
              </a:rPr>
              <a:t>|  </a:t>
            </a:r>
            <a:r>
              <a:rPr sz="930" b="1">
                <a:solidFill>
                  <a:srgbClr val="123D30"/>
                </a:solidFill>
                <a:latin typeface="Arial"/>
              </a:rPr>
              <a:t>Half-shares (“aadhi kameti”)  </a:t>
            </a:r>
            <a:r>
              <a:rPr sz="930">
                <a:solidFill>
                  <a:srgbClr val="0E1512"/>
                </a:solidFill>
                <a:latin typeface="Arial"/>
              </a:rPr>
              <a:t>two people share one seat at c/2, splitting the pot; or one member holds two seats. Joint-and-several liability stated at join; scoring accrues at half exposure; multi-slot members count twice against concentration limits. The UI hides it behind one question: “full seat or half seat?”</a:t>
            </a:r>
          </a:p>
          <a:p>
            <a:pPr>
              <a:lnSpc>
                <a:spcPct val="108000"/>
              </a:lnSpc>
              <a:spcAft>
                <a:spcPts val="600"/>
              </a:spcAft>
            </a:pPr>
            <a:r>
              <a:rPr sz="930" b="1">
                <a:solidFill>
                  <a:srgbClr val="D9A93C"/>
                </a:solidFill>
                <a:latin typeface="Georgia"/>
              </a:rPr>
              <a:t>|  </a:t>
            </a:r>
            <a:r>
              <a:rPr sz="930" b="1">
                <a:solidFill>
                  <a:srgbClr val="123D30"/>
                </a:solidFill>
                <a:latin typeface="Arial"/>
              </a:rPr>
              <a:t>Declared organiser compensation  </a:t>
            </a:r>
            <a:r>
              <a:rPr sz="930">
                <a:solidFill>
                  <a:srgbClr val="0E1512"/>
                </a:solidFill>
                <a:latin typeface="Arial"/>
              </a:rPr>
              <a:t>the host may claim seat 1 as organiser’s privilege (also the maximum liability L(1)=c(n−1), so real skin in the game) plus an optional recorded tip, no hidden margin, no pot access, no Halqa fee on members.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III · ACROSS ALL TYPES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Mechanics common to every committee, part two</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ceremony, the calendar exceptions, the human events, and the policies that a fintech usually gets wrong, phone numbers, chat, and what happens when a member dies.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34</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08000"/>
              </a:lnSpc>
              <a:spcAft>
                <a:spcPts val="600"/>
              </a:spcAft>
            </a:pPr>
            <a:r>
              <a:rPr sz="930" b="1">
                <a:solidFill>
                  <a:srgbClr val="D9A93C"/>
                </a:solidFill>
                <a:latin typeface="Georgia"/>
              </a:rPr>
              <a:t>|  </a:t>
            </a:r>
            <a:r>
              <a:rPr sz="930" b="1">
                <a:solidFill>
                  <a:srgbClr val="123D30"/>
                </a:solidFill>
                <a:latin typeface="Arial"/>
              </a:rPr>
              <a:t>Verifiable commit-reveal ballot  </a:t>
            </a:r>
            <a:r>
              <a:rPr sz="930">
                <a:solidFill>
                  <a:srgbClr val="0E1512"/>
                </a:solidFill>
                <a:latin typeface="Arial"/>
              </a:rPr>
              <a:t>the parchi ceremony IS the institution; a server random() is a black box, and black boxes get accused of rigging. The server publishes H=SHA-256(seed) before the draw; each member adds a clientSeed in the 24h window; order = sort by HMAC-SHA256(seed, ids‖seeds); the seed is revealed after so anyone recomputes it from the receipt. Kills “the host rigged the parchi.” No competitor in the archive has this.</a:t>
            </a:r>
          </a:p>
          <a:p>
            <a:pPr>
              <a:lnSpc>
                <a:spcPct val="108000"/>
              </a:lnSpc>
              <a:spcAft>
                <a:spcPts val="600"/>
              </a:spcAft>
            </a:pPr>
            <a:r>
              <a:rPr sz="930" b="1">
                <a:solidFill>
                  <a:srgbClr val="D9A93C"/>
                </a:solidFill>
                <a:latin typeface="Georgia"/>
              </a:rPr>
              <a:t>|  </a:t>
            </a:r>
            <a:r>
              <a:rPr sz="930" b="1">
                <a:solidFill>
                  <a:srgbClr val="123D30"/>
                </a:solidFill>
                <a:latin typeface="Arial"/>
              </a:rPr>
              <a:t>Ramzan conventions  </a:t>
            </a:r>
            <a:r>
              <a:rPr sz="930">
                <a:solidFill>
                  <a:srgbClr val="0E1512"/>
                </a:solidFill>
                <a:latin typeface="Arial"/>
              </a:rPr>
              <a:t>pause for the Eid month, or double the month before it, a host-set schedule exception, visible at creation.</a:t>
            </a:r>
          </a:p>
          <a:p>
            <a:pPr>
              <a:lnSpc>
                <a:spcPct val="108000"/>
              </a:lnSpc>
              <a:spcAft>
                <a:spcPts val="600"/>
              </a:spcAft>
            </a:pPr>
            <a:r>
              <a:rPr sz="930" b="1">
                <a:solidFill>
                  <a:srgbClr val="D9A93C"/>
                </a:solidFill>
                <a:latin typeface="Georgia"/>
              </a:rPr>
              <a:t>|  </a:t>
            </a:r>
            <a:r>
              <a:rPr sz="930" b="1">
                <a:solidFill>
                  <a:srgbClr val="123D30"/>
                </a:solidFill>
                <a:latin typeface="Arial"/>
              </a:rPr>
              <a:t>Replacement protocol  </a:t>
            </a:r>
            <a:r>
              <a:rPr sz="930">
                <a:solidFill>
                  <a:srgbClr val="0E1512"/>
                </a:solidFill>
                <a:latin typeface="Arial"/>
              </a:rPr>
              <a:t>host-approved substitution; paid months transfer to the SEAT, not the person; the replacement signs the full agreement set; both events are permanent ledger entries.</a:t>
            </a:r>
          </a:p>
          <a:p>
            <a:pPr>
              <a:lnSpc>
                <a:spcPct val="108000"/>
              </a:lnSpc>
              <a:spcAft>
                <a:spcPts val="600"/>
              </a:spcAft>
            </a:pPr>
            <a:r>
              <a:rPr sz="930" b="1">
                <a:solidFill>
                  <a:srgbClr val="D9A93C"/>
                </a:solidFill>
                <a:latin typeface="Georgia"/>
              </a:rPr>
              <a:t>|  </a:t>
            </a:r>
            <a:r>
              <a:rPr sz="930" b="1">
                <a:solidFill>
                  <a:srgbClr val="123D30"/>
                </a:solidFill>
                <a:latin typeface="Arial"/>
              </a:rPr>
              <a:t>Death and incapacity  </a:t>
            </a:r>
            <a:r>
              <a:rPr sz="930">
                <a:solidFill>
                  <a:srgbClr val="0E1512"/>
                </a:solidFill>
                <a:latin typeface="Arial"/>
              </a:rPr>
              <a:t>the universal convention, a deceased member who had collected is not pursued if the family cannot pay; one who had not collected is paid out early. In the mutual guarantee now, priced by circle-level takaful at Stage 2. Validated by KSFE (Kerala), which waives future liability up to ₹10 lakh on a prized chitty at death.</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Phone numbers and chat, policy matters more than code</a:t>
            </a:r>
          </a:p>
        </p:txBody>
      </p:sp>
      <p:graphicFrame>
        <p:nvGraphicFramePr>
          <p:cNvPr id="20" name="Table 19"/>
          <p:cNvGraphicFramePr>
            <a:graphicFrameLocks noGrp="1"/>
          </p:cNvGraphicFramePr>
          <p:nvPr/>
        </p:nvGraphicFramePr>
        <p:xfrm>
          <a:off x="6419088" y="1737360"/>
          <a:ext cx="5166359" cy="2279050"/>
        </p:xfrm>
        <a:graphic>
          <a:graphicData uri="http://schemas.openxmlformats.org/drawingml/2006/table">
            <a:tbl>
              <a:tblPr>
                <a:tableStyleId>{5C22544A-7EE6-4342-B048-85BDC9FD1C3A}</a:tableStyleId>
              </a:tblPr>
              <a:tblGrid>
                <a:gridCol w="1239926"/>
                <a:gridCol w="1549908"/>
                <a:gridCol w="2376525"/>
              </a:tblGrid>
              <a:tr h="578266">
                <a:tc>
                  <a:txBody>
                    <a:bodyPr wrap="square"/>
                    <a:lstStyle/>
                    <a:p>
                      <a:pPr algn="l"/>
                      <a:r>
                        <a:rPr sz="900" b="1">
                          <a:solidFill>
                            <a:srgbClr val="F6F1E4"/>
                          </a:solidFill>
                          <a:latin typeface="Arial"/>
                        </a:rPr>
                        <a:t>Circle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In-app chat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Phone numbers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566928">
                <a:tc>
                  <a:txBody>
                    <a:bodyPr wrap="square"/>
                    <a:lstStyle/>
                    <a:p>
                      <a:pPr algn="l"/>
                      <a:r>
                        <a:rPr sz="880" b="0">
                          <a:solidFill>
                            <a:srgbClr val="0E1512"/>
                          </a:solidFill>
                          <a:latin typeface="Arial"/>
                        </a:rPr>
                        <a:t>Known / Apna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Group thread on by default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Visible after the 24h window, they already know each other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880" b="0">
                          <a:solidFill>
                            <a:srgbClr val="0E1512"/>
                          </a:solidFill>
                          <a:latin typeface="Arial"/>
                        </a:rPr>
                        <a:t>Open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Group thread 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NEVER shown; a mutual “request contact”, host sees a masked number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66928">
                <a:tc>
                  <a:txBody>
                    <a:bodyPr wrap="square"/>
                    <a:lstStyle/>
                    <a:p>
                      <a:pPr algn="l"/>
                      <a:r>
                        <a:rPr sz="880" b="0">
                          <a:solidFill>
                            <a:srgbClr val="0E1512"/>
                          </a:solidFill>
                          <a:latin typeface="Arial"/>
                        </a:rPr>
                        <a:t>HYPER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No chat at all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Never, anonymous by design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1" name="TextBox 20"/>
          <p:cNvSpPr txBox="1"/>
          <p:nvPr/>
        </p:nvSpPr>
        <p:spPr>
          <a:xfrm>
            <a:off x="6419088" y="3840480"/>
            <a:ext cx="5166360" cy="1371600"/>
          </a:xfrm>
          <a:prstGeom prst="rect">
            <a:avLst/>
          </a:prstGeom>
          <a:noFill/>
        </p:spPr>
        <p:txBody>
          <a:bodyPr wrap="square" lIns="0" rIns="0" tIns="0" bIns="0" anchor="t">
            <a:spAutoFit/>
          </a:bodyPr>
          <a:lstStyle/>
          <a:p>
            <a:pPr algn="l">
              <a:lnSpc>
                <a:spcPct val="114000"/>
              </a:lnSpc>
              <a:spcAft>
                <a:spcPts val="400"/>
              </a:spcAft>
            </a:pPr>
            <a:r>
              <a:rPr sz="940" b="0" i="0">
                <a:solidFill>
                  <a:srgbClr val="0E1512"/>
                </a:solidFill>
                <a:latin typeface="Arial"/>
              </a:rPr>
              <a:t>Handing eleven strangers each other’s phone numbers is the exact mechanism behind the harassment complaints that got 400 lending apps banned. Halqa does not need to send a single message to be blamed for what happens on a number it published, the cost of the restriction is near zero, the cost of getting it wrong is the company. Chat is also where recovery evidence lives: retained for the cycle plus 24 months, exportable into the evidence pack, with a report button that files a SecurityEvent.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D9A93C"/>
                </a:solidFill>
                <a:latin typeface="Georgia"/>
              </a:rPr>
              <a:t>IV</a:t>
            </a:r>
          </a:p>
        </p:txBody>
      </p:sp>
      <p:sp>
        <p:nvSpPr>
          <p:cNvPr id="5" name="TextBox 4"/>
          <p:cNvSpPr txBox="1"/>
          <p:nvPr/>
        </p:nvSpPr>
        <p:spPr>
          <a:xfrm>
            <a:off x="2468880" y="2359152"/>
            <a:ext cx="8595360" cy="731520"/>
          </a:xfrm>
          <a:prstGeom prst="rect">
            <a:avLst/>
          </a:prstGeom>
          <a:noFill/>
        </p:spPr>
        <p:txBody>
          <a:bodyPr wrap="square" lIns="0" rIns="0" tIns="0" bIns="0" anchor="t">
            <a:spAutoFit/>
          </a:bodyPr>
          <a:lstStyle/>
          <a:p>
            <a:pPr algn="l">
              <a:lnSpc>
                <a:spcPct val="100000"/>
              </a:lnSpc>
              <a:spcAft>
                <a:spcPts val="400"/>
              </a:spcAft>
            </a:pPr>
            <a:r>
              <a:rPr sz="3000" b="0" i="0">
                <a:solidFill>
                  <a:srgbClr val="F6F1E4"/>
                </a:solidFill>
                <a:latin typeface="Georgia"/>
              </a:rPr>
              <a:t>Trust, identity and money</a:t>
            </a:r>
          </a:p>
        </p:txBody>
      </p:sp>
      <p:cxnSp>
        <p:nvCxnSpPr>
          <p:cNvPr id="6" name="Connector 5"/>
          <p:cNvCxnSpPr/>
          <p:nvPr/>
        </p:nvCxnSpPr>
        <p:spPr>
          <a:xfrm>
            <a:off x="2542032"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3101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941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782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622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03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44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98464"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42032" y="3310128"/>
            <a:ext cx="7680960" cy="1463040"/>
          </a:xfrm>
          <a:prstGeom prst="rect">
            <a:avLst/>
          </a:prstGeom>
          <a:noFill/>
        </p:spPr>
        <p:txBody>
          <a:bodyPr wrap="square" lIns="0" rIns="0" tIns="0" bIns="0" anchor="t">
            <a:spAutoFit/>
          </a:bodyPr>
          <a:lstStyle/>
          <a:p>
            <a:pPr algn="l">
              <a:lnSpc>
                <a:spcPct val="112000"/>
              </a:lnSpc>
              <a:spcAft>
                <a:spcPts val="600"/>
              </a:spcAft>
            </a:pPr>
            <a:r>
              <a:rPr sz="1220" b="0" i="0">
                <a:solidFill>
                  <a:srgbClr val="C8D4CC"/>
                </a:solidFill>
                <a:latin typeface="Arial"/>
              </a:rPr>
              <a:t>The record-only architecture is a legal position, not a slogan, the regulated</a:t>
            </a:r>
          </a:p>
          <a:p>
            <a:pPr algn="l">
              <a:lnSpc>
                <a:spcPct val="112000"/>
              </a:lnSpc>
              <a:spcAft>
                <a:spcPts val="600"/>
              </a:spcAft>
            </a:pPr>
            <a:r>
              <a:rPr sz="1220" b="0" i="0">
                <a:solidFill>
                  <a:srgbClr val="C8D4CC"/>
                </a:solidFill>
                <a:latin typeface="Arial"/>
              </a:rPr>
              <a:t>activities do not occur, so the licences governing them cannot attach.</a:t>
            </a:r>
          </a:p>
          <a:p>
            <a:pPr algn="l">
              <a:lnSpc>
                <a:spcPct val="112000"/>
              </a:lnSpc>
              <a:spcAft>
                <a:spcPts val="600"/>
              </a:spcAft>
            </a:pPr>
            <a:r>
              <a:rPr sz="1220" b="0" i="0">
                <a:solidFill>
                  <a:srgbClr val="C8D4CC"/>
                </a:solidFill>
                <a:latin typeface="Arial"/>
              </a:rPr>
              <a:t>On top of it: identity and biometrics, anti-money-laundering, the payment rails,</a:t>
            </a:r>
          </a:p>
          <a:p>
            <a:pPr algn="l">
              <a:lnSpc>
                <a:spcPct val="112000"/>
              </a:lnSpc>
              <a:spcAft>
                <a:spcPts val="600"/>
              </a:spcAft>
            </a:pPr>
            <a:r>
              <a:rPr sz="1220" b="0" i="0">
                <a:solidFill>
                  <a:srgbClr val="C8D4CC"/>
                </a:solidFill>
                <a:latin typeface="Arial"/>
              </a:rPr>
              <a:t>the double-entry ledger, and every algorithm that prices and protects a seat.</a:t>
            </a:r>
          </a:p>
        </p:txBody>
      </p:sp>
      <p:cxnSp>
        <p:nvCxnSpPr>
          <p:cNvPr id="17" name="Connector 16"/>
          <p:cNvCxnSpPr/>
          <p:nvPr/>
        </p:nvCxnSpPr>
        <p:spPr>
          <a:xfrm>
            <a:off x="10454335" y="2641701"/>
            <a:ext cx="0" cy="30723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94365" y="2747179"/>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870079" y="3035350"/>
            <a:ext cx="266076" cy="15362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934395" y="3429000"/>
            <a:ext cx="307238" cy="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870079"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94365" y="3844744"/>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454335" y="3909060"/>
            <a:ext cx="0" cy="307238"/>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060685" y="3844744"/>
            <a:ext cx="153620"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772514"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67036" y="3429000"/>
            <a:ext cx="422453" cy="0"/>
          </a:xfrm>
          <a:prstGeom prst="line">
            <a:avLst/>
          </a:prstGeom>
          <a:ln w="24003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LICENSING</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Licensing: the licences that do not attach, and the gates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Pakistan’s heavy financial licences each attach to a specific activity. The regulated activity does not occur anywhere in the architecture, so the licence cannot apply. Getting legal is a company registration, not a financial licence.</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36</a:t>
            </a:r>
          </a:p>
        </p:txBody>
      </p:sp>
      <p:sp>
        <p:nvSpPr>
          <p:cNvPr id="18" name="TextBox 17"/>
          <p:cNvSpPr txBox="1"/>
          <p:nvPr/>
        </p:nvSpPr>
        <p:spPr>
          <a:xfrm>
            <a:off x="566928" y="138988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12   The three heavy licences, and why each does not attach</a:t>
            </a:r>
          </a:p>
        </p:txBody>
      </p:sp>
      <p:graphicFrame>
        <p:nvGraphicFramePr>
          <p:cNvPr id="19" name="Table 18"/>
          <p:cNvGraphicFramePr>
            <a:graphicFrameLocks noGrp="1"/>
          </p:cNvGraphicFramePr>
          <p:nvPr/>
        </p:nvGraphicFramePr>
        <p:xfrm>
          <a:off x="566928" y="1609344"/>
          <a:ext cx="11057836" cy="2058497"/>
        </p:xfrm>
        <a:graphic>
          <a:graphicData uri="http://schemas.openxmlformats.org/drawingml/2006/table">
            <a:tbl>
              <a:tblPr>
                <a:tableStyleId>{5C22544A-7EE6-4342-B048-85BDC9FD1C3A}</a:tableStyleId>
              </a:tblPr>
              <a:tblGrid>
                <a:gridCol w="3317351"/>
                <a:gridCol w="1105783"/>
                <a:gridCol w="3096194"/>
                <a:gridCol w="3538508"/>
              </a:tblGrid>
              <a:tr h="522305">
                <a:tc>
                  <a:txBody>
                    <a:bodyPr wrap="square"/>
                    <a:lstStyle/>
                    <a:p>
                      <a:pPr algn="l"/>
                      <a:r>
                        <a:rPr sz="919" b="1">
                          <a:solidFill>
                            <a:srgbClr val="F6F1E4"/>
                          </a:solidFill>
                          <a:latin typeface="Arial"/>
                        </a:rPr>
                        <a:t>Licence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Regulator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Triggered by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Halqa’s position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512064">
                <a:tc>
                  <a:txBody>
                    <a:bodyPr wrap="square"/>
                    <a:lstStyle/>
                    <a:p>
                      <a:pPr algn="l"/>
                      <a:r>
                        <a:rPr sz="919" b="0">
                          <a:solidFill>
                            <a:srgbClr val="0E1512"/>
                          </a:solidFill>
                          <a:latin typeface="Arial"/>
                        </a:rPr>
                        <a:t>EMI, Electronic Money Institution (Rs 200M capital)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SBP</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Issuing or holding electronic money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Issues no balances, holds none. Points are never cash-redeemable.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12064">
                <a:tc>
                  <a:txBody>
                    <a:bodyPr wrap="square"/>
                    <a:lstStyle/>
                    <a:p>
                      <a:pPr algn="l"/>
                      <a:r>
                        <a:rPr sz="919" b="0">
                          <a:solidFill>
                            <a:srgbClr val="0E1512"/>
                          </a:solidFill>
                          <a:latin typeface="Arial"/>
                        </a:rPr>
                        <a:t>NBFC, Investment Finance Services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SECP</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Lending, or pooling and deploying member funds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Members fund each other. Stage-2 funds are deployed only by a licensed AMC under its own licence.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512064">
                <a:tc>
                  <a:txBody>
                    <a:bodyPr wrap="square"/>
                    <a:lstStyle/>
                    <a:p>
                      <a:pPr algn="l"/>
                      <a:r>
                        <a:rPr sz="919" b="0">
                          <a:solidFill>
                            <a:srgbClr val="0E1512"/>
                          </a:solidFill>
                          <a:latin typeface="Arial"/>
                        </a:rPr>
                        <a:t>PSO / PSP, payment system operator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SBP</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Operating a payment system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19" b="0">
                          <a:solidFill>
                            <a:srgbClr val="0E1512"/>
                          </a:solidFill>
                          <a:latin typeface="Arial"/>
                        </a:rPr>
                        <a:t>Operates none; initiates over a licensed aggregator’s system.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3822191"/>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one question that decides everything</a:t>
            </a:r>
          </a:p>
        </p:txBody>
      </p:sp>
      <p:sp>
        <p:nvSpPr>
          <p:cNvPr id="21" name="TextBox 20"/>
          <p:cNvSpPr txBox="1"/>
          <p:nvPr/>
        </p:nvSpPr>
        <p:spPr>
          <a:xfrm>
            <a:off x="566928" y="4133087"/>
            <a:ext cx="5486400" cy="128016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Does Halqa hold the pot? Version A, the notebook: money moves member → member, Halqa only records, needs NO financial licence, just a company. Version B, Halqa holds or pools funds, needs a heavy licence. The strategy is to stay Version A permanently and reach anything Version B only through a licensed PARTNER (aggregator, trustee, AMC), never by buying the licence. Independently validated eight years early by Mehmood et al. (ITU Lahore / U. Washington, Gates + Karandaaz): the ROSCA app can serve as a conduit to a member’s own wallet without a deposit licence.</a:t>
            </a:r>
          </a:p>
        </p:txBody>
      </p:sp>
      <p:sp>
        <p:nvSpPr>
          <p:cNvPr id="22" name="TextBox 21"/>
          <p:cNvSpPr txBox="1"/>
          <p:nvPr/>
        </p:nvSpPr>
        <p:spPr>
          <a:xfrm>
            <a:off x="6419088" y="3822191"/>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three gates to real money</a:t>
            </a:r>
          </a:p>
        </p:txBody>
      </p:sp>
      <p:graphicFrame>
        <p:nvGraphicFramePr>
          <p:cNvPr id="23" name="Table 22"/>
          <p:cNvGraphicFramePr>
            <a:graphicFrameLocks noGrp="1"/>
          </p:cNvGraphicFramePr>
          <p:nvPr/>
        </p:nvGraphicFramePr>
        <p:xfrm>
          <a:off x="6419088" y="4151376"/>
          <a:ext cx="5166359" cy="1690908"/>
        </p:xfrm>
        <a:graphic>
          <a:graphicData uri="http://schemas.openxmlformats.org/drawingml/2006/table">
            <a:tbl>
              <a:tblPr>
                <a:tableStyleId>{5C22544A-7EE6-4342-B048-85BDC9FD1C3A}</a:tableStyleId>
              </a:tblPr>
              <a:tblGrid>
                <a:gridCol w="1136599"/>
                <a:gridCol w="2893161"/>
                <a:gridCol w="1136599"/>
              </a:tblGrid>
              <a:tr h="429036">
                <a:tc>
                  <a:txBody>
                    <a:bodyPr wrap="square"/>
                    <a:lstStyle/>
                    <a:p>
                      <a:pPr algn="l"/>
                      <a:r>
                        <a:rPr sz="900" b="1">
                          <a:solidFill>
                            <a:srgbClr val="F6F1E4"/>
                          </a:solidFill>
                          <a:latin typeface="Arial"/>
                        </a:rPr>
                        <a:t>Gate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What it is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Cost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20624">
                <a:tc>
                  <a:txBody>
                    <a:bodyPr wrap="square"/>
                    <a:lstStyle/>
                    <a:p>
                      <a:pPr algn="l"/>
                      <a:r>
                        <a:rPr sz="880" b="0">
                          <a:solidFill>
                            <a:srgbClr val="0E1512"/>
                          </a:solidFill>
                          <a:latin typeface="Arial"/>
                        </a:rPr>
                        <a:t>1 · Legitimacy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SECP Pvt Ltd + FBR NTN + operating account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20-30k, weeks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20624">
                <a:tc>
                  <a:txBody>
                    <a:bodyPr wrap="square"/>
                    <a:lstStyle/>
                    <a:p>
                      <a:pPr algn="l"/>
                      <a:r>
                        <a:rPr sz="880" b="0">
                          <a:solidFill>
                            <a:srgbClr val="0E1512"/>
                          </a:solidFill>
                          <a:latin typeface="Arial"/>
                        </a:rPr>
                        <a:t>2 · Real payments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Aggregator merchant agreement (MDR only) + WhatsApp + NADRA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80-180k, 4-8 wk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20624">
                <a:tc>
                  <a:txBody>
                    <a:bodyPr wrap="square"/>
                    <a:lstStyle/>
                    <a:p>
                      <a:pPr algn="l"/>
                      <a:r>
                        <a:rPr sz="880" b="0">
                          <a:solidFill>
                            <a:srgbClr val="0E1512"/>
                          </a:solidFill>
                          <a:latin typeface="Arial"/>
                        </a:rPr>
                        <a:t>3 · Scale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Trustee + AMC via partner, never buy EMI/NBFC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partner terms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TextBox 23"/>
          <p:cNvSpPr txBox="1"/>
          <p:nvPr/>
        </p:nvSpPr>
        <p:spPr>
          <a:xfrm>
            <a:off x="6419088" y="5797296"/>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Rails economics: Raast ≈ 0% (P2P free, P2M subsidised); Safepay 3.3%+Rs 33; wallet pull Rs 300-600. Push Raast everywhere; wallets are the expensive fallback. A recurring counsel opinion (~Rs 50-100k) confirms Version A needs no SBP/SECP financial licence.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LICENSING</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user terms, and the first-clean-actor position</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What a member actually signs, what it means, and the honest limits of enforcement, including the facts we will NOT overstate to a regulator who can check them in ten minutes.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37</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legal corpus a member accepts</a:t>
            </a:r>
          </a:p>
        </p:txBody>
      </p:sp>
      <p:sp>
        <p:nvSpPr>
          <p:cNvPr id="19" name="TextBox 18"/>
          <p:cNvSpPr txBox="1"/>
          <p:nvPr/>
        </p:nvSpPr>
        <p:spPr>
          <a:xfrm>
            <a:off x="566928" y="1719072"/>
            <a:ext cx="5486400" cy="365760"/>
          </a:xfrm>
          <a:prstGeom prst="rect">
            <a:avLst/>
          </a:prstGeom>
          <a:noFill/>
        </p:spPr>
        <p:txBody>
          <a:bodyPr wrap="square" lIns="0" rIns="0" tIns="0" bIns="0">
            <a:spAutoFit/>
          </a:bodyPr>
          <a:lstStyle/>
          <a:p>
            <a:pPr>
              <a:lnSpc>
                <a:spcPct val="110000"/>
              </a:lnSpc>
              <a:spcAft>
                <a:spcPts val="600"/>
              </a:spcAft>
            </a:pPr>
            <a:r>
              <a:rPr sz="940" b="1">
                <a:solidFill>
                  <a:srgbClr val="D9A93C"/>
                </a:solidFill>
                <a:latin typeface="Georgia"/>
              </a:rPr>
              <a:t>|  </a:t>
            </a:r>
            <a:r>
              <a:rPr sz="940" b="1">
                <a:solidFill>
                  <a:srgbClr val="123D30"/>
                </a:solidFill>
                <a:latin typeface="Arial"/>
              </a:rPr>
              <a:t>Terms of Service v1.0  </a:t>
            </a:r>
            <a:r>
              <a:rPr sz="940">
                <a:solidFill>
                  <a:srgbClr val="0E1512"/>
                </a:solidFill>
                <a:latin typeface="Arial"/>
              </a:rPr>
              <a:t>agreement (20 sections), privacy, cookies, ads, community, fees, TERMS_VERSION accepted at signup, recorded as a TOS_ACCEPTED security event.</a:t>
            </a:r>
          </a:p>
          <a:p>
            <a:pPr>
              <a:lnSpc>
                <a:spcPct val="110000"/>
              </a:lnSpc>
              <a:spcAft>
                <a:spcPts val="600"/>
              </a:spcAft>
            </a:pPr>
            <a:r>
              <a:rPr sz="940" b="1">
                <a:solidFill>
                  <a:srgbClr val="D9A93C"/>
                </a:solidFill>
                <a:latin typeface="Georgia"/>
              </a:rPr>
              <a:t>|  </a:t>
            </a:r>
            <a:r>
              <a:rPr sz="940" b="1">
                <a:solidFill>
                  <a:srgbClr val="123D30"/>
                </a:solidFill>
                <a:latin typeface="Arial"/>
              </a:rPr>
              <a:t>The weekly undertaking (iqrarnama)  </a:t>
            </a:r>
            <a:r>
              <a:rPr sz="940">
                <a:solidFill>
                  <a:srgbClr val="0E1512"/>
                </a:solidFill>
                <a:latin typeface="Arial"/>
              </a:rPr>
              <a:t>10 clauses; a liquidated demand enforceable under Order XXXVII CPC summary suit; acceleration; auto-collect and salary consent; bureau consent; arbitration; record-only status. Typed name must match the account; optional drawn signature stored with SHA-256 + IP + timestamp.</a:t>
            </a:r>
          </a:p>
          <a:p>
            <a:pPr>
              <a:lnSpc>
                <a:spcPct val="110000"/>
              </a:lnSpc>
              <a:spcAft>
                <a:spcPts val="600"/>
              </a:spcAft>
            </a:pPr>
            <a:r>
              <a:rPr sz="940" b="1">
                <a:solidFill>
                  <a:srgbClr val="D9A93C"/>
                </a:solidFill>
                <a:latin typeface="Georgia"/>
              </a:rPr>
              <a:t>|  </a:t>
            </a:r>
            <a:r>
              <a:rPr sz="940" b="1">
                <a:solidFill>
                  <a:srgbClr val="123D30"/>
                </a:solidFill>
                <a:latin typeface="Arial"/>
              </a:rPr>
              <a:t>The mutual member-to-member PG  </a:t>
            </a:r>
            <a:r>
              <a:rPr sz="940">
                <a:solidFill>
                  <a:srgbClr val="0E1512"/>
                </a:solidFill>
                <a:latin typeface="Arial"/>
              </a:rPr>
              <a:t>auto-signed in the join transaction; the text is expressly NOT to Halqa.</a:t>
            </a:r>
          </a:p>
          <a:p>
            <a:pPr>
              <a:lnSpc>
                <a:spcPct val="110000"/>
              </a:lnSpc>
              <a:spcAft>
                <a:spcPts val="600"/>
              </a:spcAft>
            </a:pPr>
            <a:r>
              <a:rPr sz="940" b="1">
                <a:solidFill>
                  <a:srgbClr val="D9A93C"/>
                </a:solidFill>
                <a:latin typeface="Georgia"/>
              </a:rPr>
              <a:t>|  </a:t>
            </a:r>
            <a:r>
              <a:rPr sz="940" b="1">
                <a:solidFill>
                  <a:srgbClr val="123D30"/>
                </a:solidFill>
                <a:latin typeface="Arial"/>
              </a:rPr>
              <a:t>Honest limits (verified)  </a:t>
            </a:r>
            <a:r>
              <a:rPr sz="940">
                <a:solidFill>
                  <a:srgbClr val="0E1512"/>
                </a:solidFill>
                <a:latin typeface="Arial"/>
              </a:rPr>
              <a:t>default on a PG is CIVIL, no jail. The only jail route was §489-F (dishonoured cheque), and cheques were DROPPED from the model. Recovery is Order XXXVII, which needs a court decree first; we cannot self-seize or claim we can jail defaulters.</a:t>
            </a:r>
          </a:p>
        </p:txBody>
      </p:sp>
      <p:sp>
        <p:nvSpPr>
          <p:cNvPr id="20" name="TextBox 19"/>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first-clean-actor move</a:t>
            </a:r>
          </a:p>
        </p:txBody>
      </p:sp>
      <p:sp>
        <p:nvSpPr>
          <p:cNvPr id="21" name="TextBox 20"/>
          <p:cNvSpPr txBox="1"/>
          <p:nvPr/>
        </p:nvSpPr>
        <p:spPr>
          <a:xfrm>
            <a:off x="6419088" y="1719072"/>
            <a:ext cx="5166360" cy="173736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Pakistan regulated nano-lending after the deaths; India regulated chit funds after Saradha. The pattern is that Pakistan will regulate digital committees after its first large platform fraud, so the first-clean-actor window is real. The move is to approach SECP voluntarily while the sitting Chairman is mentoring, seek the Regulatory Sandbox (its rules admit unregistered startups intending to register), and get one model clause into the first consultation paper: a facilitator that never holds, guarantees or auctions member funds, and provides records admissible under the ETO 2002, is a registrar of private arrangements, not a deposit-taker.</a:t>
            </a:r>
          </a:p>
        </p:txBody>
      </p:sp>
      <p:sp>
        <p:nvSpPr>
          <p:cNvPr id="22" name="Rectangle 21"/>
          <p:cNvSpPr/>
          <p:nvPr/>
        </p:nvSpPr>
        <p:spPr>
          <a:xfrm>
            <a:off x="6419088" y="3657600"/>
            <a:ext cx="45720" cy="2286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620256" y="3694176"/>
            <a:ext cx="4937760" cy="228600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The discipline layer inverts every accusation that killed the 400 lending apps, set against SBP’s Business Conduct &amp; Fair Treatment of Consumers framework (Oct 2025): no cancel-button trap (a five-level exit ladder), a 24-hour cooling window, affordability caps that protect the member FROM the group, no contact-list or gallery harvesting, no public shaming, no address publication. The undertaking and PG are lawyer-UNREVIEWED templates today, a budgeted Gate-2 counsel item, stated plainly rather than hidden.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IDENTITY</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Identity: the signup wizard</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Every datum arrives because the member deliberately handed it over for a stated purpose, volunteered, purpose-bound, minimal, never harvested. This is the device-layer version of the no-custody thesis.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38</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08000"/>
              </a:lnSpc>
              <a:spcAft>
                <a:spcPts val="500"/>
              </a:spcAft>
            </a:pPr>
            <a:r>
              <a:rPr sz="940" b="1">
                <a:solidFill>
                  <a:srgbClr val="D9A93C"/>
                </a:solidFill>
                <a:latin typeface="Georgia"/>
              </a:rPr>
              <a:t>|  </a:t>
            </a:r>
            <a:r>
              <a:rPr sz="940" b="1">
                <a:solidFill>
                  <a:srgbClr val="123D30"/>
                </a:solidFill>
                <a:latin typeface="Arial"/>
              </a:rPr>
              <a:t>The wizard  </a:t>
            </a:r>
            <a:r>
              <a:rPr sz="940">
                <a:solidFill>
                  <a:srgbClr val="0E1512"/>
                </a:solidFill>
                <a:latin typeface="Arial"/>
              </a:rPr>
              <a:t>phone → OTP → name → profile → email → CNIC → account → password → PIN → review.</a:t>
            </a:r>
          </a:p>
          <a:p>
            <a:pPr>
              <a:lnSpc>
                <a:spcPct val="108000"/>
              </a:lnSpc>
              <a:spcAft>
                <a:spcPts val="500"/>
              </a:spcAft>
            </a:pPr>
            <a:r>
              <a:rPr sz="940" b="1">
                <a:solidFill>
                  <a:srgbClr val="D9A93C"/>
                </a:solidFill>
                <a:latin typeface="Georgia"/>
              </a:rPr>
              <a:t>|  </a:t>
            </a:r>
            <a:r>
              <a:rPr sz="940" b="1">
                <a:solidFill>
                  <a:srgbClr val="123D30"/>
                </a:solidFill>
                <a:latin typeface="Arial"/>
              </a:rPr>
              <a:t>Phone OTP  </a:t>
            </a:r>
            <a:r>
              <a:rPr sz="940">
                <a:solidFill>
                  <a:srgbClr val="0E1512"/>
                </a:solidFill>
                <a:latin typeface="Arial"/>
              </a:rPr>
              <a:t>6-digit, stored hashed in SecurityEvent keyed by phone (no user exists yet), 30-minute window checked at register, sets phoneVerified.</a:t>
            </a:r>
          </a:p>
          <a:p>
            <a:pPr>
              <a:lnSpc>
                <a:spcPct val="108000"/>
              </a:lnSpc>
              <a:spcAft>
                <a:spcPts val="500"/>
              </a:spcAft>
            </a:pPr>
            <a:r>
              <a:rPr sz="940" b="1">
                <a:solidFill>
                  <a:srgbClr val="D9A93C"/>
                </a:solidFill>
                <a:latin typeface="Georgia"/>
              </a:rPr>
              <a:t>|  </a:t>
            </a:r>
            <a:r>
              <a:rPr sz="940" b="1">
                <a:solidFill>
                  <a:srgbClr val="123D30"/>
                </a:solidFill>
                <a:latin typeface="Arial"/>
              </a:rPr>
              <a:t>App PIN on every open  </a:t>
            </a:r>
            <a:r>
              <a:rPr sz="940">
                <a:solidFill>
                  <a:srgbClr val="0E1512"/>
                </a:solidFill>
                <a:latin typeface="Arial"/>
              </a:rPr>
              <a:t>pinHash = SHA-256 with a JWT_SECRET pepper, never returned (only a hasPin boolean). A full-screen keypad on every app open; in-memory unlocked state resets on reload; forgot-PIN falls back to password login.</a:t>
            </a:r>
          </a:p>
          <a:p>
            <a:pPr>
              <a:lnSpc>
                <a:spcPct val="108000"/>
              </a:lnSpc>
              <a:spcAft>
                <a:spcPts val="500"/>
              </a:spcAft>
            </a:pPr>
            <a:r>
              <a:rPr sz="940" b="1">
                <a:solidFill>
                  <a:srgbClr val="D9A93C"/>
                </a:solidFill>
                <a:latin typeface="Georgia"/>
              </a:rPr>
              <a:t>|  </a:t>
            </a:r>
            <a:r>
              <a:rPr sz="940" b="1">
                <a:solidFill>
                  <a:srgbClr val="123D30"/>
                </a:solidFill>
                <a:latin typeface="Arial"/>
              </a:rPr>
              <a:t>Optional device biometric  </a:t>
            </a:r>
            <a:r>
              <a:rPr sz="940">
                <a:solidFill>
                  <a:srgbClr val="0E1512"/>
                </a:solidFill>
                <a:latin typeface="Arial"/>
              </a:rPr>
              <a:t>FaceID / fingerprint via WebAuthn, layered on the PIN, never leaves the device.</a:t>
            </a:r>
          </a:p>
          <a:p>
            <a:pPr>
              <a:lnSpc>
                <a:spcPct val="108000"/>
              </a:lnSpc>
              <a:spcAft>
                <a:spcPts val="500"/>
              </a:spcAft>
            </a:pPr>
            <a:r>
              <a:rPr sz="940" b="1">
                <a:solidFill>
                  <a:srgbClr val="D9A93C"/>
                </a:solidFill>
                <a:latin typeface="Georgia"/>
              </a:rPr>
              <a:t>|  </a:t>
            </a:r>
            <a:r>
              <a:rPr sz="940" b="1">
                <a:solidFill>
                  <a:srgbClr val="123D30"/>
                </a:solidFill>
                <a:latin typeface="Arial"/>
              </a:rPr>
              <a:t>CNIC capture by camera  </a:t>
            </a:r>
            <a:r>
              <a:rPr sz="940">
                <a:solidFill>
                  <a:srgbClr val="0E1512"/>
                </a:solidFill>
                <a:latin typeface="Arial"/>
              </a:rPr>
              <a:t>scans the whole card Oraan-style, auto-reads the 13-digit number; unique, required at signup.</a:t>
            </a:r>
          </a:p>
          <a:p>
            <a:pPr>
              <a:lnSpc>
                <a:spcPct val="108000"/>
              </a:lnSpc>
              <a:spcAft>
                <a:spcPts val="500"/>
              </a:spcAft>
            </a:pPr>
            <a:r>
              <a:rPr sz="940" b="1">
                <a:solidFill>
                  <a:srgbClr val="D9A93C"/>
                </a:solidFill>
                <a:latin typeface="Georgia"/>
              </a:rPr>
              <a:t>|  </a:t>
            </a:r>
            <a:r>
              <a:rPr sz="940" b="1">
                <a:solidFill>
                  <a:srgbClr val="123D30"/>
                </a:solidFill>
                <a:latin typeface="Arial"/>
              </a:rPr>
              <a:t>Uniqueness enforced  </a:t>
            </a:r>
            <a:r>
              <a:rPr sz="940">
                <a:solidFill>
                  <a:srgbClr val="0E1512"/>
                </a:solidFill>
                <a:latin typeface="Arial"/>
              </a:rPr>
              <a:t>on CNIC, phone and email. KYC level 1 (CNIC) unlocks hosting; level 2 is account verification, reserved for Stage-2 custody products.</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Profile fields captured, and why</a:t>
            </a:r>
          </a:p>
        </p:txBody>
      </p:sp>
      <p:graphicFrame>
        <p:nvGraphicFramePr>
          <p:cNvPr id="20" name="Table 19"/>
          <p:cNvGraphicFramePr>
            <a:graphicFrameLocks noGrp="1"/>
          </p:cNvGraphicFramePr>
          <p:nvPr/>
        </p:nvGraphicFramePr>
        <p:xfrm>
          <a:off x="6419088" y="1737360"/>
          <a:ext cx="5166359" cy="3029590"/>
        </p:xfrm>
        <a:graphic>
          <a:graphicData uri="http://schemas.openxmlformats.org/drawingml/2006/table">
            <a:tbl>
              <a:tblPr>
                <a:tableStyleId>{5C22544A-7EE6-4342-B048-85BDC9FD1C3A}</a:tableStyleId>
              </a:tblPr>
              <a:tblGrid>
                <a:gridCol w="2169871"/>
                <a:gridCol w="2996488"/>
              </a:tblGrid>
              <a:tr h="615574">
                <a:tc>
                  <a:txBody>
                    <a:bodyPr wrap="square"/>
                    <a:lstStyle/>
                    <a:p>
                      <a:pPr algn="l"/>
                      <a:r>
                        <a:rPr sz="900" b="1">
                          <a:solidFill>
                            <a:srgbClr val="F6F1E4"/>
                          </a:solidFill>
                          <a:latin typeface="Arial"/>
                        </a:rPr>
                        <a:t>Field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Purpose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603504">
                <a:tc>
                  <a:txBody>
                    <a:bodyPr wrap="square"/>
                    <a:lstStyle/>
                    <a:p>
                      <a:pPr algn="l"/>
                      <a:r>
                        <a:rPr sz="880" b="0">
                          <a:solidFill>
                            <a:srgbClr val="0E1512"/>
                          </a:solidFill>
                          <a:latin typeface="Arial"/>
                        </a:rPr>
                        <a:t>addressLine, city, locality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Traceability (the fraud control), service of notice; broad area only, never a house number is published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603504">
                <a:tc>
                  <a:txBody>
                    <a:bodyPr wrap="square"/>
                    <a:lstStyle/>
                    <a:p>
                      <a:pPr algn="l"/>
                      <a:r>
                        <a:rPr sz="880" b="0">
                          <a:solidFill>
                            <a:srgbClr val="0E1512"/>
                          </a:solidFill>
                          <a:latin typeface="Arial"/>
                        </a:rPr>
                        <a:t>occupationType, employerName, jobTitle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Affordability, verification; the husband’s job when occupation is HOUSEWIFE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603504">
                <a:tc>
                  <a:txBody>
                    <a:bodyPr wrap="square"/>
                    <a:lstStyle/>
                    <a:p>
                      <a:pPr algn="l"/>
                      <a:r>
                        <a:rPr sz="880" b="0">
                          <a:solidFill>
                            <a:srgbClr val="0E1512"/>
                          </a:solidFill>
                          <a:latin typeface="Arial"/>
                        </a:rPr>
                        <a:t>homeLat / homeLng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One-time precise GPS pin, reverse-geocoded, member-initiated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603504">
                <a:tc>
                  <a:txBody>
                    <a:bodyPr wrap="square"/>
                    <a:lstStyle/>
                    <a:p>
                      <a:pPr algn="l"/>
                      <a:r>
                        <a:rPr sz="880" b="0">
                          <a:solidFill>
                            <a:srgbClr val="0E1512"/>
                          </a:solidFill>
                          <a:latin typeface="Arial"/>
                        </a:rPr>
                        <a:t>CNIC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Identity, uniqueness, KYC level 1</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1" name="TextBox 20"/>
          <p:cNvSpPr txBox="1"/>
          <p:nvPr/>
        </p:nvSpPr>
        <p:spPr>
          <a:xfrm>
            <a:off x="6419088" y="539496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The public trust surface exposes only broad location (city + sector) and the member’s job, never the employer, never the house number. Reputation is derived from real payment/completion events, never self-reported (src/lib/reputation.ts).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IDENTITY</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member profile and settings</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39</a:t>
            </a:r>
          </a:p>
        </p:txBody>
      </p:sp>
      <p:sp>
        <p:nvSpPr>
          <p:cNvPr id="17" name="Rectangle 16"/>
          <p:cNvSpPr/>
          <p:nvPr/>
        </p:nvSpPr>
        <p:spPr>
          <a:xfrm>
            <a:off x="649224" y="1362456"/>
            <a:ext cx="2285761" cy="4818888"/>
          </a:xfrm>
          <a:prstGeom prst="rect">
            <a:avLst/>
          </a:prstGeom>
          <a:solidFill>
            <a:srgbClr val="123D30"/>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v-account.png"/>
          <p:cNvPicPr>
            <a:picLocks noChangeAspect="1"/>
          </p:cNvPicPr>
          <p:nvPr/>
        </p:nvPicPr>
        <p:blipFill>
          <a:blip r:embed="rId2"/>
          <a:stretch>
            <a:fillRect/>
          </a:stretch>
        </p:blipFill>
        <p:spPr>
          <a:xfrm>
            <a:off x="704088" y="1417320"/>
            <a:ext cx="2176033" cy="4709160"/>
          </a:xfrm>
          <a:prstGeom prst="rect">
            <a:avLst/>
          </a:prstGeom>
        </p:spPr>
      </p:pic>
      <p:sp>
        <p:nvSpPr>
          <p:cNvPr id="19" name="TextBox 18"/>
          <p:cNvSpPr txBox="1"/>
          <p:nvPr/>
        </p:nvSpPr>
        <p:spPr>
          <a:xfrm>
            <a:off x="704088" y="6236208"/>
            <a:ext cx="2176033" cy="274320"/>
          </a:xfrm>
          <a:prstGeom prst="rect">
            <a:avLst/>
          </a:prstGeom>
          <a:noFill/>
        </p:spPr>
        <p:txBody>
          <a:bodyPr wrap="square" lIns="0" rIns="0" tIns="0" bIns="0" anchor="t">
            <a:spAutoFit/>
          </a:bodyPr>
          <a:lstStyle/>
          <a:p>
            <a:pPr algn="l">
              <a:lnSpc>
                <a:spcPct val="100000"/>
              </a:lnSpc>
              <a:spcAft>
                <a:spcPts val="400"/>
              </a:spcAft>
            </a:pPr>
            <a:r>
              <a:rPr sz="819" b="0" i="1">
                <a:solidFill>
                  <a:srgbClr val="4C574F"/>
                </a:solidFill>
                <a:latin typeface="Arial"/>
              </a:rPr>
              <a:t>Live production build, halqa-seven.vercel.app</a:t>
            </a:r>
          </a:p>
        </p:txBody>
      </p:sp>
      <p:sp>
        <p:nvSpPr>
          <p:cNvPr id="20" name="TextBox 19"/>
          <p:cNvSpPr txBox="1"/>
          <p:nvPr/>
        </p:nvSpPr>
        <p:spPr>
          <a:xfrm>
            <a:off x="3383041" y="1481328"/>
            <a:ext cx="8241726"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One identity, one place</a:t>
            </a:r>
          </a:p>
        </p:txBody>
      </p:sp>
      <p:sp>
        <p:nvSpPr>
          <p:cNvPr id="21" name="Rectangle 20"/>
          <p:cNvSpPr/>
          <p:nvPr/>
        </p:nvSpPr>
        <p:spPr>
          <a:xfrm>
            <a:off x="3383041" y="1938528"/>
            <a:ext cx="45720" cy="182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041" y="1975104"/>
            <a:ext cx="8241726" cy="365760"/>
          </a:xfrm>
          <a:prstGeom prst="rect">
            <a:avLst/>
          </a:prstGeom>
          <a:noFill/>
        </p:spPr>
        <p:txBody>
          <a:bodyPr wrap="square" lIns="0" rIns="0" tIns="0" bIns="0">
            <a:spAutoFit/>
          </a:bodyPr>
          <a:lstStyle/>
          <a:p>
            <a:pPr>
              <a:lnSpc>
                <a:spcPct val="112000"/>
              </a:lnSpc>
              <a:spcAft>
                <a:spcPts val="800"/>
              </a:spcAft>
            </a:pPr>
            <a:r>
              <a:rPr sz="1140" b="1">
                <a:solidFill>
                  <a:srgbClr val="D9A93C"/>
                </a:solidFill>
                <a:latin typeface="Georgia"/>
              </a:rPr>
              <a:t>|  </a:t>
            </a:r>
            <a:r>
              <a:rPr sz="1140" b="1">
                <a:solidFill>
                  <a:srgbClr val="123D30"/>
                </a:solidFill>
                <a:latin typeface="Arial"/>
              </a:rPr>
              <a:t>One identity  </a:t>
            </a:r>
            <a:r>
              <a:rPr sz="1140">
                <a:solidFill>
                  <a:srgbClr val="0E1512"/>
                </a:solidFill>
                <a:latin typeface="Arial"/>
              </a:rPr>
              <a:t>name, handle and number, the live credit score (804, Excellent), and a link to the full credit report.</a:t>
            </a:r>
          </a:p>
          <a:p>
            <a:pPr>
              <a:lnSpc>
                <a:spcPct val="112000"/>
              </a:lnSpc>
              <a:spcAft>
                <a:spcPts val="800"/>
              </a:spcAft>
            </a:pPr>
            <a:r>
              <a:rPr sz="1140" b="1">
                <a:solidFill>
                  <a:srgbClr val="D9A93C"/>
                </a:solidFill>
                <a:latin typeface="Georgia"/>
              </a:rPr>
              <a:t>|  </a:t>
            </a:r>
            <a:r>
              <a:rPr sz="1140" b="1">
                <a:solidFill>
                  <a:srgbClr val="123D30"/>
                </a:solidFill>
                <a:latin typeface="Arial"/>
              </a:rPr>
              <a:t>The vault, in profile  </a:t>
            </a:r>
            <a:r>
              <a:rPr sz="1140">
                <a:solidFill>
                  <a:srgbClr val="0E1512"/>
                </a:solidFill>
                <a:latin typeface="Arial"/>
              </a:rPr>
              <a:t>Standard, Income, Gold-linked and Crypto sleeves, each labelled by risk and by whether it is halal; Crypto is flagged high risk and NOT Shariah.</a:t>
            </a:r>
          </a:p>
          <a:p>
            <a:pPr>
              <a:lnSpc>
                <a:spcPct val="112000"/>
              </a:lnSpc>
              <a:spcAft>
                <a:spcPts val="800"/>
              </a:spcAft>
            </a:pPr>
            <a:r>
              <a:rPr sz="1140" b="1">
                <a:solidFill>
                  <a:srgbClr val="D9A93C"/>
                </a:solidFill>
                <a:latin typeface="Georgia"/>
              </a:rPr>
              <a:t>|  </a:t>
            </a:r>
            <a:r>
              <a:rPr sz="1140" b="1">
                <a:solidFill>
                  <a:srgbClr val="123D30"/>
                </a:solidFill>
                <a:latin typeface="Arial"/>
              </a:rPr>
              <a:t>Halal savings pocket  </a:t>
            </a:r>
            <a:r>
              <a:rPr sz="1140">
                <a:solidFill>
                  <a:srgbClr val="0E1512"/>
                </a:solidFill>
                <a:latin typeface="Arial"/>
              </a:rPr>
              <a:t>committee payouts can park and top up, accruing on an Islamic money-market basket, 10.8 per cent indicative, Mudarabah.</a:t>
            </a:r>
          </a:p>
          <a:p>
            <a:pPr>
              <a:lnSpc>
                <a:spcPct val="112000"/>
              </a:lnSpc>
              <a:spcAft>
                <a:spcPts val="800"/>
              </a:spcAft>
            </a:pPr>
            <a:r>
              <a:rPr sz="1140" b="1">
                <a:solidFill>
                  <a:srgbClr val="D9A93C"/>
                </a:solidFill>
                <a:latin typeface="Georgia"/>
              </a:rPr>
              <a:t>|  </a:t>
            </a:r>
            <a:r>
              <a:rPr sz="1140" b="1">
                <a:solidFill>
                  <a:srgbClr val="123D30"/>
                </a:solidFill>
                <a:latin typeface="Arial"/>
              </a:rPr>
              <a:t>Auto-cover  </a:t>
            </a:r>
            <a:r>
              <a:rPr sz="1140">
                <a:solidFill>
                  <a:srgbClr val="0E1512"/>
                </a:solidFill>
                <a:latin typeface="Arial"/>
              </a:rPr>
              <a:t>missed installments can settle from the vault as a safety net.</a:t>
            </a:r>
          </a:p>
          <a:p>
            <a:pPr>
              <a:lnSpc>
                <a:spcPct val="112000"/>
              </a:lnSpc>
              <a:spcAft>
                <a:spcPts val="800"/>
              </a:spcAft>
            </a:pPr>
            <a:r>
              <a:rPr sz="1140" b="1">
                <a:solidFill>
                  <a:srgbClr val="D9A93C"/>
                </a:solidFill>
                <a:latin typeface="Georgia"/>
              </a:rPr>
              <a:t>|  </a:t>
            </a:r>
            <a:r>
              <a:rPr sz="1140" b="1">
                <a:solidFill>
                  <a:srgbClr val="123D30"/>
                </a:solidFill>
                <a:latin typeface="Arial"/>
              </a:rPr>
              <a:t>Settings and controls  </a:t>
            </a:r>
            <a:r>
              <a:rPr sz="1140">
                <a:solidFill>
                  <a:srgbClr val="0E1512"/>
                </a:solidFill>
                <a:latin typeface="Arial"/>
              </a:rPr>
              <a:t>linked payment methods, PIN and biometric, notification and language, all reached from here.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IDENTITY</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Identity: biometrics, location and the red lines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Stronger identity where it is worth the cost, and a hard boundary around the device: the harvest techniques that got 400 apps delisted are refused even with consent, because consent is not a defence to Google or SECP.</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40</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NADRA face match (BUILD / PARTNER)</a:t>
            </a:r>
          </a:p>
        </p:txBody>
      </p:sp>
      <p:sp>
        <p:nvSpPr>
          <p:cNvPr id="19" name="TextBox 18"/>
          <p:cNvSpPr txBox="1"/>
          <p:nvPr/>
        </p:nvSpPr>
        <p:spPr>
          <a:xfrm>
            <a:off x="566928" y="1719072"/>
            <a:ext cx="5486400" cy="365760"/>
          </a:xfrm>
          <a:prstGeom prst="rect">
            <a:avLst/>
          </a:prstGeom>
          <a:noFill/>
        </p:spPr>
        <p:txBody>
          <a:bodyPr wrap="square" lIns="0" rIns="0" tIns="0" bIns="0">
            <a:spAutoFit/>
          </a:bodyPr>
          <a:lstStyle/>
          <a:p>
            <a:pPr>
              <a:lnSpc>
                <a:spcPct val="110000"/>
              </a:lnSpc>
              <a:spcAft>
                <a:spcPts val="600"/>
              </a:spcAft>
            </a:pPr>
            <a:r>
              <a:rPr sz="950" b="1">
                <a:solidFill>
                  <a:srgbClr val="D9A93C"/>
                </a:solidFill>
                <a:latin typeface="Georgia"/>
              </a:rPr>
              <a:t>|  </a:t>
            </a:r>
            <a:r>
              <a:rPr sz="950" b="1">
                <a:solidFill>
                  <a:srgbClr val="123D30"/>
                </a:solidFill>
                <a:latin typeface="Arial"/>
              </a:rPr>
              <a:t>Procured via the Nishan Pakistan portal  </a:t>
            </a:r>
            <a:r>
              <a:rPr sz="950">
                <a:solidFill>
                  <a:srgbClr val="0E1512"/>
                </a:solidFill>
                <a:latin typeface="Arial"/>
              </a:rPr>
              <a:t>the contactless Multi-Biometric Verification Service, built at SBP’s request for banking and payments.</a:t>
            </a:r>
          </a:p>
          <a:p>
            <a:pPr>
              <a:lnSpc>
                <a:spcPct val="110000"/>
              </a:lnSpc>
              <a:spcAft>
                <a:spcPts val="600"/>
              </a:spcAft>
            </a:pPr>
            <a:r>
              <a:rPr sz="950" b="1">
                <a:solidFill>
                  <a:srgbClr val="D9A93C"/>
                </a:solidFill>
                <a:latin typeface="Georgia"/>
              </a:rPr>
              <a:t>|  </a:t>
            </a:r>
            <a:r>
              <a:rPr sz="950" b="1">
                <a:solidFill>
                  <a:srgbClr val="123D30"/>
                </a:solidFill>
                <a:latin typeface="Arial"/>
              </a:rPr>
              <a:t>Once at onboarding, re-triggered on risk  </a:t>
            </a:r>
            <a:r>
              <a:rPr sz="950">
                <a:solidFill>
                  <a:srgbClr val="0E1512"/>
                </a:solidFill>
                <a:latin typeface="Arial"/>
              </a:rPr>
              <a:t>a new device, an above-threshold contribution, claiming a first-half seat, ANY exit or hardship request (an impersonated exit is the cheapest attack on the restitution engine), and 90-day dormancy.</a:t>
            </a:r>
          </a:p>
          <a:p>
            <a:pPr>
              <a:lnSpc>
                <a:spcPct val="110000"/>
              </a:lnSpc>
              <a:spcAft>
                <a:spcPts val="600"/>
              </a:spcAft>
            </a:pPr>
            <a:r>
              <a:rPr sz="950" b="1">
                <a:solidFill>
                  <a:srgbClr val="D9A93C"/>
                </a:solidFill>
                <a:latin typeface="Georgia"/>
              </a:rPr>
              <a:t>|  </a:t>
            </a:r>
            <a:r>
              <a:rPr sz="950" b="1">
                <a:solidFill>
                  <a:srgbClr val="123D30"/>
                </a:solidFill>
                <a:latin typeface="Arial"/>
              </a:rPr>
              <a:t>Cost discipline  </a:t>
            </a:r>
            <a:r>
              <a:rPr sz="950">
                <a:solidFill>
                  <a:srgbClr val="0E1512"/>
                </a:solidFill>
                <a:latin typeface="Arial"/>
              </a:rPr>
              <a:t>the NADRA facial certificate is reported at Rs 20; Easypaisa charges Rs 99 for a FAILED check. Do not face-check trivial actions.</a:t>
            </a:r>
          </a:p>
          <a:p>
            <a:pPr>
              <a:lnSpc>
                <a:spcPct val="110000"/>
              </a:lnSpc>
              <a:spcAft>
                <a:spcPts val="600"/>
              </a:spcAft>
            </a:pPr>
            <a:r>
              <a:rPr sz="950" b="1">
                <a:solidFill>
                  <a:srgbClr val="D9A93C"/>
                </a:solidFill>
                <a:latin typeface="Georgia"/>
              </a:rPr>
              <a:t>|  </a:t>
            </a:r>
            <a:r>
              <a:rPr sz="950" b="1">
                <a:solidFill>
                  <a:srgbClr val="123D30"/>
                </a:solidFill>
                <a:latin typeface="Arial"/>
              </a:rPr>
              <a:t>Never store raw templates or images  </a:t>
            </a:r>
            <a:r>
              <a:rPr sz="950">
                <a:solidFill>
                  <a:srgbClr val="0E1512"/>
                </a:solidFill>
                <a:latin typeface="Arial"/>
              </a:rPr>
              <a:t>only the result and NADRA’s reference ID, the nano-lending data-abuse precedent.</a:t>
            </a:r>
          </a:p>
        </p:txBody>
      </p:sp>
      <p:sp>
        <p:nvSpPr>
          <p:cNvPr id="20" name="TextBox 19"/>
          <p:cNvSpPr txBox="1"/>
          <p:nvPr/>
        </p:nvSpPr>
        <p:spPr>
          <a:xfrm>
            <a:off x="566928" y="3977639"/>
            <a:ext cx="548640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Location, defensibly accurate</a:t>
            </a:r>
          </a:p>
        </p:txBody>
      </p:sp>
      <p:sp>
        <p:nvSpPr>
          <p:cNvPr id="21" name="TextBox 20"/>
          <p:cNvSpPr txBox="1"/>
          <p:nvPr/>
        </p:nvSpPr>
        <p:spPr>
          <a:xfrm>
            <a:off x="566928" y="4279392"/>
            <a:ext cx="5486400" cy="365760"/>
          </a:xfrm>
          <a:prstGeom prst="rect">
            <a:avLst/>
          </a:prstGeom>
          <a:noFill/>
        </p:spPr>
        <p:txBody>
          <a:bodyPr wrap="square" lIns="0" rIns="0" tIns="0" bIns="0">
            <a:spAutoFit/>
          </a:bodyPr>
          <a:lstStyle/>
          <a:p>
            <a:pPr>
              <a:lnSpc>
                <a:spcPct val="108000"/>
              </a:lnSpc>
              <a:spcAft>
                <a:spcPts val="500"/>
              </a:spcAft>
            </a:pPr>
            <a:r>
              <a:rPr sz="940" b="1">
                <a:solidFill>
                  <a:srgbClr val="D9A93C"/>
                </a:solidFill>
                <a:latin typeface="Georgia"/>
              </a:rPr>
              <a:t>|  </a:t>
            </a:r>
            <a:r>
              <a:rPr sz="940" b="1">
                <a:solidFill>
                  <a:srgbClr val="123D30"/>
                </a:solidFill>
                <a:latin typeface="Arial"/>
              </a:rPr>
              <a:t>A one-time precise GPS home pin  </a:t>
            </a:r>
            <a:r>
              <a:rPr sz="940">
                <a:solidFill>
                  <a:srgbClr val="0E1512"/>
                </a:solidFill>
                <a:latin typeface="Arial"/>
              </a:rPr>
              <a:t>member-initiated, reverse-geocoded, the accuracy ceiling we can defend.</a:t>
            </a:r>
          </a:p>
          <a:p>
            <a:pPr>
              <a:lnSpc>
                <a:spcPct val="108000"/>
              </a:lnSpc>
              <a:spcAft>
                <a:spcPts val="500"/>
              </a:spcAft>
            </a:pPr>
            <a:r>
              <a:rPr sz="940" b="1">
                <a:solidFill>
                  <a:srgbClr val="D9A93C"/>
                </a:solidFill>
                <a:latin typeface="Georgia"/>
              </a:rPr>
              <a:t>|  </a:t>
            </a:r>
            <a:r>
              <a:rPr sz="940" b="1">
                <a:solidFill>
                  <a:srgbClr val="123D30"/>
                </a:solidFill>
                <a:latin typeface="Arial"/>
              </a:rPr>
              <a:t>Server-side IP geolocation  </a:t>
            </a:r>
            <a:r>
              <a:rPr sz="940">
                <a:solidFill>
                  <a:srgbClr val="0E1512"/>
                </a:solidFill>
                <a:latin typeface="Arial"/>
              </a:rPr>
              <a:t>city-level, zero permission, as a free fraud cross-check against the declared home.</a:t>
            </a:r>
          </a:p>
          <a:p>
            <a:pPr>
              <a:lnSpc>
                <a:spcPct val="108000"/>
              </a:lnSpc>
              <a:spcAft>
                <a:spcPts val="500"/>
              </a:spcAft>
            </a:pPr>
            <a:r>
              <a:rPr sz="940" b="1">
                <a:solidFill>
                  <a:srgbClr val="D9A93C"/>
                </a:solidFill>
                <a:latin typeface="Georgia"/>
              </a:rPr>
              <a:t>|  </a:t>
            </a:r>
            <a:r>
              <a:rPr sz="940" b="1">
                <a:solidFill>
                  <a:srgbClr val="123D30"/>
                </a:solidFill>
                <a:latin typeface="Arial"/>
              </a:rPr>
              <a:t>No background or continuous location  </a:t>
            </a:r>
            <a:r>
              <a:rPr sz="940">
                <a:solidFill>
                  <a:srgbClr val="0E1512"/>
                </a:solidFill>
                <a:latin typeface="Arial"/>
              </a:rPr>
              <a:t>a separate Play declaration a committee app cannot clear; disappearance is detected better and free from our own telemetry.</a:t>
            </a:r>
          </a:p>
        </p:txBody>
      </p:sp>
      <p:sp>
        <p:nvSpPr>
          <p:cNvPr id="22" name="TextBox 21"/>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Refused at the device layer, with reasons on record</a:t>
            </a:r>
          </a:p>
        </p:txBody>
      </p:sp>
      <p:graphicFrame>
        <p:nvGraphicFramePr>
          <p:cNvPr id="23" name="Table 22"/>
          <p:cNvGraphicFramePr>
            <a:graphicFrameLocks noGrp="1"/>
          </p:cNvGraphicFramePr>
          <p:nvPr/>
        </p:nvGraphicFramePr>
        <p:xfrm>
          <a:off x="6419088" y="1737360"/>
          <a:ext cx="5166359" cy="2824398"/>
        </p:xfrm>
        <a:graphic>
          <a:graphicData uri="http://schemas.openxmlformats.org/drawingml/2006/table">
            <a:tbl>
              <a:tblPr>
                <a:tableStyleId>{5C22544A-7EE6-4342-B048-85BDC9FD1C3A}</a:tableStyleId>
              </a:tblPr>
              <a:tblGrid>
                <a:gridCol w="2169871"/>
                <a:gridCol w="2996488"/>
              </a:tblGrid>
              <a:tr h="410382">
                <a:tc>
                  <a:txBody>
                    <a:bodyPr wrap="square"/>
                    <a:lstStyle/>
                    <a:p>
                      <a:pPr algn="l"/>
                      <a:r>
                        <a:rPr sz="880" b="1">
                          <a:solidFill>
                            <a:srgbClr val="F6F1E4"/>
                          </a:solidFill>
                          <a:latin typeface="Arial"/>
                        </a:rPr>
                        <a:t>Refused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Why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02336">
                <a:tc>
                  <a:txBody>
                    <a:bodyPr wrap="square"/>
                    <a:lstStyle/>
                    <a:p>
                      <a:pPr algn="l"/>
                      <a:r>
                        <a:rPr sz="860" b="0">
                          <a:solidFill>
                            <a:srgbClr val="0E1512"/>
                          </a:solidFill>
                          <a:latin typeface="Arial"/>
                        </a:rPr>
                        <a:t>Contact-list harvesting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THE predatory-app signature; banned even with consent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60" b="0">
                          <a:solidFill>
                            <a:srgbClr val="0E1512"/>
                          </a:solidFill>
                          <a:latin typeface="Arial"/>
                        </a:rPr>
                        <a:t>Gallery / photo access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The banned apps morphed photos to coerce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60" b="0">
                          <a:solidFill>
                            <a:srgbClr val="0E1512"/>
                          </a:solidFill>
                          <a:latin typeface="Arial"/>
                        </a:rPr>
                        <a:t>READ_SMS / call log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Default-SMS-handler only under Play policy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60" b="0">
                          <a:solidFill>
                            <a:srgbClr val="0E1512"/>
                          </a:solidFill>
                          <a:latin typeface="Arial"/>
                        </a:rPr>
                        <a:t>Accessibility to read bank balances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Fastest Play-delisting trigger; reads the ENTIRE screen; detonates the moat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60" b="0">
                          <a:solidFill>
                            <a:srgbClr val="0E1512"/>
                          </a:solidFill>
                          <a:latin typeface="Arial"/>
                        </a:rPr>
                        <a:t>Background location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Un-clearable Play declaration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60" b="0">
                          <a:solidFill>
                            <a:srgbClr val="0E1512"/>
                          </a:solidFill>
                          <a:latin typeface="Arial"/>
                        </a:rPr>
                        <a:t>QUERY_ALL_PACKAGES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Banned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TextBox 23"/>
          <p:cNvSpPr txBox="1"/>
          <p:nvPr/>
        </p:nvSpPr>
        <p:spPr>
          <a:xfrm>
            <a:off x="6419088" y="4517136"/>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What survives every filter and is fair game: first-party telemetry (device fingerprint, behavioural biometrics, session timing, the best default predictor we own), and INCENTIVISED VOLUNTEERING, a fee discount for uploading a statement or linking salary. Same payload, consented, structured, better data. Grey telemetry stays invisible-and-defensive (fraud, risk), never visible-and-extractive.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COMPLIANCE</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Anti-money-laundering</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strongest AML control Halqa has is architectural: it never holds or moves funds, so the regulated money-laundering surface sits with the licensed aggregator and trustee, who already carry the CDD/STR obligations. On top of that, the platform adds real, consented controls.</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41</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0000"/>
              </a:lnSpc>
              <a:spcAft>
                <a:spcPts val="600"/>
              </a:spcAft>
            </a:pPr>
            <a:r>
              <a:rPr sz="940" b="1">
                <a:solidFill>
                  <a:srgbClr val="D9A93C"/>
                </a:solidFill>
                <a:latin typeface="Georgia"/>
              </a:rPr>
              <a:t>|  </a:t>
            </a:r>
            <a:r>
              <a:rPr sz="940" b="1">
                <a:solidFill>
                  <a:srgbClr val="123D30"/>
                </a:solidFill>
                <a:latin typeface="Arial"/>
              </a:rPr>
              <a:t>No custody shrinks the surface  </a:t>
            </a:r>
            <a:r>
              <a:rPr sz="940">
                <a:solidFill>
                  <a:srgbClr val="0E1512"/>
                </a:solidFill>
                <a:latin typeface="Arial"/>
              </a:rPr>
              <a:t>Halqa is never in the funds path, so it is not the reporting entity for the transfer itself, the licensed aggregator (an AML-regulated payment institution) and the CDC/DCC trustee are. Remittance committees ride a licensed rail that bears the FX AML entirely; Halqa never touches foreign exchange.</a:t>
            </a:r>
          </a:p>
          <a:p>
            <a:pPr>
              <a:lnSpc>
                <a:spcPct val="110000"/>
              </a:lnSpc>
              <a:spcAft>
                <a:spcPts val="600"/>
              </a:spcAft>
            </a:pPr>
            <a:r>
              <a:rPr sz="940" b="1">
                <a:solidFill>
                  <a:srgbClr val="D9A93C"/>
                </a:solidFill>
                <a:latin typeface="Georgia"/>
              </a:rPr>
              <a:t>|  </a:t>
            </a:r>
            <a:r>
              <a:rPr sz="940" b="1">
                <a:solidFill>
                  <a:srgbClr val="123D30"/>
                </a:solidFill>
                <a:latin typeface="Arial"/>
              </a:rPr>
              <a:t>Identity at the front door  </a:t>
            </a:r>
            <a:r>
              <a:rPr sz="940">
                <a:solidFill>
                  <a:srgbClr val="0E1512"/>
                </a:solidFill>
                <a:latin typeface="Arial"/>
              </a:rPr>
              <a:t>CNIC captured and made unique; NADRA Verisys / face match (Gate-2); account-title match at instrument linking, so a member’s rail account must carry their own CNIC name, a name screen by construction.</a:t>
            </a:r>
          </a:p>
          <a:p>
            <a:pPr>
              <a:lnSpc>
                <a:spcPct val="110000"/>
              </a:lnSpc>
              <a:spcAft>
                <a:spcPts val="600"/>
              </a:spcAft>
            </a:pPr>
            <a:r>
              <a:rPr sz="940" b="1">
                <a:solidFill>
                  <a:srgbClr val="D9A93C"/>
                </a:solidFill>
                <a:latin typeface="Georgia"/>
              </a:rPr>
              <a:t>|  </a:t>
            </a:r>
            <a:r>
              <a:rPr sz="940" b="1">
                <a:solidFill>
                  <a:srgbClr val="123D30"/>
                </a:solidFill>
                <a:latin typeface="Arial"/>
              </a:rPr>
              <a:t>Source-of-funds is proven, not assumed  </a:t>
            </a:r>
            <a:r>
              <a:rPr sz="940">
                <a:solidFill>
                  <a:srgbClr val="0E1512"/>
                </a:solidFill>
                <a:latin typeface="Arial"/>
              </a:rPr>
              <a:t>the salary-verification engine ties inflows to a verified payday and employer; declared income is corroborated against our own collection pattern before caps rise.</a:t>
            </a:r>
          </a:p>
          <a:p>
            <a:pPr>
              <a:lnSpc>
                <a:spcPct val="110000"/>
              </a:lnSpc>
              <a:spcAft>
                <a:spcPts val="600"/>
              </a:spcAft>
            </a:pPr>
            <a:r>
              <a:rPr sz="940" b="1">
                <a:solidFill>
                  <a:srgbClr val="D9A93C"/>
                </a:solidFill>
                <a:latin typeface="Georgia"/>
              </a:rPr>
              <a:t>|  </a:t>
            </a:r>
            <a:r>
              <a:rPr sz="940" b="1">
                <a:solidFill>
                  <a:srgbClr val="123D30"/>
                </a:solidFill>
                <a:latin typeface="Arial"/>
              </a:rPr>
              <a:t>Structuring and collusion detection  </a:t>
            </a:r>
            <a:r>
              <a:rPr sz="940">
                <a:solidFill>
                  <a:srgbClr val="0E1512"/>
                </a:solidFill>
                <a:latin typeface="Arial"/>
              </a:rPr>
              <a:t>device, IP, referral, guarantor and address clustering flags accounts that transact as one, the same signals that de-cluster a HYPER circle catch layering and self-dealing.</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audit trail, and what Gate 2 adds</a:t>
            </a:r>
          </a:p>
        </p:txBody>
      </p:sp>
      <p:sp>
        <p:nvSpPr>
          <p:cNvPr id="20" name="TextBox 19"/>
          <p:cNvSpPr txBox="1"/>
          <p:nvPr/>
        </p:nvSpPr>
        <p:spPr>
          <a:xfrm>
            <a:off x="6419088" y="1737360"/>
            <a:ext cx="5166360" cy="365760"/>
          </a:xfrm>
          <a:prstGeom prst="rect">
            <a:avLst/>
          </a:prstGeom>
          <a:noFill/>
        </p:spPr>
        <p:txBody>
          <a:bodyPr wrap="square" lIns="0" rIns="0" tIns="0" bIns="0">
            <a:spAutoFit/>
          </a:bodyPr>
          <a:lstStyle/>
          <a:p>
            <a:pPr>
              <a:lnSpc>
                <a:spcPct val="110000"/>
              </a:lnSpc>
              <a:spcAft>
                <a:spcPts val="600"/>
              </a:spcAft>
            </a:pPr>
            <a:r>
              <a:rPr sz="940" b="1">
                <a:solidFill>
                  <a:srgbClr val="D9A93C"/>
                </a:solidFill>
                <a:latin typeface="Georgia"/>
              </a:rPr>
              <a:t>|  </a:t>
            </a:r>
            <a:r>
              <a:rPr sz="940" b="1">
                <a:solidFill>
                  <a:srgbClr val="123D30"/>
                </a:solidFill>
                <a:latin typeface="Arial"/>
              </a:rPr>
              <a:t>Every movement is auditable  </a:t>
            </a:r>
            <a:r>
              <a:rPr sz="940">
                <a:solidFill>
                  <a:srgbClr val="0E1512"/>
                </a:solidFill>
                <a:latin typeface="Arial"/>
              </a:rPr>
              <a:t>a double-entry ledger in integer paisa plus an append-only AuditLog and a SecurityEvent table, transaction monitoring runs on a self-checking record, not on assertions.</a:t>
            </a:r>
          </a:p>
          <a:p>
            <a:pPr>
              <a:lnSpc>
                <a:spcPct val="110000"/>
              </a:lnSpc>
              <a:spcAft>
                <a:spcPts val="600"/>
              </a:spcAft>
            </a:pPr>
            <a:r>
              <a:rPr sz="940" b="1">
                <a:solidFill>
                  <a:srgbClr val="D9A93C"/>
                </a:solidFill>
                <a:latin typeface="Georgia"/>
              </a:rPr>
              <a:t>|  </a:t>
            </a:r>
            <a:r>
              <a:rPr sz="940" b="1">
                <a:solidFill>
                  <a:srgbClr val="123D30"/>
                </a:solidFill>
                <a:latin typeface="Arial"/>
              </a:rPr>
              <a:t>Amount and velocity caps  </a:t>
            </a:r>
            <a:r>
              <a:rPr sz="940">
                <a:solidFill>
                  <a:srgbClr val="0E1512"/>
                </a:solidFill>
                <a:latin typeface="Arial"/>
              </a:rPr>
              <a:t>affordability caps bound per-member exposure; concurrency and host ceilings are also the anti-Ponzi control; the cover facility is capped at four published levels.</a:t>
            </a:r>
          </a:p>
          <a:p>
            <a:pPr>
              <a:lnSpc>
                <a:spcPct val="110000"/>
              </a:lnSpc>
              <a:spcAft>
                <a:spcPts val="600"/>
              </a:spcAft>
            </a:pPr>
            <a:r>
              <a:rPr sz="940" b="1">
                <a:solidFill>
                  <a:srgbClr val="D9A93C"/>
                </a:solidFill>
                <a:latin typeface="Georgia"/>
              </a:rPr>
              <a:t>|  </a:t>
            </a:r>
            <a:r>
              <a:rPr sz="940" b="1">
                <a:solidFill>
                  <a:srgbClr val="123D30"/>
                </a:solidFill>
                <a:latin typeface="Arial"/>
              </a:rPr>
              <a:t>Sanctions / PEP screening (GATE-2)  </a:t>
            </a:r>
            <a:r>
              <a:rPr sz="940">
                <a:solidFill>
                  <a:srgbClr val="0E1512"/>
                </a:solidFill>
                <a:latin typeface="Arial"/>
              </a:rPr>
              <a:t>performed by the aggregator and NADRA at the point money moves; STR/CTR filing sits with the licensed rail as the regulated entity.</a:t>
            </a:r>
          </a:p>
          <a:p>
            <a:pPr>
              <a:lnSpc>
                <a:spcPct val="110000"/>
              </a:lnSpc>
              <a:spcAft>
                <a:spcPts val="600"/>
              </a:spcAft>
            </a:pPr>
            <a:r>
              <a:rPr sz="940" b="1">
                <a:solidFill>
                  <a:srgbClr val="D9A93C"/>
                </a:solidFill>
                <a:latin typeface="Georgia"/>
              </a:rPr>
              <a:t>|  </a:t>
            </a:r>
            <a:r>
              <a:rPr sz="940" b="1">
                <a:solidFill>
                  <a:srgbClr val="123D30"/>
                </a:solidFill>
                <a:latin typeface="Arial"/>
              </a:rPr>
              <a:t>Data residency (open item)  </a:t>
            </a:r>
            <a:r>
              <a:rPr sz="940">
                <a:solidFill>
                  <a:srgbClr val="0E1512"/>
                </a:solidFill>
                <a:latin typeface="Arial"/>
              </a:rPr>
              <a:t>the database is in Singapore today; in-Pakistan residency binds licensed lenders and becomes a migration the moment Halqa touches anything lending-adjacent, or if the PDP law generalises it.</a:t>
            </a:r>
          </a:p>
        </p:txBody>
      </p:sp>
      <p:sp>
        <p:nvSpPr>
          <p:cNvPr id="21" name="TextBox 20"/>
          <p:cNvSpPr txBox="1"/>
          <p:nvPr/>
        </p:nvSpPr>
        <p:spPr>
          <a:xfrm>
            <a:off x="6419088" y="585216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Positioning line: the banned apps had to manufacture leverage over people they knew nothing about; Halqa does not, the committee brings its own, the seat is collateral, and the record is ETO-admissible.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THE RAILS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Moving money: the rails and their cost</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Members pay Rs 0 forever, so every rupee of rail cost is unrecovered and the chairman’s ceiling is Rs 300 per payment. That single constraint decides which rail is allowed at which ticket size, and it is why the free-for-members model survives only on Raast.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42</a:t>
            </a:r>
          </a:p>
        </p:txBody>
      </p:sp>
      <p:sp>
        <p:nvSpPr>
          <p:cNvPr id="18" name="TextBox 17"/>
          <p:cNvSpPr txBox="1"/>
          <p:nvPr/>
        </p:nvSpPr>
        <p:spPr>
          <a:xfrm>
            <a:off x="566928" y="1389888"/>
            <a:ext cx="603504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13   Cost of collecting one Rs 20,000 installment</a:t>
            </a:r>
          </a:p>
        </p:txBody>
      </p:sp>
      <p:graphicFrame>
        <p:nvGraphicFramePr>
          <p:cNvPr id="19" name="Table 18"/>
          <p:cNvGraphicFramePr>
            <a:graphicFrameLocks noGrp="1"/>
          </p:cNvGraphicFramePr>
          <p:nvPr/>
        </p:nvGraphicFramePr>
        <p:xfrm>
          <a:off x="566928" y="1609344"/>
          <a:ext cx="6035039" cy="2567635"/>
        </p:xfrm>
        <a:graphic>
          <a:graphicData uri="http://schemas.openxmlformats.org/drawingml/2006/table">
            <a:tbl>
              <a:tblPr>
                <a:tableStyleId>{5C22544A-7EE6-4342-B048-85BDC9FD1C3A}</a:tableStyleId>
              </a:tblPr>
              <a:tblGrid>
                <a:gridCol w="1810512"/>
                <a:gridCol w="1086307"/>
                <a:gridCol w="1327708"/>
                <a:gridCol w="1810512"/>
              </a:tblGrid>
              <a:tr h="373075">
                <a:tc>
                  <a:txBody>
                    <a:bodyPr wrap="square"/>
                    <a:lstStyle/>
                    <a:p>
                      <a:pPr algn="l"/>
                      <a:r>
                        <a:rPr sz="900" b="1">
                          <a:solidFill>
                            <a:srgbClr val="F6F1E4"/>
                          </a:solidFill>
                          <a:latin typeface="Arial"/>
                        </a:rPr>
                        <a:t>Rail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Member pays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Halqa pays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Verdict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65760">
                <a:tc>
                  <a:txBody>
                    <a:bodyPr wrap="square"/>
                    <a:lstStyle/>
                    <a:p>
                      <a:pPr algn="l"/>
                      <a:r>
                        <a:rPr sz="880" b="0">
                          <a:solidFill>
                            <a:srgbClr val="0E1512"/>
                          </a:solidFill>
                          <a:latin typeface="Arial"/>
                        </a:rPr>
                        <a:t>Raast RTP one-tap (push)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 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Default for everyone, today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80" b="0">
                          <a:solidFill>
                            <a:srgbClr val="0E1512"/>
                          </a:solidFill>
                          <a:latin typeface="Arial"/>
                        </a:rPr>
                        <a:t>Raast direct debit (pull)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 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The target; SBP scheme in testing, ~9-15 mo</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80" b="0">
                          <a:solidFill>
                            <a:srgbClr val="0E1512"/>
                          </a:solidFill>
                          <a:latin typeface="Arial"/>
                        </a:rPr>
                        <a:t>Intra-wallet (same wallet)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Use when both sides share a wallet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80" b="0">
                          <a:solidFill>
                            <a:srgbClr val="0E1512"/>
                          </a:solidFill>
                          <a:latin typeface="Arial"/>
                        </a:rPr>
                        <a:t>Wallet pull under mandate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300-600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Fallback only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80" b="0">
                          <a:solidFill>
                            <a:srgbClr val="0E1512"/>
                          </a:solidFill>
                          <a:latin typeface="Arial"/>
                        </a:rPr>
                        <a:t>Card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693 (3.3%+Rs 33)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Not offered on standard circles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80" b="0">
                          <a:solidFill>
                            <a:srgbClr val="0E1512"/>
                          </a:solidFill>
                          <a:latin typeface="Arial"/>
                        </a:rPr>
                        <a:t>Cash via agent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0-50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20-60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Last resort; destroys the digital record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6922008" y="1389888"/>
            <a:ext cx="466344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binding constraint</a:t>
            </a:r>
          </a:p>
        </p:txBody>
      </p:sp>
      <p:sp>
        <p:nvSpPr>
          <p:cNvPr id="21" name="Rectangle 20"/>
          <p:cNvSpPr/>
          <p:nvPr/>
        </p:nvSpPr>
        <p:spPr>
          <a:xfrm>
            <a:off x="6922008" y="1737360"/>
            <a:ext cx="4663440" cy="658368"/>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040880" y="1828800"/>
            <a:ext cx="4434840" cy="548640"/>
          </a:xfrm>
          <a:prstGeom prst="rect">
            <a:avLst/>
          </a:prstGeom>
          <a:noFill/>
        </p:spPr>
        <p:txBody>
          <a:bodyPr wrap="square" lIns="0" rIns="0" tIns="0" bIns="0" anchor="t">
            <a:spAutoFit/>
          </a:bodyPr>
          <a:lstStyle/>
          <a:p>
            <a:pPr algn="ctr">
              <a:lnSpc>
                <a:spcPct val="120000"/>
              </a:lnSpc>
              <a:spcAft>
                <a:spcPts val="400"/>
              </a:spcAft>
            </a:pPr>
            <a:r>
              <a:rPr sz="1060" b="0" i="0">
                <a:solidFill>
                  <a:srgbClr val="123D30"/>
                </a:solidFill>
                <a:latin typeface="Georgia"/>
              </a:rPr>
              <a:t>installment ≤ Rs 10,000  →  wallet pull allowed</a:t>
            </a:r>
          </a:p>
          <a:p>
            <a:pPr algn="ctr">
              <a:lnSpc>
                <a:spcPct val="120000"/>
              </a:lnSpc>
              <a:spcAft>
                <a:spcPts val="400"/>
              </a:spcAft>
            </a:pPr>
            <a:r>
              <a:rPr sz="1060" b="0" i="0">
                <a:solidFill>
                  <a:srgbClr val="123D30"/>
                </a:solidFill>
                <a:latin typeface="Georgia"/>
              </a:rPr>
              <a:t>installment &gt; Rs 10,000  →  Raast only</a:t>
            </a:r>
          </a:p>
        </p:txBody>
      </p:sp>
      <p:sp>
        <p:nvSpPr>
          <p:cNvPr id="23" name="TextBox 22"/>
          <p:cNvSpPr txBox="1"/>
          <p:nvPr/>
        </p:nvSpPr>
        <p:spPr>
          <a:xfrm>
            <a:off x="6922008" y="2578608"/>
            <a:ext cx="4663440" cy="182880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A 3% wallet pull breaches the Rs 300 ceiling above a Rs 10,000 installment. A twelve-member circle run a full cycle on card rails would burn Rs 52,272 in fees against zero member revenue. Raast at ≈ 0% is the only arithmetic under which free-for-members survives, which is why HYPER makes Raast a hard gate, and why the whole collection thesis rests on it. The cheque is gone as a security instrument (§489-F dropped) and is not viable as a collection rail either, physical deposit, days of clearing, and dishonour risk on the wrong side of the payout date.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THE RAILS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Raast, and the one question that decides the architecture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Raast is SBP’s instant payment system; its participants are regulated entities, so a fintech reaches it as a MERCHANT of a licensed aggregator, a commercial agreement, not a bank partnership. One email decides whether the record-only architecture holds exactly as documented.</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43</a:t>
            </a:r>
          </a:p>
        </p:txBody>
      </p:sp>
      <p:sp>
        <p:nvSpPr>
          <p:cNvPr id="18" name="TextBox 17"/>
          <p:cNvSpPr txBox="1"/>
          <p:nvPr/>
        </p:nvSpPr>
        <p:spPr>
          <a:xfrm>
            <a:off x="566928" y="1371600"/>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schemes, and which we use</a:t>
            </a:r>
          </a:p>
        </p:txBody>
      </p:sp>
      <p:graphicFrame>
        <p:nvGraphicFramePr>
          <p:cNvPr id="19" name="Table 18"/>
          <p:cNvGraphicFramePr>
            <a:graphicFrameLocks noGrp="1"/>
          </p:cNvGraphicFramePr>
          <p:nvPr/>
        </p:nvGraphicFramePr>
        <p:xfrm>
          <a:off x="566928" y="1682496"/>
          <a:ext cx="5486400" cy="1927920"/>
        </p:xfrm>
        <a:graphic>
          <a:graphicData uri="http://schemas.openxmlformats.org/drawingml/2006/table">
            <a:tbl>
              <a:tblPr>
                <a:tableStyleId>{5C22544A-7EE6-4342-B048-85BDC9FD1C3A}</a:tableStyleId>
              </a:tblPr>
              <a:tblGrid>
                <a:gridCol w="2304288"/>
                <a:gridCol w="3182112"/>
              </a:tblGrid>
              <a:tr h="391728">
                <a:tc>
                  <a:txBody>
                    <a:bodyPr wrap="square"/>
                    <a:lstStyle/>
                    <a:p>
                      <a:pPr algn="l"/>
                      <a:r>
                        <a:rPr sz="900" b="1">
                          <a:solidFill>
                            <a:srgbClr val="F6F1E4"/>
                          </a:solidFill>
                          <a:latin typeface="Arial"/>
                        </a:rPr>
                        <a:t>Scheme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Our use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84048">
                <a:tc>
                  <a:txBody>
                    <a:bodyPr wrap="square"/>
                    <a:lstStyle/>
                    <a:p>
                      <a:pPr algn="l"/>
                      <a:r>
                        <a:rPr sz="900" b="0">
                          <a:solidFill>
                            <a:srgbClr val="0E1512"/>
                          </a:solidFill>
                          <a:latin typeface="Arial"/>
                        </a:rPr>
                        <a:t>Raast ID (alias to IBAN + title)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Identity and the account-title check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00" b="0">
                          <a:solidFill>
                            <a:srgbClr val="0E1512"/>
                          </a:solidFill>
                          <a:latin typeface="Arial"/>
                        </a:rPr>
                        <a:t>P2P credit transfer (free push)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Payouts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00" b="0">
                          <a:solidFill>
                            <a:srgbClr val="0E1512"/>
                          </a:solidFill>
                          <a:latin typeface="Arial"/>
                        </a:rPr>
                        <a:t>Request-to-Pay (RTP)</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The collection workhorse today, a tap to approve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900" b="0">
                          <a:solidFill>
                            <a:srgbClr val="0E1512"/>
                          </a:solidFill>
                          <a:latin typeface="Arial"/>
                        </a:rPr>
                        <a:t>Direct debit / recurring mandate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The TARGET, silent pull; unconfirmed, verify with SBP</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3840480"/>
            <a:ext cx="5486400" cy="1371600"/>
          </a:xfrm>
          <a:prstGeom prst="rect">
            <a:avLst/>
          </a:prstGeom>
          <a:noFill/>
        </p:spPr>
        <p:txBody>
          <a:bodyPr wrap="square" lIns="0" rIns="0" tIns="0" bIns="0" anchor="t">
            <a:spAutoFit/>
          </a:bodyPr>
          <a:lstStyle/>
          <a:p>
            <a:pPr algn="l">
              <a:lnSpc>
                <a:spcPct val="114000"/>
              </a:lnSpc>
              <a:spcAft>
                <a:spcPts val="400"/>
              </a:spcAft>
            </a:pPr>
            <a:r>
              <a:rPr sz="940" b="0" i="0">
                <a:solidFill>
                  <a:srgbClr val="0E1512"/>
                </a:solidFill>
                <a:latin typeface="Arial"/>
              </a:rPr>
              <a:t>On Raast today, “auto-debit” is a notification the member taps, not a silent pull. Silent pull exists only on wallets and cards, the expensive rails. The payday flagship still works, because the tap goes out on payday morning at the monthly-maximum balance, but it is a tap, and the product copy must not promise otherwise. Idempotency and reconciliation still hold: every RTP carries the PaymentAttempt.id, so a duplicate webhook is a no-op, and a daily settlement file is matched line-by-line against the ledger.</a:t>
            </a:r>
          </a:p>
        </p:txBody>
      </p:sp>
      <p:sp>
        <p:nvSpPr>
          <p:cNvPr id="21" name="Rectangle 20"/>
          <p:cNvSpPr/>
          <p:nvPr/>
        </p:nvSpPr>
        <p:spPr>
          <a:xfrm>
            <a:off x="566928" y="5468112"/>
            <a:ext cx="45720" cy="102412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8096" y="5486400"/>
            <a:ext cx="5257800" cy="1024128"/>
          </a:xfrm>
          <a:prstGeom prst="rect">
            <a:avLst/>
          </a:prstGeom>
          <a:noFill/>
        </p:spPr>
        <p:txBody>
          <a:bodyPr wrap="square" lIns="0" rIns="0" tIns="0" bIns="0" anchor="t">
            <a:spAutoFit/>
          </a:bodyPr>
          <a:lstStyle/>
          <a:p>
            <a:pPr algn="l">
              <a:lnSpc>
                <a:spcPct val="115000"/>
              </a:lnSpc>
              <a:spcAft>
                <a:spcPts val="400"/>
              </a:spcAft>
            </a:pPr>
            <a:r>
              <a:rPr sz="940" b="0" i="0">
                <a:solidFill>
                  <a:srgbClr val="0E1512"/>
                </a:solidFill>
                <a:latin typeface="Arial"/>
              </a:rPr>
              <a:t>For cash committees, Halqa acts on behalf of the members under this P2P arrangement: it initiates the request, the money moves member to member, and Halqa never holds it. On the Version-A reading this needs no payment or deposit licence, only the aggregator merchant agreement, and that reading is the item to confirm in the counsel opinion. The ASSET committees do not use this at all: there a security trustee (CDC or DCC) holds the retained title, a separate structure set out in §III.</a:t>
            </a:r>
          </a:p>
        </p:txBody>
      </p:sp>
      <p:sp>
        <p:nvSpPr>
          <p:cNvPr id="23" name="TextBox 22"/>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question, in writing, before signing</a:t>
            </a:r>
          </a:p>
        </p:txBody>
      </p:sp>
      <p:sp>
        <p:nvSpPr>
          <p:cNvPr id="24" name="Rectangle 23"/>
          <p:cNvSpPr/>
          <p:nvPr/>
        </p:nvSpPr>
        <p:spPr>
          <a:xfrm>
            <a:off x="6419088" y="1737360"/>
            <a:ext cx="5166360" cy="228600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0" y="1865376"/>
            <a:ext cx="4892040" cy="2148840"/>
          </a:xfrm>
          <a:prstGeom prst="rect">
            <a:avLst/>
          </a:prstGeom>
          <a:noFill/>
        </p:spPr>
        <p:txBody>
          <a:bodyPr wrap="square" lIns="0" rIns="0" tIns="0" bIns="0" anchor="t">
            <a:spAutoFit/>
          </a:bodyPr>
          <a:lstStyle/>
          <a:p>
            <a:pPr algn="l">
              <a:lnSpc>
                <a:spcPct val="116000"/>
              </a:lnSpc>
              <a:spcAft>
                <a:spcPts val="400"/>
              </a:spcAft>
            </a:pPr>
            <a:r>
              <a:rPr sz="940" b="0" i="0">
                <a:solidFill>
                  <a:srgbClr val="0E1512"/>
                </a:solidFill>
                <a:latin typeface="Arial"/>
              </a:rPr>
              <a:t>Can Halqa initiate a Raast RTP in which the PAYEE is another member’s Raast ID, rather than Halqa’s own merchant account?</a:t>
            </a:r>
          </a:p>
          <a:p>
            <a:pPr algn="l">
              <a:lnSpc>
                <a:spcPct val="116000"/>
              </a:lnSpc>
              <a:spcAft>
                <a:spcPts val="400"/>
              </a:spcAft>
            </a:pPr>
            <a:r>
              <a:rPr sz="940" b="0" i="0">
                <a:solidFill>
                  <a:srgbClr val="0E1512"/>
                </a:solidFill>
                <a:latin typeface="Arial"/>
              </a:rPr>
              <a:t/>
            </a:r>
          </a:p>
          <a:p>
            <a:pPr algn="l">
              <a:lnSpc>
                <a:spcPct val="116000"/>
              </a:lnSpc>
              <a:spcAft>
                <a:spcPts val="400"/>
              </a:spcAft>
            </a:pPr>
            <a:r>
              <a:rPr sz="940" b="0" i="0">
                <a:solidFill>
                  <a:srgbClr val="0E1512"/>
                </a:solidFill>
                <a:latin typeface="Arial"/>
              </a:rPr>
              <a:t>YES  →  true member-to-member. Halqa is never in the funds path; the record-only architecture holds exactly as the code assumes. Build (A).</a:t>
            </a:r>
          </a:p>
          <a:p>
            <a:pPr algn="l">
              <a:lnSpc>
                <a:spcPct val="116000"/>
              </a:lnSpc>
              <a:spcAft>
                <a:spcPts val="400"/>
              </a:spcAft>
            </a:pPr>
            <a:r>
              <a:rPr sz="940" b="0" i="0">
                <a:solidFill>
                  <a:srgbClr val="0E1512"/>
                </a:solidFill>
                <a:latin typeface="Arial"/>
              </a:rPr>
              <a:t/>
            </a:r>
          </a:p>
          <a:p>
            <a:pPr algn="l">
              <a:lnSpc>
                <a:spcPct val="116000"/>
              </a:lnSpc>
              <a:spcAft>
                <a:spcPts val="400"/>
              </a:spcAft>
            </a:pPr>
            <a:r>
              <a:rPr sz="940" b="0" i="0">
                <a:solidFill>
                  <a:srgbClr val="0E1512"/>
                </a:solidFill>
                <a:latin typeface="Arial"/>
              </a:rPr>
              <a:t>NO  →  funds land in the AGGREGATOR’s settlement account and Halqa instructs a payout. The licensed aggregator holds; Halqa has instruction rights, no beneficial ownership, and the counsel opinion must confirm in writing that this is not custody by Halqa. Build (B).</a:t>
            </a:r>
          </a:p>
        </p:txBody>
      </p:sp>
      <p:sp>
        <p:nvSpPr>
          <p:cNvPr id="26" name="TextBox 25"/>
          <p:cNvSpPr txBox="1"/>
          <p:nvPr/>
        </p:nvSpPr>
        <p:spPr>
          <a:xfrm>
            <a:off x="6419088" y="4187952"/>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Ask PayFast, Safepay and 1LINK this in writing before signing anything. The ledger already models member→member, so answer (A) needs no change. Get the MDR schedule, third-party payee support, same-day settlement, webhook replay behaviour and reversal mechanics in the signed document, not an email.</a:t>
            </a:r>
          </a:p>
        </p:txBody>
      </p:sp>
      <p:sp>
        <p:nvSpPr>
          <p:cNvPr id="27" name="TextBox 26"/>
          <p:cNvSpPr txBox="1"/>
          <p:nvPr/>
        </p:nvSpPr>
        <p:spPr>
          <a:xfrm>
            <a:off x="6419088" y="5074920"/>
            <a:ext cx="5166360" cy="914400"/>
          </a:xfrm>
          <a:prstGeom prst="rect">
            <a:avLst/>
          </a:prstGeom>
          <a:noFill/>
        </p:spPr>
        <p:txBody>
          <a:bodyPr wrap="square" lIns="0" rIns="0" tIns="0" bIns="0" anchor="t">
            <a:spAutoFit/>
          </a:bodyPr>
          <a:lstStyle/>
          <a:p>
            <a:pPr algn="l">
              <a:lnSpc>
                <a:spcPct val="114000"/>
              </a:lnSpc>
              <a:spcAft>
                <a:spcPts val="400"/>
              </a:spcAft>
            </a:pPr>
            <a:r>
              <a:rPr sz="940" b="0" i="0">
                <a:solidFill>
                  <a:srgbClr val="0E1512"/>
                </a:solidFill>
                <a:latin typeface="Arial"/>
              </a:rPr>
              <a:t>Build: a RaastProvider behind the existing payment-provider interface (resolveAlias, createRTP, getRTPStatus, credit, signed webhook), keeping the 501 soft-fail as the unconfigured path, so nothing above the provider layer changes. Rollout: sandbox → a Rs 10 live transfer → one real circle → general availability.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THE RECORD</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ledger and the database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whole company exists to stop a payment being an assertion and make it a settlement. That requires a record that cannot silently drift, so the engineering invariants below are not niceties, they are the product.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44</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0000"/>
              </a:lnSpc>
              <a:spcAft>
                <a:spcPts val="600"/>
              </a:spcAft>
            </a:pPr>
            <a:r>
              <a:rPr sz="950" b="1">
                <a:solidFill>
                  <a:srgbClr val="D9A93C"/>
                </a:solidFill>
                <a:latin typeface="Georgia"/>
              </a:rPr>
              <a:t>|  </a:t>
            </a:r>
            <a:r>
              <a:rPr sz="950" b="1">
                <a:solidFill>
                  <a:srgbClr val="123D30"/>
                </a:solidFill>
                <a:latin typeface="Arial"/>
              </a:rPr>
              <a:t>All money is integer paisa in BigInt  </a:t>
            </a:r>
            <a:r>
              <a:rPr sz="950">
                <a:solidFill>
                  <a:srgbClr val="0E1512"/>
                </a:solidFill>
                <a:latin typeface="Arial"/>
              </a:rPr>
              <a:t>no floating point anywhere, binary floating point cannot represent most decimal fractions exactly, and the residue is invisible until reconciliation fails. Rates apply as basis points with integer division.</a:t>
            </a:r>
          </a:p>
          <a:p>
            <a:pPr>
              <a:lnSpc>
                <a:spcPct val="110000"/>
              </a:lnSpc>
              <a:spcAft>
                <a:spcPts val="600"/>
              </a:spcAft>
            </a:pPr>
            <a:r>
              <a:rPr sz="950" b="1">
                <a:solidFill>
                  <a:srgbClr val="D9A93C"/>
                </a:solidFill>
                <a:latin typeface="Georgia"/>
              </a:rPr>
              <a:t>|  </a:t>
            </a:r>
            <a:r>
              <a:rPr sz="950" b="1">
                <a:solidFill>
                  <a:srgbClr val="123D30"/>
                </a:solidFill>
                <a:latin typeface="Arial"/>
              </a:rPr>
              <a:t>Every movement is a double-entry pair  </a:t>
            </a:r>
            <a:r>
              <a:rPr sz="950">
                <a:solidFill>
                  <a:srgbClr val="0E1512"/>
                </a:solidFill>
                <a:latin typeface="Arial"/>
              </a:rPr>
              <a:t>LedgerEntry writes both legs, so the ledger is self-checking; net-off writes both legs too, and only the cash nets.</a:t>
            </a:r>
          </a:p>
          <a:p>
            <a:pPr>
              <a:lnSpc>
                <a:spcPct val="110000"/>
              </a:lnSpc>
              <a:spcAft>
                <a:spcPts val="600"/>
              </a:spcAft>
            </a:pPr>
            <a:r>
              <a:rPr sz="950" b="1">
                <a:solidFill>
                  <a:srgbClr val="D9A93C"/>
                </a:solidFill>
                <a:latin typeface="Georgia"/>
              </a:rPr>
              <a:t>|  </a:t>
            </a:r>
            <a:r>
              <a:rPr sz="950" b="1">
                <a:solidFill>
                  <a:srgbClr val="123D30"/>
                </a:solidFill>
                <a:latin typeface="Arial"/>
              </a:rPr>
              <a:t>Every write carries an idempotency key  </a:t>
            </a:r>
            <a:r>
              <a:rPr sz="950">
                <a:solidFill>
                  <a:srgbClr val="0E1512"/>
                </a:solidFill>
                <a:latin typeface="Arial"/>
              </a:rPr>
              <a:t>a retried request, normal on mobile networks and under serverless timeouts, is applied exactly once.</a:t>
            </a:r>
          </a:p>
          <a:p>
            <a:pPr>
              <a:lnSpc>
                <a:spcPct val="110000"/>
              </a:lnSpc>
              <a:spcAft>
                <a:spcPts val="600"/>
              </a:spcAft>
            </a:pPr>
            <a:r>
              <a:rPr sz="950" b="1">
                <a:solidFill>
                  <a:srgbClr val="D9A93C"/>
                </a:solidFill>
                <a:latin typeface="Georgia"/>
              </a:rPr>
              <a:t>|  </a:t>
            </a:r>
            <a:r>
              <a:rPr sz="950" b="1">
                <a:solidFill>
                  <a:srgbClr val="123D30"/>
                </a:solidFill>
                <a:latin typeface="Arial"/>
              </a:rPr>
              <a:t>Production migrations are additive-only hand-written SQL  </a:t>
            </a:r>
            <a:r>
              <a:rPr sz="950">
                <a:solidFill>
                  <a:srgbClr val="0E1512"/>
                </a:solidFill>
                <a:latin typeface="Arial"/>
              </a:rPr>
              <a:t>so old and new code both stay correct through a deploy; a blind prisma db push against production is blocked by policy.</a:t>
            </a:r>
          </a:p>
          <a:p>
            <a:pPr>
              <a:lnSpc>
                <a:spcPct val="110000"/>
              </a:lnSpc>
              <a:spcAft>
                <a:spcPts val="600"/>
              </a:spcAft>
            </a:pPr>
            <a:r>
              <a:rPr sz="950" b="1">
                <a:solidFill>
                  <a:srgbClr val="D9A93C"/>
                </a:solidFill>
                <a:latin typeface="Georgia"/>
              </a:rPr>
              <a:t>|  </a:t>
            </a:r>
            <a:r>
              <a:rPr sz="950" b="1">
                <a:solidFill>
                  <a:srgbClr val="123D30"/>
                </a:solidFill>
                <a:latin typeface="Arial"/>
              </a:rPr>
              <a:t>Append-only audit log + security-event table  </a:t>
            </a:r>
            <a:r>
              <a:rPr sz="950">
                <a:solidFill>
                  <a:srgbClr val="0E1512"/>
                </a:solidFill>
                <a:latin typeface="Arial"/>
              </a:rPr>
              <a:t>every vote, abstention, consent, settlement and admin action is a permanent entry, the raw material of the evidence pack and of ETO-2002 admissibility.</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stack, and the serverless facts</a:t>
            </a:r>
          </a:p>
        </p:txBody>
      </p:sp>
      <p:graphicFrame>
        <p:nvGraphicFramePr>
          <p:cNvPr id="20" name="Table 19"/>
          <p:cNvGraphicFramePr>
            <a:graphicFrameLocks noGrp="1"/>
          </p:cNvGraphicFramePr>
          <p:nvPr/>
        </p:nvGraphicFramePr>
        <p:xfrm>
          <a:off x="6419088" y="1737360"/>
          <a:ext cx="5166359" cy="2862437"/>
        </p:xfrm>
        <a:graphic>
          <a:graphicData uri="http://schemas.openxmlformats.org/drawingml/2006/table">
            <a:tbl>
              <a:tblPr>
                <a:tableStyleId>{5C22544A-7EE6-4342-B048-85BDC9FD1C3A}</a:tableStyleId>
              </a:tblPr>
              <a:tblGrid>
                <a:gridCol w="1239926"/>
                <a:gridCol w="3926433"/>
              </a:tblGrid>
              <a:tr h="484997">
                <a:tc>
                  <a:txBody>
                    <a:bodyPr wrap="square"/>
                    <a:lstStyle/>
                    <a:p>
                      <a:pPr algn="l"/>
                      <a:r>
                        <a:rPr sz="900" b="1">
                          <a:solidFill>
                            <a:srgbClr val="F6F1E4"/>
                          </a:solidFill>
                          <a:latin typeface="Arial"/>
                        </a:rPr>
                        <a:t>Layer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Choice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75488">
                <a:tc>
                  <a:txBody>
                    <a:bodyPr wrap="square"/>
                    <a:lstStyle/>
                    <a:p>
                      <a:pPr algn="l"/>
                      <a:r>
                        <a:rPr sz="880" b="0">
                          <a:solidFill>
                            <a:srgbClr val="0E1512"/>
                          </a:solidFill>
                          <a:latin typeface="Arial"/>
                        </a:rPr>
                        <a:t>API</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Node + TypeScript, Prisma ORM (parameterised, injection is structurally unavailable)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80" b="0">
                          <a:solidFill>
                            <a:srgbClr val="0E1512"/>
                          </a:solidFill>
                          <a:latin typeface="Arial"/>
                        </a:rPr>
                        <a:t>Database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PostgreSQL on Supabase, Singapore region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80" b="0">
                          <a:solidFill>
                            <a:srgbClr val="0E1512"/>
                          </a:solidFill>
                          <a:latin typeface="Arial"/>
                        </a:rPr>
                        <a:t>Web</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React + TypeScript on Vite, mobile-first PWA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80" b="0">
                          <a:solidFill>
                            <a:srgbClr val="0E1512"/>
                          </a:solidFill>
                          <a:latin typeface="Arial"/>
                        </a:rPr>
                        <a:t>Hosting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Vercel serverless, API and web</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80" b="0">
                          <a:solidFill>
                            <a:srgbClr val="0E1512"/>
                          </a:solidFill>
                          <a:latin typeface="Arial"/>
                        </a:rPr>
                        <a:t>Collection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Vercel Cron daily 02:00 UTC (node-cron does not run serverless)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1" name="TextBox 20"/>
          <p:cNvSpPr txBox="1"/>
          <p:nvPr/>
        </p:nvSpPr>
        <p:spPr>
          <a:xfrm>
            <a:off x="6419088" y="457200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Serverless gotcha, fixed: Prisma’s default pool exhausted the pgbouncer connection under load (P2024 timeouts). The fix appends connection_limit=1&amp;pool_timeout=20 at runtime without ever rewriting the secret. Live since 20 July 2026: 56 users, 48 committees, 161 memberships, 64 payments, 401 audit rows, all sandbox-settled; no real money has moved yet.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ALGORITHMS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algorithms, part one: risk and credit</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Every control in the deck is one of these pure, tested, heavily-commented modules in src/lib/. Cutoffs and weights live in one file each, so retuning is a one-line change. The formulas are transcribed from the shipped code.</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45</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08000"/>
              </a:lnSpc>
              <a:spcAft>
                <a:spcPts val="600"/>
              </a:spcAft>
            </a:pPr>
            <a:r>
              <a:rPr sz="930" b="1">
                <a:solidFill>
                  <a:srgbClr val="D9A93C"/>
                </a:solidFill>
                <a:latin typeface="Georgia"/>
              </a:rPr>
              <a:t>|  </a:t>
            </a:r>
            <a:r>
              <a:rPr sz="930" b="1">
                <a:solidFill>
                  <a:srgbClr val="123D30"/>
                </a:solidFill>
                <a:latin typeface="Arial"/>
              </a:rPr>
              <a:t>score-bands.ts  </a:t>
            </a:r>
            <a:r>
              <a:rPr sz="930">
                <a:solidFill>
                  <a:srgbClr val="0E1512"/>
                </a:solidFill>
                <a:latin typeface="Arial"/>
              </a:rPr>
              <a:t>cutoffs 550 / 650 / 750 on the 300-850 scale. allowedPositions: Rebuilding → last 3 seats; Fair → second half; Good/Excellent → any. Tenure quarantine (REQUIRED_CLEAN_CIRCLES = 2) overrides the score. fromTasdeeq() maps TASDEEQ 200-600 → Halqa 300-850, linearly and invertibly.</a:t>
            </a:r>
          </a:p>
          <a:p>
            <a:pPr>
              <a:lnSpc>
                <a:spcPct val="108000"/>
              </a:lnSpc>
              <a:spcAft>
                <a:spcPts val="600"/>
              </a:spcAft>
            </a:pPr>
            <a:r>
              <a:rPr sz="930" b="1">
                <a:solidFill>
                  <a:srgbClr val="D9A93C"/>
                </a:solidFill>
                <a:latin typeface="Georgia"/>
              </a:rPr>
              <a:t>|  </a:t>
            </a:r>
            <a:r>
              <a:rPr sz="930" b="1">
                <a:solidFill>
                  <a:srgbClr val="123D30"/>
                </a:solidFill>
                <a:latin typeface="Arial"/>
              </a:rPr>
              <a:t>forward-liability.ts  </a:t>
            </a:r>
            <a:r>
              <a:rPr sz="930">
                <a:solidFill>
                  <a:srgbClr val="0E1512"/>
                </a:solidFill>
                <a:latin typeface="Arial"/>
              </a:rPr>
              <a:t>required security = coverage × contribution × (totalRounds − round); satisfied by a host-verified commitment (default 100% cover) or a pot holdback capped at maxPotHoldbackBps (default 60%); a security-driven holdback releases only when all remaining installments clear.</a:t>
            </a:r>
          </a:p>
          <a:p>
            <a:pPr>
              <a:lnSpc>
                <a:spcPct val="108000"/>
              </a:lnSpc>
              <a:spcAft>
                <a:spcPts val="600"/>
              </a:spcAft>
            </a:pPr>
            <a:r>
              <a:rPr sz="930" b="1">
                <a:solidFill>
                  <a:srgbClr val="D9A93C"/>
                </a:solidFill>
                <a:latin typeface="Georgia"/>
              </a:rPr>
              <a:t>|  </a:t>
            </a:r>
            <a:r>
              <a:rPr sz="930" b="1">
                <a:solidFill>
                  <a:srgbClr val="123D30"/>
                </a:solidFill>
                <a:latin typeface="Arial"/>
              </a:rPr>
              <a:t>salary-pattern.ts  </a:t>
            </a:r>
            <a:r>
              <a:rPr sz="930">
                <a:solidFill>
                  <a:srgbClr val="0E1512"/>
                </a:solidFill>
                <a:latin typeface="Arial"/>
              </a:rPr>
              <a:t>MIN_MONTHS 2, DAY_TOLERANCE 3, CLUSTER_TOLERANCE 5, MISDECLARE_SCORE_DELTA −15; readPattern / readSignals / evaluateSalaryPattern turn the collection log into a verified payday.</a:t>
            </a:r>
          </a:p>
          <a:p>
            <a:pPr>
              <a:lnSpc>
                <a:spcPct val="108000"/>
              </a:lnSpc>
              <a:spcAft>
                <a:spcPts val="600"/>
              </a:spcAft>
            </a:pPr>
            <a:r>
              <a:rPr sz="930" b="1">
                <a:solidFill>
                  <a:srgbClr val="D9A93C"/>
                </a:solidFill>
                <a:latin typeface="Georgia"/>
              </a:rPr>
              <a:t>|  </a:t>
            </a:r>
            <a:r>
              <a:rPr sz="930" b="1">
                <a:solidFill>
                  <a:srgbClr val="123D30"/>
                </a:solidFill>
                <a:latin typeface="Arial"/>
              </a:rPr>
              <a:t>reputation.ts  </a:t>
            </a:r>
            <a:r>
              <a:rPr sz="930">
                <a:solidFill>
                  <a:srgbClr val="0E1512"/>
                </a:solidFill>
                <a:latin typeface="Arial"/>
              </a:rPr>
              <a:t>derived only from real payment and completion events, hosted-completed, clean completions, on-time %, missed, default flag, never self-reported.</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080" b="0" i="0">
                <a:solidFill>
                  <a:srgbClr val="123D30"/>
                </a:solidFill>
                <a:latin typeface="Georgia"/>
              </a:rPr>
              <a:t>risk-engine.ts, the six-factor model (HALQA-RM-2.0.0)</a:t>
            </a:r>
          </a:p>
        </p:txBody>
      </p:sp>
      <p:graphicFrame>
        <p:nvGraphicFramePr>
          <p:cNvPr id="20" name="Table 19"/>
          <p:cNvGraphicFramePr>
            <a:graphicFrameLocks noGrp="1"/>
          </p:cNvGraphicFramePr>
          <p:nvPr/>
        </p:nvGraphicFramePr>
        <p:xfrm>
          <a:off x="6419088" y="1737360"/>
          <a:ext cx="5166359" cy="2182489"/>
        </p:xfrm>
        <a:graphic>
          <a:graphicData uri="http://schemas.openxmlformats.org/drawingml/2006/table">
            <a:tbl>
              <a:tblPr>
                <a:tableStyleId>{5C22544A-7EE6-4342-B048-85BDC9FD1C3A}</a:tableStyleId>
              </a:tblPr>
              <a:tblGrid>
                <a:gridCol w="3409797"/>
                <a:gridCol w="1756562"/>
              </a:tblGrid>
              <a:tr h="317113">
                <a:tc>
                  <a:txBody>
                    <a:bodyPr wrap="square"/>
                    <a:lstStyle/>
                    <a:p>
                      <a:pPr algn="l"/>
                      <a:r>
                        <a:rPr sz="900" b="1">
                          <a:solidFill>
                            <a:srgbClr val="F6F1E4"/>
                          </a:solidFill>
                          <a:latin typeface="Arial"/>
                        </a:rPr>
                        <a:t>Factor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ctr"/>
                      <a:r>
                        <a:rPr sz="900" b="1">
                          <a:solidFill>
                            <a:srgbClr val="F6F1E4"/>
                          </a:solidFill>
                          <a:latin typeface="Arial"/>
                        </a:rPr>
                        <a:t>Weight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900" b="0">
                          <a:solidFill>
                            <a:srgbClr val="0E1512"/>
                          </a:solidFill>
                          <a:latin typeface="Arial"/>
                        </a:rPr>
                        <a:t>Member reliability (credit)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ctr"/>
                      <a:r>
                        <a:rPr sz="900" b="0">
                          <a:solidFill>
                            <a:srgbClr val="0E1512"/>
                          </a:solidFill>
                          <a:latin typeface="Arial"/>
                        </a:rPr>
                        <a:t>0.22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00" b="0">
                          <a:solidFill>
                            <a:srgbClr val="0E1512"/>
                          </a:solidFill>
                          <a:latin typeface="Arial"/>
                        </a:rPr>
                        <a:t>Payment behaviour (on-time)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ctr"/>
                      <a:r>
                        <a:rPr sz="900" b="0">
                          <a:solidFill>
                            <a:srgbClr val="0E1512"/>
                          </a:solidFill>
                          <a:latin typeface="Arial"/>
                        </a:rPr>
                        <a:t>0.18</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00" b="0">
                          <a:solidFill>
                            <a:srgbClr val="0E1512"/>
                          </a:solidFill>
                          <a:latin typeface="Arial"/>
                        </a:rPr>
                        <a:t>Instrument risk (market)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ctr"/>
                      <a:r>
                        <a:rPr sz="900" b="0">
                          <a:solidFill>
                            <a:srgbClr val="0E1512"/>
                          </a:solidFill>
                          <a:latin typeface="Arial"/>
                        </a:rPr>
                        <a:t>0.18</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00" b="0">
                          <a:solidFill>
                            <a:srgbClr val="0E1512"/>
                          </a:solidFill>
                          <a:latin typeface="Arial"/>
                        </a:rPr>
                        <a:t>Maturity mismatch (liquidity)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ctr"/>
                      <a:r>
                        <a:rPr sz="900" b="0">
                          <a:solidFill>
                            <a:srgbClr val="0E1512"/>
                          </a:solidFill>
                          <a:latin typeface="Arial"/>
                        </a:rPr>
                        <a:t>0.16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00" b="0">
                          <a:solidFill>
                            <a:srgbClr val="0E1512"/>
                          </a:solidFill>
                          <a:latin typeface="Arial"/>
                        </a:rPr>
                        <a:t>Capital at risk (allocation)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ctr"/>
                      <a:r>
                        <a:rPr sz="900" b="0">
                          <a:solidFill>
                            <a:srgbClr val="0E1512"/>
                          </a:solidFill>
                          <a:latin typeface="Arial"/>
                        </a:rPr>
                        <a:t>0.14</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900" b="0">
                          <a:solidFill>
                            <a:srgbClr val="0E1512"/>
                          </a:solidFill>
                          <a:latin typeface="Arial"/>
                        </a:rPr>
                        <a:t>Concentration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ctr"/>
                      <a:r>
                        <a:rPr sz="900" b="0">
                          <a:solidFill>
                            <a:srgbClr val="0E1512"/>
                          </a:solidFill>
                          <a:latin typeface="Arial"/>
                        </a:rPr>
                        <a:t>0.12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1" name="TextBox 20"/>
          <p:cNvSpPr txBox="1"/>
          <p:nvPr/>
        </p:nvSpPr>
        <p:spPr>
          <a:xfrm>
            <a:off x="6419088" y="4114800"/>
            <a:ext cx="5166360" cy="1920240"/>
          </a:xfrm>
          <a:prstGeom prst="rect">
            <a:avLst/>
          </a:prstGeom>
          <a:noFill/>
        </p:spPr>
        <p:txBody>
          <a:bodyPr wrap="square" lIns="0" rIns="0" tIns="0" bIns="0" anchor="t">
            <a:spAutoFit/>
          </a:bodyPr>
          <a:lstStyle/>
          <a:p>
            <a:pPr algn="l">
              <a:lnSpc>
                <a:spcPct val="116000"/>
              </a:lnSpc>
              <a:spcAft>
                <a:spcPts val="400"/>
              </a:spcAft>
            </a:pPr>
            <a:r>
              <a:rPr sz="940" b="0" i="0">
                <a:solidFill>
                  <a:srgbClr val="0E1512"/>
                </a:solidFill>
                <a:latin typeface="Arial"/>
              </a:rPr>
              <a:t>Weighted factors, each 0-10, are mitigated by a control-strength term (deposit coverage, payout buffer, liquidity reserve, guarantor, average score) and mapped to a 1-10 score and a band, LOW ≤3, MEDIUM ≤6, HIGH ≤8, else EXTREME, with a required-coverage target of 30 / 50 / 70 / 90% of post-payout obligation. It also carries a 99-strategy catalogue partitioned into ACTIVE, GUARDED (a licensed partner unlocks three), DEFERRED and REJECTED, with the conflict decisions recorded and hashed, so an auditor can see exactly which strategies were turned off and why.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IV · ALGORITHMS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algorithms, part two: the economic engines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These price the position, reward the behaviour, and split the pool. All are self-balancing or conserving by construction: the time-value schedule nets to zero, the distribution conserves every paisa, and points can never become money.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46</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time-value.ts, the fair price of a turn</a:t>
            </a:r>
          </a:p>
        </p:txBody>
      </p:sp>
      <p:sp>
        <p:nvSpPr>
          <p:cNvPr id="19" name="Rectangle 18"/>
          <p:cNvSpPr/>
          <p:nvPr/>
        </p:nvSpPr>
        <p:spPr>
          <a:xfrm>
            <a:off x="566928" y="1719072"/>
            <a:ext cx="5486400" cy="54864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4088" y="1810512"/>
            <a:ext cx="5212080" cy="411480"/>
          </a:xfrm>
          <a:prstGeom prst="rect">
            <a:avLst/>
          </a:prstGeom>
          <a:noFill/>
        </p:spPr>
        <p:txBody>
          <a:bodyPr wrap="square" lIns="0" rIns="0" tIns="0" bIns="0" anchor="t">
            <a:spAutoFit/>
          </a:bodyPr>
          <a:lstStyle/>
          <a:p>
            <a:pPr algn="ctr">
              <a:lnSpc>
                <a:spcPct val="100000"/>
              </a:lnSpc>
              <a:spcAft>
                <a:spcPts val="400"/>
              </a:spcAft>
            </a:pPr>
            <a:r>
              <a:rPr sz="1250" b="0" i="0">
                <a:solidFill>
                  <a:srgbClr val="123D30"/>
                </a:solidFill>
                <a:latin typeface="Georgia"/>
              </a:rPr>
              <a:t>value(k) = P/(1+i)^k − c·[1−(1+i)^−T]/i</a:t>
            </a:r>
          </a:p>
        </p:txBody>
      </p:sp>
      <p:sp>
        <p:nvSpPr>
          <p:cNvPr id="21" name="TextBox 20"/>
          <p:cNvSpPr txBox="1"/>
          <p:nvPr/>
        </p:nvSpPr>
        <p:spPr>
          <a:xfrm>
            <a:off x="566928" y="2359152"/>
            <a:ext cx="5486400" cy="1371600"/>
          </a:xfrm>
          <a:prstGeom prst="rect">
            <a:avLst/>
          </a:prstGeom>
          <a:noFill/>
        </p:spPr>
        <p:txBody>
          <a:bodyPr wrap="square" lIns="0" rIns="0" tIns="0" bIns="0" anchor="t">
            <a:spAutoFit/>
          </a:bodyPr>
          <a:lstStyle/>
          <a:p>
            <a:pPr algn="l">
              <a:lnSpc>
                <a:spcPct val="114000"/>
              </a:lnSpc>
              <a:spcAft>
                <a:spcPts val="400"/>
              </a:spcAft>
            </a:pPr>
            <a:r>
              <a:rPr sz="930" b="0" i="0">
                <a:solidFill>
                  <a:srgbClr val="0E1512"/>
                </a:solidFill>
                <a:latin typeface="Arial"/>
              </a:rPr>
              <a:t>A lump sum in month one is worth more than the same sum in month twelve. Setting value(k)=0 gives the NEUTRAL seat, around position 6.4 of 12 at a 12% household cost of money (DEFAULT_ANNUAL_RATE), not the last seat where a naive fee schedule tapers to zero. This runs across the WHOLE spectrum: every seat before neutral pays an early-position fee, and every seat after neutral is CREDITED out of that same pool. Concretely, the last member is paid a credit funded by the first, so the person who waited longest takes a cut of what the person who collected earliest paid in. TRANSFER_SHARE = 0.60, so the fee never fully strips the advantage; the schedule self-balances (fees equal credits) and Halqa takes nothing from the transfer, so members finish economically level, not just level in nominal rupees. It is optional in every circle type and off on Shariah-labelled tiers.</a:t>
            </a:r>
          </a:p>
        </p:txBody>
      </p:sp>
      <p:sp>
        <p:nvSpPr>
          <p:cNvPr id="22" name="TextBox 21"/>
          <p:cNvSpPr txBox="1"/>
          <p:nvPr/>
        </p:nvSpPr>
        <p:spPr>
          <a:xfrm>
            <a:off x="566928" y="3886200"/>
            <a:ext cx="548640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distribution.ts, capital-days, conserving</a:t>
            </a:r>
          </a:p>
        </p:txBody>
      </p:sp>
      <p:sp>
        <p:nvSpPr>
          <p:cNvPr id="23" name="TextBox 22"/>
          <p:cNvSpPr txBox="1"/>
          <p:nvPr/>
        </p:nvSpPr>
        <p:spPr>
          <a:xfrm>
            <a:off x="566928" y="4187952"/>
            <a:ext cx="5486400" cy="1737360"/>
          </a:xfrm>
          <a:prstGeom prst="rect">
            <a:avLst/>
          </a:prstGeom>
          <a:noFill/>
        </p:spPr>
        <p:txBody>
          <a:bodyPr wrap="square" lIns="0" rIns="0" tIns="0" bIns="0" anchor="t">
            <a:spAutoFit/>
          </a:bodyPr>
          <a:lstStyle/>
          <a:p>
            <a:pPr algn="l">
              <a:lnSpc>
                <a:spcPct val="116000"/>
              </a:lnSpc>
              <a:spcAft>
                <a:spcPts val="400"/>
              </a:spcAft>
            </a:pPr>
            <a:r>
              <a:rPr sz="950" b="0" i="0">
                <a:solidFill>
                  <a:srgbClr val="0E1512"/>
                </a:solidFill>
                <a:latin typeface="Arial"/>
              </a:rPr>
              <a:t>allocateCyclePool splits an investment-circle pool into principal (weighted by paid principal) and profit (weighted by capital-days, auditable and economically causal, unlike host or turn-position premiums, which were REJECTED by the risk engine as hidden redistribution). The last account takes the rounding remainder, so every paisa is conserved with integer arithmetic. Uniqueness of accounts is asserted; negative pools throw. This is the profit engine behind the dormant SUKOON/BAZAAR/SIGMA earning tiers, which stay switched off until the Stage-2 trustee structure exists.</a:t>
            </a:r>
          </a:p>
        </p:txBody>
      </p:sp>
      <p:sp>
        <p:nvSpPr>
          <p:cNvPr id="24" name="TextBox 23"/>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080" b="0" i="0">
                <a:solidFill>
                  <a:srgbClr val="123D30"/>
                </a:solidFill>
                <a:latin typeface="Georgia"/>
              </a:rPr>
              <a:t>rewards.ts, streaks and points, kept apart from score</a:t>
            </a:r>
          </a:p>
        </p:txBody>
      </p:sp>
      <p:graphicFrame>
        <p:nvGraphicFramePr>
          <p:cNvPr id="25" name="Table 24"/>
          <p:cNvGraphicFramePr>
            <a:graphicFrameLocks noGrp="1"/>
          </p:cNvGraphicFramePr>
          <p:nvPr/>
        </p:nvGraphicFramePr>
        <p:xfrm>
          <a:off x="6419088" y="1737360"/>
          <a:ext cx="5166359" cy="1761500"/>
        </p:xfrm>
        <a:graphic>
          <a:graphicData uri="http://schemas.openxmlformats.org/drawingml/2006/table">
            <a:tbl>
              <a:tblPr>
                <a:tableStyleId>{5C22544A-7EE6-4342-B048-85BDC9FD1C3A}</a:tableStyleId>
              </a:tblPr>
              <a:tblGrid>
                <a:gridCol w="2376525"/>
                <a:gridCol w="1394917"/>
                <a:gridCol w="1394917"/>
              </a:tblGrid>
              <a:tr h="298460">
                <a:tc>
                  <a:txBody>
                    <a:bodyPr wrap="square"/>
                    <a:lstStyle/>
                    <a:p>
                      <a:pPr algn="l"/>
                      <a:r>
                        <a:rPr sz="900" b="1">
                          <a:solidFill>
                            <a:srgbClr val="F6F1E4"/>
                          </a:solidFill>
                          <a:latin typeface="Arial"/>
                        </a:rPr>
                        <a:t>Event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Points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Score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292608">
                <a:tc>
                  <a:txBody>
                    <a:bodyPr wrap="square"/>
                    <a:lstStyle/>
                    <a:p>
                      <a:pPr algn="l"/>
                      <a:r>
                        <a:rPr sz="900" b="0">
                          <a:solidFill>
                            <a:srgbClr val="0E1512"/>
                          </a:solidFill>
                          <a:latin typeface="Arial"/>
                        </a:rPr>
                        <a:t>On-time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92608">
                <a:tc>
                  <a:txBody>
                    <a:bodyPr wrap="square"/>
                    <a:lstStyle/>
                    <a:p>
                      <a:pPr algn="l"/>
                      <a:r>
                        <a:rPr sz="900" b="0">
                          <a:solidFill>
                            <a:srgbClr val="0E1512"/>
                          </a:solidFill>
                          <a:latin typeface="Arial"/>
                        </a:rPr>
                        <a:t>Paid 3+ days early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+15</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92608">
                <a:tc>
                  <a:txBody>
                    <a:bodyPr wrap="square"/>
                    <a:lstStyle/>
                    <a:p>
                      <a:pPr algn="l"/>
                      <a:r>
                        <a:rPr sz="900" b="0">
                          <a:solidFill>
                            <a:srgbClr val="0E1512"/>
                          </a:solidFill>
                          <a:latin typeface="Arial"/>
                        </a:rPr>
                        <a:t>Circle completed clean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+200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+200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92608">
                <a:tc>
                  <a:txBody>
                    <a:bodyPr wrap="square"/>
                    <a:lstStyle/>
                    <a:p>
                      <a:pPr algn="l"/>
                      <a:r>
                        <a:rPr sz="900" b="0">
                          <a:solidFill>
                            <a:srgbClr val="0E1512"/>
                          </a:solidFill>
                          <a:latin typeface="Arial"/>
                        </a:rPr>
                        <a:t>Paid FOR another member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+50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0 (neutral)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92608">
                <a:tc>
                  <a:txBody>
                    <a:bodyPr wrap="square"/>
                    <a:lstStyle/>
                    <a:p>
                      <a:pPr algn="l"/>
                      <a:r>
                        <a:rPr sz="900" b="0">
                          <a:solidFill>
                            <a:srgbClr val="0E1512"/>
                          </a:solidFill>
                          <a:latin typeface="Arial"/>
                        </a:rPr>
                        <a:t>Missed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streak resets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6" name="TextBox 25"/>
          <p:cNvSpPr txBox="1"/>
          <p:nvPr/>
        </p:nvSpPr>
        <p:spPr>
          <a:xfrm>
            <a:off x="6419088" y="3703320"/>
            <a:ext cx="5166360" cy="365760"/>
          </a:xfrm>
          <a:prstGeom prst="rect">
            <a:avLst/>
          </a:prstGeom>
          <a:noFill/>
        </p:spPr>
        <p:txBody>
          <a:bodyPr wrap="square" lIns="0" rIns="0" tIns="0" bIns="0">
            <a:spAutoFit/>
          </a:bodyPr>
          <a:lstStyle/>
          <a:p>
            <a:pPr>
              <a:lnSpc>
                <a:spcPct val="106000"/>
              </a:lnSpc>
              <a:spcAft>
                <a:spcPts val="500"/>
              </a:spcAft>
            </a:pPr>
            <a:r>
              <a:rPr sz="919" b="1">
                <a:solidFill>
                  <a:srgbClr val="D9A93C"/>
                </a:solidFill>
                <a:latin typeface="Georgia"/>
              </a:rPr>
              <a:t>|  </a:t>
            </a:r>
            <a:r>
              <a:rPr sz="919" b="1">
                <a:solidFill>
                  <a:srgbClr val="123D30"/>
                </a:solidFill>
                <a:latin typeface="Arial"/>
              </a:rPr>
              <a:t>Two currencies, deliberately apart  </a:t>
            </a:r>
            <a:r>
              <a:rPr sz="919">
                <a:solidFill>
                  <a:srgbClr val="0E1512"/>
                </a:solidFill>
                <a:latin typeface="Arial"/>
              </a:rPr>
              <a:t>POINTS buy retail discounts; SCORE gates which seats you may claim. Points never buy score, and score is never sold, blur them and the score stops measuring risk.</a:t>
            </a:r>
          </a:p>
          <a:p>
            <a:pPr>
              <a:lnSpc>
                <a:spcPct val="106000"/>
              </a:lnSpc>
              <a:spcAft>
                <a:spcPts val="500"/>
              </a:spcAft>
            </a:pPr>
            <a:r>
              <a:rPr sz="919" b="1">
                <a:solidFill>
                  <a:srgbClr val="D9A93C"/>
                </a:solidFill>
                <a:latin typeface="Georgia"/>
              </a:rPr>
              <a:t>|  </a:t>
            </a:r>
            <a:r>
              <a:rPr sz="919" b="1">
                <a:solidFill>
                  <a:srgbClr val="123D30"/>
                </a:solidFill>
                <a:latin typeface="Arial"/>
              </a:rPr>
              <a:t>Streak multiplier  </a:t>
            </a:r>
            <a:r>
              <a:rPr sz="919">
                <a:solidFill>
                  <a:srgbClr val="0E1512"/>
                </a:solidFill>
                <a:latin typeface="Arial"/>
              </a:rPr>
              <a:t>+5% per consecutive clean round on POINTS only, ceiling +50%. Score gain is capped at SCORE_GAIN_CAP_PER_CYCLE = 40 so it cannot be farmed with tiny circles.</a:t>
            </a:r>
          </a:p>
          <a:p>
            <a:pPr>
              <a:lnSpc>
                <a:spcPct val="106000"/>
              </a:lnSpc>
              <a:spcAft>
                <a:spcPts val="500"/>
              </a:spcAft>
            </a:pPr>
            <a:r>
              <a:rPr sz="919" b="1">
                <a:solidFill>
                  <a:srgbClr val="D9A93C"/>
                </a:solidFill>
                <a:latin typeface="Georgia"/>
              </a:rPr>
              <a:t>|  </a:t>
            </a:r>
            <a:r>
              <a:rPr sz="919" b="1">
                <a:solidFill>
                  <a:srgbClr val="123D30"/>
                </a:solidFill>
                <a:latin typeface="Arial"/>
              </a:rPr>
              <a:t>Never cash-redeemable  </a:t>
            </a:r>
            <a:r>
              <a:rPr sz="919">
                <a:solidFill>
                  <a:srgbClr val="0E1512"/>
                </a:solidFill>
                <a:latin typeface="Arial"/>
              </a:rPr>
              <a:t>cash-redeemable points are a stored-value instrument, the EMI licence. This one rule keeps the whole scheme outside that perimeter.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D9A93C"/>
                </a:solidFill>
                <a:latin typeface="Georgia"/>
              </a:rPr>
              <a:t>V</a:t>
            </a:r>
          </a:p>
        </p:txBody>
      </p:sp>
      <p:sp>
        <p:nvSpPr>
          <p:cNvPr id="5" name="TextBox 4"/>
          <p:cNvSpPr txBox="1"/>
          <p:nvPr/>
        </p:nvSpPr>
        <p:spPr>
          <a:xfrm>
            <a:off x="2468880" y="2359152"/>
            <a:ext cx="8595360" cy="731520"/>
          </a:xfrm>
          <a:prstGeom prst="rect">
            <a:avLst/>
          </a:prstGeom>
          <a:noFill/>
        </p:spPr>
        <p:txBody>
          <a:bodyPr wrap="square" lIns="0" rIns="0" tIns="0" bIns="0" anchor="t">
            <a:spAutoFit/>
          </a:bodyPr>
          <a:lstStyle/>
          <a:p>
            <a:pPr algn="l">
              <a:lnSpc>
                <a:spcPct val="100000"/>
              </a:lnSpc>
              <a:spcAft>
                <a:spcPts val="400"/>
              </a:spcAft>
            </a:pPr>
            <a:r>
              <a:rPr sz="3000" b="0" i="0">
                <a:solidFill>
                  <a:srgbClr val="F6F1E4"/>
                </a:solidFill>
                <a:latin typeface="Georgia"/>
              </a:rPr>
              <a:t>Credit, rewards and the vault</a:t>
            </a:r>
          </a:p>
        </p:txBody>
      </p:sp>
      <p:cxnSp>
        <p:nvCxnSpPr>
          <p:cNvPr id="6" name="Connector 5"/>
          <p:cNvCxnSpPr/>
          <p:nvPr/>
        </p:nvCxnSpPr>
        <p:spPr>
          <a:xfrm>
            <a:off x="2542032"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3101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941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782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622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03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44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98464"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42032" y="3310128"/>
            <a:ext cx="7680960" cy="1463040"/>
          </a:xfrm>
          <a:prstGeom prst="rect">
            <a:avLst/>
          </a:prstGeom>
          <a:noFill/>
        </p:spPr>
        <p:txBody>
          <a:bodyPr wrap="square" lIns="0" rIns="0" tIns="0" bIns="0" anchor="t">
            <a:spAutoFit/>
          </a:bodyPr>
          <a:lstStyle/>
          <a:p>
            <a:pPr algn="l">
              <a:lnSpc>
                <a:spcPct val="112000"/>
              </a:lnSpc>
              <a:spcAft>
                <a:spcPts val="600"/>
              </a:spcAft>
            </a:pPr>
            <a:r>
              <a:rPr sz="1220" b="0" i="0">
                <a:solidFill>
                  <a:srgbClr val="C8D4CC"/>
                </a:solidFill>
                <a:latin typeface="Arial"/>
              </a:rPr>
              <a:t>A settled repayment history is the asset a notebook can never produce.</a:t>
            </a:r>
          </a:p>
          <a:p>
            <a:pPr algn="l">
              <a:lnSpc>
                <a:spcPct val="112000"/>
              </a:lnSpc>
              <a:spcAft>
                <a:spcPts val="600"/>
              </a:spcAft>
            </a:pPr>
            <a:r>
              <a:rPr sz="1220" b="0" i="0">
                <a:solidFill>
                  <a:srgbClr val="C8D4CC"/>
                </a:solidFill>
                <a:latin typeface="Arial"/>
              </a:rPr>
              <a:t>It becomes a formal credit identity, a reward that funds itself,</a:t>
            </a:r>
          </a:p>
          <a:p>
            <a:pPr algn="l">
              <a:lnSpc>
                <a:spcPct val="112000"/>
              </a:lnSpc>
              <a:spcAft>
                <a:spcPts val="600"/>
              </a:spcAft>
            </a:pPr>
            <a:r>
              <a:rPr sz="1220" b="0" i="0">
                <a:solidFill>
                  <a:srgbClr val="C8D4CC"/>
                </a:solidFill>
                <a:latin typeface="Arial"/>
              </a:rPr>
              <a:t>and, through a licensed trustee, never a bank, a savings layer that</a:t>
            </a:r>
          </a:p>
          <a:p>
            <a:pPr algn="l">
              <a:lnSpc>
                <a:spcPct val="112000"/>
              </a:lnSpc>
              <a:spcAft>
                <a:spcPts val="600"/>
              </a:spcAft>
            </a:pPr>
            <a:r>
              <a:rPr sz="1220" b="0" i="0">
                <a:solidFill>
                  <a:srgbClr val="C8D4CC"/>
                </a:solidFill>
                <a:latin typeface="Arial"/>
              </a:rPr>
              <a:t>yields, cures default, and carries the durable revenue of the company.</a:t>
            </a:r>
          </a:p>
        </p:txBody>
      </p:sp>
      <p:cxnSp>
        <p:nvCxnSpPr>
          <p:cNvPr id="17" name="Connector 16"/>
          <p:cNvCxnSpPr/>
          <p:nvPr/>
        </p:nvCxnSpPr>
        <p:spPr>
          <a:xfrm>
            <a:off x="10454335" y="2641701"/>
            <a:ext cx="0" cy="30723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94365" y="2747179"/>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870079" y="3035350"/>
            <a:ext cx="266076" cy="15362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934395" y="3429000"/>
            <a:ext cx="307238" cy="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870079"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94365" y="3844744"/>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454335" y="3909060"/>
            <a:ext cx="0" cy="307238"/>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060685" y="3844744"/>
            <a:ext cx="153620"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772514"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67036" y="3429000"/>
            <a:ext cx="422453" cy="0"/>
          </a:xfrm>
          <a:prstGeom prst="line">
            <a:avLst/>
          </a:prstGeom>
          <a:ln w="24003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CREDIT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How credit works here</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committee repayment obligation outranks rent, so it is the hardest signal a household owns. Because Halqa SETTLES rather than asserts, that signal becomes a credit history a khata app can never build, which is the entire moat.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48</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0000"/>
              </a:lnSpc>
              <a:spcAft>
                <a:spcPts val="600"/>
              </a:spcAft>
            </a:pPr>
            <a:r>
              <a:rPr sz="940" b="1">
                <a:solidFill>
                  <a:srgbClr val="D9A93C"/>
                </a:solidFill>
                <a:latin typeface="Georgia"/>
              </a:rPr>
              <a:t>|  </a:t>
            </a:r>
            <a:r>
              <a:rPr sz="940" b="1">
                <a:solidFill>
                  <a:srgbClr val="123D30"/>
                </a:solidFill>
                <a:latin typeface="Arial"/>
              </a:rPr>
              <a:t>The Halqa credit score  </a:t>
            </a:r>
            <a:r>
              <a:rPr sz="940">
                <a:solidFill>
                  <a:srgbClr val="0E1512"/>
                </a:solidFill>
                <a:latin typeface="Arial"/>
              </a:rPr>
              <a:t>300-850, opening 700; the live app shows an 804 (“Excellent”) reliability report built from the member’s real committee record. Bands: Rebuilding &lt;550, Fair 550-649, Good 650-749, Excellent 750+.</a:t>
            </a:r>
          </a:p>
          <a:p>
            <a:pPr>
              <a:lnSpc>
                <a:spcPct val="110000"/>
              </a:lnSpc>
              <a:spcAft>
                <a:spcPts val="600"/>
              </a:spcAft>
            </a:pPr>
            <a:r>
              <a:rPr sz="940" b="1">
                <a:solidFill>
                  <a:srgbClr val="D9A93C"/>
                </a:solidFill>
                <a:latin typeface="Georgia"/>
              </a:rPr>
              <a:t>|  </a:t>
            </a:r>
            <a:r>
              <a:rPr sz="940" b="1">
                <a:solidFill>
                  <a:srgbClr val="123D30"/>
                </a:solidFill>
                <a:latin typeface="Arial"/>
              </a:rPr>
              <a:t>It gates, it never reorders  </a:t>
            </a:r>
            <a:r>
              <a:rPr sz="940">
                <a:solidFill>
                  <a:srgbClr val="0E1512"/>
                </a:solidFill>
                <a:latin typeface="Arial"/>
              </a:rPr>
              <a:t>the score only controls which free seats a member may claim and whether they may buy turns, nobody is ever silently moved. Credit-weighted reordering was removed as confusing and unfair.</a:t>
            </a:r>
          </a:p>
          <a:p>
            <a:pPr>
              <a:lnSpc>
                <a:spcPct val="110000"/>
              </a:lnSpc>
              <a:spcAft>
                <a:spcPts val="600"/>
              </a:spcAft>
            </a:pPr>
            <a:r>
              <a:rPr sz="940" b="1">
                <a:solidFill>
                  <a:srgbClr val="D9A93C"/>
                </a:solidFill>
                <a:latin typeface="Georgia"/>
              </a:rPr>
              <a:t>|  </a:t>
            </a:r>
            <a:r>
              <a:rPr sz="940" b="1">
                <a:solidFill>
                  <a:srgbClr val="123D30"/>
                </a:solidFill>
                <a:latin typeface="Arial"/>
              </a:rPr>
              <a:t>Credit events, with reasons  </a:t>
            </a:r>
            <a:r>
              <a:rPr sz="940">
                <a:solidFill>
                  <a:srgbClr val="0E1512"/>
                </a:solidFill>
                <a:latin typeface="Arial"/>
              </a:rPr>
              <a:t>every on-time payment, completion, miss and default is a CreditEvent carrying its cause, rendered as a score-movement chart the member can read.</a:t>
            </a:r>
          </a:p>
          <a:p>
            <a:pPr>
              <a:lnSpc>
                <a:spcPct val="110000"/>
              </a:lnSpc>
              <a:spcAft>
                <a:spcPts val="600"/>
              </a:spcAft>
            </a:pPr>
            <a:r>
              <a:rPr sz="940" b="1">
                <a:solidFill>
                  <a:srgbClr val="D9A93C"/>
                </a:solidFill>
                <a:latin typeface="Georgia"/>
              </a:rPr>
              <a:t>|  </a:t>
            </a:r>
            <a:r>
              <a:rPr sz="940" b="1">
                <a:solidFill>
                  <a:srgbClr val="123D30"/>
                </a:solidFill>
                <a:latin typeface="Arial"/>
              </a:rPr>
              <a:t>The Credit Passport  </a:t>
            </a:r>
            <a:r>
              <a:rPr sz="940">
                <a:solidFill>
                  <a:srgbClr val="0E1512"/>
                </a:solidFill>
                <a:latin typeface="Arial"/>
              </a:rPr>
              <a:t>signed and verifiable WITHOUT a Halqa account, it renders as HTML in a browser, so a landlord, employer or lender can check it. Scoped explicitly to on-platform history, endorsing no outside arrangement.</a:t>
            </a:r>
          </a:p>
          <a:p>
            <a:pPr>
              <a:lnSpc>
                <a:spcPct val="110000"/>
              </a:lnSpc>
              <a:spcAft>
                <a:spcPts val="600"/>
              </a:spcAft>
            </a:pPr>
            <a:r>
              <a:rPr sz="940" b="1">
                <a:solidFill>
                  <a:srgbClr val="D9A93C"/>
                </a:solidFill>
                <a:latin typeface="Georgia"/>
              </a:rPr>
              <a:t>|  </a:t>
            </a:r>
            <a:r>
              <a:rPr sz="940" b="1">
                <a:solidFill>
                  <a:srgbClr val="123D30"/>
                </a:solidFill>
                <a:latin typeface="Arial"/>
              </a:rPr>
              <a:t>The on-ramp  </a:t>
            </a:r>
            <a:r>
              <a:rPr sz="940">
                <a:solidFill>
                  <a:srgbClr val="0E1512"/>
                </a:solidFill>
                <a:latin typeface="Arial"/>
              </a:rPr>
              <a:t>N clean circles → a pre-approved formal product by referral; the institution pays origination, never the member. Halqa is the on-ramp to formal finance, not a substitute for it.</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Why the notebook competitor cannot follow</a:t>
            </a:r>
          </a:p>
        </p:txBody>
      </p:sp>
      <p:sp>
        <p:nvSpPr>
          <p:cNvPr id="20" name="TextBox 19"/>
          <p:cNvSpPr txBox="1"/>
          <p:nvPr/>
        </p:nvSpPr>
        <p:spPr>
          <a:xfrm>
            <a:off x="6419088" y="1737360"/>
            <a:ext cx="5166360" cy="137160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Mehmood et al. (2018) map four ROSCA-app models. Model 1, a record-keeping app, CANNOT produce a credit history, because its payments are asserted, not settled. That is precisely why the khata apps (Udhaar, DigiKhata) ship a committee register but no usable credit signal, and why they are the most plausible fast follower only if one bolts on settlement. Model 2 is Halqa exactly; model 3 is the public/marketplace tier; model 4 (a bank bears default) is excluded by directive.</a:t>
            </a:r>
          </a:p>
        </p:txBody>
      </p:sp>
      <p:sp>
        <p:nvSpPr>
          <p:cNvPr id="21" name="Rectangle 20"/>
          <p:cNvSpPr/>
          <p:nvPr/>
        </p:nvSpPr>
        <p:spPr>
          <a:xfrm>
            <a:off x="6419088" y="3200400"/>
            <a:ext cx="45720" cy="27432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20256" y="3236976"/>
            <a:ext cx="4937760" cy="2743200"/>
          </a:xfrm>
          <a:prstGeom prst="rect">
            <a:avLst/>
          </a:prstGeom>
          <a:noFill/>
        </p:spPr>
        <p:txBody>
          <a:bodyPr wrap="square" lIns="0" rIns="0" tIns="0" bIns="0" anchor="t">
            <a:spAutoFit/>
          </a:bodyPr>
          <a:lstStyle/>
          <a:p>
            <a:pPr algn="l">
              <a:lnSpc>
                <a:spcPct val="118000"/>
              </a:lnSpc>
              <a:spcAft>
                <a:spcPts val="400"/>
              </a:spcAft>
            </a:pPr>
            <a:r>
              <a:rPr sz="960" b="0" i="0">
                <a:solidFill>
                  <a:srgbClr val="0E1512"/>
                </a:solidFill>
                <a:latin typeface="Arial"/>
              </a:rPr>
              <a:t>Esusu is the proof of the whole thesis: it began as a ROSCA app, pivoted to rent-reporting, recording an obligation people already honour, and became a billion-dollar company in 2022. The value was never in moving the money; it was in recording it. Halqa is that thesis applied to the committee, where the obligation is already the household’s highest priority. The abuse-detection layer scopes the Passport to on-platform history for a reason: manufactured credibility is exactly what a fraudster needs most, and the one asset the company must never hand over.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CREDIT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credit bureaus, and how we join</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state bureau is closed to a non-bank, but the private bureau is not, because it already ingests non-financial alternative data. Furnishing consented committee data earns query access back, the member wins a formal credit identity, and Halqa becomes the only source of informal-committee data in the country.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49</a:t>
            </a:r>
          </a:p>
        </p:txBody>
      </p:sp>
      <p:sp>
        <p:nvSpPr>
          <p:cNvPr id="18" name="TextBox 17"/>
          <p:cNvSpPr txBox="1"/>
          <p:nvPr/>
        </p:nvSpPr>
        <p:spPr>
          <a:xfrm>
            <a:off x="566928" y="1389888"/>
            <a:ext cx="58521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14   The three bureaus, and their limits for a non-FI facilitator</a:t>
            </a:r>
          </a:p>
        </p:txBody>
      </p:sp>
      <p:graphicFrame>
        <p:nvGraphicFramePr>
          <p:cNvPr id="19" name="Table 18"/>
          <p:cNvGraphicFramePr>
            <a:graphicFrameLocks noGrp="1"/>
          </p:cNvGraphicFramePr>
          <p:nvPr/>
        </p:nvGraphicFramePr>
        <p:xfrm>
          <a:off x="566928" y="1609344"/>
          <a:ext cx="5852159" cy="1911461"/>
        </p:xfrm>
        <a:graphic>
          <a:graphicData uri="http://schemas.openxmlformats.org/drawingml/2006/table">
            <a:tbl>
              <a:tblPr>
                <a:tableStyleId>{5C22544A-7EE6-4342-B048-85BDC9FD1C3A}</a:tableStyleId>
              </a:tblPr>
              <a:tblGrid>
                <a:gridCol w="1287475"/>
                <a:gridCol w="1287475"/>
                <a:gridCol w="3277209"/>
              </a:tblGrid>
              <a:tr h="484997">
                <a:tc>
                  <a:txBody>
                    <a:bodyPr wrap="square"/>
                    <a:lstStyle/>
                    <a:p>
                      <a:pPr algn="l"/>
                      <a:r>
                        <a:rPr sz="860" b="1">
                          <a:solidFill>
                            <a:srgbClr val="F6F1E4"/>
                          </a:solidFill>
                          <a:latin typeface="Arial"/>
                        </a:rPr>
                        <a:t>Bureau</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60" b="1">
                          <a:solidFill>
                            <a:srgbClr val="F6F1E4"/>
                          </a:solidFill>
                          <a:latin typeface="Arial"/>
                        </a:rPr>
                        <a:t>Type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60" b="1">
                          <a:solidFill>
                            <a:srgbClr val="F6F1E4"/>
                          </a:solidFill>
                          <a:latin typeface="Arial"/>
                        </a:rPr>
                        <a:t>Status and limits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75488">
                <a:tc>
                  <a:txBody>
                    <a:bodyPr wrap="square"/>
                    <a:lstStyle/>
                    <a:p>
                      <a:pPr algn="l"/>
                      <a:r>
                        <a:rPr sz="840" b="0">
                          <a:solidFill>
                            <a:srgbClr val="0E1512"/>
                          </a:solidFill>
                          <a:latin typeface="Arial"/>
                        </a:rPr>
                        <a:t>eCIB</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State (SBP)</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CLOSED. Members are regulated FIs only. The only way in is the NBFC/MFB licence we avoid.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40" b="0">
                          <a:solidFill>
                            <a:srgbClr val="0E1512"/>
                          </a:solidFill>
                          <a:latin typeface="Arial"/>
                        </a:rPr>
                        <a:t>TASDEEQ</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Private, SBP-licensed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OPEN via a bespoke subscriber contract. Ingests non-financial alt-data (telecom, utilities, insurance), so committee data likely qualifies. Scale 200 to 600.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40" b="0">
                          <a:solidFill>
                            <a:srgbClr val="0E1512"/>
                          </a:solidFill>
                          <a:latin typeface="Arial"/>
                        </a:rPr>
                        <a:t>DataCheck (Aequitas)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Private, SBP-licensed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The other licensed private bureau. Same shape, no public signup. Use it as the SECOND source so we are never single-bureau.</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4224528"/>
            <a:ext cx="5852160" cy="365760"/>
          </a:xfrm>
          <a:prstGeom prst="rect">
            <a:avLst/>
          </a:prstGeom>
          <a:noFill/>
        </p:spPr>
        <p:txBody>
          <a:bodyPr wrap="square" lIns="0" rIns="0" tIns="0" bIns="0">
            <a:spAutoFit/>
          </a:bodyPr>
          <a:lstStyle/>
          <a:p>
            <a:pPr>
              <a:lnSpc>
                <a:spcPct val="106000"/>
              </a:lnSpc>
              <a:spcAft>
                <a:spcPts val="500"/>
              </a:spcAft>
            </a:pPr>
            <a:r>
              <a:rPr sz="900" b="1">
                <a:solidFill>
                  <a:srgbClr val="D9A93C"/>
                </a:solidFill>
                <a:latin typeface="Georgia"/>
              </a:rPr>
              <a:t>|  </a:t>
            </a:r>
            <a:r>
              <a:rPr sz="900" b="1">
                <a:solidFill>
                  <a:srgbClr val="123D30"/>
                </a:solidFill>
                <a:latin typeface="Arial"/>
              </a:rPr>
              <a:t>Pull, read a score at signup with consent  </a:t>
            </a:r>
            <a:r>
              <a:rPr sz="900">
                <a:solidFill>
                  <a:srgbClr val="0E1512"/>
                </a:solidFill>
                <a:latin typeface="Arial"/>
              </a:rPr>
              <a:t>doable as a subscriber. Karandaaz, a non-bank, signed a TASDEEQ data agreement, so the precedent exists.</a:t>
            </a:r>
          </a:p>
          <a:p>
            <a:pPr>
              <a:lnSpc>
                <a:spcPct val="106000"/>
              </a:lnSpc>
              <a:spcAft>
                <a:spcPts val="500"/>
              </a:spcAft>
            </a:pPr>
            <a:r>
              <a:rPr sz="900" b="1">
                <a:solidFill>
                  <a:srgbClr val="D9A93C"/>
                </a:solidFill>
                <a:latin typeface="Georgia"/>
              </a:rPr>
              <a:t>|  </a:t>
            </a:r>
            <a:r>
              <a:rPr sz="900" b="1">
                <a:solidFill>
                  <a:srgbClr val="123D30"/>
                </a:solidFill>
                <a:latin typeface="Arial"/>
              </a:rPr>
              <a:t>Contribute, furnish committee repayment data  </a:t>
            </a:r>
            <a:r>
              <a:rPr sz="900">
                <a:solidFill>
                  <a:srgbClr val="0E1512"/>
                </a:solidFill>
                <a:latin typeface="Arial"/>
              </a:rPr>
              <a:t>likely open as an alternative-data contributor. Note the limit: furnishing DEFAULT data by a non-credit-institution may need a Federal-Government notification, while positive alt-data looks more open. Confirm which governs.</a:t>
            </a:r>
          </a:p>
          <a:p>
            <a:pPr>
              <a:lnSpc>
                <a:spcPct val="106000"/>
              </a:lnSpc>
              <a:spcAft>
                <a:spcPts val="500"/>
              </a:spcAft>
            </a:pPr>
            <a:r>
              <a:rPr sz="900" b="1">
                <a:solidFill>
                  <a:srgbClr val="D9A93C"/>
                </a:solidFill>
                <a:latin typeface="Georgia"/>
              </a:rPr>
              <a:t>|  </a:t>
            </a:r>
            <a:r>
              <a:rPr sz="900" b="1">
                <a:solidFill>
                  <a:srgbClr val="123D30"/>
                </a:solidFill>
                <a:latin typeface="Arial"/>
              </a:rPr>
              <a:t>Reciprocity  </a:t>
            </a:r>
            <a:r>
              <a:rPr sz="900">
                <a:solidFill>
                  <a:srgbClr val="0E1512"/>
                </a:solidFill>
                <a:latin typeface="Arial"/>
              </a:rPr>
              <a:t>bureaus run on it. Furnishing typically EARNS query access back, a two-way membership. Their coverage skews to the already-banked, so informal-committee data is genuinely new to them, which is our leverage.</a:t>
            </a:r>
          </a:p>
        </p:txBody>
      </p:sp>
      <p:sp>
        <p:nvSpPr>
          <p:cNvPr id="21" name="TextBox 20"/>
          <p:cNvSpPr txBox="1"/>
          <p:nvPr/>
        </p:nvSpPr>
        <p:spPr>
          <a:xfrm>
            <a:off x="6739128" y="1389888"/>
            <a:ext cx="4846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The credit-builder committee, a product people join FOR</a:t>
            </a:r>
          </a:p>
        </p:txBody>
      </p:sp>
      <p:sp>
        <p:nvSpPr>
          <p:cNvPr id="22" name="TextBox 21"/>
          <p:cNvSpPr txBox="1"/>
          <p:nvPr/>
        </p:nvSpPr>
        <p:spPr>
          <a:xfrm>
            <a:off x="6739128" y="1773936"/>
            <a:ext cx="4846320" cy="1463040"/>
          </a:xfrm>
          <a:prstGeom prst="rect">
            <a:avLst/>
          </a:prstGeom>
          <a:noFill/>
        </p:spPr>
        <p:txBody>
          <a:bodyPr wrap="square" lIns="0" rIns="0" tIns="0" bIns="0" anchor="t">
            <a:spAutoFit/>
          </a:bodyPr>
          <a:lstStyle/>
          <a:p>
            <a:pPr algn="l">
              <a:lnSpc>
                <a:spcPct val="116000"/>
              </a:lnSpc>
              <a:spcAft>
                <a:spcPts val="400"/>
              </a:spcAft>
            </a:pPr>
            <a:r>
              <a:rPr sz="950" b="0" i="0">
                <a:solidFill>
                  <a:srgbClr val="0E1512"/>
                </a:solidFill>
                <a:latin typeface="Arial"/>
              </a:rPr>
              <a:t>Once the furnishing agreement is live, a circle marketed as “join to build your credit score,” powered by TASDEEQ furnishing, turns the bureau integration into the reason a member signs up. It is the legitimate, chairman-endorsed version of “sell score access”: consented, through the regulated channel, and the member WINS. It also feeds the formal-finance on-ramp, because a thin-file member who completes clean circles now has a file.</a:t>
            </a:r>
          </a:p>
        </p:txBody>
      </p:sp>
      <p:sp>
        <p:nvSpPr>
          <p:cNvPr id="23" name="TextBox 22"/>
          <p:cNvSpPr txBox="1"/>
          <p:nvPr/>
        </p:nvSpPr>
        <p:spPr>
          <a:xfrm>
            <a:off x="6739128" y="3383280"/>
            <a:ext cx="484632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Live scaffolding today</a:t>
            </a:r>
          </a:p>
        </p:txBody>
      </p:sp>
      <p:sp>
        <p:nvSpPr>
          <p:cNvPr id="24" name="TextBox 23"/>
          <p:cNvSpPr txBox="1"/>
          <p:nvPr/>
        </p:nvSpPr>
        <p:spPr>
          <a:xfrm>
            <a:off x="6739128" y="3694176"/>
            <a:ext cx="4846320" cy="365760"/>
          </a:xfrm>
          <a:prstGeom prst="rect">
            <a:avLst/>
          </a:prstGeom>
          <a:noFill/>
        </p:spPr>
        <p:txBody>
          <a:bodyPr wrap="square" lIns="0" rIns="0" tIns="0" bIns="0">
            <a:spAutoFit/>
          </a:bodyPr>
          <a:lstStyle/>
          <a:p>
            <a:pPr>
              <a:lnSpc>
                <a:spcPct val="106000"/>
              </a:lnSpc>
              <a:spcAft>
                <a:spcPts val="500"/>
              </a:spcAft>
            </a:pPr>
            <a:r>
              <a:rPr sz="919" b="1">
                <a:solidFill>
                  <a:srgbClr val="D9A93C"/>
                </a:solidFill>
                <a:latin typeface="Georgia"/>
              </a:rPr>
              <a:t>|  </a:t>
            </a:r>
            <a:r>
              <a:rPr sz="919" b="1">
                <a:solidFill>
                  <a:srgbClr val="123D30"/>
                </a:solidFill>
                <a:latin typeface="Arial"/>
              </a:rPr>
              <a:t>The undertaking already carries bureau consent  </a:t>
            </a:r>
            <a:r>
              <a:rPr sz="919">
                <a:solidFill>
                  <a:srgbClr val="0E1512"/>
                </a:solidFill>
                <a:latin typeface="Arial"/>
              </a:rPr>
              <a:t>TASDEEQ / DataCheck / eCIB consent plus a delegated credit-check clause.</a:t>
            </a:r>
          </a:p>
          <a:p>
            <a:pPr>
              <a:lnSpc>
                <a:spcPct val="106000"/>
              </a:lnSpc>
              <a:spcAft>
                <a:spcPts val="500"/>
              </a:spcAft>
            </a:pPr>
            <a:r>
              <a:rPr sz="919" b="1">
                <a:solidFill>
                  <a:srgbClr val="D9A93C"/>
                </a:solidFill>
                <a:latin typeface="Georgia"/>
              </a:rPr>
              <a:t>|  </a:t>
            </a:r>
            <a:r>
              <a:rPr sz="919" b="1">
                <a:solidFill>
                  <a:srgbClr val="123D30"/>
                </a:solidFill>
                <a:latin typeface="Arial"/>
              </a:rPr>
              <a:t>A bureau-impact audit queue is live  </a:t>
            </a:r>
            <a:r>
              <a:rPr sz="919">
                <a:solidFill>
                  <a:srgbClr val="0E1512"/>
                </a:solidFill>
                <a:latin typeface="Arial"/>
              </a:rPr>
              <a:t>a BUREAU_IMPACT_QUEUED entry is written on a miss or default, ready to feed the export the day the furnishing agreement is signed.</a:t>
            </a:r>
          </a:p>
          <a:p>
            <a:pPr>
              <a:lnSpc>
                <a:spcPct val="106000"/>
              </a:lnSpc>
              <a:spcAft>
                <a:spcPts val="500"/>
              </a:spcAft>
            </a:pPr>
            <a:r>
              <a:rPr sz="919" b="1">
                <a:solidFill>
                  <a:srgbClr val="D9A93C"/>
                </a:solidFill>
                <a:latin typeface="Georgia"/>
              </a:rPr>
              <a:t>|  </a:t>
            </a:r>
            <a:r>
              <a:rPr sz="919" b="1">
                <a:solidFill>
                  <a:srgbClr val="123D30"/>
                </a:solidFill>
                <a:latin typeface="Arial"/>
              </a:rPr>
              <a:t>To confirm with counsel  </a:t>
            </a:r>
            <a:r>
              <a:rPr sz="919">
                <a:solidFill>
                  <a:srgbClr val="0E1512"/>
                </a:solidFill>
                <a:latin typeface="Arial"/>
              </a:rPr>
              <a:t>that committee data qualifies under contributor terms, the exact consent wording the Act mandates, and whether furnishing default vs positive-only data changes the requirement.</a:t>
            </a:r>
          </a:p>
        </p:txBody>
      </p:sp>
      <p:sp>
        <p:nvSpPr>
          <p:cNvPr id="25" name="TextBox 24"/>
          <p:cNvSpPr txBox="1"/>
          <p:nvPr/>
        </p:nvSpPr>
        <p:spPr>
          <a:xfrm>
            <a:off x="566928" y="5760720"/>
            <a:ext cx="58521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Stage-tag every bureau claim as PARTNER AGREEMENT (the pull-only subscriber path) or the contributor path, never FUNCTIONAL. The furnishing does not require the bank keystone; the alternative-data-contributor route is the clean one.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CREDIT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credit report, on the phone</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50</a:t>
            </a:r>
          </a:p>
        </p:txBody>
      </p:sp>
      <p:sp>
        <p:nvSpPr>
          <p:cNvPr id="17" name="Rectangle 16"/>
          <p:cNvSpPr/>
          <p:nvPr/>
        </p:nvSpPr>
        <p:spPr>
          <a:xfrm>
            <a:off x="649224" y="1362456"/>
            <a:ext cx="2285761" cy="4818888"/>
          </a:xfrm>
          <a:prstGeom prst="rect">
            <a:avLst/>
          </a:prstGeom>
          <a:solidFill>
            <a:srgbClr val="123D30"/>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02-credit.png"/>
          <p:cNvPicPr>
            <a:picLocks noChangeAspect="1"/>
          </p:cNvPicPr>
          <p:nvPr/>
        </p:nvPicPr>
        <p:blipFill>
          <a:blip r:embed="rId2"/>
          <a:stretch>
            <a:fillRect/>
          </a:stretch>
        </p:blipFill>
        <p:spPr>
          <a:xfrm>
            <a:off x="704088" y="1417320"/>
            <a:ext cx="2176033" cy="4709160"/>
          </a:xfrm>
          <a:prstGeom prst="rect">
            <a:avLst/>
          </a:prstGeom>
        </p:spPr>
      </p:pic>
      <p:sp>
        <p:nvSpPr>
          <p:cNvPr id="19" name="TextBox 18"/>
          <p:cNvSpPr txBox="1"/>
          <p:nvPr/>
        </p:nvSpPr>
        <p:spPr>
          <a:xfrm>
            <a:off x="704088" y="6236208"/>
            <a:ext cx="2176033" cy="274320"/>
          </a:xfrm>
          <a:prstGeom prst="rect">
            <a:avLst/>
          </a:prstGeom>
          <a:noFill/>
        </p:spPr>
        <p:txBody>
          <a:bodyPr wrap="square" lIns="0" rIns="0" tIns="0" bIns="0" anchor="t">
            <a:spAutoFit/>
          </a:bodyPr>
          <a:lstStyle/>
          <a:p>
            <a:pPr algn="l">
              <a:lnSpc>
                <a:spcPct val="100000"/>
              </a:lnSpc>
              <a:spcAft>
                <a:spcPts val="400"/>
              </a:spcAft>
            </a:pPr>
            <a:r>
              <a:rPr sz="819" b="0" i="1">
                <a:solidFill>
                  <a:srgbClr val="4C574F"/>
                </a:solidFill>
                <a:latin typeface="Arial"/>
              </a:rPr>
              <a:t>Live production build, halqa-seven.vercel.app</a:t>
            </a:r>
          </a:p>
        </p:txBody>
      </p:sp>
      <p:sp>
        <p:nvSpPr>
          <p:cNvPr id="20" name="TextBox 19"/>
          <p:cNvSpPr txBox="1"/>
          <p:nvPr/>
        </p:nvSpPr>
        <p:spPr>
          <a:xfrm>
            <a:off x="3383041" y="1481328"/>
            <a:ext cx="8241726"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A settled record, not an assertion</a:t>
            </a:r>
          </a:p>
        </p:txBody>
      </p:sp>
      <p:sp>
        <p:nvSpPr>
          <p:cNvPr id="21" name="Rectangle 20"/>
          <p:cNvSpPr/>
          <p:nvPr/>
        </p:nvSpPr>
        <p:spPr>
          <a:xfrm>
            <a:off x="3383041" y="1938528"/>
            <a:ext cx="45720" cy="182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041" y="1975104"/>
            <a:ext cx="8241726" cy="365760"/>
          </a:xfrm>
          <a:prstGeom prst="rect">
            <a:avLst/>
          </a:prstGeom>
          <a:noFill/>
        </p:spPr>
        <p:txBody>
          <a:bodyPr wrap="square" lIns="0" rIns="0" tIns="0" bIns="0">
            <a:spAutoFit/>
          </a:bodyPr>
          <a:lstStyle/>
          <a:p>
            <a:pPr>
              <a:lnSpc>
                <a:spcPct val="112000"/>
              </a:lnSpc>
              <a:spcAft>
                <a:spcPts val="800"/>
              </a:spcAft>
            </a:pPr>
            <a:r>
              <a:rPr sz="1140" b="1">
                <a:solidFill>
                  <a:srgbClr val="D9A93C"/>
                </a:solidFill>
                <a:latin typeface="Georgia"/>
              </a:rPr>
              <a:t>|  </a:t>
            </a:r>
            <a:r>
              <a:rPr sz="1140" b="1">
                <a:solidFill>
                  <a:srgbClr val="123D30"/>
                </a:solidFill>
                <a:latin typeface="Arial"/>
              </a:rPr>
              <a:t>The reliability report  </a:t>
            </a:r>
            <a:r>
              <a:rPr sz="1140">
                <a:solidFill>
                  <a:srgbClr val="0E1512"/>
                </a:solidFill>
                <a:latin typeface="Arial"/>
              </a:rPr>
              <a:t>804, band Excellent, built from the real committee record, the same score circles use to rank turn order.</a:t>
            </a:r>
          </a:p>
          <a:p>
            <a:pPr>
              <a:lnSpc>
                <a:spcPct val="112000"/>
              </a:lnSpc>
              <a:spcAft>
                <a:spcPts val="800"/>
              </a:spcAft>
            </a:pPr>
            <a:r>
              <a:rPr sz="1140" b="1">
                <a:solidFill>
                  <a:srgbClr val="D9A93C"/>
                </a:solidFill>
                <a:latin typeface="Georgia"/>
              </a:rPr>
              <a:t>|  </a:t>
            </a:r>
            <a:r>
              <a:rPr sz="1140" b="1">
                <a:solidFill>
                  <a:srgbClr val="123D30"/>
                </a:solidFill>
                <a:latin typeface="Arial"/>
              </a:rPr>
              <a:t>On-time rate 100 per cent, 7 recorded installments, hosting unlocked  </a:t>
            </a:r>
            <a:r>
              <a:rPr sz="1140">
                <a:solidFill>
                  <a:srgbClr val="0E1512"/>
                </a:solidFill>
                <a:latin typeface="Arial"/>
              </a:rPr>
              <a:t>the signal a khata app can never produce, because it settles rather than asserts.</a:t>
            </a:r>
          </a:p>
          <a:p>
            <a:pPr>
              <a:lnSpc>
                <a:spcPct val="112000"/>
              </a:lnSpc>
              <a:spcAft>
                <a:spcPts val="800"/>
              </a:spcAft>
            </a:pPr>
            <a:r>
              <a:rPr sz="1140" b="1">
                <a:solidFill>
                  <a:srgbClr val="D9A93C"/>
                </a:solidFill>
                <a:latin typeface="Georgia"/>
              </a:rPr>
              <a:t>|  </a:t>
            </a:r>
            <a:r>
              <a:rPr sz="1140" b="1">
                <a:solidFill>
                  <a:srgbClr val="123D30"/>
                </a:solidFill>
                <a:latin typeface="Arial"/>
              </a:rPr>
              <a:t>Payment history  </a:t>
            </a:r>
            <a:r>
              <a:rPr sz="1140">
                <a:solidFill>
                  <a:srgbClr val="0E1512"/>
                </a:solidFill>
                <a:latin typeface="Arial"/>
              </a:rPr>
              <a:t>on time, late, missed, pending. This row is what a host sees when they rank turns.</a:t>
            </a:r>
          </a:p>
          <a:p>
            <a:pPr>
              <a:lnSpc>
                <a:spcPct val="112000"/>
              </a:lnSpc>
              <a:spcAft>
                <a:spcPts val="800"/>
              </a:spcAft>
            </a:pPr>
            <a:r>
              <a:rPr sz="1140" b="1">
                <a:solidFill>
                  <a:srgbClr val="D9A93C"/>
                </a:solidFill>
                <a:latin typeface="Georgia"/>
              </a:rPr>
              <a:t>|  </a:t>
            </a:r>
            <a:r>
              <a:rPr sz="1140" b="1">
                <a:solidFill>
                  <a:srgbClr val="123D30"/>
                </a:solidFill>
                <a:latin typeface="Arial"/>
              </a:rPr>
              <a:t>Score movement  </a:t>
            </a:r>
            <a:r>
              <a:rPr sz="1140">
                <a:solidFill>
                  <a:srgbClr val="0E1512"/>
                </a:solidFill>
                <a:latin typeface="Arial"/>
              </a:rPr>
              <a:t>every bar is a credit event: payments, completions, penalties, each with its reason.</a:t>
            </a:r>
          </a:p>
          <a:p>
            <a:pPr>
              <a:lnSpc>
                <a:spcPct val="112000"/>
              </a:lnSpc>
              <a:spcAft>
                <a:spcPts val="800"/>
              </a:spcAft>
            </a:pPr>
            <a:r>
              <a:rPr sz="1140" b="1">
                <a:solidFill>
                  <a:srgbClr val="D9A93C"/>
                </a:solidFill>
                <a:latin typeface="Georgia"/>
              </a:rPr>
              <a:t>|  </a:t>
            </a:r>
            <a:r>
              <a:rPr sz="1140" b="1">
                <a:solidFill>
                  <a:srgbClr val="123D30"/>
                </a:solidFill>
                <a:latin typeface="Arial"/>
              </a:rPr>
              <a:t>The Credit Passport  </a:t>
            </a:r>
            <a:r>
              <a:rPr sz="1140">
                <a:solidFill>
                  <a:srgbClr val="0E1512"/>
                </a:solidFill>
                <a:latin typeface="Arial"/>
              </a:rPr>
              <a:t>the same record, signed and verifiable without a Halqa account.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REWARDS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Rewards, and how they fund themselves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reward system is attached to on-time payment and to nothing else, because that one behaviour moves expected loss, the price, the score and the value of the data asset. And the ladder is paid for by someone else.</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51</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partner ladder, by streak</a:t>
            </a:r>
          </a:p>
        </p:txBody>
      </p:sp>
      <p:graphicFrame>
        <p:nvGraphicFramePr>
          <p:cNvPr id="19" name="Table 18"/>
          <p:cNvGraphicFramePr>
            <a:graphicFrameLocks noGrp="1"/>
          </p:cNvGraphicFramePr>
          <p:nvPr/>
        </p:nvGraphicFramePr>
        <p:xfrm>
          <a:off x="566928" y="1719072"/>
          <a:ext cx="5486400" cy="2310871"/>
        </p:xfrm>
        <a:graphic>
          <a:graphicData uri="http://schemas.openxmlformats.org/drawingml/2006/table">
            <a:tbl>
              <a:tblPr>
                <a:tableStyleId>{5C22544A-7EE6-4342-B048-85BDC9FD1C3A}</a:tableStyleId>
              </a:tblPr>
              <a:tblGrid>
                <a:gridCol w="1316736"/>
                <a:gridCol w="4169664"/>
              </a:tblGrid>
              <a:tr h="335767">
                <a:tc>
                  <a:txBody>
                    <a:bodyPr wrap="square"/>
                    <a:lstStyle/>
                    <a:p>
                      <a:pPr algn="l"/>
                      <a:r>
                        <a:rPr sz="900" b="1">
                          <a:solidFill>
                            <a:srgbClr val="F6F1E4"/>
                          </a:solidFill>
                          <a:latin typeface="Arial"/>
                        </a:rPr>
                        <a:t>Clean rounds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Reward (funded by the retailer)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29184">
                <a:tc>
                  <a:txBody>
                    <a:bodyPr wrap="square"/>
                    <a:lstStyle/>
                    <a:p>
                      <a:pPr algn="l"/>
                      <a:r>
                        <a:rPr sz="880" b="0">
                          <a:solidFill>
                            <a:srgbClr val="0E1512"/>
                          </a:solidFill>
                          <a:latin typeface="Arial"/>
                        </a:rPr>
                        <a:t>3</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Five per cent with a partner retailer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Ten per cent, plus delivery waived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12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Twelve per cent, or one month of Halqa charges waived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18</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Category offer, or a placement fee waived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24</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Fifteen per cent, or an early-position fee waived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36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Top tier, or early-position fee + a month of charges waived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3913632"/>
            <a:ext cx="5486400" cy="2011680"/>
          </a:xfrm>
          <a:prstGeom prst="rect">
            <a:avLst/>
          </a:prstGeom>
          <a:noFill/>
        </p:spPr>
        <p:txBody>
          <a:bodyPr wrap="square" lIns="0" rIns="0" tIns="0" bIns="0" anchor="t">
            <a:spAutoFit/>
          </a:bodyPr>
          <a:lstStyle/>
          <a:p>
            <a:pPr algn="l">
              <a:lnSpc>
                <a:spcPct val="116000"/>
              </a:lnSpc>
              <a:spcAft>
                <a:spcPts val="400"/>
              </a:spcAft>
            </a:pPr>
            <a:r>
              <a:rPr sz="950" b="0" i="0">
                <a:solidFill>
                  <a:srgbClr val="0E1512"/>
                </a:solidFill>
                <a:latin typeface="Arial"/>
              </a:rPr>
              <a:t>Each tier’s reward is the RETAILER’s own promotional discount, offered to an audience qualified by a year or more of demonstrated payment behaviour, customer-acquisition spend for them, reaching a segment they cannot otherwise identify, and Halqa earns an affiliate commission on the resulting order. So the reward is the retailer’s discount and the revenue is the retailer’s commission: the scheme funds itself and grows with members, not with circles. The redemption menu also lets points buy Halqa-side waivers (early-seat fee, slot fee, a month’s cover premium, a marketplace commission, a waitlist priority token that jumps the QUEUE, never the seat order), but never cash.</a:t>
            </a:r>
          </a:p>
        </p:txBody>
      </p:sp>
      <p:sp>
        <p:nvSpPr>
          <p:cNvPr id="21" name="TextBox 20"/>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organiser incentive, value, never depth</a:t>
            </a:r>
          </a:p>
        </p:txBody>
      </p:sp>
      <p:sp>
        <p:nvSpPr>
          <p:cNvPr id="22" name="TextBox 21"/>
          <p:cNvSpPr txBox="1"/>
          <p:nvPr/>
        </p:nvSpPr>
        <p:spPr>
          <a:xfrm>
            <a:off x="6419088" y="1737360"/>
            <a:ext cx="5166360" cy="365760"/>
          </a:xfrm>
          <a:prstGeom prst="rect">
            <a:avLst/>
          </a:prstGeom>
          <a:noFill/>
        </p:spPr>
        <p:txBody>
          <a:bodyPr wrap="square" lIns="0" rIns="0" tIns="0" bIns="0">
            <a:spAutoFit/>
          </a:bodyPr>
          <a:lstStyle/>
          <a:p>
            <a:pPr>
              <a:lnSpc>
                <a:spcPct val="108000"/>
              </a:lnSpc>
              <a:spcAft>
                <a:spcPts val="600"/>
              </a:spcAft>
            </a:pPr>
            <a:r>
              <a:rPr sz="930" b="1">
                <a:solidFill>
                  <a:srgbClr val="D9A93C"/>
                </a:solidFill>
                <a:latin typeface="Georgia"/>
              </a:rPr>
              <a:t>|  </a:t>
            </a:r>
            <a:r>
              <a:rPr sz="930" b="1">
                <a:solidFill>
                  <a:srgbClr val="123D30"/>
                </a:solidFill>
                <a:latin typeface="Arial"/>
              </a:rPr>
              <a:t>Reward the group leader on VALUE, not recruitment depth  </a:t>
            </a:r>
            <a:r>
              <a:rPr sz="930">
                <a:solidFill>
                  <a:srgbClr val="0E1512"/>
                </a:solidFill>
                <a:latin typeface="Arial"/>
              </a:rPr>
              <a:t>recruitment-chain compensation is an illegal pyramid, FIA and SECP prosecute. Single-level only, NEVER multi-level.</a:t>
            </a:r>
          </a:p>
          <a:p>
            <a:pPr>
              <a:lnSpc>
                <a:spcPct val="108000"/>
              </a:lnSpc>
              <a:spcAft>
                <a:spcPts val="600"/>
              </a:spcAft>
            </a:pPr>
            <a:r>
              <a:rPr sz="930" b="1">
                <a:solidFill>
                  <a:srgbClr val="D9A93C"/>
                </a:solidFill>
                <a:latin typeface="Georgia"/>
              </a:rPr>
              <a:t>|  </a:t>
            </a:r>
            <a:r>
              <a:rPr sz="930" b="1">
                <a:solidFill>
                  <a:srgbClr val="123D30"/>
                </a:solidFill>
                <a:latin typeface="Arial"/>
              </a:rPr>
              <a:t>Mechanisms  </a:t>
            </a:r>
            <a:r>
              <a:rPr sz="930">
                <a:solidFill>
                  <a:srgbClr val="0E1512"/>
                </a:solidFill>
                <a:latin typeface="Arial"/>
              </a:rPr>
              <a:t>a completion bounty per clean-finished circle, a single-level revenue share on their circles’ fee revenue, a tiered “Verified Organiser” status (reputation is their real currency), free Halqa-fill and fee waivers, accelerated score, first access to new products.</a:t>
            </a:r>
          </a:p>
          <a:p>
            <a:pPr>
              <a:lnSpc>
                <a:spcPct val="108000"/>
              </a:lnSpc>
              <a:spcAft>
                <a:spcPts val="600"/>
              </a:spcAft>
            </a:pPr>
            <a:r>
              <a:rPr sz="930" b="1">
                <a:solidFill>
                  <a:srgbClr val="D9A93C"/>
                </a:solidFill>
                <a:latin typeface="Georgia"/>
              </a:rPr>
              <a:t>|  </a:t>
            </a:r>
            <a:r>
              <a:rPr sz="930" b="1">
                <a:solidFill>
                  <a:srgbClr val="123D30"/>
                </a:solidFill>
                <a:latin typeface="Arial"/>
              </a:rPr>
              <a:t>Why the organiser is the engine  </a:t>
            </a:r>
            <a:r>
              <a:rPr sz="930">
                <a:solidFill>
                  <a:srgbClr val="0E1512"/>
                </a:solidFill>
                <a:latin typeface="Arial"/>
              </a:rPr>
              <a:t>every case in the archive that scaled did it through agents (Mapan’s village leaders on commission, Money Fellows’ circle leaders). The member → organiser conversion is the only endogenous growth loop.</a:t>
            </a:r>
          </a:p>
          <a:p>
            <a:pPr>
              <a:lnSpc>
                <a:spcPct val="108000"/>
              </a:lnSpc>
              <a:spcAft>
                <a:spcPts val="600"/>
              </a:spcAft>
            </a:pPr>
            <a:r>
              <a:rPr sz="930" b="1">
                <a:solidFill>
                  <a:srgbClr val="D9A93C"/>
                </a:solidFill>
                <a:latin typeface="Georgia"/>
              </a:rPr>
              <a:t>|  </a:t>
            </a:r>
            <a:r>
              <a:rPr sz="930" b="1">
                <a:solidFill>
                  <a:srgbClr val="123D30"/>
                </a:solidFill>
                <a:latin typeface="Arial"/>
              </a:rPr>
              <a:t>Referral (live)  </a:t>
            </a:r>
            <a:r>
              <a:rPr sz="930">
                <a:solidFill>
                  <a:srgbClr val="0E1512"/>
                </a:solidFill>
                <a:latin typeface="Arial"/>
              </a:rPr>
              <a:t>User.referredById, Rs 250 to the referrer on the referred member’s first completion, paid on VALUE (a completion), not on signup.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REWARDS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Rewards, on the phone</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52</a:t>
            </a:r>
          </a:p>
        </p:txBody>
      </p:sp>
      <p:sp>
        <p:nvSpPr>
          <p:cNvPr id="17" name="Rectangle 16"/>
          <p:cNvSpPr/>
          <p:nvPr/>
        </p:nvSpPr>
        <p:spPr>
          <a:xfrm>
            <a:off x="649224" y="1362456"/>
            <a:ext cx="2285761" cy="4818888"/>
          </a:xfrm>
          <a:prstGeom prst="rect">
            <a:avLst/>
          </a:prstGeom>
          <a:solidFill>
            <a:srgbClr val="123D30"/>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04-rewards.png"/>
          <p:cNvPicPr>
            <a:picLocks noChangeAspect="1"/>
          </p:cNvPicPr>
          <p:nvPr/>
        </p:nvPicPr>
        <p:blipFill>
          <a:blip r:embed="rId2"/>
          <a:stretch>
            <a:fillRect/>
          </a:stretch>
        </p:blipFill>
        <p:spPr>
          <a:xfrm>
            <a:off x="704088" y="1417320"/>
            <a:ext cx="2176033" cy="4709160"/>
          </a:xfrm>
          <a:prstGeom prst="rect">
            <a:avLst/>
          </a:prstGeom>
        </p:spPr>
      </p:pic>
      <p:sp>
        <p:nvSpPr>
          <p:cNvPr id="19" name="TextBox 18"/>
          <p:cNvSpPr txBox="1"/>
          <p:nvPr/>
        </p:nvSpPr>
        <p:spPr>
          <a:xfrm>
            <a:off x="704088" y="6236208"/>
            <a:ext cx="2176033" cy="274320"/>
          </a:xfrm>
          <a:prstGeom prst="rect">
            <a:avLst/>
          </a:prstGeom>
          <a:noFill/>
        </p:spPr>
        <p:txBody>
          <a:bodyPr wrap="square" lIns="0" rIns="0" tIns="0" bIns="0" anchor="t">
            <a:spAutoFit/>
          </a:bodyPr>
          <a:lstStyle/>
          <a:p>
            <a:pPr algn="l">
              <a:lnSpc>
                <a:spcPct val="100000"/>
              </a:lnSpc>
              <a:spcAft>
                <a:spcPts val="400"/>
              </a:spcAft>
            </a:pPr>
            <a:r>
              <a:rPr sz="819" b="0" i="1">
                <a:solidFill>
                  <a:srgbClr val="4C574F"/>
                </a:solidFill>
                <a:latin typeface="Arial"/>
              </a:rPr>
              <a:t>Live production build, halqa-seven.vercel.app</a:t>
            </a:r>
          </a:p>
        </p:txBody>
      </p:sp>
      <p:sp>
        <p:nvSpPr>
          <p:cNvPr id="20" name="TextBox 19"/>
          <p:cNvSpPr txBox="1"/>
          <p:nvPr/>
        </p:nvSpPr>
        <p:spPr>
          <a:xfrm>
            <a:off x="3383041" y="1481328"/>
            <a:ext cx="8241726"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One behaviour, rewarded, never cash</a:t>
            </a:r>
          </a:p>
        </p:txBody>
      </p:sp>
      <p:sp>
        <p:nvSpPr>
          <p:cNvPr id="21" name="Rectangle 20"/>
          <p:cNvSpPr/>
          <p:nvPr/>
        </p:nvSpPr>
        <p:spPr>
          <a:xfrm>
            <a:off x="3383041" y="1938528"/>
            <a:ext cx="45720" cy="182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041" y="1975104"/>
            <a:ext cx="8241726" cy="365760"/>
          </a:xfrm>
          <a:prstGeom prst="rect">
            <a:avLst/>
          </a:prstGeom>
          <a:noFill/>
        </p:spPr>
        <p:txBody>
          <a:bodyPr wrap="square" lIns="0" rIns="0" tIns="0" bIns="0">
            <a:spAutoFit/>
          </a:bodyPr>
          <a:lstStyle/>
          <a:p>
            <a:pPr>
              <a:lnSpc>
                <a:spcPct val="112000"/>
              </a:lnSpc>
              <a:spcAft>
                <a:spcPts val="800"/>
              </a:spcAft>
            </a:pPr>
            <a:r>
              <a:rPr sz="1140" b="1">
                <a:solidFill>
                  <a:srgbClr val="D9A93C"/>
                </a:solidFill>
                <a:latin typeface="Georgia"/>
              </a:rPr>
              <a:t>|  </a:t>
            </a:r>
            <a:r>
              <a:rPr sz="1140" b="1">
                <a:solidFill>
                  <a:srgbClr val="123D30"/>
                </a:solidFill>
                <a:latin typeface="Arial"/>
              </a:rPr>
              <a:t>Payment streak  </a:t>
            </a:r>
            <a:r>
              <a:rPr sz="1140">
                <a:solidFill>
                  <a:srgbClr val="0E1512"/>
                </a:solidFill>
                <a:latin typeface="Arial"/>
              </a:rPr>
              <a:t>4 consecutive installments paid on time, the single behaviour the whole model rests on.</a:t>
            </a:r>
          </a:p>
          <a:p>
            <a:pPr>
              <a:lnSpc>
                <a:spcPct val="112000"/>
              </a:lnSpc>
              <a:spcAft>
                <a:spcPts val="800"/>
              </a:spcAft>
            </a:pPr>
            <a:r>
              <a:rPr sz="1140" b="1">
                <a:solidFill>
                  <a:srgbClr val="D9A93C"/>
                </a:solidFill>
                <a:latin typeface="Georgia"/>
              </a:rPr>
              <a:t>|  </a:t>
            </a:r>
            <a:r>
              <a:rPr sz="1140" b="1">
                <a:solidFill>
                  <a:srgbClr val="123D30"/>
                </a:solidFill>
                <a:latin typeface="Arial"/>
              </a:rPr>
              <a:t>Tier 3 unlocked, two to go  </a:t>
            </a:r>
            <a:r>
              <a:rPr sz="1140">
                <a:solidFill>
                  <a:srgbClr val="0E1512"/>
                </a:solidFill>
                <a:latin typeface="Arial"/>
              </a:rPr>
              <a:t>the six-tier partner ladder (3, 6, 12, 18, 24, 36 clean rounds), each tier a retailer-funded discount.</a:t>
            </a:r>
          </a:p>
          <a:p>
            <a:pPr>
              <a:lnSpc>
                <a:spcPct val="112000"/>
              </a:lnSpc>
              <a:spcAft>
                <a:spcPts val="800"/>
              </a:spcAft>
            </a:pPr>
            <a:r>
              <a:rPr sz="1140" b="1">
                <a:solidFill>
                  <a:srgbClr val="D9A93C"/>
                </a:solidFill>
                <a:latin typeface="Georgia"/>
              </a:rPr>
              <a:t>|  </a:t>
            </a:r>
            <a:r>
              <a:rPr sz="1140" b="1">
                <a:solidFill>
                  <a:srgbClr val="123D30"/>
                </a:solidFill>
                <a:latin typeface="Arial"/>
              </a:rPr>
              <a:t>Points balance  </a:t>
            </a:r>
            <a:r>
              <a:rPr sz="1140">
                <a:solidFill>
                  <a:srgbClr val="0E1512"/>
                </a:solidFill>
                <a:latin typeface="Arial"/>
              </a:rPr>
              <a:t>buys fee waivers. Points are a loyalty currency, kept strictly apart from the score, and never redeemable for cash.</a:t>
            </a:r>
          </a:p>
          <a:p>
            <a:pPr>
              <a:lnSpc>
                <a:spcPct val="112000"/>
              </a:lnSpc>
              <a:spcAft>
                <a:spcPts val="800"/>
              </a:spcAft>
            </a:pPr>
            <a:r>
              <a:rPr sz="1140" b="1">
                <a:solidFill>
                  <a:srgbClr val="D9A93C"/>
                </a:solidFill>
                <a:latin typeface="Georgia"/>
              </a:rPr>
              <a:t>|  </a:t>
            </a:r>
            <a:r>
              <a:rPr sz="1140" b="1">
                <a:solidFill>
                  <a:srgbClr val="123D30"/>
                </a:solidFill>
                <a:latin typeface="Arial"/>
              </a:rPr>
              <a:t>Next unlock in 6 rounds  </a:t>
            </a:r>
            <a:r>
              <a:rPr sz="1140">
                <a:solidFill>
                  <a:srgbClr val="0E1512"/>
                </a:solidFill>
                <a:latin typeface="Arial"/>
              </a:rPr>
              <a:t>the streak multiplier adds 5 per cent per clean round on points, capped at plus 50 per cent.</a:t>
            </a:r>
          </a:p>
          <a:p>
            <a:pPr>
              <a:lnSpc>
                <a:spcPct val="112000"/>
              </a:lnSpc>
              <a:spcAft>
                <a:spcPts val="800"/>
              </a:spcAft>
            </a:pPr>
            <a:r>
              <a:rPr sz="1140" b="1">
                <a:solidFill>
                  <a:srgbClr val="D9A93C"/>
                </a:solidFill>
                <a:latin typeface="Georgia"/>
              </a:rPr>
              <a:t>|  </a:t>
            </a:r>
            <a:r>
              <a:rPr sz="1140" b="1">
                <a:solidFill>
                  <a:srgbClr val="123D30"/>
                </a:solidFill>
                <a:latin typeface="Arial"/>
              </a:rPr>
              <a:t>Funded by someone else  </a:t>
            </a:r>
            <a:r>
              <a:rPr sz="1140">
                <a:solidFill>
                  <a:srgbClr val="0E1512"/>
                </a:solidFill>
                <a:latin typeface="Arial"/>
              </a:rPr>
              <a:t>the reward is the retailer promotional discount; Halqa earns an affiliate commission, so the scheme funds itself.</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PARTNERS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institutions to approach</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Akif named CDC, a trustee and an online AMC. This is the complete map. Every entity needs its licence status verified before it is named in a document that leaves the building; each is a commercial relationship, never an equity or custody dependency.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53</a:t>
            </a:r>
          </a:p>
        </p:txBody>
      </p:sp>
      <p:sp>
        <p:nvSpPr>
          <p:cNvPr id="18" name="TextBox 17"/>
          <p:cNvSpPr txBox="1"/>
          <p:nvPr/>
        </p:nvSpPr>
        <p:spPr>
          <a:xfrm>
            <a:off x="566928" y="138988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15   Who does what, and why them</a:t>
            </a:r>
          </a:p>
        </p:txBody>
      </p:sp>
      <p:graphicFrame>
        <p:nvGraphicFramePr>
          <p:cNvPr id="19" name="Table 18"/>
          <p:cNvGraphicFramePr>
            <a:graphicFrameLocks noGrp="1"/>
          </p:cNvGraphicFramePr>
          <p:nvPr/>
        </p:nvGraphicFramePr>
        <p:xfrm>
          <a:off x="566928" y="1609344"/>
          <a:ext cx="11057837" cy="3813413"/>
        </p:xfrm>
        <a:graphic>
          <a:graphicData uri="http://schemas.openxmlformats.org/drawingml/2006/table">
            <a:tbl>
              <a:tblPr>
                <a:tableStyleId>{5C22544A-7EE6-4342-B048-85BDC9FD1C3A}</a:tableStyleId>
              </a:tblPr>
              <a:tblGrid>
                <a:gridCol w="3317351"/>
                <a:gridCol w="3317351"/>
                <a:gridCol w="4423135"/>
              </a:tblGrid>
              <a:tr h="484997">
                <a:tc>
                  <a:txBody>
                    <a:bodyPr wrap="square"/>
                    <a:lstStyle/>
                    <a:p>
                      <a:pPr algn="l"/>
                      <a:r>
                        <a:rPr sz="880" b="1">
                          <a:solidFill>
                            <a:srgbClr val="F6F1E4"/>
                          </a:solidFill>
                          <a:latin typeface="Arial"/>
                        </a:rPr>
                        <a:t>Need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Candidates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Note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75488">
                <a:tc>
                  <a:txBody>
                    <a:bodyPr wrap="square"/>
                    <a:lstStyle/>
                    <a:p>
                      <a:pPr algn="l"/>
                      <a:r>
                        <a:rPr sz="860" b="0">
                          <a:solidFill>
                            <a:srgbClr val="0E1512"/>
                          </a:solidFill>
                          <a:latin typeface="Arial"/>
                        </a:rPr>
                        <a:t>Trustee / custodian AND security trustee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CDC · DCC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CDC (Central Depository Company) is the standard trustee for every Pakistani mutual fund; it holds the fund assets and the retained asset titles, with units in the member’s OWN name. DCC (Digital Custodian Company) is the SECP-licensed second source. ONE relationship, two products; qualify both, single-sourcing is a commercial risk.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60" b="0">
                          <a:solidFill>
                            <a:srgbClr val="0E1512"/>
                          </a:solidFill>
                          <a:latin typeface="Arial"/>
                        </a:rPr>
                        <a:t>Digital AMC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Mahaana Wealth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Mahaana, Pakistan’s first fully digital SECP-licensed AMC, almost certainly the one Akif meant. It MANAGES the fund under its own licence; the assets sit with the trustee, so Halqa only distributes and records. Al Meezan is the established alternative.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60" b="0">
                          <a:solidFill>
                            <a:srgbClr val="0E1512"/>
                          </a:solidFill>
                          <a:latin typeface="Arial"/>
                        </a:rPr>
                        <a:t>Islamic money-market funds (daily liquidity)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Al Meezan (Rozana Amdani) · NBP · UBL Al-Ameen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Daily-dividend, built for the pull-on-the-9th, pay-on-the-10th cadence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60" b="0">
                          <a:solidFill>
                            <a:srgbClr val="0E1512"/>
                          </a:solidFill>
                          <a:latin typeface="Arial"/>
                        </a:rPr>
                        <a:t>Ijarah / installment title-holder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Orix · First Habib · Allied Rental modarabas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Can hold title and write ijarah without Halqa holding any licence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60" b="0">
                          <a:solidFill>
                            <a:srgbClr val="0E1512"/>
                          </a:solidFill>
                          <a:latin typeface="Arial"/>
                        </a:rPr>
                        <a:t>Takaful, cover reinsurance + credit-life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Pak-Qatar · Salaam · Jubilee · EFU</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Aggregate cover above the attachment point, plus credit-life at 0.2-0.5% of exposure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60" b="0">
                          <a:solidFill>
                            <a:srgbClr val="0E1512"/>
                          </a:solidFill>
                          <a:latin typeface="Arial"/>
                        </a:rPr>
                        <a:t>Credit bureau</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TASDEEQ · DataCheck</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Reads via a direct subscriber agreement; no FI partner required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75488">
                <a:tc>
                  <a:txBody>
                    <a:bodyPr wrap="square"/>
                    <a:lstStyle/>
                    <a:p>
                      <a:pPr algn="l"/>
                      <a:r>
                        <a:rPr sz="860" b="0">
                          <a:solidFill>
                            <a:srgbClr val="0E1512"/>
                          </a:solidFill>
                          <a:latin typeface="Arial"/>
                        </a:rPr>
                        <a:t>Identity / Rails / Funding / Regulator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NADRA (Nishan) · 1LINK/PayFast/Safepay · Karandaaz · SECP Sandbox</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NADRA is the long pole, start now. Karandaaz already funded the research that validates the design.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6089904"/>
            <a:ext cx="11057839"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Credit-life takaful removes the most sympathetic default case: on a Rs 120,000 pot, Rs 240-600 for the whole cycle buys “if you die, your family owes nothing”, the strongest trust line available to a company that cannot yet promise returns.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THE VAULT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savings layer, through a trustee, never a bank</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Akif told us to revive the vault, and to do it through a licensed AMC and trustee so Halqa never holds money. Under the NBFC Regulations 2008, every regulated fund’s assets already sit with a trustee, so the structure exists; Halqa is only the distributor.</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54</a:t>
            </a:r>
          </a:p>
        </p:txBody>
      </p:sp>
      <p:sp>
        <p:nvSpPr>
          <p:cNvPr id="18" name="TextBox 17"/>
          <p:cNvSpPr txBox="1"/>
          <p:nvPr/>
        </p:nvSpPr>
        <p:spPr>
          <a:xfrm>
            <a:off x="566928" y="1408176"/>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path, Halqa never appears in it</a:t>
            </a:r>
          </a:p>
        </p:txBody>
      </p:sp>
      <p:sp>
        <p:nvSpPr>
          <p:cNvPr id="19" name="Rectangle 18"/>
          <p:cNvSpPr/>
          <p:nvPr/>
        </p:nvSpPr>
        <p:spPr>
          <a:xfrm>
            <a:off x="566928" y="1737360"/>
            <a:ext cx="5486400" cy="82296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1847088"/>
            <a:ext cx="5166360" cy="685800"/>
          </a:xfrm>
          <a:prstGeom prst="rect">
            <a:avLst/>
          </a:prstGeom>
          <a:noFill/>
        </p:spPr>
        <p:txBody>
          <a:bodyPr wrap="square" lIns="0" rIns="0" tIns="0" bIns="0" anchor="t">
            <a:spAutoFit/>
          </a:bodyPr>
          <a:lstStyle/>
          <a:p>
            <a:pPr algn="l">
              <a:lnSpc>
                <a:spcPct val="120000"/>
              </a:lnSpc>
              <a:spcAft>
                <a:spcPts val="400"/>
              </a:spcAft>
            </a:pPr>
            <a:r>
              <a:rPr sz="1060" b="0" i="0">
                <a:solidFill>
                  <a:srgbClr val="123D30"/>
                </a:solidFill>
                <a:latin typeface="Arial"/>
              </a:rPr>
              <a:t>member  →  trustee collection account  →  fund units in the member’s OWN name  →  redemption to the member’s OWN account</a:t>
            </a:r>
          </a:p>
        </p:txBody>
      </p:sp>
      <p:sp>
        <p:nvSpPr>
          <p:cNvPr id="21" name="TextBox 20"/>
          <p:cNvSpPr txBox="1"/>
          <p:nvPr/>
        </p:nvSpPr>
        <p:spPr>
          <a:xfrm>
            <a:off x="566928" y="2743200"/>
            <a:ext cx="5486400" cy="365760"/>
          </a:xfrm>
          <a:prstGeom prst="rect">
            <a:avLst/>
          </a:prstGeom>
          <a:noFill/>
        </p:spPr>
        <p:txBody>
          <a:bodyPr wrap="square" lIns="0" rIns="0" tIns="0" bIns="0">
            <a:spAutoFit/>
          </a:bodyPr>
          <a:lstStyle/>
          <a:p>
            <a:pPr>
              <a:lnSpc>
                <a:spcPct val="110000"/>
              </a:lnSpc>
              <a:spcAft>
                <a:spcPts val="600"/>
              </a:spcAft>
            </a:pPr>
            <a:r>
              <a:rPr sz="950" b="1">
                <a:solidFill>
                  <a:srgbClr val="D9A93C"/>
                </a:solidFill>
                <a:latin typeface="Georgia"/>
              </a:rPr>
              <a:t>|  </a:t>
            </a:r>
            <a:r>
              <a:rPr sz="950" b="1">
                <a:solidFill>
                  <a:srgbClr val="123D30"/>
                </a:solidFill>
                <a:latin typeface="Arial"/>
              </a:rPr>
              <a:t>Not EMI  </a:t>
            </a:r>
            <a:r>
              <a:rPr sz="950">
                <a:solidFill>
                  <a:srgbClr val="0E1512"/>
                </a:solidFill>
                <a:latin typeface="Arial"/>
              </a:rPr>
              <a:t>no balances are issued, so no electronic-money licence.</a:t>
            </a:r>
          </a:p>
          <a:p>
            <a:pPr>
              <a:lnSpc>
                <a:spcPct val="110000"/>
              </a:lnSpc>
              <a:spcAft>
                <a:spcPts val="600"/>
              </a:spcAft>
            </a:pPr>
            <a:r>
              <a:rPr sz="950" b="1">
                <a:solidFill>
                  <a:srgbClr val="D9A93C"/>
                </a:solidFill>
                <a:latin typeface="Georgia"/>
              </a:rPr>
              <a:t>|  </a:t>
            </a:r>
            <a:r>
              <a:rPr sz="950" b="1">
                <a:solidFill>
                  <a:srgbClr val="123D30"/>
                </a:solidFill>
                <a:latin typeface="Arial"/>
              </a:rPr>
              <a:t>Not NBFC  </a:t>
            </a:r>
            <a:r>
              <a:rPr sz="950">
                <a:solidFill>
                  <a:srgbClr val="0E1512"/>
                </a:solidFill>
                <a:latin typeface="Arial"/>
              </a:rPr>
              <a:t>no funds are deployed BY US, the licensed AMC does that under its own licence.</a:t>
            </a:r>
          </a:p>
          <a:p>
            <a:pPr>
              <a:lnSpc>
                <a:spcPct val="110000"/>
              </a:lnSpc>
              <a:spcAft>
                <a:spcPts val="600"/>
              </a:spcAft>
            </a:pPr>
            <a:r>
              <a:rPr sz="950" b="1">
                <a:solidFill>
                  <a:srgbClr val="D9A93C"/>
                </a:solidFill>
                <a:latin typeface="Georgia"/>
              </a:rPr>
              <a:t>|  </a:t>
            </a:r>
            <a:r>
              <a:rPr sz="950" b="1">
                <a:solidFill>
                  <a:srgbClr val="123D30"/>
                </a:solidFill>
                <a:latin typeface="Arial"/>
              </a:rPr>
              <a:t>Distributor registration only  </a:t>
            </a:r>
            <a:r>
              <a:rPr sz="950">
                <a:solidFill>
                  <a:srgbClr val="0E1512"/>
                </a:solidFill>
                <a:latin typeface="Arial"/>
              </a:rPr>
              <a:t>an SECP mutual-fund distributor registration; investment-adviser licensing is avoided by an execution-only menu that recommends nothing, ever, in the UI.</a:t>
            </a:r>
          </a:p>
          <a:p>
            <a:pPr>
              <a:lnSpc>
                <a:spcPct val="110000"/>
              </a:lnSpc>
              <a:spcAft>
                <a:spcPts val="600"/>
              </a:spcAft>
            </a:pPr>
            <a:r>
              <a:rPr sz="950" b="1">
                <a:solidFill>
                  <a:srgbClr val="D9A93C"/>
                </a:solidFill>
                <a:latin typeface="Georgia"/>
              </a:rPr>
              <a:t>|  </a:t>
            </a:r>
            <a:r>
              <a:rPr sz="950" b="1">
                <a:solidFill>
                  <a:srgbClr val="123D30"/>
                </a:solidFill>
                <a:latin typeface="Arial"/>
              </a:rPr>
              <a:t>No bank at any point  </a:t>
            </a:r>
            <a:r>
              <a:rPr sz="950">
                <a:solidFill>
                  <a:srgbClr val="0E1512"/>
                </a:solidFill>
                <a:latin typeface="Arial"/>
              </a:rPr>
              <a:t>the only bank account anywhere is Halqa’s own operating account (Gate 1), which is not a partnership.</a:t>
            </a:r>
          </a:p>
        </p:txBody>
      </p:sp>
      <p:sp>
        <p:nvSpPr>
          <p:cNvPr id="22" name="TextBox 21"/>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three products</a:t>
            </a:r>
          </a:p>
        </p:txBody>
      </p:sp>
      <p:graphicFrame>
        <p:nvGraphicFramePr>
          <p:cNvPr id="23" name="Table 22"/>
          <p:cNvGraphicFramePr>
            <a:graphicFrameLocks noGrp="1"/>
          </p:cNvGraphicFramePr>
          <p:nvPr/>
        </p:nvGraphicFramePr>
        <p:xfrm>
          <a:off x="6419088" y="1737360"/>
          <a:ext cx="5166359" cy="3161263"/>
        </p:xfrm>
        <a:graphic>
          <a:graphicData uri="http://schemas.openxmlformats.org/drawingml/2006/table">
            <a:tbl>
              <a:tblPr>
                <a:tableStyleId>{5C22544A-7EE6-4342-B048-85BDC9FD1C3A}</a:tableStyleId>
              </a:tblPr>
              <a:tblGrid>
                <a:gridCol w="1239926"/>
                <a:gridCol w="3926433"/>
              </a:tblGrid>
              <a:tr h="802111">
                <a:tc>
                  <a:txBody>
                    <a:bodyPr wrap="square"/>
                    <a:lstStyle/>
                    <a:p>
                      <a:pPr algn="l"/>
                      <a:r>
                        <a:rPr sz="919" b="1">
                          <a:solidFill>
                            <a:srgbClr val="F6F1E4"/>
                          </a:solidFill>
                          <a:latin typeface="Arial"/>
                        </a:rPr>
                        <a:t>Product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19" b="1">
                          <a:solidFill>
                            <a:srgbClr val="F6F1E4"/>
                          </a:solidFill>
                          <a:latin typeface="Arial"/>
                        </a:rPr>
                        <a:t>Mechanism / member benefit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786384">
                <a:tc>
                  <a:txBody>
                    <a:bodyPr wrap="square"/>
                    <a:lstStyle/>
                    <a:p>
                      <a:pPr algn="l"/>
                      <a:r>
                        <a:rPr sz="900" b="0">
                          <a:solidFill>
                            <a:srgbClr val="0E1512"/>
                          </a:solidFill>
                          <a:latin typeface="Arial"/>
                        </a:rPr>
                        <a:t>Growth Vault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Voluntary savings into an Islamic money-market or income fund, ~10-11% against 11-12% inflation, money that earned zero now earns something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786384">
                <a:tc>
                  <a:txBody>
                    <a:bodyPr wrap="square"/>
                    <a:lstStyle/>
                    <a:p>
                      <a:pPr algn="l"/>
                      <a:r>
                        <a:rPr sz="900" b="0">
                          <a:solidFill>
                            <a:srgbClr val="0E1512"/>
                          </a:solidFill>
                          <a:latin typeface="Arial"/>
                        </a:rPr>
                        <a:t>Safety Vault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The same holding, PLEDGED, with a lien to the circle. A member with a pledged buffer covering L(k) cannot default up to its size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786384">
                <a:tc>
                  <a:txBody>
                    <a:bodyPr wrap="square"/>
                    <a:lstStyle/>
                    <a:p>
                      <a:pPr algn="l"/>
                      <a:r>
                        <a:rPr sz="900" b="0">
                          <a:solidFill>
                            <a:srgbClr val="0E1512"/>
                          </a:solidFill>
                          <a:latin typeface="Arial"/>
                        </a:rPr>
                        <a:t>The Float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900" b="0">
                          <a:solidFill>
                            <a:srgbClr val="0E1512"/>
                          </a:solidFill>
                          <a:latin typeface="Arial"/>
                        </a:rPr>
                        <a:t>Contributions buy units in the payer’s own name on pay-in, redeem on payout day, small (Rs 207 per round on a Rs 120,000 pot); a benefit, never a revenue line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TextBox 23"/>
          <p:cNvSpPr txBox="1"/>
          <p:nvPr/>
        </p:nvSpPr>
        <p:spPr>
          <a:xfrm>
            <a:off x="6419088" y="512064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Built but hidden today: vault sleeves STANDARD/INCOME/GOLD/CRYPTO (CRYPTO behind an acknowledge-extreme-risk gate), the earning engines (profit-engine.ts, sukoon.ts), security deposits and payout holdbacks, switched on, several would constitute pooling or deploying member funds, which is exactly the NBFC trigger. They return under the Stage-2 trustee structure.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THE VAULT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Safety Vault lien</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Akif’s sentence, “if a member keeps money in it, they can’t default”, is only true if the pledge is a real instrument. A vague pledge is worthless. This is the single most valuable legal document in the Stage-2 stack.</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55</a:t>
            </a:r>
          </a:p>
        </p:txBody>
      </p:sp>
      <p:sp>
        <p:nvSpPr>
          <p:cNvPr id="18" name="TextBox 17"/>
          <p:cNvSpPr txBox="1"/>
          <p:nvPr/>
        </p:nvSpPr>
        <p:spPr>
          <a:xfrm>
            <a:off x="566928" y="1426464"/>
            <a:ext cx="5486400" cy="365760"/>
          </a:xfrm>
          <a:prstGeom prst="rect">
            <a:avLst/>
          </a:prstGeom>
          <a:noFill/>
        </p:spPr>
        <p:txBody>
          <a:bodyPr wrap="square" lIns="0" rIns="0" tIns="0" bIns="0">
            <a:spAutoFit/>
          </a:bodyPr>
          <a:lstStyle/>
          <a:p>
            <a:pPr>
              <a:lnSpc>
                <a:spcPct val="114000"/>
              </a:lnSpc>
              <a:spcAft>
                <a:spcPts val="800"/>
              </a:spcAft>
            </a:pPr>
            <a:r>
              <a:rPr sz="960" b="1">
                <a:solidFill>
                  <a:srgbClr val="D9A93C"/>
                </a:solidFill>
                <a:latin typeface="Georgia"/>
              </a:rPr>
              <a:t>|  </a:t>
            </a:r>
            <a:r>
              <a:rPr sz="960" b="1">
                <a:solidFill>
                  <a:srgbClr val="123D30"/>
                </a:solidFill>
                <a:latin typeface="Arial"/>
              </a:rPr>
              <a:t>A pledge / charge over units  </a:t>
            </a:r>
            <a:r>
              <a:rPr sz="960">
                <a:solidFill>
                  <a:srgbClr val="0E1512"/>
                </a:solidFill>
                <a:latin typeface="Arial"/>
              </a:rPr>
              <a:t>registered with the trustee, in favour of the circle’s MEMBERS, never in favour of Halqa, matching how the mutual PG is already written.</a:t>
            </a:r>
          </a:p>
          <a:p>
            <a:pPr>
              <a:lnSpc>
                <a:spcPct val="114000"/>
              </a:lnSpc>
              <a:spcAft>
                <a:spcPts val="800"/>
              </a:spcAft>
            </a:pPr>
            <a:r>
              <a:rPr sz="960" b="1">
                <a:solidFill>
                  <a:srgbClr val="D9A93C"/>
                </a:solidFill>
                <a:latin typeface="Georgia"/>
              </a:rPr>
              <a:t>|  </a:t>
            </a:r>
            <a:r>
              <a:rPr sz="960" b="1">
                <a:solidFill>
                  <a:srgbClr val="123D30"/>
                </a:solidFill>
                <a:latin typeface="Arial"/>
              </a:rPr>
              <a:t>An irrevocable redemption mandate  </a:t>
            </a:r>
            <a:r>
              <a:rPr sz="960">
                <a:solidFill>
                  <a:srgbClr val="0E1512"/>
                </a:solidFill>
                <a:latin typeface="Arial"/>
              </a:rPr>
              <a:t>signed at pledge time, naming the trigger (a confirmed missed contribution) and the beneficiary (the round’s recipient).</a:t>
            </a:r>
          </a:p>
          <a:p>
            <a:pPr>
              <a:lnSpc>
                <a:spcPct val="114000"/>
              </a:lnSpc>
              <a:spcAft>
                <a:spcPts val="800"/>
              </a:spcAft>
            </a:pPr>
            <a:r>
              <a:rPr sz="960" b="1">
                <a:solidFill>
                  <a:srgbClr val="D9A93C"/>
                </a:solidFill>
                <a:latin typeface="Georgia"/>
              </a:rPr>
              <a:t>|  </a:t>
            </a:r>
            <a:r>
              <a:rPr sz="960" b="1">
                <a:solidFill>
                  <a:srgbClr val="123D30"/>
                </a:solidFill>
                <a:latin typeface="Arial"/>
              </a:rPr>
              <a:t>On a confirmed miss  </a:t>
            </a:r>
            <a:r>
              <a:rPr sz="960">
                <a:solidFill>
                  <a:srgbClr val="0E1512"/>
                </a:solidFill>
                <a:latin typeface="Arial"/>
              </a:rPr>
              <a:t>Halqa INSTRUCTS, the AMC redeems, the trustee pays the round’s recipient directly. Halqa never receives the money, never holds it, and never decides discretionarily, the trigger is mechanical.</a:t>
            </a:r>
          </a:p>
          <a:p>
            <a:pPr>
              <a:lnSpc>
                <a:spcPct val="114000"/>
              </a:lnSpc>
              <a:spcAft>
                <a:spcPts val="800"/>
              </a:spcAft>
            </a:pPr>
            <a:r>
              <a:rPr sz="960" b="1">
                <a:solidFill>
                  <a:srgbClr val="D9A93C"/>
                </a:solidFill>
                <a:latin typeface="Georgia"/>
              </a:rPr>
              <a:t>|  </a:t>
            </a:r>
            <a:r>
              <a:rPr sz="960" b="1">
                <a:solidFill>
                  <a:srgbClr val="123D30"/>
                </a:solidFill>
                <a:latin typeface="Arial"/>
              </a:rPr>
              <a:t>Release  </a:t>
            </a:r>
            <a:r>
              <a:rPr sz="960">
                <a:solidFill>
                  <a:srgbClr val="0E1512"/>
                </a:solidFill>
                <a:latin typeface="Arial"/>
              </a:rPr>
              <a:t>the pledge releases automatically at circle completion, or steps down as forward liability falls.</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Why this is the keystone document</a:t>
            </a:r>
          </a:p>
        </p:txBody>
      </p:sp>
      <p:sp>
        <p:nvSpPr>
          <p:cNvPr id="20" name="TextBox 19"/>
          <p:cNvSpPr txBox="1"/>
          <p:nvPr/>
        </p:nvSpPr>
        <p:spPr>
          <a:xfrm>
            <a:off x="6419088" y="1737360"/>
            <a:ext cx="5166360" cy="1828800"/>
          </a:xfrm>
          <a:prstGeom prst="rect">
            <a:avLst/>
          </a:prstGeom>
          <a:noFill/>
        </p:spPr>
        <p:txBody>
          <a:bodyPr wrap="square" lIns="0" rIns="0" tIns="0" bIns="0" anchor="t">
            <a:spAutoFit/>
          </a:bodyPr>
          <a:lstStyle/>
          <a:p>
            <a:pPr algn="l">
              <a:lnSpc>
                <a:spcPct val="118000"/>
              </a:lnSpc>
              <a:spcAft>
                <a:spcPts val="400"/>
              </a:spcAft>
            </a:pPr>
            <a:r>
              <a:rPr sz="980" b="0" i="0">
                <a:solidFill>
                  <a:srgbClr val="0E1512"/>
                </a:solidFill>
                <a:latin typeface="Arial"/>
              </a:rPr>
              <a:t>It converts a sentence into an enforceable mechanism, and it is what makes the consumer/saver split real: a saver who pledges their own units cannot default up to the pledge, so their forward liability is collateralised by their own money, held by a licensed trustee, in their own name, never by Halqa. That is the same institutional slot as the asset-circle security trustee, so CDC or DCC serves both mandates in one relationship. It is a counsel item, and the reason §V matters twice.</a:t>
            </a:r>
          </a:p>
        </p:txBody>
      </p:sp>
      <p:sp>
        <p:nvSpPr>
          <p:cNvPr id="21" name="Rectangle 20"/>
          <p:cNvSpPr/>
          <p:nvPr/>
        </p:nvSpPr>
        <p:spPr>
          <a:xfrm>
            <a:off x="6419088" y="3657600"/>
            <a:ext cx="45720" cy="2286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20256" y="3694176"/>
            <a:ext cx="4937760" cy="228600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The set-off order on default puts the pledged Safety Vault first, redeem, pay the recipient, before any Growth Vault units (which require a separate signed set-off clause and a 7-day cure), before pot deductions, before the recovery case. Two rules never bend: the set-off runs in favour of the circle’s members, never Halqa; and Halqa never seizes, it instructs a trustee under a pre-signed mandate. This is the mechanism that lets Halqa answer “do you cover defaults?” with “the member’s own pledged savings do, automatically, and we never touch them.”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THE VAULT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Liquidity, and where the revenue is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Pulling on the 9th and paying on the 10th needs a same-day-liquid fund, but the design must not depend on one. And the float everyone notices is not the revenue; the distributor trail nobody mentions is two orders of magnitude larger.</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56</a:t>
            </a:r>
          </a:p>
        </p:txBody>
      </p:sp>
      <p:sp>
        <p:nvSpPr>
          <p:cNvPr id="18" name="TextBox 17"/>
          <p:cNvSpPr txBox="1"/>
          <p:nvPr/>
        </p:nvSpPr>
        <p:spPr>
          <a:xfrm>
            <a:off x="566928" y="1408176"/>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liquidity invariant</a:t>
            </a:r>
          </a:p>
        </p:txBody>
      </p:sp>
      <p:sp>
        <p:nvSpPr>
          <p:cNvPr id="19" name="TextBox 18"/>
          <p:cNvSpPr txBox="1"/>
          <p:nvPr/>
        </p:nvSpPr>
        <p:spPr>
          <a:xfrm>
            <a:off x="566928" y="1737360"/>
            <a:ext cx="5486400" cy="1188720"/>
          </a:xfrm>
          <a:prstGeom prst="rect">
            <a:avLst/>
          </a:prstGeom>
          <a:noFill/>
        </p:spPr>
        <p:txBody>
          <a:bodyPr wrap="square" lIns="0" rIns="0" tIns="0" bIns="0" anchor="t">
            <a:spAutoFit/>
          </a:bodyPr>
          <a:lstStyle/>
          <a:p>
            <a:pPr algn="l">
              <a:lnSpc>
                <a:spcPct val="116000"/>
              </a:lnSpc>
              <a:spcAft>
                <a:spcPts val="400"/>
              </a:spcAft>
            </a:pPr>
            <a:r>
              <a:rPr sz="969" b="0" i="0">
                <a:solidFill>
                  <a:srgbClr val="0E1512"/>
                </a:solidFill>
                <a:latin typeface="Arial"/>
              </a:rPr>
              <a:t>Islamic daily-dividend money-market funds (Al Meezan Rozana Amdani and peers) are built for same-day or T+1 redemption, which is why they are the right instrument. But the hard, tested invariant is: NO payout ever waits on a redemption. The 10th is funded from the AMC settlement account or the cover facility, and the redemption settles behind it. A payout that is late because a fund did not settle would destroy more trust in one morning than the float earns in a decade.</a:t>
            </a:r>
          </a:p>
        </p:txBody>
      </p:sp>
      <p:sp>
        <p:nvSpPr>
          <p:cNvPr id="20" name="TextBox 19"/>
          <p:cNvSpPr txBox="1"/>
          <p:nvPr/>
        </p:nvSpPr>
        <p:spPr>
          <a:xfrm>
            <a:off x="566928" y="3063240"/>
            <a:ext cx="548640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The float, sized honestly</a:t>
            </a:r>
          </a:p>
        </p:txBody>
      </p:sp>
      <p:sp>
        <p:nvSpPr>
          <p:cNvPr id="21" name="Rectangle 20"/>
          <p:cNvSpPr/>
          <p:nvPr/>
        </p:nvSpPr>
        <p:spPr>
          <a:xfrm>
            <a:off x="566928" y="3364992"/>
            <a:ext cx="5486400" cy="100584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04088" y="3456432"/>
            <a:ext cx="5212080" cy="914400"/>
          </a:xfrm>
          <a:prstGeom prst="rect">
            <a:avLst/>
          </a:prstGeom>
          <a:noFill/>
        </p:spPr>
        <p:txBody>
          <a:bodyPr wrap="square" lIns="0" rIns="0" tIns="0" bIns="0" anchor="t">
            <a:spAutoFit/>
          </a:bodyPr>
          <a:lstStyle/>
          <a:p>
            <a:pPr algn="l">
              <a:lnSpc>
                <a:spcPct val="124000"/>
              </a:lnSpc>
              <a:spcAft>
                <a:spcPts val="400"/>
              </a:spcAft>
            </a:pPr>
            <a:r>
              <a:rPr sz="980" b="0" i="0">
                <a:solidFill>
                  <a:srgbClr val="0E1512"/>
                </a:solidFill>
                <a:latin typeface="Arial"/>
              </a:rPr>
              <a:t>Pot Rs 120,000 · mean hold 6 days · 10.5% yield</a:t>
            </a:r>
          </a:p>
          <a:p>
            <a:pPr algn="l">
              <a:lnSpc>
                <a:spcPct val="124000"/>
              </a:lnSpc>
              <a:spcAft>
                <a:spcPts val="400"/>
              </a:spcAft>
            </a:pPr>
            <a:r>
              <a:rPr sz="980" b="0" i="0">
                <a:solidFill>
                  <a:srgbClr val="0E1512"/>
                </a:solidFill>
                <a:latin typeface="Arial"/>
              </a:rPr>
              <a:t>120,000 × 0.105 × 6/365          = Rs 207 / round</a:t>
            </a:r>
          </a:p>
          <a:p>
            <a:pPr algn="l">
              <a:lnSpc>
                <a:spcPct val="124000"/>
              </a:lnSpc>
              <a:spcAft>
                <a:spcPts val="400"/>
              </a:spcAft>
            </a:pPr>
            <a:r>
              <a:rPr sz="980" b="0" i="0">
                <a:solidFill>
                  <a:srgbClr val="0E1512"/>
                </a:solidFill>
                <a:latin typeface="Arial"/>
              </a:rPr>
              <a:t>Over a 12-round cycle             = Rs 2,486 / circle</a:t>
            </a:r>
          </a:p>
          <a:p>
            <a:pPr algn="l">
              <a:lnSpc>
                <a:spcPct val="124000"/>
              </a:lnSpc>
              <a:spcAft>
                <a:spcPts val="400"/>
              </a:spcAft>
            </a:pPr>
            <a:r>
              <a:rPr sz="980" b="0" i="0">
                <a:solidFill>
                  <a:srgbClr val="0E1512"/>
                </a:solidFill>
                <a:latin typeface="Arial"/>
              </a:rPr>
              <a:t>Halqa’s 10% share                = Rs 249 / circle-year</a:t>
            </a:r>
          </a:p>
        </p:txBody>
      </p:sp>
      <p:sp>
        <p:nvSpPr>
          <p:cNvPr id="23" name="TextBox 22"/>
          <p:cNvSpPr txBox="1"/>
          <p:nvPr/>
        </p:nvSpPr>
        <p:spPr>
          <a:xfrm>
            <a:off x="566928" y="4480560"/>
            <a:ext cx="5486400" cy="1463040"/>
          </a:xfrm>
          <a:prstGeom prst="rect">
            <a:avLst/>
          </a:prstGeom>
          <a:noFill/>
        </p:spPr>
        <p:txBody>
          <a:bodyPr wrap="square" lIns="0" rIns="0" tIns="0" bIns="0" anchor="t">
            <a:spAutoFit/>
          </a:bodyPr>
          <a:lstStyle/>
          <a:p>
            <a:pPr algn="l">
              <a:lnSpc>
                <a:spcPct val="116000"/>
              </a:lnSpc>
              <a:spcAft>
                <a:spcPts val="400"/>
              </a:spcAft>
            </a:pPr>
            <a:r>
              <a:rPr sz="969" b="0" i="0">
                <a:solidFill>
                  <a:srgbClr val="0E1512"/>
                </a:solidFill>
                <a:latin typeface="Arial"/>
              </a:rPr>
              <a:t>Rs 249 per circle per year is not a revenue line, it is a member benefit and a marketing line (“your committee money earns while it waits”). Present it as exactly that and nothing more. Ninety per cent of the float profit goes to members; Halqa takes ten.</a:t>
            </a:r>
          </a:p>
        </p:txBody>
      </p:sp>
      <p:sp>
        <p:nvSpPr>
          <p:cNvPr id="24" name="TextBox 23"/>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Where the durable revenue actually is</a:t>
            </a:r>
          </a:p>
        </p:txBody>
      </p:sp>
      <p:sp>
        <p:nvSpPr>
          <p:cNvPr id="25" name="Rectangle 24"/>
          <p:cNvSpPr/>
          <p:nvPr/>
        </p:nvSpPr>
        <p:spPr>
          <a:xfrm>
            <a:off x="6419088" y="1737360"/>
            <a:ext cx="5166360" cy="1051560"/>
          </a:xfrm>
          <a:prstGeom prst="rect">
            <a:avLst/>
          </a:prstGeom>
          <a:solidFill>
            <a:srgbClr val="F3F6F4"/>
          </a:solidFill>
          <a:ln w="9525">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56248" y="1828800"/>
            <a:ext cx="4892040" cy="960120"/>
          </a:xfrm>
          <a:prstGeom prst="rect">
            <a:avLst/>
          </a:prstGeom>
          <a:noFill/>
        </p:spPr>
        <p:txBody>
          <a:bodyPr wrap="square" lIns="0" rIns="0" tIns="0" bIns="0" anchor="t">
            <a:spAutoFit/>
          </a:bodyPr>
          <a:lstStyle/>
          <a:p>
            <a:pPr algn="l">
              <a:lnSpc>
                <a:spcPct val="126000"/>
              </a:lnSpc>
              <a:spcAft>
                <a:spcPts val="400"/>
              </a:spcAft>
            </a:pPr>
            <a:r>
              <a:rPr sz="1000" b="0" i="0">
                <a:solidFill>
                  <a:srgbClr val="0E1512"/>
                </a:solidFill>
                <a:latin typeface="Arial"/>
              </a:rPr>
              <a:t>Float profit share (Halqa 10%)        ≈ Rs 249 / circle-cycle</a:t>
            </a:r>
          </a:p>
          <a:p>
            <a:pPr algn="l">
              <a:lnSpc>
                <a:spcPct val="126000"/>
              </a:lnSpc>
              <a:spcAft>
                <a:spcPts val="400"/>
              </a:spcAft>
            </a:pPr>
            <a:r>
              <a:rPr sz="1000" b="0" i="0">
                <a:solidFill>
                  <a:srgbClr val="0E1512"/>
                </a:solidFill>
                <a:latin typeface="Arial"/>
              </a:rPr>
              <a:t>Distributor trail, 0.5-1.5% p.a. of AUM</a:t>
            </a:r>
          </a:p>
          <a:p>
            <a:pPr algn="l">
              <a:lnSpc>
                <a:spcPct val="126000"/>
              </a:lnSpc>
              <a:spcAft>
                <a:spcPts val="400"/>
              </a:spcAft>
            </a:pPr>
            <a:r>
              <a:rPr sz="1000" b="0" i="0">
                <a:solidFill>
                  <a:srgbClr val="0E1512"/>
                </a:solidFill>
                <a:latin typeface="Arial"/>
              </a:rPr>
              <a:t>at Rs 1bn of vault AUM, 1% trail       = Rs 10,000,000 / year</a:t>
            </a:r>
          </a:p>
        </p:txBody>
      </p:sp>
      <p:sp>
        <p:nvSpPr>
          <p:cNvPr id="27" name="TextBox 26"/>
          <p:cNvSpPr txBox="1"/>
          <p:nvPr/>
        </p:nvSpPr>
        <p:spPr>
          <a:xfrm>
            <a:off x="6419088" y="2971800"/>
            <a:ext cx="5166360" cy="146304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The trail is roughly forty thousand times the float per unit of effort. Build the vault for the trail and for the default cure; treat the float as a feature. The saver is where the AUM, and therefore the durable revenue, lives; the consumer is where the risk and the merchant commission live. A circle that is all consumers should not be allowed to form: a healthy roster needs late seats people actually want, which the vault’s yield makes possible for the first time.</a:t>
            </a:r>
          </a:p>
        </p:txBody>
      </p:sp>
      <p:sp>
        <p:nvSpPr>
          <p:cNvPr id="28" name="TextBox 27"/>
          <p:cNvSpPr txBox="1"/>
          <p:nvPr/>
        </p:nvSpPr>
        <p:spPr>
          <a:xfrm>
            <a:off x="6419088" y="4572000"/>
            <a:ext cx="516636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The rung ladder, order cannot change</a:t>
            </a:r>
          </a:p>
        </p:txBody>
      </p:sp>
      <p:sp>
        <p:nvSpPr>
          <p:cNvPr id="29" name="TextBox 28"/>
          <p:cNvSpPr txBox="1"/>
          <p:nvPr/>
        </p:nvSpPr>
        <p:spPr>
          <a:xfrm>
            <a:off x="6419088" y="4864608"/>
            <a:ext cx="5166360" cy="1188720"/>
          </a:xfrm>
          <a:prstGeom prst="rect">
            <a:avLst/>
          </a:prstGeom>
          <a:noFill/>
        </p:spPr>
        <p:txBody>
          <a:bodyPr wrap="square" lIns="0" rIns="0" tIns="0" bIns="0" anchor="t">
            <a:spAutoFit/>
          </a:bodyPr>
          <a:lstStyle/>
          <a:p>
            <a:pPr algn="l">
              <a:lnSpc>
                <a:spcPct val="114000"/>
              </a:lnSpc>
              <a:spcAft>
                <a:spcPts val="400"/>
              </a:spcAft>
            </a:pPr>
            <a:r>
              <a:rPr sz="940" b="0" i="0">
                <a:solidFill>
                  <a:srgbClr val="0E1512"/>
                </a:solidFill>
                <a:latin typeface="Arial"/>
              </a:rPr>
              <a:t>1 Collection (settlement, not assertion) → 2 the record (circles COMPLETED, not signups) → 3 the bureau link (the record becomes a formal signal) → 4 commerce and the on-ramp (where the revenue is) → 5 the savings layer (vault + float via CDC). Each rung is reachable only because the one below it exists, and attempting them out of order is the most common way companies here waste a year.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 · THE VAULT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vault, on the phone</a:t>
            </a:r>
          </a:p>
        </p:txBody>
      </p:sp>
      <p:cxnSp>
        <p:nvCxnSpPr>
          <p:cNvPr id="5" name="Connector 4"/>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6" name="TextBox 15"/>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57</a:t>
            </a:r>
          </a:p>
        </p:txBody>
      </p:sp>
      <p:sp>
        <p:nvSpPr>
          <p:cNvPr id="17" name="Rectangle 16"/>
          <p:cNvSpPr/>
          <p:nvPr/>
        </p:nvSpPr>
        <p:spPr>
          <a:xfrm>
            <a:off x="649224" y="1362456"/>
            <a:ext cx="2285761" cy="4818888"/>
          </a:xfrm>
          <a:prstGeom prst="rect">
            <a:avLst/>
          </a:prstGeom>
          <a:solidFill>
            <a:srgbClr val="123D30"/>
          </a:solidFill>
          <a:ln w="12700">
            <a:solidFill>
              <a:srgbClr val="123D3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v-vault.png"/>
          <p:cNvPicPr>
            <a:picLocks noChangeAspect="1"/>
          </p:cNvPicPr>
          <p:nvPr/>
        </p:nvPicPr>
        <p:blipFill>
          <a:blip r:embed="rId2"/>
          <a:stretch>
            <a:fillRect/>
          </a:stretch>
        </p:blipFill>
        <p:spPr>
          <a:xfrm>
            <a:off x="704088" y="1417320"/>
            <a:ext cx="2176033" cy="4709160"/>
          </a:xfrm>
          <a:prstGeom prst="rect">
            <a:avLst/>
          </a:prstGeom>
        </p:spPr>
      </p:pic>
      <p:sp>
        <p:nvSpPr>
          <p:cNvPr id="19" name="TextBox 18"/>
          <p:cNvSpPr txBox="1"/>
          <p:nvPr/>
        </p:nvSpPr>
        <p:spPr>
          <a:xfrm>
            <a:off x="704088" y="6236208"/>
            <a:ext cx="2176033" cy="274320"/>
          </a:xfrm>
          <a:prstGeom prst="rect">
            <a:avLst/>
          </a:prstGeom>
          <a:noFill/>
        </p:spPr>
        <p:txBody>
          <a:bodyPr wrap="square" lIns="0" rIns="0" tIns="0" bIns="0" anchor="t">
            <a:spAutoFit/>
          </a:bodyPr>
          <a:lstStyle/>
          <a:p>
            <a:pPr algn="l">
              <a:lnSpc>
                <a:spcPct val="100000"/>
              </a:lnSpc>
              <a:spcAft>
                <a:spcPts val="400"/>
              </a:spcAft>
            </a:pPr>
            <a:r>
              <a:rPr sz="819" b="0" i="1">
                <a:solidFill>
                  <a:srgbClr val="4C574F"/>
                </a:solidFill>
                <a:latin typeface="Arial"/>
              </a:rPr>
              <a:t>Live production build, halqa-seven.vercel.app</a:t>
            </a:r>
          </a:p>
        </p:txBody>
      </p:sp>
      <p:sp>
        <p:nvSpPr>
          <p:cNvPr id="20" name="TextBox 19"/>
          <p:cNvSpPr txBox="1"/>
          <p:nvPr/>
        </p:nvSpPr>
        <p:spPr>
          <a:xfrm>
            <a:off x="3383041" y="1481328"/>
            <a:ext cx="8241726"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123D30"/>
                </a:solidFill>
                <a:latin typeface="Georgia"/>
              </a:rPr>
              <a:t>Held in the member’s own name</a:t>
            </a:r>
          </a:p>
        </p:txBody>
      </p:sp>
      <p:sp>
        <p:nvSpPr>
          <p:cNvPr id="21" name="Rectangle 20"/>
          <p:cNvSpPr/>
          <p:nvPr/>
        </p:nvSpPr>
        <p:spPr>
          <a:xfrm>
            <a:off x="3383041" y="1938528"/>
            <a:ext cx="45720" cy="18288"/>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041" y="1975104"/>
            <a:ext cx="8241726" cy="365760"/>
          </a:xfrm>
          <a:prstGeom prst="rect">
            <a:avLst/>
          </a:prstGeom>
          <a:noFill/>
        </p:spPr>
        <p:txBody>
          <a:bodyPr wrap="square" lIns="0" rIns="0" tIns="0" bIns="0">
            <a:spAutoFit/>
          </a:bodyPr>
          <a:lstStyle/>
          <a:p>
            <a:pPr>
              <a:lnSpc>
                <a:spcPct val="112000"/>
              </a:lnSpc>
              <a:spcAft>
                <a:spcPts val="800"/>
              </a:spcAft>
            </a:pPr>
            <a:r>
              <a:rPr sz="1140" b="1">
                <a:solidFill>
                  <a:srgbClr val="D9A93C"/>
                </a:solidFill>
                <a:latin typeface="Georgia"/>
              </a:rPr>
              <a:t>|  </a:t>
            </a:r>
            <a:r>
              <a:rPr sz="1140" b="1">
                <a:solidFill>
                  <a:srgbClr val="123D30"/>
                </a:solidFill>
                <a:latin typeface="Arial"/>
              </a:rPr>
              <a:t>Position  </a:t>
            </a:r>
            <a:r>
              <a:rPr sz="1140">
                <a:solidFill>
                  <a:srgbClr val="0E1512"/>
                </a:solidFill>
                <a:latin typeface="Arial"/>
              </a:rPr>
              <a:t>recorded balance, accrued profit (indicative), a blended yield of 10.80 per cent a year and a blended risk of 2.0 out of 10. Nothing is guaranteed; principal is the member’s at any time.</a:t>
            </a:r>
          </a:p>
          <a:p>
            <a:pPr>
              <a:lnSpc>
                <a:spcPct val="112000"/>
              </a:lnSpc>
              <a:spcAft>
                <a:spcPts val="800"/>
              </a:spcAft>
            </a:pPr>
            <a:r>
              <a:rPr sz="1140" b="1">
                <a:solidFill>
                  <a:srgbClr val="D9A93C"/>
                </a:solidFill>
                <a:latin typeface="Georgia"/>
              </a:rPr>
              <a:t>|  </a:t>
            </a:r>
            <a:r>
              <a:rPr sz="1140" b="1">
                <a:solidFill>
                  <a:srgbClr val="123D30"/>
                </a:solidFill>
                <a:latin typeface="Arial"/>
              </a:rPr>
              <a:t>The views  </a:t>
            </a:r>
            <a:r>
              <a:rPr sz="1140">
                <a:solidFill>
                  <a:srgbClr val="0E1512"/>
                </a:solidFill>
                <a:latin typeface="Arial"/>
              </a:rPr>
              <a:t>Overview, Portion sizing, Projected growth, Risk model, Money map. The member sizes their own mix and projects it forward.</a:t>
            </a:r>
          </a:p>
          <a:p>
            <a:pPr>
              <a:lnSpc>
                <a:spcPct val="112000"/>
              </a:lnSpc>
              <a:spcAft>
                <a:spcPts val="800"/>
              </a:spcAft>
            </a:pPr>
            <a:r>
              <a:rPr sz="1140" b="1">
                <a:solidFill>
                  <a:srgbClr val="D9A93C"/>
                </a:solidFill>
                <a:latin typeface="Georgia"/>
              </a:rPr>
              <a:t>|  </a:t>
            </a:r>
            <a:r>
              <a:rPr sz="1140" b="1">
                <a:solidFill>
                  <a:srgbClr val="123D30"/>
                </a:solidFill>
                <a:latin typeface="Arial"/>
              </a:rPr>
              <a:t>Your vault is also your safety net  </a:t>
            </a:r>
            <a:r>
              <a:rPr sz="1140">
                <a:solidFill>
                  <a:srgbClr val="0E1512"/>
                </a:solidFill>
                <a:latin typeface="Arial"/>
              </a:rPr>
              <a:t>with auto-cover on, a missed installment is settled from this balance; the late note and score effect still apply, but the miss never escalates toward default.</a:t>
            </a:r>
          </a:p>
          <a:p>
            <a:pPr>
              <a:lnSpc>
                <a:spcPct val="112000"/>
              </a:lnSpc>
              <a:spcAft>
                <a:spcPts val="800"/>
              </a:spcAft>
            </a:pPr>
            <a:r>
              <a:rPr sz="1140" b="1">
                <a:solidFill>
                  <a:srgbClr val="D9A93C"/>
                </a:solidFill>
                <a:latin typeface="Georgia"/>
              </a:rPr>
              <a:t>|  </a:t>
            </a:r>
            <a:r>
              <a:rPr sz="1140" b="1">
                <a:solidFill>
                  <a:srgbClr val="123D30"/>
                </a:solidFill>
                <a:latin typeface="Arial"/>
              </a:rPr>
              <a:t>Payout parking  </a:t>
            </a:r>
            <a:r>
              <a:rPr sz="1140">
                <a:solidFill>
                  <a:srgbClr val="0E1512"/>
                </a:solidFill>
                <a:latin typeface="Arial"/>
              </a:rPr>
              <a:t>new committee payouts can land here instead of releasing directly, so they keep earning until swept out.</a:t>
            </a:r>
          </a:p>
          <a:p>
            <a:pPr>
              <a:lnSpc>
                <a:spcPct val="112000"/>
              </a:lnSpc>
              <a:spcAft>
                <a:spcPts val="800"/>
              </a:spcAft>
            </a:pPr>
            <a:r>
              <a:rPr sz="1140" b="1">
                <a:solidFill>
                  <a:srgbClr val="D9A93C"/>
                </a:solidFill>
                <a:latin typeface="Georgia"/>
              </a:rPr>
              <a:t>|  </a:t>
            </a:r>
            <a:r>
              <a:rPr sz="1140" b="1">
                <a:solidFill>
                  <a:srgbClr val="123D30"/>
                </a:solidFill>
                <a:latin typeface="Arial"/>
              </a:rPr>
              <a:t>Held by the trustee  </a:t>
            </a:r>
            <a:r>
              <a:rPr sz="1140">
                <a:solidFill>
                  <a:srgbClr val="0E1512"/>
                </a:solidFill>
                <a:latin typeface="Arial"/>
              </a:rPr>
              <a:t>at Stage 2 the units sit with a licensed trustee in the member’s own name, never with Halqa.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D9A93C"/>
                </a:solidFill>
                <a:latin typeface="Georgia"/>
              </a:rPr>
              <a:t>VI</a:t>
            </a:r>
          </a:p>
        </p:txBody>
      </p:sp>
      <p:sp>
        <p:nvSpPr>
          <p:cNvPr id="5" name="TextBox 4"/>
          <p:cNvSpPr txBox="1"/>
          <p:nvPr/>
        </p:nvSpPr>
        <p:spPr>
          <a:xfrm>
            <a:off x="2468880" y="2359152"/>
            <a:ext cx="8595360" cy="731520"/>
          </a:xfrm>
          <a:prstGeom prst="rect">
            <a:avLst/>
          </a:prstGeom>
          <a:noFill/>
        </p:spPr>
        <p:txBody>
          <a:bodyPr wrap="square" lIns="0" rIns="0" tIns="0" bIns="0" anchor="t">
            <a:spAutoFit/>
          </a:bodyPr>
          <a:lstStyle/>
          <a:p>
            <a:pPr algn="l">
              <a:lnSpc>
                <a:spcPct val="100000"/>
              </a:lnSpc>
              <a:spcAft>
                <a:spcPts val="400"/>
              </a:spcAft>
            </a:pPr>
            <a:r>
              <a:rPr sz="3000" b="0" i="0">
                <a:solidFill>
                  <a:srgbClr val="F6F1E4"/>
                </a:solidFill>
                <a:latin typeface="Georgia"/>
              </a:rPr>
              <a:t>Security, economics and go-to-market</a:t>
            </a:r>
          </a:p>
        </p:txBody>
      </p:sp>
      <p:cxnSp>
        <p:nvCxnSpPr>
          <p:cNvPr id="6" name="Connector 5"/>
          <p:cNvCxnSpPr/>
          <p:nvPr/>
        </p:nvCxnSpPr>
        <p:spPr>
          <a:xfrm>
            <a:off x="2542032" y="3127248"/>
            <a:ext cx="3840480" cy="0"/>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31012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9417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78224"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62272"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0368"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4416" y="3044952"/>
            <a:ext cx="0" cy="82296"/>
          </a:xfrm>
          <a:prstGeom prst="line">
            <a:avLst/>
          </a:prstGeom>
          <a:ln w="9525">
            <a:solidFill>
              <a:srgbClr val="F0C35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98464" y="3044952"/>
            <a:ext cx="0" cy="82296"/>
          </a:xfrm>
          <a:prstGeom prst="line">
            <a:avLst/>
          </a:prstGeom>
          <a:ln w="2032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42032" y="3310128"/>
            <a:ext cx="7680960" cy="1463040"/>
          </a:xfrm>
          <a:prstGeom prst="rect">
            <a:avLst/>
          </a:prstGeom>
          <a:noFill/>
        </p:spPr>
        <p:txBody>
          <a:bodyPr wrap="square" lIns="0" rIns="0" tIns="0" bIns="0" anchor="t">
            <a:spAutoFit/>
          </a:bodyPr>
          <a:lstStyle/>
          <a:p>
            <a:pPr algn="l">
              <a:lnSpc>
                <a:spcPct val="112000"/>
              </a:lnSpc>
              <a:spcAft>
                <a:spcPts val="600"/>
              </a:spcAft>
            </a:pPr>
            <a:r>
              <a:rPr sz="1220" b="0" i="0">
                <a:solidFill>
                  <a:srgbClr val="C8D4CC"/>
                </a:solidFill>
                <a:latin typeface="Arial"/>
              </a:rPr>
              <a:t>A trust company is killed by a breach or a hostile story before a regulator.</a:t>
            </a:r>
          </a:p>
          <a:p>
            <a:pPr algn="l">
              <a:lnSpc>
                <a:spcPct val="112000"/>
              </a:lnSpc>
              <a:spcAft>
                <a:spcPts val="600"/>
              </a:spcAft>
            </a:pPr>
            <a:r>
              <a:rPr sz="1220" b="0" i="0">
                <a:solidFill>
                  <a:srgbClr val="C8D4CC"/>
                </a:solidFill>
                <a:latin typeface="Arial"/>
              </a:rPr>
              <a:t>So the security posture, the data boundary, the fee book, the marketing motion</a:t>
            </a:r>
          </a:p>
          <a:p>
            <a:pPr algn="l">
              <a:lnSpc>
                <a:spcPct val="112000"/>
              </a:lnSpc>
              <a:spcAft>
                <a:spcPts val="600"/>
              </a:spcAft>
            </a:pPr>
            <a:r>
              <a:rPr sz="1220" b="0" i="0">
                <a:solidFill>
                  <a:srgbClr val="C8D4CC"/>
                </a:solidFill>
                <a:latin typeface="Arial"/>
              </a:rPr>
              <a:t>and the business model are all built around one test, does this read as the</a:t>
            </a:r>
          </a:p>
          <a:p>
            <a:pPr algn="l">
              <a:lnSpc>
                <a:spcPct val="112000"/>
              </a:lnSpc>
              <a:spcAft>
                <a:spcPts val="600"/>
              </a:spcAft>
            </a:pPr>
            <a:r>
              <a:rPr sz="1220" b="0" i="0">
                <a:solidFill>
                  <a:srgbClr val="C8D4CC"/>
                </a:solidFill>
                <a:latin typeface="Arial"/>
              </a:rPr>
              <a:t>platform protecting the member, or extracting from them?</a:t>
            </a:r>
          </a:p>
        </p:txBody>
      </p:sp>
      <p:cxnSp>
        <p:nvCxnSpPr>
          <p:cNvPr id="17" name="Connector 16"/>
          <p:cNvCxnSpPr/>
          <p:nvPr/>
        </p:nvCxnSpPr>
        <p:spPr>
          <a:xfrm>
            <a:off x="10454335" y="2641701"/>
            <a:ext cx="0" cy="30723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94365" y="2747179"/>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870079" y="3035350"/>
            <a:ext cx="266076" cy="15362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934395" y="3429000"/>
            <a:ext cx="307238" cy="0"/>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870079"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94365" y="3844744"/>
            <a:ext cx="153619"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454335" y="3909060"/>
            <a:ext cx="0" cy="307238"/>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060685" y="3844744"/>
            <a:ext cx="153620" cy="266076"/>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772514" y="3669030"/>
            <a:ext cx="266076" cy="153619"/>
          </a:xfrm>
          <a:prstGeom prst="line">
            <a:avLst/>
          </a:prstGeom>
          <a:ln w="186690">
            <a:solidFill>
              <a:srgbClr val="1B514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67036" y="3429000"/>
            <a:ext cx="422453" cy="0"/>
          </a:xfrm>
          <a:prstGeom prst="line">
            <a:avLst/>
          </a:prstGeom>
          <a:ln w="240030">
            <a:solidFill>
              <a:srgbClr val="D9A93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SECURITY</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Application security</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A B+ posture with gaps named, not hidden. Web dependencies report zero known vulnerabilities. The controls below are live in production; the open items are on the next page, stated plainly.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59</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0000"/>
              </a:lnSpc>
              <a:spcAft>
                <a:spcPts val="600"/>
              </a:spcAft>
            </a:pPr>
            <a:r>
              <a:rPr sz="950" b="1">
                <a:solidFill>
                  <a:srgbClr val="D9A93C"/>
                </a:solidFill>
                <a:latin typeface="Georgia"/>
              </a:rPr>
              <a:t>|  </a:t>
            </a:r>
            <a:r>
              <a:rPr sz="950" b="1">
                <a:solidFill>
                  <a:srgbClr val="123D30"/>
                </a:solidFill>
                <a:latin typeface="Arial"/>
              </a:rPr>
              <a:t>Transport and headers  </a:t>
            </a:r>
            <a:r>
              <a:rPr sz="950">
                <a:solidFill>
                  <a:srgbClr val="0E1512"/>
                </a:solidFill>
                <a:latin typeface="Arial"/>
              </a:rPr>
              <a:t>TLS + HSTS; a Content-Security-Policy on both apps via helmet.</a:t>
            </a:r>
          </a:p>
          <a:p>
            <a:pPr>
              <a:lnSpc>
                <a:spcPct val="110000"/>
              </a:lnSpc>
              <a:spcAft>
                <a:spcPts val="600"/>
              </a:spcAft>
            </a:pPr>
            <a:r>
              <a:rPr sz="950" b="1">
                <a:solidFill>
                  <a:srgbClr val="D9A93C"/>
                </a:solidFill>
                <a:latin typeface="Georgia"/>
              </a:rPr>
              <a:t>|  </a:t>
            </a:r>
            <a:r>
              <a:rPr sz="950" b="1">
                <a:solidFill>
                  <a:srgbClr val="123D30"/>
                </a:solidFill>
                <a:latin typeface="Arial"/>
              </a:rPr>
              <a:t>Passwords and sessions  </a:t>
            </a:r>
            <a:r>
              <a:rPr sz="950">
                <a:solidFill>
                  <a:srgbClr val="0E1512"/>
                </a:solidFill>
                <a:latin typeface="Arial"/>
              </a:rPr>
              <a:t>bcrypt cost 12; JWTs with ROTATING refresh tokens and reuse detection that burns the whole token family on replay.</a:t>
            </a:r>
          </a:p>
          <a:p>
            <a:pPr>
              <a:lnSpc>
                <a:spcPct val="110000"/>
              </a:lnSpc>
              <a:spcAft>
                <a:spcPts val="600"/>
              </a:spcAft>
            </a:pPr>
            <a:r>
              <a:rPr sz="950" b="1">
                <a:solidFill>
                  <a:srgbClr val="D9A93C"/>
                </a:solidFill>
                <a:latin typeface="Georgia"/>
              </a:rPr>
              <a:t>|  </a:t>
            </a:r>
            <a:r>
              <a:rPr sz="950" b="1">
                <a:solidFill>
                  <a:srgbClr val="123D30"/>
                </a:solidFill>
                <a:latin typeface="Arial"/>
              </a:rPr>
              <a:t>Brute-force resistance  </a:t>
            </a:r>
            <a:r>
              <a:rPr sz="950">
                <a:solidFill>
                  <a:srgbClr val="0E1512"/>
                </a:solidFill>
                <a:latin typeface="Arial"/>
              </a:rPr>
              <a:t>per-account lockout (5 failures → HTTP 423 for 15 minutes); 30 attempts per 15 minutes globally; enumeration-resistant timing.</a:t>
            </a:r>
          </a:p>
          <a:p>
            <a:pPr>
              <a:lnSpc>
                <a:spcPct val="110000"/>
              </a:lnSpc>
              <a:spcAft>
                <a:spcPts val="600"/>
              </a:spcAft>
            </a:pPr>
            <a:r>
              <a:rPr sz="950" b="1">
                <a:solidFill>
                  <a:srgbClr val="D9A93C"/>
                </a:solidFill>
                <a:latin typeface="Georgia"/>
              </a:rPr>
              <a:t>|  </a:t>
            </a:r>
            <a:r>
              <a:rPr sz="950" b="1">
                <a:solidFill>
                  <a:srgbClr val="123D30"/>
                </a:solidFill>
                <a:latin typeface="Arial"/>
              </a:rPr>
              <a:t>Injection is structurally unavailable  </a:t>
            </a:r>
            <a:r>
              <a:rPr sz="950">
                <a:solidFill>
                  <a:srgbClr val="0E1512"/>
                </a:solidFill>
                <a:latin typeface="Arial"/>
              </a:rPr>
              <a:t>Prisma parameterises every query; there is no string-built SQL to inject into.</a:t>
            </a:r>
          </a:p>
          <a:p>
            <a:pPr>
              <a:lnSpc>
                <a:spcPct val="110000"/>
              </a:lnSpc>
              <a:spcAft>
                <a:spcPts val="600"/>
              </a:spcAft>
            </a:pPr>
            <a:r>
              <a:rPr sz="950" b="1">
                <a:solidFill>
                  <a:srgbClr val="D9A93C"/>
                </a:solidFill>
                <a:latin typeface="Georgia"/>
              </a:rPr>
              <a:t>|  </a:t>
            </a:r>
            <a:r>
              <a:rPr sz="950" b="1">
                <a:solidFill>
                  <a:srgbClr val="123D30"/>
                </a:solidFill>
                <a:latin typeface="Arial"/>
              </a:rPr>
              <a:t>Secrets and audit  </a:t>
            </a:r>
            <a:r>
              <a:rPr sz="950">
                <a:solidFill>
                  <a:srgbClr val="0E1512"/>
                </a:solidFill>
                <a:latin typeface="Arial"/>
              </a:rPr>
              <a:t>assertSecretsStrong at boot refuses to start on weak secrets; an append-only AuditLog and a SecurityEvent table record every sensitive action.</a:t>
            </a:r>
          </a:p>
          <a:p>
            <a:pPr>
              <a:lnSpc>
                <a:spcPct val="110000"/>
              </a:lnSpc>
              <a:spcAft>
                <a:spcPts val="600"/>
              </a:spcAft>
            </a:pPr>
            <a:r>
              <a:rPr sz="950" b="1">
                <a:solidFill>
                  <a:srgbClr val="D9A93C"/>
                </a:solidFill>
                <a:latin typeface="Georgia"/>
              </a:rPr>
              <a:t>|  </a:t>
            </a:r>
            <a:r>
              <a:rPr sz="950" b="1">
                <a:solidFill>
                  <a:srgbClr val="123D30"/>
                </a:solidFill>
                <a:latin typeface="Arial"/>
              </a:rPr>
              <a:t>Card data  </a:t>
            </a:r>
            <a:r>
              <a:rPr sz="950">
                <a:solidFill>
                  <a:srgbClr val="0E1512"/>
                </a:solidFill>
                <a:latin typeface="Arial"/>
              </a:rPr>
              <a:t>only brand + last4 + expiry + holder + billing address are stored; the PAN and CVC are NEVER persisted (PCI).</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threat this company actually faces</a:t>
            </a:r>
          </a:p>
        </p:txBody>
      </p:sp>
      <p:sp>
        <p:nvSpPr>
          <p:cNvPr id="20" name="TextBox 19"/>
          <p:cNvSpPr txBox="1"/>
          <p:nvPr/>
        </p:nvSpPr>
        <p:spPr>
          <a:xfrm>
            <a:off x="6419088" y="1737360"/>
            <a:ext cx="5166360" cy="155448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For a trust-moat company the journalist threshold sits BELOW the legal one, a devastating exposé is a bigger extinction risk than the regulator. The defence is not secrecy (secrecy makes the break explosive) but building and framing each mechanism as genuinely member-protective, so the honest answer to a hostile question is boring. Three live red alerts are managed for exactly this reason: no sale of individual intent leads (reframed as Goal Direct-Pay), no public default flag (the flag is INTERNAL, gating hosting and marketplace, never a wall of shame), and the salary anchor is framed as member-protective with a pause-with-reason that costs score, not access, never “you can’t turn it off.”</a:t>
            </a:r>
          </a:p>
        </p:txBody>
      </p:sp>
      <p:sp>
        <p:nvSpPr>
          <p:cNvPr id="21" name="TextBox 20"/>
          <p:cNvSpPr txBox="1"/>
          <p:nvPr/>
        </p:nvSpPr>
        <p:spPr>
          <a:xfrm>
            <a:off x="566928" y="3977639"/>
            <a:ext cx="548640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More of the stack, specifically</a:t>
            </a:r>
          </a:p>
        </p:txBody>
      </p:sp>
      <p:sp>
        <p:nvSpPr>
          <p:cNvPr id="22" name="TextBox 21"/>
          <p:cNvSpPr txBox="1"/>
          <p:nvPr/>
        </p:nvSpPr>
        <p:spPr>
          <a:xfrm>
            <a:off x="566928" y="4297680"/>
            <a:ext cx="5486400" cy="365760"/>
          </a:xfrm>
          <a:prstGeom prst="rect">
            <a:avLst/>
          </a:prstGeom>
          <a:noFill/>
        </p:spPr>
        <p:txBody>
          <a:bodyPr wrap="square" lIns="0" rIns="0" tIns="0" bIns="0">
            <a:spAutoFit/>
          </a:bodyPr>
          <a:lstStyle/>
          <a:p>
            <a:pPr>
              <a:lnSpc>
                <a:spcPct val="108000"/>
              </a:lnSpc>
              <a:spcAft>
                <a:spcPts val="500"/>
              </a:spcAft>
            </a:pPr>
            <a:r>
              <a:rPr sz="919" b="1">
                <a:solidFill>
                  <a:srgbClr val="D9A93C"/>
                </a:solidFill>
                <a:latin typeface="Georgia"/>
              </a:rPr>
              <a:t>|  </a:t>
            </a:r>
            <a:r>
              <a:rPr sz="919" b="1">
                <a:solidFill>
                  <a:srgbClr val="123D30"/>
                </a:solidFill>
                <a:latin typeface="Arial"/>
              </a:rPr>
              <a:t>Secrets by environment  </a:t>
            </a:r>
            <a:r>
              <a:rPr sz="919">
                <a:solidFill>
                  <a:srgbClr val="0E1512"/>
                </a:solidFill>
                <a:latin typeface="Arial"/>
              </a:rPr>
              <a:t>every key is injected as an encrypted Vercel environment variable, never committed; assertSecretsStrong refuses to boot on a weak value.</a:t>
            </a:r>
          </a:p>
          <a:p>
            <a:pPr>
              <a:lnSpc>
                <a:spcPct val="108000"/>
              </a:lnSpc>
              <a:spcAft>
                <a:spcPts val="500"/>
              </a:spcAft>
            </a:pPr>
            <a:r>
              <a:rPr sz="919" b="1">
                <a:solidFill>
                  <a:srgbClr val="D9A93C"/>
                </a:solidFill>
                <a:latin typeface="Georgia"/>
              </a:rPr>
              <a:t>|  </a:t>
            </a:r>
            <a:r>
              <a:rPr sz="919" b="1">
                <a:solidFill>
                  <a:srgbClr val="123D30"/>
                </a:solidFill>
                <a:latin typeface="Arial"/>
              </a:rPr>
              <a:t>Deploy safety  </a:t>
            </a:r>
            <a:r>
              <a:rPr sz="919">
                <a:solidFill>
                  <a:srgbClr val="0E1512"/>
                </a:solidFill>
                <a:latin typeface="Arial"/>
              </a:rPr>
              <a:t>production schema changes are additive-only hand-written SQL applied before the deploy, so old and new code both stay correct and a rollback never corrupts data. A blind prisma db push against production is blocked by policy.</a:t>
            </a:r>
          </a:p>
          <a:p>
            <a:pPr>
              <a:lnSpc>
                <a:spcPct val="108000"/>
              </a:lnSpc>
              <a:spcAft>
                <a:spcPts val="500"/>
              </a:spcAft>
            </a:pPr>
            <a:r>
              <a:rPr sz="919" b="1">
                <a:solidFill>
                  <a:srgbClr val="D9A93C"/>
                </a:solidFill>
                <a:latin typeface="Georgia"/>
              </a:rPr>
              <a:t>|  </a:t>
            </a:r>
            <a:r>
              <a:rPr sz="919" b="1">
                <a:solidFill>
                  <a:srgbClr val="123D30"/>
                </a:solidFill>
                <a:latin typeface="Arial"/>
              </a:rPr>
              <a:t>Serverless resilience  </a:t>
            </a:r>
            <a:r>
              <a:rPr sz="919">
                <a:solidFill>
                  <a:srgbClr val="0E1512"/>
                </a:solidFill>
                <a:latin typeface="Arial"/>
              </a:rPr>
              <a:t>the Prisma pool is pinned to connection_limit=1 with a 20-second pool timeout, so a traffic spike cannot exhaust the pooler; every write is idempotent, so a retried request settles once.</a:t>
            </a:r>
          </a:p>
          <a:p>
            <a:pPr>
              <a:lnSpc>
                <a:spcPct val="108000"/>
              </a:lnSpc>
              <a:spcAft>
                <a:spcPts val="500"/>
              </a:spcAft>
            </a:pPr>
            <a:r>
              <a:rPr sz="919" b="1">
                <a:solidFill>
                  <a:srgbClr val="D9A93C"/>
                </a:solidFill>
                <a:latin typeface="Georgia"/>
              </a:rPr>
              <a:t>|  </a:t>
            </a:r>
            <a:r>
              <a:rPr sz="919" b="1">
                <a:solidFill>
                  <a:srgbClr val="123D30"/>
                </a:solidFill>
                <a:latin typeface="Arial"/>
              </a:rPr>
              <a:t>Client safety  </a:t>
            </a:r>
            <a:r>
              <a:rPr sz="919">
                <a:solidFill>
                  <a:srgbClr val="0E1512"/>
                </a:solidFill>
                <a:latin typeface="Arial"/>
              </a:rPr>
              <a:t>HTTPS only, no stack traces to the client, request-size limits, and an ErrorBoundary so a render fault never leaks internals.</a:t>
            </a:r>
          </a:p>
        </p:txBody>
      </p:sp>
      <p:sp>
        <p:nvSpPr>
          <p:cNvPr id="23" name="TextBox 22"/>
          <p:cNvSpPr txBox="1"/>
          <p:nvPr/>
        </p:nvSpPr>
        <p:spPr>
          <a:xfrm>
            <a:off x="6419088" y="3703320"/>
            <a:ext cx="516636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Hardening on the roadmap, named not hidden</a:t>
            </a:r>
          </a:p>
        </p:txBody>
      </p:sp>
      <p:sp>
        <p:nvSpPr>
          <p:cNvPr id="24" name="TextBox 23"/>
          <p:cNvSpPr txBox="1"/>
          <p:nvPr/>
        </p:nvSpPr>
        <p:spPr>
          <a:xfrm>
            <a:off x="6419088" y="4023360"/>
            <a:ext cx="5166360" cy="365760"/>
          </a:xfrm>
          <a:prstGeom prst="rect">
            <a:avLst/>
          </a:prstGeom>
          <a:noFill/>
        </p:spPr>
        <p:txBody>
          <a:bodyPr wrap="square" lIns="0" rIns="0" tIns="0" bIns="0">
            <a:spAutoFit/>
          </a:bodyPr>
          <a:lstStyle/>
          <a:p>
            <a:pPr>
              <a:lnSpc>
                <a:spcPct val="108000"/>
              </a:lnSpc>
              <a:spcAft>
                <a:spcPts val="500"/>
              </a:spcAft>
            </a:pPr>
            <a:r>
              <a:rPr sz="919" b="1">
                <a:solidFill>
                  <a:srgbClr val="D9A93C"/>
                </a:solidFill>
                <a:latin typeface="Georgia"/>
              </a:rPr>
              <a:t>|  </a:t>
            </a:r>
            <a:r>
              <a:rPr sz="919" b="1">
                <a:solidFill>
                  <a:srgbClr val="123D30"/>
                </a:solidFill>
                <a:latin typeface="Arial"/>
              </a:rPr>
              <a:t>Rotate the database password  </a:t>
            </a:r>
            <a:r>
              <a:rPr sz="919">
                <a:solidFill>
                  <a:srgbClr val="0E1512"/>
                </a:solidFill>
                <a:latin typeface="Arial"/>
              </a:rPr>
              <a:t>chat-exposed on 20 July, still not rotated. Do it before real users.</a:t>
            </a:r>
          </a:p>
          <a:p>
            <a:pPr>
              <a:lnSpc>
                <a:spcPct val="108000"/>
              </a:lnSpc>
              <a:spcAft>
                <a:spcPts val="500"/>
              </a:spcAft>
            </a:pPr>
            <a:r>
              <a:rPr sz="919" b="1">
                <a:solidFill>
                  <a:srgbClr val="D9A93C"/>
                </a:solidFill>
                <a:latin typeface="Georgia"/>
              </a:rPr>
              <a:t>|  </a:t>
            </a:r>
            <a:r>
              <a:rPr sz="919" b="1">
                <a:solidFill>
                  <a:srgbClr val="123D30"/>
                </a:solidFill>
                <a:latin typeface="Arial"/>
              </a:rPr>
              <a:t>Least-privilege database role  </a:t>
            </a:r>
            <a:r>
              <a:rPr sz="919">
                <a:solidFill>
                  <a:srgbClr val="0E1512"/>
                </a:solidFill>
                <a:latin typeface="Arial"/>
              </a:rPr>
              <a:t>move the app off the master role.</a:t>
            </a:r>
          </a:p>
          <a:p>
            <a:pPr>
              <a:lnSpc>
                <a:spcPct val="108000"/>
              </a:lnSpc>
              <a:spcAft>
                <a:spcPts val="500"/>
              </a:spcAft>
            </a:pPr>
            <a:r>
              <a:rPr sz="919" b="1">
                <a:solidFill>
                  <a:srgbClr val="D9A93C"/>
                </a:solidFill>
                <a:latin typeface="Georgia"/>
              </a:rPr>
              <a:t>|  </a:t>
            </a:r>
            <a:r>
              <a:rPr sz="919" b="1">
                <a:solidFill>
                  <a:srgbClr val="123D30"/>
                </a:solidFill>
                <a:latin typeface="Arial"/>
              </a:rPr>
              <a:t>Admin second factor and alerting  </a:t>
            </a:r>
            <a:r>
              <a:rPr sz="919">
                <a:solidFill>
                  <a:srgbClr val="0E1512"/>
                </a:solidFill>
                <a:latin typeface="Arial"/>
              </a:rPr>
              <a:t>2FA for admin access; alerts on error rates and failed-login bursts.</a:t>
            </a:r>
          </a:p>
          <a:p>
            <a:pPr>
              <a:lnSpc>
                <a:spcPct val="108000"/>
              </a:lnSpc>
              <a:spcAft>
                <a:spcPts val="500"/>
              </a:spcAft>
            </a:pPr>
            <a:r>
              <a:rPr sz="919" b="1">
                <a:solidFill>
                  <a:srgbClr val="D9A93C"/>
                </a:solidFill>
                <a:latin typeface="Georgia"/>
              </a:rPr>
              <a:t>|  </a:t>
            </a:r>
            <a:r>
              <a:rPr sz="919" b="1">
                <a:solidFill>
                  <a:srgbClr val="123D30"/>
                </a:solidFill>
                <a:latin typeface="Arial"/>
              </a:rPr>
              <a:t>External penetration test  </a:t>
            </a:r>
            <a:r>
              <a:rPr sz="919">
                <a:solidFill>
                  <a:srgbClr val="0E1512"/>
                </a:solidFill>
                <a:latin typeface="Arial"/>
              </a:rPr>
              <a:t>when a counterparty requires one.</a:t>
            </a:r>
          </a:p>
        </p:txBody>
      </p:sp>
      <p:sp>
        <p:nvSpPr>
          <p:cNvPr id="25" name="TextBox 24"/>
          <p:cNvSpPr txBox="1"/>
          <p:nvPr/>
        </p:nvSpPr>
        <p:spPr>
          <a:xfrm>
            <a:off x="6419088" y="585216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SECURITY_RELAXED=true disables lockout, password and replay checks for local testing only; the suite auto-detects and skips those. 97 unit tests and the integration suite pass green; both packages type-clean.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SECURITY</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Data protection</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whole pitch is “we are the one that does not do what those apps did.” A single screenshot of a harvesting permission ends that sentence, so the data boundary is not a compliance chore, it is the product’s core asset, defended structurally.</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60</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0000"/>
              </a:lnSpc>
              <a:spcAft>
                <a:spcPts val="600"/>
              </a:spcAft>
            </a:pPr>
            <a:r>
              <a:rPr sz="940" b="1">
                <a:solidFill>
                  <a:srgbClr val="D9A93C"/>
                </a:solidFill>
                <a:latin typeface="Georgia"/>
              </a:rPr>
              <a:t>|  </a:t>
            </a:r>
            <a:r>
              <a:rPr sz="940" b="1">
                <a:solidFill>
                  <a:srgbClr val="123D30"/>
                </a:solidFill>
                <a:latin typeface="Arial"/>
              </a:rPr>
              <a:t>Volunteered, purpose-bound, minimal  </a:t>
            </a:r>
            <a:r>
              <a:rPr sz="940">
                <a:solidFill>
                  <a:srgbClr val="0E1512"/>
                </a:solidFill>
                <a:latin typeface="Arial"/>
              </a:rPr>
              <a:t>every datum arrives because the member handed it over for a stated purpose. The device-layer version of the no-custody thesis: structure, not promises.</a:t>
            </a:r>
          </a:p>
          <a:p>
            <a:pPr>
              <a:lnSpc>
                <a:spcPct val="110000"/>
              </a:lnSpc>
              <a:spcAft>
                <a:spcPts val="600"/>
              </a:spcAft>
            </a:pPr>
            <a:r>
              <a:rPr sz="940" b="1">
                <a:solidFill>
                  <a:srgbClr val="D9A93C"/>
                </a:solidFill>
                <a:latin typeface="Georgia"/>
              </a:rPr>
              <a:t>|  </a:t>
            </a:r>
            <a:r>
              <a:rPr sz="940" b="1">
                <a:solidFill>
                  <a:srgbClr val="123D30"/>
                </a:solidFill>
                <a:latin typeface="Arial"/>
              </a:rPr>
              <a:t>On-device, hashed matching only  </a:t>
            </a:r>
            <a:r>
              <a:rPr sz="940">
                <a:solidFill>
                  <a:srgbClr val="0E1512"/>
                </a:solidFill>
                <a:latin typeface="Arial"/>
              </a:rPr>
              <a:t>the contact check that matters, each member having the HOST saved, is done on-device with hashed matching, so no address book ever reaches Halqa. Contacts, gallery and SMS are never requested at all.</a:t>
            </a:r>
          </a:p>
          <a:p>
            <a:pPr>
              <a:lnSpc>
                <a:spcPct val="110000"/>
              </a:lnSpc>
              <a:spcAft>
                <a:spcPts val="600"/>
              </a:spcAft>
            </a:pPr>
            <a:r>
              <a:rPr sz="940" b="1">
                <a:solidFill>
                  <a:srgbClr val="D9A93C"/>
                </a:solidFill>
                <a:latin typeface="Georgia"/>
              </a:rPr>
              <a:t>|  </a:t>
            </a:r>
            <a:r>
              <a:rPr sz="940" b="1">
                <a:solidFill>
                  <a:srgbClr val="123D30"/>
                </a:solidFill>
                <a:latin typeface="Arial"/>
              </a:rPr>
              <a:t>Never store raw biometrics  </a:t>
            </a:r>
            <a:r>
              <a:rPr sz="940">
                <a:solidFill>
                  <a:srgbClr val="0E1512"/>
                </a:solidFill>
                <a:latin typeface="Arial"/>
              </a:rPr>
              <a:t>only the NADRA result and reference ID; never a template or an image.</a:t>
            </a:r>
          </a:p>
          <a:p>
            <a:pPr>
              <a:lnSpc>
                <a:spcPct val="110000"/>
              </a:lnSpc>
              <a:spcAft>
                <a:spcPts val="600"/>
              </a:spcAft>
            </a:pPr>
            <a:r>
              <a:rPr sz="940" b="1">
                <a:solidFill>
                  <a:srgbClr val="D9A93C"/>
                </a:solidFill>
                <a:latin typeface="Georgia"/>
              </a:rPr>
              <a:t>|  </a:t>
            </a:r>
            <a:r>
              <a:rPr sz="940" b="1">
                <a:solidFill>
                  <a:srgbClr val="123D30"/>
                </a:solidFill>
                <a:latin typeface="Arial"/>
              </a:rPr>
              <a:t>Incentivised volunteering beats scraping  </a:t>
            </a:r>
            <a:r>
              <a:rPr sz="940">
                <a:solidFill>
                  <a:srgbClr val="0E1512"/>
                </a:solidFill>
                <a:latin typeface="Arial"/>
              </a:rPr>
              <a:t>a fee discount or score boost for uploading a statement or linking salary yields the same payload, consented, structured and better, and it survives every Google and SECP filter forever.</a:t>
            </a:r>
          </a:p>
          <a:p>
            <a:pPr>
              <a:lnSpc>
                <a:spcPct val="110000"/>
              </a:lnSpc>
              <a:spcAft>
                <a:spcPts val="600"/>
              </a:spcAft>
            </a:pPr>
            <a:r>
              <a:rPr sz="940" b="1">
                <a:solidFill>
                  <a:srgbClr val="D9A93C"/>
                </a:solidFill>
                <a:latin typeface="Georgia"/>
              </a:rPr>
              <a:t>|  </a:t>
            </a:r>
            <a:r>
              <a:rPr sz="940" b="1">
                <a:solidFill>
                  <a:srgbClr val="123D30"/>
                </a:solidFill>
                <a:latin typeface="Arial"/>
              </a:rPr>
              <a:t>Grey telemetry stays invisible-and-defensive  </a:t>
            </a:r>
            <a:r>
              <a:rPr sz="940">
                <a:solidFill>
                  <a:srgbClr val="0E1512"/>
                </a:solidFill>
                <a:latin typeface="Arial"/>
              </a:rPr>
              <a:t>device fingerprint, behavioural biometrics, session timing used for fraud, security and risk pricing, never visible-and-extractive profiling of inferred wealth for sale.</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precedent that sets the red line</a:t>
            </a:r>
          </a:p>
        </p:txBody>
      </p:sp>
      <p:sp>
        <p:nvSpPr>
          <p:cNvPr id="20" name="TextBox 19"/>
          <p:cNvSpPr txBox="1"/>
          <p:nvPr/>
        </p:nvSpPr>
        <p:spPr>
          <a:xfrm>
            <a:off x="6419088" y="1737360"/>
            <a:ext cx="5166360" cy="192024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Pakistan’s 2023-25 nano-lending crackdown removed 400+ apps and made arrests, after a recovery playbook of contact-and-gallery harvesting, shaming calls, and morphed photos, a Rawalpindi borrower went from Rs 13,000 to Rs 100,000 owed to a suicide. SECP Circulars 3/10/14/15 of 2023 and Google Play (31 May 2023) banned the entire toolkit, contacts, gallery, precise location as a lender, READ_SMS, QUERY_ALL_PACKAGES, mostly EVEN WITH CONSENT. So consent is not a defence, and these are named criminal patterns to cite, not abstractions to argue around.</a:t>
            </a:r>
          </a:p>
        </p:txBody>
      </p:sp>
      <p:sp>
        <p:nvSpPr>
          <p:cNvPr id="21" name="TextBox 20"/>
          <p:cNvSpPr txBox="1"/>
          <p:nvPr/>
        </p:nvSpPr>
        <p:spPr>
          <a:xfrm>
            <a:off x="6419088" y="379476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The credit-alert listener is defensible ONLY because of four properties stated in plain words on the consent screen: notification access not SMS, opt-in, on-device parse, aggregates-only upload.</a:t>
            </a:r>
          </a:p>
        </p:txBody>
      </p:sp>
      <p:sp>
        <p:nvSpPr>
          <p:cNvPr id="22" name="Rectangle 21"/>
          <p:cNvSpPr/>
          <p:nvPr/>
        </p:nvSpPr>
        <p:spPr>
          <a:xfrm>
            <a:off x="6419088" y="4480560"/>
            <a:ext cx="45720" cy="146304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620256" y="4517136"/>
            <a:ext cx="4937760" cy="1463040"/>
          </a:xfrm>
          <a:prstGeom prst="rect">
            <a:avLst/>
          </a:prstGeom>
          <a:noFill/>
        </p:spPr>
        <p:txBody>
          <a:bodyPr wrap="square" lIns="0" rIns="0" tIns="0" bIns="0" anchor="t">
            <a:spAutoFit/>
          </a:bodyPr>
          <a:lstStyle/>
          <a:p>
            <a:pPr algn="l">
              <a:lnSpc>
                <a:spcPct val="116000"/>
              </a:lnSpc>
              <a:spcAft>
                <a:spcPts val="400"/>
              </a:spcAft>
            </a:pPr>
            <a:r>
              <a:rPr sz="960" b="0" i="0">
                <a:solidFill>
                  <a:srgbClr val="0E1512"/>
                </a:solidFill>
                <a:latin typeface="Arial"/>
              </a:rPr>
              <a:t>The best single line for any room: they had to manufacture leverage over people they knew nothing about, so they harvested and shamed; Halqa does not, the seat is collateral, exposure is capped at about two installments, the circle is pre-existing, and the record is court-admissible.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SECURITY</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Money-safety engineering, and the open items</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What makes a settlement a settlement, and the operational and security work still outstanding before the platform opens to the public. Nothing here is hidden; the honest gap is part of the report.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61</a:t>
            </a:r>
          </a:p>
        </p:txBody>
      </p:sp>
      <p:sp>
        <p:nvSpPr>
          <p:cNvPr id="18" name="TextBox 17"/>
          <p:cNvSpPr txBox="1"/>
          <p:nvPr/>
        </p:nvSpPr>
        <p:spPr>
          <a:xfrm>
            <a:off x="566928" y="1408176"/>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What makes money safe here</a:t>
            </a:r>
          </a:p>
        </p:txBody>
      </p:sp>
      <p:sp>
        <p:nvSpPr>
          <p:cNvPr id="19" name="TextBox 18"/>
          <p:cNvSpPr txBox="1"/>
          <p:nvPr/>
        </p:nvSpPr>
        <p:spPr>
          <a:xfrm>
            <a:off x="566928" y="1737360"/>
            <a:ext cx="5486400" cy="365760"/>
          </a:xfrm>
          <a:prstGeom prst="rect">
            <a:avLst/>
          </a:prstGeom>
          <a:noFill/>
        </p:spPr>
        <p:txBody>
          <a:bodyPr wrap="square" lIns="0" rIns="0" tIns="0" bIns="0">
            <a:spAutoFit/>
          </a:bodyPr>
          <a:lstStyle/>
          <a:p>
            <a:pPr>
              <a:lnSpc>
                <a:spcPct val="108000"/>
              </a:lnSpc>
              <a:spcAft>
                <a:spcPts val="500"/>
              </a:spcAft>
            </a:pPr>
            <a:r>
              <a:rPr sz="940" b="1">
                <a:solidFill>
                  <a:srgbClr val="D9A93C"/>
                </a:solidFill>
                <a:latin typeface="Georgia"/>
              </a:rPr>
              <a:t>|  </a:t>
            </a:r>
            <a:r>
              <a:rPr sz="940" b="1">
                <a:solidFill>
                  <a:srgbClr val="123D30"/>
                </a:solidFill>
                <a:latin typeface="Arial"/>
              </a:rPr>
              <a:t>Reconciliation, non-negotiable  </a:t>
            </a:r>
            <a:r>
              <a:rPr sz="940">
                <a:solidFill>
                  <a:srgbClr val="0E1512"/>
                </a:solidFill>
                <a:latin typeface="Arial"/>
              </a:rPr>
              <a:t>a daily aggregator settlement file matched line-by-line against the ledger, any mismatch alerting, without it a “settlement” is still an assertion.</a:t>
            </a:r>
          </a:p>
          <a:p>
            <a:pPr>
              <a:lnSpc>
                <a:spcPct val="108000"/>
              </a:lnSpc>
              <a:spcAft>
                <a:spcPts val="500"/>
              </a:spcAft>
            </a:pPr>
            <a:r>
              <a:rPr sz="940" b="1">
                <a:solidFill>
                  <a:srgbClr val="D9A93C"/>
                </a:solidFill>
                <a:latin typeface="Georgia"/>
              </a:rPr>
              <a:t>|  </a:t>
            </a:r>
            <a:r>
              <a:rPr sz="940" b="1">
                <a:solidFill>
                  <a:srgbClr val="123D30"/>
                </a:solidFill>
                <a:latin typeface="Arial"/>
              </a:rPr>
              <a:t>Idempotency everywhere  </a:t>
            </a:r>
            <a:r>
              <a:rPr sz="940">
                <a:solidFill>
                  <a:srgbClr val="0E1512"/>
                </a:solidFill>
                <a:latin typeface="Arial"/>
              </a:rPr>
              <a:t>every write keyed, so a duplicate webhook or a retried request settles exactly once.</a:t>
            </a:r>
          </a:p>
          <a:p>
            <a:pPr>
              <a:lnSpc>
                <a:spcPct val="108000"/>
              </a:lnSpc>
              <a:spcAft>
                <a:spcPts val="500"/>
              </a:spcAft>
            </a:pPr>
            <a:r>
              <a:rPr sz="940" b="1">
                <a:solidFill>
                  <a:srgbClr val="D9A93C"/>
                </a:solidFill>
                <a:latin typeface="Georgia"/>
              </a:rPr>
              <a:t>|  </a:t>
            </a:r>
            <a:r>
              <a:rPr sz="940" b="1">
                <a:solidFill>
                  <a:srgbClr val="123D30"/>
                </a:solidFill>
                <a:latin typeface="Arial"/>
              </a:rPr>
              <a:t>No payout waits on a redemption  </a:t>
            </a:r>
            <a:r>
              <a:rPr sz="940">
                <a:solidFill>
                  <a:srgbClr val="0E1512"/>
                </a:solidFill>
                <a:latin typeface="Arial"/>
              </a:rPr>
              <a:t>the Stage-2 hard invariant; the 10th is funded from the AMC settlement account or cover, the redemption settles behind it.</a:t>
            </a:r>
          </a:p>
          <a:p>
            <a:pPr>
              <a:lnSpc>
                <a:spcPct val="108000"/>
              </a:lnSpc>
              <a:spcAft>
                <a:spcPts val="500"/>
              </a:spcAft>
            </a:pPr>
            <a:r>
              <a:rPr sz="940" b="1">
                <a:solidFill>
                  <a:srgbClr val="D9A93C"/>
                </a:solidFill>
                <a:latin typeface="Georgia"/>
              </a:rPr>
              <a:t>|  </a:t>
            </a:r>
            <a:r>
              <a:rPr sz="940" b="1">
                <a:solidFill>
                  <a:srgbClr val="123D30"/>
                </a:solidFill>
                <a:latin typeface="Arial"/>
              </a:rPr>
              <a:t>Halqa never seizes  </a:t>
            </a:r>
            <a:r>
              <a:rPr sz="940">
                <a:solidFill>
                  <a:srgbClr val="0E1512"/>
                </a:solidFill>
                <a:latin typeface="Arial"/>
              </a:rPr>
              <a:t>it instructs a trustee under a pre-signed mandate, or hands an evidence pack to a court; the set-off always runs in favour of the circle’s members.</a:t>
            </a:r>
          </a:p>
          <a:p>
            <a:pPr>
              <a:lnSpc>
                <a:spcPct val="108000"/>
              </a:lnSpc>
              <a:spcAft>
                <a:spcPts val="500"/>
              </a:spcAft>
            </a:pPr>
            <a:r>
              <a:rPr sz="940" b="1">
                <a:solidFill>
                  <a:srgbClr val="D9A93C"/>
                </a:solidFill>
                <a:latin typeface="Georgia"/>
              </a:rPr>
              <a:t>|  </a:t>
            </a:r>
            <a:r>
              <a:rPr sz="940" b="1">
                <a:solidFill>
                  <a:srgbClr val="123D30"/>
                </a:solidFill>
                <a:latin typeface="Arial"/>
              </a:rPr>
              <a:t>Distinct failure semantics  </a:t>
            </a:r>
            <a:r>
              <a:rPr sz="940">
                <a:solidFill>
                  <a:srgbClr val="0E1512"/>
                </a:solidFill>
                <a:latin typeface="Arial"/>
              </a:rPr>
              <a:t>EXPIRED resends; DECLINED escalates to a second rail; INSUFFICIENT_FUNDS re-attempts on the next detected credit alert.</a:t>
            </a:r>
          </a:p>
        </p:txBody>
      </p:sp>
      <p:sp>
        <p:nvSpPr>
          <p:cNvPr id="20" name="TextBox 19"/>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Open operational and security items</a:t>
            </a:r>
          </a:p>
        </p:txBody>
      </p:sp>
      <p:graphicFrame>
        <p:nvGraphicFramePr>
          <p:cNvPr id="21" name="Table 20"/>
          <p:cNvGraphicFramePr>
            <a:graphicFrameLocks noGrp="1"/>
          </p:cNvGraphicFramePr>
          <p:nvPr/>
        </p:nvGraphicFramePr>
        <p:xfrm>
          <a:off x="6419088" y="1737360"/>
          <a:ext cx="5166359" cy="2824398"/>
        </p:xfrm>
        <a:graphic>
          <a:graphicData uri="http://schemas.openxmlformats.org/drawingml/2006/table">
            <a:tbl>
              <a:tblPr>
                <a:tableStyleId>{5C22544A-7EE6-4342-B048-85BDC9FD1C3A}</a:tableStyleId>
              </a:tblPr>
              <a:tblGrid>
                <a:gridCol w="1136599"/>
                <a:gridCol w="4029760"/>
              </a:tblGrid>
              <a:tr h="410382">
                <a:tc>
                  <a:txBody>
                    <a:bodyPr wrap="square"/>
                    <a:lstStyle/>
                    <a:p>
                      <a:pPr algn="l"/>
                      <a:r>
                        <a:rPr sz="900" b="1">
                          <a:solidFill>
                            <a:srgbClr val="F6F1E4"/>
                          </a:solidFill>
                          <a:latin typeface="Arial"/>
                        </a:rPr>
                        <a:t>Priority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Item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402336">
                <a:tc>
                  <a:txBody>
                    <a:bodyPr wrap="square"/>
                    <a:lstStyle/>
                    <a:p>
                      <a:pPr algn="l"/>
                      <a:r>
                        <a:rPr sz="880" b="0">
                          <a:solidFill>
                            <a:srgbClr val="0E1512"/>
                          </a:solidFill>
                          <a:latin typeface="Arial"/>
                        </a:rPr>
                        <a:t>HIGH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Rotate the Supabase DB password (chat-exposed 20 July, still not rotated) before real users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80" b="0">
                          <a:solidFill>
                            <a:srgbClr val="0E1512"/>
                          </a:solidFill>
                          <a:latin typeface="Arial"/>
                        </a:rPr>
                        <a:t>HIGH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Wipe demo seed data from production before real users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80" b="0">
                          <a:solidFill>
                            <a:srgbClr val="0E1512"/>
                          </a:solidFill>
                          <a:latin typeface="Arial"/>
                        </a:rPr>
                        <a:t>HIGH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Build abuse detection for credibility-by-proxy before opening to the public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80" b="0">
                          <a:solidFill>
                            <a:srgbClr val="0E1512"/>
                          </a:solidFill>
                          <a:latin typeface="Arial"/>
                        </a:rPr>
                        <a:t>MEDIUM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Move the app off the master DB role to least-privilege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80" b="0">
                          <a:solidFill>
                            <a:srgbClr val="0E1512"/>
                          </a:solidFill>
                          <a:latin typeface="Arial"/>
                        </a:rPr>
                        <a:t>MEDIUM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A second factor for admin access; alerting on error and failed-login bursts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402336">
                <a:tc>
                  <a:txBody>
                    <a:bodyPr wrap="square"/>
                    <a:lstStyle/>
                    <a:p>
                      <a:pPr algn="l"/>
                      <a:r>
                        <a:rPr sz="880" b="0">
                          <a:solidFill>
                            <a:srgbClr val="0E1512"/>
                          </a:solidFill>
                          <a:latin typeface="Arial"/>
                        </a:rPr>
                        <a:t>MEDIUM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Retain counsel, the undertaking and PG are unreviewed drafts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2" name="TextBox 21"/>
          <p:cNvSpPr txBox="1"/>
          <p:nvPr/>
        </p:nvSpPr>
        <p:spPr>
          <a:xfrm>
            <a:off x="6419088" y="4480560"/>
            <a:ext cx="516636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The credibility-by-proxy risk: Halqa manufactures verifiable credibility, which is exactly what a fraudster needs. The control set, cap concurrent circles per organiser, flag implausible growth, watch member concentration, scope the Passport to on-platform history, is cheap to build and protects the one asset that cannot be rebuilt.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ECONOMICS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The complete fee book</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Members pay Rs 0 to join and Rs 0 to pay an installment, forever. Every charge below is on an OPTIONAL priced event or is paid by a counterparty. That boundary is what makes the Rs 0 promise true rather than marketing.</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62</a:t>
            </a:r>
          </a:p>
        </p:txBody>
      </p:sp>
      <p:sp>
        <p:nvSpPr>
          <p:cNvPr id="18" name="TextBox 17"/>
          <p:cNvSpPr txBox="1"/>
          <p:nvPr/>
        </p:nvSpPr>
        <p:spPr>
          <a:xfrm>
            <a:off x="566928" y="1371600"/>
            <a:ext cx="5486400" cy="256032"/>
          </a:xfrm>
          <a:prstGeom prst="rect">
            <a:avLst/>
          </a:prstGeom>
          <a:noFill/>
        </p:spPr>
        <p:txBody>
          <a:bodyPr wrap="square" lIns="0" rIns="0" tIns="0" bIns="0" anchor="t">
            <a:spAutoFit/>
          </a:bodyPr>
          <a:lstStyle/>
          <a:p>
            <a:pPr algn="l">
              <a:lnSpc>
                <a:spcPct val="100000"/>
              </a:lnSpc>
              <a:spcAft>
                <a:spcPts val="400"/>
              </a:spcAft>
            </a:pPr>
            <a:r>
              <a:rPr sz="1050" b="0" i="0">
                <a:solidFill>
                  <a:srgbClr val="123D30"/>
                </a:solidFill>
                <a:latin typeface="Georgia"/>
              </a:rPr>
              <a:t>A · Member-borne, per round (cap: min(1.5%, Rs 300))</a:t>
            </a:r>
          </a:p>
        </p:txBody>
      </p:sp>
      <p:graphicFrame>
        <p:nvGraphicFramePr>
          <p:cNvPr id="19" name="Table 18"/>
          <p:cNvGraphicFramePr>
            <a:graphicFrameLocks noGrp="1"/>
          </p:cNvGraphicFramePr>
          <p:nvPr/>
        </p:nvGraphicFramePr>
        <p:xfrm>
          <a:off x="566928" y="1664208"/>
          <a:ext cx="5486400" cy="591068"/>
        </p:xfrm>
        <a:graphic>
          <a:graphicData uri="http://schemas.openxmlformats.org/drawingml/2006/table">
            <a:tbl>
              <a:tblPr>
                <a:tableStyleId>{5C22544A-7EE6-4342-B048-85BDC9FD1C3A}</a:tableStyleId>
              </a:tblPr>
              <a:tblGrid>
                <a:gridCol w="1865376"/>
                <a:gridCol w="1316736"/>
                <a:gridCol w="1316736"/>
                <a:gridCol w="987552"/>
              </a:tblGrid>
              <a:tr h="298460">
                <a:tc>
                  <a:txBody>
                    <a:bodyPr wrap="square"/>
                    <a:lstStyle/>
                    <a:p>
                      <a:pPr algn="l"/>
                      <a:r>
                        <a:rPr sz="880" b="1">
                          <a:solidFill>
                            <a:srgbClr val="F6F1E4"/>
                          </a:solidFill>
                          <a:latin typeface="Arial"/>
                        </a:rPr>
                        <a:t>Charge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Open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Known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HYPER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292608">
                <a:tc>
                  <a:txBody>
                    <a:bodyPr wrap="square"/>
                    <a:lstStyle/>
                    <a:p>
                      <a:pPr algn="l"/>
                      <a:r>
                        <a:rPr sz="880" b="0">
                          <a:solidFill>
                            <a:srgbClr val="0E1512"/>
                          </a:solidFill>
                          <a:latin typeface="Arial"/>
                        </a:rPr>
                        <a:t>Cover premium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1.5% (≤Rs 300)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0.5% opt (≤Rs 150)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3.0%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2395728"/>
            <a:ext cx="5486400" cy="256032"/>
          </a:xfrm>
          <a:prstGeom prst="rect">
            <a:avLst/>
          </a:prstGeom>
          <a:noFill/>
        </p:spPr>
        <p:txBody>
          <a:bodyPr wrap="square" lIns="0" rIns="0" tIns="0" bIns="0" anchor="t">
            <a:spAutoFit/>
          </a:bodyPr>
          <a:lstStyle/>
          <a:p>
            <a:pPr algn="l">
              <a:lnSpc>
                <a:spcPct val="100000"/>
              </a:lnSpc>
              <a:spcAft>
                <a:spcPts val="400"/>
              </a:spcAft>
            </a:pPr>
            <a:r>
              <a:rPr sz="1050" b="0" i="0">
                <a:solidFill>
                  <a:srgbClr val="123D30"/>
                </a:solidFill>
                <a:latin typeface="Georgia"/>
              </a:rPr>
              <a:t>B · Pot-side, paid by the collector out of the pot</a:t>
            </a:r>
          </a:p>
        </p:txBody>
      </p:sp>
      <p:graphicFrame>
        <p:nvGraphicFramePr>
          <p:cNvPr id="21" name="Table 20"/>
          <p:cNvGraphicFramePr>
            <a:graphicFrameLocks noGrp="1"/>
          </p:cNvGraphicFramePr>
          <p:nvPr/>
        </p:nvGraphicFramePr>
        <p:xfrm>
          <a:off x="566928" y="2688336"/>
          <a:ext cx="5486400" cy="1377086"/>
        </p:xfrm>
        <a:graphic>
          <a:graphicData uri="http://schemas.openxmlformats.org/drawingml/2006/table">
            <a:tbl>
              <a:tblPr>
                <a:tableStyleId>{5C22544A-7EE6-4342-B048-85BDC9FD1C3A}</a:tableStyleId>
              </a:tblPr>
              <a:tblGrid>
                <a:gridCol w="2304288"/>
                <a:gridCol w="3182112"/>
              </a:tblGrid>
              <a:tr h="279806">
                <a:tc>
                  <a:txBody>
                    <a:bodyPr wrap="square"/>
                    <a:lstStyle/>
                    <a:p>
                      <a:pPr algn="l"/>
                      <a:r>
                        <a:rPr sz="880" b="1">
                          <a:solidFill>
                            <a:srgbClr val="F6F1E4"/>
                          </a:solidFill>
                          <a:latin typeface="Arial"/>
                        </a:rPr>
                        <a:t>Charge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Formula / rate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274320">
                <a:tc>
                  <a:txBody>
                    <a:bodyPr wrap="square"/>
                    <a:lstStyle/>
                    <a:p>
                      <a:pPr algn="l"/>
                      <a:r>
                        <a:rPr sz="860" b="0">
                          <a:solidFill>
                            <a:srgbClr val="0E1512"/>
                          </a:solidFill>
                          <a:latin typeface="Arial"/>
                        </a:rPr>
                        <a:t>Early-seat fee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base × (n−k)/(n−1); 100 / 175 / 250 bps open / known / HYPER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74320">
                <a:tc>
                  <a:txBody>
                    <a:bodyPr wrap="square"/>
                    <a:lstStyle/>
                    <a:p>
                      <a:pPr algn="l"/>
                      <a:r>
                        <a:rPr sz="860" b="0">
                          <a:solidFill>
                            <a:srgbClr val="0E1512"/>
                          </a:solidFill>
                          <a:latin typeface="Arial"/>
                        </a:rPr>
                        <a:t>Salary-verified discount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 0.8</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74320">
                <a:tc>
                  <a:txBody>
                    <a:bodyPr wrap="square"/>
                    <a:lstStyle/>
                    <a:p>
                      <a:pPr algn="l"/>
                      <a:r>
                        <a:rPr sz="860" b="0">
                          <a:solidFill>
                            <a:srgbClr val="0E1512"/>
                          </a:solidFill>
                          <a:latin typeface="Arial"/>
                        </a:rPr>
                        <a:t>Slot fee (Halqa fills a seat)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Rs 500 flat, ×0.8 if verified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74320">
                <a:tc>
                  <a:txBody>
                    <a:bodyPr wrap="square"/>
                    <a:lstStyle/>
                    <a:p>
                      <a:pPr algn="l"/>
                      <a:r>
                        <a:rPr sz="860" b="0">
                          <a:solidFill>
                            <a:srgbClr val="0E1512"/>
                          </a:solidFill>
                          <a:latin typeface="Arial"/>
                        </a:rPr>
                        <a:t>Marketplace / sponsor / auction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10% of the accepted premium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2" name="TextBox 21"/>
          <p:cNvSpPr txBox="1"/>
          <p:nvPr/>
        </p:nvSpPr>
        <p:spPr>
          <a:xfrm>
            <a:off x="566928" y="4206240"/>
            <a:ext cx="5486400" cy="256032"/>
          </a:xfrm>
          <a:prstGeom prst="rect">
            <a:avLst/>
          </a:prstGeom>
          <a:noFill/>
        </p:spPr>
        <p:txBody>
          <a:bodyPr wrap="square" lIns="0" rIns="0" tIns="0" bIns="0" anchor="t">
            <a:spAutoFit/>
          </a:bodyPr>
          <a:lstStyle/>
          <a:p>
            <a:pPr algn="l">
              <a:lnSpc>
                <a:spcPct val="100000"/>
              </a:lnSpc>
              <a:spcAft>
                <a:spcPts val="400"/>
              </a:spcAft>
            </a:pPr>
            <a:r>
              <a:rPr sz="1050" b="0" i="0">
                <a:solidFill>
                  <a:srgbClr val="123D30"/>
                </a:solidFill>
                <a:latin typeface="Georgia"/>
              </a:rPr>
              <a:t>C · Event-driven</a:t>
            </a:r>
          </a:p>
        </p:txBody>
      </p:sp>
      <p:graphicFrame>
        <p:nvGraphicFramePr>
          <p:cNvPr id="23" name="Table 22"/>
          <p:cNvGraphicFramePr>
            <a:graphicFrameLocks noGrp="1"/>
          </p:cNvGraphicFramePr>
          <p:nvPr/>
        </p:nvGraphicFramePr>
        <p:xfrm>
          <a:off x="566928" y="4498848"/>
          <a:ext cx="5486400" cy="1102766"/>
        </p:xfrm>
        <a:graphic>
          <a:graphicData uri="http://schemas.openxmlformats.org/drawingml/2006/table">
            <a:tbl>
              <a:tblPr>
                <a:tableStyleId>{5C22544A-7EE6-4342-B048-85BDC9FD1C3A}</a:tableStyleId>
              </a:tblPr>
              <a:tblGrid>
                <a:gridCol w="2304288"/>
                <a:gridCol w="1975104"/>
                <a:gridCol w="1207008"/>
              </a:tblGrid>
              <a:tr h="279806">
                <a:tc>
                  <a:txBody>
                    <a:bodyPr wrap="square"/>
                    <a:lstStyle/>
                    <a:p>
                      <a:pPr algn="l"/>
                      <a:r>
                        <a:rPr sz="880" b="1">
                          <a:solidFill>
                            <a:srgbClr val="F6F1E4"/>
                          </a:solidFill>
                          <a:latin typeface="Arial"/>
                        </a:rPr>
                        <a:t>Charge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Open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Known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274320">
                <a:tc>
                  <a:txBody>
                    <a:bodyPr wrap="square"/>
                    <a:lstStyle/>
                    <a:p>
                      <a:pPr algn="l"/>
                      <a:r>
                        <a:rPr sz="860" b="0">
                          <a:solidFill>
                            <a:srgbClr val="0E1512"/>
                          </a:solidFill>
                          <a:latin typeface="Arial"/>
                        </a:rPr>
                        <a:t>Late ladder (of installment)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3 / 7 / 12%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1 / 3 / 6%</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74320">
                <a:tc>
                  <a:txBody>
                    <a:bodyPr wrap="square"/>
                    <a:lstStyle/>
                    <a:p>
                      <a:pPr algn="l"/>
                      <a:r>
                        <a:rPr sz="860" b="0">
                          <a:solidFill>
                            <a:srgbClr val="0E1512"/>
                          </a:solidFill>
                          <a:latin typeface="Arial"/>
                        </a:rPr>
                        <a:t>Exit fine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1 installment, 70% to members, 30% Halqa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same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274320">
                <a:tc>
                  <a:txBody>
                    <a:bodyPr wrap="square"/>
                    <a:lstStyle/>
                    <a:p>
                      <a:pPr algn="l"/>
                      <a:r>
                        <a:rPr sz="860" b="0">
                          <a:solidFill>
                            <a:srgbClr val="0E1512"/>
                          </a:solidFill>
                          <a:latin typeface="Arial"/>
                        </a:rPr>
                        <a:t>Rehabilitation on recovery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10% of outstanding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10%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4" name="TextBox 23"/>
          <p:cNvSpPr txBox="1"/>
          <p:nvPr/>
        </p:nvSpPr>
        <p:spPr>
          <a:xfrm>
            <a:off x="6419088" y="1371600"/>
            <a:ext cx="5166360" cy="256032"/>
          </a:xfrm>
          <a:prstGeom prst="rect">
            <a:avLst/>
          </a:prstGeom>
          <a:noFill/>
        </p:spPr>
        <p:txBody>
          <a:bodyPr wrap="square" lIns="0" rIns="0" tIns="0" bIns="0" anchor="t">
            <a:spAutoFit/>
          </a:bodyPr>
          <a:lstStyle/>
          <a:p>
            <a:pPr algn="l">
              <a:lnSpc>
                <a:spcPct val="100000"/>
              </a:lnSpc>
              <a:spcAft>
                <a:spcPts val="400"/>
              </a:spcAft>
            </a:pPr>
            <a:r>
              <a:rPr sz="1050" b="0" i="0">
                <a:solidFill>
                  <a:srgbClr val="123D30"/>
                </a:solidFill>
                <a:latin typeface="Georgia"/>
              </a:rPr>
              <a:t>D · Counterparty-paid, where the real money is</a:t>
            </a:r>
          </a:p>
        </p:txBody>
      </p:sp>
      <p:graphicFrame>
        <p:nvGraphicFramePr>
          <p:cNvPr id="25" name="Table 24"/>
          <p:cNvGraphicFramePr>
            <a:graphicFrameLocks noGrp="1"/>
          </p:cNvGraphicFramePr>
          <p:nvPr/>
        </p:nvGraphicFramePr>
        <p:xfrm>
          <a:off x="6419088" y="1664208"/>
          <a:ext cx="5166358" cy="2182489"/>
        </p:xfrm>
        <a:graphic>
          <a:graphicData uri="http://schemas.openxmlformats.org/drawingml/2006/table">
            <a:tbl>
              <a:tblPr>
                <a:tableStyleId>{5C22544A-7EE6-4342-B048-85BDC9FD1C3A}</a:tableStyleId>
              </a:tblPr>
              <a:tblGrid>
                <a:gridCol w="1963216"/>
                <a:gridCol w="1756562"/>
                <a:gridCol w="1446580"/>
              </a:tblGrid>
              <a:tr h="317113">
                <a:tc>
                  <a:txBody>
                    <a:bodyPr wrap="square"/>
                    <a:lstStyle/>
                    <a:p>
                      <a:pPr algn="l"/>
                      <a:r>
                        <a:rPr sz="880" b="1">
                          <a:solidFill>
                            <a:srgbClr val="F6F1E4"/>
                          </a:solidFill>
                          <a:latin typeface="Arial"/>
                        </a:rPr>
                        <a:t>Line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Rate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Payer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10896">
                <a:tc>
                  <a:txBody>
                    <a:bodyPr wrap="square"/>
                    <a:lstStyle/>
                    <a:p>
                      <a:pPr algn="l"/>
                      <a:r>
                        <a:rPr sz="860" b="0">
                          <a:solidFill>
                            <a:srgbClr val="0E1512"/>
                          </a:solidFill>
                          <a:latin typeface="Arial"/>
                        </a:rPr>
                        <a:t>Goal Direct-Pay commission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1-3% of value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Merchant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860" b="0">
                          <a:solidFill>
                            <a:srgbClr val="0E1512"/>
                          </a:solidFill>
                          <a:latin typeface="Arial"/>
                        </a:rPr>
                        <a:t>Ijarah origination referral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2-4% of asset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Modaraba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860" b="0">
                          <a:solidFill>
                            <a:srgbClr val="0E1512"/>
                          </a:solidFill>
                          <a:latin typeface="Arial"/>
                        </a:rPr>
                        <a:t>Vault distributor trail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0.5-1.5% p.a. of AUM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AMC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860" b="0">
                          <a:solidFill>
                            <a:srgbClr val="0E1512"/>
                          </a:solidFill>
                          <a:latin typeface="Arial"/>
                        </a:rPr>
                        <a:t>Float profit share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10% of profit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Fund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860" b="0">
                          <a:solidFill>
                            <a:srgbClr val="0E1512"/>
                          </a:solidFill>
                          <a:latin typeface="Arial"/>
                        </a:rPr>
                        <a:t>Aggregate market insights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negotiated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Banks, FMCG</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10896">
                <a:tc>
                  <a:txBody>
                    <a:bodyPr wrap="square"/>
                    <a:lstStyle/>
                    <a:p>
                      <a:pPr algn="l"/>
                      <a:r>
                        <a:rPr sz="860" b="0">
                          <a:solidFill>
                            <a:srgbClr val="0E1512"/>
                          </a:solidFill>
                          <a:latin typeface="Arial"/>
                        </a:rPr>
                        <a:t>White-label engine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licence fee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60" b="0">
                          <a:solidFill>
                            <a:srgbClr val="0E1512"/>
                          </a:solidFill>
                          <a:latin typeface="Arial"/>
                        </a:rPr>
                        <a:t>Licensed FIs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6" name="TextBox 25"/>
          <p:cNvSpPr txBox="1"/>
          <p:nvPr/>
        </p:nvSpPr>
        <p:spPr>
          <a:xfrm>
            <a:off x="6419088" y="4114800"/>
            <a:ext cx="5166360" cy="1828800"/>
          </a:xfrm>
          <a:prstGeom prst="rect">
            <a:avLst/>
          </a:prstGeom>
          <a:noFill/>
        </p:spPr>
        <p:txBody>
          <a:bodyPr wrap="square" lIns="0" rIns="0" tIns="0" bIns="0" anchor="t">
            <a:spAutoFit/>
          </a:bodyPr>
          <a:lstStyle/>
          <a:p>
            <a:pPr algn="l">
              <a:lnSpc>
                <a:spcPct val="116000"/>
              </a:lnSpc>
              <a:spcAft>
                <a:spcPts val="400"/>
              </a:spcAft>
            </a:pPr>
            <a:r>
              <a:rPr sz="940" b="0" i="0">
                <a:solidFill>
                  <a:srgbClr val="0E1512"/>
                </a:solidFill>
                <a:latin typeface="Arial"/>
              </a:rPr>
              <a:t>On Shariah-labelled circles, late fees route to the CIRCLE’S OWN POOL, not to Halqa, a fixed penalty retained as income is impermissible, but passed to the injured members it is compensation. The flat Rs 100-per-installment option (chairman directive, 13 Aug) is the break-even fee on an open circle at a 1.0% modelled default rate; Rs 275 gives roughly 3× cover, and known circles at 0.3% are comfortable at Rs 100. Every number is a proposal until the first hundred completed circles measure q and reprice the whole book from r ≈ 1.5q.</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ECONOMICS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Unit economics, and the channel model</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member-facing fees are small by design. The business is the institution-paid channel: deposit mobilisation, per-member SaaS, flow cuts, the AMC trail, takaful and receivables, the member’s profit share is never touched.</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63</a:t>
            </a:r>
          </a:p>
        </p:txBody>
      </p:sp>
      <p:sp>
        <p:nvSpPr>
          <p:cNvPr id="18" name="TextBox 17"/>
          <p:cNvSpPr txBox="1"/>
          <p:nvPr/>
        </p:nvSpPr>
        <p:spPr>
          <a:xfrm>
            <a:off x="566928" y="1389888"/>
            <a:ext cx="58521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4C574F"/>
                </a:solidFill>
                <a:latin typeface="Arial"/>
              </a:rPr>
              <a:t>EXHIBIT 16   Margin per member per year, by product</a:t>
            </a:r>
          </a:p>
        </p:txBody>
      </p:sp>
      <p:graphicFrame>
        <p:nvGraphicFramePr>
          <p:cNvPr id="19" name="Table 18"/>
          <p:cNvGraphicFramePr>
            <a:graphicFrameLocks noGrp="1"/>
          </p:cNvGraphicFramePr>
          <p:nvPr/>
        </p:nvGraphicFramePr>
        <p:xfrm>
          <a:off x="566928" y="1609344"/>
          <a:ext cx="5852159" cy="1543872"/>
        </p:xfrm>
        <a:graphic>
          <a:graphicData uri="http://schemas.openxmlformats.org/drawingml/2006/table">
            <a:tbl>
              <a:tblPr>
                <a:tableStyleId>{5C22544A-7EE6-4342-B048-85BDC9FD1C3A}</a:tableStyleId>
              </a:tblPr>
              <a:tblGrid>
                <a:gridCol w="2340864"/>
                <a:gridCol w="1287475"/>
                <a:gridCol w="1170432"/>
                <a:gridCol w="1053388"/>
              </a:tblGrid>
              <a:tr h="391728">
                <a:tc>
                  <a:txBody>
                    <a:bodyPr wrap="square"/>
                    <a:lstStyle/>
                    <a:p>
                      <a:pPr algn="l"/>
                      <a:r>
                        <a:rPr sz="900" b="1">
                          <a:solidFill>
                            <a:srgbClr val="F6F1E4"/>
                          </a:solidFill>
                          <a:latin typeface="Arial"/>
                        </a:rPr>
                        <a:t>Product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Premium</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Expected loss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Gross margin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84048">
                <a:tc>
                  <a:txBody>
                    <a:bodyPr wrap="square"/>
                    <a:lstStyle/>
                    <a:p>
                      <a:pPr algn="l"/>
                      <a:r>
                        <a:rPr sz="880" b="0">
                          <a:solidFill>
                            <a:srgbClr val="0E1512"/>
                          </a:solidFill>
                          <a:latin typeface="Arial"/>
                        </a:rPr>
                        <a:t>Standard monthly (Rs 20,000 × 12)</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3,600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1,100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2,500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HYPER (Rs 500/day, 60d, ×6 cycles)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54,000/cy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17,700/cy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3,630 / member-yr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84048">
                <a:tc>
                  <a:txBody>
                    <a:bodyPr wrap="square"/>
                    <a:lstStyle/>
                    <a:p>
                      <a:pPr algn="l"/>
                      <a:r>
                        <a:rPr sz="880" b="0">
                          <a:solidFill>
                            <a:srgbClr val="0E1512"/>
                          </a:solidFill>
                          <a:latin typeface="Arial"/>
                        </a:rPr>
                        <a:t>Asset circle (per completed circle)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counterparty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title-secured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Rs 3,600-8,400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3246120"/>
            <a:ext cx="585216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The break-even and its levers</a:t>
            </a:r>
          </a:p>
        </p:txBody>
      </p:sp>
      <p:sp>
        <p:nvSpPr>
          <p:cNvPr id="21" name="TextBox 20"/>
          <p:cNvSpPr txBox="1"/>
          <p:nvPr/>
        </p:nvSpPr>
        <p:spPr>
          <a:xfrm>
            <a:off x="566928" y="3547872"/>
            <a:ext cx="5852160" cy="1463040"/>
          </a:xfrm>
          <a:prstGeom prst="rect">
            <a:avLst/>
          </a:prstGeom>
          <a:noFill/>
        </p:spPr>
        <p:txBody>
          <a:bodyPr wrap="square" lIns="0" rIns="0" tIns="0" bIns="0" anchor="t">
            <a:spAutoFit/>
          </a:bodyPr>
          <a:lstStyle/>
          <a:p>
            <a:pPr algn="l">
              <a:lnSpc>
                <a:spcPct val="116000"/>
              </a:lnSpc>
              <a:spcAft>
                <a:spcPts val="400"/>
              </a:spcAft>
            </a:pPr>
            <a:r>
              <a:rPr sz="950" b="0" i="0">
                <a:solidFill>
                  <a:srgbClr val="0E1512"/>
                </a:solidFill>
                <a:latin typeface="Arial"/>
              </a:rPr>
              <a:t>Break-even default rate d* = φT / [(c+φ)(T−m)]; required fee φ = d·c(T−m) / [T−d(T−m)]. On a 12×12×Rs 20,000 open circle, Rs 100 per installment gives a break-even default rate of 1.085% against a 1.0% modelled rate, coverage ratio 1.09, essentially no margin; Rs 275 gives 2.96%, about 3× cover. Asset circles add recovery: L(k) = max(0, c(T−k) − φk − h·V(k)), h ≈ 0.70 forced-sale rate, so a deposit of P(1−h)/h ≈ 43% of the pot removes all risk.</a:t>
            </a:r>
          </a:p>
        </p:txBody>
      </p:sp>
      <p:sp>
        <p:nvSpPr>
          <p:cNvPr id="22" name="TextBox 21"/>
          <p:cNvSpPr txBox="1"/>
          <p:nvPr/>
        </p:nvSpPr>
        <p:spPr>
          <a:xfrm>
            <a:off x="566928" y="4681728"/>
            <a:ext cx="5852160" cy="274320"/>
          </a:xfrm>
          <a:prstGeom prst="rect">
            <a:avLst/>
          </a:prstGeom>
          <a:noFill/>
        </p:spPr>
        <p:txBody>
          <a:bodyPr wrap="square" lIns="0" rIns="0" tIns="0" bIns="0" anchor="t">
            <a:spAutoFit/>
          </a:bodyPr>
          <a:lstStyle/>
          <a:p>
            <a:pPr algn="l">
              <a:lnSpc>
                <a:spcPct val="100000"/>
              </a:lnSpc>
              <a:spcAft>
                <a:spcPts val="400"/>
              </a:spcAft>
            </a:pPr>
            <a:r>
              <a:rPr sz="1100" b="0" i="0">
                <a:solidFill>
                  <a:srgbClr val="123D30"/>
                </a:solidFill>
                <a:latin typeface="Georgia"/>
              </a:rPr>
              <a:t>Acquisition, payback and margin</a:t>
            </a:r>
          </a:p>
        </p:txBody>
      </p:sp>
      <p:sp>
        <p:nvSpPr>
          <p:cNvPr id="23" name="TextBox 22"/>
          <p:cNvSpPr txBox="1"/>
          <p:nvPr/>
        </p:nvSpPr>
        <p:spPr>
          <a:xfrm>
            <a:off x="566928" y="4992624"/>
            <a:ext cx="5852160" cy="365760"/>
          </a:xfrm>
          <a:prstGeom prst="rect">
            <a:avLst/>
          </a:prstGeom>
          <a:noFill/>
        </p:spPr>
        <p:txBody>
          <a:bodyPr wrap="square" lIns="0" rIns="0" tIns="0" bIns="0">
            <a:spAutoFit/>
          </a:bodyPr>
          <a:lstStyle/>
          <a:p>
            <a:pPr>
              <a:lnSpc>
                <a:spcPct val="108000"/>
              </a:lnSpc>
              <a:spcAft>
                <a:spcPts val="500"/>
              </a:spcAft>
            </a:pPr>
            <a:r>
              <a:rPr sz="919" b="1">
                <a:solidFill>
                  <a:srgbClr val="D9A93C"/>
                </a:solidFill>
                <a:latin typeface="Georgia"/>
              </a:rPr>
              <a:t>|  </a:t>
            </a:r>
            <a:r>
              <a:rPr sz="919" b="1">
                <a:solidFill>
                  <a:srgbClr val="123D30"/>
                </a:solidFill>
                <a:latin typeface="Arial"/>
              </a:rPr>
              <a:t>Near-zero CAC  </a:t>
            </a:r>
            <a:r>
              <a:rPr sz="919">
                <a:solidFill>
                  <a:srgbClr val="0E1512"/>
                </a:solidFill>
                <a:latin typeface="Arial"/>
              </a:rPr>
              <a:t>the motion is field sales to existing organisers; signing one organiser brings a whole circle with its trust graph, so acquisition is a visit, not ad spend.</a:t>
            </a:r>
          </a:p>
          <a:p>
            <a:pPr>
              <a:lnSpc>
                <a:spcPct val="108000"/>
              </a:lnSpc>
              <a:spcAft>
                <a:spcPts val="500"/>
              </a:spcAft>
            </a:pPr>
            <a:r>
              <a:rPr sz="919" b="1">
                <a:solidFill>
                  <a:srgbClr val="D9A93C"/>
                </a:solidFill>
                <a:latin typeface="Georgia"/>
              </a:rPr>
              <a:t>|  </a:t>
            </a:r>
            <a:r>
              <a:rPr sz="919" b="1">
                <a:solidFill>
                  <a:srgbClr val="123D30"/>
                </a:solidFill>
                <a:latin typeface="Arial"/>
              </a:rPr>
              <a:t>LTV compounds on retention and AUM  </a:t>
            </a:r>
            <a:r>
              <a:rPr sz="919">
                <a:solidFill>
                  <a:srgbClr val="0E1512"/>
                </a:solidFill>
                <a:latin typeface="Arial"/>
              </a:rPr>
              <a:t>HYPER runs six cycles a year with rejoin priority, and the vault trail earns for as long as a member saves, so value builds on retention, not a one-off fee.</a:t>
            </a:r>
          </a:p>
          <a:p>
            <a:pPr>
              <a:lnSpc>
                <a:spcPct val="108000"/>
              </a:lnSpc>
              <a:spcAft>
                <a:spcPts val="500"/>
              </a:spcAft>
            </a:pPr>
            <a:r>
              <a:rPr sz="919" b="1">
                <a:solidFill>
                  <a:srgbClr val="D9A93C"/>
                </a:solidFill>
                <a:latin typeface="Georgia"/>
              </a:rPr>
              <a:t>|  </a:t>
            </a:r>
            <a:r>
              <a:rPr sz="919" b="1">
                <a:solidFill>
                  <a:srgbClr val="123D30"/>
                </a:solidFill>
                <a:latin typeface="Arial"/>
              </a:rPr>
              <a:t>A worked institution line  </a:t>
            </a:r>
            <a:r>
              <a:rPr sz="919">
                <a:solidFill>
                  <a:srgbClr val="0E1512"/>
                </a:solidFill>
                <a:latin typeface="Arial"/>
              </a:rPr>
              <a:t>a white-label partner with 50,000 members pays about Rs 49 per member per month, Rs 2.45M a month of SaaS, before the deposit trail on any AUM they place.</a:t>
            </a:r>
          </a:p>
          <a:p>
            <a:pPr>
              <a:lnSpc>
                <a:spcPct val="108000"/>
              </a:lnSpc>
              <a:spcAft>
                <a:spcPts val="500"/>
              </a:spcAft>
            </a:pPr>
            <a:r>
              <a:rPr sz="919" b="1">
                <a:solidFill>
                  <a:srgbClr val="D9A93C"/>
                </a:solidFill>
                <a:latin typeface="Georgia"/>
              </a:rPr>
              <a:t>|  </a:t>
            </a:r>
            <a:r>
              <a:rPr sz="919" b="1">
                <a:solidFill>
                  <a:srgbClr val="123D30"/>
                </a:solidFill>
                <a:latin typeface="Arial"/>
              </a:rPr>
              <a:t>High contribution margin  </a:t>
            </a:r>
            <a:r>
              <a:rPr sz="919">
                <a:solidFill>
                  <a:srgbClr val="0E1512"/>
                </a:solidFill>
                <a:latin typeface="Arial"/>
              </a:rPr>
              <a:t>the member costs almost nothing: Rs 0 on the Raast rail, a reward budget funded by retailers, and no pot capital fronted, since under 8% of slots need own capital (Money Fellows).</a:t>
            </a:r>
          </a:p>
        </p:txBody>
      </p:sp>
      <p:sp>
        <p:nvSpPr>
          <p:cNvPr id="24" name="TextBox 23"/>
          <p:cNvSpPr txBox="1"/>
          <p:nvPr/>
        </p:nvSpPr>
        <p:spPr>
          <a:xfrm>
            <a:off x="6739128" y="1389888"/>
            <a:ext cx="484632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institution-paid channel model</a:t>
            </a:r>
          </a:p>
        </p:txBody>
      </p:sp>
      <p:sp>
        <p:nvSpPr>
          <p:cNvPr id="25" name="TextBox 24"/>
          <p:cNvSpPr txBox="1"/>
          <p:nvPr/>
        </p:nvSpPr>
        <p:spPr>
          <a:xfrm>
            <a:off x="6739128" y="1737360"/>
            <a:ext cx="4846320" cy="365760"/>
          </a:xfrm>
          <a:prstGeom prst="rect">
            <a:avLst/>
          </a:prstGeom>
          <a:noFill/>
        </p:spPr>
        <p:txBody>
          <a:bodyPr wrap="square" lIns="0" rIns="0" tIns="0" bIns="0">
            <a:spAutoFit/>
          </a:bodyPr>
          <a:lstStyle/>
          <a:p>
            <a:pPr>
              <a:lnSpc>
                <a:spcPct val="106000"/>
              </a:lnSpc>
              <a:spcAft>
                <a:spcPts val="500"/>
              </a:spcAft>
            </a:pPr>
            <a:r>
              <a:rPr sz="919" b="1">
                <a:solidFill>
                  <a:srgbClr val="D9A93C"/>
                </a:solidFill>
                <a:latin typeface="Georgia"/>
              </a:rPr>
              <a:t>|  </a:t>
            </a:r>
            <a:r>
              <a:rPr sz="919" b="1">
                <a:solidFill>
                  <a:srgbClr val="123D30"/>
                </a:solidFill>
                <a:latin typeface="Arial"/>
              </a:rPr>
              <a:t>Deposit mobilisation  </a:t>
            </a:r>
            <a:r>
              <a:rPr sz="919">
                <a:solidFill>
                  <a:srgbClr val="0E1512"/>
                </a:solidFill>
                <a:latin typeface="Arial"/>
              </a:rPr>
              <a:t>~1.25% p.a. on vault AUM, the distributor trail (Rs 10M at Rs 1bn AUM).</a:t>
            </a:r>
          </a:p>
          <a:p>
            <a:pPr>
              <a:lnSpc>
                <a:spcPct val="106000"/>
              </a:lnSpc>
              <a:spcAft>
                <a:spcPts val="500"/>
              </a:spcAft>
            </a:pPr>
            <a:r>
              <a:rPr sz="919" b="1">
                <a:solidFill>
                  <a:srgbClr val="D9A93C"/>
                </a:solidFill>
                <a:latin typeface="Georgia"/>
              </a:rPr>
              <a:t>|  </a:t>
            </a:r>
            <a:r>
              <a:rPr sz="919" b="1">
                <a:solidFill>
                  <a:srgbClr val="123D30"/>
                </a:solidFill>
                <a:latin typeface="Arial"/>
              </a:rPr>
              <a:t>Per-member SaaS  </a:t>
            </a:r>
            <a:r>
              <a:rPr sz="919">
                <a:solidFill>
                  <a:srgbClr val="0E1512"/>
                </a:solidFill>
                <a:latin typeface="Arial"/>
              </a:rPr>
              <a:t>~Rs 49 / member / month to institutions running white-label circles.</a:t>
            </a:r>
          </a:p>
          <a:p>
            <a:pPr>
              <a:lnSpc>
                <a:spcPct val="106000"/>
              </a:lnSpc>
              <a:spcAft>
                <a:spcPts val="500"/>
              </a:spcAft>
            </a:pPr>
            <a:r>
              <a:rPr sz="919" b="1">
                <a:solidFill>
                  <a:srgbClr val="D9A93C"/>
                </a:solidFill>
                <a:latin typeface="Georgia"/>
              </a:rPr>
              <a:t>|  </a:t>
            </a:r>
            <a:r>
              <a:rPr sz="919" b="1">
                <a:solidFill>
                  <a:srgbClr val="123D30"/>
                </a:solidFill>
                <a:latin typeface="Arial"/>
              </a:rPr>
              <a:t>Flow cuts  </a:t>
            </a:r>
            <a:r>
              <a:rPr sz="919">
                <a:solidFill>
                  <a:srgbClr val="0E1512"/>
                </a:solidFill>
                <a:latin typeface="Arial"/>
              </a:rPr>
              <a:t>Goal Direct-Pay and ijarah origination, paid by merchants and modarabas.</a:t>
            </a:r>
          </a:p>
          <a:p>
            <a:pPr>
              <a:lnSpc>
                <a:spcPct val="106000"/>
              </a:lnSpc>
              <a:spcAft>
                <a:spcPts val="500"/>
              </a:spcAft>
            </a:pPr>
            <a:r>
              <a:rPr sz="919" b="1">
                <a:solidFill>
                  <a:srgbClr val="D9A93C"/>
                </a:solidFill>
                <a:latin typeface="Georgia"/>
              </a:rPr>
              <a:t>|  </a:t>
            </a:r>
            <a:r>
              <a:rPr sz="919" b="1">
                <a:solidFill>
                  <a:srgbClr val="123D30"/>
                </a:solidFill>
                <a:latin typeface="Arial"/>
              </a:rPr>
              <a:t>Takaful and receivables  </a:t>
            </a:r>
            <a:r>
              <a:rPr sz="919">
                <a:solidFill>
                  <a:srgbClr val="0E1512"/>
                </a:solidFill>
                <a:latin typeface="Arial"/>
              </a:rPr>
              <a:t>cover reinsurance and credit-life lines.</a:t>
            </a:r>
          </a:p>
          <a:p>
            <a:pPr>
              <a:lnSpc>
                <a:spcPct val="106000"/>
              </a:lnSpc>
              <a:spcAft>
                <a:spcPts val="500"/>
              </a:spcAft>
            </a:pPr>
            <a:r>
              <a:rPr sz="919" b="1">
                <a:solidFill>
                  <a:srgbClr val="D9A93C"/>
                </a:solidFill>
                <a:latin typeface="Georgia"/>
              </a:rPr>
              <a:t>|  </a:t>
            </a:r>
            <a:r>
              <a:rPr sz="919" b="1">
                <a:solidFill>
                  <a:srgbClr val="123D30"/>
                </a:solidFill>
                <a:latin typeface="Arial"/>
              </a:rPr>
              <a:t>Ad revenue, honestly sized  </a:t>
            </a:r>
            <a:r>
              <a:rPr sz="919">
                <a:solidFill>
                  <a:srgbClr val="0E1512"/>
                </a:solidFill>
                <a:latin typeface="Arial"/>
              </a:rPr>
              <a:t>at 100k DAU, ~30k rewarded-video views a day ≈ Rs 380k-1,000k / month. Real, worth taking, not a business, and cannot be scaled by adding surfaces, there is one ad surface by rule.</a:t>
            </a:r>
          </a:p>
        </p:txBody>
      </p:sp>
      <p:sp>
        <p:nvSpPr>
          <p:cNvPr id="26" name="TextBox 25"/>
          <p:cNvSpPr txBox="1"/>
          <p:nvPr/>
        </p:nvSpPr>
        <p:spPr>
          <a:xfrm>
            <a:off x="6739128" y="5394960"/>
            <a:ext cx="484632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The old “5% of profit” member-fee copy is stale. Member profit share is untouched; the revenue is institution-paid. Annual committee flow in Pakistan is ~Rs 4 trillion, the addressable channel, not the take.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GO-TO-MARKET</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Marketing</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highest-return growth motion is field sales to existing offline organisers, and it is the one every competitor skips because it does not scale from a laptop. It is also the only one that fits an atomic-network product.</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64</a:t>
            </a:r>
          </a:p>
        </p:txBody>
      </p:sp>
      <p:sp>
        <p:nvSpPr>
          <p:cNvPr id="18" name="TextBox 17"/>
          <p:cNvSpPr txBox="1"/>
          <p:nvPr/>
        </p:nvSpPr>
        <p:spPr>
          <a:xfrm>
            <a:off x="566928" y="1408176"/>
            <a:ext cx="5486400" cy="365760"/>
          </a:xfrm>
          <a:prstGeom prst="rect">
            <a:avLst/>
          </a:prstGeom>
          <a:noFill/>
        </p:spPr>
        <p:txBody>
          <a:bodyPr wrap="square" lIns="0" rIns="0" tIns="0" bIns="0">
            <a:spAutoFit/>
          </a:bodyPr>
          <a:lstStyle/>
          <a:p>
            <a:pPr>
              <a:lnSpc>
                <a:spcPct val="110000"/>
              </a:lnSpc>
              <a:spcAft>
                <a:spcPts val="600"/>
              </a:spcAft>
            </a:pPr>
            <a:r>
              <a:rPr sz="940" b="1">
                <a:solidFill>
                  <a:srgbClr val="D9A93C"/>
                </a:solidFill>
                <a:latin typeface="Georgia"/>
              </a:rPr>
              <a:t>|  </a:t>
            </a:r>
            <a:r>
              <a:rPr sz="940" b="1">
                <a:solidFill>
                  <a:srgbClr val="123D30"/>
                </a:solidFill>
                <a:latin typeface="Arial"/>
              </a:rPr>
              <a:t>Field sales to offline organisers  </a:t>
            </a:r>
            <a:r>
              <a:rPr sz="940">
                <a:solidFill>
                  <a:srgbClr val="0E1512"/>
                </a:solidFill>
                <a:latin typeface="Arial"/>
              </a:rPr>
              <a:t>every case in the archive that scaled did it through agents (Mapan’s village leaders, Money Fellows’ circle leaders). Sign the organiser, and the whole circle arrives with its trust graph intact.</a:t>
            </a:r>
          </a:p>
          <a:p>
            <a:pPr>
              <a:lnSpc>
                <a:spcPct val="110000"/>
              </a:lnSpc>
              <a:spcAft>
                <a:spcPts val="600"/>
              </a:spcAft>
            </a:pPr>
            <a:r>
              <a:rPr sz="940" b="1">
                <a:solidFill>
                  <a:srgbClr val="D9A93C"/>
                </a:solidFill>
                <a:latin typeface="Georgia"/>
              </a:rPr>
              <a:t>|  </a:t>
            </a:r>
            <a:r>
              <a:rPr sz="940" b="1">
                <a:solidFill>
                  <a:srgbClr val="123D30"/>
                </a:solidFill>
                <a:latin typeface="Arial"/>
              </a:rPr>
              <a:t>The organiser is the only endogenous loop  </a:t>
            </a:r>
            <a:r>
              <a:rPr sz="940">
                <a:solidFill>
                  <a:srgbClr val="0E1512"/>
                </a:solidFill>
                <a:latin typeface="Arial"/>
              </a:rPr>
              <a:t>member → organiser conversion compounds; signups do not. Reward organisers on VALUE (completions, single-level revenue share, Verified Organiser status), never on recruitment depth.</a:t>
            </a:r>
          </a:p>
          <a:p>
            <a:pPr>
              <a:lnSpc>
                <a:spcPct val="110000"/>
              </a:lnSpc>
              <a:spcAft>
                <a:spcPts val="600"/>
              </a:spcAft>
            </a:pPr>
            <a:r>
              <a:rPr sz="940" b="1">
                <a:solidFill>
                  <a:srgbClr val="D9A93C"/>
                </a:solidFill>
                <a:latin typeface="Georgia"/>
              </a:rPr>
              <a:t>|  </a:t>
            </a:r>
            <a:r>
              <a:rPr sz="940" b="1">
                <a:solidFill>
                  <a:srgbClr val="123D30"/>
                </a:solidFill>
                <a:latin typeface="Arial"/>
              </a:rPr>
              <a:t>Atomic networks, not vanity metrics  </a:t>
            </a:r>
            <a:r>
              <a:rPr sz="940">
                <a:solidFill>
                  <a:srgbClr val="0E1512"/>
                </a:solidFill>
                <a:latin typeface="Arial"/>
              </a:rPr>
              <a:t>a committee is atomic, it works at twelve people who already know each other, so the unit of value is a circle COMPLETED clean, not an install.</a:t>
            </a:r>
          </a:p>
          <a:p>
            <a:pPr>
              <a:lnSpc>
                <a:spcPct val="110000"/>
              </a:lnSpc>
              <a:spcAft>
                <a:spcPts val="600"/>
              </a:spcAft>
            </a:pPr>
            <a:r>
              <a:rPr sz="940" b="1">
                <a:solidFill>
                  <a:srgbClr val="D9A93C"/>
                </a:solidFill>
                <a:latin typeface="Georgia"/>
              </a:rPr>
              <a:t>|  </a:t>
            </a:r>
            <a:r>
              <a:rPr sz="940" b="1">
                <a:solidFill>
                  <a:srgbClr val="123D30"/>
                </a:solidFill>
                <a:latin typeface="Arial"/>
              </a:rPr>
              <a:t>Voice  </a:t>
            </a:r>
            <a:r>
              <a:rPr sz="940">
                <a:solidFill>
                  <a:srgbClr val="0E1512"/>
                </a:solidFill>
                <a:latin typeface="Arial"/>
              </a:rPr>
              <a:t>Roman Urdu first, English underneath (“Apni committee, apnay log. Hisaab humara.”), not stylistic: only 31% of committee users can read an SMS. 15 rotating regional greetings on Home (Urdu, Punjabi, Pashto, Sindhi).</a:t>
            </a:r>
          </a:p>
          <a:p>
            <a:pPr>
              <a:lnSpc>
                <a:spcPct val="110000"/>
              </a:lnSpc>
              <a:spcAft>
                <a:spcPts val="600"/>
              </a:spcAft>
            </a:pPr>
            <a:r>
              <a:rPr sz="940" b="1">
                <a:solidFill>
                  <a:srgbClr val="D9A93C"/>
                </a:solidFill>
                <a:latin typeface="Georgia"/>
              </a:rPr>
              <a:t>|  </a:t>
            </a:r>
            <a:r>
              <a:rPr sz="940" b="1">
                <a:solidFill>
                  <a:srgbClr val="123D30"/>
                </a:solidFill>
                <a:latin typeface="Arial"/>
              </a:rPr>
              <a:t>Sticky, low-competition hooks  </a:t>
            </a:r>
            <a:r>
              <a:rPr sz="940">
                <a:solidFill>
                  <a:srgbClr val="0E1512"/>
                </a:solidFill>
                <a:latin typeface="Arial"/>
              </a:rPr>
              <a:t>seasonal Islamic circles (Qurbani, Ramadan, Hajj), the gold-goal committee (the inflation hedge, spot-settled and Shariah-clean), the credit-builder committee, merchant-sponsored “save for X” circles (solar is strong).</a:t>
            </a:r>
          </a:p>
        </p:txBody>
      </p:sp>
      <p:sp>
        <p:nvSpPr>
          <p:cNvPr id="19" name="TextBox 18"/>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The five numbers that tell you it is working</a:t>
            </a:r>
          </a:p>
        </p:txBody>
      </p:sp>
      <p:sp>
        <p:nvSpPr>
          <p:cNvPr id="20" name="TextBox 19"/>
          <p:cNvSpPr txBox="1"/>
          <p:nvPr/>
        </p:nvSpPr>
        <p:spPr>
          <a:xfrm>
            <a:off x="6419088" y="1737360"/>
            <a:ext cx="5166360" cy="365760"/>
          </a:xfrm>
          <a:prstGeom prst="rect">
            <a:avLst/>
          </a:prstGeom>
          <a:noFill/>
        </p:spPr>
        <p:txBody>
          <a:bodyPr wrap="square" lIns="0" rIns="0" tIns="0" bIns="0">
            <a:spAutoFit/>
          </a:bodyPr>
          <a:lstStyle/>
          <a:p>
            <a:pPr>
              <a:lnSpc>
                <a:spcPct val="112000"/>
              </a:lnSpc>
              <a:spcAft>
                <a:spcPts val="700"/>
              </a:spcAft>
            </a:pPr>
            <a:r>
              <a:rPr sz="950" b="1">
                <a:solidFill>
                  <a:srgbClr val="D9A93C"/>
                </a:solidFill>
                <a:latin typeface="Georgia"/>
              </a:rPr>
              <a:t>|  </a:t>
            </a:r>
            <a:r>
              <a:rPr sz="950" b="1">
                <a:solidFill>
                  <a:srgbClr val="123D30"/>
                </a:solidFill>
                <a:latin typeface="Arial"/>
              </a:rPr>
              <a:t>Share of installments settled digitally  </a:t>
            </a:r>
            <a:r>
              <a:rPr sz="950">
                <a:solidFill>
                  <a:srgbClr val="0E1512"/>
                </a:solidFill>
                <a:latin typeface="Arial"/>
              </a:rPr>
              <a:t>the health of collection, and the single most important number, a ledger of assertions is worth nothing.</a:t>
            </a:r>
          </a:p>
          <a:p>
            <a:pPr>
              <a:lnSpc>
                <a:spcPct val="112000"/>
              </a:lnSpc>
              <a:spcAft>
                <a:spcPts val="700"/>
              </a:spcAft>
            </a:pPr>
            <a:r>
              <a:rPr sz="950" b="1">
                <a:solidFill>
                  <a:srgbClr val="D9A93C"/>
                </a:solidFill>
                <a:latin typeface="Georgia"/>
              </a:rPr>
              <a:t>|  </a:t>
            </a:r>
            <a:r>
              <a:rPr sz="950" b="1">
                <a:solidFill>
                  <a:srgbClr val="123D30"/>
                </a:solidFill>
                <a:latin typeface="Arial"/>
              </a:rPr>
              <a:t>Circles completed clean  </a:t>
            </a:r>
            <a:r>
              <a:rPr sz="950">
                <a:solidFill>
                  <a:srgbClr val="0E1512"/>
                </a:solidFill>
                <a:latin typeface="Arial"/>
              </a:rPr>
              <a:t>the atomic unit of value. Signups are vanity.</a:t>
            </a:r>
          </a:p>
          <a:p>
            <a:pPr>
              <a:lnSpc>
                <a:spcPct val="112000"/>
              </a:lnSpc>
              <a:spcAft>
                <a:spcPts val="700"/>
              </a:spcAft>
            </a:pPr>
            <a:r>
              <a:rPr sz="950" b="1">
                <a:solidFill>
                  <a:srgbClr val="D9A93C"/>
                </a:solidFill>
                <a:latin typeface="Georgia"/>
              </a:rPr>
              <a:t>|  </a:t>
            </a:r>
            <a:r>
              <a:rPr sz="950" b="1">
                <a:solidFill>
                  <a:srgbClr val="123D30"/>
                </a:solidFill>
                <a:latin typeface="Arial"/>
              </a:rPr>
              <a:t>Circles per organiser  </a:t>
            </a:r>
            <a:r>
              <a:rPr sz="950">
                <a:solidFill>
                  <a:srgbClr val="0E1512"/>
                </a:solidFill>
                <a:latin typeface="Arial"/>
              </a:rPr>
              <a:t>whether the growth loop compounds or leaks.</a:t>
            </a:r>
          </a:p>
          <a:p>
            <a:pPr>
              <a:lnSpc>
                <a:spcPct val="112000"/>
              </a:lnSpc>
              <a:spcAft>
                <a:spcPts val="700"/>
              </a:spcAft>
            </a:pPr>
            <a:r>
              <a:rPr sz="950" b="1">
                <a:solidFill>
                  <a:srgbClr val="D9A93C"/>
                </a:solidFill>
                <a:latin typeface="Georgia"/>
              </a:rPr>
              <a:t>|  </a:t>
            </a:r>
            <a:r>
              <a:rPr sz="950" b="1">
                <a:solidFill>
                  <a:srgbClr val="123D30"/>
                </a:solidFill>
                <a:latin typeface="Arial"/>
              </a:rPr>
              <a:t>Measured post-payout default in the first 100 completed circles  </a:t>
            </a:r>
            <a:r>
              <a:rPr sz="950">
                <a:solidFill>
                  <a:srgbClr val="0E1512"/>
                </a:solidFill>
                <a:latin typeface="Arial"/>
              </a:rPr>
              <a:t>the moment 0.3-1.4% stops being a model and becomes a fact.</a:t>
            </a:r>
          </a:p>
          <a:p>
            <a:pPr>
              <a:lnSpc>
                <a:spcPct val="112000"/>
              </a:lnSpc>
              <a:spcAft>
                <a:spcPts val="700"/>
              </a:spcAft>
            </a:pPr>
            <a:r>
              <a:rPr sz="950" b="1">
                <a:solidFill>
                  <a:srgbClr val="D9A93C"/>
                </a:solidFill>
                <a:latin typeface="Georgia"/>
              </a:rPr>
              <a:t>|  </a:t>
            </a:r>
            <a:r>
              <a:rPr sz="950" b="1">
                <a:solidFill>
                  <a:srgbClr val="123D30"/>
                </a:solidFill>
                <a:latin typeface="Arial"/>
              </a:rPr>
              <a:t>Member-to-organiser conversion  </a:t>
            </a:r>
            <a:r>
              <a:rPr sz="950">
                <a:solidFill>
                  <a:srgbClr val="0E1512"/>
                </a:solidFill>
                <a:latin typeface="Arial"/>
              </a:rPr>
              <a:t>the only endogenous growth loop.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THE BUSINESS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Growth and expansion</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theme the chairman approved: grow by making the MEMBER more valuable to the outside world, a credit identity, an on-ramp, a verified worker, family savings, never by extracting from them, which is the moat-killer set. The one hard filter: legal.</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65</a:t>
            </a:r>
          </a:p>
        </p:txBody>
      </p:sp>
      <p:sp>
        <p:nvSpPr>
          <p:cNvPr id="18" name="TextBox 17"/>
          <p:cNvSpPr txBox="1"/>
          <p:nvPr/>
        </p:nvSpPr>
        <p:spPr>
          <a:xfrm>
            <a:off x="566928" y="1389888"/>
            <a:ext cx="548640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Approved, build toward these</a:t>
            </a:r>
          </a:p>
        </p:txBody>
      </p:sp>
      <p:sp>
        <p:nvSpPr>
          <p:cNvPr id="19" name="TextBox 18"/>
          <p:cNvSpPr txBox="1"/>
          <p:nvPr/>
        </p:nvSpPr>
        <p:spPr>
          <a:xfrm>
            <a:off x="566928" y="1737360"/>
            <a:ext cx="5486400" cy="365760"/>
          </a:xfrm>
          <a:prstGeom prst="rect">
            <a:avLst/>
          </a:prstGeom>
          <a:noFill/>
        </p:spPr>
        <p:txBody>
          <a:bodyPr wrap="square" lIns="0" rIns="0" tIns="0" bIns="0">
            <a:spAutoFit/>
          </a:bodyPr>
          <a:lstStyle/>
          <a:p>
            <a:pPr>
              <a:lnSpc>
                <a:spcPct val="106000"/>
              </a:lnSpc>
              <a:spcAft>
                <a:spcPts val="500"/>
              </a:spcAft>
            </a:pPr>
            <a:r>
              <a:rPr sz="919" b="1">
                <a:solidFill>
                  <a:srgbClr val="D9A93C"/>
                </a:solidFill>
                <a:latin typeface="Georgia"/>
              </a:rPr>
              <a:t>|  </a:t>
            </a:r>
            <a:r>
              <a:rPr sz="919" b="1">
                <a:solidFill>
                  <a:srgbClr val="123D30"/>
                </a:solidFill>
                <a:latin typeface="Arial"/>
              </a:rPr>
              <a:t>TASDEEQ two-way membership (flagship)  </a:t>
            </a:r>
            <a:r>
              <a:rPr sz="919">
                <a:solidFill>
                  <a:srgbClr val="0E1512"/>
                </a:solidFill>
                <a:latin typeface="Arial"/>
              </a:rPr>
              <a:t>join the private bureau as a non-FI alternative-data contributor; furnish consented committee data → the member builds formal credit and Halqa becomes the only source of informal-committee data.</a:t>
            </a:r>
          </a:p>
          <a:p>
            <a:pPr>
              <a:lnSpc>
                <a:spcPct val="106000"/>
              </a:lnSpc>
              <a:spcAft>
                <a:spcPts val="500"/>
              </a:spcAft>
            </a:pPr>
            <a:r>
              <a:rPr sz="919" b="1">
                <a:solidFill>
                  <a:srgbClr val="D9A93C"/>
                </a:solidFill>
                <a:latin typeface="Georgia"/>
              </a:rPr>
              <a:t>|  </a:t>
            </a:r>
            <a:r>
              <a:rPr sz="919" b="1">
                <a:solidFill>
                  <a:srgbClr val="123D30"/>
                </a:solidFill>
                <a:latin typeface="Arial"/>
              </a:rPr>
              <a:t>Organiser incentives  </a:t>
            </a:r>
            <a:r>
              <a:rPr sz="919">
                <a:solidFill>
                  <a:srgbClr val="0E1512"/>
                </a:solidFill>
                <a:latin typeface="Arial"/>
              </a:rPr>
              <a:t>value-based, single-level, as above.</a:t>
            </a:r>
          </a:p>
          <a:p>
            <a:pPr>
              <a:lnSpc>
                <a:spcPct val="106000"/>
              </a:lnSpc>
              <a:spcAft>
                <a:spcPts val="500"/>
              </a:spcAft>
            </a:pPr>
            <a:r>
              <a:rPr sz="919" b="1">
                <a:solidFill>
                  <a:srgbClr val="D9A93C"/>
                </a:solidFill>
                <a:latin typeface="Georgia"/>
              </a:rPr>
              <a:t>|  </a:t>
            </a:r>
            <a:r>
              <a:rPr sz="919" b="1">
                <a:solidFill>
                  <a:srgbClr val="123D30"/>
                </a:solidFill>
                <a:latin typeface="Arial"/>
              </a:rPr>
              <a:t>Formal-finance on-ramp  </a:t>
            </a:r>
            <a:r>
              <a:rPr sz="919">
                <a:solidFill>
                  <a:srgbClr val="0E1512"/>
                </a:solidFill>
                <a:latin typeface="Arial"/>
              </a:rPr>
              <a:t>N clean circles → a pre-approved product by referral; the institution pays origination.</a:t>
            </a:r>
          </a:p>
          <a:p>
            <a:pPr>
              <a:lnSpc>
                <a:spcPct val="106000"/>
              </a:lnSpc>
              <a:spcAft>
                <a:spcPts val="500"/>
              </a:spcAft>
            </a:pPr>
            <a:r>
              <a:rPr sz="919" b="1">
                <a:solidFill>
                  <a:srgbClr val="D9A93C"/>
                </a:solidFill>
                <a:latin typeface="Georgia"/>
              </a:rPr>
              <a:t>|  </a:t>
            </a:r>
            <a:r>
              <a:rPr sz="919" b="1">
                <a:solidFill>
                  <a:srgbClr val="123D30"/>
                </a:solidFill>
                <a:latin typeface="Arial"/>
              </a:rPr>
              <a:t>Remittance committees  </a:t>
            </a:r>
            <a:r>
              <a:rPr sz="919">
                <a:solidFill>
                  <a:srgbClr val="0E1512"/>
                </a:solidFill>
                <a:latin typeface="Arial"/>
              </a:rPr>
              <a:t>a diaspora worker commits monthly, payout to family in Pakistan. HARD LINE: Halqa never holds or moves FX, ride a licensed remittance rail or a Roshan Digital Account; the partner bears the licence. SBP subsidises formal remittances (~US$30bn), so it is policy-aligned and development-fundable.</a:t>
            </a:r>
          </a:p>
          <a:p>
            <a:pPr>
              <a:lnSpc>
                <a:spcPct val="106000"/>
              </a:lnSpc>
              <a:spcAft>
                <a:spcPts val="500"/>
              </a:spcAft>
            </a:pPr>
            <a:r>
              <a:rPr sz="919" b="1">
                <a:solidFill>
                  <a:srgbClr val="D9A93C"/>
                </a:solidFill>
                <a:latin typeface="Georgia"/>
              </a:rPr>
              <a:t>|  </a:t>
            </a:r>
            <a:r>
              <a:rPr sz="919" b="1">
                <a:solidFill>
                  <a:srgbClr val="123D30"/>
                </a:solidFill>
                <a:latin typeface="Arial"/>
              </a:rPr>
              <a:t>Employer-endorsed committees  </a:t>
            </a:r>
            <a:r>
              <a:rPr sz="919">
                <a:solidFill>
                  <a:srgbClr val="0E1512"/>
                </a:solidFill>
                <a:latin typeface="Arial"/>
              </a:rPr>
              <a:t>the employer endorses, does not run or see; free income verification and a perfect payday pull. “For later,” and HYPER’s launch channel.</a:t>
            </a:r>
          </a:p>
        </p:txBody>
      </p:sp>
      <p:sp>
        <p:nvSpPr>
          <p:cNvPr id="20" name="TextBox 19"/>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Fresh batch, liked, not yet prioritised</a:t>
            </a:r>
          </a:p>
        </p:txBody>
      </p:sp>
      <p:sp>
        <p:nvSpPr>
          <p:cNvPr id="21" name="TextBox 20"/>
          <p:cNvSpPr txBox="1"/>
          <p:nvPr/>
        </p:nvSpPr>
        <p:spPr>
          <a:xfrm>
            <a:off x="6419088" y="1737360"/>
            <a:ext cx="5166360" cy="365760"/>
          </a:xfrm>
          <a:prstGeom prst="rect">
            <a:avLst/>
          </a:prstGeom>
          <a:noFill/>
        </p:spPr>
        <p:txBody>
          <a:bodyPr wrap="square" lIns="0" rIns="0" tIns="0" bIns="0">
            <a:spAutoFit/>
          </a:bodyPr>
          <a:lstStyle/>
          <a:p>
            <a:pPr>
              <a:lnSpc>
                <a:spcPct val="104000"/>
              </a:lnSpc>
              <a:spcAft>
                <a:spcPts val="400"/>
              </a:spcAft>
            </a:pPr>
            <a:r>
              <a:rPr sz="900" b="1">
                <a:solidFill>
                  <a:srgbClr val="D9A93C"/>
                </a:solidFill>
                <a:latin typeface="Georgia"/>
              </a:rPr>
              <a:t>|  </a:t>
            </a:r>
            <a:r>
              <a:rPr sz="900" b="1">
                <a:solidFill>
                  <a:srgbClr val="123D30"/>
                </a:solidFill>
                <a:latin typeface="Arial"/>
              </a:rPr>
              <a:t>Gold committees  </a:t>
            </a:r>
            <a:r>
              <a:rPr sz="900">
                <a:solidFill>
                  <a:srgbClr val="0E1512"/>
                </a:solidFill>
                <a:latin typeface="Arial"/>
              </a:rPr>
              <a:t>the pot buys gold; the inflation hedge the late-turn saver needs. Never hold the metal.</a:t>
            </a:r>
          </a:p>
          <a:p>
            <a:pPr>
              <a:lnSpc>
                <a:spcPct val="104000"/>
              </a:lnSpc>
              <a:spcAft>
                <a:spcPts val="400"/>
              </a:spcAft>
            </a:pPr>
            <a:r>
              <a:rPr sz="900" b="1">
                <a:solidFill>
                  <a:srgbClr val="D9A93C"/>
                </a:solidFill>
                <a:latin typeface="Georgia"/>
              </a:rPr>
              <a:t>|  </a:t>
            </a:r>
            <a:r>
              <a:rPr sz="900" b="1">
                <a:solidFill>
                  <a:srgbClr val="123D30"/>
                </a:solidFill>
                <a:latin typeface="Arial"/>
              </a:rPr>
              <a:t>Credit-builder committee  </a:t>
            </a:r>
            <a:r>
              <a:rPr sz="900">
                <a:solidFill>
                  <a:srgbClr val="0E1512"/>
                </a:solidFill>
                <a:latin typeface="Arial"/>
              </a:rPr>
              <a:t>marketed as “join to build your score,” powered by TASDEEQ furnishing.</a:t>
            </a:r>
          </a:p>
          <a:p>
            <a:pPr>
              <a:lnSpc>
                <a:spcPct val="104000"/>
              </a:lnSpc>
              <a:spcAft>
                <a:spcPts val="400"/>
              </a:spcAft>
            </a:pPr>
            <a:r>
              <a:rPr sz="900" b="1">
                <a:solidFill>
                  <a:srgbClr val="D9A93C"/>
                </a:solidFill>
                <a:latin typeface="Georgia"/>
              </a:rPr>
              <a:t>|  </a:t>
            </a:r>
            <a:r>
              <a:rPr sz="900" b="1">
                <a:solidFill>
                  <a:srgbClr val="123D30"/>
                </a:solidFill>
                <a:latin typeface="Arial"/>
              </a:rPr>
              <a:t>Seasonal Islamic committees  </a:t>
            </a:r>
            <a:r>
              <a:rPr sz="900">
                <a:solidFill>
                  <a:srgbClr val="0E1512"/>
                </a:solidFill>
                <a:latin typeface="Arial"/>
              </a:rPr>
              <a:t>Qurbani, Ramadan, Hajj, timed, sticky, near-zero competition.</a:t>
            </a:r>
          </a:p>
          <a:p>
            <a:pPr>
              <a:lnSpc>
                <a:spcPct val="104000"/>
              </a:lnSpc>
              <a:spcAft>
                <a:spcPts val="400"/>
              </a:spcAft>
            </a:pPr>
            <a:r>
              <a:rPr sz="900" b="1">
                <a:solidFill>
                  <a:srgbClr val="D9A93C"/>
                </a:solidFill>
                <a:latin typeface="Georgia"/>
              </a:rPr>
              <a:t>|  </a:t>
            </a:r>
            <a:r>
              <a:rPr sz="900" b="1">
                <a:solidFill>
                  <a:srgbClr val="123D30"/>
                </a:solidFill>
                <a:latin typeface="Arial"/>
              </a:rPr>
              <a:t>Merchant-sponsored committees  </a:t>
            </a:r>
            <a:r>
              <a:rPr sz="900">
                <a:solidFill>
                  <a:srgbClr val="0E1512"/>
                </a:solidFill>
                <a:latin typeface="Arial"/>
              </a:rPr>
              <a:t>a brand subsidises a “save for X” circle for guaranteed bulk demand; free to members.</a:t>
            </a:r>
          </a:p>
          <a:p>
            <a:pPr>
              <a:lnSpc>
                <a:spcPct val="104000"/>
              </a:lnSpc>
              <a:spcAft>
                <a:spcPts val="400"/>
              </a:spcAft>
            </a:pPr>
            <a:r>
              <a:rPr sz="900" b="1">
                <a:solidFill>
                  <a:srgbClr val="D9A93C"/>
                </a:solidFill>
                <a:latin typeface="Georgia"/>
              </a:rPr>
              <a:t>|  </a:t>
            </a:r>
            <a:r>
              <a:rPr sz="900" b="1">
                <a:solidFill>
                  <a:srgbClr val="123D30"/>
                </a:solidFill>
                <a:latin typeface="Arial"/>
              </a:rPr>
              <a:t>White-label engine to licensed FIs  </a:t>
            </a:r>
            <a:r>
              <a:rPr sz="900">
                <a:solidFill>
                  <a:srgbClr val="0E1512"/>
                </a:solidFill>
                <a:latin typeface="Arial"/>
              </a:rPr>
              <a:t>they have the licence and capital and lack the committee product; B2B revenue with THEIR regulatory burden.</a:t>
            </a:r>
          </a:p>
          <a:p>
            <a:pPr>
              <a:lnSpc>
                <a:spcPct val="104000"/>
              </a:lnSpc>
              <a:spcAft>
                <a:spcPts val="400"/>
              </a:spcAft>
            </a:pPr>
            <a:r>
              <a:rPr sz="900" b="1">
                <a:solidFill>
                  <a:srgbClr val="D9A93C"/>
                </a:solidFill>
                <a:latin typeface="Georgia"/>
              </a:rPr>
              <a:t>|  </a:t>
            </a:r>
            <a:r>
              <a:rPr sz="900" b="1">
                <a:solidFill>
                  <a:srgbClr val="123D30"/>
                </a:solidFill>
                <a:latin typeface="Arial"/>
              </a:rPr>
              <a:t>Aggregate market-insights  </a:t>
            </a:r>
            <a:r>
              <a:rPr sz="900">
                <a:solidFill>
                  <a:srgbClr val="0E1512"/>
                </a:solidFill>
                <a:latin typeface="Arial"/>
              </a:rPr>
              <a:t>anonymised informal-savings trends sold to banks, FMCG and policymakers, never individual profiles.</a:t>
            </a:r>
          </a:p>
          <a:p>
            <a:pPr>
              <a:lnSpc>
                <a:spcPct val="104000"/>
              </a:lnSpc>
              <a:spcAft>
                <a:spcPts val="400"/>
              </a:spcAft>
            </a:pPr>
            <a:r>
              <a:rPr sz="900" b="1">
                <a:solidFill>
                  <a:srgbClr val="D9A93C"/>
                </a:solidFill>
                <a:latin typeface="Georgia"/>
              </a:rPr>
              <a:t>|  </a:t>
            </a:r>
            <a:r>
              <a:rPr sz="900" b="1">
                <a:solidFill>
                  <a:srgbClr val="123D30"/>
                </a:solidFill>
                <a:latin typeface="Arial"/>
              </a:rPr>
              <a:t>Government / BISP channel  </a:t>
            </a:r>
            <a:r>
              <a:rPr sz="900">
                <a:solidFill>
                  <a:srgbClr val="0E1512"/>
                </a:solidFill>
                <a:latin typeface="Arial"/>
              </a:rPr>
              <a:t>route social-protection transfers into committees; scale, policy alignment, and a government relationship as a moat.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THE BUSINESS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What is refused, and what is still unsettled</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A trust product is defined as much by what it will not do. Each refusal has a reason on record, and each open question is named rather than papered over, because silence on a hard question reads worse than an honest “not yet decided.”</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66</a:t>
            </a:r>
          </a:p>
        </p:txBody>
      </p:sp>
      <p:sp>
        <p:nvSpPr>
          <p:cNvPr id="18" name="TextBox 17"/>
          <p:cNvSpPr txBox="1"/>
          <p:nvPr/>
        </p:nvSpPr>
        <p:spPr>
          <a:xfrm>
            <a:off x="566928" y="1389888"/>
            <a:ext cx="585216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Refused, with the reason</a:t>
            </a:r>
          </a:p>
        </p:txBody>
      </p:sp>
      <p:graphicFrame>
        <p:nvGraphicFramePr>
          <p:cNvPr id="19" name="Table 18"/>
          <p:cNvGraphicFramePr>
            <a:graphicFrameLocks noGrp="1"/>
          </p:cNvGraphicFramePr>
          <p:nvPr/>
        </p:nvGraphicFramePr>
        <p:xfrm>
          <a:off x="566928" y="1719072"/>
          <a:ext cx="5852159" cy="3664915"/>
        </p:xfrm>
        <a:graphic>
          <a:graphicData uri="http://schemas.openxmlformats.org/drawingml/2006/table">
            <a:tbl>
              <a:tblPr>
                <a:tableStyleId>{5C22544A-7EE6-4342-B048-85BDC9FD1C3A}</a:tableStyleId>
              </a:tblPr>
              <a:tblGrid>
                <a:gridCol w="2574950"/>
                <a:gridCol w="3277209"/>
              </a:tblGrid>
              <a:tr h="373075">
                <a:tc>
                  <a:txBody>
                    <a:bodyPr wrap="square"/>
                    <a:lstStyle/>
                    <a:p>
                      <a:pPr algn="l"/>
                      <a:r>
                        <a:rPr sz="880" b="1">
                          <a:solidFill>
                            <a:srgbClr val="F6F1E4"/>
                          </a:solidFill>
                          <a:latin typeface="Arial"/>
                        </a:rPr>
                        <a:t>Refused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880" b="1">
                          <a:solidFill>
                            <a:srgbClr val="F6F1E4"/>
                          </a:solidFill>
                          <a:latin typeface="Arial"/>
                        </a:rPr>
                        <a:t>Reason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65760">
                <a:tc>
                  <a:txBody>
                    <a:bodyPr wrap="square"/>
                    <a:lstStyle/>
                    <a:p>
                      <a:pPr algn="l"/>
                      <a:r>
                        <a:rPr sz="840" b="0">
                          <a:solidFill>
                            <a:srgbClr val="0E1512"/>
                          </a:solidFill>
                          <a:latin typeface="Arial"/>
                        </a:rPr>
                        <a:t>Auction / bidding committees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Discovered price is interest (~45-55% APR); India regulates it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“Lucky” / prize committees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A lottery; most pay more than they can receive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Installment holidays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Dissolves the commitment device (UBL ships this)</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Unlimited platform default cover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Drifts to NBFC; killed eMoneyPool, bounded/priced instead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Member fees of any kind</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Kazi’s Razq and Oraan stalled on fees; permanent Rs 0</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Bank partner; custody of member money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Chairman directive; the architecture rests on their absence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Contact/gallery/SMS harvesting; accessibility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The predatory-app signature; delisting + moat death</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Public default flag; address publication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Rhymes hardest with the loan-app scandal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65760">
                <a:tc>
                  <a:txBody>
                    <a:bodyPr wrap="square"/>
                    <a:lstStyle/>
                    <a:p>
                      <a:pPr algn="l"/>
                      <a:r>
                        <a:rPr sz="840" b="0">
                          <a:solidFill>
                            <a:srgbClr val="0E1512"/>
                          </a:solidFill>
                          <a:latin typeface="Arial"/>
                        </a:rPr>
                        <a:t>Multi-level organiser comp; claiming we can jail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40" b="0">
                          <a:solidFill>
                            <a:srgbClr val="0E1512"/>
                          </a:solidFill>
                          <a:latin typeface="Arial"/>
                        </a:rPr>
                        <a:t>Illegal pyramid; civil default, verified false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6739128" y="1389888"/>
            <a:ext cx="4846320" cy="274320"/>
          </a:xfrm>
          <a:prstGeom prst="rect">
            <a:avLst/>
          </a:prstGeom>
          <a:noFill/>
        </p:spPr>
        <p:txBody>
          <a:bodyPr wrap="square" lIns="0" rIns="0" tIns="0" bIns="0" anchor="t">
            <a:spAutoFit/>
          </a:bodyPr>
          <a:lstStyle/>
          <a:p>
            <a:pPr algn="l">
              <a:lnSpc>
                <a:spcPct val="100000"/>
              </a:lnSpc>
              <a:spcAft>
                <a:spcPts val="400"/>
              </a:spcAft>
            </a:pPr>
            <a:r>
              <a:rPr sz="1150" b="0" i="0">
                <a:solidFill>
                  <a:srgbClr val="123D30"/>
                </a:solidFill>
                <a:latin typeface="Georgia"/>
              </a:rPr>
              <a:t>Still unsettled, awaiting a ruling</a:t>
            </a:r>
          </a:p>
        </p:txBody>
      </p:sp>
      <p:sp>
        <p:nvSpPr>
          <p:cNvPr id="21" name="TextBox 20"/>
          <p:cNvSpPr txBox="1"/>
          <p:nvPr/>
        </p:nvSpPr>
        <p:spPr>
          <a:xfrm>
            <a:off x="6739128" y="1737360"/>
            <a:ext cx="4846320" cy="365760"/>
          </a:xfrm>
          <a:prstGeom prst="rect">
            <a:avLst/>
          </a:prstGeom>
          <a:noFill/>
        </p:spPr>
        <p:txBody>
          <a:bodyPr wrap="square" lIns="0" rIns="0" tIns="0" bIns="0">
            <a:spAutoFit/>
          </a:bodyPr>
          <a:lstStyle/>
          <a:p>
            <a:pPr>
              <a:lnSpc>
                <a:spcPct val="104000"/>
              </a:lnSpc>
              <a:spcAft>
                <a:spcPts val="400"/>
              </a:spcAft>
            </a:pPr>
            <a:r>
              <a:rPr sz="880" b="1">
                <a:solidFill>
                  <a:srgbClr val="D9A93C"/>
                </a:solidFill>
                <a:latin typeface="Georgia"/>
              </a:rPr>
              <a:t>|  </a:t>
            </a:r>
            <a:r>
              <a:rPr sz="880" b="1">
                <a:solidFill>
                  <a:srgbClr val="123D30"/>
                </a:solidFill>
                <a:latin typeface="Arial"/>
              </a:rPr>
              <a:t>The cover-facility caps  </a:t>
            </a:r>
            <a:r>
              <a:rPr sz="880">
                <a:solidFill>
                  <a:srgbClr val="0E1512"/>
                </a:solidFill>
                <a:latin typeface="Arial"/>
              </a:rPr>
              <a:t>and with them the answer to the Akif-versus-archive tension, never yet put back to him.</a:t>
            </a:r>
          </a:p>
          <a:p>
            <a:pPr>
              <a:lnSpc>
                <a:spcPct val="104000"/>
              </a:lnSpc>
              <a:spcAft>
                <a:spcPts val="400"/>
              </a:spcAft>
            </a:pPr>
            <a:r>
              <a:rPr sz="880" b="1">
                <a:solidFill>
                  <a:srgbClr val="D9A93C"/>
                </a:solidFill>
                <a:latin typeface="Georgia"/>
              </a:rPr>
              <a:t>|  </a:t>
            </a:r>
            <a:r>
              <a:rPr sz="880" b="1">
                <a:solidFill>
                  <a:srgbClr val="123D30"/>
                </a:solidFill>
                <a:latin typeface="Arial"/>
              </a:rPr>
              <a:t>The organiser guarantee  </a:t>
            </a:r>
            <a:r>
              <a:rPr sz="880">
                <a:solidFill>
                  <a:srgbClr val="0E1512"/>
                </a:solidFill>
                <a:latin typeface="Arial"/>
              </a:rPr>
              <a:t>reproduce it via the cover facility, or state plainly that seat arithmetic replaces it. Both defensible; silence is not.</a:t>
            </a:r>
          </a:p>
          <a:p>
            <a:pPr>
              <a:lnSpc>
                <a:spcPct val="104000"/>
              </a:lnSpc>
              <a:spcAft>
                <a:spcPts val="400"/>
              </a:spcAft>
            </a:pPr>
            <a:r>
              <a:rPr sz="880" b="1">
                <a:solidFill>
                  <a:srgbClr val="D9A93C"/>
                </a:solidFill>
                <a:latin typeface="Georgia"/>
              </a:rPr>
              <a:t>|  </a:t>
            </a:r>
            <a:r>
              <a:rPr sz="880" b="1">
                <a:solidFill>
                  <a:srgbClr val="123D30"/>
                </a:solidFill>
                <a:latin typeface="Arial"/>
              </a:rPr>
              <a:t>The whole fee book  </a:t>
            </a:r>
            <a:r>
              <a:rPr sz="880">
                <a:solidFill>
                  <a:srgbClr val="0E1512"/>
                </a:solidFill>
                <a:latin typeface="Arial"/>
              </a:rPr>
              <a:t>every number is a proposal until the first 100 circles measure q.</a:t>
            </a:r>
          </a:p>
          <a:p>
            <a:pPr>
              <a:lnSpc>
                <a:spcPct val="104000"/>
              </a:lnSpc>
              <a:spcAft>
                <a:spcPts val="400"/>
              </a:spcAft>
            </a:pPr>
            <a:r>
              <a:rPr sz="880" b="1">
                <a:solidFill>
                  <a:srgbClr val="D9A93C"/>
                </a:solidFill>
                <a:latin typeface="Georgia"/>
              </a:rPr>
              <a:t>|  </a:t>
            </a:r>
            <a:r>
              <a:rPr sz="880" b="1">
                <a:solidFill>
                  <a:srgbClr val="123D30"/>
                </a:solidFill>
                <a:latin typeface="Arial"/>
              </a:rPr>
              <a:t>The 48% APR ceiling on HYPER  </a:t>
            </a:r>
            <a:r>
              <a:rPr sz="880">
                <a:solidFill>
                  <a:srgbClr val="0E1512"/>
                </a:solidFill>
                <a:latin typeface="Arial"/>
              </a:rPr>
              <a:t>hold it and take the duration (recommended), or raise it and run 30-day circles at higher fees.</a:t>
            </a:r>
          </a:p>
          <a:p>
            <a:pPr>
              <a:lnSpc>
                <a:spcPct val="104000"/>
              </a:lnSpc>
              <a:spcAft>
                <a:spcPts val="400"/>
              </a:spcAft>
            </a:pPr>
            <a:r>
              <a:rPr sz="880" b="1">
                <a:solidFill>
                  <a:srgbClr val="D9A93C"/>
                </a:solidFill>
                <a:latin typeface="Georgia"/>
              </a:rPr>
              <a:t>|  </a:t>
            </a:r>
            <a:r>
              <a:rPr sz="880" b="1">
                <a:solidFill>
                  <a:srgbClr val="123D30"/>
                </a:solidFill>
                <a:latin typeface="Arial"/>
              </a:rPr>
              <a:t>The spin  </a:t>
            </a:r>
            <a:r>
              <a:rPr sz="880">
                <a:solidFill>
                  <a:srgbClr val="0E1512"/>
                </a:solidFill>
                <a:latin typeface="Arial"/>
              </a:rPr>
              <a:t>a wheel, or deterministic streak milestones (recommended, same revenue, none of the surface).</a:t>
            </a:r>
          </a:p>
          <a:p>
            <a:pPr>
              <a:lnSpc>
                <a:spcPct val="104000"/>
              </a:lnSpc>
              <a:spcAft>
                <a:spcPts val="400"/>
              </a:spcAft>
            </a:pPr>
            <a:r>
              <a:rPr sz="880" b="1">
                <a:solidFill>
                  <a:srgbClr val="D9A93C"/>
                </a:solidFill>
                <a:latin typeface="Georgia"/>
              </a:rPr>
              <a:t>|  </a:t>
            </a:r>
            <a:r>
              <a:rPr sz="880" b="1">
                <a:solidFill>
                  <a:srgbClr val="123D30"/>
                </a:solidFill>
                <a:latin typeface="Arial"/>
              </a:rPr>
              <a:t>Bank-affiliated AMCs  </a:t>
            </a:r>
            <a:r>
              <a:rPr sz="880">
                <a:solidFill>
                  <a:srgbClr val="0E1512"/>
                </a:solidFill>
                <a:latin typeface="Arial"/>
              </a:rPr>
              <a:t>does “no bank partner” reach an SECP-regulated AMC whose shareholder is a bank?</a:t>
            </a:r>
          </a:p>
          <a:p>
            <a:pPr>
              <a:lnSpc>
                <a:spcPct val="104000"/>
              </a:lnSpc>
              <a:spcAft>
                <a:spcPts val="400"/>
              </a:spcAft>
            </a:pPr>
            <a:r>
              <a:rPr sz="880" b="1">
                <a:solidFill>
                  <a:srgbClr val="D9A93C"/>
                </a:solidFill>
                <a:latin typeface="Georgia"/>
              </a:rPr>
              <a:t>|  </a:t>
            </a:r>
            <a:r>
              <a:rPr sz="880" b="1">
                <a:solidFill>
                  <a:srgbClr val="123D30"/>
                </a:solidFill>
                <a:latin typeface="Arial"/>
              </a:rPr>
              <a:t>Published addresses  </a:t>
            </a:r>
            <a:r>
              <a:rPr sz="880">
                <a:solidFill>
                  <a:srgbClr val="0E1512"/>
                </a:solidFill>
                <a:latin typeface="Arial"/>
              </a:rPr>
              <a:t>refused, with a stronger substitute (service-of-notice consent + evidence pack + status-not-address).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4C574F"/>
                </a:solidFill>
                <a:latin typeface="Arial"/>
              </a:rPr>
              <a:t>VI · THE BUSINESS</a:t>
            </a:r>
          </a:p>
        </p:txBody>
      </p:sp>
      <p:sp>
        <p:nvSpPr>
          <p:cNvPr id="4" name="TextBox 3"/>
          <p:cNvSpPr txBox="1"/>
          <p:nvPr/>
        </p:nvSpPr>
        <p:spPr>
          <a:xfrm>
            <a:off x="566928" y="548640"/>
            <a:ext cx="11057839" cy="502920"/>
          </a:xfrm>
          <a:prstGeom prst="rect">
            <a:avLst/>
          </a:prstGeom>
          <a:noFill/>
        </p:spPr>
        <p:txBody>
          <a:bodyPr wrap="square" lIns="0" rIns="0" tIns="0" bIns="0" anchor="t">
            <a:spAutoFit/>
          </a:bodyPr>
          <a:lstStyle/>
          <a:p>
            <a:pPr algn="l">
              <a:lnSpc>
                <a:spcPct val="100000"/>
              </a:lnSpc>
              <a:spcAft>
                <a:spcPts val="400"/>
              </a:spcAft>
            </a:pPr>
            <a:r>
              <a:rPr sz="2200" b="0" i="0">
                <a:solidFill>
                  <a:srgbClr val="123D30"/>
                </a:solidFill>
                <a:latin typeface="Georgia"/>
              </a:rPr>
              <a:t>Where this stands, and what is next</a:t>
            </a:r>
          </a:p>
        </p:txBody>
      </p:sp>
      <p:sp>
        <p:nvSpPr>
          <p:cNvPr id="5" name="TextBox 4"/>
          <p:cNvSpPr txBox="1"/>
          <p:nvPr/>
        </p:nvSpPr>
        <p:spPr>
          <a:xfrm>
            <a:off x="566928" y="1024128"/>
            <a:ext cx="10874959" cy="365760"/>
          </a:xfrm>
          <a:prstGeom prst="rect">
            <a:avLst/>
          </a:prstGeom>
          <a:noFill/>
        </p:spPr>
        <p:txBody>
          <a:bodyPr wrap="square" lIns="0" rIns="0" tIns="0" bIns="0" anchor="t">
            <a:spAutoFit/>
          </a:bodyPr>
          <a:lstStyle/>
          <a:p>
            <a:pPr algn="l">
              <a:lnSpc>
                <a:spcPct val="108000"/>
              </a:lnSpc>
              <a:spcAft>
                <a:spcPts val="400"/>
              </a:spcAft>
            </a:pPr>
            <a:r>
              <a:rPr sz="1100" b="0" i="0">
                <a:solidFill>
                  <a:srgbClr val="4C574F"/>
                </a:solidFill>
                <a:latin typeface="Arial"/>
              </a:rPr>
              <a:t>The engineering is far ahead of the business, and nothing on the critical path to real money is a coding problem. Stated plainly, because overstating progress is the one thing this report exists not to do.</a:t>
            </a:r>
          </a:p>
        </p:txBody>
      </p:sp>
      <p:cxnSp>
        <p:nvCxnSpPr>
          <p:cNvPr id="6" name="Connector 5"/>
          <p:cNvCxnSpPr/>
          <p:nvPr/>
        </p:nvCxnSpPr>
        <p:spPr>
          <a:xfrm>
            <a:off x="566928" y="6583680"/>
            <a:ext cx="11057839" cy="0"/>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528816"/>
            <a:ext cx="0" cy="54864"/>
          </a:xfrm>
          <a:prstGeom prst="line">
            <a:avLst/>
          </a:prstGeom>
          <a:ln w="9525">
            <a:solidFill>
              <a:srgbClr val="123D3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624828"/>
            <a:ext cx="5486400" cy="182880"/>
          </a:xfrm>
          <a:prstGeom prst="rect">
            <a:avLst/>
          </a:prstGeom>
          <a:noFill/>
        </p:spPr>
        <p:txBody>
          <a:bodyPr wrap="square" lIns="0" rIns="0" tIns="0" bIns="0" anchor="t">
            <a:spAutoFit/>
          </a:bodyPr>
          <a:lstStyle/>
          <a:p>
            <a:pPr algn="l">
              <a:lnSpc>
                <a:spcPct val="100000"/>
              </a:lnSpc>
              <a:spcAft>
                <a:spcPts val="400"/>
              </a:spcAft>
            </a:pPr>
            <a:r>
              <a:rPr sz="740" b="0" i="0" spc="70">
                <a:solidFill>
                  <a:srgbClr val="4C574F"/>
                </a:solidFill>
                <a:latin typeface="Arial"/>
              </a:rPr>
              <a:t>HALQA   ·   THE COMPLETE POSITION   ·   17 AUGUST 2026</a:t>
            </a:r>
          </a:p>
        </p:txBody>
      </p:sp>
      <p:sp>
        <p:nvSpPr>
          <p:cNvPr id="17" name="TextBox 16"/>
          <p:cNvSpPr txBox="1"/>
          <p:nvPr/>
        </p:nvSpPr>
        <p:spPr>
          <a:xfrm>
            <a:off x="10710367" y="662482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4C574F"/>
                </a:solidFill>
                <a:latin typeface="Arial"/>
              </a:rPr>
              <a:t>67</a:t>
            </a:r>
          </a:p>
        </p:txBody>
      </p:sp>
      <p:sp>
        <p:nvSpPr>
          <p:cNvPr id="18" name="TextBox 17"/>
          <p:cNvSpPr txBox="1"/>
          <p:nvPr/>
        </p:nvSpPr>
        <p:spPr>
          <a:xfrm>
            <a:off x="566928" y="1408176"/>
            <a:ext cx="548640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The honest current state</a:t>
            </a:r>
          </a:p>
        </p:txBody>
      </p:sp>
      <p:graphicFrame>
        <p:nvGraphicFramePr>
          <p:cNvPr id="19" name="Table 18"/>
          <p:cNvGraphicFramePr>
            <a:graphicFrameLocks noGrp="1"/>
          </p:cNvGraphicFramePr>
          <p:nvPr/>
        </p:nvGraphicFramePr>
        <p:xfrm>
          <a:off x="566928" y="1700784"/>
          <a:ext cx="5486400" cy="2310871"/>
        </p:xfrm>
        <a:graphic>
          <a:graphicData uri="http://schemas.openxmlformats.org/drawingml/2006/table">
            <a:tbl>
              <a:tblPr>
                <a:tableStyleId>{5C22544A-7EE6-4342-B048-85BDC9FD1C3A}</a:tableStyleId>
              </a:tblPr>
              <a:tblGrid>
                <a:gridCol w="1207008"/>
                <a:gridCol w="4279392"/>
              </a:tblGrid>
              <a:tr h="335767">
                <a:tc>
                  <a:txBody>
                    <a:bodyPr wrap="square"/>
                    <a:lstStyle/>
                    <a:p>
                      <a:pPr algn="l"/>
                      <a:r>
                        <a:rPr sz="900" b="1">
                          <a:solidFill>
                            <a:srgbClr val="F6F1E4"/>
                          </a:solidFill>
                          <a:latin typeface="Arial"/>
                        </a:rPr>
                        <a:t>Dimension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c>
                  <a:txBody>
                    <a:bodyPr wrap="square"/>
                    <a:lstStyle/>
                    <a:p>
                      <a:pPr algn="l"/>
                      <a:r>
                        <a:rPr sz="900" b="1">
                          <a:solidFill>
                            <a:srgbClr val="F6F1E4"/>
                          </a:solidFill>
                          <a:latin typeface="Arial"/>
                        </a:rPr>
                        <a:t>State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123D30"/>
                    </a:solidFill>
                  </a:tcPr>
                </a:tc>
              </a:tr>
              <a:tr h="329184">
                <a:tc>
                  <a:txBody>
                    <a:bodyPr wrap="square"/>
                    <a:lstStyle/>
                    <a:p>
                      <a:pPr algn="l"/>
                      <a:r>
                        <a:rPr sz="880" b="0">
                          <a:solidFill>
                            <a:srgbClr val="0E1512"/>
                          </a:solidFill>
                          <a:latin typeface="Arial"/>
                        </a:rPr>
                        <a:t>Product</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Live since 20 July 2026; deliberately not public</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Data</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56 users, 48 committees, 64 payments, all sandbox</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Money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No real money has moved; blocked on the merchant deal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Company</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Does not exist yet. No SECP registration, no NTN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Code</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Both packages type-clean; 97 unit tests green</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r h="329184">
                <a:tc>
                  <a:txBody>
                    <a:bodyPr wrap="square"/>
                    <a:lstStyle/>
                    <a:p>
                      <a:pPr algn="l"/>
                      <a:r>
                        <a:rPr sz="880" b="0">
                          <a:solidFill>
                            <a:srgbClr val="0E1512"/>
                          </a:solidFill>
                          <a:latin typeface="Arial"/>
                        </a:rPr>
                        <a:t>Regulator</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c>
                  <a:txBody>
                    <a:bodyPr wrap="square"/>
                    <a:lstStyle/>
                    <a:p>
                      <a:pPr algn="l"/>
                      <a:r>
                        <a:rPr sz="880" b="0">
                          <a:solidFill>
                            <a:srgbClr val="0E1512"/>
                          </a:solidFill>
                          <a:latin typeface="Arial"/>
                        </a:rPr>
                        <a:t>Mentored by the sitting SECP Chairman; nothing formal</a:t>
                      </a:r>
                    </a:p>
                  </a:txBody>
                  <a:tcPr marL="64008" marR="45720" marT="18288" marB="18288" anchor="ctr">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solidFill>
                      <a:srgbClr val="FFFFFF"/>
                    </a:solidFill>
                  </a:tcPr>
                </a:tc>
              </a:tr>
            </a:tbl>
          </a:graphicData>
        </a:graphic>
      </p:graphicFrame>
      <p:sp>
        <p:nvSpPr>
          <p:cNvPr id="20" name="TextBox 19"/>
          <p:cNvSpPr txBox="1"/>
          <p:nvPr/>
        </p:nvSpPr>
        <p:spPr>
          <a:xfrm>
            <a:off x="566928" y="4114800"/>
            <a:ext cx="5486400" cy="274320"/>
          </a:xfrm>
          <a:prstGeom prst="rect">
            <a:avLst/>
          </a:prstGeom>
          <a:noFill/>
        </p:spPr>
        <p:txBody>
          <a:bodyPr wrap="square" lIns="0" rIns="0" tIns="0" bIns="0" anchor="t">
            <a:spAutoFit/>
          </a:bodyPr>
          <a:lstStyle/>
          <a:p>
            <a:pPr algn="l">
              <a:lnSpc>
                <a:spcPct val="105000"/>
              </a:lnSpc>
              <a:spcAft>
                <a:spcPts val="400"/>
              </a:spcAft>
            </a:pPr>
            <a:r>
              <a:rPr sz="860" b="0" i="1">
                <a:solidFill>
                  <a:srgbClr val="4C574F"/>
                </a:solidFill>
                <a:latin typeface="Arial"/>
              </a:rPr>
              <a:t>Blocking before any deploy: apply the two pending additive migrations (locality/jobTitle, salary-verification), then push the stranded commits. The GitHub push is blocked at the network (ISP-level SNI filtering, not a git problem), needing a VPN or a different network.</a:t>
            </a:r>
          </a:p>
        </p:txBody>
      </p:sp>
      <p:sp>
        <p:nvSpPr>
          <p:cNvPr id="21" name="TextBox 20"/>
          <p:cNvSpPr txBox="1"/>
          <p:nvPr/>
        </p:nvSpPr>
        <p:spPr>
          <a:xfrm>
            <a:off x="566928" y="4937760"/>
            <a:ext cx="5486400" cy="1097280"/>
          </a:xfrm>
          <a:prstGeom prst="rect">
            <a:avLst/>
          </a:prstGeom>
          <a:noFill/>
        </p:spPr>
        <p:txBody>
          <a:bodyPr wrap="square" lIns="0" rIns="0" tIns="0" bIns="0" anchor="t">
            <a:spAutoFit/>
          </a:bodyPr>
          <a:lstStyle/>
          <a:p>
            <a:pPr algn="l">
              <a:lnSpc>
                <a:spcPct val="116000"/>
              </a:lnSpc>
              <a:spcAft>
                <a:spcPts val="400"/>
              </a:spcAft>
            </a:pPr>
            <a:r>
              <a:rPr sz="950" b="0" i="0">
                <a:solidFill>
                  <a:srgbClr val="0E1512"/>
                </a:solidFill>
                <a:latin typeface="Arial"/>
              </a:rPr>
              <a:t>The ladder, and why the order cannot change: collection unlocks a credible record; the record unlocks the bureau link; the bureau link unlocks commerce and the on-ramp, which is where the revenue is; and only then the savings layer. Attempting them out of order is the most common way companies in this category waste a year.</a:t>
            </a:r>
          </a:p>
        </p:txBody>
      </p:sp>
      <p:sp>
        <p:nvSpPr>
          <p:cNvPr id="22" name="TextBox 21"/>
          <p:cNvSpPr txBox="1"/>
          <p:nvPr/>
        </p:nvSpPr>
        <p:spPr>
          <a:xfrm>
            <a:off x="6419088" y="1389888"/>
            <a:ext cx="51663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123D30"/>
                </a:solidFill>
                <a:latin typeface="Georgia"/>
              </a:rPr>
              <a:t>If you can only do five things</a:t>
            </a:r>
          </a:p>
        </p:txBody>
      </p:sp>
      <p:sp>
        <p:nvSpPr>
          <p:cNvPr id="23" name="TextBox 22"/>
          <p:cNvSpPr txBox="1"/>
          <p:nvPr/>
        </p:nvSpPr>
        <p:spPr>
          <a:xfrm>
            <a:off x="6419088" y="1737360"/>
            <a:ext cx="5166360" cy="365760"/>
          </a:xfrm>
          <a:prstGeom prst="rect">
            <a:avLst/>
          </a:prstGeom>
          <a:noFill/>
        </p:spPr>
        <p:txBody>
          <a:bodyPr wrap="square" lIns="0" rIns="0" tIns="0" bIns="0">
            <a:spAutoFit/>
          </a:bodyPr>
          <a:lstStyle/>
          <a:p>
            <a:pPr>
              <a:lnSpc>
                <a:spcPct val="108000"/>
              </a:lnSpc>
              <a:spcAft>
                <a:spcPts val="600"/>
              </a:spcAft>
            </a:pPr>
            <a:r>
              <a:rPr sz="930" b="1">
                <a:solidFill>
                  <a:srgbClr val="D9A93C"/>
                </a:solidFill>
                <a:latin typeface="Georgia"/>
              </a:rPr>
              <a:t>|  </a:t>
            </a:r>
            <a:r>
              <a:rPr sz="930" b="1">
                <a:solidFill>
                  <a:srgbClr val="123D30"/>
                </a:solidFill>
                <a:latin typeface="Arial"/>
              </a:rPr>
              <a:t>Apply the two migrations, then push  </a:t>
            </a:r>
            <a:r>
              <a:rPr sz="930">
                <a:solidFill>
                  <a:srgbClr val="0E1512"/>
                </a:solidFill>
                <a:latin typeface="Arial"/>
              </a:rPr>
              <a:t>everything is blocked behind a working production.</a:t>
            </a:r>
          </a:p>
          <a:p>
            <a:pPr>
              <a:lnSpc>
                <a:spcPct val="108000"/>
              </a:lnSpc>
              <a:spcAft>
                <a:spcPts val="600"/>
              </a:spcAft>
            </a:pPr>
            <a:r>
              <a:rPr sz="930" b="1">
                <a:solidFill>
                  <a:srgbClr val="D9A93C"/>
                </a:solidFill>
                <a:latin typeface="Georgia"/>
              </a:rPr>
              <a:t>|  </a:t>
            </a:r>
            <a:r>
              <a:rPr sz="930" b="1">
                <a:solidFill>
                  <a:srgbClr val="123D30"/>
                </a:solidFill>
                <a:latin typeface="Arial"/>
              </a:rPr>
              <a:t>Gate 1, then Gate 2  </a:t>
            </a:r>
            <a:r>
              <a:rPr sz="930">
                <a:solidFill>
                  <a:srgbClr val="0E1512"/>
                </a:solidFill>
                <a:latin typeface="Arial"/>
              </a:rPr>
              <a:t>make Halqa a company (Rs 20-30k, weeks), then sign the aggregator merchant agreement, collection is rung one, and nothing above it exists until real money moves.</a:t>
            </a:r>
          </a:p>
          <a:p>
            <a:pPr>
              <a:lnSpc>
                <a:spcPct val="108000"/>
              </a:lnSpc>
              <a:spcAft>
                <a:spcPts val="600"/>
              </a:spcAft>
            </a:pPr>
            <a:r>
              <a:rPr sz="930" b="1">
                <a:solidFill>
                  <a:srgbClr val="D9A93C"/>
                </a:solidFill>
                <a:latin typeface="Georgia"/>
              </a:rPr>
              <a:t>|  </a:t>
            </a:r>
            <a:r>
              <a:rPr sz="930" b="1">
                <a:solidFill>
                  <a:srgbClr val="123D30"/>
                </a:solidFill>
                <a:latin typeface="Arial"/>
              </a:rPr>
              <a:t>Build abuse detection before opening to the public  </a:t>
            </a:r>
            <a:r>
              <a:rPr sz="930">
                <a:solidFill>
                  <a:srgbClr val="0E1512"/>
                </a:solidFill>
                <a:latin typeface="Arial"/>
              </a:rPr>
              <a:t>cap concurrent circles per organiser, flag implausible growth, scope the Passport to on-platform history, not after the first incident.</a:t>
            </a:r>
          </a:p>
          <a:p>
            <a:pPr>
              <a:lnSpc>
                <a:spcPct val="108000"/>
              </a:lnSpc>
              <a:spcAft>
                <a:spcPts val="600"/>
              </a:spcAft>
            </a:pPr>
            <a:r>
              <a:rPr sz="930" b="1">
                <a:solidFill>
                  <a:srgbClr val="D9A93C"/>
                </a:solidFill>
                <a:latin typeface="Georgia"/>
              </a:rPr>
              <a:t>|  </a:t>
            </a:r>
            <a:r>
              <a:rPr sz="930" b="1">
                <a:solidFill>
                  <a:srgbClr val="123D30"/>
                </a:solidFill>
                <a:latin typeface="Arial"/>
              </a:rPr>
              <a:t>Approach SECP voluntarily  </a:t>
            </a:r>
            <a:r>
              <a:rPr sz="930">
                <a:solidFill>
                  <a:srgbClr val="0E1512"/>
                </a:solidFill>
                <a:latin typeface="Arial"/>
              </a:rPr>
              <a:t>seek the sandbox while the door is open and the mentor is engaged; get the model clause into the first consultation paper.</a:t>
            </a:r>
          </a:p>
          <a:p>
            <a:pPr>
              <a:lnSpc>
                <a:spcPct val="108000"/>
              </a:lnSpc>
              <a:spcAft>
                <a:spcPts val="600"/>
              </a:spcAft>
            </a:pPr>
            <a:r>
              <a:rPr sz="930" b="1">
                <a:solidFill>
                  <a:srgbClr val="D9A93C"/>
                </a:solidFill>
                <a:latin typeface="Georgia"/>
              </a:rPr>
              <a:t>|  </a:t>
            </a:r>
            <a:r>
              <a:rPr sz="930" b="1">
                <a:solidFill>
                  <a:srgbClr val="123D30"/>
                </a:solidFill>
                <a:latin typeface="Arial"/>
              </a:rPr>
              <a:t>Start field sales to offline organisers  </a:t>
            </a:r>
            <a:r>
              <a:rPr sz="930">
                <a:solidFill>
                  <a:srgbClr val="0E1512"/>
                </a:solidFill>
                <a:latin typeface="Arial"/>
              </a:rPr>
              <a:t>the highest-return motion, and the one every competitor will skip.</a:t>
            </a:r>
          </a:p>
        </p:txBody>
      </p:sp>
      <p:sp>
        <p:nvSpPr>
          <p:cNvPr id="24" name="Rectangle 23"/>
          <p:cNvSpPr/>
          <p:nvPr/>
        </p:nvSpPr>
        <p:spPr>
          <a:xfrm>
            <a:off x="6419088" y="5212080"/>
            <a:ext cx="45720" cy="822960"/>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620256" y="5248656"/>
            <a:ext cx="4937760" cy="822960"/>
          </a:xfrm>
          <a:prstGeom prst="rect">
            <a:avLst/>
          </a:prstGeom>
          <a:noFill/>
        </p:spPr>
        <p:txBody>
          <a:bodyPr wrap="square" lIns="0" rIns="0" tIns="0" bIns="0" anchor="t">
            <a:spAutoFit/>
          </a:bodyPr>
          <a:lstStyle/>
          <a:p>
            <a:pPr algn="l">
              <a:lnSpc>
                <a:spcPct val="118000"/>
              </a:lnSpc>
              <a:spcAft>
                <a:spcPts val="400"/>
              </a:spcAft>
            </a:pPr>
            <a:r>
              <a:rPr sz="1000" b="0" i="0">
                <a:solidFill>
                  <a:srgbClr val="0E1512"/>
                </a:solidFill>
                <a:latin typeface="Arial"/>
              </a:rPr>
              <a:t>The one-line summary: the engineering is far ahead of the business, and the entire critical path to real money is paperwork, a company, a merchant agreement, a counsel opinion, not code.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6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11696"/>
            <a:ext cx="12191695" cy="146304"/>
          </a:xfrm>
          <a:prstGeom prst="rect">
            <a:avLst/>
          </a:prstGeom>
          <a:solidFill>
            <a:srgbClr val="D9A9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6095847" y="1644091"/>
            <a:ext cx="0" cy="321869"/>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347307" y="1754591"/>
            <a:ext cx="160934" cy="278747"/>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6531388" y="2056485"/>
            <a:ext cx="278747" cy="160935"/>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6598767" y="2468880"/>
            <a:ext cx="321869" cy="0"/>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531388" y="2720340"/>
            <a:ext cx="278747" cy="160934"/>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6347307" y="2904421"/>
            <a:ext cx="160934" cy="278747"/>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095847" y="2971800"/>
            <a:ext cx="0" cy="321868"/>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5683453" y="2904421"/>
            <a:ext cx="160934" cy="278747"/>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381559" y="2720340"/>
            <a:ext cx="278747" cy="160934"/>
          </a:xfrm>
          <a:prstGeom prst="line">
            <a:avLst/>
          </a:prstGeom>
          <a:ln w="195580">
            <a:solidFill>
              <a:srgbClr val="F6F1E4"/>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71058" y="2468880"/>
            <a:ext cx="442570" cy="0"/>
          </a:xfrm>
          <a:prstGeom prst="line">
            <a:avLst/>
          </a:prstGeom>
          <a:ln w="251460">
            <a:solidFill>
              <a:srgbClr val="D9A93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0" y="3566160"/>
            <a:ext cx="12191695" cy="548640"/>
          </a:xfrm>
          <a:prstGeom prst="rect">
            <a:avLst/>
          </a:prstGeom>
          <a:noFill/>
        </p:spPr>
        <p:txBody>
          <a:bodyPr wrap="square" lIns="0" rIns="0" tIns="0" bIns="0" anchor="t">
            <a:spAutoFit/>
          </a:bodyPr>
          <a:lstStyle/>
          <a:p>
            <a:pPr algn="ctr">
              <a:lnSpc>
                <a:spcPct val="100000"/>
              </a:lnSpc>
              <a:spcAft>
                <a:spcPts val="400"/>
              </a:spcAft>
            </a:pPr>
            <a:r>
              <a:rPr sz="2200" b="0" i="0">
                <a:solidFill>
                  <a:srgbClr val="F6F1E4"/>
                </a:solidFill>
                <a:latin typeface="Georgia"/>
              </a:rPr>
              <a:t>Apni committee, apnay log. Hisaab humara.</a:t>
            </a:r>
          </a:p>
        </p:txBody>
      </p:sp>
      <p:sp>
        <p:nvSpPr>
          <p:cNvPr id="15" name="TextBox 14"/>
          <p:cNvSpPr txBox="1"/>
          <p:nvPr/>
        </p:nvSpPr>
        <p:spPr>
          <a:xfrm>
            <a:off x="0" y="4206240"/>
            <a:ext cx="12191695" cy="457200"/>
          </a:xfrm>
          <a:prstGeom prst="rect">
            <a:avLst/>
          </a:prstGeom>
          <a:noFill/>
        </p:spPr>
        <p:txBody>
          <a:bodyPr wrap="square" lIns="0" rIns="0" tIns="0" bIns="0" anchor="t">
            <a:spAutoFit/>
          </a:bodyPr>
          <a:lstStyle/>
          <a:p>
            <a:pPr algn="ctr">
              <a:lnSpc>
                <a:spcPct val="100000"/>
              </a:lnSpc>
              <a:spcAft>
                <a:spcPts val="400"/>
              </a:spcAft>
            </a:pPr>
            <a:r>
              <a:rPr sz="1250" b="0" i="0">
                <a:solidFill>
                  <a:srgbClr val="C8D4CC"/>
                </a:solidFill>
                <a:latin typeface="Arial"/>
              </a:rPr>
              <a:t>Your committee, your people. We keep the record, and we never hold your money.</a:t>
            </a:r>
          </a:p>
        </p:txBody>
      </p:sp>
      <p:sp>
        <p:nvSpPr>
          <p:cNvPr id="16" name="TextBox 15"/>
          <p:cNvSpPr txBox="1"/>
          <p:nvPr/>
        </p:nvSpPr>
        <p:spPr>
          <a:xfrm>
            <a:off x="0" y="4846320"/>
            <a:ext cx="12191695" cy="365760"/>
          </a:xfrm>
          <a:prstGeom prst="rect">
            <a:avLst/>
          </a:prstGeom>
          <a:noFill/>
        </p:spPr>
        <p:txBody>
          <a:bodyPr wrap="square" lIns="0" rIns="0" tIns="0" bIns="0" anchor="t">
            <a:spAutoFit/>
          </a:bodyPr>
          <a:lstStyle/>
          <a:p>
            <a:pPr algn="ctr">
              <a:lnSpc>
                <a:spcPct val="100000"/>
              </a:lnSpc>
              <a:spcAft>
                <a:spcPts val="400"/>
              </a:spcAft>
            </a:pPr>
            <a:r>
              <a:rPr sz="1000" b="0" i="0" spc="100">
                <a:solidFill>
                  <a:srgbClr val="D9A93C"/>
                </a:solidFill>
                <a:latin typeface="Arial"/>
              </a:rPr>
              <a:t>HALQA   ·   17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