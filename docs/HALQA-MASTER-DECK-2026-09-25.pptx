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lockup-light.png"/>
          <p:cNvPicPr>
            <a:picLocks noChangeAspect="1"/>
          </p:cNvPicPr>
          <p:nvPr/>
        </p:nvPicPr>
        <p:blipFill>
          <a:blip r:embed="rId2"/>
          <a:stretch>
            <a:fillRect/>
          </a:stretch>
        </p:blipFill>
        <p:spPr>
          <a:xfrm>
            <a:off x="914400" y="1417320"/>
            <a:ext cx="2862695" cy="868680"/>
          </a:xfrm>
          <a:prstGeom prst="rect">
            <a:avLst/>
          </a:prstGeom>
        </p:spPr>
      </p:pic>
      <p:sp>
        <p:nvSpPr>
          <p:cNvPr id="5" name="TextBox 4"/>
          <p:cNvSpPr txBox="1"/>
          <p:nvPr/>
        </p:nvSpPr>
        <p:spPr>
          <a:xfrm>
            <a:off x="960120" y="2743200"/>
            <a:ext cx="9144000" cy="640080"/>
          </a:xfrm>
          <a:prstGeom prst="rect">
            <a:avLst/>
          </a:prstGeom>
          <a:noFill/>
        </p:spPr>
        <p:txBody>
          <a:bodyPr wrap="square" lIns="0" rIns="0" tIns="0" bIns="0" anchor="t">
            <a:spAutoFit/>
          </a:bodyPr>
          <a:lstStyle/>
          <a:p>
            <a:pPr algn="l">
              <a:lnSpc>
                <a:spcPct val="100000"/>
              </a:lnSpc>
              <a:spcAft>
                <a:spcPts val="400"/>
              </a:spcAft>
            </a:pPr>
            <a:r>
              <a:rPr sz="3400" b="0" i="0">
                <a:solidFill>
                  <a:srgbClr val="F3FCE7"/>
                </a:solidFill>
                <a:latin typeface="Georgia"/>
              </a:rPr>
              <a:t>The complete position</a:t>
            </a:r>
          </a:p>
        </p:txBody>
      </p:sp>
      <p:cxnSp>
        <p:nvCxnSpPr>
          <p:cNvPr id="6" name="Connector 5"/>
          <p:cNvCxnSpPr/>
          <p:nvPr/>
        </p:nvCxnSpPr>
        <p:spPr>
          <a:xfrm>
            <a:off x="987552" y="3529584"/>
            <a:ext cx="2121408" cy="0"/>
          </a:xfrm>
          <a:prstGeom prst="line">
            <a:avLst/>
          </a:prstGeom>
          <a:ln w="30480">
            <a:solidFill>
              <a:srgbClr val="6DC7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60120" y="3730752"/>
            <a:ext cx="8961120" cy="914400"/>
          </a:xfrm>
          <a:prstGeom prst="rect">
            <a:avLst/>
          </a:prstGeom>
          <a:noFill/>
        </p:spPr>
        <p:txBody>
          <a:bodyPr wrap="square" lIns="0" rIns="0" tIns="0" bIns="0" anchor="t">
            <a:spAutoFit/>
          </a:bodyPr>
          <a:lstStyle/>
          <a:p>
            <a:pPr algn="l">
              <a:lnSpc>
                <a:spcPct val="118000"/>
              </a:lnSpc>
              <a:spcAft>
                <a:spcPts val="400"/>
              </a:spcAft>
            </a:pPr>
            <a:r>
              <a:rPr sz="1320" b="0" i="0">
                <a:solidFill>
                  <a:srgbClr val="D2E2C6"/>
                </a:solidFill>
                <a:latin typeface="Arial"/>
              </a:rPr>
              <a:t>A committee service that collects through Safepay, a licensed payment service provider, charges a stated fee for the service, and holds no member money at any point.</a:t>
            </a:r>
          </a:p>
        </p:txBody>
      </p:sp>
      <p:cxnSp>
        <p:nvCxnSpPr>
          <p:cNvPr id="8" name="Connector 7"/>
          <p:cNvCxnSpPr/>
          <p:nvPr/>
        </p:nvCxnSpPr>
        <p:spPr>
          <a:xfrm>
            <a:off x="960120" y="4846320"/>
            <a:ext cx="10195560" cy="0"/>
          </a:xfrm>
          <a:prstGeom prst="line">
            <a:avLst/>
          </a:prstGeom>
          <a:ln w="9525">
            <a:solidFill>
              <a:srgbClr val="35691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0120" y="4992624"/>
            <a:ext cx="10058400" cy="274320"/>
          </a:xfrm>
          <a:prstGeom prst="rect">
            <a:avLst/>
          </a:prstGeom>
          <a:noFill/>
        </p:spPr>
        <p:txBody>
          <a:bodyPr wrap="square" lIns="0" rIns="0" tIns="0" bIns="0" anchor="t">
            <a:spAutoFit/>
          </a:bodyPr>
          <a:lstStyle/>
          <a:p>
            <a:pPr algn="l">
              <a:lnSpc>
                <a:spcPct val="100000"/>
              </a:lnSpc>
              <a:spcAft>
                <a:spcPts val="400"/>
              </a:spcAft>
            </a:pPr>
            <a:r>
              <a:rPr sz="1040" b="0" i="0">
                <a:solidFill>
                  <a:srgbClr val="A9B4A3"/>
                </a:solidFill>
                <a:latin typeface="Arial"/>
              </a:rPr>
              <a:t>25 September 2026</a:t>
            </a:r>
          </a:p>
        </p:txBody>
      </p:sp>
      <p:sp>
        <p:nvSpPr>
          <p:cNvPr id="10" name="TextBox 9"/>
          <p:cNvSpPr txBox="1"/>
          <p:nvPr/>
        </p:nvSpPr>
        <p:spPr>
          <a:xfrm>
            <a:off x="960120" y="6217920"/>
            <a:ext cx="1005840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A9B4A3"/>
                </a:solidFill>
                <a:latin typeface="Arial"/>
              </a:rPr>
              <a:t>Every statement carries a provenance mark or a stage tag. The next page sets out both.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READING THIS DECK</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Provenance and stage tags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statement shows how strongly it is known and what it depends 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a:t>
            </a:r>
          </a:p>
        </p:txBody>
      </p:sp>
      <p:sp>
        <p:nvSpPr>
          <p:cNvPr id="10" name="TextBox 9"/>
          <p:cNvSpPr txBox="1"/>
          <p:nvPr/>
        </p:nvSpPr>
        <p:spPr>
          <a:xfrm>
            <a:off x="566928" y="1554480"/>
            <a:ext cx="566928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   The two kinds of mark used throughout</a:t>
            </a:r>
          </a:p>
        </p:txBody>
      </p:sp>
      <p:graphicFrame>
        <p:nvGraphicFramePr>
          <p:cNvPr id="11" name="Table 10"/>
          <p:cNvGraphicFramePr>
            <a:graphicFrameLocks noGrp="1"/>
          </p:cNvGraphicFramePr>
          <p:nvPr/>
        </p:nvGraphicFramePr>
        <p:xfrm>
          <a:off x="566928" y="1810512"/>
          <a:ext cx="5669279" cy="1316736"/>
        </p:xfrm>
        <a:graphic>
          <a:graphicData uri="http://schemas.openxmlformats.org/drawingml/2006/table">
            <a:tbl>
              <a:tblPr>
                <a:tableStyleId>{5C22544A-7EE6-4342-B048-85BDC9FD1C3A}</a:tableStyleId>
              </a:tblPr>
              <a:tblGrid>
                <a:gridCol w="1247241"/>
                <a:gridCol w="4422038"/>
              </a:tblGrid>
              <a:tr h="329184">
                <a:tc>
                  <a:txBody>
                    <a:bodyPr wrap="square"/>
                    <a:lstStyle/>
                    <a:p>
                      <a:pPr algn="l"/>
                      <a:r>
                        <a:rPr sz="900" b="1">
                          <a:solidFill>
                            <a:srgbClr val="F3FCE7"/>
                          </a:solidFill>
                          <a:latin typeface="Arial"/>
                        </a:rPr>
                        <a:t>Provenance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Meaning</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verified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Checked against its source: the application code, a test, or a primary legal text read in full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modelled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Arithmetic or simulation, not yet measured in operation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reported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Stated by a third party: a company, a regulator, the press or a published study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graphicFrame>
        <p:nvGraphicFramePr>
          <p:cNvPr id="12" name="Table 11"/>
          <p:cNvGraphicFramePr>
            <a:graphicFrameLocks noGrp="1"/>
          </p:cNvGraphicFramePr>
          <p:nvPr/>
        </p:nvGraphicFramePr>
        <p:xfrm>
          <a:off x="566928" y="3310128"/>
          <a:ext cx="5669279" cy="1865376"/>
        </p:xfrm>
        <a:graphic>
          <a:graphicData uri="http://schemas.openxmlformats.org/drawingml/2006/table">
            <a:tbl>
              <a:tblPr>
                <a:tableStyleId>{5C22544A-7EE6-4342-B048-85BDC9FD1C3A}</a:tableStyleId>
              </a:tblPr>
              <a:tblGrid>
                <a:gridCol w="1247241"/>
                <a:gridCol w="4422038"/>
              </a:tblGrid>
              <a:tr h="310896">
                <a:tc>
                  <a:txBody>
                    <a:bodyPr wrap="square"/>
                    <a:lstStyle/>
                    <a:p>
                      <a:pPr algn="l"/>
                      <a:r>
                        <a:rPr sz="900" b="1">
                          <a:solidFill>
                            <a:srgbClr val="F3FCE7"/>
                          </a:solidFill>
                          <a:latin typeface="Arial"/>
                        </a:rPr>
                        <a:t>Stage tag</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What it depends 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BUILT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Present in the application today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Specified, with no external dependency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The merchant agreement with Safepay, with split settlement to collecting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 written agency agreement with a general takaful operator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MUFAP membership, a trustee and an asset manager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3" name="Rectangle 12"/>
          <p:cNvSpPr/>
          <p:nvPr/>
        </p:nvSpPr>
        <p:spPr>
          <a:xfrm>
            <a:off x="6647688" y="1810512"/>
            <a:ext cx="4965192" cy="4206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47688" y="1810512"/>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1920240"/>
            <a:ext cx="4690872"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position in one paragraph</a:t>
            </a:r>
          </a:p>
        </p:txBody>
      </p:sp>
      <p:sp>
        <p:nvSpPr>
          <p:cNvPr id="16" name="TextBox 15"/>
          <p:cNvSpPr txBox="1"/>
          <p:nvPr/>
        </p:nvSpPr>
        <p:spPr>
          <a:xfrm>
            <a:off x="6812280" y="2212848"/>
            <a:ext cx="4690872" cy="3749040"/>
          </a:xfrm>
          <a:prstGeom prst="rect">
            <a:avLst/>
          </a:prstGeom>
          <a:noFill/>
        </p:spPr>
        <p:txBody>
          <a:bodyPr wrap="square" lIns="0" rIns="0" tIns="0" bIns="0" anchor="t">
            <a:spAutoFit/>
          </a:bodyPr>
          <a:lstStyle/>
          <a:p>
            <a:pPr algn="l">
              <a:lnSpc>
                <a:spcPct val="112000"/>
              </a:lnSpc>
              <a:spcAft>
                <a:spcPts val="500"/>
              </a:spcAft>
            </a:pPr>
            <a:r>
              <a:rPr sz="1060" b="0" i="0">
                <a:solidFill>
                  <a:srgbClr val="0C1408"/>
                </a:solidFill>
                <a:latin typeface="Arial"/>
              </a:rPr>
              <a:t>Halqa never takes possession of member money. A contribution moves from the paying member’s account to the collecting member’s account through Safepay, a licensed payment service provider. Halqa’s service fee is collected separately and is the only money Halqa receives from members. Where cover is taken, the takaful contribution passes to a risk fund held by a licensed operator.</a:t>
            </a:r>
          </a:p>
          <a:p>
            <a:pPr algn="l">
              <a:lnSpc>
                <a:spcPct val="112000"/>
              </a:lnSpc>
              <a:spcAft>
                <a:spcPts val="500"/>
              </a:spcAft>
            </a:pPr>
            <a:r>
              <a:rPr sz="1060" b="0" i="0">
                <a:solidFill>
                  <a:srgbClr val="0C1408"/>
                </a:solidFill>
                <a:latin typeface="Arial"/>
              </a:rPr>
              <a:t>Halqa requires no financial licence, seeks no regulatory approval and does not pursue a sandbox. It operates under the general law and reaches the payment system through its partner’s licence.</a:t>
            </a:r>
          </a:p>
          <a:p>
            <a:pPr algn="l">
              <a:lnSpc>
                <a:spcPct val="112000"/>
              </a:lnSpc>
              <a:spcAft>
                <a:spcPts val="500"/>
              </a:spcAft>
            </a:pPr>
            <a:r>
              <a:rPr sz="1060" b="0" i="0">
                <a:solidFill>
                  <a:srgbClr val="0C1408"/>
                </a:solidFill>
                <a:latin typeface="Arial"/>
              </a:rPr>
              <a:t>Source: Legal Position, section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CONTENTS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is in this deck</a:t>
            </a:r>
          </a:p>
        </p:txBody>
      </p:sp>
      <p:pic>
        <p:nvPicPr>
          <p:cNvPr id="5" name="Picture 4"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6" name="Connector 5"/>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8" name="TextBox 7"/>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a:t>
            </a:r>
          </a:p>
        </p:txBody>
      </p:sp>
      <p:sp>
        <p:nvSpPr>
          <p:cNvPr id="9" name="TextBox 8"/>
          <p:cNvSpPr txBox="1"/>
          <p:nvPr/>
        </p:nvSpPr>
        <p:spPr>
          <a:xfrm>
            <a:off x="566928" y="1371600"/>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01</a:t>
            </a:r>
          </a:p>
        </p:txBody>
      </p:sp>
      <p:sp>
        <p:nvSpPr>
          <p:cNvPr id="10" name="TextBox 9"/>
          <p:cNvSpPr txBox="1"/>
          <p:nvPr/>
        </p:nvSpPr>
        <p:spPr>
          <a:xfrm>
            <a:off x="1481328" y="1389888"/>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instrument and the market</a:t>
            </a:r>
          </a:p>
        </p:txBody>
      </p:sp>
      <p:sp>
        <p:nvSpPr>
          <p:cNvPr id="11" name="TextBox 10"/>
          <p:cNvSpPr txBox="1"/>
          <p:nvPr/>
        </p:nvSpPr>
        <p:spPr>
          <a:xfrm>
            <a:off x="5413248" y="1444752"/>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What a committee is, where its risk sits, and who uses one</a:t>
            </a:r>
          </a:p>
        </p:txBody>
      </p:sp>
      <p:cxnSp>
        <p:nvCxnSpPr>
          <p:cNvPr id="12" name="Connector 11"/>
          <p:cNvCxnSpPr/>
          <p:nvPr/>
        </p:nvCxnSpPr>
        <p:spPr>
          <a:xfrm>
            <a:off x="566928" y="1975104"/>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 y="2048256"/>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02</a:t>
            </a:r>
          </a:p>
        </p:txBody>
      </p:sp>
      <p:sp>
        <p:nvSpPr>
          <p:cNvPr id="14" name="TextBox 13"/>
          <p:cNvSpPr txBox="1"/>
          <p:nvPr/>
        </p:nvSpPr>
        <p:spPr>
          <a:xfrm>
            <a:off x="1481328" y="2066544"/>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legal position</a:t>
            </a:r>
          </a:p>
        </p:txBody>
      </p:sp>
      <p:sp>
        <p:nvSpPr>
          <p:cNvPr id="15" name="TextBox 14"/>
          <p:cNvSpPr txBox="1"/>
          <p:nvPr/>
        </p:nvSpPr>
        <p:spPr>
          <a:xfrm>
            <a:off x="5413248" y="2121408"/>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Where the money goes, the licences that do not attach, and whose duty each duty is</a:t>
            </a:r>
          </a:p>
        </p:txBody>
      </p:sp>
      <p:cxnSp>
        <p:nvCxnSpPr>
          <p:cNvPr id="16" name="Connector 15"/>
          <p:cNvCxnSpPr/>
          <p:nvPr/>
        </p:nvCxnSpPr>
        <p:spPr>
          <a:xfrm>
            <a:off x="566928" y="2651760"/>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66928" y="2724912"/>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03</a:t>
            </a:r>
          </a:p>
        </p:txBody>
      </p:sp>
      <p:sp>
        <p:nvSpPr>
          <p:cNvPr id="18" name="TextBox 17"/>
          <p:cNvSpPr txBox="1"/>
          <p:nvPr/>
        </p:nvSpPr>
        <p:spPr>
          <a:xfrm>
            <a:off x="1481328" y="2743200"/>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economics</a:t>
            </a:r>
          </a:p>
        </p:txBody>
      </p:sp>
      <p:sp>
        <p:nvSpPr>
          <p:cNvPr id="19" name="TextBox 18"/>
          <p:cNvSpPr txBox="1"/>
          <p:nvPr/>
        </p:nvSpPr>
        <p:spPr>
          <a:xfrm>
            <a:off x="5413248" y="2798064"/>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The fee, seven committee types, the payment partner charge and the launch timeline</a:t>
            </a:r>
          </a:p>
        </p:txBody>
      </p:sp>
      <p:cxnSp>
        <p:nvCxnSpPr>
          <p:cNvPr id="20" name="Connector 19"/>
          <p:cNvCxnSpPr/>
          <p:nvPr/>
        </p:nvCxnSpPr>
        <p:spPr>
          <a:xfrm>
            <a:off x="566928" y="3328416"/>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3401568"/>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04</a:t>
            </a:r>
          </a:p>
        </p:txBody>
      </p:sp>
      <p:sp>
        <p:nvSpPr>
          <p:cNvPr id="22" name="TextBox 21"/>
          <p:cNvSpPr txBox="1"/>
          <p:nvPr/>
        </p:nvSpPr>
        <p:spPr>
          <a:xfrm>
            <a:off x="1481328" y="3419856"/>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Hyper</a:t>
            </a:r>
          </a:p>
        </p:txBody>
      </p:sp>
      <p:sp>
        <p:nvSpPr>
          <p:cNvPr id="23" name="TextBox 22"/>
          <p:cNvSpPr txBox="1"/>
          <p:nvPr/>
        </p:nvSpPr>
        <p:spPr>
          <a:xfrm>
            <a:off x="5413248" y="3474720"/>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The daily product in two configurations, with its arithmetic</a:t>
            </a:r>
          </a:p>
        </p:txBody>
      </p:sp>
      <p:cxnSp>
        <p:nvCxnSpPr>
          <p:cNvPr id="24" name="Connector 23"/>
          <p:cNvCxnSpPr/>
          <p:nvPr/>
        </p:nvCxnSpPr>
        <p:spPr>
          <a:xfrm>
            <a:off x="566928" y="4005072"/>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4078224"/>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05</a:t>
            </a:r>
          </a:p>
        </p:txBody>
      </p:sp>
      <p:sp>
        <p:nvSpPr>
          <p:cNvPr id="26" name="TextBox 25"/>
          <p:cNvSpPr txBox="1"/>
          <p:nvPr/>
        </p:nvSpPr>
        <p:spPr>
          <a:xfrm>
            <a:off x="1481328" y="4096512"/>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product</a:t>
            </a:r>
          </a:p>
        </p:txBody>
      </p:sp>
      <p:sp>
        <p:nvSpPr>
          <p:cNvPr id="27" name="TextBox 26"/>
          <p:cNvSpPr txBox="1"/>
          <p:nvPr/>
        </p:nvSpPr>
        <p:spPr>
          <a:xfrm>
            <a:off x="5413248" y="4151376"/>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Signup to completion, entry checks, standing, default prevention, the bureau and later stages</a:t>
            </a:r>
          </a:p>
        </p:txBody>
      </p:sp>
      <p:cxnSp>
        <p:nvCxnSpPr>
          <p:cNvPr id="28" name="Connector 27"/>
          <p:cNvCxnSpPr/>
          <p:nvPr/>
        </p:nvCxnSpPr>
        <p:spPr>
          <a:xfrm>
            <a:off x="566928" y="4681728"/>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4754880"/>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06</a:t>
            </a:r>
          </a:p>
        </p:txBody>
      </p:sp>
      <p:sp>
        <p:nvSpPr>
          <p:cNvPr id="30" name="TextBox 29"/>
          <p:cNvSpPr txBox="1"/>
          <p:nvPr/>
        </p:nvSpPr>
        <p:spPr>
          <a:xfrm>
            <a:off x="1481328" y="4773168"/>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evidence</a:t>
            </a:r>
          </a:p>
        </p:txBody>
      </p:sp>
      <p:sp>
        <p:nvSpPr>
          <p:cNvPr id="31" name="TextBox 30"/>
          <p:cNvSpPr txBox="1"/>
          <p:nvPr/>
        </p:nvSpPr>
        <p:spPr>
          <a:xfrm>
            <a:off x="5413248" y="4828032"/>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25 attempts in nine markets, and the competitive position</a:t>
            </a:r>
          </a:p>
        </p:txBody>
      </p:sp>
      <p:cxnSp>
        <p:nvCxnSpPr>
          <p:cNvPr id="32" name="Connector 31"/>
          <p:cNvCxnSpPr/>
          <p:nvPr/>
        </p:nvCxnSpPr>
        <p:spPr>
          <a:xfrm>
            <a:off x="566928" y="5358384"/>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5431536"/>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07</a:t>
            </a:r>
          </a:p>
        </p:txBody>
      </p:sp>
      <p:sp>
        <p:nvSpPr>
          <p:cNvPr id="34" name="TextBox 33"/>
          <p:cNvSpPr txBox="1"/>
          <p:nvPr/>
        </p:nvSpPr>
        <p:spPr>
          <a:xfrm>
            <a:off x="1481328" y="5449824"/>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State and plan</a:t>
            </a:r>
          </a:p>
        </p:txBody>
      </p:sp>
      <p:sp>
        <p:nvSpPr>
          <p:cNvPr id="35" name="TextBox 34"/>
          <p:cNvSpPr txBox="1"/>
          <p:nvPr/>
        </p:nvSpPr>
        <p:spPr>
          <a:xfrm>
            <a:off x="5413248" y="5504688"/>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Where the company stands on 25 September 2026, the order of what follows, and what is open</a:t>
            </a:r>
          </a:p>
        </p:txBody>
      </p:sp>
      <p:cxnSp>
        <p:nvCxnSpPr>
          <p:cNvPr id="36" name="Connector 35"/>
          <p:cNvCxnSpPr/>
          <p:nvPr/>
        </p:nvCxnSpPr>
        <p:spPr>
          <a:xfrm>
            <a:off x="566928" y="6035040"/>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01</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instrument and the market</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A committee combines an advance and a savings plan in one schedule.</a:t>
            </a:r>
          </a:p>
          <a:p>
            <a:pPr algn="l">
              <a:lnSpc>
                <a:spcPct val="110000"/>
              </a:lnSpc>
              <a:spcAft>
                <a:spcPts val="700"/>
              </a:spcAft>
            </a:pPr>
            <a:r>
              <a:rPr sz="1220" b="0" i="0">
                <a:solidFill>
                  <a:srgbClr val="D2E2C6"/>
                </a:solidFill>
                <a:latin typeface="Arial"/>
              </a:rPr>
              <a:t>Its risk sits in the early seats, not across the roster.</a:t>
            </a:r>
          </a:p>
          <a:p>
            <a:pPr algn="l">
              <a:lnSpc>
                <a:spcPct val="110000"/>
              </a:lnSpc>
              <a:spcAft>
                <a:spcPts val="700"/>
              </a:spcAft>
            </a:pPr>
            <a:r>
              <a:rPr sz="1220" b="0" i="0">
                <a:solidFill>
                  <a:srgbClr val="D2E2C6"/>
                </a:solidFill>
                <a:latin typeface="Arial"/>
              </a:rPr>
              <a:t>About Rs 4 trillion rotates through committees in Pakistan every year.</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INSTRUMENT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 committee is two financial products in one schedule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member pays the same contribution every period, and each period one member collects the whole pot. At the end every member has paid in exactly what that member collected.</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5</a:t>
            </a:r>
          </a:p>
        </p:txBody>
      </p:sp>
      <p:sp>
        <p:nvSpPr>
          <p:cNvPr id="10" name="TextBox 9"/>
          <p:cNvSpPr txBox="1"/>
          <p:nvPr/>
        </p:nvSpPr>
        <p:spPr>
          <a:xfrm>
            <a:off x="566928" y="1572768"/>
            <a:ext cx="658368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   Three rounds of a twelve member circle. The lime cell collects.</a:t>
            </a:r>
          </a:p>
        </p:txBody>
      </p:sp>
      <p:sp>
        <p:nvSpPr>
          <p:cNvPr id="11" name="TextBox 10"/>
          <p:cNvSpPr txBox="1"/>
          <p:nvPr/>
        </p:nvSpPr>
        <p:spPr>
          <a:xfrm>
            <a:off x="566928" y="1920240"/>
            <a:ext cx="777240" cy="329184"/>
          </a:xfrm>
          <a:prstGeom prst="rect">
            <a:avLst/>
          </a:prstGeom>
          <a:noFill/>
        </p:spPr>
        <p:txBody>
          <a:bodyPr wrap="square" lIns="0" rIns="0" tIns="0" bIns="0" anchor="t">
            <a:spAutoFit/>
          </a:bodyPr>
          <a:lstStyle/>
          <a:p>
            <a:pPr algn="l">
              <a:lnSpc>
                <a:spcPct val="100000"/>
              </a:lnSpc>
              <a:spcAft>
                <a:spcPts val="400"/>
              </a:spcAft>
            </a:pPr>
            <a:r>
              <a:rPr sz="940" b="1" i="0">
                <a:solidFill>
                  <a:srgbClr val="22450C"/>
                </a:solidFill>
                <a:latin typeface="Arial"/>
              </a:rPr>
              <a:t>Round 1</a:t>
            </a:r>
          </a:p>
        </p:txBody>
      </p:sp>
      <p:sp>
        <p:nvSpPr>
          <p:cNvPr id="12" name="Rectangle 11"/>
          <p:cNvSpPr/>
          <p:nvPr/>
        </p:nvSpPr>
        <p:spPr>
          <a:xfrm>
            <a:off x="1389888" y="1847088"/>
            <a:ext cx="429768" cy="3291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9888"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0C1408"/>
                </a:solidFill>
                <a:latin typeface="Arial"/>
              </a:rPr>
              <a:t>collects</a:t>
            </a:r>
          </a:p>
        </p:txBody>
      </p:sp>
      <p:sp>
        <p:nvSpPr>
          <p:cNvPr id="14" name="Rectangle 13"/>
          <p:cNvSpPr/>
          <p:nvPr/>
        </p:nvSpPr>
        <p:spPr>
          <a:xfrm>
            <a:off x="1865376"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65376"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16" name="Rectangle 15"/>
          <p:cNvSpPr/>
          <p:nvPr/>
        </p:nvSpPr>
        <p:spPr>
          <a:xfrm>
            <a:off x="2340864"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40864"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18" name="Rectangle 17"/>
          <p:cNvSpPr/>
          <p:nvPr/>
        </p:nvSpPr>
        <p:spPr>
          <a:xfrm>
            <a:off x="2816352"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16352"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0" name="Rectangle 19"/>
          <p:cNvSpPr/>
          <p:nvPr/>
        </p:nvSpPr>
        <p:spPr>
          <a:xfrm>
            <a:off x="3291840"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2" name="Rectangle 21"/>
          <p:cNvSpPr/>
          <p:nvPr/>
        </p:nvSpPr>
        <p:spPr>
          <a:xfrm>
            <a:off x="3767328"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67328"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4" name="Rectangle 23"/>
          <p:cNvSpPr/>
          <p:nvPr/>
        </p:nvSpPr>
        <p:spPr>
          <a:xfrm>
            <a:off x="4242816"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42816"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6" name="Rectangle 25"/>
          <p:cNvSpPr/>
          <p:nvPr/>
        </p:nvSpPr>
        <p:spPr>
          <a:xfrm>
            <a:off x="4718304"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18304"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8" name="Rectangle 27"/>
          <p:cNvSpPr/>
          <p:nvPr/>
        </p:nvSpPr>
        <p:spPr>
          <a:xfrm>
            <a:off x="5193792"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93792"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0" name="Rectangle 29"/>
          <p:cNvSpPr/>
          <p:nvPr/>
        </p:nvSpPr>
        <p:spPr>
          <a:xfrm>
            <a:off x="5669280"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0"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2" name="Rectangle 31"/>
          <p:cNvSpPr/>
          <p:nvPr/>
        </p:nvSpPr>
        <p:spPr>
          <a:xfrm>
            <a:off x="6144768"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44768"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4" name="Rectangle 33"/>
          <p:cNvSpPr/>
          <p:nvPr/>
        </p:nvSpPr>
        <p:spPr>
          <a:xfrm>
            <a:off x="6620256"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0256"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6" name="TextBox 35"/>
          <p:cNvSpPr txBox="1"/>
          <p:nvPr/>
        </p:nvSpPr>
        <p:spPr>
          <a:xfrm>
            <a:off x="566928" y="2322576"/>
            <a:ext cx="777240" cy="329184"/>
          </a:xfrm>
          <a:prstGeom prst="rect">
            <a:avLst/>
          </a:prstGeom>
          <a:noFill/>
        </p:spPr>
        <p:txBody>
          <a:bodyPr wrap="square" lIns="0" rIns="0" tIns="0" bIns="0" anchor="t">
            <a:spAutoFit/>
          </a:bodyPr>
          <a:lstStyle/>
          <a:p>
            <a:pPr algn="l">
              <a:lnSpc>
                <a:spcPct val="100000"/>
              </a:lnSpc>
              <a:spcAft>
                <a:spcPts val="400"/>
              </a:spcAft>
            </a:pPr>
            <a:r>
              <a:rPr sz="940" b="1" i="0">
                <a:solidFill>
                  <a:srgbClr val="22450C"/>
                </a:solidFill>
                <a:latin typeface="Arial"/>
              </a:rPr>
              <a:t>Round 2</a:t>
            </a:r>
          </a:p>
        </p:txBody>
      </p:sp>
      <p:sp>
        <p:nvSpPr>
          <p:cNvPr id="37" name="Rectangle 36"/>
          <p:cNvSpPr/>
          <p:nvPr/>
        </p:nvSpPr>
        <p:spPr>
          <a:xfrm>
            <a:off x="1389888"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89888"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9" name="Rectangle 38"/>
          <p:cNvSpPr/>
          <p:nvPr/>
        </p:nvSpPr>
        <p:spPr>
          <a:xfrm>
            <a:off x="1865376" y="2249424"/>
            <a:ext cx="429768" cy="3291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865376"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0C1408"/>
                </a:solidFill>
                <a:latin typeface="Arial"/>
              </a:rPr>
              <a:t>collects</a:t>
            </a:r>
          </a:p>
        </p:txBody>
      </p:sp>
      <p:sp>
        <p:nvSpPr>
          <p:cNvPr id="41" name="Rectangle 40"/>
          <p:cNvSpPr/>
          <p:nvPr/>
        </p:nvSpPr>
        <p:spPr>
          <a:xfrm>
            <a:off x="2340864"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40864"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3" name="Rectangle 42"/>
          <p:cNvSpPr/>
          <p:nvPr/>
        </p:nvSpPr>
        <p:spPr>
          <a:xfrm>
            <a:off x="2816352"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16352"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5" name="Rectangle 44"/>
          <p:cNvSpPr/>
          <p:nvPr/>
        </p:nvSpPr>
        <p:spPr>
          <a:xfrm>
            <a:off x="3291840"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1840"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7" name="Rectangle 46"/>
          <p:cNvSpPr/>
          <p:nvPr/>
        </p:nvSpPr>
        <p:spPr>
          <a:xfrm>
            <a:off x="3767328"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67328"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9" name="Rectangle 48"/>
          <p:cNvSpPr/>
          <p:nvPr/>
        </p:nvSpPr>
        <p:spPr>
          <a:xfrm>
            <a:off x="4242816"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42816"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1" name="Rectangle 50"/>
          <p:cNvSpPr/>
          <p:nvPr/>
        </p:nvSpPr>
        <p:spPr>
          <a:xfrm>
            <a:off x="4718304"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18304"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3" name="Rectangle 52"/>
          <p:cNvSpPr/>
          <p:nvPr/>
        </p:nvSpPr>
        <p:spPr>
          <a:xfrm>
            <a:off x="5193792"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93792"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5" name="Rectangle 54"/>
          <p:cNvSpPr/>
          <p:nvPr/>
        </p:nvSpPr>
        <p:spPr>
          <a:xfrm>
            <a:off x="5669280"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0"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7" name="Rectangle 56"/>
          <p:cNvSpPr/>
          <p:nvPr/>
        </p:nvSpPr>
        <p:spPr>
          <a:xfrm>
            <a:off x="6144768"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4768"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9" name="Rectangle 58"/>
          <p:cNvSpPr/>
          <p:nvPr/>
        </p:nvSpPr>
        <p:spPr>
          <a:xfrm>
            <a:off x="6620256"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20256"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61" name="TextBox 60"/>
          <p:cNvSpPr txBox="1"/>
          <p:nvPr/>
        </p:nvSpPr>
        <p:spPr>
          <a:xfrm>
            <a:off x="566928" y="2724912"/>
            <a:ext cx="777240" cy="329184"/>
          </a:xfrm>
          <a:prstGeom prst="rect">
            <a:avLst/>
          </a:prstGeom>
          <a:noFill/>
        </p:spPr>
        <p:txBody>
          <a:bodyPr wrap="square" lIns="0" rIns="0" tIns="0" bIns="0" anchor="t">
            <a:spAutoFit/>
          </a:bodyPr>
          <a:lstStyle/>
          <a:p>
            <a:pPr algn="l">
              <a:lnSpc>
                <a:spcPct val="100000"/>
              </a:lnSpc>
              <a:spcAft>
                <a:spcPts val="400"/>
              </a:spcAft>
            </a:pPr>
            <a:r>
              <a:rPr sz="940" b="1" i="0">
                <a:solidFill>
                  <a:srgbClr val="22450C"/>
                </a:solidFill>
                <a:latin typeface="Arial"/>
              </a:rPr>
              <a:t>Round 3</a:t>
            </a:r>
          </a:p>
        </p:txBody>
      </p:sp>
      <p:sp>
        <p:nvSpPr>
          <p:cNvPr id="62" name="Rectangle 61"/>
          <p:cNvSpPr/>
          <p:nvPr/>
        </p:nvSpPr>
        <p:spPr>
          <a:xfrm>
            <a:off x="1389888"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389888"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64" name="Rectangle 63"/>
          <p:cNvSpPr/>
          <p:nvPr/>
        </p:nvSpPr>
        <p:spPr>
          <a:xfrm>
            <a:off x="1865376"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865376"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66" name="Rectangle 65"/>
          <p:cNvSpPr/>
          <p:nvPr/>
        </p:nvSpPr>
        <p:spPr>
          <a:xfrm>
            <a:off x="2340864" y="2651760"/>
            <a:ext cx="429768" cy="3291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340864"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0C1408"/>
                </a:solidFill>
                <a:latin typeface="Arial"/>
              </a:rPr>
              <a:t>collects</a:t>
            </a:r>
          </a:p>
        </p:txBody>
      </p:sp>
      <p:sp>
        <p:nvSpPr>
          <p:cNvPr id="68" name="Rectangle 67"/>
          <p:cNvSpPr/>
          <p:nvPr/>
        </p:nvSpPr>
        <p:spPr>
          <a:xfrm>
            <a:off x="2816352"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16352"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0" name="Rectangle 69"/>
          <p:cNvSpPr/>
          <p:nvPr/>
        </p:nvSpPr>
        <p:spPr>
          <a:xfrm>
            <a:off x="3291840"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91840"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2" name="Rectangle 71"/>
          <p:cNvSpPr/>
          <p:nvPr/>
        </p:nvSpPr>
        <p:spPr>
          <a:xfrm>
            <a:off x="3767328"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67328"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4" name="Rectangle 73"/>
          <p:cNvSpPr/>
          <p:nvPr/>
        </p:nvSpPr>
        <p:spPr>
          <a:xfrm>
            <a:off x="4242816"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242816"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6" name="Rectangle 75"/>
          <p:cNvSpPr/>
          <p:nvPr/>
        </p:nvSpPr>
        <p:spPr>
          <a:xfrm>
            <a:off x="4718304"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718304"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8" name="Rectangle 77"/>
          <p:cNvSpPr/>
          <p:nvPr/>
        </p:nvSpPr>
        <p:spPr>
          <a:xfrm>
            <a:off x="5193792"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93792"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0" name="Rectangle 79"/>
          <p:cNvSpPr/>
          <p:nvPr/>
        </p:nvSpPr>
        <p:spPr>
          <a:xfrm>
            <a:off x="5669280"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69280"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2" name="Rectangle 81"/>
          <p:cNvSpPr/>
          <p:nvPr/>
        </p:nvSpPr>
        <p:spPr>
          <a:xfrm>
            <a:off x="6144768"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144768"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4" name="Rectangle 83"/>
          <p:cNvSpPr/>
          <p:nvPr/>
        </p:nvSpPr>
        <p:spPr>
          <a:xfrm>
            <a:off x="6620256"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20256"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6" name="TextBox 85"/>
          <p:cNvSpPr txBox="1"/>
          <p:nvPr/>
        </p:nvSpPr>
        <p:spPr>
          <a:xfrm>
            <a:off x="1389888"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a:t>
            </a:r>
          </a:p>
        </p:txBody>
      </p:sp>
      <p:sp>
        <p:nvSpPr>
          <p:cNvPr id="87" name="TextBox 86"/>
          <p:cNvSpPr txBox="1"/>
          <p:nvPr/>
        </p:nvSpPr>
        <p:spPr>
          <a:xfrm>
            <a:off x="1865376"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2</a:t>
            </a:r>
          </a:p>
        </p:txBody>
      </p:sp>
      <p:sp>
        <p:nvSpPr>
          <p:cNvPr id="88" name="TextBox 87"/>
          <p:cNvSpPr txBox="1"/>
          <p:nvPr/>
        </p:nvSpPr>
        <p:spPr>
          <a:xfrm>
            <a:off x="2340864"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3</a:t>
            </a:r>
          </a:p>
        </p:txBody>
      </p:sp>
      <p:sp>
        <p:nvSpPr>
          <p:cNvPr id="89" name="TextBox 88"/>
          <p:cNvSpPr txBox="1"/>
          <p:nvPr/>
        </p:nvSpPr>
        <p:spPr>
          <a:xfrm>
            <a:off x="2816352"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4</a:t>
            </a:r>
          </a:p>
        </p:txBody>
      </p:sp>
      <p:sp>
        <p:nvSpPr>
          <p:cNvPr id="90" name="TextBox 89"/>
          <p:cNvSpPr txBox="1"/>
          <p:nvPr/>
        </p:nvSpPr>
        <p:spPr>
          <a:xfrm>
            <a:off x="3291840"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5</a:t>
            </a:r>
          </a:p>
        </p:txBody>
      </p:sp>
      <p:sp>
        <p:nvSpPr>
          <p:cNvPr id="91" name="TextBox 90"/>
          <p:cNvSpPr txBox="1"/>
          <p:nvPr/>
        </p:nvSpPr>
        <p:spPr>
          <a:xfrm>
            <a:off x="3767328"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6</a:t>
            </a:r>
          </a:p>
        </p:txBody>
      </p:sp>
      <p:sp>
        <p:nvSpPr>
          <p:cNvPr id="92" name="TextBox 91"/>
          <p:cNvSpPr txBox="1"/>
          <p:nvPr/>
        </p:nvSpPr>
        <p:spPr>
          <a:xfrm>
            <a:off x="4242816"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7</a:t>
            </a:r>
          </a:p>
        </p:txBody>
      </p:sp>
      <p:sp>
        <p:nvSpPr>
          <p:cNvPr id="93" name="TextBox 92"/>
          <p:cNvSpPr txBox="1"/>
          <p:nvPr/>
        </p:nvSpPr>
        <p:spPr>
          <a:xfrm>
            <a:off x="4718304"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8</a:t>
            </a:r>
          </a:p>
        </p:txBody>
      </p:sp>
      <p:sp>
        <p:nvSpPr>
          <p:cNvPr id="94" name="TextBox 93"/>
          <p:cNvSpPr txBox="1"/>
          <p:nvPr/>
        </p:nvSpPr>
        <p:spPr>
          <a:xfrm>
            <a:off x="5193792"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9</a:t>
            </a:r>
          </a:p>
        </p:txBody>
      </p:sp>
      <p:sp>
        <p:nvSpPr>
          <p:cNvPr id="95" name="TextBox 94"/>
          <p:cNvSpPr txBox="1"/>
          <p:nvPr/>
        </p:nvSpPr>
        <p:spPr>
          <a:xfrm>
            <a:off x="5669280"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10</a:t>
            </a:r>
          </a:p>
        </p:txBody>
      </p:sp>
      <p:sp>
        <p:nvSpPr>
          <p:cNvPr id="96" name="TextBox 95"/>
          <p:cNvSpPr txBox="1"/>
          <p:nvPr/>
        </p:nvSpPr>
        <p:spPr>
          <a:xfrm>
            <a:off x="6144768"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11</a:t>
            </a:r>
          </a:p>
        </p:txBody>
      </p:sp>
      <p:sp>
        <p:nvSpPr>
          <p:cNvPr id="97" name="TextBox 96"/>
          <p:cNvSpPr txBox="1"/>
          <p:nvPr/>
        </p:nvSpPr>
        <p:spPr>
          <a:xfrm>
            <a:off x="6620256"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12</a:t>
            </a:r>
          </a:p>
        </p:txBody>
      </p:sp>
      <p:graphicFrame>
        <p:nvGraphicFramePr>
          <p:cNvPr id="98" name="Table 97"/>
          <p:cNvGraphicFramePr>
            <a:graphicFrameLocks noGrp="1"/>
          </p:cNvGraphicFramePr>
          <p:nvPr/>
        </p:nvGraphicFramePr>
        <p:xfrm>
          <a:off x="566928" y="3675887"/>
          <a:ext cx="6583680" cy="1463040"/>
        </p:xfrm>
        <a:graphic>
          <a:graphicData uri="http://schemas.openxmlformats.org/drawingml/2006/table">
            <a:tbl>
              <a:tblPr>
                <a:tableStyleId>{5C22544A-7EE6-4342-B048-85BDC9FD1C3A}</a:tableStyleId>
              </a:tblPr>
              <a:tblGrid>
                <a:gridCol w="3621024"/>
                <a:gridCol w="2962656"/>
              </a:tblGrid>
              <a:tr h="292608">
                <a:tc>
                  <a:txBody>
                    <a:bodyPr wrap="square"/>
                    <a:lstStyle/>
                    <a:p>
                      <a:pPr algn="l"/>
                      <a:r>
                        <a:rPr sz="900" b="1">
                          <a:solidFill>
                            <a:srgbClr val="F3FCE7"/>
                          </a:solidFill>
                          <a:latin typeface="Arial"/>
                        </a:rPr>
                        <a:t>Worked in rupees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Amount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Twelve members, Rs 10,000 each a month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Pot of Rs 120,000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Seat 1 collects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120,000, having paid Rs 10,000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Seat 12 collects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120,000, having paid Rs 120,000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Every member, at the end of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Paid Rs 120,000 and received Rs 120,000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99" name="TextBox 98"/>
          <p:cNvSpPr txBox="1"/>
          <p:nvPr/>
        </p:nvSpPr>
        <p:spPr>
          <a:xfrm>
            <a:off x="7607808" y="1572768"/>
            <a:ext cx="40233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two halves</a:t>
            </a:r>
          </a:p>
        </p:txBody>
      </p:sp>
      <p:sp>
        <p:nvSpPr>
          <p:cNvPr id="100" name="TextBox 99"/>
          <p:cNvSpPr txBox="1"/>
          <p:nvPr/>
        </p:nvSpPr>
        <p:spPr>
          <a:xfrm>
            <a:off x="7607808" y="1920240"/>
            <a:ext cx="4023360" cy="365760"/>
          </a:xfrm>
          <a:prstGeom prst="rect">
            <a:avLst/>
          </a:prstGeom>
          <a:noFill/>
        </p:spPr>
        <p:txBody>
          <a:bodyPr wrap="square" lIns="0" rIns="0" tIns="0" bIns="0">
            <a:spAutoFit/>
          </a:bodyPr>
          <a:lstStyle/>
          <a:p>
            <a:pPr>
              <a:lnSpc>
                <a:spcPct val="105000"/>
              </a:lnSpc>
              <a:spcAft>
                <a:spcPts val="900"/>
              </a:spcAft>
            </a:pPr>
            <a:r>
              <a:rPr sz="1040" b="1">
                <a:solidFill>
                  <a:srgbClr val="6DC72A"/>
                </a:solidFill>
                <a:latin typeface="Georgia"/>
              </a:rPr>
              <a:t>|  </a:t>
            </a:r>
            <a:r>
              <a:rPr sz="1040" b="1">
                <a:solidFill>
                  <a:srgbClr val="22450C"/>
                </a:solidFill>
                <a:latin typeface="Arial"/>
              </a:rPr>
              <a:t>Collecting early.  </a:t>
            </a:r>
            <a:r>
              <a:rPr sz="1040">
                <a:solidFill>
                  <a:srgbClr val="0C1408"/>
                </a:solidFill>
                <a:latin typeface="Arial"/>
              </a:rPr>
              <a:t>A member receives a lump sum before paying for it: an advance without interest, repaid in instalments.</a:t>
            </a:r>
          </a:p>
          <a:p>
            <a:pPr>
              <a:lnSpc>
                <a:spcPct val="105000"/>
              </a:lnSpc>
              <a:spcAft>
                <a:spcPts val="900"/>
              </a:spcAft>
            </a:pPr>
            <a:r>
              <a:rPr sz="1040" b="1">
                <a:solidFill>
                  <a:srgbClr val="6DC72A"/>
                </a:solidFill>
                <a:latin typeface="Georgia"/>
              </a:rPr>
              <a:t>|  </a:t>
            </a:r>
            <a:r>
              <a:rPr sz="1040" b="1">
                <a:solidFill>
                  <a:srgbClr val="22450C"/>
                </a:solidFill>
                <a:latin typeface="Arial"/>
              </a:rPr>
              <a:t>Collecting late.  </a:t>
            </a:r>
            <a:r>
              <a:rPr sz="1040">
                <a:solidFill>
                  <a:srgbClr val="0C1408"/>
                </a:solidFill>
                <a:latin typeface="Arial"/>
              </a:rPr>
              <a:t>A member pays before receiving: saving under a commitment the group enforces.</a:t>
            </a:r>
          </a:p>
          <a:p>
            <a:pPr>
              <a:lnSpc>
                <a:spcPct val="105000"/>
              </a:lnSpc>
              <a:spcAft>
                <a:spcPts val="900"/>
              </a:spcAft>
            </a:pPr>
            <a:r>
              <a:rPr sz="1040" b="1">
                <a:solidFill>
                  <a:srgbClr val="6DC72A"/>
                </a:solidFill>
                <a:latin typeface="Georgia"/>
              </a:rPr>
              <a:t>|  </a:t>
            </a:r>
            <a:r>
              <a:rPr sz="1040" b="1">
                <a:solidFill>
                  <a:srgbClr val="22450C"/>
                </a:solidFill>
                <a:latin typeface="Arial"/>
              </a:rPr>
              <a:t>Paid in equals paid out.  </a:t>
            </a:r>
            <a:r>
              <a:rPr sz="1040">
                <a:solidFill>
                  <a:srgbClr val="0C1408"/>
                </a:solidFill>
                <a:latin typeface="Arial"/>
              </a:rPr>
              <a:t>The committee holds nothing at rest and earns nothing for itself.</a:t>
            </a:r>
          </a:p>
          <a:p>
            <a:pPr>
              <a:lnSpc>
                <a:spcPct val="105000"/>
              </a:lnSpc>
              <a:spcAft>
                <a:spcPts val="900"/>
              </a:spcAft>
            </a:pPr>
            <a:r>
              <a:rPr sz="1040" b="1">
                <a:solidFill>
                  <a:srgbClr val="6DC72A"/>
                </a:solidFill>
                <a:latin typeface="Georgia"/>
              </a:rPr>
              <a:t>|  </a:t>
            </a:r>
            <a:r>
              <a:rPr sz="1040" b="1">
                <a:solidFill>
                  <a:srgbClr val="22450C"/>
                </a:solidFill>
                <a:latin typeface="Arial"/>
              </a:rPr>
              <a:t>The organiser.  </a:t>
            </a:r>
            <a:r>
              <a:rPr sz="1040">
                <a:solidFill>
                  <a:srgbClr val="0C1408"/>
                </a:solidFill>
                <a:latin typeface="Arial"/>
              </a:rPr>
              <a:t>In the offline committee the organiser holds the pot. Halqa removes that custody, which is the precondition of every large committee fraud on record.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INSTRUMENT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risk sits in the early seats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When a member collects, the contributions still owed to the group are that member’s forward liability. It is largest at the first seat and nil at the last.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6</a:t>
            </a:r>
          </a:p>
        </p:txBody>
      </p:sp>
      <p:sp>
        <p:nvSpPr>
          <p:cNvPr id="10" name="TextBox 9"/>
          <p:cNvSpPr txBox="1"/>
          <p:nvPr/>
        </p:nvSpPr>
        <p:spPr>
          <a:xfrm>
            <a:off x="566928" y="1572768"/>
            <a:ext cx="60350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3   Forward liability by seat, twelve members at Rs 10,000</a:t>
            </a:r>
          </a:p>
        </p:txBody>
      </p:sp>
      <p:sp>
        <p:nvSpPr>
          <p:cNvPr id="11" name="TextBox 10"/>
          <p:cNvSpPr txBox="1"/>
          <p:nvPr/>
        </p:nvSpPr>
        <p:spPr>
          <a:xfrm>
            <a:off x="566928" y="1883663"/>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a:t>
            </a:r>
          </a:p>
        </p:txBody>
      </p:sp>
      <p:sp>
        <p:nvSpPr>
          <p:cNvPr id="12" name="Rectangle 11"/>
          <p:cNvSpPr/>
          <p:nvPr/>
        </p:nvSpPr>
        <p:spPr>
          <a:xfrm>
            <a:off x="1389888" y="1874519"/>
            <a:ext cx="4206240"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0" y="1883663"/>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110,000</a:t>
            </a:r>
          </a:p>
        </p:txBody>
      </p:sp>
      <p:sp>
        <p:nvSpPr>
          <p:cNvPr id="14" name="TextBox 13"/>
          <p:cNvSpPr txBox="1"/>
          <p:nvPr/>
        </p:nvSpPr>
        <p:spPr>
          <a:xfrm>
            <a:off x="566928" y="2199131"/>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2</a:t>
            </a:r>
          </a:p>
        </p:txBody>
      </p:sp>
      <p:sp>
        <p:nvSpPr>
          <p:cNvPr id="15" name="Rectangle 14"/>
          <p:cNvSpPr/>
          <p:nvPr/>
        </p:nvSpPr>
        <p:spPr>
          <a:xfrm>
            <a:off x="1389888" y="2189987"/>
            <a:ext cx="3823854"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6894" y="2199131"/>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100,000</a:t>
            </a:r>
          </a:p>
        </p:txBody>
      </p:sp>
      <p:sp>
        <p:nvSpPr>
          <p:cNvPr id="17" name="TextBox 16"/>
          <p:cNvSpPr txBox="1"/>
          <p:nvPr/>
        </p:nvSpPr>
        <p:spPr>
          <a:xfrm>
            <a:off x="566928" y="2514599"/>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3</a:t>
            </a:r>
          </a:p>
        </p:txBody>
      </p:sp>
      <p:sp>
        <p:nvSpPr>
          <p:cNvPr id="18" name="Rectangle 17"/>
          <p:cNvSpPr/>
          <p:nvPr/>
        </p:nvSpPr>
        <p:spPr>
          <a:xfrm>
            <a:off x="1389888" y="2505455"/>
            <a:ext cx="3441469"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04509" y="2514599"/>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90,000</a:t>
            </a:r>
          </a:p>
        </p:txBody>
      </p:sp>
      <p:sp>
        <p:nvSpPr>
          <p:cNvPr id="20" name="TextBox 19"/>
          <p:cNvSpPr txBox="1"/>
          <p:nvPr/>
        </p:nvSpPr>
        <p:spPr>
          <a:xfrm>
            <a:off x="566928" y="2830067"/>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4</a:t>
            </a:r>
          </a:p>
        </p:txBody>
      </p:sp>
      <p:sp>
        <p:nvSpPr>
          <p:cNvPr id="21" name="Rectangle 20"/>
          <p:cNvSpPr/>
          <p:nvPr/>
        </p:nvSpPr>
        <p:spPr>
          <a:xfrm>
            <a:off x="1389888" y="2820923"/>
            <a:ext cx="3059083"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2123" y="2830067"/>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80,000</a:t>
            </a:r>
          </a:p>
        </p:txBody>
      </p:sp>
      <p:sp>
        <p:nvSpPr>
          <p:cNvPr id="23" name="TextBox 22"/>
          <p:cNvSpPr txBox="1"/>
          <p:nvPr/>
        </p:nvSpPr>
        <p:spPr>
          <a:xfrm>
            <a:off x="566928" y="3145535"/>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5</a:t>
            </a:r>
          </a:p>
        </p:txBody>
      </p:sp>
      <p:sp>
        <p:nvSpPr>
          <p:cNvPr id="24" name="Rectangle 23"/>
          <p:cNvSpPr/>
          <p:nvPr/>
        </p:nvSpPr>
        <p:spPr>
          <a:xfrm>
            <a:off x="1389888" y="3136391"/>
            <a:ext cx="2676698"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39738" y="3145535"/>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70,000</a:t>
            </a:r>
          </a:p>
        </p:txBody>
      </p:sp>
      <p:sp>
        <p:nvSpPr>
          <p:cNvPr id="26" name="TextBox 25"/>
          <p:cNvSpPr txBox="1"/>
          <p:nvPr/>
        </p:nvSpPr>
        <p:spPr>
          <a:xfrm>
            <a:off x="566928" y="3461003"/>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6</a:t>
            </a:r>
          </a:p>
        </p:txBody>
      </p:sp>
      <p:sp>
        <p:nvSpPr>
          <p:cNvPr id="27" name="Rectangle 26"/>
          <p:cNvSpPr/>
          <p:nvPr/>
        </p:nvSpPr>
        <p:spPr>
          <a:xfrm>
            <a:off x="1389888" y="3451859"/>
            <a:ext cx="2294312"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57352" y="3461003"/>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60,000</a:t>
            </a:r>
          </a:p>
        </p:txBody>
      </p:sp>
      <p:sp>
        <p:nvSpPr>
          <p:cNvPr id="29" name="TextBox 28"/>
          <p:cNvSpPr txBox="1"/>
          <p:nvPr/>
        </p:nvSpPr>
        <p:spPr>
          <a:xfrm>
            <a:off x="566928" y="3776471"/>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7</a:t>
            </a:r>
          </a:p>
        </p:txBody>
      </p:sp>
      <p:sp>
        <p:nvSpPr>
          <p:cNvPr id="30" name="Rectangle 29"/>
          <p:cNvSpPr/>
          <p:nvPr/>
        </p:nvSpPr>
        <p:spPr>
          <a:xfrm>
            <a:off x="1389888" y="3767327"/>
            <a:ext cx="1911927"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74967" y="3776471"/>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50,000</a:t>
            </a:r>
          </a:p>
        </p:txBody>
      </p:sp>
      <p:sp>
        <p:nvSpPr>
          <p:cNvPr id="32" name="TextBox 31"/>
          <p:cNvSpPr txBox="1"/>
          <p:nvPr/>
        </p:nvSpPr>
        <p:spPr>
          <a:xfrm>
            <a:off x="566928" y="4091939"/>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8</a:t>
            </a:r>
          </a:p>
        </p:txBody>
      </p:sp>
      <p:sp>
        <p:nvSpPr>
          <p:cNvPr id="33" name="Rectangle 32"/>
          <p:cNvSpPr/>
          <p:nvPr/>
        </p:nvSpPr>
        <p:spPr>
          <a:xfrm>
            <a:off x="1389888" y="4082795"/>
            <a:ext cx="1529541"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92581" y="4091939"/>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40,000</a:t>
            </a:r>
          </a:p>
        </p:txBody>
      </p:sp>
      <p:sp>
        <p:nvSpPr>
          <p:cNvPr id="35" name="TextBox 34"/>
          <p:cNvSpPr txBox="1"/>
          <p:nvPr/>
        </p:nvSpPr>
        <p:spPr>
          <a:xfrm>
            <a:off x="566928" y="4407407"/>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9</a:t>
            </a:r>
          </a:p>
        </p:txBody>
      </p:sp>
      <p:sp>
        <p:nvSpPr>
          <p:cNvPr id="36" name="Rectangle 35"/>
          <p:cNvSpPr/>
          <p:nvPr/>
        </p:nvSpPr>
        <p:spPr>
          <a:xfrm>
            <a:off x="1389888" y="4398263"/>
            <a:ext cx="1147156"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610196" y="4407407"/>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30,000</a:t>
            </a:r>
          </a:p>
        </p:txBody>
      </p:sp>
      <p:sp>
        <p:nvSpPr>
          <p:cNvPr id="38" name="TextBox 37"/>
          <p:cNvSpPr txBox="1"/>
          <p:nvPr/>
        </p:nvSpPr>
        <p:spPr>
          <a:xfrm>
            <a:off x="566928" y="4722875"/>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10</a:t>
            </a:r>
          </a:p>
        </p:txBody>
      </p:sp>
      <p:sp>
        <p:nvSpPr>
          <p:cNvPr id="39" name="Rectangle 38"/>
          <p:cNvSpPr/>
          <p:nvPr/>
        </p:nvSpPr>
        <p:spPr>
          <a:xfrm>
            <a:off x="1389888" y="4713731"/>
            <a:ext cx="764770" cy="182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27810" y="4722875"/>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20,000</a:t>
            </a:r>
          </a:p>
        </p:txBody>
      </p:sp>
      <p:sp>
        <p:nvSpPr>
          <p:cNvPr id="41" name="TextBox 40"/>
          <p:cNvSpPr txBox="1"/>
          <p:nvPr/>
        </p:nvSpPr>
        <p:spPr>
          <a:xfrm>
            <a:off x="566928" y="5038343"/>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11</a:t>
            </a:r>
          </a:p>
        </p:txBody>
      </p:sp>
      <p:sp>
        <p:nvSpPr>
          <p:cNvPr id="42" name="Rectangle 41"/>
          <p:cNvSpPr/>
          <p:nvPr/>
        </p:nvSpPr>
        <p:spPr>
          <a:xfrm>
            <a:off x="1389888" y="5029199"/>
            <a:ext cx="382385" cy="182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45425" y="5038343"/>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10,000</a:t>
            </a:r>
          </a:p>
        </p:txBody>
      </p:sp>
      <p:sp>
        <p:nvSpPr>
          <p:cNvPr id="44" name="TextBox 43"/>
          <p:cNvSpPr txBox="1"/>
          <p:nvPr/>
        </p:nvSpPr>
        <p:spPr>
          <a:xfrm>
            <a:off x="566928" y="5353811"/>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12</a:t>
            </a:r>
          </a:p>
        </p:txBody>
      </p:sp>
      <p:sp>
        <p:nvSpPr>
          <p:cNvPr id="45" name="Rectangle 44"/>
          <p:cNvSpPr/>
          <p:nvPr/>
        </p:nvSpPr>
        <p:spPr>
          <a:xfrm>
            <a:off x="1389888" y="5344667"/>
            <a:ext cx="27432" cy="182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90472" y="5353811"/>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nil</a:t>
            </a:r>
          </a:p>
        </p:txBody>
      </p:sp>
      <p:cxnSp>
        <p:nvCxnSpPr>
          <p:cNvPr id="47" name="Connector 46"/>
          <p:cNvCxnSpPr/>
          <p:nvPr/>
        </p:nvCxnSpPr>
        <p:spPr>
          <a:xfrm>
            <a:off x="1389888" y="1828799"/>
            <a:ext cx="0" cy="3744468"/>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66928" y="5742432"/>
            <a:ext cx="6035040"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Lime marks the only seats open to a new member, or to a member in the Rebuilding band, on a twelve member circle. verified against score-bands.ts</a:t>
            </a:r>
          </a:p>
        </p:txBody>
      </p:sp>
      <p:sp>
        <p:nvSpPr>
          <p:cNvPr id="49" name="TextBox 48"/>
          <p:cNvSpPr txBox="1"/>
          <p:nvPr/>
        </p:nvSpPr>
        <p:spPr>
          <a:xfrm>
            <a:off x="7059168" y="1572768"/>
            <a:ext cx="45720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Who may sit early, and what stands behind them</a:t>
            </a:r>
          </a:p>
        </p:txBody>
      </p:sp>
      <p:sp>
        <p:nvSpPr>
          <p:cNvPr id="50" name="TextBox 49"/>
          <p:cNvSpPr txBox="1"/>
          <p:nvPr/>
        </p:nvSpPr>
        <p:spPr>
          <a:xfrm>
            <a:off x="7059168" y="1938528"/>
            <a:ext cx="4572000" cy="365760"/>
          </a:xfrm>
          <a:prstGeom prst="rect">
            <a:avLst/>
          </a:prstGeom>
          <a:noFill/>
        </p:spPr>
        <p:txBody>
          <a:bodyPr wrap="square" lIns="0" rIns="0" tIns="0" bIns="0">
            <a:spAutoFit/>
          </a:bodyPr>
          <a:lstStyle/>
          <a:p>
            <a:pPr>
              <a:lnSpc>
                <a:spcPct val="105000"/>
              </a:lnSpc>
              <a:spcAft>
                <a:spcPts val="800"/>
              </a:spcAft>
            </a:pPr>
            <a:r>
              <a:rPr sz="1040" b="1">
                <a:solidFill>
                  <a:srgbClr val="6DC72A"/>
                </a:solidFill>
                <a:latin typeface="Georgia"/>
              </a:rPr>
              <a:t>|  </a:t>
            </a:r>
            <a:r>
              <a:rPr sz="1040" b="1">
                <a:solidFill>
                  <a:srgbClr val="22450C"/>
                </a:solidFill>
                <a:latin typeface="Arial"/>
              </a:rPr>
              <a:t>Score bands.  </a:t>
            </a:r>
            <a:r>
              <a:rPr sz="1040">
                <a:solidFill>
                  <a:srgbClr val="0C1408"/>
                </a:solidFill>
                <a:latin typeface="Arial"/>
              </a:rPr>
              <a:t>Four bands decide which seats a member may claim at join.</a:t>
            </a:r>
          </a:p>
          <a:p>
            <a:pPr>
              <a:lnSpc>
                <a:spcPct val="105000"/>
              </a:lnSpc>
              <a:spcAft>
                <a:spcPts val="800"/>
              </a:spcAft>
            </a:pPr>
            <a:r>
              <a:rPr sz="1040" b="1">
                <a:solidFill>
                  <a:srgbClr val="6DC72A"/>
                </a:solidFill>
                <a:latin typeface="Georgia"/>
              </a:rPr>
              <a:t>|  </a:t>
            </a:r>
            <a:r>
              <a:rPr sz="1040" b="1">
                <a:solidFill>
                  <a:srgbClr val="22450C"/>
                </a:solidFill>
                <a:latin typeface="Arial"/>
              </a:rPr>
              <a:t>New member rule.  </a:t>
            </a:r>
            <a:r>
              <a:rPr sz="1040">
                <a:solidFill>
                  <a:srgbClr val="0C1408"/>
                </a:solidFill>
                <a:latin typeface="Arial"/>
              </a:rPr>
              <a:t>With no history, only the final seats, until two clean circles and verification.</a:t>
            </a:r>
          </a:p>
          <a:p>
            <a:pPr>
              <a:lnSpc>
                <a:spcPct val="105000"/>
              </a:lnSpc>
              <a:spcAft>
                <a:spcPts val="800"/>
              </a:spcAft>
            </a:pPr>
            <a:r>
              <a:rPr sz="1040" b="1">
                <a:solidFill>
                  <a:srgbClr val="6DC72A"/>
                </a:solidFill>
                <a:latin typeface="Georgia"/>
              </a:rPr>
              <a:t>|  </a:t>
            </a:r>
            <a:r>
              <a:rPr sz="1040" b="1">
                <a:solidFill>
                  <a:srgbClr val="22450C"/>
                </a:solidFill>
                <a:latin typeface="Arial"/>
              </a:rPr>
              <a:t>Forward liability gate.  </a:t>
            </a:r>
            <a:r>
              <a:rPr sz="1040">
                <a:solidFill>
                  <a:srgbClr val="0C1408"/>
                </a:solidFill>
                <a:latin typeface="Arial"/>
              </a:rPr>
              <a:t>An early seat is withheld where the obligation left after collecting would be too large.</a:t>
            </a:r>
          </a:p>
          <a:p>
            <a:pPr>
              <a:lnSpc>
                <a:spcPct val="105000"/>
              </a:lnSpc>
              <a:spcAft>
                <a:spcPts val="800"/>
              </a:spcAft>
            </a:pPr>
            <a:r>
              <a:rPr sz="1040" b="1">
                <a:solidFill>
                  <a:srgbClr val="6DC72A"/>
                </a:solidFill>
                <a:latin typeface="Georgia"/>
              </a:rPr>
              <a:t>|  </a:t>
            </a:r>
            <a:r>
              <a:rPr sz="1040" b="1">
                <a:solidFill>
                  <a:srgbClr val="22450C"/>
                </a:solidFill>
                <a:latin typeface="Arial"/>
              </a:rPr>
              <a:t>Affordability gate.  </a:t>
            </a:r>
            <a:r>
              <a:rPr sz="1040">
                <a:solidFill>
                  <a:srgbClr val="0C1408"/>
                </a:solidFill>
                <a:latin typeface="Arial"/>
              </a:rPr>
              <a:t>Committed instalments are held to one third of income.</a:t>
            </a:r>
          </a:p>
          <a:p>
            <a:pPr>
              <a:lnSpc>
                <a:spcPct val="105000"/>
              </a:lnSpc>
              <a:spcAft>
                <a:spcPts val="800"/>
              </a:spcAft>
            </a:pPr>
            <a:r>
              <a:rPr sz="1040" b="1">
                <a:solidFill>
                  <a:srgbClr val="6DC72A"/>
                </a:solidFill>
                <a:latin typeface="Georgia"/>
              </a:rPr>
              <a:t>|  </a:t>
            </a:r>
            <a:r>
              <a:rPr sz="1040" b="1">
                <a:solidFill>
                  <a:srgbClr val="22450C"/>
                </a:solidFill>
                <a:latin typeface="Arial"/>
              </a:rPr>
              <a:t>Mutual guarantee and undertaking.  </a:t>
            </a:r>
            <a:r>
              <a:rPr sz="1040">
                <a:solidFill>
                  <a:srgbClr val="0C1408"/>
                </a:solidFill>
                <a:latin typeface="Arial"/>
              </a:rPr>
              <a:t>Signed at join, member to member, and framed for a summary suit.</a:t>
            </a:r>
          </a:p>
          <a:p>
            <a:pPr>
              <a:lnSpc>
                <a:spcPct val="105000"/>
              </a:lnSpc>
              <a:spcAft>
                <a:spcPts val="800"/>
              </a:spcAft>
            </a:pPr>
            <a:r>
              <a:rPr sz="1040" b="1">
                <a:solidFill>
                  <a:srgbClr val="6DC72A"/>
                </a:solidFill>
                <a:latin typeface="Georgia"/>
              </a:rPr>
              <a:t>|  </a:t>
            </a:r>
            <a:r>
              <a:rPr sz="1040" b="1">
                <a:solidFill>
                  <a:srgbClr val="22450C"/>
                </a:solidFill>
                <a:latin typeface="Arial"/>
              </a:rPr>
              <a:t>Cover.  </a:t>
            </a:r>
            <a:r>
              <a:rPr sz="1040">
                <a:solidFill>
                  <a:srgbClr val="0C1408"/>
                </a:solidFill>
                <a:latin typeface="Arial"/>
              </a:rPr>
              <a:t>Where attached, a licensed takaful operator covers default after collection.</a:t>
            </a:r>
          </a:p>
        </p:txBody>
      </p:sp>
      <p:sp>
        <p:nvSpPr>
          <p:cNvPr id="51" name="Rectangle 50"/>
          <p:cNvSpPr/>
          <p:nvPr/>
        </p:nvSpPr>
        <p:spPr>
          <a:xfrm>
            <a:off x="7059168" y="4892040"/>
            <a:ext cx="4572000" cy="10972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59168" y="4892040"/>
            <a:ext cx="45720" cy="10972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23760" y="5001768"/>
            <a:ext cx="429768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What no control uses</a:t>
            </a:r>
          </a:p>
        </p:txBody>
      </p:sp>
      <p:sp>
        <p:nvSpPr>
          <p:cNvPr id="54" name="TextBox 53"/>
          <p:cNvSpPr txBox="1"/>
          <p:nvPr/>
        </p:nvSpPr>
        <p:spPr>
          <a:xfrm>
            <a:off x="7223760" y="5294376"/>
            <a:ext cx="4297680" cy="6400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A pool of money, a security deposit or a payout held back. Each would place member money with Halqa, which the design does not permit.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INSTRUMENT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How the collection order is set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Two methods are offered. Two are refused, each because it would change what the arrangement is in law.</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7</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4   Methods of setting the order, and the position on each</a:t>
            </a:r>
          </a:p>
        </p:txBody>
      </p:sp>
      <p:graphicFrame>
        <p:nvGraphicFramePr>
          <p:cNvPr id="11" name="Table 10"/>
          <p:cNvGraphicFramePr>
            <a:graphicFrameLocks noGrp="1"/>
          </p:cNvGraphicFramePr>
          <p:nvPr/>
        </p:nvGraphicFramePr>
        <p:xfrm>
          <a:off x="566928" y="1828800"/>
          <a:ext cx="11057838" cy="2194560"/>
        </p:xfrm>
        <a:graphic>
          <a:graphicData uri="http://schemas.openxmlformats.org/drawingml/2006/table">
            <a:tbl>
              <a:tblPr>
                <a:tableStyleId>{5C22544A-7EE6-4342-B048-85BDC9FD1C3A}</a:tableStyleId>
              </a:tblPr>
              <a:tblGrid>
                <a:gridCol w="1990411"/>
                <a:gridCol w="4644292"/>
                <a:gridCol w="4423135"/>
              </a:tblGrid>
              <a:tr h="365760">
                <a:tc>
                  <a:txBody>
                    <a:bodyPr wrap="square"/>
                    <a:lstStyle/>
                    <a:p>
                      <a:pPr algn="l"/>
                      <a:r>
                        <a:rPr sz="900" b="1">
                          <a:solidFill>
                            <a:srgbClr val="F3FCE7"/>
                          </a:solidFill>
                          <a:latin typeface="Arial"/>
                        </a:rPr>
                        <a:t>Method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How it works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Position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Selection at join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The member chooses a free seat from those the band allows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Offered. The standard method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Host assignment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The host sets the order at creation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Offered where the circle policy allows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Auction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The member accepting the largest discount on the pot collects first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Refused. A price discovered between members creates a lender and a borrower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Prize or lucky draw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A drawn winner collects the pot and stops paying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Refused. A sum determined by a draw is a lottery under section 294-A of the Penal Code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Ballot by lot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Names are drawn to fix the order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Not offered. The order is set by rule or by the host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566928" y="4315968"/>
            <a:ext cx="5394960"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4315968"/>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425696"/>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auction is refused</a:t>
            </a:r>
          </a:p>
        </p:txBody>
      </p:sp>
      <p:sp>
        <p:nvSpPr>
          <p:cNvPr id="15" name="TextBox 14"/>
          <p:cNvSpPr txBox="1"/>
          <p:nvPr/>
        </p:nvSpPr>
        <p:spPr>
          <a:xfrm>
            <a:off x="731520" y="4718304"/>
            <a:ext cx="5120640" cy="1143000"/>
          </a:xfrm>
          <a:prstGeom prst="rect">
            <a:avLst/>
          </a:prstGeom>
          <a:noFill/>
        </p:spPr>
        <p:txBody>
          <a:bodyPr wrap="square" lIns="0" rIns="0" tIns="0" bIns="0" anchor="t">
            <a:spAutoFit/>
          </a:bodyPr>
          <a:lstStyle/>
          <a:p>
            <a:pPr algn="l">
              <a:lnSpc>
                <a:spcPct val="112000"/>
              </a:lnSpc>
              <a:spcAft>
                <a:spcPts val="500"/>
              </a:spcAft>
            </a:pPr>
            <a:r>
              <a:rPr sz="1019" b="0" i="0">
                <a:solidFill>
                  <a:srgbClr val="0C1408"/>
                </a:solidFill>
                <a:latin typeface="Arial"/>
              </a:rPr>
              <a:t>The early collector accepts less than the pot and repays it in full. The discount is a price for money over time, which is interest in substance whatever it is called. India regulates this family separately, under the Chit Funds Act 1982.</a:t>
            </a:r>
          </a:p>
        </p:txBody>
      </p:sp>
      <p:sp>
        <p:nvSpPr>
          <p:cNvPr id="16" name="Rectangle 15"/>
          <p:cNvSpPr/>
          <p:nvPr/>
        </p:nvSpPr>
        <p:spPr>
          <a:xfrm>
            <a:off x="6236208" y="4315968"/>
            <a:ext cx="5394960"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4315968"/>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425696"/>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prize committee is refused</a:t>
            </a:r>
          </a:p>
        </p:txBody>
      </p:sp>
      <p:sp>
        <p:nvSpPr>
          <p:cNvPr id="19" name="TextBox 18"/>
          <p:cNvSpPr txBox="1"/>
          <p:nvPr/>
        </p:nvSpPr>
        <p:spPr>
          <a:xfrm>
            <a:off x="6400800" y="4718304"/>
            <a:ext cx="5120640" cy="1143000"/>
          </a:xfrm>
          <a:prstGeom prst="rect">
            <a:avLst/>
          </a:prstGeom>
          <a:noFill/>
        </p:spPr>
        <p:txBody>
          <a:bodyPr wrap="square" lIns="0" rIns="0" tIns="0" bIns="0" anchor="t">
            <a:spAutoFit/>
          </a:bodyPr>
          <a:lstStyle/>
          <a:p>
            <a:pPr algn="l">
              <a:lnSpc>
                <a:spcPct val="112000"/>
              </a:lnSpc>
              <a:spcAft>
                <a:spcPts val="500"/>
              </a:spcAft>
            </a:pPr>
            <a:r>
              <a:rPr sz="1019" b="0" i="0">
                <a:solidFill>
                  <a:srgbClr val="0C1408"/>
                </a:solidFill>
                <a:latin typeface="Arial"/>
              </a:rPr>
              <a:t>Once the winner stops paying, contributions no longer equal payouts, and most participants pay more than they can receive. The arrangement becomes a lottery funded by the members who do not win.</a:t>
            </a:r>
          </a:p>
        </p:txBody>
      </p:sp>
      <p:sp>
        <p:nvSpPr>
          <p:cNvPr id="20" name="TextBox 19"/>
          <p:cNvSpPr txBox="1"/>
          <p:nvPr/>
        </p:nvSpPr>
        <p:spPr>
          <a:xfrm>
            <a:off x="566928" y="603504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the Complete Feature and Process List (HQ-CP-07), sections 4 and 6, and the Pakistan Penal Code 1860, section 294-A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MARKET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third largest savings channel in the country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figures used in every Halqa document, with the source for each.</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8</a:t>
            </a:r>
          </a:p>
        </p:txBody>
      </p:sp>
      <p:cxnSp>
        <p:nvCxnSpPr>
          <p:cNvPr id="10" name="Connector 9"/>
          <p:cNvCxnSpPr/>
          <p:nvPr/>
        </p:nvCxnSpPr>
        <p:spPr>
          <a:xfrm>
            <a:off x="566928" y="1572768"/>
            <a:ext cx="11057839" cy="0"/>
          </a:xfrm>
          <a:prstGeom prst="line">
            <a:avLst/>
          </a:prstGeom>
          <a:ln w="13970">
            <a:solidFill>
              <a:srgbClr val="22450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6928" y="2414016"/>
            <a:ext cx="11057839" cy="0"/>
          </a:xfrm>
          <a:prstGeom prst="line">
            <a:avLst/>
          </a:prstGeom>
          <a:ln w="13970">
            <a:solidFill>
              <a:srgbClr val="22450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6656"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Rs 4 trillion</a:t>
            </a:r>
          </a:p>
        </p:txBody>
      </p:sp>
      <p:sp>
        <p:nvSpPr>
          <p:cNvPr id="13" name="TextBox 12"/>
          <p:cNvSpPr txBox="1"/>
          <p:nvPr/>
        </p:nvSpPr>
        <p:spPr>
          <a:xfrm>
            <a:off x="676656"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ROTATES EACH YEAR</a:t>
            </a:r>
          </a:p>
        </p:txBody>
      </p:sp>
      <p:cxnSp>
        <p:nvCxnSpPr>
          <p:cNvPr id="14" name="Connector 13"/>
          <p:cNvCxnSpPr/>
          <p:nvPr/>
        </p:nvCxnSpPr>
        <p:spPr>
          <a:xfrm>
            <a:off x="2778495"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888223"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52 million</a:t>
            </a:r>
          </a:p>
        </p:txBody>
      </p:sp>
      <p:sp>
        <p:nvSpPr>
          <p:cNvPr id="16" name="TextBox 15"/>
          <p:cNvSpPr txBox="1"/>
          <p:nvPr/>
        </p:nvSpPr>
        <p:spPr>
          <a:xfrm>
            <a:off x="2888223"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ADULTS PARTICIPATING</a:t>
            </a:r>
          </a:p>
        </p:txBody>
      </p:sp>
      <p:cxnSp>
        <p:nvCxnSpPr>
          <p:cNvPr id="17" name="Connector 16"/>
          <p:cNvCxnSpPr/>
          <p:nvPr/>
        </p:nvCxnSpPr>
        <p:spPr>
          <a:xfrm>
            <a:off x="4990063"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99791"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37%</a:t>
            </a:r>
          </a:p>
        </p:txBody>
      </p:sp>
      <p:sp>
        <p:nvSpPr>
          <p:cNvPr id="19" name="TextBox 18"/>
          <p:cNvSpPr txBox="1"/>
          <p:nvPr/>
        </p:nvSpPr>
        <p:spPr>
          <a:xfrm>
            <a:off x="5099791"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OF ADULTS HAVE USED ONE</a:t>
            </a:r>
          </a:p>
        </p:txBody>
      </p:sp>
      <p:cxnSp>
        <p:nvCxnSpPr>
          <p:cNvPr id="20" name="Connector 19"/>
          <p:cNvCxnSpPr/>
          <p:nvPr/>
        </p:nvCxnSpPr>
        <p:spPr>
          <a:xfrm>
            <a:off x="7201631"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1359"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12%</a:t>
            </a:r>
          </a:p>
        </p:txBody>
      </p:sp>
      <p:sp>
        <p:nvSpPr>
          <p:cNvPr id="22" name="TextBox 21"/>
          <p:cNvSpPr txBox="1"/>
          <p:nvPr/>
        </p:nvSpPr>
        <p:spPr>
          <a:xfrm>
            <a:off x="7311359"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HAVE LOST MONEY TO FRAUD</a:t>
            </a:r>
          </a:p>
        </p:txBody>
      </p:sp>
      <p:cxnSp>
        <p:nvCxnSpPr>
          <p:cNvPr id="23" name="Connector 22"/>
          <p:cNvCxnSpPr/>
          <p:nvPr/>
        </p:nvCxnSpPr>
        <p:spPr>
          <a:xfrm>
            <a:off x="9413199"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522927"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31%</a:t>
            </a:r>
          </a:p>
        </p:txBody>
      </p:sp>
      <p:sp>
        <p:nvSpPr>
          <p:cNvPr id="25" name="TextBox 24"/>
          <p:cNvSpPr txBox="1"/>
          <p:nvPr/>
        </p:nvSpPr>
        <p:spPr>
          <a:xfrm>
            <a:off x="9522927"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CAN SEND OR RECEIVE A TEXT MESSAGE</a:t>
            </a:r>
          </a:p>
        </p:txBody>
      </p:sp>
      <p:sp>
        <p:nvSpPr>
          <p:cNvPr id="26" name="TextBox 25"/>
          <p:cNvSpPr txBox="1"/>
          <p:nvPr/>
        </p:nvSpPr>
        <p:spPr>
          <a:xfrm>
            <a:off x="566928" y="2651760"/>
            <a:ext cx="51206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5   Where a Pakistani saver keeps money</a:t>
            </a:r>
          </a:p>
        </p:txBody>
      </p:sp>
      <p:sp>
        <p:nvSpPr>
          <p:cNvPr id="27" name="TextBox 26"/>
          <p:cNvSpPr txBox="1"/>
          <p:nvPr/>
        </p:nvSpPr>
        <p:spPr>
          <a:xfrm>
            <a:off x="566928" y="2953512"/>
            <a:ext cx="1261872" cy="27432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Cash at home</a:t>
            </a:r>
          </a:p>
        </p:txBody>
      </p:sp>
      <p:sp>
        <p:nvSpPr>
          <p:cNvPr id="28" name="Rectangle 27"/>
          <p:cNvSpPr/>
          <p:nvPr/>
        </p:nvSpPr>
        <p:spPr>
          <a:xfrm>
            <a:off x="1938528" y="2944368"/>
            <a:ext cx="2715768" cy="27432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27448" y="2953512"/>
            <a:ext cx="731520" cy="27432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63%</a:t>
            </a:r>
          </a:p>
        </p:txBody>
      </p:sp>
      <p:sp>
        <p:nvSpPr>
          <p:cNvPr id="30" name="TextBox 29"/>
          <p:cNvSpPr txBox="1"/>
          <p:nvPr/>
        </p:nvSpPr>
        <p:spPr>
          <a:xfrm>
            <a:off x="566928" y="3410712"/>
            <a:ext cx="1261872" cy="27432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A committee</a:t>
            </a:r>
          </a:p>
        </p:txBody>
      </p:sp>
      <p:sp>
        <p:nvSpPr>
          <p:cNvPr id="31" name="Rectangle 30"/>
          <p:cNvSpPr/>
          <p:nvPr/>
        </p:nvSpPr>
        <p:spPr>
          <a:xfrm>
            <a:off x="1938528" y="3401568"/>
            <a:ext cx="1422545" cy="2743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34225" y="3410712"/>
            <a:ext cx="731520" cy="27432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33%</a:t>
            </a:r>
          </a:p>
        </p:txBody>
      </p:sp>
      <p:sp>
        <p:nvSpPr>
          <p:cNvPr id="33" name="TextBox 32"/>
          <p:cNvSpPr txBox="1"/>
          <p:nvPr/>
        </p:nvSpPr>
        <p:spPr>
          <a:xfrm>
            <a:off x="566928" y="3867912"/>
            <a:ext cx="1261872" cy="27432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A bank account</a:t>
            </a:r>
          </a:p>
        </p:txBody>
      </p:sp>
      <p:sp>
        <p:nvSpPr>
          <p:cNvPr id="34" name="Rectangle 33"/>
          <p:cNvSpPr/>
          <p:nvPr/>
        </p:nvSpPr>
        <p:spPr>
          <a:xfrm>
            <a:off x="1938528" y="3858768"/>
            <a:ext cx="560396" cy="274320"/>
          </a:xfrm>
          <a:prstGeom prst="rect">
            <a:avLst/>
          </a:prstGeom>
          <a:solidFill>
            <a:srgbClr val="A9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72076" y="3867912"/>
            <a:ext cx="731520" cy="27432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13%</a:t>
            </a:r>
          </a:p>
        </p:txBody>
      </p:sp>
      <p:cxnSp>
        <p:nvCxnSpPr>
          <p:cNvPr id="36" name="Connector 35"/>
          <p:cNvCxnSpPr/>
          <p:nvPr/>
        </p:nvCxnSpPr>
        <p:spPr>
          <a:xfrm>
            <a:off x="1938528" y="2898648"/>
            <a:ext cx="0" cy="128016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4434840"/>
            <a:ext cx="5120640" cy="548640"/>
          </a:xfrm>
          <a:prstGeom prst="rect">
            <a:avLst/>
          </a:prstGeom>
          <a:noFill/>
        </p:spPr>
        <p:txBody>
          <a:bodyPr wrap="square" lIns="0" rIns="0" tIns="0" bIns="0" anchor="t">
            <a:spAutoFit/>
          </a:bodyPr>
          <a:lstStyle/>
          <a:p>
            <a:pPr algn="l">
              <a:lnSpc>
                <a:spcPct val="110000"/>
              </a:lnSpc>
              <a:spcAft>
                <a:spcPts val="400"/>
              </a:spcAft>
            </a:pPr>
            <a:r>
              <a:rPr sz="1200" b="0" i="0">
                <a:solidFill>
                  <a:srgbClr val="22450C"/>
                </a:solidFill>
                <a:latin typeface="Georgia"/>
              </a:rPr>
              <a:t>The committee competes with cash held at home, not with the bank account.</a:t>
            </a:r>
          </a:p>
        </p:txBody>
      </p:sp>
      <p:graphicFrame>
        <p:nvGraphicFramePr>
          <p:cNvPr id="38" name="Table 37"/>
          <p:cNvGraphicFramePr>
            <a:graphicFrameLocks noGrp="1"/>
          </p:cNvGraphicFramePr>
          <p:nvPr/>
        </p:nvGraphicFramePr>
        <p:xfrm>
          <a:off x="6144768" y="2651760"/>
          <a:ext cx="5477255" cy="2304288"/>
        </p:xfrm>
        <a:graphic>
          <a:graphicData uri="http://schemas.openxmlformats.org/drawingml/2006/table">
            <a:tbl>
              <a:tblPr>
                <a:tableStyleId>{5C22544A-7EE6-4342-B048-85BDC9FD1C3A}</a:tableStyleId>
              </a:tblPr>
              <a:tblGrid>
                <a:gridCol w="3724534"/>
                <a:gridCol w="1752721"/>
              </a:tblGrid>
              <a:tr h="329184">
                <a:tc>
                  <a:txBody>
                    <a:bodyPr wrap="square"/>
                    <a:lstStyle/>
                    <a:p>
                      <a:pPr algn="l"/>
                      <a:r>
                        <a:rPr sz="900" b="1">
                          <a:solidFill>
                            <a:srgbClr val="F3FCE7"/>
                          </a:solidFill>
                          <a:latin typeface="Arial"/>
                        </a:rPr>
                        <a:t>Further figure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Source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36% of Pakistanis save; 4% of savers use a formal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19% use the pot for a one-time durable purchase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Just over half own a phone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Women participate at twice the rate of men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About 100 million lack formal financial services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World Bank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About 41% have participated; about $5 billion rotating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Oraan research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39" name="TextBox 38"/>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Participation estimates range from 34 to 41 per cent across sources.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MARKET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Who the product serves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research narrows the market in a way that strengthens the case with a regulator.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9</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6   Two studies that appear to conflict, and the reading that reconciles them</a:t>
            </a:r>
          </a:p>
        </p:txBody>
      </p:sp>
      <p:sp>
        <p:nvSpPr>
          <p:cNvPr id="11" name="Rectangle 10"/>
          <p:cNvSpPr/>
          <p:nvPr/>
        </p:nvSpPr>
        <p:spPr>
          <a:xfrm>
            <a:off x="566928" y="1828800"/>
            <a:ext cx="5394960" cy="13258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828800"/>
            <a:ext cx="45720" cy="1325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9385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Khan (2013), fieldwork in Dera Ghazi Khan</a:t>
            </a:r>
          </a:p>
        </p:txBody>
      </p:sp>
      <p:sp>
        <p:nvSpPr>
          <p:cNvPr id="14" name="TextBox 13"/>
          <p:cNvSpPr txBox="1"/>
          <p:nvPr/>
        </p:nvSpPr>
        <p:spPr>
          <a:xfrm>
            <a:off x="731520" y="2231136"/>
            <a:ext cx="5120640" cy="8686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Regular income is a precondition of membership. The poorest are excluded by the groups themselves as bad risks, so committees cannot substitute for microfinance.</a:t>
            </a:r>
          </a:p>
        </p:txBody>
      </p:sp>
      <p:sp>
        <p:nvSpPr>
          <p:cNvPr id="15" name="Rectangle 14"/>
          <p:cNvSpPr/>
          <p:nvPr/>
        </p:nvSpPr>
        <p:spPr>
          <a:xfrm>
            <a:off x="6236208" y="1828800"/>
            <a:ext cx="5394960" cy="13258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6208" y="1828800"/>
            <a:ext cx="45720" cy="1325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385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Kamran (2017), thirty unbanked informants</a:t>
            </a:r>
          </a:p>
        </p:txBody>
      </p:sp>
      <p:sp>
        <p:nvSpPr>
          <p:cNvPr id="18" name="TextBox 17"/>
          <p:cNvSpPr txBox="1"/>
          <p:nvPr/>
        </p:nvSpPr>
        <p:spPr>
          <a:xfrm>
            <a:off x="6400800" y="2231136"/>
            <a:ext cx="5120640" cy="8686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Committees give real control over money. None of the thirty informants had experienced a member default.</a:t>
            </a:r>
          </a:p>
        </p:txBody>
      </p:sp>
      <p:sp>
        <p:nvSpPr>
          <p:cNvPr id="19" name="TextBox 18"/>
          <p:cNvSpPr txBox="1"/>
          <p:nvPr/>
        </p:nvSpPr>
        <p:spPr>
          <a:xfrm>
            <a:off x="566928" y="3310128"/>
            <a:ext cx="11057839" cy="36576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Committees filter on the regularity of income, not its level. Both studies hold at once.</a:t>
            </a:r>
          </a:p>
        </p:txBody>
      </p:sp>
      <p:graphicFrame>
        <p:nvGraphicFramePr>
          <p:cNvPr id="20" name="Table 19"/>
          <p:cNvGraphicFramePr>
            <a:graphicFrameLocks noGrp="1"/>
          </p:cNvGraphicFramePr>
          <p:nvPr/>
        </p:nvGraphicFramePr>
        <p:xfrm>
          <a:off x="566928" y="3767328"/>
          <a:ext cx="11057837" cy="1152144"/>
        </p:xfrm>
        <a:graphic>
          <a:graphicData uri="http://schemas.openxmlformats.org/drawingml/2006/table">
            <a:tbl>
              <a:tblPr>
                <a:tableStyleId>{5C22544A-7EE6-4342-B048-85BDC9FD1C3A}</a:tableStyleId>
              </a:tblPr>
              <a:tblGrid>
                <a:gridCol w="4644292"/>
                <a:gridCol w="3096194"/>
                <a:gridCol w="3317351"/>
              </a:tblGrid>
              <a:tr h="384048">
                <a:tc>
                  <a:txBody>
                    <a:bodyPr wrap="square"/>
                    <a:lstStyle/>
                    <a:p>
                      <a:pPr algn="l"/>
                      <a:r>
                        <a:rPr sz="900" b="1">
                          <a:solidFill>
                            <a:srgbClr val="F3FCE7"/>
                          </a:solidFill>
                          <a:latin typeface="Arial"/>
                        </a:rPr>
                        <a:t>Segment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Outcome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Consequence for Halqa</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60" b="1">
                          <a:solidFill>
                            <a:srgbClr val="22450C"/>
                          </a:solidFill>
                          <a:latin typeface="Arial"/>
                        </a:rPr>
                        <a:t>Irregular or insufficient income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Excluded by the groups themselves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Outside the market, and not claimed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60" b="1">
                          <a:solidFill>
                            <a:srgbClr val="22450C"/>
                          </a:solidFill>
                          <a:latin typeface="Arial"/>
                        </a:rPr>
                        <a:t>Regular earners without a bank account, such as a tailor on Rs 17,000 or a driver on Rs 22,000 a month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Served well, with near-zero observed default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The market: tens of millions of people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21" name="TextBox 20"/>
          <p:cNvSpPr txBox="1"/>
          <p:nvPr/>
        </p:nvSpPr>
        <p:spPr>
          <a:xfrm>
            <a:off x="566928" y="5138928"/>
            <a:ext cx="11057839" cy="731520"/>
          </a:xfrm>
          <a:prstGeom prst="rect">
            <a:avLst/>
          </a:prstGeom>
          <a:noFill/>
        </p:spPr>
        <p:txBody>
          <a:bodyPr wrap="square" lIns="0" rIns="0" tIns="0" bIns="0" anchor="t">
            <a:spAutoFit/>
          </a:bodyPr>
          <a:lstStyle/>
          <a:p>
            <a:pPr algn="l">
              <a:lnSpc>
                <a:spcPct val="112000"/>
              </a:lnSpc>
              <a:spcAft>
                <a:spcPts val="400"/>
              </a:spcAft>
            </a:pPr>
            <a:r>
              <a:rPr sz="1040" b="0" i="0">
                <a:solidFill>
                  <a:srgbClr val="0C1408"/>
                </a:solidFill>
                <a:latin typeface="Arial"/>
              </a:rPr>
              <a:t>Two claims are withdrawn and appear in no Halqa material: that Halqa serves the poorest, and that committees substitute for formal finance. The claim that holds is that Halqa is an on-ramp to formal finance, through the credit score it builds from committee payments.</a:t>
            </a:r>
          </a:p>
        </p:txBody>
      </p:sp>
      <p:sp>
        <p:nvSpPr>
          <p:cNvPr id="22" name="TextBox 21"/>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the two studies named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02</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legal position</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No contribution passes through an account of Halqa’s at any point.</a:t>
            </a:r>
          </a:p>
          <a:p>
            <a:pPr algn="l">
              <a:lnSpc>
                <a:spcPct val="110000"/>
              </a:lnSpc>
              <a:spcAft>
                <a:spcPts val="700"/>
              </a:spcAft>
            </a:pPr>
            <a:r>
              <a:rPr sz="1220" b="0" i="0">
                <a:solidFill>
                  <a:srgbClr val="D2E2C6"/>
                </a:solidFill>
                <a:latin typeface="Arial"/>
              </a:rPr>
              <a:t>Each licence that could attach is drafted against conduct that does not occur.</a:t>
            </a:r>
          </a:p>
          <a:p>
            <a:pPr algn="l">
              <a:lnSpc>
                <a:spcPct val="110000"/>
              </a:lnSpc>
              <a:spcAft>
                <a:spcPts val="700"/>
              </a:spcAft>
            </a:pPr>
            <a:r>
              <a:rPr sz="1220" b="0" i="0">
                <a:solidFill>
                  <a:srgbClr val="D2E2C6"/>
                </a:solidFill>
                <a:latin typeface="Arial"/>
              </a:rPr>
              <a:t>No approval is sought and no sandbox is pursued. Halqa operates under the general law.</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THE MONEY PATH</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Every payment splits three ways at the moment it is taken</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three parts are ledgered separately, reconciled separately and never mixed.</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11</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7   The path of one payment. Halqa instructs the partner and keeps the ledger; the money does not pass through Halqa.</a:t>
            </a:r>
          </a:p>
        </p:txBody>
      </p:sp>
      <p:sp>
        <p:nvSpPr>
          <p:cNvPr id="11" name="Rectangle 10"/>
          <p:cNvSpPr/>
          <p:nvPr/>
        </p:nvSpPr>
        <p:spPr>
          <a:xfrm>
            <a:off x="566928" y="2377439"/>
            <a:ext cx="2103120" cy="822960"/>
          </a:xfrm>
          <a:prstGeom prst="rect">
            <a:avLst/>
          </a:prstGeom>
          <a:solidFill>
            <a:srgbClr val="F5F7F2"/>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32887"/>
            <a:ext cx="2103120" cy="274320"/>
          </a:xfrm>
          <a:prstGeom prst="rect">
            <a:avLst/>
          </a:prstGeom>
          <a:noFill/>
        </p:spPr>
        <p:txBody>
          <a:bodyPr wrap="square" lIns="0" rIns="0" tIns="0" bIns="0" anchor="t">
            <a:spAutoFit/>
          </a:bodyPr>
          <a:lstStyle/>
          <a:p>
            <a:pPr algn="ctr">
              <a:lnSpc>
                <a:spcPct val="100000"/>
              </a:lnSpc>
              <a:spcAft>
                <a:spcPts val="400"/>
              </a:spcAft>
            </a:pPr>
            <a:r>
              <a:rPr sz="1140" b="1" i="0">
                <a:solidFill>
                  <a:srgbClr val="22450C"/>
                </a:solidFill>
                <a:latin typeface="Arial"/>
              </a:rPr>
              <a:t>Paying member</a:t>
            </a:r>
          </a:p>
        </p:txBody>
      </p:sp>
      <p:sp>
        <p:nvSpPr>
          <p:cNvPr id="13" name="TextBox 12"/>
          <p:cNvSpPr txBox="1"/>
          <p:nvPr/>
        </p:nvSpPr>
        <p:spPr>
          <a:xfrm>
            <a:off x="566928" y="2807207"/>
            <a:ext cx="2103120" cy="274320"/>
          </a:xfrm>
          <a:prstGeom prst="rect">
            <a:avLst/>
          </a:prstGeom>
          <a:noFill/>
        </p:spPr>
        <p:txBody>
          <a:bodyPr wrap="square" lIns="0" rIns="0" tIns="0" bIns="0" anchor="t">
            <a:spAutoFit/>
          </a:bodyPr>
          <a:lstStyle/>
          <a:p>
            <a:pPr algn="ctr">
              <a:lnSpc>
                <a:spcPct val="100000"/>
              </a:lnSpc>
              <a:spcAft>
                <a:spcPts val="400"/>
              </a:spcAft>
            </a:pPr>
            <a:r>
              <a:rPr sz="880" b="0" i="0">
                <a:solidFill>
                  <a:srgbClr val="6F7B68"/>
                </a:solidFill>
                <a:latin typeface="Arial"/>
              </a:rPr>
              <a:t>approves in the application</a:t>
            </a:r>
          </a:p>
        </p:txBody>
      </p:sp>
      <p:sp>
        <p:nvSpPr>
          <p:cNvPr id="14" name="Rectangle 13"/>
          <p:cNvSpPr/>
          <p:nvPr/>
        </p:nvSpPr>
        <p:spPr>
          <a:xfrm>
            <a:off x="3310128" y="2377439"/>
            <a:ext cx="2651760" cy="822960"/>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128" y="2496311"/>
            <a:ext cx="265176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22450C"/>
                </a:solidFill>
                <a:latin typeface="Arial"/>
              </a:rPr>
              <a:t>Safepay</a:t>
            </a:r>
          </a:p>
        </p:txBody>
      </p:sp>
      <p:sp>
        <p:nvSpPr>
          <p:cNvPr id="16" name="TextBox 15"/>
          <p:cNvSpPr txBox="1"/>
          <p:nvPr/>
        </p:nvSpPr>
        <p:spPr>
          <a:xfrm>
            <a:off x="3310128" y="2770631"/>
            <a:ext cx="2651760" cy="365760"/>
          </a:xfrm>
          <a:prstGeom prst="rect">
            <a:avLst/>
          </a:prstGeom>
          <a:noFill/>
        </p:spPr>
        <p:txBody>
          <a:bodyPr wrap="square" lIns="0" rIns="0" tIns="0" bIns="0" anchor="t">
            <a:spAutoFit/>
          </a:bodyPr>
          <a:lstStyle/>
          <a:p>
            <a:pPr algn="ctr">
              <a:lnSpc>
                <a:spcPct val="100000"/>
              </a:lnSpc>
              <a:spcAft>
                <a:spcPts val="100"/>
              </a:spcAft>
            </a:pPr>
            <a:r>
              <a:rPr sz="860" b="0" i="0">
                <a:solidFill>
                  <a:srgbClr val="6F7B68"/>
                </a:solidFill>
                <a:latin typeface="Arial"/>
              </a:rPr>
              <a:t>licensed payment service provider;</a:t>
            </a:r>
          </a:p>
          <a:p>
            <a:pPr algn="ctr">
              <a:lnSpc>
                <a:spcPct val="100000"/>
              </a:lnSpc>
              <a:spcAft>
                <a:spcPts val="100"/>
              </a:spcAft>
            </a:pPr>
            <a:r>
              <a:rPr sz="860" b="0" i="0">
                <a:solidFill>
                  <a:srgbClr val="6F7B68"/>
                </a:solidFill>
                <a:latin typeface="Arial"/>
              </a:rPr>
              <a:t>splits and settles each payment</a:t>
            </a:r>
          </a:p>
        </p:txBody>
      </p:sp>
      <p:cxnSp>
        <p:nvCxnSpPr>
          <p:cNvPr id="17" name="Connector 16"/>
          <p:cNvCxnSpPr/>
          <p:nvPr/>
        </p:nvCxnSpPr>
        <p:spPr>
          <a:xfrm>
            <a:off x="2670048" y="2788919"/>
            <a:ext cx="640080" cy="0"/>
          </a:xfrm>
          <a:prstGeom prst="line">
            <a:avLst/>
          </a:prstGeom>
          <a:ln w="17780">
            <a:solidFill>
              <a:srgbClr val="2245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84848" y="1892807"/>
            <a:ext cx="4837176" cy="51206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22008" y="1965959"/>
            <a:ext cx="2103120" cy="274320"/>
          </a:xfrm>
          <a:prstGeom prst="rect">
            <a:avLst/>
          </a:prstGeom>
          <a:noFill/>
        </p:spPr>
        <p:txBody>
          <a:bodyPr wrap="square" lIns="0" rIns="0" tIns="0" bIns="0" anchor="t">
            <a:spAutoFit/>
          </a:bodyPr>
          <a:lstStyle/>
          <a:p>
            <a:pPr algn="l">
              <a:lnSpc>
                <a:spcPct val="100000"/>
              </a:lnSpc>
              <a:spcAft>
                <a:spcPts val="400"/>
              </a:spcAft>
            </a:pPr>
            <a:r>
              <a:rPr sz="1060" b="1" i="0">
                <a:solidFill>
                  <a:srgbClr val="22450C"/>
                </a:solidFill>
                <a:latin typeface="Arial"/>
              </a:rPr>
              <a:t>Collecting member</a:t>
            </a:r>
          </a:p>
        </p:txBody>
      </p:sp>
      <p:sp>
        <p:nvSpPr>
          <p:cNvPr id="20" name="TextBox 19"/>
          <p:cNvSpPr txBox="1"/>
          <p:nvPr/>
        </p:nvSpPr>
        <p:spPr>
          <a:xfrm>
            <a:off x="8887968" y="1984247"/>
            <a:ext cx="2697480" cy="365760"/>
          </a:xfrm>
          <a:prstGeom prst="rect">
            <a:avLst/>
          </a:prstGeom>
          <a:noFill/>
        </p:spPr>
        <p:txBody>
          <a:bodyPr wrap="square" lIns="0" rIns="0" tIns="0" bIns="0" anchor="t">
            <a:spAutoFit/>
          </a:bodyPr>
          <a:lstStyle/>
          <a:p>
            <a:pPr algn="l">
              <a:lnSpc>
                <a:spcPct val="100000"/>
              </a:lnSpc>
              <a:spcAft>
                <a:spcPts val="400"/>
              </a:spcAft>
            </a:pPr>
            <a:r>
              <a:rPr sz="900" b="0" i="0">
                <a:solidFill>
                  <a:srgbClr val="6F7B68"/>
                </a:solidFill>
                <a:latin typeface="Arial"/>
              </a:rPr>
              <a:t>the contribution, which alone forms the pot</a:t>
            </a:r>
          </a:p>
        </p:txBody>
      </p:sp>
      <p:cxnSp>
        <p:nvCxnSpPr>
          <p:cNvPr id="21" name="Connector 20"/>
          <p:cNvCxnSpPr/>
          <p:nvPr/>
        </p:nvCxnSpPr>
        <p:spPr>
          <a:xfrm flipV="1">
            <a:off x="5961888" y="2148839"/>
            <a:ext cx="822960" cy="640080"/>
          </a:xfrm>
          <a:prstGeom prst="line">
            <a:avLst/>
          </a:prstGeom>
          <a:ln w="1778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784848" y="2496311"/>
            <a:ext cx="4837176" cy="51206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22008" y="2569463"/>
            <a:ext cx="2103120" cy="274320"/>
          </a:xfrm>
          <a:prstGeom prst="rect">
            <a:avLst/>
          </a:prstGeom>
          <a:noFill/>
        </p:spPr>
        <p:txBody>
          <a:bodyPr wrap="square" lIns="0" rIns="0" tIns="0" bIns="0" anchor="t">
            <a:spAutoFit/>
          </a:bodyPr>
          <a:lstStyle/>
          <a:p>
            <a:pPr algn="l">
              <a:lnSpc>
                <a:spcPct val="100000"/>
              </a:lnSpc>
              <a:spcAft>
                <a:spcPts val="400"/>
              </a:spcAft>
            </a:pPr>
            <a:r>
              <a:rPr sz="1060" b="1" i="0">
                <a:solidFill>
                  <a:srgbClr val="22450C"/>
                </a:solidFill>
                <a:latin typeface="Arial"/>
              </a:rPr>
              <a:t>Participants risk fund</a:t>
            </a:r>
          </a:p>
        </p:txBody>
      </p:sp>
      <p:sp>
        <p:nvSpPr>
          <p:cNvPr id="24" name="TextBox 23"/>
          <p:cNvSpPr txBox="1"/>
          <p:nvPr/>
        </p:nvSpPr>
        <p:spPr>
          <a:xfrm>
            <a:off x="8887968" y="2587751"/>
            <a:ext cx="2697480" cy="365760"/>
          </a:xfrm>
          <a:prstGeom prst="rect">
            <a:avLst/>
          </a:prstGeom>
          <a:noFill/>
        </p:spPr>
        <p:txBody>
          <a:bodyPr wrap="square" lIns="0" rIns="0" tIns="0" bIns="0" anchor="t">
            <a:spAutoFit/>
          </a:bodyPr>
          <a:lstStyle/>
          <a:p>
            <a:pPr algn="l">
              <a:lnSpc>
                <a:spcPct val="100000"/>
              </a:lnSpc>
              <a:spcAft>
                <a:spcPts val="400"/>
              </a:spcAft>
            </a:pPr>
            <a:r>
              <a:rPr sz="900" b="0" i="0">
                <a:solidFill>
                  <a:srgbClr val="6F7B68"/>
                </a:solidFill>
                <a:latin typeface="Arial"/>
              </a:rPr>
              <a:t>the takaful contribution, where cover is attached</a:t>
            </a:r>
          </a:p>
        </p:txBody>
      </p:sp>
      <p:cxnSp>
        <p:nvCxnSpPr>
          <p:cNvPr id="25" name="Connector 24"/>
          <p:cNvCxnSpPr/>
          <p:nvPr/>
        </p:nvCxnSpPr>
        <p:spPr>
          <a:xfrm flipV="1">
            <a:off x="5961888" y="2752343"/>
            <a:ext cx="822960" cy="36576"/>
          </a:xfrm>
          <a:prstGeom prst="line">
            <a:avLst/>
          </a:prstGeom>
          <a:ln w="1778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784848" y="3099815"/>
            <a:ext cx="4837176" cy="512064"/>
          </a:xfrm>
          <a:prstGeom prst="rect">
            <a:avLst/>
          </a:prstGeom>
          <a:solidFill>
            <a:srgbClr val="E3F8CA"/>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22008" y="3172967"/>
            <a:ext cx="2103120" cy="274320"/>
          </a:xfrm>
          <a:prstGeom prst="rect">
            <a:avLst/>
          </a:prstGeom>
          <a:noFill/>
        </p:spPr>
        <p:txBody>
          <a:bodyPr wrap="square" lIns="0" rIns="0" tIns="0" bIns="0" anchor="t">
            <a:spAutoFit/>
          </a:bodyPr>
          <a:lstStyle/>
          <a:p>
            <a:pPr algn="l">
              <a:lnSpc>
                <a:spcPct val="100000"/>
              </a:lnSpc>
              <a:spcAft>
                <a:spcPts val="400"/>
              </a:spcAft>
            </a:pPr>
            <a:r>
              <a:rPr sz="1060" b="1" i="0">
                <a:solidFill>
                  <a:srgbClr val="22450C"/>
                </a:solidFill>
                <a:latin typeface="Arial"/>
              </a:rPr>
              <a:t>Halqa revenue account</a:t>
            </a:r>
          </a:p>
        </p:txBody>
      </p:sp>
      <p:sp>
        <p:nvSpPr>
          <p:cNvPr id="28" name="TextBox 27"/>
          <p:cNvSpPr txBox="1"/>
          <p:nvPr/>
        </p:nvSpPr>
        <p:spPr>
          <a:xfrm>
            <a:off x="8887968" y="3191255"/>
            <a:ext cx="2697480" cy="365760"/>
          </a:xfrm>
          <a:prstGeom prst="rect">
            <a:avLst/>
          </a:prstGeom>
          <a:noFill/>
        </p:spPr>
        <p:txBody>
          <a:bodyPr wrap="square" lIns="0" rIns="0" tIns="0" bIns="0" anchor="t">
            <a:spAutoFit/>
          </a:bodyPr>
          <a:lstStyle/>
          <a:p>
            <a:pPr algn="l">
              <a:lnSpc>
                <a:spcPct val="100000"/>
              </a:lnSpc>
              <a:spcAft>
                <a:spcPts val="400"/>
              </a:spcAft>
            </a:pPr>
            <a:r>
              <a:rPr sz="900" b="0" i="0">
                <a:solidFill>
                  <a:srgbClr val="6F7B68"/>
                </a:solidFill>
                <a:latin typeface="Arial"/>
              </a:rPr>
              <a:t>the service fee, collected separately</a:t>
            </a:r>
          </a:p>
        </p:txBody>
      </p:sp>
      <p:cxnSp>
        <p:nvCxnSpPr>
          <p:cNvPr id="29" name="Connector 28"/>
          <p:cNvCxnSpPr/>
          <p:nvPr/>
        </p:nvCxnSpPr>
        <p:spPr>
          <a:xfrm>
            <a:off x="5961888" y="2788919"/>
            <a:ext cx="822960" cy="566928"/>
          </a:xfrm>
          <a:prstGeom prst="line">
            <a:avLst/>
          </a:prstGeom>
          <a:ln w="17780">
            <a:solidFill>
              <a:srgbClr val="22450C"/>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0" name="Table 29"/>
          <p:cNvGraphicFramePr>
            <a:graphicFrameLocks noGrp="1"/>
          </p:cNvGraphicFramePr>
          <p:nvPr/>
        </p:nvGraphicFramePr>
        <p:xfrm>
          <a:off x="566928" y="3840480"/>
          <a:ext cx="11057836" cy="1463040"/>
        </p:xfrm>
        <a:graphic>
          <a:graphicData uri="http://schemas.openxmlformats.org/drawingml/2006/table">
            <a:tbl>
              <a:tblPr>
                <a:tableStyleId>{5C22544A-7EE6-4342-B048-85BDC9FD1C3A}</a:tableStyleId>
              </a:tblPr>
              <a:tblGrid>
                <a:gridCol w="1658675"/>
                <a:gridCol w="3538508"/>
                <a:gridCol w="2211567"/>
                <a:gridCol w="3649086"/>
              </a:tblGrid>
              <a:tr h="365760">
                <a:tc>
                  <a:txBody>
                    <a:bodyPr wrap="square"/>
                    <a:lstStyle/>
                    <a:p>
                      <a:pPr algn="l"/>
                      <a:r>
                        <a:rPr sz="900" b="1">
                          <a:solidFill>
                            <a:srgbClr val="F3FCE7"/>
                          </a:solidFill>
                          <a:latin typeface="Arial"/>
                        </a:rPr>
                        <a:t>Part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Destination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Owner of that money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Basis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19" b="1">
                          <a:solidFill>
                            <a:srgbClr val="22450C"/>
                          </a:solidFill>
                          <a:latin typeface="Arial"/>
                        </a:rPr>
                        <a:t>Contribution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collecting member, settled by Safepay under split settlement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collecting member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pot. The pot equals the contribution for each period, taken over every period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19" b="1">
                          <a:solidFill>
                            <a:srgbClr val="22450C"/>
                          </a:solidFill>
                          <a:latin typeface="Arial"/>
                        </a:rPr>
                        <a:t>Takaful contribution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Participants risk fund at a licensed operator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participants, collectively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Cover against default after collection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19" b="1">
                          <a:solidFill>
                            <a:srgbClr val="22450C"/>
                          </a:solidFill>
                          <a:latin typeface="Arial"/>
                        </a:rPr>
                        <a:t>Service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Halqa’s own revenue account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Halqa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An advance for services, which section 84 of the Companies Act excludes from the meaning of a deposit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31" name="TextBox 30"/>
          <p:cNvSpPr txBox="1"/>
          <p:nvPr/>
        </p:nvSpPr>
        <p:spPr>
          <a:xfrm>
            <a:off x="566928" y="57607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No part of a contribution passes through an account of Halqa’s, however briefly. Source: Business Model and Unit Costs (HQ-CP-03), section 1; Collection and Auto Debit Specification (HQ-CP-09), section 1.</a:t>
            </a:r>
          </a:p>
        </p:txBody>
      </p:sp>
      <p:cxnSp>
        <p:nvCxnSpPr>
          <p:cNvPr id="32" name="Connector 31"/>
          <p:cNvCxnSpPr/>
          <p:nvPr/>
        </p:nvCxnSpPr>
        <p:spPr>
          <a:xfrm>
            <a:off x="566928" y="614476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14476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PARTNER  ·  NO RAIL IS CONNECTED AND NO MONEY HAS MOVED AT THIS DATE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LICENSING</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licences that do not attach, and why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prohibition is drafted against conduct. Where the conduct does not occur, the provision does not engage.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12</a:t>
            </a:r>
          </a:p>
        </p:txBody>
      </p:sp>
      <p:sp>
        <p:nvSpPr>
          <p:cNvPr id="10" name="TextBox 9"/>
          <p:cNvSpPr txBox="1"/>
          <p:nvPr/>
        </p:nvSpPr>
        <p:spPr>
          <a:xfrm>
            <a:off x="566928" y="1517904"/>
            <a:ext cx="758952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8   Nine provisions, the conduct each governs, and why it does not reach Halqa</a:t>
            </a:r>
          </a:p>
        </p:txBody>
      </p:sp>
      <p:graphicFrame>
        <p:nvGraphicFramePr>
          <p:cNvPr id="11" name="Table 10"/>
          <p:cNvGraphicFramePr>
            <a:graphicFrameLocks noGrp="1"/>
          </p:cNvGraphicFramePr>
          <p:nvPr/>
        </p:nvGraphicFramePr>
        <p:xfrm>
          <a:off x="566928" y="1755648"/>
          <a:ext cx="7589519" cy="3931920"/>
        </p:xfrm>
        <a:graphic>
          <a:graphicData uri="http://schemas.openxmlformats.org/drawingml/2006/table">
            <a:tbl>
              <a:tblPr>
                <a:tableStyleId>{5C22544A-7EE6-4342-B048-85BDC9FD1C3A}</a:tableStyleId>
              </a:tblPr>
              <a:tblGrid>
                <a:gridCol w="2504541"/>
                <a:gridCol w="2049170"/>
                <a:gridCol w="3035808"/>
              </a:tblGrid>
              <a:tr h="393192">
                <a:tc>
                  <a:txBody>
                    <a:bodyPr wrap="square"/>
                    <a:lstStyle/>
                    <a:p>
                      <a:pPr algn="l"/>
                      <a:r>
                        <a:rPr sz="880" b="1">
                          <a:solidFill>
                            <a:srgbClr val="F3FCE7"/>
                          </a:solidFill>
                          <a:latin typeface="Arial"/>
                        </a:rPr>
                        <a:t>Provision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Conduct governed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Why it does not reach Halqa</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Companies Act 2017, s.84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Accepting deposits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Contributions settle member to member; the fee is an advance for services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PS&amp;EFT Act 2007; EMI Regulations 2023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Issuing electronic money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No balance is issued and no funds are received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PSO/PSP Rules 2014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Providing a payment system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Safepay processes the payments under its own licence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Companies Ordinance 1984, Part VIIIA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Lending as a finance company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Halqa advances nothing and computes no rate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NBFC Regulations 2008, peer to peer chapter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Loans between persons on a platform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No money passes between members; seats only for points, for counsel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Insurance Ordinance 2000, ss.2(xxvii), 5(1)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Promising payment on another’s loss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 licensed operator writes the cover; Halqa is an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Credit Bureaus Act 2015, s.4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Functioning as a bureau</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Reports only on the member’s instruction, s.19(1)(b)</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Companies Act 2017, s.9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Association of more than 20 for gain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Each member receives exactly what each pays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Penal Code 1860, s.294-A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Keeping a lottery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No sum is determined by a draw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8430768" y="1755648"/>
            <a:ext cx="3191256" cy="2011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30768" y="1755648"/>
            <a:ext cx="45720" cy="2011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1865376"/>
            <a:ext cx="291693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Required to operate</a:t>
            </a:r>
          </a:p>
        </p:txBody>
      </p:sp>
      <p:sp>
        <p:nvSpPr>
          <p:cNvPr id="15" name="TextBox 14"/>
          <p:cNvSpPr txBox="1"/>
          <p:nvPr/>
        </p:nvSpPr>
        <p:spPr>
          <a:xfrm>
            <a:off x="8595360" y="2157984"/>
            <a:ext cx="2916936" cy="155448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Incorporation as a private limited company.</a:t>
            </a:r>
          </a:p>
          <a:p>
            <a:pPr algn="l">
              <a:lnSpc>
                <a:spcPct val="112000"/>
              </a:lnSpc>
              <a:spcAft>
                <a:spcPts val="500"/>
              </a:spcAft>
            </a:pPr>
            <a:r>
              <a:rPr sz="980" b="0" i="0">
                <a:solidFill>
                  <a:srgbClr val="0C1408"/>
                </a:solidFill>
                <a:latin typeface="Arial"/>
              </a:rPr>
              <a:t>A National Tax Number and Islamabad sales tax registration.</a:t>
            </a:r>
          </a:p>
          <a:p>
            <a:pPr algn="l">
              <a:lnSpc>
                <a:spcPct val="112000"/>
              </a:lnSpc>
              <a:spcAft>
                <a:spcPts val="500"/>
              </a:spcAft>
            </a:pPr>
            <a:r>
              <a:rPr sz="980" b="0" i="0">
                <a:solidFill>
                  <a:srgbClr val="0C1408"/>
                </a:solidFill>
                <a:latin typeface="Arial"/>
              </a:rPr>
              <a:t>A merchant agreement with Safepay, with split settlement.</a:t>
            </a:r>
          </a:p>
        </p:txBody>
      </p:sp>
      <p:sp>
        <p:nvSpPr>
          <p:cNvPr id="16" name="Rectangle 15"/>
          <p:cNvSpPr/>
          <p:nvPr/>
        </p:nvSpPr>
        <p:spPr>
          <a:xfrm>
            <a:off x="8430768" y="3931920"/>
            <a:ext cx="3191256" cy="18288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30768" y="3931920"/>
            <a:ext cx="45720" cy="18288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4041648"/>
            <a:ext cx="291693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Required when a stage opens</a:t>
            </a:r>
          </a:p>
        </p:txBody>
      </p:sp>
      <p:sp>
        <p:nvSpPr>
          <p:cNvPr id="19" name="TextBox 18"/>
          <p:cNvSpPr txBox="1"/>
          <p:nvPr/>
        </p:nvSpPr>
        <p:spPr>
          <a:xfrm>
            <a:off x="8595360" y="4334256"/>
            <a:ext cx="2916936" cy="13716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A written agency agreement with a general takaful operator, before cover.</a:t>
            </a:r>
          </a:p>
          <a:p>
            <a:pPr algn="l">
              <a:lnSpc>
                <a:spcPct val="112000"/>
              </a:lnSpc>
              <a:spcAft>
                <a:spcPts val="500"/>
              </a:spcAft>
            </a:pPr>
            <a:r>
              <a:rPr sz="980" b="0" i="0">
                <a:solidFill>
                  <a:srgbClr val="0C1408"/>
                </a:solidFill>
                <a:latin typeface="Arial"/>
              </a:rPr>
              <a:t>MUFAP membership and a distribution agreement, before savings.</a:t>
            </a:r>
          </a:p>
          <a:p>
            <a:pPr algn="l">
              <a:lnSpc>
                <a:spcPct val="112000"/>
              </a:lnSpc>
              <a:spcAft>
                <a:spcPts val="500"/>
              </a:spcAft>
            </a:pPr>
            <a:r>
              <a:rPr sz="980" b="0" i="0">
                <a:solidFill>
                  <a:srgbClr val="0C1408"/>
                </a:solidFill>
                <a:latin typeface="Arial"/>
              </a:rPr>
              <a:t>Neither carries a capital requirement of the kind a financial licence carries.</a:t>
            </a:r>
          </a:p>
        </p:txBody>
      </p:sp>
      <p:sp>
        <p:nvSpPr>
          <p:cNvPr id="20" name="TextBox 19"/>
          <p:cNvSpPr txBox="1"/>
          <p:nvPr/>
        </p:nvSpPr>
        <p:spPr>
          <a:xfrm>
            <a:off x="566928" y="594360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Each provision read in the primary text and quoted, with its page, in the Legal Position, sections 3 to 12 and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COLLECTION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Collection runs through Safepay, a licensed payment service provider</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Safepay processes each payment and settles each part to its owner. Halqa is its merchant and never receives a contribution.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13</a:t>
            </a:r>
          </a:p>
        </p:txBody>
      </p:sp>
      <p:sp>
        <p:nvSpPr>
          <p:cNvPr id="10" name="TextBox 9"/>
          <p:cNvSpPr txBox="1"/>
          <p:nvPr/>
        </p:nvSpPr>
        <p:spPr>
          <a:xfrm>
            <a:off x="566928" y="1572768"/>
            <a:ext cx="667512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9   The collection tiers</a:t>
            </a:r>
          </a:p>
        </p:txBody>
      </p:sp>
      <p:graphicFrame>
        <p:nvGraphicFramePr>
          <p:cNvPr id="11" name="Table 10"/>
          <p:cNvGraphicFramePr>
            <a:graphicFrameLocks noGrp="1"/>
          </p:cNvGraphicFramePr>
          <p:nvPr/>
        </p:nvGraphicFramePr>
        <p:xfrm>
          <a:off x="566928" y="1828800"/>
          <a:ext cx="6675119" cy="2286000"/>
        </p:xfrm>
        <a:graphic>
          <a:graphicData uri="http://schemas.openxmlformats.org/drawingml/2006/table">
            <a:tbl>
              <a:tblPr>
                <a:tableStyleId>{5C22544A-7EE6-4342-B048-85BDC9FD1C3A}</a:tableStyleId>
              </a:tblPr>
              <a:tblGrid>
                <a:gridCol w="467258"/>
                <a:gridCol w="2336292"/>
                <a:gridCol w="1335024"/>
                <a:gridCol w="1201521"/>
                <a:gridCol w="1335024"/>
              </a:tblGrid>
              <a:tr h="457200">
                <a:tc>
                  <a:txBody>
                    <a:bodyPr wrap="square"/>
                    <a:lstStyle/>
                    <a:p>
                      <a:pPr algn="l"/>
                      <a:r>
                        <a:rPr sz="880" b="1">
                          <a:solidFill>
                            <a:srgbClr val="F3FCE7"/>
                          </a:solidFill>
                          <a:latin typeface="Arial"/>
                        </a:rPr>
                        <a:t>Tier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Mechanism</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Member action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Cost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Used 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Card, wallet or Raast Request to Pay through Safepay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One approval each time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Published 2.9% + Rs 30 by card; 1.5% wallet or Raast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Known monthly circles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Auto pull: a saved card charged by Safepay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None after the card is saved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Target 1%, capped at Rs 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Unknown committees and Hyper, mandatory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The member sends over Raast to the collector’s Raast ID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The member initiates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Nil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Always available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Settled to Halqa by Safepay within each payment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None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Within the charges above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Halqa’s fee only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315968"/>
            <a:ext cx="6675120" cy="1097280"/>
          </a:xfrm>
          <a:prstGeom prst="rect">
            <a:avLst/>
          </a:prstGeom>
          <a:noFill/>
        </p:spPr>
        <p:txBody>
          <a:bodyPr wrap="square" lIns="0" rIns="0" tIns="0" bIns="0" anchor="t">
            <a:spAutoFit/>
          </a:bodyPr>
          <a:lstStyle/>
          <a:p>
            <a:pPr algn="l">
              <a:lnSpc>
                <a:spcPct val="114000"/>
              </a:lnSpc>
              <a:spcAft>
                <a:spcPts val="400"/>
              </a:spcAft>
            </a:pPr>
            <a:r>
              <a:rPr sz="1000" b="0" i="0">
                <a:solidFill>
                  <a:srgbClr val="0C1408"/>
                </a:solidFill>
                <a:latin typeface="Arial"/>
              </a:rPr>
              <a:t>A payment service provider settles what it collects to its merchant. A contribution settled to Halqa would be the acceptance of a deposit under section 84(1) of the Companies Act 2017. Safepay therefore settles each contribution straight to the collecting member and only the fee to Halqa; this split is the first term to agree.</a:t>
            </a:r>
          </a:p>
        </p:txBody>
      </p:sp>
      <p:sp>
        <p:nvSpPr>
          <p:cNvPr id="13" name="Rectangle 12"/>
          <p:cNvSpPr/>
          <p:nvPr/>
        </p:nvSpPr>
        <p:spPr>
          <a:xfrm>
            <a:off x="7562088" y="1828800"/>
            <a:ext cx="4059936" cy="2057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62088" y="1828800"/>
            <a:ext cx="45720" cy="2057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80" y="193852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Safepay</a:t>
            </a:r>
          </a:p>
        </p:txBody>
      </p:sp>
      <p:sp>
        <p:nvSpPr>
          <p:cNvPr id="16" name="TextBox 15"/>
          <p:cNvSpPr txBox="1"/>
          <p:nvPr/>
        </p:nvSpPr>
        <p:spPr>
          <a:xfrm>
            <a:off x="7726680" y="2231136"/>
            <a:ext cx="3785616" cy="160020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Safepay holds a full commercial licence from the State Bank as a payment service provider (April 2025) and accepts cards, wallets and Raast through one connection, with automatic charging of saved cards. A payment service provider “will not act as custodian of consumer’s money” (PSO/PSP Rules 2014, rule 6.5).</a:t>
            </a:r>
          </a:p>
        </p:txBody>
      </p:sp>
      <p:sp>
        <p:nvSpPr>
          <p:cNvPr id="17" name="Rectangle 16"/>
          <p:cNvSpPr/>
          <p:nvPr/>
        </p:nvSpPr>
        <p:spPr>
          <a:xfrm>
            <a:off x="7562088" y="4023360"/>
            <a:ext cx="4059936" cy="17830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62088" y="4023360"/>
            <a:ext cx="45720" cy="17830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26680" y="413308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a mandate is lawful</a:t>
            </a:r>
          </a:p>
        </p:txBody>
      </p:sp>
      <p:sp>
        <p:nvSpPr>
          <p:cNvPr id="20" name="TextBox 19"/>
          <p:cNvSpPr txBox="1"/>
          <p:nvPr/>
        </p:nvSpPr>
        <p:spPr>
          <a:xfrm>
            <a:off x="7726680" y="4425696"/>
            <a:ext cx="3785616" cy="132588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A preauthorised transfer “may be authorized by the Consumer either in writing, or in any other accepted form” (PS&amp;EFT Act 2007, s.35(1)). The member may stop it by notifying the financial institution (s.35(2)), and cancelling the mandate does not end the commitment to the circle.</a:t>
            </a:r>
          </a:p>
        </p:txBody>
      </p:sp>
      <p:cxnSp>
        <p:nvCxnSpPr>
          <p:cNvPr id="21" name="Connector 20"/>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PARTNER  ·  VERIFIED AGAINST THE PRIMARY TEXTS ON 24 SEPTEMBER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AUTO PULL</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Auto pull: one authorisation, then collection on payday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Safepay charges the member’s saved debit card for each instalment and settles each part straight to its owner. Halqa instructs; it holds neither the money nor the card number.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14</a:t>
            </a:r>
          </a:p>
        </p:txBody>
      </p:sp>
      <p:sp>
        <p:nvSpPr>
          <p:cNvPr id="10" name="TextBox 9"/>
          <p:cNvSpPr txBox="1"/>
          <p:nvPr/>
        </p:nvSpPr>
        <p:spPr>
          <a:xfrm>
            <a:off x="566928" y="1572768"/>
            <a:ext cx="64922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10   Each monthly instalment</a:t>
            </a:r>
          </a:p>
        </p:txBody>
      </p:sp>
      <p:graphicFrame>
        <p:nvGraphicFramePr>
          <p:cNvPr id="11" name="Table 10"/>
          <p:cNvGraphicFramePr>
            <a:graphicFrameLocks noGrp="1"/>
          </p:cNvGraphicFramePr>
          <p:nvPr/>
        </p:nvGraphicFramePr>
        <p:xfrm>
          <a:off x="566928" y="1828800"/>
          <a:ext cx="6492239" cy="2560320"/>
        </p:xfrm>
        <a:graphic>
          <a:graphicData uri="http://schemas.openxmlformats.org/drawingml/2006/table">
            <a:tbl>
              <a:tblPr>
                <a:tableStyleId>{5C22544A-7EE6-4342-B048-85BDC9FD1C3A}</a:tableStyleId>
              </a:tblPr>
              <a:tblGrid>
                <a:gridCol w="1687982"/>
                <a:gridCol w="4804257"/>
              </a:tblGrid>
              <a:tr h="365760">
                <a:tc>
                  <a:txBody>
                    <a:bodyPr wrap="square"/>
                    <a:lstStyle/>
                    <a:p>
                      <a:pPr algn="l"/>
                      <a:r>
                        <a:rPr sz="900" b="1">
                          <a:solidFill>
                            <a:srgbClr val="F3FCE7"/>
                          </a:solidFill>
                          <a:latin typeface="Arial"/>
                        </a:rPr>
                        <a:t>When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What happens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60" b="1">
                          <a:solidFill>
                            <a:srgbClr val="22450C"/>
                          </a:solidFill>
                          <a:latin typeface="Arial"/>
                        </a:rPr>
                        <a:t>Evening before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The member is told the amount, its three parts and the date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60" b="1">
                          <a:solidFill>
                            <a:srgbClr val="22450C"/>
                          </a:solidFill>
                          <a:latin typeface="Arial"/>
                        </a:rPr>
                        <a:t>Payday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One attempt on the member’s payday, learned from past collections, before the due date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60" b="1">
                          <a:solidFill>
                            <a:srgbClr val="22450C"/>
                          </a:solidFill>
                          <a:latin typeface="Arial"/>
                        </a:rPr>
                        <a:t>Due date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The main attempt; if the card is declined for lack of funds, a second saved card is tried once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60" b="1">
                          <a:solidFill>
                            <a:srgbClr val="22450C"/>
                          </a:solidFill>
                          <a:latin typeface="Arial"/>
                        </a:rPr>
                        <a:t>24 hours after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Second attempt, after a reminder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60" b="1">
                          <a:solidFill>
                            <a:srgbClr val="22450C"/>
                          </a:solidFill>
                          <a:latin typeface="Arial"/>
                        </a:rPr>
                        <a:t>48 hours after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Final attempt; no further automatic attempt for that instalment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60" b="1">
                          <a:solidFill>
                            <a:srgbClr val="22450C"/>
                          </a:solidFill>
                          <a:latin typeface="Arial"/>
                        </a:rPr>
                        <a:t>After a final failure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Recorded as owed to the member left short; the late ladder starts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572000"/>
            <a:ext cx="6492240" cy="36576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On Hyper: one debit a day at a fixed time, one retry within the 12 hour grace, one message a day.</a:t>
            </a:r>
          </a:p>
        </p:txBody>
      </p:sp>
      <p:sp>
        <p:nvSpPr>
          <p:cNvPr id="13" name="Rectangle 12"/>
          <p:cNvSpPr/>
          <p:nvPr/>
        </p:nvSpPr>
        <p:spPr>
          <a:xfrm>
            <a:off x="7379208" y="1572768"/>
            <a:ext cx="4242816" cy="1920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1572768"/>
            <a:ext cx="45720" cy="1920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1682496"/>
            <a:ext cx="396849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Where it applies</a:t>
            </a:r>
          </a:p>
        </p:txBody>
      </p:sp>
      <p:sp>
        <p:nvSpPr>
          <p:cNvPr id="16" name="TextBox 15"/>
          <p:cNvSpPr txBox="1"/>
          <p:nvPr/>
        </p:nvSpPr>
        <p:spPr>
          <a:xfrm>
            <a:off x="7543800" y="1975104"/>
            <a:ext cx="3968496" cy="1463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Mandatory on unknown committees and Hyper: the debit card of the income account, saved with Safepay after the card bank’s 3-D Secure check. Raast needs the payer’s approval each time, so the saved card is the automatic option.</a:t>
            </a:r>
          </a:p>
          <a:p>
            <a:pPr algn="l">
              <a:lnSpc>
                <a:spcPct val="112000"/>
              </a:lnSpc>
              <a:spcAft>
                <a:spcPts val="500"/>
              </a:spcAft>
            </a:pPr>
            <a:r>
              <a:rPr sz="980" b="0" i="0">
                <a:solidFill>
                  <a:srgbClr val="0C1408"/>
                </a:solidFill>
                <a:latin typeface="Arial"/>
              </a:rPr>
              <a:t>Optional on known committees, where the member may approve each payment or send over Raast.</a:t>
            </a:r>
          </a:p>
        </p:txBody>
      </p:sp>
      <p:sp>
        <p:nvSpPr>
          <p:cNvPr id="17" name="Rectangle 16"/>
          <p:cNvSpPr/>
          <p:nvPr/>
        </p:nvSpPr>
        <p:spPr>
          <a:xfrm>
            <a:off x="7379208" y="3657600"/>
            <a:ext cx="4242816" cy="21488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79208" y="3657600"/>
            <a:ext cx="45720" cy="21488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3767328"/>
            <a:ext cx="396849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Limits and rights</a:t>
            </a:r>
          </a:p>
        </p:txBody>
      </p:sp>
      <p:sp>
        <p:nvSpPr>
          <p:cNvPr id="20" name="TextBox 19"/>
          <p:cNvSpPr txBox="1"/>
          <p:nvPr/>
        </p:nvSpPr>
        <p:spPr>
          <a:xfrm>
            <a:off x="7543800" y="4059936"/>
            <a:ext cx="3968496" cy="16916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One instalment per collection, one mandate per circle, the roster as the only payees, ending with the circle.</a:t>
            </a:r>
          </a:p>
          <a:p>
            <a:pPr algn="l">
              <a:lnSpc>
                <a:spcPct val="112000"/>
              </a:lnSpc>
              <a:spcAft>
                <a:spcPts val="500"/>
              </a:spcAft>
            </a:pPr>
            <a:r>
              <a:rPr sz="980" b="0" i="0">
                <a:solidFill>
                  <a:srgbClr val="0C1408"/>
                </a:solidFill>
                <a:latin typeface="Arial"/>
              </a:rPr>
              <a:t>Authorised in the application under s.35(1) of the PS&amp;EFT Act 2007; the member may stop it at any time under s.35(2), and still owes the instalment.</a:t>
            </a:r>
          </a:p>
        </p:txBody>
      </p:sp>
      <p:cxnSp>
        <p:nvCxnSpPr>
          <p:cNvPr id="21" name="Connector 20"/>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PARTNER  ·  SOURCE: AUTO DEBIT (HQ-CP-02); COLLECTION AND AUTO DEBIT SPECIFICATION (HQ-CP-09), SECTION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DUTIES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Whose duty each duty is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Duties under the payment statute bind the member’s bank and the licensed partner. Halqa supports each by design and by contract, and carries the bureau and agency duties itself.</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15</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11   Eleven duties, the party each binds, and how Halqa meets or supports it</a:t>
            </a:r>
          </a:p>
        </p:txBody>
      </p:sp>
      <p:graphicFrame>
        <p:nvGraphicFramePr>
          <p:cNvPr id="11" name="Table 10"/>
          <p:cNvGraphicFramePr>
            <a:graphicFrameLocks noGrp="1"/>
          </p:cNvGraphicFramePr>
          <p:nvPr/>
        </p:nvGraphicFramePr>
        <p:xfrm>
          <a:off x="566928" y="1810512"/>
          <a:ext cx="11057836" cy="4059936"/>
        </p:xfrm>
        <a:graphic>
          <a:graphicData uri="http://schemas.openxmlformats.org/drawingml/2006/table">
            <a:tbl>
              <a:tblPr>
                <a:tableStyleId>{5C22544A-7EE6-4342-B048-85BDC9FD1C3A}</a:tableStyleId>
              </a:tblPr>
              <a:tblGrid>
                <a:gridCol w="2764459"/>
                <a:gridCol w="1658675"/>
                <a:gridCol w="1879832"/>
                <a:gridCol w="3870243"/>
                <a:gridCol w="884627"/>
              </a:tblGrid>
              <a:tr h="338328">
                <a:tc>
                  <a:txBody>
                    <a:bodyPr wrap="square"/>
                    <a:lstStyle/>
                    <a:p>
                      <a:pPr algn="l"/>
                      <a:r>
                        <a:rPr sz="840" b="1">
                          <a:solidFill>
                            <a:srgbClr val="F3FCE7"/>
                          </a:solidFill>
                          <a:latin typeface="Arial"/>
                        </a:rPr>
                        <a:t>Duty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Instrument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Owed by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How Halqa meets or supports it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Stage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Disclose the terms at contracting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s.30(1)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 or Authorized Party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Terms screen before any mandate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21 days’ notice of a material change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s.31(1)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 or Authorized Party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Notice job on the mandate record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Honour a stop instruction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s.35(2)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Cancellation in the application, effective at once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Investigate an alleged error in 10 Business Days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s.36(2)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 or Authorized Party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Dispute ticket with a ten day clock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Adverse action pack where a report restricts a seat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CBA 2015 s.31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user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Report, bureau details, summary of rights, statement that the bureau did not decide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Disclose credit information only as authorised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CBA 2015 s.26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Bureau data never shown to other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Pay the gross premium to the insurer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CIA Regulations 2020, reg 5(4)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Takaful contribution passes to the operator in full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Claims paid in the member’s own name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7(4)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The operator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supplies the payment record; never paid to a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No fee for distributing 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8(3)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The service fee covers the committee service only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Show a bundled product’s cost separately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11(1)(d)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Cover stated apart on the join sheet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Coerce no prospect to buy 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10(c)</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Counsel’s written opinion on compulsory cover before Hyper opens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Open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Presenting the payment statute’s duties as Halqa’s own would characterise Halqa as an Authorized Party, which is the reading the design avoids (Legal Position, sections 7 and 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IMPLEMENTATION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changes in the code before the partner agreement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application still carries constructs of the August design. Each is removed before the partner agreement is executed, and the listed components are built before the first live collection.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16</a:t>
            </a:r>
          </a:p>
        </p:txBody>
      </p:sp>
      <p:sp>
        <p:nvSpPr>
          <p:cNvPr id="10" name="Rectangle 9"/>
          <p:cNvSpPr/>
          <p:nvPr/>
        </p:nvSpPr>
        <p:spPr>
          <a:xfrm>
            <a:off x="566928" y="1645920"/>
            <a:ext cx="5394960" cy="4297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45920"/>
            <a:ext cx="45720" cy="4297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5564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To be removed</a:t>
            </a:r>
          </a:p>
        </p:txBody>
      </p:sp>
      <p:sp>
        <p:nvSpPr>
          <p:cNvPr id="13" name="TextBox 12"/>
          <p:cNvSpPr txBox="1"/>
          <p:nvPr/>
        </p:nvSpPr>
        <p:spPr>
          <a:xfrm>
            <a:off x="731520" y="2048256"/>
            <a:ext cx="5120640" cy="38404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turn premium recorded from buyer to seller, and the ten per cent marketplace fee taken on it.</a:t>
            </a:r>
          </a:p>
          <a:p>
            <a:pPr algn="l">
              <a:lnSpc>
                <a:spcPct val="112000"/>
              </a:lnSpc>
              <a:spcAft>
                <a:spcPts val="500"/>
              </a:spcAft>
            </a:pPr>
            <a:r>
              <a:rPr sz="1000" b="0" i="0">
                <a:solidFill>
                  <a:srgbClr val="0C1408"/>
                </a:solidFill>
                <a:latin typeface="Arial"/>
              </a:rPr>
              <a:t>The early fee distributed to members.</a:t>
            </a:r>
          </a:p>
          <a:p>
            <a:pPr algn="l">
              <a:lnSpc>
                <a:spcPct val="112000"/>
              </a:lnSpc>
              <a:spcAft>
                <a:spcPts val="500"/>
              </a:spcAft>
            </a:pPr>
            <a:r>
              <a:rPr sz="1000" b="0" i="0">
                <a:solidFill>
                  <a:srgbClr val="0C1408"/>
                </a:solidFill>
                <a:latin typeface="Arial"/>
              </a:rPr>
              <a:t>Member-held balances accruing an indicative rate.</a:t>
            </a:r>
          </a:p>
          <a:p>
            <a:pPr algn="l">
              <a:lnSpc>
                <a:spcPct val="112000"/>
              </a:lnSpc>
              <a:spcAft>
                <a:spcPts val="500"/>
              </a:spcAft>
            </a:pPr>
            <a:r>
              <a:rPr sz="1000" b="0" i="0">
                <a:solidFill>
                  <a:srgbClr val="0C1408"/>
                </a:solidFill>
                <a:latin typeface="Arial"/>
              </a:rPr>
              <a:t>Security deposits held with accrued yield, and payout holdbacks.</a:t>
            </a:r>
          </a:p>
          <a:p>
            <a:pPr algn="l">
              <a:lnSpc>
                <a:spcPct val="112000"/>
              </a:lnSpc>
              <a:spcAft>
                <a:spcPts val="500"/>
              </a:spcAft>
            </a:pPr>
            <a:r>
              <a:rPr sz="1000" b="0" i="0">
                <a:solidFill>
                  <a:srgbClr val="0C1408"/>
                </a:solidFill>
                <a:latin typeface="Arial"/>
              </a:rPr>
              <a:t>Every annualised rate computation and every rate ceiling, including the bid arithmetic of the earlier daily design.</a:t>
            </a:r>
          </a:p>
          <a:p>
            <a:pPr algn="l">
              <a:lnSpc>
                <a:spcPct val="112000"/>
              </a:lnSpc>
              <a:spcAft>
                <a:spcPts val="500"/>
              </a:spcAft>
            </a:pPr>
            <a:r>
              <a:rPr sz="1000" b="0" i="0">
                <a:solidFill>
                  <a:srgbClr val="0C1408"/>
                </a:solidFill>
                <a:latin typeface="Arial"/>
              </a:rPr>
              <a:t>The prize draw surface.</a:t>
            </a:r>
          </a:p>
          <a:p>
            <a:pPr algn="l">
              <a:lnSpc>
                <a:spcPct val="112000"/>
              </a:lnSpc>
              <a:spcAft>
                <a:spcPts val="500"/>
              </a:spcAft>
            </a:pPr>
            <a:r>
              <a:rPr sz="1000" b="0" i="0">
                <a:solidFill>
                  <a:srgbClr val="0C1408"/>
                </a:solidFill>
                <a:latin typeface="Arial"/>
              </a:rPr>
              <a:t>Any seat price that varies with the collection day, on any cadence.</a:t>
            </a:r>
          </a:p>
          <a:p>
            <a:pPr algn="l">
              <a:lnSpc>
                <a:spcPct val="112000"/>
              </a:lnSpc>
              <a:spcAft>
                <a:spcPts val="500"/>
              </a:spcAft>
            </a:pPr>
            <a:r>
              <a:rPr sz="1000" b="0" i="0">
                <a:solidFill>
                  <a:srgbClr val="0C1408"/>
                </a:solidFill>
                <a:latin typeface="Arial"/>
              </a:rPr>
              <a:t>Ballot by lot and credit weighted ordering, which the circle creation route still accepts.</a:t>
            </a:r>
          </a:p>
        </p:txBody>
      </p:sp>
      <p:sp>
        <p:nvSpPr>
          <p:cNvPr id="14" name="Rectangle 13"/>
          <p:cNvSpPr/>
          <p:nvPr/>
        </p:nvSpPr>
        <p:spPr>
          <a:xfrm>
            <a:off x="6236208" y="1645920"/>
            <a:ext cx="5394960" cy="4297680"/>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45920"/>
            <a:ext cx="45720" cy="4297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5564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To be built</a:t>
            </a:r>
          </a:p>
        </p:txBody>
      </p:sp>
      <p:sp>
        <p:nvSpPr>
          <p:cNvPr id="17" name="TextBox 16"/>
          <p:cNvSpPr txBox="1"/>
          <p:nvPr/>
        </p:nvSpPr>
        <p:spPr>
          <a:xfrm>
            <a:off x="6400800" y="2048256"/>
            <a:ext cx="5120640" cy="38404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three way split, with each part written to its own ledger account.</a:t>
            </a:r>
          </a:p>
          <a:p>
            <a:pPr algn="l">
              <a:lnSpc>
                <a:spcPct val="112000"/>
              </a:lnSpc>
              <a:spcAft>
                <a:spcPts val="500"/>
              </a:spcAft>
            </a:pPr>
            <a:r>
              <a:rPr sz="1000" b="0" i="0">
                <a:solidFill>
                  <a:srgbClr val="0C1408"/>
                </a:solidFill>
                <a:latin typeface="Arial"/>
              </a:rPr>
              <a:t>The two identity assertions at circle creation.</a:t>
            </a:r>
          </a:p>
          <a:p>
            <a:pPr algn="l">
              <a:lnSpc>
                <a:spcPct val="112000"/>
              </a:lnSpc>
              <a:spcAft>
                <a:spcPts val="500"/>
              </a:spcAft>
            </a:pPr>
            <a:r>
              <a:rPr sz="1000" b="0" i="0">
                <a:solidFill>
                  <a:srgbClr val="0C1408"/>
                </a:solidFill>
                <a:latin typeface="Arial"/>
              </a:rPr>
              <a:t>The mandate register, the authorisation screen, the confirmation, the cancellation and the advance notice.</a:t>
            </a:r>
          </a:p>
          <a:p>
            <a:pPr algn="l">
              <a:lnSpc>
                <a:spcPct val="112000"/>
              </a:lnSpc>
              <a:spcAft>
                <a:spcPts val="500"/>
              </a:spcAft>
            </a:pPr>
            <a:r>
              <a:rPr sz="1000" b="0" i="0">
                <a:solidFill>
                  <a:srgbClr val="0C1408"/>
                </a:solidFill>
                <a:latin typeface="Arial"/>
              </a:rPr>
              <a:t>The arrears record, expressed as owed to the member left short and never as a balance.</a:t>
            </a:r>
          </a:p>
          <a:p>
            <a:pPr algn="l">
              <a:lnSpc>
                <a:spcPct val="112000"/>
              </a:lnSpc>
              <a:spcAft>
                <a:spcPts val="500"/>
              </a:spcAft>
            </a:pPr>
            <a:r>
              <a:rPr sz="1000" b="0" i="0">
                <a:solidFill>
                  <a:srgbClr val="0C1408"/>
                </a:solidFill>
                <a:latin typeface="Arial"/>
              </a:rPr>
              <a:t>The bureau instruction screen and the adverse action pack.</a:t>
            </a:r>
          </a:p>
          <a:p>
            <a:pPr algn="l">
              <a:lnSpc>
                <a:spcPct val="112000"/>
              </a:lnSpc>
              <a:spcAft>
                <a:spcPts val="500"/>
              </a:spcAft>
            </a:pPr>
            <a:r>
              <a:rPr sz="1000" b="0" i="0">
                <a:solidFill>
                  <a:srgbClr val="0C1408"/>
                </a:solidFill>
                <a:latin typeface="Arial"/>
              </a:rPr>
              <a:t>The fee schedule stating every charge before commitment.</a:t>
            </a:r>
          </a:p>
          <a:p>
            <a:pPr algn="l">
              <a:lnSpc>
                <a:spcPct val="112000"/>
              </a:lnSpc>
              <a:spcAft>
                <a:spcPts val="500"/>
              </a:spcAft>
            </a:pPr>
            <a:r>
              <a:rPr sz="1000" b="0" i="0">
                <a:solidFill>
                  <a:srgbClr val="0C1408"/>
                </a:solidFill>
                <a:latin typeface="Arial"/>
              </a:rPr>
              <a:t>Saved card charges through Safepay, with each part settled to its owner.</a:t>
            </a:r>
          </a:p>
        </p:txBody>
      </p:sp>
      <p:sp>
        <p:nvSpPr>
          <p:cNvPr id="18" name="TextBox 17"/>
          <p:cNvSpPr txBox="1"/>
          <p:nvPr/>
        </p:nvSpPr>
        <p:spPr>
          <a:xfrm>
            <a:off x="566928" y="603504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Source: Work Register, sections E and F. The final line of the left column is verified against the circle creation route in the application code on 25 September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03</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economics</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One flat fee per instalment, set by instalment size and roster size.</a:t>
            </a:r>
          </a:p>
          <a:p>
            <a:pPr algn="l">
              <a:lnSpc>
                <a:spcPct val="110000"/>
              </a:lnSpc>
              <a:spcAft>
                <a:spcPts val="700"/>
              </a:spcAft>
            </a:pPr>
            <a:r>
              <a:rPr sz="1220" b="0" i="0">
                <a:solidFill>
                  <a:srgbClr val="D2E2C6"/>
                </a:solidFill>
                <a:latin typeface="Arial"/>
              </a:rPr>
              <a:t>Every committee type covers its running costs from its first circle.</a:t>
            </a:r>
          </a:p>
          <a:p>
            <a:pPr algn="l">
              <a:lnSpc>
                <a:spcPct val="110000"/>
              </a:lnSpc>
              <a:spcAft>
                <a:spcPts val="700"/>
              </a:spcAft>
            </a:pPr>
            <a:r>
              <a:rPr sz="1220" b="0" i="0">
                <a:solidFill>
                  <a:srgbClr val="D2E2C6"/>
                </a:solidFill>
                <a:latin typeface="Arial"/>
              </a:rPr>
              <a:t>The payment partner’s charge must be a small amount per payment, not a percentage.</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THE FEE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 flat fee per instalment, stated before any commitment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fee is set by instalment size and roster size, and is the same for every seat on the roster.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18</a:t>
            </a:r>
          </a:p>
        </p:txBody>
      </p:sp>
      <p:sp>
        <p:nvSpPr>
          <p:cNvPr id="10" name="TextBox 9"/>
          <p:cNvSpPr txBox="1"/>
          <p:nvPr/>
        </p:nvSpPr>
        <p:spPr>
          <a:xfrm>
            <a:off x="566928" y="1572768"/>
            <a:ext cx="60350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12   Fee per instalment on monthly circles, in rupees, paid to Halqa</a:t>
            </a:r>
          </a:p>
        </p:txBody>
      </p:sp>
      <p:graphicFrame>
        <p:nvGraphicFramePr>
          <p:cNvPr id="11" name="Table 10"/>
          <p:cNvGraphicFramePr>
            <a:graphicFrameLocks noGrp="1"/>
          </p:cNvGraphicFramePr>
          <p:nvPr/>
        </p:nvGraphicFramePr>
        <p:xfrm>
          <a:off x="566928" y="1828800"/>
          <a:ext cx="6035037" cy="1737360"/>
        </p:xfrm>
        <a:graphic>
          <a:graphicData uri="http://schemas.openxmlformats.org/drawingml/2006/table">
            <a:tbl>
              <a:tblPr>
                <a:tableStyleId>{5C22544A-7EE6-4342-B048-85BDC9FD1C3A}</a:tableStyleId>
              </a:tblPr>
              <a:tblGrid>
                <a:gridCol w="2051913"/>
                <a:gridCol w="1327708"/>
                <a:gridCol w="1327708"/>
                <a:gridCol w="1327708"/>
              </a:tblGrid>
              <a:tr h="347472">
                <a:tc>
                  <a:txBody>
                    <a:bodyPr wrap="square"/>
                    <a:lstStyle/>
                    <a:p>
                      <a:pPr algn="l"/>
                      <a:r>
                        <a:rPr sz="900" b="1">
                          <a:solidFill>
                            <a:srgbClr val="F3FCE7"/>
                          </a:solidFill>
                          <a:latin typeface="Arial"/>
                        </a:rPr>
                        <a:t>Instalment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900" b="1">
                          <a:solidFill>
                            <a:srgbClr val="F3FCE7"/>
                          </a:solidFill>
                          <a:latin typeface="Arial"/>
                        </a:rPr>
                        <a:t>2 to 6 members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900" b="1">
                          <a:solidFill>
                            <a:srgbClr val="F3FCE7"/>
                          </a:solidFill>
                          <a:latin typeface="Arial"/>
                        </a:rPr>
                        <a:t>7 to 10 members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900" b="1">
                          <a:solidFill>
                            <a:srgbClr val="F3FCE7"/>
                          </a:solidFill>
                          <a:latin typeface="Arial"/>
                        </a:rPr>
                        <a:t>11 or more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Up to Rs 2,500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Rs 2,501 to 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200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Rs 5,001 to 10,000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300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Above Rs 10,000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200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400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3639312"/>
            <a:ext cx="6035040"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The national average instalment of Rs 6,400 falls in the third band. Sales tax of 15 per cent is added on top.</a:t>
            </a:r>
          </a:p>
        </p:txBody>
      </p:sp>
      <p:sp>
        <p:nvSpPr>
          <p:cNvPr id="13" name="TextBox 12"/>
          <p:cNvSpPr txBox="1"/>
          <p:nvPr/>
        </p:nvSpPr>
        <p:spPr>
          <a:xfrm>
            <a:off x="566928" y="3986784"/>
            <a:ext cx="60350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13   Fee discounts. The largest applicable discount is taken; they do not stack.</a:t>
            </a:r>
          </a:p>
        </p:txBody>
      </p:sp>
      <p:graphicFrame>
        <p:nvGraphicFramePr>
          <p:cNvPr id="14" name="Table 13"/>
          <p:cNvGraphicFramePr>
            <a:graphicFrameLocks noGrp="1"/>
          </p:cNvGraphicFramePr>
          <p:nvPr/>
        </p:nvGraphicFramePr>
        <p:xfrm>
          <a:off x="566928" y="4224528"/>
          <a:ext cx="6035039" cy="1316736"/>
        </p:xfrm>
        <a:graphic>
          <a:graphicData uri="http://schemas.openxmlformats.org/drawingml/2006/table">
            <a:tbl>
              <a:tblPr>
                <a:tableStyleId>{5C22544A-7EE6-4342-B048-85BDC9FD1C3A}</a:tableStyleId>
              </a:tblPr>
              <a:tblGrid>
                <a:gridCol w="2172614"/>
                <a:gridCol w="965606"/>
                <a:gridCol w="2896819"/>
              </a:tblGrid>
              <a:tr h="329184">
                <a:tc>
                  <a:txBody>
                    <a:bodyPr wrap="square"/>
                    <a:lstStyle/>
                    <a:p>
                      <a:pPr algn="l"/>
                      <a:r>
                        <a:rPr sz="900" b="1">
                          <a:solidFill>
                            <a:srgbClr val="F3FCE7"/>
                          </a:solidFill>
                          <a:latin typeface="Arial"/>
                        </a:rPr>
                        <a:t>Condition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Effect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Basis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Guarantee cheque held on file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80% off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If dishonoured: a summary suit, and s.489-F of the Penal Code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Income slip and employer verified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 off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Certain and traceable income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Income account linked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Mandatory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Required on unknown committees and Hyper. Not a discount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5" name="Rectangle 14"/>
          <p:cNvSpPr/>
          <p:nvPr/>
        </p:nvSpPr>
        <p:spPr>
          <a:xfrm>
            <a:off x="6967728" y="1828800"/>
            <a:ext cx="4654296" cy="1920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67728" y="1828800"/>
            <a:ext cx="45720" cy="1920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938528"/>
            <a:ext cx="43799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fee is flat</a:t>
            </a:r>
          </a:p>
        </p:txBody>
      </p:sp>
      <p:sp>
        <p:nvSpPr>
          <p:cNvPr id="18" name="TextBox 17"/>
          <p:cNvSpPr txBox="1"/>
          <p:nvPr/>
        </p:nvSpPr>
        <p:spPr>
          <a:xfrm>
            <a:off x="7132320" y="2231136"/>
            <a:ext cx="4379976" cy="146304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A fee graded by collection day is priced on the advance and reads as interest. Members in later seats are compensated by Halqa in points and fee waivers issued from its own revenue, never by another member.</a:t>
            </a:r>
          </a:p>
        </p:txBody>
      </p:sp>
      <p:sp>
        <p:nvSpPr>
          <p:cNvPr id="19" name="Rectangle 18"/>
          <p:cNvSpPr/>
          <p:nvPr/>
        </p:nvSpPr>
        <p:spPr>
          <a:xfrm>
            <a:off x="6967728" y="3931920"/>
            <a:ext cx="4654296" cy="17830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3931920"/>
            <a:ext cx="45720" cy="17830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4041648"/>
            <a:ext cx="43799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fee is lawful</a:t>
            </a:r>
          </a:p>
        </p:txBody>
      </p:sp>
      <p:sp>
        <p:nvSpPr>
          <p:cNvPr id="22" name="TextBox 21"/>
          <p:cNvSpPr txBox="1"/>
          <p:nvPr/>
        </p:nvSpPr>
        <p:spPr>
          <a:xfrm>
            <a:off x="7132320" y="4334256"/>
            <a:ext cx="4379976" cy="13258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Explanation to section 84 of the Companies Act 2017 excludes “an advance against sale of goods or provision of services in the ordinary course of business” from the meaning of a deposit. A fee charged in advance for a service is revenue.</a:t>
            </a:r>
          </a:p>
        </p:txBody>
      </p:sp>
      <p:cxnSp>
        <p:nvCxnSpPr>
          <p:cNvPr id="23" name="Connector 22"/>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TO BUILD  ·  THE PUBLISHED FEE SCHEDULE IS LISTED IN SECTION 02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COST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each committee type costs to run and earns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Seven types from a six member family circle to Hyper. Contribution is fee and commission less running costs, rewards to later seats, and, in a first circle, onboarding and acquisition.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19</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14   Contribution per circle, in rupees</a:t>
            </a:r>
          </a:p>
        </p:txBody>
      </p:sp>
      <p:graphicFrame>
        <p:nvGraphicFramePr>
          <p:cNvPr id="11" name="Table 10"/>
          <p:cNvGraphicFramePr>
            <a:graphicFrameLocks noGrp="1"/>
          </p:cNvGraphicFramePr>
          <p:nvPr/>
        </p:nvGraphicFramePr>
        <p:xfrm>
          <a:off x="566928" y="1828800"/>
          <a:ext cx="11057836" cy="2633472"/>
        </p:xfrm>
        <a:graphic>
          <a:graphicData uri="http://schemas.openxmlformats.org/drawingml/2006/table">
            <a:tbl>
              <a:tblPr>
                <a:tableStyleId>{5C22544A-7EE6-4342-B048-85BDC9FD1C3A}</a:tableStyleId>
              </a:tblPr>
              <a:tblGrid>
                <a:gridCol w="2211567"/>
                <a:gridCol w="2211567"/>
                <a:gridCol w="1105783"/>
                <a:gridCol w="1548097"/>
                <a:gridCol w="1990411"/>
                <a:gridCol w="1990411"/>
              </a:tblGrid>
              <a:tr h="329184">
                <a:tc>
                  <a:txBody>
                    <a:bodyPr wrap="square"/>
                    <a:lstStyle/>
                    <a:p>
                      <a:pPr algn="l"/>
                      <a:r>
                        <a:rPr sz="900" b="1">
                          <a:solidFill>
                            <a:srgbClr val="F3FCE7"/>
                          </a:solidFill>
                          <a:latin typeface="Arial"/>
                        </a:rPr>
                        <a:t>Committee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Members, payment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Fee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Cost per payment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First circle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Later circles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60" b="1">
                          <a:solidFill>
                            <a:srgbClr val="22450C"/>
                          </a:solidFill>
                          <a:latin typeface="Arial"/>
                        </a:rPr>
                        <a:t>Family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6, Rs 5,000 monthly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18.67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427)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2,053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60" b="1">
                          <a:solidFill>
                            <a:srgbClr val="22450C"/>
                          </a:solidFill>
                          <a:latin typeface="Arial"/>
                        </a:rPr>
                        <a:t>Office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12, Rs 10,000 monthly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17.94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55,946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60,906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60" b="1">
                          <a:solidFill>
                            <a:srgbClr val="22450C"/>
                          </a:solidFill>
                          <a:latin typeface="Arial"/>
                        </a:rPr>
                        <a:t>Market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10, Rs 2,000 weekly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15.85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2,295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6,429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60" b="1">
                          <a:solidFill>
                            <a:srgbClr val="22450C"/>
                          </a:solidFill>
                          <a:latin typeface="Arial"/>
                        </a:rPr>
                        <a:t>Unknown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12, Rs 10,000 monthly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34.65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62,559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70,355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60" b="1">
                          <a:solidFill>
                            <a:srgbClr val="22450C"/>
                          </a:solidFill>
                          <a:latin typeface="Arial"/>
                        </a:rPr>
                        <a:t>Large unknown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20, Rs 25,000 monthly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34.36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232,199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245,192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60" b="1">
                          <a:solidFill>
                            <a:srgbClr val="22450C"/>
                          </a:solidFill>
                          <a:latin typeface="Arial"/>
                        </a:rPr>
                        <a:t>Hyper, Option 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400, Rs 450 daily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12.71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888,998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1,168,855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60" b="1">
                          <a:solidFill>
                            <a:srgbClr val="22450C"/>
                          </a:solidFill>
                          <a:latin typeface="Arial"/>
                        </a:rPr>
                        <a:t>Hyper, Option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390, Rs 500 daily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13.91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396,293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669,154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566928" y="4617720"/>
            <a:ext cx="5394960" cy="12344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4617720"/>
            <a:ext cx="45720" cy="12344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72744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Fixed costs and break even</a:t>
            </a:r>
          </a:p>
        </p:txBody>
      </p:sp>
      <p:sp>
        <p:nvSpPr>
          <p:cNvPr id="15" name="TextBox 14"/>
          <p:cNvSpPr txBox="1"/>
          <p:nvPr/>
        </p:nvSpPr>
        <p:spPr>
          <a:xfrm>
            <a:off x="731520" y="5020056"/>
            <a:ext cx="5120640" cy="77724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About Rs 1.32 million a month at launch: two engineers, operations, counsel, accounts, audit, office and software. With the assumed mix of types, costs are covered at about 2,600 active members.</a:t>
            </a:r>
          </a:p>
        </p:txBody>
      </p:sp>
      <p:sp>
        <p:nvSpPr>
          <p:cNvPr id="16" name="Rectangle 15"/>
          <p:cNvSpPr/>
          <p:nvPr/>
        </p:nvSpPr>
        <p:spPr>
          <a:xfrm>
            <a:off x="6236208" y="4617720"/>
            <a:ext cx="5385816" cy="12344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4617720"/>
            <a:ext cx="45720" cy="12344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27448"/>
            <a:ext cx="511149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Prices behind it</a:t>
            </a:r>
          </a:p>
        </p:txBody>
      </p:sp>
      <p:sp>
        <p:nvSpPr>
          <p:cNvPr id="19" name="TextBox 18"/>
          <p:cNvSpPr txBox="1"/>
          <p:nvPr/>
        </p:nvSpPr>
        <p:spPr>
          <a:xfrm>
            <a:off x="6400800" y="5020056"/>
            <a:ext cx="5111496" cy="77724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WhatsApp at US$0.015 a message from 1 October 2026, NADRA and TASDEEQ at planning figures, support at Rs 60,000 an agent a month, and Safepay at 1 per cent capped at Rs 10 under custom pricing.</a:t>
            </a:r>
          </a:p>
        </p:txBody>
      </p:sp>
      <p:sp>
        <p:nvSpPr>
          <p:cNvPr id="20" name="TextBox 19"/>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Every price and its source: Business Model and Unit Costs, sections 3 to 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THE PARTNER’S CHARGE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Safepay’s charge must be per payment, not a percentage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fee is flat. A percentage charge grows with the payment, so on large instalments it would take most of the fee.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20</a:t>
            </a:r>
          </a:p>
        </p:txBody>
      </p:sp>
      <p:sp>
        <p:nvSpPr>
          <p:cNvPr id="10" name="TextBox 9"/>
          <p:cNvSpPr txBox="1"/>
          <p:nvPr/>
        </p:nvSpPr>
        <p:spPr>
          <a:xfrm>
            <a:off x="566928" y="1572768"/>
            <a:ext cx="667512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15   Safepay’s charge on one payment: the target and the published card price</a:t>
            </a:r>
          </a:p>
        </p:txBody>
      </p:sp>
      <p:graphicFrame>
        <p:nvGraphicFramePr>
          <p:cNvPr id="11" name="Table 10"/>
          <p:cNvGraphicFramePr>
            <a:graphicFrameLocks noGrp="1"/>
          </p:cNvGraphicFramePr>
          <p:nvPr/>
        </p:nvGraphicFramePr>
        <p:xfrm>
          <a:off x="566928" y="1828800"/>
          <a:ext cx="6675118" cy="2194560"/>
        </p:xfrm>
        <a:graphic>
          <a:graphicData uri="http://schemas.openxmlformats.org/drawingml/2006/table">
            <a:tbl>
              <a:tblPr>
                <a:tableStyleId>{5C22544A-7EE6-4342-B048-85BDC9FD1C3A}</a:tableStyleId>
              </a:tblPr>
              <a:tblGrid>
                <a:gridCol w="1735531"/>
                <a:gridCol w="934516"/>
                <a:gridCol w="801014"/>
                <a:gridCol w="1134770"/>
                <a:gridCol w="1001268"/>
                <a:gridCol w="1068019"/>
              </a:tblGrid>
              <a:tr h="365760">
                <a:tc>
                  <a:txBody>
                    <a:bodyPr wrap="square"/>
                    <a:lstStyle/>
                    <a:p>
                      <a:pPr algn="l"/>
                      <a:r>
                        <a:rPr sz="900" b="1">
                          <a:solidFill>
                            <a:srgbClr val="F3FCE7"/>
                          </a:solidFill>
                          <a:latin typeface="Arial"/>
                        </a:rPr>
                        <a:t>Committee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Debit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Fee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Target: 1%, capped at Rs 10</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Published card: 2.9% + Rs 30</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Share of fee at the card price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40" b="1">
                          <a:solidFill>
                            <a:srgbClr val="22450C"/>
                          </a:solidFill>
                          <a:latin typeface="Arial"/>
                        </a:rPr>
                        <a:t>Hyper, Option 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450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4.50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43.05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40" b="1">
                          <a:solidFill>
                            <a:srgbClr val="22450C"/>
                          </a:solidFill>
                          <a:latin typeface="Arial"/>
                        </a:rPr>
                        <a:t>Hyper, Option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44.50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40" b="1">
                          <a:solidFill>
                            <a:srgbClr val="22450C"/>
                          </a:solidFill>
                          <a:latin typeface="Arial"/>
                        </a:rPr>
                        <a:t>Known, Rs 2,500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2,600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105.40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105%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40" b="1">
                          <a:solidFill>
                            <a:srgbClr val="22450C"/>
                          </a:solidFill>
                          <a:latin typeface="Arial"/>
                        </a:rPr>
                        <a:t>Unknown, Rs 10,000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11,047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350.35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70%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40" b="1">
                          <a:solidFill>
                            <a:srgbClr val="22450C"/>
                          </a:solidFill>
                          <a:latin typeface="Arial"/>
                        </a:rPr>
                        <a:t>Unknown, Rs 25,000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26,867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809.13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162%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206240"/>
            <a:ext cx="6675120" cy="1097280"/>
          </a:xfrm>
          <a:prstGeom prst="rect">
            <a:avLst/>
          </a:prstGeom>
          <a:noFill/>
        </p:spPr>
        <p:txBody>
          <a:bodyPr wrap="square" lIns="0" rIns="0" tIns="0" bIns="0" anchor="t">
            <a:spAutoFit/>
          </a:bodyPr>
          <a:lstStyle/>
          <a:p>
            <a:pPr algn="l">
              <a:lnSpc>
                <a:spcPct val="114000"/>
              </a:lnSpc>
              <a:spcAft>
                <a:spcPts val="400"/>
              </a:spcAft>
            </a:pPr>
            <a:r>
              <a:rPr sz="980" b="0" i="0">
                <a:solidFill>
                  <a:srgbClr val="0C1408"/>
                </a:solidFill>
                <a:latin typeface="Arial"/>
              </a:rPr>
              <a:t>The debit includes the contribution, any takaful contribution and the fee. Safepay publishes 2.9 per cent plus Rs 30 for a card charge and 1.5 per cent for wallets and Raast, and offers custom pricing for large volumes (getsafepay.pk, 25 September 2026).</a:t>
            </a:r>
          </a:p>
        </p:txBody>
      </p:sp>
      <p:sp>
        <p:nvSpPr>
          <p:cNvPr id="13" name="Rectangle 12"/>
          <p:cNvSpPr/>
          <p:nvPr/>
        </p:nvSpPr>
        <p:spPr>
          <a:xfrm>
            <a:off x="7562088" y="1828800"/>
            <a:ext cx="4059936" cy="1920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62088" y="1828800"/>
            <a:ext cx="45720" cy="1920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80" y="193852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Target terms</a:t>
            </a:r>
          </a:p>
        </p:txBody>
      </p:sp>
      <p:sp>
        <p:nvSpPr>
          <p:cNvPr id="16" name="TextBox 15"/>
          <p:cNvSpPr txBox="1"/>
          <p:nvPr/>
        </p:nvSpPr>
        <p:spPr>
          <a:xfrm>
            <a:off x="7726680" y="2231136"/>
            <a:ext cx="3785616" cy="146304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A fixed charge per debit of 1 per cent capped at Rs 10, under Safepay’s custom pricing.</a:t>
            </a:r>
          </a:p>
          <a:p>
            <a:pPr algn="l">
              <a:lnSpc>
                <a:spcPct val="112000"/>
              </a:lnSpc>
              <a:spcAft>
                <a:spcPts val="500"/>
              </a:spcAft>
            </a:pPr>
            <a:r>
              <a:rPr sz="1000" b="0" i="0">
                <a:solidFill>
                  <a:srgbClr val="0C1408"/>
                </a:solidFill>
                <a:latin typeface="Arial"/>
              </a:rPr>
              <a:t>Split settlement of each contribution to the collecting member.</a:t>
            </a:r>
          </a:p>
        </p:txBody>
      </p:sp>
      <p:sp>
        <p:nvSpPr>
          <p:cNvPr id="17" name="Rectangle 16"/>
          <p:cNvSpPr/>
          <p:nvPr/>
        </p:nvSpPr>
        <p:spPr>
          <a:xfrm>
            <a:off x="7562088" y="3886200"/>
            <a:ext cx="4059936" cy="1874519"/>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62088" y="3886200"/>
            <a:ext cx="45720" cy="1874519"/>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26680" y="399592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What is at stake</a:t>
            </a:r>
          </a:p>
        </p:txBody>
      </p:sp>
      <p:sp>
        <p:nvSpPr>
          <p:cNvPr id="20" name="TextBox 19"/>
          <p:cNvSpPr txBox="1"/>
          <p:nvPr/>
        </p:nvSpPr>
        <p:spPr>
          <a:xfrm>
            <a:off x="7726680" y="4288536"/>
            <a:ext cx="3785616" cy="1417319"/>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At the published card price the family circle and the large unknown circle would lose money, the unknown circle would keep 31 per cent of its margin and Hyper less than half.</a:t>
            </a:r>
          </a:p>
        </p:txBody>
      </p:sp>
      <p:sp>
        <p:nvSpPr>
          <p:cNvPr id="21" name="TextBox 20"/>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Source: Business Model and Unit Costs, section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REVENUE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Where the revenue comes from</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Every source is a charge for a service or a commission from a licensed counterparty. None is a share of money passing between members.</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21</a:t>
            </a:r>
          </a:p>
        </p:txBody>
      </p:sp>
      <p:sp>
        <p:nvSpPr>
          <p:cNvPr id="10" name="TextBox 9"/>
          <p:cNvSpPr txBox="1"/>
          <p:nvPr/>
        </p:nvSpPr>
        <p:spPr>
          <a:xfrm>
            <a:off x="566928" y="1572768"/>
            <a:ext cx="667512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16   Revenue sources and the stage at which each opens</a:t>
            </a:r>
          </a:p>
        </p:txBody>
      </p:sp>
      <p:graphicFrame>
        <p:nvGraphicFramePr>
          <p:cNvPr id="11" name="Table 10"/>
          <p:cNvGraphicFramePr>
            <a:graphicFrameLocks noGrp="1"/>
          </p:cNvGraphicFramePr>
          <p:nvPr/>
        </p:nvGraphicFramePr>
        <p:xfrm>
          <a:off x="566928" y="1828800"/>
          <a:ext cx="6675119" cy="2962656"/>
        </p:xfrm>
        <a:graphic>
          <a:graphicData uri="http://schemas.openxmlformats.org/drawingml/2006/table">
            <a:tbl>
              <a:tblPr>
                <a:tableStyleId>{5C22544A-7EE6-4342-B048-85BDC9FD1C3A}</a:tableStyleId>
              </a:tblPr>
              <a:tblGrid>
                <a:gridCol w="1668780"/>
                <a:gridCol w="3804818"/>
                <a:gridCol w="1201521"/>
              </a:tblGrid>
              <a:tr h="329184">
                <a:tc>
                  <a:txBody>
                    <a:bodyPr wrap="square"/>
                    <a:lstStyle/>
                    <a:p>
                      <a:pPr algn="l"/>
                      <a:r>
                        <a:rPr sz="900" b="1">
                          <a:solidFill>
                            <a:srgbClr val="F3FCE7"/>
                          </a:solidFill>
                          <a:latin typeface="Arial"/>
                        </a:rPr>
                        <a:t>Source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Basis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Stage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Service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Flat per instalment, by instalment size and roster size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Fill uplift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Where Halqa rather than the host completes a roster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Rehabilitation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Where a defaulted position is restored at the member’s request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Agency commission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From the takaful operator, about 15 per cent of contributions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Distribution commission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From the asset manager on savings subscriptions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Asset committee referral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2 to 4% of the asset price, from the modaraba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Later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Aggregate insight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Sold without identifying any member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Later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White label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The service licensed to a licensed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Later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7562088" y="1828800"/>
            <a:ext cx="4059936" cy="17373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62088" y="1828800"/>
            <a:ext cx="45720" cy="17373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80" y="193852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Deliberately absent</a:t>
            </a:r>
          </a:p>
        </p:txBody>
      </p:sp>
      <p:sp>
        <p:nvSpPr>
          <p:cNvPr id="15" name="TextBox 14"/>
          <p:cNvSpPr txBox="1"/>
          <p:nvPr/>
        </p:nvSpPr>
        <p:spPr>
          <a:xfrm>
            <a:off x="7726680" y="2231136"/>
            <a:ext cx="3785616" cy="12801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No share of any amount between members, no interest, no rate, no discount on a payout, no share of fund profit, and no float income, because nothing is held.</a:t>
            </a:r>
          </a:p>
        </p:txBody>
      </p:sp>
      <p:sp>
        <p:nvSpPr>
          <p:cNvPr id="16" name="Rectangle 15"/>
          <p:cNvSpPr/>
          <p:nvPr/>
        </p:nvSpPr>
        <p:spPr>
          <a:xfrm>
            <a:off x="7562088" y="3703320"/>
            <a:ext cx="4059936" cy="2057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62088" y="3703320"/>
            <a:ext cx="45720" cy="2057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80" y="381304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Points and waivers</a:t>
            </a:r>
          </a:p>
        </p:txBody>
      </p:sp>
      <p:sp>
        <p:nvSpPr>
          <p:cNvPr id="19" name="TextBox 18"/>
          <p:cNvSpPr txBox="1"/>
          <p:nvPr/>
        </p:nvSpPr>
        <p:spPr>
          <a:xfrm>
            <a:off x="7726680" y="4105656"/>
            <a:ext cx="3785616" cy="160020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Issued by Halqa to members in later seats, in place of any payment from other members. Funded from the service fee and booked as a liability when issued. Members also earn 60 points for each instalment paid on time and 100 more for five in a row. Ten points pay one rupee of a later fee, and members may pay points to one another as the price of a seat. Points never leave Halqa (HQ-CP-04).</a:t>
            </a:r>
          </a:p>
        </p:txBody>
      </p:sp>
      <p:sp>
        <p:nvSpPr>
          <p:cNvPr id="20" name="TextBox 19"/>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Business Model and Unit Costs, section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TIMELINE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From a standing start to live money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Engineering is not the constraint. The registration path is.</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22</a:t>
            </a:r>
          </a:p>
        </p:txBody>
      </p:sp>
      <p:sp>
        <p:nvSpPr>
          <p:cNvPr id="10" name="TextBox 9"/>
          <p:cNvSpPr txBox="1"/>
          <p:nvPr/>
        </p:nvSpPr>
        <p:spPr>
          <a:xfrm>
            <a:off x="566928" y="1572768"/>
            <a:ext cx="749807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17   Launch timeline, in days</a:t>
            </a:r>
          </a:p>
        </p:txBody>
      </p:sp>
      <p:graphicFrame>
        <p:nvGraphicFramePr>
          <p:cNvPr id="11" name="Table 10"/>
          <p:cNvGraphicFramePr>
            <a:graphicFrameLocks noGrp="1"/>
          </p:cNvGraphicFramePr>
          <p:nvPr/>
        </p:nvGraphicFramePr>
        <p:xfrm>
          <a:off x="566928" y="1828800"/>
          <a:ext cx="7498077" cy="3950208"/>
        </p:xfrm>
        <a:graphic>
          <a:graphicData uri="http://schemas.openxmlformats.org/drawingml/2006/table">
            <a:tbl>
              <a:tblPr>
                <a:tableStyleId>{5C22544A-7EE6-4342-B048-85BDC9FD1C3A}</a:tableStyleId>
              </a:tblPr>
              <a:tblGrid>
                <a:gridCol w="2549346"/>
                <a:gridCol w="1199692"/>
                <a:gridCol w="3749039"/>
              </a:tblGrid>
              <a:tr h="329184">
                <a:tc>
                  <a:txBody>
                    <a:bodyPr wrap="square"/>
                    <a:lstStyle/>
                    <a:p>
                      <a:pPr algn="l"/>
                      <a:r>
                        <a:rPr sz="880" b="1">
                          <a:solidFill>
                            <a:srgbClr val="F3FCE7"/>
                          </a:solidFill>
                          <a:latin typeface="Arial"/>
                        </a:rPr>
                        <a:t>Step</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Days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Notes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SECP incorporation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2 to 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Start immediately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National Tax Number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 to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Automatic after incorporation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Islamabad sales tax on services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3 to 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In parallel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Company bank account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7 to 14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The longest step in registration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Safepay application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Requires the certificate, the tax number and the bank account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Safepay approval and terms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14 to 21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Split settlement and custom pricing are the largest unknowns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Integration testing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10 to 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Saved cards, charges, webhooks and the settlement file in Safepay’s sandbox</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Integration and live credentials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5 to 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Overlaps approval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Standard circles live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30 to 45, up to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75 if the partner’s notice starts only when Halqa signs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Takaful agency agreement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28 to 56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Cannot start before the company exists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Hyper live, once cover is in place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75 to 90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Without cover, default risk would sit on Halqa’s balance sheet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8339328" y="1828800"/>
            <a:ext cx="3282696" cy="2743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39328" y="1828800"/>
            <a:ext cx="45720" cy="2743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938528"/>
            <a:ext cx="30083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engineering</a:t>
            </a:r>
          </a:p>
        </p:txBody>
      </p:sp>
      <p:sp>
        <p:nvSpPr>
          <p:cNvPr id="15" name="TextBox 14"/>
          <p:cNvSpPr txBox="1"/>
          <p:nvPr/>
        </p:nvSpPr>
        <p:spPr>
          <a:xfrm>
            <a:off x="8503920" y="2231136"/>
            <a:ext cx="3008376" cy="228600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code changes set out in section 02, the partner adapter, the mandate lifecycle, reconciliation and the blocking platform gaps together run about three weeks, inside the registration path.</a:t>
            </a:r>
          </a:p>
        </p:txBody>
      </p:sp>
      <p:sp>
        <p:nvSpPr>
          <p:cNvPr id="16" name="TextBox 15"/>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Registrations and Licences Required (HQ-LD-01).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04</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Hyper</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A daily product in two fixed configurations, for members with daily income.</a:t>
            </a:r>
          </a:p>
          <a:p>
            <a:pPr algn="l">
              <a:lnSpc>
                <a:spcPct val="110000"/>
              </a:lnSpc>
              <a:spcAft>
                <a:spcPts val="700"/>
              </a:spcAft>
            </a:pPr>
            <a:r>
              <a:rPr sz="1220" b="0" i="0">
                <a:solidFill>
                  <a:srgbClr val="D2E2C6"/>
                </a:solidFill>
                <a:latin typeface="Arial"/>
              </a:rPr>
              <a:t>Each day’s payers pay that day’s collectors directly, so no party holds a pool.</a:t>
            </a:r>
          </a:p>
          <a:p>
            <a:pPr algn="l">
              <a:lnSpc>
                <a:spcPct val="110000"/>
              </a:lnSpc>
              <a:spcAft>
                <a:spcPts val="700"/>
              </a:spcAft>
            </a:pPr>
            <a:r>
              <a:rPr sz="1220" b="0" i="0">
                <a:solidFill>
                  <a:srgbClr val="D2E2C6"/>
                </a:solidFill>
                <a:latin typeface="Arial"/>
              </a:rPr>
              <a:t>The arithmetic is set out in full in the maths documents HQ-MF-01 and HQ-MF-05.</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Two configurations, each balanced at source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Two identities govern every rotating committee. A configuration that breaks either is refused at creation.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24</a:t>
            </a:r>
          </a:p>
        </p:txBody>
      </p:sp>
      <p:sp>
        <p:nvSpPr>
          <p:cNvPr id="10" name="TextBox 9"/>
          <p:cNvSpPr txBox="1"/>
          <p:nvPr/>
        </p:nvSpPr>
        <p:spPr>
          <a:xfrm>
            <a:off x="566928" y="1554480"/>
            <a:ext cx="11057839"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pot = contribution × days          roster = members collecting each day × days</a:t>
            </a:r>
          </a:p>
        </p:txBody>
      </p:sp>
      <p:sp>
        <p:nvSpPr>
          <p:cNvPr id="11" name="TextBox 10"/>
          <p:cNvSpPr txBox="1"/>
          <p:nvPr/>
        </p:nvSpPr>
        <p:spPr>
          <a:xfrm>
            <a:off x="566928" y="2011680"/>
            <a:ext cx="69494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18   The two configurations</a:t>
            </a:r>
          </a:p>
        </p:txBody>
      </p:sp>
      <p:graphicFrame>
        <p:nvGraphicFramePr>
          <p:cNvPr id="12" name="Table 11"/>
          <p:cNvGraphicFramePr>
            <a:graphicFrameLocks noGrp="1"/>
          </p:cNvGraphicFramePr>
          <p:nvPr/>
        </p:nvGraphicFramePr>
        <p:xfrm>
          <a:off x="566928" y="2249424"/>
          <a:ext cx="6949439" cy="3456432"/>
        </p:xfrm>
        <a:graphic>
          <a:graphicData uri="http://schemas.openxmlformats.org/drawingml/2006/table">
            <a:tbl>
              <a:tblPr>
                <a:tableStyleId>{5C22544A-7EE6-4342-B048-85BDC9FD1C3A}</a:tableStyleId>
              </a:tblPr>
              <a:tblGrid>
                <a:gridCol w="2501798"/>
                <a:gridCol w="2084832"/>
                <a:gridCol w="2362809"/>
              </a:tblGrid>
              <a:tr h="288036">
                <a:tc>
                  <a:txBody>
                    <a:bodyPr wrap="square"/>
                    <a:lstStyle/>
                    <a:p>
                      <a:pPr algn="l"/>
                      <a:r>
                        <a:rPr sz="900" b="1">
                          <a:solidFill>
                            <a:srgbClr val="F3FCE7"/>
                          </a:solidFill>
                          <a:latin typeface="Arial"/>
                        </a:rPr>
                        <a:t>Parameter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 days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26 active days, Sundays excluded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Roster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400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390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Collecting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Paid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450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Contribution, takaful,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300 / 75 /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333.33 / 83.33 /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Pot, collected once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8,666.67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Identity 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300 × 50 =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333.33 × 26 = 8,666.67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Identity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 × 50 = 400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15 × 26 = 390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Paid in over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22,500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13,000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Cycle value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6,000,000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3,380,000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Monthly commitment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13,500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13,000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3" name="Rectangle 12"/>
          <p:cNvSpPr/>
          <p:nvPr/>
        </p:nvSpPr>
        <p:spPr>
          <a:xfrm>
            <a:off x="7836408" y="2249424"/>
            <a:ext cx="3785615" cy="17373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36408" y="2249424"/>
            <a:ext cx="45720" cy="17373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359152"/>
            <a:ext cx="3511295"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390 on Option 2</a:t>
            </a:r>
          </a:p>
        </p:txBody>
      </p:sp>
      <p:sp>
        <p:nvSpPr>
          <p:cNvPr id="16" name="TextBox 15"/>
          <p:cNvSpPr txBox="1"/>
          <p:nvPr/>
        </p:nvSpPr>
        <p:spPr>
          <a:xfrm>
            <a:off x="8001000" y="2651760"/>
            <a:ext cx="3511295" cy="12801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400 does not divide into 26 days. At 390 the roster gives exactly 15 collecting each day and reproduces the Rs 8,666.67 pot precisely.</a:t>
            </a:r>
          </a:p>
        </p:txBody>
      </p:sp>
      <p:sp>
        <p:nvSpPr>
          <p:cNvPr id="17" name="Rectangle 16"/>
          <p:cNvSpPr/>
          <p:nvPr/>
        </p:nvSpPr>
        <p:spPr>
          <a:xfrm>
            <a:off x="7836408" y="4114800"/>
            <a:ext cx="3785615"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36408" y="4114800"/>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4224528"/>
            <a:ext cx="3511295"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What sits outside the pot</a:t>
            </a:r>
          </a:p>
        </p:txBody>
      </p:sp>
      <p:sp>
        <p:nvSpPr>
          <p:cNvPr id="20" name="TextBox 19"/>
          <p:cNvSpPr txBox="1"/>
          <p:nvPr/>
        </p:nvSpPr>
        <p:spPr>
          <a:xfrm>
            <a:off x="8001000" y="4517136"/>
            <a:ext cx="3511295" cy="11430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The takaful contribution and the service fee never enter the pot. Identity 1 holds on the contribution alone.</a:t>
            </a:r>
          </a:p>
        </p:txBody>
      </p:sp>
      <p:cxnSp>
        <p:nvCxnSpPr>
          <p:cNvPr id="21" name="Connector 20"/>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TO BUILD  ·  AGENT  ·  SOURCE: HYPER COMMITTEE (HQ-CP-08), SECTIONS 1 AND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Daily settlement without a pool</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day the members who are not collecting are divided among that day’s collectors, and each pays one collector directly.</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25</a:t>
            </a:r>
          </a:p>
        </p:txBody>
      </p:sp>
      <p:sp>
        <p:nvSpPr>
          <p:cNvPr id="10" name="TextBox 9"/>
          <p:cNvSpPr txBox="1"/>
          <p:nvPr/>
        </p:nvSpPr>
        <p:spPr>
          <a:xfrm>
            <a:off x="566928" y="1572768"/>
            <a:ext cx="585216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19   One day of settlement</a:t>
            </a:r>
          </a:p>
        </p:txBody>
      </p:sp>
      <p:graphicFrame>
        <p:nvGraphicFramePr>
          <p:cNvPr id="11" name="Table 10"/>
          <p:cNvGraphicFramePr>
            <a:graphicFrameLocks noGrp="1"/>
          </p:cNvGraphicFramePr>
          <p:nvPr/>
        </p:nvGraphicFramePr>
        <p:xfrm>
          <a:off x="566928" y="1828800"/>
          <a:ext cx="5852160" cy="2432304"/>
        </p:xfrm>
        <a:graphic>
          <a:graphicData uri="http://schemas.openxmlformats.org/drawingml/2006/table">
            <a:tbl>
              <a:tblPr>
                <a:tableStyleId>{5C22544A-7EE6-4342-B048-85BDC9FD1C3A}</a:tableStyleId>
              </a:tblPr>
              <a:tblGrid>
                <a:gridCol w="2340864"/>
                <a:gridCol w="1755648"/>
                <a:gridCol w="1755648"/>
              </a:tblGrid>
              <a:tr h="347472">
                <a:tc>
                  <a:txBody>
                    <a:bodyPr wrap="square"/>
                    <a:lstStyle/>
                    <a:p>
                      <a:pPr algn="l"/>
                      <a:r>
                        <a:rPr sz="900" b="1">
                          <a:solidFill>
                            <a:srgbClr val="F3FCE7"/>
                          </a:solidFill>
                          <a:latin typeface="Arial"/>
                        </a:rPr>
                        <a:t>Quantity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Paying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392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Collectors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Payers assigned to each collector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392 ÷ 8 = 49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375 ÷ 15 = 25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Received from assigned payers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49 × Rs 300 = Rs 14,700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25 × Rs 333.33 = Rs 8,333.33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Collector’s own contribution, set off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333.33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Pot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8,666.67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434840"/>
            <a:ext cx="5852160" cy="1280160"/>
          </a:xfrm>
          <a:prstGeom prst="rect">
            <a:avLst/>
          </a:prstGeom>
          <a:noFill/>
        </p:spPr>
        <p:txBody>
          <a:bodyPr wrap="square" lIns="0" rIns="0" tIns="0" bIns="0" anchor="t">
            <a:spAutoFit/>
          </a:bodyPr>
          <a:lstStyle/>
          <a:p>
            <a:pPr algn="l">
              <a:lnSpc>
                <a:spcPct val="114000"/>
              </a:lnSpc>
              <a:spcAft>
                <a:spcPts val="400"/>
              </a:spcAft>
            </a:pPr>
            <a:r>
              <a:rPr sz="980" b="0" i="0">
                <a:solidFill>
                  <a:srgbClr val="0C1408"/>
                </a:solidFill>
                <a:latin typeface="Arial"/>
              </a:rPr>
              <a:t>Both configurations divide exactly. Every collector receives the full pot from named members, and no day’s money is held by Halqa, by the partner or by anyone else. A payment company “will not act as custodian of consumer’s money” (PSO/PSP Rules 2014, rule 6.5); this design never asks one to.</a:t>
            </a:r>
          </a:p>
        </p:txBody>
      </p:sp>
      <p:sp>
        <p:nvSpPr>
          <p:cNvPr id="13" name="TextBox 12"/>
          <p:cNvSpPr txBox="1"/>
          <p:nvPr/>
        </p:nvSpPr>
        <p:spPr>
          <a:xfrm>
            <a:off x="6784848" y="1572768"/>
            <a:ext cx="48463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fee on Hyper</a:t>
            </a:r>
          </a:p>
        </p:txBody>
      </p:sp>
      <p:sp>
        <p:nvSpPr>
          <p:cNvPr id="14" name="TextBox 13"/>
          <p:cNvSpPr txBox="1"/>
          <p:nvPr/>
        </p:nvSpPr>
        <p:spPr>
          <a:xfrm>
            <a:off x="6784848" y="1920240"/>
            <a:ext cx="4846320" cy="365760"/>
          </a:xfrm>
          <a:prstGeom prst="rect">
            <a:avLst/>
          </a:prstGeom>
          <a:noFill/>
        </p:spPr>
        <p:txBody>
          <a:bodyPr wrap="square" lIns="0" rIns="0" tIns="0" bIns="0">
            <a:spAutoFit/>
          </a:bodyPr>
          <a:lstStyle/>
          <a:p>
            <a:pPr>
              <a:lnSpc>
                <a:spcPct val="105000"/>
              </a:lnSpc>
              <a:spcAft>
                <a:spcPts val="700"/>
              </a:spcAft>
            </a:pPr>
            <a:r>
              <a:rPr sz="980" b="1">
                <a:solidFill>
                  <a:srgbClr val="6DC72A"/>
                </a:solidFill>
                <a:latin typeface="Georgia"/>
              </a:rPr>
              <a:t>|  </a:t>
            </a:r>
            <a:r>
              <a:rPr sz="980" b="1">
                <a:solidFill>
                  <a:srgbClr val="22450C"/>
                </a:solidFill>
                <a:latin typeface="Arial"/>
              </a:rPr>
              <a:t>Paid to Halqa and to no member.  </a:t>
            </a:r>
            <a:r>
              <a:rPr sz="980">
                <a:solidFill>
                  <a:srgbClr val="0C1408"/>
                </a:solidFill>
                <a:latin typeface="Arial"/>
              </a:rPr>
              <a:t>Company revenue for the committee service.</a:t>
            </a:r>
          </a:p>
          <a:p>
            <a:pPr>
              <a:lnSpc>
                <a:spcPct val="105000"/>
              </a:lnSpc>
              <a:spcAft>
                <a:spcPts val="700"/>
              </a:spcAft>
            </a:pPr>
            <a:r>
              <a:rPr sz="980" b="1">
                <a:solidFill>
                  <a:srgbClr val="6DC72A"/>
                </a:solidFill>
                <a:latin typeface="Georgia"/>
              </a:rPr>
              <a:t>|  </a:t>
            </a:r>
            <a:r>
              <a:rPr sz="980" b="1">
                <a:solidFill>
                  <a:srgbClr val="22450C"/>
                </a:solidFill>
                <a:latin typeface="Arial"/>
              </a:rPr>
              <a:t>Never for distributing cover.  </a:t>
            </a:r>
            <a:r>
              <a:rPr sz="980">
                <a:solidFill>
                  <a:srgbClr val="0C1408"/>
                </a:solidFill>
                <a:latin typeface="Arial"/>
              </a:rPr>
              <a:t>An agent “shall not charge, to the policyholder, any service fee” unless the insurer includes it in the premium (reg 8(3)).</a:t>
            </a:r>
          </a:p>
          <a:p>
            <a:pPr>
              <a:lnSpc>
                <a:spcPct val="105000"/>
              </a:lnSpc>
              <a:spcAft>
                <a:spcPts val="700"/>
              </a:spcAft>
            </a:pPr>
            <a:r>
              <a:rPr sz="980" b="1">
                <a:solidFill>
                  <a:srgbClr val="6DC72A"/>
                </a:solidFill>
                <a:latin typeface="Georgia"/>
              </a:rPr>
              <a:t>|  </a:t>
            </a:r>
            <a:r>
              <a:rPr sz="980" b="1">
                <a:solidFill>
                  <a:srgbClr val="22450C"/>
                </a:solidFill>
                <a:latin typeface="Arial"/>
              </a:rPr>
              <a:t>Flat across the roster.  </a:t>
            </a:r>
            <a:r>
              <a:rPr sz="980">
                <a:solidFill>
                  <a:srgbClr val="0C1408"/>
                </a:solidFill>
                <a:latin typeface="Arial"/>
              </a:rPr>
              <a:t>A fee graded by collection day would read as interest.</a:t>
            </a:r>
          </a:p>
          <a:p>
            <a:pPr>
              <a:lnSpc>
                <a:spcPct val="105000"/>
              </a:lnSpc>
              <a:spcAft>
                <a:spcPts val="700"/>
              </a:spcAft>
            </a:pPr>
            <a:r>
              <a:rPr sz="980" b="1">
                <a:solidFill>
                  <a:srgbClr val="6DC72A"/>
                </a:solidFill>
                <a:latin typeface="Georgia"/>
              </a:rPr>
              <a:t>|  </a:t>
            </a:r>
            <a:r>
              <a:rPr sz="980" b="1">
                <a:solidFill>
                  <a:srgbClr val="22450C"/>
                </a:solidFill>
                <a:latin typeface="Arial"/>
              </a:rPr>
              <a:t>Later seats compensated by Halqa.  </a:t>
            </a:r>
            <a:r>
              <a:rPr sz="980">
                <a:solidFill>
                  <a:srgbClr val="0C1408"/>
                </a:solidFill>
                <a:latin typeface="Arial"/>
              </a:rPr>
              <a:t>Points and fee waivers from Halqa’s own revenue.</a:t>
            </a:r>
          </a:p>
          <a:p>
            <a:pPr>
              <a:lnSpc>
                <a:spcPct val="105000"/>
              </a:lnSpc>
              <a:spcAft>
                <a:spcPts val="700"/>
              </a:spcAft>
            </a:pPr>
            <a:r>
              <a:rPr sz="980" b="1">
                <a:solidFill>
                  <a:srgbClr val="6DC72A"/>
                </a:solidFill>
                <a:latin typeface="Georgia"/>
              </a:rPr>
              <a:t>|  </a:t>
            </a:r>
            <a:r>
              <a:rPr sz="980" b="1">
                <a:solidFill>
                  <a:srgbClr val="22450C"/>
                </a:solidFill>
                <a:latin typeface="Arial"/>
              </a:rPr>
              <a:t>No auction, no bidding, no rate.  </a:t>
            </a:r>
            <a:r>
              <a:rPr sz="980">
                <a:solidFill>
                  <a:srgbClr val="0C1408"/>
                </a:solidFill>
                <a:latin typeface="Arial"/>
              </a:rPr>
              <a:t>A price discovered between members creates a lender and a borrower.</a:t>
            </a:r>
          </a:p>
          <a:p>
            <a:pPr>
              <a:lnSpc>
                <a:spcPct val="105000"/>
              </a:lnSpc>
              <a:spcAft>
                <a:spcPts val="700"/>
              </a:spcAft>
            </a:pPr>
            <a:r>
              <a:rPr sz="980" b="1">
                <a:solidFill>
                  <a:srgbClr val="6DC72A"/>
                </a:solidFill>
                <a:latin typeface="Georgia"/>
              </a:rPr>
              <a:t>|  </a:t>
            </a:r>
            <a:r>
              <a:rPr sz="980" b="1">
                <a:solidFill>
                  <a:srgbClr val="22450C"/>
                </a:solidFill>
                <a:latin typeface="Arial"/>
              </a:rPr>
              <a:t>Discounts.  </a:t>
            </a:r>
            <a:r>
              <a:rPr sz="980">
                <a:solidFill>
                  <a:srgbClr val="0C1408"/>
                </a:solidFill>
                <a:latin typeface="Arial"/>
              </a:rPr>
              <a:t>Guarantee cheque 80 per cent off; verified income 50 per cent off; the largest applies.</a:t>
            </a:r>
          </a:p>
        </p:txBody>
      </p:sp>
      <p:sp>
        <p:nvSpPr>
          <p:cNvPr id="15" name="TextBox 14"/>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Hyper Committee (HQ-CP-08), sections 4 and 5. Grace after the daily due time is 12 hours.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Cover is written by a licensed takaful operator</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Section 5(1) of the Insurance Ordinance 2000 admits only a public company as insurer, so the cover is bought from an operator and never written by Halqa.</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26</a:t>
            </a:r>
          </a:p>
        </p:txBody>
      </p:sp>
      <p:sp>
        <p:nvSpPr>
          <p:cNvPr id="10" name="TextBox 9"/>
          <p:cNvSpPr txBox="1"/>
          <p:nvPr/>
        </p:nvSpPr>
        <p:spPr>
          <a:xfrm>
            <a:off x="566928" y="1572768"/>
            <a:ext cx="548640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20   The risk fund over one cycle</a:t>
            </a:r>
          </a:p>
        </p:txBody>
      </p:sp>
      <p:graphicFrame>
        <p:nvGraphicFramePr>
          <p:cNvPr id="11" name="Table 10"/>
          <p:cNvGraphicFramePr>
            <a:graphicFrameLocks noGrp="1"/>
          </p:cNvGraphicFramePr>
          <p:nvPr/>
        </p:nvGraphicFramePr>
        <p:xfrm>
          <a:off x="566928" y="1828800"/>
          <a:ext cx="5486400" cy="1975104"/>
        </p:xfrm>
        <a:graphic>
          <a:graphicData uri="http://schemas.openxmlformats.org/drawingml/2006/table">
            <a:tbl>
              <a:tblPr>
                <a:tableStyleId>{5C22544A-7EE6-4342-B048-85BDC9FD1C3A}</a:tableStyleId>
              </a:tblPr>
              <a:tblGrid>
                <a:gridCol w="2523744"/>
                <a:gridCol w="1481328"/>
                <a:gridCol w="1481328"/>
              </a:tblGrid>
              <a:tr h="329184">
                <a:tc>
                  <a:txBody>
                    <a:bodyPr wrap="square"/>
                    <a:lstStyle/>
                    <a:p>
                      <a:pPr algn="l"/>
                      <a:r>
                        <a:rPr sz="900" b="1">
                          <a:solidFill>
                            <a:srgbClr val="F3FCE7"/>
                          </a:solidFill>
                          <a:latin typeface="Arial"/>
                        </a:rPr>
                        <a:t>Fund figure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Contribution per member per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Contribution per member per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2,166.67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Fund built over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845,000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Default rate the fund covers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Operator’s commission to Halqa at 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225,000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126,750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3977639"/>
            <a:ext cx="548640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21   Expected loss and the cover it requires</a:t>
            </a:r>
          </a:p>
        </p:txBody>
      </p:sp>
      <p:graphicFrame>
        <p:nvGraphicFramePr>
          <p:cNvPr id="13" name="Table 12"/>
          <p:cNvGraphicFramePr>
            <a:graphicFrameLocks noGrp="1"/>
          </p:cNvGraphicFramePr>
          <p:nvPr/>
        </p:nvGraphicFramePr>
        <p:xfrm>
          <a:off x="566928" y="4206240"/>
          <a:ext cx="5486400" cy="1371600"/>
        </p:xfrm>
        <a:graphic>
          <a:graphicData uri="http://schemas.openxmlformats.org/drawingml/2006/table">
            <a:tbl>
              <a:tblPr>
                <a:tableStyleId>{5C22544A-7EE6-4342-B048-85BDC9FD1C3A}</a:tableStyleId>
              </a:tblPr>
              <a:tblGrid>
                <a:gridCol w="1097280"/>
                <a:gridCol w="1207008"/>
                <a:gridCol w="987552"/>
                <a:gridCol w="1207008"/>
                <a:gridCol w="987552"/>
              </a:tblGrid>
              <a:tr h="274320">
                <a:tc>
                  <a:txBody>
                    <a:bodyPr wrap="square"/>
                    <a:lstStyle/>
                    <a:p>
                      <a:pPr algn="l"/>
                      <a:r>
                        <a:rPr sz="900" b="1">
                          <a:solidFill>
                            <a:srgbClr val="F3FCE7"/>
                          </a:solidFill>
                          <a:latin typeface="Arial"/>
                        </a:rPr>
                        <a:t>Default rate p</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 loss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Cover a day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 loss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Cover a day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300,000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169,000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30%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900,000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45.00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507,000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1,500,000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75.00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845,000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3,000,000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1,690,000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4" name="TextBox 13"/>
          <p:cNvSpPr txBox="1"/>
          <p:nvPr/>
        </p:nvSpPr>
        <p:spPr>
          <a:xfrm>
            <a:off x="6419088" y="1572768"/>
            <a:ext cx="521208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agent’s obligations</a:t>
            </a:r>
          </a:p>
        </p:txBody>
      </p:sp>
      <p:sp>
        <p:nvSpPr>
          <p:cNvPr id="15" name="TextBox 14"/>
          <p:cNvSpPr txBox="1"/>
          <p:nvPr/>
        </p:nvSpPr>
        <p:spPr>
          <a:xfrm>
            <a:off x="6419088" y="1920240"/>
            <a:ext cx="5212080" cy="365760"/>
          </a:xfrm>
          <a:prstGeom prst="rect">
            <a:avLst/>
          </a:prstGeom>
          <a:noFill/>
        </p:spPr>
        <p:txBody>
          <a:bodyPr wrap="square" lIns="0" rIns="0" tIns="0" bIns="0">
            <a:spAutoFit/>
          </a:bodyPr>
          <a:lstStyle/>
          <a:p>
            <a:pPr>
              <a:lnSpc>
                <a:spcPct val="105000"/>
              </a:lnSpc>
              <a:spcAft>
                <a:spcPts val="700"/>
              </a:spcAft>
            </a:pPr>
            <a:r>
              <a:rPr sz="960" b="1">
                <a:solidFill>
                  <a:srgbClr val="6DC72A"/>
                </a:solidFill>
                <a:latin typeface="Georgia"/>
              </a:rPr>
              <a:t>|  </a:t>
            </a:r>
            <a:r>
              <a:rPr sz="960" b="1">
                <a:solidFill>
                  <a:srgbClr val="22450C"/>
                </a:solidFill>
                <a:latin typeface="Arial"/>
              </a:rPr>
              <a:t>Gross premium.  </a:t>
            </a:r>
            <a:r>
              <a:rPr sz="960">
                <a:solidFill>
                  <a:srgbClr val="0C1408"/>
                </a:solidFill>
                <a:latin typeface="Arial"/>
              </a:rPr>
              <a:t>Passed to the operator in full; the agent “shall not retain any part of the insurance premium” (reg 5(4)).</a:t>
            </a:r>
          </a:p>
          <a:p>
            <a:pPr>
              <a:lnSpc>
                <a:spcPct val="105000"/>
              </a:lnSpc>
              <a:spcAft>
                <a:spcPts val="700"/>
              </a:spcAft>
            </a:pPr>
            <a:r>
              <a:rPr sz="960" b="1">
                <a:solidFill>
                  <a:srgbClr val="6DC72A"/>
                </a:solidFill>
                <a:latin typeface="Georgia"/>
              </a:rPr>
              <a:t>|  </a:t>
            </a:r>
            <a:r>
              <a:rPr sz="960" b="1">
                <a:solidFill>
                  <a:srgbClr val="22450C"/>
                </a:solidFill>
                <a:latin typeface="Arial"/>
              </a:rPr>
              <a:t>Commission.  </a:t>
            </a:r>
            <a:r>
              <a:rPr sz="960">
                <a:solidFill>
                  <a:srgbClr val="0C1408"/>
                </a:solidFill>
                <a:latin typeface="Arial"/>
              </a:rPr>
              <a:t>Computed on premiums the insurer has received (reg 8(2)).</a:t>
            </a:r>
          </a:p>
          <a:p>
            <a:pPr>
              <a:lnSpc>
                <a:spcPct val="105000"/>
              </a:lnSpc>
              <a:spcAft>
                <a:spcPts val="700"/>
              </a:spcAft>
            </a:pPr>
            <a:r>
              <a:rPr sz="960" b="1">
                <a:solidFill>
                  <a:srgbClr val="6DC72A"/>
                </a:solidFill>
                <a:latin typeface="Georgia"/>
              </a:rPr>
              <a:t>|  </a:t>
            </a:r>
            <a:r>
              <a:rPr sz="960" b="1">
                <a:solidFill>
                  <a:srgbClr val="22450C"/>
                </a:solidFill>
                <a:latin typeface="Arial"/>
              </a:rPr>
              <a:t>Claims.  </a:t>
            </a:r>
            <a:r>
              <a:rPr sz="960">
                <a:solidFill>
                  <a:srgbClr val="0C1408"/>
                </a:solidFill>
                <a:latin typeface="Arial"/>
              </a:rPr>
              <a:t>Paid by the operator to the member left short, in that member’s own name (reg 7(4)).</a:t>
            </a:r>
          </a:p>
          <a:p>
            <a:pPr>
              <a:lnSpc>
                <a:spcPct val="105000"/>
              </a:lnSpc>
              <a:spcAft>
                <a:spcPts val="700"/>
              </a:spcAft>
            </a:pPr>
            <a:r>
              <a:rPr sz="960" b="1">
                <a:solidFill>
                  <a:srgbClr val="6DC72A"/>
                </a:solidFill>
                <a:latin typeface="Georgia"/>
              </a:rPr>
              <a:t>|  </a:t>
            </a:r>
            <a:r>
              <a:rPr sz="960" b="1">
                <a:solidFill>
                  <a:srgbClr val="22450C"/>
                </a:solidFill>
                <a:latin typeface="Arial"/>
              </a:rPr>
              <a:t>Bundle.  </a:t>
            </a:r>
            <a:r>
              <a:rPr sz="960">
                <a:solidFill>
                  <a:srgbClr val="0C1408"/>
                </a:solidFill>
                <a:latin typeface="Arial"/>
              </a:rPr>
              <a:t>The cost of cover is shown apart from the committee (reg 11(1)(d)).</a:t>
            </a:r>
          </a:p>
          <a:p>
            <a:pPr>
              <a:lnSpc>
                <a:spcPct val="105000"/>
              </a:lnSpc>
              <a:spcAft>
                <a:spcPts val="700"/>
              </a:spcAft>
            </a:pPr>
            <a:r>
              <a:rPr sz="960" b="1">
                <a:solidFill>
                  <a:srgbClr val="6DC72A"/>
                </a:solidFill>
                <a:latin typeface="Georgia"/>
              </a:rPr>
              <a:t>|  </a:t>
            </a:r>
            <a:r>
              <a:rPr sz="960" b="1">
                <a:solidFill>
                  <a:srgbClr val="22450C"/>
                </a:solidFill>
                <a:latin typeface="Arial"/>
              </a:rPr>
              <a:t>Coercion.  </a:t>
            </a:r>
            <a:r>
              <a:rPr sz="960">
                <a:solidFill>
                  <a:srgbClr val="0C1408"/>
                </a:solidFill>
                <a:latin typeface="Arial"/>
              </a:rPr>
              <a:t>Whether compulsory cover sits within reg 10(c) is for counsel’s written opinion before Hyper opens.</a:t>
            </a:r>
          </a:p>
          <a:p>
            <a:pPr>
              <a:lnSpc>
                <a:spcPct val="105000"/>
              </a:lnSpc>
              <a:spcAft>
                <a:spcPts val="700"/>
              </a:spcAft>
            </a:pPr>
            <a:r>
              <a:rPr sz="960" b="1">
                <a:solidFill>
                  <a:srgbClr val="6DC72A"/>
                </a:solidFill>
                <a:latin typeface="Georgia"/>
              </a:rPr>
              <a:t>|  </a:t>
            </a:r>
            <a:r>
              <a:rPr sz="960" b="1">
                <a:solidFill>
                  <a:srgbClr val="22450C"/>
                </a:solidFill>
                <a:latin typeface="Arial"/>
              </a:rPr>
              <a:t>Deficit and surplus.  </a:t>
            </a:r>
            <a:r>
              <a:rPr sz="960">
                <a:solidFill>
                  <a:srgbClr val="0C1408"/>
                </a:solidFill>
                <a:latin typeface="Arial"/>
              </a:rPr>
              <a:t>A deficit is met by an interest-free advance from the operator’s shareholder fund; a surplus is distributable to participants.</a:t>
            </a:r>
          </a:p>
        </p:txBody>
      </p:sp>
      <p:sp>
        <p:nvSpPr>
          <p:cNvPr id="16" name="TextBox 15"/>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Expected loss on a cycle = roster × default rate × half a pot. At a 100 per cent default rate the cover required equals the whole daily margin. Candidates: Pak-Qatar General Takaful, Salaam Takaful; none contracted.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collapse threshold, and the bands before it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point at which a circle would owe more than it can collect, derived and then instrumented so the host sees it coming.</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27</a:t>
            </a:r>
          </a:p>
        </p:txBody>
      </p:sp>
      <p:sp>
        <p:nvSpPr>
          <p:cNvPr id="10" name="TextBox 9"/>
          <p:cNvSpPr txBox="1"/>
          <p:nvPr/>
        </p:nvSpPr>
        <p:spPr>
          <a:xfrm>
            <a:off x="566928" y="1572768"/>
            <a:ext cx="51206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22   Five results</a:t>
            </a:r>
          </a:p>
        </p:txBody>
      </p:sp>
      <p:sp>
        <p:nvSpPr>
          <p:cNvPr id="11" name="TextBox 10"/>
          <p:cNvSpPr txBox="1"/>
          <p:nvPr/>
        </p:nvSpPr>
        <p:spPr>
          <a:xfrm>
            <a:off x="566928" y="1847088"/>
            <a:ext cx="5120640" cy="365760"/>
          </a:xfrm>
          <a:prstGeom prst="rect">
            <a:avLst/>
          </a:prstGeom>
          <a:noFill/>
        </p:spPr>
        <p:txBody>
          <a:bodyPr wrap="square" lIns="0" rIns="0" tIns="0" bIns="0">
            <a:spAutoFit/>
          </a:bodyPr>
          <a:lstStyle/>
          <a:p>
            <a:pPr>
              <a:lnSpc>
                <a:spcPct val="105000"/>
              </a:lnSpc>
              <a:spcAft>
                <a:spcPts val="700"/>
              </a:spcAft>
            </a:pPr>
            <a:r>
              <a:rPr sz="940" b="1">
                <a:solidFill>
                  <a:srgbClr val="6DC72A"/>
                </a:solidFill>
                <a:latin typeface="Georgia"/>
              </a:rPr>
              <a:t>|  </a:t>
            </a:r>
            <a:r>
              <a:rPr sz="940" b="1">
                <a:solidFill>
                  <a:srgbClr val="22450C"/>
                </a:solidFill>
                <a:latin typeface="Arial"/>
              </a:rPr>
              <a:t>Arrears before collection recover themselves.  </a:t>
            </a:r>
            <a:r>
              <a:rPr sz="940">
                <a:solidFill>
                  <a:srgbClr val="0C1408"/>
                </a:solidFill>
                <a:latin typeface="Arial"/>
              </a:rPr>
              <a:t>A member who missed j contributions receives the pot less j contributions, paid on that day to the members left short.</a:t>
            </a:r>
          </a:p>
          <a:p>
            <a:pPr>
              <a:lnSpc>
                <a:spcPct val="105000"/>
              </a:lnSpc>
              <a:spcAft>
                <a:spcPts val="700"/>
              </a:spcAft>
            </a:pPr>
            <a:r>
              <a:rPr sz="940" b="1">
                <a:solidFill>
                  <a:srgbClr val="6DC72A"/>
                </a:solidFill>
                <a:latin typeface="Georgia"/>
              </a:rPr>
              <a:t>|  </a:t>
            </a:r>
            <a:r>
              <a:rPr sz="940" b="1">
                <a:solidFill>
                  <a:srgbClr val="22450C"/>
                </a:solidFill>
                <a:latin typeface="Arial"/>
              </a:rPr>
              <a:t>The only true loss is default after collection.  </a:t>
            </a:r>
            <a:r>
              <a:rPr sz="940">
                <a:solidFill>
                  <a:srgbClr val="0C1408"/>
                </a:solidFill>
                <a:latin typeface="Arial"/>
              </a:rPr>
              <a:t>A member collecting on day t and stopping owes one contribution for each remaining day. Day 1: Rs 14,700; day 25: Rs 7,500; day 50: nil.</a:t>
            </a:r>
          </a:p>
          <a:p>
            <a:pPr>
              <a:lnSpc>
                <a:spcPct val="105000"/>
              </a:lnSpc>
              <a:spcAft>
                <a:spcPts val="700"/>
              </a:spcAft>
            </a:pPr>
            <a:r>
              <a:rPr sz="940" b="1">
                <a:solidFill>
                  <a:srgbClr val="6DC72A"/>
                </a:solidFill>
                <a:latin typeface="Georgia"/>
              </a:rPr>
              <a:t>|  </a:t>
            </a:r>
            <a:r>
              <a:rPr sz="940" b="1">
                <a:solidFill>
                  <a:srgbClr val="22450C"/>
                </a:solidFill>
                <a:latin typeface="Arial"/>
              </a:rPr>
              <a:t>Expected loss.  </a:t>
            </a:r>
            <a:r>
              <a:rPr sz="940">
                <a:solidFill>
                  <a:srgbClr val="0C1408"/>
                </a:solidFill>
                <a:latin typeface="Arial"/>
              </a:rPr>
              <a:t>Roster × default rate × half a pot; half the default rate as a share of cycle value.</a:t>
            </a:r>
          </a:p>
          <a:p>
            <a:pPr>
              <a:lnSpc>
                <a:spcPct val="105000"/>
              </a:lnSpc>
              <a:spcAft>
                <a:spcPts val="700"/>
              </a:spcAft>
            </a:pPr>
            <a:r>
              <a:rPr sz="940" b="1">
                <a:solidFill>
                  <a:srgbClr val="6DC72A"/>
                </a:solidFill>
                <a:latin typeface="Georgia"/>
              </a:rPr>
              <a:t>|  </a:t>
            </a:r>
            <a:r>
              <a:rPr sz="940" b="1">
                <a:solidFill>
                  <a:srgbClr val="22450C"/>
                </a:solidFill>
                <a:latin typeface="Arial"/>
              </a:rPr>
              <a:t>The hard stop.  </a:t>
            </a:r>
            <a:r>
              <a:rPr sz="940">
                <a:solidFill>
                  <a:srgbClr val="0C1408"/>
                </a:solidFill>
                <a:latin typeface="Arial"/>
              </a:rPr>
              <a:t>Once unrecovered exposure E exceeds the cover limit C, no further day opens until E is below C.</a:t>
            </a:r>
          </a:p>
          <a:p>
            <a:pPr>
              <a:lnSpc>
                <a:spcPct val="105000"/>
              </a:lnSpc>
              <a:spcAft>
                <a:spcPts val="700"/>
              </a:spcAft>
            </a:pPr>
            <a:r>
              <a:rPr sz="940" b="1">
                <a:solidFill>
                  <a:srgbClr val="6DC72A"/>
                </a:solidFill>
                <a:latin typeface="Georgia"/>
              </a:rPr>
              <a:t>|  </a:t>
            </a:r>
            <a:r>
              <a:rPr sz="940" b="1">
                <a:solidFill>
                  <a:srgbClr val="22450C"/>
                </a:solidFill>
                <a:latin typeface="Arial"/>
              </a:rPr>
              <a:t>Daily shortfall.  </a:t>
            </a:r>
            <a:r>
              <a:rPr sz="940">
                <a:solidFill>
                  <a:srgbClr val="0C1408"/>
                </a:solidFill>
                <a:latin typeface="Arial"/>
              </a:rPr>
              <a:t>On Option 1, 50 missed payments on one day equal exactly one pot.</a:t>
            </a:r>
          </a:p>
        </p:txBody>
      </p:sp>
      <p:sp>
        <p:nvSpPr>
          <p:cNvPr id="12" name="TextBox 11"/>
          <p:cNvSpPr txBox="1"/>
          <p:nvPr/>
        </p:nvSpPr>
        <p:spPr>
          <a:xfrm>
            <a:off x="6053328" y="1572768"/>
            <a:ext cx="556869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23   The stress index, 0 to 100, recomputed each day</a:t>
            </a:r>
          </a:p>
        </p:txBody>
      </p:sp>
      <p:graphicFrame>
        <p:nvGraphicFramePr>
          <p:cNvPr id="13" name="Table 12"/>
          <p:cNvGraphicFramePr>
            <a:graphicFrameLocks noGrp="1"/>
          </p:cNvGraphicFramePr>
          <p:nvPr/>
        </p:nvGraphicFramePr>
        <p:xfrm>
          <a:off x="6053328" y="1828800"/>
          <a:ext cx="5568695" cy="1645920"/>
        </p:xfrm>
        <a:graphic>
          <a:graphicData uri="http://schemas.openxmlformats.org/drawingml/2006/table">
            <a:tbl>
              <a:tblPr>
                <a:tableStyleId>{5C22544A-7EE6-4342-B048-85BDC9FD1C3A}</a:tableStyleId>
              </a:tblPr>
              <a:tblGrid>
                <a:gridCol w="1113739"/>
                <a:gridCol w="3563965"/>
                <a:gridCol w="890991"/>
              </a:tblGrid>
              <a:tr h="274320">
                <a:tc>
                  <a:txBody>
                    <a:bodyPr wrap="square"/>
                    <a:lstStyle/>
                    <a:p>
                      <a:pPr algn="l"/>
                      <a:r>
                        <a:rPr sz="900" b="1">
                          <a:solidFill>
                            <a:srgbClr val="F3FCE7"/>
                          </a:solidFill>
                          <a:latin typeface="Arial"/>
                        </a:rPr>
                        <a:t>Axis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Measure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Weight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Severity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Unrecovered exposure against cover plus one pot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45%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Breadth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Defaults after collection against pots covered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Behaviour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Share of roster with a prior late payment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Persistence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Age of arrears in 12 hour periods, capped at 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Timing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Day reached out of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4" name="TextBox 13"/>
          <p:cNvSpPr txBox="1"/>
          <p:nvPr/>
        </p:nvSpPr>
        <p:spPr>
          <a:xfrm>
            <a:off x="6053328" y="3657600"/>
            <a:ext cx="556869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24   An Option 1 circle under stress, cover at 8 pots</a:t>
            </a:r>
          </a:p>
        </p:txBody>
      </p:sp>
      <p:graphicFrame>
        <p:nvGraphicFramePr>
          <p:cNvPr id="15" name="Table 14"/>
          <p:cNvGraphicFramePr>
            <a:graphicFrameLocks noGrp="1"/>
          </p:cNvGraphicFramePr>
          <p:nvPr/>
        </p:nvGraphicFramePr>
        <p:xfrm>
          <a:off x="6053328" y="3895344"/>
          <a:ext cx="5568693" cy="1792224"/>
        </p:xfrm>
        <a:graphic>
          <a:graphicData uri="http://schemas.openxmlformats.org/drawingml/2006/table">
            <a:tbl>
              <a:tblPr>
                <a:tableStyleId>{5C22544A-7EE6-4342-B048-85BDC9FD1C3A}</a:tableStyleId>
              </a:tblPr>
              <a:tblGrid>
                <a:gridCol w="445495"/>
                <a:gridCol w="668243"/>
                <a:gridCol w="946678"/>
                <a:gridCol w="556869"/>
                <a:gridCol w="668243"/>
                <a:gridCol w="2283165"/>
              </a:tblGrid>
              <a:tr h="256032">
                <a:tc>
                  <a:txBody>
                    <a:bodyPr wrap="square"/>
                    <a:lstStyle/>
                    <a:p>
                      <a:pPr algn="l"/>
                      <a:r>
                        <a:rPr sz="840" b="1">
                          <a:solidFill>
                            <a:srgbClr val="F3FCE7"/>
                          </a:solidFill>
                          <a:latin typeface="Arial"/>
                        </a:rPr>
                        <a:t>Day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Defaults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Exposure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Index</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Band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Action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Green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Reminders only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12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14,100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11.8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Green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Case tracked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37,800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28.6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Green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Host told, operator on notice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30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64,800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49.5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New joins blocked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38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81,000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64.0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Claim prepared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45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93,600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72.1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Next day not opened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6" name="TextBox 15"/>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Bands: green 0 to 33, amber 34 to 66, red 67 to 100. The hard stop applies whatever the index. Source: Hyper Committee (HQ-CP-08), sections 8 and 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Revenue on one cycle, and who may take a seat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default loss falls on the risk fund, not on Halqa, which is the purpose of the split.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28</a:t>
            </a:r>
          </a:p>
        </p:txBody>
      </p:sp>
      <p:sp>
        <p:nvSpPr>
          <p:cNvPr id="10" name="TextBox 9"/>
          <p:cNvSpPr txBox="1"/>
          <p:nvPr/>
        </p:nvSpPr>
        <p:spPr>
          <a:xfrm>
            <a:off x="566928" y="1572768"/>
            <a:ext cx="585216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25   Revenue and cost on one cycle</a:t>
            </a:r>
          </a:p>
        </p:txBody>
      </p:sp>
      <p:graphicFrame>
        <p:nvGraphicFramePr>
          <p:cNvPr id="11" name="Table 10"/>
          <p:cNvGraphicFramePr>
            <a:graphicFrameLocks noGrp="1"/>
          </p:cNvGraphicFramePr>
          <p:nvPr/>
        </p:nvGraphicFramePr>
        <p:xfrm>
          <a:off x="566928" y="1828800"/>
          <a:ext cx="5852160" cy="2834640"/>
        </p:xfrm>
        <a:graphic>
          <a:graphicData uri="http://schemas.openxmlformats.org/drawingml/2006/table">
            <a:tbl>
              <a:tblPr>
                <a:tableStyleId>{5C22544A-7EE6-4342-B048-85BDC9FD1C3A}</a:tableStyleId>
              </a:tblPr>
              <a:tblGrid>
                <a:gridCol w="2926080"/>
                <a:gridCol w="1463040"/>
                <a:gridCol w="1463040"/>
              </a:tblGrid>
              <a:tr h="283464">
                <a:tc>
                  <a:txBody>
                    <a:bodyPr wrap="square"/>
                    <a:lstStyle/>
                    <a:p>
                      <a:pPr algn="l"/>
                      <a:r>
                        <a:rPr sz="900" b="1">
                          <a:solidFill>
                            <a:srgbClr val="F3FCE7"/>
                          </a:solidFill>
                          <a:latin typeface="Arial"/>
                        </a:rPr>
                        <a:t>Line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Fee revenue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1,500,000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845,000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Operator’s commission at 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225,000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126,750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Gross revenue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1,725,000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971,750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Running cost of payments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254,145)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141,032)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Points and waivers to later seats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150,000)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84,500)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Points for paying on time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152,000)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77,064)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Net per cycle, returning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1">
                          <a:solidFill>
                            <a:srgbClr val="0C1408"/>
                          </a:solidFill>
                          <a:latin typeface="Arial"/>
                        </a:rPr>
                        <a:t>Rs 1,168,855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1">
                          <a:solidFill>
                            <a:srgbClr val="0C1408"/>
                          </a:solidFill>
                          <a:latin typeface="Arial"/>
                        </a:rPr>
                        <a:t>Rs 669,154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Net per cycle, all members new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888,998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396,293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3464">
                <a:tc>
                  <a:txBody>
                    <a:bodyPr wrap="square"/>
                    <a:lstStyle/>
                    <a:p>
                      <a:pPr algn="l"/>
                      <a:r>
                        <a:rPr sz="919" b="1">
                          <a:solidFill>
                            <a:srgbClr val="22450C"/>
                          </a:solidFill>
                          <a:latin typeface="Arial"/>
                        </a:rPr>
                        <a:t>Expected default loss at 5%, borne by the fund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150,000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84,500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800600"/>
            <a:ext cx="5852160" cy="36576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Running cost includes Safepay’s charge at the 1 per cent target; at its published card price the net would fall to Rs 397,855 and Rs 268,624.</a:t>
            </a:r>
          </a:p>
        </p:txBody>
      </p:sp>
      <p:sp>
        <p:nvSpPr>
          <p:cNvPr id="13" name="TextBox 12"/>
          <p:cNvSpPr txBox="1"/>
          <p:nvPr/>
        </p:nvSpPr>
        <p:spPr>
          <a:xfrm>
            <a:off x="6784848" y="1572768"/>
            <a:ext cx="483717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26   Entry gates</a:t>
            </a:r>
          </a:p>
        </p:txBody>
      </p:sp>
      <p:graphicFrame>
        <p:nvGraphicFramePr>
          <p:cNvPr id="14" name="Table 13"/>
          <p:cNvGraphicFramePr>
            <a:graphicFrameLocks noGrp="1"/>
          </p:cNvGraphicFramePr>
          <p:nvPr/>
        </p:nvGraphicFramePr>
        <p:xfrm>
          <a:off x="6784848" y="1828800"/>
          <a:ext cx="4837175" cy="2340864"/>
        </p:xfrm>
        <a:graphic>
          <a:graphicData uri="http://schemas.openxmlformats.org/drawingml/2006/table">
            <a:tbl>
              <a:tblPr>
                <a:tableStyleId>{5C22544A-7EE6-4342-B048-85BDC9FD1C3A}</a:tableStyleId>
              </a:tblPr>
              <a:tblGrid>
                <a:gridCol w="2031613"/>
                <a:gridCol w="2805562"/>
              </a:tblGrid>
              <a:tr h="292608">
                <a:tc>
                  <a:txBody>
                    <a:bodyPr wrap="square"/>
                    <a:lstStyle/>
                    <a:p>
                      <a:pPr algn="l"/>
                      <a:r>
                        <a:rPr sz="900" b="1">
                          <a:solidFill>
                            <a:srgbClr val="F3FCE7"/>
                          </a:solidFill>
                          <a:latin typeface="Arial"/>
                        </a:rPr>
                        <a:t>Gate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Reason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Income account linked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Verified under HQ-MF-03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Minimum standing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 daily obligation leaves little room to recover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2 clean circles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Monthly behaviour is the only reliable predictor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Highest identity level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The roster is drawn from strangers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Daily income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Rs 1,000 or more on 5 days of every week for 8 weeks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Affordability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Verified income of Rs 40,909 a month on Option 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No open default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Closed to any member in difficulty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5" name="TextBox 14"/>
          <p:cNvSpPr txBox="1"/>
          <p:nvPr/>
        </p:nvSpPr>
        <p:spPr>
          <a:xfrm>
            <a:off x="6784848" y="4315968"/>
            <a:ext cx="483717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27   Late ladder after the daily due time</a:t>
            </a:r>
          </a:p>
        </p:txBody>
      </p:sp>
      <p:graphicFrame>
        <p:nvGraphicFramePr>
          <p:cNvPr id="16" name="Table 15"/>
          <p:cNvGraphicFramePr>
            <a:graphicFrameLocks noGrp="1"/>
          </p:cNvGraphicFramePr>
          <p:nvPr/>
        </p:nvGraphicFramePr>
        <p:xfrm>
          <a:off x="6784848" y="4553712"/>
          <a:ext cx="4837174" cy="1426464"/>
        </p:xfrm>
        <a:graphic>
          <a:graphicData uri="http://schemas.openxmlformats.org/drawingml/2006/table">
            <a:tbl>
              <a:tblPr>
                <a:tableStyleId>{5C22544A-7EE6-4342-B048-85BDC9FD1C3A}</a:tableStyleId>
              </a:tblPr>
              <a:tblGrid>
                <a:gridCol w="1644639"/>
                <a:gridCol w="1160922"/>
                <a:gridCol w="870691"/>
                <a:gridCol w="1160922"/>
              </a:tblGrid>
              <a:tr h="237744">
                <a:tc>
                  <a:txBody>
                    <a:bodyPr wrap="square"/>
                    <a:lstStyle/>
                    <a:p>
                      <a:pPr algn="l"/>
                      <a:r>
                        <a:rPr sz="900" b="1">
                          <a:solidFill>
                            <a:srgbClr val="F3FCE7"/>
                          </a:solidFill>
                          <a:latin typeface="Arial"/>
                        </a:rPr>
                        <a:t>Step</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Elapsed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Penalty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Standing</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Grace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0 to 12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None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No change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First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12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Second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36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40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Third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60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60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Default after collecting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Any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As above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200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7" name="TextBox 16"/>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Penalties on Shariah labelled circles are given to charity at the end of the circle. Source: Hyper Committee (HQ-CP-08), sections 10 to 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05</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product</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From signup to a completed circle, with the control at each step.</a:t>
            </a:r>
          </a:p>
          <a:p>
            <a:pPr algn="l">
              <a:lnSpc>
                <a:spcPct val="110000"/>
              </a:lnSpc>
              <a:spcAft>
                <a:spcPts val="700"/>
              </a:spcAft>
            </a:pPr>
            <a:r>
              <a:rPr sz="1220" b="0" i="0">
                <a:solidFill>
                  <a:srgbClr val="D2E2C6"/>
                </a:solidFill>
                <a:latin typeface="Arial"/>
              </a:rPr>
              <a:t>Standing decides which seats a member may claim, never the order once a circle starts.</a:t>
            </a:r>
          </a:p>
          <a:p>
            <a:pPr algn="l">
              <a:lnSpc>
                <a:spcPct val="110000"/>
              </a:lnSpc>
              <a:spcAft>
                <a:spcPts val="700"/>
              </a:spcAft>
            </a:pPr>
            <a:r>
              <a:rPr sz="1220" b="0" i="0">
                <a:solidFill>
                  <a:srgbClr val="D2E2C6"/>
                </a:solidFill>
                <a:latin typeface="Arial"/>
              </a:rPr>
              <a:t>There is no cancel button. Exit is a ladder with published arithmetic.</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SIGNUP TO COMPLETION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From signup to a completed circle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step carries the control that applies to it.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30</a:t>
            </a:r>
          </a:p>
        </p:txBody>
      </p:sp>
      <p:sp>
        <p:nvSpPr>
          <p:cNvPr id="10" name="Rectangle 9"/>
          <p:cNvSpPr/>
          <p:nvPr/>
        </p:nvSpPr>
        <p:spPr>
          <a:xfrm>
            <a:off x="566928" y="1645920"/>
            <a:ext cx="1652473" cy="457200"/>
          </a:xfrm>
          <a:prstGeom prst="rect">
            <a:avLst/>
          </a:prstGeom>
          <a:solidFill>
            <a:srgbClr val="22450C"/>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F3FCE7"/>
                </a:solidFill>
                <a:latin typeface="Arial"/>
              </a:rPr>
              <a:t>Sign up</a:t>
            </a:r>
          </a:p>
        </p:txBody>
      </p:sp>
      <p:cxnSp>
        <p:nvCxnSpPr>
          <p:cNvPr id="12" name="Connector 11"/>
          <p:cNvCxnSpPr/>
          <p:nvPr/>
        </p:nvCxnSpPr>
        <p:spPr>
          <a:xfrm>
            <a:off x="2219401"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Phone number and one time passcode</a:t>
            </a:r>
          </a:p>
          <a:p>
            <a:pPr>
              <a:lnSpc>
                <a:spcPct val="105000"/>
              </a:lnSpc>
              <a:spcAft>
                <a:spcPts val="600"/>
              </a:spcAft>
            </a:pPr>
            <a:r>
              <a:rPr sz="919" b="1">
                <a:solidFill>
                  <a:srgbClr val="6DC72A"/>
                </a:solidFill>
                <a:latin typeface="Georgia"/>
              </a:rPr>
              <a:t>|  </a:t>
            </a:r>
            <a:r>
              <a:rPr sz="919">
                <a:solidFill>
                  <a:srgbClr val="0C1408"/>
                </a:solidFill>
                <a:latin typeface="Arial"/>
              </a:rPr>
              <a:t>Application PIN on every open</a:t>
            </a:r>
          </a:p>
          <a:p>
            <a:pPr>
              <a:lnSpc>
                <a:spcPct val="105000"/>
              </a:lnSpc>
              <a:spcAft>
                <a:spcPts val="600"/>
              </a:spcAft>
            </a:pPr>
            <a:r>
              <a:rPr sz="919" b="1">
                <a:solidFill>
                  <a:srgbClr val="6DC72A"/>
                </a:solidFill>
                <a:latin typeface="Georgia"/>
              </a:rPr>
              <a:t>|  </a:t>
            </a:r>
            <a:r>
              <a:rPr sz="919">
                <a:solidFill>
                  <a:srgbClr val="0C1408"/>
                </a:solidFill>
                <a:latin typeface="Arial"/>
              </a:rPr>
              <a:t>Name, address, city and occupation before joining</a:t>
            </a:r>
          </a:p>
        </p:txBody>
      </p:sp>
      <p:sp>
        <p:nvSpPr>
          <p:cNvPr id="14" name="Rectangle 13"/>
          <p:cNvSpPr/>
          <p:nvPr/>
        </p:nvSpPr>
        <p:spPr>
          <a:xfrm>
            <a:off x="2448001"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48001"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Verify</a:t>
            </a:r>
          </a:p>
        </p:txBody>
      </p:sp>
      <p:cxnSp>
        <p:nvCxnSpPr>
          <p:cNvPr id="16" name="Connector 15"/>
          <p:cNvCxnSpPr/>
          <p:nvPr/>
        </p:nvCxnSpPr>
        <p:spPr>
          <a:xfrm>
            <a:off x="4100474"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448001"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CNIC scanned with the camera</a:t>
            </a:r>
          </a:p>
          <a:p>
            <a:pPr>
              <a:lnSpc>
                <a:spcPct val="105000"/>
              </a:lnSpc>
              <a:spcAft>
                <a:spcPts val="600"/>
              </a:spcAft>
            </a:pPr>
            <a:r>
              <a:rPr sz="919" b="1">
                <a:solidFill>
                  <a:srgbClr val="6DC72A"/>
                </a:solidFill>
                <a:latin typeface="Georgia"/>
              </a:rPr>
              <a:t>|  </a:t>
            </a:r>
            <a:r>
              <a:rPr sz="919">
                <a:solidFill>
                  <a:srgbClr val="0C1408"/>
                </a:solidFill>
                <a:latin typeface="Arial"/>
              </a:rPr>
              <a:t>NADRA Verisys check</a:t>
            </a:r>
          </a:p>
          <a:p>
            <a:pPr>
              <a:lnSpc>
                <a:spcPct val="105000"/>
              </a:lnSpc>
              <a:spcAft>
                <a:spcPts val="600"/>
              </a:spcAft>
            </a:pPr>
            <a:r>
              <a:rPr sz="919" b="1">
                <a:solidFill>
                  <a:srgbClr val="6DC72A"/>
                </a:solidFill>
                <a:latin typeface="Georgia"/>
              </a:rPr>
              <a:t>|  </a:t>
            </a:r>
            <a:r>
              <a:rPr sz="919">
                <a:solidFill>
                  <a:srgbClr val="0C1408"/>
                </a:solidFill>
                <a:latin typeface="Arial"/>
              </a:rPr>
              <a:t>Face match at exit and high value actions</a:t>
            </a:r>
          </a:p>
          <a:p>
            <a:pPr>
              <a:lnSpc>
                <a:spcPct val="105000"/>
              </a:lnSpc>
              <a:spcAft>
                <a:spcPts val="600"/>
              </a:spcAft>
            </a:pPr>
            <a:r>
              <a:rPr sz="919" b="1">
                <a:solidFill>
                  <a:srgbClr val="6DC72A"/>
                </a:solidFill>
                <a:latin typeface="Georgia"/>
              </a:rPr>
              <a:t>|  </a:t>
            </a:r>
            <a:r>
              <a:rPr sz="919">
                <a:solidFill>
                  <a:srgbClr val="0C1408"/>
                </a:solidFill>
                <a:latin typeface="Arial"/>
              </a:rPr>
              <a:t>Account title matched to the CNIC name</a:t>
            </a:r>
          </a:p>
        </p:txBody>
      </p:sp>
      <p:sp>
        <p:nvSpPr>
          <p:cNvPr id="18" name="Rectangle 17"/>
          <p:cNvSpPr/>
          <p:nvPr/>
        </p:nvSpPr>
        <p:spPr>
          <a:xfrm>
            <a:off x="4329074"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9074"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Join</a:t>
            </a:r>
          </a:p>
        </p:txBody>
      </p:sp>
      <p:cxnSp>
        <p:nvCxnSpPr>
          <p:cNvPr id="20" name="Connector 19"/>
          <p:cNvCxnSpPr/>
          <p:nvPr/>
        </p:nvCxnSpPr>
        <p:spPr>
          <a:xfrm>
            <a:off x="5981547"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9074"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Join sheet states every amount before signature</a:t>
            </a:r>
          </a:p>
          <a:p>
            <a:pPr>
              <a:lnSpc>
                <a:spcPct val="105000"/>
              </a:lnSpc>
              <a:spcAft>
                <a:spcPts val="600"/>
              </a:spcAft>
            </a:pPr>
            <a:r>
              <a:rPr sz="919" b="1">
                <a:solidFill>
                  <a:srgbClr val="6DC72A"/>
                </a:solidFill>
                <a:latin typeface="Georgia"/>
              </a:rPr>
              <a:t>|  </a:t>
            </a:r>
            <a:r>
              <a:rPr sz="919">
                <a:solidFill>
                  <a:srgbClr val="0C1408"/>
                </a:solidFill>
                <a:latin typeface="Arial"/>
              </a:rPr>
              <a:t>Seat chosen from those the band allows</a:t>
            </a:r>
          </a:p>
          <a:p>
            <a:pPr>
              <a:lnSpc>
                <a:spcPct val="105000"/>
              </a:lnSpc>
              <a:spcAft>
                <a:spcPts val="600"/>
              </a:spcAft>
            </a:pPr>
            <a:r>
              <a:rPr sz="919" b="1">
                <a:solidFill>
                  <a:srgbClr val="6DC72A"/>
                </a:solidFill>
                <a:latin typeface="Georgia"/>
              </a:rPr>
              <a:t>|  </a:t>
            </a:r>
            <a:r>
              <a:rPr sz="919">
                <a:solidFill>
                  <a:srgbClr val="0C1408"/>
                </a:solidFill>
                <a:latin typeface="Arial"/>
              </a:rPr>
              <a:t>Affordability gate</a:t>
            </a:r>
          </a:p>
          <a:p>
            <a:pPr>
              <a:lnSpc>
                <a:spcPct val="105000"/>
              </a:lnSpc>
              <a:spcAft>
                <a:spcPts val="600"/>
              </a:spcAft>
            </a:pPr>
            <a:r>
              <a:rPr sz="919" b="1">
                <a:solidFill>
                  <a:srgbClr val="6DC72A"/>
                </a:solidFill>
                <a:latin typeface="Georgia"/>
              </a:rPr>
              <a:t>|  </a:t>
            </a:r>
            <a:r>
              <a:rPr sz="919">
                <a:solidFill>
                  <a:srgbClr val="0C1408"/>
                </a:solidFill>
                <a:latin typeface="Arial"/>
              </a:rPr>
              <a:t>Undertaking and mutual guarantee signed</a:t>
            </a:r>
          </a:p>
        </p:txBody>
      </p:sp>
      <p:sp>
        <p:nvSpPr>
          <p:cNvPr id="22" name="Rectangle 21"/>
          <p:cNvSpPr/>
          <p:nvPr/>
        </p:nvSpPr>
        <p:spPr>
          <a:xfrm>
            <a:off x="6210147"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0147"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Pay</a:t>
            </a:r>
          </a:p>
        </p:txBody>
      </p:sp>
      <p:cxnSp>
        <p:nvCxnSpPr>
          <p:cNvPr id="24" name="Connector 23"/>
          <p:cNvCxnSpPr/>
          <p:nvPr/>
        </p:nvCxnSpPr>
        <p:spPr>
          <a:xfrm>
            <a:off x="7862620"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10147"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Approval in the application, tier 1</a:t>
            </a:r>
          </a:p>
          <a:p>
            <a:pPr>
              <a:lnSpc>
                <a:spcPct val="105000"/>
              </a:lnSpc>
              <a:spcAft>
                <a:spcPts val="600"/>
              </a:spcAft>
            </a:pPr>
            <a:r>
              <a:rPr sz="919" b="1">
                <a:solidFill>
                  <a:srgbClr val="6DC72A"/>
                </a:solidFill>
                <a:latin typeface="Georgia"/>
              </a:rPr>
              <a:t>|  </a:t>
            </a:r>
            <a:r>
              <a:rPr sz="919">
                <a:solidFill>
                  <a:srgbClr val="0C1408"/>
                </a:solidFill>
                <a:latin typeface="Arial"/>
              </a:rPr>
              <a:t>Auto pull on unknown committees and Hyper, tier 2</a:t>
            </a:r>
          </a:p>
          <a:p>
            <a:pPr>
              <a:lnSpc>
                <a:spcPct val="105000"/>
              </a:lnSpc>
              <a:spcAft>
                <a:spcPts val="600"/>
              </a:spcAft>
            </a:pPr>
            <a:r>
              <a:rPr sz="919" b="1">
                <a:solidFill>
                  <a:srgbClr val="6DC72A"/>
                </a:solidFill>
                <a:latin typeface="Georgia"/>
              </a:rPr>
              <a:t>|  </a:t>
            </a:r>
            <a:r>
              <a:rPr sz="919">
                <a:solidFill>
                  <a:srgbClr val="0C1408"/>
                </a:solidFill>
                <a:latin typeface="Arial"/>
              </a:rPr>
              <a:t>Send over Raast, tier 3</a:t>
            </a:r>
          </a:p>
          <a:p>
            <a:pPr>
              <a:lnSpc>
                <a:spcPct val="105000"/>
              </a:lnSpc>
              <a:spcAft>
                <a:spcPts val="600"/>
              </a:spcAft>
            </a:pPr>
            <a:r>
              <a:rPr sz="919" b="1">
                <a:solidFill>
                  <a:srgbClr val="6DC72A"/>
                </a:solidFill>
                <a:latin typeface="Georgia"/>
              </a:rPr>
              <a:t>|  </a:t>
            </a:r>
            <a:r>
              <a:rPr sz="919">
                <a:solidFill>
                  <a:srgbClr val="0C1408"/>
                </a:solidFill>
                <a:latin typeface="Arial"/>
              </a:rPr>
              <a:t>Receipt naming the rail and each part</a:t>
            </a:r>
          </a:p>
        </p:txBody>
      </p:sp>
      <p:sp>
        <p:nvSpPr>
          <p:cNvPr id="26" name="Rectangle 25"/>
          <p:cNvSpPr/>
          <p:nvPr/>
        </p:nvSpPr>
        <p:spPr>
          <a:xfrm>
            <a:off x="8091220"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1220"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Collect</a:t>
            </a:r>
          </a:p>
        </p:txBody>
      </p:sp>
      <p:cxnSp>
        <p:nvCxnSpPr>
          <p:cNvPr id="28" name="Connector 27"/>
          <p:cNvCxnSpPr/>
          <p:nvPr/>
        </p:nvCxnSpPr>
        <p:spPr>
          <a:xfrm>
            <a:off x="9743693"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091220"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Payout to the verified account when the round closes</a:t>
            </a:r>
          </a:p>
          <a:p>
            <a:pPr>
              <a:lnSpc>
                <a:spcPct val="105000"/>
              </a:lnSpc>
              <a:spcAft>
                <a:spcPts val="600"/>
              </a:spcAft>
            </a:pPr>
            <a:r>
              <a:rPr sz="919" b="1">
                <a:solidFill>
                  <a:srgbClr val="6DC72A"/>
                </a:solidFill>
                <a:latin typeface="Georgia"/>
              </a:rPr>
              <a:t>|  </a:t>
            </a:r>
            <a:r>
              <a:rPr sz="919">
                <a:solidFill>
                  <a:srgbClr val="0C1408"/>
                </a:solidFill>
                <a:latin typeface="Arial"/>
              </a:rPr>
              <a:t>Paid once and only once</a:t>
            </a:r>
          </a:p>
          <a:p>
            <a:pPr>
              <a:lnSpc>
                <a:spcPct val="105000"/>
              </a:lnSpc>
              <a:spcAft>
                <a:spcPts val="600"/>
              </a:spcAft>
            </a:pPr>
            <a:r>
              <a:rPr sz="919" b="1">
                <a:solidFill>
                  <a:srgbClr val="6DC72A"/>
                </a:solidFill>
                <a:latin typeface="Georgia"/>
              </a:rPr>
              <a:t>|  </a:t>
            </a:r>
            <a:r>
              <a:rPr sz="919">
                <a:solidFill>
                  <a:srgbClr val="0C1408"/>
                </a:solidFill>
                <a:latin typeface="Arial"/>
              </a:rPr>
              <a:t>Remaining instalments restated</a:t>
            </a:r>
          </a:p>
        </p:txBody>
      </p:sp>
      <p:sp>
        <p:nvSpPr>
          <p:cNvPr id="30" name="Rectangle 29"/>
          <p:cNvSpPr/>
          <p:nvPr/>
        </p:nvSpPr>
        <p:spPr>
          <a:xfrm>
            <a:off x="9972293" y="1645920"/>
            <a:ext cx="1652473" cy="457200"/>
          </a:xfrm>
          <a:prstGeom prst="rect">
            <a:avLst/>
          </a:prstGeom>
          <a:solidFill>
            <a:srgbClr val="22450C"/>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2293"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F3FCE7"/>
                </a:solidFill>
                <a:latin typeface="Arial"/>
              </a:rPr>
              <a:t>Complete</a:t>
            </a:r>
          </a:p>
        </p:txBody>
      </p:sp>
      <p:sp>
        <p:nvSpPr>
          <p:cNvPr id="32" name="TextBox 31"/>
          <p:cNvSpPr txBox="1"/>
          <p:nvPr/>
        </p:nvSpPr>
        <p:spPr>
          <a:xfrm>
            <a:off x="9972293"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Every record written</a:t>
            </a:r>
          </a:p>
          <a:p>
            <a:pPr>
              <a:lnSpc>
                <a:spcPct val="105000"/>
              </a:lnSpc>
              <a:spcAft>
                <a:spcPts val="600"/>
              </a:spcAft>
            </a:pPr>
            <a:r>
              <a:rPr sz="919" b="1">
                <a:solidFill>
                  <a:srgbClr val="6DC72A"/>
                </a:solidFill>
                <a:latin typeface="Georgia"/>
              </a:rPr>
              <a:t>|  </a:t>
            </a:r>
            <a:r>
              <a:rPr sz="919">
                <a:solidFill>
                  <a:srgbClr val="0C1408"/>
                </a:solidFill>
                <a:latin typeface="Arial"/>
              </a:rPr>
              <a:t>Clean completion raises standing</a:t>
            </a:r>
          </a:p>
          <a:p>
            <a:pPr>
              <a:lnSpc>
                <a:spcPct val="105000"/>
              </a:lnSpc>
              <a:spcAft>
                <a:spcPts val="600"/>
              </a:spcAft>
            </a:pPr>
            <a:r>
              <a:rPr sz="919" b="1">
                <a:solidFill>
                  <a:srgbClr val="6DC72A"/>
                </a:solidFill>
                <a:latin typeface="Georgia"/>
              </a:rPr>
              <a:t>|  </a:t>
            </a:r>
            <a:r>
              <a:rPr sz="919">
                <a:solidFill>
                  <a:srgbClr val="0C1408"/>
                </a:solidFill>
                <a:latin typeface="Arial"/>
              </a:rPr>
              <a:t>Host points on clean circles</a:t>
            </a:r>
          </a:p>
        </p:txBody>
      </p:sp>
      <p:sp>
        <p:nvSpPr>
          <p:cNvPr id="33" name="Rectangle 32"/>
          <p:cNvSpPr/>
          <p:nvPr/>
        </p:nvSpPr>
        <p:spPr>
          <a:xfrm>
            <a:off x="566928" y="4343400"/>
            <a:ext cx="5394960" cy="14630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43400"/>
            <a:ext cx="45720" cy="14630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4531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Messaging and records</a:t>
            </a:r>
          </a:p>
        </p:txBody>
      </p:sp>
      <p:sp>
        <p:nvSpPr>
          <p:cNvPr id="36" name="TextBox 35"/>
          <p:cNvSpPr txBox="1"/>
          <p:nvPr/>
        </p:nvSpPr>
        <p:spPr>
          <a:xfrm>
            <a:off x="731520" y="4745736"/>
            <a:ext cx="5120640" cy="10058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Notices over the WhatsApp Business Platform on approved templates, one consolidated daily notice on Hyper, and statements, receipts, the schedule and a full data export for every member.</a:t>
            </a:r>
          </a:p>
        </p:txBody>
      </p:sp>
      <p:sp>
        <p:nvSpPr>
          <p:cNvPr id="37" name="Rectangle 36"/>
          <p:cNvSpPr/>
          <p:nvPr/>
        </p:nvSpPr>
        <p:spPr>
          <a:xfrm>
            <a:off x="6236208" y="4343400"/>
            <a:ext cx="5394960" cy="14630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36208" y="4343400"/>
            <a:ext cx="45720" cy="14630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4531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Status</a:t>
            </a:r>
          </a:p>
        </p:txBody>
      </p:sp>
      <p:sp>
        <p:nvSpPr>
          <p:cNvPr id="40" name="TextBox 39"/>
          <p:cNvSpPr txBox="1"/>
          <p:nvPr/>
        </p:nvSpPr>
        <p:spPr>
          <a:xfrm>
            <a:off x="6400800" y="4745736"/>
            <a:ext cx="5120640" cy="10058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The status of each feature is tracked item by item in the Work Register. Identity capture and the home location pin are blocked in production by the permission policy, and NADRA Verisys awaits the corporate agreement.</a:t>
            </a:r>
          </a:p>
        </p:txBody>
      </p:sp>
      <p:sp>
        <p:nvSpPr>
          <p:cNvPr id="41" name="TextBox 40"/>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Complete Feature and Process List (HQ-CP-07), sections 1, 5, 7, 9, 16 and 17.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ENTRY CHECKS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Who may join an unknown committee or Hyper</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Members of an unknown committee do not know one another, so the checks a host would make informally are made by Halqa on evidence.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31</a:t>
            </a:r>
          </a:p>
        </p:txBody>
      </p:sp>
      <p:sp>
        <p:nvSpPr>
          <p:cNvPr id="10" name="TextBox 9"/>
          <p:cNvSpPr txBox="1"/>
          <p:nvPr/>
        </p:nvSpPr>
        <p:spPr>
          <a:xfrm>
            <a:off x="566928" y="1572768"/>
            <a:ext cx="69494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28   The checks, and the model behind each</a:t>
            </a:r>
          </a:p>
        </p:txBody>
      </p:sp>
      <p:graphicFrame>
        <p:nvGraphicFramePr>
          <p:cNvPr id="11" name="Table 10"/>
          <p:cNvGraphicFramePr>
            <a:graphicFrameLocks noGrp="1"/>
          </p:cNvGraphicFramePr>
          <p:nvPr/>
        </p:nvGraphicFramePr>
        <p:xfrm>
          <a:off x="566928" y="1828800"/>
          <a:ext cx="6949439" cy="2816352"/>
        </p:xfrm>
        <a:graphic>
          <a:graphicData uri="http://schemas.openxmlformats.org/drawingml/2006/table">
            <a:tbl>
              <a:tblPr>
                <a:tableStyleId>{5C22544A-7EE6-4342-B048-85BDC9FD1C3A}</a:tableStyleId>
              </a:tblPr>
              <a:tblGrid>
                <a:gridCol w="1389888"/>
                <a:gridCol w="4586630"/>
                <a:gridCol w="972921"/>
              </a:tblGrid>
              <a:tr h="402336">
                <a:tc>
                  <a:txBody>
                    <a:bodyPr wrap="square"/>
                    <a:lstStyle/>
                    <a:p>
                      <a:pPr algn="l"/>
                      <a:r>
                        <a:rPr sz="900" b="1">
                          <a:solidFill>
                            <a:srgbClr val="F3FCE7"/>
                          </a:solidFill>
                          <a:latin typeface="Arial"/>
                        </a:rPr>
                        <a:t>Check</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Standard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Model</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02336">
                <a:tc>
                  <a:txBody>
                    <a:bodyPr wrap="square"/>
                    <a:lstStyle/>
                    <a:p>
                      <a:pPr algn="l"/>
                      <a:r>
                        <a:rPr sz="940" b="1">
                          <a:solidFill>
                            <a:srgbClr val="22450C"/>
                          </a:solidFill>
                          <a:latin typeface="Arial"/>
                        </a:rPr>
                        <a:t>Identity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NADRA check, live face match, names agree; confidence score 0.85, or 0.92 for Hyper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HQ-MF-04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02336">
                <a:tc>
                  <a:txBody>
                    <a:bodyPr wrap="square"/>
                    <a:lstStyle/>
                    <a:p>
                      <a:pPr algn="l"/>
                      <a:r>
                        <a:rPr sz="940" b="1">
                          <a:solidFill>
                            <a:srgbClr val="22450C"/>
                          </a:solidFill>
                          <a:latin typeface="Arial"/>
                        </a:rPr>
                        <a:t>Income account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In the member’s name; a salary pattern score of 0.75, or daily income for Hyper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HQ-MF-03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02336">
                <a:tc>
                  <a:txBody>
                    <a:bodyPr wrap="square"/>
                    <a:lstStyle/>
                    <a:p>
                      <a:pPr algn="l"/>
                      <a:r>
                        <a:rPr sz="940" b="1">
                          <a:solidFill>
                            <a:srgbClr val="22450C"/>
                          </a:solidFill>
                          <a:latin typeface="Arial"/>
                        </a:rPr>
                        <a:t>Daily income, Hyper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1,000 or more on at least 5 days of every week for 8 weeks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HQ-MF-03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02336">
                <a:tc>
                  <a:txBody>
                    <a:bodyPr wrap="square"/>
                    <a:lstStyle/>
                    <a:p>
                      <a:pPr algn="l"/>
                      <a:r>
                        <a:rPr sz="940" b="1">
                          <a:solidFill>
                            <a:srgbClr val="22450C"/>
                          </a:solidFill>
                          <a:latin typeface="Arial"/>
                        </a:rPr>
                        <a:t>Affordability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Committees within a third of verified income; 40 per cent with other loans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HQ-MF-02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02336">
                <a:tc>
                  <a:txBody>
                    <a:bodyPr wrap="square"/>
                    <a:lstStyle/>
                    <a:p>
                      <a:pPr algn="l"/>
                      <a:r>
                        <a:rPr sz="940" b="1">
                          <a:solidFill>
                            <a:srgbClr val="22450C"/>
                          </a:solidFill>
                          <a:latin typeface="Arial"/>
                        </a:rPr>
                        <a:t>Credit report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TASDEEQ report on the member’s own instruction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HQ-MF-06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02336">
                <a:tc>
                  <a:txBody>
                    <a:bodyPr wrap="square"/>
                    <a:lstStyle/>
                    <a:p>
                      <a:pPr algn="l"/>
                      <a:r>
                        <a:rPr sz="940" b="1">
                          <a:solidFill>
                            <a:srgbClr val="22450C"/>
                          </a:solidFill>
                          <a:latin typeface="Arial"/>
                        </a:rPr>
                        <a:t>Seats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 new member takes only the last three seats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HQ-MF-01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7836408" y="1828800"/>
            <a:ext cx="3785615" cy="1920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36408" y="1828800"/>
            <a:ext cx="45720" cy="1920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0" y="1938528"/>
            <a:ext cx="3511295"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Cover</a:t>
            </a:r>
          </a:p>
        </p:txBody>
      </p:sp>
      <p:sp>
        <p:nvSpPr>
          <p:cNvPr id="15" name="TextBox 14"/>
          <p:cNvSpPr txBox="1"/>
          <p:nvPr/>
        </p:nvSpPr>
        <p:spPr>
          <a:xfrm>
            <a:off x="8001000" y="2231136"/>
            <a:ext cx="3511295" cy="1463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Takaful cover is mandatory on these circles, priced so the fund survives one circle in five losing a fifth of its members from the earliest seats (HQ-MF-05).</a:t>
            </a:r>
          </a:p>
        </p:txBody>
      </p:sp>
      <p:sp>
        <p:nvSpPr>
          <p:cNvPr id="16" name="Rectangle 15"/>
          <p:cNvSpPr/>
          <p:nvPr/>
        </p:nvSpPr>
        <p:spPr>
          <a:xfrm>
            <a:off x="7836408" y="3886200"/>
            <a:ext cx="3785615" cy="1920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36408" y="3886200"/>
            <a:ext cx="45720" cy="1920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3995928"/>
            <a:ext cx="3511295"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Hyper in numbers</a:t>
            </a:r>
          </a:p>
        </p:txBody>
      </p:sp>
      <p:sp>
        <p:nvSpPr>
          <p:cNvPr id="19" name="TextBox 18"/>
          <p:cNvSpPr txBox="1"/>
          <p:nvPr/>
        </p:nvSpPr>
        <p:spPr>
          <a:xfrm>
            <a:off x="8001000" y="4288536"/>
            <a:ext cx="3511295" cy="1463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Option 1 needs verified income of about Rs 40,909 a month. The Rs 1,000 daily floor proves daily income exists; affordability is tested separately.</a:t>
            </a:r>
          </a:p>
        </p:txBody>
      </p:sp>
      <p:cxnSp>
        <p:nvCxnSpPr>
          <p:cNvPr id="20" name="Connector 19"/>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TO BUILD  ·  SOURCE: THE MATHS DOCUMENTS HQ-MF-01 TO HQ-MF-06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STANDING</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Standing decides which seats a member may claim</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score never reorders a circle once it starts. It limits which free seats are offered at join.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32</a:t>
            </a:r>
          </a:p>
        </p:txBody>
      </p:sp>
      <p:sp>
        <p:nvSpPr>
          <p:cNvPr id="10" name="TextBox 9"/>
          <p:cNvSpPr txBox="1"/>
          <p:nvPr/>
        </p:nvSpPr>
        <p:spPr>
          <a:xfrm>
            <a:off x="566928" y="1572768"/>
            <a:ext cx="658368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29   The internal score, 300 to 850, in four bands</a:t>
            </a:r>
          </a:p>
        </p:txBody>
      </p:sp>
      <p:sp>
        <p:nvSpPr>
          <p:cNvPr id="11" name="Rectangle 10"/>
          <p:cNvSpPr/>
          <p:nvPr/>
        </p:nvSpPr>
        <p:spPr>
          <a:xfrm>
            <a:off x="566928" y="1828800"/>
            <a:ext cx="1600200" cy="128016"/>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Rebuilding</a:t>
            </a:r>
          </a:p>
        </p:txBody>
      </p:sp>
      <p:sp>
        <p:nvSpPr>
          <p:cNvPr id="13" name="TextBox 12"/>
          <p:cNvSpPr txBox="1"/>
          <p:nvPr/>
        </p:nvSpPr>
        <p:spPr>
          <a:xfrm>
            <a:off x="56692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below 550</a:t>
            </a:r>
          </a:p>
        </p:txBody>
      </p:sp>
      <p:sp>
        <p:nvSpPr>
          <p:cNvPr id="14" name="Rectangle 13"/>
          <p:cNvSpPr/>
          <p:nvPr/>
        </p:nvSpPr>
        <p:spPr>
          <a:xfrm>
            <a:off x="2212848" y="1828800"/>
            <a:ext cx="1600200" cy="128016"/>
          </a:xfrm>
          <a:prstGeom prst="rect">
            <a:avLst/>
          </a:prstGeom>
          <a:solidFill>
            <a:srgbClr val="B77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1284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Fair</a:t>
            </a:r>
          </a:p>
        </p:txBody>
      </p:sp>
      <p:sp>
        <p:nvSpPr>
          <p:cNvPr id="16" name="TextBox 15"/>
          <p:cNvSpPr txBox="1"/>
          <p:nvPr/>
        </p:nvSpPr>
        <p:spPr>
          <a:xfrm>
            <a:off x="221284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550 to 649</a:t>
            </a:r>
          </a:p>
        </p:txBody>
      </p:sp>
      <p:sp>
        <p:nvSpPr>
          <p:cNvPr id="17" name="Rectangle 16"/>
          <p:cNvSpPr/>
          <p:nvPr/>
        </p:nvSpPr>
        <p:spPr>
          <a:xfrm>
            <a:off x="3858768" y="1828800"/>
            <a:ext cx="1600200" cy="128016"/>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5876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Good</a:t>
            </a:r>
          </a:p>
        </p:txBody>
      </p:sp>
      <p:sp>
        <p:nvSpPr>
          <p:cNvPr id="19" name="TextBox 18"/>
          <p:cNvSpPr txBox="1"/>
          <p:nvPr/>
        </p:nvSpPr>
        <p:spPr>
          <a:xfrm>
            <a:off x="385876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650 to 749</a:t>
            </a:r>
          </a:p>
        </p:txBody>
      </p:sp>
      <p:sp>
        <p:nvSpPr>
          <p:cNvPr id="20" name="Rectangle 19"/>
          <p:cNvSpPr/>
          <p:nvPr/>
        </p:nvSpPr>
        <p:spPr>
          <a:xfrm>
            <a:off x="5504688" y="1828800"/>
            <a:ext cx="1600200" cy="128016"/>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Excellent</a:t>
            </a:r>
          </a:p>
        </p:txBody>
      </p:sp>
      <p:sp>
        <p:nvSpPr>
          <p:cNvPr id="22" name="TextBox 21"/>
          <p:cNvSpPr txBox="1"/>
          <p:nvPr/>
        </p:nvSpPr>
        <p:spPr>
          <a:xfrm>
            <a:off x="550468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750 and above</a:t>
            </a:r>
          </a:p>
        </p:txBody>
      </p:sp>
      <p:graphicFrame>
        <p:nvGraphicFramePr>
          <p:cNvPr id="23" name="Table 22"/>
          <p:cNvGraphicFramePr>
            <a:graphicFrameLocks noGrp="1"/>
          </p:cNvGraphicFramePr>
          <p:nvPr/>
        </p:nvGraphicFramePr>
        <p:xfrm>
          <a:off x="566928" y="2697480"/>
          <a:ext cx="6583680" cy="1554480"/>
        </p:xfrm>
        <a:graphic>
          <a:graphicData uri="http://schemas.openxmlformats.org/drawingml/2006/table">
            <a:tbl>
              <a:tblPr>
                <a:tableStyleId>{5C22544A-7EE6-4342-B048-85BDC9FD1C3A}</a:tableStyleId>
              </a:tblPr>
              <a:tblGrid>
                <a:gridCol w="1645920"/>
                <a:gridCol w="4937760"/>
              </a:tblGrid>
              <a:tr h="310896">
                <a:tc>
                  <a:txBody>
                    <a:bodyPr wrap="square"/>
                    <a:lstStyle/>
                    <a:p>
                      <a:pPr algn="l"/>
                      <a:r>
                        <a:rPr sz="900" b="1">
                          <a:solidFill>
                            <a:srgbClr val="F3FCE7"/>
                          </a:solidFill>
                          <a:latin typeface="Arial"/>
                        </a:rPr>
                        <a:t>Band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Seats a member may claim at join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Rebuilding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The last three seats, never earlier than the second half of the order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Fair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Any free seat in the second half of the order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Good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Any free seat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Excellent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Any free seat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24" name="TextBox 23"/>
          <p:cNvSpPr txBox="1"/>
          <p:nvPr/>
        </p:nvSpPr>
        <p:spPr>
          <a:xfrm>
            <a:off x="566928" y="4434840"/>
            <a:ext cx="6583680" cy="365760"/>
          </a:xfrm>
          <a:prstGeom prst="rect">
            <a:avLst/>
          </a:prstGeom>
          <a:noFill/>
        </p:spPr>
        <p:txBody>
          <a:bodyPr wrap="square" lIns="0" rIns="0" tIns="0" bIns="0">
            <a:spAutoFit/>
          </a:bodyPr>
          <a:lstStyle/>
          <a:p>
            <a:pPr>
              <a:lnSpc>
                <a:spcPct val="105000"/>
              </a:lnSpc>
              <a:spcAft>
                <a:spcPts val="600"/>
              </a:spcAft>
            </a:pPr>
            <a:r>
              <a:rPr sz="980" b="1">
                <a:solidFill>
                  <a:srgbClr val="6DC72A"/>
                </a:solidFill>
                <a:latin typeface="Georgia"/>
              </a:rPr>
              <a:t>|  </a:t>
            </a:r>
            <a:r>
              <a:rPr sz="980" b="1">
                <a:solidFill>
                  <a:srgbClr val="22450C"/>
                </a:solidFill>
                <a:latin typeface="Arial"/>
              </a:rPr>
              <a:t>New accounts.  </a:t>
            </a:r>
            <a:r>
              <a:rPr sz="980">
                <a:solidFill>
                  <a:srgbClr val="0C1408"/>
                </a:solidFill>
                <a:latin typeface="Arial"/>
              </a:rPr>
              <a:t>Open at 700, in the Good band.</a:t>
            </a:r>
          </a:p>
          <a:p>
            <a:pPr>
              <a:lnSpc>
                <a:spcPct val="105000"/>
              </a:lnSpc>
              <a:spcAft>
                <a:spcPts val="600"/>
              </a:spcAft>
            </a:pPr>
            <a:r>
              <a:rPr sz="980" b="1">
                <a:solidFill>
                  <a:srgbClr val="6DC72A"/>
                </a:solidFill>
                <a:latin typeface="Georgia"/>
              </a:rPr>
              <a:t>|  </a:t>
            </a:r>
            <a:r>
              <a:rPr sz="980" b="1">
                <a:solidFill>
                  <a:srgbClr val="22450C"/>
                </a:solidFill>
                <a:latin typeface="Arial"/>
              </a:rPr>
              <a:t>New member rule.  </a:t>
            </a:r>
            <a:r>
              <a:rPr sz="980">
                <a:solidFill>
                  <a:srgbClr val="0C1408"/>
                </a:solidFill>
                <a:latin typeface="Arial"/>
              </a:rPr>
              <a:t>Whatever the score, a member with no history takes only the final seats until two clean circles are complete and verification is done.</a:t>
            </a:r>
          </a:p>
          <a:p>
            <a:pPr>
              <a:lnSpc>
                <a:spcPct val="105000"/>
              </a:lnSpc>
              <a:spcAft>
                <a:spcPts val="600"/>
              </a:spcAft>
            </a:pPr>
            <a:r>
              <a:rPr sz="980" b="1">
                <a:solidFill>
                  <a:srgbClr val="6DC72A"/>
                </a:solidFill>
                <a:latin typeface="Georgia"/>
              </a:rPr>
              <a:t>|  </a:t>
            </a:r>
            <a:r>
              <a:rPr sz="980" b="1">
                <a:solidFill>
                  <a:srgbClr val="22450C"/>
                </a:solidFill>
                <a:latin typeface="Arial"/>
              </a:rPr>
              <a:t>Seat market.  </a:t>
            </a:r>
            <a:r>
              <a:rPr sz="980">
                <a:solidFill>
                  <a:srgbClr val="0C1408"/>
                </a:solidFill>
                <a:latin typeface="Arial"/>
              </a:rPr>
              <a:t>A member may buy an earlier seat from another member for points, at a price the two agree. No money passes between them; the buyer pays Halqa a flat Rs 500 (HQ-CP-04).</a:t>
            </a:r>
          </a:p>
        </p:txBody>
      </p:sp>
      <p:sp>
        <p:nvSpPr>
          <p:cNvPr id="25" name="TextBox 24"/>
          <p:cNvSpPr txBox="1"/>
          <p:nvPr/>
        </p:nvSpPr>
        <p:spPr>
          <a:xfrm>
            <a:off x="7516368" y="1572768"/>
            <a:ext cx="41148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Why the signal is strong</a:t>
            </a:r>
          </a:p>
        </p:txBody>
      </p:sp>
      <p:sp>
        <p:nvSpPr>
          <p:cNvPr id="26" name="TextBox 25"/>
          <p:cNvSpPr txBox="1"/>
          <p:nvPr/>
        </p:nvSpPr>
        <p:spPr>
          <a:xfrm>
            <a:off x="7516368" y="1938528"/>
            <a:ext cx="4114800" cy="2011680"/>
          </a:xfrm>
          <a:prstGeom prst="rect">
            <a:avLst/>
          </a:prstGeom>
          <a:noFill/>
        </p:spPr>
        <p:txBody>
          <a:bodyPr wrap="square" lIns="0" rIns="0" tIns="0" bIns="0" anchor="t">
            <a:spAutoFit/>
          </a:bodyPr>
          <a:lstStyle/>
          <a:p>
            <a:pPr algn="l">
              <a:lnSpc>
                <a:spcPct val="114000"/>
              </a:lnSpc>
              <a:spcAft>
                <a:spcPts val="800"/>
              </a:spcAft>
            </a:pPr>
            <a:r>
              <a:rPr sz="1000" b="0" i="0">
                <a:solidFill>
                  <a:srgbClr val="0C1408"/>
                </a:solidFill>
                <a:latin typeface="Arial"/>
              </a:rPr>
              <a:t>Households rank the committee instalment above rent and utility bills. An informant in Kamran (2017), a housemaid earning Rs 15,000 a month, described the instalment as the one payment that is not missed.</a:t>
            </a:r>
          </a:p>
          <a:p>
            <a:pPr algn="l">
              <a:lnSpc>
                <a:spcPct val="114000"/>
              </a:lnSpc>
              <a:spcAft>
                <a:spcPts val="800"/>
              </a:spcAft>
            </a:pPr>
            <a:r>
              <a:rPr sz="1000" b="0" i="0">
                <a:solidFill>
                  <a:srgbClr val="0C1408"/>
                </a:solidFill>
                <a:latin typeface="Arial"/>
              </a:rPr>
              <a:t>A score built from committee payments therefore carries the strongest repayment signal the household has.</a:t>
            </a:r>
          </a:p>
        </p:txBody>
      </p:sp>
      <p:sp>
        <p:nvSpPr>
          <p:cNvPr id="27" name="Rectangle 26"/>
          <p:cNvSpPr/>
          <p:nvPr/>
        </p:nvSpPr>
        <p:spPr>
          <a:xfrm>
            <a:off x="7516368" y="4114800"/>
            <a:ext cx="4105656" cy="164592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16368" y="4114800"/>
            <a:ext cx="45720" cy="16459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4224528"/>
            <a:ext cx="383133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Affordability and exposure</a:t>
            </a:r>
          </a:p>
        </p:txBody>
      </p:sp>
      <p:sp>
        <p:nvSpPr>
          <p:cNvPr id="30" name="TextBox 29"/>
          <p:cNvSpPr txBox="1"/>
          <p:nvPr/>
        </p:nvSpPr>
        <p:spPr>
          <a:xfrm>
            <a:off x="7680960" y="4517136"/>
            <a:ext cx="3831336" cy="118872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On unknown committees, instalments are held to one third of verified income, and 40 per cent with other loans. Obligations across every circle held are summed before a seat is granted.</a:t>
            </a:r>
          </a:p>
        </p:txBody>
      </p:sp>
      <p:sp>
        <p:nvSpPr>
          <p:cNvPr id="31" name="TextBox 30"/>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score-bands.ts; Complete Feature and Process List (HQ-CP-07), sections 2 and 14.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DEFAULT AND EXIT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Prevention, recovery and exit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Most members never reach recovery. Exit runs on a ladder, and nothing is held by Halqa at any step.</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33</a:t>
            </a:r>
          </a:p>
        </p:txBody>
      </p:sp>
      <p:sp>
        <p:nvSpPr>
          <p:cNvPr id="10" name="Rectangle 9"/>
          <p:cNvSpPr/>
          <p:nvPr/>
        </p:nvSpPr>
        <p:spPr>
          <a:xfrm>
            <a:off x="566928" y="1600200"/>
            <a:ext cx="3566160" cy="4343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4343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32918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Prevention</a:t>
            </a:r>
          </a:p>
        </p:txBody>
      </p:sp>
      <p:sp>
        <p:nvSpPr>
          <p:cNvPr id="13" name="TextBox 12"/>
          <p:cNvSpPr txBox="1"/>
          <p:nvPr/>
        </p:nvSpPr>
        <p:spPr>
          <a:xfrm>
            <a:off x="731520" y="2002536"/>
            <a:ext cx="3291840" cy="3886200"/>
          </a:xfrm>
          <a:prstGeom prst="rect">
            <a:avLst/>
          </a:prstGeom>
          <a:noFill/>
        </p:spPr>
        <p:txBody>
          <a:bodyPr wrap="square" lIns="0" rIns="0" tIns="0" bIns="0" anchor="t">
            <a:spAutoFit/>
          </a:bodyPr>
          <a:lstStyle/>
          <a:p>
            <a:pPr algn="l">
              <a:lnSpc>
                <a:spcPct val="112000"/>
              </a:lnSpc>
              <a:spcAft>
                <a:spcPts val="500"/>
              </a:spcAft>
            </a:pPr>
            <a:r>
              <a:rPr sz="940" b="0" i="0">
                <a:solidFill>
                  <a:srgbClr val="0C1408"/>
                </a:solidFill>
                <a:latin typeface="Arial"/>
              </a:rPr>
              <a:t>Affordability gate at one third of verified income.</a:t>
            </a:r>
          </a:p>
          <a:p>
            <a:pPr algn="l">
              <a:lnSpc>
                <a:spcPct val="112000"/>
              </a:lnSpc>
              <a:spcAft>
                <a:spcPts val="500"/>
              </a:spcAft>
            </a:pPr>
            <a:r>
              <a:rPr sz="940" b="0" i="0">
                <a:solidFill>
                  <a:srgbClr val="0C1408"/>
                </a:solidFill>
                <a:latin typeface="Arial"/>
              </a:rPr>
              <a:t>Forward liability gate on early seats.</a:t>
            </a:r>
          </a:p>
          <a:p>
            <a:pPr algn="l">
              <a:lnSpc>
                <a:spcPct val="112000"/>
              </a:lnSpc>
              <a:spcAft>
                <a:spcPts val="500"/>
              </a:spcAft>
            </a:pPr>
            <a:r>
              <a:rPr sz="940" b="0" i="0">
                <a:solidFill>
                  <a:srgbClr val="0C1408"/>
                </a:solidFill>
                <a:latin typeface="Arial"/>
              </a:rPr>
              <a:t>Band confinement and the new member rule.</a:t>
            </a:r>
          </a:p>
          <a:p>
            <a:pPr algn="l">
              <a:lnSpc>
                <a:spcPct val="112000"/>
              </a:lnSpc>
              <a:spcAft>
                <a:spcPts val="500"/>
              </a:spcAft>
            </a:pPr>
            <a:r>
              <a:rPr sz="940" b="0" i="0">
                <a:solidFill>
                  <a:srgbClr val="0C1408"/>
                </a:solidFill>
                <a:latin typeface="Arial"/>
              </a:rPr>
              <a:t>Host vetting of every member.</a:t>
            </a:r>
          </a:p>
          <a:p>
            <a:pPr algn="l">
              <a:lnSpc>
                <a:spcPct val="112000"/>
              </a:lnSpc>
              <a:spcAft>
                <a:spcPts val="500"/>
              </a:spcAft>
            </a:pPr>
            <a:r>
              <a:rPr sz="940" b="0" i="0">
                <a:solidFill>
                  <a:srgbClr val="0C1408"/>
                </a:solidFill>
                <a:latin typeface="Arial"/>
              </a:rPr>
              <a:t>Mutual guarantee and a ten clause undertaking.</a:t>
            </a:r>
          </a:p>
          <a:p>
            <a:pPr algn="l">
              <a:lnSpc>
                <a:spcPct val="112000"/>
              </a:lnSpc>
              <a:spcAft>
                <a:spcPts val="500"/>
              </a:spcAft>
            </a:pPr>
            <a:r>
              <a:rPr sz="940" b="0" i="0">
                <a:solidFill>
                  <a:srgbClr val="0C1408"/>
                </a:solidFill>
                <a:latin typeface="Arial"/>
              </a:rPr>
              <a:t>Guarantee cheque, 80 per cent off the fee.</a:t>
            </a:r>
          </a:p>
          <a:p>
            <a:pPr algn="l">
              <a:lnSpc>
                <a:spcPct val="112000"/>
              </a:lnSpc>
              <a:spcAft>
                <a:spcPts val="500"/>
              </a:spcAft>
            </a:pPr>
            <a:r>
              <a:rPr sz="940" b="0" i="0">
                <a:solidFill>
                  <a:srgbClr val="0C1408"/>
                </a:solidFill>
                <a:latin typeface="Arial"/>
              </a:rPr>
              <a:t>Income account on unknown committees.</a:t>
            </a:r>
          </a:p>
          <a:p>
            <a:pPr algn="l">
              <a:lnSpc>
                <a:spcPct val="112000"/>
              </a:lnSpc>
              <a:spcAft>
                <a:spcPts val="500"/>
              </a:spcAft>
            </a:pPr>
            <a:r>
              <a:rPr sz="940" b="0" i="0">
                <a:solidFill>
                  <a:srgbClr val="0C1408"/>
                </a:solidFill>
                <a:latin typeface="Arial"/>
              </a:rPr>
              <a:t>Collection aligned to the inferred pay day.</a:t>
            </a:r>
          </a:p>
          <a:p>
            <a:pPr algn="l">
              <a:lnSpc>
                <a:spcPct val="112000"/>
              </a:lnSpc>
              <a:spcAft>
                <a:spcPts val="500"/>
              </a:spcAft>
            </a:pPr>
            <a:r>
              <a:rPr sz="940" b="0" i="0">
                <a:solidFill>
                  <a:srgbClr val="0C1408"/>
                </a:solidFill>
                <a:latin typeface="Arial"/>
              </a:rPr>
              <a:t>Reminders that escalate before the due date.</a:t>
            </a:r>
          </a:p>
          <a:p>
            <a:pPr algn="l">
              <a:lnSpc>
                <a:spcPct val="112000"/>
              </a:lnSpc>
              <a:spcAft>
                <a:spcPts val="500"/>
              </a:spcAft>
            </a:pPr>
            <a:r>
              <a:rPr sz="940" b="0" i="0">
                <a:solidFill>
                  <a:srgbClr val="0C1408"/>
                </a:solidFill>
                <a:latin typeface="Arial"/>
              </a:rPr>
              <a:t>Feature lock while a default is open.</a:t>
            </a:r>
          </a:p>
        </p:txBody>
      </p:sp>
      <p:sp>
        <p:nvSpPr>
          <p:cNvPr id="14" name="Rectangle 13"/>
          <p:cNvSpPr/>
          <p:nvPr/>
        </p:nvSpPr>
        <p:spPr>
          <a:xfrm>
            <a:off x="4315967" y="1600200"/>
            <a:ext cx="3566160" cy="4343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600200"/>
            <a:ext cx="45720" cy="4343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1709928"/>
            <a:ext cx="32918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Recovery</a:t>
            </a:r>
          </a:p>
        </p:txBody>
      </p:sp>
      <p:sp>
        <p:nvSpPr>
          <p:cNvPr id="17" name="TextBox 16"/>
          <p:cNvSpPr txBox="1"/>
          <p:nvPr/>
        </p:nvSpPr>
        <p:spPr>
          <a:xfrm>
            <a:off x="4480559" y="2002536"/>
            <a:ext cx="3291840" cy="3886200"/>
          </a:xfrm>
          <a:prstGeom prst="rect">
            <a:avLst/>
          </a:prstGeom>
          <a:noFill/>
        </p:spPr>
        <p:txBody>
          <a:bodyPr wrap="square" lIns="0" rIns="0" tIns="0" bIns="0" anchor="t">
            <a:spAutoFit/>
          </a:bodyPr>
          <a:lstStyle/>
          <a:p>
            <a:pPr algn="l">
              <a:lnSpc>
                <a:spcPct val="112000"/>
              </a:lnSpc>
              <a:spcAft>
                <a:spcPts val="500"/>
              </a:spcAft>
            </a:pPr>
            <a:r>
              <a:rPr sz="940" b="0" i="0">
                <a:solidFill>
                  <a:srgbClr val="0C1408"/>
                </a:solidFill>
                <a:latin typeface="Arial"/>
              </a:rPr>
              <a:t>Grace window, then a late ladder of three steps, each with a stated penalty.</a:t>
            </a:r>
          </a:p>
          <a:p>
            <a:pPr algn="l">
              <a:lnSpc>
                <a:spcPct val="112000"/>
              </a:lnSpc>
              <a:spcAft>
                <a:spcPts val="500"/>
              </a:spcAft>
            </a:pPr>
            <a:r>
              <a:rPr sz="940" b="0" i="0">
                <a:solidFill>
                  <a:srgbClr val="0C1408"/>
                </a:solidFill>
                <a:latin typeface="Arial"/>
              </a:rPr>
              <a:t>On Shariah labelled circles the penalty is given to charity at the end of the circle.</a:t>
            </a:r>
          </a:p>
          <a:p>
            <a:pPr algn="l">
              <a:lnSpc>
                <a:spcPct val="112000"/>
              </a:lnSpc>
              <a:spcAft>
                <a:spcPts val="500"/>
              </a:spcAft>
            </a:pPr>
            <a:r>
              <a:rPr sz="940" b="0" i="0">
                <a:solidFill>
                  <a:srgbClr val="0C1408"/>
                </a:solidFill>
                <a:latin typeface="Arial"/>
              </a:rPr>
              <a:t>A recovery case at the third step.</a:t>
            </a:r>
          </a:p>
          <a:p>
            <a:pPr algn="l">
              <a:lnSpc>
                <a:spcPct val="112000"/>
              </a:lnSpc>
              <a:spcAft>
                <a:spcPts val="500"/>
              </a:spcAft>
            </a:pPr>
            <a:r>
              <a:rPr sz="940" b="0" i="0">
                <a:solidFill>
                  <a:srgbClr val="0C1408"/>
                </a:solidFill>
                <a:latin typeface="Arial"/>
              </a:rPr>
              <a:t>Contact routes to a hardship statement, a waived fine and a revised date.</a:t>
            </a:r>
          </a:p>
          <a:p>
            <a:pPr algn="l">
              <a:lnSpc>
                <a:spcPct val="112000"/>
              </a:lnSpc>
              <a:spcAft>
                <a:spcPts val="500"/>
              </a:spcAft>
            </a:pPr>
            <a:r>
              <a:rPr sz="940" b="0" i="0">
                <a:solidFill>
                  <a:srgbClr val="0C1408"/>
                </a:solidFill>
                <a:latin typeface="Arial"/>
              </a:rPr>
              <a:t>Silence routes to restitution, then the guarantee and any takaful claim.</a:t>
            </a:r>
          </a:p>
          <a:p>
            <a:pPr algn="l">
              <a:lnSpc>
                <a:spcPct val="112000"/>
              </a:lnSpc>
              <a:spcAft>
                <a:spcPts val="500"/>
              </a:spcAft>
            </a:pPr>
            <a:r>
              <a:rPr sz="940" b="0" i="0">
                <a:solidFill>
                  <a:srgbClr val="0C1408"/>
                </a:solidFill>
                <a:latin typeface="Arial"/>
              </a:rPr>
              <a:t>A civil suit on the undertaking is the last step; a summary suit lies only on a guarantee cheque.</a:t>
            </a:r>
          </a:p>
          <a:p>
            <a:pPr algn="l">
              <a:lnSpc>
                <a:spcPct val="112000"/>
              </a:lnSpc>
              <a:spcAft>
                <a:spcPts val="500"/>
              </a:spcAft>
            </a:pPr>
            <a:r>
              <a:rPr sz="940" b="0" i="0">
                <a:solidFill>
                  <a:srgbClr val="0C1408"/>
                </a:solidFill>
                <a:latin typeface="Arial"/>
              </a:rPr>
              <a:t>No collection calls and no contact lists, at any stage.</a:t>
            </a:r>
          </a:p>
        </p:txBody>
      </p:sp>
      <p:sp>
        <p:nvSpPr>
          <p:cNvPr id="18" name="Rectangle 17"/>
          <p:cNvSpPr/>
          <p:nvPr/>
        </p:nvSpPr>
        <p:spPr>
          <a:xfrm>
            <a:off x="8065007" y="1600200"/>
            <a:ext cx="3557016" cy="4343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5007" y="1600200"/>
            <a:ext cx="45720" cy="4343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9" y="1709928"/>
            <a:ext cx="328269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Exit ladder</a:t>
            </a:r>
          </a:p>
        </p:txBody>
      </p:sp>
      <p:sp>
        <p:nvSpPr>
          <p:cNvPr id="21" name="TextBox 20"/>
          <p:cNvSpPr txBox="1"/>
          <p:nvPr/>
        </p:nvSpPr>
        <p:spPr>
          <a:xfrm>
            <a:off x="8229599" y="2002536"/>
            <a:ext cx="3282696" cy="3886200"/>
          </a:xfrm>
          <a:prstGeom prst="rect">
            <a:avLst/>
          </a:prstGeom>
          <a:noFill/>
        </p:spPr>
        <p:txBody>
          <a:bodyPr wrap="square" lIns="0" rIns="0" tIns="0" bIns="0" anchor="t">
            <a:spAutoFit/>
          </a:bodyPr>
          <a:lstStyle/>
          <a:p>
            <a:pPr algn="l">
              <a:lnSpc>
                <a:spcPct val="112000"/>
              </a:lnSpc>
              <a:spcAft>
                <a:spcPts val="500"/>
              </a:spcAft>
            </a:pPr>
            <a:r>
              <a:rPr sz="919" b="0" i="0">
                <a:solidFill>
                  <a:srgbClr val="0C1408"/>
                </a:solidFill>
                <a:latin typeface="Arial"/>
              </a:rPr>
              <a:t>1. Window withdrawal: inside the 24 hour confirming window, free and unrecorded.</a:t>
            </a:r>
          </a:p>
          <a:p>
            <a:pPr algn="l">
              <a:lnSpc>
                <a:spcPct val="112000"/>
              </a:lnSpc>
              <a:spcAft>
                <a:spcPts val="500"/>
              </a:spcAft>
            </a:pPr>
            <a:r>
              <a:rPr sz="919" b="0" i="0">
                <a:solidFill>
                  <a:srgbClr val="0C1408"/>
                </a:solidFill>
                <a:latin typeface="Arial"/>
              </a:rPr>
              <a:t>2. Substitution: a replacement takes the seat at no premium.</a:t>
            </a:r>
          </a:p>
          <a:p>
            <a:pPr algn="l">
              <a:lnSpc>
                <a:spcPct val="112000"/>
              </a:lnSpc>
              <a:spcAft>
                <a:spcPts val="500"/>
              </a:spcAft>
            </a:pPr>
            <a:r>
              <a:rPr sz="919" b="0" i="0">
                <a:solidFill>
                  <a:srgbClr val="0C1408"/>
                </a:solidFill>
                <a:latin typeface="Arial"/>
              </a:rPr>
              <a:t>3. Group approved exit: a 72 hour vote, majority of votes cast, 50 per cent quorum.</a:t>
            </a:r>
          </a:p>
          <a:p>
            <a:pPr algn="l">
              <a:lnSpc>
                <a:spcPct val="112000"/>
              </a:lnSpc>
              <a:spcAft>
                <a:spcPts val="500"/>
              </a:spcAft>
            </a:pPr>
            <a:r>
              <a:rPr sz="919" b="0" i="0">
                <a:solidFill>
                  <a:srgbClr val="0C1408"/>
                </a:solidFill>
                <a:latin typeface="Arial"/>
              </a:rPr>
              <a:t>4. Hardship exit: a recorded statement, the fine waived, annotated as hardship and not default.</a:t>
            </a:r>
          </a:p>
          <a:p>
            <a:pPr algn="l">
              <a:lnSpc>
                <a:spcPct val="112000"/>
              </a:lnSpc>
              <a:spcAft>
                <a:spcPts val="500"/>
              </a:spcAft>
            </a:pPr>
            <a:r>
              <a:rPr sz="919" b="0" i="0">
                <a:solidFill>
                  <a:srgbClr val="0C1408"/>
                </a:solidFill>
                <a:latin typeface="Arial"/>
              </a:rPr>
              <a:t>5. Abandonment: not an exit; the recovery path applies.</a:t>
            </a:r>
          </a:p>
          <a:p>
            <a:pPr algn="l">
              <a:lnSpc>
                <a:spcPct val="112000"/>
              </a:lnSpc>
              <a:spcAft>
                <a:spcPts val="500"/>
              </a:spcAft>
            </a:pPr>
            <a:r>
              <a:rPr sz="919" b="0" i="0">
                <a:solidFill>
                  <a:srgbClr val="0C1408"/>
                </a:solidFill>
                <a:latin typeface="Arial"/>
              </a:rPr>
              <a:t>Where no replacement is found, each member who has already collected owes the leaver one contribution, settled at completion.</a:t>
            </a:r>
          </a:p>
        </p:txBody>
      </p:sp>
      <p:sp>
        <p:nvSpPr>
          <p:cNvPr id="22" name="TextBox 21"/>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exit-ladder.ts. Defaulting on a signed guarantee is a civil matter and recovery needs a decree. The summary procedure of Order XXXVII applies only to bills of exchange, hundis and promissory notes, such as a guarantee cheque.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CREDIT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bureau link</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Committee repayment history exists in no bureau today. Halqa can supply it through a private bureau without a financial licence.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34</a:t>
            </a:r>
          </a:p>
        </p:txBody>
      </p:sp>
      <p:sp>
        <p:nvSpPr>
          <p:cNvPr id="10" name="TextBox 9"/>
          <p:cNvSpPr txBox="1"/>
          <p:nvPr/>
        </p:nvSpPr>
        <p:spPr>
          <a:xfrm>
            <a:off x="566928" y="1645920"/>
            <a:ext cx="6400800" cy="365760"/>
          </a:xfrm>
          <a:prstGeom prst="rect">
            <a:avLst/>
          </a:prstGeom>
          <a:noFill/>
        </p:spPr>
        <p:txBody>
          <a:bodyPr wrap="square" lIns="0" rIns="0" tIns="0" bIns="0">
            <a:spAutoFit/>
          </a:bodyPr>
          <a:lstStyle/>
          <a:p>
            <a:pPr>
              <a:lnSpc>
                <a:spcPct val="105000"/>
              </a:lnSpc>
              <a:spcAft>
                <a:spcPts val="800"/>
              </a:spcAft>
            </a:pPr>
            <a:r>
              <a:rPr sz="1000" b="1">
                <a:solidFill>
                  <a:srgbClr val="6DC72A"/>
                </a:solidFill>
                <a:latin typeface="Georgia"/>
              </a:rPr>
              <a:t>|  </a:t>
            </a:r>
            <a:r>
              <a:rPr sz="1000" b="1">
                <a:solidFill>
                  <a:srgbClr val="22450C"/>
                </a:solidFill>
                <a:latin typeface="Arial"/>
              </a:rPr>
              <a:t>Route to a report.  </a:t>
            </a:r>
            <a:r>
              <a:rPr sz="1000">
                <a:solidFill>
                  <a:srgbClr val="0C1408"/>
                </a:solidFill>
                <a:latin typeface="Arial"/>
              </a:rPr>
              <a:t>On the member’s written or electronic instruction under section 19(1)(b) of the Credit Bureaus Act 2015. Section 19(1)(a) is confined to credit institutions.</a:t>
            </a:r>
          </a:p>
          <a:p>
            <a:pPr>
              <a:lnSpc>
                <a:spcPct val="105000"/>
              </a:lnSpc>
              <a:spcAft>
                <a:spcPts val="800"/>
              </a:spcAft>
            </a:pPr>
            <a:r>
              <a:rPr sz="1000" b="1">
                <a:solidFill>
                  <a:srgbClr val="6DC72A"/>
                </a:solidFill>
                <a:latin typeface="Georgia"/>
              </a:rPr>
              <a:t>|  </a:t>
            </a:r>
            <a:r>
              <a:rPr sz="1000" b="1">
                <a:solidFill>
                  <a:srgbClr val="22450C"/>
                </a:solidFill>
                <a:latin typeface="Arial"/>
              </a:rPr>
              <a:t>Bureau.  </a:t>
            </a:r>
            <a:r>
              <a:rPr sz="1000">
                <a:solidFill>
                  <a:srgbClr val="0C1408"/>
                </a:solidFill>
                <a:latin typeface="Arial"/>
              </a:rPr>
              <a:t>A subscriber agreement with TASDEEQ, with DataCheck as the alternate. Neither is contracted.</a:t>
            </a:r>
          </a:p>
          <a:p>
            <a:pPr>
              <a:lnSpc>
                <a:spcPct val="105000"/>
              </a:lnSpc>
              <a:spcAft>
                <a:spcPts val="800"/>
              </a:spcAft>
            </a:pPr>
            <a:r>
              <a:rPr sz="1000" b="1">
                <a:solidFill>
                  <a:srgbClr val="6DC72A"/>
                </a:solidFill>
                <a:latin typeface="Georgia"/>
              </a:rPr>
              <a:t>|  </a:t>
            </a:r>
            <a:r>
              <a:rPr sz="1000" b="1">
                <a:solidFill>
                  <a:srgbClr val="22450C"/>
                </a:solidFill>
                <a:latin typeface="Arial"/>
              </a:rPr>
              <a:t>State register.  </a:t>
            </a:r>
            <a:r>
              <a:rPr sz="1000">
                <a:solidFill>
                  <a:srgbClr val="0C1408"/>
                </a:solidFill>
                <a:latin typeface="Arial"/>
              </a:rPr>
              <a:t>The State Bank’s eCIB is closed to non-banks and is not a source.</a:t>
            </a:r>
          </a:p>
          <a:p>
            <a:pPr>
              <a:lnSpc>
                <a:spcPct val="105000"/>
              </a:lnSpc>
              <a:spcAft>
                <a:spcPts val="800"/>
              </a:spcAft>
            </a:pPr>
            <a:r>
              <a:rPr sz="1000" b="1">
                <a:solidFill>
                  <a:srgbClr val="6DC72A"/>
                </a:solidFill>
                <a:latin typeface="Georgia"/>
              </a:rPr>
              <a:t>|  </a:t>
            </a:r>
            <a:r>
              <a:rPr sz="1000" b="1">
                <a:solidFill>
                  <a:srgbClr val="22450C"/>
                </a:solidFill>
                <a:latin typeface="Arial"/>
              </a:rPr>
              <a:t>Writing back.  </a:t>
            </a:r>
            <a:r>
              <a:rPr sz="1000">
                <a:solidFill>
                  <a:srgbClr val="0C1408"/>
                </a:solidFill>
                <a:latin typeface="Arial"/>
              </a:rPr>
              <a:t>Repayment history is furnished once the Federal Government notifies furnishers that are not credit institutions, under section 11(1).</a:t>
            </a:r>
          </a:p>
          <a:p>
            <a:pPr>
              <a:lnSpc>
                <a:spcPct val="105000"/>
              </a:lnSpc>
              <a:spcAft>
                <a:spcPts val="800"/>
              </a:spcAft>
            </a:pPr>
            <a:r>
              <a:rPr sz="1000" b="1">
                <a:solidFill>
                  <a:srgbClr val="6DC72A"/>
                </a:solidFill>
                <a:latin typeface="Georgia"/>
              </a:rPr>
              <a:t>|  </a:t>
            </a:r>
            <a:r>
              <a:rPr sz="1000" b="1">
                <a:solidFill>
                  <a:srgbClr val="22450C"/>
                </a:solidFill>
                <a:latin typeface="Arial"/>
              </a:rPr>
              <a:t>Adverse action.  </a:t>
            </a:r>
            <a:r>
              <a:rPr sz="1000">
                <a:solidFill>
                  <a:srgbClr val="0C1408"/>
                </a:solidFill>
                <a:latin typeface="Arial"/>
              </a:rPr>
              <a:t>Where a report restricts a seat, the member receives the pack that section 31 requires.</a:t>
            </a:r>
          </a:p>
          <a:p>
            <a:pPr>
              <a:lnSpc>
                <a:spcPct val="105000"/>
              </a:lnSpc>
              <a:spcAft>
                <a:spcPts val="800"/>
              </a:spcAft>
            </a:pPr>
            <a:r>
              <a:rPr sz="1000" b="1">
                <a:solidFill>
                  <a:srgbClr val="6DC72A"/>
                </a:solidFill>
                <a:latin typeface="Georgia"/>
              </a:rPr>
              <a:t>|  </a:t>
            </a:r>
            <a:r>
              <a:rPr sz="1000" b="1">
                <a:solidFill>
                  <a:srgbClr val="22450C"/>
                </a:solidFill>
                <a:latin typeface="Arial"/>
              </a:rPr>
              <a:t>Scale.  </a:t>
            </a:r>
            <a:r>
              <a:rPr sz="1000">
                <a:solidFill>
                  <a:srgbClr val="0C1408"/>
                </a:solidFill>
                <a:latin typeface="Arial"/>
              </a:rPr>
              <a:t>Reports arrive on the TASDEEQ scale of 200 to 600 and are held apart from the internal score of 300 to 850.</a:t>
            </a:r>
          </a:p>
        </p:txBody>
      </p:sp>
      <p:sp>
        <p:nvSpPr>
          <p:cNvPr id="11" name="Rectangle 10"/>
          <p:cNvSpPr/>
          <p:nvPr/>
        </p:nvSpPr>
        <p:spPr>
          <a:xfrm>
            <a:off x="7333488" y="1645920"/>
            <a:ext cx="4288536" cy="23774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33488" y="1645920"/>
            <a:ext cx="45720" cy="23774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0" y="1755648"/>
            <a:ext cx="40142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Measured elsewhere</a:t>
            </a:r>
          </a:p>
        </p:txBody>
      </p:sp>
      <p:sp>
        <p:nvSpPr>
          <p:cNvPr id="14" name="TextBox 13"/>
          <p:cNvSpPr txBox="1"/>
          <p:nvPr/>
        </p:nvSpPr>
        <p:spPr>
          <a:xfrm>
            <a:off x="7498080" y="2048256"/>
            <a:ext cx="4014216" cy="19202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Mission Asset Fund, a San Francisco non-profit, runs lending circles on the Mexican tanda and reports each payment to the three US bureaus. It reports an average score increase of 168 points for participants.</a:t>
            </a:r>
          </a:p>
        </p:txBody>
      </p:sp>
      <p:sp>
        <p:nvSpPr>
          <p:cNvPr id="15" name="Rectangle 14"/>
          <p:cNvSpPr/>
          <p:nvPr/>
        </p:nvSpPr>
        <p:spPr>
          <a:xfrm>
            <a:off x="7333488" y="4160520"/>
            <a:ext cx="4288536"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33488" y="4160520"/>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0" y="4270248"/>
            <a:ext cx="40142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Precedent at home</a:t>
            </a:r>
          </a:p>
        </p:txBody>
      </p:sp>
      <p:sp>
        <p:nvSpPr>
          <p:cNvPr id="18" name="TextBox 17"/>
          <p:cNvSpPr txBox="1"/>
          <p:nvPr/>
        </p:nvSpPr>
        <p:spPr>
          <a:xfrm>
            <a:off x="7498080" y="4562856"/>
            <a:ext cx="4014216" cy="11430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Karandaaz, a non-bank, has signed a data agreement with TASDEEQ.</a:t>
            </a:r>
          </a:p>
        </p:txBody>
      </p:sp>
      <p:sp>
        <p:nvSpPr>
          <p:cNvPr id="19" name="TextBox 18"/>
          <p:cNvSpPr txBox="1"/>
          <p:nvPr/>
        </p:nvSpPr>
        <p:spPr>
          <a:xfrm>
            <a:off x="566928" y="594360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for the statute; reported for Mission Asset Fund and Karandaaz.</a:t>
            </a:r>
          </a:p>
        </p:txBody>
      </p:sp>
      <p:cxnSp>
        <p:nvCxnSpPr>
          <p:cNvPr id="20" name="Connector 19"/>
          <p:cNvCxnSpPr/>
          <p:nvPr/>
        </p:nvCxnSpPr>
        <p:spPr>
          <a:xfrm>
            <a:off x="566928" y="6217920"/>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6217920"/>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TO BUILD  ·  BUREAU SUBSCRIBER AGREEMENT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LATER STAGES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Cover and savings sit with licensed institutions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opens only when its registration is in hand, and neither places member money with Halqa.</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35</a:t>
            </a:r>
          </a:p>
        </p:txBody>
      </p:sp>
      <p:sp>
        <p:nvSpPr>
          <p:cNvPr id="10" name="Rectangle 9"/>
          <p:cNvSpPr/>
          <p:nvPr/>
        </p:nvSpPr>
        <p:spPr>
          <a:xfrm>
            <a:off x="566928" y="1600200"/>
            <a:ext cx="5394960" cy="4206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Cover</a:t>
            </a:r>
          </a:p>
        </p:txBody>
      </p:sp>
      <p:sp>
        <p:nvSpPr>
          <p:cNvPr id="13" name="TextBox 12"/>
          <p:cNvSpPr txBox="1"/>
          <p:nvPr/>
        </p:nvSpPr>
        <p:spPr>
          <a:xfrm>
            <a:off x="731520" y="2002536"/>
            <a:ext cx="5120640" cy="3749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Written and priced by a licensed general takaful operator: Pak-Qatar General Takaful or Salaam Takaful, none contracted.</a:t>
            </a:r>
          </a:p>
          <a:p>
            <a:pPr algn="l">
              <a:lnSpc>
                <a:spcPct val="112000"/>
              </a:lnSpc>
              <a:spcAft>
                <a:spcPts val="500"/>
              </a:spcAft>
            </a:pPr>
            <a:r>
              <a:rPr sz="980" b="0" i="0">
                <a:solidFill>
                  <a:srgbClr val="0C1408"/>
                </a:solidFill>
                <a:latin typeface="Arial"/>
              </a:rPr>
              <a:t>Contributions sit in the participants risk fund, which the participants own and the operator manages.</a:t>
            </a:r>
          </a:p>
          <a:p>
            <a:pPr algn="l">
              <a:lnSpc>
                <a:spcPct val="112000"/>
              </a:lnSpc>
              <a:spcAft>
                <a:spcPts val="500"/>
              </a:spcAft>
            </a:pPr>
            <a:r>
              <a:rPr sz="980" b="0" i="0">
                <a:solidFill>
                  <a:srgbClr val="0C1408"/>
                </a:solidFill>
                <a:latin typeface="Arial"/>
              </a:rPr>
              <a:t>Mandatory on unknown committees and a fixed part of every payment on Hyper; optional on known committees.</a:t>
            </a:r>
          </a:p>
          <a:p>
            <a:pPr algn="l">
              <a:lnSpc>
                <a:spcPct val="112000"/>
              </a:lnSpc>
              <a:spcAft>
                <a:spcPts val="500"/>
              </a:spcAft>
            </a:pPr>
            <a:r>
              <a:rPr sz="980" b="0" i="0">
                <a:solidFill>
                  <a:srgbClr val="0C1408"/>
                </a:solidFill>
                <a:latin typeface="Arial"/>
              </a:rPr>
              <a:t>Claims paid by the operator to the member left short, in that member’s own name.</a:t>
            </a:r>
          </a:p>
          <a:p>
            <a:pPr algn="l">
              <a:lnSpc>
                <a:spcPct val="112000"/>
              </a:lnSpc>
              <a:spcAft>
                <a:spcPts val="500"/>
              </a:spcAft>
            </a:pPr>
            <a:r>
              <a:rPr sz="980" b="0" i="0">
                <a:solidFill>
                  <a:srgbClr val="0C1408"/>
                </a:solidFill>
                <a:latin typeface="Arial"/>
              </a:rPr>
              <a:t>Halqa acts as agent under a written agency agreement and earns a disclosed commission.</a:t>
            </a:r>
          </a:p>
        </p:txBody>
      </p:sp>
      <p:sp>
        <p:nvSpPr>
          <p:cNvPr id="14" name="Rectangle 13"/>
          <p:cNvSpPr/>
          <p:nvPr/>
        </p:nvSpPr>
        <p:spPr>
          <a:xfrm>
            <a:off x="6236208" y="1600200"/>
            <a:ext cx="5394960" cy="4206240"/>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00200"/>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Savings</a:t>
            </a:r>
          </a:p>
        </p:txBody>
      </p:sp>
      <p:sp>
        <p:nvSpPr>
          <p:cNvPr id="17" name="TextBox 16"/>
          <p:cNvSpPr txBox="1"/>
          <p:nvPr/>
        </p:nvSpPr>
        <p:spPr>
          <a:xfrm>
            <a:off x="6400800" y="2002536"/>
            <a:ext cx="5120640" cy="3749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A fund managed by a licensed asset manager, Mahaana Wealth as candidate, with the Central Depository Company of Pakistan as trustee. None contracted.</a:t>
            </a:r>
          </a:p>
          <a:p>
            <a:pPr algn="l">
              <a:lnSpc>
                <a:spcPct val="112000"/>
              </a:lnSpc>
              <a:spcAft>
                <a:spcPts val="500"/>
              </a:spcAft>
            </a:pPr>
            <a:r>
              <a:rPr sz="980" b="0" i="0">
                <a:solidFill>
                  <a:srgbClr val="0C1408"/>
                </a:solidFill>
                <a:latin typeface="Arial"/>
              </a:rPr>
              <a:t>The trust deed is executed on paper, because the Electronic Transactions Ordinance does not reach a trust (section 31(1)(c)).</a:t>
            </a:r>
          </a:p>
          <a:p>
            <a:pPr algn="l">
              <a:lnSpc>
                <a:spcPct val="112000"/>
              </a:lnSpc>
              <a:spcAft>
                <a:spcPts val="500"/>
              </a:spcAft>
            </a:pPr>
            <a:r>
              <a:rPr sz="980" b="0" i="0">
                <a:solidFill>
                  <a:srgbClr val="0C1408"/>
                </a:solidFill>
                <a:latin typeface="Arial"/>
              </a:rPr>
              <a:t>Money passes from the member to the trustee collection account directly, and units are issued in the member’s own name.</a:t>
            </a:r>
          </a:p>
          <a:p>
            <a:pPr algn="l">
              <a:lnSpc>
                <a:spcPct val="112000"/>
              </a:lnSpc>
              <a:spcAft>
                <a:spcPts val="500"/>
              </a:spcAft>
            </a:pPr>
            <a:r>
              <a:rPr sz="980" b="0" i="0">
                <a:solidFill>
                  <a:srgbClr val="0C1408"/>
                </a:solidFill>
                <a:latin typeface="Arial"/>
              </a:rPr>
              <a:t>Halqa is an execution only distributor: nothing is recommended, and it takes no share of fund profit.</a:t>
            </a:r>
          </a:p>
        </p:txBody>
      </p:sp>
      <p:cxnSp>
        <p:nvCxnSpPr>
          <p:cNvPr id="18" name="Connector 17"/>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AGENT FOR COVER  ·  STAGE 2 FOR SAVINGS  ·  SOURCE: FEATURE LIST (HQ-CP-07), SECTIONS 20 AND 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ASSET COMMITTEES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Asset committees through a licensed modaraba</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A committee through which members obtain a motorcycle, rickshaw or machine. The modaraba owns and leases the asset; Halqa arranges the circle and holds nothing. Every member takes an asset in the first month.</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36</a:t>
            </a:r>
          </a:p>
        </p:txBody>
      </p:sp>
      <p:sp>
        <p:nvSpPr>
          <p:cNvPr id="10" name="Rectangle 9"/>
          <p:cNvSpPr/>
          <p:nvPr/>
        </p:nvSpPr>
        <p:spPr>
          <a:xfrm>
            <a:off x="566928" y="1600200"/>
            <a:ext cx="5394960" cy="210312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21031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How it works</a:t>
            </a:r>
          </a:p>
        </p:txBody>
      </p:sp>
      <p:sp>
        <p:nvSpPr>
          <p:cNvPr id="13" name="TextBox 12"/>
          <p:cNvSpPr txBox="1"/>
          <p:nvPr/>
        </p:nvSpPr>
        <p:spPr>
          <a:xfrm>
            <a:off x="731520" y="2002536"/>
            <a:ext cx="5120640" cy="164592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The modaraba buys each member’s asset and leases it to the member under ijarah for the length of the circle.</a:t>
            </a:r>
          </a:p>
          <a:p>
            <a:pPr algn="l">
              <a:lnSpc>
                <a:spcPct val="112000"/>
              </a:lnSpc>
              <a:spcAft>
                <a:spcPts val="500"/>
              </a:spcAft>
            </a:pPr>
            <a:r>
              <a:rPr sz="980" b="0" i="0">
                <a:solidFill>
                  <a:srgbClr val="0C1408"/>
                </a:solidFill>
                <a:latin typeface="Arial"/>
              </a:rPr>
              <a:t>The member pays one monthly rental on the circle’s date; from it the modaraba pays the contribution.</a:t>
            </a:r>
          </a:p>
          <a:p>
            <a:pPr algn="l">
              <a:lnSpc>
                <a:spcPct val="112000"/>
              </a:lnSpc>
              <a:spcAft>
                <a:spcPts val="500"/>
              </a:spcAft>
            </a:pPr>
            <a:r>
              <a:rPr sz="980" b="0" i="0">
                <a:solidFill>
                  <a:srgbClr val="0C1408"/>
                </a:solidFill>
                <a:latin typeface="Arial"/>
              </a:rPr>
              <a:t>At the member’s turn the pot goes to the modaraba as advance rental. Ownership passes when the circle ends.</a:t>
            </a:r>
          </a:p>
        </p:txBody>
      </p:sp>
      <p:sp>
        <p:nvSpPr>
          <p:cNvPr id="14" name="Rectangle 13"/>
          <p:cNvSpPr/>
          <p:nvPr/>
        </p:nvSpPr>
        <p:spPr>
          <a:xfrm>
            <a:off x="566928" y="3840480"/>
            <a:ext cx="5394960" cy="1965960"/>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840480"/>
            <a:ext cx="45720" cy="19659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95020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Who carries the risk</a:t>
            </a:r>
          </a:p>
        </p:txBody>
      </p:sp>
      <p:sp>
        <p:nvSpPr>
          <p:cNvPr id="17" name="TextBox 16"/>
          <p:cNvSpPr txBox="1"/>
          <p:nvPr/>
        </p:nvSpPr>
        <p:spPr>
          <a:xfrm>
            <a:off x="731520" y="4242816"/>
            <a:ext cx="5120640" cy="15087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The modaraba owns the asset and recovers it if a member stops paying. The circle is paid in full whatever the member does, so the other members lose nothing.</a:t>
            </a:r>
          </a:p>
        </p:txBody>
      </p:sp>
      <p:sp>
        <p:nvSpPr>
          <p:cNvPr id="18" name="Rectangle 17"/>
          <p:cNvSpPr/>
          <p:nvPr/>
        </p:nvSpPr>
        <p:spPr>
          <a:xfrm>
            <a:off x="6236208" y="1600200"/>
            <a:ext cx="5385816" cy="210312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1600200"/>
            <a:ext cx="45720" cy="21031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709928"/>
            <a:ext cx="511149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Halqa’s role and income</a:t>
            </a:r>
          </a:p>
        </p:txBody>
      </p:sp>
      <p:sp>
        <p:nvSpPr>
          <p:cNvPr id="21" name="TextBox 20"/>
          <p:cNvSpPr txBox="1"/>
          <p:nvPr/>
        </p:nvSpPr>
        <p:spPr>
          <a:xfrm>
            <a:off x="6400800" y="2002536"/>
            <a:ext cx="5111496" cy="164592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Arranges the circle and keeps the record. It does not own, finance, lease or repossess the asset.</a:t>
            </a:r>
          </a:p>
          <a:p>
            <a:pPr algn="l">
              <a:lnSpc>
                <a:spcPct val="112000"/>
              </a:lnSpc>
              <a:spcAft>
                <a:spcPts val="500"/>
              </a:spcAft>
            </a:pPr>
            <a:r>
              <a:rPr sz="980" b="0" i="0">
                <a:solidFill>
                  <a:srgbClr val="0C1408"/>
                </a:solidFill>
                <a:latin typeface="Arial"/>
              </a:rPr>
              <a:t>A referral fee of 2 to 4 per cent from the modaraba and a dealer commission of 1 to 3 per cent, both disclosed.</a:t>
            </a:r>
          </a:p>
        </p:txBody>
      </p:sp>
      <p:sp>
        <p:nvSpPr>
          <p:cNvPr id="22" name="Rectangle 21"/>
          <p:cNvSpPr/>
          <p:nvPr/>
        </p:nvSpPr>
        <p:spPr>
          <a:xfrm>
            <a:off x="6236208" y="3840480"/>
            <a:ext cx="5385816" cy="19659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3840480"/>
            <a:ext cx="45720" cy="19659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950208"/>
            <a:ext cx="511149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Candidates and open points</a:t>
            </a:r>
          </a:p>
        </p:txBody>
      </p:sp>
      <p:sp>
        <p:nvSpPr>
          <p:cNvPr id="25" name="TextBox 24"/>
          <p:cNvSpPr txBox="1"/>
          <p:nvPr/>
        </p:nvSpPr>
        <p:spPr>
          <a:xfrm>
            <a:off x="6400800" y="4242816"/>
            <a:ext cx="5111496" cy="15087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Orix Modaraba, First Habib Modaraba, Allied Rental Modaraba, First Punjab Modaraba. None contracted.</a:t>
            </a:r>
          </a:p>
          <a:p>
            <a:pPr algn="l">
              <a:lnSpc>
                <a:spcPct val="112000"/>
              </a:lnSpc>
              <a:spcAft>
                <a:spcPts val="500"/>
              </a:spcAft>
            </a:pPr>
            <a:r>
              <a:rPr sz="980" b="0" i="0">
                <a:solidFill>
                  <a:srgbClr val="0C1408"/>
                </a:solidFill>
                <a:latin typeface="Arial"/>
              </a:rPr>
              <a:t>Counsel’s opinion on arranging credit; the modaraba’s minimum ticket; rental dates aligned to circle dates.</a:t>
            </a:r>
          </a:p>
        </p:txBody>
      </p:sp>
      <p:cxnSp>
        <p:nvCxnSpPr>
          <p:cNvPr id="26" name="Connector 25"/>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LATER  ·  SOURCE: ASSET COMMITTEES (HQ-CP-01)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06</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evidence</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25 attempts across nine markets, reduced to the same questions.</a:t>
            </a:r>
          </a:p>
          <a:p>
            <a:pPr algn="l">
              <a:lnSpc>
                <a:spcPct val="110000"/>
              </a:lnSpc>
              <a:spcAft>
                <a:spcPts val="700"/>
              </a:spcAft>
            </a:pPr>
            <a:r>
              <a:rPr sz="1220" b="0" i="0">
                <a:solidFill>
                  <a:srgbClr val="D2E2C6"/>
                </a:solidFill>
                <a:latin typeface="Arial"/>
              </a:rPr>
              <a:t>Every failure held member money, guaranteed it, or removed the rotation.</a:t>
            </a:r>
          </a:p>
          <a:p>
            <a:pPr algn="l">
              <a:lnSpc>
                <a:spcPct val="110000"/>
              </a:lnSpc>
              <a:spcAft>
                <a:spcPts val="700"/>
              </a:spcAft>
            </a:pPr>
            <a:r>
              <a:rPr sz="1220" b="0" i="0">
                <a:solidFill>
                  <a:srgbClr val="D2E2C6"/>
                </a:solidFill>
                <a:latin typeface="Arial"/>
              </a:rPr>
              <a:t>A national wallet launched a committee product in August 2026.</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finding, before the evidence</a:t>
            </a:r>
          </a:p>
        </p:txBody>
      </p:sp>
      <p:pic>
        <p:nvPicPr>
          <p:cNvPr id="5" name="Picture 4"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6" name="Connector 5"/>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8" name="TextBox 7"/>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38</a:t>
            </a:r>
          </a:p>
        </p:txBody>
      </p:sp>
      <p:sp>
        <p:nvSpPr>
          <p:cNvPr id="9" name="TextBox 8"/>
          <p:cNvSpPr txBox="1"/>
          <p:nvPr/>
        </p:nvSpPr>
        <p:spPr>
          <a:xfrm>
            <a:off x="566928" y="1234440"/>
            <a:ext cx="11057839" cy="914400"/>
          </a:xfrm>
          <a:prstGeom prst="rect">
            <a:avLst/>
          </a:prstGeom>
          <a:noFill/>
        </p:spPr>
        <p:txBody>
          <a:bodyPr wrap="square" lIns="0" rIns="0" tIns="0" bIns="0" anchor="t">
            <a:spAutoFit/>
          </a:bodyPr>
          <a:lstStyle/>
          <a:p>
            <a:pPr algn="l">
              <a:lnSpc>
                <a:spcPct val="114000"/>
              </a:lnSpc>
              <a:spcAft>
                <a:spcPts val="400"/>
              </a:spcAft>
            </a:pPr>
            <a:r>
              <a:rPr sz="1340" b="0" i="0">
                <a:solidFill>
                  <a:srgbClr val="22450C"/>
                </a:solidFill>
                <a:latin typeface="Georgia"/>
              </a:rPr>
              <a:t>Of twenty-five attempts, every failure held member money, guaranteed member money, or removed the rotation that makes a committee a committee. Every durable success kept the money outside itself, or paid the full regulatory cost of holding it.</a:t>
            </a:r>
          </a:p>
        </p:txBody>
      </p:sp>
      <p:sp>
        <p:nvSpPr>
          <p:cNvPr id="10" name="TextBox 9"/>
          <p:cNvSpPr txBox="1"/>
          <p:nvPr/>
        </p:nvSpPr>
        <p:spPr>
          <a:xfrm>
            <a:off x="566928" y="2331720"/>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30   The eight causes of failure</a:t>
            </a:r>
          </a:p>
        </p:txBody>
      </p:sp>
      <p:graphicFrame>
        <p:nvGraphicFramePr>
          <p:cNvPr id="11" name="Table 10"/>
          <p:cNvGraphicFramePr>
            <a:graphicFrameLocks noGrp="1"/>
          </p:cNvGraphicFramePr>
          <p:nvPr/>
        </p:nvGraphicFramePr>
        <p:xfrm>
          <a:off x="566928" y="2578608"/>
          <a:ext cx="11057837" cy="2962656"/>
        </p:xfrm>
        <a:graphic>
          <a:graphicData uri="http://schemas.openxmlformats.org/drawingml/2006/table">
            <a:tbl>
              <a:tblPr>
                <a:tableStyleId>{5C22544A-7EE6-4342-B048-85BDC9FD1C3A}</a:tableStyleId>
              </a:tblPr>
              <a:tblGrid>
                <a:gridCol w="552891"/>
                <a:gridCol w="4754870"/>
                <a:gridCol w="5750076"/>
              </a:tblGrid>
              <a:tr h="329184">
                <a:tc>
                  <a:txBody>
                    <a:bodyPr wrap="square"/>
                    <a:lstStyle/>
                    <a:p>
                      <a:pPr algn="l"/>
                      <a:r>
                        <a:rPr sz="900" b="1">
                          <a:solidFill>
                            <a:srgbClr val="F3FCE7"/>
                          </a:solidFill>
                          <a:latin typeface="Arial"/>
                        </a:rPr>
                        <a: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Cause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Cases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Custody: holding the pool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Punjab cooperatives, TAG, Sidra Humaid, Saradha, and the ceiling Oraan met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Guarantee burden: the platform as payer of last resort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eMoneyPool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Stranger pooling: trust without a social graph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Yahoo Tanda, Puddle, Oraan’s first model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Removing the credit half: no early pot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UBL Kommittee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Adding interest to an instrument defined against 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UBL Kommittee, and every auction model in Pakistan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 ledger without settlement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Udhaar Book, DigiKhata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Charging the member for access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Oraan’s first model, subscription committee applications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Rules written after a scandal, around another firm’s model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India after Saradha; Pakistan after nano-lending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company disclosures, regulator actions and the press across nine markets.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four models that work, and what each shows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None competes for Halqa’s position. Each confirms one part of it.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39</a:t>
            </a:r>
          </a:p>
        </p:txBody>
      </p:sp>
      <p:graphicFrame>
        <p:nvGraphicFramePr>
          <p:cNvPr id="10" name="Table 9"/>
          <p:cNvGraphicFramePr>
            <a:graphicFrameLocks noGrp="1"/>
          </p:cNvGraphicFramePr>
          <p:nvPr/>
        </p:nvGraphicFramePr>
        <p:xfrm>
          <a:off x="566928" y="1572768"/>
          <a:ext cx="11057836" cy="4114800"/>
        </p:xfrm>
        <a:graphic>
          <a:graphicData uri="http://schemas.openxmlformats.org/drawingml/2006/table">
            <a:tbl>
              <a:tblPr>
                <a:tableStyleId>{5C22544A-7EE6-4342-B048-85BDC9FD1C3A}</a:tableStyleId>
              </a:tblPr>
              <a:tblGrid>
                <a:gridCol w="1879832"/>
                <a:gridCol w="2764459"/>
                <a:gridCol w="3317351"/>
                <a:gridCol w="3096194"/>
              </a:tblGrid>
              <a:tr h="822960">
                <a:tc>
                  <a:txBody>
                    <a:bodyPr wrap="square"/>
                    <a:lstStyle/>
                    <a:p>
                      <a:pPr algn="l"/>
                      <a:r>
                        <a:rPr sz="900" b="1">
                          <a:solidFill>
                            <a:srgbClr val="F3FCE7"/>
                          </a:solidFill>
                          <a:latin typeface="Arial"/>
                        </a:rPr>
                        <a:t>Case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Reported scale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Mechanism</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What it shows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Money Fellows, Egypt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8 million downloads; about $1.5 billion processed across 2 million circles; profitable in 2025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Custody under a licence. The seat is priced, and the platform covers defaults from its own capital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Digital committees reach millions and profit. A priced seat and a platform guarantee need a licence; Halqa carries neither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Hakbah, Saudi Arabia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1.3 million registered users; a SAMA sandbox permit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Treated the jam’iyya as an institution to respect, with the central bank as first 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Central banks regulate the activity in comparable markets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Mapan, Indonesia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Acquired by GO-JEK in 2017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Village organisers form and run circles; the pot is often delivered as goods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The unit of growth is the organiser, paid for organising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The Money Club, India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About 200,000 users and 17,000 clubs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Members start small; clean history opens larger clubs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Seats, and in time amounts, should scale with demonstrated history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company disclosures and the press.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value is in the credit history, not in holding money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cases that created the most value converted an obligation people already honour into a formal credit history.</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40</a:t>
            </a:r>
          </a:p>
        </p:txBody>
      </p:sp>
      <p:sp>
        <p:nvSpPr>
          <p:cNvPr id="10" name="Rectangle 9"/>
          <p:cNvSpPr/>
          <p:nvPr/>
        </p:nvSpPr>
        <p:spPr>
          <a:xfrm>
            <a:off x="566928" y="1600200"/>
            <a:ext cx="5394960" cy="21945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21945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Esusu, United States</a:t>
            </a:r>
          </a:p>
        </p:txBody>
      </p:sp>
      <p:sp>
        <p:nvSpPr>
          <p:cNvPr id="13" name="TextBox 12"/>
          <p:cNvSpPr txBox="1"/>
          <p:nvPr/>
        </p:nvSpPr>
        <p:spPr>
          <a:xfrm>
            <a:off x="731520" y="2002536"/>
            <a:ext cx="5120640" cy="17373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Began as a communal savings application, then turned to reporting on-time rent to Equifax, Experian and TransUnion. In January 2022 it raised a $130 million Series B led by SoftBank Vision Fund 2 at a $1 billion valuation.</a:t>
            </a:r>
          </a:p>
        </p:txBody>
      </p:sp>
      <p:sp>
        <p:nvSpPr>
          <p:cNvPr id="14" name="Rectangle 13"/>
          <p:cNvSpPr/>
          <p:nvPr/>
        </p:nvSpPr>
        <p:spPr>
          <a:xfrm>
            <a:off x="6236208" y="1600200"/>
            <a:ext cx="5394960" cy="21945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00200"/>
            <a:ext cx="45720" cy="21945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eMoneyPool and Chamasoft</a:t>
            </a:r>
          </a:p>
        </p:txBody>
      </p:sp>
      <p:sp>
        <p:nvSpPr>
          <p:cNvPr id="17" name="TextBox 16"/>
          <p:cNvSpPr txBox="1"/>
          <p:nvPr/>
        </p:nvSpPr>
        <p:spPr>
          <a:xfrm>
            <a:off x="6400800" y="2002536"/>
            <a:ext cx="5120640" cy="17373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eMoneyPool reported members’ payment histories for nine years and failed carrying the guarantee on its own balance sheet. Chamasoft in Kenya shows that where an excellent payment rail exists, the platform layer that survives is the data.</a:t>
            </a:r>
          </a:p>
        </p:txBody>
      </p:sp>
      <p:sp>
        <p:nvSpPr>
          <p:cNvPr id="18" name="TextBox 17"/>
          <p:cNvSpPr txBox="1"/>
          <p:nvPr/>
        </p:nvSpPr>
        <p:spPr>
          <a:xfrm>
            <a:off x="566928" y="4069080"/>
            <a:ext cx="11057839" cy="1280160"/>
          </a:xfrm>
          <a:prstGeom prst="rect">
            <a:avLst/>
          </a:prstGeom>
          <a:noFill/>
        </p:spPr>
        <p:txBody>
          <a:bodyPr wrap="square" lIns="0" rIns="0" tIns="0" bIns="0" anchor="t">
            <a:spAutoFit/>
          </a:bodyPr>
          <a:lstStyle/>
          <a:p>
            <a:pPr algn="l">
              <a:lnSpc>
                <a:spcPct val="116000"/>
              </a:lnSpc>
              <a:spcAft>
                <a:spcPts val="400"/>
              </a:spcAft>
            </a:pPr>
            <a:r>
              <a:rPr sz="1220" b="0" i="0">
                <a:solidFill>
                  <a:srgbClr val="22450C"/>
                </a:solidFill>
                <a:latin typeface="Georgia"/>
              </a:rPr>
              <a:t>In the United States the obligation households already honour is rent. In Pakistan it is the committee instalment, which households rank above rent. Halqa applies the same approach to it: the credit score built from committee payments is the asset that compounds, while the fee pays for the service.</a:t>
            </a:r>
          </a:p>
        </p:txBody>
      </p:sp>
      <p:sp>
        <p:nvSpPr>
          <p:cNvPr id="19" name="TextBox 18"/>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company disclosures and the press.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COMPETITION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competitive position</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category is proven and contested at the same time.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41</a:t>
            </a:r>
          </a:p>
        </p:txBody>
      </p:sp>
      <p:graphicFrame>
        <p:nvGraphicFramePr>
          <p:cNvPr id="10" name="Table 9"/>
          <p:cNvGraphicFramePr>
            <a:graphicFrameLocks noGrp="1"/>
          </p:cNvGraphicFramePr>
          <p:nvPr/>
        </p:nvGraphicFramePr>
        <p:xfrm>
          <a:off x="566928" y="1572768"/>
          <a:ext cx="11057837" cy="3401568"/>
        </p:xfrm>
        <a:graphic>
          <a:graphicData uri="http://schemas.openxmlformats.org/drawingml/2006/table">
            <a:tbl>
              <a:tblPr>
                <a:tableStyleId>{5C22544A-7EE6-4342-B048-85BDC9FD1C3A}</a:tableStyleId>
              </a:tblPr>
              <a:tblGrid>
                <a:gridCol w="1769254"/>
                <a:gridCol w="4865449"/>
                <a:gridCol w="1326940"/>
                <a:gridCol w="3096194"/>
              </a:tblGrid>
              <a:tr h="566928">
                <a:tc>
                  <a:txBody>
                    <a:bodyPr wrap="square"/>
                    <a:lstStyle/>
                    <a:p>
                      <a:pPr algn="l"/>
                      <a:r>
                        <a:rPr sz="900" b="1">
                          <a:solidFill>
                            <a:srgbClr val="F3FCE7"/>
                          </a:solidFill>
                          <a:latin typeface="Arial"/>
                        </a:rPr>
                        <a:t>Player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What it offers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Threat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The difference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JazzCash Committee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Launched 13 August 2026. Rotates among contacts; the pot is collected into an administrator’s wallet; the administrator sets the order; no exit before the cycle ends; fees not published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High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Halqa holds no pot, sets the order by rule and publishes an exit path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Oraan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Custody, a licence, member fees and pooling of strangers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Each structural choice is the opposite of Halqa’s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Money Fellows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Custody under an Egyptian licence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 in the near term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Entry would need a Pakistani licensing programme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Ledger applications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Udhaar Book and DigiKhata record debts but produce no credit history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 on substance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DigiKhata completed the State Bank sandbox’s first cohort, on open banking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UBL Kommittee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 deposit product under the committee name, with no rotation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It removes the credit half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Rectangle 10"/>
          <p:cNvSpPr/>
          <p:nvPr/>
        </p:nvSpPr>
        <p:spPr>
          <a:xfrm>
            <a:off x="566928" y="4892040"/>
            <a:ext cx="11057839" cy="914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892040"/>
            <a:ext cx="45720" cy="914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001768"/>
            <a:ext cx="10783519"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defence</a:t>
            </a:r>
          </a:p>
        </p:txBody>
      </p:sp>
      <p:sp>
        <p:nvSpPr>
          <p:cNvPr id="14" name="TextBox 13"/>
          <p:cNvSpPr txBox="1"/>
          <p:nvPr/>
        </p:nvSpPr>
        <p:spPr>
          <a:xfrm>
            <a:off x="731520" y="5294376"/>
            <a:ext cx="10783519" cy="4572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Become the layer a wallet would rather integrate than rebuild: the committee service offered by interface to licensed institutions, which the Business Model lists as later revenue.</a:t>
            </a:r>
          </a:p>
        </p:txBody>
      </p:sp>
      <p:sp>
        <p:nvSpPr>
          <p:cNvPr id="15" name="TextBox 14"/>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JazzCash Committee observed in the JazzCash application release of August 2026 and in the market research of August 2026.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a balance sheet removes from a committee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UBL Kommittee Account: a deposit product from one of Pakistan’s largest banks, sold under the committee name.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42</a:t>
            </a:r>
          </a:p>
        </p:txBody>
      </p:sp>
      <p:graphicFrame>
        <p:nvGraphicFramePr>
          <p:cNvPr id="10" name="Table 9"/>
          <p:cNvGraphicFramePr>
            <a:graphicFrameLocks noGrp="1"/>
          </p:cNvGraphicFramePr>
          <p:nvPr/>
        </p:nvGraphicFramePr>
        <p:xfrm>
          <a:off x="566928" y="1572768"/>
          <a:ext cx="6400800" cy="2267712"/>
        </p:xfrm>
        <a:graphic>
          <a:graphicData uri="http://schemas.openxmlformats.org/drawingml/2006/table">
            <a:tbl>
              <a:tblPr>
                <a:tableStyleId>{5C22544A-7EE6-4342-B048-85BDC9FD1C3A}</a:tableStyleId>
              </a:tblPr>
              <a:tblGrid>
                <a:gridCol w="1920240"/>
                <a:gridCol w="4480560"/>
              </a:tblGrid>
              <a:tr h="566928">
                <a:tc>
                  <a:txBody>
                    <a:bodyPr wrap="square"/>
                    <a:lstStyle/>
                    <a:p>
                      <a:pPr algn="l"/>
                      <a:r>
                        <a:rPr sz="900" b="1">
                          <a:solidFill>
                            <a:srgbClr val="F3FCE7"/>
                          </a:solidFill>
                          <a:latin typeface="Arial"/>
                        </a:rPr>
                        <a:t>What was removed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Consequence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60" b="1">
                          <a:solidFill>
                            <a:srgbClr val="22450C"/>
                          </a:solidFill>
                          <a:latin typeface="Arial"/>
                        </a:rPr>
                        <a:t>The rotation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No member receives a pot early. The credit half disappears, and with it the reason early members join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60" b="1">
                          <a:solidFill>
                            <a:srgbClr val="22450C"/>
                          </a:solidFill>
                          <a:latin typeface="Arial"/>
                        </a:rPr>
                        <a:t>The peers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No group and no social enforcement, hence an instalment holiday no real committee could offer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60" b="1">
                          <a:solidFill>
                            <a:srgbClr val="22450C"/>
                          </a:solidFill>
                          <a:latin typeface="Arial"/>
                        </a:rPr>
                        <a:t>The structure without interest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 fixed return on deposits came in: interest, in the form committee culture defines itself against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3977639"/>
            <a:ext cx="6400800" cy="1097280"/>
          </a:xfrm>
          <a:prstGeom prst="rect">
            <a:avLst/>
          </a:prstGeom>
          <a:noFill/>
        </p:spPr>
        <p:txBody>
          <a:bodyPr wrap="square" lIns="0" rIns="0" tIns="0" bIns="0" anchor="t">
            <a:spAutoFit/>
          </a:bodyPr>
          <a:lstStyle/>
          <a:p>
            <a:pPr algn="l">
              <a:lnSpc>
                <a:spcPct val="114000"/>
              </a:lnSpc>
              <a:spcAft>
                <a:spcPts val="400"/>
              </a:spcAft>
            </a:pPr>
            <a:r>
              <a:rPr sz="1040" b="0" i="0">
                <a:solidFill>
                  <a:srgbClr val="0C1408"/>
                </a:solidFill>
                <a:latin typeface="Arial"/>
              </a:rPr>
              <a:t>A 24 month plan at Rs 100,000 a month pays Rs 2,500,000 for Rs 2,400,000 paid in: less than an ordinary savings account paid over the same period.</a:t>
            </a:r>
          </a:p>
        </p:txBody>
      </p:sp>
      <p:sp>
        <p:nvSpPr>
          <p:cNvPr id="12" name="Rectangle 11"/>
          <p:cNvSpPr/>
          <p:nvPr/>
        </p:nvSpPr>
        <p:spPr>
          <a:xfrm>
            <a:off x="7333488" y="1572768"/>
            <a:ext cx="4288536" cy="4206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33488" y="1572768"/>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1682496"/>
            <a:ext cx="40142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lesson</a:t>
            </a:r>
          </a:p>
        </p:txBody>
      </p:sp>
      <p:sp>
        <p:nvSpPr>
          <p:cNvPr id="15" name="TextBox 14"/>
          <p:cNvSpPr txBox="1"/>
          <p:nvPr/>
        </p:nvSpPr>
        <p:spPr>
          <a:xfrm>
            <a:off x="7498080" y="1975104"/>
            <a:ext cx="4014216" cy="3749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A balance-sheet institution cannot run the committee, because its value lies in what a balance sheet must remove: credit between peers without interest, enforcement without collateral, and money that never becomes the institution’s liability.</a:t>
            </a:r>
          </a:p>
          <a:p>
            <a:pPr algn="l">
              <a:lnSpc>
                <a:spcPct val="112000"/>
              </a:lnSpc>
              <a:spcAft>
                <a:spcPts val="500"/>
              </a:spcAft>
            </a:pPr>
            <a:r>
              <a:rPr sz="980" b="0" i="0">
                <a:solidFill>
                  <a:srgbClr val="0C1408"/>
                </a:solidFill>
                <a:latin typeface="Arial"/>
              </a:rPr>
              <a:t>Banks can hold group savings. They cannot rotate group credit.</a:t>
            </a:r>
          </a:p>
          <a:p>
            <a:pPr algn="l">
              <a:lnSpc>
                <a:spcPct val="112000"/>
              </a:lnSpc>
              <a:spcAft>
                <a:spcPts val="500"/>
              </a:spcAft>
            </a:pPr>
            <a:r>
              <a:rPr sz="980" b="0" i="0">
                <a:solidFill>
                  <a:srgbClr val="0C1408"/>
                </a:solidFill>
                <a:latin typeface="Arial"/>
              </a:rPr>
              <a:t>FNB’s stokvel accounts in South Africa work because most stokvels accumulate rather than rotate, so a bank account serves that instrument.</a:t>
            </a:r>
          </a:p>
        </p:txBody>
      </p:sp>
      <p:sp>
        <p:nvSpPr>
          <p:cNvPr id="16" name="TextBox 15"/>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the published product terms.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PRECEDENT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Any credit-adjacent product is judged against the loan apps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Four hundred predatory loan applications were blocked in 2023 and 2024. Every permission Halqa requests is read against them.</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43</a:t>
            </a:r>
          </a:p>
        </p:txBody>
      </p:sp>
      <p:sp>
        <p:nvSpPr>
          <p:cNvPr id="10" name="Rectangle 9"/>
          <p:cNvSpPr/>
          <p:nvPr/>
        </p:nvSpPr>
        <p:spPr>
          <a:xfrm>
            <a:off x="566928" y="1600200"/>
            <a:ext cx="5394960" cy="2011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2011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How they worked</a:t>
            </a:r>
          </a:p>
        </p:txBody>
      </p:sp>
      <p:sp>
        <p:nvSpPr>
          <p:cNvPr id="13" name="TextBox 12"/>
          <p:cNvSpPr txBox="1"/>
          <p:nvPr/>
        </p:nvSpPr>
        <p:spPr>
          <a:xfrm>
            <a:off x="731520" y="2002536"/>
            <a:ext cx="5120640" cy="155448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Loans of Rs 1,000 to 25,000 over 7 to 90 days, priced for mass default and recovered through social coercion: contact harvesting, calls to relatives, altered photographs and rollover debt. A case in Rawalpindi ended in a suicide, an FIA crackdown and more than twenty arrests.</a:t>
            </a:r>
          </a:p>
        </p:txBody>
      </p:sp>
      <p:sp>
        <p:nvSpPr>
          <p:cNvPr id="14" name="Rectangle 13"/>
          <p:cNvSpPr/>
          <p:nvPr/>
        </p:nvSpPr>
        <p:spPr>
          <a:xfrm>
            <a:off x="566928" y="3749039"/>
            <a:ext cx="5394960" cy="2057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749039"/>
            <a:ext cx="45720" cy="2057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58767"/>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What was banned, most of it even with consent</a:t>
            </a:r>
          </a:p>
        </p:txBody>
      </p:sp>
      <p:sp>
        <p:nvSpPr>
          <p:cNvPr id="17" name="TextBox 16"/>
          <p:cNvSpPr txBox="1"/>
          <p:nvPr/>
        </p:nvSpPr>
        <p:spPr>
          <a:xfrm>
            <a:off x="731520" y="4151375"/>
            <a:ext cx="5120640" cy="160020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SECP Circulars 3, 10, 14 and 15 of 2023 and 8 of 2024: no contact list or gallery access; contact only a separately consented guarantor; an exposure cap of Rs 25,000 per application; a Key Fact Statement; borrower data kept in Pakistan. Google Play, 31 May 2023: personal loan applications may not read contacts, photos, precise location or storage.</a:t>
            </a:r>
          </a:p>
        </p:txBody>
      </p:sp>
      <p:sp>
        <p:nvSpPr>
          <p:cNvPr id="18" name="TextBox 17"/>
          <p:cNvSpPr txBox="1"/>
          <p:nvPr/>
        </p:nvSpPr>
        <p:spPr>
          <a:xfrm>
            <a:off x="6236208" y="1600200"/>
            <a:ext cx="53949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What Halqa refuses, on the record</a:t>
            </a:r>
          </a:p>
        </p:txBody>
      </p:sp>
      <p:sp>
        <p:nvSpPr>
          <p:cNvPr id="19" name="TextBox 18"/>
          <p:cNvSpPr txBox="1"/>
          <p:nvPr/>
        </p:nvSpPr>
        <p:spPr>
          <a:xfrm>
            <a:off x="6236208" y="1965960"/>
            <a:ext cx="5394960" cy="365760"/>
          </a:xfrm>
          <a:prstGeom prst="rect">
            <a:avLst/>
          </a:prstGeom>
          <a:noFill/>
        </p:spPr>
        <p:txBody>
          <a:bodyPr wrap="square" lIns="0" rIns="0" tIns="0" bIns="0">
            <a:spAutoFit/>
          </a:bodyPr>
          <a:lstStyle/>
          <a:p>
            <a:pPr>
              <a:lnSpc>
                <a:spcPct val="105000"/>
              </a:lnSpc>
              <a:spcAft>
                <a:spcPts val="800"/>
              </a:spcAft>
            </a:pPr>
            <a:r>
              <a:rPr sz="980" b="1">
                <a:solidFill>
                  <a:srgbClr val="6DC72A"/>
                </a:solidFill>
                <a:latin typeface="Georgia"/>
              </a:rPr>
              <a:t>|  </a:t>
            </a:r>
            <a:r>
              <a:rPr sz="980" b="1">
                <a:solidFill>
                  <a:srgbClr val="22450C"/>
                </a:solidFill>
                <a:latin typeface="Arial"/>
              </a:rPr>
              <a:t>Contact lists.  </a:t>
            </a:r>
            <a:r>
              <a:rPr sz="980">
                <a:solidFill>
                  <a:srgbClr val="0C1408"/>
                </a:solidFill>
                <a:latin typeface="Arial"/>
              </a:rPr>
              <a:t>Only on-device hashed matching is acceptable.</a:t>
            </a:r>
          </a:p>
          <a:p>
            <a:pPr>
              <a:lnSpc>
                <a:spcPct val="105000"/>
              </a:lnSpc>
              <a:spcAft>
                <a:spcPts val="800"/>
              </a:spcAft>
            </a:pPr>
            <a:r>
              <a:rPr sz="980" b="1">
                <a:solidFill>
                  <a:srgbClr val="6DC72A"/>
                </a:solidFill>
                <a:latin typeface="Georgia"/>
              </a:rPr>
              <a:t>|  </a:t>
            </a:r>
            <a:r>
              <a:rPr sz="980" b="1">
                <a:solidFill>
                  <a:srgbClr val="22450C"/>
                </a:solidFill>
                <a:latin typeface="Arial"/>
              </a:rPr>
              <a:t>Gallery, text messages, call log and the list of installed applications.  </a:t>
            </a:r>
            <a:r>
              <a:rPr sz="980">
                <a:solidFill>
                  <a:srgbClr val="0C1408"/>
                </a:solidFill>
                <a:latin typeface="Arial"/>
              </a:rPr>
              <a:t>Never requested.</a:t>
            </a:r>
          </a:p>
          <a:p>
            <a:pPr>
              <a:lnSpc>
                <a:spcPct val="105000"/>
              </a:lnSpc>
              <a:spcAft>
                <a:spcPts val="800"/>
              </a:spcAft>
            </a:pPr>
            <a:r>
              <a:rPr sz="980" b="1">
                <a:solidFill>
                  <a:srgbClr val="6DC72A"/>
                </a:solidFill>
                <a:latin typeface="Georgia"/>
              </a:rPr>
              <a:t>|  </a:t>
            </a:r>
            <a:r>
              <a:rPr sz="980" b="1">
                <a:solidFill>
                  <a:srgbClr val="22450C"/>
                </a:solidFill>
                <a:latin typeface="Arial"/>
              </a:rPr>
              <a:t>Background location.  </a:t>
            </a:r>
            <a:r>
              <a:rPr sz="980">
                <a:solidFill>
                  <a:srgbClr val="0C1408"/>
                </a:solidFill>
                <a:latin typeface="Arial"/>
              </a:rPr>
              <a:t>A single home pin at signup only.</a:t>
            </a:r>
          </a:p>
          <a:p>
            <a:pPr>
              <a:lnSpc>
                <a:spcPct val="105000"/>
              </a:lnSpc>
              <a:spcAft>
                <a:spcPts val="800"/>
              </a:spcAft>
            </a:pPr>
            <a:r>
              <a:rPr sz="980" b="1">
                <a:solidFill>
                  <a:srgbClr val="6DC72A"/>
                </a:solidFill>
                <a:latin typeface="Georgia"/>
              </a:rPr>
              <a:t>|  </a:t>
            </a:r>
            <a:r>
              <a:rPr sz="980" b="1">
                <a:solidFill>
                  <a:srgbClr val="22450C"/>
                </a:solidFill>
                <a:latin typeface="Arial"/>
              </a:rPr>
              <a:t>Screen reading of bank applications.  </a:t>
            </a:r>
            <a:r>
              <a:rPr sz="980">
                <a:solidFill>
                  <a:srgbClr val="0C1408"/>
                </a:solidFill>
                <a:latin typeface="Arial"/>
              </a:rPr>
              <a:t>Declined, because it is the loan-app signature and reads the whole screen.</a:t>
            </a:r>
          </a:p>
          <a:p>
            <a:pPr>
              <a:lnSpc>
                <a:spcPct val="105000"/>
              </a:lnSpc>
              <a:spcAft>
                <a:spcPts val="800"/>
              </a:spcAft>
            </a:pPr>
            <a:r>
              <a:rPr sz="980" b="1">
                <a:solidFill>
                  <a:srgbClr val="6DC72A"/>
                </a:solidFill>
                <a:latin typeface="Georgia"/>
              </a:rPr>
              <a:t>|  </a:t>
            </a:r>
            <a:r>
              <a:rPr sz="980" b="1">
                <a:solidFill>
                  <a:srgbClr val="22450C"/>
                </a:solidFill>
                <a:latin typeface="Arial"/>
              </a:rPr>
              <a:t>A public default list.  </a:t>
            </a:r>
            <a:r>
              <a:rPr sz="980">
                <a:solidFill>
                  <a:srgbClr val="0C1408"/>
                </a:solidFill>
                <a:latin typeface="Arial"/>
              </a:rPr>
              <a:t>The flag stays internal.</a:t>
            </a:r>
          </a:p>
        </p:txBody>
      </p:sp>
      <p:sp>
        <p:nvSpPr>
          <p:cNvPr id="20" name="TextBox 19"/>
          <p:cNvSpPr txBox="1"/>
          <p:nvPr/>
        </p:nvSpPr>
        <p:spPr>
          <a:xfrm>
            <a:off x="6236208" y="4526280"/>
            <a:ext cx="5394960" cy="1097280"/>
          </a:xfrm>
          <a:prstGeom prst="rect">
            <a:avLst/>
          </a:prstGeom>
          <a:noFill/>
        </p:spPr>
        <p:txBody>
          <a:bodyPr wrap="square" lIns="0" rIns="0" tIns="0" bIns="0" anchor="t">
            <a:spAutoFit/>
          </a:bodyPr>
          <a:lstStyle/>
          <a:p>
            <a:pPr algn="l">
              <a:lnSpc>
                <a:spcPct val="114000"/>
              </a:lnSpc>
              <a:spcAft>
                <a:spcPts val="400"/>
              </a:spcAft>
            </a:pPr>
            <a:r>
              <a:rPr sz="1040" b="0" i="0">
                <a:solidFill>
                  <a:srgbClr val="22450C"/>
                </a:solidFill>
                <a:latin typeface="Georgia"/>
              </a:rPr>
              <a:t>The loan apps coerced because they lent to strangers without collateral. In a committee the seat is the collateral, an unproven member is confined to the final seats, and the circle already exists.</a:t>
            </a:r>
          </a:p>
        </p:txBody>
      </p:sp>
      <p:sp>
        <p:nvSpPr>
          <p:cNvPr id="21" name="TextBox 2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SECP circulars, the Google Play policy and the press.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07</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State and plan</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Where the company stands on 25 September 2026.</a:t>
            </a:r>
          </a:p>
          <a:p>
            <a:pPr algn="l">
              <a:lnSpc>
                <a:spcPct val="110000"/>
              </a:lnSpc>
              <a:spcAft>
                <a:spcPts val="700"/>
              </a:spcAft>
            </a:pPr>
            <a:r>
              <a:rPr sz="1220" b="0" i="0">
                <a:solidFill>
                  <a:srgbClr val="D2E2C6"/>
                </a:solidFill>
                <a:latin typeface="Arial"/>
              </a:rPr>
              <a:t>What must happen, in order, before live money.</a:t>
            </a:r>
          </a:p>
          <a:p>
            <a:pPr algn="l">
              <a:lnSpc>
                <a:spcPct val="110000"/>
              </a:lnSpc>
              <a:spcAft>
                <a:spcPts val="700"/>
              </a:spcAft>
            </a:pPr>
            <a:r>
              <a:rPr sz="1220" b="0" i="0">
                <a:solidFill>
                  <a:srgbClr val="D2E2C6"/>
                </a:solidFill>
                <a:latin typeface="Arial"/>
              </a:rPr>
              <a:t>What remains open.</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STATE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Where the company stands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As of 25 September 2026.</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45</a:t>
            </a:r>
          </a:p>
        </p:txBody>
      </p:sp>
      <p:graphicFrame>
        <p:nvGraphicFramePr>
          <p:cNvPr id="10" name="Table 9"/>
          <p:cNvGraphicFramePr>
            <a:graphicFrameLocks noGrp="1"/>
          </p:cNvGraphicFramePr>
          <p:nvPr/>
        </p:nvGraphicFramePr>
        <p:xfrm>
          <a:off x="566928" y="1517904"/>
          <a:ext cx="6949440" cy="3803904"/>
        </p:xfrm>
        <a:graphic>
          <a:graphicData uri="http://schemas.openxmlformats.org/drawingml/2006/table">
            <a:tbl>
              <a:tblPr>
                <a:tableStyleId>{5C22544A-7EE6-4342-B048-85BDC9FD1C3A}</a:tableStyleId>
              </a:tblPr>
              <a:tblGrid>
                <a:gridCol w="1389888"/>
                <a:gridCol w="5559552"/>
              </a:tblGrid>
              <a:tr h="475488">
                <a:tc>
                  <a:txBody>
                    <a:bodyPr wrap="square"/>
                    <a:lstStyle/>
                    <a:p>
                      <a:pPr algn="l"/>
                      <a:r>
                        <a:rPr sz="900" b="1">
                          <a:solidFill>
                            <a:srgbClr val="F3FCE7"/>
                          </a:solidFill>
                          <a:latin typeface="Arial"/>
                        </a:rPr>
                        <a:t>Dimension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State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Company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Not yet incorporated. Incorporation is the first step of the launch timeline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Product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Web application live since 20 July 2026 and not opened to the public. The interface is being rebuilt to the standard of the national wallets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Money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No rail is connected and no real money has moved. Payments settle in a sandbox</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Code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Constructs of the August design remain and are to be removed before the partner agreement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None contracted. The enquiry to Safepay is drafted and not sent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Regulator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Mentored informally by the Chairman of the Commission. No formal engagement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Documents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The document set issued on 25 September 2026, each quotation checked against the primary text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Rectangle 10"/>
          <p:cNvSpPr/>
          <p:nvPr/>
        </p:nvSpPr>
        <p:spPr>
          <a:xfrm>
            <a:off x="7882128" y="1517904"/>
            <a:ext cx="3739896" cy="4297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1517904"/>
            <a:ext cx="45720" cy="4297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627632"/>
            <a:ext cx="34655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Blocking in production</a:t>
            </a:r>
          </a:p>
        </p:txBody>
      </p:sp>
      <p:sp>
        <p:nvSpPr>
          <p:cNvPr id="14" name="TextBox 13"/>
          <p:cNvSpPr txBox="1"/>
          <p:nvPr/>
        </p:nvSpPr>
        <p:spPr>
          <a:xfrm>
            <a:off x="8046720" y="1920240"/>
            <a:ext cx="3465576" cy="384048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Identity capture and the home location pin are blocked by the permission policy, which sets camera and geolocation to none.</a:t>
            </a:r>
          </a:p>
          <a:p>
            <a:pPr algn="l">
              <a:lnSpc>
                <a:spcPct val="112000"/>
              </a:lnSpc>
              <a:spcAft>
                <a:spcPts val="500"/>
              </a:spcAft>
            </a:pPr>
            <a:r>
              <a:rPr sz="960" b="0" i="0">
                <a:solidFill>
                  <a:srgbClr val="0C1408"/>
                </a:solidFill>
                <a:latin typeface="Arial"/>
              </a:rPr>
              <a:t>Demonstration data is to be wiped before the first real member.</a:t>
            </a:r>
          </a:p>
          <a:p>
            <a:pPr algn="l">
              <a:lnSpc>
                <a:spcPct val="112000"/>
              </a:lnSpc>
              <a:spcAft>
                <a:spcPts val="500"/>
              </a:spcAft>
            </a:pPr>
            <a:r>
              <a:rPr sz="960" b="0" i="0">
                <a:solidFill>
                  <a:srgbClr val="0C1408"/>
                </a:solidFill>
                <a:latin typeface="Arial"/>
              </a:rPr>
              <a:t>No error monitoring and no versioned migrations.</a:t>
            </a:r>
          </a:p>
          <a:p>
            <a:pPr algn="l">
              <a:lnSpc>
                <a:spcPct val="112000"/>
              </a:lnSpc>
              <a:spcAft>
                <a:spcPts val="500"/>
              </a:spcAft>
            </a:pPr>
            <a:r>
              <a:rPr sz="960" b="0" i="0">
                <a:solidFill>
                  <a:srgbClr val="0C1408"/>
                </a:solidFill>
                <a:latin typeface="Arial"/>
              </a:rPr>
              <a:t>Chat polls every six seconds.</a:t>
            </a:r>
          </a:p>
        </p:txBody>
      </p:sp>
      <p:sp>
        <p:nvSpPr>
          <p:cNvPr id="15" name="TextBox 14"/>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the repository and the production configuration on 25 September 2026.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COUNTERPARTIES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Named counterparties, none contracted</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is the intended or candidate counterparty for its function.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46</a:t>
            </a:r>
          </a:p>
        </p:txBody>
      </p:sp>
      <p:graphicFrame>
        <p:nvGraphicFramePr>
          <p:cNvPr id="10" name="Table 9"/>
          <p:cNvGraphicFramePr>
            <a:graphicFrameLocks noGrp="1"/>
          </p:cNvGraphicFramePr>
          <p:nvPr/>
        </p:nvGraphicFramePr>
        <p:xfrm>
          <a:off x="566928" y="1572768"/>
          <a:ext cx="11057838" cy="3922776"/>
        </p:xfrm>
        <a:graphic>
          <a:graphicData uri="http://schemas.openxmlformats.org/drawingml/2006/table">
            <a:tbl>
              <a:tblPr>
                <a:tableStyleId>{5C22544A-7EE6-4342-B048-85BDC9FD1C3A}</a:tableStyleId>
              </a:tblPr>
              <a:tblGrid>
                <a:gridCol w="2653881"/>
                <a:gridCol w="5528919"/>
                <a:gridCol w="2875038"/>
              </a:tblGrid>
              <a:tr h="301752">
                <a:tc>
                  <a:txBody>
                    <a:bodyPr wrap="square"/>
                    <a:lstStyle/>
                    <a:p>
                      <a:pPr algn="l"/>
                      <a:r>
                        <a:rPr sz="900" b="1">
                          <a:solidFill>
                            <a:srgbClr val="F3FCE7"/>
                          </a:solidFill>
                          <a:latin typeface="Arial"/>
                        </a:rPr>
                        <a:t>Function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Counterparty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Needed for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Payment service provider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Safepay, licensed by the State Bank in April 2025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Collection, all tiers, with split settlement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Alternative for contributions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An electronic money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Only if split settlement cannot be agreed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Instant payment rail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Raast, operated by the State Bank of Pakistan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Tier 3 and the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Wallet rails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JazzCash and Easypaisa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Members paying from a wallet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Interbank switch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1LINK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Interbank transfers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Identity verification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NADRA, through a corporate Verisys agreement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Verification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Credit bureau</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TASDEEQ, with DataCheck as the alternate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Reports on instruction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Takaful operator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Pak-Qatar General Takaful or Salaam Takaful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Trustee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Central Depository Company of Pakistan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Savings, 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Asset manager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Mahaana Wealth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Savings, 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Messaging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WhatsApp Business Platform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Notices and passcodes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Infrastructure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Vercel, Supabase, Cloudflare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Hosting, database, edge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Complete Feature and Process List (HQ-CP-07), section 28.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PLAN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happens next, in order</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first three steps run together. Nothing after them can be reached until they are done.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47</a:t>
            </a:r>
          </a:p>
        </p:txBody>
      </p:sp>
      <p:sp>
        <p:nvSpPr>
          <p:cNvPr id="10" name="Rectangle 9"/>
          <p:cNvSpPr/>
          <p:nvPr/>
        </p:nvSpPr>
        <p:spPr>
          <a:xfrm>
            <a:off x="566928" y="1600200"/>
            <a:ext cx="1554480" cy="60350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8308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F3FCE7"/>
                </a:solidFill>
                <a:latin typeface="Arial"/>
              </a:rPr>
              <a:t>Now</a:t>
            </a:r>
          </a:p>
        </p:txBody>
      </p:sp>
      <p:sp>
        <p:nvSpPr>
          <p:cNvPr id="12" name="TextBox 11"/>
          <p:cNvSpPr txBox="1"/>
          <p:nvPr/>
        </p:nvSpPr>
        <p:spPr>
          <a:xfrm>
            <a:off x="2350008" y="165506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Send the Safepay enquiry</a:t>
            </a:r>
          </a:p>
        </p:txBody>
      </p:sp>
      <p:sp>
        <p:nvSpPr>
          <p:cNvPr id="13" name="TextBox 12"/>
          <p:cNvSpPr txBox="1"/>
          <p:nvPr/>
        </p:nvSpPr>
        <p:spPr>
          <a:xfrm>
            <a:off x="5504688" y="167335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Before incorporating: split settlement to collecting members and a fixed charge per debit decide the model.</a:t>
            </a:r>
          </a:p>
        </p:txBody>
      </p:sp>
      <p:cxnSp>
        <p:nvCxnSpPr>
          <p:cNvPr id="14" name="Connector 13"/>
          <p:cNvCxnSpPr/>
          <p:nvPr/>
        </p:nvCxnSpPr>
        <p:spPr>
          <a:xfrm>
            <a:off x="2350008" y="227685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66928" y="2331720"/>
            <a:ext cx="1554480" cy="60350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1460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F3FCE7"/>
                </a:solidFill>
                <a:latin typeface="Arial"/>
              </a:rPr>
              <a:t>Days 1 to 14</a:t>
            </a:r>
          </a:p>
        </p:txBody>
      </p:sp>
      <p:sp>
        <p:nvSpPr>
          <p:cNvPr id="17" name="TextBox 16"/>
          <p:cNvSpPr txBox="1"/>
          <p:nvPr/>
        </p:nvSpPr>
        <p:spPr>
          <a:xfrm>
            <a:off x="2350008" y="238658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Make Halqa a company</a:t>
            </a:r>
          </a:p>
        </p:txBody>
      </p:sp>
      <p:sp>
        <p:nvSpPr>
          <p:cNvPr id="18" name="TextBox 17"/>
          <p:cNvSpPr txBox="1"/>
          <p:nvPr/>
        </p:nvSpPr>
        <p:spPr>
          <a:xfrm>
            <a:off x="5504688" y="240487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SECP incorporation with the chairman’s father as director, the tax number, Islamabad sales tax and a bank account.</a:t>
            </a:r>
          </a:p>
        </p:txBody>
      </p:sp>
      <p:cxnSp>
        <p:nvCxnSpPr>
          <p:cNvPr id="19" name="Connector 18"/>
          <p:cNvCxnSpPr/>
          <p:nvPr/>
        </p:nvCxnSpPr>
        <p:spPr>
          <a:xfrm>
            <a:off x="2350008" y="300837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66928" y="3063240"/>
            <a:ext cx="1554480" cy="60350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24612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F3FCE7"/>
                </a:solidFill>
                <a:latin typeface="Arial"/>
              </a:rPr>
              <a:t>In parallel</a:t>
            </a:r>
          </a:p>
        </p:txBody>
      </p:sp>
      <p:sp>
        <p:nvSpPr>
          <p:cNvPr id="22" name="TextBox 21"/>
          <p:cNvSpPr txBox="1"/>
          <p:nvPr/>
        </p:nvSpPr>
        <p:spPr>
          <a:xfrm>
            <a:off x="2350008" y="311810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Change the code</a:t>
            </a:r>
          </a:p>
        </p:txBody>
      </p:sp>
      <p:sp>
        <p:nvSpPr>
          <p:cNvPr id="23" name="TextBox 22"/>
          <p:cNvSpPr txBox="1"/>
          <p:nvPr/>
        </p:nvSpPr>
        <p:spPr>
          <a:xfrm>
            <a:off x="5504688" y="313639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Remove the constructs of the August design and build the components listed in section 02, about three weeks.</a:t>
            </a:r>
          </a:p>
        </p:txBody>
      </p:sp>
      <p:cxnSp>
        <p:nvCxnSpPr>
          <p:cNvPr id="24" name="Connector 23"/>
          <p:cNvCxnSpPr/>
          <p:nvPr/>
        </p:nvCxnSpPr>
        <p:spPr>
          <a:xfrm>
            <a:off x="2350008" y="373989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66928" y="3794760"/>
            <a:ext cx="1554480" cy="603504"/>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97764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22450C"/>
                </a:solidFill>
                <a:latin typeface="Arial"/>
              </a:rPr>
              <a:t>Days 14 to 45</a:t>
            </a:r>
          </a:p>
        </p:txBody>
      </p:sp>
      <p:sp>
        <p:nvSpPr>
          <p:cNvPr id="27" name="TextBox 26"/>
          <p:cNvSpPr txBox="1"/>
          <p:nvPr/>
        </p:nvSpPr>
        <p:spPr>
          <a:xfrm>
            <a:off x="2350008" y="384962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Safepay approval and integration</a:t>
            </a:r>
          </a:p>
        </p:txBody>
      </p:sp>
      <p:sp>
        <p:nvSpPr>
          <p:cNvPr id="28" name="TextBox 27"/>
          <p:cNvSpPr txBox="1"/>
          <p:nvPr/>
        </p:nvSpPr>
        <p:spPr>
          <a:xfrm>
            <a:off x="5504688" y="386791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Approval, split settlement, custom pricing and live keys. Standard circles live at 30 to 45 days, up to 75.</a:t>
            </a:r>
          </a:p>
        </p:txBody>
      </p:sp>
      <p:cxnSp>
        <p:nvCxnSpPr>
          <p:cNvPr id="29" name="Connector 28"/>
          <p:cNvCxnSpPr/>
          <p:nvPr/>
        </p:nvCxnSpPr>
        <p:spPr>
          <a:xfrm>
            <a:off x="2350008" y="447141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66928" y="4526280"/>
            <a:ext cx="1554480" cy="603504"/>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70916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22450C"/>
                </a:solidFill>
                <a:latin typeface="Arial"/>
              </a:rPr>
              <a:t>Days 28 to 90</a:t>
            </a:r>
          </a:p>
        </p:txBody>
      </p:sp>
      <p:sp>
        <p:nvSpPr>
          <p:cNvPr id="32" name="TextBox 31"/>
          <p:cNvSpPr txBox="1"/>
          <p:nvPr/>
        </p:nvSpPr>
        <p:spPr>
          <a:xfrm>
            <a:off x="2350008" y="458114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Cover, then Hyper</a:t>
            </a:r>
          </a:p>
        </p:txBody>
      </p:sp>
      <p:sp>
        <p:nvSpPr>
          <p:cNvPr id="33" name="TextBox 32"/>
          <p:cNvSpPr txBox="1"/>
          <p:nvPr/>
        </p:nvSpPr>
        <p:spPr>
          <a:xfrm>
            <a:off x="5504688" y="459943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A written agency agreement with a general takaful operator, and counsel’s opinion on compulsory cover. Hyper live at 75 to 90 days.</a:t>
            </a:r>
          </a:p>
        </p:txBody>
      </p:sp>
      <p:cxnSp>
        <p:nvCxnSpPr>
          <p:cNvPr id="34" name="Connector 33"/>
          <p:cNvCxnSpPr/>
          <p:nvPr/>
        </p:nvCxnSpPr>
        <p:spPr>
          <a:xfrm>
            <a:off x="2350008" y="520293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66928" y="5257800"/>
            <a:ext cx="1554480" cy="603504"/>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544068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22450C"/>
                </a:solidFill>
                <a:latin typeface="Arial"/>
              </a:rPr>
              <a:t>Then</a:t>
            </a:r>
          </a:p>
        </p:txBody>
      </p:sp>
      <p:sp>
        <p:nvSpPr>
          <p:cNvPr id="37" name="TextBox 36"/>
          <p:cNvSpPr txBox="1"/>
          <p:nvPr/>
        </p:nvSpPr>
        <p:spPr>
          <a:xfrm>
            <a:off x="2350008" y="531266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Bureau and savings</a:t>
            </a:r>
          </a:p>
        </p:txBody>
      </p:sp>
      <p:sp>
        <p:nvSpPr>
          <p:cNvPr id="38" name="TextBox 37"/>
          <p:cNvSpPr txBox="1"/>
          <p:nvPr/>
        </p:nvSpPr>
        <p:spPr>
          <a:xfrm>
            <a:off x="5504688" y="533095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The TASDEEQ subscriber agreement, and MUFAP membership with a trustee and an asset manager.</a:t>
            </a:r>
          </a:p>
        </p:txBody>
      </p:sp>
      <p:cxnSp>
        <p:nvCxnSpPr>
          <p:cNvPr id="39" name="Connector 38"/>
          <p:cNvCxnSpPr/>
          <p:nvPr/>
        </p:nvCxnSpPr>
        <p:spPr>
          <a:xfrm>
            <a:off x="2350008" y="593445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Registrations and Licences Required (HQ-LD-01) and the Work Register.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RISK</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pre-mortem: it is 2029 and Halqa has failed</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row names the mechanism and the signal that would show it starting.</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48</a:t>
            </a:r>
          </a:p>
        </p:txBody>
      </p:sp>
      <p:graphicFrame>
        <p:nvGraphicFramePr>
          <p:cNvPr id="10" name="Table 9"/>
          <p:cNvGraphicFramePr>
            <a:graphicFrameLocks noGrp="1"/>
          </p:cNvGraphicFramePr>
          <p:nvPr/>
        </p:nvGraphicFramePr>
        <p:xfrm>
          <a:off x="566928" y="1572768"/>
          <a:ext cx="11057837" cy="3712464"/>
        </p:xfrm>
        <a:graphic>
          <a:graphicData uri="http://schemas.openxmlformats.org/drawingml/2006/table">
            <a:tbl>
              <a:tblPr>
                <a:tableStyleId>{5C22544A-7EE6-4342-B048-85BDC9FD1C3A}</a:tableStyleId>
              </a:tblPr>
              <a:tblGrid>
                <a:gridCol w="2764459"/>
                <a:gridCol w="4644292"/>
                <a:gridCol w="3649086"/>
              </a:tblGrid>
              <a:tr h="530352">
                <a:tc>
                  <a:txBody>
                    <a:bodyPr wrap="square"/>
                    <a:lstStyle/>
                    <a:p>
                      <a:pPr algn="l"/>
                      <a:r>
                        <a:rPr sz="900" b="1">
                          <a:solidFill>
                            <a:srgbClr val="F3FCE7"/>
                          </a:solidFill>
                          <a:latin typeface="Arial"/>
                        </a:rPr>
                        <a:t>Cause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Mechanism</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Early signal</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Collection never became real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Safepay declined split settlement or priced each charge above the fee; members returned to cash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Share of instalments settled through the 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An organiser used Halqa’s standing for an offline scheme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 clean record on Halqa shown as proof for a large scheme elsewhere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Organisers running many circles at once, member concentration, implausible growth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The wallets took the category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JazzCash Committee reached its users first; distribution beat design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JazzCash Committee changes and any Easypaisa release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Regulatory reclassification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 committee fraud elsewhere produced rules shaped around custody, with no carve-out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Consultation papers from the State Bank or the Commission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Losses beyond the model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default band stayed modelled and real losses landed outside 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Measured default after collection in the first hundred completed circles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The founder ran out of time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Product, regulation, partners and research all ran through one person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Time between shipped milestones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The organiser risk is addressed before public launch: a cap on concurrent circles per organiser, a flag on implausible growth, and a credit passport confined to on-platform history.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MEASURES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five numbers that show whether this is working</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A committee arrives as a formed network of ten to fifteen people with a leader. The measures follow from that.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49</a:t>
            </a:r>
          </a:p>
        </p:txBody>
      </p:sp>
      <p:sp>
        <p:nvSpPr>
          <p:cNvPr id="10" name="TextBox 9"/>
          <p:cNvSpPr txBox="1"/>
          <p:nvPr/>
        </p:nvSpPr>
        <p:spPr>
          <a:xfrm>
            <a:off x="566928" y="1645920"/>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1</a:t>
            </a:r>
          </a:p>
        </p:txBody>
      </p:sp>
      <p:sp>
        <p:nvSpPr>
          <p:cNvPr id="11" name="TextBox 10"/>
          <p:cNvSpPr txBox="1"/>
          <p:nvPr/>
        </p:nvSpPr>
        <p:spPr>
          <a:xfrm>
            <a:off x="1298448" y="1682496"/>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Share of instalments settled through the partner</a:t>
            </a:r>
          </a:p>
        </p:txBody>
      </p:sp>
      <p:sp>
        <p:nvSpPr>
          <p:cNvPr id="12" name="TextBox 11"/>
          <p:cNvSpPr txBox="1"/>
          <p:nvPr/>
        </p:nvSpPr>
        <p:spPr>
          <a:xfrm>
            <a:off x="6601968" y="1719072"/>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health of collection, and the most important number in the company.</a:t>
            </a:r>
          </a:p>
        </p:txBody>
      </p:sp>
      <p:cxnSp>
        <p:nvCxnSpPr>
          <p:cNvPr id="13" name="Connector 12"/>
          <p:cNvCxnSpPr/>
          <p:nvPr/>
        </p:nvCxnSpPr>
        <p:spPr>
          <a:xfrm>
            <a:off x="566928" y="2304288"/>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6928" y="2414016"/>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2</a:t>
            </a:r>
          </a:p>
        </p:txBody>
      </p:sp>
      <p:sp>
        <p:nvSpPr>
          <p:cNvPr id="15" name="TextBox 14"/>
          <p:cNvSpPr txBox="1"/>
          <p:nvPr/>
        </p:nvSpPr>
        <p:spPr>
          <a:xfrm>
            <a:off x="1298448" y="2450592"/>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Circles completed clean</a:t>
            </a:r>
          </a:p>
        </p:txBody>
      </p:sp>
      <p:sp>
        <p:nvSpPr>
          <p:cNvPr id="16" name="TextBox 15"/>
          <p:cNvSpPr txBox="1"/>
          <p:nvPr/>
        </p:nvSpPr>
        <p:spPr>
          <a:xfrm>
            <a:off x="6601968" y="2487168"/>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unit of value. A circle that never finishes proves nothing about its members.</a:t>
            </a:r>
          </a:p>
        </p:txBody>
      </p:sp>
      <p:cxnSp>
        <p:nvCxnSpPr>
          <p:cNvPr id="17" name="Connector 16"/>
          <p:cNvCxnSpPr/>
          <p:nvPr/>
        </p:nvCxnSpPr>
        <p:spPr>
          <a:xfrm>
            <a:off x="566928" y="3072384"/>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66928" y="3182112"/>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3</a:t>
            </a:r>
          </a:p>
        </p:txBody>
      </p:sp>
      <p:sp>
        <p:nvSpPr>
          <p:cNvPr id="19" name="TextBox 18"/>
          <p:cNvSpPr txBox="1"/>
          <p:nvPr/>
        </p:nvSpPr>
        <p:spPr>
          <a:xfrm>
            <a:off x="1298448" y="3218688"/>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Circles per organiser</a:t>
            </a:r>
          </a:p>
        </p:txBody>
      </p:sp>
      <p:sp>
        <p:nvSpPr>
          <p:cNvPr id="20" name="TextBox 19"/>
          <p:cNvSpPr txBox="1"/>
          <p:nvPr/>
        </p:nvSpPr>
        <p:spPr>
          <a:xfrm>
            <a:off x="6601968" y="3255264"/>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Whether growth compounds. A host’s second circle brings the whole group back.</a:t>
            </a:r>
          </a:p>
        </p:txBody>
      </p:sp>
      <p:cxnSp>
        <p:nvCxnSpPr>
          <p:cNvPr id="21" name="Connector 20"/>
          <p:cNvCxnSpPr/>
          <p:nvPr/>
        </p:nvCxnSpPr>
        <p:spPr>
          <a:xfrm>
            <a:off x="566928" y="3840480"/>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3950208"/>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4</a:t>
            </a:r>
          </a:p>
        </p:txBody>
      </p:sp>
      <p:sp>
        <p:nvSpPr>
          <p:cNvPr id="23" name="TextBox 22"/>
          <p:cNvSpPr txBox="1"/>
          <p:nvPr/>
        </p:nvSpPr>
        <p:spPr>
          <a:xfrm>
            <a:off x="1298448" y="3986784"/>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Measured default after collection in the first 100 circles</a:t>
            </a:r>
          </a:p>
        </p:txBody>
      </p:sp>
      <p:sp>
        <p:nvSpPr>
          <p:cNvPr id="24" name="TextBox 23"/>
          <p:cNvSpPr txBox="1"/>
          <p:nvPr/>
        </p:nvSpPr>
        <p:spPr>
          <a:xfrm>
            <a:off x="6601968" y="4023360"/>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point at which the modelled band becomes a fact.</a:t>
            </a:r>
          </a:p>
        </p:txBody>
      </p:sp>
      <p:cxnSp>
        <p:nvCxnSpPr>
          <p:cNvPr id="25" name="Connector 24"/>
          <p:cNvCxnSpPr/>
          <p:nvPr/>
        </p:nvCxnSpPr>
        <p:spPr>
          <a:xfrm>
            <a:off x="566928" y="4608576"/>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4718304"/>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5</a:t>
            </a:r>
          </a:p>
        </p:txBody>
      </p:sp>
      <p:sp>
        <p:nvSpPr>
          <p:cNvPr id="27" name="TextBox 26"/>
          <p:cNvSpPr txBox="1"/>
          <p:nvPr/>
        </p:nvSpPr>
        <p:spPr>
          <a:xfrm>
            <a:off x="1298448" y="4754880"/>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Members who become organisers</a:t>
            </a:r>
          </a:p>
        </p:txBody>
      </p:sp>
      <p:sp>
        <p:nvSpPr>
          <p:cNvPr id="28" name="TextBox 27"/>
          <p:cNvSpPr txBox="1"/>
          <p:nvPr/>
        </p:nvSpPr>
        <p:spPr>
          <a:xfrm>
            <a:off x="6601968" y="4791456"/>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growth loop inside the product.</a:t>
            </a:r>
          </a:p>
        </p:txBody>
      </p:sp>
      <p:cxnSp>
        <p:nvCxnSpPr>
          <p:cNvPr id="29" name="Connector 28"/>
          <p:cNvCxnSpPr/>
          <p:nvPr/>
        </p:nvCxnSpPr>
        <p:spPr>
          <a:xfrm>
            <a:off x="566928" y="5376672"/>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57607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Cost per organiser replaces cost per user: one organiser brings ten to fifteen members who already trust one another.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OPEN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is unresolved</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item has an owner and a route to an answer.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25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50</a:t>
            </a:r>
          </a:p>
        </p:txBody>
      </p:sp>
      <p:graphicFrame>
        <p:nvGraphicFramePr>
          <p:cNvPr id="10" name="Table 9"/>
          <p:cNvGraphicFramePr>
            <a:graphicFrameLocks noGrp="1"/>
          </p:cNvGraphicFramePr>
          <p:nvPr/>
        </p:nvGraphicFramePr>
        <p:xfrm>
          <a:off x="566928" y="1572768"/>
          <a:ext cx="11057837" cy="3712464"/>
        </p:xfrm>
        <a:graphic>
          <a:graphicData uri="http://schemas.openxmlformats.org/drawingml/2006/table">
            <a:tbl>
              <a:tblPr>
                <a:tableStyleId>{5C22544A-7EE6-4342-B048-85BDC9FD1C3A}</a:tableStyleId>
              </a:tblPr>
              <a:tblGrid>
                <a:gridCol w="552891"/>
                <a:gridCol w="6966438"/>
                <a:gridCol w="3538508"/>
              </a:tblGrid>
              <a:tr h="530352">
                <a:tc>
                  <a:txBody>
                    <a:bodyPr wrap="square"/>
                    <a:lstStyle/>
                    <a:p>
                      <a:pPr algn="l"/>
                      <a:r>
                        <a:rPr sz="900" b="1">
                          <a:solidFill>
                            <a:srgbClr val="F3FCE7"/>
                          </a:solidFill>
                          <a:latin typeface="Arial"/>
                        </a:rPr>
                        <a: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Question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Route to an answer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compulsory cover on Hyper sits within regulation 10(c) of the Corporate Insurance Agents Regulations 2020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Counsel’s written opinion before Hyper opens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the intermediary limb of the Anti-Money Laundering Act definition reaches Halqa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Counsel, in writing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the partner can debit one member and credit another directly, split one debit three ways, and at what price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partner enquiry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any category of furnisher that is not a credit institution has been notified under section 11(1) of the Credit Bureaus Act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bureau and the State Bank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to reproduce the offline organiser’s habit of covering a defaulter, or rely on seat rules, the guarantee and 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 ruling by the chairman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regulatory route. Halqa’s reading is that no approval is needed; an informal view on 22 September pointed to the State Bank’s sandbox</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reading is put back for comment before any filing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lockup-light.png"/>
          <p:cNvPicPr>
            <a:picLocks noChangeAspect="1"/>
          </p:cNvPicPr>
          <p:nvPr/>
        </p:nvPicPr>
        <p:blipFill>
          <a:blip r:embed="rId2"/>
          <a:stretch>
            <a:fillRect/>
          </a:stretch>
        </p:blipFill>
        <p:spPr>
          <a:xfrm>
            <a:off x="1280160" y="1188720"/>
            <a:ext cx="1808018" cy="548640"/>
          </a:xfrm>
          <a:prstGeom prst="rect">
            <a:avLst/>
          </a:prstGeom>
        </p:spPr>
      </p:pic>
      <p:sp>
        <p:nvSpPr>
          <p:cNvPr id="5" name="TextBox 4"/>
          <p:cNvSpPr txBox="1"/>
          <p:nvPr/>
        </p:nvSpPr>
        <p:spPr>
          <a:xfrm>
            <a:off x="1280160" y="2286000"/>
            <a:ext cx="9509760" cy="2377440"/>
          </a:xfrm>
          <a:prstGeom prst="rect">
            <a:avLst/>
          </a:prstGeom>
          <a:noFill/>
        </p:spPr>
        <p:txBody>
          <a:bodyPr wrap="square" lIns="0" rIns="0" tIns="0" bIns="0" anchor="t">
            <a:spAutoFit/>
          </a:bodyPr>
          <a:lstStyle/>
          <a:p>
            <a:pPr algn="l">
              <a:lnSpc>
                <a:spcPct val="115000"/>
              </a:lnSpc>
              <a:spcAft>
                <a:spcPts val="1400"/>
              </a:spcAft>
            </a:pPr>
            <a:r>
              <a:rPr sz="2100" b="0" i="0">
                <a:solidFill>
                  <a:srgbClr val="F3FCE7"/>
                </a:solidFill>
                <a:latin typeface="Georgia"/>
              </a:rPr>
              <a:t>Halqa never holds members’ money.</a:t>
            </a:r>
          </a:p>
          <a:p>
            <a:pPr algn="l">
              <a:lnSpc>
                <a:spcPct val="115000"/>
              </a:lnSpc>
              <a:spcAft>
                <a:spcPts val="1400"/>
              </a:spcAft>
            </a:pPr>
            <a:r>
              <a:rPr sz="2100" b="0" i="0">
                <a:solidFill>
                  <a:srgbClr val="F3FCE7"/>
                </a:solidFill>
                <a:latin typeface="Georgia"/>
              </a:rPr>
              <a:t>It earns a stated fee for organising committees. A licensed partner moves the money and a licensed takaful operator writes the cover.</a:t>
            </a:r>
          </a:p>
          <a:p>
            <a:pPr algn="l">
              <a:lnSpc>
                <a:spcPct val="115000"/>
              </a:lnSpc>
              <a:spcAft>
                <a:spcPts val="1400"/>
              </a:spcAft>
            </a:pPr>
            <a:r>
              <a:rPr sz="2100" b="0" i="0">
                <a:solidFill>
                  <a:srgbClr val="F3FCE7"/>
                </a:solidFill>
                <a:latin typeface="Georgia"/>
              </a:rPr>
              <a:t>What it needs is a company, tax registrations and contracts with licensed partners.</a:t>
            </a:r>
          </a:p>
        </p:txBody>
      </p:sp>
      <p:sp>
        <p:nvSpPr>
          <p:cNvPr id="6" name="TextBox 5"/>
          <p:cNvSpPr txBox="1"/>
          <p:nvPr/>
        </p:nvSpPr>
        <p:spPr>
          <a:xfrm>
            <a:off x="1280160" y="6126480"/>
            <a:ext cx="9144000" cy="274320"/>
          </a:xfrm>
          <a:prstGeom prst="rect">
            <a:avLst/>
          </a:prstGeom>
          <a:noFill/>
        </p:spPr>
        <p:txBody>
          <a:bodyPr wrap="square" lIns="0" rIns="0" tIns="0" bIns="0" anchor="t">
            <a:spAutoFit/>
          </a:bodyPr>
          <a:lstStyle/>
          <a:p>
            <a:pPr algn="l">
              <a:lnSpc>
                <a:spcPct val="100000"/>
              </a:lnSpc>
              <a:spcAft>
                <a:spcPts val="400"/>
              </a:spcAft>
            </a:pPr>
            <a:r>
              <a:rPr sz="1000" b="0" i="0">
                <a:solidFill>
                  <a:srgbClr val="A9B4A3"/>
                </a:solidFill>
                <a:latin typeface="Arial"/>
              </a:rPr>
              <a:t>Halqa   ·   25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