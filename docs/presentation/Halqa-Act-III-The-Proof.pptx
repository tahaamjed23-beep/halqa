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Quattrocento"/>
      <p:regular r:id="rId201314"/>
    </p:embeddedFont>
    <p:embeddedFont>
      <p:font typeface="Quattrocento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577" y="1772989"/>
            <a:ext cx="880021" cy="227335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613321" y="1817861"/>
            <a:ext cx="1157734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ACT III OF IV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3577" y="2060153"/>
            <a:ext cx="4667845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Proof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23577" y="2891730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enemy is the default. We built nine layers against it — then simulated a full Pakistani year to check they hold.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173659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Now the hard part: defaults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838027"/>
            <a:ext cx="4667845" cy="1125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Why do committees actually die?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One member takes an early payout... and vanishes.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 the paper world there is no deposit, no record, no score, no recovery. Just a missing neighbour and a broken circle.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132088"/>
            <a:ext cx="4667845" cy="837679"/>
          </a:xfrm>
          <a:prstGeom prst="roundRect">
            <a:avLst>
              <a:gd name="adj" fmla="val 2679"/>
            </a:avLst>
          </a:prstGeom>
          <a:solidFill>
            <a:srgbClr val="71260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50" y="3350047"/>
            <a:ext cx="187003" cy="1495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9724" y="3319016"/>
            <a:ext cx="403212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If you solve defaults, you solve committees. So we built a stack.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defence stack — nine layers deep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419151"/>
            <a:ext cx="2599209" cy="26367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1003" y="1522363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92200" y="2036564"/>
            <a:ext cx="22619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Before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92200" y="2346275"/>
            <a:ext cx="2261964" cy="1540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Reliability scores gate entry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Newcomers capped at Rs 25,000 circles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Credit-weighted turn ordering — reliable members get the risky early turns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358" y="1419151"/>
            <a:ext cx="2599209" cy="26367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59784" y="1522363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3440981" y="2036564"/>
            <a:ext cx="22619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During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40981" y="2346275"/>
            <a:ext cx="2261964" cy="1301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Graduated security deposits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Payout holdback until you're square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Your own vault auto-covers a slip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1139" y="1419151"/>
            <a:ext cx="2599283" cy="26367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08565" y="1522363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6189762" y="2036564"/>
            <a:ext cx="22620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After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9762" y="2346275"/>
            <a:ext cx="2262039" cy="1301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Progressive penalties (to charity)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Account lock + deposit forfeiture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rehabilitation path back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294977" y="4224114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Defaulting isn't impossible. It's just expensive, visible, and recoverable-from.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Graduated deposits: collateral that mirrors risk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Whoever owes the most, posts the most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218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last turn owes nothing, posts nothing. Deposits scale precisely with how much the group is exposed to each member at any given moment.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And the deposits aren't dead weight — 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they EARN for their owners all cycle.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Host picks the dial: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30% to 90% coverage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, trade-off shown live on a chart. The reference circle shown here uses 70% coverage.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28638"/>
            <a:ext cx="4667845" cy="687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Don't take our word for it. We simulated Pakistan.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523577" y="1411560"/>
            <a:ext cx="2276847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120K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23577" y="1924124"/>
            <a:ext cx="227684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Simulated savers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914501" y="1411560"/>
            <a:ext cx="2276921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10,441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914501" y="1924124"/>
            <a:ext cx="2276921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Committees run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719039" y="2337048"/>
            <a:ext cx="2276847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719039" y="2849612"/>
            <a:ext cx="227684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Full 2025 calendar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719039" y="3076277"/>
            <a:ext cx="2276847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Ramadan, both Eids, school-fee seasons, monsoon floods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23577" y="3603352"/>
            <a:ext cx="2191345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Twin-world design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23577" y="3866555"/>
            <a:ext cx="2191345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same people live the same year twice — once on paper committees, once on Halqa. Same salaries, same shocks, same temptations. Only the platform differs.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004840" y="3603352"/>
            <a:ext cx="2191345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Deterministic seed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004840" y="3866555"/>
            <a:ext cx="2191345" cy="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Anyone can re-run it and get every figure to the decimal. This is not a model — it's a reproducible experiment.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verdict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743545"/>
            <a:ext cx="4025057" cy="246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0.99%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23577" y="1055712"/>
            <a:ext cx="4025057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Defaults after payout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23577" y="1188095"/>
            <a:ext cx="4025057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Down from 2.48% on paper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4595366" y="743545"/>
            <a:ext cx="4025057" cy="246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75.3%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95366" y="1055712"/>
            <a:ext cx="4025057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Money recovered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595366" y="1188095"/>
            <a:ext cx="4025057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Up from 0% on paper committees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523577" y="1389980"/>
            <a:ext cx="4025057" cy="246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94.0%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23577" y="1702147"/>
            <a:ext cx="4025057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On-time payments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23577" y="1834530"/>
            <a:ext cx="4025057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Up from 91.5% on paper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4595366" y="1389980"/>
            <a:ext cx="4025057" cy="246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0.94%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95366" y="1702147"/>
            <a:ext cx="4025057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Over-committed members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595366" y="1834530"/>
            <a:ext cx="4025057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Down from 10.4% drowning</a:t>
            </a:r>
            <a:endParaRPr lang="en-US" sz="5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966317"/>
            <a:ext cx="8096845" cy="453419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94977" y="6542559"/>
            <a:ext cx="855404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Simulated members earned </a:t>
            </a:r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~Rs 69.7 million in engine profit</a:t>
            </a:r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on top of these protection gains.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It bleeds where Pakistan bleeds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706189"/>
            <a:ext cx="8096845" cy="4534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5282431"/>
            <a:ext cx="8096845" cy="2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Both worlds stress at Eid and drown in the monsoon — as real Pakistan does. Paper committees peak at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376 defaults in July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during the floods; Halqa peaks at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1D4241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173 in August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Halqa's curve is lower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every single month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, and the gap is widest early in the cycle — where credit-weighted ordering puts the most reliable members in the most exposed turns.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525735"/>
            <a:ext cx="4667845" cy="71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quiet superpower: the Credit Passport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952577" y="1487686"/>
            <a:ext cx="2185690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Making invisible discipline legible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52577" y="1765176"/>
            <a:ext cx="2185690" cy="1322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Every on-time installment builds a verifiable payment history — exportable, shareable, real.</a:t>
            </a:r>
            <a:endParaRPr lang="en-US" sz="9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25–30 million Pakistanis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are credit-invisible to banks. Their committee discipline is invisible ink. We make it legible.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952577" y="3186782"/>
            <a:ext cx="2185690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Proof this alone is a business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52577" y="3464272"/>
            <a:ext cx="2185690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Esusu (USA) reports informal payments to credit bureaus — </a:t>
            </a:r>
            <a:pPr algn="l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EF9C82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$130M raised at a $1B valuation.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39495" y="1500039"/>
            <a:ext cx="2185690" cy="696813"/>
          </a:xfrm>
          <a:prstGeom prst="roundRect">
            <a:avLst>
              <a:gd name="adj" fmla="val 2617"/>
            </a:avLst>
          </a:prstGeom>
          <a:solidFill>
            <a:srgbClr val="315251"/>
          </a:solidFill>
          <a:ln/>
        </p:spPr>
      </p:sp>
      <p:sp>
        <p:nvSpPr>
          <p:cNvPr id="9" name="Text 6"/>
          <p:cNvSpPr/>
          <p:nvPr/>
        </p:nvSpPr>
        <p:spPr>
          <a:xfrm>
            <a:off x="6561013" y="1621557"/>
            <a:ext cx="1942654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25–30M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61013" y="1899047"/>
            <a:ext cx="1942654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Pakistanis credit-invisible to banks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39495" y="2295599"/>
            <a:ext cx="2185690" cy="696813"/>
          </a:xfrm>
          <a:prstGeom prst="roundRect">
            <a:avLst>
              <a:gd name="adj" fmla="val 2617"/>
            </a:avLst>
          </a:prstGeom>
          <a:solidFill>
            <a:srgbClr val="315251"/>
          </a:solidFill>
          <a:ln/>
        </p:spPr>
      </p:sp>
      <p:sp>
        <p:nvSpPr>
          <p:cNvPr id="12" name="Text 9"/>
          <p:cNvSpPr/>
          <p:nvPr/>
        </p:nvSpPr>
        <p:spPr>
          <a:xfrm>
            <a:off x="6561013" y="2417118"/>
            <a:ext cx="1942654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$1B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61013" y="2694608"/>
            <a:ext cx="1942654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Esusu valuation — proof of concept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39495" y="3091160"/>
            <a:ext cx="2185690" cy="873100"/>
          </a:xfrm>
          <a:prstGeom prst="roundRect">
            <a:avLst>
              <a:gd name="adj" fmla="val 2088"/>
            </a:avLst>
          </a:prstGeom>
          <a:solidFill>
            <a:srgbClr val="315251"/>
          </a:solidFill>
          <a:ln/>
        </p:spPr>
      </p:sp>
      <p:sp>
        <p:nvSpPr>
          <p:cNvPr id="15" name="Text 12"/>
          <p:cNvSpPr/>
          <p:nvPr/>
        </p:nvSpPr>
        <p:spPr>
          <a:xfrm>
            <a:off x="6561013" y="3212678"/>
            <a:ext cx="1942654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$130M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61013" y="3490168"/>
            <a:ext cx="1942654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Raised by Esusu reporting informal payments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52577" y="4193084"/>
            <a:ext cx="4667845" cy="424607"/>
          </a:xfrm>
          <a:prstGeom prst="roundRect">
            <a:avLst>
              <a:gd name="adj" fmla="val 4294"/>
            </a:avLst>
          </a:prstGeom>
          <a:solidFill>
            <a:srgbClr val="71260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096" y="4357688"/>
            <a:ext cx="151879" cy="12151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47493" y="4322192"/>
            <a:ext cx="4608612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Coming in Act IV: who else is playing, and how the money works.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2026-07-18T21:05:29Z</dcterms:created>
  <dcterms:modified xsi:type="dcterms:W3CDTF">2026-07-18T21:05:29Z</dcterms:modified>
</cp:coreProperties>
</file>