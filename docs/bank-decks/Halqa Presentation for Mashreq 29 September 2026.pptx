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Halqa runs committees, the rotating savings groups most Pakistani families already use. This proposal asks Mashreq to hold and move every rupee, while Halqa runs the committee itself.</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points carry the proposal. The habit exists and moves in cash. Every member banks with Mashreq and Mashreq moves all the money; Halqa provides the rules and the technology. Mashreq gains accounts, deposits and a lending record; members gain safety and a credit history. The request is seven decisions and a one month pilot of about 1,000 members.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Twelve members each pay Rs 10,000 a month. Each month one of them takes the pot of Rs 120,000. The first member receives an advance without interest; the last member saves with discipline. Over twelve months everyone pays in exactly what they take out, which is why a committee carries no interest.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Participation estimates range from 34 per cent (Karandaaz) to 41 per cent (Oraan) of Pakistanis, with about Rs 4 trillion estimated to rotate each year. Among savers, 63 per cent keep cash at home, 33 per cent use a committee and only 4 per cent use a bank or other formal institution. Women take part at twice the rate of men.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informal committee one person holds everyone's money and the record is a notebook. Twelve per cent of committee users report losing money to fraud; in 2022 one organiser took about Rs 420 million from 117 committees. The member who collects early may stop paying, and years of paying on time build no credit record.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money never leaves Mashreq. Each instalment is debited from the member's own Mashreq account into the circle's account, and the pot goes to the collector's Mashreq account the same day. Halqa sends the instructions and keeps the records; Mashreq executes and confirms each step. Halqa's own account receives only its agreed share of income.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application for the member: join a circle and pick a turn the member qualifies for, authorise the debit once, receive the pot in the member's own account, and build a credit record from every payment. Under the partnership, Mashreq's account opening screens run inside the application. The screens shown are the current preview with sample data.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Salary arrives, the instalment waits about seven days in the Islamic Current Profit Account and earns profit, and Mashreq debits it on the due date and pays the pot the same day. A failed debit is retried each morning for up to five days before late fees apply. When the circle ends, the profit returns to members as points. The debit mandate is the one new product Mashreq would add. The due date of the 8th is proposed.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stated assumptions, 100,000 members bring about Rs 2.5 billion of deposits, against Rs 8.5 billion Mashreq held at 30 June 2026. The assumption is an average balance of Rs 25,000 a member once salaries move to Mashreq; Mashreq's own data should replace it. Each circle opens 6 to 20 accounts at once, and the repayment records give Mashreq a base to start lending.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Mashreq opens the account with its own checks: CNIC, NADRA biometric and due diligence, and the member authorises the debit mandate. Halqa then checks identity, income and affordability and computes a credit score from 300 to 850. The member sees only the circles and turns open to them. Halqa stores results only.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Known circles are family, colleagues or neighbours; the group knows its members, so checks are light and there is no cover. Circles of strangers, large circles and asset circles carry full checks, automatic debit and cover. UAE family circles join relatives abroad through Mashreq's non resident accounts. Hyper is a daily circle for daily earners, labelled experimental. The pilot uses known circles only.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only real risk in a committee is a member who collects early and then stops paying. The member at turn 1 of 12 still owes Rs 110,000; the member at turn 12 owes nothing. So early turns are reserved for credit scores of 650 and above, and every new member starts in the last three turns. Instalments are capped at a third of verified income, stricter than the State Bank's 40 per cent limit for consumer loans.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Any missed payment gets a reminder, up to five retries, then late fees of 2, 5 and 10 per cent with falls in the credit score. A member who has not collected cannot cause a loss: arrears come out of that member's own pot. For a member who collected and then stopped: contact and a hardship plan, restriction, cover pays the other members, then the guarantee and a civil suit. Nobody's relatives are contacted and no names are published.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the member at turn 1 stops paying, each later pot would be Rs 10,000 short. Cover pays that shortfall, so every other member still receives Rs 120,000. Mashreq chooses the form: its own guarantee, an insurance policy, or takaful for the Islamic window. The price is about 5.5 per cent of the instalment on circles between strangers, set on a stress case.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a circle between strangers the member pays Rs 11,047 an instalment: Rs 10,000 to the collector, Rs 547 for cover and a fee of up to Rs 500. The fee is the same for every turn. Mashreq collects it as income and shares income with Halqa; the more that share earns, the lower the fee can go. The unit costs come from Halqa's 25 September model.</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JazzCash launched a committee feature in August 2026, but the pot sits in the organiser's wallet and payouts are by hand. Oraan holds money in its own accounts and charges the first turn up to 21 per cent of the instalment a month. Halqa with Mashreq is the only option where a bank holds the money, every turn pays one flat fee and every payment builds a credit record.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Money Fellows in Egypt started inside the central bank's sandbox and with Banque Misr, and became profitable in 2025. Hakbah in Saudi Arabia launched after central bank approval. Esusu in the United States reached a US$1.2 billion valuation. Among 25 earlier attempts, every failure held money without a licence or guaranteed payouts it could not carry.</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Digital payments rose from 78 to 92 per cent of retail payments in three years, and 69 million Pakistanis use mobile wallets. Savings have not followed. JazzCash's committee launch shows the category is moving now. The national strategy targets 75 per cent of adults with an account by 2028.</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application and its decision engines have run live since 20 July 2026, closed to the public, with payments in a test environment. Halqa becomes Mashreq's service provider under the State Bank's outsourcing framework, so regulation arrives through Mashreq's licence. Still to do: incorporation, the agreement and the connection to Mashreq's systems.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eight weeks for the agreement, approvals and connection, then one live month with up to 100 circles of people who know each other and about 1,000 members, then a review and a decision to scale. Circles of strangers, asset circles, UAE families and Hyper follow only after the pilot.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three decisions are approvals: the partnership, the State Bank route and the Islamic window. The next two are products: accounts and mandates inside the application, and the account that holds instalments. The last two are commercial: cover and credit reporting, and the income share with a one month pilot.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Halqa is the system; the bank is the machine. Committees run by Halqa, on Mashreq accounts, under Mashreq's licence.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Reference pages for questions on risk, integration, points and the turn market, Hyper, leaving a circle and unit costs.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risk Mashreq would carry, with the control that answers it.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Seven messages connect Halqa and Mashreq. Halqa sends instructions; Mashreq executes and confirms; Halqa reconciles its ledger against Mashreq's statement every morning. No money passes through Halqa.</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Points reward paying on time and carry the profit on balances at the end of each circle. Points bought with money would be stored value, so they run only as Mashreq's product. The turn market lets members trade turns inside their credit bands; counsel confirms its status before launch.</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Hyper is a daily circle for people paid daily. Option 1: 400 members over 50 days, eight collecting each day, Rs 450 a day. Option 2: 390 members over 26 days, fifteen collecting each day, Rs 500 a day. It is labelled experimental and stops opening new days if losses would exceed cover.</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 is no cancel button. Inside the 24 hour window a member leaves freely. After that the preferred route is a substitute who takes the turn. A group vote allows exit with a fine of one instalment; hardship waives the fine. Money comes back at the end of the circle, without profit.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Prices used in the 25 September model, and how each line changes when Mashreq collects the fee and holds the money.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alqa_logo.png"/>
          <p:cNvPicPr>
            <a:picLocks noChangeAspect="1"/>
          </p:cNvPicPr>
          <p:nvPr/>
        </p:nvPicPr>
        <p:blipFill>
          <a:blip r:embed="rId3"/>
          <a:stretch>
            <a:fillRect/>
          </a:stretch>
        </p:blipFill>
        <p:spPr>
          <a:xfrm>
            <a:off x="566928" y="658368"/>
            <a:ext cx="1504709" cy="457200"/>
          </a:xfrm>
          <a:prstGeom prst="rect">
            <a:avLst/>
          </a:prstGeom>
        </p:spPr>
      </p:pic>
      <p:cxnSp>
        <p:nvCxnSpPr>
          <p:cNvPr id="3" name="Connector 2"/>
          <p:cNvCxnSpPr/>
          <p:nvPr/>
        </p:nvCxnSpPr>
        <p:spPr>
          <a:xfrm>
            <a:off x="2350008" y="548640"/>
            <a:ext cx="0" cy="777240"/>
          </a:xfrm>
          <a:prstGeom prst="line">
            <a:avLst/>
          </a:prstGeom>
          <a:ln w="12700">
            <a:solidFill>
              <a:srgbClr val="C9D1C4"/>
            </a:solidFill>
          </a:ln>
        </p:spPr>
      </p:cxnSp>
      <p:pic>
        <p:nvPicPr>
          <p:cNvPr id="4" name="Picture 3" descr="mashreq_logo.png"/>
          <p:cNvPicPr>
            <a:picLocks noChangeAspect="1"/>
          </p:cNvPicPr>
          <p:nvPr/>
        </p:nvPicPr>
        <p:blipFill>
          <a:blip r:embed="rId4"/>
          <a:stretch>
            <a:fillRect/>
          </a:stretch>
        </p:blipFill>
        <p:spPr>
          <a:xfrm>
            <a:off x="2624328" y="420623"/>
            <a:ext cx="738308" cy="786384"/>
          </a:xfrm>
          <a:prstGeom prst="rect">
            <a:avLst/>
          </a:prstGeom>
        </p:spPr>
      </p:pic>
      <p:sp>
        <p:nvSpPr>
          <p:cNvPr id="5" name="TextBox 4"/>
          <p:cNvSpPr txBox="1"/>
          <p:nvPr/>
        </p:nvSpPr>
        <p:spPr>
          <a:xfrm>
            <a:off x="566928" y="2057400"/>
            <a:ext cx="6583680" cy="1463040"/>
          </a:xfrm>
          <a:prstGeom prst="rect">
            <a:avLst/>
          </a:prstGeom>
          <a:noFill/>
        </p:spPr>
        <p:txBody>
          <a:bodyPr wrap="square" lIns="0" rIns="0" tIns="0" bIns="0" anchor="t">
            <a:noAutofit/>
          </a:bodyPr>
          <a:lstStyle/>
          <a:p>
            <a:pPr algn="l">
              <a:lnSpc>
                <a:spcPct val="100000"/>
              </a:lnSpc>
            </a:pPr>
            <a:r>
              <a:rPr sz="4000" b="0" i="0">
                <a:solidFill>
                  <a:srgbClr val="0C1408"/>
                </a:solidFill>
                <a:latin typeface="Georgia"/>
              </a:rPr>
              <a:t>Committee savings, held and moved by a bank</a:t>
            </a:r>
          </a:p>
        </p:txBody>
      </p:sp>
      <p:sp>
        <p:nvSpPr>
          <p:cNvPr id="6" name="TextBox 5"/>
          <p:cNvSpPr txBox="1"/>
          <p:nvPr/>
        </p:nvSpPr>
        <p:spPr>
          <a:xfrm>
            <a:off x="566928" y="3611880"/>
            <a:ext cx="6309360" cy="365760"/>
          </a:xfrm>
          <a:prstGeom prst="rect">
            <a:avLst/>
          </a:prstGeom>
          <a:noFill/>
        </p:spPr>
        <p:txBody>
          <a:bodyPr wrap="square" lIns="0" rIns="0" tIns="0" bIns="0" anchor="t">
            <a:noAutofit/>
          </a:bodyPr>
          <a:lstStyle/>
          <a:p>
            <a:pPr algn="l">
              <a:lnSpc>
                <a:spcPct val="110000"/>
              </a:lnSpc>
            </a:pPr>
            <a:r>
              <a:rPr sz="2000" b="0" i="0">
                <a:solidFill>
                  <a:srgbClr val="41801A"/>
                </a:solidFill>
                <a:latin typeface="Arial"/>
              </a:rPr>
              <a:t>A partnership proposal for Mashreq Bank Pakistan</a:t>
            </a:r>
          </a:p>
        </p:txBody>
      </p:sp>
      <p:sp>
        <p:nvSpPr>
          <p:cNvPr id="7" name="TextBox 6"/>
          <p:cNvSpPr txBox="1"/>
          <p:nvPr/>
        </p:nvSpPr>
        <p:spPr>
          <a:xfrm>
            <a:off x="566928" y="5074920"/>
            <a:ext cx="5486400" cy="274320"/>
          </a:xfrm>
          <a:prstGeom prst="rect">
            <a:avLst/>
          </a:prstGeom>
          <a:noFill/>
        </p:spPr>
        <p:txBody>
          <a:bodyPr wrap="square" lIns="0" rIns="0" tIns="0" bIns="0" anchor="t">
            <a:noAutofit/>
          </a:bodyPr>
          <a:lstStyle/>
          <a:p>
            <a:pPr algn="l">
              <a:lnSpc>
                <a:spcPct val="110000"/>
              </a:lnSpc>
            </a:pPr>
            <a:r>
              <a:rPr sz="1400" b="1" i="0">
                <a:solidFill>
                  <a:srgbClr val="0C1408"/>
                </a:solidFill>
                <a:latin typeface="Arial"/>
              </a:rPr>
              <a:t>Taha Amjed, Chairman, Halqa</a:t>
            </a:r>
          </a:p>
        </p:txBody>
      </p:sp>
      <p:sp>
        <p:nvSpPr>
          <p:cNvPr id="8" name="TextBox 7"/>
          <p:cNvSpPr txBox="1"/>
          <p:nvPr/>
        </p:nvSpPr>
        <p:spPr>
          <a:xfrm>
            <a:off x="566928" y="5376672"/>
            <a:ext cx="5486400" cy="274320"/>
          </a:xfrm>
          <a:prstGeom prst="rect">
            <a:avLst/>
          </a:prstGeom>
          <a:noFill/>
        </p:spPr>
        <p:txBody>
          <a:bodyPr wrap="square" lIns="0" rIns="0" tIns="0" bIns="0" anchor="t">
            <a:noAutofit/>
          </a:bodyPr>
          <a:lstStyle/>
          <a:p>
            <a:pPr algn="l">
              <a:lnSpc>
                <a:spcPct val="110000"/>
              </a:lnSpc>
            </a:pPr>
            <a:r>
              <a:rPr sz="1200" b="0" i="0">
                <a:solidFill>
                  <a:srgbClr val="5B6456"/>
                </a:solidFill>
                <a:latin typeface="Arial"/>
              </a:rPr>
              <a:t>October 2026</a:t>
            </a:r>
          </a:p>
        </p:txBody>
      </p:sp>
      <p:sp>
        <p:nvSpPr>
          <p:cNvPr id="9" name="Rectangle 8"/>
          <p:cNvSpPr/>
          <p:nvPr/>
        </p:nvSpPr>
        <p:spPr>
          <a:xfrm>
            <a:off x="7360920" y="0"/>
            <a:ext cx="4830775" cy="6858000"/>
          </a:xfrm>
          <a:prstGeom prst="rect">
            <a:avLst/>
          </a:prstGeom>
          <a:solidFill>
            <a:srgbClr val="6DC72A"/>
          </a:solidFill>
          <a:ln>
            <a:noFill/>
          </a:ln>
        </p:spPr>
        <p:txBody>
          <a:bodyPr rtlCol="0" anchor="ctr" lIns="0" rIns="0"/>
          <a:lstStyle/>
          <a:p>
            <a:pPr algn="ctr"/>
          </a:p>
        </p:txBody>
      </p:sp>
      <p:pic>
        <p:nvPicPr>
          <p:cNvPr id="10" name="Picture 9" descr="screen_home.png"/>
          <p:cNvPicPr>
            <a:picLocks noChangeAspect="1"/>
          </p:cNvPicPr>
          <p:nvPr/>
        </p:nvPicPr>
        <p:blipFill>
          <a:blip r:embed="rId5"/>
          <a:stretch>
            <a:fillRect/>
          </a:stretch>
        </p:blipFill>
        <p:spPr>
          <a:xfrm>
            <a:off x="8468715" y="713232"/>
            <a:ext cx="2612916" cy="54864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9509760" cy="566928"/>
          </a:xfrm>
          <a:prstGeom prst="rect">
            <a:avLst/>
          </a:prstGeom>
          <a:noFill/>
        </p:spPr>
        <p:txBody>
          <a:bodyPr wrap="square" lIns="0" rIns="0" tIns="0" bIns="0" anchor="t">
            <a:noAutofit/>
          </a:bodyPr>
          <a:lstStyle/>
          <a:p>
            <a:pPr algn="l">
              <a:lnSpc>
                <a:spcPct val="110000"/>
              </a:lnSpc>
            </a:pPr>
            <a:r>
              <a:rPr sz="2800" b="0" i="0">
                <a:solidFill>
                  <a:srgbClr val="41801A"/>
                </a:solidFill>
                <a:latin typeface="Georgia"/>
              </a:rPr>
              <a:t>Summary</a:t>
            </a:r>
          </a:p>
        </p:txBody>
      </p:sp>
      <p:sp>
        <p:nvSpPr>
          <p:cNvPr id="3" name="TextBox 2"/>
          <p:cNvSpPr txBox="1"/>
          <p:nvPr/>
        </p:nvSpPr>
        <p:spPr>
          <a:xfrm>
            <a:off x="566928" y="987552"/>
            <a:ext cx="11057839" cy="411480"/>
          </a:xfrm>
          <a:prstGeom prst="rect">
            <a:avLst/>
          </a:prstGeom>
          <a:noFill/>
        </p:spPr>
        <p:txBody>
          <a:bodyPr wrap="square" lIns="0" rIns="0" tIns="0" bIns="0" anchor="t">
            <a:noAutofit/>
          </a:bodyPr>
          <a:lstStyle/>
          <a:p>
            <a:pPr algn="l">
              <a:lnSpc>
                <a:spcPct val="110000"/>
              </a:lnSpc>
            </a:pPr>
            <a:r>
              <a:rPr sz="1800" b="0" i="0">
                <a:solidFill>
                  <a:srgbClr val="0C1408"/>
                </a:solidFill>
                <a:latin typeface="Arial"/>
              </a:rPr>
              <a:t>Halqa proposes to run Pakistan's committees on Mashreq accounts.</a:t>
            </a:r>
          </a:p>
        </p:txBody>
      </p:sp>
      <p:pic>
        <p:nvPicPr>
          <p:cNvPr id="4" name="Picture 3" descr="halqa_logo.png"/>
          <p:cNvPicPr>
            <a:picLocks noChangeAspect="1"/>
          </p:cNvPicPr>
          <p:nvPr/>
        </p:nvPicPr>
        <p:blipFill>
          <a:blip r:embed="rId3"/>
          <a:stretch>
            <a:fillRect/>
          </a:stretch>
        </p:blipFill>
        <p:spPr>
          <a:xfrm>
            <a:off x="10600639" y="457200"/>
            <a:ext cx="1023202" cy="310896"/>
          </a:xfrm>
          <a:prstGeom prst="rect">
            <a:avLst/>
          </a:prstGeom>
        </p:spPr>
      </p:pic>
      <p:sp>
        <p:nvSpPr>
          <p:cNvPr id="5" name="TextBox 4"/>
          <p:cNvSpPr txBox="1"/>
          <p:nvPr/>
        </p:nvSpPr>
        <p:spPr>
          <a:xfrm>
            <a:off x="11076127" y="6355080"/>
            <a:ext cx="548640" cy="228600"/>
          </a:xfrm>
          <a:prstGeom prst="rect">
            <a:avLst/>
          </a:prstGeom>
          <a:noFill/>
        </p:spPr>
        <p:txBody>
          <a:bodyPr wrap="square" lIns="0" rIns="0" tIns="0" bIns="0" anchor="t">
            <a:noAutofit/>
          </a:bodyPr>
          <a:lstStyle/>
          <a:p>
            <a:pPr algn="r">
              <a:lnSpc>
                <a:spcPct val="110000"/>
              </a:lnSpc>
            </a:pPr>
            <a:r>
              <a:rPr sz="1000" b="0" i="0">
                <a:solidFill>
                  <a:srgbClr val="5B6456"/>
                </a:solidFill>
                <a:latin typeface="Arial"/>
              </a:rPr>
              <a:t>2</a:t>
            </a:r>
          </a:p>
        </p:txBody>
      </p:sp>
      <p:cxnSp>
        <p:nvCxnSpPr>
          <p:cNvPr id="6" name="Connector 5"/>
          <p:cNvCxnSpPr/>
          <p:nvPr/>
        </p:nvCxnSpPr>
        <p:spPr>
          <a:xfrm>
            <a:off x="566928" y="1828800"/>
            <a:ext cx="11057839" cy="0"/>
          </a:xfrm>
          <a:prstGeom prst="line">
            <a:avLst/>
          </a:prstGeom>
          <a:ln w="9525">
            <a:solidFill>
              <a:srgbClr val="D5DCD1"/>
            </a:solidFill>
          </a:ln>
        </p:spPr>
      </p:cxnSp>
      <p:sp>
        <p:nvSpPr>
          <p:cNvPr id="7" name="TextBox 6"/>
          <p:cNvSpPr txBox="1"/>
          <p:nvPr/>
        </p:nvSpPr>
        <p:spPr>
          <a:xfrm>
            <a:off x="566928" y="2011680"/>
            <a:ext cx="2103120" cy="548640"/>
          </a:xfrm>
          <a:prstGeom prst="rect">
            <a:avLst/>
          </a:prstGeom>
          <a:noFill/>
        </p:spPr>
        <p:txBody>
          <a:bodyPr wrap="square" lIns="0" rIns="0" tIns="0" bIns="0" anchor="t">
            <a:noAutofit/>
          </a:bodyPr>
          <a:lstStyle/>
          <a:p>
            <a:pPr algn="l">
              <a:lnSpc>
                <a:spcPct val="110000"/>
              </a:lnSpc>
            </a:pPr>
            <a:r>
              <a:rPr sz="1700" b="1" i="0">
                <a:solidFill>
                  <a:srgbClr val="41801A"/>
                </a:solidFill>
                <a:latin typeface="Arial"/>
              </a:rPr>
              <a:t>The habit</a:t>
            </a:r>
          </a:p>
        </p:txBody>
      </p:sp>
      <p:sp>
        <p:nvSpPr>
          <p:cNvPr id="8" name="TextBox 7"/>
          <p:cNvSpPr txBox="1"/>
          <p:nvPr/>
        </p:nvSpPr>
        <p:spPr>
          <a:xfrm>
            <a:off x="2852928" y="2011680"/>
            <a:ext cx="8771839" cy="640080"/>
          </a:xfrm>
          <a:prstGeom prst="rect">
            <a:avLst/>
          </a:prstGeom>
          <a:noFill/>
        </p:spPr>
        <p:txBody>
          <a:bodyPr wrap="square" lIns="0" rIns="0" tIns="0" bIns="0" anchor="t">
            <a:noAutofit/>
          </a:bodyPr>
          <a:lstStyle/>
          <a:p>
            <a:pPr algn="l">
              <a:lnSpc>
                <a:spcPct val="105000"/>
              </a:lnSpc>
            </a:pPr>
            <a:r>
              <a:rPr sz="1700" b="0" i="0">
                <a:solidFill>
                  <a:srgbClr val="0C1408"/>
                </a:solidFill>
                <a:latin typeface="Arial"/>
              </a:rPr>
              <a:t>More than a third of Pakistanis save in committees, in cash, outside any bank.</a:t>
            </a:r>
          </a:p>
        </p:txBody>
      </p:sp>
      <p:cxnSp>
        <p:nvCxnSpPr>
          <p:cNvPr id="9" name="Connector 8"/>
          <p:cNvCxnSpPr/>
          <p:nvPr/>
        </p:nvCxnSpPr>
        <p:spPr>
          <a:xfrm>
            <a:off x="566928" y="2633472"/>
            <a:ext cx="11057839" cy="0"/>
          </a:xfrm>
          <a:prstGeom prst="line">
            <a:avLst/>
          </a:prstGeom>
          <a:ln w="9525">
            <a:solidFill>
              <a:srgbClr val="D5DCD1"/>
            </a:solidFill>
          </a:ln>
        </p:spPr>
      </p:cxnSp>
      <p:sp>
        <p:nvSpPr>
          <p:cNvPr id="10" name="TextBox 9"/>
          <p:cNvSpPr txBox="1"/>
          <p:nvPr/>
        </p:nvSpPr>
        <p:spPr>
          <a:xfrm>
            <a:off x="566928" y="2816352"/>
            <a:ext cx="2103120" cy="548640"/>
          </a:xfrm>
          <a:prstGeom prst="rect">
            <a:avLst/>
          </a:prstGeom>
          <a:noFill/>
        </p:spPr>
        <p:txBody>
          <a:bodyPr wrap="square" lIns="0" rIns="0" tIns="0" bIns="0" anchor="t">
            <a:noAutofit/>
          </a:bodyPr>
          <a:lstStyle/>
          <a:p>
            <a:pPr algn="l">
              <a:lnSpc>
                <a:spcPct val="110000"/>
              </a:lnSpc>
            </a:pPr>
            <a:r>
              <a:rPr sz="1700" b="1" i="0">
                <a:solidFill>
                  <a:srgbClr val="41801A"/>
                </a:solidFill>
                <a:latin typeface="Arial"/>
              </a:rPr>
              <a:t>The proposal</a:t>
            </a:r>
          </a:p>
        </p:txBody>
      </p:sp>
      <p:sp>
        <p:nvSpPr>
          <p:cNvPr id="11" name="TextBox 10"/>
          <p:cNvSpPr txBox="1"/>
          <p:nvPr/>
        </p:nvSpPr>
        <p:spPr>
          <a:xfrm>
            <a:off x="2852928" y="2816352"/>
            <a:ext cx="8771839" cy="640080"/>
          </a:xfrm>
          <a:prstGeom prst="rect">
            <a:avLst/>
          </a:prstGeom>
          <a:noFill/>
        </p:spPr>
        <p:txBody>
          <a:bodyPr wrap="square" lIns="0" rIns="0" tIns="0" bIns="0" anchor="t">
            <a:noAutofit/>
          </a:bodyPr>
          <a:lstStyle/>
          <a:p>
            <a:pPr algn="l">
              <a:lnSpc>
                <a:spcPct val="105000"/>
              </a:lnSpc>
            </a:pPr>
            <a:r>
              <a:rPr sz="1700" b="0" i="0">
                <a:solidFill>
                  <a:srgbClr val="0C1408"/>
                </a:solidFill>
                <a:latin typeface="Arial"/>
              </a:rPr>
              <a:t>Every member banks with Mashreq. Mashreq holds and moves every rupee; Halqa runs the committee.</a:t>
            </a:r>
          </a:p>
        </p:txBody>
      </p:sp>
      <p:cxnSp>
        <p:nvCxnSpPr>
          <p:cNvPr id="12" name="Connector 11"/>
          <p:cNvCxnSpPr/>
          <p:nvPr/>
        </p:nvCxnSpPr>
        <p:spPr>
          <a:xfrm>
            <a:off x="566928" y="3438144"/>
            <a:ext cx="11057839" cy="0"/>
          </a:xfrm>
          <a:prstGeom prst="line">
            <a:avLst/>
          </a:prstGeom>
          <a:ln w="9525">
            <a:solidFill>
              <a:srgbClr val="D5DCD1"/>
            </a:solidFill>
          </a:ln>
        </p:spPr>
      </p:cxnSp>
      <p:sp>
        <p:nvSpPr>
          <p:cNvPr id="13" name="TextBox 12"/>
          <p:cNvSpPr txBox="1"/>
          <p:nvPr/>
        </p:nvSpPr>
        <p:spPr>
          <a:xfrm>
            <a:off x="566928" y="3621024"/>
            <a:ext cx="2103120" cy="548640"/>
          </a:xfrm>
          <a:prstGeom prst="rect">
            <a:avLst/>
          </a:prstGeom>
          <a:noFill/>
        </p:spPr>
        <p:txBody>
          <a:bodyPr wrap="square" lIns="0" rIns="0" tIns="0" bIns="0" anchor="t">
            <a:noAutofit/>
          </a:bodyPr>
          <a:lstStyle/>
          <a:p>
            <a:pPr algn="l">
              <a:lnSpc>
                <a:spcPct val="110000"/>
              </a:lnSpc>
            </a:pPr>
            <a:r>
              <a:rPr sz="1700" b="1" i="0">
                <a:solidFill>
                  <a:srgbClr val="41801A"/>
                </a:solidFill>
                <a:latin typeface="Arial"/>
              </a:rPr>
              <a:t>For Mashreq</a:t>
            </a:r>
          </a:p>
        </p:txBody>
      </p:sp>
      <p:sp>
        <p:nvSpPr>
          <p:cNvPr id="14" name="TextBox 13"/>
          <p:cNvSpPr txBox="1"/>
          <p:nvPr/>
        </p:nvSpPr>
        <p:spPr>
          <a:xfrm>
            <a:off x="2852928" y="3621024"/>
            <a:ext cx="8771839" cy="640080"/>
          </a:xfrm>
          <a:prstGeom prst="rect">
            <a:avLst/>
          </a:prstGeom>
          <a:noFill/>
        </p:spPr>
        <p:txBody>
          <a:bodyPr wrap="square" lIns="0" rIns="0" tIns="0" bIns="0" anchor="t">
            <a:noAutofit/>
          </a:bodyPr>
          <a:lstStyle/>
          <a:p>
            <a:pPr algn="l">
              <a:lnSpc>
                <a:spcPct val="105000"/>
              </a:lnSpc>
            </a:pPr>
            <a:r>
              <a:rPr sz="1700" b="0" i="0">
                <a:solidFill>
                  <a:srgbClr val="0C1408"/>
                </a:solidFill>
                <a:latin typeface="Arial"/>
              </a:rPr>
              <a:t>Accounts opened 6 to 20 at a time, deposits, an Islamic product and a repayment record to lend against.</a:t>
            </a:r>
          </a:p>
        </p:txBody>
      </p:sp>
      <p:cxnSp>
        <p:nvCxnSpPr>
          <p:cNvPr id="15" name="Connector 14"/>
          <p:cNvCxnSpPr/>
          <p:nvPr/>
        </p:nvCxnSpPr>
        <p:spPr>
          <a:xfrm>
            <a:off x="566928" y="4242816"/>
            <a:ext cx="11057839" cy="0"/>
          </a:xfrm>
          <a:prstGeom prst="line">
            <a:avLst/>
          </a:prstGeom>
          <a:ln w="9525">
            <a:solidFill>
              <a:srgbClr val="D5DCD1"/>
            </a:solidFill>
          </a:ln>
        </p:spPr>
      </p:cxnSp>
      <p:sp>
        <p:nvSpPr>
          <p:cNvPr id="16" name="TextBox 15"/>
          <p:cNvSpPr txBox="1"/>
          <p:nvPr/>
        </p:nvSpPr>
        <p:spPr>
          <a:xfrm>
            <a:off x="566928" y="4425696"/>
            <a:ext cx="2103120" cy="548640"/>
          </a:xfrm>
          <a:prstGeom prst="rect">
            <a:avLst/>
          </a:prstGeom>
          <a:noFill/>
        </p:spPr>
        <p:txBody>
          <a:bodyPr wrap="square" lIns="0" rIns="0" tIns="0" bIns="0" anchor="t">
            <a:noAutofit/>
          </a:bodyPr>
          <a:lstStyle/>
          <a:p>
            <a:pPr algn="l">
              <a:lnSpc>
                <a:spcPct val="110000"/>
              </a:lnSpc>
            </a:pPr>
            <a:r>
              <a:rPr sz="1700" b="1" i="0">
                <a:solidFill>
                  <a:srgbClr val="41801A"/>
                </a:solidFill>
                <a:latin typeface="Arial"/>
              </a:rPr>
              <a:t>For members</a:t>
            </a:r>
          </a:p>
        </p:txBody>
      </p:sp>
      <p:sp>
        <p:nvSpPr>
          <p:cNvPr id="17" name="TextBox 16"/>
          <p:cNvSpPr txBox="1"/>
          <p:nvPr/>
        </p:nvSpPr>
        <p:spPr>
          <a:xfrm>
            <a:off x="2852928" y="4425696"/>
            <a:ext cx="8771839" cy="640080"/>
          </a:xfrm>
          <a:prstGeom prst="rect">
            <a:avLst/>
          </a:prstGeom>
          <a:noFill/>
        </p:spPr>
        <p:txBody>
          <a:bodyPr wrap="square" lIns="0" rIns="0" tIns="0" bIns="0" anchor="t">
            <a:noAutofit/>
          </a:bodyPr>
          <a:lstStyle/>
          <a:p>
            <a:pPr algn="l">
              <a:lnSpc>
                <a:spcPct val="105000"/>
              </a:lnSpc>
            </a:pPr>
            <a:r>
              <a:rPr sz="1700" b="0" i="0">
                <a:solidFill>
                  <a:srgbClr val="0C1408"/>
                </a:solidFill>
                <a:latin typeface="Arial"/>
              </a:rPr>
              <a:t>No organiser holding cash, automatic payment, cover against default and a credit record.</a:t>
            </a:r>
          </a:p>
        </p:txBody>
      </p:sp>
      <p:cxnSp>
        <p:nvCxnSpPr>
          <p:cNvPr id="18" name="Connector 17"/>
          <p:cNvCxnSpPr/>
          <p:nvPr/>
        </p:nvCxnSpPr>
        <p:spPr>
          <a:xfrm>
            <a:off x="566928" y="5047488"/>
            <a:ext cx="11057839" cy="0"/>
          </a:xfrm>
          <a:prstGeom prst="line">
            <a:avLst/>
          </a:prstGeom>
          <a:ln w="9525">
            <a:solidFill>
              <a:srgbClr val="D5DCD1"/>
            </a:solidFill>
          </a:ln>
        </p:spPr>
      </p:cxnSp>
      <p:sp>
        <p:nvSpPr>
          <p:cNvPr id="19" name="TextBox 18"/>
          <p:cNvSpPr txBox="1"/>
          <p:nvPr/>
        </p:nvSpPr>
        <p:spPr>
          <a:xfrm>
            <a:off x="566928" y="5230368"/>
            <a:ext cx="2103120" cy="548640"/>
          </a:xfrm>
          <a:prstGeom prst="rect">
            <a:avLst/>
          </a:prstGeom>
          <a:noFill/>
        </p:spPr>
        <p:txBody>
          <a:bodyPr wrap="square" lIns="0" rIns="0" tIns="0" bIns="0" anchor="t">
            <a:noAutofit/>
          </a:bodyPr>
          <a:lstStyle/>
          <a:p>
            <a:pPr algn="l">
              <a:lnSpc>
                <a:spcPct val="110000"/>
              </a:lnSpc>
            </a:pPr>
            <a:r>
              <a:rPr sz="1700" b="1" i="0">
                <a:solidFill>
                  <a:srgbClr val="41801A"/>
                </a:solidFill>
                <a:latin typeface="Arial"/>
              </a:rPr>
              <a:t>The request</a:t>
            </a:r>
          </a:p>
        </p:txBody>
      </p:sp>
      <p:sp>
        <p:nvSpPr>
          <p:cNvPr id="20" name="TextBox 19"/>
          <p:cNvSpPr txBox="1"/>
          <p:nvPr/>
        </p:nvSpPr>
        <p:spPr>
          <a:xfrm>
            <a:off x="2852928" y="5230368"/>
            <a:ext cx="8771839" cy="640080"/>
          </a:xfrm>
          <a:prstGeom prst="rect">
            <a:avLst/>
          </a:prstGeom>
          <a:noFill/>
        </p:spPr>
        <p:txBody>
          <a:bodyPr wrap="square" lIns="0" rIns="0" tIns="0" bIns="0" anchor="t">
            <a:noAutofit/>
          </a:bodyPr>
          <a:lstStyle/>
          <a:p>
            <a:pPr algn="l">
              <a:lnSpc>
                <a:spcPct val="105000"/>
              </a:lnSpc>
            </a:pPr>
            <a:r>
              <a:rPr sz="1700" b="0" i="0">
                <a:solidFill>
                  <a:srgbClr val="0C1408"/>
                </a:solidFill>
                <a:latin typeface="Arial"/>
              </a:rPr>
              <a:t>Seven decisions, then one live month with about 1,000 members.</a:t>
            </a:r>
          </a:p>
        </p:txBody>
      </p:sp>
      <p:cxnSp>
        <p:nvCxnSpPr>
          <p:cNvPr id="21" name="Connector 20"/>
          <p:cNvCxnSpPr/>
          <p:nvPr/>
        </p:nvCxnSpPr>
        <p:spPr>
          <a:xfrm>
            <a:off x="566928" y="5852159"/>
            <a:ext cx="11057839" cy="0"/>
          </a:xfrm>
          <a:prstGeom prst="line">
            <a:avLst/>
          </a:prstGeom>
          <a:ln w="9525">
            <a:solidFill>
              <a:srgbClr val="D5DCD1"/>
            </a:solidFill>
          </a:ln>
        </p:spPr>
      </p:cxn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9509760" cy="566928"/>
          </a:xfrm>
          <a:prstGeom prst="rect">
            <a:avLst/>
          </a:prstGeom>
          <a:noFill/>
        </p:spPr>
        <p:txBody>
          <a:bodyPr wrap="square" lIns="0" rIns="0" tIns="0" bIns="0" anchor="t">
            <a:noAutofit/>
          </a:bodyPr>
          <a:lstStyle/>
          <a:p>
            <a:pPr algn="l">
              <a:lnSpc>
                <a:spcPct val="110000"/>
              </a:lnSpc>
            </a:pPr>
            <a:r>
              <a:rPr sz="2800" b="0" i="0">
                <a:solidFill>
                  <a:srgbClr val="41801A"/>
                </a:solidFill>
                <a:latin typeface="Georgia"/>
              </a:rPr>
              <a:t>How a Committee Works</a:t>
            </a:r>
          </a:p>
        </p:txBody>
      </p:sp>
      <p:sp>
        <p:nvSpPr>
          <p:cNvPr id="3" name="TextBox 2"/>
          <p:cNvSpPr txBox="1"/>
          <p:nvPr/>
        </p:nvSpPr>
        <p:spPr>
          <a:xfrm>
            <a:off x="566928" y="987552"/>
            <a:ext cx="11057839" cy="411480"/>
          </a:xfrm>
          <a:prstGeom prst="rect">
            <a:avLst/>
          </a:prstGeom>
          <a:noFill/>
        </p:spPr>
        <p:txBody>
          <a:bodyPr wrap="square" lIns="0" rIns="0" tIns="0" bIns="0" anchor="t">
            <a:noAutofit/>
          </a:bodyPr>
          <a:lstStyle/>
          <a:p>
            <a:pPr algn="l">
              <a:lnSpc>
                <a:spcPct val="110000"/>
              </a:lnSpc>
            </a:pPr>
            <a:r>
              <a:rPr sz="1800" b="0" i="0">
                <a:solidFill>
                  <a:srgbClr val="0C1408"/>
                </a:solidFill>
                <a:latin typeface="Arial"/>
              </a:rPr>
              <a:t>Everyone pays the same amount each month. Each month, one member takes the whole pot.</a:t>
            </a:r>
          </a:p>
        </p:txBody>
      </p:sp>
      <p:pic>
        <p:nvPicPr>
          <p:cNvPr id="4" name="Picture 3" descr="halqa_logo.png"/>
          <p:cNvPicPr>
            <a:picLocks noChangeAspect="1"/>
          </p:cNvPicPr>
          <p:nvPr/>
        </p:nvPicPr>
        <p:blipFill>
          <a:blip r:embed="rId3"/>
          <a:stretch>
            <a:fillRect/>
          </a:stretch>
        </p:blipFill>
        <p:spPr>
          <a:xfrm>
            <a:off x="10600639" y="457200"/>
            <a:ext cx="1023202" cy="310896"/>
          </a:xfrm>
          <a:prstGeom prst="rect">
            <a:avLst/>
          </a:prstGeom>
        </p:spPr>
      </p:pic>
      <p:sp>
        <p:nvSpPr>
          <p:cNvPr id="5" name="TextBox 4"/>
          <p:cNvSpPr txBox="1"/>
          <p:nvPr/>
        </p:nvSpPr>
        <p:spPr>
          <a:xfrm>
            <a:off x="11076127" y="6355080"/>
            <a:ext cx="548640" cy="228600"/>
          </a:xfrm>
          <a:prstGeom prst="rect">
            <a:avLst/>
          </a:prstGeom>
          <a:noFill/>
        </p:spPr>
        <p:txBody>
          <a:bodyPr wrap="square" lIns="0" rIns="0" tIns="0" bIns="0" anchor="t">
            <a:noAutofit/>
          </a:bodyPr>
          <a:lstStyle/>
          <a:p>
            <a:pPr algn="r">
              <a:lnSpc>
                <a:spcPct val="110000"/>
              </a:lnSpc>
            </a:pPr>
            <a:r>
              <a:rPr sz="1000" b="0" i="0">
                <a:solidFill>
                  <a:srgbClr val="5B6456"/>
                </a:solidFill>
                <a:latin typeface="Arial"/>
              </a:rPr>
              <a:t>3</a:t>
            </a:r>
          </a:p>
        </p:txBody>
      </p:sp>
      <p:sp>
        <p:nvSpPr>
          <p:cNvPr id="6" name="TextBox 5"/>
          <p:cNvSpPr txBox="1"/>
          <p:nvPr/>
        </p:nvSpPr>
        <p:spPr>
          <a:xfrm>
            <a:off x="1344168" y="1764792"/>
            <a:ext cx="3566160" cy="228600"/>
          </a:xfrm>
          <a:prstGeom prst="rect">
            <a:avLst/>
          </a:prstGeom>
          <a:noFill/>
        </p:spPr>
        <p:txBody>
          <a:bodyPr wrap="square" lIns="0" rIns="0" tIns="0" bIns="0" anchor="t">
            <a:noAutofit/>
          </a:bodyPr>
          <a:lstStyle/>
          <a:p>
            <a:pPr algn="ctr">
              <a:lnSpc>
                <a:spcPct val="110000"/>
              </a:lnSpc>
            </a:pPr>
            <a:r>
              <a:rPr sz="1100" b="0" i="0">
                <a:solidFill>
                  <a:srgbClr val="5B6456"/>
                </a:solidFill>
                <a:latin typeface="Arial"/>
              </a:rPr>
              <a:t>Month</a:t>
            </a:r>
          </a:p>
        </p:txBody>
      </p:sp>
      <p:sp>
        <p:nvSpPr>
          <p:cNvPr id="7" name="TextBox 6"/>
          <p:cNvSpPr txBox="1"/>
          <p:nvPr/>
        </p:nvSpPr>
        <p:spPr>
          <a:xfrm>
            <a:off x="1344168" y="2002536"/>
            <a:ext cx="246888" cy="201168"/>
          </a:xfrm>
          <a:prstGeom prst="rect">
            <a:avLst/>
          </a:prstGeom>
          <a:noFill/>
        </p:spPr>
        <p:txBody>
          <a:bodyPr wrap="square" lIns="0" rIns="0" tIns="0" bIns="0" anchor="t">
            <a:noAutofit/>
          </a:bodyPr>
          <a:lstStyle/>
          <a:p>
            <a:pPr algn="ctr">
              <a:lnSpc>
                <a:spcPct val="110000"/>
              </a:lnSpc>
            </a:pPr>
            <a:r>
              <a:rPr sz="1000" b="0" i="0">
                <a:solidFill>
                  <a:srgbClr val="5B6456"/>
                </a:solidFill>
                <a:latin typeface="Arial"/>
              </a:rPr>
              <a:t>1</a:t>
            </a:r>
          </a:p>
        </p:txBody>
      </p:sp>
      <p:sp>
        <p:nvSpPr>
          <p:cNvPr id="8" name="TextBox 7"/>
          <p:cNvSpPr txBox="1"/>
          <p:nvPr/>
        </p:nvSpPr>
        <p:spPr>
          <a:xfrm>
            <a:off x="1641348" y="2002536"/>
            <a:ext cx="246888" cy="201168"/>
          </a:xfrm>
          <a:prstGeom prst="rect">
            <a:avLst/>
          </a:prstGeom>
          <a:noFill/>
        </p:spPr>
        <p:txBody>
          <a:bodyPr wrap="square" lIns="0" rIns="0" tIns="0" bIns="0" anchor="t">
            <a:noAutofit/>
          </a:bodyPr>
          <a:lstStyle/>
          <a:p>
            <a:pPr algn="ctr">
              <a:lnSpc>
                <a:spcPct val="110000"/>
              </a:lnSpc>
            </a:pPr>
            <a:r>
              <a:rPr sz="1000" b="0" i="0">
                <a:solidFill>
                  <a:srgbClr val="5B6456"/>
                </a:solidFill>
                <a:latin typeface="Arial"/>
              </a:rPr>
              <a:t>2</a:t>
            </a:r>
          </a:p>
        </p:txBody>
      </p:sp>
      <p:sp>
        <p:nvSpPr>
          <p:cNvPr id="9" name="TextBox 8"/>
          <p:cNvSpPr txBox="1"/>
          <p:nvPr/>
        </p:nvSpPr>
        <p:spPr>
          <a:xfrm>
            <a:off x="1938528" y="2002536"/>
            <a:ext cx="246888" cy="201168"/>
          </a:xfrm>
          <a:prstGeom prst="rect">
            <a:avLst/>
          </a:prstGeom>
          <a:noFill/>
        </p:spPr>
        <p:txBody>
          <a:bodyPr wrap="square" lIns="0" rIns="0" tIns="0" bIns="0" anchor="t">
            <a:noAutofit/>
          </a:bodyPr>
          <a:lstStyle/>
          <a:p>
            <a:pPr algn="ctr">
              <a:lnSpc>
                <a:spcPct val="110000"/>
              </a:lnSpc>
            </a:pPr>
            <a:r>
              <a:rPr sz="1000" b="0" i="0">
                <a:solidFill>
                  <a:srgbClr val="5B6456"/>
                </a:solidFill>
                <a:latin typeface="Arial"/>
              </a:rPr>
              <a:t>3</a:t>
            </a:r>
          </a:p>
        </p:txBody>
      </p:sp>
      <p:sp>
        <p:nvSpPr>
          <p:cNvPr id="10" name="TextBox 9"/>
          <p:cNvSpPr txBox="1"/>
          <p:nvPr/>
        </p:nvSpPr>
        <p:spPr>
          <a:xfrm>
            <a:off x="2235708" y="2002536"/>
            <a:ext cx="246888" cy="201168"/>
          </a:xfrm>
          <a:prstGeom prst="rect">
            <a:avLst/>
          </a:prstGeom>
          <a:noFill/>
        </p:spPr>
        <p:txBody>
          <a:bodyPr wrap="square" lIns="0" rIns="0" tIns="0" bIns="0" anchor="t">
            <a:noAutofit/>
          </a:bodyPr>
          <a:lstStyle/>
          <a:p>
            <a:pPr algn="ctr">
              <a:lnSpc>
                <a:spcPct val="110000"/>
              </a:lnSpc>
            </a:pPr>
            <a:r>
              <a:rPr sz="1000" b="0" i="0">
                <a:solidFill>
                  <a:srgbClr val="5B6456"/>
                </a:solidFill>
                <a:latin typeface="Arial"/>
              </a:rPr>
              <a:t>4</a:t>
            </a:r>
          </a:p>
        </p:txBody>
      </p:sp>
      <p:sp>
        <p:nvSpPr>
          <p:cNvPr id="11" name="TextBox 10"/>
          <p:cNvSpPr txBox="1"/>
          <p:nvPr/>
        </p:nvSpPr>
        <p:spPr>
          <a:xfrm>
            <a:off x="2532888" y="2002536"/>
            <a:ext cx="246888" cy="201168"/>
          </a:xfrm>
          <a:prstGeom prst="rect">
            <a:avLst/>
          </a:prstGeom>
          <a:noFill/>
        </p:spPr>
        <p:txBody>
          <a:bodyPr wrap="square" lIns="0" rIns="0" tIns="0" bIns="0" anchor="t">
            <a:noAutofit/>
          </a:bodyPr>
          <a:lstStyle/>
          <a:p>
            <a:pPr algn="ctr">
              <a:lnSpc>
                <a:spcPct val="110000"/>
              </a:lnSpc>
            </a:pPr>
            <a:r>
              <a:rPr sz="1000" b="0" i="0">
                <a:solidFill>
                  <a:srgbClr val="5B6456"/>
                </a:solidFill>
                <a:latin typeface="Arial"/>
              </a:rPr>
              <a:t>5</a:t>
            </a:r>
          </a:p>
        </p:txBody>
      </p:sp>
      <p:sp>
        <p:nvSpPr>
          <p:cNvPr id="12" name="TextBox 11"/>
          <p:cNvSpPr txBox="1"/>
          <p:nvPr/>
        </p:nvSpPr>
        <p:spPr>
          <a:xfrm>
            <a:off x="2830068" y="2002536"/>
            <a:ext cx="246888" cy="201168"/>
          </a:xfrm>
          <a:prstGeom prst="rect">
            <a:avLst/>
          </a:prstGeom>
          <a:noFill/>
        </p:spPr>
        <p:txBody>
          <a:bodyPr wrap="square" lIns="0" rIns="0" tIns="0" bIns="0" anchor="t">
            <a:noAutofit/>
          </a:bodyPr>
          <a:lstStyle/>
          <a:p>
            <a:pPr algn="ctr">
              <a:lnSpc>
                <a:spcPct val="110000"/>
              </a:lnSpc>
            </a:pPr>
            <a:r>
              <a:rPr sz="1000" b="0" i="0">
                <a:solidFill>
                  <a:srgbClr val="5B6456"/>
                </a:solidFill>
                <a:latin typeface="Arial"/>
              </a:rPr>
              <a:t>6</a:t>
            </a:r>
          </a:p>
        </p:txBody>
      </p:sp>
      <p:sp>
        <p:nvSpPr>
          <p:cNvPr id="13" name="TextBox 12"/>
          <p:cNvSpPr txBox="1"/>
          <p:nvPr/>
        </p:nvSpPr>
        <p:spPr>
          <a:xfrm>
            <a:off x="3127248" y="2002536"/>
            <a:ext cx="246888" cy="201168"/>
          </a:xfrm>
          <a:prstGeom prst="rect">
            <a:avLst/>
          </a:prstGeom>
          <a:noFill/>
        </p:spPr>
        <p:txBody>
          <a:bodyPr wrap="square" lIns="0" rIns="0" tIns="0" bIns="0" anchor="t">
            <a:noAutofit/>
          </a:bodyPr>
          <a:lstStyle/>
          <a:p>
            <a:pPr algn="ctr">
              <a:lnSpc>
                <a:spcPct val="110000"/>
              </a:lnSpc>
            </a:pPr>
            <a:r>
              <a:rPr sz="1000" b="0" i="0">
                <a:solidFill>
                  <a:srgbClr val="5B6456"/>
                </a:solidFill>
                <a:latin typeface="Arial"/>
              </a:rPr>
              <a:t>7</a:t>
            </a:r>
          </a:p>
        </p:txBody>
      </p:sp>
      <p:sp>
        <p:nvSpPr>
          <p:cNvPr id="14" name="TextBox 13"/>
          <p:cNvSpPr txBox="1"/>
          <p:nvPr/>
        </p:nvSpPr>
        <p:spPr>
          <a:xfrm>
            <a:off x="3424428" y="2002536"/>
            <a:ext cx="246888" cy="201168"/>
          </a:xfrm>
          <a:prstGeom prst="rect">
            <a:avLst/>
          </a:prstGeom>
          <a:noFill/>
        </p:spPr>
        <p:txBody>
          <a:bodyPr wrap="square" lIns="0" rIns="0" tIns="0" bIns="0" anchor="t">
            <a:noAutofit/>
          </a:bodyPr>
          <a:lstStyle/>
          <a:p>
            <a:pPr algn="ctr">
              <a:lnSpc>
                <a:spcPct val="110000"/>
              </a:lnSpc>
            </a:pPr>
            <a:r>
              <a:rPr sz="1000" b="0" i="0">
                <a:solidFill>
                  <a:srgbClr val="5B6456"/>
                </a:solidFill>
                <a:latin typeface="Arial"/>
              </a:rPr>
              <a:t>8</a:t>
            </a:r>
          </a:p>
        </p:txBody>
      </p:sp>
      <p:sp>
        <p:nvSpPr>
          <p:cNvPr id="15" name="TextBox 14"/>
          <p:cNvSpPr txBox="1"/>
          <p:nvPr/>
        </p:nvSpPr>
        <p:spPr>
          <a:xfrm>
            <a:off x="3721608" y="2002536"/>
            <a:ext cx="246888" cy="201168"/>
          </a:xfrm>
          <a:prstGeom prst="rect">
            <a:avLst/>
          </a:prstGeom>
          <a:noFill/>
        </p:spPr>
        <p:txBody>
          <a:bodyPr wrap="square" lIns="0" rIns="0" tIns="0" bIns="0" anchor="t">
            <a:noAutofit/>
          </a:bodyPr>
          <a:lstStyle/>
          <a:p>
            <a:pPr algn="ctr">
              <a:lnSpc>
                <a:spcPct val="110000"/>
              </a:lnSpc>
            </a:pPr>
            <a:r>
              <a:rPr sz="1000" b="0" i="0">
                <a:solidFill>
                  <a:srgbClr val="5B6456"/>
                </a:solidFill>
                <a:latin typeface="Arial"/>
              </a:rPr>
              <a:t>9</a:t>
            </a:r>
          </a:p>
        </p:txBody>
      </p:sp>
      <p:sp>
        <p:nvSpPr>
          <p:cNvPr id="16" name="TextBox 15"/>
          <p:cNvSpPr txBox="1"/>
          <p:nvPr/>
        </p:nvSpPr>
        <p:spPr>
          <a:xfrm>
            <a:off x="4018788" y="2002536"/>
            <a:ext cx="246888" cy="201168"/>
          </a:xfrm>
          <a:prstGeom prst="rect">
            <a:avLst/>
          </a:prstGeom>
          <a:noFill/>
        </p:spPr>
        <p:txBody>
          <a:bodyPr wrap="square" lIns="0" rIns="0" tIns="0" bIns="0" anchor="t">
            <a:noAutofit/>
          </a:bodyPr>
          <a:lstStyle/>
          <a:p>
            <a:pPr algn="ctr">
              <a:lnSpc>
                <a:spcPct val="110000"/>
              </a:lnSpc>
            </a:pPr>
            <a:r>
              <a:rPr sz="1000" b="0" i="0">
                <a:solidFill>
                  <a:srgbClr val="5B6456"/>
                </a:solidFill>
                <a:latin typeface="Arial"/>
              </a:rPr>
              <a:t>10</a:t>
            </a:r>
          </a:p>
        </p:txBody>
      </p:sp>
      <p:sp>
        <p:nvSpPr>
          <p:cNvPr id="17" name="TextBox 16"/>
          <p:cNvSpPr txBox="1"/>
          <p:nvPr/>
        </p:nvSpPr>
        <p:spPr>
          <a:xfrm>
            <a:off x="4315968" y="2002536"/>
            <a:ext cx="246888" cy="201168"/>
          </a:xfrm>
          <a:prstGeom prst="rect">
            <a:avLst/>
          </a:prstGeom>
          <a:noFill/>
        </p:spPr>
        <p:txBody>
          <a:bodyPr wrap="square" lIns="0" rIns="0" tIns="0" bIns="0" anchor="t">
            <a:noAutofit/>
          </a:bodyPr>
          <a:lstStyle/>
          <a:p>
            <a:pPr algn="ctr">
              <a:lnSpc>
                <a:spcPct val="110000"/>
              </a:lnSpc>
            </a:pPr>
            <a:r>
              <a:rPr sz="1000" b="0" i="0">
                <a:solidFill>
                  <a:srgbClr val="5B6456"/>
                </a:solidFill>
                <a:latin typeface="Arial"/>
              </a:rPr>
              <a:t>11</a:t>
            </a:r>
          </a:p>
        </p:txBody>
      </p:sp>
      <p:sp>
        <p:nvSpPr>
          <p:cNvPr id="18" name="TextBox 17"/>
          <p:cNvSpPr txBox="1"/>
          <p:nvPr/>
        </p:nvSpPr>
        <p:spPr>
          <a:xfrm>
            <a:off x="4613148" y="2002536"/>
            <a:ext cx="246888" cy="201168"/>
          </a:xfrm>
          <a:prstGeom prst="rect">
            <a:avLst/>
          </a:prstGeom>
          <a:noFill/>
        </p:spPr>
        <p:txBody>
          <a:bodyPr wrap="square" lIns="0" rIns="0" tIns="0" bIns="0" anchor="t">
            <a:noAutofit/>
          </a:bodyPr>
          <a:lstStyle/>
          <a:p>
            <a:pPr algn="ctr">
              <a:lnSpc>
                <a:spcPct val="110000"/>
              </a:lnSpc>
            </a:pPr>
            <a:r>
              <a:rPr sz="1000" b="0" i="0">
                <a:solidFill>
                  <a:srgbClr val="5B6456"/>
                </a:solidFill>
                <a:latin typeface="Arial"/>
              </a:rPr>
              <a:t>12</a:t>
            </a:r>
          </a:p>
        </p:txBody>
      </p:sp>
      <p:sp>
        <p:nvSpPr>
          <p:cNvPr id="19" name="TextBox 18"/>
          <p:cNvSpPr txBox="1"/>
          <p:nvPr/>
        </p:nvSpPr>
        <p:spPr>
          <a:xfrm rot="16200000">
            <a:off x="320040" y="3913632"/>
            <a:ext cx="914400" cy="228600"/>
          </a:xfrm>
          <a:prstGeom prst="rect">
            <a:avLst/>
          </a:prstGeom>
          <a:noFill/>
        </p:spPr>
        <p:txBody>
          <a:bodyPr wrap="square" lIns="0" rIns="0" tIns="0" bIns="0" anchor="t">
            <a:noAutofit/>
          </a:bodyPr>
          <a:lstStyle/>
          <a:p>
            <a:pPr algn="ctr">
              <a:lnSpc>
                <a:spcPct val="110000"/>
              </a:lnSpc>
            </a:pPr>
            <a:r>
              <a:rPr sz="1100" b="0" i="0">
                <a:solidFill>
                  <a:srgbClr val="5B6456"/>
                </a:solidFill>
                <a:latin typeface="Arial"/>
              </a:rPr>
              <a:t>Member</a:t>
            </a:r>
          </a:p>
        </p:txBody>
      </p:sp>
      <p:sp>
        <p:nvSpPr>
          <p:cNvPr id="20" name="TextBox 19"/>
          <p:cNvSpPr txBox="1"/>
          <p:nvPr/>
        </p:nvSpPr>
        <p:spPr>
          <a:xfrm>
            <a:off x="996695" y="2258568"/>
            <a:ext cx="274320" cy="246888"/>
          </a:xfrm>
          <a:prstGeom prst="rect">
            <a:avLst/>
          </a:prstGeom>
          <a:noFill/>
        </p:spPr>
        <p:txBody>
          <a:bodyPr wrap="square" lIns="0" rIns="0" tIns="0" bIns="0" anchor="ctr">
            <a:noAutofit/>
          </a:bodyPr>
          <a:lstStyle/>
          <a:p>
            <a:pPr algn="r">
              <a:lnSpc>
                <a:spcPct val="110000"/>
              </a:lnSpc>
            </a:pPr>
            <a:r>
              <a:rPr sz="1000" b="0" i="0">
                <a:solidFill>
                  <a:srgbClr val="5B6456"/>
                </a:solidFill>
                <a:latin typeface="Arial"/>
              </a:rPr>
              <a:t>1</a:t>
            </a:r>
          </a:p>
        </p:txBody>
      </p:sp>
      <p:sp>
        <p:nvSpPr>
          <p:cNvPr id="21" name="Rectangle 20"/>
          <p:cNvSpPr/>
          <p:nvPr/>
        </p:nvSpPr>
        <p:spPr>
          <a:xfrm>
            <a:off x="1344168" y="2258568"/>
            <a:ext cx="246888" cy="246888"/>
          </a:xfrm>
          <a:prstGeom prst="rect">
            <a:avLst/>
          </a:prstGeom>
          <a:solidFill>
            <a:srgbClr val="41801A"/>
          </a:solidFill>
          <a:ln>
            <a:noFill/>
          </a:ln>
        </p:spPr>
        <p:txBody>
          <a:bodyPr rtlCol="0" anchor="ctr" lIns="0" rIns="0"/>
          <a:lstStyle/>
          <a:p>
            <a:pPr algn="ctr"/>
          </a:p>
        </p:txBody>
      </p:sp>
      <p:sp>
        <p:nvSpPr>
          <p:cNvPr id="22" name="Rectangle 21"/>
          <p:cNvSpPr/>
          <p:nvPr/>
        </p:nvSpPr>
        <p:spPr>
          <a:xfrm>
            <a:off x="1641348" y="2258568"/>
            <a:ext cx="246888" cy="246888"/>
          </a:xfrm>
          <a:prstGeom prst="rect">
            <a:avLst/>
          </a:prstGeom>
          <a:solidFill>
            <a:srgbClr val="E3EFD9"/>
          </a:solidFill>
          <a:ln>
            <a:noFill/>
          </a:ln>
        </p:spPr>
        <p:txBody>
          <a:bodyPr rtlCol="0" anchor="ctr" lIns="0" rIns="0"/>
          <a:lstStyle/>
          <a:p>
            <a:pPr algn="ctr"/>
          </a:p>
        </p:txBody>
      </p:sp>
      <p:sp>
        <p:nvSpPr>
          <p:cNvPr id="23" name="Rectangle 22"/>
          <p:cNvSpPr/>
          <p:nvPr/>
        </p:nvSpPr>
        <p:spPr>
          <a:xfrm>
            <a:off x="1938528" y="2258568"/>
            <a:ext cx="246888" cy="246888"/>
          </a:xfrm>
          <a:prstGeom prst="rect">
            <a:avLst/>
          </a:prstGeom>
          <a:solidFill>
            <a:srgbClr val="E3EFD9"/>
          </a:solidFill>
          <a:ln>
            <a:noFill/>
          </a:ln>
        </p:spPr>
        <p:txBody>
          <a:bodyPr rtlCol="0" anchor="ctr" lIns="0" rIns="0"/>
          <a:lstStyle/>
          <a:p>
            <a:pPr algn="ctr"/>
          </a:p>
        </p:txBody>
      </p:sp>
      <p:sp>
        <p:nvSpPr>
          <p:cNvPr id="24" name="Rectangle 23"/>
          <p:cNvSpPr/>
          <p:nvPr/>
        </p:nvSpPr>
        <p:spPr>
          <a:xfrm>
            <a:off x="2235708" y="2258568"/>
            <a:ext cx="246888" cy="246888"/>
          </a:xfrm>
          <a:prstGeom prst="rect">
            <a:avLst/>
          </a:prstGeom>
          <a:solidFill>
            <a:srgbClr val="E3EFD9"/>
          </a:solidFill>
          <a:ln>
            <a:noFill/>
          </a:ln>
        </p:spPr>
        <p:txBody>
          <a:bodyPr rtlCol="0" anchor="ctr" lIns="0" rIns="0"/>
          <a:lstStyle/>
          <a:p>
            <a:pPr algn="ctr"/>
          </a:p>
        </p:txBody>
      </p:sp>
      <p:sp>
        <p:nvSpPr>
          <p:cNvPr id="25" name="Rectangle 24"/>
          <p:cNvSpPr/>
          <p:nvPr/>
        </p:nvSpPr>
        <p:spPr>
          <a:xfrm>
            <a:off x="2532888" y="2258568"/>
            <a:ext cx="246888" cy="246888"/>
          </a:xfrm>
          <a:prstGeom prst="rect">
            <a:avLst/>
          </a:prstGeom>
          <a:solidFill>
            <a:srgbClr val="E3EFD9"/>
          </a:solidFill>
          <a:ln>
            <a:noFill/>
          </a:ln>
        </p:spPr>
        <p:txBody>
          <a:bodyPr rtlCol="0" anchor="ctr" lIns="0" rIns="0"/>
          <a:lstStyle/>
          <a:p>
            <a:pPr algn="ctr"/>
          </a:p>
        </p:txBody>
      </p:sp>
      <p:sp>
        <p:nvSpPr>
          <p:cNvPr id="26" name="Rectangle 25"/>
          <p:cNvSpPr/>
          <p:nvPr/>
        </p:nvSpPr>
        <p:spPr>
          <a:xfrm>
            <a:off x="2830068" y="2258568"/>
            <a:ext cx="246888" cy="246888"/>
          </a:xfrm>
          <a:prstGeom prst="rect">
            <a:avLst/>
          </a:prstGeom>
          <a:solidFill>
            <a:srgbClr val="E3EFD9"/>
          </a:solidFill>
          <a:ln>
            <a:noFill/>
          </a:ln>
        </p:spPr>
        <p:txBody>
          <a:bodyPr rtlCol="0" anchor="ctr" lIns="0" rIns="0"/>
          <a:lstStyle/>
          <a:p>
            <a:pPr algn="ctr"/>
          </a:p>
        </p:txBody>
      </p:sp>
      <p:sp>
        <p:nvSpPr>
          <p:cNvPr id="27" name="Rectangle 26"/>
          <p:cNvSpPr/>
          <p:nvPr/>
        </p:nvSpPr>
        <p:spPr>
          <a:xfrm>
            <a:off x="3127248" y="2258568"/>
            <a:ext cx="246888" cy="246888"/>
          </a:xfrm>
          <a:prstGeom prst="rect">
            <a:avLst/>
          </a:prstGeom>
          <a:solidFill>
            <a:srgbClr val="E3EFD9"/>
          </a:solidFill>
          <a:ln>
            <a:noFill/>
          </a:ln>
        </p:spPr>
        <p:txBody>
          <a:bodyPr rtlCol="0" anchor="ctr" lIns="0" rIns="0"/>
          <a:lstStyle/>
          <a:p>
            <a:pPr algn="ctr"/>
          </a:p>
        </p:txBody>
      </p:sp>
      <p:sp>
        <p:nvSpPr>
          <p:cNvPr id="28" name="Rectangle 27"/>
          <p:cNvSpPr/>
          <p:nvPr/>
        </p:nvSpPr>
        <p:spPr>
          <a:xfrm>
            <a:off x="3424428" y="2258568"/>
            <a:ext cx="246888" cy="246888"/>
          </a:xfrm>
          <a:prstGeom prst="rect">
            <a:avLst/>
          </a:prstGeom>
          <a:solidFill>
            <a:srgbClr val="E3EFD9"/>
          </a:solidFill>
          <a:ln>
            <a:noFill/>
          </a:ln>
        </p:spPr>
        <p:txBody>
          <a:bodyPr rtlCol="0" anchor="ctr" lIns="0" rIns="0"/>
          <a:lstStyle/>
          <a:p>
            <a:pPr algn="ctr"/>
          </a:p>
        </p:txBody>
      </p:sp>
      <p:sp>
        <p:nvSpPr>
          <p:cNvPr id="29" name="Rectangle 28"/>
          <p:cNvSpPr/>
          <p:nvPr/>
        </p:nvSpPr>
        <p:spPr>
          <a:xfrm>
            <a:off x="3721608" y="2258568"/>
            <a:ext cx="246888" cy="246888"/>
          </a:xfrm>
          <a:prstGeom prst="rect">
            <a:avLst/>
          </a:prstGeom>
          <a:solidFill>
            <a:srgbClr val="E3EFD9"/>
          </a:solidFill>
          <a:ln>
            <a:noFill/>
          </a:ln>
        </p:spPr>
        <p:txBody>
          <a:bodyPr rtlCol="0" anchor="ctr" lIns="0" rIns="0"/>
          <a:lstStyle/>
          <a:p>
            <a:pPr algn="ctr"/>
          </a:p>
        </p:txBody>
      </p:sp>
      <p:sp>
        <p:nvSpPr>
          <p:cNvPr id="30" name="Rectangle 29"/>
          <p:cNvSpPr/>
          <p:nvPr/>
        </p:nvSpPr>
        <p:spPr>
          <a:xfrm>
            <a:off x="4018788" y="2258568"/>
            <a:ext cx="246888" cy="246888"/>
          </a:xfrm>
          <a:prstGeom prst="rect">
            <a:avLst/>
          </a:prstGeom>
          <a:solidFill>
            <a:srgbClr val="E3EFD9"/>
          </a:solidFill>
          <a:ln>
            <a:noFill/>
          </a:ln>
        </p:spPr>
        <p:txBody>
          <a:bodyPr rtlCol="0" anchor="ctr" lIns="0" rIns="0"/>
          <a:lstStyle/>
          <a:p>
            <a:pPr algn="ctr"/>
          </a:p>
        </p:txBody>
      </p:sp>
      <p:sp>
        <p:nvSpPr>
          <p:cNvPr id="31" name="Rectangle 30"/>
          <p:cNvSpPr/>
          <p:nvPr/>
        </p:nvSpPr>
        <p:spPr>
          <a:xfrm>
            <a:off x="4315968" y="2258568"/>
            <a:ext cx="246888" cy="246888"/>
          </a:xfrm>
          <a:prstGeom prst="rect">
            <a:avLst/>
          </a:prstGeom>
          <a:solidFill>
            <a:srgbClr val="E3EFD9"/>
          </a:solidFill>
          <a:ln>
            <a:noFill/>
          </a:ln>
        </p:spPr>
        <p:txBody>
          <a:bodyPr rtlCol="0" anchor="ctr" lIns="0" rIns="0"/>
          <a:lstStyle/>
          <a:p>
            <a:pPr algn="ctr"/>
          </a:p>
        </p:txBody>
      </p:sp>
      <p:sp>
        <p:nvSpPr>
          <p:cNvPr id="32" name="Rectangle 31"/>
          <p:cNvSpPr/>
          <p:nvPr/>
        </p:nvSpPr>
        <p:spPr>
          <a:xfrm>
            <a:off x="4613148" y="2258568"/>
            <a:ext cx="246888" cy="246888"/>
          </a:xfrm>
          <a:prstGeom prst="rect">
            <a:avLst/>
          </a:prstGeom>
          <a:solidFill>
            <a:srgbClr val="E3EFD9"/>
          </a:solidFill>
          <a:ln>
            <a:noFill/>
          </a:ln>
        </p:spPr>
        <p:txBody>
          <a:bodyPr rtlCol="0" anchor="ctr" lIns="0" rIns="0"/>
          <a:lstStyle/>
          <a:p>
            <a:pPr algn="ctr"/>
          </a:p>
        </p:txBody>
      </p:sp>
      <p:sp>
        <p:nvSpPr>
          <p:cNvPr id="33" name="TextBox 32"/>
          <p:cNvSpPr txBox="1"/>
          <p:nvPr/>
        </p:nvSpPr>
        <p:spPr>
          <a:xfrm>
            <a:off x="996695" y="2555748"/>
            <a:ext cx="274320" cy="246888"/>
          </a:xfrm>
          <a:prstGeom prst="rect">
            <a:avLst/>
          </a:prstGeom>
          <a:noFill/>
        </p:spPr>
        <p:txBody>
          <a:bodyPr wrap="square" lIns="0" rIns="0" tIns="0" bIns="0" anchor="ctr">
            <a:noAutofit/>
          </a:bodyPr>
          <a:lstStyle/>
          <a:p>
            <a:pPr algn="r">
              <a:lnSpc>
                <a:spcPct val="110000"/>
              </a:lnSpc>
            </a:pPr>
            <a:r>
              <a:rPr sz="1000" b="0" i="0">
                <a:solidFill>
                  <a:srgbClr val="5B6456"/>
                </a:solidFill>
                <a:latin typeface="Arial"/>
              </a:rPr>
              <a:t>2</a:t>
            </a:r>
          </a:p>
        </p:txBody>
      </p:sp>
      <p:sp>
        <p:nvSpPr>
          <p:cNvPr id="34" name="Rectangle 33"/>
          <p:cNvSpPr/>
          <p:nvPr/>
        </p:nvSpPr>
        <p:spPr>
          <a:xfrm>
            <a:off x="1344168" y="2555748"/>
            <a:ext cx="246888" cy="246888"/>
          </a:xfrm>
          <a:prstGeom prst="rect">
            <a:avLst/>
          </a:prstGeom>
          <a:solidFill>
            <a:srgbClr val="E3EFD9"/>
          </a:solidFill>
          <a:ln>
            <a:noFill/>
          </a:ln>
        </p:spPr>
        <p:txBody>
          <a:bodyPr rtlCol="0" anchor="ctr" lIns="0" rIns="0"/>
          <a:lstStyle/>
          <a:p>
            <a:pPr algn="ctr"/>
          </a:p>
        </p:txBody>
      </p:sp>
      <p:sp>
        <p:nvSpPr>
          <p:cNvPr id="35" name="Rectangle 34"/>
          <p:cNvSpPr/>
          <p:nvPr/>
        </p:nvSpPr>
        <p:spPr>
          <a:xfrm>
            <a:off x="1641348" y="2555748"/>
            <a:ext cx="246888" cy="246888"/>
          </a:xfrm>
          <a:prstGeom prst="rect">
            <a:avLst/>
          </a:prstGeom>
          <a:solidFill>
            <a:srgbClr val="41801A"/>
          </a:solidFill>
          <a:ln>
            <a:noFill/>
          </a:ln>
        </p:spPr>
        <p:txBody>
          <a:bodyPr rtlCol="0" anchor="ctr" lIns="0" rIns="0"/>
          <a:lstStyle/>
          <a:p>
            <a:pPr algn="ctr"/>
          </a:p>
        </p:txBody>
      </p:sp>
      <p:sp>
        <p:nvSpPr>
          <p:cNvPr id="36" name="Rectangle 35"/>
          <p:cNvSpPr/>
          <p:nvPr/>
        </p:nvSpPr>
        <p:spPr>
          <a:xfrm>
            <a:off x="1938528" y="2555748"/>
            <a:ext cx="246888" cy="246888"/>
          </a:xfrm>
          <a:prstGeom prst="rect">
            <a:avLst/>
          </a:prstGeom>
          <a:solidFill>
            <a:srgbClr val="E3EFD9"/>
          </a:solidFill>
          <a:ln>
            <a:noFill/>
          </a:ln>
        </p:spPr>
        <p:txBody>
          <a:bodyPr rtlCol="0" anchor="ctr" lIns="0" rIns="0"/>
          <a:lstStyle/>
          <a:p>
            <a:pPr algn="ctr"/>
          </a:p>
        </p:txBody>
      </p:sp>
      <p:sp>
        <p:nvSpPr>
          <p:cNvPr id="37" name="Rectangle 36"/>
          <p:cNvSpPr/>
          <p:nvPr/>
        </p:nvSpPr>
        <p:spPr>
          <a:xfrm>
            <a:off x="2235708" y="2555748"/>
            <a:ext cx="246888" cy="246888"/>
          </a:xfrm>
          <a:prstGeom prst="rect">
            <a:avLst/>
          </a:prstGeom>
          <a:solidFill>
            <a:srgbClr val="E3EFD9"/>
          </a:solidFill>
          <a:ln>
            <a:noFill/>
          </a:ln>
        </p:spPr>
        <p:txBody>
          <a:bodyPr rtlCol="0" anchor="ctr" lIns="0" rIns="0"/>
          <a:lstStyle/>
          <a:p>
            <a:pPr algn="ctr"/>
          </a:p>
        </p:txBody>
      </p:sp>
      <p:sp>
        <p:nvSpPr>
          <p:cNvPr id="38" name="Rectangle 37"/>
          <p:cNvSpPr/>
          <p:nvPr/>
        </p:nvSpPr>
        <p:spPr>
          <a:xfrm>
            <a:off x="2532888" y="2555748"/>
            <a:ext cx="246888" cy="246888"/>
          </a:xfrm>
          <a:prstGeom prst="rect">
            <a:avLst/>
          </a:prstGeom>
          <a:solidFill>
            <a:srgbClr val="E3EFD9"/>
          </a:solidFill>
          <a:ln>
            <a:noFill/>
          </a:ln>
        </p:spPr>
        <p:txBody>
          <a:bodyPr rtlCol="0" anchor="ctr" lIns="0" rIns="0"/>
          <a:lstStyle/>
          <a:p>
            <a:pPr algn="ctr"/>
          </a:p>
        </p:txBody>
      </p:sp>
      <p:sp>
        <p:nvSpPr>
          <p:cNvPr id="39" name="Rectangle 38"/>
          <p:cNvSpPr/>
          <p:nvPr/>
        </p:nvSpPr>
        <p:spPr>
          <a:xfrm>
            <a:off x="2830068" y="2555748"/>
            <a:ext cx="246888" cy="246888"/>
          </a:xfrm>
          <a:prstGeom prst="rect">
            <a:avLst/>
          </a:prstGeom>
          <a:solidFill>
            <a:srgbClr val="E3EFD9"/>
          </a:solidFill>
          <a:ln>
            <a:noFill/>
          </a:ln>
        </p:spPr>
        <p:txBody>
          <a:bodyPr rtlCol="0" anchor="ctr" lIns="0" rIns="0"/>
          <a:lstStyle/>
          <a:p>
            <a:pPr algn="ctr"/>
          </a:p>
        </p:txBody>
      </p:sp>
      <p:sp>
        <p:nvSpPr>
          <p:cNvPr id="40" name="Rectangle 39"/>
          <p:cNvSpPr/>
          <p:nvPr/>
        </p:nvSpPr>
        <p:spPr>
          <a:xfrm>
            <a:off x="3127248" y="2555748"/>
            <a:ext cx="246888" cy="246888"/>
          </a:xfrm>
          <a:prstGeom prst="rect">
            <a:avLst/>
          </a:prstGeom>
          <a:solidFill>
            <a:srgbClr val="E3EFD9"/>
          </a:solidFill>
          <a:ln>
            <a:noFill/>
          </a:ln>
        </p:spPr>
        <p:txBody>
          <a:bodyPr rtlCol="0" anchor="ctr" lIns="0" rIns="0"/>
          <a:lstStyle/>
          <a:p>
            <a:pPr algn="ctr"/>
          </a:p>
        </p:txBody>
      </p:sp>
      <p:sp>
        <p:nvSpPr>
          <p:cNvPr id="41" name="Rectangle 40"/>
          <p:cNvSpPr/>
          <p:nvPr/>
        </p:nvSpPr>
        <p:spPr>
          <a:xfrm>
            <a:off x="3424428" y="2555748"/>
            <a:ext cx="246888" cy="246888"/>
          </a:xfrm>
          <a:prstGeom prst="rect">
            <a:avLst/>
          </a:prstGeom>
          <a:solidFill>
            <a:srgbClr val="E3EFD9"/>
          </a:solidFill>
          <a:ln>
            <a:noFill/>
          </a:ln>
        </p:spPr>
        <p:txBody>
          <a:bodyPr rtlCol="0" anchor="ctr" lIns="0" rIns="0"/>
          <a:lstStyle/>
          <a:p>
            <a:pPr algn="ctr"/>
          </a:p>
        </p:txBody>
      </p:sp>
      <p:sp>
        <p:nvSpPr>
          <p:cNvPr id="42" name="Rectangle 41"/>
          <p:cNvSpPr/>
          <p:nvPr/>
        </p:nvSpPr>
        <p:spPr>
          <a:xfrm>
            <a:off x="3721608" y="2555748"/>
            <a:ext cx="246888" cy="246888"/>
          </a:xfrm>
          <a:prstGeom prst="rect">
            <a:avLst/>
          </a:prstGeom>
          <a:solidFill>
            <a:srgbClr val="E3EFD9"/>
          </a:solidFill>
          <a:ln>
            <a:noFill/>
          </a:ln>
        </p:spPr>
        <p:txBody>
          <a:bodyPr rtlCol="0" anchor="ctr" lIns="0" rIns="0"/>
          <a:lstStyle/>
          <a:p>
            <a:pPr algn="ctr"/>
          </a:p>
        </p:txBody>
      </p:sp>
      <p:sp>
        <p:nvSpPr>
          <p:cNvPr id="43" name="Rectangle 42"/>
          <p:cNvSpPr/>
          <p:nvPr/>
        </p:nvSpPr>
        <p:spPr>
          <a:xfrm>
            <a:off x="4018788" y="2555748"/>
            <a:ext cx="246888" cy="246888"/>
          </a:xfrm>
          <a:prstGeom prst="rect">
            <a:avLst/>
          </a:prstGeom>
          <a:solidFill>
            <a:srgbClr val="E3EFD9"/>
          </a:solidFill>
          <a:ln>
            <a:noFill/>
          </a:ln>
        </p:spPr>
        <p:txBody>
          <a:bodyPr rtlCol="0" anchor="ctr" lIns="0" rIns="0"/>
          <a:lstStyle/>
          <a:p>
            <a:pPr algn="ctr"/>
          </a:p>
        </p:txBody>
      </p:sp>
      <p:sp>
        <p:nvSpPr>
          <p:cNvPr id="44" name="Rectangle 43"/>
          <p:cNvSpPr/>
          <p:nvPr/>
        </p:nvSpPr>
        <p:spPr>
          <a:xfrm>
            <a:off x="4315968" y="2555748"/>
            <a:ext cx="246888" cy="246888"/>
          </a:xfrm>
          <a:prstGeom prst="rect">
            <a:avLst/>
          </a:prstGeom>
          <a:solidFill>
            <a:srgbClr val="E3EFD9"/>
          </a:solidFill>
          <a:ln>
            <a:noFill/>
          </a:ln>
        </p:spPr>
        <p:txBody>
          <a:bodyPr rtlCol="0" anchor="ctr" lIns="0" rIns="0"/>
          <a:lstStyle/>
          <a:p>
            <a:pPr algn="ctr"/>
          </a:p>
        </p:txBody>
      </p:sp>
      <p:sp>
        <p:nvSpPr>
          <p:cNvPr id="45" name="Rectangle 44"/>
          <p:cNvSpPr/>
          <p:nvPr/>
        </p:nvSpPr>
        <p:spPr>
          <a:xfrm>
            <a:off x="4613148" y="2555748"/>
            <a:ext cx="246888" cy="246888"/>
          </a:xfrm>
          <a:prstGeom prst="rect">
            <a:avLst/>
          </a:prstGeom>
          <a:solidFill>
            <a:srgbClr val="E3EFD9"/>
          </a:solidFill>
          <a:ln>
            <a:noFill/>
          </a:ln>
        </p:spPr>
        <p:txBody>
          <a:bodyPr rtlCol="0" anchor="ctr" lIns="0" rIns="0"/>
          <a:lstStyle/>
          <a:p>
            <a:pPr algn="ctr"/>
          </a:p>
        </p:txBody>
      </p:sp>
      <p:sp>
        <p:nvSpPr>
          <p:cNvPr id="46" name="TextBox 45"/>
          <p:cNvSpPr txBox="1"/>
          <p:nvPr/>
        </p:nvSpPr>
        <p:spPr>
          <a:xfrm>
            <a:off x="996695" y="2852927"/>
            <a:ext cx="274320" cy="246888"/>
          </a:xfrm>
          <a:prstGeom prst="rect">
            <a:avLst/>
          </a:prstGeom>
          <a:noFill/>
        </p:spPr>
        <p:txBody>
          <a:bodyPr wrap="square" lIns="0" rIns="0" tIns="0" bIns="0" anchor="ctr">
            <a:noAutofit/>
          </a:bodyPr>
          <a:lstStyle/>
          <a:p>
            <a:pPr algn="r">
              <a:lnSpc>
                <a:spcPct val="110000"/>
              </a:lnSpc>
            </a:pPr>
            <a:r>
              <a:rPr sz="1000" b="0" i="0">
                <a:solidFill>
                  <a:srgbClr val="5B6456"/>
                </a:solidFill>
                <a:latin typeface="Arial"/>
              </a:rPr>
              <a:t>3</a:t>
            </a:r>
          </a:p>
        </p:txBody>
      </p:sp>
      <p:sp>
        <p:nvSpPr>
          <p:cNvPr id="47" name="Rectangle 46"/>
          <p:cNvSpPr/>
          <p:nvPr/>
        </p:nvSpPr>
        <p:spPr>
          <a:xfrm>
            <a:off x="1344168" y="2852927"/>
            <a:ext cx="246888" cy="246888"/>
          </a:xfrm>
          <a:prstGeom prst="rect">
            <a:avLst/>
          </a:prstGeom>
          <a:solidFill>
            <a:srgbClr val="E3EFD9"/>
          </a:solidFill>
          <a:ln>
            <a:noFill/>
          </a:ln>
        </p:spPr>
        <p:txBody>
          <a:bodyPr rtlCol="0" anchor="ctr" lIns="0" rIns="0"/>
          <a:lstStyle/>
          <a:p>
            <a:pPr algn="ctr"/>
          </a:p>
        </p:txBody>
      </p:sp>
      <p:sp>
        <p:nvSpPr>
          <p:cNvPr id="48" name="Rectangle 47"/>
          <p:cNvSpPr/>
          <p:nvPr/>
        </p:nvSpPr>
        <p:spPr>
          <a:xfrm>
            <a:off x="1641348" y="2852927"/>
            <a:ext cx="246888" cy="246888"/>
          </a:xfrm>
          <a:prstGeom prst="rect">
            <a:avLst/>
          </a:prstGeom>
          <a:solidFill>
            <a:srgbClr val="E3EFD9"/>
          </a:solidFill>
          <a:ln>
            <a:noFill/>
          </a:ln>
        </p:spPr>
        <p:txBody>
          <a:bodyPr rtlCol="0" anchor="ctr" lIns="0" rIns="0"/>
          <a:lstStyle/>
          <a:p>
            <a:pPr algn="ctr"/>
          </a:p>
        </p:txBody>
      </p:sp>
      <p:sp>
        <p:nvSpPr>
          <p:cNvPr id="49" name="Rectangle 48"/>
          <p:cNvSpPr/>
          <p:nvPr/>
        </p:nvSpPr>
        <p:spPr>
          <a:xfrm>
            <a:off x="1938528" y="2852927"/>
            <a:ext cx="246888" cy="246888"/>
          </a:xfrm>
          <a:prstGeom prst="rect">
            <a:avLst/>
          </a:prstGeom>
          <a:solidFill>
            <a:srgbClr val="41801A"/>
          </a:solidFill>
          <a:ln>
            <a:noFill/>
          </a:ln>
        </p:spPr>
        <p:txBody>
          <a:bodyPr rtlCol="0" anchor="ctr" lIns="0" rIns="0"/>
          <a:lstStyle/>
          <a:p>
            <a:pPr algn="ctr"/>
          </a:p>
        </p:txBody>
      </p:sp>
      <p:sp>
        <p:nvSpPr>
          <p:cNvPr id="50" name="Rectangle 49"/>
          <p:cNvSpPr/>
          <p:nvPr/>
        </p:nvSpPr>
        <p:spPr>
          <a:xfrm>
            <a:off x="2235708" y="2852927"/>
            <a:ext cx="246888" cy="246888"/>
          </a:xfrm>
          <a:prstGeom prst="rect">
            <a:avLst/>
          </a:prstGeom>
          <a:solidFill>
            <a:srgbClr val="E3EFD9"/>
          </a:solidFill>
          <a:ln>
            <a:noFill/>
          </a:ln>
        </p:spPr>
        <p:txBody>
          <a:bodyPr rtlCol="0" anchor="ctr" lIns="0" rIns="0"/>
          <a:lstStyle/>
          <a:p>
            <a:pPr algn="ctr"/>
          </a:p>
        </p:txBody>
      </p:sp>
      <p:sp>
        <p:nvSpPr>
          <p:cNvPr id="51" name="Rectangle 50"/>
          <p:cNvSpPr/>
          <p:nvPr/>
        </p:nvSpPr>
        <p:spPr>
          <a:xfrm>
            <a:off x="2532888" y="2852927"/>
            <a:ext cx="246888" cy="246888"/>
          </a:xfrm>
          <a:prstGeom prst="rect">
            <a:avLst/>
          </a:prstGeom>
          <a:solidFill>
            <a:srgbClr val="E3EFD9"/>
          </a:solidFill>
          <a:ln>
            <a:noFill/>
          </a:ln>
        </p:spPr>
        <p:txBody>
          <a:bodyPr rtlCol="0" anchor="ctr" lIns="0" rIns="0"/>
          <a:lstStyle/>
          <a:p>
            <a:pPr algn="ctr"/>
          </a:p>
        </p:txBody>
      </p:sp>
      <p:sp>
        <p:nvSpPr>
          <p:cNvPr id="52" name="Rectangle 51"/>
          <p:cNvSpPr/>
          <p:nvPr/>
        </p:nvSpPr>
        <p:spPr>
          <a:xfrm>
            <a:off x="2830068" y="2852927"/>
            <a:ext cx="246888" cy="246888"/>
          </a:xfrm>
          <a:prstGeom prst="rect">
            <a:avLst/>
          </a:prstGeom>
          <a:solidFill>
            <a:srgbClr val="E3EFD9"/>
          </a:solidFill>
          <a:ln>
            <a:noFill/>
          </a:ln>
        </p:spPr>
        <p:txBody>
          <a:bodyPr rtlCol="0" anchor="ctr" lIns="0" rIns="0"/>
          <a:lstStyle/>
          <a:p>
            <a:pPr algn="ctr"/>
          </a:p>
        </p:txBody>
      </p:sp>
      <p:sp>
        <p:nvSpPr>
          <p:cNvPr id="53" name="Rectangle 52"/>
          <p:cNvSpPr/>
          <p:nvPr/>
        </p:nvSpPr>
        <p:spPr>
          <a:xfrm>
            <a:off x="3127248" y="2852927"/>
            <a:ext cx="246888" cy="246888"/>
          </a:xfrm>
          <a:prstGeom prst="rect">
            <a:avLst/>
          </a:prstGeom>
          <a:solidFill>
            <a:srgbClr val="E3EFD9"/>
          </a:solidFill>
          <a:ln>
            <a:noFill/>
          </a:ln>
        </p:spPr>
        <p:txBody>
          <a:bodyPr rtlCol="0" anchor="ctr" lIns="0" rIns="0"/>
          <a:lstStyle/>
          <a:p>
            <a:pPr algn="ctr"/>
          </a:p>
        </p:txBody>
      </p:sp>
      <p:sp>
        <p:nvSpPr>
          <p:cNvPr id="54" name="Rectangle 53"/>
          <p:cNvSpPr/>
          <p:nvPr/>
        </p:nvSpPr>
        <p:spPr>
          <a:xfrm>
            <a:off x="3424428" y="2852927"/>
            <a:ext cx="246888" cy="246888"/>
          </a:xfrm>
          <a:prstGeom prst="rect">
            <a:avLst/>
          </a:prstGeom>
          <a:solidFill>
            <a:srgbClr val="E3EFD9"/>
          </a:solidFill>
          <a:ln>
            <a:noFill/>
          </a:ln>
        </p:spPr>
        <p:txBody>
          <a:bodyPr rtlCol="0" anchor="ctr" lIns="0" rIns="0"/>
          <a:lstStyle/>
          <a:p>
            <a:pPr algn="ctr"/>
          </a:p>
        </p:txBody>
      </p:sp>
      <p:sp>
        <p:nvSpPr>
          <p:cNvPr id="55" name="Rectangle 54"/>
          <p:cNvSpPr/>
          <p:nvPr/>
        </p:nvSpPr>
        <p:spPr>
          <a:xfrm>
            <a:off x="3721608" y="2852927"/>
            <a:ext cx="246888" cy="246888"/>
          </a:xfrm>
          <a:prstGeom prst="rect">
            <a:avLst/>
          </a:prstGeom>
          <a:solidFill>
            <a:srgbClr val="E3EFD9"/>
          </a:solidFill>
          <a:ln>
            <a:noFill/>
          </a:ln>
        </p:spPr>
        <p:txBody>
          <a:bodyPr rtlCol="0" anchor="ctr" lIns="0" rIns="0"/>
          <a:lstStyle/>
          <a:p>
            <a:pPr algn="ctr"/>
          </a:p>
        </p:txBody>
      </p:sp>
      <p:sp>
        <p:nvSpPr>
          <p:cNvPr id="56" name="Rectangle 55"/>
          <p:cNvSpPr/>
          <p:nvPr/>
        </p:nvSpPr>
        <p:spPr>
          <a:xfrm>
            <a:off x="4018788" y="2852927"/>
            <a:ext cx="246888" cy="246888"/>
          </a:xfrm>
          <a:prstGeom prst="rect">
            <a:avLst/>
          </a:prstGeom>
          <a:solidFill>
            <a:srgbClr val="E3EFD9"/>
          </a:solidFill>
          <a:ln>
            <a:noFill/>
          </a:ln>
        </p:spPr>
        <p:txBody>
          <a:bodyPr rtlCol="0" anchor="ctr" lIns="0" rIns="0"/>
          <a:lstStyle/>
          <a:p>
            <a:pPr algn="ctr"/>
          </a:p>
        </p:txBody>
      </p:sp>
      <p:sp>
        <p:nvSpPr>
          <p:cNvPr id="57" name="Rectangle 56"/>
          <p:cNvSpPr/>
          <p:nvPr/>
        </p:nvSpPr>
        <p:spPr>
          <a:xfrm>
            <a:off x="4315968" y="2852927"/>
            <a:ext cx="246888" cy="246888"/>
          </a:xfrm>
          <a:prstGeom prst="rect">
            <a:avLst/>
          </a:prstGeom>
          <a:solidFill>
            <a:srgbClr val="E3EFD9"/>
          </a:solidFill>
          <a:ln>
            <a:noFill/>
          </a:ln>
        </p:spPr>
        <p:txBody>
          <a:bodyPr rtlCol="0" anchor="ctr" lIns="0" rIns="0"/>
          <a:lstStyle/>
          <a:p>
            <a:pPr algn="ctr"/>
          </a:p>
        </p:txBody>
      </p:sp>
      <p:sp>
        <p:nvSpPr>
          <p:cNvPr id="58" name="Rectangle 57"/>
          <p:cNvSpPr/>
          <p:nvPr/>
        </p:nvSpPr>
        <p:spPr>
          <a:xfrm>
            <a:off x="4613148" y="2852927"/>
            <a:ext cx="246888" cy="246888"/>
          </a:xfrm>
          <a:prstGeom prst="rect">
            <a:avLst/>
          </a:prstGeom>
          <a:solidFill>
            <a:srgbClr val="E3EFD9"/>
          </a:solidFill>
          <a:ln>
            <a:noFill/>
          </a:ln>
        </p:spPr>
        <p:txBody>
          <a:bodyPr rtlCol="0" anchor="ctr" lIns="0" rIns="0"/>
          <a:lstStyle/>
          <a:p>
            <a:pPr algn="ctr"/>
          </a:p>
        </p:txBody>
      </p:sp>
      <p:sp>
        <p:nvSpPr>
          <p:cNvPr id="59" name="TextBox 58"/>
          <p:cNvSpPr txBox="1"/>
          <p:nvPr/>
        </p:nvSpPr>
        <p:spPr>
          <a:xfrm>
            <a:off x="996695" y="3150108"/>
            <a:ext cx="274320" cy="246888"/>
          </a:xfrm>
          <a:prstGeom prst="rect">
            <a:avLst/>
          </a:prstGeom>
          <a:noFill/>
        </p:spPr>
        <p:txBody>
          <a:bodyPr wrap="square" lIns="0" rIns="0" tIns="0" bIns="0" anchor="ctr">
            <a:noAutofit/>
          </a:bodyPr>
          <a:lstStyle/>
          <a:p>
            <a:pPr algn="r">
              <a:lnSpc>
                <a:spcPct val="110000"/>
              </a:lnSpc>
            </a:pPr>
            <a:r>
              <a:rPr sz="1000" b="0" i="0">
                <a:solidFill>
                  <a:srgbClr val="5B6456"/>
                </a:solidFill>
                <a:latin typeface="Arial"/>
              </a:rPr>
              <a:t>4</a:t>
            </a:r>
          </a:p>
        </p:txBody>
      </p:sp>
      <p:sp>
        <p:nvSpPr>
          <p:cNvPr id="60" name="Rectangle 59"/>
          <p:cNvSpPr/>
          <p:nvPr/>
        </p:nvSpPr>
        <p:spPr>
          <a:xfrm>
            <a:off x="1344168" y="3150108"/>
            <a:ext cx="246888" cy="246888"/>
          </a:xfrm>
          <a:prstGeom prst="rect">
            <a:avLst/>
          </a:prstGeom>
          <a:solidFill>
            <a:srgbClr val="E3EFD9"/>
          </a:solidFill>
          <a:ln>
            <a:noFill/>
          </a:ln>
        </p:spPr>
        <p:txBody>
          <a:bodyPr rtlCol="0" anchor="ctr" lIns="0" rIns="0"/>
          <a:lstStyle/>
          <a:p>
            <a:pPr algn="ctr"/>
          </a:p>
        </p:txBody>
      </p:sp>
      <p:sp>
        <p:nvSpPr>
          <p:cNvPr id="61" name="Rectangle 60"/>
          <p:cNvSpPr/>
          <p:nvPr/>
        </p:nvSpPr>
        <p:spPr>
          <a:xfrm>
            <a:off x="1641348" y="3150108"/>
            <a:ext cx="246888" cy="246888"/>
          </a:xfrm>
          <a:prstGeom prst="rect">
            <a:avLst/>
          </a:prstGeom>
          <a:solidFill>
            <a:srgbClr val="E3EFD9"/>
          </a:solidFill>
          <a:ln>
            <a:noFill/>
          </a:ln>
        </p:spPr>
        <p:txBody>
          <a:bodyPr rtlCol="0" anchor="ctr" lIns="0" rIns="0"/>
          <a:lstStyle/>
          <a:p>
            <a:pPr algn="ctr"/>
          </a:p>
        </p:txBody>
      </p:sp>
      <p:sp>
        <p:nvSpPr>
          <p:cNvPr id="62" name="Rectangle 61"/>
          <p:cNvSpPr/>
          <p:nvPr/>
        </p:nvSpPr>
        <p:spPr>
          <a:xfrm>
            <a:off x="1938528" y="3150108"/>
            <a:ext cx="246888" cy="246888"/>
          </a:xfrm>
          <a:prstGeom prst="rect">
            <a:avLst/>
          </a:prstGeom>
          <a:solidFill>
            <a:srgbClr val="E3EFD9"/>
          </a:solidFill>
          <a:ln>
            <a:noFill/>
          </a:ln>
        </p:spPr>
        <p:txBody>
          <a:bodyPr rtlCol="0" anchor="ctr" lIns="0" rIns="0"/>
          <a:lstStyle/>
          <a:p>
            <a:pPr algn="ctr"/>
          </a:p>
        </p:txBody>
      </p:sp>
      <p:sp>
        <p:nvSpPr>
          <p:cNvPr id="63" name="Rectangle 62"/>
          <p:cNvSpPr/>
          <p:nvPr/>
        </p:nvSpPr>
        <p:spPr>
          <a:xfrm>
            <a:off x="2235708" y="3150108"/>
            <a:ext cx="246888" cy="246888"/>
          </a:xfrm>
          <a:prstGeom prst="rect">
            <a:avLst/>
          </a:prstGeom>
          <a:solidFill>
            <a:srgbClr val="41801A"/>
          </a:solidFill>
          <a:ln>
            <a:noFill/>
          </a:ln>
        </p:spPr>
        <p:txBody>
          <a:bodyPr rtlCol="0" anchor="ctr" lIns="0" rIns="0"/>
          <a:lstStyle/>
          <a:p>
            <a:pPr algn="ctr"/>
          </a:p>
        </p:txBody>
      </p:sp>
      <p:sp>
        <p:nvSpPr>
          <p:cNvPr id="64" name="Rectangle 63"/>
          <p:cNvSpPr/>
          <p:nvPr/>
        </p:nvSpPr>
        <p:spPr>
          <a:xfrm>
            <a:off x="2532888" y="3150108"/>
            <a:ext cx="246888" cy="246888"/>
          </a:xfrm>
          <a:prstGeom prst="rect">
            <a:avLst/>
          </a:prstGeom>
          <a:solidFill>
            <a:srgbClr val="E3EFD9"/>
          </a:solidFill>
          <a:ln>
            <a:noFill/>
          </a:ln>
        </p:spPr>
        <p:txBody>
          <a:bodyPr rtlCol="0" anchor="ctr" lIns="0" rIns="0"/>
          <a:lstStyle/>
          <a:p>
            <a:pPr algn="ctr"/>
          </a:p>
        </p:txBody>
      </p:sp>
      <p:sp>
        <p:nvSpPr>
          <p:cNvPr id="65" name="Rectangle 64"/>
          <p:cNvSpPr/>
          <p:nvPr/>
        </p:nvSpPr>
        <p:spPr>
          <a:xfrm>
            <a:off x="2830068" y="3150108"/>
            <a:ext cx="246888" cy="246888"/>
          </a:xfrm>
          <a:prstGeom prst="rect">
            <a:avLst/>
          </a:prstGeom>
          <a:solidFill>
            <a:srgbClr val="E3EFD9"/>
          </a:solidFill>
          <a:ln>
            <a:noFill/>
          </a:ln>
        </p:spPr>
        <p:txBody>
          <a:bodyPr rtlCol="0" anchor="ctr" lIns="0" rIns="0"/>
          <a:lstStyle/>
          <a:p>
            <a:pPr algn="ctr"/>
          </a:p>
        </p:txBody>
      </p:sp>
      <p:sp>
        <p:nvSpPr>
          <p:cNvPr id="66" name="Rectangle 65"/>
          <p:cNvSpPr/>
          <p:nvPr/>
        </p:nvSpPr>
        <p:spPr>
          <a:xfrm>
            <a:off x="3127248" y="3150108"/>
            <a:ext cx="246888" cy="246888"/>
          </a:xfrm>
          <a:prstGeom prst="rect">
            <a:avLst/>
          </a:prstGeom>
          <a:solidFill>
            <a:srgbClr val="E3EFD9"/>
          </a:solidFill>
          <a:ln>
            <a:noFill/>
          </a:ln>
        </p:spPr>
        <p:txBody>
          <a:bodyPr rtlCol="0" anchor="ctr" lIns="0" rIns="0"/>
          <a:lstStyle/>
          <a:p>
            <a:pPr algn="ctr"/>
          </a:p>
        </p:txBody>
      </p:sp>
      <p:sp>
        <p:nvSpPr>
          <p:cNvPr id="67" name="Rectangle 66"/>
          <p:cNvSpPr/>
          <p:nvPr/>
        </p:nvSpPr>
        <p:spPr>
          <a:xfrm>
            <a:off x="3424428" y="3150108"/>
            <a:ext cx="246888" cy="246888"/>
          </a:xfrm>
          <a:prstGeom prst="rect">
            <a:avLst/>
          </a:prstGeom>
          <a:solidFill>
            <a:srgbClr val="E3EFD9"/>
          </a:solidFill>
          <a:ln>
            <a:noFill/>
          </a:ln>
        </p:spPr>
        <p:txBody>
          <a:bodyPr rtlCol="0" anchor="ctr" lIns="0" rIns="0"/>
          <a:lstStyle/>
          <a:p>
            <a:pPr algn="ctr"/>
          </a:p>
        </p:txBody>
      </p:sp>
      <p:sp>
        <p:nvSpPr>
          <p:cNvPr id="68" name="Rectangle 67"/>
          <p:cNvSpPr/>
          <p:nvPr/>
        </p:nvSpPr>
        <p:spPr>
          <a:xfrm>
            <a:off x="3721608" y="3150108"/>
            <a:ext cx="246888" cy="246888"/>
          </a:xfrm>
          <a:prstGeom prst="rect">
            <a:avLst/>
          </a:prstGeom>
          <a:solidFill>
            <a:srgbClr val="E3EFD9"/>
          </a:solidFill>
          <a:ln>
            <a:noFill/>
          </a:ln>
        </p:spPr>
        <p:txBody>
          <a:bodyPr rtlCol="0" anchor="ctr" lIns="0" rIns="0"/>
          <a:lstStyle/>
          <a:p>
            <a:pPr algn="ctr"/>
          </a:p>
        </p:txBody>
      </p:sp>
      <p:sp>
        <p:nvSpPr>
          <p:cNvPr id="69" name="Rectangle 68"/>
          <p:cNvSpPr/>
          <p:nvPr/>
        </p:nvSpPr>
        <p:spPr>
          <a:xfrm>
            <a:off x="4018788" y="3150108"/>
            <a:ext cx="246888" cy="246888"/>
          </a:xfrm>
          <a:prstGeom prst="rect">
            <a:avLst/>
          </a:prstGeom>
          <a:solidFill>
            <a:srgbClr val="E3EFD9"/>
          </a:solidFill>
          <a:ln>
            <a:noFill/>
          </a:ln>
        </p:spPr>
        <p:txBody>
          <a:bodyPr rtlCol="0" anchor="ctr" lIns="0" rIns="0"/>
          <a:lstStyle/>
          <a:p>
            <a:pPr algn="ctr"/>
          </a:p>
        </p:txBody>
      </p:sp>
      <p:sp>
        <p:nvSpPr>
          <p:cNvPr id="70" name="Rectangle 69"/>
          <p:cNvSpPr/>
          <p:nvPr/>
        </p:nvSpPr>
        <p:spPr>
          <a:xfrm>
            <a:off x="4315968" y="3150108"/>
            <a:ext cx="246888" cy="246888"/>
          </a:xfrm>
          <a:prstGeom prst="rect">
            <a:avLst/>
          </a:prstGeom>
          <a:solidFill>
            <a:srgbClr val="E3EFD9"/>
          </a:solidFill>
          <a:ln>
            <a:noFill/>
          </a:ln>
        </p:spPr>
        <p:txBody>
          <a:bodyPr rtlCol="0" anchor="ctr" lIns="0" rIns="0"/>
          <a:lstStyle/>
          <a:p>
            <a:pPr algn="ctr"/>
          </a:p>
        </p:txBody>
      </p:sp>
      <p:sp>
        <p:nvSpPr>
          <p:cNvPr id="71" name="Rectangle 70"/>
          <p:cNvSpPr/>
          <p:nvPr/>
        </p:nvSpPr>
        <p:spPr>
          <a:xfrm>
            <a:off x="4613148" y="3150108"/>
            <a:ext cx="246888" cy="246888"/>
          </a:xfrm>
          <a:prstGeom prst="rect">
            <a:avLst/>
          </a:prstGeom>
          <a:solidFill>
            <a:srgbClr val="E3EFD9"/>
          </a:solidFill>
          <a:ln>
            <a:noFill/>
          </a:ln>
        </p:spPr>
        <p:txBody>
          <a:bodyPr rtlCol="0" anchor="ctr" lIns="0" rIns="0"/>
          <a:lstStyle/>
          <a:p>
            <a:pPr algn="ctr"/>
          </a:p>
        </p:txBody>
      </p:sp>
      <p:sp>
        <p:nvSpPr>
          <p:cNvPr id="72" name="TextBox 71"/>
          <p:cNvSpPr txBox="1"/>
          <p:nvPr/>
        </p:nvSpPr>
        <p:spPr>
          <a:xfrm>
            <a:off x="996695" y="3447287"/>
            <a:ext cx="274320" cy="246888"/>
          </a:xfrm>
          <a:prstGeom prst="rect">
            <a:avLst/>
          </a:prstGeom>
          <a:noFill/>
        </p:spPr>
        <p:txBody>
          <a:bodyPr wrap="square" lIns="0" rIns="0" tIns="0" bIns="0" anchor="ctr">
            <a:noAutofit/>
          </a:bodyPr>
          <a:lstStyle/>
          <a:p>
            <a:pPr algn="r">
              <a:lnSpc>
                <a:spcPct val="110000"/>
              </a:lnSpc>
            </a:pPr>
            <a:r>
              <a:rPr sz="1000" b="0" i="0">
                <a:solidFill>
                  <a:srgbClr val="5B6456"/>
                </a:solidFill>
                <a:latin typeface="Arial"/>
              </a:rPr>
              <a:t>5</a:t>
            </a:r>
          </a:p>
        </p:txBody>
      </p:sp>
      <p:sp>
        <p:nvSpPr>
          <p:cNvPr id="73" name="Rectangle 72"/>
          <p:cNvSpPr/>
          <p:nvPr/>
        </p:nvSpPr>
        <p:spPr>
          <a:xfrm>
            <a:off x="1344168" y="3447287"/>
            <a:ext cx="246888" cy="246888"/>
          </a:xfrm>
          <a:prstGeom prst="rect">
            <a:avLst/>
          </a:prstGeom>
          <a:solidFill>
            <a:srgbClr val="E3EFD9"/>
          </a:solidFill>
          <a:ln>
            <a:noFill/>
          </a:ln>
        </p:spPr>
        <p:txBody>
          <a:bodyPr rtlCol="0" anchor="ctr" lIns="0" rIns="0"/>
          <a:lstStyle/>
          <a:p>
            <a:pPr algn="ctr"/>
          </a:p>
        </p:txBody>
      </p:sp>
      <p:sp>
        <p:nvSpPr>
          <p:cNvPr id="74" name="Rectangle 73"/>
          <p:cNvSpPr/>
          <p:nvPr/>
        </p:nvSpPr>
        <p:spPr>
          <a:xfrm>
            <a:off x="1641348" y="3447287"/>
            <a:ext cx="246888" cy="246888"/>
          </a:xfrm>
          <a:prstGeom prst="rect">
            <a:avLst/>
          </a:prstGeom>
          <a:solidFill>
            <a:srgbClr val="E3EFD9"/>
          </a:solidFill>
          <a:ln>
            <a:noFill/>
          </a:ln>
        </p:spPr>
        <p:txBody>
          <a:bodyPr rtlCol="0" anchor="ctr" lIns="0" rIns="0"/>
          <a:lstStyle/>
          <a:p>
            <a:pPr algn="ctr"/>
          </a:p>
        </p:txBody>
      </p:sp>
      <p:sp>
        <p:nvSpPr>
          <p:cNvPr id="75" name="Rectangle 74"/>
          <p:cNvSpPr/>
          <p:nvPr/>
        </p:nvSpPr>
        <p:spPr>
          <a:xfrm>
            <a:off x="1938528" y="3447287"/>
            <a:ext cx="246888" cy="246888"/>
          </a:xfrm>
          <a:prstGeom prst="rect">
            <a:avLst/>
          </a:prstGeom>
          <a:solidFill>
            <a:srgbClr val="E3EFD9"/>
          </a:solidFill>
          <a:ln>
            <a:noFill/>
          </a:ln>
        </p:spPr>
        <p:txBody>
          <a:bodyPr rtlCol="0" anchor="ctr" lIns="0" rIns="0"/>
          <a:lstStyle/>
          <a:p>
            <a:pPr algn="ctr"/>
          </a:p>
        </p:txBody>
      </p:sp>
      <p:sp>
        <p:nvSpPr>
          <p:cNvPr id="76" name="Rectangle 75"/>
          <p:cNvSpPr/>
          <p:nvPr/>
        </p:nvSpPr>
        <p:spPr>
          <a:xfrm>
            <a:off x="2235708" y="3447287"/>
            <a:ext cx="246888" cy="246888"/>
          </a:xfrm>
          <a:prstGeom prst="rect">
            <a:avLst/>
          </a:prstGeom>
          <a:solidFill>
            <a:srgbClr val="E3EFD9"/>
          </a:solidFill>
          <a:ln>
            <a:noFill/>
          </a:ln>
        </p:spPr>
        <p:txBody>
          <a:bodyPr rtlCol="0" anchor="ctr" lIns="0" rIns="0"/>
          <a:lstStyle/>
          <a:p>
            <a:pPr algn="ctr"/>
          </a:p>
        </p:txBody>
      </p:sp>
      <p:sp>
        <p:nvSpPr>
          <p:cNvPr id="77" name="Rectangle 76"/>
          <p:cNvSpPr/>
          <p:nvPr/>
        </p:nvSpPr>
        <p:spPr>
          <a:xfrm>
            <a:off x="2532888" y="3447287"/>
            <a:ext cx="246888" cy="246888"/>
          </a:xfrm>
          <a:prstGeom prst="rect">
            <a:avLst/>
          </a:prstGeom>
          <a:solidFill>
            <a:srgbClr val="41801A"/>
          </a:solidFill>
          <a:ln>
            <a:noFill/>
          </a:ln>
        </p:spPr>
        <p:txBody>
          <a:bodyPr rtlCol="0" anchor="ctr" lIns="0" rIns="0"/>
          <a:lstStyle/>
          <a:p>
            <a:pPr algn="ctr"/>
          </a:p>
        </p:txBody>
      </p:sp>
      <p:sp>
        <p:nvSpPr>
          <p:cNvPr id="78" name="Rectangle 77"/>
          <p:cNvSpPr/>
          <p:nvPr/>
        </p:nvSpPr>
        <p:spPr>
          <a:xfrm>
            <a:off x="2830068" y="3447287"/>
            <a:ext cx="246888" cy="246888"/>
          </a:xfrm>
          <a:prstGeom prst="rect">
            <a:avLst/>
          </a:prstGeom>
          <a:solidFill>
            <a:srgbClr val="E3EFD9"/>
          </a:solidFill>
          <a:ln>
            <a:noFill/>
          </a:ln>
        </p:spPr>
        <p:txBody>
          <a:bodyPr rtlCol="0" anchor="ctr" lIns="0" rIns="0"/>
          <a:lstStyle/>
          <a:p>
            <a:pPr algn="ctr"/>
          </a:p>
        </p:txBody>
      </p:sp>
      <p:sp>
        <p:nvSpPr>
          <p:cNvPr id="79" name="Rectangle 78"/>
          <p:cNvSpPr/>
          <p:nvPr/>
        </p:nvSpPr>
        <p:spPr>
          <a:xfrm>
            <a:off x="3127248" y="3447287"/>
            <a:ext cx="246888" cy="246888"/>
          </a:xfrm>
          <a:prstGeom prst="rect">
            <a:avLst/>
          </a:prstGeom>
          <a:solidFill>
            <a:srgbClr val="E3EFD9"/>
          </a:solidFill>
          <a:ln>
            <a:noFill/>
          </a:ln>
        </p:spPr>
        <p:txBody>
          <a:bodyPr rtlCol="0" anchor="ctr" lIns="0" rIns="0"/>
          <a:lstStyle/>
          <a:p>
            <a:pPr algn="ctr"/>
          </a:p>
        </p:txBody>
      </p:sp>
      <p:sp>
        <p:nvSpPr>
          <p:cNvPr id="80" name="Rectangle 79"/>
          <p:cNvSpPr/>
          <p:nvPr/>
        </p:nvSpPr>
        <p:spPr>
          <a:xfrm>
            <a:off x="3424428" y="3447287"/>
            <a:ext cx="246888" cy="246888"/>
          </a:xfrm>
          <a:prstGeom prst="rect">
            <a:avLst/>
          </a:prstGeom>
          <a:solidFill>
            <a:srgbClr val="E3EFD9"/>
          </a:solidFill>
          <a:ln>
            <a:noFill/>
          </a:ln>
        </p:spPr>
        <p:txBody>
          <a:bodyPr rtlCol="0" anchor="ctr" lIns="0" rIns="0"/>
          <a:lstStyle/>
          <a:p>
            <a:pPr algn="ctr"/>
          </a:p>
        </p:txBody>
      </p:sp>
      <p:sp>
        <p:nvSpPr>
          <p:cNvPr id="81" name="Rectangle 80"/>
          <p:cNvSpPr/>
          <p:nvPr/>
        </p:nvSpPr>
        <p:spPr>
          <a:xfrm>
            <a:off x="3721608" y="3447287"/>
            <a:ext cx="246888" cy="246888"/>
          </a:xfrm>
          <a:prstGeom prst="rect">
            <a:avLst/>
          </a:prstGeom>
          <a:solidFill>
            <a:srgbClr val="E3EFD9"/>
          </a:solidFill>
          <a:ln>
            <a:noFill/>
          </a:ln>
        </p:spPr>
        <p:txBody>
          <a:bodyPr rtlCol="0" anchor="ctr" lIns="0" rIns="0"/>
          <a:lstStyle/>
          <a:p>
            <a:pPr algn="ctr"/>
          </a:p>
        </p:txBody>
      </p:sp>
      <p:sp>
        <p:nvSpPr>
          <p:cNvPr id="82" name="Rectangle 81"/>
          <p:cNvSpPr/>
          <p:nvPr/>
        </p:nvSpPr>
        <p:spPr>
          <a:xfrm>
            <a:off x="4018788" y="3447287"/>
            <a:ext cx="246888" cy="246888"/>
          </a:xfrm>
          <a:prstGeom prst="rect">
            <a:avLst/>
          </a:prstGeom>
          <a:solidFill>
            <a:srgbClr val="E3EFD9"/>
          </a:solidFill>
          <a:ln>
            <a:noFill/>
          </a:ln>
        </p:spPr>
        <p:txBody>
          <a:bodyPr rtlCol="0" anchor="ctr" lIns="0" rIns="0"/>
          <a:lstStyle/>
          <a:p>
            <a:pPr algn="ctr"/>
          </a:p>
        </p:txBody>
      </p:sp>
      <p:sp>
        <p:nvSpPr>
          <p:cNvPr id="83" name="Rectangle 82"/>
          <p:cNvSpPr/>
          <p:nvPr/>
        </p:nvSpPr>
        <p:spPr>
          <a:xfrm>
            <a:off x="4315968" y="3447287"/>
            <a:ext cx="246888" cy="246888"/>
          </a:xfrm>
          <a:prstGeom prst="rect">
            <a:avLst/>
          </a:prstGeom>
          <a:solidFill>
            <a:srgbClr val="E3EFD9"/>
          </a:solidFill>
          <a:ln>
            <a:noFill/>
          </a:ln>
        </p:spPr>
        <p:txBody>
          <a:bodyPr rtlCol="0" anchor="ctr" lIns="0" rIns="0"/>
          <a:lstStyle/>
          <a:p>
            <a:pPr algn="ctr"/>
          </a:p>
        </p:txBody>
      </p:sp>
      <p:sp>
        <p:nvSpPr>
          <p:cNvPr id="84" name="Rectangle 83"/>
          <p:cNvSpPr/>
          <p:nvPr/>
        </p:nvSpPr>
        <p:spPr>
          <a:xfrm>
            <a:off x="4613148" y="3447287"/>
            <a:ext cx="246888" cy="246888"/>
          </a:xfrm>
          <a:prstGeom prst="rect">
            <a:avLst/>
          </a:prstGeom>
          <a:solidFill>
            <a:srgbClr val="E3EFD9"/>
          </a:solidFill>
          <a:ln>
            <a:noFill/>
          </a:ln>
        </p:spPr>
        <p:txBody>
          <a:bodyPr rtlCol="0" anchor="ctr" lIns="0" rIns="0"/>
          <a:lstStyle/>
          <a:p>
            <a:pPr algn="ctr"/>
          </a:p>
        </p:txBody>
      </p:sp>
      <p:sp>
        <p:nvSpPr>
          <p:cNvPr id="85" name="TextBox 84"/>
          <p:cNvSpPr txBox="1"/>
          <p:nvPr/>
        </p:nvSpPr>
        <p:spPr>
          <a:xfrm>
            <a:off x="996695" y="3744468"/>
            <a:ext cx="274320" cy="246888"/>
          </a:xfrm>
          <a:prstGeom prst="rect">
            <a:avLst/>
          </a:prstGeom>
          <a:noFill/>
        </p:spPr>
        <p:txBody>
          <a:bodyPr wrap="square" lIns="0" rIns="0" tIns="0" bIns="0" anchor="ctr">
            <a:noAutofit/>
          </a:bodyPr>
          <a:lstStyle/>
          <a:p>
            <a:pPr algn="r">
              <a:lnSpc>
                <a:spcPct val="110000"/>
              </a:lnSpc>
            </a:pPr>
            <a:r>
              <a:rPr sz="1000" b="0" i="0">
                <a:solidFill>
                  <a:srgbClr val="5B6456"/>
                </a:solidFill>
                <a:latin typeface="Arial"/>
              </a:rPr>
              <a:t>6</a:t>
            </a:r>
          </a:p>
        </p:txBody>
      </p:sp>
      <p:sp>
        <p:nvSpPr>
          <p:cNvPr id="86" name="Rectangle 85"/>
          <p:cNvSpPr/>
          <p:nvPr/>
        </p:nvSpPr>
        <p:spPr>
          <a:xfrm>
            <a:off x="1344168" y="3744468"/>
            <a:ext cx="246888" cy="246888"/>
          </a:xfrm>
          <a:prstGeom prst="rect">
            <a:avLst/>
          </a:prstGeom>
          <a:solidFill>
            <a:srgbClr val="E3EFD9"/>
          </a:solidFill>
          <a:ln>
            <a:noFill/>
          </a:ln>
        </p:spPr>
        <p:txBody>
          <a:bodyPr rtlCol="0" anchor="ctr" lIns="0" rIns="0"/>
          <a:lstStyle/>
          <a:p>
            <a:pPr algn="ctr"/>
          </a:p>
        </p:txBody>
      </p:sp>
      <p:sp>
        <p:nvSpPr>
          <p:cNvPr id="87" name="Rectangle 86"/>
          <p:cNvSpPr/>
          <p:nvPr/>
        </p:nvSpPr>
        <p:spPr>
          <a:xfrm>
            <a:off x="1641348" y="3744468"/>
            <a:ext cx="246888" cy="246888"/>
          </a:xfrm>
          <a:prstGeom prst="rect">
            <a:avLst/>
          </a:prstGeom>
          <a:solidFill>
            <a:srgbClr val="E3EFD9"/>
          </a:solidFill>
          <a:ln>
            <a:noFill/>
          </a:ln>
        </p:spPr>
        <p:txBody>
          <a:bodyPr rtlCol="0" anchor="ctr" lIns="0" rIns="0"/>
          <a:lstStyle/>
          <a:p>
            <a:pPr algn="ctr"/>
          </a:p>
        </p:txBody>
      </p:sp>
      <p:sp>
        <p:nvSpPr>
          <p:cNvPr id="88" name="Rectangle 87"/>
          <p:cNvSpPr/>
          <p:nvPr/>
        </p:nvSpPr>
        <p:spPr>
          <a:xfrm>
            <a:off x="1938528" y="3744468"/>
            <a:ext cx="246888" cy="246888"/>
          </a:xfrm>
          <a:prstGeom prst="rect">
            <a:avLst/>
          </a:prstGeom>
          <a:solidFill>
            <a:srgbClr val="E3EFD9"/>
          </a:solidFill>
          <a:ln>
            <a:noFill/>
          </a:ln>
        </p:spPr>
        <p:txBody>
          <a:bodyPr rtlCol="0" anchor="ctr" lIns="0" rIns="0"/>
          <a:lstStyle/>
          <a:p>
            <a:pPr algn="ctr"/>
          </a:p>
        </p:txBody>
      </p:sp>
      <p:sp>
        <p:nvSpPr>
          <p:cNvPr id="89" name="Rectangle 88"/>
          <p:cNvSpPr/>
          <p:nvPr/>
        </p:nvSpPr>
        <p:spPr>
          <a:xfrm>
            <a:off x="2235708" y="3744468"/>
            <a:ext cx="246888" cy="246888"/>
          </a:xfrm>
          <a:prstGeom prst="rect">
            <a:avLst/>
          </a:prstGeom>
          <a:solidFill>
            <a:srgbClr val="E3EFD9"/>
          </a:solidFill>
          <a:ln>
            <a:noFill/>
          </a:ln>
        </p:spPr>
        <p:txBody>
          <a:bodyPr rtlCol="0" anchor="ctr" lIns="0" rIns="0"/>
          <a:lstStyle/>
          <a:p>
            <a:pPr algn="ctr"/>
          </a:p>
        </p:txBody>
      </p:sp>
      <p:sp>
        <p:nvSpPr>
          <p:cNvPr id="90" name="Rectangle 89"/>
          <p:cNvSpPr/>
          <p:nvPr/>
        </p:nvSpPr>
        <p:spPr>
          <a:xfrm>
            <a:off x="2532888" y="3744468"/>
            <a:ext cx="246888" cy="246888"/>
          </a:xfrm>
          <a:prstGeom prst="rect">
            <a:avLst/>
          </a:prstGeom>
          <a:solidFill>
            <a:srgbClr val="E3EFD9"/>
          </a:solidFill>
          <a:ln>
            <a:noFill/>
          </a:ln>
        </p:spPr>
        <p:txBody>
          <a:bodyPr rtlCol="0" anchor="ctr" lIns="0" rIns="0"/>
          <a:lstStyle/>
          <a:p>
            <a:pPr algn="ctr"/>
          </a:p>
        </p:txBody>
      </p:sp>
      <p:sp>
        <p:nvSpPr>
          <p:cNvPr id="91" name="Rectangle 90"/>
          <p:cNvSpPr/>
          <p:nvPr/>
        </p:nvSpPr>
        <p:spPr>
          <a:xfrm>
            <a:off x="2830068" y="3744468"/>
            <a:ext cx="246888" cy="246888"/>
          </a:xfrm>
          <a:prstGeom prst="rect">
            <a:avLst/>
          </a:prstGeom>
          <a:solidFill>
            <a:srgbClr val="41801A"/>
          </a:solidFill>
          <a:ln>
            <a:noFill/>
          </a:ln>
        </p:spPr>
        <p:txBody>
          <a:bodyPr rtlCol="0" anchor="ctr" lIns="0" rIns="0"/>
          <a:lstStyle/>
          <a:p>
            <a:pPr algn="ctr"/>
          </a:p>
        </p:txBody>
      </p:sp>
      <p:sp>
        <p:nvSpPr>
          <p:cNvPr id="92" name="Rectangle 91"/>
          <p:cNvSpPr/>
          <p:nvPr/>
        </p:nvSpPr>
        <p:spPr>
          <a:xfrm>
            <a:off x="3127248" y="3744468"/>
            <a:ext cx="246888" cy="246888"/>
          </a:xfrm>
          <a:prstGeom prst="rect">
            <a:avLst/>
          </a:prstGeom>
          <a:solidFill>
            <a:srgbClr val="E3EFD9"/>
          </a:solidFill>
          <a:ln>
            <a:noFill/>
          </a:ln>
        </p:spPr>
        <p:txBody>
          <a:bodyPr rtlCol="0" anchor="ctr" lIns="0" rIns="0"/>
          <a:lstStyle/>
          <a:p>
            <a:pPr algn="ctr"/>
          </a:p>
        </p:txBody>
      </p:sp>
      <p:sp>
        <p:nvSpPr>
          <p:cNvPr id="93" name="Rectangle 92"/>
          <p:cNvSpPr/>
          <p:nvPr/>
        </p:nvSpPr>
        <p:spPr>
          <a:xfrm>
            <a:off x="3424428" y="3744468"/>
            <a:ext cx="246888" cy="246888"/>
          </a:xfrm>
          <a:prstGeom prst="rect">
            <a:avLst/>
          </a:prstGeom>
          <a:solidFill>
            <a:srgbClr val="E3EFD9"/>
          </a:solidFill>
          <a:ln>
            <a:noFill/>
          </a:ln>
        </p:spPr>
        <p:txBody>
          <a:bodyPr rtlCol="0" anchor="ctr" lIns="0" rIns="0"/>
          <a:lstStyle/>
          <a:p>
            <a:pPr algn="ctr"/>
          </a:p>
        </p:txBody>
      </p:sp>
      <p:sp>
        <p:nvSpPr>
          <p:cNvPr id="94" name="Rectangle 93"/>
          <p:cNvSpPr/>
          <p:nvPr/>
        </p:nvSpPr>
        <p:spPr>
          <a:xfrm>
            <a:off x="3721608" y="3744468"/>
            <a:ext cx="246888" cy="246888"/>
          </a:xfrm>
          <a:prstGeom prst="rect">
            <a:avLst/>
          </a:prstGeom>
          <a:solidFill>
            <a:srgbClr val="E3EFD9"/>
          </a:solidFill>
          <a:ln>
            <a:noFill/>
          </a:ln>
        </p:spPr>
        <p:txBody>
          <a:bodyPr rtlCol="0" anchor="ctr" lIns="0" rIns="0"/>
          <a:lstStyle/>
          <a:p>
            <a:pPr algn="ctr"/>
          </a:p>
        </p:txBody>
      </p:sp>
      <p:sp>
        <p:nvSpPr>
          <p:cNvPr id="95" name="Rectangle 94"/>
          <p:cNvSpPr/>
          <p:nvPr/>
        </p:nvSpPr>
        <p:spPr>
          <a:xfrm>
            <a:off x="4018788" y="3744468"/>
            <a:ext cx="246888" cy="246888"/>
          </a:xfrm>
          <a:prstGeom prst="rect">
            <a:avLst/>
          </a:prstGeom>
          <a:solidFill>
            <a:srgbClr val="E3EFD9"/>
          </a:solidFill>
          <a:ln>
            <a:noFill/>
          </a:ln>
        </p:spPr>
        <p:txBody>
          <a:bodyPr rtlCol="0" anchor="ctr" lIns="0" rIns="0"/>
          <a:lstStyle/>
          <a:p>
            <a:pPr algn="ctr"/>
          </a:p>
        </p:txBody>
      </p:sp>
      <p:sp>
        <p:nvSpPr>
          <p:cNvPr id="96" name="Rectangle 95"/>
          <p:cNvSpPr/>
          <p:nvPr/>
        </p:nvSpPr>
        <p:spPr>
          <a:xfrm>
            <a:off x="4315968" y="3744468"/>
            <a:ext cx="246888" cy="246888"/>
          </a:xfrm>
          <a:prstGeom prst="rect">
            <a:avLst/>
          </a:prstGeom>
          <a:solidFill>
            <a:srgbClr val="E3EFD9"/>
          </a:solidFill>
          <a:ln>
            <a:noFill/>
          </a:ln>
        </p:spPr>
        <p:txBody>
          <a:bodyPr rtlCol="0" anchor="ctr" lIns="0" rIns="0"/>
          <a:lstStyle/>
          <a:p>
            <a:pPr algn="ctr"/>
          </a:p>
        </p:txBody>
      </p:sp>
      <p:sp>
        <p:nvSpPr>
          <p:cNvPr id="97" name="Rectangle 96"/>
          <p:cNvSpPr/>
          <p:nvPr/>
        </p:nvSpPr>
        <p:spPr>
          <a:xfrm>
            <a:off x="4613148" y="3744468"/>
            <a:ext cx="246888" cy="246888"/>
          </a:xfrm>
          <a:prstGeom prst="rect">
            <a:avLst/>
          </a:prstGeom>
          <a:solidFill>
            <a:srgbClr val="E3EFD9"/>
          </a:solidFill>
          <a:ln>
            <a:noFill/>
          </a:ln>
        </p:spPr>
        <p:txBody>
          <a:bodyPr rtlCol="0" anchor="ctr" lIns="0" rIns="0"/>
          <a:lstStyle/>
          <a:p>
            <a:pPr algn="ctr"/>
          </a:p>
        </p:txBody>
      </p:sp>
      <p:sp>
        <p:nvSpPr>
          <p:cNvPr id="98" name="TextBox 97"/>
          <p:cNvSpPr txBox="1"/>
          <p:nvPr/>
        </p:nvSpPr>
        <p:spPr>
          <a:xfrm>
            <a:off x="996695" y="4041648"/>
            <a:ext cx="274320" cy="246888"/>
          </a:xfrm>
          <a:prstGeom prst="rect">
            <a:avLst/>
          </a:prstGeom>
          <a:noFill/>
        </p:spPr>
        <p:txBody>
          <a:bodyPr wrap="square" lIns="0" rIns="0" tIns="0" bIns="0" anchor="ctr">
            <a:noAutofit/>
          </a:bodyPr>
          <a:lstStyle/>
          <a:p>
            <a:pPr algn="r">
              <a:lnSpc>
                <a:spcPct val="110000"/>
              </a:lnSpc>
            </a:pPr>
            <a:r>
              <a:rPr sz="1000" b="0" i="0">
                <a:solidFill>
                  <a:srgbClr val="5B6456"/>
                </a:solidFill>
                <a:latin typeface="Arial"/>
              </a:rPr>
              <a:t>7</a:t>
            </a:r>
          </a:p>
        </p:txBody>
      </p:sp>
      <p:sp>
        <p:nvSpPr>
          <p:cNvPr id="99" name="Rectangle 98"/>
          <p:cNvSpPr/>
          <p:nvPr/>
        </p:nvSpPr>
        <p:spPr>
          <a:xfrm>
            <a:off x="1344168" y="4041648"/>
            <a:ext cx="246888" cy="246888"/>
          </a:xfrm>
          <a:prstGeom prst="rect">
            <a:avLst/>
          </a:prstGeom>
          <a:solidFill>
            <a:srgbClr val="E3EFD9"/>
          </a:solidFill>
          <a:ln>
            <a:noFill/>
          </a:ln>
        </p:spPr>
        <p:txBody>
          <a:bodyPr rtlCol="0" anchor="ctr" lIns="0" rIns="0"/>
          <a:lstStyle/>
          <a:p>
            <a:pPr algn="ctr"/>
          </a:p>
        </p:txBody>
      </p:sp>
      <p:sp>
        <p:nvSpPr>
          <p:cNvPr id="100" name="Rectangle 99"/>
          <p:cNvSpPr/>
          <p:nvPr/>
        </p:nvSpPr>
        <p:spPr>
          <a:xfrm>
            <a:off x="1641348" y="4041648"/>
            <a:ext cx="246888" cy="246888"/>
          </a:xfrm>
          <a:prstGeom prst="rect">
            <a:avLst/>
          </a:prstGeom>
          <a:solidFill>
            <a:srgbClr val="E3EFD9"/>
          </a:solidFill>
          <a:ln>
            <a:noFill/>
          </a:ln>
        </p:spPr>
        <p:txBody>
          <a:bodyPr rtlCol="0" anchor="ctr" lIns="0" rIns="0"/>
          <a:lstStyle/>
          <a:p>
            <a:pPr algn="ctr"/>
          </a:p>
        </p:txBody>
      </p:sp>
      <p:sp>
        <p:nvSpPr>
          <p:cNvPr id="101" name="Rectangle 100"/>
          <p:cNvSpPr/>
          <p:nvPr/>
        </p:nvSpPr>
        <p:spPr>
          <a:xfrm>
            <a:off x="1938528" y="4041648"/>
            <a:ext cx="246888" cy="246888"/>
          </a:xfrm>
          <a:prstGeom prst="rect">
            <a:avLst/>
          </a:prstGeom>
          <a:solidFill>
            <a:srgbClr val="E3EFD9"/>
          </a:solidFill>
          <a:ln>
            <a:noFill/>
          </a:ln>
        </p:spPr>
        <p:txBody>
          <a:bodyPr rtlCol="0" anchor="ctr" lIns="0" rIns="0"/>
          <a:lstStyle/>
          <a:p>
            <a:pPr algn="ctr"/>
          </a:p>
        </p:txBody>
      </p:sp>
      <p:sp>
        <p:nvSpPr>
          <p:cNvPr id="102" name="Rectangle 101"/>
          <p:cNvSpPr/>
          <p:nvPr/>
        </p:nvSpPr>
        <p:spPr>
          <a:xfrm>
            <a:off x="2235708" y="4041648"/>
            <a:ext cx="246888" cy="246888"/>
          </a:xfrm>
          <a:prstGeom prst="rect">
            <a:avLst/>
          </a:prstGeom>
          <a:solidFill>
            <a:srgbClr val="E3EFD9"/>
          </a:solidFill>
          <a:ln>
            <a:noFill/>
          </a:ln>
        </p:spPr>
        <p:txBody>
          <a:bodyPr rtlCol="0" anchor="ctr" lIns="0" rIns="0"/>
          <a:lstStyle/>
          <a:p>
            <a:pPr algn="ctr"/>
          </a:p>
        </p:txBody>
      </p:sp>
      <p:sp>
        <p:nvSpPr>
          <p:cNvPr id="103" name="Rectangle 102"/>
          <p:cNvSpPr/>
          <p:nvPr/>
        </p:nvSpPr>
        <p:spPr>
          <a:xfrm>
            <a:off x="2532888" y="4041648"/>
            <a:ext cx="246888" cy="246888"/>
          </a:xfrm>
          <a:prstGeom prst="rect">
            <a:avLst/>
          </a:prstGeom>
          <a:solidFill>
            <a:srgbClr val="E3EFD9"/>
          </a:solidFill>
          <a:ln>
            <a:noFill/>
          </a:ln>
        </p:spPr>
        <p:txBody>
          <a:bodyPr rtlCol="0" anchor="ctr" lIns="0" rIns="0"/>
          <a:lstStyle/>
          <a:p>
            <a:pPr algn="ctr"/>
          </a:p>
        </p:txBody>
      </p:sp>
      <p:sp>
        <p:nvSpPr>
          <p:cNvPr id="104" name="Rectangle 103"/>
          <p:cNvSpPr/>
          <p:nvPr/>
        </p:nvSpPr>
        <p:spPr>
          <a:xfrm>
            <a:off x="2830068" y="4041648"/>
            <a:ext cx="246888" cy="246888"/>
          </a:xfrm>
          <a:prstGeom prst="rect">
            <a:avLst/>
          </a:prstGeom>
          <a:solidFill>
            <a:srgbClr val="E3EFD9"/>
          </a:solidFill>
          <a:ln>
            <a:noFill/>
          </a:ln>
        </p:spPr>
        <p:txBody>
          <a:bodyPr rtlCol="0" anchor="ctr" lIns="0" rIns="0"/>
          <a:lstStyle/>
          <a:p>
            <a:pPr algn="ctr"/>
          </a:p>
        </p:txBody>
      </p:sp>
      <p:sp>
        <p:nvSpPr>
          <p:cNvPr id="105" name="Rectangle 104"/>
          <p:cNvSpPr/>
          <p:nvPr/>
        </p:nvSpPr>
        <p:spPr>
          <a:xfrm>
            <a:off x="3127248" y="4041648"/>
            <a:ext cx="246888" cy="246888"/>
          </a:xfrm>
          <a:prstGeom prst="rect">
            <a:avLst/>
          </a:prstGeom>
          <a:solidFill>
            <a:srgbClr val="41801A"/>
          </a:solidFill>
          <a:ln>
            <a:noFill/>
          </a:ln>
        </p:spPr>
        <p:txBody>
          <a:bodyPr rtlCol="0" anchor="ctr" lIns="0" rIns="0"/>
          <a:lstStyle/>
          <a:p>
            <a:pPr algn="ctr"/>
          </a:p>
        </p:txBody>
      </p:sp>
      <p:sp>
        <p:nvSpPr>
          <p:cNvPr id="106" name="Rectangle 105"/>
          <p:cNvSpPr/>
          <p:nvPr/>
        </p:nvSpPr>
        <p:spPr>
          <a:xfrm>
            <a:off x="3424428" y="4041648"/>
            <a:ext cx="246888" cy="246888"/>
          </a:xfrm>
          <a:prstGeom prst="rect">
            <a:avLst/>
          </a:prstGeom>
          <a:solidFill>
            <a:srgbClr val="E3EFD9"/>
          </a:solidFill>
          <a:ln>
            <a:noFill/>
          </a:ln>
        </p:spPr>
        <p:txBody>
          <a:bodyPr rtlCol="0" anchor="ctr" lIns="0" rIns="0"/>
          <a:lstStyle/>
          <a:p>
            <a:pPr algn="ctr"/>
          </a:p>
        </p:txBody>
      </p:sp>
      <p:sp>
        <p:nvSpPr>
          <p:cNvPr id="107" name="Rectangle 106"/>
          <p:cNvSpPr/>
          <p:nvPr/>
        </p:nvSpPr>
        <p:spPr>
          <a:xfrm>
            <a:off x="3721608" y="4041648"/>
            <a:ext cx="246888" cy="246888"/>
          </a:xfrm>
          <a:prstGeom prst="rect">
            <a:avLst/>
          </a:prstGeom>
          <a:solidFill>
            <a:srgbClr val="E3EFD9"/>
          </a:solidFill>
          <a:ln>
            <a:noFill/>
          </a:ln>
        </p:spPr>
        <p:txBody>
          <a:bodyPr rtlCol="0" anchor="ctr" lIns="0" rIns="0"/>
          <a:lstStyle/>
          <a:p>
            <a:pPr algn="ctr"/>
          </a:p>
        </p:txBody>
      </p:sp>
      <p:sp>
        <p:nvSpPr>
          <p:cNvPr id="108" name="Rectangle 107"/>
          <p:cNvSpPr/>
          <p:nvPr/>
        </p:nvSpPr>
        <p:spPr>
          <a:xfrm>
            <a:off x="4018788" y="4041648"/>
            <a:ext cx="246888" cy="246888"/>
          </a:xfrm>
          <a:prstGeom prst="rect">
            <a:avLst/>
          </a:prstGeom>
          <a:solidFill>
            <a:srgbClr val="E3EFD9"/>
          </a:solidFill>
          <a:ln>
            <a:noFill/>
          </a:ln>
        </p:spPr>
        <p:txBody>
          <a:bodyPr rtlCol="0" anchor="ctr" lIns="0" rIns="0"/>
          <a:lstStyle/>
          <a:p>
            <a:pPr algn="ctr"/>
          </a:p>
        </p:txBody>
      </p:sp>
      <p:sp>
        <p:nvSpPr>
          <p:cNvPr id="109" name="Rectangle 108"/>
          <p:cNvSpPr/>
          <p:nvPr/>
        </p:nvSpPr>
        <p:spPr>
          <a:xfrm>
            <a:off x="4315968" y="4041648"/>
            <a:ext cx="246888" cy="246888"/>
          </a:xfrm>
          <a:prstGeom prst="rect">
            <a:avLst/>
          </a:prstGeom>
          <a:solidFill>
            <a:srgbClr val="E3EFD9"/>
          </a:solidFill>
          <a:ln>
            <a:noFill/>
          </a:ln>
        </p:spPr>
        <p:txBody>
          <a:bodyPr rtlCol="0" anchor="ctr" lIns="0" rIns="0"/>
          <a:lstStyle/>
          <a:p>
            <a:pPr algn="ctr"/>
          </a:p>
        </p:txBody>
      </p:sp>
      <p:sp>
        <p:nvSpPr>
          <p:cNvPr id="110" name="Rectangle 109"/>
          <p:cNvSpPr/>
          <p:nvPr/>
        </p:nvSpPr>
        <p:spPr>
          <a:xfrm>
            <a:off x="4613148" y="4041648"/>
            <a:ext cx="246888" cy="246888"/>
          </a:xfrm>
          <a:prstGeom prst="rect">
            <a:avLst/>
          </a:prstGeom>
          <a:solidFill>
            <a:srgbClr val="E3EFD9"/>
          </a:solidFill>
          <a:ln>
            <a:noFill/>
          </a:ln>
        </p:spPr>
        <p:txBody>
          <a:bodyPr rtlCol="0" anchor="ctr" lIns="0" rIns="0"/>
          <a:lstStyle/>
          <a:p>
            <a:pPr algn="ctr"/>
          </a:p>
        </p:txBody>
      </p:sp>
      <p:sp>
        <p:nvSpPr>
          <p:cNvPr id="111" name="TextBox 110"/>
          <p:cNvSpPr txBox="1"/>
          <p:nvPr/>
        </p:nvSpPr>
        <p:spPr>
          <a:xfrm>
            <a:off x="996695" y="4338827"/>
            <a:ext cx="274320" cy="246888"/>
          </a:xfrm>
          <a:prstGeom prst="rect">
            <a:avLst/>
          </a:prstGeom>
          <a:noFill/>
        </p:spPr>
        <p:txBody>
          <a:bodyPr wrap="square" lIns="0" rIns="0" tIns="0" bIns="0" anchor="ctr">
            <a:noAutofit/>
          </a:bodyPr>
          <a:lstStyle/>
          <a:p>
            <a:pPr algn="r">
              <a:lnSpc>
                <a:spcPct val="110000"/>
              </a:lnSpc>
            </a:pPr>
            <a:r>
              <a:rPr sz="1000" b="0" i="0">
                <a:solidFill>
                  <a:srgbClr val="5B6456"/>
                </a:solidFill>
                <a:latin typeface="Arial"/>
              </a:rPr>
              <a:t>8</a:t>
            </a:r>
          </a:p>
        </p:txBody>
      </p:sp>
      <p:sp>
        <p:nvSpPr>
          <p:cNvPr id="112" name="Rectangle 111"/>
          <p:cNvSpPr/>
          <p:nvPr/>
        </p:nvSpPr>
        <p:spPr>
          <a:xfrm>
            <a:off x="1344168" y="4338827"/>
            <a:ext cx="246888" cy="246888"/>
          </a:xfrm>
          <a:prstGeom prst="rect">
            <a:avLst/>
          </a:prstGeom>
          <a:solidFill>
            <a:srgbClr val="E3EFD9"/>
          </a:solidFill>
          <a:ln>
            <a:noFill/>
          </a:ln>
        </p:spPr>
        <p:txBody>
          <a:bodyPr rtlCol="0" anchor="ctr" lIns="0" rIns="0"/>
          <a:lstStyle/>
          <a:p>
            <a:pPr algn="ctr"/>
          </a:p>
        </p:txBody>
      </p:sp>
      <p:sp>
        <p:nvSpPr>
          <p:cNvPr id="113" name="Rectangle 112"/>
          <p:cNvSpPr/>
          <p:nvPr/>
        </p:nvSpPr>
        <p:spPr>
          <a:xfrm>
            <a:off x="1641348" y="4338827"/>
            <a:ext cx="246888" cy="246888"/>
          </a:xfrm>
          <a:prstGeom prst="rect">
            <a:avLst/>
          </a:prstGeom>
          <a:solidFill>
            <a:srgbClr val="E3EFD9"/>
          </a:solidFill>
          <a:ln>
            <a:noFill/>
          </a:ln>
        </p:spPr>
        <p:txBody>
          <a:bodyPr rtlCol="0" anchor="ctr" lIns="0" rIns="0"/>
          <a:lstStyle/>
          <a:p>
            <a:pPr algn="ctr"/>
          </a:p>
        </p:txBody>
      </p:sp>
      <p:sp>
        <p:nvSpPr>
          <p:cNvPr id="114" name="Rectangle 113"/>
          <p:cNvSpPr/>
          <p:nvPr/>
        </p:nvSpPr>
        <p:spPr>
          <a:xfrm>
            <a:off x="1938528" y="4338827"/>
            <a:ext cx="246888" cy="246888"/>
          </a:xfrm>
          <a:prstGeom prst="rect">
            <a:avLst/>
          </a:prstGeom>
          <a:solidFill>
            <a:srgbClr val="E3EFD9"/>
          </a:solidFill>
          <a:ln>
            <a:noFill/>
          </a:ln>
        </p:spPr>
        <p:txBody>
          <a:bodyPr rtlCol="0" anchor="ctr" lIns="0" rIns="0"/>
          <a:lstStyle/>
          <a:p>
            <a:pPr algn="ctr"/>
          </a:p>
        </p:txBody>
      </p:sp>
      <p:sp>
        <p:nvSpPr>
          <p:cNvPr id="115" name="Rectangle 114"/>
          <p:cNvSpPr/>
          <p:nvPr/>
        </p:nvSpPr>
        <p:spPr>
          <a:xfrm>
            <a:off x="2235708" y="4338827"/>
            <a:ext cx="246888" cy="246888"/>
          </a:xfrm>
          <a:prstGeom prst="rect">
            <a:avLst/>
          </a:prstGeom>
          <a:solidFill>
            <a:srgbClr val="E3EFD9"/>
          </a:solidFill>
          <a:ln>
            <a:noFill/>
          </a:ln>
        </p:spPr>
        <p:txBody>
          <a:bodyPr rtlCol="0" anchor="ctr" lIns="0" rIns="0"/>
          <a:lstStyle/>
          <a:p>
            <a:pPr algn="ctr"/>
          </a:p>
        </p:txBody>
      </p:sp>
      <p:sp>
        <p:nvSpPr>
          <p:cNvPr id="116" name="Rectangle 115"/>
          <p:cNvSpPr/>
          <p:nvPr/>
        </p:nvSpPr>
        <p:spPr>
          <a:xfrm>
            <a:off x="2532888" y="4338827"/>
            <a:ext cx="246888" cy="246888"/>
          </a:xfrm>
          <a:prstGeom prst="rect">
            <a:avLst/>
          </a:prstGeom>
          <a:solidFill>
            <a:srgbClr val="E3EFD9"/>
          </a:solidFill>
          <a:ln>
            <a:noFill/>
          </a:ln>
        </p:spPr>
        <p:txBody>
          <a:bodyPr rtlCol="0" anchor="ctr" lIns="0" rIns="0"/>
          <a:lstStyle/>
          <a:p>
            <a:pPr algn="ctr"/>
          </a:p>
        </p:txBody>
      </p:sp>
      <p:sp>
        <p:nvSpPr>
          <p:cNvPr id="117" name="Rectangle 116"/>
          <p:cNvSpPr/>
          <p:nvPr/>
        </p:nvSpPr>
        <p:spPr>
          <a:xfrm>
            <a:off x="2830068" y="4338827"/>
            <a:ext cx="246888" cy="246888"/>
          </a:xfrm>
          <a:prstGeom prst="rect">
            <a:avLst/>
          </a:prstGeom>
          <a:solidFill>
            <a:srgbClr val="E3EFD9"/>
          </a:solidFill>
          <a:ln>
            <a:noFill/>
          </a:ln>
        </p:spPr>
        <p:txBody>
          <a:bodyPr rtlCol="0" anchor="ctr" lIns="0" rIns="0"/>
          <a:lstStyle/>
          <a:p>
            <a:pPr algn="ctr"/>
          </a:p>
        </p:txBody>
      </p:sp>
      <p:sp>
        <p:nvSpPr>
          <p:cNvPr id="118" name="Rectangle 117"/>
          <p:cNvSpPr/>
          <p:nvPr/>
        </p:nvSpPr>
        <p:spPr>
          <a:xfrm>
            <a:off x="3127248" y="4338827"/>
            <a:ext cx="246888" cy="246888"/>
          </a:xfrm>
          <a:prstGeom prst="rect">
            <a:avLst/>
          </a:prstGeom>
          <a:solidFill>
            <a:srgbClr val="E3EFD9"/>
          </a:solidFill>
          <a:ln>
            <a:noFill/>
          </a:ln>
        </p:spPr>
        <p:txBody>
          <a:bodyPr rtlCol="0" anchor="ctr" lIns="0" rIns="0"/>
          <a:lstStyle/>
          <a:p>
            <a:pPr algn="ctr"/>
          </a:p>
        </p:txBody>
      </p:sp>
      <p:sp>
        <p:nvSpPr>
          <p:cNvPr id="119" name="Rectangle 118"/>
          <p:cNvSpPr/>
          <p:nvPr/>
        </p:nvSpPr>
        <p:spPr>
          <a:xfrm>
            <a:off x="3424428" y="4338827"/>
            <a:ext cx="246888" cy="246888"/>
          </a:xfrm>
          <a:prstGeom prst="rect">
            <a:avLst/>
          </a:prstGeom>
          <a:solidFill>
            <a:srgbClr val="41801A"/>
          </a:solidFill>
          <a:ln>
            <a:noFill/>
          </a:ln>
        </p:spPr>
        <p:txBody>
          <a:bodyPr rtlCol="0" anchor="ctr" lIns="0" rIns="0"/>
          <a:lstStyle/>
          <a:p>
            <a:pPr algn="ctr"/>
          </a:p>
        </p:txBody>
      </p:sp>
      <p:sp>
        <p:nvSpPr>
          <p:cNvPr id="120" name="Rectangle 119"/>
          <p:cNvSpPr/>
          <p:nvPr/>
        </p:nvSpPr>
        <p:spPr>
          <a:xfrm>
            <a:off x="3721608" y="4338827"/>
            <a:ext cx="246888" cy="246888"/>
          </a:xfrm>
          <a:prstGeom prst="rect">
            <a:avLst/>
          </a:prstGeom>
          <a:solidFill>
            <a:srgbClr val="E3EFD9"/>
          </a:solidFill>
          <a:ln>
            <a:noFill/>
          </a:ln>
        </p:spPr>
        <p:txBody>
          <a:bodyPr rtlCol="0" anchor="ctr" lIns="0" rIns="0"/>
          <a:lstStyle/>
          <a:p>
            <a:pPr algn="ctr"/>
          </a:p>
        </p:txBody>
      </p:sp>
      <p:sp>
        <p:nvSpPr>
          <p:cNvPr id="121" name="Rectangle 120"/>
          <p:cNvSpPr/>
          <p:nvPr/>
        </p:nvSpPr>
        <p:spPr>
          <a:xfrm>
            <a:off x="4018788" y="4338827"/>
            <a:ext cx="246888" cy="246888"/>
          </a:xfrm>
          <a:prstGeom prst="rect">
            <a:avLst/>
          </a:prstGeom>
          <a:solidFill>
            <a:srgbClr val="E3EFD9"/>
          </a:solidFill>
          <a:ln>
            <a:noFill/>
          </a:ln>
        </p:spPr>
        <p:txBody>
          <a:bodyPr rtlCol="0" anchor="ctr" lIns="0" rIns="0"/>
          <a:lstStyle/>
          <a:p>
            <a:pPr algn="ctr"/>
          </a:p>
        </p:txBody>
      </p:sp>
      <p:sp>
        <p:nvSpPr>
          <p:cNvPr id="122" name="Rectangle 121"/>
          <p:cNvSpPr/>
          <p:nvPr/>
        </p:nvSpPr>
        <p:spPr>
          <a:xfrm>
            <a:off x="4315968" y="4338827"/>
            <a:ext cx="246888" cy="246888"/>
          </a:xfrm>
          <a:prstGeom prst="rect">
            <a:avLst/>
          </a:prstGeom>
          <a:solidFill>
            <a:srgbClr val="E3EFD9"/>
          </a:solidFill>
          <a:ln>
            <a:noFill/>
          </a:ln>
        </p:spPr>
        <p:txBody>
          <a:bodyPr rtlCol="0" anchor="ctr" lIns="0" rIns="0"/>
          <a:lstStyle/>
          <a:p>
            <a:pPr algn="ctr"/>
          </a:p>
        </p:txBody>
      </p:sp>
      <p:sp>
        <p:nvSpPr>
          <p:cNvPr id="123" name="Rectangle 122"/>
          <p:cNvSpPr/>
          <p:nvPr/>
        </p:nvSpPr>
        <p:spPr>
          <a:xfrm>
            <a:off x="4613148" y="4338827"/>
            <a:ext cx="246888" cy="246888"/>
          </a:xfrm>
          <a:prstGeom prst="rect">
            <a:avLst/>
          </a:prstGeom>
          <a:solidFill>
            <a:srgbClr val="E3EFD9"/>
          </a:solidFill>
          <a:ln>
            <a:noFill/>
          </a:ln>
        </p:spPr>
        <p:txBody>
          <a:bodyPr rtlCol="0" anchor="ctr" lIns="0" rIns="0"/>
          <a:lstStyle/>
          <a:p>
            <a:pPr algn="ctr"/>
          </a:p>
        </p:txBody>
      </p:sp>
      <p:sp>
        <p:nvSpPr>
          <p:cNvPr id="124" name="TextBox 123"/>
          <p:cNvSpPr txBox="1"/>
          <p:nvPr/>
        </p:nvSpPr>
        <p:spPr>
          <a:xfrm>
            <a:off x="996695" y="4636008"/>
            <a:ext cx="274320" cy="246888"/>
          </a:xfrm>
          <a:prstGeom prst="rect">
            <a:avLst/>
          </a:prstGeom>
          <a:noFill/>
        </p:spPr>
        <p:txBody>
          <a:bodyPr wrap="square" lIns="0" rIns="0" tIns="0" bIns="0" anchor="ctr">
            <a:noAutofit/>
          </a:bodyPr>
          <a:lstStyle/>
          <a:p>
            <a:pPr algn="r">
              <a:lnSpc>
                <a:spcPct val="110000"/>
              </a:lnSpc>
            </a:pPr>
            <a:r>
              <a:rPr sz="1000" b="0" i="0">
                <a:solidFill>
                  <a:srgbClr val="5B6456"/>
                </a:solidFill>
                <a:latin typeface="Arial"/>
              </a:rPr>
              <a:t>9</a:t>
            </a:r>
          </a:p>
        </p:txBody>
      </p:sp>
      <p:sp>
        <p:nvSpPr>
          <p:cNvPr id="125" name="Rectangle 124"/>
          <p:cNvSpPr/>
          <p:nvPr/>
        </p:nvSpPr>
        <p:spPr>
          <a:xfrm>
            <a:off x="1344168" y="4636008"/>
            <a:ext cx="246888" cy="246888"/>
          </a:xfrm>
          <a:prstGeom prst="rect">
            <a:avLst/>
          </a:prstGeom>
          <a:solidFill>
            <a:srgbClr val="E3EFD9"/>
          </a:solidFill>
          <a:ln>
            <a:noFill/>
          </a:ln>
        </p:spPr>
        <p:txBody>
          <a:bodyPr rtlCol="0" anchor="ctr" lIns="0" rIns="0"/>
          <a:lstStyle/>
          <a:p>
            <a:pPr algn="ctr"/>
          </a:p>
        </p:txBody>
      </p:sp>
      <p:sp>
        <p:nvSpPr>
          <p:cNvPr id="126" name="Rectangle 125"/>
          <p:cNvSpPr/>
          <p:nvPr/>
        </p:nvSpPr>
        <p:spPr>
          <a:xfrm>
            <a:off x="1641348" y="4636008"/>
            <a:ext cx="246888" cy="246888"/>
          </a:xfrm>
          <a:prstGeom prst="rect">
            <a:avLst/>
          </a:prstGeom>
          <a:solidFill>
            <a:srgbClr val="E3EFD9"/>
          </a:solidFill>
          <a:ln>
            <a:noFill/>
          </a:ln>
        </p:spPr>
        <p:txBody>
          <a:bodyPr rtlCol="0" anchor="ctr" lIns="0" rIns="0"/>
          <a:lstStyle/>
          <a:p>
            <a:pPr algn="ctr"/>
          </a:p>
        </p:txBody>
      </p:sp>
      <p:sp>
        <p:nvSpPr>
          <p:cNvPr id="127" name="Rectangle 126"/>
          <p:cNvSpPr/>
          <p:nvPr/>
        </p:nvSpPr>
        <p:spPr>
          <a:xfrm>
            <a:off x="1938528" y="4636008"/>
            <a:ext cx="246888" cy="246888"/>
          </a:xfrm>
          <a:prstGeom prst="rect">
            <a:avLst/>
          </a:prstGeom>
          <a:solidFill>
            <a:srgbClr val="E3EFD9"/>
          </a:solidFill>
          <a:ln>
            <a:noFill/>
          </a:ln>
        </p:spPr>
        <p:txBody>
          <a:bodyPr rtlCol="0" anchor="ctr" lIns="0" rIns="0"/>
          <a:lstStyle/>
          <a:p>
            <a:pPr algn="ctr"/>
          </a:p>
        </p:txBody>
      </p:sp>
      <p:sp>
        <p:nvSpPr>
          <p:cNvPr id="128" name="Rectangle 127"/>
          <p:cNvSpPr/>
          <p:nvPr/>
        </p:nvSpPr>
        <p:spPr>
          <a:xfrm>
            <a:off x="2235708" y="4636008"/>
            <a:ext cx="246888" cy="246888"/>
          </a:xfrm>
          <a:prstGeom prst="rect">
            <a:avLst/>
          </a:prstGeom>
          <a:solidFill>
            <a:srgbClr val="E3EFD9"/>
          </a:solidFill>
          <a:ln>
            <a:noFill/>
          </a:ln>
        </p:spPr>
        <p:txBody>
          <a:bodyPr rtlCol="0" anchor="ctr" lIns="0" rIns="0"/>
          <a:lstStyle/>
          <a:p>
            <a:pPr algn="ctr"/>
          </a:p>
        </p:txBody>
      </p:sp>
      <p:sp>
        <p:nvSpPr>
          <p:cNvPr id="129" name="Rectangle 128"/>
          <p:cNvSpPr/>
          <p:nvPr/>
        </p:nvSpPr>
        <p:spPr>
          <a:xfrm>
            <a:off x="2532888" y="4636008"/>
            <a:ext cx="246888" cy="246888"/>
          </a:xfrm>
          <a:prstGeom prst="rect">
            <a:avLst/>
          </a:prstGeom>
          <a:solidFill>
            <a:srgbClr val="E3EFD9"/>
          </a:solidFill>
          <a:ln>
            <a:noFill/>
          </a:ln>
        </p:spPr>
        <p:txBody>
          <a:bodyPr rtlCol="0" anchor="ctr" lIns="0" rIns="0"/>
          <a:lstStyle/>
          <a:p>
            <a:pPr algn="ctr"/>
          </a:p>
        </p:txBody>
      </p:sp>
      <p:sp>
        <p:nvSpPr>
          <p:cNvPr id="130" name="Rectangle 129"/>
          <p:cNvSpPr/>
          <p:nvPr/>
        </p:nvSpPr>
        <p:spPr>
          <a:xfrm>
            <a:off x="2830068" y="4636008"/>
            <a:ext cx="246888" cy="246888"/>
          </a:xfrm>
          <a:prstGeom prst="rect">
            <a:avLst/>
          </a:prstGeom>
          <a:solidFill>
            <a:srgbClr val="E3EFD9"/>
          </a:solidFill>
          <a:ln>
            <a:noFill/>
          </a:ln>
        </p:spPr>
        <p:txBody>
          <a:bodyPr rtlCol="0" anchor="ctr" lIns="0" rIns="0"/>
          <a:lstStyle/>
          <a:p>
            <a:pPr algn="ctr"/>
          </a:p>
        </p:txBody>
      </p:sp>
      <p:sp>
        <p:nvSpPr>
          <p:cNvPr id="131" name="Rectangle 130"/>
          <p:cNvSpPr/>
          <p:nvPr/>
        </p:nvSpPr>
        <p:spPr>
          <a:xfrm>
            <a:off x="3127248" y="4636008"/>
            <a:ext cx="246888" cy="246888"/>
          </a:xfrm>
          <a:prstGeom prst="rect">
            <a:avLst/>
          </a:prstGeom>
          <a:solidFill>
            <a:srgbClr val="E3EFD9"/>
          </a:solidFill>
          <a:ln>
            <a:noFill/>
          </a:ln>
        </p:spPr>
        <p:txBody>
          <a:bodyPr rtlCol="0" anchor="ctr" lIns="0" rIns="0"/>
          <a:lstStyle/>
          <a:p>
            <a:pPr algn="ctr"/>
          </a:p>
        </p:txBody>
      </p:sp>
      <p:sp>
        <p:nvSpPr>
          <p:cNvPr id="132" name="Rectangle 131"/>
          <p:cNvSpPr/>
          <p:nvPr/>
        </p:nvSpPr>
        <p:spPr>
          <a:xfrm>
            <a:off x="3424428" y="4636008"/>
            <a:ext cx="246888" cy="246888"/>
          </a:xfrm>
          <a:prstGeom prst="rect">
            <a:avLst/>
          </a:prstGeom>
          <a:solidFill>
            <a:srgbClr val="E3EFD9"/>
          </a:solidFill>
          <a:ln>
            <a:noFill/>
          </a:ln>
        </p:spPr>
        <p:txBody>
          <a:bodyPr rtlCol="0" anchor="ctr" lIns="0" rIns="0"/>
          <a:lstStyle/>
          <a:p>
            <a:pPr algn="ctr"/>
          </a:p>
        </p:txBody>
      </p:sp>
      <p:sp>
        <p:nvSpPr>
          <p:cNvPr id="133" name="Rectangle 132"/>
          <p:cNvSpPr/>
          <p:nvPr/>
        </p:nvSpPr>
        <p:spPr>
          <a:xfrm>
            <a:off x="3721608" y="4636008"/>
            <a:ext cx="246888" cy="246888"/>
          </a:xfrm>
          <a:prstGeom prst="rect">
            <a:avLst/>
          </a:prstGeom>
          <a:solidFill>
            <a:srgbClr val="41801A"/>
          </a:solidFill>
          <a:ln>
            <a:noFill/>
          </a:ln>
        </p:spPr>
        <p:txBody>
          <a:bodyPr rtlCol="0" anchor="ctr" lIns="0" rIns="0"/>
          <a:lstStyle/>
          <a:p>
            <a:pPr algn="ctr"/>
          </a:p>
        </p:txBody>
      </p:sp>
      <p:sp>
        <p:nvSpPr>
          <p:cNvPr id="134" name="Rectangle 133"/>
          <p:cNvSpPr/>
          <p:nvPr/>
        </p:nvSpPr>
        <p:spPr>
          <a:xfrm>
            <a:off x="4018788" y="4636008"/>
            <a:ext cx="246888" cy="246888"/>
          </a:xfrm>
          <a:prstGeom prst="rect">
            <a:avLst/>
          </a:prstGeom>
          <a:solidFill>
            <a:srgbClr val="E3EFD9"/>
          </a:solidFill>
          <a:ln>
            <a:noFill/>
          </a:ln>
        </p:spPr>
        <p:txBody>
          <a:bodyPr rtlCol="0" anchor="ctr" lIns="0" rIns="0"/>
          <a:lstStyle/>
          <a:p>
            <a:pPr algn="ctr"/>
          </a:p>
        </p:txBody>
      </p:sp>
      <p:sp>
        <p:nvSpPr>
          <p:cNvPr id="135" name="Rectangle 134"/>
          <p:cNvSpPr/>
          <p:nvPr/>
        </p:nvSpPr>
        <p:spPr>
          <a:xfrm>
            <a:off x="4315968" y="4636008"/>
            <a:ext cx="246888" cy="246888"/>
          </a:xfrm>
          <a:prstGeom prst="rect">
            <a:avLst/>
          </a:prstGeom>
          <a:solidFill>
            <a:srgbClr val="E3EFD9"/>
          </a:solidFill>
          <a:ln>
            <a:noFill/>
          </a:ln>
        </p:spPr>
        <p:txBody>
          <a:bodyPr rtlCol="0" anchor="ctr" lIns="0" rIns="0"/>
          <a:lstStyle/>
          <a:p>
            <a:pPr algn="ctr"/>
          </a:p>
        </p:txBody>
      </p:sp>
      <p:sp>
        <p:nvSpPr>
          <p:cNvPr id="136" name="Rectangle 135"/>
          <p:cNvSpPr/>
          <p:nvPr/>
        </p:nvSpPr>
        <p:spPr>
          <a:xfrm>
            <a:off x="4613148" y="4636008"/>
            <a:ext cx="246888" cy="246888"/>
          </a:xfrm>
          <a:prstGeom prst="rect">
            <a:avLst/>
          </a:prstGeom>
          <a:solidFill>
            <a:srgbClr val="E3EFD9"/>
          </a:solidFill>
          <a:ln>
            <a:noFill/>
          </a:ln>
        </p:spPr>
        <p:txBody>
          <a:bodyPr rtlCol="0" anchor="ctr" lIns="0" rIns="0"/>
          <a:lstStyle/>
          <a:p>
            <a:pPr algn="ctr"/>
          </a:p>
        </p:txBody>
      </p:sp>
      <p:sp>
        <p:nvSpPr>
          <p:cNvPr id="137" name="TextBox 136"/>
          <p:cNvSpPr txBox="1"/>
          <p:nvPr/>
        </p:nvSpPr>
        <p:spPr>
          <a:xfrm>
            <a:off x="996695" y="4933188"/>
            <a:ext cx="274320" cy="246888"/>
          </a:xfrm>
          <a:prstGeom prst="rect">
            <a:avLst/>
          </a:prstGeom>
          <a:noFill/>
        </p:spPr>
        <p:txBody>
          <a:bodyPr wrap="square" lIns="0" rIns="0" tIns="0" bIns="0" anchor="ctr">
            <a:noAutofit/>
          </a:bodyPr>
          <a:lstStyle/>
          <a:p>
            <a:pPr algn="r">
              <a:lnSpc>
                <a:spcPct val="110000"/>
              </a:lnSpc>
            </a:pPr>
            <a:r>
              <a:rPr sz="1000" b="0" i="0">
                <a:solidFill>
                  <a:srgbClr val="5B6456"/>
                </a:solidFill>
                <a:latin typeface="Arial"/>
              </a:rPr>
              <a:t>10</a:t>
            </a:r>
          </a:p>
        </p:txBody>
      </p:sp>
      <p:sp>
        <p:nvSpPr>
          <p:cNvPr id="138" name="Rectangle 137"/>
          <p:cNvSpPr/>
          <p:nvPr/>
        </p:nvSpPr>
        <p:spPr>
          <a:xfrm>
            <a:off x="1344168" y="4933188"/>
            <a:ext cx="246888" cy="246888"/>
          </a:xfrm>
          <a:prstGeom prst="rect">
            <a:avLst/>
          </a:prstGeom>
          <a:solidFill>
            <a:srgbClr val="E3EFD9"/>
          </a:solidFill>
          <a:ln>
            <a:noFill/>
          </a:ln>
        </p:spPr>
        <p:txBody>
          <a:bodyPr rtlCol="0" anchor="ctr" lIns="0" rIns="0"/>
          <a:lstStyle/>
          <a:p>
            <a:pPr algn="ctr"/>
          </a:p>
        </p:txBody>
      </p:sp>
      <p:sp>
        <p:nvSpPr>
          <p:cNvPr id="139" name="Rectangle 138"/>
          <p:cNvSpPr/>
          <p:nvPr/>
        </p:nvSpPr>
        <p:spPr>
          <a:xfrm>
            <a:off x="1641348" y="4933188"/>
            <a:ext cx="246888" cy="246888"/>
          </a:xfrm>
          <a:prstGeom prst="rect">
            <a:avLst/>
          </a:prstGeom>
          <a:solidFill>
            <a:srgbClr val="E3EFD9"/>
          </a:solidFill>
          <a:ln>
            <a:noFill/>
          </a:ln>
        </p:spPr>
        <p:txBody>
          <a:bodyPr rtlCol="0" anchor="ctr" lIns="0" rIns="0"/>
          <a:lstStyle/>
          <a:p>
            <a:pPr algn="ctr"/>
          </a:p>
        </p:txBody>
      </p:sp>
      <p:sp>
        <p:nvSpPr>
          <p:cNvPr id="140" name="Rectangle 139"/>
          <p:cNvSpPr/>
          <p:nvPr/>
        </p:nvSpPr>
        <p:spPr>
          <a:xfrm>
            <a:off x="1938528" y="4933188"/>
            <a:ext cx="246888" cy="246888"/>
          </a:xfrm>
          <a:prstGeom prst="rect">
            <a:avLst/>
          </a:prstGeom>
          <a:solidFill>
            <a:srgbClr val="E3EFD9"/>
          </a:solidFill>
          <a:ln>
            <a:noFill/>
          </a:ln>
        </p:spPr>
        <p:txBody>
          <a:bodyPr rtlCol="0" anchor="ctr" lIns="0" rIns="0"/>
          <a:lstStyle/>
          <a:p>
            <a:pPr algn="ctr"/>
          </a:p>
        </p:txBody>
      </p:sp>
      <p:sp>
        <p:nvSpPr>
          <p:cNvPr id="141" name="Rectangle 140"/>
          <p:cNvSpPr/>
          <p:nvPr/>
        </p:nvSpPr>
        <p:spPr>
          <a:xfrm>
            <a:off x="2235708" y="4933188"/>
            <a:ext cx="246888" cy="246888"/>
          </a:xfrm>
          <a:prstGeom prst="rect">
            <a:avLst/>
          </a:prstGeom>
          <a:solidFill>
            <a:srgbClr val="E3EFD9"/>
          </a:solidFill>
          <a:ln>
            <a:noFill/>
          </a:ln>
        </p:spPr>
        <p:txBody>
          <a:bodyPr rtlCol="0" anchor="ctr" lIns="0" rIns="0"/>
          <a:lstStyle/>
          <a:p>
            <a:pPr algn="ctr"/>
          </a:p>
        </p:txBody>
      </p:sp>
      <p:sp>
        <p:nvSpPr>
          <p:cNvPr id="142" name="Rectangle 141"/>
          <p:cNvSpPr/>
          <p:nvPr/>
        </p:nvSpPr>
        <p:spPr>
          <a:xfrm>
            <a:off x="2532888" y="4933188"/>
            <a:ext cx="246888" cy="246888"/>
          </a:xfrm>
          <a:prstGeom prst="rect">
            <a:avLst/>
          </a:prstGeom>
          <a:solidFill>
            <a:srgbClr val="E3EFD9"/>
          </a:solidFill>
          <a:ln>
            <a:noFill/>
          </a:ln>
        </p:spPr>
        <p:txBody>
          <a:bodyPr rtlCol="0" anchor="ctr" lIns="0" rIns="0"/>
          <a:lstStyle/>
          <a:p>
            <a:pPr algn="ctr"/>
          </a:p>
        </p:txBody>
      </p:sp>
      <p:sp>
        <p:nvSpPr>
          <p:cNvPr id="143" name="Rectangle 142"/>
          <p:cNvSpPr/>
          <p:nvPr/>
        </p:nvSpPr>
        <p:spPr>
          <a:xfrm>
            <a:off x="2830068" y="4933188"/>
            <a:ext cx="246888" cy="246888"/>
          </a:xfrm>
          <a:prstGeom prst="rect">
            <a:avLst/>
          </a:prstGeom>
          <a:solidFill>
            <a:srgbClr val="E3EFD9"/>
          </a:solidFill>
          <a:ln>
            <a:noFill/>
          </a:ln>
        </p:spPr>
        <p:txBody>
          <a:bodyPr rtlCol="0" anchor="ctr" lIns="0" rIns="0"/>
          <a:lstStyle/>
          <a:p>
            <a:pPr algn="ctr"/>
          </a:p>
        </p:txBody>
      </p:sp>
      <p:sp>
        <p:nvSpPr>
          <p:cNvPr id="144" name="Rectangle 143"/>
          <p:cNvSpPr/>
          <p:nvPr/>
        </p:nvSpPr>
        <p:spPr>
          <a:xfrm>
            <a:off x="3127248" y="4933188"/>
            <a:ext cx="246888" cy="246888"/>
          </a:xfrm>
          <a:prstGeom prst="rect">
            <a:avLst/>
          </a:prstGeom>
          <a:solidFill>
            <a:srgbClr val="E3EFD9"/>
          </a:solidFill>
          <a:ln>
            <a:noFill/>
          </a:ln>
        </p:spPr>
        <p:txBody>
          <a:bodyPr rtlCol="0" anchor="ctr" lIns="0" rIns="0"/>
          <a:lstStyle/>
          <a:p>
            <a:pPr algn="ctr"/>
          </a:p>
        </p:txBody>
      </p:sp>
      <p:sp>
        <p:nvSpPr>
          <p:cNvPr id="145" name="Rectangle 144"/>
          <p:cNvSpPr/>
          <p:nvPr/>
        </p:nvSpPr>
        <p:spPr>
          <a:xfrm>
            <a:off x="3424428" y="4933188"/>
            <a:ext cx="246888" cy="246888"/>
          </a:xfrm>
          <a:prstGeom prst="rect">
            <a:avLst/>
          </a:prstGeom>
          <a:solidFill>
            <a:srgbClr val="E3EFD9"/>
          </a:solidFill>
          <a:ln>
            <a:noFill/>
          </a:ln>
        </p:spPr>
        <p:txBody>
          <a:bodyPr rtlCol="0" anchor="ctr" lIns="0" rIns="0"/>
          <a:lstStyle/>
          <a:p>
            <a:pPr algn="ctr"/>
          </a:p>
        </p:txBody>
      </p:sp>
      <p:sp>
        <p:nvSpPr>
          <p:cNvPr id="146" name="Rectangle 145"/>
          <p:cNvSpPr/>
          <p:nvPr/>
        </p:nvSpPr>
        <p:spPr>
          <a:xfrm>
            <a:off x="3721608" y="4933188"/>
            <a:ext cx="246888" cy="246888"/>
          </a:xfrm>
          <a:prstGeom prst="rect">
            <a:avLst/>
          </a:prstGeom>
          <a:solidFill>
            <a:srgbClr val="E3EFD9"/>
          </a:solidFill>
          <a:ln>
            <a:noFill/>
          </a:ln>
        </p:spPr>
        <p:txBody>
          <a:bodyPr rtlCol="0" anchor="ctr" lIns="0" rIns="0"/>
          <a:lstStyle/>
          <a:p>
            <a:pPr algn="ctr"/>
          </a:p>
        </p:txBody>
      </p:sp>
      <p:sp>
        <p:nvSpPr>
          <p:cNvPr id="147" name="Rectangle 146"/>
          <p:cNvSpPr/>
          <p:nvPr/>
        </p:nvSpPr>
        <p:spPr>
          <a:xfrm>
            <a:off x="4018788" y="4933188"/>
            <a:ext cx="246888" cy="246888"/>
          </a:xfrm>
          <a:prstGeom prst="rect">
            <a:avLst/>
          </a:prstGeom>
          <a:solidFill>
            <a:srgbClr val="41801A"/>
          </a:solidFill>
          <a:ln>
            <a:noFill/>
          </a:ln>
        </p:spPr>
        <p:txBody>
          <a:bodyPr rtlCol="0" anchor="ctr" lIns="0" rIns="0"/>
          <a:lstStyle/>
          <a:p>
            <a:pPr algn="ctr"/>
          </a:p>
        </p:txBody>
      </p:sp>
      <p:sp>
        <p:nvSpPr>
          <p:cNvPr id="148" name="Rectangle 147"/>
          <p:cNvSpPr/>
          <p:nvPr/>
        </p:nvSpPr>
        <p:spPr>
          <a:xfrm>
            <a:off x="4315968" y="4933188"/>
            <a:ext cx="246888" cy="246888"/>
          </a:xfrm>
          <a:prstGeom prst="rect">
            <a:avLst/>
          </a:prstGeom>
          <a:solidFill>
            <a:srgbClr val="E3EFD9"/>
          </a:solidFill>
          <a:ln>
            <a:noFill/>
          </a:ln>
        </p:spPr>
        <p:txBody>
          <a:bodyPr rtlCol="0" anchor="ctr" lIns="0" rIns="0"/>
          <a:lstStyle/>
          <a:p>
            <a:pPr algn="ctr"/>
          </a:p>
        </p:txBody>
      </p:sp>
      <p:sp>
        <p:nvSpPr>
          <p:cNvPr id="149" name="Rectangle 148"/>
          <p:cNvSpPr/>
          <p:nvPr/>
        </p:nvSpPr>
        <p:spPr>
          <a:xfrm>
            <a:off x="4613148" y="4933188"/>
            <a:ext cx="246888" cy="246888"/>
          </a:xfrm>
          <a:prstGeom prst="rect">
            <a:avLst/>
          </a:prstGeom>
          <a:solidFill>
            <a:srgbClr val="E3EFD9"/>
          </a:solidFill>
          <a:ln>
            <a:noFill/>
          </a:ln>
        </p:spPr>
        <p:txBody>
          <a:bodyPr rtlCol="0" anchor="ctr" lIns="0" rIns="0"/>
          <a:lstStyle/>
          <a:p>
            <a:pPr algn="ctr"/>
          </a:p>
        </p:txBody>
      </p:sp>
      <p:sp>
        <p:nvSpPr>
          <p:cNvPr id="150" name="TextBox 149"/>
          <p:cNvSpPr txBox="1"/>
          <p:nvPr/>
        </p:nvSpPr>
        <p:spPr>
          <a:xfrm>
            <a:off x="996695" y="5230368"/>
            <a:ext cx="274320" cy="246888"/>
          </a:xfrm>
          <a:prstGeom prst="rect">
            <a:avLst/>
          </a:prstGeom>
          <a:noFill/>
        </p:spPr>
        <p:txBody>
          <a:bodyPr wrap="square" lIns="0" rIns="0" tIns="0" bIns="0" anchor="ctr">
            <a:noAutofit/>
          </a:bodyPr>
          <a:lstStyle/>
          <a:p>
            <a:pPr algn="r">
              <a:lnSpc>
                <a:spcPct val="110000"/>
              </a:lnSpc>
            </a:pPr>
            <a:r>
              <a:rPr sz="1000" b="0" i="0">
                <a:solidFill>
                  <a:srgbClr val="5B6456"/>
                </a:solidFill>
                <a:latin typeface="Arial"/>
              </a:rPr>
              <a:t>11</a:t>
            </a:r>
          </a:p>
        </p:txBody>
      </p:sp>
      <p:sp>
        <p:nvSpPr>
          <p:cNvPr id="151" name="Rectangle 150"/>
          <p:cNvSpPr/>
          <p:nvPr/>
        </p:nvSpPr>
        <p:spPr>
          <a:xfrm>
            <a:off x="1344168" y="5230368"/>
            <a:ext cx="246888" cy="246888"/>
          </a:xfrm>
          <a:prstGeom prst="rect">
            <a:avLst/>
          </a:prstGeom>
          <a:solidFill>
            <a:srgbClr val="E3EFD9"/>
          </a:solidFill>
          <a:ln>
            <a:noFill/>
          </a:ln>
        </p:spPr>
        <p:txBody>
          <a:bodyPr rtlCol="0" anchor="ctr" lIns="0" rIns="0"/>
          <a:lstStyle/>
          <a:p>
            <a:pPr algn="ctr"/>
          </a:p>
        </p:txBody>
      </p:sp>
      <p:sp>
        <p:nvSpPr>
          <p:cNvPr id="152" name="Rectangle 151"/>
          <p:cNvSpPr/>
          <p:nvPr/>
        </p:nvSpPr>
        <p:spPr>
          <a:xfrm>
            <a:off x="1641348" y="5230368"/>
            <a:ext cx="246888" cy="246888"/>
          </a:xfrm>
          <a:prstGeom prst="rect">
            <a:avLst/>
          </a:prstGeom>
          <a:solidFill>
            <a:srgbClr val="E3EFD9"/>
          </a:solidFill>
          <a:ln>
            <a:noFill/>
          </a:ln>
        </p:spPr>
        <p:txBody>
          <a:bodyPr rtlCol="0" anchor="ctr" lIns="0" rIns="0"/>
          <a:lstStyle/>
          <a:p>
            <a:pPr algn="ctr"/>
          </a:p>
        </p:txBody>
      </p:sp>
      <p:sp>
        <p:nvSpPr>
          <p:cNvPr id="153" name="Rectangle 152"/>
          <p:cNvSpPr/>
          <p:nvPr/>
        </p:nvSpPr>
        <p:spPr>
          <a:xfrm>
            <a:off x="1938528" y="5230368"/>
            <a:ext cx="246888" cy="246888"/>
          </a:xfrm>
          <a:prstGeom prst="rect">
            <a:avLst/>
          </a:prstGeom>
          <a:solidFill>
            <a:srgbClr val="E3EFD9"/>
          </a:solidFill>
          <a:ln>
            <a:noFill/>
          </a:ln>
        </p:spPr>
        <p:txBody>
          <a:bodyPr rtlCol="0" anchor="ctr" lIns="0" rIns="0"/>
          <a:lstStyle/>
          <a:p>
            <a:pPr algn="ctr"/>
          </a:p>
        </p:txBody>
      </p:sp>
      <p:sp>
        <p:nvSpPr>
          <p:cNvPr id="154" name="Rectangle 153"/>
          <p:cNvSpPr/>
          <p:nvPr/>
        </p:nvSpPr>
        <p:spPr>
          <a:xfrm>
            <a:off x="2235708" y="5230368"/>
            <a:ext cx="246888" cy="246888"/>
          </a:xfrm>
          <a:prstGeom prst="rect">
            <a:avLst/>
          </a:prstGeom>
          <a:solidFill>
            <a:srgbClr val="E3EFD9"/>
          </a:solidFill>
          <a:ln>
            <a:noFill/>
          </a:ln>
        </p:spPr>
        <p:txBody>
          <a:bodyPr rtlCol="0" anchor="ctr" lIns="0" rIns="0"/>
          <a:lstStyle/>
          <a:p>
            <a:pPr algn="ctr"/>
          </a:p>
        </p:txBody>
      </p:sp>
      <p:sp>
        <p:nvSpPr>
          <p:cNvPr id="155" name="Rectangle 154"/>
          <p:cNvSpPr/>
          <p:nvPr/>
        </p:nvSpPr>
        <p:spPr>
          <a:xfrm>
            <a:off x="2532888" y="5230368"/>
            <a:ext cx="246888" cy="246888"/>
          </a:xfrm>
          <a:prstGeom prst="rect">
            <a:avLst/>
          </a:prstGeom>
          <a:solidFill>
            <a:srgbClr val="E3EFD9"/>
          </a:solidFill>
          <a:ln>
            <a:noFill/>
          </a:ln>
        </p:spPr>
        <p:txBody>
          <a:bodyPr rtlCol="0" anchor="ctr" lIns="0" rIns="0"/>
          <a:lstStyle/>
          <a:p>
            <a:pPr algn="ctr"/>
          </a:p>
        </p:txBody>
      </p:sp>
      <p:sp>
        <p:nvSpPr>
          <p:cNvPr id="156" name="Rectangle 155"/>
          <p:cNvSpPr/>
          <p:nvPr/>
        </p:nvSpPr>
        <p:spPr>
          <a:xfrm>
            <a:off x="2830068" y="5230368"/>
            <a:ext cx="246888" cy="246888"/>
          </a:xfrm>
          <a:prstGeom prst="rect">
            <a:avLst/>
          </a:prstGeom>
          <a:solidFill>
            <a:srgbClr val="E3EFD9"/>
          </a:solidFill>
          <a:ln>
            <a:noFill/>
          </a:ln>
        </p:spPr>
        <p:txBody>
          <a:bodyPr rtlCol="0" anchor="ctr" lIns="0" rIns="0"/>
          <a:lstStyle/>
          <a:p>
            <a:pPr algn="ctr"/>
          </a:p>
        </p:txBody>
      </p:sp>
      <p:sp>
        <p:nvSpPr>
          <p:cNvPr id="157" name="Rectangle 156"/>
          <p:cNvSpPr/>
          <p:nvPr/>
        </p:nvSpPr>
        <p:spPr>
          <a:xfrm>
            <a:off x="3127248" y="5230368"/>
            <a:ext cx="246888" cy="246888"/>
          </a:xfrm>
          <a:prstGeom prst="rect">
            <a:avLst/>
          </a:prstGeom>
          <a:solidFill>
            <a:srgbClr val="E3EFD9"/>
          </a:solidFill>
          <a:ln>
            <a:noFill/>
          </a:ln>
        </p:spPr>
        <p:txBody>
          <a:bodyPr rtlCol="0" anchor="ctr" lIns="0" rIns="0"/>
          <a:lstStyle/>
          <a:p>
            <a:pPr algn="ctr"/>
          </a:p>
        </p:txBody>
      </p:sp>
      <p:sp>
        <p:nvSpPr>
          <p:cNvPr id="158" name="Rectangle 157"/>
          <p:cNvSpPr/>
          <p:nvPr/>
        </p:nvSpPr>
        <p:spPr>
          <a:xfrm>
            <a:off x="3424428" y="5230368"/>
            <a:ext cx="246888" cy="246888"/>
          </a:xfrm>
          <a:prstGeom prst="rect">
            <a:avLst/>
          </a:prstGeom>
          <a:solidFill>
            <a:srgbClr val="E3EFD9"/>
          </a:solidFill>
          <a:ln>
            <a:noFill/>
          </a:ln>
        </p:spPr>
        <p:txBody>
          <a:bodyPr rtlCol="0" anchor="ctr" lIns="0" rIns="0"/>
          <a:lstStyle/>
          <a:p>
            <a:pPr algn="ctr"/>
          </a:p>
        </p:txBody>
      </p:sp>
      <p:sp>
        <p:nvSpPr>
          <p:cNvPr id="159" name="Rectangle 158"/>
          <p:cNvSpPr/>
          <p:nvPr/>
        </p:nvSpPr>
        <p:spPr>
          <a:xfrm>
            <a:off x="3721608" y="5230368"/>
            <a:ext cx="246888" cy="246888"/>
          </a:xfrm>
          <a:prstGeom prst="rect">
            <a:avLst/>
          </a:prstGeom>
          <a:solidFill>
            <a:srgbClr val="E3EFD9"/>
          </a:solidFill>
          <a:ln>
            <a:noFill/>
          </a:ln>
        </p:spPr>
        <p:txBody>
          <a:bodyPr rtlCol="0" anchor="ctr" lIns="0" rIns="0"/>
          <a:lstStyle/>
          <a:p>
            <a:pPr algn="ctr"/>
          </a:p>
        </p:txBody>
      </p:sp>
      <p:sp>
        <p:nvSpPr>
          <p:cNvPr id="160" name="Rectangle 159"/>
          <p:cNvSpPr/>
          <p:nvPr/>
        </p:nvSpPr>
        <p:spPr>
          <a:xfrm>
            <a:off x="4018788" y="5230368"/>
            <a:ext cx="246888" cy="246888"/>
          </a:xfrm>
          <a:prstGeom prst="rect">
            <a:avLst/>
          </a:prstGeom>
          <a:solidFill>
            <a:srgbClr val="E3EFD9"/>
          </a:solidFill>
          <a:ln>
            <a:noFill/>
          </a:ln>
        </p:spPr>
        <p:txBody>
          <a:bodyPr rtlCol="0" anchor="ctr" lIns="0" rIns="0"/>
          <a:lstStyle/>
          <a:p>
            <a:pPr algn="ctr"/>
          </a:p>
        </p:txBody>
      </p:sp>
      <p:sp>
        <p:nvSpPr>
          <p:cNvPr id="161" name="Rectangle 160"/>
          <p:cNvSpPr/>
          <p:nvPr/>
        </p:nvSpPr>
        <p:spPr>
          <a:xfrm>
            <a:off x="4315968" y="5230368"/>
            <a:ext cx="246888" cy="246888"/>
          </a:xfrm>
          <a:prstGeom prst="rect">
            <a:avLst/>
          </a:prstGeom>
          <a:solidFill>
            <a:srgbClr val="41801A"/>
          </a:solidFill>
          <a:ln>
            <a:noFill/>
          </a:ln>
        </p:spPr>
        <p:txBody>
          <a:bodyPr rtlCol="0" anchor="ctr" lIns="0" rIns="0"/>
          <a:lstStyle/>
          <a:p>
            <a:pPr algn="ctr"/>
          </a:p>
        </p:txBody>
      </p:sp>
      <p:sp>
        <p:nvSpPr>
          <p:cNvPr id="162" name="Rectangle 161"/>
          <p:cNvSpPr/>
          <p:nvPr/>
        </p:nvSpPr>
        <p:spPr>
          <a:xfrm>
            <a:off x="4613148" y="5230368"/>
            <a:ext cx="246888" cy="246888"/>
          </a:xfrm>
          <a:prstGeom prst="rect">
            <a:avLst/>
          </a:prstGeom>
          <a:solidFill>
            <a:srgbClr val="E3EFD9"/>
          </a:solidFill>
          <a:ln>
            <a:noFill/>
          </a:ln>
        </p:spPr>
        <p:txBody>
          <a:bodyPr rtlCol="0" anchor="ctr" lIns="0" rIns="0"/>
          <a:lstStyle/>
          <a:p>
            <a:pPr algn="ctr"/>
          </a:p>
        </p:txBody>
      </p:sp>
      <p:sp>
        <p:nvSpPr>
          <p:cNvPr id="163" name="TextBox 162"/>
          <p:cNvSpPr txBox="1"/>
          <p:nvPr/>
        </p:nvSpPr>
        <p:spPr>
          <a:xfrm>
            <a:off x="996695" y="5527548"/>
            <a:ext cx="274320" cy="246888"/>
          </a:xfrm>
          <a:prstGeom prst="rect">
            <a:avLst/>
          </a:prstGeom>
          <a:noFill/>
        </p:spPr>
        <p:txBody>
          <a:bodyPr wrap="square" lIns="0" rIns="0" tIns="0" bIns="0" anchor="ctr">
            <a:noAutofit/>
          </a:bodyPr>
          <a:lstStyle/>
          <a:p>
            <a:pPr algn="r">
              <a:lnSpc>
                <a:spcPct val="110000"/>
              </a:lnSpc>
            </a:pPr>
            <a:r>
              <a:rPr sz="1000" b="0" i="0">
                <a:solidFill>
                  <a:srgbClr val="5B6456"/>
                </a:solidFill>
                <a:latin typeface="Arial"/>
              </a:rPr>
              <a:t>12</a:t>
            </a:r>
          </a:p>
        </p:txBody>
      </p:sp>
      <p:sp>
        <p:nvSpPr>
          <p:cNvPr id="164" name="Rectangle 163"/>
          <p:cNvSpPr/>
          <p:nvPr/>
        </p:nvSpPr>
        <p:spPr>
          <a:xfrm>
            <a:off x="1344168" y="5527548"/>
            <a:ext cx="246888" cy="246888"/>
          </a:xfrm>
          <a:prstGeom prst="rect">
            <a:avLst/>
          </a:prstGeom>
          <a:solidFill>
            <a:srgbClr val="E3EFD9"/>
          </a:solidFill>
          <a:ln>
            <a:noFill/>
          </a:ln>
        </p:spPr>
        <p:txBody>
          <a:bodyPr rtlCol="0" anchor="ctr" lIns="0" rIns="0"/>
          <a:lstStyle/>
          <a:p>
            <a:pPr algn="ctr"/>
          </a:p>
        </p:txBody>
      </p:sp>
      <p:sp>
        <p:nvSpPr>
          <p:cNvPr id="165" name="Rectangle 164"/>
          <p:cNvSpPr/>
          <p:nvPr/>
        </p:nvSpPr>
        <p:spPr>
          <a:xfrm>
            <a:off x="1641348" y="5527548"/>
            <a:ext cx="246888" cy="246888"/>
          </a:xfrm>
          <a:prstGeom prst="rect">
            <a:avLst/>
          </a:prstGeom>
          <a:solidFill>
            <a:srgbClr val="E3EFD9"/>
          </a:solidFill>
          <a:ln>
            <a:noFill/>
          </a:ln>
        </p:spPr>
        <p:txBody>
          <a:bodyPr rtlCol="0" anchor="ctr" lIns="0" rIns="0"/>
          <a:lstStyle/>
          <a:p>
            <a:pPr algn="ctr"/>
          </a:p>
        </p:txBody>
      </p:sp>
      <p:sp>
        <p:nvSpPr>
          <p:cNvPr id="166" name="Rectangle 165"/>
          <p:cNvSpPr/>
          <p:nvPr/>
        </p:nvSpPr>
        <p:spPr>
          <a:xfrm>
            <a:off x="1938528" y="5527548"/>
            <a:ext cx="246888" cy="246888"/>
          </a:xfrm>
          <a:prstGeom prst="rect">
            <a:avLst/>
          </a:prstGeom>
          <a:solidFill>
            <a:srgbClr val="E3EFD9"/>
          </a:solidFill>
          <a:ln>
            <a:noFill/>
          </a:ln>
        </p:spPr>
        <p:txBody>
          <a:bodyPr rtlCol="0" anchor="ctr" lIns="0" rIns="0"/>
          <a:lstStyle/>
          <a:p>
            <a:pPr algn="ctr"/>
          </a:p>
        </p:txBody>
      </p:sp>
      <p:sp>
        <p:nvSpPr>
          <p:cNvPr id="167" name="Rectangle 166"/>
          <p:cNvSpPr/>
          <p:nvPr/>
        </p:nvSpPr>
        <p:spPr>
          <a:xfrm>
            <a:off x="2235708" y="5527548"/>
            <a:ext cx="246888" cy="246888"/>
          </a:xfrm>
          <a:prstGeom prst="rect">
            <a:avLst/>
          </a:prstGeom>
          <a:solidFill>
            <a:srgbClr val="E3EFD9"/>
          </a:solidFill>
          <a:ln>
            <a:noFill/>
          </a:ln>
        </p:spPr>
        <p:txBody>
          <a:bodyPr rtlCol="0" anchor="ctr" lIns="0" rIns="0"/>
          <a:lstStyle/>
          <a:p>
            <a:pPr algn="ctr"/>
          </a:p>
        </p:txBody>
      </p:sp>
      <p:sp>
        <p:nvSpPr>
          <p:cNvPr id="168" name="Rectangle 167"/>
          <p:cNvSpPr/>
          <p:nvPr/>
        </p:nvSpPr>
        <p:spPr>
          <a:xfrm>
            <a:off x="2532888" y="5527548"/>
            <a:ext cx="246888" cy="246888"/>
          </a:xfrm>
          <a:prstGeom prst="rect">
            <a:avLst/>
          </a:prstGeom>
          <a:solidFill>
            <a:srgbClr val="E3EFD9"/>
          </a:solidFill>
          <a:ln>
            <a:noFill/>
          </a:ln>
        </p:spPr>
        <p:txBody>
          <a:bodyPr rtlCol="0" anchor="ctr" lIns="0" rIns="0"/>
          <a:lstStyle/>
          <a:p>
            <a:pPr algn="ctr"/>
          </a:p>
        </p:txBody>
      </p:sp>
      <p:sp>
        <p:nvSpPr>
          <p:cNvPr id="169" name="Rectangle 168"/>
          <p:cNvSpPr/>
          <p:nvPr/>
        </p:nvSpPr>
        <p:spPr>
          <a:xfrm>
            <a:off x="2830068" y="5527548"/>
            <a:ext cx="246888" cy="246888"/>
          </a:xfrm>
          <a:prstGeom prst="rect">
            <a:avLst/>
          </a:prstGeom>
          <a:solidFill>
            <a:srgbClr val="E3EFD9"/>
          </a:solidFill>
          <a:ln>
            <a:noFill/>
          </a:ln>
        </p:spPr>
        <p:txBody>
          <a:bodyPr rtlCol="0" anchor="ctr" lIns="0" rIns="0"/>
          <a:lstStyle/>
          <a:p>
            <a:pPr algn="ctr"/>
          </a:p>
        </p:txBody>
      </p:sp>
      <p:sp>
        <p:nvSpPr>
          <p:cNvPr id="170" name="Rectangle 169"/>
          <p:cNvSpPr/>
          <p:nvPr/>
        </p:nvSpPr>
        <p:spPr>
          <a:xfrm>
            <a:off x="3127248" y="5527548"/>
            <a:ext cx="246888" cy="246888"/>
          </a:xfrm>
          <a:prstGeom prst="rect">
            <a:avLst/>
          </a:prstGeom>
          <a:solidFill>
            <a:srgbClr val="E3EFD9"/>
          </a:solidFill>
          <a:ln>
            <a:noFill/>
          </a:ln>
        </p:spPr>
        <p:txBody>
          <a:bodyPr rtlCol="0" anchor="ctr" lIns="0" rIns="0"/>
          <a:lstStyle/>
          <a:p>
            <a:pPr algn="ctr"/>
          </a:p>
        </p:txBody>
      </p:sp>
      <p:sp>
        <p:nvSpPr>
          <p:cNvPr id="171" name="Rectangle 170"/>
          <p:cNvSpPr/>
          <p:nvPr/>
        </p:nvSpPr>
        <p:spPr>
          <a:xfrm>
            <a:off x="3424428" y="5527548"/>
            <a:ext cx="246888" cy="246888"/>
          </a:xfrm>
          <a:prstGeom prst="rect">
            <a:avLst/>
          </a:prstGeom>
          <a:solidFill>
            <a:srgbClr val="E3EFD9"/>
          </a:solidFill>
          <a:ln>
            <a:noFill/>
          </a:ln>
        </p:spPr>
        <p:txBody>
          <a:bodyPr rtlCol="0" anchor="ctr" lIns="0" rIns="0"/>
          <a:lstStyle/>
          <a:p>
            <a:pPr algn="ctr"/>
          </a:p>
        </p:txBody>
      </p:sp>
      <p:sp>
        <p:nvSpPr>
          <p:cNvPr id="172" name="Rectangle 171"/>
          <p:cNvSpPr/>
          <p:nvPr/>
        </p:nvSpPr>
        <p:spPr>
          <a:xfrm>
            <a:off x="3721608" y="5527548"/>
            <a:ext cx="246888" cy="246888"/>
          </a:xfrm>
          <a:prstGeom prst="rect">
            <a:avLst/>
          </a:prstGeom>
          <a:solidFill>
            <a:srgbClr val="E3EFD9"/>
          </a:solidFill>
          <a:ln>
            <a:noFill/>
          </a:ln>
        </p:spPr>
        <p:txBody>
          <a:bodyPr rtlCol="0" anchor="ctr" lIns="0" rIns="0"/>
          <a:lstStyle/>
          <a:p>
            <a:pPr algn="ctr"/>
          </a:p>
        </p:txBody>
      </p:sp>
      <p:sp>
        <p:nvSpPr>
          <p:cNvPr id="173" name="Rectangle 172"/>
          <p:cNvSpPr/>
          <p:nvPr/>
        </p:nvSpPr>
        <p:spPr>
          <a:xfrm>
            <a:off x="4018788" y="5527548"/>
            <a:ext cx="246888" cy="246888"/>
          </a:xfrm>
          <a:prstGeom prst="rect">
            <a:avLst/>
          </a:prstGeom>
          <a:solidFill>
            <a:srgbClr val="E3EFD9"/>
          </a:solidFill>
          <a:ln>
            <a:noFill/>
          </a:ln>
        </p:spPr>
        <p:txBody>
          <a:bodyPr rtlCol="0" anchor="ctr" lIns="0" rIns="0"/>
          <a:lstStyle/>
          <a:p>
            <a:pPr algn="ctr"/>
          </a:p>
        </p:txBody>
      </p:sp>
      <p:sp>
        <p:nvSpPr>
          <p:cNvPr id="174" name="Rectangle 173"/>
          <p:cNvSpPr/>
          <p:nvPr/>
        </p:nvSpPr>
        <p:spPr>
          <a:xfrm>
            <a:off x="4315968" y="5527548"/>
            <a:ext cx="246888" cy="246888"/>
          </a:xfrm>
          <a:prstGeom prst="rect">
            <a:avLst/>
          </a:prstGeom>
          <a:solidFill>
            <a:srgbClr val="E3EFD9"/>
          </a:solidFill>
          <a:ln>
            <a:noFill/>
          </a:ln>
        </p:spPr>
        <p:txBody>
          <a:bodyPr rtlCol="0" anchor="ctr" lIns="0" rIns="0"/>
          <a:lstStyle/>
          <a:p>
            <a:pPr algn="ctr"/>
          </a:p>
        </p:txBody>
      </p:sp>
      <p:sp>
        <p:nvSpPr>
          <p:cNvPr id="175" name="Rectangle 174"/>
          <p:cNvSpPr/>
          <p:nvPr/>
        </p:nvSpPr>
        <p:spPr>
          <a:xfrm>
            <a:off x="4613148" y="5527548"/>
            <a:ext cx="246888" cy="246888"/>
          </a:xfrm>
          <a:prstGeom prst="rect">
            <a:avLst/>
          </a:prstGeom>
          <a:solidFill>
            <a:srgbClr val="41801A"/>
          </a:solidFill>
          <a:ln>
            <a:noFill/>
          </a:ln>
        </p:spPr>
        <p:txBody>
          <a:bodyPr rtlCol="0" anchor="ctr" lIns="0" rIns="0"/>
          <a:lstStyle/>
          <a:p>
            <a:pPr algn="ctr"/>
          </a:p>
        </p:txBody>
      </p:sp>
      <p:sp>
        <p:nvSpPr>
          <p:cNvPr id="176" name="Rectangle 175"/>
          <p:cNvSpPr/>
          <p:nvPr/>
        </p:nvSpPr>
        <p:spPr>
          <a:xfrm>
            <a:off x="1344168" y="5989320"/>
            <a:ext cx="164592" cy="164592"/>
          </a:xfrm>
          <a:prstGeom prst="rect">
            <a:avLst/>
          </a:prstGeom>
          <a:solidFill>
            <a:srgbClr val="41801A"/>
          </a:solidFill>
          <a:ln>
            <a:noFill/>
          </a:ln>
        </p:spPr>
        <p:txBody>
          <a:bodyPr rtlCol="0" anchor="ctr" lIns="0" rIns="0"/>
          <a:lstStyle/>
          <a:p>
            <a:pPr algn="ctr"/>
          </a:p>
        </p:txBody>
      </p:sp>
      <p:sp>
        <p:nvSpPr>
          <p:cNvPr id="177" name="TextBox 176"/>
          <p:cNvSpPr txBox="1"/>
          <p:nvPr/>
        </p:nvSpPr>
        <p:spPr>
          <a:xfrm>
            <a:off x="1572768" y="5961888"/>
            <a:ext cx="1828800" cy="228600"/>
          </a:xfrm>
          <a:prstGeom prst="rect">
            <a:avLst/>
          </a:prstGeom>
          <a:noFill/>
        </p:spPr>
        <p:txBody>
          <a:bodyPr wrap="square" lIns="0" rIns="0" tIns="0" bIns="0" anchor="t">
            <a:noAutofit/>
          </a:bodyPr>
          <a:lstStyle/>
          <a:p>
            <a:pPr algn="l">
              <a:lnSpc>
                <a:spcPct val="110000"/>
              </a:lnSpc>
            </a:pPr>
            <a:r>
              <a:rPr sz="1100" b="0" i="0">
                <a:solidFill>
                  <a:srgbClr val="0C1408"/>
                </a:solidFill>
                <a:latin typeface="Arial"/>
              </a:rPr>
              <a:t>collects the pot</a:t>
            </a:r>
          </a:p>
        </p:txBody>
      </p:sp>
      <p:sp>
        <p:nvSpPr>
          <p:cNvPr id="178" name="Rectangle 177"/>
          <p:cNvSpPr/>
          <p:nvPr/>
        </p:nvSpPr>
        <p:spPr>
          <a:xfrm>
            <a:off x="3081528" y="5989320"/>
            <a:ext cx="164592" cy="164592"/>
          </a:xfrm>
          <a:prstGeom prst="rect">
            <a:avLst/>
          </a:prstGeom>
          <a:solidFill>
            <a:srgbClr val="E3EFD9"/>
          </a:solidFill>
          <a:ln>
            <a:noFill/>
          </a:ln>
        </p:spPr>
        <p:txBody>
          <a:bodyPr rtlCol="0" anchor="ctr" lIns="0" rIns="0"/>
          <a:lstStyle/>
          <a:p>
            <a:pPr algn="ctr"/>
          </a:p>
        </p:txBody>
      </p:sp>
      <p:sp>
        <p:nvSpPr>
          <p:cNvPr id="179" name="TextBox 178"/>
          <p:cNvSpPr txBox="1"/>
          <p:nvPr/>
        </p:nvSpPr>
        <p:spPr>
          <a:xfrm>
            <a:off x="3310128" y="5961888"/>
            <a:ext cx="1828800" cy="228600"/>
          </a:xfrm>
          <a:prstGeom prst="rect">
            <a:avLst/>
          </a:prstGeom>
          <a:noFill/>
        </p:spPr>
        <p:txBody>
          <a:bodyPr wrap="square" lIns="0" rIns="0" tIns="0" bIns="0" anchor="t">
            <a:noAutofit/>
          </a:bodyPr>
          <a:lstStyle/>
          <a:p>
            <a:pPr algn="l">
              <a:lnSpc>
                <a:spcPct val="110000"/>
              </a:lnSpc>
            </a:pPr>
            <a:r>
              <a:rPr sz="1100" b="0" i="0">
                <a:solidFill>
                  <a:srgbClr val="0C1408"/>
                </a:solidFill>
                <a:latin typeface="Arial"/>
              </a:rPr>
              <a:t>pays Rs 10,000</a:t>
            </a:r>
          </a:p>
        </p:txBody>
      </p:sp>
      <p:sp>
        <p:nvSpPr>
          <p:cNvPr id="180" name="TextBox 179"/>
          <p:cNvSpPr txBox="1"/>
          <p:nvPr/>
        </p:nvSpPr>
        <p:spPr>
          <a:xfrm>
            <a:off x="5989320" y="1828800"/>
            <a:ext cx="5303520" cy="579120"/>
          </a:xfrm>
          <a:prstGeom prst="rect">
            <a:avLst/>
          </a:prstGeom>
          <a:noFill/>
        </p:spPr>
        <p:txBody>
          <a:bodyPr wrap="square" lIns="0" rIns="0" tIns="0" bIns="0" anchor="t">
            <a:noAutofit/>
          </a:bodyPr>
          <a:lstStyle/>
          <a:p>
            <a:pPr algn="l">
              <a:lnSpc>
                <a:spcPct val="110000"/>
              </a:lnSpc>
            </a:pPr>
            <a:r>
              <a:rPr sz="3200" b="0" i="0">
                <a:solidFill>
                  <a:srgbClr val="41801A"/>
                </a:solidFill>
                <a:latin typeface="Georgia"/>
              </a:rPr>
              <a:t>Rs 10,000</a:t>
            </a:r>
          </a:p>
        </p:txBody>
      </p:sp>
      <p:sp>
        <p:nvSpPr>
          <p:cNvPr id="181" name="TextBox 180"/>
          <p:cNvSpPr txBox="1"/>
          <p:nvPr/>
        </p:nvSpPr>
        <p:spPr>
          <a:xfrm>
            <a:off x="5989320" y="2426208"/>
            <a:ext cx="5303520" cy="548640"/>
          </a:xfrm>
          <a:prstGeom prst="rect">
            <a:avLst/>
          </a:prstGeom>
          <a:noFill/>
        </p:spPr>
        <p:txBody>
          <a:bodyPr wrap="square" lIns="0" rIns="0" tIns="0" bIns="0" anchor="t">
            <a:noAutofit/>
          </a:bodyPr>
          <a:lstStyle/>
          <a:p>
            <a:pPr algn="l">
              <a:lnSpc>
                <a:spcPct val="110000"/>
              </a:lnSpc>
            </a:pPr>
            <a:r>
              <a:rPr sz="1300" b="0" i="0">
                <a:solidFill>
                  <a:srgbClr val="0C1408"/>
                </a:solidFill>
                <a:latin typeface="Arial"/>
              </a:rPr>
              <a:t>paid in by every member, every month</a:t>
            </a:r>
          </a:p>
        </p:txBody>
      </p:sp>
      <p:sp>
        <p:nvSpPr>
          <p:cNvPr id="182" name="TextBox 181"/>
          <p:cNvSpPr txBox="1"/>
          <p:nvPr/>
        </p:nvSpPr>
        <p:spPr>
          <a:xfrm>
            <a:off x="5989320" y="2880360"/>
            <a:ext cx="5303520" cy="579120"/>
          </a:xfrm>
          <a:prstGeom prst="rect">
            <a:avLst/>
          </a:prstGeom>
          <a:noFill/>
        </p:spPr>
        <p:txBody>
          <a:bodyPr wrap="square" lIns="0" rIns="0" tIns="0" bIns="0" anchor="t">
            <a:noAutofit/>
          </a:bodyPr>
          <a:lstStyle/>
          <a:p>
            <a:pPr algn="l">
              <a:lnSpc>
                <a:spcPct val="110000"/>
              </a:lnSpc>
            </a:pPr>
            <a:r>
              <a:rPr sz="3200" b="0" i="0">
                <a:solidFill>
                  <a:srgbClr val="41801A"/>
                </a:solidFill>
                <a:latin typeface="Georgia"/>
              </a:rPr>
              <a:t>Rs 120,000</a:t>
            </a:r>
          </a:p>
        </p:txBody>
      </p:sp>
      <p:sp>
        <p:nvSpPr>
          <p:cNvPr id="183" name="TextBox 182"/>
          <p:cNvSpPr txBox="1"/>
          <p:nvPr/>
        </p:nvSpPr>
        <p:spPr>
          <a:xfrm>
            <a:off x="5989320" y="3477768"/>
            <a:ext cx="5303520" cy="548640"/>
          </a:xfrm>
          <a:prstGeom prst="rect">
            <a:avLst/>
          </a:prstGeom>
          <a:noFill/>
        </p:spPr>
        <p:txBody>
          <a:bodyPr wrap="square" lIns="0" rIns="0" tIns="0" bIns="0" anchor="t">
            <a:noAutofit/>
          </a:bodyPr>
          <a:lstStyle/>
          <a:p>
            <a:pPr algn="l">
              <a:lnSpc>
                <a:spcPct val="110000"/>
              </a:lnSpc>
            </a:pPr>
            <a:r>
              <a:rPr sz="1300" b="0" i="0">
                <a:solidFill>
                  <a:srgbClr val="0C1408"/>
                </a:solidFill>
                <a:latin typeface="Arial"/>
              </a:rPr>
              <a:t>the pot, taken by one member each month</a:t>
            </a:r>
          </a:p>
        </p:txBody>
      </p:sp>
      <p:cxnSp>
        <p:nvCxnSpPr>
          <p:cNvPr id="184" name="Connector 183"/>
          <p:cNvCxnSpPr/>
          <p:nvPr/>
        </p:nvCxnSpPr>
        <p:spPr>
          <a:xfrm>
            <a:off x="5989320" y="4069080"/>
            <a:ext cx="5577839" cy="0"/>
          </a:xfrm>
          <a:prstGeom prst="line">
            <a:avLst/>
          </a:prstGeom>
          <a:ln w="9525">
            <a:solidFill>
              <a:srgbClr val="D5DCD1"/>
            </a:solidFill>
          </a:ln>
        </p:spPr>
      </p:cxnSp>
      <p:sp>
        <p:nvSpPr>
          <p:cNvPr id="185" name="TextBox 184"/>
          <p:cNvSpPr txBox="1"/>
          <p:nvPr/>
        </p:nvSpPr>
        <p:spPr>
          <a:xfrm>
            <a:off x="5989320" y="4206240"/>
            <a:ext cx="5577840" cy="1097280"/>
          </a:xfrm>
          <a:prstGeom prst="rect">
            <a:avLst/>
          </a:prstGeom>
          <a:noFill/>
        </p:spPr>
        <p:txBody>
          <a:bodyPr wrap="square" lIns="0" rIns="0" tIns="0" bIns="0" anchor="t">
            <a:noAutofit/>
          </a:bodyPr>
          <a:lstStyle/>
          <a:p>
            <a:pPr algn="l">
              <a:lnSpc>
                <a:spcPct val="110000"/>
              </a:lnSpc>
              <a:spcAft>
                <a:spcPts val="600"/>
              </a:spcAft>
            </a:pPr>
            <a:r>
              <a:rPr sz="1400" b="1" i="0">
                <a:solidFill>
                  <a:srgbClr val="0C1408"/>
                </a:solidFill>
                <a:latin typeface="Arial"/>
              </a:rPr>
              <a:t>First turn.</a:t>
            </a:r>
            <a:r>
              <a:rPr sz="1400" b="0" i="0">
                <a:solidFill>
                  <a:srgbClr val="0C1408"/>
                </a:solidFill>
                <a:latin typeface="Arial"/>
              </a:rPr>
              <a:t> An advance without interest, repaid by the instalments that follow.</a:t>
            </a:r>
          </a:p>
          <a:p>
            <a:pPr algn="l">
              <a:lnSpc>
                <a:spcPct val="110000"/>
              </a:lnSpc>
              <a:spcAft>
                <a:spcPts val="600"/>
              </a:spcAft>
            </a:pPr>
            <a:r>
              <a:rPr sz="1400" b="1" i="0">
                <a:solidFill>
                  <a:srgbClr val="0C1408"/>
                </a:solidFill>
                <a:latin typeface="Arial"/>
              </a:rPr>
              <a:t>Last turn.</a:t>
            </a:r>
            <a:r>
              <a:rPr sz="1400" b="0" i="0">
                <a:solidFill>
                  <a:srgbClr val="0C1408"/>
                </a:solidFill>
                <a:latin typeface="Arial"/>
              </a:rPr>
              <a:t> Saving, with a deadline the group enforces.</a:t>
            </a:r>
          </a:p>
        </p:txBody>
      </p:sp>
      <p:sp>
        <p:nvSpPr>
          <p:cNvPr id="186" name="TextBox 185"/>
          <p:cNvSpPr txBox="1"/>
          <p:nvPr/>
        </p:nvSpPr>
        <p:spPr>
          <a:xfrm>
            <a:off x="5989320" y="5166360"/>
            <a:ext cx="5577840" cy="731520"/>
          </a:xfrm>
          <a:prstGeom prst="rect">
            <a:avLst/>
          </a:prstGeom>
          <a:noFill/>
        </p:spPr>
        <p:txBody>
          <a:bodyPr wrap="square" lIns="0" rIns="0" tIns="0" bIns="0" anchor="t">
            <a:noAutofit/>
          </a:bodyPr>
          <a:lstStyle/>
          <a:p>
            <a:pPr algn="l">
              <a:lnSpc>
                <a:spcPct val="110000"/>
              </a:lnSpc>
            </a:pPr>
            <a:r>
              <a:rPr sz="1400" b="0" i="0">
                <a:solidFill>
                  <a:srgbClr val="0C1408"/>
                </a:solidFill>
                <a:latin typeface="Arial"/>
              </a:rPr>
              <a:t>In total, every member pays in Rs 120,000 and takes out Rs 120,000. No interest.</a:t>
            </a:r>
          </a:p>
        </p:txBody>
      </p:sp>
      <p:sp>
        <p:nvSpPr>
          <p:cNvPr id="187" name="TextBox 186"/>
          <p:cNvSpPr txBox="1"/>
          <p:nvPr/>
        </p:nvSpPr>
        <p:spPr>
          <a:xfrm>
            <a:off x="566928" y="6309360"/>
            <a:ext cx="10149840" cy="365760"/>
          </a:xfrm>
          <a:prstGeom prst="rect">
            <a:avLst/>
          </a:prstGeom>
          <a:noFill/>
        </p:spPr>
        <p:txBody>
          <a:bodyPr wrap="square" lIns="0" rIns="0" tIns="0" bIns="0" anchor="t">
            <a:noAutofit/>
          </a:bodyPr>
          <a:lstStyle/>
          <a:p>
            <a:pPr algn="l">
              <a:lnSpc>
                <a:spcPct val="100000"/>
              </a:lnSpc>
            </a:pPr>
            <a:r>
              <a:rPr sz="900" b="0" i="0">
                <a:solidFill>
                  <a:srgbClr val="5B6456"/>
                </a:solidFill>
                <a:latin typeface="Arial"/>
              </a:rPr>
              <a:t>Also called a kameti or BC; worldwide, a rotating savings and credit association. Example: twelve members at Rs 10,000 a month.</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9509760" cy="566928"/>
          </a:xfrm>
          <a:prstGeom prst="rect">
            <a:avLst/>
          </a:prstGeom>
          <a:noFill/>
        </p:spPr>
        <p:txBody>
          <a:bodyPr wrap="square" lIns="0" rIns="0" tIns="0" bIns="0" anchor="t">
            <a:noAutofit/>
          </a:bodyPr>
          <a:lstStyle/>
          <a:p>
            <a:pPr algn="l">
              <a:lnSpc>
                <a:spcPct val="110000"/>
              </a:lnSpc>
            </a:pPr>
            <a:r>
              <a:rPr sz="2800" b="0" i="0">
                <a:solidFill>
                  <a:srgbClr val="41801A"/>
                </a:solidFill>
                <a:latin typeface="Georgia"/>
              </a:rPr>
              <a:t>The Market</a:t>
            </a:r>
          </a:p>
        </p:txBody>
      </p:sp>
      <p:sp>
        <p:nvSpPr>
          <p:cNvPr id="3" name="TextBox 2"/>
          <p:cNvSpPr txBox="1"/>
          <p:nvPr/>
        </p:nvSpPr>
        <p:spPr>
          <a:xfrm>
            <a:off x="566928" y="987552"/>
            <a:ext cx="11057839" cy="411480"/>
          </a:xfrm>
          <a:prstGeom prst="rect">
            <a:avLst/>
          </a:prstGeom>
          <a:noFill/>
        </p:spPr>
        <p:txBody>
          <a:bodyPr wrap="square" lIns="0" rIns="0" tIns="0" bIns="0" anchor="t">
            <a:noAutofit/>
          </a:bodyPr>
          <a:lstStyle/>
          <a:p>
            <a:pPr algn="l">
              <a:lnSpc>
                <a:spcPct val="110000"/>
              </a:lnSpc>
            </a:pPr>
            <a:r>
              <a:rPr sz="1800" b="0" i="0">
                <a:solidFill>
                  <a:srgbClr val="0C1408"/>
                </a:solidFill>
                <a:latin typeface="Arial"/>
              </a:rPr>
              <a:t>More than a third of Pakistanis save in committees. Almost none of that money reaches a bank.</a:t>
            </a:r>
          </a:p>
        </p:txBody>
      </p:sp>
      <p:pic>
        <p:nvPicPr>
          <p:cNvPr id="4" name="Picture 3" descr="halqa_logo.png"/>
          <p:cNvPicPr>
            <a:picLocks noChangeAspect="1"/>
          </p:cNvPicPr>
          <p:nvPr/>
        </p:nvPicPr>
        <p:blipFill>
          <a:blip r:embed="rId3"/>
          <a:stretch>
            <a:fillRect/>
          </a:stretch>
        </p:blipFill>
        <p:spPr>
          <a:xfrm>
            <a:off x="10600639" y="457200"/>
            <a:ext cx="1023202" cy="310896"/>
          </a:xfrm>
          <a:prstGeom prst="rect">
            <a:avLst/>
          </a:prstGeom>
        </p:spPr>
      </p:pic>
      <p:sp>
        <p:nvSpPr>
          <p:cNvPr id="5" name="TextBox 4"/>
          <p:cNvSpPr txBox="1"/>
          <p:nvPr/>
        </p:nvSpPr>
        <p:spPr>
          <a:xfrm>
            <a:off x="566928" y="6309360"/>
            <a:ext cx="10149840" cy="365760"/>
          </a:xfrm>
          <a:prstGeom prst="rect">
            <a:avLst/>
          </a:prstGeom>
          <a:noFill/>
        </p:spPr>
        <p:txBody>
          <a:bodyPr wrap="square" lIns="0" rIns="0" tIns="0" bIns="0" anchor="t">
            <a:noAutofit/>
          </a:bodyPr>
          <a:lstStyle/>
          <a:p>
            <a:pPr algn="l">
              <a:lnSpc>
                <a:spcPct val="100000"/>
              </a:lnSpc>
            </a:pPr>
            <a:r>
              <a:rPr sz="900" b="0" i="0">
                <a:solidFill>
                  <a:srgbClr val="5B6456"/>
                </a:solidFill>
                <a:latin typeface="Arial"/>
              </a:rPr>
              <a:t>Sources   1  Karandaaz and Oraan, reported by Dawn, 12 December 2022   2  Financial Inclusion Insights surveys of Pakistan</a:t>
            </a:r>
          </a:p>
        </p:txBody>
      </p:sp>
      <p:sp>
        <p:nvSpPr>
          <p:cNvPr id="6" name="TextBox 5"/>
          <p:cNvSpPr txBox="1"/>
          <p:nvPr/>
        </p:nvSpPr>
        <p:spPr>
          <a:xfrm>
            <a:off x="11076127" y="6355080"/>
            <a:ext cx="548640" cy="228600"/>
          </a:xfrm>
          <a:prstGeom prst="rect">
            <a:avLst/>
          </a:prstGeom>
          <a:noFill/>
        </p:spPr>
        <p:txBody>
          <a:bodyPr wrap="square" lIns="0" rIns="0" tIns="0" bIns="0" anchor="t">
            <a:noAutofit/>
          </a:bodyPr>
          <a:lstStyle/>
          <a:p>
            <a:pPr algn="r">
              <a:lnSpc>
                <a:spcPct val="110000"/>
              </a:lnSpc>
            </a:pPr>
            <a:r>
              <a:rPr sz="1000" b="0" i="0">
                <a:solidFill>
                  <a:srgbClr val="5B6456"/>
                </a:solidFill>
                <a:latin typeface="Arial"/>
              </a:rPr>
              <a:t>4</a:t>
            </a:r>
          </a:p>
        </p:txBody>
      </p:sp>
      <p:sp>
        <p:nvSpPr>
          <p:cNvPr id="7" name="TextBox 6"/>
          <p:cNvSpPr txBox="1"/>
          <p:nvPr/>
        </p:nvSpPr>
        <p:spPr>
          <a:xfrm>
            <a:off x="566928" y="1920240"/>
            <a:ext cx="6309360" cy="274320"/>
          </a:xfrm>
          <a:prstGeom prst="rect">
            <a:avLst/>
          </a:prstGeom>
          <a:noFill/>
        </p:spPr>
        <p:txBody>
          <a:bodyPr wrap="square" lIns="0" rIns="0" tIns="0" bIns="0" anchor="t">
            <a:noAutofit/>
          </a:bodyPr>
          <a:lstStyle/>
          <a:p>
            <a:pPr algn="l">
              <a:lnSpc>
                <a:spcPct val="110000"/>
              </a:lnSpc>
            </a:pPr>
            <a:r>
              <a:rPr sz="1300" b="1" i="0">
                <a:solidFill>
                  <a:srgbClr val="0C1408"/>
                </a:solidFill>
                <a:latin typeface="Arial"/>
              </a:rPr>
              <a:t>Where Pakistani savers keep their savings, per cent of savers [2]</a:t>
            </a:r>
          </a:p>
        </p:txBody>
      </p:sp>
      <p:sp>
        <p:nvSpPr>
          <p:cNvPr id="8" name="TextBox 7"/>
          <p:cNvSpPr txBox="1"/>
          <p:nvPr/>
        </p:nvSpPr>
        <p:spPr>
          <a:xfrm>
            <a:off x="566928" y="2468880"/>
            <a:ext cx="2011680" cy="566928"/>
          </a:xfrm>
          <a:prstGeom prst="rect">
            <a:avLst/>
          </a:prstGeom>
          <a:noFill/>
        </p:spPr>
        <p:txBody>
          <a:bodyPr wrap="square" lIns="0" rIns="0" tIns="0" bIns="0" anchor="ctr">
            <a:noAutofit/>
          </a:bodyPr>
          <a:lstStyle/>
          <a:p>
            <a:pPr algn="l">
              <a:lnSpc>
                <a:spcPct val="110000"/>
              </a:lnSpc>
            </a:pPr>
            <a:r>
              <a:rPr sz="1400" b="0" i="0">
                <a:solidFill>
                  <a:srgbClr val="0C1408"/>
                </a:solidFill>
                <a:latin typeface="Arial"/>
              </a:rPr>
              <a:t>Cash kept at home</a:t>
            </a:r>
          </a:p>
        </p:txBody>
      </p:sp>
      <p:sp>
        <p:nvSpPr>
          <p:cNvPr id="9" name="Rectangle 8"/>
          <p:cNvSpPr/>
          <p:nvPr/>
        </p:nvSpPr>
        <p:spPr>
          <a:xfrm>
            <a:off x="2715768" y="2468880"/>
            <a:ext cx="3566160" cy="566928"/>
          </a:xfrm>
          <a:prstGeom prst="rect">
            <a:avLst/>
          </a:prstGeom>
          <a:solidFill>
            <a:srgbClr val="B9C2B4"/>
          </a:solidFill>
          <a:ln>
            <a:noFill/>
          </a:ln>
        </p:spPr>
        <p:txBody>
          <a:bodyPr rtlCol="0" anchor="ctr" lIns="0" rIns="0"/>
          <a:lstStyle/>
          <a:p>
            <a:pPr algn="ctr"/>
          </a:p>
        </p:txBody>
      </p:sp>
      <p:sp>
        <p:nvSpPr>
          <p:cNvPr id="10" name="TextBox 9"/>
          <p:cNvSpPr txBox="1"/>
          <p:nvPr/>
        </p:nvSpPr>
        <p:spPr>
          <a:xfrm>
            <a:off x="6373368" y="2468880"/>
            <a:ext cx="1280160" cy="566928"/>
          </a:xfrm>
          <a:prstGeom prst="rect">
            <a:avLst/>
          </a:prstGeom>
          <a:noFill/>
        </p:spPr>
        <p:txBody>
          <a:bodyPr wrap="square" lIns="0" rIns="0" tIns="0" bIns="0" anchor="ctr">
            <a:noAutofit/>
          </a:bodyPr>
          <a:lstStyle/>
          <a:p>
            <a:pPr algn="l">
              <a:lnSpc>
                <a:spcPct val="110000"/>
              </a:lnSpc>
            </a:pPr>
            <a:r>
              <a:rPr sz="1600" b="0" i="0">
                <a:solidFill>
                  <a:srgbClr val="0C1408"/>
                </a:solidFill>
                <a:latin typeface="Georgia"/>
              </a:rPr>
              <a:t>63%</a:t>
            </a:r>
          </a:p>
        </p:txBody>
      </p:sp>
      <p:sp>
        <p:nvSpPr>
          <p:cNvPr id="11" name="TextBox 10"/>
          <p:cNvSpPr txBox="1"/>
          <p:nvPr/>
        </p:nvSpPr>
        <p:spPr>
          <a:xfrm>
            <a:off x="566928" y="3419856"/>
            <a:ext cx="2011680" cy="566928"/>
          </a:xfrm>
          <a:prstGeom prst="rect">
            <a:avLst/>
          </a:prstGeom>
          <a:noFill/>
        </p:spPr>
        <p:txBody>
          <a:bodyPr wrap="square" lIns="0" rIns="0" tIns="0" bIns="0" anchor="ctr">
            <a:noAutofit/>
          </a:bodyPr>
          <a:lstStyle/>
          <a:p>
            <a:pPr algn="l">
              <a:lnSpc>
                <a:spcPct val="110000"/>
              </a:lnSpc>
            </a:pPr>
            <a:r>
              <a:rPr sz="1400" b="0" i="0">
                <a:solidFill>
                  <a:srgbClr val="0C1408"/>
                </a:solidFill>
                <a:latin typeface="Arial"/>
              </a:rPr>
              <a:t>A committee</a:t>
            </a:r>
          </a:p>
        </p:txBody>
      </p:sp>
      <p:sp>
        <p:nvSpPr>
          <p:cNvPr id="12" name="Rectangle 11"/>
          <p:cNvSpPr/>
          <p:nvPr/>
        </p:nvSpPr>
        <p:spPr>
          <a:xfrm>
            <a:off x="2715768" y="3419856"/>
            <a:ext cx="1867988" cy="566928"/>
          </a:xfrm>
          <a:prstGeom prst="rect">
            <a:avLst/>
          </a:prstGeom>
          <a:solidFill>
            <a:srgbClr val="6DC72A"/>
          </a:solidFill>
          <a:ln>
            <a:noFill/>
          </a:ln>
        </p:spPr>
        <p:txBody>
          <a:bodyPr rtlCol="0" anchor="ctr" lIns="0" rIns="0"/>
          <a:lstStyle/>
          <a:p>
            <a:pPr algn="ctr"/>
          </a:p>
        </p:txBody>
      </p:sp>
      <p:sp>
        <p:nvSpPr>
          <p:cNvPr id="13" name="TextBox 12"/>
          <p:cNvSpPr txBox="1"/>
          <p:nvPr/>
        </p:nvSpPr>
        <p:spPr>
          <a:xfrm>
            <a:off x="4675196" y="3419856"/>
            <a:ext cx="1280160" cy="566928"/>
          </a:xfrm>
          <a:prstGeom prst="rect">
            <a:avLst/>
          </a:prstGeom>
          <a:noFill/>
        </p:spPr>
        <p:txBody>
          <a:bodyPr wrap="square" lIns="0" rIns="0" tIns="0" bIns="0" anchor="ctr">
            <a:noAutofit/>
          </a:bodyPr>
          <a:lstStyle/>
          <a:p>
            <a:pPr algn="l">
              <a:lnSpc>
                <a:spcPct val="110000"/>
              </a:lnSpc>
            </a:pPr>
            <a:r>
              <a:rPr sz="1600" b="0" i="0">
                <a:solidFill>
                  <a:srgbClr val="0C1408"/>
                </a:solidFill>
                <a:latin typeface="Georgia"/>
              </a:rPr>
              <a:t>33%</a:t>
            </a:r>
          </a:p>
        </p:txBody>
      </p:sp>
      <p:sp>
        <p:nvSpPr>
          <p:cNvPr id="14" name="TextBox 13"/>
          <p:cNvSpPr txBox="1"/>
          <p:nvPr/>
        </p:nvSpPr>
        <p:spPr>
          <a:xfrm>
            <a:off x="566928" y="4370832"/>
            <a:ext cx="2011680" cy="566928"/>
          </a:xfrm>
          <a:prstGeom prst="rect">
            <a:avLst/>
          </a:prstGeom>
          <a:noFill/>
        </p:spPr>
        <p:txBody>
          <a:bodyPr wrap="square" lIns="0" rIns="0" tIns="0" bIns="0" anchor="ctr">
            <a:noAutofit/>
          </a:bodyPr>
          <a:lstStyle/>
          <a:p>
            <a:pPr algn="l">
              <a:lnSpc>
                <a:spcPct val="110000"/>
              </a:lnSpc>
            </a:pPr>
            <a:r>
              <a:rPr sz="1400" b="0" i="0">
                <a:solidFill>
                  <a:srgbClr val="0C1408"/>
                </a:solidFill>
                <a:latin typeface="Arial"/>
              </a:rPr>
              <a:t>A bank or other formal institution</a:t>
            </a:r>
          </a:p>
        </p:txBody>
      </p:sp>
      <p:sp>
        <p:nvSpPr>
          <p:cNvPr id="15" name="Rectangle 14"/>
          <p:cNvSpPr/>
          <p:nvPr/>
        </p:nvSpPr>
        <p:spPr>
          <a:xfrm>
            <a:off x="2715768" y="4370832"/>
            <a:ext cx="226422" cy="566928"/>
          </a:xfrm>
          <a:prstGeom prst="rect">
            <a:avLst/>
          </a:prstGeom>
          <a:solidFill>
            <a:srgbClr val="41801A"/>
          </a:solidFill>
          <a:ln>
            <a:noFill/>
          </a:ln>
        </p:spPr>
        <p:txBody>
          <a:bodyPr rtlCol="0" anchor="ctr" lIns="0" rIns="0"/>
          <a:lstStyle/>
          <a:p>
            <a:pPr algn="ctr"/>
          </a:p>
        </p:txBody>
      </p:sp>
      <p:sp>
        <p:nvSpPr>
          <p:cNvPr id="16" name="TextBox 15"/>
          <p:cNvSpPr txBox="1"/>
          <p:nvPr/>
        </p:nvSpPr>
        <p:spPr>
          <a:xfrm>
            <a:off x="3033630" y="4370832"/>
            <a:ext cx="1280160" cy="566928"/>
          </a:xfrm>
          <a:prstGeom prst="rect">
            <a:avLst/>
          </a:prstGeom>
          <a:noFill/>
        </p:spPr>
        <p:txBody>
          <a:bodyPr wrap="square" lIns="0" rIns="0" tIns="0" bIns="0" anchor="ctr">
            <a:noAutofit/>
          </a:bodyPr>
          <a:lstStyle/>
          <a:p>
            <a:pPr algn="l">
              <a:lnSpc>
                <a:spcPct val="110000"/>
              </a:lnSpc>
            </a:pPr>
            <a:r>
              <a:rPr sz="1600" b="0" i="0">
                <a:solidFill>
                  <a:srgbClr val="0C1408"/>
                </a:solidFill>
                <a:latin typeface="Georgia"/>
              </a:rPr>
              <a:t>4%</a:t>
            </a:r>
          </a:p>
        </p:txBody>
      </p:sp>
      <p:sp>
        <p:nvSpPr>
          <p:cNvPr id="17" name="TextBox 16"/>
          <p:cNvSpPr txBox="1"/>
          <p:nvPr/>
        </p:nvSpPr>
        <p:spPr>
          <a:xfrm>
            <a:off x="7635240" y="1874519"/>
            <a:ext cx="3931920" cy="548640"/>
          </a:xfrm>
          <a:prstGeom prst="rect">
            <a:avLst/>
          </a:prstGeom>
          <a:noFill/>
        </p:spPr>
        <p:txBody>
          <a:bodyPr wrap="square" lIns="0" rIns="0" tIns="0" bIns="0" anchor="t">
            <a:noAutofit/>
          </a:bodyPr>
          <a:lstStyle/>
          <a:p>
            <a:pPr algn="l">
              <a:lnSpc>
                <a:spcPct val="110000"/>
              </a:lnSpc>
            </a:pPr>
            <a:r>
              <a:rPr sz="3000" b="0" i="0">
                <a:solidFill>
                  <a:srgbClr val="41801A"/>
                </a:solidFill>
                <a:latin typeface="Georgia"/>
              </a:rPr>
              <a:t>34% to 41%</a:t>
            </a:r>
          </a:p>
        </p:txBody>
      </p:sp>
      <p:sp>
        <p:nvSpPr>
          <p:cNvPr id="18" name="TextBox 17"/>
          <p:cNvSpPr txBox="1"/>
          <p:nvPr/>
        </p:nvSpPr>
        <p:spPr>
          <a:xfrm>
            <a:off x="7635240" y="2441448"/>
            <a:ext cx="3931920" cy="548640"/>
          </a:xfrm>
          <a:prstGeom prst="rect">
            <a:avLst/>
          </a:prstGeom>
          <a:noFill/>
        </p:spPr>
        <p:txBody>
          <a:bodyPr wrap="square" lIns="0" rIns="0" tIns="0" bIns="0" anchor="t">
            <a:noAutofit/>
          </a:bodyPr>
          <a:lstStyle/>
          <a:p>
            <a:pPr algn="l">
              <a:lnSpc>
                <a:spcPct val="110000"/>
              </a:lnSpc>
            </a:pPr>
            <a:r>
              <a:rPr sz="1300" b="0" i="0">
                <a:solidFill>
                  <a:srgbClr val="0C1408"/>
                </a:solidFill>
                <a:latin typeface="Arial"/>
              </a:rPr>
              <a:t>of Pakistanis take part in committees [1]</a:t>
            </a:r>
          </a:p>
        </p:txBody>
      </p:sp>
      <p:sp>
        <p:nvSpPr>
          <p:cNvPr id="19" name="TextBox 18"/>
          <p:cNvSpPr txBox="1"/>
          <p:nvPr/>
        </p:nvSpPr>
        <p:spPr>
          <a:xfrm>
            <a:off x="7635240" y="3154680"/>
            <a:ext cx="3931920" cy="548640"/>
          </a:xfrm>
          <a:prstGeom prst="rect">
            <a:avLst/>
          </a:prstGeom>
          <a:noFill/>
        </p:spPr>
        <p:txBody>
          <a:bodyPr wrap="square" lIns="0" rIns="0" tIns="0" bIns="0" anchor="t">
            <a:noAutofit/>
          </a:bodyPr>
          <a:lstStyle/>
          <a:p>
            <a:pPr algn="l">
              <a:lnSpc>
                <a:spcPct val="110000"/>
              </a:lnSpc>
            </a:pPr>
            <a:r>
              <a:rPr sz="3000" b="0" i="0">
                <a:solidFill>
                  <a:srgbClr val="41801A"/>
                </a:solidFill>
                <a:latin typeface="Georgia"/>
              </a:rPr>
              <a:t>Rs 4 trillion</a:t>
            </a:r>
          </a:p>
        </p:txBody>
      </p:sp>
      <p:sp>
        <p:nvSpPr>
          <p:cNvPr id="20" name="TextBox 19"/>
          <p:cNvSpPr txBox="1"/>
          <p:nvPr/>
        </p:nvSpPr>
        <p:spPr>
          <a:xfrm>
            <a:off x="7635240" y="3721608"/>
            <a:ext cx="3931920" cy="548640"/>
          </a:xfrm>
          <a:prstGeom prst="rect">
            <a:avLst/>
          </a:prstGeom>
          <a:noFill/>
        </p:spPr>
        <p:txBody>
          <a:bodyPr wrap="square" lIns="0" rIns="0" tIns="0" bIns="0" anchor="t">
            <a:noAutofit/>
          </a:bodyPr>
          <a:lstStyle/>
          <a:p>
            <a:pPr algn="l">
              <a:lnSpc>
                <a:spcPct val="110000"/>
              </a:lnSpc>
            </a:pPr>
            <a:r>
              <a:rPr sz="1300" b="0" i="0">
                <a:solidFill>
                  <a:srgbClr val="0C1408"/>
                </a:solidFill>
                <a:latin typeface="Arial"/>
              </a:rPr>
              <a:t>estimated to pass through committees each year [1]</a:t>
            </a:r>
          </a:p>
        </p:txBody>
      </p:sp>
      <p:sp>
        <p:nvSpPr>
          <p:cNvPr id="21" name="TextBox 20"/>
          <p:cNvSpPr txBox="1"/>
          <p:nvPr/>
        </p:nvSpPr>
        <p:spPr>
          <a:xfrm>
            <a:off x="7635240" y="4434840"/>
            <a:ext cx="3931920" cy="548640"/>
          </a:xfrm>
          <a:prstGeom prst="rect">
            <a:avLst/>
          </a:prstGeom>
          <a:noFill/>
        </p:spPr>
        <p:txBody>
          <a:bodyPr wrap="square" lIns="0" rIns="0" tIns="0" bIns="0" anchor="t">
            <a:noAutofit/>
          </a:bodyPr>
          <a:lstStyle/>
          <a:p>
            <a:pPr algn="l">
              <a:lnSpc>
                <a:spcPct val="110000"/>
              </a:lnSpc>
            </a:pPr>
            <a:r>
              <a:rPr sz="3000" b="0" i="0">
                <a:solidFill>
                  <a:srgbClr val="41801A"/>
                </a:solidFill>
                <a:latin typeface="Georgia"/>
              </a:rPr>
              <a:t>Twice</a:t>
            </a:r>
          </a:p>
        </p:txBody>
      </p:sp>
      <p:sp>
        <p:nvSpPr>
          <p:cNvPr id="22" name="TextBox 21"/>
          <p:cNvSpPr txBox="1"/>
          <p:nvPr/>
        </p:nvSpPr>
        <p:spPr>
          <a:xfrm>
            <a:off x="7635240" y="5001768"/>
            <a:ext cx="3931920" cy="548640"/>
          </a:xfrm>
          <a:prstGeom prst="rect">
            <a:avLst/>
          </a:prstGeom>
          <a:noFill/>
        </p:spPr>
        <p:txBody>
          <a:bodyPr wrap="square" lIns="0" rIns="0" tIns="0" bIns="0" anchor="t">
            <a:noAutofit/>
          </a:bodyPr>
          <a:lstStyle/>
          <a:p>
            <a:pPr algn="l">
              <a:lnSpc>
                <a:spcPct val="110000"/>
              </a:lnSpc>
            </a:pPr>
            <a:r>
              <a:rPr sz="1300" b="0" i="0">
                <a:solidFill>
                  <a:srgbClr val="0C1408"/>
                </a:solidFill>
                <a:latin typeface="Arial"/>
              </a:rPr>
              <a:t>the rate of participation for women as for men [2]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9509760" cy="566928"/>
          </a:xfrm>
          <a:prstGeom prst="rect">
            <a:avLst/>
          </a:prstGeom>
          <a:noFill/>
        </p:spPr>
        <p:txBody>
          <a:bodyPr wrap="square" lIns="0" rIns="0" tIns="0" bIns="0" anchor="t">
            <a:noAutofit/>
          </a:bodyPr>
          <a:lstStyle/>
          <a:p>
            <a:pPr algn="l">
              <a:lnSpc>
                <a:spcPct val="110000"/>
              </a:lnSpc>
            </a:pPr>
            <a:r>
              <a:rPr sz="2800" b="0" i="0">
                <a:solidFill>
                  <a:srgbClr val="41801A"/>
                </a:solidFill>
                <a:latin typeface="Georgia"/>
              </a:rPr>
              <a:t>The Problem</a:t>
            </a:r>
          </a:p>
        </p:txBody>
      </p:sp>
      <p:sp>
        <p:nvSpPr>
          <p:cNvPr id="3" name="TextBox 2"/>
          <p:cNvSpPr txBox="1"/>
          <p:nvPr/>
        </p:nvSpPr>
        <p:spPr>
          <a:xfrm>
            <a:off x="566928" y="987552"/>
            <a:ext cx="11057839" cy="411480"/>
          </a:xfrm>
          <a:prstGeom prst="rect">
            <a:avLst/>
          </a:prstGeom>
          <a:noFill/>
        </p:spPr>
        <p:txBody>
          <a:bodyPr wrap="square" lIns="0" rIns="0" tIns="0" bIns="0" anchor="t">
            <a:noAutofit/>
          </a:bodyPr>
          <a:lstStyle/>
          <a:p>
            <a:pPr algn="l">
              <a:lnSpc>
                <a:spcPct val="110000"/>
              </a:lnSpc>
            </a:pPr>
            <a:r>
              <a:rPr sz="1800" b="0" i="0">
                <a:solidFill>
                  <a:srgbClr val="0C1408"/>
                </a:solidFill>
                <a:latin typeface="Arial"/>
              </a:rPr>
              <a:t>Committees run on trust and cash. When the trust fails, members lose their money.</a:t>
            </a:r>
          </a:p>
        </p:txBody>
      </p:sp>
      <p:pic>
        <p:nvPicPr>
          <p:cNvPr id="4" name="Picture 3" descr="halqa_logo.png"/>
          <p:cNvPicPr>
            <a:picLocks noChangeAspect="1"/>
          </p:cNvPicPr>
          <p:nvPr/>
        </p:nvPicPr>
        <p:blipFill>
          <a:blip r:embed="rId3"/>
          <a:stretch>
            <a:fillRect/>
          </a:stretch>
        </p:blipFill>
        <p:spPr>
          <a:xfrm>
            <a:off x="10600639" y="457200"/>
            <a:ext cx="1023202" cy="310896"/>
          </a:xfrm>
          <a:prstGeom prst="rect">
            <a:avLst/>
          </a:prstGeom>
        </p:spPr>
      </p:pic>
      <p:sp>
        <p:nvSpPr>
          <p:cNvPr id="5" name="TextBox 4"/>
          <p:cNvSpPr txBox="1"/>
          <p:nvPr/>
        </p:nvSpPr>
        <p:spPr>
          <a:xfrm>
            <a:off x="566928" y="6309360"/>
            <a:ext cx="10149840" cy="365760"/>
          </a:xfrm>
          <a:prstGeom prst="rect">
            <a:avLst/>
          </a:prstGeom>
          <a:noFill/>
        </p:spPr>
        <p:txBody>
          <a:bodyPr wrap="square" lIns="0" rIns="0" tIns="0" bIns="0" anchor="t">
            <a:noAutofit/>
          </a:bodyPr>
          <a:lstStyle/>
          <a:p>
            <a:pPr algn="l">
              <a:lnSpc>
                <a:spcPct val="100000"/>
              </a:lnSpc>
            </a:pPr>
            <a:r>
              <a:rPr sz="900" b="0" i="0">
                <a:solidFill>
                  <a:srgbClr val="5B6456"/>
                </a:solidFill>
                <a:latin typeface="Arial"/>
              </a:rPr>
              <a:t>Sources   1  Financial Inclusion Insights surveys of Pakistan   2  Dawn, 12 December 2022</a:t>
            </a:r>
          </a:p>
        </p:txBody>
      </p:sp>
      <p:sp>
        <p:nvSpPr>
          <p:cNvPr id="6" name="TextBox 5"/>
          <p:cNvSpPr txBox="1"/>
          <p:nvPr/>
        </p:nvSpPr>
        <p:spPr>
          <a:xfrm>
            <a:off x="11076127" y="6355080"/>
            <a:ext cx="548640" cy="228600"/>
          </a:xfrm>
          <a:prstGeom prst="rect">
            <a:avLst/>
          </a:prstGeom>
          <a:noFill/>
        </p:spPr>
        <p:txBody>
          <a:bodyPr wrap="square" lIns="0" rIns="0" tIns="0" bIns="0" anchor="t">
            <a:noAutofit/>
          </a:bodyPr>
          <a:lstStyle/>
          <a:p>
            <a:pPr algn="r">
              <a:lnSpc>
                <a:spcPct val="110000"/>
              </a:lnSpc>
            </a:pPr>
            <a:r>
              <a:rPr sz="1000" b="0" i="0">
                <a:solidFill>
                  <a:srgbClr val="5B6456"/>
                </a:solidFill>
                <a:latin typeface="Arial"/>
              </a:rPr>
              <a:t>5</a:t>
            </a:r>
          </a:p>
        </p:txBody>
      </p:sp>
      <p:sp>
        <p:nvSpPr>
          <p:cNvPr id="7" name="Rectangle 6"/>
          <p:cNvSpPr/>
          <p:nvPr/>
        </p:nvSpPr>
        <p:spPr>
          <a:xfrm>
            <a:off x="566928" y="3246120"/>
            <a:ext cx="1874519" cy="960120"/>
          </a:xfrm>
          <a:prstGeom prst="rect">
            <a:avLst/>
          </a:prstGeom>
          <a:solidFill>
            <a:srgbClr val="FFFFFF"/>
          </a:solidFill>
          <a:ln w="12700">
            <a:solidFill>
              <a:srgbClr val="0C1408"/>
            </a:solidFill>
          </a:ln>
        </p:spPr>
        <p:txBody>
          <a:bodyPr rtlCol="0" anchor="ctr" lIns="0" rIns="0"/>
          <a:lstStyle/>
          <a:p>
            <a:pPr algn="ctr"/>
          </a:p>
        </p:txBody>
      </p:sp>
      <p:sp>
        <p:nvSpPr>
          <p:cNvPr id="8" name="TextBox 7"/>
          <p:cNvSpPr txBox="1"/>
          <p:nvPr/>
        </p:nvSpPr>
        <p:spPr>
          <a:xfrm>
            <a:off x="658368" y="3319272"/>
            <a:ext cx="1691639" cy="274320"/>
          </a:xfrm>
          <a:prstGeom prst="rect">
            <a:avLst/>
          </a:prstGeom>
          <a:noFill/>
        </p:spPr>
        <p:txBody>
          <a:bodyPr wrap="square" lIns="0" rIns="0" tIns="0" bIns="0" anchor="t">
            <a:noAutofit/>
          </a:bodyPr>
          <a:lstStyle/>
          <a:p>
            <a:pPr algn="ctr">
              <a:lnSpc>
                <a:spcPct val="110000"/>
              </a:lnSpc>
            </a:pPr>
            <a:r>
              <a:rPr sz="1400" b="1" i="0">
                <a:solidFill>
                  <a:srgbClr val="0C1408"/>
                </a:solidFill>
                <a:latin typeface="Arial"/>
              </a:rPr>
              <a:t>Members</a:t>
            </a:r>
          </a:p>
        </p:txBody>
      </p:sp>
      <p:sp>
        <p:nvSpPr>
          <p:cNvPr id="9" name="TextBox 8"/>
          <p:cNvSpPr txBox="1"/>
          <p:nvPr/>
        </p:nvSpPr>
        <p:spPr>
          <a:xfrm>
            <a:off x="658368" y="3611880"/>
            <a:ext cx="1691639" cy="548640"/>
          </a:xfrm>
          <a:prstGeom prst="rect">
            <a:avLst/>
          </a:prstGeom>
          <a:noFill/>
        </p:spPr>
        <p:txBody>
          <a:bodyPr wrap="square" lIns="0" rIns="0" tIns="0" bIns="0" anchor="t">
            <a:noAutofit/>
          </a:bodyPr>
          <a:lstStyle/>
          <a:p>
            <a:pPr algn="ctr">
              <a:lnSpc>
                <a:spcPct val="100000"/>
              </a:lnSpc>
            </a:pPr>
            <a:r>
              <a:rPr sz="1100" b="0" i="0">
                <a:solidFill>
                  <a:srgbClr val="5B6456"/>
                </a:solidFill>
                <a:latin typeface="Arial"/>
              </a:rPr>
              <a:t>each pays Rs 10,000 in cash or by transfer</a:t>
            </a:r>
          </a:p>
        </p:txBody>
      </p:sp>
      <p:sp>
        <p:nvSpPr>
          <p:cNvPr id="10" name="Rectangle 9"/>
          <p:cNvSpPr/>
          <p:nvPr/>
        </p:nvSpPr>
        <p:spPr>
          <a:xfrm>
            <a:off x="3081528" y="3246120"/>
            <a:ext cx="1874519" cy="960120"/>
          </a:xfrm>
          <a:prstGeom prst="rect">
            <a:avLst/>
          </a:prstGeom>
          <a:solidFill>
            <a:srgbClr val="FFFFFF"/>
          </a:solidFill>
          <a:ln w="12700">
            <a:solidFill>
              <a:srgbClr val="B3261E"/>
            </a:solidFill>
          </a:ln>
        </p:spPr>
        <p:txBody>
          <a:bodyPr rtlCol="0" anchor="ctr" lIns="0" rIns="0"/>
          <a:lstStyle/>
          <a:p>
            <a:pPr algn="ctr"/>
          </a:p>
        </p:txBody>
      </p:sp>
      <p:sp>
        <p:nvSpPr>
          <p:cNvPr id="11" name="TextBox 10"/>
          <p:cNvSpPr txBox="1"/>
          <p:nvPr/>
        </p:nvSpPr>
        <p:spPr>
          <a:xfrm>
            <a:off x="3172968" y="3319272"/>
            <a:ext cx="1691639" cy="274320"/>
          </a:xfrm>
          <a:prstGeom prst="rect">
            <a:avLst/>
          </a:prstGeom>
          <a:noFill/>
        </p:spPr>
        <p:txBody>
          <a:bodyPr wrap="square" lIns="0" rIns="0" tIns="0" bIns="0" anchor="t">
            <a:noAutofit/>
          </a:bodyPr>
          <a:lstStyle/>
          <a:p>
            <a:pPr algn="ctr">
              <a:lnSpc>
                <a:spcPct val="110000"/>
              </a:lnSpc>
            </a:pPr>
            <a:r>
              <a:rPr sz="1400" b="1" i="0">
                <a:solidFill>
                  <a:srgbClr val="0C1408"/>
                </a:solidFill>
                <a:latin typeface="Arial"/>
              </a:rPr>
              <a:t>Organiser</a:t>
            </a:r>
          </a:p>
        </p:txBody>
      </p:sp>
      <p:sp>
        <p:nvSpPr>
          <p:cNvPr id="12" name="TextBox 11"/>
          <p:cNvSpPr txBox="1"/>
          <p:nvPr/>
        </p:nvSpPr>
        <p:spPr>
          <a:xfrm>
            <a:off x="3172968" y="3611880"/>
            <a:ext cx="1691639" cy="548640"/>
          </a:xfrm>
          <a:prstGeom prst="rect">
            <a:avLst/>
          </a:prstGeom>
          <a:noFill/>
        </p:spPr>
        <p:txBody>
          <a:bodyPr wrap="square" lIns="0" rIns="0" tIns="0" bIns="0" anchor="t">
            <a:noAutofit/>
          </a:bodyPr>
          <a:lstStyle/>
          <a:p>
            <a:pPr algn="ctr">
              <a:lnSpc>
                <a:spcPct val="100000"/>
              </a:lnSpc>
            </a:pPr>
            <a:r>
              <a:rPr sz="1100" b="0" i="0">
                <a:solidFill>
                  <a:srgbClr val="5B6456"/>
                </a:solidFill>
                <a:latin typeface="Arial"/>
              </a:rPr>
              <a:t>holds everyone's money</a:t>
            </a:r>
          </a:p>
        </p:txBody>
      </p:sp>
      <p:sp>
        <p:nvSpPr>
          <p:cNvPr id="13" name="Rectangle 12"/>
          <p:cNvSpPr/>
          <p:nvPr/>
        </p:nvSpPr>
        <p:spPr>
          <a:xfrm>
            <a:off x="5596128" y="3246120"/>
            <a:ext cx="1874519" cy="960120"/>
          </a:xfrm>
          <a:prstGeom prst="rect">
            <a:avLst/>
          </a:prstGeom>
          <a:solidFill>
            <a:srgbClr val="FFFFFF"/>
          </a:solidFill>
          <a:ln w="12700">
            <a:solidFill>
              <a:srgbClr val="0C1408"/>
            </a:solidFill>
          </a:ln>
        </p:spPr>
        <p:txBody>
          <a:bodyPr rtlCol="0" anchor="ctr" lIns="0" rIns="0"/>
          <a:lstStyle/>
          <a:p>
            <a:pPr algn="ctr"/>
          </a:p>
        </p:txBody>
      </p:sp>
      <p:sp>
        <p:nvSpPr>
          <p:cNvPr id="14" name="TextBox 13"/>
          <p:cNvSpPr txBox="1"/>
          <p:nvPr/>
        </p:nvSpPr>
        <p:spPr>
          <a:xfrm>
            <a:off x="5687568" y="3319272"/>
            <a:ext cx="1691639" cy="274320"/>
          </a:xfrm>
          <a:prstGeom prst="rect">
            <a:avLst/>
          </a:prstGeom>
          <a:noFill/>
        </p:spPr>
        <p:txBody>
          <a:bodyPr wrap="square" lIns="0" rIns="0" tIns="0" bIns="0" anchor="t">
            <a:noAutofit/>
          </a:bodyPr>
          <a:lstStyle/>
          <a:p>
            <a:pPr algn="ctr">
              <a:lnSpc>
                <a:spcPct val="110000"/>
              </a:lnSpc>
            </a:pPr>
            <a:r>
              <a:rPr sz="1400" b="1" i="0">
                <a:solidFill>
                  <a:srgbClr val="0C1408"/>
                </a:solidFill>
                <a:latin typeface="Arial"/>
              </a:rPr>
              <a:t>Collector</a:t>
            </a:r>
          </a:p>
        </p:txBody>
      </p:sp>
      <p:sp>
        <p:nvSpPr>
          <p:cNvPr id="15" name="TextBox 14"/>
          <p:cNvSpPr txBox="1"/>
          <p:nvPr/>
        </p:nvSpPr>
        <p:spPr>
          <a:xfrm>
            <a:off x="5687568" y="3611880"/>
            <a:ext cx="1691639" cy="548640"/>
          </a:xfrm>
          <a:prstGeom prst="rect">
            <a:avLst/>
          </a:prstGeom>
          <a:noFill/>
        </p:spPr>
        <p:txBody>
          <a:bodyPr wrap="square" lIns="0" rIns="0" tIns="0" bIns="0" anchor="t">
            <a:noAutofit/>
          </a:bodyPr>
          <a:lstStyle/>
          <a:p>
            <a:pPr algn="ctr">
              <a:lnSpc>
                <a:spcPct val="100000"/>
              </a:lnSpc>
            </a:pPr>
            <a:r>
              <a:rPr sz="1100" b="0" i="0">
                <a:solidFill>
                  <a:srgbClr val="5B6456"/>
                </a:solidFill>
                <a:latin typeface="Arial"/>
              </a:rPr>
              <a:t>this month's turn</a:t>
            </a:r>
          </a:p>
        </p:txBody>
      </p:sp>
      <p:cxnSp>
        <p:nvCxnSpPr>
          <p:cNvPr id="16" name="Connector 15"/>
          <p:cNvCxnSpPr/>
          <p:nvPr/>
        </p:nvCxnSpPr>
        <p:spPr>
          <a:xfrm>
            <a:off x="2441448" y="3726180"/>
            <a:ext cx="640080" cy="0"/>
          </a:xfrm>
          <a:prstGeom prst="line">
            <a:avLst/>
          </a:prstGeom>
          <a:ln w="38100">
            <a:solidFill>
              <a:srgbClr val="5B6456"/>
            </a:solidFill>
            <a:tailEnd type="triangle" w="med" len="med"/>
          </a:ln>
        </p:spPr>
      </p:cxnSp>
      <p:cxnSp>
        <p:nvCxnSpPr>
          <p:cNvPr id="17" name="Connector 16"/>
          <p:cNvCxnSpPr/>
          <p:nvPr/>
        </p:nvCxnSpPr>
        <p:spPr>
          <a:xfrm>
            <a:off x="4956048" y="3726180"/>
            <a:ext cx="640080" cy="0"/>
          </a:xfrm>
          <a:prstGeom prst="line">
            <a:avLst/>
          </a:prstGeom>
          <a:ln w="38100">
            <a:solidFill>
              <a:srgbClr val="5B6456"/>
            </a:solidFill>
            <a:tailEnd type="triangle" w="med" len="med"/>
          </a:ln>
        </p:spPr>
      </p:cxnSp>
      <p:sp>
        <p:nvSpPr>
          <p:cNvPr id="18" name="TextBox 17"/>
          <p:cNvSpPr txBox="1"/>
          <p:nvPr/>
        </p:nvSpPr>
        <p:spPr>
          <a:xfrm>
            <a:off x="2441448" y="3415284"/>
            <a:ext cx="640080" cy="274320"/>
          </a:xfrm>
          <a:prstGeom prst="rect">
            <a:avLst/>
          </a:prstGeom>
          <a:noFill/>
        </p:spPr>
        <p:txBody>
          <a:bodyPr wrap="square" lIns="0" rIns="0" tIns="0" bIns="0" anchor="t">
            <a:noAutofit/>
          </a:bodyPr>
          <a:lstStyle/>
          <a:p>
            <a:pPr algn="ctr">
              <a:lnSpc>
                <a:spcPct val="110000"/>
              </a:lnSpc>
            </a:pPr>
            <a:r>
              <a:rPr sz="1100" b="0" i="0">
                <a:solidFill>
                  <a:srgbClr val="5B6456"/>
                </a:solidFill>
                <a:latin typeface="Arial"/>
              </a:rPr>
              <a:t>cash</a:t>
            </a:r>
          </a:p>
        </p:txBody>
      </p:sp>
      <p:sp>
        <p:nvSpPr>
          <p:cNvPr id="19" name="TextBox 18"/>
          <p:cNvSpPr txBox="1"/>
          <p:nvPr/>
        </p:nvSpPr>
        <p:spPr>
          <a:xfrm>
            <a:off x="4956048" y="3415284"/>
            <a:ext cx="640080" cy="274320"/>
          </a:xfrm>
          <a:prstGeom prst="rect">
            <a:avLst/>
          </a:prstGeom>
          <a:noFill/>
        </p:spPr>
        <p:txBody>
          <a:bodyPr wrap="square" lIns="0" rIns="0" tIns="0" bIns="0" anchor="t">
            <a:noAutofit/>
          </a:bodyPr>
          <a:lstStyle/>
          <a:p>
            <a:pPr algn="ctr">
              <a:lnSpc>
                <a:spcPct val="110000"/>
              </a:lnSpc>
            </a:pPr>
            <a:r>
              <a:rPr sz="1100" b="0" i="0">
                <a:solidFill>
                  <a:srgbClr val="5B6456"/>
                </a:solidFill>
                <a:latin typeface="Arial"/>
              </a:rPr>
              <a:t>cash</a:t>
            </a:r>
          </a:p>
        </p:txBody>
      </p:sp>
      <p:sp>
        <p:nvSpPr>
          <p:cNvPr id="20" name="Rectangle 19"/>
          <p:cNvSpPr/>
          <p:nvPr/>
        </p:nvSpPr>
        <p:spPr>
          <a:xfrm>
            <a:off x="3081528" y="4846320"/>
            <a:ext cx="1874519" cy="731520"/>
          </a:xfrm>
          <a:prstGeom prst="rect">
            <a:avLst/>
          </a:prstGeom>
          <a:solidFill>
            <a:srgbClr val="FFFFFF"/>
          </a:solidFill>
          <a:ln w="12700">
            <a:solidFill>
              <a:srgbClr val="5B6456"/>
            </a:solidFill>
            <a:prstDash val="dash"/>
          </a:ln>
        </p:spPr>
        <p:txBody>
          <a:bodyPr rtlCol="0" anchor="ctr" lIns="0" rIns="0"/>
          <a:lstStyle/>
          <a:p>
            <a:pPr algn="ctr"/>
          </a:p>
        </p:txBody>
      </p:sp>
      <p:sp>
        <p:nvSpPr>
          <p:cNvPr id="21" name="TextBox 20"/>
          <p:cNvSpPr txBox="1"/>
          <p:nvPr/>
        </p:nvSpPr>
        <p:spPr>
          <a:xfrm>
            <a:off x="3172968" y="4919472"/>
            <a:ext cx="1691639" cy="274320"/>
          </a:xfrm>
          <a:prstGeom prst="rect">
            <a:avLst/>
          </a:prstGeom>
          <a:noFill/>
        </p:spPr>
        <p:txBody>
          <a:bodyPr wrap="square" lIns="0" rIns="0" tIns="0" bIns="0" anchor="t">
            <a:noAutofit/>
          </a:bodyPr>
          <a:lstStyle/>
          <a:p>
            <a:pPr algn="ctr">
              <a:lnSpc>
                <a:spcPct val="110000"/>
              </a:lnSpc>
            </a:pPr>
            <a:r>
              <a:rPr sz="1400" b="1" i="0">
                <a:solidFill>
                  <a:srgbClr val="0C1408"/>
                </a:solidFill>
                <a:latin typeface="Arial"/>
              </a:rPr>
              <a:t>A notebook</a:t>
            </a:r>
          </a:p>
        </p:txBody>
      </p:sp>
      <p:sp>
        <p:nvSpPr>
          <p:cNvPr id="22" name="TextBox 21"/>
          <p:cNvSpPr txBox="1"/>
          <p:nvPr/>
        </p:nvSpPr>
        <p:spPr>
          <a:xfrm>
            <a:off x="3172968" y="5212080"/>
            <a:ext cx="1691639" cy="320040"/>
          </a:xfrm>
          <a:prstGeom prst="rect">
            <a:avLst/>
          </a:prstGeom>
          <a:noFill/>
        </p:spPr>
        <p:txBody>
          <a:bodyPr wrap="square" lIns="0" rIns="0" tIns="0" bIns="0" anchor="t">
            <a:noAutofit/>
          </a:bodyPr>
          <a:lstStyle/>
          <a:p>
            <a:pPr algn="ctr">
              <a:lnSpc>
                <a:spcPct val="100000"/>
              </a:lnSpc>
            </a:pPr>
            <a:r>
              <a:rPr sz="1100" b="0" i="0">
                <a:solidFill>
                  <a:srgbClr val="5B6456"/>
                </a:solidFill>
                <a:latin typeface="Arial"/>
              </a:rPr>
              <a:t>the only record</a:t>
            </a:r>
          </a:p>
        </p:txBody>
      </p:sp>
      <p:cxnSp>
        <p:nvCxnSpPr>
          <p:cNvPr id="23" name="Connector 22"/>
          <p:cNvCxnSpPr/>
          <p:nvPr/>
        </p:nvCxnSpPr>
        <p:spPr>
          <a:xfrm>
            <a:off x="4018787" y="4206240"/>
            <a:ext cx="0" cy="640080"/>
          </a:xfrm>
          <a:prstGeom prst="line">
            <a:avLst/>
          </a:prstGeom>
          <a:ln w="9525">
            <a:solidFill>
              <a:srgbClr val="5B6456"/>
            </a:solidFill>
            <a:prstDash val="dash"/>
          </a:ln>
        </p:spPr>
      </p:cxnSp>
      <p:sp>
        <p:nvSpPr>
          <p:cNvPr id="24" name="Rectangle 23"/>
          <p:cNvSpPr/>
          <p:nvPr/>
        </p:nvSpPr>
        <p:spPr>
          <a:xfrm>
            <a:off x="3081528" y="2468880"/>
            <a:ext cx="91440" cy="91440"/>
          </a:xfrm>
          <a:prstGeom prst="rect">
            <a:avLst/>
          </a:prstGeom>
          <a:solidFill>
            <a:srgbClr val="B3261E"/>
          </a:solidFill>
          <a:ln>
            <a:noFill/>
          </a:ln>
        </p:spPr>
        <p:txBody>
          <a:bodyPr rtlCol="0" anchor="ctr" lIns="0" rIns="0"/>
          <a:lstStyle/>
          <a:p>
            <a:pPr algn="ctr"/>
          </a:p>
        </p:txBody>
      </p:sp>
      <p:sp>
        <p:nvSpPr>
          <p:cNvPr id="25" name="TextBox 24"/>
          <p:cNvSpPr txBox="1"/>
          <p:nvPr/>
        </p:nvSpPr>
        <p:spPr>
          <a:xfrm>
            <a:off x="3236976" y="2423160"/>
            <a:ext cx="2039112" cy="411480"/>
          </a:xfrm>
          <a:prstGeom prst="rect">
            <a:avLst/>
          </a:prstGeom>
          <a:noFill/>
        </p:spPr>
        <p:txBody>
          <a:bodyPr wrap="square" lIns="0" rIns="0" tIns="0" bIns="0" anchor="t">
            <a:noAutofit/>
          </a:bodyPr>
          <a:lstStyle/>
          <a:p>
            <a:pPr algn="l">
              <a:lnSpc>
                <a:spcPct val="100000"/>
              </a:lnSpc>
            </a:pPr>
            <a:r>
              <a:rPr sz="1200" b="0" i="0">
                <a:solidFill>
                  <a:srgbClr val="B3261E"/>
                </a:solidFill>
                <a:latin typeface="Arial"/>
              </a:rPr>
              <a:t>Can disappear with the pot</a:t>
            </a:r>
          </a:p>
        </p:txBody>
      </p:sp>
      <p:sp>
        <p:nvSpPr>
          <p:cNvPr id="26" name="Rectangle 25"/>
          <p:cNvSpPr/>
          <p:nvPr/>
        </p:nvSpPr>
        <p:spPr>
          <a:xfrm>
            <a:off x="5596128" y="2468880"/>
            <a:ext cx="91440" cy="91440"/>
          </a:xfrm>
          <a:prstGeom prst="rect">
            <a:avLst/>
          </a:prstGeom>
          <a:solidFill>
            <a:srgbClr val="B3261E"/>
          </a:solidFill>
          <a:ln>
            <a:noFill/>
          </a:ln>
        </p:spPr>
        <p:txBody>
          <a:bodyPr rtlCol="0" anchor="ctr" lIns="0" rIns="0"/>
          <a:lstStyle/>
          <a:p>
            <a:pPr algn="ctr"/>
          </a:p>
        </p:txBody>
      </p:sp>
      <p:sp>
        <p:nvSpPr>
          <p:cNvPr id="27" name="TextBox 26"/>
          <p:cNvSpPr txBox="1"/>
          <p:nvPr/>
        </p:nvSpPr>
        <p:spPr>
          <a:xfrm>
            <a:off x="5751576" y="2423160"/>
            <a:ext cx="1856232" cy="411480"/>
          </a:xfrm>
          <a:prstGeom prst="rect">
            <a:avLst/>
          </a:prstGeom>
          <a:noFill/>
        </p:spPr>
        <p:txBody>
          <a:bodyPr wrap="square" lIns="0" rIns="0" tIns="0" bIns="0" anchor="t">
            <a:noAutofit/>
          </a:bodyPr>
          <a:lstStyle/>
          <a:p>
            <a:pPr algn="l">
              <a:lnSpc>
                <a:spcPct val="100000"/>
              </a:lnSpc>
            </a:pPr>
            <a:r>
              <a:rPr sz="1200" b="0" i="0">
                <a:solidFill>
                  <a:srgbClr val="B3261E"/>
                </a:solidFill>
                <a:latin typeface="Arial"/>
              </a:rPr>
              <a:t>May stop paying after collecting</a:t>
            </a:r>
          </a:p>
        </p:txBody>
      </p:sp>
      <p:sp>
        <p:nvSpPr>
          <p:cNvPr id="28" name="Rectangle 27"/>
          <p:cNvSpPr/>
          <p:nvPr/>
        </p:nvSpPr>
        <p:spPr>
          <a:xfrm>
            <a:off x="3081528" y="5760720"/>
            <a:ext cx="91440" cy="91440"/>
          </a:xfrm>
          <a:prstGeom prst="rect">
            <a:avLst/>
          </a:prstGeom>
          <a:solidFill>
            <a:srgbClr val="B3261E"/>
          </a:solidFill>
          <a:ln>
            <a:noFill/>
          </a:ln>
        </p:spPr>
        <p:txBody>
          <a:bodyPr rtlCol="0" anchor="ctr" lIns="0" rIns="0"/>
          <a:lstStyle/>
          <a:p>
            <a:pPr algn="ctr"/>
          </a:p>
        </p:txBody>
      </p:sp>
      <p:sp>
        <p:nvSpPr>
          <p:cNvPr id="29" name="TextBox 28"/>
          <p:cNvSpPr txBox="1"/>
          <p:nvPr/>
        </p:nvSpPr>
        <p:spPr>
          <a:xfrm>
            <a:off x="3236976" y="5715000"/>
            <a:ext cx="2221992" cy="411480"/>
          </a:xfrm>
          <a:prstGeom prst="rect">
            <a:avLst/>
          </a:prstGeom>
          <a:noFill/>
        </p:spPr>
        <p:txBody>
          <a:bodyPr wrap="square" lIns="0" rIns="0" tIns="0" bIns="0" anchor="t">
            <a:noAutofit/>
          </a:bodyPr>
          <a:lstStyle/>
          <a:p>
            <a:pPr algn="l">
              <a:lnSpc>
                <a:spcPct val="100000"/>
              </a:lnSpc>
            </a:pPr>
            <a:r>
              <a:rPr sz="1200" b="0" i="0">
                <a:solidFill>
                  <a:srgbClr val="B3261E"/>
                </a:solidFill>
                <a:latin typeface="Arial"/>
              </a:rPr>
              <a:t>No record a lender can read</a:t>
            </a:r>
          </a:p>
        </p:txBody>
      </p:sp>
      <p:sp>
        <p:nvSpPr>
          <p:cNvPr id="30" name="Rectangle 29"/>
          <p:cNvSpPr/>
          <p:nvPr/>
        </p:nvSpPr>
        <p:spPr>
          <a:xfrm>
            <a:off x="566928" y="4526280"/>
            <a:ext cx="91440" cy="91440"/>
          </a:xfrm>
          <a:prstGeom prst="rect">
            <a:avLst/>
          </a:prstGeom>
          <a:solidFill>
            <a:srgbClr val="B3261E"/>
          </a:solidFill>
          <a:ln>
            <a:noFill/>
          </a:ln>
        </p:spPr>
        <p:txBody>
          <a:bodyPr rtlCol="0" anchor="ctr" lIns="0" rIns="0"/>
          <a:lstStyle/>
          <a:p>
            <a:pPr algn="ctr"/>
          </a:p>
        </p:txBody>
      </p:sp>
      <p:sp>
        <p:nvSpPr>
          <p:cNvPr id="31" name="TextBox 30"/>
          <p:cNvSpPr txBox="1"/>
          <p:nvPr/>
        </p:nvSpPr>
        <p:spPr>
          <a:xfrm>
            <a:off x="722376" y="4480560"/>
            <a:ext cx="1764792" cy="411480"/>
          </a:xfrm>
          <a:prstGeom prst="rect">
            <a:avLst/>
          </a:prstGeom>
          <a:noFill/>
        </p:spPr>
        <p:txBody>
          <a:bodyPr wrap="square" lIns="0" rIns="0" tIns="0" bIns="0" anchor="t">
            <a:noAutofit/>
          </a:bodyPr>
          <a:lstStyle/>
          <a:p>
            <a:pPr algn="l">
              <a:lnSpc>
                <a:spcPct val="100000"/>
              </a:lnSpc>
            </a:pPr>
            <a:r>
              <a:rPr sz="1200" b="0" i="0">
                <a:solidFill>
                  <a:srgbClr val="B3261E"/>
                </a:solidFill>
                <a:latin typeface="Arial"/>
              </a:rPr>
              <a:t>Savings otherwise kept as cash at home</a:t>
            </a:r>
          </a:p>
        </p:txBody>
      </p:sp>
      <p:cxnSp>
        <p:nvCxnSpPr>
          <p:cNvPr id="32" name="Connector 31"/>
          <p:cNvCxnSpPr/>
          <p:nvPr/>
        </p:nvCxnSpPr>
        <p:spPr>
          <a:xfrm>
            <a:off x="8092440" y="1874519"/>
            <a:ext cx="0" cy="4069081"/>
          </a:xfrm>
          <a:prstGeom prst="line">
            <a:avLst/>
          </a:prstGeom>
          <a:ln w="9525">
            <a:solidFill>
              <a:srgbClr val="D5DCD1"/>
            </a:solidFill>
          </a:ln>
        </p:spPr>
      </p:cxnSp>
      <p:sp>
        <p:nvSpPr>
          <p:cNvPr id="33" name="TextBox 32"/>
          <p:cNvSpPr txBox="1"/>
          <p:nvPr/>
        </p:nvSpPr>
        <p:spPr>
          <a:xfrm>
            <a:off x="8412480" y="1874519"/>
            <a:ext cx="3200400" cy="548640"/>
          </a:xfrm>
          <a:prstGeom prst="rect">
            <a:avLst/>
          </a:prstGeom>
          <a:noFill/>
        </p:spPr>
        <p:txBody>
          <a:bodyPr wrap="square" lIns="0" rIns="0" tIns="0" bIns="0" anchor="t">
            <a:noAutofit/>
          </a:bodyPr>
          <a:lstStyle/>
          <a:p>
            <a:pPr algn="l">
              <a:lnSpc>
                <a:spcPct val="110000"/>
              </a:lnSpc>
            </a:pPr>
            <a:r>
              <a:rPr sz="3000" b="0" i="0">
                <a:solidFill>
                  <a:srgbClr val="B3261E"/>
                </a:solidFill>
                <a:latin typeface="Georgia"/>
              </a:rPr>
              <a:t>12%</a:t>
            </a:r>
          </a:p>
        </p:txBody>
      </p:sp>
      <p:sp>
        <p:nvSpPr>
          <p:cNvPr id="34" name="TextBox 33"/>
          <p:cNvSpPr txBox="1"/>
          <p:nvPr/>
        </p:nvSpPr>
        <p:spPr>
          <a:xfrm>
            <a:off x="8412480" y="2441448"/>
            <a:ext cx="3200400" cy="548640"/>
          </a:xfrm>
          <a:prstGeom prst="rect">
            <a:avLst/>
          </a:prstGeom>
          <a:noFill/>
        </p:spPr>
        <p:txBody>
          <a:bodyPr wrap="square" lIns="0" rIns="0" tIns="0" bIns="0" anchor="t">
            <a:noAutofit/>
          </a:bodyPr>
          <a:lstStyle/>
          <a:p>
            <a:pPr algn="l">
              <a:lnSpc>
                <a:spcPct val="110000"/>
              </a:lnSpc>
            </a:pPr>
            <a:r>
              <a:rPr sz="1300" b="0" i="0">
                <a:solidFill>
                  <a:srgbClr val="0C1408"/>
                </a:solidFill>
                <a:latin typeface="Arial"/>
              </a:rPr>
              <a:t>of committee users lost money to fraud [1]</a:t>
            </a:r>
          </a:p>
        </p:txBody>
      </p:sp>
      <p:sp>
        <p:nvSpPr>
          <p:cNvPr id="35" name="TextBox 34"/>
          <p:cNvSpPr txBox="1"/>
          <p:nvPr/>
        </p:nvSpPr>
        <p:spPr>
          <a:xfrm>
            <a:off x="8412480" y="3200400"/>
            <a:ext cx="3200400" cy="548640"/>
          </a:xfrm>
          <a:prstGeom prst="rect">
            <a:avLst/>
          </a:prstGeom>
          <a:noFill/>
        </p:spPr>
        <p:txBody>
          <a:bodyPr wrap="square" lIns="0" rIns="0" tIns="0" bIns="0" anchor="t">
            <a:noAutofit/>
          </a:bodyPr>
          <a:lstStyle/>
          <a:p>
            <a:pPr algn="l">
              <a:lnSpc>
                <a:spcPct val="110000"/>
              </a:lnSpc>
            </a:pPr>
            <a:r>
              <a:rPr sz="3000" b="0" i="0">
                <a:solidFill>
                  <a:srgbClr val="B3261E"/>
                </a:solidFill>
                <a:latin typeface="Georgia"/>
              </a:rPr>
              <a:t>Rs 420 million</a:t>
            </a:r>
          </a:p>
        </p:txBody>
      </p:sp>
      <p:sp>
        <p:nvSpPr>
          <p:cNvPr id="36" name="TextBox 35"/>
          <p:cNvSpPr txBox="1"/>
          <p:nvPr/>
        </p:nvSpPr>
        <p:spPr>
          <a:xfrm>
            <a:off x="8412480" y="3767328"/>
            <a:ext cx="3200400" cy="548640"/>
          </a:xfrm>
          <a:prstGeom prst="rect">
            <a:avLst/>
          </a:prstGeom>
          <a:noFill/>
        </p:spPr>
        <p:txBody>
          <a:bodyPr wrap="square" lIns="0" rIns="0" tIns="0" bIns="0" anchor="t">
            <a:noAutofit/>
          </a:bodyPr>
          <a:lstStyle/>
          <a:p>
            <a:pPr algn="l">
              <a:lnSpc>
                <a:spcPct val="110000"/>
              </a:lnSpc>
            </a:pPr>
            <a:r>
              <a:rPr sz="1300" b="0" i="0">
                <a:solidFill>
                  <a:srgbClr val="0C1408"/>
                </a:solidFill>
                <a:latin typeface="Arial"/>
              </a:rPr>
              <a:t>taken from 117 committees by one organiser, 2022 [2]</a:t>
            </a:r>
          </a:p>
        </p:txBody>
      </p:sp>
      <p:sp>
        <p:nvSpPr>
          <p:cNvPr id="37" name="TextBox 36"/>
          <p:cNvSpPr txBox="1"/>
          <p:nvPr/>
        </p:nvSpPr>
        <p:spPr>
          <a:xfrm>
            <a:off x="8412480" y="4526280"/>
            <a:ext cx="3200400" cy="548640"/>
          </a:xfrm>
          <a:prstGeom prst="rect">
            <a:avLst/>
          </a:prstGeom>
          <a:noFill/>
        </p:spPr>
        <p:txBody>
          <a:bodyPr wrap="square" lIns="0" rIns="0" tIns="0" bIns="0" anchor="t">
            <a:noAutofit/>
          </a:bodyPr>
          <a:lstStyle/>
          <a:p>
            <a:pPr algn="l">
              <a:lnSpc>
                <a:spcPct val="110000"/>
              </a:lnSpc>
            </a:pPr>
            <a:r>
              <a:rPr sz="3000" b="0" i="0">
                <a:solidFill>
                  <a:srgbClr val="B3261E"/>
                </a:solidFill>
                <a:latin typeface="Georgia"/>
              </a:rPr>
              <a:t>63%</a:t>
            </a:r>
          </a:p>
        </p:txBody>
      </p:sp>
      <p:sp>
        <p:nvSpPr>
          <p:cNvPr id="38" name="TextBox 37"/>
          <p:cNvSpPr txBox="1"/>
          <p:nvPr/>
        </p:nvSpPr>
        <p:spPr>
          <a:xfrm>
            <a:off x="8412480" y="5093208"/>
            <a:ext cx="3200400" cy="548640"/>
          </a:xfrm>
          <a:prstGeom prst="rect">
            <a:avLst/>
          </a:prstGeom>
          <a:noFill/>
        </p:spPr>
        <p:txBody>
          <a:bodyPr wrap="square" lIns="0" rIns="0" tIns="0" bIns="0" anchor="t">
            <a:noAutofit/>
          </a:bodyPr>
          <a:lstStyle/>
          <a:p>
            <a:pPr algn="l">
              <a:lnSpc>
                <a:spcPct val="110000"/>
              </a:lnSpc>
            </a:pPr>
            <a:r>
              <a:rPr sz="1300" b="0" i="0">
                <a:solidFill>
                  <a:srgbClr val="0C1408"/>
                </a:solidFill>
                <a:latin typeface="Arial"/>
              </a:rPr>
              <a:t>of savers keep savings as cash at home [1]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9509760" cy="566928"/>
          </a:xfrm>
          <a:prstGeom prst="rect">
            <a:avLst/>
          </a:prstGeom>
          <a:noFill/>
        </p:spPr>
        <p:txBody>
          <a:bodyPr wrap="square" lIns="0" rIns="0" tIns="0" bIns="0" anchor="t">
            <a:noAutofit/>
          </a:bodyPr>
          <a:lstStyle/>
          <a:p>
            <a:pPr algn="l">
              <a:lnSpc>
                <a:spcPct val="110000"/>
              </a:lnSpc>
            </a:pPr>
            <a:r>
              <a:rPr sz="2800" b="0" i="0">
                <a:solidFill>
                  <a:srgbClr val="41801A"/>
                </a:solidFill>
                <a:latin typeface="Georgia"/>
              </a:rPr>
              <a:t>The Proposal</a:t>
            </a:r>
          </a:p>
        </p:txBody>
      </p:sp>
      <p:sp>
        <p:nvSpPr>
          <p:cNvPr id="3" name="TextBox 2"/>
          <p:cNvSpPr txBox="1"/>
          <p:nvPr/>
        </p:nvSpPr>
        <p:spPr>
          <a:xfrm>
            <a:off x="566928" y="987552"/>
            <a:ext cx="11057839" cy="411480"/>
          </a:xfrm>
          <a:prstGeom prst="rect">
            <a:avLst/>
          </a:prstGeom>
          <a:noFill/>
        </p:spPr>
        <p:txBody>
          <a:bodyPr wrap="square" lIns="0" rIns="0" tIns="0" bIns="0" anchor="t">
            <a:noAutofit/>
          </a:bodyPr>
          <a:lstStyle/>
          <a:p>
            <a:pPr algn="l">
              <a:lnSpc>
                <a:spcPct val="110000"/>
              </a:lnSpc>
            </a:pPr>
            <a:r>
              <a:rPr sz="1800" b="0" i="0">
                <a:solidFill>
                  <a:srgbClr val="0C1408"/>
                </a:solidFill>
                <a:latin typeface="Arial"/>
              </a:rPr>
              <a:t>Halqa is the system. Mashreq is the machine. Every rupee stays inside Mashreq.</a:t>
            </a:r>
          </a:p>
        </p:txBody>
      </p:sp>
      <p:pic>
        <p:nvPicPr>
          <p:cNvPr id="4" name="Picture 3" descr="halqa_logo.png"/>
          <p:cNvPicPr>
            <a:picLocks noChangeAspect="1"/>
          </p:cNvPicPr>
          <p:nvPr/>
        </p:nvPicPr>
        <p:blipFill>
          <a:blip r:embed="rId3"/>
          <a:stretch>
            <a:fillRect/>
          </a:stretch>
        </p:blipFill>
        <p:spPr>
          <a:xfrm>
            <a:off x="10600639" y="457200"/>
            <a:ext cx="1023202" cy="310896"/>
          </a:xfrm>
          <a:prstGeom prst="rect">
            <a:avLst/>
          </a:prstGeom>
        </p:spPr>
      </p:pic>
      <p:sp>
        <p:nvSpPr>
          <p:cNvPr id="5" name="TextBox 4"/>
          <p:cNvSpPr txBox="1"/>
          <p:nvPr/>
        </p:nvSpPr>
        <p:spPr>
          <a:xfrm>
            <a:off x="11076127" y="6355080"/>
            <a:ext cx="548640" cy="228600"/>
          </a:xfrm>
          <a:prstGeom prst="rect">
            <a:avLst/>
          </a:prstGeom>
          <a:noFill/>
        </p:spPr>
        <p:txBody>
          <a:bodyPr wrap="square" lIns="0" rIns="0" tIns="0" bIns="0" anchor="t">
            <a:noAutofit/>
          </a:bodyPr>
          <a:lstStyle/>
          <a:p>
            <a:pPr algn="r">
              <a:lnSpc>
                <a:spcPct val="110000"/>
              </a:lnSpc>
            </a:pPr>
            <a:r>
              <a:rPr sz="1000" b="0" i="0">
                <a:solidFill>
                  <a:srgbClr val="5B6456"/>
                </a:solidFill>
                <a:latin typeface="Arial"/>
              </a:rPr>
              <a:t>6</a:t>
            </a:r>
          </a:p>
        </p:txBody>
      </p:sp>
      <p:sp>
        <p:nvSpPr>
          <p:cNvPr id="6" name="Rectangle 5"/>
          <p:cNvSpPr/>
          <p:nvPr/>
        </p:nvSpPr>
        <p:spPr>
          <a:xfrm>
            <a:off x="2670048" y="1783080"/>
            <a:ext cx="2468880" cy="868680"/>
          </a:xfrm>
          <a:prstGeom prst="rect">
            <a:avLst/>
          </a:prstGeom>
          <a:solidFill>
            <a:srgbClr val="F3FCE7"/>
          </a:solidFill>
          <a:ln w="12700">
            <a:solidFill>
              <a:srgbClr val="41801A"/>
            </a:solidFill>
          </a:ln>
        </p:spPr>
        <p:txBody>
          <a:bodyPr rtlCol="0" anchor="ctr" lIns="0" rIns="0"/>
          <a:lstStyle/>
          <a:p>
            <a:pPr algn="ctr"/>
          </a:p>
        </p:txBody>
      </p:sp>
      <p:sp>
        <p:nvSpPr>
          <p:cNvPr id="7" name="TextBox 6"/>
          <p:cNvSpPr txBox="1"/>
          <p:nvPr/>
        </p:nvSpPr>
        <p:spPr>
          <a:xfrm>
            <a:off x="2761488" y="1856231"/>
            <a:ext cx="2286000" cy="274320"/>
          </a:xfrm>
          <a:prstGeom prst="rect">
            <a:avLst/>
          </a:prstGeom>
          <a:noFill/>
        </p:spPr>
        <p:txBody>
          <a:bodyPr wrap="square" lIns="0" rIns="0" tIns="0" bIns="0" anchor="t">
            <a:noAutofit/>
          </a:bodyPr>
          <a:lstStyle/>
          <a:p>
            <a:pPr algn="ctr">
              <a:lnSpc>
                <a:spcPct val="110000"/>
              </a:lnSpc>
            </a:pPr>
            <a:r>
              <a:rPr sz="1400" b="1" i="0">
                <a:solidFill>
                  <a:srgbClr val="41801A"/>
                </a:solidFill>
                <a:latin typeface="Arial"/>
              </a:rPr>
              <a:t>Halqa</a:t>
            </a:r>
          </a:p>
        </p:txBody>
      </p:sp>
      <p:sp>
        <p:nvSpPr>
          <p:cNvPr id="8" name="TextBox 7"/>
          <p:cNvSpPr txBox="1"/>
          <p:nvPr/>
        </p:nvSpPr>
        <p:spPr>
          <a:xfrm>
            <a:off x="2761488" y="2148840"/>
            <a:ext cx="2286000" cy="457199"/>
          </a:xfrm>
          <a:prstGeom prst="rect">
            <a:avLst/>
          </a:prstGeom>
          <a:noFill/>
        </p:spPr>
        <p:txBody>
          <a:bodyPr wrap="square" lIns="0" rIns="0" tIns="0" bIns="0" anchor="t">
            <a:noAutofit/>
          </a:bodyPr>
          <a:lstStyle/>
          <a:p>
            <a:pPr algn="ctr">
              <a:lnSpc>
                <a:spcPct val="100000"/>
              </a:lnSpc>
            </a:pPr>
            <a:r>
              <a:rPr sz="1100" b="0" i="0">
                <a:solidFill>
                  <a:srgbClr val="5B6456"/>
                </a:solidFill>
                <a:latin typeface="Arial"/>
              </a:rPr>
              <a:t>rules, turns, checks, records</a:t>
            </a:r>
          </a:p>
        </p:txBody>
      </p:sp>
      <p:sp>
        <p:nvSpPr>
          <p:cNvPr id="9" name="Rectangle 8"/>
          <p:cNvSpPr/>
          <p:nvPr/>
        </p:nvSpPr>
        <p:spPr>
          <a:xfrm>
            <a:off x="566928" y="3520439"/>
            <a:ext cx="6675120" cy="2148840"/>
          </a:xfrm>
          <a:prstGeom prst="rect">
            <a:avLst/>
          </a:prstGeom>
          <a:noFill/>
          <a:ln w="19050">
            <a:solidFill>
              <a:srgbClr val="E0602A"/>
            </a:solidFill>
          </a:ln>
        </p:spPr>
        <p:txBody>
          <a:bodyPr rtlCol="0" anchor="ctr" lIns="0" rIns="0"/>
          <a:lstStyle/>
          <a:p>
            <a:pPr algn="ctr"/>
          </a:p>
        </p:txBody>
      </p:sp>
      <p:sp>
        <p:nvSpPr>
          <p:cNvPr id="10" name="TextBox 9"/>
          <p:cNvSpPr txBox="1"/>
          <p:nvPr/>
        </p:nvSpPr>
        <p:spPr>
          <a:xfrm>
            <a:off x="704088" y="3611879"/>
            <a:ext cx="6400800" cy="274320"/>
          </a:xfrm>
          <a:prstGeom prst="rect">
            <a:avLst/>
          </a:prstGeom>
          <a:noFill/>
        </p:spPr>
        <p:txBody>
          <a:bodyPr wrap="square" lIns="0" rIns="0" tIns="0" bIns="0" anchor="t">
            <a:noAutofit/>
          </a:bodyPr>
          <a:lstStyle/>
          <a:p>
            <a:pPr algn="l">
              <a:lnSpc>
                <a:spcPct val="110000"/>
              </a:lnSpc>
            </a:pPr>
            <a:r>
              <a:rPr sz="1300" b="1" i="0">
                <a:solidFill>
                  <a:srgbClr val="E0602A"/>
                </a:solidFill>
                <a:latin typeface="Arial"/>
              </a:rPr>
              <a:t>Inside Mashreq Bank Pakistan</a:t>
            </a:r>
          </a:p>
        </p:txBody>
      </p:sp>
      <p:sp>
        <p:nvSpPr>
          <p:cNvPr id="11" name="Rectangle 10"/>
          <p:cNvSpPr/>
          <p:nvPr/>
        </p:nvSpPr>
        <p:spPr>
          <a:xfrm>
            <a:off x="795528" y="4178807"/>
            <a:ext cx="1783080" cy="914400"/>
          </a:xfrm>
          <a:prstGeom prst="rect">
            <a:avLst/>
          </a:prstGeom>
          <a:solidFill>
            <a:srgbClr val="FFFFFF"/>
          </a:solidFill>
          <a:ln w="12700">
            <a:solidFill>
              <a:srgbClr val="0C1408"/>
            </a:solidFill>
          </a:ln>
        </p:spPr>
        <p:txBody>
          <a:bodyPr rtlCol="0" anchor="ctr" lIns="0" rIns="0"/>
          <a:lstStyle/>
          <a:p>
            <a:pPr algn="ctr"/>
          </a:p>
        </p:txBody>
      </p:sp>
      <p:sp>
        <p:nvSpPr>
          <p:cNvPr id="12" name="TextBox 11"/>
          <p:cNvSpPr txBox="1"/>
          <p:nvPr/>
        </p:nvSpPr>
        <p:spPr>
          <a:xfrm>
            <a:off x="886968" y="4251959"/>
            <a:ext cx="1600200" cy="274320"/>
          </a:xfrm>
          <a:prstGeom prst="rect">
            <a:avLst/>
          </a:prstGeom>
          <a:noFill/>
        </p:spPr>
        <p:txBody>
          <a:bodyPr wrap="square" lIns="0" rIns="0" tIns="0" bIns="0" anchor="t">
            <a:noAutofit/>
          </a:bodyPr>
          <a:lstStyle/>
          <a:p>
            <a:pPr algn="ctr">
              <a:lnSpc>
                <a:spcPct val="110000"/>
              </a:lnSpc>
            </a:pPr>
            <a:r>
              <a:rPr sz="1300" b="1" i="0">
                <a:solidFill>
                  <a:srgbClr val="0C1408"/>
                </a:solidFill>
                <a:latin typeface="Arial"/>
              </a:rPr>
              <a:t>Members' accounts</a:t>
            </a:r>
          </a:p>
        </p:txBody>
      </p:sp>
      <p:sp>
        <p:nvSpPr>
          <p:cNvPr id="13" name="TextBox 12"/>
          <p:cNvSpPr txBox="1"/>
          <p:nvPr/>
        </p:nvSpPr>
        <p:spPr>
          <a:xfrm>
            <a:off x="886968" y="4544568"/>
            <a:ext cx="1600200" cy="502920"/>
          </a:xfrm>
          <a:prstGeom prst="rect">
            <a:avLst/>
          </a:prstGeom>
          <a:noFill/>
        </p:spPr>
        <p:txBody>
          <a:bodyPr wrap="square" lIns="0" rIns="0" tIns="0" bIns="0" anchor="t">
            <a:noAutofit/>
          </a:bodyPr>
          <a:lstStyle/>
          <a:p>
            <a:pPr algn="ctr">
              <a:lnSpc>
                <a:spcPct val="100000"/>
              </a:lnSpc>
            </a:pPr>
            <a:r>
              <a:rPr sz="1100" b="0" i="0">
                <a:solidFill>
                  <a:srgbClr val="5B6456"/>
                </a:solidFill>
                <a:latin typeface="Arial"/>
              </a:rPr>
              <a:t>Rs 10,000 debited from each</a:t>
            </a:r>
          </a:p>
        </p:txBody>
      </p:sp>
      <p:sp>
        <p:nvSpPr>
          <p:cNvPr id="14" name="Rectangle 13"/>
          <p:cNvSpPr/>
          <p:nvPr/>
        </p:nvSpPr>
        <p:spPr>
          <a:xfrm>
            <a:off x="3008376" y="4178807"/>
            <a:ext cx="1783080" cy="914400"/>
          </a:xfrm>
          <a:prstGeom prst="rect">
            <a:avLst/>
          </a:prstGeom>
          <a:solidFill>
            <a:srgbClr val="FFFFFF"/>
          </a:solidFill>
          <a:ln w="12700">
            <a:solidFill>
              <a:srgbClr val="0C1408"/>
            </a:solidFill>
          </a:ln>
        </p:spPr>
        <p:txBody>
          <a:bodyPr rtlCol="0" anchor="ctr" lIns="0" rIns="0"/>
          <a:lstStyle/>
          <a:p>
            <a:pPr algn="ctr"/>
          </a:p>
        </p:txBody>
      </p:sp>
      <p:sp>
        <p:nvSpPr>
          <p:cNvPr id="15" name="TextBox 14"/>
          <p:cNvSpPr txBox="1"/>
          <p:nvPr/>
        </p:nvSpPr>
        <p:spPr>
          <a:xfrm>
            <a:off x="3099816" y="4251959"/>
            <a:ext cx="1600200" cy="274320"/>
          </a:xfrm>
          <a:prstGeom prst="rect">
            <a:avLst/>
          </a:prstGeom>
          <a:noFill/>
        </p:spPr>
        <p:txBody>
          <a:bodyPr wrap="square" lIns="0" rIns="0" tIns="0" bIns="0" anchor="t">
            <a:noAutofit/>
          </a:bodyPr>
          <a:lstStyle/>
          <a:p>
            <a:pPr algn="ctr">
              <a:lnSpc>
                <a:spcPct val="110000"/>
              </a:lnSpc>
            </a:pPr>
            <a:r>
              <a:rPr sz="1300" b="1" i="0">
                <a:solidFill>
                  <a:srgbClr val="0C1408"/>
                </a:solidFill>
                <a:latin typeface="Arial"/>
              </a:rPr>
              <a:t>Circle account</a:t>
            </a:r>
          </a:p>
        </p:txBody>
      </p:sp>
      <p:sp>
        <p:nvSpPr>
          <p:cNvPr id="16" name="TextBox 15"/>
          <p:cNvSpPr txBox="1"/>
          <p:nvPr/>
        </p:nvSpPr>
        <p:spPr>
          <a:xfrm>
            <a:off x="3099816" y="4544568"/>
            <a:ext cx="1600200" cy="502920"/>
          </a:xfrm>
          <a:prstGeom prst="rect">
            <a:avLst/>
          </a:prstGeom>
          <a:noFill/>
        </p:spPr>
        <p:txBody>
          <a:bodyPr wrap="square" lIns="0" rIns="0" tIns="0" bIns="0" anchor="t">
            <a:noAutofit/>
          </a:bodyPr>
          <a:lstStyle/>
          <a:p>
            <a:pPr algn="ctr">
              <a:lnSpc>
                <a:spcPct val="100000"/>
              </a:lnSpc>
            </a:pPr>
            <a:r>
              <a:rPr sz="1100" b="0" i="0">
                <a:solidFill>
                  <a:srgbClr val="5B6456"/>
                </a:solidFill>
                <a:latin typeface="Arial"/>
              </a:rPr>
              <a:t>the pot gathers on the due date</a:t>
            </a:r>
          </a:p>
        </p:txBody>
      </p:sp>
      <p:sp>
        <p:nvSpPr>
          <p:cNvPr id="17" name="Rectangle 16"/>
          <p:cNvSpPr/>
          <p:nvPr/>
        </p:nvSpPr>
        <p:spPr>
          <a:xfrm>
            <a:off x="5230368" y="4178807"/>
            <a:ext cx="1783080" cy="914400"/>
          </a:xfrm>
          <a:prstGeom prst="rect">
            <a:avLst/>
          </a:prstGeom>
          <a:solidFill>
            <a:srgbClr val="FFFFFF"/>
          </a:solidFill>
          <a:ln w="12700">
            <a:solidFill>
              <a:srgbClr val="0C1408"/>
            </a:solidFill>
          </a:ln>
        </p:spPr>
        <p:txBody>
          <a:bodyPr rtlCol="0" anchor="ctr" lIns="0" rIns="0"/>
          <a:lstStyle/>
          <a:p>
            <a:pPr algn="ctr"/>
          </a:p>
        </p:txBody>
      </p:sp>
      <p:sp>
        <p:nvSpPr>
          <p:cNvPr id="18" name="TextBox 17"/>
          <p:cNvSpPr txBox="1"/>
          <p:nvPr/>
        </p:nvSpPr>
        <p:spPr>
          <a:xfrm>
            <a:off x="5321807" y="4251959"/>
            <a:ext cx="1600200" cy="274320"/>
          </a:xfrm>
          <a:prstGeom prst="rect">
            <a:avLst/>
          </a:prstGeom>
          <a:noFill/>
        </p:spPr>
        <p:txBody>
          <a:bodyPr wrap="square" lIns="0" rIns="0" tIns="0" bIns="0" anchor="t">
            <a:noAutofit/>
          </a:bodyPr>
          <a:lstStyle/>
          <a:p>
            <a:pPr algn="ctr">
              <a:lnSpc>
                <a:spcPct val="110000"/>
              </a:lnSpc>
            </a:pPr>
            <a:r>
              <a:rPr sz="1300" b="1" i="0">
                <a:solidFill>
                  <a:srgbClr val="0C1408"/>
                </a:solidFill>
                <a:latin typeface="Arial"/>
              </a:rPr>
              <a:t>Collector's account</a:t>
            </a:r>
          </a:p>
        </p:txBody>
      </p:sp>
      <p:sp>
        <p:nvSpPr>
          <p:cNvPr id="19" name="TextBox 18"/>
          <p:cNvSpPr txBox="1"/>
          <p:nvPr/>
        </p:nvSpPr>
        <p:spPr>
          <a:xfrm>
            <a:off x="5321807" y="4544568"/>
            <a:ext cx="1600200" cy="502920"/>
          </a:xfrm>
          <a:prstGeom prst="rect">
            <a:avLst/>
          </a:prstGeom>
          <a:noFill/>
        </p:spPr>
        <p:txBody>
          <a:bodyPr wrap="square" lIns="0" rIns="0" tIns="0" bIns="0" anchor="t">
            <a:noAutofit/>
          </a:bodyPr>
          <a:lstStyle/>
          <a:p>
            <a:pPr algn="ctr">
              <a:lnSpc>
                <a:spcPct val="100000"/>
              </a:lnSpc>
            </a:pPr>
            <a:r>
              <a:rPr sz="1100" b="0" i="0">
                <a:solidFill>
                  <a:srgbClr val="5B6456"/>
                </a:solidFill>
                <a:latin typeface="Arial"/>
              </a:rPr>
              <a:t>Rs 120,000, the same day</a:t>
            </a:r>
          </a:p>
        </p:txBody>
      </p:sp>
      <p:cxnSp>
        <p:nvCxnSpPr>
          <p:cNvPr id="20" name="Connector 19"/>
          <p:cNvCxnSpPr/>
          <p:nvPr/>
        </p:nvCxnSpPr>
        <p:spPr>
          <a:xfrm>
            <a:off x="2578608" y="4636007"/>
            <a:ext cx="429768" cy="0"/>
          </a:xfrm>
          <a:prstGeom prst="line">
            <a:avLst/>
          </a:prstGeom>
          <a:ln w="50800">
            <a:solidFill>
              <a:srgbClr val="6DC72A"/>
            </a:solidFill>
            <a:tailEnd type="triangle" w="med" len="med"/>
          </a:ln>
        </p:spPr>
      </p:cxnSp>
      <p:cxnSp>
        <p:nvCxnSpPr>
          <p:cNvPr id="21" name="Connector 20"/>
          <p:cNvCxnSpPr/>
          <p:nvPr/>
        </p:nvCxnSpPr>
        <p:spPr>
          <a:xfrm>
            <a:off x="4791456" y="4636007"/>
            <a:ext cx="438912" cy="0"/>
          </a:xfrm>
          <a:prstGeom prst="line">
            <a:avLst/>
          </a:prstGeom>
          <a:ln w="50800">
            <a:solidFill>
              <a:srgbClr val="6DC72A"/>
            </a:solidFill>
            <a:tailEnd type="triangle" w="med" len="med"/>
          </a:ln>
        </p:spPr>
      </p:cxnSp>
      <p:cxnSp>
        <p:nvCxnSpPr>
          <p:cNvPr id="22" name="Connector 21"/>
          <p:cNvCxnSpPr/>
          <p:nvPr/>
        </p:nvCxnSpPr>
        <p:spPr>
          <a:xfrm>
            <a:off x="3401568" y="2651760"/>
            <a:ext cx="0" cy="868679"/>
          </a:xfrm>
          <a:prstGeom prst="line">
            <a:avLst/>
          </a:prstGeom>
          <a:ln w="12700">
            <a:solidFill>
              <a:srgbClr val="0C1408"/>
            </a:solidFill>
            <a:tailEnd type="triangle" w="med" len="med"/>
          </a:ln>
        </p:spPr>
      </p:cxnSp>
      <p:cxnSp>
        <p:nvCxnSpPr>
          <p:cNvPr id="23" name="Connector 22"/>
          <p:cNvCxnSpPr/>
          <p:nvPr/>
        </p:nvCxnSpPr>
        <p:spPr>
          <a:xfrm flipV="1">
            <a:off x="4407408" y="2651760"/>
            <a:ext cx="0" cy="868679"/>
          </a:xfrm>
          <a:prstGeom prst="line">
            <a:avLst/>
          </a:prstGeom>
          <a:ln w="12700">
            <a:solidFill>
              <a:srgbClr val="0C1408"/>
            </a:solidFill>
            <a:tailEnd type="triangle" w="med" len="med"/>
          </a:ln>
        </p:spPr>
      </p:cxnSp>
      <p:sp>
        <p:nvSpPr>
          <p:cNvPr id="24" name="TextBox 23"/>
          <p:cNvSpPr txBox="1"/>
          <p:nvPr/>
        </p:nvSpPr>
        <p:spPr>
          <a:xfrm>
            <a:off x="566928" y="2880360"/>
            <a:ext cx="2743200" cy="457200"/>
          </a:xfrm>
          <a:prstGeom prst="rect">
            <a:avLst/>
          </a:prstGeom>
          <a:noFill/>
        </p:spPr>
        <p:txBody>
          <a:bodyPr wrap="square" lIns="0" rIns="0" tIns="0" bIns="0" anchor="t">
            <a:noAutofit/>
          </a:bodyPr>
          <a:lstStyle/>
          <a:p>
            <a:pPr algn="r">
              <a:lnSpc>
                <a:spcPct val="110000"/>
              </a:lnSpc>
            </a:pPr>
            <a:r>
              <a:rPr sz="1100" b="0" i="0">
                <a:solidFill>
                  <a:srgbClr val="5B6456"/>
                </a:solidFill>
                <a:latin typeface="Arial"/>
              </a:rPr>
              <a:t>instructions</a:t>
            </a:r>
          </a:p>
        </p:txBody>
      </p:sp>
      <p:sp>
        <p:nvSpPr>
          <p:cNvPr id="25" name="TextBox 24"/>
          <p:cNvSpPr txBox="1"/>
          <p:nvPr/>
        </p:nvSpPr>
        <p:spPr>
          <a:xfrm>
            <a:off x="4544568" y="2880360"/>
            <a:ext cx="2194560" cy="457200"/>
          </a:xfrm>
          <a:prstGeom prst="rect">
            <a:avLst/>
          </a:prstGeom>
          <a:noFill/>
        </p:spPr>
        <p:txBody>
          <a:bodyPr wrap="square" lIns="0" rIns="0" tIns="0" bIns="0" anchor="t">
            <a:noAutofit/>
          </a:bodyPr>
          <a:lstStyle/>
          <a:p>
            <a:pPr algn="l">
              <a:lnSpc>
                <a:spcPct val="110000"/>
              </a:lnSpc>
            </a:pPr>
            <a:r>
              <a:rPr sz="1100" b="0" i="0">
                <a:solidFill>
                  <a:srgbClr val="5B6456"/>
                </a:solidFill>
                <a:latin typeface="Arial"/>
              </a:rPr>
              <a:t>confirmations</a:t>
            </a:r>
          </a:p>
        </p:txBody>
      </p:sp>
      <p:cxnSp>
        <p:nvCxnSpPr>
          <p:cNvPr id="26" name="Connector 25"/>
          <p:cNvCxnSpPr/>
          <p:nvPr/>
        </p:nvCxnSpPr>
        <p:spPr>
          <a:xfrm>
            <a:off x="566928" y="1892807"/>
            <a:ext cx="457200" cy="0"/>
          </a:xfrm>
          <a:prstGeom prst="line">
            <a:avLst/>
          </a:prstGeom>
          <a:ln w="50800">
            <a:solidFill>
              <a:srgbClr val="6DC72A"/>
            </a:solidFill>
          </a:ln>
        </p:spPr>
      </p:cxnSp>
      <p:sp>
        <p:nvSpPr>
          <p:cNvPr id="27" name="TextBox 26"/>
          <p:cNvSpPr txBox="1"/>
          <p:nvPr/>
        </p:nvSpPr>
        <p:spPr>
          <a:xfrm>
            <a:off x="1115568" y="1783080"/>
            <a:ext cx="1097280" cy="228600"/>
          </a:xfrm>
          <a:prstGeom prst="rect">
            <a:avLst/>
          </a:prstGeom>
          <a:noFill/>
        </p:spPr>
        <p:txBody>
          <a:bodyPr wrap="square" lIns="0" rIns="0" tIns="0" bIns="0" anchor="t">
            <a:noAutofit/>
          </a:bodyPr>
          <a:lstStyle/>
          <a:p>
            <a:pPr algn="l">
              <a:lnSpc>
                <a:spcPct val="110000"/>
              </a:lnSpc>
            </a:pPr>
            <a:r>
              <a:rPr sz="1100" b="0" i="0">
                <a:solidFill>
                  <a:srgbClr val="5B6456"/>
                </a:solidFill>
                <a:latin typeface="Arial"/>
              </a:rPr>
              <a:t>money</a:t>
            </a:r>
          </a:p>
        </p:txBody>
      </p:sp>
      <p:cxnSp>
        <p:nvCxnSpPr>
          <p:cNvPr id="28" name="Connector 27"/>
          <p:cNvCxnSpPr/>
          <p:nvPr/>
        </p:nvCxnSpPr>
        <p:spPr>
          <a:xfrm>
            <a:off x="566928" y="2212848"/>
            <a:ext cx="457200" cy="0"/>
          </a:xfrm>
          <a:prstGeom prst="line">
            <a:avLst/>
          </a:prstGeom>
          <a:ln w="12700">
            <a:solidFill>
              <a:srgbClr val="0C1408"/>
            </a:solidFill>
          </a:ln>
        </p:spPr>
      </p:cxnSp>
      <p:sp>
        <p:nvSpPr>
          <p:cNvPr id="29" name="TextBox 28"/>
          <p:cNvSpPr txBox="1"/>
          <p:nvPr/>
        </p:nvSpPr>
        <p:spPr>
          <a:xfrm>
            <a:off x="1115568" y="2103120"/>
            <a:ext cx="1463040" cy="228600"/>
          </a:xfrm>
          <a:prstGeom prst="rect">
            <a:avLst/>
          </a:prstGeom>
          <a:noFill/>
        </p:spPr>
        <p:txBody>
          <a:bodyPr wrap="square" lIns="0" rIns="0" tIns="0" bIns="0" anchor="t">
            <a:noAutofit/>
          </a:bodyPr>
          <a:lstStyle/>
          <a:p>
            <a:pPr algn="l">
              <a:lnSpc>
                <a:spcPct val="110000"/>
              </a:lnSpc>
            </a:pPr>
            <a:r>
              <a:rPr sz="1100" b="0" i="0">
                <a:solidFill>
                  <a:srgbClr val="5B6456"/>
                </a:solidFill>
                <a:latin typeface="Arial"/>
              </a:rPr>
              <a:t>instructions</a:t>
            </a:r>
          </a:p>
        </p:txBody>
      </p:sp>
      <p:sp>
        <p:nvSpPr>
          <p:cNvPr id="30" name="TextBox 29"/>
          <p:cNvSpPr txBox="1"/>
          <p:nvPr/>
        </p:nvSpPr>
        <p:spPr>
          <a:xfrm>
            <a:off x="566928" y="5897880"/>
            <a:ext cx="6766560" cy="274320"/>
          </a:xfrm>
          <a:prstGeom prst="rect">
            <a:avLst/>
          </a:prstGeom>
          <a:noFill/>
        </p:spPr>
        <p:txBody>
          <a:bodyPr wrap="square" lIns="0" rIns="0" tIns="0" bIns="0" anchor="t">
            <a:noAutofit/>
          </a:bodyPr>
          <a:lstStyle/>
          <a:p>
            <a:pPr algn="l">
              <a:lnSpc>
                <a:spcPct val="110000"/>
              </a:lnSpc>
            </a:pPr>
            <a:r>
              <a:rPr sz="1200" b="1" i="0">
                <a:solidFill>
                  <a:srgbClr val="41801A"/>
                </a:solidFill>
                <a:latin typeface="Arial"/>
              </a:rPr>
              <a:t>Halqa never holds member money and never lends.</a:t>
            </a:r>
          </a:p>
        </p:txBody>
      </p:sp>
      <p:sp>
        <p:nvSpPr>
          <p:cNvPr id="31" name="TextBox 30"/>
          <p:cNvSpPr txBox="1"/>
          <p:nvPr/>
        </p:nvSpPr>
        <p:spPr>
          <a:xfrm>
            <a:off x="8001000" y="1828800"/>
            <a:ext cx="3566160" cy="274320"/>
          </a:xfrm>
          <a:prstGeom prst="rect">
            <a:avLst/>
          </a:prstGeom>
          <a:noFill/>
        </p:spPr>
        <p:txBody>
          <a:bodyPr wrap="square" lIns="0" rIns="0" tIns="0" bIns="0" anchor="t">
            <a:noAutofit/>
          </a:bodyPr>
          <a:lstStyle/>
          <a:p>
            <a:pPr algn="l">
              <a:lnSpc>
                <a:spcPct val="110000"/>
              </a:lnSpc>
            </a:pPr>
            <a:r>
              <a:rPr sz="1500" b="1" i="0">
                <a:solidFill>
                  <a:srgbClr val="41801A"/>
                </a:solidFill>
                <a:latin typeface="Arial"/>
              </a:rPr>
              <a:t>Halqa runs</a:t>
            </a:r>
          </a:p>
        </p:txBody>
      </p:sp>
      <p:cxnSp>
        <p:nvCxnSpPr>
          <p:cNvPr id="32" name="Connector 31"/>
          <p:cNvCxnSpPr/>
          <p:nvPr/>
        </p:nvCxnSpPr>
        <p:spPr>
          <a:xfrm>
            <a:off x="8001000" y="2176272"/>
            <a:ext cx="3611880" cy="0"/>
          </a:xfrm>
          <a:prstGeom prst="line">
            <a:avLst/>
          </a:prstGeom>
          <a:ln w="9525">
            <a:solidFill>
              <a:srgbClr val="41801A"/>
            </a:solidFill>
          </a:ln>
        </p:spPr>
      </p:cxnSp>
      <p:sp>
        <p:nvSpPr>
          <p:cNvPr id="33" name="TextBox 32"/>
          <p:cNvSpPr txBox="1"/>
          <p:nvPr/>
        </p:nvSpPr>
        <p:spPr>
          <a:xfrm>
            <a:off x="8001000" y="2286000"/>
            <a:ext cx="3611880" cy="1554480"/>
          </a:xfrm>
          <a:prstGeom prst="rect">
            <a:avLst/>
          </a:prstGeom>
          <a:noFill/>
        </p:spPr>
        <p:txBody>
          <a:bodyPr wrap="square" lIns="0" rIns="0" tIns="0" bIns="0" anchor="t">
            <a:noAutofit/>
          </a:bodyPr>
          <a:lstStyle/>
          <a:p>
            <a:pPr algn="l">
              <a:lnSpc>
                <a:spcPct val="110000"/>
              </a:lnSpc>
              <a:spcAft>
                <a:spcPts val="500"/>
              </a:spcAft>
            </a:pPr>
            <a:r>
              <a:rPr sz="1300" b="0" i="0">
                <a:solidFill>
                  <a:srgbClr val="0C1408"/>
                </a:solidFill>
                <a:latin typeface="Arial"/>
              </a:rPr>
              <a:t>Hosts, members, circles and the order of turns</a:t>
            </a:r>
          </a:p>
          <a:p>
            <a:pPr algn="l">
              <a:lnSpc>
                <a:spcPct val="110000"/>
              </a:lnSpc>
              <a:spcAft>
                <a:spcPts val="500"/>
              </a:spcAft>
            </a:pPr>
            <a:r>
              <a:rPr sz="1300" b="0" i="0">
                <a:solidFill>
                  <a:srgbClr val="0C1408"/>
                </a:solidFill>
                <a:latin typeface="Arial"/>
              </a:rPr>
              <a:t>Checks on identity, income and affordability</a:t>
            </a:r>
          </a:p>
          <a:p>
            <a:pPr algn="l">
              <a:lnSpc>
                <a:spcPct val="110000"/>
              </a:lnSpc>
              <a:spcAft>
                <a:spcPts val="500"/>
              </a:spcAft>
            </a:pPr>
            <a:r>
              <a:rPr sz="1300" b="0" i="0">
                <a:solidFill>
                  <a:srgbClr val="0C1408"/>
                </a:solidFill>
                <a:latin typeface="Arial"/>
              </a:rPr>
              <a:t>Reminders, late payments and recovery</a:t>
            </a:r>
          </a:p>
          <a:p>
            <a:pPr algn="l">
              <a:lnSpc>
                <a:spcPct val="110000"/>
              </a:lnSpc>
              <a:spcAft>
                <a:spcPts val="500"/>
              </a:spcAft>
            </a:pPr>
            <a:r>
              <a:rPr sz="1300" b="0" i="0">
                <a:solidFill>
                  <a:srgbClr val="0C1408"/>
                </a:solidFill>
                <a:latin typeface="Arial"/>
              </a:rPr>
              <a:t>The ledger, receipts and records</a:t>
            </a:r>
          </a:p>
        </p:txBody>
      </p:sp>
      <p:sp>
        <p:nvSpPr>
          <p:cNvPr id="34" name="TextBox 33"/>
          <p:cNvSpPr txBox="1"/>
          <p:nvPr/>
        </p:nvSpPr>
        <p:spPr>
          <a:xfrm>
            <a:off x="8001000" y="3886200"/>
            <a:ext cx="3566160" cy="274320"/>
          </a:xfrm>
          <a:prstGeom prst="rect">
            <a:avLst/>
          </a:prstGeom>
          <a:noFill/>
        </p:spPr>
        <p:txBody>
          <a:bodyPr wrap="square" lIns="0" rIns="0" tIns="0" bIns="0" anchor="t">
            <a:noAutofit/>
          </a:bodyPr>
          <a:lstStyle/>
          <a:p>
            <a:pPr algn="l">
              <a:lnSpc>
                <a:spcPct val="110000"/>
              </a:lnSpc>
            </a:pPr>
            <a:r>
              <a:rPr sz="1500" b="1" i="0">
                <a:solidFill>
                  <a:srgbClr val="E0602A"/>
                </a:solidFill>
                <a:latin typeface="Arial"/>
              </a:rPr>
              <a:t>Mashreq runs</a:t>
            </a:r>
          </a:p>
        </p:txBody>
      </p:sp>
      <p:cxnSp>
        <p:nvCxnSpPr>
          <p:cNvPr id="35" name="Connector 34"/>
          <p:cNvCxnSpPr/>
          <p:nvPr/>
        </p:nvCxnSpPr>
        <p:spPr>
          <a:xfrm>
            <a:off x="8001000" y="4233672"/>
            <a:ext cx="3611880" cy="0"/>
          </a:xfrm>
          <a:prstGeom prst="line">
            <a:avLst/>
          </a:prstGeom>
          <a:ln w="9525">
            <a:solidFill>
              <a:srgbClr val="E0602A"/>
            </a:solidFill>
          </a:ln>
        </p:spPr>
      </p:cxnSp>
      <p:sp>
        <p:nvSpPr>
          <p:cNvPr id="36" name="TextBox 35"/>
          <p:cNvSpPr txBox="1"/>
          <p:nvPr/>
        </p:nvSpPr>
        <p:spPr>
          <a:xfrm>
            <a:off x="8001000" y="4343400"/>
            <a:ext cx="3611880" cy="1554480"/>
          </a:xfrm>
          <a:prstGeom prst="rect">
            <a:avLst/>
          </a:prstGeom>
          <a:noFill/>
        </p:spPr>
        <p:txBody>
          <a:bodyPr wrap="square" lIns="0" rIns="0" tIns="0" bIns="0" anchor="t">
            <a:noAutofit/>
          </a:bodyPr>
          <a:lstStyle/>
          <a:p>
            <a:pPr algn="l">
              <a:lnSpc>
                <a:spcPct val="110000"/>
              </a:lnSpc>
              <a:spcAft>
                <a:spcPts val="500"/>
              </a:spcAft>
            </a:pPr>
            <a:r>
              <a:rPr sz="1300" b="0" i="0">
                <a:solidFill>
                  <a:srgbClr val="0C1408"/>
                </a:solidFill>
                <a:latin typeface="Arial"/>
              </a:rPr>
              <a:t>Accounts and customer checks</a:t>
            </a:r>
          </a:p>
          <a:p>
            <a:pPr algn="l">
              <a:lnSpc>
                <a:spcPct val="110000"/>
              </a:lnSpc>
              <a:spcAft>
                <a:spcPts val="500"/>
              </a:spcAft>
            </a:pPr>
            <a:r>
              <a:rPr sz="1300" b="0" i="0">
                <a:solidFill>
                  <a:srgbClr val="0C1408"/>
                </a:solidFill>
                <a:latin typeface="Arial"/>
              </a:rPr>
              <a:t>Direct debits and payouts</a:t>
            </a:r>
          </a:p>
          <a:p>
            <a:pPr algn="l">
              <a:lnSpc>
                <a:spcPct val="110000"/>
              </a:lnSpc>
              <a:spcAft>
                <a:spcPts val="500"/>
              </a:spcAft>
            </a:pPr>
            <a:r>
              <a:rPr sz="1300" b="0" i="0">
                <a:solidFill>
                  <a:srgbClr val="0C1408"/>
                </a:solidFill>
                <a:latin typeface="Arial"/>
              </a:rPr>
              <a:t>Savings and profit on balances</a:t>
            </a:r>
          </a:p>
          <a:p>
            <a:pPr algn="l">
              <a:lnSpc>
                <a:spcPct val="110000"/>
              </a:lnSpc>
              <a:spcAft>
                <a:spcPts val="500"/>
              </a:spcAft>
            </a:pPr>
            <a:r>
              <a:rPr sz="1300" b="0" i="0">
                <a:solidFill>
                  <a:srgbClr val="0C1408"/>
                </a:solidFill>
                <a:latin typeface="Arial"/>
              </a:rPr>
              <a:t>Cover and credit reporting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9509760" cy="566928"/>
          </a:xfrm>
          <a:prstGeom prst="rect">
            <a:avLst/>
          </a:prstGeom>
          <a:noFill/>
        </p:spPr>
        <p:txBody>
          <a:bodyPr wrap="square" lIns="0" rIns="0" tIns="0" bIns="0" anchor="t">
            <a:noAutofit/>
          </a:bodyPr>
          <a:lstStyle/>
          <a:p>
            <a:pPr algn="l">
              <a:lnSpc>
                <a:spcPct val="110000"/>
              </a:lnSpc>
            </a:pPr>
            <a:r>
              <a:rPr sz="2800" b="0" i="0">
                <a:solidFill>
                  <a:srgbClr val="41801A"/>
                </a:solidFill>
                <a:latin typeface="Georgia"/>
              </a:rPr>
              <a:t>The Product</a:t>
            </a:r>
          </a:p>
        </p:txBody>
      </p:sp>
      <p:sp>
        <p:nvSpPr>
          <p:cNvPr id="3" name="TextBox 2"/>
          <p:cNvSpPr txBox="1"/>
          <p:nvPr/>
        </p:nvSpPr>
        <p:spPr>
          <a:xfrm>
            <a:off x="566928" y="987552"/>
            <a:ext cx="11057839" cy="411480"/>
          </a:xfrm>
          <a:prstGeom prst="rect">
            <a:avLst/>
          </a:prstGeom>
          <a:noFill/>
        </p:spPr>
        <p:txBody>
          <a:bodyPr wrap="square" lIns="0" rIns="0" tIns="0" bIns="0" anchor="t">
            <a:noAutofit/>
          </a:bodyPr>
          <a:lstStyle/>
          <a:p>
            <a:pPr algn="l">
              <a:lnSpc>
                <a:spcPct val="110000"/>
              </a:lnSpc>
            </a:pPr>
            <a:r>
              <a:rPr sz="1800" b="0" i="0">
                <a:solidFill>
                  <a:srgbClr val="0C1408"/>
                </a:solidFill>
                <a:latin typeface="Arial"/>
              </a:rPr>
              <a:t>Members do everything in the Halqa application. Under the partnership, the Mashreq account opens inside it.</a:t>
            </a:r>
          </a:p>
        </p:txBody>
      </p:sp>
      <p:pic>
        <p:nvPicPr>
          <p:cNvPr id="4" name="Picture 3" descr="halqa_logo.png"/>
          <p:cNvPicPr>
            <a:picLocks noChangeAspect="1"/>
          </p:cNvPicPr>
          <p:nvPr/>
        </p:nvPicPr>
        <p:blipFill>
          <a:blip r:embed="rId3"/>
          <a:stretch>
            <a:fillRect/>
          </a:stretch>
        </p:blipFill>
        <p:spPr>
          <a:xfrm>
            <a:off x="10600639" y="457200"/>
            <a:ext cx="1023202" cy="310896"/>
          </a:xfrm>
          <a:prstGeom prst="rect">
            <a:avLst/>
          </a:prstGeom>
        </p:spPr>
      </p:pic>
      <p:sp>
        <p:nvSpPr>
          <p:cNvPr id="5" name="TextBox 4"/>
          <p:cNvSpPr txBox="1"/>
          <p:nvPr/>
        </p:nvSpPr>
        <p:spPr>
          <a:xfrm>
            <a:off x="566928" y="6309360"/>
            <a:ext cx="10149840" cy="365760"/>
          </a:xfrm>
          <a:prstGeom prst="rect">
            <a:avLst/>
          </a:prstGeom>
          <a:noFill/>
        </p:spPr>
        <p:txBody>
          <a:bodyPr wrap="square" lIns="0" rIns="0" tIns="0" bIns="0" anchor="t">
            <a:noAutofit/>
          </a:bodyPr>
          <a:lstStyle/>
          <a:p>
            <a:pPr algn="l">
              <a:lnSpc>
                <a:spcPct val="100000"/>
              </a:lnSpc>
            </a:pPr>
            <a:r>
              <a:rPr sz="900" b="0" i="0">
                <a:solidFill>
                  <a:srgbClr val="5B6456"/>
                </a:solidFill>
                <a:latin typeface="Arial"/>
              </a:rPr>
              <a:t>Screens from the Halqa application in preview, with sample data.</a:t>
            </a:r>
          </a:p>
        </p:txBody>
      </p:sp>
      <p:sp>
        <p:nvSpPr>
          <p:cNvPr id="6" name="TextBox 5"/>
          <p:cNvSpPr txBox="1"/>
          <p:nvPr/>
        </p:nvSpPr>
        <p:spPr>
          <a:xfrm>
            <a:off x="11076127" y="6355080"/>
            <a:ext cx="548640" cy="228600"/>
          </a:xfrm>
          <a:prstGeom prst="rect">
            <a:avLst/>
          </a:prstGeom>
          <a:noFill/>
        </p:spPr>
        <p:txBody>
          <a:bodyPr wrap="square" lIns="0" rIns="0" tIns="0" bIns="0" anchor="t">
            <a:noAutofit/>
          </a:bodyPr>
          <a:lstStyle/>
          <a:p>
            <a:pPr algn="r">
              <a:lnSpc>
                <a:spcPct val="110000"/>
              </a:lnSpc>
            </a:pPr>
            <a:r>
              <a:rPr sz="1000" b="0" i="0">
                <a:solidFill>
                  <a:srgbClr val="5B6456"/>
                </a:solidFill>
                <a:latin typeface="Arial"/>
              </a:rPr>
              <a:t>7</a:t>
            </a:r>
          </a:p>
        </p:txBody>
      </p:sp>
      <p:pic>
        <p:nvPicPr>
          <p:cNvPr id="7" name="Picture 6" descr="screen_committees.png"/>
          <p:cNvPicPr>
            <a:picLocks noChangeAspect="1"/>
          </p:cNvPicPr>
          <p:nvPr/>
        </p:nvPicPr>
        <p:blipFill>
          <a:blip r:embed="rId4"/>
          <a:stretch>
            <a:fillRect/>
          </a:stretch>
        </p:blipFill>
        <p:spPr>
          <a:xfrm>
            <a:off x="1097280" y="1737360"/>
            <a:ext cx="1632667" cy="3429000"/>
          </a:xfrm>
          <a:prstGeom prst="rect">
            <a:avLst/>
          </a:prstGeom>
        </p:spPr>
      </p:pic>
      <p:sp>
        <p:nvSpPr>
          <p:cNvPr id="8" name="TextBox 7"/>
          <p:cNvSpPr txBox="1"/>
          <p:nvPr/>
        </p:nvSpPr>
        <p:spPr>
          <a:xfrm>
            <a:off x="1097280" y="5303520"/>
            <a:ext cx="2606040" cy="274320"/>
          </a:xfrm>
          <a:prstGeom prst="rect">
            <a:avLst/>
          </a:prstGeom>
          <a:noFill/>
        </p:spPr>
        <p:txBody>
          <a:bodyPr wrap="square" lIns="0" rIns="0" tIns="0" bIns="0" anchor="t">
            <a:noAutofit/>
          </a:bodyPr>
          <a:lstStyle/>
          <a:p>
            <a:pPr algn="l">
              <a:lnSpc>
                <a:spcPct val="110000"/>
              </a:lnSpc>
            </a:pPr>
            <a:r>
              <a:rPr sz="1400" b="1" i="0">
                <a:solidFill>
                  <a:srgbClr val="41801A"/>
                </a:solidFill>
                <a:latin typeface="Arial"/>
              </a:rPr>
              <a:t>1   Join a circle</a:t>
            </a:r>
          </a:p>
        </p:txBody>
      </p:sp>
      <p:sp>
        <p:nvSpPr>
          <p:cNvPr id="9" name="TextBox 8"/>
          <p:cNvSpPr txBox="1"/>
          <p:nvPr/>
        </p:nvSpPr>
        <p:spPr>
          <a:xfrm>
            <a:off x="1097280" y="5596128"/>
            <a:ext cx="2606040" cy="548640"/>
          </a:xfrm>
          <a:prstGeom prst="rect">
            <a:avLst/>
          </a:prstGeom>
          <a:noFill/>
        </p:spPr>
        <p:txBody>
          <a:bodyPr wrap="square" lIns="0" rIns="0" tIns="0" bIns="0" anchor="t">
            <a:noAutofit/>
          </a:bodyPr>
          <a:lstStyle/>
          <a:p>
            <a:pPr algn="l">
              <a:lnSpc>
                <a:spcPct val="100000"/>
              </a:lnSpc>
            </a:pPr>
            <a:r>
              <a:rPr sz="1100" b="0" i="0">
                <a:solidFill>
                  <a:srgbClr val="0C1408"/>
                </a:solidFill>
                <a:latin typeface="Arial"/>
              </a:rPr>
              <a:t>Only circles and turns the member qualifies for</a:t>
            </a:r>
          </a:p>
        </p:txBody>
      </p:sp>
      <p:pic>
        <p:nvPicPr>
          <p:cNvPr id="10" name="Picture 9" descr="screen_autopay.png"/>
          <p:cNvPicPr>
            <a:picLocks noChangeAspect="1"/>
          </p:cNvPicPr>
          <p:nvPr/>
        </p:nvPicPr>
        <p:blipFill>
          <a:blip r:embed="rId5"/>
          <a:stretch>
            <a:fillRect/>
          </a:stretch>
        </p:blipFill>
        <p:spPr>
          <a:xfrm>
            <a:off x="3918667" y="1737360"/>
            <a:ext cx="1632667" cy="3429000"/>
          </a:xfrm>
          <a:prstGeom prst="rect">
            <a:avLst/>
          </a:prstGeom>
        </p:spPr>
      </p:pic>
      <p:sp>
        <p:nvSpPr>
          <p:cNvPr id="11" name="TextBox 10"/>
          <p:cNvSpPr txBox="1"/>
          <p:nvPr/>
        </p:nvSpPr>
        <p:spPr>
          <a:xfrm>
            <a:off x="3918667" y="5303520"/>
            <a:ext cx="2606040" cy="274320"/>
          </a:xfrm>
          <a:prstGeom prst="rect">
            <a:avLst/>
          </a:prstGeom>
          <a:noFill/>
        </p:spPr>
        <p:txBody>
          <a:bodyPr wrap="square" lIns="0" rIns="0" tIns="0" bIns="0" anchor="t">
            <a:noAutofit/>
          </a:bodyPr>
          <a:lstStyle/>
          <a:p>
            <a:pPr algn="l">
              <a:lnSpc>
                <a:spcPct val="110000"/>
              </a:lnSpc>
            </a:pPr>
            <a:r>
              <a:rPr sz="1400" b="1" i="0">
                <a:solidFill>
                  <a:srgbClr val="41801A"/>
                </a:solidFill>
                <a:latin typeface="Arial"/>
              </a:rPr>
              <a:t>2   Pay automatically</a:t>
            </a:r>
          </a:p>
        </p:txBody>
      </p:sp>
      <p:sp>
        <p:nvSpPr>
          <p:cNvPr id="12" name="TextBox 11"/>
          <p:cNvSpPr txBox="1"/>
          <p:nvPr/>
        </p:nvSpPr>
        <p:spPr>
          <a:xfrm>
            <a:off x="3918667" y="5596128"/>
            <a:ext cx="2606040" cy="548640"/>
          </a:xfrm>
          <a:prstGeom prst="rect">
            <a:avLst/>
          </a:prstGeom>
          <a:noFill/>
        </p:spPr>
        <p:txBody>
          <a:bodyPr wrap="square" lIns="0" rIns="0" tIns="0" bIns="0" anchor="t">
            <a:noAutofit/>
          </a:bodyPr>
          <a:lstStyle/>
          <a:p>
            <a:pPr algn="l">
              <a:lnSpc>
                <a:spcPct val="100000"/>
              </a:lnSpc>
            </a:pPr>
            <a:r>
              <a:rPr sz="1100" b="0" i="0">
                <a:solidFill>
                  <a:srgbClr val="0C1408"/>
                </a:solidFill>
                <a:latin typeface="Arial"/>
              </a:rPr>
              <a:t>Debited by Mashreq on the due date</a:t>
            </a:r>
          </a:p>
        </p:txBody>
      </p:sp>
      <p:pic>
        <p:nvPicPr>
          <p:cNvPr id="13" name="Picture 12" descr="screen_activity.png"/>
          <p:cNvPicPr>
            <a:picLocks noChangeAspect="1"/>
          </p:cNvPicPr>
          <p:nvPr/>
        </p:nvPicPr>
        <p:blipFill>
          <a:blip r:embed="rId6"/>
          <a:stretch>
            <a:fillRect/>
          </a:stretch>
        </p:blipFill>
        <p:spPr>
          <a:xfrm>
            <a:off x="6740054" y="1737360"/>
            <a:ext cx="1632667" cy="3429000"/>
          </a:xfrm>
          <a:prstGeom prst="rect">
            <a:avLst/>
          </a:prstGeom>
        </p:spPr>
      </p:pic>
      <p:sp>
        <p:nvSpPr>
          <p:cNvPr id="14" name="TextBox 13"/>
          <p:cNvSpPr txBox="1"/>
          <p:nvPr/>
        </p:nvSpPr>
        <p:spPr>
          <a:xfrm>
            <a:off x="6740054" y="5303520"/>
            <a:ext cx="2606040" cy="274320"/>
          </a:xfrm>
          <a:prstGeom prst="rect">
            <a:avLst/>
          </a:prstGeom>
          <a:noFill/>
        </p:spPr>
        <p:txBody>
          <a:bodyPr wrap="square" lIns="0" rIns="0" tIns="0" bIns="0" anchor="t">
            <a:noAutofit/>
          </a:bodyPr>
          <a:lstStyle/>
          <a:p>
            <a:pPr algn="l">
              <a:lnSpc>
                <a:spcPct val="110000"/>
              </a:lnSpc>
            </a:pPr>
            <a:r>
              <a:rPr sz="1400" b="1" i="0">
                <a:solidFill>
                  <a:srgbClr val="41801A"/>
                </a:solidFill>
                <a:latin typeface="Arial"/>
              </a:rPr>
              <a:t>3   Collect the pot</a:t>
            </a:r>
          </a:p>
        </p:txBody>
      </p:sp>
      <p:sp>
        <p:nvSpPr>
          <p:cNvPr id="15" name="TextBox 14"/>
          <p:cNvSpPr txBox="1"/>
          <p:nvPr/>
        </p:nvSpPr>
        <p:spPr>
          <a:xfrm>
            <a:off x="6740054" y="5596128"/>
            <a:ext cx="2606040" cy="548640"/>
          </a:xfrm>
          <a:prstGeom prst="rect">
            <a:avLst/>
          </a:prstGeom>
          <a:noFill/>
        </p:spPr>
        <p:txBody>
          <a:bodyPr wrap="square" lIns="0" rIns="0" tIns="0" bIns="0" anchor="t">
            <a:noAutofit/>
          </a:bodyPr>
          <a:lstStyle/>
          <a:p>
            <a:pPr algn="l">
              <a:lnSpc>
                <a:spcPct val="100000"/>
              </a:lnSpc>
            </a:pPr>
            <a:r>
              <a:rPr sz="1100" b="0" i="0">
                <a:solidFill>
                  <a:srgbClr val="0C1408"/>
                </a:solidFill>
                <a:latin typeface="Arial"/>
              </a:rPr>
              <a:t>Paid into the member's own account</a:t>
            </a:r>
          </a:p>
        </p:txBody>
      </p:sp>
      <p:pic>
        <p:nvPicPr>
          <p:cNvPr id="16" name="Picture 15" descr="screen_credit.png"/>
          <p:cNvPicPr>
            <a:picLocks noChangeAspect="1"/>
          </p:cNvPicPr>
          <p:nvPr/>
        </p:nvPicPr>
        <p:blipFill>
          <a:blip r:embed="rId7"/>
          <a:stretch>
            <a:fillRect/>
          </a:stretch>
        </p:blipFill>
        <p:spPr>
          <a:xfrm>
            <a:off x="9561441" y="1737360"/>
            <a:ext cx="1632667" cy="3429000"/>
          </a:xfrm>
          <a:prstGeom prst="rect">
            <a:avLst/>
          </a:prstGeom>
        </p:spPr>
      </p:pic>
      <p:sp>
        <p:nvSpPr>
          <p:cNvPr id="17" name="TextBox 16"/>
          <p:cNvSpPr txBox="1"/>
          <p:nvPr/>
        </p:nvSpPr>
        <p:spPr>
          <a:xfrm>
            <a:off x="9561441" y="5303520"/>
            <a:ext cx="2606040" cy="274320"/>
          </a:xfrm>
          <a:prstGeom prst="rect">
            <a:avLst/>
          </a:prstGeom>
          <a:noFill/>
        </p:spPr>
        <p:txBody>
          <a:bodyPr wrap="square" lIns="0" rIns="0" tIns="0" bIns="0" anchor="t">
            <a:noAutofit/>
          </a:bodyPr>
          <a:lstStyle/>
          <a:p>
            <a:pPr algn="l">
              <a:lnSpc>
                <a:spcPct val="110000"/>
              </a:lnSpc>
            </a:pPr>
            <a:r>
              <a:rPr sz="1400" b="1" i="0">
                <a:solidFill>
                  <a:srgbClr val="41801A"/>
                </a:solidFill>
                <a:latin typeface="Arial"/>
              </a:rPr>
              <a:t>4   Build a credit record</a:t>
            </a:r>
          </a:p>
        </p:txBody>
      </p:sp>
      <p:sp>
        <p:nvSpPr>
          <p:cNvPr id="18" name="TextBox 17"/>
          <p:cNvSpPr txBox="1"/>
          <p:nvPr/>
        </p:nvSpPr>
        <p:spPr>
          <a:xfrm>
            <a:off x="9561441" y="5596128"/>
            <a:ext cx="2606040" cy="548640"/>
          </a:xfrm>
          <a:prstGeom prst="rect">
            <a:avLst/>
          </a:prstGeom>
          <a:noFill/>
        </p:spPr>
        <p:txBody>
          <a:bodyPr wrap="square" lIns="0" rIns="0" tIns="0" bIns="0" anchor="t">
            <a:noAutofit/>
          </a:bodyPr>
          <a:lstStyle/>
          <a:p>
            <a:pPr algn="l">
              <a:lnSpc>
                <a:spcPct val="100000"/>
              </a:lnSpc>
            </a:pPr>
            <a:r>
              <a:rPr sz="1100" b="0" i="0">
                <a:solidFill>
                  <a:srgbClr val="0C1408"/>
                </a:solidFill>
                <a:latin typeface="Arial"/>
              </a:rPr>
              <a:t>Every payment scored and reported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9509760" cy="566928"/>
          </a:xfrm>
          <a:prstGeom prst="rect">
            <a:avLst/>
          </a:prstGeom>
          <a:noFill/>
        </p:spPr>
        <p:txBody>
          <a:bodyPr wrap="square" lIns="0" rIns="0" tIns="0" bIns="0" anchor="t">
            <a:noAutofit/>
          </a:bodyPr>
          <a:lstStyle/>
          <a:p>
            <a:pPr algn="l">
              <a:lnSpc>
                <a:spcPct val="110000"/>
              </a:lnSpc>
            </a:pPr>
            <a:r>
              <a:rPr sz="2800" b="0" i="0">
                <a:solidFill>
                  <a:srgbClr val="41801A"/>
                </a:solidFill>
                <a:latin typeface="Georgia"/>
              </a:rPr>
              <a:t>A Month Inside Mashreq</a:t>
            </a:r>
          </a:p>
        </p:txBody>
      </p:sp>
      <p:sp>
        <p:nvSpPr>
          <p:cNvPr id="3" name="TextBox 2"/>
          <p:cNvSpPr txBox="1"/>
          <p:nvPr/>
        </p:nvSpPr>
        <p:spPr>
          <a:xfrm>
            <a:off x="566928" y="987552"/>
            <a:ext cx="11057839" cy="411480"/>
          </a:xfrm>
          <a:prstGeom prst="rect">
            <a:avLst/>
          </a:prstGeom>
          <a:noFill/>
        </p:spPr>
        <p:txBody>
          <a:bodyPr wrap="square" lIns="0" rIns="0" tIns="0" bIns="0" anchor="t">
            <a:noAutofit/>
          </a:bodyPr>
          <a:lstStyle/>
          <a:p>
            <a:pPr algn="l">
              <a:lnSpc>
                <a:spcPct val="110000"/>
              </a:lnSpc>
            </a:pPr>
            <a:r>
              <a:rPr sz="1800" b="0" i="0">
                <a:solidFill>
                  <a:srgbClr val="0C1408"/>
                </a:solidFill>
                <a:latin typeface="Arial"/>
              </a:rPr>
              <a:t>Each step runs on a Mashreq product. The debit mandate is the one new piece.</a:t>
            </a:r>
          </a:p>
        </p:txBody>
      </p:sp>
      <p:pic>
        <p:nvPicPr>
          <p:cNvPr id="4" name="Picture 3" descr="halqa_logo.png"/>
          <p:cNvPicPr>
            <a:picLocks noChangeAspect="1"/>
          </p:cNvPicPr>
          <p:nvPr/>
        </p:nvPicPr>
        <p:blipFill>
          <a:blip r:embed="rId3"/>
          <a:stretch>
            <a:fillRect/>
          </a:stretch>
        </p:blipFill>
        <p:spPr>
          <a:xfrm>
            <a:off x="10600639" y="457200"/>
            <a:ext cx="1023202" cy="310896"/>
          </a:xfrm>
          <a:prstGeom prst="rect">
            <a:avLst/>
          </a:prstGeom>
        </p:spPr>
      </p:pic>
      <p:sp>
        <p:nvSpPr>
          <p:cNvPr id="5" name="TextBox 4"/>
          <p:cNvSpPr txBox="1"/>
          <p:nvPr/>
        </p:nvSpPr>
        <p:spPr>
          <a:xfrm>
            <a:off x="566928" y="6309360"/>
            <a:ext cx="10149840" cy="365760"/>
          </a:xfrm>
          <a:prstGeom prst="rect">
            <a:avLst/>
          </a:prstGeom>
          <a:noFill/>
        </p:spPr>
        <p:txBody>
          <a:bodyPr wrap="square" lIns="0" rIns="0" tIns="0" bIns="0" anchor="t">
            <a:noAutofit/>
          </a:bodyPr>
          <a:lstStyle/>
          <a:p>
            <a:pPr algn="l">
              <a:lnSpc>
                <a:spcPct val="100000"/>
              </a:lnSpc>
            </a:pPr>
            <a:r>
              <a:rPr sz="900" b="0" i="0">
                <a:solidFill>
                  <a:srgbClr val="5B6456"/>
                </a:solidFill>
                <a:latin typeface="Arial"/>
              </a:rPr>
              <a:t>Mashreq NEO product pages and rate sheets, read 29 September 2026; rates are up to figures. The due date of the 8th is proposed.</a:t>
            </a:r>
          </a:p>
        </p:txBody>
      </p:sp>
      <p:sp>
        <p:nvSpPr>
          <p:cNvPr id="6" name="TextBox 5"/>
          <p:cNvSpPr txBox="1"/>
          <p:nvPr/>
        </p:nvSpPr>
        <p:spPr>
          <a:xfrm>
            <a:off x="11076127" y="6355080"/>
            <a:ext cx="548640" cy="228600"/>
          </a:xfrm>
          <a:prstGeom prst="rect">
            <a:avLst/>
          </a:prstGeom>
          <a:noFill/>
        </p:spPr>
        <p:txBody>
          <a:bodyPr wrap="square" lIns="0" rIns="0" tIns="0" bIns="0" anchor="t">
            <a:noAutofit/>
          </a:bodyPr>
          <a:lstStyle/>
          <a:p>
            <a:pPr algn="r">
              <a:lnSpc>
                <a:spcPct val="110000"/>
              </a:lnSpc>
            </a:pPr>
            <a:r>
              <a:rPr sz="1000" b="0" i="0">
                <a:solidFill>
                  <a:srgbClr val="5B6456"/>
                </a:solidFill>
                <a:latin typeface="Arial"/>
              </a:rPr>
              <a:t>8</a:t>
            </a:r>
          </a:p>
        </p:txBody>
      </p:sp>
      <p:sp>
        <p:nvSpPr>
          <p:cNvPr id="7" name="Rectangle 6"/>
          <p:cNvSpPr/>
          <p:nvPr/>
        </p:nvSpPr>
        <p:spPr>
          <a:xfrm>
            <a:off x="658368" y="2633472"/>
            <a:ext cx="2828544" cy="329184"/>
          </a:xfrm>
          <a:prstGeom prst="rect">
            <a:avLst/>
          </a:prstGeom>
          <a:solidFill>
            <a:srgbClr val="A9DE7F"/>
          </a:solidFill>
          <a:ln>
            <a:noFill/>
          </a:ln>
        </p:spPr>
        <p:txBody>
          <a:bodyPr rtlCol="0" anchor="ctr" lIns="0" rIns="0"/>
          <a:lstStyle/>
          <a:p>
            <a:pPr algn="ctr"/>
          </a:p>
        </p:txBody>
      </p:sp>
      <p:sp>
        <p:nvSpPr>
          <p:cNvPr id="8" name="TextBox 7"/>
          <p:cNvSpPr txBox="1"/>
          <p:nvPr/>
        </p:nvSpPr>
        <p:spPr>
          <a:xfrm>
            <a:off x="658368" y="2331720"/>
            <a:ext cx="4200144" cy="274320"/>
          </a:xfrm>
          <a:prstGeom prst="rect">
            <a:avLst/>
          </a:prstGeom>
          <a:noFill/>
        </p:spPr>
        <p:txBody>
          <a:bodyPr wrap="square" lIns="0" rIns="0" tIns="0" bIns="0" anchor="t">
            <a:noAutofit/>
          </a:bodyPr>
          <a:lstStyle/>
          <a:p>
            <a:pPr algn="l">
              <a:lnSpc>
                <a:spcPct val="110000"/>
              </a:lnSpc>
            </a:pPr>
            <a:r>
              <a:rPr sz="1100" b="0" i="0">
                <a:solidFill>
                  <a:srgbClr val="0C1408"/>
                </a:solidFill>
                <a:latin typeface="Arial"/>
              </a:rPr>
              <a:t>instalment waiting and earning profit</a:t>
            </a:r>
          </a:p>
        </p:txBody>
      </p:sp>
      <p:sp>
        <p:nvSpPr>
          <p:cNvPr id="9" name="Rectangle 8"/>
          <p:cNvSpPr/>
          <p:nvPr/>
        </p:nvSpPr>
        <p:spPr>
          <a:xfrm>
            <a:off x="3486912" y="2633472"/>
            <a:ext cx="1767840" cy="329184"/>
          </a:xfrm>
          <a:prstGeom prst="rect">
            <a:avLst/>
          </a:prstGeom>
          <a:solidFill>
            <a:srgbClr val="DDE3D9"/>
          </a:solidFill>
          <a:ln>
            <a:noFill/>
          </a:ln>
        </p:spPr>
        <p:txBody>
          <a:bodyPr rtlCol="0" anchor="ctr" lIns="0" rIns="0"/>
          <a:lstStyle/>
          <a:p>
            <a:pPr algn="ctr"/>
          </a:p>
        </p:txBody>
      </p:sp>
      <p:sp>
        <p:nvSpPr>
          <p:cNvPr id="10" name="TextBox 9"/>
          <p:cNvSpPr txBox="1"/>
          <p:nvPr/>
        </p:nvSpPr>
        <p:spPr>
          <a:xfrm>
            <a:off x="3486912" y="2331720"/>
            <a:ext cx="3139440" cy="274320"/>
          </a:xfrm>
          <a:prstGeom prst="rect">
            <a:avLst/>
          </a:prstGeom>
          <a:noFill/>
        </p:spPr>
        <p:txBody>
          <a:bodyPr wrap="square" lIns="0" rIns="0" tIns="0" bIns="0" anchor="t">
            <a:noAutofit/>
          </a:bodyPr>
          <a:lstStyle/>
          <a:p>
            <a:pPr algn="l">
              <a:lnSpc>
                <a:spcPct val="110000"/>
              </a:lnSpc>
            </a:pPr>
            <a:r>
              <a:rPr sz="1100" b="0" i="0">
                <a:solidFill>
                  <a:srgbClr val="0C1408"/>
                </a:solidFill>
                <a:latin typeface="Arial"/>
              </a:rPr>
              <a:t>retries</a:t>
            </a:r>
          </a:p>
        </p:txBody>
      </p:sp>
      <p:cxnSp>
        <p:nvCxnSpPr>
          <p:cNvPr id="11" name="Connector 10"/>
          <p:cNvCxnSpPr/>
          <p:nvPr/>
        </p:nvCxnSpPr>
        <p:spPr>
          <a:xfrm>
            <a:off x="658368" y="3017520"/>
            <a:ext cx="10607040" cy="0"/>
          </a:xfrm>
          <a:prstGeom prst="line">
            <a:avLst/>
          </a:prstGeom>
          <a:ln w="9525">
            <a:solidFill>
              <a:srgbClr val="0C1408"/>
            </a:solidFill>
          </a:ln>
        </p:spPr>
      </p:cxnSp>
      <p:cxnSp>
        <p:nvCxnSpPr>
          <p:cNvPr id="12" name="Connector 11"/>
          <p:cNvCxnSpPr/>
          <p:nvPr/>
        </p:nvCxnSpPr>
        <p:spPr>
          <a:xfrm>
            <a:off x="835152" y="3017520"/>
            <a:ext cx="0" cy="54864"/>
          </a:xfrm>
          <a:prstGeom prst="line">
            <a:avLst/>
          </a:prstGeom>
          <a:ln w="9525">
            <a:solidFill>
              <a:srgbClr val="0C1408"/>
            </a:solidFill>
          </a:ln>
        </p:spPr>
      </p:cxnSp>
      <p:sp>
        <p:nvSpPr>
          <p:cNvPr id="13" name="TextBox 12"/>
          <p:cNvSpPr txBox="1"/>
          <p:nvPr/>
        </p:nvSpPr>
        <p:spPr>
          <a:xfrm>
            <a:off x="606552" y="3090672"/>
            <a:ext cx="457200" cy="228600"/>
          </a:xfrm>
          <a:prstGeom prst="rect">
            <a:avLst/>
          </a:prstGeom>
          <a:noFill/>
        </p:spPr>
        <p:txBody>
          <a:bodyPr wrap="square" lIns="0" rIns="0" tIns="0" bIns="0" anchor="t">
            <a:noAutofit/>
          </a:bodyPr>
          <a:lstStyle/>
          <a:p>
            <a:pPr algn="ctr">
              <a:lnSpc>
                <a:spcPct val="110000"/>
              </a:lnSpc>
            </a:pPr>
            <a:r>
              <a:rPr sz="1000" b="0" i="0">
                <a:solidFill>
                  <a:srgbClr val="5B6456"/>
                </a:solidFill>
                <a:latin typeface="Arial"/>
              </a:rPr>
              <a:t>1</a:t>
            </a:r>
          </a:p>
        </p:txBody>
      </p:sp>
      <p:cxnSp>
        <p:nvCxnSpPr>
          <p:cNvPr id="14" name="Connector 13"/>
          <p:cNvCxnSpPr/>
          <p:nvPr/>
        </p:nvCxnSpPr>
        <p:spPr>
          <a:xfrm>
            <a:off x="2249424" y="3017520"/>
            <a:ext cx="0" cy="54864"/>
          </a:xfrm>
          <a:prstGeom prst="line">
            <a:avLst/>
          </a:prstGeom>
          <a:ln w="9525">
            <a:solidFill>
              <a:srgbClr val="0C1408"/>
            </a:solidFill>
          </a:ln>
        </p:spPr>
      </p:cxnSp>
      <p:sp>
        <p:nvSpPr>
          <p:cNvPr id="15" name="TextBox 14"/>
          <p:cNvSpPr txBox="1"/>
          <p:nvPr/>
        </p:nvSpPr>
        <p:spPr>
          <a:xfrm>
            <a:off x="2020824" y="3090672"/>
            <a:ext cx="457200" cy="228600"/>
          </a:xfrm>
          <a:prstGeom prst="rect">
            <a:avLst/>
          </a:prstGeom>
          <a:noFill/>
        </p:spPr>
        <p:txBody>
          <a:bodyPr wrap="square" lIns="0" rIns="0" tIns="0" bIns="0" anchor="t">
            <a:noAutofit/>
          </a:bodyPr>
          <a:lstStyle/>
          <a:p>
            <a:pPr algn="ctr">
              <a:lnSpc>
                <a:spcPct val="110000"/>
              </a:lnSpc>
            </a:pPr>
            <a:r>
              <a:rPr sz="1000" b="0" i="0">
                <a:solidFill>
                  <a:srgbClr val="5B6456"/>
                </a:solidFill>
                <a:latin typeface="Arial"/>
              </a:rPr>
              <a:t>5</a:t>
            </a:r>
          </a:p>
        </p:txBody>
      </p:sp>
      <p:cxnSp>
        <p:nvCxnSpPr>
          <p:cNvPr id="16" name="Connector 15"/>
          <p:cNvCxnSpPr/>
          <p:nvPr/>
        </p:nvCxnSpPr>
        <p:spPr>
          <a:xfrm>
            <a:off x="3310128" y="3017520"/>
            <a:ext cx="0" cy="54864"/>
          </a:xfrm>
          <a:prstGeom prst="line">
            <a:avLst/>
          </a:prstGeom>
          <a:ln w="9525">
            <a:solidFill>
              <a:srgbClr val="0C1408"/>
            </a:solidFill>
          </a:ln>
        </p:spPr>
      </p:cxnSp>
      <p:sp>
        <p:nvSpPr>
          <p:cNvPr id="17" name="TextBox 16"/>
          <p:cNvSpPr txBox="1"/>
          <p:nvPr/>
        </p:nvSpPr>
        <p:spPr>
          <a:xfrm>
            <a:off x="3081528" y="3090672"/>
            <a:ext cx="457200" cy="228600"/>
          </a:xfrm>
          <a:prstGeom prst="rect">
            <a:avLst/>
          </a:prstGeom>
          <a:noFill/>
        </p:spPr>
        <p:txBody>
          <a:bodyPr wrap="square" lIns="0" rIns="0" tIns="0" bIns="0" anchor="t">
            <a:noAutofit/>
          </a:bodyPr>
          <a:lstStyle/>
          <a:p>
            <a:pPr algn="ctr">
              <a:lnSpc>
                <a:spcPct val="110000"/>
              </a:lnSpc>
            </a:pPr>
            <a:r>
              <a:rPr sz="1000" b="0" i="0">
                <a:solidFill>
                  <a:srgbClr val="5B6456"/>
                </a:solidFill>
                <a:latin typeface="Arial"/>
              </a:rPr>
              <a:t>8</a:t>
            </a:r>
          </a:p>
        </p:txBody>
      </p:sp>
      <p:cxnSp>
        <p:nvCxnSpPr>
          <p:cNvPr id="18" name="Connector 17"/>
          <p:cNvCxnSpPr/>
          <p:nvPr/>
        </p:nvCxnSpPr>
        <p:spPr>
          <a:xfrm>
            <a:off x="4017264" y="3017520"/>
            <a:ext cx="0" cy="54864"/>
          </a:xfrm>
          <a:prstGeom prst="line">
            <a:avLst/>
          </a:prstGeom>
          <a:ln w="9525">
            <a:solidFill>
              <a:srgbClr val="0C1408"/>
            </a:solidFill>
          </a:ln>
        </p:spPr>
      </p:cxnSp>
      <p:sp>
        <p:nvSpPr>
          <p:cNvPr id="19" name="TextBox 18"/>
          <p:cNvSpPr txBox="1"/>
          <p:nvPr/>
        </p:nvSpPr>
        <p:spPr>
          <a:xfrm>
            <a:off x="3788664" y="3090672"/>
            <a:ext cx="457200" cy="228600"/>
          </a:xfrm>
          <a:prstGeom prst="rect">
            <a:avLst/>
          </a:prstGeom>
          <a:noFill/>
        </p:spPr>
        <p:txBody>
          <a:bodyPr wrap="square" lIns="0" rIns="0" tIns="0" bIns="0" anchor="t">
            <a:noAutofit/>
          </a:bodyPr>
          <a:lstStyle/>
          <a:p>
            <a:pPr algn="ctr">
              <a:lnSpc>
                <a:spcPct val="110000"/>
              </a:lnSpc>
            </a:pPr>
            <a:r>
              <a:rPr sz="1000" b="0" i="0">
                <a:solidFill>
                  <a:srgbClr val="5B6456"/>
                </a:solidFill>
                <a:latin typeface="Arial"/>
              </a:rPr>
              <a:t>10</a:t>
            </a:r>
          </a:p>
        </p:txBody>
      </p:sp>
      <p:cxnSp>
        <p:nvCxnSpPr>
          <p:cNvPr id="20" name="Connector 19"/>
          <p:cNvCxnSpPr/>
          <p:nvPr/>
        </p:nvCxnSpPr>
        <p:spPr>
          <a:xfrm>
            <a:off x="5785104" y="3017520"/>
            <a:ext cx="0" cy="54864"/>
          </a:xfrm>
          <a:prstGeom prst="line">
            <a:avLst/>
          </a:prstGeom>
          <a:ln w="9525">
            <a:solidFill>
              <a:srgbClr val="0C1408"/>
            </a:solidFill>
          </a:ln>
        </p:spPr>
      </p:cxnSp>
      <p:sp>
        <p:nvSpPr>
          <p:cNvPr id="21" name="TextBox 20"/>
          <p:cNvSpPr txBox="1"/>
          <p:nvPr/>
        </p:nvSpPr>
        <p:spPr>
          <a:xfrm>
            <a:off x="5556504" y="3090672"/>
            <a:ext cx="457200" cy="228600"/>
          </a:xfrm>
          <a:prstGeom prst="rect">
            <a:avLst/>
          </a:prstGeom>
          <a:noFill/>
        </p:spPr>
        <p:txBody>
          <a:bodyPr wrap="square" lIns="0" rIns="0" tIns="0" bIns="0" anchor="t">
            <a:noAutofit/>
          </a:bodyPr>
          <a:lstStyle/>
          <a:p>
            <a:pPr algn="ctr">
              <a:lnSpc>
                <a:spcPct val="110000"/>
              </a:lnSpc>
            </a:pPr>
            <a:r>
              <a:rPr sz="1000" b="0" i="0">
                <a:solidFill>
                  <a:srgbClr val="5B6456"/>
                </a:solidFill>
                <a:latin typeface="Arial"/>
              </a:rPr>
              <a:t>15</a:t>
            </a:r>
          </a:p>
        </p:txBody>
      </p:sp>
      <p:cxnSp>
        <p:nvCxnSpPr>
          <p:cNvPr id="22" name="Connector 21"/>
          <p:cNvCxnSpPr/>
          <p:nvPr/>
        </p:nvCxnSpPr>
        <p:spPr>
          <a:xfrm>
            <a:off x="7552944" y="3017520"/>
            <a:ext cx="0" cy="54864"/>
          </a:xfrm>
          <a:prstGeom prst="line">
            <a:avLst/>
          </a:prstGeom>
          <a:ln w="9525">
            <a:solidFill>
              <a:srgbClr val="0C1408"/>
            </a:solidFill>
          </a:ln>
        </p:spPr>
      </p:cxnSp>
      <p:sp>
        <p:nvSpPr>
          <p:cNvPr id="23" name="TextBox 22"/>
          <p:cNvSpPr txBox="1"/>
          <p:nvPr/>
        </p:nvSpPr>
        <p:spPr>
          <a:xfrm>
            <a:off x="7324344" y="3090672"/>
            <a:ext cx="457200" cy="228600"/>
          </a:xfrm>
          <a:prstGeom prst="rect">
            <a:avLst/>
          </a:prstGeom>
          <a:noFill/>
        </p:spPr>
        <p:txBody>
          <a:bodyPr wrap="square" lIns="0" rIns="0" tIns="0" bIns="0" anchor="t">
            <a:noAutofit/>
          </a:bodyPr>
          <a:lstStyle/>
          <a:p>
            <a:pPr algn="ctr">
              <a:lnSpc>
                <a:spcPct val="110000"/>
              </a:lnSpc>
            </a:pPr>
            <a:r>
              <a:rPr sz="1000" b="0" i="0">
                <a:solidFill>
                  <a:srgbClr val="5B6456"/>
                </a:solidFill>
                <a:latin typeface="Arial"/>
              </a:rPr>
              <a:t>20</a:t>
            </a:r>
          </a:p>
        </p:txBody>
      </p:sp>
      <p:cxnSp>
        <p:nvCxnSpPr>
          <p:cNvPr id="24" name="Connector 23"/>
          <p:cNvCxnSpPr/>
          <p:nvPr/>
        </p:nvCxnSpPr>
        <p:spPr>
          <a:xfrm>
            <a:off x="9320784" y="3017520"/>
            <a:ext cx="0" cy="54864"/>
          </a:xfrm>
          <a:prstGeom prst="line">
            <a:avLst/>
          </a:prstGeom>
          <a:ln w="9525">
            <a:solidFill>
              <a:srgbClr val="0C1408"/>
            </a:solidFill>
          </a:ln>
        </p:spPr>
      </p:cxnSp>
      <p:sp>
        <p:nvSpPr>
          <p:cNvPr id="25" name="TextBox 24"/>
          <p:cNvSpPr txBox="1"/>
          <p:nvPr/>
        </p:nvSpPr>
        <p:spPr>
          <a:xfrm>
            <a:off x="9092184" y="3090672"/>
            <a:ext cx="457200" cy="228600"/>
          </a:xfrm>
          <a:prstGeom prst="rect">
            <a:avLst/>
          </a:prstGeom>
          <a:noFill/>
        </p:spPr>
        <p:txBody>
          <a:bodyPr wrap="square" lIns="0" rIns="0" tIns="0" bIns="0" anchor="t">
            <a:noAutofit/>
          </a:bodyPr>
          <a:lstStyle/>
          <a:p>
            <a:pPr algn="ctr">
              <a:lnSpc>
                <a:spcPct val="110000"/>
              </a:lnSpc>
            </a:pPr>
            <a:r>
              <a:rPr sz="1000" b="0" i="0">
                <a:solidFill>
                  <a:srgbClr val="5B6456"/>
                </a:solidFill>
                <a:latin typeface="Arial"/>
              </a:rPr>
              <a:t>25</a:t>
            </a:r>
          </a:p>
        </p:txBody>
      </p:sp>
      <p:cxnSp>
        <p:nvCxnSpPr>
          <p:cNvPr id="26" name="Connector 25"/>
          <p:cNvCxnSpPr/>
          <p:nvPr/>
        </p:nvCxnSpPr>
        <p:spPr>
          <a:xfrm>
            <a:off x="11088624" y="3017520"/>
            <a:ext cx="0" cy="54864"/>
          </a:xfrm>
          <a:prstGeom prst="line">
            <a:avLst/>
          </a:prstGeom>
          <a:ln w="9525">
            <a:solidFill>
              <a:srgbClr val="0C1408"/>
            </a:solidFill>
          </a:ln>
        </p:spPr>
      </p:cxnSp>
      <p:sp>
        <p:nvSpPr>
          <p:cNvPr id="27" name="TextBox 26"/>
          <p:cNvSpPr txBox="1"/>
          <p:nvPr/>
        </p:nvSpPr>
        <p:spPr>
          <a:xfrm>
            <a:off x="10860024" y="3090672"/>
            <a:ext cx="457200" cy="228600"/>
          </a:xfrm>
          <a:prstGeom prst="rect">
            <a:avLst/>
          </a:prstGeom>
          <a:noFill/>
        </p:spPr>
        <p:txBody>
          <a:bodyPr wrap="square" lIns="0" rIns="0" tIns="0" bIns="0" anchor="t">
            <a:noAutofit/>
          </a:bodyPr>
          <a:lstStyle/>
          <a:p>
            <a:pPr algn="ctr">
              <a:lnSpc>
                <a:spcPct val="110000"/>
              </a:lnSpc>
            </a:pPr>
            <a:r>
              <a:rPr sz="1000" b="0" i="0">
                <a:solidFill>
                  <a:srgbClr val="5B6456"/>
                </a:solidFill>
                <a:latin typeface="Arial"/>
              </a:rPr>
              <a:t>30</a:t>
            </a:r>
          </a:p>
        </p:txBody>
      </p:sp>
      <p:sp>
        <p:nvSpPr>
          <p:cNvPr id="28" name="TextBox 27"/>
          <p:cNvSpPr txBox="1"/>
          <p:nvPr/>
        </p:nvSpPr>
        <p:spPr>
          <a:xfrm>
            <a:off x="11338560" y="2926079"/>
            <a:ext cx="548640" cy="228600"/>
          </a:xfrm>
          <a:prstGeom prst="rect">
            <a:avLst/>
          </a:prstGeom>
          <a:noFill/>
        </p:spPr>
        <p:txBody>
          <a:bodyPr wrap="square" lIns="0" rIns="0" tIns="0" bIns="0" anchor="t">
            <a:noAutofit/>
          </a:bodyPr>
          <a:lstStyle/>
          <a:p>
            <a:pPr algn="l">
              <a:lnSpc>
                <a:spcPct val="110000"/>
              </a:lnSpc>
            </a:pPr>
            <a:r>
              <a:rPr sz="1000" b="0" i="0">
                <a:solidFill>
                  <a:srgbClr val="5B6456"/>
                </a:solidFill>
                <a:latin typeface="Arial"/>
              </a:rPr>
              <a:t>day</a:t>
            </a:r>
          </a:p>
        </p:txBody>
      </p:sp>
      <p:cxnSp>
        <p:nvCxnSpPr>
          <p:cNvPr id="29" name="Connector 28"/>
          <p:cNvCxnSpPr/>
          <p:nvPr/>
        </p:nvCxnSpPr>
        <p:spPr>
          <a:xfrm>
            <a:off x="3310128" y="2057400"/>
            <a:ext cx="0" cy="1280160"/>
          </a:xfrm>
          <a:prstGeom prst="line">
            <a:avLst/>
          </a:prstGeom>
          <a:ln w="31750">
            <a:solidFill>
              <a:srgbClr val="41801A"/>
            </a:solidFill>
          </a:ln>
        </p:spPr>
      </p:cxnSp>
      <p:sp>
        <p:nvSpPr>
          <p:cNvPr id="30" name="TextBox 29"/>
          <p:cNvSpPr txBox="1"/>
          <p:nvPr/>
        </p:nvSpPr>
        <p:spPr>
          <a:xfrm>
            <a:off x="3383280" y="1984248"/>
            <a:ext cx="2011680" cy="274320"/>
          </a:xfrm>
          <a:prstGeom prst="rect">
            <a:avLst/>
          </a:prstGeom>
          <a:noFill/>
        </p:spPr>
        <p:txBody>
          <a:bodyPr wrap="square" lIns="0" rIns="0" tIns="0" bIns="0" anchor="t">
            <a:noAutofit/>
          </a:bodyPr>
          <a:lstStyle/>
          <a:p>
            <a:pPr algn="l">
              <a:lnSpc>
                <a:spcPct val="110000"/>
              </a:lnSpc>
            </a:pPr>
            <a:r>
              <a:rPr sz="1100" b="1" i="0">
                <a:solidFill>
                  <a:srgbClr val="41801A"/>
                </a:solidFill>
                <a:latin typeface="Arial"/>
              </a:rPr>
              <a:t>Due date, the 8th</a:t>
            </a:r>
          </a:p>
        </p:txBody>
      </p:sp>
      <p:sp>
        <p:nvSpPr>
          <p:cNvPr id="31" name="TextBox 30"/>
          <p:cNvSpPr txBox="1"/>
          <p:nvPr/>
        </p:nvSpPr>
        <p:spPr>
          <a:xfrm>
            <a:off x="658368" y="3474720"/>
            <a:ext cx="1892807" cy="274320"/>
          </a:xfrm>
          <a:prstGeom prst="rect">
            <a:avLst/>
          </a:prstGeom>
          <a:noFill/>
        </p:spPr>
        <p:txBody>
          <a:bodyPr wrap="square" lIns="0" rIns="0" tIns="0" bIns="0" anchor="t">
            <a:noAutofit/>
          </a:bodyPr>
          <a:lstStyle/>
          <a:p>
            <a:pPr algn="l">
              <a:lnSpc>
                <a:spcPct val="110000"/>
              </a:lnSpc>
            </a:pPr>
            <a:r>
              <a:rPr sz="1400" b="1" i="0">
                <a:solidFill>
                  <a:srgbClr val="0C1408"/>
                </a:solidFill>
                <a:latin typeface="Arial"/>
              </a:rPr>
              <a:t>Payday</a:t>
            </a:r>
          </a:p>
        </p:txBody>
      </p:sp>
      <p:sp>
        <p:nvSpPr>
          <p:cNvPr id="32" name="TextBox 31"/>
          <p:cNvSpPr txBox="1"/>
          <p:nvPr/>
        </p:nvSpPr>
        <p:spPr>
          <a:xfrm>
            <a:off x="658368" y="3767328"/>
            <a:ext cx="1892807" cy="822960"/>
          </a:xfrm>
          <a:prstGeom prst="rect">
            <a:avLst/>
          </a:prstGeom>
          <a:noFill/>
        </p:spPr>
        <p:txBody>
          <a:bodyPr wrap="square" lIns="0" rIns="0" tIns="0" bIns="0" anchor="t">
            <a:noAutofit/>
          </a:bodyPr>
          <a:lstStyle/>
          <a:p>
            <a:pPr algn="l">
              <a:lnSpc>
                <a:spcPct val="105000"/>
              </a:lnSpc>
            </a:pPr>
            <a:r>
              <a:rPr sz="1200" b="0" i="0">
                <a:solidFill>
                  <a:srgbClr val="0C1408"/>
                </a:solidFill>
                <a:latin typeface="Arial"/>
              </a:rPr>
              <a:t>Salary arrives in the member's Mashreq account.</a:t>
            </a:r>
          </a:p>
        </p:txBody>
      </p:sp>
      <p:sp>
        <p:nvSpPr>
          <p:cNvPr id="33" name="TextBox 32"/>
          <p:cNvSpPr txBox="1"/>
          <p:nvPr/>
        </p:nvSpPr>
        <p:spPr>
          <a:xfrm>
            <a:off x="658368" y="4590288"/>
            <a:ext cx="1892807" cy="548640"/>
          </a:xfrm>
          <a:prstGeom prst="rect">
            <a:avLst/>
          </a:prstGeom>
          <a:noFill/>
        </p:spPr>
        <p:txBody>
          <a:bodyPr wrap="square" lIns="0" rIns="0" tIns="0" bIns="0" anchor="t">
            <a:noAutofit/>
          </a:bodyPr>
          <a:lstStyle/>
          <a:p>
            <a:pPr algn="l">
              <a:lnSpc>
                <a:spcPct val="100000"/>
              </a:lnSpc>
            </a:pPr>
            <a:r>
              <a:rPr sz="1200" b="1" i="0">
                <a:solidFill>
                  <a:srgbClr val="E0602A"/>
                </a:solidFill>
                <a:latin typeface="Arial"/>
              </a:rPr>
              <a:t>NEO current account</a:t>
            </a:r>
          </a:p>
        </p:txBody>
      </p:sp>
      <p:sp>
        <p:nvSpPr>
          <p:cNvPr id="34" name="TextBox 33"/>
          <p:cNvSpPr txBox="1"/>
          <p:nvPr/>
        </p:nvSpPr>
        <p:spPr>
          <a:xfrm>
            <a:off x="2779776" y="3474720"/>
            <a:ext cx="1892807" cy="274320"/>
          </a:xfrm>
          <a:prstGeom prst="rect">
            <a:avLst/>
          </a:prstGeom>
          <a:noFill/>
        </p:spPr>
        <p:txBody>
          <a:bodyPr wrap="square" lIns="0" rIns="0" tIns="0" bIns="0" anchor="t">
            <a:noAutofit/>
          </a:bodyPr>
          <a:lstStyle/>
          <a:p>
            <a:pPr algn="l">
              <a:lnSpc>
                <a:spcPct val="110000"/>
              </a:lnSpc>
            </a:pPr>
            <a:r>
              <a:rPr sz="1400" b="1" i="0">
                <a:solidFill>
                  <a:srgbClr val="0C1408"/>
                </a:solidFill>
                <a:latin typeface="Arial"/>
              </a:rPr>
              <a:t>Waiting</a:t>
            </a:r>
          </a:p>
        </p:txBody>
      </p:sp>
      <p:sp>
        <p:nvSpPr>
          <p:cNvPr id="35" name="TextBox 34"/>
          <p:cNvSpPr txBox="1"/>
          <p:nvPr/>
        </p:nvSpPr>
        <p:spPr>
          <a:xfrm>
            <a:off x="2779776" y="3767328"/>
            <a:ext cx="1892807" cy="822960"/>
          </a:xfrm>
          <a:prstGeom prst="rect">
            <a:avLst/>
          </a:prstGeom>
          <a:noFill/>
        </p:spPr>
        <p:txBody>
          <a:bodyPr wrap="square" lIns="0" rIns="0" tIns="0" bIns="0" anchor="t">
            <a:noAutofit/>
          </a:bodyPr>
          <a:lstStyle/>
          <a:p>
            <a:pPr algn="l">
              <a:lnSpc>
                <a:spcPct val="105000"/>
              </a:lnSpc>
            </a:pPr>
            <a:r>
              <a:rPr sz="1200" b="0" i="0">
                <a:solidFill>
                  <a:srgbClr val="0C1408"/>
                </a:solidFill>
                <a:latin typeface="Arial"/>
              </a:rPr>
              <a:t>The instalment earns profit for about seven days.</a:t>
            </a:r>
          </a:p>
        </p:txBody>
      </p:sp>
      <p:sp>
        <p:nvSpPr>
          <p:cNvPr id="36" name="TextBox 35"/>
          <p:cNvSpPr txBox="1"/>
          <p:nvPr/>
        </p:nvSpPr>
        <p:spPr>
          <a:xfrm>
            <a:off x="2779776" y="4590288"/>
            <a:ext cx="1892807" cy="548640"/>
          </a:xfrm>
          <a:prstGeom prst="rect">
            <a:avLst/>
          </a:prstGeom>
          <a:noFill/>
        </p:spPr>
        <p:txBody>
          <a:bodyPr wrap="square" lIns="0" rIns="0" tIns="0" bIns="0" anchor="t">
            <a:noAutofit/>
          </a:bodyPr>
          <a:lstStyle/>
          <a:p>
            <a:pPr algn="l">
              <a:lnSpc>
                <a:spcPct val="100000"/>
              </a:lnSpc>
            </a:pPr>
            <a:r>
              <a:rPr sz="1200" b="1" i="0">
                <a:solidFill>
                  <a:srgbClr val="E0602A"/>
                </a:solidFill>
                <a:latin typeface="Arial"/>
              </a:rPr>
              <a:t>Islamic Current Profit Account, up to 5%</a:t>
            </a:r>
          </a:p>
        </p:txBody>
      </p:sp>
      <p:sp>
        <p:nvSpPr>
          <p:cNvPr id="37" name="TextBox 36"/>
          <p:cNvSpPr txBox="1"/>
          <p:nvPr/>
        </p:nvSpPr>
        <p:spPr>
          <a:xfrm>
            <a:off x="4901183" y="3474720"/>
            <a:ext cx="1892807" cy="274320"/>
          </a:xfrm>
          <a:prstGeom prst="rect">
            <a:avLst/>
          </a:prstGeom>
          <a:noFill/>
        </p:spPr>
        <p:txBody>
          <a:bodyPr wrap="square" lIns="0" rIns="0" tIns="0" bIns="0" anchor="t">
            <a:noAutofit/>
          </a:bodyPr>
          <a:lstStyle/>
          <a:p>
            <a:pPr algn="l">
              <a:lnSpc>
                <a:spcPct val="110000"/>
              </a:lnSpc>
            </a:pPr>
            <a:r>
              <a:rPr sz="1400" b="1" i="0">
                <a:solidFill>
                  <a:srgbClr val="0C1408"/>
                </a:solidFill>
                <a:latin typeface="Arial"/>
              </a:rPr>
              <a:t>Due date</a:t>
            </a:r>
          </a:p>
        </p:txBody>
      </p:sp>
      <p:sp>
        <p:nvSpPr>
          <p:cNvPr id="38" name="TextBox 37"/>
          <p:cNvSpPr txBox="1"/>
          <p:nvPr/>
        </p:nvSpPr>
        <p:spPr>
          <a:xfrm>
            <a:off x="4901183" y="3767328"/>
            <a:ext cx="1892807" cy="822960"/>
          </a:xfrm>
          <a:prstGeom prst="rect">
            <a:avLst/>
          </a:prstGeom>
          <a:noFill/>
        </p:spPr>
        <p:txBody>
          <a:bodyPr wrap="square" lIns="0" rIns="0" tIns="0" bIns="0" anchor="t">
            <a:noAutofit/>
          </a:bodyPr>
          <a:lstStyle/>
          <a:p>
            <a:pPr algn="l">
              <a:lnSpc>
                <a:spcPct val="105000"/>
              </a:lnSpc>
            </a:pPr>
            <a:r>
              <a:rPr sz="1200" b="0" i="0">
                <a:solidFill>
                  <a:srgbClr val="0C1408"/>
                </a:solidFill>
                <a:latin typeface="Arial"/>
              </a:rPr>
              <a:t>Every member is debited; the pot is paid the same day.</a:t>
            </a:r>
          </a:p>
        </p:txBody>
      </p:sp>
      <p:sp>
        <p:nvSpPr>
          <p:cNvPr id="39" name="TextBox 38"/>
          <p:cNvSpPr txBox="1"/>
          <p:nvPr/>
        </p:nvSpPr>
        <p:spPr>
          <a:xfrm>
            <a:off x="4901183" y="4590288"/>
            <a:ext cx="1892807" cy="548640"/>
          </a:xfrm>
          <a:prstGeom prst="rect">
            <a:avLst/>
          </a:prstGeom>
          <a:noFill/>
        </p:spPr>
        <p:txBody>
          <a:bodyPr wrap="square" lIns="0" rIns="0" tIns="0" bIns="0" anchor="t">
            <a:noAutofit/>
          </a:bodyPr>
          <a:lstStyle/>
          <a:p>
            <a:pPr algn="l">
              <a:lnSpc>
                <a:spcPct val="100000"/>
              </a:lnSpc>
            </a:pPr>
            <a:r>
              <a:rPr sz="1200" b="1" i="0">
                <a:solidFill>
                  <a:srgbClr val="E0602A"/>
                </a:solidFill>
                <a:latin typeface="Arial"/>
              </a:rPr>
              <a:t>Debit mandate, new; free instant transfer</a:t>
            </a:r>
          </a:p>
        </p:txBody>
      </p:sp>
      <p:sp>
        <p:nvSpPr>
          <p:cNvPr id="40" name="TextBox 39"/>
          <p:cNvSpPr txBox="1"/>
          <p:nvPr/>
        </p:nvSpPr>
        <p:spPr>
          <a:xfrm>
            <a:off x="7022591" y="3474720"/>
            <a:ext cx="1892807" cy="274320"/>
          </a:xfrm>
          <a:prstGeom prst="rect">
            <a:avLst/>
          </a:prstGeom>
          <a:noFill/>
        </p:spPr>
        <p:txBody>
          <a:bodyPr wrap="square" lIns="0" rIns="0" tIns="0" bIns="0" anchor="t">
            <a:noAutofit/>
          </a:bodyPr>
          <a:lstStyle/>
          <a:p>
            <a:pPr algn="l">
              <a:lnSpc>
                <a:spcPct val="110000"/>
              </a:lnSpc>
            </a:pPr>
            <a:r>
              <a:rPr sz="1400" b="1" i="0">
                <a:solidFill>
                  <a:srgbClr val="0C1408"/>
                </a:solidFill>
                <a:latin typeface="Arial"/>
              </a:rPr>
              <a:t>Missed debit</a:t>
            </a:r>
          </a:p>
        </p:txBody>
      </p:sp>
      <p:sp>
        <p:nvSpPr>
          <p:cNvPr id="41" name="TextBox 40"/>
          <p:cNvSpPr txBox="1"/>
          <p:nvPr/>
        </p:nvSpPr>
        <p:spPr>
          <a:xfrm>
            <a:off x="7022591" y="3767328"/>
            <a:ext cx="1892807" cy="822960"/>
          </a:xfrm>
          <a:prstGeom prst="rect">
            <a:avLst/>
          </a:prstGeom>
          <a:noFill/>
        </p:spPr>
        <p:txBody>
          <a:bodyPr wrap="square" lIns="0" rIns="0" tIns="0" bIns="0" anchor="t">
            <a:noAutofit/>
          </a:bodyPr>
          <a:lstStyle/>
          <a:p>
            <a:pPr algn="l">
              <a:lnSpc>
                <a:spcPct val="105000"/>
              </a:lnSpc>
            </a:pPr>
            <a:r>
              <a:rPr sz="1200" b="0" i="0">
                <a:solidFill>
                  <a:srgbClr val="0C1408"/>
                </a:solidFill>
                <a:latin typeface="Arial"/>
              </a:rPr>
              <a:t>One retry each morning, five at most.</a:t>
            </a:r>
          </a:p>
        </p:txBody>
      </p:sp>
      <p:sp>
        <p:nvSpPr>
          <p:cNvPr id="42" name="TextBox 41"/>
          <p:cNvSpPr txBox="1"/>
          <p:nvPr/>
        </p:nvSpPr>
        <p:spPr>
          <a:xfrm>
            <a:off x="9144000" y="3474720"/>
            <a:ext cx="1892807" cy="274320"/>
          </a:xfrm>
          <a:prstGeom prst="rect">
            <a:avLst/>
          </a:prstGeom>
          <a:noFill/>
        </p:spPr>
        <p:txBody>
          <a:bodyPr wrap="square" lIns="0" rIns="0" tIns="0" bIns="0" anchor="t">
            <a:noAutofit/>
          </a:bodyPr>
          <a:lstStyle/>
          <a:p>
            <a:pPr algn="l">
              <a:lnSpc>
                <a:spcPct val="110000"/>
              </a:lnSpc>
            </a:pPr>
            <a:r>
              <a:rPr sz="1400" b="1" i="0">
                <a:solidFill>
                  <a:srgbClr val="0C1408"/>
                </a:solidFill>
                <a:latin typeface="Arial"/>
              </a:rPr>
              <a:t>Circle ends</a:t>
            </a:r>
          </a:p>
        </p:txBody>
      </p:sp>
      <p:sp>
        <p:nvSpPr>
          <p:cNvPr id="43" name="TextBox 42"/>
          <p:cNvSpPr txBox="1"/>
          <p:nvPr/>
        </p:nvSpPr>
        <p:spPr>
          <a:xfrm>
            <a:off x="9144000" y="3767328"/>
            <a:ext cx="1892807" cy="822960"/>
          </a:xfrm>
          <a:prstGeom prst="rect">
            <a:avLst/>
          </a:prstGeom>
          <a:noFill/>
        </p:spPr>
        <p:txBody>
          <a:bodyPr wrap="square" lIns="0" rIns="0" tIns="0" bIns="0" anchor="t">
            <a:noAutofit/>
          </a:bodyPr>
          <a:lstStyle/>
          <a:p>
            <a:pPr algn="l">
              <a:lnSpc>
                <a:spcPct val="105000"/>
              </a:lnSpc>
            </a:pPr>
            <a:r>
              <a:rPr sz="1200" b="0" i="0">
                <a:solidFill>
                  <a:srgbClr val="0C1408"/>
                </a:solidFill>
                <a:latin typeface="Arial"/>
              </a:rPr>
              <a:t>Profit returns to members as points.</a:t>
            </a:r>
          </a:p>
        </p:txBody>
      </p:sp>
      <p:sp>
        <p:nvSpPr>
          <p:cNvPr id="44" name="TextBox 43"/>
          <p:cNvSpPr txBox="1"/>
          <p:nvPr/>
        </p:nvSpPr>
        <p:spPr>
          <a:xfrm>
            <a:off x="9144000" y="4590288"/>
            <a:ext cx="1892807" cy="548640"/>
          </a:xfrm>
          <a:prstGeom prst="rect">
            <a:avLst/>
          </a:prstGeom>
          <a:noFill/>
        </p:spPr>
        <p:txBody>
          <a:bodyPr wrap="square" lIns="0" rIns="0" tIns="0" bIns="0" anchor="t">
            <a:noAutofit/>
          </a:bodyPr>
          <a:lstStyle/>
          <a:p>
            <a:pPr algn="l">
              <a:lnSpc>
                <a:spcPct val="100000"/>
              </a:lnSpc>
            </a:pPr>
            <a:r>
              <a:rPr sz="1200" b="1" i="0">
                <a:solidFill>
                  <a:srgbClr val="E0602A"/>
                </a:solidFill>
                <a:latin typeface="Arial"/>
              </a:rPr>
              <a:t>Islamic Savings Account, up to 11.5%</a:t>
            </a:r>
          </a:p>
        </p:txBody>
      </p:sp>
      <p:cxnSp>
        <p:nvCxnSpPr>
          <p:cNvPr id="45" name="Connector 44"/>
          <p:cNvCxnSpPr/>
          <p:nvPr/>
        </p:nvCxnSpPr>
        <p:spPr>
          <a:xfrm>
            <a:off x="566928" y="5596128"/>
            <a:ext cx="11057839" cy="0"/>
          </a:xfrm>
          <a:prstGeom prst="line">
            <a:avLst/>
          </a:prstGeom>
          <a:ln w="9525">
            <a:solidFill>
              <a:srgbClr val="D5DCD1"/>
            </a:solidFill>
          </a:ln>
        </p:spPr>
      </p:cxnSp>
      <p:sp>
        <p:nvSpPr>
          <p:cNvPr id="46" name="TextBox 45"/>
          <p:cNvSpPr txBox="1"/>
          <p:nvPr/>
        </p:nvSpPr>
        <p:spPr>
          <a:xfrm>
            <a:off x="566928" y="5669280"/>
            <a:ext cx="11057839" cy="457200"/>
          </a:xfrm>
          <a:prstGeom prst="rect">
            <a:avLst/>
          </a:prstGeom>
          <a:noFill/>
        </p:spPr>
        <p:txBody>
          <a:bodyPr wrap="square" lIns="0" rIns="0" tIns="0" bIns="0" anchor="t">
            <a:noAutofit/>
          </a:bodyPr>
          <a:lstStyle/>
          <a:p>
            <a:pPr algn="l">
              <a:lnSpc>
                <a:spcPct val="110000"/>
              </a:lnSpc>
            </a:pPr>
            <a:r>
              <a:rPr sz="1200" b="1" i="0">
                <a:solidFill>
                  <a:srgbClr val="0C1408"/>
                </a:solidFill>
                <a:latin typeface="Arial"/>
              </a:rPr>
              <a:t>Also used.</a:t>
            </a:r>
            <a:r>
              <a:rPr sz="1200" b="0" i="0">
                <a:solidFill>
                  <a:srgbClr val="0C1408"/>
                </a:solidFill>
                <a:latin typeface="Arial"/>
              </a:rPr>
              <a:t> The Mashreq Pakistan Account, for families in the UAE.   </a:t>
            </a:r>
            <a:r>
              <a:rPr sz="1200" b="1" i="0">
                <a:solidFill>
                  <a:srgbClr val="0C1408"/>
                </a:solidFill>
                <a:latin typeface="Arial"/>
              </a:rPr>
              <a:t>New lines.</a:t>
            </a:r>
            <a:r>
              <a:rPr sz="1200" b="0" i="0">
                <a:solidFill>
                  <a:srgbClr val="0C1408"/>
                </a:solidFill>
                <a:latin typeface="Arial"/>
              </a:rPr>
              <a:t> Cover for defaults; financing for asset circles.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9509760" cy="566928"/>
          </a:xfrm>
          <a:prstGeom prst="rect">
            <a:avLst/>
          </a:prstGeom>
          <a:noFill/>
        </p:spPr>
        <p:txBody>
          <a:bodyPr wrap="square" lIns="0" rIns="0" tIns="0" bIns="0" anchor="t">
            <a:noAutofit/>
          </a:bodyPr>
          <a:lstStyle/>
          <a:p>
            <a:pPr algn="l">
              <a:lnSpc>
                <a:spcPct val="110000"/>
              </a:lnSpc>
            </a:pPr>
            <a:r>
              <a:rPr sz="2800" b="0" i="0">
                <a:solidFill>
                  <a:srgbClr val="41801A"/>
                </a:solidFill>
                <a:latin typeface="Georgia"/>
              </a:rPr>
              <a:t>Mutual Benefit</a:t>
            </a:r>
          </a:p>
        </p:txBody>
      </p:sp>
      <p:sp>
        <p:nvSpPr>
          <p:cNvPr id="3" name="TextBox 2"/>
          <p:cNvSpPr txBox="1"/>
          <p:nvPr/>
        </p:nvSpPr>
        <p:spPr>
          <a:xfrm>
            <a:off x="566928" y="987552"/>
            <a:ext cx="11057839" cy="411480"/>
          </a:xfrm>
          <a:prstGeom prst="rect">
            <a:avLst/>
          </a:prstGeom>
          <a:noFill/>
        </p:spPr>
        <p:txBody>
          <a:bodyPr wrap="square" lIns="0" rIns="0" tIns="0" bIns="0" anchor="t">
            <a:noAutofit/>
          </a:bodyPr>
          <a:lstStyle/>
          <a:p>
            <a:pPr algn="l">
              <a:lnSpc>
                <a:spcPct val="110000"/>
              </a:lnSpc>
            </a:pPr>
            <a:r>
              <a:rPr sz="1800" b="0" i="0">
                <a:solidFill>
                  <a:srgbClr val="0C1408"/>
                </a:solidFill>
                <a:latin typeface="Arial"/>
              </a:rPr>
              <a:t>100,000 members would add about Rs 2.5 billion of deposits and 100,000 accounts.</a:t>
            </a:r>
          </a:p>
        </p:txBody>
      </p:sp>
      <p:pic>
        <p:nvPicPr>
          <p:cNvPr id="4" name="Picture 3" descr="halqa_logo.png"/>
          <p:cNvPicPr>
            <a:picLocks noChangeAspect="1"/>
          </p:cNvPicPr>
          <p:nvPr/>
        </p:nvPicPr>
        <p:blipFill>
          <a:blip r:embed="rId3"/>
          <a:stretch>
            <a:fillRect/>
          </a:stretch>
        </p:blipFill>
        <p:spPr>
          <a:xfrm>
            <a:off x="10600639" y="457200"/>
            <a:ext cx="1023202" cy="310896"/>
          </a:xfrm>
          <a:prstGeom prst="rect">
            <a:avLst/>
          </a:prstGeom>
        </p:spPr>
      </p:pic>
      <p:sp>
        <p:nvSpPr>
          <p:cNvPr id="5" name="TextBox 4"/>
          <p:cNvSpPr txBox="1"/>
          <p:nvPr/>
        </p:nvSpPr>
        <p:spPr>
          <a:xfrm>
            <a:off x="566928" y="6309360"/>
            <a:ext cx="10149840" cy="365760"/>
          </a:xfrm>
          <a:prstGeom prst="rect">
            <a:avLst/>
          </a:prstGeom>
          <a:noFill/>
        </p:spPr>
        <p:txBody>
          <a:bodyPr wrap="square" lIns="0" rIns="0" tIns="0" bIns="0" anchor="t">
            <a:noAutofit/>
          </a:bodyPr>
          <a:lstStyle/>
          <a:p>
            <a:pPr algn="l">
              <a:lnSpc>
                <a:spcPct val="100000"/>
              </a:lnSpc>
            </a:pPr>
            <a:r>
              <a:rPr sz="900" b="0" i="0">
                <a:solidFill>
                  <a:srgbClr val="5B6456"/>
                </a:solidFill>
                <a:latin typeface="Arial"/>
              </a:rPr>
              <a:t>Sources   Mashreq Bank Pakistan, half year accounts to 30 June 2026: deposits Rs 8,515 million, no advances; Mashreq press release, 24 November 2025</a:t>
            </a:r>
          </a:p>
        </p:txBody>
      </p:sp>
      <p:sp>
        <p:nvSpPr>
          <p:cNvPr id="6" name="TextBox 5"/>
          <p:cNvSpPr txBox="1"/>
          <p:nvPr/>
        </p:nvSpPr>
        <p:spPr>
          <a:xfrm>
            <a:off x="11076127" y="6355080"/>
            <a:ext cx="548640" cy="228600"/>
          </a:xfrm>
          <a:prstGeom prst="rect">
            <a:avLst/>
          </a:prstGeom>
          <a:noFill/>
        </p:spPr>
        <p:txBody>
          <a:bodyPr wrap="square" lIns="0" rIns="0" tIns="0" bIns="0" anchor="t">
            <a:noAutofit/>
          </a:bodyPr>
          <a:lstStyle/>
          <a:p>
            <a:pPr algn="r">
              <a:lnSpc>
                <a:spcPct val="110000"/>
              </a:lnSpc>
            </a:pPr>
            <a:r>
              <a:rPr sz="1000" b="0" i="0">
                <a:solidFill>
                  <a:srgbClr val="5B6456"/>
                </a:solidFill>
                <a:latin typeface="Arial"/>
              </a:rPr>
              <a:t>9</a:t>
            </a:r>
          </a:p>
        </p:txBody>
      </p:sp>
      <p:sp>
        <p:nvSpPr>
          <p:cNvPr id="7" name="TextBox 6"/>
          <p:cNvSpPr txBox="1"/>
          <p:nvPr/>
        </p:nvSpPr>
        <p:spPr>
          <a:xfrm>
            <a:off x="566928" y="1828800"/>
            <a:ext cx="5120640" cy="274320"/>
          </a:xfrm>
          <a:prstGeom prst="rect">
            <a:avLst/>
          </a:prstGeom>
          <a:noFill/>
        </p:spPr>
        <p:txBody>
          <a:bodyPr wrap="square" lIns="0" rIns="0" tIns="0" bIns="0" anchor="t">
            <a:noAutofit/>
          </a:bodyPr>
          <a:lstStyle/>
          <a:p>
            <a:pPr algn="l">
              <a:lnSpc>
                <a:spcPct val="110000"/>
              </a:lnSpc>
            </a:pPr>
            <a:r>
              <a:rPr sz="1300" b="1" i="0">
                <a:solidFill>
                  <a:srgbClr val="0C1408"/>
                </a:solidFill>
                <a:latin typeface="Arial"/>
              </a:rPr>
              <a:t>Customer deposits, Rs billion</a:t>
            </a:r>
          </a:p>
        </p:txBody>
      </p:sp>
      <p:sp>
        <p:nvSpPr>
          <p:cNvPr id="8" name="Rectangle 7"/>
          <p:cNvSpPr/>
          <p:nvPr/>
        </p:nvSpPr>
        <p:spPr>
          <a:xfrm>
            <a:off x="852678" y="4128516"/>
            <a:ext cx="685800" cy="854964"/>
          </a:xfrm>
          <a:prstGeom prst="rect">
            <a:avLst/>
          </a:prstGeom>
          <a:solidFill>
            <a:srgbClr val="E0602A"/>
          </a:solidFill>
          <a:ln>
            <a:noFill/>
          </a:ln>
        </p:spPr>
        <p:txBody>
          <a:bodyPr rtlCol="0" anchor="ctr" lIns="0" rIns="0"/>
          <a:lstStyle/>
          <a:p>
            <a:pPr algn="ctr"/>
          </a:p>
        </p:txBody>
      </p:sp>
      <p:sp>
        <p:nvSpPr>
          <p:cNvPr id="9" name="TextBox 8"/>
          <p:cNvSpPr txBox="1"/>
          <p:nvPr/>
        </p:nvSpPr>
        <p:spPr>
          <a:xfrm>
            <a:off x="566928" y="3835908"/>
            <a:ext cx="1257300" cy="274320"/>
          </a:xfrm>
          <a:prstGeom prst="rect">
            <a:avLst/>
          </a:prstGeom>
          <a:noFill/>
        </p:spPr>
        <p:txBody>
          <a:bodyPr wrap="square" lIns="0" rIns="0" tIns="0" bIns="0" anchor="b">
            <a:noAutofit/>
          </a:bodyPr>
          <a:lstStyle/>
          <a:p>
            <a:pPr algn="ctr">
              <a:lnSpc>
                <a:spcPct val="110000"/>
              </a:lnSpc>
            </a:pPr>
            <a:r>
              <a:rPr sz="1500" b="0" i="0">
                <a:solidFill>
                  <a:srgbClr val="0C1408"/>
                </a:solidFill>
                <a:latin typeface="Georgia"/>
              </a:rPr>
              <a:t>8.5</a:t>
            </a:r>
          </a:p>
        </p:txBody>
      </p:sp>
      <p:sp>
        <p:nvSpPr>
          <p:cNvPr id="10" name="TextBox 9"/>
          <p:cNvSpPr txBox="1"/>
          <p:nvPr/>
        </p:nvSpPr>
        <p:spPr>
          <a:xfrm>
            <a:off x="566928" y="5056632"/>
            <a:ext cx="1257300" cy="502920"/>
          </a:xfrm>
          <a:prstGeom prst="rect">
            <a:avLst/>
          </a:prstGeom>
          <a:noFill/>
        </p:spPr>
        <p:txBody>
          <a:bodyPr wrap="square" lIns="0" rIns="0" tIns="0" bIns="0" anchor="t">
            <a:noAutofit/>
          </a:bodyPr>
          <a:lstStyle/>
          <a:p>
            <a:pPr algn="ctr">
              <a:lnSpc>
                <a:spcPct val="110000"/>
              </a:lnSpc>
            </a:pPr>
            <a:r>
              <a:rPr sz="1100" b="0" i="0">
                <a:solidFill>
                  <a:srgbClr val="0C1408"/>
                </a:solidFill>
                <a:latin typeface="Arial"/>
              </a:rPr>
              <a:t>Mashreq</a:t>
            </a:r>
          </a:p>
          <a:p>
            <a:pPr algn="ctr">
              <a:lnSpc>
                <a:spcPct val="110000"/>
              </a:lnSpc>
            </a:pPr>
            <a:r>
              <a:rPr sz="1100" b="0" i="0">
                <a:solidFill>
                  <a:srgbClr val="0C1408"/>
                </a:solidFill>
                <a:latin typeface="Arial"/>
              </a:rPr>
              <a:t>30 June 2026</a:t>
            </a:r>
          </a:p>
        </p:txBody>
      </p:sp>
      <p:sp>
        <p:nvSpPr>
          <p:cNvPr id="11" name="Rectangle 10"/>
          <p:cNvSpPr/>
          <p:nvPr/>
        </p:nvSpPr>
        <p:spPr>
          <a:xfrm>
            <a:off x="2109978" y="4958334"/>
            <a:ext cx="685800" cy="25146"/>
          </a:xfrm>
          <a:prstGeom prst="rect">
            <a:avLst/>
          </a:prstGeom>
          <a:solidFill>
            <a:srgbClr val="6DC72A"/>
          </a:solidFill>
          <a:ln>
            <a:noFill/>
          </a:ln>
        </p:spPr>
        <p:txBody>
          <a:bodyPr rtlCol="0" anchor="ctr" lIns="0" rIns="0"/>
          <a:lstStyle/>
          <a:p>
            <a:pPr algn="ctr"/>
          </a:p>
        </p:txBody>
      </p:sp>
      <p:sp>
        <p:nvSpPr>
          <p:cNvPr id="12" name="TextBox 11"/>
          <p:cNvSpPr txBox="1"/>
          <p:nvPr/>
        </p:nvSpPr>
        <p:spPr>
          <a:xfrm>
            <a:off x="1824228" y="4665726"/>
            <a:ext cx="1257300" cy="274320"/>
          </a:xfrm>
          <a:prstGeom prst="rect">
            <a:avLst/>
          </a:prstGeom>
          <a:noFill/>
        </p:spPr>
        <p:txBody>
          <a:bodyPr wrap="square" lIns="0" rIns="0" tIns="0" bIns="0" anchor="b">
            <a:noAutofit/>
          </a:bodyPr>
          <a:lstStyle/>
          <a:p>
            <a:pPr algn="ctr">
              <a:lnSpc>
                <a:spcPct val="110000"/>
              </a:lnSpc>
            </a:pPr>
            <a:r>
              <a:rPr sz="1500" b="0" i="0">
                <a:solidFill>
                  <a:srgbClr val="0C1408"/>
                </a:solidFill>
                <a:latin typeface="Georgia"/>
              </a:rPr>
              <a:t>0.25</a:t>
            </a:r>
          </a:p>
        </p:txBody>
      </p:sp>
      <p:sp>
        <p:nvSpPr>
          <p:cNvPr id="13" name="TextBox 12"/>
          <p:cNvSpPr txBox="1"/>
          <p:nvPr/>
        </p:nvSpPr>
        <p:spPr>
          <a:xfrm>
            <a:off x="1824228" y="5056632"/>
            <a:ext cx="1257300" cy="502920"/>
          </a:xfrm>
          <a:prstGeom prst="rect">
            <a:avLst/>
          </a:prstGeom>
          <a:noFill/>
        </p:spPr>
        <p:txBody>
          <a:bodyPr wrap="square" lIns="0" rIns="0" tIns="0" bIns="0" anchor="t">
            <a:noAutofit/>
          </a:bodyPr>
          <a:lstStyle/>
          <a:p>
            <a:pPr algn="ctr">
              <a:lnSpc>
                <a:spcPct val="110000"/>
              </a:lnSpc>
            </a:pPr>
            <a:r>
              <a:rPr sz="1100" b="0" i="0">
                <a:solidFill>
                  <a:srgbClr val="0C1408"/>
                </a:solidFill>
                <a:latin typeface="Arial"/>
              </a:rPr>
              <a:t>10,000</a:t>
            </a:r>
          </a:p>
          <a:p>
            <a:pPr algn="ctr">
              <a:lnSpc>
                <a:spcPct val="110000"/>
              </a:lnSpc>
            </a:pPr>
            <a:r>
              <a:rPr sz="1100" b="0" i="0">
                <a:solidFill>
                  <a:srgbClr val="0C1408"/>
                </a:solidFill>
                <a:latin typeface="Arial"/>
              </a:rPr>
              <a:t>members</a:t>
            </a:r>
          </a:p>
        </p:txBody>
      </p:sp>
      <p:sp>
        <p:nvSpPr>
          <p:cNvPr id="14" name="Rectangle 13"/>
          <p:cNvSpPr/>
          <p:nvPr/>
        </p:nvSpPr>
        <p:spPr>
          <a:xfrm>
            <a:off x="3367278" y="4732020"/>
            <a:ext cx="685800" cy="251460"/>
          </a:xfrm>
          <a:prstGeom prst="rect">
            <a:avLst/>
          </a:prstGeom>
          <a:solidFill>
            <a:srgbClr val="6DC72A"/>
          </a:solidFill>
          <a:ln>
            <a:noFill/>
          </a:ln>
        </p:spPr>
        <p:txBody>
          <a:bodyPr rtlCol="0" anchor="ctr" lIns="0" rIns="0"/>
          <a:lstStyle/>
          <a:p>
            <a:pPr algn="ctr"/>
          </a:p>
        </p:txBody>
      </p:sp>
      <p:sp>
        <p:nvSpPr>
          <p:cNvPr id="15" name="TextBox 14"/>
          <p:cNvSpPr txBox="1"/>
          <p:nvPr/>
        </p:nvSpPr>
        <p:spPr>
          <a:xfrm>
            <a:off x="3081528" y="4439412"/>
            <a:ext cx="1257300" cy="274320"/>
          </a:xfrm>
          <a:prstGeom prst="rect">
            <a:avLst/>
          </a:prstGeom>
          <a:noFill/>
        </p:spPr>
        <p:txBody>
          <a:bodyPr wrap="square" lIns="0" rIns="0" tIns="0" bIns="0" anchor="b">
            <a:noAutofit/>
          </a:bodyPr>
          <a:lstStyle/>
          <a:p>
            <a:pPr algn="ctr">
              <a:lnSpc>
                <a:spcPct val="110000"/>
              </a:lnSpc>
            </a:pPr>
            <a:r>
              <a:rPr sz="1500" b="0" i="0">
                <a:solidFill>
                  <a:srgbClr val="0C1408"/>
                </a:solidFill>
                <a:latin typeface="Georgia"/>
              </a:rPr>
              <a:t>2.5</a:t>
            </a:r>
          </a:p>
        </p:txBody>
      </p:sp>
      <p:sp>
        <p:nvSpPr>
          <p:cNvPr id="16" name="TextBox 15"/>
          <p:cNvSpPr txBox="1"/>
          <p:nvPr/>
        </p:nvSpPr>
        <p:spPr>
          <a:xfrm>
            <a:off x="3081528" y="5056632"/>
            <a:ext cx="1257300" cy="502920"/>
          </a:xfrm>
          <a:prstGeom prst="rect">
            <a:avLst/>
          </a:prstGeom>
          <a:noFill/>
        </p:spPr>
        <p:txBody>
          <a:bodyPr wrap="square" lIns="0" rIns="0" tIns="0" bIns="0" anchor="t">
            <a:noAutofit/>
          </a:bodyPr>
          <a:lstStyle/>
          <a:p>
            <a:pPr algn="ctr">
              <a:lnSpc>
                <a:spcPct val="110000"/>
              </a:lnSpc>
            </a:pPr>
            <a:r>
              <a:rPr sz="1100" b="0" i="0">
                <a:solidFill>
                  <a:srgbClr val="0C1408"/>
                </a:solidFill>
                <a:latin typeface="Arial"/>
              </a:rPr>
              <a:t>100,000</a:t>
            </a:r>
          </a:p>
          <a:p>
            <a:pPr algn="ctr">
              <a:lnSpc>
                <a:spcPct val="110000"/>
              </a:lnSpc>
            </a:pPr>
            <a:r>
              <a:rPr sz="1100" b="0" i="0">
                <a:solidFill>
                  <a:srgbClr val="0C1408"/>
                </a:solidFill>
                <a:latin typeface="Arial"/>
              </a:rPr>
              <a:t>members</a:t>
            </a:r>
          </a:p>
        </p:txBody>
      </p:sp>
      <p:sp>
        <p:nvSpPr>
          <p:cNvPr id="17" name="Rectangle 16"/>
          <p:cNvSpPr/>
          <p:nvPr/>
        </p:nvSpPr>
        <p:spPr>
          <a:xfrm>
            <a:off x="4624578" y="2468880"/>
            <a:ext cx="685800" cy="2514600"/>
          </a:xfrm>
          <a:prstGeom prst="rect">
            <a:avLst/>
          </a:prstGeom>
          <a:solidFill>
            <a:srgbClr val="41801A"/>
          </a:solidFill>
          <a:ln>
            <a:noFill/>
          </a:ln>
        </p:spPr>
        <p:txBody>
          <a:bodyPr rtlCol="0" anchor="ctr" lIns="0" rIns="0"/>
          <a:lstStyle/>
          <a:p>
            <a:pPr algn="ctr"/>
          </a:p>
        </p:txBody>
      </p:sp>
      <p:sp>
        <p:nvSpPr>
          <p:cNvPr id="18" name="TextBox 17"/>
          <p:cNvSpPr txBox="1"/>
          <p:nvPr/>
        </p:nvSpPr>
        <p:spPr>
          <a:xfrm>
            <a:off x="4338828" y="2176272"/>
            <a:ext cx="1257300" cy="274320"/>
          </a:xfrm>
          <a:prstGeom prst="rect">
            <a:avLst/>
          </a:prstGeom>
          <a:noFill/>
        </p:spPr>
        <p:txBody>
          <a:bodyPr wrap="square" lIns="0" rIns="0" tIns="0" bIns="0" anchor="b">
            <a:noAutofit/>
          </a:bodyPr>
          <a:lstStyle/>
          <a:p>
            <a:pPr algn="ctr">
              <a:lnSpc>
                <a:spcPct val="110000"/>
              </a:lnSpc>
            </a:pPr>
            <a:r>
              <a:rPr sz="1500" b="0" i="0">
                <a:solidFill>
                  <a:srgbClr val="0C1408"/>
                </a:solidFill>
                <a:latin typeface="Georgia"/>
              </a:rPr>
              <a:t>25</a:t>
            </a:r>
          </a:p>
        </p:txBody>
      </p:sp>
      <p:sp>
        <p:nvSpPr>
          <p:cNvPr id="19" name="TextBox 18"/>
          <p:cNvSpPr txBox="1"/>
          <p:nvPr/>
        </p:nvSpPr>
        <p:spPr>
          <a:xfrm>
            <a:off x="4338828" y="5056632"/>
            <a:ext cx="1257300" cy="502920"/>
          </a:xfrm>
          <a:prstGeom prst="rect">
            <a:avLst/>
          </a:prstGeom>
          <a:noFill/>
        </p:spPr>
        <p:txBody>
          <a:bodyPr wrap="square" lIns="0" rIns="0" tIns="0" bIns="0" anchor="t">
            <a:noAutofit/>
          </a:bodyPr>
          <a:lstStyle/>
          <a:p>
            <a:pPr algn="ctr">
              <a:lnSpc>
                <a:spcPct val="110000"/>
              </a:lnSpc>
            </a:pPr>
            <a:r>
              <a:rPr sz="1100" b="0" i="0">
                <a:solidFill>
                  <a:srgbClr val="0C1408"/>
                </a:solidFill>
                <a:latin typeface="Arial"/>
              </a:rPr>
              <a:t>1,000,000</a:t>
            </a:r>
          </a:p>
          <a:p>
            <a:pPr algn="ctr">
              <a:lnSpc>
                <a:spcPct val="110000"/>
              </a:lnSpc>
            </a:pPr>
            <a:r>
              <a:rPr sz="1100" b="0" i="0">
                <a:solidFill>
                  <a:srgbClr val="0C1408"/>
                </a:solidFill>
                <a:latin typeface="Arial"/>
              </a:rPr>
              <a:t>members</a:t>
            </a:r>
          </a:p>
        </p:txBody>
      </p:sp>
      <p:cxnSp>
        <p:nvCxnSpPr>
          <p:cNvPr id="20" name="Connector 19"/>
          <p:cNvCxnSpPr/>
          <p:nvPr/>
        </p:nvCxnSpPr>
        <p:spPr>
          <a:xfrm>
            <a:off x="566928" y="4983480"/>
            <a:ext cx="5029200" cy="0"/>
          </a:xfrm>
          <a:prstGeom prst="line">
            <a:avLst/>
          </a:prstGeom>
          <a:ln w="9525">
            <a:solidFill>
              <a:srgbClr val="0C1408"/>
            </a:solidFill>
          </a:ln>
        </p:spPr>
      </p:cxnSp>
      <p:sp>
        <p:nvSpPr>
          <p:cNvPr id="21" name="TextBox 20"/>
          <p:cNvSpPr txBox="1"/>
          <p:nvPr/>
        </p:nvSpPr>
        <p:spPr>
          <a:xfrm>
            <a:off x="566928" y="5577840"/>
            <a:ext cx="5120640" cy="548640"/>
          </a:xfrm>
          <a:prstGeom prst="rect">
            <a:avLst/>
          </a:prstGeom>
          <a:noFill/>
        </p:spPr>
        <p:txBody>
          <a:bodyPr wrap="square" lIns="0" rIns="0" tIns="0" bIns="0" anchor="t">
            <a:noAutofit/>
          </a:bodyPr>
          <a:lstStyle/>
          <a:p>
            <a:pPr algn="l">
              <a:lnSpc>
                <a:spcPct val="100000"/>
              </a:lnSpc>
            </a:pPr>
            <a:r>
              <a:rPr sz="1100" b="0" i="0">
                <a:solidFill>
                  <a:srgbClr val="5B6456"/>
                </a:solidFill>
                <a:latin typeface="Arial"/>
              </a:rPr>
              <a:t>Assumes Rs 25,000 average balance a member. Mashreq's own figures replace this.</a:t>
            </a:r>
          </a:p>
        </p:txBody>
      </p:sp>
      <p:sp>
        <p:nvSpPr>
          <p:cNvPr id="22" name="TextBox 21"/>
          <p:cNvSpPr txBox="1"/>
          <p:nvPr/>
        </p:nvSpPr>
        <p:spPr>
          <a:xfrm>
            <a:off x="6172200" y="1783080"/>
            <a:ext cx="2212848" cy="658368"/>
          </a:xfrm>
          <a:prstGeom prst="rect">
            <a:avLst/>
          </a:prstGeom>
          <a:noFill/>
        </p:spPr>
        <p:txBody>
          <a:bodyPr wrap="square" lIns="0" rIns="0" tIns="0" bIns="0" anchor="b">
            <a:noAutofit/>
          </a:bodyPr>
          <a:lstStyle/>
          <a:p>
            <a:pPr algn="l">
              <a:lnSpc>
                <a:spcPct val="110000"/>
              </a:lnSpc>
            </a:pPr>
            <a:r>
              <a:rPr sz="1200" b="1" i="0">
                <a:solidFill>
                  <a:srgbClr val="0C1408"/>
                </a:solidFill>
                <a:latin typeface="Arial"/>
              </a:rPr>
              <a:t>Mashreq's aim or need</a:t>
            </a:r>
          </a:p>
        </p:txBody>
      </p:sp>
      <p:sp>
        <p:nvSpPr>
          <p:cNvPr id="23" name="TextBox 22"/>
          <p:cNvSpPr txBox="1"/>
          <p:nvPr/>
        </p:nvSpPr>
        <p:spPr>
          <a:xfrm>
            <a:off x="8531352" y="1783080"/>
            <a:ext cx="3081528" cy="658368"/>
          </a:xfrm>
          <a:prstGeom prst="rect">
            <a:avLst/>
          </a:prstGeom>
          <a:noFill/>
        </p:spPr>
        <p:txBody>
          <a:bodyPr wrap="square" lIns="0" rIns="0" tIns="0" bIns="0" anchor="b">
            <a:noAutofit/>
          </a:bodyPr>
          <a:lstStyle/>
          <a:p>
            <a:pPr algn="l">
              <a:lnSpc>
                <a:spcPct val="110000"/>
              </a:lnSpc>
            </a:pPr>
            <a:r>
              <a:rPr sz="1200" b="1" i="0">
                <a:solidFill>
                  <a:srgbClr val="41801A"/>
                </a:solidFill>
                <a:latin typeface="Arial"/>
              </a:rPr>
              <a:t>What committee members bring</a:t>
            </a:r>
          </a:p>
        </p:txBody>
      </p:sp>
      <p:cxnSp>
        <p:nvCxnSpPr>
          <p:cNvPr id="24" name="Connector 23"/>
          <p:cNvCxnSpPr/>
          <p:nvPr/>
        </p:nvCxnSpPr>
        <p:spPr>
          <a:xfrm>
            <a:off x="6172200" y="2478024"/>
            <a:ext cx="5440680" cy="0"/>
          </a:xfrm>
          <a:prstGeom prst="line">
            <a:avLst/>
          </a:prstGeom>
          <a:ln w="12700">
            <a:solidFill>
              <a:srgbClr val="0C1408"/>
            </a:solidFill>
          </a:ln>
        </p:spPr>
      </p:cxnSp>
      <p:sp>
        <p:nvSpPr>
          <p:cNvPr id="25" name="TextBox 24"/>
          <p:cNvSpPr txBox="1"/>
          <p:nvPr/>
        </p:nvSpPr>
        <p:spPr>
          <a:xfrm>
            <a:off x="6172200" y="2459736"/>
            <a:ext cx="2176272" cy="658368"/>
          </a:xfrm>
          <a:prstGeom prst="rect">
            <a:avLst/>
          </a:prstGeom>
          <a:noFill/>
        </p:spPr>
        <p:txBody>
          <a:bodyPr wrap="square" lIns="0" rIns="0" tIns="0" bIns="0" anchor="ctr">
            <a:noAutofit/>
          </a:bodyPr>
          <a:lstStyle/>
          <a:p>
            <a:pPr algn="l">
              <a:lnSpc>
                <a:spcPct val="110000"/>
              </a:lnSpc>
            </a:pPr>
            <a:r>
              <a:rPr sz="1300" b="1" i="0">
                <a:solidFill>
                  <a:srgbClr val="0C1408"/>
                </a:solidFill>
                <a:latin typeface="Arial"/>
              </a:rPr>
              <a:t>10 million customers in five years</a:t>
            </a:r>
          </a:p>
        </p:txBody>
      </p:sp>
      <p:sp>
        <p:nvSpPr>
          <p:cNvPr id="26" name="TextBox 25"/>
          <p:cNvSpPr txBox="1"/>
          <p:nvPr/>
        </p:nvSpPr>
        <p:spPr>
          <a:xfrm>
            <a:off x="8531352" y="2459736"/>
            <a:ext cx="3044952" cy="658368"/>
          </a:xfrm>
          <a:prstGeom prst="rect">
            <a:avLst/>
          </a:prstGeom>
          <a:noFill/>
        </p:spPr>
        <p:txBody>
          <a:bodyPr wrap="square" lIns="0" rIns="0" tIns="0" bIns="0" anchor="ctr">
            <a:noAutofit/>
          </a:bodyPr>
          <a:lstStyle/>
          <a:p>
            <a:pPr algn="l">
              <a:lnSpc>
                <a:spcPct val="110000"/>
              </a:lnSpc>
            </a:pPr>
            <a:r>
              <a:rPr sz="1300" b="0" i="0">
                <a:solidFill>
                  <a:srgbClr val="0C1408"/>
                </a:solidFill>
                <a:latin typeface="Arial"/>
              </a:rPr>
              <a:t>Accounts opened 6 to 20 at a time</a:t>
            </a:r>
          </a:p>
        </p:txBody>
      </p:sp>
      <p:cxnSp>
        <p:nvCxnSpPr>
          <p:cNvPr id="27" name="Connector 26"/>
          <p:cNvCxnSpPr/>
          <p:nvPr/>
        </p:nvCxnSpPr>
        <p:spPr>
          <a:xfrm>
            <a:off x="6172200" y="3118103"/>
            <a:ext cx="5440680" cy="0"/>
          </a:xfrm>
          <a:prstGeom prst="line">
            <a:avLst/>
          </a:prstGeom>
          <a:ln w="9525">
            <a:solidFill>
              <a:srgbClr val="D5DCD1"/>
            </a:solidFill>
          </a:ln>
        </p:spPr>
      </p:cxnSp>
      <p:sp>
        <p:nvSpPr>
          <p:cNvPr id="28" name="TextBox 27"/>
          <p:cNvSpPr txBox="1"/>
          <p:nvPr/>
        </p:nvSpPr>
        <p:spPr>
          <a:xfrm>
            <a:off x="6172200" y="3118103"/>
            <a:ext cx="2176272" cy="658368"/>
          </a:xfrm>
          <a:prstGeom prst="rect">
            <a:avLst/>
          </a:prstGeom>
          <a:noFill/>
        </p:spPr>
        <p:txBody>
          <a:bodyPr wrap="square" lIns="0" rIns="0" tIns="0" bIns="0" anchor="ctr">
            <a:noAutofit/>
          </a:bodyPr>
          <a:lstStyle/>
          <a:p>
            <a:pPr algn="l">
              <a:lnSpc>
                <a:spcPct val="110000"/>
              </a:lnSpc>
            </a:pPr>
            <a:r>
              <a:rPr sz="1300" b="1" i="0">
                <a:solidFill>
                  <a:srgbClr val="0C1408"/>
                </a:solidFill>
                <a:latin typeface="Arial"/>
              </a:rPr>
              <a:t>Salaried people and women</a:t>
            </a:r>
          </a:p>
        </p:txBody>
      </p:sp>
      <p:sp>
        <p:nvSpPr>
          <p:cNvPr id="29" name="TextBox 28"/>
          <p:cNvSpPr txBox="1"/>
          <p:nvPr/>
        </p:nvSpPr>
        <p:spPr>
          <a:xfrm>
            <a:off x="8531352" y="3118103"/>
            <a:ext cx="3044952" cy="658368"/>
          </a:xfrm>
          <a:prstGeom prst="rect">
            <a:avLst/>
          </a:prstGeom>
          <a:noFill/>
        </p:spPr>
        <p:txBody>
          <a:bodyPr wrap="square" lIns="0" rIns="0" tIns="0" bIns="0" anchor="ctr">
            <a:noAutofit/>
          </a:bodyPr>
          <a:lstStyle/>
          <a:p>
            <a:pPr algn="l">
              <a:lnSpc>
                <a:spcPct val="110000"/>
              </a:lnSpc>
            </a:pPr>
            <a:r>
              <a:rPr sz="1300" b="0" i="0">
                <a:solidFill>
                  <a:srgbClr val="0C1408"/>
                </a:solidFill>
                <a:latin typeface="Arial"/>
              </a:rPr>
              <a:t>Women join at twice the rate of men</a:t>
            </a:r>
          </a:p>
        </p:txBody>
      </p:sp>
      <p:cxnSp>
        <p:nvCxnSpPr>
          <p:cNvPr id="30" name="Connector 29"/>
          <p:cNvCxnSpPr/>
          <p:nvPr/>
        </p:nvCxnSpPr>
        <p:spPr>
          <a:xfrm>
            <a:off x="6172200" y="3776471"/>
            <a:ext cx="5440680" cy="0"/>
          </a:xfrm>
          <a:prstGeom prst="line">
            <a:avLst/>
          </a:prstGeom>
          <a:ln w="9525">
            <a:solidFill>
              <a:srgbClr val="D5DCD1"/>
            </a:solidFill>
          </a:ln>
        </p:spPr>
      </p:cxnSp>
      <p:sp>
        <p:nvSpPr>
          <p:cNvPr id="31" name="TextBox 30"/>
          <p:cNvSpPr txBox="1"/>
          <p:nvPr/>
        </p:nvSpPr>
        <p:spPr>
          <a:xfrm>
            <a:off x="6172200" y="3776471"/>
            <a:ext cx="2176272" cy="658368"/>
          </a:xfrm>
          <a:prstGeom prst="rect">
            <a:avLst/>
          </a:prstGeom>
          <a:noFill/>
        </p:spPr>
        <p:txBody>
          <a:bodyPr wrap="square" lIns="0" rIns="0" tIns="0" bIns="0" anchor="ctr">
            <a:noAutofit/>
          </a:bodyPr>
          <a:lstStyle/>
          <a:p>
            <a:pPr algn="l">
              <a:lnSpc>
                <a:spcPct val="110000"/>
              </a:lnSpc>
            </a:pPr>
            <a:r>
              <a:rPr sz="1300" b="1" i="0">
                <a:solidFill>
                  <a:srgbClr val="0C1408"/>
                </a:solidFill>
                <a:latin typeface="Arial"/>
              </a:rPr>
              <a:t>Islamic first banking</a:t>
            </a:r>
          </a:p>
        </p:txBody>
      </p:sp>
      <p:sp>
        <p:nvSpPr>
          <p:cNvPr id="32" name="TextBox 31"/>
          <p:cNvSpPr txBox="1"/>
          <p:nvPr/>
        </p:nvSpPr>
        <p:spPr>
          <a:xfrm>
            <a:off x="8531352" y="3776471"/>
            <a:ext cx="3044952" cy="658368"/>
          </a:xfrm>
          <a:prstGeom prst="rect">
            <a:avLst/>
          </a:prstGeom>
          <a:noFill/>
        </p:spPr>
        <p:txBody>
          <a:bodyPr wrap="square" lIns="0" rIns="0" tIns="0" bIns="0" anchor="ctr">
            <a:noAutofit/>
          </a:bodyPr>
          <a:lstStyle/>
          <a:p>
            <a:pPr algn="l">
              <a:lnSpc>
                <a:spcPct val="110000"/>
              </a:lnSpc>
            </a:pPr>
            <a:r>
              <a:rPr sz="1300" b="0" i="0">
                <a:solidFill>
                  <a:srgbClr val="0C1408"/>
                </a:solidFill>
                <a:latin typeface="Arial"/>
              </a:rPr>
              <a:t>No interest; one flat fee; takaful</a:t>
            </a:r>
          </a:p>
        </p:txBody>
      </p:sp>
      <p:cxnSp>
        <p:nvCxnSpPr>
          <p:cNvPr id="33" name="Connector 32"/>
          <p:cNvCxnSpPr/>
          <p:nvPr/>
        </p:nvCxnSpPr>
        <p:spPr>
          <a:xfrm>
            <a:off x="6172200" y="4434839"/>
            <a:ext cx="5440680" cy="0"/>
          </a:xfrm>
          <a:prstGeom prst="line">
            <a:avLst/>
          </a:prstGeom>
          <a:ln w="9525">
            <a:solidFill>
              <a:srgbClr val="D5DCD1"/>
            </a:solidFill>
          </a:ln>
        </p:spPr>
      </p:cxnSp>
      <p:sp>
        <p:nvSpPr>
          <p:cNvPr id="34" name="TextBox 33"/>
          <p:cNvSpPr txBox="1"/>
          <p:nvPr/>
        </p:nvSpPr>
        <p:spPr>
          <a:xfrm>
            <a:off x="6172200" y="4434839"/>
            <a:ext cx="2176272" cy="658368"/>
          </a:xfrm>
          <a:prstGeom prst="rect">
            <a:avLst/>
          </a:prstGeom>
          <a:noFill/>
        </p:spPr>
        <p:txBody>
          <a:bodyPr wrap="square" lIns="0" rIns="0" tIns="0" bIns="0" anchor="ctr">
            <a:noAutofit/>
          </a:bodyPr>
          <a:lstStyle/>
          <a:p>
            <a:pPr algn="l">
              <a:lnSpc>
                <a:spcPct val="110000"/>
              </a:lnSpc>
            </a:pPr>
            <a:r>
              <a:rPr sz="1300" b="1" i="0">
                <a:solidFill>
                  <a:srgbClr val="0C1408"/>
                </a:solidFill>
                <a:latin typeface="Arial"/>
              </a:rPr>
              <a:t>A lending book; no advances yet</a:t>
            </a:r>
          </a:p>
        </p:txBody>
      </p:sp>
      <p:sp>
        <p:nvSpPr>
          <p:cNvPr id="35" name="TextBox 34"/>
          <p:cNvSpPr txBox="1"/>
          <p:nvPr/>
        </p:nvSpPr>
        <p:spPr>
          <a:xfrm>
            <a:off x="8531352" y="4434839"/>
            <a:ext cx="3044952" cy="658368"/>
          </a:xfrm>
          <a:prstGeom prst="rect">
            <a:avLst/>
          </a:prstGeom>
          <a:noFill/>
        </p:spPr>
        <p:txBody>
          <a:bodyPr wrap="square" lIns="0" rIns="0" tIns="0" bIns="0" anchor="ctr">
            <a:noAutofit/>
          </a:bodyPr>
          <a:lstStyle/>
          <a:p>
            <a:pPr algn="l">
              <a:lnSpc>
                <a:spcPct val="110000"/>
              </a:lnSpc>
            </a:pPr>
            <a:r>
              <a:rPr sz="1300" b="0" i="0">
                <a:solidFill>
                  <a:srgbClr val="0C1408"/>
                </a:solidFill>
                <a:latin typeface="Arial"/>
              </a:rPr>
              <a:t>A repayment record for every member</a:t>
            </a:r>
          </a:p>
        </p:txBody>
      </p:sp>
      <p:cxnSp>
        <p:nvCxnSpPr>
          <p:cNvPr id="36" name="Connector 35"/>
          <p:cNvCxnSpPr/>
          <p:nvPr/>
        </p:nvCxnSpPr>
        <p:spPr>
          <a:xfrm>
            <a:off x="6172200" y="5093207"/>
            <a:ext cx="5440680" cy="0"/>
          </a:xfrm>
          <a:prstGeom prst="line">
            <a:avLst/>
          </a:prstGeom>
          <a:ln w="9525">
            <a:solidFill>
              <a:srgbClr val="D5DCD1"/>
            </a:solidFill>
          </a:ln>
        </p:spPr>
      </p:cxnSp>
      <p:sp>
        <p:nvSpPr>
          <p:cNvPr id="37" name="TextBox 36"/>
          <p:cNvSpPr txBox="1"/>
          <p:nvPr/>
        </p:nvSpPr>
        <p:spPr>
          <a:xfrm>
            <a:off x="6172200" y="5093207"/>
            <a:ext cx="2176272" cy="658368"/>
          </a:xfrm>
          <a:prstGeom prst="rect">
            <a:avLst/>
          </a:prstGeom>
          <a:noFill/>
        </p:spPr>
        <p:txBody>
          <a:bodyPr wrap="square" lIns="0" rIns="0" tIns="0" bIns="0" anchor="ctr">
            <a:noAutofit/>
          </a:bodyPr>
          <a:lstStyle/>
          <a:p>
            <a:pPr algn="l">
              <a:lnSpc>
                <a:spcPct val="110000"/>
              </a:lnSpc>
            </a:pPr>
            <a:r>
              <a:rPr sz="1300" b="1" i="0">
                <a:solidFill>
                  <a:srgbClr val="0C1408"/>
                </a:solidFill>
                <a:latin typeface="Arial"/>
              </a:rPr>
              <a:t>Overseas Pakistanis</a:t>
            </a:r>
          </a:p>
        </p:txBody>
      </p:sp>
      <p:sp>
        <p:nvSpPr>
          <p:cNvPr id="38" name="TextBox 37"/>
          <p:cNvSpPr txBox="1"/>
          <p:nvPr/>
        </p:nvSpPr>
        <p:spPr>
          <a:xfrm>
            <a:off x="8531352" y="5093207"/>
            <a:ext cx="3044952" cy="658368"/>
          </a:xfrm>
          <a:prstGeom prst="rect">
            <a:avLst/>
          </a:prstGeom>
          <a:noFill/>
        </p:spPr>
        <p:txBody>
          <a:bodyPr wrap="square" lIns="0" rIns="0" tIns="0" bIns="0" anchor="ctr">
            <a:noAutofit/>
          </a:bodyPr>
          <a:lstStyle/>
          <a:p>
            <a:pPr algn="l">
              <a:lnSpc>
                <a:spcPct val="110000"/>
              </a:lnSpc>
            </a:pPr>
            <a:r>
              <a:rPr sz="1300" b="0" i="0">
                <a:solidFill>
                  <a:srgbClr val="0C1408"/>
                </a:solidFill>
                <a:latin typeface="Arial"/>
              </a:rPr>
              <a:t>UAE families in the same circle</a:t>
            </a:r>
          </a:p>
        </p:txBody>
      </p:sp>
      <p:cxnSp>
        <p:nvCxnSpPr>
          <p:cNvPr id="39" name="Connector 38"/>
          <p:cNvCxnSpPr/>
          <p:nvPr/>
        </p:nvCxnSpPr>
        <p:spPr>
          <a:xfrm>
            <a:off x="6172200" y="5751575"/>
            <a:ext cx="5440680" cy="0"/>
          </a:xfrm>
          <a:prstGeom prst="line">
            <a:avLst/>
          </a:prstGeom>
          <a:ln w="9525">
            <a:solidFill>
              <a:srgbClr val="D5DCD1"/>
            </a:solidFill>
          </a:ln>
        </p:spPr>
      </p:cxn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9509760" cy="566928"/>
          </a:xfrm>
          <a:prstGeom prst="rect">
            <a:avLst/>
          </a:prstGeom>
          <a:noFill/>
        </p:spPr>
        <p:txBody>
          <a:bodyPr wrap="square" lIns="0" rIns="0" tIns="0" bIns="0" anchor="t">
            <a:noAutofit/>
          </a:bodyPr>
          <a:lstStyle/>
          <a:p>
            <a:pPr algn="l">
              <a:lnSpc>
                <a:spcPct val="110000"/>
              </a:lnSpc>
            </a:pPr>
            <a:r>
              <a:rPr sz="2800" b="0" i="0">
                <a:solidFill>
                  <a:srgbClr val="41801A"/>
                </a:solidFill>
                <a:latin typeface="Georgia"/>
              </a:rPr>
              <a:t>Onboarding and Checks</a:t>
            </a:r>
          </a:p>
        </p:txBody>
      </p:sp>
      <p:sp>
        <p:nvSpPr>
          <p:cNvPr id="3" name="TextBox 2"/>
          <p:cNvSpPr txBox="1"/>
          <p:nvPr/>
        </p:nvSpPr>
        <p:spPr>
          <a:xfrm>
            <a:off x="566928" y="987552"/>
            <a:ext cx="11057839" cy="411480"/>
          </a:xfrm>
          <a:prstGeom prst="rect">
            <a:avLst/>
          </a:prstGeom>
          <a:noFill/>
        </p:spPr>
        <p:txBody>
          <a:bodyPr wrap="square" lIns="0" rIns="0" tIns="0" bIns="0" anchor="t">
            <a:noAutofit/>
          </a:bodyPr>
          <a:lstStyle/>
          <a:p>
            <a:pPr algn="l">
              <a:lnSpc>
                <a:spcPct val="110000"/>
              </a:lnSpc>
            </a:pPr>
            <a:r>
              <a:rPr sz="1800" b="0" i="0">
                <a:solidFill>
                  <a:srgbClr val="0C1408"/>
                </a:solidFill>
                <a:latin typeface="Arial"/>
              </a:rPr>
              <a:t>Mashreq checks the customer. Halqa checks whether the member can carry the committee.</a:t>
            </a:r>
          </a:p>
        </p:txBody>
      </p:sp>
      <p:pic>
        <p:nvPicPr>
          <p:cNvPr id="4" name="Picture 3" descr="halqa_logo.png"/>
          <p:cNvPicPr>
            <a:picLocks noChangeAspect="1"/>
          </p:cNvPicPr>
          <p:nvPr/>
        </p:nvPicPr>
        <p:blipFill>
          <a:blip r:embed="rId3"/>
          <a:stretch>
            <a:fillRect/>
          </a:stretch>
        </p:blipFill>
        <p:spPr>
          <a:xfrm>
            <a:off x="10600639" y="457200"/>
            <a:ext cx="1023202" cy="310896"/>
          </a:xfrm>
          <a:prstGeom prst="rect">
            <a:avLst/>
          </a:prstGeom>
        </p:spPr>
      </p:pic>
      <p:sp>
        <p:nvSpPr>
          <p:cNvPr id="5" name="TextBox 4"/>
          <p:cNvSpPr txBox="1"/>
          <p:nvPr/>
        </p:nvSpPr>
        <p:spPr>
          <a:xfrm>
            <a:off x="11076127" y="6355080"/>
            <a:ext cx="548640" cy="228600"/>
          </a:xfrm>
          <a:prstGeom prst="rect">
            <a:avLst/>
          </a:prstGeom>
          <a:noFill/>
        </p:spPr>
        <p:txBody>
          <a:bodyPr wrap="square" lIns="0" rIns="0" tIns="0" bIns="0" anchor="t">
            <a:noAutofit/>
          </a:bodyPr>
          <a:lstStyle/>
          <a:p>
            <a:pPr algn="r">
              <a:lnSpc>
                <a:spcPct val="110000"/>
              </a:lnSpc>
            </a:pPr>
            <a:r>
              <a:rPr sz="1000" b="0" i="0">
                <a:solidFill>
                  <a:srgbClr val="5B6456"/>
                </a:solidFill>
                <a:latin typeface="Arial"/>
              </a:rPr>
              <a:t>10</a:t>
            </a:r>
          </a:p>
        </p:txBody>
      </p:sp>
      <p:sp>
        <p:nvSpPr>
          <p:cNvPr id="6" name="Rectangle 5"/>
          <p:cNvSpPr/>
          <p:nvPr/>
        </p:nvSpPr>
        <p:spPr>
          <a:xfrm>
            <a:off x="566928" y="1755648"/>
            <a:ext cx="11057839" cy="1170432"/>
          </a:xfrm>
          <a:prstGeom prst="rect">
            <a:avLst/>
          </a:prstGeom>
          <a:noFill/>
          <a:ln>
            <a:noFill/>
          </a:ln>
        </p:spPr>
        <p:txBody>
          <a:bodyPr rtlCol="0" anchor="ctr" lIns="0" rIns="0"/>
          <a:lstStyle/>
          <a:p>
            <a:pPr algn="ctr"/>
          </a:p>
        </p:txBody>
      </p:sp>
      <p:cxnSp>
        <p:nvCxnSpPr>
          <p:cNvPr id="7" name="Connector 6"/>
          <p:cNvCxnSpPr/>
          <p:nvPr/>
        </p:nvCxnSpPr>
        <p:spPr>
          <a:xfrm>
            <a:off x="566928" y="1755648"/>
            <a:ext cx="11057839" cy="0"/>
          </a:xfrm>
          <a:prstGeom prst="line">
            <a:avLst/>
          </a:prstGeom>
          <a:ln w="9525">
            <a:solidFill>
              <a:srgbClr val="D5DCD1"/>
            </a:solidFill>
          </a:ln>
        </p:spPr>
      </p:cxnSp>
      <p:sp>
        <p:nvSpPr>
          <p:cNvPr id="8" name="TextBox 7"/>
          <p:cNvSpPr txBox="1"/>
          <p:nvPr/>
        </p:nvSpPr>
        <p:spPr>
          <a:xfrm>
            <a:off x="612648" y="1755648"/>
            <a:ext cx="1143000" cy="1170432"/>
          </a:xfrm>
          <a:prstGeom prst="rect">
            <a:avLst/>
          </a:prstGeom>
          <a:noFill/>
        </p:spPr>
        <p:txBody>
          <a:bodyPr wrap="square" lIns="0" rIns="0" tIns="0" bIns="0" anchor="ctr">
            <a:noAutofit/>
          </a:bodyPr>
          <a:lstStyle/>
          <a:p>
            <a:pPr algn="l">
              <a:lnSpc>
                <a:spcPct val="110000"/>
              </a:lnSpc>
            </a:pPr>
            <a:r>
              <a:rPr sz="1500" b="1" i="0">
                <a:solidFill>
                  <a:srgbClr val="0C1408"/>
                </a:solidFill>
                <a:latin typeface="Arial"/>
              </a:rPr>
              <a:t>Member</a:t>
            </a:r>
          </a:p>
        </p:txBody>
      </p:sp>
      <p:sp>
        <p:nvSpPr>
          <p:cNvPr id="9" name="Rectangle 8"/>
          <p:cNvSpPr/>
          <p:nvPr/>
        </p:nvSpPr>
        <p:spPr>
          <a:xfrm>
            <a:off x="566928" y="2926080"/>
            <a:ext cx="11057839" cy="1170432"/>
          </a:xfrm>
          <a:prstGeom prst="rect">
            <a:avLst/>
          </a:prstGeom>
          <a:noFill/>
          <a:ln>
            <a:noFill/>
          </a:ln>
        </p:spPr>
        <p:txBody>
          <a:bodyPr rtlCol="0" anchor="ctr" lIns="0" rIns="0"/>
          <a:lstStyle/>
          <a:p>
            <a:pPr algn="ctr"/>
          </a:p>
        </p:txBody>
      </p:sp>
      <p:cxnSp>
        <p:nvCxnSpPr>
          <p:cNvPr id="10" name="Connector 9"/>
          <p:cNvCxnSpPr/>
          <p:nvPr/>
        </p:nvCxnSpPr>
        <p:spPr>
          <a:xfrm>
            <a:off x="566928" y="2926080"/>
            <a:ext cx="11057839" cy="0"/>
          </a:xfrm>
          <a:prstGeom prst="line">
            <a:avLst/>
          </a:prstGeom>
          <a:ln w="9525">
            <a:solidFill>
              <a:srgbClr val="D5DCD1"/>
            </a:solidFill>
          </a:ln>
        </p:spPr>
      </p:cxnSp>
      <p:sp>
        <p:nvSpPr>
          <p:cNvPr id="11" name="TextBox 10"/>
          <p:cNvSpPr txBox="1"/>
          <p:nvPr/>
        </p:nvSpPr>
        <p:spPr>
          <a:xfrm>
            <a:off x="612648" y="2926080"/>
            <a:ext cx="1143000" cy="1170432"/>
          </a:xfrm>
          <a:prstGeom prst="rect">
            <a:avLst/>
          </a:prstGeom>
          <a:noFill/>
        </p:spPr>
        <p:txBody>
          <a:bodyPr wrap="square" lIns="0" rIns="0" tIns="0" bIns="0" anchor="ctr">
            <a:noAutofit/>
          </a:bodyPr>
          <a:lstStyle/>
          <a:p>
            <a:pPr algn="l">
              <a:lnSpc>
                <a:spcPct val="110000"/>
              </a:lnSpc>
            </a:pPr>
            <a:r>
              <a:rPr sz="1500" b="1" i="0">
                <a:solidFill>
                  <a:srgbClr val="E0602A"/>
                </a:solidFill>
                <a:latin typeface="Arial"/>
              </a:rPr>
              <a:t>Mashreq</a:t>
            </a:r>
          </a:p>
        </p:txBody>
      </p:sp>
      <p:sp>
        <p:nvSpPr>
          <p:cNvPr id="12" name="Rectangle 11"/>
          <p:cNvSpPr/>
          <p:nvPr/>
        </p:nvSpPr>
        <p:spPr>
          <a:xfrm>
            <a:off x="566928" y="4096512"/>
            <a:ext cx="11057839" cy="1170432"/>
          </a:xfrm>
          <a:prstGeom prst="rect">
            <a:avLst/>
          </a:prstGeom>
          <a:solidFill>
            <a:srgbClr val="F3FCE7"/>
          </a:solidFill>
          <a:ln>
            <a:noFill/>
          </a:ln>
        </p:spPr>
        <p:txBody>
          <a:bodyPr rtlCol="0" anchor="ctr" lIns="0" rIns="0"/>
          <a:lstStyle/>
          <a:p>
            <a:pPr algn="ctr"/>
          </a:p>
        </p:txBody>
      </p:sp>
      <p:cxnSp>
        <p:nvCxnSpPr>
          <p:cNvPr id="13" name="Connector 12"/>
          <p:cNvCxnSpPr/>
          <p:nvPr/>
        </p:nvCxnSpPr>
        <p:spPr>
          <a:xfrm>
            <a:off x="566928" y="4096512"/>
            <a:ext cx="11057839" cy="0"/>
          </a:xfrm>
          <a:prstGeom prst="line">
            <a:avLst/>
          </a:prstGeom>
          <a:ln w="9525">
            <a:solidFill>
              <a:srgbClr val="D5DCD1"/>
            </a:solidFill>
          </a:ln>
        </p:spPr>
      </p:cxnSp>
      <p:sp>
        <p:nvSpPr>
          <p:cNvPr id="14" name="TextBox 13"/>
          <p:cNvSpPr txBox="1"/>
          <p:nvPr/>
        </p:nvSpPr>
        <p:spPr>
          <a:xfrm>
            <a:off x="612648" y="4096512"/>
            <a:ext cx="1143000" cy="1170432"/>
          </a:xfrm>
          <a:prstGeom prst="rect">
            <a:avLst/>
          </a:prstGeom>
          <a:noFill/>
        </p:spPr>
        <p:txBody>
          <a:bodyPr wrap="square" lIns="0" rIns="0" tIns="0" bIns="0" anchor="ctr">
            <a:noAutofit/>
          </a:bodyPr>
          <a:lstStyle/>
          <a:p>
            <a:pPr algn="l">
              <a:lnSpc>
                <a:spcPct val="110000"/>
              </a:lnSpc>
            </a:pPr>
            <a:r>
              <a:rPr sz="1500" b="1" i="0">
                <a:solidFill>
                  <a:srgbClr val="41801A"/>
                </a:solidFill>
                <a:latin typeface="Arial"/>
              </a:rPr>
              <a:t>Halqa</a:t>
            </a:r>
          </a:p>
        </p:txBody>
      </p:sp>
      <p:cxnSp>
        <p:nvCxnSpPr>
          <p:cNvPr id="15" name="Connector 14"/>
          <p:cNvCxnSpPr/>
          <p:nvPr/>
        </p:nvCxnSpPr>
        <p:spPr>
          <a:xfrm>
            <a:off x="566928" y="5266944"/>
            <a:ext cx="11057839" cy="0"/>
          </a:xfrm>
          <a:prstGeom prst="line">
            <a:avLst/>
          </a:prstGeom>
          <a:ln w="9525">
            <a:solidFill>
              <a:srgbClr val="D5DCD1"/>
            </a:solidFill>
          </a:ln>
        </p:spPr>
      </p:cxnSp>
      <p:sp>
        <p:nvSpPr>
          <p:cNvPr id="16" name="Rectangle 15"/>
          <p:cNvSpPr/>
          <p:nvPr/>
        </p:nvSpPr>
        <p:spPr>
          <a:xfrm>
            <a:off x="1847088" y="1828800"/>
            <a:ext cx="1481328" cy="1024128"/>
          </a:xfrm>
          <a:prstGeom prst="rect">
            <a:avLst/>
          </a:prstGeom>
          <a:solidFill>
            <a:srgbClr val="FFFFFF"/>
          </a:solidFill>
          <a:ln w="12700">
            <a:solidFill>
              <a:srgbClr val="0C1408"/>
            </a:solidFill>
          </a:ln>
        </p:spPr>
        <p:txBody>
          <a:bodyPr rtlCol="0" anchor="ctr" lIns="0" rIns="0"/>
          <a:lstStyle/>
          <a:p>
            <a:pPr algn="ctr"/>
          </a:p>
        </p:txBody>
      </p:sp>
      <p:sp>
        <p:nvSpPr>
          <p:cNvPr id="17" name="TextBox 16"/>
          <p:cNvSpPr txBox="1"/>
          <p:nvPr/>
        </p:nvSpPr>
        <p:spPr>
          <a:xfrm>
            <a:off x="1938528" y="1901952"/>
            <a:ext cx="1298448" cy="274320"/>
          </a:xfrm>
          <a:prstGeom prst="rect">
            <a:avLst/>
          </a:prstGeom>
          <a:noFill/>
        </p:spPr>
        <p:txBody>
          <a:bodyPr wrap="square" lIns="0" rIns="0" tIns="0" bIns="0" anchor="t">
            <a:noAutofit/>
          </a:bodyPr>
          <a:lstStyle/>
          <a:p>
            <a:pPr algn="ctr">
              <a:lnSpc>
                <a:spcPct val="110000"/>
              </a:lnSpc>
            </a:pPr>
            <a:r>
              <a:rPr sz="1300" b="1" i="0">
                <a:solidFill>
                  <a:srgbClr val="0C1408"/>
                </a:solidFill>
                <a:latin typeface="Arial"/>
              </a:rPr>
              <a:t>Sign up</a:t>
            </a:r>
          </a:p>
        </p:txBody>
      </p:sp>
      <p:sp>
        <p:nvSpPr>
          <p:cNvPr id="18" name="TextBox 17"/>
          <p:cNvSpPr txBox="1"/>
          <p:nvPr/>
        </p:nvSpPr>
        <p:spPr>
          <a:xfrm>
            <a:off x="1938528" y="2194560"/>
            <a:ext cx="1298448" cy="612648"/>
          </a:xfrm>
          <a:prstGeom prst="rect">
            <a:avLst/>
          </a:prstGeom>
          <a:noFill/>
        </p:spPr>
        <p:txBody>
          <a:bodyPr wrap="square" lIns="0" rIns="0" tIns="0" bIns="0" anchor="t">
            <a:noAutofit/>
          </a:bodyPr>
          <a:lstStyle/>
          <a:p>
            <a:pPr algn="ctr">
              <a:lnSpc>
                <a:spcPct val="100000"/>
              </a:lnSpc>
            </a:pPr>
            <a:r>
              <a:rPr sz="1050" b="0" i="0">
                <a:solidFill>
                  <a:srgbClr val="5B6456"/>
                </a:solidFill>
                <a:latin typeface="Arial"/>
              </a:rPr>
              <a:t>phone number, one time code, PIN</a:t>
            </a:r>
          </a:p>
        </p:txBody>
      </p:sp>
      <p:sp>
        <p:nvSpPr>
          <p:cNvPr id="19" name="Rectangle 18"/>
          <p:cNvSpPr/>
          <p:nvPr/>
        </p:nvSpPr>
        <p:spPr>
          <a:xfrm>
            <a:off x="3511296" y="2999232"/>
            <a:ext cx="1481328" cy="1024128"/>
          </a:xfrm>
          <a:prstGeom prst="rect">
            <a:avLst/>
          </a:prstGeom>
          <a:solidFill>
            <a:srgbClr val="FFFFFF"/>
          </a:solidFill>
          <a:ln w="12700">
            <a:solidFill>
              <a:srgbClr val="E0602A"/>
            </a:solidFill>
          </a:ln>
        </p:spPr>
        <p:txBody>
          <a:bodyPr rtlCol="0" anchor="ctr" lIns="0" rIns="0"/>
          <a:lstStyle/>
          <a:p>
            <a:pPr algn="ctr"/>
          </a:p>
        </p:txBody>
      </p:sp>
      <p:sp>
        <p:nvSpPr>
          <p:cNvPr id="20" name="TextBox 19"/>
          <p:cNvSpPr txBox="1"/>
          <p:nvPr/>
        </p:nvSpPr>
        <p:spPr>
          <a:xfrm>
            <a:off x="3602736" y="3072384"/>
            <a:ext cx="1298448" cy="274320"/>
          </a:xfrm>
          <a:prstGeom prst="rect">
            <a:avLst/>
          </a:prstGeom>
          <a:noFill/>
        </p:spPr>
        <p:txBody>
          <a:bodyPr wrap="square" lIns="0" rIns="0" tIns="0" bIns="0" anchor="t">
            <a:noAutofit/>
          </a:bodyPr>
          <a:lstStyle/>
          <a:p>
            <a:pPr algn="ctr">
              <a:lnSpc>
                <a:spcPct val="110000"/>
              </a:lnSpc>
            </a:pPr>
            <a:r>
              <a:rPr sz="1300" b="1" i="0">
                <a:solidFill>
                  <a:srgbClr val="E0602A"/>
                </a:solidFill>
                <a:latin typeface="Arial"/>
              </a:rPr>
              <a:t>Account</a:t>
            </a:r>
          </a:p>
        </p:txBody>
      </p:sp>
      <p:sp>
        <p:nvSpPr>
          <p:cNvPr id="21" name="TextBox 20"/>
          <p:cNvSpPr txBox="1"/>
          <p:nvPr/>
        </p:nvSpPr>
        <p:spPr>
          <a:xfrm>
            <a:off x="3602736" y="3364992"/>
            <a:ext cx="1298448" cy="612648"/>
          </a:xfrm>
          <a:prstGeom prst="rect">
            <a:avLst/>
          </a:prstGeom>
          <a:noFill/>
        </p:spPr>
        <p:txBody>
          <a:bodyPr wrap="square" lIns="0" rIns="0" tIns="0" bIns="0" anchor="t">
            <a:noAutofit/>
          </a:bodyPr>
          <a:lstStyle/>
          <a:p>
            <a:pPr algn="ctr">
              <a:lnSpc>
                <a:spcPct val="100000"/>
              </a:lnSpc>
            </a:pPr>
            <a:r>
              <a:rPr sz="1050" b="0" i="0">
                <a:solidFill>
                  <a:srgbClr val="5B6456"/>
                </a:solidFill>
                <a:latin typeface="Arial"/>
              </a:rPr>
              <a:t>CNIC, NADRA biometric check, due diligence, debit mandate</a:t>
            </a:r>
          </a:p>
        </p:txBody>
      </p:sp>
      <p:sp>
        <p:nvSpPr>
          <p:cNvPr id="22" name="Rectangle 21"/>
          <p:cNvSpPr/>
          <p:nvPr/>
        </p:nvSpPr>
        <p:spPr>
          <a:xfrm>
            <a:off x="5175504" y="4169664"/>
            <a:ext cx="1481328" cy="1024128"/>
          </a:xfrm>
          <a:prstGeom prst="rect">
            <a:avLst/>
          </a:prstGeom>
          <a:solidFill>
            <a:srgbClr val="FFFFFF"/>
          </a:solidFill>
          <a:ln w="12700">
            <a:solidFill>
              <a:srgbClr val="41801A"/>
            </a:solidFill>
          </a:ln>
        </p:spPr>
        <p:txBody>
          <a:bodyPr rtlCol="0" anchor="ctr" lIns="0" rIns="0"/>
          <a:lstStyle/>
          <a:p>
            <a:pPr algn="ctr"/>
          </a:p>
        </p:txBody>
      </p:sp>
      <p:sp>
        <p:nvSpPr>
          <p:cNvPr id="23" name="TextBox 22"/>
          <p:cNvSpPr txBox="1"/>
          <p:nvPr/>
        </p:nvSpPr>
        <p:spPr>
          <a:xfrm>
            <a:off x="5266944" y="4242816"/>
            <a:ext cx="1298448" cy="274320"/>
          </a:xfrm>
          <a:prstGeom prst="rect">
            <a:avLst/>
          </a:prstGeom>
          <a:noFill/>
        </p:spPr>
        <p:txBody>
          <a:bodyPr wrap="square" lIns="0" rIns="0" tIns="0" bIns="0" anchor="t">
            <a:noAutofit/>
          </a:bodyPr>
          <a:lstStyle/>
          <a:p>
            <a:pPr algn="ctr">
              <a:lnSpc>
                <a:spcPct val="110000"/>
              </a:lnSpc>
            </a:pPr>
            <a:r>
              <a:rPr sz="1300" b="1" i="0">
                <a:solidFill>
                  <a:srgbClr val="41801A"/>
                </a:solidFill>
                <a:latin typeface="Arial"/>
              </a:rPr>
              <a:t>Identity</a:t>
            </a:r>
          </a:p>
        </p:txBody>
      </p:sp>
      <p:sp>
        <p:nvSpPr>
          <p:cNvPr id="24" name="TextBox 23"/>
          <p:cNvSpPr txBox="1"/>
          <p:nvPr/>
        </p:nvSpPr>
        <p:spPr>
          <a:xfrm>
            <a:off x="5266944" y="4535424"/>
            <a:ext cx="1298448" cy="612648"/>
          </a:xfrm>
          <a:prstGeom prst="rect">
            <a:avLst/>
          </a:prstGeom>
          <a:noFill/>
        </p:spPr>
        <p:txBody>
          <a:bodyPr wrap="square" lIns="0" rIns="0" tIns="0" bIns="0" anchor="t">
            <a:noAutofit/>
          </a:bodyPr>
          <a:lstStyle/>
          <a:p>
            <a:pPr algn="ctr">
              <a:lnSpc>
                <a:spcPct val="100000"/>
              </a:lnSpc>
            </a:pPr>
            <a:r>
              <a:rPr sz="1050" b="0" i="0">
                <a:solidFill>
                  <a:srgbClr val="5B6456"/>
                </a:solidFill>
                <a:latin typeface="Arial"/>
              </a:rPr>
              <a:t>CNIC and account names match; live face check</a:t>
            </a:r>
          </a:p>
        </p:txBody>
      </p:sp>
      <p:sp>
        <p:nvSpPr>
          <p:cNvPr id="25" name="Rectangle 24"/>
          <p:cNvSpPr/>
          <p:nvPr/>
        </p:nvSpPr>
        <p:spPr>
          <a:xfrm>
            <a:off x="6839712" y="4169664"/>
            <a:ext cx="1481328" cy="1024128"/>
          </a:xfrm>
          <a:prstGeom prst="rect">
            <a:avLst/>
          </a:prstGeom>
          <a:solidFill>
            <a:srgbClr val="FFFFFF"/>
          </a:solidFill>
          <a:ln w="12700">
            <a:solidFill>
              <a:srgbClr val="41801A"/>
            </a:solidFill>
          </a:ln>
        </p:spPr>
        <p:txBody>
          <a:bodyPr rtlCol="0" anchor="ctr" lIns="0" rIns="0"/>
          <a:lstStyle/>
          <a:p>
            <a:pPr algn="ctr"/>
          </a:p>
        </p:txBody>
      </p:sp>
      <p:sp>
        <p:nvSpPr>
          <p:cNvPr id="26" name="TextBox 25"/>
          <p:cNvSpPr txBox="1"/>
          <p:nvPr/>
        </p:nvSpPr>
        <p:spPr>
          <a:xfrm>
            <a:off x="6931152" y="4242816"/>
            <a:ext cx="1298448" cy="274320"/>
          </a:xfrm>
          <a:prstGeom prst="rect">
            <a:avLst/>
          </a:prstGeom>
          <a:noFill/>
        </p:spPr>
        <p:txBody>
          <a:bodyPr wrap="square" lIns="0" rIns="0" tIns="0" bIns="0" anchor="t">
            <a:noAutofit/>
          </a:bodyPr>
          <a:lstStyle/>
          <a:p>
            <a:pPr algn="ctr">
              <a:lnSpc>
                <a:spcPct val="110000"/>
              </a:lnSpc>
            </a:pPr>
            <a:r>
              <a:rPr sz="1300" b="1" i="0">
                <a:solidFill>
                  <a:srgbClr val="41801A"/>
                </a:solidFill>
                <a:latin typeface="Arial"/>
              </a:rPr>
              <a:t>Income</a:t>
            </a:r>
          </a:p>
        </p:txBody>
      </p:sp>
      <p:sp>
        <p:nvSpPr>
          <p:cNvPr id="27" name="TextBox 26"/>
          <p:cNvSpPr txBox="1"/>
          <p:nvPr/>
        </p:nvSpPr>
        <p:spPr>
          <a:xfrm>
            <a:off x="6931152" y="4535424"/>
            <a:ext cx="1298448" cy="612648"/>
          </a:xfrm>
          <a:prstGeom prst="rect">
            <a:avLst/>
          </a:prstGeom>
          <a:noFill/>
        </p:spPr>
        <p:txBody>
          <a:bodyPr wrap="square" lIns="0" rIns="0" tIns="0" bIns="0" anchor="t">
            <a:noAutofit/>
          </a:bodyPr>
          <a:lstStyle/>
          <a:p>
            <a:pPr algn="ctr">
              <a:lnSpc>
                <a:spcPct val="100000"/>
              </a:lnSpc>
            </a:pPr>
            <a:r>
              <a:rPr sz="1050" b="0" i="0">
                <a:solidFill>
                  <a:srgbClr val="5B6456"/>
                </a:solidFill>
                <a:latin typeface="Arial"/>
              </a:rPr>
              <a:t>salary or daily income arrives regularly</a:t>
            </a:r>
          </a:p>
        </p:txBody>
      </p:sp>
      <p:sp>
        <p:nvSpPr>
          <p:cNvPr id="28" name="Rectangle 27"/>
          <p:cNvSpPr/>
          <p:nvPr/>
        </p:nvSpPr>
        <p:spPr>
          <a:xfrm>
            <a:off x="8503920" y="4169664"/>
            <a:ext cx="1481328" cy="1024128"/>
          </a:xfrm>
          <a:prstGeom prst="rect">
            <a:avLst/>
          </a:prstGeom>
          <a:solidFill>
            <a:srgbClr val="FFFFFF"/>
          </a:solidFill>
          <a:ln w="12700">
            <a:solidFill>
              <a:srgbClr val="41801A"/>
            </a:solidFill>
          </a:ln>
        </p:spPr>
        <p:txBody>
          <a:bodyPr rtlCol="0" anchor="ctr" lIns="0" rIns="0"/>
          <a:lstStyle/>
          <a:p>
            <a:pPr algn="ctr"/>
          </a:p>
        </p:txBody>
      </p:sp>
      <p:sp>
        <p:nvSpPr>
          <p:cNvPr id="29" name="TextBox 28"/>
          <p:cNvSpPr txBox="1"/>
          <p:nvPr/>
        </p:nvSpPr>
        <p:spPr>
          <a:xfrm>
            <a:off x="8595360" y="4242816"/>
            <a:ext cx="1298448" cy="274320"/>
          </a:xfrm>
          <a:prstGeom prst="rect">
            <a:avLst/>
          </a:prstGeom>
          <a:noFill/>
        </p:spPr>
        <p:txBody>
          <a:bodyPr wrap="square" lIns="0" rIns="0" tIns="0" bIns="0" anchor="t">
            <a:noAutofit/>
          </a:bodyPr>
          <a:lstStyle/>
          <a:p>
            <a:pPr algn="ctr">
              <a:lnSpc>
                <a:spcPct val="110000"/>
              </a:lnSpc>
            </a:pPr>
            <a:r>
              <a:rPr sz="1300" b="1" i="0">
                <a:solidFill>
                  <a:srgbClr val="41801A"/>
                </a:solidFill>
                <a:latin typeface="Arial"/>
              </a:rPr>
              <a:t>Affordability</a:t>
            </a:r>
          </a:p>
        </p:txBody>
      </p:sp>
      <p:sp>
        <p:nvSpPr>
          <p:cNvPr id="30" name="TextBox 29"/>
          <p:cNvSpPr txBox="1"/>
          <p:nvPr/>
        </p:nvSpPr>
        <p:spPr>
          <a:xfrm>
            <a:off x="8595360" y="4535424"/>
            <a:ext cx="1298448" cy="612648"/>
          </a:xfrm>
          <a:prstGeom prst="rect">
            <a:avLst/>
          </a:prstGeom>
          <a:noFill/>
        </p:spPr>
        <p:txBody>
          <a:bodyPr wrap="square" lIns="0" rIns="0" tIns="0" bIns="0" anchor="t">
            <a:noAutofit/>
          </a:bodyPr>
          <a:lstStyle/>
          <a:p>
            <a:pPr algn="ctr">
              <a:lnSpc>
                <a:spcPct val="100000"/>
              </a:lnSpc>
            </a:pPr>
            <a:r>
              <a:rPr sz="1050" b="0" i="0">
                <a:solidFill>
                  <a:srgbClr val="5B6456"/>
                </a:solidFill>
                <a:latin typeface="Arial"/>
              </a:rPr>
              <a:t>all instalments within a third of income</a:t>
            </a:r>
          </a:p>
        </p:txBody>
      </p:sp>
      <p:sp>
        <p:nvSpPr>
          <p:cNvPr id="31" name="Rectangle 30"/>
          <p:cNvSpPr/>
          <p:nvPr/>
        </p:nvSpPr>
        <p:spPr>
          <a:xfrm>
            <a:off x="10168128" y="4169664"/>
            <a:ext cx="1481328" cy="1024128"/>
          </a:xfrm>
          <a:prstGeom prst="rect">
            <a:avLst/>
          </a:prstGeom>
          <a:solidFill>
            <a:srgbClr val="FFFFFF"/>
          </a:solidFill>
          <a:ln w="12700">
            <a:solidFill>
              <a:srgbClr val="41801A"/>
            </a:solidFill>
          </a:ln>
        </p:spPr>
        <p:txBody>
          <a:bodyPr rtlCol="0" anchor="ctr" lIns="0" rIns="0"/>
          <a:lstStyle/>
          <a:p>
            <a:pPr algn="ctr"/>
          </a:p>
        </p:txBody>
      </p:sp>
      <p:sp>
        <p:nvSpPr>
          <p:cNvPr id="32" name="TextBox 31"/>
          <p:cNvSpPr txBox="1"/>
          <p:nvPr/>
        </p:nvSpPr>
        <p:spPr>
          <a:xfrm>
            <a:off x="10259567" y="4242816"/>
            <a:ext cx="1298448" cy="274320"/>
          </a:xfrm>
          <a:prstGeom prst="rect">
            <a:avLst/>
          </a:prstGeom>
          <a:noFill/>
        </p:spPr>
        <p:txBody>
          <a:bodyPr wrap="square" lIns="0" rIns="0" tIns="0" bIns="0" anchor="t">
            <a:noAutofit/>
          </a:bodyPr>
          <a:lstStyle/>
          <a:p>
            <a:pPr algn="ctr">
              <a:lnSpc>
                <a:spcPct val="110000"/>
              </a:lnSpc>
            </a:pPr>
            <a:r>
              <a:rPr sz="1300" b="1" i="0">
                <a:solidFill>
                  <a:srgbClr val="41801A"/>
                </a:solidFill>
                <a:latin typeface="Arial"/>
              </a:rPr>
              <a:t>Credit score</a:t>
            </a:r>
          </a:p>
        </p:txBody>
      </p:sp>
      <p:sp>
        <p:nvSpPr>
          <p:cNvPr id="33" name="TextBox 32"/>
          <p:cNvSpPr txBox="1"/>
          <p:nvPr/>
        </p:nvSpPr>
        <p:spPr>
          <a:xfrm>
            <a:off x="10259567" y="4535424"/>
            <a:ext cx="1298448" cy="612648"/>
          </a:xfrm>
          <a:prstGeom prst="rect">
            <a:avLst/>
          </a:prstGeom>
          <a:noFill/>
        </p:spPr>
        <p:txBody>
          <a:bodyPr wrap="square" lIns="0" rIns="0" tIns="0" bIns="0" anchor="t">
            <a:noAutofit/>
          </a:bodyPr>
          <a:lstStyle/>
          <a:p>
            <a:pPr algn="ctr">
              <a:lnSpc>
                <a:spcPct val="100000"/>
              </a:lnSpc>
            </a:pPr>
            <a:r>
              <a:rPr sz="1050" b="0" i="0">
                <a:solidFill>
                  <a:srgbClr val="5B6456"/>
                </a:solidFill>
                <a:latin typeface="Arial"/>
              </a:rPr>
              <a:t>300 to 850; decides which turns open</a:t>
            </a:r>
          </a:p>
        </p:txBody>
      </p:sp>
      <p:cxnSp>
        <p:nvCxnSpPr>
          <p:cNvPr id="34" name="Connector 33"/>
          <p:cNvCxnSpPr/>
          <p:nvPr/>
        </p:nvCxnSpPr>
        <p:spPr>
          <a:xfrm>
            <a:off x="2587752" y="2852928"/>
            <a:ext cx="0" cy="658368"/>
          </a:xfrm>
          <a:prstGeom prst="line">
            <a:avLst/>
          </a:prstGeom>
          <a:ln w="12700">
            <a:solidFill>
              <a:srgbClr val="0C1408"/>
            </a:solidFill>
          </a:ln>
        </p:spPr>
      </p:cxnSp>
      <p:cxnSp>
        <p:nvCxnSpPr>
          <p:cNvPr id="35" name="Connector 34"/>
          <p:cNvCxnSpPr/>
          <p:nvPr/>
        </p:nvCxnSpPr>
        <p:spPr>
          <a:xfrm>
            <a:off x="2587752" y="3511296"/>
            <a:ext cx="923544" cy="0"/>
          </a:xfrm>
          <a:prstGeom prst="line">
            <a:avLst/>
          </a:prstGeom>
          <a:ln w="12700">
            <a:solidFill>
              <a:srgbClr val="0C1408"/>
            </a:solidFill>
            <a:tailEnd type="triangle" w="med" len="med"/>
          </a:ln>
        </p:spPr>
      </p:cxnSp>
      <p:cxnSp>
        <p:nvCxnSpPr>
          <p:cNvPr id="36" name="Connector 35"/>
          <p:cNvCxnSpPr/>
          <p:nvPr/>
        </p:nvCxnSpPr>
        <p:spPr>
          <a:xfrm>
            <a:off x="4251960" y="4023360"/>
            <a:ext cx="0" cy="658368"/>
          </a:xfrm>
          <a:prstGeom prst="line">
            <a:avLst/>
          </a:prstGeom>
          <a:ln w="12700">
            <a:solidFill>
              <a:srgbClr val="0C1408"/>
            </a:solidFill>
          </a:ln>
        </p:spPr>
      </p:cxnSp>
      <p:cxnSp>
        <p:nvCxnSpPr>
          <p:cNvPr id="37" name="Connector 36"/>
          <p:cNvCxnSpPr/>
          <p:nvPr/>
        </p:nvCxnSpPr>
        <p:spPr>
          <a:xfrm>
            <a:off x="4251960" y="4681728"/>
            <a:ext cx="923544" cy="0"/>
          </a:xfrm>
          <a:prstGeom prst="line">
            <a:avLst/>
          </a:prstGeom>
          <a:ln w="12700">
            <a:solidFill>
              <a:srgbClr val="0C1408"/>
            </a:solidFill>
            <a:tailEnd type="triangle" w="med" len="med"/>
          </a:ln>
        </p:spPr>
      </p:cxnSp>
      <p:cxnSp>
        <p:nvCxnSpPr>
          <p:cNvPr id="38" name="Connector 37"/>
          <p:cNvCxnSpPr/>
          <p:nvPr/>
        </p:nvCxnSpPr>
        <p:spPr>
          <a:xfrm>
            <a:off x="6656832" y="4681728"/>
            <a:ext cx="182880" cy="0"/>
          </a:xfrm>
          <a:prstGeom prst="line">
            <a:avLst/>
          </a:prstGeom>
          <a:ln w="12700">
            <a:solidFill>
              <a:srgbClr val="0C1408"/>
            </a:solidFill>
            <a:tailEnd type="triangle" w="med" len="med"/>
          </a:ln>
        </p:spPr>
      </p:cxnSp>
      <p:cxnSp>
        <p:nvCxnSpPr>
          <p:cNvPr id="39" name="Connector 38"/>
          <p:cNvCxnSpPr/>
          <p:nvPr/>
        </p:nvCxnSpPr>
        <p:spPr>
          <a:xfrm>
            <a:off x="8321040" y="4681728"/>
            <a:ext cx="182880" cy="0"/>
          </a:xfrm>
          <a:prstGeom prst="line">
            <a:avLst/>
          </a:prstGeom>
          <a:ln w="12700">
            <a:solidFill>
              <a:srgbClr val="0C1408"/>
            </a:solidFill>
            <a:tailEnd type="triangle" w="med" len="med"/>
          </a:ln>
        </p:spPr>
      </p:cxnSp>
      <p:cxnSp>
        <p:nvCxnSpPr>
          <p:cNvPr id="40" name="Connector 39"/>
          <p:cNvCxnSpPr/>
          <p:nvPr/>
        </p:nvCxnSpPr>
        <p:spPr>
          <a:xfrm>
            <a:off x="9985248" y="4681728"/>
            <a:ext cx="182880" cy="0"/>
          </a:xfrm>
          <a:prstGeom prst="line">
            <a:avLst/>
          </a:prstGeom>
          <a:ln w="12700">
            <a:solidFill>
              <a:srgbClr val="0C1408"/>
            </a:solidFill>
            <a:tailEnd type="triangle" w="med" len="med"/>
          </a:ln>
        </p:spPr>
      </p:cxnSp>
      <p:cxnSp>
        <p:nvCxnSpPr>
          <p:cNvPr id="41" name="Connector 40"/>
          <p:cNvCxnSpPr/>
          <p:nvPr/>
        </p:nvCxnSpPr>
        <p:spPr>
          <a:xfrm flipV="1">
            <a:off x="10908792" y="2852928"/>
            <a:ext cx="0" cy="1316736"/>
          </a:xfrm>
          <a:prstGeom prst="line">
            <a:avLst/>
          </a:prstGeom>
          <a:ln w="19050">
            <a:solidFill>
              <a:srgbClr val="41801A"/>
            </a:solidFill>
            <a:tailEnd type="triangle" w="med" len="med"/>
          </a:ln>
        </p:spPr>
      </p:cxnSp>
      <p:sp>
        <p:nvSpPr>
          <p:cNvPr id="42" name="TextBox 41"/>
          <p:cNvSpPr txBox="1"/>
          <p:nvPr/>
        </p:nvSpPr>
        <p:spPr>
          <a:xfrm>
            <a:off x="5175504" y="1938528"/>
            <a:ext cx="5550407" cy="640080"/>
          </a:xfrm>
          <a:prstGeom prst="rect">
            <a:avLst/>
          </a:prstGeom>
          <a:noFill/>
        </p:spPr>
        <p:txBody>
          <a:bodyPr wrap="square" lIns="0" rIns="0" tIns="0" bIns="0" anchor="t">
            <a:noAutofit/>
          </a:bodyPr>
          <a:lstStyle/>
          <a:p>
            <a:pPr algn="r">
              <a:lnSpc>
                <a:spcPct val="110000"/>
              </a:lnSpc>
            </a:pPr>
            <a:r>
              <a:rPr sz="1300" b="1" i="0">
                <a:solidFill>
                  <a:srgbClr val="41801A"/>
                </a:solidFill>
                <a:latin typeface="Arial"/>
              </a:rPr>
              <a:t>Sees only the circles and turns open to this member</a:t>
            </a:r>
          </a:p>
        </p:txBody>
      </p:sp>
      <p:sp>
        <p:nvSpPr>
          <p:cNvPr id="43" name="TextBox 42"/>
          <p:cNvSpPr txBox="1"/>
          <p:nvPr/>
        </p:nvSpPr>
        <p:spPr>
          <a:xfrm>
            <a:off x="566928" y="5358384"/>
            <a:ext cx="11057839" cy="822960"/>
          </a:xfrm>
          <a:prstGeom prst="rect">
            <a:avLst/>
          </a:prstGeom>
          <a:noFill/>
        </p:spPr>
        <p:txBody>
          <a:bodyPr wrap="square" lIns="0" rIns="0" tIns="0" bIns="0" anchor="t">
            <a:noAutofit/>
          </a:bodyPr>
          <a:lstStyle/>
          <a:p>
            <a:pPr algn="l">
              <a:lnSpc>
                <a:spcPct val="110000"/>
              </a:lnSpc>
              <a:spcAft>
                <a:spcPts val="400"/>
              </a:spcAft>
            </a:pPr>
            <a:r>
              <a:rPr sz="1200" b="1" i="0">
                <a:solidFill>
                  <a:srgbClr val="0C1408"/>
                </a:solidFill>
                <a:latin typeface="Arial"/>
              </a:rPr>
              <a:t>Checks rise with risk.</a:t>
            </a:r>
            <a:r>
              <a:rPr sz="1200" b="0" i="0">
                <a:solidFill>
                  <a:srgbClr val="0C1408"/>
                </a:solidFill>
                <a:latin typeface="Arial"/>
              </a:rPr>
              <a:t> Known circles: identity only. Strangers: income, affordability and a credit report as well. Hyper: proof of daily income too.</a:t>
            </a:r>
          </a:p>
          <a:p>
            <a:pPr algn="l">
              <a:lnSpc>
                <a:spcPct val="110000"/>
              </a:lnSpc>
              <a:spcAft>
                <a:spcPts val="400"/>
              </a:spcAft>
            </a:pPr>
            <a:r>
              <a:rPr sz="1200" b="1" i="0">
                <a:solidFill>
                  <a:srgbClr val="0C1408"/>
                </a:solidFill>
                <a:latin typeface="Arial"/>
              </a:rPr>
              <a:t>Stored.</a:t>
            </a:r>
            <a:r>
              <a:rPr sz="1200" b="0" i="0">
                <a:solidFill>
                  <a:srgbClr val="0C1408"/>
                </a:solidFill>
                <a:latin typeface="Arial"/>
              </a:rPr>
              <a:t> Results only; never face images, card numbers or passwords.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9509760" cy="566928"/>
          </a:xfrm>
          <a:prstGeom prst="rect">
            <a:avLst/>
          </a:prstGeom>
          <a:noFill/>
        </p:spPr>
        <p:txBody>
          <a:bodyPr wrap="square" lIns="0" rIns="0" tIns="0" bIns="0" anchor="t">
            <a:noAutofit/>
          </a:bodyPr>
          <a:lstStyle/>
          <a:p>
            <a:pPr algn="l">
              <a:lnSpc>
                <a:spcPct val="110000"/>
              </a:lnSpc>
            </a:pPr>
            <a:r>
              <a:rPr sz="2800" b="0" i="0">
                <a:solidFill>
                  <a:srgbClr val="41801A"/>
                </a:solidFill>
                <a:latin typeface="Georgia"/>
              </a:rPr>
              <a:t>Committee Types</a:t>
            </a:r>
          </a:p>
        </p:txBody>
      </p:sp>
      <p:sp>
        <p:nvSpPr>
          <p:cNvPr id="3" name="TextBox 2"/>
          <p:cNvSpPr txBox="1"/>
          <p:nvPr/>
        </p:nvSpPr>
        <p:spPr>
          <a:xfrm>
            <a:off x="566928" y="987552"/>
            <a:ext cx="11057839" cy="411480"/>
          </a:xfrm>
          <a:prstGeom prst="rect">
            <a:avLst/>
          </a:prstGeom>
          <a:noFill/>
        </p:spPr>
        <p:txBody>
          <a:bodyPr wrap="square" lIns="0" rIns="0" tIns="0" bIns="0" anchor="t">
            <a:noAutofit/>
          </a:bodyPr>
          <a:lstStyle/>
          <a:p>
            <a:pPr algn="l">
              <a:lnSpc>
                <a:spcPct val="110000"/>
              </a:lnSpc>
            </a:pPr>
            <a:r>
              <a:rPr sz="1800" b="0" i="0">
                <a:solidFill>
                  <a:srgbClr val="0C1408"/>
                </a:solidFill>
                <a:latin typeface="Arial"/>
              </a:rPr>
              <a:t>The less members know each other, the more checks apply.</a:t>
            </a:r>
          </a:p>
        </p:txBody>
      </p:sp>
      <p:pic>
        <p:nvPicPr>
          <p:cNvPr id="4" name="Picture 3" descr="halqa_logo.png"/>
          <p:cNvPicPr>
            <a:picLocks noChangeAspect="1"/>
          </p:cNvPicPr>
          <p:nvPr/>
        </p:nvPicPr>
        <p:blipFill>
          <a:blip r:embed="rId3"/>
          <a:stretch>
            <a:fillRect/>
          </a:stretch>
        </p:blipFill>
        <p:spPr>
          <a:xfrm>
            <a:off x="10600639" y="457200"/>
            <a:ext cx="1023202" cy="310896"/>
          </a:xfrm>
          <a:prstGeom prst="rect">
            <a:avLst/>
          </a:prstGeom>
        </p:spPr>
      </p:pic>
      <p:sp>
        <p:nvSpPr>
          <p:cNvPr id="5" name="TextBox 4"/>
          <p:cNvSpPr txBox="1"/>
          <p:nvPr/>
        </p:nvSpPr>
        <p:spPr>
          <a:xfrm>
            <a:off x="566928" y="6309360"/>
            <a:ext cx="10149840" cy="365760"/>
          </a:xfrm>
          <a:prstGeom prst="rect">
            <a:avLst/>
          </a:prstGeom>
          <a:noFill/>
        </p:spPr>
        <p:txBody>
          <a:bodyPr wrap="square" lIns="0" rIns="0" tIns="0" bIns="0" anchor="t">
            <a:noAutofit/>
          </a:bodyPr>
          <a:lstStyle/>
          <a:p>
            <a:pPr algn="l">
              <a:lnSpc>
                <a:spcPct val="100000"/>
              </a:lnSpc>
            </a:pPr>
            <a:r>
              <a:rPr sz="900" b="0" i="0">
                <a:solidFill>
                  <a:srgbClr val="5B6456"/>
                </a:solidFill>
                <a:latin typeface="Arial"/>
              </a:rPr>
              <a:t>Turn bands apply in every type. Cover and financing follow the bank's choice of product.</a:t>
            </a:r>
          </a:p>
        </p:txBody>
      </p:sp>
      <p:sp>
        <p:nvSpPr>
          <p:cNvPr id="6" name="TextBox 5"/>
          <p:cNvSpPr txBox="1"/>
          <p:nvPr/>
        </p:nvSpPr>
        <p:spPr>
          <a:xfrm>
            <a:off x="11076127" y="6355080"/>
            <a:ext cx="548640" cy="228600"/>
          </a:xfrm>
          <a:prstGeom prst="rect">
            <a:avLst/>
          </a:prstGeom>
          <a:noFill/>
        </p:spPr>
        <p:txBody>
          <a:bodyPr wrap="square" lIns="0" rIns="0" tIns="0" bIns="0" anchor="t">
            <a:noAutofit/>
          </a:bodyPr>
          <a:lstStyle/>
          <a:p>
            <a:pPr algn="r">
              <a:lnSpc>
                <a:spcPct val="110000"/>
              </a:lnSpc>
            </a:pPr>
            <a:r>
              <a:rPr sz="1000" b="0" i="0">
                <a:solidFill>
                  <a:srgbClr val="5B6456"/>
                </a:solidFill>
                <a:latin typeface="Arial"/>
              </a:rPr>
              <a:t>11</a:t>
            </a:r>
          </a:p>
        </p:txBody>
      </p:sp>
      <p:sp>
        <p:nvSpPr>
          <p:cNvPr id="7" name="TextBox 6"/>
          <p:cNvSpPr txBox="1"/>
          <p:nvPr/>
        </p:nvSpPr>
        <p:spPr>
          <a:xfrm>
            <a:off x="566928" y="1691640"/>
            <a:ext cx="1709928" cy="548640"/>
          </a:xfrm>
          <a:prstGeom prst="rect">
            <a:avLst/>
          </a:prstGeom>
          <a:noFill/>
        </p:spPr>
        <p:txBody>
          <a:bodyPr wrap="square" lIns="0" rIns="0" tIns="0" bIns="0" anchor="b">
            <a:noAutofit/>
          </a:bodyPr>
          <a:lstStyle/>
          <a:p>
            <a:pPr algn="l">
              <a:lnSpc>
                <a:spcPct val="110000"/>
              </a:lnSpc>
            </a:pPr>
          </a:p>
        </p:txBody>
      </p:sp>
      <p:sp>
        <p:nvSpPr>
          <p:cNvPr id="8" name="TextBox 7"/>
          <p:cNvSpPr txBox="1"/>
          <p:nvPr/>
        </p:nvSpPr>
        <p:spPr>
          <a:xfrm>
            <a:off x="2423160" y="1691640"/>
            <a:ext cx="1472641" cy="548640"/>
          </a:xfrm>
          <a:prstGeom prst="rect">
            <a:avLst/>
          </a:prstGeom>
          <a:noFill/>
        </p:spPr>
        <p:txBody>
          <a:bodyPr wrap="square" lIns="0" rIns="0" tIns="0" bIns="0" anchor="b">
            <a:noAutofit/>
          </a:bodyPr>
          <a:lstStyle/>
          <a:p>
            <a:pPr algn="l">
              <a:lnSpc>
                <a:spcPct val="110000"/>
              </a:lnSpc>
            </a:pPr>
            <a:r>
              <a:rPr sz="1300" b="1" i="0">
                <a:solidFill>
                  <a:srgbClr val="41801A"/>
                </a:solidFill>
                <a:latin typeface="Arial"/>
              </a:rPr>
              <a:t>Known</a:t>
            </a:r>
          </a:p>
        </p:txBody>
      </p:sp>
      <p:sp>
        <p:nvSpPr>
          <p:cNvPr id="9" name="TextBox 8"/>
          <p:cNvSpPr txBox="1"/>
          <p:nvPr/>
        </p:nvSpPr>
        <p:spPr>
          <a:xfrm>
            <a:off x="3968953" y="1691640"/>
            <a:ext cx="1472641" cy="548640"/>
          </a:xfrm>
          <a:prstGeom prst="rect">
            <a:avLst/>
          </a:prstGeom>
          <a:noFill/>
        </p:spPr>
        <p:txBody>
          <a:bodyPr wrap="square" lIns="0" rIns="0" tIns="0" bIns="0" anchor="b">
            <a:noAutofit/>
          </a:bodyPr>
          <a:lstStyle/>
          <a:p>
            <a:pPr algn="l">
              <a:lnSpc>
                <a:spcPct val="110000"/>
              </a:lnSpc>
            </a:pPr>
            <a:r>
              <a:rPr sz="1300" b="1" i="0">
                <a:solidFill>
                  <a:srgbClr val="41801A"/>
                </a:solidFill>
                <a:latin typeface="Arial"/>
              </a:rPr>
              <a:t>Strangers</a:t>
            </a:r>
          </a:p>
        </p:txBody>
      </p:sp>
      <p:sp>
        <p:nvSpPr>
          <p:cNvPr id="10" name="TextBox 9"/>
          <p:cNvSpPr txBox="1"/>
          <p:nvPr/>
        </p:nvSpPr>
        <p:spPr>
          <a:xfrm>
            <a:off x="5514746" y="1691640"/>
            <a:ext cx="1472641" cy="548640"/>
          </a:xfrm>
          <a:prstGeom prst="rect">
            <a:avLst/>
          </a:prstGeom>
          <a:noFill/>
        </p:spPr>
        <p:txBody>
          <a:bodyPr wrap="square" lIns="0" rIns="0" tIns="0" bIns="0" anchor="b">
            <a:noAutofit/>
          </a:bodyPr>
          <a:lstStyle/>
          <a:p>
            <a:pPr algn="l">
              <a:lnSpc>
                <a:spcPct val="110000"/>
              </a:lnSpc>
            </a:pPr>
            <a:r>
              <a:rPr sz="1300" b="1" i="0">
                <a:solidFill>
                  <a:srgbClr val="41801A"/>
                </a:solidFill>
                <a:latin typeface="Arial"/>
              </a:rPr>
              <a:t>Large, strangers</a:t>
            </a:r>
          </a:p>
        </p:txBody>
      </p:sp>
      <p:sp>
        <p:nvSpPr>
          <p:cNvPr id="11" name="TextBox 10"/>
          <p:cNvSpPr txBox="1"/>
          <p:nvPr/>
        </p:nvSpPr>
        <p:spPr>
          <a:xfrm>
            <a:off x="7060539" y="1691640"/>
            <a:ext cx="1472641" cy="548640"/>
          </a:xfrm>
          <a:prstGeom prst="rect">
            <a:avLst/>
          </a:prstGeom>
          <a:noFill/>
        </p:spPr>
        <p:txBody>
          <a:bodyPr wrap="square" lIns="0" rIns="0" tIns="0" bIns="0" anchor="b">
            <a:noAutofit/>
          </a:bodyPr>
          <a:lstStyle/>
          <a:p>
            <a:pPr algn="l">
              <a:lnSpc>
                <a:spcPct val="110000"/>
              </a:lnSpc>
            </a:pPr>
            <a:r>
              <a:rPr sz="1300" b="1" i="0">
                <a:solidFill>
                  <a:srgbClr val="41801A"/>
                </a:solidFill>
                <a:latin typeface="Arial"/>
              </a:rPr>
              <a:t>Asset</a:t>
            </a:r>
          </a:p>
        </p:txBody>
      </p:sp>
      <p:sp>
        <p:nvSpPr>
          <p:cNvPr id="12" name="TextBox 11"/>
          <p:cNvSpPr txBox="1"/>
          <p:nvPr/>
        </p:nvSpPr>
        <p:spPr>
          <a:xfrm>
            <a:off x="8606332" y="1691640"/>
            <a:ext cx="1472641" cy="548640"/>
          </a:xfrm>
          <a:prstGeom prst="rect">
            <a:avLst/>
          </a:prstGeom>
          <a:noFill/>
        </p:spPr>
        <p:txBody>
          <a:bodyPr wrap="square" lIns="0" rIns="0" tIns="0" bIns="0" anchor="b">
            <a:noAutofit/>
          </a:bodyPr>
          <a:lstStyle/>
          <a:p>
            <a:pPr algn="l">
              <a:lnSpc>
                <a:spcPct val="110000"/>
              </a:lnSpc>
            </a:pPr>
            <a:r>
              <a:rPr sz="1300" b="1" i="0">
                <a:solidFill>
                  <a:srgbClr val="41801A"/>
                </a:solidFill>
                <a:latin typeface="Arial"/>
              </a:rPr>
              <a:t>UAE family</a:t>
            </a:r>
          </a:p>
        </p:txBody>
      </p:sp>
      <p:sp>
        <p:nvSpPr>
          <p:cNvPr id="13" name="TextBox 12"/>
          <p:cNvSpPr txBox="1"/>
          <p:nvPr/>
        </p:nvSpPr>
        <p:spPr>
          <a:xfrm>
            <a:off x="10152126" y="1691640"/>
            <a:ext cx="1472641" cy="548640"/>
          </a:xfrm>
          <a:prstGeom prst="rect">
            <a:avLst/>
          </a:prstGeom>
          <a:noFill/>
        </p:spPr>
        <p:txBody>
          <a:bodyPr wrap="square" lIns="0" rIns="0" tIns="0" bIns="0" anchor="b">
            <a:noAutofit/>
          </a:bodyPr>
          <a:lstStyle/>
          <a:p>
            <a:pPr algn="l">
              <a:lnSpc>
                <a:spcPct val="110000"/>
              </a:lnSpc>
            </a:pPr>
            <a:r>
              <a:rPr sz="1300" b="1" i="0">
                <a:solidFill>
                  <a:srgbClr val="41801A"/>
                </a:solidFill>
                <a:latin typeface="Arial"/>
              </a:rPr>
              <a:t>Hyper</a:t>
            </a:r>
          </a:p>
        </p:txBody>
      </p:sp>
      <p:cxnSp>
        <p:nvCxnSpPr>
          <p:cNvPr id="14" name="Connector 13"/>
          <p:cNvCxnSpPr/>
          <p:nvPr/>
        </p:nvCxnSpPr>
        <p:spPr>
          <a:xfrm>
            <a:off x="566928" y="2276856"/>
            <a:ext cx="11057839" cy="0"/>
          </a:xfrm>
          <a:prstGeom prst="line">
            <a:avLst/>
          </a:prstGeom>
          <a:ln w="12700">
            <a:solidFill>
              <a:srgbClr val="0C1408"/>
            </a:solidFill>
          </a:ln>
        </p:spPr>
      </p:cxnSp>
      <p:sp>
        <p:nvSpPr>
          <p:cNvPr id="15" name="TextBox 14"/>
          <p:cNvSpPr txBox="1"/>
          <p:nvPr/>
        </p:nvSpPr>
        <p:spPr>
          <a:xfrm>
            <a:off x="566928" y="2258568"/>
            <a:ext cx="1673351" cy="548640"/>
          </a:xfrm>
          <a:prstGeom prst="rect">
            <a:avLst/>
          </a:prstGeom>
          <a:noFill/>
        </p:spPr>
        <p:txBody>
          <a:bodyPr wrap="square" lIns="0" rIns="0" tIns="0" bIns="0" anchor="ctr">
            <a:noAutofit/>
          </a:bodyPr>
          <a:lstStyle/>
          <a:p>
            <a:pPr algn="l">
              <a:lnSpc>
                <a:spcPct val="110000"/>
              </a:lnSpc>
            </a:pPr>
            <a:r>
              <a:rPr sz="1150" b="1" i="0">
                <a:solidFill>
                  <a:srgbClr val="0C1408"/>
                </a:solidFill>
                <a:latin typeface="Arial"/>
              </a:rPr>
              <a:t>Who</a:t>
            </a:r>
          </a:p>
        </p:txBody>
      </p:sp>
      <p:sp>
        <p:nvSpPr>
          <p:cNvPr id="16" name="TextBox 15"/>
          <p:cNvSpPr txBox="1"/>
          <p:nvPr/>
        </p:nvSpPr>
        <p:spPr>
          <a:xfrm>
            <a:off x="2423160" y="2258568"/>
            <a:ext cx="1436065" cy="548640"/>
          </a:xfrm>
          <a:prstGeom prst="rect">
            <a:avLst/>
          </a:prstGeom>
          <a:noFill/>
        </p:spPr>
        <p:txBody>
          <a:bodyPr wrap="square" lIns="0" rIns="0" tIns="0" bIns="0" anchor="ctr">
            <a:noAutofit/>
          </a:bodyPr>
          <a:lstStyle/>
          <a:p>
            <a:pPr algn="l">
              <a:lnSpc>
                <a:spcPct val="110000"/>
              </a:lnSpc>
            </a:pPr>
            <a:r>
              <a:rPr sz="1150" b="0" i="0">
                <a:solidFill>
                  <a:srgbClr val="0C1408"/>
                </a:solidFill>
                <a:latin typeface="Arial"/>
              </a:rPr>
              <a:t>family, colleagues, neighbours</a:t>
            </a:r>
          </a:p>
        </p:txBody>
      </p:sp>
      <p:sp>
        <p:nvSpPr>
          <p:cNvPr id="17" name="TextBox 16"/>
          <p:cNvSpPr txBox="1"/>
          <p:nvPr/>
        </p:nvSpPr>
        <p:spPr>
          <a:xfrm>
            <a:off x="3968953" y="2258568"/>
            <a:ext cx="1436065" cy="548640"/>
          </a:xfrm>
          <a:prstGeom prst="rect">
            <a:avLst/>
          </a:prstGeom>
          <a:noFill/>
        </p:spPr>
        <p:txBody>
          <a:bodyPr wrap="square" lIns="0" rIns="0" tIns="0" bIns="0" anchor="ctr">
            <a:noAutofit/>
          </a:bodyPr>
          <a:lstStyle/>
          <a:p>
            <a:pPr algn="l">
              <a:lnSpc>
                <a:spcPct val="110000"/>
              </a:lnSpc>
            </a:pPr>
            <a:r>
              <a:rPr sz="1150" b="0" i="0">
                <a:solidFill>
                  <a:srgbClr val="0C1408"/>
                </a:solidFill>
                <a:latin typeface="Arial"/>
              </a:rPr>
              <a:t>matched by Halqa</a:t>
            </a:r>
          </a:p>
        </p:txBody>
      </p:sp>
      <p:sp>
        <p:nvSpPr>
          <p:cNvPr id="18" name="TextBox 17"/>
          <p:cNvSpPr txBox="1"/>
          <p:nvPr/>
        </p:nvSpPr>
        <p:spPr>
          <a:xfrm>
            <a:off x="5514746" y="2258568"/>
            <a:ext cx="1436065" cy="548640"/>
          </a:xfrm>
          <a:prstGeom prst="rect">
            <a:avLst/>
          </a:prstGeom>
          <a:noFill/>
        </p:spPr>
        <p:txBody>
          <a:bodyPr wrap="square" lIns="0" rIns="0" tIns="0" bIns="0" anchor="ctr">
            <a:noAutofit/>
          </a:bodyPr>
          <a:lstStyle/>
          <a:p>
            <a:pPr algn="l">
              <a:lnSpc>
                <a:spcPct val="110000"/>
              </a:lnSpc>
            </a:pPr>
            <a:r>
              <a:rPr sz="1150" b="0" i="0">
                <a:solidFill>
                  <a:srgbClr val="0C1408"/>
                </a:solidFill>
                <a:latin typeface="Arial"/>
              </a:rPr>
              <a:t>traders and larger savers</a:t>
            </a:r>
          </a:p>
        </p:txBody>
      </p:sp>
      <p:sp>
        <p:nvSpPr>
          <p:cNvPr id="19" name="TextBox 18"/>
          <p:cNvSpPr txBox="1"/>
          <p:nvPr/>
        </p:nvSpPr>
        <p:spPr>
          <a:xfrm>
            <a:off x="7060539" y="2258568"/>
            <a:ext cx="1436065" cy="548640"/>
          </a:xfrm>
          <a:prstGeom prst="rect">
            <a:avLst/>
          </a:prstGeom>
          <a:noFill/>
        </p:spPr>
        <p:txBody>
          <a:bodyPr wrap="square" lIns="0" rIns="0" tIns="0" bIns="0" anchor="ctr">
            <a:noAutofit/>
          </a:bodyPr>
          <a:lstStyle/>
          <a:p>
            <a:pPr algn="l">
              <a:lnSpc>
                <a:spcPct val="110000"/>
              </a:lnSpc>
            </a:pPr>
            <a:r>
              <a:rPr sz="1150" b="0" i="0">
                <a:solidFill>
                  <a:srgbClr val="0C1408"/>
                </a:solidFill>
                <a:latin typeface="Arial"/>
              </a:rPr>
              <a:t>buying a motorcycle or machine</a:t>
            </a:r>
          </a:p>
        </p:txBody>
      </p:sp>
      <p:sp>
        <p:nvSpPr>
          <p:cNvPr id="20" name="TextBox 19"/>
          <p:cNvSpPr txBox="1"/>
          <p:nvPr/>
        </p:nvSpPr>
        <p:spPr>
          <a:xfrm>
            <a:off x="8606332" y="2258568"/>
            <a:ext cx="1436065" cy="548640"/>
          </a:xfrm>
          <a:prstGeom prst="rect">
            <a:avLst/>
          </a:prstGeom>
          <a:noFill/>
        </p:spPr>
        <p:txBody>
          <a:bodyPr wrap="square" lIns="0" rIns="0" tIns="0" bIns="0" anchor="ctr">
            <a:noAutofit/>
          </a:bodyPr>
          <a:lstStyle/>
          <a:p>
            <a:pPr algn="l">
              <a:lnSpc>
                <a:spcPct val="110000"/>
              </a:lnSpc>
            </a:pPr>
            <a:r>
              <a:rPr sz="1150" b="0" i="0">
                <a:solidFill>
                  <a:srgbClr val="0C1408"/>
                </a:solidFill>
                <a:latin typeface="Arial"/>
              </a:rPr>
              <a:t>families in the UAE and Pakistan</a:t>
            </a:r>
          </a:p>
        </p:txBody>
      </p:sp>
      <p:sp>
        <p:nvSpPr>
          <p:cNvPr id="21" name="TextBox 20"/>
          <p:cNvSpPr txBox="1"/>
          <p:nvPr/>
        </p:nvSpPr>
        <p:spPr>
          <a:xfrm>
            <a:off x="10152126" y="2258568"/>
            <a:ext cx="1436065" cy="548640"/>
          </a:xfrm>
          <a:prstGeom prst="rect">
            <a:avLst/>
          </a:prstGeom>
          <a:noFill/>
        </p:spPr>
        <p:txBody>
          <a:bodyPr wrap="square" lIns="0" rIns="0" tIns="0" bIns="0" anchor="ctr">
            <a:noAutofit/>
          </a:bodyPr>
          <a:lstStyle/>
          <a:p>
            <a:pPr algn="l">
              <a:lnSpc>
                <a:spcPct val="110000"/>
              </a:lnSpc>
            </a:pPr>
            <a:r>
              <a:rPr sz="1150" b="0" i="0">
                <a:solidFill>
                  <a:srgbClr val="0C1408"/>
                </a:solidFill>
                <a:latin typeface="Arial"/>
              </a:rPr>
              <a:t>daily earners: drivers, riders, traders</a:t>
            </a:r>
          </a:p>
        </p:txBody>
      </p:sp>
      <p:cxnSp>
        <p:nvCxnSpPr>
          <p:cNvPr id="22" name="Connector 21"/>
          <p:cNvCxnSpPr/>
          <p:nvPr/>
        </p:nvCxnSpPr>
        <p:spPr>
          <a:xfrm>
            <a:off x="566928" y="2807208"/>
            <a:ext cx="11057839" cy="0"/>
          </a:xfrm>
          <a:prstGeom prst="line">
            <a:avLst/>
          </a:prstGeom>
          <a:ln w="9525">
            <a:solidFill>
              <a:srgbClr val="D5DCD1"/>
            </a:solidFill>
          </a:ln>
        </p:spPr>
      </p:cxnSp>
      <p:sp>
        <p:nvSpPr>
          <p:cNvPr id="23" name="TextBox 22"/>
          <p:cNvSpPr txBox="1"/>
          <p:nvPr/>
        </p:nvSpPr>
        <p:spPr>
          <a:xfrm>
            <a:off x="566928" y="2825496"/>
            <a:ext cx="1673351" cy="365760"/>
          </a:xfrm>
          <a:prstGeom prst="rect">
            <a:avLst/>
          </a:prstGeom>
          <a:noFill/>
        </p:spPr>
        <p:txBody>
          <a:bodyPr wrap="square" lIns="0" rIns="0" tIns="0" bIns="0" anchor="ctr">
            <a:noAutofit/>
          </a:bodyPr>
          <a:lstStyle/>
          <a:p>
            <a:pPr algn="l">
              <a:lnSpc>
                <a:spcPct val="110000"/>
              </a:lnSpc>
            </a:pPr>
            <a:r>
              <a:rPr sz="1200" b="1" i="0">
                <a:solidFill>
                  <a:srgbClr val="0C1408"/>
                </a:solidFill>
                <a:latin typeface="Arial"/>
              </a:rPr>
              <a:t>Members</a:t>
            </a:r>
          </a:p>
        </p:txBody>
      </p:sp>
      <p:sp>
        <p:nvSpPr>
          <p:cNvPr id="24" name="TextBox 23"/>
          <p:cNvSpPr txBox="1"/>
          <p:nvPr/>
        </p:nvSpPr>
        <p:spPr>
          <a:xfrm>
            <a:off x="2423160" y="2825496"/>
            <a:ext cx="1436065" cy="365760"/>
          </a:xfrm>
          <a:prstGeom prst="rect">
            <a:avLst/>
          </a:prstGeom>
          <a:noFill/>
        </p:spPr>
        <p:txBody>
          <a:bodyPr wrap="square" lIns="0" rIns="0" tIns="0" bIns="0" anchor="ctr">
            <a:noAutofit/>
          </a:bodyPr>
          <a:lstStyle/>
          <a:p>
            <a:pPr algn="l">
              <a:lnSpc>
                <a:spcPct val="110000"/>
              </a:lnSpc>
            </a:pPr>
            <a:r>
              <a:rPr sz="1200" b="0" i="0">
                <a:solidFill>
                  <a:srgbClr val="0C1408"/>
                </a:solidFill>
                <a:latin typeface="Arial"/>
              </a:rPr>
              <a:t>6 to 12</a:t>
            </a:r>
          </a:p>
        </p:txBody>
      </p:sp>
      <p:sp>
        <p:nvSpPr>
          <p:cNvPr id="25" name="TextBox 24"/>
          <p:cNvSpPr txBox="1"/>
          <p:nvPr/>
        </p:nvSpPr>
        <p:spPr>
          <a:xfrm>
            <a:off x="3968953" y="2825496"/>
            <a:ext cx="1436065" cy="365760"/>
          </a:xfrm>
          <a:prstGeom prst="rect">
            <a:avLst/>
          </a:prstGeom>
          <a:noFill/>
        </p:spPr>
        <p:txBody>
          <a:bodyPr wrap="square" lIns="0" rIns="0" tIns="0" bIns="0" anchor="ctr">
            <a:noAutofit/>
          </a:bodyPr>
          <a:lstStyle/>
          <a:p>
            <a:pPr algn="l">
              <a:lnSpc>
                <a:spcPct val="110000"/>
              </a:lnSpc>
            </a:pPr>
            <a:r>
              <a:rPr sz="1200" b="0" i="0">
                <a:solidFill>
                  <a:srgbClr val="0C1408"/>
                </a:solidFill>
                <a:latin typeface="Arial"/>
              </a:rPr>
              <a:t>12</a:t>
            </a:r>
          </a:p>
        </p:txBody>
      </p:sp>
      <p:sp>
        <p:nvSpPr>
          <p:cNvPr id="26" name="TextBox 25"/>
          <p:cNvSpPr txBox="1"/>
          <p:nvPr/>
        </p:nvSpPr>
        <p:spPr>
          <a:xfrm>
            <a:off x="5514746" y="2825496"/>
            <a:ext cx="1436065" cy="365760"/>
          </a:xfrm>
          <a:prstGeom prst="rect">
            <a:avLst/>
          </a:prstGeom>
          <a:noFill/>
        </p:spPr>
        <p:txBody>
          <a:bodyPr wrap="square" lIns="0" rIns="0" tIns="0" bIns="0" anchor="ctr">
            <a:noAutofit/>
          </a:bodyPr>
          <a:lstStyle/>
          <a:p>
            <a:pPr algn="l">
              <a:lnSpc>
                <a:spcPct val="110000"/>
              </a:lnSpc>
            </a:pPr>
            <a:r>
              <a:rPr sz="1200" b="0" i="0">
                <a:solidFill>
                  <a:srgbClr val="0C1408"/>
                </a:solidFill>
                <a:latin typeface="Arial"/>
              </a:rPr>
              <a:t>20</a:t>
            </a:r>
          </a:p>
        </p:txBody>
      </p:sp>
      <p:sp>
        <p:nvSpPr>
          <p:cNvPr id="27" name="TextBox 26"/>
          <p:cNvSpPr txBox="1"/>
          <p:nvPr/>
        </p:nvSpPr>
        <p:spPr>
          <a:xfrm>
            <a:off x="7060539" y="2825496"/>
            <a:ext cx="1436065" cy="365760"/>
          </a:xfrm>
          <a:prstGeom prst="rect">
            <a:avLst/>
          </a:prstGeom>
          <a:noFill/>
        </p:spPr>
        <p:txBody>
          <a:bodyPr wrap="square" lIns="0" rIns="0" tIns="0" bIns="0" anchor="ctr">
            <a:noAutofit/>
          </a:bodyPr>
          <a:lstStyle/>
          <a:p>
            <a:pPr algn="l">
              <a:lnSpc>
                <a:spcPct val="110000"/>
              </a:lnSpc>
            </a:pPr>
            <a:r>
              <a:rPr sz="1200" b="0" i="0">
                <a:solidFill>
                  <a:srgbClr val="0C1408"/>
                </a:solidFill>
                <a:latin typeface="Arial"/>
              </a:rPr>
              <a:t>12</a:t>
            </a:r>
          </a:p>
        </p:txBody>
      </p:sp>
      <p:sp>
        <p:nvSpPr>
          <p:cNvPr id="28" name="TextBox 27"/>
          <p:cNvSpPr txBox="1"/>
          <p:nvPr/>
        </p:nvSpPr>
        <p:spPr>
          <a:xfrm>
            <a:off x="8606332" y="2825496"/>
            <a:ext cx="1436065" cy="365760"/>
          </a:xfrm>
          <a:prstGeom prst="rect">
            <a:avLst/>
          </a:prstGeom>
          <a:noFill/>
        </p:spPr>
        <p:txBody>
          <a:bodyPr wrap="square" lIns="0" rIns="0" tIns="0" bIns="0" anchor="ctr">
            <a:noAutofit/>
          </a:bodyPr>
          <a:lstStyle/>
          <a:p>
            <a:pPr algn="l">
              <a:lnSpc>
                <a:spcPct val="110000"/>
              </a:lnSpc>
            </a:pPr>
            <a:r>
              <a:rPr sz="1200" b="0" i="0">
                <a:solidFill>
                  <a:srgbClr val="0C1408"/>
                </a:solidFill>
                <a:latin typeface="Arial"/>
              </a:rPr>
              <a:t>6 to 12</a:t>
            </a:r>
          </a:p>
        </p:txBody>
      </p:sp>
      <p:sp>
        <p:nvSpPr>
          <p:cNvPr id="29" name="TextBox 28"/>
          <p:cNvSpPr txBox="1"/>
          <p:nvPr/>
        </p:nvSpPr>
        <p:spPr>
          <a:xfrm>
            <a:off x="10152126" y="2825496"/>
            <a:ext cx="1436065" cy="365760"/>
          </a:xfrm>
          <a:prstGeom prst="rect">
            <a:avLst/>
          </a:prstGeom>
          <a:noFill/>
        </p:spPr>
        <p:txBody>
          <a:bodyPr wrap="square" lIns="0" rIns="0" tIns="0" bIns="0" anchor="ctr">
            <a:noAutofit/>
          </a:bodyPr>
          <a:lstStyle/>
          <a:p>
            <a:pPr algn="l">
              <a:lnSpc>
                <a:spcPct val="110000"/>
              </a:lnSpc>
            </a:pPr>
            <a:r>
              <a:rPr sz="1200" b="0" i="0">
                <a:solidFill>
                  <a:srgbClr val="0C1408"/>
                </a:solidFill>
                <a:latin typeface="Arial"/>
              </a:rPr>
              <a:t>390 to 400</a:t>
            </a:r>
          </a:p>
        </p:txBody>
      </p:sp>
      <p:cxnSp>
        <p:nvCxnSpPr>
          <p:cNvPr id="30" name="Connector 29"/>
          <p:cNvCxnSpPr/>
          <p:nvPr/>
        </p:nvCxnSpPr>
        <p:spPr>
          <a:xfrm>
            <a:off x="566928" y="3191256"/>
            <a:ext cx="11057839" cy="0"/>
          </a:xfrm>
          <a:prstGeom prst="line">
            <a:avLst/>
          </a:prstGeom>
          <a:ln w="9525">
            <a:solidFill>
              <a:srgbClr val="D5DCD1"/>
            </a:solidFill>
          </a:ln>
        </p:spPr>
      </p:cxnSp>
      <p:sp>
        <p:nvSpPr>
          <p:cNvPr id="31" name="TextBox 30"/>
          <p:cNvSpPr txBox="1"/>
          <p:nvPr/>
        </p:nvSpPr>
        <p:spPr>
          <a:xfrm>
            <a:off x="566928" y="3191256"/>
            <a:ext cx="1673351" cy="365760"/>
          </a:xfrm>
          <a:prstGeom prst="rect">
            <a:avLst/>
          </a:prstGeom>
          <a:noFill/>
        </p:spPr>
        <p:txBody>
          <a:bodyPr wrap="square" lIns="0" rIns="0" tIns="0" bIns="0" anchor="ctr">
            <a:noAutofit/>
          </a:bodyPr>
          <a:lstStyle/>
          <a:p>
            <a:pPr algn="l">
              <a:lnSpc>
                <a:spcPct val="110000"/>
              </a:lnSpc>
            </a:pPr>
            <a:r>
              <a:rPr sz="1200" b="1" i="0">
                <a:solidFill>
                  <a:srgbClr val="0C1408"/>
                </a:solidFill>
                <a:latin typeface="Arial"/>
              </a:rPr>
              <a:t>Instalment</a:t>
            </a:r>
          </a:p>
        </p:txBody>
      </p:sp>
      <p:sp>
        <p:nvSpPr>
          <p:cNvPr id="32" name="TextBox 31"/>
          <p:cNvSpPr txBox="1"/>
          <p:nvPr/>
        </p:nvSpPr>
        <p:spPr>
          <a:xfrm>
            <a:off x="2423160" y="3191256"/>
            <a:ext cx="1436065" cy="365760"/>
          </a:xfrm>
          <a:prstGeom prst="rect">
            <a:avLst/>
          </a:prstGeom>
          <a:noFill/>
        </p:spPr>
        <p:txBody>
          <a:bodyPr wrap="square" lIns="0" rIns="0" tIns="0" bIns="0" anchor="ctr">
            <a:noAutofit/>
          </a:bodyPr>
          <a:lstStyle/>
          <a:p>
            <a:pPr algn="l">
              <a:lnSpc>
                <a:spcPct val="110000"/>
              </a:lnSpc>
            </a:pPr>
            <a:r>
              <a:rPr sz="1200" b="0" i="0">
                <a:solidFill>
                  <a:srgbClr val="0C1408"/>
                </a:solidFill>
                <a:latin typeface="Arial"/>
              </a:rPr>
              <a:t>Rs 2,000 to 10,000</a:t>
            </a:r>
          </a:p>
        </p:txBody>
      </p:sp>
      <p:sp>
        <p:nvSpPr>
          <p:cNvPr id="33" name="TextBox 32"/>
          <p:cNvSpPr txBox="1"/>
          <p:nvPr/>
        </p:nvSpPr>
        <p:spPr>
          <a:xfrm>
            <a:off x="3968953" y="3191256"/>
            <a:ext cx="1436065" cy="365760"/>
          </a:xfrm>
          <a:prstGeom prst="rect">
            <a:avLst/>
          </a:prstGeom>
          <a:noFill/>
        </p:spPr>
        <p:txBody>
          <a:bodyPr wrap="square" lIns="0" rIns="0" tIns="0" bIns="0" anchor="ctr">
            <a:noAutofit/>
          </a:bodyPr>
          <a:lstStyle/>
          <a:p>
            <a:pPr algn="l">
              <a:lnSpc>
                <a:spcPct val="110000"/>
              </a:lnSpc>
            </a:pPr>
            <a:r>
              <a:rPr sz="1200" b="0" i="0">
                <a:solidFill>
                  <a:srgbClr val="0C1408"/>
                </a:solidFill>
                <a:latin typeface="Arial"/>
              </a:rPr>
              <a:t>Rs 10,000</a:t>
            </a:r>
          </a:p>
        </p:txBody>
      </p:sp>
      <p:sp>
        <p:nvSpPr>
          <p:cNvPr id="34" name="TextBox 33"/>
          <p:cNvSpPr txBox="1"/>
          <p:nvPr/>
        </p:nvSpPr>
        <p:spPr>
          <a:xfrm>
            <a:off x="5514746" y="3191256"/>
            <a:ext cx="1436065" cy="365760"/>
          </a:xfrm>
          <a:prstGeom prst="rect">
            <a:avLst/>
          </a:prstGeom>
          <a:noFill/>
        </p:spPr>
        <p:txBody>
          <a:bodyPr wrap="square" lIns="0" rIns="0" tIns="0" bIns="0" anchor="ctr">
            <a:noAutofit/>
          </a:bodyPr>
          <a:lstStyle/>
          <a:p>
            <a:pPr algn="l">
              <a:lnSpc>
                <a:spcPct val="110000"/>
              </a:lnSpc>
            </a:pPr>
            <a:r>
              <a:rPr sz="1200" b="0" i="0">
                <a:solidFill>
                  <a:srgbClr val="0C1408"/>
                </a:solidFill>
                <a:latin typeface="Arial"/>
              </a:rPr>
              <a:t>Rs 25,000</a:t>
            </a:r>
          </a:p>
        </p:txBody>
      </p:sp>
      <p:sp>
        <p:nvSpPr>
          <p:cNvPr id="35" name="TextBox 34"/>
          <p:cNvSpPr txBox="1"/>
          <p:nvPr/>
        </p:nvSpPr>
        <p:spPr>
          <a:xfrm>
            <a:off x="7060539" y="3191256"/>
            <a:ext cx="1436065" cy="365760"/>
          </a:xfrm>
          <a:prstGeom prst="rect">
            <a:avLst/>
          </a:prstGeom>
          <a:noFill/>
        </p:spPr>
        <p:txBody>
          <a:bodyPr wrap="square" lIns="0" rIns="0" tIns="0" bIns="0" anchor="ctr">
            <a:noAutofit/>
          </a:bodyPr>
          <a:lstStyle/>
          <a:p>
            <a:pPr algn="l">
              <a:lnSpc>
                <a:spcPct val="110000"/>
              </a:lnSpc>
            </a:pPr>
            <a:r>
              <a:rPr sz="1200" b="0" i="0">
                <a:solidFill>
                  <a:srgbClr val="0C1408"/>
                </a:solidFill>
                <a:latin typeface="Arial"/>
              </a:rPr>
              <a:t>Rs 10,000</a:t>
            </a:r>
          </a:p>
        </p:txBody>
      </p:sp>
      <p:sp>
        <p:nvSpPr>
          <p:cNvPr id="36" name="TextBox 35"/>
          <p:cNvSpPr txBox="1"/>
          <p:nvPr/>
        </p:nvSpPr>
        <p:spPr>
          <a:xfrm>
            <a:off x="8606332" y="3191256"/>
            <a:ext cx="1436065" cy="365760"/>
          </a:xfrm>
          <a:prstGeom prst="rect">
            <a:avLst/>
          </a:prstGeom>
          <a:noFill/>
        </p:spPr>
        <p:txBody>
          <a:bodyPr wrap="square" lIns="0" rIns="0" tIns="0" bIns="0" anchor="ctr">
            <a:noAutofit/>
          </a:bodyPr>
          <a:lstStyle/>
          <a:p>
            <a:pPr algn="l">
              <a:lnSpc>
                <a:spcPct val="110000"/>
              </a:lnSpc>
            </a:pPr>
            <a:r>
              <a:rPr sz="1200" b="0" i="0">
                <a:solidFill>
                  <a:srgbClr val="0C1408"/>
                </a:solidFill>
                <a:latin typeface="Arial"/>
              </a:rPr>
              <a:t>any amount</a:t>
            </a:r>
          </a:p>
        </p:txBody>
      </p:sp>
      <p:sp>
        <p:nvSpPr>
          <p:cNvPr id="37" name="TextBox 36"/>
          <p:cNvSpPr txBox="1"/>
          <p:nvPr/>
        </p:nvSpPr>
        <p:spPr>
          <a:xfrm>
            <a:off x="10152126" y="3191256"/>
            <a:ext cx="1436065" cy="365760"/>
          </a:xfrm>
          <a:prstGeom prst="rect">
            <a:avLst/>
          </a:prstGeom>
          <a:noFill/>
        </p:spPr>
        <p:txBody>
          <a:bodyPr wrap="square" lIns="0" rIns="0" tIns="0" bIns="0" anchor="ctr">
            <a:noAutofit/>
          </a:bodyPr>
          <a:lstStyle/>
          <a:p>
            <a:pPr algn="l">
              <a:lnSpc>
                <a:spcPct val="110000"/>
              </a:lnSpc>
            </a:pPr>
            <a:r>
              <a:rPr sz="1200" b="0" i="0">
                <a:solidFill>
                  <a:srgbClr val="0C1408"/>
                </a:solidFill>
                <a:latin typeface="Arial"/>
              </a:rPr>
              <a:t>Rs 450 to 500 a day</a:t>
            </a:r>
          </a:p>
        </p:txBody>
      </p:sp>
      <p:cxnSp>
        <p:nvCxnSpPr>
          <p:cNvPr id="38" name="Connector 37"/>
          <p:cNvCxnSpPr/>
          <p:nvPr/>
        </p:nvCxnSpPr>
        <p:spPr>
          <a:xfrm>
            <a:off x="566928" y="3557016"/>
            <a:ext cx="11057839" cy="0"/>
          </a:xfrm>
          <a:prstGeom prst="line">
            <a:avLst/>
          </a:prstGeom>
          <a:ln w="9525">
            <a:solidFill>
              <a:srgbClr val="D5DCD1"/>
            </a:solidFill>
          </a:ln>
        </p:spPr>
      </p:cxnSp>
      <p:sp>
        <p:nvSpPr>
          <p:cNvPr id="39" name="TextBox 38"/>
          <p:cNvSpPr txBox="1"/>
          <p:nvPr/>
        </p:nvSpPr>
        <p:spPr>
          <a:xfrm>
            <a:off x="566928" y="3557016"/>
            <a:ext cx="1673351" cy="365760"/>
          </a:xfrm>
          <a:prstGeom prst="rect">
            <a:avLst/>
          </a:prstGeom>
          <a:noFill/>
        </p:spPr>
        <p:txBody>
          <a:bodyPr wrap="square" lIns="0" rIns="0" tIns="0" bIns="0" anchor="ctr">
            <a:noAutofit/>
          </a:bodyPr>
          <a:lstStyle/>
          <a:p>
            <a:pPr algn="l">
              <a:lnSpc>
                <a:spcPct val="110000"/>
              </a:lnSpc>
            </a:pPr>
            <a:r>
              <a:rPr sz="1200" b="1" i="0">
                <a:solidFill>
                  <a:srgbClr val="0C1408"/>
                </a:solidFill>
                <a:latin typeface="Arial"/>
              </a:rPr>
              <a:t>Frequency</a:t>
            </a:r>
          </a:p>
        </p:txBody>
      </p:sp>
      <p:sp>
        <p:nvSpPr>
          <p:cNvPr id="40" name="TextBox 39"/>
          <p:cNvSpPr txBox="1"/>
          <p:nvPr/>
        </p:nvSpPr>
        <p:spPr>
          <a:xfrm>
            <a:off x="2423160" y="3557016"/>
            <a:ext cx="1436065" cy="365760"/>
          </a:xfrm>
          <a:prstGeom prst="rect">
            <a:avLst/>
          </a:prstGeom>
          <a:noFill/>
        </p:spPr>
        <p:txBody>
          <a:bodyPr wrap="square" lIns="0" rIns="0" tIns="0" bIns="0" anchor="ctr">
            <a:noAutofit/>
          </a:bodyPr>
          <a:lstStyle/>
          <a:p>
            <a:pPr algn="l">
              <a:lnSpc>
                <a:spcPct val="110000"/>
              </a:lnSpc>
            </a:pPr>
            <a:r>
              <a:rPr sz="1200" b="0" i="0">
                <a:solidFill>
                  <a:srgbClr val="0C1408"/>
                </a:solidFill>
                <a:latin typeface="Arial"/>
              </a:rPr>
              <a:t>monthly or weekly</a:t>
            </a:r>
          </a:p>
        </p:txBody>
      </p:sp>
      <p:sp>
        <p:nvSpPr>
          <p:cNvPr id="41" name="TextBox 40"/>
          <p:cNvSpPr txBox="1"/>
          <p:nvPr/>
        </p:nvSpPr>
        <p:spPr>
          <a:xfrm>
            <a:off x="3968953" y="3557016"/>
            <a:ext cx="1436065" cy="365760"/>
          </a:xfrm>
          <a:prstGeom prst="rect">
            <a:avLst/>
          </a:prstGeom>
          <a:noFill/>
        </p:spPr>
        <p:txBody>
          <a:bodyPr wrap="square" lIns="0" rIns="0" tIns="0" bIns="0" anchor="ctr">
            <a:noAutofit/>
          </a:bodyPr>
          <a:lstStyle/>
          <a:p>
            <a:pPr algn="l">
              <a:lnSpc>
                <a:spcPct val="110000"/>
              </a:lnSpc>
            </a:pPr>
            <a:r>
              <a:rPr sz="1200" b="0" i="0">
                <a:solidFill>
                  <a:srgbClr val="0C1408"/>
                </a:solidFill>
                <a:latin typeface="Arial"/>
              </a:rPr>
              <a:t>monthly</a:t>
            </a:r>
          </a:p>
        </p:txBody>
      </p:sp>
      <p:sp>
        <p:nvSpPr>
          <p:cNvPr id="42" name="TextBox 41"/>
          <p:cNvSpPr txBox="1"/>
          <p:nvPr/>
        </p:nvSpPr>
        <p:spPr>
          <a:xfrm>
            <a:off x="5514746" y="3557016"/>
            <a:ext cx="1436065" cy="365760"/>
          </a:xfrm>
          <a:prstGeom prst="rect">
            <a:avLst/>
          </a:prstGeom>
          <a:noFill/>
        </p:spPr>
        <p:txBody>
          <a:bodyPr wrap="square" lIns="0" rIns="0" tIns="0" bIns="0" anchor="ctr">
            <a:noAutofit/>
          </a:bodyPr>
          <a:lstStyle/>
          <a:p>
            <a:pPr algn="l">
              <a:lnSpc>
                <a:spcPct val="110000"/>
              </a:lnSpc>
            </a:pPr>
            <a:r>
              <a:rPr sz="1200" b="0" i="0">
                <a:solidFill>
                  <a:srgbClr val="0C1408"/>
                </a:solidFill>
                <a:latin typeface="Arial"/>
              </a:rPr>
              <a:t>monthly</a:t>
            </a:r>
          </a:p>
        </p:txBody>
      </p:sp>
      <p:sp>
        <p:nvSpPr>
          <p:cNvPr id="43" name="TextBox 42"/>
          <p:cNvSpPr txBox="1"/>
          <p:nvPr/>
        </p:nvSpPr>
        <p:spPr>
          <a:xfrm>
            <a:off x="7060539" y="3557016"/>
            <a:ext cx="1436065" cy="365760"/>
          </a:xfrm>
          <a:prstGeom prst="rect">
            <a:avLst/>
          </a:prstGeom>
          <a:noFill/>
        </p:spPr>
        <p:txBody>
          <a:bodyPr wrap="square" lIns="0" rIns="0" tIns="0" bIns="0" anchor="ctr">
            <a:noAutofit/>
          </a:bodyPr>
          <a:lstStyle/>
          <a:p>
            <a:pPr algn="l">
              <a:lnSpc>
                <a:spcPct val="110000"/>
              </a:lnSpc>
            </a:pPr>
            <a:r>
              <a:rPr sz="1200" b="0" i="0">
                <a:solidFill>
                  <a:srgbClr val="0C1408"/>
                </a:solidFill>
                <a:latin typeface="Arial"/>
              </a:rPr>
              <a:t>monthly</a:t>
            </a:r>
          </a:p>
        </p:txBody>
      </p:sp>
      <p:sp>
        <p:nvSpPr>
          <p:cNvPr id="44" name="TextBox 43"/>
          <p:cNvSpPr txBox="1"/>
          <p:nvPr/>
        </p:nvSpPr>
        <p:spPr>
          <a:xfrm>
            <a:off x="8606332" y="3557016"/>
            <a:ext cx="1436065" cy="365760"/>
          </a:xfrm>
          <a:prstGeom prst="rect">
            <a:avLst/>
          </a:prstGeom>
          <a:noFill/>
        </p:spPr>
        <p:txBody>
          <a:bodyPr wrap="square" lIns="0" rIns="0" tIns="0" bIns="0" anchor="ctr">
            <a:noAutofit/>
          </a:bodyPr>
          <a:lstStyle/>
          <a:p>
            <a:pPr algn="l">
              <a:lnSpc>
                <a:spcPct val="110000"/>
              </a:lnSpc>
            </a:pPr>
            <a:r>
              <a:rPr sz="1200" b="0" i="0">
                <a:solidFill>
                  <a:srgbClr val="0C1408"/>
                </a:solidFill>
                <a:latin typeface="Arial"/>
              </a:rPr>
              <a:t>monthly</a:t>
            </a:r>
          </a:p>
        </p:txBody>
      </p:sp>
      <p:sp>
        <p:nvSpPr>
          <p:cNvPr id="45" name="TextBox 44"/>
          <p:cNvSpPr txBox="1"/>
          <p:nvPr/>
        </p:nvSpPr>
        <p:spPr>
          <a:xfrm>
            <a:off x="10152126" y="3557016"/>
            <a:ext cx="1436065" cy="365760"/>
          </a:xfrm>
          <a:prstGeom prst="rect">
            <a:avLst/>
          </a:prstGeom>
          <a:noFill/>
        </p:spPr>
        <p:txBody>
          <a:bodyPr wrap="square" lIns="0" rIns="0" tIns="0" bIns="0" anchor="ctr">
            <a:noAutofit/>
          </a:bodyPr>
          <a:lstStyle/>
          <a:p>
            <a:pPr algn="l">
              <a:lnSpc>
                <a:spcPct val="110000"/>
              </a:lnSpc>
            </a:pPr>
            <a:r>
              <a:rPr sz="1200" b="0" i="0">
                <a:solidFill>
                  <a:srgbClr val="0C1408"/>
                </a:solidFill>
                <a:latin typeface="Arial"/>
              </a:rPr>
              <a:t>daily</a:t>
            </a:r>
          </a:p>
        </p:txBody>
      </p:sp>
      <p:cxnSp>
        <p:nvCxnSpPr>
          <p:cNvPr id="46" name="Connector 45"/>
          <p:cNvCxnSpPr/>
          <p:nvPr/>
        </p:nvCxnSpPr>
        <p:spPr>
          <a:xfrm>
            <a:off x="566928" y="3922776"/>
            <a:ext cx="11057839" cy="0"/>
          </a:xfrm>
          <a:prstGeom prst="line">
            <a:avLst/>
          </a:prstGeom>
          <a:ln w="9525">
            <a:solidFill>
              <a:srgbClr val="D5DCD1"/>
            </a:solidFill>
          </a:ln>
        </p:spPr>
      </p:cxnSp>
      <p:sp>
        <p:nvSpPr>
          <p:cNvPr id="47" name="TextBox 46"/>
          <p:cNvSpPr txBox="1"/>
          <p:nvPr/>
        </p:nvSpPr>
        <p:spPr>
          <a:xfrm>
            <a:off x="566928" y="3922776"/>
            <a:ext cx="1673351" cy="365760"/>
          </a:xfrm>
          <a:prstGeom prst="rect">
            <a:avLst/>
          </a:prstGeom>
          <a:noFill/>
        </p:spPr>
        <p:txBody>
          <a:bodyPr wrap="square" lIns="0" rIns="0" tIns="0" bIns="0" anchor="ctr">
            <a:noAutofit/>
          </a:bodyPr>
          <a:lstStyle/>
          <a:p>
            <a:pPr algn="l">
              <a:lnSpc>
                <a:spcPct val="110000"/>
              </a:lnSpc>
            </a:pPr>
            <a:r>
              <a:rPr sz="1200" b="1" i="0">
                <a:solidFill>
                  <a:srgbClr val="0C1408"/>
                </a:solidFill>
                <a:latin typeface="Arial"/>
              </a:rPr>
              <a:t>Income checked</a:t>
            </a:r>
          </a:p>
        </p:txBody>
      </p:sp>
      <p:sp>
        <p:nvSpPr>
          <p:cNvPr id="48" name="Oval 47"/>
          <p:cNvSpPr/>
          <p:nvPr/>
        </p:nvSpPr>
        <p:spPr>
          <a:xfrm>
            <a:off x="2427732" y="4018788"/>
            <a:ext cx="173736" cy="173736"/>
          </a:xfrm>
          <a:prstGeom prst="ellipse">
            <a:avLst/>
          </a:prstGeom>
          <a:solidFill>
            <a:srgbClr val="FFFFFF"/>
          </a:solidFill>
          <a:ln w="15875">
            <a:solidFill>
              <a:srgbClr val="41801A"/>
            </a:solidFill>
          </a:ln>
        </p:spPr>
        <p:txBody>
          <a:bodyPr rtlCol="0" anchor="ctr" lIns="0" rIns="0"/>
          <a:lstStyle/>
          <a:p>
            <a:pPr algn="ctr"/>
          </a:p>
        </p:txBody>
      </p:sp>
      <p:sp>
        <p:nvSpPr>
          <p:cNvPr id="49" name="Oval 48"/>
          <p:cNvSpPr/>
          <p:nvPr/>
        </p:nvSpPr>
        <p:spPr>
          <a:xfrm>
            <a:off x="3973525" y="4018788"/>
            <a:ext cx="173736" cy="173736"/>
          </a:xfrm>
          <a:prstGeom prst="ellipse">
            <a:avLst/>
          </a:prstGeom>
          <a:solidFill>
            <a:srgbClr val="FFFFFF"/>
          </a:solidFill>
          <a:ln w="15875">
            <a:solidFill>
              <a:srgbClr val="41801A"/>
            </a:solidFill>
          </a:ln>
        </p:spPr>
        <p:txBody>
          <a:bodyPr rtlCol="0" anchor="ctr" lIns="0" rIns="0"/>
          <a:lstStyle/>
          <a:p>
            <a:pPr algn="ctr"/>
          </a:p>
        </p:txBody>
      </p:sp>
      <p:sp>
        <p:nvSpPr>
          <p:cNvPr id="50" name="Oval 49"/>
          <p:cNvSpPr/>
          <p:nvPr/>
        </p:nvSpPr>
        <p:spPr>
          <a:xfrm>
            <a:off x="3973525" y="4018788"/>
            <a:ext cx="173736" cy="173736"/>
          </a:xfrm>
          <a:prstGeom prst="ellipse">
            <a:avLst/>
          </a:prstGeom>
          <a:solidFill>
            <a:srgbClr val="41801A"/>
          </a:solidFill>
          <a:ln w="15875">
            <a:solidFill>
              <a:srgbClr val="41801A"/>
            </a:solidFill>
          </a:ln>
        </p:spPr>
        <p:txBody>
          <a:bodyPr rtlCol="0" anchor="ctr" lIns="0" rIns="0"/>
          <a:lstStyle/>
          <a:p>
            <a:pPr algn="ctr"/>
          </a:p>
        </p:txBody>
      </p:sp>
      <p:sp>
        <p:nvSpPr>
          <p:cNvPr id="51" name="Oval 50"/>
          <p:cNvSpPr/>
          <p:nvPr/>
        </p:nvSpPr>
        <p:spPr>
          <a:xfrm>
            <a:off x="5519318" y="4018788"/>
            <a:ext cx="173736" cy="173736"/>
          </a:xfrm>
          <a:prstGeom prst="ellipse">
            <a:avLst/>
          </a:prstGeom>
          <a:solidFill>
            <a:srgbClr val="FFFFFF"/>
          </a:solidFill>
          <a:ln w="15875">
            <a:solidFill>
              <a:srgbClr val="41801A"/>
            </a:solidFill>
          </a:ln>
        </p:spPr>
        <p:txBody>
          <a:bodyPr rtlCol="0" anchor="ctr" lIns="0" rIns="0"/>
          <a:lstStyle/>
          <a:p>
            <a:pPr algn="ctr"/>
          </a:p>
        </p:txBody>
      </p:sp>
      <p:sp>
        <p:nvSpPr>
          <p:cNvPr id="52" name="Oval 51"/>
          <p:cNvSpPr/>
          <p:nvPr/>
        </p:nvSpPr>
        <p:spPr>
          <a:xfrm>
            <a:off x="5519318" y="4018788"/>
            <a:ext cx="173736" cy="173736"/>
          </a:xfrm>
          <a:prstGeom prst="ellipse">
            <a:avLst/>
          </a:prstGeom>
          <a:solidFill>
            <a:srgbClr val="41801A"/>
          </a:solidFill>
          <a:ln w="15875">
            <a:solidFill>
              <a:srgbClr val="41801A"/>
            </a:solidFill>
          </a:ln>
        </p:spPr>
        <p:txBody>
          <a:bodyPr rtlCol="0" anchor="ctr" lIns="0" rIns="0"/>
          <a:lstStyle/>
          <a:p>
            <a:pPr algn="ctr"/>
          </a:p>
        </p:txBody>
      </p:sp>
      <p:sp>
        <p:nvSpPr>
          <p:cNvPr id="53" name="Oval 52"/>
          <p:cNvSpPr/>
          <p:nvPr/>
        </p:nvSpPr>
        <p:spPr>
          <a:xfrm>
            <a:off x="7065111" y="4018788"/>
            <a:ext cx="173736" cy="173736"/>
          </a:xfrm>
          <a:prstGeom prst="ellipse">
            <a:avLst/>
          </a:prstGeom>
          <a:solidFill>
            <a:srgbClr val="FFFFFF"/>
          </a:solidFill>
          <a:ln w="15875">
            <a:solidFill>
              <a:srgbClr val="41801A"/>
            </a:solidFill>
          </a:ln>
        </p:spPr>
        <p:txBody>
          <a:bodyPr rtlCol="0" anchor="ctr" lIns="0" rIns="0"/>
          <a:lstStyle/>
          <a:p>
            <a:pPr algn="ctr"/>
          </a:p>
        </p:txBody>
      </p:sp>
      <p:sp>
        <p:nvSpPr>
          <p:cNvPr id="54" name="Oval 53"/>
          <p:cNvSpPr/>
          <p:nvPr/>
        </p:nvSpPr>
        <p:spPr>
          <a:xfrm>
            <a:off x="7065111" y="4018788"/>
            <a:ext cx="173736" cy="173736"/>
          </a:xfrm>
          <a:prstGeom prst="ellipse">
            <a:avLst/>
          </a:prstGeom>
          <a:solidFill>
            <a:srgbClr val="41801A"/>
          </a:solidFill>
          <a:ln w="15875">
            <a:solidFill>
              <a:srgbClr val="41801A"/>
            </a:solidFill>
          </a:ln>
        </p:spPr>
        <p:txBody>
          <a:bodyPr rtlCol="0" anchor="ctr" lIns="0" rIns="0"/>
          <a:lstStyle/>
          <a:p>
            <a:pPr algn="ctr"/>
          </a:p>
        </p:txBody>
      </p:sp>
      <p:sp>
        <p:nvSpPr>
          <p:cNvPr id="55" name="Oval 54"/>
          <p:cNvSpPr/>
          <p:nvPr/>
        </p:nvSpPr>
        <p:spPr>
          <a:xfrm>
            <a:off x="8610904" y="4018788"/>
            <a:ext cx="173736" cy="173736"/>
          </a:xfrm>
          <a:prstGeom prst="ellipse">
            <a:avLst/>
          </a:prstGeom>
          <a:solidFill>
            <a:srgbClr val="FFFFFF"/>
          </a:solidFill>
          <a:ln w="15875">
            <a:solidFill>
              <a:srgbClr val="41801A"/>
            </a:solidFill>
          </a:ln>
        </p:spPr>
        <p:txBody>
          <a:bodyPr rtlCol="0" anchor="ctr" lIns="0" rIns="0"/>
          <a:lstStyle/>
          <a:p>
            <a:pPr algn="ctr"/>
          </a:p>
        </p:txBody>
      </p:sp>
      <p:sp>
        <p:nvSpPr>
          <p:cNvPr id="56" name="Oval 55"/>
          <p:cNvSpPr/>
          <p:nvPr/>
        </p:nvSpPr>
        <p:spPr>
          <a:xfrm>
            <a:off x="10156698" y="4018788"/>
            <a:ext cx="173736" cy="173736"/>
          </a:xfrm>
          <a:prstGeom prst="ellipse">
            <a:avLst/>
          </a:prstGeom>
          <a:solidFill>
            <a:srgbClr val="FFFFFF"/>
          </a:solidFill>
          <a:ln w="15875">
            <a:solidFill>
              <a:srgbClr val="41801A"/>
            </a:solidFill>
          </a:ln>
        </p:spPr>
        <p:txBody>
          <a:bodyPr rtlCol="0" anchor="ctr" lIns="0" rIns="0"/>
          <a:lstStyle/>
          <a:p>
            <a:pPr algn="ctr"/>
          </a:p>
        </p:txBody>
      </p:sp>
      <p:sp>
        <p:nvSpPr>
          <p:cNvPr id="57" name="Oval 56"/>
          <p:cNvSpPr/>
          <p:nvPr/>
        </p:nvSpPr>
        <p:spPr>
          <a:xfrm>
            <a:off x="10156698" y="4018788"/>
            <a:ext cx="173736" cy="173736"/>
          </a:xfrm>
          <a:prstGeom prst="ellipse">
            <a:avLst/>
          </a:prstGeom>
          <a:solidFill>
            <a:srgbClr val="41801A"/>
          </a:solidFill>
          <a:ln w="15875">
            <a:solidFill>
              <a:srgbClr val="41801A"/>
            </a:solidFill>
          </a:ln>
        </p:spPr>
        <p:txBody>
          <a:bodyPr rtlCol="0" anchor="ctr" lIns="0" rIns="0"/>
          <a:lstStyle/>
          <a:p>
            <a:pPr algn="ctr"/>
          </a:p>
        </p:txBody>
      </p:sp>
      <p:cxnSp>
        <p:nvCxnSpPr>
          <p:cNvPr id="58" name="Connector 57"/>
          <p:cNvCxnSpPr/>
          <p:nvPr/>
        </p:nvCxnSpPr>
        <p:spPr>
          <a:xfrm>
            <a:off x="566928" y="4288536"/>
            <a:ext cx="11057839" cy="0"/>
          </a:xfrm>
          <a:prstGeom prst="line">
            <a:avLst/>
          </a:prstGeom>
          <a:ln w="9525">
            <a:solidFill>
              <a:srgbClr val="D5DCD1"/>
            </a:solidFill>
          </a:ln>
        </p:spPr>
      </p:cxnSp>
      <p:sp>
        <p:nvSpPr>
          <p:cNvPr id="59" name="TextBox 58"/>
          <p:cNvSpPr txBox="1"/>
          <p:nvPr/>
        </p:nvSpPr>
        <p:spPr>
          <a:xfrm>
            <a:off x="566928" y="4288536"/>
            <a:ext cx="1673351" cy="365760"/>
          </a:xfrm>
          <a:prstGeom prst="rect">
            <a:avLst/>
          </a:prstGeom>
          <a:noFill/>
        </p:spPr>
        <p:txBody>
          <a:bodyPr wrap="square" lIns="0" rIns="0" tIns="0" bIns="0" anchor="ctr">
            <a:noAutofit/>
          </a:bodyPr>
          <a:lstStyle/>
          <a:p>
            <a:pPr algn="l">
              <a:lnSpc>
                <a:spcPct val="110000"/>
              </a:lnSpc>
            </a:pPr>
            <a:r>
              <a:rPr sz="1200" b="1" i="0">
                <a:solidFill>
                  <a:srgbClr val="0C1408"/>
                </a:solidFill>
                <a:latin typeface="Arial"/>
              </a:rPr>
              <a:t>Automatic debit</a:t>
            </a:r>
          </a:p>
        </p:txBody>
      </p:sp>
      <p:sp>
        <p:nvSpPr>
          <p:cNvPr id="60" name="Oval 59"/>
          <p:cNvSpPr/>
          <p:nvPr/>
        </p:nvSpPr>
        <p:spPr>
          <a:xfrm>
            <a:off x="2427732" y="4384548"/>
            <a:ext cx="173736" cy="173736"/>
          </a:xfrm>
          <a:prstGeom prst="ellipse">
            <a:avLst/>
          </a:prstGeom>
          <a:solidFill>
            <a:srgbClr val="FFFFFF"/>
          </a:solidFill>
          <a:ln w="15875">
            <a:solidFill>
              <a:srgbClr val="41801A"/>
            </a:solidFill>
          </a:ln>
        </p:spPr>
        <p:txBody>
          <a:bodyPr rtlCol="0" anchor="ctr" lIns="0" rIns="0"/>
          <a:lstStyle/>
          <a:p>
            <a:pPr algn="ctr"/>
          </a:p>
        </p:txBody>
      </p:sp>
      <p:sp>
        <p:nvSpPr>
          <p:cNvPr id="61" name="Oval 60"/>
          <p:cNvSpPr/>
          <p:nvPr/>
        </p:nvSpPr>
        <p:spPr>
          <a:xfrm>
            <a:off x="3973525" y="4384548"/>
            <a:ext cx="173736" cy="173736"/>
          </a:xfrm>
          <a:prstGeom prst="ellipse">
            <a:avLst/>
          </a:prstGeom>
          <a:solidFill>
            <a:srgbClr val="FFFFFF"/>
          </a:solidFill>
          <a:ln w="15875">
            <a:solidFill>
              <a:srgbClr val="41801A"/>
            </a:solidFill>
          </a:ln>
        </p:spPr>
        <p:txBody>
          <a:bodyPr rtlCol="0" anchor="ctr" lIns="0" rIns="0"/>
          <a:lstStyle/>
          <a:p>
            <a:pPr algn="ctr"/>
          </a:p>
        </p:txBody>
      </p:sp>
      <p:sp>
        <p:nvSpPr>
          <p:cNvPr id="62" name="Oval 61"/>
          <p:cNvSpPr/>
          <p:nvPr/>
        </p:nvSpPr>
        <p:spPr>
          <a:xfrm>
            <a:off x="3973525" y="4384548"/>
            <a:ext cx="173736" cy="173736"/>
          </a:xfrm>
          <a:prstGeom prst="ellipse">
            <a:avLst/>
          </a:prstGeom>
          <a:solidFill>
            <a:srgbClr val="41801A"/>
          </a:solidFill>
          <a:ln w="15875">
            <a:solidFill>
              <a:srgbClr val="41801A"/>
            </a:solidFill>
          </a:ln>
        </p:spPr>
        <p:txBody>
          <a:bodyPr rtlCol="0" anchor="ctr" lIns="0" rIns="0"/>
          <a:lstStyle/>
          <a:p>
            <a:pPr algn="ctr"/>
          </a:p>
        </p:txBody>
      </p:sp>
      <p:sp>
        <p:nvSpPr>
          <p:cNvPr id="63" name="Oval 62"/>
          <p:cNvSpPr/>
          <p:nvPr/>
        </p:nvSpPr>
        <p:spPr>
          <a:xfrm>
            <a:off x="5519318" y="4384548"/>
            <a:ext cx="173736" cy="173736"/>
          </a:xfrm>
          <a:prstGeom prst="ellipse">
            <a:avLst/>
          </a:prstGeom>
          <a:solidFill>
            <a:srgbClr val="FFFFFF"/>
          </a:solidFill>
          <a:ln w="15875">
            <a:solidFill>
              <a:srgbClr val="41801A"/>
            </a:solidFill>
          </a:ln>
        </p:spPr>
        <p:txBody>
          <a:bodyPr rtlCol="0" anchor="ctr" lIns="0" rIns="0"/>
          <a:lstStyle/>
          <a:p>
            <a:pPr algn="ctr"/>
          </a:p>
        </p:txBody>
      </p:sp>
      <p:sp>
        <p:nvSpPr>
          <p:cNvPr id="64" name="Oval 63"/>
          <p:cNvSpPr/>
          <p:nvPr/>
        </p:nvSpPr>
        <p:spPr>
          <a:xfrm>
            <a:off x="5519318" y="4384548"/>
            <a:ext cx="173736" cy="173736"/>
          </a:xfrm>
          <a:prstGeom prst="ellipse">
            <a:avLst/>
          </a:prstGeom>
          <a:solidFill>
            <a:srgbClr val="41801A"/>
          </a:solidFill>
          <a:ln w="15875">
            <a:solidFill>
              <a:srgbClr val="41801A"/>
            </a:solidFill>
          </a:ln>
        </p:spPr>
        <p:txBody>
          <a:bodyPr rtlCol="0" anchor="ctr" lIns="0" rIns="0"/>
          <a:lstStyle/>
          <a:p>
            <a:pPr algn="ctr"/>
          </a:p>
        </p:txBody>
      </p:sp>
      <p:sp>
        <p:nvSpPr>
          <p:cNvPr id="65" name="Oval 64"/>
          <p:cNvSpPr/>
          <p:nvPr/>
        </p:nvSpPr>
        <p:spPr>
          <a:xfrm>
            <a:off x="7065111" y="4384548"/>
            <a:ext cx="173736" cy="173736"/>
          </a:xfrm>
          <a:prstGeom prst="ellipse">
            <a:avLst/>
          </a:prstGeom>
          <a:solidFill>
            <a:srgbClr val="FFFFFF"/>
          </a:solidFill>
          <a:ln w="15875">
            <a:solidFill>
              <a:srgbClr val="41801A"/>
            </a:solidFill>
          </a:ln>
        </p:spPr>
        <p:txBody>
          <a:bodyPr rtlCol="0" anchor="ctr" lIns="0" rIns="0"/>
          <a:lstStyle/>
          <a:p>
            <a:pPr algn="ctr"/>
          </a:p>
        </p:txBody>
      </p:sp>
      <p:sp>
        <p:nvSpPr>
          <p:cNvPr id="66" name="Oval 65"/>
          <p:cNvSpPr/>
          <p:nvPr/>
        </p:nvSpPr>
        <p:spPr>
          <a:xfrm>
            <a:off x="7065111" y="4384548"/>
            <a:ext cx="173736" cy="173736"/>
          </a:xfrm>
          <a:prstGeom prst="ellipse">
            <a:avLst/>
          </a:prstGeom>
          <a:solidFill>
            <a:srgbClr val="41801A"/>
          </a:solidFill>
          <a:ln w="15875">
            <a:solidFill>
              <a:srgbClr val="41801A"/>
            </a:solidFill>
          </a:ln>
        </p:spPr>
        <p:txBody>
          <a:bodyPr rtlCol="0" anchor="ctr" lIns="0" rIns="0"/>
          <a:lstStyle/>
          <a:p>
            <a:pPr algn="ctr"/>
          </a:p>
        </p:txBody>
      </p:sp>
      <p:sp>
        <p:nvSpPr>
          <p:cNvPr id="67" name="Oval 66"/>
          <p:cNvSpPr/>
          <p:nvPr/>
        </p:nvSpPr>
        <p:spPr>
          <a:xfrm>
            <a:off x="8610904" y="4384548"/>
            <a:ext cx="173736" cy="173736"/>
          </a:xfrm>
          <a:prstGeom prst="ellipse">
            <a:avLst/>
          </a:prstGeom>
          <a:solidFill>
            <a:srgbClr val="FFFFFF"/>
          </a:solidFill>
          <a:ln w="15875">
            <a:solidFill>
              <a:srgbClr val="41801A"/>
            </a:solidFill>
          </a:ln>
        </p:spPr>
        <p:txBody>
          <a:bodyPr rtlCol="0" anchor="ctr" lIns="0" rIns="0"/>
          <a:lstStyle/>
          <a:p>
            <a:pPr algn="ctr"/>
          </a:p>
        </p:txBody>
      </p:sp>
      <p:sp>
        <p:nvSpPr>
          <p:cNvPr id="68" name="Oval 67"/>
          <p:cNvSpPr/>
          <p:nvPr/>
        </p:nvSpPr>
        <p:spPr>
          <a:xfrm>
            <a:off x="8610904" y="4384548"/>
            <a:ext cx="173736" cy="173736"/>
          </a:xfrm>
          <a:prstGeom prst="ellipse">
            <a:avLst/>
          </a:prstGeom>
          <a:solidFill>
            <a:srgbClr val="41801A"/>
          </a:solidFill>
          <a:ln w="15875">
            <a:solidFill>
              <a:srgbClr val="41801A"/>
            </a:solidFill>
          </a:ln>
        </p:spPr>
        <p:txBody>
          <a:bodyPr rtlCol="0" anchor="ctr" lIns="0" rIns="0"/>
          <a:lstStyle/>
          <a:p>
            <a:pPr algn="ctr"/>
          </a:p>
        </p:txBody>
      </p:sp>
      <p:sp>
        <p:nvSpPr>
          <p:cNvPr id="69" name="Oval 68"/>
          <p:cNvSpPr/>
          <p:nvPr/>
        </p:nvSpPr>
        <p:spPr>
          <a:xfrm>
            <a:off x="10156698" y="4384548"/>
            <a:ext cx="173736" cy="173736"/>
          </a:xfrm>
          <a:prstGeom prst="ellipse">
            <a:avLst/>
          </a:prstGeom>
          <a:solidFill>
            <a:srgbClr val="FFFFFF"/>
          </a:solidFill>
          <a:ln w="15875">
            <a:solidFill>
              <a:srgbClr val="41801A"/>
            </a:solidFill>
          </a:ln>
        </p:spPr>
        <p:txBody>
          <a:bodyPr rtlCol="0" anchor="ctr" lIns="0" rIns="0"/>
          <a:lstStyle/>
          <a:p>
            <a:pPr algn="ctr"/>
          </a:p>
        </p:txBody>
      </p:sp>
      <p:sp>
        <p:nvSpPr>
          <p:cNvPr id="70" name="Oval 69"/>
          <p:cNvSpPr/>
          <p:nvPr/>
        </p:nvSpPr>
        <p:spPr>
          <a:xfrm>
            <a:off x="10156698" y="4384548"/>
            <a:ext cx="173736" cy="173736"/>
          </a:xfrm>
          <a:prstGeom prst="ellipse">
            <a:avLst/>
          </a:prstGeom>
          <a:solidFill>
            <a:srgbClr val="41801A"/>
          </a:solidFill>
          <a:ln w="15875">
            <a:solidFill>
              <a:srgbClr val="41801A"/>
            </a:solidFill>
          </a:ln>
        </p:spPr>
        <p:txBody>
          <a:bodyPr rtlCol="0" anchor="ctr" lIns="0" rIns="0"/>
          <a:lstStyle/>
          <a:p>
            <a:pPr algn="ctr"/>
          </a:p>
        </p:txBody>
      </p:sp>
      <p:cxnSp>
        <p:nvCxnSpPr>
          <p:cNvPr id="71" name="Connector 70"/>
          <p:cNvCxnSpPr/>
          <p:nvPr/>
        </p:nvCxnSpPr>
        <p:spPr>
          <a:xfrm>
            <a:off x="566928" y="4654296"/>
            <a:ext cx="11057839" cy="0"/>
          </a:xfrm>
          <a:prstGeom prst="line">
            <a:avLst/>
          </a:prstGeom>
          <a:ln w="9525">
            <a:solidFill>
              <a:srgbClr val="D5DCD1"/>
            </a:solidFill>
          </a:ln>
        </p:spPr>
      </p:cxnSp>
      <p:sp>
        <p:nvSpPr>
          <p:cNvPr id="72" name="TextBox 71"/>
          <p:cNvSpPr txBox="1"/>
          <p:nvPr/>
        </p:nvSpPr>
        <p:spPr>
          <a:xfrm>
            <a:off x="566928" y="4654296"/>
            <a:ext cx="1673351" cy="365760"/>
          </a:xfrm>
          <a:prstGeom prst="rect">
            <a:avLst/>
          </a:prstGeom>
          <a:noFill/>
        </p:spPr>
        <p:txBody>
          <a:bodyPr wrap="square" lIns="0" rIns="0" tIns="0" bIns="0" anchor="ctr">
            <a:noAutofit/>
          </a:bodyPr>
          <a:lstStyle/>
          <a:p>
            <a:pPr algn="l">
              <a:lnSpc>
                <a:spcPct val="110000"/>
              </a:lnSpc>
            </a:pPr>
            <a:r>
              <a:rPr sz="1200" b="1" i="0">
                <a:solidFill>
                  <a:srgbClr val="0C1408"/>
                </a:solidFill>
                <a:latin typeface="Arial"/>
              </a:rPr>
              <a:t>Cover</a:t>
            </a:r>
          </a:p>
        </p:txBody>
      </p:sp>
      <p:sp>
        <p:nvSpPr>
          <p:cNvPr id="73" name="Oval 72"/>
          <p:cNvSpPr/>
          <p:nvPr/>
        </p:nvSpPr>
        <p:spPr>
          <a:xfrm>
            <a:off x="2427732" y="4750308"/>
            <a:ext cx="173736" cy="173736"/>
          </a:xfrm>
          <a:prstGeom prst="ellipse">
            <a:avLst/>
          </a:prstGeom>
          <a:solidFill>
            <a:srgbClr val="FFFFFF"/>
          </a:solidFill>
          <a:ln w="15875">
            <a:solidFill>
              <a:srgbClr val="41801A"/>
            </a:solidFill>
          </a:ln>
        </p:spPr>
        <p:txBody>
          <a:bodyPr rtlCol="0" anchor="ctr" lIns="0" rIns="0"/>
          <a:lstStyle/>
          <a:p>
            <a:pPr algn="ctr"/>
          </a:p>
        </p:txBody>
      </p:sp>
      <p:sp>
        <p:nvSpPr>
          <p:cNvPr id="74" name="Oval 73"/>
          <p:cNvSpPr/>
          <p:nvPr/>
        </p:nvSpPr>
        <p:spPr>
          <a:xfrm>
            <a:off x="3973525" y="4750308"/>
            <a:ext cx="173736" cy="173736"/>
          </a:xfrm>
          <a:prstGeom prst="ellipse">
            <a:avLst/>
          </a:prstGeom>
          <a:solidFill>
            <a:srgbClr val="FFFFFF"/>
          </a:solidFill>
          <a:ln w="15875">
            <a:solidFill>
              <a:srgbClr val="41801A"/>
            </a:solidFill>
          </a:ln>
        </p:spPr>
        <p:txBody>
          <a:bodyPr rtlCol="0" anchor="ctr" lIns="0" rIns="0"/>
          <a:lstStyle/>
          <a:p>
            <a:pPr algn="ctr"/>
          </a:p>
        </p:txBody>
      </p:sp>
      <p:sp>
        <p:nvSpPr>
          <p:cNvPr id="75" name="Oval 74"/>
          <p:cNvSpPr/>
          <p:nvPr/>
        </p:nvSpPr>
        <p:spPr>
          <a:xfrm>
            <a:off x="3973525" y="4750308"/>
            <a:ext cx="173736" cy="173736"/>
          </a:xfrm>
          <a:prstGeom prst="ellipse">
            <a:avLst/>
          </a:prstGeom>
          <a:solidFill>
            <a:srgbClr val="41801A"/>
          </a:solidFill>
          <a:ln w="15875">
            <a:solidFill>
              <a:srgbClr val="41801A"/>
            </a:solidFill>
          </a:ln>
        </p:spPr>
        <p:txBody>
          <a:bodyPr rtlCol="0" anchor="ctr" lIns="0" rIns="0"/>
          <a:lstStyle/>
          <a:p>
            <a:pPr algn="ctr"/>
          </a:p>
        </p:txBody>
      </p:sp>
      <p:sp>
        <p:nvSpPr>
          <p:cNvPr id="76" name="Oval 75"/>
          <p:cNvSpPr/>
          <p:nvPr/>
        </p:nvSpPr>
        <p:spPr>
          <a:xfrm>
            <a:off x="5519318" y="4750308"/>
            <a:ext cx="173736" cy="173736"/>
          </a:xfrm>
          <a:prstGeom prst="ellipse">
            <a:avLst/>
          </a:prstGeom>
          <a:solidFill>
            <a:srgbClr val="FFFFFF"/>
          </a:solidFill>
          <a:ln w="15875">
            <a:solidFill>
              <a:srgbClr val="41801A"/>
            </a:solidFill>
          </a:ln>
        </p:spPr>
        <p:txBody>
          <a:bodyPr rtlCol="0" anchor="ctr" lIns="0" rIns="0"/>
          <a:lstStyle/>
          <a:p>
            <a:pPr algn="ctr"/>
          </a:p>
        </p:txBody>
      </p:sp>
      <p:sp>
        <p:nvSpPr>
          <p:cNvPr id="77" name="Oval 76"/>
          <p:cNvSpPr/>
          <p:nvPr/>
        </p:nvSpPr>
        <p:spPr>
          <a:xfrm>
            <a:off x="5519318" y="4750308"/>
            <a:ext cx="173736" cy="173736"/>
          </a:xfrm>
          <a:prstGeom prst="ellipse">
            <a:avLst/>
          </a:prstGeom>
          <a:solidFill>
            <a:srgbClr val="41801A"/>
          </a:solidFill>
          <a:ln w="15875">
            <a:solidFill>
              <a:srgbClr val="41801A"/>
            </a:solidFill>
          </a:ln>
        </p:spPr>
        <p:txBody>
          <a:bodyPr rtlCol="0" anchor="ctr" lIns="0" rIns="0"/>
          <a:lstStyle/>
          <a:p>
            <a:pPr algn="ctr"/>
          </a:p>
        </p:txBody>
      </p:sp>
      <p:sp>
        <p:nvSpPr>
          <p:cNvPr id="78" name="Oval 77"/>
          <p:cNvSpPr/>
          <p:nvPr/>
        </p:nvSpPr>
        <p:spPr>
          <a:xfrm>
            <a:off x="7065111" y="4750308"/>
            <a:ext cx="173736" cy="173736"/>
          </a:xfrm>
          <a:prstGeom prst="ellipse">
            <a:avLst/>
          </a:prstGeom>
          <a:solidFill>
            <a:srgbClr val="FFFFFF"/>
          </a:solidFill>
          <a:ln w="15875">
            <a:solidFill>
              <a:srgbClr val="41801A"/>
            </a:solidFill>
          </a:ln>
        </p:spPr>
        <p:txBody>
          <a:bodyPr rtlCol="0" anchor="ctr" lIns="0" rIns="0"/>
          <a:lstStyle/>
          <a:p>
            <a:pPr algn="ctr"/>
          </a:p>
        </p:txBody>
      </p:sp>
      <p:sp>
        <p:nvSpPr>
          <p:cNvPr id="79" name="Oval 78"/>
          <p:cNvSpPr/>
          <p:nvPr/>
        </p:nvSpPr>
        <p:spPr>
          <a:xfrm>
            <a:off x="7065111" y="4750308"/>
            <a:ext cx="173736" cy="173736"/>
          </a:xfrm>
          <a:prstGeom prst="ellipse">
            <a:avLst/>
          </a:prstGeom>
          <a:solidFill>
            <a:srgbClr val="41801A"/>
          </a:solidFill>
          <a:ln w="15875">
            <a:solidFill>
              <a:srgbClr val="41801A"/>
            </a:solidFill>
          </a:ln>
        </p:spPr>
        <p:txBody>
          <a:bodyPr rtlCol="0" anchor="ctr" lIns="0" rIns="0"/>
          <a:lstStyle/>
          <a:p>
            <a:pPr algn="ctr"/>
          </a:p>
        </p:txBody>
      </p:sp>
      <p:sp>
        <p:nvSpPr>
          <p:cNvPr id="80" name="Oval 79"/>
          <p:cNvSpPr/>
          <p:nvPr/>
        </p:nvSpPr>
        <p:spPr>
          <a:xfrm>
            <a:off x="8610904" y="4750308"/>
            <a:ext cx="173736" cy="173736"/>
          </a:xfrm>
          <a:prstGeom prst="ellipse">
            <a:avLst/>
          </a:prstGeom>
          <a:solidFill>
            <a:srgbClr val="FFFFFF"/>
          </a:solidFill>
          <a:ln w="15875">
            <a:solidFill>
              <a:srgbClr val="41801A"/>
            </a:solidFill>
          </a:ln>
        </p:spPr>
        <p:txBody>
          <a:bodyPr rtlCol="0" anchor="ctr" lIns="0" rIns="0"/>
          <a:lstStyle/>
          <a:p>
            <a:pPr algn="ctr"/>
          </a:p>
        </p:txBody>
      </p:sp>
      <p:sp>
        <p:nvSpPr>
          <p:cNvPr id="81" name="Oval 80"/>
          <p:cNvSpPr/>
          <p:nvPr/>
        </p:nvSpPr>
        <p:spPr>
          <a:xfrm>
            <a:off x="10156698" y="4750308"/>
            <a:ext cx="173736" cy="173736"/>
          </a:xfrm>
          <a:prstGeom prst="ellipse">
            <a:avLst/>
          </a:prstGeom>
          <a:solidFill>
            <a:srgbClr val="FFFFFF"/>
          </a:solidFill>
          <a:ln w="15875">
            <a:solidFill>
              <a:srgbClr val="41801A"/>
            </a:solidFill>
          </a:ln>
        </p:spPr>
        <p:txBody>
          <a:bodyPr rtlCol="0" anchor="ctr" lIns="0" rIns="0"/>
          <a:lstStyle/>
          <a:p>
            <a:pPr algn="ctr"/>
          </a:p>
        </p:txBody>
      </p:sp>
      <p:sp>
        <p:nvSpPr>
          <p:cNvPr id="82" name="Oval 81"/>
          <p:cNvSpPr/>
          <p:nvPr/>
        </p:nvSpPr>
        <p:spPr>
          <a:xfrm>
            <a:off x="10156698" y="4750308"/>
            <a:ext cx="173736" cy="173736"/>
          </a:xfrm>
          <a:prstGeom prst="ellipse">
            <a:avLst/>
          </a:prstGeom>
          <a:solidFill>
            <a:srgbClr val="41801A"/>
          </a:solidFill>
          <a:ln w="15875">
            <a:solidFill>
              <a:srgbClr val="41801A"/>
            </a:solidFill>
          </a:ln>
        </p:spPr>
        <p:txBody>
          <a:bodyPr rtlCol="0" anchor="ctr" lIns="0" rIns="0"/>
          <a:lstStyle/>
          <a:p>
            <a:pPr algn="ctr"/>
          </a:p>
        </p:txBody>
      </p:sp>
      <p:cxnSp>
        <p:nvCxnSpPr>
          <p:cNvPr id="83" name="Connector 82"/>
          <p:cNvCxnSpPr/>
          <p:nvPr/>
        </p:nvCxnSpPr>
        <p:spPr>
          <a:xfrm>
            <a:off x="566928" y="5020056"/>
            <a:ext cx="11057839" cy="0"/>
          </a:xfrm>
          <a:prstGeom prst="line">
            <a:avLst/>
          </a:prstGeom>
          <a:ln w="9525">
            <a:solidFill>
              <a:srgbClr val="D5DCD1"/>
            </a:solidFill>
          </a:ln>
        </p:spPr>
      </p:cxnSp>
      <p:sp>
        <p:nvSpPr>
          <p:cNvPr id="84" name="TextBox 83"/>
          <p:cNvSpPr txBox="1"/>
          <p:nvPr/>
        </p:nvSpPr>
        <p:spPr>
          <a:xfrm>
            <a:off x="566928" y="5020056"/>
            <a:ext cx="1673351" cy="365760"/>
          </a:xfrm>
          <a:prstGeom prst="rect">
            <a:avLst/>
          </a:prstGeom>
          <a:noFill/>
        </p:spPr>
        <p:txBody>
          <a:bodyPr wrap="square" lIns="0" rIns="0" tIns="0" bIns="0" anchor="ctr">
            <a:noAutofit/>
          </a:bodyPr>
          <a:lstStyle/>
          <a:p>
            <a:pPr algn="l">
              <a:lnSpc>
                <a:spcPct val="110000"/>
              </a:lnSpc>
            </a:pPr>
            <a:r>
              <a:rPr sz="1200" b="1" i="0">
                <a:solidFill>
                  <a:srgbClr val="0C1408"/>
                </a:solidFill>
                <a:latin typeface="Arial"/>
              </a:rPr>
              <a:t>Credit report read</a:t>
            </a:r>
          </a:p>
        </p:txBody>
      </p:sp>
      <p:sp>
        <p:nvSpPr>
          <p:cNvPr id="85" name="Oval 84"/>
          <p:cNvSpPr/>
          <p:nvPr/>
        </p:nvSpPr>
        <p:spPr>
          <a:xfrm>
            <a:off x="2427732" y="5116068"/>
            <a:ext cx="173736" cy="173736"/>
          </a:xfrm>
          <a:prstGeom prst="ellipse">
            <a:avLst/>
          </a:prstGeom>
          <a:solidFill>
            <a:srgbClr val="FFFFFF"/>
          </a:solidFill>
          <a:ln w="15875">
            <a:solidFill>
              <a:srgbClr val="41801A"/>
            </a:solidFill>
          </a:ln>
        </p:spPr>
        <p:txBody>
          <a:bodyPr rtlCol="0" anchor="ctr" lIns="0" rIns="0"/>
          <a:lstStyle/>
          <a:p>
            <a:pPr algn="ctr"/>
          </a:p>
        </p:txBody>
      </p:sp>
      <p:sp>
        <p:nvSpPr>
          <p:cNvPr id="86" name="Oval 85"/>
          <p:cNvSpPr/>
          <p:nvPr/>
        </p:nvSpPr>
        <p:spPr>
          <a:xfrm>
            <a:off x="3973525" y="5116068"/>
            <a:ext cx="173736" cy="173736"/>
          </a:xfrm>
          <a:prstGeom prst="ellipse">
            <a:avLst/>
          </a:prstGeom>
          <a:solidFill>
            <a:srgbClr val="FFFFFF"/>
          </a:solidFill>
          <a:ln w="15875">
            <a:solidFill>
              <a:srgbClr val="41801A"/>
            </a:solidFill>
          </a:ln>
        </p:spPr>
        <p:txBody>
          <a:bodyPr rtlCol="0" anchor="ctr" lIns="0" rIns="0"/>
          <a:lstStyle/>
          <a:p>
            <a:pPr algn="ctr"/>
          </a:p>
        </p:txBody>
      </p:sp>
      <p:sp>
        <p:nvSpPr>
          <p:cNvPr id="87" name="Oval 86"/>
          <p:cNvSpPr/>
          <p:nvPr/>
        </p:nvSpPr>
        <p:spPr>
          <a:xfrm>
            <a:off x="3973525" y="5116068"/>
            <a:ext cx="173736" cy="173736"/>
          </a:xfrm>
          <a:prstGeom prst="ellipse">
            <a:avLst/>
          </a:prstGeom>
          <a:solidFill>
            <a:srgbClr val="41801A"/>
          </a:solidFill>
          <a:ln w="15875">
            <a:solidFill>
              <a:srgbClr val="41801A"/>
            </a:solidFill>
          </a:ln>
        </p:spPr>
        <p:txBody>
          <a:bodyPr rtlCol="0" anchor="ctr" lIns="0" rIns="0"/>
          <a:lstStyle/>
          <a:p>
            <a:pPr algn="ctr"/>
          </a:p>
        </p:txBody>
      </p:sp>
      <p:sp>
        <p:nvSpPr>
          <p:cNvPr id="88" name="Oval 87"/>
          <p:cNvSpPr/>
          <p:nvPr/>
        </p:nvSpPr>
        <p:spPr>
          <a:xfrm>
            <a:off x="5519318" y="5116068"/>
            <a:ext cx="173736" cy="173736"/>
          </a:xfrm>
          <a:prstGeom prst="ellipse">
            <a:avLst/>
          </a:prstGeom>
          <a:solidFill>
            <a:srgbClr val="FFFFFF"/>
          </a:solidFill>
          <a:ln w="15875">
            <a:solidFill>
              <a:srgbClr val="41801A"/>
            </a:solidFill>
          </a:ln>
        </p:spPr>
        <p:txBody>
          <a:bodyPr rtlCol="0" anchor="ctr" lIns="0" rIns="0"/>
          <a:lstStyle/>
          <a:p>
            <a:pPr algn="ctr"/>
          </a:p>
        </p:txBody>
      </p:sp>
      <p:sp>
        <p:nvSpPr>
          <p:cNvPr id="89" name="Oval 88"/>
          <p:cNvSpPr/>
          <p:nvPr/>
        </p:nvSpPr>
        <p:spPr>
          <a:xfrm>
            <a:off x="5519318" y="5116068"/>
            <a:ext cx="173736" cy="173736"/>
          </a:xfrm>
          <a:prstGeom prst="ellipse">
            <a:avLst/>
          </a:prstGeom>
          <a:solidFill>
            <a:srgbClr val="41801A"/>
          </a:solidFill>
          <a:ln w="15875">
            <a:solidFill>
              <a:srgbClr val="41801A"/>
            </a:solidFill>
          </a:ln>
        </p:spPr>
        <p:txBody>
          <a:bodyPr rtlCol="0" anchor="ctr" lIns="0" rIns="0"/>
          <a:lstStyle/>
          <a:p>
            <a:pPr algn="ctr"/>
          </a:p>
        </p:txBody>
      </p:sp>
      <p:sp>
        <p:nvSpPr>
          <p:cNvPr id="90" name="Oval 89"/>
          <p:cNvSpPr/>
          <p:nvPr/>
        </p:nvSpPr>
        <p:spPr>
          <a:xfrm>
            <a:off x="7065111" y="5116068"/>
            <a:ext cx="173736" cy="173736"/>
          </a:xfrm>
          <a:prstGeom prst="ellipse">
            <a:avLst/>
          </a:prstGeom>
          <a:solidFill>
            <a:srgbClr val="FFFFFF"/>
          </a:solidFill>
          <a:ln w="15875">
            <a:solidFill>
              <a:srgbClr val="41801A"/>
            </a:solidFill>
          </a:ln>
        </p:spPr>
        <p:txBody>
          <a:bodyPr rtlCol="0" anchor="ctr" lIns="0" rIns="0"/>
          <a:lstStyle/>
          <a:p>
            <a:pPr algn="ctr"/>
          </a:p>
        </p:txBody>
      </p:sp>
      <p:sp>
        <p:nvSpPr>
          <p:cNvPr id="91" name="Oval 90"/>
          <p:cNvSpPr/>
          <p:nvPr/>
        </p:nvSpPr>
        <p:spPr>
          <a:xfrm>
            <a:off x="7065111" y="5116068"/>
            <a:ext cx="173736" cy="173736"/>
          </a:xfrm>
          <a:prstGeom prst="ellipse">
            <a:avLst/>
          </a:prstGeom>
          <a:solidFill>
            <a:srgbClr val="41801A"/>
          </a:solidFill>
          <a:ln w="15875">
            <a:solidFill>
              <a:srgbClr val="41801A"/>
            </a:solidFill>
          </a:ln>
        </p:spPr>
        <p:txBody>
          <a:bodyPr rtlCol="0" anchor="ctr" lIns="0" rIns="0"/>
          <a:lstStyle/>
          <a:p>
            <a:pPr algn="ctr"/>
          </a:p>
        </p:txBody>
      </p:sp>
      <p:sp>
        <p:nvSpPr>
          <p:cNvPr id="92" name="Oval 91"/>
          <p:cNvSpPr/>
          <p:nvPr/>
        </p:nvSpPr>
        <p:spPr>
          <a:xfrm>
            <a:off x="8610904" y="5116068"/>
            <a:ext cx="173736" cy="173736"/>
          </a:xfrm>
          <a:prstGeom prst="ellipse">
            <a:avLst/>
          </a:prstGeom>
          <a:solidFill>
            <a:srgbClr val="FFFFFF"/>
          </a:solidFill>
          <a:ln w="15875">
            <a:solidFill>
              <a:srgbClr val="41801A"/>
            </a:solidFill>
          </a:ln>
        </p:spPr>
        <p:txBody>
          <a:bodyPr rtlCol="0" anchor="ctr" lIns="0" rIns="0"/>
          <a:lstStyle/>
          <a:p>
            <a:pPr algn="ctr"/>
          </a:p>
        </p:txBody>
      </p:sp>
      <p:sp>
        <p:nvSpPr>
          <p:cNvPr id="93" name="Oval 92"/>
          <p:cNvSpPr/>
          <p:nvPr/>
        </p:nvSpPr>
        <p:spPr>
          <a:xfrm>
            <a:off x="10156698" y="5116068"/>
            <a:ext cx="173736" cy="173736"/>
          </a:xfrm>
          <a:prstGeom prst="ellipse">
            <a:avLst/>
          </a:prstGeom>
          <a:solidFill>
            <a:srgbClr val="FFFFFF"/>
          </a:solidFill>
          <a:ln w="15875">
            <a:solidFill>
              <a:srgbClr val="41801A"/>
            </a:solidFill>
          </a:ln>
        </p:spPr>
        <p:txBody>
          <a:bodyPr rtlCol="0" anchor="ctr" lIns="0" rIns="0"/>
          <a:lstStyle/>
          <a:p>
            <a:pPr algn="ctr"/>
          </a:p>
        </p:txBody>
      </p:sp>
      <p:sp>
        <p:nvSpPr>
          <p:cNvPr id="94" name="Oval 93"/>
          <p:cNvSpPr/>
          <p:nvPr/>
        </p:nvSpPr>
        <p:spPr>
          <a:xfrm>
            <a:off x="10156698" y="5116068"/>
            <a:ext cx="173736" cy="173736"/>
          </a:xfrm>
          <a:prstGeom prst="ellipse">
            <a:avLst/>
          </a:prstGeom>
          <a:solidFill>
            <a:srgbClr val="41801A"/>
          </a:solidFill>
          <a:ln w="15875">
            <a:solidFill>
              <a:srgbClr val="41801A"/>
            </a:solidFill>
          </a:ln>
        </p:spPr>
        <p:txBody>
          <a:bodyPr rtlCol="0" anchor="ctr" lIns="0" rIns="0"/>
          <a:lstStyle/>
          <a:p>
            <a:pPr algn="ctr"/>
          </a:p>
        </p:txBody>
      </p:sp>
      <p:cxnSp>
        <p:nvCxnSpPr>
          <p:cNvPr id="95" name="Connector 94"/>
          <p:cNvCxnSpPr/>
          <p:nvPr/>
        </p:nvCxnSpPr>
        <p:spPr>
          <a:xfrm>
            <a:off x="566928" y="5385816"/>
            <a:ext cx="11057839" cy="0"/>
          </a:xfrm>
          <a:prstGeom prst="line">
            <a:avLst/>
          </a:prstGeom>
          <a:ln w="9525">
            <a:solidFill>
              <a:srgbClr val="D5DCD1"/>
            </a:solidFill>
          </a:ln>
        </p:spPr>
      </p:cxnSp>
      <p:sp>
        <p:nvSpPr>
          <p:cNvPr id="96" name="TextBox 95"/>
          <p:cNvSpPr txBox="1"/>
          <p:nvPr/>
        </p:nvSpPr>
        <p:spPr>
          <a:xfrm>
            <a:off x="566928" y="5385816"/>
            <a:ext cx="1673351" cy="365760"/>
          </a:xfrm>
          <a:prstGeom prst="rect">
            <a:avLst/>
          </a:prstGeom>
          <a:noFill/>
        </p:spPr>
        <p:txBody>
          <a:bodyPr wrap="square" lIns="0" rIns="0" tIns="0" bIns="0" anchor="ctr">
            <a:noAutofit/>
          </a:bodyPr>
          <a:lstStyle/>
          <a:p>
            <a:pPr algn="l">
              <a:lnSpc>
                <a:spcPct val="110000"/>
              </a:lnSpc>
            </a:pPr>
            <a:r>
              <a:rPr sz="1200" b="1" i="0">
                <a:solidFill>
                  <a:srgbClr val="0C1408"/>
                </a:solidFill>
                <a:latin typeface="Arial"/>
              </a:rPr>
              <a:t>Stage</a:t>
            </a:r>
          </a:p>
        </p:txBody>
      </p:sp>
      <p:sp>
        <p:nvSpPr>
          <p:cNvPr id="97" name="TextBox 96"/>
          <p:cNvSpPr txBox="1"/>
          <p:nvPr/>
        </p:nvSpPr>
        <p:spPr>
          <a:xfrm>
            <a:off x="2423160" y="5385816"/>
            <a:ext cx="1436065" cy="365760"/>
          </a:xfrm>
          <a:prstGeom prst="rect">
            <a:avLst/>
          </a:prstGeom>
          <a:noFill/>
        </p:spPr>
        <p:txBody>
          <a:bodyPr wrap="square" lIns="0" rIns="0" tIns="0" bIns="0" anchor="ctr">
            <a:noAutofit/>
          </a:bodyPr>
          <a:lstStyle/>
          <a:p>
            <a:pPr algn="l">
              <a:lnSpc>
                <a:spcPct val="110000"/>
              </a:lnSpc>
            </a:pPr>
            <a:r>
              <a:rPr sz="1200" b="0" i="0">
                <a:solidFill>
                  <a:srgbClr val="0C1408"/>
                </a:solidFill>
                <a:latin typeface="Arial"/>
              </a:rPr>
              <a:t>pilot</a:t>
            </a:r>
          </a:p>
        </p:txBody>
      </p:sp>
      <p:sp>
        <p:nvSpPr>
          <p:cNvPr id="98" name="TextBox 97"/>
          <p:cNvSpPr txBox="1"/>
          <p:nvPr/>
        </p:nvSpPr>
        <p:spPr>
          <a:xfrm>
            <a:off x="3968953" y="5385816"/>
            <a:ext cx="1436065" cy="365760"/>
          </a:xfrm>
          <a:prstGeom prst="rect">
            <a:avLst/>
          </a:prstGeom>
          <a:noFill/>
        </p:spPr>
        <p:txBody>
          <a:bodyPr wrap="square" lIns="0" rIns="0" tIns="0" bIns="0" anchor="ctr">
            <a:noAutofit/>
          </a:bodyPr>
          <a:lstStyle/>
          <a:p>
            <a:pPr algn="l">
              <a:lnSpc>
                <a:spcPct val="110000"/>
              </a:lnSpc>
            </a:pPr>
            <a:r>
              <a:rPr sz="1200" b="0" i="0">
                <a:solidFill>
                  <a:srgbClr val="0C1408"/>
                </a:solidFill>
                <a:latin typeface="Arial"/>
              </a:rPr>
              <a:t>after the pilot</a:t>
            </a:r>
          </a:p>
        </p:txBody>
      </p:sp>
      <p:sp>
        <p:nvSpPr>
          <p:cNvPr id="99" name="TextBox 98"/>
          <p:cNvSpPr txBox="1"/>
          <p:nvPr/>
        </p:nvSpPr>
        <p:spPr>
          <a:xfrm>
            <a:off x="5514746" y="5385816"/>
            <a:ext cx="1436065" cy="365760"/>
          </a:xfrm>
          <a:prstGeom prst="rect">
            <a:avLst/>
          </a:prstGeom>
          <a:noFill/>
        </p:spPr>
        <p:txBody>
          <a:bodyPr wrap="square" lIns="0" rIns="0" tIns="0" bIns="0" anchor="ctr">
            <a:noAutofit/>
          </a:bodyPr>
          <a:lstStyle/>
          <a:p>
            <a:pPr algn="l">
              <a:lnSpc>
                <a:spcPct val="110000"/>
              </a:lnSpc>
            </a:pPr>
            <a:r>
              <a:rPr sz="1200" b="0" i="0">
                <a:solidFill>
                  <a:srgbClr val="0C1408"/>
                </a:solidFill>
                <a:latin typeface="Arial"/>
              </a:rPr>
              <a:t>after the pilot</a:t>
            </a:r>
          </a:p>
        </p:txBody>
      </p:sp>
      <p:sp>
        <p:nvSpPr>
          <p:cNvPr id="100" name="TextBox 99"/>
          <p:cNvSpPr txBox="1"/>
          <p:nvPr/>
        </p:nvSpPr>
        <p:spPr>
          <a:xfrm>
            <a:off x="7060539" y="5385816"/>
            <a:ext cx="1436065" cy="365760"/>
          </a:xfrm>
          <a:prstGeom prst="rect">
            <a:avLst/>
          </a:prstGeom>
          <a:noFill/>
        </p:spPr>
        <p:txBody>
          <a:bodyPr wrap="square" lIns="0" rIns="0" tIns="0" bIns="0" anchor="ctr">
            <a:noAutofit/>
          </a:bodyPr>
          <a:lstStyle/>
          <a:p>
            <a:pPr algn="l">
              <a:lnSpc>
                <a:spcPct val="110000"/>
              </a:lnSpc>
            </a:pPr>
            <a:r>
              <a:rPr sz="1200" b="0" i="0">
                <a:solidFill>
                  <a:srgbClr val="0C1408"/>
                </a:solidFill>
                <a:latin typeface="Arial"/>
              </a:rPr>
              <a:t>after the pilot</a:t>
            </a:r>
          </a:p>
        </p:txBody>
      </p:sp>
      <p:sp>
        <p:nvSpPr>
          <p:cNvPr id="101" name="TextBox 100"/>
          <p:cNvSpPr txBox="1"/>
          <p:nvPr/>
        </p:nvSpPr>
        <p:spPr>
          <a:xfrm>
            <a:off x="8606332" y="5385816"/>
            <a:ext cx="1436065" cy="365760"/>
          </a:xfrm>
          <a:prstGeom prst="rect">
            <a:avLst/>
          </a:prstGeom>
          <a:noFill/>
        </p:spPr>
        <p:txBody>
          <a:bodyPr wrap="square" lIns="0" rIns="0" tIns="0" bIns="0" anchor="ctr">
            <a:noAutofit/>
          </a:bodyPr>
          <a:lstStyle/>
          <a:p>
            <a:pPr algn="l">
              <a:lnSpc>
                <a:spcPct val="110000"/>
              </a:lnSpc>
            </a:pPr>
            <a:r>
              <a:rPr sz="1200" b="0" i="0">
                <a:solidFill>
                  <a:srgbClr val="0C1408"/>
                </a:solidFill>
                <a:latin typeface="Arial"/>
              </a:rPr>
              <a:t>after the pilot</a:t>
            </a:r>
          </a:p>
        </p:txBody>
      </p:sp>
      <p:sp>
        <p:nvSpPr>
          <p:cNvPr id="102" name="TextBox 101"/>
          <p:cNvSpPr txBox="1"/>
          <p:nvPr/>
        </p:nvSpPr>
        <p:spPr>
          <a:xfrm>
            <a:off x="10152126" y="5385816"/>
            <a:ext cx="1436065" cy="365760"/>
          </a:xfrm>
          <a:prstGeom prst="rect">
            <a:avLst/>
          </a:prstGeom>
          <a:noFill/>
        </p:spPr>
        <p:txBody>
          <a:bodyPr wrap="square" lIns="0" rIns="0" tIns="0" bIns="0" anchor="ctr">
            <a:noAutofit/>
          </a:bodyPr>
          <a:lstStyle/>
          <a:p>
            <a:pPr algn="l">
              <a:lnSpc>
                <a:spcPct val="110000"/>
              </a:lnSpc>
            </a:pPr>
            <a:r>
              <a:rPr sz="1200" b="0" i="0">
                <a:solidFill>
                  <a:srgbClr val="0C1408"/>
                </a:solidFill>
                <a:latin typeface="Arial"/>
              </a:rPr>
              <a:t>experimental</a:t>
            </a:r>
          </a:p>
        </p:txBody>
      </p:sp>
      <p:cxnSp>
        <p:nvCxnSpPr>
          <p:cNvPr id="103" name="Connector 102"/>
          <p:cNvCxnSpPr/>
          <p:nvPr/>
        </p:nvCxnSpPr>
        <p:spPr>
          <a:xfrm>
            <a:off x="566928" y="5751576"/>
            <a:ext cx="11057839" cy="0"/>
          </a:xfrm>
          <a:prstGeom prst="line">
            <a:avLst/>
          </a:prstGeom>
          <a:ln w="9525">
            <a:solidFill>
              <a:srgbClr val="D5DCD1"/>
            </a:solidFill>
          </a:ln>
        </p:spPr>
      </p:cxnSp>
      <p:sp>
        <p:nvSpPr>
          <p:cNvPr id="104" name="Oval 103"/>
          <p:cNvSpPr/>
          <p:nvPr/>
        </p:nvSpPr>
        <p:spPr>
          <a:xfrm>
            <a:off x="576072" y="5861304"/>
            <a:ext cx="164592" cy="164592"/>
          </a:xfrm>
          <a:prstGeom prst="ellipse">
            <a:avLst/>
          </a:prstGeom>
          <a:solidFill>
            <a:srgbClr val="FFFFFF"/>
          </a:solidFill>
          <a:ln w="15875">
            <a:solidFill>
              <a:srgbClr val="41801A"/>
            </a:solidFill>
          </a:ln>
        </p:spPr>
        <p:txBody>
          <a:bodyPr rtlCol="0" anchor="ctr" lIns="0" rIns="0"/>
          <a:lstStyle/>
          <a:p>
            <a:pPr algn="ctr"/>
          </a:p>
        </p:txBody>
      </p:sp>
      <p:sp>
        <p:nvSpPr>
          <p:cNvPr id="105" name="Oval 104"/>
          <p:cNvSpPr/>
          <p:nvPr/>
        </p:nvSpPr>
        <p:spPr>
          <a:xfrm>
            <a:off x="576072" y="5861304"/>
            <a:ext cx="164592" cy="164592"/>
          </a:xfrm>
          <a:prstGeom prst="ellipse">
            <a:avLst/>
          </a:prstGeom>
          <a:solidFill>
            <a:srgbClr val="41801A"/>
          </a:solidFill>
          <a:ln w="15875">
            <a:solidFill>
              <a:srgbClr val="41801A"/>
            </a:solidFill>
          </a:ln>
        </p:spPr>
        <p:txBody>
          <a:bodyPr rtlCol="0" anchor="ctr" lIns="0" rIns="0"/>
          <a:lstStyle/>
          <a:p>
            <a:pPr algn="ctr"/>
          </a:p>
        </p:txBody>
      </p:sp>
      <p:sp>
        <p:nvSpPr>
          <p:cNvPr id="106" name="TextBox 105"/>
          <p:cNvSpPr txBox="1"/>
          <p:nvPr/>
        </p:nvSpPr>
        <p:spPr>
          <a:xfrm>
            <a:off x="822960" y="5833872"/>
            <a:ext cx="1280160" cy="228600"/>
          </a:xfrm>
          <a:prstGeom prst="rect">
            <a:avLst/>
          </a:prstGeom>
          <a:noFill/>
        </p:spPr>
        <p:txBody>
          <a:bodyPr wrap="square" lIns="0" rIns="0" tIns="0" bIns="0" anchor="t">
            <a:noAutofit/>
          </a:bodyPr>
          <a:lstStyle/>
          <a:p>
            <a:pPr algn="l">
              <a:lnSpc>
                <a:spcPct val="110000"/>
              </a:lnSpc>
            </a:pPr>
            <a:r>
              <a:rPr sz="1100" b="0" i="0">
                <a:solidFill>
                  <a:srgbClr val="0C1408"/>
                </a:solidFill>
                <a:latin typeface="Arial"/>
              </a:rPr>
              <a:t>required</a:t>
            </a:r>
          </a:p>
        </p:txBody>
      </p:sp>
      <p:sp>
        <p:nvSpPr>
          <p:cNvPr id="107" name="Oval 106"/>
          <p:cNvSpPr/>
          <p:nvPr/>
        </p:nvSpPr>
        <p:spPr>
          <a:xfrm>
            <a:off x="1810511" y="5861304"/>
            <a:ext cx="164592" cy="164592"/>
          </a:xfrm>
          <a:prstGeom prst="ellipse">
            <a:avLst/>
          </a:prstGeom>
          <a:solidFill>
            <a:srgbClr val="FFFFFF"/>
          </a:solidFill>
          <a:ln w="15875">
            <a:solidFill>
              <a:srgbClr val="41801A"/>
            </a:solidFill>
          </a:ln>
        </p:spPr>
        <p:txBody>
          <a:bodyPr rtlCol="0" anchor="ctr" lIns="0" rIns="0"/>
          <a:lstStyle/>
          <a:p>
            <a:pPr algn="ctr"/>
          </a:p>
        </p:txBody>
      </p:sp>
      <p:sp>
        <p:nvSpPr>
          <p:cNvPr id="108" name="TextBox 107"/>
          <p:cNvSpPr txBox="1"/>
          <p:nvPr/>
        </p:nvSpPr>
        <p:spPr>
          <a:xfrm>
            <a:off x="2057400" y="5833872"/>
            <a:ext cx="1463040" cy="228600"/>
          </a:xfrm>
          <a:prstGeom prst="rect">
            <a:avLst/>
          </a:prstGeom>
          <a:noFill/>
        </p:spPr>
        <p:txBody>
          <a:bodyPr wrap="square" lIns="0" rIns="0" tIns="0" bIns="0" anchor="t">
            <a:noAutofit/>
          </a:bodyPr>
          <a:lstStyle/>
          <a:p>
            <a:pPr algn="l">
              <a:lnSpc>
                <a:spcPct val="110000"/>
              </a:lnSpc>
            </a:pPr>
            <a:r>
              <a:rPr sz="1100" b="0" i="0">
                <a:solidFill>
                  <a:srgbClr val="0C1408"/>
                </a:solidFill>
                <a:latin typeface="Arial"/>
              </a:rPr>
              <a:t>not required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9509760" cy="566928"/>
          </a:xfrm>
          <a:prstGeom prst="rect">
            <a:avLst/>
          </a:prstGeom>
          <a:noFill/>
        </p:spPr>
        <p:txBody>
          <a:bodyPr wrap="square" lIns="0" rIns="0" tIns="0" bIns="0" anchor="t">
            <a:noAutofit/>
          </a:bodyPr>
          <a:lstStyle/>
          <a:p>
            <a:pPr algn="l">
              <a:lnSpc>
                <a:spcPct val="110000"/>
              </a:lnSpc>
            </a:pPr>
            <a:r>
              <a:rPr sz="2800" b="0" i="0">
                <a:solidFill>
                  <a:srgbClr val="41801A"/>
                </a:solidFill>
                <a:latin typeface="Georgia"/>
              </a:rPr>
              <a:t>Where the Risk Sits</a:t>
            </a:r>
          </a:p>
        </p:txBody>
      </p:sp>
      <p:sp>
        <p:nvSpPr>
          <p:cNvPr id="3" name="TextBox 2"/>
          <p:cNvSpPr txBox="1"/>
          <p:nvPr/>
        </p:nvSpPr>
        <p:spPr>
          <a:xfrm>
            <a:off x="566928" y="987552"/>
            <a:ext cx="11057839" cy="411480"/>
          </a:xfrm>
          <a:prstGeom prst="rect">
            <a:avLst/>
          </a:prstGeom>
          <a:noFill/>
        </p:spPr>
        <p:txBody>
          <a:bodyPr wrap="square" lIns="0" rIns="0" tIns="0" bIns="0" anchor="t">
            <a:noAutofit/>
          </a:bodyPr>
          <a:lstStyle/>
          <a:p>
            <a:pPr algn="l">
              <a:lnSpc>
                <a:spcPct val="110000"/>
              </a:lnSpc>
            </a:pPr>
            <a:r>
              <a:rPr sz="1800" b="0" i="0">
                <a:solidFill>
                  <a:srgbClr val="0C1408"/>
                </a:solidFill>
                <a:latin typeface="Arial"/>
              </a:rPr>
              <a:t>Only an early collector can leave others short. Early turns need strong credit scores.</a:t>
            </a:r>
          </a:p>
        </p:txBody>
      </p:sp>
      <p:pic>
        <p:nvPicPr>
          <p:cNvPr id="4" name="Picture 3" descr="halqa_logo.png"/>
          <p:cNvPicPr>
            <a:picLocks noChangeAspect="1"/>
          </p:cNvPicPr>
          <p:nvPr/>
        </p:nvPicPr>
        <p:blipFill>
          <a:blip r:embed="rId3"/>
          <a:stretch>
            <a:fillRect/>
          </a:stretch>
        </p:blipFill>
        <p:spPr>
          <a:xfrm>
            <a:off x="10600639" y="457200"/>
            <a:ext cx="1023202" cy="310896"/>
          </a:xfrm>
          <a:prstGeom prst="rect">
            <a:avLst/>
          </a:prstGeom>
        </p:spPr>
      </p:pic>
      <p:sp>
        <p:nvSpPr>
          <p:cNvPr id="5" name="TextBox 4"/>
          <p:cNvSpPr txBox="1"/>
          <p:nvPr/>
        </p:nvSpPr>
        <p:spPr>
          <a:xfrm>
            <a:off x="566928" y="6309360"/>
            <a:ext cx="10149840" cy="365760"/>
          </a:xfrm>
          <a:prstGeom prst="rect">
            <a:avLst/>
          </a:prstGeom>
          <a:noFill/>
        </p:spPr>
        <p:txBody>
          <a:bodyPr wrap="square" lIns="0" rIns="0" tIns="0" bIns="0" anchor="t">
            <a:noAutofit/>
          </a:bodyPr>
          <a:lstStyle/>
          <a:p>
            <a:pPr algn="l">
              <a:lnSpc>
                <a:spcPct val="100000"/>
              </a:lnSpc>
            </a:pPr>
            <a:r>
              <a:rPr sz="900" b="0" i="0">
                <a:solidFill>
                  <a:srgbClr val="5B6456"/>
                </a:solidFill>
                <a:latin typeface="Arial"/>
              </a:rPr>
              <a:t>State Bank of Pakistan, Prudential Regulations for Consumer Financing, R-3, as amended by BPRD Circular Letter 29 of 2021: the 40% limit on loan repayments.</a:t>
            </a:r>
          </a:p>
        </p:txBody>
      </p:sp>
      <p:sp>
        <p:nvSpPr>
          <p:cNvPr id="6" name="TextBox 5"/>
          <p:cNvSpPr txBox="1"/>
          <p:nvPr/>
        </p:nvSpPr>
        <p:spPr>
          <a:xfrm>
            <a:off x="11076127" y="6355080"/>
            <a:ext cx="548640" cy="228600"/>
          </a:xfrm>
          <a:prstGeom prst="rect">
            <a:avLst/>
          </a:prstGeom>
          <a:noFill/>
        </p:spPr>
        <p:txBody>
          <a:bodyPr wrap="square" lIns="0" rIns="0" tIns="0" bIns="0" anchor="t">
            <a:noAutofit/>
          </a:bodyPr>
          <a:lstStyle/>
          <a:p>
            <a:pPr algn="r">
              <a:lnSpc>
                <a:spcPct val="110000"/>
              </a:lnSpc>
            </a:pPr>
            <a:r>
              <a:rPr sz="1000" b="0" i="0">
                <a:solidFill>
                  <a:srgbClr val="5B6456"/>
                </a:solidFill>
                <a:latin typeface="Arial"/>
              </a:rPr>
              <a:t>12</a:t>
            </a:r>
          </a:p>
        </p:txBody>
      </p:sp>
      <p:sp>
        <p:nvSpPr>
          <p:cNvPr id="7" name="TextBox 6"/>
          <p:cNvSpPr txBox="1"/>
          <p:nvPr/>
        </p:nvSpPr>
        <p:spPr>
          <a:xfrm>
            <a:off x="566928" y="1783080"/>
            <a:ext cx="6217920" cy="274320"/>
          </a:xfrm>
          <a:prstGeom prst="rect">
            <a:avLst/>
          </a:prstGeom>
          <a:noFill/>
        </p:spPr>
        <p:txBody>
          <a:bodyPr wrap="square" lIns="0" rIns="0" tIns="0" bIns="0" anchor="t">
            <a:noAutofit/>
          </a:bodyPr>
          <a:lstStyle/>
          <a:p>
            <a:pPr algn="l">
              <a:lnSpc>
                <a:spcPct val="110000"/>
              </a:lnSpc>
            </a:pPr>
            <a:r>
              <a:rPr sz="1300" b="1" i="0">
                <a:solidFill>
                  <a:srgbClr val="0C1408"/>
                </a:solidFill>
                <a:latin typeface="Arial"/>
              </a:rPr>
              <a:t>Still owed after collecting, by turn, Rs thousand: twelve members at Rs 10,000</a:t>
            </a:r>
          </a:p>
        </p:txBody>
      </p:sp>
      <p:sp>
        <p:nvSpPr>
          <p:cNvPr id="8" name="Rectangle 7"/>
          <p:cNvSpPr/>
          <p:nvPr/>
        </p:nvSpPr>
        <p:spPr>
          <a:xfrm>
            <a:off x="653796" y="2423159"/>
            <a:ext cx="329184" cy="2331720"/>
          </a:xfrm>
          <a:prstGeom prst="rect">
            <a:avLst/>
          </a:prstGeom>
          <a:solidFill>
            <a:srgbClr val="41801A"/>
          </a:solidFill>
          <a:ln>
            <a:noFill/>
          </a:ln>
        </p:spPr>
        <p:txBody>
          <a:bodyPr rtlCol="0" anchor="ctr" lIns="0" rIns="0"/>
          <a:lstStyle/>
          <a:p>
            <a:pPr algn="ctr"/>
          </a:p>
        </p:txBody>
      </p:sp>
      <p:sp>
        <p:nvSpPr>
          <p:cNvPr id="9" name="TextBox 8"/>
          <p:cNvSpPr txBox="1"/>
          <p:nvPr/>
        </p:nvSpPr>
        <p:spPr>
          <a:xfrm>
            <a:off x="566928" y="2130551"/>
            <a:ext cx="502919" cy="274320"/>
          </a:xfrm>
          <a:prstGeom prst="rect">
            <a:avLst/>
          </a:prstGeom>
          <a:noFill/>
        </p:spPr>
        <p:txBody>
          <a:bodyPr wrap="square" lIns="0" rIns="0" tIns="0" bIns="0" anchor="b">
            <a:noAutofit/>
          </a:bodyPr>
          <a:lstStyle/>
          <a:p>
            <a:pPr algn="ctr">
              <a:lnSpc>
                <a:spcPct val="110000"/>
              </a:lnSpc>
            </a:pPr>
            <a:r>
              <a:rPr sz="1100" b="0" i="0">
                <a:solidFill>
                  <a:srgbClr val="0C1408"/>
                </a:solidFill>
                <a:latin typeface="Georgia"/>
              </a:rPr>
              <a:t>110</a:t>
            </a:r>
          </a:p>
        </p:txBody>
      </p:sp>
      <p:sp>
        <p:nvSpPr>
          <p:cNvPr id="10" name="TextBox 9"/>
          <p:cNvSpPr txBox="1"/>
          <p:nvPr/>
        </p:nvSpPr>
        <p:spPr>
          <a:xfrm>
            <a:off x="566928" y="4828031"/>
            <a:ext cx="502919" cy="228600"/>
          </a:xfrm>
          <a:prstGeom prst="rect">
            <a:avLst/>
          </a:prstGeom>
          <a:noFill/>
        </p:spPr>
        <p:txBody>
          <a:bodyPr wrap="square" lIns="0" rIns="0" tIns="0" bIns="0" anchor="t">
            <a:noAutofit/>
          </a:bodyPr>
          <a:lstStyle/>
          <a:p>
            <a:pPr algn="ctr">
              <a:lnSpc>
                <a:spcPct val="110000"/>
              </a:lnSpc>
            </a:pPr>
            <a:r>
              <a:rPr sz="1100" b="0" i="0">
                <a:solidFill>
                  <a:srgbClr val="0C1408"/>
                </a:solidFill>
                <a:latin typeface="Arial"/>
              </a:rPr>
              <a:t>1</a:t>
            </a:r>
          </a:p>
        </p:txBody>
      </p:sp>
      <p:sp>
        <p:nvSpPr>
          <p:cNvPr id="11" name="Rectangle 10"/>
          <p:cNvSpPr/>
          <p:nvPr/>
        </p:nvSpPr>
        <p:spPr>
          <a:xfrm>
            <a:off x="1156716" y="2635134"/>
            <a:ext cx="329184" cy="2119745"/>
          </a:xfrm>
          <a:prstGeom prst="rect">
            <a:avLst/>
          </a:prstGeom>
          <a:solidFill>
            <a:srgbClr val="41801A"/>
          </a:solidFill>
          <a:ln>
            <a:noFill/>
          </a:ln>
        </p:spPr>
        <p:txBody>
          <a:bodyPr rtlCol="0" anchor="ctr" lIns="0" rIns="0"/>
          <a:lstStyle/>
          <a:p>
            <a:pPr algn="ctr"/>
          </a:p>
        </p:txBody>
      </p:sp>
      <p:sp>
        <p:nvSpPr>
          <p:cNvPr id="12" name="TextBox 11"/>
          <p:cNvSpPr txBox="1"/>
          <p:nvPr/>
        </p:nvSpPr>
        <p:spPr>
          <a:xfrm>
            <a:off x="1069848" y="2342526"/>
            <a:ext cx="502919" cy="274320"/>
          </a:xfrm>
          <a:prstGeom prst="rect">
            <a:avLst/>
          </a:prstGeom>
          <a:noFill/>
        </p:spPr>
        <p:txBody>
          <a:bodyPr wrap="square" lIns="0" rIns="0" tIns="0" bIns="0" anchor="b">
            <a:noAutofit/>
          </a:bodyPr>
          <a:lstStyle/>
          <a:p>
            <a:pPr algn="ctr">
              <a:lnSpc>
                <a:spcPct val="110000"/>
              </a:lnSpc>
            </a:pPr>
            <a:r>
              <a:rPr sz="1100" b="0" i="0">
                <a:solidFill>
                  <a:srgbClr val="0C1408"/>
                </a:solidFill>
                <a:latin typeface="Georgia"/>
              </a:rPr>
              <a:t>100</a:t>
            </a:r>
          </a:p>
        </p:txBody>
      </p:sp>
      <p:sp>
        <p:nvSpPr>
          <p:cNvPr id="13" name="TextBox 12"/>
          <p:cNvSpPr txBox="1"/>
          <p:nvPr/>
        </p:nvSpPr>
        <p:spPr>
          <a:xfrm>
            <a:off x="1069848" y="4828031"/>
            <a:ext cx="502919" cy="228600"/>
          </a:xfrm>
          <a:prstGeom prst="rect">
            <a:avLst/>
          </a:prstGeom>
          <a:noFill/>
        </p:spPr>
        <p:txBody>
          <a:bodyPr wrap="square" lIns="0" rIns="0" tIns="0" bIns="0" anchor="t">
            <a:noAutofit/>
          </a:bodyPr>
          <a:lstStyle/>
          <a:p>
            <a:pPr algn="ctr">
              <a:lnSpc>
                <a:spcPct val="110000"/>
              </a:lnSpc>
            </a:pPr>
            <a:r>
              <a:rPr sz="1100" b="0" i="0">
                <a:solidFill>
                  <a:srgbClr val="0C1408"/>
                </a:solidFill>
                <a:latin typeface="Arial"/>
              </a:rPr>
              <a:t>2</a:t>
            </a:r>
          </a:p>
        </p:txBody>
      </p:sp>
      <p:sp>
        <p:nvSpPr>
          <p:cNvPr id="14" name="Rectangle 13"/>
          <p:cNvSpPr/>
          <p:nvPr/>
        </p:nvSpPr>
        <p:spPr>
          <a:xfrm>
            <a:off x="1659635" y="2847109"/>
            <a:ext cx="329184" cy="1907770"/>
          </a:xfrm>
          <a:prstGeom prst="rect">
            <a:avLst/>
          </a:prstGeom>
          <a:solidFill>
            <a:srgbClr val="41801A"/>
          </a:solidFill>
          <a:ln>
            <a:noFill/>
          </a:ln>
        </p:spPr>
        <p:txBody>
          <a:bodyPr rtlCol="0" anchor="ctr" lIns="0" rIns="0"/>
          <a:lstStyle/>
          <a:p>
            <a:pPr algn="ctr"/>
          </a:p>
        </p:txBody>
      </p:sp>
      <p:sp>
        <p:nvSpPr>
          <p:cNvPr id="15" name="TextBox 14"/>
          <p:cNvSpPr txBox="1"/>
          <p:nvPr/>
        </p:nvSpPr>
        <p:spPr>
          <a:xfrm>
            <a:off x="1572767" y="2554501"/>
            <a:ext cx="502919" cy="274320"/>
          </a:xfrm>
          <a:prstGeom prst="rect">
            <a:avLst/>
          </a:prstGeom>
          <a:noFill/>
        </p:spPr>
        <p:txBody>
          <a:bodyPr wrap="square" lIns="0" rIns="0" tIns="0" bIns="0" anchor="b">
            <a:noAutofit/>
          </a:bodyPr>
          <a:lstStyle/>
          <a:p>
            <a:pPr algn="ctr">
              <a:lnSpc>
                <a:spcPct val="110000"/>
              </a:lnSpc>
            </a:pPr>
            <a:r>
              <a:rPr sz="1100" b="0" i="0">
                <a:solidFill>
                  <a:srgbClr val="0C1408"/>
                </a:solidFill>
                <a:latin typeface="Georgia"/>
              </a:rPr>
              <a:t>90</a:t>
            </a:r>
          </a:p>
        </p:txBody>
      </p:sp>
      <p:sp>
        <p:nvSpPr>
          <p:cNvPr id="16" name="TextBox 15"/>
          <p:cNvSpPr txBox="1"/>
          <p:nvPr/>
        </p:nvSpPr>
        <p:spPr>
          <a:xfrm>
            <a:off x="1572767" y="4828031"/>
            <a:ext cx="502919" cy="228600"/>
          </a:xfrm>
          <a:prstGeom prst="rect">
            <a:avLst/>
          </a:prstGeom>
          <a:noFill/>
        </p:spPr>
        <p:txBody>
          <a:bodyPr wrap="square" lIns="0" rIns="0" tIns="0" bIns="0" anchor="t">
            <a:noAutofit/>
          </a:bodyPr>
          <a:lstStyle/>
          <a:p>
            <a:pPr algn="ctr">
              <a:lnSpc>
                <a:spcPct val="110000"/>
              </a:lnSpc>
            </a:pPr>
            <a:r>
              <a:rPr sz="1100" b="0" i="0">
                <a:solidFill>
                  <a:srgbClr val="0C1408"/>
                </a:solidFill>
                <a:latin typeface="Arial"/>
              </a:rPr>
              <a:t>3</a:t>
            </a:r>
          </a:p>
        </p:txBody>
      </p:sp>
      <p:sp>
        <p:nvSpPr>
          <p:cNvPr id="17" name="Rectangle 16"/>
          <p:cNvSpPr/>
          <p:nvPr/>
        </p:nvSpPr>
        <p:spPr>
          <a:xfrm>
            <a:off x="2162556" y="3059083"/>
            <a:ext cx="329184" cy="1695796"/>
          </a:xfrm>
          <a:prstGeom prst="rect">
            <a:avLst/>
          </a:prstGeom>
          <a:solidFill>
            <a:srgbClr val="41801A"/>
          </a:solidFill>
          <a:ln>
            <a:noFill/>
          </a:ln>
        </p:spPr>
        <p:txBody>
          <a:bodyPr rtlCol="0" anchor="ctr" lIns="0" rIns="0"/>
          <a:lstStyle/>
          <a:p>
            <a:pPr algn="ctr"/>
          </a:p>
        </p:txBody>
      </p:sp>
      <p:sp>
        <p:nvSpPr>
          <p:cNvPr id="18" name="TextBox 17"/>
          <p:cNvSpPr txBox="1"/>
          <p:nvPr/>
        </p:nvSpPr>
        <p:spPr>
          <a:xfrm>
            <a:off x="2075688" y="2766475"/>
            <a:ext cx="502919" cy="274320"/>
          </a:xfrm>
          <a:prstGeom prst="rect">
            <a:avLst/>
          </a:prstGeom>
          <a:noFill/>
        </p:spPr>
        <p:txBody>
          <a:bodyPr wrap="square" lIns="0" rIns="0" tIns="0" bIns="0" anchor="b">
            <a:noAutofit/>
          </a:bodyPr>
          <a:lstStyle/>
          <a:p>
            <a:pPr algn="ctr">
              <a:lnSpc>
                <a:spcPct val="110000"/>
              </a:lnSpc>
            </a:pPr>
            <a:r>
              <a:rPr sz="1100" b="0" i="0">
                <a:solidFill>
                  <a:srgbClr val="0C1408"/>
                </a:solidFill>
                <a:latin typeface="Georgia"/>
              </a:rPr>
              <a:t>80</a:t>
            </a:r>
          </a:p>
        </p:txBody>
      </p:sp>
      <p:sp>
        <p:nvSpPr>
          <p:cNvPr id="19" name="TextBox 18"/>
          <p:cNvSpPr txBox="1"/>
          <p:nvPr/>
        </p:nvSpPr>
        <p:spPr>
          <a:xfrm>
            <a:off x="2075688" y="4828031"/>
            <a:ext cx="502919" cy="228600"/>
          </a:xfrm>
          <a:prstGeom prst="rect">
            <a:avLst/>
          </a:prstGeom>
          <a:noFill/>
        </p:spPr>
        <p:txBody>
          <a:bodyPr wrap="square" lIns="0" rIns="0" tIns="0" bIns="0" anchor="t">
            <a:noAutofit/>
          </a:bodyPr>
          <a:lstStyle/>
          <a:p>
            <a:pPr algn="ctr">
              <a:lnSpc>
                <a:spcPct val="110000"/>
              </a:lnSpc>
            </a:pPr>
            <a:r>
              <a:rPr sz="1100" b="0" i="0">
                <a:solidFill>
                  <a:srgbClr val="0C1408"/>
                </a:solidFill>
                <a:latin typeface="Arial"/>
              </a:rPr>
              <a:t>4</a:t>
            </a:r>
          </a:p>
        </p:txBody>
      </p:sp>
      <p:sp>
        <p:nvSpPr>
          <p:cNvPr id="20" name="Rectangle 19"/>
          <p:cNvSpPr/>
          <p:nvPr/>
        </p:nvSpPr>
        <p:spPr>
          <a:xfrm>
            <a:off x="2665475" y="3271058"/>
            <a:ext cx="329184" cy="1483821"/>
          </a:xfrm>
          <a:prstGeom prst="rect">
            <a:avLst/>
          </a:prstGeom>
          <a:solidFill>
            <a:srgbClr val="41801A"/>
          </a:solidFill>
          <a:ln>
            <a:noFill/>
          </a:ln>
        </p:spPr>
        <p:txBody>
          <a:bodyPr rtlCol="0" anchor="ctr" lIns="0" rIns="0"/>
          <a:lstStyle/>
          <a:p>
            <a:pPr algn="ctr"/>
          </a:p>
        </p:txBody>
      </p:sp>
      <p:sp>
        <p:nvSpPr>
          <p:cNvPr id="21" name="TextBox 20"/>
          <p:cNvSpPr txBox="1"/>
          <p:nvPr/>
        </p:nvSpPr>
        <p:spPr>
          <a:xfrm>
            <a:off x="2578608" y="2978450"/>
            <a:ext cx="502919" cy="274320"/>
          </a:xfrm>
          <a:prstGeom prst="rect">
            <a:avLst/>
          </a:prstGeom>
          <a:noFill/>
        </p:spPr>
        <p:txBody>
          <a:bodyPr wrap="square" lIns="0" rIns="0" tIns="0" bIns="0" anchor="b">
            <a:noAutofit/>
          </a:bodyPr>
          <a:lstStyle/>
          <a:p>
            <a:pPr algn="ctr">
              <a:lnSpc>
                <a:spcPct val="110000"/>
              </a:lnSpc>
            </a:pPr>
            <a:r>
              <a:rPr sz="1100" b="0" i="0">
                <a:solidFill>
                  <a:srgbClr val="0C1408"/>
                </a:solidFill>
                <a:latin typeface="Georgia"/>
              </a:rPr>
              <a:t>70</a:t>
            </a:r>
          </a:p>
        </p:txBody>
      </p:sp>
      <p:sp>
        <p:nvSpPr>
          <p:cNvPr id="22" name="TextBox 21"/>
          <p:cNvSpPr txBox="1"/>
          <p:nvPr/>
        </p:nvSpPr>
        <p:spPr>
          <a:xfrm>
            <a:off x="2578608" y="4828031"/>
            <a:ext cx="502919" cy="228600"/>
          </a:xfrm>
          <a:prstGeom prst="rect">
            <a:avLst/>
          </a:prstGeom>
          <a:noFill/>
        </p:spPr>
        <p:txBody>
          <a:bodyPr wrap="square" lIns="0" rIns="0" tIns="0" bIns="0" anchor="t">
            <a:noAutofit/>
          </a:bodyPr>
          <a:lstStyle/>
          <a:p>
            <a:pPr algn="ctr">
              <a:lnSpc>
                <a:spcPct val="110000"/>
              </a:lnSpc>
            </a:pPr>
            <a:r>
              <a:rPr sz="1100" b="0" i="0">
                <a:solidFill>
                  <a:srgbClr val="0C1408"/>
                </a:solidFill>
                <a:latin typeface="Arial"/>
              </a:rPr>
              <a:t>5</a:t>
            </a:r>
          </a:p>
        </p:txBody>
      </p:sp>
      <p:sp>
        <p:nvSpPr>
          <p:cNvPr id="23" name="Rectangle 22"/>
          <p:cNvSpPr/>
          <p:nvPr/>
        </p:nvSpPr>
        <p:spPr>
          <a:xfrm>
            <a:off x="3168395" y="3483032"/>
            <a:ext cx="329184" cy="1271847"/>
          </a:xfrm>
          <a:prstGeom prst="rect">
            <a:avLst/>
          </a:prstGeom>
          <a:solidFill>
            <a:srgbClr val="41801A"/>
          </a:solidFill>
          <a:ln>
            <a:noFill/>
          </a:ln>
        </p:spPr>
        <p:txBody>
          <a:bodyPr rtlCol="0" anchor="ctr" lIns="0" rIns="0"/>
          <a:lstStyle/>
          <a:p>
            <a:pPr algn="ctr"/>
          </a:p>
        </p:txBody>
      </p:sp>
      <p:sp>
        <p:nvSpPr>
          <p:cNvPr id="24" name="TextBox 23"/>
          <p:cNvSpPr txBox="1"/>
          <p:nvPr/>
        </p:nvSpPr>
        <p:spPr>
          <a:xfrm>
            <a:off x="3081527" y="3190424"/>
            <a:ext cx="502919" cy="274320"/>
          </a:xfrm>
          <a:prstGeom prst="rect">
            <a:avLst/>
          </a:prstGeom>
          <a:noFill/>
        </p:spPr>
        <p:txBody>
          <a:bodyPr wrap="square" lIns="0" rIns="0" tIns="0" bIns="0" anchor="b">
            <a:noAutofit/>
          </a:bodyPr>
          <a:lstStyle/>
          <a:p>
            <a:pPr algn="ctr">
              <a:lnSpc>
                <a:spcPct val="110000"/>
              </a:lnSpc>
            </a:pPr>
            <a:r>
              <a:rPr sz="1100" b="0" i="0">
                <a:solidFill>
                  <a:srgbClr val="0C1408"/>
                </a:solidFill>
                <a:latin typeface="Georgia"/>
              </a:rPr>
              <a:t>60</a:t>
            </a:r>
          </a:p>
        </p:txBody>
      </p:sp>
      <p:sp>
        <p:nvSpPr>
          <p:cNvPr id="25" name="TextBox 24"/>
          <p:cNvSpPr txBox="1"/>
          <p:nvPr/>
        </p:nvSpPr>
        <p:spPr>
          <a:xfrm>
            <a:off x="3081527" y="4828031"/>
            <a:ext cx="502919" cy="228600"/>
          </a:xfrm>
          <a:prstGeom prst="rect">
            <a:avLst/>
          </a:prstGeom>
          <a:noFill/>
        </p:spPr>
        <p:txBody>
          <a:bodyPr wrap="square" lIns="0" rIns="0" tIns="0" bIns="0" anchor="t">
            <a:noAutofit/>
          </a:bodyPr>
          <a:lstStyle/>
          <a:p>
            <a:pPr algn="ctr">
              <a:lnSpc>
                <a:spcPct val="110000"/>
              </a:lnSpc>
            </a:pPr>
            <a:r>
              <a:rPr sz="1100" b="0" i="0">
                <a:solidFill>
                  <a:srgbClr val="0C1408"/>
                </a:solidFill>
                <a:latin typeface="Arial"/>
              </a:rPr>
              <a:t>6</a:t>
            </a:r>
          </a:p>
        </p:txBody>
      </p:sp>
      <p:sp>
        <p:nvSpPr>
          <p:cNvPr id="26" name="Rectangle 25"/>
          <p:cNvSpPr/>
          <p:nvPr/>
        </p:nvSpPr>
        <p:spPr>
          <a:xfrm>
            <a:off x="3671316" y="3695007"/>
            <a:ext cx="329184" cy="1059872"/>
          </a:xfrm>
          <a:prstGeom prst="rect">
            <a:avLst/>
          </a:prstGeom>
          <a:solidFill>
            <a:srgbClr val="6DC72A"/>
          </a:solidFill>
          <a:ln>
            <a:noFill/>
          </a:ln>
        </p:spPr>
        <p:txBody>
          <a:bodyPr rtlCol="0" anchor="ctr" lIns="0" rIns="0"/>
          <a:lstStyle/>
          <a:p>
            <a:pPr algn="ctr"/>
          </a:p>
        </p:txBody>
      </p:sp>
      <p:sp>
        <p:nvSpPr>
          <p:cNvPr id="27" name="TextBox 26"/>
          <p:cNvSpPr txBox="1"/>
          <p:nvPr/>
        </p:nvSpPr>
        <p:spPr>
          <a:xfrm>
            <a:off x="3584448" y="3402399"/>
            <a:ext cx="502919" cy="274320"/>
          </a:xfrm>
          <a:prstGeom prst="rect">
            <a:avLst/>
          </a:prstGeom>
          <a:noFill/>
        </p:spPr>
        <p:txBody>
          <a:bodyPr wrap="square" lIns="0" rIns="0" tIns="0" bIns="0" anchor="b">
            <a:noAutofit/>
          </a:bodyPr>
          <a:lstStyle/>
          <a:p>
            <a:pPr algn="ctr">
              <a:lnSpc>
                <a:spcPct val="110000"/>
              </a:lnSpc>
            </a:pPr>
            <a:r>
              <a:rPr sz="1100" b="0" i="0">
                <a:solidFill>
                  <a:srgbClr val="0C1408"/>
                </a:solidFill>
                <a:latin typeface="Georgia"/>
              </a:rPr>
              <a:t>50</a:t>
            </a:r>
          </a:p>
        </p:txBody>
      </p:sp>
      <p:sp>
        <p:nvSpPr>
          <p:cNvPr id="28" name="TextBox 27"/>
          <p:cNvSpPr txBox="1"/>
          <p:nvPr/>
        </p:nvSpPr>
        <p:spPr>
          <a:xfrm>
            <a:off x="3584448" y="4828031"/>
            <a:ext cx="502919" cy="228600"/>
          </a:xfrm>
          <a:prstGeom prst="rect">
            <a:avLst/>
          </a:prstGeom>
          <a:noFill/>
        </p:spPr>
        <p:txBody>
          <a:bodyPr wrap="square" lIns="0" rIns="0" tIns="0" bIns="0" anchor="t">
            <a:noAutofit/>
          </a:bodyPr>
          <a:lstStyle/>
          <a:p>
            <a:pPr algn="ctr">
              <a:lnSpc>
                <a:spcPct val="110000"/>
              </a:lnSpc>
            </a:pPr>
            <a:r>
              <a:rPr sz="1100" b="0" i="0">
                <a:solidFill>
                  <a:srgbClr val="0C1408"/>
                </a:solidFill>
                <a:latin typeface="Arial"/>
              </a:rPr>
              <a:t>7</a:t>
            </a:r>
          </a:p>
        </p:txBody>
      </p:sp>
      <p:sp>
        <p:nvSpPr>
          <p:cNvPr id="29" name="Rectangle 28"/>
          <p:cNvSpPr/>
          <p:nvPr/>
        </p:nvSpPr>
        <p:spPr>
          <a:xfrm>
            <a:off x="4174236" y="3906981"/>
            <a:ext cx="329184" cy="847898"/>
          </a:xfrm>
          <a:prstGeom prst="rect">
            <a:avLst/>
          </a:prstGeom>
          <a:solidFill>
            <a:srgbClr val="6DC72A"/>
          </a:solidFill>
          <a:ln>
            <a:noFill/>
          </a:ln>
        </p:spPr>
        <p:txBody>
          <a:bodyPr rtlCol="0" anchor="ctr" lIns="0" rIns="0"/>
          <a:lstStyle/>
          <a:p>
            <a:pPr algn="ctr"/>
          </a:p>
        </p:txBody>
      </p:sp>
      <p:sp>
        <p:nvSpPr>
          <p:cNvPr id="30" name="TextBox 29"/>
          <p:cNvSpPr txBox="1"/>
          <p:nvPr/>
        </p:nvSpPr>
        <p:spPr>
          <a:xfrm>
            <a:off x="4087368" y="3614373"/>
            <a:ext cx="502919" cy="274320"/>
          </a:xfrm>
          <a:prstGeom prst="rect">
            <a:avLst/>
          </a:prstGeom>
          <a:noFill/>
        </p:spPr>
        <p:txBody>
          <a:bodyPr wrap="square" lIns="0" rIns="0" tIns="0" bIns="0" anchor="b">
            <a:noAutofit/>
          </a:bodyPr>
          <a:lstStyle/>
          <a:p>
            <a:pPr algn="ctr">
              <a:lnSpc>
                <a:spcPct val="110000"/>
              </a:lnSpc>
            </a:pPr>
            <a:r>
              <a:rPr sz="1100" b="0" i="0">
                <a:solidFill>
                  <a:srgbClr val="0C1408"/>
                </a:solidFill>
                <a:latin typeface="Georgia"/>
              </a:rPr>
              <a:t>40</a:t>
            </a:r>
          </a:p>
        </p:txBody>
      </p:sp>
      <p:sp>
        <p:nvSpPr>
          <p:cNvPr id="31" name="TextBox 30"/>
          <p:cNvSpPr txBox="1"/>
          <p:nvPr/>
        </p:nvSpPr>
        <p:spPr>
          <a:xfrm>
            <a:off x="4087368" y="4828031"/>
            <a:ext cx="502919" cy="228600"/>
          </a:xfrm>
          <a:prstGeom prst="rect">
            <a:avLst/>
          </a:prstGeom>
          <a:noFill/>
        </p:spPr>
        <p:txBody>
          <a:bodyPr wrap="square" lIns="0" rIns="0" tIns="0" bIns="0" anchor="t">
            <a:noAutofit/>
          </a:bodyPr>
          <a:lstStyle/>
          <a:p>
            <a:pPr algn="ctr">
              <a:lnSpc>
                <a:spcPct val="110000"/>
              </a:lnSpc>
            </a:pPr>
            <a:r>
              <a:rPr sz="1100" b="0" i="0">
                <a:solidFill>
                  <a:srgbClr val="0C1408"/>
                </a:solidFill>
                <a:latin typeface="Arial"/>
              </a:rPr>
              <a:t>8</a:t>
            </a:r>
          </a:p>
        </p:txBody>
      </p:sp>
      <p:sp>
        <p:nvSpPr>
          <p:cNvPr id="32" name="Rectangle 31"/>
          <p:cNvSpPr/>
          <p:nvPr/>
        </p:nvSpPr>
        <p:spPr>
          <a:xfrm>
            <a:off x="4677156" y="4118956"/>
            <a:ext cx="329184" cy="635923"/>
          </a:xfrm>
          <a:prstGeom prst="rect">
            <a:avLst/>
          </a:prstGeom>
          <a:solidFill>
            <a:srgbClr val="6DC72A"/>
          </a:solidFill>
          <a:ln>
            <a:noFill/>
          </a:ln>
        </p:spPr>
        <p:txBody>
          <a:bodyPr rtlCol="0" anchor="ctr" lIns="0" rIns="0"/>
          <a:lstStyle/>
          <a:p>
            <a:pPr algn="ctr"/>
          </a:p>
        </p:txBody>
      </p:sp>
      <p:sp>
        <p:nvSpPr>
          <p:cNvPr id="33" name="TextBox 32"/>
          <p:cNvSpPr txBox="1"/>
          <p:nvPr/>
        </p:nvSpPr>
        <p:spPr>
          <a:xfrm>
            <a:off x="4590288" y="3826348"/>
            <a:ext cx="502919" cy="274320"/>
          </a:xfrm>
          <a:prstGeom prst="rect">
            <a:avLst/>
          </a:prstGeom>
          <a:noFill/>
        </p:spPr>
        <p:txBody>
          <a:bodyPr wrap="square" lIns="0" rIns="0" tIns="0" bIns="0" anchor="b">
            <a:noAutofit/>
          </a:bodyPr>
          <a:lstStyle/>
          <a:p>
            <a:pPr algn="ctr">
              <a:lnSpc>
                <a:spcPct val="110000"/>
              </a:lnSpc>
            </a:pPr>
            <a:r>
              <a:rPr sz="1100" b="0" i="0">
                <a:solidFill>
                  <a:srgbClr val="0C1408"/>
                </a:solidFill>
                <a:latin typeface="Georgia"/>
              </a:rPr>
              <a:t>30</a:t>
            </a:r>
          </a:p>
        </p:txBody>
      </p:sp>
      <p:sp>
        <p:nvSpPr>
          <p:cNvPr id="34" name="TextBox 33"/>
          <p:cNvSpPr txBox="1"/>
          <p:nvPr/>
        </p:nvSpPr>
        <p:spPr>
          <a:xfrm>
            <a:off x="4590288" y="4828031"/>
            <a:ext cx="502919" cy="228600"/>
          </a:xfrm>
          <a:prstGeom prst="rect">
            <a:avLst/>
          </a:prstGeom>
          <a:noFill/>
        </p:spPr>
        <p:txBody>
          <a:bodyPr wrap="square" lIns="0" rIns="0" tIns="0" bIns="0" anchor="t">
            <a:noAutofit/>
          </a:bodyPr>
          <a:lstStyle/>
          <a:p>
            <a:pPr algn="ctr">
              <a:lnSpc>
                <a:spcPct val="110000"/>
              </a:lnSpc>
            </a:pPr>
            <a:r>
              <a:rPr sz="1100" b="0" i="0">
                <a:solidFill>
                  <a:srgbClr val="0C1408"/>
                </a:solidFill>
                <a:latin typeface="Arial"/>
              </a:rPr>
              <a:t>9</a:t>
            </a:r>
          </a:p>
        </p:txBody>
      </p:sp>
      <p:sp>
        <p:nvSpPr>
          <p:cNvPr id="35" name="Rectangle 34"/>
          <p:cNvSpPr/>
          <p:nvPr/>
        </p:nvSpPr>
        <p:spPr>
          <a:xfrm>
            <a:off x="5180076" y="4330930"/>
            <a:ext cx="329184" cy="423949"/>
          </a:xfrm>
          <a:prstGeom prst="rect">
            <a:avLst/>
          </a:prstGeom>
          <a:solidFill>
            <a:srgbClr val="A9DE7F"/>
          </a:solidFill>
          <a:ln>
            <a:noFill/>
          </a:ln>
        </p:spPr>
        <p:txBody>
          <a:bodyPr rtlCol="0" anchor="ctr" lIns="0" rIns="0"/>
          <a:lstStyle/>
          <a:p>
            <a:pPr algn="ctr"/>
          </a:p>
        </p:txBody>
      </p:sp>
      <p:sp>
        <p:nvSpPr>
          <p:cNvPr id="36" name="TextBox 35"/>
          <p:cNvSpPr txBox="1"/>
          <p:nvPr/>
        </p:nvSpPr>
        <p:spPr>
          <a:xfrm>
            <a:off x="5093207" y="4038322"/>
            <a:ext cx="502919" cy="274320"/>
          </a:xfrm>
          <a:prstGeom prst="rect">
            <a:avLst/>
          </a:prstGeom>
          <a:noFill/>
        </p:spPr>
        <p:txBody>
          <a:bodyPr wrap="square" lIns="0" rIns="0" tIns="0" bIns="0" anchor="b">
            <a:noAutofit/>
          </a:bodyPr>
          <a:lstStyle/>
          <a:p>
            <a:pPr algn="ctr">
              <a:lnSpc>
                <a:spcPct val="110000"/>
              </a:lnSpc>
            </a:pPr>
            <a:r>
              <a:rPr sz="1100" b="0" i="0">
                <a:solidFill>
                  <a:srgbClr val="0C1408"/>
                </a:solidFill>
                <a:latin typeface="Georgia"/>
              </a:rPr>
              <a:t>20</a:t>
            </a:r>
          </a:p>
        </p:txBody>
      </p:sp>
      <p:sp>
        <p:nvSpPr>
          <p:cNvPr id="37" name="TextBox 36"/>
          <p:cNvSpPr txBox="1"/>
          <p:nvPr/>
        </p:nvSpPr>
        <p:spPr>
          <a:xfrm>
            <a:off x="5093207" y="4828031"/>
            <a:ext cx="502919" cy="228600"/>
          </a:xfrm>
          <a:prstGeom prst="rect">
            <a:avLst/>
          </a:prstGeom>
          <a:noFill/>
        </p:spPr>
        <p:txBody>
          <a:bodyPr wrap="square" lIns="0" rIns="0" tIns="0" bIns="0" anchor="t">
            <a:noAutofit/>
          </a:bodyPr>
          <a:lstStyle/>
          <a:p>
            <a:pPr algn="ctr">
              <a:lnSpc>
                <a:spcPct val="110000"/>
              </a:lnSpc>
            </a:pPr>
            <a:r>
              <a:rPr sz="1100" b="0" i="0">
                <a:solidFill>
                  <a:srgbClr val="0C1408"/>
                </a:solidFill>
                <a:latin typeface="Arial"/>
              </a:rPr>
              <a:t>10</a:t>
            </a:r>
          </a:p>
        </p:txBody>
      </p:sp>
      <p:sp>
        <p:nvSpPr>
          <p:cNvPr id="38" name="Rectangle 37"/>
          <p:cNvSpPr/>
          <p:nvPr/>
        </p:nvSpPr>
        <p:spPr>
          <a:xfrm>
            <a:off x="5682996" y="4542905"/>
            <a:ext cx="329184" cy="211974"/>
          </a:xfrm>
          <a:prstGeom prst="rect">
            <a:avLst/>
          </a:prstGeom>
          <a:solidFill>
            <a:srgbClr val="A9DE7F"/>
          </a:solidFill>
          <a:ln>
            <a:noFill/>
          </a:ln>
        </p:spPr>
        <p:txBody>
          <a:bodyPr rtlCol="0" anchor="ctr" lIns="0" rIns="0"/>
          <a:lstStyle/>
          <a:p>
            <a:pPr algn="ctr"/>
          </a:p>
        </p:txBody>
      </p:sp>
      <p:sp>
        <p:nvSpPr>
          <p:cNvPr id="39" name="TextBox 38"/>
          <p:cNvSpPr txBox="1"/>
          <p:nvPr/>
        </p:nvSpPr>
        <p:spPr>
          <a:xfrm>
            <a:off x="5596127" y="4250297"/>
            <a:ext cx="502919" cy="274320"/>
          </a:xfrm>
          <a:prstGeom prst="rect">
            <a:avLst/>
          </a:prstGeom>
          <a:noFill/>
        </p:spPr>
        <p:txBody>
          <a:bodyPr wrap="square" lIns="0" rIns="0" tIns="0" bIns="0" anchor="b">
            <a:noAutofit/>
          </a:bodyPr>
          <a:lstStyle/>
          <a:p>
            <a:pPr algn="ctr">
              <a:lnSpc>
                <a:spcPct val="110000"/>
              </a:lnSpc>
            </a:pPr>
            <a:r>
              <a:rPr sz="1100" b="0" i="0">
                <a:solidFill>
                  <a:srgbClr val="0C1408"/>
                </a:solidFill>
                <a:latin typeface="Georgia"/>
              </a:rPr>
              <a:t>10</a:t>
            </a:r>
          </a:p>
        </p:txBody>
      </p:sp>
      <p:sp>
        <p:nvSpPr>
          <p:cNvPr id="40" name="TextBox 39"/>
          <p:cNvSpPr txBox="1"/>
          <p:nvPr/>
        </p:nvSpPr>
        <p:spPr>
          <a:xfrm>
            <a:off x="5596127" y="4828031"/>
            <a:ext cx="502919" cy="228600"/>
          </a:xfrm>
          <a:prstGeom prst="rect">
            <a:avLst/>
          </a:prstGeom>
          <a:noFill/>
        </p:spPr>
        <p:txBody>
          <a:bodyPr wrap="square" lIns="0" rIns="0" tIns="0" bIns="0" anchor="t">
            <a:noAutofit/>
          </a:bodyPr>
          <a:lstStyle/>
          <a:p>
            <a:pPr algn="ctr">
              <a:lnSpc>
                <a:spcPct val="110000"/>
              </a:lnSpc>
            </a:pPr>
            <a:r>
              <a:rPr sz="1100" b="0" i="0">
                <a:solidFill>
                  <a:srgbClr val="0C1408"/>
                </a:solidFill>
                <a:latin typeface="Arial"/>
              </a:rPr>
              <a:t>11</a:t>
            </a:r>
          </a:p>
        </p:txBody>
      </p:sp>
      <p:sp>
        <p:nvSpPr>
          <p:cNvPr id="41" name="Rectangle 40"/>
          <p:cNvSpPr/>
          <p:nvPr/>
        </p:nvSpPr>
        <p:spPr>
          <a:xfrm>
            <a:off x="6185916" y="4736592"/>
            <a:ext cx="329184" cy="18288"/>
          </a:xfrm>
          <a:prstGeom prst="rect">
            <a:avLst/>
          </a:prstGeom>
          <a:solidFill>
            <a:srgbClr val="A9DE7F"/>
          </a:solidFill>
          <a:ln>
            <a:noFill/>
          </a:ln>
        </p:spPr>
        <p:txBody>
          <a:bodyPr rtlCol="0" anchor="ctr" lIns="0" rIns="0"/>
          <a:lstStyle/>
          <a:p>
            <a:pPr algn="ctr"/>
          </a:p>
        </p:txBody>
      </p:sp>
      <p:sp>
        <p:nvSpPr>
          <p:cNvPr id="42" name="TextBox 41"/>
          <p:cNvSpPr txBox="1"/>
          <p:nvPr/>
        </p:nvSpPr>
        <p:spPr>
          <a:xfrm>
            <a:off x="6099047" y="4443983"/>
            <a:ext cx="502919" cy="274320"/>
          </a:xfrm>
          <a:prstGeom prst="rect">
            <a:avLst/>
          </a:prstGeom>
          <a:noFill/>
        </p:spPr>
        <p:txBody>
          <a:bodyPr wrap="square" lIns="0" rIns="0" tIns="0" bIns="0" anchor="b">
            <a:noAutofit/>
          </a:bodyPr>
          <a:lstStyle/>
          <a:p>
            <a:pPr algn="ctr">
              <a:lnSpc>
                <a:spcPct val="110000"/>
              </a:lnSpc>
            </a:pPr>
            <a:r>
              <a:rPr sz="1100" b="0" i="0">
                <a:solidFill>
                  <a:srgbClr val="0C1408"/>
                </a:solidFill>
                <a:latin typeface="Georgia"/>
              </a:rPr>
              <a:t>0</a:t>
            </a:r>
          </a:p>
        </p:txBody>
      </p:sp>
      <p:sp>
        <p:nvSpPr>
          <p:cNvPr id="43" name="TextBox 42"/>
          <p:cNvSpPr txBox="1"/>
          <p:nvPr/>
        </p:nvSpPr>
        <p:spPr>
          <a:xfrm>
            <a:off x="6099047" y="4828031"/>
            <a:ext cx="502919" cy="228600"/>
          </a:xfrm>
          <a:prstGeom prst="rect">
            <a:avLst/>
          </a:prstGeom>
          <a:noFill/>
        </p:spPr>
        <p:txBody>
          <a:bodyPr wrap="square" lIns="0" rIns="0" tIns="0" bIns="0" anchor="t">
            <a:noAutofit/>
          </a:bodyPr>
          <a:lstStyle/>
          <a:p>
            <a:pPr algn="ctr">
              <a:lnSpc>
                <a:spcPct val="110000"/>
              </a:lnSpc>
            </a:pPr>
            <a:r>
              <a:rPr sz="1100" b="0" i="0">
                <a:solidFill>
                  <a:srgbClr val="0C1408"/>
                </a:solidFill>
                <a:latin typeface="Arial"/>
              </a:rPr>
              <a:t>12</a:t>
            </a:r>
          </a:p>
        </p:txBody>
      </p:sp>
      <p:cxnSp>
        <p:nvCxnSpPr>
          <p:cNvPr id="44" name="Connector 43"/>
          <p:cNvCxnSpPr/>
          <p:nvPr/>
        </p:nvCxnSpPr>
        <p:spPr>
          <a:xfrm>
            <a:off x="566928" y="4754879"/>
            <a:ext cx="6035040" cy="0"/>
          </a:xfrm>
          <a:prstGeom prst="line">
            <a:avLst/>
          </a:prstGeom>
          <a:ln w="9525">
            <a:solidFill>
              <a:srgbClr val="0C1408"/>
            </a:solidFill>
          </a:ln>
        </p:spPr>
      </p:cxnSp>
      <p:cxnSp>
        <p:nvCxnSpPr>
          <p:cNvPr id="45" name="Connector 44"/>
          <p:cNvCxnSpPr/>
          <p:nvPr/>
        </p:nvCxnSpPr>
        <p:spPr>
          <a:xfrm>
            <a:off x="640080" y="5138928"/>
            <a:ext cx="2871216" cy="0"/>
          </a:xfrm>
          <a:prstGeom prst="line">
            <a:avLst/>
          </a:prstGeom>
          <a:ln w="9525">
            <a:solidFill>
              <a:srgbClr val="5B6456"/>
            </a:solidFill>
          </a:ln>
        </p:spPr>
      </p:cxnSp>
      <p:cxnSp>
        <p:nvCxnSpPr>
          <p:cNvPr id="46" name="Connector 45"/>
          <p:cNvCxnSpPr/>
          <p:nvPr/>
        </p:nvCxnSpPr>
        <p:spPr>
          <a:xfrm>
            <a:off x="640080" y="5065776"/>
            <a:ext cx="0" cy="73152"/>
          </a:xfrm>
          <a:prstGeom prst="line">
            <a:avLst/>
          </a:prstGeom>
          <a:ln w="9525">
            <a:solidFill>
              <a:srgbClr val="5B6456"/>
            </a:solidFill>
          </a:ln>
        </p:spPr>
      </p:cxnSp>
      <p:cxnSp>
        <p:nvCxnSpPr>
          <p:cNvPr id="47" name="Connector 46"/>
          <p:cNvCxnSpPr/>
          <p:nvPr/>
        </p:nvCxnSpPr>
        <p:spPr>
          <a:xfrm>
            <a:off x="3511296" y="5065776"/>
            <a:ext cx="0" cy="73152"/>
          </a:xfrm>
          <a:prstGeom prst="line">
            <a:avLst/>
          </a:prstGeom>
          <a:ln w="9525">
            <a:solidFill>
              <a:srgbClr val="5B6456"/>
            </a:solidFill>
          </a:ln>
        </p:spPr>
      </p:cxnSp>
      <p:sp>
        <p:nvSpPr>
          <p:cNvPr id="48" name="TextBox 47"/>
          <p:cNvSpPr txBox="1"/>
          <p:nvPr/>
        </p:nvSpPr>
        <p:spPr>
          <a:xfrm>
            <a:off x="457199" y="5193792"/>
            <a:ext cx="3236975" cy="457200"/>
          </a:xfrm>
          <a:prstGeom prst="rect">
            <a:avLst/>
          </a:prstGeom>
          <a:noFill/>
        </p:spPr>
        <p:txBody>
          <a:bodyPr wrap="square" lIns="0" rIns="0" tIns="0" bIns="0" anchor="t">
            <a:noAutofit/>
          </a:bodyPr>
          <a:lstStyle/>
          <a:p>
            <a:pPr algn="ctr">
              <a:lnSpc>
                <a:spcPct val="110000"/>
              </a:lnSpc>
            </a:pPr>
            <a:r>
              <a:rPr sz="1200" b="0" i="0">
                <a:solidFill>
                  <a:srgbClr val="0C1408"/>
                </a:solidFill>
                <a:latin typeface="Arial"/>
              </a:rPr>
              <a:t>credit score 650 and above</a:t>
            </a:r>
          </a:p>
        </p:txBody>
      </p:sp>
      <p:cxnSp>
        <p:nvCxnSpPr>
          <p:cNvPr id="49" name="Connector 48"/>
          <p:cNvCxnSpPr/>
          <p:nvPr/>
        </p:nvCxnSpPr>
        <p:spPr>
          <a:xfrm>
            <a:off x="3657600" y="5138928"/>
            <a:ext cx="1362455" cy="0"/>
          </a:xfrm>
          <a:prstGeom prst="line">
            <a:avLst/>
          </a:prstGeom>
          <a:ln w="9525">
            <a:solidFill>
              <a:srgbClr val="5B6456"/>
            </a:solidFill>
          </a:ln>
        </p:spPr>
      </p:cxnSp>
      <p:cxnSp>
        <p:nvCxnSpPr>
          <p:cNvPr id="50" name="Connector 49"/>
          <p:cNvCxnSpPr/>
          <p:nvPr/>
        </p:nvCxnSpPr>
        <p:spPr>
          <a:xfrm>
            <a:off x="3657600" y="5065776"/>
            <a:ext cx="0" cy="73152"/>
          </a:xfrm>
          <a:prstGeom prst="line">
            <a:avLst/>
          </a:prstGeom>
          <a:ln w="9525">
            <a:solidFill>
              <a:srgbClr val="5B6456"/>
            </a:solidFill>
          </a:ln>
        </p:spPr>
      </p:cxnSp>
      <p:cxnSp>
        <p:nvCxnSpPr>
          <p:cNvPr id="51" name="Connector 50"/>
          <p:cNvCxnSpPr/>
          <p:nvPr/>
        </p:nvCxnSpPr>
        <p:spPr>
          <a:xfrm>
            <a:off x="5020055" y="5065776"/>
            <a:ext cx="0" cy="73152"/>
          </a:xfrm>
          <a:prstGeom prst="line">
            <a:avLst/>
          </a:prstGeom>
          <a:ln w="9525">
            <a:solidFill>
              <a:srgbClr val="5B6456"/>
            </a:solidFill>
          </a:ln>
        </p:spPr>
      </p:cxnSp>
      <p:sp>
        <p:nvSpPr>
          <p:cNvPr id="52" name="TextBox 51"/>
          <p:cNvSpPr txBox="1"/>
          <p:nvPr/>
        </p:nvSpPr>
        <p:spPr>
          <a:xfrm>
            <a:off x="3474720" y="5193792"/>
            <a:ext cx="1728215" cy="457200"/>
          </a:xfrm>
          <a:prstGeom prst="rect">
            <a:avLst/>
          </a:prstGeom>
          <a:noFill/>
        </p:spPr>
        <p:txBody>
          <a:bodyPr wrap="square" lIns="0" rIns="0" tIns="0" bIns="0" anchor="t">
            <a:noAutofit/>
          </a:bodyPr>
          <a:lstStyle/>
          <a:p>
            <a:pPr algn="ctr">
              <a:lnSpc>
                <a:spcPct val="110000"/>
              </a:lnSpc>
            </a:pPr>
            <a:r>
              <a:rPr sz="1200" b="0" i="0">
                <a:solidFill>
                  <a:srgbClr val="0C1408"/>
                </a:solidFill>
                <a:latin typeface="Arial"/>
              </a:rPr>
              <a:t>550 and above</a:t>
            </a:r>
          </a:p>
        </p:txBody>
      </p:sp>
      <p:cxnSp>
        <p:nvCxnSpPr>
          <p:cNvPr id="53" name="Connector 52"/>
          <p:cNvCxnSpPr/>
          <p:nvPr/>
        </p:nvCxnSpPr>
        <p:spPr>
          <a:xfrm>
            <a:off x="5166359" y="5138928"/>
            <a:ext cx="1362457" cy="0"/>
          </a:xfrm>
          <a:prstGeom prst="line">
            <a:avLst/>
          </a:prstGeom>
          <a:ln w="9525">
            <a:solidFill>
              <a:srgbClr val="5B6456"/>
            </a:solidFill>
          </a:ln>
        </p:spPr>
      </p:cxnSp>
      <p:cxnSp>
        <p:nvCxnSpPr>
          <p:cNvPr id="54" name="Connector 53"/>
          <p:cNvCxnSpPr/>
          <p:nvPr/>
        </p:nvCxnSpPr>
        <p:spPr>
          <a:xfrm>
            <a:off x="5166359" y="5065776"/>
            <a:ext cx="0" cy="73152"/>
          </a:xfrm>
          <a:prstGeom prst="line">
            <a:avLst/>
          </a:prstGeom>
          <a:ln w="9525">
            <a:solidFill>
              <a:srgbClr val="5B6456"/>
            </a:solidFill>
          </a:ln>
        </p:spPr>
      </p:cxnSp>
      <p:cxnSp>
        <p:nvCxnSpPr>
          <p:cNvPr id="55" name="Connector 54"/>
          <p:cNvCxnSpPr/>
          <p:nvPr/>
        </p:nvCxnSpPr>
        <p:spPr>
          <a:xfrm>
            <a:off x="6528816" y="5065776"/>
            <a:ext cx="0" cy="73152"/>
          </a:xfrm>
          <a:prstGeom prst="line">
            <a:avLst/>
          </a:prstGeom>
          <a:ln w="9525">
            <a:solidFill>
              <a:srgbClr val="5B6456"/>
            </a:solidFill>
          </a:ln>
        </p:spPr>
      </p:cxnSp>
      <p:sp>
        <p:nvSpPr>
          <p:cNvPr id="56" name="TextBox 55"/>
          <p:cNvSpPr txBox="1"/>
          <p:nvPr/>
        </p:nvSpPr>
        <p:spPr>
          <a:xfrm>
            <a:off x="4983479" y="5193792"/>
            <a:ext cx="1728216" cy="457200"/>
          </a:xfrm>
          <a:prstGeom prst="rect">
            <a:avLst/>
          </a:prstGeom>
          <a:noFill/>
        </p:spPr>
        <p:txBody>
          <a:bodyPr wrap="square" lIns="0" rIns="0" tIns="0" bIns="0" anchor="t">
            <a:noAutofit/>
          </a:bodyPr>
          <a:lstStyle/>
          <a:p>
            <a:pPr algn="ctr">
              <a:lnSpc>
                <a:spcPct val="110000"/>
              </a:lnSpc>
            </a:pPr>
            <a:r>
              <a:rPr sz="1200" b="0" i="0">
                <a:solidFill>
                  <a:srgbClr val="0C1408"/>
                </a:solidFill>
                <a:latin typeface="Arial"/>
              </a:rPr>
              <a:t>any score; every new member</a:t>
            </a:r>
          </a:p>
        </p:txBody>
      </p:sp>
      <p:cxnSp>
        <p:nvCxnSpPr>
          <p:cNvPr id="57" name="Connector 56"/>
          <p:cNvCxnSpPr/>
          <p:nvPr/>
        </p:nvCxnSpPr>
        <p:spPr>
          <a:xfrm>
            <a:off x="7178040" y="1810512"/>
            <a:ext cx="4434840" cy="0"/>
          </a:xfrm>
          <a:prstGeom prst="line">
            <a:avLst/>
          </a:prstGeom>
          <a:ln w="9525">
            <a:solidFill>
              <a:srgbClr val="D5DCD1"/>
            </a:solidFill>
          </a:ln>
        </p:spPr>
      </p:cxnSp>
      <p:sp>
        <p:nvSpPr>
          <p:cNvPr id="58" name="TextBox 57"/>
          <p:cNvSpPr txBox="1"/>
          <p:nvPr/>
        </p:nvSpPr>
        <p:spPr>
          <a:xfrm>
            <a:off x="7178040" y="1938528"/>
            <a:ext cx="4434840" cy="822960"/>
          </a:xfrm>
          <a:prstGeom prst="rect">
            <a:avLst/>
          </a:prstGeom>
          <a:noFill/>
        </p:spPr>
        <p:txBody>
          <a:bodyPr wrap="square" lIns="0" rIns="0" tIns="0" bIns="0" anchor="t">
            <a:noAutofit/>
          </a:bodyPr>
          <a:lstStyle/>
          <a:p>
            <a:pPr algn="l">
              <a:lnSpc>
                <a:spcPct val="105000"/>
              </a:lnSpc>
            </a:pPr>
            <a:r>
              <a:rPr sz="1400" b="1" i="0">
                <a:solidFill>
                  <a:srgbClr val="0C1408"/>
                </a:solidFill>
                <a:latin typeface="Arial"/>
              </a:rPr>
              <a:t>Turn bands.</a:t>
            </a:r>
            <a:r>
              <a:rPr sz="1400" b="0" i="0">
                <a:solidFill>
                  <a:srgbClr val="0C1408"/>
                </a:solidFill>
                <a:latin typeface="Arial"/>
              </a:rPr>
              <a:t> The credit score decides which turns a member may claim.</a:t>
            </a:r>
          </a:p>
        </p:txBody>
      </p:sp>
      <p:cxnSp>
        <p:nvCxnSpPr>
          <p:cNvPr id="59" name="Connector 58"/>
          <p:cNvCxnSpPr/>
          <p:nvPr/>
        </p:nvCxnSpPr>
        <p:spPr>
          <a:xfrm>
            <a:off x="7178040" y="2798064"/>
            <a:ext cx="4434840" cy="0"/>
          </a:xfrm>
          <a:prstGeom prst="line">
            <a:avLst/>
          </a:prstGeom>
          <a:ln w="9525">
            <a:solidFill>
              <a:srgbClr val="D5DCD1"/>
            </a:solidFill>
          </a:ln>
        </p:spPr>
      </p:cxnSp>
      <p:sp>
        <p:nvSpPr>
          <p:cNvPr id="60" name="TextBox 59"/>
          <p:cNvSpPr txBox="1"/>
          <p:nvPr/>
        </p:nvSpPr>
        <p:spPr>
          <a:xfrm>
            <a:off x="7178040" y="2926080"/>
            <a:ext cx="4434840" cy="822960"/>
          </a:xfrm>
          <a:prstGeom prst="rect">
            <a:avLst/>
          </a:prstGeom>
          <a:noFill/>
        </p:spPr>
        <p:txBody>
          <a:bodyPr wrap="square" lIns="0" rIns="0" tIns="0" bIns="0" anchor="t">
            <a:noAutofit/>
          </a:bodyPr>
          <a:lstStyle/>
          <a:p>
            <a:pPr algn="l">
              <a:lnSpc>
                <a:spcPct val="105000"/>
              </a:lnSpc>
            </a:pPr>
            <a:r>
              <a:rPr sz="1400" b="1" i="0">
                <a:solidFill>
                  <a:srgbClr val="0C1408"/>
                </a:solidFill>
                <a:latin typeface="Arial"/>
              </a:rPr>
              <a:t>New members.</a:t>
            </a:r>
            <a:r>
              <a:rPr sz="1400" b="0" i="0">
                <a:solidFill>
                  <a:srgbClr val="0C1408"/>
                </a:solidFill>
                <a:latin typeface="Arial"/>
              </a:rPr>
              <a:t> The last three turns only, until two clean circles.</a:t>
            </a:r>
          </a:p>
        </p:txBody>
      </p:sp>
      <p:cxnSp>
        <p:nvCxnSpPr>
          <p:cNvPr id="61" name="Connector 60"/>
          <p:cNvCxnSpPr/>
          <p:nvPr/>
        </p:nvCxnSpPr>
        <p:spPr>
          <a:xfrm>
            <a:off x="7178040" y="3785616"/>
            <a:ext cx="4434840" cy="0"/>
          </a:xfrm>
          <a:prstGeom prst="line">
            <a:avLst/>
          </a:prstGeom>
          <a:ln w="9525">
            <a:solidFill>
              <a:srgbClr val="D5DCD1"/>
            </a:solidFill>
          </a:ln>
        </p:spPr>
      </p:cxnSp>
      <p:sp>
        <p:nvSpPr>
          <p:cNvPr id="62" name="TextBox 61"/>
          <p:cNvSpPr txBox="1"/>
          <p:nvPr/>
        </p:nvSpPr>
        <p:spPr>
          <a:xfrm>
            <a:off x="7178040" y="3913632"/>
            <a:ext cx="4434840" cy="822960"/>
          </a:xfrm>
          <a:prstGeom prst="rect">
            <a:avLst/>
          </a:prstGeom>
          <a:noFill/>
        </p:spPr>
        <p:txBody>
          <a:bodyPr wrap="square" lIns="0" rIns="0" tIns="0" bIns="0" anchor="t">
            <a:noAutofit/>
          </a:bodyPr>
          <a:lstStyle/>
          <a:p>
            <a:pPr algn="l">
              <a:lnSpc>
                <a:spcPct val="105000"/>
              </a:lnSpc>
            </a:pPr>
            <a:r>
              <a:rPr sz="1400" b="1" i="0">
                <a:solidFill>
                  <a:srgbClr val="0C1408"/>
                </a:solidFill>
                <a:latin typeface="Arial"/>
              </a:rPr>
              <a:t>Affordability.</a:t>
            </a:r>
            <a:r>
              <a:rPr sz="1400" b="0" i="0">
                <a:solidFill>
                  <a:srgbClr val="0C1408"/>
                </a:solidFill>
                <a:latin typeface="Arial"/>
              </a:rPr>
              <a:t> All instalments within a third of verified income; 40% with other loans.</a:t>
            </a:r>
          </a:p>
        </p:txBody>
      </p:sp>
      <p:cxnSp>
        <p:nvCxnSpPr>
          <p:cNvPr id="63" name="Connector 62"/>
          <p:cNvCxnSpPr/>
          <p:nvPr/>
        </p:nvCxnSpPr>
        <p:spPr>
          <a:xfrm>
            <a:off x="7178040" y="4773168"/>
            <a:ext cx="4434840" cy="0"/>
          </a:xfrm>
          <a:prstGeom prst="line">
            <a:avLst/>
          </a:prstGeom>
          <a:ln w="9525">
            <a:solidFill>
              <a:srgbClr val="D5DCD1"/>
            </a:solidFill>
          </a:ln>
        </p:spPr>
      </p:cxnSp>
      <p:sp>
        <p:nvSpPr>
          <p:cNvPr id="64" name="TextBox 63"/>
          <p:cNvSpPr txBox="1"/>
          <p:nvPr/>
        </p:nvSpPr>
        <p:spPr>
          <a:xfrm>
            <a:off x="7178040" y="4901184"/>
            <a:ext cx="4434840" cy="822960"/>
          </a:xfrm>
          <a:prstGeom prst="rect">
            <a:avLst/>
          </a:prstGeom>
          <a:noFill/>
        </p:spPr>
        <p:txBody>
          <a:bodyPr wrap="square" lIns="0" rIns="0" tIns="0" bIns="0" anchor="t">
            <a:noAutofit/>
          </a:bodyPr>
          <a:lstStyle/>
          <a:p>
            <a:pPr algn="l">
              <a:lnSpc>
                <a:spcPct val="105000"/>
              </a:lnSpc>
            </a:pPr>
            <a:r>
              <a:rPr sz="1400" b="1" i="0">
                <a:solidFill>
                  <a:srgbClr val="0C1408"/>
                </a:solidFill>
                <a:latin typeface="Arial"/>
              </a:rPr>
              <a:t>Commitments.</a:t>
            </a:r>
            <a:r>
              <a:rPr sz="1400" b="0" i="0">
                <a:solidFill>
                  <a:srgbClr val="0C1408"/>
                </a:solidFill>
                <a:latin typeface="Arial"/>
              </a:rPr>
              <a:t> A signed undertaking and mutual guarantee; 24 hours to withdraw.</a:t>
            </a:r>
          </a:p>
        </p:txBody>
      </p:sp>
      <p:cxnSp>
        <p:nvCxnSpPr>
          <p:cNvPr id="65" name="Connector 64"/>
          <p:cNvCxnSpPr/>
          <p:nvPr/>
        </p:nvCxnSpPr>
        <p:spPr>
          <a:xfrm>
            <a:off x="7178040" y="5760720"/>
            <a:ext cx="4434840" cy="0"/>
          </a:xfrm>
          <a:prstGeom prst="line">
            <a:avLst/>
          </a:prstGeom>
          <a:ln w="9525">
            <a:solidFill>
              <a:srgbClr val="D5DCD1"/>
            </a:solidFill>
          </a:ln>
        </p:spPr>
      </p:cxn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9509760" cy="566928"/>
          </a:xfrm>
          <a:prstGeom prst="rect">
            <a:avLst/>
          </a:prstGeom>
          <a:noFill/>
        </p:spPr>
        <p:txBody>
          <a:bodyPr wrap="square" lIns="0" rIns="0" tIns="0" bIns="0" anchor="t">
            <a:noAutofit/>
          </a:bodyPr>
          <a:lstStyle/>
          <a:p>
            <a:pPr algn="l">
              <a:lnSpc>
                <a:spcPct val="110000"/>
              </a:lnSpc>
            </a:pPr>
            <a:r>
              <a:rPr sz="2800" b="0" i="0">
                <a:solidFill>
                  <a:srgbClr val="41801A"/>
                </a:solidFill>
                <a:latin typeface="Georgia"/>
              </a:rPr>
              <a:t>Missed Payments and Recovery</a:t>
            </a:r>
          </a:p>
        </p:txBody>
      </p:sp>
      <p:sp>
        <p:nvSpPr>
          <p:cNvPr id="3" name="TextBox 2"/>
          <p:cNvSpPr txBox="1"/>
          <p:nvPr/>
        </p:nvSpPr>
        <p:spPr>
          <a:xfrm>
            <a:off x="566928" y="987552"/>
            <a:ext cx="11057839" cy="411480"/>
          </a:xfrm>
          <a:prstGeom prst="rect">
            <a:avLst/>
          </a:prstGeom>
          <a:noFill/>
        </p:spPr>
        <p:txBody>
          <a:bodyPr wrap="square" lIns="0" rIns="0" tIns="0" bIns="0" anchor="t">
            <a:noAutofit/>
          </a:bodyPr>
          <a:lstStyle/>
          <a:p>
            <a:pPr algn="l">
              <a:lnSpc>
                <a:spcPct val="110000"/>
              </a:lnSpc>
            </a:pPr>
            <a:r>
              <a:rPr sz="1800" b="0" i="0">
                <a:solidFill>
                  <a:srgbClr val="0C1408"/>
                </a:solidFill>
                <a:latin typeface="Arial"/>
              </a:rPr>
              <a:t>Every missed payment has a set response, written into the member's signed undertaking.</a:t>
            </a:r>
          </a:p>
        </p:txBody>
      </p:sp>
      <p:pic>
        <p:nvPicPr>
          <p:cNvPr id="4" name="Picture 3" descr="halqa_logo.png"/>
          <p:cNvPicPr>
            <a:picLocks noChangeAspect="1"/>
          </p:cNvPicPr>
          <p:nvPr/>
        </p:nvPicPr>
        <p:blipFill>
          <a:blip r:embed="rId3"/>
          <a:stretch>
            <a:fillRect/>
          </a:stretch>
        </p:blipFill>
        <p:spPr>
          <a:xfrm>
            <a:off x="10600639" y="457200"/>
            <a:ext cx="1023202" cy="310896"/>
          </a:xfrm>
          <a:prstGeom prst="rect">
            <a:avLst/>
          </a:prstGeom>
        </p:spPr>
      </p:pic>
      <p:sp>
        <p:nvSpPr>
          <p:cNvPr id="5" name="TextBox 4"/>
          <p:cNvSpPr txBox="1"/>
          <p:nvPr/>
        </p:nvSpPr>
        <p:spPr>
          <a:xfrm>
            <a:off x="566928" y="6309360"/>
            <a:ext cx="10149840" cy="365760"/>
          </a:xfrm>
          <a:prstGeom prst="rect">
            <a:avLst/>
          </a:prstGeom>
          <a:noFill/>
        </p:spPr>
        <p:txBody>
          <a:bodyPr wrap="square" lIns="0" rIns="0" tIns="0" bIns="0" anchor="t">
            <a:noAutofit/>
          </a:bodyPr>
          <a:lstStyle/>
          <a:p>
            <a:pPr algn="l">
              <a:lnSpc>
                <a:spcPct val="100000"/>
              </a:lnSpc>
            </a:pPr>
            <a:r>
              <a:rPr sz="900" b="0" i="0">
                <a:solidFill>
                  <a:srgbClr val="5B6456"/>
                </a:solidFill>
                <a:latin typeface="Arial"/>
              </a:rPr>
              <a:t>Contract Act 1872, s.74: a penalty may not exceed reasonable compensation. Code of Civil Procedure, Order XXXVII: summary suits only on cheques and similar instruments.</a:t>
            </a:r>
          </a:p>
        </p:txBody>
      </p:sp>
      <p:sp>
        <p:nvSpPr>
          <p:cNvPr id="6" name="TextBox 5"/>
          <p:cNvSpPr txBox="1"/>
          <p:nvPr/>
        </p:nvSpPr>
        <p:spPr>
          <a:xfrm>
            <a:off x="11076127" y="6355080"/>
            <a:ext cx="548640" cy="228600"/>
          </a:xfrm>
          <a:prstGeom prst="rect">
            <a:avLst/>
          </a:prstGeom>
          <a:noFill/>
        </p:spPr>
        <p:txBody>
          <a:bodyPr wrap="square" lIns="0" rIns="0" tIns="0" bIns="0" anchor="t">
            <a:noAutofit/>
          </a:bodyPr>
          <a:lstStyle/>
          <a:p>
            <a:pPr algn="r">
              <a:lnSpc>
                <a:spcPct val="110000"/>
              </a:lnSpc>
            </a:pPr>
            <a:r>
              <a:rPr sz="1000" b="0" i="0">
                <a:solidFill>
                  <a:srgbClr val="5B6456"/>
                </a:solidFill>
                <a:latin typeface="Arial"/>
              </a:rPr>
              <a:t>13</a:t>
            </a:r>
          </a:p>
        </p:txBody>
      </p:sp>
      <p:sp>
        <p:nvSpPr>
          <p:cNvPr id="7" name="TextBox 6"/>
          <p:cNvSpPr txBox="1"/>
          <p:nvPr/>
        </p:nvSpPr>
        <p:spPr>
          <a:xfrm>
            <a:off x="566928" y="1783080"/>
            <a:ext cx="3200400" cy="274320"/>
          </a:xfrm>
          <a:prstGeom prst="rect">
            <a:avLst/>
          </a:prstGeom>
          <a:noFill/>
        </p:spPr>
        <p:txBody>
          <a:bodyPr wrap="square" lIns="0" rIns="0" tIns="0" bIns="0" anchor="t">
            <a:noAutofit/>
          </a:bodyPr>
          <a:lstStyle/>
          <a:p>
            <a:pPr algn="l">
              <a:lnSpc>
                <a:spcPct val="110000"/>
              </a:lnSpc>
            </a:pPr>
            <a:r>
              <a:rPr sz="1400" b="1" i="0">
                <a:solidFill>
                  <a:srgbClr val="41801A"/>
                </a:solidFill>
                <a:latin typeface="Arial"/>
              </a:rPr>
              <a:t>Any missed payment</a:t>
            </a:r>
          </a:p>
        </p:txBody>
      </p:sp>
      <p:cxnSp>
        <p:nvCxnSpPr>
          <p:cNvPr id="8" name="Connector 7"/>
          <p:cNvCxnSpPr/>
          <p:nvPr/>
        </p:nvCxnSpPr>
        <p:spPr>
          <a:xfrm>
            <a:off x="1389888" y="2395728"/>
            <a:ext cx="9509760" cy="0"/>
          </a:xfrm>
          <a:prstGeom prst="line">
            <a:avLst/>
          </a:prstGeom>
          <a:ln w="28575">
            <a:solidFill>
              <a:srgbClr val="41801A"/>
            </a:solidFill>
          </a:ln>
        </p:spPr>
      </p:cxnSp>
      <p:sp>
        <p:nvSpPr>
          <p:cNvPr id="9" name="Oval 8"/>
          <p:cNvSpPr/>
          <p:nvPr/>
        </p:nvSpPr>
        <p:spPr>
          <a:xfrm>
            <a:off x="1298448" y="2304288"/>
            <a:ext cx="182880" cy="182880"/>
          </a:xfrm>
          <a:prstGeom prst="ellipse">
            <a:avLst/>
          </a:prstGeom>
          <a:solidFill>
            <a:srgbClr val="FFFFFF"/>
          </a:solidFill>
          <a:ln w="22225">
            <a:solidFill>
              <a:srgbClr val="41801A"/>
            </a:solidFill>
          </a:ln>
        </p:spPr>
        <p:txBody>
          <a:bodyPr rtlCol="0" anchor="ctr" lIns="0" rIns="0"/>
          <a:lstStyle/>
          <a:p>
            <a:pPr algn="ctr"/>
          </a:p>
        </p:txBody>
      </p:sp>
      <p:sp>
        <p:nvSpPr>
          <p:cNvPr id="10" name="TextBox 9"/>
          <p:cNvSpPr txBox="1"/>
          <p:nvPr/>
        </p:nvSpPr>
        <p:spPr>
          <a:xfrm>
            <a:off x="486460" y="2578608"/>
            <a:ext cx="1806854" cy="274320"/>
          </a:xfrm>
          <a:prstGeom prst="rect">
            <a:avLst/>
          </a:prstGeom>
          <a:noFill/>
        </p:spPr>
        <p:txBody>
          <a:bodyPr wrap="square" lIns="0" rIns="0" tIns="0" bIns="0" anchor="t">
            <a:noAutofit/>
          </a:bodyPr>
          <a:lstStyle/>
          <a:p>
            <a:pPr algn="ctr">
              <a:lnSpc>
                <a:spcPct val="110000"/>
              </a:lnSpc>
            </a:pPr>
            <a:r>
              <a:rPr sz="1300" b="1" i="0">
                <a:solidFill>
                  <a:srgbClr val="0C1408"/>
                </a:solidFill>
                <a:latin typeface="Arial"/>
              </a:rPr>
              <a:t>Reminder</a:t>
            </a:r>
          </a:p>
        </p:txBody>
      </p:sp>
      <p:sp>
        <p:nvSpPr>
          <p:cNvPr id="11" name="TextBox 10"/>
          <p:cNvSpPr txBox="1"/>
          <p:nvPr/>
        </p:nvSpPr>
        <p:spPr>
          <a:xfrm>
            <a:off x="486460" y="2852928"/>
            <a:ext cx="1806854" cy="822960"/>
          </a:xfrm>
          <a:prstGeom prst="rect">
            <a:avLst/>
          </a:prstGeom>
          <a:noFill/>
        </p:spPr>
        <p:txBody>
          <a:bodyPr wrap="square" lIns="0" rIns="0" tIns="0" bIns="0" anchor="t">
            <a:noAutofit/>
          </a:bodyPr>
          <a:lstStyle/>
          <a:p>
            <a:pPr algn="ctr">
              <a:lnSpc>
                <a:spcPct val="100000"/>
              </a:lnSpc>
            </a:pPr>
            <a:r>
              <a:rPr sz="1100" b="0" i="0">
                <a:solidFill>
                  <a:srgbClr val="5B6456"/>
                </a:solidFill>
                <a:latin typeface="Arial"/>
              </a:rPr>
              <a:t>the evening before</a:t>
            </a:r>
          </a:p>
        </p:txBody>
      </p:sp>
      <p:sp>
        <p:nvSpPr>
          <p:cNvPr id="12" name="Oval 11"/>
          <p:cNvSpPr/>
          <p:nvPr/>
        </p:nvSpPr>
        <p:spPr>
          <a:xfrm>
            <a:off x="3200400" y="2304288"/>
            <a:ext cx="182880" cy="182880"/>
          </a:xfrm>
          <a:prstGeom prst="ellipse">
            <a:avLst/>
          </a:prstGeom>
          <a:solidFill>
            <a:srgbClr val="FFFFFF"/>
          </a:solidFill>
          <a:ln w="22225">
            <a:solidFill>
              <a:srgbClr val="41801A"/>
            </a:solidFill>
          </a:ln>
        </p:spPr>
        <p:txBody>
          <a:bodyPr rtlCol="0" anchor="ctr" lIns="0" rIns="0"/>
          <a:lstStyle/>
          <a:p>
            <a:pPr algn="ctr"/>
          </a:p>
        </p:txBody>
      </p:sp>
      <p:sp>
        <p:nvSpPr>
          <p:cNvPr id="13" name="TextBox 12"/>
          <p:cNvSpPr txBox="1"/>
          <p:nvPr/>
        </p:nvSpPr>
        <p:spPr>
          <a:xfrm>
            <a:off x="2388412" y="2578608"/>
            <a:ext cx="1806854" cy="274320"/>
          </a:xfrm>
          <a:prstGeom prst="rect">
            <a:avLst/>
          </a:prstGeom>
          <a:noFill/>
        </p:spPr>
        <p:txBody>
          <a:bodyPr wrap="square" lIns="0" rIns="0" tIns="0" bIns="0" anchor="t">
            <a:noAutofit/>
          </a:bodyPr>
          <a:lstStyle/>
          <a:p>
            <a:pPr algn="ctr">
              <a:lnSpc>
                <a:spcPct val="110000"/>
              </a:lnSpc>
            </a:pPr>
            <a:r>
              <a:rPr sz="1300" b="1" i="0">
                <a:solidFill>
                  <a:srgbClr val="0C1408"/>
                </a:solidFill>
                <a:latin typeface="Arial"/>
              </a:rPr>
              <a:t>Retries</a:t>
            </a:r>
          </a:p>
        </p:txBody>
      </p:sp>
      <p:sp>
        <p:nvSpPr>
          <p:cNvPr id="14" name="TextBox 13"/>
          <p:cNvSpPr txBox="1"/>
          <p:nvPr/>
        </p:nvSpPr>
        <p:spPr>
          <a:xfrm>
            <a:off x="2388412" y="2852928"/>
            <a:ext cx="1806854" cy="822960"/>
          </a:xfrm>
          <a:prstGeom prst="rect">
            <a:avLst/>
          </a:prstGeom>
          <a:noFill/>
        </p:spPr>
        <p:txBody>
          <a:bodyPr wrap="square" lIns="0" rIns="0" tIns="0" bIns="0" anchor="t">
            <a:noAutofit/>
          </a:bodyPr>
          <a:lstStyle/>
          <a:p>
            <a:pPr algn="ctr">
              <a:lnSpc>
                <a:spcPct val="100000"/>
              </a:lnSpc>
            </a:pPr>
            <a:r>
              <a:rPr sz="1100" b="0" i="0">
                <a:solidFill>
                  <a:srgbClr val="5B6456"/>
                </a:solidFill>
                <a:latin typeface="Arial"/>
              </a:rPr>
              <a:t>five mornings at most</a:t>
            </a:r>
          </a:p>
        </p:txBody>
      </p:sp>
      <p:sp>
        <p:nvSpPr>
          <p:cNvPr id="15" name="Oval 14"/>
          <p:cNvSpPr/>
          <p:nvPr/>
        </p:nvSpPr>
        <p:spPr>
          <a:xfrm>
            <a:off x="5102352" y="2304288"/>
            <a:ext cx="182880" cy="182880"/>
          </a:xfrm>
          <a:prstGeom prst="ellipse">
            <a:avLst/>
          </a:prstGeom>
          <a:solidFill>
            <a:srgbClr val="FFFFFF"/>
          </a:solidFill>
          <a:ln w="22225">
            <a:solidFill>
              <a:srgbClr val="41801A"/>
            </a:solidFill>
          </a:ln>
        </p:spPr>
        <p:txBody>
          <a:bodyPr rtlCol="0" anchor="ctr" lIns="0" rIns="0"/>
          <a:lstStyle/>
          <a:p>
            <a:pPr algn="ctr"/>
          </a:p>
        </p:txBody>
      </p:sp>
      <p:sp>
        <p:nvSpPr>
          <p:cNvPr id="16" name="TextBox 15"/>
          <p:cNvSpPr txBox="1"/>
          <p:nvPr/>
        </p:nvSpPr>
        <p:spPr>
          <a:xfrm>
            <a:off x="4290364" y="2578608"/>
            <a:ext cx="1806854" cy="274320"/>
          </a:xfrm>
          <a:prstGeom prst="rect">
            <a:avLst/>
          </a:prstGeom>
          <a:noFill/>
        </p:spPr>
        <p:txBody>
          <a:bodyPr wrap="square" lIns="0" rIns="0" tIns="0" bIns="0" anchor="t">
            <a:noAutofit/>
          </a:bodyPr>
          <a:lstStyle/>
          <a:p>
            <a:pPr algn="ctr">
              <a:lnSpc>
                <a:spcPct val="110000"/>
              </a:lnSpc>
            </a:pPr>
            <a:r>
              <a:rPr sz="1300" b="1" i="0">
                <a:solidFill>
                  <a:srgbClr val="0C1408"/>
                </a:solidFill>
                <a:latin typeface="Arial"/>
              </a:rPr>
              <a:t>2% late fee</a:t>
            </a:r>
          </a:p>
        </p:txBody>
      </p:sp>
      <p:sp>
        <p:nvSpPr>
          <p:cNvPr id="17" name="TextBox 16"/>
          <p:cNvSpPr txBox="1"/>
          <p:nvPr/>
        </p:nvSpPr>
        <p:spPr>
          <a:xfrm>
            <a:off x="4290364" y="2852928"/>
            <a:ext cx="1806854" cy="822960"/>
          </a:xfrm>
          <a:prstGeom prst="rect">
            <a:avLst/>
          </a:prstGeom>
          <a:noFill/>
        </p:spPr>
        <p:txBody>
          <a:bodyPr wrap="square" lIns="0" rIns="0" tIns="0" bIns="0" anchor="t">
            <a:noAutofit/>
          </a:bodyPr>
          <a:lstStyle/>
          <a:p>
            <a:pPr algn="ctr">
              <a:lnSpc>
                <a:spcPct val="100000"/>
              </a:lnSpc>
            </a:pPr>
            <a:r>
              <a:rPr sz="1100" b="0" i="0">
                <a:solidFill>
                  <a:srgbClr val="5B6456"/>
                </a:solidFill>
                <a:latin typeface="Arial"/>
              </a:rPr>
              <a:t>score falls 10</a:t>
            </a:r>
          </a:p>
        </p:txBody>
      </p:sp>
      <p:sp>
        <p:nvSpPr>
          <p:cNvPr id="18" name="Oval 17"/>
          <p:cNvSpPr/>
          <p:nvPr/>
        </p:nvSpPr>
        <p:spPr>
          <a:xfrm>
            <a:off x="7004304" y="2304288"/>
            <a:ext cx="182880" cy="182880"/>
          </a:xfrm>
          <a:prstGeom prst="ellipse">
            <a:avLst/>
          </a:prstGeom>
          <a:solidFill>
            <a:srgbClr val="FFFFFF"/>
          </a:solidFill>
          <a:ln w="22225">
            <a:solidFill>
              <a:srgbClr val="41801A"/>
            </a:solidFill>
          </a:ln>
        </p:spPr>
        <p:txBody>
          <a:bodyPr rtlCol="0" anchor="ctr" lIns="0" rIns="0"/>
          <a:lstStyle/>
          <a:p>
            <a:pPr algn="ctr"/>
          </a:p>
        </p:txBody>
      </p:sp>
      <p:sp>
        <p:nvSpPr>
          <p:cNvPr id="19" name="TextBox 18"/>
          <p:cNvSpPr txBox="1"/>
          <p:nvPr/>
        </p:nvSpPr>
        <p:spPr>
          <a:xfrm>
            <a:off x="6192316" y="2578608"/>
            <a:ext cx="1806854" cy="274320"/>
          </a:xfrm>
          <a:prstGeom prst="rect">
            <a:avLst/>
          </a:prstGeom>
          <a:noFill/>
        </p:spPr>
        <p:txBody>
          <a:bodyPr wrap="square" lIns="0" rIns="0" tIns="0" bIns="0" anchor="t">
            <a:noAutofit/>
          </a:bodyPr>
          <a:lstStyle/>
          <a:p>
            <a:pPr algn="ctr">
              <a:lnSpc>
                <a:spcPct val="110000"/>
              </a:lnSpc>
            </a:pPr>
            <a:r>
              <a:rPr sz="1300" b="1" i="0">
                <a:solidFill>
                  <a:srgbClr val="0C1408"/>
                </a:solidFill>
                <a:latin typeface="Arial"/>
              </a:rPr>
              <a:t>5% late fee</a:t>
            </a:r>
          </a:p>
        </p:txBody>
      </p:sp>
      <p:sp>
        <p:nvSpPr>
          <p:cNvPr id="20" name="TextBox 19"/>
          <p:cNvSpPr txBox="1"/>
          <p:nvPr/>
        </p:nvSpPr>
        <p:spPr>
          <a:xfrm>
            <a:off x="6192316" y="2852928"/>
            <a:ext cx="1806854" cy="822960"/>
          </a:xfrm>
          <a:prstGeom prst="rect">
            <a:avLst/>
          </a:prstGeom>
          <a:noFill/>
        </p:spPr>
        <p:txBody>
          <a:bodyPr wrap="square" lIns="0" rIns="0" tIns="0" bIns="0" anchor="t">
            <a:noAutofit/>
          </a:bodyPr>
          <a:lstStyle/>
          <a:p>
            <a:pPr algn="ctr">
              <a:lnSpc>
                <a:spcPct val="100000"/>
              </a:lnSpc>
            </a:pPr>
            <a:r>
              <a:rPr sz="1100" b="0" i="0">
                <a:solidFill>
                  <a:srgbClr val="5B6456"/>
                </a:solidFill>
                <a:latin typeface="Arial"/>
              </a:rPr>
              <a:t>score falls 20</a:t>
            </a:r>
          </a:p>
        </p:txBody>
      </p:sp>
      <p:sp>
        <p:nvSpPr>
          <p:cNvPr id="21" name="Oval 20"/>
          <p:cNvSpPr/>
          <p:nvPr/>
        </p:nvSpPr>
        <p:spPr>
          <a:xfrm>
            <a:off x="8906256" y="2304288"/>
            <a:ext cx="182880" cy="182880"/>
          </a:xfrm>
          <a:prstGeom prst="ellipse">
            <a:avLst/>
          </a:prstGeom>
          <a:solidFill>
            <a:srgbClr val="FFFFFF"/>
          </a:solidFill>
          <a:ln w="22225">
            <a:solidFill>
              <a:srgbClr val="41801A"/>
            </a:solidFill>
          </a:ln>
        </p:spPr>
        <p:txBody>
          <a:bodyPr rtlCol="0" anchor="ctr" lIns="0" rIns="0"/>
          <a:lstStyle/>
          <a:p>
            <a:pPr algn="ctr"/>
          </a:p>
        </p:txBody>
      </p:sp>
      <p:sp>
        <p:nvSpPr>
          <p:cNvPr id="22" name="TextBox 21"/>
          <p:cNvSpPr txBox="1"/>
          <p:nvPr/>
        </p:nvSpPr>
        <p:spPr>
          <a:xfrm>
            <a:off x="8094268" y="2578608"/>
            <a:ext cx="1806854" cy="274320"/>
          </a:xfrm>
          <a:prstGeom prst="rect">
            <a:avLst/>
          </a:prstGeom>
          <a:noFill/>
        </p:spPr>
        <p:txBody>
          <a:bodyPr wrap="square" lIns="0" rIns="0" tIns="0" bIns="0" anchor="t">
            <a:noAutofit/>
          </a:bodyPr>
          <a:lstStyle/>
          <a:p>
            <a:pPr algn="ctr">
              <a:lnSpc>
                <a:spcPct val="110000"/>
              </a:lnSpc>
            </a:pPr>
            <a:r>
              <a:rPr sz="1300" b="1" i="0">
                <a:solidFill>
                  <a:srgbClr val="0C1408"/>
                </a:solidFill>
                <a:latin typeface="Arial"/>
              </a:rPr>
              <a:t>10% late fee</a:t>
            </a:r>
          </a:p>
        </p:txBody>
      </p:sp>
      <p:sp>
        <p:nvSpPr>
          <p:cNvPr id="23" name="TextBox 22"/>
          <p:cNvSpPr txBox="1"/>
          <p:nvPr/>
        </p:nvSpPr>
        <p:spPr>
          <a:xfrm>
            <a:off x="8094268" y="2852928"/>
            <a:ext cx="1806854" cy="822960"/>
          </a:xfrm>
          <a:prstGeom prst="rect">
            <a:avLst/>
          </a:prstGeom>
          <a:noFill/>
        </p:spPr>
        <p:txBody>
          <a:bodyPr wrap="square" lIns="0" rIns="0" tIns="0" bIns="0" anchor="t">
            <a:noAutofit/>
          </a:bodyPr>
          <a:lstStyle/>
          <a:p>
            <a:pPr algn="ctr">
              <a:lnSpc>
                <a:spcPct val="100000"/>
              </a:lnSpc>
            </a:pPr>
            <a:r>
              <a:rPr sz="1100" b="0" i="0">
                <a:solidFill>
                  <a:srgbClr val="5B6456"/>
                </a:solidFill>
                <a:latin typeface="Arial"/>
              </a:rPr>
              <a:t>score falls 40</a:t>
            </a:r>
          </a:p>
        </p:txBody>
      </p:sp>
      <p:sp>
        <p:nvSpPr>
          <p:cNvPr id="24" name="Oval 23"/>
          <p:cNvSpPr/>
          <p:nvPr/>
        </p:nvSpPr>
        <p:spPr>
          <a:xfrm>
            <a:off x="10808208" y="2304288"/>
            <a:ext cx="182880" cy="182880"/>
          </a:xfrm>
          <a:prstGeom prst="ellipse">
            <a:avLst/>
          </a:prstGeom>
          <a:solidFill>
            <a:srgbClr val="41801A"/>
          </a:solidFill>
          <a:ln w="22225">
            <a:solidFill>
              <a:srgbClr val="41801A"/>
            </a:solidFill>
          </a:ln>
        </p:spPr>
        <p:txBody>
          <a:bodyPr rtlCol="0" anchor="ctr" lIns="0" rIns="0"/>
          <a:lstStyle/>
          <a:p>
            <a:pPr algn="ctr"/>
          </a:p>
        </p:txBody>
      </p:sp>
      <p:sp>
        <p:nvSpPr>
          <p:cNvPr id="25" name="TextBox 24"/>
          <p:cNvSpPr txBox="1"/>
          <p:nvPr/>
        </p:nvSpPr>
        <p:spPr>
          <a:xfrm>
            <a:off x="9996220" y="2578608"/>
            <a:ext cx="1806854" cy="274320"/>
          </a:xfrm>
          <a:prstGeom prst="rect">
            <a:avLst/>
          </a:prstGeom>
          <a:noFill/>
        </p:spPr>
        <p:txBody>
          <a:bodyPr wrap="square" lIns="0" rIns="0" tIns="0" bIns="0" anchor="t">
            <a:noAutofit/>
          </a:bodyPr>
          <a:lstStyle/>
          <a:p>
            <a:pPr algn="ctr">
              <a:lnSpc>
                <a:spcPct val="110000"/>
              </a:lnSpc>
            </a:pPr>
            <a:r>
              <a:rPr sz="1300" b="1" i="0">
                <a:solidFill>
                  <a:srgbClr val="0C1408"/>
                </a:solidFill>
                <a:latin typeface="Arial"/>
              </a:rPr>
              <a:t>Set off</a:t>
            </a:r>
          </a:p>
        </p:txBody>
      </p:sp>
      <p:sp>
        <p:nvSpPr>
          <p:cNvPr id="26" name="TextBox 25"/>
          <p:cNvSpPr txBox="1"/>
          <p:nvPr/>
        </p:nvSpPr>
        <p:spPr>
          <a:xfrm>
            <a:off x="9996220" y="2852928"/>
            <a:ext cx="1806854" cy="822960"/>
          </a:xfrm>
          <a:prstGeom prst="rect">
            <a:avLst/>
          </a:prstGeom>
          <a:noFill/>
        </p:spPr>
        <p:txBody>
          <a:bodyPr wrap="square" lIns="0" rIns="0" tIns="0" bIns="0" anchor="t">
            <a:noAutofit/>
          </a:bodyPr>
          <a:lstStyle/>
          <a:p>
            <a:pPr algn="ctr">
              <a:lnSpc>
                <a:spcPct val="100000"/>
              </a:lnSpc>
            </a:pPr>
            <a:r>
              <a:rPr sz="1100" b="0" i="0">
                <a:solidFill>
                  <a:srgbClr val="5B6456"/>
                </a:solidFill>
                <a:latin typeface="Arial"/>
              </a:rPr>
              <a:t>from the member's own pot</a:t>
            </a:r>
          </a:p>
        </p:txBody>
      </p:sp>
      <p:sp>
        <p:nvSpPr>
          <p:cNvPr id="27" name="TextBox 26"/>
          <p:cNvSpPr txBox="1"/>
          <p:nvPr/>
        </p:nvSpPr>
        <p:spPr>
          <a:xfrm>
            <a:off x="566928" y="3611880"/>
            <a:ext cx="4572000" cy="274320"/>
          </a:xfrm>
          <a:prstGeom prst="rect">
            <a:avLst/>
          </a:prstGeom>
          <a:noFill/>
        </p:spPr>
        <p:txBody>
          <a:bodyPr wrap="square" lIns="0" rIns="0" tIns="0" bIns="0" anchor="t">
            <a:noAutofit/>
          </a:bodyPr>
          <a:lstStyle/>
          <a:p>
            <a:pPr algn="l">
              <a:lnSpc>
                <a:spcPct val="110000"/>
              </a:lnSpc>
            </a:pPr>
            <a:r>
              <a:rPr sz="1400" b="1" i="0">
                <a:solidFill>
                  <a:srgbClr val="B3261E"/>
                </a:solidFill>
                <a:latin typeface="Arial"/>
              </a:rPr>
              <a:t>A member who collected, then stopped paying</a:t>
            </a:r>
          </a:p>
        </p:txBody>
      </p:sp>
      <p:cxnSp>
        <p:nvCxnSpPr>
          <p:cNvPr id="28" name="Connector 27"/>
          <p:cNvCxnSpPr/>
          <p:nvPr/>
        </p:nvCxnSpPr>
        <p:spPr>
          <a:xfrm>
            <a:off x="1389888" y="4224528"/>
            <a:ext cx="9509760" cy="0"/>
          </a:xfrm>
          <a:prstGeom prst="line">
            <a:avLst/>
          </a:prstGeom>
          <a:ln w="28575">
            <a:solidFill>
              <a:srgbClr val="B3261E"/>
            </a:solidFill>
          </a:ln>
        </p:spPr>
      </p:cxnSp>
      <p:sp>
        <p:nvSpPr>
          <p:cNvPr id="29" name="Oval 28"/>
          <p:cNvSpPr/>
          <p:nvPr/>
        </p:nvSpPr>
        <p:spPr>
          <a:xfrm>
            <a:off x="1298448" y="4133088"/>
            <a:ext cx="182880" cy="182880"/>
          </a:xfrm>
          <a:prstGeom prst="ellipse">
            <a:avLst/>
          </a:prstGeom>
          <a:solidFill>
            <a:srgbClr val="FFFFFF"/>
          </a:solidFill>
          <a:ln w="22225">
            <a:solidFill>
              <a:srgbClr val="B3261E"/>
            </a:solidFill>
          </a:ln>
        </p:spPr>
        <p:txBody>
          <a:bodyPr rtlCol="0" anchor="ctr" lIns="0" rIns="0"/>
          <a:lstStyle/>
          <a:p>
            <a:pPr algn="ctr"/>
          </a:p>
        </p:txBody>
      </p:sp>
      <p:sp>
        <p:nvSpPr>
          <p:cNvPr id="30" name="TextBox 29"/>
          <p:cNvSpPr txBox="1"/>
          <p:nvPr/>
        </p:nvSpPr>
        <p:spPr>
          <a:xfrm>
            <a:off x="429768" y="4407408"/>
            <a:ext cx="1920240" cy="274320"/>
          </a:xfrm>
          <a:prstGeom prst="rect">
            <a:avLst/>
          </a:prstGeom>
          <a:noFill/>
        </p:spPr>
        <p:txBody>
          <a:bodyPr wrap="square" lIns="0" rIns="0" tIns="0" bIns="0" anchor="t">
            <a:noAutofit/>
          </a:bodyPr>
          <a:lstStyle/>
          <a:p>
            <a:pPr algn="ctr">
              <a:lnSpc>
                <a:spcPct val="110000"/>
              </a:lnSpc>
            </a:pPr>
            <a:r>
              <a:rPr sz="1300" b="1" i="0">
                <a:solidFill>
                  <a:srgbClr val="0C1408"/>
                </a:solidFill>
                <a:latin typeface="Arial"/>
              </a:rPr>
              <a:t>Contact</a:t>
            </a:r>
          </a:p>
        </p:txBody>
      </p:sp>
      <p:sp>
        <p:nvSpPr>
          <p:cNvPr id="31" name="TextBox 30"/>
          <p:cNvSpPr txBox="1"/>
          <p:nvPr/>
        </p:nvSpPr>
        <p:spPr>
          <a:xfrm>
            <a:off x="429768" y="4681728"/>
            <a:ext cx="1920240" cy="822960"/>
          </a:xfrm>
          <a:prstGeom prst="rect">
            <a:avLst/>
          </a:prstGeom>
          <a:noFill/>
        </p:spPr>
        <p:txBody>
          <a:bodyPr wrap="square" lIns="0" rIns="0" tIns="0" bIns="0" anchor="t">
            <a:noAutofit/>
          </a:bodyPr>
          <a:lstStyle/>
          <a:p>
            <a:pPr algn="ctr">
              <a:lnSpc>
                <a:spcPct val="100000"/>
              </a:lnSpc>
            </a:pPr>
            <a:r>
              <a:rPr sz="1100" b="0" i="0">
                <a:solidFill>
                  <a:srgbClr val="5B6456"/>
                </a:solidFill>
                <a:latin typeface="Arial"/>
              </a:rPr>
              <a:t>hardship plan and a new date</a:t>
            </a:r>
          </a:p>
        </p:txBody>
      </p:sp>
      <p:sp>
        <p:nvSpPr>
          <p:cNvPr id="32" name="Oval 31"/>
          <p:cNvSpPr/>
          <p:nvPr/>
        </p:nvSpPr>
        <p:spPr>
          <a:xfrm>
            <a:off x="3675888" y="4133088"/>
            <a:ext cx="182880" cy="182880"/>
          </a:xfrm>
          <a:prstGeom prst="ellipse">
            <a:avLst/>
          </a:prstGeom>
          <a:solidFill>
            <a:srgbClr val="FFFFFF"/>
          </a:solidFill>
          <a:ln w="22225">
            <a:solidFill>
              <a:srgbClr val="B3261E"/>
            </a:solidFill>
          </a:ln>
        </p:spPr>
        <p:txBody>
          <a:bodyPr rtlCol="0" anchor="ctr" lIns="0" rIns="0"/>
          <a:lstStyle/>
          <a:p>
            <a:pPr algn="ctr"/>
          </a:p>
        </p:txBody>
      </p:sp>
      <p:sp>
        <p:nvSpPr>
          <p:cNvPr id="33" name="TextBox 32"/>
          <p:cNvSpPr txBox="1"/>
          <p:nvPr/>
        </p:nvSpPr>
        <p:spPr>
          <a:xfrm>
            <a:off x="2807208" y="4407408"/>
            <a:ext cx="1920240" cy="274320"/>
          </a:xfrm>
          <a:prstGeom prst="rect">
            <a:avLst/>
          </a:prstGeom>
          <a:noFill/>
        </p:spPr>
        <p:txBody>
          <a:bodyPr wrap="square" lIns="0" rIns="0" tIns="0" bIns="0" anchor="t">
            <a:noAutofit/>
          </a:bodyPr>
          <a:lstStyle/>
          <a:p>
            <a:pPr algn="ctr">
              <a:lnSpc>
                <a:spcPct val="110000"/>
              </a:lnSpc>
            </a:pPr>
            <a:r>
              <a:rPr sz="1300" b="1" i="0">
                <a:solidFill>
                  <a:srgbClr val="0C1408"/>
                </a:solidFill>
                <a:latin typeface="Arial"/>
              </a:rPr>
              <a:t>Restrict</a:t>
            </a:r>
          </a:p>
        </p:txBody>
      </p:sp>
      <p:sp>
        <p:nvSpPr>
          <p:cNvPr id="34" name="TextBox 33"/>
          <p:cNvSpPr txBox="1"/>
          <p:nvPr/>
        </p:nvSpPr>
        <p:spPr>
          <a:xfrm>
            <a:off x="2807208" y="4681728"/>
            <a:ext cx="1920240" cy="822960"/>
          </a:xfrm>
          <a:prstGeom prst="rect">
            <a:avLst/>
          </a:prstGeom>
          <a:noFill/>
        </p:spPr>
        <p:txBody>
          <a:bodyPr wrap="square" lIns="0" rIns="0" tIns="0" bIns="0" anchor="t">
            <a:noAutofit/>
          </a:bodyPr>
          <a:lstStyle/>
          <a:p>
            <a:pPr algn="ctr">
              <a:lnSpc>
                <a:spcPct val="100000"/>
              </a:lnSpc>
            </a:pPr>
            <a:r>
              <a:rPr sz="1100" b="0" i="0">
                <a:solidFill>
                  <a:srgbClr val="5B6456"/>
                </a:solidFill>
                <a:latin typeface="Arial"/>
              </a:rPr>
              <a:t>account restricted; score falls 200</a:t>
            </a:r>
          </a:p>
        </p:txBody>
      </p:sp>
      <p:sp>
        <p:nvSpPr>
          <p:cNvPr id="35" name="Oval 34"/>
          <p:cNvSpPr/>
          <p:nvPr/>
        </p:nvSpPr>
        <p:spPr>
          <a:xfrm>
            <a:off x="6053328" y="4133088"/>
            <a:ext cx="182880" cy="182880"/>
          </a:xfrm>
          <a:prstGeom prst="ellipse">
            <a:avLst/>
          </a:prstGeom>
          <a:solidFill>
            <a:srgbClr val="41801A"/>
          </a:solidFill>
          <a:ln w="22225">
            <a:solidFill>
              <a:srgbClr val="41801A"/>
            </a:solidFill>
          </a:ln>
        </p:spPr>
        <p:txBody>
          <a:bodyPr rtlCol="0" anchor="ctr" lIns="0" rIns="0"/>
          <a:lstStyle/>
          <a:p>
            <a:pPr algn="ctr"/>
          </a:p>
        </p:txBody>
      </p:sp>
      <p:sp>
        <p:nvSpPr>
          <p:cNvPr id="36" name="TextBox 35"/>
          <p:cNvSpPr txBox="1"/>
          <p:nvPr/>
        </p:nvSpPr>
        <p:spPr>
          <a:xfrm>
            <a:off x="5184648" y="4407408"/>
            <a:ext cx="1920240" cy="274320"/>
          </a:xfrm>
          <a:prstGeom prst="rect">
            <a:avLst/>
          </a:prstGeom>
          <a:noFill/>
        </p:spPr>
        <p:txBody>
          <a:bodyPr wrap="square" lIns="0" rIns="0" tIns="0" bIns="0" anchor="t">
            <a:noAutofit/>
          </a:bodyPr>
          <a:lstStyle/>
          <a:p>
            <a:pPr algn="ctr">
              <a:lnSpc>
                <a:spcPct val="110000"/>
              </a:lnSpc>
            </a:pPr>
            <a:r>
              <a:rPr sz="1300" b="1" i="0">
                <a:solidFill>
                  <a:srgbClr val="0C1408"/>
                </a:solidFill>
                <a:latin typeface="Arial"/>
              </a:rPr>
              <a:t>Cover pays</a:t>
            </a:r>
          </a:p>
        </p:txBody>
      </p:sp>
      <p:sp>
        <p:nvSpPr>
          <p:cNvPr id="37" name="TextBox 36"/>
          <p:cNvSpPr txBox="1"/>
          <p:nvPr/>
        </p:nvSpPr>
        <p:spPr>
          <a:xfrm>
            <a:off x="5184648" y="4681728"/>
            <a:ext cx="1920240" cy="822960"/>
          </a:xfrm>
          <a:prstGeom prst="rect">
            <a:avLst/>
          </a:prstGeom>
          <a:noFill/>
        </p:spPr>
        <p:txBody>
          <a:bodyPr wrap="square" lIns="0" rIns="0" tIns="0" bIns="0" anchor="t">
            <a:noAutofit/>
          </a:bodyPr>
          <a:lstStyle/>
          <a:p>
            <a:pPr algn="ctr">
              <a:lnSpc>
                <a:spcPct val="100000"/>
              </a:lnSpc>
            </a:pPr>
            <a:r>
              <a:rPr sz="1100" b="0" i="0">
                <a:solidFill>
                  <a:srgbClr val="5B6456"/>
                </a:solidFill>
                <a:latin typeface="Arial"/>
              </a:rPr>
              <a:t>members left short are paid in full</a:t>
            </a:r>
          </a:p>
        </p:txBody>
      </p:sp>
      <p:sp>
        <p:nvSpPr>
          <p:cNvPr id="38" name="Oval 37"/>
          <p:cNvSpPr/>
          <p:nvPr/>
        </p:nvSpPr>
        <p:spPr>
          <a:xfrm>
            <a:off x="8430768" y="4133088"/>
            <a:ext cx="182880" cy="182880"/>
          </a:xfrm>
          <a:prstGeom prst="ellipse">
            <a:avLst/>
          </a:prstGeom>
          <a:solidFill>
            <a:srgbClr val="FFFFFF"/>
          </a:solidFill>
          <a:ln w="22225">
            <a:solidFill>
              <a:srgbClr val="B3261E"/>
            </a:solidFill>
          </a:ln>
        </p:spPr>
        <p:txBody>
          <a:bodyPr rtlCol="0" anchor="ctr" lIns="0" rIns="0"/>
          <a:lstStyle/>
          <a:p>
            <a:pPr algn="ctr"/>
          </a:p>
        </p:txBody>
      </p:sp>
      <p:sp>
        <p:nvSpPr>
          <p:cNvPr id="39" name="TextBox 38"/>
          <p:cNvSpPr txBox="1"/>
          <p:nvPr/>
        </p:nvSpPr>
        <p:spPr>
          <a:xfrm>
            <a:off x="7562088" y="4407408"/>
            <a:ext cx="1920240" cy="274320"/>
          </a:xfrm>
          <a:prstGeom prst="rect">
            <a:avLst/>
          </a:prstGeom>
          <a:noFill/>
        </p:spPr>
        <p:txBody>
          <a:bodyPr wrap="square" lIns="0" rIns="0" tIns="0" bIns="0" anchor="t">
            <a:noAutofit/>
          </a:bodyPr>
          <a:lstStyle/>
          <a:p>
            <a:pPr algn="ctr">
              <a:lnSpc>
                <a:spcPct val="110000"/>
              </a:lnSpc>
            </a:pPr>
            <a:r>
              <a:rPr sz="1300" b="1" i="0">
                <a:solidFill>
                  <a:srgbClr val="0C1408"/>
                </a:solidFill>
                <a:latin typeface="Arial"/>
              </a:rPr>
              <a:t>Guarantee</a:t>
            </a:r>
          </a:p>
        </p:txBody>
      </p:sp>
      <p:sp>
        <p:nvSpPr>
          <p:cNvPr id="40" name="TextBox 39"/>
          <p:cNvSpPr txBox="1"/>
          <p:nvPr/>
        </p:nvSpPr>
        <p:spPr>
          <a:xfrm>
            <a:off x="7562088" y="4681728"/>
            <a:ext cx="1920240" cy="822960"/>
          </a:xfrm>
          <a:prstGeom prst="rect">
            <a:avLst/>
          </a:prstGeom>
          <a:noFill/>
        </p:spPr>
        <p:txBody>
          <a:bodyPr wrap="square" lIns="0" rIns="0" tIns="0" bIns="0" anchor="t">
            <a:noAutofit/>
          </a:bodyPr>
          <a:lstStyle/>
          <a:p>
            <a:pPr algn="ctr">
              <a:lnSpc>
                <a:spcPct val="100000"/>
              </a:lnSpc>
            </a:pPr>
            <a:r>
              <a:rPr sz="1100" b="0" i="0">
                <a:solidFill>
                  <a:srgbClr val="5B6456"/>
                </a:solidFill>
                <a:latin typeface="Arial"/>
              </a:rPr>
              <a:t>the whole balance falls due</a:t>
            </a:r>
          </a:p>
        </p:txBody>
      </p:sp>
      <p:sp>
        <p:nvSpPr>
          <p:cNvPr id="41" name="Oval 40"/>
          <p:cNvSpPr/>
          <p:nvPr/>
        </p:nvSpPr>
        <p:spPr>
          <a:xfrm>
            <a:off x="10808208" y="4133088"/>
            <a:ext cx="182880" cy="182880"/>
          </a:xfrm>
          <a:prstGeom prst="ellipse">
            <a:avLst/>
          </a:prstGeom>
          <a:solidFill>
            <a:srgbClr val="FFFFFF"/>
          </a:solidFill>
          <a:ln w="22225">
            <a:solidFill>
              <a:srgbClr val="B3261E"/>
            </a:solidFill>
          </a:ln>
        </p:spPr>
        <p:txBody>
          <a:bodyPr rtlCol="0" anchor="ctr" lIns="0" rIns="0"/>
          <a:lstStyle/>
          <a:p>
            <a:pPr algn="ctr"/>
          </a:p>
        </p:txBody>
      </p:sp>
      <p:sp>
        <p:nvSpPr>
          <p:cNvPr id="42" name="TextBox 41"/>
          <p:cNvSpPr txBox="1"/>
          <p:nvPr/>
        </p:nvSpPr>
        <p:spPr>
          <a:xfrm>
            <a:off x="9939528" y="4407408"/>
            <a:ext cx="1920240" cy="274320"/>
          </a:xfrm>
          <a:prstGeom prst="rect">
            <a:avLst/>
          </a:prstGeom>
          <a:noFill/>
        </p:spPr>
        <p:txBody>
          <a:bodyPr wrap="square" lIns="0" rIns="0" tIns="0" bIns="0" anchor="t">
            <a:noAutofit/>
          </a:bodyPr>
          <a:lstStyle/>
          <a:p>
            <a:pPr algn="ctr">
              <a:lnSpc>
                <a:spcPct val="110000"/>
              </a:lnSpc>
            </a:pPr>
            <a:r>
              <a:rPr sz="1300" b="1" i="0">
                <a:solidFill>
                  <a:srgbClr val="0C1408"/>
                </a:solidFill>
                <a:latin typeface="Arial"/>
              </a:rPr>
              <a:t>Civil suit</a:t>
            </a:r>
          </a:p>
        </p:txBody>
      </p:sp>
      <p:sp>
        <p:nvSpPr>
          <p:cNvPr id="43" name="TextBox 42"/>
          <p:cNvSpPr txBox="1"/>
          <p:nvPr/>
        </p:nvSpPr>
        <p:spPr>
          <a:xfrm>
            <a:off x="9939528" y="4681728"/>
            <a:ext cx="1920240" cy="822960"/>
          </a:xfrm>
          <a:prstGeom prst="rect">
            <a:avLst/>
          </a:prstGeom>
          <a:noFill/>
        </p:spPr>
        <p:txBody>
          <a:bodyPr wrap="square" lIns="0" rIns="0" tIns="0" bIns="0" anchor="t">
            <a:noAutofit/>
          </a:bodyPr>
          <a:lstStyle/>
          <a:p>
            <a:pPr algn="ctr">
              <a:lnSpc>
                <a:spcPct val="100000"/>
              </a:lnSpc>
            </a:pPr>
            <a:r>
              <a:rPr sz="1100" b="0" i="0">
                <a:solidFill>
                  <a:srgbClr val="5B6456"/>
                </a:solidFill>
                <a:latin typeface="Arial"/>
              </a:rPr>
              <a:t>on the signed undertaking</a:t>
            </a:r>
          </a:p>
        </p:txBody>
      </p:sp>
      <p:cxnSp>
        <p:nvCxnSpPr>
          <p:cNvPr id="44" name="Connector 43"/>
          <p:cNvCxnSpPr/>
          <p:nvPr/>
        </p:nvCxnSpPr>
        <p:spPr>
          <a:xfrm>
            <a:off x="566928" y="5285232"/>
            <a:ext cx="11057839" cy="0"/>
          </a:xfrm>
          <a:prstGeom prst="line">
            <a:avLst/>
          </a:prstGeom>
          <a:ln w="9525">
            <a:solidFill>
              <a:srgbClr val="D5DCD1"/>
            </a:solidFill>
          </a:ln>
        </p:spPr>
      </p:cxnSp>
      <p:sp>
        <p:nvSpPr>
          <p:cNvPr id="45" name="TextBox 44"/>
          <p:cNvSpPr txBox="1"/>
          <p:nvPr/>
        </p:nvSpPr>
        <p:spPr>
          <a:xfrm>
            <a:off x="566928" y="5376672"/>
            <a:ext cx="1463040" cy="365760"/>
          </a:xfrm>
          <a:prstGeom prst="rect">
            <a:avLst/>
          </a:prstGeom>
          <a:noFill/>
        </p:spPr>
        <p:txBody>
          <a:bodyPr wrap="square" lIns="0" rIns="0" tIns="0" bIns="0" anchor="t">
            <a:noAutofit/>
          </a:bodyPr>
          <a:lstStyle/>
          <a:p>
            <a:pPr algn="l">
              <a:lnSpc>
                <a:spcPct val="110000"/>
              </a:lnSpc>
            </a:pPr>
            <a:r>
              <a:rPr sz="1800" b="0" i="0">
                <a:solidFill>
                  <a:srgbClr val="41801A"/>
                </a:solidFill>
                <a:latin typeface="Georgia"/>
              </a:rPr>
              <a:t>Rs 110,000</a:t>
            </a:r>
          </a:p>
        </p:txBody>
      </p:sp>
      <p:sp>
        <p:nvSpPr>
          <p:cNvPr id="46" name="TextBox 45"/>
          <p:cNvSpPr txBox="1"/>
          <p:nvPr/>
        </p:nvSpPr>
        <p:spPr>
          <a:xfrm>
            <a:off x="2075688" y="5394960"/>
            <a:ext cx="2057400" cy="731520"/>
          </a:xfrm>
          <a:prstGeom prst="rect">
            <a:avLst/>
          </a:prstGeom>
          <a:noFill/>
        </p:spPr>
        <p:txBody>
          <a:bodyPr wrap="square" lIns="0" rIns="0" tIns="0" bIns="0" anchor="t">
            <a:noAutofit/>
          </a:bodyPr>
          <a:lstStyle/>
          <a:p>
            <a:pPr algn="l">
              <a:lnSpc>
                <a:spcPct val="100000"/>
              </a:lnSpc>
            </a:pPr>
            <a:r>
              <a:rPr sz="1100" b="0" i="0">
                <a:solidFill>
                  <a:srgbClr val="0C1408"/>
                </a:solidFill>
                <a:latin typeface="Arial"/>
              </a:rPr>
              <a:t>the most one member can owe after collecting</a:t>
            </a:r>
          </a:p>
        </p:txBody>
      </p:sp>
      <p:sp>
        <p:nvSpPr>
          <p:cNvPr id="47" name="TextBox 46"/>
          <p:cNvSpPr txBox="1"/>
          <p:nvPr/>
        </p:nvSpPr>
        <p:spPr>
          <a:xfrm>
            <a:off x="4315968" y="5376672"/>
            <a:ext cx="1463040" cy="365760"/>
          </a:xfrm>
          <a:prstGeom prst="rect">
            <a:avLst/>
          </a:prstGeom>
          <a:noFill/>
        </p:spPr>
        <p:txBody>
          <a:bodyPr wrap="square" lIns="0" rIns="0" tIns="0" bIns="0" anchor="t">
            <a:noAutofit/>
          </a:bodyPr>
          <a:lstStyle/>
          <a:p>
            <a:pPr algn="l">
              <a:lnSpc>
                <a:spcPct val="110000"/>
              </a:lnSpc>
            </a:pPr>
            <a:r>
              <a:rPr sz="1800" b="0" i="0">
                <a:solidFill>
                  <a:srgbClr val="41801A"/>
                </a:solidFill>
                <a:latin typeface="Georgia"/>
              </a:rPr>
              <a:t>Never</a:t>
            </a:r>
          </a:p>
        </p:txBody>
      </p:sp>
      <p:sp>
        <p:nvSpPr>
          <p:cNvPr id="48" name="TextBox 47"/>
          <p:cNvSpPr txBox="1"/>
          <p:nvPr/>
        </p:nvSpPr>
        <p:spPr>
          <a:xfrm>
            <a:off x="5824727" y="5394960"/>
            <a:ext cx="2057400" cy="731520"/>
          </a:xfrm>
          <a:prstGeom prst="rect">
            <a:avLst/>
          </a:prstGeom>
          <a:noFill/>
        </p:spPr>
        <p:txBody>
          <a:bodyPr wrap="square" lIns="0" rIns="0" tIns="0" bIns="0" anchor="t">
            <a:noAutofit/>
          </a:bodyPr>
          <a:lstStyle/>
          <a:p>
            <a:pPr algn="l">
              <a:lnSpc>
                <a:spcPct val="100000"/>
              </a:lnSpc>
            </a:pPr>
            <a:r>
              <a:rPr sz="1100" b="0" i="0">
                <a:solidFill>
                  <a:srgbClr val="0C1408"/>
                </a:solidFill>
                <a:latin typeface="Arial"/>
              </a:rPr>
              <a:t>calls to relatives, contact lists or public names</a:t>
            </a:r>
          </a:p>
        </p:txBody>
      </p:sp>
      <p:sp>
        <p:nvSpPr>
          <p:cNvPr id="49" name="TextBox 48"/>
          <p:cNvSpPr txBox="1"/>
          <p:nvPr/>
        </p:nvSpPr>
        <p:spPr>
          <a:xfrm>
            <a:off x="8065007" y="5376672"/>
            <a:ext cx="1463040" cy="365760"/>
          </a:xfrm>
          <a:prstGeom prst="rect">
            <a:avLst/>
          </a:prstGeom>
          <a:noFill/>
        </p:spPr>
        <p:txBody>
          <a:bodyPr wrap="square" lIns="0" rIns="0" tIns="0" bIns="0" anchor="t">
            <a:noAutofit/>
          </a:bodyPr>
          <a:lstStyle/>
          <a:p>
            <a:pPr algn="l">
              <a:lnSpc>
                <a:spcPct val="110000"/>
              </a:lnSpc>
            </a:pPr>
            <a:r>
              <a:rPr sz="1800" b="0" i="0">
                <a:solidFill>
                  <a:srgbClr val="41801A"/>
                </a:solidFill>
                <a:latin typeface="Georgia"/>
              </a:rPr>
              <a:t>Charity</a:t>
            </a:r>
          </a:p>
        </p:txBody>
      </p:sp>
      <p:sp>
        <p:nvSpPr>
          <p:cNvPr id="50" name="TextBox 49"/>
          <p:cNvSpPr txBox="1"/>
          <p:nvPr/>
        </p:nvSpPr>
        <p:spPr>
          <a:xfrm>
            <a:off x="9573767" y="5394960"/>
            <a:ext cx="2057400" cy="731520"/>
          </a:xfrm>
          <a:prstGeom prst="rect">
            <a:avLst/>
          </a:prstGeom>
          <a:noFill/>
        </p:spPr>
        <p:txBody>
          <a:bodyPr wrap="square" lIns="0" rIns="0" tIns="0" bIns="0" anchor="t">
            <a:noAutofit/>
          </a:bodyPr>
          <a:lstStyle/>
          <a:p>
            <a:pPr algn="l">
              <a:lnSpc>
                <a:spcPct val="100000"/>
              </a:lnSpc>
            </a:pPr>
            <a:r>
              <a:rPr sz="1100" b="0" i="0">
                <a:solidFill>
                  <a:srgbClr val="0C1408"/>
                </a:solidFill>
                <a:latin typeface="Arial"/>
              </a:rPr>
              <a:t>receives late fees on the Islamic window</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9509760" cy="566928"/>
          </a:xfrm>
          <a:prstGeom prst="rect">
            <a:avLst/>
          </a:prstGeom>
          <a:noFill/>
        </p:spPr>
        <p:txBody>
          <a:bodyPr wrap="square" lIns="0" rIns="0" tIns="0" bIns="0" anchor="t">
            <a:noAutofit/>
          </a:bodyPr>
          <a:lstStyle/>
          <a:p>
            <a:pPr algn="l">
              <a:lnSpc>
                <a:spcPct val="110000"/>
              </a:lnSpc>
            </a:pPr>
            <a:r>
              <a:rPr sz="2800" b="0" i="0">
                <a:solidFill>
                  <a:srgbClr val="41801A"/>
                </a:solidFill>
                <a:latin typeface="Georgia"/>
              </a:rPr>
              <a:t>Cover for Defaults</a:t>
            </a:r>
          </a:p>
        </p:txBody>
      </p:sp>
      <p:sp>
        <p:nvSpPr>
          <p:cNvPr id="3" name="TextBox 2"/>
          <p:cNvSpPr txBox="1"/>
          <p:nvPr/>
        </p:nvSpPr>
        <p:spPr>
          <a:xfrm>
            <a:off x="566928" y="987552"/>
            <a:ext cx="11057839" cy="411480"/>
          </a:xfrm>
          <a:prstGeom prst="rect">
            <a:avLst/>
          </a:prstGeom>
          <a:noFill/>
        </p:spPr>
        <p:txBody>
          <a:bodyPr wrap="square" lIns="0" rIns="0" tIns="0" bIns="0" anchor="t">
            <a:noAutofit/>
          </a:bodyPr>
          <a:lstStyle/>
          <a:p>
            <a:pPr algn="l">
              <a:lnSpc>
                <a:spcPct val="110000"/>
              </a:lnSpc>
            </a:pPr>
            <a:r>
              <a:rPr sz="1800" b="0" i="0">
                <a:solidFill>
                  <a:srgbClr val="0C1408"/>
                </a:solidFill>
                <a:latin typeface="Arial"/>
              </a:rPr>
              <a:t>If an early collector stops paying, cover pays the other members in full. Mashreq chooses the form.</a:t>
            </a:r>
          </a:p>
        </p:txBody>
      </p:sp>
      <p:pic>
        <p:nvPicPr>
          <p:cNvPr id="4" name="Picture 3" descr="halqa_logo.png"/>
          <p:cNvPicPr>
            <a:picLocks noChangeAspect="1"/>
          </p:cNvPicPr>
          <p:nvPr/>
        </p:nvPicPr>
        <p:blipFill>
          <a:blip r:embed="rId3"/>
          <a:stretch>
            <a:fillRect/>
          </a:stretch>
        </p:blipFill>
        <p:spPr>
          <a:xfrm>
            <a:off x="10600639" y="457200"/>
            <a:ext cx="1023202" cy="310896"/>
          </a:xfrm>
          <a:prstGeom prst="rect">
            <a:avLst/>
          </a:prstGeom>
        </p:spPr>
      </p:pic>
      <p:sp>
        <p:nvSpPr>
          <p:cNvPr id="5" name="TextBox 4"/>
          <p:cNvSpPr txBox="1"/>
          <p:nvPr/>
        </p:nvSpPr>
        <p:spPr>
          <a:xfrm>
            <a:off x="566928" y="6309360"/>
            <a:ext cx="10149840" cy="365760"/>
          </a:xfrm>
          <a:prstGeom prst="rect">
            <a:avLst/>
          </a:prstGeom>
          <a:noFill/>
        </p:spPr>
        <p:txBody>
          <a:bodyPr wrap="square" lIns="0" rIns="0" tIns="0" bIns="0" anchor="t">
            <a:noAutofit/>
          </a:bodyPr>
          <a:lstStyle/>
          <a:p>
            <a:pPr algn="l">
              <a:lnSpc>
                <a:spcPct val="100000"/>
              </a:lnSpc>
            </a:pPr>
            <a:r>
              <a:rPr sz="900" b="0" i="0">
                <a:solidFill>
                  <a:srgbClr val="5B6456"/>
                </a:solidFill>
                <a:latin typeface="Arial"/>
              </a:rPr>
              <a:t>Cover pricing model, September 2026: average still owed Rs 55,000; stress case of one circle in five losing a fifth of its members from the earliest turns.</a:t>
            </a:r>
          </a:p>
        </p:txBody>
      </p:sp>
      <p:sp>
        <p:nvSpPr>
          <p:cNvPr id="6" name="TextBox 5"/>
          <p:cNvSpPr txBox="1"/>
          <p:nvPr/>
        </p:nvSpPr>
        <p:spPr>
          <a:xfrm>
            <a:off x="11076127" y="6355080"/>
            <a:ext cx="548640" cy="228600"/>
          </a:xfrm>
          <a:prstGeom prst="rect">
            <a:avLst/>
          </a:prstGeom>
          <a:noFill/>
        </p:spPr>
        <p:txBody>
          <a:bodyPr wrap="square" lIns="0" rIns="0" tIns="0" bIns="0" anchor="t">
            <a:noAutofit/>
          </a:bodyPr>
          <a:lstStyle/>
          <a:p>
            <a:pPr algn="r">
              <a:lnSpc>
                <a:spcPct val="110000"/>
              </a:lnSpc>
            </a:pPr>
            <a:r>
              <a:rPr sz="1000" b="0" i="0">
                <a:solidFill>
                  <a:srgbClr val="5B6456"/>
                </a:solidFill>
                <a:latin typeface="Arial"/>
              </a:rPr>
              <a:t>14</a:t>
            </a:r>
          </a:p>
        </p:txBody>
      </p:sp>
      <p:sp>
        <p:nvSpPr>
          <p:cNvPr id="7" name="TextBox 6"/>
          <p:cNvSpPr txBox="1"/>
          <p:nvPr/>
        </p:nvSpPr>
        <p:spPr>
          <a:xfrm>
            <a:off x="566928" y="1783080"/>
            <a:ext cx="6217920" cy="274320"/>
          </a:xfrm>
          <a:prstGeom prst="rect">
            <a:avLst/>
          </a:prstGeom>
          <a:noFill/>
        </p:spPr>
        <p:txBody>
          <a:bodyPr wrap="square" lIns="0" rIns="0" tIns="0" bIns="0" anchor="t">
            <a:noAutofit/>
          </a:bodyPr>
          <a:lstStyle/>
          <a:p>
            <a:pPr algn="l">
              <a:lnSpc>
                <a:spcPct val="110000"/>
              </a:lnSpc>
            </a:pPr>
            <a:r>
              <a:rPr sz="1300" b="1" i="0">
                <a:solidFill>
                  <a:srgbClr val="0C1408"/>
                </a:solidFill>
                <a:latin typeface="Arial"/>
              </a:rPr>
              <a:t>Each pot stays Rs 120,000 when the member at turn 1 stops paying</a:t>
            </a:r>
          </a:p>
        </p:txBody>
      </p:sp>
      <p:sp>
        <p:nvSpPr>
          <p:cNvPr id="8" name="Rectangle 7"/>
          <p:cNvSpPr/>
          <p:nvPr/>
        </p:nvSpPr>
        <p:spPr>
          <a:xfrm>
            <a:off x="662482" y="2468880"/>
            <a:ext cx="311810" cy="2331720"/>
          </a:xfrm>
          <a:prstGeom prst="rect">
            <a:avLst/>
          </a:prstGeom>
          <a:noFill/>
          <a:ln w="15875">
            <a:solidFill>
              <a:srgbClr val="B3261E"/>
            </a:solidFill>
          </a:ln>
        </p:spPr>
        <p:txBody>
          <a:bodyPr rtlCol="0" anchor="ctr" lIns="0" rIns="0"/>
          <a:lstStyle/>
          <a:p>
            <a:pPr algn="ctr"/>
          </a:p>
        </p:txBody>
      </p:sp>
      <p:sp>
        <p:nvSpPr>
          <p:cNvPr id="9" name="TextBox 8"/>
          <p:cNvSpPr txBox="1"/>
          <p:nvPr/>
        </p:nvSpPr>
        <p:spPr>
          <a:xfrm>
            <a:off x="566928" y="4873752"/>
            <a:ext cx="502919" cy="228600"/>
          </a:xfrm>
          <a:prstGeom prst="rect">
            <a:avLst/>
          </a:prstGeom>
          <a:noFill/>
        </p:spPr>
        <p:txBody>
          <a:bodyPr wrap="square" lIns="0" rIns="0" tIns="0" bIns="0" anchor="t">
            <a:noAutofit/>
          </a:bodyPr>
          <a:lstStyle/>
          <a:p>
            <a:pPr algn="ctr">
              <a:lnSpc>
                <a:spcPct val="110000"/>
              </a:lnSpc>
            </a:pPr>
            <a:r>
              <a:rPr sz="1100" b="0" i="0">
                <a:solidFill>
                  <a:srgbClr val="5B6456"/>
                </a:solidFill>
                <a:latin typeface="Arial"/>
              </a:rPr>
              <a:t>1</a:t>
            </a:r>
          </a:p>
        </p:txBody>
      </p:sp>
      <p:sp>
        <p:nvSpPr>
          <p:cNvPr id="10" name="Rectangle 9"/>
          <p:cNvSpPr/>
          <p:nvPr/>
        </p:nvSpPr>
        <p:spPr>
          <a:xfrm>
            <a:off x="1165402" y="2663190"/>
            <a:ext cx="311810" cy="2137410"/>
          </a:xfrm>
          <a:prstGeom prst="rect">
            <a:avLst/>
          </a:prstGeom>
          <a:solidFill>
            <a:srgbClr val="6DC72A"/>
          </a:solidFill>
          <a:ln>
            <a:noFill/>
          </a:ln>
        </p:spPr>
        <p:txBody>
          <a:bodyPr rtlCol="0" anchor="ctr" lIns="0" rIns="0"/>
          <a:lstStyle/>
          <a:p>
            <a:pPr algn="ctr"/>
          </a:p>
        </p:txBody>
      </p:sp>
      <p:sp>
        <p:nvSpPr>
          <p:cNvPr id="11" name="Rectangle 10"/>
          <p:cNvSpPr/>
          <p:nvPr/>
        </p:nvSpPr>
        <p:spPr>
          <a:xfrm>
            <a:off x="1165402" y="2468880"/>
            <a:ext cx="311810" cy="194309"/>
          </a:xfrm>
          <a:prstGeom prst="rect">
            <a:avLst/>
          </a:prstGeom>
          <a:solidFill>
            <a:srgbClr val="E0602A"/>
          </a:solidFill>
          <a:ln>
            <a:noFill/>
          </a:ln>
        </p:spPr>
        <p:txBody>
          <a:bodyPr rtlCol="0" anchor="ctr" lIns="0" rIns="0"/>
          <a:lstStyle/>
          <a:p>
            <a:pPr algn="ctr"/>
          </a:p>
        </p:txBody>
      </p:sp>
      <p:sp>
        <p:nvSpPr>
          <p:cNvPr id="12" name="TextBox 11"/>
          <p:cNvSpPr txBox="1"/>
          <p:nvPr/>
        </p:nvSpPr>
        <p:spPr>
          <a:xfrm>
            <a:off x="1069848" y="4873752"/>
            <a:ext cx="502919" cy="228600"/>
          </a:xfrm>
          <a:prstGeom prst="rect">
            <a:avLst/>
          </a:prstGeom>
          <a:noFill/>
        </p:spPr>
        <p:txBody>
          <a:bodyPr wrap="square" lIns="0" rIns="0" tIns="0" bIns="0" anchor="t">
            <a:noAutofit/>
          </a:bodyPr>
          <a:lstStyle/>
          <a:p>
            <a:pPr algn="ctr">
              <a:lnSpc>
                <a:spcPct val="110000"/>
              </a:lnSpc>
            </a:pPr>
            <a:r>
              <a:rPr sz="1100" b="0" i="0">
                <a:solidFill>
                  <a:srgbClr val="5B6456"/>
                </a:solidFill>
                <a:latin typeface="Arial"/>
              </a:rPr>
              <a:t>2</a:t>
            </a:r>
          </a:p>
        </p:txBody>
      </p:sp>
      <p:sp>
        <p:nvSpPr>
          <p:cNvPr id="13" name="Rectangle 12"/>
          <p:cNvSpPr/>
          <p:nvPr/>
        </p:nvSpPr>
        <p:spPr>
          <a:xfrm>
            <a:off x="1668322" y="2663190"/>
            <a:ext cx="311810" cy="2137410"/>
          </a:xfrm>
          <a:prstGeom prst="rect">
            <a:avLst/>
          </a:prstGeom>
          <a:solidFill>
            <a:srgbClr val="6DC72A"/>
          </a:solidFill>
          <a:ln>
            <a:noFill/>
          </a:ln>
        </p:spPr>
        <p:txBody>
          <a:bodyPr rtlCol="0" anchor="ctr" lIns="0" rIns="0"/>
          <a:lstStyle/>
          <a:p>
            <a:pPr algn="ctr"/>
          </a:p>
        </p:txBody>
      </p:sp>
      <p:sp>
        <p:nvSpPr>
          <p:cNvPr id="14" name="Rectangle 13"/>
          <p:cNvSpPr/>
          <p:nvPr/>
        </p:nvSpPr>
        <p:spPr>
          <a:xfrm>
            <a:off x="1668322" y="2468880"/>
            <a:ext cx="311810" cy="194309"/>
          </a:xfrm>
          <a:prstGeom prst="rect">
            <a:avLst/>
          </a:prstGeom>
          <a:solidFill>
            <a:srgbClr val="E0602A"/>
          </a:solidFill>
          <a:ln>
            <a:noFill/>
          </a:ln>
        </p:spPr>
        <p:txBody>
          <a:bodyPr rtlCol="0" anchor="ctr" lIns="0" rIns="0"/>
          <a:lstStyle/>
          <a:p>
            <a:pPr algn="ctr"/>
          </a:p>
        </p:txBody>
      </p:sp>
      <p:sp>
        <p:nvSpPr>
          <p:cNvPr id="15" name="TextBox 14"/>
          <p:cNvSpPr txBox="1"/>
          <p:nvPr/>
        </p:nvSpPr>
        <p:spPr>
          <a:xfrm>
            <a:off x="1572767" y="4873752"/>
            <a:ext cx="502919" cy="228600"/>
          </a:xfrm>
          <a:prstGeom prst="rect">
            <a:avLst/>
          </a:prstGeom>
          <a:noFill/>
        </p:spPr>
        <p:txBody>
          <a:bodyPr wrap="square" lIns="0" rIns="0" tIns="0" bIns="0" anchor="t">
            <a:noAutofit/>
          </a:bodyPr>
          <a:lstStyle/>
          <a:p>
            <a:pPr algn="ctr">
              <a:lnSpc>
                <a:spcPct val="110000"/>
              </a:lnSpc>
            </a:pPr>
            <a:r>
              <a:rPr sz="1100" b="0" i="0">
                <a:solidFill>
                  <a:srgbClr val="5B6456"/>
                </a:solidFill>
                <a:latin typeface="Arial"/>
              </a:rPr>
              <a:t>3</a:t>
            </a:r>
          </a:p>
        </p:txBody>
      </p:sp>
      <p:sp>
        <p:nvSpPr>
          <p:cNvPr id="16" name="Rectangle 15"/>
          <p:cNvSpPr/>
          <p:nvPr/>
        </p:nvSpPr>
        <p:spPr>
          <a:xfrm>
            <a:off x="2171242" y="2663190"/>
            <a:ext cx="311810" cy="2137410"/>
          </a:xfrm>
          <a:prstGeom prst="rect">
            <a:avLst/>
          </a:prstGeom>
          <a:solidFill>
            <a:srgbClr val="6DC72A"/>
          </a:solidFill>
          <a:ln>
            <a:noFill/>
          </a:ln>
        </p:spPr>
        <p:txBody>
          <a:bodyPr rtlCol="0" anchor="ctr" lIns="0" rIns="0"/>
          <a:lstStyle/>
          <a:p>
            <a:pPr algn="ctr"/>
          </a:p>
        </p:txBody>
      </p:sp>
      <p:sp>
        <p:nvSpPr>
          <p:cNvPr id="17" name="Rectangle 16"/>
          <p:cNvSpPr/>
          <p:nvPr/>
        </p:nvSpPr>
        <p:spPr>
          <a:xfrm>
            <a:off x="2171242" y="2468880"/>
            <a:ext cx="311810" cy="194309"/>
          </a:xfrm>
          <a:prstGeom prst="rect">
            <a:avLst/>
          </a:prstGeom>
          <a:solidFill>
            <a:srgbClr val="E0602A"/>
          </a:solidFill>
          <a:ln>
            <a:noFill/>
          </a:ln>
        </p:spPr>
        <p:txBody>
          <a:bodyPr rtlCol="0" anchor="ctr" lIns="0" rIns="0"/>
          <a:lstStyle/>
          <a:p>
            <a:pPr algn="ctr"/>
          </a:p>
        </p:txBody>
      </p:sp>
      <p:sp>
        <p:nvSpPr>
          <p:cNvPr id="18" name="TextBox 17"/>
          <p:cNvSpPr txBox="1"/>
          <p:nvPr/>
        </p:nvSpPr>
        <p:spPr>
          <a:xfrm>
            <a:off x="2075688" y="4873752"/>
            <a:ext cx="502919" cy="228600"/>
          </a:xfrm>
          <a:prstGeom prst="rect">
            <a:avLst/>
          </a:prstGeom>
          <a:noFill/>
        </p:spPr>
        <p:txBody>
          <a:bodyPr wrap="square" lIns="0" rIns="0" tIns="0" bIns="0" anchor="t">
            <a:noAutofit/>
          </a:bodyPr>
          <a:lstStyle/>
          <a:p>
            <a:pPr algn="ctr">
              <a:lnSpc>
                <a:spcPct val="110000"/>
              </a:lnSpc>
            </a:pPr>
            <a:r>
              <a:rPr sz="1100" b="0" i="0">
                <a:solidFill>
                  <a:srgbClr val="5B6456"/>
                </a:solidFill>
                <a:latin typeface="Arial"/>
              </a:rPr>
              <a:t>4</a:t>
            </a:r>
          </a:p>
        </p:txBody>
      </p:sp>
      <p:sp>
        <p:nvSpPr>
          <p:cNvPr id="19" name="Rectangle 18"/>
          <p:cNvSpPr/>
          <p:nvPr/>
        </p:nvSpPr>
        <p:spPr>
          <a:xfrm>
            <a:off x="2674162" y="2663190"/>
            <a:ext cx="311810" cy="2137410"/>
          </a:xfrm>
          <a:prstGeom prst="rect">
            <a:avLst/>
          </a:prstGeom>
          <a:solidFill>
            <a:srgbClr val="6DC72A"/>
          </a:solidFill>
          <a:ln>
            <a:noFill/>
          </a:ln>
        </p:spPr>
        <p:txBody>
          <a:bodyPr rtlCol="0" anchor="ctr" lIns="0" rIns="0"/>
          <a:lstStyle/>
          <a:p>
            <a:pPr algn="ctr"/>
          </a:p>
        </p:txBody>
      </p:sp>
      <p:sp>
        <p:nvSpPr>
          <p:cNvPr id="20" name="Rectangle 19"/>
          <p:cNvSpPr/>
          <p:nvPr/>
        </p:nvSpPr>
        <p:spPr>
          <a:xfrm>
            <a:off x="2674162" y="2468880"/>
            <a:ext cx="311810" cy="194309"/>
          </a:xfrm>
          <a:prstGeom prst="rect">
            <a:avLst/>
          </a:prstGeom>
          <a:solidFill>
            <a:srgbClr val="E0602A"/>
          </a:solidFill>
          <a:ln>
            <a:noFill/>
          </a:ln>
        </p:spPr>
        <p:txBody>
          <a:bodyPr rtlCol="0" anchor="ctr" lIns="0" rIns="0"/>
          <a:lstStyle/>
          <a:p>
            <a:pPr algn="ctr"/>
          </a:p>
        </p:txBody>
      </p:sp>
      <p:sp>
        <p:nvSpPr>
          <p:cNvPr id="21" name="TextBox 20"/>
          <p:cNvSpPr txBox="1"/>
          <p:nvPr/>
        </p:nvSpPr>
        <p:spPr>
          <a:xfrm>
            <a:off x="2578608" y="4873752"/>
            <a:ext cx="502919" cy="228600"/>
          </a:xfrm>
          <a:prstGeom prst="rect">
            <a:avLst/>
          </a:prstGeom>
          <a:noFill/>
        </p:spPr>
        <p:txBody>
          <a:bodyPr wrap="square" lIns="0" rIns="0" tIns="0" bIns="0" anchor="t">
            <a:noAutofit/>
          </a:bodyPr>
          <a:lstStyle/>
          <a:p>
            <a:pPr algn="ctr">
              <a:lnSpc>
                <a:spcPct val="110000"/>
              </a:lnSpc>
            </a:pPr>
            <a:r>
              <a:rPr sz="1100" b="0" i="0">
                <a:solidFill>
                  <a:srgbClr val="5B6456"/>
                </a:solidFill>
                <a:latin typeface="Arial"/>
              </a:rPr>
              <a:t>5</a:t>
            </a:r>
          </a:p>
        </p:txBody>
      </p:sp>
      <p:sp>
        <p:nvSpPr>
          <p:cNvPr id="22" name="Rectangle 21"/>
          <p:cNvSpPr/>
          <p:nvPr/>
        </p:nvSpPr>
        <p:spPr>
          <a:xfrm>
            <a:off x="3177082" y="2663190"/>
            <a:ext cx="311810" cy="2137410"/>
          </a:xfrm>
          <a:prstGeom prst="rect">
            <a:avLst/>
          </a:prstGeom>
          <a:solidFill>
            <a:srgbClr val="6DC72A"/>
          </a:solidFill>
          <a:ln>
            <a:noFill/>
          </a:ln>
        </p:spPr>
        <p:txBody>
          <a:bodyPr rtlCol="0" anchor="ctr" lIns="0" rIns="0"/>
          <a:lstStyle/>
          <a:p>
            <a:pPr algn="ctr"/>
          </a:p>
        </p:txBody>
      </p:sp>
      <p:sp>
        <p:nvSpPr>
          <p:cNvPr id="23" name="Rectangle 22"/>
          <p:cNvSpPr/>
          <p:nvPr/>
        </p:nvSpPr>
        <p:spPr>
          <a:xfrm>
            <a:off x="3177082" y="2468880"/>
            <a:ext cx="311810" cy="194309"/>
          </a:xfrm>
          <a:prstGeom prst="rect">
            <a:avLst/>
          </a:prstGeom>
          <a:solidFill>
            <a:srgbClr val="E0602A"/>
          </a:solidFill>
          <a:ln>
            <a:noFill/>
          </a:ln>
        </p:spPr>
        <p:txBody>
          <a:bodyPr rtlCol="0" anchor="ctr" lIns="0" rIns="0"/>
          <a:lstStyle/>
          <a:p>
            <a:pPr algn="ctr"/>
          </a:p>
        </p:txBody>
      </p:sp>
      <p:sp>
        <p:nvSpPr>
          <p:cNvPr id="24" name="TextBox 23"/>
          <p:cNvSpPr txBox="1"/>
          <p:nvPr/>
        </p:nvSpPr>
        <p:spPr>
          <a:xfrm>
            <a:off x="3081527" y="4873752"/>
            <a:ext cx="502919" cy="228600"/>
          </a:xfrm>
          <a:prstGeom prst="rect">
            <a:avLst/>
          </a:prstGeom>
          <a:noFill/>
        </p:spPr>
        <p:txBody>
          <a:bodyPr wrap="square" lIns="0" rIns="0" tIns="0" bIns="0" anchor="t">
            <a:noAutofit/>
          </a:bodyPr>
          <a:lstStyle/>
          <a:p>
            <a:pPr algn="ctr">
              <a:lnSpc>
                <a:spcPct val="110000"/>
              </a:lnSpc>
            </a:pPr>
            <a:r>
              <a:rPr sz="1100" b="0" i="0">
                <a:solidFill>
                  <a:srgbClr val="5B6456"/>
                </a:solidFill>
                <a:latin typeface="Arial"/>
              </a:rPr>
              <a:t>6</a:t>
            </a:r>
          </a:p>
        </p:txBody>
      </p:sp>
      <p:sp>
        <p:nvSpPr>
          <p:cNvPr id="25" name="Rectangle 24"/>
          <p:cNvSpPr/>
          <p:nvPr/>
        </p:nvSpPr>
        <p:spPr>
          <a:xfrm>
            <a:off x="3680002" y="2663190"/>
            <a:ext cx="311810" cy="2137410"/>
          </a:xfrm>
          <a:prstGeom prst="rect">
            <a:avLst/>
          </a:prstGeom>
          <a:solidFill>
            <a:srgbClr val="6DC72A"/>
          </a:solidFill>
          <a:ln>
            <a:noFill/>
          </a:ln>
        </p:spPr>
        <p:txBody>
          <a:bodyPr rtlCol="0" anchor="ctr" lIns="0" rIns="0"/>
          <a:lstStyle/>
          <a:p>
            <a:pPr algn="ctr"/>
          </a:p>
        </p:txBody>
      </p:sp>
      <p:sp>
        <p:nvSpPr>
          <p:cNvPr id="26" name="Rectangle 25"/>
          <p:cNvSpPr/>
          <p:nvPr/>
        </p:nvSpPr>
        <p:spPr>
          <a:xfrm>
            <a:off x="3680002" y="2468880"/>
            <a:ext cx="311810" cy="194309"/>
          </a:xfrm>
          <a:prstGeom prst="rect">
            <a:avLst/>
          </a:prstGeom>
          <a:solidFill>
            <a:srgbClr val="E0602A"/>
          </a:solidFill>
          <a:ln>
            <a:noFill/>
          </a:ln>
        </p:spPr>
        <p:txBody>
          <a:bodyPr rtlCol="0" anchor="ctr" lIns="0" rIns="0"/>
          <a:lstStyle/>
          <a:p>
            <a:pPr algn="ctr"/>
          </a:p>
        </p:txBody>
      </p:sp>
      <p:sp>
        <p:nvSpPr>
          <p:cNvPr id="27" name="TextBox 26"/>
          <p:cNvSpPr txBox="1"/>
          <p:nvPr/>
        </p:nvSpPr>
        <p:spPr>
          <a:xfrm>
            <a:off x="3584448" y="4873752"/>
            <a:ext cx="502919" cy="228600"/>
          </a:xfrm>
          <a:prstGeom prst="rect">
            <a:avLst/>
          </a:prstGeom>
          <a:noFill/>
        </p:spPr>
        <p:txBody>
          <a:bodyPr wrap="square" lIns="0" rIns="0" tIns="0" bIns="0" anchor="t">
            <a:noAutofit/>
          </a:bodyPr>
          <a:lstStyle/>
          <a:p>
            <a:pPr algn="ctr">
              <a:lnSpc>
                <a:spcPct val="110000"/>
              </a:lnSpc>
            </a:pPr>
            <a:r>
              <a:rPr sz="1100" b="0" i="0">
                <a:solidFill>
                  <a:srgbClr val="5B6456"/>
                </a:solidFill>
                <a:latin typeface="Arial"/>
              </a:rPr>
              <a:t>7</a:t>
            </a:r>
          </a:p>
        </p:txBody>
      </p:sp>
      <p:sp>
        <p:nvSpPr>
          <p:cNvPr id="28" name="Rectangle 27"/>
          <p:cNvSpPr/>
          <p:nvPr/>
        </p:nvSpPr>
        <p:spPr>
          <a:xfrm>
            <a:off x="4182922" y="2663190"/>
            <a:ext cx="311810" cy="2137410"/>
          </a:xfrm>
          <a:prstGeom prst="rect">
            <a:avLst/>
          </a:prstGeom>
          <a:solidFill>
            <a:srgbClr val="6DC72A"/>
          </a:solidFill>
          <a:ln>
            <a:noFill/>
          </a:ln>
        </p:spPr>
        <p:txBody>
          <a:bodyPr rtlCol="0" anchor="ctr" lIns="0" rIns="0"/>
          <a:lstStyle/>
          <a:p>
            <a:pPr algn="ctr"/>
          </a:p>
        </p:txBody>
      </p:sp>
      <p:sp>
        <p:nvSpPr>
          <p:cNvPr id="29" name="Rectangle 28"/>
          <p:cNvSpPr/>
          <p:nvPr/>
        </p:nvSpPr>
        <p:spPr>
          <a:xfrm>
            <a:off x="4182922" y="2468880"/>
            <a:ext cx="311810" cy="194309"/>
          </a:xfrm>
          <a:prstGeom prst="rect">
            <a:avLst/>
          </a:prstGeom>
          <a:solidFill>
            <a:srgbClr val="E0602A"/>
          </a:solidFill>
          <a:ln>
            <a:noFill/>
          </a:ln>
        </p:spPr>
        <p:txBody>
          <a:bodyPr rtlCol="0" anchor="ctr" lIns="0" rIns="0"/>
          <a:lstStyle/>
          <a:p>
            <a:pPr algn="ctr"/>
          </a:p>
        </p:txBody>
      </p:sp>
      <p:sp>
        <p:nvSpPr>
          <p:cNvPr id="30" name="TextBox 29"/>
          <p:cNvSpPr txBox="1"/>
          <p:nvPr/>
        </p:nvSpPr>
        <p:spPr>
          <a:xfrm>
            <a:off x="4087368" y="4873752"/>
            <a:ext cx="502919" cy="228600"/>
          </a:xfrm>
          <a:prstGeom prst="rect">
            <a:avLst/>
          </a:prstGeom>
          <a:noFill/>
        </p:spPr>
        <p:txBody>
          <a:bodyPr wrap="square" lIns="0" rIns="0" tIns="0" bIns="0" anchor="t">
            <a:noAutofit/>
          </a:bodyPr>
          <a:lstStyle/>
          <a:p>
            <a:pPr algn="ctr">
              <a:lnSpc>
                <a:spcPct val="110000"/>
              </a:lnSpc>
            </a:pPr>
            <a:r>
              <a:rPr sz="1100" b="0" i="0">
                <a:solidFill>
                  <a:srgbClr val="5B6456"/>
                </a:solidFill>
                <a:latin typeface="Arial"/>
              </a:rPr>
              <a:t>8</a:t>
            </a:r>
          </a:p>
        </p:txBody>
      </p:sp>
      <p:sp>
        <p:nvSpPr>
          <p:cNvPr id="31" name="Rectangle 30"/>
          <p:cNvSpPr/>
          <p:nvPr/>
        </p:nvSpPr>
        <p:spPr>
          <a:xfrm>
            <a:off x="4685842" y="2663190"/>
            <a:ext cx="311810" cy="2137410"/>
          </a:xfrm>
          <a:prstGeom prst="rect">
            <a:avLst/>
          </a:prstGeom>
          <a:solidFill>
            <a:srgbClr val="6DC72A"/>
          </a:solidFill>
          <a:ln>
            <a:noFill/>
          </a:ln>
        </p:spPr>
        <p:txBody>
          <a:bodyPr rtlCol="0" anchor="ctr" lIns="0" rIns="0"/>
          <a:lstStyle/>
          <a:p>
            <a:pPr algn="ctr"/>
          </a:p>
        </p:txBody>
      </p:sp>
      <p:sp>
        <p:nvSpPr>
          <p:cNvPr id="32" name="Rectangle 31"/>
          <p:cNvSpPr/>
          <p:nvPr/>
        </p:nvSpPr>
        <p:spPr>
          <a:xfrm>
            <a:off x="4685842" y="2468880"/>
            <a:ext cx="311810" cy="194309"/>
          </a:xfrm>
          <a:prstGeom prst="rect">
            <a:avLst/>
          </a:prstGeom>
          <a:solidFill>
            <a:srgbClr val="E0602A"/>
          </a:solidFill>
          <a:ln>
            <a:noFill/>
          </a:ln>
        </p:spPr>
        <p:txBody>
          <a:bodyPr rtlCol="0" anchor="ctr" lIns="0" rIns="0"/>
          <a:lstStyle/>
          <a:p>
            <a:pPr algn="ctr"/>
          </a:p>
        </p:txBody>
      </p:sp>
      <p:sp>
        <p:nvSpPr>
          <p:cNvPr id="33" name="TextBox 32"/>
          <p:cNvSpPr txBox="1"/>
          <p:nvPr/>
        </p:nvSpPr>
        <p:spPr>
          <a:xfrm>
            <a:off x="4590288" y="4873752"/>
            <a:ext cx="502919" cy="228600"/>
          </a:xfrm>
          <a:prstGeom prst="rect">
            <a:avLst/>
          </a:prstGeom>
          <a:noFill/>
        </p:spPr>
        <p:txBody>
          <a:bodyPr wrap="square" lIns="0" rIns="0" tIns="0" bIns="0" anchor="t">
            <a:noAutofit/>
          </a:bodyPr>
          <a:lstStyle/>
          <a:p>
            <a:pPr algn="ctr">
              <a:lnSpc>
                <a:spcPct val="110000"/>
              </a:lnSpc>
            </a:pPr>
            <a:r>
              <a:rPr sz="1100" b="0" i="0">
                <a:solidFill>
                  <a:srgbClr val="5B6456"/>
                </a:solidFill>
                <a:latin typeface="Arial"/>
              </a:rPr>
              <a:t>9</a:t>
            </a:r>
          </a:p>
        </p:txBody>
      </p:sp>
      <p:sp>
        <p:nvSpPr>
          <p:cNvPr id="34" name="Rectangle 33"/>
          <p:cNvSpPr/>
          <p:nvPr/>
        </p:nvSpPr>
        <p:spPr>
          <a:xfrm>
            <a:off x="5188762" y="2663190"/>
            <a:ext cx="311810" cy="2137410"/>
          </a:xfrm>
          <a:prstGeom prst="rect">
            <a:avLst/>
          </a:prstGeom>
          <a:solidFill>
            <a:srgbClr val="6DC72A"/>
          </a:solidFill>
          <a:ln>
            <a:noFill/>
          </a:ln>
        </p:spPr>
        <p:txBody>
          <a:bodyPr rtlCol="0" anchor="ctr" lIns="0" rIns="0"/>
          <a:lstStyle/>
          <a:p>
            <a:pPr algn="ctr"/>
          </a:p>
        </p:txBody>
      </p:sp>
      <p:sp>
        <p:nvSpPr>
          <p:cNvPr id="35" name="Rectangle 34"/>
          <p:cNvSpPr/>
          <p:nvPr/>
        </p:nvSpPr>
        <p:spPr>
          <a:xfrm>
            <a:off x="5188762" y="2468880"/>
            <a:ext cx="311810" cy="194309"/>
          </a:xfrm>
          <a:prstGeom prst="rect">
            <a:avLst/>
          </a:prstGeom>
          <a:solidFill>
            <a:srgbClr val="E0602A"/>
          </a:solidFill>
          <a:ln>
            <a:noFill/>
          </a:ln>
        </p:spPr>
        <p:txBody>
          <a:bodyPr rtlCol="0" anchor="ctr" lIns="0" rIns="0"/>
          <a:lstStyle/>
          <a:p>
            <a:pPr algn="ctr"/>
          </a:p>
        </p:txBody>
      </p:sp>
      <p:sp>
        <p:nvSpPr>
          <p:cNvPr id="36" name="TextBox 35"/>
          <p:cNvSpPr txBox="1"/>
          <p:nvPr/>
        </p:nvSpPr>
        <p:spPr>
          <a:xfrm>
            <a:off x="5093207" y="4873752"/>
            <a:ext cx="502919" cy="228600"/>
          </a:xfrm>
          <a:prstGeom prst="rect">
            <a:avLst/>
          </a:prstGeom>
          <a:noFill/>
        </p:spPr>
        <p:txBody>
          <a:bodyPr wrap="square" lIns="0" rIns="0" tIns="0" bIns="0" anchor="t">
            <a:noAutofit/>
          </a:bodyPr>
          <a:lstStyle/>
          <a:p>
            <a:pPr algn="ctr">
              <a:lnSpc>
                <a:spcPct val="110000"/>
              </a:lnSpc>
            </a:pPr>
            <a:r>
              <a:rPr sz="1100" b="0" i="0">
                <a:solidFill>
                  <a:srgbClr val="5B6456"/>
                </a:solidFill>
                <a:latin typeface="Arial"/>
              </a:rPr>
              <a:t>10</a:t>
            </a:r>
          </a:p>
        </p:txBody>
      </p:sp>
      <p:sp>
        <p:nvSpPr>
          <p:cNvPr id="37" name="Rectangle 36"/>
          <p:cNvSpPr/>
          <p:nvPr/>
        </p:nvSpPr>
        <p:spPr>
          <a:xfrm>
            <a:off x="5691682" y="2663190"/>
            <a:ext cx="311810" cy="2137410"/>
          </a:xfrm>
          <a:prstGeom prst="rect">
            <a:avLst/>
          </a:prstGeom>
          <a:solidFill>
            <a:srgbClr val="6DC72A"/>
          </a:solidFill>
          <a:ln>
            <a:noFill/>
          </a:ln>
        </p:spPr>
        <p:txBody>
          <a:bodyPr rtlCol="0" anchor="ctr" lIns="0" rIns="0"/>
          <a:lstStyle/>
          <a:p>
            <a:pPr algn="ctr"/>
          </a:p>
        </p:txBody>
      </p:sp>
      <p:sp>
        <p:nvSpPr>
          <p:cNvPr id="38" name="Rectangle 37"/>
          <p:cNvSpPr/>
          <p:nvPr/>
        </p:nvSpPr>
        <p:spPr>
          <a:xfrm>
            <a:off x="5691682" y="2468880"/>
            <a:ext cx="311810" cy="194309"/>
          </a:xfrm>
          <a:prstGeom prst="rect">
            <a:avLst/>
          </a:prstGeom>
          <a:solidFill>
            <a:srgbClr val="E0602A"/>
          </a:solidFill>
          <a:ln>
            <a:noFill/>
          </a:ln>
        </p:spPr>
        <p:txBody>
          <a:bodyPr rtlCol="0" anchor="ctr" lIns="0" rIns="0"/>
          <a:lstStyle/>
          <a:p>
            <a:pPr algn="ctr"/>
          </a:p>
        </p:txBody>
      </p:sp>
      <p:sp>
        <p:nvSpPr>
          <p:cNvPr id="39" name="TextBox 38"/>
          <p:cNvSpPr txBox="1"/>
          <p:nvPr/>
        </p:nvSpPr>
        <p:spPr>
          <a:xfrm>
            <a:off x="5596127" y="4873752"/>
            <a:ext cx="502919" cy="228600"/>
          </a:xfrm>
          <a:prstGeom prst="rect">
            <a:avLst/>
          </a:prstGeom>
          <a:noFill/>
        </p:spPr>
        <p:txBody>
          <a:bodyPr wrap="square" lIns="0" rIns="0" tIns="0" bIns="0" anchor="t">
            <a:noAutofit/>
          </a:bodyPr>
          <a:lstStyle/>
          <a:p>
            <a:pPr algn="ctr">
              <a:lnSpc>
                <a:spcPct val="110000"/>
              </a:lnSpc>
            </a:pPr>
            <a:r>
              <a:rPr sz="1100" b="0" i="0">
                <a:solidFill>
                  <a:srgbClr val="5B6456"/>
                </a:solidFill>
                <a:latin typeface="Arial"/>
              </a:rPr>
              <a:t>11</a:t>
            </a:r>
          </a:p>
        </p:txBody>
      </p:sp>
      <p:sp>
        <p:nvSpPr>
          <p:cNvPr id="40" name="Rectangle 39"/>
          <p:cNvSpPr/>
          <p:nvPr/>
        </p:nvSpPr>
        <p:spPr>
          <a:xfrm>
            <a:off x="6194602" y="2663190"/>
            <a:ext cx="311810" cy="2137410"/>
          </a:xfrm>
          <a:prstGeom prst="rect">
            <a:avLst/>
          </a:prstGeom>
          <a:solidFill>
            <a:srgbClr val="6DC72A"/>
          </a:solidFill>
          <a:ln>
            <a:noFill/>
          </a:ln>
        </p:spPr>
        <p:txBody>
          <a:bodyPr rtlCol="0" anchor="ctr" lIns="0" rIns="0"/>
          <a:lstStyle/>
          <a:p>
            <a:pPr algn="ctr"/>
          </a:p>
        </p:txBody>
      </p:sp>
      <p:sp>
        <p:nvSpPr>
          <p:cNvPr id="41" name="Rectangle 40"/>
          <p:cNvSpPr/>
          <p:nvPr/>
        </p:nvSpPr>
        <p:spPr>
          <a:xfrm>
            <a:off x="6194602" y="2468880"/>
            <a:ext cx="311810" cy="194309"/>
          </a:xfrm>
          <a:prstGeom prst="rect">
            <a:avLst/>
          </a:prstGeom>
          <a:solidFill>
            <a:srgbClr val="E0602A"/>
          </a:solidFill>
          <a:ln>
            <a:noFill/>
          </a:ln>
        </p:spPr>
        <p:txBody>
          <a:bodyPr rtlCol="0" anchor="ctr" lIns="0" rIns="0"/>
          <a:lstStyle/>
          <a:p>
            <a:pPr algn="ctr"/>
          </a:p>
        </p:txBody>
      </p:sp>
      <p:sp>
        <p:nvSpPr>
          <p:cNvPr id="42" name="TextBox 41"/>
          <p:cNvSpPr txBox="1"/>
          <p:nvPr/>
        </p:nvSpPr>
        <p:spPr>
          <a:xfrm>
            <a:off x="6099047" y="4873752"/>
            <a:ext cx="502919" cy="228600"/>
          </a:xfrm>
          <a:prstGeom prst="rect">
            <a:avLst/>
          </a:prstGeom>
          <a:noFill/>
        </p:spPr>
        <p:txBody>
          <a:bodyPr wrap="square" lIns="0" rIns="0" tIns="0" bIns="0" anchor="t">
            <a:noAutofit/>
          </a:bodyPr>
          <a:lstStyle/>
          <a:p>
            <a:pPr algn="ctr">
              <a:lnSpc>
                <a:spcPct val="110000"/>
              </a:lnSpc>
            </a:pPr>
            <a:r>
              <a:rPr sz="1100" b="0" i="0">
                <a:solidFill>
                  <a:srgbClr val="5B6456"/>
                </a:solidFill>
                <a:latin typeface="Arial"/>
              </a:rPr>
              <a:t>12</a:t>
            </a:r>
          </a:p>
        </p:txBody>
      </p:sp>
      <p:cxnSp>
        <p:nvCxnSpPr>
          <p:cNvPr id="43" name="Connector 42"/>
          <p:cNvCxnSpPr/>
          <p:nvPr/>
        </p:nvCxnSpPr>
        <p:spPr>
          <a:xfrm>
            <a:off x="566928" y="4800600"/>
            <a:ext cx="6035040" cy="0"/>
          </a:xfrm>
          <a:prstGeom prst="line">
            <a:avLst/>
          </a:prstGeom>
          <a:ln w="9525">
            <a:solidFill>
              <a:srgbClr val="0C1408"/>
            </a:solidFill>
          </a:ln>
        </p:spPr>
      </p:cxnSp>
      <p:sp>
        <p:nvSpPr>
          <p:cNvPr id="44" name="TextBox 43"/>
          <p:cNvSpPr txBox="1"/>
          <p:nvPr/>
        </p:nvSpPr>
        <p:spPr>
          <a:xfrm>
            <a:off x="566928" y="5111496"/>
            <a:ext cx="6035040" cy="228600"/>
          </a:xfrm>
          <a:prstGeom prst="rect">
            <a:avLst/>
          </a:prstGeom>
          <a:noFill/>
        </p:spPr>
        <p:txBody>
          <a:bodyPr wrap="square" lIns="0" rIns="0" tIns="0" bIns="0" anchor="t">
            <a:noAutofit/>
          </a:bodyPr>
          <a:lstStyle/>
          <a:p>
            <a:pPr algn="ctr">
              <a:lnSpc>
                <a:spcPct val="110000"/>
              </a:lnSpc>
            </a:pPr>
            <a:r>
              <a:rPr sz="1100" b="0" i="0">
                <a:solidFill>
                  <a:srgbClr val="5B6456"/>
                </a:solidFill>
                <a:latin typeface="Arial"/>
              </a:rPr>
              <a:t>Turn</a:t>
            </a:r>
          </a:p>
        </p:txBody>
      </p:sp>
      <p:sp>
        <p:nvSpPr>
          <p:cNvPr id="45" name="Rectangle 44"/>
          <p:cNvSpPr/>
          <p:nvPr/>
        </p:nvSpPr>
        <p:spPr>
          <a:xfrm>
            <a:off x="566928" y="5449824"/>
            <a:ext cx="146304" cy="146304"/>
          </a:xfrm>
          <a:prstGeom prst="rect">
            <a:avLst/>
          </a:prstGeom>
          <a:solidFill>
            <a:srgbClr val="6DC72A"/>
          </a:solidFill>
          <a:ln>
            <a:noFill/>
          </a:ln>
        </p:spPr>
        <p:txBody>
          <a:bodyPr rtlCol="0" anchor="ctr" lIns="0" rIns="0"/>
          <a:lstStyle/>
          <a:p>
            <a:pPr algn="ctr"/>
          </a:p>
        </p:txBody>
      </p:sp>
      <p:sp>
        <p:nvSpPr>
          <p:cNvPr id="46" name="TextBox 45"/>
          <p:cNvSpPr txBox="1"/>
          <p:nvPr/>
        </p:nvSpPr>
        <p:spPr>
          <a:xfrm>
            <a:off x="786384" y="5413248"/>
            <a:ext cx="2743200" cy="228600"/>
          </a:xfrm>
          <a:prstGeom prst="rect">
            <a:avLst/>
          </a:prstGeom>
          <a:noFill/>
        </p:spPr>
        <p:txBody>
          <a:bodyPr wrap="square" lIns="0" rIns="0" tIns="0" bIns="0" anchor="t">
            <a:noAutofit/>
          </a:bodyPr>
          <a:lstStyle/>
          <a:p>
            <a:pPr algn="l">
              <a:lnSpc>
                <a:spcPct val="110000"/>
              </a:lnSpc>
            </a:pPr>
            <a:r>
              <a:rPr sz="1100" b="0" i="0">
                <a:solidFill>
                  <a:srgbClr val="0C1408"/>
                </a:solidFill>
                <a:latin typeface="Arial"/>
              </a:rPr>
              <a:t>paid by the other members, Rs 110,000</a:t>
            </a:r>
          </a:p>
        </p:txBody>
      </p:sp>
      <p:sp>
        <p:nvSpPr>
          <p:cNvPr id="47" name="Rectangle 46"/>
          <p:cNvSpPr/>
          <p:nvPr/>
        </p:nvSpPr>
        <p:spPr>
          <a:xfrm>
            <a:off x="3493008" y="5449824"/>
            <a:ext cx="146304" cy="146304"/>
          </a:xfrm>
          <a:prstGeom prst="rect">
            <a:avLst/>
          </a:prstGeom>
          <a:solidFill>
            <a:srgbClr val="E0602A"/>
          </a:solidFill>
          <a:ln>
            <a:noFill/>
          </a:ln>
        </p:spPr>
        <p:txBody>
          <a:bodyPr rtlCol="0" anchor="ctr" lIns="0" rIns="0"/>
          <a:lstStyle/>
          <a:p>
            <a:pPr algn="ctr"/>
          </a:p>
        </p:txBody>
      </p:sp>
      <p:sp>
        <p:nvSpPr>
          <p:cNvPr id="48" name="TextBox 47"/>
          <p:cNvSpPr txBox="1"/>
          <p:nvPr/>
        </p:nvSpPr>
        <p:spPr>
          <a:xfrm>
            <a:off x="3712463" y="5413248"/>
            <a:ext cx="2926080" cy="228600"/>
          </a:xfrm>
          <a:prstGeom prst="rect">
            <a:avLst/>
          </a:prstGeom>
          <a:noFill/>
        </p:spPr>
        <p:txBody>
          <a:bodyPr wrap="square" lIns="0" rIns="0" tIns="0" bIns="0" anchor="t">
            <a:noAutofit/>
          </a:bodyPr>
          <a:lstStyle/>
          <a:p>
            <a:pPr algn="l">
              <a:lnSpc>
                <a:spcPct val="110000"/>
              </a:lnSpc>
            </a:pPr>
            <a:r>
              <a:rPr sz="1100" b="0" i="0">
                <a:solidFill>
                  <a:srgbClr val="0C1408"/>
                </a:solidFill>
                <a:latin typeface="Arial"/>
              </a:rPr>
              <a:t>paid by cover, Rs 10,000</a:t>
            </a:r>
          </a:p>
        </p:txBody>
      </p:sp>
      <p:sp>
        <p:nvSpPr>
          <p:cNvPr id="49" name="Rectangle 48"/>
          <p:cNvSpPr/>
          <p:nvPr/>
        </p:nvSpPr>
        <p:spPr>
          <a:xfrm>
            <a:off x="566928" y="5760720"/>
            <a:ext cx="146304" cy="146304"/>
          </a:xfrm>
          <a:prstGeom prst="rect">
            <a:avLst/>
          </a:prstGeom>
          <a:noFill/>
          <a:ln w="15875">
            <a:solidFill>
              <a:srgbClr val="B3261E"/>
            </a:solidFill>
          </a:ln>
        </p:spPr>
        <p:txBody>
          <a:bodyPr rtlCol="0" anchor="ctr" lIns="0" rIns="0"/>
          <a:lstStyle/>
          <a:p>
            <a:pPr algn="ctr"/>
          </a:p>
        </p:txBody>
      </p:sp>
      <p:sp>
        <p:nvSpPr>
          <p:cNvPr id="50" name="TextBox 49"/>
          <p:cNvSpPr txBox="1"/>
          <p:nvPr/>
        </p:nvSpPr>
        <p:spPr>
          <a:xfrm>
            <a:off x="786384" y="5724144"/>
            <a:ext cx="5486400" cy="228600"/>
          </a:xfrm>
          <a:prstGeom prst="rect">
            <a:avLst/>
          </a:prstGeom>
          <a:noFill/>
        </p:spPr>
        <p:txBody>
          <a:bodyPr wrap="square" lIns="0" rIns="0" tIns="0" bIns="0" anchor="t">
            <a:noAutofit/>
          </a:bodyPr>
          <a:lstStyle/>
          <a:p>
            <a:pPr algn="l">
              <a:lnSpc>
                <a:spcPct val="110000"/>
              </a:lnSpc>
            </a:pPr>
            <a:r>
              <a:rPr sz="1100" b="0" i="0">
                <a:solidFill>
                  <a:srgbClr val="0C1408"/>
                </a:solidFill>
                <a:latin typeface="Arial"/>
              </a:rPr>
              <a:t>turn 1: collected, then stopped paying</a:t>
            </a:r>
          </a:p>
        </p:txBody>
      </p:sp>
      <p:sp>
        <p:nvSpPr>
          <p:cNvPr id="51" name="TextBox 50"/>
          <p:cNvSpPr txBox="1"/>
          <p:nvPr/>
        </p:nvSpPr>
        <p:spPr>
          <a:xfrm>
            <a:off x="7178040" y="1783080"/>
            <a:ext cx="1344168" cy="566928"/>
          </a:xfrm>
          <a:prstGeom prst="rect">
            <a:avLst/>
          </a:prstGeom>
          <a:noFill/>
        </p:spPr>
        <p:txBody>
          <a:bodyPr wrap="square" lIns="0" rIns="0" tIns="0" bIns="0" anchor="b">
            <a:noAutofit/>
          </a:bodyPr>
          <a:lstStyle/>
          <a:p>
            <a:pPr algn="l">
              <a:lnSpc>
                <a:spcPct val="110000"/>
              </a:lnSpc>
            </a:pPr>
          </a:p>
        </p:txBody>
      </p:sp>
      <p:sp>
        <p:nvSpPr>
          <p:cNvPr id="52" name="TextBox 51"/>
          <p:cNvSpPr txBox="1"/>
          <p:nvPr/>
        </p:nvSpPr>
        <p:spPr>
          <a:xfrm>
            <a:off x="8668512" y="1783080"/>
            <a:ext cx="978407" cy="566928"/>
          </a:xfrm>
          <a:prstGeom prst="rect">
            <a:avLst/>
          </a:prstGeom>
          <a:noFill/>
        </p:spPr>
        <p:txBody>
          <a:bodyPr wrap="square" lIns="0" rIns="0" tIns="0" bIns="0" anchor="b">
            <a:noAutofit/>
          </a:bodyPr>
          <a:lstStyle/>
          <a:p>
            <a:pPr algn="l">
              <a:lnSpc>
                <a:spcPct val="110000"/>
              </a:lnSpc>
            </a:pPr>
            <a:r>
              <a:rPr sz="1200" b="1" i="0">
                <a:solidFill>
                  <a:srgbClr val="41801A"/>
                </a:solidFill>
                <a:latin typeface="Arial"/>
              </a:rPr>
              <a:t>Guarantee</a:t>
            </a:r>
          </a:p>
        </p:txBody>
      </p:sp>
      <p:sp>
        <p:nvSpPr>
          <p:cNvPr id="53" name="TextBox 52"/>
          <p:cNvSpPr txBox="1"/>
          <p:nvPr/>
        </p:nvSpPr>
        <p:spPr>
          <a:xfrm>
            <a:off x="9720072" y="1783080"/>
            <a:ext cx="932688" cy="566928"/>
          </a:xfrm>
          <a:prstGeom prst="rect">
            <a:avLst/>
          </a:prstGeom>
          <a:noFill/>
        </p:spPr>
        <p:txBody>
          <a:bodyPr wrap="square" lIns="0" rIns="0" tIns="0" bIns="0" anchor="b">
            <a:noAutofit/>
          </a:bodyPr>
          <a:lstStyle/>
          <a:p>
            <a:pPr algn="l">
              <a:lnSpc>
                <a:spcPct val="110000"/>
              </a:lnSpc>
            </a:pPr>
            <a:r>
              <a:rPr sz="1200" b="1" i="0">
                <a:solidFill>
                  <a:srgbClr val="41801A"/>
                </a:solidFill>
                <a:latin typeface="Arial"/>
              </a:rPr>
              <a:t>Insurance</a:t>
            </a:r>
          </a:p>
        </p:txBody>
      </p:sp>
      <p:sp>
        <p:nvSpPr>
          <p:cNvPr id="54" name="TextBox 53"/>
          <p:cNvSpPr txBox="1"/>
          <p:nvPr/>
        </p:nvSpPr>
        <p:spPr>
          <a:xfrm>
            <a:off x="10725912" y="1783080"/>
            <a:ext cx="886968" cy="566928"/>
          </a:xfrm>
          <a:prstGeom prst="rect">
            <a:avLst/>
          </a:prstGeom>
          <a:noFill/>
        </p:spPr>
        <p:txBody>
          <a:bodyPr wrap="square" lIns="0" rIns="0" tIns="0" bIns="0" anchor="b">
            <a:noAutofit/>
          </a:bodyPr>
          <a:lstStyle/>
          <a:p>
            <a:pPr algn="l">
              <a:lnSpc>
                <a:spcPct val="110000"/>
              </a:lnSpc>
            </a:pPr>
            <a:r>
              <a:rPr sz="1200" b="1" i="0">
                <a:solidFill>
                  <a:srgbClr val="41801A"/>
                </a:solidFill>
                <a:latin typeface="Arial"/>
              </a:rPr>
              <a:t>Takaful</a:t>
            </a:r>
          </a:p>
        </p:txBody>
      </p:sp>
      <p:cxnSp>
        <p:nvCxnSpPr>
          <p:cNvPr id="55" name="Connector 54"/>
          <p:cNvCxnSpPr/>
          <p:nvPr/>
        </p:nvCxnSpPr>
        <p:spPr>
          <a:xfrm>
            <a:off x="7178040" y="2386584"/>
            <a:ext cx="4434840" cy="0"/>
          </a:xfrm>
          <a:prstGeom prst="line">
            <a:avLst/>
          </a:prstGeom>
          <a:ln w="12700">
            <a:solidFill>
              <a:srgbClr val="0C1408"/>
            </a:solidFill>
          </a:ln>
        </p:spPr>
      </p:cxnSp>
      <p:sp>
        <p:nvSpPr>
          <p:cNvPr id="56" name="TextBox 55"/>
          <p:cNvSpPr txBox="1"/>
          <p:nvPr/>
        </p:nvSpPr>
        <p:spPr>
          <a:xfrm>
            <a:off x="7178040" y="2368296"/>
            <a:ext cx="1307592" cy="566928"/>
          </a:xfrm>
          <a:prstGeom prst="rect">
            <a:avLst/>
          </a:prstGeom>
          <a:noFill/>
        </p:spPr>
        <p:txBody>
          <a:bodyPr wrap="square" lIns="0" rIns="0" tIns="0" bIns="0" anchor="ctr">
            <a:noAutofit/>
          </a:bodyPr>
          <a:lstStyle/>
          <a:p>
            <a:pPr algn="l">
              <a:lnSpc>
                <a:spcPct val="110000"/>
              </a:lnSpc>
            </a:pPr>
            <a:r>
              <a:rPr sz="1200" b="1" i="0">
                <a:solidFill>
                  <a:srgbClr val="0C1408"/>
                </a:solidFill>
                <a:latin typeface="Arial"/>
              </a:rPr>
              <a:t>Carries the loss</a:t>
            </a:r>
          </a:p>
        </p:txBody>
      </p:sp>
      <p:sp>
        <p:nvSpPr>
          <p:cNvPr id="57" name="TextBox 56"/>
          <p:cNvSpPr txBox="1"/>
          <p:nvPr/>
        </p:nvSpPr>
        <p:spPr>
          <a:xfrm>
            <a:off x="8668512" y="2368296"/>
            <a:ext cx="941831" cy="566928"/>
          </a:xfrm>
          <a:prstGeom prst="rect">
            <a:avLst/>
          </a:prstGeom>
          <a:noFill/>
        </p:spPr>
        <p:txBody>
          <a:bodyPr wrap="square" lIns="0" rIns="0" tIns="0" bIns="0" anchor="ctr">
            <a:noAutofit/>
          </a:bodyPr>
          <a:lstStyle/>
          <a:p>
            <a:pPr algn="l">
              <a:lnSpc>
                <a:spcPct val="110000"/>
              </a:lnSpc>
            </a:pPr>
            <a:r>
              <a:rPr sz="1200" b="0" i="0">
                <a:solidFill>
                  <a:srgbClr val="0C1408"/>
                </a:solidFill>
                <a:latin typeface="Arial"/>
              </a:rPr>
              <a:t>Mashreq</a:t>
            </a:r>
          </a:p>
        </p:txBody>
      </p:sp>
      <p:sp>
        <p:nvSpPr>
          <p:cNvPr id="58" name="TextBox 57"/>
          <p:cNvSpPr txBox="1"/>
          <p:nvPr/>
        </p:nvSpPr>
        <p:spPr>
          <a:xfrm>
            <a:off x="9720072" y="2368296"/>
            <a:ext cx="896112" cy="566928"/>
          </a:xfrm>
          <a:prstGeom prst="rect">
            <a:avLst/>
          </a:prstGeom>
          <a:noFill/>
        </p:spPr>
        <p:txBody>
          <a:bodyPr wrap="square" lIns="0" rIns="0" tIns="0" bIns="0" anchor="ctr">
            <a:noAutofit/>
          </a:bodyPr>
          <a:lstStyle/>
          <a:p>
            <a:pPr algn="l">
              <a:lnSpc>
                <a:spcPct val="110000"/>
              </a:lnSpc>
            </a:pPr>
            <a:r>
              <a:rPr sz="1200" b="0" i="0">
                <a:solidFill>
                  <a:srgbClr val="0C1408"/>
                </a:solidFill>
                <a:latin typeface="Arial"/>
              </a:rPr>
              <a:t>the insurer</a:t>
            </a:r>
          </a:p>
        </p:txBody>
      </p:sp>
      <p:sp>
        <p:nvSpPr>
          <p:cNvPr id="59" name="TextBox 58"/>
          <p:cNvSpPr txBox="1"/>
          <p:nvPr/>
        </p:nvSpPr>
        <p:spPr>
          <a:xfrm>
            <a:off x="10725912" y="2368296"/>
            <a:ext cx="850392" cy="566928"/>
          </a:xfrm>
          <a:prstGeom prst="rect">
            <a:avLst/>
          </a:prstGeom>
          <a:noFill/>
        </p:spPr>
        <p:txBody>
          <a:bodyPr wrap="square" lIns="0" rIns="0" tIns="0" bIns="0" anchor="ctr">
            <a:noAutofit/>
          </a:bodyPr>
          <a:lstStyle/>
          <a:p>
            <a:pPr algn="l">
              <a:lnSpc>
                <a:spcPct val="110000"/>
              </a:lnSpc>
            </a:pPr>
            <a:r>
              <a:rPr sz="1200" b="0" i="0">
                <a:solidFill>
                  <a:srgbClr val="0C1408"/>
                </a:solidFill>
                <a:latin typeface="Arial"/>
              </a:rPr>
              <a:t>the takaful fund</a:t>
            </a:r>
          </a:p>
        </p:txBody>
      </p:sp>
      <p:cxnSp>
        <p:nvCxnSpPr>
          <p:cNvPr id="60" name="Connector 59"/>
          <p:cNvCxnSpPr/>
          <p:nvPr/>
        </p:nvCxnSpPr>
        <p:spPr>
          <a:xfrm>
            <a:off x="7178040" y="2935224"/>
            <a:ext cx="4434840" cy="0"/>
          </a:xfrm>
          <a:prstGeom prst="line">
            <a:avLst/>
          </a:prstGeom>
          <a:ln w="9525">
            <a:solidFill>
              <a:srgbClr val="D5DCD1"/>
            </a:solidFill>
          </a:ln>
        </p:spPr>
      </p:cxnSp>
      <p:sp>
        <p:nvSpPr>
          <p:cNvPr id="61" name="TextBox 60"/>
          <p:cNvSpPr txBox="1"/>
          <p:nvPr/>
        </p:nvSpPr>
        <p:spPr>
          <a:xfrm>
            <a:off x="7178040" y="2935224"/>
            <a:ext cx="1307592" cy="566928"/>
          </a:xfrm>
          <a:prstGeom prst="rect">
            <a:avLst/>
          </a:prstGeom>
          <a:noFill/>
        </p:spPr>
        <p:txBody>
          <a:bodyPr wrap="square" lIns="0" rIns="0" tIns="0" bIns="0" anchor="ctr">
            <a:noAutofit/>
          </a:bodyPr>
          <a:lstStyle/>
          <a:p>
            <a:pPr algn="l">
              <a:lnSpc>
                <a:spcPct val="110000"/>
              </a:lnSpc>
            </a:pPr>
            <a:r>
              <a:rPr sz="1200" b="1" i="0">
                <a:solidFill>
                  <a:srgbClr val="0C1408"/>
                </a:solidFill>
                <a:latin typeface="Arial"/>
              </a:rPr>
              <a:t>Paid through</a:t>
            </a:r>
          </a:p>
        </p:txBody>
      </p:sp>
      <p:sp>
        <p:nvSpPr>
          <p:cNvPr id="62" name="TextBox 61"/>
          <p:cNvSpPr txBox="1"/>
          <p:nvPr/>
        </p:nvSpPr>
        <p:spPr>
          <a:xfrm>
            <a:off x="8668512" y="2935224"/>
            <a:ext cx="941831" cy="566928"/>
          </a:xfrm>
          <a:prstGeom prst="rect">
            <a:avLst/>
          </a:prstGeom>
          <a:noFill/>
        </p:spPr>
        <p:txBody>
          <a:bodyPr wrap="square" lIns="0" rIns="0" tIns="0" bIns="0" anchor="ctr">
            <a:noAutofit/>
          </a:bodyPr>
          <a:lstStyle/>
          <a:p>
            <a:pPr algn="l">
              <a:lnSpc>
                <a:spcPct val="110000"/>
              </a:lnSpc>
            </a:pPr>
            <a:r>
              <a:rPr sz="1200" b="0" i="0">
                <a:solidFill>
                  <a:srgbClr val="0C1408"/>
                </a:solidFill>
                <a:latin typeface="Arial"/>
              </a:rPr>
              <a:t>the fee</a:t>
            </a:r>
          </a:p>
        </p:txBody>
      </p:sp>
      <p:sp>
        <p:nvSpPr>
          <p:cNvPr id="63" name="TextBox 62"/>
          <p:cNvSpPr txBox="1"/>
          <p:nvPr/>
        </p:nvSpPr>
        <p:spPr>
          <a:xfrm>
            <a:off x="9720072" y="2935224"/>
            <a:ext cx="896112" cy="566928"/>
          </a:xfrm>
          <a:prstGeom prst="rect">
            <a:avLst/>
          </a:prstGeom>
          <a:noFill/>
        </p:spPr>
        <p:txBody>
          <a:bodyPr wrap="square" lIns="0" rIns="0" tIns="0" bIns="0" anchor="ctr">
            <a:noAutofit/>
          </a:bodyPr>
          <a:lstStyle/>
          <a:p>
            <a:pPr algn="l">
              <a:lnSpc>
                <a:spcPct val="110000"/>
              </a:lnSpc>
            </a:pPr>
            <a:r>
              <a:rPr sz="1200" b="0" i="0">
                <a:solidFill>
                  <a:srgbClr val="0C1408"/>
                </a:solidFill>
                <a:latin typeface="Arial"/>
              </a:rPr>
              <a:t>a premium</a:t>
            </a:r>
          </a:p>
        </p:txBody>
      </p:sp>
      <p:sp>
        <p:nvSpPr>
          <p:cNvPr id="64" name="TextBox 63"/>
          <p:cNvSpPr txBox="1"/>
          <p:nvPr/>
        </p:nvSpPr>
        <p:spPr>
          <a:xfrm>
            <a:off x="10725912" y="2935224"/>
            <a:ext cx="850392" cy="566928"/>
          </a:xfrm>
          <a:prstGeom prst="rect">
            <a:avLst/>
          </a:prstGeom>
          <a:noFill/>
        </p:spPr>
        <p:txBody>
          <a:bodyPr wrap="square" lIns="0" rIns="0" tIns="0" bIns="0" anchor="ctr">
            <a:noAutofit/>
          </a:bodyPr>
          <a:lstStyle/>
          <a:p>
            <a:pPr algn="l">
              <a:lnSpc>
                <a:spcPct val="110000"/>
              </a:lnSpc>
            </a:pPr>
            <a:r>
              <a:rPr sz="1200" b="0" i="0">
                <a:solidFill>
                  <a:srgbClr val="0C1408"/>
                </a:solidFill>
                <a:latin typeface="Arial"/>
              </a:rPr>
              <a:t>a contribution</a:t>
            </a:r>
          </a:p>
        </p:txBody>
      </p:sp>
      <p:cxnSp>
        <p:nvCxnSpPr>
          <p:cNvPr id="65" name="Connector 64"/>
          <p:cNvCxnSpPr/>
          <p:nvPr/>
        </p:nvCxnSpPr>
        <p:spPr>
          <a:xfrm>
            <a:off x="7178040" y="3502152"/>
            <a:ext cx="4434840" cy="0"/>
          </a:xfrm>
          <a:prstGeom prst="line">
            <a:avLst/>
          </a:prstGeom>
          <a:ln w="9525">
            <a:solidFill>
              <a:srgbClr val="D5DCD1"/>
            </a:solidFill>
          </a:ln>
        </p:spPr>
      </p:cxnSp>
      <p:sp>
        <p:nvSpPr>
          <p:cNvPr id="66" name="TextBox 65"/>
          <p:cNvSpPr txBox="1"/>
          <p:nvPr/>
        </p:nvSpPr>
        <p:spPr>
          <a:xfrm>
            <a:off x="7178040" y="3502152"/>
            <a:ext cx="1307592" cy="566928"/>
          </a:xfrm>
          <a:prstGeom prst="rect">
            <a:avLst/>
          </a:prstGeom>
          <a:noFill/>
        </p:spPr>
        <p:txBody>
          <a:bodyPr wrap="square" lIns="0" rIns="0" tIns="0" bIns="0" anchor="ctr">
            <a:noAutofit/>
          </a:bodyPr>
          <a:lstStyle/>
          <a:p>
            <a:pPr algn="l">
              <a:lnSpc>
                <a:spcPct val="110000"/>
              </a:lnSpc>
            </a:pPr>
            <a:r>
              <a:rPr sz="1200" b="1" i="0">
                <a:solidFill>
                  <a:srgbClr val="0C1408"/>
                </a:solidFill>
                <a:latin typeface="Arial"/>
              </a:rPr>
              <a:t>Islamic window</a:t>
            </a:r>
          </a:p>
        </p:txBody>
      </p:sp>
      <p:sp>
        <p:nvSpPr>
          <p:cNvPr id="67" name="TextBox 66"/>
          <p:cNvSpPr txBox="1"/>
          <p:nvPr/>
        </p:nvSpPr>
        <p:spPr>
          <a:xfrm>
            <a:off x="8668512" y="3502152"/>
            <a:ext cx="941831" cy="566928"/>
          </a:xfrm>
          <a:prstGeom prst="rect">
            <a:avLst/>
          </a:prstGeom>
          <a:noFill/>
        </p:spPr>
        <p:txBody>
          <a:bodyPr wrap="square" lIns="0" rIns="0" tIns="0" bIns="0" anchor="ctr">
            <a:noAutofit/>
          </a:bodyPr>
          <a:lstStyle/>
          <a:p>
            <a:pPr algn="l">
              <a:lnSpc>
                <a:spcPct val="110000"/>
              </a:lnSpc>
            </a:pPr>
            <a:r>
              <a:rPr sz="1200" b="0" i="0">
                <a:solidFill>
                  <a:srgbClr val="0C1408"/>
                </a:solidFill>
                <a:latin typeface="Arial"/>
              </a:rPr>
              <a:t>Shariah board to rule</a:t>
            </a:r>
          </a:p>
        </p:txBody>
      </p:sp>
      <p:sp>
        <p:nvSpPr>
          <p:cNvPr id="68" name="TextBox 67"/>
          <p:cNvSpPr txBox="1"/>
          <p:nvPr/>
        </p:nvSpPr>
        <p:spPr>
          <a:xfrm>
            <a:off x="9720072" y="3502152"/>
            <a:ext cx="896112" cy="566928"/>
          </a:xfrm>
          <a:prstGeom prst="rect">
            <a:avLst/>
          </a:prstGeom>
          <a:noFill/>
        </p:spPr>
        <p:txBody>
          <a:bodyPr wrap="square" lIns="0" rIns="0" tIns="0" bIns="0" anchor="ctr">
            <a:noAutofit/>
          </a:bodyPr>
          <a:lstStyle/>
          <a:p>
            <a:pPr algn="l">
              <a:lnSpc>
                <a:spcPct val="110000"/>
              </a:lnSpc>
            </a:pPr>
            <a:r>
              <a:rPr sz="1200" b="0" i="0">
                <a:solidFill>
                  <a:srgbClr val="0C1408"/>
                </a:solidFill>
                <a:latin typeface="Arial"/>
              </a:rPr>
              <a:t>no</a:t>
            </a:r>
          </a:p>
        </p:txBody>
      </p:sp>
      <p:sp>
        <p:nvSpPr>
          <p:cNvPr id="69" name="TextBox 68"/>
          <p:cNvSpPr txBox="1"/>
          <p:nvPr/>
        </p:nvSpPr>
        <p:spPr>
          <a:xfrm>
            <a:off x="10725912" y="3502152"/>
            <a:ext cx="850392" cy="566928"/>
          </a:xfrm>
          <a:prstGeom prst="rect">
            <a:avLst/>
          </a:prstGeom>
          <a:noFill/>
        </p:spPr>
        <p:txBody>
          <a:bodyPr wrap="square" lIns="0" rIns="0" tIns="0" bIns="0" anchor="ctr">
            <a:noAutofit/>
          </a:bodyPr>
          <a:lstStyle/>
          <a:p>
            <a:pPr algn="l">
              <a:lnSpc>
                <a:spcPct val="110000"/>
              </a:lnSpc>
            </a:pPr>
            <a:r>
              <a:rPr sz="1200" b="0" i="0">
                <a:solidFill>
                  <a:srgbClr val="0C1408"/>
                </a:solidFill>
                <a:latin typeface="Arial"/>
              </a:rPr>
              <a:t>yes</a:t>
            </a:r>
          </a:p>
        </p:txBody>
      </p:sp>
      <p:cxnSp>
        <p:nvCxnSpPr>
          <p:cNvPr id="70" name="Connector 69"/>
          <p:cNvCxnSpPr/>
          <p:nvPr/>
        </p:nvCxnSpPr>
        <p:spPr>
          <a:xfrm>
            <a:off x="7178040" y="4069079"/>
            <a:ext cx="4434840" cy="0"/>
          </a:xfrm>
          <a:prstGeom prst="line">
            <a:avLst/>
          </a:prstGeom>
          <a:ln w="9525">
            <a:solidFill>
              <a:srgbClr val="D5DCD1"/>
            </a:solidFill>
          </a:ln>
        </p:spPr>
      </p:cxnSp>
      <p:sp>
        <p:nvSpPr>
          <p:cNvPr id="71" name="TextBox 70"/>
          <p:cNvSpPr txBox="1"/>
          <p:nvPr/>
        </p:nvSpPr>
        <p:spPr>
          <a:xfrm>
            <a:off x="7178040" y="4206240"/>
            <a:ext cx="4434840" cy="518160"/>
          </a:xfrm>
          <a:prstGeom prst="rect">
            <a:avLst/>
          </a:prstGeom>
          <a:noFill/>
        </p:spPr>
        <p:txBody>
          <a:bodyPr wrap="square" lIns="0" rIns="0" tIns="0" bIns="0" anchor="t">
            <a:noAutofit/>
          </a:bodyPr>
          <a:lstStyle/>
          <a:p>
            <a:pPr algn="l">
              <a:lnSpc>
                <a:spcPct val="110000"/>
              </a:lnSpc>
            </a:pPr>
            <a:r>
              <a:rPr sz="2800" b="0" i="0">
                <a:solidFill>
                  <a:srgbClr val="41801A"/>
                </a:solidFill>
                <a:latin typeface="Georgia"/>
              </a:rPr>
              <a:t>About 5.5%</a:t>
            </a:r>
          </a:p>
        </p:txBody>
      </p:sp>
      <p:sp>
        <p:nvSpPr>
          <p:cNvPr id="72" name="TextBox 71"/>
          <p:cNvSpPr txBox="1"/>
          <p:nvPr/>
        </p:nvSpPr>
        <p:spPr>
          <a:xfrm>
            <a:off x="7178040" y="4742688"/>
            <a:ext cx="4434840" cy="548640"/>
          </a:xfrm>
          <a:prstGeom prst="rect">
            <a:avLst/>
          </a:prstGeom>
          <a:noFill/>
        </p:spPr>
        <p:txBody>
          <a:bodyPr wrap="square" lIns="0" rIns="0" tIns="0" bIns="0" anchor="t">
            <a:noAutofit/>
          </a:bodyPr>
          <a:lstStyle/>
          <a:p>
            <a:pPr algn="l">
              <a:lnSpc>
                <a:spcPct val="110000"/>
              </a:lnSpc>
            </a:pPr>
            <a:r>
              <a:rPr sz="1300" b="0" i="0">
                <a:solidFill>
                  <a:srgbClr val="0C1408"/>
                </a:solidFill>
                <a:latin typeface="Arial"/>
              </a:rPr>
              <a:t>of each instalment on circles of strangers, priced for a stress case.</a:t>
            </a:r>
          </a:p>
        </p:txBody>
      </p:sp>
      <p:sp>
        <p:nvSpPr>
          <p:cNvPr id="73" name="TextBox 72"/>
          <p:cNvSpPr txBox="1"/>
          <p:nvPr/>
        </p:nvSpPr>
        <p:spPr>
          <a:xfrm>
            <a:off x="7178040" y="5257800"/>
            <a:ext cx="4434840" cy="457200"/>
          </a:xfrm>
          <a:prstGeom prst="rect">
            <a:avLst/>
          </a:prstGeom>
          <a:noFill/>
        </p:spPr>
        <p:txBody>
          <a:bodyPr wrap="square" lIns="0" rIns="0" tIns="0" bIns="0" anchor="t">
            <a:noAutofit/>
          </a:bodyPr>
          <a:lstStyle/>
          <a:p>
            <a:pPr algn="l">
              <a:lnSpc>
                <a:spcPct val="110000"/>
              </a:lnSpc>
            </a:pPr>
            <a:r>
              <a:rPr sz="1200" b="0" i="0">
                <a:solidFill>
                  <a:srgbClr val="5B6456"/>
                </a:solidFill>
                <a:latin typeface="Arial"/>
              </a:rPr>
              <a:t>Known circles carry no cover.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9509760" cy="566928"/>
          </a:xfrm>
          <a:prstGeom prst="rect">
            <a:avLst/>
          </a:prstGeom>
          <a:noFill/>
        </p:spPr>
        <p:txBody>
          <a:bodyPr wrap="square" lIns="0" rIns="0" tIns="0" bIns="0" anchor="t">
            <a:noAutofit/>
          </a:bodyPr>
          <a:lstStyle/>
          <a:p>
            <a:pPr algn="l">
              <a:lnSpc>
                <a:spcPct val="110000"/>
              </a:lnSpc>
            </a:pPr>
            <a:r>
              <a:rPr sz="2800" b="0" i="0">
                <a:solidFill>
                  <a:srgbClr val="41801A"/>
                </a:solidFill>
                <a:latin typeface="Georgia"/>
              </a:rPr>
              <a:t>Fees and Revenue</a:t>
            </a:r>
          </a:p>
        </p:txBody>
      </p:sp>
      <p:sp>
        <p:nvSpPr>
          <p:cNvPr id="3" name="TextBox 2"/>
          <p:cNvSpPr txBox="1"/>
          <p:nvPr/>
        </p:nvSpPr>
        <p:spPr>
          <a:xfrm>
            <a:off x="566928" y="987552"/>
            <a:ext cx="11057839" cy="411480"/>
          </a:xfrm>
          <a:prstGeom prst="rect">
            <a:avLst/>
          </a:prstGeom>
          <a:noFill/>
        </p:spPr>
        <p:txBody>
          <a:bodyPr wrap="square" lIns="0" rIns="0" tIns="0" bIns="0" anchor="t">
            <a:noAutofit/>
          </a:bodyPr>
          <a:lstStyle/>
          <a:p>
            <a:pPr algn="l">
              <a:lnSpc>
                <a:spcPct val="110000"/>
              </a:lnSpc>
            </a:pPr>
            <a:r>
              <a:rPr sz="1800" b="0" i="0">
                <a:solidFill>
                  <a:srgbClr val="0C1408"/>
                </a:solidFill>
                <a:latin typeface="Arial"/>
              </a:rPr>
              <a:t>One flat fee per instalment, the same for every turn. Mashreq collects it and shares its income with Halqa.</a:t>
            </a:r>
          </a:p>
        </p:txBody>
      </p:sp>
      <p:pic>
        <p:nvPicPr>
          <p:cNvPr id="4" name="Picture 3" descr="halqa_logo.png"/>
          <p:cNvPicPr>
            <a:picLocks noChangeAspect="1"/>
          </p:cNvPicPr>
          <p:nvPr/>
        </p:nvPicPr>
        <p:blipFill>
          <a:blip r:embed="rId3"/>
          <a:stretch>
            <a:fillRect/>
          </a:stretch>
        </p:blipFill>
        <p:spPr>
          <a:xfrm>
            <a:off x="10600639" y="457200"/>
            <a:ext cx="1023202" cy="310896"/>
          </a:xfrm>
          <a:prstGeom prst="rect">
            <a:avLst/>
          </a:prstGeom>
        </p:spPr>
      </p:pic>
      <p:sp>
        <p:nvSpPr>
          <p:cNvPr id="5" name="TextBox 4"/>
          <p:cNvSpPr txBox="1"/>
          <p:nvPr/>
        </p:nvSpPr>
        <p:spPr>
          <a:xfrm>
            <a:off x="566928" y="6309360"/>
            <a:ext cx="10149840" cy="365760"/>
          </a:xfrm>
          <a:prstGeom prst="rect">
            <a:avLst/>
          </a:prstGeom>
          <a:noFill/>
        </p:spPr>
        <p:txBody>
          <a:bodyPr wrap="square" lIns="0" rIns="0" tIns="0" bIns="0" anchor="t">
            <a:noAutofit/>
          </a:bodyPr>
          <a:lstStyle/>
          <a:p>
            <a:pPr algn="l">
              <a:lnSpc>
                <a:spcPct val="100000"/>
              </a:lnSpc>
            </a:pPr>
            <a:r>
              <a:rPr sz="900" b="0" i="0">
                <a:solidFill>
                  <a:srgbClr val="5B6456"/>
                </a:solidFill>
                <a:latin typeface="Arial"/>
              </a:rPr>
              <a:t>Business Model and Unit Costs, 25 September 2026; cover pricing model, September 2026. The fee rises with the instalment and the number of members.</a:t>
            </a:r>
          </a:p>
        </p:txBody>
      </p:sp>
      <p:sp>
        <p:nvSpPr>
          <p:cNvPr id="6" name="TextBox 5"/>
          <p:cNvSpPr txBox="1"/>
          <p:nvPr/>
        </p:nvSpPr>
        <p:spPr>
          <a:xfrm>
            <a:off x="11076127" y="6355080"/>
            <a:ext cx="548640" cy="228600"/>
          </a:xfrm>
          <a:prstGeom prst="rect">
            <a:avLst/>
          </a:prstGeom>
          <a:noFill/>
        </p:spPr>
        <p:txBody>
          <a:bodyPr wrap="square" lIns="0" rIns="0" tIns="0" bIns="0" anchor="t">
            <a:noAutofit/>
          </a:bodyPr>
          <a:lstStyle/>
          <a:p>
            <a:pPr algn="r">
              <a:lnSpc>
                <a:spcPct val="110000"/>
              </a:lnSpc>
            </a:pPr>
            <a:r>
              <a:rPr sz="1000" b="0" i="0">
                <a:solidFill>
                  <a:srgbClr val="5B6456"/>
                </a:solidFill>
                <a:latin typeface="Arial"/>
              </a:rPr>
              <a:t>15</a:t>
            </a:r>
          </a:p>
        </p:txBody>
      </p:sp>
      <p:sp>
        <p:nvSpPr>
          <p:cNvPr id="7" name="TextBox 6"/>
          <p:cNvSpPr txBox="1"/>
          <p:nvPr/>
        </p:nvSpPr>
        <p:spPr>
          <a:xfrm>
            <a:off x="566928" y="1783080"/>
            <a:ext cx="6400800" cy="274320"/>
          </a:xfrm>
          <a:prstGeom prst="rect">
            <a:avLst/>
          </a:prstGeom>
          <a:noFill/>
        </p:spPr>
        <p:txBody>
          <a:bodyPr wrap="square" lIns="0" rIns="0" tIns="0" bIns="0" anchor="t">
            <a:noAutofit/>
          </a:bodyPr>
          <a:lstStyle/>
          <a:p>
            <a:pPr algn="l">
              <a:lnSpc>
                <a:spcPct val="110000"/>
              </a:lnSpc>
            </a:pPr>
            <a:r>
              <a:rPr sz="1300" b="1" i="0">
                <a:solidFill>
                  <a:srgbClr val="0C1408"/>
                </a:solidFill>
                <a:latin typeface="Arial"/>
              </a:rPr>
              <a:t>One instalment on a circle between strangers, Rs</a:t>
            </a:r>
          </a:p>
        </p:txBody>
      </p:sp>
      <p:sp>
        <p:nvSpPr>
          <p:cNvPr id="8" name="Rectangle 7"/>
          <p:cNvSpPr/>
          <p:nvPr/>
        </p:nvSpPr>
        <p:spPr>
          <a:xfrm>
            <a:off x="566928" y="2697480"/>
            <a:ext cx="5711378" cy="566928"/>
          </a:xfrm>
          <a:prstGeom prst="rect">
            <a:avLst/>
          </a:prstGeom>
          <a:solidFill>
            <a:srgbClr val="6DC72A"/>
          </a:solidFill>
          <a:ln>
            <a:noFill/>
          </a:ln>
        </p:spPr>
        <p:txBody>
          <a:bodyPr rtlCol="0" anchor="ctr" lIns="0" rIns="0"/>
          <a:lstStyle/>
          <a:p>
            <a:pPr algn="ctr"/>
          </a:p>
        </p:txBody>
      </p:sp>
      <p:sp>
        <p:nvSpPr>
          <p:cNvPr id="9" name="Rectangle 8"/>
          <p:cNvSpPr/>
          <p:nvPr/>
        </p:nvSpPr>
        <p:spPr>
          <a:xfrm>
            <a:off x="6278306" y="2697480"/>
            <a:ext cx="312412" cy="566928"/>
          </a:xfrm>
          <a:prstGeom prst="rect">
            <a:avLst/>
          </a:prstGeom>
          <a:solidFill>
            <a:srgbClr val="A9DE7F"/>
          </a:solidFill>
          <a:ln>
            <a:noFill/>
          </a:ln>
        </p:spPr>
        <p:txBody>
          <a:bodyPr rtlCol="0" anchor="ctr" lIns="0" rIns="0"/>
          <a:lstStyle/>
          <a:p>
            <a:pPr algn="ctr"/>
          </a:p>
        </p:txBody>
      </p:sp>
      <p:sp>
        <p:nvSpPr>
          <p:cNvPr id="10" name="Rectangle 9"/>
          <p:cNvSpPr/>
          <p:nvPr/>
        </p:nvSpPr>
        <p:spPr>
          <a:xfrm>
            <a:off x="6590719" y="2697480"/>
            <a:ext cx="285568" cy="566928"/>
          </a:xfrm>
          <a:prstGeom prst="rect">
            <a:avLst/>
          </a:prstGeom>
          <a:solidFill>
            <a:srgbClr val="E0602A"/>
          </a:solidFill>
          <a:ln>
            <a:noFill/>
          </a:ln>
        </p:spPr>
        <p:txBody>
          <a:bodyPr rtlCol="0" anchor="ctr" lIns="0" rIns="0"/>
          <a:lstStyle/>
          <a:p>
            <a:pPr algn="ctr"/>
          </a:p>
        </p:txBody>
      </p:sp>
      <p:sp>
        <p:nvSpPr>
          <p:cNvPr id="11" name="TextBox 10"/>
          <p:cNvSpPr txBox="1"/>
          <p:nvPr/>
        </p:nvSpPr>
        <p:spPr>
          <a:xfrm>
            <a:off x="566928" y="3337560"/>
            <a:ext cx="3291840" cy="548640"/>
          </a:xfrm>
          <a:prstGeom prst="rect">
            <a:avLst/>
          </a:prstGeom>
          <a:noFill/>
        </p:spPr>
        <p:txBody>
          <a:bodyPr wrap="square" lIns="0" rIns="0" tIns="0" bIns="0" anchor="t">
            <a:noAutofit/>
          </a:bodyPr>
          <a:lstStyle/>
          <a:p>
            <a:pPr algn="l">
              <a:lnSpc>
                <a:spcPct val="110000"/>
              </a:lnSpc>
            </a:pPr>
            <a:r>
              <a:rPr sz="1300" b="1" i="0">
                <a:solidFill>
                  <a:srgbClr val="0C1408"/>
                </a:solidFill>
                <a:latin typeface="Arial"/>
              </a:rPr>
              <a:t>Rs 10,000</a:t>
            </a:r>
            <a:r>
              <a:rPr sz="1300" b="0" i="0">
                <a:solidFill>
                  <a:srgbClr val="0C1408"/>
                </a:solidFill>
                <a:latin typeface="Arial"/>
              </a:rPr>
              <a:t> to the member collecting</a:t>
            </a:r>
          </a:p>
        </p:txBody>
      </p:sp>
      <p:cxnSp>
        <p:nvCxnSpPr>
          <p:cNvPr id="12" name="Connector 11"/>
          <p:cNvCxnSpPr/>
          <p:nvPr/>
        </p:nvCxnSpPr>
        <p:spPr>
          <a:xfrm flipV="1">
            <a:off x="6434512" y="2331720"/>
            <a:ext cx="0" cy="365760"/>
          </a:xfrm>
          <a:prstGeom prst="line">
            <a:avLst/>
          </a:prstGeom>
          <a:ln w="9525">
            <a:solidFill>
              <a:srgbClr val="5B6456"/>
            </a:solidFill>
          </a:ln>
        </p:spPr>
      </p:cxnSp>
      <p:sp>
        <p:nvSpPr>
          <p:cNvPr id="13" name="TextBox 12"/>
          <p:cNvSpPr txBox="1"/>
          <p:nvPr/>
        </p:nvSpPr>
        <p:spPr>
          <a:xfrm>
            <a:off x="3416992" y="2176272"/>
            <a:ext cx="2926080" cy="274320"/>
          </a:xfrm>
          <a:prstGeom prst="rect">
            <a:avLst/>
          </a:prstGeom>
          <a:noFill/>
        </p:spPr>
        <p:txBody>
          <a:bodyPr wrap="square" lIns="0" rIns="0" tIns="0" bIns="0" anchor="t">
            <a:noAutofit/>
          </a:bodyPr>
          <a:lstStyle/>
          <a:p>
            <a:pPr algn="r">
              <a:lnSpc>
                <a:spcPct val="110000"/>
              </a:lnSpc>
            </a:pPr>
            <a:r>
              <a:rPr sz="1200" b="1" i="0">
                <a:solidFill>
                  <a:srgbClr val="0C1408"/>
                </a:solidFill>
                <a:latin typeface="Arial"/>
              </a:rPr>
              <a:t>Rs 547</a:t>
            </a:r>
            <a:r>
              <a:rPr sz="1200" b="0" i="0">
                <a:solidFill>
                  <a:srgbClr val="0C1408"/>
                </a:solidFill>
                <a:latin typeface="Arial"/>
              </a:rPr>
              <a:t> cover</a:t>
            </a:r>
          </a:p>
        </p:txBody>
      </p:sp>
      <p:cxnSp>
        <p:nvCxnSpPr>
          <p:cNvPr id="14" name="Connector 13"/>
          <p:cNvCxnSpPr/>
          <p:nvPr/>
        </p:nvCxnSpPr>
        <p:spPr>
          <a:xfrm>
            <a:off x="6733503" y="3264408"/>
            <a:ext cx="0" cy="347472"/>
          </a:xfrm>
          <a:prstGeom prst="line">
            <a:avLst/>
          </a:prstGeom>
          <a:ln w="9525">
            <a:solidFill>
              <a:srgbClr val="5B6456"/>
            </a:solidFill>
          </a:ln>
        </p:spPr>
      </p:cxnSp>
      <p:sp>
        <p:nvSpPr>
          <p:cNvPr id="15" name="TextBox 14"/>
          <p:cNvSpPr txBox="1"/>
          <p:nvPr/>
        </p:nvSpPr>
        <p:spPr>
          <a:xfrm>
            <a:off x="3807423" y="3611880"/>
            <a:ext cx="3017520" cy="548640"/>
          </a:xfrm>
          <a:prstGeom prst="rect">
            <a:avLst/>
          </a:prstGeom>
          <a:noFill/>
        </p:spPr>
        <p:txBody>
          <a:bodyPr wrap="square" lIns="0" rIns="0" tIns="0" bIns="0" anchor="t">
            <a:noAutofit/>
          </a:bodyPr>
          <a:lstStyle/>
          <a:p>
            <a:pPr algn="r">
              <a:lnSpc>
                <a:spcPct val="110000"/>
              </a:lnSpc>
            </a:pPr>
            <a:r>
              <a:rPr sz="1200" b="1" i="0">
                <a:solidFill>
                  <a:srgbClr val="0C1408"/>
                </a:solidFill>
                <a:latin typeface="Arial"/>
              </a:rPr>
              <a:t>up to Rs 500</a:t>
            </a:r>
            <a:r>
              <a:rPr sz="1200" b="0" i="0">
                <a:solidFill>
                  <a:srgbClr val="0C1408"/>
                </a:solidFill>
                <a:latin typeface="Arial"/>
              </a:rPr>
              <a:t> fee, collected by Mashreq</a:t>
            </a:r>
          </a:p>
        </p:txBody>
      </p:sp>
      <p:sp>
        <p:nvSpPr>
          <p:cNvPr id="16" name="TextBox 15"/>
          <p:cNvSpPr txBox="1"/>
          <p:nvPr/>
        </p:nvSpPr>
        <p:spPr>
          <a:xfrm>
            <a:off x="6922008" y="2724912"/>
            <a:ext cx="914400" cy="502920"/>
          </a:xfrm>
          <a:prstGeom prst="rect">
            <a:avLst/>
          </a:prstGeom>
          <a:noFill/>
        </p:spPr>
        <p:txBody>
          <a:bodyPr wrap="square" lIns="0" rIns="0" tIns="0" bIns="0" anchor="ctr">
            <a:noAutofit/>
          </a:bodyPr>
          <a:lstStyle/>
          <a:p>
            <a:pPr algn="l">
              <a:lnSpc>
                <a:spcPct val="110000"/>
              </a:lnSpc>
            </a:pPr>
            <a:r>
              <a:rPr sz="1300" b="1" i="0">
                <a:solidFill>
                  <a:srgbClr val="0C1408"/>
                </a:solidFill>
                <a:latin typeface="Arial"/>
              </a:rPr>
              <a:t>Rs 11,047</a:t>
            </a:r>
          </a:p>
        </p:txBody>
      </p:sp>
      <p:sp>
        <p:nvSpPr>
          <p:cNvPr id="17" name="TextBox 16"/>
          <p:cNvSpPr txBox="1"/>
          <p:nvPr/>
        </p:nvSpPr>
        <p:spPr>
          <a:xfrm>
            <a:off x="566928" y="4334255"/>
            <a:ext cx="1261872" cy="457200"/>
          </a:xfrm>
          <a:prstGeom prst="rect">
            <a:avLst/>
          </a:prstGeom>
          <a:noFill/>
        </p:spPr>
        <p:txBody>
          <a:bodyPr wrap="square" lIns="0" rIns="0" tIns="0" bIns="0" anchor="ctr">
            <a:noAutofit/>
          </a:bodyPr>
          <a:lstStyle/>
          <a:p>
            <a:pPr algn="l">
              <a:lnSpc>
                <a:spcPct val="110000"/>
              </a:lnSpc>
            </a:pPr>
            <a:r>
              <a:rPr sz="1200" b="1" i="0">
                <a:solidFill>
                  <a:srgbClr val="0C1408"/>
                </a:solidFill>
                <a:latin typeface="Arial"/>
              </a:rPr>
              <a:t>Members</a:t>
            </a:r>
          </a:p>
        </p:txBody>
      </p:sp>
      <p:sp>
        <p:nvSpPr>
          <p:cNvPr id="18" name="TextBox 17"/>
          <p:cNvSpPr txBox="1"/>
          <p:nvPr/>
        </p:nvSpPr>
        <p:spPr>
          <a:xfrm>
            <a:off x="2011680" y="4334255"/>
            <a:ext cx="5010912" cy="457200"/>
          </a:xfrm>
          <a:prstGeom prst="rect">
            <a:avLst/>
          </a:prstGeom>
          <a:noFill/>
        </p:spPr>
        <p:txBody>
          <a:bodyPr wrap="square" lIns="0" rIns="0" tIns="0" bIns="0" anchor="ctr">
            <a:noAutofit/>
          </a:bodyPr>
          <a:lstStyle/>
          <a:p>
            <a:pPr algn="l">
              <a:lnSpc>
                <a:spcPct val="110000"/>
              </a:lnSpc>
            </a:pPr>
            <a:r>
              <a:rPr sz="1200" b="0" i="0">
                <a:solidFill>
                  <a:srgbClr val="0C1408"/>
                </a:solidFill>
                <a:latin typeface="Arial"/>
              </a:rPr>
              <a:t>Profit on balances, as points</a:t>
            </a:r>
          </a:p>
        </p:txBody>
      </p:sp>
      <p:cxnSp>
        <p:nvCxnSpPr>
          <p:cNvPr id="19" name="Connector 18"/>
          <p:cNvCxnSpPr/>
          <p:nvPr/>
        </p:nvCxnSpPr>
        <p:spPr>
          <a:xfrm>
            <a:off x="566928" y="4791455"/>
            <a:ext cx="6492240" cy="0"/>
          </a:xfrm>
          <a:prstGeom prst="line">
            <a:avLst/>
          </a:prstGeom>
          <a:ln w="9525">
            <a:solidFill>
              <a:srgbClr val="D5DCD1"/>
            </a:solidFill>
          </a:ln>
        </p:spPr>
      </p:cxnSp>
      <p:sp>
        <p:nvSpPr>
          <p:cNvPr id="20" name="TextBox 19"/>
          <p:cNvSpPr txBox="1"/>
          <p:nvPr/>
        </p:nvSpPr>
        <p:spPr>
          <a:xfrm>
            <a:off x="566928" y="4791455"/>
            <a:ext cx="1261872" cy="457200"/>
          </a:xfrm>
          <a:prstGeom prst="rect">
            <a:avLst/>
          </a:prstGeom>
          <a:noFill/>
        </p:spPr>
        <p:txBody>
          <a:bodyPr wrap="square" lIns="0" rIns="0" tIns="0" bIns="0" anchor="ctr">
            <a:noAutofit/>
          </a:bodyPr>
          <a:lstStyle/>
          <a:p>
            <a:pPr algn="l">
              <a:lnSpc>
                <a:spcPct val="110000"/>
              </a:lnSpc>
            </a:pPr>
            <a:r>
              <a:rPr sz="1200" b="1" i="0">
                <a:solidFill>
                  <a:srgbClr val="0C1408"/>
                </a:solidFill>
                <a:latin typeface="Arial"/>
              </a:rPr>
              <a:t>Mashreq</a:t>
            </a:r>
          </a:p>
        </p:txBody>
      </p:sp>
      <p:sp>
        <p:nvSpPr>
          <p:cNvPr id="21" name="TextBox 20"/>
          <p:cNvSpPr txBox="1"/>
          <p:nvPr/>
        </p:nvSpPr>
        <p:spPr>
          <a:xfrm>
            <a:off x="2011680" y="4791455"/>
            <a:ext cx="5010912" cy="457200"/>
          </a:xfrm>
          <a:prstGeom prst="rect">
            <a:avLst/>
          </a:prstGeom>
          <a:noFill/>
        </p:spPr>
        <p:txBody>
          <a:bodyPr wrap="square" lIns="0" rIns="0" tIns="0" bIns="0" anchor="ctr">
            <a:noAutofit/>
          </a:bodyPr>
          <a:lstStyle/>
          <a:p>
            <a:pPr algn="l">
              <a:lnSpc>
                <a:spcPct val="110000"/>
              </a:lnSpc>
            </a:pPr>
            <a:r>
              <a:rPr sz="1200" b="0" i="0">
                <a:solidFill>
                  <a:srgbClr val="0C1408"/>
                </a:solidFill>
                <a:latin typeface="Arial"/>
              </a:rPr>
              <a:t>The fee, margin on balances, cover, financing</a:t>
            </a:r>
          </a:p>
        </p:txBody>
      </p:sp>
      <p:cxnSp>
        <p:nvCxnSpPr>
          <p:cNvPr id="22" name="Connector 21"/>
          <p:cNvCxnSpPr/>
          <p:nvPr/>
        </p:nvCxnSpPr>
        <p:spPr>
          <a:xfrm>
            <a:off x="566928" y="5248655"/>
            <a:ext cx="6492240" cy="0"/>
          </a:xfrm>
          <a:prstGeom prst="line">
            <a:avLst/>
          </a:prstGeom>
          <a:ln w="9525">
            <a:solidFill>
              <a:srgbClr val="D5DCD1"/>
            </a:solidFill>
          </a:ln>
        </p:spPr>
      </p:cxnSp>
      <p:sp>
        <p:nvSpPr>
          <p:cNvPr id="23" name="TextBox 22"/>
          <p:cNvSpPr txBox="1"/>
          <p:nvPr/>
        </p:nvSpPr>
        <p:spPr>
          <a:xfrm>
            <a:off x="566928" y="5248655"/>
            <a:ext cx="1261872" cy="457200"/>
          </a:xfrm>
          <a:prstGeom prst="rect">
            <a:avLst/>
          </a:prstGeom>
          <a:noFill/>
        </p:spPr>
        <p:txBody>
          <a:bodyPr wrap="square" lIns="0" rIns="0" tIns="0" bIns="0" anchor="ctr">
            <a:noAutofit/>
          </a:bodyPr>
          <a:lstStyle/>
          <a:p>
            <a:pPr algn="l">
              <a:lnSpc>
                <a:spcPct val="110000"/>
              </a:lnSpc>
            </a:pPr>
            <a:r>
              <a:rPr sz="1200" b="1" i="0">
                <a:solidFill>
                  <a:srgbClr val="0C1408"/>
                </a:solidFill>
                <a:latin typeface="Arial"/>
              </a:rPr>
              <a:t>Halqa</a:t>
            </a:r>
          </a:p>
        </p:txBody>
      </p:sp>
      <p:sp>
        <p:nvSpPr>
          <p:cNvPr id="24" name="TextBox 23"/>
          <p:cNvSpPr txBox="1"/>
          <p:nvPr/>
        </p:nvSpPr>
        <p:spPr>
          <a:xfrm>
            <a:off x="2011680" y="5248655"/>
            <a:ext cx="5010912" cy="457200"/>
          </a:xfrm>
          <a:prstGeom prst="rect">
            <a:avLst/>
          </a:prstGeom>
          <a:noFill/>
        </p:spPr>
        <p:txBody>
          <a:bodyPr wrap="square" lIns="0" rIns="0" tIns="0" bIns="0" anchor="ctr">
            <a:noAutofit/>
          </a:bodyPr>
          <a:lstStyle/>
          <a:p>
            <a:pPr algn="l">
              <a:lnSpc>
                <a:spcPct val="110000"/>
              </a:lnSpc>
            </a:pPr>
            <a:r>
              <a:rPr sz="1200" b="0" i="0">
                <a:solidFill>
                  <a:srgbClr val="0C1408"/>
                </a:solidFill>
                <a:latin typeface="Arial"/>
              </a:rPr>
              <a:t>An agreed share of Mashreq's income</a:t>
            </a:r>
          </a:p>
        </p:txBody>
      </p:sp>
      <p:cxnSp>
        <p:nvCxnSpPr>
          <p:cNvPr id="25" name="Connector 24"/>
          <p:cNvCxnSpPr/>
          <p:nvPr/>
        </p:nvCxnSpPr>
        <p:spPr>
          <a:xfrm>
            <a:off x="566928" y="5705855"/>
            <a:ext cx="6492240" cy="0"/>
          </a:xfrm>
          <a:prstGeom prst="line">
            <a:avLst/>
          </a:prstGeom>
          <a:ln w="9525">
            <a:solidFill>
              <a:srgbClr val="D5DCD1"/>
            </a:solidFill>
          </a:ln>
        </p:spPr>
      </p:cxnSp>
      <p:cxnSp>
        <p:nvCxnSpPr>
          <p:cNvPr id="26" name="Connector 25"/>
          <p:cNvCxnSpPr/>
          <p:nvPr/>
        </p:nvCxnSpPr>
        <p:spPr>
          <a:xfrm>
            <a:off x="7863840" y="1828800"/>
            <a:ext cx="0" cy="4114800"/>
          </a:xfrm>
          <a:prstGeom prst="line">
            <a:avLst/>
          </a:prstGeom>
          <a:ln w="9525">
            <a:solidFill>
              <a:srgbClr val="D5DCD1"/>
            </a:solidFill>
          </a:ln>
        </p:spPr>
      </p:cxnSp>
      <p:sp>
        <p:nvSpPr>
          <p:cNvPr id="27" name="TextBox 26"/>
          <p:cNvSpPr txBox="1"/>
          <p:nvPr/>
        </p:nvSpPr>
        <p:spPr>
          <a:xfrm>
            <a:off x="8183879" y="1828800"/>
            <a:ext cx="3383280" cy="487680"/>
          </a:xfrm>
          <a:prstGeom prst="rect">
            <a:avLst/>
          </a:prstGeom>
          <a:noFill/>
        </p:spPr>
        <p:txBody>
          <a:bodyPr wrap="square" lIns="0" rIns="0" tIns="0" bIns="0" anchor="t">
            <a:noAutofit/>
          </a:bodyPr>
          <a:lstStyle/>
          <a:p>
            <a:pPr algn="l">
              <a:lnSpc>
                <a:spcPct val="110000"/>
              </a:lnSpc>
            </a:pPr>
            <a:r>
              <a:rPr sz="2600" b="0" i="0">
                <a:solidFill>
                  <a:srgbClr val="41801A"/>
                </a:solidFill>
                <a:latin typeface="Georgia"/>
              </a:rPr>
              <a:t>Rs 13 to 35</a:t>
            </a:r>
          </a:p>
        </p:txBody>
      </p:sp>
      <p:sp>
        <p:nvSpPr>
          <p:cNvPr id="28" name="TextBox 27"/>
          <p:cNvSpPr txBox="1"/>
          <p:nvPr/>
        </p:nvSpPr>
        <p:spPr>
          <a:xfrm>
            <a:off x="8183879" y="2334768"/>
            <a:ext cx="3383280" cy="548640"/>
          </a:xfrm>
          <a:prstGeom prst="rect">
            <a:avLst/>
          </a:prstGeom>
          <a:noFill/>
        </p:spPr>
        <p:txBody>
          <a:bodyPr wrap="square" lIns="0" rIns="0" tIns="0" bIns="0" anchor="t">
            <a:noAutofit/>
          </a:bodyPr>
          <a:lstStyle/>
          <a:p>
            <a:pPr algn="l">
              <a:lnSpc>
                <a:spcPct val="110000"/>
              </a:lnSpc>
            </a:pPr>
            <a:r>
              <a:rPr sz="1300" b="0" i="0">
                <a:solidFill>
                  <a:srgbClr val="0C1408"/>
                </a:solidFill>
                <a:latin typeface="Arial"/>
              </a:rPr>
              <a:t>running cost of one payment</a:t>
            </a:r>
          </a:p>
        </p:txBody>
      </p:sp>
      <p:sp>
        <p:nvSpPr>
          <p:cNvPr id="29" name="TextBox 28"/>
          <p:cNvSpPr txBox="1"/>
          <p:nvPr/>
        </p:nvSpPr>
        <p:spPr>
          <a:xfrm>
            <a:off x="8183879" y="2926080"/>
            <a:ext cx="3383280" cy="487680"/>
          </a:xfrm>
          <a:prstGeom prst="rect">
            <a:avLst/>
          </a:prstGeom>
          <a:noFill/>
        </p:spPr>
        <p:txBody>
          <a:bodyPr wrap="square" lIns="0" rIns="0" tIns="0" bIns="0" anchor="t">
            <a:noAutofit/>
          </a:bodyPr>
          <a:lstStyle/>
          <a:p>
            <a:pPr algn="l">
              <a:lnSpc>
                <a:spcPct val="110000"/>
              </a:lnSpc>
            </a:pPr>
            <a:r>
              <a:rPr sz="2600" b="0" i="0">
                <a:solidFill>
                  <a:srgbClr val="41801A"/>
                </a:solidFill>
                <a:latin typeface="Georgia"/>
              </a:rPr>
              <a:t>Rs 1.32 million</a:t>
            </a:r>
          </a:p>
        </p:txBody>
      </p:sp>
      <p:sp>
        <p:nvSpPr>
          <p:cNvPr id="30" name="TextBox 29"/>
          <p:cNvSpPr txBox="1"/>
          <p:nvPr/>
        </p:nvSpPr>
        <p:spPr>
          <a:xfrm>
            <a:off x="8183879" y="3432048"/>
            <a:ext cx="3383280" cy="548640"/>
          </a:xfrm>
          <a:prstGeom prst="rect">
            <a:avLst/>
          </a:prstGeom>
          <a:noFill/>
        </p:spPr>
        <p:txBody>
          <a:bodyPr wrap="square" lIns="0" rIns="0" tIns="0" bIns="0" anchor="t">
            <a:noAutofit/>
          </a:bodyPr>
          <a:lstStyle/>
          <a:p>
            <a:pPr algn="l">
              <a:lnSpc>
                <a:spcPct val="110000"/>
              </a:lnSpc>
            </a:pPr>
            <a:r>
              <a:rPr sz="1300" b="0" i="0">
                <a:solidFill>
                  <a:srgbClr val="0C1408"/>
                </a:solidFill>
                <a:latin typeface="Arial"/>
              </a:rPr>
              <a:t>fixed cost a month at launch</a:t>
            </a:r>
          </a:p>
        </p:txBody>
      </p:sp>
      <p:sp>
        <p:nvSpPr>
          <p:cNvPr id="31" name="TextBox 30"/>
          <p:cNvSpPr txBox="1"/>
          <p:nvPr/>
        </p:nvSpPr>
        <p:spPr>
          <a:xfrm>
            <a:off x="8183879" y="4023360"/>
            <a:ext cx="3383280" cy="487680"/>
          </a:xfrm>
          <a:prstGeom prst="rect">
            <a:avLst/>
          </a:prstGeom>
          <a:noFill/>
        </p:spPr>
        <p:txBody>
          <a:bodyPr wrap="square" lIns="0" rIns="0" tIns="0" bIns="0" anchor="t">
            <a:noAutofit/>
          </a:bodyPr>
          <a:lstStyle/>
          <a:p>
            <a:pPr algn="l">
              <a:lnSpc>
                <a:spcPct val="110000"/>
              </a:lnSpc>
            </a:pPr>
            <a:r>
              <a:rPr sz="2600" b="0" i="0">
                <a:solidFill>
                  <a:srgbClr val="41801A"/>
                </a:solidFill>
                <a:latin typeface="Georgia"/>
              </a:rPr>
              <a:t>About 2,600</a:t>
            </a:r>
          </a:p>
        </p:txBody>
      </p:sp>
      <p:sp>
        <p:nvSpPr>
          <p:cNvPr id="32" name="TextBox 31"/>
          <p:cNvSpPr txBox="1"/>
          <p:nvPr/>
        </p:nvSpPr>
        <p:spPr>
          <a:xfrm>
            <a:off x="8183879" y="4529328"/>
            <a:ext cx="3383280" cy="548640"/>
          </a:xfrm>
          <a:prstGeom prst="rect">
            <a:avLst/>
          </a:prstGeom>
          <a:noFill/>
        </p:spPr>
        <p:txBody>
          <a:bodyPr wrap="square" lIns="0" rIns="0" tIns="0" bIns="0" anchor="t">
            <a:noAutofit/>
          </a:bodyPr>
          <a:lstStyle/>
          <a:p>
            <a:pPr algn="l">
              <a:lnSpc>
                <a:spcPct val="110000"/>
              </a:lnSpc>
            </a:pPr>
            <a:r>
              <a:rPr sz="1300" b="0" i="0">
                <a:solidFill>
                  <a:srgbClr val="0C1408"/>
                </a:solidFill>
                <a:latin typeface="Arial"/>
              </a:rPr>
              <a:t>active members to cover fixed costs</a:t>
            </a:r>
          </a:p>
        </p:txBody>
      </p:sp>
      <p:sp>
        <p:nvSpPr>
          <p:cNvPr id="33" name="TextBox 32"/>
          <p:cNvSpPr txBox="1"/>
          <p:nvPr/>
        </p:nvSpPr>
        <p:spPr>
          <a:xfrm>
            <a:off x="8183879" y="5166360"/>
            <a:ext cx="3429000" cy="731520"/>
          </a:xfrm>
          <a:prstGeom prst="rect">
            <a:avLst/>
          </a:prstGeom>
          <a:noFill/>
        </p:spPr>
        <p:txBody>
          <a:bodyPr wrap="square" lIns="0" rIns="0" tIns="0" bIns="0" anchor="t">
            <a:noAutofit/>
          </a:bodyPr>
          <a:lstStyle/>
          <a:p>
            <a:pPr algn="l">
              <a:lnSpc>
                <a:spcPct val="100000"/>
              </a:lnSpc>
            </a:pPr>
            <a:r>
              <a:rPr sz="1100" b="0" i="0">
                <a:solidFill>
                  <a:srgbClr val="5B6456"/>
                </a:solidFill>
                <a:latin typeface="Arial"/>
              </a:rPr>
              <a:t>Halqa's 25 September model, before Mashreq's terms.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9509760" cy="566928"/>
          </a:xfrm>
          <a:prstGeom prst="rect">
            <a:avLst/>
          </a:prstGeom>
          <a:noFill/>
        </p:spPr>
        <p:txBody>
          <a:bodyPr wrap="square" lIns="0" rIns="0" tIns="0" bIns="0" anchor="t">
            <a:noAutofit/>
          </a:bodyPr>
          <a:lstStyle/>
          <a:p>
            <a:pPr algn="l">
              <a:lnSpc>
                <a:spcPct val="110000"/>
              </a:lnSpc>
            </a:pPr>
            <a:r>
              <a:rPr sz="2800" b="0" i="0">
                <a:solidFill>
                  <a:srgbClr val="41801A"/>
                </a:solidFill>
                <a:latin typeface="Georgia"/>
              </a:rPr>
              <a:t>Competition</a:t>
            </a:r>
          </a:p>
        </p:txBody>
      </p:sp>
      <p:sp>
        <p:nvSpPr>
          <p:cNvPr id="3" name="TextBox 2"/>
          <p:cNvSpPr txBox="1"/>
          <p:nvPr/>
        </p:nvSpPr>
        <p:spPr>
          <a:xfrm>
            <a:off x="566928" y="987552"/>
            <a:ext cx="11057839" cy="411480"/>
          </a:xfrm>
          <a:prstGeom prst="rect">
            <a:avLst/>
          </a:prstGeom>
          <a:noFill/>
        </p:spPr>
        <p:txBody>
          <a:bodyPr wrap="square" lIns="0" rIns="0" tIns="0" bIns="0" anchor="t">
            <a:noAutofit/>
          </a:bodyPr>
          <a:lstStyle/>
          <a:p>
            <a:pPr algn="l">
              <a:lnSpc>
                <a:spcPct val="110000"/>
              </a:lnSpc>
            </a:pPr>
            <a:r>
              <a:rPr sz="1800" b="0" i="0">
                <a:solidFill>
                  <a:srgbClr val="0C1408"/>
                </a:solidFill>
                <a:latin typeface="Arial"/>
              </a:rPr>
              <a:t>Only Halqa with Mashreq has a bank holding the money, one price for every turn and a credit record.</a:t>
            </a:r>
          </a:p>
        </p:txBody>
      </p:sp>
      <p:pic>
        <p:nvPicPr>
          <p:cNvPr id="4" name="Picture 3" descr="halqa_logo.png"/>
          <p:cNvPicPr>
            <a:picLocks noChangeAspect="1"/>
          </p:cNvPicPr>
          <p:nvPr/>
        </p:nvPicPr>
        <p:blipFill>
          <a:blip r:embed="rId3"/>
          <a:stretch>
            <a:fillRect/>
          </a:stretch>
        </p:blipFill>
        <p:spPr>
          <a:xfrm>
            <a:off x="10600639" y="457200"/>
            <a:ext cx="1023202" cy="310896"/>
          </a:xfrm>
          <a:prstGeom prst="rect">
            <a:avLst/>
          </a:prstGeom>
        </p:spPr>
      </p:pic>
      <p:sp>
        <p:nvSpPr>
          <p:cNvPr id="5" name="TextBox 4"/>
          <p:cNvSpPr txBox="1"/>
          <p:nvPr/>
        </p:nvSpPr>
        <p:spPr>
          <a:xfrm>
            <a:off x="566928" y="6309360"/>
            <a:ext cx="10149840" cy="365760"/>
          </a:xfrm>
          <a:prstGeom prst="rect">
            <a:avLst/>
          </a:prstGeom>
          <a:noFill/>
        </p:spPr>
        <p:txBody>
          <a:bodyPr wrap="square" lIns="0" rIns="0" tIns="0" bIns="0" anchor="t">
            <a:noAutofit/>
          </a:bodyPr>
          <a:lstStyle/>
          <a:p>
            <a:pPr algn="l">
              <a:lnSpc>
                <a:spcPct val="100000"/>
              </a:lnSpc>
            </a:pPr>
            <a:r>
              <a:rPr sz="900" b="0" i="0">
                <a:solidFill>
                  <a:srgbClr val="5B6456"/>
                </a:solidFill>
                <a:latin typeface="Arial"/>
              </a:rPr>
              <a:t>Sources   1  Oraan terms and fee calculator, read 28 September 2026   2  JazzCash application 5.6.7 release note, 23 August 2026   3  Financial Inclusion Insights</a:t>
            </a:r>
          </a:p>
        </p:txBody>
      </p:sp>
      <p:sp>
        <p:nvSpPr>
          <p:cNvPr id="6" name="TextBox 5"/>
          <p:cNvSpPr txBox="1"/>
          <p:nvPr/>
        </p:nvSpPr>
        <p:spPr>
          <a:xfrm>
            <a:off x="11076127" y="6355080"/>
            <a:ext cx="548640" cy="228600"/>
          </a:xfrm>
          <a:prstGeom prst="rect">
            <a:avLst/>
          </a:prstGeom>
          <a:noFill/>
        </p:spPr>
        <p:txBody>
          <a:bodyPr wrap="square" lIns="0" rIns="0" tIns="0" bIns="0" anchor="t">
            <a:noAutofit/>
          </a:bodyPr>
          <a:lstStyle/>
          <a:p>
            <a:pPr algn="r">
              <a:lnSpc>
                <a:spcPct val="110000"/>
              </a:lnSpc>
            </a:pPr>
            <a:r>
              <a:rPr sz="1000" b="0" i="0">
                <a:solidFill>
                  <a:srgbClr val="5B6456"/>
                </a:solidFill>
                <a:latin typeface="Arial"/>
              </a:rPr>
              <a:t>16</a:t>
            </a:r>
          </a:p>
        </p:txBody>
      </p:sp>
      <p:sp>
        <p:nvSpPr>
          <p:cNvPr id="7" name="Rectangle 6"/>
          <p:cNvSpPr/>
          <p:nvPr/>
        </p:nvSpPr>
        <p:spPr>
          <a:xfrm>
            <a:off x="2624328" y="1700784"/>
            <a:ext cx="2331720" cy="3877056"/>
          </a:xfrm>
          <a:prstGeom prst="rect">
            <a:avLst/>
          </a:prstGeom>
          <a:solidFill>
            <a:srgbClr val="F3FCE7"/>
          </a:solidFill>
          <a:ln>
            <a:noFill/>
          </a:ln>
        </p:spPr>
        <p:txBody>
          <a:bodyPr rtlCol="0" anchor="ctr" lIns="0" rIns="0"/>
          <a:lstStyle/>
          <a:p>
            <a:pPr algn="ctr"/>
          </a:p>
        </p:txBody>
      </p:sp>
      <p:sp>
        <p:nvSpPr>
          <p:cNvPr id="8" name="TextBox 7"/>
          <p:cNvSpPr txBox="1"/>
          <p:nvPr/>
        </p:nvSpPr>
        <p:spPr>
          <a:xfrm>
            <a:off x="566928" y="1737360"/>
            <a:ext cx="1984248" cy="475488"/>
          </a:xfrm>
          <a:prstGeom prst="rect">
            <a:avLst/>
          </a:prstGeom>
          <a:noFill/>
        </p:spPr>
        <p:txBody>
          <a:bodyPr wrap="square" lIns="0" rIns="0" tIns="0" bIns="0" anchor="b">
            <a:noAutofit/>
          </a:bodyPr>
          <a:lstStyle/>
          <a:p>
            <a:pPr algn="l">
              <a:lnSpc>
                <a:spcPct val="110000"/>
              </a:lnSpc>
            </a:pPr>
          </a:p>
        </p:txBody>
      </p:sp>
      <p:sp>
        <p:nvSpPr>
          <p:cNvPr id="9" name="TextBox 8"/>
          <p:cNvSpPr txBox="1"/>
          <p:nvPr/>
        </p:nvSpPr>
        <p:spPr>
          <a:xfrm>
            <a:off x="2697480" y="1737360"/>
            <a:ext cx="2258568" cy="475488"/>
          </a:xfrm>
          <a:prstGeom prst="rect">
            <a:avLst/>
          </a:prstGeom>
          <a:noFill/>
        </p:spPr>
        <p:txBody>
          <a:bodyPr wrap="square" lIns="0" rIns="0" tIns="0" bIns="0" anchor="b">
            <a:noAutofit/>
          </a:bodyPr>
          <a:lstStyle/>
          <a:p>
            <a:pPr algn="l">
              <a:lnSpc>
                <a:spcPct val="110000"/>
              </a:lnSpc>
            </a:pPr>
            <a:r>
              <a:rPr sz="1300" b="1" i="0">
                <a:solidFill>
                  <a:srgbClr val="41801A"/>
                </a:solidFill>
                <a:latin typeface="Arial"/>
              </a:rPr>
              <a:t>Halqa with Mashreq</a:t>
            </a:r>
          </a:p>
        </p:txBody>
      </p:sp>
      <p:sp>
        <p:nvSpPr>
          <p:cNvPr id="10" name="TextBox 9"/>
          <p:cNvSpPr txBox="1"/>
          <p:nvPr/>
        </p:nvSpPr>
        <p:spPr>
          <a:xfrm>
            <a:off x="5029200" y="1737360"/>
            <a:ext cx="2167128" cy="475488"/>
          </a:xfrm>
          <a:prstGeom prst="rect">
            <a:avLst/>
          </a:prstGeom>
          <a:noFill/>
        </p:spPr>
        <p:txBody>
          <a:bodyPr wrap="square" lIns="0" rIns="0" tIns="0" bIns="0" anchor="b">
            <a:noAutofit/>
          </a:bodyPr>
          <a:lstStyle/>
          <a:p>
            <a:pPr algn="l">
              <a:lnSpc>
                <a:spcPct val="110000"/>
              </a:lnSpc>
            </a:pPr>
            <a:r>
              <a:rPr sz="1300" b="1" i="0">
                <a:solidFill>
                  <a:srgbClr val="41801A"/>
                </a:solidFill>
                <a:latin typeface="Arial"/>
              </a:rPr>
              <a:t>JazzCash Committee</a:t>
            </a:r>
          </a:p>
        </p:txBody>
      </p:sp>
      <p:sp>
        <p:nvSpPr>
          <p:cNvPr id="11" name="TextBox 10"/>
          <p:cNvSpPr txBox="1"/>
          <p:nvPr/>
        </p:nvSpPr>
        <p:spPr>
          <a:xfrm>
            <a:off x="7269480" y="1737360"/>
            <a:ext cx="2167128" cy="475488"/>
          </a:xfrm>
          <a:prstGeom prst="rect">
            <a:avLst/>
          </a:prstGeom>
          <a:noFill/>
        </p:spPr>
        <p:txBody>
          <a:bodyPr wrap="square" lIns="0" rIns="0" tIns="0" bIns="0" anchor="b">
            <a:noAutofit/>
          </a:bodyPr>
          <a:lstStyle/>
          <a:p>
            <a:pPr algn="l">
              <a:lnSpc>
                <a:spcPct val="110000"/>
              </a:lnSpc>
            </a:pPr>
            <a:r>
              <a:rPr sz="1300" b="1" i="0">
                <a:solidFill>
                  <a:srgbClr val="41801A"/>
                </a:solidFill>
                <a:latin typeface="Arial"/>
              </a:rPr>
              <a:t>Oraan</a:t>
            </a:r>
          </a:p>
        </p:txBody>
      </p:sp>
      <p:sp>
        <p:nvSpPr>
          <p:cNvPr id="12" name="TextBox 11"/>
          <p:cNvSpPr txBox="1"/>
          <p:nvPr/>
        </p:nvSpPr>
        <p:spPr>
          <a:xfrm>
            <a:off x="9509760" y="1737360"/>
            <a:ext cx="2112264" cy="475488"/>
          </a:xfrm>
          <a:prstGeom prst="rect">
            <a:avLst/>
          </a:prstGeom>
          <a:noFill/>
        </p:spPr>
        <p:txBody>
          <a:bodyPr wrap="square" lIns="0" rIns="0" tIns="0" bIns="0" anchor="b">
            <a:noAutofit/>
          </a:bodyPr>
          <a:lstStyle/>
          <a:p>
            <a:pPr algn="l">
              <a:lnSpc>
                <a:spcPct val="110000"/>
              </a:lnSpc>
            </a:pPr>
            <a:r>
              <a:rPr sz="1300" b="1" i="0">
                <a:solidFill>
                  <a:srgbClr val="41801A"/>
                </a:solidFill>
                <a:latin typeface="Arial"/>
              </a:rPr>
              <a:t>Informal committee</a:t>
            </a:r>
          </a:p>
        </p:txBody>
      </p:sp>
      <p:cxnSp>
        <p:nvCxnSpPr>
          <p:cNvPr id="13" name="Connector 12"/>
          <p:cNvCxnSpPr/>
          <p:nvPr/>
        </p:nvCxnSpPr>
        <p:spPr>
          <a:xfrm>
            <a:off x="566928" y="2249424"/>
            <a:ext cx="11055096" cy="0"/>
          </a:xfrm>
          <a:prstGeom prst="line">
            <a:avLst/>
          </a:prstGeom>
          <a:ln w="12700">
            <a:solidFill>
              <a:srgbClr val="0C1408"/>
            </a:solidFill>
          </a:ln>
        </p:spPr>
      </p:cxnSp>
      <p:sp>
        <p:nvSpPr>
          <p:cNvPr id="14" name="TextBox 13"/>
          <p:cNvSpPr txBox="1"/>
          <p:nvPr/>
        </p:nvSpPr>
        <p:spPr>
          <a:xfrm>
            <a:off x="566928" y="2231136"/>
            <a:ext cx="1947672" cy="475488"/>
          </a:xfrm>
          <a:prstGeom prst="rect">
            <a:avLst/>
          </a:prstGeom>
          <a:noFill/>
        </p:spPr>
        <p:txBody>
          <a:bodyPr wrap="square" lIns="0" rIns="0" tIns="0" bIns="0" anchor="ctr">
            <a:noAutofit/>
          </a:bodyPr>
          <a:lstStyle/>
          <a:p>
            <a:pPr algn="l">
              <a:lnSpc>
                <a:spcPct val="110000"/>
              </a:lnSpc>
            </a:pPr>
            <a:r>
              <a:rPr sz="1200" b="1" i="0">
                <a:solidFill>
                  <a:srgbClr val="0C1408"/>
                </a:solidFill>
                <a:latin typeface="Arial"/>
              </a:rPr>
              <a:t>Who holds the money</a:t>
            </a:r>
          </a:p>
        </p:txBody>
      </p:sp>
      <p:sp>
        <p:nvSpPr>
          <p:cNvPr id="15" name="Oval 14"/>
          <p:cNvSpPr/>
          <p:nvPr/>
        </p:nvSpPr>
        <p:spPr>
          <a:xfrm>
            <a:off x="2702052" y="2382011"/>
            <a:ext cx="173736" cy="173736"/>
          </a:xfrm>
          <a:prstGeom prst="ellipse">
            <a:avLst/>
          </a:prstGeom>
          <a:solidFill>
            <a:srgbClr val="FFFFFF"/>
          </a:solidFill>
          <a:ln w="15875">
            <a:solidFill>
              <a:srgbClr val="41801A"/>
            </a:solidFill>
          </a:ln>
        </p:spPr>
        <p:txBody>
          <a:bodyPr rtlCol="0" anchor="ctr" lIns="0" rIns="0"/>
          <a:lstStyle/>
          <a:p>
            <a:pPr algn="ctr"/>
          </a:p>
        </p:txBody>
      </p:sp>
      <p:sp>
        <p:nvSpPr>
          <p:cNvPr id="16" name="Oval 15"/>
          <p:cNvSpPr/>
          <p:nvPr/>
        </p:nvSpPr>
        <p:spPr>
          <a:xfrm>
            <a:off x="2702052" y="2382011"/>
            <a:ext cx="173736" cy="173736"/>
          </a:xfrm>
          <a:prstGeom prst="ellipse">
            <a:avLst/>
          </a:prstGeom>
          <a:solidFill>
            <a:srgbClr val="41801A"/>
          </a:solidFill>
          <a:ln w="15875">
            <a:solidFill>
              <a:srgbClr val="41801A"/>
            </a:solidFill>
          </a:ln>
        </p:spPr>
        <p:txBody>
          <a:bodyPr rtlCol="0" anchor="ctr" lIns="0" rIns="0"/>
          <a:lstStyle/>
          <a:p>
            <a:pPr algn="ctr"/>
          </a:p>
        </p:txBody>
      </p:sp>
      <p:sp>
        <p:nvSpPr>
          <p:cNvPr id="17" name="TextBox 16"/>
          <p:cNvSpPr txBox="1"/>
          <p:nvPr/>
        </p:nvSpPr>
        <p:spPr>
          <a:xfrm>
            <a:off x="2953512" y="2231136"/>
            <a:ext cx="2002536" cy="475488"/>
          </a:xfrm>
          <a:prstGeom prst="rect">
            <a:avLst/>
          </a:prstGeom>
          <a:noFill/>
        </p:spPr>
        <p:txBody>
          <a:bodyPr wrap="square" lIns="0" rIns="0" tIns="0" bIns="0" anchor="ctr">
            <a:noAutofit/>
          </a:bodyPr>
          <a:lstStyle/>
          <a:p>
            <a:pPr algn="l">
              <a:lnSpc>
                <a:spcPct val="110000"/>
              </a:lnSpc>
            </a:pPr>
            <a:r>
              <a:rPr sz="1100" b="0" i="0">
                <a:solidFill>
                  <a:srgbClr val="0C1408"/>
                </a:solidFill>
                <a:latin typeface="Arial"/>
              </a:rPr>
              <a:t>Mashreq, a licensed bank</a:t>
            </a:r>
          </a:p>
        </p:txBody>
      </p:sp>
      <p:sp>
        <p:nvSpPr>
          <p:cNvPr id="18" name="Oval 17"/>
          <p:cNvSpPr/>
          <p:nvPr/>
        </p:nvSpPr>
        <p:spPr>
          <a:xfrm>
            <a:off x="5033772" y="2382011"/>
            <a:ext cx="173736" cy="173736"/>
          </a:xfrm>
          <a:prstGeom prst="ellipse">
            <a:avLst/>
          </a:prstGeom>
          <a:solidFill>
            <a:srgbClr val="FFFFFF"/>
          </a:solidFill>
          <a:ln w="15875">
            <a:solidFill>
              <a:srgbClr val="41801A"/>
            </a:solidFill>
          </a:ln>
        </p:spPr>
        <p:txBody>
          <a:bodyPr rtlCol="0" anchor="ctr" lIns="0" rIns="0"/>
          <a:lstStyle/>
          <a:p>
            <a:pPr algn="ctr"/>
          </a:p>
        </p:txBody>
      </p:sp>
      <p:sp>
        <p:nvSpPr>
          <p:cNvPr id="19" name="Pie 18"/>
          <p:cNvSpPr/>
          <p:nvPr/>
        </p:nvSpPr>
        <p:spPr>
          <a:xfrm>
            <a:off x="5033772" y="2382011"/>
            <a:ext cx="173736" cy="173736"/>
          </a:xfrm>
          <a:prstGeom prst="pie">
            <a:avLst>
              <a:gd name="adj1" fmla="val 16200000"/>
              <a:gd name="adj2" fmla="val 5400000"/>
            </a:avLst>
          </a:prstGeom>
          <a:solidFill>
            <a:srgbClr val="41801A"/>
          </a:solidFill>
          <a:ln>
            <a:noFill/>
          </a:ln>
        </p:spPr>
        <p:txBody>
          <a:bodyPr rtlCol="0" anchor="ctr" lIns="0" rIns="0"/>
          <a:lstStyle/>
          <a:p>
            <a:pPr algn="ctr"/>
          </a:p>
        </p:txBody>
      </p:sp>
      <p:sp>
        <p:nvSpPr>
          <p:cNvPr id="20" name="TextBox 19"/>
          <p:cNvSpPr txBox="1"/>
          <p:nvPr/>
        </p:nvSpPr>
        <p:spPr>
          <a:xfrm>
            <a:off x="5285232" y="2231136"/>
            <a:ext cx="1911096" cy="475488"/>
          </a:xfrm>
          <a:prstGeom prst="rect">
            <a:avLst/>
          </a:prstGeom>
          <a:noFill/>
        </p:spPr>
        <p:txBody>
          <a:bodyPr wrap="square" lIns="0" rIns="0" tIns="0" bIns="0" anchor="ctr">
            <a:noAutofit/>
          </a:bodyPr>
          <a:lstStyle/>
          <a:p>
            <a:pPr algn="l">
              <a:lnSpc>
                <a:spcPct val="110000"/>
              </a:lnSpc>
            </a:pPr>
            <a:r>
              <a:rPr sz="1100" b="0" i="0">
                <a:solidFill>
                  <a:srgbClr val="0C1408"/>
                </a:solidFill>
                <a:latin typeface="Arial"/>
              </a:rPr>
              <a:t>the organiser's wallet</a:t>
            </a:r>
          </a:p>
        </p:txBody>
      </p:sp>
      <p:sp>
        <p:nvSpPr>
          <p:cNvPr id="21" name="Oval 20"/>
          <p:cNvSpPr/>
          <p:nvPr/>
        </p:nvSpPr>
        <p:spPr>
          <a:xfrm>
            <a:off x="7274052" y="2382011"/>
            <a:ext cx="173736" cy="173736"/>
          </a:xfrm>
          <a:prstGeom prst="ellipse">
            <a:avLst/>
          </a:prstGeom>
          <a:solidFill>
            <a:srgbClr val="FFFFFF"/>
          </a:solidFill>
          <a:ln w="15875">
            <a:solidFill>
              <a:srgbClr val="41801A"/>
            </a:solidFill>
          </a:ln>
        </p:spPr>
        <p:txBody>
          <a:bodyPr rtlCol="0" anchor="ctr" lIns="0" rIns="0"/>
          <a:lstStyle/>
          <a:p>
            <a:pPr algn="ctr"/>
          </a:p>
        </p:txBody>
      </p:sp>
      <p:sp>
        <p:nvSpPr>
          <p:cNvPr id="22" name="TextBox 21"/>
          <p:cNvSpPr txBox="1"/>
          <p:nvPr/>
        </p:nvSpPr>
        <p:spPr>
          <a:xfrm>
            <a:off x="7525512" y="2231136"/>
            <a:ext cx="1911096" cy="475488"/>
          </a:xfrm>
          <a:prstGeom prst="rect">
            <a:avLst/>
          </a:prstGeom>
          <a:noFill/>
        </p:spPr>
        <p:txBody>
          <a:bodyPr wrap="square" lIns="0" rIns="0" tIns="0" bIns="0" anchor="ctr">
            <a:noAutofit/>
          </a:bodyPr>
          <a:lstStyle/>
          <a:p>
            <a:pPr algn="l">
              <a:lnSpc>
                <a:spcPct val="110000"/>
              </a:lnSpc>
            </a:pPr>
            <a:r>
              <a:rPr sz="1100" b="0" i="0">
                <a:solidFill>
                  <a:srgbClr val="0C1408"/>
                </a:solidFill>
                <a:latin typeface="Arial"/>
              </a:rPr>
              <a:t>Oraan's own accounts</a:t>
            </a:r>
          </a:p>
        </p:txBody>
      </p:sp>
      <p:sp>
        <p:nvSpPr>
          <p:cNvPr id="23" name="Oval 22"/>
          <p:cNvSpPr/>
          <p:nvPr/>
        </p:nvSpPr>
        <p:spPr>
          <a:xfrm>
            <a:off x="9514332" y="2382011"/>
            <a:ext cx="173736" cy="173736"/>
          </a:xfrm>
          <a:prstGeom prst="ellipse">
            <a:avLst/>
          </a:prstGeom>
          <a:solidFill>
            <a:srgbClr val="FFFFFF"/>
          </a:solidFill>
          <a:ln w="15875">
            <a:solidFill>
              <a:srgbClr val="41801A"/>
            </a:solidFill>
          </a:ln>
        </p:spPr>
        <p:txBody>
          <a:bodyPr rtlCol="0" anchor="ctr" lIns="0" rIns="0"/>
          <a:lstStyle/>
          <a:p>
            <a:pPr algn="ctr"/>
          </a:p>
        </p:txBody>
      </p:sp>
      <p:sp>
        <p:nvSpPr>
          <p:cNvPr id="24" name="TextBox 23"/>
          <p:cNvSpPr txBox="1"/>
          <p:nvPr/>
        </p:nvSpPr>
        <p:spPr>
          <a:xfrm>
            <a:off x="9765792" y="2231136"/>
            <a:ext cx="1856232" cy="475488"/>
          </a:xfrm>
          <a:prstGeom prst="rect">
            <a:avLst/>
          </a:prstGeom>
          <a:noFill/>
        </p:spPr>
        <p:txBody>
          <a:bodyPr wrap="square" lIns="0" rIns="0" tIns="0" bIns="0" anchor="ctr">
            <a:noAutofit/>
          </a:bodyPr>
          <a:lstStyle/>
          <a:p>
            <a:pPr algn="l">
              <a:lnSpc>
                <a:spcPct val="110000"/>
              </a:lnSpc>
            </a:pPr>
            <a:r>
              <a:rPr sz="1100" b="0" i="0">
                <a:solidFill>
                  <a:srgbClr val="0C1408"/>
                </a:solidFill>
                <a:latin typeface="Arial"/>
              </a:rPr>
              <a:t>the organiser</a:t>
            </a:r>
          </a:p>
        </p:txBody>
      </p:sp>
      <p:cxnSp>
        <p:nvCxnSpPr>
          <p:cNvPr id="25" name="Connector 24"/>
          <p:cNvCxnSpPr/>
          <p:nvPr/>
        </p:nvCxnSpPr>
        <p:spPr>
          <a:xfrm>
            <a:off x="566928" y="2706624"/>
            <a:ext cx="11055096" cy="0"/>
          </a:xfrm>
          <a:prstGeom prst="line">
            <a:avLst/>
          </a:prstGeom>
          <a:ln w="9525">
            <a:solidFill>
              <a:srgbClr val="D5DCD1"/>
            </a:solidFill>
          </a:ln>
        </p:spPr>
      </p:cxnSp>
      <p:sp>
        <p:nvSpPr>
          <p:cNvPr id="26" name="TextBox 25"/>
          <p:cNvSpPr txBox="1"/>
          <p:nvPr/>
        </p:nvSpPr>
        <p:spPr>
          <a:xfrm>
            <a:off x="566928" y="2706624"/>
            <a:ext cx="1947672" cy="475488"/>
          </a:xfrm>
          <a:prstGeom prst="rect">
            <a:avLst/>
          </a:prstGeom>
          <a:noFill/>
        </p:spPr>
        <p:txBody>
          <a:bodyPr wrap="square" lIns="0" rIns="0" tIns="0" bIns="0" anchor="ctr">
            <a:noAutofit/>
          </a:bodyPr>
          <a:lstStyle/>
          <a:p>
            <a:pPr algn="l">
              <a:lnSpc>
                <a:spcPct val="110000"/>
              </a:lnSpc>
            </a:pPr>
            <a:r>
              <a:rPr sz="1200" b="1" i="0">
                <a:solidFill>
                  <a:srgbClr val="0C1408"/>
                </a:solidFill>
                <a:latin typeface="Arial"/>
              </a:rPr>
              <a:t>Price of an early turn</a:t>
            </a:r>
          </a:p>
        </p:txBody>
      </p:sp>
      <p:sp>
        <p:nvSpPr>
          <p:cNvPr id="27" name="Oval 26"/>
          <p:cNvSpPr/>
          <p:nvPr/>
        </p:nvSpPr>
        <p:spPr>
          <a:xfrm>
            <a:off x="2702052" y="2857500"/>
            <a:ext cx="173736" cy="173736"/>
          </a:xfrm>
          <a:prstGeom prst="ellipse">
            <a:avLst/>
          </a:prstGeom>
          <a:solidFill>
            <a:srgbClr val="FFFFFF"/>
          </a:solidFill>
          <a:ln w="15875">
            <a:solidFill>
              <a:srgbClr val="41801A"/>
            </a:solidFill>
          </a:ln>
        </p:spPr>
        <p:txBody>
          <a:bodyPr rtlCol="0" anchor="ctr" lIns="0" rIns="0"/>
          <a:lstStyle/>
          <a:p>
            <a:pPr algn="ctr"/>
          </a:p>
        </p:txBody>
      </p:sp>
      <p:sp>
        <p:nvSpPr>
          <p:cNvPr id="28" name="Oval 27"/>
          <p:cNvSpPr/>
          <p:nvPr/>
        </p:nvSpPr>
        <p:spPr>
          <a:xfrm>
            <a:off x="2702052" y="2857500"/>
            <a:ext cx="173736" cy="173736"/>
          </a:xfrm>
          <a:prstGeom prst="ellipse">
            <a:avLst/>
          </a:prstGeom>
          <a:solidFill>
            <a:srgbClr val="41801A"/>
          </a:solidFill>
          <a:ln w="15875">
            <a:solidFill>
              <a:srgbClr val="41801A"/>
            </a:solidFill>
          </a:ln>
        </p:spPr>
        <p:txBody>
          <a:bodyPr rtlCol="0" anchor="ctr" lIns="0" rIns="0"/>
          <a:lstStyle/>
          <a:p>
            <a:pPr algn="ctr"/>
          </a:p>
        </p:txBody>
      </p:sp>
      <p:sp>
        <p:nvSpPr>
          <p:cNvPr id="29" name="TextBox 28"/>
          <p:cNvSpPr txBox="1"/>
          <p:nvPr/>
        </p:nvSpPr>
        <p:spPr>
          <a:xfrm>
            <a:off x="2953512" y="2706624"/>
            <a:ext cx="2002536" cy="475488"/>
          </a:xfrm>
          <a:prstGeom prst="rect">
            <a:avLst/>
          </a:prstGeom>
          <a:noFill/>
        </p:spPr>
        <p:txBody>
          <a:bodyPr wrap="square" lIns="0" rIns="0" tIns="0" bIns="0" anchor="ctr">
            <a:noAutofit/>
          </a:bodyPr>
          <a:lstStyle/>
          <a:p>
            <a:pPr algn="l">
              <a:lnSpc>
                <a:spcPct val="110000"/>
              </a:lnSpc>
            </a:pPr>
            <a:r>
              <a:rPr sz="1100" b="0" i="0">
                <a:solidFill>
                  <a:srgbClr val="0C1408"/>
                </a:solidFill>
                <a:latin typeface="Arial"/>
              </a:rPr>
              <a:t>one flat fee</a:t>
            </a:r>
          </a:p>
        </p:txBody>
      </p:sp>
      <p:sp>
        <p:nvSpPr>
          <p:cNvPr id="30" name="TextBox 29"/>
          <p:cNvSpPr txBox="1"/>
          <p:nvPr/>
        </p:nvSpPr>
        <p:spPr>
          <a:xfrm>
            <a:off x="5285232" y="2706624"/>
            <a:ext cx="1911096" cy="475488"/>
          </a:xfrm>
          <a:prstGeom prst="rect">
            <a:avLst/>
          </a:prstGeom>
          <a:noFill/>
        </p:spPr>
        <p:txBody>
          <a:bodyPr wrap="square" lIns="0" rIns="0" tIns="0" bIns="0" anchor="ctr">
            <a:noAutofit/>
          </a:bodyPr>
          <a:lstStyle/>
          <a:p>
            <a:pPr algn="l">
              <a:lnSpc>
                <a:spcPct val="110000"/>
              </a:lnSpc>
            </a:pPr>
            <a:r>
              <a:rPr sz="1100" b="0" i="0">
                <a:solidFill>
                  <a:srgbClr val="5B6456"/>
                </a:solidFill>
                <a:latin typeface="Arial"/>
              </a:rPr>
              <a:t>not published</a:t>
            </a:r>
          </a:p>
        </p:txBody>
      </p:sp>
      <p:sp>
        <p:nvSpPr>
          <p:cNvPr id="31" name="Oval 30"/>
          <p:cNvSpPr/>
          <p:nvPr/>
        </p:nvSpPr>
        <p:spPr>
          <a:xfrm>
            <a:off x="7274052" y="2857500"/>
            <a:ext cx="173736" cy="173736"/>
          </a:xfrm>
          <a:prstGeom prst="ellipse">
            <a:avLst/>
          </a:prstGeom>
          <a:solidFill>
            <a:srgbClr val="FFFFFF"/>
          </a:solidFill>
          <a:ln w="15875">
            <a:solidFill>
              <a:srgbClr val="41801A"/>
            </a:solidFill>
          </a:ln>
        </p:spPr>
        <p:txBody>
          <a:bodyPr rtlCol="0" anchor="ctr" lIns="0" rIns="0"/>
          <a:lstStyle/>
          <a:p>
            <a:pPr algn="ctr"/>
          </a:p>
        </p:txBody>
      </p:sp>
      <p:sp>
        <p:nvSpPr>
          <p:cNvPr id="32" name="TextBox 31"/>
          <p:cNvSpPr txBox="1"/>
          <p:nvPr/>
        </p:nvSpPr>
        <p:spPr>
          <a:xfrm>
            <a:off x="7525512" y="2706624"/>
            <a:ext cx="1911096" cy="475488"/>
          </a:xfrm>
          <a:prstGeom prst="rect">
            <a:avLst/>
          </a:prstGeom>
          <a:noFill/>
        </p:spPr>
        <p:txBody>
          <a:bodyPr wrap="square" lIns="0" rIns="0" tIns="0" bIns="0" anchor="ctr">
            <a:noAutofit/>
          </a:bodyPr>
          <a:lstStyle/>
          <a:p>
            <a:pPr algn="l">
              <a:lnSpc>
                <a:spcPct val="110000"/>
              </a:lnSpc>
            </a:pPr>
            <a:r>
              <a:rPr sz="1100" b="0" i="0">
                <a:solidFill>
                  <a:srgbClr val="0C1408"/>
                </a:solidFill>
                <a:latin typeface="Arial"/>
              </a:rPr>
              <a:t>up to 21% of the instalment a month [1]</a:t>
            </a:r>
          </a:p>
        </p:txBody>
      </p:sp>
      <p:sp>
        <p:nvSpPr>
          <p:cNvPr id="33" name="Oval 32"/>
          <p:cNvSpPr/>
          <p:nvPr/>
        </p:nvSpPr>
        <p:spPr>
          <a:xfrm>
            <a:off x="9514332" y="2857500"/>
            <a:ext cx="173736" cy="173736"/>
          </a:xfrm>
          <a:prstGeom prst="ellipse">
            <a:avLst/>
          </a:prstGeom>
          <a:solidFill>
            <a:srgbClr val="FFFFFF"/>
          </a:solidFill>
          <a:ln w="15875">
            <a:solidFill>
              <a:srgbClr val="41801A"/>
            </a:solidFill>
          </a:ln>
        </p:spPr>
        <p:txBody>
          <a:bodyPr rtlCol="0" anchor="ctr" lIns="0" rIns="0"/>
          <a:lstStyle/>
          <a:p>
            <a:pPr algn="ctr"/>
          </a:p>
        </p:txBody>
      </p:sp>
      <p:sp>
        <p:nvSpPr>
          <p:cNvPr id="34" name="Oval 33"/>
          <p:cNvSpPr/>
          <p:nvPr/>
        </p:nvSpPr>
        <p:spPr>
          <a:xfrm>
            <a:off x="9514332" y="2857500"/>
            <a:ext cx="173736" cy="173736"/>
          </a:xfrm>
          <a:prstGeom prst="ellipse">
            <a:avLst/>
          </a:prstGeom>
          <a:solidFill>
            <a:srgbClr val="41801A"/>
          </a:solidFill>
          <a:ln w="15875">
            <a:solidFill>
              <a:srgbClr val="41801A"/>
            </a:solidFill>
          </a:ln>
        </p:spPr>
        <p:txBody>
          <a:bodyPr rtlCol="0" anchor="ctr" lIns="0" rIns="0"/>
          <a:lstStyle/>
          <a:p>
            <a:pPr algn="ctr"/>
          </a:p>
        </p:txBody>
      </p:sp>
      <p:sp>
        <p:nvSpPr>
          <p:cNvPr id="35" name="TextBox 34"/>
          <p:cNvSpPr txBox="1"/>
          <p:nvPr/>
        </p:nvSpPr>
        <p:spPr>
          <a:xfrm>
            <a:off x="9765792" y="2706624"/>
            <a:ext cx="1856232" cy="475488"/>
          </a:xfrm>
          <a:prstGeom prst="rect">
            <a:avLst/>
          </a:prstGeom>
          <a:noFill/>
        </p:spPr>
        <p:txBody>
          <a:bodyPr wrap="square" lIns="0" rIns="0" tIns="0" bIns="0" anchor="ctr">
            <a:noAutofit/>
          </a:bodyPr>
          <a:lstStyle/>
          <a:p>
            <a:pPr algn="l">
              <a:lnSpc>
                <a:spcPct val="110000"/>
              </a:lnSpc>
            </a:pPr>
            <a:r>
              <a:rPr sz="1100" b="0" i="0">
                <a:solidFill>
                  <a:srgbClr val="0C1408"/>
                </a:solidFill>
                <a:latin typeface="Arial"/>
              </a:rPr>
              <a:t>usually none</a:t>
            </a:r>
          </a:p>
        </p:txBody>
      </p:sp>
      <p:cxnSp>
        <p:nvCxnSpPr>
          <p:cNvPr id="36" name="Connector 35"/>
          <p:cNvCxnSpPr/>
          <p:nvPr/>
        </p:nvCxnSpPr>
        <p:spPr>
          <a:xfrm>
            <a:off x="566928" y="3182112"/>
            <a:ext cx="11055096" cy="0"/>
          </a:xfrm>
          <a:prstGeom prst="line">
            <a:avLst/>
          </a:prstGeom>
          <a:ln w="9525">
            <a:solidFill>
              <a:srgbClr val="D5DCD1"/>
            </a:solidFill>
          </a:ln>
        </p:spPr>
      </p:cxnSp>
      <p:sp>
        <p:nvSpPr>
          <p:cNvPr id="37" name="TextBox 36"/>
          <p:cNvSpPr txBox="1"/>
          <p:nvPr/>
        </p:nvSpPr>
        <p:spPr>
          <a:xfrm>
            <a:off x="566928" y="3182112"/>
            <a:ext cx="1947672" cy="475488"/>
          </a:xfrm>
          <a:prstGeom prst="rect">
            <a:avLst/>
          </a:prstGeom>
          <a:noFill/>
        </p:spPr>
        <p:txBody>
          <a:bodyPr wrap="square" lIns="0" rIns="0" tIns="0" bIns="0" anchor="ctr">
            <a:noAutofit/>
          </a:bodyPr>
          <a:lstStyle/>
          <a:p>
            <a:pPr algn="l">
              <a:lnSpc>
                <a:spcPct val="110000"/>
              </a:lnSpc>
            </a:pPr>
            <a:r>
              <a:rPr sz="1200" b="1" i="0">
                <a:solidFill>
                  <a:srgbClr val="0C1408"/>
                </a:solidFill>
                <a:latin typeface="Arial"/>
              </a:rPr>
              <a:t>Payout</a:t>
            </a:r>
          </a:p>
        </p:txBody>
      </p:sp>
      <p:sp>
        <p:nvSpPr>
          <p:cNvPr id="38" name="Oval 37"/>
          <p:cNvSpPr/>
          <p:nvPr/>
        </p:nvSpPr>
        <p:spPr>
          <a:xfrm>
            <a:off x="2702052" y="3332987"/>
            <a:ext cx="173736" cy="173736"/>
          </a:xfrm>
          <a:prstGeom prst="ellipse">
            <a:avLst/>
          </a:prstGeom>
          <a:solidFill>
            <a:srgbClr val="FFFFFF"/>
          </a:solidFill>
          <a:ln w="15875">
            <a:solidFill>
              <a:srgbClr val="41801A"/>
            </a:solidFill>
          </a:ln>
        </p:spPr>
        <p:txBody>
          <a:bodyPr rtlCol="0" anchor="ctr" lIns="0" rIns="0"/>
          <a:lstStyle/>
          <a:p>
            <a:pPr algn="ctr"/>
          </a:p>
        </p:txBody>
      </p:sp>
      <p:sp>
        <p:nvSpPr>
          <p:cNvPr id="39" name="Oval 38"/>
          <p:cNvSpPr/>
          <p:nvPr/>
        </p:nvSpPr>
        <p:spPr>
          <a:xfrm>
            <a:off x="2702052" y="3332987"/>
            <a:ext cx="173736" cy="173736"/>
          </a:xfrm>
          <a:prstGeom prst="ellipse">
            <a:avLst/>
          </a:prstGeom>
          <a:solidFill>
            <a:srgbClr val="41801A"/>
          </a:solidFill>
          <a:ln w="15875">
            <a:solidFill>
              <a:srgbClr val="41801A"/>
            </a:solidFill>
          </a:ln>
        </p:spPr>
        <p:txBody>
          <a:bodyPr rtlCol="0" anchor="ctr" lIns="0" rIns="0"/>
          <a:lstStyle/>
          <a:p>
            <a:pPr algn="ctr"/>
          </a:p>
        </p:txBody>
      </p:sp>
      <p:sp>
        <p:nvSpPr>
          <p:cNvPr id="40" name="TextBox 39"/>
          <p:cNvSpPr txBox="1"/>
          <p:nvPr/>
        </p:nvSpPr>
        <p:spPr>
          <a:xfrm>
            <a:off x="2953512" y="3182112"/>
            <a:ext cx="2002536" cy="475488"/>
          </a:xfrm>
          <a:prstGeom prst="rect">
            <a:avLst/>
          </a:prstGeom>
          <a:noFill/>
        </p:spPr>
        <p:txBody>
          <a:bodyPr wrap="square" lIns="0" rIns="0" tIns="0" bIns="0" anchor="ctr">
            <a:noAutofit/>
          </a:bodyPr>
          <a:lstStyle/>
          <a:p>
            <a:pPr algn="l">
              <a:lnSpc>
                <a:spcPct val="110000"/>
              </a:lnSpc>
            </a:pPr>
            <a:r>
              <a:rPr sz="1100" b="0" i="0">
                <a:solidFill>
                  <a:srgbClr val="0C1408"/>
                </a:solidFill>
                <a:latin typeface="Arial"/>
              </a:rPr>
              <a:t>automatic, the same day</a:t>
            </a:r>
          </a:p>
        </p:txBody>
      </p:sp>
      <p:sp>
        <p:nvSpPr>
          <p:cNvPr id="41" name="Oval 40"/>
          <p:cNvSpPr/>
          <p:nvPr/>
        </p:nvSpPr>
        <p:spPr>
          <a:xfrm>
            <a:off x="5033772" y="3332987"/>
            <a:ext cx="173736" cy="173736"/>
          </a:xfrm>
          <a:prstGeom prst="ellipse">
            <a:avLst/>
          </a:prstGeom>
          <a:solidFill>
            <a:srgbClr val="FFFFFF"/>
          </a:solidFill>
          <a:ln w="15875">
            <a:solidFill>
              <a:srgbClr val="41801A"/>
            </a:solidFill>
          </a:ln>
        </p:spPr>
        <p:txBody>
          <a:bodyPr rtlCol="0" anchor="ctr" lIns="0" rIns="0"/>
          <a:lstStyle/>
          <a:p>
            <a:pPr algn="ctr"/>
          </a:p>
        </p:txBody>
      </p:sp>
      <p:sp>
        <p:nvSpPr>
          <p:cNvPr id="42" name="TextBox 41"/>
          <p:cNvSpPr txBox="1"/>
          <p:nvPr/>
        </p:nvSpPr>
        <p:spPr>
          <a:xfrm>
            <a:off x="5285232" y="3182112"/>
            <a:ext cx="1911096" cy="475488"/>
          </a:xfrm>
          <a:prstGeom prst="rect">
            <a:avLst/>
          </a:prstGeom>
          <a:noFill/>
        </p:spPr>
        <p:txBody>
          <a:bodyPr wrap="square" lIns="0" rIns="0" tIns="0" bIns="0" anchor="ctr">
            <a:noAutofit/>
          </a:bodyPr>
          <a:lstStyle/>
          <a:p>
            <a:pPr algn="l">
              <a:lnSpc>
                <a:spcPct val="110000"/>
              </a:lnSpc>
            </a:pPr>
            <a:r>
              <a:rPr sz="1100" b="0" i="0">
                <a:solidFill>
                  <a:srgbClr val="0C1408"/>
                </a:solidFill>
                <a:latin typeface="Arial"/>
              </a:rPr>
              <a:t>by hand, by the organiser [2]</a:t>
            </a:r>
          </a:p>
        </p:txBody>
      </p:sp>
      <p:sp>
        <p:nvSpPr>
          <p:cNvPr id="43" name="Oval 42"/>
          <p:cNvSpPr/>
          <p:nvPr/>
        </p:nvSpPr>
        <p:spPr>
          <a:xfrm>
            <a:off x="7274052" y="3332987"/>
            <a:ext cx="173736" cy="173736"/>
          </a:xfrm>
          <a:prstGeom prst="ellipse">
            <a:avLst/>
          </a:prstGeom>
          <a:solidFill>
            <a:srgbClr val="FFFFFF"/>
          </a:solidFill>
          <a:ln w="15875">
            <a:solidFill>
              <a:srgbClr val="41801A"/>
            </a:solidFill>
          </a:ln>
        </p:spPr>
        <p:txBody>
          <a:bodyPr rtlCol="0" anchor="ctr" lIns="0" rIns="0"/>
          <a:lstStyle/>
          <a:p>
            <a:pPr algn="ctr"/>
          </a:p>
        </p:txBody>
      </p:sp>
      <p:sp>
        <p:nvSpPr>
          <p:cNvPr id="44" name="Pie 43"/>
          <p:cNvSpPr/>
          <p:nvPr/>
        </p:nvSpPr>
        <p:spPr>
          <a:xfrm>
            <a:off x="7274052" y="3332987"/>
            <a:ext cx="173736" cy="173736"/>
          </a:xfrm>
          <a:prstGeom prst="pie">
            <a:avLst>
              <a:gd name="adj1" fmla="val 16200000"/>
              <a:gd name="adj2" fmla="val 5400000"/>
            </a:avLst>
          </a:prstGeom>
          <a:solidFill>
            <a:srgbClr val="41801A"/>
          </a:solidFill>
          <a:ln>
            <a:noFill/>
          </a:ln>
        </p:spPr>
        <p:txBody>
          <a:bodyPr rtlCol="0" anchor="ctr" lIns="0" rIns="0"/>
          <a:lstStyle/>
          <a:p>
            <a:pPr algn="ctr"/>
          </a:p>
        </p:txBody>
      </p:sp>
      <p:sp>
        <p:nvSpPr>
          <p:cNvPr id="45" name="TextBox 44"/>
          <p:cNvSpPr txBox="1"/>
          <p:nvPr/>
        </p:nvSpPr>
        <p:spPr>
          <a:xfrm>
            <a:off x="7525512" y="3182112"/>
            <a:ext cx="1911096" cy="475488"/>
          </a:xfrm>
          <a:prstGeom prst="rect">
            <a:avLst/>
          </a:prstGeom>
          <a:noFill/>
        </p:spPr>
        <p:txBody>
          <a:bodyPr wrap="square" lIns="0" rIns="0" tIns="0" bIns="0" anchor="ctr">
            <a:noAutofit/>
          </a:bodyPr>
          <a:lstStyle/>
          <a:p>
            <a:pPr algn="l">
              <a:lnSpc>
                <a:spcPct val="110000"/>
              </a:lnSpc>
            </a:pPr>
            <a:r>
              <a:rPr sz="1100" b="0" i="0">
                <a:solidFill>
                  <a:srgbClr val="0C1408"/>
                </a:solidFill>
                <a:latin typeface="Arial"/>
              </a:rPr>
              <a:t>11th to 18th</a:t>
            </a:r>
          </a:p>
        </p:txBody>
      </p:sp>
      <p:sp>
        <p:nvSpPr>
          <p:cNvPr id="46" name="Oval 45"/>
          <p:cNvSpPr/>
          <p:nvPr/>
        </p:nvSpPr>
        <p:spPr>
          <a:xfrm>
            <a:off x="9514332" y="3332987"/>
            <a:ext cx="173736" cy="173736"/>
          </a:xfrm>
          <a:prstGeom prst="ellipse">
            <a:avLst/>
          </a:prstGeom>
          <a:solidFill>
            <a:srgbClr val="FFFFFF"/>
          </a:solidFill>
          <a:ln w="15875">
            <a:solidFill>
              <a:srgbClr val="41801A"/>
            </a:solidFill>
          </a:ln>
        </p:spPr>
        <p:txBody>
          <a:bodyPr rtlCol="0" anchor="ctr" lIns="0" rIns="0"/>
          <a:lstStyle/>
          <a:p>
            <a:pPr algn="ctr"/>
          </a:p>
        </p:txBody>
      </p:sp>
      <p:sp>
        <p:nvSpPr>
          <p:cNvPr id="47" name="TextBox 46"/>
          <p:cNvSpPr txBox="1"/>
          <p:nvPr/>
        </p:nvSpPr>
        <p:spPr>
          <a:xfrm>
            <a:off x="9765792" y="3182112"/>
            <a:ext cx="1856232" cy="475488"/>
          </a:xfrm>
          <a:prstGeom prst="rect">
            <a:avLst/>
          </a:prstGeom>
          <a:noFill/>
        </p:spPr>
        <p:txBody>
          <a:bodyPr wrap="square" lIns="0" rIns="0" tIns="0" bIns="0" anchor="ctr">
            <a:noAutofit/>
          </a:bodyPr>
          <a:lstStyle/>
          <a:p>
            <a:pPr algn="l">
              <a:lnSpc>
                <a:spcPct val="110000"/>
              </a:lnSpc>
            </a:pPr>
            <a:r>
              <a:rPr sz="1100" b="0" i="0">
                <a:solidFill>
                  <a:srgbClr val="0C1408"/>
                </a:solidFill>
                <a:latin typeface="Arial"/>
              </a:rPr>
              <a:t>by hand</a:t>
            </a:r>
          </a:p>
        </p:txBody>
      </p:sp>
      <p:cxnSp>
        <p:nvCxnSpPr>
          <p:cNvPr id="48" name="Connector 47"/>
          <p:cNvCxnSpPr/>
          <p:nvPr/>
        </p:nvCxnSpPr>
        <p:spPr>
          <a:xfrm>
            <a:off x="566928" y="3657600"/>
            <a:ext cx="11055096" cy="0"/>
          </a:xfrm>
          <a:prstGeom prst="line">
            <a:avLst/>
          </a:prstGeom>
          <a:ln w="9525">
            <a:solidFill>
              <a:srgbClr val="D5DCD1"/>
            </a:solidFill>
          </a:ln>
        </p:spPr>
      </p:cxnSp>
      <p:sp>
        <p:nvSpPr>
          <p:cNvPr id="49" name="TextBox 48"/>
          <p:cNvSpPr txBox="1"/>
          <p:nvPr/>
        </p:nvSpPr>
        <p:spPr>
          <a:xfrm>
            <a:off x="566928" y="3657600"/>
            <a:ext cx="1947672" cy="475488"/>
          </a:xfrm>
          <a:prstGeom prst="rect">
            <a:avLst/>
          </a:prstGeom>
          <a:noFill/>
        </p:spPr>
        <p:txBody>
          <a:bodyPr wrap="square" lIns="0" rIns="0" tIns="0" bIns="0" anchor="ctr">
            <a:noAutofit/>
          </a:bodyPr>
          <a:lstStyle/>
          <a:p>
            <a:pPr algn="l">
              <a:lnSpc>
                <a:spcPct val="110000"/>
              </a:lnSpc>
            </a:pPr>
            <a:r>
              <a:rPr sz="1200" b="1" i="0">
                <a:solidFill>
                  <a:srgbClr val="0C1408"/>
                </a:solidFill>
                <a:latin typeface="Arial"/>
              </a:rPr>
              <a:t>Members checked</a:t>
            </a:r>
          </a:p>
        </p:txBody>
      </p:sp>
      <p:sp>
        <p:nvSpPr>
          <p:cNvPr id="50" name="Oval 49"/>
          <p:cNvSpPr/>
          <p:nvPr/>
        </p:nvSpPr>
        <p:spPr>
          <a:xfrm>
            <a:off x="2702052" y="3808476"/>
            <a:ext cx="173736" cy="173736"/>
          </a:xfrm>
          <a:prstGeom prst="ellipse">
            <a:avLst/>
          </a:prstGeom>
          <a:solidFill>
            <a:srgbClr val="FFFFFF"/>
          </a:solidFill>
          <a:ln w="15875">
            <a:solidFill>
              <a:srgbClr val="41801A"/>
            </a:solidFill>
          </a:ln>
        </p:spPr>
        <p:txBody>
          <a:bodyPr rtlCol="0" anchor="ctr" lIns="0" rIns="0"/>
          <a:lstStyle/>
          <a:p>
            <a:pPr algn="ctr"/>
          </a:p>
        </p:txBody>
      </p:sp>
      <p:sp>
        <p:nvSpPr>
          <p:cNvPr id="51" name="Oval 50"/>
          <p:cNvSpPr/>
          <p:nvPr/>
        </p:nvSpPr>
        <p:spPr>
          <a:xfrm>
            <a:off x="2702052" y="3808476"/>
            <a:ext cx="173736" cy="173736"/>
          </a:xfrm>
          <a:prstGeom prst="ellipse">
            <a:avLst/>
          </a:prstGeom>
          <a:solidFill>
            <a:srgbClr val="41801A"/>
          </a:solidFill>
          <a:ln w="15875">
            <a:solidFill>
              <a:srgbClr val="41801A"/>
            </a:solidFill>
          </a:ln>
        </p:spPr>
        <p:txBody>
          <a:bodyPr rtlCol="0" anchor="ctr" lIns="0" rIns="0"/>
          <a:lstStyle/>
          <a:p>
            <a:pPr algn="ctr"/>
          </a:p>
        </p:txBody>
      </p:sp>
      <p:sp>
        <p:nvSpPr>
          <p:cNvPr id="52" name="TextBox 51"/>
          <p:cNvSpPr txBox="1"/>
          <p:nvPr/>
        </p:nvSpPr>
        <p:spPr>
          <a:xfrm>
            <a:off x="2953512" y="3657600"/>
            <a:ext cx="2002536" cy="475488"/>
          </a:xfrm>
          <a:prstGeom prst="rect">
            <a:avLst/>
          </a:prstGeom>
          <a:noFill/>
        </p:spPr>
        <p:txBody>
          <a:bodyPr wrap="square" lIns="0" rIns="0" tIns="0" bIns="0" anchor="ctr">
            <a:noAutofit/>
          </a:bodyPr>
          <a:lstStyle/>
          <a:p>
            <a:pPr algn="l">
              <a:lnSpc>
                <a:spcPct val="110000"/>
              </a:lnSpc>
            </a:pPr>
            <a:r>
              <a:rPr sz="1100" b="0" i="0">
                <a:solidFill>
                  <a:srgbClr val="0C1408"/>
                </a:solidFill>
                <a:latin typeface="Arial"/>
              </a:rPr>
              <a:t>identity, income, score</a:t>
            </a:r>
          </a:p>
        </p:txBody>
      </p:sp>
      <p:sp>
        <p:nvSpPr>
          <p:cNvPr id="53" name="Oval 52"/>
          <p:cNvSpPr/>
          <p:nvPr/>
        </p:nvSpPr>
        <p:spPr>
          <a:xfrm>
            <a:off x="5033772" y="3808476"/>
            <a:ext cx="173736" cy="173736"/>
          </a:xfrm>
          <a:prstGeom prst="ellipse">
            <a:avLst/>
          </a:prstGeom>
          <a:solidFill>
            <a:srgbClr val="FFFFFF"/>
          </a:solidFill>
          <a:ln w="15875">
            <a:solidFill>
              <a:srgbClr val="41801A"/>
            </a:solidFill>
          </a:ln>
        </p:spPr>
        <p:txBody>
          <a:bodyPr rtlCol="0" anchor="ctr" lIns="0" rIns="0"/>
          <a:lstStyle/>
          <a:p>
            <a:pPr algn="ctr"/>
          </a:p>
        </p:txBody>
      </p:sp>
      <p:sp>
        <p:nvSpPr>
          <p:cNvPr id="54" name="TextBox 53"/>
          <p:cNvSpPr txBox="1"/>
          <p:nvPr/>
        </p:nvSpPr>
        <p:spPr>
          <a:xfrm>
            <a:off x="5285232" y="3657600"/>
            <a:ext cx="1911096" cy="475488"/>
          </a:xfrm>
          <a:prstGeom prst="rect">
            <a:avLst/>
          </a:prstGeom>
          <a:noFill/>
        </p:spPr>
        <p:txBody>
          <a:bodyPr wrap="square" lIns="0" rIns="0" tIns="0" bIns="0" anchor="ctr">
            <a:noAutofit/>
          </a:bodyPr>
          <a:lstStyle/>
          <a:p>
            <a:pPr algn="l">
              <a:lnSpc>
                <a:spcPct val="110000"/>
              </a:lnSpc>
            </a:pPr>
            <a:r>
              <a:rPr sz="1100" b="0" i="0">
                <a:solidFill>
                  <a:srgbClr val="0C1408"/>
                </a:solidFill>
                <a:latin typeface="Arial"/>
              </a:rPr>
              <a:t>phone contacts</a:t>
            </a:r>
          </a:p>
        </p:txBody>
      </p:sp>
      <p:sp>
        <p:nvSpPr>
          <p:cNvPr id="55" name="Oval 54"/>
          <p:cNvSpPr/>
          <p:nvPr/>
        </p:nvSpPr>
        <p:spPr>
          <a:xfrm>
            <a:off x="7274052" y="3808476"/>
            <a:ext cx="173736" cy="173736"/>
          </a:xfrm>
          <a:prstGeom prst="ellipse">
            <a:avLst/>
          </a:prstGeom>
          <a:solidFill>
            <a:srgbClr val="FFFFFF"/>
          </a:solidFill>
          <a:ln w="15875">
            <a:solidFill>
              <a:srgbClr val="41801A"/>
            </a:solidFill>
          </a:ln>
        </p:spPr>
        <p:txBody>
          <a:bodyPr rtlCol="0" anchor="ctr" lIns="0" rIns="0"/>
          <a:lstStyle/>
          <a:p>
            <a:pPr algn="ctr"/>
          </a:p>
        </p:txBody>
      </p:sp>
      <p:sp>
        <p:nvSpPr>
          <p:cNvPr id="56" name="Pie 55"/>
          <p:cNvSpPr/>
          <p:nvPr/>
        </p:nvSpPr>
        <p:spPr>
          <a:xfrm>
            <a:off x="7274052" y="3808476"/>
            <a:ext cx="173736" cy="173736"/>
          </a:xfrm>
          <a:prstGeom prst="pie">
            <a:avLst>
              <a:gd name="adj1" fmla="val 16200000"/>
              <a:gd name="adj2" fmla="val 5400000"/>
            </a:avLst>
          </a:prstGeom>
          <a:solidFill>
            <a:srgbClr val="41801A"/>
          </a:solidFill>
          <a:ln>
            <a:noFill/>
          </a:ln>
        </p:spPr>
        <p:txBody>
          <a:bodyPr rtlCol="0" anchor="ctr" lIns="0" rIns="0"/>
          <a:lstStyle/>
          <a:p>
            <a:pPr algn="ctr"/>
          </a:p>
        </p:txBody>
      </p:sp>
      <p:sp>
        <p:nvSpPr>
          <p:cNvPr id="57" name="TextBox 56"/>
          <p:cNvSpPr txBox="1"/>
          <p:nvPr/>
        </p:nvSpPr>
        <p:spPr>
          <a:xfrm>
            <a:off x="7525512" y="3657600"/>
            <a:ext cx="1911096" cy="475488"/>
          </a:xfrm>
          <a:prstGeom prst="rect">
            <a:avLst/>
          </a:prstGeom>
          <a:noFill/>
        </p:spPr>
        <p:txBody>
          <a:bodyPr wrap="square" lIns="0" rIns="0" tIns="0" bIns="0" anchor="ctr">
            <a:noAutofit/>
          </a:bodyPr>
          <a:lstStyle/>
          <a:p>
            <a:pPr algn="l">
              <a:lnSpc>
                <a:spcPct val="110000"/>
              </a:lnSpc>
            </a:pPr>
            <a:r>
              <a:rPr sz="1100" b="0" i="0">
                <a:solidFill>
                  <a:srgbClr val="0C1408"/>
                </a:solidFill>
                <a:latin typeface="Arial"/>
              </a:rPr>
              <a:t>device data, bureau</a:t>
            </a:r>
          </a:p>
        </p:txBody>
      </p:sp>
      <p:sp>
        <p:nvSpPr>
          <p:cNvPr id="58" name="Oval 57"/>
          <p:cNvSpPr/>
          <p:nvPr/>
        </p:nvSpPr>
        <p:spPr>
          <a:xfrm>
            <a:off x="9514332" y="3808476"/>
            <a:ext cx="173736" cy="173736"/>
          </a:xfrm>
          <a:prstGeom prst="ellipse">
            <a:avLst/>
          </a:prstGeom>
          <a:solidFill>
            <a:srgbClr val="FFFFFF"/>
          </a:solidFill>
          <a:ln w="15875">
            <a:solidFill>
              <a:srgbClr val="41801A"/>
            </a:solidFill>
          </a:ln>
        </p:spPr>
        <p:txBody>
          <a:bodyPr rtlCol="0" anchor="ctr" lIns="0" rIns="0"/>
          <a:lstStyle/>
          <a:p>
            <a:pPr algn="ctr"/>
          </a:p>
        </p:txBody>
      </p:sp>
      <p:sp>
        <p:nvSpPr>
          <p:cNvPr id="59" name="Pie 58"/>
          <p:cNvSpPr/>
          <p:nvPr/>
        </p:nvSpPr>
        <p:spPr>
          <a:xfrm>
            <a:off x="9514332" y="3808476"/>
            <a:ext cx="173736" cy="173736"/>
          </a:xfrm>
          <a:prstGeom prst="pie">
            <a:avLst>
              <a:gd name="adj1" fmla="val 16200000"/>
              <a:gd name="adj2" fmla="val 5400000"/>
            </a:avLst>
          </a:prstGeom>
          <a:solidFill>
            <a:srgbClr val="41801A"/>
          </a:solidFill>
          <a:ln>
            <a:noFill/>
          </a:ln>
        </p:spPr>
        <p:txBody>
          <a:bodyPr rtlCol="0" anchor="ctr" lIns="0" rIns="0"/>
          <a:lstStyle/>
          <a:p>
            <a:pPr algn="ctr"/>
          </a:p>
        </p:txBody>
      </p:sp>
      <p:sp>
        <p:nvSpPr>
          <p:cNvPr id="60" name="TextBox 59"/>
          <p:cNvSpPr txBox="1"/>
          <p:nvPr/>
        </p:nvSpPr>
        <p:spPr>
          <a:xfrm>
            <a:off x="9765792" y="3657600"/>
            <a:ext cx="1856232" cy="475488"/>
          </a:xfrm>
          <a:prstGeom prst="rect">
            <a:avLst/>
          </a:prstGeom>
          <a:noFill/>
        </p:spPr>
        <p:txBody>
          <a:bodyPr wrap="square" lIns="0" rIns="0" tIns="0" bIns="0" anchor="ctr">
            <a:noAutofit/>
          </a:bodyPr>
          <a:lstStyle/>
          <a:p>
            <a:pPr algn="l">
              <a:lnSpc>
                <a:spcPct val="110000"/>
              </a:lnSpc>
            </a:pPr>
            <a:r>
              <a:rPr sz="1100" b="0" i="0">
                <a:solidFill>
                  <a:srgbClr val="0C1408"/>
                </a:solidFill>
                <a:latin typeface="Arial"/>
              </a:rPr>
              <a:t>people known</a:t>
            </a:r>
          </a:p>
        </p:txBody>
      </p:sp>
      <p:cxnSp>
        <p:nvCxnSpPr>
          <p:cNvPr id="61" name="Connector 60"/>
          <p:cNvCxnSpPr/>
          <p:nvPr/>
        </p:nvCxnSpPr>
        <p:spPr>
          <a:xfrm>
            <a:off x="566928" y="4133087"/>
            <a:ext cx="11055096" cy="0"/>
          </a:xfrm>
          <a:prstGeom prst="line">
            <a:avLst/>
          </a:prstGeom>
          <a:ln w="9525">
            <a:solidFill>
              <a:srgbClr val="D5DCD1"/>
            </a:solidFill>
          </a:ln>
        </p:spPr>
      </p:cxnSp>
      <p:sp>
        <p:nvSpPr>
          <p:cNvPr id="62" name="TextBox 61"/>
          <p:cNvSpPr txBox="1"/>
          <p:nvPr/>
        </p:nvSpPr>
        <p:spPr>
          <a:xfrm>
            <a:off x="566928" y="4133087"/>
            <a:ext cx="1947672" cy="475488"/>
          </a:xfrm>
          <a:prstGeom prst="rect">
            <a:avLst/>
          </a:prstGeom>
          <a:noFill/>
        </p:spPr>
        <p:txBody>
          <a:bodyPr wrap="square" lIns="0" rIns="0" tIns="0" bIns="0" anchor="ctr">
            <a:noAutofit/>
          </a:bodyPr>
          <a:lstStyle/>
          <a:p>
            <a:pPr algn="l">
              <a:lnSpc>
                <a:spcPct val="110000"/>
              </a:lnSpc>
            </a:pPr>
            <a:r>
              <a:rPr sz="1200" b="1" i="0">
                <a:solidFill>
                  <a:srgbClr val="0C1408"/>
                </a:solidFill>
                <a:latin typeface="Arial"/>
              </a:rPr>
              <a:t>Defaults covered</a:t>
            </a:r>
          </a:p>
        </p:txBody>
      </p:sp>
      <p:sp>
        <p:nvSpPr>
          <p:cNvPr id="63" name="Oval 62"/>
          <p:cNvSpPr/>
          <p:nvPr/>
        </p:nvSpPr>
        <p:spPr>
          <a:xfrm>
            <a:off x="2702052" y="4283964"/>
            <a:ext cx="173736" cy="173736"/>
          </a:xfrm>
          <a:prstGeom prst="ellipse">
            <a:avLst/>
          </a:prstGeom>
          <a:solidFill>
            <a:srgbClr val="FFFFFF"/>
          </a:solidFill>
          <a:ln w="15875">
            <a:solidFill>
              <a:srgbClr val="41801A"/>
            </a:solidFill>
          </a:ln>
        </p:spPr>
        <p:txBody>
          <a:bodyPr rtlCol="0" anchor="ctr" lIns="0" rIns="0"/>
          <a:lstStyle/>
          <a:p>
            <a:pPr algn="ctr"/>
          </a:p>
        </p:txBody>
      </p:sp>
      <p:sp>
        <p:nvSpPr>
          <p:cNvPr id="64" name="Oval 63"/>
          <p:cNvSpPr/>
          <p:nvPr/>
        </p:nvSpPr>
        <p:spPr>
          <a:xfrm>
            <a:off x="2702052" y="4283964"/>
            <a:ext cx="173736" cy="173736"/>
          </a:xfrm>
          <a:prstGeom prst="ellipse">
            <a:avLst/>
          </a:prstGeom>
          <a:solidFill>
            <a:srgbClr val="41801A"/>
          </a:solidFill>
          <a:ln w="15875">
            <a:solidFill>
              <a:srgbClr val="41801A"/>
            </a:solidFill>
          </a:ln>
        </p:spPr>
        <p:txBody>
          <a:bodyPr rtlCol="0" anchor="ctr" lIns="0" rIns="0"/>
          <a:lstStyle/>
          <a:p>
            <a:pPr algn="ctr"/>
          </a:p>
        </p:txBody>
      </p:sp>
      <p:sp>
        <p:nvSpPr>
          <p:cNvPr id="65" name="TextBox 64"/>
          <p:cNvSpPr txBox="1"/>
          <p:nvPr/>
        </p:nvSpPr>
        <p:spPr>
          <a:xfrm>
            <a:off x="2953512" y="4133087"/>
            <a:ext cx="2002536" cy="475488"/>
          </a:xfrm>
          <a:prstGeom prst="rect">
            <a:avLst/>
          </a:prstGeom>
          <a:noFill/>
        </p:spPr>
        <p:txBody>
          <a:bodyPr wrap="square" lIns="0" rIns="0" tIns="0" bIns="0" anchor="ctr">
            <a:noAutofit/>
          </a:bodyPr>
          <a:lstStyle/>
          <a:p>
            <a:pPr algn="l">
              <a:lnSpc>
                <a:spcPct val="110000"/>
              </a:lnSpc>
            </a:pPr>
            <a:r>
              <a:rPr sz="1100" b="0" i="0">
                <a:solidFill>
                  <a:srgbClr val="0C1408"/>
                </a:solidFill>
                <a:latin typeface="Arial"/>
              </a:rPr>
              <a:t>cover chosen by the bank</a:t>
            </a:r>
          </a:p>
        </p:txBody>
      </p:sp>
      <p:sp>
        <p:nvSpPr>
          <p:cNvPr id="66" name="TextBox 65"/>
          <p:cNvSpPr txBox="1"/>
          <p:nvPr/>
        </p:nvSpPr>
        <p:spPr>
          <a:xfrm>
            <a:off x="5285232" y="4133087"/>
            <a:ext cx="1911096" cy="475488"/>
          </a:xfrm>
          <a:prstGeom prst="rect">
            <a:avLst/>
          </a:prstGeom>
          <a:noFill/>
        </p:spPr>
        <p:txBody>
          <a:bodyPr wrap="square" lIns="0" rIns="0" tIns="0" bIns="0" anchor="ctr">
            <a:noAutofit/>
          </a:bodyPr>
          <a:lstStyle/>
          <a:p>
            <a:pPr algn="l">
              <a:lnSpc>
                <a:spcPct val="110000"/>
              </a:lnSpc>
            </a:pPr>
            <a:r>
              <a:rPr sz="1100" b="0" i="0">
                <a:solidFill>
                  <a:srgbClr val="5B6456"/>
                </a:solidFill>
                <a:latin typeface="Arial"/>
              </a:rPr>
              <a:t>not stated</a:t>
            </a:r>
          </a:p>
        </p:txBody>
      </p:sp>
      <p:sp>
        <p:nvSpPr>
          <p:cNvPr id="67" name="Oval 66"/>
          <p:cNvSpPr/>
          <p:nvPr/>
        </p:nvSpPr>
        <p:spPr>
          <a:xfrm>
            <a:off x="7274052" y="4283964"/>
            <a:ext cx="173736" cy="173736"/>
          </a:xfrm>
          <a:prstGeom prst="ellipse">
            <a:avLst/>
          </a:prstGeom>
          <a:solidFill>
            <a:srgbClr val="FFFFFF"/>
          </a:solidFill>
          <a:ln w="15875">
            <a:solidFill>
              <a:srgbClr val="41801A"/>
            </a:solidFill>
          </a:ln>
        </p:spPr>
        <p:txBody>
          <a:bodyPr rtlCol="0" anchor="ctr" lIns="0" rIns="0"/>
          <a:lstStyle/>
          <a:p>
            <a:pPr algn="ctr"/>
          </a:p>
        </p:txBody>
      </p:sp>
      <p:sp>
        <p:nvSpPr>
          <p:cNvPr id="68" name="Pie 67"/>
          <p:cNvSpPr/>
          <p:nvPr/>
        </p:nvSpPr>
        <p:spPr>
          <a:xfrm>
            <a:off x="7274052" y="4283964"/>
            <a:ext cx="173736" cy="173736"/>
          </a:xfrm>
          <a:prstGeom prst="pie">
            <a:avLst>
              <a:gd name="adj1" fmla="val 16200000"/>
              <a:gd name="adj2" fmla="val 5400000"/>
            </a:avLst>
          </a:prstGeom>
          <a:solidFill>
            <a:srgbClr val="41801A"/>
          </a:solidFill>
          <a:ln>
            <a:noFill/>
          </a:ln>
        </p:spPr>
        <p:txBody>
          <a:bodyPr rtlCol="0" anchor="ctr" lIns="0" rIns="0"/>
          <a:lstStyle/>
          <a:p>
            <a:pPr algn="ctr"/>
          </a:p>
        </p:txBody>
      </p:sp>
      <p:sp>
        <p:nvSpPr>
          <p:cNvPr id="69" name="TextBox 68"/>
          <p:cNvSpPr txBox="1"/>
          <p:nvPr/>
        </p:nvSpPr>
        <p:spPr>
          <a:xfrm>
            <a:off x="7525512" y="4133087"/>
            <a:ext cx="1911096" cy="475488"/>
          </a:xfrm>
          <a:prstGeom prst="rect">
            <a:avLst/>
          </a:prstGeom>
          <a:noFill/>
        </p:spPr>
        <p:txBody>
          <a:bodyPr wrap="square" lIns="0" rIns="0" tIns="0" bIns="0" anchor="ctr">
            <a:noAutofit/>
          </a:bodyPr>
          <a:lstStyle/>
          <a:p>
            <a:pPr algn="l">
              <a:lnSpc>
                <a:spcPct val="110000"/>
              </a:lnSpc>
            </a:pPr>
            <a:r>
              <a:rPr sz="1100" b="0" i="0">
                <a:solidFill>
                  <a:srgbClr val="0C1408"/>
                </a:solidFill>
                <a:latin typeface="Arial"/>
              </a:rPr>
              <a:t>Oraan's balance sheet</a:t>
            </a:r>
          </a:p>
        </p:txBody>
      </p:sp>
      <p:sp>
        <p:nvSpPr>
          <p:cNvPr id="70" name="Oval 69"/>
          <p:cNvSpPr/>
          <p:nvPr/>
        </p:nvSpPr>
        <p:spPr>
          <a:xfrm>
            <a:off x="9514332" y="4283964"/>
            <a:ext cx="173736" cy="173736"/>
          </a:xfrm>
          <a:prstGeom prst="ellipse">
            <a:avLst/>
          </a:prstGeom>
          <a:solidFill>
            <a:srgbClr val="FFFFFF"/>
          </a:solidFill>
          <a:ln w="15875">
            <a:solidFill>
              <a:srgbClr val="41801A"/>
            </a:solidFill>
          </a:ln>
        </p:spPr>
        <p:txBody>
          <a:bodyPr rtlCol="0" anchor="ctr" lIns="0" rIns="0"/>
          <a:lstStyle/>
          <a:p>
            <a:pPr algn="ctr"/>
          </a:p>
        </p:txBody>
      </p:sp>
      <p:sp>
        <p:nvSpPr>
          <p:cNvPr id="71" name="TextBox 70"/>
          <p:cNvSpPr txBox="1"/>
          <p:nvPr/>
        </p:nvSpPr>
        <p:spPr>
          <a:xfrm>
            <a:off x="9765792" y="4133087"/>
            <a:ext cx="1856232" cy="475488"/>
          </a:xfrm>
          <a:prstGeom prst="rect">
            <a:avLst/>
          </a:prstGeom>
          <a:noFill/>
        </p:spPr>
        <p:txBody>
          <a:bodyPr wrap="square" lIns="0" rIns="0" tIns="0" bIns="0" anchor="ctr">
            <a:noAutofit/>
          </a:bodyPr>
          <a:lstStyle/>
          <a:p>
            <a:pPr algn="l">
              <a:lnSpc>
                <a:spcPct val="110000"/>
              </a:lnSpc>
            </a:pPr>
            <a:r>
              <a:rPr sz="1100" b="0" i="0">
                <a:solidFill>
                  <a:srgbClr val="0C1408"/>
                </a:solidFill>
                <a:latin typeface="Arial"/>
              </a:rPr>
              <a:t>organiser's pocket</a:t>
            </a:r>
          </a:p>
        </p:txBody>
      </p:sp>
      <p:cxnSp>
        <p:nvCxnSpPr>
          <p:cNvPr id="72" name="Connector 71"/>
          <p:cNvCxnSpPr/>
          <p:nvPr/>
        </p:nvCxnSpPr>
        <p:spPr>
          <a:xfrm>
            <a:off x="566928" y="4608575"/>
            <a:ext cx="11055096" cy="0"/>
          </a:xfrm>
          <a:prstGeom prst="line">
            <a:avLst/>
          </a:prstGeom>
          <a:ln w="9525">
            <a:solidFill>
              <a:srgbClr val="D5DCD1"/>
            </a:solidFill>
          </a:ln>
        </p:spPr>
      </p:cxnSp>
      <p:sp>
        <p:nvSpPr>
          <p:cNvPr id="73" name="TextBox 72"/>
          <p:cNvSpPr txBox="1"/>
          <p:nvPr/>
        </p:nvSpPr>
        <p:spPr>
          <a:xfrm>
            <a:off x="566928" y="4608575"/>
            <a:ext cx="1947672" cy="475488"/>
          </a:xfrm>
          <a:prstGeom prst="rect">
            <a:avLst/>
          </a:prstGeom>
          <a:noFill/>
        </p:spPr>
        <p:txBody>
          <a:bodyPr wrap="square" lIns="0" rIns="0" tIns="0" bIns="0" anchor="ctr">
            <a:noAutofit/>
          </a:bodyPr>
          <a:lstStyle/>
          <a:p>
            <a:pPr algn="l">
              <a:lnSpc>
                <a:spcPct val="110000"/>
              </a:lnSpc>
            </a:pPr>
            <a:r>
              <a:rPr sz="1200" b="1" i="0">
                <a:solidFill>
                  <a:srgbClr val="0C1408"/>
                </a:solidFill>
                <a:latin typeface="Arial"/>
              </a:rPr>
              <a:t>Credit record</a:t>
            </a:r>
          </a:p>
        </p:txBody>
      </p:sp>
      <p:sp>
        <p:nvSpPr>
          <p:cNvPr id="74" name="Oval 73"/>
          <p:cNvSpPr/>
          <p:nvPr/>
        </p:nvSpPr>
        <p:spPr>
          <a:xfrm>
            <a:off x="2702052" y="4759451"/>
            <a:ext cx="173736" cy="173736"/>
          </a:xfrm>
          <a:prstGeom prst="ellipse">
            <a:avLst/>
          </a:prstGeom>
          <a:solidFill>
            <a:srgbClr val="FFFFFF"/>
          </a:solidFill>
          <a:ln w="15875">
            <a:solidFill>
              <a:srgbClr val="41801A"/>
            </a:solidFill>
          </a:ln>
        </p:spPr>
        <p:txBody>
          <a:bodyPr rtlCol="0" anchor="ctr" lIns="0" rIns="0"/>
          <a:lstStyle/>
          <a:p>
            <a:pPr algn="ctr"/>
          </a:p>
        </p:txBody>
      </p:sp>
      <p:sp>
        <p:nvSpPr>
          <p:cNvPr id="75" name="Oval 74"/>
          <p:cNvSpPr/>
          <p:nvPr/>
        </p:nvSpPr>
        <p:spPr>
          <a:xfrm>
            <a:off x="2702052" y="4759451"/>
            <a:ext cx="173736" cy="173736"/>
          </a:xfrm>
          <a:prstGeom prst="ellipse">
            <a:avLst/>
          </a:prstGeom>
          <a:solidFill>
            <a:srgbClr val="41801A"/>
          </a:solidFill>
          <a:ln w="15875">
            <a:solidFill>
              <a:srgbClr val="41801A"/>
            </a:solidFill>
          </a:ln>
        </p:spPr>
        <p:txBody>
          <a:bodyPr rtlCol="0" anchor="ctr" lIns="0" rIns="0"/>
          <a:lstStyle/>
          <a:p>
            <a:pPr algn="ctr"/>
          </a:p>
        </p:txBody>
      </p:sp>
      <p:sp>
        <p:nvSpPr>
          <p:cNvPr id="76" name="TextBox 75"/>
          <p:cNvSpPr txBox="1"/>
          <p:nvPr/>
        </p:nvSpPr>
        <p:spPr>
          <a:xfrm>
            <a:off x="2953512" y="4608575"/>
            <a:ext cx="2002536" cy="475488"/>
          </a:xfrm>
          <a:prstGeom prst="rect">
            <a:avLst/>
          </a:prstGeom>
          <a:noFill/>
        </p:spPr>
        <p:txBody>
          <a:bodyPr wrap="square" lIns="0" rIns="0" tIns="0" bIns="0" anchor="ctr">
            <a:noAutofit/>
          </a:bodyPr>
          <a:lstStyle/>
          <a:p>
            <a:pPr algn="l">
              <a:lnSpc>
                <a:spcPct val="110000"/>
              </a:lnSpc>
            </a:pPr>
            <a:r>
              <a:rPr sz="1100" b="0" i="0">
                <a:solidFill>
                  <a:srgbClr val="0C1408"/>
                </a:solidFill>
                <a:latin typeface="Arial"/>
              </a:rPr>
              <a:t>every payment</a:t>
            </a:r>
          </a:p>
        </p:txBody>
      </p:sp>
      <p:sp>
        <p:nvSpPr>
          <p:cNvPr id="77" name="Oval 76"/>
          <p:cNvSpPr/>
          <p:nvPr/>
        </p:nvSpPr>
        <p:spPr>
          <a:xfrm>
            <a:off x="5033772" y="4759451"/>
            <a:ext cx="173736" cy="173736"/>
          </a:xfrm>
          <a:prstGeom prst="ellipse">
            <a:avLst/>
          </a:prstGeom>
          <a:solidFill>
            <a:srgbClr val="FFFFFF"/>
          </a:solidFill>
          <a:ln w="15875">
            <a:solidFill>
              <a:srgbClr val="41801A"/>
            </a:solidFill>
          </a:ln>
        </p:spPr>
        <p:txBody>
          <a:bodyPr rtlCol="0" anchor="ctr" lIns="0" rIns="0"/>
          <a:lstStyle/>
          <a:p>
            <a:pPr algn="ctr"/>
          </a:p>
        </p:txBody>
      </p:sp>
      <p:sp>
        <p:nvSpPr>
          <p:cNvPr id="78" name="TextBox 77"/>
          <p:cNvSpPr txBox="1"/>
          <p:nvPr/>
        </p:nvSpPr>
        <p:spPr>
          <a:xfrm>
            <a:off x="5285232" y="4608575"/>
            <a:ext cx="1911096" cy="475488"/>
          </a:xfrm>
          <a:prstGeom prst="rect">
            <a:avLst/>
          </a:prstGeom>
          <a:noFill/>
        </p:spPr>
        <p:txBody>
          <a:bodyPr wrap="square" lIns="0" rIns="0" tIns="0" bIns="0" anchor="ctr">
            <a:noAutofit/>
          </a:bodyPr>
          <a:lstStyle/>
          <a:p>
            <a:pPr algn="l">
              <a:lnSpc>
                <a:spcPct val="110000"/>
              </a:lnSpc>
            </a:pPr>
            <a:r>
              <a:rPr sz="1100" b="0" i="0">
                <a:solidFill>
                  <a:srgbClr val="0C1408"/>
                </a:solidFill>
                <a:latin typeface="Arial"/>
              </a:rPr>
              <a:t>none</a:t>
            </a:r>
          </a:p>
        </p:txBody>
      </p:sp>
      <p:sp>
        <p:nvSpPr>
          <p:cNvPr id="79" name="Oval 78"/>
          <p:cNvSpPr/>
          <p:nvPr/>
        </p:nvSpPr>
        <p:spPr>
          <a:xfrm>
            <a:off x="7274052" y="4759451"/>
            <a:ext cx="173736" cy="173736"/>
          </a:xfrm>
          <a:prstGeom prst="ellipse">
            <a:avLst/>
          </a:prstGeom>
          <a:solidFill>
            <a:srgbClr val="FFFFFF"/>
          </a:solidFill>
          <a:ln w="15875">
            <a:solidFill>
              <a:srgbClr val="41801A"/>
            </a:solidFill>
          </a:ln>
        </p:spPr>
        <p:txBody>
          <a:bodyPr rtlCol="0" anchor="ctr" lIns="0" rIns="0"/>
          <a:lstStyle/>
          <a:p>
            <a:pPr algn="ctr"/>
          </a:p>
        </p:txBody>
      </p:sp>
      <p:sp>
        <p:nvSpPr>
          <p:cNvPr id="80" name="Pie 79"/>
          <p:cNvSpPr/>
          <p:nvPr/>
        </p:nvSpPr>
        <p:spPr>
          <a:xfrm>
            <a:off x="7274052" y="4759451"/>
            <a:ext cx="173736" cy="173736"/>
          </a:xfrm>
          <a:prstGeom prst="pie">
            <a:avLst>
              <a:gd name="adj1" fmla="val 16200000"/>
              <a:gd name="adj2" fmla="val 5400000"/>
            </a:avLst>
          </a:prstGeom>
          <a:solidFill>
            <a:srgbClr val="41801A"/>
          </a:solidFill>
          <a:ln>
            <a:noFill/>
          </a:ln>
        </p:spPr>
        <p:txBody>
          <a:bodyPr rtlCol="0" anchor="ctr" lIns="0" rIns="0"/>
          <a:lstStyle/>
          <a:p>
            <a:pPr algn="ctr"/>
          </a:p>
        </p:txBody>
      </p:sp>
      <p:sp>
        <p:nvSpPr>
          <p:cNvPr id="81" name="TextBox 80"/>
          <p:cNvSpPr txBox="1"/>
          <p:nvPr/>
        </p:nvSpPr>
        <p:spPr>
          <a:xfrm>
            <a:off x="7525512" y="4608575"/>
            <a:ext cx="1911096" cy="475488"/>
          </a:xfrm>
          <a:prstGeom prst="rect">
            <a:avLst/>
          </a:prstGeom>
          <a:noFill/>
        </p:spPr>
        <p:txBody>
          <a:bodyPr wrap="square" lIns="0" rIns="0" tIns="0" bIns="0" anchor="ctr">
            <a:noAutofit/>
          </a:bodyPr>
          <a:lstStyle/>
          <a:p>
            <a:pPr algn="l">
              <a:lnSpc>
                <a:spcPct val="110000"/>
              </a:lnSpc>
            </a:pPr>
            <a:r>
              <a:rPr sz="1100" b="0" i="0">
                <a:solidFill>
                  <a:srgbClr val="0C1408"/>
                </a:solidFill>
                <a:latin typeface="Arial"/>
              </a:rPr>
              <a:t>defaulters only</a:t>
            </a:r>
          </a:p>
        </p:txBody>
      </p:sp>
      <p:sp>
        <p:nvSpPr>
          <p:cNvPr id="82" name="Oval 81"/>
          <p:cNvSpPr/>
          <p:nvPr/>
        </p:nvSpPr>
        <p:spPr>
          <a:xfrm>
            <a:off x="9514332" y="4759451"/>
            <a:ext cx="173736" cy="173736"/>
          </a:xfrm>
          <a:prstGeom prst="ellipse">
            <a:avLst/>
          </a:prstGeom>
          <a:solidFill>
            <a:srgbClr val="FFFFFF"/>
          </a:solidFill>
          <a:ln w="15875">
            <a:solidFill>
              <a:srgbClr val="41801A"/>
            </a:solidFill>
          </a:ln>
        </p:spPr>
        <p:txBody>
          <a:bodyPr rtlCol="0" anchor="ctr" lIns="0" rIns="0"/>
          <a:lstStyle/>
          <a:p>
            <a:pPr algn="ctr"/>
          </a:p>
        </p:txBody>
      </p:sp>
      <p:sp>
        <p:nvSpPr>
          <p:cNvPr id="83" name="TextBox 82"/>
          <p:cNvSpPr txBox="1"/>
          <p:nvPr/>
        </p:nvSpPr>
        <p:spPr>
          <a:xfrm>
            <a:off x="9765792" y="4608575"/>
            <a:ext cx="1856232" cy="475488"/>
          </a:xfrm>
          <a:prstGeom prst="rect">
            <a:avLst/>
          </a:prstGeom>
          <a:noFill/>
        </p:spPr>
        <p:txBody>
          <a:bodyPr wrap="square" lIns="0" rIns="0" tIns="0" bIns="0" anchor="ctr">
            <a:noAutofit/>
          </a:bodyPr>
          <a:lstStyle/>
          <a:p>
            <a:pPr algn="l">
              <a:lnSpc>
                <a:spcPct val="110000"/>
              </a:lnSpc>
            </a:pPr>
            <a:r>
              <a:rPr sz="1100" b="0" i="0">
                <a:solidFill>
                  <a:srgbClr val="0C1408"/>
                </a:solidFill>
                <a:latin typeface="Arial"/>
              </a:rPr>
              <a:t>none</a:t>
            </a:r>
          </a:p>
        </p:txBody>
      </p:sp>
      <p:cxnSp>
        <p:nvCxnSpPr>
          <p:cNvPr id="84" name="Connector 83"/>
          <p:cNvCxnSpPr/>
          <p:nvPr/>
        </p:nvCxnSpPr>
        <p:spPr>
          <a:xfrm>
            <a:off x="566928" y="5084063"/>
            <a:ext cx="11055096" cy="0"/>
          </a:xfrm>
          <a:prstGeom prst="line">
            <a:avLst/>
          </a:prstGeom>
          <a:ln w="9525">
            <a:solidFill>
              <a:srgbClr val="D5DCD1"/>
            </a:solidFill>
          </a:ln>
        </p:spPr>
      </p:cxnSp>
      <p:sp>
        <p:nvSpPr>
          <p:cNvPr id="85" name="TextBox 84"/>
          <p:cNvSpPr txBox="1"/>
          <p:nvPr/>
        </p:nvSpPr>
        <p:spPr>
          <a:xfrm>
            <a:off x="566928" y="5084063"/>
            <a:ext cx="1947672" cy="475488"/>
          </a:xfrm>
          <a:prstGeom prst="rect">
            <a:avLst/>
          </a:prstGeom>
          <a:noFill/>
        </p:spPr>
        <p:txBody>
          <a:bodyPr wrap="square" lIns="0" rIns="0" tIns="0" bIns="0" anchor="ctr">
            <a:noAutofit/>
          </a:bodyPr>
          <a:lstStyle/>
          <a:p>
            <a:pPr algn="l">
              <a:lnSpc>
                <a:spcPct val="110000"/>
              </a:lnSpc>
            </a:pPr>
            <a:r>
              <a:rPr sz="1200" b="1" i="0">
                <a:solidFill>
                  <a:srgbClr val="0C1408"/>
                </a:solidFill>
                <a:latin typeface="Arial"/>
              </a:rPr>
              <a:t>A way out</a:t>
            </a:r>
          </a:p>
        </p:txBody>
      </p:sp>
      <p:sp>
        <p:nvSpPr>
          <p:cNvPr id="86" name="Oval 85"/>
          <p:cNvSpPr/>
          <p:nvPr/>
        </p:nvSpPr>
        <p:spPr>
          <a:xfrm>
            <a:off x="2702052" y="5234939"/>
            <a:ext cx="173736" cy="173736"/>
          </a:xfrm>
          <a:prstGeom prst="ellipse">
            <a:avLst/>
          </a:prstGeom>
          <a:solidFill>
            <a:srgbClr val="FFFFFF"/>
          </a:solidFill>
          <a:ln w="15875">
            <a:solidFill>
              <a:srgbClr val="41801A"/>
            </a:solidFill>
          </a:ln>
        </p:spPr>
        <p:txBody>
          <a:bodyPr rtlCol="0" anchor="ctr" lIns="0" rIns="0"/>
          <a:lstStyle/>
          <a:p>
            <a:pPr algn="ctr"/>
          </a:p>
        </p:txBody>
      </p:sp>
      <p:sp>
        <p:nvSpPr>
          <p:cNvPr id="87" name="Oval 86"/>
          <p:cNvSpPr/>
          <p:nvPr/>
        </p:nvSpPr>
        <p:spPr>
          <a:xfrm>
            <a:off x="2702052" y="5234939"/>
            <a:ext cx="173736" cy="173736"/>
          </a:xfrm>
          <a:prstGeom prst="ellipse">
            <a:avLst/>
          </a:prstGeom>
          <a:solidFill>
            <a:srgbClr val="41801A"/>
          </a:solidFill>
          <a:ln w="15875">
            <a:solidFill>
              <a:srgbClr val="41801A"/>
            </a:solidFill>
          </a:ln>
        </p:spPr>
        <p:txBody>
          <a:bodyPr rtlCol="0" anchor="ctr" lIns="0" rIns="0"/>
          <a:lstStyle/>
          <a:p>
            <a:pPr algn="ctr"/>
          </a:p>
        </p:txBody>
      </p:sp>
      <p:sp>
        <p:nvSpPr>
          <p:cNvPr id="88" name="TextBox 87"/>
          <p:cNvSpPr txBox="1"/>
          <p:nvPr/>
        </p:nvSpPr>
        <p:spPr>
          <a:xfrm>
            <a:off x="2953512" y="5084063"/>
            <a:ext cx="2002536" cy="475488"/>
          </a:xfrm>
          <a:prstGeom prst="rect">
            <a:avLst/>
          </a:prstGeom>
          <a:noFill/>
        </p:spPr>
        <p:txBody>
          <a:bodyPr wrap="square" lIns="0" rIns="0" tIns="0" bIns="0" anchor="ctr">
            <a:noAutofit/>
          </a:bodyPr>
          <a:lstStyle/>
          <a:p>
            <a:pPr algn="l">
              <a:lnSpc>
                <a:spcPct val="110000"/>
              </a:lnSpc>
            </a:pPr>
            <a:r>
              <a:rPr sz="1100" b="0" i="0">
                <a:solidFill>
                  <a:srgbClr val="0C1408"/>
                </a:solidFill>
                <a:latin typeface="Arial"/>
              </a:rPr>
              <a:t>five set routes</a:t>
            </a:r>
          </a:p>
        </p:txBody>
      </p:sp>
      <p:sp>
        <p:nvSpPr>
          <p:cNvPr id="89" name="Oval 88"/>
          <p:cNvSpPr/>
          <p:nvPr/>
        </p:nvSpPr>
        <p:spPr>
          <a:xfrm>
            <a:off x="5033772" y="5234939"/>
            <a:ext cx="173736" cy="173736"/>
          </a:xfrm>
          <a:prstGeom prst="ellipse">
            <a:avLst/>
          </a:prstGeom>
          <a:solidFill>
            <a:srgbClr val="FFFFFF"/>
          </a:solidFill>
          <a:ln w="15875">
            <a:solidFill>
              <a:srgbClr val="41801A"/>
            </a:solidFill>
          </a:ln>
        </p:spPr>
        <p:txBody>
          <a:bodyPr rtlCol="0" anchor="ctr" lIns="0" rIns="0"/>
          <a:lstStyle/>
          <a:p>
            <a:pPr algn="ctr"/>
          </a:p>
        </p:txBody>
      </p:sp>
      <p:sp>
        <p:nvSpPr>
          <p:cNvPr id="90" name="TextBox 89"/>
          <p:cNvSpPr txBox="1"/>
          <p:nvPr/>
        </p:nvSpPr>
        <p:spPr>
          <a:xfrm>
            <a:off x="5285232" y="5084063"/>
            <a:ext cx="1911096" cy="475488"/>
          </a:xfrm>
          <a:prstGeom prst="rect">
            <a:avLst/>
          </a:prstGeom>
          <a:noFill/>
        </p:spPr>
        <p:txBody>
          <a:bodyPr wrap="square" lIns="0" rIns="0" tIns="0" bIns="0" anchor="ctr">
            <a:noAutofit/>
          </a:bodyPr>
          <a:lstStyle/>
          <a:p>
            <a:pPr algn="l">
              <a:lnSpc>
                <a:spcPct val="110000"/>
              </a:lnSpc>
            </a:pPr>
            <a:r>
              <a:rPr sz="1100" b="0" i="0">
                <a:solidFill>
                  <a:srgbClr val="0C1408"/>
                </a:solidFill>
                <a:latin typeface="Arial"/>
              </a:rPr>
              <a:t>none until the end</a:t>
            </a:r>
          </a:p>
        </p:txBody>
      </p:sp>
      <p:sp>
        <p:nvSpPr>
          <p:cNvPr id="91" name="Oval 90"/>
          <p:cNvSpPr/>
          <p:nvPr/>
        </p:nvSpPr>
        <p:spPr>
          <a:xfrm>
            <a:off x="7274052" y="5234939"/>
            <a:ext cx="173736" cy="173736"/>
          </a:xfrm>
          <a:prstGeom prst="ellipse">
            <a:avLst/>
          </a:prstGeom>
          <a:solidFill>
            <a:srgbClr val="FFFFFF"/>
          </a:solidFill>
          <a:ln w="15875">
            <a:solidFill>
              <a:srgbClr val="41801A"/>
            </a:solidFill>
          </a:ln>
        </p:spPr>
        <p:txBody>
          <a:bodyPr rtlCol="0" anchor="ctr" lIns="0" rIns="0"/>
          <a:lstStyle/>
          <a:p>
            <a:pPr algn="ctr"/>
          </a:p>
        </p:txBody>
      </p:sp>
      <p:sp>
        <p:nvSpPr>
          <p:cNvPr id="92" name="Pie 91"/>
          <p:cNvSpPr/>
          <p:nvPr/>
        </p:nvSpPr>
        <p:spPr>
          <a:xfrm>
            <a:off x="7274052" y="5234939"/>
            <a:ext cx="173736" cy="173736"/>
          </a:xfrm>
          <a:prstGeom prst="pie">
            <a:avLst>
              <a:gd name="adj1" fmla="val 16200000"/>
              <a:gd name="adj2" fmla="val 5400000"/>
            </a:avLst>
          </a:prstGeom>
          <a:solidFill>
            <a:srgbClr val="41801A"/>
          </a:solidFill>
          <a:ln>
            <a:noFill/>
          </a:ln>
        </p:spPr>
        <p:txBody>
          <a:bodyPr rtlCol="0" anchor="ctr" lIns="0" rIns="0"/>
          <a:lstStyle/>
          <a:p>
            <a:pPr algn="ctr"/>
          </a:p>
        </p:txBody>
      </p:sp>
      <p:sp>
        <p:nvSpPr>
          <p:cNvPr id="93" name="TextBox 92"/>
          <p:cNvSpPr txBox="1"/>
          <p:nvPr/>
        </p:nvSpPr>
        <p:spPr>
          <a:xfrm>
            <a:off x="7525512" y="5084063"/>
            <a:ext cx="1911096" cy="475488"/>
          </a:xfrm>
          <a:prstGeom prst="rect">
            <a:avLst/>
          </a:prstGeom>
          <a:noFill/>
        </p:spPr>
        <p:txBody>
          <a:bodyPr wrap="square" lIns="0" rIns="0" tIns="0" bIns="0" anchor="ctr">
            <a:noAutofit/>
          </a:bodyPr>
          <a:lstStyle/>
          <a:p>
            <a:pPr algn="l">
              <a:lnSpc>
                <a:spcPct val="110000"/>
              </a:lnSpc>
            </a:pPr>
            <a:r>
              <a:rPr sz="1100" b="0" i="0">
                <a:solidFill>
                  <a:srgbClr val="0C1408"/>
                </a:solidFill>
                <a:latin typeface="Arial"/>
              </a:rPr>
              <a:t>before payout</a:t>
            </a:r>
          </a:p>
        </p:txBody>
      </p:sp>
      <p:sp>
        <p:nvSpPr>
          <p:cNvPr id="94" name="Oval 93"/>
          <p:cNvSpPr/>
          <p:nvPr/>
        </p:nvSpPr>
        <p:spPr>
          <a:xfrm>
            <a:off x="9514332" y="5234939"/>
            <a:ext cx="173736" cy="173736"/>
          </a:xfrm>
          <a:prstGeom prst="ellipse">
            <a:avLst/>
          </a:prstGeom>
          <a:solidFill>
            <a:srgbClr val="FFFFFF"/>
          </a:solidFill>
          <a:ln w="15875">
            <a:solidFill>
              <a:srgbClr val="41801A"/>
            </a:solidFill>
          </a:ln>
        </p:spPr>
        <p:txBody>
          <a:bodyPr rtlCol="0" anchor="ctr" lIns="0" rIns="0"/>
          <a:lstStyle/>
          <a:p>
            <a:pPr algn="ctr"/>
          </a:p>
        </p:txBody>
      </p:sp>
      <p:sp>
        <p:nvSpPr>
          <p:cNvPr id="95" name="Pie 94"/>
          <p:cNvSpPr/>
          <p:nvPr/>
        </p:nvSpPr>
        <p:spPr>
          <a:xfrm>
            <a:off x="9514332" y="5234939"/>
            <a:ext cx="173736" cy="173736"/>
          </a:xfrm>
          <a:prstGeom prst="pie">
            <a:avLst>
              <a:gd name="adj1" fmla="val 16200000"/>
              <a:gd name="adj2" fmla="val 5400000"/>
            </a:avLst>
          </a:prstGeom>
          <a:solidFill>
            <a:srgbClr val="41801A"/>
          </a:solidFill>
          <a:ln>
            <a:noFill/>
          </a:ln>
        </p:spPr>
        <p:txBody>
          <a:bodyPr rtlCol="0" anchor="ctr" lIns="0" rIns="0"/>
          <a:lstStyle/>
          <a:p>
            <a:pPr algn="ctr"/>
          </a:p>
        </p:txBody>
      </p:sp>
      <p:sp>
        <p:nvSpPr>
          <p:cNvPr id="96" name="TextBox 95"/>
          <p:cNvSpPr txBox="1"/>
          <p:nvPr/>
        </p:nvSpPr>
        <p:spPr>
          <a:xfrm>
            <a:off x="9765792" y="5084063"/>
            <a:ext cx="1856232" cy="475488"/>
          </a:xfrm>
          <a:prstGeom prst="rect">
            <a:avLst/>
          </a:prstGeom>
          <a:noFill/>
        </p:spPr>
        <p:txBody>
          <a:bodyPr wrap="square" lIns="0" rIns="0" tIns="0" bIns="0" anchor="ctr">
            <a:noAutofit/>
          </a:bodyPr>
          <a:lstStyle/>
          <a:p>
            <a:pPr algn="l">
              <a:lnSpc>
                <a:spcPct val="110000"/>
              </a:lnSpc>
            </a:pPr>
            <a:r>
              <a:rPr sz="1100" b="0" i="0">
                <a:solidFill>
                  <a:srgbClr val="0C1408"/>
                </a:solidFill>
                <a:latin typeface="Arial"/>
              </a:rPr>
              <a:t>organiser's discretion</a:t>
            </a:r>
          </a:p>
        </p:txBody>
      </p:sp>
      <p:cxnSp>
        <p:nvCxnSpPr>
          <p:cNvPr id="97" name="Connector 96"/>
          <p:cNvCxnSpPr/>
          <p:nvPr/>
        </p:nvCxnSpPr>
        <p:spPr>
          <a:xfrm>
            <a:off x="566928" y="5559551"/>
            <a:ext cx="11055096" cy="0"/>
          </a:xfrm>
          <a:prstGeom prst="line">
            <a:avLst/>
          </a:prstGeom>
          <a:ln w="9525">
            <a:solidFill>
              <a:srgbClr val="D5DCD1"/>
            </a:solidFill>
          </a:ln>
        </p:spPr>
      </p:cxnSp>
      <p:sp>
        <p:nvSpPr>
          <p:cNvPr id="98" name="Oval 97"/>
          <p:cNvSpPr/>
          <p:nvPr/>
        </p:nvSpPr>
        <p:spPr>
          <a:xfrm>
            <a:off x="576072" y="5833872"/>
            <a:ext cx="164592" cy="164592"/>
          </a:xfrm>
          <a:prstGeom prst="ellipse">
            <a:avLst/>
          </a:prstGeom>
          <a:solidFill>
            <a:srgbClr val="FFFFFF"/>
          </a:solidFill>
          <a:ln w="15875">
            <a:solidFill>
              <a:srgbClr val="41801A"/>
            </a:solidFill>
          </a:ln>
        </p:spPr>
        <p:txBody>
          <a:bodyPr rtlCol="0" anchor="ctr" lIns="0" rIns="0"/>
          <a:lstStyle/>
          <a:p>
            <a:pPr algn="ctr"/>
          </a:p>
        </p:txBody>
      </p:sp>
      <p:sp>
        <p:nvSpPr>
          <p:cNvPr id="99" name="Oval 98"/>
          <p:cNvSpPr/>
          <p:nvPr/>
        </p:nvSpPr>
        <p:spPr>
          <a:xfrm>
            <a:off x="576072" y="5833872"/>
            <a:ext cx="164592" cy="164592"/>
          </a:xfrm>
          <a:prstGeom prst="ellipse">
            <a:avLst/>
          </a:prstGeom>
          <a:solidFill>
            <a:srgbClr val="41801A"/>
          </a:solidFill>
          <a:ln w="15875">
            <a:solidFill>
              <a:srgbClr val="41801A"/>
            </a:solidFill>
          </a:ln>
        </p:spPr>
        <p:txBody>
          <a:bodyPr rtlCol="0" anchor="ctr" lIns="0" rIns="0"/>
          <a:lstStyle/>
          <a:p>
            <a:pPr algn="ctr"/>
          </a:p>
        </p:txBody>
      </p:sp>
      <p:sp>
        <p:nvSpPr>
          <p:cNvPr id="100" name="TextBox 99"/>
          <p:cNvSpPr txBox="1"/>
          <p:nvPr/>
        </p:nvSpPr>
        <p:spPr>
          <a:xfrm>
            <a:off x="822960" y="5806440"/>
            <a:ext cx="822960" cy="228600"/>
          </a:xfrm>
          <a:prstGeom prst="rect">
            <a:avLst/>
          </a:prstGeom>
          <a:noFill/>
        </p:spPr>
        <p:txBody>
          <a:bodyPr wrap="square" lIns="0" rIns="0" tIns="0" bIns="0" anchor="t">
            <a:noAutofit/>
          </a:bodyPr>
          <a:lstStyle/>
          <a:p>
            <a:pPr algn="l">
              <a:lnSpc>
                <a:spcPct val="110000"/>
              </a:lnSpc>
            </a:pPr>
            <a:r>
              <a:rPr sz="1100" b="0" i="0">
                <a:solidFill>
                  <a:srgbClr val="0C1408"/>
                </a:solidFill>
                <a:latin typeface="Arial"/>
              </a:rPr>
              <a:t>yes</a:t>
            </a:r>
          </a:p>
        </p:txBody>
      </p:sp>
      <p:sp>
        <p:nvSpPr>
          <p:cNvPr id="101" name="Oval 100"/>
          <p:cNvSpPr/>
          <p:nvPr/>
        </p:nvSpPr>
        <p:spPr>
          <a:xfrm>
            <a:off x="1673351" y="5833872"/>
            <a:ext cx="164592" cy="164592"/>
          </a:xfrm>
          <a:prstGeom prst="ellipse">
            <a:avLst/>
          </a:prstGeom>
          <a:solidFill>
            <a:srgbClr val="FFFFFF"/>
          </a:solidFill>
          <a:ln w="15875">
            <a:solidFill>
              <a:srgbClr val="41801A"/>
            </a:solidFill>
          </a:ln>
        </p:spPr>
        <p:txBody>
          <a:bodyPr rtlCol="0" anchor="ctr" lIns="0" rIns="0"/>
          <a:lstStyle/>
          <a:p>
            <a:pPr algn="ctr"/>
          </a:p>
        </p:txBody>
      </p:sp>
      <p:sp>
        <p:nvSpPr>
          <p:cNvPr id="102" name="Pie 101"/>
          <p:cNvSpPr/>
          <p:nvPr/>
        </p:nvSpPr>
        <p:spPr>
          <a:xfrm>
            <a:off x="1673351" y="5833872"/>
            <a:ext cx="164592" cy="164592"/>
          </a:xfrm>
          <a:prstGeom prst="pie">
            <a:avLst>
              <a:gd name="adj1" fmla="val 16200000"/>
              <a:gd name="adj2" fmla="val 5400000"/>
            </a:avLst>
          </a:prstGeom>
          <a:solidFill>
            <a:srgbClr val="41801A"/>
          </a:solidFill>
          <a:ln>
            <a:noFill/>
          </a:ln>
        </p:spPr>
        <p:txBody>
          <a:bodyPr rtlCol="0" anchor="ctr" lIns="0" rIns="0"/>
          <a:lstStyle/>
          <a:p>
            <a:pPr algn="ctr"/>
          </a:p>
        </p:txBody>
      </p:sp>
      <p:sp>
        <p:nvSpPr>
          <p:cNvPr id="103" name="TextBox 102"/>
          <p:cNvSpPr txBox="1"/>
          <p:nvPr/>
        </p:nvSpPr>
        <p:spPr>
          <a:xfrm>
            <a:off x="1920240" y="5806440"/>
            <a:ext cx="822960" cy="228600"/>
          </a:xfrm>
          <a:prstGeom prst="rect">
            <a:avLst/>
          </a:prstGeom>
          <a:noFill/>
        </p:spPr>
        <p:txBody>
          <a:bodyPr wrap="square" lIns="0" rIns="0" tIns="0" bIns="0" anchor="t">
            <a:noAutofit/>
          </a:bodyPr>
          <a:lstStyle/>
          <a:p>
            <a:pPr algn="l">
              <a:lnSpc>
                <a:spcPct val="110000"/>
              </a:lnSpc>
            </a:pPr>
            <a:r>
              <a:rPr sz="1100" b="0" i="0">
                <a:solidFill>
                  <a:srgbClr val="0C1408"/>
                </a:solidFill>
                <a:latin typeface="Arial"/>
              </a:rPr>
              <a:t>partly</a:t>
            </a:r>
          </a:p>
        </p:txBody>
      </p:sp>
      <p:sp>
        <p:nvSpPr>
          <p:cNvPr id="104" name="Oval 103"/>
          <p:cNvSpPr/>
          <p:nvPr/>
        </p:nvSpPr>
        <p:spPr>
          <a:xfrm>
            <a:off x="2770632" y="5833872"/>
            <a:ext cx="164592" cy="164592"/>
          </a:xfrm>
          <a:prstGeom prst="ellipse">
            <a:avLst/>
          </a:prstGeom>
          <a:solidFill>
            <a:srgbClr val="FFFFFF"/>
          </a:solidFill>
          <a:ln w="15875">
            <a:solidFill>
              <a:srgbClr val="41801A"/>
            </a:solidFill>
          </a:ln>
        </p:spPr>
        <p:txBody>
          <a:bodyPr rtlCol="0" anchor="ctr" lIns="0" rIns="0"/>
          <a:lstStyle/>
          <a:p>
            <a:pPr algn="ctr"/>
          </a:p>
        </p:txBody>
      </p:sp>
      <p:sp>
        <p:nvSpPr>
          <p:cNvPr id="105" name="TextBox 104"/>
          <p:cNvSpPr txBox="1"/>
          <p:nvPr/>
        </p:nvSpPr>
        <p:spPr>
          <a:xfrm>
            <a:off x="3017520" y="5806440"/>
            <a:ext cx="822960" cy="228600"/>
          </a:xfrm>
          <a:prstGeom prst="rect">
            <a:avLst/>
          </a:prstGeom>
          <a:noFill/>
        </p:spPr>
        <p:txBody>
          <a:bodyPr wrap="square" lIns="0" rIns="0" tIns="0" bIns="0" anchor="t">
            <a:noAutofit/>
          </a:bodyPr>
          <a:lstStyle/>
          <a:p>
            <a:pPr algn="l">
              <a:lnSpc>
                <a:spcPct val="110000"/>
              </a:lnSpc>
            </a:pPr>
            <a:r>
              <a:rPr sz="1100" b="0" i="0">
                <a:solidFill>
                  <a:srgbClr val="0C1408"/>
                </a:solidFill>
                <a:latin typeface="Arial"/>
              </a:rPr>
              <a:t>no</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9509760" cy="566928"/>
          </a:xfrm>
          <a:prstGeom prst="rect">
            <a:avLst/>
          </a:prstGeom>
          <a:noFill/>
        </p:spPr>
        <p:txBody>
          <a:bodyPr wrap="square" lIns="0" rIns="0" tIns="0" bIns="0" anchor="t">
            <a:noAutofit/>
          </a:bodyPr>
          <a:lstStyle/>
          <a:p>
            <a:pPr algn="l">
              <a:lnSpc>
                <a:spcPct val="110000"/>
              </a:lnSpc>
            </a:pPr>
            <a:r>
              <a:rPr sz="2800" b="0" i="0">
                <a:solidFill>
                  <a:srgbClr val="41801A"/>
                </a:solidFill>
                <a:latin typeface="Georgia"/>
              </a:rPr>
              <a:t>Evidence from Other Markets</a:t>
            </a:r>
          </a:p>
        </p:txBody>
      </p:sp>
      <p:sp>
        <p:nvSpPr>
          <p:cNvPr id="3" name="TextBox 2"/>
          <p:cNvSpPr txBox="1"/>
          <p:nvPr/>
        </p:nvSpPr>
        <p:spPr>
          <a:xfrm>
            <a:off x="566928" y="987552"/>
            <a:ext cx="11057839" cy="411480"/>
          </a:xfrm>
          <a:prstGeom prst="rect">
            <a:avLst/>
          </a:prstGeom>
          <a:noFill/>
        </p:spPr>
        <p:txBody>
          <a:bodyPr wrap="square" lIns="0" rIns="0" tIns="0" bIns="0" anchor="t">
            <a:noAutofit/>
          </a:bodyPr>
          <a:lstStyle/>
          <a:p>
            <a:pPr algn="l">
              <a:lnSpc>
                <a:spcPct val="110000"/>
              </a:lnSpc>
            </a:pPr>
            <a:r>
              <a:rPr sz="1800" b="0" i="0">
                <a:solidFill>
                  <a:srgbClr val="0C1408"/>
                </a:solidFill>
                <a:latin typeface="Arial"/>
              </a:rPr>
              <a:t>Digital committees have scaled abroad. Each worked with a regulator or a bank first.</a:t>
            </a:r>
          </a:p>
        </p:txBody>
      </p:sp>
      <p:pic>
        <p:nvPicPr>
          <p:cNvPr id="4" name="Picture 3" descr="halqa_logo.png"/>
          <p:cNvPicPr>
            <a:picLocks noChangeAspect="1"/>
          </p:cNvPicPr>
          <p:nvPr/>
        </p:nvPicPr>
        <p:blipFill>
          <a:blip r:embed="rId3"/>
          <a:stretch>
            <a:fillRect/>
          </a:stretch>
        </p:blipFill>
        <p:spPr>
          <a:xfrm>
            <a:off x="10600639" y="457200"/>
            <a:ext cx="1023202" cy="310896"/>
          </a:xfrm>
          <a:prstGeom prst="rect">
            <a:avLst/>
          </a:prstGeom>
        </p:spPr>
      </p:pic>
      <p:sp>
        <p:nvSpPr>
          <p:cNvPr id="5" name="TextBox 4"/>
          <p:cNvSpPr txBox="1"/>
          <p:nvPr/>
        </p:nvSpPr>
        <p:spPr>
          <a:xfrm>
            <a:off x="566928" y="6309360"/>
            <a:ext cx="10149840" cy="365760"/>
          </a:xfrm>
          <a:prstGeom prst="rect">
            <a:avLst/>
          </a:prstGeom>
          <a:noFill/>
        </p:spPr>
        <p:txBody>
          <a:bodyPr wrap="square" lIns="0" rIns="0" tIns="0" bIns="0" anchor="t">
            <a:noAutofit/>
          </a:bodyPr>
          <a:lstStyle/>
          <a:p>
            <a:pPr algn="l">
              <a:lnSpc>
                <a:spcPct val="100000"/>
              </a:lnSpc>
            </a:pPr>
            <a:r>
              <a:rPr sz="900" b="0" i="0">
                <a:solidFill>
                  <a:srgbClr val="5B6456"/>
                </a:solidFill>
                <a:latin typeface="Arial"/>
              </a:rPr>
              <a:t>Sources   Launch Base Africa, October 2025; The National, December 2023; CNBC, 11 December 2025; CB Insights; Halqa review of 25 earlier attempts, August 2026</a:t>
            </a:r>
          </a:p>
        </p:txBody>
      </p:sp>
      <p:sp>
        <p:nvSpPr>
          <p:cNvPr id="6" name="TextBox 5"/>
          <p:cNvSpPr txBox="1"/>
          <p:nvPr/>
        </p:nvSpPr>
        <p:spPr>
          <a:xfrm>
            <a:off x="11076127" y="6355080"/>
            <a:ext cx="548640" cy="228600"/>
          </a:xfrm>
          <a:prstGeom prst="rect">
            <a:avLst/>
          </a:prstGeom>
          <a:noFill/>
        </p:spPr>
        <p:txBody>
          <a:bodyPr wrap="square" lIns="0" rIns="0" tIns="0" bIns="0" anchor="t">
            <a:noAutofit/>
          </a:bodyPr>
          <a:lstStyle/>
          <a:p>
            <a:pPr algn="r">
              <a:lnSpc>
                <a:spcPct val="110000"/>
              </a:lnSpc>
            </a:pPr>
            <a:r>
              <a:rPr sz="1000" b="0" i="0">
                <a:solidFill>
                  <a:srgbClr val="5B6456"/>
                </a:solidFill>
                <a:latin typeface="Arial"/>
              </a:rPr>
              <a:t>17</a:t>
            </a:r>
          </a:p>
        </p:txBody>
      </p:sp>
      <p:sp>
        <p:nvSpPr>
          <p:cNvPr id="7" name="TextBox 6"/>
          <p:cNvSpPr txBox="1"/>
          <p:nvPr/>
        </p:nvSpPr>
        <p:spPr>
          <a:xfrm>
            <a:off x="2395728" y="1783080"/>
            <a:ext cx="548640" cy="228600"/>
          </a:xfrm>
          <a:prstGeom prst="rect">
            <a:avLst/>
          </a:prstGeom>
          <a:noFill/>
        </p:spPr>
        <p:txBody>
          <a:bodyPr wrap="square" lIns="0" rIns="0" tIns="0" bIns="0" anchor="t">
            <a:noAutofit/>
          </a:bodyPr>
          <a:lstStyle/>
          <a:p>
            <a:pPr algn="ctr">
              <a:lnSpc>
                <a:spcPct val="110000"/>
              </a:lnSpc>
            </a:pPr>
            <a:r>
              <a:rPr sz="1000" b="0" i="0">
                <a:solidFill>
                  <a:srgbClr val="5B6456"/>
                </a:solidFill>
                <a:latin typeface="Arial"/>
              </a:rPr>
              <a:t>2016</a:t>
            </a:r>
          </a:p>
        </p:txBody>
      </p:sp>
      <p:cxnSp>
        <p:nvCxnSpPr>
          <p:cNvPr id="8" name="Connector 7"/>
          <p:cNvCxnSpPr/>
          <p:nvPr/>
        </p:nvCxnSpPr>
        <p:spPr>
          <a:xfrm>
            <a:off x="2670048" y="2057400"/>
            <a:ext cx="0" cy="3337560"/>
          </a:xfrm>
          <a:prstGeom prst="line">
            <a:avLst/>
          </a:prstGeom>
          <a:ln w="6350">
            <a:solidFill>
              <a:srgbClr val="D5DCD1"/>
            </a:solidFill>
          </a:ln>
        </p:spPr>
      </p:cxnSp>
      <p:sp>
        <p:nvSpPr>
          <p:cNvPr id="9" name="TextBox 8"/>
          <p:cNvSpPr txBox="1"/>
          <p:nvPr/>
        </p:nvSpPr>
        <p:spPr>
          <a:xfrm>
            <a:off x="3072384" y="1783080"/>
            <a:ext cx="548640" cy="228600"/>
          </a:xfrm>
          <a:prstGeom prst="rect">
            <a:avLst/>
          </a:prstGeom>
          <a:noFill/>
        </p:spPr>
        <p:txBody>
          <a:bodyPr wrap="square" lIns="0" rIns="0" tIns="0" bIns="0" anchor="t">
            <a:noAutofit/>
          </a:bodyPr>
          <a:lstStyle/>
          <a:p>
            <a:pPr algn="ctr">
              <a:lnSpc>
                <a:spcPct val="110000"/>
              </a:lnSpc>
            </a:pPr>
            <a:r>
              <a:rPr sz="1000" b="0" i="0">
                <a:solidFill>
                  <a:srgbClr val="5B6456"/>
                </a:solidFill>
                <a:latin typeface="Arial"/>
              </a:rPr>
              <a:t>2017</a:t>
            </a:r>
          </a:p>
        </p:txBody>
      </p:sp>
      <p:cxnSp>
        <p:nvCxnSpPr>
          <p:cNvPr id="10" name="Connector 9"/>
          <p:cNvCxnSpPr/>
          <p:nvPr/>
        </p:nvCxnSpPr>
        <p:spPr>
          <a:xfrm>
            <a:off x="3346704" y="2057400"/>
            <a:ext cx="0" cy="3337560"/>
          </a:xfrm>
          <a:prstGeom prst="line">
            <a:avLst/>
          </a:prstGeom>
          <a:ln w="6350">
            <a:solidFill>
              <a:srgbClr val="D5DCD1"/>
            </a:solidFill>
          </a:ln>
        </p:spPr>
      </p:cxnSp>
      <p:sp>
        <p:nvSpPr>
          <p:cNvPr id="11" name="TextBox 10"/>
          <p:cNvSpPr txBox="1"/>
          <p:nvPr/>
        </p:nvSpPr>
        <p:spPr>
          <a:xfrm>
            <a:off x="3749040" y="1783080"/>
            <a:ext cx="548640" cy="228600"/>
          </a:xfrm>
          <a:prstGeom prst="rect">
            <a:avLst/>
          </a:prstGeom>
          <a:noFill/>
        </p:spPr>
        <p:txBody>
          <a:bodyPr wrap="square" lIns="0" rIns="0" tIns="0" bIns="0" anchor="t">
            <a:noAutofit/>
          </a:bodyPr>
          <a:lstStyle/>
          <a:p>
            <a:pPr algn="ctr">
              <a:lnSpc>
                <a:spcPct val="110000"/>
              </a:lnSpc>
            </a:pPr>
            <a:r>
              <a:rPr sz="1000" b="0" i="0">
                <a:solidFill>
                  <a:srgbClr val="5B6456"/>
                </a:solidFill>
                <a:latin typeface="Arial"/>
              </a:rPr>
              <a:t>2018</a:t>
            </a:r>
          </a:p>
        </p:txBody>
      </p:sp>
      <p:cxnSp>
        <p:nvCxnSpPr>
          <p:cNvPr id="12" name="Connector 11"/>
          <p:cNvCxnSpPr/>
          <p:nvPr/>
        </p:nvCxnSpPr>
        <p:spPr>
          <a:xfrm>
            <a:off x="4023360" y="2057400"/>
            <a:ext cx="0" cy="3337560"/>
          </a:xfrm>
          <a:prstGeom prst="line">
            <a:avLst/>
          </a:prstGeom>
          <a:ln w="6350">
            <a:solidFill>
              <a:srgbClr val="D5DCD1"/>
            </a:solidFill>
          </a:ln>
        </p:spPr>
      </p:cxnSp>
      <p:sp>
        <p:nvSpPr>
          <p:cNvPr id="13" name="TextBox 12"/>
          <p:cNvSpPr txBox="1"/>
          <p:nvPr/>
        </p:nvSpPr>
        <p:spPr>
          <a:xfrm>
            <a:off x="4425696" y="1783080"/>
            <a:ext cx="548640" cy="228600"/>
          </a:xfrm>
          <a:prstGeom prst="rect">
            <a:avLst/>
          </a:prstGeom>
          <a:noFill/>
        </p:spPr>
        <p:txBody>
          <a:bodyPr wrap="square" lIns="0" rIns="0" tIns="0" bIns="0" anchor="t">
            <a:noAutofit/>
          </a:bodyPr>
          <a:lstStyle/>
          <a:p>
            <a:pPr algn="ctr">
              <a:lnSpc>
                <a:spcPct val="110000"/>
              </a:lnSpc>
            </a:pPr>
            <a:r>
              <a:rPr sz="1000" b="0" i="0">
                <a:solidFill>
                  <a:srgbClr val="5B6456"/>
                </a:solidFill>
                <a:latin typeface="Arial"/>
              </a:rPr>
              <a:t>2019</a:t>
            </a:r>
          </a:p>
        </p:txBody>
      </p:sp>
      <p:cxnSp>
        <p:nvCxnSpPr>
          <p:cNvPr id="14" name="Connector 13"/>
          <p:cNvCxnSpPr/>
          <p:nvPr/>
        </p:nvCxnSpPr>
        <p:spPr>
          <a:xfrm>
            <a:off x="4700016" y="2057400"/>
            <a:ext cx="0" cy="3337560"/>
          </a:xfrm>
          <a:prstGeom prst="line">
            <a:avLst/>
          </a:prstGeom>
          <a:ln w="6350">
            <a:solidFill>
              <a:srgbClr val="D5DCD1"/>
            </a:solidFill>
          </a:ln>
        </p:spPr>
      </p:cxnSp>
      <p:sp>
        <p:nvSpPr>
          <p:cNvPr id="15" name="TextBox 14"/>
          <p:cNvSpPr txBox="1"/>
          <p:nvPr/>
        </p:nvSpPr>
        <p:spPr>
          <a:xfrm>
            <a:off x="5102352" y="1783080"/>
            <a:ext cx="548640" cy="228600"/>
          </a:xfrm>
          <a:prstGeom prst="rect">
            <a:avLst/>
          </a:prstGeom>
          <a:noFill/>
        </p:spPr>
        <p:txBody>
          <a:bodyPr wrap="square" lIns="0" rIns="0" tIns="0" bIns="0" anchor="t">
            <a:noAutofit/>
          </a:bodyPr>
          <a:lstStyle/>
          <a:p>
            <a:pPr algn="ctr">
              <a:lnSpc>
                <a:spcPct val="110000"/>
              </a:lnSpc>
            </a:pPr>
            <a:r>
              <a:rPr sz="1000" b="0" i="0">
                <a:solidFill>
                  <a:srgbClr val="5B6456"/>
                </a:solidFill>
                <a:latin typeface="Arial"/>
              </a:rPr>
              <a:t>2020</a:t>
            </a:r>
          </a:p>
        </p:txBody>
      </p:sp>
      <p:cxnSp>
        <p:nvCxnSpPr>
          <p:cNvPr id="16" name="Connector 15"/>
          <p:cNvCxnSpPr/>
          <p:nvPr/>
        </p:nvCxnSpPr>
        <p:spPr>
          <a:xfrm>
            <a:off x="5376672" y="2057400"/>
            <a:ext cx="0" cy="3337560"/>
          </a:xfrm>
          <a:prstGeom prst="line">
            <a:avLst/>
          </a:prstGeom>
          <a:ln w="6350">
            <a:solidFill>
              <a:srgbClr val="D5DCD1"/>
            </a:solidFill>
          </a:ln>
        </p:spPr>
      </p:cxnSp>
      <p:sp>
        <p:nvSpPr>
          <p:cNvPr id="17" name="TextBox 16"/>
          <p:cNvSpPr txBox="1"/>
          <p:nvPr/>
        </p:nvSpPr>
        <p:spPr>
          <a:xfrm>
            <a:off x="5779008" y="1783080"/>
            <a:ext cx="548640" cy="228600"/>
          </a:xfrm>
          <a:prstGeom prst="rect">
            <a:avLst/>
          </a:prstGeom>
          <a:noFill/>
        </p:spPr>
        <p:txBody>
          <a:bodyPr wrap="square" lIns="0" rIns="0" tIns="0" bIns="0" anchor="t">
            <a:noAutofit/>
          </a:bodyPr>
          <a:lstStyle/>
          <a:p>
            <a:pPr algn="ctr">
              <a:lnSpc>
                <a:spcPct val="110000"/>
              </a:lnSpc>
            </a:pPr>
            <a:r>
              <a:rPr sz="1000" b="0" i="0">
                <a:solidFill>
                  <a:srgbClr val="5B6456"/>
                </a:solidFill>
                <a:latin typeface="Arial"/>
              </a:rPr>
              <a:t>2021</a:t>
            </a:r>
          </a:p>
        </p:txBody>
      </p:sp>
      <p:cxnSp>
        <p:nvCxnSpPr>
          <p:cNvPr id="18" name="Connector 17"/>
          <p:cNvCxnSpPr/>
          <p:nvPr/>
        </p:nvCxnSpPr>
        <p:spPr>
          <a:xfrm>
            <a:off x="6053328" y="2057400"/>
            <a:ext cx="0" cy="3337560"/>
          </a:xfrm>
          <a:prstGeom prst="line">
            <a:avLst/>
          </a:prstGeom>
          <a:ln w="6350">
            <a:solidFill>
              <a:srgbClr val="D5DCD1"/>
            </a:solidFill>
          </a:ln>
        </p:spPr>
      </p:cxnSp>
      <p:sp>
        <p:nvSpPr>
          <p:cNvPr id="19" name="TextBox 18"/>
          <p:cNvSpPr txBox="1"/>
          <p:nvPr/>
        </p:nvSpPr>
        <p:spPr>
          <a:xfrm>
            <a:off x="6455664" y="1783080"/>
            <a:ext cx="548640" cy="228600"/>
          </a:xfrm>
          <a:prstGeom prst="rect">
            <a:avLst/>
          </a:prstGeom>
          <a:noFill/>
        </p:spPr>
        <p:txBody>
          <a:bodyPr wrap="square" lIns="0" rIns="0" tIns="0" bIns="0" anchor="t">
            <a:noAutofit/>
          </a:bodyPr>
          <a:lstStyle/>
          <a:p>
            <a:pPr algn="ctr">
              <a:lnSpc>
                <a:spcPct val="110000"/>
              </a:lnSpc>
            </a:pPr>
            <a:r>
              <a:rPr sz="1000" b="0" i="0">
                <a:solidFill>
                  <a:srgbClr val="5B6456"/>
                </a:solidFill>
                <a:latin typeface="Arial"/>
              </a:rPr>
              <a:t>2022</a:t>
            </a:r>
          </a:p>
        </p:txBody>
      </p:sp>
      <p:cxnSp>
        <p:nvCxnSpPr>
          <p:cNvPr id="20" name="Connector 19"/>
          <p:cNvCxnSpPr/>
          <p:nvPr/>
        </p:nvCxnSpPr>
        <p:spPr>
          <a:xfrm>
            <a:off x="6729983" y="2057400"/>
            <a:ext cx="0" cy="3337560"/>
          </a:xfrm>
          <a:prstGeom prst="line">
            <a:avLst/>
          </a:prstGeom>
          <a:ln w="6350">
            <a:solidFill>
              <a:srgbClr val="D5DCD1"/>
            </a:solidFill>
          </a:ln>
        </p:spPr>
      </p:cxnSp>
      <p:sp>
        <p:nvSpPr>
          <p:cNvPr id="21" name="TextBox 20"/>
          <p:cNvSpPr txBox="1"/>
          <p:nvPr/>
        </p:nvSpPr>
        <p:spPr>
          <a:xfrm>
            <a:off x="7132320" y="1783080"/>
            <a:ext cx="548640" cy="228600"/>
          </a:xfrm>
          <a:prstGeom prst="rect">
            <a:avLst/>
          </a:prstGeom>
          <a:noFill/>
        </p:spPr>
        <p:txBody>
          <a:bodyPr wrap="square" lIns="0" rIns="0" tIns="0" bIns="0" anchor="t">
            <a:noAutofit/>
          </a:bodyPr>
          <a:lstStyle/>
          <a:p>
            <a:pPr algn="ctr">
              <a:lnSpc>
                <a:spcPct val="110000"/>
              </a:lnSpc>
            </a:pPr>
            <a:r>
              <a:rPr sz="1000" b="0" i="0">
                <a:solidFill>
                  <a:srgbClr val="5B6456"/>
                </a:solidFill>
                <a:latin typeface="Arial"/>
              </a:rPr>
              <a:t>2023</a:t>
            </a:r>
          </a:p>
        </p:txBody>
      </p:sp>
      <p:cxnSp>
        <p:nvCxnSpPr>
          <p:cNvPr id="22" name="Connector 21"/>
          <p:cNvCxnSpPr/>
          <p:nvPr/>
        </p:nvCxnSpPr>
        <p:spPr>
          <a:xfrm>
            <a:off x="7406640" y="2057400"/>
            <a:ext cx="0" cy="3337560"/>
          </a:xfrm>
          <a:prstGeom prst="line">
            <a:avLst/>
          </a:prstGeom>
          <a:ln w="6350">
            <a:solidFill>
              <a:srgbClr val="D5DCD1"/>
            </a:solidFill>
          </a:ln>
        </p:spPr>
      </p:cxnSp>
      <p:sp>
        <p:nvSpPr>
          <p:cNvPr id="23" name="TextBox 22"/>
          <p:cNvSpPr txBox="1"/>
          <p:nvPr/>
        </p:nvSpPr>
        <p:spPr>
          <a:xfrm>
            <a:off x="7808975" y="1783080"/>
            <a:ext cx="548640" cy="228600"/>
          </a:xfrm>
          <a:prstGeom prst="rect">
            <a:avLst/>
          </a:prstGeom>
          <a:noFill/>
        </p:spPr>
        <p:txBody>
          <a:bodyPr wrap="square" lIns="0" rIns="0" tIns="0" bIns="0" anchor="t">
            <a:noAutofit/>
          </a:bodyPr>
          <a:lstStyle/>
          <a:p>
            <a:pPr algn="ctr">
              <a:lnSpc>
                <a:spcPct val="110000"/>
              </a:lnSpc>
            </a:pPr>
            <a:r>
              <a:rPr sz="1000" b="0" i="0">
                <a:solidFill>
                  <a:srgbClr val="5B6456"/>
                </a:solidFill>
                <a:latin typeface="Arial"/>
              </a:rPr>
              <a:t>2024</a:t>
            </a:r>
          </a:p>
        </p:txBody>
      </p:sp>
      <p:cxnSp>
        <p:nvCxnSpPr>
          <p:cNvPr id="24" name="Connector 23"/>
          <p:cNvCxnSpPr/>
          <p:nvPr/>
        </p:nvCxnSpPr>
        <p:spPr>
          <a:xfrm>
            <a:off x="8083296" y="2057400"/>
            <a:ext cx="0" cy="3337560"/>
          </a:xfrm>
          <a:prstGeom prst="line">
            <a:avLst/>
          </a:prstGeom>
          <a:ln w="6350">
            <a:solidFill>
              <a:srgbClr val="D5DCD1"/>
            </a:solidFill>
          </a:ln>
        </p:spPr>
      </p:cxnSp>
      <p:sp>
        <p:nvSpPr>
          <p:cNvPr id="25" name="TextBox 24"/>
          <p:cNvSpPr txBox="1"/>
          <p:nvPr/>
        </p:nvSpPr>
        <p:spPr>
          <a:xfrm>
            <a:off x="8485632" y="1783080"/>
            <a:ext cx="548640" cy="228600"/>
          </a:xfrm>
          <a:prstGeom prst="rect">
            <a:avLst/>
          </a:prstGeom>
          <a:noFill/>
        </p:spPr>
        <p:txBody>
          <a:bodyPr wrap="square" lIns="0" rIns="0" tIns="0" bIns="0" anchor="t">
            <a:noAutofit/>
          </a:bodyPr>
          <a:lstStyle/>
          <a:p>
            <a:pPr algn="ctr">
              <a:lnSpc>
                <a:spcPct val="110000"/>
              </a:lnSpc>
            </a:pPr>
            <a:r>
              <a:rPr sz="1000" b="0" i="0">
                <a:solidFill>
                  <a:srgbClr val="5B6456"/>
                </a:solidFill>
                <a:latin typeface="Arial"/>
              </a:rPr>
              <a:t>2025</a:t>
            </a:r>
          </a:p>
        </p:txBody>
      </p:sp>
      <p:cxnSp>
        <p:nvCxnSpPr>
          <p:cNvPr id="26" name="Connector 25"/>
          <p:cNvCxnSpPr/>
          <p:nvPr/>
        </p:nvCxnSpPr>
        <p:spPr>
          <a:xfrm>
            <a:off x="8759952" y="2057400"/>
            <a:ext cx="0" cy="3337560"/>
          </a:xfrm>
          <a:prstGeom prst="line">
            <a:avLst/>
          </a:prstGeom>
          <a:ln w="6350">
            <a:solidFill>
              <a:srgbClr val="D5DCD1"/>
            </a:solidFill>
          </a:ln>
        </p:spPr>
      </p:cxnSp>
      <p:sp>
        <p:nvSpPr>
          <p:cNvPr id="27" name="TextBox 26"/>
          <p:cNvSpPr txBox="1"/>
          <p:nvPr/>
        </p:nvSpPr>
        <p:spPr>
          <a:xfrm>
            <a:off x="9162288" y="1783080"/>
            <a:ext cx="548640" cy="228600"/>
          </a:xfrm>
          <a:prstGeom prst="rect">
            <a:avLst/>
          </a:prstGeom>
          <a:noFill/>
        </p:spPr>
        <p:txBody>
          <a:bodyPr wrap="square" lIns="0" rIns="0" tIns="0" bIns="0" anchor="t">
            <a:noAutofit/>
          </a:bodyPr>
          <a:lstStyle/>
          <a:p>
            <a:pPr algn="ctr">
              <a:lnSpc>
                <a:spcPct val="110000"/>
              </a:lnSpc>
            </a:pPr>
            <a:r>
              <a:rPr sz="1000" b="0" i="0">
                <a:solidFill>
                  <a:srgbClr val="5B6456"/>
                </a:solidFill>
                <a:latin typeface="Arial"/>
              </a:rPr>
              <a:t>2026</a:t>
            </a:r>
          </a:p>
        </p:txBody>
      </p:sp>
      <p:cxnSp>
        <p:nvCxnSpPr>
          <p:cNvPr id="28" name="Connector 27"/>
          <p:cNvCxnSpPr/>
          <p:nvPr/>
        </p:nvCxnSpPr>
        <p:spPr>
          <a:xfrm>
            <a:off x="9436608" y="2057400"/>
            <a:ext cx="0" cy="3337560"/>
          </a:xfrm>
          <a:prstGeom prst="line">
            <a:avLst/>
          </a:prstGeom>
          <a:ln w="6350">
            <a:solidFill>
              <a:srgbClr val="D5DCD1"/>
            </a:solidFill>
          </a:ln>
        </p:spPr>
      </p:cxnSp>
      <p:sp>
        <p:nvSpPr>
          <p:cNvPr id="29" name="TextBox 28"/>
          <p:cNvSpPr txBox="1"/>
          <p:nvPr/>
        </p:nvSpPr>
        <p:spPr>
          <a:xfrm>
            <a:off x="566928" y="2148840"/>
            <a:ext cx="2011679" cy="274320"/>
          </a:xfrm>
          <a:prstGeom prst="rect">
            <a:avLst/>
          </a:prstGeom>
          <a:noFill/>
        </p:spPr>
        <p:txBody>
          <a:bodyPr wrap="square" lIns="0" rIns="0" tIns="0" bIns="0" anchor="t">
            <a:noAutofit/>
          </a:bodyPr>
          <a:lstStyle/>
          <a:p>
            <a:pPr algn="l">
              <a:lnSpc>
                <a:spcPct val="110000"/>
              </a:lnSpc>
            </a:pPr>
            <a:r>
              <a:rPr sz="1400" b="1" i="0">
                <a:solidFill>
                  <a:srgbClr val="41801A"/>
                </a:solidFill>
                <a:latin typeface="Arial"/>
              </a:rPr>
              <a:t>Money Fellows</a:t>
            </a:r>
          </a:p>
        </p:txBody>
      </p:sp>
      <p:sp>
        <p:nvSpPr>
          <p:cNvPr id="30" name="TextBox 29"/>
          <p:cNvSpPr txBox="1"/>
          <p:nvPr/>
        </p:nvSpPr>
        <p:spPr>
          <a:xfrm>
            <a:off x="566928" y="2404872"/>
            <a:ext cx="2011679" cy="228600"/>
          </a:xfrm>
          <a:prstGeom prst="rect">
            <a:avLst/>
          </a:prstGeom>
          <a:noFill/>
        </p:spPr>
        <p:txBody>
          <a:bodyPr wrap="square" lIns="0" rIns="0" tIns="0" bIns="0" anchor="t">
            <a:noAutofit/>
          </a:bodyPr>
          <a:lstStyle/>
          <a:p>
            <a:pPr algn="l">
              <a:lnSpc>
                <a:spcPct val="110000"/>
              </a:lnSpc>
            </a:pPr>
            <a:r>
              <a:rPr sz="1100" b="0" i="0">
                <a:solidFill>
                  <a:srgbClr val="5B6456"/>
                </a:solidFill>
                <a:latin typeface="Arial"/>
              </a:rPr>
              <a:t>Egypt</a:t>
            </a:r>
          </a:p>
        </p:txBody>
      </p:sp>
      <p:cxnSp>
        <p:nvCxnSpPr>
          <p:cNvPr id="31" name="Connector 30"/>
          <p:cNvCxnSpPr/>
          <p:nvPr/>
        </p:nvCxnSpPr>
        <p:spPr>
          <a:xfrm>
            <a:off x="2670048" y="2331720"/>
            <a:ext cx="6766560" cy="0"/>
          </a:xfrm>
          <a:prstGeom prst="line">
            <a:avLst/>
          </a:prstGeom>
          <a:ln w="28575">
            <a:solidFill>
              <a:srgbClr val="41801A"/>
            </a:solidFill>
          </a:ln>
        </p:spPr>
      </p:cxnSp>
      <p:sp>
        <p:nvSpPr>
          <p:cNvPr id="32" name="Oval 31"/>
          <p:cNvSpPr/>
          <p:nvPr/>
        </p:nvSpPr>
        <p:spPr>
          <a:xfrm>
            <a:off x="2606040" y="2267712"/>
            <a:ext cx="128016" cy="128016"/>
          </a:xfrm>
          <a:prstGeom prst="ellipse">
            <a:avLst/>
          </a:prstGeom>
          <a:solidFill>
            <a:srgbClr val="41801A"/>
          </a:solidFill>
          <a:ln w="15875">
            <a:solidFill>
              <a:srgbClr val="41801A"/>
            </a:solidFill>
          </a:ln>
        </p:spPr>
        <p:txBody>
          <a:bodyPr rtlCol="0" anchor="ctr" lIns="0" rIns="0"/>
          <a:lstStyle/>
          <a:p>
            <a:pPr algn="ctr"/>
          </a:p>
        </p:txBody>
      </p:sp>
      <p:sp>
        <p:nvSpPr>
          <p:cNvPr id="33" name="Oval 32"/>
          <p:cNvSpPr/>
          <p:nvPr/>
        </p:nvSpPr>
        <p:spPr>
          <a:xfrm>
            <a:off x="8682228" y="2253996"/>
            <a:ext cx="155448" cy="155448"/>
          </a:xfrm>
          <a:prstGeom prst="ellipse">
            <a:avLst/>
          </a:prstGeom>
          <a:solidFill>
            <a:srgbClr val="FFFFFF"/>
          </a:solidFill>
          <a:ln w="19050">
            <a:solidFill>
              <a:srgbClr val="41801A"/>
            </a:solidFill>
          </a:ln>
        </p:spPr>
        <p:txBody>
          <a:bodyPr rtlCol="0" anchor="ctr" lIns="0" rIns="0"/>
          <a:lstStyle/>
          <a:p>
            <a:pPr algn="ctr"/>
          </a:p>
        </p:txBody>
      </p:sp>
      <p:sp>
        <p:nvSpPr>
          <p:cNvPr id="34" name="TextBox 33"/>
          <p:cNvSpPr txBox="1"/>
          <p:nvPr/>
        </p:nvSpPr>
        <p:spPr>
          <a:xfrm>
            <a:off x="7936992" y="2432304"/>
            <a:ext cx="1645920" cy="228600"/>
          </a:xfrm>
          <a:prstGeom prst="rect">
            <a:avLst/>
          </a:prstGeom>
          <a:noFill/>
        </p:spPr>
        <p:txBody>
          <a:bodyPr wrap="square" lIns="0" rIns="0" tIns="0" bIns="0" anchor="t">
            <a:noAutofit/>
          </a:bodyPr>
          <a:lstStyle/>
          <a:p>
            <a:pPr algn="ctr">
              <a:lnSpc>
                <a:spcPct val="110000"/>
              </a:lnSpc>
            </a:pPr>
            <a:r>
              <a:rPr sz="1000" b="0" i="0">
                <a:solidFill>
                  <a:srgbClr val="0C1408"/>
                </a:solidFill>
                <a:latin typeface="Arial"/>
              </a:rPr>
              <a:t>profitable</a:t>
            </a:r>
          </a:p>
        </p:txBody>
      </p:sp>
      <p:sp>
        <p:nvSpPr>
          <p:cNvPr id="35" name="TextBox 34"/>
          <p:cNvSpPr txBox="1"/>
          <p:nvPr/>
        </p:nvSpPr>
        <p:spPr>
          <a:xfrm>
            <a:off x="9546336" y="2194560"/>
            <a:ext cx="1828800" cy="274320"/>
          </a:xfrm>
          <a:prstGeom prst="rect">
            <a:avLst/>
          </a:prstGeom>
          <a:noFill/>
        </p:spPr>
        <p:txBody>
          <a:bodyPr wrap="square" lIns="0" rIns="0" tIns="0" bIns="0" anchor="t">
            <a:noAutofit/>
          </a:bodyPr>
          <a:lstStyle/>
          <a:p>
            <a:pPr algn="l">
              <a:lnSpc>
                <a:spcPct val="110000"/>
              </a:lnSpc>
            </a:pPr>
            <a:r>
              <a:rPr sz="1300" b="0" i="0">
                <a:solidFill>
                  <a:srgbClr val="0C1408"/>
                </a:solidFill>
                <a:latin typeface="Arial"/>
              </a:rPr>
              <a:t>8.5 million users</a:t>
            </a:r>
          </a:p>
        </p:txBody>
      </p:sp>
      <p:sp>
        <p:nvSpPr>
          <p:cNvPr id="36" name="TextBox 35"/>
          <p:cNvSpPr txBox="1"/>
          <p:nvPr/>
        </p:nvSpPr>
        <p:spPr>
          <a:xfrm>
            <a:off x="566928" y="2971800"/>
            <a:ext cx="2011679" cy="274320"/>
          </a:xfrm>
          <a:prstGeom prst="rect">
            <a:avLst/>
          </a:prstGeom>
          <a:noFill/>
        </p:spPr>
        <p:txBody>
          <a:bodyPr wrap="square" lIns="0" rIns="0" tIns="0" bIns="0" anchor="t">
            <a:noAutofit/>
          </a:bodyPr>
          <a:lstStyle/>
          <a:p>
            <a:pPr algn="l">
              <a:lnSpc>
                <a:spcPct val="110000"/>
              </a:lnSpc>
            </a:pPr>
            <a:r>
              <a:rPr sz="1400" b="1" i="0">
                <a:solidFill>
                  <a:srgbClr val="41801A"/>
                </a:solidFill>
                <a:latin typeface="Arial"/>
              </a:rPr>
              <a:t>Hakbah</a:t>
            </a:r>
          </a:p>
        </p:txBody>
      </p:sp>
      <p:sp>
        <p:nvSpPr>
          <p:cNvPr id="37" name="TextBox 36"/>
          <p:cNvSpPr txBox="1"/>
          <p:nvPr/>
        </p:nvSpPr>
        <p:spPr>
          <a:xfrm>
            <a:off x="566928" y="3227832"/>
            <a:ext cx="2011679" cy="228600"/>
          </a:xfrm>
          <a:prstGeom prst="rect">
            <a:avLst/>
          </a:prstGeom>
          <a:noFill/>
        </p:spPr>
        <p:txBody>
          <a:bodyPr wrap="square" lIns="0" rIns="0" tIns="0" bIns="0" anchor="t">
            <a:noAutofit/>
          </a:bodyPr>
          <a:lstStyle/>
          <a:p>
            <a:pPr algn="l">
              <a:lnSpc>
                <a:spcPct val="110000"/>
              </a:lnSpc>
            </a:pPr>
            <a:r>
              <a:rPr sz="1100" b="0" i="0">
                <a:solidFill>
                  <a:srgbClr val="5B6456"/>
                </a:solidFill>
                <a:latin typeface="Arial"/>
              </a:rPr>
              <a:t>Saudi Arabia</a:t>
            </a:r>
          </a:p>
        </p:txBody>
      </p:sp>
      <p:cxnSp>
        <p:nvCxnSpPr>
          <p:cNvPr id="38" name="Connector 37"/>
          <p:cNvCxnSpPr/>
          <p:nvPr/>
        </p:nvCxnSpPr>
        <p:spPr>
          <a:xfrm>
            <a:off x="4023360" y="3154680"/>
            <a:ext cx="5413248" cy="0"/>
          </a:xfrm>
          <a:prstGeom prst="line">
            <a:avLst/>
          </a:prstGeom>
          <a:ln w="28575">
            <a:solidFill>
              <a:srgbClr val="41801A"/>
            </a:solidFill>
          </a:ln>
        </p:spPr>
      </p:cxnSp>
      <p:sp>
        <p:nvSpPr>
          <p:cNvPr id="39" name="Oval 38"/>
          <p:cNvSpPr/>
          <p:nvPr/>
        </p:nvSpPr>
        <p:spPr>
          <a:xfrm>
            <a:off x="3959352" y="3090672"/>
            <a:ext cx="128016" cy="128016"/>
          </a:xfrm>
          <a:prstGeom prst="ellipse">
            <a:avLst/>
          </a:prstGeom>
          <a:solidFill>
            <a:srgbClr val="41801A"/>
          </a:solidFill>
          <a:ln w="15875">
            <a:solidFill>
              <a:srgbClr val="41801A"/>
            </a:solidFill>
          </a:ln>
        </p:spPr>
        <p:txBody>
          <a:bodyPr rtlCol="0" anchor="ctr" lIns="0" rIns="0"/>
          <a:lstStyle/>
          <a:p>
            <a:pPr algn="ctr"/>
          </a:p>
        </p:txBody>
      </p:sp>
      <p:sp>
        <p:nvSpPr>
          <p:cNvPr id="40" name="Oval 39"/>
          <p:cNvSpPr/>
          <p:nvPr/>
        </p:nvSpPr>
        <p:spPr>
          <a:xfrm>
            <a:off x="5298948" y="3076956"/>
            <a:ext cx="155448" cy="155448"/>
          </a:xfrm>
          <a:prstGeom prst="ellipse">
            <a:avLst/>
          </a:prstGeom>
          <a:solidFill>
            <a:srgbClr val="FFFFFF"/>
          </a:solidFill>
          <a:ln w="19050">
            <a:solidFill>
              <a:srgbClr val="41801A"/>
            </a:solidFill>
          </a:ln>
        </p:spPr>
        <p:txBody>
          <a:bodyPr rtlCol="0" anchor="ctr" lIns="0" rIns="0"/>
          <a:lstStyle/>
          <a:p>
            <a:pPr algn="ctr"/>
          </a:p>
        </p:txBody>
      </p:sp>
      <p:sp>
        <p:nvSpPr>
          <p:cNvPr id="41" name="TextBox 40"/>
          <p:cNvSpPr txBox="1"/>
          <p:nvPr/>
        </p:nvSpPr>
        <p:spPr>
          <a:xfrm>
            <a:off x="4553712" y="3255264"/>
            <a:ext cx="1645920" cy="228600"/>
          </a:xfrm>
          <a:prstGeom prst="rect">
            <a:avLst/>
          </a:prstGeom>
          <a:noFill/>
        </p:spPr>
        <p:txBody>
          <a:bodyPr wrap="square" lIns="0" rIns="0" tIns="0" bIns="0" anchor="t">
            <a:noAutofit/>
          </a:bodyPr>
          <a:lstStyle/>
          <a:p>
            <a:pPr algn="ctr">
              <a:lnSpc>
                <a:spcPct val="110000"/>
              </a:lnSpc>
            </a:pPr>
            <a:r>
              <a:rPr sz="1000" b="0" i="0">
                <a:solidFill>
                  <a:srgbClr val="0C1408"/>
                </a:solidFill>
                <a:latin typeface="Arial"/>
              </a:rPr>
              <a:t>central bank approval</a:t>
            </a:r>
          </a:p>
        </p:txBody>
      </p:sp>
      <p:sp>
        <p:nvSpPr>
          <p:cNvPr id="42" name="Oval 41"/>
          <p:cNvSpPr/>
          <p:nvPr/>
        </p:nvSpPr>
        <p:spPr>
          <a:xfrm>
            <a:off x="7328915" y="3076956"/>
            <a:ext cx="155448" cy="155448"/>
          </a:xfrm>
          <a:prstGeom prst="ellipse">
            <a:avLst/>
          </a:prstGeom>
          <a:solidFill>
            <a:srgbClr val="FFFFFF"/>
          </a:solidFill>
          <a:ln w="19050">
            <a:solidFill>
              <a:srgbClr val="41801A"/>
            </a:solidFill>
          </a:ln>
        </p:spPr>
        <p:txBody>
          <a:bodyPr rtlCol="0" anchor="ctr" lIns="0" rIns="0"/>
          <a:lstStyle/>
          <a:p>
            <a:pPr algn="ctr"/>
          </a:p>
        </p:txBody>
      </p:sp>
      <p:sp>
        <p:nvSpPr>
          <p:cNvPr id="43" name="TextBox 42"/>
          <p:cNvSpPr txBox="1"/>
          <p:nvPr/>
        </p:nvSpPr>
        <p:spPr>
          <a:xfrm>
            <a:off x="6583679" y="3255264"/>
            <a:ext cx="1645920" cy="228600"/>
          </a:xfrm>
          <a:prstGeom prst="rect">
            <a:avLst/>
          </a:prstGeom>
          <a:noFill/>
        </p:spPr>
        <p:txBody>
          <a:bodyPr wrap="square" lIns="0" rIns="0" tIns="0" bIns="0" anchor="t">
            <a:noAutofit/>
          </a:bodyPr>
          <a:lstStyle/>
          <a:p>
            <a:pPr algn="ctr">
              <a:lnSpc>
                <a:spcPct val="110000"/>
              </a:lnSpc>
            </a:pPr>
            <a:r>
              <a:rPr sz="1000" b="0" i="0">
                <a:solidFill>
                  <a:srgbClr val="0C1408"/>
                </a:solidFill>
                <a:latin typeface="Arial"/>
              </a:rPr>
              <a:t>Series A</a:t>
            </a:r>
          </a:p>
        </p:txBody>
      </p:sp>
      <p:sp>
        <p:nvSpPr>
          <p:cNvPr id="44" name="TextBox 43"/>
          <p:cNvSpPr txBox="1"/>
          <p:nvPr/>
        </p:nvSpPr>
        <p:spPr>
          <a:xfrm>
            <a:off x="9546336" y="3017520"/>
            <a:ext cx="1828800" cy="274320"/>
          </a:xfrm>
          <a:prstGeom prst="rect">
            <a:avLst/>
          </a:prstGeom>
          <a:noFill/>
        </p:spPr>
        <p:txBody>
          <a:bodyPr wrap="square" lIns="0" rIns="0" tIns="0" bIns="0" anchor="t">
            <a:noAutofit/>
          </a:bodyPr>
          <a:lstStyle/>
          <a:p>
            <a:pPr algn="l">
              <a:lnSpc>
                <a:spcPct val="110000"/>
              </a:lnSpc>
            </a:pPr>
            <a:r>
              <a:rPr sz="1300" b="0" i="0">
                <a:solidFill>
                  <a:srgbClr val="0C1408"/>
                </a:solidFill>
                <a:latin typeface="Arial"/>
              </a:rPr>
              <a:t>500,000+ users</a:t>
            </a:r>
          </a:p>
        </p:txBody>
      </p:sp>
      <p:sp>
        <p:nvSpPr>
          <p:cNvPr id="45" name="TextBox 44"/>
          <p:cNvSpPr txBox="1"/>
          <p:nvPr/>
        </p:nvSpPr>
        <p:spPr>
          <a:xfrm>
            <a:off x="566928" y="3794760"/>
            <a:ext cx="2011679" cy="274320"/>
          </a:xfrm>
          <a:prstGeom prst="rect">
            <a:avLst/>
          </a:prstGeom>
          <a:noFill/>
        </p:spPr>
        <p:txBody>
          <a:bodyPr wrap="square" lIns="0" rIns="0" tIns="0" bIns="0" anchor="t">
            <a:noAutofit/>
          </a:bodyPr>
          <a:lstStyle/>
          <a:p>
            <a:pPr algn="l">
              <a:lnSpc>
                <a:spcPct val="110000"/>
              </a:lnSpc>
            </a:pPr>
            <a:r>
              <a:rPr sz="1400" b="1" i="0">
                <a:solidFill>
                  <a:srgbClr val="41801A"/>
                </a:solidFill>
                <a:latin typeface="Arial"/>
              </a:rPr>
              <a:t>Esusu</a:t>
            </a:r>
          </a:p>
        </p:txBody>
      </p:sp>
      <p:sp>
        <p:nvSpPr>
          <p:cNvPr id="46" name="TextBox 45"/>
          <p:cNvSpPr txBox="1"/>
          <p:nvPr/>
        </p:nvSpPr>
        <p:spPr>
          <a:xfrm>
            <a:off x="566928" y="4050792"/>
            <a:ext cx="2011679" cy="228600"/>
          </a:xfrm>
          <a:prstGeom prst="rect">
            <a:avLst/>
          </a:prstGeom>
          <a:noFill/>
        </p:spPr>
        <p:txBody>
          <a:bodyPr wrap="square" lIns="0" rIns="0" tIns="0" bIns="0" anchor="t">
            <a:noAutofit/>
          </a:bodyPr>
          <a:lstStyle/>
          <a:p>
            <a:pPr algn="l">
              <a:lnSpc>
                <a:spcPct val="110000"/>
              </a:lnSpc>
            </a:pPr>
            <a:r>
              <a:rPr sz="1100" b="0" i="0">
                <a:solidFill>
                  <a:srgbClr val="5B6456"/>
                </a:solidFill>
                <a:latin typeface="Arial"/>
              </a:rPr>
              <a:t>United States</a:t>
            </a:r>
          </a:p>
        </p:txBody>
      </p:sp>
      <p:cxnSp>
        <p:nvCxnSpPr>
          <p:cNvPr id="47" name="Connector 46"/>
          <p:cNvCxnSpPr/>
          <p:nvPr/>
        </p:nvCxnSpPr>
        <p:spPr>
          <a:xfrm>
            <a:off x="4023360" y="3977640"/>
            <a:ext cx="5413248" cy="0"/>
          </a:xfrm>
          <a:prstGeom prst="line">
            <a:avLst/>
          </a:prstGeom>
          <a:ln w="28575">
            <a:solidFill>
              <a:srgbClr val="41801A"/>
            </a:solidFill>
          </a:ln>
        </p:spPr>
      </p:cxnSp>
      <p:sp>
        <p:nvSpPr>
          <p:cNvPr id="48" name="Oval 47"/>
          <p:cNvSpPr/>
          <p:nvPr/>
        </p:nvSpPr>
        <p:spPr>
          <a:xfrm>
            <a:off x="3959352" y="3913632"/>
            <a:ext cx="128016" cy="128016"/>
          </a:xfrm>
          <a:prstGeom prst="ellipse">
            <a:avLst/>
          </a:prstGeom>
          <a:solidFill>
            <a:srgbClr val="41801A"/>
          </a:solidFill>
          <a:ln w="15875">
            <a:solidFill>
              <a:srgbClr val="41801A"/>
            </a:solidFill>
          </a:ln>
        </p:spPr>
        <p:txBody>
          <a:bodyPr rtlCol="0" anchor="ctr" lIns="0" rIns="0"/>
          <a:lstStyle/>
          <a:p>
            <a:pPr algn="ctr"/>
          </a:p>
        </p:txBody>
      </p:sp>
      <p:sp>
        <p:nvSpPr>
          <p:cNvPr id="49" name="Oval 48"/>
          <p:cNvSpPr/>
          <p:nvPr/>
        </p:nvSpPr>
        <p:spPr>
          <a:xfrm>
            <a:off x="6652259" y="3899916"/>
            <a:ext cx="155448" cy="155448"/>
          </a:xfrm>
          <a:prstGeom prst="ellipse">
            <a:avLst/>
          </a:prstGeom>
          <a:solidFill>
            <a:srgbClr val="FFFFFF"/>
          </a:solidFill>
          <a:ln w="19050">
            <a:solidFill>
              <a:srgbClr val="41801A"/>
            </a:solidFill>
          </a:ln>
        </p:spPr>
        <p:txBody>
          <a:bodyPr rtlCol="0" anchor="ctr" lIns="0" rIns="0"/>
          <a:lstStyle/>
          <a:p>
            <a:pPr algn="ctr"/>
          </a:p>
        </p:txBody>
      </p:sp>
      <p:sp>
        <p:nvSpPr>
          <p:cNvPr id="50" name="TextBox 49"/>
          <p:cNvSpPr txBox="1"/>
          <p:nvPr/>
        </p:nvSpPr>
        <p:spPr>
          <a:xfrm>
            <a:off x="5907023" y="4078224"/>
            <a:ext cx="1645920" cy="228600"/>
          </a:xfrm>
          <a:prstGeom prst="rect">
            <a:avLst/>
          </a:prstGeom>
          <a:noFill/>
        </p:spPr>
        <p:txBody>
          <a:bodyPr wrap="square" lIns="0" rIns="0" tIns="0" bIns="0" anchor="t">
            <a:noAutofit/>
          </a:bodyPr>
          <a:lstStyle/>
          <a:p>
            <a:pPr algn="ctr">
              <a:lnSpc>
                <a:spcPct val="110000"/>
              </a:lnSpc>
            </a:pPr>
            <a:r>
              <a:rPr sz="1000" b="0" i="0">
                <a:solidFill>
                  <a:srgbClr val="0C1408"/>
                </a:solidFill>
                <a:latin typeface="Arial"/>
              </a:rPr>
              <a:t>US$1 billion value</a:t>
            </a:r>
          </a:p>
        </p:txBody>
      </p:sp>
      <p:sp>
        <p:nvSpPr>
          <p:cNvPr id="51" name="TextBox 50"/>
          <p:cNvSpPr txBox="1"/>
          <p:nvPr/>
        </p:nvSpPr>
        <p:spPr>
          <a:xfrm>
            <a:off x="9546336" y="3840480"/>
            <a:ext cx="1828800" cy="274320"/>
          </a:xfrm>
          <a:prstGeom prst="rect">
            <a:avLst/>
          </a:prstGeom>
          <a:noFill/>
        </p:spPr>
        <p:txBody>
          <a:bodyPr wrap="square" lIns="0" rIns="0" tIns="0" bIns="0" anchor="t">
            <a:noAutofit/>
          </a:bodyPr>
          <a:lstStyle/>
          <a:p>
            <a:pPr algn="l">
              <a:lnSpc>
                <a:spcPct val="110000"/>
              </a:lnSpc>
            </a:pPr>
            <a:r>
              <a:rPr sz="1300" b="0" i="0">
                <a:solidFill>
                  <a:srgbClr val="0C1408"/>
                </a:solidFill>
                <a:latin typeface="Arial"/>
              </a:rPr>
              <a:t>US$1.2 billion value</a:t>
            </a:r>
          </a:p>
        </p:txBody>
      </p:sp>
      <p:sp>
        <p:nvSpPr>
          <p:cNvPr id="52" name="TextBox 51"/>
          <p:cNvSpPr txBox="1"/>
          <p:nvPr/>
        </p:nvSpPr>
        <p:spPr>
          <a:xfrm>
            <a:off x="566928" y="4617720"/>
            <a:ext cx="2011679" cy="274320"/>
          </a:xfrm>
          <a:prstGeom prst="rect">
            <a:avLst/>
          </a:prstGeom>
          <a:noFill/>
        </p:spPr>
        <p:txBody>
          <a:bodyPr wrap="square" lIns="0" rIns="0" tIns="0" bIns="0" anchor="t">
            <a:noAutofit/>
          </a:bodyPr>
          <a:lstStyle/>
          <a:p>
            <a:pPr algn="l">
              <a:lnSpc>
                <a:spcPct val="110000"/>
              </a:lnSpc>
            </a:pPr>
            <a:r>
              <a:rPr sz="1400" b="1" i="0">
                <a:solidFill>
                  <a:srgbClr val="41801A"/>
                </a:solidFill>
                <a:latin typeface="Arial"/>
              </a:rPr>
              <a:t>The Money Club</a:t>
            </a:r>
          </a:p>
        </p:txBody>
      </p:sp>
      <p:sp>
        <p:nvSpPr>
          <p:cNvPr id="53" name="TextBox 52"/>
          <p:cNvSpPr txBox="1"/>
          <p:nvPr/>
        </p:nvSpPr>
        <p:spPr>
          <a:xfrm>
            <a:off x="566928" y="4873752"/>
            <a:ext cx="2011679" cy="228600"/>
          </a:xfrm>
          <a:prstGeom prst="rect">
            <a:avLst/>
          </a:prstGeom>
          <a:noFill/>
        </p:spPr>
        <p:txBody>
          <a:bodyPr wrap="square" lIns="0" rIns="0" tIns="0" bIns="0" anchor="t">
            <a:noAutofit/>
          </a:bodyPr>
          <a:lstStyle/>
          <a:p>
            <a:pPr algn="l">
              <a:lnSpc>
                <a:spcPct val="110000"/>
              </a:lnSpc>
            </a:pPr>
            <a:r>
              <a:rPr sz="1100" b="0" i="0">
                <a:solidFill>
                  <a:srgbClr val="5B6456"/>
                </a:solidFill>
                <a:latin typeface="Arial"/>
              </a:rPr>
              <a:t>India</a:t>
            </a:r>
          </a:p>
        </p:txBody>
      </p:sp>
      <p:cxnSp>
        <p:nvCxnSpPr>
          <p:cNvPr id="54" name="Connector 53"/>
          <p:cNvCxnSpPr/>
          <p:nvPr/>
        </p:nvCxnSpPr>
        <p:spPr>
          <a:xfrm>
            <a:off x="2670048" y="4800600"/>
            <a:ext cx="6766560" cy="0"/>
          </a:xfrm>
          <a:prstGeom prst="line">
            <a:avLst/>
          </a:prstGeom>
          <a:ln w="28575">
            <a:solidFill>
              <a:srgbClr val="41801A"/>
            </a:solidFill>
          </a:ln>
        </p:spPr>
      </p:cxnSp>
      <p:sp>
        <p:nvSpPr>
          <p:cNvPr id="55" name="Oval 54"/>
          <p:cNvSpPr/>
          <p:nvPr/>
        </p:nvSpPr>
        <p:spPr>
          <a:xfrm>
            <a:off x="2606040" y="4736592"/>
            <a:ext cx="128016" cy="128016"/>
          </a:xfrm>
          <a:prstGeom prst="ellipse">
            <a:avLst/>
          </a:prstGeom>
          <a:solidFill>
            <a:srgbClr val="41801A"/>
          </a:solidFill>
          <a:ln w="15875">
            <a:solidFill>
              <a:srgbClr val="41801A"/>
            </a:solidFill>
          </a:ln>
        </p:spPr>
        <p:txBody>
          <a:bodyPr rtlCol="0" anchor="ctr" lIns="0" rIns="0"/>
          <a:lstStyle/>
          <a:p>
            <a:pPr algn="ctr"/>
          </a:p>
        </p:txBody>
      </p:sp>
      <p:sp>
        <p:nvSpPr>
          <p:cNvPr id="56" name="TextBox 55"/>
          <p:cNvSpPr txBox="1"/>
          <p:nvPr/>
        </p:nvSpPr>
        <p:spPr>
          <a:xfrm>
            <a:off x="9546336" y="4663440"/>
            <a:ext cx="1828800" cy="274320"/>
          </a:xfrm>
          <a:prstGeom prst="rect">
            <a:avLst/>
          </a:prstGeom>
          <a:noFill/>
        </p:spPr>
        <p:txBody>
          <a:bodyPr wrap="square" lIns="0" rIns="0" tIns="0" bIns="0" anchor="t">
            <a:noAutofit/>
          </a:bodyPr>
          <a:lstStyle/>
          <a:p>
            <a:pPr algn="l">
              <a:lnSpc>
                <a:spcPct val="110000"/>
              </a:lnSpc>
            </a:pPr>
            <a:r>
              <a:rPr sz="1300" b="0" i="0">
                <a:solidFill>
                  <a:srgbClr val="0C1408"/>
                </a:solidFill>
                <a:latin typeface="Arial"/>
              </a:rPr>
              <a:t>about 200,000 users</a:t>
            </a:r>
          </a:p>
        </p:txBody>
      </p:sp>
      <p:cxnSp>
        <p:nvCxnSpPr>
          <p:cNvPr id="57" name="Connector 56"/>
          <p:cNvCxnSpPr/>
          <p:nvPr/>
        </p:nvCxnSpPr>
        <p:spPr>
          <a:xfrm>
            <a:off x="566928" y="5349240"/>
            <a:ext cx="11057839" cy="0"/>
          </a:xfrm>
          <a:prstGeom prst="line">
            <a:avLst/>
          </a:prstGeom>
          <a:ln w="9525">
            <a:solidFill>
              <a:srgbClr val="D5DCD1"/>
            </a:solidFill>
          </a:ln>
        </p:spPr>
      </p:cxnSp>
      <p:sp>
        <p:nvSpPr>
          <p:cNvPr id="58" name="TextBox 57"/>
          <p:cNvSpPr txBox="1"/>
          <p:nvPr/>
        </p:nvSpPr>
        <p:spPr>
          <a:xfrm>
            <a:off x="566928" y="5440680"/>
            <a:ext cx="11057839" cy="640080"/>
          </a:xfrm>
          <a:prstGeom prst="rect">
            <a:avLst/>
          </a:prstGeom>
          <a:noFill/>
        </p:spPr>
        <p:txBody>
          <a:bodyPr wrap="square" lIns="0" rIns="0" tIns="0" bIns="0" anchor="t">
            <a:noAutofit/>
          </a:bodyPr>
          <a:lstStyle/>
          <a:p>
            <a:pPr algn="l">
              <a:lnSpc>
                <a:spcPct val="110000"/>
              </a:lnSpc>
            </a:pPr>
            <a:r>
              <a:rPr sz="1300" b="1" i="0">
                <a:solidFill>
                  <a:srgbClr val="0C1408"/>
                </a:solidFill>
                <a:latin typeface="Arial"/>
              </a:rPr>
              <a:t>The failures</a:t>
            </a:r>
            <a:r>
              <a:rPr sz="1300" b="0" i="0">
                <a:solidFill>
                  <a:srgbClr val="0C1408"/>
                </a:solidFill>
                <a:latin typeface="Arial"/>
              </a:rPr>
              <a:t> held members' money without a licence, or guaranteed payouts they could not carry.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9509760" cy="566928"/>
          </a:xfrm>
          <a:prstGeom prst="rect">
            <a:avLst/>
          </a:prstGeom>
          <a:noFill/>
        </p:spPr>
        <p:txBody>
          <a:bodyPr wrap="square" lIns="0" rIns="0" tIns="0" bIns="0" anchor="t">
            <a:noAutofit/>
          </a:bodyPr>
          <a:lstStyle/>
          <a:p>
            <a:pPr algn="l">
              <a:lnSpc>
                <a:spcPct val="110000"/>
              </a:lnSpc>
            </a:pPr>
            <a:r>
              <a:rPr sz="2800" b="0" i="0">
                <a:solidFill>
                  <a:srgbClr val="41801A"/>
                </a:solidFill>
                <a:latin typeface="Georgia"/>
              </a:rPr>
              <a:t>Why Now</a:t>
            </a:r>
          </a:p>
        </p:txBody>
      </p:sp>
      <p:sp>
        <p:nvSpPr>
          <p:cNvPr id="3" name="TextBox 2"/>
          <p:cNvSpPr txBox="1"/>
          <p:nvPr/>
        </p:nvSpPr>
        <p:spPr>
          <a:xfrm>
            <a:off x="566928" y="987552"/>
            <a:ext cx="11057839" cy="411480"/>
          </a:xfrm>
          <a:prstGeom prst="rect">
            <a:avLst/>
          </a:prstGeom>
          <a:noFill/>
        </p:spPr>
        <p:txBody>
          <a:bodyPr wrap="square" lIns="0" rIns="0" tIns="0" bIns="0" anchor="t">
            <a:noAutofit/>
          </a:bodyPr>
          <a:lstStyle/>
          <a:p>
            <a:pPr algn="l">
              <a:lnSpc>
                <a:spcPct val="110000"/>
              </a:lnSpc>
            </a:pPr>
            <a:r>
              <a:rPr sz="1800" b="0" i="0">
                <a:solidFill>
                  <a:srgbClr val="0C1408"/>
                </a:solidFill>
                <a:latin typeface="Arial"/>
              </a:rPr>
              <a:t>Payments in Pakistan went digital. Committee savings did not.</a:t>
            </a:r>
          </a:p>
        </p:txBody>
      </p:sp>
      <p:pic>
        <p:nvPicPr>
          <p:cNvPr id="4" name="Picture 3" descr="halqa_logo.png"/>
          <p:cNvPicPr>
            <a:picLocks noChangeAspect="1"/>
          </p:cNvPicPr>
          <p:nvPr/>
        </p:nvPicPr>
        <p:blipFill>
          <a:blip r:embed="rId3"/>
          <a:stretch>
            <a:fillRect/>
          </a:stretch>
        </p:blipFill>
        <p:spPr>
          <a:xfrm>
            <a:off x="10600639" y="457200"/>
            <a:ext cx="1023202" cy="310896"/>
          </a:xfrm>
          <a:prstGeom prst="rect">
            <a:avLst/>
          </a:prstGeom>
        </p:spPr>
      </p:pic>
      <p:sp>
        <p:nvSpPr>
          <p:cNvPr id="5" name="TextBox 4"/>
          <p:cNvSpPr txBox="1"/>
          <p:nvPr/>
        </p:nvSpPr>
        <p:spPr>
          <a:xfrm>
            <a:off x="566928" y="6309360"/>
            <a:ext cx="10149840" cy="365760"/>
          </a:xfrm>
          <a:prstGeom prst="rect">
            <a:avLst/>
          </a:prstGeom>
          <a:noFill/>
        </p:spPr>
        <p:txBody>
          <a:bodyPr wrap="square" lIns="0" rIns="0" tIns="0" bIns="0" anchor="t">
            <a:noAutofit/>
          </a:bodyPr>
          <a:lstStyle/>
          <a:p>
            <a:pPr algn="l">
              <a:lnSpc>
                <a:spcPct val="100000"/>
              </a:lnSpc>
            </a:pPr>
            <a:r>
              <a:rPr sz="900" b="0" i="0">
                <a:solidFill>
                  <a:srgbClr val="5B6456"/>
                </a:solidFill>
                <a:latin typeface="Arial"/>
              </a:rPr>
              <a:t>Sources   1  State Bank of Pakistan payment systems reviews, FY2025 and Q3 FY2026   2  JazzCash release notes, August 2026   3  National Financial Inclusion Strategy 2024 to 2028</a:t>
            </a:r>
          </a:p>
        </p:txBody>
      </p:sp>
      <p:sp>
        <p:nvSpPr>
          <p:cNvPr id="6" name="TextBox 5"/>
          <p:cNvSpPr txBox="1"/>
          <p:nvPr/>
        </p:nvSpPr>
        <p:spPr>
          <a:xfrm>
            <a:off x="11076127" y="6355080"/>
            <a:ext cx="548640" cy="228600"/>
          </a:xfrm>
          <a:prstGeom prst="rect">
            <a:avLst/>
          </a:prstGeom>
          <a:noFill/>
        </p:spPr>
        <p:txBody>
          <a:bodyPr wrap="square" lIns="0" rIns="0" tIns="0" bIns="0" anchor="t">
            <a:noAutofit/>
          </a:bodyPr>
          <a:lstStyle/>
          <a:p>
            <a:pPr algn="r">
              <a:lnSpc>
                <a:spcPct val="110000"/>
              </a:lnSpc>
            </a:pPr>
            <a:r>
              <a:rPr sz="1000" b="0" i="0">
                <a:solidFill>
                  <a:srgbClr val="5B6456"/>
                </a:solidFill>
                <a:latin typeface="Arial"/>
              </a:rPr>
              <a:t>18</a:t>
            </a:r>
          </a:p>
        </p:txBody>
      </p:sp>
      <p:sp>
        <p:nvSpPr>
          <p:cNvPr id="7" name="TextBox 6"/>
          <p:cNvSpPr txBox="1"/>
          <p:nvPr/>
        </p:nvSpPr>
        <p:spPr>
          <a:xfrm>
            <a:off x="566928" y="1783080"/>
            <a:ext cx="5120640" cy="274320"/>
          </a:xfrm>
          <a:prstGeom prst="rect">
            <a:avLst/>
          </a:prstGeom>
          <a:noFill/>
        </p:spPr>
        <p:txBody>
          <a:bodyPr wrap="square" lIns="0" rIns="0" tIns="0" bIns="0" anchor="t">
            <a:noAutofit/>
          </a:bodyPr>
          <a:lstStyle/>
          <a:p>
            <a:pPr algn="l">
              <a:lnSpc>
                <a:spcPct val="110000"/>
              </a:lnSpc>
            </a:pPr>
            <a:r>
              <a:rPr sz="1300" b="1" i="0">
                <a:solidFill>
                  <a:srgbClr val="0C1408"/>
                </a:solidFill>
                <a:latin typeface="Arial"/>
              </a:rPr>
              <a:t>Share of retail payments made digitally, %</a:t>
            </a:r>
          </a:p>
        </p:txBody>
      </p:sp>
      <p:sp>
        <p:nvSpPr>
          <p:cNvPr id="8" name="Rectangle 7"/>
          <p:cNvSpPr/>
          <p:nvPr/>
        </p:nvSpPr>
        <p:spPr>
          <a:xfrm>
            <a:off x="818387" y="2980944"/>
            <a:ext cx="731520" cy="2139696"/>
          </a:xfrm>
          <a:prstGeom prst="rect">
            <a:avLst/>
          </a:prstGeom>
          <a:solidFill>
            <a:srgbClr val="A9DE7F"/>
          </a:solidFill>
          <a:ln>
            <a:noFill/>
          </a:ln>
        </p:spPr>
        <p:txBody>
          <a:bodyPr rtlCol="0" anchor="ctr" lIns="0" rIns="0"/>
          <a:lstStyle/>
          <a:p>
            <a:pPr algn="ctr"/>
          </a:p>
        </p:txBody>
      </p:sp>
      <p:sp>
        <p:nvSpPr>
          <p:cNvPr id="9" name="TextBox 8"/>
          <p:cNvSpPr txBox="1"/>
          <p:nvPr/>
        </p:nvSpPr>
        <p:spPr>
          <a:xfrm>
            <a:off x="566927" y="2688336"/>
            <a:ext cx="1234440" cy="274320"/>
          </a:xfrm>
          <a:prstGeom prst="rect">
            <a:avLst/>
          </a:prstGeom>
          <a:noFill/>
        </p:spPr>
        <p:txBody>
          <a:bodyPr wrap="square" lIns="0" rIns="0" tIns="0" bIns="0" anchor="b">
            <a:noAutofit/>
          </a:bodyPr>
          <a:lstStyle/>
          <a:p>
            <a:pPr algn="ctr">
              <a:lnSpc>
                <a:spcPct val="110000"/>
              </a:lnSpc>
            </a:pPr>
            <a:r>
              <a:rPr sz="1800" b="0" i="0">
                <a:solidFill>
                  <a:srgbClr val="0C1408"/>
                </a:solidFill>
                <a:latin typeface="Georgia"/>
              </a:rPr>
              <a:t>78%</a:t>
            </a:r>
          </a:p>
        </p:txBody>
      </p:sp>
      <p:sp>
        <p:nvSpPr>
          <p:cNvPr id="10" name="TextBox 9"/>
          <p:cNvSpPr txBox="1"/>
          <p:nvPr/>
        </p:nvSpPr>
        <p:spPr>
          <a:xfrm>
            <a:off x="566927" y="5193792"/>
            <a:ext cx="1234440" cy="457200"/>
          </a:xfrm>
          <a:prstGeom prst="rect">
            <a:avLst/>
          </a:prstGeom>
          <a:noFill/>
        </p:spPr>
        <p:txBody>
          <a:bodyPr wrap="square" lIns="0" rIns="0" tIns="0" bIns="0" anchor="t">
            <a:noAutofit/>
          </a:bodyPr>
          <a:lstStyle/>
          <a:p>
            <a:pPr algn="ctr">
              <a:lnSpc>
                <a:spcPct val="110000"/>
              </a:lnSpc>
            </a:pPr>
            <a:r>
              <a:rPr sz="1200" b="0" i="0">
                <a:solidFill>
                  <a:srgbClr val="0C1408"/>
                </a:solidFill>
                <a:latin typeface="Arial"/>
              </a:rPr>
              <a:t>FY2023</a:t>
            </a:r>
          </a:p>
        </p:txBody>
      </p:sp>
      <p:sp>
        <p:nvSpPr>
          <p:cNvPr id="11" name="Rectangle 10"/>
          <p:cNvSpPr/>
          <p:nvPr/>
        </p:nvSpPr>
        <p:spPr>
          <a:xfrm>
            <a:off x="2052828" y="2788920"/>
            <a:ext cx="731520" cy="2331720"/>
          </a:xfrm>
          <a:prstGeom prst="rect">
            <a:avLst/>
          </a:prstGeom>
          <a:solidFill>
            <a:srgbClr val="6DC72A"/>
          </a:solidFill>
          <a:ln>
            <a:noFill/>
          </a:ln>
        </p:spPr>
        <p:txBody>
          <a:bodyPr rtlCol="0" anchor="ctr" lIns="0" rIns="0"/>
          <a:lstStyle/>
          <a:p>
            <a:pPr algn="ctr"/>
          </a:p>
        </p:txBody>
      </p:sp>
      <p:sp>
        <p:nvSpPr>
          <p:cNvPr id="12" name="TextBox 11"/>
          <p:cNvSpPr txBox="1"/>
          <p:nvPr/>
        </p:nvSpPr>
        <p:spPr>
          <a:xfrm>
            <a:off x="1801368" y="2496312"/>
            <a:ext cx="1234440" cy="274320"/>
          </a:xfrm>
          <a:prstGeom prst="rect">
            <a:avLst/>
          </a:prstGeom>
          <a:noFill/>
        </p:spPr>
        <p:txBody>
          <a:bodyPr wrap="square" lIns="0" rIns="0" tIns="0" bIns="0" anchor="b">
            <a:noAutofit/>
          </a:bodyPr>
          <a:lstStyle/>
          <a:p>
            <a:pPr algn="ctr">
              <a:lnSpc>
                <a:spcPct val="110000"/>
              </a:lnSpc>
            </a:pPr>
            <a:r>
              <a:rPr sz="1800" b="0" i="0">
                <a:solidFill>
                  <a:srgbClr val="0C1408"/>
                </a:solidFill>
                <a:latin typeface="Georgia"/>
              </a:rPr>
              <a:t>85%</a:t>
            </a:r>
          </a:p>
        </p:txBody>
      </p:sp>
      <p:sp>
        <p:nvSpPr>
          <p:cNvPr id="13" name="TextBox 12"/>
          <p:cNvSpPr txBox="1"/>
          <p:nvPr/>
        </p:nvSpPr>
        <p:spPr>
          <a:xfrm>
            <a:off x="1801368" y="5193792"/>
            <a:ext cx="1234440" cy="457200"/>
          </a:xfrm>
          <a:prstGeom prst="rect">
            <a:avLst/>
          </a:prstGeom>
          <a:noFill/>
        </p:spPr>
        <p:txBody>
          <a:bodyPr wrap="square" lIns="0" rIns="0" tIns="0" bIns="0" anchor="t">
            <a:noAutofit/>
          </a:bodyPr>
          <a:lstStyle/>
          <a:p>
            <a:pPr algn="ctr">
              <a:lnSpc>
                <a:spcPct val="110000"/>
              </a:lnSpc>
            </a:pPr>
            <a:r>
              <a:rPr sz="1200" b="0" i="0">
                <a:solidFill>
                  <a:srgbClr val="0C1408"/>
                </a:solidFill>
                <a:latin typeface="Arial"/>
              </a:rPr>
              <a:t>FY2024</a:t>
            </a:r>
          </a:p>
        </p:txBody>
      </p:sp>
      <p:sp>
        <p:nvSpPr>
          <p:cNvPr id="14" name="Rectangle 13"/>
          <p:cNvSpPr/>
          <p:nvPr/>
        </p:nvSpPr>
        <p:spPr>
          <a:xfrm>
            <a:off x="3287268" y="2706623"/>
            <a:ext cx="731520" cy="2414016"/>
          </a:xfrm>
          <a:prstGeom prst="rect">
            <a:avLst/>
          </a:prstGeom>
          <a:solidFill>
            <a:srgbClr val="6DC72A"/>
          </a:solidFill>
          <a:ln>
            <a:noFill/>
          </a:ln>
        </p:spPr>
        <p:txBody>
          <a:bodyPr rtlCol="0" anchor="ctr" lIns="0" rIns="0"/>
          <a:lstStyle/>
          <a:p>
            <a:pPr algn="ctr"/>
          </a:p>
        </p:txBody>
      </p:sp>
      <p:sp>
        <p:nvSpPr>
          <p:cNvPr id="15" name="TextBox 14"/>
          <p:cNvSpPr txBox="1"/>
          <p:nvPr/>
        </p:nvSpPr>
        <p:spPr>
          <a:xfrm>
            <a:off x="3035808" y="2414015"/>
            <a:ext cx="1234440" cy="274320"/>
          </a:xfrm>
          <a:prstGeom prst="rect">
            <a:avLst/>
          </a:prstGeom>
          <a:noFill/>
        </p:spPr>
        <p:txBody>
          <a:bodyPr wrap="square" lIns="0" rIns="0" tIns="0" bIns="0" anchor="b">
            <a:noAutofit/>
          </a:bodyPr>
          <a:lstStyle/>
          <a:p>
            <a:pPr algn="ctr">
              <a:lnSpc>
                <a:spcPct val="110000"/>
              </a:lnSpc>
            </a:pPr>
            <a:r>
              <a:rPr sz="1800" b="0" i="0">
                <a:solidFill>
                  <a:srgbClr val="0C1408"/>
                </a:solidFill>
                <a:latin typeface="Georgia"/>
              </a:rPr>
              <a:t>88%</a:t>
            </a:r>
          </a:p>
        </p:txBody>
      </p:sp>
      <p:sp>
        <p:nvSpPr>
          <p:cNvPr id="16" name="TextBox 15"/>
          <p:cNvSpPr txBox="1"/>
          <p:nvPr/>
        </p:nvSpPr>
        <p:spPr>
          <a:xfrm>
            <a:off x="3035808" y="5193792"/>
            <a:ext cx="1234440" cy="457200"/>
          </a:xfrm>
          <a:prstGeom prst="rect">
            <a:avLst/>
          </a:prstGeom>
          <a:noFill/>
        </p:spPr>
        <p:txBody>
          <a:bodyPr wrap="square" lIns="0" rIns="0" tIns="0" bIns="0" anchor="t">
            <a:noAutofit/>
          </a:bodyPr>
          <a:lstStyle/>
          <a:p>
            <a:pPr algn="ctr">
              <a:lnSpc>
                <a:spcPct val="110000"/>
              </a:lnSpc>
            </a:pPr>
            <a:r>
              <a:rPr sz="1200" b="0" i="0">
                <a:solidFill>
                  <a:srgbClr val="0C1408"/>
                </a:solidFill>
                <a:latin typeface="Arial"/>
              </a:rPr>
              <a:t>FY2025</a:t>
            </a:r>
          </a:p>
        </p:txBody>
      </p:sp>
      <p:sp>
        <p:nvSpPr>
          <p:cNvPr id="17" name="Rectangle 16"/>
          <p:cNvSpPr/>
          <p:nvPr/>
        </p:nvSpPr>
        <p:spPr>
          <a:xfrm>
            <a:off x="4521708" y="2596896"/>
            <a:ext cx="731520" cy="2523744"/>
          </a:xfrm>
          <a:prstGeom prst="rect">
            <a:avLst/>
          </a:prstGeom>
          <a:solidFill>
            <a:srgbClr val="41801A"/>
          </a:solidFill>
          <a:ln>
            <a:noFill/>
          </a:ln>
        </p:spPr>
        <p:txBody>
          <a:bodyPr rtlCol="0" anchor="ctr" lIns="0" rIns="0"/>
          <a:lstStyle/>
          <a:p>
            <a:pPr algn="ctr"/>
          </a:p>
        </p:txBody>
      </p:sp>
      <p:sp>
        <p:nvSpPr>
          <p:cNvPr id="18" name="TextBox 17"/>
          <p:cNvSpPr txBox="1"/>
          <p:nvPr/>
        </p:nvSpPr>
        <p:spPr>
          <a:xfrm>
            <a:off x="4270248" y="2304288"/>
            <a:ext cx="1234440" cy="274320"/>
          </a:xfrm>
          <a:prstGeom prst="rect">
            <a:avLst/>
          </a:prstGeom>
          <a:noFill/>
        </p:spPr>
        <p:txBody>
          <a:bodyPr wrap="square" lIns="0" rIns="0" tIns="0" bIns="0" anchor="b">
            <a:noAutofit/>
          </a:bodyPr>
          <a:lstStyle/>
          <a:p>
            <a:pPr algn="ctr">
              <a:lnSpc>
                <a:spcPct val="110000"/>
              </a:lnSpc>
            </a:pPr>
            <a:r>
              <a:rPr sz="1800" b="0" i="0">
                <a:solidFill>
                  <a:srgbClr val="0C1408"/>
                </a:solidFill>
                <a:latin typeface="Georgia"/>
              </a:rPr>
              <a:t>92%</a:t>
            </a:r>
          </a:p>
        </p:txBody>
      </p:sp>
      <p:sp>
        <p:nvSpPr>
          <p:cNvPr id="19" name="TextBox 18"/>
          <p:cNvSpPr txBox="1"/>
          <p:nvPr/>
        </p:nvSpPr>
        <p:spPr>
          <a:xfrm>
            <a:off x="4270248" y="5193792"/>
            <a:ext cx="1234440" cy="457200"/>
          </a:xfrm>
          <a:prstGeom prst="rect">
            <a:avLst/>
          </a:prstGeom>
          <a:noFill/>
        </p:spPr>
        <p:txBody>
          <a:bodyPr wrap="square" lIns="0" rIns="0" tIns="0" bIns="0" anchor="t">
            <a:noAutofit/>
          </a:bodyPr>
          <a:lstStyle/>
          <a:p>
            <a:pPr algn="ctr">
              <a:lnSpc>
                <a:spcPct val="110000"/>
              </a:lnSpc>
            </a:pPr>
            <a:r>
              <a:rPr sz="1200" b="0" i="0">
                <a:solidFill>
                  <a:srgbClr val="0C1408"/>
                </a:solidFill>
                <a:latin typeface="Arial"/>
              </a:rPr>
              <a:t>Jan to Mar</a:t>
            </a:r>
          </a:p>
          <a:p>
            <a:pPr algn="ctr">
              <a:lnSpc>
                <a:spcPct val="110000"/>
              </a:lnSpc>
            </a:pPr>
            <a:r>
              <a:rPr sz="1200" b="0" i="0">
                <a:solidFill>
                  <a:srgbClr val="0C1408"/>
                </a:solidFill>
                <a:latin typeface="Arial"/>
              </a:rPr>
              <a:t>2026</a:t>
            </a:r>
          </a:p>
        </p:txBody>
      </p:sp>
      <p:cxnSp>
        <p:nvCxnSpPr>
          <p:cNvPr id="20" name="Connector 19"/>
          <p:cNvCxnSpPr/>
          <p:nvPr/>
        </p:nvCxnSpPr>
        <p:spPr>
          <a:xfrm>
            <a:off x="566928" y="5120640"/>
            <a:ext cx="4937760" cy="0"/>
          </a:xfrm>
          <a:prstGeom prst="line">
            <a:avLst/>
          </a:prstGeom>
          <a:ln w="9525">
            <a:solidFill>
              <a:srgbClr val="0C1408"/>
            </a:solidFill>
          </a:ln>
        </p:spPr>
      </p:cxnSp>
      <p:cxnSp>
        <p:nvCxnSpPr>
          <p:cNvPr id="21" name="Connector 20"/>
          <p:cNvCxnSpPr/>
          <p:nvPr/>
        </p:nvCxnSpPr>
        <p:spPr>
          <a:xfrm>
            <a:off x="6355080" y="1810512"/>
            <a:ext cx="5257800" cy="0"/>
          </a:xfrm>
          <a:prstGeom prst="line">
            <a:avLst/>
          </a:prstGeom>
          <a:ln w="9525">
            <a:solidFill>
              <a:srgbClr val="D5DCD1"/>
            </a:solidFill>
          </a:ln>
        </p:spPr>
      </p:cxnSp>
      <p:sp>
        <p:nvSpPr>
          <p:cNvPr id="22" name="TextBox 21"/>
          <p:cNvSpPr txBox="1"/>
          <p:nvPr/>
        </p:nvSpPr>
        <p:spPr>
          <a:xfrm>
            <a:off x="6355080" y="1920240"/>
            <a:ext cx="2148840" cy="457200"/>
          </a:xfrm>
          <a:prstGeom prst="rect">
            <a:avLst/>
          </a:prstGeom>
          <a:noFill/>
        </p:spPr>
        <p:txBody>
          <a:bodyPr wrap="square" lIns="0" rIns="0" tIns="0" bIns="0" anchor="t">
            <a:noAutofit/>
          </a:bodyPr>
          <a:lstStyle/>
          <a:p>
            <a:pPr algn="l">
              <a:lnSpc>
                <a:spcPct val="110000"/>
              </a:lnSpc>
            </a:pPr>
            <a:r>
              <a:rPr sz="2200" b="0" i="0">
                <a:solidFill>
                  <a:srgbClr val="41801A"/>
                </a:solidFill>
                <a:latin typeface="Georgia"/>
              </a:rPr>
              <a:t>69 million</a:t>
            </a:r>
          </a:p>
        </p:txBody>
      </p:sp>
      <p:sp>
        <p:nvSpPr>
          <p:cNvPr id="23" name="TextBox 22"/>
          <p:cNvSpPr txBox="1"/>
          <p:nvPr/>
        </p:nvSpPr>
        <p:spPr>
          <a:xfrm>
            <a:off x="8595360" y="1938528"/>
            <a:ext cx="3017520" cy="685800"/>
          </a:xfrm>
          <a:prstGeom prst="rect">
            <a:avLst/>
          </a:prstGeom>
          <a:noFill/>
        </p:spPr>
        <p:txBody>
          <a:bodyPr wrap="square" lIns="0" rIns="0" tIns="0" bIns="0" anchor="t">
            <a:noAutofit/>
          </a:bodyPr>
          <a:lstStyle/>
          <a:p>
            <a:pPr algn="l">
              <a:lnSpc>
                <a:spcPct val="105000"/>
              </a:lnSpc>
            </a:pPr>
            <a:r>
              <a:rPr sz="1300" b="0" i="0">
                <a:solidFill>
                  <a:srgbClr val="0C1408"/>
                </a:solidFill>
                <a:latin typeface="Arial"/>
              </a:rPr>
              <a:t>mobile wallet users at the end of 2024 [1]</a:t>
            </a:r>
          </a:p>
        </p:txBody>
      </p:sp>
      <p:cxnSp>
        <p:nvCxnSpPr>
          <p:cNvPr id="24" name="Connector 23"/>
          <p:cNvCxnSpPr/>
          <p:nvPr/>
        </p:nvCxnSpPr>
        <p:spPr>
          <a:xfrm>
            <a:off x="6355080" y="2706624"/>
            <a:ext cx="5257800" cy="0"/>
          </a:xfrm>
          <a:prstGeom prst="line">
            <a:avLst/>
          </a:prstGeom>
          <a:ln w="9525">
            <a:solidFill>
              <a:srgbClr val="D5DCD1"/>
            </a:solidFill>
          </a:ln>
        </p:spPr>
      </p:cxnSp>
      <p:sp>
        <p:nvSpPr>
          <p:cNvPr id="25" name="TextBox 24"/>
          <p:cNvSpPr txBox="1"/>
          <p:nvPr/>
        </p:nvSpPr>
        <p:spPr>
          <a:xfrm>
            <a:off x="6355080" y="2816352"/>
            <a:ext cx="2148840" cy="457200"/>
          </a:xfrm>
          <a:prstGeom prst="rect">
            <a:avLst/>
          </a:prstGeom>
          <a:noFill/>
        </p:spPr>
        <p:txBody>
          <a:bodyPr wrap="square" lIns="0" rIns="0" tIns="0" bIns="0" anchor="t">
            <a:noAutofit/>
          </a:bodyPr>
          <a:lstStyle/>
          <a:p>
            <a:pPr algn="l">
              <a:lnSpc>
                <a:spcPct val="110000"/>
              </a:lnSpc>
            </a:pPr>
            <a:r>
              <a:rPr sz="2200" b="0" i="0">
                <a:solidFill>
                  <a:srgbClr val="41801A"/>
                </a:solidFill>
                <a:latin typeface="Georgia"/>
              </a:rPr>
              <a:t>Aug 2026</a:t>
            </a:r>
          </a:p>
        </p:txBody>
      </p:sp>
      <p:sp>
        <p:nvSpPr>
          <p:cNvPr id="26" name="TextBox 25"/>
          <p:cNvSpPr txBox="1"/>
          <p:nvPr/>
        </p:nvSpPr>
        <p:spPr>
          <a:xfrm>
            <a:off x="8595360" y="2834640"/>
            <a:ext cx="3017520" cy="685800"/>
          </a:xfrm>
          <a:prstGeom prst="rect">
            <a:avLst/>
          </a:prstGeom>
          <a:noFill/>
        </p:spPr>
        <p:txBody>
          <a:bodyPr wrap="square" lIns="0" rIns="0" tIns="0" bIns="0" anchor="t">
            <a:noAutofit/>
          </a:bodyPr>
          <a:lstStyle/>
          <a:p>
            <a:pPr algn="l">
              <a:lnSpc>
                <a:spcPct val="105000"/>
              </a:lnSpc>
            </a:pPr>
            <a:r>
              <a:rPr sz="1300" b="0" i="0">
                <a:solidFill>
                  <a:srgbClr val="0C1408"/>
                </a:solidFill>
                <a:latin typeface="Arial"/>
              </a:rPr>
              <a:t>JazzCash launched a committee feature; the pot sits in the organiser's wallet [2]</a:t>
            </a:r>
          </a:p>
        </p:txBody>
      </p:sp>
      <p:cxnSp>
        <p:nvCxnSpPr>
          <p:cNvPr id="27" name="Connector 26"/>
          <p:cNvCxnSpPr/>
          <p:nvPr/>
        </p:nvCxnSpPr>
        <p:spPr>
          <a:xfrm>
            <a:off x="6355080" y="3602736"/>
            <a:ext cx="5257800" cy="0"/>
          </a:xfrm>
          <a:prstGeom prst="line">
            <a:avLst/>
          </a:prstGeom>
          <a:ln w="9525">
            <a:solidFill>
              <a:srgbClr val="D5DCD1"/>
            </a:solidFill>
          </a:ln>
        </p:spPr>
      </p:cxnSp>
      <p:sp>
        <p:nvSpPr>
          <p:cNvPr id="28" name="TextBox 27"/>
          <p:cNvSpPr txBox="1"/>
          <p:nvPr/>
        </p:nvSpPr>
        <p:spPr>
          <a:xfrm>
            <a:off x="6355080" y="3712463"/>
            <a:ext cx="2148840" cy="457200"/>
          </a:xfrm>
          <a:prstGeom prst="rect">
            <a:avLst/>
          </a:prstGeom>
          <a:noFill/>
        </p:spPr>
        <p:txBody>
          <a:bodyPr wrap="square" lIns="0" rIns="0" tIns="0" bIns="0" anchor="t">
            <a:noAutofit/>
          </a:bodyPr>
          <a:lstStyle/>
          <a:p>
            <a:pPr algn="l">
              <a:lnSpc>
                <a:spcPct val="110000"/>
              </a:lnSpc>
            </a:pPr>
            <a:r>
              <a:rPr sz="2200" b="0" i="0">
                <a:solidFill>
                  <a:srgbClr val="41801A"/>
                </a:solidFill>
                <a:latin typeface="Georgia"/>
              </a:rPr>
              <a:t>75% by 2028</a:t>
            </a:r>
          </a:p>
        </p:txBody>
      </p:sp>
      <p:sp>
        <p:nvSpPr>
          <p:cNvPr id="29" name="TextBox 28"/>
          <p:cNvSpPr txBox="1"/>
          <p:nvPr/>
        </p:nvSpPr>
        <p:spPr>
          <a:xfrm>
            <a:off x="8595360" y="3730752"/>
            <a:ext cx="3017520" cy="685800"/>
          </a:xfrm>
          <a:prstGeom prst="rect">
            <a:avLst/>
          </a:prstGeom>
          <a:noFill/>
        </p:spPr>
        <p:txBody>
          <a:bodyPr wrap="square" lIns="0" rIns="0" tIns="0" bIns="0" anchor="t">
            <a:noAutofit/>
          </a:bodyPr>
          <a:lstStyle/>
          <a:p>
            <a:pPr algn="l">
              <a:lnSpc>
                <a:spcPct val="105000"/>
              </a:lnSpc>
            </a:pPr>
            <a:r>
              <a:rPr sz="1300" b="0" i="0">
                <a:solidFill>
                  <a:srgbClr val="0C1408"/>
                </a:solidFill>
                <a:latin typeface="Arial"/>
              </a:rPr>
              <a:t>national target for adults with a financial account, up from 64% in 2023 [3]</a:t>
            </a:r>
          </a:p>
        </p:txBody>
      </p:sp>
      <p:cxnSp>
        <p:nvCxnSpPr>
          <p:cNvPr id="30" name="Connector 29"/>
          <p:cNvCxnSpPr/>
          <p:nvPr/>
        </p:nvCxnSpPr>
        <p:spPr>
          <a:xfrm>
            <a:off x="6355080" y="4498848"/>
            <a:ext cx="5257800" cy="0"/>
          </a:xfrm>
          <a:prstGeom prst="line">
            <a:avLst/>
          </a:prstGeom>
          <a:ln w="9525">
            <a:solidFill>
              <a:srgbClr val="D5DCD1"/>
            </a:solidFill>
          </a:ln>
        </p:spPr>
      </p:cxn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9509760" cy="566928"/>
          </a:xfrm>
          <a:prstGeom prst="rect">
            <a:avLst/>
          </a:prstGeom>
          <a:noFill/>
        </p:spPr>
        <p:txBody>
          <a:bodyPr wrap="square" lIns="0" rIns="0" tIns="0" bIns="0" anchor="t">
            <a:noAutofit/>
          </a:bodyPr>
          <a:lstStyle/>
          <a:p>
            <a:pPr algn="l">
              <a:lnSpc>
                <a:spcPct val="110000"/>
              </a:lnSpc>
            </a:pPr>
            <a:r>
              <a:rPr sz="2800" b="0" i="0">
                <a:solidFill>
                  <a:srgbClr val="41801A"/>
                </a:solidFill>
                <a:latin typeface="Georgia"/>
              </a:rPr>
              <a:t>Regulation and Readiness</a:t>
            </a:r>
          </a:p>
        </p:txBody>
      </p:sp>
      <p:sp>
        <p:nvSpPr>
          <p:cNvPr id="3" name="TextBox 2"/>
          <p:cNvSpPr txBox="1"/>
          <p:nvPr/>
        </p:nvSpPr>
        <p:spPr>
          <a:xfrm>
            <a:off x="566928" y="987552"/>
            <a:ext cx="11057839" cy="411480"/>
          </a:xfrm>
          <a:prstGeom prst="rect">
            <a:avLst/>
          </a:prstGeom>
          <a:noFill/>
        </p:spPr>
        <p:txBody>
          <a:bodyPr wrap="square" lIns="0" rIns="0" tIns="0" bIns="0" anchor="t">
            <a:noAutofit/>
          </a:bodyPr>
          <a:lstStyle/>
          <a:p>
            <a:pPr algn="l">
              <a:lnSpc>
                <a:spcPct val="110000"/>
              </a:lnSpc>
            </a:pPr>
            <a:r>
              <a:rPr sz="1800" b="0" i="0">
                <a:solidFill>
                  <a:srgbClr val="0C1408"/>
                </a:solidFill>
                <a:latin typeface="Arial"/>
              </a:rPr>
              <a:t>The application is built. State Bank regulation comes through Mashreq's licence.</a:t>
            </a:r>
          </a:p>
        </p:txBody>
      </p:sp>
      <p:pic>
        <p:nvPicPr>
          <p:cNvPr id="4" name="Picture 3" descr="halqa_logo.png"/>
          <p:cNvPicPr>
            <a:picLocks noChangeAspect="1"/>
          </p:cNvPicPr>
          <p:nvPr/>
        </p:nvPicPr>
        <p:blipFill>
          <a:blip r:embed="rId3"/>
          <a:stretch>
            <a:fillRect/>
          </a:stretch>
        </p:blipFill>
        <p:spPr>
          <a:xfrm>
            <a:off x="10600639" y="457200"/>
            <a:ext cx="1023202" cy="310896"/>
          </a:xfrm>
          <a:prstGeom prst="rect">
            <a:avLst/>
          </a:prstGeom>
        </p:spPr>
      </p:pic>
      <p:sp>
        <p:nvSpPr>
          <p:cNvPr id="5" name="TextBox 4"/>
          <p:cNvSpPr txBox="1"/>
          <p:nvPr/>
        </p:nvSpPr>
        <p:spPr>
          <a:xfrm>
            <a:off x="566928" y="6309360"/>
            <a:ext cx="10149840" cy="365760"/>
          </a:xfrm>
          <a:prstGeom prst="rect">
            <a:avLst/>
          </a:prstGeom>
          <a:noFill/>
        </p:spPr>
        <p:txBody>
          <a:bodyPr wrap="square" lIns="0" rIns="0" tIns="0" bIns="0" anchor="t">
            <a:noAutofit/>
          </a:bodyPr>
          <a:lstStyle/>
          <a:p>
            <a:pPr algn="l">
              <a:lnSpc>
                <a:spcPct val="100000"/>
              </a:lnSpc>
            </a:pPr>
            <a:r>
              <a:rPr sz="900" b="0" i="0">
                <a:solidFill>
                  <a:srgbClr val="5B6456"/>
                </a:solidFill>
                <a:latin typeface="Arial"/>
              </a:rPr>
              <a:t>State Bank of Pakistan, Framework for Risk Management in Outsourcing Arrangements by Financial Institutions, 2017, revised 2019.</a:t>
            </a:r>
          </a:p>
        </p:txBody>
      </p:sp>
      <p:sp>
        <p:nvSpPr>
          <p:cNvPr id="6" name="TextBox 5"/>
          <p:cNvSpPr txBox="1"/>
          <p:nvPr/>
        </p:nvSpPr>
        <p:spPr>
          <a:xfrm>
            <a:off x="11076127" y="6355080"/>
            <a:ext cx="548640" cy="228600"/>
          </a:xfrm>
          <a:prstGeom prst="rect">
            <a:avLst/>
          </a:prstGeom>
          <a:noFill/>
        </p:spPr>
        <p:txBody>
          <a:bodyPr wrap="square" lIns="0" rIns="0" tIns="0" bIns="0" anchor="t">
            <a:noAutofit/>
          </a:bodyPr>
          <a:lstStyle/>
          <a:p>
            <a:pPr algn="r">
              <a:lnSpc>
                <a:spcPct val="110000"/>
              </a:lnSpc>
            </a:pPr>
            <a:r>
              <a:rPr sz="1000" b="0" i="0">
                <a:solidFill>
                  <a:srgbClr val="5B6456"/>
                </a:solidFill>
                <a:latin typeface="Arial"/>
              </a:rPr>
              <a:t>19</a:t>
            </a:r>
          </a:p>
        </p:txBody>
      </p:sp>
      <p:sp>
        <p:nvSpPr>
          <p:cNvPr id="7" name="Rectangle 6"/>
          <p:cNvSpPr/>
          <p:nvPr/>
        </p:nvSpPr>
        <p:spPr>
          <a:xfrm>
            <a:off x="566928" y="1783080"/>
            <a:ext cx="5394960" cy="3246120"/>
          </a:xfrm>
          <a:prstGeom prst="rect">
            <a:avLst/>
          </a:prstGeom>
          <a:noFill/>
          <a:ln w="15875">
            <a:solidFill>
              <a:srgbClr val="0C1408"/>
            </a:solidFill>
          </a:ln>
        </p:spPr>
        <p:txBody>
          <a:bodyPr rtlCol="0" anchor="ctr" lIns="0" rIns="0"/>
          <a:lstStyle/>
          <a:p>
            <a:pPr algn="ctr"/>
          </a:p>
        </p:txBody>
      </p:sp>
      <p:sp>
        <p:nvSpPr>
          <p:cNvPr id="8" name="TextBox 7"/>
          <p:cNvSpPr txBox="1"/>
          <p:nvPr/>
        </p:nvSpPr>
        <p:spPr>
          <a:xfrm>
            <a:off x="704088" y="1874519"/>
            <a:ext cx="5120640" cy="274320"/>
          </a:xfrm>
          <a:prstGeom prst="rect">
            <a:avLst/>
          </a:prstGeom>
          <a:noFill/>
        </p:spPr>
        <p:txBody>
          <a:bodyPr wrap="square" lIns="0" rIns="0" tIns="0" bIns="0" anchor="t">
            <a:noAutofit/>
          </a:bodyPr>
          <a:lstStyle/>
          <a:p>
            <a:pPr algn="l">
              <a:lnSpc>
                <a:spcPct val="110000"/>
              </a:lnSpc>
            </a:pPr>
            <a:r>
              <a:rPr sz="1300" b="1" i="0">
                <a:solidFill>
                  <a:srgbClr val="0C1408"/>
                </a:solidFill>
                <a:latin typeface="Arial"/>
              </a:rPr>
              <a:t>State Bank of Pakistan</a:t>
            </a:r>
          </a:p>
        </p:txBody>
      </p:sp>
      <p:sp>
        <p:nvSpPr>
          <p:cNvPr id="9" name="Rectangle 8"/>
          <p:cNvSpPr/>
          <p:nvPr/>
        </p:nvSpPr>
        <p:spPr>
          <a:xfrm>
            <a:off x="841247" y="2313432"/>
            <a:ext cx="4846320" cy="2331720"/>
          </a:xfrm>
          <a:prstGeom prst="rect">
            <a:avLst/>
          </a:prstGeom>
          <a:noFill/>
          <a:ln w="15875">
            <a:solidFill>
              <a:srgbClr val="E0602A"/>
            </a:solidFill>
          </a:ln>
        </p:spPr>
        <p:txBody>
          <a:bodyPr rtlCol="0" anchor="ctr" lIns="0" rIns="0"/>
          <a:lstStyle/>
          <a:p>
            <a:pPr algn="ctr"/>
          </a:p>
        </p:txBody>
      </p:sp>
      <p:sp>
        <p:nvSpPr>
          <p:cNvPr id="10" name="TextBox 9"/>
          <p:cNvSpPr txBox="1"/>
          <p:nvPr/>
        </p:nvSpPr>
        <p:spPr>
          <a:xfrm>
            <a:off x="978407" y="2404872"/>
            <a:ext cx="4572000" cy="274320"/>
          </a:xfrm>
          <a:prstGeom prst="rect">
            <a:avLst/>
          </a:prstGeom>
          <a:noFill/>
        </p:spPr>
        <p:txBody>
          <a:bodyPr wrap="square" lIns="0" rIns="0" tIns="0" bIns="0" anchor="t">
            <a:noAutofit/>
          </a:bodyPr>
          <a:lstStyle/>
          <a:p>
            <a:pPr algn="l">
              <a:lnSpc>
                <a:spcPct val="110000"/>
              </a:lnSpc>
            </a:pPr>
            <a:r>
              <a:rPr sz="1300" b="1" i="0">
                <a:solidFill>
                  <a:srgbClr val="E0602A"/>
                </a:solidFill>
                <a:latin typeface="Arial"/>
              </a:rPr>
              <a:t>Mashreq Bank Pakistan</a:t>
            </a:r>
          </a:p>
        </p:txBody>
      </p:sp>
      <p:sp>
        <p:nvSpPr>
          <p:cNvPr id="11" name="Rectangle 10"/>
          <p:cNvSpPr/>
          <p:nvPr/>
        </p:nvSpPr>
        <p:spPr>
          <a:xfrm>
            <a:off x="1115568" y="2843784"/>
            <a:ext cx="4297680" cy="1417319"/>
          </a:xfrm>
          <a:prstGeom prst="rect">
            <a:avLst/>
          </a:prstGeom>
          <a:solidFill>
            <a:srgbClr val="F3FCE7"/>
          </a:solidFill>
          <a:ln w="15875">
            <a:solidFill>
              <a:srgbClr val="41801A"/>
            </a:solidFill>
          </a:ln>
        </p:spPr>
        <p:txBody>
          <a:bodyPr rtlCol="0" anchor="ctr" lIns="0" rIns="0"/>
          <a:lstStyle/>
          <a:p>
            <a:pPr algn="ctr"/>
          </a:p>
        </p:txBody>
      </p:sp>
      <p:sp>
        <p:nvSpPr>
          <p:cNvPr id="12" name="TextBox 11"/>
          <p:cNvSpPr txBox="1"/>
          <p:nvPr/>
        </p:nvSpPr>
        <p:spPr>
          <a:xfrm>
            <a:off x="1252728" y="2935224"/>
            <a:ext cx="4023360" cy="274320"/>
          </a:xfrm>
          <a:prstGeom prst="rect">
            <a:avLst/>
          </a:prstGeom>
          <a:noFill/>
        </p:spPr>
        <p:txBody>
          <a:bodyPr wrap="square" lIns="0" rIns="0" tIns="0" bIns="0" anchor="t">
            <a:noAutofit/>
          </a:bodyPr>
          <a:lstStyle/>
          <a:p>
            <a:pPr algn="l">
              <a:lnSpc>
                <a:spcPct val="110000"/>
              </a:lnSpc>
            </a:pPr>
            <a:r>
              <a:rPr sz="1300" b="1" i="0">
                <a:solidFill>
                  <a:srgbClr val="41801A"/>
                </a:solidFill>
                <a:latin typeface="Arial"/>
              </a:rPr>
              <a:t>Halqa, the bank's service provider</a:t>
            </a:r>
          </a:p>
        </p:txBody>
      </p:sp>
      <p:sp>
        <p:nvSpPr>
          <p:cNvPr id="13" name="TextBox 12"/>
          <p:cNvSpPr txBox="1"/>
          <p:nvPr/>
        </p:nvSpPr>
        <p:spPr>
          <a:xfrm>
            <a:off x="1252728" y="3227832"/>
            <a:ext cx="4023360" cy="960119"/>
          </a:xfrm>
          <a:prstGeom prst="rect">
            <a:avLst/>
          </a:prstGeom>
          <a:noFill/>
        </p:spPr>
        <p:txBody>
          <a:bodyPr wrap="square" lIns="0" rIns="0" tIns="0" bIns="0" anchor="t">
            <a:noAutofit/>
          </a:bodyPr>
          <a:lstStyle/>
          <a:p>
            <a:pPr algn="l">
              <a:lnSpc>
                <a:spcPct val="110000"/>
              </a:lnSpc>
            </a:pPr>
            <a:r>
              <a:rPr sz="1200" b="0" i="0">
                <a:solidFill>
                  <a:srgbClr val="0C1408"/>
                </a:solidFill>
                <a:latin typeface="Arial"/>
              </a:rPr>
              <a:t>Rules, checks, application and records, under the State Bank's outsourcing framework.</a:t>
            </a:r>
          </a:p>
        </p:txBody>
      </p:sp>
      <p:sp>
        <p:nvSpPr>
          <p:cNvPr id="14" name="TextBox 13"/>
          <p:cNvSpPr txBox="1"/>
          <p:nvPr/>
        </p:nvSpPr>
        <p:spPr>
          <a:xfrm>
            <a:off x="566928" y="5230368"/>
            <a:ext cx="5394960" cy="731520"/>
          </a:xfrm>
          <a:prstGeom prst="rect">
            <a:avLst/>
          </a:prstGeom>
          <a:noFill/>
        </p:spPr>
        <p:txBody>
          <a:bodyPr wrap="square" lIns="0" rIns="0" tIns="0" bIns="0" anchor="t">
            <a:noAutofit/>
          </a:bodyPr>
          <a:lstStyle/>
          <a:p>
            <a:pPr algn="l">
              <a:lnSpc>
                <a:spcPct val="110000"/>
              </a:lnSpc>
            </a:pPr>
            <a:r>
              <a:rPr sz="1400" b="1" i="0">
                <a:solidFill>
                  <a:srgbClr val="41801A"/>
                </a:solidFill>
                <a:latin typeface="Arial"/>
              </a:rPr>
              <a:t>Halqa takes no licence of its own and never holds member money.</a:t>
            </a:r>
          </a:p>
        </p:txBody>
      </p:sp>
      <p:cxnSp>
        <p:nvCxnSpPr>
          <p:cNvPr id="15" name="Connector 14"/>
          <p:cNvCxnSpPr/>
          <p:nvPr/>
        </p:nvCxnSpPr>
        <p:spPr>
          <a:xfrm>
            <a:off x="6400800" y="1810512"/>
            <a:ext cx="5212080" cy="0"/>
          </a:xfrm>
          <a:prstGeom prst="line">
            <a:avLst/>
          </a:prstGeom>
          <a:ln w="9525">
            <a:solidFill>
              <a:srgbClr val="D5DCD1"/>
            </a:solidFill>
          </a:ln>
        </p:spPr>
      </p:cxnSp>
      <p:sp>
        <p:nvSpPr>
          <p:cNvPr id="16" name="TextBox 15"/>
          <p:cNvSpPr txBox="1"/>
          <p:nvPr/>
        </p:nvSpPr>
        <p:spPr>
          <a:xfrm>
            <a:off x="6400800" y="1901952"/>
            <a:ext cx="1234440" cy="365760"/>
          </a:xfrm>
          <a:prstGeom prst="rect">
            <a:avLst/>
          </a:prstGeom>
          <a:noFill/>
        </p:spPr>
        <p:txBody>
          <a:bodyPr wrap="square" lIns="0" rIns="0" tIns="0" bIns="0" anchor="t">
            <a:noAutofit/>
          </a:bodyPr>
          <a:lstStyle/>
          <a:p>
            <a:pPr algn="l">
              <a:lnSpc>
                <a:spcPct val="110000"/>
              </a:lnSpc>
            </a:pPr>
            <a:r>
              <a:rPr sz="1400" b="1" i="0">
                <a:solidFill>
                  <a:srgbClr val="41801A"/>
                </a:solidFill>
                <a:latin typeface="Arial"/>
              </a:rPr>
              <a:t>Built</a:t>
            </a:r>
          </a:p>
        </p:txBody>
      </p:sp>
      <p:sp>
        <p:nvSpPr>
          <p:cNvPr id="17" name="TextBox 16"/>
          <p:cNvSpPr txBox="1"/>
          <p:nvPr/>
        </p:nvSpPr>
        <p:spPr>
          <a:xfrm>
            <a:off x="7680960" y="1920240"/>
            <a:ext cx="3931920" cy="914400"/>
          </a:xfrm>
          <a:prstGeom prst="rect">
            <a:avLst/>
          </a:prstGeom>
          <a:noFill/>
        </p:spPr>
        <p:txBody>
          <a:bodyPr wrap="square" lIns="0" rIns="0" tIns="0" bIns="0" anchor="t">
            <a:noAutofit/>
          </a:bodyPr>
          <a:lstStyle/>
          <a:p>
            <a:pPr algn="l">
              <a:lnSpc>
                <a:spcPct val="105000"/>
              </a:lnSpc>
            </a:pPr>
            <a:r>
              <a:rPr sz="1250" b="0" i="0">
                <a:solidFill>
                  <a:srgbClr val="0C1408"/>
                </a:solidFill>
                <a:latin typeface="Arial"/>
              </a:rPr>
              <a:t>Application and decision engines, live since 20 July 2026, closed to the public; payments in test mode.</a:t>
            </a:r>
          </a:p>
        </p:txBody>
      </p:sp>
      <p:cxnSp>
        <p:nvCxnSpPr>
          <p:cNvPr id="18" name="Connector 17"/>
          <p:cNvCxnSpPr/>
          <p:nvPr/>
        </p:nvCxnSpPr>
        <p:spPr>
          <a:xfrm>
            <a:off x="6400800" y="2798064"/>
            <a:ext cx="5212080" cy="0"/>
          </a:xfrm>
          <a:prstGeom prst="line">
            <a:avLst/>
          </a:prstGeom>
          <a:ln w="9525">
            <a:solidFill>
              <a:srgbClr val="D5DCD1"/>
            </a:solidFill>
          </a:ln>
        </p:spPr>
      </p:cxnSp>
      <p:sp>
        <p:nvSpPr>
          <p:cNvPr id="19" name="TextBox 18"/>
          <p:cNvSpPr txBox="1"/>
          <p:nvPr/>
        </p:nvSpPr>
        <p:spPr>
          <a:xfrm>
            <a:off x="6400800" y="2889504"/>
            <a:ext cx="1234440" cy="365760"/>
          </a:xfrm>
          <a:prstGeom prst="rect">
            <a:avLst/>
          </a:prstGeom>
          <a:noFill/>
        </p:spPr>
        <p:txBody>
          <a:bodyPr wrap="square" lIns="0" rIns="0" tIns="0" bIns="0" anchor="t">
            <a:noAutofit/>
          </a:bodyPr>
          <a:lstStyle/>
          <a:p>
            <a:pPr algn="l">
              <a:lnSpc>
                <a:spcPct val="110000"/>
              </a:lnSpc>
            </a:pPr>
            <a:r>
              <a:rPr sz="1400" b="1" i="0">
                <a:solidFill>
                  <a:srgbClr val="41801A"/>
                </a:solidFill>
                <a:latin typeface="Arial"/>
              </a:rPr>
              <a:t>Connection</a:t>
            </a:r>
          </a:p>
        </p:txBody>
      </p:sp>
      <p:sp>
        <p:nvSpPr>
          <p:cNvPr id="20" name="TextBox 19"/>
          <p:cNvSpPr txBox="1"/>
          <p:nvPr/>
        </p:nvSpPr>
        <p:spPr>
          <a:xfrm>
            <a:off x="7680960" y="2907792"/>
            <a:ext cx="3931920" cy="914400"/>
          </a:xfrm>
          <a:prstGeom prst="rect">
            <a:avLst/>
          </a:prstGeom>
          <a:noFill/>
        </p:spPr>
        <p:txBody>
          <a:bodyPr wrap="square" lIns="0" rIns="0" tIns="0" bIns="0" anchor="t">
            <a:noAutofit/>
          </a:bodyPr>
          <a:lstStyle/>
          <a:p>
            <a:pPr algn="l">
              <a:lnSpc>
                <a:spcPct val="105000"/>
              </a:lnSpc>
            </a:pPr>
            <a:r>
              <a:rPr sz="1250" b="0" i="0">
                <a:solidFill>
                  <a:srgbClr val="0C1408"/>
                </a:solidFill>
                <a:latin typeface="Arial"/>
              </a:rPr>
              <a:t>Seven messages with Mashreq, from account opening to the daily statement.</a:t>
            </a:r>
          </a:p>
        </p:txBody>
      </p:sp>
      <p:cxnSp>
        <p:nvCxnSpPr>
          <p:cNvPr id="21" name="Connector 20"/>
          <p:cNvCxnSpPr/>
          <p:nvPr/>
        </p:nvCxnSpPr>
        <p:spPr>
          <a:xfrm>
            <a:off x="6400800" y="3785616"/>
            <a:ext cx="5212080" cy="0"/>
          </a:xfrm>
          <a:prstGeom prst="line">
            <a:avLst/>
          </a:prstGeom>
          <a:ln w="9525">
            <a:solidFill>
              <a:srgbClr val="D5DCD1"/>
            </a:solidFill>
          </a:ln>
        </p:spPr>
      </p:cxnSp>
      <p:sp>
        <p:nvSpPr>
          <p:cNvPr id="22" name="TextBox 21"/>
          <p:cNvSpPr txBox="1"/>
          <p:nvPr/>
        </p:nvSpPr>
        <p:spPr>
          <a:xfrm>
            <a:off x="6400800" y="3877056"/>
            <a:ext cx="1234440" cy="365760"/>
          </a:xfrm>
          <a:prstGeom prst="rect">
            <a:avLst/>
          </a:prstGeom>
          <a:noFill/>
        </p:spPr>
        <p:txBody>
          <a:bodyPr wrap="square" lIns="0" rIns="0" tIns="0" bIns="0" anchor="t">
            <a:noAutofit/>
          </a:bodyPr>
          <a:lstStyle/>
          <a:p>
            <a:pPr algn="l">
              <a:lnSpc>
                <a:spcPct val="110000"/>
              </a:lnSpc>
            </a:pPr>
            <a:r>
              <a:rPr sz="1400" b="1" i="0">
                <a:solidFill>
                  <a:srgbClr val="41801A"/>
                </a:solidFill>
                <a:latin typeface="Arial"/>
              </a:rPr>
              <a:t>Security</a:t>
            </a:r>
          </a:p>
        </p:txBody>
      </p:sp>
      <p:sp>
        <p:nvSpPr>
          <p:cNvPr id="23" name="TextBox 22"/>
          <p:cNvSpPr txBox="1"/>
          <p:nvPr/>
        </p:nvSpPr>
        <p:spPr>
          <a:xfrm>
            <a:off x="7680960" y="3895344"/>
            <a:ext cx="3931920" cy="914400"/>
          </a:xfrm>
          <a:prstGeom prst="rect">
            <a:avLst/>
          </a:prstGeom>
          <a:noFill/>
        </p:spPr>
        <p:txBody>
          <a:bodyPr wrap="square" lIns="0" rIns="0" tIns="0" bIns="0" anchor="t">
            <a:noAutofit/>
          </a:bodyPr>
          <a:lstStyle/>
          <a:p>
            <a:pPr algn="l">
              <a:lnSpc>
                <a:spcPct val="105000"/>
              </a:lnSpc>
            </a:pPr>
            <a:r>
              <a:rPr sz="1250" b="0" i="0">
                <a:solidFill>
                  <a:srgbClr val="0C1408"/>
                </a:solidFill>
                <a:latin typeface="Arial"/>
              </a:rPr>
              <a:t>No card numbers, passwords or banking credentials stored by Halqa.</a:t>
            </a:r>
          </a:p>
        </p:txBody>
      </p:sp>
      <p:cxnSp>
        <p:nvCxnSpPr>
          <p:cNvPr id="24" name="Connector 23"/>
          <p:cNvCxnSpPr/>
          <p:nvPr/>
        </p:nvCxnSpPr>
        <p:spPr>
          <a:xfrm>
            <a:off x="6400800" y="4773168"/>
            <a:ext cx="5212080" cy="0"/>
          </a:xfrm>
          <a:prstGeom prst="line">
            <a:avLst/>
          </a:prstGeom>
          <a:ln w="9525">
            <a:solidFill>
              <a:srgbClr val="D5DCD1"/>
            </a:solidFill>
          </a:ln>
        </p:spPr>
      </p:cxnSp>
      <p:sp>
        <p:nvSpPr>
          <p:cNvPr id="25" name="TextBox 24"/>
          <p:cNvSpPr txBox="1"/>
          <p:nvPr/>
        </p:nvSpPr>
        <p:spPr>
          <a:xfrm>
            <a:off x="6400800" y="4864608"/>
            <a:ext cx="1234440" cy="365760"/>
          </a:xfrm>
          <a:prstGeom prst="rect">
            <a:avLst/>
          </a:prstGeom>
          <a:noFill/>
        </p:spPr>
        <p:txBody>
          <a:bodyPr wrap="square" lIns="0" rIns="0" tIns="0" bIns="0" anchor="t">
            <a:noAutofit/>
          </a:bodyPr>
          <a:lstStyle/>
          <a:p>
            <a:pPr algn="l">
              <a:lnSpc>
                <a:spcPct val="110000"/>
              </a:lnSpc>
            </a:pPr>
            <a:r>
              <a:rPr sz="1400" b="1" i="0">
                <a:solidFill>
                  <a:srgbClr val="41801A"/>
                </a:solidFill>
                <a:latin typeface="Arial"/>
              </a:rPr>
              <a:t>To do</a:t>
            </a:r>
          </a:p>
        </p:txBody>
      </p:sp>
      <p:sp>
        <p:nvSpPr>
          <p:cNvPr id="26" name="TextBox 25"/>
          <p:cNvSpPr txBox="1"/>
          <p:nvPr/>
        </p:nvSpPr>
        <p:spPr>
          <a:xfrm>
            <a:off x="7680960" y="4882896"/>
            <a:ext cx="3931920" cy="914400"/>
          </a:xfrm>
          <a:prstGeom prst="rect">
            <a:avLst/>
          </a:prstGeom>
          <a:noFill/>
        </p:spPr>
        <p:txBody>
          <a:bodyPr wrap="square" lIns="0" rIns="0" tIns="0" bIns="0" anchor="t">
            <a:noAutofit/>
          </a:bodyPr>
          <a:lstStyle/>
          <a:p>
            <a:pPr algn="l">
              <a:lnSpc>
                <a:spcPct val="105000"/>
              </a:lnSpc>
            </a:pPr>
            <a:r>
              <a:rPr sz="1250" b="0" i="0">
                <a:solidFill>
                  <a:srgbClr val="0C1408"/>
                </a:solidFill>
                <a:latin typeface="Arial"/>
              </a:rPr>
              <a:t>Incorporation, the agreement and the Mashreq connection.</a:t>
            </a:r>
          </a:p>
        </p:txBody>
      </p:sp>
      <p:cxnSp>
        <p:nvCxnSpPr>
          <p:cNvPr id="27" name="Connector 26"/>
          <p:cNvCxnSpPr/>
          <p:nvPr/>
        </p:nvCxnSpPr>
        <p:spPr>
          <a:xfrm>
            <a:off x="6400800" y="5760720"/>
            <a:ext cx="5212080" cy="0"/>
          </a:xfrm>
          <a:prstGeom prst="line">
            <a:avLst/>
          </a:prstGeom>
          <a:ln w="9525">
            <a:solidFill>
              <a:srgbClr val="D5DCD1"/>
            </a:solidFill>
          </a:ln>
        </p:spPr>
      </p:cxn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9509760" cy="566928"/>
          </a:xfrm>
          <a:prstGeom prst="rect">
            <a:avLst/>
          </a:prstGeom>
          <a:noFill/>
        </p:spPr>
        <p:txBody>
          <a:bodyPr wrap="square" lIns="0" rIns="0" tIns="0" bIns="0" anchor="t">
            <a:noAutofit/>
          </a:bodyPr>
          <a:lstStyle/>
          <a:p>
            <a:pPr algn="l">
              <a:lnSpc>
                <a:spcPct val="110000"/>
              </a:lnSpc>
            </a:pPr>
            <a:r>
              <a:rPr sz="2800" b="0" i="0">
                <a:solidFill>
                  <a:srgbClr val="41801A"/>
                </a:solidFill>
                <a:latin typeface="Georgia"/>
              </a:rPr>
              <a:t>Pilot</a:t>
            </a:r>
          </a:p>
        </p:txBody>
      </p:sp>
      <p:sp>
        <p:nvSpPr>
          <p:cNvPr id="3" name="TextBox 2"/>
          <p:cNvSpPr txBox="1"/>
          <p:nvPr/>
        </p:nvSpPr>
        <p:spPr>
          <a:xfrm>
            <a:off x="566928" y="987552"/>
            <a:ext cx="11057839" cy="411480"/>
          </a:xfrm>
          <a:prstGeom prst="rect">
            <a:avLst/>
          </a:prstGeom>
          <a:noFill/>
        </p:spPr>
        <p:txBody>
          <a:bodyPr wrap="square" lIns="0" rIns="0" tIns="0" bIns="0" anchor="t">
            <a:noAutofit/>
          </a:bodyPr>
          <a:lstStyle/>
          <a:p>
            <a:pPr algn="l">
              <a:lnSpc>
                <a:spcPct val="110000"/>
              </a:lnSpc>
            </a:pPr>
            <a:r>
              <a:rPr sz="1800" b="0" i="0">
                <a:solidFill>
                  <a:srgbClr val="0C1408"/>
                </a:solidFill>
                <a:latin typeface="Arial"/>
              </a:rPr>
              <a:t>One live month with about 1,000 members, after eight weeks of agreement, approvals and connection.</a:t>
            </a:r>
          </a:p>
        </p:txBody>
      </p:sp>
      <p:pic>
        <p:nvPicPr>
          <p:cNvPr id="4" name="Picture 3" descr="halqa_logo.png"/>
          <p:cNvPicPr>
            <a:picLocks noChangeAspect="1"/>
          </p:cNvPicPr>
          <p:nvPr/>
        </p:nvPicPr>
        <p:blipFill>
          <a:blip r:embed="rId3"/>
          <a:stretch>
            <a:fillRect/>
          </a:stretch>
        </p:blipFill>
        <p:spPr>
          <a:xfrm>
            <a:off x="10600639" y="457200"/>
            <a:ext cx="1023202" cy="310896"/>
          </a:xfrm>
          <a:prstGeom prst="rect">
            <a:avLst/>
          </a:prstGeom>
        </p:spPr>
      </p:pic>
      <p:sp>
        <p:nvSpPr>
          <p:cNvPr id="5" name="TextBox 4"/>
          <p:cNvSpPr txBox="1"/>
          <p:nvPr/>
        </p:nvSpPr>
        <p:spPr>
          <a:xfrm>
            <a:off x="11076127" y="6355080"/>
            <a:ext cx="548640" cy="228600"/>
          </a:xfrm>
          <a:prstGeom prst="rect">
            <a:avLst/>
          </a:prstGeom>
          <a:noFill/>
        </p:spPr>
        <p:txBody>
          <a:bodyPr wrap="square" lIns="0" rIns="0" tIns="0" bIns="0" anchor="t">
            <a:noAutofit/>
          </a:bodyPr>
          <a:lstStyle/>
          <a:p>
            <a:pPr algn="r">
              <a:lnSpc>
                <a:spcPct val="110000"/>
              </a:lnSpc>
            </a:pPr>
            <a:r>
              <a:rPr sz="1000" b="0" i="0">
                <a:solidFill>
                  <a:srgbClr val="5B6456"/>
                </a:solidFill>
                <a:latin typeface="Arial"/>
              </a:rPr>
              <a:t>20</a:t>
            </a:r>
          </a:p>
        </p:txBody>
      </p:sp>
      <p:sp>
        <p:nvSpPr>
          <p:cNvPr id="6" name="TextBox 5"/>
          <p:cNvSpPr txBox="1"/>
          <p:nvPr/>
        </p:nvSpPr>
        <p:spPr>
          <a:xfrm>
            <a:off x="566928" y="1783080"/>
            <a:ext cx="1920239" cy="274320"/>
          </a:xfrm>
          <a:prstGeom prst="rect">
            <a:avLst/>
          </a:prstGeom>
          <a:noFill/>
        </p:spPr>
        <p:txBody>
          <a:bodyPr wrap="square" lIns="0" rIns="0" tIns="0" bIns="0" anchor="t">
            <a:noAutofit/>
          </a:bodyPr>
          <a:lstStyle/>
          <a:p>
            <a:pPr algn="r">
              <a:lnSpc>
                <a:spcPct val="110000"/>
              </a:lnSpc>
            </a:pPr>
            <a:r>
              <a:rPr sz="1100" b="0" i="0">
                <a:solidFill>
                  <a:srgbClr val="5B6456"/>
                </a:solidFill>
                <a:latin typeface="Arial"/>
              </a:rPr>
              <a:t>Week</a:t>
            </a:r>
          </a:p>
        </p:txBody>
      </p:sp>
      <p:sp>
        <p:nvSpPr>
          <p:cNvPr id="7" name="TextBox 6"/>
          <p:cNvSpPr txBox="1"/>
          <p:nvPr/>
        </p:nvSpPr>
        <p:spPr>
          <a:xfrm>
            <a:off x="2670048" y="1783080"/>
            <a:ext cx="633548" cy="274320"/>
          </a:xfrm>
          <a:prstGeom prst="rect">
            <a:avLst/>
          </a:prstGeom>
          <a:noFill/>
        </p:spPr>
        <p:txBody>
          <a:bodyPr wrap="square" lIns="0" rIns="0" tIns="0" bIns="0" anchor="t">
            <a:noAutofit/>
          </a:bodyPr>
          <a:lstStyle/>
          <a:p>
            <a:pPr algn="ctr">
              <a:lnSpc>
                <a:spcPct val="110000"/>
              </a:lnSpc>
            </a:pPr>
            <a:r>
              <a:rPr sz="1100" b="0" i="0">
                <a:solidFill>
                  <a:srgbClr val="5B6456"/>
                </a:solidFill>
                <a:latin typeface="Arial"/>
              </a:rPr>
              <a:t>1</a:t>
            </a:r>
          </a:p>
        </p:txBody>
      </p:sp>
      <p:cxnSp>
        <p:nvCxnSpPr>
          <p:cNvPr id="8" name="Connector 7"/>
          <p:cNvCxnSpPr/>
          <p:nvPr/>
        </p:nvCxnSpPr>
        <p:spPr>
          <a:xfrm>
            <a:off x="2670048" y="2093976"/>
            <a:ext cx="0" cy="2578608"/>
          </a:xfrm>
          <a:prstGeom prst="line">
            <a:avLst/>
          </a:prstGeom>
          <a:ln w="6350">
            <a:solidFill>
              <a:srgbClr val="D5DCD1"/>
            </a:solidFill>
          </a:ln>
        </p:spPr>
      </p:cxnSp>
      <p:sp>
        <p:nvSpPr>
          <p:cNvPr id="9" name="TextBox 8"/>
          <p:cNvSpPr txBox="1"/>
          <p:nvPr/>
        </p:nvSpPr>
        <p:spPr>
          <a:xfrm>
            <a:off x="3303596" y="1783080"/>
            <a:ext cx="633548" cy="274320"/>
          </a:xfrm>
          <a:prstGeom prst="rect">
            <a:avLst/>
          </a:prstGeom>
          <a:noFill/>
        </p:spPr>
        <p:txBody>
          <a:bodyPr wrap="square" lIns="0" rIns="0" tIns="0" bIns="0" anchor="t">
            <a:noAutofit/>
          </a:bodyPr>
          <a:lstStyle/>
          <a:p>
            <a:pPr algn="ctr">
              <a:lnSpc>
                <a:spcPct val="110000"/>
              </a:lnSpc>
            </a:pPr>
            <a:r>
              <a:rPr sz="1100" b="0" i="0">
                <a:solidFill>
                  <a:srgbClr val="5B6456"/>
                </a:solidFill>
                <a:latin typeface="Arial"/>
              </a:rPr>
              <a:t>2</a:t>
            </a:r>
          </a:p>
        </p:txBody>
      </p:sp>
      <p:cxnSp>
        <p:nvCxnSpPr>
          <p:cNvPr id="10" name="Connector 9"/>
          <p:cNvCxnSpPr/>
          <p:nvPr/>
        </p:nvCxnSpPr>
        <p:spPr>
          <a:xfrm>
            <a:off x="3303596" y="2093976"/>
            <a:ext cx="0" cy="2578608"/>
          </a:xfrm>
          <a:prstGeom prst="line">
            <a:avLst/>
          </a:prstGeom>
          <a:ln w="6350">
            <a:solidFill>
              <a:srgbClr val="D5DCD1"/>
            </a:solidFill>
          </a:ln>
        </p:spPr>
      </p:cxnSp>
      <p:sp>
        <p:nvSpPr>
          <p:cNvPr id="11" name="TextBox 10"/>
          <p:cNvSpPr txBox="1"/>
          <p:nvPr/>
        </p:nvSpPr>
        <p:spPr>
          <a:xfrm>
            <a:off x="3937145" y="1783080"/>
            <a:ext cx="633548" cy="274320"/>
          </a:xfrm>
          <a:prstGeom prst="rect">
            <a:avLst/>
          </a:prstGeom>
          <a:noFill/>
        </p:spPr>
        <p:txBody>
          <a:bodyPr wrap="square" lIns="0" rIns="0" tIns="0" bIns="0" anchor="t">
            <a:noAutofit/>
          </a:bodyPr>
          <a:lstStyle/>
          <a:p>
            <a:pPr algn="ctr">
              <a:lnSpc>
                <a:spcPct val="110000"/>
              </a:lnSpc>
            </a:pPr>
            <a:r>
              <a:rPr sz="1100" b="0" i="0">
                <a:solidFill>
                  <a:srgbClr val="5B6456"/>
                </a:solidFill>
                <a:latin typeface="Arial"/>
              </a:rPr>
              <a:t>3</a:t>
            </a:r>
          </a:p>
        </p:txBody>
      </p:sp>
      <p:cxnSp>
        <p:nvCxnSpPr>
          <p:cNvPr id="12" name="Connector 11"/>
          <p:cNvCxnSpPr/>
          <p:nvPr/>
        </p:nvCxnSpPr>
        <p:spPr>
          <a:xfrm>
            <a:off x="3937145" y="2093976"/>
            <a:ext cx="0" cy="2578608"/>
          </a:xfrm>
          <a:prstGeom prst="line">
            <a:avLst/>
          </a:prstGeom>
          <a:ln w="6350">
            <a:solidFill>
              <a:srgbClr val="D5DCD1"/>
            </a:solidFill>
          </a:ln>
        </p:spPr>
      </p:cxnSp>
      <p:sp>
        <p:nvSpPr>
          <p:cNvPr id="13" name="TextBox 12"/>
          <p:cNvSpPr txBox="1"/>
          <p:nvPr/>
        </p:nvSpPr>
        <p:spPr>
          <a:xfrm>
            <a:off x="4570693" y="1783080"/>
            <a:ext cx="633548" cy="274320"/>
          </a:xfrm>
          <a:prstGeom prst="rect">
            <a:avLst/>
          </a:prstGeom>
          <a:noFill/>
        </p:spPr>
        <p:txBody>
          <a:bodyPr wrap="square" lIns="0" rIns="0" tIns="0" bIns="0" anchor="t">
            <a:noAutofit/>
          </a:bodyPr>
          <a:lstStyle/>
          <a:p>
            <a:pPr algn="ctr">
              <a:lnSpc>
                <a:spcPct val="110000"/>
              </a:lnSpc>
            </a:pPr>
            <a:r>
              <a:rPr sz="1100" b="0" i="0">
                <a:solidFill>
                  <a:srgbClr val="5B6456"/>
                </a:solidFill>
                <a:latin typeface="Arial"/>
              </a:rPr>
              <a:t>4</a:t>
            </a:r>
          </a:p>
        </p:txBody>
      </p:sp>
      <p:cxnSp>
        <p:nvCxnSpPr>
          <p:cNvPr id="14" name="Connector 13"/>
          <p:cNvCxnSpPr/>
          <p:nvPr/>
        </p:nvCxnSpPr>
        <p:spPr>
          <a:xfrm>
            <a:off x="4570693" y="2093976"/>
            <a:ext cx="0" cy="2578608"/>
          </a:xfrm>
          <a:prstGeom prst="line">
            <a:avLst/>
          </a:prstGeom>
          <a:ln w="6350">
            <a:solidFill>
              <a:srgbClr val="D5DCD1"/>
            </a:solidFill>
          </a:ln>
        </p:spPr>
      </p:cxnSp>
      <p:sp>
        <p:nvSpPr>
          <p:cNvPr id="15" name="TextBox 14"/>
          <p:cNvSpPr txBox="1"/>
          <p:nvPr/>
        </p:nvSpPr>
        <p:spPr>
          <a:xfrm>
            <a:off x="5204242" y="1783080"/>
            <a:ext cx="633548" cy="274320"/>
          </a:xfrm>
          <a:prstGeom prst="rect">
            <a:avLst/>
          </a:prstGeom>
          <a:noFill/>
        </p:spPr>
        <p:txBody>
          <a:bodyPr wrap="square" lIns="0" rIns="0" tIns="0" bIns="0" anchor="t">
            <a:noAutofit/>
          </a:bodyPr>
          <a:lstStyle/>
          <a:p>
            <a:pPr algn="ctr">
              <a:lnSpc>
                <a:spcPct val="110000"/>
              </a:lnSpc>
            </a:pPr>
            <a:r>
              <a:rPr sz="1100" b="0" i="0">
                <a:solidFill>
                  <a:srgbClr val="5B6456"/>
                </a:solidFill>
                <a:latin typeface="Arial"/>
              </a:rPr>
              <a:t>5</a:t>
            </a:r>
          </a:p>
        </p:txBody>
      </p:sp>
      <p:cxnSp>
        <p:nvCxnSpPr>
          <p:cNvPr id="16" name="Connector 15"/>
          <p:cNvCxnSpPr/>
          <p:nvPr/>
        </p:nvCxnSpPr>
        <p:spPr>
          <a:xfrm>
            <a:off x="5204242" y="2093976"/>
            <a:ext cx="0" cy="2578608"/>
          </a:xfrm>
          <a:prstGeom prst="line">
            <a:avLst/>
          </a:prstGeom>
          <a:ln w="6350">
            <a:solidFill>
              <a:srgbClr val="D5DCD1"/>
            </a:solidFill>
          </a:ln>
        </p:spPr>
      </p:cxnSp>
      <p:sp>
        <p:nvSpPr>
          <p:cNvPr id="17" name="TextBox 16"/>
          <p:cNvSpPr txBox="1"/>
          <p:nvPr/>
        </p:nvSpPr>
        <p:spPr>
          <a:xfrm>
            <a:off x="5837790" y="1783080"/>
            <a:ext cx="633548" cy="274320"/>
          </a:xfrm>
          <a:prstGeom prst="rect">
            <a:avLst/>
          </a:prstGeom>
          <a:noFill/>
        </p:spPr>
        <p:txBody>
          <a:bodyPr wrap="square" lIns="0" rIns="0" tIns="0" bIns="0" anchor="t">
            <a:noAutofit/>
          </a:bodyPr>
          <a:lstStyle/>
          <a:p>
            <a:pPr algn="ctr">
              <a:lnSpc>
                <a:spcPct val="110000"/>
              </a:lnSpc>
            </a:pPr>
            <a:r>
              <a:rPr sz="1100" b="0" i="0">
                <a:solidFill>
                  <a:srgbClr val="5B6456"/>
                </a:solidFill>
                <a:latin typeface="Arial"/>
              </a:rPr>
              <a:t>6</a:t>
            </a:r>
          </a:p>
        </p:txBody>
      </p:sp>
      <p:cxnSp>
        <p:nvCxnSpPr>
          <p:cNvPr id="18" name="Connector 17"/>
          <p:cNvCxnSpPr/>
          <p:nvPr/>
        </p:nvCxnSpPr>
        <p:spPr>
          <a:xfrm>
            <a:off x="5837790" y="2093976"/>
            <a:ext cx="0" cy="2578608"/>
          </a:xfrm>
          <a:prstGeom prst="line">
            <a:avLst/>
          </a:prstGeom>
          <a:ln w="6350">
            <a:solidFill>
              <a:srgbClr val="D5DCD1"/>
            </a:solidFill>
          </a:ln>
        </p:spPr>
      </p:cxnSp>
      <p:sp>
        <p:nvSpPr>
          <p:cNvPr id="19" name="TextBox 18"/>
          <p:cNvSpPr txBox="1"/>
          <p:nvPr/>
        </p:nvSpPr>
        <p:spPr>
          <a:xfrm>
            <a:off x="6471339" y="1783080"/>
            <a:ext cx="633548" cy="274320"/>
          </a:xfrm>
          <a:prstGeom prst="rect">
            <a:avLst/>
          </a:prstGeom>
          <a:noFill/>
        </p:spPr>
        <p:txBody>
          <a:bodyPr wrap="square" lIns="0" rIns="0" tIns="0" bIns="0" anchor="t">
            <a:noAutofit/>
          </a:bodyPr>
          <a:lstStyle/>
          <a:p>
            <a:pPr algn="ctr">
              <a:lnSpc>
                <a:spcPct val="110000"/>
              </a:lnSpc>
            </a:pPr>
            <a:r>
              <a:rPr sz="1100" b="0" i="0">
                <a:solidFill>
                  <a:srgbClr val="5B6456"/>
                </a:solidFill>
                <a:latin typeface="Arial"/>
              </a:rPr>
              <a:t>7</a:t>
            </a:r>
          </a:p>
        </p:txBody>
      </p:sp>
      <p:cxnSp>
        <p:nvCxnSpPr>
          <p:cNvPr id="20" name="Connector 19"/>
          <p:cNvCxnSpPr/>
          <p:nvPr/>
        </p:nvCxnSpPr>
        <p:spPr>
          <a:xfrm>
            <a:off x="6471339" y="2093976"/>
            <a:ext cx="0" cy="2578608"/>
          </a:xfrm>
          <a:prstGeom prst="line">
            <a:avLst/>
          </a:prstGeom>
          <a:ln w="6350">
            <a:solidFill>
              <a:srgbClr val="D5DCD1"/>
            </a:solidFill>
          </a:ln>
        </p:spPr>
      </p:cxnSp>
      <p:sp>
        <p:nvSpPr>
          <p:cNvPr id="21" name="TextBox 20"/>
          <p:cNvSpPr txBox="1"/>
          <p:nvPr/>
        </p:nvSpPr>
        <p:spPr>
          <a:xfrm>
            <a:off x="7104888" y="1783080"/>
            <a:ext cx="633548" cy="274320"/>
          </a:xfrm>
          <a:prstGeom prst="rect">
            <a:avLst/>
          </a:prstGeom>
          <a:noFill/>
        </p:spPr>
        <p:txBody>
          <a:bodyPr wrap="square" lIns="0" rIns="0" tIns="0" bIns="0" anchor="t">
            <a:noAutofit/>
          </a:bodyPr>
          <a:lstStyle/>
          <a:p>
            <a:pPr algn="ctr">
              <a:lnSpc>
                <a:spcPct val="110000"/>
              </a:lnSpc>
            </a:pPr>
            <a:r>
              <a:rPr sz="1100" b="0" i="0">
                <a:solidFill>
                  <a:srgbClr val="5B6456"/>
                </a:solidFill>
                <a:latin typeface="Arial"/>
              </a:rPr>
              <a:t>8</a:t>
            </a:r>
          </a:p>
        </p:txBody>
      </p:sp>
      <p:cxnSp>
        <p:nvCxnSpPr>
          <p:cNvPr id="22" name="Connector 21"/>
          <p:cNvCxnSpPr/>
          <p:nvPr/>
        </p:nvCxnSpPr>
        <p:spPr>
          <a:xfrm>
            <a:off x="7104888" y="2093976"/>
            <a:ext cx="0" cy="2578608"/>
          </a:xfrm>
          <a:prstGeom prst="line">
            <a:avLst/>
          </a:prstGeom>
          <a:ln w="6350">
            <a:solidFill>
              <a:srgbClr val="D5DCD1"/>
            </a:solidFill>
          </a:ln>
        </p:spPr>
      </p:cxnSp>
      <p:sp>
        <p:nvSpPr>
          <p:cNvPr id="23" name="TextBox 22"/>
          <p:cNvSpPr txBox="1"/>
          <p:nvPr/>
        </p:nvSpPr>
        <p:spPr>
          <a:xfrm>
            <a:off x="7738436" y="1783080"/>
            <a:ext cx="633548" cy="274320"/>
          </a:xfrm>
          <a:prstGeom prst="rect">
            <a:avLst/>
          </a:prstGeom>
          <a:noFill/>
        </p:spPr>
        <p:txBody>
          <a:bodyPr wrap="square" lIns="0" rIns="0" tIns="0" bIns="0" anchor="t">
            <a:noAutofit/>
          </a:bodyPr>
          <a:lstStyle/>
          <a:p>
            <a:pPr algn="ctr">
              <a:lnSpc>
                <a:spcPct val="110000"/>
              </a:lnSpc>
            </a:pPr>
            <a:r>
              <a:rPr sz="1100" b="0" i="0">
                <a:solidFill>
                  <a:srgbClr val="5B6456"/>
                </a:solidFill>
                <a:latin typeface="Arial"/>
              </a:rPr>
              <a:t>9</a:t>
            </a:r>
          </a:p>
        </p:txBody>
      </p:sp>
      <p:cxnSp>
        <p:nvCxnSpPr>
          <p:cNvPr id="24" name="Connector 23"/>
          <p:cNvCxnSpPr/>
          <p:nvPr/>
        </p:nvCxnSpPr>
        <p:spPr>
          <a:xfrm>
            <a:off x="7738436" y="2093976"/>
            <a:ext cx="0" cy="2578608"/>
          </a:xfrm>
          <a:prstGeom prst="line">
            <a:avLst/>
          </a:prstGeom>
          <a:ln w="6350">
            <a:solidFill>
              <a:srgbClr val="D5DCD1"/>
            </a:solidFill>
          </a:ln>
        </p:spPr>
      </p:cxnSp>
      <p:sp>
        <p:nvSpPr>
          <p:cNvPr id="25" name="TextBox 24"/>
          <p:cNvSpPr txBox="1"/>
          <p:nvPr/>
        </p:nvSpPr>
        <p:spPr>
          <a:xfrm>
            <a:off x="8371985" y="1783080"/>
            <a:ext cx="633548" cy="274320"/>
          </a:xfrm>
          <a:prstGeom prst="rect">
            <a:avLst/>
          </a:prstGeom>
          <a:noFill/>
        </p:spPr>
        <p:txBody>
          <a:bodyPr wrap="square" lIns="0" rIns="0" tIns="0" bIns="0" anchor="t">
            <a:noAutofit/>
          </a:bodyPr>
          <a:lstStyle/>
          <a:p>
            <a:pPr algn="ctr">
              <a:lnSpc>
                <a:spcPct val="110000"/>
              </a:lnSpc>
            </a:pPr>
            <a:r>
              <a:rPr sz="1100" b="0" i="0">
                <a:solidFill>
                  <a:srgbClr val="5B6456"/>
                </a:solidFill>
                <a:latin typeface="Arial"/>
              </a:rPr>
              <a:t>10</a:t>
            </a:r>
          </a:p>
        </p:txBody>
      </p:sp>
      <p:cxnSp>
        <p:nvCxnSpPr>
          <p:cNvPr id="26" name="Connector 25"/>
          <p:cNvCxnSpPr/>
          <p:nvPr/>
        </p:nvCxnSpPr>
        <p:spPr>
          <a:xfrm>
            <a:off x="8371985" y="2093976"/>
            <a:ext cx="0" cy="2578608"/>
          </a:xfrm>
          <a:prstGeom prst="line">
            <a:avLst/>
          </a:prstGeom>
          <a:ln w="6350">
            <a:solidFill>
              <a:srgbClr val="D5DCD1"/>
            </a:solidFill>
          </a:ln>
        </p:spPr>
      </p:cxnSp>
      <p:sp>
        <p:nvSpPr>
          <p:cNvPr id="27" name="TextBox 26"/>
          <p:cNvSpPr txBox="1"/>
          <p:nvPr/>
        </p:nvSpPr>
        <p:spPr>
          <a:xfrm>
            <a:off x="9005533" y="1783080"/>
            <a:ext cx="633548" cy="274320"/>
          </a:xfrm>
          <a:prstGeom prst="rect">
            <a:avLst/>
          </a:prstGeom>
          <a:noFill/>
        </p:spPr>
        <p:txBody>
          <a:bodyPr wrap="square" lIns="0" rIns="0" tIns="0" bIns="0" anchor="t">
            <a:noAutofit/>
          </a:bodyPr>
          <a:lstStyle/>
          <a:p>
            <a:pPr algn="ctr">
              <a:lnSpc>
                <a:spcPct val="110000"/>
              </a:lnSpc>
            </a:pPr>
            <a:r>
              <a:rPr sz="1100" b="0" i="0">
                <a:solidFill>
                  <a:srgbClr val="5B6456"/>
                </a:solidFill>
                <a:latin typeface="Arial"/>
              </a:rPr>
              <a:t>11</a:t>
            </a:r>
          </a:p>
        </p:txBody>
      </p:sp>
      <p:cxnSp>
        <p:nvCxnSpPr>
          <p:cNvPr id="28" name="Connector 27"/>
          <p:cNvCxnSpPr/>
          <p:nvPr/>
        </p:nvCxnSpPr>
        <p:spPr>
          <a:xfrm>
            <a:off x="9005533" y="2093976"/>
            <a:ext cx="0" cy="2578608"/>
          </a:xfrm>
          <a:prstGeom prst="line">
            <a:avLst/>
          </a:prstGeom>
          <a:ln w="6350">
            <a:solidFill>
              <a:srgbClr val="D5DCD1"/>
            </a:solidFill>
          </a:ln>
        </p:spPr>
      </p:cxnSp>
      <p:sp>
        <p:nvSpPr>
          <p:cNvPr id="29" name="TextBox 28"/>
          <p:cNvSpPr txBox="1"/>
          <p:nvPr/>
        </p:nvSpPr>
        <p:spPr>
          <a:xfrm>
            <a:off x="9639082" y="1783080"/>
            <a:ext cx="633548" cy="274320"/>
          </a:xfrm>
          <a:prstGeom prst="rect">
            <a:avLst/>
          </a:prstGeom>
          <a:noFill/>
        </p:spPr>
        <p:txBody>
          <a:bodyPr wrap="square" lIns="0" rIns="0" tIns="0" bIns="0" anchor="t">
            <a:noAutofit/>
          </a:bodyPr>
          <a:lstStyle/>
          <a:p>
            <a:pPr algn="ctr">
              <a:lnSpc>
                <a:spcPct val="110000"/>
              </a:lnSpc>
            </a:pPr>
            <a:r>
              <a:rPr sz="1100" b="0" i="0">
                <a:solidFill>
                  <a:srgbClr val="5B6456"/>
                </a:solidFill>
                <a:latin typeface="Arial"/>
              </a:rPr>
              <a:t>12</a:t>
            </a:r>
          </a:p>
        </p:txBody>
      </p:sp>
      <p:cxnSp>
        <p:nvCxnSpPr>
          <p:cNvPr id="30" name="Connector 29"/>
          <p:cNvCxnSpPr/>
          <p:nvPr/>
        </p:nvCxnSpPr>
        <p:spPr>
          <a:xfrm>
            <a:off x="9639082" y="2093976"/>
            <a:ext cx="0" cy="2578608"/>
          </a:xfrm>
          <a:prstGeom prst="line">
            <a:avLst/>
          </a:prstGeom>
          <a:ln w="6350">
            <a:solidFill>
              <a:srgbClr val="D5DCD1"/>
            </a:solidFill>
          </a:ln>
        </p:spPr>
      </p:cxnSp>
      <p:sp>
        <p:nvSpPr>
          <p:cNvPr id="31" name="TextBox 30"/>
          <p:cNvSpPr txBox="1"/>
          <p:nvPr/>
        </p:nvSpPr>
        <p:spPr>
          <a:xfrm>
            <a:off x="10272630" y="1783080"/>
            <a:ext cx="633548" cy="274320"/>
          </a:xfrm>
          <a:prstGeom prst="rect">
            <a:avLst/>
          </a:prstGeom>
          <a:noFill/>
        </p:spPr>
        <p:txBody>
          <a:bodyPr wrap="square" lIns="0" rIns="0" tIns="0" bIns="0" anchor="t">
            <a:noAutofit/>
          </a:bodyPr>
          <a:lstStyle/>
          <a:p>
            <a:pPr algn="ctr">
              <a:lnSpc>
                <a:spcPct val="110000"/>
              </a:lnSpc>
            </a:pPr>
            <a:r>
              <a:rPr sz="1100" b="0" i="0">
                <a:solidFill>
                  <a:srgbClr val="5B6456"/>
                </a:solidFill>
                <a:latin typeface="Arial"/>
              </a:rPr>
              <a:t>13</a:t>
            </a:r>
          </a:p>
        </p:txBody>
      </p:sp>
      <p:cxnSp>
        <p:nvCxnSpPr>
          <p:cNvPr id="32" name="Connector 31"/>
          <p:cNvCxnSpPr/>
          <p:nvPr/>
        </p:nvCxnSpPr>
        <p:spPr>
          <a:xfrm>
            <a:off x="10272630" y="2093976"/>
            <a:ext cx="0" cy="2578608"/>
          </a:xfrm>
          <a:prstGeom prst="line">
            <a:avLst/>
          </a:prstGeom>
          <a:ln w="6350">
            <a:solidFill>
              <a:srgbClr val="D5DCD1"/>
            </a:solidFill>
          </a:ln>
        </p:spPr>
      </p:cxnSp>
      <p:sp>
        <p:nvSpPr>
          <p:cNvPr id="33" name="TextBox 32"/>
          <p:cNvSpPr txBox="1"/>
          <p:nvPr/>
        </p:nvSpPr>
        <p:spPr>
          <a:xfrm>
            <a:off x="10906179" y="1783080"/>
            <a:ext cx="633548" cy="274320"/>
          </a:xfrm>
          <a:prstGeom prst="rect">
            <a:avLst/>
          </a:prstGeom>
          <a:noFill/>
        </p:spPr>
        <p:txBody>
          <a:bodyPr wrap="square" lIns="0" rIns="0" tIns="0" bIns="0" anchor="t">
            <a:noAutofit/>
          </a:bodyPr>
          <a:lstStyle/>
          <a:p>
            <a:pPr algn="ctr">
              <a:lnSpc>
                <a:spcPct val="110000"/>
              </a:lnSpc>
            </a:pPr>
            <a:r>
              <a:rPr sz="1100" b="0" i="0">
                <a:solidFill>
                  <a:srgbClr val="5B6456"/>
                </a:solidFill>
                <a:latin typeface="Arial"/>
              </a:rPr>
              <a:t>14</a:t>
            </a:r>
          </a:p>
        </p:txBody>
      </p:sp>
      <p:cxnSp>
        <p:nvCxnSpPr>
          <p:cNvPr id="34" name="Connector 33"/>
          <p:cNvCxnSpPr/>
          <p:nvPr/>
        </p:nvCxnSpPr>
        <p:spPr>
          <a:xfrm>
            <a:off x="10906179" y="2093976"/>
            <a:ext cx="0" cy="2578608"/>
          </a:xfrm>
          <a:prstGeom prst="line">
            <a:avLst/>
          </a:prstGeom>
          <a:ln w="6350">
            <a:solidFill>
              <a:srgbClr val="D5DCD1"/>
            </a:solidFill>
          </a:ln>
        </p:spPr>
      </p:cxnSp>
      <p:cxnSp>
        <p:nvCxnSpPr>
          <p:cNvPr id="35" name="Connector 34"/>
          <p:cNvCxnSpPr/>
          <p:nvPr/>
        </p:nvCxnSpPr>
        <p:spPr>
          <a:xfrm>
            <a:off x="11539728" y="2093976"/>
            <a:ext cx="0" cy="2578608"/>
          </a:xfrm>
          <a:prstGeom prst="line">
            <a:avLst/>
          </a:prstGeom>
          <a:ln w="6350">
            <a:solidFill>
              <a:srgbClr val="D5DCD1"/>
            </a:solidFill>
          </a:ln>
        </p:spPr>
      </p:cxnSp>
      <p:sp>
        <p:nvSpPr>
          <p:cNvPr id="36" name="TextBox 35"/>
          <p:cNvSpPr txBox="1"/>
          <p:nvPr/>
        </p:nvSpPr>
        <p:spPr>
          <a:xfrm>
            <a:off x="566928" y="2167128"/>
            <a:ext cx="1920239" cy="420624"/>
          </a:xfrm>
          <a:prstGeom prst="rect">
            <a:avLst/>
          </a:prstGeom>
          <a:noFill/>
        </p:spPr>
        <p:txBody>
          <a:bodyPr wrap="square" lIns="0" rIns="0" tIns="0" bIns="0" anchor="ctr">
            <a:noAutofit/>
          </a:bodyPr>
          <a:lstStyle/>
          <a:p>
            <a:pPr algn="r">
              <a:lnSpc>
                <a:spcPct val="110000"/>
              </a:lnSpc>
            </a:pPr>
            <a:r>
              <a:rPr sz="1300" b="0" i="0">
                <a:solidFill>
                  <a:srgbClr val="0C1408"/>
                </a:solidFill>
                <a:latin typeface="Arial"/>
              </a:rPr>
              <a:t>Agreement</a:t>
            </a:r>
          </a:p>
        </p:txBody>
      </p:sp>
      <p:sp>
        <p:nvSpPr>
          <p:cNvPr id="37" name="Rectangle 36"/>
          <p:cNvSpPr/>
          <p:nvPr/>
        </p:nvSpPr>
        <p:spPr>
          <a:xfrm>
            <a:off x="2697479" y="2258568"/>
            <a:ext cx="2479330" cy="237744"/>
          </a:xfrm>
          <a:prstGeom prst="rect">
            <a:avLst/>
          </a:prstGeom>
          <a:solidFill>
            <a:srgbClr val="41801A"/>
          </a:solidFill>
          <a:ln>
            <a:noFill/>
          </a:ln>
        </p:spPr>
        <p:txBody>
          <a:bodyPr rtlCol="0" anchor="ctr" lIns="0" rIns="0"/>
          <a:lstStyle/>
          <a:p>
            <a:pPr algn="ctr"/>
          </a:p>
        </p:txBody>
      </p:sp>
      <p:sp>
        <p:nvSpPr>
          <p:cNvPr id="38" name="TextBox 37"/>
          <p:cNvSpPr txBox="1"/>
          <p:nvPr/>
        </p:nvSpPr>
        <p:spPr>
          <a:xfrm>
            <a:off x="566928" y="2587752"/>
            <a:ext cx="1920239" cy="420624"/>
          </a:xfrm>
          <a:prstGeom prst="rect">
            <a:avLst/>
          </a:prstGeom>
          <a:noFill/>
        </p:spPr>
        <p:txBody>
          <a:bodyPr wrap="square" lIns="0" rIns="0" tIns="0" bIns="0" anchor="ctr">
            <a:noAutofit/>
          </a:bodyPr>
          <a:lstStyle/>
          <a:p>
            <a:pPr algn="r">
              <a:lnSpc>
                <a:spcPct val="110000"/>
              </a:lnSpc>
            </a:pPr>
            <a:r>
              <a:rPr sz="1300" b="0" i="0">
                <a:solidFill>
                  <a:srgbClr val="0C1408"/>
                </a:solidFill>
                <a:latin typeface="Arial"/>
              </a:rPr>
              <a:t>Approvals</a:t>
            </a:r>
          </a:p>
        </p:txBody>
      </p:sp>
      <p:sp>
        <p:nvSpPr>
          <p:cNvPr id="39" name="Rectangle 38"/>
          <p:cNvSpPr/>
          <p:nvPr/>
        </p:nvSpPr>
        <p:spPr>
          <a:xfrm>
            <a:off x="2697479" y="2679192"/>
            <a:ext cx="5013524" cy="237744"/>
          </a:xfrm>
          <a:prstGeom prst="rect">
            <a:avLst/>
          </a:prstGeom>
          <a:solidFill>
            <a:srgbClr val="41801A"/>
          </a:solidFill>
          <a:ln>
            <a:noFill/>
          </a:ln>
        </p:spPr>
        <p:txBody>
          <a:bodyPr rtlCol="0" anchor="ctr" lIns="0" rIns="0"/>
          <a:lstStyle/>
          <a:p>
            <a:pPr algn="ctr"/>
          </a:p>
        </p:txBody>
      </p:sp>
      <p:sp>
        <p:nvSpPr>
          <p:cNvPr id="40" name="TextBox 39"/>
          <p:cNvSpPr txBox="1"/>
          <p:nvPr/>
        </p:nvSpPr>
        <p:spPr>
          <a:xfrm>
            <a:off x="566928" y="3008376"/>
            <a:ext cx="1920239" cy="420624"/>
          </a:xfrm>
          <a:prstGeom prst="rect">
            <a:avLst/>
          </a:prstGeom>
          <a:noFill/>
        </p:spPr>
        <p:txBody>
          <a:bodyPr wrap="square" lIns="0" rIns="0" tIns="0" bIns="0" anchor="ctr">
            <a:noAutofit/>
          </a:bodyPr>
          <a:lstStyle/>
          <a:p>
            <a:pPr algn="r">
              <a:lnSpc>
                <a:spcPct val="110000"/>
              </a:lnSpc>
            </a:pPr>
            <a:r>
              <a:rPr sz="1300" b="0" i="0">
                <a:solidFill>
                  <a:srgbClr val="0C1408"/>
                </a:solidFill>
                <a:latin typeface="Arial"/>
              </a:rPr>
              <a:t>Connection and tests</a:t>
            </a:r>
          </a:p>
        </p:txBody>
      </p:sp>
      <p:sp>
        <p:nvSpPr>
          <p:cNvPr id="41" name="Rectangle 40"/>
          <p:cNvSpPr/>
          <p:nvPr/>
        </p:nvSpPr>
        <p:spPr>
          <a:xfrm>
            <a:off x="5231674" y="3099816"/>
            <a:ext cx="2479330" cy="237744"/>
          </a:xfrm>
          <a:prstGeom prst="rect">
            <a:avLst/>
          </a:prstGeom>
          <a:solidFill>
            <a:srgbClr val="6DC72A"/>
          </a:solidFill>
          <a:ln>
            <a:noFill/>
          </a:ln>
        </p:spPr>
        <p:txBody>
          <a:bodyPr rtlCol="0" anchor="ctr" lIns="0" rIns="0"/>
          <a:lstStyle/>
          <a:p>
            <a:pPr algn="ctr"/>
          </a:p>
        </p:txBody>
      </p:sp>
      <p:sp>
        <p:nvSpPr>
          <p:cNvPr id="42" name="TextBox 41"/>
          <p:cNvSpPr txBox="1"/>
          <p:nvPr/>
        </p:nvSpPr>
        <p:spPr>
          <a:xfrm>
            <a:off x="566928" y="3429000"/>
            <a:ext cx="1920239" cy="420624"/>
          </a:xfrm>
          <a:prstGeom prst="rect">
            <a:avLst/>
          </a:prstGeom>
          <a:noFill/>
        </p:spPr>
        <p:txBody>
          <a:bodyPr wrap="square" lIns="0" rIns="0" tIns="0" bIns="0" anchor="ctr">
            <a:noAutofit/>
          </a:bodyPr>
          <a:lstStyle/>
          <a:p>
            <a:pPr algn="r">
              <a:lnSpc>
                <a:spcPct val="110000"/>
              </a:lnSpc>
            </a:pPr>
            <a:r>
              <a:rPr sz="1300" b="0" i="0">
                <a:solidFill>
                  <a:srgbClr val="0C1408"/>
                </a:solidFill>
                <a:latin typeface="Arial"/>
              </a:rPr>
              <a:t>Live month</a:t>
            </a:r>
          </a:p>
        </p:txBody>
      </p:sp>
      <p:sp>
        <p:nvSpPr>
          <p:cNvPr id="43" name="Rectangle 42"/>
          <p:cNvSpPr/>
          <p:nvPr/>
        </p:nvSpPr>
        <p:spPr>
          <a:xfrm>
            <a:off x="7765868" y="3520440"/>
            <a:ext cx="2479330" cy="237744"/>
          </a:xfrm>
          <a:prstGeom prst="rect">
            <a:avLst/>
          </a:prstGeom>
          <a:solidFill>
            <a:srgbClr val="6DC72A"/>
          </a:solidFill>
          <a:ln>
            <a:noFill/>
          </a:ln>
        </p:spPr>
        <p:txBody>
          <a:bodyPr rtlCol="0" anchor="ctr" lIns="0" rIns="0"/>
          <a:lstStyle/>
          <a:p>
            <a:pPr algn="ctr"/>
          </a:p>
        </p:txBody>
      </p:sp>
      <p:sp>
        <p:nvSpPr>
          <p:cNvPr id="44" name="TextBox 43"/>
          <p:cNvSpPr txBox="1"/>
          <p:nvPr/>
        </p:nvSpPr>
        <p:spPr>
          <a:xfrm>
            <a:off x="566928" y="3849624"/>
            <a:ext cx="1920239" cy="420624"/>
          </a:xfrm>
          <a:prstGeom prst="rect">
            <a:avLst/>
          </a:prstGeom>
          <a:noFill/>
        </p:spPr>
        <p:txBody>
          <a:bodyPr wrap="square" lIns="0" rIns="0" tIns="0" bIns="0" anchor="ctr">
            <a:noAutofit/>
          </a:bodyPr>
          <a:lstStyle/>
          <a:p>
            <a:pPr algn="r">
              <a:lnSpc>
                <a:spcPct val="110000"/>
              </a:lnSpc>
            </a:pPr>
            <a:r>
              <a:rPr sz="1300" b="0" i="0">
                <a:solidFill>
                  <a:srgbClr val="0C1408"/>
                </a:solidFill>
                <a:latin typeface="Arial"/>
              </a:rPr>
              <a:t>Review</a:t>
            </a:r>
          </a:p>
        </p:txBody>
      </p:sp>
      <p:sp>
        <p:nvSpPr>
          <p:cNvPr id="45" name="Rectangle 44"/>
          <p:cNvSpPr/>
          <p:nvPr/>
        </p:nvSpPr>
        <p:spPr>
          <a:xfrm>
            <a:off x="10300062" y="3941063"/>
            <a:ext cx="578684" cy="237744"/>
          </a:xfrm>
          <a:prstGeom prst="rect">
            <a:avLst/>
          </a:prstGeom>
          <a:solidFill>
            <a:srgbClr val="A9DE7F"/>
          </a:solidFill>
          <a:ln>
            <a:noFill/>
          </a:ln>
        </p:spPr>
        <p:txBody>
          <a:bodyPr rtlCol="0" anchor="ctr" lIns="0" rIns="0"/>
          <a:lstStyle/>
          <a:p>
            <a:pPr algn="ctr"/>
          </a:p>
        </p:txBody>
      </p:sp>
      <p:sp>
        <p:nvSpPr>
          <p:cNvPr id="46" name="TextBox 45"/>
          <p:cNvSpPr txBox="1"/>
          <p:nvPr/>
        </p:nvSpPr>
        <p:spPr>
          <a:xfrm>
            <a:off x="566928" y="4270248"/>
            <a:ext cx="1920239" cy="420624"/>
          </a:xfrm>
          <a:prstGeom prst="rect">
            <a:avLst/>
          </a:prstGeom>
          <a:noFill/>
        </p:spPr>
        <p:txBody>
          <a:bodyPr wrap="square" lIns="0" rIns="0" tIns="0" bIns="0" anchor="ctr">
            <a:noAutofit/>
          </a:bodyPr>
          <a:lstStyle/>
          <a:p>
            <a:pPr algn="r">
              <a:lnSpc>
                <a:spcPct val="110000"/>
              </a:lnSpc>
            </a:pPr>
            <a:r>
              <a:rPr sz="1300" b="0" i="0">
                <a:solidFill>
                  <a:srgbClr val="0C1408"/>
                </a:solidFill>
                <a:latin typeface="Arial"/>
              </a:rPr>
              <a:t>Scale decision</a:t>
            </a:r>
          </a:p>
        </p:txBody>
      </p:sp>
      <p:sp>
        <p:nvSpPr>
          <p:cNvPr id="47" name="Rectangle 46"/>
          <p:cNvSpPr/>
          <p:nvPr/>
        </p:nvSpPr>
        <p:spPr>
          <a:xfrm>
            <a:off x="10933611" y="4361688"/>
            <a:ext cx="578684" cy="237744"/>
          </a:xfrm>
          <a:prstGeom prst="rect">
            <a:avLst/>
          </a:prstGeom>
          <a:solidFill>
            <a:srgbClr val="41801A"/>
          </a:solidFill>
          <a:ln>
            <a:noFill/>
          </a:ln>
        </p:spPr>
        <p:txBody>
          <a:bodyPr rtlCol="0" anchor="ctr" lIns="0" rIns="0"/>
          <a:lstStyle/>
          <a:p>
            <a:pPr algn="ctr"/>
          </a:p>
        </p:txBody>
      </p:sp>
      <p:cxnSp>
        <p:nvCxnSpPr>
          <p:cNvPr id="48" name="Connector 47"/>
          <p:cNvCxnSpPr/>
          <p:nvPr/>
        </p:nvCxnSpPr>
        <p:spPr>
          <a:xfrm>
            <a:off x="566928" y="4754880"/>
            <a:ext cx="11057839" cy="0"/>
          </a:xfrm>
          <a:prstGeom prst="line">
            <a:avLst/>
          </a:prstGeom>
          <a:ln w="9525">
            <a:solidFill>
              <a:srgbClr val="D5DCD1"/>
            </a:solidFill>
          </a:ln>
        </p:spPr>
      </p:cxnSp>
      <p:sp>
        <p:nvSpPr>
          <p:cNvPr id="49" name="TextBox 48"/>
          <p:cNvSpPr txBox="1"/>
          <p:nvPr/>
        </p:nvSpPr>
        <p:spPr>
          <a:xfrm>
            <a:off x="566928" y="4864608"/>
            <a:ext cx="3411626" cy="274320"/>
          </a:xfrm>
          <a:prstGeom prst="rect">
            <a:avLst/>
          </a:prstGeom>
          <a:noFill/>
        </p:spPr>
        <p:txBody>
          <a:bodyPr wrap="square" lIns="0" rIns="0" tIns="0" bIns="0" anchor="t">
            <a:noAutofit/>
          </a:bodyPr>
          <a:lstStyle/>
          <a:p>
            <a:pPr algn="l">
              <a:lnSpc>
                <a:spcPct val="110000"/>
              </a:lnSpc>
            </a:pPr>
            <a:r>
              <a:rPr sz="1400" b="1" i="0">
                <a:solidFill>
                  <a:srgbClr val="41801A"/>
                </a:solidFill>
                <a:latin typeface="Arial"/>
              </a:rPr>
              <a:t>Scope</a:t>
            </a:r>
          </a:p>
        </p:txBody>
      </p:sp>
      <p:sp>
        <p:nvSpPr>
          <p:cNvPr id="50" name="TextBox 49"/>
          <p:cNvSpPr txBox="1"/>
          <p:nvPr/>
        </p:nvSpPr>
        <p:spPr>
          <a:xfrm>
            <a:off x="566928" y="5166360"/>
            <a:ext cx="3411626" cy="1005840"/>
          </a:xfrm>
          <a:prstGeom prst="rect">
            <a:avLst/>
          </a:prstGeom>
          <a:noFill/>
        </p:spPr>
        <p:txBody>
          <a:bodyPr wrap="square" lIns="0" rIns="0" tIns="0" bIns="0" anchor="t">
            <a:noAutofit/>
          </a:bodyPr>
          <a:lstStyle/>
          <a:p>
            <a:pPr algn="l">
              <a:lnSpc>
                <a:spcPct val="105000"/>
              </a:lnSpc>
            </a:pPr>
            <a:r>
              <a:rPr sz="1200" b="0" i="0">
                <a:solidFill>
                  <a:srgbClr val="0C1408"/>
                </a:solidFill>
                <a:latin typeface="Arial"/>
              </a:rPr>
              <a:t>Up to 100 known circles, about 1,000 members, all with Mashreq accounts, on the Islamic window.</a:t>
            </a:r>
          </a:p>
        </p:txBody>
      </p:sp>
      <p:sp>
        <p:nvSpPr>
          <p:cNvPr id="51" name="TextBox 50"/>
          <p:cNvSpPr txBox="1"/>
          <p:nvPr/>
        </p:nvSpPr>
        <p:spPr>
          <a:xfrm>
            <a:off x="4252874" y="4864608"/>
            <a:ext cx="3411626" cy="274320"/>
          </a:xfrm>
          <a:prstGeom prst="rect">
            <a:avLst/>
          </a:prstGeom>
          <a:noFill/>
        </p:spPr>
        <p:txBody>
          <a:bodyPr wrap="square" lIns="0" rIns="0" tIns="0" bIns="0" anchor="t">
            <a:noAutofit/>
          </a:bodyPr>
          <a:lstStyle/>
          <a:p>
            <a:pPr algn="l">
              <a:lnSpc>
                <a:spcPct val="110000"/>
              </a:lnSpc>
            </a:pPr>
            <a:r>
              <a:rPr sz="1400" b="1" i="0">
                <a:solidFill>
                  <a:srgbClr val="41801A"/>
                </a:solidFill>
                <a:latin typeface="Arial"/>
              </a:rPr>
              <a:t>Measured</a:t>
            </a:r>
          </a:p>
        </p:txBody>
      </p:sp>
      <p:sp>
        <p:nvSpPr>
          <p:cNvPr id="52" name="TextBox 51"/>
          <p:cNvSpPr txBox="1"/>
          <p:nvPr/>
        </p:nvSpPr>
        <p:spPr>
          <a:xfrm>
            <a:off x="4252874" y="5166360"/>
            <a:ext cx="3411626" cy="1005840"/>
          </a:xfrm>
          <a:prstGeom prst="rect">
            <a:avLst/>
          </a:prstGeom>
          <a:noFill/>
        </p:spPr>
        <p:txBody>
          <a:bodyPr wrap="square" lIns="0" rIns="0" tIns="0" bIns="0" anchor="t">
            <a:noAutofit/>
          </a:bodyPr>
          <a:lstStyle/>
          <a:p>
            <a:pPr algn="l">
              <a:lnSpc>
                <a:spcPct val="105000"/>
              </a:lnSpc>
            </a:pPr>
            <a:r>
              <a:rPr sz="1200" b="0" i="0">
                <a:solidFill>
                  <a:srgbClr val="0C1408"/>
                </a:solidFill>
                <a:latin typeface="Arial"/>
              </a:rPr>
              <a:t>Accounts, balances, on time debits, same day payouts, circles per host, complaints, cost per member.</a:t>
            </a:r>
          </a:p>
        </p:txBody>
      </p:sp>
      <p:sp>
        <p:nvSpPr>
          <p:cNvPr id="53" name="TextBox 52"/>
          <p:cNvSpPr txBox="1"/>
          <p:nvPr/>
        </p:nvSpPr>
        <p:spPr>
          <a:xfrm>
            <a:off x="7938820" y="4864608"/>
            <a:ext cx="3411626" cy="274320"/>
          </a:xfrm>
          <a:prstGeom prst="rect">
            <a:avLst/>
          </a:prstGeom>
          <a:noFill/>
        </p:spPr>
        <p:txBody>
          <a:bodyPr wrap="square" lIns="0" rIns="0" tIns="0" bIns="0" anchor="t">
            <a:noAutofit/>
          </a:bodyPr>
          <a:lstStyle/>
          <a:p>
            <a:pPr algn="l">
              <a:lnSpc>
                <a:spcPct val="110000"/>
              </a:lnSpc>
            </a:pPr>
            <a:r>
              <a:rPr sz="1400" b="1" i="0">
                <a:solidFill>
                  <a:srgbClr val="41801A"/>
                </a:solidFill>
                <a:latin typeface="Arial"/>
              </a:rPr>
              <a:t>Then</a:t>
            </a:r>
          </a:p>
        </p:txBody>
      </p:sp>
      <p:sp>
        <p:nvSpPr>
          <p:cNvPr id="54" name="TextBox 53"/>
          <p:cNvSpPr txBox="1"/>
          <p:nvPr/>
        </p:nvSpPr>
        <p:spPr>
          <a:xfrm>
            <a:off x="7938820" y="5166360"/>
            <a:ext cx="3411626" cy="1005840"/>
          </a:xfrm>
          <a:prstGeom prst="rect">
            <a:avLst/>
          </a:prstGeom>
          <a:noFill/>
        </p:spPr>
        <p:txBody>
          <a:bodyPr wrap="square" lIns="0" rIns="0" tIns="0" bIns="0" anchor="t">
            <a:noAutofit/>
          </a:bodyPr>
          <a:lstStyle/>
          <a:p>
            <a:pPr algn="l">
              <a:lnSpc>
                <a:spcPct val="105000"/>
              </a:lnSpc>
            </a:pPr>
            <a:r>
              <a:rPr sz="1200" b="0" i="0">
                <a:solidFill>
                  <a:srgbClr val="0C1408"/>
                </a:solidFill>
                <a:latin typeface="Arial"/>
              </a:rPr>
              <a:t>Circles of strangers, asset circles, UAE families, then Hyper.</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9509760" cy="566928"/>
          </a:xfrm>
          <a:prstGeom prst="rect">
            <a:avLst/>
          </a:prstGeom>
          <a:noFill/>
        </p:spPr>
        <p:txBody>
          <a:bodyPr wrap="square" lIns="0" rIns="0" tIns="0" bIns="0" anchor="t">
            <a:noAutofit/>
          </a:bodyPr>
          <a:lstStyle/>
          <a:p>
            <a:pPr algn="l">
              <a:lnSpc>
                <a:spcPct val="110000"/>
              </a:lnSpc>
            </a:pPr>
            <a:r>
              <a:rPr sz="2800" b="0" i="0">
                <a:solidFill>
                  <a:srgbClr val="41801A"/>
                </a:solidFill>
                <a:latin typeface="Georgia"/>
              </a:rPr>
              <a:t>Requests</a:t>
            </a:r>
          </a:p>
        </p:txBody>
      </p:sp>
      <p:sp>
        <p:nvSpPr>
          <p:cNvPr id="3" name="TextBox 2"/>
          <p:cNvSpPr txBox="1"/>
          <p:nvPr/>
        </p:nvSpPr>
        <p:spPr>
          <a:xfrm>
            <a:off x="566928" y="987552"/>
            <a:ext cx="11057839" cy="411480"/>
          </a:xfrm>
          <a:prstGeom prst="rect">
            <a:avLst/>
          </a:prstGeom>
          <a:noFill/>
        </p:spPr>
        <p:txBody>
          <a:bodyPr wrap="square" lIns="0" rIns="0" tIns="0" bIns="0" anchor="t">
            <a:noAutofit/>
          </a:bodyPr>
          <a:lstStyle/>
          <a:p>
            <a:pPr algn="l">
              <a:lnSpc>
                <a:spcPct val="110000"/>
              </a:lnSpc>
            </a:pPr>
            <a:r>
              <a:rPr sz="1800" b="0" i="0">
                <a:solidFill>
                  <a:srgbClr val="0C1408"/>
                </a:solidFill>
                <a:latin typeface="Arial"/>
              </a:rPr>
              <a:t>Seven decisions to start.</a:t>
            </a:r>
          </a:p>
        </p:txBody>
      </p:sp>
      <p:pic>
        <p:nvPicPr>
          <p:cNvPr id="4" name="Picture 3" descr="halqa_logo.png"/>
          <p:cNvPicPr>
            <a:picLocks noChangeAspect="1"/>
          </p:cNvPicPr>
          <p:nvPr/>
        </p:nvPicPr>
        <p:blipFill>
          <a:blip r:embed="rId3"/>
          <a:stretch>
            <a:fillRect/>
          </a:stretch>
        </p:blipFill>
        <p:spPr>
          <a:xfrm>
            <a:off x="10600639" y="457200"/>
            <a:ext cx="1023202" cy="310896"/>
          </a:xfrm>
          <a:prstGeom prst="rect">
            <a:avLst/>
          </a:prstGeom>
        </p:spPr>
      </p:pic>
      <p:sp>
        <p:nvSpPr>
          <p:cNvPr id="5" name="TextBox 4"/>
          <p:cNvSpPr txBox="1"/>
          <p:nvPr/>
        </p:nvSpPr>
        <p:spPr>
          <a:xfrm>
            <a:off x="11076127" y="6355080"/>
            <a:ext cx="548640" cy="228600"/>
          </a:xfrm>
          <a:prstGeom prst="rect">
            <a:avLst/>
          </a:prstGeom>
          <a:noFill/>
        </p:spPr>
        <p:txBody>
          <a:bodyPr wrap="square" lIns="0" rIns="0" tIns="0" bIns="0" anchor="t">
            <a:noAutofit/>
          </a:bodyPr>
          <a:lstStyle/>
          <a:p>
            <a:pPr algn="r">
              <a:lnSpc>
                <a:spcPct val="110000"/>
              </a:lnSpc>
            </a:pPr>
            <a:r>
              <a:rPr sz="1000" b="0" i="0">
                <a:solidFill>
                  <a:srgbClr val="5B6456"/>
                </a:solidFill>
                <a:latin typeface="Arial"/>
              </a:rPr>
              <a:t>21</a:t>
            </a:r>
          </a:p>
        </p:txBody>
      </p:sp>
      <p:cxnSp>
        <p:nvCxnSpPr>
          <p:cNvPr id="6" name="Connector 5"/>
          <p:cNvCxnSpPr/>
          <p:nvPr/>
        </p:nvCxnSpPr>
        <p:spPr>
          <a:xfrm>
            <a:off x="566928" y="1828800"/>
            <a:ext cx="5254599" cy="0"/>
          </a:xfrm>
          <a:prstGeom prst="line">
            <a:avLst/>
          </a:prstGeom>
          <a:ln w="9525">
            <a:solidFill>
              <a:srgbClr val="D5DCD1"/>
            </a:solidFill>
          </a:ln>
        </p:spPr>
      </p:cxnSp>
      <p:sp>
        <p:nvSpPr>
          <p:cNvPr id="7" name="TextBox 6"/>
          <p:cNvSpPr txBox="1"/>
          <p:nvPr/>
        </p:nvSpPr>
        <p:spPr>
          <a:xfrm>
            <a:off x="566928" y="1956816"/>
            <a:ext cx="502920" cy="548640"/>
          </a:xfrm>
          <a:prstGeom prst="rect">
            <a:avLst/>
          </a:prstGeom>
          <a:noFill/>
        </p:spPr>
        <p:txBody>
          <a:bodyPr wrap="square" lIns="0" rIns="0" tIns="0" bIns="0" anchor="t">
            <a:noAutofit/>
          </a:bodyPr>
          <a:lstStyle/>
          <a:p>
            <a:pPr algn="l">
              <a:lnSpc>
                <a:spcPct val="110000"/>
              </a:lnSpc>
            </a:pPr>
            <a:r>
              <a:rPr sz="2800" b="0" i="0">
                <a:solidFill>
                  <a:srgbClr val="41801A"/>
                </a:solidFill>
                <a:latin typeface="Georgia"/>
              </a:rPr>
              <a:t>1</a:t>
            </a:r>
          </a:p>
        </p:txBody>
      </p:sp>
      <p:sp>
        <p:nvSpPr>
          <p:cNvPr id="8" name="TextBox 7"/>
          <p:cNvSpPr txBox="1"/>
          <p:nvPr/>
        </p:nvSpPr>
        <p:spPr>
          <a:xfrm>
            <a:off x="1161288" y="1993392"/>
            <a:ext cx="4568799" cy="777240"/>
          </a:xfrm>
          <a:prstGeom prst="rect">
            <a:avLst/>
          </a:prstGeom>
          <a:noFill/>
        </p:spPr>
        <p:txBody>
          <a:bodyPr wrap="square" lIns="0" rIns="0" tIns="0" bIns="0" anchor="t">
            <a:noAutofit/>
          </a:bodyPr>
          <a:lstStyle/>
          <a:p>
            <a:pPr algn="l">
              <a:lnSpc>
                <a:spcPct val="105000"/>
              </a:lnSpc>
            </a:pPr>
            <a:r>
              <a:rPr sz="1500" b="0" i="0">
                <a:solidFill>
                  <a:srgbClr val="0C1408"/>
                </a:solidFill>
                <a:latin typeface="Arial"/>
              </a:rPr>
              <a:t>Approve the partnership, with Halqa as service provider under the outsourcing framework.</a:t>
            </a:r>
          </a:p>
        </p:txBody>
      </p:sp>
      <p:cxnSp>
        <p:nvCxnSpPr>
          <p:cNvPr id="9" name="Connector 8"/>
          <p:cNvCxnSpPr/>
          <p:nvPr/>
        </p:nvCxnSpPr>
        <p:spPr>
          <a:xfrm>
            <a:off x="566928" y="2816352"/>
            <a:ext cx="5254599" cy="0"/>
          </a:xfrm>
          <a:prstGeom prst="line">
            <a:avLst/>
          </a:prstGeom>
          <a:ln w="9525">
            <a:solidFill>
              <a:srgbClr val="D5DCD1"/>
            </a:solidFill>
          </a:ln>
        </p:spPr>
      </p:cxnSp>
      <p:sp>
        <p:nvSpPr>
          <p:cNvPr id="10" name="TextBox 9"/>
          <p:cNvSpPr txBox="1"/>
          <p:nvPr/>
        </p:nvSpPr>
        <p:spPr>
          <a:xfrm>
            <a:off x="566928" y="2944368"/>
            <a:ext cx="502920" cy="548640"/>
          </a:xfrm>
          <a:prstGeom prst="rect">
            <a:avLst/>
          </a:prstGeom>
          <a:noFill/>
        </p:spPr>
        <p:txBody>
          <a:bodyPr wrap="square" lIns="0" rIns="0" tIns="0" bIns="0" anchor="t">
            <a:noAutofit/>
          </a:bodyPr>
          <a:lstStyle/>
          <a:p>
            <a:pPr algn="l">
              <a:lnSpc>
                <a:spcPct val="110000"/>
              </a:lnSpc>
            </a:pPr>
            <a:r>
              <a:rPr sz="2800" b="0" i="0">
                <a:solidFill>
                  <a:srgbClr val="41801A"/>
                </a:solidFill>
                <a:latin typeface="Georgia"/>
              </a:rPr>
              <a:t>2</a:t>
            </a:r>
          </a:p>
        </p:txBody>
      </p:sp>
      <p:sp>
        <p:nvSpPr>
          <p:cNvPr id="11" name="TextBox 10"/>
          <p:cNvSpPr txBox="1"/>
          <p:nvPr/>
        </p:nvSpPr>
        <p:spPr>
          <a:xfrm>
            <a:off x="1161288" y="2980944"/>
            <a:ext cx="4568799" cy="777240"/>
          </a:xfrm>
          <a:prstGeom prst="rect">
            <a:avLst/>
          </a:prstGeom>
          <a:noFill/>
        </p:spPr>
        <p:txBody>
          <a:bodyPr wrap="square" lIns="0" rIns="0" tIns="0" bIns="0" anchor="t">
            <a:noAutofit/>
          </a:bodyPr>
          <a:lstStyle/>
          <a:p>
            <a:pPr algn="l">
              <a:lnSpc>
                <a:spcPct val="105000"/>
              </a:lnSpc>
            </a:pPr>
            <a:r>
              <a:rPr sz="1500" b="0" i="0">
                <a:solidFill>
                  <a:srgbClr val="0C1408"/>
                </a:solidFill>
                <a:latin typeface="Arial"/>
              </a:rPr>
              <a:t>Take the product to the State Bank for approval or notice.</a:t>
            </a:r>
          </a:p>
        </p:txBody>
      </p:sp>
      <p:cxnSp>
        <p:nvCxnSpPr>
          <p:cNvPr id="12" name="Connector 11"/>
          <p:cNvCxnSpPr/>
          <p:nvPr/>
        </p:nvCxnSpPr>
        <p:spPr>
          <a:xfrm>
            <a:off x="566928" y="3803904"/>
            <a:ext cx="5254599" cy="0"/>
          </a:xfrm>
          <a:prstGeom prst="line">
            <a:avLst/>
          </a:prstGeom>
          <a:ln w="9525">
            <a:solidFill>
              <a:srgbClr val="D5DCD1"/>
            </a:solidFill>
          </a:ln>
        </p:spPr>
      </p:cxnSp>
      <p:sp>
        <p:nvSpPr>
          <p:cNvPr id="13" name="TextBox 12"/>
          <p:cNvSpPr txBox="1"/>
          <p:nvPr/>
        </p:nvSpPr>
        <p:spPr>
          <a:xfrm>
            <a:off x="566928" y="3931920"/>
            <a:ext cx="502920" cy="548640"/>
          </a:xfrm>
          <a:prstGeom prst="rect">
            <a:avLst/>
          </a:prstGeom>
          <a:noFill/>
        </p:spPr>
        <p:txBody>
          <a:bodyPr wrap="square" lIns="0" rIns="0" tIns="0" bIns="0" anchor="t">
            <a:noAutofit/>
          </a:bodyPr>
          <a:lstStyle/>
          <a:p>
            <a:pPr algn="l">
              <a:lnSpc>
                <a:spcPct val="110000"/>
              </a:lnSpc>
            </a:pPr>
            <a:r>
              <a:rPr sz="2800" b="0" i="0">
                <a:solidFill>
                  <a:srgbClr val="41801A"/>
                </a:solidFill>
                <a:latin typeface="Georgia"/>
              </a:rPr>
              <a:t>3</a:t>
            </a:r>
          </a:p>
        </p:txBody>
      </p:sp>
      <p:sp>
        <p:nvSpPr>
          <p:cNvPr id="14" name="TextBox 13"/>
          <p:cNvSpPr txBox="1"/>
          <p:nvPr/>
        </p:nvSpPr>
        <p:spPr>
          <a:xfrm>
            <a:off x="1161288" y="3968496"/>
            <a:ext cx="4568799" cy="777240"/>
          </a:xfrm>
          <a:prstGeom prst="rect">
            <a:avLst/>
          </a:prstGeom>
          <a:noFill/>
        </p:spPr>
        <p:txBody>
          <a:bodyPr wrap="square" lIns="0" rIns="0" tIns="0" bIns="0" anchor="t">
            <a:noAutofit/>
          </a:bodyPr>
          <a:lstStyle/>
          <a:p>
            <a:pPr algn="l">
              <a:lnSpc>
                <a:spcPct val="105000"/>
              </a:lnSpc>
            </a:pPr>
            <a:r>
              <a:rPr sz="1500" b="0" i="0">
                <a:solidFill>
                  <a:srgbClr val="0C1408"/>
                </a:solidFill>
                <a:latin typeface="Arial"/>
              </a:rPr>
              <a:t>Approve it for the Islamic window through the Shariah board.</a:t>
            </a:r>
          </a:p>
        </p:txBody>
      </p:sp>
      <p:cxnSp>
        <p:nvCxnSpPr>
          <p:cNvPr id="15" name="Connector 14"/>
          <p:cNvCxnSpPr/>
          <p:nvPr/>
        </p:nvCxnSpPr>
        <p:spPr>
          <a:xfrm>
            <a:off x="566928" y="4791456"/>
            <a:ext cx="5254599" cy="0"/>
          </a:xfrm>
          <a:prstGeom prst="line">
            <a:avLst/>
          </a:prstGeom>
          <a:ln w="9525">
            <a:solidFill>
              <a:srgbClr val="D5DCD1"/>
            </a:solidFill>
          </a:ln>
        </p:spPr>
      </p:cxnSp>
      <p:sp>
        <p:nvSpPr>
          <p:cNvPr id="16" name="TextBox 15"/>
          <p:cNvSpPr txBox="1"/>
          <p:nvPr/>
        </p:nvSpPr>
        <p:spPr>
          <a:xfrm>
            <a:off x="566928" y="4919472"/>
            <a:ext cx="502920" cy="548640"/>
          </a:xfrm>
          <a:prstGeom prst="rect">
            <a:avLst/>
          </a:prstGeom>
          <a:noFill/>
        </p:spPr>
        <p:txBody>
          <a:bodyPr wrap="square" lIns="0" rIns="0" tIns="0" bIns="0" anchor="t">
            <a:noAutofit/>
          </a:bodyPr>
          <a:lstStyle/>
          <a:p>
            <a:pPr algn="l">
              <a:lnSpc>
                <a:spcPct val="110000"/>
              </a:lnSpc>
            </a:pPr>
            <a:r>
              <a:rPr sz="2800" b="0" i="0">
                <a:solidFill>
                  <a:srgbClr val="41801A"/>
                </a:solidFill>
                <a:latin typeface="Georgia"/>
              </a:rPr>
              <a:t>4</a:t>
            </a:r>
          </a:p>
        </p:txBody>
      </p:sp>
      <p:sp>
        <p:nvSpPr>
          <p:cNvPr id="17" name="TextBox 16"/>
          <p:cNvSpPr txBox="1"/>
          <p:nvPr/>
        </p:nvSpPr>
        <p:spPr>
          <a:xfrm>
            <a:off x="1161288" y="4956048"/>
            <a:ext cx="4568799" cy="777240"/>
          </a:xfrm>
          <a:prstGeom prst="rect">
            <a:avLst/>
          </a:prstGeom>
          <a:noFill/>
        </p:spPr>
        <p:txBody>
          <a:bodyPr wrap="square" lIns="0" rIns="0" tIns="0" bIns="0" anchor="t">
            <a:noAutofit/>
          </a:bodyPr>
          <a:lstStyle/>
          <a:p>
            <a:pPr algn="l">
              <a:lnSpc>
                <a:spcPct val="105000"/>
              </a:lnSpc>
            </a:pPr>
            <a:r>
              <a:rPr sz="1500" b="0" i="0">
                <a:solidFill>
                  <a:srgbClr val="0C1408"/>
                </a:solidFill>
                <a:latin typeface="Arial"/>
              </a:rPr>
              <a:t>Open accounts and debit mandates inside the Halqa application.</a:t>
            </a:r>
          </a:p>
        </p:txBody>
      </p:sp>
      <p:cxnSp>
        <p:nvCxnSpPr>
          <p:cNvPr id="18" name="Connector 17"/>
          <p:cNvCxnSpPr/>
          <p:nvPr/>
        </p:nvCxnSpPr>
        <p:spPr>
          <a:xfrm>
            <a:off x="6187287" y="1828800"/>
            <a:ext cx="5254600" cy="0"/>
          </a:xfrm>
          <a:prstGeom prst="line">
            <a:avLst/>
          </a:prstGeom>
          <a:ln w="9525">
            <a:solidFill>
              <a:srgbClr val="D5DCD1"/>
            </a:solidFill>
          </a:ln>
        </p:spPr>
      </p:cxnSp>
      <p:sp>
        <p:nvSpPr>
          <p:cNvPr id="19" name="TextBox 18"/>
          <p:cNvSpPr txBox="1"/>
          <p:nvPr/>
        </p:nvSpPr>
        <p:spPr>
          <a:xfrm>
            <a:off x="6187287" y="1956816"/>
            <a:ext cx="502920" cy="548640"/>
          </a:xfrm>
          <a:prstGeom prst="rect">
            <a:avLst/>
          </a:prstGeom>
          <a:noFill/>
        </p:spPr>
        <p:txBody>
          <a:bodyPr wrap="square" lIns="0" rIns="0" tIns="0" bIns="0" anchor="t">
            <a:noAutofit/>
          </a:bodyPr>
          <a:lstStyle/>
          <a:p>
            <a:pPr algn="l">
              <a:lnSpc>
                <a:spcPct val="110000"/>
              </a:lnSpc>
            </a:pPr>
            <a:r>
              <a:rPr sz="2800" b="0" i="0">
                <a:solidFill>
                  <a:srgbClr val="41801A"/>
                </a:solidFill>
                <a:latin typeface="Georgia"/>
              </a:rPr>
              <a:t>5</a:t>
            </a:r>
          </a:p>
        </p:txBody>
      </p:sp>
      <p:sp>
        <p:nvSpPr>
          <p:cNvPr id="20" name="TextBox 19"/>
          <p:cNvSpPr txBox="1"/>
          <p:nvPr/>
        </p:nvSpPr>
        <p:spPr>
          <a:xfrm>
            <a:off x="6781647" y="1993392"/>
            <a:ext cx="4568799" cy="777240"/>
          </a:xfrm>
          <a:prstGeom prst="rect">
            <a:avLst/>
          </a:prstGeom>
          <a:noFill/>
        </p:spPr>
        <p:txBody>
          <a:bodyPr wrap="square" lIns="0" rIns="0" tIns="0" bIns="0" anchor="t">
            <a:noAutofit/>
          </a:bodyPr>
          <a:lstStyle/>
          <a:p>
            <a:pPr algn="l">
              <a:lnSpc>
                <a:spcPct val="105000"/>
              </a:lnSpc>
            </a:pPr>
            <a:r>
              <a:rPr sz="1500" b="0" i="0">
                <a:solidFill>
                  <a:srgbClr val="0C1408"/>
                </a:solidFill>
                <a:latin typeface="Arial"/>
              </a:rPr>
              <a:t>Hold instalments in the Islamic Current Profit Account; return profit as points.</a:t>
            </a:r>
          </a:p>
        </p:txBody>
      </p:sp>
      <p:cxnSp>
        <p:nvCxnSpPr>
          <p:cNvPr id="21" name="Connector 20"/>
          <p:cNvCxnSpPr/>
          <p:nvPr/>
        </p:nvCxnSpPr>
        <p:spPr>
          <a:xfrm>
            <a:off x="6187287" y="2816352"/>
            <a:ext cx="5254600" cy="0"/>
          </a:xfrm>
          <a:prstGeom prst="line">
            <a:avLst/>
          </a:prstGeom>
          <a:ln w="9525">
            <a:solidFill>
              <a:srgbClr val="D5DCD1"/>
            </a:solidFill>
          </a:ln>
        </p:spPr>
      </p:cxnSp>
      <p:sp>
        <p:nvSpPr>
          <p:cNvPr id="22" name="TextBox 21"/>
          <p:cNvSpPr txBox="1"/>
          <p:nvPr/>
        </p:nvSpPr>
        <p:spPr>
          <a:xfrm>
            <a:off x="6187287" y="2944368"/>
            <a:ext cx="502920" cy="548640"/>
          </a:xfrm>
          <a:prstGeom prst="rect">
            <a:avLst/>
          </a:prstGeom>
          <a:noFill/>
        </p:spPr>
        <p:txBody>
          <a:bodyPr wrap="square" lIns="0" rIns="0" tIns="0" bIns="0" anchor="t">
            <a:noAutofit/>
          </a:bodyPr>
          <a:lstStyle/>
          <a:p>
            <a:pPr algn="l">
              <a:lnSpc>
                <a:spcPct val="110000"/>
              </a:lnSpc>
            </a:pPr>
            <a:r>
              <a:rPr sz="2800" b="0" i="0">
                <a:solidFill>
                  <a:srgbClr val="41801A"/>
                </a:solidFill>
                <a:latin typeface="Georgia"/>
              </a:rPr>
              <a:t>6</a:t>
            </a:r>
          </a:p>
        </p:txBody>
      </p:sp>
      <p:sp>
        <p:nvSpPr>
          <p:cNvPr id="23" name="TextBox 22"/>
          <p:cNvSpPr txBox="1"/>
          <p:nvPr/>
        </p:nvSpPr>
        <p:spPr>
          <a:xfrm>
            <a:off x="6781647" y="2980944"/>
            <a:ext cx="4568799" cy="777240"/>
          </a:xfrm>
          <a:prstGeom prst="rect">
            <a:avLst/>
          </a:prstGeom>
          <a:noFill/>
        </p:spPr>
        <p:txBody>
          <a:bodyPr wrap="square" lIns="0" rIns="0" tIns="0" bIns="0" anchor="t">
            <a:noAutofit/>
          </a:bodyPr>
          <a:lstStyle/>
          <a:p>
            <a:pPr algn="l">
              <a:lnSpc>
                <a:spcPct val="105000"/>
              </a:lnSpc>
            </a:pPr>
            <a:r>
              <a:rPr sz="1500" b="0" i="0">
                <a:solidFill>
                  <a:srgbClr val="0C1408"/>
                </a:solidFill>
                <a:latin typeface="Arial"/>
              </a:rPr>
              <a:t>Choose the cover and the credit reporting route.</a:t>
            </a:r>
          </a:p>
        </p:txBody>
      </p:sp>
      <p:cxnSp>
        <p:nvCxnSpPr>
          <p:cNvPr id="24" name="Connector 23"/>
          <p:cNvCxnSpPr/>
          <p:nvPr/>
        </p:nvCxnSpPr>
        <p:spPr>
          <a:xfrm>
            <a:off x="6187287" y="3803904"/>
            <a:ext cx="5254600" cy="0"/>
          </a:xfrm>
          <a:prstGeom prst="line">
            <a:avLst/>
          </a:prstGeom>
          <a:ln w="9525">
            <a:solidFill>
              <a:srgbClr val="D5DCD1"/>
            </a:solidFill>
          </a:ln>
        </p:spPr>
      </p:cxnSp>
      <p:sp>
        <p:nvSpPr>
          <p:cNvPr id="25" name="TextBox 24"/>
          <p:cNvSpPr txBox="1"/>
          <p:nvPr/>
        </p:nvSpPr>
        <p:spPr>
          <a:xfrm>
            <a:off x="6187287" y="3931920"/>
            <a:ext cx="502920" cy="548640"/>
          </a:xfrm>
          <a:prstGeom prst="rect">
            <a:avLst/>
          </a:prstGeom>
          <a:noFill/>
        </p:spPr>
        <p:txBody>
          <a:bodyPr wrap="square" lIns="0" rIns="0" tIns="0" bIns="0" anchor="t">
            <a:noAutofit/>
          </a:bodyPr>
          <a:lstStyle/>
          <a:p>
            <a:pPr algn="l">
              <a:lnSpc>
                <a:spcPct val="110000"/>
              </a:lnSpc>
            </a:pPr>
            <a:r>
              <a:rPr sz="2800" b="0" i="0">
                <a:solidFill>
                  <a:srgbClr val="41801A"/>
                </a:solidFill>
                <a:latin typeface="Georgia"/>
              </a:rPr>
              <a:t>7</a:t>
            </a:r>
          </a:p>
        </p:txBody>
      </p:sp>
      <p:sp>
        <p:nvSpPr>
          <p:cNvPr id="26" name="TextBox 25"/>
          <p:cNvSpPr txBox="1"/>
          <p:nvPr/>
        </p:nvSpPr>
        <p:spPr>
          <a:xfrm>
            <a:off x="6781647" y="3968496"/>
            <a:ext cx="4568799" cy="777240"/>
          </a:xfrm>
          <a:prstGeom prst="rect">
            <a:avLst/>
          </a:prstGeom>
          <a:noFill/>
        </p:spPr>
        <p:txBody>
          <a:bodyPr wrap="square" lIns="0" rIns="0" tIns="0" bIns="0" anchor="t">
            <a:noAutofit/>
          </a:bodyPr>
          <a:lstStyle/>
          <a:p>
            <a:pPr algn="l">
              <a:lnSpc>
                <a:spcPct val="105000"/>
              </a:lnSpc>
            </a:pPr>
            <a:r>
              <a:rPr sz="1500" b="0" i="0">
                <a:solidFill>
                  <a:srgbClr val="0C1408"/>
                </a:solidFill>
                <a:latin typeface="Arial"/>
              </a:rPr>
              <a:t>Agree the income share and a one month pilot.</a:t>
            </a:r>
          </a:p>
        </p:txBody>
      </p:sp>
      <p:cxnSp>
        <p:nvCxnSpPr>
          <p:cNvPr id="27" name="Connector 26"/>
          <p:cNvCxnSpPr/>
          <p:nvPr/>
        </p:nvCxnSpPr>
        <p:spPr>
          <a:xfrm>
            <a:off x="566928" y="5779008"/>
            <a:ext cx="5254599" cy="0"/>
          </a:xfrm>
          <a:prstGeom prst="line">
            <a:avLst/>
          </a:prstGeom>
          <a:ln w="9525">
            <a:solidFill>
              <a:srgbClr val="D5DCD1"/>
            </a:solidFill>
          </a:ln>
        </p:spPr>
      </p:cxnSp>
      <p:cxnSp>
        <p:nvCxnSpPr>
          <p:cNvPr id="28" name="Connector 27"/>
          <p:cNvCxnSpPr/>
          <p:nvPr/>
        </p:nvCxnSpPr>
        <p:spPr>
          <a:xfrm>
            <a:off x="6187287" y="4791456"/>
            <a:ext cx="5254600" cy="0"/>
          </a:xfrm>
          <a:prstGeom prst="line">
            <a:avLst/>
          </a:prstGeom>
          <a:ln w="9525">
            <a:solidFill>
              <a:srgbClr val="D5DCD1"/>
            </a:solidFill>
          </a:ln>
        </p:spPr>
      </p:cxn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alqa_logo.png"/>
          <p:cNvPicPr>
            <a:picLocks noChangeAspect="1"/>
          </p:cNvPicPr>
          <p:nvPr/>
        </p:nvPicPr>
        <p:blipFill>
          <a:blip r:embed="rId3"/>
          <a:stretch>
            <a:fillRect/>
          </a:stretch>
        </p:blipFill>
        <p:spPr>
          <a:xfrm>
            <a:off x="566928" y="658368"/>
            <a:ext cx="1504709" cy="457200"/>
          </a:xfrm>
          <a:prstGeom prst="rect">
            <a:avLst/>
          </a:prstGeom>
        </p:spPr>
      </p:pic>
      <p:cxnSp>
        <p:nvCxnSpPr>
          <p:cNvPr id="3" name="Connector 2"/>
          <p:cNvCxnSpPr/>
          <p:nvPr/>
        </p:nvCxnSpPr>
        <p:spPr>
          <a:xfrm>
            <a:off x="2350008" y="548640"/>
            <a:ext cx="0" cy="777240"/>
          </a:xfrm>
          <a:prstGeom prst="line">
            <a:avLst/>
          </a:prstGeom>
          <a:ln w="12700">
            <a:solidFill>
              <a:srgbClr val="C9D1C4"/>
            </a:solidFill>
          </a:ln>
        </p:spPr>
      </p:cxnSp>
      <p:pic>
        <p:nvPicPr>
          <p:cNvPr id="4" name="Picture 3" descr="mashreq_logo.png"/>
          <p:cNvPicPr>
            <a:picLocks noChangeAspect="1"/>
          </p:cNvPicPr>
          <p:nvPr/>
        </p:nvPicPr>
        <p:blipFill>
          <a:blip r:embed="rId4"/>
          <a:stretch>
            <a:fillRect/>
          </a:stretch>
        </p:blipFill>
        <p:spPr>
          <a:xfrm>
            <a:off x="2624328" y="420623"/>
            <a:ext cx="738308" cy="786384"/>
          </a:xfrm>
          <a:prstGeom prst="rect">
            <a:avLst/>
          </a:prstGeom>
        </p:spPr>
      </p:pic>
      <p:sp>
        <p:nvSpPr>
          <p:cNvPr id="5" name="TextBox 4"/>
          <p:cNvSpPr txBox="1"/>
          <p:nvPr/>
        </p:nvSpPr>
        <p:spPr>
          <a:xfrm>
            <a:off x="566928" y="2148840"/>
            <a:ext cx="6400800" cy="1463040"/>
          </a:xfrm>
          <a:prstGeom prst="rect">
            <a:avLst/>
          </a:prstGeom>
          <a:noFill/>
        </p:spPr>
        <p:txBody>
          <a:bodyPr wrap="square" lIns="0" rIns="0" tIns="0" bIns="0" anchor="t">
            <a:noAutofit/>
          </a:bodyPr>
          <a:lstStyle/>
          <a:p>
            <a:pPr algn="l">
              <a:lnSpc>
                <a:spcPct val="100000"/>
              </a:lnSpc>
            </a:pPr>
            <a:r>
              <a:rPr sz="4000" b="0" i="0">
                <a:solidFill>
                  <a:srgbClr val="0C1408"/>
                </a:solidFill>
                <a:latin typeface="Georgia"/>
              </a:rPr>
              <a:t>Halqa is the system.</a:t>
            </a:r>
          </a:p>
          <a:p>
            <a:pPr algn="l">
              <a:lnSpc>
                <a:spcPct val="100000"/>
              </a:lnSpc>
            </a:pPr>
            <a:r>
              <a:rPr sz="4000" b="0" i="0">
                <a:solidFill>
                  <a:srgbClr val="0C1408"/>
                </a:solidFill>
                <a:latin typeface="Georgia"/>
              </a:rPr>
              <a:t>The bank is the machine.</a:t>
            </a:r>
          </a:p>
        </p:txBody>
      </p:sp>
      <p:sp>
        <p:nvSpPr>
          <p:cNvPr id="6" name="TextBox 5"/>
          <p:cNvSpPr txBox="1"/>
          <p:nvPr/>
        </p:nvSpPr>
        <p:spPr>
          <a:xfrm>
            <a:off x="566928" y="3794760"/>
            <a:ext cx="6309360" cy="731520"/>
          </a:xfrm>
          <a:prstGeom prst="rect">
            <a:avLst/>
          </a:prstGeom>
          <a:noFill/>
        </p:spPr>
        <p:txBody>
          <a:bodyPr wrap="square" lIns="0" rIns="0" tIns="0" bIns="0" anchor="t">
            <a:noAutofit/>
          </a:bodyPr>
          <a:lstStyle/>
          <a:p>
            <a:pPr algn="l">
              <a:lnSpc>
                <a:spcPct val="110000"/>
              </a:lnSpc>
            </a:pPr>
            <a:r>
              <a:rPr sz="1600" b="0" i="0">
                <a:solidFill>
                  <a:srgbClr val="41801A"/>
                </a:solidFill>
                <a:latin typeface="Arial"/>
              </a:rPr>
              <a:t>Committees run by Halqa, on Mashreq accounts.</a:t>
            </a:r>
          </a:p>
        </p:txBody>
      </p:sp>
      <p:sp>
        <p:nvSpPr>
          <p:cNvPr id="7" name="TextBox 6"/>
          <p:cNvSpPr txBox="1"/>
          <p:nvPr/>
        </p:nvSpPr>
        <p:spPr>
          <a:xfrm>
            <a:off x="566928" y="5074920"/>
            <a:ext cx="5486400" cy="274320"/>
          </a:xfrm>
          <a:prstGeom prst="rect">
            <a:avLst/>
          </a:prstGeom>
          <a:noFill/>
        </p:spPr>
        <p:txBody>
          <a:bodyPr wrap="square" lIns="0" rIns="0" tIns="0" bIns="0" anchor="t">
            <a:noAutofit/>
          </a:bodyPr>
          <a:lstStyle/>
          <a:p>
            <a:pPr algn="l">
              <a:lnSpc>
                <a:spcPct val="110000"/>
              </a:lnSpc>
            </a:pPr>
            <a:r>
              <a:rPr sz="1400" b="1" i="0">
                <a:solidFill>
                  <a:srgbClr val="0C1408"/>
                </a:solidFill>
                <a:latin typeface="Arial"/>
              </a:rPr>
              <a:t>Taha Amjed, Chairman, Halqa</a:t>
            </a:r>
          </a:p>
        </p:txBody>
      </p:sp>
      <p:sp>
        <p:nvSpPr>
          <p:cNvPr id="8" name="TextBox 7"/>
          <p:cNvSpPr txBox="1"/>
          <p:nvPr/>
        </p:nvSpPr>
        <p:spPr>
          <a:xfrm>
            <a:off x="566928" y="5376672"/>
            <a:ext cx="6217920" cy="274320"/>
          </a:xfrm>
          <a:prstGeom prst="rect">
            <a:avLst/>
          </a:prstGeom>
          <a:noFill/>
        </p:spPr>
        <p:txBody>
          <a:bodyPr wrap="square" lIns="0" rIns="0" tIns="0" bIns="0" anchor="t">
            <a:noAutofit/>
          </a:bodyPr>
          <a:lstStyle/>
          <a:p>
            <a:pPr algn="l">
              <a:lnSpc>
                <a:spcPct val="110000"/>
              </a:lnSpc>
            </a:pPr>
            <a:r>
              <a:rPr sz="1200" b="0" i="0">
                <a:solidFill>
                  <a:srgbClr val="5B6456"/>
                </a:solidFill>
                <a:latin typeface="Arial"/>
              </a:rPr>
              <a:t>A detailed reference on the law, the product, the economics and the evidence is available.</a:t>
            </a:r>
          </a:p>
        </p:txBody>
      </p:sp>
      <p:sp>
        <p:nvSpPr>
          <p:cNvPr id="9" name="Rectangle 8"/>
          <p:cNvSpPr/>
          <p:nvPr/>
        </p:nvSpPr>
        <p:spPr>
          <a:xfrm>
            <a:off x="7360920" y="0"/>
            <a:ext cx="4830775" cy="6858000"/>
          </a:xfrm>
          <a:prstGeom prst="rect">
            <a:avLst/>
          </a:prstGeom>
          <a:solidFill>
            <a:srgbClr val="6DC72A"/>
          </a:solidFill>
          <a:ln>
            <a:noFill/>
          </a:ln>
        </p:spPr>
        <p:txBody>
          <a:bodyPr rtlCol="0" anchor="ctr" lIns="0" rIns="0"/>
          <a:lstStyle/>
          <a:p>
            <a:pPr algn="ctr"/>
          </a:p>
        </p:txBody>
      </p:sp>
      <p:pic>
        <p:nvPicPr>
          <p:cNvPr id="10" name="Picture 9" descr="screen_activity.png"/>
          <p:cNvPicPr>
            <a:picLocks noChangeAspect="1"/>
          </p:cNvPicPr>
          <p:nvPr/>
        </p:nvPicPr>
        <p:blipFill>
          <a:blip r:embed="rId5"/>
          <a:stretch>
            <a:fillRect/>
          </a:stretch>
        </p:blipFill>
        <p:spPr>
          <a:xfrm>
            <a:off x="8468715" y="713232"/>
            <a:ext cx="2612267" cy="548640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9509760" cy="566928"/>
          </a:xfrm>
          <a:prstGeom prst="rect">
            <a:avLst/>
          </a:prstGeom>
          <a:noFill/>
        </p:spPr>
        <p:txBody>
          <a:bodyPr wrap="square" lIns="0" rIns="0" tIns="0" bIns="0" anchor="t">
            <a:noAutofit/>
          </a:bodyPr>
          <a:lstStyle/>
          <a:p>
            <a:pPr algn="l">
              <a:lnSpc>
                <a:spcPct val="110000"/>
              </a:lnSpc>
            </a:pPr>
            <a:r>
              <a:rPr sz="2800" b="0" i="0">
                <a:solidFill>
                  <a:srgbClr val="41801A"/>
                </a:solidFill>
                <a:latin typeface="Georgia"/>
              </a:rPr>
              <a:t>Appendix</a:t>
            </a:r>
          </a:p>
        </p:txBody>
      </p:sp>
      <p:sp>
        <p:nvSpPr>
          <p:cNvPr id="3" name="TextBox 2"/>
          <p:cNvSpPr txBox="1"/>
          <p:nvPr/>
        </p:nvSpPr>
        <p:spPr>
          <a:xfrm>
            <a:off x="566928" y="987552"/>
            <a:ext cx="11057839" cy="411480"/>
          </a:xfrm>
          <a:prstGeom prst="rect">
            <a:avLst/>
          </a:prstGeom>
          <a:noFill/>
        </p:spPr>
        <p:txBody>
          <a:bodyPr wrap="square" lIns="0" rIns="0" tIns="0" bIns="0" anchor="t">
            <a:noAutofit/>
          </a:bodyPr>
          <a:lstStyle/>
          <a:p>
            <a:pPr algn="l">
              <a:lnSpc>
                <a:spcPct val="110000"/>
              </a:lnSpc>
            </a:pPr>
            <a:r>
              <a:rPr sz="1800" b="0" i="0">
                <a:solidFill>
                  <a:srgbClr val="0C1408"/>
                </a:solidFill>
                <a:latin typeface="Arial"/>
              </a:rPr>
              <a:t>Reference pages for questions.</a:t>
            </a:r>
          </a:p>
        </p:txBody>
      </p:sp>
      <p:pic>
        <p:nvPicPr>
          <p:cNvPr id="4" name="Picture 3" descr="halqa_logo.png"/>
          <p:cNvPicPr>
            <a:picLocks noChangeAspect="1"/>
          </p:cNvPicPr>
          <p:nvPr/>
        </p:nvPicPr>
        <p:blipFill>
          <a:blip r:embed="rId3"/>
          <a:stretch>
            <a:fillRect/>
          </a:stretch>
        </p:blipFill>
        <p:spPr>
          <a:xfrm>
            <a:off x="10600639" y="457200"/>
            <a:ext cx="1023202" cy="310896"/>
          </a:xfrm>
          <a:prstGeom prst="rect">
            <a:avLst/>
          </a:prstGeom>
        </p:spPr>
      </p:pic>
      <p:sp>
        <p:nvSpPr>
          <p:cNvPr id="5" name="TextBox 4"/>
          <p:cNvSpPr txBox="1"/>
          <p:nvPr/>
        </p:nvSpPr>
        <p:spPr>
          <a:xfrm>
            <a:off x="11076127" y="6355080"/>
            <a:ext cx="548640" cy="228600"/>
          </a:xfrm>
          <a:prstGeom prst="rect">
            <a:avLst/>
          </a:prstGeom>
          <a:noFill/>
        </p:spPr>
        <p:txBody>
          <a:bodyPr wrap="square" lIns="0" rIns="0" tIns="0" bIns="0" anchor="t">
            <a:noAutofit/>
          </a:bodyPr>
          <a:lstStyle/>
          <a:p>
            <a:pPr algn="r">
              <a:lnSpc>
                <a:spcPct val="110000"/>
              </a:lnSpc>
            </a:pPr>
            <a:r>
              <a:rPr sz="1000" b="0" i="0">
                <a:solidFill>
                  <a:srgbClr val="5B6456"/>
                </a:solidFill>
                <a:latin typeface="Arial"/>
              </a:rPr>
              <a:t>23</a:t>
            </a:r>
          </a:p>
        </p:txBody>
      </p:sp>
      <p:cxnSp>
        <p:nvCxnSpPr>
          <p:cNvPr id="6" name="Connector 5"/>
          <p:cNvCxnSpPr/>
          <p:nvPr/>
        </p:nvCxnSpPr>
        <p:spPr>
          <a:xfrm>
            <a:off x="566928" y="1920240"/>
            <a:ext cx="5943600" cy="0"/>
          </a:xfrm>
          <a:prstGeom prst="line">
            <a:avLst/>
          </a:prstGeom>
          <a:ln w="9525">
            <a:solidFill>
              <a:srgbClr val="D5DCD1"/>
            </a:solidFill>
          </a:ln>
        </p:spPr>
      </p:cxnSp>
      <p:sp>
        <p:nvSpPr>
          <p:cNvPr id="7" name="TextBox 6"/>
          <p:cNvSpPr txBox="1"/>
          <p:nvPr/>
        </p:nvSpPr>
        <p:spPr>
          <a:xfrm>
            <a:off x="566928" y="2029968"/>
            <a:ext cx="548640" cy="365760"/>
          </a:xfrm>
          <a:prstGeom prst="rect">
            <a:avLst/>
          </a:prstGeom>
          <a:noFill/>
        </p:spPr>
        <p:txBody>
          <a:bodyPr wrap="square" lIns="0" rIns="0" tIns="0" bIns="0" anchor="t">
            <a:noAutofit/>
          </a:bodyPr>
          <a:lstStyle/>
          <a:p>
            <a:pPr algn="l">
              <a:lnSpc>
                <a:spcPct val="110000"/>
              </a:lnSpc>
            </a:pPr>
            <a:r>
              <a:rPr sz="1500" b="0" i="0">
                <a:solidFill>
                  <a:srgbClr val="41801A"/>
                </a:solidFill>
                <a:latin typeface="Georgia"/>
              </a:rPr>
              <a:t>A1</a:t>
            </a:r>
          </a:p>
        </p:txBody>
      </p:sp>
      <p:sp>
        <p:nvSpPr>
          <p:cNvPr id="8" name="TextBox 7"/>
          <p:cNvSpPr txBox="1"/>
          <p:nvPr/>
        </p:nvSpPr>
        <p:spPr>
          <a:xfrm>
            <a:off x="1207007" y="2039112"/>
            <a:ext cx="5303520" cy="365760"/>
          </a:xfrm>
          <a:prstGeom prst="rect">
            <a:avLst/>
          </a:prstGeom>
          <a:noFill/>
        </p:spPr>
        <p:txBody>
          <a:bodyPr wrap="square" lIns="0" rIns="0" tIns="0" bIns="0" anchor="t">
            <a:noAutofit/>
          </a:bodyPr>
          <a:lstStyle/>
          <a:p>
            <a:pPr algn="l">
              <a:lnSpc>
                <a:spcPct val="110000"/>
              </a:lnSpc>
            </a:pPr>
            <a:r>
              <a:rPr sz="1500" b="0" i="0">
                <a:solidFill>
                  <a:srgbClr val="0C1408"/>
                </a:solidFill>
                <a:latin typeface="Arial"/>
              </a:rPr>
              <a:t>Risks and controls</a:t>
            </a:r>
          </a:p>
        </p:txBody>
      </p:sp>
      <p:cxnSp>
        <p:nvCxnSpPr>
          <p:cNvPr id="9" name="Connector 8"/>
          <p:cNvCxnSpPr/>
          <p:nvPr/>
        </p:nvCxnSpPr>
        <p:spPr>
          <a:xfrm>
            <a:off x="566928" y="2450592"/>
            <a:ext cx="5943600" cy="0"/>
          </a:xfrm>
          <a:prstGeom prst="line">
            <a:avLst/>
          </a:prstGeom>
          <a:ln w="9525">
            <a:solidFill>
              <a:srgbClr val="D5DCD1"/>
            </a:solidFill>
          </a:ln>
        </p:spPr>
      </p:cxnSp>
      <p:sp>
        <p:nvSpPr>
          <p:cNvPr id="10" name="TextBox 9"/>
          <p:cNvSpPr txBox="1"/>
          <p:nvPr/>
        </p:nvSpPr>
        <p:spPr>
          <a:xfrm>
            <a:off x="566928" y="2560320"/>
            <a:ext cx="548640" cy="365760"/>
          </a:xfrm>
          <a:prstGeom prst="rect">
            <a:avLst/>
          </a:prstGeom>
          <a:noFill/>
        </p:spPr>
        <p:txBody>
          <a:bodyPr wrap="square" lIns="0" rIns="0" tIns="0" bIns="0" anchor="t">
            <a:noAutofit/>
          </a:bodyPr>
          <a:lstStyle/>
          <a:p>
            <a:pPr algn="l">
              <a:lnSpc>
                <a:spcPct val="110000"/>
              </a:lnSpc>
            </a:pPr>
            <a:r>
              <a:rPr sz="1500" b="0" i="0">
                <a:solidFill>
                  <a:srgbClr val="41801A"/>
                </a:solidFill>
                <a:latin typeface="Georgia"/>
              </a:rPr>
              <a:t>A2</a:t>
            </a:r>
          </a:p>
        </p:txBody>
      </p:sp>
      <p:sp>
        <p:nvSpPr>
          <p:cNvPr id="11" name="TextBox 10"/>
          <p:cNvSpPr txBox="1"/>
          <p:nvPr/>
        </p:nvSpPr>
        <p:spPr>
          <a:xfrm>
            <a:off x="1207007" y="2569464"/>
            <a:ext cx="5303520" cy="365760"/>
          </a:xfrm>
          <a:prstGeom prst="rect">
            <a:avLst/>
          </a:prstGeom>
          <a:noFill/>
        </p:spPr>
        <p:txBody>
          <a:bodyPr wrap="square" lIns="0" rIns="0" tIns="0" bIns="0" anchor="t">
            <a:noAutofit/>
          </a:bodyPr>
          <a:lstStyle/>
          <a:p>
            <a:pPr algn="l">
              <a:lnSpc>
                <a:spcPct val="110000"/>
              </a:lnSpc>
            </a:pPr>
            <a:r>
              <a:rPr sz="1500" b="0" i="0">
                <a:solidFill>
                  <a:srgbClr val="0C1408"/>
                </a:solidFill>
                <a:latin typeface="Arial"/>
              </a:rPr>
              <a:t>Integration</a:t>
            </a:r>
          </a:p>
        </p:txBody>
      </p:sp>
      <p:cxnSp>
        <p:nvCxnSpPr>
          <p:cNvPr id="12" name="Connector 11"/>
          <p:cNvCxnSpPr/>
          <p:nvPr/>
        </p:nvCxnSpPr>
        <p:spPr>
          <a:xfrm>
            <a:off x="566928" y="2980944"/>
            <a:ext cx="5943600" cy="0"/>
          </a:xfrm>
          <a:prstGeom prst="line">
            <a:avLst/>
          </a:prstGeom>
          <a:ln w="9525">
            <a:solidFill>
              <a:srgbClr val="D5DCD1"/>
            </a:solidFill>
          </a:ln>
        </p:spPr>
      </p:cxnSp>
      <p:sp>
        <p:nvSpPr>
          <p:cNvPr id="13" name="TextBox 12"/>
          <p:cNvSpPr txBox="1"/>
          <p:nvPr/>
        </p:nvSpPr>
        <p:spPr>
          <a:xfrm>
            <a:off x="566928" y="3090672"/>
            <a:ext cx="548640" cy="365760"/>
          </a:xfrm>
          <a:prstGeom prst="rect">
            <a:avLst/>
          </a:prstGeom>
          <a:noFill/>
        </p:spPr>
        <p:txBody>
          <a:bodyPr wrap="square" lIns="0" rIns="0" tIns="0" bIns="0" anchor="t">
            <a:noAutofit/>
          </a:bodyPr>
          <a:lstStyle/>
          <a:p>
            <a:pPr algn="l">
              <a:lnSpc>
                <a:spcPct val="110000"/>
              </a:lnSpc>
            </a:pPr>
            <a:r>
              <a:rPr sz="1500" b="0" i="0">
                <a:solidFill>
                  <a:srgbClr val="41801A"/>
                </a:solidFill>
                <a:latin typeface="Georgia"/>
              </a:rPr>
              <a:t>A3</a:t>
            </a:r>
          </a:p>
        </p:txBody>
      </p:sp>
      <p:sp>
        <p:nvSpPr>
          <p:cNvPr id="14" name="TextBox 13"/>
          <p:cNvSpPr txBox="1"/>
          <p:nvPr/>
        </p:nvSpPr>
        <p:spPr>
          <a:xfrm>
            <a:off x="1207007" y="3099816"/>
            <a:ext cx="5303520" cy="365760"/>
          </a:xfrm>
          <a:prstGeom prst="rect">
            <a:avLst/>
          </a:prstGeom>
          <a:noFill/>
        </p:spPr>
        <p:txBody>
          <a:bodyPr wrap="square" lIns="0" rIns="0" tIns="0" bIns="0" anchor="t">
            <a:noAutofit/>
          </a:bodyPr>
          <a:lstStyle/>
          <a:p>
            <a:pPr algn="l">
              <a:lnSpc>
                <a:spcPct val="110000"/>
              </a:lnSpc>
            </a:pPr>
            <a:r>
              <a:rPr sz="1500" b="0" i="0">
                <a:solidFill>
                  <a:srgbClr val="0C1408"/>
                </a:solidFill>
                <a:latin typeface="Arial"/>
              </a:rPr>
              <a:t>Points and the turn market</a:t>
            </a:r>
          </a:p>
        </p:txBody>
      </p:sp>
      <p:cxnSp>
        <p:nvCxnSpPr>
          <p:cNvPr id="15" name="Connector 14"/>
          <p:cNvCxnSpPr/>
          <p:nvPr/>
        </p:nvCxnSpPr>
        <p:spPr>
          <a:xfrm>
            <a:off x="566928" y="3511296"/>
            <a:ext cx="5943600" cy="0"/>
          </a:xfrm>
          <a:prstGeom prst="line">
            <a:avLst/>
          </a:prstGeom>
          <a:ln w="9525">
            <a:solidFill>
              <a:srgbClr val="D5DCD1"/>
            </a:solidFill>
          </a:ln>
        </p:spPr>
      </p:cxnSp>
      <p:sp>
        <p:nvSpPr>
          <p:cNvPr id="16" name="TextBox 15"/>
          <p:cNvSpPr txBox="1"/>
          <p:nvPr/>
        </p:nvSpPr>
        <p:spPr>
          <a:xfrm>
            <a:off x="566928" y="3621024"/>
            <a:ext cx="548640" cy="365760"/>
          </a:xfrm>
          <a:prstGeom prst="rect">
            <a:avLst/>
          </a:prstGeom>
          <a:noFill/>
        </p:spPr>
        <p:txBody>
          <a:bodyPr wrap="square" lIns="0" rIns="0" tIns="0" bIns="0" anchor="t">
            <a:noAutofit/>
          </a:bodyPr>
          <a:lstStyle/>
          <a:p>
            <a:pPr algn="l">
              <a:lnSpc>
                <a:spcPct val="110000"/>
              </a:lnSpc>
            </a:pPr>
            <a:r>
              <a:rPr sz="1500" b="0" i="0">
                <a:solidFill>
                  <a:srgbClr val="41801A"/>
                </a:solidFill>
                <a:latin typeface="Georgia"/>
              </a:rPr>
              <a:t>A4</a:t>
            </a:r>
          </a:p>
        </p:txBody>
      </p:sp>
      <p:sp>
        <p:nvSpPr>
          <p:cNvPr id="17" name="TextBox 16"/>
          <p:cNvSpPr txBox="1"/>
          <p:nvPr/>
        </p:nvSpPr>
        <p:spPr>
          <a:xfrm>
            <a:off x="1207007" y="3630168"/>
            <a:ext cx="5303520" cy="365760"/>
          </a:xfrm>
          <a:prstGeom prst="rect">
            <a:avLst/>
          </a:prstGeom>
          <a:noFill/>
        </p:spPr>
        <p:txBody>
          <a:bodyPr wrap="square" lIns="0" rIns="0" tIns="0" bIns="0" anchor="t">
            <a:noAutofit/>
          </a:bodyPr>
          <a:lstStyle/>
          <a:p>
            <a:pPr algn="l">
              <a:lnSpc>
                <a:spcPct val="110000"/>
              </a:lnSpc>
            </a:pPr>
            <a:r>
              <a:rPr sz="1500" b="0" i="0">
                <a:solidFill>
                  <a:srgbClr val="0C1408"/>
                </a:solidFill>
                <a:latin typeface="Arial"/>
              </a:rPr>
              <a:t>Hyper: daily circles</a:t>
            </a:r>
          </a:p>
        </p:txBody>
      </p:sp>
      <p:cxnSp>
        <p:nvCxnSpPr>
          <p:cNvPr id="18" name="Connector 17"/>
          <p:cNvCxnSpPr/>
          <p:nvPr/>
        </p:nvCxnSpPr>
        <p:spPr>
          <a:xfrm>
            <a:off x="566928" y="4041648"/>
            <a:ext cx="5943600" cy="0"/>
          </a:xfrm>
          <a:prstGeom prst="line">
            <a:avLst/>
          </a:prstGeom>
          <a:ln w="9525">
            <a:solidFill>
              <a:srgbClr val="D5DCD1"/>
            </a:solidFill>
          </a:ln>
        </p:spPr>
      </p:cxnSp>
      <p:sp>
        <p:nvSpPr>
          <p:cNvPr id="19" name="TextBox 18"/>
          <p:cNvSpPr txBox="1"/>
          <p:nvPr/>
        </p:nvSpPr>
        <p:spPr>
          <a:xfrm>
            <a:off x="566928" y="4151376"/>
            <a:ext cx="548640" cy="365760"/>
          </a:xfrm>
          <a:prstGeom prst="rect">
            <a:avLst/>
          </a:prstGeom>
          <a:noFill/>
        </p:spPr>
        <p:txBody>
          <a:bodyPr wrap="square" lIns="0" rIns="0" tIns="0" bIns="0" anchor="t">
            <a:noAutofit/>
          </a:bodyPr>
          <a:lstStyle/>
          <a:p>
            <a:pPr algn="l">
              <a:lnSpc>
                <a:spcPct val="110000"/>
              </a:lnSpc>
            </a:pPr>
            <a:r>
              <a:rPr sz="1500" b="0" i="0">
                <a:solidFill>
                  <a:srgbClr val="41801A"/>
                </a:solidFill>
                <a:latin typeface="Georgia"/>
              </a:rPr>
              <a:t>A5</a:t>
            </a:r>
          </a:p>
        </p:txBody>
      </p:sp>
      <p:sp>
        <p:nvSpPr>
          <p:cNvPr id="20" name="TextBox 19"/>
          <p:cNvSpPr txBox="1"/>
          <p:nvPr/>
        </p:nvSpPr>
        <p:spPr>
          <a:xfrm>
            <a:off x="1207007" y="4160520"/>
            <a:ext cx="5303520" cy="365760"/>
          </a:xfrm>
          <a:prstGeom prst="rect">
            <a:avLst/>
          </a:prstGeom>
          <a:noFill/>
        </p:spPr>
        <p:txBody>
          <a:bodyPr wrap="square" lIns="0" rIns="0" tIns="0" bIns="0" anchor="t">
            <a:noAutofit/>
          </a:bodyPr>
          <a:lstStyle/>
          <a:p>
            <a:pPr algn="l">
              <a:lnSpc>
                <a:spcPct val="110000"/>
              </a:lnSpc>
            </a:pPr>
            <a:r>
              <a:rPr sz="1500" b="0" i="0">
                <a:solidFill>
                  <a:srgbClr val="0C1408"/>
                </a:solidFill>
                <a:latin typeface="Arial"/>
              </a:rPr>
              <a:t>Leaving a circle</a:t>
            </a:r>
          </a:p>
        </p:txBody>
      </p:sp>
      <p:cxnSp>
        <p:nvCxnSpPr>
          <p:cNvPr id="21" name="Connector 20"/>
          <p:cNvCxnSpPr/>
          <p:nvPr/>
        </p:nvCxnSpPr>
        <p:spPr>
          <a:xfrm>
            <a:off x="566928" y="4572000"/>
            <a:ext cx="5943600" cy="0"/>
          </a:xfrm>
          <a:prstGeom prst="line">
            <a:avLst/>
          </a:prstGeom>
          <a:ln w="9525">
            <a:solidFill>
              <a:srgbClr val="D5DCD1"/>
            </a:solidFill>
          </a:ln>
        </p:spPr>
      </p:cxnSp>
      <p:sp>
        <p:nvSpPr>
          <p:cNvPr id="22" name="TextBox 21"/>
          <p:cNvSpPr txBox="1"/>
          <p:nvPr/>
        </p:nvSpPr>
        <p:spPr>
          <a:xfrm>
            <a:off x="566928" y="4681728"/>
            <a:ext cx="548640" cy="365760"/>
          </a:xfrm>
          <a:prstGeom prst="rect">
            <a:avLst/>
          </a:prstGeom>
          <a:noFill/>
        </p:spPr>
        <p:txBody>
          <a:bodyPr wrap="square" lIns="0" rIns="0" tIns="0" bIns="0" anchor="t">
            <a:noAutofit/>
          </a:bodyPr>
          <a:lstStyle/>
          <a:p>
            <a:pPr algn="l">
              <a:lnSpc>
                <a:spcPct val="110000"/>
              </a:lnSpc>
            </a:pPr>
            <a:r>
              <a:rPr sz="1500" b="0" i="0">
                <a:solidFill>
                  <a:srgbClr val="41801A"/>
                </a:solidFill>
                <a:latin typeface="Georgia"/>
              </a:rPr>
              <a:t>A6</a:t>
            </a:r>
          </a:p>
        </p:txBody>
      </p:sp>
      <p:sp>
        <p:nvSpPr>
          <p:cNvPr id="23" name="TextBox 22"/>
          <p:cNvSpPr txBox="1"/>
          <p:nvPr/>
        </p:nvSpPr>
        <p:spPr>
          <a:xfrm>
            <a:off x="1207007" y="4690872"/>
            <a:ext cx="5303520" cy="365760"/>
          </a:xfrm>
          <a:prstGeom prst="rect">
            <a:avLst/>
          </a:prstGeom>
          <a:noFill/>
        </p:spPr>
        <p:txBody>
          <a:bodyPr wrap="square" lIns="0" rIns="0" tIns="0" bIns="0" anchor="t">
            <a:noAutofit/>
          </a:bodyPr>
          <a:lstStyle/>
          <a:p>
            <a:pPr algn="l">
              <a:lnSpc>
                <a:spcPct val="110000"/>
              </a:lnSpc>
            </a:pPr>
            <a:r>
              <a:rPr sz="1500" b="0" i="0">
                <a:solidFill>
                  <a:srgbClr val="0C1408"/>
                </a:solidFill>
                <a:latin typeface="Arial"/>
              </a:rPr>
              <a:t>Unit costs</a:t>
            </a:r>
          </a:p>
        </p:txBody>
      </p:sp>
      <p:cxnSp>
        <p:nvCxnSpPr>
          <p:cNvPr id="24" name="Connector 23"/>
          <p:cNvCxnSpPr/>
          <p:nvPr/>
        </p:nvCxnSpPr>
        <p:spPr>
          <a:xfrm>
            <a:off x="566928" y="5102352"/>
            <a:ext cx="5943600" cy="0"/>
          </a:xfrm>
          <a:prstGeom prst="line">
            <a:avLst/>
          </a:prstGeom>
          <a:ln w="9525">
            <a:solidFill>
              <a:srgbClr val="D5DCD1"/>
            </a:solidFill>
          </a:ln>
        </p:spPr>
      </p:cxn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9509760" cy="566928"/>
          </a:xfrm>
          <a:prstGeom prst="rect">
            <a:avLst/>
          </a:prstGeom>
          <a:noFill/>
        </p:spPr>
        <p:txBody>
          <a:bodyPr wrap="square" lIns="0" rIns="0" tIns="0" bIns="0" anchor="t">
            <a:noAutofit/>
          </a:bodyPr>
          <a:lstStyle/>
          <a:p>
            <a:pPr algn="l">
              <a:lnSpc>
                <a:spcPct val="110000"/>
              </a:lnSpc>
            </a:pPr>
            <a:r>
              <a:rPr sz="2800" b="0" i="0">
                <a:solidFill>
                  <a:srgbClr val="41801A"/>
                </a:solidFill>
                <a:latin typeface="Georgia"/>
              </a:rPr>
              <a:t>Risks and Controls</a:t>
            </a:r>
          </a:p>
        </p:txBody>
      </p:sp>
      <p:sp>
        <p:nvSpPr>
          <p:cNvPr id="3" name="TextBox 2"/>
          <p:cNvSpPr txBox="1"/>
          <p:nvPr/>
        </p:nvSpPr>
        <p:spPr>
          <a:xfrm>
            <a:off x="566928" y="987552"/>
            <a:ext cx="11057839" cy="411480"/>
          </a:xfrm>
          <a:prstGeom prst="rect">
            <a:avLst/>
          </a:prstGeom>
          <a:noFill/>
        </p:spPr>
        <p:txBody>
          <a:bodyPr wrap="square" lIns="0" rIns="0" tIns="0" bIns="0" anchor="t">
            <a:noAutofit/>
          </a:bodyPr>
          <a:lstStyle/>
          <a:p>
            <a:pPr algn="l">
              <a:lnSpc>
                <a:spcPct val="110000"/>
              </a:lnSpc>
            </a:pPr>
            <a:r>
              <a:rPr sz="1800" b="0" i="0">
                <a:solidFill>
                  <a:srgbClr val="0C1408"/>
                </a:solidFill>
                <a:latin typeface="Arial"/>
              </a:rPr>
              <a:t>Each risk Mashreq would carry has a stated control.</a:t>
            </a:r>
          </a:p>
        </p:txBody>
      </p:sp>
      <p:pic>
        <p:nvPicPr>
          <p:cNvPr id="4" name="Picture 3" descr="halqa_logo.png"/>
          <p:cNvPicPr>
            <a:picLocks noChangeAspect="1"/>
          </p:cNvPicPr>
          <p:nvPr/>
        </p:nvPicPr>
        <p:blipFill>
          <a:blip r:embed="rId3"/>
          <a:stretch>
            <a:fillRect/>
          </a:stretch>
        </p:blipFill>
        <p:spPr>
          <a:xfrm>
            <a:off x="10600639" y="457200"/>
            <a:ext cx="1023202" cy="310896"/>
          </a:xfrm>
          <a:prstGeom prst="rect">
            <a:avLst/>
          </a:prstGeom>
        </p:spPr>
      </p:pic>
      <p:sp>
        <p:nvSpPr>
          <p:cNvPr id="5" name="TextBox 4"/>
          <p:cNvSpPr txBox="1"/>
          <p:nvPr/>
        </p:nvSpPr>
        <p:spPr>
          <a:xfrm>
            <a:off x="11076127" y="6355080"/>
            <a:ext cx="548640" cy="228600"/>
          </a:xfrm>
          <a:prstGeom prst="rect">
            <a:avLst/>
          </a:prstGeom>
          <a:noFill/>
        </p:spPr>
        <p:txBody>
          <a:bodyPr wrap="square" lIns="0" rIns="0" tIns="0" bIns="0" anchor="t">
            <a:noAutofit/>
          </a:bodyPr>
          <a:lstStyle/>
          <a:p>
            <a:pPr algn="r">
              <a:lnSpc>
                <a:spcPct val="110000"/>
              </a:lnSpc>
            </a:pPr>
            <a:r>
              <a:rPr sz="1000" b="0" i="0">
                <a:solidFill>
                  <a:srgbClr val="5B6456"/>
                </a:solidFill>
                <a:latin typeface="Arial"/>
              </a:rPr>
              <a:t>24</a:t>
            </a:r>
          </a:p>
        </p:txBody>
      </p:sp>
      <p:sp>
        <p:nvSpPr>
          <p:cNvPr id="6" name="TextBox 5"/>
          <p:cNvSpPr txBox="1"/>
          <p:nvPr/>
        </p:nvSpPr>
        <p:spPr>
          <a:xfrm>
            <a:off x="566928" y="1801368"/>
            <a:ext cx="2267712" cy="603504"/>
          </a:xfrm>
          <a:prstGeom prst="rect">
            <a:avLst/>
          </a:prstGeom>
          <a:noFill/>
        </p:spPr>
        <p:txBody>
          <a:bodyPr wrap="square" lIns="0" rIns="0" tIns="0" bIns="0" anchor="ctr">
            <a:noAutofit/>
          </a:bodyPr>
          <a:lstStyle/>
          <a:p>
            <a:pPr algn="l">
              <a:lnSpc>
                <a:spcPct val="110000"/>
              </a:lnSpc>
            </a:pPr>
            <a:r>
              <a:rPr sz="1300" b="1" i="0">
                <a:solidFill>
                  <a:srgbClr val="0C1408"/>
                </a:solidFill>
                <a:latin typeface="Arial"/>
              </a:rPr>
              <a:t>Credit</a:t>
            </a:r>
          </a:p>
        </p:txBody>
      </p:sp>
      <p:sp>
        <p:nvSpPr>
          <p:cNvPr id="7" name="TextBox 6"/>
          <p:cNvSpPr txBox="1"/>
          <p:nvPr/>
        </p:nvSpPr>
        <p:spPr>
          <a:xfrm>
            <a:off x="3017520" y="1801368"/>
            <a:ext cx="8570671" cy="603504"/>
          </a:xfrm>
          <a:prstGeom prst="rect">
            <a:avLst/>
          </a:prstGeom>
          <a:noFill/>
        </p:spPr>
        <p:txBody>
          <a:bodyPr wrap="square" lIns="0" rIns="0" tIns="0" bIns="0" anchor="ctr">
            <a:noAutofit/>
          </a:bodyPr>
          <a:lstStyle/>
          <a:p>
            <a:pPr algn="l">
              <a:lnSpc>
                <a:spcPct val="110000"/>
              </a:lnSpc>
            </a:pPr>
            <a:r>
              <a:rPr sz="1300" b="0" i="0">
                <a:solidFill>
                  <a:srgbClr val="0C1408"/>
                </a:solidFill>
                <a:latin typeface="Arial"/>
              </a:rPr>
              <a:t>Turn bands on every turn; affordability limits; arrears set off from the late member's own pot; cover chosen by Mashreq; no daily circle opens once losses would exceed cover.</a:t>
            </a:r>
          </a:p>
        </p:txBody>
      </p:sp>
      <p:cxnSp>
        <p:nvCxnSpPr>
          <p:cNvPr id="8" name="Connector 7"/>
          <p:cNvCxnSpPr/>
          <p:nvPr/>
        </p:nvCxnSpPr>
        <p:spPr>
          <a:xfrm>
            <a:off x="566928" y="2404872"/>
            <a:ext cx="11057839" cy="0"/>
          </a:xfrm>
          <a:prstGeom prst="line">
            <a:avLst/>
          </a:prstGeom>
          <a:ln w="9525">
            <a:solidFill>
              <a:srgbClr val="D5DCD1"/>
            </a:solidFill>
          </a:ln>
        </p:spPr>
      </p:cxnSp>
      <p:sp>
        <p:nvSpPr>
          <p:cNvPr id="9" name="TextBox 8"/>
          <p:cNvSpPr txBox="1"/>
          <p:nvPr/>
        </p:nvSpPr>
        <p:spPr>
          <a:xfrm>
            <a:off x="566928" y="2404872"/>
            <a:ext cx="2267712" cy="603504"/>
          </a:xfrm>
          <a:prstGeom prst="rect">
            <a:avLst/>
          </a:prstGeom>
          <a:noFill/>
        </p:spPr>
        <p:txBody>
          <a:bodyPr wrap="square" lIns="0" rIns="0" tIns="0" bIns="0" anchor="ctr">
            <a:noAutofit/>
          </a:bodyPr>
          <a:lstStyle/>
          <a:p>
            <a:pPr algn="l">
              <a:lnSpc>
                <a:spcPct val="110000"/>
              </a:lnSpc>
            </a:pPr>
            <a:r>
              <a:rPr sz="1300" b="1" i="0">
                <a:solidFill>
                  <a:srgbClr val="0C1408"/>
                </a:solidFill>
                <a:latin typeface="Arial"/>
              </a:rPr>
              <a:t>Fraud and money laundering</a:t>
            </a:r>
          </a:p>
        </p:txBody>
      </p:sp>
      <p:sp>
        <p:nvSpPr>
          <p:cNvPr id="10" name="TextBox 9"/>
          <p:cNvSpPr txBox="1"/>
          <p:nvPr/>
        </p:nvSpPr>
        <p:spPr>
          <a:xfrm>
            <a:off x="3017520" y="2404872"/>
            <a:ext cx="8570671" cy="603504"/>
          </a:xfrm>
          <a:prstGeom prst="rect">
            <a:avLst/>
          </a:prstGeom>
          <a:noFill/>
        </p:spPr>
        <p:txBody>
          <a:bodyPr wrap="square" lIns="0" rIns="0" tIns="0" bIns="0" anchor="ctr">
            <a:noAutofit/>
          </a:bodyPr>
          <a:lstStyle/>
          <a:p>
            <a:pPr algn="l">
              <a:lnSpc>
                <a:spcPct val="110000"/>
              </a:lnSpc>
            </a:pPr>
            <a:r>
              <a:rPr sz="1300" b="0" i="0">
                <a:solidFill>
                  <a:srgbClr val="0C1408"/>
                </a:solidFill>
                <a:latin typeface="Arial"/>
              </a:rPr>
              <a:t>Mashreq's due diligence at account opening; payouts only to accounts in the member's own name; fixed amounts on a fixed schedule; review of turn trades.</a:t>
            </a:r>
          </a:p>
        </p:txBody>
      </p:sp>
      <p:cxnSp>
        <p:nvCxnSpPr>
          <p:cNvPr id="11" name="Connector 10"/>
          <p:cNvCxnSpPr/>
          <p:nvPr/>
        </p:nvCxnSpPr>
        <p:spPr>
          <a:xfrm>
            <a:off x="566928" y="3008376"/>
            <a:ext cx="11057839" cy="0"/>
          </a:xfrm>
          <a:prstGeom prst="line">
            <a:avLst/>
          </a:prstGeom>
          <a:ln w="9525">
            <a:solidFill>
              <a:srgbClr val="D5DCD1"/>
            </a:solidFill>
          </a:ln>
        </p:spPr>
      </p:cxnSp>
      <p:sp>
        <p:nvSpPr>
          <p:cNvPr id="12" name="TextBox 11"/>
          <p:cNvSpPr txBox="1"/>
          <p:nvPr/>
        </p:nvSpPr>
        <p:spPr>
          <a:xfrm>
            <a:off x="566928" y="3008376"/>
            <a:ext cx="2267712" cy="603504"/>
          </a:xfrm>
          <a:prstGeom prst="rect">
            <a:avLst/>
          </a:prstGeom>
          <a:noFill/>
        </p:spPr>
        <p:txBody>
          <a:bodyPr wrap="square" lIns="0" rIns="0" tIns="0" bIns="0" anchor="ctr">
            <a:noAutofit/>
          </a:bodyPr>
          <a:lstStyle/>
          <a:p>
            <a:pPr algn="l">
              <a:lnSpc>
                <a:spcPct val="110000"/>
              </a:lnSpc>
            </a:pPr>
            <a:r>
              <a:rPr sz="1300" b="1" i="0">
                <a:solidFill>
                  <a:srgbClr val="0C1408"/>
                </a:solidFill>
                <a:latin typeface="Arial"/>
              </a:rPr>
              <a:t>Technology and outsourcing</a:t>
            </a:r>
          </a:p>
        </p:txBody>
      </p:sp>
      <p:sp>
        <p:nvSpPr>
          <p:cNvPr id="13" name="TextBox 12"/>
          <p:cNvSpPr txBox="1"/>
          <p:nvPr/>
        </p:nvSpPr>
        <p:spPr>
          <a:xfrm>
            <a:off x="3017520" y="3008376"/>
            <a:ext cx="8570671" cy="603504"/>
          </a:xfrm>
          <a:prstGeom prst="rect">
            <a:avLst/>
          </a:prstGeom>
          <a:noFill/>
        </p:spPr>
        <p:txBody>
          <a:bodyPr wrap="square" lIns="0" rIns="0" tIns="0" bIns="0" anchor="ctr">
            <a:noAutofit/>
          </a:bodyPr>
          <a:lstStyle/>
          <a:p>
            <a:pPr algn="l">
              <a:lnSpc>
                <a:spcPct val="110000"/>
              </a:lnSpc>
            </a:pPr>
            <a:r>
              <a:rPr sz="1300" b="0" i="0">
                <a:solidFill>
                  <a:srgbClr val="0C1408"/>
                </a:solidFill>
                <a:latin typeface="Arial"/>
              </a:rPr>
              <a:t>An agreement under the State Bank's outsourcing framework; security testing; audit logs on both sides; inspection rights for Mashreq and the State Bank.</a:t>
            </a:r>
          </a:p>
        </p:txBody>
      </p:sp>
      <p:cxnSp>
        <p:nvCxnSpPr>
          <p:cNvPr id="14" name="Connector 13"/>
          <p:cNvCxnSpPr/>
          <p:nvPr/>
        </p:nvCxnSpPr>
        <p:spPr>
          <a:xfrm>
            <a:off x="566928" y="3611880"/>
            <a:ext cx="11057839" cy="0"/>
          </a:xfrm>
          <a:prstGeom prst="line">
            <a:avLst/>
          </a:prstGeom>
          <a:ln w="9525">
            <a:solidFill>
              <a:srgbClr val="D5DCD1"/>
            </a:solidFill>
          </a:ln>
        </p:spPr>
      </p:cxnSp>
      <p:sp>
        <p:nvSpPr>
          <p:cNvPr id="15" name="TextBox 14"/>
          <p:cNvSpPr txBox="1"/>
          <p:nvPr/>
        </p:nvSpPr>
        <p:spPr>
          <a:xfrm>
            <a:off x="566928" y="3611880"/>
            <a:ext cx="2267712" cy="603504"/>
          </a:xfrm>
          <a:prstGeom prst="rect">
            <a:avLst/>
          </a:prstGeom>
          <a:noFill/>
        </p:spPr>
        <p:txBody>
          <a:bodyPr wrap="square" lIns="0" rIns="0" tIns="0" bIns="0" anchor="ctr">
            <a:noAutofit/>
          </a:bodyPr>
          <a:lstStyle/>
          <a:p>
            <a:pPr algn="l">
              <a:lnSpc>
                <a:spcPct val="110000"/>
              </a:lnSpc>
            </a:pPr>
            <a:r>
              <a:rPr sz="1300" b="1" i="0">
                <a:solidFill>
                  <a:srgbClr val="0C1408"/>
                </a:solidFill>
                <a:latin typeface="Arial"/>
              </a:rPr>
              <a:t>Conduct</a:t>
            </a:r>
          </a:p>
        </p:txBody>
      </p:sp>
      <p:sp>
        <p:nvSpPr>
          <p:cNvPr id="16" name="TextBox 15"/>
          <p:cNvSpPr txBox="1"/>
          <p:nvPr/>
        </p:nvSpPr>
        <p:spPr>
          <a:xfrm>
            <a:off x="3017520" y="3611880"/>
            <a:ext cx="8570671" cy="603504"/>
          </a:xfrm>
          <a:prstGeom prst="rect">
            <a:avLst/>
          </a:prstGeom>
          <a:noFill/>
        </p:spPr>
        <p:txBody>
          <a:bodyPr wrap="square" lIns="0" rIns="0" tIns="0" bIns="0" anchor="ctr">
            <a:noAutofit/>
          </a:bodyPr>
          <a:lstStyle/>
          <a:p>
            <a:pPr algn="l">
              <a:lnSpc>
                <a:spcPct val="110000"/>
              </a:lnSpc>
            </a:pPr>
            <a:r>
              <a:rPr sz="1300" b="0" i="0">
                <a:solidFill>
                  <a:srgbClr val="0C1408"/>
                </a:solidFill>
                <a:latin typeface="Arial"/>
              </a:rPr>
              <a:t>Instalments within a third of income; the full cost shown before joining; 24 hours to withdraw; recovery by stated steps, never by harassment.</a:t>
            </a:r>
          </a:p>
        </p:txBody>
      </p:sp>
      <p:cxnSp>
        <p:nvCxnSpPr>
          <p:cNvPr id="17" name="Connector 16"/>
          <p:cNvCxnSpPr/>
          <p:nvPr/>
        </p:nvCxnSpPr>
        <p:spPr>
          <a:xfrm>
            <a:off x="566928" y="4215383"/>
            <a:ext cx="11057839" cy="0"/>
          </a:xfrm>
          <a:prstGeom prst="line">
            <a:avLst/>
          </a:prstGeom>
          <a:ln w="9525">
            <a:solidFill>
              <a:srgbClr val="D5DCD1"/>
            </a:solidFill>
          </a:ln>
        </p:spPr>
      </p:cxnSp>
      <p:sp>
        <p:nvSpPr>
          <p:cNvPr id="18" name="TextBox 17"/>
          <p:cNvSpPr txBox="1"/>
          <p:nvPr/>
        </p:nvSpPr>
        <p:spPr>
          <a:xfrm>
            <a:off x="566928" y="4215383"/>
            <a:ext cx="2267712" cy="603504"/>
          </a:xfrm>
          <a:prstGeom prst="rect">
            <a:avLst/>
          </a:prstGeom>
          <a:noFill/>
        </p:spPr>
        <p:txBody>
          <a:bodyPr wrap="square" lIns="0" rIns="0" tIns="0" bIns="0" anchor="ctr">
            <a:noAutofit/>
          </a:bodyPr>
          <a:lstStyle/>
          <a:p>
            <a:pPr algn="l">
              <a:lnSpc>
                <a:spcPct val="110000"/>
              </a:lnSpc>
            </a:pPr>
            <a:r>
              <a:rPr sz="1300" b="1" i="0">
                <a:solidFill>
                  <a:srgbClr val="0C1408"/>
                </a:solidFill>
                <a:latin typeface="Arial"/>
              </a:rPr>
              <a:t>Shariah</a:t>
            </a:r>
          </a:p>
        </p:txBody>
      </p:sp>
      <p:sp>
        <p:nvSpPr>
          <p:cNvPr id="19" name="TextBox 18"/>
          <p:cNvSpPr txBox="1"/>
          <p:nvPr/>
        </p:nvSpPr>
        <p:spPr>
          <a:xfrm>
            <a:off x="3017520" y="4215383"/>
            <a:ext cx="8570671" cy="603504"/>
          </a:xfrm>
          <a:prstGeom prst="rect">
            <a:avLst/>
          </a:prstGeom>
          <a:noFill/>
        </p:spPr>
        <p:txBody>
          <a:bodyPr wrap="square" lIns="0" rIns="0" tIns="0" bIns="0" anchor="ctr">
            <a:noAutofit/>
          </a:bodyPr>
          <a:lstStyle/>
          <a:p>
            <a:pPr algn="l">
              <a:lnSpc>
                <a:spcPct val="110000"/>
              </a:lnSpc>
            </a:pPr>
            <a:r>
              <a:rPr sz="1300" b="0" i="0">
                <a:solidFill>
                  <a:srgbClr val="0C1408"/>
                </a:solidFill>
                <a:latin typeface="Arial"/>
              </a:rPr>
              <a:t>One flat fee; a takaful option; late fees to charity on the Islamic window; features outside the Shariah board's approval are labelled.</a:t>
            </a:r>
          </a:p>
        </p:txBody>
      </p:sp>
      <p:cxnSp>
        <p:nvCxnSpPr>
          <p:cNvPr id="20" name="Connector 19"/>
          <p:cNvCxnSpPr/>
          <p:nvPr/>
        </p:nvCxnSpPr>
        <p:spPr>
          <a:xfrm>
            <a:off x="566928" y="4818888"/>
            <a:ext cx="11057839" cy="0"/>
          </a:xfrm>
          <a:prstGeom prst="line">
            <a:avLst/>
          </a:prstGeom>
          <a:ln w="9525">
            <a:solidFill>
              <a:srgbClr val="D5DCD1"/>
            </a:solidFill>
          </a:ln>
        </p:spPr>
      </p:cxnSp>
      <p:sp>
        <p:nvSpPr>
          <p:cNvPr id="21" name="TextBox 20"/>
          <p:cNvSpPr txBox="1"/>
          <p:nvPr/>
        </p:nvSpPr>
        <p:spPr>
          <a:xfrm>
            <a:off x="566928" y="4818888"/>
            <a:ext cx="2267712" cy="603504"/>
          </a:xfrm>
          <a:prstGeom prst="rect">
            <a:avLst/>
          </a:prstGeom>
          <a:noFill/>
        </p:spPr>
        <p:txBody>
          <a:bodyPr wrap="square" lIns="0" rIns="0" tIns="0" bIns="0" anchor="ctr">
            <a:noAutofit/>
          </a:bodyPr>
          <a:lstStyle/>
          <a:p>
            <a:pPr algn="l">
              <a:lnSpc>
                <a:spcPct val="110000"/>
              </a:lnSpc>
            </a:pPr>
            <a:r>
              <a:rPr sz="1300" b="1" i="0">
                <a:solidFill>
                  <a:srgbClr val="0C1408"/>
                </a:solidFill>
                <a:latin typeface="Arial"/>
              </a:rPr>
              <a:t>Reputation</a:t>
            </a:r>
          </a:p>
        </p:txBody>
      </p:sp>
      <p:sp>
        <p:nvSpPr>
          <p:cNvPr id="22" name="TextBox 21"/>
          <p:cNvSpPr txBox="1"/>
          <p:nvPr/>
        </p:nvSpPr>
        <p:spPr>
          <a:xfrm>
            <a:off x="3017520" y="4818888"/>
            <a:ext cx="8570671" cy="603504"/>
          </a:xfrm>
          <a:prstGeom prst="rect">
            <a:avLst/>
          </a:prstGeom>
          <a:noFill/>
        </p:spPr>
        <p:txBody>
          <a:bodyPr wrap="square" lIns="0" rIns="0" tIns="0" bIns="0" anchor="ctr">
            <a:noAutofit/>
          </a:bodyPr>
          <a:lstStyle/>
          <a:p>
            <a:pPr algn="l">
              <a:lnSpc>
                <a:spcPct val="110000"/>
              </a:lnSpc>
            </a:pPr>
            <a:r>
              <a:rPr sz="1300" b="0" i="0">
                <a:solidFill>
                  <a:srgbClr val="0C1408"/>
                </a:solidFill>
                <a:latin typeface="Arial"/>
              </a:rPr>
              <a:t>New members start in the last turns; published rules for every circle; Hyper labelled experimental; no public list of defaulters.</a:t>
            </a:r>
          </a:p>
        </p:txBody>
      </p:sp>
      <p:cxnSp>
        <p:nvCxnSpPr>
          <p:cNvPr id="23" name="Connector 22"/>
          <p:cNvCxnSpPr/>
          <p:nvPr/>
        </p:nvCxnSpPr>
        <p:spPr>
          <a:xfrm>
            <a:off x="566928" y="5422392"/>
            <a:ext cx="11057839" cy="0"/>
          </a:xfrm>
          <a:prstGeom prst="line">
            <a:avLst/>
          </a:prstGeom>
          <a:ln w="9525">
            <a:solidFill>
              <a:srgbClr val="D5DCD1"/>
            </a:solidFill>
          </a:ln>
        </p:spPr>
      </p:cxn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9509760" cy="566928"/>
          </a:xfrm>
          <a:prstGeom prst="rect">
            <a:avLst/>
          </a:prstGeom>
          <a:noFill/>
        </p:spPr>
        <p:txBody>
          <a:bodyPr wrap="square" lIns="0" rIns="0" tIns="0" bIns="0" anchor="t">
            <a:noAutofit/>
          </a:bodyPr>
          <a:lstStyle/>
          <a:p>
            <a:pPr algn="l">
              <a:lnSpc>
                <a:spcPct val="110000"/>
              </a:lnSpc>
            </a:pPr>
            <a:r>
              <a:rPr sz="2800" b="0" i="0">
                <a:solidFill>
                  <a:srgbClr val="41801A"/>
                </a:solidFill>
                <a:latin typeface="Georgia"/>
              </a:rPr>
              <a:t>Integration</a:t>
            </a:r>
          </a:p>
        </p:txBody>
      </p:sp>
      <p:sp>
        <p:nvSpPr>
          <p:cNvPr id="3" name="TextBox 2"/>
          <p:cNvSpPr txBox="1"/>
          <p:nvPr/>
        </p:nvSpPr>
        <p:spPr>
          <a:xfrm>
            <a:off x="566928" y="987552"/>
            <a:ext cx="11057839" cy="411480"/>
          </a:xfrm>
          <a:prstGeom prst="rect">
            <a:avLst/>
          </a:prstGeom>
          <a:noFill/>
        </p:spPr>
        <p:txBody>
          <a:bodyPr wrap="square" lIns="0" rIns="0" tIns="0" bIns="0" anchor="t">
            <a:noAutofit/>
          </a:bodyPr>
          <a:lstStyle/>
          <a:p>
            <a:pPr algn="l">
              <a:lnSpc>
                <a:spcPct val="110000"/>
              </a:lnSpc>
            </a:pPr>
            <a:r>
              <a:rPr sz="1800" b="0" i="0">
                <a:solidFill>
                  <a:srgbClr val="0C1408"/>
                </a:solidFill>
                <a:latin typeface="Arial"/>
              </a:rPr>
              <a:t>Halqa sends instructions. Mashreq moves the money and confirms every step.</a:t>
            </a:r>
          </a:p>
        </p:txBody>
      </p:sp>
      <p:pic>
        <p:nvPicPr>
          <p:cNvPr id="4" name="Picture 3" descr="halqa_logo.png"/>
          <p:cNvPicPr>
            <a:picLocks noChangeAspect="1"/>
          </p:cNvPicPr>
          <p:nvPr/>
        </p:nvPicPr>
        <p:blipFill>
          <a:blip r:embed="rId3"/>
          <a:stretch>
            <a:fillRect/>
          </a:stretch>
        </p:blipFill>
        <p:spPr>
          <a:xfrm>
            <a:off x="10600639" y="457200"/>
            <a:ext cx="1023202" cy="310896"/>
          </a:xfrm>
          <a:prstGeom prst="rect">
            <a:avLst/>
          </a:prstGeom>
        </p:spPr>
      </p:pic>
      <p:sp>
        <p:nvSpPr>
          <p:cNvPr id="5" name="TextBox 4"/>
          <p:cNvSpPr txBox="1"/>
          <p:nvPr/>
        </p:nvSpPr>
        <p:spPr>
          <a:xfrm>
            <a:off x="566928" y="6309360"/>
            <a:ext cx="10149840" cy="365760"/>
          </a:xfrm>
          <a:prstGeom prst="rect">
            <a:avLst/>
          </a:prstGeom>
          <a:noFill/>
        </p:spPr>
        <p:txBody>
          <a:bodyPr wrap="square" lIns="0" rIns="0" tIns="0" bIns="0" anchor="t">
            <a:noAutofit/>
          </a:bodyPr>
          <a:lstStyle/>
          <a:p>
            <a:pPr algn="l">
              <a:lnSpc>
                <a:spcPct val="100000"/>
              </a:lnSpc>
            </a:pPr>
            <a:r>
              <a:rPr sz="900" b="0" i="0">
                <a:solidFill>
                  <a:srgbClr val="5B6456"/>
                </a:solidFill>
                <a:latin typeface="Arial"/>
              </a:rPr>
              <a:t>Interfaces proposed, not agreed. Governed by the State Bank's outsourcing framework.</a:t>
            </a:r>
          </a:p>
        </p:txBody>
      </p:sp>
      <p:sp>
        <p:nvSpPr>
          <p:cNvPr id="6" name="TextBox 5"/>
          <p:cNvSpPr txBox="1"/>
          <p:nvPr/>
        </p:nvSpPr>
        <p:spPr>
          <a:xfrm>
            <a:off x="11076127" y="6355080"/>
            <a:ext cx="548640" cy="228600"/>
          </a:xfrm>
          <a:prstGeom prst="rect">
            <a:avLst/>
          </a:prstGeom>
          <a:noFill/>
        </p:spPr>
        <p:txBody>
          <a:bodyPr wrap="square" lIns="0" rIns="0" tIns="0" bIns="0" anchor="t">
            <a:noAutofit/>
          </a:bodyPr>
          <a:lstStyle/>
          <a:p>
            <a:pPr algn="r">
              <a:lnSpc>
                <a:spcPct val="110000"/>
              </a:lnSpc>
            </a:pPr>
            <a:r>
              <a:rPr sz="1000" b="0" i="0">
                <a:solidFill>
                  <a:srgbClr val="5B6456"/>
                </a:solidFill>
                <a:latin typeface="Arial"/>
              </a:rPr>
              <a:t>25</a:t>
            </a:r>
          </a:p>
        </p:txBody>
      </p:sp>
      <p:sp>
        <p:nvSpPr>
          <p:cNvPr id="7" name="Rectangle 6"/>
          <p:cNvSpPr/>
          <p:nvPr/>
        </p:nvSpPr>
        <p:spPr>
          <a:xfrm>
            <a:off x="566928" y="1783080"/>
            <a:ext cx="1645920" cy="411480"/>
          </a:xfrm>
          <a:prstGeom prst="rect">
            <a:avLst/>
          </a:prstGeom>
          <a:noFill/>
          <a:ln w="15875">
            <a:solidFill>
              <a:srgbClr val="0C1408"/>
            </a:solidFill>
          </a:ln>
        </p:spPr>
        <p:txBody>
          <a:bodyPr rtlCol="0" anchor="ctr" lIns="0" rIns="0"/>
          <a:lstStyle/>
          <a:p>
            <a:pPr algn="ctr"/>
          </a:p>
        </p:txBody>
      </p:sp>
      <p:sp>
        <p:nvSpPr>
          <p:cNvPr id="8" name="TextBox 7"/>
          <p:cNvSpPr txBox="1"/>
          <p:nvPr/>
        </p:nvSpPr>
        <p:spPr>
          <a:xfrm>
            <a:off x="566928" y="1783080"/>
            <a:ext cx="1645920" cy="411480"/>
          </a:xfrm>
          <a:prstGeom prst="rect">
            <a:avLst/>
          </a:prstGeom>
          <a:noFill/>
        </p:spPr>
        <p:txBody>
          <a:bodyPr wrap="square" lIns="0" rIns="0" tIns="0" bIns="0" anchor="ctr">
            <a:noAutofit/>
          </a:bodyPr>
          <a:lstStyle/>
          <a:p>
            <a:pPr algn="ctr">
              <a:lnSpc>
                <a:spcPct val="110000"/>
              </a:lnSpc>
            </a:pPr>
            <a:r>
              <a:rPr sz="1200" b="1" i="0">
                <a:solidFill>
                  <a:srgbClr val="0C1408"/>
                </a:solidFill>
                <a:latin typeface="Arial"/>
              </a:rPr>
              <a:t>Member</a:t>
            </a:r>
          </a:p>
        </p:txBody>
      </p:sp>
      <p:cxnSp>
        <p:nvCxnSpPr>
          <p:cNvPr id="9" name="Connector 8"/>
          <p:cNvCxnSpPr/>
          <p:nvPr/>
        </p:nvCxnSpPr>
        <p:spPr>
          <a:xfrm>
            <a:off x="1389888" y="2194560"/>
            <a:ext cx="0" cy="3703320"/>
          </a:xfrm>
          <a:prstGeom prst="line">
            <a:avLst/>
          </a:prstGeom>
          <a:ln w="12700">
            <a:solidFill>
              <a:srgbClr val="D5DCD1"/>
            </a:solidFill>
            <a:prstDash val="dash"/>
          </a:ln>
        </p:spPr>
      </p:cxnSp>
      <p:sp>
        <p:nvSpPr>
          <p:cNvPr id="10" name="Rectangle 9"/>
          <p:cNvSpPr/>
          <p:nvPr/>
        </p:nvSpPr>
        <p:spPr>
          <a:xfrm>
            <a:off x="3172968" y="1783080"/>
            <a:ext cx="1645920" cy="411480"/>
          </a:xfrm>
          <a:prstGeom prst="rect">
            <a:avLst/>
          </a:prstGeom>
          <a:solidFill>
            <a:srgbClr val="F3FCE7"/>
          </a:solidFill>
          <a:ln w="15875">
            <a:solidFill>
              <a:srgbClr val="41801A"/>
            </a:solidFill>
          </a:ln>
        </p:spPr>
        <p:txBody>
          <a:bodyPr rtlCol="0" anchor="ctr" lIns="0" rIns="0"/>
          <a:lstStyle/>
          <a:p>
            <a:pPr algn="ctr"/>
          </a:p>
        </p:txBody>
      </p:sp>
      <p:sp>
        <p:nvSpPr>
          <p:cNvPr id="11" name="TextBox 10"/>
          <p:cNvSpPr txBox="1"/>
          <p:nvPr/>
        </p:nvSpPr>
        <p:spPr>
          <a:xfrm>
            <a:off x="3172968" y="1783080"/>
            <a:ext cx="1645920" cy="411480"/>
          </a:xfrm>
          <a:prstGeom prst="rect">
            <a:avLst/>
          </a:prstGeom>
          <a:noFill/>
        </p:spPr>
        <p:txBody>
          <a:bodyPr wrap="square" lIns="0" rIns="0" tIns="0" bIns="0" anchor="ctr">
            <a:noAutofit/>
          </a:bodyPr>
          <a:lstStyle/>
          <a:p>
            <a:pPr algn="ctr">
              <a:lnSpc>
                <a:spcPct val="110000"/>
              </a:lnSpc>
            </a:pPr>
            <a:r>
              <a:rPr sz="1200" b="1" i="0">
                <a:solidFill>
                  <a:srgbClr val="41801A"/>
                </a:solidFill>
                <a:latin typeface="Arial"/>
              </a:rPr>
              <a:t>Halqa platform</a:t>
            </a:r>
          </a:p>
        </p:txBody>
      </p:sp>
      <p:cxnSp>
        <p:nvCxnSpPr>
          <p:cNvPr id="12" name="Connector 11"/>
          <p:cNvCxnSpPr/>
          <p:nvPr/>
        </p:nvCxnSpPr>
        <p:spPr>
          <a:xfrm>
            <a:off x="3995928" y="2194560"/>
            <a:ext cx="0" cy="3703320"/>
          </a:xfrm>
          <a:prstGeom prst="line">
            <a:avLst/>
          </a:prstGeom>
          <a:ln w="12700">
            <a:solidFill>
              <a:srgbClr val="D5DCD1"/>
            </a:solidFill>
            <a:prstDash val="dash"/>
          </a:ln>
        </p:spPr>
      </p:cxnSp>
      <p:sp>
        <p:nvSpPr>
          <p:cNvPr id="13" name="Rectangle 12"/>
          <p:cNvSpPr/>
          <p:nvPr/>
        </p:nvSpPr>
        <p:spPr>
          <a:xfrm>
            <a:off x="5779007" y="1783080"/>
            <a:ext cx="1645920" cy="411480"/>
          </a:xfrm>
          <a:prstGeom prst="rect">
            <a:avLst/>
          </a:prstGeom>
          <a:noFill/>
          <a:ln w="15875">
            <a:solidFill>
              <a:srgbClr val="E0602A"/>
            </a:solidFill>
          </a:ln>
        </p:spPr>
        <p:txBody>
          <a:bodyPr rtlCol="0" anchor="ctr" lIns="0" rIns="0"/>
          <a:lstStyle/>
          <a:p>
            <a:pPr algn="ctr"/>
          </a:p>
        </p:txBody>
      </p:sp>
      <p:sp>
        <p:nvSpPr>
          <p:cNvPr id="14" name="TextBox 13"/>
          <p:cNvSpPr txBox="1"/>
          <p:nvPr/>
        </p:nvSpPr>
        <p:spPr>
          <a:xfrm>
            <a:off x="5779007" y="1783080"/>
            <a:ext cx="1645920" cy="411480"/>
          </a:xfrm>
          <a:prstGeom prst="rect">
            <a:avLst/>
          </a:prstGeom>
          <a:noFill/>
        </p:spPr>
        <p:txBody>
          <a:bodyPr wrap="square" lIns="0" rIns="0" tIns="0" bIns="0" anchor="ctr">
            <a:noAutofit/>
          </a:bodyPr>
          <a:lstStyle/>
          <a:p>
            <a:pPr algn="ctr">
              <a:lnSpc>
                <a:spcPct val="110000"/>
              </a:lnSpc>
            </a:pPr>
            <a:r>
              <a:rPr sz="1200" b="1" i="0">
                <a:solidFill>
                  <a:srgbClr val="E0602A"/>
                </a:solidFill>
                <a:latin typeface="Arial"/>
              </a:rPr>
              <a:t>Mashreq systems</a:t>
            </a:r>
          </a:p>
        </p:txBody>
      </p:sp>
      <p:cxnSp>
        <p:nvCxnSpPr>
          <p:cNvPr id="15" name="Connector 14"/>
          <p:cNvCxnSpPr/>
          <p:nvPr/>
        </p:nvCxnSpPr>
        <p:spPr>
          <a:xfrm>
            <a:off x="6601968" y="2194560"/>
            <a:ext cx="0" cy="3703320"/>
          </a:xfrm>
          <a:prstGeom prst="line">
            <a:avLst/>
          </a:prstGeom>
          <a:ln w="12700">
            <a:solidFill>
              <a:srgbClr val="D5DCD1"/>
            </a:solidFill>
            <a:prstDash val="dash"/>
          </a:ln>
        </p:spPr>
      </p:cxnSp>
      <p:cxnSp>
        <p:nvCxnSpPr>
          <p:cNvPr id="16" name="Connector 15"/>
          <p:cNvCxnSpPr/>
          <p:nvPr/>
        </p:nvCxnSpPr>
        <p:spPr>
          <a:xfrm>
            <a:off x="1389888" y="2697480"/>
            <a:ext cx="5212080" cy="0"/>
          </a:xfrm>
          <a:prstGeom prst="line">
            <a:avLst/>
          </a:prstGeom>
          <a:ln w="12700">
            <a:solidFill>
              <a:srgbClr val="0C1408"/>
            </a:solidFill>
            <a:tailEnd type="triangle" w="med" len="med"/>
          </a:ln>
        </p:spPr>
      </p:cxnSp>
      <p:sp>
        <p:nvSpPr>
          <p:cNvPr id="17" name="TextBox 16"/>
          <p:cNvSpPr txBox="1"/>
          <p:nvPr/>
        </p:nvSpPr>
        <p:spPr>
          <a:xfrm>
            <a:off x="1463040" y="2450592"/>
            <a:ext cx="5065775" cy="228600"/>
          </a:xfrm>
          <a:prstGeom prst="rect">
            <a:avLst/>
          </a:prstGeom>
          <a:noFill/>
        </p:spPr>
        <p:txBody>
          <a:bodyPr wrap="square" lIns="0" rIns="0" tIns="0" bIns="0" anchor="t">
            <a:noAutofit/>
          </a:bodyPr>
          <a:lstStyle/>
          <a:p>
            <a:pPr algn="ctr">
              <a:lnSpc>
                <a:spcPct val="110000"/>
              </a:lnSpc>
            </a:pPr>
            <a:r>
              <a:rPr sz="1050" b="0" i="0">
                <a:solidFill>
                  <a:srgbClr val="0C1408"/>
                </a:solidFill>
                <a:latin typeface="Arial"/>
              </a:rPr>
              <a:t>1  opens an account in the application</a:t>
            </a:r>
          </a:p>
        </p:txBody>
      </p:sp>
      <p:cxnSp>
        <p:nvCxnSpPr>
          <p:cNvPr id="18" name="Connector 17"/>
          <p:cNvCxnSpPr/>
          <p:nvPr/>
        </p:nvCxnSpPr>
        <p:spPr>
          <a:xfrm flipH="1">
            <a:off x="3995928" y="3154680"/>
            <a:ext cx="2606040" cy="0"/>
          </a:xfrm>
          <a:prstGeom prst="line">
            <a:avLst/>
          </a:prstGeom>
          <a:ln w="12700">
            <a:solidFill>
              <a:srgbClr val="0C1408"/>
            </a:solidFill>
            <a:tailEnd type="triangle" w="med" len="med"/>
          </a:ln>
        </p:spPr>
      </p:cxnSp>
      <p:sp>
        <p:nvSpPr>
          <p:cNvPr id="19" name="TextBox 18"/>
          <p:cNvSpPr txBox="1"/>
          <p:nvPr/>
        </p:nvSpPr>
        <p:spPr>
          <a:xfrm>
            <a:off x="4069080" y="2907792"/>
            <a:ext cx="2459735" cy="228600"/>
          </a:xfrm>
          <a:prstGeom prst="rect">
            <a:avLst/>
          </a:prstGeom>
          <a:noFill/>
        </p:spPr>
        <p:txBody>
          <a:bodyPr wrap="square" lIns="0" rIns="0" tIns="0" bIns="0" anchor="t">
            <a:noAutofit/>
          </a:bodyPr>
          <a:lstStyle/>
          <a:p>
            <a:pPr algn="ctr">
              <a:lnSpc>
                <a:spcPct val="110000"/>
              </a:lnSpc>
            </a:pPr>
            <a:r>
              <a:rPr sz="1050" b="0" i="0">
                <a:solidFill>
                  <a:srgbClr val="0C1408"/>
                </a:solidFill>
                <a:latin typeface="Arial"/>
              </a:rPr>
              <a:t>2  account and mandate references</a:t>
            </a:r>
          </a:p>
        </p:txBody>
      </p:sp>
      <p:cxnSp>
        <p:nvCxnSpPr>
          <p:cNvPr id="20" name="Connector 19"/>
          <p:cNvCxnSpPr/>
          <p:nvPr/>
        </p:nvCxnSpPr>
        <p:spPr>
          <a:xfrm>
            <a:off x="3995928" y="3611880"/>
            <a:ext cx="2606040" cy="0"/>
          </a:xfrm>
          <a:prstGeom prst="line">
            <a:avLst/>
          </a:prstGeom>
          <a:ln w="12700">
            <a:solidFill>
              <a:srgbClr val="0C1408"/>
            </a:solidFill>
            <a:tailEnd type="triangle" w="med" len="med"/>
          </a:ln>
        </p:spPr>
      </p:cxnSp>
      <p:sp>
        <p:nvSpPr>
          <p:cNvPr id="21" name="TextBox 20"/>
          <p:cNvSpPr txBox="1"/>
          <p:nvPr/>
        </p:nvSpPr>
        <p:spPr>
          <a:xfrm>
            <a:off x="4069080" y="3364992"/>
            <a:ext cx="2459735" cy="228600"/>
          </a:xfrm>
          <a:prstGeom prst="rect">
            <a:avLst/>
          </a:prstGeom>
          <a:noFill/>
        </p:spPr>
        <p:txBody>
          <a:bodyPr wrap="square" lIns="0" rIns="0" tIns="0" bIns="0" anchor="t">
            <a:noAutofit/>
          </a:bodyPr>
          <a:lstStyle/>
          <a:p>
            <a:pPr algn="ctr">
              <a:lnSpc>
                <a:spcPct val="110000"/>
              </a:lnSpc>
            </a:pPr>
            <a:r>
              <a:rPr sz="1050" b="0" i="0">
                <a:solidFill>
                  <a:srgbClr val="0C1408"/>
                </a:solidFill>
                <a:latin typeface="Arial"/>
              </a:rPr>
              <a:t>3  collection file on the due date</a:t>
            </a:r>
          </a:p>
        </p:txBody>
      </p:sp>
      <p:cxnSp>
        <p:nvCxnSpPr>
          <p:cNvPr id="22" name="Connector 21"/>
          <p:cNvCxnSpPr/>
          <p:nvPr/>
        </p:nvCxnSpPr>
        <p:spPr>
          <a:xfrm flipH="1">
            <a:off x="3995928" y="4069080"/>
            <a:ext cx="2606040" cy="0"/>
          </a:xfrm>
          <a:prstGeom prst="line">
            <a:avLst/>
          </a:prstGeom>
          <a:ln w="12700">
            <a:solidFill>
              <a:srgbClr val="0C1408"/>
            </a:solidFill>
            <a:tailEnd type="triangle" w="med" len="med"/>
          </a:ln>
        </p:spPr>
      </p:cxnSp>
      <p:sp>
        <p:nvSpPr>
          <p:cNvPr id="23" name="TextBox 22"/>
          <p:cNvSpPr txBox="1"/>
          <p:nvPr/>
        </p:nvSpPr>
        <p:spPr>
          <a:xfrm>
            <a:off x="4069080" y="3822191"/>
            <a:ext cx="2459735" cy="228600"/>
          </a:xfrm>
          <a:prstGeom prst="rect">
            <a:avLst/>
          </a:prstGeom>
          <a:noFill/>
        </p:spPr>
        <p:txBody>
          <a:bodyPr wrap="square" lIns="0" rIns="0" tIns="0" bIns="0" anchor="t">
            <a:noAutofit/>
          </a:bodyPr>
          <a:lstStyle/>
          <a:p>
            <a:pPr algn="ctr">
              <a:lnSpc>
                <a:spcPct val="110000"/>
              </a:lnSpc>
            </a:pPr>
            <a:r>
              <a:rPr sz="1050" b="0" i="0">
                <a:solidFill>
                  <a:srgbClr val="0C1408"/>
                </a:solidFill>
                <a:latin typeface="Arial"/>
              </a:rPr>
              <a:t>4  signed confirmation of each debit</a:t>
            </a:r>
          </a:p>
        </p:txBody>
      </p:sp>
      <p:cxnSp>
        <p:nvCxnSpPr>
          <p:cNvPr id="24" name="Connector 23"/>
          <p:cNvCxnSpPr/>
          <p:nvPr/>
        </p:nvCxnSpPr>
        <p:spPr>
          <a:xfrm flipH="1">
            <a:off x="1389888" y="4526280"/>
            <a:ext cx="2606040" cy="0"/>
          </a:xfrm>
          <a:prstGeom prst="line">
            <a:avLst/>
          </a:prstGeom>
          <a:ln w="12700">
            <a:solidFill>
              <a:srgbClr val="0C1408"/>
            </a:solidFill>
            <a:tailEnd type="triangle" w="med" len="med"/>
          </a:ln>
        </p:spPr>
      </p:cxnSp>
      <p:sp>
        <p:nvSpPr>
          <p:cNvPr id="25" name="TextBox 24"/>
          <p:cNvSpPr txBox="1"/>
          <p:nvPr/>
        </p:nvSpPr>
        <p:spPr>
          <a:xfrm>
            <a:off x="1463040" y="4279392"/>
            <a:ext cx="2459736" cy="228600"/>
          </a:xfrm>
          <a:prstGeom prst="rect">
            <a:avLst/>
          </a:prstGeom>
          <a:noFill/>
        </p:spPr>
        <p:txBody>
          <a:bodyPr wrap="square" lIns="0" rIns="0" tIns="0" bIns="0" anchor="t">
            <a:noAutofit/>
          </a:bodyPr>
          <a:lstStyle/>
          <a:p>
            <a:pPr algn="ctr">
              <a:lnSpc>
                <a:spcPct val="110000"/>
              </a:lnSpc>
            </a:pPr>
            <a:r>
              <a:rPr sz="1050" b="0" i="0">
                <a:solidFill>
                  <a:srgbClr val="0C1408"/>
                </a:solidFill>
                <a:latin typeface="Arial"/>
              </a:rPr>
              <a:t>5  receipt; ledger and schedule updated</a:t>
            </a:r>
          </a:p>
        </p:txBody>
      </p:sp>
      <p:cxnSp>
        <p:nvCxnSpPr>
          <p:cNvPr id="26" name="Connector 25"/>
          <p:cNvCxnSpPr/>
          <p:nvPr/>
        </p:nvCxnSpPr>
        <p:spPr>
          <a:xfrm>
            <a:off x="3995928" y="4983480"/>
            <a:ext cx="2606040" cy="0"/>
          </a:xfrm>
          <a:prstGeom prst="line">
            <a:avLst/>
          </a:prstGeom>
          <a:ln w="12700">
            <a:solidFill>
              <a:srgbClr val="0C1408"/>
            </a:solidFill>
            <a:tailEnd type="triangle" w="med" len="med"/>
          </a:ln>
        </p:spPr>
      </p:cxnSp>
      <p:sp>
        <p:nvSpPr>
          <p:cNvPr id="27" name="TextBox 26"/>
          <p:cNvSpPr txBox="1"/>
          <p:nvPr/>
        </p:nvSpPr>
        <p:spPr>
          <a:xfrm>
            <a:off x="4069080" y="4736592"/>
            <a:ext cx="2459735" cy="228600"/>
          </a:xfrm>
          <a:prstGeom prst="rect">
            <a:avLst/>
          </a:prstGeom>
          <a:noFill/>
        </p:spPr>
        <p:txBody>
          <a:bodyPr wrap="square" lIns="0" rIns="0" tIns="0" bIns="0" anchor="t">
            <a:noAutofit/>
          </a:bodyPr>
          <a:lstStyle/>
          <a:p>
            <a:pPr algn="ctr">
              <a:lnSpc>
                <a:spcPct val="110000"/>
              </a:lnSpc>
            </a:pPr>
            <a:r>
              <a:rPr sz="1050" b="0" i="0">
                <a:solidFill>
                  <a:srgbClr val="0C1408"/>
                </a:solidFill>
                <a:latin typeface="Arial"/>
              </a:rPr>
              <a:t>6  payout instruction: the pot, less arrears</a:t>
            </a:r>
          </a:p>
        </p:txBody>
      </p:sp>
      <p:cxnSp>
        <p:nvCxnSpPr>
          <p:cNvPr id="28" name="Connector 27"/>
          <p:cNvCxnSpPr/>
          <p:nvPr/>
        </p:nvCxnSpPr>
        <p:spPr>
          <a:xfrm flipH="1">
            <a:off x="3995928" y="5440680"/>
            <a:ext cx="2606040" cy="0"/>
          </a:xfrm>
          <a:prstGeom prst="line">
            <a:avLst/>
          </a:prstGeom>
          <a:ln w="12700">
            <a:solidFill>
              <a:srgbClr val="0C1408"/>
            </a:solidFill>
            <a:tailEnd type="triangle" w="med" len="med"/>
          </a:ln>
        </p:spPr>
      </p:cxnSp>
      <p:sp>
        <p:nvSpPr>
          <p:cNvPr id="29" name="TextBox 28"/>
          <p:cNvSpPr txBox="1"/>
          <p:nvPr/>
        </p:nvSpPr>
        <p:spPr>
          <a:xfrm>
            <a:off x="4069080" y="5193792"/>
            <a:ext cx="2459735" cy="228600"/>
          </a:xfrm>
          <a:prstGeom prst="rect">
            <a:avLst/>
          </a:prstGeom>
          <a:noFill/>
        </p:spPr>
        <p:txBody>
          <a:bodyPr wrap="square" lIns="0" rIns="0" tIns="0" bIns="0" anchor="t">
            <a:noAutofit/>
          </a:bodyPr>
          <a:lstStyle/>
          <a:p>
            <a:pPr algn="ctr">
              <a:lnSpc>
                <a:spcPct val="110000"/>
              </a:lnSpc>
            </a:pPr>
            <a:r>
              <a:rPr sz="1050" b="0" i="0">
                <a:solidFill>
                  <a:srgbClr val="0C1408"/>
                </a:solidFill>
                <a:latin typeface="Arial"/>
              </a:rPr>
              <a:t>7  statement each morning to reconcile</a:t>
            </a:r>
          </a:p>
        </p:txBody>
      </p:sp>
      <p:cxnSp>
        <p:nvCxnSpPr>
          <p:cNvPr id="30" name="Connector 29"/>
          <p:cNvCxnSpPr/>
          <p:nvPr/>
        </p:nvCxnSpPr>
        <p:spPr>
          <a:xfrm>
            <a:off x="7772400" y="1810512"/>
            <a:ext cx="3840480" cy="0"/>
          </a:xfrm>
          <a:prstGeom prst="line">
            <a:avLst/>
          </a:prstGeom>
          <a:ln w="9525">
            <a:solidFill>
              <a:srgbClr val="D5DCD1"/>
            </a:solidFill>
          </a:ln>
        </p:spPr>
      </p:cxnSp>
      <p:sp>
        <p:nvSpPr>
          <p:cNvPr id="31" name="TextBox 30"/>
          <p:cNvSpPr txBox="1"/>
          <p:nvPr/>
        </p:nvSpPr>
        <p:spPr>
          <a:xfrm>
            <a:off x="7772400" y="1883664"/>
            <a:ext cx="3840480" cy="685800"/>
          </a:xfrm>
          <a:prstGeom prst="rect">
            <a:avLst/>
          </a:prstGeom>
          <a:noFill/>
        </p:spPr>
        <p:txBody>
          <a:bodyPr wrap="square" lIns="0" rIns="0" tIns="0" bIns="0" anchor="t">
            <a:noAutofit/>
          </a:bodyPr>
          <a:lstStyle/>
          <a:p>
            <a:pPr algn="l">
              <a:lnSpc>
                <a:spcPct val="105000"/>
              </a:lnSpc>
            </a:pPr>
            <a:r>
              <a:rPr sz="1200" b="1" i="0">
                <a:solidFill>
                  <a:srgbClr val="0C1408"/>
                </a:solidFill>
                <a:latin typeface="Arial"/>
              </a:rPr>
              <a:t>Messages.</a:t>
            </a:r>
            <a:r>
              <a:rPr sz="1200" b="0" i="0">
                <a:solidFill>
                  <a:srgbClr val="0C1408"/>
                </a:solidFill>
                <a:latin typeface="Arial"/>
              </a:rPr>
              <a:t> Signed and encrypted, with audit logs on both sides.</a:t>
            </a:r>
          </a:p>
        </p:txBody>
      </p:sp>
      <p:cxnSp>
        <p:nvCxnSpPr>
          <p:cNvPr id="32" name="Connector 31"/>
          <p:cNvCxnSpPr/>
          <p:nvPr/>
        </p:nvCxnSpPr>
        <p:spPr>
          <a:xfrm>
            <a:off x="7772400" y="2505456"/>
            <a:ext cx="3840480" cy="0"/>
          </a:xfrm>
          <a:prstGeom prst="line">
            <a:avLst/>
          </a:prstGeom>
          <a:ln w="9525">
            <a:solidFill>
              <a:srgbClr val="D5DCD1"/>
            </a:solidFill>
          </a:ln>
        </p:spPr>
      </p:cxnSp>
      <p:sp>
        <p:nvSpPr>
          <p:cNvPr id="33" name="TextBox 32"/>
          <p:cNvSpPr txBox="1"/>
          <p:nvPr/>
        </p:nvSpPr>
        <p:spPr>
          <a:xfrm>
            <a:off x="7772400" y="2578608"/>
            <a:ext cx="3840480" cy="685800"/>
          </a:xfrm>
          <a:prstGeom prst="rect">
            <a:avLst/>
          </a:prstGeom>
          <a:noFill/>
        </p:spPr>
        <p:txBody>
          <a:bodyPr wrap="square" lIns="0" rIns="0" tIns="0" bIns="0" anchor="t">
            <a:noAutofit/>
          </a:bodyPr>
          <a:lstStyle/>
          <a:p>
            <a:pPr algn="l">
              <a:lnSpc>
                <a:spcPct val="105000"/>
              </a:lnSpc>
            </a:pPr>
            <a:r>
              <a:rPr sz="1200" b="1" i="0">
                <a:solidFill>
                  <a:srgbClr val="0C1408"/>
                </a:solidFill>
                <a:latin typeface="Arial"/>
              </a:rPr>
              <a:t>Credentials.</a:t>
            </a:r>
            <a:r>
              <a:rPr sz="1200" b="0" i="0">
                <a:solidFill>
                  <a:srgbClr val="0C1408"/>
                </a:solidFill>
                <a:latin typeface="Arial"/>
              </a:rPr>
              <a:t> Halqa stores no card number, password, banking credential or face image.</a:t>
            </a:r>
          </a:p>
        </p:txBody>
      </p:sp>
      <p:cxnSp>
        <p:nvCxnSpPr>
          <p:cNvPr id="34" name="Connector 33"/>
          <p:cNvCxnSpPr/>
          <p:nvPr/>
        </p:nvCxnSpPr>
        <p:spPr>
          <a:xfrm>
            <a:off x="7772400" y="3200400"/>
            <a:ext cx="3840480" cy="0"/>
          </a:xfrm>
          <a:prstGeom prst="line">
            <a:avLst/>
          </a:prstGeom>
          <a:ln w="9525">
            <a:solidFill>
              <a:srgbClr val="D5DCD1"/>
            </a:solidFill>
          </a:ln>
        </p:spPr>
      </p:cxnSp>
      <p:sp>
        <p:nvSpPr>
          <p:cNvPr id="35" name="TextBox 34"/>
          <p:cNvSpPr txBox="1"/>
          <p:nvPr/>
        </p:nvSpPr>
        <p:spPr>
          <a:xfrm>
            <a:off x="7772400" y="3273552"/>
            <a:ext cx="3840480" cy="685800"/>
          </a:xfrm>
          <a:prstGeom prst="rect">
            <a:avLst/>
          </a:prstGeom>
          <a:noFill/>
        </p:spPr>
        <p:txBody>
          <a:bodyPr wrap="square" lIns="0" rIns="0" tIns="0" bIns="0" anchor="t">
            <a:noAutofit/>
          </a:bodyPr>
          <a:lstStyle/>
          <a:p>
            <a:pPr algn="l">
              <a:lnSpc>
                <a:spcPct val="105000"/>
              </a:lnSpc>
            </a:pPr>
            <a:r>
              <a:rPr sz="1200" b="1" i="0">
                <a:solidFill>
                  <a:srgbClr val="0C1408"/>
                </a:solidFill>
                <a:latin typeface="Arial"/>
              </a:rPr>
              <a:t>Access.</a:t>
            </a:r>
            <a:r>
              <a:rPr sz="1200" b="0" i="0">
                <a:solidFill>
                  <a:srgbClr val="0C1408"/>
                </a:solidFill>
                <a:latin typeface="Arial"/>
              </a:rPr>
              <a:t> Least privilege for staff and systems; penetration tests every year.</a:t>
            </a:r>
          </a:p>
        </p:txBody>
      </p:sp>
      <p:cxnSp>
        <p:nvCxnSpPr>
          <p:cNvPr id="36" name="Connector 35"/>
          <p:cNvCxnSpPr/>
          <p:nvPr/>
        </p:nvCxnSpPr>
        <p:spPr>
          <a:xfrm>
            <a:off x="7772400" y="3895344"/>
            <a:ext cx="3840480" cy="0"/>
          </a:xfrm>
          <a:prstGeom prst="line">
            <a:avLst/>
          </a:prstGeom>
          <a:ln w="9525">
            <a:solidFill>
              <a:srgbClr val="D5DCD1"/>
            </a:solidFill>
          </a:ln>
        </p:spPr>
      </p:cxnSp>
      <p:sp>
        <p:nvSpPr>
          <p:cNvPr id="37" name="TextBox 36"/>
          <p:cNvSpPr txBox="1"/>
          <p:nvPr/>
        </p:nvSpPr>
        <p:spPr>
          <a:xfrm>
            <a:off x="7772400" y="3968496"/>
            <a:ext cx="3840480" cy="685800"/>
          </a:xfrm>
          <a:prstGeom prst="rect">
            <a:avLst/>
          </a:prstGeom>
          <a:noFill/>
        </p:spPr>
        <p:txBody>
          <a:bodyPr wrap="square" lIns="0" rIns="0" tIns="0" bIns="0" anchor="t">
            <a:noAutofit/>
          </a:bodyPr>
          <a:lstStyle/>
          <a:p>
            <a:pPr algn="l">
              <a:lnSpc>
                <a:spcPct val="105000"/>
              </a:lnSpc>
            </a:pPr>
            <a:r>
              <a:rPr sz="1200" b="1" i="0">
                <a:solidFill>
                  <a:srgbClr val="0C1408"/>
                </a:solidFill>
                <a:latin typeface="Arial"/>
              </a:rPr>
              <a:t>Data.</a:t>
            </a:r>
            <a:r>
              <a:rPr sz="1200" b="0" i="0">
                <a:solidFill>
                  <a:srgbClr val="0C1408"/>
                </a:solidFill>
                <a:latin typeface="Arial"/>
              </a:rPr>
              <a:t> Hosted where Mashreq and the State Bank require; the database moves to Pakistan if asked.</a:t>
            </a:r>
          </a:p>
        </p:txBody>
      </p:sp>
      <p:cxnSp>
        <p:nvCxnSpPr>
          <p:cNvPr id="38" name="Connector 37"/>
          <p:cNvCxnSpPr/>
          <p:nvPr/>
        </p:nvCxnSpPr>
        <p:spPr>
          <a:xfrm>
            <a:off x="7772400" y="4590288"/>
            <a:ext cx="3840480" cy="0"/>
          </a:xfrm>
          <a:prstGeom prst="line">
            <a:avLst/>
          </a:prstGeom>
          <a:ln w="9525">
            <a:solidFill>
              <a:srgbClr val="D5DCD1"/>
            </a:solidFill>
          </a:ln>
        </p:spPr>
      </p:cxnSp>
      <p:sp>
        <p:nvSpPr>
          <p:cNvPr id="39" name="TextBox 38"/>
          <p:cNvSpPr txBox="1"/>
          <p:nvPr/>
        </p:nvSpPr>
        <p:spPr>
          <a:xfrm>
            <a:off x="7772400" y="4663440"/>
            <a:ext cx="3840480" cy="685800"/>
          </a:xfrm>
          <a:prstGeom prst="rect">
            <a:avLst/>
          </a:prstGeom>
          <a:noFill/>
        </p:spPr>
        <p:txBody>
          <a:bodyPr wrap="square" lIns="0" rIns="0" tIns="0" bIns="0" anchor="t">
            <a:noAutofit/>
          </a:bodyPr>
          <a:lstStyle/>
          <a:p>
            <a:pPr algn="l">
              <a:lnSpc>
                <a:spcPct val="105000"/>
              </a:lnSpc>
            </a:pPr>
            <a:r>
              <a:rPr sz="1200" b="1" i="0">
                <a:solidFill>
                  <a:srgbClr val="0C1408"/>
                </a:solidFill>
                <a:latin typeface="Arial"/>
              </a:rPr>
              <a:t>Agreement.</a:t>
            </a:r>
            <a:r>
              <a:rPr sz="1200" b="0" i="0">
                <a:solidFill>
                  <a:srgbClr val="0C1408"/>
                </a:solidFill>
                <a:latin typeface="Arial"/>
              </a:rPr>
              <a:t> Service levels, audit and inspection rights, complaints, continuity and exit.</a:t>
            </a:r>
          </a:p>
        </p:txBody>
      </p:sp>
      <p:cxnSp>
        <p:nvCxnSpPr>
          <p:cNvPr id="40" name="Connector 39"/>
          <p:cNvCxnSpPr/>
          <p:nvPr/>
        </p:nvCxnSpPr>
        <p:spPr>
          <a:xfrm>
            <a:off x="7772400" y="5285231"/>
            <a:ext cx="3840480" cy="0"/>
          </a:xfrm>
          <a:prstGeom prst="line">
            <a:avLst/>
          </a:prstGeom>
          <a:ln w="9525">
            <a:solidFill>
              <a:srgbClr val="D5DCD1"/>
            </a:solidFill>
          </a:ln>
        </p:spPr>
      </p:cxnSp>
      <p:sp>
        <p:nvSpPr>
          <p:cNvPr id="41" name="TextBox 40"/>
          <p:cNvSpPr txBox="1"/>
          <p:nvPr/>
        </p:nvSpPr>
        <p:spPr>
          <a:xfrm>
            <a:off x="7772400" y="5358383"/>
            <a:ext cx="3840480" cy="685800"/>
          </a:xfrm>
          <a:prstGeom prst="rect">
            <a:avLst/>
          </a:prstGeom>
          <a:noFill/>
        </p:spPr>
        <p:txBody>
          <a:bodyPr wrap="square" lIns="0" rIns="0" tIns="0" bIns="0" anchor="t">
            <a:noAutofit/>
          </a:bodyPr>
          <a:lstStyle/>
          <a:p>
            <a:pPr algn="l">
              <a:lnSpc>
                <a:spcPct val="105000"/>
              </a:lnSpc>
            </a:pPr>
            <a:r>
              <a:rPr sz="1200" b="1" i="0">
                <a:solidFill>
                  <a:srgbClr val="0C1408"/>
                </a:solidFill>
                <a:latin typeface="Arial"/>
              </a:rPr>
              <a:t>Back up.</a:t>
            </a:r>
            <a:r>
              <a:rPr sz="1200" b="0" i="0">
                <a:solidFill>
                  <a:srgbClr val="0C1408"/>
                </a:solidFill>
                <a:latin typeface="Arial"/>
              </a:rPr>
              <a:t> Card, wallet or Raast through Safepay, a licensed payment service provider, for money coming from other banks.</a:t>
            </a:r>
          </a:p>
        </p:txBody>
      </p:sp>
      <p:cxnSp>
        <p:nvCxnSpPr>
          <p:cNvPr id="42" name="Connector 41"/>
          <p:cNvCxnSpPr/>
          <p:nvPr/>
        </p:nvCxnSpPr>
        <p:spPr>
          <a:xfrm>
            <a:off x="7772400" y="5980175"/>
            <a:ext cx="3840480" cy="0"/>
          </a:xfrm>
          <a:prstGeom prst="line">
            <a:avLst/>
          </a:prstGeom>
          <a:ln w="9525">
            <a:solidFill>
              <a:srgbClr val="D5DCD1"/>
            </a:solidFill>
          </a:ln>
        </p:spPr>
      </p:cxn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9509760" cy="566928"/>
          </a:xfrm>
          <a:prstGeom prst="rect">
            <a:avLst/>
          </a:prstGeom>
          <a:noFill/>
        </p:spPr>
        <p:txBody>
          <a:bodyPr wrap="square" lIns="0" rIns="0" tIns="0" bIns="0" anchor="t">
            <a:noAutofit/>
          </a:bodyPr>
          <a:lstStyle/>
          <a:p>
            <a:pPr algn="l">
              <a:lnSpc>
                <a:spcPct val="110000"/>
              </a:lnSpc>
            </a:pPr>
            <a:r>
              <a:rPr sz="2800" b="0" i="0">
                <a:solidFill>
                  <a:srgbClr val="41801A"/>
                </a:solidFill>
                <a:latin typeface="Georgia"/>
              </a:rPr>
              <a:t>Points and the Turn Market</a:t>
            </a:r>
          </a:p>
        </p:txBody>
      </p:sp>
      <p:sp>
        <p:nvSpPr>
          <p:cNvPr id="3" name="TextBox 2"/>
          <p:cNvSpPr txBox="1"/>
          <p:nvPr/>
        </p:nvSpPr>
        <p:spPr>
          <a:xfrm>
            <a:off x="566928" y="987552"/>
            <a:ext cx="11057839" cy="411480"/>
          </a:xfrm>
          <a:prstGeom prst="rect">
            <a:avLst/>
          </a:prstGeom>
          <a:noFill/>
        </p:spPr>
        <p:txBody>
          <a:bodyPr wrap="square" lIns="0" rIns="0" tIns="0" bIns="0" anchor="t">
            <a:noAutofit/>
          </a:bodyPr>
          <a:lstStyle/>
          <a:p>
            <a:pPr algn="l">
              <a:lnSpc>
                <a:spcPct val="110000"/>
              </a:lnSpc>
            </a:pPr>
            <a:r>
              <a:rPr sz="1800" b="0" i="0">
                <a:solidFill>
                  <a:srgbClr val="0C1408"/>
                </a:solidFill>
                <a:latin typeface="Arial"/>
              </a:rPr>
              <a:t>Two features that need Mashreq's product approval and a legal view before launch.</a:t>
            </a:r>
          </a:p>
        </p:txBody>
      </p:sp>
      <p:pic>
        <p:nvPicPr>
          <p:cNvPr id="4" name="Picture 3" descr="halqa_logo.png"/>
          <p:cNvPicPr>
            <a:picLocks noChangeAspect="1"/>
          </p:cNvPicPr>
          <p:nvPr/>
        </p:nvPicPr>
        <p:blipFill>
          <a:blip r:embed="rId3"/>
          <a:stretch>
            <a:fillRect/>
          </a:stretch>
        </p:blipFill>
        <p:spPr>
          <a:xfrm>
            <a:off x="10600639" y="457200"/>
            <a:ext cx="1023202" cy="310896"/>
          </a:xfrm>
          <a:prstGeom prst="rect">
            <a:avLst/>
          </a:prstGeom>
        </p:spPr>
      </p:pic>
      <p:sp>
        <p:nvSpPr>
          <p:cNvPr id="5" name="TextBox 4"/>
          <p:cNvSpPr txBox="1"/>
          <p:nvPr/>
        </p:nvSpPr>
        <p:spPr>
          <a:xfrm>
            <a:off x="566928" y="6309360"/>
            <a:ext cx="10149840" cy="365760"/>
          </a:xfrm>
          <a:prstGeom prst="rect">
            <a:avLst/>
          </a:prstGeom>
          <a:noFill/>
        </p:spPr>
        <p:txBody>
          <a:bodyPr wrap="square" lIns="0" rIns="0" tIns="0" bIns="0" anchor="t">
            <a:noAutofit/>
          </a:bodyPr>
          <a:lstStyle/>
          <a:p>
            <a:pPr algn="l">
              <a:lnSpc>
                <a:spcPct val="100000"/>
              </a:lnSpc>
            </a:pPr>
            <a:r>
              <a:rPr sz="900" b="0" i="0">
                <a:solidFill>
                  <a:srgbClr val="5B6456"/>
                </a:solidFill>
                <a:latin typeface="Arial"/>
              </a:rPr>
              <a:t>Decisions of 28 September 2026; seat exchange and points design, 25 September 2026.</a:t>
            </a:r>
          </a:p>
        </p:txBody>
      </p:sp>
      <p:sp>
        <p:nvSpPr>
          <p:cNvPr id="6" name="TextBox 5"/>
          <p:cNvSpPr txBox="1"/>
          <p:nvPr/>
        </p:nvSpPr>
        <p:spPr>
          <a:xfrm>
            <a:off x="11076127" y="6355080"/>
            <a:ext cx="548640" cy="228600"/>
          </a:xfrm>
          <a:prstGeom prst="rect">
            <a:avLst/>
          </a:prstGeom>
          <a:noFill/>
        </p:spPr>
        <p:txBody>
          <a:bodyPr wrap="square" lIns="0" rIns="0" tIns="0" bIns="0" anchor="t">
            <a:noAutofit/>
          </a:bodyPr>
          <a:lstStyle/>
          <a:p>
            <a:pPr algn="r">
              <a:lnSpc>
                <a:spcPct val="110000"/>
              </a:lnSpc>
            </a:pPr>
            <a:r>
              <a:rPr sz="1000" b="0" i="0">
                <a:solidFill>
                  <a:srgbClr val="5B6456"/>
                </a:solidFill>
                <a:latin typeface="Arial"/>
              </a:rPr>
              <a:t>26</a:t>
            </a:r>
          </a:p>
        </p:txBody>
      </p:sp>
      <p:sp>
        <p:nvSpPr>
          <p:cNvPr id="7" name="TextBox 6"/>
          <p:cNvSpPr txBox="1"/>
          <p:nvPr/>
        </p:nvSpPr>
        <p:spPr>
          <a:xfrm>
            <a:off x="566928" y="1783080"/>
            <a:ext cx="4754880" cy="274320"/>
          </a:xfrm>
          <a:prstGeom prst="rect">
            <a:avLst/>
          </a:prstGeom>
          <a:noFill/>
        </p:spPr>
        <p:txBody>
          <a:bodyPr wrap="square" lIns="0" rIns="0" tIns="0" bIns="0" anchor="t">
            <a:noAutofit/>
          </a:bodyPr>
          <a:lstStyle/>
          <a:p>
            <a:pPr algn="l">
              <a:lnSpc>
                <a:spcPct val="110000"/>
              </a:lnSpc>
            </a:pPr>
            <a:r>
              <a:rPr sz="1500" b="1" i="0">
                <a:solidFill>
                  <a:srgbClr val="41801A"/>
                </a:solidFill>
                <a:latin typeface="Arial"/>
              </a:rPr>
              <a:t>Points</a:t>
            </a:r>
          </a:p>
        </p:txBody>
      </p:sp>
      <p:sp>
        <p:nvSpPr>
          <p:cNvPr id="8" name="TextBox 7"/>
          <p:cNvSpPr txBox="1"/>
          <p:nvPr/>
        </p:nvSpPr>
        <p:spPr>
          <a:xfrm>
            <a:off x="566928" y="2167128"/>
            <a:ext cx="2633472" cy="402336"/>
          </a:xfrm>
          <a:prstGeom prst="rect">
            <a:avLst/>
          </a:prstGeom>
          <a:noFill/>
        </p:spPr>
        <p:txBody>
          <a:bodyPr wrap="square" lIns="0" rIns="0" tIns="0" bIns="0" anchor="ctr">
            <a:noAutofit/>
          </a:bodyPr>
          <a:lstStyle/>
          <a:p>
            <a:pPr algn="l">
              <a:lnSpc>
                <a:spcPct val="110000"/>
              </a:lnSpc>
            </a:pPr>
            <a:r>
              <a:rPr sz="1200" b="1" i="0">
                <a:solidFill>
                  <a:srgbClr val="0C1408"/>
                </a:solidFill>
                <a:latin typeface="Arial"/>
              </a:rPr>
              <a:t>Paid on time</a:t>
            </a:r>
          </a:p>
        </p:txBody>
      </p:sp>
      <p:sp>
        <p:nvSpPr>
          <p:cNvPr id="9" name="TextBox 8"/>
          <p:cNvSpPr txBox="1"/>
          <p:nvPr/>
        </p:nvSpPr>
        <p:spPr>
          <a:xfrm>
            <a:off x="3383280" y="2167128"/>
            <a:ext cx="1993391" cy="402336"/>
          </a:xfrm>
          <a:prstGeom prst="rect">
            <a:avLst/>
          </a:prstGeom>
          <a:noFill/>
        </p:spPr>
        <p:txBody>
          <a:bodyPr wrap="square" lIns="0" rIns="0" tIns="0" bIns="0" anchor="ctr">
            <a:noAutofit/>
          </a:bodyPr>
          <a:lstStyle/>
          <a:p>
            <a:pPr algn="l">
              <a:lnSpc>
                <a:spcPct val="110000"/>
              </a:lnSpc>
            </a:pPr>
            <a:r>
              <a:rPr sz="1200" b="0" i="0">
                <a:solidFill>
                  <a:srgbClr val="0C1408"/>
                </a:solidFill>
                <a:latin typeface="Arial"/>
              </a:rPr>
              <a:t>60 points</a:t>
            </a:r>
          </a:p>
        </p:txBody>
      </p:sp>
      <p:cxnSp>
        <p:nvCxnSpPr>
          <p:cNvPr id="10" name="Connector 9"/>
          <p:cNvCxnSpPr/>
          <p:nvPr/>
        </p:nvCxnSpPr>
        <p:spPr>
          <a:xfrm>
            <a:off x="566928" y="2569464"/>
            <a:ext cx="4846320" cy="0"/>
          </a:xfrm>
          <a:prstGeom prst="line">
            <a:avLst/>
          </a:prstGeom>
          <a:ln w="9525">
            <a:solidFill>
              <a:srgbClr val="D5DCD1"/>
            </a:solidFill>
          </a:ln>
        </p:spPr>
      </p:cxnSp>
      <p:sp>
        <p:nvSpPr>
          <p:cNvPr id="11" name="TextBox 10"/>
          <p:cNvSpPr txBox="1"/>
          <p:nvPr/>
        </p:nvSpPr>
        <p:spPr>
          <a:xfrm>
            <a:off x="566928" y="2569464"/>
            <a:ext cx="2633472" cy="402336"/>
          </a:xfrm>
          <a:prstGeom prst="rect">
            <a:avLst/>
          </a:prstGeom>
          <a:noFill/>
        </p:spPr>
        <p:txBody>
          <a:bodyPr wrap="square" lIns="0" rIns="0" tIns="0" bIns="0" anchor="ctr">
            <a:noAutofit/>
          </a:bodyPr>
          <a:lstStyle/>
          <a:p>
            <a:pPr algn="l">
              <a:lnSpc>
                <a:spcPct val="110000"/>
              </a:lnSpc>
            </a:pPr>
            <a:r>
              <a:rPr sz="1200" b="1" i="0">
                <a:solidFill>
                  <a:srgbClr val="0C1408"/>
                </a:solidFill>
                <a:latin typeface="Arial"/>
              </a:rPr>
              <a:t>Five on time in a row</a:t>
            </a:r>
          </a:p>
        </p:txBody>
      </p:sp>
      <p:sp>
        <p:nvSpPr>
          <p:cNvPr id="12" name="TextBox 11"/>
          <p:cNvSpPr txBox="1"/>
          <p:nvPr/>
        </p:nvSpPr>
        <p:spPr>
          <a:xfrm>
            <a:off x="3383280" y="2569464"/>
            <a:ext cx="1993391" cy="402336"/>
          </a:xfrm>
          <a:prstGeom prst="rect">
            <a:avLst/>
          </a:prstGeom>
          <a:noFill/>
        </p:spPr>
        <p:txBody>
          <a:bodyPr wrap="square" lIns="0" rIns="0" tIns="0" bIns="0" anchor="ctr">
            <a:noAutofit/>
          </a:bodyPr>
          <a:lstStyle/>
          <a:p>
            <a:pPr algn="l">
              <a:lnSpc>
                <a:spcPct val="110000"/>
              </a:lnSpc>
            </a:pPr>
            <a:r>
              <a:rPr sz="1200" b="0" i="0">
                <a:solidFill>
                  <a:srgbClr val="0C1408"/>
                </a:solidFill>
                <a:latin typeface="Arial"/>
              </a:rPr>
              <a:t>100 more</a:t>
            </a:r>
          </a:p>
        </p:txBody>
      </p:sp>
      <p:cxnSp>
        <p:nvCxnSpPr>
          <p:cNvPr id="13" name="Connector 12"/>
          <p:cNvCxnSpPr/>
          <p:nvPr/>
        </p:nvCxnSpPr>
        <p:spPr>
          <a:xfrm>
            <a:off x="566928" y="2971800"/>
            <a:ext cx="4846320" cy="0"/>
          </a:xfrm>
          <a:prstGeom prst="line">
            <a:avLst/>
          </a:prstGeom>
          <a:ln w="9525">
            <a:solidFill>
              <a:srgbClr val="D5DCD1"/>
            </a:solidFill>
          </a:ln>
        </p:spPr>
      </p:cxnSp>
      <p:sp>
        <p:nvSpPr>
          <p:cNvPr id="14" name="TextBox 13"/>
          <p:cNvSpPr txBox="1"/>
          <p:nvPr/>
        </p:nvSpPr>
        <p:spPr>
          <a:xfrm>
            <a:off x="566928" y="2971800"/>
            <a:ext cx="2633472" cy="402336"/>
          </a:xfrm>
          <a:prstGeom prst="rect">
            <a:avLst/>
          </a:prstGeom>
          <a:noFill/>
        </p:spPr>
        <p:txBody>
          <a:bodyPr wrap="square" lIns="0" rIns="0" tIns="0" bIns="0" anchor="ctr">
            <a:noAutofit/>
          </a:bodyPr>
          <a:lstStyle/>
          <a:p>
            <a:pPr algn="l">
              <a:lnSpc>
                <a:spcPct val="110000"/>
              </a:lnSpc>
            </a:pPr>
            <a:r>
              <a:rPr sz="1200" b="1" i="0">
                <a:solidFill>
                  <a:srgbClr val="0C1408"/>
                </a:solidFill>
                <a:latin typeface="Arial"/>
              </a:rPr>
              <a:t>Hosting a clean circle</a:t>
            </a:r>
          </a:p>
        </p:txBody>
      </p:sp>
      <p:sp>
        <p:nvSpPr>
          <p:cNvPr id="15" name="TextBox 14"/>
          <p:cNvSpPr txBox="1"/>
          <p:nvPr/>
        </p:nvSpPr>
        <p:spPr>
          <a:xfrm>
            <a:off x="3383280" y="2971800"/>
            <a:ext cx="1993391" cy="402336"/>
          </a:xfrm>
          <a:prstGeom prst="rect">
            <a:avLst/>
          </a:prstGeom>
          <a:noFill/>
        </p:spPr>
        <p:txBody>
          <a:bodyPr wrap="square" lIns="0" rIns="0" tIns="0" bIns="0" anchor="ctr">
            <a:noAutofit/>
          </a:bodyPr>
          <a:lstStyle/>
          <a:p>
            <a:pPr algn="l">
              <a:lnSpc>
                <a:spcPct val="110000"/>
              </a:lnSpc>
            </a:pPr>
            <a:r>
              <a:rPr sz="1200" b="0" i="0">
                <a:solidFill>
                  <a:srgbClr val="0C1408"/>
                </a:solidFill>
                <a:latin typeface="Arial"/>
              </a:rPr>
              <a:t>2,500</a:t>
            </a:r>
          </a:p>
        </p:txBody>
      </p:sp>
      <p:cxnSp>
        <p:nvCxnSpPr>
          <p:cNvPr id="16" name="Connector 15"/>
          <p:cNvCxnSpPr/>
          <p:nvPr/>
        </p:nvCxnSpPr>
        <p:spPr>
          <a:xfrm>
            <a:off x="566928" y="3374136"/>
            <a:ext cx="4846320" cy="0"/>
          </a:xfrm>
          <a:prstGeom prst="line">
            <a:avLst/>
          </a:prstGeom>
          <a:ln w="9525">
            <a:solidFill>
              <a:srgbClr val="D5DCD1"/>
            </a:solidFill>
          </a:ln>
        </p:spPr>
      </p:cxnSp>
      <p:sp>
        <p:nvSpPr>
          <p:cNvPr id="17" name="TextBox 16"/>
          <p:cNvSpPr txBox="1"/>
          <p:nvPr/>
        </p:nvSpPr>
        <p:spPr>
          <a:xfrm>
            <a:off x="566928" y="3374136"/>
            <a:ext cx="2633472" cy="402336"/>
          </a:xfrm>
          <a:prstGeom prst="rect">
            <a:avLst/>
          </a:prstGeom>
          <a:noFill/>
        </p:spPr>
        <p:txBody>
          <a:bodyPr wrap="square" lIns="0" rIns="0" tIns="0" bIns="0" anchor="ctr">
            <a:noAutofit/>
          </a:bodyPr>
          <a:lstStyle/>
          <a:p>
            <a:pPr algn="l">
              <a:lnSpc>
                <a:spcPct val="110000"/>
              </a:lnSpc>
            </a:pPr>
            <a:r>
              <a:rPr sz="1200" b="1" i="0">
                <a:solidFill>
                  <a:srgbClr val="0C1408"/>
                </a:solidFill>
                <a:latin typeface="Arial"/>
              </a:rPr>
              <a:t>Referral who completes a circle</a:t>
            </a:r>
          </a:p>
        </p:txBody>
      </p:sp>
      <p:sp>
        <p:nvSpPr>
          <p:cNvPr id="18" name="TextBox 17"/>
          <p:cNvSpPr txBox="1"/>
          <p:nvPr/>
        </p:nvSpPr>
        <p:spPr>
          <a:xfrm>
            <a:off x="3383280" y="3374136"/>
            <a:ext cx="1993391" cy="402336"/>
          </a:xfrm>
          <a:prstGeom prst="rect">
            <a:avLst/>
          </a:prstGeom>
          <a:noFill/>
        </p:spPr>
        <p:txBody>
          <a:bodyPr wrap="square" lIns="0" rIns="0" tIns="0" bIns="0" anchor="ctr">
            <a:noAutofit/>
          </a:bodyPr>
          <a:lstStyle/>
          <a:p>
            <a:pPr algn="l">
              <a:lnSpc>
                <a:spcPct val="110000"/>
              </a:lnSpc>
            </a:pPr>
            <a:r>
              <a:rPr sz="1200" b="0" i="0">
                <a:solidFill>
                  <a:srgbClr val="0C1408"/>
                </a:solidFill>
                <a:latin typeface="Arial"/>
              </a:rPr>
              <a:t>1,000</a:t>
            </a:r>
          </a:p>
        </p:txBody>
      </p:sp>
      <p:cxnSp>
        <p:nvCxnSpPr>
          <p:cNvPr id="19" name="Connector 18"/>
          <p:cNvCxnSpPr/>
          <p:nvPr/>
        </p:nvCxnSpPr>
        <p:spPr>
          <a:xfrm>
            <a:off x="566928" y="3776472"/>
            <a:ext cx="4846320" cy="0"/>
          </a:xfrm>
          <a:prstGeom prst="line">
            <a:avLst/>
          </a:prstGeom>
          <a:ln w="9525">
            <a:solidFill>
              <a:srgbClr val="D5DCD1"/>
            </a:solidFill>
          </a:ln>
        </p:spPr>
      </p:cxnSp>
      <p:sp>
        <p:nvSpPr>
          <p:cNvPr id="20" name="TextBox 19"/>
          <p:cNvSpPr txBox="1"/>
          <p:nvPr/>
        </p:nvSpPr>
        <p:spPr>
          <a:xfrm>
            <a:off x="566928" y="3776472"/>
            <a:ext cx="2633472" cy="402336"/>
          </a:xfrm>
          <a:prstGeom prst="rect">
            <a:avLst/>
          </a:prstGeom>
          <a:noFill/>
        </p:spPr>
        <p:txBody>
          <a:bodyPr wrap="square" lIns="0" rIns="0" tIns="0" bIns="0" anchor="ctr">
            <a:noAutofit/>
          </a:bodyPr>
          <a:lstStyle/>
          <a:p>
            <a:pPr algn="l">
              <a:lnSpc>
                <a:spcPct val="110000"/>
              </a:lnSpc>
            </a:pPr>
            <a:r>
              <a:rPr sz="1200" b="1" i="0">
                <a:solidFill>
                  <a:srgbClr val="0C1408"/>
                </a:solidFill>
                <a:latin typeface="Arial"/>
              </a:rPr>
              <a:t>Profit on balances</a:t>
            </a:r>
          </a:p>
        </p:txBody>
      </p:sp>
      <p:sp>
        <p:nvSpPr>
          <p:cNvPr id="21" name="TextBox 20"/>
          <p:cNvSpPr txBox="1"/>
          <p:nvPr/>
        </p:nvSpPr>
        <p:spPr>
          <a:xfrm>
            <a:off x="3383280" y="3776472"/>
            <a:ext cx="1993391" cy="402336"/>
          </a:xfrm>
          <a:prstGeom prst="rect">
            <a:avLst/>
          </a:prstGeom>
          <a:noFill/>
        </p:spPr>
        <p:txBody>
          <a:bodyPr wrap="square" lIns="0" rIns="0" tIns="0" bIns="0" anchor="ctr">
            <a:noAutofit/>
          </a:bodyPr>
          <a:lstStyle/>
          <a:p>
            <a:pPr algn="l">
              <a:lnSpc>
                <a:spcPct val="110000"/>
              </a:lnSpc>
            </a:pPr>
            <a:r>
              <a:rPr sz="1200" b="0" i="0">
                <a:solidFill>
                  <a:srgbClr val="0C1408"/>
                </a:solidFill>
                <a:latin typeface="Arial"/>
              </a:rPr>
              <a:t>1 point a rupee</a:t>
            </a:r>
          </a:p>
        </p:txBody>
      </p:sp>
      <p:cxnSp>
        <p:nvCxnSpPr>
          <p:cNvPr id="22" name="Connector 21"/>
          <p:cNvCxnSpPr/>
          <p:nvPr/>
        </p:nvCxnSpPr>
        <p:spPr>
          <a:xfrm>
            <a:off x="566928" y="4178808"/>
            <a:ext cx="4846320" cy="0"/>
          </a:xfrm>
          <a:prstGeom prst="line">
            <a:avLst/>
          </a:prstGeom>
          <a:ln w="9525">
            <a:solidFill>
              <a:srgbClr val="D5DCD1"/>
            </a:solidFill>
          </a:ln>
        </p:spPr>
      </p:cxnSp>
      <p:sp>
        <p:nvSpPr>
          <p:cNvPr id="23" name="TextBox 22"/>
          <p:cNvSpPr txBox="1"/>
          <p:nvPr/>
        </p:nvSpPr>
        <p:spPr>
          <a:xfrm>
            <a:off x="566928" y="4178808"/>
            <a:ext cx="2633472" cy="402336"/>
          </a:xfrm>
          <a:prstGeom prst="rect">
            <a:avLst/>
          </a:prstGeom>
          <a:noFill/>
        </p:spPr>
        <p:txBody>
          <a:bodyPr wrap="square" lIns="0" rIns="0" tIns="0" bIns="0" anchor="ctr">
            <a:noAutofit/>
          </a:bodyPr>
          <a:lstStyle/>
          <a:p>
            <a:pPr algn="l">
              <a:lnSpc>
                <a:spcPct val="110000"/>
              </a:lnSpc>
            </a:pPr>
            <a:r>
              <a:rPr sz="1200" b="1" i="0">
                <a:solidFill>
                  <a:srgbClr val="0C1408"/>
                </a:solidFill>
                <a:latin typeface="Arial"/>
              </a:rPr>
              <a:t>Spent on</a:t>
            </a:r>
          </a:p>
        </p:txBody>
      </p:sp>
      <p:sp>
        <p:nvSpPr>
          <p:cNvPr id="24" name="TextBox 23"/>
          <p:cNvSpPr txBox="1"/>
          <p:nvPr/>
        </p:nvSpPr>
        <p:spPr>
          <a:xfrm>
            <a:off x="3383280" y="4178808"/>
            <a:ext cx="1993391" cy="402336"/>
          </a:xfrm>
          <a:prstGeom prst="rect">
            <a:avLst/>
          </a:prstGeom>
          <a:noFill/>
        </p:spPr>
        <p:txBody>
          <a:bodyPr wrap="square" lIns="0" rIns="0" tIns="0" bIns="0" anchor="ctr">
            <a:noAutofit/>
          </a:bodyPr>
          <a:lstStyle/>
          <a:p>
            <a:pPr algn="l">
              <a:lnSpc>
                <a:spcPct val="110000"/>
              </a:lnSpc>
            </a:pPr>
            <a:r>
              <a:rPr sz="1200" b="0" i="0">
                <a:solidFill>
                  <a:srgbClr val="0C1408"/>
                </a:solidFill>
                <a:latin typeface="Arial"/>
              </a:rPr>
              <a:t>goods, fees and turns</a:t>
            </a:r>
          </a:p>
        </p:txBody>
      </p:sp>
      <p:cxnSp>
        <p:nvCxnSpPr>
          <p:cNvPr id="25" name="Connector 24"/>
          <p:cNvCxnSpPr/>
          <p:nvPr/>
        </p:nvCxnSpPr>
        <p:spPr>
          <a:xfrm>
            <a:off x="566928" y="4581144"/>
            <a:ext cx="4846320" cy="0"/>
          </a:xfrm>
          <a:prstGeom prst="line">
            <a:avLst/>
          </a:prstGeom>
          <a:ln w="9525">
            <a:solidFill>
              <a:srgbClr val="D5DCD1"/>
            </a:solidFill>
          </a:ln>
        </p:spPr>
      </p:cxnSp>
      <p:sp>
        <p:nvSpPr>
          <p:cNvPr id="26" name="TextBox 25"/>
          <p:cNvSpPr txBox="1"/>
          <p:nvPr/>
        </p:nvSpPr>
        <p:spPr>
          <a:xfrm>
            <a:off x="566928" y="5074920"/>
            <a:ext cx="4937760" cy="914400"/>
          </a:xfrm>
          <a:prstGeom prst="rect">
            <a:avLst/>
          </a:prstGeom>
          <a:noFill/>
        </p:spPr>
        <p:txBody>
          <a:bodyPr wrap="square" lIns="0" rIns="0" tIns="0" bIns="0" anchor="t">
            <a:noAutofit/>
          </a:bodyPr>
          <a:lstStyle/>
          <a:p>
            <a:pPr algn="l">
              <a:lnSpc>
                <a:spcPct val="105000"/>
              </a:lnSpc>
            </a:pPr>
            <a:r>
              <a:rPr sz="1150" b="0" i="0">
                <a:solidFill>
                  <a:srgbClr val="0C1408"/>
                </a:solidFill>
                <a:latin typeface="Arial"/>
              </a:rPr>
              <a:t>Never cashed out. Points bought with money run only as Mashreq's own stored value product, under its licence. The rupee value of earned points is set before launch.</a:t>
            </a:r>
          </a:p>
        </p:txBody>
      </p:sp>
      <p:sp>
        <p:nvSpPr>
          <p:cNvPr id="27" name="TextBox 26"/>
          <p:cNvSpPr txBox="1"/>
          <p:nvPr/>
        </p:nvSpPr>
        <p:spPr>
          <a:xfrm>
            <a:off x="6172200" y="1783080"/>
            <a:ext cx="5394960" cy="274320"/>
          </a:xfrm>
          <a:prstGeom prst="rect">
            <a:avLst/>
          </a:prstGeom>
          <a:noFill/>
        </p:spPr>
        <p:txBody>
          <a:bodyPr wrap="square" lIns="0" rIns="0" tIns="0" bIns="0" anchor="t">
            <a:noAutofit/>
          </a:bodyPr>
          <a:lstStyle/>
          <a:p>
            <a:pPr algn="l">
              <a:lnSpc>
                <a:spcPct val="110000"/>
              </a:lnSpc>
            </a:pPr>
            <a:r>
              <a:rPr sz="1500" b="1" i="0">
                <a:solidFill>
                  <a:srgbClr val="41801A"/>
                </a:solidFill>
                <a:latin typeface="Arial"/>
              </a:rPr>
              <a:t>Turn market</a:t>
            </a:r>
          </a:p>
        </p:txBody>
      </p:sp>
      <p:cxnSp>
        <p:nvCxnSpPr>
          <p:cNvPr id="28" name="Connector 27"/>
          <p:cNvCxnSpPr/>
          <p:nvPr/>
        </p:nvCxnSpPr>
        <p:spPr>
          <a:xfrm>
            <a:off x="6583680" y="2542032"/>
            <a:ext cx="4572000" cy="0"/>
          </a:xfrm>
          <a:prstGeom prst="line">
            <a:avLst/>
          </a:prstGeom>
          <a:ln w="28575">
            <a:solidFill>
              <a:srgbClr val="41801A"/>
            </a:solidFill>
          </a:ln>
        </p:spPr>
      </p:cxnSp>
      <p:sp>
        <p:nvSpPr>
          <p:cNvPr id="29" name="Oval 28"/>
          <p:cNvSpPr/>
          <p:nvPr/>
        </p:nvSpPr>
        <p:spPr>
          <a:xfrm>
            <a:off x="6492240" y="2450591"/>
            <a:ext cx="182880" cy="182880"/>
          </a:xfrm>
          <a:prstGeom prst="ellipse">
            <a:avLst/>
          </a:prstGeom>
          <a:solidFill>
            <a:srgbClr val="FFFFFF"/>
          </a:solidFill>
          <a:ln w="22225">
            <a:solidFill>
              <a:srgbClr val="41801A"/>
            </a:solidFill>
          </a:ln>
        </p:spPr>
        <p:txBody>
          <a:bodyPr rtlCol="0" anchor="ctr" lIns="0" rIns="0"/>
          <a:lstStyle/>
          <a:p>
            <a:pPr algn="ctr"/>
          </a:p>
        </p:txBody>
      </p:sp>
      <p:sp>
        <p:nvSpPr>
          <p:cNvPr id="30" name="TextBox 29"/>
          <p:cNvSpPr txBox="1"/>
          <p:nvPr/>
        </p:nvSpPr>
        <p:spPr>
          <a:xfrm>
            <a:off x="6103620" y="2724912"/>
            <a:ext cx="960120" cy="274320"/>
          </a:xfrm>
          <a:prstGeom prst="rect">
            <a:avLst/>
          </a:prstGeom>
          <a:noFill/>
        </p:spPr>
        <p:txBody>
          <a:bodyPr wrap="square" lIns="0" rIns="0" tIns="0" bIns="0" anchor="t">
            <a:noAutofit/>
          </a:bodyPr>
          <a:lstStyle/>
          <a:p>
            <a:pPr algn="ctr">
              <a:lnSpc>
                <a:spcPct val="110000"/>
              </a:lnSpc>
            </a:pPr>
            <a:r>
              <a:rPr sz="1200" b="1" i="0">
                <a:solidFill>
                  <a:srgbClr val="0C1408"/>
                </a:solidFill>
                <a:latin typeface="Arial"/>
              </a:rPr>
              <a:t>List</a:t>
            </a:r>
          </a:p>
        </p:txBody>
      </p:sp>
      <p:sp>
        <p:nvSpPr>
          <p:cNvPr id="31" name="TextBox 30"/>
          <p:cNvSpPr txBox="1"/>
          <p:nvPr/>
        </p:nvSpPr>
        <p:spPr>
          <a:xfrm>
            <a:off x="6103620" y="2999232"/>
            <a:ext cx="960120" cy="822960"/>
          </a:xfrm>
          <a:prstGeom prst="rect">
            <a:avLst/>
          </a:prstGeom>
          <a:noFill/>
        </p:spPr>
        <p:txBody>
          <a:bodyPr wrap="square" lIns="0" rIns="0" tIns="0" bIns="0" anchor="t">
            <a:noAutofit/>
          </a:bodyPr>
          <a:lstStyle/>
          <a:p>
            <a:pPr algn="ctr">
              <a:lnSpc>
                <a:spcPct val="100000"/>
              </a:lnSpc>
            </a:pPr>
            <a:r>
              <a:rPr sz="1000" b="0" i="0">
                <a:solidFill>
                  <a:srgbClr val="5B6456"/>
                </a:solidFill>
                <a:latin typeface="Arial"/>
              </a:rPr>
              <a:t>seller sets a price</a:t>
            </a:r>
          </a:p>
        </p:txBody>
      </p:sp>
      <p:sp>
        <p:nvSpPr>
          <p:cNvPr id="32" name="Oval 31"/>
          <p:cNvSpPr/>
          <p:nvPr/>
        </p:nvSpPr>
        <p:spPr>
          <a:xfrm>
            <a:off x="7635240" y="2450591"/>
            <a:ext cx="182880" cy="182880"/>
          </a:xfrm>
          <a:prstGeom prst="ellipse">
            <a:avLst/>
          </a:prstGeom>
          <a:solidFill>
            <a:srgbClr val="FFFFFF"/>
          </a:solidFill>
          <a:ln w="22225">
            <a:solidFill>
              <a:srgbClr val="41801A"/>
            </a:solidFill>
          </a:ln>
        </p:spPr>
        <p:txBody>
          <a:bodyPr rtlCol="0" anchor="ctr" lIns="0" rIns="0"/>
          <a:lstStyle/>
          <a:p>
            <a:pPr algn="ctr"/>
          </a:p>
        </p:txBody>
      </p:sp>
      <p:sp>
        <p:nvSpPr>
          <p:cNvPr id="33" name="TextBox 32"/>
          <p:cNvSpPr txBox="1"/>
          <p:nvPr/>
        </p:nvSpPr>
        <p:spPr>
          <a:xfrm>
            <a:off x="7246619" y="2724912"/>
            <a:ext cx="960120" cy="274320"/>
          </a:xfrm>
          <a:prstGeom prst="rect">
            <a:avLst/>
          </a:prstGeom>
          <a:noFill/>
        </p:spPr>
        <p:txBody>
          <a:bodyPr wrap="square" lIns="0" rIns="0" tIns="0" bIns="0" anchor="t">
            <a:noAutofit/>
          </a:bodyPr>
          <a:lstStyle/>
          <a:p>
            <a:pPr algn="ctr">
              <a:lnSpc>
                <a:spcPct val="110000"/>
              </a:lnSpc>
            </a:pPr>
            <a:r>
              <a:rPr sz="1200" b="1" i="0">
                <a:solidFill>
                  <a:srgbClr val="0C1408"/>
                </a:solidFill>
                <a:latin typeface="Arial"/>
              </a:rPr>
              <a:t>Offer</a:t>
            </a:r>
          </a:p>
        </p:txBody>
      </p:sp>
      <p:sp>
        <p:nvSpPr>
          <p:cNvPr id="34" name="TextBox 33"/>
          <p:cNvSpPr txBox="1"/>
          <p:nvPr/>
        </p:nvSpPr>
        <p:spPr>
          <a:xfrm>
            <a:off x="7246619" y="2999232"/>
            <a:ext cx="960120" cy="822960"/>
          </a:xfrm>
          <a:prstGeom prst="rect">
            <a:avLst/>
          </a:prstGeom>
          <a:noFill/>
        </p:spPr>
        <p:txBody>
          <a:bodyPr wrap="square" lIns="0" rIns="0" tIns="0" bIns="0" anchor="t">
            <a:noAutofit/>
          </a:bodyPr>
          <a:lstStyle/>
          <a:p>
            <a:pPr algn="ctr">
              <a:lnSpc>
                <a:spcPct val="100000"/>
              </a:lnSpc>
            </a:pPr>
            <a:r>
              <a:rPr sz="1000" b="0" i="0">
                <a:solidFill>
                  <a:srgbClr val="5B6456"/>
                </a:solidFill>
                <a:latin typeface="Arial"/>
              </a:rPr>
              <a:t>buyer's band allows it</a:t>
            </a:r>
          </a:p>
        </p:txBody>
      </p:sp>
      <p:sp>
        <p:nvSpPr>
          <p:cNvPr id="35" name="Oval 34"/>
          <p:cNvSpPr/>
          <p:nvPr/>
        </p:nvSpPr>
        <p:spPr>
          <a:xfrm>
            <a:off x="8778240" y="2450591"/>
            <a:ext cx="182880" cy="182880"/>
          </a:xfrm>
          <a:prstGeom prst="ellipse">
            <a:avLst/>
          </a:prstGeom>
          <a:solidFill>
            <a:srgbClr val="FFFFFF"/>
          </a:solidFill>
          <a:ln w="22225">
            <a:solidFill>
              <a:srgbClr val="41801A"/>
            </a:solidFill>
          </a:ln>
        </p:spPr>
        <p:txBody>
          <a:bodyPr rtlCol="0" anchor="ctr" lIns="0" rIns="0"/>
          <a:lstStyle/>
          <a:p>
            <a:pPr algn="ctr"/>
          </a:p>
        </p:txBody>
      </p:sp>
      <p:sp>
        <p:nvSpPr>
          <p:cNvPr id="36" name="TextBox 35"/>
          <p:cNvSpPr txBox="1"/>
          <p:nvPr/>
        </p:nvSpPr>
        <p:spPr>
          <a:xfrm>
            <a:off x="8389619" y="2724912"/>
            <a:ext cx="960120" cy="274320"/>
          </a:xfrm>
          <a:prstGeom prst="rect">
            <a:avLst/>
          </a:prstGeom>
          <a:noFill/>
        </p:spPr>
        <p:txBody>
          <a:bodyPr wrap="square" lIns="0" rIns="0" tIns="0" bIns="0" anchor="t">
            <a:noAutofit/>
          </a:bodyPr>
          <a:lstStyle/>
          <a:p>
            <a:pPr algn="ctr">
              <a:lnSpc>
                <a:spcPct val="110000"/>
              </a:lnSpc>
            </a:pPr>
            <a:r>
              <a:rPr sz="1200" b="1" i="0">
                <a:solidFill>
                  <a:srgbClr val="0C1408"/>
                </a:solidFill>
                <a:latin typeface="Arial"/>
              </a:rPr>
              <a:t>Accept</a:t>
            </a:r>
          </a:p>
        </p:txBody>
      </p:sp>
      <p:sp>
        <p:nvSpPr>
          <p:cNvPr id="37" name="TextBox 36"/>
          <p:cNvSpPr txBox="1"/>
          <p:nvPr/>
        </p:nvSpPr>
        <p:spPr>
          <a:xfrm>
            <a:off x="8389619" y="2999232"/>
            <a:ext cx="960120" cy="822960"/>
          </a:xfrm>
          <a:prstGeom prst="rect">
            <a:avLst/>
          </a:prstGeom>
          <a:noFill/>
        </p:spPr>
        <p:txBody>
          <a:bodyPr wrap="square" lIns="0" rIns="0" tIns="0" bIns="0" anchor="t">
            <a:noAutofit/>
          </a:bodyPr>
          <a:lstStyle/>
          <a:p>
            <a:pPr algn="ctr">
              <a:lnSpc>
                <a:spcPct val="100000"/>
              </a:lnSpc>
            </a:pPr>
            <a:r>
              <a:rPr sz="1000" b="0" i="0">
                <a:solidFill>
                  <a:srgbClr val="5B6456"/>
                </a:solidFill>
                <a:latin typeface="Arial"/>
              </a:rPr>
              <a:t>seller confirms</a:t>
            </a:r>
          </a:p>
        </p:txBody>
      </p:sp>
      <p:sp>
        <p:nvSpPr>
          <p:cNvPr id="38" name="Oval 37"/>
          <p:cNvSpPr/>
          <p:nvPr/>
        </p:nvSpPr>
        <p:spPr>
          <a:xfrm>
            <a:off x="9921240" y="2450591"/>
            <a:ext cx="182880" cy="182880"/>
          </a:xfrm>
          <a:prstGeom prst="ellipse">
            <a:avLst/>
          </a:prstGeom>
          <a:solidFill>
            <a:srgbClr val="FFFFFF"/>
          </a:solidFill>
          <a:ln w="22225">
            <a:solidFill>
              <a:srgbClr val="41801A"/>
            </a:solidFill>
          </a:ln>
        </p:spPr>
        <p:txBody>
          <a:bodyPr rtlCol="0" anchor="ctr" lIns="0" rIns="0"/>
          <a:lstStyle/>
          <a:p>
            <a:pPr algn="ctr"/>
          </a:p>
        </p:txBody>
      </p:sp>
      <p:sp>
        <p:nvSpPr>
          <p:cNvPr id="39" name="TextBox 38"/>
          <p:cNvSpPr txBox="1"/>
          <p:nvPr/>
        </p:nvSpPr>
        <p:spPr>
          <a:xfrm>
            <a:off x="9532619" y="2724912"/>
            <a:ext cx="960120" cy="274320"/>
          </a:xfrm>
          <a:prstGeom prst="rect">
            <a:avLst/>
          </a:prstGeom>
          <a:noFill/>
        </p:spPr>
        <p:txBody>
          <a:bodyPr wrap="square" lIns="0" rIns="0" tIns="0" bIns="0" anchor="t">
            <a:noAutofit/>
          </a:bodyPr>
          <a:lstStyle/>
          <a:p>
            <a:pPr algn="ctr">
              <a:lnSpc>
                <a:spcPct val="110000"/>
              </a:lnSpc>
            </a:pPr>
            <a:r>
              <a:rPr sz="1200" b="1" i="0">
                <a:solidFill>
                  <a:srgbClr val="0C1408"/>
                </a:solidFill>
                <a:latin typeface="Arial"/>
              </a:rPr>
              <a:t>Approve</a:t>
            </a:r>
          </a:p>
        </p:txBody>
      </p:sp>
      <p:sp>
        <p:nvSpPr>
          <p:cNvPr id="40" name="TextBox 39"/>
          <p:cNvSpPr txBox="1"/>
          <p:nvPr/>
        </p:nvSpPr>
        <p:spPr>
          <a:xfrm>
            <a:off x="9532619" y="2999232"/>
            <a:ext cx="960120" cy="822960"/>
          </a:xfrm>
          <a:prstGeom prst="rect">
            <a:avLst/>
          </a:prstGeom>
          <a:noFill/>
        </p:spPr>
        <p:txBody>
          <a:bodyPr wrap="square" lIns="0" rIns="0" tIns="0" bIns="0" anchor="t">
            <a:noAutofit/>
          </a:bodyPr>
          <a:lstStyle/>
          <a:p>
            <a:pPr algn="ctr">
              <a:lnSpc>
                <a:spcPct val="100000"/>
              </a:lnSpc>
            </a:pPr>
            <a:r>
              <a:rPr sz="1000" b="0" i="0">
                <a:solidFill>
                  <a:srgbClr val="5B6456"/>
                </a:solidFill>
                <a:latin typeface="Arial"/>
              </a:rPr>
              <a:t>the host agrees</a:t>
            </a:r>
          </a:p>
        </p:txBody>
      </p:sp>
      <p:sp>
        <p:nvSpPr>
          <p:cNvPr id="41" name="Oval 40"/>
          <p:cNvSpPr/>
          <p:nvPr/>
        </p:nvSpPr>
        <p:spPr>
          <a:xfrm>
            <a:off x="11064240" y="2450591"/>
            <a:ext cx="182880" cy="182880"/>
          </a:xfrm>
          <a:prstGeom prst="ellipse">
            <a:avLst/>
          </a:prstGeom>
          <a:solidFill>
            <a:srgbClr val="FFFFFF"/>
          </a:solidFill>
          <a:ln w="22225">
            <a:solidFill>
              <a:srgbClr val="41801A"/>
            </a:solidFill>
          </a:ln>
        </p:spPr>
        <p:txBody>
          <a:bodyPr rtlCol="0" anchor="ctr" lIns="0" rIns="0"/>
          <a:lstStyle/>
          <a:p>
            <a:pPr algn="ctr"/>
          </a:p>
        </p:txBody>
      </p:sp>
      <p:sp>
        <p:nvSpPr>
          <p:cNvPr id="42" name="TextBox 41"/>
          <p:cNvSpPr txBox="1"/>
          <p:nvPr/>
        </p:nvSpPr>
        <p:spPr>
          <a:xfrm>
            <a:off x="10675619" y="2724912"/>
            <a:ext cx="960120" cy="274320"/>
          </a:xfrm>
          <a:prstGeom prst="rect">
            <a:avLst/>
          </a:prstGeom>
          <a:noFill/>
        </p:spPr>
        <p:txBody>
          <a:bodyPr wrap="square" lIns="0" rIns="0" tIns="0" bIns="0" anchor="t">
            <a:noAutofit/>
          </a:bodyPr>
          <a:lstStyle/>
          <a:p>
            <a:pPr algn="ctr">
              <a:lnSpc>
                <a:spcPct val="110000"/>
              </a:lnSpc>
            </a:pPr>
            <a:r>
              <a:rPr sz="1200" b="1" i="0">
                <a:solidFill>
                  <a:srgbClr val="0C1408"/>
                </a:solidFill>
                <a:latin typeface="Arial"/>
              </a:rPr>
              <a:t>Settle</a:t>
            </a:r>
          </a:p>
        </p:txBody>
      </p:sp>
      <p:sp>
        <p:nvSpPr>
          <p:cNvPr id="43" name="TextBox 42"/>
          <p:cNvSpPr txBox="1"/>
          <p:nvPr/>
        </p:nvSpPr>
        <p:spPr>
          <a:xfrm>
            <a:off x="10675619" y="2999232"/>
            <a:ext cx="960120" cy="822960"/>
          </a:xfrm>
          <a:prstGeom prst="rect">
            <a:avLst/>
          </a:prstGeom>
          <a:noFill/>
        </p:spPr>
        <p:txBody>
          <a:bodyPr wrap="square" lIns="0" rIns="0" tIns="0" bIns="0" anchor="t">
            <a:noAutofit/>
          </a:bodyPr>
          <a:lstStyle/>
          <a:p>
            <a:pPr algn="ctr">
              <a:lnSpc>
                <a:spcPct val="100000"/>
              </a:lnSpc>
            </a:pPr>
            <a:r>
              <a:rPr sz="1000" b="0" i="0">
                <a:solidFill>
                  <a:srgbClr val="5B6456"/>
                </a:solidFill>
                <a:latin typeface="Arial"/>
              </a:rPr>
              <a:t>turns swap at Mashreq</a:t>
            </a:r>
          </a:p>
        </p:txBody>
      </p:sp>
      <p:cxnSp>
        <p:nvCxnSpPr>
          <p:cNvPr id="44" name="Connector 43"/>
          <p:cNvCxnSpPr/>
          <p:nvPr/>
        </p:nvCxnSpPr>
        <p:spPr>
          <a:xfrm>
            <a:off x="6172200" y="3931920"/>
            <a:ext cx="5440680" cy="0"/>
          </a:xfrm>
          <a:prstGeom prst="line">
            <a:avLst/>
          </a:prstGeom>
          <a:ln w="9525">
            <a:solidFill>
              <a:srgbClr val="D5DCD1"/>
            </a:solidFill>
          </a:ln>
        </p:spPr>
      </p:cxnSp>
      <p:sp>
        <p:nvSpPr>
          <p:cNvPr id="45" name="TextBox 44"/>
          <p:cNvSpPr txBox="1"/>
          <p:nvPr/>
        </p:nvSpPr>
        <p:spPr>
          <a:xfrm>
            <a:off x="6172200" y="4005072"/>
            <a:ext cx="5440680" cy="548640"/>
          </a:xfrm>
          <a:prstGeom prst="rect">
            <a:avLst/>
          </a:prstGeom>
          <a:noFill/>
        </p:spPr>
        <p:txBody>
          <a:bodyPr wrap="square" lIns="0" rIns="0" tIns="0" bIns="0" anchor="t">
            <a:noAutofit/>
          </a:bodyPr>
          <a:lstStyle/>
          <a:p>
            <a:pPr algn="l">
              <a:lnSpc>
                <a:spcPct val="105000"/>
              </a:lnSpc>
            </a:pPr>
            <a:r>
              <a:rPr sz="1150" b="1" i="0">
                <a:solidFill>
                  <a:srgbClr val="0C1408"/>
                </a:solidFill>
                <a:latin typeface="Arial"/>
              </a:rPr>
              <a:t>Where.</a:t>
            </a:r>
            <a:r>
              <a:rPr sz="1150" b="0" i="0">
                <a:solidFill>
                  <a:srgbClr val="0C1408"/>
                </a:solidFill>
                <a:latin typeface="Arial"/>
              </a:rPr>
              <a:t> Monthly circles only; never on Hyper or asset circles.</a:t>
            </a:r>
          </a:p>
        </p:txBody>
      </p:sp>
      <p:cxnSp>
        <p:nvCxnSpPr>
          <p:cNvPr id="46" name="Connector 45"/>
          <p:cNvCxnSpPr/>
          <p:nvPr/>
        </p:nvCxnSpPr>
        <p:spPr>
          <a:xfrm>
            <a:off x="6172200" y="4443983"/>
            <a:ext cx="5440680" cy="0"/>
          </a:xfrm>
          <a:prstGeom prst="line">
            <a:avLst/>
          </a:prstGeom>
          <a:ln w="9525">
            <a:solidFill>
              <a:srgbClr val="D5DCD1"/>
            </a:solidFill>
          </a:ln>
        </p:spPr>
      </p:cxnSp>
      <p:sp>
        <p:nvSpPr>
          <p:cNvPr id="47" name="TextBox 46"/>
          <p:cNvSpPr txBox="1"/>
          <p:nvPr/>
        </p:nvSpPr>
        <p:spPr>
          <a:xfrm>
            <a:off x="6172200" y="4517136"/>
            <a:ext cx="5440680" cy="548640"/>
          </a:xfrm>
          <a:prstGeom prst="rect">
            <a:avLst/>
          </a:prstGeom>
          <a:noFill/>
        </p:spPr>
        <p:txBody>
          <a:bodyPr wrap="square" lIns="0" rIns="0" tIns="0" bIns="0" anchor="t">
            <a:noAutofit/>
          </a:bodyPr>
          <a:lstStyle/>
          <a:p>
            <a:pPr algn="l">
              <a:lnSpc>
                <a:spcPct val="105000"/>
              </a:lnSpc>
            </a:pPr>
            <a:r>
              <a:rPr sz="1150" b="1" i="0">
                <a:solidFill>
                  <a:srgbClr val="0C1408"/>
                </a:solidFill>
                <a:latin typeface="Arial"/>
              </a:rPr>
              <a:t>Checks.</a:t>
            </a:r>
            <a:r>
              <a:rPr sz="1150" b="0" i="0">
                <a:solidFill>
                  <a:srgbClr val="0C1408"/>
                </a:solidFill>
                <a:latin typeface="Arial"/>
              </a:rPr>
              <a:t> Both members re-checked for their new turns before the trade settles.</a:t>
            </a:r>
          </a:p>
        </p:txBody>
      </p:sp>
      <p:cxnSp>
        <p:nvCxnSpPr>
          <p:cNvPr id="48" name="Connector 47"/>
          <p:cNvCxnSpPr/>
          <p:nvPr/>
        </p:nvCxnSpPr>
        <p:spPr>
          <a:xfrm>
            <a:off x="6172200" y="4956048"/>
            <a:ext cx="5440680" cy="0"/>
          </a:xfrm>
          <a:prstGeom prst="line">
            <a:avLst/>
          </a:prstGeom>
          <a:ln w="9525">
            <a:solidFill>
              <a:srgbClr val="D5DCD1"/>
            </a:solidFill>
          </a:ln>
        </p:spPr>
      </p:cxnSp>
      <p:sp>
        <p:nvSpPr>
          <p:cNvPr id="49" name="TextBox 48"/>
          <p:cNvSpPr txBox="1"/>
          <p:nvPr/>
        </p:nvSpPr>
        <p:spPr>
          <a:xfrm>
            <a:off x="6172200" y="5029200"/>
            <a:ext cx="5440680" cy="548640"/>
          </a:xfrm>
          <a:prstGeom prst="rect">
            <a:avLst/>
          </a:prstGeom>
          <a:noFill/>
        </p:spPr>
        <p:txBody>
          <a:bodyPr wrap="square" lIns="0" rIns="0" tIns="0" bIns="0" anchor="t">
            <a:noAutofit/>
          </a:bodyPr>
          <a:lstStyle/>
          <a:p>
            <a:pPr algn="l">
              <a:lnSpc>
                <a:spcPct val="105000"/>
              </a:lnSpc>
            </a:pPr>
            <a:r>
              <a:rPr sz="1150" b="1" i="0">
                <a:solidFill>
                  <a:srgbClr val="0C1408"/>
                </a:solidFill>
                <a:latin typeface="Arial"/>
              </a:rPr>
              <a:t>Limits.</a:t>
            </a:r>
            <a:r>
              <a:rPr sz="1150" b="0" i="0">
                <a:solidFill>
                  <a:srgbClr val="0C1408"/>
                </a:solidFill>
                <a:latin typeface="Arial"/>
              </a:rPr>
              <a:t> A price ceiling on each turn; an exchange fee paid by the buyer.</a:t>
            </a:r>
          </a:p>
        </p:txBody>
      </p:sp>
      <p:cxnSp>
        <p:nvCxnSpPr>
          <p:cNvPr id="50" name="Connector 49"/>
          <p:cNvCxnSpPr/>
          <p:nvPr/>
        </p:nvCxnSpPr>
        <p:spPr>
          <a:xfrm>
            <a:off x="6172200" y="5468112"/>
            <a:ext cx="5440680" cy="0"/>
          </a:xfrm>
          <a:prstGeom prst="line">
            <a:avLst/>
          </a:prstGeom>
          <a:ln w="9525">
            <a:solidFill>
              <a:srgbClr val="D5DCD1"/>
            </a:solidFill>
          </a:ln>
        </p:spPr>
      </p:cxnSp>
      <p:sp>
        <p:nvSpPr>
          <p:cNvPr id="51" name="TextBox 50"/>
          <p:cNvSpPr txBox="1"/>
          <p:nvPr/>
        </p:nvSpPr>
        <p:spPr>
          <a:xfrm>
            <a:off x="6172200" y="5541264"/>
            <a:ext cx="5440680" cy="548640"/>
          </a:xfrm>
          <a:prstGeom prst="rect">
            <a:avLst/>
          </a:prstGeom>
          <a:noFill/>
        </p:spPr>
        <p:txBody>
          <a:bodyPr wrap="square" lIns="0" rIns="0" tIns="0" bIns="0" anchor="t">
            <a:noAutofit/>
          </a:bodyPr>
          <a:lstStyle/>
          <a:p>
            <a:pPr algn="l">
              <a:lnSpc>
                <a:spcPct val="105000"/>
              </a:lnSpc>
            </a:pPr>
            <a:r>
              <a:rPr sz="1150" b="1" i="0">
                <a:solidFill>
                  <a:srgbClr val="0C1408"/>
                </a:solidFill>
                <a:latin typeface="Arial"/>
              </a:rPr>
              <a:t>Open points.</a:t>
            </a:r>
            <a:r>
              <a:rPr sz="1150" b="0" i="0">
                <a:solidFill>
                  <a:srgbClr val="0C1408"/>
                </a:solidFill>
                <a:latin typeface="Arial"/>
              </a:rPr>
              <a:t> Counsel to confirm whether a sold turn is lending between members. Circles with turn sales are not labelled Shariah compliant.</a:t>
            </a:r>
          </a:p>
        </p:txBody>
      </p:sp>
      <p:cxnSp>
        <p:nvCxnSpPr>
          <p:cNvPr id="52" name="Connector 51"/>
          <p:cNvCxnSpPr/>
          <p:nvPr/>
        </p:nvCxnSpPr>
        <p:spPr>
          <a:xfrm>
            <a:off x="6172200" y="5980176"/>
            <a:ext cx="5440680" cy="0"/>
          </a:xfrm>
          <a:prstGeom prst="line">
            <a:avLst/>
          </a:prstGeom>
          <a:ln w="9525">
            <a:solidFill>
              <a:srgbClr val="D5DCD1"/>
            </a:solidFill>
          </a:ln>
        </p:spPr>
      </p:cxn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9509760" cy="566928"/>
          </a:xfrm>
          <a:prstGeom prst="rect">
            <a:avLst/>
          </a:prstGeom>
          <a:noFill/>
        </p:spPr>
        <p:txBody>
          <a:bodyPr wrap="square" lIns="0" rIns="0" tIns="0" bIns="0" anchor="t">
            <a:noAutofit/>
          </a:bodyPr>
          <a:lstStyle/>
          <a:p>
            <a:pPr algn="l">
              <a:lnSpc>
                <a:spcPct val="110000"/>
              </a:lnSpc>
            </a:pPr>
            <a:r>
              <a:rPr sz="2800" b="0" i="0">
                <a:solidFill>
                  <a:srgbClr val="41801A"/>
                </a:solidFill>
                <a:latin typeface="Georgia"/>
              </a:rPr>
              <a:t>Hyper: Daily Circles</a:t>
            </a:r>
          </a:p>
        </p:txBody>
      </p:sp>
      <p:sp>
        <p:nvSpPr>
          <p:cNvPr id="3" name="TextBox 2"/>
          <p:cNvSpPr txBox="1"/>
          <p:nvPr/>
        </p:nvSpPr>
        <p:spPr>
          <a:xfrm>
            <a:off x="566928" y="987552"/>
            <a:ext cx="11057839" cy="411480"/>
          </a:xfrm>
          <a:prstGeom prst="rect">
            <a:avLst/>
          </a:prstGeom>
          <a:noFill/>
        </p:spPr>
        <p:txBody>
          <a:bodyPr wrap="square" lIns="0" rIns="0" tIns="0" bIns="0" anchor="t">
            <a:noAutofit/>
          </a:bodyPr>
          <a:lstStyle/>
          <a:p>
            <a:pPr algn="l">
              <a:lnSpc>
                <a:spcPct val="110000"/>
              </a:lnSpc>
            </a:pPr>
            <a:r>
              <a:rPr sz="1800" b="0" i="0">
                <a:solidFill>
                  <a:srgbClr val="0C1408"/>
                </a:solidFill>
                <a:latin typeface="Arial"/>
              </a:rPr>
              <a:t>For members with daily income. Labelled experimental, with a hard stop on losses.</a:t>
            </a:r>
          </a:p>
        </p:txBody>
      </p:sp>
      <p:pic>
        <p:nvPicPr>
          <p:cNvPr id="4" name="Picture 3" descr="halqa_logo.png"/>
          <p:cNvPicPr>
            <a:picLocks noChangeAspect="1"/>
          </p:cNvPicPr>
          <p:nvPr/>
        </p:nvPicPr>
        <p:blipFill>
          <a:blip r:embed="rId3"/>
          <a:stretch>
            <a:fillRect/>
          </a:stretch>
        </p:blipFill>
        <p:spPr>
          <a:xfrm>
            <a:off x="10600639" y="457200"/>
            <a:ext cx="1023202" cy="310896"/>
          </a:xfrm>
          <a:prstGeom prst="rect">
            <a:avLst/>
          </a:prstGeom>
        </p:spPr>
      </p:pic>
      <p:sp>
        <p:nvSpPr>
          <p:cNvPr id="5" name="TextBox 4"/>
          <p:cNvSpPr txBox="1"/>
          <p:nvPr/>
        </p:nvSpPr>
        <p:spPr>
          <a:xfrm>
            <a:off x="566928" y="6309360"/>
            <a:ext cx="10149840" cy="365760"/>
          </a:xfrm>
          <a:prstGeom prst="rect">
            <a:avLst/>
          </a:prstGeom>
          <a:noFill/>
        </p:spPr>
        <p:txBody>
          <a:bodyPr wrap="square" lIns="0" rIns="0" tIns="0" bIns="0" anchor="t">
            <a:noAutofit/>
          </a:bodyPr>
          <a:lstStyle/>
          <a:p>
            <a:pPr algn="l">
              <a:lnSpc>
                <a:spcPct val="100000"/>
              </a:lnSpc>
            </a:pPr>
            <a:r>
              <a:rPr sz="900" b="0" i="0">
                <a:solidFill>
                  <a:srgbClr val="5B6456"/>
                </a:solidFill>
                <a:latin typeface="Arial"/>
              </a:rPr>
              <a:t>Two options fixed on 23 September 2026. Pot = daily contribution x days; roster = collectors a day x days.</a:t>
            </a:r>
          </a:p>
        </p:txBody>
      </p:sp>
      <p:sp>
        <p:nvSpPr>
          <p:cNvPr id="6" name="TextBox 5"/>
          <p:cNvSpPr txBox="1"/>
          <p:nvPr/>
        </p:nvSpPr>
        <p:spPr>
          <a:xfrm>
            <a:off x="11076127" y="6355080"/>
            <a:ext cx="548640" cy="228600"/>
          </a:xfrm>
          <a:prstGeom prst="rect">
            <a:avLst/>
          </a:prstGeom>
          <a:noFill/>
        </p:spPr>
        <p:txBody>
          <a:bodyPr wrap="square" lIns="0" rIns="0" tIns="0" bIns="0" anchor="t">
            <a:noAutofit/>
          </a:bodyPr>
          <a:lstStyle/>
          <a:p>
            <a:pPr algn="r">
              <a:lnSpc>
                <a:spcPct val="110000"/>
              </a:lnSpc>
            </a:pPr>
            <a:r>
              <a:rPr sz="1000" b="0" i="0">
                <a:solidFill>
                  <a:srgbClr val="5B6456"/>
                </a:solidFill>
                <a:latin typeface="Arial"/>
              </a:rPr>
              <a:t>27</a:t>
            </a:r>
          </a:p>
        </p:txBody>
      </p:sp>
      <p:sp>
        <p:nvSpPr>
          <p:cNvPr id="7" name="TextBox 6"/>
          <p:cNvSpPr txBox="1"/>
          <p:nvPr/>
        </p:nvSpPr>
        <p:spPr>
          <a:xfrm>
            <a:off x="566928" y="1783080"/>
            <a:ext cx="2852928" cy="393192"/>
          </a:xfrm>
          <a:prstGeom prst="rect">
            <a:avLst/>
          </a:prstGeom>
          <a:noFill/>
        </p:spPr>
        <p:txBody>
          <a:bodyPr wrap="square" lIns="0" rIns="0" tIns="0" bIns="0" anchor="b">
            <a:noAutofit/>
          </a:bodyPr>
          <a:lstStyle/>
          <a:p>
            <a:pPr algn="l">
              <a:lnSpc>
                <a:spcPct val="110000"/>
              </a:lnSpc>
            </a:pPr>
          </a:p>
        </p:txBody>
      </p:sp>
      <p:sp>
        <p:nvSpPr>
          <p:cNvPr id="8" name="TextBox 7"/>
          <p:cNvSpPr txBox="1"/>
          <p:nvPr/>
        </p:nvSpPr>
        <p:spPr>
          <a:xfrm>
            <a:off x="3566160" y="1783080"/>
            <a:ext cx="1664207" cy="393192"/>
          </a:xfrm>
          <a:prstGeom prst="rect">
            <a:avLst/>
          </a:prstGeom>
          <a:noFill/>
        </p:spPr>
        <p:txBody>
          <a:bodyPr wrap="square" lIns="0" rIns="0" tIns="0" bIns="0" anchor="b">
            <a:noAutofit/>
          </a:bodyPr>
          <a:lstStyle/>
          <a:p>
            <a:pPr algn="l">
              <a:lnSpc>
                <a:spcPct val="110000"/>
              </a:lnSpc>
            </a:pPr>
            <a:r>
              <a:rPr sz="1300" b="1" i="0">
                <a:solidFill>
                  <a:srgbClr val="41801A"/>
                </a:solidFill>
                <a:latin typeface="Arial"/>
              </a:rPr>
              <a:t>Option 1</a:t>
            </a:r>
          </a:p>
        </p:txBody>
      </p:sp>
      <p:sp>
        <p:nvSpPr>
          <p:cNvPr id="9" name="TextBox 8"/>
          <p:cNvSpPr txBox="1"/>
          <p:nvPr/>
        </p:nvSpPr>
        <p:spPr>
          <a:xfrm>
            <a:off x="5303520" y="1783080"/>
            <a:ext cx="1664207" cy="393192"/>
          </a:xfrm>
          <a:prstGeom prst="rect">
            <a:avLst/>
          </a:prstGeom>
          <a:noFill/>
        </p:spPr>
        <p:txBody>
          <a:bodyPr wrap="square" lIns="0" rIns="0" tIns="0" bIns="0" anchor="b">
            <a:noAutofit/>
          </a:bodyPr>
          <a:lstStyle/>
          <a:p>
            <a:pPr algn="l">
              <a:lnSpc>
                <a:spcPct val="110000"/>
              </a:lnSpc>
            </a:pPr>
            <a:r>
              <a:rPr sz="1300" b="1" i="0">
                <a:solidFill>
                  <a:srgbClr val="41801A"/>
                </a:solidFill>
                <a:latin typeface="Arial"/>
              </a:rPr>
              <a:t>Option 2</a:t>
            </a:r>
          </a:p>
        </p:txBody>
      </p:sp>
      <p:cxnSp>
        <p:nvCxnSpPr>
          <p:cNvPr id="10" name="Connector 9"/>
          <p:cNvCxnSpPr/>
          <p:nvPr/>
        </p:nvCxnSpPr>
        <p:spPr>
          <a:xfrm>
            <a:off x="566928" y="2212848"/>
            <a:ext cx="6400800" cy="0"/>
          </a:xfrm>
          <a:prstGeom prst="line">
            <a:avLst/>
          </a:prstGeom>
          <a:ln w="12700">
            <a:solidFill>
              <a:srgbClr val="0C1408"/>
            </a:solidFill>
          </a:ln>
        </p:spPr>
      </p:cxnSp>
      <p:sp>
        <p:nvSpPr>
          <p:cNvPr id="11" name="TextBox 10"/>
          <p:cNvSpPr txBox="1"/>
          <p:nvPr/>
        </p:nvSpPr>
        <p:spPr>
          <a:xfrm>
            <a:off x="566928" y="2194560"/>
            <a:ext cx="2816352" cy="393192"/>
          </a:xfrm>
          <a:prstGeom prst="rect">
            <a:avLst/>
          </a:prstGeom>
          <a:noFill/>
        </p:spPr>
        <p:txBody>
          <a:bodyPr wrap="square" lIns="0" rIns="0" tIns="0" bIns="0" anchor="ctr">
            <a:noAutofit/>
          </a:bodyPr>
          <a:lstStyle/>
          <a:p>
            <a:pPr algn="l">
              <a:lnSpc>
                <a:spcPct val="110000"/>
              </a:lnSpc>
            </a:pPr>
            <a:r>
              <a:rPr sz="1300" b="1" i="0">
                <a:solidFill>
                  <a:srgbClr val="0C1408"/>
                </a:solidFill>
                <a:latin typeface="Arial"/>
              </a:rPr>
              <a:t>Members</a:t>
            </a:r>
          </a:p>
        </p:txBody>
      </p:sp>
      <p:sp>
        <p:nvSpPr>
          <p:cNvPr id="12" name="TextBox 11"/>
          <p:cNvSpPr txBox="1"/>
          <p:nvPr/>
        </p:nvSpPr>
        <p:spPr>
          <a:xfrm>
            <a:off x="3566160" y="2194560"/>
            <a:ext cx="1627631" cy="393192"/>
          </a:xfrm>
          <a:prstGeom prst="rect">
            <a:avLst/>
          </a:prstGeom>
          <a:noFill/>
        </p:spPr>
        <p:txBody>
          <a:bodyPr wrap="square" lIns="0" rIns="0" tIns="0" bIns="0" anchor="ctr">
            <a:noAutofit/>
          </a:bodyPr>
          <a:lstStyle/>
          <a:p>
            <a:pPr algn="l">
              <a:lnSpc>
                <a:spcPct val="110000"/>
              </a:lnSpc>
            </a:pPr>
            <a:r>
              <a:rPr sz="1300" b="0" i="0">
                <a:solidFill>
                  <a:srgbClr val="0C1408"/>
                </a:solidFill>
                <a:latin typeface="Arial"/>
              </a:rPr>
              <a:t>400</a:t>
            </a:r>
          </a:p>
        </p:txBody>
      </p:sp>
      <p:sp>
        <p:nvSpPr>
          <p:cNvPr id="13" name="TextBox 12"/>
          <p:cNvSpPr txBox="1"/>
          <p:nvPr/>
        </p:nvSpPr>
        <p:spPr>
          <a:xfrm>
            <a:off x="5303520" y="2194560"/>
            <a:ext cx="1627631" cy="393192"/>
          </a:xfrm>
          <a:prstGeom prst="rect">
            <a:avLst/>
          </a:prstGeom>
          <a:noFill/>
        </p:spPr>
        <p:txBody>
          <a:bodyPr wrap="square" lIns="0" rIns="0" tIns="0" bIns="0" anchor="ctr">
            <a:noAutofit/>
          </a:bodyPr>
          <a:lstStyle/>
          <a:p>
            <a:pPr algn="l">
              <a:lnSpc>
                <a:spcPct val="110000"/>
              </a:lnSpc>
            </a:pPr>
            <a:r>
              <a:rPr sz="1300" b="0" i="0">
                <a:solidFill>
                  <a:srgbClr val="0C1408"/>
                </a:solidFill>
                <a:latin typeface="Arial"/>
              </a:rPr>
              <a:t>390</a:t>
            </a:r>
          </a:p>
        </p:txBody>
      </p:sp>
      <p:cxnSp>
        <p:nvCxnSpPr>
          <p:cNvPr id="14" name="Connector 13"/>
          <p:cNvCxnSpPr/>
          <p:nvPr/>
        </p:nvCxnSpPr>
        <p:spPr>
          <a:xfrm>
            <a:off x="566928" y="2587752"/>
            <a:ext cx="6400800" cy="0"/>
          </a:xfrm>
          <a:prstGeom prst="line">
            <a:avLst/>
          </a:prstGeom>
          <a:ln w="9525">
            <a:solidFill>
              <a:srgbClr val="D5DCD1"/>
            </a:solidFill>
          </a:ln>
        </p:spPr>
      </p:cxnSp>
      <p:sp>
        <p:nvSpPr>
          <p:cNvPr id="15" name="TextBox 14"/>
          <p:cNvSpPr txBox="1"/>
          <p:nvPr/>
        </p:nvSpPr>
        <p:spPr>
          <a:xfrm>
            <a:off x="566928" y="2587752"/>
            <a:ext cx="2816352" cy="393192"/>
          </a:xfrm>
          <a:prstGeom prst="rect">
            <a:avLst/>
          </a:prstGeom>
          <a:noFill/>
        </p:spPr>
        <p:txBody>
          <a:bodyPr wrap="square" lIns="0" rIns="0" tIns="0" bIns="0" anchor="ctr">
            <a:noAutofit/>
          </a:bodyPr>
          <a:lstStyle/>
          <a:p>
            <a:pPr algn="l">
              <a:lnSpc>
                <a:spcPct val="110000"/>
              </a:lnSpc>
            </a:pPr>
            <a:r>
              <a:rPr sz="1300" b="1" i="0">
                <a:solidFill>
                  <a:srgbClr val="0C1408"/>
                </a:solidFill>
                <a:latin typeface="Arial"/>
              </a:rPr>
              <a:t>Days</a:t>
            </a:r>
          </a:p>
        </p:txBody>
      </p:sp>
      <p:sp>
        <p:nvSpPr>
          <p:cNvPr id="16" name="TextBox 15"/>
          <p:cNvSpPr txBox="1"/>
          <p:nvPr/>
        </p:nvSpPr>
        <p:spPr>
          <a:xfrm>
            <a:off x="3566160" y="2587752"/>
            <a:ext cx="1627631" cy="393192"/>
          </a:xfrm>
          <a:prstGeom prst="rect">
            <a:avLst/>
          </a:prstGeom>
          <a:noFill/>
        </p:spPr>
        <p:txBody>
          <a:bodyPr wrap="square" lIns="0" rIns="0" tIns="0" bIns="0" anchor="ctr">
            <a:noAutofit/>
          </a:bodyPr>
          <a:lstStyle/>
          <a:p>
            <a:pPr algn="l">
              <a:lnSpc>
                <a:spcPct val="110000"/>
              </a:lnSpc>
            </a:pPr>
            <a:r>
              <a:rPr sz="1300" b="0" i="0">
                <a:solidFill>
                  <a:srgbClr val="0C1408"/>
                </a:solidFill>
                <a:latin typeface="Arial"/>
              </a:rPr>
              <a:t>50</a:t>
            </a:r>
          </a:p>
        </p:txBody>
      </p:sp>
      <p:sp>
        <p:nvSpPr>
          <p:cNvPr id="17" name="TextBox 16"/>
          <p:cNvSpPr txBox="1"/>
          <p:nvPr/>
        </p:nvSpPr>
        <p:spPr>
          <a:xfrm>
            <a:off x="5303520" y="2587752"/>
            <a:ext cx="1627631" cy="393192"/>
          </a:xfrm>
          <a:prstGeom prst="rect">
            <a:avLst/>
          </a:prstGeom>
          <a:noFill/>
        </p:spPr>
        <p:txBody>
          <a:bodyPr wrap="square" lIns="0" rIns="0" tIns="0" bIns="0" anchor="ctr">
            <a:noAutofit/>
          </a:bodyPr>
          <a:lstStyle/>
          <a:p>
            <a:pPr algn="l">
              <a:lnSpc>
                <a:spcPct val="110000"/>
              </a:lnSpc>
            </a:pPr>
            <a:r>
              <a:rPr sz="1300" b="0" i="0">
                <a:solidFill>
                  <a:srgbClr val="0C1408"/>
                </a:solidFill>
                <a:latin typeface="Arial"/>
              </a:rPr>
              <a:t>26, Sundays off</a:t>
            </a:r>
          </a:p>
        </p:txBody>
      </p:sp>
      <p:cxnSp>
        <p:nvCxnSpPr>
          <p:cNvPr id="18" name="Connector 17"/>
          <p:cNvCxnSpPr/>
          <p:nvPr/>
        </p:nvCxnSpPr>
        <p:spPr>
          <a:xfrm>
            <a:off x="566928" y="2980944"/>
            <a:ext cx="6400800" cy="0"/>
          </a:xfrm>
          <a:prstGeom prst="line">
            <a:avLst/>
          </a:prstGeom>
          <a:ln w="9525">
            <a:solidFill>
              <a:srgbClr val="D5DCD1"/>
            </a:solidFill>
          </a:ln>
        </p:spPr>
      </p:cxnSp>
      <p:sp>
        <p:nvSpPr>
          <p:cNvPr id="19" name="TextBox 18"/>
          <p:cNvSpPr txBox="1"/>
          <p:nvPr/>
        </p:nvSpPr>
        <p:spPr>
          <a:xfrm>
            <a:off x="566928" y="2980944"/>
            <a:ext cx="2816352" cy="393192"/>
          </a:xfrm>
          <a:prstGeom prst="rect">
            <a:avLst/>
          </a:prstGeom>
          <a:noFill/>
        </p:spPr>
        <p:txBody>
          <a:bodyPr wrap="square" lIns="0" rIns="0" tIns="0" bIns="0" anchor="ctr">
            <a:noAutofit/>
          </a:bodyPr>
          <a:lstStyle/>
          <a:p>
            <a:pPr algn="l">
              <a:lnSpc>
                <a:spcPct val="110000"/>
              </a:lnSpc>
            </a:pPr>
            <a:r>
              <a:rPr sz="1300" b="1" i="0">
                <a:solidFill>
                  <a:srgbClr val="0C1408"/>
                </a:solidFill>
                <a:latin typeface="Arial"/>
              </a:rPr>
              <a:t>Members collecting each day</a:t>
            </a:r>
          </a:p>
        </p:txBody>
      </p:sp>
      <p:sp>
        <p:nvSpPr>
          <p:cNvPr id="20" name="TextBox 19"/>
          <p:cNvSpPr txBox="1"/>
          <p:nvPr/>
        </p:nvSpPr>
        <p:spPr>
          <a:xfrm>
            <a:off x="3566160" y="2980944"/>
            <a:ext cx="1627631" cy="393192"/>
          </a:xfrm>
          <a:prstGeom prst="rect">
            <a:avLst/>
          </a:prstGeom>
          <a:noFill/>
        </p:spPr>
        <p:txBody>
          <a:bodyPr wrap="square" lIns="0" rIns="0" tIns="0" bIns="0" anchor="ctr">
            <a:noAutofit/>
          </a:bodyPr>
          <a:lstStyle/>
          <a:p>
            <a:pPr algn="l">
              <a:lnSpc>
                <a:spcPct val="110000"/>
              </a:lnSpc>
            </a:pPr>
            <a:r>
              <a:rPr sz="1300" b="0" i="0">
                <a:solidFill>
                  <a:srgbClr val="0C1408"/>
                </a:solidFill>
                <a:latin typeface="Arial"/>
              </a:rPr>
              <a:t>8</a:t>
            </a:r>
          </a:p>
        </p:txBody>
      </p:sp>
      <p:sp>
        <p:nvSpPr>
          <p:cNvPr id="21" name="TextBox 20"/>
          <p:cNvSpPr txBox="1"/>
          <p:nvPr/>
        </p:nvSpPr>
        <p:spPr>
          <a:xfrm>
            <a:off x="5303520" y="2980944"/>
            <a:ext cx="1627631" cy="393192"/>
          </a:xfrm>
          <a:prstGeom prst="rect">
            <a:avLst/>
          </a:prstGeom>
          <a:noFill/>
        </p:spPr>
        <p:txBody>
          <a:bodyPr wrap="square" lIns="0" rIns="0" tIns="0" bIns="0" anchor="ctr">
            <a:noAutofit/>
          </a:bodyPr>
          <a:lstStyle/>
          <a:p>
            <a:pPr algn="l">
              <a:lnSpc>
                <a:spcPct val="110000"/>
              </a:lnSpc>
            </a:pPr>
            <a:r>
              <a:rPr sz="1300" b="0" i="0">
                <a:solidFill>
                  <a:srgbClr val="0C1408"/>
                </a:solidFill>
                <a:latin typeface="Arial"/>
              </a:rPr>
              <a:t>15</a:t>
            </a:r>
          </a:p>
        </p:txBody>
      </p:sp>
      <p:cxnSp>
        <p:nvCxnSpPr>
          <p:cNvPr id="22" name="Connector 21"/>
          <p:cNvCxnSpPr/>
          <p:nvPr/>
        </p:nvCxnSpPr>
        <p:spPr>
          <a:xfrm>
            <a:off x="566928" y="3374136"/>
            <a:ext cx="6400800" cy="0"/>
          </a:xfrm>
          <a:prstGeom prst="line">
            <a:avLst/>
          </a:prstGeom>
          <a:ln w="9525">
            <a:solidFill>
              <a:srgbClr val="D5DCD1"/>
            </a:solidFill>
          </a:ln>
        </p:spPr>
      </p:cxnSp>
      <p:sp>
        <p:nvSpPr>
          <p:cNvPr id="23" name="TextBox 22"/>
          <p:cNvSpPr txBox="1"/>
          <p:nvPr/>
        </p:nvSpPr>
        <p:spPr>
          <a:xfrm>
            <a:off x="566928" y="3374136"/>
            <a:ext cx="2816352" cy="393192"/>
          </a:xfrm>
          <a:prstGeom prst="rect">
            <a:avLst/>
          </a:prstGeom>
          <a:noFill/>
        </p:spPr>
        <p:txBody>
          <a:bodyPr wrap="square" lIns="0" rIns="0" tIns="0" bIns="0" anchor="ctr">
            <a:noAutofit/>
          </a:bodyPr>
          <a:lstStyle/>
          <a:p>
            <a:pPr algn="l">
              <a:lnSpc>
                <a:spcPct val="110000"/>
              </a:lnSpc>
            </a:pPr>
            <a:r>
              <a:rPr sz="1300" b="1" i="0">
                <a:solidFill>
                  <a:srgbClr val="0C1408"/>
                </a:solidFill>
                <a:latin typeface="Arial"/>
              </a:rPr>
              <a:t>Paid each day</a:t>
            </a:r>
          </a:p>
        </p:txBody>
      </p:sp>
      <p:sp>
        <p:nvSpPr>
          <p:cNvPr id="24" name="TextBox 23"/>
          <p:cNvSpPr txBox="1"/>
          <p:nvPr/>
        </p:nvSpPr>
        <p:spPr>
          <a:xfrm>
            <a:off x="3566160" y="3374136"/>
            <a:ext cx="1627631" cy="393192"/>
          </a:xfrm>
          <a:prstGeom prst="rect">
            <a:avLst/>
          </a:prstGeom>
          <a:noFill/>
        </p:spPr>
        <p:txBody>
          <a:bodyPr wrap="square" lIns="0" rIns="0" tIns="0" bIns="0" anchor="ctr">
            <a:noAutofit/>
          </a:bodyPr>
          <a:lstStyle/>
          <a:p>
            <a:pPr algn="l">
              <a:lnSpc>
                <a:spcPct val="110000"/>
              </a:lnSpc>
            </a:pPr>
            <a:r>
              <a:rPr sz="1300" b="0" i="0">
                <a:solidFill>
                  <a:srgbClr val="0C1408"/>
                </a:solidFill>
                <a:latin typeface="Arial"/>
              </a:rPr>
              <a:t>Rs 450</a:t>
            </a:r>
          </a:p>
        </p:txBody>
      </p:sp>
      <p:sp>
        <p:nvSpPr>
          <p:cNvPr id="25" name="TextBox 24"/>
          <p:cNvSpPr txBox="1"/>
          <p:nvPr/>
        </p:nvSpPr>
        <p:spPr>
          <a:xfrm>
            <a:off x="5303520" y="3374136"/>
            <a:ext cx="1627631" cy="393192"/>
          </a:xfrm>
          <a:prstGeom prst="rect">
            <a:avLst/>
          </a:prstGeom>
          <a:noFill/>
        </p:spPr>
        <p:txBody>
          <a:bodyPr wrap="square" lIns="0" rIns="0" tIns="0" bIns="0" anchor="ctr">
            <a:noAutofit/>
          </a:bodyPr>
          <a:lstStyle/>
          <a:p>
            <a:pPr algn="l">
              <a:lnSpc>
                <a:spcPct val="110000"/>
              </a:lnSpc>
            </a:pPr>
            <a:r>
              <a:rPr sz="1300" b="0" i="0">
                <a:solidFill>
                  <a:srgbClr val="0C1408"/>
                </a:solidFill>
                <a:latin typeface="Arial"/>
              </a:rPr>
              <a:t>Rs 500</a:t>
            </a:r>
          </a:p>
        </p:txBody>
      </p:sp>
      <p:cxnSp>
        <p:nvCxnSpPr>
          <p:cNvPr id="26" name="Connector 25"/>
          <p:cNvCxnSpPr/>
          <p:nvPr/>
        </p:nvCxnSpPr>
        <p:spPr>
          <a:xfrm>
            <a:off x="566928" y="3767328"/>
            <a:ext cx="6400800" cy="0"/>
          </a:xfrm>
          <a:prstGeom prst="line">
            <a:avLst/>
          </a:prstGeom>
          <a:ln w="9525">
            <a:solidFill>
              <a:srgbClr val="D5DCD1"/>
            </a:solidFill>
          </a:ln>
        </p:spPr>
      </p:cxnSp>
      <p:sp>
        <p:nvSpPr>
          <p:cNvPr id="27" name="TextBox 26"/>
          <p:cNvSpPr txBox="1"/>
          <p:nvPr/>
        </p:nvSpPr>
        <p:spPr>
          <a:xfrm>
            <a:off x="566928" y="3767328"/>
            <a:ext cx="2816352" cy="393192"/>
          </a:xfrm>
          <a:prstGeom prst="rect">
            <a:avLst/>
          </a:prstGeom>
          <a:noFill/>
        </p:spPr>
        <p:txBody>
          <a:bodyPr wrap="square" lIns="0" rIns="0" tIns="0" bIns="0" anchor="ctr">
            <a:noAutofit/>
          </a:bodyPr>
          <a:lstStyle/>
          <a:p>
            <a:pPr algn="l">
              <a:lnSpc>
                <a:spcPct val="110000"/>
              </a:lnSpc>
            </a:pPr>
            <a:r>
              <a:rPr sz="1300" b="1" i="0">
                <a:solidFill>
                  <a:srgbClr val="0C1408"/>
                </a:solidFill>
                <a:latin typeface="Arial"/>
              </a:rPr>
              <a:t>  to the pot</a:t>
            </a:r>
          </a:p>
        </p:txBody>
      </p:sp>
      <p:sp>
        <p:nvSpPr>
          <p:cNvPr id="28" name="TextBox 27"/>
          <p:cNvSpPr txBox="1"/>
          <p:nvPr/>
        </p:nvSpPr>
        <p:spPr>
          <a:xfrm>
            <a:off x="3566160" y="3767328"/>
            <a:ext cx="1627631" cy="393192"/>
          </a:xfrm>
          <a:prstGeom prst="rect">
            <a:avLst/>
          </a:prstGeom>
          <a:noFill/>
        </p:spPr>
        <p:txBody>
          <a:bodyPr wrap="square" lIns="0" rIns="0" tIns="0" bIns="0" anchor="ctr">
            <a:noAutofit/>
          </a:bodyPr>
          <a:lstStyle/>
          <a:p>
            <a:pPr algn="l">
              <a:lnSpc>
                <a:spcPct val="110000"/>
              </a:lnSpc>
            </a:pPr>
            <a:r>
              <a:rPr sz="1300" b="0" i="0">
                <a:solidFill>
                  <a:srgbClr val="0C1408"/>
                </a:solidFill>
                <a:latin typeface="Arial"/>
              </a:rPr>
              <a:t>Rs 300</a:t>
            </a:r>
          </a:p>
        </p:txBody>
      </p:sp>
      <p:sp>
        <p:nvSpPr>
          <p:cNvPr id="29" name="TextBox 28"/>
          <p:cNvSpPr txBox="1"/>
          <p:nvPr/>
        </p:nvSpPr>
        <p:spPr>
          <a:xfrm>
            <a:off x="5303520" y="3767328"/>
            <a:ext cx="1627631" cy="393192"/>
          </a:xfrm>
          <a:prstGeom prst="rect">
            <a:avLst/>
          </a:prstGeom>
          <a:noFill/>
        </p:spPr>
        <p:txBody>
          <a:bodyPr wrap="square" lIns="0" rIns="0" tIns="0" bIns="0" anchor="ctr">
            <a:noAutofit/>
          </a:bodyPr>
          <a:lstStyle/>
          <a:p>
            <a:pPr algn="l">
              <a:lnSpc>
                <a:spcPct val="110000"/>
              </a:lnSpc>
            </a:pPr>
            <a:r>
              <a:rPr sz="1300" b="0" i="0">
                <a:solidFill>
                  <a:srgbClr val="0C1408"/>
                </a:solidFill>
                <a:latin typeface="Arial"/>
              </a:rPr>
              <a:t>Rs 333.33</a:t>
            </a:r>
          </a:p>
        </p:txBody>
      </p:sp>
      <p:cxnSp>
        <p:nvCxnSpPr>
          <p:cNvPr id="30" name="Connector 29"/>
          <p:cNvCxnSpPr/>
          <p:nvPr/>
        </p:nvCxnSpPr>
        <p:spPr>
          <a:xfrm>
            <a:off x="566928" y="4160520"/>
            <a:ext cx="6400800" cy="0"/>
          </a:xfrm>
          <a:prstGeom prst="line">
            <a:avLst/>
          </a:prstGeom>
          <a:ln w="9525">
            <a:solidFill>
              <a:srgbClr val="D5DCD1"/>
            </a:solidFill>
          </a:ln>
        </p:spPr>
      </p:cxnSp>
      <p:sp>
        <p:nvSpPr>
          <p:cNvPr id="31" name="TextBox 30"/>
          <p:cNvSpPr txBox="1"/>
          <p:nvPr/>
        </p:nvSpPr>
        <p:spPr>
          <a:xfrm>
            <a:off x="566928" y="4160520"/>
            <a:ext cx="2816352" cy="393192"/>
          </a:xfrm>
          <a:prstGeom prst="rect">
            <a:avLst/>
          </a:prstGeom>
          <a:noFill/>
        </p:spPr>
        <p:txBody>
          <a:bodyPr wrap="square" lIns="0" rIns="0" tIns="0" bIns="0" anchor="ctr">
            <a:noAutofit/>
          </a:bodyPr>
          <a:lstStyle/>
          <a:p>
            <a:pPr algn="l">
              <a:lnSpc>
                <a:spcPct val="110000"/>
              </a:lnSpc>
            </a:pPr>
            <a:r>
              <a:rPr sz="1300" b="1" i="0">
                <a:solidFill>
                  <a:srgbClr val="0C1408"/>
                </a:solidFill>
                <a:latin typeface="Arial"/>
              </a:rPr>
              <a:t>  to cover</a:t>
            </a:r>
          </a:p>
        </p:txBody>
      </p:sp>
      <p:sp>
        <p:nvSpPr>
          <p:cNvPr id="32" name="TextBox 31"/>
          <p:cNvSpPr txBox="1"/>
          <p:nvPr/>
        </p:nvSpPr>
        <p:spPr>
          <a:xfrm>
            <a:off x="3566160" y="4160520"/>
            <a:ext cx="1627631" cy="393192"/>
          </a:xfrm>
          <a:prstGeom prst="rect">
            <a:avLst/>
          </a:prstGeom>
          <a:noFill/>
        </p:spPr>
        <p:txBody>
          <a:bodyPr wrap="square" lIns="0" rIns="0" tIns="0" bIns="0" anchor="ctr">
            <a:noAutofit/>
          </a:bodyPr>
          <a:lstStyle/>
          <a:p>
            <a:pPr algn="l">
              <a:lnSpc>
                <a:spcPct val="110000"/>
              </a:lnSpc>
            </a:pPr>
            <a:r>
              <a:rPr sz="1300" b="0" i="0">
                <a:solidFill>
                  <a:srgbClr val="0C1408"/>
                </a:solidFill>
                <a:latin typeface="Arial"/>
              </a:rPr>
              <a:t>Rs 75</a:t>
            </a:r>
          </a:p>
        </p:txBody>
      </p:sp>
      <p:sp>
        <p:nvSpPr>
          <p:cNvPr id="33" name="TextBox 32"/>
          <p:cNvSpPr txBox="1"/>
          <p:nvPr/>
        </p:nvSpPr>
        <p:spPr>
          <a:xfrm>
            <a:off x="5303520" y="4160520"/>
            <a:ext cx="1627631" cy="393192"/>
          </a:xfrm>
          <a:prstGeom prst="rect">
            <a:avLst/>
          </a:prstGeom>
          <a:noFill/>
        </p:spPr>
        <p:txBody>
          <a:bodyPr wrap="square" lIns="0" rIns="0" tIns="0" bIns="0" anchor="ctr">
            <a:noAutofit/>
          </a:bodyPr>
          <a:lstStyle/>
          <a:p>
            <a:pPr algn="l">
              <a:lnSpc>
                <a:spcPct val="110000"/>
              </a:lnSpc>
            </a:pPr>
            <a:r>
              <a:rPr sz="1300" b="0" i="0">
                <a:solidFill>
                  <a:srgbClr val="0C1408"/>
                </a:solidFill>
                <a:latin typeface="Arial"/>
              </a:rPr>
              <a:t>Rs 83.33</a:t>
            </a:r>
          </a:p>
        </p:txBody>
      </p:sp>
      <p:cxnSp>
        <p:nvCxnSpPr>
          <p:cNvPr id="34" name="Connector 33"/>
          <p:cNvCxnSpPr/>
          <p:nvPr/>
        </p:nvCxnSpPr>
        <p:spPr>
          <a:xfrm>
            <a:off x="566928" y="4553712"/>
            <a:ext cx="6400800" cy="0"/>
          </a:xfrm>
          <a:prstGeom prst="line">
            <a:avLst/>
          </a:prstGeom>
          <a:ln w="9525">
            <a:solidFill>
              <a:srgbClr val="D5DCD1"/>
            </a:solidFill>
          </a:ln>
        </p:spPr>
      </p:cxnSp>
      <p:sp>
        <p:nvSpPr>
          <p:cNvPr id="35" name="TextBox 34"/>
          <p:cNvSpPr txBox="1"/>
          <p:nvPr/>
        </p:nvSpPr>
        <p:spPr>
          <a:xfrm>
            <a:off x="566928" y="4553712"/>
            <a:ext cx="2816352" cy="393192"/>
          </a:xfrm>
          <a:prstGeom prst="rect">
            <a:avLst/>
          </a:prstGeom>
          <a:noFill/>
        </p:spPr>
        <p:txBody>
          <a:bodyPr wrap="square" lIns="0" rIns="0" tIns="0" bIns="0" anchor="ctr">
            <a:noAutofit/>
          </a:bodyPr>
          <a:lstStyle/>
          <a:p>
            <a:pPr algn="l">
              <a:lnSpc>
                <a:spcPct val="110000"/>
              </a:lnSpc>
            </a:pPr>
            <a:r>
              <a:rPr sz="1300" b="1" i="0">
                <a:solidFill>
                  <a:srgbClr val="0C1408"/>
                </a:solidFill>
                <a:latin typeface="Arial"/>
              </a:rPr>
              <a:t>  fee</a:t>
            </a:r>
          </a:p>
        </p:txBody>
      </p:sp>
      <p:sp>
        <p:nvSpPr>
          <p:cNvPr id="36" name="TextBox 35"/>
          <p:cNvSpPr txBox="1"/>
          <p:nvPr/>
        </p:nvSpPr>
        <p:spPr>
          <a:xfrm>
            <a:off x="3566160" y="4553712"/>
            <a:ext cx="1627631" cy="393192"/>
          </a:xfrm>
          <a:prstGeom prst="rect">
            <a:avLst/>
          </a:prstGeom>
          <a:noFill/>
        </p:spPr>
        <p:txBody>
          <a:bodyPr wrap="square" lIns="0" rIns="0" tIns="0" bIns="0" anchor="ctr">
            <a:noAutofit/>
          </a:bodyPr>
          <a:lstStyle/>
          <a:p>
            <a:pPr algn="l">
              <a:lnSpc>
                <a:spcPct val="110000"/>
              </a:lnSpc>
            </a:pPr>
            <a:r>
              <a:rPr sz="1300" b="0" i="0">
                <a:solidFill>
                  <a:srgbClr val="0C1408"/>
                </a:solidFill>
                <a:latin typeface="Arial"/>
              </a:rPr>
              <a:t>Rs 75</a:t>
            </a:r>
          </a:p>
        </p:txBody>
      </p:sp>
      <p:sp>
        <p:nvSpPr>
          <p:cNvPr id="37" name="TextBox 36"/>
          <p:cNvSpPr txBox="1"/>
          <p:nvPr/>
        </p:nvSpPr>
        <p:spPr>
          <a:xfrm>
            <a:off x="5303520" y="4553712"/>
            <a:ext cx="1627631" cy="393192"/>
          </a:xfrm>
          <a:prstGeom prst="rect">
            <a:avLst/>
          </a:prstGeom>
          <a:noFill/>
        </p:spPr>
        <p:txBody>
          <a:bodyPr wrap="square" lIns="0" rIns="0" tIns="0" bIns="0" anchor="ctr">
            <a:noAutofit/>
          </a:bodyPr>
          <a:lstStyle/>
          <a:p>
            <a:pPr algn="l">
              <a:lnSpc>
                <a:spcPct val="110000"/>
              </a:lnSpc>
            </a:pPr>
            <a:r>
              <a:rPr sz="1300" b="0" i="0">
                <a:solidFill>
                  <a:srgbClr val="0C1408"/>
                </a:solidFill>
                <a:latin typeface="Arial"/>
              </a:rPr>
              <a:t>Rs 83.33</a:t>
            </a:r>
          </a:p>
        </p:txBody>
      </p:sp>
      <p:cxnSp>
        <p:nvCxnSpPr>
          <p:cNvPr id="38" name="Connector 37"/>
          <p:cNvCxnSpPr/>
          <p:nvPr/>
        </p:nvCxnSpPr>
        <p:spPr>
          <a:xfrm>
            <a:off x="566928" y="4946903"/>
            <a:ext cx="6400800" cy="0"/>
          </a:xfrm>
          <a:prstGeom prst="line">
            <a:avLst/>
          </a:prstGeom>
          <a:ln w="9525">
            <a:solidFill>
              <a:srgbClr val="D5DCD1"/>
            </a:solidFill>
          </a:ln>
        </p:spPr>
      </p:cxnSp>
      <p:sp>
        <p:nvSpPr>
          <p:cNvPr id="39" name="TextBox 38"/>
          <p:cNvSpPr txBox="1"/>
          <p:nvPr/>
        </p:nvSpPr>
        <p:spPr>
          <a:xfrm>
            <a:off x="566928" y="4946903"/>
            <a:ext cx="2816352" cy="393192"/>
          </a:xfrm>
          <a:prstGeom prst="rect">
            <a:avLst/>
          </a:prstGeom>
          <a:noFill/>
        </p:spPr>
        <p:txBody>
          <a:bodyPr wrap="square" lIns="0" rIns="0" tIns="0" bIns="0" anchor="ctr">
            <a:noAutofit/>
          </a:bodyPr>
          <a:lstStyle/>
          <a:p>
            <a:pPr algn="l">
              <a:lnSpc>
                <a:spcPct val="110000"/>
              </a:lnSpc>
            </a:pPr>
            <a:r>
              <a:rPr sz="1300" b="1" i="0">
                <a:solidFill>
                  <a:srgbClr val="0C1408"/>
                </a:solidFill>
                <a:latin typeface="Arial"/>
              </a:rPr>
              <a:t>Pot, collected once</a:t>
            </a:r>
          </a:p>
        </p:txBody>
      </p:sp>
      <p:sp>
        <p:nvSpPr>
          <p:cNvPr id="40" name="TextBox 39"/>
          <p:cNvSpPr txBox="1"/>
          <p:nvPr/>
        </p:nvSpPr>
        <p:spPr>
          <a:xfrm>
            <a:off x="3566160" y="4946903"/>
            <a:ext cx="1627631" cy="393192"/>
          </a:xfrm>
          <a:prstGeom prst="rect">
            <a:avLst/>
          </a:prstGeom>
          <a:noFill/>
        </p:spPr>
        <p:txBody>
          <a:bodyPr wrap="square" lIns="0" rIns="0" tIns="0" bIns="0" anchor="ctr">
            <a:noAutofit/>
          </a:bodyPr>
          <a:lstStyle/>
          <a:p>
            <a:pPr algn="l">
              <a:lnSpc>
                <a:spcPct val="110000"/>
              </a:lnSpc>
            </a:pPr>
            <a:r>
              <a:rPr sz="1300" b="0" i="0">
                <a:solidFill>
                  <a:srgbClr val="0C1408"/>
                </a:solidFill>
                <a:latin typeface="Arial"/>
              </a:rPr>
              <a:t>Rs 15,000</a:t>
            </a:r>
          </a:p>
        </p:txBody>
      </p:sp>
      <p:sp>
        <p:nvSpPr>
          <p:cNvPr id="41" name="TextBox 40"/>
          <p:cNvSpPr txBox="1"/>
          <p:nvPr/>
        </p:nvSpPr>
        <p:spPr>
          <a:xfrm>
            <a:off x="5303520" y="4946903"/>
            <a:ext cx="1627631" cy="393192"/>
          </a:xfrm>
          <a:prstGeom prst="rect">
            <a:avLst/>
          </a:prstGeom>
          <a:noFill/>
        </p:spPr>
        <p:txBody>
          <a:bodyPr wrap="square" lIns="0" rIns="0" tIns="0" bIns="0" anchor="ctr">
            <a:noAutofit/>
          </a:bodyPr>
          <a:lstStyle/>
          <a:p>
            <a:pPr algn="l">
              <a:lnSpc>
                <a:spcPct val="110000"/>
              </a:lnSpc>
            </a:pPr>
            <a:r>
              <a:rPr sz="1300" b="0" i="0">
                <a:solidFill>
                  <a:srgbClr val="0C1408"/>
                </a:solidFill>
                <a:latin typeface="Arial"/>
              </a:rPr>
              <a:t>Rs 8,666.67</a:t>
            </a:r>
          </a:p>
        </p:txBody>
      </p:sp>
      <p:cxnSp>
        <p:nvCxnSpPr>
          <p:cNvPr id="42" name="Connector 41"/>
          <p:cNvCxnSpPr/>
          <p:nvPr/>
        </p:nvCxnSpPr>
        <p:spPr>
          <a:xfrm>
            <a:off x="566928" y="5340095"/>
            <a:ext cx="6400800" cy="0"/>
          </a:xfrm>
          <a:prstGeom prst="line">
            <a:avLst/>
          </a:prstGeom>
          <a:ln w="9525">
            <a:solidFill>
              <a:srgbClr val="D5DCD1"/>
            </a:solidFill>
          </a:ln>
        </p:spPr>
      </p:cxnSp>
      <p:sp>
        <p:nvSpPr>
          <p:cNvPr id="43" name="TextBox 42"/>
          <p:cNvSpPr txBox="1"/>
          <p:nvPr/>
        </p:nvSpPr>
        <p:spPr>
          <a:xfrm>
            <a:off x="566928" y="5340095"/>
            <a:ext cx="2816352" cy="393192"/>
          </a:xfrm>
          <a:prstGeom prst="rect">
            <a:avLst/>
          </a:prstGeom>
          <a:noFill/>
        </p:spPr>
        <p:txBody>
          <a:bodyPr wrap="square" lIns="0" rIns="0" tIns="0" bIns="0" anchor="ctr">
            <a:noAutofit/>
          </a:bodyPr>
          <a:lstStyle/>
          <a:p>
            <a:pPr algn="l">
              <a:lnSpc>
                <a:spcPct val="110000"/>
              </a:lnSpc>
            </a:pPr>
            <a:r>
              <a:rPr sz="1300" b="1" i="0">
                <a:solidFill>
                  <a:srgbClr val="0C1408"/>
                </a:solidFill>
                <a:latin typeface="Arial"/>
              </a:rPr>
              <a:t>Paid over the cycle</a:t>
            </a:r>
          </a:p>
        </p:txBody>
      </p:sp>
      <p:sp>
        <p:nvSpPr>
          <p:cNvPr id="44" name="TextBox 43"/>
          <p:cNvSpPr txBox="1"/>
          <p:nvPr/>
        </p:nvSpPr>
        <p:spPr>
          <a:xfrm>
            <a:off x="3566160" y="5340095"/>
            <a:ext cx="1627631" cy="393192"/>
          </a:xfrm>
          <a:prstGeom prst="rect">
            <a:avLst/>
          </a:prstGeom>
          <a:noFill/>
        </p:spPr>
        <p:txBody>
          <a:bodyPr wrap="square" lIns="0" rIns="0" tIns="0" bIns="0" anchor="ctr">
            <a:noAutofit/>
          </a:bodyPr>
          <a:lstStyle/>
          <a:p>
            <a:pPr algn="l">
              <a:lnSpc>
                <a:spcPct val="110000"/>
              </a:lnSpc>
            </a:pPr>
            <a:r>
              <a:rPr sz="1300" b="0" i="0">
                <a:solidFill>
                  <a:srgbClr val="0C1408"/>
                </a:solidFill>
                <a:latin typeface="Arial"/>
              </a:rPr>
              <a:t>Rs 22,500</a:t>
            </a:r>
          </a:p>
        </p:txBody>
      </p:sp>
      <p:sp>
        <p:nvSpPr>
          <p:cNvPr id="45" name="TextBox 44"/>
          <p:cNvSpPr txBox="1"/>
          <p:nvPr/>
        </p:nvSpPr>
        <p:spPr>
          <a:xfrm>
            <a:off x="5303520" y="5340095"/>
            <a:ext cx="1627631" cy="393192"/>
          </a:xfrm>
          <a:prstGeom prst="rect">
            <a:avLst/>
          </a:prstGeom>
          <a:noFill/>
        </p:spPr>
        <p:txBody>
          <a:bodyPr wrap="square" lIns="0" rIns="0" tIns="0" bIns="0" anchor="ctr">
            <a:noAutofit/>
          </a:bodyPr>
          <a:lstStyle/>
          <a:p>
            <a:pPr algn="l">
              <a:lnSpc>
                <a:spcPct val="110000"/>
              </a:lnSpc>
            </a:pPr>
            <a:r>
              <a:rPr sz="1300" b="0" i="0">
                <a:solidFill>
                  <a:srgbClr val="0C1408"/>
                </a:solidFill>
                <a:latin typeface="Arial"/>
              </a:rPr>
              <a:t>Rs 13,000</a:t>
            </a:r>
          </a:p>
        </p:txBody>
      </p:sp>
      <p:cxnSp>
        <p:nvCxnSpPr>
          <p:cNvPr id="46" name="Connector 45"/>
          <p:cNvCxnSpPr/>
          <p:nvPr/>
        </p:nvCxnSpPr>
        <p:spPr>
          <a:xfrm>
            <a:off x="566928" y="5733287"/>
            <a:ext cx="6400800" cy="0"/>
          </a:xfrm>
          <a:prstGeom prst="line">
            <a:avLst/>
          </a:prstGeom>
          <a:ln w="9525">
            <a:solidFill>
              <a:srgbClr val="D5DCD1"/>
            </a:solidFill>
          </a:ln>
        </p:spPr>
      </p:cxnSp>
      <p:cxnSp>
        <p:nvCxnSpPr>
          <p:cNvPr id="47" name="Connector 46"/>
          <p:cNvCxnSpPr/>
          <p:nvPr/>
        </p:nvCxnSpPr>
        <p:spPr>
          <a:xfrm>
            <a:off x="7498079" y="1810512"/>
            <a:ext cx="4114801" cy="0"/>
          </a:xfrm>
          <a:prstGeom prst="line">
            <a:avLst/>
          </a:prstGeom>
          <a:ln w="9525">
            <a:solidFill>
              <a:srgbClr val="D5DCD1"/>
            </a:solidFill>
          </a:ln>
        </p:spPr>
      </p:cxnSp>
      <p:sp>
        <p:nvSpPr>
          <p:cNvPr id="48" name="TextBox 47"/>
          <p:cNvSpPr txBox="1"/>
          <p:nvPr/>
        </p:nvSpPr>
        <p:spPr>
          <a:xfrm>
            <a:off x="7498079" y="1901952"/>
            <a:ext cx="4114800" cy="822960"/>
          </a:xfrm>
          <a:prstGeom prst="rect">
            <a:avLst/>
          </a:prstGeom>
          <a:noFill/>
        </p:spPr>
        <p:txBody>
          <a:bodyPr wrap="square" lIns="0" rIns="0" tIns="0" bIns="0" anchor="t">
            <a:noAutofit/>
          </a:bodyPr>
          <a:lstStyle/>
          <a:p>
            <a:pPr algn="l">
              <a:lnSpc>
                <a:spcPct val="105000"/>
              </a:lnSpc>
            </a:pPr>
            <a:r>
              <a:rPr sz="1250" b="1" i="0">
                <a:solidFill>
                  <a:srgbClr val="0C1408"/>
                </a:solidFill>
                <a:latin typeface="Arial"/>
              </a:rPr>
              <a:t>Who.</a:t>
            </a:r>
            <a:r>
              <a:rPr sz="1250" b="0" i="0">
                <a:solidFill>
                  <a:srgbClr val="0C1408"/>
                </a:solidFill>
                <a:latin typeface="Arial"/>
              </a:rPr>
              <a:t> Drivers, riders and traders paid daily, often through employers and associations as hosts.</a:t>
            </a:r>
          </a:p>
        </p:txBody>
      </p:sp>
      <p:cxnSp>
        <p:nvCxnSpPr>
          <p:cNvPr id="49" name="Connector 48"/>
          <p:cNvCxnSpPr/>
          <p:nvPr/>
        </p:nvCxnSpPr>
        <p:spPr>
          <a:xfrm>
            <a:off x="7498079" y="2633472"/>
            <a:ext cx="4114801" cy="0"/>
          </a:xfrm>
          <a:prstGeom prst="line">
            <a:avLst/>
          </a:prstGeom>
          <a:ln w="9525">
            <a:solidFill>
              <a:srgbClr val="D5DCD1"/>
            </a:solidFill>
          </a:ln>
        </p:spPr>
      </p:cxnSp>
      <p:sp>
        <p:nvSpPr>
          <p:cNvPr id="50" name="TextBox 49"/>
          <p:cNvSpPr txBox="1"/>
          <p:nvPr/>
        </p:nvSpPr>
        <p:spPr>
          <a:xfrm>
            <a:off x="7498079" y="2724912"/>
            <a:ext cx="4114800" cy="822960"/>
          </a:xfrm>
          <a:prstGeom prst="rect">
            <a:avLst/>
          </a:prstGeom>
          <a:noFill/>
        </p:spPr>
        <p:txBody>
          <a:bodyPr wrap="square" lIns="0" rIns="0" tIns="0" bIns="0" anchor="t">
            <a:noAutofit/>
          </a:bodyPr>
          <a:lstStyle/>
          <a:p>
            <a:pPr algn="l">
              <a:lnSpc>
                <a:spcPct val="105000"/>
              </a:lnSpc>
            </a:pPr>
            <a:r>
              <a:rPr sz="1250" b="1" i="0">
                <a:solidFill>
                  <a:srgbClr val="0C1408"/>
                </a:solidFill>
                <a:latin typeface="Arial"/>
              </a:rPr>
              <a:t>Entry.</a:t>
            </a:r>
            <a:r>
              <a:rPr sz="1250" b="0" i="0">
                <a:solidFill>
                  <a:srgbClr val="0C1408"/>
                </a:solidFill>
                <a:latin typeface="Arial"/>
              </a:rPr>
              <a:t> Rs 1,000 or more received on five days a week for eight weeks; two clean circles; one Hyper circle at a time.</a:t>
            </a:r>
          </a:p>
        </p:txBody>
      </p:sp>
      <p:cxnSp>
        <p:nvCxnSpPr>
          <p:cNvPr id="51" name="Connector 50"/>
          <p:cNvCxnSpPr/>
          <p:nvPr/>
        </p:nvCxnSpPr>
        <p:spPr>
          <a:xfrm>
            <a:off x="7498079" y="3456432"/>
            <a:ext cx="4114801" cy="0"/>
          </a:xfrm>
          <a:prstGeom prst="line">
            <a:avLst/>
          </a:prstGeom>
          <a:ln w="9525">
            <a:solidFill>
              <a:srgbClr val="D5DCD1"/>
            </a:solidFill>
          </a:ln>
        </p:spPr>
      </p:cxnSp>
      <p:sp>
        <p:nvSpPr>
          <p:cNvPr id="52" name="TextBox 51"/>
          <p:cNvSpPr txBox="1"/>
          <p:nvPr/>
        </p:nvSpPr>
        <p:spPr>
          <a:xfrm>
            <a:off x="7498079" y="3547872"/>
            <a:ext cx="4114800" cy="822960"/>
          </a:xfrm>
          <a:prstGeom prst="rect">
            <a:avLst/>
          </a:prstGeom>
          <a:noFill/>
        </p:spPr>
        <p:txBody>
          <a:bodyPr wrap="square" lIns="0" rIns="0" tIns="0" bIns="0" anchor="t">
            <a:noAutofit/>
          </a:bodyPr>
          <a:lstStyle/>
          <a:p>
            <a:pPr algn="l">
              <a:lnSpc>
                <a:spcPct val="105000"/>
              </a:lnSpc>
            </a:pPr>
            <a:r>
              <a:rPr sz="1250" b="1" i="0">
                <a:solidFill>
                  <a:srgbClr val="0C1408"/>
                </a:solidFill>
                <a:latin typeface="Arial"/>
              </a:rPr>
              <a:t>Always.</a:t>
            </a:r>
            <a:r>
              <a:rPr sz="1250" b="0" i="0">
                <a:solidFill>
                  <a:srgbClr val="0C1408"/>
                </a:solidFill>
                <a:latin typeface="Arial"/>
              </a:rPr>
              <a:t> Automatic debit and cover for every member; one flat fee, never graded by the day of collection.</a:t>
            </a:r>
          </a:p>
        </p:txBody>
      </p:sp>
      <p:cxnSp>
        <p:nvCxnSpPr>
          <p:cNvPr id="53" name="Connector 52"/>
          <p:cNvCxnSpPr/>
          <p:nvPr/>
        </p:nvCxnSpPr>
        <p:spPr>
          <a:xfrm>
            <a:off x="7498079" y="4279392"/>
            <a:ext cx="4114801" cy="0"/>
          </a:xfrm>
          <a:prstGeom prst="line">
            <a:avLst/>
          </a:prstGeom>
          <a:ln w="9525">
            <a:solidFill>
              <a:srgbClr val="D5DCD1"/>
            </a:solidFill>
          </a:ln>
        </p:spPr>
      </p:cxnSp>
      <p:sp>
        <p:nvSpPr>
          <p:cNvPr id="54" name="TextBox 53"/>
          <p:cNvSpPr txBox="1"/>
          <p:nvPr/>
        </p:nvSpPr>
        <p:spPr>
          <a:xfrm>
            <a:off x="7498079" y="4370831"/>
            <a:ext cx="4114800" cy="822960"/>
          </a:xfrm>
          <a:prstGeom prst="rect">
            <a:avLst/>
          </a:prstGeom>
          <a:noFill/>
        </p:spPr>
        <p:txBody>
          <a:bodyPr wrap="square" lIns="0" rIns="0" tIns="0" bIns="0" anchor="t">
            <a:noAutofit/>
          </a:bodyPr>
          <a:lstStyle/>
          <a:p>
            <a:pPr algn="l">
              <a:lnSpc>
                <a:spcPct val="105000"/>
              </a:lnSpc>
            </a:pPr>
            <a:r>
              <a:rPr sz="1250" b="1" i="0">
                <a:solidFill>
                  <a:srgbClr val="0C1408"/>
                </a:solidFill>
                <a:latin typeface="Arial"/>
              </a:rPr>
              <a:t>Hard stop.</a:t>
            </a:r>
            <a:r>
              <a:rPr sz="1250" b="0" i="0">
                <a:solidFill>
                  <a:srgbClr val="0C1408"/>
                </a:solidFill>
                <a:latin typeface="Arial"/>
              </a:rPr>
              <a:t> No new day opens once unrecovered losses would exceed the cover.</a:t>
            </a:r>
          </a:p>
        </p:txBody>
      </p:sp>
      <p:cxnSp>
        <p:nvCxnSpPr>
          <p:cNvPr id="55" name="Connector 54"/>
          <p:cNvCxnSpPr/>
          <p:nvPr/>
        </p:nvCxnSpPr>
        <p:spPr>
          <a:xfrm>
            <a:off x="7498079" y="5102352"/>
            <a:ext cx="4114801" cy="0"/>
          </a:xfrm>
          <a:prstGeom prst="line">
            <a:avLst/>
          </a:prstGeom>
          <a:ln w="9525">
            <a:solidFill>
              <a:srgbClr val="D5DCD1"/>
            </a:solidFill>
          </a:ln>
        </p:spPr>
      </p:cxnSp>
      <p:sp>
        <p:nvSpPr>
          <p:cNvPr id="56" name="TextBox 55"/>
          <p:cNvSpPr txBox="1"/>
          <p:nvPr/>
        </p:nvSpPr>
        <p:spPr>
          <a:xfrm>
            <a:off x="7498079" y="5193792"/>
            <a:ext cx="4114800" cy="822960"/>
          </a:xfrm>
          <a:prstGeom prst="rect">
            <a:avLst/>
          </a:prstGeom>
          <a:noFill/>
        </p:spPr>
        <p:txBody>
          <a:bodyPr wrap="square" lIns="0" rIns="0" tIns="0" bIns="0" anchor="t">
            <a:noAutofit/>
          </a:bodyPr>
          <a:lstStyle/>
          <a:p>
            <a:pPr algn="l">
              <a:lnSpc>
                <a:spcPct val="105000"/>
              </a:lnSpc>
            </a:pPr>
            <a:r>
              <a:rPr sz="1250" b="1" i="0">
                <a:solidFill>
                  <a:srgbClr val="0C1408"/>
                </a:solidFill>
                <a:latin typeface="Arial"/>
              </a:rPr>
              <a:t>Late fees.</a:t>
            </a:r>
            <a:r>
              <a:rPr sz="1250" b="0" i="0">
                <a:solidFill>
                  <a:srgbClr val="0C1408"/>
                </a:solidFill>
                <a:latin typeface="Arial"/>
              </a:rPr>
              <a:t> 5%, 10% and 15% at 12, 36 and 60 hours.</a:t>
            </a:r>
          </a:p>
        </p:txBody>
      </p:sp>
      <p:cxnSp>
        <p:nvCxnSpPr>
          <p:cNvPr id="57" name="Connector 56"/>
          <p:cNvCxnSpPr/>
          <p:nvPr/>
        </p:nvCxnSpPr>
        <p:spPr>
          <a:xfrm>
            <a:off x="7498079" y="5925312"/>
            <a:ext cx="4114801" cy="0"/>
          </a:xfrm>
          <a:prstGeom prst="line">
            <a:avLst/>
          </a:prstGeom>
          <a:ln w="9525">
            <a:solidFill>
              <a:srgbClr val="D5DCD1"/>
            </a:solidFill>
          </a:ln>
        </p:spPr>
      </p:cxn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9509760" cy="566928"/>
          </a:xfrm>
          <a:prstGeom prst="rect">
            <a:avLst/>
          </a:prstGeom>
          <a:noFill/>
        </p:spPr>
        <p:txBody>
          <a:bodyPr wrap="square" lIns="0" rIns="0" tIns="0" bIns="0" anchor="t">
            <a:noAutofit/>
          </a:bodyPr>
          <a:lstStyle/>
          <a:p>
            <a:pPr algn="l">
              <a:lnSpc>
                <a:spcPct val="110000"/>
              </a:lnSpc>
            </a:pPr>
            <a:r>
              <a:rPr sz="2800" b="0" i="0">
                <a:solidFill>
                  <a:srgbClr val="41801A"/>
                </a:solidFill>
                <a:latin typeface="Georgia"/>
              </a:rPr>
              <a:t>Leaving a Circle</a:t>
            </a:r>
          </a:p>
        </p:txBody>
      </p:sp>
      <p:sp>
        <p:nvSpPr>
          <p:cNvPr id="3" name="TextBox 2"/>
          <p:cNvSpPr txBox="1"/>
          <p:nvPr/>
        </p:nvSpPr>
        <p:spPr>
          <a:xfrm>
            <a:off x="566928" y="987552"/>
            <a:ext cx="11057839" cy="411480"/>
          </a:xfrm>
          <a:prstGeom prst="rect">
            <a:avLst/>
          </a:prstGeom>
          <a:noFill/>
        </p:spPr>
        <p:txBody>
          <a:bodyPr wrap="square" lIns="0" rIns="0" tIns="0" bIns="0" anchor="t">
            <a:noAutofit/>
          </a:bodyPr>
          <a:lstStyle/>
          <a:p>
            <a:pPr algn="l">
              <a:lnSpc>
                <a:spcPct val="110000"/>
              </a:lnSpc>
            </a:pPr>
            <a:r>
              <a:rPr sz="1800" b="0" i="0">
                <a:solidFill>
                  <a:srgbClr val="0C1408"/>
                </a:solidFill>
                <a:latin typeface="Arial"/>
              </a:rPr>
              <a:t>There is no cancel button. A member who has not collected leaves by one of five set routes.</a:t>
            </a:r>
          </a:p>
        </p:txBody>
      </p:sp>
      <p:pic>
        <p:nvPicPr>
          <p:cNvPr id="4" name="Picture 3" descr="halqa_logo.png"/>
          <p:cNvPicPr>
            <a:picLocks noChangeAspect="1"/>
          </p:cNvPicPr>
          <p:nvPr/>
        </p:nvPicPr>
        <p:blipFill>
          <a:blip r:embed="rId3"/>
          <a:stretch>
            <a:fillRect/>
          </a:stretch>
        </p:blipFill>
        <p:spPr>
          <a:xfrm>
            <a:off x="10600639" y="457200"/>
            <a:ext cx="1023202" cy="310896"/>
          </a:xfrm>
          <a:prstGeom prst="rect">
            <a:avLst/>
          </a:prstGeom>
        </p:spPr>
      </p:pic>
      <p:sp>
        <p:nvSpPr>
          <p:cNvPr id="5" name="TextBox 4"/>
          <p:cNvSpPr txBox="1"/>
          <p:nvPr/>
        </p:nvSpPr>
        <p:spPr>
          <a:xfrm>
            <a:off x="11076127" y="6355080"/>
            <a:ext cx="548640" cy="228600"/>
          </a:xfrm>
          <a:prstGeom prst="rect">
            <a:avLst/>
          </a:prstGeom>
          <a:noFill/>
        </p:spPr>
        <p:txBody>
          <a:bodyPr wrap="square" lIns="0" rIns="0" tIns="0" bIns="0" anchor="t">
            <a:noAutofit/>
          </a:bodyPr>
          <a:lstStyle/>
          <a:p>
            <a:pPr algn="r">
              <a:lnSpc>
                <a:spcPct val="110000"/>
              </a:lnSpc>
            </a:pPr>
            <a:r>
              <a:rPr sz="1000" b="0" i="0">
                <a:solidFill>
                  <a:srgbClr val="5B6456"/>
                </a:solidFill>
                <a:latin typeface="Arial"/>
              </a:rPr>
              <a:t>28</a:t>
            </a:r>
          </a:p>
        </p:txBody>
      </p:sp>
      <p:cxnSp>
        <p:nvCxnSpPr>
          <p:cNvPr id="6" name="Connector 5"/>
          <p:cNvCxnSpPr/>
          <p:nvPr/>
        </p:nvCxnSpPr>
        <p:spPr>
          <a:xfrm>
            <a:off x="1481328" y="2148840"/>
            <a:ext cx="9235439" cy="0"/>
          </a:xfrm>
          <a:prstGeom prst="line">
            <a:avLst/>
          </a:prstGeom>
          <a:ln w="28575">
            <a:solidFill>
              <a:srgbClr val="41801A"/>
            </a:solidFill>
          </a:ln>
        </p:spPr>
      </p:cxnSp>
      <p:sp>
        <p:nvSpPr>
          <p:cNvPr id="7" name="Oval 6"/>
          <p:cNvSpPr/>
          <p:nvPr/>
        </p:nvSpPr>
        <p:spPr>
          <a:xfrm>
            <a:off x="1389888" y="2057400"/>
            <a:ext cx="182880" cy="182880"/>
          </a:xfrm>
          <a:prstGeom prst="ellipse">
            <a:avLst/>
          </a:prstGeom>
          <a:solidFill>
            <a:srgbClr val="FFFFFF"/>
          </a:solidFill>
          <a:ln w="22225">
            <a:solidFill>
              <a:srgbClr val="41801A"/>
            </a:solidFill>
          </a:ln>
        </p:spPr>
        <p:txBody>
          <a:bodyPr rtlCol="0" anchor="ctr" lIns="0" rIns="0"/>
          <a:lstStyle/>
          <a:p>
            <a:pPr algn="ctr"/>
          </a:p>
        </p:txBody>
      </p:sp>
      <p:sp>
        <p:nvSpPr>
          <p:cNvPr id="8" name="TextBox 7"/>
          <p:cNvSpPr txBox="1"/>
          <p:nvPr/>
        </p:nvSpPr>
        <p:spPr>
          <a:xfrm>
            <a:off x="521208" y="2331720"/>
            <a:ext cx="1920240" cy="274320"/>
          </a:xfrm>
          <a:prstGeom prst="rect">
            <a:avLst/>
          </a:prstGeom>
          <a:noFill/>
        </p:spPr>
        <p:txBody>
          <a:bodyPr wrap="square" lIns="0" rIns="0" tIns="0" bIns="0" anchor="t">
            <a:noAutofit/>
          </a:bodyPr>
          <a:lstStyle/>
          <a:p>
            <a:pPr algn="ctr">
              <a:lnSpc>
                <a:spcPct val="110000"/>
              </a:lnSpc>
            </a:pPr>
            <a:r>
              <a:rPr sz="1400" b="1" i="0">
                <a:solidFill>
                  <a:srgbClr val="0C1408"/>
                </a:solidFill>
                <a:latin typeface="Arial"/>
              </a:rPr>
              <a:t>Window</a:t>
            </a:r>
          </a:p>
        </p:txBody>
      </p:sp>
      <p:sp>
        <p:nvSpPr>
          <p:cNvPr id="9" name="TextBox 8"/>
          <p:cNvSpPr txBox="1"/>
          <p:nvPr/>
        </p:nvSpPr>
        <p:spPr>
          <a:xfrm>
            <a:off x="521208" y="2606040"/>
            <a:ext cx="1920240" cy="822960"/>
          </a:xfrm>
          <a:prstGeom prst="rect">
            <a:avLst/>
          </a:prstGeom>
          <a:noFill/>
        </p:spPr>
        <p:txBody>
          <a:bodyPr wrap="square" lIns="0" rIns="0" tIns="0" bIns="0" anchor="t">
            <a:noAutofit/>
          </a:bodyPr>
          <a:lstStyle/>
          <a:p>
            <a:pPr algn="ctr">
              <a:lnSpc>
                <a:spcPct val="100000"/>
              </a:lnSpc>
            </a:pPr>
            <a:r>
              <a:rPr sz="1100" b="0" i="0">
                <a:solidFill>
                  <a:srgbClr val="5B6456"/>
                </a:solidFill>
                <a:latin typeface="Arial"/>
              </a:rPr>
              <a:t>inside the 24 hours before the start: free, no record</a:t>
            </a:r>
          </a:p>
        </p:txBody>
      </p:sp>
      <p:sp>
        <p:nvSpPr>
          <p:cNvPr id="10" name="Oval 9"/>
          <p:cNvSpPr/>
          <p:nvPr/>
        </p:nvSpPr>
        <p:spPr>
          <a:xfrm>
            <a:off x="3698748" y="2057400"/>
            <a:ext cx="182880" cy="182880"/>
          </a:xfrm>
          <a:prstGeom prst="ellipse">
            <a:avLst/>
          </a:prstGeom>
          <a:solidFill>
            <a:srgbClr val="FFFFFF"/>
          </a:solidFill>
          <a:ln w="22225">
            <a:solidFill>
              <a:srgbClr val="41801A"/>
            </a:solidFill>
          </a:ln>
        </p:spPr>
        <p:txBody>
          <a:bodyPr rtlCol="0" anchor="ctr" lIns="0" rIns="0"/>
          <a:lstStyle/>
          <a:p>
            <a:pPr algn="ctr"/>
          </a:p>
        </p:txBody>
      </p:sp>
      <p:sp>
        <p:nvSpPr>
          <p:cNvPr id="11" name="TextBox 10"/>
          <p:cNvSpPr txBox="1"/>
          <p:nvPr/>
        </p:nvSpPr>
        <p:spPr>
          <a:xfrm>
            <a:off x="2830068" y="2331720"/>
            <a:ext cx="1920240" cy="274320"/>
          </a:xfrm>
          <a:prstGeom prst="rect">
            <a:avLst/>
          </a:prstGeom>
          <a:noFill/>
        </p:spPr>
        <p:txBody>
          <a:bodyPr wrap="square" lIns="0" rIns="0" tIns="0" bIns="0" anchor="t">
            <a:noAutofit/>
          </a:bodyPr>
          <a:lstStyle/>
          <a:p>
            <a:pPr algn="ctr">
              <a:lnSpc>
                <a:spcPct val="110000"/>
              </a:lnSpc>
            </a:pPr>
            <a:r>
              <a:rPr sz="1400" b="1" i="0">
                <a:solidFill>
                  <a:srgbClr val="0C1408"/>
                </a:solidFill>
                <a:latin typeface="Arial"/>
              </a:rPr>
              <a:t>Substitute</a:t>
            </a:r>
          </a:p>
        </p:txBody>
      </p:sp>
      <p:sp>
        <p:nvSpPr>
          <p:cNvPr id="12" name="TextBox 11"/>
          <p:cNvSpPr txBox="1"/>
          <p:nvPr/>
        </p:nvSpPr>
        <p:spPr>
          <a:xfrm>
            <a:off x="2830068" y="2606040"/>
            <a:ext cx="1920240" cy="822960"/>
          </a:xfrm>
          <a:prstGeom prst="rect">
            <a:avLst/>
          </a:prstGeom>
          <a:noFill/>
        </p:spPr>
        <p:txBody>
          <a:bodyPr wrap="square" lIns="0" rIns="0" tIns="0" bIns="0" anchor="t">
            <a:noAutofit/>
          </a:bodyPr>
          <a:lstStyle/>
          <a:p>
            <a:pPr algn="ctr">
              <a:lnSpc>
                <a:spcPct val="100000"/>
              </a:lnSpc>
            </a:pPr>
            <a:r>
              <a:rPr sz="1100" b="0" i="0">
                <a:solidFill>
                  <a:srgbClr val="5B6456"/>
                </a:solidFill>
                <a:latin typeface="Arial"/>
              </a:rPr>
              <a:t>a replacement takes the turn and repays the leaver</a:t>
            </a:r>
          </a:p>
        </p:txBody>
      </p:sp>
      <p:sp>
        <p:nvSpPr>
          <p:cNvPr id="13" name="Oval 12"/>
          <p:cNvSpPr/>
          <p:nvPr/>
        </p:nvSpPr>
        <p:spPr>
          <a:xfrm>
            <a:off x="6007608" y="2057400"/>
            <a:ext cx="182880" cy="182880"/>
          </a:xfrm>
          <a:prstGeom prst="ellipse">
            <a:avLst/>
          </a:prstGeom>
          <a:solidFill>
            <a:srgbClr val="FFFFFF"/>
          </a:solidFill>
          <a:ln w="22225">
            <a:solidFill>
              <a:srgbClr val="41801A"/>
            </a:solidFill>
          </a:ln>
        </p:spPr>
        <p:txBody>
          <a:bodyPr rtlCol="0" anchor="ctr" lIns="0" rIns="0"/>
          <a:lstStyle/>
          <a:p>
            <a:pPr algn="ctr"/>
          </a:p>
        </p:txBody>
      </p:sp>
      <p:sp>
        <p:nvSpPr>
          <p:cNvPr id="14" name="TextBox 13"/>
          <p:cNvSpPr txBox="1"/>
          <p:nvPr/>
        </p:nvSpPr>
        <p:spPr>
          <a:xfrm>
            <a:off x="5138928" y="2331720"/>
            <a:ext cx="1920240" cy="274320"/>
          </a:xfrm>
          <a:prstGeom prst="rect">
            <a:avLst/>
          </a:prstGeom>
          <a:noFill/>
        </p:spPr>
        <p:txBody>
          <a:bodyPr wrap="square" lIns="0" rIns="0" tIns="0" bIns="0" anchor="t">
            <a:noAutofit/>
          </a:bodyPr>
          <a:lstStyle/>
          <a:p>
            <a:pPr algn="ctr">
              <a:lnSpc>
                <a:spcPct val="110000"/>
              </a:lnSpc>
            </a:pPr>
            <a:r>
              <a:rPr sz="1400" b="1" i="0">
                <a:solidFill>
                  <a:srgbClr val="0C1408"/>
                </a:solidFill>
                <a:latin typeface="Arial"/>
              </a:rPr>
              <a:t>Group vote</a:t>
            </a:r>
          </a:p>
        </p:txBody>
      </p:sp>
      <p:sp>
        <p:nvSpPr>
          <p:cNvPr id="15" name="TextBox 14"/>
          <p:cNvSpPr txBox="1"/>
          <p:nvPr/>
        </p:nvSpPr>
        <p:spPr>
          <a:xfrm>
            <a:off x="5138928" y="2606040"/>
            <a:ext cx="1920240" cy="822960"/>
          </a:xfrm>
          <a:prstGeom prst="rect">
            <a:avLst/>
          </a:prstGeom>
          <a:noFill/>
        </p:spPr>
        <p:txBody>
          <a:bodyPr wrap="square" lIns="0" rIns="0" tIns="0" bIns="0" anchor="t">
            <a:noAutofit/>
          </a:bodyPr>
          <a:lstStyle/>
          <a:p>
            <a:pPr algn="ctr">
              <a:lnSpc>
                <a:spcPct val="100000"/>
              </a:lnSpc>
            </a:pPr>
            <a:r>
              <a:rPr sz="1100" b="0" i="0">
                <a:solidFill>
                  <a:srgbClr val="5B6456"/>
                </a:solidFill>
                <a:latin typeface="Arial"/>
              </a:rPr>
              <a:t>72 hour vote; fine of one instalment; money back at the close</a:t>
            </a:r>
          </a:p>
        </p:txBody>
      </p:sp>
      <p:sp>
        <p:nvSpPr>
          <p:cNvPr id="16" name="Oval 15"/>
          <p:cNvSpPr/>
          <p:nvPr/>
        </p:nvSpPr>
        <p:spPr>
          <a:xfrm>
            <a:off x="8316468" y="2057400"/>
            <a:ext cx="182880" cy="182880"/>
          </a:xfrm>
          <a:prstGeom prst="ellipse">
            <a:avLst/>
          </a:prstGeom>
          <a:solidFill>
            <a:srgbClr val="FFFFFF"/>
          </a:solidFill>
          <a:ln w="22225">
            <a:solidFill>
              <a:srgbClr val="41801A"/>
            </a:solidFill>
          </a:ln>
        </p:spPr>
        <p:txBody>
          <a:bodyPr rtlCol="0" anchor="ctr" lIns="0" rIns="0"/>
          <a:lstStyle/>
          <a:p>
            <a:pPr algn="ctr"/>
          </a:p>
        </p:txBody>
      </p:sp>
      <p:sp>
        <p:nvSpPr>
          <p:cNvPr id="17" name="TextBox 16"/>
          <p:cNvSpPr txBox="1"/>
          <p:nvPr/>
        </p:nvSpPr>
        <p:spPr>
          <a:xfrm>
            <a:off x="7447788" y="2331720"/>
            <a:ext cx="1920240" cy="274320"/>
          </a:xfrm>
          <a:prstGeom prst="rect">
            <a:avLst/>
          </a:prstGeom>
          <a:noFill/>
        </p:spPr>
        <p:txBody>
          <a:bodyPr wrap="square" lIns="0" rIns="0" tIns="0" bIns="0" anchor="t">
            <a:noAutofit/>
          </a:bodyPr>
          <a:lstStyle/>
          <a:p>
            <a:pPr algn="ctr">
              <a:lnSpc>
                <a:spcPct val="110000"/>
              </a:lnSpc>
            </a:pPr>
            <a:r>
              <a:rPr sz="1400" b="1" i="0">
                <a:solidFill>
                  <a:srgbClr val="0C1408"/>
                </a:solidFill>
                <a:latin typeface="Arial"/>
              </a:rPr>
              <a:t>Hardship</a:t>
            </a:r>
          </a:p>
        </p:txBody>
      </p:sp>
      <p:sp>
        <p:nvSpPr>
          <p:cNvPr id="18" name="TextBox 17"/>
          <p:cNvSpPr txBox="1"/>
          <p:nvPr/>
        </p:nvSpPr>
        <p:spPr>
          <a:xfrm>
            <a:off x="7447788" y="2606040"/>
            <a:ext cx="1920240" cy="822960"/>
          </a:xfrm>
          <a:prstGeom prst="rect">
            <a:avLst/>
          </a:prstGeom>
          <a:noFill/>
        </p:spPr>
        <p:txBody>
          <a:bodyPr wrap="square" lIns="0" rIns="0" tIns="0" bIns="0" anchor="t">
            <a:noAutofit/>
          </a:bodyPr>
          <a:lstStyle/>
          <a:p>
            <a:pPr algn="ctr">
              <a:lnSpc>
                <a:spcPct val="100000"/>
              </a:lnSpc>
            </a:pPr>
            <a:r>
              <a:rPr sz="1100" b="0" i="0">
                <a:solidFill>
                  <a:srgbClr val="5B6456"/>
                </a:solidFill>
                <a:latin typeface="Arial"/>
              </a:rPr>
              <a:t>recorded statement; fine waived; recorded as hardship</a:t>
            </a:r>
          </a:p>
        </p:txBody>
      </p:sp>
      <p:sp>
        <p:nvSpPr>
          <p:cNvPr id="19" name="Oval 18"/>
          <p:cNvSpPr/>
          <p:nvPr/>
        </p:nvSpPr>
        <p:spPr>
          <a:xfrm>
            <a:off x="10625328" y="2057400"/>
            <a:ext cx="182880" cy="182880"/>
          </a:xfrm>
          <a:prstGeom prst="ellipse">
            <a:avLst/>
          </a:prstGeom>
          <a:solidFill>
            <a:srgbClr val="FFFFFF"/>
          </a:solidFill>
          <a:ln w="22225">
            <a:solidFill>
              <a:srgbClr val="41801A"/>
            </a:solidFill>
          </a:ln>
        </p:spPr>
        <p:txBody>
          <a:bodyPr rtlCol="0" anchor="ctr" lIns="0" rIns="0"/>
          <a:lstStyle/>
          <a:p>
            <a:pPr algn="ctr"/>
          </a:p>
        </p:txBody>
      </p:sp>
      <p:sp>
        <p:nvSpPr>
          <p:cNvPr id="20" name="TextBox 19"/>
          <p:cNvSpPr txBox="1"/>
          <p:nvPr/>
        </p:nvSpPr>
        <p:spPr>
          <a:xfrm>
            <a:off x="9756647" y="2331720"/>
            <a:ext cx="1920240" cy="274320"/>
          </a:xfrm>
          <a:prstGeom prst="rect">
            <a:avLst/>
          </a:prstGeom>
          <a:noFill/>
        </p:spPr>
        <p:txBody>
          <a:bodyPr wrap="square" lIns="0" rIns="0" tIns="0" bIns="0" anchor="t">
            <a:noAutofit/>
          </a:bodyPr>
          <a:lstStyle/>
          <a:p>
            <a:pPr algn="ctr">
              <a:lnSpc>
                <a:spcPct val="110000"/>
              </a:lnSpc>
            </a:pPr>
            <a:r>
              <a:rPr sz="1400" b="1" i="0">
                <a:solidFill>
                  <a:srgbClr val="0C1408"/>
                </a:solidFill>
                <a:latin typeface="Arial"/>
              </a:rPr>
              <a:t>Abandon</a:t>
            </a:r>
          </a:p>
        </p:txBody>
      </p:sp>
      <p:sp>
        <p:nvSpPr>
          <p:cNvPr id="21" name="TextBox 20"/>
          <p:cNvSpPr txBox="1"/>
          <p:nvPr/>
        </p:nvSpPr>
        <p:spPr>
          <a:xfrm>
            <a:off x="9756647" y="2606040"/>
            <a:ext cx="1920240" cy="822960"/>
          </a:xfrm>
          <a:prstGeom prst="rect">
            <a:avLst/>
          </a:prstGeom>
          <a:noFill/>
        </p:spPr>
        <p:txBody>
          <a:bodyPr wrap="square" lIns="0" rIns="0" tIns="0" bIns="0" anchor="t">
            <a:noAutofit/>
          </a:bodyPr>
          <a:lstStyle/>
          <a:p>
            <a:pPr algn="ctr">
              <a:lnSpc>
                <a:spcPct val="100000"/>
              </a:lnSpc>
            </a:pPr>
            <a:r>
              <a:rPr sz="1100" b="0" i="0">
                <a:solidFill>
                  <a:srgbClr val="5B6456"/>
                </a:solidFill>
                <a:latin typeface="Arial"/>
              </a:rPr>
              <a:t>not an exit: the recovery steps apply</a:t>
            </a:r>
          </a:p>
        </p:txBody>
      </p:sp>
      <p:cxnSp>
        <p:nvCxnSpPr>
          <p:cNvPr id="22" name="Connector 21"/>
          <p:cNvCxnSpPr/>
          <p:nvPr/>
        </p:nvCxnSpPr>
        <p:spPr>
          <a:xfrm>
            <a:off x="566928" y="3703320"/>
            <a:ext cx="11057839" cy="0"/>
          </a:xfrm>
          <a:prstGeom prst="line">
            <a:avLst/>
          </a:prstGeom>
          <a:ln w="9525">
            <a:solidFill>
              <a:srgbClr val="D5DCD1"/>
            </a:solidFill>
          </a:ln>
        </p:spPr>
      </p:cxnSp>
      <p:sp>
        <p:nvSpPr>
          <p:cNvPr id="23" name="TextBox 22"/>
          <p:cNvSpPr txBox="1"/>
          <p:nvPr/>
        </p:nvSpPr>
        <p:spPr>
          <a:xfrm>
            <a:off x="566928" y="3840480"/>
            <a:ext cx="4572000" cy="274320"/>
          </a:xfrm>
          <a:prstGeom prst="rect">
            <a:avLst/>
          </a:prstGeom>
          <a:noFill/>
        </p:spPr>
        <p:txBody>
          <a:bodyPr wrap="square" lIns="0" rIns="0" tIns="0" bIns="0" anchor="t">
            <a:noAutofit/>
          </a:bodyPr>
          <a:lstStyle/>
          <a:p>
            <a:pPr algn="l">
              <a:lnSpc>
                <a:spcPct val="110000"/>
              </a:lnSpc>
            </a:pPr>
            <a:r>
              <a:rPr sz="1400" b="1" i="0">
                <a:solidFill>
                  <a:srgbClr val="41801A"/>
                </a:solidFill>
                <a:latin typeface="Arial"/>
              </a:rPr>
              <a:t>Worked example</a:t>
            </a:r>
          </a:p>
        </p:txBody>
      </p:sp>
      <p:sp>
        <p:nvSpPr>
          <p:cNvPr id="24" name="TextBox 23"/>
          <p:cNvSpPr txBox="1"/>
          <p:nvPr/>
        </p:nvSpPr>
        <p:spPr>
          <a:xfrm>
            <a:off x="566928" y="4206240"/>
            <a:ext cx="5486400" cy="1737360"/>
          </a:xfrm>
          <a:prstGeom prst="rect">
            <a:avLst/>
          </a:prstGeom>
          <a:noFill/>
        </p:spPr>
        <p:txBody>
          <a:bodyPr wrap="square" lIns="0" rIns="0" tIns="0" bIns="0" anchor="t">
            <a:noAutofit/>
          </a:bodyPr>
          <a:lstStyle/>
          <a:p>
            <a:pPr algn="l">
              <a:lnSpc>
                <a:spcPct val="110000"/>
              </a:lnSpc>
              <a:spcAft>
                <a:spcPts val="600"/>
              </a:spcAft>
            </a:pPr>
            <a:r>
              <a:rPr sz="1300" b="0" i="0">
                <a:solidFill>
                  <a:srgbClr val="0C1408"/>
                </a:solidFill>
                <a:latin typeface="Arial"/>
              </a:rPr>
              <a:t>Twelve members at Rs 10,000. One leaves after round 4, having paid Rs 40,000.</a:t>
            </a:r>
          </a:p>
          <a:p>
            <a:pPr algn="l">
              <a:lnSpc>
                <a:spcPct val="110000"/>
              </a:lnSpc>
              <a:spcAft>
                <a:spcPts val="600"/>
              </a:spcAft>
            </a:pPr>
            <a:r>
              <a:rPr sz="1300" b="0" i="0">
                <a:solidFill>
                  <a:srgbClr val="0C1408"/>
                </a:solidFill>
                <a:latin typeface="Arial"/>
              </a:rPr>
              <a:t>The circle continues with eleven, so each later pot is Rs 10,000 smaller.</a:t>
            </a:r>
          </a:p>
          <a:p>
            <a:pPr algn="l">
              <a:lnSpc>
                <a:spcPct val="110000"/>
              </a:lnSpc>
              <a:spcAft>
                <a:spcPts val="600"/>
              </a:spcAft>
            </a:pPr>
            <a:r>
              <a:rPr sz="1300" b="0" i="0">
                <a:solidFill>
                  <a:srgbClr val="0C1408"/>
                </a:solidFill>
                <a:latin typeface="Arial"/>
              </a:rPr>
              <a:t>The four members who already collected full pots each return Rs 10,000 at the close.</a:t>
            </a:r>
          </a:p>
        </p:txBody>
      </p:sp>
      <p:sp>
        <p:nvSpPr>
          <p:cNvPr id="25" name="TextBox 24"/>
          <p:cNvSpPr txBox="1"/>
          <p:nvPr/>
        </p:nvSpPr>
        <p:spPr>
          <a:xfrm>
            <a:off x="6675120" y="3840480"/>
            <a:ext cx="4846320" cy="518160"/>
          </a:xfrm>
          <a:prstGeom prst="rect">
            <a:avLst/>
          </a:prstGeom>
          <a:noFill/>
        </p:spPr>
        <p:txBody>
          <a:bodyPr wrap="square" lIns="0" rIns="0" tIns="0" bIns="0" anchor="t">
            <a:noAutofit/>
          </a:bodyPr>
          <a:lstStyle/>
          <a:p>
            <a:pPr algn="l">
              <a:lnSpc>
                <a:spcPct val="110000"/>
              </a:lnSpc>
            </a:pPr>
            <a:r>
              <a:rPr sz="2800" b="0" i="0">
                <a:solidFill>
                  <a:srgbClr val="41801A"/>
                </a:solidFill>
                <a:latin typeface="Georgia"/>
              </a:rPr>
              <a:t>Rs 40,000</a:t>
            </a:r>
          </a:p>
        </p:txBody>
      </p:sp>
      <p:sp>
        <p:nvSpPr>
          <p:cNvPr id="26" name="TextBox 25"/>
          <p:cNvSpPr txBox="1"/>
          <p:nvPr/>
        </p:nvSpPr>
        <p:spPr>
          <a:xfrm>
            <a:off x="6675120" y="4376928"/>
            <a:ext cx="4846320" cy="822960"/>
          </a:xfrm>
          <a:prstGeom prst="rect">
            <a:avLst/>
          </a:prstGeom>
          <a:noFill/>
        </p:spPr>
        <p:txBody>
          <a:bodyPr wrap="square" lIns="0" rIns="0" tIns="0" bIns="0" anchor="t">
            <a:noAutofit/>
          </a:bodyPr>
          <a:lstStyle/>
          <a:p>
            <a:pPr algn="l">
              <a:lnSpc>
                <a:spcPct val="110000"/>
              </a:lnSpc>
            </a:pPr>
            <a:r>
              <a:rPr sz="1300" b="0" i="0">
                <a:solidFill>
                  <a:srgbClr val="0C1408"/>
                </a:solidFill>
                <a:latin typeface="Arial"/>
              </a:rPr>
              <a:t>returned to the leaver at the end of the circle, less any fine, with no profit. The wait is the deterrent.</a:t>
            </a:r>
          </a:p>
        </p:txBody>
      </p:sp>
      <p:sp>
        <p:nvSpPr>
          <p:cNvPr id="27" name="TextBox 26"/>
          <p:cNvSpPr txBox="1"/>
          <p:nvPr/>
        </p:nvSpPr>
        <p:spPr>
          <a:xfrm>
            <a:off x="6675120" y="5349240"/>
            <a:ext cx="4846320" cy="548640"/>
          </a:xfrm>
          <a:prstGeom prst="rect">
            <a:avLst/>
          </a:prstGeom>
          <a:noFill/>
        </p:spPr>
        <p:txBody>
          <a:bodyPr wrap="square" lIns="0" rIns="0" tIns="0" bIns="0" anchor="t">
            <a:noAutofit/>
          </a:bodyPr>
          <a:lstStyle/>
          <a:p>
            <a:pPr algn="l">
              <a:lnSpc>
                <a:spcPct val="110000"/>
              </a:lnSpc>
            </a:pPr>
            <a:r>
              <a:rPr sz="1200" b="0" i="0">
                <a:solidFill>
                  <a:srgbClr val="5B6456"/>
                </a:solidFill>
                <a:latin typeface="Arial"/>
              </a:rPr>
              <a:t>Fines go 70% to the remaining members and 30% to administration; to charity on the Islamic window.</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9509760" cy="566928"/>
          </a:xfrm>
          <a:prstGeom prst="rect">
            <a:avLst/>
          </a:prstGeom>
          <a:noFill/>
        </p:spPr>
        <p:txBody>
          <a:bodyPr wrap="square" lIns="0" rIns="0" tIns="0" bIns="0" anchor="t">
            <a:noAutofit/>
          </a:bodyPr>
          <a:lstStyle/>
          <a:p>
            <a:pPr algn="l">
              <a:lnSpc>
                <a:spcPct val="110000"/>
              </a:lnSpc>
            </a:pPr>
            <a:r>
              <a:rPr sz="2800" b="0" i="0">
                <a:solidFill>
                  <a:srgbClr val="41801A"/>
                </a:solidFill>
                <a:latin typeface="Georgia"/>
              </a:rPr>
              <a:t>Unit Costs</a:t>
            </a:r>
          </a:p>
        </p:txBody>
      </p:sp>
      <p:sp>
        <p:nvSpPr>
          <p:cNvPr id="3" name="TextBox 2"/>
          <p:cNvSpPr txBox="1"/>
          <p:nvPr/>
        </p:nvSpPr>
        <p:spPr>
          <a:xfrm>
            <a:off x="566928" y="987552"/>
            <a:ext cx="11057839" cy="411480"/>
          </a:xfrm>
          <a:prstGeom prst="rect">
            <a:avLst/>
          </a:prstGeom>
          <a:noFill/>
        </p:spPr>
        <p:txBody>
          <a:bodyPr wrap="square" lIns="0" rIns="0" tIns="0" bIns="0" anchor="t">
            <a:noAutofit/>
          </a:bodyPr>
          <a:lstStyle/>
          <a:p>
            <a:pPr algn="l">
              <a:lnSpc>
                <a:spcPct val="110000"/>
              </a:lnSpc>
            </a:pPr>
            <a:r>
              <a:rPr sz="1800" b="0" i="0">
                <a:solidFill>
                  <a:srgbClr val="0C1408"/>
                </a:solidFill>
                <a:latin typeface="Arial"/>
              </a:rPr>
              <a:t>The costs Halqa carries, and what the bank route changes.</a:t>
            </a:r>
          </a:p>
        </p:txBody>
      </p:sp>
      <p:pic>
        <p:nvPicPr>
          <p:cNvPr id="4" name="Picture 3" descr="halqa_logo.png"/>
          <p:cNvPicPr>
            <a:picLocks noChangeAspect="1"/>
          </p:cNvPicPr>
          <p:nvPr/>
        </p:nvPicPr>
        <p:blipFill>
          <a:blip r:embed="rId3"/>
          <a:stretch>
            <a:fillRect/>
          </a:stretch>
        </p:blipFill>
        <p:spPr>
          <a:xfrm>
            <a:off x="10600639" y="457200"/>
            <a:ext cx="1023202" cy="310896"/>
          </a:xfrm>
          <a:prstGeom prst="rect">
            <a:avLst/>
          </a:prstGeom>
        </p:spPr>
      </p:pic>
      <p:sp>
        <p:nvSpPr>
          <p:cNvPr id="5" name="TextBox 4"/>
          <p:cNvSpPr txBox="1"/>
          <p:nvPr/>
        </p:nvSpPr>
        <p:spPr>
          <a:xfrm>
            <a:off x="566928" y="6309360"/>
            <a:ext cx="10149840" cy="365760"/>
          </a:xfrm>
          <a:prstGeom prst="rect">
            <a:avLst/>
          </a:prstGeom>
          <a:noFill/>
        </p:spPr>
        <p:txBody>
          <a:bodyPr wrap="square" lIns="0" rIns="0" tIns="0" bIns="0" anchor="t">
            <a:noAutofit/>
          </a:bodyPr>
          <a:lstStyle/>
          <a:p>
            <a:pPr algn="l">
              <a:lnSpc>
                <a:spcPct val="100000"/>
              </a:lnSpc>
            </a:pPr>
            <a:r>
              <a:rPr sz="900" b="0" i="0">
                <a:solidFill>
                  <a:srgbClr val="5B6456"/>
                </a:solidFill>
                <a:latin typeface="Arial"/>
              </a:rPr>
              <a:t>Business Model and Unit Costs, 25 September 2026, before the bank's terms. Planning figures are marked.</a:t>
            </a:r>
          </a:p>
        </p:txBody>
      </p:sp>
      <p:sp>
        <p:nvSpPr>
          <p:cNvPr id="6" name="TextBox 5"/>
          <p:cNvSpPr txBox="1"/>
          <p:nvPr/>
        </p:nvSpPr>
        <p:spPr>
          <a:xfrm>
            <a:off x="11076127" y="6355080"/>
            <a:ext cx="548640" cy="228600"/>
          </a:xfrm>
          <a:prstGeom prst="rect">
            <a:avLst/>
          </a:prstGeom>
          <a:noFill/>
        </p:spPr>
        <p:txBody>
          <a:bodyPr wrap="square" lIns="0" rIns="0" tIns="0" bIns="0" anchor="t">
            <a:noAutofit/>
          </a:bodyPr>
          <a:lstStyle/>
          <a:p>
            <a:pPr algn="r">
              <a:lnSpc>
                <a:spcPct val="110000"/>
              </a:lnSpc>
            </a:pPr>
            <a:r>
              <a:rPr sz="1000" b="0" i="0">
                <a:solidFill>
                  <a:srgbClr val="5B6456"/>
                </a:solidFill>
                <a:latin typeface="Arial"/>
              </a:rPr>
              <a:t>29</a:t>
            </a:r>
          </a:p>
        </p:txBody>
      </p:sp>
      <p:sp>
        <p:nvSpPr>
          <p:cNvPr id="7" name="TextBox 6"/>
          <p:cNvSpPr txBox="1"/>
          <p:nvPr/>
        </p:nvSpPr>
        <p:spPr>
          <a:xfrm>
            <a:off x="566928" y="1783080"/>
            <a:ext cx="4389120" cy="274320"/>
          </a:xfrm>
          <a:prstGeom prst="rect">
            <a:avLst/>
          </a:prstGeom>
          <a:noFill/>
        </p:spPr>
        <p:txBody>
          <a:bodyPr wrap="square" lIns="0" rIns="0" tIns="0" bIns="0" anchor="t">
            <a:noAutofit/>
          </a:bodyPr>
          <a:lstStyle/>
          <a:p>
            <a:pPr algn="l">
              <a:lnSpc>
                <a:spcPct val="110000"/>
              </a:lnSpc>
            </a:pPr>
            <a:r>
              <a:rPr sz="1500" b="1" i="0">
                <a:solidFill>
                  <a:srgbClr val="41801A"/>
                </a:solidFill>
                <a:latin typeface="Arial"/>
              </a:rPr>
              <a:t>Prices used</a:t>
            </a:r>
          </a:p>
        </p:txBody>
      </p:sp>
      <p:sp>
        <p:nvSpPr>
          <p:cNvPr id="8" name="TextBox 7"/>
          <p:cNvSpPr txBox="1"/>
          <p:nvPr/>
        </p:nvSpPr>
        <p:spPr>
          <a:xfrm>
            <a:off x="566928" y="2167128"/>
            <a:ext cx="2542032" cy="420624"/>
          </a:xfrm>
          <a:prstGeom prst="rect">
            <a:avLst/>
          </a:prstGeom>
          <a:noFill/>
        </p:spPr>
        <p:txBody>
          <a:bodyPr wrap="square" lIns="0" rIns="0" tIns="0" bIns="0" anchor="ctr">
            <a:noAutofit/>
          </a:bodyPr>
          <a:lstStyle/>
          <a:p>
            <a:pPr algn="l">
              <a:lnSpc>
                <a:spcPct val="110000"/>
              </a:lnSpc>
            </a:pPr>
            <a:r>
              <a:rPr sz="1250" b="1" i="0">
                <a:solidFill>
                  <a:srgbClr val="0C1408"/>
                </a:solidFill>
                <a:latin typeface="Arial"/>
              </a:rPr>
              <a:t>WhatsApp message</a:t>
            </a:r>
          </a:p>
        </p:txBody>
      </p:sp>
      <p:sp>
        <p:nvSpPr>
          <p:cNvPr id="9" name="TextBox 8"/>
          <p:cNvSpPr txBox="1"/>
          <p:nvPr/>
        </p:nvSpPr>
        <p:spPr>
          <a:xfrm>
            <a:off x="3291840" y="2167128"/>
            <a:ext cx="1627631" cy="420624"/>
          </a:xfrm>
          <a:prstGeom prst="rect">
            <a:avLst/>
          </a:prstGeom>
          <a:noFill/>
        </p:spPr>
        <p:txBody>
          <a:bodyPr wrap="square" lIns="0" rIns="0" tIns="0" bIns="0" anchor="ctr">
            <a:noAutofit/>
          </a:bodyPr>
          <a:lstStyle/>
          <a:p>
            <a:pPr algn="l">
              <a:lnSpc>
                <a:spcPct val="110000"/>
              </a:lnSpc>
            </a:pPr>
            <a:r>
              <a:rPr sz="1250" b="0" i="0">
                <a:solidFill>
                  <a:srgbClr val="0C1408"/>
                </a:solidFill>
                <a:latin typeface="Arial"/>
              </a:rPr>
              <a:t>Rs 4.35</a:t>
            </a:r>
          </a:p>
        </p:txBody>
      </p:sp>
      <p:cxnSp>
        <p:nvCxnSpPr>
          <p:cNvPr id="10" name="Connector 9"/>
          <p:cNvCxnSpPr/>
          <p:nvPr/>
        </p:nvCxnSpPr>
        <p:spPr>
          <a:xfrm>
            <a:off x="566928" y="2587752"/>
            <a:ext cx="4389120" cy="0"/>
          </a:xfrm>
          <a:prstGeom prst="line">
            <a:avLst/>
          </a:prstGeom>
          <a:ln w="9525">
            <a:solidFill>
              <a:srgbClr val="D5DCD1"/>
            </a:solidFill>
          </a:ln>
        </p:spPr>
      </p:cxnSp>
      <p:sp>
        <p:nvSpPr>
          <p:cNvPr id="11" name="TextBox 10"/>
          <p:cNvSpPr txBox="1"/>
          <p:nvPr/>
        </p:nvSpPr>
        <p:spPr>
          <a:xfrm>
            <a:off x="566928" y="2587752"/>
            <a:ext cx="2542032" cy="420624"/>
          </a:xfrm>
          <a:prstGeom prst="rect">
            <a:avLst/>
          </a:prstGeom>
          <a:noFill/>
        </p:spPr>
        <p:txBody>
          <a:bodyPr wrap="square" lIns="0" rIns="0" tIns="0" bIns="0" anchor="ctr">
            <a:noAutofit/>
          </a:bodyPr>
          <a:lstStyle/>
          <a:p>
            <a:pPr algn="l">
              <a:lnSpc>
                <a:spcPct val="110000"/>
              </a:lnSpc>
            </a:pPr>
            <a:r>
              <a:rPr sz="1250" b="1" i="0">
                <a:solidFill>
                  <a:srgbClr val="0C1408"/>
                </a:solidFill>
                <a:latin typeface="Arial"/>
              </a:rPr>
              <a:t>Identity check, NADRA</a:t>
            </a:r>
          </a:p>
        </p:txBody>
      </p:sp>
      <p:sp>
        <p:nvSpPr>
          <p:cNvPr id="12" name="TextBox 11"/>
          <p:cNvSpPr txBox="1"/>
          <p:nvPr/>
        </p:nvSpPr>
        <p:spPr>
          <a:xfrm>
            <a:off x="3291840" y="2587752"/>
            <a:ext cx="1627631" cy="420624"/>
          </a:xfrm>
          <a:prstGeom prst="rect">
            <a:avLst/>
          </a:prstGeom>
          <a:noFill/>
        </p:spPr>
        <p:txBody>
          <a:bodyPr wrap="square" lIns="0" rIns="0" tIns="0" bIns="0" anchor="ctr">
            <a:noAutofit/>
          </a:bodyPr>
          <a:lstStyle/>
          <a:p>
            <a:pPr algn="l">
              <a:lnSpc>
                <a:spcPct val="110000"/>
              </a:lnSpc>
            </a:pPr>
            <a:r>
              <a:rPr sz="1250" b="0" i="0">
                <a:solidFill>
                  <a:srgbClr val="0C1408"/>
                </a:solidFill>
                <a:latin typeface="Arial"/>
              </a:rPr>
              <a:t>Rs 50, planning</a:t>
            </a:r>
          </a:p>
        </p:txBody>
      </p:sp>
      <p:cxnSp>
        <p:nvCxnSpPr>
          <p:cNvPr id="13" name="Connector 12"/>
          <p:cNvCxnSpPr/>
          <p:nvPr/>
        </p:nvCxnSpPr>
        <p:spPr>
          <a:xfrm>
            <a:off x="566928" y="3008376"/>
            <a:ext cx="4389120" cy="0"/>
          </a:xfrm>
          <a:prstGeom prst="line">
            <a:avLst/>
          </a:prstGeom>
          <a:ln w="9525">
            <a:solidFill>
              <a:srgbClr val="D5DCD1"/>
            </a:solidFill>
          </a:ln>
        </p:spPr>
      </p:cxnSp>
      <p:sp>
        <p:nvSpPr>
          <p:cNvPr id="14" name="TextBox 13"/>
          <p:cNvSpPr txBox="1"/>
          <p:nvPr/>
        </p:nvSpPr>
        <p:spPr>
          <a:xfrm>
            <a:off x="566928" y="3008376"/>
            <a:ext cx="2542032" cy="420624"/>
          </a:xfrm>
          <a:prstGeom prst="rect">
            <a:avLst/>
          </a:prstGeom>
          <a:noFill/>
        </p:spPr>
        <p:txBody>
          <a:bodyPr wrap="square" lIns="0" rIns="0" tIns="0" bIns="0" anchor="ctr">
            <a:noAutofit/>
          </a:bodyPr>
          <a:lstStyle/>
          <a:p>
            <a:pPr algn="l">
              <a:lnSpc>
                <a:spcPct val="110000"/>
              </a:lnSpc>
            </a:pPr>
            <a:r>
              <a:rPr sz="1250" b="1" i="0">
                <a:solidFill>
                  <a:srgbClr val="0C1408"/>
                </a:solidFill>
                <a:latin typeface="Arial"/>
              </a:rPr>
              <a:t>Credit report</a:t>
            </a:r>
          </a:p>
        </p:txBody>
      </p:sp>
      <p:sp>
        <p:nvSpPr>
          <p:cNvPr id="15" name="TextBox 14"/>
          <p:cNvSpPr txBox="1"/>
          <p:nvPr/>
        </p:nvSpPr>
        <p:spPr>
          <a:xfrm>
            <a:off x="3291840" y="3008376"/>
            <a:ext cx="1627631" cy="420624"/>
          </a:xfrm>
          <a:prstGeom prst="rect">
            <a:avLst/>
          </a:prstGeom>
          <a:noFill/>
        </p:spPr>
        <p:txBody>
          <a:bodyPr wrap="square" lIns="0" rIns="0" tIns="0" bIns="0" anchor="ctr">
            <a:noAutofit/>
          </a:bodyPr>
          <a:lstStyle/>
          <a:p>
            <a:pPr algn="l">
              <a:lnSpc>
                <a:spcPct val="110000"/>
              </a:lnSpc>
            </a:pPr>
            <a:r>
              <a:rPr sz="1250" b="0" i="0">
                <a:solidFill>
                  <a:srgbClr val="0C1408"/>
                </a:solidFill>
                <a:latin typeface="Arial"/>
              </a:rPr>
              <a:t>Rs 200, planning</a:t>
            </a:r>
          </a:p>
        </p:txBody>
      </p:sp>
      <p:cxnSp>
        <p:nvCxnSpPr>
          <p:cNvPr id="16" name="Connector 15"/>
          <p:cNvCxnSpPr/>
          <p:nvPr/>
        </p:nvCxnSpPr>
        <p:spPr>
          <a:xfrm>
            <a:off x="566928" y="3429000"/>
            <a:ext cx="4389120" cy="0"/>
          </a:xfrm>
          <a:prstGeom prst="line">
            <a:avLst/>
          </a:prstGeom>
          <a:ln w="9525">
            <a:solidFill>
              <a:srgbClr val="D5DCD1"/>
            </a:solidFill>
          </a:ln>
        </p:spPr>
      </p:cxnSp>
      <p:sp>
        <p:nvSpPr>
          <p:cNvPr id="17" name="TextBox 16"/>
          <p:cNvSpPr txBox="1"/>
          <p:nvPr/>
        </p:nvSpPr>
        <p:spPr>
          <a:xfrm>
            <a:off x="566928" y="3429000"/>
            <a:ext cx="2542032" cy="420624"/>
          </a:xfrm>
          <a:prstGeom prst="rect">
            <a:avLst/>
          </a:prstGeom>
          <a:noFill/>
        </p:spPr>
        <p:txBody>
          <a:bodyPr wrap="square" lIns="0" rIns="0" tIns="0" bIns="0" anchor="ctr">
            <a:noAutofit/>
          </a:bodyPr>
          <a:lstStyle/>
          <a:p>
            <a:pPr algn="l">
              <a:lnSpc>
                <a:spcPct val="110000"/>
              </a:lnSpc>
            </a:pPr>
            <a:r>
              <a:rPr sz="1250" b="1" i="0">
                <a:solidFill>
                  <a:srgbClr val="0C1408"/>
                </a:solidFill>
                <a:latin typeface="Arial"/>
              </a:rPr>
              <a:t>Support agent a month</a:t>
            </a:r>
          </a:p>
        </p:txBody>
      </p:sp>
      <p:sp>
        <p:nvSpPr>
          <p:cNvPr id="18" name="TextBox 17"/>
          <p:cNvSpPr txBox="1"/>
          <p:nvPr/>
        </p:nvSpPr>
        <p:spPr>
          <a:xfrm>
            <a:off x="3291840" y="3429000"/>
            <a:ext cx="1627631" cy="420624"/>
          </a:xfrm>
          <a:prstGeom prst="rect">
            <a:avLst/>
          </a:prstGeom>
          <a:noFill/>
        </p:spPr>
        <p:txBody>
          <a:bodyPr wrap="square" lIns="0" rIns="0" tIns="0" bIns="0" anchor="ctr">
            <a:noAutofit/>
          </a:bodyPr>
          <a:lstStyle/>
          <a:p>
            <a:pPr algn="l">
              <a:lnSpc>
                <a:spcPct val="110000"/>
              </a:lnSpc>
            </a:pPr>
            <a:r>
              <a:rPr sz="1250" b="0" i="0">
                <a:solidFill>
                  <a:srgbClr val="0C1408"/>
                </a:solidFill>
                <a:latin typeface="Arial"/>
              </a:rPr>
              <a:t>Rs 60,000</a:t>
            </a:r>
          </a:p>
        </p:txBody>
      </p:sp>
      <p:cxnSp>
        <p:nvCxnSpPr>
          <p:cNvPr id="19" name="Connector 18"/>
          <p:cNvCxnSpPr/>
          <p:nvPr/>
        </p:nvCxnSpPr>
        <p:spPr>
          <a:xfrm>
            <a:off x="566928" y="3849624"/>
            <a:ext cx="4389120" cy="0"/>
          </a:xfrm>
          <a:prstGeom prst="line">
            <a:avLst/>
          </a:prstGeom>
          <a:ln w="9525">
            <a:solidFill>
              <a:srgbClr val="D5DCD1"/>
            </a:solidFill>
          </a:ln>
        </p:spPr>
      </p:cxnSp>
      <p:sp>
        <p:nvSpPr>
          <p:cNvPr id="20" name="TextBox 19"/>
          <p:cNvSpPr txBox="1"/>
          <p:nvPr/>
        </p:nvSpPr>
        <p:spPr>
          <a:xfrm>
            <a:off x="566928" y="3849624"/>
            <a:ext cx="2542032" cy="420624"/>
          </a:xfrm>
          <a:prstGeom prst="rect">
            <a:avLst/>
          </a:prstGeom>
          <a:noFill/>
        </p:spPr>
        <p:txBody>
          <a:bodyPr wrap="square" lIns="0" rIns="0" tIns="0" bIns="0" anchor="ctr">
            <a:noAutofit/>
          </a:bodyPr>
          <a:lstStyle/>
          <a:p>
            <a:pPr algn="l">
              <a:lnSpc>
                <a:spcPct val="110000"/>
              </a:lnSpc>
            </a:pPr>
            <a:r>
              <a:rPr sz="1250" b="1" i="0">
                <a:solidFill>
                  <a:srgbClr val="0C1408"/>
                </a:solidFill>
                <a:latin typeface="Arial"/>
              </a:rPr>
              <a:t>Cloud, a member a month</a:t>
            </a:r>
          </a:p>
        </p:txBody>
      </p:sp>
      <p:sp>
        <p:nvSpPr>
          <p:cNvPr id="21" name="TextBox 20"/>
          <p:cNvSpPr txBox="1"/>
          <p:nvPr/>
        </p:nvSpPr>
        <p:spPr>
          <a:xfrm>
            <a:off x="3291840" y="3849624"/>
            <a:ext cx="1627631" cy="420624"/>
          </a:xfrm>
          <a:prstGeom prst="rect">
            <a:avLst/>
          </a:prstGeom>
          <a:noFill/>
        </p:spPr>
        <p:txBody>
          <a:bodyPr wrap="square" lIns="0" rIns="0" tIns="0" bIns="0" anchor="ctr">
            <a:noAutofit/>
          </a:bodyPr>
          <a:lstStyle/>
          <a:p>
            <a:pPr algn="l">
              <a:lnSpc>
                <a:spcPct val="110000"/>
              </a:lnSpc>
            </a:pPr>
            <a:r>
              <a:rPr sz="1250" b="0" i="0">
                <a:solidFill>
                  <a:srgbClr val="0C1408"/>
                </a:solidFill>
                <a:latin typeface="Arial"/>
              </a:rPr>
              <a:t>Rs 2</a:t>
            </a:r>
          </a:p>
        </p:txBody>
      </p:sp>
      <p:cxnSp>
        <p:nvCxnSpPr>
          <p:cNvPr id="22" name="Connector 21"/>
          <p:cNvCxnSpPr/>
          <p:nvPr/>
        </p:nvCxnSpPr>
        <p:spPr>
          <a:xfrm>
            <a:off x="566928" y="4270248"/>
            <a:ext cx="4389120" cy="0"/>
          </a:xfrm>
          <a:prstGeom prst="line">
            <a:avLst/>
          </a:prstGeom>
          <a:ln w="9525">
            <a:solidFill>
              <a:srgbClr val="D5DCD1"/>
            </a:solidFill>
          </a:ln>
        </p:spPr>
      </p:cxnSp>
      <p:sp>
        <p:nvSpPr>
          <p:cNvPr id="23" name="TextBox 22"/>
          <p:cNvSpPr txBox="1"/>
          <p:nvPr/>
        </p:nvSpPr>
        <p:spPr>
          <a:xfrm>
            <a:off x="566928" y="4270248"/>
            <a:ext cx="2542032" cy="420624"/>
          </a:xfrm>
          <a:prstGeom prst="rect">
            <a:avLst/>
          </a:prstGeom>
          <a:noFill/>
        </p:spPr>
        <p:txBody>
          <a:bodyPr wrap="square" lIns="0" rIns="0" tIns="0" bIns="0" anchor="ctr">
            <a:noAutofit/>
          </a:bodyPr>
          <a:lstStyle/>
          <a:p>
            <a:pPr algn="l">
              <a:lnSpc>
                <a:spcPct val="110000"/>
              </a:lnSpc>
            </a:pPr>
            <a:r>
              <a:rPr sz="1250" b="1" i="0">
                <a:solidFill>
                  <a:srgbClr val="0C1408"/>
                </a:solidFill>
                <a:latin typeface="Arial"/>
              </a:rPr>
              <a:t>Acquiring a member</a:t>
            </a:r>
          </a:p>
        </p:txBody>
      </p:sp>
      <p:sp>
        <p:nvSpPr>
          <p:cNvPr id="24" name="TextBox 23"/>
          <p:cNvSpPr txBox="1"/>
          <p:nvPr/>
        </p:nvSpPr>
        <p:spPr>
          <a:xfrm>
            <a:off x="3291840" y="4270248"/>
            <a:ext cx="1627631" cy="420624"/>
          </a:xfrm>
          <a:prstGeom prst="rect">
            <a:avLst/>
          </a:prstGeom>
          <a:noFill/>
        </p:spPr>
        <p:txBody>
          <a:bodyPr wrap="square" lIns="0" rIns="0" tIns="0" bIns="0" anchor="ctr">
            <a:noAutofit/>
          </a:bodyPr>
          <a:lstStyle/>
          <a:p>
            <a:pPr algn="l">
              <a:lnSpc>
                <a:spcPct val="110000"/>
              </a:lnSpc>
            </a:pPr>
            <a:r>
              <a:rPr sz="1250" b="0" i="0">
                <a:solidFill>
                  <a:srgbClr val="0C1408"/>
                </a:solidFill>
                <a:latin typeface="Arial"/>
              </a:rPr>
              <a:t>Rs 250, planning</a:t>
            </a:r>
          </a:p>
        </p:txBody>
      </p:sp>
      <p:cxnSp>
        <p:nvCxnSpPr>
          <p:cNvPr id="25" name="Connector 24"/>
          <p:cNvCxnSpPr/>
          <p:nvPr/>
        </p:nvCxnSpPr>
        <p:spPr>
          <a:xfrm>
            <a:off x="566928" y="4690872"/>
            <a:ext cx="4389120" cy="0"/>
          </a:xfrm>
          <a:prstGeom prst="line">
            <a:avLst/>
          </a:prstGeom>
          <a:ln w="9525">
            <a:solidFill>
              <a:srgbClr val="D5DCD1"/>
            </a:solidFill>
          </a:ln>
        </p:spPr>
      </p:cxnSp>
      <p:sp>
        <p:nvSpPr>
          <p:cNvPr id="26" name="TextBox 25"/>
          <p:cNvSpPr txBox="1"/>
          <p:nvPr/>
        </p:nvSpPr>
        <p:spPr>
          <a:xfrm>
            <a:off x="5486400" y="1783080"/>
            <a:ext cx="6035040" cy="274320"/>
          </a:xfrm>
          <a:prstGeom prst="rect">
            <a:avLst/>
          </a:prstGeom>
          <a:noFill/>
        </p:spPr>
        <p:txBody>
          <a:bodyPr wrap="square" lIns="0" rIns="0" tIns="0" bIns="0" anchor="t">
            <a:noAutofit/>
          </a:bodyPr>
          <a:lstStyle/>
          <a:p>
            <a:pPr algn="l">
              <a:lnSpc>
                <a:spcPct val="110000"/>
              </a:lnSpc>
            </a:pPr>
            <a:r>
              <a:rPr sz="1500" b="1" i="0">
                <a:solidFill>
                  <a:srgbClr val="41801A"/>
                </a:solidFill>
                <a:latin typeface="Arial"/>
              </a:rPr>
              <a:t>What the bank route changes</a:t>
            </a:r>
          </a:p>
        </p:txBody>
      </p:sp>
      <p:sp>
        <p:nvSpPr>
          <p:cNvPr id="27" name="TextBox 26"/>
          <p:cNvSpPr txBox="1"/>
          <p:nvPr/>
        </p:nvSpPr>
        <p:spPr>
          <a:xfrm>
            <a:off x="5486400" y="2148840"/>
            <a:ext cx="1527048" cy="548640"/>
          </a:xfrm>
          <a:prstGeom prst="rect">
            <a:avLst/>
          </a:prstGeom>
          <a:noFill/>
        </p:spPr>
        <p:txBody>
          <a:bodyPr wrap="square" lIns="0" rIns="0" tIns="0" bIns="0" anchor="b">
            <a:noAutofit/>
          </a:bodyPr>
          <a:lstStyle/>
          <a:p>
            <a:pPr algn="l">
              <a:lnSpc>
                <a:spcPct val="110000"/>
              </a:lnSpc>
            </a:pPr>
          </a:p>
        </p:txBody>
      </p:sp>
      <p:sp>
        <p:nvSpPr>
          <p:cNvPr id="28" name="TextBox 27"/>
          <p:cNvSpPr txBox="1"/>
          <p:nvPr/>
        </p:nvSpPr>
        <p:spPr>
          <a:xfrm>
            <a:off x="7159752" y="2148840"/>
            <a:ext cx="2075688" cy="548640"/>
          </a:xfrm>
          <a:prstGeom prst="rect">
            <a:avLst/>
          </a:prstGeom>
          <a:noFill/>
        </p:spPr>
        <p:txBody>
          <a:bodyPr wrap="square" lIns="0" rIns="0" tIns="0" bIns="0" anchor="b">
            <a:noAutofit/>
          </a:bodyPr>
          <a:lstStyle/>
          <a:p>
            <a:pPr algn="l">
              <a:lnSpc>
                <a:spcPct val="110000"/>
              </a:lnSpc>
            </a:pPr>
            <a:r>
              <a:rPr sz="1200" b="1" i="0">
                <a:solidFill>
                  <a:srgbClr val="41801A"/>
                </a:solidFill>
                <a:latin typeface="Arial"/>
              </a:rPr>
              <a:t>Before</a:t>
            </a:r>
          </a:p>
        </p:txBody>
      </p:sp>
      <p:sp>
        <p:nvSpPr>
          <p:cNvPr id="29" name="TextBox 28"/>
          <p:cNvSpPr txBox="1"/>
          <p:nvPr/>
        </p:nvSpPr>
        <p:spPr>
          <a:xfrm>
            <a:off x="9308592" y="2148840"/>
            <a:ext cx="2304288" cy="548640"/>
          </a:xfrm>
          <a:prstGeom prst="rect">
            <a:avLst/>
          </a:prstGeom>
          <a:noFill/>
        </p:spPr>
        <p:txBody>
          <a:bodyPr wrap="square" lIns="0" rIns="0" tIns="0" bIns="0" anchor="b">
            <a:noAutofit/>
          </a:bodyPr>
          <a:lstStyle/>
          <a:p>
            <a:pPr algn="l">
              <a:lnSpc>
                <a:spcPct val="110000"/>
              </a:lnSpc>
            </a:pPr>
            <a:r>
              <a:rPr sz="1200" b="1" i="0">
                <a:solidFill>
                  <a:srgbClr val="41801A"/>
                </a:solidFill>
                <a:latin typeface="Arial"/>
              </a:rPr>
              <a:t>With Mashreq</a:t>
            </a:r>
          </a:p>
        </p:txBody>
      </p:sp>
      <p:cxnSp>
        <p:nvCxnSpPr>
          <p:cNvPr id="30" name="Connector 29"/>
          <p:cNvCxnSpPr/>
          <p:nvPr/>
        </p:nvCxnSpPr>
        <p:spPr>
          <a:xfrm>
            <a:off x="5486400" y="2734056"/>
            <a:ext cx="6126480" cy="0"/>
          </a:xfrm>
          <a:prstGeom prst="line">
            <a:avLst/>
          </a:prstGeom>
          <a:ln w="12700">
            <a:solidFill>
              <a:srgbClr val="0C1408"/>
            </a:solidFill>
          </a:ln>
        </p:spPr>
      </p:cxnSp>
      <p:sp>
        <p:nvSpPr>
          <p:cNvPr id="31" name="TextBox 30"/>
          <p:cNvSpPr txBox="1"/>
          <p:nvPr/>
        </p:nvSpPr>
        <p:spPr>
          <a:xfrm>
            <a:off x="5486400" y="2715768"/>
            <a:ext cx="1490472" cy="548640"/>
          </a:xfrm>
          <a:prstGeom prst="rect">
            <a:avLst/>
          </a:prstGeom>
          <a:noFill/>
        </p:spPr>
        <p:txBody>
          <a:bodyPr wrap="square" lIns="0" rIns="0" tIns="0" bIns="0" anchor="ctr">
            <a:noAutofit/>
          </a:bodyPr>
          <a:lstStyle/>
          <a:p>
            <a:pPr algn="l">
              <a:lnSpc>
                <a:spcPct val="110000"/>
              </a:lnSpc>
            </a:pPr>
            <a:r>
              <a:rPr sz="1150" b="1" i="0">
                <a:solidFill>
                  <a:srgbClr val="0C1408"/>
                </a:solidFill>
                <a:latin typeface="Arial"/>
              </a:rPr>
              <a:t>Member fee</a:t>
            </a:r>
          </a:p>
        </p:txBody>
      </p:sp>
      <p:sp>
        <p:nvSpPr>
          <p:cNvPr id="32" name="TextBox 31"/>
          <p:cNvSpPr txBox="1"/>
          <p:nvPr/>
        </p:nvSpPr>
        <p:spPr>
          <a:xfrm>
            <a:off x="7159752" y="2715768"/>
            <a:ext cx="2039112" cy="548640"/>
          </a:xfrm>
          <a:prstGeom prst="rect">
            <a:avLst/>
          </a:prstGeom>
          <a:noFill/>
        </p:spPr>
        <p:txBody>
          <a:bodyPr wrap="square" lIns="0" rIns="0" tIns="0" bIns="0" anchor="ctr">
            <a:noAutofit/>
          </a:bodyPr>
          <a:lstStyle/>
          <a:p>
            <a:pPr algn="l">
              <a:lnSpc>
                <a:spcPct val="110000"/>
              </a:lnSpc>
            </a:pPr>
            <a:r>
              <a:rPr sz="1150" b="0" i="0">
                <a:solidFill>
                  <a:srgbClr val="0C1408"/>
                </a:solidFill>
                <a:latin typeface="Arial"/>
              </a:rPr>
              <a:t>Rs 100 to 500, to Halqa</a:t>
            </a:r>
          </a:p>
        </p:txBody>
      </p:sp>
      <p:sp>
        <p:nvSpPr>
          <p:cNvPr id="33" name="TextBox 32"/>
          <p:cNvSpPr txBox="1"/>
          <p:nvPr/>
        </p:nvSpPr>
        <p:spPr>
          <a:xfrm>
            <a:off x="9308592" y="2715768"/>
            <a:ext cx="2267712" cy="548640"/>
          </a:xfrm>
          <a:prstGeom prst="rect">
            <a:avLst/>
          </a:prstGeom>
          <a:noFill/>
        </p:spPr>
        <p:txBody>
          <a:bodyPr wrap="square" lIns="0" rIns="0" tIns="0" bIns="0" anchor="ctr">
            <a:noAutofit/>
          </a:bodyPr>
          <a:lstStyle/>
          <a:p>
            <a:pPr algn="l">
              <a:lnSpc>
                <a:spcPct val="110000"/>
              </a:lnSpc>
            </a:pPr>
            <a:r>
              <a:rPr sz="1150" b="0" i="0">
                <a:solidFill>
                  <a:srgbClr val="0C1408"/>
                </a:solidFill>
                <a:latin typeface="Arial"/>
              </a:rPr>
              <a:t>Collected by Mashreq as its income</a:t>
            </a:r>
          </a:p>
        </p:txBody>
      </p:sp>
      <p:cxnSp>
        <p:nvCxnSpPr>
          <p:cNvPr id="34" name="Connector 33"/>
          <p:cNvCxnSpPr/>
          <p:nvPr/>
        </p:nvCxnSpPr>
        <p:spPr>
          <a:xfrm>
            <a:off x="5486400" y="3264408"/>
            <a:ext cx="6126480" cy="0"/>
          </a:xfrm>
          <a:prstGeom prst="line">
            <a:avLst/>
          </a:prstGeom>
          <a:ln w="9525">
            <a:solidFill>
              <a:srgbClr val="D5DCD1"/>
            </a:solidFill>
          </a:ln>
        </p:spPr>
      </p:cxnSp>
      <p:sp>
        <p:nvSpPr>
          <p:cNvPr id="35" name="TextBox 34"/>
          <p:cNvSpPr txBox="1"/>
          <p:nvPr/>
        </p:nvSpPr>
        <p:spPr>
          <a:xfrm>
            <a:off x="5486400" y="3264408"/>
            <a:ext cx="1490472" cy="548640"/>
          </a:xfrm>
          <a:prstGeom prst="rect">
            <a:avLst/>
          </a:prstGeom>
          <a:noFill/>
        </p:spPr>
        <p:txBody>
          <a:bodyPr wrap="square" lIns="0" rIns="0" tIns="0" bIns="0" anchor="ctr">
            <a:noAutofit/>
          </a:bodyPr>
          <a:lstStyle/>
          <a:p>
            <a:pPr algn="l">
              <a:lnSpc>
                <a:spcPct val="110000"/>
              </a:lnSpc>
            </a:pPr>
            <a:r>
              <a:rPr sz="1150" b="1" i="0">
                <a:solidFill>
                  <a:srgbClr val="0C1408"/>
                </a:solidFill>
                <a:latin typeface="Arial"/>
              </a:rPr>
              <a:t>Halqa income</a:t>
            </a:r>
          </a:p>
        </p:txBody>
      </p:sp>
      <p:sp>
        <p:nvSpPr>
          <p:cNvPr id="36" name="TextBox 35"/>
          <p:cNvSpPr txBox="1"/>
          <p:nvPr/>
        </p:nvSpPr>
        <p:spPr>
          <a:xfrm>
            <a:off x="7159752" y="3264408"/>
            <a:ext cx="2039112" cy="548640"/>
          </a:xfrm>
          <a:prstGeom prst="rect">
            <a:avLst/>
          </a:prstGeom>
          <a:noFill/>
        </p:spPr>
        <p:txBody>
          <a:bodyPr wrap="square" lIns="0" rIns="0" tIns="0" bIns="0" anchor="ctr">
            <a:noAutofit/>
          </a:bodyPr>
          <a:lstStyle/>
          <a:p>
            <a:pPr algn="l">
              <a:lnSpc>
                <a:spcPct val="110000"/>
              </a:lnSpc>
            </a:pPr>
            <a:r>
              <a:rPr sz="1150" b="0" i="0">
                <a:solidFill>
                  <a:srgbClr val="0C1408"/>
                </a:solidFill>
                <a:latin typeface="Arial"/>
              </a:rPr>
              <a:t>Fees and takaful commission</a:t>
            </a:r>
          </a:p>
        </p:txBody>
      </p:sp>
      <p:sp>
        <p:nvSpPr>
          <p:cNvPr id="37" name="TextBox 36"/>
          <p:cNvSpPr txBox="1"/>
          <p:nvPr/>
        </p:nvSpPr>
        <p:spPr>
          <a:xfrm>
            <a:off x="9308592" y="3264408"/>
            <a:ext cx="2267712" cy="548640"/>
          </a:xfrm>
          <a:prstGeom prst="rect">
            <a:avLst/>
          </a:prstGeom>
          <a:noFill/>
        </p:spPr>
        <p:txBody>
          <a:bodyPr wrap="square" lIns="0" rIns="0" tIns="0" bIns="0" anchor="ctr">
            <a:noAutofit/>
          </a:bodyPr>
          <a:lstStyle/>
          <a:p>
            <a:pPr algn="l">
              <a:lnSpc>
                <a:spcPct val="110000"/>
              </a:lnSpc>
            </a:pPr>
            <a:r>
              <a:rPr sz="1150" b="0" i="0">
                <a:solidFill>
                  <a:srgbClr val="0C1408"/>
                </a:solidFill>
                <a:latin typeface="Arial"/>
              </a:rPr>
              <a:t>An agreed share of Mashreq's income</a:t>
            </a:r>
          </a:p>
        </p:txBody>
      </p:sp>
      <p:cxnSp>
        <p:nvCxnSpPr>
          <p:cNvPr id="38" name="Connector 37"/>
          <p:cNvCxnSpPr/>
          <p:nvPr/>
        </p:nvCxnSpPr>
        <p:spPr>
          <a:xfrm>
            <a:off x="5486400" y="3813048"/>
            <a:ext cx="6126480" cy="0"/>
          </a:xfrm>
          <a:prstGeom prst="line">
            <a:avLst/>
          </a:prstGeom>
          <a:ln w="9525">
            <a:solidFill>
              <a:srgbClr val="D5DCD1"/>
            </a:solidFill>
          </a:ln>
        </p:spPr>
      </p:cxnSp>
      <p:sp>
        <p:nvSpPr>
          <p:cNvPr id="39" name="TextBox 38"/>
          <p:cNvSpPr txBox="1"/>
          <p:nvPr/>
        </p:nvSpPr>
        <p:spPr>
          <a:xfrm>
            <a:off x="5486400" y="3813048"/>
            <a:ext cx="1490472" cy="548640"/>
          </a:xfrm>
          <a:prstGeom prst="rect">
            <a:avLst/>
          </a:prstGeom>
          <a:noFill/>
        </p:spPr>
        <p:txBody>
          <a:bodyPr wrap="square" lIns="0" rIns="0" tIns="0" bIns="0" anchor="ctr">
            <a:noAutofit/>
          </a:bodyPr>
          <a:lstStyle/>
          <a:p>
            <a:pPr algn="l">
              <a:lnSpc>
                <a:spcPct val="110000"/>
              </a:lnSpc>
            </a:pPr>
            <a:r>
              <a:rPr sz="1150" b="1" i="0">
                <a:solidFill>
                  <a:srgbClr val="0C1408"/>
                </a:solidFill>
                <a:latin typeface="Arial"/>
              </a:rPr>
              <a:t>Collection</a:t>
            </a:r>
          </a:p>
        </p:txBody>
      </p:sp>
      <p:sp>
        <p:nvSpPr>
          <p:cNvPr id="40" name="TextBox 39"/>
          <p:cNvSpPr txBox="1"/>
          <p:nvPr/>
        </p:nvSpPr>
        <p:spPr>
          <a:xfrm>
            <a:off x="7159752" y="3813048"/>
            <a:ext cx="2039112" cy="548640"/>
          </a:xfrm>
          <a:prstGeom prst="rect">
            <a:avLst/>
          </a:prstGeom>
          <a:noFill/>
        </p:spPr>
        <p:txBody>
          <a:bodyPr wrap="square" lIns="0" rIns="0" tIns="0" bIns="0" anchor="ctr">
            <a:noAutofit/>
          </a:bodyPr>
          <a:lstStyle/>
          <a:p>
            <a:pPr algn="l">
              <a:lnSpc>
                <a:spcPct val="110000"/>
              </a:lnSpc>
            </a:pPr>
            <a:r>
              <a:rPr sz="1150" b="0" i="0">
                <a:solidFill>
                  <a:srgbClr val="0C1408"/>
                </a:solidFill>
                <a:latin typeface="Arial"/>
              </a:rPr>
              <a:t>1%, capped at Rs 10 a debit, through Safepay</a:t>
            </a:r>
          </a:p>
        </p:txBody>
      </p:sp>
      <p:sp>
        <p:nvSpPr>
          <p:cNvPr id="41" name="TextBox 40"/>
          <p:cNvSpPr txBox="1"/>
          <p:nvPr/>
        </p:nvSpPr>
        <p:spPr>
          <a:xfrm>
            <a:off x="9308592" y="3813048"/>
            <a:ext cx="2267712" cy="548640"/>
          </a:xfrm>
          <a:prstGeom prst="rect">
            <a:avLst/>
          </a:prstGeom>
          <a:noFill/>
        </p:spPr>
        <p:txBody>
          <a:bodyPr wrap="square" lIns="0" rIns="0" tIns="0" bIns="0" anchor="ctr">
            <a:noAutofit/>
          </a:bodyPr>
          <a:lstStyle/>
          <a:p>
            <a:pPr algn="l">
              <a:lnSpc>
                <a:spcPct val="110000"/>
              </a:lnSpc>
            </a:pPr>
            <a:r>
              <a:rPr sz="1150" b="0" i="0">
                <a:solidFill>
                  <a:srgbClr val="0C1408"/>
                </a:solidFill>
                <a:latin typeface="Arial"/>
              </a:rPr>
              <a:t>A transfer inside one bank, near nil</a:t>
            </a:r>
          </a:p>
        </p:txBody>
      </p:sp>
      <p:cxnSp>
        <p:nvCxnSpPr>
          <p:cNvPr id="42" name="Connector 41"/>
          <p:cNvCxnSpPr/>
          <p:nvPr/>
        </p:nvCxnSpPr>
        <p:spPr>
          <a:xfrm>
            <a:off x="5486400" y="4361688"/>
            <a:ext cx="6126480" cy="0"/>
          </a:xfrm>
          <a:prstGeom prst="line">
            <a:avLst/>
          </a:prstGeom>
          <a:ln w="9525">
            <a:solidFill>
              <a:srgbClr val="D5DCD1"/>
            </a:solidFill>
          </a:ln>
        </p:spPr>
      </p:cxnSp>
      <p:sp>
        <p:nvSpPr>
          <p:cNvPr id="43" name="TextBox 42"/>
          <p:cNvSpPr txBox="1"/>
          <p:nvPr/>
        </p:nvSpPr>
        <p:spPr>
          <a:xfrm>
            <a:off x="5486400" y="4361688"/>
            <a:ext cx="1490472" cy="548640"/>
          </a:xfrm>
          <a:prstGeom prst="rect">
            <a:avLst/>
          </a:prstGeom>
          <a:noFill/>
        </p:spPr>
        <p:txBody>
          <a:bodyPr wrap="square" lIns="0" rIns="0" tIns="0" bIns="0" anchor="ctr">
            <a:noAutofit/>
          </a:bodyPr>
          <a:lstStyle/>
          <a:p>
            <a:pPr algn="l">
              <a:lnSpc>
                <a:spcPct val="110000"/>
              </a:lnSpc>
            </a:pPr>
            <a:r>
              <a:rPr sz="1150" b="1" i="0">
                <a:solidFill>
                  <a:srgbClr val="0C1408"/>
                </a:solidFill>
                <a:latin typeface="Arial"/>
              </a:rPr>
              <a:t>Cover</a:t>
            </a:r>
          </a:p>
        </p:txBody>
      </p:sp>
      <p:sp>
        <p:nvSpPr>
          <p:cNvPr id="44" name="TextBox 43"/>
          <p:cNvSpPr txBox="1"/>
          <p:nvPr/>
        </p:nvSpPr>
        <p:spPr>
          <a:xfrm>
            <a:off x="7159752" y="4361688"/>
            <a:ext cx="2039112" cy="548640"/>
          </a:xfrm>
          <a:prstGeom prst="rect">
            <a:avLst/>
          </a:prstGeom>
          <a:noFill/>
        </p:spPr>
        <p:txBody>
          <a:bodyPr wrap="square" lIns="0" rIns="0" tIns="0" bIns="0" anchor="ctr">
            <a:noAutofit/>
          </a:bodyPr>
          <a:lstStyle/>
          <a:p>
            <a:pPr algn="l">
              <a:lnSpc>
                <a:spcPct val="110000"/>
              </a:lnSpc>
            </a:pPr>
            <a:r>
              <a:rPr sz="1150" b="0" i="0">
                <a:solidFill>
                  <a:srgbClr val="0C1408"/>
                </a:solidFill>
                <a:latin typeface="Arial"/>
              </a:rPr>
              <a:t>Takaful, Halqa as agent</a:t>
            </a:r>
          </a:p>
        </p:txBody>
      </p:sp>
      <p:sp>
        <p:nvSpPr>
          <p:cNvPr id="45" name="TextBox 44"/>
          <p:cNvSpPr txBox="1"/>
          <p:nvPr/>
        </p:nvSpPr>
        <p:spPr>
          <a:xfrm>
            <a:off x="9308592" y="4361688"/>
            <a:ext cx="2267712" cy="548640"/>
          </a:xfrm>
          <a:prstGeom prst="rect">
            <a:avLst/>
          </a:prstGeom>
          <a:noFill/>
        </p:spPr>
        <p:txBody>
          <a:bodyPr wrap="square" lIns="0" rIns="0" tIns="0" bIns="0" anchor="ctr">
            <a:noAutofit/>
          </a:bodyPr>
          <a:lstStyle/>
          <a:p>
            <a:pPr algn="l">
              <a:lnSpc>
                <a:spcPct val="110000"/>
              </a:lnSpc>
            </a:pPr>
            <a:r>
              <a:rPr sz="1150" b="0" i="0">
                <a:solidFill>
                  <a:srgbClr val="0C1408"/>
                </a:solidFill>
                <a:latin typeface="Arial"/>
              </a:rPr>
              <a:t>Mashreq's choice of form</a:t>
            </a:r>
          </a:p>
        </p:txBody>
      </p:sp>
      <p:cxnSp>
        <p:nvCxnSpPr>
          <p:cNvPr id="46" name="Connector 45"/>
          <p:cNvCxnSpPr/>
          <p:nvPr/>
        </p:nvCxnSpPr>
        <p:spPr>
          <a:xfrm>
            <a:off x="5486400" y="4910327"/>
            <a:ext cx="6126480" cy="0"/>
          </a:xfrm>
          <a:prstGeom prst="line">
            <a:avLst/>
          </a:prstGeom>
          <a:ln w="9525">
            <a:solidFill>
              <a:srgbClr val="D5DCD1"/>
            </a:solidFill>
          </a:ln>
        </p:spPr>
      </p:cxnSp>
      <p:sp>
        <p:nvSpPr>
          <p:cNvPr id="47" name="TextBox 46"/>
          <p:cNvSpPr txBox="1"/>
          <p:nvPr/>
        </p:nvSpPr>
        <p:spPr>
          <a:xfrm>
            <a:off x="5486400" y="4910327"/>
            <a:ext cx="1490472" cy="548640"/>
          </a:xfrm>
          <a:prstGeom prst="rect">
            <a:avLst/>
          </a:prstGeom>
          <a:noFill/>
        </p:spPr>
        <p:txBody>
          <a:bodyPr wrap="square" lIns="0" rIns="0" tIns="0" bIns="0" anchor="ctr">
            <a:noAutofit/>
          </a:bodyPr>
          <a:lstStyle/>
          <a:p>
            <a:pPr algn="l">
              <a:lnSpc>
                <a:spcPct val="110000"/>
              </a:lnSpc>
            </a:pPr>
            <a:r>
              <a:rPr sz="1150" b="1" i="0">
                <a:solidFill>
                  <a:srgbClr val="0C1408"/>
                </a:solidFill>
                <a:latin typeface="Arial"/>
              </a:rPr>
              <a:t>Credit reports</a:t>
            </a:r>
          </a:p>
        </p:txBody>
      </p:sp>
      <p:sp>
        <p:nvSpPr>
          <p:cNvPr id="48" name="TextBox 47"/>
          <p:cNvSpPr txBox="1"/>
          <p:nvPr/>
        </p:nvSpPr>
        <p:spPr>
          <a:xfrm>
            <a:off x="7159752" y="4910327"/>
            <a:ext cx="2039112" cy="548640"/>
          </a:xfrm>
          <a:prstGeom prst="rect">
            <a:avLst/>
          </a:prstGeom>
          <a:noFill/>
        </p:spPr>
        <p:txBody>
          <a:bodyPr wrap="square" lIns="0" rIns="0" tIns="0" bIns="0" anchor="ctr">
            <a:noAutofit/>
          </a:bodyPr>
          <a:lstStyle/>
          <a:p>
            <a:pPr algn="l">
              <a:lnSpc>
                <a:spcPct val="110000"/>
              </a:lnSpc>
            </a:pPr>
            <a:r>
              <a:rPr sz="1150" b="0" i="0">
                <a:solidFill>
                  <a:srgbClr val="0C1408"/>
                </a:solidFill>
                <a:latin typeface="Arial"/>
              </a:rPr>
              <a:t>Rs 200 a report</a:t>
            </a:r>
          </a:p>
        </p:txBody>
      </p:sp>
      <p:sp>
        <p:nvSpPr>
          <p:cNvPr id="49" name="TextBox 48"/>
          <p:cNvSpPr txBox="1"/>
          <p:nvPr/>
        </p:nvSpPr>
        <p:spPr>
          <a:xfrm>
            <a:off x="9308592" y="4910327"/>
            <a:ext cx="2267712" cy="548640"/>
          </a:xfrm>
          <a:prstGeom prst="rect">
            <a:avLst/>
          </a:prstGeom>
          <a:noFill/>
        </p:spPr>
        <p:txBody>
          <a:bodyPr wrap="square" lIns="0" rIns="0" tIns="0" bIns="0" anchor="ctr">
            <a:noAutofit/>
          </a:bodyPr>
          <a:lstStyle/>
          <a:p>
            <a:pPr algn="l">
              <a:lnSpc>
                <a:spcPct val="110000"/>
              </a:lnSpc>
            </a:pPr>
            <a:r>
              <a:rPr sz="1150" b="0" i="0">
                <a:solidFill>
                  <a:srgbClr val="0C1408"/>
                </a:solidFill>
                <a:latin typeface="Arial"/>
              </a:rPr>
              <a:t>Through Mashreq's TASDEEQ membership</a:t>
            </a:r>
          </a:p>
        </p:txBody>
      </p:sp>
      <p:cxnSp>
        <p:nvCxnSpPr>
          <p:cNvPr id="50" name="Connector 49"/>
          <p:cNvCxnSpPr/>
          <p:nvPr/>
        </p:nvCxnSpPr>
        <p:spPr>
          <a:xfrm>
            <a:off x="5486400" y="5458967"/>
            <a:ext cx="6126480" cy="0"/>
          </a:xfrm>
          <a:prstGeom prst="line">
            <a:avLst/>
          </a:prstGeom>
          <a:ln w="9525">
            <a:solidFill>
              <a:srgbClr val="D5DCD1"/>
            </a:solidFill>
          </a:ln>
        </p:spPr>
      </p:cxn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